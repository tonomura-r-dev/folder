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7"/>
  </p:notesMasterIdLst>
  <p:sldIdLst>
    <p:sldId id="256" r:id="rId2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01" r:id="rId24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5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23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23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4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023FD08-B3C3-42F8-A153-9D5527DEAE1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81000" y="1243080"/>
            <a:ext cx="4844520" cy="3354120"/>
          </a:xfrm>
          <a:prstGeom prst="rect">
            <a:avLst/>
          </a:prstGeom>
          <a:ln w="0">
            <a:noFill/>
          </a:ln>
        </p:spPr>
      </p:sp>
      <p:sp>
        <p:nvSpPr>
          <p:cNvPr id="1148" name="PlaceHolder 2"/>
          <p:cNvSpPr>
            <a:spLocks noGrp="1"/>
          </p:cNvSpPr>
          <p:nvPr>
            <p:ph type="body"/>
          </p:nvPr>
        </p:nvSpPr>
        <p:spPr>
          <a:xfrm>
            <a:off x="680400" y="4782960"/>
            <a:ext cx="5446080" cy="3913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PlaceHolder 3"/>
          <p:cNvSpPr>
            <a:spLocks noGrp="1"/>
          </p:cNvSpPr>
          <p:nvPr>
            <p:ph type="ftr" idx="24"/>
          </p:nvPr>
        </p:nvSpPr>
        <p:spPr>
          <a:xfrm>
            <a:off x="0" y="9441720"/>
            <a:ext cx="2950200" cy="49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+mn-lt"/>
              <a:ea typeface="+mn-ea"/>
            </a:endParaRPr>
          </a:p>
        </p:txBody>
      </p:sp>
      <p:sp>
        <p:nvSpPr>
          <p:cNvPr id="1150" name="PlaceHolder 4"/>
          <p:cNvSpPr>
            <a:spLocks noGrp="1"/>
          </p:cNvSpPr>
          <p:nvPr>
            <p:ph type="sldNum" idx="25"/>
          </p:nvPr>
        </p:nvSpPr>
        <p:spPr>
          <a:xfrm>
            <a:off x="3855240" y="9441720"/>
            <a:ext cx="2950200" cy="49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56880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defRPr>
            </a:lvl1pPr>
          </a:lstStyle>
          <a:p>
            <a:pPr indent="0" algn="r" defTabSz="956880">
              <a:lnSpc>
                <a:spcPct val="100000"/>
              </a:lnSpc>
              <a:buNone/>
            </a:pPr>
            <a:fld id="{6BEAC167-1E56-4A89-B6CA-078D5C4214B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rPr>
              <a:t>23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タイトルとコンテンツ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1"/>
          <p:cNvPicPr/>
          <p:nvPr/>
        </p:nvPicPr>
        <p:blipFill>
          <a:blip r:embed="rId2"/>
          <a:stretch/>
        </p:blipFill>
        <p:spPr>
          <a:xfrm>
            <a:off x="8151480" y="72360"/>
            <a:ext cx="1598400" cy="42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図 4"/>
          <p:cNvPicPr/>
          <p:nvPr/>
        </p:nvPicPr>
        <p:blipFill>
          <a:blip r:embed="rId3"/>
          <a:stretch/>
        </p:blipFill>
        <p:spPr>
          <a:xfrm>
            <a:off x="8151480" y="32400"/>
            <a:ext cx="1652760" cy="63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正方形/長方形 5"/>
          <p:cNvSpPr/>
          <p:nvPr/>
        </p:nvSpPr>
        <p:spPr>
          <a:xfrm>
            <a:off x="0" y="6552720"/>
            <a:ext cx="9905760" cy="332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3" name="スライド番号プレースホルダ 1"/>
          <p:cNvSpPr/>
          <p:nvPr/>
        </p:nvSpPr>
        <p:spPr>
          <a:xfrm>
            <a:off x="7594560" y="6552720"/>
            <a:ext cx="23112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7221DD93-BA6E-44AE-9625-337799002E27}" type="slidenum">
              <a:rPr lang="en-US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テキスト ボックス 8"/>
          <p:cNvSpPr/>
          <p:nvPr/>
        </p:nvSpPr>
        <p:spPr>
          <a:xfrm>
            <a:off x="116640" y="6598080"/>
            <a:ext cx="366588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Copyright(c) DYM Co., Ltd</a:t>
            </a:r>
            <a:r>
              <a:rPr lang="ja-JP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． </a:t>
            </a: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正方形/長方形 1"/>
          <p:cNvSpPr/>
          <p:nvPr/>
        </p:nvSpPr>
        <p:spPr>
          <a:xfrm>
            <a:off x="9398160" y="6591240"/>
            <a:ext cx="418680" cy="2664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タイトルとコンテンツ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1"/>
          <p:cNvPicPr/>
          <p:nvPr/>
        </p:nvPicPr>
        <p:blipFill>
          <a:blip r:embed="rId2"/>
          <a:stretch/>
        </p:blipFill>
        <p:spPr>
          <a:xfrm>
            <a:off x="8151480" y="72360"/>
            <a:ext cx="1598400" cy="42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図 4"/>
          <p:cNvPicPr/>
          <p:nvPr/>
        </p:nvPicPr>
        <p:blipFill>
          <a:blip r:embed="rId3"/>
          <a:stretch/>
        </p:blipFill>
        <p:spPr>
          <a:xfrm>
            <a:off x="8151480" y="32400"/>
            <a:ext cx="1652760" cy="63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正方形/長方形 5"/>
          <p:cNvSpPr/>
          <p:nvPr/>
        </p:nvSpPr>
        <p:spPr>
          <a:xfrm>
            <a:off x="0" y="6552720"/>
            <a:ext cx="9905760" cy="332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9" name="スライド番号プレースホルダ 1"/>
          <p:cNvSpPr/>
          <p:nvPr/>
        </p:nvSpPr>
        <p:spPr>
          <a:xfrm>
            <a:off x="7594560" y="6552720"/>
            <a:ext cx="23112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B234BB70-5183-4ABD-92F4-80874DE4EEF5}" type="slidenum">
              <a:rPr lang="en-US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テキスト ボックス 8"/>
          <p:cNvSpPr/>
          <p:nvPr/>
        </p:nvSpPr>
        <p:spPr>
          <a:xfrm>
            <a:off x="116640" y="6598080"/>
            <a:ext cx="366588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Copyright(c) DYM Co., Ltd</a:t>
            </a:r>
            <a:r>
              <a:rPr lang="ja-JP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． </a:t>
            </a: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" name="直線コネクタ 4"/>
          <p:cNvCxnSpPr/>
          <p:nvPr/>
        </p:nvCxnSpPr>
        <p:spPr>
          <a:xfrm>
            <a:off x="0" y="548640"/>
            <a:ext cx="9906120" cy="360"/>
          </a:xfrm>
          <a:prstGeom prst="straightConnector1">
            <a:avLst/>
          </a:prstGeom>
          <a:ln>
            <a:solidFill>
              <a:srgbClr val="191F54"/>
            </a:solidFill>
            <a:round/>
          </a:ln>
        </p:spPr>
      </p:cxnSp>
      <p:sp>
        <p:nvSpPr>
          <p:cNvPr id="12" name="正方形/長方形 6"/>
          <p:cNvSpPr/>
          <p:nvPr/>
        </p:nvSpPr>
        <p:spPr>
          <a:xfrm>
            <a:off x="0" y="0"/>
            <a:ext cx="450720" cy="548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95000" y="273600"/>
            <a:ext cx="89150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95000" y="1604520"/>
            <a:ext cx="89150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タイトル 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図 1"/>
          <p:cNvPicPr/>
          <p:nvPr/>
        </p:nvPicPr>
        <p:blipFill>
          <a:blip r:embed="rId2"/>
          <a:stretch/>
        </p:blipFill>
        <p:spPr>
          <a:xfrm>
            <a:off x="8151480" y="72360"/>
            <a:ext cx="1598400" cy="42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図 4"/>
          <p:cNvPicPr/>
          <p:nvPr/>
        </p:nvPicPr>
        <p:blipFill>
          <a:blip r:embed="rId3"/>
          <a:stretch/>
        </p:blipFill>
        <p:spPr>
          <a:xfrm>
            <a:off x="8151480" y="32400"/>
            <a:ext cx="1652760" cy="63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正方形/長方形 5"/>
          <p:cNvSpPr/>
          <p:nvPr/>
        </p:nvSpPr>
        <p:spPr>
          <a:xfrm>
            <a:off x="0" y="6552720"/>
            <a:ext cx="9905760" cy="332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8" name="スライド番号プレースホルダ 1"/>
          <p:cNvSpPr/>
          <p:nvPr/>
        </p:nvSpPr>
        <p:spPr>
          <a:xfrm>
            <a:off x="7594560" y="6552720"/>
            <a:ext cx="23112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077BD008-84D6-4C04-8004-9A059DF72521}" type="slidenum">
              <a:rPr lang="en-US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テキスト ボックス 8"/>
          <p:cNvSpPr/>
          <p:nvPr/>
        </p:nvSpPr>
        <p:spPr>
          <a:xfrm>
            <a:off x="116640" y="6598080"/>
            <a:ext cx="366588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Copyright(c) DYM Co., Ltd</a:t>
            </a:r>
            <a:r>
              <a:rPr lang="ja-JP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． </a:t>
            </a: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emf"/><Relationship Id="rId4" Type="http://schemas.openxmlformats.org/officeDocument/2006/relationships/image" Target="../media/image19.jpeg"/><Relationship Id="rId5" Type="http://schemas.openxmlformats.org/officeDocument/2006/relationships/image" Target="../media/image20.jpeg"/><Relationship Id="rId6" Type="http://schemas.openxmlformats.org/officeDocument/2006/relationships/image" Target="../media/image21.jpeg"/><Relationship Id="rId7" Type="http://schemas.openxmlformats.org/officeDocument/2006/relationships/image" Target="../media/image22.jpeg"/><Relationship Id="rId8" Type="http://schemas.openxmlformats.org/officeDocument/2006/relationships/image" Target="../media/image23.jpe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正方形/長方形 1"/>
          <p:cNvSpPr/>
          <p:nvPr/>
        </p:nvSpPr>
        <p:spPr>
          <a:xfrm>
            <a:off x="1665660" y="2937630"/>
            <a:ext cx="6573960" cy="584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3200" b="1" u="none" strike="noStrike" dirty="0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LINE公式アカウント運用のご提案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27" name="正方形/長方形 5"/>
          <p:cNvSpPr/>
          <p:nvPr/>
        </p:nvSpPr>
        <p:spPr>
          <a:xfrm>
            <a:off x="1336792" y="1922429"/>
            <a:ext cx="7231989" cy="10424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1440" tIns="45720" rIns="91440" bIns="45720" anchor="b">
            <a:noAutofit/>
          </a:bodyPr>
          <a:lstStyle/>
          <a:p>
            <a:pPr algn="ctr"/>
            <a:r>
              <a:rPr lang="ja-JP" sz="1600" b="0" u="none" strike="noStrike" dirty="0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広告で集めた方をLINEでナーチャリングをし、</a:t>
            </a:r>
          </a:p>
          <a:p>
            <a:pPr algn="ctr"/>
            <a:r>
              <a:rPr lang="ja-JP" sz="1600" b="0" u="none" strike="noStrike" dirty="0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セミナー参加・入会へ</a:t>
            </a:r>
          </a:p>
        </p:txBody>
      </p:sp>
      <p:cxnSp>
        <p:nvCxnSpPr>
          <p:cNvPr id="28" name="直線コネクタ 4"/>
          <p:cNvCxnSpPr/>
          <p:nvPr/>
        </p:nvCxnSpPr>
        <p:spPr>
          <a:xfrm>
            <a:off x="1336980" y="3604491"/>
            <a:ext cx="7232040" cy="0"/>
          </a:xfrm>
          <a:prstGeom prst="straightConnector1">
            <a:avLst/>
          </a:prstGeom>
          <a:ln w="190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pic>
        <p:nvPicPr>
          <p:cNvPr id="29" name="図 8" descr="背景パターン&#10;&#10;AI 生成コンテンツは誤りを含む可能性があります。"/>
          <p:cNvPicPr/>
          <p:nvPr/>
        </p:nvPicPr>
        <p:blipFill>
          <a:blip r:embed="rId2"/>
          <a:stretch/>
        </p:blipFill>
        <p:spPr>
          <a:xfrm>
            <a:off x="0" y="0"/>
            <a:ext cx="8159400" cy="76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図 9" descr="背景パターン&#10;&#10;AI 生成コンテンツは誤りを含む可能性があります。"/>
          <p:cNvPicPr/>
          <p:nvPr/>
        </p:nvPicPr>
        <p:blipFill>
          <a:blip r:embed="rId2"/>
          <a:stretch/>
        </p:blipFill>
        <p:spPr>
          <a:xfrm>
            <a:off x="7863840" y="494280"/>
            <a:ext cx="204192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株式会社すなおコンサルティング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正方形/長方形 18"/>
          <p:cNvSpPr/>
          <p:nvPr/>
        </p:nvSpPr>
        <p:spPr>
          <a:xfrm>
            <a:off x="1649160" y="5820840"/>
            <a:ext cx="6192360" cy="37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defTabSz="914400">
              <a:lnSpc>
                <a:spcPct val="100000"/>
              </a:lnSpc>
              <a:spcBef>
                <a:spcPts val="167"/>
              </a:spcBef>
            </a:pP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DYM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　〒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141-0032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1-11-2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10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階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  <a:p>
            <a:pPr defTabSz="914400">
              <a:lnSpc>
                <a:spcPct val="100000"/>
              </a:lnSpc>
              <a:spcBef>
                <a:spcPts val="167"/>
              </a:spcBef>
            </a:pP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　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　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代表取締役　水谷佑毅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074" name="図 1"/>
          <p:cNvPicPr/>
          <p:nvPr/>
        </p:nvPicPr>
        <p:blipFill>
          <a:blip r:embed="rId3"/>
          <a:srcRect l="-1652" r="-11179"/>
          <a:stretch/>
        </p:blipFill>
        <p:spPr>
          <a:xfrm>
            <a:off x="543960" y="5895360"/>
            <a:ext cx="1100520" cy="22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5" name="テキスト ボックス 2"/>
          <p:cNvSpPr/>
          <p:nvPr/>
        </p:nvSpPr>
        <p:spPr>
          <a:xfrm>
            <a:off x="5070240" y="5597640"/>
            <a:ext cx="1843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1076" name="正方形/長方形 17"/>
          <p:cNvSpPr/>
          <p:nvPr/>
        </p:nvSpPr>
        <p:spPr>
          <a:xfrm>
            <a:off x="2170080" y="989640"/>
            <a:ext cx="55656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360"/>
              </a:spcBef>
            </a:pPr>
            <a:r>
              <a:rPr lang="ja-JP" sz="180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貴社の明るい未来に必ず貢献致します。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1077" name="正方形/長方形 13"/>
          <p:cNvSpPr/>
          <p:nvPr/>
        </p:nvSpPr>
        <p:spPr>
          <a:xfrm>
            <a:off x="382680" y="2698200"/>
            <a:ext cx="597960" cy="20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47"/>
              </a:spcBef>
            </a:pPr>
            <a:r>
              <a:rPr lang="ja-JP" sz="740" b="0" u="none" strike="noStrike">
                <a:solidFill>
                  <a:srgbClr val="FFFFFF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本社</a:t>
            </a:r>
            <a:endParaRPr lang="en-US" sz="74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1078" name="正方形/長方形 14"/>
          <p:cNvSpPr/>
          <p:nvPr/>
        </p:nvSpPr>
        <p:spPr>
          <a:xfrm>
            <a:off x="368280" y="2355120"/>
            <a:ext cx="75636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59"/>
              </a:spcBef>
            </a:pPr>
            <a:r>
              <a:rPr lang="ja-JP" sz="800" b="0" u="none" strike="noStrike">
                <a:solidFill>
                  <a:srgbClr val="FFFFFF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本社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grpSp>
        <p:nvGrpSpPr>
          <p:cNvPr id="1079" name="グループ化 21"/>
          <p:cNvGrpSpPr/>
          <p:nvPr/>
        </p:nvGrpSpPr>
        <p:grpSpPr>
          <a:xfrm>
            <a:off x="380880" y="1772640"/>
            <a:ext cx="9143640" cy="3314520"/>
            <a:chOff x="380880" y="1772640"/>
            <a:chExt cx="9143640" cy="3314520"/>
          </a:xfrm>
        </p:grpSpPr>
        <p:pic>
          <p:nvPicPr>
            <p:cNvPr id="1080" name="図 20" descr="ポーズをとる男性グループ&#10;&#10;自動的に生成された説明"/>
            <p:cNvPicPr/>
            <p:nvPr/>
          </p:nvPicPr>
          <p:blipFill>
            <a:blip r:embed="rId4"/>
            <a:srcRect l="3642" r="4070"/>
            <a:stretch/>
          </p:blipFill>
          <p:spPr>
            <a:xfrm>
              <a:off x="7354800" y="3518640"/>
              <a:ext cx="2169720" cy="15674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1" name="図 15" descr="白いシャツを着ている男性&#10;&#10;中程度の精度で自動的に生成された説明"/>
            <p:cNvPicPr/>
            <p:nvPr/>
          </p:nvPicPr>
          <p:blipFill>
            <a:blip r:embed="rId5"/>
            <a:stretch/>
          </p:blipFill>
          <p:spPr>
            <a:xfrm>
              <a:off x="5364720" y="3519720"/>
              <a:ext cx="1989720" cy="15674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2" name="図 9" descr="スーツを着た男性たち&#10;&#10;自動的に生成された説明"/>
            <p:cNvPicPr/>
            <p:nvPr/>
          </p:nvPicPr>
          <p:blipFill>
            <a:blip r:embed="rId6"/>
            <a:srcRect l="10699" r="10360"/>
            <a:stretch/>
          </p:blipFill>
          <p:spPr>
            <a:xfrm>
              <a:off x="7680600" y="1774080"/>
              <a:ext cx="1842120" cy="1745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3" name="図 6" descr="講堂にいる人たち&#10;&#10;中程度の精度で自動的に生成された説明"/>
            <p:cNvPicPr/>
            <p:nvPr/>
          </p:nvPicPr>
          <p:blipFill>
            <a:blip r:embed="rId7"/>
            <a:srcRect l="2513" t="12878" r="2480"/>
            <a:stretch/>
          </p:blipFill>
          <p:spPr>
            <a:xfrm>
              <a:off x="380880" y="1772640"/>
              <a:ext cx="5089320" cy="33145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4" name="図 10" descr="スーツを着た男性グループの写真&#10;&#10;低い精度で自動的に生成された説明"/>
            <p:cNvPicPr/>
            <p:nvPr/>
          </p:nvPicPr>
          <p:blipFill>
            <a:blip r:embed="rId8"/>
            <a:srcRect l="8592" r="6764"/>
            <a:stretch/>
          </p:blipFill>
          <p:spPr>
            <a:xfrm>
              <a:off x="5470920" y="1773000"/>
              <a:ext cx="2215080" cy="17456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85" name="正方形/長方形 5"/>
          <p:cNvSpPr/>
          <p:nvPr/>
        </p:nvSpPr>
        <p:spPr>
          <a:xfrm>
            <a:off x="128160" y="6620400"/>
            <a:ext cx="2852640" cy="237240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1086" name="正方形/長方形 1"/>
          <p:cNvSpPr/>
          <p:nvPr/>
        </p:nvSpPr>
        <p:spPr>
          <a:xfrm>
            <a:off x="368280" y="0"/>
            <a:ext cx="9537480" cy="51444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サマリー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広告で集めた方をLINEにため、次のイベント参加・入会（LTV）を最大化する</a:t>
            </a:r>
            <a:endParaRPr lang="en-US" sz="1400" b="1" u="none" strike="noStrike" dirty="0"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KEY TAKEAWAY 見出し"/>
          <p:cNvSpPr/>
          <p:nvPr/>
        </p:nvSpPr>
        <p:spPr>
          <a:xfrm>
            <a:off x="502920" y="1691640"/>
            <a:ext cx="2103120" cy="329184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KEY TAKEAWAY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KEY TAKEAWAY"/>
          <p:cNvSpPr/>
          <p:nvPr/>
        </p:nvSpPr>
        <p:spPr>
          <a:xfrm>
            <a:off x="502920" y="2020824"/>
            <a:ext cx="8897112" cy="1325880"/>
          </a:xfrm>
          <a:prstGeom prst="rect">
            <a:avLst/>
          </a:prstGeom>
          <a:solidFill>
            <a:srgbClr val="EEF1F8"/>
          </a:solidFill>
          <a:ln w="9525">
            <a:solidFill>
              <a:srgbClr val="1F285A"/>
            </a:solidFill>
          </a:ln>
        </p:spPr>
        <p:txBody>
          <a:bodyPr wrap="square" lIns="182880" tIns="73152" rIns="182880" bIns="73152" rtlCol="0" anchor="ctr">
            <a:noAutofit/>
          </a:bodyPr>
          <a:lstStyle/>
          <a:p>
            <a:pPr algn="ctr">
              <a:lnSpc>
                <a:spcPct val="125000"/>
              </a:lnSpc>
              <a:buNone/>
            </a:pPr>
            <a:r>
              <a:rPr lang="ja-JP" altLang="en-US" sz="18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 → イベント＋LINEにたまる → ナーチャリング → 次のイベント・入会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5000"/>
              </a:lnSpc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この流れを構築する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補足ポイント"/>
          <p:cNvSpPr/>
          <p:nvPr/>
        </p:nvSpPr>
        <p:spPr>
          <a:xfrm>
            <a:off x="502920" y="370332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補足ポイント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線1"/>
          <p:cNvSpPr/>
          <p:nvPr/>
        </p:nvSpPr>
        <p:spPr>
          <a:xfrm>
            <a:off x="502920" y="4105656"/>
            <a:ext cx="777240" cy="5029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見出し1"/>
          <p:cNvSpPr/>
          <p:nvPr/>
        </p:nvSpPr>
        <p:spPr>
          <a:xfrm>
            <a:off x="502920" y="4206240"/>
            <a:ext cx="2804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01 現状と課題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本文1"/>
          <p:cNvSpPr/>
          <p:nvPr/>
        </p:nvSpPr>
        <p:spPr>
          <a:xfrm>
            <a:off x="502920" y="4572000"/>
            <a:ext cx="280416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45720" bIns="36576" rtlCol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申し込まずに離れた方・入会していない方を、次のイベントまで追う場所が無い。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線2"/>
          <p:cNvSpPr/>
          <p:nvPr/>
        </p:nvSpPr>
        <p:spPr>
          <a:xfrm>
            <a:off x="3549396" y="4105656"/>
            <a:ext cx="777240" cy="50292"/>
          </a:xfrm>
          <a:prstGeom prst="rect">
            <a:avLst/>
          </a:prstGeom>
          <a:solidFill>
            <a:srgbClr val="3E5C99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見出し2"/>
          <p:cNvSpPr/>
          <p:nvPr/>
        </p:nvSpPr>
        <p:spPr>
          <a:xfrm>
            <a:off x="3549396" y="4206240"/>
            <a:ext cx="2804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3E5C99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02 施策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本文2"/>
          <p:cNvSpPr/>
          <p:nvPr/>
        </p:nvSpPr>
        <p:spPr>
          <a:xfrm>
            <a:off x="3549396" y="4572000"/>
            <a:ext cx="280416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45720" bIns="36576" rtlCol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ポップアップツールとサンクスLINE誘導で友だちにし、興味あり・予約・参加の段階ごとに配信する。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線3"/>
          <p:cNvSpPr/>
          <p:nvPr/>
        </p:nvSpPr>
        <p:spPr>
          <a:xfrm>
            <a:off x="6595872" y="4105656"/>
            <a:ext cx="777240" cy="502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見出し3"/>
          <p:cNvSpPr/>
          <p:nvPr/>
        </p:nvSpPr>
        <p:spPr>
          <a:xfrm>
            <a:off x="6595872" y="4206240"/>
            <a:ext cx="2804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03 目標と費用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本文3"/>
          <p:cNvSpPr/>
          <p:nvPr/>
        </p:nvSpPr>
        <p:spPr>
          <a:xfrm>
            <a:off x="6595872" y="4572000"/>
            <a:ext cx="2804160" cy="1691640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45720" bIns="36576" rtlCol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追える人数を増やし・減らさず、入会へ。平常期 月5〜10万円／イベント期 月30万円程度。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現状と課題：イベントの後、離れた方・未入会の方とのつながりが切れる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イベントで集めた方を、次のイベントまで追う仕組みが無い</a:t>
            </a:r>
            <a:endParaRPr lang="en-US" sz="1400" b="1" u="none" strike="noStrike" dirty="0"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1"/>
          <p:cNvSpPr/>
          <p:nvPr/>
        </p:nvSpPr>
        <p:spPr>
          <a:xfrm>
            <a:off x="502920" y="1783080"/>
            <a:ext cx="1545336" cy="91440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2048256" y="1783080"/>
            <a:ext cx="292608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2"/>
          <p:cNvSpPr/>
          <p:nvPr/>
        </p:nvSpPr>
        <p:spPr>
          <a:xfrm>
            <a:off x="2340864" y="1783080"/>
            <a:ext cx="1545336" cy="91440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LP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3886200" y="1783080"/>
            <a:ext cx="292608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3"/>
          <p:cNvSpPr/>
          <p:nvPr/>
        </p:nvSpPr>
        <p:spPr>
          <a:xfrm>
            <a:off x="4178808" y="1783080"/>
            <a:ext cx="1545336" cy="91440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矢印"/>
          <p:cNvSpPr/>
          <p:nvPr/>
        </p:nvSpPr>
        <p:spPr>
          <a:xfrm>
            <a:off x="5724144" y="1783080"/>
            <a:ext cx="292608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流れ4"/>
          <p:cNvSpPr/>
          <p:nvPr/>
        </p:nvSpPr>
        <p:spPr>
          <a:xfrm>
            <a:off x="6016752" y="1783080"/>
            <a:ext cx="1545336" cy="91440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矢印"/>
          <p:cNvSpPr/>
          <p:nvPr/>
        </p:nvSpPr>
        <p:spPr>
          <a:xfrm>
            <a:off x="7562088" y="1783080"/>
            <a:ext cx="292608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流れ5"/>
          <p:cNvSpPr/>
          <p:nvPr/>
        </p:nvSpPr>
        <p:spPr>
          <a:xfrm>
            <a:off x="7854696" y="1783080"/>
            <a:ext cx="1545336" cy="91440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矢印下"/>
          <p:cNvSpPr/>
          <p:nvPr/>
        </p:nvSpPr>
        <p:spPr>
          <a:xfrm>
            <a:off x="2930652" y="274320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切れる1"/>
          <p:cNvSpPr/>
          <p:nvPr/>
        </p:nvSpPr>
        <p:spPr>
          <a:xfrm>
            <a:off x="1467612" y="3063240"/>
            <a:ext cx="3291840" cy="132588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25000"/>
              </a:lnSpc>
              <a:buNone/>
            </a:pPr>
            <a:r>
              <a:rPr lang="ja-JP" altLang="en-US" sz="14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申し込まずに離れた方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矢印下"/>
          <p:cNvSpPr/>
          <p:nvPr/>
        </p:nvSpPr>
        <p:spPr>
          <a:xfrm>
            <a:off x="6606540" y="2743200"/>
            <a:ext cx="36576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切れる3"/>
          <p:cNvSpPr/>
          <p:nvPr/>
        </p:nvSpPr>
        <p:spPr>
          <a:xfrm>
            <a:off x="5143500" y="3063240"/>
            <a:ext cx="3291840" cy="132588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91440" tIns="54864" rIns="91440" bIns="54864" rtlCol="0" anchor="ctr">
            <a:noAutofit/>
          </a:bodyPr>
          <a:lstStyle/>
          <a:p>
            <a:pPr algn="ctr">
              <a:lnSpc>
                <a:spcPct val="125000"/>
              </a:lnSpc>
              <a:buNone/>
            </a:pPr>
            <a:r>
              <a:rPr lang="ja-JP" altLang="en-US" sz="14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参加して入会していない方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入会まで案内を続ける手段が無い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示唆"/>
          <p:cNvSpPr/>
          <p:nvPr/>
        </p:nvSpPr>
        <p:spPr>
          <a:xfrm>
            <a:off x="502920" y="4937760"/>
            <a:ext cx="8897112" cy="77724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次のイベントでは、</a:t>
            </a:r>
            <a:r>
              <a:rPr lang="ja-JP" altLang="en-US" sz="15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また広告で集め直している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本質課題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イベントのたびに集めた方が、手元に残っていない</a:t>
            </a:r>
            <a:endParaRPr lang="en-US" sz="1400" b="1" u="none" strike="noStrike" dirty="0"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KEY TAKEAWAY 見出し"/>
          <p:cNvSpPr/>
          <p:nvPr/>
        </p:nvSpPr>
        <p:spPr>
          <a:xfrm>
            <a:off x="502920" y="1691640"/>
            <a:ext cx="2103120" cy="329184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KEY TAKEAWAY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KEY TAKEAWAY"/>
          <p:cNvSpPr/>
          <p:nvPr/>
        </p:nvSpPr>
        <p:spPr>
          <a:xfrm>
            <a:off x="502920" y="2020824"/>
            <a:ext cx="8897112" cy="1325880"/>
          </a:xfrm>
          <a:prstGeom prst="rect">
            <a:avLst/>
          </a:prstGeom>
          <a:solidFill>
            <a:srgbClr val="EEF1F8"/>
          </a:solidFill>
          <a:ln w="9525">
            <a:solidFill>
              <a:srgbClr val="1F285A"/>
            </a:solidFill>
          </a:ln>
        </p:spPr>
        <p:txBody>
          <a:bodyPr wrap="square" lIns="182880" tIns="73152" rIns="182880" bIns="73152" rtlCol="0" anchor="ctr">
            <a:noAutofit/>
          </a:bodyPr>
          <a:lstStyle/>
          <a:p>
            <a:pPr algn="ctr">
              <a:lnSpc>
                <a:spcPct val="125000"/>
              </a:lnSpc>
              <a:buNone/>
            </a:pPr>
            <a:r>
              <a:rPr lang="ja-JP" altLang="en-US" sz="20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ためて追い続ける場所が無い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5000"/>
              </a:lnSpc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この場所を、LINE公式アカウントでつくる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補足ポイント"/>
          <p:cNvSpPr/>
          <p:nvPr/>
        </p:nvSpPr>
        <p:spPr>
          <a:xfrm>
            <a:off x="502920" y="370332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3つの課題と打ち手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線1"/>
          <p:cNvSpPr/>
          <p:nvPr/>
        </p:nvSpPr>
        <p:spPr>
          <a:xfrm>
            <a:off x="502920" y="4105656"/>
            <a:ext cx="777240" cy="5029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見出し1"/>
          <p:cNvSpPr/>
          <p:nvPr/>
        </p:nvSpPr>
        <p:spPr>
          <a:xfrm>
            <a:off x="502920" y="4206240"/>
            <a:ext cx="2804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01 集める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本文1"/>
          <p:cNvSpPr/>
          <p:nvPr/>
        </p:nvSpPr>
        <p:spPr>
          <a:xfrm>
            <a:off x="502920" y="4572000"/>
            <a:ext cx="280416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45720" bIns="36576" rtlCol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離れる方・予約した方を、友だちにする手段が無い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打ち手1"/>
          <p:cNvSpPr/>
          <p:nvPr/>
        </p:nvSpPr>
        <p:spPr>
          <a:xfrm>
            <a:off x="502920" y="5559552"/>
            <a:ext cx="2804160" cy="457200"/>
          </a:xfrm>
          <a:prstGeom prst="rect">
            <a:avLst/>
          </a:prstGeom>
          <a:solidFill>
            <a:srgbClr val="F4F7FF"/>
          </a:solidFill>
          <a:ln w="9525">
            <a:solidFill>
              <a:srgbClr val="D9D9D9"/>
            </a:solidFill>
          </a:ln>
        </p:spPr>
        <p:txBody>
          <a:bodyPr wrap="square" lIns="91440" tIns="36576" rIns="73152" bIns="36576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→ ポップアップツール・サンクスLINE誘導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線2"/>
          <p:cNvSpPr/>
          <p:nvPr/>
        </p:nvSpPr>
        <p:spPr>
          <a:xfrm>
            <a:off x="3549396" y="4105656"/>
            <a:ext cx="777240" cy="50292"/>
          </a:xfrm>
          <a:prstGeom prst="rect">
            <a:avLst/>
          </a:prstGeom>
          <a:solidFill>
            <a:srgbClr val="3E5C99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見出し2"/>
          <p:cNvSpPr/>
          <p:nvPr/>
        </p:nvSpPr>
        <p:spPr>
          <a:xfrm>
            <a:off x="3549396" y="4206240"/>
            <a:ext cx="2804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3E5C99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02 追う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本文2"/>
          <p:cNvSpPr/>
          <p:nvPr/>
        </p:nvSpPr>
        <p:spPr>
          <a:xfrm>
            <a:off x="3549396" y="4572000"/>
            <a:ext cx="280416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45720" bIns="36576" rtlCol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次のイベントまで、情報を届ける手段が無い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打ち手2"/>
          <p:cNvSpPr/>
          <p:nvPr/>
        </p:nvSpPr>
        <p:spPr>
          <a:xfrm>
            <a:off x="3549396" y="5559552"/>
            <a:ext cx="2804160" cy="457200"/>
          </a:xfrm>
          <a:prstGeom prst="rect">
            <a:avLst/>
          </a:prstGeom>
          <a:solidFill>
            <a:srgbClr val="F4F7FF"/>
          </a:solidFill>
          <a:ln w="9525">
            <a:solidFill>
              <a:srgbClr val="D9D9D9"/>
            </a:solidFill>
          </a:ln>
        </p:spPr>
        <p:txBody>
          <a:bodyPr wrap="square" lIns="91440" tIns="36576" rIns="73152" bIns="36576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→ 平常期の配信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線3"/>
          <p:cNvSpPr/>
          <p:nvPr/>
        </p:nvSpPr>
        <p:spPr>
          <a:xfrm>
            <a:off x="6595872" y="4105656"/>
            <a:ext cx="777240" cy="502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見出し3"/>
          <p:cNvSpPr/>
          <p:nvPr/>
        </p:nvSpPr>
        <p:spPr>
          <a:xfrm>
            <a:off x="6595872" y="4206240"/>
            <a:ext cx="28041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3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03 つなげる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本文3"/>
          <p:cNvSpPr/>
          <p:nvPr/>
        </p:nvSpPr>
        <p:spPr>
          <a:xfrm>
            <a:off x="6595872" y="4572000"/>
            <a:ext cx="280416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45720" bIns="36576" rtlCol="0" anchor="t">
            <a:noAutofit/>
          </a:bodyPr>
          <a:lstStyle/>
          <a:p>
            <a:pPr algn="l">
              <a:lnSpc>
                <a:spcPct val="135000"/>
              </a:lnSpc>
              <a:buNone/>
            </a:pPr>
            <a:r>
              <a:rPr lang="ja-JP" altLang="en-US" sz="13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参加した方に、入会を案内する手段が無い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打ち手3"/>
          <p:cNvSpPr/>
          <p:nvPr/>
        </p:nvSpPr>
        <p:spPr>
          <a:xfrm>
            <a:off x="6595872" y="5559552"/>
            <a:ext cx="2804160" cy="457200"/>
          </a:xfrm>
          <a:prstGeom prst="rect">
            <a:avLst/>
          </a:prstGeom>
          <a:solidFill>
            <a:srgbClr val="F4F7FF"/>
          </a:solidFill>
          <a:ln w="9525">
            <a:solidFill>
              <a:srgbClr val="D9D9D9"/>
            </a:solidFill>
          </a:ln>
        </p:spPr>
        <p:txBody>
          <a:bodyPr wrap="square" lIns="91440" tIns="36576" rIns="73152" bIns="36576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→ 参加後の入会の案内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なぜLINEか：広告は毎回ゼロから、LINEは積み上がる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一度つながった方に、次のイベントまで何度でも届けられる</a:t>
            </a:r>
            <a:endParaRPr lang="en-US" sz="1400" b="1" u="none" strike="noStrike" dirty="0"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7" name="広告とLINE 6"/>
          <p:cNvGraphicFramePr>
            <a:graphicFrameLocks noGrp="1"/>
          </p:cNvGraphicFramePr>
          <p:nvPr/>
        </p:nvGraphicFramePr>
        <p:xfrm>
          <a:off x="502920" y="1691640"/>
          <a:ext cx="8897112" cy="3319272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959352"/>
              </a:tblGrid>
              <a:tr h="4389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LINE公式アカウント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届く相手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毎回、新しく集める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一度友だちになった方に、何度でも届く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届き方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広告を見たときだけ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通知で届き、見てもらいやすい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つながりが切れる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友だちとして、毎月積み上がる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示唆"/>
          <p:cNvSpPr/>
          <p:nvPr/>
        </p:nvSpPr>
        <p:spPr>
          <a:xfrm>
            <a:off x="502920" y="5257800"/>
            <a:ext cx="8897112" cy="73152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5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この仕組みが回れば、今後の広告費を抑えられる可能性もある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友だちの入口：ポップアップツールとサンクスLINE誘導の2つ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申し込まずに離れる方と、予約した方の両方を、LINEの友だちにする</a:t>
            </a:r>
            <a:endParaRPr lang="en-US" sz="1400" b="1" u="none" strike="noStrike" dirty="0"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見出し ポップアップツール（離脱防止）"/>
          <p:cNvSpPr/>
          <p:nvPr/>
        </p:nvSpPr>
        <p:spPr>
          <a:xfrm>
            <a:off x="502920" y="1691640"/>
            <a:ext cx="4311396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ポップアップツール（離脱防止）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8" name="入口1 7"/>
          <p:cNvGraphicFramePr>
            <a:graphicFrameLocks noGrp="1"/>
          </p:cNvGraphicFramePr>
          <p:nvPr/>
        </p:nvGraphicFramePr>
        <p:xfrm>
          <a:off x="502920" y="2103120"/>
          <a:ext cx="4311396" cy="2743200"/>
        </p:xfrm>
        <a:graphic>
          <a:graphicData uri="http://schemas.openxmlformats.org/drawingml/2006/table">
            <a:tbl>
              <a:tblPr/>
              <a:tblGrid>
                <a:gridCol w="1234440"/>
                <a:gridCol w="3076956"/>
              </a:tblGrid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LPで申し込まずに離れる方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LPを離れようとしたとき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次のセミナーの案内を、LINEで受け取れる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見出し サンクスLINE誘導"/>
          <p:cNvSpPr/>
          <p:nvPr/>
        </p:nvSpPr>
        <p:spPr>
          <a:xfrm>
            <a:off x="5088636" y="1691640"/>
            <a:ext cx="4311396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サンクスLINE誘導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0" name="入口2 9"/>
          <p:cNvGraphicFramePr>
            <a:graphicFrameLocks noGrp="1"/>
          </p:cNvGraphicFramePr>
          <p:nvPr/>
        </p:nvGraphicFramePr>
        <p:xfrm>
          <a:off x="5088636" y="2103120"/>
          <a:ext cx="4311396" cy="2743200"/>
        </p:xfrm>
        <a:graphic>
          <a:graphicData uri="http://schemas.openxmlformats.org/drawingml/2006/table">
            <a:tbl>
              <a:tblPr/>
              <a:tblGrid>
                <a:gridCol w="1234440"/>
                <a:gridCol w="3076956"/>
              </a:tblGrid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セミナーを予約した方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タイミング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予約完了の画面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案内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当日の案内・リマインドを、LINEで届ける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示唆"/>
          <p:cNvSpPr/>
          <p:nvPr/>
        </p:nvSpPr>
        <p:spPr>
          <a:xfrm>
            <a:off x="502920" y="5166360"/>
            <a:ext cx="8897112" cy="73152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5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どちらも、次のイベントまで追える友だちになる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配信：興味あり・予約・参加の段階ごとに、案内を変える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段階に合わせた配信で、次のイベント参加と入会へつなげる</a:t>
            </a:r>
            <a:endParaRPr lang="en-US" sz="1400" b="1" u="none" strike="noStrike" dirty="0"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1"/>
          <p:cNvSpPr/>
          <p:nvPr/>
        </p:nvSpPr>
        <p:spPr>
          <a:xfrm>
            <a:off x="502920" y="1691640"/>
            <a:ext cx="2004822" cy="5486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興味あり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2507741" y="1691640"/>
            <a:ext cx="29260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2"/>
          <p:cNvSpPr/>
          <p:nvPr/>
        </p:nvSpPr>
        <p:spPr>
          <a:xfrm>
            <a:off x="2800350" y="1691640"/>
            <a:ext cx="2004822" cy="5486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4805172" y="1691640"/>
            <a:ext cx="29260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3"/>
          <p:cNvSpPr/>
          <p:nvPr/>
        </p:nvSpPr>
        <p:spPr>
          <a:xfrm>
            <a:off x="5097779" y="1691640"/>
            <a:ext cx="2004822" cy="5486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矢印"/>
          <p:cNvSpPr/>
          <p:nvPr/>
        </p:nvSpPr>
        <p:spPr>
          <a:xfrm>
            <a:off x="7102601" y="1691640"/>
            <a:ext cx="29260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流れ4"/>
          <p:cNvSpPr/>
          <p:nvPr/>
        </p:nvSpPr>
        <p:spPr>
          <a:xfrm>
            <a:off x="7395210" y="1691640"/>
            <a:ext cx="2004822" cy="5486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4" name="段階ごとの配信 13"/>
          <p:cNvGraphicFramePr>
            <a:graphicFrameLocks noGrp="1"/>
          </p:cNvGraphicFramePr>
          <p:nvPr/>
        </p:nvGraphicFramePr>
        <p:xfrm>
          <a:off x="502920" y="2514600"/>
          <a:ext cx="8897112" cy="3182112"/>
        </p:xfrm>
        <a:graphic>
          <a:graphicData uri="http://schemas.openxmlformats.org/drawingml/2006/table">
            <a:tbl>
              <a:tblPr/>
              <a:tblGrid>
                <a:gridCol w="1371600"/>
                <a:gridCol w="2514600"/>
                <a:gridCol w="3364992"/>
                <a:gridCol w="1645920"/>
              </a:tblGrid>
              <a:tr h="4389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段階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対象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届ける内容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ねらい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興味あり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予約していない方</a:t>
                      </a:r>
                      <a:b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（ポップアップツールから）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セミナーの見どころ動画・参加特典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予約へ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予約した方</a:t>
                      </a:r>
                      <a:b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（サンクスLINE誘導から）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前日のリマインド・当日の案内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当日の参加へ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2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イベントに参加した方</a:t>
                      </a:r>
                      <a:endParaRPr lang="ja-JP" altLang="en-US" sz="12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イベント直後に、サロン入会の案内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入会へ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注記"/>
          <p:cNvSpPr/>
          <p:nvPr/>
        </p:nvSpPr>
        <p:spPr>
          <a:xfrm>
            <a:off x="502920" y="585216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※配信の内容は、イベントの内容に合わせて設計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配信の回数：平常期は月2回、イベント期は月4〜5回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イベントの無い時期もつながりを保ち、イベント期に参加・入会へつなげる</a:t>
            </a:r>
            <a:endParaRPr lang="en-US" sz="1400" b="1" u="none" strike="noStrike" dirty="0"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1"/>
          <p:cNvSpPr/>
          <p:nvPr/>
        </p:nvSpPr>
        <p:spPr>
          <a:xfrm>
            <a:off x="502920" y="1691640"/>
            <a:ext cx="2004822" cy="731520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月2回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2507741" y="1691640"/>
            <a:ext cx="29260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2"/>
          <p:cNvSpPr/>
          <p:nvPr/>
        </p:nvSpPr>
        <p:spPr>
          <a:xfrm>
            <a:off x="2800350" y="1691640"/>
            <a:ext cx="2004822" cy="7315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イベント期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月4〜5回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4805172" y="1691640"/>
            <a:ext cx="29260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3"/>
          <p:cNvSpPr/>
          <p:nvPr/>
        </p:nvSpPr>
        <p:spPr>
          <a:xfrm>
            <a:off x="5097779" y="1691640"/>
            <a:ext cx="2004822" cy="731520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月2回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矢印"/>
          <p:cNvSpPr/>
          <p:nvPr/>
        </p:nvSpPr>
        <p:spPr>
          <a:xfrm>
            <a:off x="7102601" y="1691640"/>
            <a:ext cx="29260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流れ4"/>
          <p:cNvSpPr/>
          <p:nvPr/>
        </p:nvSpPr>
        <p:spPr>
          <a:xfrm>
            <a:off x="7395210" y="1691640"/>
            <a:ext cx="2004822" cy="7315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次のイベント期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月4〜5回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4" name="配信の回数 13"/>
          <p:cNvGraphicFramePr>
            <a:graphicFrameLocks noGrp="1"/>
          </p:cNvGraphicFramePr>
          <p:nvPr/>
        </p:nvGraphicFramePr>
        <p:xfrm>
          <a:off x="502920" y="2697480"/>
          <a:ext cx="8897112" cy="2862072"/>
        </p:xfrm>
        <a:graphic>
          <a:graphicData uri="http://schemas.openxmlformats.org/drawingml/2006/table">
            <a:tbl>
              <a:tblPr/>
              <a:tblGrid>
                <a:gridCol w="1463040"/>
                <a:gridCol w="3717036"/>
                <a:gridCol w="3717036"/>
              </a:tblGrid>
              <a:tr h="4389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平常期（イベントの無い月）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イベント期（イベントの前後）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回数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月2回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月4〜5回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定期配信1回＋企画・動画1回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告知・リマインド・イベント直後のフォロー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ねらい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つながりを保ち、追える人数を減らさない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次のイベントの参加・入会へつなげる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注記"/>
          <p:cNvSpPr/>
          <p:nvPr/>
        </p:nvSpPr>
        <p:spPr>
          <a:xfrm>
            <a:off x="502920" y="585216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※イベントを年4回とした場合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目標：追える人数を増やし・減らさず、次のイベント参加・入会へ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時期ごとに、見る指標を分ける</a:t>
            </a:r>
            <a:endParaRPr lang="en-US" sz="1400" b="1" u="none" strike="noStrike" dirty="0"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1"/>
          <p:cNvSpPr/>
          <p:nvPr/>
        </p:nvSpPr>
        <p:spPr>
          <a:xfrm>
            <a:off x="502920" y="1691640"/>
            <a:ext cx="2770632" cy="5486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追える人数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3273552" y="1691640"/>
            <a:ext cx="29260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2"/>
          <p:cNvSpPr/>
          <p:nvPr/>
        </p:nvSpPr>
        <p:spPr>
          <a:xfrm>
            <a:off x="3566159" y="1691640"/>
            <a:ext cx="2770632" cy="5486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次のイベントの予約・参加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6336792" y="1691640"/>
            <a:ext cx="292608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3"/>
          <p:cNvSpPr/>
          <p:nvPr/>
        </p:nvSpPr>
        <p:spPr>
          <a:xfrm>
            <a:off x="6629399" y="1691640"/>
            <a:ext cx="2770632" cy="54864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サロン入会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12" name="指標 11"/>
          <p:cNvGraphicFramePr>
            <a:graphicFrameLocks noGrp="1"/>
          </p:cNvGraphicFramePr>
          <p:nvPr/>
        </p:nvGraphicFramePr>
        <p:xfrm>
          <a:off x="502920" y="2514600"/>
          <a:ext cx="8897112" cy="3319272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5148072"/>
              </a:tblGrid>
              <a:tr h="4389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指標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見る時期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追える人数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ブロックされずに届く友だちの数。増やし、減らさない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予約・参加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LINEからの予約と、当日の参加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サロン入会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イベントの後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参加した方のうち、入会した方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概算お見積り：友だち数・予約・入会の見込み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平常期とイベント期の、友だち数と予約・入会の見込み</a:t>
            </a:r>
            <a:endParaRPr lang="en-US" sz="1400" b="1" u="none" strike="noStrike" dirty="0"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差し込み 概算お見積り（SIM）の表"/>
          <p:cNvSpPr/>
          <p:nvPr/>
        </p:nvSpPr>
        <p:spPr>
          <a:xfrm>
            <a:off x="502920" y="1691640"/>
            <a:ext cx="8897112" cy="434340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概算お見積り（SIM）の表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料金：平常期 月5〜10万円、イベント期 月30万円程度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イベントの有無に合わせて、月ごとの費用を変える</a:t>
            </a:r>
            <a:endParaRPr lang="en-US" sz="1400" b="1" u="none" strike="noStrike" dirty="0"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graphicFrame>
        <p:nvGraphicFramePr>
          <p:cNvPr id="7" name="料金 6"/>
          <p:cNvGraphicFramePr>
            <a:graphicFrameLocks noGrp="1"/>
          </p:cNvGraphicFramePr>
          <p:nvPr/>
        </p:nvGraphicFramePr>
        <p:xfrm>
          <a:off x="502920" y="1691640"/>
          <a:ext cx="8897112" cy="3182112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4416552"/>
              </a:tblGrid>
              <a:tr h="4389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区分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月額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内容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平常期</a:t>
                      </a:r>
                      <a:br>
                        <a:rPr lang="ja-JP" altLang="en-US" sz="12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（イベントの無い月）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6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5〜10万円</a:t>
                      </a:r>
                      <a:endParaRPr lang="ja-JP" altLang="en-US" sz="16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月2回の配信（ツール費を含む）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</a:t>
                      </a:r>
                      <a:br>
                        <a:rPr lang="ja-JP" altLang="en-US" sz="12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2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（イベントの前後）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6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30万円程度</a:t>
                      </a:r>
                      <a:endParaRPr lang="ja-JP" altLang="en-US" sz="16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月4〜5回の配信（告知・リマインド・イベント直後のフォロー）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年間の目安</a:t>
                      </a:r>
                      <a:endParaRPr lang="ja-JP" altLang="en-US" sz="125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6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約160〜200万円</a:t>
                      </a:r>
                      <a:endParaRPr lang="ja-JP" altLang="en-US" sz="16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イベント期4か月＋平常期8か月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91440"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注記"/>
          <p:cNvSpPr/>
          <p:nvPr/>
        </p:nvSpPr>
        <p:spPr>
          <a:xfrm>
            <a:off x="502920" y="5166360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※広告費は含まない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注記"/>
          <p:cNvSpPr/>
          <p:nvPr/>
        </p:nvSpPr>
        <p:spPr>
          <a:xfrm>
            <a:off x="502920" y="5422392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※イベントを年4回、イベント期を各1か月として計算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注記"/>
          <p:cNvSpPr/>
          <p:nvPr/>
        </p:nvSpPr>
        <p:spPr>
          <a:xfrm>
            <a:off x="502920" y="5678424"/>
            <a:ext cx="88971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※施策内容・配信本数・連携範囲等により、費用は個別にお見積り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スケジュール：初期構築に約1か月、構築後に運用を開始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お申込みから約1か月で、友だちの入口と配信の準備を整える</a:t>
            </a:r>
            <a:endParaRPr lang="en-US" sz="1400" b="1" u="none" strike="noStrike" dirty="0"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流れ1"/>
          <p:cNvSpPr/>
          <p:nvPr/>
        </p:nvSpPr>
        <p:spPr>
          <a:xfrm>
            <a:off x="502920" y="1691640"/>
            <a:ext cx="2770632" cy="822960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お申込み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矢印"/>
          <p:cNvSpPr/>
          <p:nvPr/>
        </p:nvSpPr>
        <p:spPr>
          <a:xfrm>
            <a:off x="3273552" y="1691640"/>
            <a:ext cx="292608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流れ2"/>
          <p:cNvSpPr/>
          <p:nvPr/>
        </p:nvSpPr>
        <p:spPr>
          <a:xfrm>
            <a:off x="3566159" y="1691640"/>
            <a:ext cx="2770632" cy="82296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初期構築（約1か月）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矢印"/>
          <p:cNvSpPr/>
          <p:nvPr/>
        </p:nvSpPr>
        <p:spPr>
          <a:xfrm>
            <a:off x="6336792" y="1691640"/>
            <a:ext cx="292608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▶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流れ3"/>
          <p:cNvSpPr/>
          <p:nvPr/>
        </p:nvSpPr>
        <p:spPr>
          <a:xfrm>
            <a:off x="6629399" y="1691640"/>
            <a:ext cx="2770632" cy="82296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運用開始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内容1"/>
          <p:cNvSpPr/>
          <p:nvPr/>
        </p:nvSpPr>
        <p:spPr>
          <a:xfrm>
            <a:off x="502920" y="2697480"/>
            <a:ext cx="2770632" cy="310896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109728" tIns="91440" rIns="91440" bIns="73152" rtlCol="0" anchor="t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・ご契約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5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・運用方針のすり合わせ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内容2"/>
          <p:cNvSpPr/>
          <p:nvPr/>
        </p:nvSpPr>
        <p:spPr>
          <a:xfrm>
            <a:off x="3566159" y="2697480"/>
            <a:ext cx="2770632" cy="310896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109728" tIns="91440" rIns="91440" bIns="73152" rtlCol="0" anchor="t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・アカウントの設定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5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・ポップアップツールの設置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5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・サンクスLINE誘導の設置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5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・段階ごとの配信の設計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内容3"/>
          <p:cNvSpPr/>
          <p:nvPr/>
        </p:nvSpPr>
        <p:spPr>
          <a:xfrm>
            <a:off x="6629399" y="2697480"/>
            <a:ext cx="2770632" cy="310896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109728" tIns="91440" rIns="91440" bIns="73152" rtlCol="0" anchor="t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・平常期・イベント期の配信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50000"/>
              </a:lnSpc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・配信の結果を確認し、改善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成果報酬プラン：リスクを抑えて始められるプラン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固定費のプランに加えて、成果に応じて費用が決まるプランも選択可能</a:t>
            </a:r>
            <a:endParaRPr lang="en-US" sz="1400" b="1" u="none" strike="noStrike" dirty="0"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見出し 固定費のプラン"/>
          <p:cNvSpPr/>
          <p:nvPr/>
        </p:nvSpPr>
        <p:spPr>
          <a:xfrm>
            <a:off x="502920" y="1691640"/>
            <a:ext cx="4311396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固定費のプラン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固定費"/>
          <p:cNvSpPr/>
          <p:nvPr/>
        </p:nvSpPr>
        <p:spPr>
          <a:xfrm>
            <a:off x="502920" y="2103120"/>
            <a:ext cx="4311396" cy="3657600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60000"/>
              </a:lnSpc>
              <a:buNone/>
            </a:pPr>
            <a:r>
              <a:rPr lang="ja-JP" altLang="en-US" sz="18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平常期　月5〜10万円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60000"/>
              </a:lnSpc>
              <a:buNone/>
            </a:pPr>
            <a:r>
              <a:rPr lang="ja-JP" altLang="en-US" sz="18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イベント期　月30万円程度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見出し 成果報酬プラン"/>
          <p:cNvSpPr/>
          <p:nvPr/>
        </p:nvSpPr>
        <p:spPr>
          <a:xfrm>
            <a:off x="5088636" y="1691640"/>
            <a:ext cx="4311396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成果報酬プラン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差し込み 成果の地点・単価"/>
          <p:cNvSpPr/>
          <p:nvPr/>
        </p:nvSpPr>
        <p:spPr>
          <a:xfrm>
            <a:off x="5088636" y="2103120"/>
            <a:ext cx="4311396" cy="3657600"/>
          </a:xfrm>
          <a:prstGeom prst="rect">
            <a:avLst/>
          </a:prstGeom>
          <a:noFill/>
          <a:ln w="9525">
            <a:solidFill>
              <a:srgbClr val="7F7F7F"/>
            </a:solidFill>
            <a:prstDash val="dash"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成果の地点・単価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143256</TotalTime>
  <Words>5897</Words>
  <Application>Microsoft Office PowerPoint</Application>
  <PresentationFormat>A4 210 x 297 mm</PresentationFormat>
  <Paragraphs>1158</Paragraphs>
  <Slides>45</Slides>
  <Notes>20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45</vt:i4>
      </vt:variant>
    </vt:vector>
  </HeadingPairs>
  <TitlesOfParts>
    <vt:vector size="53" baseType="lpstr">
      <vt:lpstr>メイリオ</vt:lpstr>
      <vt:lpstr>メイリオ</vt:lpstr>
      <vt:lpstr>Arial</vt:lpstr>
      <vt:lpstr>Calibri</vt:lpstr>
      <vt:lpstr>Symbol</vt:lpstr>
      <vt:lpstr>Times New Roman</vt:lpstr>
      <vt:lpstr>Wingdings</vt:lpstr>
      <vt:lpstr>テーマ1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>中村 駿</dc:creator>
  <dc:description/>
  <cp:lastModifiedBy>殿村 亮太</cp:lastModifiedBy>
  <cp:revision>1972</cp:revision>
  <cp:lastPrinted>2022-11-01T11:38:14Z</cp:lastPrinted>
  <dcterms:created xsi:type="dcterms:W3CDTF">2015-09-04T09:21:15Z</dcterms:created>
  <dcterms:modified xsi:type="dcterms:W3CDTF">2026-10-15T09:06:43Z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21</vt:r8>
  </property>
  <property fmtid="{D5CDD505-2E9C-101B-9397-08002B2CF9AE}" pid="3" name="PresentationFormat">
    <vt:lpwstr>A4 210 x 297 mm</vt:lpwstr>
  </property>
  <property fmtid="{D5CDD505-2E9C-101B-9397-08002B2CF9AE}" pid="4" name="Slides">
    <vt:r8>46</vt:r8>
  </property>
</Properties>
</file>