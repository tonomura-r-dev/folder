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2983" r:id="rId83"/>
    <p:sldId id="2984" r:id="rId84"/>
    <p:sldId id="2985" r:id="rId85"/>
    <p:sldId id="2986" r:id="rId86"/>
    <p:sldId id="2987" r:id="rId87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2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44.jpeg"/><Relationship Id="rId4" Type="http://schemas.openxmlformats.org/officeDocument/2006/relationships/image" Target="../media/image48.png"/><Relationship Id="rId5" Type="http://schemas.openxmlformats.org/officeDocument/2006/relationships/image" Target="../media/image43.jpeg"/><Relationship Id="rId6" Type="http://schemas.openxmlformats.org/officeDocument/2006/relationships/image" Target="../media/image47.jpeg"/><Relationship Id="rId7" Type="http://schemas.openxmlformats.org/officeDocument/2006/relationships/image" Target="../media/image46.png"/><Relationship Id="rId8" Type="http://schemas.openxmlformats.org/officeDocument/2006/relationships/image" Target="../media/image51.jpeg"/><Relationship Id="rId9" Type="http://schemas.openxmlformats.org/officeDocument/2006/relationships/image" Target="../media/image45.png"/><Relationship Id="rId10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費用は、3つのプランから選択可能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保険営業の方の環境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市場環境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保険の加入は今も営業職員が中心。一方で、お客様と会う回数は減っている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生命保険の営業職員数（各年度末・名）"/>
          <p:cNvSpPr/>
          <p:nvPr/>
        </p:nvSpPr>
        <p:spPr>
          <a:xfrm>
            <a:off x="502920" y="1600200"/>
            <a:ext cx="4343400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生命保険の営業職員数（各年度末・名）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棒 2020"/>
          <p:cNvSpPr/>
          <p:nvPr/>
        </p:nvSpPr>
        <p:spPr>
          <a:xfrm>
            <a:off x="653796" y="2662249"/>
            <a:ext cx="566928" cy="1864030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値 2020"/>
          <p:cNvSpPr/>
          <p:nvPr/>
        </p:nvSpPr>
        <p:spPr>
          <a:xfrm>
            <a:off x="502920" y="2369641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248,601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年度 2020"/>
          <p:cNvSpPr/>
          <p:nvPr/>
        </p:nvSpPr>
        <p:spPr>
          <a:xfrm>
            <a:off x="50292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2020年度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棒 2021"/>
          <p:cNvSpPr/>
          <p:nvPr/>
        </p:nvSpPr>
        <p:spPr>
          <a:xfrm>
            <a:off x="1522476" y="2704643"/>
            <a:ext cx="566928" cy="1821636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値 2021"/>
          <p:cNvSpPr/>
          <p:nvPr/>
        </p:nvSpPr>
        <p:spPr>
          <a:xfrm>
            <a:off x="1371600" y="2412035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242,947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年度 2021"/>
          <p:cNvSpPr/>
          <p:nvPr/>
        </p:nvSpPr>
        <p:spPr>
          <a:xfrm>
            <a:off x="137160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2021年度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棒 2022"/>
          <p:cNvSpPr/>
          <p:nvPr/>
        </p:nvSpPr>
        <p:spPr>
          <a:xfrm>
            <a:off x="2391156" y="2673646"/>
            <a:ext cx="566928" cy="1852633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値 2022"/>
          <p:cNvSpPr/>
          <p:nvPr/>
        </p:nvSpPr>
        <p:spPr>
          <a:xfrm>
            <a:off x="2240280" y="2381038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247,081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年度 2022"/>
          <p:cNvSpPr/>
          <p:nvPr/>
        </p:nvSpPr>
        <p:spPr>
          <a:xfrm>
            <a:off x="224028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2022年度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棒 2023"/>
          <p:cNvSpPr/>
          <p:nvPr/>
        </p:nvSpPr>
        <p:spPr>
          <a:xfrm>
            <a:off x="3259835" y="2719970"/>
            <a:ext cx="566928" cy="1806309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値 2023"/>
          <p:cNvSpPr/>
          <p:nvPr/>
        </p:nvSpPr>
        <p:spPr>
          <a:xfrm>
            <a:off x="3108959" y="242736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240,903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年度 2023"/>
          <p:cNvSpPr/>
          <p:nvPr/>
        </p:nvSpPr>
        <p:spPr>
          <a:xfrm>
            <a:off x="3108959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2023年度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棒 2024"/>
          <p:cNvSpPr/>
          <p:nvPr/>
        </p:nvSpPr>
        <p:spPr>
          <a:xfrm>
            <a:off x="4128515" y="2715441"/>
            <a:ext cx="566928" cy="18108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値 2024"/>
          <p:cNvSpPr/>
          <p:nvPr/>
        </p:nvSpPr>
        <p:spPr>
          <a:xfrm>
            <a:off x="3977639" y="242283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241,507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年度 2024"/>
          <p:cNvSpPr/>
          <p:nvPr/>
        </p:nvSpPr>
        <p:spPr>
          <a:xfrm>
            <a:off x="3977639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基線"/>
          <p:cNvSpPr/>
          <p:nvPr/>
        </p:nvSpPr>
        <p:spPr>
          <a:xfrm>
            <a:off x="502920" y="4526280"/>
            <a:ext cx="4343400" cy="9144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棒の示唆"/>
          <p:cNvSpPr/>
          <p:nvPr/>
        </p:nvSpPr>
        <p:spPr>
          <a:xfrm>
            <a:off x="502920" y="493776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約24万人で横ばい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見出し 保険の加入経路"/>
          <p:cNvSpPr/>
          <p:nvPr/>
        </p:nvSpPr>
        <p:spPr>
          <a:xfrm>
            <a:off x="5074920" y="1600200"/>
            <a:ext cx="4325112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保険の加入経路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数字 56.7%"/>
          <p:cNvSpPr/>
          <p:nvPr/>
        </p:nvSpPr>
        <p:spPr>
          <a:xfrm>
            <a:off x="5074920" y="2057400"/>
            <a:ext cx="1600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3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56.7%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説明 56.7%"/>
          <p:cNvSpPr/>
          <p:nvPr/>
        </p:nvSpPr>
        <p:spPr>
          <a:xfrm>
            <a:off x="6675120" y="2057400"/>
            <a:ext cx="2724912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0" bIns="0" rtlCol="0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生命保険の加入経路のうち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「生命保険会社の営業職員」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（2024年調査）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6" name="見出し お客様との接触回数"/>
          <p:cNvSpPr/>
          <p:nvPr/>
        </p:nvSpPr>
        <p:spPr>
          <a:xfrm>
            <a:off x="5074920" y="3429000"/>
            <a:ext cx="4325112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お客様との接触回数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数字 55.5%"/>
          <p:cNvSpPr/>
          <p:nvPr/>
        </p:nvSpPr>
        <p:spPr>
          <a:xfrm>
            <a:off x="5074920" y="3886200"/>
            <a:ext cx="1600200" cy="1417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3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55.5%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説明 55.5%"/>
          <p:cNvSpPr/>
          <p:nvPr/>
        </p:nvSpPr>
        <p:spPr>
          <a:xfrm>
            <a:off x="6675120" y="3886200"/>
            <a:ext cx="2724912" cy="1417319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0" bIns="0" rtlCol="0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コロナ前と比べ、お客様との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接触回数が「減少した」営業職員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（2023年調査）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示唆"/>
          <p:cNvSpPr/>
          <p:nvPr/>
        </p:nvSpPr>
        <p:spPr>
          <a:xfrm>
            <a:off x="502920" y="5440680"/>
            <a:ext cx="889711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会える回数が減る中で、成果を出す営業のやり方が求められている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注記"/>
          <p:cNvSpPr/>
          <p:nvPr/>
        </p:nvSpPr>
        <p:spPr>
          <a:xfrm>
            <a:off x="502920" y="5961888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※営業職員数：生命保険協会「2025年版 生命保険の動向」（加盟会社の年度末登録営業職員数）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注記"/>
          <p:cNvSpPr/>
          <p:nvPr/>
        </p:nvSpPr>
        <p:spPr>
          <a:xfrm>
            <a:off x="502920" y="6099048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※加入経路：生命保険文化センター「2024（令和6）年度 生命保険に関する全国実態調査」（直近の加入が2019年以降の世帯）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2" name="注記"/>
          <p:cNvSpPr/>
          <p:nvPr/>
        </p:nvSpPr>
        <p:spPr>
          <a:xfrm>
            <a:off x="502920" y="6236207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※接触回数：矢野経済研究所「生命保険の営業職員アンケート調査」（2023年4〜6月、生命保険の営業職員400名）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イベントの無い時期は、配信の回数を絞る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他社のLINE運用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他社の運用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保険営業の方向けの他社も、LINEで特典を渡し、友だちに学びを届けている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画面"/>
          <p:cNvSpPr/>
          <p:nvPr/>
        </p:nvSpPr>
        <p:spPr>
          <a:xfrm>
            <a:off x="502920" y="1572768"/>
            <a:ext cx="148132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8288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野沢塾のあいさつ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pic>
        <p:nvPicPr>
          <p:cNvPr id="6" name="Picture 5" descr="sunao_line_nozawa_a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1481328" cy="320865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7" name="他社のLINE運用 6"/>
          <p:cNvGraphicFramePr>
            <a:graphicFrameLocks noGrp="1"/>
          </p:cNvGraphicFramePr>
          <p:nvPr/>
        </p:nvGraphicFramePr>
        <p:xfrm>
          <a:off x="2258568" y="1572768"/>
          <a:ext cx="7141464" cy="3520440"/>
        </p:xfrm>
        <a:graphic>
          <a:graphicData uri="http://schemas.openxmlformats.org/drawingml/2006/table">
            <a:tbl>
              <a:tblPr/>
              <a:tblGrid>
                <a:gridCol w="1143000"/>
                <a:gridCol w="2999232"/>
                <a:gridCol w="2999232"/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野沢塾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R&amp;C保険営業ラボ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サービス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保険営業の方向けの講座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オンラインサロン（月2回）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保険営業の方向けの無料の学習サービス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（2026年9月開始）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サイトの「公式LINE登録」ボタン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社員の紹介URLから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友だち追加（招待制）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特典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「営業力向上トークスクリプト3本」</a:t>
                      </a:r>
                      <a:b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の動画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LINEそのものが、無料の学習サービス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追加後の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あいさつで、特典のURLとパスワードを届ける。「最新情報を定期的に配信」と案内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登録時に5問のアンケート。答えに合わせて、資料・動画・セミナーのアーカイブ・トークスクリプトを段階的に配信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5349240"/>
            <a:ext cx="8897112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すなおコンサルティング様は、イベントの予約・参加に合わせた案内で、入会へつなげる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注記"/>
          <p:cNvSpPr/>
          <p:nvPr/>
        </p:nvSpPr>
        <p:spPr>
          <a:xfrm>
            <a:off x="502920" y="5943600"/>
            <a:ext cx="88971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※野沢塾：LINE公式アカウント（2026年10月19日確認）・公式サイト（2026年10月18日確認）より。画面の名前とパスワードは伏せている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注記"/>
          <p:cNvSpPr/>
          <p:nvPr/>
        </p:nvSpPr>
        <p:spPr>
          <a:xfrm>
            <a:off x="502920" y="6089904"/>
            <a:ext cx="88971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※R&amp;C保険営業ラボ：R&amp;C株式会社のプレスリリースより。招待制のため、画面は未掲載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639312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日程ごとに、前日・当日のお知らせ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</a:t>
                      </a:r>
                      <a:b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サロンの申込みフォームを直接案内</a:t>
                      </a:r>
                      <a:b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（申込みはいつでも可能）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概算お見積り：6か月目に追える人数554人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イベントに合わせた運用で、セミナー予約・サロン入会へつなげる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イベント期 ¥365,000〜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平常期 ¥165,000〜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イベント期の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月4〜5回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平常期の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企画配信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月2回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前日・当日の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お知らせ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日程ごとに配信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申込み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フォームの案内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イベント直後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5通の改善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追える人数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セミナー予約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サロン入会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ポップアップ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ツール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5通を構築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配信の設計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段階ごとに設計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LINE公式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アカウント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開設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554人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12件/6か月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6件/6か月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ご予算と運用の体制に合わせて、3つのプランから選択可能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463040"/>
                <a:gridCol w="2478024"/>
                <a:gridCol w="2478024"/>
                <a:gridCol w="2478024"/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プラン①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初期設計のみ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プラン②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イベントに合わせた運用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プラン③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通年の運用・改善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入口と配信の仕組みを構築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配信は貴社で運用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月2回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月4〜5回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弊社で配信＋レポート・定例会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月3回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初期費用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760720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※広告費・ツール費・LINE公式アカウントの利用料は含まない。いずれも6か月〜の契約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998464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Appendix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B249BA1-EB38-DDA6-8221-FC109239C49F}"/>
              </a:ext>
            </a:extLst>
          </p:cNvPr>
          <p:cNvSpPr txBox="1"/>
          <p:nvPr/>
        </p:nvSpPr>
        <p:spPr>
          <a:xfrm>
            <a:off x="548883" y="138138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（ポップアップ 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/ 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離脱防止）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A805D6F-0719-17C7-4E97-2705F1D9A93C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0895EF17-7734-EE92-7BF3-5B0ADCDC65B8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3AD98A9-882F-05AA-BB4E-3FB88AAA7C20}"/>
                </a:ext>
              </a:extLst>
            </p:cNvPr>
            <p:cNvSpPr txBox="1"/>
            <p:nvPr/>
          </p:nvSpPr>
          <p:spPr>
            <a:xfrm>
              <a:off x="687498" y="938979"/>
              <a:ext cx="2746265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ポップアップ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(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離脱防止 など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)</a:t>
              </a:r>
              <a:endParaRPr kumimoji="1" lang="ja-JP" altLang="en-US" sz="1500" b="1" dirty="0">
                <a:solidFill>
                  <a:schemeClr val="bg1"/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endParaRPr>
            </a:p>
          </p:txBody>
        </p: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668975-CA29-64DD-88DF-17EAAC94AE34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WEB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サイト上の特定アクションを起こしたユーザーに対して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ポップアップの形で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誘導の動線を提示。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BC18E84-0DF3-01E6-D82D-0A9DCD2D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329" y="2258734"/>
            <a:ext cx="1524677" cy="30967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0FACA28-BE3D-80E4-091C-39F6141694C7}"/>
              </a:ext>
            </a:extLst>
          </p:cNvPr>
          <p:cNvSpPr txBox="1"/>
          <p:nvPr/>
        </p:nvSpPr>
        <p:spPr>
          <a:xfrm>
            <a:off x="5214938" y="1372940"/>
            <a:ext cx="41481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以外の注力動線への誘導も同バナーから実施が可能です。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C908A63-1EE8-A605-1D4F-460FED944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877" y="2846109"/>
            <a:ext cx="1524677" cy="3096752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C5B2A6E8-796B-963F-0A04-9B9D1A36ADF0}"/>
              </a:ext>
            </a:extLst>
          </p:cNvPr>
          <p:cNvSpPr/>
          <p:nvPr/>
        </p:nvSpPr>
        <p:spPr>
          <a:xfrm>
            <a:off x="7373222" y="3359435"/>
            <a:ext cx="571500" cy="619125"/>
          </a:xfrm>
          <a:prstGeom prst="rightArrow">
            <a:avLst>
              <a:gd name="adj1" fmla="val 64359"/>
              <a:gd name="adj2" fmla="val 5000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B49FAB7-0FB8-4D5F-CF13-A19BBA28C8C7}"/>
              </a:ext>
            </a:extLst>
          </p:cNvPr>
          <p:cNvSpPr/>
          <p:nvPr/>
        </p:nvSpPr>
        <p:spPr>
          <a:xfrm>
            <a:off x="8117093" y="3057525"/>
            <a:ext cx="1371145" cy="2585494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Google Shape;51;p19">
            <a:extLst>
              <a:ext uri="{FF2B5EF4-FFF2-40B4-BE49-F238E27FC236}">
                <a16:creationId xmlns:a16="http://schemas.microsoft.com/office/drawing/2014/main" id="{1B34220E-1DA3-AC59-C2DE-15AB3320AC1C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1.5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7" name="Google Shape;51;p19">
            <a:extLst>
              <a:ext uri="{FF2B5EF4-FFF2-40B4-BE49-F238E27FC236}">
                <a16:creationId xmlns:a16="http://schemas.microsoft.com/office/drawing/2014/main" id="{EBA2E7AC-5299-C000-0A43-CCF8CE458AAF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FF8283-5B2F-5018-9D25-736A384B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942" y="3752836"/>
            <a:ext cx="1062545" cy="1115066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4AE5F6C-0BA5-6768-64B9-9CD156133552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69C67AE-8870-AB99-9BB8-030F3AB8C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398" y="4259719"/>
            <a:ext cx="5059180" cy="219153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FFD213E-DE33-0075-6E07-F24DBD7A9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13" y="1977951"/>
            <a:ext cx="5023065" cy="223128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（サンクス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1254839" y="5195928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549623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初期：15万円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ja-JP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弊社運用の美容クリニック様では、予約後来院率にて40-50%程度の改善を実現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