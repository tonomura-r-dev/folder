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2983" r:id="rId83"/>
    <p:sldId id="2984" r:id="rId84"/>
    <p:sldId id="2985" r:id="rId85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2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44.jpeg"/><Relationship Id="rId4" Type="http://schemas.openxmlformats.org/officeDocument/2006/relationships/image" Target="../media/image48.png"/><Relationship Id="rId5" Type="http://schemas.openxmlformats.org/officeDocument/2006/relationships/image" Target="../media/image43.jpeg"/><Relationship Id="rId6" Type="http://schemas.openxmlformats.org/officeDocument/2006/relationships/image" Target="../media/image47.jpeg"/><Relationship Id="rId7" Type="http://schemas.openxmlformats.org/officeDocument/2006/relationships/image" Target="../media/image46.png"/><Relationship Id="rId8" Type="http://schemas.openxmlformats.org/officeDocument/2006/relationships/image" Target="../media/image51.jpeg"/><Relationship Id="rId9" Type="http://schemas.openxmlformats.org/officeDocument/2006/relationships/image" Target="../media/image45.png"/><Relationship Id="rId10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760720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※広告費・ツール費・LINE公式アカウントの利用料は含まない。いずれも6か月〜の契約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998464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Appendix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B249BA1-EB38-DDA6-8221-FC109239C49F}"/>
              </a:ext>
            </a:extLst>
          </p:cNvPr>
          <p:cNvSpPr txBox="1"/>
          <p:nvPr/>
        </p:nvSpPr>
        <p:spPr>
          <a:xfrm>
            <a:off x="548883" y="138138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（ポップアップ 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/ 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離脱防止）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A805D6F-0719-17C7-4E97-2705F1D9A93C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0895EF17-7734-EE92-7BF3-5B0ADCDC65B8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3AD98A9-882F-05AA-BB4E-3FB88AAA7C20}"/>
                </a:ext>
              </a:extLst>
            </p:cNvPr>
            <p:cNvSpPr txBox="1"/>
            <p:nvPr/>
          </p:nvSpPr>
          <p:spPr>
            <a:xfrm>
              <a:off x="687498" y="938979"/>
              <a:ext cx="2746265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ポップアップ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(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離脱防止 など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)</a:t>
              </a:r>
              <a:endParaRPr kumimoji="1" lang="ja-JP" altLang="en-US" sz="1500" b="1" dirty="0">
                <a:solidFill>
                  <a:schemeClr val="bg1"/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endParaRPr>
            </a:p>
          </p:txBody>
        </p: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668975-CA29-64DD-88DF-17EAAC94AE34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WEB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サイト上の特定アクションを起こしたユーザーに対して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ポップアップの形で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誘導の動線を提示。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BC18E84-0DF3-01E6-D82D-0A9DCD2D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4329" y="2258734"/>
            <a:ext cx="1524677" cy="30967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0FACA28-BE3D-80E4-091C-39F6141694C7}"/>
              </a:ext>
            </a:extLst>
          </p:cNvPr>
          <p:cNvSpPr txBox="1"/>
          <p:nvPr/>
        </p:nvSpPr>
        <p:spPr>
          <a:xfrm>
            <a:off x="5214938" y="1372940"/>
            <a:ext cx="41481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050" dirty="0">
                <a:solidFill>
                  <a:srgbClr val="FF0000"/>
                </a:solidFill>
                <a:latin typeface="メイリオ"/>
                <a:ea typeface="メイリオ"/>
                <a:cs typeface="メイリオ"/>
                <a:sym typeface="Meiryo"/>
              </a:rPr>
              <a:t>以外の注力動線への誘導も同バナーから実施が可能です。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908A63-1EE8-A605-1D4F-460FED944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877" y="2846109"/>
            <a:ext cx="1524677" cy="3096752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C5B2A6E8-796B-963F-0A04-9B9D1A36ADF0}"/>
              </a:ext>
            </a:extLst>
          </p:cNvPr>
          <p:cNvSpPr/>
          <p:nvPr/>
        </p:nvSpPr>
        <p:spPr>
          <a:xfrm>
            <a:off x="7373222" y="3359435"/>
            <a:ext cx="571500" cy="619125"/>
          </a:xfrm>
          <a:prstGeom prst="rightArrow">
            <a:avLst>
              <a:gd name="adj1" fmla="val 64359"/>
              <a:gd name="adj2" fmla="val 5000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B49FAB7-0FB8-4D5F-CF13-A19BBA28C8C7}"/>
              </a:ext>
            </a:extLst>
          </p:cNvPr>
          <p:cNvSpPr/>
          <p:nvPr/>
        </p:nvSpPr>
        <p:spPr>
          <a:xfrm>
            <a:off x="8117093" y="3057525"/>
            <a:ext cx="1371145" cy="2585494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Google Shape;51;p19">
            <a:extLst>
              <a:ext uri="{FF2B5EF4-FFF2-40B4-BE49-F238E27FC236}">
                <a16:creationId xmlns:a16="http://schemas.microsoft.com/office/drawing/2014/main" id="{1B34220E-1DA3-AC59-C2DE-15AB3320AC1C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1.5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7" name="Google Shape;51;p19">
            <a:extLst>
              <a:ext uri="{FF2B5EF4-FFF2-40B4-BE49-F238E27FC236}">
                <a16:creationId xmlns:a16="http://schemas.microsoft.com/office/drawing/2014/main" id="{EBA2E7AC-5299-C000-0A43-CCF8CE458AAF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FF8283-5B2F-5018-9D25-736A384B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942" y="3752836"/>
            <a:ext cx="1062545" cy="111506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4AE5F6C-0BA5-6768-64B9-9CD156133552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9C67AE-8870-AB99-9BB8-030F3AB8C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398" y="4259719"/>
            <a:ext cx="5059180" cy="219153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FFD213E-DE33-0075-6E07-F24DBD7A9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3" y="1977951"/>
            <a:ext cx="5023065" cy="2231287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（サンクス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1254839" y="5195928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549623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初期：15万円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ja-JP" sz="12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弊社運用の美容クリニック様では、予約後来院率にて40-50%程度の改善を実現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。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