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65"/>
  </p:notesMasterIdLst>
  <p:handoutMasterIdLst>
    <p:handoutMasterId r:id="rId66"/>
  </p:handoutMasterIdLst>
  <p:sldIdLst>
    <p:sldId id="2363" r:id="rId3"/>
    <p:sldId id="2971" r:id="rId71"/>
    <p:sldId id="2972" r:id="rId72"/>
    <p:sldId id="2973" r:id="rId73"/>
    <p:sldId id="2974" r:id="rId74"/>
    <p:sldId id="2975" r:id="rId75"/>
    <p:sldId id="2976" r:id="rId76"/>
    <p:sldId id="2977" r:id="rId77"/>
    <p:sldId id="2978" r:id="rId78"/>
    <p:sldId id="2979" r:id="rId79"/>
    <p:sldId id="2980" r:id="rId80"/>
    <p:sldId id="2981" r:id="rId81"/>
    <p:sldId id="2982" r:id="rId82"/>
    <p:sldId id="2983" r:id="rId83"/>
    <p:sldId id="2984" r:id="rId84"/>
    <p:sldId id="2985" r:id="rId85"/>
    <p:sldId id="2986" r:id="rId86"/>
    <p:sldId id="2987" r:id="rId87"/>
    <p:sldId id="612" r:id="rId64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64" Type="http://schemas.openxmlformats.org/officeDocument/2006/relationships/slide" Target="slides/slide62.xml"/><Relationship Id="rId65" Type="http://schemas.openxmlformats.org/officeDocument/2006/relationships/notesMaster" Target="notesMasters/notesMaster1.xml"/><Relationship Id="rId66" Type="http://schemas.openxmlformats.org/officeDocument/2006/relationships/handoutMaster" Target="handoutMasters/handout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Relationship Id="rId71" Type="http://schemas.openxmlformats.org/officeDocument/2006/relationships/slide" Target="slides/slide63.xml"/><Relationship Id="rId72" Type="http://schemas.openxmlformats.org/officeDocument/2006/relationships/slide" Target="slides/slide64.xml"/><Relationship Id="rId73" Type="http://schemas.openxmlformats.org/officeDocument/2006/relationships/slide" Target="slides/slide65.xml"/><Relationship Id="rId74" Type="http://schemas.openxmlformats.org/officeDocument/2006/relationships/slide" Target="slides/slide66.xml"/><Relationship Id="rId75" Type="http://schemas.openxmlformats.org/officeDocument/2006/relationships/slide" Target="slides/slide67.xml"/><Relationship Id="rId76" Type="http://schemas.openxmlformats.org/officeDocument/2006/relationships/slide" Target="slides/slide68.xml"/><Relationship Id="rId77" Type="http://schemas.openxmlformats.org/officeDocument/2006/relationships/slide" Target="slides/slide69.xml"/><Relationship Id="rId78" Type="http://schemas.openxmlformats.org/officeDocument/2006/relationships/slide" Target="slides/slide70.xml"/><Relationship Id="rId79" Type="http://schemas.openxmlformats.org/officeDocument/2006/relationships/slide" Target="slides/slide71.xml"/><Relationship Id="rId80" Type="http://schemas.openxmlformats.org/officeDocument/2006/relationships/slide" Target="slides/slide72.xml"/><Relationship Id="rId81" Type="http://schemas.openxmlformats.org/officeDocument/2006/relationships/slide" Target="slides/slide73.xml"/><Relationship Id="rId82" Type="http://schemas.openxmlformats.org/officeDocument/2006/relationships/slide" Target="slides/slide74.xml"/><Relationship Id="rId83" Type="http://schemas.openxmlformats.org/officeDocument/2006/relationships/slide" Target="slides/slide75.xml"/><Relationship Id="rId84" Type="http://schemas.openxmlformats.org/officeDocument/2006/relationships/slide" Target="slides/slide76.xml"/><Relationship Id="rId85" Type="http://schemas.openxmlformats.org/officeDocument/2006/relationships/slide" Target="slides/slide77.xml"/><Relationship Id="rId86" Type="http://schemas.openxmlformats.org/officeDocument/2006/relationships/slide" Target="slides/slide78.xml"/><Relationship Id="rId87" Type="http://schemas.openxmlformats.org/officeDocument/2006/relationships/slide" Target="slides/slide7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29202D6-C1F5-472A-A72F-285F233F82C2}" type="slidenum">
              <a:rPr lang="ja-JP" altLang="en-US" smtClean="0"/>
              <a:pPr>
                <a:defRPr/>
              </a:pPr>
              <a:t>62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67187227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emf"/><Relationship Id="rId4" Type="http://schemas.openxmlformats.org/officeDocument/2006/relationships/image" Target="../media/image92.jpeg"/><Relationship Id="rId5" Type="http://schemas.openxmlformats.org/officeDocument/2006/relationships/image" Target="../media/image93.jpeg"/><Relationship Id="rId6" Type="http://schemas.openxmlformats.org/officeDocument/2006/relationships/image" Target="../media/image94.jpeg"/><Relationship Id="rId7" Type="http://schemas.openxmlformats.org/officeDocument/2006/relationships/image" Target="../media/image95.jpeg"/><Relationship Id="rId8" Type="http://schemas.openxmlformats.org/officeDocument/2006/relationships/image" Target="../media/image96.jpe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7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3.png"/><Relationship Id="rId3" Type="http://schemas.openxmlformats.org/officeDocument/2006/relationships/image" Target="../media/image32.png"/><Relationship Id="rId4" Type="http://schemas.openxmlformats.org/officeDocument/2006/relationships/image" Target="../media/image35.png"/><Relationship Id="rId5" Type="http://schemas.openxmlformats.org/officeDocument/2006/relationships/image" Target="../media/image34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9.png"/><Relationship Id="rId3" Type="http://schemas.openxmlformats.org/officeDocument/2006/relationships/image" Target="../media/image44.jpeg"/><Relationship Id="rId4" Type="http://schemas.openxmlformats.org/officeDocument/2006/relationships/image" Target="../media/image48.png"/><Relationship Id="rId5" Type="http://schemas.openxmlformats.org/officeDocument/2006/relationships/image" Target="../media/image43.jpeg"/><Relationship Id="rId6" Type="http://schemas.openxmlformats.org/officeDocument/2006/relationships/image" Target="../media/image47.jpeg"/><Relationship Id="rId7" Type="http://schemas.openxmlformats.org/officeDocument/2006/relationships/image" Target="../media/image46.png"/><Relationship Id="rId8" Type="http://schemas.openxmlformats.org/officeDocument/2006/relationships/image" Target="../media/image51.jpeg"/><Relationship Id="rId9" Type="http://schemas.openxmlformats.org/officeDocument/2006/relationships/image" Target="../media/image45.png"/><Relationship Id="rId10" Type="http://schemas.openxmlformats.org/officeDocument/2006/relationships/image" Target="../media/image5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335024" y="2011680"/>
            <a:ext cx="7232904" cy="9144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34" charset="-128"/>
                <a:ea typeface="メイリオ" panose="020B0604030504040204" pitchFamily="34" charset="-128"/>
                <a:cs typeface="メイリオ"/>
              </a:rPr>
              <a:t>広告で集めた方をLINEでナーチャリングをし、</a:t>
            </a:r>
          </a:p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34" charset="-128"/>
                <a:ea typeface="メイリオ" panose="020B0604030504040204" pitchFamily="34" charset="-128"/>
                <a:cs typeface="メイリオ"/>
              </a:rPr>
              <a:t>セミナー参加・入会へ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11" name="テキスト ボックス 6"/>
          <p:cNvSpPr/>
          <p:nvPr/>
        </p:nvSpPr>
        <p:spPr>
          <a:xfrm>
            <a:off x="291960" y="263520"/>
            <a:ext cx="49654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株式会社すなおコンサルティング 御中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5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lvl="1">
              <a:spcBef>
                <a:spcPct val="20000"/>
              </a:spcBef>
            </a:pP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latin typeface="メイリオ"/>
              <a:ea typeface="メイリオ"/>
              <a:cs typeface="メイリオ"/>
            </a:endParaRPr>
          </a:p>
          <a:p>
            <a:pPr lvl="1">
              <a:spcBef>
                <a:spcPct val="20000"/>
              </a:spcBef>
            </a:pP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6" y="5888351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1" y="5597769"/>
            <a:ext cx="184731" cy="2371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ja-JP" altLang="en-US" sz="941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5"/>
            <a:ext cx="556592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ct val="20000"/>
              </a:spcBef>
            </a:pPr>
            <a:r>
              <a:rPr lang="ja-JP" altLang="en-US" sz="2000" b="1" dirty="0">
                <a:latin typeface="メイリオ" charset="0"/>
                <a:ea typeface="メイリオ" charset="0"/>
                <a:cs typeface="メイリオ" charset="0"/>
              </a:rPr>
              <a:t>貴社の明るい未来に必ず貢献いたします。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73E0B742-FF70-F384-96EE-87A574CE828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520" y="1988426"/>
            <a:ext cx="4274042" cy="2849361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CBB7E89C-70F0-E399-7C21-45FBF93562E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8076" y="1988426"/>
            <a:ext cx="2326924" cy="1551282"/>
          </a:xfrm>
          <a:prstGeom prst="rect">
            <a:avLst/>
          </a:prstGeom>
        </p:spPr>
      </p:pic>
      <p:pic>
        <p:nvPicPr>
          <p:cNvPr id="6" name="図 5" descr="スーツを着た男性と文字&#10;&#10;低い精度で自動的に生成された説明">
            <a:extLst>
              <a:ext uri="{FF2B5EF4-FFF2-40B4-BE49-F238E27FC236}">
                <a16:creationId xmlns:a16="http://schemas.microsoft.com/office/drawing/2014/main" id="{DCA0A1E3-BE99-513C-E589-1E8C035070E8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512" r="10622" b="20845"/>
          <a:stretch/>
        </p:blipFill>
        <p:spPr>
          <a:xfrm>
            <a:off x="7413236" y="3287967"/>
            <a:ext cx="2111765" cy="1551282"/>
          </a:xfrm>
          <a:prstGeom prst="rect">
            <a:avLst/>
          </a:prstGeom>
        </p:spPr>
      </p:pic>
      <p:pic>
        <p:nvPicPr>
          <p:cNvPr id="17" name="図 16" descr="白い壁の前に立っている子供たち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3F5A2749-D4AC-2F37-FC68-2734BC439C61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4097" y="1988426"/>
            <a:ext cx="2615823" cy="1471836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30C14A8F-514C-87B6-098E-D307672976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3655" y="3286280"/>
            <a:ext cx="2769580" cy="1554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4123847"/>
      </p:ext>
    </p:extLst>
  </p:cSld>
  <p:clrMapOvr>
    <a:masterClrMapping/>
  </p:clrMapOvr>
  <p:transition spd="slow"/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サマリー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提案の要旨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740664"/>
            <a:ext cx="7708392" cy="585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広告で集めた方をLINEにため、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次のイベント参加数・入会数を伸ばし、LTVを最大化する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小見出し"/>
          <p:cNvSpPr/>
          <p:nvPr/>
        </p:nvSpPr>
        <p:spPr>
          <a:xfrm>
            <a:off x="502920" y="150876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3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構築する仕組み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流れ1"/>
          <p:cNvSpPr/>
          <p:nvPr/>
        </p:nvSpPr>
        <p:spPr>
          <a:xfrm>
            <a:off x="502920" y="1874519"/>
            <a:ext cx="1991106" cy="11887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広告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矢印"/>
          <p:cNvSpPr/>
          <p:nvPr/>
        </p:nvSpPr>
        <p:spPr>
          <a:xfrm>
            <a:off x="2494026" y="1874519"/>
            <a:ext cx="310896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流れ2"/>
          <p:cNvSpPr/>
          <p:nvPr/>
        </p:nvSpPr>
        <p:spPr>
          <a:xfrm>
            <a:off x="2804922" y="1874519"/>
            <a:ext cx="1991106" cy="11887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イベント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＋LINEにたまる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矢印"/>
          <p:cNvSpPr/>
          <p:nvPr/>
        </p:nvSpPr>
        <p:spPr>
          <a:xfrm>
            <a:off x="4796028" y="1874519"/>
            <a:ext cx="310896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流れ3"/>
          <p:cNvSpPr/>
          <p:nvPr/>
        </p:nvSpPr>
        <p:spPr>
          <a:xfrm>
            <a:off x="5106924" y="1874519"/>
            <a:ext cx="1991106" cy="11887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ナーチャリング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矢印"/>
          <p:cNvSpPr/>
          <p:nvPr/>
        </p:nvSpPr>
        <p:spPr>
          <a:xfrm>
            <a:off x="7098030" y="1874519"/>
            <a:ext cx="310896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流れ4"/>
          <p:cNvSpPr/>
          <p:nvPr/>
        </p:nvSpPr>
        <p:spPr>
          <a:xfrm>
            <a:off x="7408926" y="1874519"/>
            <a:ext cx="1991106" cy="11887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見出し 現状と課題"/>
          <p:cNvSpPr/>
          <p:nvPr/>
        </p:nvSpPr>
        <p:spPr>
          <a:xfrm>
            <a:off x="502920" y="347472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現状と課題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補足1"/>
          <p:cNvSpPr/>
          <p:nvPr/>
        </p:nvSpPr>
        <p:spPr>
          <a:xfrm>
            <a:off x="502920" y="3886200"/>
            <a:ext cx="2782824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09728" bIns="91440" rtlCol="0" anchor="ctr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申し込まずに離れた方・入会していない方を、次のイベントまで追う場所が無い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見出し 施策"/>
          <p:cNvSpPr/>
          <p:nvPr/>
        </p:nvSpPr>
        <p:spPr>
          <a:xfrm>
            <a:off x="3560064" y="347472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施策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補足2"/>
          <p:cNvSpPr/>
          <p:nvPr/>
        </p:nvSpPr>
        <p:spPr>
          <a:xfrm>
            <a:off x="3560064" y="3886200"/>
            <a:ext cx="2782824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09728" bIns="91440" rtlCol="0" anchor="ctr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ポップアップツールとサンクスLINE誘導で友だちにし、興味あり・予約・参加の段階ごとに配信する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見出し 目標と費用"/>
          <p:cNvSpPr/>
          <p:nvPr/>
        </p:nvSpPr>
        <p:spPr>
          <a:xfrm>
            <a:off x="6617208" y="347472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目標と費用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補足3"/>
          <p:cNvSpPr/>
          <p:nvPr/>
        </p:nvSpPr>
        <p:spPr>
          <a:xfrm>
            <a:off x="6617208" y="3886200"/>
            <a:ext cx="2782824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09728" bIns="91440" rtlCol="0" anchor="ctr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追える人数を増やし・減らさず、入会へ。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費用は、3つのプランから選択可能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保険営業の方の環境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市場環境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保険の加入は今も営業職員が中心。一方で、お客様と会う回数は減っている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見出し 生命保険の営業職員数（各年度末・名）"/>
          <p:cNvSpPr/>
          <p:nvPr/>
        </p:nvSpPr>
        <p:spPr>
          <a:xfrm>
            <a:off x="502920" y="1600200"/>
            <a:ext cx="4343400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生命保険の営業職員数（各年度末・名）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棒 2020"/>
          <p:cNvSpPr/>
          <p:nvPr/>
        </p:nvSpPr>
        <p:spPr>
          <a:xfrm>
            <a:off x="653796" y="2662249"/>
            <a:ext cx="566928" cy="1864030"/>
          </a:xfrm>
          <a:prstGeom prst="rect">
            <a:avLst/>
          </a:prstGeom>
          <a:solidFill>
            <a:srgbClr val="8E9BC4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値 2020"/>
          <p:cNvSpPr/>
          <p:nvPr/>
        </p:nvSpPr>
        <p:spPr>
          <a:xfrm>
            <a:off x="502920" y="2369641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248,601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年度 2020"/>
          <p:cNvSpPr/>
          <p:nvPr/>
        </p:nvSpPr>
        <p:spPr>
          <a:xfrm>
            <a:off x="502920" y="4572000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2020年度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棒 2021"/>
          <p:cNvSpPr/>
          <p:nvPr/>
        </p:nvSpPr>
        <p:spPr>
          <a:xfrm>
            <a:off x="1522476" y="2704643"/>
            <a:ext cx="566928" cy="1821636"/>
          </a:xfrm>
          <a:prstGeom prst="rect">
            <a:avLst/>
          </a:prstGeom>
          <a:solidFill>
            <a:srgbClr val="8E9BC4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値 2021"/>
          <p:cNvSpPr/>
          <p:nvPr/>
        </p:nvSpPr>
        <p:spPr>
          <a:xfrm>
            <a:off x="1371600" y="2412035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242,947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年度 2021"/>
          <p:cNvSpPr/>
          <p:nvPr/>
        </p:nvSpPr>
        <p:spPr>
          <a:xfrm>
            <a:off x="1371600" y="4572000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2021年度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棒 2022"/>
          <p:cNvSpPr/>
          <p:nvPr/>
        </p:nvSpPr>
        <p:spPr>
          <a:xfrm>
            <a:off x="2391156" y="2673646"/>
            <a:ext cx="566928" cy="1852633"/>
          </a:xfrm>
          <a:prstGeom prst="rect">
            <a:avLst/>
          </a:prstGeom>
          <a:solidFill>
            <a:srgbClr val="8E9BC4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値 2022"/>
          <p:cNvSpPr/>
          <p:nvPr/>
        </p:nvSpPr>
        <p:spPr>
          <a:xfrm>
            <a:off x="2240280" y="2381038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247,081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年度 2022"/>
          <p:cNvSpPr/>
          <p:nvPr/>
        </p:nvSpPr>
        <p:spPr>
          <a:xfrm>
            <a:off x="2240280" y="4572000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2022年度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棒 2023"/>
          <p:cNvSpPr/>
          <p:nvPr/>
        </p:nvSpPr>
        <p:spPr>
          <a:xfrm>
            <a:off x="3259835" y="2719970"/>
            <a:ext cx="566928" cy="1806309"/>
          </a:xfrm>
          <a:prstGeom prst="rect">
            <a:avLst/>
          </a:prstGeom>
          <a:solidFill>
            <a:srgbClr val="8E9BC4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値 2023"/>
          <p:cNvSpPr/>
          <p:nvPr/>
        </p:nvSpPr>
        <p:spPr>
          <a:xfrm>
            <a:off x="3108959" y="2427362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240,903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年度 2023"/>
          <p:cNvSpPr/>
          <p:nvPr/>
        </p:nvSpPr>
        <p:spPr>
          <a:xfrm>
            <a:off x="3108959" y="4572000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2023年度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棒 2024"/>
          <p:cNvSpPr/>
          <p:nvPr/>
        </p:nvSpPr>
        <p:spPr>
          <a:xfrm>
            <a:off x="4128515" y="2715441"/>
            <a:ext cx="566928" cy="181083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9" name="値 2024"/>
          <p:cNvSpPr/>
          <p:nvPr/>
        </p:nvSpPr>
        <p:spPr>
          <a:xfrm>
            <a:off x="3977639" y="2422833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241,507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年度 2024"/>
          <p:cNvSpPr/>
          <p:nvPr/>
        </p:nvSpPr>
        <p:spPr>
          <a:xfrm>
            <a:off x="3977639" y="4572000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2024年度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基線"/>
          <p:cNvSpPr/>
          <p:nvPr/>
        </p:nvSpPr>
        <p:spPr>
          <a:xfrm>
            <a:off x="502920" y="4526280"/>
            <a:ext cx="4343400" cy="9144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2" name="棒の示唆"/>
          <p:cNvSpPr/>
          <p:nvPr/>
        </p:nvSpPr>
        <p:spPr>
          <a:xfrm>
            <a:off x="502920" y="4937760"/>
            <a:ext cx="4343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約24万人で横ばい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3" name="見出し 保険の加入経路"/>
          <p:cNvSpPr/>
          <p:nvPr/>
        </p:nvSpPr>
        <p:spPr>
          <a:xfrm>
            <a:off x="5074920" y="1600200"/>
            <a:ext cx="4325112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保険の加入経路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4" name="数字 56.7%"/>
          <p:cNvSpPr/>
          <p:nvPr/>
        </p:nvSpPr>
        <p:spPr>
          <a:xfrm>
            <a:off x="5074920" y="2057400"/>
            <a:ext cx="16002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32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56.7%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5" name="説明 56.7%"/>
          <p:cNvSpPr/>
          <p:nvPr/>
        </p:nvSpPr>
        <p:spPr>
          <a:xfrm>
            <a:off x="6675120" y="2057400"/>
            <a:ext cx="2724912" cy="1143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0" bIns="0" rtlCol="0" anchor="ctr">
            <a:noAutofit/>
          </a:bodyPr>
          <a:lstStyle/>
          <a:p>
            <a:pPr algn="l">
              <a:lnSpc>
                <a:spcPct val="125000"/>
              </a:lnSpc>
              <a:buNone/>
            </a:pPr>
            <a:r>
              <a:rPr lang="ja-JP" altLang="en-US" sz="13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生命保険の加入経路のうち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buNone/>
            </a:pPr>
            <a:r>
              <a:rPr lang="ja-JP" altLang="en-US" sz="13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「生命保険会社の営業職員」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buNone/>
            </a:pPr>
            <a:r>
              <a:rPr lang="ja-JP" altLang="en-US" sz="12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（2024年調査）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6" name="見出し お客様との接触回数"/>
          <p:cNvSpPr/>
          <p:nvPr/>
        </p:nvSpPr>
        <p:spPr>
          <a:xfrm>
            <a:off x="5074920" y="3429000"/>
            <a:ext cx="4325112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お客様との接触回数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7" name="数字 55.5%"/>
          <p:cNvSpPr/>
          <p:nvPr/>
        </p:nvSpPr>
        <p:spPr>
          <a:xfrm>
            <a:off x="5074920" y="3886200"/>
            <a:ext cx="1600200" cy="141731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32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55.5%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8" name="説明 55.5%"/>
          <p:cNvSpPr/>
          <p:nvPr/>
        </p:nvSpPr>
        <p:spPr>
          <a:xfrm>
            <a:off x="6675120" y="3886200"/>
            <a:ext cx="2724912" cy="1417319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0" bIns="0" rtlCol="0" anchor="ctr">
            <a:noAutofit/>
          </a:bodyPr>
          <a:lstStyle/>
          <a:p>
            <a:pPr algn="l">
              <a:lnSpc>
                <a:spcPct val="125000"/>
              </a:lnSpc>
              <a:buNone/>
            </a:pPr>
            <a:r>
              <a:rPr lang="ja-JP" altLang="en-US" sz="13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コロナ前と比べ、お客様との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buNone/>
            </a:pPr>
            <a:r>
              <a:rPr lang="ja-JP" altLang="en-US" sz="13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接触回数が「減少した」営業職員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buNone/>
            </a:pPr>
            <a:r>
              <a:rPr lang="ja-JP" altLang="en-US" sz="12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（2023年調査）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9" name="示唆"/>
          <p:cNvSpPr/>
          <p:nvPr/>
        </p:nvSpPr>
        <p:spPr>
          <a:xfrm>
            <a:off x="502920" y="5440680"/>
            <a:ext cx="8897112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会える回数が減る中で、成果を出す営業のやり方が求められている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30" name="注記"/>
          <p:cNvSpPr/>
          <p:nvPr/>
        </p:nvSpPr>
        <p:spPr>
          <a:xfrm>
            <a:off x="502920" y="5961888"/>
            <a:ext cx="8897112" cy="1371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※営業職員数：生命保険協会「2025年版 生命保険の動向」（加盟会社の年度末登録営業職員数）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31" name="注記"/>
          <p:cNvSpPr/>
          <p:nvPr/>
        </p:nvSpPr>
        <p:spPr>
          <a:xfrm>
            <a:off x="502920" y="6099048"/>
            <a:ext cx="8897112" cy="1371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※加入経路：生命保険文化センター「2024（令和6）年度 生命保険に関する全国実態調査」（直近の加入が2019年以降の世帯）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32" name="注記"/>
          <p:cNvSpPr/>
          <p:nvPr/>
        </p:nvSpPr>
        <p:spPr>
          <a:xfrm>
            <a:off x="502920" y="6236207"/>
            <a:ext cx="8897112" cy="1371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※接触回数：矢野経済研究所「生命保険の営業職員アンケート調査」（2023年4〜6月、生命保険の営業職員400名）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現状と課題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現状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イベントの後、離れた方・未入会の方とのつながりが切れる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流れ1"/>
          <p:cNvSpPr/>
          <p:nvPr/>
        </p:nvSpPr>
        <p:spPr>
          <a:xfrm>
            <a:off x="502920" y="1691640"/>
            <a:ext cx="1530705" cy="9144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広告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矢印"/>
          <p:cNvSpPr/>
          <p:nvPr/>
        </p:nvSpPr>
        <p:spPr>
          <a:xfrm>
            <a:off x="2033625" y="1691640"/>
            <a:ext cx="31089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流れ2"/>
          <p:cNvSpPr/>
          <p:nvPr/>
        </p:nvSpPr>
        <p:spPr>
          <a:xfrm>
            <a:off x="2344521" y="1691640"/>
            <a:ext cx="1530705" cy="9144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LP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矢印"/>
          <p:cNvSpPr/>
          <p:nvPr/>
        </p:nvSpPr>
        <p:spPr>
          <a:xfrm>
            <a:off x="3875227" y="1691640"/>
            <a:ext cx="31089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流れ3"/>
          <p:cNvSpPr/>
          <p:nvPr/>
        </p:nvSpPr>
        <p:spPr>
          <a:xfrm>
            <a:off x="4186123" y="1691640"/>
            <a:ext cx="1530705" cy="9144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予約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矢印"/>
          <p:cNvSpPr/>
          <p:nvPr/>
        </p:nvSpPr>
        <p:spPr>
          <a:xfrm>
            <a:off x="5716828" y="1691640"/>
            <a:ext cx="31089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流れ4"/>
          <p:cNvSpPr/>
          <p:nvPr/>
        </p:nvSpPr>
        <p:spPr>
          <a:xfrm>
            <a:off x="6027724" y="1691640"/>
            <a:ext cx="1530705" cy="9144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イベント参加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矢印"/>
          <p:cNvSpPr/>
          <p:nvPr/>
        </p:nvSpPr>
        <p:spPr>
          <a:xfrm>
            <a:off x="7558430" y="1691640"/>
            <a:ext cx="31089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流れ5"/>
          <p:cNvSpPr/>
          <p:nvPr/>
        </p:nvSpPr>
        <p:spPr>
          <a:xfrm>
            <a:off x="7869326" y="1691640"/>
            <a:ext cx="1530705" cy="9144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サロン入会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矢印下"/>
          <p:cNvSpPr/>
          <p:nvPr/>
        </p:nvSpPr>
        <p:spPr>
          <a:xfrm>
            <a:off x="2926994" y="2651760"/>
            <a:ext cx="3657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0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切れる1"/>
          <p:cNvSpPr/>
          <p:nvPr/>
        </p:nvSpPr>
        <p:spPr>
          <a:xfrm>
            <a:off x="1463954" y="2971800"/>
            <a:ext cx="3291840" cy="1371600"/>
          </a:xfrm>
          <a:prstGeom prst="rect">
            <a:avLst/>
          </a:prstGeom>
          <a:noFill/>
          <a:ln w="9525">
            <a:solidFill>
              <a:srgbClr val="C00000"/>
            </a:solidFill>
          </a:ln>
        </p:spPr>
        <p:txBody>
          <a:bodyPr wrap="square" lIns="91440" tIns="54864" rIns="91440" bIns="54864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5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申し込まずに離れた方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次のイベントまで案内する手段が無い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矢印下"/>
          <p:cNvSpPr/>
          <p:nvPr/>
        </p:nvSpPr>
        <p:spPr>
          <a:xfrm>
            <a:off x="6610197" y="2651760"/>
            <a:ext cx="3657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0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切れる3"/>
          <p:cNvSpPr/>
          <p:nvPr/>
        </p:nvSpPr>
        <p:spPr>
          <a:xfrm>
            <a:off x="5147157" y="2971800"/>
            <a:ext cx="3291840" cy="1371600"/>
          </a:xfrm>
          <a:prstGeom prst="rect">
            <a:avLst/>
          </a:prstGeom>
          <a:noFill/>
          <a:ln w="9525">
            <a:solidFill>
              <a:srgbClr val="C00000"/>
            </a:solidFill>
          </a:ln>
        </p:spPr>
        <p:txBody>
          <a:bodyPr wrap="square" lIns="91440" tIns="54864" rIns="91440" bIns="54864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5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参加して入会していない方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入会まで案内を続ける手段が無い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示唆"/>
          <p:cNvSpPr/>
          <p:nvPr/>
        </p:nvSpPr>
        <p:spPr>
          <a:xfrm>
            <a:off x="502920" y="4846320"/>
            <a:ext cx="8897112" cy="777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集めた方を、次のイベントの集客に</a:t>
            </a:r>
            <a:r>
              <a:rPr lang="ja-JP" altLang="en-US" sz="16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活かしきれていない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本質課題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本質課題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ためて追い続ける場所が無い。この場所を、LINE公式アカウントでつくる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見出し 01 集める"/>
          <p:cNvSpPr/>
          <p:nvPr/>
        </p:nvSpPr>
        <p:spPr>
          <a:xfrm>
            <a:off x="502920" y="160020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01 集める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課題1"/>
          <p:cNvSpPr/>
          <p:nvPr/>
        </p:nvSpPr>
        <p:spPr>
          <a:xfrm>
            <a:off x="502920" y="2011680"/>
            <a:ext cx="2782824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37160" bIns="91440" rtlCol="0" anchor="ctr">
            <a:noAutofit/>
          </a:bodyPr>
          <a:lstStyle/>
          <a:p>
            <a:pPr algn="ctr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離れる方・予約した方を、友だちにする手段が無い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矢印下"/>
          <p:cNvSpPr/>
          <p:nvPr/>
        </p:nvSpPr>
        <p:spPr>
          <a:xfrm>
            <a:off x="1665732" y="3840480"/>
            <a:ext cx="457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打ち手1"/>
          <p:cNvSpPr/>
          <p:nvPr/>
        </p:nvSpPr>
        <p:spPr>
          <a:xfrm>
            <a:off x="502920" y="4297680"/>
            <a:ext cx="2782824" cy="1737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ポップアップツール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サンクスLINE誘導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見出し 02 追う"/>
          <p:cNvSpPr/>
          <p:nvPr/>
        </p:nvSpPr>
        <p:spPr>
          <a:xfrm>
            <a:off x="3560064" y="160020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02 追う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課題2"/>
          <p:cNvSpPr/>
          <p:nvPr/>
        </p:nvSpPr>
        <p:spPr>
          <a:xfrm>
            <a:off x="3560064" y="2011680"/>
            <a:ext cx="2782824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37160" bIns="91440" rtlCol="0" anchor="ctr">
            <a:noAutofit/>
          </a:bodyPr>
          <a:lstStyle/>
          <a:p>
            <a:pPr algn="ctr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次のイベントまで、情報を届ける手段が無い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矢印下"/>
          <p:cNvSpPr/>
          <p:nvPr/>
        </p:nvSpPr>
        <p:spPr>
          <a:xfrm>
            <a:off x="4722876" y="3840480"/>
            <a:ext cx="457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打ち手2"/>
          <p:cNvSpPr/>
          <p:nvPr/>
        </p:nvSpPr>
        <p:spPr>
          <a:xfrm>
            <a:off x="3560064" y="4297680"/>
            <a:ext cx="2782824" cy="1737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平常期の配信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見出し 03 つなげる"/>
          <p:cNvSpPr/>
          <p:nvPr/>
        </p:nvSpPr>
        <p:spPr>
          <a:xfrm>
            <a:off x="6617208" y="160020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03 つなげる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課題3"/>
          <p:cNvSpPr/>
          <p:nvPr/>
        </p:nvSpPr>
        <p:spPr>
          <a:xfrm>
            <a:off x="6617208" y="2011680"/>
            <a:ext cx="2782824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37160" bIns="91440" rtlCol="0" anchor="ctr">
            <a:noAutofit/>
          </a:bodyPr>
          <a:lstStyle/>
          <a:p>
            <a:pPr algn="ctr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参加した方に、入会を案内する手段が無い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矢印下"/>
          <p:cNvSpPr/>
          <p:nvPr/>
        </p:nvSpPr>
        <p:spPr>
          <a:xfrm>
            <a:off x="7780020" y="3840480"/>
            <a:ext cx="457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打ち手3"/>
          <p:cNvSpPr/>
          <p:nvPr/>
        </p:nvSpPr>
        <p:spPr>
          <a:xfrm>
            <a:off x="6617208" y="4297680"/>
            <a:ext cx="2782824" cy="1737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参加後の入会の案内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なぜLINEか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2423160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LINE公式アカウント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2606040" y="859536"/>
            <a:ext cx="7086599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広告は毎回ゼロから、LINEは積み上がる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graphicFrame>
        <p:nvGraphicFramePr>
          <p:cNvPr id="5" name="広告とLINE 4"/>
          <p:cNvGraphicFramePr>
            <a:graphicFrameLocks noGrp="1"/>
          </p:cNvGraphicFramePr>
          <p:nvPr/>
        </p:nvGraphicFramePr>
        <p:xfrm>
          <a:off x="502920" y="1600200"/>
          <a:ext cx="8897112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3959352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広告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LINE公式アカウント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届く相手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毎回、新しく集める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一度友だちになった方に、何度でも届く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届き方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広告を見たときだけ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通知で届き、見てもらいやすい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イベントの後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つながりが切れる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友だちとして、毎月積み上がる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示唆"/>
          <p:cNvSpPr/>
          <p:nvPr/>
        </p:nvSpPr>
        <p:spPr>
          <a:xfrm>
            <a:off x="502920" y="5303520"/>
            <a:ext cx="8897112" cy="731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この仕組みが回れば、今後の広告費を抑えられる可能性もある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LINEで気をつける点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2057400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気をつける点と対策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2240280" y="859536"/>
            <a:ext cx="7452360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気をつける点は、運用の設計で抑える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graphicFrame>
        <p:nvGraphicFramePr>
          <p:cNvPr id="5" name="気をつける点 4"/>
          <p:cNvGraphicFramePr>
            <a:graphicFrameLocks noGrp="1"/>
          </p:cNvGraphicFramePr>
          <p:nvPr/>
        </p:nvGraphicFramePr>
        <p:xfrm>
          <a:off x="502920" y="1600200"/>
          <a:ext cx="8897112" cy="4023360"/>
        </p:xfrm>
        <a:graphic>
          <a:graphicData uri="http://schemas.openxmlformats.org/drawingml/2006/table">
            <a:tbl>
              <a:tblPr/>
              <a:tblGrid>
                <a:gridCol w="1828800"/>
                <a:gridCol w="3291840"/>
                <a:gridCol w="3776472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気をつける点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内容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対策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ブロック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配信が多い・合わない内容だと、ブロックされる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段階に合わせて、配信の中身と回数を変える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配信費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配信の数に応じて、LINEの費用がかかる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イベントの無い時期は、配信の回数を絞る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時間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友だちがたまるまで、時間がかかる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次のイベントから入口を置き、イベントごとに積み上げる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他社のLINE運用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他社の運用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保険営業の方向けの他社も、LINEで特典を渡し、友だちに学びを届けている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見出し 画面"/>
          <p:cNvSpPr/>
          <p:nvPr/>
        </p:nvSpPr>
        <p:spPr>
          <a:xfrm>
            <a:off x="502920" y="1572768"/>
            <a:ext cx="1481328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8288" rtlCol="0" anchor="b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野沢塾のあいさつ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pic>
        <p:nvPicPr>
          <p:cNvPr id="6" name="Picture 5" descr="sunao_line_nozawa_aisat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20240"/>
            <a:ext cx="1481328" cy="3208652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graphicFrame>
        <p:nvGraphicFramePr>
          <p:cNvPr id="7" name="他社のLINE運用 6"/>
          <p:cNvGraphicFramePr>
            <a:graphicFrameLocks noGrp="1"/>
          </p:cNvGraphicFramePr>
          <p:nvPr/>
        </p:nvGraphicFramePr>
        <p:xfrm>
          <a:off x="2258568" y="1572768"/>
          <a:ext cx="7141464" cy="3520440"/>
        </p:xfrm>
        <a:graphic>
          <a:graphicData uri="http://schemas.openxmlformats.org/drawingml/2006/table">
            <a:tbl>
              <a:tblPr/>
              <a:tblGrid>
                <a:gridCol w="1143000"/>
                <a:gridCol w="2999232"/>
                <a:gridCol w="2999232"/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野沢塾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R&amp;C保険営業ラボ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サービス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保険営業の方向けの講座</a:t>
                      </a:r>
                      <a:b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オンラインサロン（月2回）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保険営業の方向けの無料の学習サービス</a:t>
                      </a:r>
                      <a:b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（2026年9月開始）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入口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サイトの「公式LINE登録」ボタン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社員の紹介URLから</a:t>
                      </a:r>
                      <a:b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友だち追加（招待制）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特典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「営業力向上トークスクリプト3本」</a:t>
                      </a:r>
                      <a:br>
                        <a:rPr lang="ja-JP" altLang="en-US" sz="12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の動画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LINEそのものが、無料の学習サービス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追加後の</a:t>
                      </a:r>
                      <a:b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配信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あいさつで、特典のURLとパスワードを届ける。「最新情報を定期的に配信」と案内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登録時に5問のアンケート。答えに合わせて、資料・動画・セミナーのアーカイブ・トークスクリプトを段階的に配信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示唆"/>
          <p:cNvSpPr/>
          <p:nvPr/>
        </p:nvSpPr>
        <p:spPr>
          <a:xfrm>
            <a:off x="502920" y="5349240"/>
            <a:ext cx="8897112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すなおコンサルティング様は、イベントの予約・参加に合わせた案内で、入会へつなげる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注記"/>
          <p:cNvSpPr/>
          <p:nvPr/>
        </p:nvSpPr>
        <p:spPr>
          <a:xfrm>
            <a:off x="502920" y="5943600"/>
            <a:ext cx="88971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※野沢塾：LINE公式アカウント（2026年10月19日確認）・公式サイト（2026年10月18日確認）より。画面の名前とパスワードは伏せている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注記"/>
          <p:cNvSpPr/>
          <p:nvPr/>
        </p:nvSpPr>
        <p:spPr>
          <a:xfrm>
            <a:off x="502920" y="6089904"/>
            <a:ext cx="88971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※R&amp;C保険営業ラボ：R&amp;C株式会社のプレスリリースより。招待制のため、画面は未掲載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友だちの入口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新規友だち追加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740664"/>
            <a:ext cx="7708392" cy="585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ポップアップツールとサンクスLINE誘導で、離れる方と予約した方の両方を友だちにする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見出し ポップアップツール（離脱防止）"/>
          <p:cNvSpPr/>
          <p:nvPr/>
        </p:nvSpPr>
        <p:spPr>
          <a:xfrm>
            <a:off x="502920" y="1600200"/>
            <a:ext cx="4311396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ポップアップツール（離脱防止）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6" name="入口1 5"/>
          <p:cNvGraphicFramePr>
            <a:graphicFrameLocks noGrp="1"/>
          </p:cNvGraphicFramePr>
          <p:nvPr/>
        </p:nvGraphicFramePr>
        <p:xfrm>
          <a:off x="502920" y="2057400"/>
          <a:ext cx="4311396" cy="2880360"/>
        </p:xfrm>
        <a:graphic>
          <a:graphicData uri="http://schemas.openxmlformats.org/drawingml/2006/table">
            <a:tbl>
              <a:tblPr/>
              <a:tblGrid>
                <a:gridCol w="1280160"/>
                <a:gridCol w="3031236"/>
              </a:tblGrid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対象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LPで申し込まずに離れる方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タイミング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LPを離れようとしたとき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案内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次のセミナーの案内を、LINEで受け取れる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見出し サンクスLINE誘導"/>
          <p:cNvSpPr/>
          <p:nvPr/>
        </p:nvSpPr>
        <p:spPr>
          <a:xfrm>
            <a:off x="5088636" y="1600200"/>
            <a:ext cx="4311396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サンクスLINE誘導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8" name="入口2 7"/>
          <p:cNvGraphicFramePr>
            <a:graphicFrameLocks noGrp="1"/>
          </p:cNvGraphicFramePr>
          <p:nvPr/>
        </p:nvGraphicFramePr>
        <p:xfrm>
          <a:off x="5088636" y="2057400"/>
          <a:ext cx="4311396" cy="2880360"/>
        </p:xfrm>
        <a:graphic>
          <a:graphicData uri="http://schemas.openxmlformats.org/drawingml/2006/table">
            <a:tbl>
              <a:tblPr/>
              <a:tblGrid>
                <a:gridCol w="1280160"/>
                <a:gridCol w="3031236"/>
              </a:tblGrid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対象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セミナーを予約した方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タイミング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予約完了の画面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案内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当日の案内・リマインドを、LINEで届ける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示唆"/>
          <p:cNvSpPr/>
          <p:nvPr/>
        </p:nvSpPr>
        <p:spPr>
          <a:xfrm>
            <a:off x="502920" y="5257800"/>
            <a:ext cx="8897112" cy="731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どちらも、次のイベントまで追える友だちになる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配信の設計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段階ごとの配信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興味あり・予約・参加の段階ごとに、案内を変える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流れ1"/>
          <p:cNvSpPr/>
          <p:nvPr/>
        </p:nvSpPr>
        <p:spPr>
          <a:xfrm>
            <a:off x="502920" y="1600200"/>
            <a:ext cx="1991106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興味あり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矢印"/>
          <p:cNvSpPr/>
          <p:nvPr/>
        </p:nvSpPr>
        <p:spPr>
          <a:xfrm>
            <a:off x="2494026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流れ2"/>
          <p:cNvSpPr/>
          <p:nvPr/>
        </p:nvSpPr>
        <p:spPr>
          <a:xfrm>
            <a:off x="2804922" y="1600200"/>
            <a:ext cx="1991106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予約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矢印"/>
          <p:cNvSpPr/>
          <p:nvPr/>
        </p:nvSpPr>
        <p:spPr>
          <a:xfrm>
            <a:off x="4796028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流れ3"/>
          <p:cNvSpPr/>
          <p:nvPr/>
        </p:nvSpPr>
        <p:spPr>
          <a:xfrm>
            <a:off x="5106924" y="1600200"/>
            <a:ext cx="1991106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矢印"/>
          <p:cNvSpPr/>
          <p:nvPr/>
        </p:nvSpPr>
        <p:spPr>
          <a:xfrm>
            <a:off x="7098030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流れ4"/>
          <p:cNvSpPr/>
          <p:nvPr/>
        </p:nvSpPr>
        <p:spPr>
          <a:xfrm>
            <a:off x="7408926" y="1600200"/>
            <a:ext cx="1991106" cy="5943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サロン入会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12" name="段階ごとの配信 11"/>
          <p:cNvGraphicFramePr>
            <a:graphicFrameLocks noGrp="1"/>
          </p:cNvGraphicFramePr>
          <p:nvPr/>
        </p:nvGraphicFramePr>
        <p:xfrm>
          <a:off x="502920" y="2423160"/>
          <a:ext cx="8897112" cy="3337560"/>
        </p:xfrm>
        <a:graphic>
          <a:graphicData uri="http://schemas.openxmlformats.org/drawingml/2006/table">
            <a:tbl>
              <a:tblPr/>
              <a:tblGrid>
                <a:gridCol w="1371600"/>
                <a:gridCol w="2514600"/>
                <a:gridCol w="3639312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段階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対象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届ける内容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ねらい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興味あり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予約していない方</a:t>
                      </a:r>
                      <a:b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（ポップアップツールから）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セミナーの見どころ動画・参加特典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予約へ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予約した方</a:t>
                      </a:r>
                      <a:b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（サンクスLINE誘導から）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日程ごとに、前日・当日のお知らせ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当日の参加へ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参加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イベントに参加した方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イベント直後に、</a:t>
                      </a:r>
                      <a:b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サロンの申込みフォームを直接案内</a:t>
                      </a:r>
                      <a:b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（申込みはいつでも可能）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入会へ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注記"/>
          <p:cNvSpPr/>
          <p:nvPr/>
        </p:nvSpPr>
        <p:spPr>
          <a:xfrm>
            <a:off x="502920" y="5897880"/>
            <a:ext cx="88971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※配信の内容は、イベントの内容に合わせて設計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目標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指標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追える人数を増やし・減らさず、次のイベント参加・入会へ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流れ1"/>
          <p:cNvSpPr/>
          <p:nvPr/>
        </p:nvSpPr>
        <p:spPr>
          <a:xfrm>
            <a:off x="502920" y="1600200"/>
            <a:ext cx="2758440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追える人数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矢印"/>
          <p:cNvSpPr/>
          <p:nvPr/>
        </p:nvSpPr>
        <p:spPr>
          <a:xfrm>
            <a:off x="3261360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流れ2"/>
          <p:cNvSpPr/>
          <p:nvPr/>
        </p:nvSpPr>
        <p:spPr>
          <a:xfrm>
            <a:off x="3572256" y="1600200"/>
            <a:ext cx="2758440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次のイベントの予約・参加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矢印"/>
          <p:cNvSpPr/>
          <p:nvPr/>
        </p:nvSpPr>
        <p:spPr>
          <a:xfrm>
            <a:off x="6330696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流れ3"/>
          <p:cNvSpPr/>
          <p:nvPr/>
        </p:nvSpPr>
        <p:spPr>
          <a:xfrm>
            <a:off x="6641592" y="1600200"/>
            <a:ext cx="2758440" cy="5943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サロン入会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10" name="指標 9"/>
          <p:cNvGraphicFramePr>
            <a:graphicFrameLocks noGrp="1"/>
          </p:cNvGraphicFramePr>
          <p:nvPr/>
        </p:nvGraphicFramePr>
        <p:xfrm>
          <a:off x="502920" y="2423160"/>
          <a:ext cx="8897112" cy="3474720"/>
        </p:xfrm>
        <a:graphic>
          <a:graphicData uri="http://schemas.openxmlformats.org/drawingml/2006/table">
            <a:tbl>
              <a:tblPr/>
              <a:tblGrid>
                <a:gridCol w="2011680"/>
                <a:gridCol w="1737360"/>
                <a:gridCol w="5148072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指標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見る時期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内容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追える人数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平常期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ブロックされずに届く友だちの数。増やし、減らさない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予約・参加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LINEからの予約と、当日の参加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サロン入会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イベントの後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参加した方のうち、入会した方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概算お見積り：6か月の見込み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プラン②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イベントのたびに友だちが増え、6か月目に追える人数は554人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graphicFrame>
        <p:nvGraphicFramePr>
          <p:cNvPr id="5" name="概算お見積り 4"/>
          <p:cNvGraphicFramePr>
            <a:graphicFrameLocks noGrp="1"/>
          </p:cNvGraphicFramePr>
          <p:nvPr/>
        </p:nvGraphicFramePr>
        <p:xfrm>
          <a:off x="502920" y="1554480"/>
          <a:ext cx="8897112" cy="3712464"/>
        </p:xfrm>
        <a:graphic>
          <a:graphicData uri="http://schemas.openxmlformats.org/drawingml/2006/table">
            <a:tbl>
              <a:tblPr/>
              <a:tblGrid>
                <a:gridCol w="2103120"/>
                <a:gridCol w="914400"/>
                <a:gridCol w="979932"/>
                <a:gridCol w="979932"/>
                <a:gridCol w="979932"/>
                <a:gridCol w="979932"/>
                <a:gridCol w="979932"/>
                <a:gridCol w="979932"/>
              </a:tblGrid>
              <a:tr h="56692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2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初期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2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1か月目</a:t>
                      </a:r>
                      <a:br>
                        <a:rPr lang="ja-JP" altLang="en-US" sz="12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2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2か月目</a:t>
                      </a:r>
                      <a:br>
                        <a:rPr lang="ja-JP" altLang="en-US" sz="12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平常期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2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3か月目</a:t>
                      </a:r>
                      <a:br>
                        <a:rPr lang="ja-JP" altLang="en-US" sz="12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平常期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2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4か月目</a:t>
                      </a:r>
                      <a:br>
                        <a:rPr lang="ja-JP" altLang="en-US" sz="12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2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5か月目</a:t>
                      </a:r>
                      <a:br>
                        <a:rPr lang="ja-JP" altLang="en-US" sz="12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平常期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2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6か月目</a:t>
                      </a:r>
                      <a:br>
                        <a:rPr lang="ja-JP" altLang="en-US" sz="12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平常期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2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友だちの増加（人）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-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401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0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0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401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0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0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2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追える人数（人）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-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289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285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283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562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558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554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2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セミナー予約（件）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-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5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0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0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7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0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0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2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サロン入会（件）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-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2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LINE運用コンサル（円）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100,000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300,000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100,000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100,000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300,000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100,000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100,000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2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ツール（円）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165,000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60,000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60,000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60,000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60,000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60,000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60,000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2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LINE利用料（円）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30,000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5,000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5,000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5,000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5,000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5,000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5,000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2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合計（円）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295,000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365,000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165,000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165,000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365,000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165,000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165,000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注記"/>
          <p:cNvSpPr/>
          <p:nvPr/>
        </p:nvSpPr>
        <p:spPr>
          <a:xfrm>
            <a:off x="502920" y="5440680"/>
            <a:ext cx="889711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※プラン②（平常期は月10万円で算出）。イベントは3か月おき（1・4か月目）と仮に置いて算出。広告費は含まない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注記"/>
          <p:cNvSpPr/>
          <p:nvPr/>
        </p:nvSpPr>
        <p:spPr>
          <a:xfrm>
            <a:off x="502920" y="5623560"/>
            <a:ext cx="889711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※追える人数＝ブロックされずに届く友だちの数。友だちの入口はポップアップツール・サンクスLINE誘導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注記"/>
          <p:cNvSpPr/>
          <p:nvPr/>
        </p:nvSpPr>
        <p:spPr>
          <a:xfrm>
            <a:off x="502920" y="5806440"/>
            <a:ext cx="889711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※ツール＝ポップアップツール・サンクスLINE誘導。LINE利用料＝LINE公式アカウントの開設・月額の利用料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料金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DYMプラン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ご予算と運用の体制に合わせて、3つのプランから選択可能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graphicFrame>
        <p:nvGraphicFramePr>
          <p:cNvPr id="5" name="料金 4"/>
          <p:cNvGraphicFramePr>
            <a:graphicFrameLocks noGrp="1"/>
          </p:cNvGraphicFramePr>
          <p:nvPr/>
        </p:nvGraphicFramePr>
        <p:xfrm>
          <a:off x="502920" y="1600200"/>
          <a:ext cx="8897112" cy="4023360"/>
        </p:xfrm>
        <a:graphic>
          <a:graphicData uri="http://schemas.openxmlformats.org/drawingml/2006/table">
            <a:tbl>
              <a:tblPr/>
              <a:tblGrid>
                <a:gridCol w="1463040"/>
                <a:gridCol w="2478024"/>
                <a:gridCol w="2478024"/>
                <a:gridCol w="2478024"/>
              </a:tblGrid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プラン①</a:t>
                      </a:r>
                      <a:b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初期設計のみ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プラン②</a:t>
                      </a:r>
                      <a:b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イベントに合わせた運用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プラン③</a:t>
                      </a:r>
                      <a:b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通年の運用・改善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内容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入口と配信の仕組みを構築</a:t>
                      </a:r>
                      <a:b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配信は貴社で運用</a:t>
                      </a:r>
                      <a:endParaRPr lang="ja-JP" altLang="en-US" sz="125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弊社で配信</a:t>
                      </a:r>
                      <a:b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平常期 月2回</a:t>
                      </a:r>
                      <a:b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 月4〜5回</a:t>
                      </a:r>
                      <a:endParaRPr lang="ja-JP" altLang="en-US" sz="125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弊社で配信＋レポート・定例会</a:t>
                      </a:r>
                      <a:b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平常期 月3回</a:t>
                      </a:r>
                      <a:b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 月5回</a:t>
                      </a:r>
                      <a:endParaRPr lang="ja-JP" altLang="en-US" sz="125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初期費用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10万円〜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10万円〜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10万円〜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平常期</a:t>
                      </a:r>
                      <a:b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（月額）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0円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5〜10万円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20万円〜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</a:t>
                      </a:r>
                      <a:b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（月額）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0円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30万円程度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30万円〜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注記"/>
          <p:cNvSpPr/>
          <p:nvPr/>
        </p:nvSpPr>
        <p:spPr>
          <a:xfrm>
            <a:off x="502920" y="5760720"/>
            <a:ext cx="889711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※広告費・ツール費・LINE公式アカウントの利用料は含まない。いずれも6か月〜の契約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注記"/>
          <p:cNvSpPr/>
          <p:nvPr/>
        </p:nvSpPr>
        <p:spPr>
          <a:xfrm>
            <a:off x="502920" y="5998464"/>
            <a:ext cx="889711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※施策内容・配信本数・連携範囲等により、費用は個別にお見積り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8" name="Google Shape;156;p7"/>
          <p:cNvSpPr txBox="1"/>
          <p:nvPr/>
        </p:nvSpPr>
        <p:spPr>
          <a:xfrm>
            <a:off x="548883" y="138118"/>
            <a:ext cx="651485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運用スケジュール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28" name="角丸四角形 27"/>
          <p:cNvSpPr/>
          <p:nvPr/>
        </p:nvSpPr>
        <p:spPr>
          <a:xfrm>
            <a:off x="910833" y="1994083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STEP1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9" name="角丸四角形 28"/>
          <p:cNvSpPr/>
          <p:nvPr/>
        </p:nvSpPr>
        <p:spPr>
          <a:xfrm>
            <a:off x="910833" y="3537133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STEP3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31" name="角丸四角形 30"/>
          <p:cNvSpPr/>
          <p:nvPr/>
        </p:nvSpPr>
        <p:spPr>
          <a:xfrm>
            <a:off x="910833" y="2765608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STEP2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32" name="角丸四角形 31"/>
          <p:cNvSpPr/>
          <p:nvPr/>
        </p:nvSpPr>
        <p:spPr>
          <a:xfrm>
            <a:off x="910833" y="4308658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STEP4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33" name="角丸四角形 32"/>
          <p:cNvSpPr/>
          <p:nvPr/>
        </p:nvSpPr>
        <p:spPr>
          <a:xfrm>
            <a:off x="910833" y="5080183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STEP5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" name="正方形/長方形 1"/>
          <p:cNvSpPr/>
          <p:nvPr/>
        </p:nvSpPr>
        <p:spPr>
          <a:xfrm>
            <a:off x="4600923" y="2266950"/>
            <a:ext cx="1638300" cy="391649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40" name="角丸四角形 39"/>
          <p:cNvSpPr/>
          <p:nvPr/>
        </p:nvSpPr>
        <p:spPr>
          <a:xfrm>
            <a:off x="3133924" y="1994083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お申込み（書類締結）</a:t>
            </a:r>
            <a:endParaRPr kumimoji="1" lang="ja-JP" altLang="en-US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1" name="角丸四角形 40"/>
          <p:cNvSpPr/>
          <p:nvPr/>
        </p:nvSpPr>
        <p:spPr>
          <a:xfrm>
            <a:off x="3133924" y="3537133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連携の設定 </a:t>
            </a:r>
            <a:r>
              <a:rPr kumimoji="1" lang="en-US" altLang="ja-JP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/ </a:t>
            </a:r>
            <a:r>
              <a:rPr kumimoji="1"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タグ確認</a:t>
            </a:r>
          </a:p>
        </p:txBody>
      </p:sp>
      <p:sp>
        <p:nvSpPr>
          <p:cNvPr id="42" name="角丸四角形 41"/>
          <p:cNvSpPr/>
          <p:nvPr/>
        </p:nvSpPr>
        <p:spPr>
          <a:xfrm>
            <a:off x="3133924" y="2765608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キックオフ</a:t>
            </a:r>
            <a:r>
              <a:rPr kumimoji="1" lang="en-US" altLang="ja-JP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MTG</a:t>
            </a:r>
            <a:endParaRPr kumimoji="1" lang="ja-JP" altLang="en-US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4" name="角丸四角形 43"/>
          <p:cNvSpPr/>
          <p:nvPr/>
        </p:nvSpPr>
        <p:spPr>
          <a:xfrm>
            <a:off x="3133924" y="4308658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初期設計の構築</a:t>
            </a:r>
          </a:p>
        </p:txBody>
      </p:sp>
      <p:sp>
        <p:nvSpPr>
          <p:cNvPr id="45" name="角丸四角形 44"/>
          <p:cNvSpPr/>
          <p:nvPr/>
        </p:nvSpPr>
        <p:spPr>
          <a:xfrm>
            <a:off x="3133924" y="5080183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運用開始</a:t>
            </a:r>
          </a:p>
        </p:txBody>
      </p:sp>
      <p:sp>
        <p:nvSpPr>
          <p:cNvPr id="19" name="正方形/長方形 18"/>
          <p:cNvSpPr/>
          <p:nvPr/>
        </p:nvSpPr>
        <p:spPr>
          <a:xfrm>
            <a:off x="548883" y="1033120"/>
            <a:ext cx="892103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サイト・LINEへの実装は、初期設計が整い次第、順次進行</a:t>
            </a:r>
            <a:endParaRPr lang="ja-JP" altLang="en-US" sz="24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/>
          <p:cNvSpPr/>
          <p:nvPr/>
        </p:nvSpPr>
        <p:spPr>
          <a:xfrm>
            <a:off x="4708989" y="5841409"/>
            <a:ext cx="495520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※貴社の作業・確認にかかる時間により、前後する可能性あり</a:t>
            </a:r>
          </a:p>
        </p:txBody>
      </p:sp>
      <p:sp>
        <p:nvSpPr>
          <p:cNvPr id="3" name="正方形/長方形 2"/>
          <p:cNvSpPr/>
          <p:nvPr/>
        </p:nvSpPr>
        <p:spPr>
          <a:xfrm>
            <a:off x="7902506" y="3514209"/>
            <a:ext cx="1415772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オーディエンスリスト作成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タグ設定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GA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設定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etc...</a:t>
            </a:r>
          </a:p>
        </p:txBody>
      </p:sp>
      <p:sp>
        <p:nvSpPr>
          <p:cNvPr id="24" name="正方形/長方形 23"/>
          <p:cNvSpPr/>
          <p:nvPr/>
        </p:nvSpPr>
        <p:spPr>
          <a:xfrm>
            <a:off x="7897281" y="4276528"/>
            <a:ext cx="110799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リッチメニュー作成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アンケート設計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シナリオ設計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etc...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A67513FB-FEEF-76F5-5394-A1A2495F0489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弊社からご提供できる運用プラン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CF6CD71-4C48-796A-BD54-E778269A9308}"/>
              </a:ext>
            </a:extLst>
          </p:cNvPr>
          <p:cNvSpPr/>
          <p:nvPr/>
        </p:nvSpPr>
        <p:spPr>
          <a:xfrm>
            <a:off x="0" y="777240"/>
            <a:ext cx="2914650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成果報酬型プラン</a:t>
            </a:r>
            <a:endParaRPr kumimoji="1" lang="ja-JP" altLang="en-US" sz="14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5" name="Google Shape;752;p28">
            <a:extLst>
              <a:ext uri="{FF2B5EF4-FFF2-40B4-BE49-F238E27FC236}">
                <a16:creationId xmlns:a16="http://schemas.microsoft.com/office/drawing/2014/main" id="{6C35AEF3-D15B-5805-4919-629E6F4207CC}"/>
              </a:ext>
            </a:extLst>
          </p:cNvPr>
          <p:cNvSpPr txBox="1"/>
          <p:nvPr/>
        </p:nvSpPr>
        <p:spPr>
          <a:xfrm>
            <a:off x="2914650" y="859443"/>
            <a:ext cx="661987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施策成果件数に伴う費用発生でリスクを抑えた運用スタートを実現。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EEA02B17-0DA2-A3FE-A6E5-243C1724301E}"/>
              </a:ext>
            </a:extLst>
          </p:cNvPr>
          <p:cNvSpPr/>
          <p:nvPr/>
        </p:nvSpPr>
        <p:spPr>
          <a:xfrm>
            <a:off x="548881" y="1405687"/>
            <a:ext cx="4404119" cy="2061098"/>
          </a:xfrm>
          <a:prstGeom prst="rect">
            <a:avLst/>
          </a:prstGeom>
          <a:noFill/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05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A8AA691-8D48-57D0-BF47-34182D3A6DAC}"/>
              </a:ext>
            </a:extLst>
          </p:cNvPr>
          <p:cNvSpPr/>
          <p:nvPr/>
        </p:nvSpPr>
        <p:spPr>
          <a:xfrm>
            <a:off x="748333" y="1594972"/>
            <a:ext cx="2322527" cy="5029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成果報酬費用</a:t>
            </a:r>
            <a:endParaRPr kumimoji="1" lang="ja-JP" altLang="en-US" sz="10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64193FC-5A1A-667F-A9D5-30C2155A72EB}"/>
              </a:ext>
            </a:extLst>
          </p:cNvPr>
          <p:cNvSpPr/>
          <p:nvPr/>
        </p:nvSpPr>
        <p:spPr>
          <a:xfrm>
            <a:off x="3230275" y="1588966"/>
            <a:ext cx="1494125" cy="5029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固定費用</a:t>
            </a:r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92E0C40-273C-2C77-21FF-EC7A2A1C8F8F}"/>
              </a:ext>
            </a:extLst>
          </p:cNvPr>
          <p:cNvSpPr/>
          <p:nvPr/>
        </p:nvSpPr>
        <p:spPr>
          <a:xfrm>
            <a:off x="748333" y="2116483"/>
            <a:ext cx="2322527" cy="68767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成果件数 </a:t>
            </a:r>
            <a:r>
              <a:rPr lang="en-US" altLang="ja-JP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× </a:t>
            </a:r>
            <a:r>
              <a:rPr lang="ja-JP" altLang="en-US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成果報酬単価</a:t>
            </a:r>
            <a:endParaRPr lang="en-US" altLang="ja-JP" sz="14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AC2B063-6DAA-B7D0-0B1D-E5CC879D23FD}"/>
              </a:ext>
            </a:extLst>
          </p:cNvPr>
          <p:cNvSpPr/>
          <p:nvPr/>
        </p:nvSpPr>
        <p:spPr>
          <a:xfrm>
            <a:off x="3230275" y="2116483"/>
            <a:ext cx="1494125" cy="68767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アカウント費</a:t>
            </a:r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＋</a:t>
            </a:r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ツール費</a:t>
            </a:r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0036B929-196A-854E-1925-1967B52BEB27}"/>
              </a:ext>
            </a:extLst>
          </p:cNvPr>
          <p:cNvSpPr txBox="1"/>
          <p:nvPr/>
        </p:nvSpPr>
        <p:spPr>
          <a:xfrm>
            <a:off x="668626" y="1585328"/>
            <a:ext cx="49606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8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＋</a:t>
            </a:r>
            <a:endParaRPr lang="en-US" altLang="ja-JP" sz="28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C94A4AE5-885C-B98E-00A8-77C51FC7BFE1}"/>
              </a:ext>
            </a:extLst>
          </p:cNvPr>
          <p:cNvSpPr/>
          <p:nvPr/>
        </p:nvSpPr>
        <p:spPr>
          <a:xfrm>
            <a:off x="5080364" y="1405605"/>
            <a:ext cx="4328131" cy="2323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☑ 複数の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流入経路からステップ配信を構築し、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CV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数を増加。 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4A2D4AF3-1CC4-4934-0B96-59B465612A8D}"/>
              </a:ext>
            </a:extLst>
          </p:cNvPr>
          <p:cNvSpPr/>
          <p:nvPr/>
        </p:nvSpPr>
        <p:spPr>
          <a:xfrm>
            <a:off x="5080363" y="1783080"/>
            <a:ext cx="4328131" cy="2323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☑ 現状導入しているツール、計測環境に応じて設計が可能。 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1981C36B-B3F0-8036-014B-17B1A065A490}"/>
              </a:ext>
            </a:extLst>
          </p:cNvPr>
          <p:cNvSpPr txBox="1"/>
          <p:nvPr/>
        </p:nvSpPr>
        <p:spPr>
          <a:xfrm>
            <a:off x="3230275" y="2856669"/>
            <a:ext cx="171510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導入ツールに応じて費用発生</a:t>
            </a:r>
            <a:endParaRPr lang="en-US" altLang="ja-JP" sz="8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0F171EE4-EBC4-0A03-9342-8E33CDF25A68}"/>
              </a:ext>
            </a:extLst>
          </p:cNvPr>
          <p:cNvSpPr txBox="1"/>
          <p:nvPr/>
        </p:nvSpPr>
        <p:spPr>
          <a:xfrm>
            <a:off x="3230274" y="3083982"/>
            <a:ext cx="171510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上限通数を設定して運営可能</a:t>
            </a:r>
            <a:endParaRPr lang="en-US" altLang="ja-JP" sz="8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6B5A64D-6B62-2D6A-1AF5-5EFCEC948063}"/>
              </a:ext>
            </a:extLst>
          </p:cNvPr>
          <p:cNvSpPr txBox="1"/>
          <p:nvPr/>
        </p:nvSpPr>
        <p:spPr>
          <a:xfrm>
            <a:off x="748334" y="2856669"/>
            <a:ext cx="210154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成果件数は</a:t>
            </a:r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GA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、他ツールでの計測</a:t>
            </a:r>
            <a:endParaRPr lang="en-US" altLang="ja-JP" sz="8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555B5E5B-7EFA-B5FA-0284-3CD0D3947983}"/>
              </a:ext>
            </a:extLst>
          </p:cNvPr>
          <p:cNvSpPr txBox="1"/>
          <p:nvPr/>
        </p:nvSpPr>
        <p:spPr>
          <a:xfrm>
            <a:off x="748333" y="3083982"/>
            <a:ext cx="232252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成果報酬単価は広告</a:t>
            </a:r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CPA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に基づき設定</a:t>
            </a:r>
            <a:endParaRPr lang="en-US" altLang="ja-JP" sz="8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C08CE37-3C30-0822-0EDA-FEB4C5F762A4}"/>
              </a:ext>
            </a:extLst>
          </p:cNvPr>
          <p:cNvSpPr txBox="1"/>
          <p:nvPr/>
        </p:nvSpPr>
        <p:spPr>
          <a:xfrm>
            <a:off x="5084483" y="2103120"/>
            <a:ext cx="43240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</a:t>
            </a:r>
            <a:r>
              <a:rPr lang="ja-JP" altLang="en-US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✓ </a:t>
            </a:r>
            <a:r>
              <a:rPr lang="en-US" altLang="ja-JP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API</a:t>
            </a:r>
            <a:r>
              <a:rPr lang="ja-JP" altLang="en-US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 ✓複数の成果地点とそれに伴う成果単価</a:t>
            </a:r>
            <a:endParaRPr lang="en-US" altLang="ja-JP" sz="105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に基づいて、契約における条件の調整が可能です。</a:t>
            </a:r>
            <a:endParaRPr lang="en-US" altLang="ja-JP" sz="105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5D385AB6-97DE-E2AB-6E27-3BFD5D3B3C5D}"/>
              </a:ext>
            </a:extLst>
          </p:cNvPr>
          <p:cNvSpPr/>
          <p:nvPr/>
        </p:nvSpPr>
        <p:spPr>
          <a:xfrm>
            <a:off x="3996942" y="122215"/>
            <a:ext cx="2083719" cy="32075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プラン</a:t>
            </a:r>
          </a:p>
        </p:txBody>
      </p:sp>
      <p:sp>
        <p:nvSpPr>
          <p:cNvPr id="30" name="小見出し"/>
          <p:cNvSpPr/>
          <p:nvPr/>
        </p:nvSpPr>
        <p:spPr>
          <a:xfrm>
            <a:off x="548640" y="3657600"/>
            <a:ext cx="8860536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3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すなおコンサルティング様の場合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31" name="差し込み 成果の地点・成果報酬単価"/>
          <p:cNvSpPr/>
          <p:nvPr/>
        </p:nvSpPr>
        <p:spPr>
          <a:xfrm>
            <a:off x="548640" y="4023360"/>
            <a:ext cx="8860536" cy="2194560"/>
          </a:xfrm>
          <a:prstGeom prst="rect">
            <a:avLst/>
          </a:prstGeom>
          <a:noFill/>
          <a:ln w="9525">
            <a:solidFill>
              <a:srgbClr val="7F7F7F"/>
            </a:solidFill>
            <a:prstDash val="dash"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成果の地点・成果報酬単価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0D14D38F-F567-ACF2-CDEB-76004FDB5B51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資料アジェンダ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36C1E2A-AC35-76CA-EBEE-CAD4F26CF45A}"/>
              </a:ext>
            </a:extLst>
          </p:cNvPr>
          <p:cNvSpPr/>
          <p:nvPr/>
        </p:nvSpPr>
        <p:spPr>
          <a:xfrm>
            <a:off x="1460711" y="3038203"/>
            <a:ext cx="698460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JP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Appendix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B249BA1-EB38-DDA6-8221-FC109239C49F}"/>
              </a:ext>
            </a:extLst>
          </p:cNvPr>
          <p:cNvSpPr txBox="1"/>
          <p:nvPr/>
        </p:nvSpPr>
        <p:spPr>
          <a:xfrm>
            <a:off x="548883" y="138138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新規友だちの追加</a:t>
            </a:r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（ポップアップ </a:t>
            </a:r>
            <a:r>
              <a:rPr lang="en-US" altLang="ja-JP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/ </a:t>
            </a:r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離脱防止）</a:t>
            </a: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A805D6F-0719-17C7-4E97-2705F1D9A93C}"/>
              </a:ext>
            </a:extLst>
          </p:cNvPr>
          <p:cNvGrpSpPr/>
          <p:nvPr/>
        </p:nvGrpSpPr>
        <p:grpSpPr>
          <a:xfrm>
            <a:off x="543398" y="777681"/>
            <a:ext cx="3105325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0895EF17-7734-EE92-7BF3-5B0ADCDC65B8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23AD98A9-882F-05AA-BB4E-3FB88AAA7C20}"/>
                </a:ext>
              </a:extLst>
            </p:cNvPr>
            <p:cNvSpPr txBox="1"/>
            <p:nvPr/>
          </p:nvSpPr>
          <p:spPr>
            <a:xfrm>
              <a:off x="687498" y="938979"/>
              <a:ext cx="2746265" cy="3577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ポップアップ</a:t>
              </a:r>
              <a:r>
                <a:rPr kumimoji="1" lang="en-US" altLang="ja-JP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(</a:t>
              </a: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離脱防止 など</a:t>
              </a:r>
              <a:r>
                <a:rPr kumimoji="1" lang="en-US" altLang="ja-JP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)</a:t>
              </a:r>
              <a:endParaRPr kumimoji="1" lang="ja-JP" altLang="en-US" sz="1500" b="1" dirty="0">
                <a:solidFill>
                  <a:schemeClr val="bg1"/>
                </a:solidFill>
                <a:latin typeface="メイリオ" panose="020B0604030504040204" pitchFamily="34" charset="-128"/>
                <a:ea typeface="メイリオ" panose="020B0604030504040204" pitchFamily="34" charset="-128"/>
                <a:cs typeface="メイリオ"/>
              </a:endParaRPr>
            </a:p>
          </p:txBody>
        </p:sp>
      </p:grp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B668975-CA29-64DD-88DF-17EAAC94AE34}"/>
              </a:ext>
            </a:extLst>
          </p:cNvPr>
          <p:cNvSpPr/>
          <p:nvPr/>
        </p:nvSpPr>
        <p:spPr>
          <a:xfrm>
            <a:off x="3806311" y="788165"/>
            <a:ext cx="588008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>
                <a:schemeClr val="dk1"/>
              </a:buClr>
              <a:buSzPts val="1500"/>
            </a:pPr>
            <a:r>
              <a:rPr lang="en-US" altLang="ja-JP" sz="1600" dirty="0">
                <a:latin typeface="メイリオ"/>
                <a:ea typeface="メイリオ"/>
                <a:cs typeface="メイリオ"/>
                <a:sym typeface="Meiryo"/>
              </a:rPr>
              <a:t>WEB</a:t>
            </a: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サイト上の特定アクションを起こしたユーザーに対して</a:t>
            </a:r>
            <a:endParaRPr lang="en-US" altLang="ja-JP" sz="1600" dirty="0">
              <a:latin typeface="メイリオ"/>
              <a:ea typeface="メイリオ"/>
              <a:cs typeface="メイリオ"/>
              <a:sym typeface="Meiryo"/>
            </a:endParaRPr>
          </a:p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ポップアップの形で</a:t>
            </a:r>
            <a:r>
              <a:rPr lang="en-US" altLang="ja-JP" sz="16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誘導の動線を提示。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4BC18E84-0DF3-01E6-D82D-0A9DCD2D5F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4329" y="2258734"/>
            <a:ext cx="1524677" cy="3096752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0FACA28-BE3D-80E4-091C-39F6141694C7}"/>
              </a:ext>
            </a:extLst>
          </p:cNvPr>
          <p:cNvSpPr txBox="1"/>
          <p:nvPr/>
        </p:nvSpPr>
        <p:spPr>
          <a:xfrm>
            <a:off x="5214938" y="1372940"/>
            <a:ext cx="414813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50" dirty="0">
                <a:solidFill>
                  <a:srgbClr val="FF0000"/>
                </a:solidFill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050" dirty="0">
                <a:solidFill>
                  <a:srgbClr val="FF0000"/>
                </a:solidFill>
                <a:latin typeface="メイリオ"/>
                <a:ea typeface="メイリオ"/>
                <a:cs typeface="メイリオ"/>
                <a:sym typeface="Meiryo"/>
              </a:rPr>
              <a:t>以外の注力動線への誘導も同バナーから実施が可能です。</a:t>
            </a:r>
            <a:endParaRPr lang="ja-JP" altLang="en-US" sz="105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FC908A63-1EE8-A605-1D4F-460FED9442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2877" y="2846109"/>
            <a:ext cx="1524677" cy="3096752"/>
          </a:xfrm>
          <a:prstGeom prst="rect">
            <a:avLst/>
          </a:prstGeom>
        </p:spPr>
      </p:pic>
      <p:sp>
        <p:nvSpPr>
          <p:cNvPr id="12" name="矢印: 右 11">
            <a:extLst>
              <a:ext uri="{FF2B5EF4-FFF2-40B4-BE49-F238E27FC236}">
                <a16:creationId xmlns:a16="http://schemas.microsoft.com/office/drawing/2014/main" id="{C5B2A6E8-796B-963F-0A04-9B9D1A36ADF0}"/>
              </a:ext>
            </a:extLst>
          </p:cNvPr>
          <p:cNvSpPr/>
          <p:nvPr/>
        </p:nvSpPr>
        <p:spPr>
          <a:xfrm>
            <a:off x="7373222" y="3359435"/>
            <a:ext cx="571500" cy="619125"/>
          </a:xfrm>
          <a:prstGeom prst="rightArrow">
            <a:avLst>
              <a:gd name="adj1" fmla="val 64359"/>
              <a:gd name="adj2" fmla="val 50000"/>
            </a:avLst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B49FAB7-0FB8-4D5F-CF13-A19BBA28C8C7}"/>
              </a:ext>
            </a:extLst>
          </p:cNvPr>
          <p:cNvSpPr/>
          <p:nvPr/>
        </p:nvSpPr>
        <p:spPr>
          <a:xfrm>
            <a:off x="8117093" y="3057525"/>
            <a:ext cx="1371145" cy="2585494"/>
          </a:xfrm>
          <a:prstGeom prst="rect">
            <a:avLst/>
          </a:prstGeom>
          <a:solidFill>
            <a:schemeClr val="tx1">
              <a:lumMod val="75000"/>
              <a:lumOff val="2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Google Shape;51;p19">
            <a:extLst>
              <a:ext uri="{FF2B5EF4-FFF2-40B4-BE49-F238E27FC236}">
                <a16:creationId xmlns:a16="http://schemas.microsoft.com/office/drawing/2014/main" id="{1B34220E-1DA3-AC59-C2DE-15AB3320AC1C}"/>
              </a:ext>
            </a:extLst>
          </p:cNvPr>
          <p:cNvSpPr/>
          <p:nvPr/>
        </p:nvSpPr>
        <p:spPr>
          <a:xfrm>
            <a:off x="543399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初期：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1.5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</a:t>
            </a:r>
            <a:endParaRPr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7" name="Google Shape;51;p19">
            <a:extLst>
              <a:ext uri="{FF2B5EF4-FFF2-40B4-BE49-F238E27FC236}">
                <a16:creationId xmlns:a16="http://schemas.microsoft.com/office/drawing/2014/main" id="{EBA2E7AC-5299-C000-0A43-CCF8CE458AAF}"/>
              </a:ext>
            </a:extLst>
          </p:cNvPr>
          <p:cNvSpPr/>
          <p:nvPr/>
        </p:nvSpPr>
        <p:spPr>
          <a:xfrm>
            <a:off x="2137897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月額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3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</a:t>
            </a:r>
            <a:endParaRPr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98FF8283-5B2F-5018-9D25-736A384B4D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3942" y="3752836"/>
            <a:ext cx="1062545" cy="1115066"/>
          </a:xfrm>
          <a:prstGeom prst="rect">
            <a:avLst/>
          </a:prstGeom>
        </p:spPr>
      </p:pic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E4AE5F6C-0BA5-6768-64B9-9CD156133552}"/>
              </a:ext>
            </a:extLst>
          </p:cNvPr>
          <p:cNvSpPr/>
          <p:nvPr/>
        </p:nvSpPr>
        <p:spPr>
          <a:xfrm>
            <a:off x="5769326" y="1938056"/>
            <a:ext cx="3788228" cy="2441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  <a:endParaRPr kumimoji="1" lang="ja-JP" altLang="en-US" sz="11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669C67AE-8870-AB99-9BB8-030F3AB8CB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398" y="4259719"/>
            <a:ext cx="5059180" cy="2191534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CFFD213E-DE33-0075-6E07-F24DBD7A94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513" y="1977951"/>
            <a:ext cx="5023065" cy="2231287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新規友だちの追加</a:t>
            </a:r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（サンクス</a:t>
            </a:r>
            <a:r>
              <a:rPr lang="en-US" altLang="ja-JP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LINE</a:t>
            </a:r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誘導）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404798" y="1938056"/>
            <a:ext cx="1859036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5808682" y="241574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5808681" y="458896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5974632" y="23047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非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5974632" y="44668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既存の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/>
          <p:nvPr/>
        </p:nvCxnSpPr>
        <p:spPr>
          <a:xfrm>
            <a:off x="4361857" y="3239708"/>
            <a:ext cx="1407469" cy="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4361857" y="3392108"/>
            <a:ext cx="1407469" cy="135838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4867227" y="2304788"/>
            <a:ext cx="374449" cy="3205847"/>
          </a:xfrm>
          <a:prstGeom prst="rect">
            <a:avLst/>
          </a:prstGeom>
          <a:solidFill>
            <a:srgbClr val="00FF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</a:t>
            </a: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Y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｜ルで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</a:t>
            </a:r>
            <a:b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I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N</a:t>
            </a:r>
            <a:b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</a:t>
            </a: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動線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に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</a:p>
        </p:txBody>
      </p: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2128994"/>
            <a:ext cx="1231081" cy="2085097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4325046"/>
            <a:ext cx="1231081" cy="2085098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5974631" y="2701376"/>
            <a:ext cx="18590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登録ページ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5971905" y="4914274"/>
            <a:ext cx="185903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画面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lang="en-US" altLang="ja-JP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en-US" altLang="ja-JP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設定によりフォーム入力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内容を踏襲した入力画面</a:t>
            </a:r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を表示させることが可能。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↓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配信セグメントに利用可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48301" y="3085325"/>
            <a:ext cx="1133712" cy="110223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78027" y="3091633"/>
            <a:ext cx="479964" cy="106659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95919" y="4322141"/>
            <a:ext cx="334412" cy="74315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48319" y="4474541"/>
            <a:ext cx="334412" cy="74315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8414131" y="2644225"/>
            <a:ext cx="396000" cy="396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315283" y="2196668"/>
            <a:ext cx="1778402" cy="3994401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5" name="二等辺三角形 34">
            <a:extLst>
              <a:ext uri="{FF2B5EF4-FFF2-40B4-BE49-F238E27FC236}">
                <a16:creationId xmlns:a16="http://schemas.microsoft.com/office/drawing/2014/main" id="{D9FB7255-AF30-7B82-6180-D447A3754744}"/>
              </a:ext>
            </a:extLst>
          </p:cNvPr>
          <p:cNvSpPr/>
          <p:nvPr/>
        </p:nvSpPr>
        <p:spPr>
          <a:xfrm rot="5400000">
            <a:off x="2108593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2225165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7" name="二等辺三角形 36">
            <a:extLst>
              <a:ext uri="{FF2B5EF4-FFF2-40B4-BE49-F238E27FC236}">
                <a16:creationId xmlns:a16="http://schemas.microsoft.com/office/drawing/2014/main" id="{9D8E2C96-1207-00B8-6FC3-23370EFD7A03}"/>
              </a:ext>
            </a:extLst>
          </p:cNvPr>
          <p:cNvSpPr/>
          <p:nvPr/>
        </p:nvSpPr>
        <p:spPr>
          <a:xfrm rot="5400000">
            <a:off x="2341737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14547" y="4198381"/>
            <a:ext cx="1154315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</a:t>
            </a:r>
          </a:p>
        </p:txBody>
      </p:sp>
      <p:pic>
        <p:nvPicPr>
          <p:cNvPr id="40" name="図 39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2B8DDCE0-83B3-5BAA-0FFE-3D329FBE2D9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663353" y="2289246"/>
            <a:ext cx="1048252" cy="1775437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EE7C7FD3-78CB-4D67-F96A-D6F8017FE2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171" y="2325575"/>
            <a:ext cx="494484" cy="86136"/>
          </a:xfrm>
          <a:prstGeom prst="rect">
            <a:avLst/>
          </a:prstGeom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2E6CA8C2-2D04-CD9A-C431-4766768BBF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233" y="2328011"/>
            <a:ext cx="494484" cy="86136"/>
          </a:xfrm>
          <a:prstGeom prst="rect">
            <a:avLst/>
          </a:prstGeom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E5BE860E-2799-E5F4-ADCA-4ADBD44E0D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116" y="3773334"/>
            <a:ext cx="494484" cy="86136"/>
          </a:xfrm>
          <a:prstGeom prst="rect">
            <a:avLst/>
          </a:prstGeom>
        </p:spPr>
      </p:pic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157" y="2445202"/>
            <a:ext cx="1076073" cy="1468487"/>
          </a:xfrm>
          <a:prstGeom prst="rect">
            <a:avLst/>
          </a:prstGeom>
        </p:spPr>
      </p:pic>
      <p:pic>
        <p:nvPicPr>
          <p:cNvPr id="1024" name="図 1023">
            <a:extLst>
              <a:ext uri="{FF2B5EF4-FFF2-40B4-BE49-F238E27FC236}">
                <a16:creationId xmlns:a16="http://schemas.microsoft.com/office/drawing/2014/main" id="{E5E4719A-E6F5-34E0-F2FD-37322E2A76A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25324" y="2303179"/>
            <a:ext cx="560995" cy="133465"/>
          </a:xfrm>
          <a:prstGeom prst="rect">
            <a:avLst/>
          </a:prstGeom>
        </p:spPr>
      </p:pic>
      <p:sp>
        <p:nvSpPr>
          <p:cNvPr id="1026" name="テキスト ボックス 1025">
            <a:extLst>
              <a:ext uri="{FF2B5EF4-FFF2-40B4-BE49-F238E27FC236}">
                <a16:creationId xmlns:a16="http://schemas.microsoft.com/office/drawing/2014/main" id="{1B57767B-4EA3-C247-B88C-4D505A95BD20}"/>
              </a:ext>
            </a:extLst>
          </p:cNvPr>
          <p:cNvSpPr txBox="1"/>
          <p:nvPr/>
        </p:nvSpPr>
        <p:spPr>
          <a:xfrm>
            <a:off x="-490844" y="4711039"/>
            <a:ext cx="34055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入力した内容を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トークに反映が可能。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584156" y="2196668"/>
            <a:ext cx="1778402" cy="3994401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909322" y="4198381"/>
            <a:ext cx="1154315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CV</a:t>
            </a:r>
            <a:endParaRPr kumimoji="1" lang="ja-JP" altLang="en-US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6" name="正方形/長方形 1035">
            <a:extLst>
              <a:ext uri="{FF2B5EF4-FFF2-40B4-BE49-F238E27FC236}">
                <a16:creationId xmlns:a16="http://schemas.microsoft.com/office/drawing/2014/main" id="{43EEA9CC-C52C-B219-FF18-6E6EA44E4D24}"/>
              </a:ext>
            </a:extLst>
          </p:cNvPr>
          <p:cNvSpPr/>
          <p:nvPr/>
        </p:nvSpPr>
        <p:spPr>
          <a:xfrm>
            <a:off x="2692868" y="4436119"/>
            <a:ext cx="1396722" cy="10450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・購入完了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・セミナー予約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・登録完了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・メルマガ登録</a:t>
            </a:r>
            <a:endParaRPr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・その他</a:t>
            </a: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977448" y="2296209"/>
            <a:ext cx="1048252" cy="1775437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866329" y="4627146"/>
            <a:ext cx="395417" cy="52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図 1039">
            <a:extLst>
              <a:ext uri="{FF2B5EF4-FFF2-40B4-BE49-F238E27FC236}">
                <a16:creationId xmlns:a16="http://schemas.microsoft.com/office/drawing/2014/main" id="{D40EFC68-F8C8-CACE-392A-C804A102B4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5266" y="2332538"/>
            <a:ext cx="494484" cy="86136"/>
          </a:xfrm>
          <a:prstGeom prst="rect">
            <a:avLst/>
          </a:prstGeom>
        </p:spPr>
      </p:pic>
      <p:pic>
        <p:nvPicPr>
          <p:cNvPr id="1041" name="図 1040">
            <a:extLst>
              <a:ext uri="{FF2B5EF4-FFF2-40B4-BE49-F238E27FC236}">
                <a16:creationId xmlns:a16="http://schemas.microsoft.com/office/drawing/2014/main" id="{BA9B0596-4197-6BA5-B58D-7E67FD1379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4328" y="2334974"/>
            <a:ext cx="494484" cy="86136"/>
          </a:xfrm>
          <a:prstGeom prst="rect">
            <a:avLst/>
          </a:prstGeom>
        </p:spPr>
      </p:pic>
      <p:pic>
        <p:nvPicPr>
          <p:cNvPr id="1042" name="図 1041">
            <a:extLst>
              <a:ext uri="{FF2B5EF4-FFF2-40B4-BE49-F238E27FC236}">
                <a16:creationId xmlns:a16="http://schemas.microsoft.com/office/drawing/2014/main" id="{A3D5D1CE-703D-3244-20B5-0CBB6C5EB4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4211" y="3780297"/>
            <a:ext cx="494484" cy="86136"/>
          </a:xfrm>
          <a:prstGeom prst="rect">
            <a:avLst/>
          </a:prstGeom>
        </p:spPr>
      </p:pic>
      <p:sp>
        <p:nvSpPr>
          <p:cNvPr id="1043" name="テキスト ボックス 1042">
            <a:extLst>
              <a:ext uri="{FF2B5EF4-FFF2-40B4-BE49-F238E27FC236}">
                <a16:creationId xmlns:a16="http://schemas.microsoft.com/office/drawing/2014/main" id="{434489DF-76E5-B08D-AB93-7A020A3C23F0}"/>
              </a:ext>
            </a:extLst>
          </p:cNvPr>
          <p:cNvSpPr txBox="1"/>
          <p:nvPr/>
        </p:nvSpPr>
        <p:spPr>
          <a:xfrm>
            <a:off x="1254839" y="5195928"/>
            <a:ext cx="1679395" cy="338554"/>
          </a:xfrm>
          <a:prstGeom prst="rect">
            <a:avLst/>
          </a:prstGeom>
          <a:solidFill>
            <a:schemeClr val="bg1">
              <a:alpha val="56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ユーザーの個人情報収集が</a:t>
            </a:r>
            <a:endParaRPr lang="en-US" altLang="ja-JP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完了したタイミング</a:t>
            </a:r>
            <a:endParaRPr kumimoji="1" lang="ja-JP" altLang="en-US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543398" y="777681"/>
            <a:ext cx="3105325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サンクス</a:t>
              </a:r>
              <a:r>
                <a:rPr kumimoji="1" lang="en-US" altLang="ja-JP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LINE</a:t>
              </a: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8247347" y="4702330"/>
            <a:ext cx="899499" cy="799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5EB654A-0759-70F8-6BA7-95CA3A0F983F}"/>
              </a:ext>
            </a:extLst>
          </p:cNvPr>
          <p:cNvCxnSpPr>
            <a:cxnSpLocks/>
          </p:cNvCxnSpPr>
          <p:nvPr/>
        </p:nvCxnSpPr>
        <p:spPr>
          <a:xfrm flipV="1">
            <a:off x="7672763" y="5102505"/>
            <a:ext cx="574585" cy="332494"/>
          </a:xfrm>
          <a:prstGeom prst="bentConnector3">
            <a:avLst>
              <a:gd name="adj1" fmla="val 50000"/>
            </a:avLst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218E3FE3-7B20-5966-421F-4ECB81603538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>
            <a:off x="6904149" y="3132263"/>
            <a:ext cx="1" cy="133462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BDB9444-3A0E-B235-58FC-9F8C81BAEA44}"/>
              </a:ext>
            </a:extLst>
          </p:cNvPr>
          <p:cNvSpPr txBox="1"/>
          <p:nvPr/>
        </p:nvSpPr>
        <p:spPr>
          <a:xfrm>
            <a:off x="6323825" y="3523709"/>
            <a:ext cx="1161782" cy="261610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100" b="1" dirty="0">
                <a:solidFill>
                  <a:srgbClr val="00C057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友だち追加後</a:t>
            </a:r>
            <a:endParaRPr lang="ja-JP" altLang="en-US" sz="1100" dirty="0">
              <a:solidFill>
                <a:srgbClr val="00C057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3806311" y="788165"/>
            <a:ext cx="588008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サンクス到達時の</a:t>
            </a:r>
            <a:r>
              <a:rPr lang="en-US" altLang="ja-JP" sz="16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動線が弊社開発により可能に。</a:t>
            </a:r>
            <a:endParaRPr lang="en-US" altLang="ja-JP" sz="1600" dirty="0">
              <a:latin typeface="メイリオ"/>
              <a:ea typeface="メイリオ"/>
              <a:cs typeface="メイリオ"/>
              <a:sym typeface="Meiryo"/>
            </a:endParaRPr>
          </a:p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費用を抑えての導入が可能で、新規反響の質改善に寄与。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091506" y="1549623"/>
            <a:ext cx="47186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5769326" y="1938056"/>
            <a:ext cx="3788228" cy="2441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  <a:endParaRPr kumimoji="1" lang="ja-JP" altLang="en-US" sz="11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6" name="Google Shape;51;p19">
            <a:extLst>
              <a:ext uri="{FF2B5EF4-FFF2-40B4-BE49-F238E27FC236}">
                <a16:creationId xmlns:a16="http://schemas.microsoft.com/office/drawing/2014/main" id="{A4070FDA-7C99-27DE-6A9C-437C1D5DD3B3}"/>
              </a:ext>
            </a:extLst>
          </p:cNvPr>
          <p:cNvSpPr/>
          <p:nvPr/>
        </p:nvSpPr>
        <p:spPr>
          <a:xfrm>
            <a:off x="543399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初期：15万円</a:t>
            </a:r>
            <a:endParaRPr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28" name="Google Shape;51;p19">
            <a:extLst>
              <a:ext uri="{FF2B5EF4-FFF2-40B4-BE49-F238E27FC236}">
                <a16:creationId xmlns:a16="http://schemas.microsoft.com/office/drawing/2014/main" id="{40C4675F-5DCC-DD57-BE14-B3A7697A02CD}"/>
              </a:ext>
            </a:extLst>
          </p:cNvPr>
          <p:cNvSpPr/>
          <p:nvPr/>
        </p:nvSpPr>
        <p:spPr>
          <a:xfrm>
            <a:off x="2137897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月額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3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万円～</a:t>
            </a:r>
            <a:endParaRPr lang="en-US" altLang="ja-JP"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altLang="ja-JP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+</a:t>
            </a:r>
            <a:r>
              <a:rPr lang="ja-JP" altLang="en-US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設定地点追加</a:t>
            </a:r>
            <a:endParaRPr sz="1050" b="1" i="0" u="none" strike="noStrike" cap="none" dirty="0">
              <a:solidFill>
                <a:srgbClr val="FFFF0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cxnSp>
        <p:nvCxnSpPr>
          <p:cNvPr id="30" name="コネクタ: カギ線 29">
            <a:extLst>
              <a:ext uri="{FF2B5EF4-FFF2-40B4-BE49-F238E27FC236}">
                <a16:creationId xmlns:a16="http://schemas.microsoft.com/office/drawing/2014/main" id="{D9706AF3-2C8D-6646-76C8-7802A4F734FC}"/>
              </a:ext>
            </a:extLst>
          </p:cNvPr>
          <p:cNvCxnSpPr>
            <a:cxnSpLocks/>
          </p:cNvCxnSpPr>
          <p:nvPr/>
        </p:nvCxnSpPr>
        <p:spPr>
          <a:xfrm rot="16200000" flipH="1">
            <a:off x="3294819" y="3047336"/>
            <a:ext cx="430977" cy="4596748"/>
          </a:xfrm>
          <a:prstGeom prst="bentConnector2">
            <a:avLst/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7C92C6B-4F06-7ED3-0627-D0C168299913}"/>
              </a:ext>
            </a:extLst>
          </p:cNvPr>
          <p:cNvSpPr txBox="1"/>
          <p:nvPr/>
        </p:nvSpPr>
        <p:spPr>
          <a:xfrm>
            <a:off x="115187" y="5639542"/>
            <a:ext cx="5785781" cy="461665"/>
          </a:xfrm>
          <a:prstGeom prst="rect">
            <a:avLst/>
          </a:prstGeom>
          <a:solidFill>
            <a:schemeClr val="bg1">
              <a:alpha val="62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高開封率のLINEに誘導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して</a:t>
            </a:r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反響→実売上への引上げ率、リピート率改善。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</a:t>
            </a:r>
            <a:r>
              <a:rPr lang="ja-JP" altLang="ja-JP" sz="12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弊社運用の美容クリニック様では、予約後来院率にて40-50%程度の改善を実現</a:t>
            </a:r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。</a:t>
            </a:r>
            <a:endParaRPr lang="ja-JP" altLang="en-US" sz="12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144887</TotalTime>
  <Words>9949</Words>
  <Application>Microsoft Office PowerPoint</Application>
  <PresentationFormat>A4 210 x 297 mm</PresentationFormat>
  <Paragraphs>2141</Paragraphs>
  <Slides>62</Slides>
  <Notes>11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62</vt:i4>
      </vt:variant>
    </vt:vector>
  </HeadingPairs>
  <TitlesOfParts>
    <vt:vector size="69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1915</cp:revision>
  <cp:lastPrinted>2022-11-01T11:38:14Z</cp:lastPrinted>
  <dcterms:created xsi:type="dcterms:W3CDTF">2015-09-04T09:21:15Z</dcterms:created>
  <dcterms:modified xsi:type="dcterms:W3CDTF">2026-10-16T05:39:16Z</dcterms:modified>
</cp:coreProperties>
</file>