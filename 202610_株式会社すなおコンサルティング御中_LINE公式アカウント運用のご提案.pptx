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  <p:sldMasterId id="2147483687" r:id="rId2"/>
  </p:sldMasterIdLst>
  <p:notesMasterIdLst>
    <p:notesMasterId r:id="rId65"/>
  </p:notesMasterIdLst>
  <p:handoutMasterIdLst>
    <p:handoutMasterId r:id="rId66"/>
  </p:handoutMasterIdLst>
  <p:sldIdLst>
    <p:sldId id="2363" r:id="rId3"/>
    <p:sldId id="2971" r:id="rId71"/>
    <p:sldId id="2972" r:id="rId72"/>
    <p:sldId id="2973" r:id="rId73"/>
    <p:sldId id="2974" r:id="rId74"/>
    <p:sldId id="2975" r:id="rId75"/>
    <p:sldId id="2976" r:id="rId76"/>
    <p:sldId id="2977" r:id="rId77"/>
    <p:sldId id="2978" r:id="rId78"/>
    <p:sldId id="2979" r:id="rId79"/>
    <p:sldId id="2980" r:id="rId80"/>
    <p:sldId id="2981" r:id="rId81"/>
    <p:sldId id="2982" r:id="rId82"/>
    <p:sldId id="612" r:id="rId64"/>
  </p:sldIdLst>
  <p:sldSz cx="9906000" cy="6858000" type="A4"/>
  <p:notesSz cx="6807200" cy="993933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58" userDrawn="1">
          <p15:clr>
            <a:srgbClr val="A4A3A4"/>
          </p15:clr>
        </p15:guide>
        <p15:guide id="2" pos="30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DFDFD"/>
    <a:srgbClr val="173559"/>
    <a:srgbClr val="04FA0A"/>
    <a:srgbClr val="2080FF"/>
    <a:srgbClr val="1D8DFF"/>
    <a:srgbClr val="515457"/>
    <a:srgbClr val="F6A454"/>
    <a:srgbClr val="EAEEF4"/>
    <a:srgbClr val="2D6CB9"/>
    <a:srgbClr val="D1D9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B301B821-A1FF-4177-AEE7-76D212191A09}" styleName="中間スタイル 1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淡色スタイル 2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157" autoAdjust="0"/>
    <p:restoredTop sz="94424" autoAdjust="0"/>
  </p:normalViewPr>
  <p:slideViewPr>
    <p:cSldViewPr snapToGrid="0">
      <p:cViewPr varScale="1">
        <p:scale>
          <a:sx n="110" d="100"/>
          <a:sy n="110" d="100"/>
        </p:scale>
        <p:origin x="1236" y="102"/>
      </p:cViewPr>
      <p:guideLst>
        <p:guide orient="horz" pos="3158"/>
        <p:guide pos="30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072"/>
    </p:cViewPr>
  </p:sorterViewPr>
  <p:notesViewPr>
    <p:cSldViewPr snapToGrid="0">
      <p:cViewPr varScale="1">
        <p:scale>
          <a:sx n="79" d="100"/>
          <a:sy n="79" d="100"/>
        </p:scale>
        <p:origin x="4014" y="102"/>
      </p:cViewPr>
      <p:guideLst/>
    </p:cSldViewPr>
  </p:notesViewPr>
  <p:gridSpacing cx="1080001" cy="1080001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64" Type="http://schemas.openxmlformats.org/officeDocument/2006/relationships/slide" Target="slides/slide62.xml"/><Relationship Id="rId65" Type="http://schemas.openxmlformats.org/officeDocument/2006/relationships/notesMaster" Target="notesMasters/notesMaster1.xml"/><Relationship Id="rId66" Type="http://schemas.openxmlformats.org/officeDocument/2006/relationships/handoutMaster" Target="handoutMasters/handoutMaster1.xml"/><Relationship Id="rId67" Type="http://schemas.openxmlformats.org/officeDocument/2006/relationships/presProps" Target="presProps.xml"/><Relationship Id="rId68" Type="http://schemas.openxmlformats.org/officeDocument/2006/relationships/viewProps" Target="viewProps.xml"/><Relationship Id="rId69" Type="http://schemas.openxmlformats.org/officeDocument/2006/relationships/theme" Target="theme/theme1.xml"/><Relationship Id="rId70" Type="http://schemas.openxmlformats.org/officeDocument/2006/relationships/tableStyles" Target="tableStyles.xml"/><Relationship Id="rId71" Type="http://schemas.openxmlformats.org/officeDocument/2006/relationships/slide" Target="slides/slide63.xml"/><Relationship Id="rId72" Type="http://schemas.openxmlformats.org/officeDocument/2006/relationships/slide" Target="slides/slide64.xml"/><Relationship Id="rId73" Type="http://schemas.openxmlformats.org/officeDocument/2006/relationships/slide" Target="slides/slide65.xml"/><Relationship Id="rId74" Type="http://schemas.openxmlformats.org/officeDocument/2006/relationships/slide" Target="slides/slide66.xml"/><Relationship Id="rId75" Type="http://schemas.openxmlformats.org/officeDocument/2006/relationships/slide" Target="slides/slide67.xml"/><Relationship Id="rId76" Type="http://schemas.openxmlformats.org/officeDocument/2006/relationships/slide" Target="slides/slide68.xml"/><Relationship Id="rId77" Type="http://schemas.openxmlformats.org/officeDocument/2006/relationships/slide" Target="slides/slide69.xml"/><Relationship Id="rId78" Type="http://schemas.openxmlformats.org/officeDocument/2006/relationships/slide" Target="slides/slide70.xml"/><Relationship Id="rId79" Type="http://schemas.openxmlformats.org/officeDocument/2006/relationships/slide" Target="slides/slide71.xml"/><Relationship Id="rId80" Type="http://schemas.openxmlformats.org/officeDocument/2006/relationships/slide" Target="slides/slide72.xml"/><Relationship Id="rId81" Type="http://schemas.openxmlformats.org/officeDocument/2006/relationships/slide" Target="slides/slide73.xml"/><Relationship Id="rId82" Type="http://schemas.openxmlformats.org/officeDocument/2006/relationships/slide" Target="slides/slide74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5621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r">
              <a:defRPr sz="1200"/>
            </a:lvl1pPr>
          </a:lstStyle>
          <a:p>
            <a:fld id="{7B45B759-5475-4693-BFD4-53BF6401E4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95307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5082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r">
              <a:defRPr sz="1200"/>
            </a:lvl1pPr>
          </a:lstStyle>
          <a:p>
            <a:fld id="{6AF8158D-F6B1-45E0-9831-E70689DC8490}" type="datetimeFigureOut">
              <a:rPr kumimoji="1" lang="ja-JP" altLang="en-US" smtClean="0"/>
              <a:t>2026/10/16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3013"/>
            <a:ext cx="4845050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529" tIns="45765" rIns="91529" bIns="45765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0402" y="4782901"/>
            <a:ext cx="5446396" cy="3913426"/>
          </a:xfrm>
          <a:prstGeom prst="rect">
            <a:avLst/>
          </a:prstGeom>
        </p:spPr>
        <p:txBody>
          <a:bodyPr vert="horz" lIns="91529" tIns="45765" rIns="91529" bIns="45765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5082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r">
              <a:defRPr sz="1200"/>
            </a:lvl1pPr>
          </a:lstStyle>
          <a:p>
            <a:fld id="{022E43C0-6795-4B13-B37C-259C826D4B6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40918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endParaRPr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929202D6-C1F5-472A-A72F-285F233F82C2}" type="slidenum">
              <a:rPr lang="ja-JP" altLang="en-US" smtClean="0"/>
              <a:pPr>
                <a:defRPr/>
              </a:pPr>
              <a:t>62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671872274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/>
          <p:cNvSpPr/>
          <p:nvPr userDrawn="1"/>
        </p:nvSpPr>
        <p:spPr>
          <a:xfrm>
            <a:off x="9398000" y="6591300"/>
            <a:ext cx="419100" cy="26670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8107768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コネクタ 4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191F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正方形/長方形 6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8189266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521234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image" Target="../media/image1.png"/><Relationship Id="rId6" Type="http://schemas.openxmlformats.org/officeDocument/2006/relationships/image" Target="../media/image2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3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1357" y="72255"/>
            <a:ext cx="1598627" cy="424153"/>
          </a:xfrm>
          <a:prstGeom prst="rect">
            <a:avLst/>
          </a:prstGeom>
        </p:spPr>
      </p:pic>
      <p:pic>
        <p:nvPicPr>
          <p:cNvPr id="5" name="図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1355" y="32333"/>
            <a:ext cx="1653069" cy="635796"/>
          </a:xfrm>
          <a:prstGeom prst="rect">
            <a:avLst/>
          </a:prstGeom>
        </p:spPr>
      </p:pic>
      <p:sp>
        <p:nvSpPr>
          <p:cNvPr id="6" name="正方形/長方形 5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  <p:sp>
        <p:nvSpPr>
          <p:cNvPr id="8" name="スライド番号プレースホルダ 1"/>
          <p:cNvSpPr txBox="1">
            <a:spLocks/>
          </p:cNvSpPr>
          <p:nvPr/>
        </p:nvSpPr>
        <p:spPr>
          <a:xfrm>
            <a:off x="7594600" y="6552729"/>
            <a:ext cx="2311400" cy="365125"/>
          </a:xfrm>
          <a:prstGeom prst="rect">
            <a:avLst/>
          </a:prstGeom>
        </p:spPr>
        <p:txBody>
          <a:bodyPr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b="1" smtClean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pPr algn="r"/>
              <a:t>‹#›</a:t>
            </a:fld>
            <a:endParaRPr lang="ja-JP" altLang="en-US" sz="14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9" name="テキスト ボックス 8"/>
          <p:cNvSpPr txBox="1">
            <a:spLocks noChangeArrowheads="1"/>
          </p:cNvSpPr>
          <p:nvPr userDrawn="1"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Copyright(c) DYM Co., Ltd</a:t>
            </a:r>
            <a:r>
              <a:rPr lang="ja-JP" altLang="en-US" sz="800" b="1" dirty="0" err="1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．</a:t>
            </a: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458703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83" r:id="rId2"/>
    <p:sldLayoutId id="2147483689" r:id="rId3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sp>
        <p:nvSpPr>
          <p:cNvPr id="10" name="テキスト ボックス 9"/>
          <p:cNvSpPr txBox="1">
            <a:spLocks noChangeArrowheads="1"/>
          </p:cNvSpPr>
          <p:nvPr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Copyright(c) DYM Co., </a:t>
            </a:r>
            <a:r>
              <a:rPr lang="en-US" altLang="ja-JP" sz="800" b="1" dirty="0" err="1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Ltd.All</a:t>
            </a: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 Rights Reserved.</a:t>
            </a:r>
          </a:p>
        </p:txBody>
      </p:sp>
      <p:sp>
        <p:nvSpPr>
          <p:cNvPr id="8" name="正方形/長方形 7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cxnSp>
        <p:nvCxnSpPr>
          <p:cNvPr id="4" name="直線コネクタ 3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0032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図 1"/>
          <p:cNvPicPr>
            <a:picLocks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647" r="-11171"/>
          <a:stretch/>
        </p:blipFill>
        <p:spPr bwMode="auto"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スライド番号プレースホルダ 1"/>
          <p:cNvSpPr txBox="1">
            <a:spLocks/>
          </p:cNvSpPr>
          <p:nvPr userDrawn="1"/>
        </p:nvSpPr>
        <p:spPr>
          <a:xfrm>
            <a:off x="7545288" y="6571255"/>
            <a:ext cx="2133600" cy="216000"/>
          </a:xfrm>
          <a:prstGeom prst="rect">
            <a:avLst/>
          </a:prstGeom>
        </p:spPr>
        <p:txBody>
          <a:bodyPr tIns="25200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i="1" smtClean="0">
                <a:solidFill>
                  <a:prstClr val="white"/>
                </a:solidFill>
                <a:latin typeface="Century Gothic" panose="020B0502020202020204" pitchFamily="34" charset="0"/>
              </a:rPr>
              <a:pPr algn="r"/>
              <a:t>‹#›</a:t>
            </a:fld>
            <a:endParaRPr lang="ja-JP" altLang="en-US" sz="1400" i="1" dirty="0">
              <a:solidFill>
                <a:prstClr val="white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1138245"/>
      </p:ext>
    </p:extLst>
  </p:cSld>
  <p:clrMap bg1="lt1" tx1="dk1" bg2="lt2" tx2="dk2" accent1="accent1" accent2="accent2" accent3="accent3" accent4="accent4" accent5="accent5" accent6="accent6" hlink="hlink" folHlink="folHlink"/>
  <p:hf hdr="0" dt="0"/>
  <p:txStyles>
    <p:titleStyle>
      <a:lvl1pPr algn="ctr" defTabSz="457200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ＭＳ Ｐゴシック" charset="0"/>
        </a:defRPr>
      </a:lvl1pPr>
      <a:lvl2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2pPr>
      <a:lvl3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3pPr>
      <a:lvl4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4pPr>
      <a:lvl5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5pPr>
      <a:lvl6pPr marL="4572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6pPr>
      <a:lvl7pPr marL="9144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7pPr>
      <a:lvl8pPr marL="13716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8pPr>
      <a:lvl9pPr marL="18288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ＭＳ Ｐゴシック" charset="0"/>
        </a:defRPr>
      </a:lvl1pPr>
      <a:lvl2pPr marL="742950" indent="-28575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emf"/><Relationship Id="rId4" Type="http://schemas.openxmlformats.org/officeDocument/2006/relationships/image" Target="../media/image92.jpeg"/><Relationship Id="rId5" Type="http://schemas.openxmlformats.org/officeDocument/2006/relationships/image" Target="../media/image93.jpeg"/><Relationship Id="rId6" Type="http://schemas.openxmlformats.org/officeDocument/2006/relationships/image" Target="../media/image94.jpeg"/><Relationship Id="rId7" Type="http://schemas.openxmlformats.org/officeDocument/2006/relationships/image" Target="../media/image95.jpeg"/><Relationship Id="rId8" Type="http://schemas.openxmlformats.org/officeDocument/2006/relationships/image" Target="../media/image96.jpe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69A0322D-BA5F-9122-1E12-FB7AC2AF15A5}"/>
              </a:ext>
            </a:extLst>
          </p:cNvPr>
          <p:cNvSpPr/>
          <p:nvPr/>
        </p:nvSpPr>
        <p:spPr>
          <a:xfrm>
            <a:off x="1665887" y="3038203"/>
            <a:ext cx="657423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ja-IS" sz="3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t>LINE</a:t>
            </a:r>
            <a:r>
              <a:rPr lang="ja-JP" altLang="en-US" sz="3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t>公式アカウント運用のご提案</a:t>
            </a:r>
            <a:endParaRPr lang="en-US" altLang="ja-IS" sz="3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3CC59398-53B4-E01E-A60C-6C13628FCBFB}"/>
              </a:ext>
            </a:extLst>
          </p:cNvPr>
          <p:cNvSpPr/>
          <p:nvPr/>
        </p:nvSpPr>
        <p:spPr>
          <a:xfrm>
            <a:off x="1335024" y="2011680"/>
            <a:ext cx="7232904" cy="9144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ja-JP" altLang="en-US" sz="16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34" charset="-128"/>
                <a:ea typeface="メイリオ" panose="020B0604030504040204" pitchFamily="34" charset="-128"/>
                <a:cs typeface="メイリオ"/>
              </a:rPr>
              <a:t>広告で集めた方をLINEでナーチャリングをし、</a:t>
            </a:r>
          </a:p>
          <a:p>
            <a:pPr algn="ctr"/>
            <a:r>
              <a:rPr lang="ja-JP" altLang="en-US" sz="16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34" charset="-128"/>
                <a:ea typeface="メイリオ" panose="020B0604030504040204" pitchFamily="34" charset="-128"/>
                <a:cs typeface="メイリオ"/>
              </a:rPr>
              <a:t>セミナー参加・入会へ</a:t>
            </a:r>
          </a:p>
        </p:txBody>
      </p:sp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B532C1C8-7FE6-8830-B27C-27941421F5F9}"/>
              </a:ext>
            </a:extLst>
          </p:cNvPr>
          <p:cNvCxnSpPr>
            <a:cxnSpLocks/>
          </p:cNvCxnSpPr>
          <p:nvPr/>
        </p:nvCxnSpPr>
        <p:spPr>
          <a:xfrm>
            <a:off x="1337175" y="3705064"/>
            <a:ext cx="7231660" cy="0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図 8" descr="背景パターン&#10;&#10;AI 生成コンテンツは誤りを含む可能性があります。">
            <a:extLst>
              <a:ext uri="{FF2B5EF4-FFF2-40B4-BE49-F238E27FC236}">
                <a16:creationId xmlns:a16="http://schemas.microsoft.com/office/drawing/2014/main" id="{FFE022E1-8FF6-B4B4-B955-17E7CFA964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0"/>
            <a:ext cx="8159931" cy="766354"/>
          </a:xfrm>
          <a:prstGeom prst="rect">
            <a:avLst/>
          </a:prstGeom>
        </p:spPr>
      </p:pic>
      <p:pic>
        <p:nvPicPr>
          <p:cNvPr id="10" name="図 9" descr="背景パターン&#10;&#10;AI 生成コンテンツは誤りを含む可能性があります。">
            <a:extLst>
              <a:ext uri="{FF2B5EF4-FFF2-40B4-BE49-F238E27FC236}">
                <a16:creationId xmlns:a16="http://schemas.microsoft.com/office/drawing/2014/main" id="{0F2999B3-5873-C495-70F5-12487911C6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494114"/>
            <a:ext cx="2042161" cy="272239"/>
          </a:xfrm>
          <a:prstGeom prst="rect">
            <a:avLst/>
          </a:prstGeom>
        </p:spPr>
      </p:pic>
      <p:sp>
        <p:nvSpPr>
          <p:cNvPr id="11" name="テキスト ボックス 6"/>
          <p:cNvSpPr/>
          <p:nvPr/>
        </p:nvSpPr>
        <p:spPr>
          <a:xfrm>
            <a:off x="291960" y="263520"/>
            <a:ext cx="496548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ja-JP" sz="1600" b="1" u="none" strike="noStrike">
                <a:solidFill>
                  <a:schemeClr val="dk1">
                    <a:lumMod val="50000"/>
                    <a:lumOff val="50000"/>
                  </a:schemeClr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株式会社すなおコンサルティング 御中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</p:spTree>
    <p:extLst>
      <p:ext uri="{BB962C8B-B14F-4D97-AF65-F5344CB8AC3E}">
        <p14:creationId xmlns:p14="http://schemas.microsoft.com/office/powerpoint/2010/main" val="3944598036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18"/>
          <p:cNvSpPr>
            <a:spLocks noChangeArrowheads="1"/>
          </p:cNvSpPr>
          <p:nvPr/>
        </p:nvSpPr>
        <p:spPr bwMode="auto">
          <a:xfrm>
            <a:off x="1649030" y="5820985"/>
            <a:ext cx="6192837" cy="3736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/>
          <a:p>
            <a:pPr lvl="1">
              <a:spcBef>
                <a:spcPct val="20000"/>
              </a:spcBef>
            </a:pPr>
            <a:r>
              <a:rPr lang="ja-JP" altLang="en-US" sz="831" b="1" dirty="0">
                <a:latin typeface="メイリオ"/>
                <a:ea typeface="メイリオ"/>
                <a:cs typeface="メイリオ"/>
              </a:rPr>
              <a:t>株式会社</a:t>
            </a:r>
            <a:r>
              <a:rPr lang="en-US" altLang="ja-JP" sz="831" b="1" dirty="0">
                <a:latin typeface="メイリオ"/>
                <a:ea typeface="メイリオ"/>
                <a:cs typeface="メイリオ"/>
              </a:rPr>
              <a:t>DYM</a:t>
            </a:r>
            <a:r>
              <a:rPr lang="ja-JP" altLang="en-US" sz="831" b="1" dirty="0">
                <a:latin typeface="メイリオ"/>
                <a:ea typeface="メイリオ"/>
                <a:cs typeface="メイリオ"/>
              </a:rPr>
              <a:t>　〒</a:t>
            </a:r>
            <a:r>
              <a:rPr lang="en-US" altLang="ja-JP" sz="831" b="1" dirty="0">
                <a:latin typeface="メイリオ"/>
                <a:ea typeface="メイリオ"/>
                <a:cs typeface="メイリオ"/>
              </a:rPr>
              <a:t>141-0032</a:t>
            </a:r>
            <a:r>
              <a:rPr lang="ja-JP" altLang="en-US" sz="831" b="1" dirty="0">
                <a:latin typeface="メイリオ"/>
                <a:ea typeface="メイリオ"/>
                <a:cs typeface="メイリオ"/>
              </a:rPr>
              <a:t>　東京都品川区大崎</a:t>
            </a:r>
            <a:r>
              <a:rPr lang="en-US" altLang="ja-JP" sz="831" b="1" dirty="0">
                <a:latin typeface="メイリオ"/>
                <a:ea typeface="メイリオ"/>
                <a:cs typeface="メイリオ"/>
              </a:rPr>
              <a:t>1-11-2</a:t>
            </a:r>
            <a:r>
              <a:rPr lang="ja-JP" altLang="en-US" sz="831" b="1" dirty="0">
                <a:latin typeface="メイリオ"/>
                <a:ea typeface="メイリオ"/>
                <a:cs typeface="メイリオ"/>
              </a:rPr>
              <a:t>　ゲートシティ大崎イーストタワー</a:t>
            </a:r>
            <a:r>
              <a:rPr lang="en-US" altLang="ja-JP" sz="831" b="1" dirty="0">
                <a:latin typeface="メイリオ"/>
                <a:ea typeface="メイリオ"/>
                <a:cs typeface="メイリオ"/>
              </a:rPr>
              <a:t>10</a:t>
            </a:r>
            <a:r>
              <a:rPr lang="ja-JP" altLang="en-US" sz="831" b="1" dirty="0">
                <a:latin typeface="メイリオ"/>
                <a:ea typeface="メイリオ"/>
                <a:cs typeface="メイリオ"/>
              </a:rPr>
              <a:t>階</a:t>
            </a:r>
            <a:endParaRPr lang="en-US" altLang="ja-JP" sz="831" b="1" dirty="0">
              <a:latin typeface="メイリオ"/>
              <a:ea typeface="メイリオ"/>
              <a:cs typeface="メイリオ"/>
            </a:endParaRPr>
          </a:p>
          <a:p>
            <a:pPr lvl="1">
              <a:spcBef>
                <a:spcPct val="20000"/>
              </a:spcBef>
            </a:pPr>
            <a:r>
              <a:rPr lang="en-US" altLang="ja-JP" sz="831" b="1" dirty="0">
                <a:latin typeface="メイリオ"/>
                <a:ea typeface="メイリオ"/>
                <a:cs typeface="メイリオ"/>
              </a:rPr>
              <a:t>TEL: 03-5745-0200</a:t>
            </a:r>
            <a:r>
              <a:rPr lang="ja-JP" altLang="en-US" sz="831" b="1" dirty="0">
                <a:latin typeface="メイリオ"/>
                <a:ea typeface="メイリオ"/>
                <a:cs typeface="メイリオ"/>
              </a:rPr>
              <a:t>　</a:t>
            </a:r>
            <a:r>
              <a:rPr lang="en-US" altLang="ja-JP" sz="831" b="1" dirty="0">
                <a:latin typeface="メイリオ"/>
                <a:ea typeface="メイリオ"/>
                <a:cs typeface="メイリオ"/>
              </a:rPr>
              <a:t>FAX: 03-3779-8720 </a:t>
            </a:r>
            <a:r>
              <a:rPr lang="ja-JP" altLang="en-US" sz="831" b="1" dirty="0">
                <a:latin typeface="メイリオ"/>
                <a:ea typeface="メイリオ"/>
                <a:cs typeface="メイリオ"/>
              </a:rPr>
              <a:t>　</a:t>
            </a:r>
            <a:r>
              <a:rPr lang="en-US" altLang="ja-JP" sz="831" b="1" dirty="0">
                <a:latin typeface="メイリオ"/>
                <a:ea typeface="メイリオ"/>
                <a:cs typeface="メイリオ"/>
              </a:rPr>
              <a:t>http://dym.asia   </a:t>
            </a:r>
            <a:r>
              <a:rPr lang="ja-JP" altLang="en-US" sz="831" b="1" dirty="0">
                <a:latin typeface="メイリオ"/>
                <a:ea typeface="メイリオ"/>
                <a:cs typeface="メイリオ"/>
              </a:rPr>
              <a:t>代表取締役　水谷佑毅</a:t>
            </a:r>
          </a:p>
        </p:txBody>
      </p:sp>
      <p:pic>
        <p:nvPicPr>
          <p:cNvPr id="24" name="図 1"/>
          <p:cNvPicPr>
            <a:picLocks noChangeAspect="1"/>
          </p:cNvPicPr>
          <p:nvPr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1647" r="-11171"/>
          <a:stretch/>
        </p:blipFill>
        <p:spPr bwMode="auto">
          <a:xfrm>
            <a:off x="543896" y="5888351"/>
            <a:ext cx="1100981" cy="2248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テキスト ボックス 2"/>
          <p:cNvSpPr txBox="1"/>
          <p:nvPr/>
        </p:nvSpPr>
        <p:spPr>
          <a:xfrm>
            <a:off x="5070231" y="5597769"/>
            <a:ext cx="184731" cy="2371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ja-JP" altLang="en-US" sz="941">
              <a:latin typeface="メイリオ"/>
              <a:ea typeface="メイリオ"/>
              <a:cs typeface="メイリオ"/>
            </a:endParaRPr>
          </a:p>
        </p:txBody>
      </p:sp>
      <p:sp>
        <p:nvSpPr>
          <p:cNvPr id="18" name="正方形/長方形 17"/>
          <p:cNvSpPr/>
          <p:nvPr/>
        </p:nvSpPr>
        <p:spPr>
          <a:xfrm>
            <a:off x="2170038" y="989685"/>
            <a:ext cx="5565924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spcBef>
                <a:spcPct val="20000"/>
              </a:spcBef>
            </a:pPr>
            <a:r>
              <a:rPr lang="ja-JP" altLang="en-US" sz="2000" b="1" dirty="0">
                <a:latin typeface="メイリオ" charset="0"/>
                <a:ea typeface="メイリオ" charset="0"/>
                <a:cs typeface="メイリオ" charset="0"/>
              </a:rPr>
              <a:t>貴社の明るい未来に必ず貢献いたします。</a:t>
            </a:r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73E0B742-FF70-F384-96EE-87A574CE828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1520" y="1988426"/>
            <a:ext cx="4274042" cy="2849361"/>
          </a:xfrm>
          <a:prstGeom prst="rect">
            <a:avLst/>
          </a:prstGeom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CBB7E89C-70F0-E399-7C21-45FBF93562E2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98076" y="1988426"/>
            <a:ext cx="2326924" cy="1551282"/>
          </a:xfrm>
          <a:prstGeom prst="rect">
            <a:avLst/>
          </a:prstGeom>
        </p:spPr>
      </p:pic>
      <p:pic>
        <p:nvPicPr>
          <p:cNvPr id="6" name="図 5" descr="スーツを着た男性と文字&#10;&#10;低い精度で自動的に生成された説明">
            <a:extLst>
              <a:ext uri="{FF2B5EF4-FFF2-40B4-BE49-F238E27FC236}">
                <a16:creationId xmlns:a16="http://schemas.microsoft.com/office/drawing/2014/main" id="{DCA0A1E3-BE99-513C-E589-1E8C035070E8}"/>
              </a:ext>
            </a:extLst>
          </p:cNvPr>
          <p:cNvPicPr>
            <a:picLocks noChangeAspect="1"/>
          </p:cNvPicPr>
          <p:nvPr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512" r="10622" b="20845"/>
          <a:stretch/>
        </p:blipFill>
        <p:spPr>
          <a:xfrm>
            <a:off x="7413236" y="3287967"/>
            <a:ext cx="2111765" cy="1551282"/>
          </a:xfrm>
          <a:prstGeom prst="rect">
            <a:avLst/>
          </a:prstGeom>
        </p:spPr>
      </p:pic>
      <p:pic>
        <p:nvPicPr>
          <p:cNvPr id="17" name="図 16" descr="白い壁の前に立っている子供たち&#10;&#10;AI によって生成されたコンテンツは間違っている可能性があります。">
            <a:extLst>
              <a:ext uri="{FF2B5EF4-FFF2-40B4-BE49-F238E27FC236}">
                <a16:creationId xmlns:a16="http://schemas.microsoft.com/office/drawing/2014/main" id="{3F5A2749-D4AC-2F37-FC68-2734BC439C61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44097" y="1988426"/>
            <a:ext cx="2615823" cy="1471836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30C14A8F-514C-87B6-098E-D307672976B0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43655" y="3286280"/>
            <a:ext cx="2769580" cy="15546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4123847"/>
      </p:ext>
    </p:extLst>
  </p:cSld>
  <p:clrMapOvr>
    <a:masterClrMapping/>
  </p:clrMapOvr>
  <p:transition spd="slow"/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oogle Shape;752;p28"/>
          <p:cNvSpPr txBox="1"/>
          <p:nvPr/>
        </p:nvSpPr>
        <p:spPr>
          <a:xfrm>
            <a:off x="548883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サマリー</a:t>
            </a:r>
          </a:p>
        </p:txBody>
      </p:sp>
      <p:sp>
        <p:nvSpPr>
          <p:cNvPr id="3" name="正方形/長方形 8"/>
          <p:cNvSpPr/>
          <p:nvPr/>
        </p:nvSpPr>
        <p:spPr>
          <a:xfrm>
            <a:off x="0" y="777240"/>
            <a:ext cx="1801368" cy="5029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提案の要旨</a:t>
            </a:r>
          </a:p>
        </p:txBody>
      </p:sp>
      <p:sp>
        <p:nvSpPr>
          <p:cNvPr id="4" name="Google Shape;752;p28"/>
          <p:cNvSpPr txBox="1"/>
          <p:nvPr/>
        </p:nvSpPr>
        <p:spPr>
          <a:xfrm>
            <a:off x="1984248" y="740664"/>
            <a:ext cx="7708392" cy="5852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広告で集めた方をLINEにため、</a:t>
            </a:r>
            <a:endParaRPr lang="en-US" altLang="ja-JP" sz="16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  <a:sym typeface="Meiryo"/>
            </a:endParaRPr>
          </a:p>
          <a:p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次のイベント参加数・入会数を伸ばし、LTVを最大化する</a:t>
            </a:r>
            <a:endParaRPr lang="en-US" altLang="ja-JP" sz="16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  <a:sym typeface="Meiryo"/>
            </a:endParaRPr>
          </a:p>
        </p:txBody>
      </p:sp>
      <p:sp>
        <p:nvSpPr>
          <p:cNvPr id="5" name="小見出し"/>
          <p:cNvSpPr/>
          <p:nvPr/>
        </p:nvSpPr>
        <p:spPr>
          <a:xfrm>
            <a:off x="502920" y="1508760"/>
            <a:ext cx="36576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ja-JP" altLang="en-US" sz="13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構築する仕組み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6" name="流れ1"/>
          <p:cNvSpPr/>
          <p:nvPr/>
        </p:nvSpPr>
        <p:spPr>
          <a:xfrm>
            <a:off x="502920" y="1874519"/>
            <a:ext cx="1991106" cy="1188720"/>
          </a:xfrm>
          <a:prstGeom prst="rect">
            <a:avLst/>
          </a:prstGeom>
          <a:solidFill>
            <a:srgbClr val="DCE6F2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6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広告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7" name="矢印"/>
          <p:cNvSpPr/>
          <p:nvPr/>
        </p:nvSpPr>
        <p:spPr>
          <a:xfrm>
            <a:off x="2494026" y="1874519"/>
            <a:ext cx="310896" cy="11887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▶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流れ2"/>
          <p:cNvSpPr/>
          <p:nvPr/>
        </p:nvSpPr>
        <p:spPr>
          <a:xfrm>
            <a:off x="2804922" y="1874519"/>
            <a:ext cx="1991106" cy="1188720"/>
          </a:xfrm>
          <a:prstGeom prst="rect">
            <a:avLst/>
          </a:prstGeom>
          <a:solidFill>
            <a:srgbClr val="DCE6F2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6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イベント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  <a:p>
            <a:pPr algn="ctr">
              <a:lnSpc>
                <a:spcPct val="115000"/>
              </a:lnSpc>
              <a:buNone/>
            </a:pPr>
            <a:r>
              <a:rPr lang="ja-JP" altLang="en-US" sz="16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＋LINEにたまる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9" name="矢印"/>
          <p:cNvSpPr/>
          <p:nvPr/>
        </p:nvSpPr>
        <p:spPr>
          <a:xfrm>
            <a:off x="4796028" y="1874519"/>
            <a:ext cx="310896" cy="11887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▶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0" name="流れ3"/>
          <p:cNvSpPr/>
          <p:nvPr/>
        </p:nvSpPr>
        <p:spPr>
          <a:xfrm>
            <a:off x="5106924" y="1874519"/>
            <a:ext cx="1991106" cy="1188720"/>
          </a:xfrm>
          <a:prstGeom prst="rect">
            <a:avLst/>
          </a:prstGeom>
          <a:solidFill>
            <a:srgbClr val="DCE6F2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6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ナーチャリング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1" name="矢印"/>
          <p:cNvSpPr/>
          <p:nvPr/>
        </p:nvSpPr>
        <p:spPr>
          <a:xfrm>
            <a:off x="7098030" y="1874519"/>
            <a:ext cx="310896" cy="11887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▶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2" name="流れ4"/>
          <p:cNvSpPr/>
          <p:nvPr/>
        </p:nvSpPr>
        <p:spPr>
          <a:xfrm>
            <a:off x="7408926" y="1874519"/>
            <a:ext cx="1991106" cy="11887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6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次のイベント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  <a:p>
            <a:pPr algn="ctr">
              <a:lnSpc>
                <a:spcPct val="115000"/>
              </a:lnSpc>
              <a:buNone/>
            </a:pPr>
            <a:r>
              <a:rPr lang="ja-JP" altLang="en-US" sz="16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・入会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3" name="見出し 現状と課題"/>
          <p:cNvSpPr/>
          <p:nvPr/>
        </p:nvSpPr>
        <p:spPr>
          <a:xfrm>
            <a:off x="502920" y="3474720"/>
            <a:ext cx="2782824" cy="4114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4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現状と課題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4" name="補足1"/>
          <p:cNvSpPr/>
          <p:nvPr/>
        </p:nvSpPr>
        <p:spPr>
          <a:xfrm>
            <a:off x="502920" y="3886200"/>
            <a:ext cx="2782824" cy="20116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137160" tIns="91440" rIns="109728" bIns="91440" rtlCol="0" anchor="ctr">
            <a:noAutofit/>
          </a:bodyPr>
          <a:lstStyle/>
          <a:p>
            <a:pPr algn="l">
              <a:lnSpc>
                <a:spcPct val="140000"/>
              </a:lnSpc>
              <a:buNone/>
            </a:pPr>
            <a:r>
              <a:rPr lang="ja-JP" altLang="en-US" sz="15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申し込まずに離れた方・入会していない方を、次のイベントまで追う場所が無い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5" name="見出し 施策"/>
          <p:cNvSpPr/>
          <p:nvPr/>
        </p:nvSpPr>
        <p:spPr>
          <a:xfrm>
            <a:off x="3560064" y="3474720"/>
            <a:ext cx="2782824" cy="4114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4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施策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6" name="補足2"/>
          <p:cNvSpPr/>
          <p:nvPr/>
        </p:nvSpPr>
        <p:spPr>
          <a:xfrm>
            <a:off x="3560064" y="3886200"/>
            <a:ext cx="2782824" cy="20116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137160" tIns="91440" rIns="109728" bIns="91440" rtlCol="0" anchor="ctr">
            <a:noAutofit/>
          </a:bodyPr>
          <a:lstStyle/>
          <a:p>
            <a:pPr algn="l">
              <a:lnSpc>
                <a:spcPct val="140000"/>
              </a:lnSpc>
              <a:buNone/>
            </a:pPr>
            <a:r>
              <a:rPr lang="ja-JP" altLang="en-US" sz="15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ポップアップツールとサンクスLINE誘導で友だちにし、興味あり・予約・参加の段階ごとに配信する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7" name="見出し 目標と費用"/>
          <p:cNvSpPr/>
          <p:nvPr/>
        </p:nvSpPr>
        <p:spPr>
          <a:xfrm>
            <a:off x="6617208" y="3474720"/>
            <a:ext cx="2782824" cy="4114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4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目標と費用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8" name="補足3"/>
          <p:cNvSpPr/>
          <p:nvPr/>
        </p:nvSpPr>
        <p:spPr>
          <a:xfrm>
            <a:off x="6617208" y="3886200"/>
            <a:ext cx="2782824" cy="20116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137160" tIns="91440" rIns="109728" bIns="91440" rtlCol="0" anchor="ctr">
            <a:noAutofit/>
          </a:bodyPr>
          <a:lstStyle/>
          <a:p>
            <a:pPr algn="l">
              <a:lnSpc>
                <a:spcPct val="140000"/>
              </a:lnSpc>
              <a:buNone/>
            </a:pPr>
            <a:r>
              <a:rPr lang="ja-JP" altLang="en-US" sz="15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追える人数を増やし・減らさず、入会へ。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40000"/>
              </a:lnSpc>
              <a:buNone/>
            </a:pPr>
            <a:r>
              <a:rPr lang="ja-JP" altLang="en-US" sz="15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費用は、3つのプランから選択可能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oogle Shape;752;p28"/>
          <p:cNvSpPr txBox="1"/>
          <p:nvPr/>
        </p:nvSpPr>
        <p:spPr>
          <a:xfrm>
            <a:off x="548883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現状と課題</a:t>
            </a:r>
          </a:p>
        </p:txBody>
      </p:sp>
      <p:sp>
        <p:nvSpPr>
          <p:cNvPr id="3" name="正方形/長方形 8"/>
          <p:cNvSpPr/>
          <p:nvPr/>
        </p:nvSpPr>
        <p:spPr>
          <a:xfrm>
            <a:off x="0" y="777240"/>
            <a:ext cx="1801368" cy="5029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現状</a:t>
            </a:r>
          </a:p>
        </p:txBody>
      </p:sp>
      <p:sp>
        <p:nvSpPr>
          <p:cNvPr id="4" name="Google Shape;752;p28"/>
          <p:cNvSpPr txBox="1"/>
          <p:nvPr/>
        </p:nvSpPr>
        <p:spPr>
          <a:xfrm>
            <a:off x="1984248" y="859536"/>
            <a:ext cx="7708392" cy="338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イベントの後、離れた方・未入会の方とのつながりが切れる</a:t>
            </a:r>
            <a:endParaRPr lang="en-US" altLang="ja-JP" sz="16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  <a:sym typeface="Meiryo"/>
            </a:endParaRPr>
          </a:p>
        </p:txBody>
      </p:sp>
      <p:sp>
        <p:nvSpPr>
          <p:cNvPr id="5" name="流れ1"/>
          <p:cNvSpPr/>
          <p:nvPr/>
        </p:nvSpPr>
        <p:spPr>
          <a:xfrm>
            <a:off x="502920" y="1691640"/>
            <a:ext cx="1530705" cy="914400"/>
          </a:xfrm>
          <a:prstGeom prst="rect">
            <a:avLst/>
          </a:prstGeom>
          <a:solidFill>
            <a:srgbClr val="DCE6F2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5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広告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6" name="矢印"/>
          <p:cNvSpPr/>
          <p:nvPr/>
        </p:nvSpPr>
        <p:spPr>
          <a:xfrm>
            <a:off x="2033625" y="1691640"/>
            <a:ext cx="310896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▶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7" name="流れ2"/>
          <p:cNvSpPr/>
          <p:nvPr/>
        </p:nvSpPr>
        <p:spPr>
          <a:xfrm>
            <a:off x="2344521" y="1691640"/>
            <a:ext cx="1530705" cy="914400"/>
          </a:xfrm>
          <a:prstGeom prst="rect">
            <a:avLst/>
          </a:prstGeom>
          <a:solidFill>
            <a:srgbClr val="DCE6F2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5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LP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矢印"/>
          <p:cNvSpPr/>
          <p:nvPr/>
        </p:nvSpPr>
        <p:spPr>
          <a:xfrm>
            <a:off x="3875227" y="1691640"/>
            <a:ext cx="310896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▶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9" name="流れ3"/>
          <p:cNvSpPr/>
          <p:nvPr/>
        </p:nvSpPr>
        <p:spPr>
          <a:xfrm>
            <a:off x="4186123" y="1691640"/>
            <a:ext cx="1530705" cy="914400"/>
          </a:xfrm>
          <a:prstGeom prst="rect">
            <a:avLst/>
          </a:prstGeom>
          <a:solidFill>
            <a:srgbClr val="DCE6F2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5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予約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0" name="矢印"/>
          <p:cNvSpPr/>
          <p:nvPr/>
        </p:nvSpPr>
        <p:spPr>
          <a:xfrm>
            <a:off x="5716828" y="1691640"/>
            <a:ext cx="310896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▶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1" name="流れ4"/>
          <p:cNvSpPr/>
          <p:nvPr/>
        </p:nvSpPr>
        <p:spPr>
          <a:xfrm>
            <a:off x="6027724" y="1691640"/>
            <a:ext cx="1530705" cy="914400"/>
          </a:xfrm>
          <a:prstGeom prst="rect">
            <a:avLst/>
          </a:prstGeom>
          <a:solidFill>
            <a:srgbClr val="DCE6F2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5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イベント参加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2" name="矢印"/>
          <p:cNvSpPr/>
          <p:nvPr/>
        </p:nvSpPr>
        <p:spPr>
          <a:xfrm>
            <a:off x="7558430" y="1691640"/>
            <a:ext cx="310896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▶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3" name="流れ5"/>
          <p:cNvSpPr/>
          <p:nvPr/>
        </p:nvSpPr>
        <p:spPr>
          <a:xfrm>
            <a:off x="7869326" y="1691640"/>
            <a:ext cx="1530705" cy="9144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5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サロン入会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4" name="矢印下"/>
          <p:cNvSpPr/>
          <p:nvPr/>
        </p:nvSpPr>
        <p:spPr>
          <a:xfrm>
            <a:off x="2926994" y="2651760"/>
            <a:ext cx="36576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300" b="0" dirty="0">
                <a:solidFill>
                  <a:srgbClr val="C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▼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5" name="切れる1"/>
          <p:cNvSpPr/>
          <p:nvPr/>
        </p:nvSpPr>
        <p:spPr>
          <a:xfrm>
            <a:off x="1463954" y="2971800"/>
            <a:ext cx="3291840" cy="1371600"/>
          </a:xfrm>
          <a:prstGeom prst="rect">
            <a:avLst/>
          </a:prstGeom>
          <a:noFill/>
          <a:ln w="9525">
            <a:solidFill>
              <a:srgbClr val="C00000"/>
            </a:solidFill>
          </a:ln>
        </p:spPr>
        <p:txBody>
          <a:bodyPr wrap="square" lIns="91440" tIns="54864" rIns="91440" bIns="54864" rtlCol="0" anchor="ctr">
            <a:noAutofit/>
          </a:bodyPr>
          <a:lstStyle/>
          <a:p>
            <a:pPr algn="ctr">
              <a:lnSpc>
                <a:spcPct val="130000"/>
              </a:lnSpc>
              <a:buNone/>
            </a:pPr>
            <a:r>
              <a:rPr lang="ja-JP" altLang="en-US" sz="1500" b="1" dirty="0">
                <a:solidFill>
                  <a:srgbClr val="C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申し込まずに離れた方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  <a:p>
            <a:pPr algn="ctr">
              <a:lnSpc>
                <a:spcPct val="130000"/>
              </a:lnSpc>
              <a:buNone/>
            </a:pPr>
            <a:r>
              <a:rPr lang="ja-JP" altLang="en-US" sz="14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次のイベントまで案内する手段が無い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6" name="矢印下"/>
          <p:cNvSpPr/>
          <p:nvPr/>
        </p:nvSpPr>
        <p:spPr>
          <a:xfrm>
            <a:off x="6610197" y="2651760"/>
            <a:ext cx="36576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300" b="0" dirty="0">
                <a:solidFill>
                  <a:srgbClr val="C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▼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7" name="切れる3"/>
          <p:cNvSpPr/>
          <p:nvPr/>
        </p:nvSpPr>
        <p:spPr>
          <a:xfrm>
            <a:off x="5147157" y="2971800"/>
            <a:ext cx="3291840" cy="1371600"/>
          </a:xfrm>
          <a:prstGeom prst="rect">
            <a:avLst/>
          </a:prstGeom>
          <a:noFill/>
          <a:ln w="9525">
            <a:solidFill>
              <a:srgbClr val="C00000"/>
            </a:solidFill>
          </a:ln>
        </p:spPr>
        <p:txBody>
          <a:bodyPr wrap="square" lIns="91440" tIns="54864" rIns="91440" bIns="54864" rtlCol="0" anchor="ctr">
            <a:noAutofit/>
          </a:bodyPr>
          <a:lstStyle/>
          <a:p>
            <a:pPr algn="ctr">
              <a:lnSpc>
                <a:spcPct val="130000"/>
              </a:lnSpc>
              <a:buNone/>
            </a:pPr>
            <a:r>
              <a:rPr lang="ja-JP" altLang="en-US" sz="1500" b="1" dirty="0">
                <a:solidFill>
                  <a:srgbClr val="C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参加して入会していない方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  <a:p>
            <a:pPr algn="ctr">
              <a:lnSpc>
                <a:spcPct val="130000"/>
              </a:lnSpc>
              <a:buNone/>
            </a:pPr>
            <a:r>
              <a:rPr lang="ja-JP" altLang="en-US" sz="14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入会まで案内を続ける手段が無い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8" name="示唆"/>
          <p:cNvSpPr/>
          <p:nvPr/>
        </p:nvSpPr>
        <p:spPr>
          <a:xfrm>
            <a:off x="502920" y="4846320"/>
            <a:ext cx="8897112" cy="7772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6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集めた方を、次のイベントの集客に</a:t>
            </a:r>
            <a:r>
              <a:rPr lang="ja-JP" altLang="en-US" sz="1600" b="1" dirty="0">
                <a:solidFill>
                  <a:srgbClr val="C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活かしきれていない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oogle Shape;752;p28"/>
          <p:cNvSpPr txBox="1"/>
          <p:nvPr/>
        </p:nvSpPr>
        <p:spPr>
          <a:xfrm>
            <a:off x="548883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本質課題</a:t>
            </a:r>
          </a:p>
        </p:txBody>
      </p:sp>
      <p:sp>
        <p:nvSpPr>
          <p:cNvPr id="3" name="正方形/長方形 8"/>
          <p:cNvSpPr/>
          <p:nvPr/>
        </p:nvSpPr>
        <p:spPr>
          <a:xfrm>
            <a:off x="0" y="777240"/>
            <a:ext cx="1801368" cy="5029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本質課題</a:t>
            </a:r>
          </a:p>
        </p:txBody>
      </p:sp>
      <p:sp>
        <p:nvSpPr>
          <p:cNvPr id="4" name="Google Shape;752;p28"/>
          <p:cNvSpPr txBox="1"/>
          <p:nvPr/>
        </p:nvSpPr>
        <p:spPr>
          <a:xfrm>
            <a:off x="1984248" y="859536"/>
            <a:ext cx="7708392" cy="338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ためて追い続ける場所が無い。この場所を、LINE公式アカウントでつくる</a:t>
            </a:r>
            <a:endParaRPr lang="en-US" altLang="ja-JP" sz="16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  <a:sym typeface="Meiryo"/>
            </a:endParaRPr>
          </a:p>
        </p:txBody>
      </p:sp>
      <p:sp>
        <p:nvSpPr>
          <p:cNvPr id="5" name="見出し 01 集める"/>
          <p:cNvSpPr/>
          <p:nvPr/>
        </p:nvSpPr>
        <p:spPr>
          <a:xfrm>
            <a:off x="502920" y="1600200"/>
            <a:ext cx="2782824" cy="4114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4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01 集める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6" name="課題1"/>
          <p:cNvSpPr/>
          <p:nvPr/>
        </p:nvSpPr>
        <p:spPr>
          <a:xfrm>
            <a:off x="502920" y="2011680"/>
            <a:ext cx="2782824" cy="17830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137160" tIns="91440" rIns="137160" bIns="91440" rtlCol="0" anchor="ctr">
            <a:noAutofit/>
          </a:bodyPr>
          <a:lstStyle/>
          <a:p>
            <a:pPr algn="ctr">
              <a:lnSpc>
                <a:spcPct val="140000"/>
              </a:lnSpc>
              <a:buNone/>
            </a:pPr>
            <a:r>
              <a:rPr lang="ja-JP" altLang="en-US" sz="15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離れる方・予約した方を、友だちにする手段が無い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7" name="矢印下"/>
          <p:cNvSpPr/>
          <p:nvPr/>
        </p:nvSpPr>
        <p:spPr>
          <a:xfrm>
            <a:off x="1665732" y="3840480"/>
            <a:ext cx="4572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600" b="0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▼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打ち手1"/>
          <p:cNvSpPr/>
          <p:nvPr/>
        </p:nvSpPr>
        <p:spPr>
          <a:xfrm>
            <a:off x="502920" y="4297680"/>
            <a:ext cx="2782824" cy="1737360"/>
          </a:xfrm>
          <a:prstGeom prst="rect">
            <a:avLst/>
          </a:prstGeom>
          <a:solidFill>
            <a:srgbClr val="DCE6F2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lnSpc>
                <a:spcPct val="130000"/>
              </a:lnSpc>
              <a:buNone/>
            </a:pPr>
            <a:r>
              <a:rPr lang="ja-JP" altLang="en-US" sz="16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ポップアップツール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  <a:p>
            <a:pPr algn="ctr">
              <a:lnSpc>
                <a:spcPct val="130000"/>
              </a:lnSpc>
              <a:buNone/>
            </a:pPr>
            <a:r>
              <a:rPr lang="ja-JP" altLang="en-US" sz="16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サンクスLINE誘導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9" name="見出し 02 追う"/>
          <p:cNvSpPr/>
          <p:nvPr/>
        </p:nvSpPr>
        <p:spPr>
          <a:xfrm>
            <a:off x="3560064" y="1600200"/>
            <a:ext cx="2782824" cy="4114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4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02 追う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0" name="課題2"/>
          <p:cNvSpPr/>
          <p:nvPr/>
        </p:nvSpPr>
        <p:spPr>
          <a:xfrm>
            <a:off x="3560064" y="2011680"/>
            <a:ext cx="2782824" cy="17830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137160" tIns="91440" rIns="137160" bIns="91440" rtlCol="0" anchor="ctr">
            <a:noAutofit/>
          </a:bodyPr>
          <a:lstStyle/>
          <a:p>
            <a:pPr algn="ctr">
              <a:lnSpc>
                <a:spcPct val="140000"/>
              </a:lnSpc>
              <a:buNone/>
            </a:pPr>
            <a:r>
              <a:rPr lang="ja-JP" altLang="en-US" sz="15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次のイベントまで、情報を届ける手段が無い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1" name="矢印下"/>
          <p:cNvSpPr/>
          <p:nvPr/>
        </p:nvSpPr>
        <p:spPr>
          <a:xfrm>
            <a:off x="4722876" y="3840480"/>
            <a:ext cx="4572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600" b="0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▼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2" name="打ち手2"/>
          <p:cNvSpPr/>
          <p:nvPr/>
        </p:nvSpPr>
        <p:spPr>
          <a:xfrm>
            <a:off x="3560064" y="4297680"/>
            <a:ext cx="2782824" cy="1737360"/>
          </a:xfrm>
          <a:prstGeom prst="rect">
            <a:avLst/>
          </a:prstGeom>
          <a:solidFill>
            <a:srgbClr val="DCE6F2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lnSpc>
                <a:spcPct val="130000"/>
              </a:lnSpc>
              <a:buNone/>
            </a:pPr>
            <a:r>
              <a:rPr lang="ja-JP" altLang="en-US" sz="16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平常期の配信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3" name="見出し 03 つなげる"/>
          <p:cNvSpPr/>
          <p:nvPr/>
        </p:nvSpPr>
        <p:spPr>
          <a:xfrm>
            <a:off x="6617208" y="1600200"/>
            <a:ext cx="2782824" cy="4114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4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03 つなげる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4" name="課題3"/>
          <p:cNvSpPr/>
          <p:nvPr/>
        </p:nvSpPr>
        <p:spPr>
          <a:xfrm>
            <a:off x="6617208" y="2011680"/>
            <a:ext cx="2782824" cy="17830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137160" tIns="91440" rIns="137160" bIns="91440" rtlCol="0" anchor="ctr">
            <a:noAutofit/>
          </a:bodyPr>
          <a:lstStyle/>
          <a:p>
            <a:pPr algn="ctr">
              <a:lnSpc>
                <a:spcPct val="140000"/>
              </a:lnSpc>
              <a:buNone/>
            </a:pPr>
            <a:r>
              <a:rPr lang="ja-JP" altLang="en-US" sz="15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参加した方に、入会を案内する手段が無い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5" name="矢印下"/>
          <p:cNvSpPr/>
          <p:nvPr/>
        </p:nvSpPr>
        <p:spPr>
          <a:xfrm>
            <a:off x="7780020" y="3840480"/>
            <a:ext cx="4572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600" b="0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▼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6" name="打ち手3"/>
          <p:cNvSpPr/>
          <p:nvPr/>
        </p:nvSpPr>
        <p:spPr>
          <a:xfrm>
            <a:off x="6617208" y="4297680"/>
            <a:ext cx="2782824" cy="1737360"/>
          </a:xfrm>
          <a:prstGeom prst="rect">
            <a:avLst/>
          </a:prstGeom>
          <a:solidFill>
            <a:srgbClr val="DCE6F2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lnSpc>
                <a:spcPct val="130000"/>
              </a:lnSpc>
              <a:buNone/>
            </a:pPr>
            <a:r>
              <a:rPr lang="ja-JP" altLang="en-US" sz="16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参加後の入会の案内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oogle Shape;752;p28"/>
          <p:cNvSpPr txBox="1"/>
          <p:nvPr/>
        </p:nvSpPr>
        <p:spPr>
          <a:xfrm>
            <a:off x="548883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なぜLINEか</a:t>
            </a:r>
          </a:p>
        </p:txBody>
      </p:sp>
      <p:sp>
        <p:nvSpPr>
          <p:cNvPr id="3" name="正方形/長方形 8"/>
          <p:cNvSpPr/>
          <p:nvPr/>
        </p:nvSpPr>
        <p:spPr>
          <a:xfrm>
            <a:off x="0" y="777240"/>
            <a:ext cx="2423160" cy="5029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LINE公式アカウント</a:t>
            </a:r>
          </a:p>
        </p:txBody>
      </p:sp>
      <p:sp>
        <p:nvSpPr>
          <p:cNvPr id="4" name="Google Shape;752;p28"/>
          <p:cNvSpPr txBox="1"/>
          <p:nvPr/>
        </p:nvSpPr>
        <p:spPr>
          <a:xfrm>
            <a:off x="2606040" y="859536"/>
            <a:ext cx="7086599" cy="338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広告は毎回ゼロから、LINEは積み上がる</a:t>
            </a:r>
            <a:endParaRPr lang="en-US" altLang="ja-JP" sz="16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  <a:sym typeface="Meiryo"/>
            </a:endParaRPr>
          </a:p>
        </p:txBody>
      </p:sp>
      <p:graphicFrame>
        <p:nvGraphicFramePr>
          <p:cNvPr id="5" name="広告とLINE 4"/>
          <p:cNvGraphicFramePr>
            <a:graphicFrameLocks noGrp="1"/>
          </p:cNvGraphicFramePr>
          <p:nvPr/>
        </p:nvGraphicFramePr>
        <p:xfrm>
          <a:off x="502920" y="1600200"/>
          <a:ext cx="8897112" cy="3474720"/>
        </p:xfrm>
        <a:graphic>
          <a:graphicData uri="http://schemas.openxmlformats.org/drawingml/2006/table">
            <a:tbl>
              <a:tblPr/>
              <a:tblGrid>
                <a:gridCol w="1828800"/>
                <a:gridCol w="3108960"/>
                <a:gridCol w="3959352"/>
              </a:tblGrid>
              <a:tr h="4572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広告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LINE公式アカウント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届く相手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毎回、新しく集める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一度友だちになった方に、何度でも届く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届き方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広告を見たときだけ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通知で届き、見てもらいやすい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イベントの後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つながりが切れる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友だちとして、毎月積み上がる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示唆"/>
          <p:cNvSpPr/>
          <p:nvPr/>
        </p:nvSpPr>
        <p:spPr>
          <a:xfrm>
            <a:off x="502920" y="5303520"/>
            <a:ext cx="8897112" cy="7315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6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この仕組みが回れば、今後の広告費を抑えられる可能性もある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oogle Shape;752;p28"/>
          <p:cNvSpPr txBox="1"/>
          <p:nvPr/>
        </p:nvSpPr>
        <p:spPr>
          <a:xfrm>
            <a:off x="548883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LINEで気をつける点</a:t>
            </a:r>
          </a:p>
        </p:txBody>
      </p:sp>
      <p:sp>
        <p:nvSpPr>
          <p:cNvPr id="3" name="正方形/長方形 8"/>
          <p:cNvSpPr/>
          <p:nvPr/>
        </p:nvSpPr>
        <p:spPr>
          <a:xfrm>
            <a:off x="0" y="777240"/>
            <a:ext cx="2057400" cy="5029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気をつける点と対策</a:t>
            </a:r>
          </a:p>
        </p:txBody>
      </p:sp>
      <p:sp>
        <p:nvSpPr>
          <p:cNvPr id="4" name="Google Shape;752;p28"/>
          <p:cNvSpPr txBox="1"/>
          <p:nvPr/>
        </p:nvSpPr>
        <p:spPr>
          <a:xfrm>
            <a:off x="2240280" y="859536"/>
            <a:ext cx="7452360" cy="338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気をつける点は、運用の設計で抑える</a:t>
            </a:r>
            <a:endParaRPr lang="en-US" altLang="ja-JP" sz="16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  <a:sym typeface="Meiryo"/>
            </a:endParaRPr>
          </a:p>
        </p:txBody>
      </p:sp>
      <p:graphicFrame>
        <p:nvGraphicFramePr>
          <p:cNvPr id="5" name="気をつける点 4"/>
          <p:cNvGraphicFramePr>
            <a:graphicFrameLocks noGrp="1"/>
          </p:cNvGraphicFramePr>
          <p:nvPr/>
        </p:nvGraphicFramePr>
        <p:xfrm>
          <a:off x="502920" y="1600200"/>
          <a:ext cx="8897112" cy="4023360"/>
        </p:xfrm>
        <a:graphic>
          <a:graphicData uri="http://schemas.openxmlformats.org/drawingml/2006/table">
            <a:tbl>
              <a:tblPr/>
              <a:tblGrid>
                <a:gridCol w="1828800"/>
                <a:gridCol w="3291840"/>
                <a:gridCol w="3776472"/>
              </a:tblGrid>
              <a:tr h="4572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気をつける点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内容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対策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11887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ブロック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配信が多い・合わない内容だと、ブロックされる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段階に合わせて、配信の中身と回数を変える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1887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配信費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配信の数に応じて、LINEの費用がかかる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イベントの無い時期は、配信の回数を絞る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1887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時間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友だちがたまるまで、時間がかかる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次のイベントから入口を置き、イベントごとに積み上げる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oogle Shape;752;p28"/>
          <p:cNvSpPr txBox="1"/>
          <p:nvPr/>
        </p:nvSpPr>
        <p:spPr>
          <a:xfrm>
            <a:off x="548883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友だちの入口</a:t>
            </a:r>
          </a:p>
        </p:txBody>
      </p:sp>
      <p:sp>
        <p:nvSpPr>
          <p:cNvPr id="3" name="正方形/長方形 8"/>
          <p:cNvSpPr/>
          <p:nvPr/>
        </p:nvSpPr>
        <p:spPr>
          <a:xfrm>
            <a:off x="0" y="777240"/>
            <a:ext cx="1801368" cy="5029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新規友だち追加</a:t>
            </a:r>
          </a:p>
        </p:txBody>
      </p:sp>
      <p:sp>
        <p:nvSpPr>
          <p:cNvPr id="4" name="Google Shape;752;p28"/>
          <p:cNvSpPr txBox="1"/>
          <p:nvPr/>
        </p:nvSpPr>
        <p:spPr>
          <a:xfrm>
            <a:off x="1984248" y="740664"/>
            <a:ext cx="7708392" cy="5852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ポップアップツールとサンクスLINE誘導で、離れる方と予約した方の両方を友だちにする</a:t>
            </a:r>
            <a:endParaRPr lang="en-US" altLang="ja-JP" sz="16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  <a:sym typeface="Meiryo"/>
            </a:endParaRPr>
          </a:p>
        </p:txBody>
      </p:sp>
      <p:sp>
        <p:nvSpPr>
          <p:cNvPr id="5" name="見出し ポップアップツール（離脱防止）"/>
          <p:cNvSpPr/>
          <p:nvPr/>
        </p:nvSpPr>
        <p:spPr>
          <a:xfrm>
            <a:off x="502920" y="1600200"/>
            <a:ext cx="4311396" cy="4114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4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ポップアップツール（離脱防止）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graphicFrame>
        <p:nvGraphicFramePr>
          <p:cNvPr id="6" name="入口1 5"/>
          <p:cNvGraphicFramePr>
            <a:graphicFrameLocks noGrp="1"/>
          </p:cNvGraphicFramePr>
          <p:nvPr/>
        </p:nvGraphicFramePr>
        <p:xfrm>
          <a:off x="502920" y="2057400"/>
          <a:ext cx="4311396" cy="2880360"/>
        </p:xfrm>
        <a:graphic>
          <a:graphicData uri="http://schemas.openxmlformats.org/drawingml/2006/table">
            <a:tbl>
              <a:tblPr/>
              <a:tblGrid>
                <a:gridCol w="1280160"/>
                <a:gridCol w="3031236"/>
              </a:tblGrid>
              <a:tr h="9601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対象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LPで申し込まずに離れる方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タイミング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LPを離れようとしたとき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案内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次のセミナーの案内を、LINEで受け取れる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見出し サンクスLINE誘導"/>
          <p:cNvSpPr/>
          <p:nvPr/>
        </p:nvSpPr>
        <p:spPr>
          <a:xfrm>
            <a:off x="5088636" y="1600200"/>
            <a:ext cx="4311396" cy="4114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4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サンクスLINE誘導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graphicFrame>
        <p:nvGraphicFramePr>
          <p:cNvPr id="8" name="入口2 7"/>
          <p:cNvGraphicFramePr>
            <a:graphicFrameLocks noGrp="1"/>
          </p:cNvGraphicFramePr>
          <p:nvPr/>
        </p:nvGraphicFramePr>
        <p:xfrm>
          <a:off x="5088636" y="2057400"/>
          <a:ext cx="4311396" cy="2880360"/>
        </p:xfrm>
        <a:graphic>
          <a:graphicData uri="http://schemas.openxmlformats.org/drawingml/2006/table">
            <a:tbl>
              <a:tblPr/>
              <a:tblGrid>
                <a:gridCol w="1280160"/>
                <a:gridCol w="3031236"/>
              </a:tblGrid>
              <a:tr h="9601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対象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セミナーを予約した方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タイミング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予約完了の画面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案内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当日の案内・リマインドを、LINEで届ける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示唆"/>
          <p:cNvSpPr/>
          <p:nvPr/>
        </p:nvSpPr>
        <p:spPr>
          <a:xfrm>
            <a:off x="502920" y="5257800"/>
            <a:ext cx="8897112" cy="7315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6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どちらも、次のイベントまで追える友だちになる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oogle Shape;752;p28"/>
          <p:cNvSpPr txBox="1"/>
          <p:nvPr/>
        </p:nvSpPr>
        <p:spPr>
          <a:xfrm>
            <a:off x="548883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配信の設計</a:t>
            </a:r>
          </a:p>
        </p:txBody>
      </p:sp>
      <p:sp>
        <p:nvSpPr>
          <p:cNvPr id="3" name="正方形/長方形 8"/>
          <p:cNvSpPr/>
          <p:nvPr/>
        </p:nvSpPr>
        <p:spPr>
          <a:xfrm>
            <a:off x="0" y="777240"/>
            <a:ext cx="1801368" cy="5029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段階ごとの配信</a:t>
            </a:r>
          </a:p>
        </p:txBody>
      </p:sp>
      <p:sp>
        <p:nvSpPr>
          <p:cNvPr id="4" name="Google Shape;752;p28"/>
          <p:cNvSpPr txBox="1"/>
          <p:nvPr/>
        </p:nvSpPr>
        <p:spPr>
          <a:xfrm>
            <a:off x="1984248" y="859536"/>
            <a:ext cx="7708392" cy="338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興味あり・予約・参加の段階ごとに、案内を変える</a:t>
            </a:r>
            <a:endParaRPr lang="en-US" altLang="ja-JP" sz="16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  <a:sym typeface="Meiryo"/>
            </a:endParaRPr>
          </a:p>
        </p:txBody>
      </p:sp>
      <p:sp>
        <p:nvSpPr>
          <p:cNvPr id="5" name="流れ1"/>
          <p:cNvSpPr/>
          <p:nvPr/>
        </p:nvSpPr>
        <p:spPr>
          <a:xfrm>
            <a:off x="502920" y="1600200"/>
            <a:ext cx="1991106" cy="594360"/>
          </a:xfrm>
          <a:prstGeom prst="rect">
            <a:avLst/>
          </a:prstGeom>
          <a:solidFill>
            <a:srgbClr val="DCE6F2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5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興味あり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6" name="矢印"/>
          <p:cNvSpPr/>
          <p:nvPr/>
        </p:nvSpPr>
        <p:spPr>
          <a:xfrm>
            <a:off x="2494026" y="1600200"/>
            <a:ext cx="310896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▶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7" name="流れ2"/>
          <p:cNvSpPr/>
          <p:nvPr/>
        </p:nvSpPr>
        <p:spPr>
          <a:xfrm>
            <a:off x="2804922" y="1600200"/>
            <a:ext cx="1991106" cy="594360"/>
          </a:xfrm>
          <a:prstGeom prst="rect">
            <a:avLst/>
          </a:prstGeom>
          <a:solidFill>
            <a:srgbClr val="DCE6F2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5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予約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矢印"/>
          <p:cNvSpPr/>
          <p:nvPr/>
        </p:nvSpPr>
        <p:spPr>
          <a:xfrm>
            <a:off x="4796028" y="1600200"/>
            <a:ext cx="310896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▶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9" name="流れ3"/>
          <p:cNvSpPr/>
          <p:nvPr/>
        </p:nvSpPr>
        <p:spPr>
          <a:xfrm>
            <a:off x="5106924" y="1600200"/>
            <a:ext cx="1991106" cy="594360"/>
          </a:xfrm>
          <a:prstGeom prst="rect">
            <a:avLst/>
          </a:prstGeom>
          <a:solidFill>
            <a:srgbClr val="DCE6F2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5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参加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0" name="矢印"/>
          <p:cNvSpPr/>
          <p:nvPr/>
        </p:nvSpPr>
        <p:spPr>
          <a:xfrm>
            <a:off x="7098030" y="1600200"/>
            <a:ext cx="310896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▶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1" name="流れ4"/>
          <p:cNvSpPr/>
          <p:nvPr/>
        </p:nvSpPr>
        <p:spPr>
          <a:xfrm>
            <a:off x="7408926" y="1600200"/>
            <a:ext cx="1991106" cy="59436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5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サロン入会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graphicFrame>
        <p:nvGraphicFramePr>
          <p:cNvPr id="12" name="段階ごとの配信 11"/>
          <p:cNvGraphicFramePr>
            <a:graphicFrameLocks noGrp="1"/>
          </p:cNvGraphicFramePr>
          <p:nvPr/>
        </p:nvGraphicFramePr>
        <p:xfrm>
          <a:off x="502920" y="2423160"/>
          <a:ext cx="8897112" cy="3337560"/>
        </p:xfrm>
        <a:graphic>
          <a:graphicData uri="http://schemas.openxmlformats.org/drawingml/2006/table">
            <a:tbl>
              <a:tblPr/>
              <a:tblGrid>
                <a:gridCol w="1371600"/>
                <a:gridCol w="2514600"/>
                <a:gridCol w="3364992"/>
                <a:gridCol w="1645920"/>
              </a:tblGrid>
              <a:tr h="4572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段階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対象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届ける内容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ねらい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興味あり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予約していない方</a:t>
                      </a:r>
                      <a:b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</a:b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（ポップアップツールから）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セミナーの見どころ動画・参加特典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予約へ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予約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予約した方</a:t>
                      </a:r>
                      <a:b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</a:b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（サンクスLINE誘導から）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前日のリマインド・当日の案内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当日の参加へ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参加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イベントに参加した方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イベント直後に、サロン入会の案内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入会へ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注記"/>
          <p:cNvSpPr/>
          <p:nvPr/>
        </p:nvSpPr>
        <p:spPr>
          <a:xfrm>
            <a:off x="502920" y="5897880"/>
            <a:ext cx="889711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ja-JP" altLang="en-US" sz="900" b="0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※配信の内容は、イベントの内容に合わせて設計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oogle Shape;752;p28"/>
          <p:cNvSpPr txBox="1"/>
          <p:nvPr/>
        </p:nvSpPr>
        <p:spPr>
          <a:xfrm>
            <a:off x="548883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目標</a:t>
            </a:r>
          </a:p>
        </p:txBody>
      </p:sp>
      <p:sp>
        <p:nvSpPr>
          <p:cNvPr id="3" name="正方形/長方形 8"/>
          <p:cNvSpPr/>
          <p:nvPr/>
        </p:nvSpPr>
        <p:spPr>
          <a:xfrm>
            <a:off x="0" y="777240"/>
            <a:ext cx="1801368" cy="5029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指標</a:t>
            </a:r>
          </a:p>
        </p:txBody>
      </p:sp>
      <p:sp>
        <p:nvSpPr>
          <p:cNvPr id="4" name="Google Shape;752;p28"/>
          <p:cNvSpPr txBox="1"/>
          <p:nvPr/>
        </p:nvSpPr>
        <p:spPr>
          <a:xfrm>
            <a:off x="1984248" y="859536"/>
            <a:ext cx="7708392" cy="338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追える人数を増やし・減らさず、次のイベント参加・入会へ</a:t>
            </a:r>
            <a:endParaRPr lang="en-US" altLang="ja-JP" sz="16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  <a:sym typeface="Meiryo"/>
            </a:endParaRPr>
          </a:p>
        </p:txBody>
      </p:sp>
      <p:sp>
        <p:nvSpPr>
          <p:cNvPr id="5" name="流れ1"/>
          <p:cNvSpPr/>
          <p:nvPr/>
        </p:nvSpPr>
        <p:spPr>
          <a:xfrm>
            <a:off x="502920" y="1600200"/>
            <a:ext cx="2758440" cy="594360"/>
          </a:xfrm>
          <a:prstGeom prst="rect">
            <a:avLst/>
          </a:prstGeom>
          <a:solidFill>
            <a:srgbClr val="DCE6F2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5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追える人数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6" name="矢印"/>
          <p:cNvSpPr/>
          <p:nvPr/>
        </p:nvSpPr>
        <p:spPr>
          <a:xfrm>
            <a:off x="3261360" y="1600200"/>
            <a:ext cx="310896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▶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7" name="流れ2"/>
          <p:cNvSpPr/>
          <p:nvPr/>
        </p:nvSpPr>
        <p:spPr>
          <a:xfrm>
            <a:off x="3572256" y="1600200"/>
            <a:ext cx="2758440" cy="594360"/>
          </a:xfrm>
          <a:prstGeom prst="rect">
            <a:avLst/>
          </a:prstGeom>
          <a:solidFill>
            <a:srgbClr val="DCE6F2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5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次のイベントの予約・参加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矢印"/>
          <p:cNvSpPr/>
          <p:nvPr/>
        </p:nvSpPr>
        <p:spPr>
          <a:xfrm>
            <a:off x="6330696" y="1600200"/>
            <a:ext cx="310896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▶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9" name="流れ3"/>
          <p:cNvSpPr/>
          <p:nvPr/>
        </p:nvSpPr>
        <p:spPr>
          <a:xfrm>
            <a:off x="6641592" y="1600200"/>
            <a:ext cx="2758440" cy="59436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5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サロン入会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graphicFrame>
        <p:nvGraphicFramePr>
          <p:cNvPr id="10" name="指標 9"/>
          <p:cNvGraphicFramePr>
            <a:graphicFrameLocks noGrp="1"/>
          </p:cNvGraphicFramePr>
          <p:nvPr/>
        </p:nvGraphicFramePr>
        <p:xfrm>
          <a:off x="502920" y="2423160"/>
          <a:ext cx="8897112" cy="3474720"/>
        </p:xfrm>
        <a:graphic>
          <a:graphicData uri="http://schemas.openxmlformats.org/drawingml/2006/table">
            <a:tbl>
              <a:tblPr/>
              <a:tblGrid>
                <a:gridCol w="2011680"/>
                <a:gridCol w="1737360"/>
                <a:gridCol w="5148072"/>
              </a:tblGrid>
              <a:tr h="4572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指標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見る時期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内容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追える人数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平常期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ブロックされずに届く友だちの数。増やし、減らさない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予約・参加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イベント期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LINEからの予約と、当日の参加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サロン入会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イベントの後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参加した方のうち、入会した方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oogle Shape;752;p28"/>
          <p:cNvSpPr txBox="1"/>
          <p:nvPr/>
        </p:nvSpPr>
        <p:spPr>
          <a:xfrm>
            <a:off x="548883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概算お見積り</a:t>
            </a:r>
          </a:p>
        </p:txBody>
      </p:sp>
      <p:sp>
        <p:nvSpPr>
          <p:cNvPr id="3" name="正方形/長方形 8"/>
          <p:cNvSpPr/>
          <p:nvPr/>
        </p:nvSpPr>
        <p:spPr>
          <a:xfrm>
            <a:off x="0" y="777240"/>
            <a:ext cx="1801368" cy="5029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見込み</a:t>
            </a:r>
          </a:p>
        </p:txBody>
      </p:sp>
      <p:sp>
        <p:nvSpPr>
          <p:cNvPr id="4" name="Google Shape;752;p28"/>
          <p:cNvSpPr txBox="1"/>
          <p:nvPr/>
        </p:nvSpPr>
        <p:spPr>
          <a:xfrm>
            <a:off x="1984248" y="859536"/>
            <a:ext cx="7708392" cy="338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平常期・イベント期の友だち数と、予約・入会の見込み</a:t>
            </a:r>
            <a:endParaRPr lang="en-US" altLang="ja-JP" sz="16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  <a:sym typeface="Meiryo"/>
            </a:endParaRPr>
          </a:p>
        </p:txBody>
      </p:sp>
      <p:sp>
        <p:nvSpPr>
          <p:cNvPr id="5" name="差し込み 概算お見積り（SIM）の表"/>
          <p:cNvSpPr/>
          <p:nvPr/>
        </p:nvSpPr>
        <p:spPr>
          <a:xfrm>
            <a:off x="502920" y="1600200"/>
            <a:ext cx="8897112" cy="4480560"/>
          </a:xfrm>
          <a:prstGeom prst="rect">
            <a:avLst/>
          </a:prstGeom>
          <a:noFill/>
          <a:ln w="9525">
            <a:solidFill>
              <a:srgbClr val="7F7F7F"/>
            </a:solidFill>
            <a:prstDash val="dash"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400" b="1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概算お見積り（SIM）の表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oogle Shape;752;p28"/>
          <p:cNvSpPr txBox="1"/>
          <p:nvPr/>
        </p:nvSpPr>
        <p:spPr>
          <a:xfrm>
            <a:off x="548883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料金</a:t>
            </a:r>
          </a:p>
        </p:txBody>
      </p:sp>
      <p:sp>
        <p:nvSpPr>
          <p:cNvPr id="3" name="正方形/長方形 8"/>
          <p:cNvSpPr/>
          <p:nvPr/>
        </p:nvSpPr>
        <p:spPr>
          <a:xfrm>
            <a:off x="0" y="777240"/>
            <a:ext cx="1801368" cy="5029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DYMプラン</a:t>
            </a:r>
          </a:p>
        </p:txBody>
      </p:sp>
      <p:sp>
        <p:nvSpPr>
          <p:cNvPr id="4" name="Google Shape;752;p28"/>
          <p:cNvSpPr txBox="1"/>
          <p:nvPr/>
        </p:nvSpPr>
        <p:spPr>
          <a:xfrm>
            <a:off x="1984248" y="859536"/>
            <a:ext cx="7708392" cy="338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ご予算と運用の体制に合わせて、3つのプランから選択可能</a:t>
            </a:r>
            <a:endParaRPr lang="en-US" altLang="ja-JP" sz="16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  <a:sym typeface="Meiryo"/>
            </a:endParaRPr>
          </a:p>
        </p:txBody>
      </p:sp>
      <p:graphicFrame>
        <p:nvGraphicFramePr>
          <p:cNvPr id="5" name="料金 4"/>
          <p:cNvGraphicFramePr>
            <a:graphicFrameLocks noGrp="1"/>
          </p:cNvGraphicFramePr>
          <p:nvPr/>
        </p:nvGraphicFramePr>
        <p:xfrm>
          <a:off x="502920" y="1600200"/>
          <a:ext cx="8897112" cy="3200400"/>
        </p:xfrm>
        <a:graphic>
          <a:graphicData uri="http://schemas.openxmlformats.org/drawingml/2006/table">
            <a:tbl>
              <a:tblPr/>
              <a:tblGrid>
                <a:gridCol w="1463040"/>
                <a:gridCol w="2478024"/>
                <a:gridCol w="2478024"/>
                <a:gridCol w="2478024"/>
              </a:tblGrid>
              <a:tr h="5943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プラン①</a:t>
                      </a:r>
                      <a:b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</a:b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初期設計のみ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プラン②</a:t>
                      </a:r>
                      <a:b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</a:b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イベントに合わせた運用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プラン③</a:t>
                      </a:r>
                      <a:b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</a:b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通年の運用・改善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内容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2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入口と配信の仕組みを構築</a:t>
                      </a:r>
                      <a:br>
                        <a:rPr lang="ja-JP" altLang="en-US" sz="12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</a:br>
                      <a:r>
                        <a:rPr lang="ja-JP" altLang="en-US" sz="12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配信は貴社で運用</a:t>
                      </a:r>
                      <a:endParaRPr lang="ja-JP" altLang="en-US" sz="125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2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弊社で配信</a:t>
                      </a:r>
                      <a:br>
                        <a:rPr lang="ja-JP" altLang="en-US" sz="12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</a:br>
                      <a:r>
                        <a:rPr lang="ja-JP" altLang="en-US" sz="12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平常期 月2回</a:t>
                      </a:r>
                      <a:br>
                        <a:rPr lang="ja-JP" altLang="en-US" sz="12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</a:br>
                      <a:r>
                        <a:rPr lang="ja-JP" altLang="en-US" sz="12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イベント期 月4〜5回</a:t>
                      </a:r>
                      <a:endParaRPr lang="ja-JP" altLang="en-US" sz="125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2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弊社で配信＋レポート・定例会</a:t>
                      </a:r>
                      <a:br>
                        <a:rPr lang="ja-JP" altLang="en-US" sz="12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</a:br>
                      <a:r>
                        <a:rPr lang="ja-JP" altLang="en-US" sz="12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平常期 月3回</a:t>
                      </a:r>
                      <a:br>
                        <a:rPr lang="ja-JP" altLang="en-US" sz="12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</a:br>
                      <a:r>
                        <a:rPr lang="ja-JP" altLang="en-US" sz="12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イベント期 月5回</a:t>
                      </a:r>
                      <a:endParaRPr lang="ja-JP" altLang="en-US" sz="125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初期費用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7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10万円〜</a:t>
                      </a:r>
                      <a:endParaRPr lang="ja-JP" altLang="en-US" sz="17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7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10万円〜</a:t>
                      </a:r>
                      <a:endParaRPr lang="ja-JP" altLang="en-US" sz="17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7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10万円〜</a:t>
                      </a:r>
                      <a:endParaRPr lang="ja-JP" altLang="en-US" sz="17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平常期</a:t>
                      </a:r>
                      <a:br>
                        <a:rPr lang="ja-JP" altLang="en-US" sz="13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</a:br>
                      <a:r>
                        <a:rPr lang="ja-JP" altLang="en-US" sz="13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（月額）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7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0円</a:t>
                      </a:r>
                      <a:endParaRPr lang="ja-JP" altLang="en-US" sz="17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7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5〜10万円</a:t>
                      </a:r>
                      <a:endParaRPr lang="ja-JP" altLang="en-US" sz="17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7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20万円〜</a:t>
                      </a:r>
                      <a:endParaRPr lang="ja-JP" altLang="en-US" sz="17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イベント期</a:t>
                      </a:r>
                      <a:br>
                        <a:rPr lang="ja-JP" altLang="en-US" sz="13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</a:br>
                      <a:r>
                        <a:rPr lang="ja-JP" altLang="en-US" sz="13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（月額）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7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0円</a:t>
                      </a:r>
                      <a:endParaRPr lang="ja-JP" altLang="en-US" sz="17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7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30万円程度</a:t>
                      </a:r>
                      <a:endParaRPr lang="ja-JP" altLang="en-US" sz="17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7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30万円〜</a:t>
                      </a:r>
                      <a:endParaRPr lang="ja-JP" altLang="en-US" sz="17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ツール費 5"/>
          <p:cNvGraphicFramePr>
            <a:graphicFrameLocks noGrp="1"/>
          </p:cNvGraphicFramePr>
          <p:nvPr/>
        </p:nvGraphicFramePr>
        <p:xfrm>
          <a:off x="502920" y="4937760"/>
          <a:ext cx="8897112" cy="640080"/>
        </p:xfrm>
        <a:graphic>
          <a:graphicData uri="http://schemas.openxmlformats.org/drawingml/2006/table">
            <a:tbl>
              <a:tblPr/>
              <a:tblGrid>
                <a:gridCol w="1463040"/>
                <a:gridCol w="3717036"/>
                <a:gridCol w="3717036"/>
              </a:tblGrid>
              <a:tr h="6400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ツール費</a:t>
                      </a:r>
                      <a:br>
                        <a:rPr lang="ja-JP" altLang="en-US" sz="13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</a:br>
                      <a:r>
                        <a:rPr lang="ja-JP" altLang="en-US" sz="13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（別途）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ポップアップツール</a:t>
                      </a:r>
                      <a:b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</a:b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初期1.5万円／月額3万円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サンクスLINE誘導</a:t>
                      </a:r>
                      <a:b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</a:b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初期15万円／月額3万円〜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注記"/>
          <p:cNvSpPr/>
          <p:nvPr/>
        </p:nvSpPr>
        <p:spPr>
          <a:xfrm>
            <a:off x="502920" y="5687568"/>
            <a:ext cx="8897112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ja-JP" altLang="en-US" sz="900" b="0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※広告費・LINE公式アカウントの利用料は含まない。いずれも6か月〜の契約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注記"/>
          <p:cNvSpPr/>
          <p:nvPr/>
        </p:nvSpPr>
        <p:spPr>
          <a:xfrm>
            <a:off x="502920" y="5925312"/>
            <a:ext cx="8897112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ja-JP" altLang="en-US" sz="900" b="0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※施策内容・配信本数・連携範囲等により、費用は個別にお見積り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8" name="Google Shape;156;p7"/>
          <p:cNvSpPr txBox="1"/>
          <p:nvPr/>
        </p:nvSpPr>
        <p:spPr>
          <a:xfrm>
            <a:off x="548883" y="138118"/>
            <a:ext cx="6514857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1600"/>
              <a:buFont typeface="Arial"/>
              <a:buNone/>
            </a:pPr>
            <a:r>
              <a:rPr lang="ja-JP" altLang="en-US" sz="1600" b="1" dirty="0">
                <a:solidFill>
                  <a:srgbClr val="002060"/>
                </a:solidFill>
                <a:latin typeface="メイリオ"/>
                <a:ea typeface="メイリオ"/>
                <a:cs typeface="メイリオ"/>
                <a:sym typeface="Meiryo"/>
              </a:rPr>
              <a:t>運用スケジュール</a:t>
            </a:r>
            <a:endParaRPr sz="1600" b="1" dirty="0">
              <a:solidFill>
                <a:srgbClr val="002060"/>
              </a:solidFill>
              <a:latin typeface="メイリオ"/>
              <a:ea typeface="メイリオ"/>
              <a:cs typeface="メイリオ"/>
              <a:sym typeface="Meiryo"/>
            </a:endParaRPr>
          </a:p>
        </p:txBody>
      </p:sp>
      <p:sp>
        <p:nvSpPr>
          <p:cNvPr id="28" name="角丸四角形 27"/>
          <p:cNvSpPr/>
          <p:nvPr/>
        </p:nvSpPr>
        <p:spPr>
          <a:xfrm>
            <a:off x="910833" y="1994083"/>
            <a:ext cx="2144546" cy="520517"/>
          </a:xfrm>
          <a:prstGeom prst="roundRect">
            <a:avLst>
              <a:gd name="adj" fmla="val 4701"/>
            </a:avLst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STEP1</a:t>
            </a:r>
            <a:endParaRPr kumimoji="1" lang="ja-JP" altLang="en-US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29" name="角丸四角形 28"/>
          <p:cNvSpPr/>
          <p:nvPr/>
        </p:nvSpPr>
        <p:spPr>
          <a:xfrm>
            <a:off x="910833" y="3537133"/>
            <a:ext cx="2144546" cy="520517"/>
          </a:xfrm>
          <a:prstGeom prst="roundRect">
            <a:avLst>
              <a:gd name="adj" fmla="val 4701"/>
            </a:avLst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STEP3</a:t>
            </a:r>
            <a:endParaRPr kumimoji="1" lang="ja-JP" altLang="en-US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31" name="角丸四角形 30"/>
          <p:cNvSpPr/>
          <p:nvPr/>
        </p:nvSpPr>
        <p:spPr>
          <a:xfrm>
            <a:off x="910833" y="2765608"/>
            <a:ext cx="2144546" cy="520517"/>
          </a:xfrm>
          <a:prstGeom prst="roundRect">
            <a:avLst>
              <a:gd name="adj" fmla="val 4701"/>
            </a:avLst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STEP2</a:t>
            </a:r>
            <a:endParaRPr kumimoji="1" lang="ja-JP" altLang="en-US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32" name="角丸四角形 31"/>
          <p:cNvSpPr/>
          <p:nvPr/>
        </p:nvSpPr>
        <p:spPr>
          <a:xfrm>
            <a:off x="910833" y="4308658"/>
            <a:ext cx="2144546" cy="520517"/>
          </a:xfrm>
          <a:prstGeom prst="roundRect">
            <a:avLst>
              <a:gd name="adj" fmla="val 4701"/>
            </a:avLst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STEP4</a:t>
            </a:r>
            <a:endParaRPr kumimoji="1" lang="ja-JP" altLang="en-US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33" name="角丸四角形 32"/>
          <p:cNvSpPr/>
          <p:nvPr/>
        </p:nvSpPr>
        <p:spPr>
          <a:xfrm>
            <a:off x="910833" y="5080183"/>
            <a:ext cx="2144546" cy="520517"/>
          </a:xfrm>
          <a:prstGeom prst="roundRect">
            <a:avLst>
              <a:gd name="adj" fmla="val 4701"/>
            </a:avLst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STEP5</a:t>
            </a:r>
            <a:endParaRPr kumimoji="1" lang="ja-JP" altLang="en-US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2" name="正方形/長方形 1"/>
          <p:cNvSpPr/>
          <p:nvPr/>
        </p:nvSpPr>
        <p:spPr>
          <a:xfrm>
            <a:off x="4600923" y="2266950"/>
            <a:ext cx="1638300" cy="391649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40" name="角丸四角形 39"/>
          <p:cNvSpPr/>
          <p:nvPr/>
        </p:nvSpPr>
        <p:spPr>
          <a:xfrm>
            <a:off x="3133924" y="1994083"/>
            <a:ext cx="4749705" cy="520517"/>
          </a:xfrm>
          <a:prstGeom prst="roundRect">
            <a:avLst>
              <a:gd name="adj" fmla="val 4701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お申込み（書類締結）</a:t>
            </a:r>
            <a:endParaRPr kumimoji="1" lang="ja-JP" altLang="en-US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41" name="角丸四角形 40"/>
          <p:cNvSpPr/>
          <p:nvPr/>
        </p:nvSpPr>
        <p:spPr>
          <a:xfrm>
            <a:off x="3133924" y="3537133"/>
            <a:ext cx="4749705" cy="520517"/>
          </a:xfrm>
          <a:prstGeom prst="roundRect">
            <a:avLst>
              <a:gd name="adj" fmla="val 4701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連携の設定 </a:t>
            </a:r>
            <a:r>
              <a:rPr kumimoji="1" lang="en-US" altLang="ja-JP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/ </a:t>
            </a:r>
            <a:r>
              <a:rPr kumimoji="1" lang="ja-JP" altLang="en-US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タグ確認</a:t>
            </a:r>
          </a:p>
        </p:txBody>
      </p:sp>
      <p:sp>
        <p:nvSpPr>
          <p:cNvPr id="42" name="角丸四角形 41"/>
          <p:cNvSpPr/>
          <p:nvPr/>
        </p:nvSpPr>
        <p:spPr>
          <a:xfrm>
            <a:off x="3133924" y="2765608"/>
            <a:ext cx="4749705" cy="520517"/>
          </a:xfrm>
          <a:prstGeom prst="roundRect">
            <a:avLst>
              <a:gd name="adj" fmla="val 4701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キックオフ</a:t>
            </a:r>
            <a:r>
              <a:rPr kumimoji="1" lang="en-US" altLang="ja-JP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MTG</a:t>
            </a:r>
            <a:endParaRPr kumimoji="1" lang="ja-JP" altLang="en-US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44" name="角丸四角形 43"/>
          <p:cNvSpPr/>
          <p:nvPr/>
        </p:nvSpPr>
        <p:spPr>
          <a:xfrm>
            <a:off x="3133924" y="4308658"/>
            <a:ext cx="4749705" cy="520517"/>
          </a:xfrm>
          <a:prstGeom prst="roundRect">
            <a:avLst>
              <a:gd name="adj" fmla="val 4701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初期設計の構築</a:t>
            </a:r>
          </a:p>
        </p:txBody>
      </p:sp>
      <p:sp>
        <p:nvSpPr>
          <p:cNvPr id="45" name="角丸四角形 44"/>
          <p:cNvSpPr/>
          <p:nvPr/>
        </p:nvSpPr>
        <p:spPr>
          <a:xfrm>
            <a:off x="3133924" y="5080183"/>
            <a:ext cx="4749705" cy="520517"/>
          </a:xfrm>
          <a:prstGeom prst="roundRect">
            <a:avLst>
              <a:gd name="adj" fmla="val 4701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運用開始</a:t>
            </a:r>
          </a:p>
        </p:txBody>
      </p:sp>
      <p:sp>
        <p:nvSpPr>
          <p:cNvPr id="19" name="正方形/長方形 18"/>
          <p:cNvSpPr/>
          <p:nvPr/>
        </p:nvSpPr>
        <p:spPr>
          <a:xfrm>
            <a:off x="548883" y="1033120"/>
            <a:ext cx="8921032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ja-JP" altLang="en-US" sz="24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サイト・LINEへの実装は、初期設計が整い次第、順次進行</a:t>
            </a:r>
            <a:endParaRPr lang="ja-JP" altLang="en-US" sz="24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20" name="正方形/長方形 19"/>
          <p:cNvSpPr/>
          <p:nvPr/>
        </p:nvSpPr>
        <p:spPr>
          <a:xfrm>
            <a:off x="4708989" y="5841409"/>
            <a:ext cx="4955203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ja-JP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※貴社の作業・確認にかかる時間により、前後する可能性あり</a:t>
            </a:r>
          </a:p>
        </p:txBody>
      </p:sp>
      <p:sp>
        <p:nvSpPr>
          <p:cNvPr id="3" name="正方形/長方形 2"/>
          <p:cNvSpPr/>
          <p:nvPr/>
        </p:nvSpPr>
        <p:spPr>
          <a:xfrm>
            <a:off x="7902506" y="3514209"/>
            <a:ext cx="1415772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ja-JP" altLang="en-US" sz="8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オーディエンスリスト作成</a:t>
            </a:r>
            <a:endParaRPr lang="en-US" altLang="ja-JP" sz="8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8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タグ設定</a:t>
            </a:r>
            <a:endParaRPr lang="en-US" altLang="ja-JP" sz="8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en-US" altLang="ja-JP" sz="8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GA</a:t>
            </a:r>
            <a:r>
              <a:rPr lang="ja-JP" altLang="en-US" sz="8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設定</a:t>
            </a:r>
            <a:endParaRPr lang="en-US" altLang="ja-JP" sz="8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en-US" altLang="ja-JP" sz="8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etc...</a:t>
            </a:r>
          </a:p>
        </p:txBody>
      </p:sp>
      <p:sp>
        <p:nvSpPr>
          <p:cNvPr id="24" name="正方形/長方形 23"/>
          <p:cNvSpPr/>
          <p:nvPr/>
        </p:nvSpPr>
        <p:spPr>
          <a:xfrm>
            <a:off x="7897281" y="4276528"/>
            <a:ext cx="110799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ja-JP" altLang="en-US" sz="8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リッチメニュー作成</a:t>
            </a:r>
            <a:endParaRPr lang="en-US" altLang="ja-JP" sz="8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8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アンケート設計</a:t>
            </a:r>
            <a:endParaRPr lang="en-US" altLang="ja-JP" sz="8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8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シナリオ設計</a:t>
            </a:r>
            <a:endParaRPr lang="en-US" altLang="ja-JP" sz="8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en-US" altLang="ja-JP" sz="8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etc...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Google Shape;752;p28">
            <a:extLst>
              <a:ext uri="{FF2B5EF4-FFF2-40B4-BE49-F238E27FC236}">
                <a16:creationId xmlns:a16="http://schemas.microsoft.com/office/drawing/2014/main" id="{A67513FB-FEEF-76F5-5394-A1A2495F0489}"/>
              </a:ext>
            </a:extLst>
          </p:cNvPr>
          <p:cNvSpPr txBox="1"/>
          <p:nvPr/>
        </p:nvSpPr>
        <p:spPr>
          <a:xfrm>
            <a:off x="548883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弊社からご提供できる運用プラン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5CF6CD71-4C48-796A-BD54-E778269A9308}"/>
              </a:ext>
            </a:extLst>
          </p:cNvPr>
          <p:cNvSpPr/>
          <p:nvPr/>
        </p:nvSpPr>
        <p:spPr>
          <a:xfrm>
            <a:off x="0" y="777240"/>
            <a:ext cx="2914650" cy="5029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成果報酬型プラン</a:t>
            </a:r>
            <a:endParaRPr kumimoji="1" lang="ja-JP" altLang="en-US" sz="1400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5" name="Google Shape;752;p28">
            <a:extLst>
              <a:ext uri="{FF2B5EF4-FFF2-40B4-BE49-F238E27FC236}">
                <a16:creationId xmlns:a16="http://schemas.microsoft.com/office/drawing/2014/main" id="{6C35AEF3-D15B-5805-4919-629E6F4207CC}"/>
              </a:ext>
            </a:extLst>
          </p:cNvPr>
          <p:cNvSpPr txBox="1"/>
          <p:nvPr/>
        </p:nvSpPr>
        <p:spPr>
          <a:xfrm>
            <a:off x="2914650" y="859443"/>
            <a:ext cx="661987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r>
              <a:rPr lang="ja-JP" altLang="en-US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施策成果件数に伴う費用発生でリスクを抑えた運用スタートを実現。</a:t>
            </a:r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EEA02B17-0DA2-A3FE-A6E5-243C1724301E}"/>
              </a:ext>
            </a:extLst>
          </p:cNvPr>
          <p:cNvSpPr/>
          <p:nvPr/>
        </p:nvSpPr>
        <p:spPr>
          <a:xfrm>
            <a:off x="548881" y="1405687"/>
            <a:ext cx="4404119" cy="2061098"/>
          </a:xfrm>
          <a:prstGeom prst="rect">
            <a:avLst/>
          </a:prstGeom>
          <a:noFill/>
          <a:ln w="9525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ja-JP" sz="105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CA8AA691-8D48-57D0-BF47-34182D3A6DAC}"/>
              </a:ext>
            </a:extLst>
          </p:cNvPr>
          <p:cNvSpPr/>
          <p:nvPr/>
        </p:nvSpPr>
        <p:spPr>
          <a:xfrm>
            <a:off x="748333" y="1594972"/>
            <a:ext cx="2322527" cy="5029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6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成果報酬費用</a:t>
            </a:r>
            <a:endParaRPr kumimoji="1" lang="ja-JP" altLang="en-US" sz="105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264193FC-5A1A-667F-A9D5-30C2155A72EB}"/>
              </a:ext>
            </a:extLst>
          </p:cNvPr>
          <p:cNvSpPr/>
          <p:nvPr/>
        </p:nvSpPr>
        <p:spPr>
          <a:xfrm>
            <a:off x="3230275" y="1588966"/>
            <a:ext cx="1494125" cy="5029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固定費用</a:t>
            </a:r>
            <a:endParaRPr kumimoji="1" lang="ja-JP" altLang="en-US" sz="100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692E0C40-273C-2C77-21FF-EC7A2A1C8F8F}"/>
              </a:ext>
            </a:extLst>
          </p:cNvPr>
          <p:cNvSpPr/>
          <p:nvPr/>
        </p:nvSpPr>
        <p:spPr>
          <a:xfrm>
            <a:off x="748333" y="2116483"/>
            <a:ext cx="2322527" cy="68767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4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成果件数 </a:t>
            </a:r>
            <a:r>
              <a:rPr lang="en-US" altLang="ja-JP" sz="14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× </a:t>
            </a:r>
            <a:r>
              <a:rPr lang="ja-JP" altLang="en-US" sz="14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成果報酬単価</a:t>
            </a:r>
            <a:endParaRPr lang="en-US" altLang="ja-JP" sz="140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BAC2B063-6DAA-B7D0-0B1D-E5CC879D23FD}"/>
              </a:ext>
            </a:extLst>
          </p:cNvPr>
          <p:cNvSpPr/>
          <p:nvPr/>
        </p:nvSpPr>
        <p:spPr>
          <a:xfrm>
            <a:off x="3230275" y="2116483"/>
            <a:ext cx="1494125" cy="68767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2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アカウント費</a:t>
            </a:r>
            <a:endParaRPr lang="en-US" altLang="ja-JP" sz="12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lang="ja-JP" altLang="en-US" sz="12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＋</a:t>
            </a:r>
            <a:endParaRPr lang="en-US" altLang="ja-JP" sz="12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lang="ja-JP" altLang="en-US" sz="12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ツール費</a:t>
            </a:r>
            <a:endParaRPr lang="en-US" altLang="ja-JP" sz="12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0036B929-196A-854E-1925-1967B52BEB27}"/>
              </a:ext>
            </a:extLst>
          </p:cNvPr>
          <p:cNvSpPr txBox="1"/>
          <p:nvPr/>
        </p:nvSpPr>
        <p:spPr>
          <a:xfrm>
            <a:off x="668626" y="1585328"/>
            <a:ext cx="496062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28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＋</a:t>
            </a:r>
            <a:endParaRPr lang="en-US" altLang="ja-JP" sz="280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C94A4AE5-885C-B98E-00A8-77C51FC7BFE1}"/>
              </a:ext>
            </a:extLst>
          </p:cNvPr>
          <p:cNvSpPr/>
          <p:nvPr/>
        </p:nvSpPr>
        <p:spPr>
          <a:xfrm>
            <a:off x="5080364" y="1405605"/>
            <a:ext cx="4328131" cy="23235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 ☑ 複数の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LINE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流入経路からステップ配信を構築し、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CV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数を増加。 </a:t>
            </a:r>
            <a:endParaRPr lang="en-US" altLang="ja-JP" sz="11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4A2D4AF3-1CC4-4934-0B96-59B465612A8D}"/>
              </a:ext>
            </a:extLst>
          </p:cNvPr>
          <p:cNvSpPr/>
          <p:nvPr/>
        </p:nvSpPr>
        <p:spPr>
          <a:xfrm>
            <a:off x="5080363" y="1783080"/>
            <a:ext cx="4328131" cy="23235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 ☑ 現状導入しているツール、計測環境に応じて設計が可能。 </a:t>
            </a:r>
            <a:endParaRPr lang="en-US" altLang="ja-JP" sz="11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1981C36B-B3F0-8036-014B-17B1A065A490}"/>
              </a:ext>
            </a:extLst>
          </p:cNvPr>
          <p:cNvSpPr txBox="1"/>
          <p:nvPr/>
        </p:nvSpPr>
        <p:spPr>
          <a:xfrm>
            <a:off x="3230275" y="2856669"/>
            <a:ext cx="1715105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8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 </a:t>
            </a:r>
            <a:r>
              <a:rPr lang="ja-JP" altLang="en-US" sz="8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導入ツールに応じて費用発生</a:t>
            </a:r>
            <a:endParaRPr lang="en-US" altLang="ja-JP" sz="800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0F171EE4-EBC4-0A03-9342-8E33CDF25A68}"/>
              </a:ext>
            </a:extLst>
          </p:cNvPr>
          <p:cNvSpPr txBox="1"/>
          <p:nvPr/>
        </p:nvSpPr>
        <p:spPr>
          <a:xfrm>
            <a:off x="3230274" y="3083982"/>
            <a:ext cx="1715105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8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 </a:t>
            </a:r>
            <a:r>
              <a:rPr lang="ja-JP" altLang="en-US" sz="8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上限通数を設定して運営可能</a:t>
            </a:r>
            <a:endParaRPr lang="en-US" altLang="ja-JP" sz="800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C6B5A64D-6B62-2D6A-1AF5-5EFCEC948063}"/>
              </a:ext>
            </a:extLst>
          </p:cNvPr>
          <p:cNvSpPr txBox="1"/>
          <p:nvPr/>
        </p:nvSpPr>
        <p:spPr>
          <a:xfrm>
            <a:off x="748334" y="2856669"/>
            <a:ext cx="2101546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8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 </a:t>
            </a:r>
            <a:r>
              <a:rPr lang="ja-JP" altLang="en-US" sz="8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成果件数は</a:t>
            </a:r>
            <a:r>
              <a:rPr lang="en-US" altLang="ja-JP" sz="8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GA</a:t>
            </a:r>
            <a:r>
              <a:rPr lang="ja-JP" altLang="en-US" sz="8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、他ツールでの計測</a:t>
            </a:r>
            <a:endParaRPr lang="en-US" altLang="ja-JP" sz="800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555B5E5B-7EFA-B5FA-0284-3CD0D3947983}"/>
              </a:ext>
            </a:extLst>
          </p:cNvPr>
          <p:cNvSpPr txBox="1"/>
          <p:nvPr/>
        </p:nvSpPr>
        <p:spPr>
          <a:xfrm>
            <a:off x="748333" y="3083982"/>
            <a:ext cx="2322527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8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 </a:t>
            </a:r>
            <a:r>
              <a:rPr lang="ja-JP" altLang="en-US" sz="8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成果報酬単価は広告</a:t>
            </a:r>
            <a:r>
              <a:rPr lang="en-US" altLang="ja-JP" sz="8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CPA</a:t>
            </a:r>
            <a:r>
              <a:rPr lang="ja-JP" altLang="en-US" sz="8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に基づき設定</a:t>
            </a:r>
            <a:endParaRPr lang="en-US" altLang="ja-JP" sz="800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4C08CE37-3C30-0822-0EDA-FEB4C5F762A4}"/>
              </a:ext>
            </a:extLst>
          </p:cNvPr>
          <p:cNvSpPr txBox="1"/>
          <p:nvPr/>
        </p:nvSpPr>
        <p:spPr>
          <a:xfrm>
            <a:off x="5084483" y="2103120"/>
            <a:ext cx="4324011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 </a:t>
            </a:r>
            <a:r>
              <a:rPr lang="ja-JP" altLang="en-US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✓ </a:t>
            </a:r>
            <a:r>
              <a:rPr lang="en-US" altLang="ja-JP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API</a:t>
            </a:r>
            <a:r>
              <a:rPr lang="ja-JP" altLang="en-US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ツール ✓複数の成果地点とそれに伴う成果単価</a:t>
            </a:r>
            <a:endParaRPr lang="en-US" altLang="ja-JP" sz="1050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 に基づいて、契約における条件の調整が可能です。</a:t>
            </a:r>
            <a:endParaRPr lang="en-US" altLang="ja-JP" sz="1050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5D385AB6-97DE-E2AB-6E27-3BFD5D3B3C5D}"/>
              </a:ext>
            </a:extLst>
          </p:cNvPr>
          <p:cNvSpPr/>
          <p:nvPr/>
        </p:nvSpPr>
        <p:spPr>
          <a:xfrm>
            <a:off x="3996942" y="122215"/>
            <a:ext cx="2083719" cy="320757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DYM</a:t>
            </a:r>
            <a:r>
              <a:rPr kumimoji="1"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プラン</a:t>
            </a:r>
          </a:p>
        </p:txBody>
      </p:sp>
      <p:sp>
        <p:nvSpPr>
          <p:cNvPr id="30" name="小見出し"/>
          <p:cNvSpPr/>
          <p:nvPr/>
        </p:nvSpPr>
        <p:spPr>
          <a:xfrm>
            <a:off x="548640" y="3657600"/>
            <a:ext cx="8860536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ja-JP" altLang="en-US" sz="13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すなおコンサルティング様の場合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31" name="差し込み 成果の地点・成果報酬単価"/>
          <p:cNvSpPr/>
          <p:nvPr/>
        </p:nvSpPr>
        <p:spPr>
          <a:xfrm>
            <a:off x="548640" y="4023360"/>
            <a:ext cx="8860536" cy="2194560"/>
          </a:xfrm>
          <a:prstGeom prst="rect">
            <a:avLst/>
          </a:prstGeom>
          <a:noFill/>
          <a:ln w="9525">
            <a:solidFill>
              <a:srgbClr val="7F7F7F"/>
            </a:solidFill>
            <a:prstDash val="dash"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400" b="1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成果の地点・成果報酬単価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テーマ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テーマ1" id="{8EA1701B-0E00-4167-9612-575199E01EDB}" vid="{8EF6575E-BB77-44AE-AF00-801DE4CAFB82}"/>
    </a:ext>
  </a:extLst>
</a:theme>
</file>

<file path=ppt/theme/theme2.xml><?xml version="1.0" encoding="utf-8"?>
<a:theme xmlns:a="http://schemas.openxmlformats.org/drawingml/2006/main" name="DYMJAPA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144887</TotalTime>
  <Words>9949</Words>
  <Application>Microsoft Office PowerPoint</Application>
  <PresentationFormat>A4 210 x 297 mm</PresentationFormat>
  <Paragraphs>2141</Paragraphs>
  <Slides>62</Slides>
  <Notes>11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62</vt:i4>
      </vt:variant>
    </vt:vector>
  </HeadingPairs>
  <TitlesOfParts>
    <vt:vector size="69" baseType="lpstr">
      <vt:lpstr>メイリオ</vt:lpstr>
      <vt:lpstr>メイリオ</vt:lpstr>
      <vt:lpstr>Arial</vt:lpstr>
      <vt:lpstr>Calibri</vt:lpstr>
      <vt:lpstr>Century Gothic</vt:lpstr>
      <vt:lpstr>テーマ1</vt:lpstr>
      <vt:lpstr>DYMJAPAN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中村 駿</dc:creator>
  <cp:lastModifiedBy>殿村 亮太</cp:lastModifiedBy>
  <cp:revision>1915</cp:revision>
  <cp:lastPrinted>2022-11-01T11:38:14Z</cp:lastPrinted>
  <dcterms:created xsi:type="dcterms:W3CDTF">2015-09-04T09:21:15Z</dcterms:created>
  <dcterms:modified xsi:type="dcterms:W3CDTF">2026-10-16T05:39:16Z</dcterms:modified>
</cp:coreProperties>
</file>