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47.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49"/>
  </p:notesMasterIdLst>
  <p:handoutMasterIdLst>
    <p:handoutMasterId r:id="rId50"/>
  </p:handoutMasterIdLst>
  <p:sldIdLst>
    <p:sldId id="2363" r:id="rId3"/>
    <p:sldId id="3151" r:id="rId4"/>
    <p:sldId id="2935" r:id="rId5"/>
    <p:sldId id="2908" r:id="rId6"/>
    <p:sldId id="2950" r:id="rId7"/>
    <p:sldId id="2937" r:id="rId8"/>
    <p:sldId id="2966" r:id="rId9"/>
    <p:sldId id="2939" r:id="rId10"/>
    <p:sldId id="3140" r:id="rId11"/>
    <p:sldId id="3141" r:id="rId12"/>
    <p:sldId id="3142" r:id="rId13"/>
    <p:sldId id="2997" r:id="rId14"/>
    <p:sldId id="2956" r:id="rId15"/>
    <p:sldId id="2988" r:id="rId16"/>
    <p:sldId id="2972" r:id="rId17"/>
    <p:sldId id="3139" r:id="rId18"/>
    <p:sldId id="3147" r:id="rId19"/>
    <p:sldId id="3138" r:id="rId20"/>
    <p:sldId id="267" r:id="rId21"/>
    <p:sldId id="3148" r:id="rId22"/>
    <p:sldId id="2736" r:id="rId23"/>
    <p:sldId id="3154" r:id="rId55"/>
    <p:sldId id="2983" r:id="rId24"/>
    <p:sldId id="2996" r:id="rId25"/>
    <p:sldId id="3143" r:id="rId26"/>
    <p:sldId id="3153" r:id="rId27"/>
    <p:sldId id="3144" r:id="rId28"/>
    <p:sldId id="3149" r:id="rId29"/>
    <p:sldId id="3145" r:id="rId30"/>
    <p:sldId id="3150" r:id="rId31"/>
    <p:sldId id="2984" r:id="rId32"/>
    <p:sldId id="2985" r:id="rId33"/>
    <p:sldId id="2962" r:id="rId34"/>
    <p:sldId id="2942" r:id="rId35"/>
    <p:sldId id="2941" r:id="rId36"/>
    <p:sldId id="2943" r:id="rId37"/>
    <p:sldId id="2944" r:id="rId38"/>
    <p:sldId id="3146" r:id="rId39"/>
    <p:sldId id="2990" r:id="rId40"/>
    <p:sldId id="2991" r:id="rId41"/>
    <p:sldId id="2967" r:id="rId42"/>
    <p:sldId id="3152" r:id="rId43"/>
    <p:sldId id="2946" r:id="rId44"/>
    <p:sldId id="2947" r:id="rId45"/>
    <p:sldId id="2948" r:id="rId46"/>
    <p:sldId id="2958" r:id="rId47"/>
    <p:sldId id="1169" r:id="rId48"/>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DFD"/>
    <a:srgbClr val="2D6CB9"/>
    <a:srgbClr val="173559"/>
    <a:srgbClr val="04FA0A"/>
    <a:srgbClr val="2080FF"/>
    <a:srgbClr val="1D8DFF"/>
    <a:srgbClr val="515457"/>
    <a:srgbClr val="F6A454"/>
    <a:srgbClr val="EAEEF4"/>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905" autoAdjust="0"/>
    <p:restoredTop sz="94424" autoAdjust="0"/>
  </p:normalViewPr>
  <p:slideViewPr>
    <p:cSldViewPr snapToGrid="0">
      <p:cViewPr>
        <p:scale>
          <a:sx n="100" d="100"/>
          <a:sy n="100" d="100"/>
        </p:scale>
        <p:origin x="1830" y="318"/>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handoutMaster" Target="handoutMasters/handoutMaster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theme" Target="theme/theme1.xml"/><Relationship Id="rId5" Type="http://schemas.openxmlformats.org/officeDocument/2006/relationships/slide" Target="slides/slide3.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8" Type="http://schemas.openxmlformats.org/officeDocument/2006/relationships/slide" Target="slides/slide6.xml"/><Relationship Id="rId51" Type="http://schemas.openxmlformats.org/officeDocument/2006/relationships/presProps" Target="presProp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notesMaster" Target="notesMasters/notesMaster1.xml"/><Relationship Id="rId55" Type="http://schemas.openxmlformats.org/officeDocument/2006/relationships/slide" Target="slides/slide4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2026/9/8</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メイリオ"/>
        <a:ea typeface="メイリオ"/>
        <a:cs typeface="+mn-cs"/>
      </a:defRPr>
    </a:lvl1pPr>
    <a:lvl2pPr marL="457200" algn="l" defTabSz="914400" rtl="0" eaLnBrk="1" latinLnBrk="0" hangingPunct="1">
      <a:defRPr kumimoji="1" sz="1200" kern="1200">
        <a:solidFill>
          <a:schemeClr val="tx1"/>
        </a:solidFill>
        <a:latin typeface="メイリオ"/>
        <a:ea typeface="メイリオ"/>
        <a:cs typeface="+mn-cs"/>
      </a:defRPr>
    </a:lvl2pPr>
    <a:lvl3pPr marL="914400" algn="l" defTabSz="914400" rtl="0" eaLnBrk="1" latinLnBrk="0" hangingPunct="1">
      <a:defRPr kumimoji="1" sz="1200" kern="1200">
        <a:solidFill>
          <a:schemeClr val="tx1"/>
        </a:solidFill>
        <a:latin typeface="メイリオ"/>
        <a:ea typeface="メイリオ"/>
        <a:cs typeface="+mn-cs"/>
      </a:defRPr>
    </a:lvl3pPr>
    <a:lvl4pPr marL="1371600" algn="l" defTabSz="914400" rtl="0" eaLnBrk="1" latinLnBrk="0" hangingPunct="1">
      <a:defRPr kumimoji="1" sz="1200" kern="1200">
        <a:solidFill>
          <a:schemeClr val="tx1"/>
        </a:solidFill>
        <a:latin typeface="メイリオ"/>
        <a:ea typeface="メイリオ"/>
        <a:cs typeface="+mn-cs"/>
      </a:defRPr>
    </a:lvl4pPr>
    <a:lvl5pPr marL="1828800" algn="l" defTabSz="914400" rtl="0" eaLnBrk="1" latinLnBrk="0" hangingPunct="1">
      <a:defRPr kumimoji="1" sz="1200" kern="1200">
        <a:solidFill>
          <a:schemeClr val="tx1"/>
        </a:solidFill>
        <a:latin typeface="メイリオ"/>
        <a:ea typeface="メイリオ"/>
        <a:cs typeface="+mn-cs"/>
      </a:defRPr>
    </a:lvl5pPr>
    <a:lvl6pPr marL="2286000" algn="l" defTabSz="914400" rtl="0" eaLnBrk="1" latinLnBrk="0" hangingPunct="1">
      <a:defRPr kumimoji="1" sz="1200" kern="1200">
        <a:solidFill>
          <a:schemeClr val="tx1"/>
        </a:solidFill>
        <a:latin typeface="メイリオ"/>
        <a:ea typeface="メイリオ"/>
        <a:cs typeface="+mn-cs"/>
      </a:defRPr>
    </a:lvl6pPr>
    <a:lvl7pPr marL="2743200" algn="l" defTabSz="914400" rtl="0" eaLnBrk="1" latinLnBrk="0" hangingPunct="1">
      <a:defRPr kumimoji="1" sz="1200" kern="1200">
        <a:solidFill>
          <a:schemeClr val="tx1"/>
        </a:solidFill>
        <a:latin typeface="メイリオ"/>
        <a:ea typeface="メイリオ"/>
        <a:cs typeface="+mn-cs"/>
      </a:defRPr>
    </a:lvl7pPr>
    <a:lvl8pPr marL="3200400" algn="l" defTabSz="914400" rtl="0" eaLnBrk="1" latinLnBrk="0" hangingPunct="1">
      <a:defRPr kumimoji="1" sz="1200" kern="1200">
        <a:solidFill>
          <a:schemeClr val="tx1"/>
        </a:solidFill>
        <a:latin typeface="メイリオ"/>
        <a:ea typeface="メイリオ"/>
        <a:cs typeface="+mn-cs"/>
      </a:defRPr>
    </a:lvl8pPr>
    <a:lvl9pPr marL="3657600" algn="l" defTabSz="914400" rtl="0" eaLnBrk="1" latinLnBrk="0" hangingPunct="1">
      <a:defRPr kumimoji="1" sz="1200" kern="1200">
        <a:solidFill>
          <a:schemeClr val="tx1"/>
        </a:solidFill>
        <a:latin typeface="メイリオ"/>
        <a:ea typeface="メイリオ"/>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3</a:t>
            </a:fld>
            <a:endParaRPr kumimoji="1" lang="ja-JP" altLang="en-US"/>
          </a:p>
        </p:txBody>
      </p:sp>
    </p:spTree>
    <p:extLst>
      <p:ext uri="{BB962C8B-B14F-4D97-AF65-F5344CB8AC3E}">
        <p14:creationId xmlns:p14="http://schemas.microsoft.com/office/powerpoint/2010/main" val="11254210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5</a:t>
            </a:fld>
            <a:endParaRPr kumimoji="1" lang="ja-JP" altLang="en-US"/>
          </a:p>
        </p:txBody>
      </p:sp>
    </p:spTree>
    <p:extLst>
      <p:ext uri="{BB962C8B-B14F-4D97-AF65-F5344CB8AC3E}">
        <p14:creationId xmlns:p14="http://schemas.microsoft.com/office/powerpoint/2010/main" val="6156830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440A72-79AB-D734-F919-6B5353A0768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043DCC9-013F-5916-497A-3173AB3EE69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AE4841C-3C6F-F028-ED9E-D25D3936D70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A806F5D-B3E8-8EF8-D9FF-5F440AE7245B}"/>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42606325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6"/>
        <p:cNvGrpSpPr/>
        <p:nvPr/>
      </p:nvGrpSpPr>
      <p:grpSpPr>
        <a:xfrm>
          <a:off x="0" y="0"/>
          <a:ext cx="0" cy="0"/>
          <a:chOff x="0" y="0"/>
          <a:chExt cx="0" cy="0"/>
        </a:xfrm>
      </p:grpSpPr>
      <p:sp>
        <p:nvSpPr>
          <p:cNvPr id="467" name="Google Shape;467;p12:notes"/>
          <p:cNvSpPr txBox="1">
            <a:spLocks noGrp="1"/>
          </p:cNvSpPr>
          <p:nvPr>
            <p:ph type="body" idx="1"/>
          </p:nvPr>
        </p:nvSpPr>
        <p:spPr>
          <a:xfrm>
            <a:off x="992030" y="3229651"/>
            <a:ext cx="7945755" cy="3059669"/>
          </a:xfrm>
          <a:prstGeom prst="rect">
            <a:avLst/>
          </a:prstGeom>
        </p:spPr>
        <p:txBody>
          <a:bodyPr spcFirstLastPara="1" wrap="square" lIns="95525" tIns="47750" rIns="95525" bIns="47750" anchor="t" anchorCtr="0">
            <a:noAutofit/>
          </a:bodyPr>
          <a:lstStyle/>
          <a:p>
            <a:pPr marL="0" lvl="0" indent="0" algn="l" rtl="0">
              <a:spcBef>
                <a:spcPts val="360"/>
              </a:spcBef>
              <a:spcAft>
                <a:spcPts val="0"/>
              </a:spcAft>
              <a:buNone/>
            </a:pPr>
            <a:endParaRPr/>
          </a:p>
        </p:txBody>
      </p:sp>
      <p:sp>
        <p:nvSpPr>
          <p:cNvPr id="468" name="Google Shape;468;p12:notes"/>
          <p:cNvSpPr>
            <a:spLocks noGrp="1" noRot="1" noChangeAspect="1"/>
          </p:cNvSpPr>
          <p:nvPr>
            <p:ph type="sldImg" idx="2"/>
          </p:nvPr>
        </p:nvSpPr>
        <p:spPr>
          <a:xfrm>
            <a:off x="3124200" y="509588"/>
            <a:ext cx="3681413" cy="254952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172251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9B1800-D47D-9623-88C4-F3F1B11ED7C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B704ED9-0313-110E-A57A-A9A15550FCA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01CA249-8084-E89C-5484-AD2CD6CA53A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CB72AE6-8350-35EF-B366-1B6DD9FAA1BC}"/>
              </a:ext>
            </a:extLst>
          </p:cNvPr>
          <p:cNvSpPr>
            <a:spLocks noGrp="1"/>
          </p:cNvSpPr>
          <p:nvPr>
            <p:ph type="sldNum" sz="quarter" idx="10"/>
          </p:nvPr>
        </p:nvSpPr>
        <p:spPr/>
        <p:txBody>
          <a:bodyPr/>
          <a:lstStyle/>
          <a:p>
            <a:fld id="{022E43C0-6795-4B13-B37C-259C826D4B6A}" type="slidenum">
              <a:rPr kumimoji="1" lang="ja-JP" altLang="en-US" smtClean="0"/>
              <a:t>22</a:t>
            </a:fld>
            <a:endParaRPr kumimoji="1" lang="ja-JP" altLang="en-US"/>
          </a:p>
        </p:txBody>
      </p:sp>
    </p:spTree>
    <p:extLst>
      <p:ext uri="{BB962C8B-B14F-4D97-AF65-F5344CB8AC3E}">
        <p14:creationId xmlns:p14="http://schemas.microsoft.com/office/powerpoint/2010/main" val="8376308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1A0FCE-2B60-6073-0196-9BECEBB48CB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7CFE8D6-363C-C197-3C60-88A1849108C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2E45DC0-523A-3D00-326B-F7335CED0B2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781AB6B-D743-8208-3F8A-0CEEC635A50D}"/>
              </a:ext>
            </a:extLst>
          </p:cNvPr>
          <p:cNvSpPr>
            <a:spLocks noGrp="1"/>
          </p:cNvSpPr>
          <p:nvPr>
            <p:ph type="sldNum" sz="quarter" idx="10"/>
          </p:nvPr>
        </p:nvSpPr>
        <p:spPr/>
        <p:txBody>
          <a:bodyPr/>
          <a:lstStyle/>
          <a:p>
            <a:fld id="{022E43C0-6795-4B13-B37C-259C826D4B6A}" type="slidenum">
              <a:rPr kumimoji="1" lang="ja-JP" altLang="en-US" smtClean="0"/>
              <a:t>23</a:t>
            </a:fld>
            <a:endParaRPr kumimoji="1" lang="ja-JP" altLang="en-US"/>
          </a:p>
        </p:txBody>
      </p:sp>
    </p:spTree>
    <p:extLst>
      <p:ext uri="{BB962C8B-B14F-4D97-AF65-F5344CB8AC3E}">
        <p14:creationId xmlns:p14="http://schemas.microsoft.com/office/powerpoint/2010/main" val="12930765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7D297-594A-D322-AC6D-28FDD0CCC6A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D47DAF-3395-7EB8-B917-99947107C4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D9425B-51D3-BDCB-545C-23641969BEA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3D62E5C-A1FD-A187-2F31-A827800A2799}"/>
              </a:ext>
            </a:extLst>
          </p:cNvPr>
          <p:cNvSpPr>
            <a:spLocks noGrp="1"/>
          </p:cNvSpPr>
          <p:nvPr>
            <p:ph type="sldNum" sz="quarter" idx="10"/>
          </p:nvPr>
        </p:nvSpPr>
        <p:spPr/>
        <p:txBody>
          <a:bodyPr/>
          <a:lstStyle/>
          <a:p>
            <a:fld id="{022E43C0-6795-4B13-B37C-259C826D4B6A}" type="slidenum">
              <a:rPr kumimoji="1" lang="ja-JP" altLang="en-US" smtClean="0"/>
              <a:t>30</a:t>
            </a:fld>
            <a:endParaRPr kumimoji="1" lang="ja-JP" altLang="en-US"/>
          </a:p>
        </p:txBody>
      </p:sp>
    </p:spTree>
    <p:extLst>
      <p:ext uri="{BB962C8B-B14F-4D97-AF65-F5344CB8AC3E}">
        <p14:creationId xmlns:p14="http://schemas.microsoft.com/office/powerpoint/2010/main" val="35219002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4CC1BB-A366-B481-D59D-4EB55327777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0890F8B-EEFF-D02B-04F0-B8C096E43F4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1D321AA-CFFF-72F6-A10A-CE135C21D90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628A77C-D838-F107-1299-1CFE8BFB2F29}"/>
              </a:ext>
            </a:extLst>
          </p:cNvPr>
          <p:cNvSpPr>
            <a:spLocks noGrp="1"/>
          </p:cNvSpPr>
          <p:nvPr>
            <p:ph type="sldNum" sz="quarter" idx="10"/>
          </p:nvPr>
        </p:nvSpPr>
        <p:spPr/>
        <p:txBody>
          <a:bodyPr/>
          <a:lstStyle/>
          <a:p>
            <a:fld id="{022E43C0-6795-4B13-B37C-259C826D4B6A}" type="slidenum">
              <a:rPr kumimoji="1" lang="ja-JP" altLang="en-US" smtClean="0"/>
              <a:t>31</a:t>
            </a:fld>
            <a:endParaRPr kumimoji="1" lang="ja-JP" altLang="en-US"/>
          </a:p>
        </p:txBody>
      </p:sp>
    </p:spTree>
    <p:extLst>
      <p:ext uri="{BB962C8B-B14F-4D97-AF65-F5344CB8AC3E}">
        <p14:creationId xmlns:p14="http://schemas.microsoft.com/office/powerpoint/2010/main" val="30923610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メイリオ"/>
              <a:ea typeface="メイリオ"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メイリオ"/>
                <a:ea typeface="メイリオ" panose="020B0600070205080204" pitchFamily="50" charset="-128"/>
              </a:rPr>
              <a:pPr defTabSz="956886">
                <a:defRPr/>
              </a:pPr>
              <a:t>46</a:t>
            </a:fld>
            <a:endParaRPr lang="ja-JP" altLang="en-US">
              <a:solidFill>
                <a:prstClr val="black"/>
              </a:solidFill>
              <a:latin typeface="メイリオ"/>
              <a:ea typeface="メイリオ"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メイリオ"/>
                <a:ea typeface="メイリオ"/>
                <a:cs typeface="+mn-cs"/>
              </a:defRPr>
            </a:lvl1pPr>
            <a:lvl2pPr marL="457200" algn="l" defTabSz="914400" rtl="0" eaLnBrk="1" latinLnBrk="0" hangingPunct="1">
              <a:defRPr kumimoji="1" sz="1800" kern="1200">
                <a:solidFill>
                  <a:schemeClr val="tx1"/>
                </a:solidFill>
                <a:latin typeface="メイリオ"/>
                <a:ea typeface="メイリオ"/>
                <a:cs typeface="+mn-cs"/>
              </a:defRPr>
            </a:lvl2pPr>
            <a:lvl3pPr marL="914400" algn="l" defTabSz="914400" rtl="0" eaLnBrk="1" latinLnBrk="0" hangingPunct="1">
              <a:defRPr kumimoji="1" sz="1800" kern="1200">
                <a:solidFill>
                  <a:schemeClr val="tx1"/>
                </a:solidFill>
                <a:latin typeface="メイリオ"/>
                <a:ea typeface="メイリオ"/>
                <a:cs typeface="+mn-cs"/>
              </a:defRPr>
            </a:lvl3pPr>
            <a:lvl4pPr marL="1371600" algn="l" defTabSz="914400" rtl="0" eaLnBrk="1" latinLnBrk="0" hangingPunct="1">
              <a:defRPr kumimoji="1" sz="1800" kern="1200">
                <a:solidFill>
                  <a:schemeClr val="tx1"/>
                </a:solidFill>
                <a:latin typeface="メイリオ"/>
                <a:ea typeface="メイリオ"/>
                <a:cs typeface="+mn-cs"/>
              </a:defRPr>
            </a:lvl4pPr>
            <a:lvl5pPr marL="1828800" algn="l" defTabSz="914400" rtl="0" eaLnBrk="1" latinLnBrk="0" hangingPunct="1">
              <a:defRPr kumimoji="1" sz="1800" kern="1200">
                <a:solidFill>
                  <a:schemeClr val="tx1"/>
                </a:solidFill>
                <a:latin typeface="メイリオ"/>
                <a:ea typeface="メイリオ"/>
                <a:cs typeface="+mn-cs"/>
              </a:defRPr>
            </a:lvl5pPr>
            <a:lvl6pPr marL="2286000" algn="l" defTabSz="914400" rtl="0" eaLnBrk="1" latinLnBrk="0" hangingPunct="1">
              <a:defRPr kumimoji="1" sz="1800" kern="1200">
                <a:solidFill>
                  <a:schemeClr val="tx1"/>
                </a:solidFill>
                <a:latin typeface="メイリオ"/>
                <a:ea typeface="メイリオ"/>
                <a:cs typeface="+mn-cs"/>
              </a:defRPr>
            </a:lvl6pPr>
            <a:lvl7pPr marL="2743200" algn="l" defTabSz="914400" rtl="0" eaLnBrk="1" latinLnBrk="0" hangingPunct="1">
              <a:defRPr kumimoji="1" sz="1800" kern="1200">
                <a:solidFill>
                  <a:schemeClr val="tx1"/>
                </a:solidFill>
                <a:latin typeface="メイリオ"/>
                <a:ea typeface="メイリオ"/>
                <a:cs typeface="+mn-cs"/>
              </a:defRPr>
            </a:lvl7pPr>
            <a:lvl8pPr marL="3200400" algn="l" defTabSz="914400" rtl="0" eaLnBrk="1" latinLnBrk="0" hangingPunct="1">
              <a:defRPr kumimoji="1" sz="1800" kern="1200">
                <a:solidFill>
                  <a:schemeClr val="tx1"/>
                </a:solidFill>
                <a:latin typeface="メイリオ"/>
                <a:ea typeface="メイリオ"/>
                <a:cs typeface="+mn-cs"/>
              </a:defRPr>
            </a:lvl8pPr>
            <a:lvl9pPr marL="3657600" algn="l" defTabSz="914400" rtl="0" eaLnBrk="1" latinLnBrk="0" hangingPunct="1">
              <a:defRPr kumimoji="1" sz="1800" kern="1200">
                <a:solidFill>
                  <a:schemeClr val="tx1"/>
                </a:solidFill>
                <a:latin typeface="メイリオ"/>
                <a:ea typeface="メイリオ"/>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メイリオ" charset="0"/>
                <a:ea typeface="メイリオ" charset="0"/>
                <a:cs typeface="ＭＳ Ｐゴシック" charset="0"/>
              </a:defRPr>
            </a:lvl1pPr>
            <a:lvl2pPr marL="742950" indent="-285750">
              <a:defRPr kumimoji="1" sz="2400">
                <a:solidFill>
                  <a:schemeClr val="tx1"/>
                </a:solidFill>
                <a:latin typeface="メイリオ" charset="0"/>
                <a:ea typeface="メイリオ" charset="0"/>
              </a:defRPr>
            </a:lvl2pPr>
            <a:lvl3pPr marL="1143000" indent="-228600">
              <a:defRPr kumimoji="1" sz="2400">
                <a:solidFill>
                  <a:schemeClr val="tx1"/>
                </a:solidFill>
                <a:latin typeface="メイリオ" charset="0"/>
                <a:ea typeface="メイリオ" charset="0"/>
              </a:defRPr>
            </a:lvl3pPr>
            <a:lvl4pPr marL="1600200" indent="-228600">
              <a:defRPr kumimoji="1" sz="2400">
                <a:solidFill>
                  <a:schemeClr val="tx1"/>
                </a:solidFill>
                <a:latin typeface="メイリオ" charset="0"/>
                <a:ea typeface="メイリオ" charset="0"/>
              </a:defRPr>
            </a:lvl4pPr>
            <a:lvl5pPr marL="2057400" indent="-228600">
              <a:defRPr kumimoji="1" sz="2400">
                <a:solidFill>
                  <a:schemeClr val="tx1"/>
                </a:solidFill>
                <a:latin typeface="メイリオ" charset="0"/>
                <a:ea typeface="メイリオ" charset="0"/>
              </a:defRPr>
            </a:lvl5pPr>
            <a:lvl6pPr marL="2514600" indent="-228600" fontAlgn="base">
              <a:spcBef>
                <a:spcPct val="0"/>
              </a:spcBef>
              <a:spcAft>
                <a:spcPct val="0"/>
              </a:spcAft>
              <a:defRPr kumimoji="1" sz="2400">
                <a:solidFill>
                  <a:schemeClr val="tx1"/>
                </a:solidFill>
                <a:latin typeface="メイリオ" charset="0"/>
                <a:ea typeface="メイリオ" charset="0"/>
              </a:defRPr>
            </a:lvl6pPr>
            <a:lvl7pPr marL="2971800" indent="-228600" fontAlgn="base">
              <a:spcBef>
                <a:spcPct val="0"/>
              </a:spcBef>
              <a:spcAft>
                <a:spcPct val="0"/>
              </a:spcAft>
              <a:defRPr kumimoji="1" sz="2400">
                <a:solidFill>
                  <a:schemeClr val="tx1"/>
                </a:solidFill>
                <a:latin typeface="メイリオ" charset="0"/>
                <a:ea typeface="メイリオ" charset="0"/>
              </a:defRPr>
            </a:lvl7pPr>
            <a:lvl8pPr marL="3429000" indent="-228600" fontAlgn="base">
              <a:spcBef>
                <a:spcPct val="0"/>
              </a:spcBef>
              <a:spcAft>
                <a:spcPct val="0"/>
              </a:spcAft>
              <a:defRPr kumimoji="1" sz="2400">
                <a:solidFill>
                  <a:schemeClr val="tx1"/>
                </a:solidFill>
                <a:latin typeface="メイリオ" charset="0"/>
                <a:ea typeface="メイリオ" charset="0"/>
              </a:defRPr>
            </a:lvl8pPr>
            <a:lvl9pPr marL="3886200" indent="-228600" fontAlgn="base">
              <a:spcBef>
                <a:spcPct val="0"/>
              </a:spcBef>
              <a:spcAft>
                <a:spcPct val="0"/>
              </a:spcAft>
              <a:defRPr kumimoji="1" sz="2400">
                <a:solidFill>
                  <a:schemeClr val="tx1"/>
                </a:solidFill>
                <a:latin typeface="メイリオ" charset="0"/>
                <a:ea typeface="メイリオ"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メイリオ"/>
          <a:ea typeface="メイリオ"/>
          <a:cs typeface="+mj-cs"/>
        </a:defRPr>
      </a:lvl1pPr>
      <a:lvl2pPr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2pPr>
      <a:lvl3pPr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3pPr>
      <a:lvl4pPr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4pPr>
      <a:lvl5pPr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5pPr>
      <a:lvl6pPr marL="457200"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6pPr>
      <a:lvl7pPr marL="914400"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7pPr>
      <a:lvl8pPr marL="1371600"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8pPr>
      <a:lvl9pPr marL="1828800"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メイリオ"/>
          <a:ea typeface="メイリオ"/>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メイリオ"/>
          <a:ea typeface="メイリオ"/>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メイリオ"/>
          <a:ea typeface="メイリオ"/>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メイリオ"/>
          <a:ea typeface="メイリオ"/>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メイリオ"/>
          <a:ea typeface="メイリオ"/>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メイリオ"/>
          <a:ea typeface="メイリオ"/>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メイリオ"/>
          <a:ea typeface="メイリオ"/>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メイリオ"/>
          <a:ea typeface="メイリオ"/>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メイリオ"/>
          <a:ea typeface="メイリオ"/>
          <a:cs typeface="+mn-cs"/>
        </a:defRPr>
      </a:lvl9pPr>
    </p:bodyStyle>
    <p:otherStyle>
      <a:defPPr>
        <a:defRPr lang="ja-JP"/>
      </a:defPPr>
      <a:lvl1pPr marL="0" algn="l" defTabSz="914400" rtl="0" eaLnBrk="1" latinLnBrk="0" hangingPunct="1">
        <a:defRPr kumimoji="1" sz="1800" kern="1200">
          <a:solidFill>
            <a:schemeClr val="tx1"/>
          </a:solidFill>
          <a:latin typeface="メイリオ"/>
          <a:ea typeface="メイリオ"/>
          <a:cs typeface="+mn-cs"/>
        </a:defRPr>
      </a:lvl1pPr>
      <a:lvl2pPr marL="457200" algn="l" defTabSz="914400" rtl="0" eaLnBrk="1" latinLnBrk="0" hangingPunct="1">
        <a:defRPr kumimoji="1" sz="1800" kern="1200">
          <a:solidFill>
            <a:schemeClr val="tx1"/>
          </a:solidFill>
          <a:latin typeface="メイリオ"/>
          <a:ea typeface="メイリオ"/>
          <a:cs typeface="+mn-cs"/>
        </a:defRPr>
      </a:lvl2pPr>
      <a:lvl3pPr marL="914400" algn="l" defTabSz="914400" rtl="0" eaLnBrk="1" latinLnBrk="0" hangingPunct="1">
        <a:defRPr kumimoji="1" sz="1800" kern="1200">
          <a:solidFill>
            <a:schemeClr val="tx1"/>
          </a:solidFill>
          <a:latin typeface="メイリオ"/>
          <a:ea typeface="メイリオ"/>
          <a:cs typeface="+mn-cs"/>
        </a:defRPr>
      </a:lvl3pPr>
      <a:lvl4pPr marL="1371600" algn="l" defTabSz="914400" rtl="0" eaLnBrk="1" latinLnBrk="0" hangingPunct="1">
        <a:defRPr kumimoji="1" sz="1800" kern="1200">
          <a:solidFill>
            <a:schemeClr val="tx1"/>
          </a:solidFill>
          <a:latin typeface="メイリオ"/>
          <a:ea typeface="メイリオ"/>
          <a:cs typeface="+mn-cs"/>
        </a:defRPr>
      </a:lvl4pPr>
      <a:lvl5pPr marL="1828800" algn="l" defTabSz="914400" rtl="0" eaLnBrk="1" latinLnBrk="0" hangingPunct="1">
        <a:defRPr kumimoji="1" sz="1800" kern="1200">
          <a:solidFill>
            <a:schemeClr val="tx1"/>
          </a:solidFill>
          <a:latin typeface="メイリオ"/>
          <a:ea typeface="メイリオ"/>
          <a:cs typeface="+mn-cs"/>
        </a:defRPr>
      </a:lvl5pPr>
      <a:lvl6pPr marL="2286000" algn="l" defTabSz="914400" rtl="0" eaLnBrk="1" latinLnBrk="0" hangingPunct="1">
        <a:defRPr kumimoji="1" sz="1800" kern="1200">
          <a:solidFill>
            <a:schemeClr val="tx1"/>
          </a:solidFill>
          <a:latin typeface="メイリオ"/>
          <a:ea typeface="メイリオ"/>
          <a:cs typeface="+mn-cs"/>
        </a:defRPr>
      </a:lvl6pPr>
      <a:lvl7pPr marL="2743200" algn="l" defTabSz="914400" rtl="0" eaLnBrk="1" latinLnBrk="0" hangingPunct="1">
        <a:defRPr kumimoji="1" sz="1800" kern="1200">
          <a:solidFill>
            <a:schemeClr val="tx1"/>
          </a:solidFill>
          <a:latin typeface="メイリオ"/>
          <a:ea typeface="メイリオ"/>
          <a:cs typeface="+mn-cs"/>
        </a:defRPr>
      </a:lvl7pPr>
      <a:lvl8pPr marL="3200400" algn="l" defTabSz="914400" rtl="0" eaLnBrk="1" latinLnBrk="0" hangingPunct="1">
        <a:defRPr kumimoji="1" sz="1800" kern="1200">
          <a:solidFill>
            <a:schemeClr val="tx1"/>
          </a:solidFill>
          <a:latin typeface="メイリオ"/>
          <a:ea typeface="メイリオ"/>
          <a:cs typeface="+mn-cs"/>
        </a:defRPr>
      </a:lvl8pPr>
      <a:lvl9pPr marL="3657600" algn="l" defTabSz="914400" rtl="0" eaLnBrk="1" latinLnBrk="0" hangingPunct="1">
        <a:defRPr kumimoji="1" sz="1800" kern="1200">
          <a:solidFill>
            <a:schemeClr val="tx1"/>
          </a:solidFill>
          <a:latin typeface="メイリオ"/>
          <a:ea typeface="メイリオ"/>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メイリオ" charset="0"/>
                <a:ea typeface="メイリオ" charset="0"/>
                <a:cs typeface="ＭＳ Ｐゴシック" charset="0"/>
              </a:defRPr>
            </a:lvl1pPr>
            <a:lvl2pPr marL="742950" indent="-285750">
              <a:defRPr kumimoji="1" sz="2400">
                <a:solidFill>
                  <a:schemeClr val="tx1"/>
                </a:solidFill>
                <a:latin typeface="メイリオ" charset="0"/>
                <a:ea typeface="メイリオ" charset="0"/>
              </a:defRPr>
            </a:lvl2pPr>
            <a:lvl3pPr marL="1143000" indent="-228600">
              <a:defRPr kumimoji="1" sz="2400">
                <a:solidFill>
                  <a:schemeClr val="tx1"/>
                </a:solidFill>
                <a:latin typeface="メイリオ" charset="0"/>
                <a:ea typeface="メイリオ" charset="0"/>
              </a:defRPr>
            </a:lvl3pPr>
            <a:lvl4pPr marL="1600200" indent="-228600">
              <a:defRPr kumimoji="1" sz="2400">
                <a:solidFill>
                  <a:schemeClr val="tx1"/>
                </a:solidFill>
                <a:latin typeface="メイリオ" charset="0"/>
                <a:ea typeface="メイリオ" charset="0"/>
              </a:defRPr>
            </a:lvl4pPr>
            <a:lvl5pPr marL="2057400" indent="-228600">
              <a:defRPr kumimoji="1" sz="2400">
                <a:solidFill>
                  <a:schemeClr val="tx1"/>
                </a:solidFill>
                <a:latin typeface="メイリオ" charset="0"/>
                <a:ea typeface="メイリオ" charset="0"/>
              </a:defRPr>
            </a:lvl5pPr>
            <a:lvl6pPr marL="2514600" indent="-228600" fontAlgn="base">
              <a:spcBef>
                <a:spcPct val="0"/>
              </a:spcBef>
              <a:spcAft>
                <a:spcPct val="0"/>
              </a:spcAft>
              <a:defRPr kumimoji="1" sz="2400">
                <a:solidFill>
                  <a:schemeClr val="tx1"/>
                </a:solidFill>
                <a:latin typeface="メイリオ" charset="0"/>
                <a:ea typeface="メイリオ" charset="0"/>
              </a:defRPr>
            </a:lvl6pPr>
            <a:lvl7pPr marL="2971800" indent="-228600" fontAlgn="base">
              <a:spcBef>
                <a:spcPct val="0"/>
              </a:spcBef>
              <a:spcAft>
                <a:spcPct val="0"/>
              </a:spcAft>
              <a:defRPr kumimoji="1" sz="2400">
                <a:solidFill>
                  <a:schemeClr val="tx1"/>
                </a:solidFill>
                <a:latin typeface="メイリオ" charset="0"/>
                <a:ea typeface="メイリオ" charset="0"/>
              </a:defRPr>
            </a:lvl7pPr>
            <a:lvl8pPr marL="3429000" indent="-228600" fontAlgn="base">
              <a:spcBef>
                <a:spcPct val="0"/>
              </a:spcBef>
              <a:spcAft>
                <a:spcPct val="0"/>
              </a:spcAft>
              <a:defRPr kumimoji="1" sz="2400">
                <a:solidFill>
                  <a:schemeClr val="tx1"/>
                </a:solidFill>
                <a:latin typeface="メイリオ" charset="0"/>
                <a:ea typeface="メイリオ" charset="0"/>
              </a:defRPr>
            </a:lvl8pPr>
            <a:lvl9pPr marL="3886200" indent="-228600" fontAlgn="base">
              <a:spcBef>
                <a:spcPct val="0"/>
              </a:spcBef>
              <a:spcAft>
                <a:spcPct val="0"/>
              </a:spcAft>
              <a:defRPr kumimoji="1" sz="2400">
                <a:solidFill>
                  <a:schemeClr val="tx1"/>
                </a:solidFill>
                <a:latin typeface="メイリオ" charset="0"/>
                <a:ea typeface="メイリオ"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メイリオ"/>
                <a:ea typeface="メイリオ"/>
                <a:cs typeface="+mn-cs"/>
              </a:defRPr>
            </a:lvl1pPr>
            <a:lvl2pPr marL="457200" algn="l" defTabSz="914400" rtl="0" eaLnBrk="1" latinLnBrk="0" hangingPunct="1">
              <a:defRPr kumimoji="1" sz="1800" kern="1200">
                <a:solidFill>
                  <a:schemeClr val="tx1"/>
                </a:solidFill>
                <a:latin typeface="メイリオ"/>
                <a:ea typeface="メイリオ"/>
                <a:cs typeface="+mn-cs"/>
              </a:defRPr>
            </a:lvl2pPr>
            <a:lvl3pPr marL="914400" algn="l" defTabSz="914400" rtl="0" eaLnBrk="1" latinLnBrk="0" hangingPunct="1">
              <a:defRPr kumimoji="1" sz="1800" kern="1200">
                <a:solidFill>
                  <a:schemeClr val="tx1"/>
                </a:solidFill>
                <a:latin typeface="メイリオ"/>
                <a:ea typeface="メイリオ"/>
                <a:cs typeface="+mn-cs"/>
              </a:defRPr>
            </a:lvl3pPr>
            <a:lvl4pPr marL="1371600" algn="l" defTabSz="914400" rtl="0" eaLnBrk="1" latinLnBrk="0" hangingPunct="1">
              <a:defRPr kumimoji="1" sz="1800" kern="1200">
                <a:solidFill>
                  <a:schemeClr val="tx1"/>
                </a:solidFill>
                <a:latin typeface="メイリオ"/>
                <a:ea typeface="メイリオ"/>
                <a:cs typeface="+mn-cs"/>
              </a:defRPr>
            </a:lvl4pPr>
            <a:lvl5pPr marL="1828800" algn="l" defTabSz="914400" rtl="0" eaLnBrk="1" latinLnBrk="0" hangingPunct="1">
              <a:defRPr kumimoji="1" sz="1800" kern="1200">
                <a:solidFill>
                  <a:schemeClr val="tx1"/>
                </a:solidFill>
                <a:latin typeface="メイリオ"/>
                <a:ea typeface="メイリオ"/>
                <a:cs typeface="+mn-cs"/>
              </a:defRPr>
            </a:lvl5pPr>
            <a:lvl6pPr marL="2286000" algn="l" defTabSz="914400" rtl="0" eaLnBrk="1" latinLnBrk="0" hangingPunct="1">
              <a:defRPr kumimoji="1" sz="1800" kern="1200">
                <a:solidFill>
                  <a:schemeClr val="tx1"/>
                </a:solidFill>
                <a:latin typeface="メイリオ"/>
                <a:ea typeface="メイリオ"/>
                <a:cs typeface="+mn-cs"/>
              </a:defRPr>
            </a:lvl6pPr>
            <a:lvl7pPr marL="2743200" algn="l" defTabSz="914400" rtl="0" eaLnBrk="1" latinLnBrk="0" hangingPunct="1">
              <a:defRPr kumimoji="1" sz="1800" kern="1200">
                <a:solidFill>
                  <a:schemeClr val="tx1"/>
                </a:solidFill>
                <a:latin typeface="メイリオ"/>
                <a:ea typeface="メイリオ"/>
                <a:cs typeface="+mn-cs"/>
              </a:defRPr>
            </a:lvl7pPr>
            <a:lvl8pPr marL="3200400" algn="l" defTabSz="914400" rtl="0" eaLnBrk="1" latinLnBrk="0" hangingPunct="1">
              <a:defRPr kumimoji="1" sz="1800" kern="1200">
                <a:solidFill>
                  <a:schemeClr val="tx1"/>
                </a:solidFill>
                <a:latin typeface="メイリオ"/>
                <a:ea typeface="メイリオ"/>
                <a:cs typeface="+mn-cs"/>
              </a:defRPr>
            </a:lvl8pPr>
            <a:lvl9pPr marL="3657600" algn="l" defTabSz="914400" rtl="0" eaLnBrk="1" latinLnBrk="0" hangingPunct="1">
              <a:defRPr kumimoji="1" sz="1800" kern="1200">
                <a:solidFill>
                  <a:schemeClr val="tx1"/>
                </a:solidFill>
                <a:latin typeface="メイリオ"/>
                <a:ea typeface="メイリオ"/>
                <a:cs typeface="+mn-cs"/>
              </a:defRPr>
            </a:lvl9pPr>
          </a:lstStyle>
          <a:p>
            <a:pPr algn="r"/>
            <a:fld id="{9FC100E3-15F5-4145-A942-47DB1D8B776D}" type="slidenum">
              <a:rPr lang="ja-JP" altLang="en-US" sz="1400" i="1" smtClean="0">
                <a:solidFill>
                  <a:prstClr val="white"/>
                </a:solidFill>
                <a:latin typeface="メイリオ" panose="020B0502020202020204" pitchFamily="34" charset="0"/>
                <a:ea typeface="メイリオ"/>
              </a:rPr>
              <a:pPr algn="r"/>
              <a:t>‹#›</a:t>
            </a:fld>
            <a:endParaRPr lang="ja-JP" altLang="en-US" sz="1400" i="1" dirty="0">
              <a:solidFill>
                <a:prstClr val="white"/>
              </a:solidFill>
              <a:latin typeface="メイリオ" panose="020B0502020202020204" pitchFamily="34" charset="0"/>
              <a:ea typeface="メイリオ"/>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メイリオ"/>
          <a:ea typeface="メイリオ"/>
          <a:cs typeface="ＭＳ Ｐゴシック" charset="0"/>
        </a:defRPr>
      </a:lvl1pPr>
      <a:lvl2pPr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メイリオ"/>
          <a:ea typeface="メイリオ"/>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メイリオ"/>
          <a:ea typeface="メイリオ"/>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メイリオ"/>
          <a:ea typeface="メイリオ"/>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メイリオ"/>
          <a:ea typeface="メイリオ"/>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メイリオ"/>
          <a:ea typeface="メイリオ"/>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メイリオ"/>
          <a:ea typeface="メイリオ"/>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メイリオ"/>
          <a:ea typeface="メイリオ"/>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メイリオ"/>
          <a:ea typeface="メイリオ"/>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メイリオ"/>
          <a:ea typeface="メイリオ"/>
          <a:cs typeface="+mn-cs"/>
        </a:defRPr>
      </a:lvl9pPr>
    </p:bodyStyle>
    <p:otherStyle>
      <a:defPPr>
        <a:defRPr lang="ja-JP"/>
      </a:defPPr>
      <a:lvl1pPr marL="0" algn="l" defTabSz="457200" rtl="0" eaLnBrk="1" latinLnBrk="0" hangingPunct="1">
        <a:defRPr kumimoji="1" sz="1800" kern="1200">
          <a:solidFill>
            <a:schemeClr val="tx1"/>
          </a:solidFill>
          <a:latin typeface="メイリオ"/>
          <a:ea typeface="メイリオ"/>
          <a:cs typeface="+mn-cs"/>
        </a:defRPr>
      </a:lvl1pPr>
      <a:lvl2pPr marL="457200" algn="l" defTabSz="457200" rtl="0" eaLnBrk="1" latinLnBrk="0" hangingPunct="1">
        <a:defRPr kumimoji="1" sz="1800" kern="1200">
          <a:solidFill>
            <a:schemeClr val="tx1"/>
          </a:solidFill>
          <a:latin typeface="メイリオ"/>
          <a:ea typeface="メイリオ"/>
          <a:cs typeface="+mn-cs"/>
        </a:defRPr>
      </a:lvl2pPr>
      <a:lvl3pPr marL="914400" algn="l" defTabSz="457200" rtl="0" eaLnBrk="1" latinLnBrk="0" hangingPunct="1">
        <a:defRPr kumimoji="1" sz="1800" kern="1200">
          <a:solidFill>
            <a:schemeClr val="tx1"/>
          </a:solidFill>
          <a:latin typeface="メイリオ"/>
          <a:ea typeface="メイリオ"/>
          <a:cs typeface="+mn-cs"/>
        </a:defRPr>
      </a:lvl3pPr>
      <a:lvl4pPr marL="1371600" algn="l" defTabSz="457200" rtl="0" eaLnBrk="1" latinLnBrk="0" hangingPunct="1">
        <a:defRPr kumimoji="1" sz="1800" kern="1200">
          <a:solidFill>
            <a:schemeClr val="tx1"/>
          </a:solidFill>
          <a:latin typeface="メイリオ"/>
          <a:ea typeface="メイリオ"/>
          <a:cs typeface="+mn-cs"/>
        </a:defRPr>
      </a:lvl4pPr>
      <a:lvl5pPr marL="1828800" algn="l" defTabSz="457200" rtl="0" eaLnBrk="1" latinLnBrk="0" hangingPunct="1">
        <a:defRPr kumimoji="1" sz="1800" kern="1200">
          <a:solidFill>
            <a:schemeClr val="tx1"/>
          </a:solidFill>
          <a:latin typeface="メイリオ"/>
          <a:ea typeface="メイリオ"/>
          <a:cs typeface="+mn-cs"/>
        </a:defRPr>
      </a:lvl5pPr>
      <a:lvl6pPr marL="2286000" algn="l" defTabSz="457200" rtl="0" eaLnBrk="1" latinLnBrk="0" hangingPunct="1">
        <a:defRPr kumimoji="1" sz="1800" kern="1200">
          <a:solidFill>
            <a:schemeClr val="tx1"/>
          </a:solidFill>
          <a:latin typeface="メイリオ"/>
          <a:ea typeface="メイリオ"/>
          <a:cs typeface="+mn-cs"/>
        </a:defRPr>
      </a:lvl6pPr>
      <a:lvl7pPr marL="2743200" algn="l" defTabSz="457200" rtl="0" eaLnBrk="1" latinLnBrk="0" hangingPunct="1">
        <a:defRPr kumimoji="1" sz="1800" kern="1200">
          <a:solidFill>
            <a:schemeClr val="tx1"/>
          </a:solidFill>
          <a:latin typeface="メイリオ"/>
          <a:ea typeface="メイリオ"/>
          <a:cs typeface="+mn-cs"/>
        </a:defRPr>
      </a:lvl7pPr>
      <a:lvl8pPr marL="3200400" algn="l" defTabSz="457200" rtl="0" eaLnBrk="1" latinLnBrk="0" hangingPunct="1">
        <a:defRPr kumimoji="1" sz="1800" kern="1200">
          <a:solidFill>
            <a:schemeClr val="tx1"/>
          </a:solidFill>
          <a:latin typeface="メイリオ"/>
          <a:ea typeface="メイリオ"/>
          <a:cs typeface="+mn-cs"/>
        </a:defRPr>
      </a:lvl8pPr>
      <a:lvl9pPr marL="3657600" algn="l" defTabSz="457200" rtl="0" eaLnBrk="1" latinLnBrk="0" hangingPunct="1">
        <a:defRPr kumimoji="1" sz="1800" kern="1200">
          <a:solidFill>
            <a:schemeClr val="tx1"/>
          </a:solidFill>
          <a:latin typeface="メイリオ"/>
          <a:ea typeface="メイリオ"/>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101" Type="http://schemas.openxmlformats.org/officeDocument/2006/relationships/image" Target="../media/curves_1.jpeg"/><Relationship Id="rId102" Type="http://schemas.openxmlformats.org/officeDocument/2006/relationships/image" Target="../media/curves_2.jpeg"/><Relationship Id="rId103" Type="http://schemas.openxmlformats.org/officeDocument/2006/relationships/image" Target="../media/curves_3.jpeg"/><Relationship Id="rId104" Type="http://schemas.openxmlformats.org/officeDocument/2006/relationships/image" Target="../media/curves_4.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8" Type="http://schemas.openxmlformats.org/officeDocument/2006/relationships/image" Target="../media/image29.jpeg"/><Relationship Id="rId3" Type="http://schemas.openxmlformats.org/officeDocument/2006/relationships/image" Target="../media/image3.emf"/><Relationship Id="rId7" Type="http://schemas.openxmlformats.org/officeDocument/2006/relationships/image" Target="../media/image28.jpe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27.jpeg"/><Relationship Id="rId5" Type="http://schemas.openxmlformats.org/officeDocument/2006/relationships/image" Target="../media/image26.jpeg"/><Relationship Id="rId4" Type="http://schemas.openxmlformats.org/officeDocument/2006/relationships/image" Target="../media/image25.jpe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729823"/>
            <a:ext cx="6626632" cy="338554"/>
          </a:xfrm>
          <a:prstGeom prst="rect">
            <a:avLst/>
          </a:prstGeom>
        </p:spPr>
        <p:txBody>
          <a:bodyPr wrap="square">
            <a:spAutoFit/>
          </a:bodyPr>
          <a:lstStyle/>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rPr>
              <a:t>最上位パートナーの知見を活用し、獲得に強い動線を構築する</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3" name="正方形/長方形 2">
            <a:extLst>
              <a:ext uri="{FF2B5EF4-FFF2-40B4-BE49-F238E27FC236}">
                <a16:creationId xmlns:a16="http://schemas.microsoft.com/office/drawing/2014/main" id="{8EDEE7F4-9CB5-D481-E92E-3941E7AB9B1C}"/>
              </a:ext>
            </a:extLst>
          </p:cNvPr>
          <p:cNvSpPr/>
          <p:nvPr/>
        </p:nvSpPr>
        <p:spPr>
          <a:xfrm>
            <a:off x="3524717" y="3910946"/>
            <a:ext cx="2804160" cy="405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- 2026</a:t>
            </a:r>
            <a:r>
              <a:rPr kumimoji="1"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最新版 </a:t>
            </a:r>
            <a:r>
              <a:rPr kumimoji="1"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t>
            </a:r>
            <a:endParaRPr kumimoji="1" lang="ja-JP" altLang="en-US" sz="14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26E1B5EC-868B-5787-A5AF-C20671BB3688}"/>
              </a:ext>
            </a:extLst>
          </p:cNvPr>
          <p:cNvSpPr/>
          <p:nvPr/>
        </p:nvSpPr>
        <p:spPr>
          <a:xfrm>
            <a:off x="3524717" y="4341752"/>
            <a:ext cx="2804160" cy="405546"/>
          </a:xfrm>
          <a:prstGeom prst="rect">
            <a:avLst/>
          </a:prstGeom>
          <a:solidFill>
            <a:schemeClr val="tx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bg1"/>
                </a:solidFill>
                <a:latin typeface="メイリオ" panose="020B0604030504040204" pitchFamily="50" charset="-128"/>
                <a:ea typeface="メイリオ" panose="020B0604030504040204" pitchFamily="50" charset="-128"/>
              </a:rPr>
              <a:t>業界：ジム・フィットネス</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1ED39001-ACC7-138F-6DD5-C2073D5DE829}"/>
              </a:ext>
            </a:extLst>
          </p:cNvPr>
          <p:cNvSpPr txBox="1"/>
          <p:nvPr/>
        </p:nvSpPr>
        <p:spPr>
          <a:xfrm>
            <a:off x="595223" y="129396"/>
            <a:ext cx="1620957" cy="338554"/>
          </a:xfrm>
          <a:prstGeom prst="rect">
            <a:avLst/>
          </a:prstGeom>
          <a:noFill/>
        </p:spPr>
        <p:txBody>
          <a:bodyPr wrap="none" rtlCol="0">
            <a:spAutoFit/>
          </a:bodyPr>
          <a:lstStyle/>
          <a:p>
            <a:r>
              <a:rPr kumimoji="1" lang="ja-JP" altLang="en-US" sz="1600" b="1" dirty="0">
                <a:solidFill>
                  <a:srgbClr val="002060"/>
                </a:solidFill>
                <a:latin typeface="メイリオ"/>
                <a:ea typeface="メイリオ"/>
              </a:rPr>
              <a:t>アジェンダ構成</a:t>
            </a:r>
            <a:endParaRPr kumimoji="1" lang="en-US" altLang="ja-JP" sz="1600" b="1" dirty="0">
              <a:solidFill>
                <a:srgbClr val="002060"/>
              </a:solidFill>
              <a:latin typeface="+mj-ea"/>
              <a:ea typeface="+mj-ea"/>
            </a:endParaRPr>
          </a:p>
        </p:txBody>
      </p:sp>
      <p:sp>
        <p:nvSpPr>
          <p:cNvPr id="7" name="テキスト ボックス 6">
            <a:extLst>
              <a:ext uri="{FF2B5EF4-FFF2-40B4-BE49-F238E27FC236}">
                <a16:creationId xmlns:a16="http://schemas.microsoft.com/office/drawing/2014/main" id="{AFD80AAF-7C29-1B7B-BAD5-38BB2C055EA4}"/>
              </a:ext>
            </a:extLst>
          </p:cNvPr>
          <p:cNvSpPr txBox="1"/>
          <p:nvPr/>
        </p:nvSpPr>
        <p:spPr>
          <a:xfrm>
            <a:off x="664235" y="2406770"/>
            <a:ext cx="8143335" cy="1938992"/>
          </a:xfrm>
          <a:prstGeom prst="rect">
            <a:avLst/>
          </a:prstGeom>
          <a:noFill/>
        </p:spPr>
        <p:txBody>
          <a:bodyPr wrap="square" rtlCol="0">
            <a:spAutoFit/>
          </a:bodyPr>
          <a:lstStyle/>
          <a:p>
            <a:r>
              <a:rPr lang="en-US" altLang="ja-JP" sz="2400" dirty="0">
                <a:latin typeface="メイリオ"/>
                <a:ea typeface="メイリオ"/>
              </a:rPr>
              <a:t>1. LINE</a:t>
            </a:r>
            <a:r>
              <a:rPr lang="ja-JP" altLang="en-US" sz="2400" dirty="0">
                <a:latin typeface="メイリオ"/>
                <a:ea typeface="メイリオ"/>
              </a:rPr>
              <a:t>公式アカウントを検討する背景         </a:t>
            </a:r>
            <a:endParaRPr lang="en-US" altLang="ja-JP" sz="2400" dirty="0"/>
          </a:p>
          <a:p>
            <a:r>
              <a:rPr lang="en-US" altLang="ja-JP" sz="2400" dirty="0">
                <a:latin typeface="メイリオ"/>
                <a:ea typeface="メイリオ"/>
              </a:rPr>
              <a:t>2. </a:t>
            </a:r>
            <a:r>
              <a:rPr lang="ja-JP" altLang="en-US" sz="2400" dirty="0">
                <a:latin typeface="メイリオ"/>
                <a:ea typeface="メイリオ"/>
              </a:rPr>
              <a:t>配信の考え方 ── 市場・需要の実態      </a:t>
            </a:r>
            <a:br>
              <a:rPr lang="en-US" altLang="ja-JP" sz="2400" dirty="0"/>
            </a:br>
            <a:r>
              <a:rPr lang="en-US" altLang="ja-JP" sz="2400" dirty="0">
                <a:latin typeface="メイリオ"/>
                <a:ea typeface="メイリオ"/>
              </a:rPr>
              <a:t>3. </a:t>
            </a:r>
            <a:r>
              <a:rPr lang="ja-JP" altLang="en-US" sz="2400" dirty="0">
                <a:latin typeface="メイリオ"/>
                <a:ea typeface="メイリオ"/>
              </a:rPr>
              <a:t>施策の詳細（配信の効率化）── 設計と改善モデル  </a:t>
            </a:r>
          </a:p>
          <a:p>
            <a:r>
              <a:rPr lang="en-US" altLang="ja-JP" sz="2400" dirty="0">
                <a:latin typeface="メイリオ"/>
                <a:ea typeface="メイリオ"/>
              </a:rPr>
              <a:t>4. </a:t>
            </a:r>
            <a:r>
              <a:rPr lang="ja-JP" altLang="en-US" sz="2400" dirty="0">
                <a:latin typeface="メイリオ"/>
                <a:ea typeface="メイリオ"/>
              </a:rPr>
              <a:t>具体プラン提示                     </a:t>
            </a:r>
          </a:p>
          <a:p>
            <a:r>
              <a:rPr lang="en-US" altLang="ja-JP" sz="2400" dirty="0">
                <a:latin typeface="メイリオ"/>
                <a:ea typeface="メイリオ"/>
              </a:rPr>
              <a:t>5. </a:t>
            </a:r>
            <a:r>
              <a:rPr lang="ja-JP" altLang="en-US" sz="2400" dirty="0">
                <a:latin typeface="メイリオ"/>
                <a:ea typeface="メイリオ"/>
              </a:rPr>
              <a:t>ご提案にあたり（施策紹介・企画案）      </a:t>
            </a:r>
            <a:endParaRPr kumimoji="1" lang="ja-JP" altLang="en-US" sz="2400" dirty="0"/>
          </a:p>
        </p:txBody>
      </p:sp>
    </p:spTree>
    <p:extLst>
      <p:ext uri="{BB962C8B-B14F-4D97-AF65-F5344CB8AC3E}">
        <p14:creationId xmlns:p14="http://schemas.microsoft.com/office/powerpoint/2010/main" val="3283623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&gt;&gt; 友だち追加 &gt;&gt; LINEで診断・体験予約 &gt;&gt; 実利用 の導線設計でハードル抑えつつ運営が可能。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188220"/>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550332" y="4198522"/>
            <a:ext cx="1887978"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「LINE診断・体験予約」にて</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リードを獲得</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120018"/>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11914" y="3118189"/>
            <a:ext cx="1826395" cy="553998"/>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検討段階ユーザーを</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11914" y="2313761"/>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の動線での</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11914" y="5785358"/>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継続・PT/物販</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友だち紹介に繋げる</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11914" y="5315094"/>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※ID</a:t>
            </a:r>
            <a:r>
              <a:rPr kumimoji="1" lang="ja-JP" altLang="en-US" sz="10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11914" y="4814700"/>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a:t>
            </a:r>
            <a:r>
              <a:rPr kumimoji="1" lang="ja-JP" altLang="en-US" sz="1000" b="1" dirty="0">
                <a:solidFill>
                  <a:schemeClr val="bg1"/>
                </a:solidFill>
                <a:latin typeface="メイリオ" panose="020B0604030504040204" pitchFamily="50" charset="-128"/>
                <a:ea typeface="メイリオ" panose="020B0604030504040204" pitchFamily="50" charset="-128"/>
              </a:rPr>
              <a:t>ミニアプリ・診断 →</a:t>
            </a:r>
            <a:r>
              <a:rPr lang="en-US" altLang="ja-JP" sz="1000" b="1" dirty="0">
                <a:solidFill>
                  <a:schemeClr val="bg1"/>
                </a:solidFill>
                <a:latin typeface="メイリオ" panose="020B0604030504040204" pitchFamily="50" charset="-128"/>
                <a:ea typeface="メイリオ" panose="020B0604030504040204" pitchFamily="50" charset="-128"/>
              </a:rPr>
              <a:t> </a:t>
            </a:r>
            <a:r>
              <a:rPr lang="ja-JP" altLang="en-US" sz="1000" b="1" dirty="0">
                <a:solidFill>
                  <a:schemeClr val="bg1"/>
                </a:solidFill>
                <a:latin typeface="メイリオ" panose="020B0604030504040204" pitchFamily="50" charset="-128"/>
                <a:ea typeface="メイリオ" panose="020B0604030504040204" pitchFamily="50" charset="-128"/>
              </a:rPr>
              <a:t>特典</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53916"/>
          </a:xfrm>
          <a:prstGeom prst="rect">
            <a:avLst/>
          </a:prstGeom>
          <a:noFill/>
        </p:spPr>
        <p:txBody>
          <a:bodyPr wrap="square">
            <a:spAutoFit/>
          </a:bodyPr>
          <a:lstStyle/>
          <a:p>
            <a:pPr algn="ctr"/>
            <a:r>
              <a:rPr kumimoji="1" lang="en-US" altLang="ja-JP" sz="1050" dirty="0">
                <a:solidFill>
                  <a:schemeClr val="bg1"/>
                </a:solidFill>
                <a:latin typeface="メイリオ" panose="020B0604030504040204" pitchFamily="50" charset="-128"/>
                <a:ea typeface="メイリオ" panose="020B0604030504040204" pitchFamily="50" charset="-128"/>
              </a:rPr>
              <a:t>※</a:t>
            </a:r>
            <a:r>
              <a:rPr kumimoji="1" lang="ja-JP" altLang="en-US" sz="105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29852" y="5901217"/>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
        <p:nvSpPr>
          <p:cNvPr id="29" name="台形 28">
            <a:extLst>
              <a:ext uri="{FF2B5EF4-FFF2-40B4-BE49-F238E27FC236}">
                <a16:creationId xmlns:a16="http://schemas.microsoft.com/office/drawing/2014/main" id="{631B5A0E-480A-21DA-478B-1C86D29B43FC}"/>
              </a:ext>
            </a:extLst>
          </p:cNvPr>
          <p:cNvSpPr/>
          <p:nvPr/>
        </p:nvSpPr>
        <p:spPr>
          <a:xfrm rot="10800000">
            <a:off x="7611914" y="3620411"/>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1" name="テキスト ボックス 30">
            <a:extLst>
              <a:ext uri="{FF2B5EF4-FFF2-40B4-BE49-F238E27FC236}">
                <a16:creationId xmlns:a16="http://schemas.microsoft.com/office/drawing/2014/main" id="{2B674F16-FAA2-578A-0AB9-863BDC58B75D}"/>
              </a:ext>
            </a:extLst>
          </p:cNvPr>
          <p:cNvSpPr txBox="1"/>
          <p:nvPr/>
        </p:nvSpPr>
        <p:spPr>
          <a:xfrm>
            <a:off x="7611914" y="3677135"/>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開始時期・通える頻度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を確認</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4" name="台形 33">
            <a:extLst>
              <a:ext uri="{FF2B5EF4-FFF2-40B4-BE49-F238E27FC236}">
                <a16:creationId xmlns:a16="http://schemas.microsoft.com/office/drawing/2014/main" id="{BF27E5AF-6A9E-D2DF-F51B-E8DA545CA345}"/>
              </a:ext>
            </a:extLst>
          </p:cNvPr>
          <p:cNvSpPr/>
          <p:nvPr/>
        </p:nvSpPr>
        <p:spPr>
          <a:xfrm rot="10800000">
            <a:off x="5422833" y="2137335"/>
            <a:ext cx="1826395" cy="4058005"/>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7" name="テキスト ボックス 36">
            <a:extLst>
              <a:ext uri="{FF2B5EF4-FFF2-40B4-BE49-F238E27FC236}">
                <a16:creationId xmlns:a16="http://schemas.microsoft.com/office/drawing/2014/main" id="{21C26183-5619-0076-CEE1-600FD18943B4}"/>
              </a:ext>
            </a:extLst>
          </p:cNvPr>
          <p:cNvSpPr txBox="1"/>
          <p:nvPr/>
        </p:nvSpPr>
        <p:spPr>
          <a:xfrm>
            <a:off x="5379134" y="3311809"/>
            <a:ext cx="1913793" cy="738664"/>
          </a:xfrm>
          <a:prstGeom prst="rect">
            <a:avLst/>
          </a:prstGeom>
          <a:noFill/>
        </p:spPr>
        <p:txBody>
          <a:bodyPr wrap="square">
            <a:spAutoFit/>
          </a:bodyP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不明</a:t>
            </a:r>
            <a:endParaRPr kumimoji="1" lang="en-US" altLang="ja-JP" sz="1200" dirty="0">
              <a:solidFill>
                <a:schemeClr val="bg1"/>
              </a:solidFill>
              <a:latin typeface="メイリオ" panose="020B0604030504040204" pitchFamily="50" charset="-128"/>
              <a:ea typeface="メイリオ" panose="020B0604030504040204" pitchFamily="50" charset="-128"/>
            </a:endParaRPr>
          </a:p>
          <a:p>
            <a:pPr algn="ct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ヒアリングの上、</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kumimoji="1" lang="ja-JP" altLang="en-US" sz="1000" b="1" dirty="0">
                <a:solidFill>
                  <a:schemeClr val="bg1"/>
                </a:solidFill>
                <a:latin typeface="メイリオ" panose="020B0604030504040204" pitchFamily="50" charset="-128"/>
                <a:ea typeface="メイリオ" panose="020B0604030504040204" pitchFamily="50" charset="-128"/>
              </a:rPr>
              <a:t>不足施策を明示</a:t>
            </a:r>
          </a:p>
        </p:txBody>
      </p:sp>
      <p:sp>
        <p:nvSpPr>
          <p:cNvPr id="59" name="TextBox 58"/>
          <p:cNvSpPr txBox="1"/>
          <p:nvPr/>
        </p:nvSpPr>
        <p:spPr>
          <a:xfrm>
            <a:off x="360000" y="6426000"/>
            <a:ext cx="7128000" cy="180000"/>
          </a:xfrm>
          <a:prstGeom prst="rect">
            <a:avLst/>
          </a:prstGeom>
          <a:noFill/>
        </p:spPr>
        <p:txBody>
          <a:bodyPr wrap="square" lIns="18000" tIns="0" rIns="18000" bIns="0">
            <a:spAutoFit/>
          </a:bodyPr>
          <a:lstStyle/>
          <a:p>
            <a:r>
              <a:rPr sz="800">
                <a:solidFill>
                  <a:srgbClr val="646C82"/>
                </a:solidFill>
                <a:latin typeface="メイリオ"/>
                <a:ea typeface="メイリオ"/>
              </a:rPr>
              <a:t>※ 実例：FIT PLACE24は入会手続きをLINE起点に設計（公式FAQ）／カーブスは会員数の約6.7倍の友だち数（2026/8/17実測）</a:t>
            </a:r>
          </a:p>
        </p:txBody>
      </p:sp>
    </p:spTree>
    <p:extLst>
      <p:ext uri="{BB962C8B-B14F-4D97-AF65-F5344CB8AC3E}">
        <p14:creationId xmlns:p14="http://schemas.microsoft.com/office/powerpoint/2010/main" val="993846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メイリオ"/>
                <a:ea typeface="メイリオ"/>
                <a:cs typeface="Meiryo"/>
                <a:sym typeface="Meiryo"/>
              </a:rPr>
              <a:t>LINE</a:t>
            </a:r>
            <a:r>
              <a:rPr lang="ja-JP" altLang="en-US" sz="1600" b="1" dirty="0">
                <a:solidFill>
                  <a:schemeClr val="tx1">
                    <a:lumMod val="50000"/>
                    <a:lumOff val="50000"/>
                  </a:schemeClr>
                </a:solidFill>
                <a:latin typeface="メイリオ"/>
                <a:ea typeface="メイリオ"/>
                <a:cs typeface="Meiryo"/>
                <a:sym typeface="Meiryo"/>
              </a:rPr>
              <a:t>施策における重要な考え方</a:t>
            </a:r>
            <a:endParaRPr lang="en-US" altLang="ja-JP" sz="1600" b="1" dirty="0">
              <a:solidFill>
                <a:schemeClr val="tx1">
                  <a:lumMod val="50000"/>
                  <a:lumOff val="50000"/>
                </a:schemeClr>
              </a:solidFill>
              <a:latin typeface="メイリオ"/>
              <a:ea typeface="メイリオ"/>
              <a:cs typeface="Meiryo"/>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endParaRPr kumimoji="1" lang="ja-JP" altLang="en-US">
              <a:solidFill>
                <a:schemeClr val="tx1">
                  <a:lumMod val="50000"/>
                  <a:lumOff val="50000"/>
                </a:schemeClr>
              </a:solidFill>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defPPr>
            <a:lvl1pPr marL="0" algn="l" defTabSz="914400" rtl="0" eaLnBrk="1" latinLnBrk="0" hangingPunct="1">
              <a:defRPr kumimoji="1" sz="1800" kern="1200">
                <a:solidFill>
                  <a:schemeClr val="tx1"/>
                </a:solidFill>
                <a:latin typeface="メイリオ"/>
                <a:ea typeface="メイリオ"/>
                <a:cs typeface="+mn-cs"/>
              </a:defRPr>
            </a:lvl1pPr>
            <a:lvl2pPr marL="457200" algn="l" defTabSz="914400" rtl="0" eaLnBrk="1" latinLnBrk="0" hangingPunct="1">
              <a:defRPr kumimoji="1" sz="1800" kern="1200">
                <a:solidFill>
                  <a:schemeClr val="tx1"/>
                </a:solidFill>
                <a:latin typeface="メイリオ"/>
                <a:ea typeface="メイリオ"/>
                <a:cs typeface="+mn-cs"/>
              </a:defRPr>
            </a:lvl2pPr>
            <a:lvl3pPr marL="914400" algn="l" defTabSz="914400" rtl="0" eaLnBrk="1" latinLnBrk="0" hangingPunct="1">
              <a:defRPr kumimoji="1" sz="1800" kern="1200">
                <a:solidFill>
                  <a:schemeClr val="tx1"/>
                </a:solidFill>
                <a:latin typeface="メイリオ"/>
                <a:ea typeface="メイリオ"/>
                <a:cs typeface="+mn-cs"/>
              </a:defRPr>
            </a:lvl3pPr>
            <a:lvl4pPr marL="1371600" algn="l" defTabSz="914400" rtl="0" eaLnBrk="1" latinLnBrk="0" hangingPunct="1">
              <a:defRPr kumimoji="1" sz="1800" kern="1200">
                <a:solidFill>
                  <a:schemeClr val="tx1"/>
                </a:solidFill>
                <a:latin typeface="メイリオ"/>
                <a:ea typeface="メイリオ"/>
                <a:cs typeface="+mn-cs"/>
              </a:defRPr>
            </a:lvl4pPr>
            <a:lvl5pPr marL="1828800" algn="l" defTabSz="914400" rtl="0" eaLnBrk="1" latinLnBrk="0" hangingPunct="1">
              <a:defRPr kumimoji="1" sz="1800" kern="1200">
                <a:solidFill>
                  <a:schemeClr val="tx1"/>
                </a:solidFill>
                <a:latin typeface="メイリオ"/>
                <a:ea typeface="メイリオ"/>
                <a:cs typeface="+mn-cs"/>
              </a:defRPr>
            </a:lvl5pPr>
            <a:lvl6pPr marL="2286000" algn="l" defTabSz="914400" rtl="0" eaLnBrk="1" latinLnBrk="0" hangingPunct="1">
              <a:defRPr kumimoji="1" sz="1800" kern="1200">
                <a:solidFill>
                  <a:schemeClr val="tx1"/>
                </a:solidFill>
                <a:latin typeface="メイリオ"/>
                <a:ea typeface="メイリオ"/>
                <a:cs typeface="+mn-cs"/>
              </a:defRPr>
            </a:lvl6pPr>
            <a:lvl7pPr marL="2743200" algn="l" defTabSz="914400" rtl="0" eaLnBrk="1" latinLnBrk="0" hangingPunct="1">
              <a:defRPr kumimoji="1" sz="1800" kern="1200">
                <a:solidFill>
                  <a:schemeClr val="tx1"/>
                </a:solidFill>
                <a:latin typeface="メイリオ"/>
                <a:ea typeface="メイリオ"/>
                <a:cs typeface="+mn-cs"/>
              </a:defRPr>
            </a:lvl7pPr>
            <a:lvl8pPr marL="3200400" algn="l" defTabSz="914400" rtl="0" eaLnBrk="1" latinLnBrk="0" hangingPunct="1">
              <a:defRPr kumimoji="1" sz="1800" kern="1200">
                <a:solidFill>
                  <a:schemeClr val="tx1"/>
                </a:solidFill>
                <a:latin typeface="メイリオ"/>
                <a:ea typeface="メイリオ"/>
                <a:cs typeface="+mn-cs"/>
              </a:defRPr>
            </a:lvl8pPr>
            <a:lvl9pPr marL="3657600" algn="l" defTabSz="914400" rtl="0" eaLnBrk="1" latinLnBrk="0" hangingPunct="1">
              <a:defRPr kumimoji="1" sz="1800" kern="1200">
                <a:solidFill>
                  <a:schemeClr val="tx1"/>
                </a:solidFill>
                <a:latin typeface="メイリオ"/>
                <a:ea typeface="メイリオ"/>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アカウント効果を</a:t>
            </a:r>
            <a:r>
              <a:rPr lang="ja-JP" altLang="en-US" sz="2400" b="1" dirty="0">
                <a:latin typeface="メイリオ" panose="020B0604030504040204" pitchFamily="50" charset="-128"/>
                <a:ea typeface="メイリオ" panose="020B0604030504040204" pitchFamily="50" charset="-128"/>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endParaRPr kumimoji="1" lang="ja-JP" altLang="en-US">
              <a:solidFill>
                <a:schemeClr val="tx1">
                  <a:lumMod val="50000"/>
                  <a:lumOff val="50000"/>
                </a:schemeClr>
              </a:solidFill>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サイト上情報と連携させ、配信効果を数値化する</a:t>
            </a:r>
          </a:p>
        </p:txBody>
      </p:sp>
    </p:spTree>
    <p:extLst>
      <p:ext uri="{BB962C8B-B14F-4D97-AF65-F5344CB8AC3E}">
        <p14:creationId xmlns:p14="http://schemas.microsoft.com/office/powerpoint/2010/main" val="2646504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LINE誘導から1.5〜3%程度のユーザーが有効化/マネタイズ可能（社内想定の目安）。</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貴社集客課題に合わせて、LINE公式アカウントの構築モデルを活用しながら集客効率を改善。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368444" y="158242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870673" y="158242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LINE</a:t>
            </a:r>
            <a:r>
              <a:rPr kumimoji="1" lang="ja-JP" altLang="en-US" sz="14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372902" y="158242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870673" y="19908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870673" y="260400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368444" y="19908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5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5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5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368444" y="260400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372902" y="198536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368444" y="386460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368444" y="321719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870673" y="395347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368444" y="395347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372901" y="321719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372901" y="395347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870673" y="45721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368444" y="45721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368444" y="519076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368444" y="580941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870672" y="519076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870672" y="580941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372901" y="457212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372901" y="519077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372901" y="579848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566951" y="2020993"/>
            <a:ext cx="1763487" cy="49275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rgbClr val="1C2233"/>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特典(診断) 自動送付 / 体づくりタイプ診断</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16079" y="2056240"/>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9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347420" y="228049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566951" y="2590426"/>
            <a:ext cx="1763487" cy="524369"/>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KW</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16079" y="25904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ステップ配信（</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7〜14</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体験予約への誘導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flipV="1">
            <a:off x="5330438" y="2823673"/>
            <a:ext cx="285641" cy="28938"/>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BF4E0E"/>
                </a:solidFill>
                <a:latin typeface="メイリオ" panose="020B0604030504040204" pitchFamily="50" charset="-128"/>
                <a:ea typeface="メイリオ" panose="020B0604030504040204" pitchFamily="50" charset="-128"/>
              </a:rPr>
              <a:t>CVするユーザー割合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BF4E0E"/>
                </a:solidFill>
                <a:latin typeface="メイリオ" panose="020B0604030504040204" pitchFamily="50" charset="-128"/>
                <a:ea typeface="メイリオ" panose="020B0604030504040204" pitchFamily="50" charset="-128"/>
              </a:rPr>
              <a:t>※社内想定の上限目安</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BF4E0E"/>
                </a:solidFill>
                <a:latin typeface="メイリオ" panose="020B0604030504040204" pitchFamily="50" charset="-128"/>
                <a:ea typeface="メイリオ" panose="020B0604030504040204" pitchFamily="50" charset="-128"/>
              </a:rPr>
              <a:t>３％</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1.5％</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2％</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566951" y="3268111"/>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16079" y="3268111"/>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ホットリード</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30438" y="350135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566951" y="40089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サンクス自動</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MSG</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16079" y="40089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30438" y="42422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566951" y="4615355"/>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16079" y="461535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来店・入会への誘導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30438" y="484860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566951" y="5239126"/>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16079" y="5239126"/>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30438" y="547237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566951" y="584751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特典訴求で友だち追加促進</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endPar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endParaRPr>
          </a:p>
        </p:txBody>
      </p:sp>
      <p:sp>
        <p:nvSpPr>
          <p:cNvPr id="129" name="Shape 18">
            <a:extLst>
              <a:ext uri="{FF2B5EF4-FFF2-40B4-BE49-F238E27FC236}">
                <a16:creationId xmlns:a16="http://schemas.microsoft.com/office/drawing/2014/main" id="{496CBE75-90FF-44E1-05AA-F85C409960A4}"/>
              </a:ext>
            </a:extLst>
          </p:cNvPr>
          <p:cNvSpPr/>
          <p:nvPr/>
        </p:nvSpPr>
        <p:spPr>
          <a:xfrm>
            <a:off x="5616079" y="5847515"/>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LINEで継続・紹介を促進</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,LTV</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30438" y="608076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31" name="TextBox 130"/>
          <p:cNvSpPr txBox="1"/>
          <p:nvPr/>
        </p:nvSpPr>
        <p:spPr>
          <a:xfrm>
            <a:off x="350000" y="6379200"/>
            <a:ext cx="9200000" cy="180000"/>
          </a:xfrm>
          <a:prstGeom prst="rect">
            <a:avLst/>
          </a:prstGeom>
          <a:noFill/>
        </p:spPr>
        <p:txBody>
          <a:bodyPr wrap="square">
            <a:spAutoFit/>
          </a:bodyPr>
          <a:lstStyle/>
          <a:p>
            <a:r>
              <a:rPr sz="900">
                <a:solidFill>
                  <a:srgbClr val="555555"/>
                </a:solidFill>
                <a:latin typeface="メイリオ"/>
                <a:ea typeface="メイリオ"/>
              </a:rPr>
              <a:t>※ 各割合は社内想定の上限目安であり、保証値ではありません。参考：LINEヤフー社公開値では、メッセージは受信当日中に約8割が開封されます。</a:t>
            </a:r>
          </a:p>
        </p:txBody>
      </p:sp>
    </p:spTree>
    <p:extLst>
      <p:ext uri="{BB962C8B-B14F-4D97-AF65-F5344CB8AC3E}">
        <p14:creationId xmlns:p14="http://schemas.microsoft.com/office/powerpoint/2010/main" val="2070007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DE6EC7-8BED-7DDA-23DD-316D74FFBA1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5B1FD88-3B25-D76E-99D7-CDD7E800E78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施策展開図</a:t>
            </a:r>
          </a:p>
        </p:txBody>
      </p:sp>
      <p:sp>
        <p:nvSpPr>
          <p:cNvPr id="9" name="正方形/長方形 8">
            <a:extLst>
              <a:ext uri="{FF2B5EF4-FFF2-40B4-BE49-F238E27FC236}">
                <a16:creationId xmlns:a16="http://schemas.microsoft.com/office/drawing/2014/main" id="{709B81B2-1251-DE55-B4B3-220553E132F8}"/>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3" name="Google Shape;752;p28">
            <a:extLst>
              <a:ext uri="{FF2B5EF4-FFF2-40B4-BE49-F238E27FC236}">
                <a16:creationId xmlns:a16="http://schemas.microsoft.com/office/drawing/2014/main" id="{1E8D898A-0AF4-2505-8EE3-9F12824F6A59}"/>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LINEOA</a:t>
            </a:r>
            <a:r>
              <a:rPr lang="ja-JP" altLang="en-US" sz="1600" b="1" dirty="0">
                <a:latin typeface="メイリオ" panose="020B0604030504040204" pitchFamily="50" charset="-128"/>
                <a:ea typeface="メイリオ" panose="020B0604030504040204" pitchFamily="50" charset="-128"/>
                <a:cs typeface="Meiryo"/>
                <a:sym typeface="Meiryo"/>
              </a:rPr>
              <a:t>施策においては、</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友だちの新規追加</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と</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友だちの育成・</a:t>
            </a:r>
            <a:r>
              <a:rPr lang="en-US" altLang="ja-JP" sz="1600" b="1" dirty="0">
                <a:latin typeface="メイリオ" panose="020B0604030504040204" pitchFamily="50" charset="-128"/>
                <a:ea typeface="メイリオ" panose="020B0604030504040204" pitchFamily="50" charset="-128"/>
                <a:cs typeface="Meiryo"/>
                <a:sym typeface="Meiryo"/>
              </a:rPr>
              <a:t>CV</a:t>
            </a:r>
            <a:r>
              <a:rPr lang="ja-JP" altLang="en-US" sz="1600" b="1" dirty="0">
                <a:latin typeface="メイリオ" panose="020B0604030504040204" pitchFamily="50" charset="-128"/>
                <a:ea typeface="メイリオ" panose="020B0604030504040204" pitchFamily="50" charset="-128"/>
                <a:cs typeface="Meiryo"/>
                <a:sym typeface="Meiryo"/>
              </a:rPr>
              <a:t>動線</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が重要。</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 name="正方形/長方形 1">
            <a:extLst>
              <a:ext uri="{FF2B5EF4-FFF2-40B4-BE49-F238E27FC236}">
                <a16:creationId xmlns:a16="http://schemas.microsoft.com/office/drawing/2014/main" id="{011C5FFF-B61A-EB8E-326E-072A0E269233}"/>
              </a:ext>
            </a:extLst>
          </p:cNvPr>
          <p:cNvSpPr/>
          <p:nvPr/>
        </p:nvSpPr>
        <p:spPr>
          <a:xfrm>
            <a:off x="3587358" y="1747110"/>
            <a:ext cx="860817" cy="143296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rPr>
              <a:t>初期</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（初動）</a:t>
            </a:r>
            <a:endParaRPr kumimoji="1" lang="ja-JP" altLang="en-US" sz="1200" b="1" dirty="0">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41F32D58-29FF-60A6-17B5-A41ACCBE9449}"/>
              </a:ext>
            </a:extLst>
          </p:cNvPr>
          <p:cNvSpPr/>
          <p:nvPr/>
        </p:nvSpPr>
        <p:spPr>
          <a:xfrm>
            <a:off x="3587358" y="3321847"/>
            <a:ext cx="860817" cy="292127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rPr>
              <a:t>月次</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（定例）</a:t>
            </a:r>
            <a:endParaRPr kumimoji="1" lang="ja-JP" altLang="en-US" sz="1200" b="1" dirty="0">
              <a:latin typeface="メイリオ" panose="020B0604030504040204" pitchFamily="50" charset="-128"/>
              <a:ea typeface="メイリオ" panose="020B0604030504040204" pitchFamily="50" charset="-128"/>
            </a:endParaRPr>
          </a:p>
        </p:txBody>
      </p:sp>
      <p:sp>
        <p:nvSpPr>
          <p:cNvPr id="8" name="四角形: 角を丸くする 7">
            <a:extLst>
              <a:ext uri="{FF2B5EF4-FFF2-40B4-BE49-F238E27FC236}">
                <a16:creationId xmlns:a16="http://schemas.microsoft.com/office/drawing/2014/main" id="{22EC6943-AA14-49EA-30CF-5D813BA45BFD}"/>
              </a:ext>
            </a:extLst>
          </p:cNvPr>
          <p:cNvSpPr/>
          <p:nvPr/>
        </p:nvSpPr>
        <p:spPr>
          <a:xfrm>
            <a:off x="336942" y="1729383"/>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離脱防止・ポップアップ</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en-US" altLang="ja-JP" sz="1050" dirty="0">
                <a:solidFill>
                  <a:schemeClr val="bg1">
                    <a:lumMod val="65000"/>
                  </a:schemeClr>
                </a:solidFill>
                <a:latin typeface="メイリオ" panose="020B0604030504040204" pitchFamily="50" charset="-128"/>
                <a:ea typeface="メイリオ" panose="020B0604030504040204" pitchFamily="50" charset="-128"/>
              </a:rPr>
              <a:t>HP/LP</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滞在時に、条件を満たすと</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ポップアップバナーを表示する</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10" name="四角形: 角を丸くする 9">
            <a:extLst>
              <a:ext uri="{FF2B5EF4-FFF2-40B4-BE49-F238E27FC236}">
                <a16:creationId xmlns:a16="http://schemas.microsoft.com/office/drawing/2014/main" id="{3436AF3F-C2E7-3494-0B01-4BC00578C5FF}"/>
              </a:ext>
            </a:extLst>
          </p:cNvPr>
          <p:cNvSpPr/>
          <p:nvPr/>
        </p:nvSpPr>
        <p:spPr>
          <a:xfrm>
            <a:off x="336942" y="2642195"/>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通知メッセージ</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ユーザーアクション時に</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a:p>
            <a:pPr algn="ctr"/>
            <a:r>
              <a:rPr lang="en-US" altLang="ja-JP" sz="1050" dirty="0">
                <a:solidFill>
                  <a:schemeClr val="bg1">
                    <a:lumMod val="65000"/>
                  </a:schemeClr>
                </a:solidFill>
                <a:latin typeface="メイリオ" panose="020B0604030504040204" pitchFamily="50" charset="-128"/>
                <a:ea typeface="メイリオ" panose="020B0604030504040204" pitchFamily="50" charset="-128"/>
              </a:rPr>
              <a:t>API</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連携で</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LINE</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にメッセ送付</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11" name="四角形: 角を丸くする 10">
            <a:extLst>
              <a:ext uri="{FF2B5EF4-FFF2-40B4-BE49-F238E27FC236}">
                <a16:creationId xmlns:a16="http://schemas.microsoft.com/office/drawing/2014/main" id="{6B8D9E5A-638C-EACC-4E99-235D769FBAB5}"/>
              </a:ext>
            </a:extLst>
          </p:cNvPr>
          <p:cNvSpPr/>
          <p:nvPr/>
        </p:nvSpPr>
        <p:spPr>
          <a:xfrm>
            <a:off x="336942" y="3555007"/>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サンクス</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LINE</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誘導ツール</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en-US" altLang="ja-JP" sz="1050" dirty="0">
                <a:solidFill>
                  <a:schemeClr val="bg1">
                    <a:lumMod val="65000"/>
                  </a:schemeClr>
                </a:solidFill>
                <a:latin typeface="メイリオ" panose="020B0604030504040204" pitchFamily="50" charset="-128"/>
                <a:ea typeface="メイリオ" panose="020B0604030504040204" pitchFamily="50" charset="-128"/>
              </a:rPr>
              <a:t>WEB</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サイトの</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CV</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ページから</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入力情報を引き継ぎ</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LINE</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へ自動遷移</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12" name="四角形: 角を丸くする 11">
            <a:extLst>
              <a:ext uri="{FF2B5EF4-FFF2-40B4-BE49-F238E27FC236}">
                <a16:creationId xmlns:a16="http://schemas.microsoft.com/office/drawing/2014/main" id="{340447B4-FBD9-E81D-7902-7B3BF84ED83A}"/>
              </a:ext>
            </a:extLst>
          </p:cNvPr>
          <p:cNvSpPr/>
          <p:nvPr/>
        </p:nvSpPr>
        <p:spPr>
          <a:xfrm>
            <a:off x="336942" y="4458293"/>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LINE</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ログイン・</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ID</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連携等</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ログインに</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LINE</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 </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ID</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を使用</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サイトユーザー</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ID</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と</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LINEID</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を連携</a:t>
            </a:r>
            <a:endParaRPr kumimoji="1" lang="ja-JP" altLang="en-US" sz="105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4" name="四角形: 角を丸くする 13">
            <a:extLst>
              <a:ext uri="{FF2B5EF4-FFF2-40B4-BE49-F238E27FC236}">
                <a16:creationId xmlns:a16="http://schemas.microsoft.com/office/drawing/2014/main" id="{BD6C1FC9-285C-AE02-A175-C7061E1A753F}"/>
              </a:ext>
            </a:extLst>
          </p:cNvPr>
          <p:cNvSpPr/>
          <p:nvPr/>
        </p:nvSpPr>
        <p:spPr>
          <a:xfrm>
            <a:off x="336942" y="5361315"/>
            <a:ext cx="2444358" cy="432333"/>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LINE</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 </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 CPF</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広告</a:t>
            </a:r>
            <a:endPar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5" name="四角形: 角を丸くする 14">
            <a:extLst>
              <a:ext uri="{FF2B5EF4-FFF2-40B4-BE49-F238E27FC236}">
                <a16:creationId xmlns:a16="http://schemas.microsoft.com/office/drawing/2014/main" id="{74F6F515-C9A5-F22C-3E1C-CF4380DB9991}"/>
              </a:ext>
            </a:extLst>
          </p:cNvPr>
          <p:cNvSpPr/>
          <p:nvPr/>
        </p:nvSpPr>
        <p:spPr>
          <a:xfrm>
            <a:off x="336942" y="5829843"/>
            <a:ext cx="2444358" cy="432333"/>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スタンプ・</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Pt</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施策</a:t>
            </a:r>
          </a:p>
        </p:txBody>
      </p:sp>
      <p:sp>
        <p:nvSpPr>
          <p:cNvPr id="16" name="正方形/長方形 15">
            <a:extLst>
              <a:ext uri="{FF2B5EF4-FFF2-40B4-BE49-F238E27FC236}">
                <a16:creationId xmlns:a16="http://schemas.microsoft.com/office/drawing/2014/main" id="{0156D598-0831-CD8B-6A89-EE3DAF51A5E9}"/>
              </a:ext>
            </a:extLst>
          </p:cNvPr>
          <p:cNvSpPr/>
          <p:nvPr/>
        </p:nvSpPr>
        <p:spPr>
          <a:xfrm>
            <a:off x="4482711" y="1756635"/>
            <a:ext cx="3233084" cy="143296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・リッチメニュー</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・プロフ動線</a:t>
            </a: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・あいさつ</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MSG</a:t>
            </a:r>
          </a:p>
          <a:p>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KW</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自動応答設定</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・友だち登録直後アンケート</a:t>
            </a: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・再引上げ</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アンケート</a:t>
            </a: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・ステップ配信</a:t>
            </a:r>
            <a:r>
              <a:rPr lang="ja-JP" altLang="en-US" sz="900" dirty="0">
                <a:solidFill>
                  <a:schemeClr val="bg1">
                    <a:lumMod val="65000"/>
                  </a:schemeClr>
                </a:solidFill>
                <a:latin typeface="メイリオ" panose="020B0604030504040204" pitchFamily="50" charset="-128"/>
                <a:ea typeface="メイリオ" panose="020B0604030504040204" pitchFamily="50" charset="-128"/>
              </a:rPr>
              <a:t>：特定アクション後◯日での自動配信</a:t>
            </a:r>
            <a:endParaRPr kumimoji="1" lang="ja-JP" altLang="en-US" sz="12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24F01906-5193-F098-3B58-BDCC26D568EA}"/>
              </a:ext>
            </a:extLst>
          </p:cNvPr>
          <p:cNvSpPr/>
          <p:nvPr/>
        </p:nvSpPr>
        <p:spPr>
          <a:xfrm>
            <a:off x="4482711" y="3331372"/>
            <a:ext cx="3233084" cy="29212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新規</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 </a:t>
            </a:r>
            <a:r>
              <a:rPr lang="ja-JP" altLang="en-US" sz="1200" b="1" dirty="0">
                <a:solidFill>
                  <a:srgbClr val="FF0000"/>
                </a:solidFill>
                <a:latin typeface="メイリオ" panose="020B0604030504040204" pitchFamily="50" charset="-128"/>
                <a:ea typeface="メイリオ" panose="020B0604030504040204" pitchFamily="50" charset="-128"/>
              </a:rPr>
              <a:t>→ 月間投稿数</a:t>
            </a:r>
            <a:endParaRPr lang="en-US" altLang="ja-JP" sz="1200" b="1" dirty="0">
              <a:solidFill>
                <a:srgbClr val="FF0000"/>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・イベント配信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・クーポン配信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・企画配信（特定ターゲット）</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・診断型配信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・お役立ちコラム・コンテンツ配信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・季節／時事ネタ配信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rPr>
              <a:t>︙</a:t>
            </a:r>
          </a:p>
          <a:p>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調整</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a:t>
            </a: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・アンケート</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・自動応答</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a:t>
            </a:r>
            <a:r>
              <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rPr>
              <a:t>QA</a:t>
            </a:r>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集</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・リッチメニュー</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・ステップ配信</a:t>
            </a:r>
          </a:p>
        </p:txBody>
      </p:sp>
      <p:sp>
        <p:nvSpPr>
          <p:cNvPr id="19" name="左大かっこ 18">
            <a:extLst>
              <a:ext uri="{FF2B5EF4-FFF2-40B4-BE49-F238E27FC236}">
                <a16:creationId xmlns:a16="http://schemas.microsoft.com/office/drawing/2014/main" id="{B9FF3DCE-9B05-09FE-7C2F-B104CD0105BE}"/>
              </a:ext>
            </a:extLst>
          </p:cNvPr>
          <p:cNvSpPr/>
          <p:nvPr/>
        </p:nvSpPr>
        <p:spPr>
          <a:xfrm>
            <a:off x="3210542" y="1800836"/>
            <a:ext cx="215932" cy="4398089"/>
          </a:xfrm>
          <a:prstGeom prst="leftBracket">
            <a:avLst/>
          </a:prstGeom>
          <a:ln>
            <a:solidFill>
              <a:srgbClr val="04FA0A"/>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24" name="左大かっこ 23">
            <a:extLst>
              <a:ext uri="{FF2B5EF4-FFF2-40B4-BE49-F238E27FC236}">
                <a16:creationId xmlns:a16="http://schemas.microsoft.com/office/drawing/2014/main" id="{61357E78-5BD2-BBD8-1F18-B1985600E22B}"/>
              </a:ext>
            </a:extLst>
          </p:cNvPr>
          <p:cNvSpPr/>
          <p:nvPr/>
        </p:nvSpPr>
        <p:spPr>
          <a:xfrm flipH="1">
            <a:off x="2892035" y="1756635"/>
            <a:ext cx="215932" cy="4486491"/>
          </a:xfrm>
          <a:prstGeom prst="leftBracket">
            <a:avLst/>
          </a:prstGeom>
          <a:ln>
            <a:solidFill>
              <a:srgbClr val="04FA0A"/>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pic>
        <p:nvPicPr>
          <p:cNvPr id="26" name="図 25">
            <a:extLst>
              <a:ext uri="{FF2B5EF4-FFF2-40B4-BE49-F238E27FC236}">
                <a16:creationId xmlns:a16="http://schemas.microsoft.com/office/drawing/2014/main" id="{56E6CFC0-FB45-E508-C7ED-E0F29C95F377}"/>
              </a:ext>
            </a:extLst>
          </p:cNvPr>
          <p:cNvPicPr>
            <a:picLocks noChangeAspect="1"/>
          </p:cNvPicPr>
          <p:nvPr/>
        </p:nvPicPr>
        <p:blipFill>
          <a:blip r:embed="rId2"/>
          <a:stretch>
            <a:fillRect/>
          </a:stretch>
        </p:blipFill>
        <p:spPr>
          <a:xfrm>
            <a:off x="2862090" y="2173993"/>
            <a:ext cx="582602" cy="543237"/>
          </a:xfrm>
          <a:prstGeom prst="rect">
            <a:avLst/>
          </a:prstGeom>
        </p:spPr>
      </p:pic>
      <p:cxnSp>
        <p:nvCxnSpPr>
          <p:cNvPr id="27" name="直線矢印コネクタ 26">
            <a:extLst>
              <a:ext uri="{FF2B5EF4-FFF2-40B4-BE49-F238E27FC236}">
                <a16:creationId xmlns:a16="http://schemas.microsoft.com/office/drawing/2014/main" id="{38D782E3-91EF-D26A-1906-21A51865A939}"/>
              </a:ext>
            </a:extLst>
          </p:cNvPr>
          <p:cNvCxnSpPr>
            <a:cxnSpLocks/>
          </p:cNvCxnSpPr>
          <p:nvPr/>
        </p:nvCxnSpPr>
        <p:spPr>
          <a:xfrm>
            <a:off x="231756" y="1521490"/>
            <a:ext cx="2654192" cy="0"/>
          </a:xfrm>
          <a:prstGeom prst="straightConnector1">
            <a:avLst/>
          </a:prstGeom>
          <a:ln w="28575">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a16:creationId xmlns:a16="http://schemas.microsoft.com/office/drawing/2014/main" id="{39D8C8E0-0854-5217-A7F3-DBD2104BDFAF}"/>
              </a:ext>
            </a:extLst>
          </p:cNvPr>
          <p:cNvSpPr txBox="1"/>
          <p:nvPr/>
        </p:nvSpPr>
        <p:spPr>
          <a:xfrm>
            <a:off x="857833" y="1390138"/>
            <a:ext cx="1306788" cy="261610"/>
          </a:xfrm>
          <a:prstGeom prst="rect">
            <a:avLst/>
          </a:prstGeom>
          <a:solidFill>
            <a:schemeClr val="bg1"/>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友だちの新規追加</a:t>
            </a:r>
            <a:endParaRPr lang="ja-JP" altLang="en-US" sz="1050" dirty="0"/>
          </a:p>
        </p:txBody>
      </p:sp>
      <p:cxnSp>
        <p:nvCxnSpPr>
          <p:cNvPr id="29" name="直線矢印コネクタ 28">
            <a:extLst>
              <a:ext uri="{FF2B5EF4-FFF2-40B4-BE49-F238E27FC236}">
                <a16:creationId xmlns:a16="http://schemas.microsoft.com/office/drawing/2014/main" id="{745F1B07-4D2C-4794-DAEA-D76D3E0CA8CF}"/>
              </a:ext>
            </a:extLst>
          </p:cNvPr>
          <p:cNvCxnSpPr>
            <a:cxnSpLocks/>
          </p:cNvCxnSpPr>
          <p:nvPr/>
        </p:nvCxnSpPr>
        <p:spPr>
          <a:xfrm>
            <a:off x="3248447" y="1521490"/>
            <a:ext cx="6173147" cy="0"/>
          </a:xfrm>
          <a:prstGeom prst="straightConnector1">
            <a:avLst/>
          </a:prstGeom>
          <a:ln w="28575">
            <a:solidFill>
              <a:schemeClr val="accent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0" name="テキスト ボックス 29">
            <a:extLst>
              <a:ext uri="{FF2B5EF4-FFF2-40B4-BE49-F238E27FC236}">
                <a16:creationId xmlns:a16="http://schemas.microsoft.com/office/drawing/2014/main" id="{D5E48196-7DAD-4F3E-ADDE-E36FAC475508}"/>
              </a:ext>
            </a:extLst>
          </p:cNvPr>
          <p:cNvSpPr txBox="1"/>
          <p:nvPr/>
        </p:nvSpPr>
        <p:spPr>
          <a:xfrm>
            <a:off x="5411256" y="1390138"/>
            <a:ext cx="1913269" cy="253916"/>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LINE</a:t>
            </a:r>
            <a:r>
              <a:rPr lang="ja-JP" altLang="en-US" sz="1050" b="1" dirty="0">
                <a:latin typeface="メイリオ" panose="020B0604030504040204" pitchFamily="50" charset="-128"/>
                <a:ea typeface="メイリオ" panose="020B0604030504040204" pitchFamily="50" charset="-128"/>
                <a:cs typeface="Meiryo"/>
                <a:sym typeface="Meiryo"/>
              </a:rPr>
              <a:t>友だちの育成・</a:t>
            </a:r>
            <a:r>
              <a:rPr lang="en-US" altLang="ja-JP" sz="1050" b="1" dirty="0">
                <a:latin typeface="メイリオ" panose="020B0604030504040204" pitchFamily="50" charset="-128"/>
                <a:ea typeface="メイリオ" panose="020B0604030504040204" pitchFamily="50" charset="-128"/>
                <a:cs typeface="Meiryo"/>
                <a:sym typeface="Meiryo"/>
              </a:rPr>
              <a:t>CV</a:t>
            </a:r>
            <a:r>
              <a:rPr lang="ja-JP" altLang="en-US" sz="1050" b="1" dirty="0">
                <a:latin typeface="メイリオ" panose="020B0604030504040204" pitchFamily="50" charset="-128"/>
                <a:ea typeface="メイリオ" panose="020B0604030504040204" pitchFamily="50" charset="-128"/>
                <a:cs typeface="Meiryo"/>
                <a:sym typeface="Meiryo"/>
              </a:rPr>
              <a:t>化</a:t>
            </a:r>
            <a:endParaRPr lang="en-US" altLang="ja-JP" sz="1050" b="1" dirty="0">
              <a:latin typeface="メイリオ" panose="020B0604030504040204" pitchFamily="50" charset="-128"/>
              <a:ea typeface="メイリオ" panose="020B0604030504040204" pitchFamily="50" charset="-128"/>
              <a:cs typeface="Meiryo"/>
              <a:sym typeface="Meiryo"/>
            </a:endParaRPr>
          </a:p>
        </p:txBody>
      </p:sp>
      <p:sp>
        <p:nvSpPr>
          <p:cNvPr id="32" name="正方形/長方形 31">
            <a:extLst>
              <a:ext uri="{FF2B5EF4-FFF2-40B4-BE49-F238E27FC236}">
                <a16:creationId xmlns:a16="http://schemas.microsoft.com/office/drawing/2014/main" id="{4EA6E8F1-E33D-1FB9-E4AA-6AD1A2F6B651}"/>
              </a:ext>
            </a:extLst>
          </p:cNvPr>
          <p:cNvSpPr/>
          <p:nvPr/>
        </p:nvSpPr>
        <p:spPr>
          <a:xfrm>
            <a:off x="7750331" y="1748432"/>
            <a:ext cx="1818728" cy="4494694"/>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200" b="1" dirty="0">
                <a:solidFill>
                  <a:schemeClr val="tx1"/>
                </a:solidFill>
                <a:latin typeface="メイリオ" panose="020B0604030504040204" pitchFamily="50" charset="-128"/>
                <a:ea typeface="メイリオ" panose="020B0604030504040204" pitchFamily="50" charset="-128"/>
              </a:rPr>
              <a:t>[</a:t>
            </a:r>
            <a:r>
              <a:rPr kumimoji="1" lang="ja-JP" altLang="en-US" sz="1200" b="1" dirty="0">
                <a:solidFill>
                  <a:schemeClr val="tx1"/>
                </a:solidFill>
                <a:latin typeface="メイリオ" panose="020B0604030504040204" pitchFamily="50" charset="-128"/>
                <a:ea typeface="メイリオ" panose="020B0604030504040204" pitchFamily="50" charset="-128"/>
              </a:rPr>
              <a:t>ターゲット設定</a:t>
            </a:r>
            <a:r>
              <a:rPr lang="en-US" altLang="ja-JP" sz="1200" b="1" dirty="0">
                <a:solidFill>
                  <a:schemeClr val="tx1"/>
                </a:solidFill>
                <a:latin typeface="メイリオ" panose="020B0604030504040204" pitchFamily="50" charset="-128"/>
                <a:ea typeface="メイリオ" panose="020B0604030504040204" pitchFamily="50" charset="-128"/>
              </a:rPr>
              <a:t>]</a:t>
            </a:r>
          </a:p>
          <a:p>
            <a:endParaRPr kumimoji="1" lang="en-US" altLang="ja-JP" sz="700" dirty="0">
              <a:solidFill>
                <a:schemeClr val="tx1"/>
              </a:solidFill>
              <a:latin typeface="メイリオ" panose="020B0604030504040204" pitchFamily="50" charset="-128"/>
              <a:ea typeface="メイリオ" panose="020B0604030504040204" pitchFamily="50" charset="-128"/>
            </a:endParaRPr>
          </a:p>
          <a:p>
            <a:endParaRPr kumimoji="1" lang="en-US" altLang="ja-JP" sz="700" dirty="0">
              <a:solidFill>
                <a:schemeClr val="tx1"/>
              </a:solidFill>
              <a:latin typeface="メイリオ" panose="020B0604030504040204" pitchFamily="50" charset="-128"/>
              <a:ea typeface="メイリオ" panose="020B0604030504040204" pitchFamily="50" charset="-128"/>
            </a:endParaRPr>
          </a:p>
          <a:p>
            <a:r>
              <a:rPr kumimoji="1" lang="en-US" altLang="ja-JP" sz="1200" b="1" dirty="0">
                <a:solidFill>
                  <a:schemeClr val="tx1"/>
                </a:solidFill>
                <a:latin typeface="メイリオ" panose="020B0604030504040204" pitchFamily="50" charset="-128"/>
                <a:ea typeface="メイリオ" panose="020B0604030504040204" pitchFamily="50" charset="-128"/>
              </a:rPr>
              <a:t>LINEOA</a:t>
            </a:r>
            <a:r>
              <a:rPr kumimoji="1" lang="ja-JP" altLang="en-US" sz="1200" b="1" dirty="0">
                <a:solidFill>
                  <a:schemeClr val="tx1"/>
                </a:solidFill>
                <a:latin typeface="メイリオ" panose="020B0604030504040204" pitchFamily="50" charset="-128"/>
                <a:ea typeface="メイリオ" panose="020B0604030504040204" pitchFamily="50" charset="-128"/>
              </a:rPr>
              <a:t>オーガニック</a:t>
            </a:r>
            <a:endParaRPr kumimoji="1" lang="en-US" altLang="ja-JP" sz="1200" b="1" dirty="0">
              <a:solidFill>
                <a:schemeClr val="tx1"/>
              </a:solidFill>
              <a:latin typeface="メイリオ" panose="020B0604030504040204" pitchFamily="50" charset="-128"/>
              <a:ea typeface="メイリオ" panose="020B0604030504040204" pitchFamily="50" charset="-128"/>
            </a:endParaRP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年齢</a:t>
            </a:r>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性別</a:t>
            </a:r>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地域</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(MSG</a:t>
            </a:r>
            <a:r>
              <a:rPr lang="ja-JP" altLang="en-US" sz="1050" dirty="0">
                <a:solidFill>
                  <a:schemeClr val="tx1"/>
                </a:solidFill>
                <a:latin typeface="メイリオ" panose="020B0604030504040204" pitchFamily="50" charset="-128"/>
                <a:ea typeface="メイリオ" panose="020B0604030504040204" pitchFamily="50" charset="-128"/>
              </a:rPr>
              <a:t>の</a:t>
            </a:r>
            <a:r>
              <a:rPr lang="en-US" altLang="ja-JP" sz="1050" dirty="0" err="1">
                <a:solidFill>
                  <a:schemeClr val="tx1"/>
                </a:solidFill>
                <a:latin typeface="メイリオ" panose="020B0604030504040204" pitchFamily="50" charset="-128"/>
                <a:ea typeface="メイリオ" panose="020B0604030504040204" pitchFamily="50" charset="-128"/>
              </a:rPr>
              <a:t>Imp,Click</a:t>
            </a:r>
            <a:r>
              <a:rPr lang="en-US" altLang="ja-JP" sz="1050" dirty="0">
                <a:solidFill>
                  <a:schemeClr val="tx1"/>
                </a:solidFill>
                <a:latin typeface="メイリオ" panose="020B0604030504040204" pitchFamily="50" charset="-128"/>
                <a:ea typeface="メイリオ" panose="020B0604030504040204" pitchFamily="50" charset="-128"/>
              </a:rPr>
              <a:t>)</a:t>
            </a:r>
          </a:p>
          <a:p>
            <a:endParaRPr lang="en-US" altLang="ja-JP" sz="700" dirty="0">
              <a:solidFill>
                <a:schemeClr val="tx1"/>
              </a:solidFill>
              <a:latin typeface="メイリオ" panose="020B0604030504040204" pitchFamily="50" charset="-128"/>
              <a:ea typeface="メイリオ" panose="020B0604030504040204" pitchFamily="50" charset="-128"/>
            </a:endParaRPr>
          </a:p>
          <a:p>
            <a:r>
              <a:rPr lang="en-US" altLang="ja-JP" sz="1200" b="1" dirty="0">
                <a:solidFill>
                  <a:schemeClr val="tx1"/>
                </a:solidFill>
                <a:latin typeface="メイリオ" panose="020B0604030504040204" pitchFamily="50" charset="-128"/>
                <a:ea typeface="メイリオ" panose="020B0604030504040204" pitchFamily="50" charset="-128"/>
              </a:rPr>
              <a:t>LINE_API</a:t>
            </a:r>
            <a:r>
              <a:rPr lang="ja-JP" altLang="en-US" sz="1200" b="1" dirty="0">
                <a:solidFill>
                  <a:schemeClr val="tx1"/>
                </a:solidFill>
                <a:latin typeface="メイリオ" panose="020B0604030504040204" pitchFamily="50" charset="-128"/>
                <a:ea typeface="メイリオ" panose="020B0604030504040204" pitchFamily="50" charset="-128"/>
              </a:rPr>
              <a:t>ツール</a:t>
            </a:r>
            <a:r>
              <a:rPr lang="ja-JP" altLang="en-US" sz="900" b="1" dirty="0">
                <a:solidFill>
                  <a:schemeClr val="tx1"/>
                </a:solidFill>
                <a:latin typeface="メイリオ" panose="020B0604030504040204" pitchFamily="50" charset="-128"/>
                <a:ea typeface="メイリオ" panose="020B0604030504040204" pitchFamily="50" charset="-128"/>
              </a:rPr>
              <a:t> </a:t>
            </a:r>
            <a:r>
              <a:rPr lang="en-US" altLang="ja-JP" sz="900" b="1" dirty="0">
                <a:solidFill>
                  <a:srgbClr val="FF0000"/>
                </a:solidFill>
                <a:latin typeface="メイリオ" panose="020B0604030504040204" pitchFamily="50" charset="-128"/>
                <a:ea typeface="メイリオ" panose="020B0604030504040204" pitchFamily="50" charset="-128"/>
              </a:rPr>
              <a:t>※</a:t>
            </a:r>
            <a:r>
              <a:rPr lang="ja-JP" altLang="en-US" sz="900" b="1" dirty="0">
                <a:solidFill>
                  <a:srgbClr val="FF0000"/>
                </a:solidFill>
                <a:latin typeface="メイリオ" panose="020B0604030504040204" pitchFamily="50" charset="-128"/>
                <a:ea typeface="メイリオ" panose="020B0604030504040204" pitchFamily="50" charset="-128"/>
              </a:rPr>
              <a:t>有料</a:t>
            </a:r>
            <a:endParaRPr lang="en-US" altLang="ja-JP" sz="1200" b="1" dirty="0">
              <a:solidFill>
                <a:srgbClr val="FF0000"/>
              </a:solidFill>
              <a:latin typeface="メイリオ" panose="020B0604030504040204" pitchFamily="50" charset="-128"/>
              <a:ea typeface="メイリオ" panose="020B0604030504040204" pitchFamily="50" charset="-128"/>
            </a:endParaRP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アンケート結果）</a:t>
            </a:r>
            <a:endParaRPr lang="en-US" altLang="ja-JP" sz="1050" dirty="0">
              <a:solidFill>
                <a:schemeClr val="tx1"/>
              </a:solidFill>
              <a:latin typeface="メイリオ" panose="020B0604030504040204" pitchFamily="50" charset="-128"/>
              <a:ea typeface="メイリオ" panose="020B0604030504040204" pitchFamily="50" charset="-128"/>
            </a:endParaRPr>
          </a:p>
          <a:p>
            <a:r>
              <a:rPr lang="en-US" altLang="ja-JP" sz="1050" dirty="0">
                <a:solidFill>
                  <a:schemeClr val="tx1"/>
                </a:solidFill>
                <a:latin typeface="メイリオ" panose="020B0604030504040204" pitchFamily="50" charset="-128"/>
                <a:ea typeface="メイリオ" panose="020B0604030504040204" pitchFamily="50" charset="-128"/>
              </a:rPr>
              <a:t>(WEB</a:t>
            </a:r>
            <a:r>
              <a:rPr lang="ja-JP" altLang="en-US" sz="1050" dirty="0">
                <a:solidFill>
                  <a:schemeClr val="tx1"/>
                </a:solidFill>
                <a:latin typeface="メイリオ" panose="020B0604030504040204" pitchFamily="50" charset="-128"/>
                <a:ea typeface="メイリオ" panose="020B0604030504040204" pitchFamily="50" charset="-128"/>
              </a:rPr>
              <a:t>サイトアクション</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リマインド</a:t>
            </a:r>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再通知</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(ID</a:t>
            </a:r>
            <a:r>
              <a:rPr lang="ja-JP" altLang="en-US" sz="1050" dirty="0">
                <a:solidFill>
                  <a:schemeClr val="tx1"/>
                </a:solidFill>
                <a:latin typeface="メイリオ" panose="020B0604030504040204" pitchFamily="50" charset="-128"/>
                <a:ea typeface="メイリオ" panose="020B0604030504040204" pitchFamily="50" charset="-128"/>
              </a:rPr>
              <a:t>連携した情報ベース</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ユーザー一覧を取得</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ユーザー</a:t>
            </a:r>
            <a:r>
              <a:rPr lang="en-US" altLang="ja-JP" sz="1050" dirty="0">
                <a:solidFill>
                  <a:schemeClr val="tx1"/>
                </a:solidFill>
                <a:latin typeface="メイリオ" panose="020B0604030504040204" pitchFamily="50" charset="-128"/>
                <a:ea typeface="メイリオ" panose="020B0604030504040204" pitchFamily="50" charset="-128"/>
              </a:rPr>
              <a:t>ID</a:t>
            </a:r>
            <a:r>
              <a:rPr lang="ja-JP" altLang="en-US" sz="1050" dirty="0">
                <a:solidFill>
                  <a:schemeClr val="tx1"/>
                </a:solidFill>
                <a:latin typeface="メイリオ" panose="020B0604030504040204" pitchFamily="50" charset="-128"/>
                <a:ea typeface="メイリオ" panose="020B0604030504040204" pitchFamily="50" charset="-128"/>
              </a:rPr>
              <a:t>アップロード</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地点別スコアリング</a:t>
            </a:r>
            <a:r>
              <a:rPr lang="en-US" altLang="ja-JP" sz="1050" dirty="0">
                <a:solidFill>
                  <a:schemeClr val="tx1"/>
                </a:solidFill>
                <a:latin typeface="メイリオ" panose="020B0604030504040204" pitchFamily="50" charset="-128"/>
                <a:ea typeface="メイリオ" panose="020B0604030504040204" pitchFamily="50" charset="-128"/>
              </a:rPr>
              <a:t>)</a:t>
            </a:r>
          </a:p>
          <a:p>
            <a:endParaRPr lang="en-US" altLang="ja-JP" sz="1050" dirty="0">
              <a:solidFill>
                <a:schemeClr val="tx1"/>
              </a:solidFill>
              <a:latin typeface="メイリオ" panose="020B0604030504040204" pitchFamily="50" charset="-128"/>
              <a:ea typeface="メイリオ" panose="020B0604030504040204" pitchFamily="50" charset="-128"/>
            </a:endParaRPr>
          </a:p>
          <a:p>
            <a:endParaRPr lang="en-US" altLang="ja-JP" sz="1050" dirty="0">
              <a:solidFill>
                <a:schemeClr val="tx1"/>
              </a:solidFill>
              <a:latin typeface="メイリオ" panose="020B0604030504040204" pitchFamily="50" charset="-128"/>
              <a:ea typeface="メイリオ" panose="020B0604030504040204" pitchFamily="50" charset="-128"/>
            </a:endParaRPr>
          </a:p>
          <a:p>
            <a:endParaRPr lang="en-US" altLang="ja-JP" sz="1050" dirty="0">
              <a:solidFill>
                <a:schemeClr val="tx1"/>
              </a:solidFill>
              <a:latin typeface="メイリオ" panose="020B0604030504040204" pitchFamily="50" charset="-128"/>
              <a:ea typeface="メイリオ" panose="020B0604030504040204" pitchFamily="50" charset="-128"/>
            </a:endParaRPr>
          </a:p>
          <a:p>
            <a:r>
              <a:rPr lang="en-US" altLang="ja-JP" sz="1050" b="1" dirty="0">
                <a:solidFill>
                  <a:schemeClr val="tx1"/>
                </a:solidFill>
                <a:latin typeface="メイリオ" panose="020B0604030504040204" pitchFamily="50" charset="-128"/>
                <a:ea typeface="メイリオ" panose="020B0604030504040204" pitchFamily="50" charset="-128"/>
              </a:rPr>
              <a:t>※MA</a:t>
            </a:r>
            <a:r>
              <a:rPr lang="ja-JP" altLang="en-US" sz="1050" b="1" dirty="0">
                <a:solidFill>
                  <a:schemeClr val="tx1"/>
                </a:solidFill>
                <a:latin typeface="メイリオ" panose="020B0604030504040204" pitchFamily="50" charset="-128"/>
                <a:ea typeface="メイリオ" panose="020B0604030504040204" pitchFamily="50" charset="-128"/>
              </a:rPr>
              <a:t>、</a:t>
            </a:r>
            <a:r>
              <a:rPr lang="en-US" altLang="ja-JP" sz="1050" b="1" dirty="0">
                <a:solidFill>
                  <a:schemeClr val="tx1"/>
                </a:solidFill>
                <a:latin typeface="メイリオ" panose="020B0604030504040204" pitchFamily="50" charset="-128"/>
                <a:ea typeface="メイリオ" panose="020B0604030504040204" pitchFamily="50" charset="-128"/>
              </a:rPr>
              <a:t>CRM</a:t>
            </a:r>
            <a:r>
              <a:rPr lang="ja-JP" altLang="en-US" sz="1050" b="1" dirty="0">
                <a:solidFill>
                  <a:schemeClr val="tx1"/>
                </a:solidFill>
                <a:latin typeface="メイリオ" panose="020B0604030504040204" pitchFamily="50" charset="-128"/>
                <a:ea typeface="メイリオ" panose="020B0604030504040204" pitchFamily="50" charset="-128"/>
              </a:rPr>
              <a:t>との連携</a:t>
            </a:r>
            <a:endParaRPr lang="en-US" altLang="ja-JP" sz="1050" b="1" dirty="0">
              <a:solidFill>
                <a:schemeClr val="tx1"/>
              </a:solidFill>
              <a:latin typeface="メイリオ" panose="020B0604030504040204" pitchFamily="50" charset="-128"/>
              <a:ea typeface="メイリオ" panose="020B0604030504040204" pitchFamily="50" charset="-128"/>
            </a:endParaRP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購入・リードデータ</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ユーザー情報</a:t>
            </a:r>
            <a:r>
              <a:rPr lang="ja-JP" altLang="en-US" sz="900" dirty="0">
                <a:solidFill>
                  <a:schemeClr val="tx1"/>
                </a:solidFill>
                <a:latin typeface="メイリオ" panose="020B0604030504040204" pitchFamily="50" charset="-128"/>
                <a:ea typeface="メイリオ" panose="020B0604030504040204" pitchFamily="50" charset="-128"/>
              </a:rPr>
              <a:t> </a:t>
            </a:r>
            <a:r>
              <a:rPr lang="en-US" altLang="ja-JP" sz="900" dirty="0">
                <a:solidFill>
                  <a:schemeClr val="tx1"/>
                </a:solidFill>
                <a:latin typeface="メイリオ" panose="020B0604030504040204" pitchFamily="50" charset="-128"/>
                <a:ea typeface="メイリオ" panose="020B0604030504040204" pitchFamily="50" charset="-128"/>
              </a:rPr>
              <a:t>※</a:t>
            </a:r>
            <a:r>
              <a:rPr lang="ja-JP" altLang="en-US" sz="900" dirty="0">
                <a:solidFill>
                  <a:schemeClr val="tx1"/>
                </a:solidFill>
                <a:latin typeface="メイリオ" panose="020B0604030504040204" pitchFamily="50" charset="-128"/>
                <a:ea typeface="メイリオ" panose="020B0604030504040204" pitchFamily="50" charset="-128"/>
              </a:rPr>
              <a:t>詳細</a:t>
            </a:r>
            <a:r>
              <a:rPr lang="en-US" altLang="ja-JP" sz="1050" dirty="0">
                <a:solidFill>
                  <a:schemeClr val="tx1"/>
                </a:solidFill>
                <a:latin typeface="メイリオ" panose="020B0604030504040204" pitchFamily="50" charset="-128"/>
                <a:ea typeface="メイリオ" panose="020B0604030504040204" pitchFamily="50" charset="-128"/>
              </a:rPr>
              <a:t>)</a:t>
            </a:r>
          </a:p>
        </p:txBody>
      </p:sp>
      <p:sp>
        <p:nvSpPr>
          <p:cNvPr id="36" name="テキスト ボックス 35">
            <a:extLst>
              <a:ext uri="{FF2B5EF4-FFF2-40B4-BE49-F238E27FC236}">
                <a16:creationId xmlns:a16="http://schemas.microsoft.com/office/drawing/2014/main" id="{F47CAADD-ECBD-1DCC-19D6-6433C921622E}"/>
              </a:ext>
            </a:extLst>
          </p:cNvPr>
          <p:cNvSpPr txBox="1"/>
          <p:nvPr/>
        </p:nvSpPr>
        <p:spPr>
          <a:xfrm>
            <a:off x="2178040" y="2694449"/>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47" name="テキスト ボックス 46">
            <a:extLst>
              <a:ext uri="{FF2B5EF4-FFF2-40B4-BE49-F238E27FC236}">
                <a16:creationId xmlns:a16="http://schemas.microsoft.com/office/drawing/2014/main" id="{00802062-F552-1DFA-430A-41800E76A220}"/>
              </a:ext>
            </a:extLst>
          </p:cNvPr>
          <p:cNvSpPr txBox="1"/>
          <p:nvPr/>
        </p:nvSpPr>
        <p:spPr>
          <a:xfrm>
            <a:off x="2370382" y="1773237"/>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49" name="テキスト ボックス 48">
            <a:extLst>
              <a:ext uri="{FF2B5EF4-FFF2-40B4-BE49-F238E27FC236}">
                <a16:creationId xmlns:a16="http://schemas.microsoft.com/office/drawing/2014/main" id="{CDCAB868-C79D-2212-70C3-9EF559F32C21}"/>
              </a:ext>
            </a:extLst>
          </p:cNvPr>
          <p:cNvSpPr txBox="1"/>
          <p:nvPr/>
        </p:nvSpPr>
        <p:spPr>
          <a:xfrm>
            <a:off x="2456844" y="3619396"/>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51" name="テキスト ボックス 50">
            <a:extLst>
              <a:ext uri="{FF2B5EF4-FFF2-40B4-BE49-F238E27FC236}">
                <a16:creationId xmlns:a16="http://schemas.microsoft.com/office/drawing/2014/main" id="{E2ECFC3F-A285-F105-30CE-9144EBB24A11}"/>
              </a:ext>
            </a:extLst>
          </p:cNvPr>
          <p:cNvSpPr txBox="1"/>
          <p:nvPr/>
        </p:nvSpPr>
        <p:spPr>
          <a:xfrm>
            <a:off x="2518621" y="4576567"/>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53" name="テキスト ボックス 52">
            <a:extLst>
              <a:ext uri="{FF2B5EF4-FFF2-40B4-BE49-F238E27FC236}">
                <a16:creationId xmlns:a16="http://schemas.microsoft.com/office/drawing/2014/main" id="{39AB193A-8274-ABE1-CD3D-54790C3264F6}"/>
              </a:ext>
            </a:extLst>
          </p:cNvPr>
          <p:cNvSpPr txBox="1"/>
          <p:nvPr/>
        </p:nvSpPr>
        <p:spPr>
          <a:xfrm>
            <a:off x="2210158" y="5478733"/>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56" name="テキスト ボックス 55">
            <a:extLst>
              <a:ext uri="{FF2B5EF4-FFF2-40B4-BE49-F238E27FC236}">
                <a16:creationId xmlns:a16="http://schemas.microsoft.com/office/drawing/2014/main" id="{096A37B9-CA3D-92C9-1405-86C6FFCD8C5A}"/>
              </a:ext>
            </a:extLst>
          </p:cNvPr>
          <p:cNvSpPr txBox="1"/>
          <p:nvPr/>
        </p:nvSpPr>
        <p:spPr>
          <a:xfrm>
            <a:off x="2214724" y="5963211"/>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58" name="テキスト ボックス 57">
            <a:extLst>
              <a:ext uri="{FF2B5EF4-FFF2-40B4-BE49-F238E27FC236}">
                <a16:creationId xmlns:a16="http://schemas.microsoft.com/office/drawing/2014/main" id="{AA71FB07-E583-8196-5077-2EAA10A61A0F}"/>
              </a:ext>
            </a:extLst>
          </p:cNvPr>
          <p:cNvSpPr txBox="1"/>
          <p:nvPr/>
        </p:nvSpPr>
        <p:spPr>
          <a:xfrm>
            <a:off x="285223" y="6291679"/>
            <a:ext cx="2547258" cy="215444"/>
          </a:xfrm>
          <a:prstGeom prst="rect">
            <a:avLst/>
          </a:prstGeom>
          <a:noFill/>
        </p:spPr>
        <p:txBody>
          <a:bodyPr wrap="square">
            <a:spAutoFit/>
          </a:bodyPr>
          <a:lstStyle/>
          <a:p>
            <a:pPr algn="ctr"/>
            <a:r>
              <a:rPr kumimoji="1" lang="ja-JP" altLang="en-US" sz="800" dirty="0">
                <a:solidFill>
                  <a:schemeClr val="bg1">
                    <a:lumMod val="50000"/>
                  </a:schemeClr>
                </a:solidFill>
                <a:latin typeface="メイリオ" panose="020B0604030504040204" pitchFamily="50" charset="-128"/>
                <a:ea typeface="メイリオ" panose="020B0604030504040204" pitchFamily="50" charset="-128"/>
              </a:rPr>
              <a:t>その他</a:t>
            </a:r>
            <a:r>
              <a:rPr kumimoji="1" lang="en-US" altLang="ja-JP" sz="800" dirty="0">
                <a:solidFill>
                  <a:schemeClr val="bg1">
                    <a:lumMod val="50000"/>
                  </a:schemeClr>
                </a:solidFill>
                <a:latin typeface="メイリオ" panose="020B0604030504040204" pitchFamily="50" charset="-128"/>
                <a:ea typeface="メイリオ" panose="020B0604030504040204" pitchFamily="50" charset="-128"/>
              </a:rPr>
              <a:t>WEB</a:t>
            </a:r>
            <a:r>
              <a:rPr kumimoji="1" lang="ja-JP" altLang="en-US" sz="800" dirty="0">
                <a:solidFill>
                  <a:schemeClr val="bg1">
                    <a:lumMod val="50000"/>
                  </a:schemeClr>
                </a:solidFill>
                <a:latin typeface="メイリオ" panose="020B0604030504040204" pitchFamily="50" charset="-128"/>
                <a:ea typeface="メイリオ" panose="020B0604030504040204" pitchFamily="50" charset="-128"/>
              </a:rPr>
              <a:t>サイト動線整備、プレスリリース等</a:t>
            </a:r>
            <a:endParaRPr lang="ja-JP" altLang="en-US" sz="800" dirty="0">
              <a:solidFill>
                <a:schemeClr val="bg1">
                  <a:lumMod val="50000"/>
                </a:schemeClr>
              </a:solidFill>
            </a:endParaRPr>
          </a:p>
        </p:txBody>
      </p:sp>
      <p:sp>
        <p:nvSpPr>
          <p:cNvPr id="6" name="テキスト ボックス 5">
            <a:extLst>
              <a:ext uri="{FF2B5EF4-FFF2-40B4-BE49-F238E27FC236}">
                <a16:creationId xmlns:a16="http://schemas.microsoft.com/office/drawing/2014/main" id="{F3BE3835-FB68-0C7D-7CED-C40A02A19AB2}"/>
              </a:ext>
            </a:extLst>
          </p:cNvPr>
          <p:cNvSpPr txBox="1"/>
          <p:nvPr/>
        </p:nvSpPr>
        <p:spPr>
          <a:xfrm>
            <a:off x="6149585" y="3424747"/>
            <a:ext cx="1174939"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数量により変動</a:t>
            </a:r>
            <a:endParaRPr lang="ja-JP" altLang="en-US" sz="800" dirty="0"/>
          </a:p>
        </p:txBody>
      </p:sp>
      <p:sp>
        <p:nvSpPr>
          <p:cNvPr id="7" name="テキスト ボックス 6">
            <a:extLst>
              <a:ext uri="{FF2B5EF4-FFF2-40B4-BE49-F238E27FC236}">
                <a16:creationId xmlns:a16="http://schemas.microsoft.com/office/drawing/2014/main" id="{F47E1216-C9D3-60D3-B3E8-43E38B5791F4}"/>
              </a:ext>
            </a:extLst>
          </p:cNvPr>
          <p:cNvSpPr txBox="1"/>
          <p:nvPr/>
        </p:nvSpPr>
        <p:spPr>
          <a:xfrm>
            <a:off x="3587357" y="6286698"/>
            <a:ext cx="4128437" cy="215444"/>
          </a:xfrm>
          <a:prstGeom prst="rect">
            <a:avLst/>
          </a:prstGeom>
          <a:noFill/>
        </p:spPr>
        <p:txBody>
          <a:bodyPr wrap="square">
            <a:spAutoFit/>
          </a:bodyPr>
          <a:lstStyle/>
          <a:p>
            <a:r>
              <a:rPr kumimoji="1" lang="ja-JP" altLang="en-US" sz="800" dirty="0">
                <a:solidFill>
                  <a:schemeClr val="bg1">
                    <a:lumMod val="50000"/>
                  </a:schemeClr>
                </a:solidFill>
                <a:latin typeface="メイリオ" panose="020B0604030504040204" pitchFamily="50" charset="-128"/>
                <a:ea typeface="メイリオ" panose="020B0604030504040204" pitchFamily="50" charset="-128"/>
              </a:rPr>
              <a:t>　</a:t>
            </a:r>
            <a:r>
              <a:rPr kumimoji="1" lang="en-US" altLang="ja-JP" sz="800" dirty="0">
                <a:solidFill>
                  <a:schemeClr val="bg1">
                    <a:lumMod val="50000"/>
                  </a:schemeClr>
                </a:solidFill>
                <a:latin typeface="メイリオ" panose="020B0604030504040204" pitchFamily="50" charset="-128"/>
                <a:ea typeface="メイリオ" panose="020B0604030504040204" pitchFamily="50" charset="-128"/>
              </a:rPr>
              <a:t>※</a:t>
            </a:r>
            <a:r>
              <a:rPr kumimoji="1" lang="ja-JP" altLang="en-US" sz="800" dirty="0">
                <a:solidFill>
                  <a:schemeClr val="bg1">
                    <a:lumMod val="50000"/>
                  </a:schemeClr>
                </a:solidFill>
                <a:latin typeface="メイリオ" panose="020B0604030504040204" pitchFamily="50" charset="-128"/>
                <a:ea typeface="メイリオ" panose="020B0604030504040204" pitchFamily="50" charset="-128"/>
              </a:rPr>
              <a:t>クリエイティブ費用は基本的に内包、開発費用は別途見積もりとなります。</a:t>
            </a:r>
            <a:endParaRPr lang="ja-JP" altLang="en-US" sz="800" dirty="0">
              <a:solidFill>
                <a:schemeClr val="bg1">
                  <a:lumMod val="50000"/>
                </a:schemeClr>
              </a:solidFill>
            </a:endParaRPr>
          </a:p>
        </p:txBody>
      </p:sp>
      <p:sp>
        <p:nvSpPr>
          <p:cNvPr id="13" name="正方形/長方形 12">
            <a:extLst>
              <a:ext uri="{FF2B5EF4-FFF2-40B4-BE49-F238E27FC236}">
                <a16:creationId xmlns:a16="http://schemas.microsoft.com/office/drawing/2014/main" id="{9256C170-205B-2224-D69D-D964BF991C26}"/>
              </a:ext>
            </a:extLst>
          </p:cNvPr>
          <p:cNvSpPr/>
          <p:nvPr/>
        </p:nvSpPr>
        <p:spPr>
          <a:xfrm>
            <a:off x="7664076" y="1733928"/>
            <a:ext cx="1904982" cy="4562295"/>
          </a:xfrm>
          <a:prstGeom prst="rect">
            <a:avLst/>
          </a:prstGeom>
          <a:solidFill>
            <a:schemeClr val="bg1">
              <a:alpha val="59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solidFill>
            </a:endParaRPr>
          </a:p>
        </p:txBody>
      </p:sp>
    </p:spTree>
    <p:extLst>
      <p:ext uri="{BB962C8B-B14F-4D97-AF65-F5344CB8AC3E}">
        <p14:creationId xmlns:p14="http://schemas.microsoft.com/office/powerpoint/2010/main" val="9050068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67DEB-0D7B-8670-6390-E396B1D536B5}"/>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D55786A2-F100-6AA6-4BA2-C612ABD2107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施策展開図</a:t>
            </a:r>
          </a:p>
        </p:txBody>
      </p:sp>
      <p:sp>
        <p:nvSpPr>
          <p:cNvPr id="9" name="正方形/長方形 8">
            <a:extLst>
              <a:ext uri="{FF2B5EF4-FFF2-40B4-BE49-F238E27FC236}">
                <a16:creationId xmlns:a16="http://schemas.microsoft.com/office/drawing/2014/main" id="{E9062440-B6A0-85EE-461D-E9A5F53310B0}"/>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3" name="Google Shape;752;p28">
            <a:extLst>
              <a:ext uri="{FF2B5EF4-FFF2-40B4-BE49-F238E27FC236}">
                <a16:creationId xmlns:a16="http://schemas.microsoft.com/office/drawing/2014/main" id="{CCEADF0C-2806-160C-2545-0CBF2DE16851}"/>
              </a:ext>
            </a:extLst>
          </p:cNvPr>
          <p:cNvSpPr txBox="1"/>
          <p:nvPr/>
        </p:nvSpPr>
        <p:spPr>
          <a:xfrm>
            <a:off x="1988819" y="736332"/>
            <a:ext cx="7917181"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a:t>
            </a:r>
            <a:r>
              <a:rPr lang="ja-JP" altLang="en-US" sz="1600" b="1" dirty="0">
                <a:latin typeface="メイリオ" panose="020B0604030504040204" pitchFamily="50" charset="-128"/>
                <a:ea typeface="メイリオ" panose="020B0604030504040204" pitchFamily="50" charset="-128"/>
                <a:cs typeface="Meiryo"/>
                <a:sym typeface="Meiryo"/>
              </a:rPr>
              <a:t>友だち追加～</a:t>
            </a:r>
            <a:r>
              <a:rPr lang="en-US" altLang="ja-JP" sz="1600" b="1" dirty="0">
                <a:latin typeface="メイリオ" panose="020B0604030504040204" pitchFamily="50" charset="-128"/>
                <a:ea typeface="メイリオ" panose="020B0604030504040204" pitchFamily="50" charset="-128"/>
                <a:cs typeface="Meiryo"/>
                <a:sym typeface="Meiryo"/>
              </a:rPr>
              <a:t>15</a:t>
            </a:r>
            <a:r>
              <a:rPr lang="ja-JP" altLang="en-US" sz="1600" b="1" dirty="0">
                <a:latin typeface="メイリオ" panose="020B0604030504040204" pitchFamily="50" charset="-128"/>
                <a:ea typeface="メイリオ" panose="020B0604030504040204" pitchFamily="50" charset="-128"/>
                <a:cs typeface="Meiryo"/>
                <a:sym typeface="Meiryo"/>
              </a:rPr>
              <a:t>日を境に大きくアクティブ率が下がる（ブロック率が上がる）</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為、追加から</a:t>
            </a:r>
            <a:r>
              <a:rPr lang="en-US" altLang="ja-JP" sz="1600" b="1" dirty="0">
                <a:latin typeface="メイリオ" panose="020B0604030504040204" pitchFamily="50" charset="-128"/>
                <a:ea typeface="メイリオ" panose="020B0604030504040204" pitchFamily="50" charset="-128"/>
                <a:cs typeface="Meiryo"/>
                <a:sym typeface="Meiryo"/>
              </a:rPr>
              <a:t>20‐30</a:t>
            </a:r>
            <a:r>
              <a:rPr lang="ja-JP" altLang="en-US" sz="1600" b="1" dirty="0">
                <a:latin typeface="メイリオ" panose="020B0604030504040204" pitchFamily="50" charset="-128"/>
                <a:ea typeface="メイリオ" panose="020B0604030504040204" pitchFamily="50" charset="-128"/>
                <a:cs typeface="Meiryo"/>
                <a:sym typeface="Meiryo"/>
              </a:rPr>
              <a:t>日間のステップ配信構築とユーザビリティの改善が必要に。</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pic>
        <p:nvPicPr>
          <p:cNvPr id="5" name="図 4">
            <a:extLst>
              <a:ext uri="{FF2B5EF4-FFF2-40B4-BE49-F238E27FC236}">
                <a16:creationId xmlns:a16="http://schemas.microsoft.com/office/drawing/2014/main" id="{599FD372-1931-8AF9-6FBE-007F188CE892}"/>
              </a:ext>
            </a:extLst>
          </p:cNvPr>
          <p:cNvPicPr>
            <a:picLocks noChangeAspect="1"/>
          </p:cNvPicPr>
          <p:nvPr/>
        </p:nvPicPr>
        <p:blipFill>
          <a:blip r:embed="rId2"/>
          <a:stretch>
            <a:fillRect/>
          </a:stretch>
        </p:blipFill>
        <p:spPr>
          <a:xfrm>
            <a:off x="1394710" y="1746287"/>
            <a:ext cx="582602" cy="543237"/>
          </a:xfrm>
          <a:prstGeom prst="rect">
            <a:avLst/>
          </a:prstGeom>
        </p:spPr>
      </p:pic>
      <p:sp>
        <p:nvSpPr>
          <p:cNvPr id="6" name="正方形/長方形 5">
            <a:extLst>
              <a:ext uri="{FF2B5EF4-FFF2-40B4-BE49-F238E27FC236}">
                <a16:creationId xmlns:a16="http://schemas.microsoft.com/office/drawing/2014/main" id="{70DDBD12-962F-75E1-F777-2A8CB1A1A43C}"/>
              </a:ext>
            </a:extLst>
          </p:cNvPr>
          <p:cNvSpPr/>
          <p:nvPr/>
        </p:nvSpPr>
        <p:spPr>
          <a:xfrm>
            <a:off x="2232491" y="1817608"/>
            <a:ext cx="5694068" cy="400594"/>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bg1"/>
                </a:solidFill>
                <a:latin typeface="メイリオ" panose="020B0604030504040204" pitchFamily="50" charset="-128"/>
                <a:ea typeface="メイリオ" panose="020B0604030504040204" pitchFamily="50" charset="-128"/>
              </a:rPr>
              <a:t>公式アカウントを友だち追加！</a:t>
            </a:r>
          </a:p>
        </p:txBody>
      </p:sp>
      <p:sp>
        <p:nvSpPr>
          <p:cNvPr id="16" name="矢印: 下 15">
            <a:extLst>
              <a:ext uri="{FF2B5EF4-FFF2-40B4-BE49-F238E27FC236}">
                <a16:creationId xmlns:a16="http://schemas.microsoft.com/office/drawing/2014/main" id="{96A68A56-39E1-8BAC-2C49-CC19FBEC68F7}"/>
              </a:ext>
            </a:extLst>
          </p:cNvPr>
          <p:cNvSpPr/>
          <p:nvPr/>
        </p:nvSpPr>
        <p:spPr>
          <a:xfrm>
            <a:off x="6666282" y="2317059"/>
            <a:ext cx="470263" cy="1837509"/>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9" name="直線コネクタ 18">
            <a:extLst>
              <a:ext uri="{FF2B5EF4-FFF2-40B4-BE49-F238E27FC236}">
                <a16:creationId xmlns:a16="http://schemas.microsoft.com/office/drawing/2014/main" id="{499B7760-FDC6-B260-9507-F94BFB256854}"/>
              </a:ext>
            </a:extLst>
          </p:cNvPr>
          <p:cNvCxnSpPr>
            <a:cxnSpLocks/>
          </p:cNvCxnSpPr>
          <p:nvPr/>
        </p:nvCxnSpPr>
        <p:spPr>
          <a:xfrm>
            <a:off x="1603884" y="4293068"/>
            <a:ext cx="6889823" cy="0"/>
          </a:xfrm>
          <a:prstGeom prst="line">
            <a:avLst/>
          </a:prstGeom>
          <a:ln w="63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22" name="矢印: 下 21">
            <a:extLst>
              <a:ext uri="{FF2B5EF4-FFF2-40B4-BE49-F238E27FC236}">
                <a16:creationId xmlns:a16="http://schemas.microsoft.com/office/drawing/2014/main" id="{57EAA642-99EB-D59A-CA2D-CF128F520650}"/>
              </a:ext>
            </a:extLst>
          </p:cNvPr>
          <p:cNvSpPr/>
          <p:nvPr/>
        </p:nvSpPr>
        <p:spPr>
          <a:xfrm>
            <a:off x="6666281" y="4376126"/>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3" name="直線コネクタ 22">
            <a:extLst>
              <a:ext uri="{FF2B5EF4-FFF2-40B4-BE49-F238E27FC236}">
                <a16:creationId xmlns:a16="http://schemas.microsoft.com/office/drawing/2014/main" id="{FC84D888-2F3B-56B2-6D8B-43495766B724}"/>
              </a:ext>
            </a:extLst>
          </p:cNvPr>
          <p:cNvCxnSpPr>
            <a:cxnSpLocks/>
          </p:cNvCxnSpPr>
          <p:nvPr/>
        </p:nvCxnSpPr>
        <p:spPr>
          <a:xfrm>
            <a:off x="1603884" y="5394656"/>
            <a:ext cx="6889823" cy="0"/>
          </a:xfrm>
          <a:prstGeom prst="line">
            <a:avLst/>
          </a:prstGeom>
          <a:ln w="63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2DDEE958-B9A4-B3B7-0AB5-40E083E922F6}"/>
              </a:ext>
            </a:extLst>
          </p:cNvPr>
          <p:cNvSpPr txBox="1"/>
          <p:nvPr/>
        </p:nvSpPr>
        <p:spPr>
          <a:xfrm>
            <a:off x="887729" y="4154568"/>
            <a:ext cx="4963884" cy="276999"/>
          </a:xfrm>
          <a:prstGeom prst="rect">
            <a:avLst/>
          </a:prstGeom>
          <a:noFill/>
        </p:spPr>
        <p:txBody>
          <a:bodyPr wrap="square">
            <a:spAutoFit/>
          </a:bodyPr>
          <a:lstStyle/>
          <a:p>
            <a:r>
              <a:rPr lang="en-US" altLang="ja-JP" sz="1200" b="1" dirty="0">
                <a:latin typeface="メイリオ" panose="020B0604030504040204" pitchFamily="50" charset="-128"/>
                <a:ea typeface="メイリオ" panose="020B0604030504040204" pitchFamily="50" charset="-128"/>
                <a:cs typeface="Meiryo"/>
                <a:sym typeface="Meiryo"/>
              </a:rPr>
              <a:t>15</a:t>
            </a:r>
            <a:r>
              <a:rPr lang="ja-JP" altLang="en-US" sz="1200" b="1" dirty="0">
                <a:latin typeface="メイリオ" panose="020B0604030504040204" pitchFamily="50" charset="-128"/>
                <a:ea typeface="メイリオ" panose="020B0604030504040204" pitchFamily="50" charset="-128"/>
                <a:cs typeface="Meiryo"/>
                <a:sym typeface="Meiryo"/>
              </a:rPr>
              <a:t>日後</a:t>
            </a:r>
            <a:endParaRPr lang="ja-JP" altLang="en-US" sz="1200" dirty="0"/>
          </a:p>
        </p:txBody>
      </p:sp>
      <p:sp>
        <p:nvSpPr>
          <p:cNvPr id="29" name="テキスト ボックス 28">
            <a:extLst>
              <a:ext uri="{FF2B5EF4-FFF2-40B4-BE49-F238E27FC236}">
                <a16:creationId xmlns:a16="http://schemas.microsoft.com/office/drawing/2014/main" id="{99B2BE93-6AC1-B592-319F-2D44EB64DCDF}"/>
              </a:ext>
            </a:extLst>
          </p:cNvPr>
          <p:cNvSpPr txBox="1"/>
          <p:nvPr/>
        </p:nvSpPr>
        <p:spPr>
          <a:xfrm>
            <a:off x="887729" y="5258075"/>
            <a:ext cx="4963884" cy="276999"/>
          </a:xfrm>
          <a:prstGeom prst="rect">
            <a:avLst/>
          </a:prstGeom>
          <a:noFill/>
        </p:spPr>
        <p:txBody>
          <a:bodyPr wrap="square">
            <a:spAutoFit/>
          </a:bodyPr>
          <a:lstStyle/>
          <a:p>
            <a:r>
              <a:rPr lang="en-US" altLang="ja-JP" sz="1200" b="1" dirty="0">
                <a:latin typeface="メイリオ" panose="020B0604030504040204" pitchFamily="50" charset="-128"/>
                <a:ea typeface="メイリオ" panose="020B0604030504040204" pitchFamily="50" charset="-128"/>
                <a:cs typeface="Meiryo"/>
                <a:sym typeface="Meiryo"/>
              </a:rPr>
              <a:t>30</a:t>
            </a:r>
            <a:r>
              <a:rPr lang="ja-JP" altLang="en-US" sz="1200" b="1" dirty="0">
                <a:latin typeface="メイリオ" panose="020B0604030504040204" pitchFamily="50" charset="-128"/>
                <a:ea typeface="メイリオ" panose="020B0604030504040204" pitchFamily="50" charset="-128"/>
                <a:cs typeface="Meiryo"/>
                <a:sym typeface="Meiryo"/>
              </a:rPr>
              <a:t>日後</a:t>
            </a:r>
            <a:endParaRPr lang="ja-JP" altLang="en-US" sz="1200" dirty="0"/>
          </a:p>
        </p:txBody>
      </p:sp>
      <p:sp>
        <p:nvSpPr>
          <p:cNvPr id="32" name="矢印: 下 31">
            <a:extLst>
              <a:ext uri="{FF2B5EF4-FFF2-40B4-BE49-F238E27FC236}">
                <a16:creationId xmlns:a16="http://schemas.microsoft.com/office/drawing/2014/main" id="{F0BAD90B-19DF-C716-880C-57948735A10E}"/>
              </a:ext>
            </a:extLst>
          </p:cNvPr>
          <p:cNvSpPr/>
          <p:nvPr/>
        </p:nvSpPr>
        <p:spPr>
          <a:xfrm>
            <a:off x="6666281" y="5477713"/>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直角三角形 32">
            <a:extLst>
              <a:ext uri="{FF2B5EF4-FFF2-40B4-BE49-F238E27FC236}">
                <a16:creationId xmlns:a16="http://schemas.microsoft.com/office/drawing/2014/main" id="{21D9755D-523C-2A6A-B045-29C102846ABF}"/>
              </a:ext>
            </a:extLst>
          </p:cNvPr>
          <p:cNvSpPr/>
          <p:nvPr/>
        </p:nvSpPr>
        <p:spPr>
          <a:xfrm flipV="1">
            <a:off x="7837714" y="2289524"/>
            <a:ext cx="1244098" cy="3105132"/>
          </a:xfrm>
          <a:prstGeom prst="rtTriangle">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FF0000"/>
              </a:solidFill>
            </a:endParaRPr>
          </a:p>
        </p:txBody>
      </p:sp>
      <p:sp>
        <p:nvSpPr>
          <p:cNvPr id="38" name="テキスト ボックス 37">
            <a:extLst>
              <a:ext uri="{FF2B5EF4-FFF2-40B4-BE49-F238E27FC236}">
                <a16:creationId xmlns:a16="http://schemas.microsoft.com/office/drawing/2014/main" id="{D6796F30-9C92-1751-9461-7D96ED3FD472}"/>
              </a:ext>
            </a:extLst>
          </p:cNvPr>
          <p:cNvSpPr txBox="1"/>
          <p:nvPr/>
        </p:nvSpPr>
        <p:spPr>
          <a:xfrm>
            <a:off x="7376370" y="2507385"/>
            <a:ext cx="2104595" cy="261610"/>
          </a:xfrm>
          <a:prstGeom prst="rect">
            <a:avLst/>
          </a:prstGeom>
          <a:no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rPr>
              <a:t>アクティブ率：高</a:t>
            </a:r>
          </a:p>
        </p:txBody>
      </p:sp>
      <p:sp>
        <p:nvSpPr>
          <p:cNvPr id="45" name="直角三角形 44">
            <a:extLst>
              <a:ext uri="{FF2B5EF4-FFF2-40B4-BE49-F238E27FC236}">
                <a16:creationId xmlns:a16="http://schemas.microsoft.com/office/drawing/2014/main" id="{70153691-BF19-7E23-69C7-A1735ED95D0B}"/>
              </a:ext>
            </a:extLst>
          </p:cNvPr>
          <p:cNvSpPr/>
          <p:nvPr/>
        </p:nvSpPr>
        <p:spPr>
          <a:xfrm flipV="1">
            <a:off x="7837713" y="5403361"/>
            <a:ext cx="399367" cy="946289"/>
          </a:xfrm>
          <a:prstGeom prst="rtTriangle">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FF0000"/>
              </a:solidFill>
            </a:endParaRPr>
          </a:p>
        </p:txBody>
      </p:sp>
      <p:sp>
        <p:nvSpPr>
          <p:cNvPr id="49" name="テキスト ボックス 48">
            <a:extLst>
              <a:ext uri="{FF2B5EF4-FFF2-40B4-BE49-F238E27FC236}">
                <a16:creationId xmlns:a16="http://schemas.microsoft.com/office/drawing/2014/main" id="{39E95A0F-F089-7BBE-05C6-60749997D8B5}"/>
              </a:ext>
            </a:extLst>
          </p:cNvPr>
          <p:cNvSpPr txBox="1"/>
          <p:nvPr/>
        </p:nvSpPr>
        <p:spPr>
          <a:xfrm>
            <a:off x="7376370" y="4777647"/>
            <a:ext cx="2104595" cy="261610"/>
          </a:xfrm>
          <a:prstGeom prst="rect">
            <a:avLst/>
          </a:prstGeom>
          <a:noFill/>
        </p:spPr>
        <p:txBody>
          <a:bodyPr wrap="square">
            <a:spAutoFit/>
          </a:bodyPr>
          <a:lstStyle/>
          <a:p>
            <a:pPr algn="ctr"/>
            <a:r>
              <a:rPr lang="ja-JP" altLang="en-US" sz="1050" dirty="0">
                <a:solidFill>
                  <a:srgbClr val="FF0000"/>
                </a:solidFill>
                <a:latin typeface="メイリオ" panose="020B0604030504040204" pitchFamily="50" charset="-128"/>
                <a:ea typeface="メイリオ" panose="020B0604030504040204" pitchFamily="50" charset="-128"/>
              </a:rPr>
              <a:t>アクティブ率：低</a:t>
            </a:r>
          </a:p>
        </p:txBody>
      </p:sp>
      <p:sp>
        <p:nvSpPr>
          <p:cNvPr id="51" name="正方形/長方形 50">
            <a:extLst>
              <a:ext uri="{FF2B5EF4-FFF2-40B4-BE49-F238E27FC236}">
                <a16:creationId xmlns:a16="http://schemas.microsoft.com/office/drawing/2014/main" id="{6E8EECEE-A26C-FE65-851C-D89DA2943DDA}"/>
              </a:ext>
            </a:extLst>
          </p:cNvPr>
          <p:cNvSpPr/>
          <p:nvPr/>
        </p:nvSpPr>
        <p:spPr>
          <a:xfrm>
            <a:off x="4822207" y="3086837"/>
            <a:ext cx="1653346"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FF0000"/>
                </a:solidFill>
                <a:latin typeface="メイリオ" panose="020B0604030504040204" pitchFamily="50" charset="-128"/>
                <a:ea typeface="メイリオ" panose="020B0604030504040204" pitchFamily="50" charset="-128"/>
              </a:rPr>
              <a:t>ステップ配信</a:t>
            </a:r>
          </a:p>
        </p:txBody>
      </p:sp>
      <p:sp>
        <p:nvSpPr>
          <p:cNvPr id="53" name="正方形/長方形 52">
            <a:extLst>
              <a:ext uri="{FF2B5EF4-FFF2-40B4-BE49-F238E27FC236}">
                <a16:creationId xmlns:a16="http://schemas.microsoft.com/office/drawing/2014/main" id="{81454DD3-4503-BFE5-0C14-038581D067FE}"/>
              </a:ext>
            </a:extLst>
          </p:cNvPr>
          <p:cNvSpPr/>
          <p:nvPr/>
        </p:nvSpPr>
        <p:spPr>
          <a:xfrm>
            <a:off x="2232491" y="2685169"/>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FF0000"/>
                </a:solidFill>
                <a:latin typeface="メイリオ" panose="020B0604030504040204" pitchFamily="50" charset="-128"/>
                <a:ea typeface="メイリオ" panose="020B0604030504040204" pitchFamily="50" charset="-128"/>
              </a:rPr>
              <a:t>アンケート</a:t>
            </a:r>
          </a:p>
        </p:txBody>
      </p:sp>
      <p:sp>
        <p:nvSpPr>
          <p:cNvPr id="55" name="正方形/長方形 54">
            <a:extLst>
              <a:ext uri="{FF2B5EF4-FFF2-40B4-BE49-F238E27FC236}">
                <a16:creationId xmlns:a16="http://schemas.microsoft.com/office/drawing/2014/main" id="{50620861-661B-61FD-CF03-A1B419A375AE}"/>
              </a:ext>
            </a:extLst>
          </p:cNvPr>
          <p:cNvSpPr/>
          <p:nvPr/>
        </p:nvSpPr>
        <p:spPr>
          <a:xfrm>
            <a:off x="2326221" y="3086838"/>
            <a:ext cx="2411242"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solidFill>
                <a:latin typeface="メイリオ" panose="020B0604030504040204" pitchFamily="50" charset="-128"/>
                <a:ea typeface="メイリオ" panose="020B0604030504040204" pitchFamily="50" charset="-128"/>
              </a:rPr>
              <a:t>企画配信</a:t>
            </a:r>
          </a:p>
        </p:txBody>
      </p:sp>
      <p:sp>
        <p:nvSpPr>
          <p:cNvPr id="57" name="正方形/長方形 56">
            <a:extLst>
              <a:ext uri="{FF2B5EF4-FFF2-40B4-BE49-F238E27FC236}">
                <a16:creationId xmlns:a16="http://schemas.microsoft.com/office/drawing/2014/main" id="{4459A76C-C890-8CC0-17D9-2EF08525C001}"/>
              </a:ext>
            </a:extLst>
          </p:cNvPr>
          <p:cNvSpPr/>
          <p:nvPr/>
        </p:nvSpPr>
        <p:spPr>
          <a:xfrm>
            <a:off x="2232491" y="5442735"/>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rPr>
              <a:t>モーメント配信</a:t>
            </a:r>
          </a:p>
        </p:txBody>
      </p:sp>
      <p:sp>
        <p:nvSpPr>
          <p:cNvPr id="65" name="正方形/長方形 64">
            <a:extLst>
              <a:ext uri="{FF2B5EF4-FFF2-40B4-BE49-F238E27FC236}">
                <a16:creationId xmlns:a16="http://schemas.microsoft.com/office/drawing/2014/main" id="{A8F1D398-BD32-DDD8-1642-E52C2B235BA4}"/>
              </a:ext>
            </a:extLst>
          </p:cNvPr>
          <p:cNvSpPr/>
          <p:nvPr/>
        </p:nvSpPr>
        <p:spPr>
          <a:xfrm>
            <a:off x="2232491" y="2302562"/>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FF0000"/>
                </a:solidFill>
                <a:latin typeface="メイリオ" panose="020B0604030504040204" pitchFamily="50" charset="-128"/>
                <a:ea typeface="メイリオ" panose="020B0604030504040204" pitchFamily="50" charset="-128"/>
              </a:rPr>
              <a:t>挨拶メッセージ・リッチメニュー</a:t>
            </a:r>
          </a:p>
        </p:txBody>
      </p:sp>
      <p:sp>
        <p:nvSpPr>
          <p:cNvPr id="67" name="正方形/長方形 66">
            <a:extLst>
              <a:ext uri="{FF2B5EF4-FFF2-40B4-BE49-F238E27FC236}">
                <a16:creationId xmlns:a16="http://schemas.microsoft.com/office/drawing/2014/main" id="{F991B595-167D-EE44-3530-4DCE8C7B208F}"/>
              </a:ext>
            </a:extLst>
          </p:cNvPr>
          <p:cNvSpPr/>
          <p:nvPr/>
        </p:nvSpPr>
        <p:spPr>
          <a:xfrm>
            <a:off x="4822207" y="5838470"/>
            <a:ext cx="1653346"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75" name="正方形/長方形 74">
            <a:extLst>
              <a:ext uri="{FF2B5EF4-FFF2-40B4-BE49-F238E27FC236}">
                <a16:creationId xmlns:a16="http://schemas.microsoft.com/office/drawing/2014/main" id="{16B28472-CB01-9D89-509B-26D59B4BA089}"/>
              </a:ext>
            </a:extLst>
          </p:cNvPr>
          <p:cNvSpPr/>
          <p:nvPr/>
        </p:nvSpPr>
        <p:spPr>
          <a:xfrm>
            <a:off x="2326221" y="5838471"/>
            <a:ext cx="2411242"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81" name="正方形/長方形 80">
            <a:extLst>
              <a:ext uri="{FF2B5EF4-FFF2-40B4-BE49-F238E27FC236}">
                <a16:creationId xmlns:a16="http://schemas.microsoft.com/office/drawing/2014/main" id="{A5ED7B27-E5A3-1AD6-2F12-1265E4591B60}"/>
              </a:ext>
            </a:extLst>
          </p:cNvPr>
          <p:cNvSpPr/>
          <p:nvPr/>
        </p:nvSpPr>
        <p:spPr>
          <a:xfrm>
            <a:off x="115726" y="6285606"/>
            <a:ext cx="7578805" cy="9993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2484261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C836A-F13C-1973-53EF-92ADF9F85FF4}"/>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A8856EBE-32D8-42F5-9D61-C53BF60EFB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施策展開図</a:t>
            </a:r>
          </a:p>
        </p:txBody>
      </p:sp>
      <p:sp>
        <p:nvSpPr>
          <p:cNvPr id="9" name="正方形/長方形 8">
            <a:extLst>
              <a:ext uri="{FF2B5EF4-FFF2-40B4-BE49-F238E27FC236}">
                <a16:creationId xmlns:a16="http://schemas.microsoft.com/office/drawing/2014/main" id="{A6340BD7-9269-59A1-EA69-7426F07778B6}"/>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3" name="Google Shape;752;p28">
            <a:extLst>
              <a:ext uri="{FF2B5EF4-FFF2-40B4-BE49-F238E27FC236}">
                <a16:creationId xmlns:a16="http://schemas.microsoft.com/office/drawing/2014/main" id="{7C701305-F75E-4087-21C2-FA3CCCA8FB67}"/>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LINEOA</a:t>
            </a:r>
            <a:r>
              <a:rPr lang="ja-JP" altLang="en-US" sz="1600" b="1" dirty="0">
                <a:latin typeface="メイリオ" panose="020B0604030504040204" pitchFamily="50" charset="-128"/>
                <a:ea typeface="メイリオ" panose="020B0604030504040204" pitchFamily="50" charset="-128"/>
                <a:cs typeface="Meiryo"/>
                <a:sym typeface="Meiryo"/>
              </a:rPr>
              <a:t>施策は、</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友だちの新規追加</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と</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友だちの育成・</a:t>
            </a:r>
            <a:r>
              <a:rPr lang="en-US" altLang="ja-JP" sz="1600" b="1" dirty="0">
                <a:latin typeface="メイリオ" panose="020B0604030504040204" pitchFamily="50" charset="-128"/>
                <a:ea typeface="メイリオ" panose="020B0604030504040204" pitchFamily="50" charset="-128"/>
                <a:cs typeface="Meiryo"/>
                <a:sym typeface="Meiryo"/>
              </a:rPr>
              <a:t>CV</a:t>
            </a:r>
            <a:r>
              <a:rPr lang="ja-JP" altLang="en-US" sz="1600" b="1" dirty="0">
                <a:latin typeface="メイリオ" panose="020B0604030504040204" pitchFamily="50" charset="-128"/>
                <a:ea typeface="メイリオ" panose="020B0604030504040204" pitchFamily="50" charset="-128"/>
                <a:cs typeface="Meiryo"/>
                <a:sym typeface="Meiryo"/>
              </a:rPr>
              <a:t>着地</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の動線が重要。</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企画投稿（毎月）とステップ配信（定常的に運営）を組み合わせて最適動線に。</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5" name="正方形/長方形 24">
            <a:extLst>
              <a:ext uri="{FF2B5EF4-FFF2-40B4-BE49-F238E27FC236}">
                <a16:creationId xmlns:a16="http://schemas.microsoft.com/office/drawing/2014/main" id="{1A40E6EC-1B5E-5E46-EF89-1167C08649BA}"/>
              </a:ext>
            </a:extLst>
          </p:cNvPr>
          <p:cNvSpPr/>
          <p:nvPr/>
        </p:nvSpPr>
        <p:spPr>
          <a:xfrm>
            <a:off x="963202" y="3662763"/>
            <a:ext cx="1706880" cy="338514"/>
          </a:xfrm>
          <a:prstGeom prst="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　　友だち追加後</a:t>
            </a:r>
            <a:r>
              <a:rPr kumimoji="1" lang="en-US" altLang="ja-JP" sz="1050" b="1" dirty="0">
                <a:solidFill>
                  <a:schemeClr val="tx1">
                    <a:lumMod val="65000"/>
                    <a:lumOff val="35000"/>
                  </a:schemeClr>
                </a:solidFill>
                <a:latin typeface="メイリオ" panose="020B0604030504040204" pitchFamily="50" charset="-128"/>
                <a:ea typeface="メイリオ" panose="020B0604030504040204" pitchFamily="50" charset="-128"/>
              </a:rPr>
              <a:t>…</a:t>
            </a:r>
            <a:endPar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pic>
        <p:nvPicPr>
          <p:cNvPr id="31" name="図 30">
            <a:extLst>
              <a:ext uri="{FF2B5EF4-FFF2-40B4-BE49-F238E27FC236}">
                <a16:creationId xmlns:a16="http://schemas.microsoft.com/office/drawing/2014/main" id="{2FE26F6B-D35B-6A6B-42D2-794437452752}"/>
              </a:ext>
            </a:extLst>
          </p:cNvPr>
          <p:cNvPicPr>
            <a:picLocks noChangeAspect="1"/>
          </p:cNvPicPr>
          <p:nvPr/>
        </p:nvPicPr>
        <p:blipFill>
          <a:blip r:embed="rId2"/>
          <a:stretch>
            <a:fillRect/>
          </a:stretch>
        </p:blipFill>
        <p:spPr>
          <a:xfrm>
            <a:off x="776401" y="3566663"/>
            <a:ext cx="582602" cy="543237"/>
          </a:xfrm>
          <a:prstGeom prst="rect">
            <a:avLst/>
          </a:prstGeom>
        </p:spPr>
      </p:pic>
      <p:sp>
        <p:nvSpPr>
          <p:cNvPr id="34" name="正方形/長方形 33">
            <a:extLst>
              <a:ext uri="{FF2B5EF4-FFF2-40B4-BE49-F238E27FC236}">
                <a16:creationId xmlns:a16="http://schemas.microsoft.com/office/drawing/2014/main" id="{39403F1B-B20A-C75C-8FCB-74AAD1581A2F}"/>
              </a:ext>
            </a:extLst>
          </p:cNvPr>
          <p:cNvSpPr/>
          <p:nvPr/>
        </p:nvSpPr>
        <p:spPr>
          <a:xfrm>
            <a:off x="686977" y="2019915"/>
            <a:ext cx="1706880" cy="338514"/>
          </a:xfrm>
          <a:prstGeom prst="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　　</a:t>
            </a:r>
            <a:r>
              <a:rPr kumimoji="1" lang="en-US" altLang="ja-JP" sz="1050" b="1" dirty="0">
                <a:solidFill>
                  <a:schemeClr val="tx1">
                    <a:lumMod val="65000"/>
                    <a:lumOff val="35000"/>
                  </a:schemeClr>
                </a:solidFill>
                <a:latin typeface="メイリオ" panose="020B0604030504040204" pitchFamily="50" charset="-128"/>
                <a:ea typeface="メイリオ" panose="020B0604030504040204" pitchFamily="50" charset="-128"/>
              </a:rPr>
              <a:t>LP</a:t>
            </a:r>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b="1" dirty="0">
                <a:solidFill>
                  <a:schemeClr val="tx1">
                    <a:lumMod val="65000"/>
                    <a:lumOff val="35000"/>
                  </a:schemeClr>
                </a:solidFill>
                <a:latin typeface="メイリオ" panose="020B0604030504040204" pitchFamily="50" charset="-128"/>
                <a:ea typeface="メイリオ" panose="020B0604030504040204" pitchFamily="50" charset="-128"/>
              </a:rPr>
              <a:t>HP</a:t>
            </a:r>
            <a:endPar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pic>
        <p:nvPicPr>
          <p:cNvPr id="35" name="図 34" descr="lpデザインイラスト｜無料イラスト・フリー素材なら「イラストAC」">
            <a:extLst>
              <a:ext uri="{FF2B5EF4-FFF2-40B4-BE49-F238E27FC236}">
                <a16:creationId xmlns:a16="http://schemas.microsoft.com/office/drawing/2014/main" id="{EA2CF7EC-851A-10FF-17B6-E422C43BD10B}"/>
              </a:ext>
            </a:extLst>
          </p:cNvPr>
          <p:cNvPicPr>
            <a:picLocks noChangeAspect="1"/>
          </p:cNvPicPr>
          <p:nvPr/>
        </p:nvPicPr>
        <p:blipFill>
          <a:blip r:embed="rId3"/>
          <a:stretch>
            <a:fillRect/>
          </a:stretch>
        </p:blipFill>
        <p:spPr>
          <a:xfrm>
            <a:off x="272658" y="1875286"/>
            <a:ext cx="853665" cy="640720"/>
          </a:xfrm>
          <a:prstGeom prst="rect">
            <a:avLst/>
          </a:prstGeom>
        </p:spPr>
      </p:pic>
      <p:sp>
        <p:nvSpPr>
          <p:cNvPr id="40" name="矢印: 下 39">
            <a:extLst>
              <a:ext uri="{FF2B5EF4-FFF2-40B4-BE49-F238E27FC236}">
                <a16:creationId xmlns:a16="http://schemas.microsoft.com/office/drawing/2014/main" id="{0D54B1A9-3944-66DE-F219-BB4192EDE144}"/>
              </a:ext>
            </a:extLst>
          </p:cNvPr>
          <p:cNvSpPr/>
          <p:nvPr/>
        </p:nvSpPr>
        <p:spPr>
          <a:xfrm>
            <a:off x="3290805" y="3630924"/>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矢印: 下 40">
            <a:extLst>
              <a:ext uri="{FF2B5EF4-FFF2-40B4-BE49-F238E27FC236}">
                <a16:creationId xmlns:a16="http://schemas.microsoft.com/office/drawing/2014/main" id="{781A5984-3599-DC05-2E88-6BB61F188EB3}"/>
              </a:ext>
            </a:extLst>
          </p:cNvPr>
          <p:cNvSpPr/>
          <p:nvPr/>
        </p:nvSpPr>
        <p:spPr>
          <a:xfrm>
            <a:off x="5657443" y="3630924"/>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矢印: 下 41">
            <a:extLst>
              <a:ext uri="{FF2B5EF4-FFF2-40B4-BE49-F238E27FC236}">
                <a16:creationId xmlns:a16="http://schemas.microsoft.com/office/drawing/2014/main" id="{1C76D7C3-BFEE-8DA3-57FA-033BD7E35285}"/>
              </a:ext>
            </a:extLst>
          </p:cNvPr>
          <p:cNvSpPr/>
          <p:nvPr/>
        </p:nvSpPr>
        <p:spPr>
          <a:xfrm>
            <a:off x="5657443" y="2019915"/>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矢印: 下 42">
            <a:extLst>
              <a:ext uri="{FF2B5EF4-FFF2-40B4-BE49-F238E27FC236}">
                <a16:creationId xmlns:a16="http://schemas.microsoft.com/office/drawing/2014/main" id="{4E9F9DC2-BA49-A440-DA89-D45BC9E52C3A}"/>
              </a:ext>
            </a:extLst>
          </p:cNvPr>
          <p:cNvSpPr/>
          <p:nvPr/>
        </p:nvSpPr>
        <p:spPr>
          <a:xfrm>
            <a:off x="3290805" y="5241933"/>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矢印: 下 43">
            <a:extLst>
              <a:ext uri="{FF2B5EF4-FFF2-40B4-BE49-F238E27FC236}">
                <a16:creationId xmlns:a16="http://schemas.microsoft.com/office/drawing/2014/main" id="{6915D3B6-2B4C-5707-CB40-2696B722BA40}"/>
              </a:ext>
            </a:extLst>
          </p:cNvPr>
          <p:cNvSpPr/>
          <p:nvPr/>
        </p:nvSpPr>
        <p:spPr>
          <a:xfrm>
            <a:off x="5657443" y="5241933"/>
            <a:ext cx="792480" cy="1246418"/>
          </a:xfrm>
          <a:prstGeom prst="downArrow">
            <a:avLst/>
          </a:prstGeom>
          <a:gradFill>
            <a:gsLst>
              <a:gs pos="4000">
                <a:schemeClr val="bg1"/>
              </a:gs>
              <a:gs pos="100000">
                <a:schemeClr val="accent6">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正方形/長方形 45">
            <a:extLst>
              <a:ext uri="{FF2B5EF4-FFF2-40B4-BE49-F238E27FC236}">
                <a16:creationId xmlns:a16="http://schemas.microsoft.com/office/drawing/2014/main" id="{D988BB36-5119-99B1-DF59-D4B80D30745C}"/>
              </a:ext>
            </a:extLst>
          </p:cNvPr>
          <p:cNvSpPr/>
          <p:nvPr/>
        </p:nvSpPr>
        <p:spPr>
          <a:xfrm>
            <a:off x="963202" y="5305611"/>
            <a:ext cx="1706880" cy="338514"/>
          </a:xfrm>
          <a:prstGeom prst="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　具体アクション</a:t>
            </a:r>
            <a:endPar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pic>
        <p:nvPicPr>
          <p:cNvPr id="48" name="図 47">
            <a:extLst>
              <a:ext uri="{FF2B5EF4-FFF2-40B4-BE49-F238E27FC236}">
                <a16:creationId xmlns:a16="http://schemas.microsoft.com/office/drawing/2014/main" id="{FE05BA15-FE69-7259-F5B1-7935A92DDFC1}"/>
              </a:ext>
            </a:extLst>
          </p:cNvPr>
          <p:cNvPicPr>
            <a:picLocks noChangeAspect="1"/>
          </p:cNvPicPr>
          <p:nvPr/>
        </p:nvPicPr>
        <p:blipFill>
          <a:blip r:embed="rId2"/>
          <a:stretch>
            <a:fillRect/>
          </a:stretch>
        </p:blipFill>
        <p:spPr>
          <a:xfrm>
            <a:off x="776401" y="5203250"/>
            <a:ext cx="582602" cy="543237"/>
          </a:xfrm>
          <a:prstGeom prst="rect">
            <a:avLst/>
          </a:prstGeom>
        </p:spPr>
      </p:pic>
      <p:sp>
        <p:nvSpPr>
          <p:cNvPr id="68" name="矢印: 下 67">
            <a:extLst>
              <a:ext uri="{FF2B5EF4-FFF2-40B4-BE49-F238E27FC236}">
                <a16:creationId xmlns:a16="http://schemas.microsoft.com/office/drawing/2014/main" id="{552BBE13-4EF3-7D14-9401-EE47B669E0A1}"/>
              </a:ext>
            </a:extLst>
          </p:cNvPr>
          <p:cNvSpPr/>
          <p:nvPr/>
        </p:nvSpPr>
        <p:spPr>
          <a:xfrm>
            <a:off x="8023941" y="3630924"/>
            <a:ext cx="792480" cy="1246418"/>
          </a:xfrm>
          <a:prstGeom prst="downArrow">
            <a:avLst/>
          </a:prstGeom>
          <a:gradFill>
            <a:gsLst>
              <a:gs pos="4000">
                <a:schemeClr val="bg1"/>
              </a:gs>
              <a:gs pos="100000">
                <a:schemeClr val="accent6">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矢印: 下 68">
            <a:extLst>
              <a:ext uri="{FF2B5EF4-FFF2-40B4-BE49-F238E27FC236}">
                <a16:creationId xmlns:a16="http://schemas.microsoft.com/office/drawing/2014/main" id="{1CE2AD45-B81D-8C9E-9BEA-EE8F41408D09}"/>
              </a:ext>
            </a:extLst>
          </p:cNvPr>
          <p:cNvSpPr/>
          <p:nvPr/>
        </p:nvSpPr>
        <p:spPr>
          <a:xfrm>
            <a:off x="8023941" y="5241933"/>
            <a:ext cx="792480" cy="1246418"/>
          </a:xfrm>
          <a:prstGeom prst="downArrow">
            <a:avLst/>
          </a:prstGeom>
          <a:gradFill>
            <a:gsLst>
              <a:gs pos="4000">
                <a:schemeClr val="bg1"/>
              </a:gs>
              <a:gs pos="100000">
                <a:schemeClr val="bg1">
                  <a:lumMod val="75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矢印: 下 69">
            <a:extLst>
              <a:ext uri="{FF2B5EF4-FFF2-40B4-BE49-F238E27FC236}">
                <a16:creationId xmlns:a16="http://schemas.microsoft.com/office/drawing/2014/main" id="{841F38E6-682B-0593-E7F1-B970924D2312}"/>
              </a:ext>
            </a:extLst>
          </p:cNvPr>
          <p:cNvSpPr/>
          <p:nvPr/>
        </p:nvSpPr>
        <p:spPr>
          <a:xfrm>
            <a:off x="8007886" y="2028495"/>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正方形/長方形 71">
            <a:extLst>
              <a:ext uri="{FF2B5EF4-FFF2-40B4-BE49-F238E27FC236}">
                <a16:creationId xmlns:a16="http://schemas.microsoft.com/office/drawing/2014/main" id="{EB9A5047-E824-A278-1DE7-38BCB5F653E4}"/>
              </a:ext>
            </a:extLst>
          </p:cNvPr>
          <p:cNvSpPr/>
          <p:nvPr/>
        </p:nvSpPr>
        <p:spPr>
          <a:xfrm>
            <a:off x="2835604" y="2013850"/>
            <a:ext cx="1706880" cy="338514"/>
          </a:xfrm>
          <a:prstGeom prst="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その他動線</a:t>
            </a:r>
            <a:endPar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grpSp>
        <p:nvGrpSpPr>
          <p:cNvPr id="18" name="グループ化 17">
            <a:extLst>
              <a:ext uri="{FF2B5EF4-FFF2-40B4-BE49-F238E27FC236}">
                <a16:creationId xmlns:a16="http://schemas.microsoft.com/office/drawing/2014/main" id="{D0BB931D-9C48-0F74-78B7-B39FB7567FB3}"/>
              </a:ext>
            </a:extLst>
          </p:cNvPr>
          <p:cNvGrpSpPr/>
          <p:nvPr/>
        </p:nvGrpSpPr>
        <p:grpSpPr>
          <a:xfrm>
            <a:off x="2497445" y="1791214"/>
            <a:ext cx="885030" cy="827297"/>
            <a:chOff x="2497445" y="1791214"/>
            <a:chExt cx="885030" cy="827297"/>
          </a:xfrm>
        </p:grpSpPr>
        <p:pic>
          <p:nvPicPr>
            <p:cNvPr id="73" name="図 72">
              <a:extLst>
                <a:ext uri="{FF2B5EF4-FFF2-40B4-BE49-F238E27FC236}">
                  <a16:creationId xmlns:a16="http://schemas.microsoft.com/office/drawing/2014/main" id="{95316F7A-1FC1-3A66-5456-79F5F636388C}"/>
                </a:ext>
              </a:extLst>
            </p:cNvPr>
            <p:cNvPicPr>
              <a:picLocks noChangeAspect="1"/>
            </p:cNvPicPr>
            <p:nvPr/>
          </p:nvPicPr>
          <p:blipFill>
            <a:blip r:embed="rId4"/>
            <a:stretch>
              <a:fillRect/>
            </a:stretch>
          </p:blipFill>
          <p:spPr>
            <a:xfrm>
              <a:off x="2497445" y="1791214"/>
              <a:ext cx="420559" cy="556499"/>
            </a:xfrm>
            <a:prstGeom prst="rect">
              <a:avLst/>
            </a:prstGeom>
          </p:spPr>
        </p:pic>
        <p:pic>
          <p:nvPicPr>
            <p:cNvPr id="74" name="図 73" descr="生活・その他】SNSとスマホのかわいいフリーイラスト | フタバのフリーイラスト">
              <a:extLst>
                <a:ext uri="{FF2B5EF4-FFF2-40B4-BE49-F238E27FC236}">
                  <a16:creationId xmlns:a16="http://schemas.microsoft.com/office/drawing/2014/main" id="{425A3C52-3D63-0CC5-2649-471F74876F03}"/>
                </a:ext>
              </a:extLst>
            </p:cNvPr>
            <p:cNvPicPr>
              <a:picLocks noChangeAspect="1"/>
            </p:cNvPicPr>
            <p:nvPr/>
          </p:nvPicPr>
          <p:blipFill>
            <a:blip r:embed="rId5"/>
            <a:stretch>
              <a:fillRect/>
            </a:stretch>
          </p:blipFill>
          <p:spPr>
            <a:xfrm>
              <a:off x="2610493" y="1846529"/>
              <a:ext cx="771982" cy="771982"/>
            </a:xfrm>
            <a:prstGeom prst="rect">
              <a:avLst/>
            </a:prstGeom>
          </p:spPr>
        </p:pic>
      </p:grpSp>
      <p:sp>
        <p:nvSpPr>
          <p:cNvPr id="76" name="テキスト ボックス 75">
            <a:extLst>
              <a:ext uri="{FF2B5EF4-FFF2-40B4-BE49-F238E27FC236}">
                <a16:creationId xmlns:a16="http://schemas.microsoft.com/office/drawing/2014/main" id="{A26D9D0D-8E50-52D9-7E65-8B19393671D2}"/>
              </a:ext>
            </a:extLst>
          </p:cNvPr>
          <p:cNvSpPr txBox="1"/>
          <p:nvPr/>
        </p:nvSpPr>
        <p:spPr>
          <a:xfrm>
            <a:off x="4820619" y="2013850"/>
            <a:ext cx="2466126" cy="861774"/>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友だち追加によるメリット提示</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✓限定クーポン　✓限定特典</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上でのコミュニケーション誘導</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✓LINEで診断　✓LINEで体験予約</a:t>
            </a:r>
            <a:endParaRPr lang="ja-JP" altLang="en-US" sz="1000" dirty="0">
              <a:solidFill>
                <a:schemeClr val="bg1">
                  <a:lumMod val="50000"/>
                </a:schemeClr>
              </a:solidFill>
            </a:endParaRPr>
          </a:p>
        </p:txBody>
      </p:sp>
      <p:sp>
        <p:nvSpPr>
          <p:cNvPr id="77" name="テキスト ボックス 76">
            <a:extLst>
              <a:ext uri="{FF2B5EF4-FFF2-40B4-BE49-F238E27FC236}">
                <a16:creationId xmlns:a16="http://schemas.microsoft.com/office/drawing/2014/main" id="{CFFD44FF-E632-A42A-AFD2-C978D5EB4382}"/>
              </a:ext>
            </a:extLst>
          </p:cNvPr>
          <p:cNvSpPr txBox="1"/>
          <p:nvPr/>
        </p:nvSpPr>
        <p:spPr>
          <a:xfrm>
            <a:off x="7498219" y="2013850"/>
            <a:ext cx="1852837" cy="861774"/>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でのナーチャリング</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✓アンケート回答</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で診断</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✓おすすめプランの提示</a:t>
            </a:r>
            <a:endParaRPr lang="ja-JP" altLang="en-US" sz="1000" dirty="0">
              <a:solidFill>
                <a:schemeClr val="bg1">
                  <a:lumMod val="50000"/>
                </a:schemeClr>
              </a:solidFill>
            </a:endParaRPr>
          </a:p>
        </p:txBody>
      </p:sp>
      <p:sp>
        <p:nvSpPr>
          <p:cNvPr id="78" name="テキスト ボックス 77">
            <a:extLst>
              <a:ext uri="{FF2B5EF4-FFF2-40B4-BE49-F238E27FC236}">
                <a16:creationId xmlns:a16="http://schemas.microsoft.com/office/drawing/2014/main" id="{2A92B9D2-AE81-B8F1-2775-9BABDBB2FB72}"/>
              </a:ext>
            </a:extLst>
          </p:cNvPr>
          <p:cNvSpPr txBox="1"/>
          <p:nvPr/>
        </p:nvSpPr>
        <p:spPr>
          <a:xfrm>
            <a:off x="4820619" y="3575596"/>
            <a:ext cx="2466126" cy="1015663"/>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◯企画投稿</a:t>
            </a:r>
            <a:r>
              <a:rPr lang="ja-JP" altLang="en-US" sz="1000" b="1" dirty="0">
                <a:solidFill>
                  <a:srgbClr val="FF0000"/>
                </a:solidFill>
                <a:latin typeface="メイリオ" panose="020B0604030504040204" pitchFamily="50" charset="-128"/>
                <a:ea typeface="メイリオ" panose="020B0604030504040204" pitchFamily="50" charset="-128"/>
                <a:cs typeface="Meiryo"/>
                <a:sym typeface="Meiryo"/>
              </a:rPr>
              <a:t>（月間投稿数）</a:t>
            </a:r>
            <a:endParaRPr lang="en-US" altLang="ja-JP" sz="1000" b="1" dirty="0">
              <a:solidFill>
                <a:srgbClr val="FF0000"/>
              </a:solidFill>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✓〇〇の季節、〇〇の日にちなんだ</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年齢→目的・悩み、よくある不安</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アンケ回答例→学習コンテンツ</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p:txBody>
      </p:sp>
      <p:sp>
        <p:nvSpPr>
          <p:cNvPr id="79" name="テキスト ボックス 78">
            <a:extLst>
              <a:ext uri="{FF2B5EF4-FFF2-40B4-BE49-F238E27FC236}">
                <a16:creationId xmlns:a16="http://schemas.microsoft.com/office/drawing/2014/main" id="{3F5D2439-D550-34BB-53D6-091E9B32BF3C}"/>
              </a:ext>
            </a:extLst>
          </p:cNvPr>
          <p:cNvSpPr txBox="1"/>
          <p:nvPr/>
        </p:nvSpPr>
        <p:spPr>
          <a:xfrm>
            <a:off x="7303671" y="3575596"/>
            <a:ext cx="2241933" cy="954107"/>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◯ステップ配信</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✓友だち追加後◯日で</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（前後検索ニーズを調査）</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600" dirty="0">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✓学習が進行する導線設計</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特典等</a:t>
            </a:r>
            <a:r>
              <a:rPr lang="en-US" altLang="ja-JP" sz="900" dirty="0">
                <a:solidFill>
                  <a:schemeClr val="bg1">
                    <a:lumMod val="50000"/>
                  </a:schemeClr>
                </a:solidFill>
                <a:latin typeface="メイリオ" panose="020B0604030504040204" pitchFamily="50" charset="-128"/>
                <a:ea typeface="メイリオ" panose="020B0604030504040204" pitchFamily="50" charset="-128"/>
                <a:sym typeface="Meiryo"/>
              </a:rPr>
              <a:t>&gt;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興味</a:t>
            </a:r>
            <a:r>
              <a:rPr lang="en-US" altLang="ja-JP" sz="900" dirty="0">
                <a:solidFill>
                  <a:schemeClr val="bg1">
                    <a:lumMod val="50000"/>
                  </a:schemeClr>
                </a:solidFill>
                <a:latin typeface="メイリオ" panose="020B0604030504040204" pitchFamily="50" charset="-128"/>
                <a:ea typeface="メイリオ" panose="020B0604030504040204" pitchFamily="50" charset="-128"/>
                <a:sym typeface="Meiryo"/>
              </a:rPr>
              <a:t>&gt;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共感</a:t>
            </a:r>
            <a:r>
              <a:rPr lang="en-US" altLang="ja-JP" sz="900" dirty="0">
                <a:solidFill>
                  <a:schemeClr val="bg1">
                    <a:lumMod val="50000"/>
                  </a:schemeClr>
                </a:solidFill>
                <a:latin typeface="メイリオ" panose="020B0604030504040204" pitchFamily="50" charset="-128"/>
                <a:ea typeface="メイリオ" panose="020B0604030504040204" pitchFamily="50" charset="-128"/>
                <a:sym typeface="Meiryo"/>
              </a:rPr>
              <a:t>&gt;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信頼</a:t>
            </a:r>
            <a:r>
              <a:rPr lang="en-US" altLang="ja-JP" sz="900" dirty="0">
                <a:solidFill>
                  <a:schemeClr val="bg1">
                    <a:lumMod val="50000"/>
                  </a:schemeClr>
                </a:solidFill>
                <a:latin typeface="メイリオ" panose="020B0604030504040204" pitchFamily="50" charset="-128"/>
                <a:ea typeface="メイリオ" panose="020B0604030504040204" pitchFamily="50" charset="-128"/>
                <a:sym typeface="Meiryo"/>
              </a:rPr>
              <a:t>&gt;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オファー</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a:t>
            </a:r>
          </a:p>
        </p:txBody>
      </p:sp>
      <p:sp>
        <p:nvSpPr>
          <p:cNvPr id="82" name="テキスト ボックス 81">
            <a:extLst>
              <a:ext uri="{FF2B5EF4-FFF2-40B4-BE49-F238E27FC236}">
                <a16:creationId xmlns:a16="http://schemas.microsoft.com/office/drawing/2014/main" id="{F966D387-7E84-4F68-9C81-89F870210C79}"/>
              </a:ext>
            </a:extLst>
          </p:cNvPr>
          <p:cNvSpPr txBox="1"/>
          <p:nvPr/>
        </p:nvSpPr>
        <p:spPr>
          <a:xfrm>
            <a:off x="2772451" y="3575596"/>
            <a:ext cx="1852837" cy="1015663"/>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◯あいさつメッセージ</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◯アンケート</a:t>
            </a:r>
            <a:r>
              <a:rPr lang="en-US" altLang="ja-JP" sz="1000" b="1" dirty="0">
                <a:latin typeface="メイリオ" panose="020B0604030504040204" pitchFamily="50" charset="-128"/>
                <a:ea typeface="メイリオ" panose="020B0604030504040204" pitchFamily="50" charset="-128"/>
                <a:cs typeface="Meiryo"/>
                <a:sym typeface="Meiryo"/>
              </a:rPr>
              <a:t>/</a:t>
            </a:r>
            <a:r>
              <a:rPr lang="ja-JP" altLang="en-US" sz="1000" b="1" dirty="0">
                <a:latin typeface="メイリオ" panose="020B0604030504040204" pitchFamily="50" charset="-128"/>
                <a:ea typeface="メイリオ" panose="020B0604030504040204" pitchFamily="50" charset="-128"/>
                <a:cs typeface="Meiryo"/>
                <a:sym typeface="Meiryo"/>
              </a:rPr>
              <a:t>情報収集</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b="1" dirty="0">
                <a:solidFill>
                  <a:srgbClr val="FF0000"/>
                </a:solidFill>
                <a:latin typeface="メイリオ" panose="020B0604030504040204" pitchFamily="50" charset="-128"/>
                <a:ea typeface="メイリオ" panose="020B0604030504040204" pitchFamily="50" charset="-128"/>
                <a:cs typeface="Meiryo"/>
                <a:sym typeface="Meiryo"/>
              </a:rPr>
              <a:t>配信セグメントに活用</a:t>
            </a:r>
            <a:endParaRPr lang="en-US" altLang="ja-JP" sz="1000" b="1" dirty="0">
              <a:solidFill>
                <a:srgbClr val="FF0000"/>
              </a:solidFill>
              <a:latin typeface="メイリオ" panose="020B0604030504040204" pitchFamily="50" charset="-128"/>
              <a:ea typeface="メイリオ" panose="020B0604030504040204" pitchFamily="50" charset="-128"/>
              <a:cs typeface="Meiryo"/>
              <a:sym typeface="Meiryo"/>
            </a:endParaRPr>
          </a:p>
          <a:p>
            <a:pPr algn="ct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◯プロフ・リッチメニュー</a:t>
            </a:r>
            <a:endParaRPr lang="en-US" altLang="ja-JP" sz="1000" b="1" dirty="0">
              <a:latin typeface="メイリオ" panose="020B0604030504040204" pitchFamily="50" charset="-128"/>
              <a:ea typeface="メイリオ" panose="020B0604030504040204" pitchFamily="50" charset="-128"/>
              <a:cs typeface="Meiryo"/>
              <a:sym typeface="Meiryo"/>
            </a:endParaRPr>
          </a:p>
        </p:txBody>
      </p:sp>
      <p:sp>
        <p:nvSpPr>
          <p:cNvPr id="83" name="テキスト ボックス 82">
            <a:extLst>
              <a:ext uri="{FF2B5EF4-FFF2-40B4-BE49-F238E27FC236}">
                <a16:creationId xmlns:a16="http://schemas.microsoft.com/office/drawing/2014/main" id="{DCCA9A41-7AF8-A7E5-C05D-3CCE4D53D056}"/>
              </a:ext>
            </a:extLst>
          </p:cNvPr>
          <p:cNvSpPr txBox="1"/>
          <p:nvPr/>
        </p:nvSpPr>
        <p:spPr>
          <a:xfrm>
            <a:off x="7493762" y="5192489"/>
            <a:ext cx="1852837" cy="969496"/>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a:t>
            </a:r>
            <a:r>
              <a:rPr lang="ja-JP" altLang="en-US" sz="1000" b="1" dirty="0">
                <a:latin typeface="メイリオ" panose="020B0604030504040204" pitchFamily="50" charset="-128"/>
                <a:ea typeface="メイリオ" panose="020B0604030504040204" pitchFamily="50" charset="-128"/>
                <a:cs typeface="Meiryo"/>
                <a:sym typeface="Meiryo"/>
              </a:rPr>
              <a:t>アフター</a:t>
            </a:r>
            <a:r>
              <a:rPr lang="en-US" altLang="ja-JP" sz="1000" b="1" dirty="0">
                <a:latin typeface="メイリオ" panose="020B0604030504040204" pitchFamily="50" charset="-128"/>
                <a:ea typeface="メイリオ" panose="020B0604030504040204" pitchFamily="50" charset="-128"/>
                <a:cs typeface="Meiryo"/>
                <a:sym typeface="Meiryo"/>
              </a:rPr>
              <a:t>)</a:t>
            </a:r>
            <a:r>
              <a:rPr lang="ja-JP" altLang="en-US" sz="1000" b="1" dirty="0">
                <a:latin typeface="メイリオ" panose="020B0604030504040204" pitchFamily="50" charset="-128"/>
                <a:ea typeface="メイリオ" panose="020B0604030504040204" pitchFamily="50" charset="-128"/>
                <a:cs typeface="Meiryo"/>
                <a:sym typeface="Meiryo"/>
              </a:rPr>
              <a:t>フォロー</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✓よくある</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QA</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集の自動化</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✓チャット定型文の作成</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7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◯友だち紹介斡旋</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✓紹介</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CP</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などに誘導</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p:txBody>
      </p:sp>
      <p:sp>
        <p:nvSpPr>
          <p:cNvPr id="84" name="テキスト ボックス 83">
            <a:extLst>
              <a:ext uri="{FF2B5EF4-FFF2-40B4-BE49-F238E27FC236}">
                <a16:creationId xmlns:a16="http://schemas.microsoft.com/office/drawing/2014/main" id="{51666C25-34AB-775A-D360-970178A01029}"/>
              </a:ext>
            </a:extLst>
          </p:cNvPr>
          <p:cNvSpPr txBox="1"/>
          <p:nvPr/>
        </p:nvSpPr>
        <p:spPr>
          <a:xfrm>
            <a:off x="5015076" y="5197869"/>
            <a:ext cx="2038121" cy="861774"/>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◯アクション済</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✓応答メッセージ等で満足度↑</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sym typeface="Meiryo"/>
              </a:rPr>
              <a:t>◯再購入・クロスセル</a:t>
            </a:r>
            <a:endParaRPr lang="en-US" altLang="ja-JP" sz="1000" b="1" dirty="0">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65000"/>
                  </a:schemeClr>
                </a:solidFill>
                <a:latin typeface="メイリオ" panose="020B0604030504040204" pitchFamily="50" charset="-128"/>
                <a:ea typeface="メイリオ" panose="020B0604030504040204" pitchFamily="50" charset="-128"/>
                <a:sym typeface="Meiryo"/>
              </a:rPr>
              <a:t>✓PT・物販・継続の提案時期を設定</a:t>
            </a:r>
            <a:endParaRPr lang="en-US" altLang="ja-JP" sz="1000" dirty="0">
              <a:solidFill>
                <a:schemeClr val="bg1">
                  <a:lumMod val="65000"/>
                </a:schemeClr>
              </a:solidFill>
              <a:latin typeface="メイリオ" panose="020B0604030504040204" pitchFamily="50" charset="-128"/>
              <a:ea typeface="メイリオ" panose="020B0604030504040204" pitchFamily="50" charset="-128"/>
              <a:sym typeface="Meiryo"/>
            </a:endParaRPr>
          </a:p>
        </p:txBody>
      </p:sp>
      <p:sp>
        <p:nvSpPr>
          <p:cNvPr id="85" name="テキスト ボックス 84">
            <a:extLst>
              <a:ext uri="{FF2B5EF4-FFF2-40B4-BE49-F238E27FC236}">
                <a16:creationId xmlns:a16="http://schemas.microsoft.com/office/drawing/2014/main" id="{E36E01A8-5E8D-6868-5242-258854A6C11E}"/>
              </a:ext>
            </a:extLst>
          </p:cNvPr>
          <p:cNvSpPr txBox="1"/>
          <p:nvPr/>
        </p:nvSpPr>
        <p:spPr>
          <a:xfrm>
            <a:off x="2577903" y="5197869"/>
            <a:ext cx="2241933" cy="954107"/>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◯再・簡易アンケート</a:t>
            </a:r>
            <a:r>
              <a:rPr lang="en-US" altLang="ja-JP" sz="1000" b="1" dirty="0">
                <a:latin typeface="メイリオ" panose="020B0604030504040204" pitchFamily="50" charset="-128"/>
                <a:ea typeface="メイリオ" panose="020B0604030504040204" pitchFamily="50" charset="-128"/>
                <a:cs typeface="Meiryo"/>
                <a:sym typeface="Meiryo"/>
              </a:rPr>
              <a:t>(</a:t>
            </a:r>
            <a:r>
              <a:rPr lang="ja-JP" altLang="en-US" sz="1000" b="1" dirty="0">
                <a:latin typeface="メイリオ" panose="020B0604030504040204" pitchFamily="50" charset="-128"/>
                <a:ea typeface="メイリオ" panose="020B0604030504040204" pitchFamily="50" charset="-128"/>
                <a:cs typeface="Meiryo"/>
                <a:sym typeface="Meiryo"/>
              </a:rPr>
              <a:t>診断</a:t>
            </a:r>
            <a:r>
              <a:rPr lang="en-US" altLang="ja-JP" sz="1000" b="1" dirty="0">
                <a:latin typeface="メイリオ" panose="020B0604030504040204" pitchFamily="50" charset="-128"/>
                <a:ea typeface="メイリオ" panose="020B0604030504040204" pitchFamily="50" charset="-128"/>
                <a:cs typeface="Meiryo"/>
                <a:sym typeface="Meiryo"/>
              </a:rPr>
              <a:t>)</a:t>
            </a: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✓休眠層に対して</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サービス軸と異なる診断軸を用意</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6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◯商品訴求を再押し</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✓再度サービス訴求を実施</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p:txBody>
      </p:sp>
      <p:sp>
        <p:nvSpPr>
          <p:cNvPr id="8" name="矢印: 下 7">
            <a:extLst>
              <a:ext uri="{FF2B5EF4-FFF2-40B4-BE49-F238E27FC236}">
                <a16:creationId xmlns:a16="http://schemas.microsoft.com/office/drawing/2014/main" id="{BE6FB710-6D0D-A062-5DC4-E7437CE5BDE1}"/>
              </a:ext>
            </a:extLst>
          </p:cNvPr>
          <p:cNvSpPr/>
          <p:nvPr/>
        </p:nvSpPr>
        <p:spPr>
          <a:xfrm>
            <a:off x="8045609" y="1409403"/>
            <a:ext cx="871728" cy="395993"/>
          </a:xfrm>
          <a:prstGeom prst="downArrow">
            <a:avLst/>
          </a:prstGeom>
          <a:gradFill>
            <a:gsLst>
              <a:gs pos="4000">
                <a:schemeClr val="bg1"/>
              </a:gs>
              <a:gs pos="100000">
                <a:schemeClr val="accent6">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矢印: 下 9">
            <a:extLst>
              <a:ext uri="{FF2B5EF4-FFF2-40B4-BE49-F238E27FC236}">
                <a16:creationId xmlns:a16="http://schemas.microsoft.com/office/drawing/2014/main" id="{92FDFDEB-CB5F-8A45-29AB-C10FC6580A7C}"/>
              </a:ext>
            </a:extLst>
          </p:cNvPr>
          <p:cNvSpPr/>
          <p:nvPr/>
        </p:nvSpPr>
        <p:spPr>
          <a:xfrm>
            <a:off x="8919666" y="1412851"/>
            <a:ext cx="871728" cy="395993"/>
          </a:xfrm>
          <a:prstGeom prst="downArrow">
            <a:avLst/>
          </a:prstGeom>
          <a:gradFill>
            <a:gsLst>
              <a:gs pos="4000">
                <a:schemeClr val="bg1"/>
              </a:gs>
              <a:gs pos="100000">
                <a:schemeClr val="bg1">
                  <a:lumMod val="75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矢印: 下 10">
            <a:extLst>
              <a:ext uri="{FF2B5EF4-FFF2-40B4-BE49-F238E27FC236}">
                <a16:creationId xmlns:a16="http://schemas.microsoft.com/office/drawing/2014/main" id="{218212FE-3645-DB9F-3397-0748130F1AF8}"/>
              </a:ext>
            </a:extLst>
          </p:cNvPr>
          <p:cNvSpPr/>
          <p:nvPr/>
        </p:nvSpPr>
        <p:spPr>
          <a:xfrm>
            <a:off x="7180483" y="1412851"/>
            <a:ext cx="871728" cy="395993"/>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2D2D0860-25E1-93CE-4600-A1274BD77509}"/>
              </a:ext>
            </a:extLst>
          </p:cNvPr>
          <p:cNvSpPr txBox="1"/>
          <p:nvPr/>
        </p:nvSpPr>
        <p:spPr>
          <a:xfrm>
            <a:off x="7180483" y="1445284"/>
            <a:ext cx="871728" cy="338554"/>
          </a:xfrm>
          <a:prstGeom prst="rect">
            <a:avLst/>
          </a:prstGeom>
          <a:noFill/>
        </p:spPr>
        <p:txBody>
          <a:bodyPr wrap="square">
            <a:spAutoFit/>
          </a:bodyPr>
          <a:lstStyle/>
          <a:p>
            <a:pPr algn="ctr"/>
            <a:r>
              <a:rPr lang="ja-JP" altLang="en-US" sz="800" dirty="0">
                <a:latin typeface="メイリオ" panose="020B0604030504040204" pitchFamily="50" charset="-128"/>
                <a:ea typeface="メイリオ" panose="020B0604030504040204" pitchFamily="50" charset="-128"/>
                <a:cs typeface="Meiryo"/>
                <a:sym typeface="Meiryo"/>
              </a:rPr>
              <a:t>企画</a:t>
            </a:r>
            <a:endParaRPr lang="en-US" altLang="ja-JP" sz="800" dirty="0">
              <a:latin typeface="メイリオ" panose="020B0604030504040204" pitchFamily="50" charset="-128"/>
              <a:ea typeface="メイリオ" panose="020B0604030504040204" pitchFamily="50" charset="-128"/>
              <a:cs typeface="Meiryo"/>
              <a:sym typeface="Meiryo"/>
            </a:endParaRPr>
          </a:p>
          <a:p>
            <a:pPr algn="ctr"/>
            <a:r>
              <a:rPr lang="ja-JP" altLang="en-US" sz="800" dirty="0">
                <a:latin typeface="メイリオ" panose="020B0604030504040204" pitchFamily="50" charset="-128"/>
                <a:ea typeface="メイリオ" panose="020B0604030504040204" pitchFamily="50" charset="-128"/>
                <a:sym typeface="Meiryo"/>
              </a:rPr>
              <a:t>投稿</a:t>
            </a:r>
            <a:endParaRPr lang="ja-JP" altLang="en-US" sz="800" dirty="0"/>
          </a:p>
        </p:txBody>
      </p:sp>
      <p:sp>
        <p:nvSpPr>
          <p:cNvPr id="13" name="テキスト ボックス 12">
            <a:extLst>
              <a:ext uri="{FF2B5EF4-FFF2-40B4-BE49-F238E27FC236}">
                <a16:creationId xmlns:a16="http://schemas.microsoft.com/office/drawing/2014/main" id="{A87B802C-245D-9C6E-1C33-7190F3073124}"/>
              </a:ext>
            </a:extLst>
          </p:cNvPr>
          <p:cNvSpPr txBox="1"/>
          <p:nvPr/>
        </p:nvSpPr>
        <p:spPr>
          <a:xfrm>
            <a:off x="8050075" y="1452197"/>
            <a:ext cx="871728" cy="338554"/>
          </a:xfrm>
          <a:prstGeom prst="rect">
            <a:avLst/>
          </a:prstGeom>
          <a:noFill/>
        </p:spPr>
        <p:txBody>
          <a:bodyPr wrap="square">
            <a:spAutoFit/>
          </a:bodyPr>
          <a:lstStyle/>
          <a:p>
            <a:pPr algn="ctr"/>
            <a:r>
              <a:rPr lang="ja-JP" altLang="en-US" sz="800" dirty="0">
                <a:latin typeface="メイリオ" panose="020B0604030504040204" pitchFamily="50" charset="-128"/>
                <a:ea typeface="メイリオ" panose="020B0604030504040204" pitchFamily="50" charset="-128"/>
              </a:rPr>
              <a:t>ステップ</a:t>
            </a:r>
            <a:endParaRPr lang="en-US" altLang="ja-JP" sz="800" dirty="0">
              <a:latin typeface="メイリオ" panose="020B0604030504040204" pitchFamily="50" charset="-128"/>
              <a:ea typeface="メイリオ" panose="020B0604030504040204" pitchFamily="50" charset="-128"/>
            </a:endParaRPr>
          </a:p>
          <a:p>
            <a:pPr algn="ctr"/>
            <a:r>
              <a:rPr lang="ja-JP" altLang="en-US" sz="800" dirty="0">
                <a:latin typeface="メイリオ" panose="020B0604030504040204" pitchFamily="50" charset="-128"/>
                <a:ea typeface="メイリオ" panose="020B0604030504040204" pitchFamily="50" charset="-128"/>
              </a:rPr>
              <a:t>配信</a:t>
            </a:r>
          </a:p>
        </p:txBody>
      </p:sp>
      <p:sp>
        <p:nvSpPr>
          <p:cNvPr id="14" name="テキスト ボックス 13">
            <a:extLst>
              <a:ext uri="{FF2B5EF4-FFF2-40B4-BE49-F238E27FC236}">
                <a16:creationId xmlns:a16="http://schemas.microsoft.com/office/drawing/2014/main" id="{D775BACA-B985-5029-1E70-8D28879E88EC}"/>
              </a:ext>
            </a:extLst>
          </p:cNvPr>
          <p:cNvSpPr txBox="1"/>
          <p:nvPr/>
        </p:nvSpPr>
        <p:spPr>
          <a:xfrm>
            <a:off x="8910735" y="1438122"/>
            <a:ext cx="871728" cy="338554"/>
          </a:xfrm>
          <a:prstGeom prst="rect">
            <a:avLst/>
          </a:prstGeom>
          <a:noFill/>
        </p:spPr>
        <p:txBody>
          <a:bodyPr wrap="square">
            <a:spAutoFit/>
          </a:bodyPr>
          <a:lstStyle/>
          <a:p>
            <a:pPr algn="ctr"/>
            <a:r>
              <a:rPr lang="ja-JP" altLang="en-US" sz="800" dirty="0">
                <a:latin typeface="メイリオ" panose="020B0604030504040204" pitchFamily="50" charset="-128"/>
                <a:ea typeface="メイリオ" panose="020B0604030504040204" pitchFamily="50" charset="-128"/>
              </a:rPr>
              <a:t>貴社対応</a:t>
            </a:r>
            <a:endParaRPr lang="en-US" altLang="ja-JP" sz="800" dirty="0">
              <a:latin typeface="メイリオ" panose="020B0604030504040204" pitchFamily="50" charset="-128"/>
              <a:ea typeface="メイリオ" panose="020B0604030504040204" pitchFamily="50" charset="-128"/>
            </a:endParaRPr>
          </a:p>
          <a:p>
            <a:pPr algn="ctr"/>
            <a:r>
              <a:rPr lang="en-US" altLang="ja-JP" sz="800" dirty="0">
                <a:latin typeface="メイリオ" panose="020B0604030504040204" pitchFamily="50" charset="-128"/>
                <a:ea typeface="メイリオ" panose="020B0604030504040204" pitchFamily="50" charset="-128"/>
              </a:rPr>
              <a:t>※</a:t>
            </a:r>
            <a:r>
              <a:rPr lang="ja-JP" altLang="en-US" sz="800" dirty="0">
                <a:latin typeface="メイリオ" panose="020B0604030504040204" pitchFamily="50" charset="-128"/>
                <a:ea typeface="メイリオ" panose="020B0604030504040204" pitchFamily="50" charset="-128"/>
              </a:rPr>
              <a:t>軽減</a:t>
            </a:r>
          </a:p>
        </p:txBody>
      </p:sp>
      <p:sp>
        <p:nvSpPr>
          <p:cNvPr id="15" name="正方形/長方形 14">
            <a:extLst>
              <a:ext uri="{FF2B5EF4-FFF2-40B4-BE49-F238E27FC236}">
                <a16:creationId xmlns:a16="http://schemas.microsoft.com/office/drawing/2014/main" id="{B0439D32-FABC-CA34-F07C-587F509AEF1D}"/>
              </a:ext>
            </a:extLst>
          </p:cNvPr>
          <p:cNvSpPr/>
          <p:nvPr/>
        </p:nvSpPr>
        <p:spPr>
          <a:xfrm>
            <a:off x="7116723" y="1367434"/>
            <a:ext cx="2725750" cy="483252"/>
          </a:xfrm>
          <a:prstGeom prst="rect">
            <a:avLst/>
          </a:prstGeom>
          <a:no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0" name="コネクタ: カギ線 19">
            <a:extLst>
              <a:ext uri="{FF2B5EF4-FFF2-40B4-BE49-F238E27FC236}">
                <a16:creationId xmlns:a16="http://schemas.microsoft.com/office/drawing/2014/main" id="{B6880BFB-9CE8-682D-5E73-400E7A9D4984}"/>
              </a:ext>
            </a:extLst>
          </p:cNvPr>
          <p:cNvCxnSpPr>
            <a:cxnSpLocks/>
            <a:stCxn id="74" idx="2"/>
            <a:endCxn id="25" idx="0"/>
          </p:cNvCxnSpPr>
          <p:nvPr/>
        </p:nvCxnSpPr>
        <p:spPr>
          <a:xfrm rot="5400000">
            <a:off x="1884437" y="2550716"/>
            <a:ext cx="1044252" cy="1179842"/>
          </a:xfrm>
          <a:prstGeom prst="bentConnector3">
            <a:avLst>
              <a:gd name="adj1" fmla="val 50000"/>
            </a:avLst>
          </a:prstGeom>
          <a:ln>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 name="コネクタ: カギ線 26">
            <a:extLst>
              <a:ext uri="{FF2B5EF4-FFF2-40B4-BE49-F238E27FC236}">
                <a16:creationId xmlns:a16="http://schemas.microsoft.com/office/drawing/2014/main" id="{EF07FDA7-6FC7-C204-99A4-DB47A6724969}"/>
              </a:ext>
            </a:extLst>
          </p:cNvPr>
          <p:cNvCxnSpPr>
            <a:cxnSpLocks/>
            <a:endCxn id="25" idx="0"/>
          </p:cNvCxnSpPr>
          <p:nvPr/>
        </p:nvCxnSpPr>
        <p:spPr>
          <a:xfrm rot="16200000" flipH="1">
            <a:off x="693395" y="2539516"/>
            <a:ext cx="1138050" cy="1108444"/>
          </a:xfrm>
          <a:prstGeom prst="bentConnector3">
            <a:avLst>
              <a:gd name="adj1" fmla="val 54185"/>
            </a:avLst>
          </a:prstGeom>
          <a:ln>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線矢印コネクタ 36">
            <a:extLst>
              <a:ext uri="{FF2B5EF4-FFF2-40B4-BE49-F238E27FC236}">
                <a16:creationId xmlns:a16="http://schemas.microsoft.com/office/drawing/2014/main" id="{B79B5748-0A9B-B2A8-36EE-9B6743393A50}"/>
              </a:ext>
            </a:extLst>
          </p:cNvPr>
          <p:cNvCxnSpPr>
            <a:stCxn id="25" idx="2"/>
            <a:endCxn id="46" idx="0"/>
          </p:cNvCxnSpPr>
          <p:nvPr/>
        </p:nvCxnSpPr>
        <p:spPr>
          <a:xfrm>
            <a:off x="1816642" y="4001277"/>
            <a:ext cx="0" cy="1304334"/>
          </a:xfrm>
          <a:prstGeom prst="straightConnector1">
            <a:avLst/>
          </a:prstGeom>
          <a:ln>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558905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現状分析｜ジム・フィットネス業界のLINE公式アカウント実態</a:t>
            </a:r>
          </a:p>
        </p:txBody>
      </p:sp>
      <p:sp>
        <p:nvSpPr>
          <p:cNvPr id="3" name="TextBox 2"/>
          <p:cNvSpPr txBox="1"/>
          <p:nvPr/>
        </p:nvSpPr>
        <p:spPr>
          <a:xfrm>
            <a:off x="384048" y="731520"/>
            <a:ext cx="9134856" cy="310896"/>
          </a:xfrm>
          <a:prstGeom prst="rect">
            <a:avLst/>
          </a:prstGeom>
          <a:noFill/>
        </p:spPr>
        <p:txBody>
          <a:bodyPr wrap="square" lIns="0" tIns="0" rIns="0" bIns="0">
            <a:spAutoFit/>
          </a:bodyPr>
          <a:lstStyle/>
          <a:p>
            <a:r>
              <a:rPr sz="1500" b="0">
                <a:solidFill>
                  <a:srgbClr val="646C82"/>
                </a:solidFill>
                <a:latin typeface="メイリオ"/>
                <a:ea typeface="メイリオ"/>
              </a:rPr>
              <a:t>友だち数の実測（LINEヤフー公式ページの公開値）。3社は公式ページ保存版で伸びを確認。</a:t>
            </a:r>
          </a:p>
        </p:txBody>
      </p:sp>
      <p:graphicFrame>
        <p:nvGraphicFramePr>
          <p:cNvPr id="4" name="Table 3"/>
          <p:cNvGraphicFramePr>
            <a:graphicFrameLocks noGrp="1"/>
          </p:cNvGraphicFramePr>
          <p:nvPr>
            <p:extLst>
              <p:ext uri="{D42A27DB-BD31-4B8C-83A1-F6EECF244321}">
                <p14:modId xmlns:p14="http://schemas.microsoft.com/office/powerpoint/2010/main" val="4290336896"/>
              </p:ext>
            </p:extLst>
          </p:nvPr>
        </p:nvGraphicFramePr>
        <p:xfrm>
          <a:off x="384048" y="1234440"/>
          <a:ext cx="9134856" cy="2654843"/>
        </p:xfrm>
        <a:graphic>
          <a:graphicData uri="http://schemas.openxmlformats.org/drawingml/2006/table">
            <a:tbl>
              <a:tblPr firstRow="1" bandRow="1">
                <a:tableStyleId>{5C22544A-7EE6-4342-B048-85BDC9FD1C3A}</a:tableStyleId>
              </a:tblPr>
              <a:tblGrid>
                <a:gridCol w="2097895">
                  <a:extLst>
                    <a:ext uri="{9D8B030D-6E8A-4147-A177-3AD203B41FA5}">
                      <a16:colId xmlns:a16="http://schemas.microsoft.com/office/drawing/2014/main" val="20000"/>
                    </a:ext>
                  </a:extLst>
                </a:gridCol>
                <a:gridCol w="1750423">
                  <a:extLst>
                    <a:ext uri="{9D8B030D-6E8A-4147-A177-3AD203B41FA5}">
                      <a16:colId xmlns:a16="http://schemas.microsoft.com/office/drawing/2014/main" val="20001"/>
                    </a:ext>
                  </a:extLst>
                </a:gridCol>
                <a:gridCol w="1541417">
                  <a:extLst>
                    <a:ext uri="{9D8B030D-6E8A-4147-A177-3AD203B41FA5}">
                      <a16:colId xmlns:a16="http://schemas.microsoft.com/office/drawing/2014/main" val="20002"/>
                    </a:ext>
                  </a:extLst>
                </a:gridCol>
                <a:gridCol w="1140823">
                  <a:extLst>
                    <a:ext uri="{9D8B030D-6E8A-4147-A177-3AD203B41FA5}">
                      <a16:colId xmlns:a16="http://schemas.microsoft.com/office/drawing/2014/main" val="20003"/>
                    </a:ext>
                  </a:extLst>
                </a:gridCol>
                <a:gridCol w="1132114">
                  <a:extLst>
                    <a:ext uri="{9D8B030D-6E8A-4147-A177-3AD203B41FA5}">
                      <a16:colId xmlns:a16="http://schemas.microsoft.com/office/drawing/2014/main" val="20004"/>
                    </a:ext>
                  </a:extLst>
                </a:gridCol>
                <a:gridCol w="1472184">
                  <a:extLst>
                    <a:ext uri="{9D8B030D-6E8A-4147-A177-3AD203B41FA5}">
                      <a16:colId xmlns:a16="http://schemas.microsoft.com/office/drawing/2014/main" val="20005"/>
                    </a:ext>
                  </a:extLst>
                </a:gridCol>
              </a:tblGrid>
              <a:tr h="399217">
                <a:tc>
                  <a:txBody>
                    <a:bodyPr/>
                    <a:lstStyle/>
                    <a:p>
                      <a:pPr algn="ctr"/>
                      <a:r>
                        <a:rPr sz="1200" b="1" dirty="0" err="1">
                          <a:solidFill>
                            <a:srgbClr val="FFFFFF"/>
                          </a:solidFill>
                          <a:latin typeface="メイリオ"/>
                          <a:ea typeface="メイリオ"/>
                        </a:rPr>
                        <a:t>事業者</a:t>
                      </a:r>
                      <a:endParaRPr sz="1200" b="1" dirty="0">
                        <a:solidFill>
                          <a:srgbClr val="FFFFFF"/>
                        </a:solidFill>
                        <a:latin typeface="メイリオ"/>
                        <a:ea typeface="メイリオ"/>
                      </a:endParaRPr>
                    </a:p>
                  </a:txBody>
                  <a:tcPr marT="18000" marB="18000">
                    <a:solidFill>
                      <a:srgbClr val="1F2A5C"/>
                    </a:solidFill>
                  </a:tcPr>
                </a:tc>
                <a:tc>
                  <a:txBody>
                    <a:bodyPr/>
                    <a:lstStyle/>
                    <a:p>
                      <a:pPr algn="ctr"/>
                      <a:r>
                        <a:rPr sz="1200" b="1">
                          <a:solidFill>
                            <a:srgbClr val="FFFFFF"/>
                          </a:solidFill>
                          <a:latin typeface="メイリオ"/>
                          <a:ea typeface="メイリオ"/>
                        </a:rPr>
                        <a:t>業態</a:t>
                      </a:r>
                    </a:p>
                  </a:txBody>
                  <a:tcPr marT="18000" marB="18000">
                    <a:solidFill>
                      <a:srgbClr val="1F2A5C"/>
                    </a:solidFill>
                  </a:tcPr>
                </a:tc>
                <a:tc>
                  <a:txBody>
                    <a:bodyPr/>
                    <a:lstStyle/>
                    <a:p>
                      <a:pPr algn="ctr"/>
                      <a:r>
                        <a:rPr sz="1200" b="1" dirty="0" err="1">
                          <a:solidFill>
                            <a:srgbClr val="FFFFFF"/>
                          </a:solidFill>
                          <a:latin typeface="メイリオ"/>
                          <a:ea typeface="メイリオ"/>
                        </a:rPr>
                        <a:t>友だち数</a:t>
                      </a:r>
                      <a:r>
                        <a:rPr sz="1200" b="1" dirty="0">
                          <a:solidFill>
                            <a:srgbClr val="FFFFFF"/>
                          </a:solidFill>
                          <a:latin typeface="メイリオ"/>
                          <a:ea typeface="メイリオ"/>
                        </a:rPr>
                        <a:t> </a:t>
                      </a:r>
                      <a:r>
                        <a:rPr sz="1200" b="1" dirty="0" err="1">
                          <a:solidFill>
                            <a:srgbClr val="FFFFFF"/>
                          </a:solidFill>
                          <a:latin typeface="メイリオ"/>
                          <a:ea typeface="メイリオ"/>
                        </a:rPr>
                        <a:t>実測</a:t>
                      </a:r>
                      <a:endParaRPr sz="1200" b="1" dirty="0">
                        <a:solidFill>
                          <a:srgbClr val="FFFFFF"/>
                        </a:solidFill>
                        <a:latin typeface="メイリオ"/>
                        <a:ea typeface="メイリオ"/>
                      </a:endParaRPr>
                    </a:p>
                  </a:txBody>
                  <a:tcPr marT="18000" marB="18000">
                    <a:solidFill>
                      <a:srgbClr val="1F2A5C"/>
                    </a:solidFill>
                  </a:tcPr>
                </a:tc>
                <a:tc>
                  <a:txBody>
                    <a:bodyPr/>
                    <a:lstStyle/>
                    <a:p>
                      <a:pPr algn="ctr"/>
                      <a:r>
                        <a:rPr sz="1200" b="1">
                          <a:solidFill>
                            <a:srgbClr val="FFFFFF"/>
                          </a:solidFill>
                          <a:latin typeface="メイリオ"/>
                          <a:ea typeface="メイリオ"/>
                        </a:rPr>
                        <a:t>過去値 保存版</a:t>
                      </a:r>
                    </a:p>
                  </a:txBody>
                  <a:tcPr marT="18000" marB="18000">
                    <a:solidFill>
                      <a:srgbClr val="1F2A5C"/>
                    </a:solidFill>
                  </a:tcPr>
                </a:tc>
                <a:tc>
                  <a:txBody>
                    <a:bodyPr/>
                    <a:lstStyle/>
                    <a:p>
                      <a:pPr algn="ctr"/>
                      <a:r>
                        <a:rPr sz="1200" b="1">
                          <a:solidFill>
                            <a:srgbClr val="FFFFFF"/>
                          </a:solidFill>
                          <a:latin typeface="メイリオ"/>
                          <a:ea typeface="メイリオ"/>
                        </a:rPr>
                        <a:t>伸び</a:t>
                      </a:r>
                    </a:p>
                  </a:txBody>
                  <a:tcPr marT="18000" marB="18000">
                    <a:solidFill>
                      <a:srgbClr val="1F2A5C"/>
                    </a:solidFill>
                  </a:tcPr>
                </a:tc>
                <a:tc>
                  <a:txBody>
                    <a:bodyPr/>
                    <a:lstStyle/>
                    <a:p>
                      <a:pPr algn="ctr"/>
                      <a:r>
                        <a:rPr sz="1200" b="1">
                          <a:solidFill>
                            <a:srgbClr val="FFFFFF"/>
                          </a:solidFill>
                          <a:latin typeface="メイリオ"/>
                          <a:ea typeface="メイリオ"/>
                        </a:rPr>
                        <a:t>配信 実機調査</a:t>
                      </a:r>
                    </a:p>
                  </a:txBody>
                  <a:tcPr marT="18000" marB="18000">
                    <a:solidFill>
                      <a:srgbClr val="1F2A5C"/>
                    </a:solidFill>
                  </a:tcPr>
                </a:tc>
                <a:extLst>
                  <a:ext uri="{0D108BD9-81ED-4DB2-BD59-A6C34878D82A}">
                    <a16:rowId xmlns:a16="http://schemas.microsoft.com/office/drawing/2014/main" val="10000"/>
                  </a:ext>
                </a:extLst>
              </a:tr>
              <a:tr h="321869">
                <a:tc>
                  <a:txBody>
                    <a:bodyPr/>
                    <a:lstStyle/>
                    <a:p>
                      <a:pPr algn="l"/>
                      <a:r>
                        <a:rPr sz="1200" b="0">
                          <a:solidFill>
                            <a:srgbClr val="1C2233"/>
                          </a:solidFill>
                          <a:latin typeface="メイリオ"/>
                          <a:ea typeface="メイリオ"/>
                        </a:rPr>
                        <a:t>ライザップ</a:t>
                      </a:r>
                    </a:p>
                  </a:txBody>
                  <a:tcPr marT="18000" marB="18000">
                    <a:solidFill>
                      <a:srgbClr val="FFFFFF"/>
                    </a:solidFill>
                  </a:tcPr>
                </a:tc>
                <a:tc>
                  <a:txBody>
                    <a:bodyPr/>
                    <a:lstStyle/>
                    <a:p>
                      <a:pPr algn="ctr"/>
                      <a:r>
                        <a:rPr sz="1200" b="0">
                          <a:solidFill>
                            <a:srgbClr val="1C2233"/>
                          </a:solidFill>
                          <a:latin typeface="メイリオ"/>
                          <a:ea typeface="メイリオ"/>
                        </a:rPr>
                        <a:t>パーソナル</a:t>
                      </a:r>
                    </a:p>
                  </a:txBody>
                  <a:tcPr marT="18000" marB="18000">
                    <a:solidFill>
                      <a:srgbClr val="FFFFFF"/>
                    </a:solidFill>
                  </a:tcPr>
                </a:tc>
                <a:tc>
                  <a:txBody>
                    <a:bodyPr/>
                    <a:lstStyle/>
                    <a:p>
                      <a:pPr algn="ctr"/>
                      <a:r>
                        <a:rPr sz="1200" b="0">
                          <a:solidFill>
                            <a:srgbClr val="1C2233"/>
                          </a:solidFill>
                          <a:latin typeface="メイリオ"/>
                          <a:ea typeface="メイリオ"/>
                        </a:rPr>
                        <a:t>非公開</a:t>
                      </a:r>
                    </a:p>
                  </a:txBody>
                  <a:tcPr marT="18000" marB="18000">
                    <a:solidFill>
                      <a:srgbClr val="FFFFFF"/>
                    </a:solidFill>
                  </a:tcPr>
                </a:tc>
                <a:tc>
                  <a:txBody>
                    <a:bodyPr/>
                    <a:lstStyle/>
                    <a:p>
                      <a:pPr algn="ctr"/>
                      <a:r>
                        <a:rPr sz="1200" b="0">
                          <a:solidFill>
                            <a:srgbClr val="1C2233"/>
                          </a:solidFill>
                          <a:latin typeface="メイリオ"/>
                          <a:ea typeface="メイリオ"/>
                        </a:rPr>
                        <a:t>―</a:t>
                      </a:r>
                    </a:p>
                  </a:txBody>
                  <a:tcPr marT="18000" marB="18000">
                    <a:solidFill>
                      <a:srgbClr val="FFFFFF"/>
                    </a:solidFill>
                  </a:tcPr>
                </a:tc>
                <a:tc>
                  <a:txBody>
                    <a:bodyPr/>
                    <a:lstStyle/>
                    <a:p>
                      <a:pPr algn="ctr"/>
                      <a:r>
                        <a:rPr sz="1200" b="0">
                          <a:solidFill>
                            <a:srgbClr val="1C2233"/>
                          </a:solidFill>
                          <a:latin typeface="メイリオ"/>
                          <a:ea typeface="メイリオ"/>
                        </a:rPr>
                        <a:t>―</a:t>
                      </a:r>
                    </a:p>
                  </a:txBody>
                  <a:tcPr marT="18000" marB="18000">
                    <a:solidFill>
                      <a:srgbClr val="FFFFFF"/>
                    </a:solidFill>
                  </a:tcPr>
                </a:tc>
                <a:tc>
                  <a:txBody>
                    <a:bodyPr/>
                    <a:lstStyle/>
                    <a:p>
                      <a:pPr algn="ctr"/>
                      <a:r>
                        <a:rPr sz="1200" b="0">
                          <a:solidFill>
                            <a:srgbClr val="1C2233"/>
                          </a:solidFill>
                          <a:latin typeface="メイリオ"/>
                          <a:ea typeface="メイリオ"/>
                        </a:rPr>
                        <a:t>8/31確認</a:t>
                      </a:r>
                    </a:p>
                  </a:txBody>
                  <a:tcPr marT="18000" marB="18000">
                    <a:solidFill>
                      <a:srgbClr val="FFFFFF"/>
                    </a:solidFill>
                  </a:tcPr>
                </a:tc>
                <a:extLst>
                  <a:ext uri="{0D108BD9-81ED-4DB2-BD59-A6C34878D82A}">
                    <a16:rowId xmlns:a16="http://schemas.microsoft.com/office/drawing/2014/main" val="10001"/>
                  </a:ext>
                </a:extLst>
              </a:tr>
              <a:tr h="321869">
                <a:tc>
                  <a:txBody>
                    <a:bodyPr/>
                    <a:lstStyle/>
                    <a:p>
                      <a:pPr algn="l"/>
                      <a:r>
                        <a:rPr sz="1200" b="0">
                          <a:solidFill>
                            <a:srgbClr val="1C2233"/>
                          </a:solidFill>
                          <a:latin typeface="メイリオ"/>
                          <a:ea typeface="メイリオ"/>
                        </a:rPr>
                        <a:t>chocoZAP</a:t>
                      </a:r>
                    </a:p>
                  </a:txBody>
                  <a:tcPr marT="18000" marB="18000">
                    <a:solidFill>
                      <a:srgbClr val="FFFFFF"/>
                    </a:solidFill>
                  </a:tcPr>
                </a:tc>
                <a:tc>
                  <a:txBody>
                    <a:bodyPr/>
                    <a:lstStyle/>
                    <a:p>
                      <a:pPr algn="ctr"/>
                      <a:r>
                        <a:rPr sz="1200" b="0">
                          <a:solidFill>
                            <a:srgbClr val="1C2233"/>
                          </a:solidFill>
                          <a:latin typeface="メイリオ"/>
                          <a:ea typeface="メイリオ"/>
                        </a:rPr>
                        <a:t>24時間コンビニジム</a:t>
                      </a:r>
                    </a:p>
                  </a:txBody>
                  <a:tcPr marT="18000" marB="18000">
                    <a:solidFill>
                      <a:srgbClr val="FFFFFF"/>
                    </a:solidFill>
                  </a:tcPr>
                </a:tc>
                <a:tc>
                  <a:txBody>
                    <a:bodyPr/>
                    <a:lstStyle/>
                    <a:p>
                      <a:pPr algn="ctr"/>
                      <a:r>
                        <a:rPr sz="1200" b="0">
                          <a:solidFill>
                            <a:srgbClr val="1C2233"/>
                          </a:solidFill>
                          <a:latin typeface="メイリオ"/>
                          <a:ea typeface="メイリオ"/>
                        </a:rPr>
                        <a:t>20,680,767</a:t>
                      </a:r>
                    </a:p>
                  </a:txBody>
                  <a:tcPr marT="18000" marB="18000">
                    <a:solidFill>
                      <a:srgbClr val="FFFFFF"/>
                    </a:solidFill>
                  </a:tcPr>
                </a:tc>
                <a:tc>
                  <a:txBody>
                    <a:bodyPr/>
                    <a:lstStyle/>
                    <a:p>
                      <a:pPr algn="ctr"/>
                      <a:r>
                        <a:rPr sz="1200" b="0">
                          <a:solidFill>
                            <a:srgbClr val="1C2233"/>
                          </a:solidFill>
                          <a:latin typeface="メイリオ"/>
                          <a:ea typeface="メイリオ"/>
                        </a:rPr>
                        <a:t>保存版なし</a:t>
                      </a:r>
                    </a:p>
                  </a:txBody>
                  <a:tcPr marT="18000" marB="18000">
                    <a:solidFill>
                      <a:srgbClr val="FFFFFF"/>
                    </a:solidFill>
                  </a:tcPr>
                </a:tc>
                <a:tc>
                  <a:txBody>
                    <a:bodyPr/>
                    <a:lstStyle/>
                    <a:p>
                      <a:pPr algn="ctr"/>
                      <a:r>
                        <a:rPr sz="1200" b="0">
                          <a:solidFill>
                            <a:srgbClr val="1C2233"/>
                          </a:solidFill>
                          <a:latin typeface="メイリオ"/>
                          <a:ea typeface="メイリオ"/>
                        </a:rPr>
                        <a:t>―</a:t>
                      </a:r>
                    </a:p>
                  </a:txBody>
                  <a:tcPr marT="18000" marB="18000">
                    <a:solidFill>
                      <a:srgbClr val="FFFFFF"/>
                    </a:solidFill>
                  </a:tcPr>
                </a:tc>
                <a:tc>
                  <a:txBody>
                    <a:bodyPr/>
                    <a:lstStyle/>
                    <a:p>
                      <a:pPr algn="ctr"/>
                      <a:r>
                        <a:rPr sz="1200" b="0">
                          <a:solidFill>
                            <a:srgbClr val="1C2233"/>
                          </a:solidFill>
                          <a:latin typeface="メイリオ"/>
                          <a:ea typeface="メイリオ"/>
                        </a:rPr>
                        <a:t>8/31確認</a:t>
                      </a:r>
                    </a:p>
                  </a:txBody>
                  <a:tcPr marT="18000" marB="18000">
                    <a:solidFill>
                      <a:srgbClr val="FFFFFF"/>
                    </a:solidFill>
                  </a:tcPr>
                </a:tc>
                <a:extLst>
                  <a:ext uri="{0D108BD9-81ED-4DB2-BD59-A6C34878D82A}">
                    <a16:rowId xmlns:a16="http://schemas.microsoft.com/office/drawing/2014/main" val="1371951212"/>
                  </a:ext>
                </a:extLst>
              </a:tr>
              <a:tr h="321869">
                <a:tc>
                  <a:txBody>
                    <a:bodyPr/>
                    <a:lstStyle/>
                    <a:p>
                      <a:pPr algn="l"/>
                      <a:r>
                        <a:rPr sz="1200" b="0">
                          <a:solidFill>
                            <a:srgbClr val="1C2233"/>
                          </a:solidFill>
                          <a:latin typeface="メイリオ"/>
                          <a:ea typeface="メイリオ"/>
                        </a:rPr>
                        <a:t>カーブス</a:t>
                      </a:r>
                    </a:p>
                  </a:txBody>
                  <a:tcPr marT="18000" marB="18000">
                    <a:solidFill>
                      <a:srgbClr val="EFF1F7"/>
                    </a:solidFill>
                  </a:tcPr>
                </a:tc>
                <a:tc>
                  <a:txBody>
                    <a:bodyPr/>
                    <a:lstStyle/>
                    <a:p>
                      <a:pPr algn="ctr"/>
                      <a:r>
                        <a:rPr sz="1200" b="0">
                          <a:solidFill>
                            <a:srgbClr val="1C2233"/>
                          </a:solidFill>
                          <a:latin typeface="メイリオ"/>
                          <a:ea typeface="メイリオ"/>
                        </a:rPr>
                        <a:t>女性専用サーキット</a:t>
                      </a:r>
                    </a:p>
                  </a:txBody>
                  <a:tcPr marT="18000" marB="18000">
                    <a:solidFill>
                      <a:srgbClr val="EFF1F7"/>
                    </a:solidFill>
                  </a:tcPr>
                </a:tc>
                <a:tc>
                  <a:txBody>
                    <a:bodyPr/>
                    <a:lstStyle/>
                    <a:p>
                      <a:pPr algn="ctr"/>
                      <a:r>
                        <a:rPr sz="1200" b="0">
                          <a:solidFill>
                            <a:srgbClr val="1C2233"/>
                          </a:solidFill>
                          <a:latin typeface="メイリオ"/>
                          <a:ea typeface="メイリオ"/>
                        </a:rPr>
                        <a:t>5,921,564</a:t>
                      </a:r>
                    </a:p>
                  </a:txBody>
                  <a:tcPr marT="18000" marB="18000">
                    <a:solidFill>
                      <a:srgbClr val="EFF1F7"/>
                    </a:solidFill>
                  </a:tcPr>
                </a:tc>
                <a:tc>
                  <a:txBody>
                    <a:bodyPr/>
                    <a:lstStyle/>
                    <a:p>
                      <a:pPr algn="ctr"/>
                      <a:r>
                        <a:rPr sz="1200" b="0">
                          <a:solidFill>
                            <a:srgbClr val="1C2233"/>
                          </a:solidFill>
                          <a:latin typeface="メイリオ"/>
                          <a:ea typeface="メイリオ"/>
                        </a:rPr>
                        <a:t>2,275,646</a:t>
                      </a:r>
                    </a:p>
                  </a:txBody>
                  <a:tcPr marT="18000" marB="18000">
                    <a:solidFill>
                      <a:srgbClr val="EFF1F7"/>
                    </a:solidFill>
                  </a:tcPr>
                </a:tc>
                <a:tc>
                  <a:txBody>
                    <a:bodyPr/>
                    <a:lstStyle/>
                    <a:p>
                      <a:pPr algn="ctr"/>
                      <a:r>
                        <a:rPr sz="1200" b="0">
                          <a:solidFill>
                            <a:srgbClr val="1C2233"/>
                          </a:solidFill>
                          <a:latin typeface="メイリオ"/>
                          <a:ea typeface="メイリオ"/>
                        </a:rPr>
                        <a:t>×2.6</a:t>
                      </a:r>
                    </a:p>
                  </a:txBody>
                  <a:tcPr marT="18000" marB="18000">
                    <a:solidFill>
                      <a:srgbClr val="EFF1F7"/>
                    </a:solidFill>
                  </a:tcPr>
                </a:tc>
                <a:tc>
                  <a:txBody>
                    <a:bodyPr/>
                    <a:lstStyle/>
                    <a:p>
                      <a:pPr algn="ctr"/>
                      <a:r>
                        <a:rPr sz="1200" b="0">
                          <a:solidFill>
                            <a:srgbClr val="1C2233"/>
                          </a:solidFill>
                          <a:latin typeface="メイリオ"/>
                          <a:ea typeface="メイリオ"/>
                        </a:rPr>
                        <a:t>8/31確認</a:t>
                      </a:r>
                    </a:p>
                  </a:txBody>
                  <a:tcPr marT="18000" marB="18000">
                    <a:solidFill>
                      <a:srgbClr val="EFF1F7"/>
                    </a:solidFill>
                  </a:tcPr>
                </a:tc>
                <a:extLst>
                  <a:ext uri="{0D108BD9-81ED-4DB2-BD59-A6C34878D82A}">
                    <a16:rowId xmlns:a16="http://schemas.microsoft.com/office/drawing/2014/main" val="10002"/>
                  </a:ext>
                </a:extLst>
              </a:tr>
              <a:tr h="321869">
                <a:tc>
                  <a:txBody>
                    <a:bodyPr/>
                    <a:lstStyle/>
                    <a:p>
                      <a:pPr algn="l"/>
                      <a:r>
                        <a:rPr sz="1200" b="0">
                          <a:solidFill>
                            <a:srgbClr val="1C2233"/>
                          </a:solidFill>
                          <a:latin typeface="メイリオ"/>
                          <a:ea typeface="メイリオ"/>
                        </a:rPr>
                        <a:t>エニタイムフィットネス</a:t>
                      </a:r>
                    </a:p>
                  </a:txBody>
                  <a:tcPr marT="18000" marB="18000">
                    <a:solidFill>
                      <a:srgbClr val="FFFFFF"/>
                    </a:solidFill>
                  </a:tcPr>
                </a:tc>
                <a:tc>
                  <a:txBody>
                    <a:bodyPr/>
                    <a:lstStyle/>
                    <a:p>
                      <a:pPr algn="ctr"/>
                      <a:r>
                        <a:rPr sz="1200" b="0">
                          <a:solidFill>
                            <a:srgbClr val="1C2233"/>
                          </a:solidFill>
                          <a:latin typeface="メイリオ"/>
                          <a:ea typeface="メイリオ"/>
                        </a:rPr>
                        <a:t>24時間ジム</a:t>
                      </a:r>
                    </a:p>
                  </a:txBody>
                  <a:tcPr marT="18000" marB="18000">
                    <a:solidFill>
                      <a:srgbClr val="FFFFFF"/>
                    </a:solidFill>
                  </a:tcPr>
                </a:tc>
                <a:tc>
                  <a:txBody>
                    <a:bodyPr/>
                    <a:lstStyle/>
                    <a:p>
                      <a:pPr algn="ctr"/>
                      <a:r>
                        <a:rPr sz="1200" b="0">
                          <a:solidFill>
                            <a:srgbClr val="1C2233"/>
                          </a:solidFill>
                          <a:latin typeface="メイリオ"/>
                          <a:ea typeface="メイリオ"/>
                        </a:rPr>
                        <a:t>1,452,477</a:t>
                      </a:r>
                    </a:p>
                  </a:txBody>
                  <a:tcPr marT="18000" marB="18000">
                    <a:solidFill>
                      <a:srgbClr val="FFFFFF"/>
                    </a:solidFill>
                  </a:tcPr>
                </a:tc>
                <a:tc>
                  <a:txBody>
                    <a:bodyPr/>
                    <a:lstStyle/>
                    <a:p>
                      <a:pPr algn="ctr"/>
                      <a:r>
                        <a:rPr sz="1200" b="0">
                          <a:solidFill>
                            <a:srgbClr val="1C2233"/>
                          </a:solidFill>
                          <a:latin typeface="メイリオ"/>
                          <a:ea typeface="メイリオ"/>
                        </a:rPr>
                        <a:t>保存版なし</a:t>
                      </a:r>
                    </a:p>
                  </a:txBody>
                  <a:tcPr marT="18000" marB="18000">
                    <a:solidFill>
                      <a:srgbClr val="FFFFFF"/>
                    </a:solidFill>
                  </a:tcPr>
                </a:tc>
                <a:tc>
                  <a:txBody>
                    <a:bodyPr/>
                    <a:lstStyle/>
                    <a:p>
                      <a:pPr algn="ctr"/>
                      <a:r>
                        <a:rPr sz="1200" b="0">
                          <a:solidFill>
                            <a:srgbClr val="1C2233"/>
                          </a:solidFill>
                          <a:latin typeface="メイリオ"/>
                          <a:ea typeface="メイリオ"/>
                        </a:rPr>
                        <a:t>―</a:t>
                      </a:r>
                    </a:p>
                  </a:txBody>
                  <a:tcPr marT="18000" marB="18000">
                    <a:solidFill>
                      <a:srgbClr val="FFFFFF"/>
                    </a:solidFill>
                  </a:tcPr>
                </a:tc>
                <a:tc>
                  <a:txBody>
                    <a:bodyPr/>
                    <a:lstStyle/>
                    <a:p>
                      <a:pPr algn="ctr"/>
                      <a:r>
                        <a:rPr sz="1200" b="0">
                          <a:solidFill>
                            <a:srgbClr val="1C2233"/>
                          </a:solidFill>
                          <a:latin typeface="メイリオ"/>
                          <a:ea typeface="メイリオ"/>
                        </a:rPr>
                        <a:t>8/31確認</a:t>
                      </a:r>
                    </a:p>
                  </a:txBody>
                  <a:tcPr marT="18000" marB="18000">
                    <a:solidFill>
                      <a:srgbClr val="FFFFFF"/>
                    </a:solidFill>
                  </a:tcPr>
                </a:tc>
                <a:extLst>
                  <a:ext uri="{0D108BD9-81ED-4DB2-BD59-A6C34878D82A}">
                    <a16:rowId xmlns:a16="http://schemas.microsoft.com/office/drawing/2014/main" val="10003"/>
                  </a:ext>
                </a:extLst>
              </a:tr>
              <a:tr h="321869">
                <a:tc>
                  <a:txBody>
                    <a:bodyPr/>
                    <a:lstStyle/>
                    <a:p>
                      <a:pPr algn="l"/>
                      <a:r>
                        <a:rPr sz="1200" b="0">
                          <a:solidFill>
                            <a:srgbClr val="1C2233"/>
                          </a:solidFill>
                          <a:latin typeface="メイリオ"/>
                          <a:ea typeface="メイリオ"/>
                        </a:rPr>
                        <a:t>FIT PLACE24</a:t>
                      </a:r>
                    </a:p>
                  </a:txBody>
                  <a:tcPr marT="18000" marB="18000">
                    <a:solidFill>
                      <a:srgbClr val="FFFFFF"/>
                    </a:solidFill>
                  </a:tcPr>
                </a:tc>
                <a:tc>
                  <a:txBody>
                    <a:bodyPr/>
                    <a:lstStyle/>
                    <a:p>
                      <a:pPr algn="ctr"/>
                      <a:r>
                        <a:rPr sz="1200" b="0">
                          <a:solidFill>
                            <a:srgbClr val="1C2233"/>
                          </a:solidFill>
                          <a:latin typeface="メイリオ"/>
                          <a:ea typeface="メイリオ"/>
                        </a:rPr>
                        <a:t>24時間ジム</a:t>
                      </a:r>
                    </a:p>
                  </a:txBody>
                  <a:tcPr marT="18000" marB="18000">
                    <a:solidFill>
                      <a:srgbClr val="FFFFFF"/>
                    </a:solidFill>
                  </a:tcPr>
                </a:tc>
                <a:tc>
                  <a:txBody>
                    <a:bodyPr/>
                    <a:lstStyle/>
                    <a:p>
                      <a:pPr algn="ctr"/>
                      <a:r>
                        <a:rPr sz="1200" b="0">
                          <a:solidFill>
                            <a:srgbClr val="1C2233"/>
                          </a:solidFill>
                          <a:latin typeface="メイリオ"/>
                          <a:ea typeface="メイリオ"/>
                        </a:rPr>
                        <a:t>913,243</a:t>
                      </a:r>
                    </a:p>
                  </a:txBody>
                  <a:tcPr marT="18000" marB="18000">
                    <a:solidFill>
                      <a:srgbClr val="FFFFFF"/>
                    </a:solidFill>
                  </a:tcPr>
                </a:tc>
                <a:tc>
                  <a:txBody>
                    <a:bodyPr/>
                    <a:lstStyle/>
                    <a:p>
                      <a:pPr algn="ctr"/>
                      <a:r>
                        <a:rPr sz="1200" b="0">
                          <a:solidFill>
                            <a:srgbClr val="1C2233"/>
                          </a:solidFill>
                          <a:latin typeface="メイリオ"/>
                          <a:ea typeface="メイリオ"/>
                        </a:rPr>
                        <a:t>保存版なし</a:t>
                      </a:r>
                    </a:p>
                  </a:txBody>
                  <a:tcPr marT="18000" marB="18000">
                    <a:solidFill>
                      <a:srgbClr val="FFFFFF"/>
                    </a:solidFill>
                  </a:tcPr>
                </a:tc>
                <a:tc>
                  <a:txBody>
                    <a:bodyPr/>
                    <a:lstStyle/>
                    <a:p>
                      <a:pPr algn="ctr"/>
                      <a:r>
                        <a:rPr sz="1200" b="0">
                          <a:solidFill>
                            <a:srgbClr val="1C2233"/>
                          </a:solidFill>
                          <a:latin typeface="メイリオ"/>
                          <a:ea typeface="メイリオ"/>
                        </a:rPr>
                        <a:t>―</a:t>
                      </a:r>
                    </a:p>
                  </a:txBody>
                  <a:tcPr marT="18000" marB="18000">
                    <a:solidFill>
                      <a:srgbClr val="FFFFFF"/>
                    </a:solidFill>
                  </a:tcPr>
                </a:tc>
                <a:tc>
                  <a:txBody>
                    <a:bodyPr/>
                    <a:lstStyle/>
                    <a:p>
                      <a:pPr algn="ctr"/>
                      <a:r>
                        <a:rPr sz="1200" b="0">
                          <a:solidFill>
                            <a:srgbClr val="1C2233"/>
                          </a:solidFill>
                          <a:latin typeface="メイリオ"/>
                          <a:ea typeface="メイリオ"/>
                        </a:rPr>
                        <a:t>8/31確認</a:t>
                      </a:r>
                    </a:p>
                  </a:txBody>
                  <a:tcPr marT="18000" marB="18000">
                    <a:solidFill>
                      <a:srgbClr val="FFFFFF"/>
                    </a:solidFill>
                  </a:tcPr>
                </a:tc>
                <a:extLst>
                  <a:ext uri="{0D108BD9-81ED-4DB2-BD59-A6C34878D82A}">
                    <a16:rowId xmlns:a16="http://schemas.microsoft.com/office/drawing/2014/main" val="2207494840"/>
                  </a:ext>
                </a:extLst>
              </a:tr>
              <a:tr h="321869">
                <a:tc>
                  <a:txBody>
                    <a:bodyPr/>
                    <a:lstStyle/>
                    <a:p>
                      <a:pPr algn="l"/>
                      <a:r>
                        <a:rPr sz="1200" b="0">
                          <a:solidFill>
                            <a:srgbClr val="1C2233"/>
                          </a:solidFill>
                          <a:latin typeface="メイリオ"/>
                          <a:ea typeface="メイリオ"/>
                        </a:rPr>
                        <a:t>フィットイージー</a:t>
                      </a:r>
                    </a:p>
                  </a:txBody>
                  <a:tcPr marT="18000" marB="18000">
                    <a:solidFill>
                      <a:srgbClr val="EFF1F7"/>
                    </a:solidFill>
                  </a:tcPr>
                </a:tc>
                <a:tc>
                  <a:txBody>
                    <a:bodyPr/>
                    <a:lstStyle/>
                    <a:p>
                      <a:pPr algn="ctr"/>
                      <a:r>
                        <a:rPr sz="1200" b="0">
                          <a:solidFill>
                            <a:srgbClr val="1C2233"/>
                          </a:solidFill>
                          <a:latin typeface="メイリオ"/>
                          <a:ea typeface="メイリオ"/>
                        </a:rPr>
                        <a:t>24時間ジム</a:t>
                      </a:r>
                    </a:p>
                  </a:txBody>
                  <a:tcPr marT="18000" marB="18000">
                    <a:solidFill>
                      <a:srgbClr val="EFF1F7"/>
                    </a:solidFill>
                  </a:tcPr>
                </a:tc>
                <a:tc>
                  <a:txBody>
                    <a:bodyPr/>
                    <a:lstStyle/>
                    <a:p>
                      <a:pPr algn="ctr"/>
                      <a:r>
                        <a:rPr sz="1200" b="0">
                          <a:solidFill>
                            <a:srgbClr val="1C2233"/>
                          </a:solidFill>
                          <a:latin typeface="メイリオ"/>
                          <a:ea typeface="メイリオ"/>
                        </a:rPr>
                        <a:t>802,620</a:t>
                      </a:r>
                    </a:p>
                  </a:txBody>
                  <a:tcPr marT="18000" marB="18000">
                    <a:solidFill>
                      <a:srgbClr val="EFF1F7"/>
                    </a:solidFill>
                  </a:tcPr>
                </a:tc>
                <a:tc>
                  <a:txBody>
                    <a:bodyPr/>
                    <a:lstStyle/>
                    <a:p>
                      <a:pPr algn="ctr"/>
                      <a:r>
                        <a:rPr sz="1200" b="0">
                          <a:solidFill>
                            <a:srgbClr val="1C2233"/>
                          </a:solidFill>
                          <a:latin typeface="メイリオ"/>
                          <a:ea typeface="メイリオ"/>
                        </a:rPr>
                        <a:t>487,710</a:t>
                      </a:r>
                    </a:p>
                  </a:txBody>
                  <a:tcPr marT="18000" marB="18000">
                    <a:solidFill>
                      <a:srgbClr val="EFF1F7"/>
                    </a:solidFill>
                  </a:tcPr>
                </a:tc>
                <a:tc>
                  <a:txBody>
                    <a:bodyPr/>
                    <a:lstStyle/>
                    <a:p>
                      <a:pPr algn="ctr"/>
                      <a:r>
                        <a:rPr sz="1200" b="0">
                          <a:solidFill>
                            <a:srgbClr val="1C2233"/>
                          </a:solidFill>
                          <a:latin typeface="メイリオ"/>
                          <a:ea typeface="メイリオ"/>
                        </a:rPr>
                        <a:t>×1.6</a:t>
                      </a:r>
                    </a:p>
                  </a:txBody>
                  <a:tcPr marT="18000" marB="18000">
                    <a:solidFill>
                      <a:srgbClr val="F2F2F2"/>
                    </a:solidFill>
                  </a:tcPr>
                </a:tc>
                <a:tc>
                  <a:txBody>
                    <a:bodyPr/>
                    <a:lstStyle/>
                    <a:p>
                      <a:pPr algn="ctr"/>
                      <a:r>
                        <a:rPr sz="1200" b="0">
                          <a:solidFill>
                            <a:srgbClr val="1C2233"/>
                          </a:solidFill>
                          <a:latin typeface="メイリオ"/>
                          <a:ea typeface="メイリオ"/>
                        </a:rPr>
                        <a:t>8/31確認</a:t>
                      </a:r>
                    </a:p>
                  </a:txBody>
                  <a:tcPr marT="18000" marB="18000">
                    <a:solidFill>
                      <a:srgbClr val="EFF1F7"/>
                    </a:solidFill>
                  </a:tcPr>
                </a:tc>
                <a:extLst>
                  <a:ext uri="{0D108BD9-81ED-4DB2-BD59-A6C34878D82A}">
                    <a16:rowId xmlns:a16="http://schemas.microsoft.com/office/drawing/2014/main" val="10004"/>
                  </a:ext>
                </a:extLst>
              </a:tr>
              <a:tr h="321869">
                <a:tc>
                  <a:txBody>
                    <a:bodyPr/>
                    <a:lstStyle/>
                    <a:p>
                      <a:pPr algn="l"/>
                      <a:r>
                        <a:rPr sz="1200" b="0">
                          <a:solidFill>
                            <a:srgbClr val="1C2233"/>
                          </a:solidFill>
                          <a:latin typeface="メイリオ"/>
                          <a:ea typeface="メイリオ"/>
                        </a:rPr>
                        <a:t>ティップネス</a:t>
                      </a:r>
                    </a:p>
                  </a:txBody>
                  <a:tcPr marT="18000" marB="18000">
                    <a:solidFill>
                      <a:srgbClr val="FFFFFF"/>
                    </a:solidFill>
                  </a:tcPr>
                </a:tc>
                <a:tc>
                  <a:txBody>
                    <a:bodyPr/>
                    <a:lstStyle/>
                    <a:p>
                      <a:pPr algn="ctr"/>
                      <a:r>
                        <a:rPr sz="1200" b="0" dirty="0" err="1">
                          <a:solidFill>
                            <a:srgbClr val="1C2233"/>
                          </a:solidFill>
                          <a:latin typeface="メイリオ"/>
                          <a:ea typeface="メイリオ"/>
                        </a:rPr>
                        <a:t>総合クラブ</a:t>
                      </a:r>
                      <a:endParaRPr sz="1200" b="0" dirty="0">
                        <a:solidFill>
                          <a:srgbClr val="1C2233"/>
                        </a:solidFill>
                        <a:latin typeface="メイリオ"/>
                        <a:ea typeface="メイリオ"/>
                      </a:endParaRPr>
                    </a:p>
                  </a:txBody>
                  <a:tcPr marT="18000" marB="18000">
                    <a:solidFill>
                      <a:srgbClr val="FFFFFF"/>
                    </a:solidFill>
                  </a:tcPr>
                </a:tc>
                <a:tc>
                  <a:txBody>
                    <a:bodyPr/>
                    <a:lstStyle/>
                    <a:p>
                      <a:pPr algn="ctr"/>
                      <a:r>
                        <a:rPr sz="1200" b="0">
                          <a:solidFill>
                            <a:srgbClr val="1C2233"/>
                          </a:solidFill>
                          <a:latin typeface="メイリオ"/>
                          <a:ea typeface="メイリオ"/>
                        </a:rPr>
                        <a:t>262,502</a:t>
                      </a:r>
                    </a:p>
                  </a:txBody>
                  <a:tcPr marT="18000" marB="18000">
                    <a:solidFill>
                      <a:srgbClr val="FFFFFF"/>
                    </a:solidFill>
                  </a:tcPr>
                </a:tc>
                <a:tc>
                  <a:txBody>
                    <a:bodyPr/>
                    <a:lstStyle/>
                    <a:p>
                      <a:pPr algn="ctr"/>
                      <a:r>
                        <a:rPr sz="1200" b="0">
                          <a:solidFill>
                            <a:srgbClr val="1C2233"/>
                          </a:solidFill>
                          <a:latin typeface="メイリオ"/>
                          <a:ea typeface="メイリオ"/>
                        </a:rPr>
                        <a:t>53,138</a:t>
                      </a:r>
                    </a:p>
                  </a:txBody>
                  <a:tcPr marT="18000" marB="18000">
                    <a:solidFill>
                      <a:srgbClr val="FFFFFF"/>
                    </a:solidFill>
                  </a:tcPr>
                </a:tc>
                <a:tc>
                  <a:txBody>
                    <a:bodyPr/>
                    <a:lstStyle/>
                    <a:p>
                      <a:pPr algn="ctr"/>
                      <a:r>
                        <a:rPr sz="1200" b="0">
                          <a:solidFill>
                            <a:srgbClr val="1C2233"/>
                          </a:solidFill>
                          <a:latin typeface="メイリオ"/>
                          <a:ea typeface="メイリオ"/>
                        </a:rPr>
                        <a:t>×4.9</a:t>
                      </a:r>
                    </a:p>
                  </a:txBody>
                  <a:tcPr marT="18000" marB="18000">
                    <a:solidFill>
                      <a:srgbClr val="FFFFFF"/>
                    </a:solidFill>
                  </a:tcPr>
                </a:tc>
                <a:tc>
                  <a:txBody>
                    <a:bodyPr/>
                    <a:lstStyle/>
                    <a:p>
                      <a:pPr algn="ctr"/>
                      <a:r>
                        <a:rPr sz="1200" b="0" dirty="0">
                          <a:solidFill>
                            <a:srgbClr val="1C2233"/>
                          </a:solidFill>
                          <a:latin typeface="メイリオ"/>
                          <a:ea typeface="メイリオ"/>
                        </a:rPr>
                        <a:t>8/31確認</a:t>
                      </a:r>
                    </a:p>
                  </a:txBody>
                  <a:tcPr marT="18000" marB="18000">
                    <a:solidFill>
                      <a:srgbClr val="FFFFFF"/>
                    </a:solidFill>
                  </a:tcPr>
                </a:tc>
                <a:extLst>
                  <a:ext uri="{0D108BD9-81ED-4DB2-BD59-A6C34878D82A}">
                    <a16:rowId xmlns:a16="http://schemas.microsoft.com/office/drawing/2014/main" val="10005"/>
                  </a:ext>
                </a:extLst>
              </a:tr>
            </a:tbl>
          </a:graphicData>
        </a:graphic>
      </p:graphicFrame>
      <p:sp>
        <p:nvSpPr>
          <p:cNvPr id="5" name="Rounded Rectangle 4"/>
          <p:cNvSpPr/>
          <p:nvPr/>
        </p:nvSpPr>
        <p:spPr>
          <a:xfrm>
            <a:off x="384048" y="4023320"/>
            <a:ext cx="2788920" cy="132588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a:solidFill>
                  <a:srgbClr val="1C2233"/>
                </a:solidFill>
                <a:latin typeface="メイリオ"/>
                <a:ea typeface="メイリオ"/>
              </a:rPr>
              <a:t>① </a:t>
            </a:r>
            <a:r>
              <a:rPr sz="1200" b="1" dirty="0" err="1">
                <a:solidFill>
                  <a:srgbClr val="1C2233"/>
                </a:solidFill>
                <a:latin typeface="メイリオ"/>
                <a:ea typeface="メイリオ"/>
              </a:rPr>
              <a:t>規模の桁が違う</a:t>
            </a:r>
            <a:endParaRPr sz="1200" b="1" dirty="0">
              <a:solidFill>
                <a:srgbClr val="1C2233"/>
              </a:solidFill>
              <a:latin typeface="メイリオ"/>
              <a:ea typeface="メイリオ"/>
            </a:endParaRPr>
          </a:p>
          <a:p>
            <a:pPr algn="l">
              <a:spcBef>
                <a:spcPts val="200"/>
              </a:spcBef>
            </a:pPr>
            <a:r>
              <a:rPr sz="1200" b="0" dirty="0" err="1">
                <a:solidFill>
                  <a:srgbClr val="1C2233"/>
                </a:solidFill>
                <a:latin typeface="メイリオ"/>
                <a:ea typeface="メイリオ"/>
              </a:rPr>
              <a:t>chocoZAP</a:t>
            </a:r>
            <a:r>
              <a:rPr sz="1200" b="0" dirty="0">
                <a:solidFill>
                  <a:srgbClr val="1C2233"/>
                </a:solidFill>
                <a:latin typeface="メイリオ"/>
                <a:ea typeface="メイリオ"/>
              </a:rPr>
              <a:t> 2,068万人・カーブス592万人。マス層はすでにLINEを顧客接点のインフラにしている。</a:t>
            </a:r>
          </a:p>
        </p:txBody>
      </p:sp>
      <p:sp>
        <p:nvSpPr>
          <p:cNvPr id="6" name="Rounded Rectangle 5"/>
          <p:cNvSpPr/>
          <p:nvPr/>
        </p:nvSpPr>
        <p:spPr>
          <a:xfrm>
            <a:off x="3383279" y="4023320"/>
            <a:ext cx="2788920" cy="132588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a:solidFill>
                  <a:srgbClr val="1C2233"/>
                </a:solidFill>
                <a:latin typeface="メイリオ"/>
                <a:ea typeface="メイリオ"/>
              </a:rPr>
              <a:t>② 24時間ジム勢の分布</a:t>
            </a:r>
          </a:p>
          <a:p>
            <a:pPr algn="l">
              <a:spcBef>
                <a:spcPts val="200"/>
              </a:spcBef>
            </a:pPr>
            <a:r>
              <a:rPr sz="1200" dirty="0">
                <a:solidFill>
                  <a:srgbClr val="1C2233"/>
                </a:solidFill>
                <a:latin typeface="メイリオ"/>
                <a:ea typeface="メイリオ"/>
              </a:rPr>
              <a:t>エニタイム145万 &gt; FIT PLACE24 91万 &gt; フィットイージー80万。</a:t>
            </a:r>
            <a:endParaRPr lang="en-US" sz="1200" dirty="0">
              <a:solidFill>
                <a:srgbClr val="1C2233"/>
              </a:solidFill>
              <a:latin typeface="メイリオ"/>
              <a:ea typeface="メイリオ"/>
            </a:endParaRPr>
          </a:p>
          <a:p>
            <a:pPr algn="l">
              <a:spcBef>
                <a:spcPts val="200"/>
              </a:spcBef>
            </a:pPr>
            <a:r>
              <a:rPr sz="1200" dirty="0">
                <a:solidFill>
                  <a:srgbClr val="1C2233"/>
                </a:solidFill>
                <a:latin typeface="メイリオ"/>
                <a:ea typeface="メイリオ"/>
              </a:rPr>
              <a:t>FIT PLACE24は2023年開業＝入会手続きをLINE起点に設計した新興が最短で肉薄。</a:t>
            </a:r>
          </a:p>
        </p:txBody>
      </p:sp>
      <p:sp>
        <p:nvSpPr>
          <p:cNvPr id="7" name="Rounded Rectangle 6"/>
          <p:cNvSpPr/>
          <p:nvPr/>
        </p:nvSpPr>
        <p:spPr>
          <a:xfrm>
            <a:off x="6382512" y="4023320"/>
            <a:ext cx="2788920" cy="132588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spcBef>
                <a:spcPts val="200"/>
              </a:spcBef>
            </a:pPr>
            <a:r>
              <a:rPr lang="ja-JP" altLang="en-US" sz="1200" b="1" dirty="0">
                <a:solidFill>
                  <a:srgbClr val="1C2233"/>
                </a:solidFill>
                <a:latin typeface="メイリオ"/>
                <a:ea typeface="メイリオ"/>
              </a:rPr>
              <a:t>③ 友だち数の伸び</a:t>
            </a:r>
            <a:endParaRPr lang="en-US" altLang="ja-JP" sz="1200" b="1" dirty="0">
              <a:solidFill>
                <a:srgbClr val="1C2233"/>
              </a:solidFill>
              <a:ea typeface="メイリオ"/>
            </a:endParaRPr>
          </a:p>
          <a:p>
            <a:pPr>
              <a:spcBef>
                <a:spcPts val="200"/>
              </a:spcBef>
            </a:pPr>
            <a:r>
              <a:rPr lang="ja-JP" altLang="en-US" sz="1200" dirty="0">
                <a:solidFill>
                  <a:srgbClr val="1C2233"/>
                </a:solidFill>
                <a:latin typeface="メイリオ"/>
                <a:ea typeface="メイリオ"/>
              </a:rPr>
              <a:t>カーブス</a:t>
            </a:r>
            <a:r>
              <a:rPr lang="en-US" altLang="ja-JP" sz="1200" dirty="0">
                <a:solidFill>
                  <a:srgbClr val="1C2233"/>
                </a:solidFill>
                <a:latin typeface="メイリオ"/>
                <a:ea typeface="メイリオ"/>
              </a:rPr>
              <a:t>×1.6/</a:t>
            </a:r>
            <a:r>
              <a:rPr lang="ja-JP" altLang="en-US" sz="1200" dirty="0">
                <a:solidFill>
                  <a:srgbClr val="1C2233"/>
                </a:solidFill>
                <a:latin typeface="メイリオ"/>
                <a:ea typeface="メイリオ"/>
              </a:rPr>
              <a:t>年・ティップネス</a:t>
            </a:r>
            <a:r>
              <a:rPr lang="en-US" altLang="ja-JP" sz="1200" dirty="0">
                <a:solidFill>
                  <a:srgbClr val="1C2233"/>
                </a:solidFill>
                <a:latin typeface="メイリオ"/>
                <a:ea typeface="メイリオ"/>
              </a:rPr>
              <a:t>×1.5/</a:t>
            </a:r>
            <a:r>
              <a:rPr lang="ja-JP" altLang="en-US" sz="1200" dirty="0">
                <a:solidFill>
                  <a:srgbClr val="1C2233"/>
                </a:solidFill>
                <a:latin typeface="メイリオ"/>
                <a:ea typeface="メイリオ"/>
              </a:rPr>
              <a:t>年・フィットイージー</a:t>
            </a:r>
            <a:r>
              <a:rPr lang="en-US" altLang="ja-JP" sz="1200" dirty="0">
                <a:solidFill>
                  <a:srgbClr val="1C2233"/>
                </a:solidFill>
                <a:latin typeface="メイリオ"/>
                <a:ea typeface="メイリオ"/>
              </a:rPr>
              <a:t>×1.3/</a:t>
            </a:r>
            <a:r>
              <a:rPr lang="ja-JP" altLang="en-US" sz="1200" dirty="0">
                <a:solidFill>
                  <a:srgbClr val="1C2233"/>
                </a:solidFill>
                <a:latin typeface="メイリオ"/>
                <a:ea typeface="メイリオ"/>
              </a:rPr>
              <a:t>年</a:t>
            </a:r>
          </a:p>
          <a:p>
            <a:pPr>
              <a:spcBef>
                <a:spcPts val="200"/>
              </a:spcBef>
            </a:pPr>
            <a:r>
              <a:rPr lang="en-US" altLang="ja-JP" sz="1200" dirty="0">
                <a:solidFill>
                  <a:srgbClr val="1C2233"/>
                </a:solidFill>
                <a:latin typeface="メイリオ"/>
                <a:ea typeface="メイリオ"/>
              </a:rPr>
              <a:t>※カーブスの配信はP10・P11</a:t>
            </a:r>
            <a:r>
              <a:rPr lang="ja-JP" altLang="en-US" sz="1200" dirty="0">
                <a:solidFill>
                  <a:srgbClr val="1C2233"/>
                </a:solidFill>
                <a:ea typeface="メイリオ"/>
              </a:rPr>
              <a:t/>
            </a:r>
            <a:r>
              <a:rPr lang="en-US" altLang="ja-JP" sz="1200" dirty="0">
                <a:solidFill>
                  <a:srgbClr val="1C2233"/>
                </a:solidFill>
                <a:ea typeface="メイリオ"/>
              </a:rPr>
              <a:t/>
            </a:r>
            <a:r>
              <a:rPr lang="ja-JP" altLang="en-US" sz="1200" dirty="0">
                <a:solidFill>
                  <a:srgbClr val="1C2233"/>
                </a:solidFill>
                <a:ea typeface="メイリオ"/>
              </a:rPr>
              <a:t/>
            </a:r>
            <a:endParaRPr sz="1200" b="0" dirty="0">
              <a:solidFill>
                <a:srgbClr val="1C2233"/>
              </a:solidFill>
              <a:latin typeface="メイリオ"/>
              <a:ea typeface="メイリオ"/>
            </a:endParaRPr>
          </a:p>
        </p:txBody>
      </p:sp>
      <p:sp>
        <p:nvSpPr>
          <p:cNvPr id="8" name="Rectangle 7"/>
          <p:cNvSpPr/>
          <p:nvPr/>
        </p:nvSpPr>
        <p:spPr>
          <a:xfrm>
            <a:off x="384048" y="5500096"/>
            <a:ext cx="54864" cy="475488"/>
          </a:xfrm>
          <a:prstGeom prst="rect">
            <a:avLst/>
          </a:prstGeom>
          <a:solidFill>
            <a:srgbClr val="BF4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29768" y="5500096"/>
            <a:ext cx="9089136" cy="475488"/>
          </a:xfrm>
          <a:prstGeom prst="rect">
            <a:avLst/>
          </a:prstGeom>
          <a:solidFill>
            <a:srgbClr val="FDEF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71500" y="5623560"/>
            <a:ext cx="8814816" cy="215444"/>
          </a:xfrm>
          <a:prstGeom prst="rect">
            <a:avLst/>
          </a:prstGeom>
          <a:noFill/>
        </p:spPr>
        <p:txBody>
          <a:bodyPr wrap="square" lIns="0" tIns="0" rIns="0" bIns="0">
            <a:spAutoFit/>
          </a:bodyPr>
          <a:lstStyle/>
          <a:p>
            <a:r>
              <a:rPr sz="1400" b="0" dirty="0" err="1">
                <a:solidFill>
                  <a:srgbClr val="1C2233"/>
                </a:solidFill>
                <a:latin typeface="メイリオ"/>
                <a:ea typeface="メイリオ"/>
              </a:rPr>
              <a:t>中堅規模で「集める力」と「育てる力」を両立する会社はまだない</a:t>
            </a:r>
            <a:r>
              <a:rPr sz="1400" b="0" dirty="0">
                <a:solidFill>
                  <a:srgbClr val="1C2233"/>
                </a:solidFill>
                <a:latin typeface="メイリオ"/>
                <a:ea typeface="メイリオ"/>
              </a:rPr>
              <a:t>。</a:t>
            </a:r>
          </a:p>
        </p:txBody>
      </p:sp>
      <p:sp>
        <p:nvSpPr>
          <p:cNvPr id="11" name="TextBox 10"/>
          <p:cNvSpPr txBox="1"/>
          <p:nvPr/>
        </p:nvSpPr>
        <p:spPr>
          <a:xfrm>
            <a:off x="384048" y="6126480"/>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出典：page.line.me（LINEヤフー社公式ページ）2026/8/17実測。過去値は同ページのWayback Machine保存版（保存日：カーブス2024/8・フィットイージー2024/10・ティップネス2022/6）。保存版が無い社は「―」。ライザップは公式ページ非公開。</a:t>
            </a:r>
          </a:p>
        </p:txBody>
      </p:sp>
    </p:spTree>
    <p:extLst>
      <p:ext uri="{BB962C8B-B14F-4D97-AF65-F5344CB8AC3E}">
        <p14:creationId xmlns:p14="http://schemas.microsoft.com/office/powerpoint/2010/main" val="22502207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運用の成功事例｜カーブス</a:t>
            </a:r>
          </a:p>
        </p:txBody>
      </p:sp>
      <p:sp>
        <p:nvSpPr>
          <p:cNvPr id="3" name="TextBox 2"/>
          <p:cNvSpPr txBox="1"/>
          <p:nvPr/>
        </p:nvSpPr>
        <p:spPr>
          <a:xfrm>
            <a:off x="384048" y="731520"/>
            <a:ext cx="9134856" cy="310896"/>
          </a:xfrm>
          <a:prstGeom prst="rect">
            <a:avLst/>
          </a:prstGeom>
          <a:noFill/>
        </p:spPr>
        <p:txBody>
          <a:bodyPr wrap="square" lIns="0" tIns="0" rIns="0" bIns="0">
            <a:spAutoFit/>
          </a:bodyPr>
          <a:lstStyle/>
          <a:p>
            <a:r>
              <a:rPr sz="1500" b="0">
                <a:solidFill>
                  <a:srgbClr val="646C82"/>
                </a:solidFill>
                <a:latin typeface="メイリオ"/>
                <a:ea typeface="メイリオ"/>
              </a:rPr>
              <a:t>友だち592万人。ジム・フィットネスでも最大級のLINE公式アカウントです。</a:t>
            </a:r>
          </a:p>
          <a:p>
            <a:r>
              <a:rPr sz="1500" b="0">
                <a:solidFill>
                  <a:srgbClr val="646C82"/>
                </a:solidFill>
                <a:latin typeface="メイリオ"/>
                <a:ea typeface="メイリオ"/>
              </a:rPr>
              <a:t>毎月「期限つきの無料体験」を、あいさつ・配信・リッチメニューで案内し続けています。</a:t>
            </a:r>
          </a:p>
        </p:txBody>
      </p:sp>
      <p:sp>
        <p:nvSpPr>
          <p:cNvPr id="5" name="Rectangle 4"/>
          <p:cNvSpPr/>
          <p:nvPr/>
        </p:nvSpPr>
        <p:spPr>
          <a:xfrm>
            <a:off x="384048" y="5623560"/>
            <a:ext cx="54864" cy="475488"/>
          </a:xfrm>
          <a:prstGeom prst="rect">
            <a:avLst/>
          </a:prstGeom>
          <a:solidFill>
            <a:srgbClr val="BF4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29768" y="5623560"/>
            <a:ext cx="9089136" cy="475488"/>
          </a:xfrm>
          <a:prstGeom prst="rect">
            <a:avLst/>
          </a:prstGeom>
          <a:solidFill>
            <a:srgbClr val="FDEF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5788152"/>
            <a:ext cx="8814816" cy="215444"/>
          </a:xfrm>
          <a:prstGeom prst="rect">
            <a:avLst/>
          </a:prstGeom>
          <a:noFill/>
        </p:spPr>
        <p:txBody>
          <a:bodyPr wrap="square" lIns="0" tIns="0" rIns="0" bIns="0">
            <a:spAutoFit/>
          </a:bodyPr>
          <a:lstStyle/>
          <a:p>
            <a:r>
              <a:rPr sz="1400" b="0" dirty="0" err="1">
                <a:solidFill>
                  <a:srgbClr val="1C2233"/>
                </a:solidFill>
                <a:latin typeface="メイリオ"/>
                <a:ea typeface="メイリオ"/>
              </a:rPr>
              <a:t>大規模でも、やっていることは「期限つきの無料体験」を毎月案内し続けるシンプルな型。</a:t>
            </a:r>
          </a:p>
        </p:txBody>
      </p:sp>
      <p:sp>
        <p:nvSpPr>
          <p:cNvPr id="8" name="TextBox 7"/>
          <p:cNvSpPr txBox="1"/>
          <p:nvPr/>
        </p:nvSpPr>
        <p:spPr>
          <a:xfrm>
            <a:off x="384048" y="6163056"/>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友だち数：page.line.me（LINEヤフー社公式ページ）2026/8/17実測・過去値は同ページの保存版（2024/8）。会員数：カーブスホールディングス 決算補足資料（2026年8月期 第3四半期・2026年5月末）。配信：弊社確認（2026年7〜10月）。</a:t>
            </a:r>
          </a:p>
        </p:txBody>
      </p:sp>
      <p:sp>
        <p:nvSpPr>
          <p:cNvPr id="9" name="Rounded Rectangle 8"/>
          <p:cNvSpPr/>
          <p:nvPr/>
        </p:nvSpPr>
        <p:spPr>
          <a:xfrm>
            <a:off x="384048" y="1371600"/>
            <a:ext cx="2880360" cy="1371600"/>
          </a:xfrm>
          <a:prstGeom prst="roundRect">
            <a:avLst>
              <a:gd name="adj" fmla="val 8000"/>
            </a:avLst>
          </a:prstGeom>
          <a:solidFill>
            <a:srgbClr val="EFF1F7"/>
          </a:solidFill>
          <a:ln w="9525">
            <a:solidFill>
              <a:srgbClr val="C6CADD"/>
            </a:solidFill>
          </a:ln>
        </p:spPr>
        <p:txBody>
          <a:bodyPr wrap="square" lIns="73152" tIns="36576" rIns="73152" bIns="36576" rtlCol="0" anchor="ctr">
            <a:noAutofit/>
          </a:bodyPr>
          <a:lstStyle/>
          <a:p>
            <a:pPr algn="ctr">
              <a:lnSpc>
                <a:spcPct val="100000"/>
              </a:lnSpc>
              <a:buNone/>
            </a:pPr>
            <a:r>
              <a:rPr lang="ja-JP" altLang="en-US" sz="1100" b="1" dirty="0">
                <a:solidFill>
                  <a:srgbClr val="1F2A5C"/>
                </a:solidFill>
                <a:latin typeface="メイリオ" panose="020B0604030504040204" pitchFamily="50" charset="-128"/>
                <a:ea typeface="メイリオ" panose="020B0604030504040204" pitchFamily="50" charset="-128"/>
              </a:rPr>
              <a:t>友だち数</a:t>
            </a:r>
            <a:endParaRPr lang="ja-JP" altLang="en-US" sz="1200" dirty="0"/>
          </a:p>
          <a:p>
            <a:pPr algn="ctr">
              <a:lnSpc>
                <a:spcPct val="100000"/>
              </a:lnSpc>
              <a:buNone/>
            </a:pPr>
            <a:r>
              <a:rPr lang="ja-JP" altLang="en-US" sz="3000" b="1" dirty="0">
                <a:solidFill>
                  <a:srgbClr val="BF4E0E"/>
                </a:solidFill>
                <a:latin typeface="メイリオ" panose="020B0604030504040204" pitchFamily="50" charset="-128"/>
                <a:ea typeface="メイリオ" panose="020B0604030504040204" pitchFamily="50" charset="-128"/>
              </a:rPr>
              <a:t>592万人</a:t>
            </a:r>
            <a:endParaRPr lang="ja-JP" altLang="en-US" sz="1200" dirty="0"/>
          </a:p>
          <a:p>
            <a:pPr algn="ctr">
              <a:lnSpc>
                <a:spcPct val="100000"/>
              </a:lnSpc>
              <a:buNone/>
            </a:pPr>
            <a:r>
              <a:rPr lang="ja-JP" altLang="en-US" sz="950" b="0" dirty="0">
                <a:solidFill>
                  <a:srgbClr val="646C82"/>
                </a:solidFill>
                <a:latin typeface="メイリオ" panose="020B0604030504040204" pitchFamily="50" charset="-128"/>
                <a:ea typeface="メイリオ" panose="020B0604030504040204" pitchFamily="50" charset="-128"/>
              </a:rPr>
              <a:t>2026年8月の実測</a:t>
            </a:r>
            <a:endParaRPr lang="ja-JP" altLang="en-US" sz="1200" dirty="0"/>
          </a:p>
        </p:txBody>
      </p:sp>
      <p:sp>
        <p:nvSpPr>
          <p:cNvPr id="10" name="Rounded Rectangle 9"/>
          <p:cNvSpPr/>
          <p:nvPr/>
        </p:nvSpPr>
        <p:spPr>
          <a:xfrm>
            <a:off x="3511296" y="1371600"/>
            <a:ext cx="2880360" cy="1371600"/>
          </a:xfrm>
          <a:prstGeom prst="roundRect">
            <a:avLst>
              <a:gd name="adj" fmla="val 8000"/>
            </a:avLst>
          </a:prstGeom>
          <a:solidFill>
            <a:srgbClr val="EFF1F7"/>
          </a:solidFill>
          <a:ln w="9525">
            <a:solidFill>
              <a:srgbClr val="C6CADD"/>
            </a:solidFill>
          </a:ln>
        </p:spPr>
        <p:txBody>
          <a:bodyPr wrap="square" lIns="73152" tIns="36576" rIns="73152" bIns="36576" rtlCol="0" anchor="ctr">
            <a:noAutofit/>
          </a:bodyPr>
          <a:lstStyle/>
          <a:p>
            <a:pPr algn="ctr">
              <a:lnSpc>
                <a:spcPct val="100000"/>
              </a:lnSpc>
              <a:buNone/>
            </a:pPr>
            <a:r>
              <a:rPr lang="ja-JP" altLang="en-US" sz="1100" b="1" dirty="0">
                <a:solidFill>
                  <a:srgbClr val="1F2A5C"/>
                </a:solidFill>
                <a:latin typeface="メイリオ" panose="020B0604030504040204" pitchFamily="50" charset="-128"/>
                <a:ea typeface="メイリオ" panose="020B0604030504040204" pitchFamily="50" charset="-128"/>
              </a:rPr>
              <a:t>2年での伸び</a:t>
            </a:r>
            <a:endParaRPr lang="ja-JP" altLang="en-US" sz="1200" dirty="0"/>
          </a:p>
          <a:p>
            <a:pPr algn="ctr">
              <a:lnSpc>
                <a:spcPct val="100000"/>
              </a:lnSpc>
              <a:buNone/>
            </a:pPr>
            <a:r>
              <a:rPr lang="ja-JP" altLang="en-US" sz="3000" b="1" dirty="0">
                <a:solidFill>
                  <a:srgbClr val="BF4E0E"/>
                </a:solidFill>
                <a:latin typeface="メイリオ" panose="020B0604030504040204" pitchFamily="50" charset="-128"/>
                <a:ea typeface="メイリオ" panose="020B0604030504040204" pitchFamily="50" charset="-128"/>
              </a:rPr>
              <a:t>×2.6</a:t>
            </a:r>
            <a:endParaRPr lang="ja-JP" altLang="en-US" sz="1200" dirty="0"/>
          </a:p>
          <a:p>
            <a:pPr algn="ctr">
              <a:lnSpc>
                <a:spcPct val="100000"/>
              </a:lnSpc>
              <a:buNone/>
            </a:pPr>
            <a:r>
              <a:rPr lang="ja-JP" altLang="en-US" sz="950" b="0" dirty="0">
                <a:solidFill>
                  <a:srgbClr val="646C82"/>
                </a:solidFill>
                <a:latin typeface="メイリオ" panose="020B0604030504040204" pitchFamily="50" charset="-128"/>
                <a:ea typeface="メイリオ" panose="020B0604030504040204" pitchFamily="50" charset="-128"/>
              </a:rPr>
              <a:t>2024年8月 約228万人 → 2026年8月</a:t>
            </a:r>
            <a:endParaRPr lang="ja-JP" altLang="en-US" sz="1200" dirty="0"/>
          </a:p>
        </p:txBody>
      </p:sp>
      <p:sp>
        <p:nvSpPr>
          <p:cNvPr id="11" name="Rounded Rectangle 10"/>
          <p:cNvSpPr/>
          <p:nvPr/>
        </p:nvSpPr>
        <p:spPr>
          <a:xfrm>
            <a:off x="6638544" y="1371600"/>
            <a:ext cx="2880360" cy="1371600"/>
          </a:xfrm>
          <a:prstGeom prst="roundRect">
            <a:avLst>
              <a:gd name="adj" fmla="val 8000"/>
            </a:avLst>
          </a:prstGeom>
          <a:solidFill>
            <a:srgbClr val="EFF1F7"/>
          </a:solidFill>
          <a:ln w="9525">
            <a:solidFill>
              <a:srgbClr val="C6CADD"/>
            </a:solidFill>
          </a:ln>
        </p:spPr>
        <p:txBody>
          <a:bodyPr wrap="square" lIns="73152" tIns="36576" rIns="73152" bIns="36576" rtlCol="0" anchor="ctr">
            <a:noAutofit/>
          </a:bodyPr>
          <a:lstStyle/>
          <a:p>
            <a:pPr algn="ctr">
              <a:lnSpc>
                <a:spcPct val="100000"/>
              </a:lnSpc>
              <a:buNone/>
            </a:pPr>
            <a:r>
              <a:rPr lang="ja-JP" altLang="en-US" sz="1100" b="1" dirty="0">
                <a:solidFill>
                  <a:srgbClr val="1F2A5C"/>
                </a:solidFill>
                <a:latin typeface="メイリオ" panose="020B0604030504040204" pitchFamily="50" charset="-128"/>
                <a:ea typeface="メイリオ" panose="020B0604030504040204" pitchFamily="50" charset="-128"/>
              </a:rPr>
              <a:t>会員数に対する友だち数</a:t>
            </a:r>
            <a:endParaRPr lang="ja-JP" altLang="en-US" sz="1200" dirty="0"/>
          </a:p>
          <a:p>
            <a:pPr algn="ctr">
              <a:lnSpc>
                <a:spcPct val="100000"/>
              </a:lnSpc>
              <a:buNone/>
            </a:pPr>
            <a:r>
              <a:rPr lang="ja-JP" altLang="en-US" sz="3000" b="1" dirty="0">
                <a:solidFill>
                  <a:srgbClr val="BF4E0E"/>
                </a:solidFill>
                <a:latin typeface="メイリオ" panose="020B0604030504040204" pitchFamily="50" charset="-128"/>
                <a:ea typeface="メイリオ" panose="020B0604030504040204" pitchFamily="50" charset="-128"/>
              </a:rPr>
              <a:t>約6.7倍</a:t>
            </a:r>
            <a:endParaRPr lang="ja-JP" altLang="en-US" sz="1200" dirty="0"/>
          </a:p>
          <a:p>
            <a:pPr algn="ctr">
              <a:lnSpc>
                <a:spcPct val="100000"/>
              </a:lnSpc>
              <a:buNone/>
            </a:pPr>
            <a:r>
              <a:rPr lang="ja-JP" altLang="en-US" sz="950" b="0" dirty="0">
                <a:solidFill>
                  <a:srgbClr val="646C82"/>
                </a:solidFill>
                <a:latin typeface="メイリオ" panose="020B0604030504040204" pitchFamily="50" charset="-128"/>
                <a:ea typeface="メイリオ" panose="020B0604030504040204" pitchFamily="50" charset="-128"/>
              </a:rPr>
              <a:t>会員 89.0万人（2026年5月末）に対して</a:t>
            </a:r>
            <a:endParaRPr lang="ja-JP" altLang="en-US" sz="1200" dirty="0"/>
          </a:p>
        </p:txBody>
      </p:sp>
      <p:sp>
        <p:nvSpPr>
          <p:cNvPr id="12" name="Rectangle 11"/>
          <p:cNvSpPr/>
          <p:nvPr/>
        </p:nvSpPr>
        <p:spPr>
          <a:xfrm>
            <a:off x="384048" y="2926080"/>
            <a:ext cx="9134856" cy="274320"/>
          </a:xfrm>
          <a:prstGeom prst="rect">
            <a:avLst/>
          </a:prstGeom>
          <a:noFill/>
          <a:ln>
            <a:noFill/>
          </a:ln>
        </p:spPr>
        <p:txBody>
          <a:bodyPr wrap="square" lIns="0" tIns="0" rIns="0" bIns="0" rtlCol="0" anchor="ctr">
            <a:noAutofit/>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実際の配信の流れ（2026年7〜10月・弊社で確認）</a:t>
            </a:r>
            <a:endParaRPr lang="ja-JP" altLang="en-US" sz="1200" dirty="0"/>
          </a:p>
        </p:txBody>
      </p:sp>
      <p:sp>
        <p:nvSpPr>
          <p:cNvPr id="13" name="Rectangle 12"/>
          <p:cNvSpPr/>
          <p:nvPr/>
        </p:nvSpPr>
        <p:spPr>
          <a:xfrm>
            <a:off x="384048" y="3538728"/>
            <a:ext cx="1446276" cy="1371600"/>
          </a:xfrm>
          <a:prstGeom prst="rect">
            <a:avLst/>
          </a:prstGeom>
          <a:solidFill>
            <a:srgbClr val="FFFFFF"/>
          </a:solidFill>
          <a:ln w="9525">
            <a:solidFill>
              <a:srgbClr val="C6CADD"/>
            </a:solidFill>
          </a:ln>
        </p:spPr>
        <p:txBody>
          <a:bodyPr wrap="square" lIns="36576" tIns="36576" rIns="36576" bIns="36576" rtlCol="0" anchor="ctr">
            <a:noAutofit/>
          </a:bodyPr>
          <a:lstStyle/>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5回無料体験の案内</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期限（7/31まで）と</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先着30名をバナーで</a:t>
            </a:r>
            <a:endParaRPr lang="ja-JP" altLang="en-US" sz="1000" dirty="0"/>
          </a:p>
        </p:txBody>
      </p:sp>
      <p:sp>
        <p:nvSpPr>
          <p:cNvPr id="14" name="Rectangle 13"/>
          <p:cNvSpPr/>
          <p:nvPr/>
        </p:nvSpPr>
        <p:spPr>
          <a:xfrm>
            <a:off x="384048" y="3246120"/>
            <a:ext cx="1446276" cy="292608"/>
          </a:xfrm>
          <a:prstGeom prst="rect">
            <a:avLst/>
          </a:prstGeom>
          <a:solidFill>
            <a:srgbClr val="1F2A5C"/>
          </a:solidFill>
          <a:ln>
            <a:noFill/>
          </a:ln>
        </p:spPr>
        <p:txBody>
          <a:bodyPr wrap="square" lIns="18288" tIns="0" rIns="18288" bIns="0" rtlCol="0" anchor="ctr">
            <a:noAutofit/>
          </a:bodyPr>
          <a:lstStyle/>
          <a:p>
            <a:pPr algn="ctr">
              <a:buNone/>
            </a:pPr>
            <a:r>
              <a:rPr lang="ja-JP" altLang="en-US" sz="950" b="1" dirty="0">
                <a:solidFill>
                  <a:srgbClr val="FFFFFF"/>
                </a:solidFill>
                <a:latin typeface="メイリオ" panose="020B0604030504040204" pitchFamily="50" charset="-128"/>
                <a:ea typeface="メイリオ" panose="020B0604030504040204" pitchFamily="50" charset="-128"/>
              </a:rPr>
              <a:t>7/28｜あいさつ</a:t>
            </a:r>
            <a:endParaRPr lang="ja-JP" altLang="en-US" sz="950" dirty="0"/>
          </a:p>
        </p:txBody>
      </p:sp>
      <p:sp>
        <p:nvSpPr>
          <p:cNvPr id="15" name="Rectangle 14"/>
          <p:cNvSpPr/>
          <p:nvPr/>
        </p:nvSpPr>
        <p:spPr>
          <a:xfrm>
            <a:off x="1921764" y="3538728"/>
            <a:ext cx="1446276" cy="1371600"/>
          </a:xfrm>
          <a:prstGeom prst="rect">
            <a:avLst/>
          </a:prstGeom>
          <a:solidFill>
            <a:srgbClr val="FFFFFF"/>
          </a:solidFill>
          <a:ln w="9525">
            <a:solidFill>
              <a:srgbClr val="C6CADD"/>
            </a:solidFill>
          </a:ln>
        </p:spPr>
        <p:txBody>
          <a:bodyPr wrap="square" lIns="36576" tIns="36576" rIns="36576" bIns="36576" rtlCol="0" anchor="ctr">
            <a:noAutofit/>
          </a:bodyPr>
          <a:lstStyle/>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会員の声の動画</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「半年で-6キロ」</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＋期限と予約ボタン</a:t>
            </a:r>
            <a:endParaRPr lang="ja-JP" altLang="en-US" sz="1000" dirty="0"/>
          </a:p>
        </p:txBody>
      </p:sp>
      <p:sp>
        <p:nvSpPr>
          <p:cNvPr id="16" name="Rectangle 15"/>
          <p:cNvSpPr/>
          <p:nvPr/>
        </p:nvSpPr>
        <p:spPr>
          <a:xfrm>
            <a:off x="1921764" y="3246120"/>
            <a:ext cx="1446276" cy="292608"/>
          </a:xfrm>
          <a:prstGeom prst="rect">
            <a:avLst/>
          </a:prstGeom>
          <a:solidFill>
            <a:srgbClr val="1F2A5C"/>
          </a:solidFill>
          <a:ln>
            <a:noFill/>
          </a:ln>
        </p:spPr>
        <p:txBody>
          <a:bodyPr wrap="square" lIns="18288" tIns="0" rIns="18288" bIns="0" rtlCol="0" anchor="ctr">
            <a:noAutofit/>
          </a:bodyPr>
          <a:lstStyle/>
          <a:p>
            <a:pPr algn="ctr">
              <a:buNone/>
            </a:pPr>
            <a:r>
              <a:rPr lang="ja-JP" altLang="en-US" sz="950" b="1" dirty="0">
                <a:solidFill>
                  <a:srgbClr val="FFFFFF"/>
                </a:solidFill>
                <a:latin typeface="メイリオ" panose="020B0604030504040204" pitchFamily="50" charset="-128"/>
                <a:ea typeface="メイリオ" panose="020B0604030504040204" pitchFamily="50" charset="-128"/>
              </a:rPr>
              <a:t>7/28｜配信</a:t>
            </a:r>
            <a:endParaRPr lang="ja-JP" altLang="en-US" sz="950" dirty="0"/>
          </a:p>
        </p:txBody>
      </p:sp>
      <p:sp>
        <p:nvSpPr>
          <p:cNvPr id="17" name="Rectangle 16"/>
          <p:cNvSpPr/>
          <p:nvPr/>
        </p:nvSpPr>
        <p:spPr>
          <a:xfrm>
            <a:off x="3459480" y="3538728"/>
            <a:ext cx="1446276" cy="1371600"/>
          </a:xfrm>
          <a:prstGeom prst="rect">
            <a:avLst/>
          </a:prstGeom>
          <a:solidFill>
            <a:srgbClr val="FFFFFF"/>
          </a:solidFill>
          <a:ln w="9525">
            <a:solidFill>
              <a:srgbClr val="C6CADD"/>
            </a:solidFill>
          </a:ln>
        </p:spPr>
        <p:txBody>
          <a:bodyPr wrap="square" lIns="36576" tIns="36576" rIns="36576" bIns="36576" rtlCol="0" anchor="ctr">
            <a:noAutofit/>
          </a:bodyPr>
          <a:lstStyle/>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締切前の告知</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動画</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＋カルーセル</a:t>
            </a:r>
            <a:endParaRPr lang="ja-JP" altLang="en-US" sz="1000" dirty="0"/>
          </a:p>
        </p:txBody>
      </p:sp>
      <p:sp>
        <p:nvSpPr>
          <p:cNvPr id="18" name="Rectangle 17"/>
          <p:cNvSpPr/>
          <p:nvPr/>
        </p:nvSpPr>
        <p:spPr>
          <a:xfrm>
            <a:off x="3459480" y="3246120"/>
            <a:ext cx="1446276" cy="292608"/>
          </a:xfrm>
          <a:prstGeom prst="rect">
            <a:avLst/>
          </a:prstGeom>
          <a:solidFill>
            <a:srgbClr val="1F2A5C"/>
          </a:solidFill>
          <a:ln>
            <a:noFill/>
          </a:ln>
        </p:spPr>
        <p:txBody>
          <a:bodyPr wrap="square" lIns="18288" tIns="0" rIns="18288" bIns="0" rtlCol="0" anchor="ctr">
            <a:noAutofit/>
          </a:bodyPr>
          <a:lstStyle/>
          <a:p>
            <a:pPr algn="ctr">
              <a:buNone/>
            </a:pPr>
            <a:r>
              <a:rPr lang="ja-JP" altLang="en-US" sz="950" b="1" dirty="0">
                <a:solidFill>
                  <a:srgbClr val="FFFFFF"/>
                </a:solidFill>
                <a:latin typeface="メイリオ" panose="020B0604030504040204" pitchFamily="50" charset="-128"/>
                <a:ea typeface="メイリオ" panose="020B0604030504040204" pitchFamily="50" charset="-128"/>
              </a:rPr>
              <a:t>7月下旬｜配信</a:t>
            </a:r>
            <a:endParaRPr lang="ja-JP" altLang="en-US" sz="950" dirty="0"/>
          </a:p>
        </p:txBody>
      </p:sp>
      <p:sp>
        <p:nvSpPr>
          <p:cNvPr id="19" name="Rectangle 18"/>
          <p:cNvSpPr/>
          <p:nvPr/>
        </p:nvSpPr>
        <p:spPr>
          <a:xfrm>
            <a:off x="4997196" y="3538728"/>
            <a:ext cx="1446276" cy="1371600"/>
          </a:xfrm>
          <a:prstGeom prst="rect">
            <a:avLst/>
          </a:prstGeom>
          <a:solidFill>
            <a:srgbClr val="FFFFFF"/>
          </a:solidFill>
          <a:ln w="9525">
            <a:solidFill>
              <a:srgbClr val="C6CADD"/>
            </a:solidFill>
          </a:ln>
        </p:spPr>
        <p:txBody>
          <a:bodyPr wrap="square" lIns="36576" tIns="36576" rIns="36576" bIns="36576" rtlCol="0" anchor="ctr">
            <a:noAutofit/>
          </a:bodyPr>
          <a:lstStyle/>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会員の声の動画</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＋9月の特典</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1か月無料</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（9/30まで）</a:t>
            </a:r>
            <a:endParaRPr lang="ja-JP" altLang="en-US" sz="1000" dirty="0"/>
          </a:p>
        </p:txBody>
      </p:sp>
      <p:sp>
        <p:nvSpPr>
          <p:cNvPr id="20" name="Rectangle 19"/>
          <p:cNvSpPr/>
          <p:nvPr/>
        </p:nvSpPr>
        <p:spPr>
          <a:xfrm>
            <a:off x="4997196" y="3246120"/>
            <a:ext cx="1446276" cy="292608"/>
          </a:xfrm>
          <a:prstGeom prst="rect">
            <a:avLst/>
          </a:prstGeom>
          <a:solidFill>
            <a:srgbClr val="1F2A5C"/>
          </a:solidFill>
          <a:ln>
            <a:noFill/>
          </a:ln>
        </p:spPr>
        <p:txBody>
          <a:bodyPr wrap="square" lIns="18288" tIns="0" rIns="18288" bIns="0" rtlCol="0" anchor="ctr">
            <a:noAutofit/>
          </a:bodyPr>
          <a:lstStyle/>
          <a:p>
            <a:pPr algn="ctr">
              <a:buNone/>
            </a:pPr>
            <a:r>
              <a:rPr lang="ja-JP" altLang="en-US" sz="950" b="1" dirty="0">
                <a:solidFill>
                  <a:srgbClr val="FFFFFF"/>
                </a:solidFill>
                <a:latin typeface="メイリオ" panose="020B0604030504040204" pitchFamily="50" charset="-128"/>
                <a:ea typeface="メイリオ" panose="020B0604030504040204" pitchFamily="50" charset="-128"/>
              </a:rPr>
              <a:t>8/27｜配信</a:t>
            </a:r>
            <a:endParaRPr lang="ja-JP" altLang="en-US" sz="950" dirty="0"/>
          </a:p>
        </p:txBody>
      </p:sp>
      <p:sp>
        <p:nvSpPr>
          <p:cNvPr id="21" name="Rectangle 20"/>
          <p:cNvSpPr/>
          <p:nvPr/>
        </p:nvSpPr>
        <p:spPr>
          <a:xfrm>
            <a:off x="6534912" y="3538728"/>
            <a:ext cx="1446276" cy="1371600"/>
          </a:xfrm>
          <a:prstGeom prst="rect">
            <a:avLst/>
          </a:prstGeom>
          <a:solidFill>
            <a:srgbClr val="FFFFFF"/>
          </a:solidFill>
          <a:ln w="9525">
            <a:solidFill>
              <a:srgbClr val="C6CADD"/>
            </a:solidFill>
          </a:ln>
        </p:spPr>
        <p:txBody>
          <a:bodyPr wrap="square" lIns="36576" tIns="36576" rIns="36576" bIns="36576" rtlCol="0" anchor="ctr">
            <a:noAutofit/>
          </a:bodyPr>
          <a:lstStyle/>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締切前の告知</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PEANUTSとのコラボ</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＋カルーセル</a:t>
            </a:r>
            <a:endParaRPr lang="ja-JP" altLang="en-US" sz="1000" dirty="0"/>
          </a:p>
        </p:txBody>
      </p:sp>
      <p:sp>
        <p:nvSpPr>
          <p:cNvPr id="22" name="Rectangle 21"/>
          <p:cNvSpPr/>
          <p:nvPr/>
        </p:nvSpPr>
        <p:spPr>
          <a:xfrm>
            <a:off x="6534912" y="3246120"/>
            <a:ext cx="1446276" cy="292608"/>
          </a:xfrm>
          <a:prstGeom prst="rect">
            <a:avLst/>
          </a:prstGeom>
          <a:solidFill>
            <a:srgbClr val="1F2A5C"/>
          </a:solidFill>
          <a:ln>
            <a:noFill/>
          </a:ln>
        </p:spPr>
        <p:txBody>
          <a:bodyPr wrap="square" lIns="18288" tIns="0" rIns="18288" bIns="0" rtlCol="0" anchor="ctr">
            <a:noAutofit/>
          </a:bodyPr>
          <a:lstStyle/>
          <a:p>
            <a:pPr algn="ctr">
              <a:buNone/>
            </a:pPr>
            <a:r>
              <a:rPr lang="ja-JP" altLang="en-US" sz="950" b="1" dirty="0">
                <a:solidFill>
                  <a:srgbClr val="FFFFFF"/>
                </a:solidFill>
                <a:latin typeface="メイリオ" panose="020B0604030504040204" pitchFamily="50" charset="-128"/>
                <a:ea typeface="メイリオ" panose="020B0604030504040204" pitchFamily="50" charset="-128"/>
              </a:rPr>
              <a:t>9/26｜配信</a:t>
            </a:r>
            <a:endParaRPr lang="ja-JP" altLang="en-US" sz="950" dirty="0"/>
          </a:p>
        </p:txBody>
      </p:sp>
      <p:sp>
        <p:nvSpPr>
          <p:cNvPr id="23" name="Rectangle 22"/>
          <p:cNvSpPr/>
          <p:nvPr/>
        </p:nvSpPr>
        <p:spPr>
          <a:xfrm>
            <a:off x="8072628" y="3538728"/>
            <a:ext cx="1446276" cy="1371600"/>
          </a:xfrm>
          <a:prstGeom prst="rect">
            <a:avLst/>
          </a:prstGeom>
          <a:solidFill>
            <a:srgbClr val="FFFFFF"/>
          </a:solidFill>
          <a:ln w="9525">
            <a:solidFill>
              <a:srgbClr val="C6CADD"/>
            </a:solidFill>
          </a:ln>
        </p:spPr>
        <p:txBody>
          <a:bodyPr wrap="square" lIns="36576" tIns="36576" rIns="36576" bIns="36576" rtlCol="0" anchor="ctr">
            <a:noAutofit/>
          </a:bodyPr>
          <a:lstStyle/>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10回無料体験</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（10/31まで）</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＋無料スタンプ配布</a:t>
            </a:r>
            <a:endParaRPr lang="ja-JP" altLang="en-US" sz="1000" dirty="0"/>
          </a:p>
        </p:txBody>
      </p:sp>
      <p:sp>
        <p:nvSpPr>
          <p:cNvPr id="24" name="Rectangle 23"/>
          <p:cNvSpPr/>
          <p:nvPr/>
        </p:nvSpPr>
        <p:spPr>
          <a:xfrm>
            <a:off x="8072628" y="3246120"/>
            <a:ext cx="1446276" cy="292608"/>
          </a:xfrm>
          <a:prstGeom prst="rect">
            <a:avLst/>
          </a:prstGeom>
          <a:solidFill>
            <a:srgbClr val="1F2A5C"/>
          </a:solidFill>
          <a:ln>
            <a:noFill/>
          </a:ln>
        </p:spPr>
        <p:txBody>
          <a:bodyPr wrap="square" lIns="18288" tIns="0" rIns="18288" bIns="0" rtlCol="0" anchor="ctr">
            <a:noAutofit/>
          </a:bodyPr>
          <a:lstStyle/>
          <a:p>
            <a:pPr algn="ctr">
              <a:buNone/>
            </a:pPr>
            <a:r>
              <a:rPr lang="ja-JP" altLang="en-US" sz="950" b="1" dirty="0">
                <a:solidFill>
                  <a:srgbClr val="FFFFFF"/>
                </a:solidFill>
                <a:latin typeface="メイリオ" panose="020B0604030504040204" pitchFamily="50" charset="-128"/>
                <a:ea typeface="メイリオ" panose="020B0604030504040204" pitchFamily="50" charset="-128"/>
              </a:rPr>
              <a:t>10月｜リッチメニュー</a:t>
            </a:r>
            <a:endParaRPr lang="ja-JP" altLang="en-US" sz="950" dirty="0"/>
          </a:p>
        </p:txBody>
      </p:sp>
      <p:sp>
        <p:nvSpPr>
          <p:cNvPr id="25" name="Rectangle 24"/>
          <p:cNvSpPr/>
          <p:nvPr/>
        </p:nvSpPr>
        <p:spPr>
          <a:xfrm>
            <a:off x="384048" y="5029200"/>
            <a:ext cx="9134856" cy="256032"/>
          </a:xfrm>
          <a:prstGeom prst="rect">
            <a:avLst/>
          </a:prstGeom>
          <a:noFill/>
          <a:ln>
            <a:noFill/>
          </a:ln>
        </p:spPr>
        <p:txBody>
          <a:bodyPr wrap="square" lIns="0" tIns="0" rIns="0" bIns="0" rtlCol="0" anchor="ctr">
            <a:noAutofit/>
          </a:bodyPr>
          <a:lstStyle/>
          <a:p>
            <a:pPr algn="l">
              <a:buNone/>
            </a:pPr>
            <a:r>
              <a:rPr lang="ja-JP" altLang="en-US" sz="950" b="0" dirty="0">
                <a:solidFill>
                  <a:srgbClr val="646C82"/>
                </a:solidFill>
                <a:latin typeface="メイリオ" panose="020B0604030504040204" pitchFamily="50" charset="-128"/>
                <a:ea typeface="メイリオ" panose="020B0604030504040204" pitchFamily="50" charset="-128"/>
              </a:rPr>
              <a:t>※ 特典は月ごとに替わる（7月＝5回無料／9月＝1か月無料／10月＝10回無料）。配信では毎回、期限と「見学だけでもOK」をセットにしている。</a:t>
            </a:r>
            <a:endParaRPr lang="ja-JP" altLang="en-US" sz="950" dirty="0"/>
          </a:p>
        </p:txBody>
      </p:sp>
    </p:spTree>
    <p:extLst>
      <p:ext uri="{BB962C8B-B14F-4D97-AF65-F5344CB8AC3E}">
        <p14:creationId xmlns:p14="http://schemas.microsoft.com/office/powerpoint/2010/main" val="4354317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カーブスの実際の画面</a:t>
            </a:r>
          </a:p>
        </p:txBody>
      </p:sp>
      <p:sp>
        <p:nvSpPr>
          <p:cNvPr id="3" name="TextBox 2"/>
          <p:cNvSpPr txBox="1"/>
          <p:nvPr/>
        </p:nvSpPr>
        <p:spPr>
          <a:xfrm>
            <a:off x="384048" y="731520"/>
            <a:ext cx="9134856" cy="310896"/>
          </a:xfrm>
          <a:prstGeom prst="rect">
            <a:avLst/>
          </a:prstGeom>
          <a:noFill/>
        </p:spPr>
        <p:txBody>
          <a:bodyPr wrap="square" lIns="0" tIns="0" rIns="0" bIns="0">
            <a:spAutoFit/>
          </a:bodyPr>
          <a:lstStyle/>
          <a:p>
            <a:r>
              <a:rPr sz="1500" b="0">
                <a:solidFill>
                  <a:srgbClr val="646C82"/>
                </a:solidFill>
                <a:latin typeface="メイリオ"/>
                <a:ea typeface="メイリオ"/>
              </a:rPr>
              <a:t>あいさつで期限つきの無料体験を案内し、その後の配信で動画や締切前の告知を重ねています。</a:t>
            </a:r>
          </a:p>
          <a:p>
            <a:r>
              <a:rPr sz="1500" b="0">
                <a:solidFill>
                  <a:srgbClr val="646C82"/>
                </a:solidFill>
                <a:latin typeface="メイリオ"/>
                <a:ea typeface="メイリオ"/>
              </a:rPr>
              <a:t>リッチメニューにも、その月の特典を表示しています。</a:t>
            </a:r>
          </a:p>
        </p:txBody>
      </p:sp>
      <p:sp>
        <p:nvSpPr>
          <p:cNvPr id="22" name="TextBox 21"/>
          <p:cNvSpPr txBox="1"/>
          <p:nvPr/>
        </p:nvSpPr>
        <p:spPr>
          <a:xfrm>
            <a:off x="384048" y="6217920"/>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画面：カーブス LINE公式アカウント（2026年7〜10月 弊社確認）</a:t>
            </a:r>
          </a:p>
        </p:txBody>
      </p:sp>
      <p:sp>
        <p:nvSpPr>
          <p:cNvPr id="23" name="Rounded Rectangle 22"/>
          <p:cNvSpPr/>
          <p:nvPr/>
        </p:nvSpPr>
        <p:spPr>
          <a:xfrm>
            <a:off x="384048" y="1417320"/>
            <a:ext cx="2103120" cy="292608"/>
          </a:xfrm>
          <a:prstGeom prst="roundRect">
            <a:avLst>
              <a:gd name="adj" fmla="val 20000"/>
            </a:avLst>
          </a:prstGeom>
          <a:solidFill>
            <a:srgbClr val="1F2A5C"/>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1　あいさつ（7/28）</a:t>
            </a:r>
            <a:endParaRPr lang="ja-JP" altLang="en-US" sz="1100" dirty="0"/>
          </a:p>
        </p:txBody>
      </p:sp>
      <p:pic>
        <p:nvPicPr>
          <p:cNvPr id="24" name="カーブス_いさつ（7/28）" descr=""/>
          <p:cNvPicPr>
            <a:picLocks noChangeAspect="1"/>
          </p:cNvPicPr>
          <p:nvPr/>
        </p:nvPicPr>
        <p:blipFill>
          <a:blip r:embed="rId101"/>
          <a:stretch>
            <a:fillRect/>
          </a:stretch>
        </p:blipFill>
        <p:spPr>
          <a:xfrm>
            <a:off x="570204" y="1792224"/>
            <a:ext cx="1730806" cy="3749039"/>
          </a:xfrm>
          <a:prstGeom prst="rect">
            <a:avLst/>
          </a:prstGeom>
          <a:ln w="9525">
            <a:solidFill>
              <a:srgbClr val="C6CADD"/>
            </a:solidFill>
          </a:ln>
        </p:spPr>
      </p:pic>
      <p:sp>
        <p:nvSpPr>
          <p:cNvPr id="25" name="Rectangle 24"/>
          <p:cNvSpPr/>
          <p:nvPr/>
        </p:nvSpPr>
        <p:spPr>
          <a:xfrm>
            <a:off x="384048" y="5596128"/>
            <a:ext cx="2103120" cy="457200"/>
          </a:xfrm>
          <a:prstGeom prst="rect">
            <a:avLst/>
          </a:prstGeom>
          <a:noFill/>
          <a:ln>
            <a:noFill/>
          </a:ln>
        </p:spPr>
        <p:txBody>
          <a:bodyPr wrap="square" lIns="0" tIns="0" rIns="0" bIns="0" rtlCol="0" anchor="t">
            <a:noAutofit/>
          </a:bodyPr>
          <a:lstStyle/>
          <a:p>
            <a:pPr algn="ctr">
              <a:lnSpc>
                <a:spcPct val="105000"/>
              </a:lnSpc>
              <a:buNone/>
            </a:pPr>
            <a:r>
              <a:rPr lang="ja-JP" altLang="en-US" sz="1000" b="0" dirty="0">
                <a:solidFill>
                  <a:srgbClr val="1C2233"/>
                </a:solidFill>
                <a:latin typeface="メイリオ" panose="020B0604030504040204" pitchFamily="50" charset="-128"/>
                <a:ea typeface="メイリオ" panose="020B0604030504040204" pitchFamily="50" charset="-128"/>
              </a:rPr>
              <a:t>友だち追加の直後に</a:t>
            </a:r>
            <a:endParaRPr lang="ja-JP" altLang="en-US" sz="1000" dirty="0"/>
          </a:p>
          <a:p>
            <a:pPr algn="ctr">
              <a:lnSpc>
                <a:spcPct val="105000"/>
              </a:lnSpc>
              <a:buNone/>
            </a:pPr>
            <a:r>
              <a:rPr lang="ja-JP" altLang="en-US" sz="1000" b="0" dirty="0">
                <a:solidFill>
                  <a:srgbClr val="1C2233"/>
                </a:solidFill>
                <a:latin typeface="メイリオ" panose="020B0604030504040204" pitchFamily="50" charset="-128"/>
                <a:ea typeface="メイリオ" panose="020B0604030504040204" pitchFamily="50" charset="-128"/>
              </a:rPr>
              <a:t>無料体験と期限のバナー</a:t>
            </a:r>
            <a:endParaRPr lang="ja-JP" altLang="en-US" sz="1000" dirty="0"/>
          </a:p>
        </p:txBody>
      </p:sp>
      <p:sp>
        <p:nvSpPr>
          <p:cNvPr id="26" name="Rounded Rectangle 25"/>
          <p:cNvSpPr/>
          <p:nvPr/>
        </p:nvSpPr>
        <p:spPr>
          <a:xfrm>
            <a:off x="2727960" y="1417320"/>
            <a:ext cx="2103120" cy="292608"/>
          </a:xfrm>
          <a:prstGeom prst="roundRect">
            <a:avLst>
              <a:gd name="adj" fmla="val 20000"/>
            </a:avLst>
          </a:prstGeom>
          <a:solidFill>
            <a:srgbClr val="1F2A5C"/>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2　配信（7/28）</a:t>
            </a:r>
            <a:endParaRPr lang="ja-JP" altLang="en-US" sz="1100" dirty="0"/>
          </a:p>
        </p:txBody>
      </p:sp>
      <p:pic>
        <p:nvPicPr>
          <p:cNvPr id="27" name="カーブス_信（7/28）" descr=""/>
          <p:cNvPicPr>
            <a:picLocks noChangeAspect="1"/>
          </p:cNvPicPr>
          <p:nvPr/>
        </p:nvPicPr>
        <p:blipFill>
          <a:blip r:embed="rId102"/>
          <a:stretch>
            <a:fillRect/>
          </a:stretch>
        </p:blipFill>
        <p:spPr>
          <a:xfrm>
            <a:off x="2914116" y="1792224"/>
            <a:ext cx="1730806" cy="3749039"/>
          </a:xfrm>
          <a:prstGeom prst="rect">
            <a:avLst/>
          </a:prstGeom>
          <a:ln w="9525">
            <a:solidFill>
              <a:srgbClr val="C6CADD"/>
            </a:solidFill>
          </a:ln>
        </p:spPr>
      </p:pic>
      <p:sp>
        <p:nvSpPr>
          <p:cNvPr id="28" name="Rectangle 27"/>
          <p:cNvSpPr/>
          <p:nvPr/>
        </p:nvSpPr>
        <p:spPr>
          <a:xfrm>
            <a:off x="2727960" y="5596128"/>
            <a:ext cx="2103120" cy="457200"/>
          </a:xfrm>
          <a:prstGeom prst="rect">
            <a:avLst/>
          </a:prstGeom>
          <a:noFill/>
          <a:ln>
            <a:noFill/>
          </a:ln>
        </p:spPr>
        <p:txBody>
          <a:bodyPr wrap="square" lIns="0" tIns="0" rIns="0" bIns="0" rtlCol="0" anchor="t">
            <a:noAutofit/>
          </a:bodyPr>
          <a:lstStyle/>
          <a:p>
            <a:pPr algn="ctr">
              <a:lnSpc>
                <a:spcPct val="105000"/>
              </a:lnSpc>
              <a:buNone/>
            </a:pPr>
            <a:r>
              <a:rPr lang="ja-JP" altLang="en-US" sz="1000" b="0" dirty="0">
                <a:solidFill>
                  <a:srgbClr val="1C2233"/>
                </a:solidFill>
                <a:latin typeface="メイリオ" panose="020B0604030504040204" pitchFamily="50" charset="-128"/>
                <a:ea typeface="メイリオ" panose="020B0604030504040204" pitchFamily="50" charset="-128"/>
              </a:rPr>
              <a:t>会員の声の動画</a:t>
            </a:r>
            <a:endParaRPr lang="ja-JP" altLang="en-US" sz="1000" dirty="0"/>
          </a:p>
          <a:p>
            <a:pPr algn="ctr">
              <a:lnSpc>
                <a:spcPct val="105000"/>
              </a:lnSpc>
              <a:buNone/>
            </a:pPr>
            <a:r>
              <a:rPr lang="ja-JP" altLang="en-US" sz="1000" b="0" dirty="0">
                <a:solidFill>
                  <a:srgbClr val="1C2233"/>
                </a:solidFill>
                <a:latin typeface="メイリオ" panose="020B0604030504040204" pitchFamily="50" charset="-128"/>
                <a:ea typeface="メイリオ" panose="020B0604030504040204" pitchFamily="50" charset="-128"/>
              </a:rPr>
              <a:t>＋期限と予約ボタン</a:t>
            </a:r>
            <a:endParaRPr lang="ja-JP" altLang="en-US" sz="1000" dirty="0"/>
          </a:p>
        </p:txBody>
      </p:sp>
      <p:sp>
        <p:nvSpPr>
          <p:cNvPr id="29" name="Rounded Rectangle 28"/>
          <p:cNvSpPr/>
          <p:nvPr/>
        </p:nvSpPr>
        <p:spPr>
          <a:xfrm>
            <a:off x="5071872" y="1417320"/>
            <a:ext cx="2103120" cy="292608"/>
          </a:xfrm>
          <a:prstGeom prst="roundRect">
            <a:avLst>
              <a:gd name="adj" fmla="val 20000"/>
            </a:avLst>
          </a:prstGeom>
          <a:solidFill>
            <a:srgbClr val="1F2A5C"/>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3　配信（9/26）</a:t>
            </a:r>
            <a:endParaRPr lang="ja-JP" altLang="en-US" sz="1100" dirty="0"/>
          </a:p>
        </p:txBody>
      </p:sp>
      <p:pic>
        <p:nvPicPr>
          <p:cNvPr id="30" name="カーブス_信（9/26）" descr=""/>
          <p:cNvPicPr>
            <a:picLocks noChangeAspect="1"/>
          </p:cNvPicPr>
          <p:nvPr/>
        </p:nvPicPr>
        <p:blipFill>
          <a:blip r:embed="rId103"/>
          <a:stretch>
            <a:fillRect/>
          </a:stretch>
        </p:blipFill>
        <p:spPr>
          <a:xfrm>
            <a:off x="5258028" y="1792224"/>
            <a:ext cx="1730806" cy="3749039"/>
          </a:xfrm>
          <a:prstGeom prst="rect">
            <a:avLst/>
          </a:prstGeom>
          <a:ln w="9525">
            <a:solidFill>
              <a:srgbClr val="C6CADD"/>
            </a:solidFill>
          </a:ln>
        </p:spPr>
      </p:pic>
      <p:sp>
        <p:nvSpPr>
          <p:cNvPr id="31" name="Rectangle 30"/>
          <p:cNvSpPr/>
          <p:nvPr/>
        </p:nvSpPr>
        <p:spPr>
          <a:xfrm>
            <a:off x="5071872" y="5596128"/>
            <a:ext cx="2103120" cy="457200"/>
          </a:xfrm>
          <a:prstGeom prst="rect">
            <a:avLst/>
          </a:prstGeom>
          <a:noFill/>
          <a:ln>
            <a:noFill/>
          </a:ln>
        </p:spPr>
        <p:txBody>
          <a:bodyPr wrap="square" lIns="0" tIns="0" rIns="0" bIns="0" rtlCol="0" anchor="t">
            <a:noAutofit/>
          </a:bodyPr>
          <a:lstStyle/>
          <a:p>
            <a:pPr algn="ctr">
              <a:lnSpc>
                <a:spcPct val="105000"/>
              </a:lnSpc>
              <a:buNone/>
            </a:pPr>
            <a:r>
              <a:rPr lang="ja-JP" altLang="en-US" sz="1000" b="0" dirty="0">
                <a:solidFill>
                  <a:srgbClr val="1C2233"/>
                </a:solidFill>
                <a:latin typeface="メイリオ" panose="020B0604030504040204" pitchFamily="50" charset="-128"/>
                <a:ea typeface="メイリオ" panose="020B0604030504040204" pitchFamily="50" charset="-128"/>
              </a:rPr>
              <a:t>締切前の告知</a:t>
            </a:r>
            <a:endParaRPr lang="ja-JP" altLang="en-US" sz="1000" dirty="0"/>
          </a:p>
          <a:p>
            <a:pPr algn="ctr">
              <a:lnSpc>
                <a:spcPct val="105000"/>
              </a:lnSpc>
              <a:buNone/>
            </a:pPr>
            <a:r>
              <a:rPr lang="ja-JP" altLang="en-US" sz="1000" b="0" dirty="0">
                <a:solidFill>
                  <a:srgbClr val="1C2233"/>
                </a:solidFill>
                <a:latin typeface="メイリオ" panose="020B0604030504040204" pitchFamily="50" charset="-128"/>
                <a:ea typeface="メイリオ" panose="020B0604030504040204" pitchFamily="50" charset="-128"/>
              </a:rPr>
              <a:t>動画＋カルーセル</a:t>
            </a:r>
            <a:endParaRPr lang="ja-JP" altLang="en-US" sz="1000" dirty="0"/>
          </a:p>
        </p:txBody>
      </p:sp>
      <p:sp>
        <p:nvSpPr>
          <p:cNvPr id="32" name="Rounded Rectangle 31"/>
          <p:cNvSpPr/>
          <p:nvPr/>
        </p:nvSpPr>
        <p:spPr>
          <a:xfrm>
            <a:off x="7415784" y="1417320"/>
            <a:ext cx="2103120" cy="292608"/>
          </a:xfrm>
          <a:prstGeom prst="roundRect">
            <a:avLst>
              <a:gd name="adj" fmla="val 20000"/>
            </a:avLst>
          </a:prstGeom>
          <a:solidFill>
            <a:srgbClr val="1F2A5C"/>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4　リッチメニュー（10月）</a:t>
            </a:r>
            <a:endParaRPr lang="ja-JP" altLang="en-US" sz="1100" dirty="0"/>
          </a:p>
        </p:txBody>
      </p:sp>
      <p:pic>
        <p:nvPicPr>
          <p:cNvPr id="33" name="カーブス_ッチメニュー（10月）" descr=""/>
          <p:cNvPicPr>
            <a:picLocks noChangeAspect="1"/>
          </p:cNvPicPr>
          <p:nvPr/>
        </p:nvPicPr>
        <p:blipFill>
          <a:blip r:embed="rId104"/>
          <a:stretch>
            <a:fillRect/>
          </a:stretch>
        </p:blipFill>
        <p:spPr>
          <a:xfrm>
            <a:off x="7601940" y="1792224"/>
            <a:ext cx="1730806" cy="3749039"/>
          </a:xfrm>
          <a:prstGeom prst="rect">
            <a:avLst/>
          </a:prstGeom>
          <a:ln w="9525">
            <a:solidFill>
              <a:srgbClr val="C6CADD"/>
            </a:solidFill>
          </a:ln>
        </p:spPr>
      </p:pic>
      <p:sp>
        <p:nvSpPr>
          <p:cNvPr id="34" name="Rectangle 33"/>
          <p:cNvSpPr/>
          <p:nvPr/>
        </p:nvSpPr>
        <p:spPr>
          <a:xfrm>
            <a:off x="7415784" y="5596128"/>
            <a:ext cx="2103120" cy="457200"/>
          </a:xfrm>
          <a:prstGeom prst="rect">
            <a:avLst/>
          </a:prstGeom>
          <a:noFill/>
          <a:ln>
            <a:noFill/>
          </a:ln>
        </p:spPr>
        <p:txBody>
          <a:bodyPr wrap="square" lIns="0" tIns="0" rIns="0" bIns="0" rtlCol="0" anchor="t">
            <a:noAutofit/>
          </a:bodyPr>
          <a:lstStyle/>
          <a:p>
            <a:pPr algn="ctr">
              <a:lnSpc>
                <a:spcPct val="105000"/>
              </a:lnSpc>
              <a:buNone/>
            </a:pPr>
            <a:r>
              <a:rPr lang="ja-JP" altLang="en-US" sz="1000" b="0" dirty="0">
                <a:solidFill>
                  <a:srgbClr val="1C2233"/>
                </a:solidFill>
                <a:latin typeface="メイリオ" panose="020B0604030504040204" pitchFamily="50" charset="-128"/>
                <a:ea typeface="メイリオ" panose="020B0604030504040204" pitchFamily="50" charset="-128"/>
              </a:rPr>
              <a:t>その月の特典を表示</a:t>
            </a:r>
            <a:endParaRPr lang="ja-JP" altLang="en-US" sz="1000" dirty="0"/>
          </a:p>
          <a:p>
            <a:pPr algn="ctr">
              <a:lnSpc>
                <a:spcPct val="105000"/>
              </a:lnSpc>
              <a:buNone/>
            </a:pPr>
            <a:r>
              <a:rPr lang="ja-JP" altLang="en-US" sz="1000" b="0" dirty="0">
                <a:solidFill>
                  <a:srgbClr val="1C2233"/>
                </a:solidFill>
                <a:latin typeface="メイリオ" panose="020B0604030504040204" pitchFamily="50" charset="-128"/>
                <a:ea typeface="メイリオ" panose="020B0604030504040204" pitchFamily="50" charset="-128"/>
              </a:rPr>
              <a:t>＋無料スタンプの配布</a:t>
            </a:r>
            <a:endParaRPr lang="ja-JP" altLang="en-US" sz="1000" dirty="0"/>
          </a:p>
        </p:txBody>
      </p:sp>
    </p:spTree>
    <p:extLst>
      <p:ext uri="{BB962C8B-B14F-4D97-AF65-F5344CB8AC3E}">
        <p14:creationId xmlns:p14="http://schemas.microsoft.com/office/powerpoint/2010/main" val="1532125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2A4235-DDB6-F649-58D2-961B2D0F3AC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D2809366-14CD-B7C0-993B-02E77316592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14AF9D62-76E2-92FA-477E-9FC9FEFA77D6}"/>
              </a:ext>
            </a:extLst>
          </p:cNvPr>
          <p:cNvSpPr/>
          <p:nvPr/>
        </p:nvSpPr>
        <p:spPr>
          <a:xfrm>
            <a:off x="3629577" y="3038203"/>
            <a:ext cx="2646878"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配信の考え方</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3647864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92180-D336-F255-C39D-17584774E38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C912E4CC-70AD-5529-2A5A-4FA0D1C97A2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全体設計想定</a:t>
            </a:r>
          </a:p>
        </p:txBody>
      </p:sp>
      <p:sp>
        <p:nvSpPr>
          <p:cNvPr id="9" name="正方形/長方形 8">
            <a:extLst>
              <a:ext uri="{FF2B5EF4-FFF2-40B4-BE49-F238E27FC236}">
                <a16:creationId xmlns:a16="http://schemas.microsoft.com/office/drawing/2014/main" id="{BD73628C-261B-9AE4-0B66-12C6BEDE3EDD}"/>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a:latin typeface="メイリオ" panose="020B0604030504040204" pitchFamily="50" charset="-128"/>
                <a:ea typeface="メイリオ" panose="020B0604030504040204" pitchFamily="50" charset="-128"/>
              </a:rPr>
              <a:t>集客動線</a:t>
            </a:r>
            <a:endParaRPr kumimoji="1" lang="ja-JP" altLang="en-US" sz="1400" dirty="0">
              <a:latin typeface="メイリオ" panose="020B0604030504040204" pitchFamily="50" charset="-128"/>
              <a:ea typeface="メイリオ" panose="020B0604030504040204" pitchFamily="50" charset="-128"/>
            </a:endParaRPr>
          </a:p>
        </p:txBody>
      </p:sp>
      <p:sp>
        <p:nvSpPr>
          <p:cNvPr id="3" name="Google Shape;752;p28">
            <a:extLst>
              <a:ext uri="{FF2B5EF4-FFF2-40B4-BE49-F238E27FC236}">
                <a16:creationId xmlns:a16="http://schemas.microsoft.com/office/drawing/2014/main" id="{AF6C2475-3BD5-7DF2-52BD-C0F30E8072CF}"/>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カスタマージャーニーマップにあわせて</a:t>
            </a:r>
            <a:r>
              <a:rPr lang="en-US" altLang="ja-JP" sz="1600" b="1" dirty="0">
                <a:latin typeface="メイリオ" panose="020B0604030504040204" pitchFamily="50" charset="-128"/>
                <a:ea typeface="メイリオ" panose="020B0604030504040204" pitchFamily="50" charset="-128"/>
                <a:cs typeface="Meiryo"/>
                <a:sym typeface="Meiryo"/>
              </a:rPr>
              <a:t>LINE</a:t>
            </a:r>
            <a:r>
              <a:rPr lang="ja-JP" altLang="en-US" sz="1600" b="1" dirty="0">
                <a:latin typeface="メイリオ" panose="020B0604030504040204" pitchFamily="50" charset="-128"/>
                <a:ea typeface="メイリオ" panose="020B0604030504040204" pitchFamily="50" charset="-128"/>
                <a:cs typeface="Meiryo"/>
                <a:sym typeface="Meiryo"/>
              </a:rPr>
              <a:t>投稿を配置。</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具体的な業界におけるリード</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有効リード</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マネタイズ については下記にて仮定</a:t>
            </a:r>
            <a:r>
              <a:rPr lang="ja-JP" altLang="en-US" sz="1600" b="1" dirty="0">
                <a:latin typeface="メイリオ" panose="020B0604030504040204" pitchFamily="50" charset="-128"/>
                <a:ea typeface="メイリオ" panose="020B0604030504040204" pitchFamily="50" charset="-128"/>
                <a:cs typeface="Meiryo"/>
                <a:sym typeface="Meiryo"/>
              </a:rPr>
              <a:t>。</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cxnSp>
        <p:nvCxnSpPr>
          <p:cNvPr id="2" name="直線コネクタ 1">
            <a:extLst>
              <a:ext uri="{FF2B5EF4-FFF2-40B4-BE49-F238E27FC236}">
                <a16:creationId xmlns:a16="http://schemas.microsoft.com/office/drawing/2014/main" id="{8D0721AE-E7E5-698E-E773-F2614C0DBB07}"/>
              </a:ext>
            </a:extLst>
          </p:cNvPr>
          <p:cNvCxnSpPr>
            <a:cxnSpLocks/>
          </p:cNvCxnSpPr>
          <p:nvPr/>
        </p:nvCxnSpPr>
        <p:spPr>
          <a:xfrm>
            <a:off x="315939" y="217881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 name="直線コネクタ 4">
            <a:extLst>
              <a:ext uri="{FF2B5EF4-FFF2-40B4-BE49-F238E27FC236}">
                <a16:creationId xmlns:a16="http://schemas.microsoft.com/office/drawing/2014/main" id="{3BFFC88E-A589-D631-D366-94F280EFF67D}"/>
              </a:ext>
            </a:extLst>
          </p:cNvPr>
          <p:cNvCxnSpPr>
            <a:cxnSpLocks/>
          </p:cNvCxnSpPr>
          <p:nvPr/>
        </p:nvCxnSpPr>
        <p:spPr>
          <a:xfrm>
            <a:off x="1265077" y="219068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D90E23BB-3076-5B7D-82F3-8433A2B09D1F}"/>
              </a:ext>
            </a:extLst>
          </p:cNvPr>
          <p:cNvCxnSpPr>
            <a:cxnSpLocks/>
          </p:cNvCxnSpPr>
          <p:nvPr/>
        </p:nvCxnSpPr>
        <p:spPr>
          <a:xfrm>
            <a:off x="2202413" y="218803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3A68BF14-4E95-B76C-1300-FF13B29BADF0}"/>
              </a:ext>
            </a:extLst>
          </p:cNvPr>
          <p:cNvCxnSpPr>
            <a:cxnSpLocks/>
          </p:cNvCxnSpPr>
          <p:nvPr/>
        </p:nvCxnSpPr>
        <p:spPr>
          <a:xfrm>
            <a:off x="3136468" y="220735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6558815C-4A36-8DFA-3258-ADAC642B44B6}"/>
              </a:ext>
            </a:extLst>
          </p:cNvPr>
          <p:cNvCxnSpPr>
            <a:cxnSpLocks/>
          </p:cNvCxnSpPr>
          <p:nvPr/>
        </p:nvCxnSpPr>
        <p:spPr>
          <a:xfrm>
            <a:off x="3541980" y="221793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9B24DBF0-6A3A-0783-C6E3-74B28D837D9E}"/>
              </a:ext>
            </a:extLst>
          </p:cNvPr>
          <p:cNvCxnSpPr>
            <a:cxnSpLocks/>
          </p:cNvCxnSpPr>
          <p:nvPr/>
        </p:nvCxnSpPr>
        <p:spPr>
          <a:xfrm>
            <a:off x="4833781" y="222980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D9F92929-7F37-647E-2D3E-0EB84FFB20D1}"/>
              </a:ext>
            </a:extLst>
          </p:cNvPr>
          <p:cNvCxnSpPr>
            <a:cxnSpLocks/>
          </p:cNvCxnSpPr>
          <p:nvPr/>
        </p:nvCxnSpPr>
        <p:spPr>
          <a:xfrm>
            <a:off x="6125582" y="222716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A53FD7B1-4120-4E04-0DDF-B4B54EDB9BFD}"/>
              </a:ext>
            </a:extLst>
          </p:cNvPr>
          <p:cNvCxnSpPr>
            <a:cxnSpLocks/>
          </p:cNvCxnSpPr>
          <p:nvPr/>
        </p:nvCxnSpPr>
        <p:spPr>
          <a:xfrm>
            <a:off x="7417384" y="221793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ABDE72C7-C765-8BB2-E494-8277E0D528BC}"/>
              </a:ext>
            </a:extLst>
          </p:cNvPr>
          <p:cNvSpPr txBox="1"/>
          <p:nvPr/>
        </p:nvSpPr>
        <p:spPr>
          <a:xfrm>
            <a:off x="3542139" y="212416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96BDDC66-06A4-F147-F6D6-595BB801B1D3}"/>
              </a:ext>
            </a:extLst>
          </p:cNvPr>
          <p:cNvSpPr txBox="1"/>
          <p:nvPr/>
        </p:nvSpPr>
        <p:spPr>
          <a:xfrm>
            <a:off x="6119413" y="253332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375707FE-6207-A0AF-61A0-E9AABECDAC37}"/>
              </a:ext>
            </a:extLst>
          </p:cNvPr>
          <p:cNvSpPr txBox="1"/>
          <p:nvPr/>
        </p:nvSpPr>
        <p:spPr>
          <a:xfrm>
            <a:off x="4830776" y="232874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49AFAACD-69A5-DAB7-2AB7-5204509E5CCB}"/>
              </a:ext>
            </a:extLst>
          </p:cNvPr>
          <p:cNvSpPr txBox="1"/>
          <p:nvPr/>
        </p:nvSpPr>
        <p:spPr>
          <a:xfrm>
            <a:off x="7408050" y="273790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8B260C5F-25D5-8ED9-9E9C-2E4B97F7FE0C}"/>
              </a:ext>
            </a:extLst>
          </p:cNvPr>
          <p:cNvSpPr txBox="1"/>
          <p:nvPr/>
        </p:nvSpPr>
        <p:spPr>
          <a:xfrm>
            <a:off x="334303" y="213025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9" name="テキスト ボックス 18">
            <a:extLst>
              <a:ext uri="{FF2B5EF4-FFF2-40B4-BE49-F238E27FC236}">
                <a16:creationId xmlns:a16="http://schemas.microsoft.com/office/drawing/2014/main" id="{D76A6924-9615-4D2D-207A-2C463DAF53AF}"/>
              </a:ext>
            </a:extLst>
          </p:cNvPr>
          <p:cNvSpPr txBox="1"/>
          <p:nvPr/>
        </p:nvSpPr>
        <p:spPr>
          <a:xfrm>
            <a:off x="1268358" y="234091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8C64E429-AF18-081D-2A8E-EDCE056C0C0B}"/>
              </a:ext>
            </a:extLst>
          </p:cNvPr>
          <p:cNvSpPr txBox="1"/>
          <p:nvPr/>
        </p:nvSpPr>
        <p:spPr>
          <a:xfrm>
            <a:off x="2202413" y="253502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21" name="テキスト ボックス 20">
            <a:extLst>
              <a:ext uri="{FF2B5EF4-FFF2-40B4-BE49-F238E27FC236}">
                <a16:creationId xmlns:a16="http://schemas.microsoft.com/office/drawing/2014/main" id="{7B99F819-3A4C-8D01-87D3-59398A0C3663}"/>
              </a:ext>
            </a:extLst>
          </p:cNvPr>
          <p:cNvSpPr txBox="1"/>
          <p:nvPr/>
        </p:nvSpPr>
        <p:spPr>
          <a:xfrm>
            <a:off x="3136468" y="273137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22" name="コネクタ: カギ線 21">
            <a:extLst>
              <a:ext uri="{FF2B5EF4-FFF2-40B4-BE49-F238E27FC236}">
                <a16:creationId xmlns:a16="http://schemas.microsoft.com/office/drawing/2014/main" id="{89810CF4-19DD-8F80-464F-FE8E1D250689}"/>
              </a:ext>
            </a:extLst>
          </p:cNvPr>
          <p:cNvCxnSpPr>
            <a:cxnSpLocks/>
            <a:stCxn id="21" idx="0"/>
            <a:endCxn id="14" idx="2"/>
          </p:cNvCxnSpPr>
          <p:nvPr/>
        </p:nvCxnSpPr>
        <p:spPr>
          <a:xfrm rot="5400000" flipH="1" flipV="1">
            <a:off x="4282287" y="249442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直線矢印コネクタ 22">
            <a:extLst>
              <a:ext uri="{FF2B5EF4-FFF2-40B4-BE49-F238E27FC236}">
                <a16:creationId xmlns:a16="http://schemas.microsoft.com/office/drawing/2014/main" id="{3F2ACC73-0643-27D8-F1B3-1B871FCEF141}"/>
              </a:ext>
            </a:extLst>
          </p:cNvPr>
          <p:cNvCxnSpPr>
            <a:cxnSpLocks/>
          </p:cNvCxnSpPr>
          <p:nvPr/>
        </p:nvCxnSpPr>
        <p:spPr>
          <a:xfrm>
            <a:off x="334303" y="3515795"/>
            <a:ext cx="3207836"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69C05BA8-18F6-F344-3C54-A5E03AFE2368}"/>
              </a:ext>
            </a:extLst>
          </p:cNvPr>
          <p:cNvCxnSpPr>
            <a:cxnSpLocks/>
          </p:cNvCxnSpPr>
          <p:nvPr/>
        </p:nvCxnSpPr>
        <p:spPr>
          <a:xfrm>
            <a:off x="3122098" y="4928015"/>
            <a:ext cx="6619128"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5" name="テキスト ボックス 24">
            <a:extLst>
              <a:ext uri="{FF2B5EF4-FFF2-40B4-BE49-F238E27FC236}">
                <a16:creationId xmlns:a16="http://schemas.microsoft.com/office/drawing/2014/main" id="{E77786FC-857A-BA29-36E6-9A41C2E99F31}"/>
              </a:ext>
            </a:extLst>
          </p:cNvPr>
          <p:cNvSpPr txBox="1"/>
          <p:nvPr/>
        </p:nvSpPr>
        <p:spPr>
          <a:xfrm>
            <a:off x="1268358" y="3383509"/>
            <a:ext cx="1581214" cy="261610"/>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WEB</a:t>
            </a:r>
            <a:r>
              <a:rPr lang="ja-JP" altLang="en-US" sz="1050" b="1" dirty="0">
                <a:latin typeface="メイリオ" panose="020B0604030504040204" pitchFamily="50" charset="-128"/>
                <a:ea typeface="メイリオ" panose="020B0604030504040204" pitchFamily="50" charset="-128"/>
                <a:cs typeface="Meiryo"/>
                <a:sym typeface="Meiryo"/>
              </a:rPr>
              <a:t>→</a:t>
            </a: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sp>
        <p:nvSpPr>
          <p:cNvPr id="26" name="テキスト ボックス 25">
            <a:extLst>
              <a:ext uri="{FF2B5EF4-FFF2-40B4-BE49-F238E27FC236}">
                <a16:creationId xmlns:a16="http://schemas.microsoft.com/office/drawing/2014/main" id="{5B6D9466-EC9E-4057-AB18-8974D147F3E8}"/>
              </a:ext>
            </a:extLst>
          </p:cNvPr>
          <p:cNvSpPr txBox="1"/>
          <p:nvPr/>
        </p:nvSpPr>
        <p:spPr>
          <a:xfrm>
            <a:off x="5558554" y="4804166"/>
            <a:ext cx="1581214" cy="261610"/>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a:t>
            </a:r>
            <a:r>
              <a:rPr lang="en-US" altLang="ja-JP" sz="1050" b="1" dirty="0">
                <a:latin typeface="メイリオ" panose="020B0604030504040204" pitchFamily="50" charset="-128"/>
                <a:ea typeface="メイリオ" panose="020B0604030504040204" pitchFamily="50" charset="-128"/>
                <a:cs typeface="Meiryo"/>
                <a:sym typeface="Meiryo"/>
              </a:rPr>
              <a:t>WEB</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cxnSp>
        <p:nvCxnSpPr>
          <p:cNvPr id="27" name="直線矢印コネクタ 26">
            <a:extLst>
              <a:ext uri="{FF2B5EF4-FFF2-40B4-BE49-F238E27FC236}">
                <a16:creationId xmlns:a16="http://schemas.microsoft.com/office/drawing/2014/main" id="{C2DCC080-98CE-945F-96A2-C42DE7E0C936}"/>
              </a:ext>
            </a:extLst>
          </p:cNvPr>
          <p:cNvCxnSpPr>
            <a:cxnSpLocks/>
          </p:cNvCxnSpPr>
          <p:nvPr/>
        </p:nvCxnSpPr>
        <p:spPr>
          <a:xfrm>
            <a:off x="3609975" y="3504789"/>
            <a:ext cx="2482432"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a16:creationId xmlns:a16="http://schemas.microsoft.com/office/drawing/2014/main" id="{EA293A6D-CB27-A495-B2B6-10D3182B0B70}"/>
              </a:ext>
            </a:extLst>
          </p:cNvPr>
          <p:cNvSpPr txBox="1"/>
          <p:nvPr/>
        </p:nvSpPr>
        <p:spPr>
          <a:xfrm>
            <a:off x="3908480" y="3397243"/>
            <a:ext cx="1913269" cy="234537"/>
          </a:xfrm>
          <a:prstGeom prst="rect">
            <a:avLst/>
          </a:prstGeom>
          <a:solidFill>
            <a:schemeClr val="bg1"/>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オフライン→</a:t>
            </a: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sp>
        <p:nvSpPr>
          <p:cNvPr id="29" name="正方形/長方形 28">
            <a:extLst>
              <a:ext uri="{FF2B5EF4-FFF2-40B4-BE49-F238E27FC236}">
                <a16:creationId xmlns:a16="http://schemas.microsoft.com/office/drawing/2014/main" id="{2AFCBDA6-2140-B4C1-A45D-7A34BC21899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0" name="直線矢印コネクタ 29">
            <a:extLst>
              <a:ext uri="{FF2B5EF4-FFF2-40B4-BE49-F238E27FC236}">
                <a16:creationId xmlns:a16="http://schemas.microsoft.com/office/drawing/2014/main" id="{852097C2-692E-64D7-A5ED-5C35A2EFC97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9F2742C3-41F6-3CC5-6355-EC9495CFE608}"/>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33" name="正方形/長方形 32">
            <a:extLst>
              <a:ext uri="{FF2B5EF4-FFF2-40B4-BE49-F238E27FC236}">
                <a16:creationId xmlns:a16="http://schemas.microsoft.com/office/drawing/2014/main" id="{BF6CFDE9-CDE8-1133-47F9-90F22773AF32}"/>
              </a:ext>
            </a:extLst>
          </p:cNvPr>
          <p:cNvSpPr/>
          <p:nvPr/>
        </p:nvSpPr>
        <p:spPr>
          <a:xfrm>
            <a:off x="315939" y="3613966"/>
            <a:ext cx="577646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友だち追加させるか？</a:t>
            </a:r>
            <a:r>
              <a:rPr kumimoji="1" lang="ja-JP" altLang="en-US" sz="1000" dirty="0">
                <a:solidFill>
                  <a:srgbClr val="FFFF00"/>
                </a:solidFill>
                <a:latin typeface="メイリオ" panose="020B0604030504040204" pitchFamily="50" charset="-128"/>
                <a:ea typeface="メイリオ" panose="020B0604030504040204" pitchFamily="50" charset="-128"/>
              </a:rPr>
              <a:t>（</a:t>
            </a:r>
            <a:r>
              <a:rPr kumimoji="1" lang="en-US" altLang="ja-JP" sz="1000" dirty="0">
                <a:solidFill>
                  <a:srgbClr val="FFFF00"/>
                </a:solidFill>
                <a:latin typeface="メイリオ" panose="020B0604030504040204" pitchFamily="50" charset="-128"/>
                <a:ea typeface="メイリオ" panose="020B0604030504040204" pitchFamily="50" charset="-128"/>
              </a:rPr>
              <a:t>WEB</a:t>
            </a:r>
            <a:r>
              <a:rPr kumimoji="1" lang="ja-JP" altLang="en-US" sz="1000" dirty="0">
                <a:solidFill>
                  <a:srgbClr val="FFFF00"/>
                </a:solidFill>
                <a:latin typeface="メイリオ" panose="020B0604030504040204" pitchFamily="50" charset="-128"/>
                <a:ea typeface="メイリオ" panose="020B0604030504040204" pitchFamily="50" charset="-128"/>
              </a:rPr>
              <a:t>→</a:t>
            </a:r>
            <a:r>
              <a:rPr kumimoji="1" lang="en-US" altLang="ja-JP" sz="1000" dirty="0">
                <a:solidFill>
                  <a:srgbClr val="FFFF00"/>
                </a:solidFill>
                <a:latin typeface="メイリオ" panose="020B0604030504040204" pitchFamily="50" charset="-128"/>
                <a:ea typeface="メイリオ" panose="020B0604030504040204" pitchFamily="50" charset="-128"/>
              </a:rPr>
              <a:t>LINE</a:t>
            </a:r>
            <a:r>
              <a:rPr kumimoji="1" lang="ja-JP" altLang="en-US" sz="1000" dirty="0">
                <a:solidFill>
                  <a:srgbClr val="FFFF00"/>
                </a:solidFill>
                <a:latin typeface="メイリオ" panose="020B0604030504040204" pitchFamily="50" charset="-128"/>
                <a:ea typeface="メイリオ" panose="020B0604030504040204" pitchFamily="50" charset="-128"/>
              </a:rPr>
              <a:t>）</a:t>
            </a:r>
          </a:p>
        </p:txBody>
      </p:sp>
      <p:sp>
        <p:nvSpPr>
          <p:cNvPr id="34" name="正方形/長方形 33">
            <a:extLst>
              <a:ext uri="{FF2B5EF4-FFF2-40B4-BE49-F238E27FC236}">
                <a16:creationId xmlns:a16="http://schemas.microsoft.com/office/drawing/2014/main" id="{39DCB4B6-9411-CC10-0D34-9F40EC11AD82}"/>
              </a:ext>
            </a:extLst>
          </p:cNvPr>
          <p:cNvSpPr/>
          <p:nvPr/>
        </p:nvSpPr>
        <p:spPr>
          <a:xfrm>
            <a:off x="3122098" y="5051222"/>
            <a:ext cx="661912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友だちをアクションに結びつけるか？</a:t>
            </a:r>
            <a:r>
              <a:rPr kumimoji="1" lang="ja-JP" altLang="en-US" sz="1000" dirty="0">
                <a:solidFill>
                  <a:srgbClr val="FFFF00"/>
                </a:solidFill>
                <a:latin typeface="メイリオ" panose="020B0604030504040204" pitchFamily="50" charset="-128"/>
                <a:ea typeface="メイリオ" panose="020B0604030504040204" pitchFamily="50" charset="-128"/>
              </a:rPr>
              <a:t>（</a:t>
            </a:r>
            <a:r>
              <a:rPr kumimoji="1" lang="en-US" altLang="ja-JP" sz="1000" dirty="0">
                <a:solidFill>
                  <a:srgbClr val="FFFF00"/>
                </a:solidFill>
                <a:latin typeface="メイリオ" panose="020B0604030504040204" pitchFamily="50" charset="-128"/>
                <a:ea typeface="メイリオ" panose="020B0604030504040204" pitchFamily="50" charset="-128"/>
              </a:rPr>
              <a:t>LINE</a:t>
            </a:r>
            <a:r>
              <a:rPr kumimoji="1" lang="ja-JP" altLang="en-US" sz="1000" dirty="0">
                <a:solidFill>
                  <a:srgbClr val="FFFF00"/>
                </a:solidFill>
                <a:latin typeface="メイリオ" panose="020B0604030504040204" pitchFamily="50" charset="-128"/>
                <a:ea typeface="メイリオ" panose="020B0604030504040204" pitchFamily="50" charset="-128"/>
              </a:rPr>
              <a:t>→反響）</a:t>
            </a:r>
          </a:p>
        </p:txBody>
      </p:sp>
      <p:cxnSp>
        <p:nvCxnSpPr>
          <p:cNvPr id="35" name="直線矢印コネクタ 34">
            <a:extLst>
              <a:ext uri="{FF2B5EF4-FFF2-40B4-BE49-F238E27FC236}">
                <a16:creationId xmlns:a16="http://schemas.microsoft.com/office/drawing/2014/main" id="{B94F8848-87A6-4A24-C2DE-D4A5BD2787D7}"/>
              </a:ext>
            </a:extLst>
          </p:cNvPr>
          <p:cNvCxnSpPr>
            <a:cxnSpLocks/>
          </p:cNvCxnSpPr>
          <p:nvPr/>
        </p:nvCxnSpPr>
        <p:spPr>
          <a:xfrm>
            <a:off x="484665" y="3964795"/>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6" name="テキスト ボックス 35">
            <a:extLst>
              <a:ext uri="{FF2B5EF4-FFF2-40B4-BE49-F238E27FC236}">
                <a16:creationId xmlns:a16="http://schemas.microsoft.com/office/drawing/2014/main" id="{13A35DD7-3CE1-ABA2-45A4-29A5F6D013E2}"/>
              </a:ext>
            </a:extLst>
          </p:cNvPr>
          <p:cNvSpPr txBox="1"/>
          <p:nvPr/>
        </p:nvSpPr>
        <p:spPr>
          <a:xfrm>
            <a:off x="853704" y="3860734"/>
            <a:ext cx="822746"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cs typeface="Meiryo"/>
                <a:sym typeface="Meiryo"/>
              </a:rPr>
              <a:t>CPF</a:t>
            </a:r>
            <a:r>
              <a:rPr lang="ja-JP" altLang="en-US" sz="1000" b="1" dirty="0">
                <a:latin typeface="メイリオ" panose="020B0604030504040204" pitchFamily="50" charset="-128"/>
                <a:ea typeface="メイリオ" panose="020B0604030504040204" pitchFamily="50" charset="-128"/>
                <a:cs typeface="Meiryo"/>
                <a:sym typeface="Meiryo"/>
              </a:rPr>
              <a:t>広告</a:t>
            </a:r>
            <a:endParaRPr lang="ja-JP" altLang="en-US" sz="1000" b="1" dirty="0"/>
          </a:p>
        </p:txBody>
      </p:sp>
      <p:cxnSp>
        <p:nvCxnSpPr>
          <p:cNvPr id="37" name="直線矢印コネクタ 36">
            <a:extLst>
              <a:ext uri="{FF2B5EF4-FFF2-40B4-BE49-F238E27FC236}">
                <a16:creationId xmlns:a16="http://schemas.microsoft.com/office/drawing/2014/main" id="{4DD36FC2-6468-F5B5-EFB8-BBFB2CF7F452}"/>
              </a:ext>
            </a:extLst>
          </p:cNvPr>
          <p:cNvCxnSpPr>
            <a:cxnSpLocks/>
          </p:cNvCxnSpPr>
          <p:nvPr/>
        </p:nvCxnSpPr>
        <p:spPr>
          <a:xfrm>
            <a:off x="3442595" y="4332466"/>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8" name="テキスト ボックス 37">
            <a:extLst>
              <a:ext uri="{FF2B5EF4-FFF2-40B4-BE49-F238E27FC236}">
                <a16:creationId xmlns:a16="http://schemas.microsoft.com/office/drawing/2014/main" id="{52205788-B1CC-5FF9-ED78-B6DD32267E17}"/>
              </a:ext>
            </a:extLst>
          </p:cNvPr>
          <p:cNvSpPr txBox="1"/>
          <p:nvPr/>
        </p:nvSpPr>
        <p:spPr>
          <a:xfrm>
            <a:off x="3811634" y="4198682"/>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通知メッセージ</a:t>
            </a:r>
            <a:endParaRPr lang="ja-JP" altLang="en-US" sz="1000" b="1" dirty="0"/>
          </a:p>
        </p:txBody>
      </p:sp>
      <p:cxnSp>
        <p:nvCxnSpPr>
          <p:cNvPr id="39" name="直線矢印コネクタ 38">
            <a:extLst>
              <a:ext uri="{FF2B5EF4-FFF2-40B4-BE49-F238E27FC236}">
                <a16:creationId xmlns:a16="http://schemas.microsoft.com/office/drawing/2014/main" id="{923E43E2-8157-8C38-4A7C-C186793E6650}"/>
              </a:ext>
            </a:extLst>
          </p:cNvPr>
          <p:cNvCxnSpPr>
            <a:cxnSpLocks/>
          </p:cNvCxnSpPr>
          <p:nvPr/>
        </p:nvCxnSpPr>
        <p:spPr>
          <a:xfrm>
            <a:off x="3442595" y="458569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0" name="テキスト ボックス 39">
            <a:extLst>
              <a:ext uri="{FF2B5EF4-FFF2-40B4-BE49-F238E27FC236}">
                <a16:creationId xmlns:a16="http://schemas.microsoft.com/office/drawing/2014/main" id="{9B46B511-7630-9D21-552D-BAD1DCEC8387}"/>
              </a:ext>
            </a:extLst>
          </p:cNvPr>
          <p:cNvSpPr txBox="1"/>
          <p:nvPr/>
        </p:nvSpPr>
        <p:spPr>
          <a:xfrm>
            <a:off x="3811634" y="4451915"/>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サンクス</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誘導</a:t>
            </a:r>
            <a:endParaRPr lang="ja-JP" altLang="en-US" sz="1000" b="1" dirty="0"/>
          </a:p>
        </p:txBody>
      </p:sp>
      <p:cxnSp>
        <p:nvCxnSpPr>
          <p:cNvPr id="41" name="直線矢印コネクタ 40">
            <a:extLst>
              <a:ext uri="{FF2B5EF4-FFF2-40B4-BE49-F238E27FC236}">
                <a16:creationId xmlns:a16="http://schemas.microsoft.com/office/drawing/2014/main" id="{64D8562C-014D-DFB4-2D01-7479448659D1}"/>
              </a:ext>
            </a:extLst>
          </p:cNvPr>
          <p:cNvCxnSpPr>
            <a:cxnSpLocks/>
          </p:cNvCxnSpPr>
          <p:nvPr/>
        </p:nvCxnSpPr>
        <p:spPr>
          <a:xfrm>
            <a:off x="1351697" y="4153168"/>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2" name="テキスト ボックス 41">
            <a:extLst>
              <a:ext uri="{FF2B5EF4-FFF2-40B4-BE49-F238E27FC236}">
                <a16:creationId xmlns:a16="http://schemas.microsoft.com/office/drawing/2014/main" id="{540E1D19-5457-9319-2789-430F63EC5A42}"/>
              </a:ext>
            </a:extLst>
          </p:cNvPr>
          <p:cNvSpPr txBox="1"/>
          <p:nvPr/>
        </p:nvSpPr>
        <p:spPr>
          <a:xfrm>
            <a:off x="1720736" y="4019384"/>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通知メッセージ</a:t>
            </a:r>
            <a:endParaRPr lang="ja-JP" altLang="en-US" sz="1000" b="1" dirty="0"/>
          </a:p>
        </p:txBody>
      </p:sp>
      <p:cxnSp>
        <p:nvCxnSpPr>
          <p:cNvPr id="43" name="直線矢印コネクタ 42">
            <a:extLst>
              <a:ext uri="{FF2B5EF4-FFF2-40B4-BE49-F238E27FC236}">
                <a16:creationId xmlns:a16="http://schemas.microsoft.com/office/drawing/2014/main" id="{490155E9-25FB-3090-382A-CA0B7F87F965}"/>
              </a:ext>
            </a:extLst>
          </p:cNvPr>
          <p:cNvCxnSpPr>
            <a:cxnSpLocks/>
          </p:cNvCxnSpPr>
          <p:nvPr/>
        </p:nvCxnSpPr>
        <p:spPr>
          <a:xfrm>
            <a:off x="1351697" y="4384313"/>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 name="テキスト ボックス 43">
            <a:extLst>
              <a:ext uri="{FF2B5EF4-FFF2-40B4-BE49-F238E27FC236}">
                <a16:creationId xmlns:a16="http://schemas.microsoft.com/office/drawing/2014/main" id="{08D35021-E114-E4DF-FF22-BF7BE0CDF4D8}"/>
              </a:ext>
            </a:extLst>
          </p:cNvPr>
          <p:cNvSpPr txBox="1"/>
          <p:nvPr/>
        </p:nvSpPr>
        <p:spPr>
          <a:xfrm>
            <a:off x="1720736" y="4250529"/>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rPr>
              <a:t>サイト動線の整備</a:t>
            </a:r>
          </a:p>
        </p:txBody>
      </p:sp>
      <p:cxnSp>
        <p:nvCxnSpPr>
          <p:cNvPr id="45" name="直線矢印コネクタ 44">
            <a:extLst>
              <a:ext uri="{FF2B5EF4-FFF2-40B4-BE49-F238E27FC236}">
                <a16:creationId xmlns:a16="http://schemas.microsoft.com/office/drawing/2014/main" id="{6840C346-E790-A413-26C5-79129D6F5FB7}"/>
              </a:ext>
            </a:extLst>
          </p:cNvPr>
          <p:cNvCxnSpPr>
            <a:cxnSpLocks/>
          </p:cNvCxnSpPr>
          <p:nvPr/>
        </p:nvCxnSpPr>
        <p:spPr>
          <a:xfrm>
            <a:off x="3900757" y="4022150"/>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 name="テキスト ボックス 45">
            <a:extLst>
              <a:ext uri="{FF2B5EF4-FFF2-40B4-BE49-F238E27FC236}">
                <a16:creationId xmlns:a16="http://schemas.microsoft.com/office/drawing/2014/main" id="{715CC99E-9A08-159E-0120-31020FC33D0F}"/>
              </a:ext>
            </a:extLst>
          </p:cNvPr>
          <p:cNvSpPr txBox="1"/>
          <p:nvPr/>
        </p:nvSpPr>
        <p:spPr>
          <a:xfrm>
            <a:off x="4269796" y="3888366"/>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既存リストの活用</a:t>
            </a:r>
            <a:endParaRPr lang="en-US" altLang="ja-JP" sz="1000" b="1" dirty="0">
              <a:latin typeface="メイリオ" panose="020B0604030504040204" pitchFamily="50" charset="-128"/>
              <a:ea typeface="メイリオ" panose="020B0604030504040204" pitchFamily="50" charset="-128"/>
              <a:cs typeface="Meiryo"/>
              <a:sym typeface="Meiryo"/>
            </a:endParaRPr>
          </a:p>
        </p:txBody>
      </p:sp>
      <p:cxnSp>
        <p:nvCxnSpPr>
          <p:cNvPr id="47" name="直線矢印コネクタ 46">
            <a:extLst>
              <a:ext uri="{FF2B5EF4-FFF2-40B4-BE49-F238E27FC236}">
                <a16:creationId xmlns:a16="http://schemas.microsoft.com/office/drawing/2014/main" id="{C26FDFF8-ECDB-0D20-5A53-4F74EF6D93F8}"/>
              </a:ext>
            </a:extLst>
          </p:cNvPr>
          <p:cNvCxnSpPr>
            <a:cxnSpLocks/>
          </p:cNvCxnSpPr>
          <p:nvPr/>
        </p:nvCxnSpPr>
        <p:spPr>
          <a:xfrm>
            <a:off x="5494489" y="4328530"/>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テキスト ボックス 47">
            <a:extLst>
              <a:ext uri="{FF2B5EF4-FFF2-40B4-BE49-F238E27FC236}">
                <a16:creationId xmlns:a16="http://schemas.microsoft.com/office/drawing/2014/main" id="{03517788-8A00-3CE9-B8A0-DC9904CB9E29}"/>
              </a:ext>
            </a:extLst>
          </p:cNvPr>
          <p:cNvSpPr txBox="1"/>
          <p:nvPr/>
        </p:nvSpPr>
        <p:spPr>
          <a:xfrm>
            <a:off x="5863528" y="4194746"/>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通知メッセージ</a:t>
            </a:r>
            <a:endParaRPr lang="ja-JP" altLang="en-US" sz="1000" b="1" dirty="0"/>
          </a:p>
        </p:txBody>
      </p:sp>
      <p:cxnSp>
        <p:nvCxnSpPr>
          <p:cNvPr id="49" name="直線矢印コネクタ 48">
            <a:extLst>
              <a:ext uri="{FF2B5EF4-FFF2-40B4-BE49-F238E27FC236}">
                <a16:creationId xmlns:a16="http://schemas.microsoft.com/office/drawing/2014/main" id="{8A08B47D-236B-D58F-E880-0E520352BC81}"/>
              </a:ext>
            </a:extLst>
          </p:cNvPr>
          <p:cNvCxnSpPr>
            <a:cxnSpLocks/>
          </p:cNvCxnSpPr>
          <p:nvPr/>
        </p:nvCxnSpPr>
        <p:spPr>
          <a:xfrm>
            <a:off x="5494489" y="4591366"/>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8376E216-AB77-BC34-74BE-9C14746155C3}"/>
              </a:ext>
            </a:extLst>
          </p:cNvPr>
          <p:cNvSpPr txBox="1"/>
          <p:nvPr/>
        </p:nvSpPr>
        <p:spPr>
          <a:xfrm>
            <a:off x="5863528" y="4457582"/>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サンクス</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誘導</a:t>
            </a:r>
            <a:endParaRPr lang="ja-JP" altLang="en-US" sz="1000" b="1" dirty="0"/>
          </a:p>
        </p:txBody>
      </p:sp>
      <p:cxnSp>
        <p:nvCxnSpPr>
          <p:cNvPr id="51" name="直線矢印コネクタ 50">
            <a:extLst>
              <a:ext uri="{FF2B5EF4-FFF2-40B4-BE49-F238E27FC236}">
                <a16:creationId xmlns:a16="http://schemas.microsoft.com/office/drawing/2014/main" id="{D6F7AD1E-A403-6C2E-4207-BA25C2D7BCC6}"/>
              </a:ext>
            </a:extLst>
          </p:cNvPr>
          <p:cNvCxnSpPr>
            <a:cxnSpLocks/>
          </p:cNvCxnSpPr>
          <p:nvPr/>
        </p:nvCxnSpPr>
        <p:spPr>
          <a:xfrm>
            <a:off x="751071" y="4630661"/>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2" name="テキスト ボックス 51">
            <a:extLst>
              <a:ext uri="{FF2B5EF4-FFF2-40B4-BE49-F238E27FC236}">
                <a16:creationId xmlns:a16="http://schemas.microsoft.com/office/drawing/2014/main" id="{7D798DBD-5393-6131-8034-EC789105D05B}"/>
              </a:ext>
            </a:extLst>
          </p:cNvPr>
          <p:cNvSpPr txBox="1"/>
          <p:nvPr/>
        </p:nvSpPr>
        <p:spPr>
          <a:xfrm>
            <a:off x="983946" y="4526600"/>
            <a:ext cx="1095075"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SNS/</a:t>
            </a:r>
            <a:r>
              <a:rPr lang="ja-JP" altLang="en-US"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メルマガ</a:t>
            </a:r>
            <a:endParaRPr lang="ja-JP" altLang="en-US" sz="900" dirty="0">
              <a:solidFill>
                <a:schemeClr val="tx1">
                  <a:lumMod val="50000"/>
                  <a:lumOff val="50000"/>
                </a:schemeClr>
              </a:solidFill>
            </a:endParaRPr>
          </a:p>
        </p:txBody>
      </p:sp>
      <p:cxnSp>
        <p:nvCxnSpPr>
          <p:cNvPr id="53" name="直線矢印コネクタ 52">
            <a:extLst>
              <a:ext uri="{FF2B5EF4-FFF2-40B4-BE49-F238E27FC236}">
                <a16:creationId xmlns:a16="http://schemas.microsoft.com/office/drawing/2014/main" id="{527AED14-C910-4D3E-987F-EA62ABD18D90}"/>
              </a:ext>
            </a:extLst>
          </p:cNvPr>
          <p:cNvCxnSpPr>
            <a:cxnSpLocks/>
          </p:cNvCxnSpPr>
          <p:nvPr/>
        </p:nvCxnSpPr>
        <p:spPr>
          <a:xfrm>
            <a:off x="747965" y="4897406"/>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4" name="テキスト ボックス 53">
            <a:extLst>
              <a:ext uri="{FF2B5EF4-FFF2-40B4-BE49-F238E27FC236}">
                <a16:creationId xmlns:a16="http://schemas.microsoft.com/office/drawing/2014/main" id="{9644DD32-D05B-DE83-7791-37895274BDE9}"/>
              </a:ext>
            </a:extLst>
          </p:cNvPr>
          <p:cNvSpPr txBox="1"/>
          <p:nvPr/>
        </p:nvSpPr>
        <p:spPr>
          <a:xfrm>
            <a:off x="969834" y="4806108"/>
            <a:ext cx="1117086" cy="191105"/>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8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店内ポップ・チラシ</a:t>
            </a:r>
            <a:endParaRPr lang="ja-JP" altLang="en-US" sz="800" dirty="0">
              <a:solidFill>
                <a:schemeClr val="tx1">
                  <a:lumMod val="50000"/>
                  <a:lumOff val="50000"/>
                </a:schemeClr>
              </a:solidFill>
            </a:endParaRPr>
          </a:p>
        </p:txBody>
      </p:sp>
      <p:cxnSp>
        <p:nvCxnSpPr>
          <p:cNvPr id="55" name="直線矢印コネクタ 54">
            <a:extLst>
              <a:ext uri="{FF2B5EF4-FFF2-40B4-BE49-F238E27FC236}">
                <a16:creationId xmlns:a16="http://schemas.microsoft.com/office/drawing/2014/main" id="{D3D532EE-6712-DE63-E452-E8BEAA167260}"/>
              </a:ext>
            </a:extLst>
          </p:cNvPr>
          <p:cNvCxnSpPr>
            <a:cxnSpLocks/>
          </p:cNvCxnSpPr>
          <p:nvPr/>
        </p:nvCxnSpPr>
        <p:spPr>
          <a:xfrm>
            <a:off x="7259810" y="4444588"/>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6" name="テキスト ボックス 55">
            <a:extLst>
              <a:ext uri="{FF2B5EF4-FFF2-40B4-BE49-F238E27FC236}">
                <a16:creationId xmlns:a16="http://schemas.microsoft.com/office/drawing/2014/main" id="{DCDD6E46-B8C3-8536-41F9-F39EB73CBD24}"/>
              </a:ext>
            </a:extLst>
          </p:cNvPr>
          <p:cNvSpPr txBox="1"/>
          <p:nvPr/>
        </p:nvSpPr>
        <p:spPr>
          <a:xfrm>
            <a:off x="7740673" y="4310804"/>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ID</a:t>
            </a: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en-US" altLang="ja-JP"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CRM</a:t>
            </a: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連携</a:t>
            </a:r>
            <a:endParaRPr lang="ja-JP" altLang="en-US" sz="1000" b="1" dirty="0">
              <a:solidFill>
                <a:schemeClr val="tx1">
                  <a:lumMod val="50000"/>
                  <a:lumOff val="50000"/>
                </a:schemeClr>
              </a:solidFill>
            </a:endParaRPr>
          </a:p>
        </p:txBody>
      </p:sp>
      <p:cxnSp>
        <p:nvCxnSpPr>
          <p:cNvPr id="57" name="直線矢印コネクタ 56">
            <a:extLst>
              <a:ext uri="{FF2B5EF4-FFF2-40B4-BE49-F238E27FC236}">
                <a16:creationId xmlns:a16="http://schemas.microsoft.com/office/drawing/2014/main" id="{B9C84515-E6C9-A256-421E-9C3EFEBBFF17}"/>
              </a:ext>
            </a:extLst>
          </p:cNvPr>
          <p:cNvCxnSpPr>
            <a:cxnSpLocks/>
          </p:cNvCxnSpPr>
          <p:nvPr/>
        </p:nvCxnSpPr>
        <p:spPr>
          <a:xfrm>
            <a:off x="7697737" y="5495193"/>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8" name="テキスト ボックス 57">
            <a:extLst>
              <a:ext uri="{FF2B5EF4-FFF2-40B4-BE49-F238E27FC236}">
                <a16:creationId xmlns:a16="http://schemas.microsoft.com/office/drawing/2014/main" id="{7E002B77-EFC0-55F3-D3E6-100837F9B195}"/>
              </a:ext>
            </a:extLst>
          </p:cNvPr>
          <p:cNvSpPr txBox="1"/>
          <p:nvPr/>
        </p:nvSpPr>
        <p:spPr>
          <a:xfrm>
            <a:off x="8178600" y="5361409"/>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フォロー体制</a:t>
            </a:r>
            <a:endParaRPr lang="ja-JP" altLang="en-US" sz="1000" b="1" dirty="0">
              <a:solidFill>
                <a:schemeClr val="tx1">
                  <a:lumMod val="50000"/>
                  <a:lumOff val="50000"/>
                </a:schemeClr>
              </a:solidFill>
            </a:endParaRPr>
          </a:p>
        </p:txBody>
      </p:sp>
      <p:cxnSp>
        <p:nvCxnSpPr>
          <p:cNvPr id="67" name="直線矢印コネクタ 66">
            <a:extLst>
              <a:ext uri="{FF2B5EF4-FFF2-40B4-BE49-F238E27FC236}">
                <a16:creationId xmlns:a16="http://schemas.microsoft.com/office/drawing/2014/main" id="{03BD82C1-8BEC-3E49-C1DA-A1C214DB1C8C}"/>
              </a:ext>
            </a:extLst>
          </p:cNvPr>
          <p:cNvCxnSpPr>
            <a:cxnSpLocks/>
          </p:cNvCxnSpPr>
          <p:nvPr/>
        </p:nvCxnSpPr>
        <p:spPr>
          <a:xfrm>
            <a:off x="4519454" y="5493723"/>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81" name="テキスト ボックス 80">
            <a:extLst>
              <a:ext uri="{FF2B5EF4-FFF2-40B4-BE49-F238E27FC236}">
                <a16:creationId xmlns:a16="http://schemas.microsoft.com/office/drawing/2014/main" id="{919F797F-1B6A-876C-B468-E147B3D97E8A}"/>
              </a:ext>
            </a:extLst>
          </p:cNvPr>
          <p:cNvSpPr txBox="1"/>
          <p:nvPr/>
        </p:nvSpPr>
        <p:spPr>
          <a:xfrm>
            <a:off x="5267281" y="5359939"/>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ステップ配信</a:t>
            </a:r>
            <a:endParaRPr lang="ja-JP" altLang="en-US" sz="1000" b="1" dirty="0"/>
          </a:p>
        </p:txBody>
      </p:sp>
      <p:cxnSp>
        <p:nvCxnSpPr>
          <p:cNvPr id="86" name="直線矢印コネクタ 85">
            <a:extLst>
              <a:ext uri="{FF2B5EF4-FFF2-40B4-BE49-F238E27FC236}">
                <a16:creationId xmlns:a16="http://schemas.microsoft.com/office/drawing/2014/main" id="{C96E67E6-B364-7DED-CDB8-DDCEEFB96AD2}"/>
              </a:ext>
            </a:extLst>
          </p:cNvPr>
          <p:cNvCxnSpPr>
            <a:cxnSpLocks/>
          </p:cNvCxnSpPr>
          <p:nvPr/>
        </p:nvCxnSpPr>
        <p:spPr>
          <a:xfrm>
            <a:off x="4519295" y="5766839"/>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91" name="テキスト ボックス 90">
            <a:extLst>
              <a:ext uri="{FF2B5EF4-FFF2-40B4-BE49-F238E27FC236}">
                <a16:creationId xmlns:a16="http://schemas.microsoft.com/office/drawing/2014/main" id="{335DB4AB-DEFA-E356-751F-7106100F929E}"/>
              </a:ext>
            </a:extLst>
          </p:cNvPr>
          <p:cNvSpPr txBox="1"/>
          <p:nvPr/>
        </p:nvSpPr>
        <p:spPr>
          <a:xfrm>
            <a:off x="5267122" y="5633055"/>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企画配信</a:t>
            </a:r>
            <a:endParaRPr lang="ja-JP" altLang="en-US" sz="1000" b="1" dirty="0"/>
          </a:p>
        </p:txBody>
      </p:sp>
      <p:cxnSp>
        <p:nvCxnSpPr>
          <p:cNvPr id="100" name="直線矢印コネクタ 99">
            <a:extLst>
              <a:ext uri="{FF2B5EF4-FFF2-40B4-BE49-F238E27FC236}">
                <a16:creationId xmlns:a16="http://schemas.microsoft.com/office/drawing/2014/main" id="{7884810E-3E89-4CCB-C00C-B386A34717E4}"/>
              </a:ext>
            </a:extLst>
          </p:cNvPr>
          <p:cNvCxnSpPr>
            <a:cxnSpLocks/>
          </p:cNvCxnSpPr>
          <p:nvPr/>
        </p:nvCxnSpPr>
        <p:spPr>
          <a:xfrm>
            <a:off x="3798688" y="5981626"/>
            <a:ext cx="2464861"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1" name="テキスト ボックス 100">
            <a:extLst>
              <a:ext uri="{FF2B5EF4-FFF2-40B4-BE49-F238E27FC236}">
                <a16:creationId xmlns:a16="http://schemas.microsoft.com/office/drawing/2014/main" id="{6FD45AC0-2372-776F-6D16-846C0FB7AC64}"/>
              </a:ext>
            </a:extLst>
          </p:cNvPr>
          <p:cNvSpPr txBox="1"/>
          <p:nvPr/>
        </p:nvSpPr>
        <p:spPr>
          <a:xfrm>
            <a:off x="4258152" y="5863519"/>
            <a:ext cx="1288637" cy="248436"/>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アンケート回収</a:t>
            </a:r>
            <a:endParaRPr lang="ja-JP" altLang="en-US" sz="1000" b="1" dirty="0"/>
          </a:p>
        </p:txBody>
      </p:sp>
      <p:cxnSp>
        <p:nvCxnSpPr>
          <p:cNvPr id="102" name="直線矢印コネクタ 101">
            <a:extLst>
              <a:ext uri="{FF2B5EF4-FFF2-40B4-BE49-F238E27FC236}">
                <a16:creationId xmlns:a16="http://schemas.microsoft.com/office/drawing/2014/main" id="{5BF3558A-EBED-81EE-B158-28A7CA5D6693}"/>
              </a:ext>
            </a:extLst>
          </p:cNvPr>
          <p:cNvCxnSpPr>
            <a:cxnSpLocks/>
          </p:cNvCxnSpPr>
          <p:nvPr/>
        </p:nvCxnSpPr>
        <p:spPr>
          <a:xfrm>
            <a:off x="3797428" y="6223951"/>
            <a:ext cx="2452867" cy="6111"/>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0" name="テキスト ボックス 109">
            <a:extLst>
              <a:ext uri="{FF2B5EF4-FFF2-40B4-BE49-F238E27FC236}">
                <a16:creationId xmlns:a16="http://schemas.microsoft.com/office/drawing/2014/main" id="{001266CB-AC56-8914-0ACE-8B554DB19B76}"/>
              </a:ext>
            </a:extLst>
          </p:cNvPr>
          <p:cNvSpPr txBox="1"/>
          <p:nvPr/>
        </p:nvSpPr>
        <p:spPr>
          <a:xfrm>
            <a:off x="4273398" y="6133562"/>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スコアリング等</a:t>
            </a:r>
            <a:endParaRPr lang="ja-JP" altLang="en-US" sz="1000" b="1" dirty="0"/>
          </a:p>
        </p:txBody>
      </p:sp>
      <p:cxnSp>
        <p:nvCxnSpPr>
          <p:cNvPr id="111" name="直線矢印コネクタ 110">
            <a:extLst>
              <a:ext uri="{FF2B5EF4-FFF2-40B4-BE49-F238E27FC236}">
                <a16:creationId xmlns:a16="http://schemas.microsoft.com/office/drawing/2014/main" id="{1B403718-ABF2-11BC-1A05-A9E208B7C0F7}"/>
              </a:ext>
            </a:extLst>
          </p:cNvPr>
          <p:cNvCxnSpPr>
            <a:cxnSpLocks/>
          </p:cNvCxnSpPr>
          <p:nvPr/>
        </p:nvCxnSpPr>
        <p:spPr>
          <a:xfrm>
            <a:off x="7118366" y="5985542"/>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6" name="テキスト ボックス 115">
            <a:extLst>
              <a:ext uri="{FF2B5EF4-FFF2-40B4-BE49-F238E27FC236}">
                <a16:creationId xmlns:a16="http://schemas.microsoft.com/office/drawing/2014/main" id="{B9061E8E-8F76-24D8-6F4C-BBBCDEB37FE0}"/>
              </a:ext>
            </a:extLst>
          </p:cNvPr>
          <p:cNvSpPr txBox="1"/>
          <p:nvPr/>
        </p:nvSpPr>
        <p:spPr>
          <a:xfrm>
            <a:off x="7397140" y="5871116"/>
            <a:ext cx="1288637" cy="248436"/>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リサーチ回収</a:t>
            </a:r>
            <a:endParaRPr lang="ja-JP" altLang="en-US" sz="1000" b="1" dirty="0">
              <a:solidFill>
                <a:schemeClr val="tx1">
                  <a:lumMod val="50000"/>
                  <a:lumOff val="50000"/>
                </a:schemeClr>
              </a:solidFill>
            </a:endParaRPr>
          </a:p>
        </p:txBody>
      </p:sp>
      <p:cxnSp>
        <p:nvCxnSpPr>
          <p:cNvPr id="117" name="直線矢印コネクタ 116">
            <a:extLst>
              <a:ext uri="{FF2B5EF4-FFF2-40B4-BE49-F238E27FC236}">
                <a16:creationId xmlns:a16="http://schemas.microsoft.com/office/drawing/2014/main" id="{B31EBA12-BB45-627B-A1FD-F44E077537B1}"/>
              </a:ext>
            </a:extLst>
          </p:cNvPr>
          <p:cNvCxnSpPr>
            <a:cxnSpLocks/>
          </p:cNvCxnSpPr>
          <p:nvPr/>
        </p:nvCxnSpPr>
        <p:spPr>
          <a:xfrm>
            <a:off x="7048606" y="624305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8" name="テキスト ボックス 117">
            <a:extLst>
              <a:ext uri="{FF2B5EF4-FFF2-40B4-BE49-F238E27FC236}">
                <a16:creationId xmlns:a16="http://schemas.microsoft.com/office/drawing/2014/main" id="{B0C05E5D-44B4-DA5D-7C04-0BDC8A4602CE}"/>
              </a:ext>
            </a:extLst>
          </p:cNvPr>
          <p:cNvSpPr txBox="1"/>
          <p:nvPr/>
        </p:nvSpPr>
        <p:spPr>
          <a:xfrm>
            <a:off x="7336089" y="6137342"/>
            <a:ext cx="1288637" cy="248436"/>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ショップカード</a:t>
            </a:r>
            <a:endParaRPr lang="ja-JP" altLang="en-US" sz="1000" b="1" dirty="0">
              <a:solidFill>
                <a:schemeClr val="tx1">
                  <a:lumMod val="50000"/>
                  <a:lumOff val="50000"/>
                </a:schemeClr>
              </a:solidFill>
            </a:endParaRPr>
          </a:p>
        </p:txBody>
      </p:sp>
      <p:pic>
        <p:nvPicPr>
          <p:cNvPr id="119" name="図 118">
            <a:extLst>
              <a:ext uri="{FF2B5EF4-FFF2-40B4-BE49-F238E27FC236}">
                <a16:creationId xmlns:a16="http://schemas.microsoft.com/office/drawing/2014/main" id="{2F4B65BB-B8AA-5045-2074-C574F9423E61}"/>
              </a:ext>
            </a:extLst>
          </p:cNvPr>
          <p:cNvPicPr>
            <a:picLocks noChangeAspect="1"/>
          </p:cNvPicPr>
          <p:nvPr/>
        </p:nvPicPr>
        <p:blipFill>
          <a:blip r:embed="rId2" cstate="print">
            <a:extLst>
              <a:ext uri="{28A0092B-C50C-407E-A947-70E740481C1C}">
                <a14:useLocalDpi xmlns:a14="http://schemas.microsoft.com/office/drawing/2010/main" val="0"/>
              </a:ext>
            </a:extLst>
          </a:blip>
          <a:srcRect t="4981" b="4075"/>
          <a:stretch>
            <a:fillRect/>
          </a:stretch>
        </p:blipFill>
        <p:spPr>
          <a:xfrm>
            <a:off x="3005614" y="5048188"/>
            <a:ext cx="703970" cy="1385346"/>
          </a:xfrm>
          <a:prstGeom prst="rect">
            <a:avLst/>
          </a:prstGeom>
        </p:spPr>
      </p:pic>
      <p:sp>
        <p:nvSpPr>
          <p:cNvPr id="66" name="正方形/長方形 65">
            <a:extLst>
              <a:ext uri="{FF2B5EF4-FFF2-40B4-BE49-F238E27FC236}">
                <a16:creationId xmlns:a16="http://schemas.microsoft.com/office/drawing/2014/main" id="{D22C9FBF-7B93-079A-E87E-A4C967CD0194}"/>
              </a:ext>
            </a:extLst>
          </p:cNvPr>
          <p:cNvSpPr/>
          <p:nvPr/>
        </p:nvSpPr>
        <p:spPr>
          <a:xfrm>
            <a:off x="3908480" y="5336376"/>
            <a:ext cx="2944325" cy="1076098"/>
          </a:xfrm>
          <a:prstGeom prst="rect">
            <a:avLst/>
          </a:prstGeom>
          <a:noFill/>
          <a:ln w="15875">
            <a:solidFill>
              <a:schemeClr val="accent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89B35388-9C44-6C01-ACAA-2E691617E119}"/>
              </a:ext>
            </a:extLst>
          </p:cNvPr>
          <p:cNvSpPr txBox="1"/>
          <p:nvPr/>
        </p:nvSpPr>
        <p:spPr>
          <a:xfrm>
            <a:off x="5723341" y="6303033"/>
            <a:ext cx="1207049" cy="200055"/>
          </a:xfrm>
          <a:prstGeom prst="rect">
            <a:avLst/>
          </a:prstGeom>
          <a:solidFill>
            <a:schemeClr val="tx2"/>
          </a:solidFill>
          <a:ln>
            <a:noFill/>
          </a:ln>
        </p:spPr>
        <p:txBody>
          <a:bodyPr wrap="square">
            <a:spAutoFit/>
          </a:bodyPr>
          <a:lstStyle/>
          <a:p>
            <a:pPr algn="ctr">
              <a:buNone/>
            </a:pPr>
            <a:r>
              <a:rPr lang="ja-JP" altLang="en-US" sz="700" dirty="0">
                <a:solidFill>
                  <a:schemeClr val="bg1"/>
                </a:solidFill>
                <a:latin typeface="メイリオ" panose="020B0604030504040204" pitchFamily="50" charset="-128"/>
                <a:ea typeface="メイリオ" panose="020B0604030504040204" pitchFamily="50" charset="-128"/>
              </a:rPr>
              <a:t>短期と長期で各自設計</a:t>
            </a:r>
            <a:endParaRPr lang="ja-JP" altLang="ja-JP" sz="700"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6762304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86673A-9013-9BC2-61FD-9A9839050AB4}"/>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771EE9A-D0AE-5095-DE93-A92C03C21A49}"/>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全体設計想定</a:t>
            </a:r>
          </a:p>
        </p:txBody>
      </p:sp>
      <p:sp>
        <p:nvSpPr>
          <p:cNvPr id="9" name="正方形/長方形 8">
            <a:extLst>
              <a:ext uri="{FF2B5EF4-FFF2-40B4-BE49-F238E27FC236}">
                <a16:creationId xmlns:a16="http://schemas.microsoft.com/office/drawing/2014/main" id="{B8DDD632-F5E1-35AD-0F8F-0079C4BE2BD8}"/>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a:latin typeface="メイリオ" panose="020B0604030504040204" pitchFamily="50" charset="-128"/>
                <a:ea typeface="メイリオ" panose="020B0604030504040204" pitchFamily="50" charset="-128"/>
              </a:rPr>
              <a:t>集客動線</a:t>
            </a:r>
            <a:endParaRPr kumimoji="1" lang="ja-JP" altLang="en-US" sz="1400" dirty="0">
              <a:latin typeface="メイリオ" panose="020B0604030504040204" pitchFamily="50" charset="-128"/>
              <a:ea typeface="メイリオ" panose="020B0604030504040204" pitchFamily="50" charset="-128"/>
            </a:endParaRPr>
          </a:p>
        </p:txBody>
      </p:sp>
      <p:sp>
        <p:nvSpPr>
          <p:cNvPr id="3" name="Google Shape;752;p28">
            <a:extLst>
              <a:ext uri="{FF2B5EF4-FFF2-40B4-BE49-F238E27FC236}">
                <a16:creationId xmlns:a16="http://schemas.microsoft.com/office/drawing/2014/main" id="{904F8023-0A36-6BE3-62EE-D51070498B24}"/>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カスタマージャーニーマップにあわせて</a:t>
            </a:r>
            <a:r>
              <a:rPr lang="en-US" altLang="ja-JP" sz="1600" b="1" dirty="0">
                <a:latin typeface="メイリオ" panose="020B0604030504040204" pitchFamily="50" charset="-128"/>
                <a:ea typeface="メイリオ" panose="020B0604030504040204" pitchFamily="50" charset="-128"/>
                <a:cs typeface="Meiryo"/>
                <a:sym typeface="Meiryo"/>
              </a:rPr>
              <a:t>LINE</a:t>
            </a:r>
            <a:r>
              <a:rPr lang="ja-JP" altLang="en-US" sz="1600" b="1" dirty="0">
                <a:latin typeface="メイリオ" panose="020B0604030504040204" pitchFamily="50" charset="-128"/>
                <a:ea typeface="メイリオ" panose="020B0604030504040204" pitchFamily="50" charset="-128"/>
                <a:cs typeface="Meiryo"/>
                <a:sym typeface="Meiryo"/>
              </a:rPr>
              <a:t>投稿を配置。</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a:ea typeface="メイリオ"/>
                <a:cs typeface="Meiryo"/>
                <a:sym typeface="Meiryo"/>
              </a:rPr>
              <a:t>一般的な</a:t>
            </a:r>
            <a:r>
              <a:rPr lang="en-US" altLang="ja-JP" sz="1600" b="1" dirty="0">
                <a:solidFill>
                  <a:srgbClr val="FF0000"/>
                </a:solidFill>
                <a:latin typeface="メイリオ"/>
                <a:ea typeface="メイリオ"/>
                <a:cs typeface="Meiryo"/>
                <a:sym typeface="Meiryo"/>
              </a:rPr>
              <a:t>8</a:t>
            </a:r>
            <a:r>
              <a:rPr lang="ja-JP" altLang="en-US" sz="1600" b="1" dirty="0">
                <a:solidFill>
                  <a:srgbClr val="FF0000"/>
                </a:solidFill>
                <a:latin typeface="メイリオ"/>
                <a:ea typeface="メイリオ"/>
                <a:cs typeface="Meiryo"/>
                <a:sym typeface="Meiryo"/>
              </a:rPr>
              <a:t>フェーズを、ジム・フィットネス業界に置き換えます。</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35" name="正方形/長方形 34">
            <a:extLst>
              <a:ext uri="{FF2B5EF4-FFF2-40B4-BE49-F238E27FC236}">
                <a16:creationId xmlns:a16="http://schemas.microsoft.com/office/drawing/2014/main" id="{39216026-B745-2CB7-2300-596DBF29255E}"/>
              </a:ext>
            </a:extLst>
          </p:cNvPr>
          <p:cNvSpPr/>
          <p:nvPr/>
        </p:nvSpPr>
        <p:spPr>
          <a:xfrm>
            <a:off x="334302" y="3490277"/>
            <a:ext cx="9425943" cy="196342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5" name="直線コネクタ 44">
            <a:extLst>
              <a:ext uri="{FF2B5EF4-FFF2-40B4-BE49-F238E27FC236}">
                <a16:creationId xmlns:a16="http://schemas.microsoft.com/office/drawing/2014/main" id="{C4F647CC-1C37-666A-4F18-40C733C21920}"/>
              </a:ext>
            </a:extLst>
          </p:cNvPr>
          <p:cNvCxnSpPr>
            <a:cxnSpLocks/>
          </p:cNvCxnSpPr>
          <p:nvPr/>
        </p:nvCxnSpPr>
        <p:spPr>
          <a:xfrm>
            <a:off x="315939" y="217881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6" name="直線コネクタ 45">
            <a:extLst>
              <a:ext uri="{FF2B5EF4-FFF2-40B4-BE49-F238E27FC236}">
                <a16:creationId xmlns:a16="http://schemas.microsoft.com/office/drawing/2014/main" id="{1EB69D6F-91F5-BD58-0BEA-AAD8176883FD}"/>
              </a:ext>
            </a:extLst>
          </p:cNvPr>
          <p:cNvCxnSpPr>
            <a:cxnSpLocks/>
          </p:cNvCxnSpPr>
          <p:nvPr/>
        </p:nvCxnSpPr>
        <p:spPr>
          <a:xfrm>
            <a:off x="1265077" y="219068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7" name="直線コネクタ 46">
            <a:extLst>
              <a:ext uri="{FF2B5EF4-FFF2-40B4-BE49-F238E27FC236}">
                <a16:creationId xmlns:a16="http://schemas.microsoft.com/office/drawing/2014/main" id="{BE98E184-2577-3AAE-D2B8-72B4FDAC37BE}"/>
              </a:ext>
            </a:extLst>
          </p:cNvPr>
          <p:cNvCxnSpPr>
            <a:cxnSpLocks/>
          </p:cNvCxnSpPr>
          <p:nvPr/>
        </p:nvCxnSpPr>
        <p:spPr>
          <a:xfrm>
            <a:off x="2202413" y="218803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a16:creationId xmlns:a16="http://schemas.microsoft.com/office/drawing/2014/main" id="{3FF32B18-EF78-43E6-F85B-06022F6E0B76}"/>
              </a:ext>
            </a:extLst>
          </p:cNvPr>
          <p:cNvCxnSpPr>
            <a:cxnSpLocks/>
          </p:cNvCxnSpPr>
          <p:nvPr/>
        </p:nvCxnSpPr>
        <p:spPr>
          <a:xfrm>
            <a:off x="3136468" y="220735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a16:creationId xmlns:a16="http://schemas.microsoft.com/office/drawing/2014/main" id="{972D4A84-F812-745D-8012-250B4552B997}"/>
              </a:ext>
            </a:extLst>
          </p:cNvPr>
          <p:cNvCxnSpPr>
            <a:cxnSpLocks/>
          </p:cNvCxnSpPr>
          <p:nvPr/>
        </p:nvCxnSpPr>
        <p:spPr>
          <a:xfrm>
            <a:off x="3541980" y="2217939"/>
            <a:ext cx="0" cy="3657614"/>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0" name="直線コネクタ 49">
            <a:extLst>
              <a:ext uri="{FF2B5EF4-FFF2-40B4-BE49-F238E27FC236}">
                <a16:creationId xmlns:a16="http://schemas.microsoft.com/office/drawing/2014/main" id="{844AC577-5EFA-CB60-B4CF-22AC71B2AE31}"/>
              </a:ext>
            </a:extLst>
          </p:cNvPr>
          <p:cNvCxnSpPr>
            <a:cxnSpLocks/>
          </p:cNvCxnSpPr>
          <p:nvPr/>
        </p:nvCxnSpPr>
        <p:spPr>
          <a:xfrm flipH="1">
            <a:off x="4830459" y="2229802"/>
            <a:ext cx="3322" cy="3645751"/>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1" name="直線コネクタ 50">
            <a:extLst>
              <a:ext uri="{FF2B5EF4-FFF2-40B4-BE49-F238E27FC236}">
                <a16:creationId xmlns:a16="http://schemas.microsoft.com/office/drawing/2014/main" id="{2F10844F-FFBB-F47D-A888-4E74272E000D}"/>
              </a:ext>
            </a:extLst>
          </p:cNvPr>
          <p:cNvCxnSpPr>
            <a:cxnSpLocks/>
          </p:cNvCxnSpPr>
          <p:nvPr/>
        </p:nvCxnSpPr>
        <p:spPr>
          <a:xfrm>
            <a:off x="6125582" y="2227160"/>
            <a:ext cx="0" cy="3648393"/>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2" name="直線コネクタ 51">
            <a:extLst>
              <a:ext uri="{FF2B5EF4-FFF2-40B4-BE49-F238E27FC236}">
                <a16:creationId xmlns:a16="http://schemas.microsoft.com/office/drawing/2014/main" id="{7A83D6DE-2FDB-43D7-254C-963478133303}"/>
              </a:ext>
            </a:extLst>
          </p:cNvPr>
          <p:cNvCxnSpPr>
            <a:cxnSpLocks/>
          </p:cNvCxnSpPr>
          <p:nvPr/>
        </p:nvCxnSpPr>
        <p:spPr>
          <a:xfrm>
            <a:off x="7417384" y="2217938"/>
            <a:ext cx="0" cy="3657615"/>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53" name="テキスト ボックス 52">
            <a:extLst>
              <a:ext uri="{FF2B5EF4-FFF2-40B4-BE49-F238E27FC236}">
                <a16:creationId xmlns:a16="http://schemas.microsoft.com/office/drawing/2014/main" id="{51F88B17-D24B-2FBF-DD4F-ACEDA2F1108B}"/>
              </a:ext>
            </a:extLst>
          </p:cNvPr>
          <p:cNvSpPr txBox="1"/>
          <p:nvPr/>
        </p:nvSpPr>
        <p:spPr>
          <a:xfrm>
            <a:off x="3542139" y="212416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54" name="テキスト ボックス 53">
            <a:extLst>
              <a:ext uri="{FF2B5EF4-FFF2-40B4-BE49-F238E27FC236}">
                <a16:creationId xmlns:a16="http://schemas.microsoft.com/office/drawing/2014/main" id="{13CCD889-9CB5-A25E-FF4C-285CF082C6EB}"/>
              </a:ext>
            </a:extLst>
          </p:cNvPr>
          <p:cNvSpPr txBox="1"/>
          <p:nvPr/>
        </p:nvSpPr>
        <p:spPr>
          <a:xfrm>
            <a:off x="6119413" y="253332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55" name="テキスト ボックス 54">
            <a:extLst>
              <a:ext uri="{FF2B5EF4-FFF2-40B4-BE49-F238E27FC236}">
                <a16:creationId xmlns:a16="http://schemas.microsoft.com/office/drawing/2014/main" id="{752D241B-7DDC-C05A-C891-858C99F0C81E}"/>
              </a:ext>
            </a:extLst>
          </p:cNvPr>
          <p:cNvSpPr txBox="1"/>
          <p:nvPr/>
        </p:nvSpPr>
        <p:spPr>
          <a:xfrm>
            <a:off x="4830776" y="232874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56" name="テキスト ボックス 55">
            <a:extLst>
              <a:ext uri="{FF2B5EF4-FFF2-40B4-BE49-F238E27FC236}">
                <a16:creationId xmlns:a16="http://schemas.microsoft.com/office/drawing/2014/main" id="{093F3B9E-1884-4283-7D47-92DF224DA02A}"/>
              </a:ext>
            </a:extLst>
          </p:cNvPr>
          <p:cNvSpPr txBox="1"/>
          <p:nvPr/>
        </p:nvSpPr>
        <p:spPr>
          <a:xfrm>
            <a:off x="7408050" y="273790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57" name="テキスト ボックス 56">
            <a:extLst>
              <a:ext uri="{FF2B5EF4-FFF2-40B4-BE49-F238E27FC236}">
                <a16:creationId xmlns:a16="http://schemas.microsoft.com/office/drawing/2014/main" id="{4B719D4F-60B6-01FD-6088-ACFD3B9EC8DD}"/>
              </a:ext>
            </a:extLst>
          </p:cNvPr>
          <p:cNvSpPr txBox="1"/>
          <p:nvPr/>
        </p:nvSpPr>
        <p:spPr>
          <a:xfrm>
            <a:off x="334303" y="213025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58" name="テキスト ボックス 57">
            <a:extLst>
              <a:ext uri="{FF2B5EF4-FFF2-40B4-BE49-F238E27FC236}">
                <a16:creationId xmlns:a16="http://schemas.microsoft.com/office/drawing/2014/main" id="{71407A20-3836-331E-F2F0-E75DDCF73BA0}"/>
              </a:ext>
            </a:extLst>
          </p:cNvPr>
          <p:cNvSpPr txBox="1"/>
          <p:nvPr/>
        </p:nvSpPr>
        <p:spPr>
          <a:xfrm>
            <a:off x="1268358" y="234091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60" name="テキスト ボックス 59">
            <a:extLst>
              <a:ext uri="{FF2B5EF4-FFF2-40B4-BE49-F238E27FC236}">
                <a16:creationId xmlns:a16="http://schemas.microsoft.com/office/drawing/2014/main" id="{F491CCB4-D02F-C3F5-CFB9-18B13F066C52}"/>
              </a:ext>
            </a:extLst>
          </p:cNvPr>
          <p:cNvSpPr txBox="1"/>
          <p:nvPr/>
        </p:nvSpPr>
        <p:spPr>
          <a:xfrm>
            <a:off x="2202413" y="253502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62" name="テキスト ボックス 61">
            <a:extLst>
              <a:ext uri="{FF2B5EF4-FFF2-40B4-BE49-F238E27FC236}">
                <a16:creationId xmlns:a16="http://schemas.microsoft.com/office/drawing/2014/main" id="{B68B9CA1-0E61-C60C-128F-E80096EDD924}"/>
              </a:ext>
            </a:extLst>
          </p:cNvPr>
          <p:cNvSpPr txBox="1"/>
          <p:nvPr/>
        </p:nvSpPr>
        <p:spPr>
          <a:xfrm>
            <a:off x="3136468" y="273137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64" name="コネクタ: カギ線 63">
            <a:extLst>
              <a:ext uri="{FF2B5EF4-FFF2-40B4-BE49-F238E27FC236}">
                <a16:creationId xmlns:a16="http://schemas.microsoft.com/office/drawing/2014/main" id="{56D3FA3C-F4ED-9DF1-7620-D677AB1A2177}"/>
              </a:ext>
            </a:extLst>
          </p:cNvPr>
          <p:cNvCxnSpPr>
            <a:cxnSpLocks/>
            <a:stCxn id="62" idx="0"/>
            <a:endCxn id="53" idx="2"/>
          </p:cNvCxnSpPr>
          <p:nvPr/>
        </p:nvCxnSpPr>
        <p:spPr>
          <a:xfrm rot="5400000" flipH="1" flipV="1">
            <a:off x="4282287" y="249442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44C83840-BFD9-E321-B4A5-19CD2533BF03}"/>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7" name="直線矢印コネクタ 66">
            <a:extLst>
              <a:ext uri="{FF2B5EF4-FFF2-40B4-BE49-F238E27FC236}">
                <a16:creationId xmlns:a16="http://schemas.microsoft.com/office/drawing/2014/main" id="{A1D5B73B-C438-03CD-3074-9F6465469319}"/>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68" name="テキスト ボックス 67">
            <a:extLst>
              <a:ext uri="{FF2B5EF4-FFF2-40B4-BE49-F238E27FC236}">
                <a16:creationId xmlns:a16="http://schemas.microsoft.com/office/drawing/2014/main" id="{221EB000-BCEE-D984-49E6-5421F03CC7D6}"/>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70" name="テキスト ボックス 69">
            <a:extLst>
              <a:ext uri="{FF2B5EF4-FFF2-40B4-BE49-F238E27FC236}">
                <a16:creationId xmlns:a16="http://schemas.microsoft.com/office/drawing/2014/main" id="{BF3977E5-B33C-C6FC-10BA-8F52ECFB03CA}"/>
              </a:ext>
            </a:extLst>
          </p:cNvPr>
          <p:cNvSpPr txBox="1"/>
          <p:nvPr/>
        </p:nvSpPr>
        <p:spPr>
          <a:xfrm>
            <a:off x="3541822" y="4078050"/>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来店・体験</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72" name="テキスト ボックス 71">
            <a:extLst>
              <a:ext uri="{FF2B5EF4-FFF2-40B4-BE49-F238E27FC236}">
                <a16:creationId xmlns:a16="http://schemas.microsoft.com/office/drawing/2014/main" id="{D6206F79-4BB4-7551-FF37-4057DB323042}"/>
              </a:ext>
            </a:extLst>
          </p:cNvPr>
          <p:cNvSpPr txBox="1"/>
          <p:nvPr/>
        </p:nvSpPr>
        <p:spPr>
          <a:xfrm>
            <a:off x="6119096" y="4771047"/>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74" name="テキスト ボックス 73">
            <a:extLst>
              <a:ext uri="{FF2B5EF4-FFF2-40B4-BE49-F238E27FC236}">
                <a16:creationId xmlns:a16="http://schemas.microsoft.com/office/drawing/2014/main" id="{2D803312-8977-E9CF-359E-78896D5177A7}"/>
              </a:ext>
            </a:extLst>
          </p:cNvPr>
          <p:cNvSpPr txBox="1"/>
          <p:nvPr/>
        </p:nvSpPr>
        <p:spPr>
          <a:xfrm>
            <a:off x="4830459" y="4424547"/>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76" name="テキスト ボックス 75">
            <a:extLst>
              <a:ext uri="{FF2B5EF4-FFF2-40B4-BE49-F238E27FC236}">
                <a16:creationId xmlns:a16="http://schemas.microsoft.com/office/drawing/2014/main" id="{EC4FAF12-FDAC-B48D-B571-CC028A01229C}"/>
              </a:ext>
            </a:extLst>
          </p:cNvPr>
          <p:cNvSpPr txBox="1"/>
          <p:nvPr/>
        </p:nvSpPr>
        <p:spPr>
          <a:xfrm>
            <a:off x="7408050" y="5126260"/>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⑧継続・PT/物販・友だち紹介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退会防止・再入会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
        <p:nvSpPr>
          <p:cNvPr id="77" name="テキスト ボックス 76">
            <a:extLst>
              <a:ext uri="{FF2B5EF4-FFF2-40B4-BE49-F238E27FC236}">
                <a16:creationId xmlns:a16="http://schemas.microsoft.com/office/drawing/2014/main" id="{78DCEB5B-FCE6-A4B7-134E-DC51AE101C96}"/>
              </a:ext>
            </a:extLst>
          </p:cNvPr>
          <p:cNvSpPr txBox="1"/>
          <p:nvPr/>
        </p:nvSpPr>
        <p:spPr>
          <a:xfrm>
            <a:off x="334303" y="3728123"/>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a:t>
            </a:r>
            <a:r>
              <a:rPr lang="ja-JP" altLang="en-US" sz="1100" b="1" dirty="0">
                <a:latin typeface="メイリオ" panose="020B0604030504040204" pitchFamily="50" charset="-128"/>
                <a:ea typeface="メイリオ" panose="020B0604030504040204" pitchFamily="50" charset="-128"/>
              </a:rPr>
              <a:t>広告</a:t>
            </a:r>
            <a:r>
              <a:rPr lang="ja-JP" altLang="ja-JP" sz="1100" b="1" dirty="0">
                <a:latin typeface="メイリオ" panose="020B0604030504040204" pitchFamily="50" charset="-128"/>
                <a:ea typeface="メイリオ" panose="020B0604030504040204" pitchFamily="50" charset="-128"/>
              </a:rPr>
              <a:t>接触</a:t>
            </a:r>
            <a:r>
              <a:rPr lang="ja-JP" altLang="ja-JP" sz="1050" b="1" dirty="0">
                <a:latin typeface="メイリオ" panose="020B0604030504040204" pitchFamily="50" charset="-128"/>
                <a:ea typeface="メイリオ" panose="020B0604030504040204" pitchFamily="50" charset="-128"/>
              </a:rPr>
              <a:t>（認知・流入）</a:t>
            </a:r>
            <a:endParaRPr lang="en-US" altLang="ja-JP" sz="1100" b="1" dirty="0">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7489B5AC-E8EC-12A6-77B1-767D57C6C111}"/>
              </a:ext>
            </a:extLst>
          </p:cNvPr>
          <p:cNvSpPr txBox="1"/>
          <p:nvPr/>
        </p:nvSpPr>
        <p:spPr>
          <a:xfrm>
            <a:off x="1268358" y="4078050"/>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050" b="1" dirty="0">
                <a:latin typeface="メイリオ" panose="020B0604030504040204" pitchFamily="50" charset="-128"/>
                <a:ea typeface="メイリオ" panose="020B0604030504040204" pitchFamily="50" charset="-128"/>
              </a:rPr>
              <a:t>（対策）</a:t>
            </a:r>
            <a:endParaRPr lang="en-US" altLang="ja-JP" sz="1100" b="1" dirty="0">
              <a:latin typeface="メイリオ" panose="020B0604030504040204" pitchFamily="50" charset="-128"/>
              <a:ea typeface="メイリオ" panose="020B0604030504040204" pitchFamily="50" charset="-128"/>
            </a:endParaRPr>
          </a:p>
        </p:txBody>
      </p:sp>
      <p:sp>
        <p:nvSpPr>
          <p:cNvPr id="79" name="テキスト ボックス 78">
            <a:extLst>
              <a:ext uri="{FF2B5EF4-FFF2-40B4-BE49-F238E27FC236}">
                <a16:creationId xmlns:a16="http://schemas.microsoft.com/office/drawing/2014/main" id="{3C51428D-94BF-DEDC-89ED-6FC6DD5D8DDB}"/>
              </a:ext>
            </a:extLst>
          </p:cNvPr>
          <p:cNvSpPr txBox="1"/>
          <p:nvPr/>
        </p:nvSpPr>
        <p:spPr>
          <a:xfrm>
            <a:off x="2202413" y="4419264"/>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a:t>
            </a:r>
            <a:r>
              <a:rPr lang="ja-JP" altLang="ja-JP" sz="1050" b="1" dirty="0">
                <a:latin typeface="メイリオ" panose="020B0604030504040204" pitchFamily="50" charset="-128"/>
                <a:ea typeface="メイリオ" panose="020B0604030504040204" pitchFamily="50" charset="-128"/>
              </a:rPr>
              <a:t>（興味</a:t>
            </a:r>
            <a:r>
              <a:rPr lang="ja-JP" altLang="en-US" sz="1050" b="1" dirty="0">
                <a:latin typeface="メイリオ" panose="020B0604030504040204" pitchFamily="50" charset="-128"/>
                <a:ea typeface="メイリオ" panose="020B0604030504040204" pitchFamily="50" charset="-128"/>
              </a:rPr>
              <a:t>喚起</a:t>
            </a:r>
            <a:r>
              <a:rPr lang="ja-JP" altLang="ja-JP" sz="105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70A8450A-EBDB-52BF-A9C2-03CB7CC3C8E9}"/>
              </a:ext>
            </a:extLst>
          </p:cNvPr>
          <p:cNvSpPr txBox="1"/>
          <p:nvPr/>
        </p:nvSpPr>
        <p:spPr>
          <a:xfrm>
            <a:off x="3132447" y="4760482"/>
            <a:ext cx="1868111" cy="261610"/>
          </a:xfrm>
          <a:prstGeom prst="rect">
            <a:avLst/>
          </a:prstGeom>
          <a:solidFill>
            <a:srgbClr val="FFC000"/>
          </a:solidFill>
          <a:ln>
            <a:noFill/>
          </a:ln>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④体験予約(web/LINE)</a:t>
            </a:r>
          </a:p>
        </p:txBody>
      </p:sp>
      <p:cxnSp>
        <p:nvCxnSpPr>
          <p:cNvPr id="81" name="コネクタ: カギ線 80">
            <a:extLst>
              <a:ext uri="{FF2B5EF4-FFF2-40B4-BE49-F238E27FC236}">
                <a16:creationId xmlns:a16="http://schemas.microsoft.com/office/drawing/2014/main" id="{769329CD-26D3-6976-EDB8-825AA2A0377F}"/>
              </a:ext>
            </a:extLst>
          </p:cNvPr>
          <p:cNvCxnSpPr>
            <a:cxnSpLocks/>
            <a:stCxn id="80" idx="0"/>
            <a:endCxn id="70" idx="2"/>
          </p:cNvCxnSpPr>
          <p:nvPr/>
        </p:nvCxnSpPr>
        <p:spPr>
          <a:xfrm rot="5400000" flipH="1" flipV="1">
            <a:off x="4181800" y="4411939"/>
            <a:ext cx="420822" cy="276264"/>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83" name="正方形/長方形 82">
            <a:extLst>
              <a:ext uri="{FF2B5EF4-FFF2-40B4-BE49-F238E27FC236}">
                <a16:creationId xmlns:a16="http://schemas.microsoft.com/office/drawing/2014/main" id="{E8127D07-4E85-C0E9-8B4C-7D62F671E28E}"/>
              </a:ext>
            </a:extLst>
          </p:cNvPr>
          <p:cNvSpPr/>
          <p:nvPr/>
        </p:nvSpPr>
        <p:spPr>
          <a:xfrm>
            <a:off x="315939" y="5602451"/>
            <a:ext cx="9444306" cy="273102"/>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 --- ジム・フィットネス業界の場合 --- →</a:t>
            </a:r>
          </a:p>
        </p:txBody>
      </p:sp>
      <p:sp>
        <p:nvSpPr>
          <p:cNvPr id="85" name="正方形/長方形 84">
            <a:extLst>
              <a:ext uri="{FF2B5EF4-FFF2-40B4-BE49-F238E27FC236}">
                <a16:creationId xmlns:a16="http://schemas.microsoft.com/office/drawing/2014/main" id="{66C41415-042E-E9AD-6C7B-92F406CC1EBB}"/>
              </a:ext>
            </a:extLst>
          </p:cNvPr>
          <p:cNvSpPr/>
          <p:nvPr/>
        </p:nvSpPr>
        <p:spPr>
          <a:xfrm>
            <a:off x="315939" y="3491120"/>
            <a:ext cx="9444306" cy="65379"/>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endParaRPr>
          </a:p>
        </p:txBody>
      </p:sp>
      <p:sp>
        <p:nvSpPr>
          <p:cNvPr id="8" name="テキスト ボックス 7">
            <a:extLst>
              <a:ext uri="{FF2B5EF4-FFF2-40B4-BE49-F238E27FC236}">
                <a16:creationId xmlns:a16="http://schemas.microsoft.com/office/drawing/2014/main" id="{1C950DF6-576B-3B15-68F7-F01A709B2429}"/>
              </a:ext>
            </a:extLst>
          </p:cNvPr>
          <p:cNvSpPr txBox="1"/>
          <p:nvPr/>
        </p:nvSpPr>
        <p:spPr>
          <a:xfrm>
            <a:off x="2544451" y="6031135"/>
            <a:ext cx="5359159" cy="461665"/>
          </a:xfrm>
          <a:prstGeom prst="rect">
            <a:avLst/>
          </a:prstGeom>
          <a:noFill/>
        </p:spPr>
        <p:txBody>
          <a:bodyPr wrap="none" rtlCol="0">
            <a:spAutoFit/>
          </a:bodyPr>
          <a:lstStyle/>
          <a:p>
            <a:r>
              <a:rPr lang="ja-JP" altLang="en-US" sz="1200" dirty="0">
                <a:latin typeface="メイリオ"/>
                <a:ea typeface="メイリオ"/>
              </a:rPr>
              <a:t>一般的な</a:t>
            </a:r>
            <a:r>
              <a:rPr lang="en-US" altLang="ja-JP" sz="1200" dirty="0">
                <a:latin typeface="メイリオ"/>
                <a:ea typeface="メイリオ"/>
              </a:rPr>
              <a:t>8</a:t>
            </a:r>
            <a:r>
              <a:rPr lang="ja-JP" altLang="en-US" sz="1200" dirty="0">
                <a:latin typeface="メイリオ"/>
                <a:ea typeface="メイリオ"/>
              </a:rPr>
              <a:t>フェーズを、ジム・フィットネスに置き換えるとこうなります。</a:t>
            </a:r>
          </a:p>
          <a:p>
            <a:r>
              <a:rPr lang="ja-JP" altLang="en-US" sz="1200" dirty="0">
                <a:latin typeface="メイリオ"/>
                <a:ea typeface="メイリオ"/>
              </a:rPr>
              <a:t>④体験予約 → ⑤来店 → ⑦ご入会 が、この業界の</a:t>
            </a:r>
            <a:r>
              <a:rPr lang="en-US" altLang="ja-JP" sz="1200" dirty="0">
                <a:latin typeface="メイリオ"/>
                <a:ea typeface="メイリオ"/>
              </a:rPr>
              <a:t>CV</a:t>
            </a:r>
            <a:r>
              <a:rPr lang="ja-JP" altLang="en-US" sz="1200" dirty="0">
                <a:latin typeface="メイリオ"/>
                <a:ea typeface="メイリオ"/>
              </a:rPr>
              <a:t>地点です。</a:t>
            </a:r>
            <a:endParaRPr kumimoji="1" lang="ja-JP" altLang="en-US" sz="1200" dirty="0">
              <a:latin typeface="+mn-ea"/>
            </a:endParaRPr>
          </a:p>
        </p:txBody>
      </p:sp>
    </p:spTree>
    <p:extLst>
      <p:ext uri="{BB962C8B-B14F-4D97-AF65-F5344CB8AC3E}">
        <p14:creationId xmlns:p14="http://schemas.microsoft.com/office/powerpoint/2010/main" val="35094802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58B38-C7A2-1CE4-FDFD-8D6A744BB63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DF0FF7A7-A3FC-42B0-F7A4-BA0AD0C3DD9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EA154C-E574-B6EC-24FA-4060142D037B}"/>
              </a:ext>
            </a:extLst>
          </p:cNvPr>
          <p:cNvSpPr/>
          <p:nvPr/>
        </p:nvSpPr>
        <p:spPr>
          <a:xfrm>
            <a:off x="-85484" y="793451"/>
            <a:ext cx="10076969"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tIns="90000" anchor="ctr"/>
          <a:lstStyle/>
          <a:p>
            <a:pPr algn="ctr">
              <a:lnSpc>
                <a:spcPts val="2455"/>
              </a:lnSpc>
            </a:pPr>
            <a:r>
              <a:rPr sz="1400">
                <a:solidFill>
                  <a:srgbClr val="343434"/>
                </a:solidFill>
                <a:latin typeface="メイリオ"/>
                <a:ea typeface="メイリオ"/>
                <a:cs typeface="メイリオ"/>
              </a:rPr>
              <a:t>検索需要は5年間ほぼ横ばい。一方で大手の店舗数は3年で1,000店超増えました。</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sz="1400">
                <a:solidFill>
                  <a:srgbClr val="343434"/>
                </a:solidFill>
                <a:latin typeface="メイリオ"/>
                <a:ea typeface="メイリオ"/>
                <a:cs typeface="メイリオ"/>
              </a:rPr>
              <a:t>→同じ人数をより多くの店で奪い合う構造です。検索広告に依存するほど条件は厳しくなります。</a:t>
            </a:r>
          </a:p>
        </p:txBody>
      </p:sp>
      <p:cxnSp>
        <p:nvCxnSpPr>
          <p:cNvPr id="5" name="直線コネクタ 4">
            <a:extLst>
              <a:ext uri="{FF2B5EF4-FFF2-40B4-BE49-F238E27FC236}">
                <a16:creationId xmlns:a16="http://schemas.microsoft.com/office/drawing/2014/main" id="{03D37819-F9B0-21D0-F3D4-E790F695CE35}"/>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AFD79ABE-D266-F25C-019A-B9E215857663}"/>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90" name="Text 22">
            <a:extLst>
              <a:ext uri="{FF2B5EF4-FFF2-40B4-BE49-F238E27FC236}">
                <a16:creationId xmlns:a16="http://schemas.microsoft.com/office/drawing/2014/main" id="{8200CA8A-D095-2BD7-6490-5DB801AFAA26}"/>
              </a:ext>
            </a:extLst>
          </p:cNvPr>
          <p:cNvSpPr/>
          <p:nvPr/>
        </p:nvSpPr>
        <p:spPr>
          <a:xfrm>
            <a:off x="1550716" y="1248171"/>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CE4649BB-D97A-4AB7-AA4E-FFF5CC432064}"/>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7" name="テキスト ボックス 6">
            <a:extLst>
              <a:ext uri="{FF2B5EF4-FFF2-40B4-BE49-F238E27FC236}">
                <a16:creationId xmlns:a16="http://schemas.microsoft.com/office/drawing/2014/main" id="{7506C918-810D-8185-C735-E1F5DE008329}"/>
              </a:ext>
            </a:extLst>
          </p:cNvPr>
          <p:cNvSpPr txBox="1"/>
          <p:nvPr/>
        </p:nvSpPr>
        <p:spPr>
          <a:xfrm>
            <a:off x="422366" y="1618998"/>
            <a:ext cx="5512524" cy="738664"/>
          </a:xfrm>
          <a:prstGeom prst="rect">
            <a:avLst/>
          </a:prstGeom>
          <a:noFill/>
        </p:spPr>
        <p:txBody>
          <a:bodyPr wrap="square">
            <a:spAutoFit/>
          </a:bodyPr>
          <a:lstStyle/>
          <a:p>
            <a:r>
              <a:rPr lang="ja-JP" altLang="en-US" sz="1400" b="1" i="0" dirty="0">
                <a:solidFill>
                  <a:srgbClr val="525860"/>
                </a:solidFill>
                <a:effectLst/>
                <a:latin typeface="メイリオ" panose="020B0604030504040204" pitchFamily="50" charset="-128"/>
                <a:ea typeface="メイリオ" panose="020B0604030504040204" pitchFamily="50" charset="-128"/>
              </a:rPr>
              <a:t>検索広告における</a:t>
            </a:r>
            <a:r>
              <a:rPr lang="en-US" altLang="ja-JP" sz="1400" b="1" i="0" dirty="0">
                <a:solidFill>
                  <a:srgbClr val="525860"/>
                </a:solidFill>
                <a:effectLst/>
                <a:latin typeface="メイリオ" panose="020B0604030504040204" pitchFamily="50" charset="-128"/>
                <a:ea typeface="メイリオ" panose="020B0604030504040204" pitchFamily="50" charset="-128"/>
              </a:rPr>
              <a:t>CPC</a:t>
            </a:r>
            <a:r>
              <a:rPr lang="ja-JP" altLang="en-US" sz="1400" b="1" i="0" dirty="0">
                <a:solidFill>
                  <a:srgbClr val="525860"/>
                </a:solidFill>
                <a:effectLst/>
                <a:latin typeface="メイリオ" panose="020B0604030504040204" pitchFamily="50" charset="-128"/>
                <a:ea typeface="メイリオ" panose="020B0604030504040204" pitchFamily="50" charset="-128"/>
              </a:rPr>
              <a:t>の推移</a:t>
            </a:r>
            <a:br>
              <a:rPr lang="ja-JP" altLang="ja-JP" sz="2800" b="1" dirty="0">
                <a:latin typeface="メイリオ" panose="020B0604030504040204" pitchFamily="50" charset="-128"/>
                <a:ea typeface="メイリオ" panose="020B0604030504040204" pitchFamily="50" charset="-128"/>
              </a:rPr>
            </a:br>
            <a:endParaRPr lang="ja-JP" altLang="en-US" sz="2800" b="1" dirty="0">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E6C884B8-5140-2AFF-15DD-138629C82DCB}"/>
              </a:ext>
            </a:extLst>
          </p:cNvPr>
          <p:cNvSpPr/>
          <p:nvPr/>
        </p:nvSpPr>
        <p:spPr>
          <a:xfrm>
            <a:off x="283029" y="2048899"/>
            <a:ext cx="9117874" cy="574766"/>
          </a:xfrm>
          <a:prstGeom prst="rect">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400" b="1" dirty="0">
                <a:solidFill>
                  <a:schemeClr val="tx1"/>
                </a:solidFill>
                <a:latin typeface="メイリオ" panose="020B0604030504040204" pitchFamily="50" charset="-128"/>
                <a:ea typeface="メイリオ" panose="020B0604030504040204" pitchFamily="50" charset="-128"/>
              </a:rPr>
              <a:t>需要構造・経済環境・媒体仕様の三層要因により検索広告の</a:t>
            </a:r>
            <a:r>
              <a:rPr lang="en-US" altLang="ja-JP" sz="1400" b="1" dirty="0">
                <a:solidFill>
                  <a:schemeClr val="tx1"/>
                </a:solidFill>
                <a:latin typeface="メイリオ" panose="020B0604030504040204" pitchFamily="50" charset="-128"/>
                <a:ea typeface="メイリオ" panose="020B0604030504040204" pitchFamily="50" charset="-128"/>
              </a:rPr>
              <a:t>CPC</a:t>
            </a:r>
            <a:r>
              <a:rPr lang="ja-JP" altLang="en-US" sz="1400" b="1" dirty="0">
                <a:solidFill>
                  <a:schemeClr val="tx1"/>
                </a:solidFill>
                <a:latin typeface="メイリオ" panose="020B0604030504040204" pitchFamily="50" charset="-128"/>
                <a:ea typeface="メイリオ" panose="020B0604030504040204" pitchFamily="50" charset="-128"/>
              </a:rPr>
              <a:t>は構造的に上昇している</a:t>
            </a:r>
            <a:endParaRPr lang="en-US" altLang="ja-JP" sz="1400" b="1" dirty="0">
              <a:solidFill>
                <a:schemeClr val="tx1"/>
              </a:solidFill>
              <a:latin typeface="メイリオ" panose="020B0604030504040204" pitchFamily="50" charset="-128"/>
              <a:ea typeface="メイリオ" panose="020B0604030504040204" pitchFamily="50" charset="-128"/>
            </a:endParaRPr>
          </a:p>
          <a:p>
            <a:r>
              <a:rPr lang="ja-JP" altLang="en-US" sz="1400" dirty="0">
                <a:solidFill>
                  <a:schemeClr val="tx1"/>
                </a:solidFill>
                <a:latin typeface="メイリオ" panose="020B0604030504040204" pitchFamily="50" charset="-128"/>
                <a:ea typeface="メイリオ" panose="020B0604030504040204" pitchFamily="50" charset="-128"/>
              </a:rPr>
              <a:t>→同一成果を維持するための広告費は年々増加しており、費用対効果の改善には検索依存からの脱却が不可欠</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 name="正方形/長方形 8">
            <a:extLst>
              <a:ext uri="{FF2B5EF4-FFF2-40B4-BE49-F238E27FC236}">
                <a16:creationId xmlns:a16="http://schemas.microsoft.com/office/drawing/2014/main" id="{5AF5451E-53A3-FB12-1B70-368E81E5724E}"/>
              </a:ext>
            </a:extLst>
          </p:cNvPr>
          <p:cNvSpPr/>
          <p:nvPr/>
        </p:nvSpPr>
        <p:spPr>
          <a:xfrm>
            <a:off x="283029" y="2940426"/>
            <a:ext cx="3744686" cy="1043589"/>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lstStyle/>
          <a:p>
            <a:pPr algn="ctr"/>
            <a:r>
              <a:rPr sz="1200" b="1">
                <a:solidFill>
                  <a:srgbClr val="002060"/>
                </a:solidFill>
                <a:latin typeface="メイリオ"/>
                <a:ea typeface="メイリオ"/>
                <a:cs typeface="メイリオ"/>
              </a:rPr>
              <a:t>市場競争要因</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sz="1100" b="0">
                <a:solidFill>
                  <a:srgbClr val="1A1A2E"/>
                </a:solidFill>
                <a:latin typeface="メイリオ"/>
                <a:ea typeface="メイリオ"/>
                <a:cs typeface="メイリオ"/>
              </a:rPr>
              <a:t>参入企業の増加（大手15社で3年＋1,000店超）</a:t>
            </a:r>
          </a:p>
          <a:p>
            <a:pPr algn="ctr"/>
            <a:r>
              <a:rPr sz="1100" b="0">
                <a:solidFill>
                  <a:srgbClr val="1A1A2E"/>
                </a:solidFill>
                <a:latin typeface="メイリオ"/>
                <a:ea typeface="メイリオ"/>
                <a:cs typeface="メイリオ"/>
              </a:rPr>
              <a:t>LTV前提の過剰入札</a:t>
            </a:r>
          </a:p>
          <a:p>
            <a:pPr algn="ctr"/>
            <a:r>
              <a:rPr sz="1100" b="0">
                <a:solidFill>
                  <a:srgbClr val="1A1A2E"/>
                </a:solidFill>
                <a:latin typeface="メイリオ"/>
                <a:ea typeface="メイリオ"/>
                <a:cs typeface="メイリオ"/>
              </a:rPr>
              <a:t>“比較サイト化”による競争集中</a:t>
            </a:r>
          </a:p>
        </p:txBody>
      </p:sp>
      <p:sp>
        <p:nvSpPr>
          <p:cNvPr id="11" name="正方形/長方形 10">
            <a:extLst>
              <a:ext uri="{FF2B5EF4-FFF2-40B4-BE49-F238E27FC236}">
                <a16:creationId xmlns:a16="http://schemas.microsoft.com/office/drawing/2014/main" id="{CD688CD6-06D4-183B-FAB6-7FAAE7B2E63E}"/>
              </a:ext>
            </a:extLst>
          </p:cNvPr>
          <p:cNvSpPr/>
          <p:nvPr/>
        </p:nvSpPr>
        <p:spPr>
          <a:xfrm>
            <a:off x="283029" y="5125754"/>
            <a:ext cx="3744686" cy="104359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マクロ経済要因</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lang="en-US" altLang="ja-JP" sz="6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100" u="sng" dirty="0">
                <a:solidFill>
                  <a:schemeClr val="tx1">
                    <a:lumMod val="75000"/>
                    <a:lumOff val="25000"/>
                  </a:schemeClr>
                </a:solidFill>
                <a:latin typeface="メイリオ" panose="020B0604030504040204" pitchFamily="50" charset="-128"/>
                <a:ea typeface="メイリオ" panose="020B0604030504040204" pitchFamily="50" charset="-128"/>
              </a:rPr>
              <a:t>広告費のデジタルシフト</a:t>
            </a:r>
            <a:endParaRPr lang="en-US" altLang="ja-JP" sz="1100" u="sng"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kumimoji="1" lang="ja-JP" altLang="en-US" sz="1100" dirty="0">
                <a:solidFill>
                  <a:schemeClr val="tx1">
                    <a:lumMod val="75000"/>
                    <a:lumOff val="25000"/>
                  </a:schemeClr>
                </a:solidFill>
                <a:latin typeface="メイリオ" panose="020B0604030504040204" pitchFamily="50" charset="-128"/>
                <a:ea typeface="メイリオ" panose="020B0604030504040204" pitchFamily="50" charset="-128"/>
              </a:rPr>
              <a:t>インフレによる</a:t>
            </a:r>
            <a:r>
              <a:rPr kumimoji="1" lang="en-US" altLang="ja-JP" sz="1100" dirty="0">
                <a:solidFill>
                  <a:schemeClr val="tx1">
                    <a:lumMod val="75000"/>
                    <a:lumOff val="25000"/>
                  </a:schemeClr>
                </a:solidFill>
                <a:latin typeface="メイリオ" panose="020B0604030504040204" pitchFamily="50" charset="-128"/>
                <a:ea typeface="メイリオ" panose="020B0604030504040204" pitchFamily="50" charset="-128"/>
              </a:rPr>
              <a:t>CPA</a:t>
            </a:r>
            <a:r>
              <a:rPr kumimoji="1" lang="ja-JP" altLang="en-US" sz="1100" dirty="0">
                <a:solidFill>
                  <a:schemeClr val="tx1">
                    <a:lumMod val="75000"/>
                    <a:lumOff val="25000"/>
                  </a:schemeClr>
                </a:solidFill>
                <a:latin typeface="メイリオ" panose="020B0604030504040204" pitchFamily="50" charset="-128"/>
                <a:ea typeface="メイリオ" panose="020B0604030504040204" pitchFamily="50" charset="-128"/>
              </a:rPr>
              <a:t>許容値上昇</a:t>
            </a:r>
            <a:endParaRPr kumimoji="1" lang="en-US" altLang="ja-JP" sz="11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100" dirty="0">
                <a:solidFill>
                  <a:schemeClr val="tx1">
                    <a:lumMod val="75000"/>
                    <a:lumOff val="25000"/>
                  </a:schemeClr>
                </a:solidFill>
                <a:latin typeface="メイリオ" panose="020B0604030504040204" pitchFamily="50" charset="-128"/>
                <a:ea typeface="メイリオ" panose="020B0604030504040204" pitchFamily="50" charset="-128"/>
              </a:rPr>
              <a:t>低金利→投資マネー流入</a:t>
            </a:r>
            <a:endParaRPr kumimoji="1" lang="en-US" altLang="ja-JP" sz="11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3" name="正方形/長方形 12">
            <a:extLst>
              <a:ext uri="{FF2B5EF4-FFF2-40B4-BE49-F238E27FC236}">
                <a16:creationId xmlns:a16="http://schemas.microsoft.com/office/drawing/2014/main" id="{F564AF1C-D233-CAC0-8959-610D7489C2D8}"/>
              </a:ext>
            </a:extLst>
          </p:cNvPr>
          <p:cNvSpPr/>
          <p:nvPr/>
        </p:nvSpPr>
        <p:spPr>
          <a:xfrm>
            <a:off x="283029" y="4033090"/>
            <a:ext cx="3744686" cy="1043589"/>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媒体・技術要因</a:t>
            </a: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lang="en-US" altLang="ja-JP" sz="6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kumimoji="1" lang="ja-JP" altLang="en-US" sz="1100" u="sng" dirty="0">
                <a:solidFill>
                  <a:schemeClr val="tx1">
                    <a:lumMod val="75000"/>
                    <a:lumOff val="25000"/>
                  </a:schemeClr>
                </a:solidFill>
                <a:latin typeface="メイリオ" panose="020B0604030504040204" pitchFamily="50" charset="-128"/>
                <a:ea typeface="メイリオ" panose="020B0604030504040204" pitchFamily="50" charset="-128"/>
              </a:rPr>
              <a:t>自動入札アルゴリズムの普及</a:t>
            </a:r>
            <a:endParaRPr kumimoji="1" lang="en-US" altLang="ja-JP" sz="1100" u="sng"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100" dirty="0">
                <a:solidFill>
                  <a:schemeClr val="tx1">
                    <a:lumMod val="75000"/>
                    <a:lumOff val="25000"/>
                  </a:schemeClr>
                </a:solidFill>
                <a:latin typeface="メイリオ" panose="020B0604030504040204" pitchFamily="50" charset="-128"/>
                <a:ea typeface="メイリオ" panose="020B0604030504040204" pitchFamily="50" charset="-128"/>
              </a:rPr>
              <a:t>広告枠の実質減少</a:t>
            </a:r>
            <a:endParaRPr lang="en-US" altLang="ja-JP" sz="11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5" name="右中かっこ 14">
            <a:extLst>
              <a:ext uri="{FF2B5EF4-FFF2-40B4-BE49-F238E27FC236}">
                <a16:creationId xmlns:a16="http://schemas.microsoft.com/office/drawing/2014/main" id="{C2943848-5BD0-2838-D62F-51572D5DB8C0}"/>
              </a:ext>
            </a:extLst>
          </p:cNvPr>
          <p:cNvSpPr/>
          <p:nvPr/>
        </p:nvSpPr>
        <p:spPr>
          <a:xfrm>
            <a:off x="4239240" y="2940425"/>
            <a:ext cx="286696" cy="3225087"/>
          </a:xfrm>
          <a:prstGeom prst="rightBrace">
            <a:avLst>
              <a:gd name="adj1" fmla="val 50859"/>
              <a:gd name="adj2" fmla="val 11010"/>
            </a:avLst>
          </a:prstGeom>
          <a:ln>
            <a:solidFill>
              <a:schemeClr val="tx2"/>
            </a:solidFill>
          </a:ln>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sz="1400">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E9FABDC4-2C00-F5C7-B85D-477CCDFC4CEF}"/>
              </a:ext>
            </a:extLst>
          </p:cNvPr>
          <p:cNvSpPr/>
          <p:nvPr/>
        </p:nvSpPr>
        <p:spPr>
          <a:xfrm>
            <a:off x="4769525" y="2933550"/>
            <a:ext cx="4631377" cy="629653"/>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tx1"/>
                </a:solidFill>
                <a:latin typeface="メイリオ" panose="020B0604030504040204" pitchFamily="50" charset="-128"/>
                <a:ea typeface="メイリオ" panose="020B0604030504040204" pitchFamily="50" charset="-128"/>
              </a:rPr>
              <a:t>CPC</a:t>
            </a:r>
            <a:r>
              <a:rPr lang="ja-JP" altLang="en-US" sz="1200" b="1" dirty="0">
                <a:solidFill>
                  <a:schemeClr val="tx1"/>
                </a:solidFill>
                <a:latin typeface="メイリオ" panose="020B0604030504040204" pitchFamily="50" charset="-128"/>
                <a:ea typeface="メイリオ" panose="020B0604030504040204" pitchFamily="50" charset="-128"/>
              </a:rPr>
              <a:t>は構造的に上昇傾向</a:t>
            </a:r>
            <a:r>
              <a:rPr lang="en-US" altLang="ja-JP" sz="1200" b="1" dirty="0">
                <a:solidFill>
                  <a:schemeClr val="tx1"/>
                </a:solidFill>
                <a:latin typeface="メイリオ" panose="020B0604030504040204" pitchFamily="50" charset="-128"/>
                <a:ea typeface="メイリオ" panose="020B0604030504040204" pitchFamily="50" charset="-128"/>
              </a:rPr>
              <a:t>  /  </a:t>
            </a:r>
            <a:r>
              <a:rPr kumimoji="1" lang="ja-JP" altLang="en-US" sz="1200" b="1" dirty="0">
                <a:solidFill>
                  <a:schemeClr val="tx1"/>
                </a:solidFill>
                <a:latin typeface="メイリオ" panose="020B0604030504040204" pitchFamily="50" charset="-128"/>
                <a:ea typeface="メイリオ" panose="020B0604030504040204" pitchFamily="50" charset="-128"/>
              </a:rPr>
              <a:t>検索ボリュームは伸び悩み</a:t>
            </a:r>
            <a:endParaRPr kumimoji="1" lang="en-US" altLang="ja-JP" sz="1200" b="1" dirty="0">
              <a:solidFill>
                <a:schemeClr val="tx1"/>
              </a:solidFill>
              <a:latin typeface="メイリオ" panose="020B0604030504040204" pitchFamily="50" charset="-128"/>
              <a:ea typeface="メイリオ" panose="020B0604030504040204" pitchFamily="50" charset="-128"/>
            </a:endParaRPr>
          </a:p>
        </p:txBody>
      </p:sp>
      <p:sp>
        <p:nvSpPr>
          <p:cNvPr id="23" name="正方形/長方形 22">
            <a:extLst>
              <a:ext uri="{FF2B5EF4-FFF2-40B4-BE49-F238E27FC236}">
                <a16:creationId xmlns:a16="http://schemas.microsoft.com/office/drawing/2014/main" id="{FE7F5D08-3889-C262-3F9F-B5524E38C4ED}"/>
              </a:ext>
            </a:extLst>
          </p:cNvPr>
          <p:cNvSpPr/>
          <p:nvPr/>
        </p:nvSpPr>
        <p:spPr>
          <a:xfrm>
            <a:off x="7014753" y="3621957"/>
            <a:ext cx="2299750" cy="2538790"/>
          </a:xfrm>
          <a:prstGeom prst="rect">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lstStyle/>
          <a:p>
            <a:pPr algn="ctr"/>
            <a:r>
              <a:rPr sz="1050" b="1">
                <a:solidFill>
                  <a:srgbClr val="002060"/>
                </a:solidFill>
                <a:latin typeface="メイリオ"/>
                <a:ea typeface="メイリオ"/>
                <a:cs typeface="メイリオ"/>
              </a:rPr>
              <a:t>【検索需要】</a:t>
            </a:r>
          </a:p>
          <a:p>
            <a:pPr algn="ctr"/>
            <a:r>
              <a:rPr sz="1050" b="0">
                <a:solidFill>
                  <a:srgbClr val="1A1A2E"/>
                </a:solidFill>
                <a:latin typeface="メイリオ"/>
                <a:ea typeface="メイリオ"/>
                <a:cs typeface="メイリオ"/>
              </a:rPr>
              <a:t>ジム 5年で ＋2％（横ばい）</a:t>
            </a:r>
          </a:p>
          <a:p>
            <a:pPr algn="ctr"/>
            <a:r>
              <a:rPr sz="1050" b="1">
                <a:solidFill>
                  <a:srgbClr val="002060"/>
                </a:solidFill>
                <a:latin typeface="メイリオ"/>
                <a:ea typeface="メイリオ"/>
                <a:cs typeface="メイリオ"/>
              </a:rPr>
              <a:t>【大手15社の店舗数 ＋1,000店】</a:t>
            </a:r>
          </a:p>
          <a:p>
            <a:pPr algn="ctr"/>
            <a:r>
              <a:rPr sz="1050" b="0">
                <a:solidFill>
                  <a:srgbClr val="1A1A2E"/>
                </a:solidFill>
                <a:latin typeface="メイリオ"/>
                <a:ea typeface="メイリオ"/>
                <a:cs typeface="メイリオ"/>
              </a:rPr>
              <a:t>4,387店 → 5,900店</a:t>
            </a:r>
          </a:p>
          <a:p>
            <a:pPr algn="ctr"/>
            <a:r>
              <a:rPr sz="1050" b="1">
                <a:solidFill>
                  <a:srgbClr val="002060"/>
                </a:solidFill>
                <a:latin typeface="メイリオ"/>
                <a:ea typeface="メイリオ"/>
                <a:cs typeface="メイリオ"/>
              </a:rPr>
              <a:t>【年間消費額 ▲10.6%】</a:t>
            </a:r>
          </a:p>
          <a:p>
            <a:pPr algn="ctr"/>
            <a:r>
              <a:rPr sz="1050" b="0">
                <a:solidFill>
                  <a:srgbClr val="1A1A2E"/>
                </a:solidFill>
                <a:latin typeface="メイリオ"/>
                <a:ea typeface="メイリオ"/>
                <a:cs typeface="メイリオ"/>
              </a:rPr>
              <a:t>98,081円 → 87,645円</a:t>
            </a:r>
          </a:p>
          <a:p>
            <a:pPr algn="ctr"/>
            <a:r>
              <a:rPr sz="1050" b="1">
                <a:solidFill>
                  <a:srgbClr val="1A1A2E"/>
                </a:solidFill>
                <a:latin typeface="メイリオ"/>
                <a:ea typeface="メイリオ"/>
                <a:cs typeface="メイリオ"/>
              </a:rPr>
              <a:t>⇊</a:t>
            </a:r>
          </a:p>
          <a:p>
            <a:pPr algn="ctr"/>
            <a:r>
              <a:rPr sz="1050" b="1">
                <a:solidFill>
                  <a:srgbClr val="C00000"/>
                </a:solidFill>
                <a:latin typeface="メイリオ"/>
                <a:ea typeface="メイリオ"/>
                <a:cs typeface="メイリオ"/>
              </a:rPr>
              <a:t>需要は増えず、店だけ増えた</a:t>
            </a:r>
          </a:p>
        </p:txBody>
      </p:sp>
      <p:sp>
        <p:nvSpPr>
          <p:cNvPr id="93" name="TextBox 92"/>
          <p:cNvSpPr txBox="1"/>
          <p:nvPr/>
        </p:nvSpPr>
        <p:spPr>
          <a:xfrm>
            <a:off x="350000" y="6271200"/>
            <a:ext cx="9200000" cy="288000"/>
          </a:xfrm>
          <a:prstGeom prst="rect">
            <a:avLst/>
          </a:prstGeom>
          <a:noFill/>
        </p:spPr>
        <p:txBody>
          <a:bodyPr wrap="square">
            <a:spAutoFit/>
          </a:bodyPr>
          <a:lstStyle/>
          <a:p>
            <a:r>
              <a:rPr sz="900" b="0">
                <a:solidFill>
                  <a:srgbClr val="5A5A72"/>
                </a:solidFill>
                <a:latin typeface="メイリオ"/>
                <a:ea typeface="メイリオ"/>
                <a:cs typeface="メイリオ"/>
              </a:rPr>
              <a:t>※ 出典：Googleトレンド（2021/9〜2026/9）／帝国データバンク（2024年3月）。CPC推移のグラフは社内想定のイメージです。</a:t>
            </a:r>
          </a:p>
        </p:txBody>
      </p:sp>
      <p:sp>
        <p:nvSpPr>
          <p:cNvPr id="2" name="テキスト ボックス 1">
            <a:extLst>
              <a:ext uri="{FF2B5EF4-FFF2-40B4-BE49-F238E27FC236}">
                <a16:creationId xmlns:a16="http://schemas.microsoft.com/office/drawing/2014/main" id="{52F70E57-7626-3564-60E1-3AC4F4EDE16A}"/>
              </a:ext>
            </a:extLst>
          </p:cNvPr>
          <p:cNvSpPr txBox="1"/>
          <p:nvPr/>
        </p:nvSpPr>
        <p:spPr>
          <a:xfrm>
            <a:off x="4535424" y="3621957"/>
            <a:ext cx="2528316" cy="1631216"/>
          </a:xfrm>
          <a:prstGeom prst="rect">
            <a:avLst/>
          </a:prstGeom>
          <a:noFill/>
        </p:spPr>
        <p:txBody>
          <a:bodyPr wrap="square" rtlCol="0">
            <a:spAutoFit/>
          </a:bodyPr>
          <a:lstStyle/>
          <a:p>
            <a:pPr algn="ctr"/>
            <a:r>
              <a:rPr lang="en-US" altLang="ja-JP" sz="1200" dirty="0">
                <a:latin typeface="メイリオ"/>
                <a:ea typeface="メイリオ"/>
              </a:rPr>
              <a:t>【</a:t>
            </a:r>
            <a:r>
              <a:rPr lang="ja-JP" altLang="en-US" sz="1200" dirty="0">
                <a:latin typeface="メイリオ"/>
                <a:ea typeface="メイリオ"/>
              </a:rPr>
              <a:t>平均</a:t>
            </a:r>
            <a:r>
              <a:rPr lang="en-US" altLang="ja-JP" sz="1200" dirty="0">
                <a:latin typeface="メイリオ"/>
                <a:ea typeface="メイリオ"/>
              </a:rPr>
              <a:t>CPC】</a:t>
            </a:r>
          </a:p>
          <a:p>
            <a:pPr algn="ctr"/>
            <a:r>
              <a:rPr lang="en-US" altLang="ja-JP" sz="1200" dirty="0">
                <a:latin typeface="メイリオ"/>
                <a:ea typeface="メイリオ"/>
              </a:rPr>
              <a:t>246</a:t>
            </a:r>
            <a:r>
              <a:rPr lang="ja-JP" altLang="en-US" sz="1200" dirty="0">
                <a:latin typeface="メイリオ"/>
                <a:ea typeface="メイリオ"/>
              </a:rPr>
              <a:t>円（</a:t>
            </a:r>
            <a:r>
              <a:rPr lang="en-US" altLang="ja-JP" sz="1200" dirty="0">
                <a:latin typeface="メイリオ"/>
                <a:ea typeface="メイリオ"/>
              </a:rPr>
              <a:t>150〜400</a:t>
            </a:r>
            <a:r>
              <a:rPr lang="ja-JP" altLang="en-US" sz="1200" dirty="0">
                <a:latin typeface="メイリオ"/>
                <a:ea typeface="メイリオ"/>
              </a:rPr>
              <a:t>円）</a:t>
            </a:r>
          </a:p>
          <a:p>
            <a:pPr algn="ctr"/>
            <a:r>
              <a:rPr lang="en-US" altLang="ja-JP" sz="1200" dirty="0">
                <a:latin typeface="メイリオ"/>
                <a:ea typeface="メイリオ"/>
              </a:rPr>
              <a:t>【</a:t>
            </a:r>
            <a:r>
              <a:rPr lang="ja-JP" altLang="en-US" sz="1200" dirty="0">
                <a:latin typeface="メイリオ"/>
                <a:ea typeface="メイリオ"/>
              </a:rPr>
              <a:t>最も高いアカウント</a:t>
            </a:r>
            <a:r>
              <a:rPr lang="en-US" altLang="ja-JP" sz="1200" dirty="0">
                <a:latin typeface="メイリオ"/>
                <a:ea typeface="メイリオ"/>
              </a:rPr>
              <a:t>】</a:t>
            </a:r>
          </a:p>
          <a:p>
            <a:pPr algn="ctr"/>
            <a:r>
              <a:rPr lang="ja-JP" altLang="en-US" sz="1200" dirty="0">
                <a:latin typeface="メイリオ"/>
                <a:ea typeface="メイリオ"/>
              </a:rPr>
              <a:t>最も安いアカウントの</a:t>
            </a:r>
            <a:r>
              <a:rPr lang="en-US" altLang="ja-JP" sz="1200" dirty="0">
                <a:latin typeface="メイリオ"/>
                <a:ea typeface="メイリオ"/>
              </a:rPr>
              <a:t>2.7</a:t>
            </a:r>
            <a:r>
              <a:rPr lang="ja-JP" altLang="en-US" sz="1200" dirty="0">
                <a:latin typeface="メイリオ"/>
                <a:ea typeface="メイリオ"/>
              </a:rPr>
              <a:t>倍</a:t>
            </a:r>
          </a:p>
          <a:p>
            <a:pPr algn="ctr"/>
            <a:r>
              <a:rPr lang="en-US" altLang="ja-JP" sz="1200" dirty="0">
                <a:latin typeface="メイリオ"/>
                <a:ea typeface="メイリオ"/>
              </a:rPr>
              <a:t>【</a:t>
            </a:r>
            <a:r>
              <a:rPr lang="ja-JP" altLang="en-US" sz="1200" dirty="0">
                <a:latin typeface="メイリオ"/>
                <a:ea typeface="メイリオ"/>
              </a:rPr>
              <a:t>ご入会</a:t>
            </a:r>
            <a:r>
              <a:rPr lang="en-US" altLang="ja-JP" sz="1200" dirty="0">
                <a:latin typeface="メイリオ"/>
                <a:ea typeface="メイリオ"/>
              </a:rPr>
              <a:t>1</a:t>
            </a:r>
            <a:r>
              <a:rPr lang="ja-JP" altLang="en-US" sz="1200" dirty="0">
                <a:latin typeface="メイリオ"/>
                <a:ea typeface="メイリオ"/>
              </a:rPr>
              <a:t>件あたり</a:t>
            </a:r>
            <a:r>
              <a:rPr lang="en-US" altLang="ja-JP" sz="1200" dirty="0">
                <a:latin typeface="メイリオ"/>
                <a:ea typeface="メイリオ"/>
              </a:rPr>
              <a:t>】</a:t>
            </a:r>
          </a:p>
          <a:p>
            <a:pPr algn="ctr"/>
            <a:r>
              <a:rPr lang="ja-JP" altLang="en-US" sz="1200" dirty="0">
                <a:latin typeface="メイリオ"/>
                <a:ea typeface="メイリオ"/>
              </a:rPr>
              <a:t>約</a:t>
            </a:r>
            <a:r>
              <a:rPr lang="en-US" altLang="ja-JP" sz="1200" dirty="0">
                <a:latin typeface="メイリオ"/>
                <a:ea typeface="メイリオ"/>
              </a:rPr>
              <a:t>24,600</a:t>
            </a:r>
            <a:r>
              <a:rPr lang="ja-JP" altLang="en-US" sz="1200" dirty="0">
                <a:latin typeface="メイリオ"/>
                <a:ea typeface="メイリオ"/>
              </a:rPr>
              <a:t>円</a:t>
            </a:r>
          </a:p>
          <a:p>
            <a:pPr algn="ctr"/>
            <a:r>
              <a:rPr lang="ja-JP" altLang="en-US" sz="1400" dirty="0">
                <a:latin typeface="メイリオ"/>
                <a:ea typeface="メイリオ"/>
              </a:rPr>
              <a:t>⇊</a:t>
            </a:r>
          </a:p>
          <a:p>
            <a:r>
              <a:rPr lang="en-US" altLang="ja-JP" sz="1400" dirty="0">
                <a:latin typeface="メイリオ"/>
                <a:ea typeface="メイリオ"/>
              </a:rPr>
              <a:t>1</a:t>
            </a:r>
            <a:r>
              <a:rPr lang="ja-JP" altLang="en-US" sz="1400" dirty="0">
                <a:latin typeface="メイリオ"/>
                <a:ea typeface="メイリオ"/>
              </a:rPr>
              <a:t>人を獲るのに</a:t>
            </a:r>
            <a:r>
              <a:rPr lang="en-US" altLang="ja-JP" sz="1400" dirty="0">
                <a:latin typeface="メイリオ"/>
                <a:ea typeface="メイリオ"/>
              </a:rPr>
              <a:t>2</a:t>
            </a:r>
            <a:r>
              <a:rPr lang="ja-JP" altLang="en-US" sz="1400" dirty="0">
                <a:latin typeface="メイリオ"/>
                <a:ea typeface="メイリオ"/>
              </a:rPr>
              <a:t>万円超かかる</a:t>
            </a:r>
            <a:endParaRPr kumimoji="1" lang="ja-JP" altLang="en-US" sz="1400" dirty="0"/>
          </a:p>
        </p:txBody>
      </p:sp>
    </p:spTree>
    <p:extLst>
      <p:ext uri="{BB962C8B-B14F-4D97-AF65-F5344CB8AC3E}">
        <p14:creationId xmlns:p14="http://schemas.microsoft.com/office/powerpoint/2010/main" val="11875947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ニーズ調査（シーズナリティ）</a:t>
            </a:r>
          </a:p>
        </p:txBody>
      </p:sp>
      <p:sp>
        <p:nvSpPr>
          <p:cNvPr id="3" name="TextBox 2"/>
          <p:cNvSpPr txBox="1"/>
          <p:nvPr/>
        </p:nvSpPr>
        <p:spPr>
          <a:xfrm>
            <a:off x="384048" y="713139"/>
            <a:ext cx="9134856" cy="461665"/>
          </a:xfrm>
          <a:prstGeom prst="rect">
            <a:avLst/>
          </a:prstGeom>
          <a:noFill/>
        </p:spPr>
        <p:txBody>
          <a:bodyPr wrap="square" lIns="0" tIns="0" rIns="0" bIns="0">
            <a:spAutoFit/>
          </a:bodyPr>
          <a:lstStyle/>
          <a:p>
            <a:r>
              <a:rPr sz="1500" b="0">
                <a:solidFill>
                  <a:srgbClr val="646C82"/>
                </a:solidFill>
                <a:latin typeface="メイリオ"/>
                <a:ea typeface="メイリオ"/>
                <a:cs typeface="メイリオ"/>
              </a:rPr>
              <a:t>「ジム」「フィットネス」は1月、「筋トレ」「筋肉」は6月に山が立つ。</a:t>
            </a:r>
            <a:endParaRPr lang="en-US" sz="1500" b="0" dirty="0">
              <a:solidFill>
                <a:srgbClr val="646C82"/>
              </a:solidFill>
              <a:latin typeface="メイリオ"/>
              <a:ea typeface="メイリオ"/>
            </a:endParaRPr>
          </a:p>
          <a:p>
            <a:r>
              <a:rPr sz="1500" b="0">
                <a:solidFill>
                  <a:srgbClr val="646C82"/>
                </a:solidFill>
                <a:latin typeface="メイリオ"/>
                <a:ea typeface="メイリオ"/>
                <a:cs typeface="メイリオ"/>
              </a:rPr>
              <a:t>振れ幅は小さく、需要は通年ある。</a:t>
            </a:r>
          </a:p>
        </p:txBody>
      </p:sp>
      <p:sp>
        <p:nvSpPr>
          <p:cNvPr id="4" name="Rounded Rectangle 3"/>
          <p:cNvSpPr/>
          <p:nvPr/>
        </p:nvSpPr>
        <p:spPr>
          <a:xfrm>
            <a:off x="384048" y="3742528"/>
            <a:ext cx="2788920" cy="1602796"/>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127000" tIns="177800" rIns="127000" rtlCol="0" anchor="t"/>
          <a:lstStyle/>
          <a:p>
            <a:pPr algn="ctr"/>
            <a:r>
              <a:rPr sz="1700" b="1">
                <a:solidFill>
                  <a:srgbClr val="1F2A5C"/>
                </a:solidFill>
                <a:latin typeface="メイリオ"/>
                <a:ea typeface="メイリオ"/>
                <a:cs typeface="メイリオ"/>
              </a:rPr>
              <a:t>① 山は年2回ある</a:t>
            </a:r>
            <a:endParaRPr lang="en-US" sz="1700" b="1" dirty="0">
              <a:solidFill>
                <a:srgbClr val="1F2A5C"/>
              </a:solidFill>
              <a:latin typeface="メイリオ"/>
              <a:ea typeface="メイリオ"/>
            </a:endParaRPr>
          </a:p>
          <a:p>
            <a:pPr algn="ctr"/>
            <a:r>
              <a:rPr sz="1700" b="1">
                <a:solidFill>
                  <a:srgbClr val="1F2A5C"/>
                </a:solidFill>
                <a:latin typeface="メイリオ"/>
                <a:ea typeface="メイリオ"/>
                <a:cs typeface="メイリオ"/>
              </a:rPr>
              <a:t>入口のKW（ジム・フィットネス）は1月、行動のKW（筋トレ・筋肉）は6月。半年ズレる。</a:t>
            </a:r>
          </a:p>
        </p:txBody>
      </p:sp>
      <p:sp>
        <p:nvSpPr>
          <p:cNvPr id="5" name="Rounded Rectangle 4"/>
          <p:cNvSpPr/>
          <p:nvPr/>
        </p:nvSpPr>
        <p:spPr>
          <a:xfrm>
            <a:off x="3383279" y="3742527"/>
            <a:ext cx="2788920" cy="1602795"/>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127000" tIns="177800" rIns="127000" rtlCol="0" anchor="t"/>
          <a:lstStyle/>
          <a:p>
            <a:pPr algn="ctr"/>
            <a:r>
              <a:rPr sz="1700" b="1">
                <a:solidFill>
                  <a:srgbClr val="1F2A5C"/>
                </a:solidFill>
                <a:latin typeface="メイリオ"/>
                <a:ea typeface="メイリオ"/>
                <a:cs typeface="メイリオ"/>
              </a:rPr>
              <a:t>② 谷は11〜12月</a:t>
            </a:r>
            <a:endParaRPr lang="en-US" sz="1700" b="1" dirty="0">
              <a:solidFill>
                <a:srgbClr val="1F2A5C"/>
              </a:solidFill>
              <a:latin typeface="メイリオ"/>
              <a:ea typeface="メイリオ"/>
            </a:endParaRPr>
          </a:p>
          <a:p>
            <a:pPr algn="ctr"/>
            <a:r>
              <a:rPr sz="1700" b="1">
                <a:solidFill>
                  <a:srgbClr val="1F2A5C"/>
                </a:solidFill>
                <a:latin typeface="メイリオ"/>
                <a:ea typeface="メイリオ"/>
                <a:cs typeface="メイリオ"/>
              </a:rPr>
              <a:t>全KWが年間最低。特に筋トレは12月に77.9。ここが仕込み期</a:t>
            </a:r>
          </a:p>
        </p:txBody>
      </p:sp>
      <p:sp>
        <p:nvSpPr>
          <p:cNvPr id="6" name="Rounded Rectangle 5"/>
          <p:cNvSpPr/>
          <p:nvPr/>
        </p:nvSpPr>
        <p:spPr>
          <a:xfrm>
            <a:off x="6382512" y="3742528"/>
            <a:ext cx="2788920" cy="1602794"/>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127000" tIns="177800" rIns="127000" rtlCol="0" anchor="t"/>
          <a:lstStyle/>
          <a:p>
            <a:pPr algn="ctr"/>
            <a:r>
              <a:rPr sz="1700" b="1">
                <a:solidFill>
                  <a:srgbClr val="1F2A5C"/>
                </a:solidFill>
                <a:latin typeface="メイリオ"/>
                <a:ea typeface="メイリオ"/>
                <a:cs typeface="メイリオ"/>
              </a:rPr>
              <a:t>③ 振れ幅は17ptだけ</a:t>
            </a:r>
            <a:endParaRPr lang="en-US" sz="1700" b="1" dirty="0">
              <a:solidFill>
                <a:srgbClr val="1F2A5C"/>
              </a:solidFill>
              <a:latin typeface="メイリオ"/>
              <a:ea typeface="メイリオ"/>
            </a:endParaRPr>
          </a:p>
          <a:p>
            <a:pPr algn="ctr"/>
            <a:r>
              <a:rPr sz="1700" b="1">
                <a:solidFill>
                  <a:srgbClr val="1F2A5C"/>
                </a:solidFill>
                <a:latin typeface="メイリオ"/>
                <a:ea typeface="メイリオ"/>
                <a:cs typeface="メイリオ"/>
              </a:rPr>
              <a:t>ジムの山と谷の差はわずか。1月にすべてが決まる業界ではない。</a:t>
            </a:r>
          </a:p>
        </p:txBody>
      </p:sp>
      <p:sp>
        <p:nvSpPr>
          <p:cNvPr id="7" name="Rectangle 6"/>
          <p:cNvSpPr/>
          <p:nvPr/>
        </p:nvSpPr>
        <p:spPr>
          <a:xfrm>
            <a:off x="384048" y="5598000"/>
            <a:ext cx="54864" cy="475488"/>
          </a:xfrm>
          <a:prstGeom prst="rect">
            <a:avLst/>
          </a:prstGeom>
          <a:solidFill>
            <a:srgbClr val="BF4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38912" y="5606854"/>
            <a:ext cx="9089136" cy="475488"/>
          </a:xfrm>
          <a:prstGeom prst="rect">
            <a:avLst/>
          </a:prstGeom>
          <a:solidFill>
            <a:srgbClr val="FDEF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44068" y="5642601"/>
            <a:ext cx="8814816" cy="430887"/>
          </a:xfrm>
          <a:prstGeom prst="rect">
            <a:avLst/>
          </a:prstGeom>
          <a:noFill/>
        </p:spPr>
        <p:txBody>
          <a:bodyPr wrap="square" lIns="0" tIns="0" rIns="0" bIns="0">
            <a:spAutoFit/>
          </a:bodyPr>
          <a:lstStyle/>
          <a:p>
            <a:r>
              <a:rPr lang="ja-JP" altLang="en-US" sz="1400" b="0" dirty="0">
                <a:solidFill>
                  <a:srgbClr val="1C2233"/>
                </a:solidFill>
                <a:latin typeface="メイリオ"/>
                <a:ea typeface="メイリオ"/>
                <a:cs typeface="メイリオ"/>
              </a:rPr>
              <a:t>需要が極端に下がるという月はない。→毎月配信をする。</a:t>
            </a:r>
            <a:endParaRPr lang="en-US" altLang="ja-JP" sz="1400" b="0" dirty="0">
              <a:solidFill>
                <a:srgbClr val="1C2233"/>
              </a:solidFill>
              <a:latin typeface="メイリオ"/>
              <a:ea typeface="メイリオ"/>
              <a:cs typeface="メイリオ"/>
            </a:endParaRPr>
          </a:p>
          <a:p>
            <a:r>
              <a:rPr lang="ja-JP" altLang="en-US" sz="1400" b="0" dirty="0">
                <a:solidFill>
                  <a:srgbClr val="1C2233"/>
                </a:solidFill>
                <a:latin typeface="メイリオ"/>
                <a:ea typeface="メイリオ"/>
                <a:cs typeface="メイリオ"/>
              </a:rPr>
              <a:t>ただし、月によって送る内容を吟味する。</a:t>
            </a:r>
            <a:endParaRPr sz="1400" b="0" dirty="0">
              <a:solidFill>
                <a:srgbClr val="1C2233"/>
              </a:solidFill>
              <a:latin typeface="メイリオ"/>
              <a:ea typeface="メイリオ"/>
              <a:cs typeface="メイリオ"/>
            </a:endParaRPr>
          </a:p>
        </p:txBody>
      </p:sp>
      <p:sp>
        <p:nvSpPr>
          <p:cNvPr id="10" name="TextBox 9"/>
          <p:cNvSpPr txBox="1"/>
          <p:nvPr/>
        </p:nvSpPr>
        <p:spPr>
          <a:xfrm>
            <a:off x="385572" y="6228806"/>
            <a:ext cx="9134856" cy="310896"/>
          </a:xfrm>
          <a:prstGeom prst="rect">
            <a:avLst/>
          </a:prstGeom>
          <a:noFill/>
        </p:spPr>
        <p:txBody>
          <a:bodyPr wrap="square" lIns="0" tIns="0" rIns="0" bIns="0">
            <a:spAutoFit/>
          </a:bodyPr>
          <a:lstStyle/>
          <a:p>
            <a:r>
              <a:rPr sz="900" b="0">
                <a:solidFill>
                  <a:srgbClr val="646C82"/>
                </a:solidFill>
                <a:latin typeface="メイリオ"/>
                <a:ea typeface="メイリオ"/>
                <a:cs typeface="メイリオ"/>
              </a:rPr>
              <a:t>※ 出典：Googleトレンド（日本・ウェブ検索・2021/9〜2026/9取得）。各年の年平均＝100として2022〜2025を平均。ポケモンSV発売期（2022/11〜2023/1）は「ジム」に別語義が混ざるため除外。</a:t>
            </a:r>
          </a:p>
        </p:txBody>
      </p:sp>
      <p:pic>
        <p:nvPicPr>
          <p:cNvPr id="11" name="Picture 10" descr="trend_main.png"/>
          <p:cNvPicPr>
            <a:picLocks noChangeAspect="1"/>
          </p:cNvPicPr>
          <p:nvPr/>
        </p:nvPicPr>
        <p:blipFill>
          <a:blip r:embed="rId2"/>
          <a:stretch>
            <a:fillRect/>
          </a:stretch>
        </p:blipFill>
        <p:spPr>
          <a:xfrm>
            <a:off x="385200" y="1260000"/>
            <a:ext cx="9133200" cy="2336063"/>
          </a:xfrm>
          <a:prstGeom prst="rect">
            <a:avLst/>
          </a:prstGeom>
        </p:spPr>
      </p:pic>
    </p:spTree>
    <p:extLst>
      <p:ext uri="{BB962C8B-B14F-4D97-AF65-F5344CB8AC3E}">
        <p14:creationId xmlns:p14="http://schemas.microsoft.com/office/powerpoint/2010/main" val="11339163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16210" y="177059"/>
            <a:ext cx="7513200" cy="360000"/>
          </a:xfrm>
          <a:prstGeom prst="rect">
            <a:avLst/>
          </a:prstGeom>
          <a:noFill/>
        </p:spPr>
        <p:txBody>
          <a:bodyPr wrap="square" lIns="18000" tIns="0" rIns="18000" bIns="0">
            <a:spAutoFit/>
          </a:bodyPr>
          <a:lstStyle/>
          <a:p>
            <a:r>
              <a:rPr sz="1600" b="1" dirty="0">
                <a:solidFill>
                  <a:srgbClr val="1F2A5C"/>
                </a:solidFill>
                <a:latin typeface="メイリオ"/>
                <a:ea typeface="メイリオ"/>
              </a:rPr>
              <a:t>ニーズ調査（参考データ：5年トレンド）</a:t>
            </a:r>
          </a:p>
        </p:txBody>
      </p:sp>
      <p:sp>
        <p:nvSpPr>
          <p:cNvPr id="3" name="TextBox 2"/>
          <p:cNvSpPr txBox="1"/>
          <p:nvPr/>
        </p:nvSpPr>
        <p:spPr>
          <a:xfrm>
            <a:off x="385200" y="720000"/>
            <a:ext cx="9133200" cy="184666"/>
          </a:xfrm>
          <a:prstGeom prst="rect">
            <a:avLst/>
          </a:prstGeom>
          <a:noFill/>
        </p:spPr>
        <p:txBody>
          <a:bodyPr wrap="square" lIns="18000" tIns="0" rIns="18000" bIns="0">
            <a:spAutoFit/>
          </a:bodyPr>
          <a:lstStyle/>
          <a:p>
            <a:r>
              <a:rPr sz="1200" b="1">
                <a:solidFill>
                  <a:srgbClr val="646C82"/>
                </a:solidFill>
                <a:latin typeface="メイリオ"/>
                <a:ea typeface="メイリオ"/>
                <a:cs typeface="メイリオ"/>
              </a:rPr>
              <a:t>運動需要は減っていない。ジムは5年で＋2％、筋トレは−10％にとどまる。</a:t>
            </a:r>
          </a:p>
          <a:p>
            <a:r>
              <a:rPr sz="1200" b="1">
                <a:solidFill>
                  <a:srgbClr val="646C82"/>
                </a:solidFill>
                <a:latin typeface="メイリオ"/>
                <a:ea typeface="メイリオ"/>
                <a:cs typeface="メイリオ"/>
              </a:rPr>
              <a:t>半減したのは「ダイエット」という言葉のほうだった。</a:t>
            </a:r>
          </a:p>
        </p:txBody>
      </p:sp>
      <p:sp>
        <p:nvSpPr>
          <p:cNvPr id="4" name="TextBox 3"/>
          <p:cNvSpPr txBox="1"/>
          <p:nvPr/>
        </p:nvSpPr>
        <p:spPr>
          <a:xfrm>
            <a:off x="385200" y="1098000"/>
            <a:ext cx="9133200" cy="198000"/>
          </a:xfrm>
          <a:prstGeom prst="rect">
            <a:avLst/>
          </a:prstGeom>
          <a:noFill/>
        </p:spPr>
        <p:txBody>
          <a:bodyPr wrap="square" lIns="18000" tIns="0" rIns="18000" bIns="0">
            <a:spAutoFit/>
          </a:bodyPr>
          <a:lstStyle/>
          <a:p>
            <a:r>
              <a:rPr sz="1200" b="1">
                <a:solidFill>
                  <a:srgbClr val="1F2A5C"/>
                </a:solidFill>
                <a:latin typeface="メイリオ"/>
                <a:ea typeface="メイリオ"/>
                <a:cs typeface="メイリオ"/>
              </a:rPr>
              <a:t>■ ジム × フィットネス × 筋トレ × 筋肉（5年の伸び率）</a:t>
            </a:r>
          </a:p>
        </p:txBody>
      </p:sp>
      <p:pic>
        <p:nvPicPr>
          <p:cNvPr id="5" name="Picture 4" descr="trend_kintore.png"/>
          <p:cNvPicPr>
            <a:picLocks noChangeAspect="1"/>
          </p:cNvPicPr>
          <p:nvPr/>
        </p:nvPicPr>
        <p:blipFill>
          <a:blip r:embed="rId2"/>
          <a:stretch>
            <a:fillRect/>
          </a:stretch>
        </p:blipFill>
        <p:spPr>
          <a:xfrm>
            <a:off x="385200" y="1314000"/>
            <a:ext cx="9133200" cy="1934297"/>
          </a:xfrm>
          <a:prstGeom prst="rect">
            <a:avLst/>
          </a:prstGeom>
        </p:spPr>
      </p:pic>
      <p:sp>
        <p:nvSpPr>
          <p:cNvPr id="6" name="TextBox 5"/>
          <p:cNvSpPr txBox="1"/>
          <p:nvPr/>
        </p:nvSpPr>
        <p:spPr>
          <a:xfrm>
            <a:off x="386400" y="3263882"/>
            <a:ext cx="9133200" cy="198000"/>
          </a:xfrm>
          <a:prstGeom prst="rect">
            <a:avLst/>
          </a:prstGeom>
          <a:noFill/>
        </p:spPr>
        <p:txBody>
          <a:bodyPr wrap="square" lIns="18000" tIns="0" rIns="18000" bIns="0">
            <a:spAutoFit/>
          </a:bodyPr>
          <a:lstStyle/>
          <a:p>
            <a:r>
              <a:rPr sz="1200" b="1">
                <a:solidFill>
                  <a:srgbClr val="1F2A5C"/>
                </a:solidFill>
                <a:latin typeface="メイリオ"/>
                <a:ea typeface="メイリオ"/>
              </a:rPr>
              <a:t>■ パーソナルジム × 24時間ジム × 24ジム</a:t>
            </a:r>
          </a:p>
        </p:txBody>
      </p:sp>
      <p:pic>
        <p:nvPicPr>
          <p:cNvPr id="7" name="Picture 6" descr="trend_personal.png"/>
          <p:cNvPicPr>
            <a:picLocks noChangeAspect="1"/>
          </p:cNvPicPr>
          <p:nvPr/>
        </p:nvPicPr>
        <p:blipFill>
          <a:blip r:embed="rId3"/>
          <a:stretch>
            <a:fillRect/>
          </a:stretch>
        </p:blipFill>
        <p:spPr>
          <a:xfrm>
            <a:off x="385200" y="3467765"/>
            <a:ext cx="9133200" cy="1934298"/>
          </a:xfrm>
          <a:prstGeom prst="rect">
            <a:avLst/>
          </a:prstGeom>
        </p:spPr>
      </p:pic>
      <p:sp>
        <p:nvSpPr>
          <p:cNvPr id="8" name="TextBox 7"/>
          <p:cNvSpPr txBox="1"/>
          <p:nvPr/>
        </p:nvSpPr>
        <p:spPr>
          <a:xfrm>
            <a:off x="385200" y="5508000"/>
            <a:ext cx="9133200" cy="630000"/>
          </a:xfrm>
          <a:prstGeom prst="rect">
            <a:avLst/>
          </a:prstGeom>
          <a:noFill/>
        </p:spPr>
        <p:txBody>
          <a:bodyPr wrap="square" lIns="18000" tIns="0" rIns="18000" bIns="0">
            <a:spAutoFit/>
          </a:bodyPr>
          <a:lstStyle/>
          <a:p>
            <a:r>
              <a:rPr sz="1200" b="0">
                <a:solidFill>
                  <a:srgbClr val="1C2233"/>
                </a:solidFill>
                <a:latin typeface="メイリオ"/>
                <a:ea typeface="メイリオ"/>
                <a:cs typeface="メイリオ"/>
              </a:rPr>
              <a:t>・ジム＋2％／フィットネス−6％／筋トレ−10％／筋肉−14％＝いずれも横ばい圏。市場が細っているのではない</a:t>
            </a:r>
            <a:endParaRPr sz="1200" b="0" dirty="0">
              <a:solidFill>
                <a:srgbClr val="1C2233"/>
              </a:solidFill>
              <a:latin typeface="メイリオ"/>
              <a:ea typeface="メイリオ"/>
            </a:endParaRPr>
          </a:p>
          <a:p>
            <a:r>
              <a:rPr sz="1200" b="0">
                <a:solidFill>
                  <a:srgbClr val="1C2233"/>
                </a:solidFill>
                <a:latin typeface="メイリオ"/>
                <a:ea typeface="メイリオ"/>
                <a:cs typeface="メイリオ"/>
              </a:rPr>
              <a:t>・減ったのは「やり方を調べる」検索。残ったのは「場所を探す」検索（＝ジムだけが増えている）</a:t>
            </a:r>
          </a:p>
          <a:p>
            <a:r>
              <a:rPr sz="1200" b="0">
                <a:solidFill>
                  <a:srgbClr val="1C2233"/>
                </a:solidFill>
                <a:latin typeface="メイリオ"/>
                <a:ea typeface="メイリオ"/>
                <a:cs typeface="メイリオ"/>
              </a:rPr>
              <a:t>・移行先は医療（GLP-1系）が実データで確認できる。SNS・動画・生成AIへの分散は推測</a:t>
            </a:r>
          </a:p>
          <a:p>
            <a:r>
              <a:rPr sz="1200" b="0">
                <a:solidFill>
                  <a:srgbClr val="1C2233"/>
                </a:solidFill>
                <a:latin typeface="メイリオ"/>
                <a:ea typeface="メイリオ"/>
                <a:cs typeface="メイリオ"/>
              </a:rPr>
              <a:t>・24時間ジム系の一般KWは低位安定＝実需はエリア検索（地名×ジム）と指名検索（ブランド名）に分かれている</a:t>
            </a:r>
          </a:p>
        </p:txBody>
      </p:sp>
      <p:sp>
        <p:nvSpPr>
          <p:cNvPr id="9" name="TextBox 8"/>
          <p:cNvSpPr txBox="1"/>
          <p:nvPr/>
        </p:nvSpPr>
        <p:spPr>
          <a:xfrm>
            <a:off x="385200" y="6390000"/>
            <a:ext cx="9133200" cy="180000"/>
          </a:xfrm>
          <a:prstGeom prst="rect">
            <a:avLst/>
          </a:prstGeom>
          <a:noFill/>
        </p:spPr>
        <p:txBody>
          <a:bodyPr wrap="square" lIns="18000" tIns="0" rIns="18000" bIns="0">
            <a:spAutoFit/>
          </a:bodyPr>
          <a:lstStyle/>
          <a:p>
            <a:r>
              <a:rPr sz="800" b="0">
                <a:solidFill>
                  <a:srgbClr val="646C82"/>
                </a:solidFill>
                <a:latin typeface="メイリオ"/>
                <a:ea typeface="メイリオ"/>
                <a:cs typeface="メイリオ"/>
              </a:rPr>
              <a:t>※ 出典：Googleトレンド（日本・ウェブ検索・2021/9〜2026/9取得）。各年2〜9月の平均を2022年＝100として正規化。数値は相対値で、別々に取得したグラフ間の比較は不可。</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年間の配信設計マトリクス（時期 × 対象 × 訴求 × CV）</a:t>
            </a:r>
          </a:p>
        </p:txBody>
      </p:sp>
      <p:sp>
        <p:nvSpPr>
          <p:cNvPr id="3" name="TextBox 2"/>
          <p:cNvSpPr txBox="1"/>
          <p:nvPr/>
        </p:nvSpPr>
        <p:spPr>
          <a:xfrm>
            <a:off x="384048" y="731520"/>
            <a:ext cx="9134856" cy="230832"/>
          </a:xfrm>
          <a:prstGeom prst="rect">
            <a:avLst/>
          </a:prstGeom>
          <a:noFill/>
        </p:spPr>
        <p:txBody>
          <a:bodyPr wrap="square" lIns="0" tIns="0" rIns="0" bIns="0">
            <a:spAutoFit/>
          </a:bodyPr>
          <a:lstStyle/>
          <a:p>
            <a:r>
              <a:rPr sz="1500" b="0" dirty="0" err="1">
                <a:solidFill>
                  <a:srgbClr val="646C82"/>
                </a:solidFill>
                <a:latin typeface="メイリオ"/>
                <a:ea typeface="メイリオ"/>
              </a:rPr>
              <a:t>需要の波が極端な業界。時期ごとに「</a:t>
            </a:r>
            <a:r>
              <a:rPr sz="1500" b="1" dirty="0" err="1">
                <a:solidFill>
                  <a:srgbClr val="646C82"/>
                </a:solidFill>
                <a:latin typeface="メイリオ"/>
                <a:ea typeface="メイリオ"/>
              </a:rPr>
              <a:t>誰に・何を言い・どこへ着地させるか</a:t>
            </a:r>
            <a:r>
              <a:rPr sz="1500" b="0" dirty="0" err="1">
                <a:solidFill>
                  <a:srgbClr val="646C82"/>
                </a:solidFill>
                <a:latin typeface="メイリオ"/>
                <a:ea typeface="メイリオ"/>
              </a:rPr>
              <a:t>」を先に決めておく</a:t>
            </a:r>
            <a:r>
              <a:rPr sz="1500" b="0" dirty="0">
                <a:solidFill>
                  <a:srgbClr val="646C82"/>
                </a:solidFill>
                <a:latin typeface="メイリオ"/>
                <a:ea typeface="メイリオ"/>
              </a:rPr>
              <a:t>。</a:t>
            </a:r>
          </a:p>
        </p:txBody>
      </p:sp>
      <p:graphicFrame>
        <p:nvGraphicFramePr>
          <p:cNvPr id="4" name="Table 3"/>
          <p:cNvGraphicFramePr>
            <a:graphicFrameLocks noGrp="1"/>
          </p:cNvGraphicFramePr>
          <p:nvPr>
            <p:extLst>
              <p:ext uri="{D42A27DB-BD31-4B8C-83A1-F6EECF244321}">
                <p14:modId xmlns:p14="http://schemas.microsoft.com/office/powerpoint/2010/main" val="1143097914"/>
              </p:ext>
            </p:extLst>
          </p:nvPr>
        </p:nvGraphicFramePr>
        <p:xfrm>
          <a:off x="384048" y="1234439"/>
          <a:ext cx="9134855" cy="3060628"/>
        </p:xfrm>
        <a:graphic>
          <a:graphicData uri="http://schemas.openxmlformats.org/drawingml/2006/table">
            <a:tbl>
              <a:tblPr firstRow="1" bandRow="1">
                <a:tableStyleId>{5C22544A-7EE6-4342-B048-85BDC9FD1C3A}</a:tableStyleId>
              </a:tblPr>
              <a:tblGrid>
                <a:gridCol w="1793095">
                  <a:extLst>
                    <a:ext uri="{9D8B030D-6E8A-4147-A177-3AD203B41FA5}">
                      <a16:colId xmlns:a16="http://schemas.microsoft.com/office/drawing/2014/main" val="20000"/>
                    </a:ext>
                  </a:extLst>
                </a:gridCol>
                <a:gridCol w="2072640">
                  <a:extLst>
                    <a:ext uri="{9D8B030D-6E8A-4147-A177-3AD203B41FA5}">
                      <a16:colId xmlns:a16="http://schemas.microsoft.com/office/drawing/2014/main" val="20001"/>
                    </a:ext>
                  </a:extLst>
                </a:gridCol>
                <a:gridCol w="3248297">
                  <a:extLst>
                    <a:ext uri="{9D8B030D-6E8A-4147-A177-3AD203B41FA5}">
                      <a16:colId xmlns:a16="http://schemas.microsoft.com/office/drawing/2014/main" val="20002"/>
                    </a:ext>
                  </a:extLst>
                </a:gridCol>
                <a:gridCol w="2020823">
                  <a:extLst>
                    <a:ext uri="{9D8B030D-6E8A-4147-A177-3AD203B41FA5}">
                      <a16:colId xmlns:a16="http://schemas.microsoft.com/office/drawing/2014/main" val="20003"/>
                    </a:ext>
                  </a:extLst>
                </a:gridCol>
              </a:tblGrid>
              <a:tr h="505669">
                <a:tc>
                  <a:txBody>
                    <a:bodyPr/>
                    <a:lstStyle/>
                    <a:p>
                      <a:pPr algn="ctr"/>
                      <a:r>
                        <a:rPr sz="1300" b="1">
                          <a:solidFill>
                            <a:srgbClr val="FFFFFF"/>
                          </a:solidFill>
                          <a:latin typeface="メイリオ"/>
                          <a:ea typeface="メイリオ"/>
                        </a:rPr>
                        <a:t>時期</a:t>
                      </a:r>
                    </a:p>
                  </a:txBody>
                  <a:tcPr>
                    <a:solidFill>
                      <a:srgbClr val="1F2A5C"/>
                    </a:solidFill>
                  </a:tcPr>
                </a:tc>
                <a:tc>
                  <a:txBody>
                    <a:bodyPr/>
                    <a:lstStyle/>
                    <a:p>
                      <a:pPr algn="ctr"/>
                      <a:r>
                        <a:rPr sz="1300" b="1" dirty="0" err="1">
                          <a:solidFill>
                            <a:srgbClr val="FFFFFF"/>
                          </a:solidFill>
                          <a:latin typeface="メイリオ"/>
                          <a:ea typeface="メイリオ"/>
                        </a:rPr>
                        <a:t>主な対象</a:t>
                      </a:r>
                      <a:endParaRPr sz="1300" b="1" dirty="0">
                        <a:solidFill>
                          <a:srgbClr val="FFFFFF"/>
                        </a:solidFill>
                        <a:latin typeface="メイリオ"/>
                        <a:ea typeface="メイリオ"/>
                      </a:endParaRPr>
                    </a:p>
                  </a:txBody>
                  <a:tcPr>
                    <a:solidFill>
                      <a:srgbClr val="1F2A5C"/>
                    </a:solidFill>
                  </a:tcPr>
                </a:tc>
                <a:tc>
                  <a:txBody>
                    <a:bodyPr/>
                    <a:lstStyle/>
                    <a:p>
                      <a:pPr algn="ctr"/>
                      <a:r>
                        <a:rPr sz="1300" b="1">
                          <a:solidFill>
                            <a:srgbClr val="FFFFFF"/>
                          </a:solidFill>
                          <a:latin typeface="メイリオ"/>
                          <a:ea typeface="メイリオ"/>
                        </a:rPr>
                        <a:t>訴求軸</a:t>
                      </a:r>
                    </a:p>
                  </a:txBody>
                  <a:tcPr>
                    <a:solidFill>
                      <a:srgbClr val="1F2A5C"/>
                    </a:solidFill>
                  </a:tcPr>
                </a:tc>
                <a:tc>
                  <a:txBody>
                    <a:bodyPr/>
                    <a:lstStyle/>
                    <a:p>
                      <a:pPr algn="ctr"/>
                      <a:r>
                        <a:rPr sz="1300" b="1">
                          <a:solidFill>
                            <a:srgbClr val="FFFFFF"/>
                          </a:solidFill>
                          <a:latin typeface="メイリオ"/>
                          <a:ea typeface="メイリオ"/>
                        </a:rPr>
                        <a:t>CV地点</a:t>
                      </a:r>
                    </a:p>
                  </a:txBody>
                  <a:tcPr>
                    <a:solidFill>
                      <a:srgbClr val="1F2A5C"/>
                    </a:solidFill>
                  </a:tcPr>
                </a:tc>
                <a:extLst>
                  <a:ext uri="{0D108BD9-81ED-4DB2-BD59-A6C34878D82A}">
                    <a16:rowId xmlns:a16="http://schemas.microsoft.com/office/drawing/2014/main" val="10000"/>
                  </a:ext>
                </a:extLst>
              </a:tr>
              <a:tr h="505669">
                <a:tc>
                  <a:txBody>
                    <a:bodyPr/>
                    <a:lstStyle/>
                    <a:p>
                      <a:pPr algn="l"/>
                      <a:r>
                        <a:rPr sz="1200" b="0">
                          <a:solidFill>
                            <a:srgbClr val="1C2233"/>
                          </a:solidFill>
                          <a:latin typeface="メイリオ"/>
                          <a:ea typeface="メイリオ"/>
                        </a:rPr>
                        <a:t>1月（最大ピーク）</a:t>
                      </a:r>
                    </a:p>
                  </a:txBody>
                  <a:tcPr>
                    <a:solidFill>
                      <a:srgbClr val="FFFFFF"/>
                    </a:solidFill>
                  </a:tcPr>
                </a:tc>
                <a:tc>
                  <a:txBody>
                    <a:bodyPr/>
                    <a:lstStyle/>
                    <a:p>
                      <a:pPr algn="ctr"/>
                      <a:r>
                        <a:rPr sz="1200" b="0">
                          <a:solidFill>
                            <a:srgbClr val="1C2233"/>
                          </a:solidFill>
                          <a:latin typeface="メイリオ"/>
                          <a:ea typeface="メイリオ"/>
                        </a:rPr>
                        <a:t>新年の決意層・運動初心者</a:t>
                      </a:r>
                    </a:p>
                  </a:txBody>
                  <a:tcPr>
                    <a:solidFill>
                      <a:srgbClr val="FFFFFF"/>
                    </a:solidFill>
                  </a:tcPr>
                </a:tc>
                <a:tc>
                  <a:txBody>
                    <a:bodyPr/>
                    <a:lstStyle/>
                    <a:p>
                      <a:pPr algn="ctr"/>
                      <a:r>
                        <a:rPr sz="1200" b="0">
                          <a:solidFill>
                            <a:srgbClr val="1C2233"/>
                          </a:solidFill>
                          <a:latin typeface="メイリオ"/>
                          <a:ea typeface="メイリオ"/>
                        </a:rPr>
                        <a:t>「今年こそ」習慣化サポート／入会金無料</a:t>
                      </a:r>
                    </a:p>
                  </a:txBody>
                  <a:tcPr>
                    <a:solidFill>
                      <a:srgbClr val="FFFFFF"/>
                    </a:solidFill>
                  </a:tcPr>
                </a:tc>
                <a:tc>
                  <a:txBody>
                    <a:bodyPr/>
                    <a:lstStyle/>
                    <a:p>
                      <a:pPr algn="ctr"/>
                      <a:r>
                        <a:rPr sz="1200" b="0">
                          <a:solidFill>
                            <a:srgbClr val="1C2233"/>
                          </a:solidFill>
                          <a:latin typeface="メイリオ"/>
                          <a:ea typeface="メイリオ"/>
                        </a:rPr>
                        <a:t>体験予約【CV①】</a:t>
                      </a:r>
                    </a:p>
                  </a:txBody>
                  <a:tcPr>
                    <a:solidFill>
                      <a:srgbClr val="FFFFFF"/>
                    </a:solidFill>
                  </a:tcPr>
                </a:tc>
                <a:extLst>
                  <a:ext uri="{0D108BD9-81ED-4DB2-BD59-A6C34878D82A}">
                    <a16:rowId xmlns:a16="http://schemas.microsoft.com/office/drawing/2014/main" val="10001"/>
                  </a:ext>
                </a:extLst>
              </a:tr>
              <a:tr h="532283">
                <a:tc>
                  <a:txBody>
                    <a:bodyPr/>
                    <a:lstStyle/>
                    <a:p>
                      <a:pPr algn="l"/>
                      <a:r>
                        <a:rPr sz="1200" b="0">
                          <a:solidFill>
                            <a:srgbClr val="1C2233"/>
                          </a:solidFill>
                          <a:latin typeface="メイリオ"/>
                          <a:ea typeface="メイリオ"/>
                        </a:rPr>
                        <a:t>4月（新生活）</a:t>
                      </a:r>
                    </a:p>
                  </a:txBody>
                  <a:tcPr>
                    <a:solidFill>
                      <a:srgbClr val="EFF1F7"/>
                    </a:solidFill>
                  </a:tcPr>
                </a:tc>
                <a:tc>
                  <a:txBody>
                    <a:bodyPr/>
                    <a:lstStyle/>
                    <a:p>
                      <a:pPr algn="ctr"/>
                      <a:r>
                        <a:rPr sz="1200" b="0">
                          <a:solidFill>
                            <a:srgbClr val="1C2233"/>
                          </a:solidFill>
                          <a:latin typeface="メイリオ"/>
                          <a:ea typeface="メイリオ"/>
                        </a:rPr>
                        <a:t>転居・異動・新社会人</a:t>
                      </a:r>
                    </a:p>
                  </a:txBody>
                  <a:tcPr>
                    <a:solidFill>
                      <a:srgbClr val="EFF1F7"/>
                    </a:solidFill>
                  </a:tcPr>
                </a:tc>
                <a:tc>
                  <a:txBody>
                    <a:bodyPr/>
                    <a:lstStyle/>
                    <a:p>
                      <a:pPr algn="ctr"/>
                      <a:r>
                        <a:rPr sz="1200" b="0">
                          <a:solidFill>
                            <a:srgbClr val="1C2233"/>
                          </a:solidFill>
                          <a:latin typeface="メイリオ"/>
                          <a:ea typeface="メイリオ"/>
                        </a:rPr>
                        <a:t>近い・24時間・続けやすい</a:t>
                      </a:r>
                    </a:p>
                  </a:txBody>
                  <a:tcPr>
                    <a:solidFill>
                      <a:srgbClr val="EFF1F7"/>
                    </a:solidFill>
                  </a:tcPr>
                </a:tc>
                <a:tc>
                  <a:txBody>
                    <a:bodyPr/>
                    <a:lstStyle/>
                    <a:p>
                      <a:pPr algn="ctr"/>
                      <a:r>
                        <a:rPr sz="1200" b="0">
                          <a:solidFill>
                            <a:srgbClr val="1C2233"/>
                          </a:solidFill>
                          <a:latin typeface="メイリオ"/>
                          <a:ea typeface="メイリオ"/>
                        </a:rPr>
                        <a:t>体験・見学予約【CV①】</a:t>
                      </a:r>
                    </a:p>
                  </a:txBody>
                  <a:tcPr>
                    <a:solidFill>
                      <a:srgbClr val="EFF1F7"/>
                    </a:solidFill>
                  </a:tcPr>
                </a:tc>
                <a:extLst>
                  <a:ext uri="{0D108BD9-81ED-4DB2-BD59-A6C34878D82A}">
                    <a16:rowId xmlns:a16="http://schemas.microsoft.com/office/drawing/2014/main" val="10002"/>
                  </a:ext>
                </a:extLst>
              </a:tr>
              <a:tr h="505669">
                <a:tc>
                  <a:txBody>
                    <a:bodyPr/>
                    <a:lstStyle/>
                    <a:p>
                      <a:pPr algn="l"/>
                      <a:r>
                        <a:rPr sz="1200" b="0">
                          <a:solidFill>
                            <a:srgbClr val="1C2233"/>
                          </a:solidFill>
                          <a:latin typeface="メイリオ"/>
                          <a:ea typeface="メイリオ"/>
                        </a:rPr>
                        <a:t>5〜7月（薄着期）</a:t>
                      </a:r>
                    </a:p>
                  </a:txBody>
                  <a:tcPr>
                    <a:solidFill>
                      <a:srgbClr val="FFFFFF"/>
                    </a:solidFill>
                  </a:tcPr>
                </a:tc>
                <a:tc>
                  <a:txBody>
                    <a:bodyPr/>
                    <a:lstStyle/>
                    <a:p>
                      <a:pPr algn="ctr"/>
                      <a:r>
                        <a:rPr sz="1200" b="0">
                          <a:solidFill>
                            <a:srgbClr val="1C2233"/>
                          </a:solidFill>
                          <a:latin typeface="メイリオ"/>
                          <a:ea typeface="メイリオ"/>
                        </a:rPr>
                        <a:t>目的が明確なダイエット層</a:t>
                      </a:r>
                    </a:p>
                  </a:txBody>
                  <a:tcPr>
                    <a:solidFill>
                      <a:srgbClr val="FFFFFF"/>
                    </a:solidFill>
                  </a:tcPr>
                </a:tc>
                <a:tc>
                  <a:txBody>
                    <a:bodyPr/>
                    <a:lstStyle/>
                    <a:p>
                      <a:pPr algn="ctr"/>
                      <a:r>
                        <a:rPr sz="1200" b="0">
                          <a:solidFill>
                            <a:srgbClr val="1C2233"/>
                          </a:solidFill>
                          <a:latin typeface="メイリオ"/>
                          <a:ea typeface="メイリオ"/>
                        </a:rPr>
                        <a:t>3ヶ月で変わる／ビフォーアフター実例</a:t>
                      </a:r>
                    </a:p>
                  </a:txBody>
                  <a:tcPr>
                    <a:solidFill>
                      <a:srgbClr val="FFFFFF"/>
                    </a:solidFill>
                  </a:tcPr>
                </a:tc>
                <a:tc>
                  <a:txBody>
                    <a:bodyPr/>
                    <a:lstStyle/>
                    <a:p>
                      <a:pPr algn="ctr"/>
                      <a:r>
                        <a:rPr sz="1200" b="0">
                          <a:solidFill>
                            <a:srgbClr val="1C2233"/>
                          </a:solidFill>
                          <a:latin typeface="メイリオ"/>
                          <a:ea typeface="メイリオ"/>
                        </a:rPr>
                        <a:t>体験予約【CV①】</a:t>
                      </a:r>
                    </a:p>
                  </a:txBody>
                  <a:tcPr>
                    <a:solidFill>
                      <a:srgbClr val="FFFFFF"/>
                    </a:solidFill>
                  </a:tcPr>
                </a:tc>
                <a:extLst>
                  <a:ext uri="{0D108BD9-81ED-4DB2-BD59-A6C34878D82A}">
                    <a16:rowId xmlns:a16="http://schemas.microsoft.com/office/drawing/2014/main" val="10003"/>
                  </a:ext>
                </a:extLst>
              </a:tr>
              <a:tr h="505669">
                <a:tc>
                  <a:txBody>
                    <a:bodyPr/>
                    <a:lstStyle/>
                    <a:p>
                      <a:pPr algn="l"/>
                      <a:r>
                        <a:rPr sz="1200" b="0">
                          <a:solidFill>
                            <a:srgbClr val="1C2233"/>
                          </a:solidFill>
                          <a:latin typeface="メイリオ"/>
                          <a:ea typeface="メイリオ"/>
                        </a:rPr>
                        <a:t>8月後半〜9月</a:t>
                      </a:r>
                    </a:p>
                  </a:txBody>
                  <a:tcPr>
                    <a:solidFill>
                      <a:srgbClr val="EFF1F7"/>
                    </a:solidFill>
                  </a:tcPr>
                </a:tc>
                <a:tc>
                  <a:txBody>
                    <a:bodyPr/>
                    <a:lstStyle/>
                    <a:p>
                      <a:pPr algn="ctr"/>
                      <a:r>
                        <a:rPr sz="1200" b="0">
                          <a:solidFill>
                            <a:srgbClr val="1C2233"/>
                          </a:solidFill>
                          <a:latin typeface="メイリオ"/>
                          <a:ea typeface="メイリオ"/>
                        </a:rPr>
                        <a:t>夏に動けなかった層</a:t>
                      </a:r>
                    </a:p>
                  </a:txBody>
                  <a:tcPr>
                    <a:solidFill>
                      <a:srgbClr val="EFF1F7"/>
                    </a:solidFill>
                  </a:tcPr>
                </a:tc>
                <a:tc>
                  <a:txBody>
                    <a:bodyPr/>
                    <a:lstStyle/>
                    <a:p>
                      <a:pPr algn="ctr"/>
                      <a:r>
                        <a:rPr sz="1200" b="0">
                          <a:solidFill>
                            <a:srgbClr val="1C2233"/>
                          </a:solidFill>
                          <a:latin typeface="メイリオ"/>
                          <a:ea typeface="メイリオ"/>
                        </a:rPr>
                        <a:t>秋から始める／今なら空いている</a:t>
                      </a:r>
                    </a:p>
                  </a:txBody>
                  <a:tcPr>
                    <a:solidFill>
                      <a:srgbClr val="EFF1F7"/>
                    </a:solidFill>
                  </a:tcPr>
                </a:tc>
                <a:tc>
                  <a:txBody>
                    <a:bodyPr/>
                    <a:lstStyle/>
                    <a:p>
                      <a:pPr algn="ctr"/>
                      <a:r>
                        <a:rPr sz="1200" b="0">
                          <a:solidFill>
                            <a:srgbClr val="1C2233"/>
                          </a:solidFill>
                          <a:latin typeface="メイリオ"/>
                          <a:ea typeface="メイリオ"/>
                        </a:rPr>
                        <a:t>見学・チャット相談</a:t>
                      </a:r>
                    </a:p>
                  </a:txBody>
                  <a:tcPr>
                    <a:solidFill>
                      <a:srgbClr val="EFF1F7"/>
                    </a:solidFill>
                  </a:tcPr>
                </a:tc>
                <a:extLst>
                  <a:ext uri="{0D108BD9-81ED-4DB2-BD59-A6C34878D82A}">
                    <a16:rowId xmlns:a16="http://schemas.microsoft.com/office/drawing/2014/main" val="10004"/>
                  </a:ext>
                </a:extLst>
              </a:tr>
              <a:tr h="505669">
                <a:tc>
                  <a:txBody>
                    <a:bodyPr/>
                    <a:lstStyle/>
                    <a:p>
                      <a:pPr algn="l"/>
                      <a:r>
                        <a:rPr sz="1200" b="0" dirty="0">
                          <a:solidFill>
                            <a:srgbClr val="1C2233"/>
                          </a:solidFill>
                          <a:latin typeface="メイリオ"/>
                          <a:ea typeface="メイリオ"/>
                        </a:rPr>
                        <a:t>10〜12月（仕込み期）</a:t>
                      </a:r>
                    </a:p>
                  </a:txBody>
                  <a:tcPr>
                    <a:solidFill>
                      <a:srgbClr val="FFFFFF"/>
                    </a:solidFill>
                  </a:tcPr>
                </a:tc>
                <a:tc>
                  <a:txBody>
                    <a:bodyPr/>
                    <a:lstStyle/>
                    <a:p>
                      <a:pPr algn="ctr"/>
                      <a:r>
                        <a:rPr sz="1200" b="0">
                          <a:solidFill>
                            <a:srgbClr val="1C2233"/>
                          </a:solidFill>
                          <a:latin typeface="メイリオ"/>
                          <a:ea typeface="メイリオ"/>
                        </a:rPr>
                        <a:t>検討初期・情報収集層</a:t>
                      </a:r>
                    </a:p>
                  </a:txBody>
                  <a:tcPr>
                    <a:solidFill>
                      <a:srgbClr val="FFFFFF"/>
                    </a:solidFill>
                  </a:tcPr>
                </a:tc>
                <a:tc>
                  <a:txBody>
                    <a:bodyPr/>
                    <a:lstStyle/>
                    <a:p>
                      <a:pPr algn="ctr"/>
                      <a:r>
                        <a:rPr sz="1200" b="0">
                          <a:solidFill>
                            <a:srgbClr val="1C2233"/>
                          </a:solidFill>
                          <a:latin typeface="メイリオ"/>
                          <a:ea typeface="メイリオ"/>
                        </a:rPr>
                        <a:t>体づくりタイプ診断／料金シミュレーター</a:t>
                      </a:r>
                    </a:p>
                  </a:txBody>
                  <a:tcPr>
                    <a:solidFill>
                      <a:srgbClr val="FFFFFF"/>
                    </a:solidFill>
                  </a:tcPr>
                </a:tc>
                <a:tc>
                  <a:txBody>
                    <a:bodyPr/>
                    <a:lstStyle/>
                    <a:p>
                      <a:pPr algn="ctr"/>
                      <a:r>
                        <a:rPr sz="1200" b="1" dirty="0" err="1">
                          <a:solidFill>
                            <a:srgbClr val="FFFFFF"/>
                          </a:solidFill>
                          <a:latin typeface="メイリオ"/>
                          <a:ea typeface="メイリオ"/>
                        </a:rPr>
                        <a:t>LINE友だち追加</a:t>
                      </a:r>
                      <a:endParaRPr sz="1200" b="1" dirty="0">
                        <a:solidFill>
                          <a:srgbClr val="FFFFFF"/>
                        </a:solidFill>
                        <a:latin typeface="メイリオ"/>
                        <a:ea typeface="メイリオ"/>
                      </a:endParaRPr>
                    </a:p>
                  </a:txBody>
                  <a:tcPr>
                    <a:solidFill>
                      <a:srgbClr val="BF4E0E"/>
                    </a:solidFill>
                  </a:tcPr>
                </a:tc>
                <a:extLst>
                  <a:ext uri="{0D108BD9-81ED-4DB2-BD59-A6C34878D82A}">
                    <a16:rowId xmlns:a16="http://schemas.microsoft.com/office/drawing/2014/main" val="10005"/>
                  </a:ext>
                </a:extLst>
              </a:tr>
            </a:tbl>
          </a:graphicData>
        </a:graphic>
      </p:graphicFrame>
      <p:sp>
        <p:nvSpPr>
          <p:cNvPr id="5" name="Rounded Rectangle 4"/>
          <p:cNvSpPr/>
          <p:nvPr/>
        </p:nvSpPr>
        <p:spPr>
          <a:xfrm>
            <a:off x="384048" y="4487091"/>
            <a:ext cx="2788920" cy="100584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err="1">
                <a:solidFill>
                  <a:srgbClr val="1C2233"/>
                </a:solidFill>
                <a:latin typeface="メイリオ"/>
                <a:ea typeface="メイリオ"/>
              </a:rPr>
              <a:t>ピーク月は広告費も最高値</a:t>
            </a:r>
            <a:endParaRPr sz="1200" b="1" dirty="0">
              <a:solidFill>
                <a:srgbClr val="1C2233"/>
              </a:solidFill>
              <a:latin typeface="メイリオ"/>
              <a:ea typeface="メイリオ"/>
            </a:endParaRPr>
          </a:p>
          <a:p>
            <a:pPr algn="l">
              <a:spcBef>
                <a:spcPts val="200"/>
              </a:spcBef>
            </a:pPr>
            <a:r>
              <a:rPr sz="1400" b="0" dirty="0">
                <a:solidFill>
                  <a:srgbClr val="1C2233"/>
                </a:solidFill>
                <a:latin typeface="メイリオ"/>
                <a:ea typeface="メイリオ"/>
              </a:rPr>
              <a:t>1月はCPCが最も高い。</a:t>
            </a:r>
            <a:r>
              <a:rPr lang="ja-JP" altLang="en-US" sz="1400" dirty="0">
                <a:solidFill>
                  <a:srgbClr val="1C2233"/>
                </a:solidFill>
                <a:latin typeface="メイリオ"/>
                <a:ea typeface="メイリオ"/>
              </a:rPr>
              <a:t>　　　</a:t>
            </a:r>
            <a:r>
              <a:rPr sz="1400" b="0" dirty="0" err="1">
                <a:solidFill>
                  <a:srgbClr val="1C2233"/>
                </a:solidFill>
                <a:latin typeface="メイリオ"/>
                <a:ea typeface="メイリオ"/>
              </a:rPr>
              <a:t>同じ予算で取れる件数が最も少ない月でもある</a:t>
            </a:r>
            <a:r>
              <a:rPr sz="1400" b="0" dirty="0">
                <a:solidFill>
                  <a:srgbClr val="1C2233"/>
                </a:solidFill>
                <a:latin typeface="メイリオ"/>
                <a:ea typeface="メイリオ"/>
              </a:rPr>
              <a:t>。</a:t>
            </a:r>
          </a:p>
        </p:txBody>
      </p:sp>
      <p:sp>
        <p:nvSpPr>
          <p:cNvPr id="6" name="Rounded Rectangle 5"/>
          <p:cNvSpPr/>
          <p:nvPr/>
        </p:nvSpPr>
        <p:spPr>
          <a:xfrm>
            <a:off x="3383279" y="4487091"/>
            <a:ext cx="2788920" cy="100584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a:solidFill>
                  <a:srgbClr val="1C2233"/>
                </a:solidFill>
                <a:latin typeface="メイリオ"/>
                <a:ea typeface="メイリオ"/>
              </a:rPr>
              <a:t>検討期間は数日〜2週間</a:t>
            </a:r>
          </a:p>
          <a:p>
            <a:pPr algn="l">
              <a:spcBef>
                <a:spcPts val="200"/>
              </a:spcBef>
            </a:pPr>
            <a:r>
              <a:rPr sz="1400" b="0" dirty="0" err="1">
                <a:solidFill>
                  <a:srgbClr val="1C2233"/>
                </a:solidFill>
                <a:latin typeface="メイリオ"/>
                <a:ea typeface="メイリオ"/>
              </a:rPr>
              <a:t>広告で追いかける時間がない。思い立った時点で候補に入っていないと負ける</a:t>
            </a:r>
            <a:r>
              <a:rPr sz="1400" b="0" dirty="0">
                <a:solidFill>
                  <a:srgbClr val="1C2233"/>
                </a:solidFill>
                <a:latin typeface="メイリオ"/>
                <a:ea typeface="メイリオ"/>
              </a:rPr>
              <a:t>。</a:t>
            </a:r>
          </a:p>
        </p:txBody>
      </p:sp>
      <p:sp>
        <p:nvSpPr>
          <p:cNvPr id="7" name="Rounded Rectangle 6"/>
          <p:cNvSpPr/>
          <p:nvPr/>
        </p:nvSpPr>
        <p:spPr>
          <a:xfrm>
            <a:off x="6382512" y="4487091"/>
            <a:ext cx="2788920" cy="100584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err="1">
                <a:solidFill>
                  <a:srgbClr val="1C2233"/>
                </a:solidFill>
                <a:latin typeface="メイリオ"/>
                <a:ea typeface="メイリオ"/>
              </a:rPr>
              <a:t>だから閑散期に友だちを溜める</a:t>
            </a:r>
            <a:endParaRPr sz="1200" b="1" dirty="0">
              <a:solidFill>
                <a:srgbClr val="1C2233"/>
              </a:solidFill>
              <a:latin typeface="メイリオ"/>
              <a:ea typeface="メイリオ"/>
            </a:endParaRPr>
          </a:p>
          <a:p>
            <a:pPr algn="l">
              <a:spcBef>
                <a:spcPts val="200"/>
              </a:spcBef>
            </a:pPr>
            <a:r>
              <a:rPr sz="1400" b="0" dirty="0">
                <a:solidFill>
                  <a:srgbClr val="1C2233"/>
                </a:solidFill>
                <a:latin typeface="メイリオ"/>
                <a:ea typeface="メイリオ"/>
              </a:rPr>
              <a:t>10〜12月に集めた友だちに、</a:t>
            </a:r>
            <a:r>
              <a:rPr lang="ja-JP" altLang="en-US" sz="1400" b="0" dirty="0">
                <a:solidFill>
                  <a:srgbClr val="1C2233"/>
                </a:solidFill>
                <a:latin typeface="メイリオ"/>
                <a:ea typeface="メイリオ"/>
              </a:rPr>
              <a:t>　</a:t>
            </a:r>
            <a:r>
              <a:rPr sz="1400" b="0" dirty="0">
                <a:solidFill>
                  <a:srgbClr val="1C2233"/>
                </a:solidFill>
                <a:latin typeface="メイリオ"/>
                <a:ea typeface="メイリオ"/>
              </a:rPr>
              <a:t>1月1日へ広告費ゼロで届く。</a:t>
            </a:r>
          </a:p>
        </p:txBody>
      </p:sp>
      <p:sp>
        <p:nvSpPr>
          <p:cNvPr id="8" name="Rectangle 7"/>
          <p:cNvSpPr/>
          <p:nvPr/>
        </p:nvSpPr>
        <p:spPr>
          <a:xfrm>
            <a:off x="384048" y="5648379"/>
            <a:ext cx="54864" cy="475488"/>
          </a:xfrm>
          <a:prstGeom prst="rect">
            <a:avLst/>
          </a:prstGeom>
          <a:solidFill>
            <a:srgbClr val="BF4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29768" y="5648379"/>
            <a:ext cx="9089136" cy="475488"/>
          </a:xfrm>
          <a:prstGeom prst="rect">
            <a:avLst/>
          </a:prstGeom>
          <a:solidFill>
            <a:srgbClr val="FDEF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66928" y="5748963"/>
            <a:ext cx="8814816" cy="215444"/>
          </a:xfrm>
          <a:prstGeom prst="rect">
            <a:avLst/>
          </a:prstGeom>
          <a:noFill/>
        </p:spPr>
        <p:txBody>
          <a:bodyPr wrap="square" lIns="0" tIns="0" rIns="0" bIns="0">
            <a:spAutoFit/>
          </a:bodyPr>
          <a:lstStyle/>
          <a:p>
            <a:r>
              <a:rPr sz="1400" b="0" dirty="0" err="1">
                <a:solidFill>
                  <a:srgbClr val="1C2233"/>
                </a:solidFill>
                <a:latin typeface="メイリオ"/>
                <a:ea typeface="メイリオ"/>
              </a:rPr>
              <a:t>ピーク月に広告費を積むのは全社やる。差がつくのは、その前に何人リスト化できているか</a:t>
            </a:r>
            <a:r>
              <a:rPr sz="1400" b="0" dirty="0">
                <a:solidFill>
                  <a:srgbClr val="1C2233"/>
                </a:solidFill>
                <a:latin typeface="メイリオ"/>
                <a:ea typeface="メイリオ"/>
              </a:rPr>
              <a:t>。</a:t>
            </a:r>
          </a:p>
        </p:txBody>
      </p:sp>
      <p:sp>
        <p:nvSpPr>
          <p:cNvPr id="11" name="TextBox 10"/>
          <p:cNvSpPr txBox="1"/>
          <p:nvPr/>
        </p:nvSpPr>
        <p:spPr>
          <a:xfrm>
            <a:off x="384048" y="6315891"/>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実績数値（CV地点別のCPC／CVR／CPA）は社内データ確認のうえ最終版で差し込みます。時期区分はGoogleトレンド（過去5年・2026/8/17取得）で確認済み。</a:t>
            </a:r>
          </a:p>
        </p:txBody>
      </p:sp>
    </p:spTree>
    <p:extLst>
      <p:ext uri="{BB962C8B-B14F-4D97-AF65-F5344CB8AC3E}">
        <p14:creationId xmlns:p14="http://schemas.microsoft.com/office/powerpoint/2010/main" val="79652610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69"/>
        <p:cNvGrpSpPr/>
        <p:nvPr/>
      </p:nvGrpSpPr>
      <p:grpSpPr>
        <a:xfrm>
          <a:off x="0" y="0"/>
          <a:ext cx="0" cy="0"/>
          <a:chOff x="0" y="0"/>
          <a:chExt cx="0" cy="0"/>
        </a:xfrm>
      </p:grpSpPr>
      <p:sp>
        <p:nvSpPr>
          <p:cNvPr id="470" name="Google Shape;470;p12"/>
          <p:cNvSpPr txBox="1"/>
          <p:nvPr/>
        </p:nvSpPr>
        <p:spPr>
          <a:xfrm>
            <a:off x="548883" y="138118"/>
            <a:ext cx="6276325"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chemeClr val="dk1"/>
              </a:buClr>
              <a:buSzPts val="1600"/>
              <a:buFont typeface="Arial"/>
              <a:buNone/>
            </a:pPr>
            <a:r>
              <a:rPr lang="ja-JP" sz="1600" b="1" dirty="0">
                <a:solidFill>
                  <a:srgbClr val="173559"/>
                </a:solidFill>
                <a:latin typeface="メイリオ"/>
                <a:ea typeface="メイリオ"/>
                <a:cs typeface="Meiryo"/>
                <a:sym typeface="Meiryo"/>
              </a:rPr>
              <a:t>前後検索</a:t>
            </a:r>
            <a:endParaRPr sz="1600" b="1" dirty="0">
              <a:solidFill>
                <a:srgbClr val="173559"/>
              </a:solidFill>
              <a:latin typeface="メイリオ"/>
              <a:ea typeface="メイリオ"/>
              <a:cs typeface="Meiryo"/>
              <a:sym typeface="Meiryo"/>
            </a:endParaRPr>
          </a:p>
        </p:txBody>
      </p:sp>
      <p:cxnSp>
        <p:nvCxnSpPr>
          <p:cNvPr id="471" name="Google Shape;471;p12"/>
          <p:cNvCxnSpPr/>
          <p:nvPr/>
        </p:nvCxnSpPr>
        <p:spPr>
          <a:xfrm>
            <a:off x="0" y="1318670"/>
            <a:ext cx="9906000" cy="0"/>
          </a:xfrm>
          <a:prstGeom prst="straightConnector1">
            <a:avLst/>
          </a:prstGeom>
          <a:noFill/>
          <a:ln w="19050" cap="flat" cmpd="sng">
            <a:solidFill>
              <a:srgbClr val="D8D8D8">
                <a:alpha val="60000"/>
              </a:srgbClr>
            </a:solidFill>
            <a:prstDash val="solid"/>
            <a:round/>
            <a:headEnd type="none" w="sm" len="sm"/>
            <a:tailEnd type="none" w="sm" len="sm"/>
          </a:ln>
        </p:spPr>
      </p:cxnSp>
      <p:sp>
        <p:nvSpPr>
          <p:cNvPr id="472" name="Google Shape;472;p12"/>
          <p:cNvSpPr/>
          <p:nvPr/>
        </p:nvSpPr>
        <p:spPr>
          <a:xfrm>
            <a:off x="-6096" y="531754"/>
            <a:ext cx="9906000" cy="361950"/>
          </a:xfrm>
          <a:prstGeom prst="rect">
            <a:avLst/>
          </a:prstGeom>
          <a:noFill/>
          <a:ln>
            <a:noFill/>
          </a:ln>
        </p:spPr>
        <p:txBody>
          <a:bodyPr spcFirstLastPara="1" wrap="square" lIns="91425" tIns="90000" rIns="91425" bIns="45700" anchor="ctr" anchorCtr="0">
            <a:noAutofit/>
          </a:bodyPr>
          <a:lstStyle/>
          <a:p>
            <a:pPr marL="0" marR="0" lvl="0" indent="0" algn="ctr" rtl="0">
              <a:spcBef>
                <a:spcPts val="0"/>
              </a:spcBef>
              <a:spcAft>
                <a:spcPts val="0"/>
              </a:spcAft>
              <a:buNone/>
            </a:pPr>
            <a:r>
              <a:rPr lang="ja-JP" dirty="0">
                <a:solidFill>
                  <a:srgbClr val="262626"/>
                </a:solidFill>
                <a:latin typeface="メイリオ"/>
                <a:ea typeface="メイリオ"/>
                <a:cs typeface="Meiryo"/>
                <a:sym typeface="Meiryo"/>
              </a:rPr>
              <a:t>ユーザー</a:t>
            </a:r>
            <a:r>
              <a:rPr lang="ja-JP" sz="2000" dirty="0">
                <a:solidFill>
                  <a:srgbClr val="262626"/>
                </a:solidFill>
                <a:latin typeface="メイリオ"/>
                <a:ea typeface="メイリオ"/>
                <a:cs typeface="Meiryo"/>
                <a:sym typeface="Meiryo"/>
              </a:rPr>
              <a:t>の検索動向</a:t>
            </a:r>
            <a:endParaRPr sz="2000" dirty="0">
              <a:solidFill>
                <a:srgbClr val="262626"/>
              </a:solidFill>
              <a:latin typeface="メイリオ"/>
              <a:ea typeface="メイリオ"/>
              <a:cs typeface="Meiryo"/>
              <a:sym typeface="Meiryo"/>
            </a:endParaRPr>
          </a:p>
        </p:txBody>
      </p:sp>
      <p:sp>
        <p:nvSpPr>
          <p:cNvPr id="473" name="Google Shape;473;p12"/>
          <p:cNvSpPr/>
          <p:nvPr/>
        </p:nvSpPr>
        <p:spPr>
          <a:xfrm>
            <a:off x="440436" y="887456"/>
            <a:ext cx="9465564" cy="403710"/>
          </a:xfrm>
          <a:prstGeom prst="rect">
            <a:avLst/>
          </a:prstGeom>
          <a:noFill/>
          <a:ln>
            <a:noFill/>
          </a:ln>
        </p:spPr>
        <p:txBody>
          <a:bodyPr spcFirstLastPara="1" wrap="square" lIns="91425" tIns="45700" rIns="91425" bIns="45700" anchor="ctr" anchorCtr="0">
            <a:noAutofit/>
          </a:bodyPr>
          <a:lstStyle/>
          <a:p>
            <a:pPr marL="0" marR="0" lvl="0" indent="0" rtl="0">
              <a:lnSpc>
                <a:spcPct val="115000"/>
              </a:lnSpc>
              <a:spcBef>
                <a:spcPts val="0"/>
              </a:spcBef>
              <a:spcAft>
                <a:spcPts val="0"/>
              </a:spcAft>
              <a:buNone/>
            </a:pPr>
            <a:r>
              <a:rPr sz="1200" b="1" dirty="0">
                <a:solidFill>
                  <a:srgbClr val="1A1A2E"/>
                </a:solidFill>
                <a:latin typeface="メイリオ"/>
                <a:ea typeface="メイリオ"/>
                <a:cs typeface="メイリオ"/>
              </a:rPr>
              <a:t>検索前後15日は4つに分かれる。手段さがし → </a:t>
            </a:r>
            <a:r>
              <a:rPr sz="1200" b="1" dirty="0" err="1">
                <a:solidFill>
                  <a:srgbClr val="1A1A2E"/>
                </a:solidFill>
                <a:latin typeface="メイリオ"/>
                <a:ea typeface="メイリオ"/>
                <a:cs typeface="メイリオ"/>
              </a:rPr>
              <a:t>比較と相場</a:t>
            </a:r>
            <a:r>
              <a:rPr sz="1200" b="1" dirty="0">
                <a:solidFill>
                  <a:srgbClr val="1A1A2E"/>
                </a:solidFill>
                <a:latin typeface="メイリオ"/>
                <a:ea typeface="メイリオ"/>
                <a:cs typeface="メイリオ"/>
              </a:rPr>
              <a:t> → </a:t>
            </a:r>
            <a:r>
              <a:rPr sz="1200" b="1" dirty="0" err="1">
                <a:solidFill>
                  <a:srgbClr val="1A1A2E"/>
                </a:solidFill>
                <a:latin typeface="メイリオ"/>
                <a:ea typeface="メイリオ"/>
                <a:cs typeface="メイリオ"/>
              </a:rPr>
              <a:t>通い始めの</a:t>
            </a:r>
            <a:r>
              <a:rPr lang="ja-JP" altLang="en-US" sz="1200" b="1" dirty="0">
                <a:solidFill>
                  <a:srgbClr val="1A1A2E"/>
                </a:solidFill>
                <a:latin typeface="メイリオ"/>
                <a:ea typeface="メイリオ"/>
                <a:cs typeface="メイリオ"/>
              </a:rPr>
              <a:t>イメージ</a:t>
            </a:r>
            <a:r>
              <a:rPr sz="1200" b="1" dirty="0">
                <a:solidFill>
                  <a:srgbClr val="1A1A2E"/>
                </a:solidFill>
                <a:latin typeface="メイリオ"/>
                <a:ea typeface="メイリオ"/>
                <a:cs typeface="メイリオ"/>
              </a:rPr>
              <a:t> → </a:t>
            </a:r>
            <a:r>
              <a:rPr sz="1200" b="1" dirty="0" err="1">
                <a:solidFill>
                  <a:srgbClr val="1A1A2E"/>
                </a:solidFill>
                <a:latin typeface="メイリオ"/>
                <a:ea typeface="メイリオ"/>
                <a:cs typeface="メイリオ"/>
              </a:rPr>
              <a:t>効果への不安</a:t>
            </a:r>
            <a:r>
              <a:rPr sz="1200" b="1" dirty="0">
                <a:solidFill>
                  <a:srgbClr val="1A1A2E"/>
                </a:solidFill>
                <a:latin typeface="メイリオ"/>
                <a:ea typeface="メイリオ"/>
                <a:cs typeface="メイリオ"/>
              </a:rPr>
              <a:t>。</a:t>
            </a:r>
            <a:endParaRPr sz="1200" dirty="0">
              <a:solidFill>
                <a:srgbClr val="3F3F3F"/>
              </a:solidFill>
              <a:latin typeface="メイリオ"/>
              <a:ea typeface="メイリオ"/>
              <a:cs typeface="Meiryo"/>
              <a:sym typeface="Meiryo"/>
            </a:endParaRPr>
          </a:p>
          <a:p>
            <a:pPr>
              <a:lnSpc>
                <a:spcPct val="115000"/>
              </a:lnSpc>
            </a:pPr>
            <a:r>
              <a:rPr sz="1200" b="1" dirty="0" err="1">
                <a:solidFill>
                  <a:srgbClr val="1A1A2E"/>
                </a:solidFill>
                <a:latin typeface="メイリオ"/>
                <a:ea typeface="メイリオ"/>
                <a:cs typeface="メイリオ"/>
              </a:rPr>
              <a:t>ジムの競合は、他のジムだけではない</a:t>
            </a:r>
            <a:r>
              <a:rPr sz="1200" b="1" dirty="0">
                <a:solidFill>
                  <a:srgbClr val="1A1A2E"/>
                </a:solidFill>
                <a:latin typeface="メイリオ"/>
                <a:ea typeface="メイリオ"/>
                <a:cs typeface="メイリオ"/>
              </a:rPr>
              <a:t>。</a:t>
            </a:r>
            <a:r>
              <a:rPr lang="ja-JP" altLang="en-US" sz="1200" b="1" dirty="0">
                <a:solidFill>
                  <a:srgbClr val="1A1A2E"/>
                </a:solidFill>
                <a:latin typeface="メイリオ"/>
                <a:ea typeface="メイリオ"/>
                <a:cs typeface="メイリオ"/>
              </a:rPr>
              <a:t>他の自分磨きの手段も混在</a:t>
            </a:r>
            <a:endParaRPr sz="1200" b="1" dirty="0">
              <a:solidFill>
                <a:srgbClr val="1A1A2E"/>
              </a:solidFill>
              <a:latin typeface="メイリオ"/>
              <a:ea typeface="メイリオ"/>
              <a:cs typeface="メイリオ"/>
            </a:endParaRPr>
          </a:p>
        </p:txBody>
      </p:sp>
      <p:cxnSp>
        <p:nvCxnSpPr>
          <p:cNvPr id="474" name="Google Shape;474;p12"/>
          <p:cNvCxnSpPr/>
          <p:nvPr/>
        </p:nvCxnSpPr>
        <p:spPr>
          <a:xfrm>
            <a:off x="0" y="1318670"/>
            <a:ext cx="9906000" cy="0"/>
          </a:xfrm>
          <a:prstGeom prst="straightConnector1">
            <a:avLst/>
          </a:prstGeom>
          <a:noFill/>
          <a:ln w="19050" cap="flat" cmpd="sng">
            <a:solidFill>
              <a:srgbClr val="D8D8D8">
                <a:alpha val="60000"/>
              </a:srgbClr>
            </a:solidFill>
            <a:prstDash val="solid"/>
            <a:round/>
            <a:headEnd type="none" w="sm" len="sm"/>
            <a:tailEnd type="none" w="sm" len="sm"/>
          </a:ln>
        </p:spPr>
      </p:cxnSp>
      <p:sp>
        <p:nvSpPr>
          <p:cNvPr id="475" name="Google Shape;475;p12"/>
          <p:cNvSpPr/>
          <p:nvPr/>
        </p:nvSpPr>
        <p:spPr>
          <a:xfrm>
            <a:off x="0" y="1362853"/>
            <a:ext cx="9906000" cy="295968"/>
          </a:xfrm>
          <a:prstGeom prst="rect">
            <a:avLst/>
          </a:prstGeom>
          <a:solidFill>
            <a:srgbClr val="0F243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100" b="1">
                <a:solidFill>
                  <a:schemeClr val="lt1"/>
                </a:solidFill>
                <a:latin typeface="メイリオ"/>
                <a:ea typeface="メイリオ"/>
                <a:cs typeface="Meiryo"/>
                <a:sym typeface="Meiryo"/>
              </a:rPr>
              <a:t>「パーソナルジム」の検索前後（LINEヤフー media Journey・実データ）</a:t>
            </a:r>
            <a:endParaRPr sz="1100" b="1">
              <a:solidFill>
                <a:schemeClr val="lt1"/>
              </a:solidFill>
              <a:latin typeface="メイリオ"/>
              <a:ea typeface="メイリオ"/>
              <a:cs typeface="Meiryo"/>
              <a:sym typeface="Meiryo"/>
            </a:endParaRPr>
          </a:p>
        </p:txBody>
      </p:sp>
      <p:sp>
        <p:nvSpPr>
          <p:cNvPr id="487" name="Rectangle 486"/>
          <p:cNvSpPr/>
          <p:nvPr/>
        </p:nvSpPr>
        <p:spPr>
          <a:xfrm>
            <a:off x="193897" y="1718362"/>
            <a:ext cx="9151271" cy="3744951"/>
          </a:xfrm>
          <a:prstGeom prst="rect">
            <a:avLst/>
          </a:prstGeom>
          <a:solidFill>
            <a:srgbClr val="EFF1F7"/>
          </a:solidFill>
          <a:ln w="12700">
            <a:solidFill>
              <a:srgbClr val="C6CAD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91" name="TextBox 490"/>
          <p:cNvSpPr txBox="1"/>
          <p:nvPr/>
        </p:nvSpPr>
        <p:spPr>
          <a:xfrm>
            <a:off x="385572" y="6248400"/>
            <a:ext cx="9134856" cy="310896"/>
          </a:xfrm>
          <a:prstGeom prst="rect">
            <a:avLst/>
          </a:prstGeom>
          <a:noFill/>
        </p:spPr>
        <p:txBody>
          <a:bodyPr wrap="square">
            <a:spAutoFit/>
          </a:bodyPr>
          <a:lstStyle/>
          <a:p>
            <a:r>
              <a:rPr sz="900">
                <a:solidFill>
                  <a:srgbClr val="646C82"/>
                </a:solidFill>
                <a:latin typeface="メイリオ"/>
                <a:ea typeface="メイリオ"/>
              </a:rPr>
              <a:t>※ 出典：LINEヤフー media Journey（ウェブ検索・2024/7/22〜2025/7/27・0日＝「パーソナルジム」検索起点）。競合実名を含むため社外提示は社内確認のうえ。</a:t>
            </a:r>
          </a:p>
        </p:txBody>
      </p:sp>
      <p:sp>
        <p:nvSpPr>
          <p:cNvPr id="492" name="Rectangle 491"/>
          <p:cNvSpPr/>
          <p:nvPr/>
        </p:nvSpPr>
        <p:spPr>
          <a:xfrm>
            <a:off x="385572" y="5608320"/>
            <a:ext cx="54864" cy="475488"/>
          </a:xfrm>
          <a:prstGeom prst="rect">
            <a:avLst/>
          </a:prstGeom>
          <a:solidFill>
            <a:srgbClr val="BF4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3" name="Rectangle 492"/>
          <p:cNvSpPr/>
          <p:nvPr/>
        </p:nvSpPr>
        <p:spPr>
          <a:xfrm>
            <a:off x="431292" y="5608320"/>
            <a:ext cx="9089136" cy="475488"/>
          </a:xfrm>
          <a:prstGeom prst="rect">
            <a:avLst/>
          </a:prstGeom>
          <a:solidFill>
            <a:srgbClr val="FDEF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4" name="TextBox 493"/>
          <p:cNvSpPr txBox="1"/>
          <p:nvPr/>
        </p:nvSpPr>
        <p:spPr>
          <a:xfrm>
            <a:off x="568452" y="5708904"/>
            <a:ext cx="8814815" cy="329899"/>
          </a:xfrm>
          <a:prstGeom prst="rect">
            <a:avLst/>
          </a:prstGeom>
          <a:noFill/>
        </p:spPr>
        <p:txBody>
          <a:bodyPr wrap="square">
            <a:spAutoFit/>
          </a:bodyPr>
          <a:lstStyle/>
          <a:p>
            <a:pPr>
              <a:lnSpc>
                <a:spcPct val="125000"/>
              </a:lnSpc>
            </a:pPr>
            <a:r>
              <a:rPr lang="ja-JP" altLang="en-US" sz="1300" b="1" dirty="0">
                <a:solidFill>
                  <a:srgbClr val="C00000"/>
                </a:solidFill>
                <a:latin typeface="メイリオ"/>
                <a:ea typeface="メイリオ"/>
                <a:cs typeface="メイリオ"/>
              </a:rPr>
              <a:t>人は入る前から「入った後」を想像している。同時に、効かなかったときの代案を探す。</a:t>
            </a:r>
            <a:endParaRPr sz="1300" b="1" dirty="0">
              <a:solidFill>
                <a:srgbClr val="C00000"/>
              </a:solidFill>
              <a:latin typeface="メイリオ"/>
              <a:ea typeface="メイリオ"/>
              <a:cs typeface="メイリオ"/>
            </a:endParaRPr>
          </a:p>
        </p:txBody>
      </p:sp>
      <p:pic>
        <p:nvPicPr>
          <p:cNvPr id="495" name="Picture 494" descr="Journey_パーソナルジム_直近1年間(20240722-20250727).png"/>
          <p:cNvPicPr>
            <a:picLocks noChangeAspect="1"/>
          </p:cNvPicPr>
          <p:nvPr/>
        </p:nvPicPr>
        <p:blipFill>
          <a:blip r:embed="rId3"/>
          <a:stretch>
            <a:fillRect/>
          </a:stretch>
        </p:blipFill>
        <p:spPr>
          <a:xfrm>
            <a:off x="193897" y="1716132"/>
            <a:ext cx="5327009" cy="3744951"/>
          </a:xfrm>
          <a:prstGeom prst="rect">
            <a:avLst/>
          </a:prstGeom>
        </p:spPr>
      </p:pic>
      <p:sp>
        <p:nvSpPr>
          <p:cNvPr id="496" name="TextBox 495"/>
          <p:cNvSpPr txBox="1"/>
          <p:nvPr/>
        </p:nvSpPr>
        <p:spPr>
          <a:xfrm>
            <a:off x="5641675" y="1779721"/>
            <a:ext cx="3631492" cy="3422604"/>
          </a:xfrm>
          <a:prstGeom prst="rect">
            <a:avLst/>
          </a:prstGeom>
          <a:noFill/>
        </p:spPr>
        <p:txBody>
          <a:bodyPr wrap="square" lIns="18000" tIns="0" rIns="18000" bIns="0">
            <a:spAutoFit/>
          </a:bodyPr>
          <a:lstStyle/>
          <a:p>
            <a:pPr>
              <a:lnSpc>
                <a:spcPct val="125000"/>
              </a:lnSpc>
            </a:pPr>
            <a:r>
              <a:rPr sz="1300" b="1" dirty="0">
                <a:solidFill>
                  <a:srgbClr val="9550C6"/>
                </a:solidFill>
                <a:latin typeface="メイリオ"/>
                <a:ea typeface="メイリオ"/>
                <a:cs typeface="メイリオ"/>
              </a:rPr>
              <a:t>① </a:t>
            </a:r>
            <a:r>
              <a:rPr sz="1300" b="1" dirty="0" err="1">
                <a:solidFill>
                  <a:srgbClr val="9550C6"/>
                </a:solidFill>
                <a:latin typeface="メイリオ"/>
                <a:ea typeface="メイリオ"/>
                <a:cs typeface="メイリオ"/>
              </a:rPr>
              <a:t>なりたい自分への手段さがし</a:t>
            </a:r>
            <a:endParaRPr sz="1400" b="0" dirty="0">
              <a:solidFill>
                <a:srgbClr val="1C2233"/>
              </a:solidFill>
              <a:latin typeface="メイリオ"/>
              <a:ea typeface="メイリオ"/>
            </a:endParaRPr>
          </a:p>
          <a:p>
            <a:pPr>
              <a:lnSpc>
                <a:spcPct val="125000"/>
              </a:lnSpc>
            </a:pPr>
            <a:r>
              <a:rPr sz="1150" b="0" dirty="0">
                <a:solidFill>
                  <a:srgbClr val="1A1A2E"/>
                </a:solidFill>
                <a:latin typeface="メイリオ"/>
                <a:ea typeface="メイリオ"/>
                <a:cs typeface="メイリオ"/>
              </a:rPr>
              <a:t>医療脱毛・エステ・脂肪吸引・婚活アプリ／1ヶ月で10キロ痩せる</a:t>
            </a:r>
          </a:p>
          <a:p>
            <a:pPr>
              <a:lnSpc>
                <a:spcPct val="125000"/>
              </a:lnSpc>
            </a:pPr>
            <a:endParaRPr sz="1150" b="0" dirty="0">
              <a:solidFill>
                <a:srgbClr val="1A1A2E"/>
              </a:solidFill>
              <a:latin typeface="メイリオ"/>
              <a:ea typeface="メイリオ"/>
              <a:cs typeface="メイリオ"/>
            </a:endParaRPr>
          </a:p>
          <a:p>
            <a:pPr>
              <a:lnSpc>
                <a:spcPct val="125000"/>
              </a:lnSpc>
            </a:pPr>
            <a:r>
              <a:rPr sz="1300" b="1" dirty="0">
                <a:solidFill>
                  <a:srgbClr val="4285F4"/>
                </a:solidFill>
                <a:latin typeface="メイリオ"/>
                <a:ea typeface="メイリオ"/>
                <a:cs typeface="メイリオ"/>
              </a:rPr>
              <a:t>② </a:t>
            </a:r>
            <a:r>
              <a:rPr sz="1300" b="1" dirty="0" err="1">
                <a:solidFill>
                  <a:srgbClr val="4285F4"/>
                </a:solidFill>
                <a:latin typeface="メイリオ"/>
                <a:ea typeface="メイリオ"/>
                <a:cs typeface="メイリオ"/>
              </a:rPr>
              <a:t>ジムの比較と相場</a:t>
            </a:r>
            <a:endParaRPr sz="1300" b="1" dirty="0">
              <a:solidFill>
                <a:srgbClr val="4285F4"/>
              </a:solidFill>
              <a:latin typeface="メイリオ"/>
              <a:ea typeface="メイリオ"/>
              <a:cs typeface="メイリオ"/>
            </a:endParaRPr>
          </a:p>
          <a:p>
            <a:pPr>
              <a:lnSpc>
                <a:spcPct val="125000"/>
              </a:lnSpc>
            </a:pPr>
            <a:r>
              <a:rPr sz="1150" b="0" dirty="0" err="1">
                <a:solidFill>
                  <a:srgbClr val="1A1A2E"/>
                </a:solidFill>
                <a:latin typeface="メイリオ"/>
                <a:ea typeface="メイリオ"/>
                <a:cs typeface="メイリオ"/>
              </a:rPr>
              <a:t>パーソナルトレーニング・ライザップ・パーソナルジム</a:t>
            </a:r>
            <a:r>
              <a:rPr sz="1150" b="0" dirty="0">
                <a:solidFill>
                  <a:srgbClr val="1A1A2E"/>
                </a:solidFill>
                <a:latin typeface="メイリオ"/>
                <a:ea typeface="メイリオ"/>
                <a:cs typeface="メイリオ"/>
              </a:rPr>
              <a:t> </a:t>
            </a:r>
            <a:r>
              <a:rPr sz="1150" b="0" dirty="0" err="1">
                <a:solidFill>
                  <a:srgbClr val="1A1A2E"/>
                </a:solidFill>
                <a:latin typeface="メイリオ"/>
                <a:ea typeface="メイリオ"/>
                <a:cs typeface="メイリオ"/>
              </a:rPr>
              <a:t>相場</a:t>
            </a:r>
            <a:endParaRPr sz="1150" b="0" dirty="0">
              <a:solidFill>
                <a:srgbClr val="1A1A2E"/>
              </a:solidFill>
              <a:latin typeface="メイリオ"/>
              <a:ea typeface="メイリオ"/>
              <a:cs typeface="メイリオ"/>
            </a:endParaRPr>
          </a:p>
          <a:p>
            <a:pPr>
              <a:lnSpc>
                <a:spcPct val="125000"/>
              </a:lnSpc>
            </a:pPr>
            <a:endParaRPr sz="1150" b="0" dirty="0">
              <a:solidFill>
                <a:srgbClr val="1A1A2E"/>
              </a:solidFill>
              <a:latin typeface="メイリオ"/>
              <a:ea typeface="メイリオ"/>
              <a:cs typeface="メイリオ"/>
            </a:endParaRPr>
          </a:p>
          <a:p>
            <a:pPr>
              <a:lnSpc>
                <a:spcPct val="125000"/>
              </a:lnSpc>
            </a:pPr>
            <a:r>
              <a:rPr sz="1300" b="1" dirty="0">
                <a:solidFill>
                  <a:srgbClr val="34A853"/>
                </a:solidFill>
                <a:latin typeface="メイリオ"/>
                <a:ea typeface="メイリオ"/>
                <a:cs typeface="メイリオ"/>
              </a:rPr>
              <a:t>③ </a:t>
            </a:r>
            <a:r>
              <a:rPr sz="1300" b="1" dirty="0" err="1">
                <a:solidFill>
                  <a:srgbClr val="34A853"/>
                </a:solidFill>
                <a:latin typeface="メイリオ"/>
                <a:ea typeface="メイリオ"/>
                <a:cs typeface="メイリオ"/>
              </a:rPr>
              <a:t>通い始めてからの</a:t>
            </a:r>
            <a:r>
              <a:rPr lang="ja-JP" altLang="en-US" sz="1300" b="1" dirty="0">
                <a:solidFill>
                  <a:srgbClr val="34A853"/>
                </a:solidFill>
                <a:latin typeface="メイリオ"/>
                <a:ea typeface="メイリオ"/>
                <a:cs typeface="メイリオ"/>
              </a:rPr>
              <a:t>イメージ</a:t>
            </a:r>
            <a:endParaRPr lang="en-US" altLang="ja-JP" sz="1300" b="1" dirty="0">
              <a:solidFill>
                <a:srgbClr val="34A853"/>
              </a:solidFill>
              <a:latin typeface="メイリオ"/>
              <a:ea typeface="メイリオ"/>
              <a:cs typeface="メイリオ"/>
            </a:endParaRPr>
          </a:p>
          <a:p>
            <a:pPr>
              <a:lnSpc>
                <a:spcPct val="125000"/>
              </a:lnSpc>
            </a:pPr>
            <a:r>
              <a:rPr sz="1150" b="0" dirty="0" err="1">
                <a:solidFill>
                  <a:srgbClr val="1A1A2E"/>
                </a:solidFill>
                <a:latin typeface="メイリオ"/>
                <a:ea typeface="メイリオ"/>
                <a:cs typeface="メイリオ"/>
              </a:rPr>
              <a:t>ベンチプレス</a:t>
            </a:r>
            <a:r>
              <a:rPr sz="1150" b="0" dirty="0">
                <a:solidFill>
                  <a:srgbClr val="1A1A2E"/>
                </a:solidFill>
                <a:latin typeface="メイリオ"/>
                <a:ea typeface="メイリオ"/>
                <a:cs typeface="メイリオ"/>
              </a:rPr>
              <a:t> </a:t>
            </a:r>
            <a:r>
              <a:rPr sz="1150" b="0" dirty="0" err="1">
                <a:solidFill>
                  <a:srgbClr val="1A1A2E"/>
                </a:solidFill>
                <a:latin typeface="メイリオ"/>
                <a:ea typeface="メイリオ"/>
                <a:cs typeface="メイリオ"/>
              </a:rPr>
              <a:t>換算・マイプロテイン・ジムウェア・ジム用シューズ</a:t>
            </a:r>
            <a:endParaRPr sz="1150" b="0" dirty="0">
              <a:solidFill>
                <a:srgbClr val="1A1A2E"/>
              </a:solidFill>
              <a:latin typeface="メイリオ"/>
              <a:ea typeface="メイリオ"/>
              <a:cs typeface="メイリオ"/>
            </a:endParaRPr>
          </a:p>
          <a:p>
            <a:pPr>
              <a:lnSpc>
                <a:spcPct val="125000"/>
              </a:lnSpc>
            </a:pPr>
            <a:endParaRPr sz="1150" b="0" dirty="0">
              <a:solidFill>
                <a:srgbClr val="1A1A2E"/>
              </a:solidFill>
              <a:latin typeface="メイリオ"/>
              <a:ea typeface="メイリオ"/>
              <a:cs typeface="メイリオ"/>
            </a:endParaRPr>
          </a:p>
          <a:p>
            <a:pPr>
              <a:lnSpc>
                <a:spcPct val="125000"/>
              </a:lnSpc>
            </a:pPr>
            <a:r>
              <a:rPr sz="1300" b="1" dirty="0">
                <a:solidFill>
                  <a:srgbClr val="EA4335"/>
                </a:solidFill>
                <a:latin typeface="メイリオ"/>
                <a:ea typeface="メイリオ"/>
                <a:cs typeface="メイリオ"/>
              </a:rPr>
              <a:t>④ </a:t>
            </a:r>
            <a:r>
              <a:rPr sz="1300" b="1" dirty="0" err="1">
                <a:solidFill>
                  <a:srgbClr val="EA4335"/>
                </a:solidFill>
                <a:latin typeface="メイリオ"/>
                <a:ea typeface="メイリオ"/>
                <a:cs typeface="メイリオ"/>
              </a:rPr>
              <a:t>効果への不安と、別手段への</a:t>
            </a:r>
            <a:r>
              <a:rPr lang="ja-JP" altLang="en-US" sz="1300" b="1" dirty="0">
                <a:solidFill>
                  <a:srgbClr val="EA4335"/>
                </a:solidFill>
                <a:latin typeface="メイリオ"/>
                <a:ea typeface="メイリオ"/>
                <a:cs typeface="メイリオ"/>
              </a:rPr>
              <a:t>迷い</a:t>
            </a:r>
            <a:endParaRPr lang="en-US" altLang="ja-JP" sz="1300" b="1" dirty="0">
              <a:solidFill>
                <a:srgbClr val="EA4335"/>
              </a:solidFill>
              <a:latin typeface="メイリオ"/>
              <a:ea typeface="メイリオ"/>
              <a:cs typeface="メイリオ"/>
            </a:endParaRPr>
          </a:p>
          <a:p>
            <a:pPr>
              <a:lnSpc>
                <a:spcPct val="125000"/>
              </a:lnSpc>
            </a:pPr>
            <a:r>
              <a:rPr sz="1150" b="0" dirty="0" err="1">
                <a:solidFill>
                  <a:srgbClr val="1A1A2E"/>
                </a:solidFill>
                <a:latin typeface="メイリオ"/>
                <a:ea typeface="メイリオ"/>
                <a:cs typeface="メイリオ"/>
              </a:rPr>
              <a:t>筋トレ</a:t>
            </a:r>
            <a:r>
              <a:rPr sz="1150" b="0" dirty="0">
                <a:solidFill>
                  <a:srgbClr val="1A1A2E"/>
                </a:solidFill>
                <a:latin typeface="メイリオ"/>
                <a:ea typeface="メイリオ"/>
                <a:cs typeface="メイリオ"/>
              </a:rPr>
              <a:t> </a:t>
            </a:r>
            <a:r>
              <a:rPr sz="1150" b="0" dirty="0" err="1">
                <a:solidFill>
                  <a:srgbClr val="1A1A2E"/>
                </a:solidFill>
                <a:latin typeface="メイリオ"/>
                <a:ea typeface="メイリオ"/>
                <a:cs typeface="メイリオ"/>
              </a:rPr>
              <a:t>効果が出るまで・脂肪冷却</a:t>
            </a:r>
            <a:r>
              <a:rPr sz="1150" b="0" dirty="0">
                <a:solidFill>
                  <a:srgbClr val="1A1A2E"/>
                </a:solidFill>
                <a:latin typeface="メイリオ"/>
                <a:ea typeface="メイリオ"/>
                <a:cs typeface="メイリオ"/>
              </a:rPr>
              <a:t> </a:t>
            </a:r>
            <a:r>
              <a:rPr sz="1150" b="0" dirty="0" err="1">
                <a:solidFill>
                  <a:srgbClr val="1A1A2E"/>
                </a:solidFill>
                <a:latin typeface="メイリオ"/>
                <a:ea typeface="メイリオ"/>
                <a:cs typeface="メイリオ"/>
              </a:rPr>
              <a:t>効果ない・医療ダイエット</a:t>
            </a:r>
            <a:endParaRPr sz="1150" b="0" dirty="0">
              <a:solidFill>
                <a:srgbClr val="1A1A2E"/>
              </a:solidFill>
              <a:latin typeface="メイリオ"/>
              <a:ea typeface="メイリオ"/>
              <a:cs typeface="メイリオ"/>
            </a:endParaRPr>
          </a:p>
        </p:txBody>
      </p:sp>
    </p:spTree>
    <p:extLst>
      <p:ext uri="{BB962C8B-B14F-4D97-AF65-F5344CB8AC3E}">
        <p14:creationId xmlns:p14="http://schemas.microsoft.com/office/powerpoint/2010/main" val="36910070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631800" y="180000"/>
            <a:ext cx="8640000" cy="360000"/>
          </a:xfrm>
          <a:prstGeom prst="rect">
            <a:avLst/>
          </a:prstGeom>
          <a:noFill/>
        </p:spPr>
        <p:txBody>
          <a:bodyPr wrap="square" lIns="18000" tIns="0" rIns="18000" bIns="0">
            <a:spAutoFit/>
          </a:bodyPr>
          <a:lstStyle/>
          <a:p>
            <a:r>
              <a:rPr sz="1600" b="1" dirty="0" err="1">
                <a:solidFill>
                  <a:srgbClr val="1F2A5C"/>
                </a:solidFill>
                <a:latin typeface="メイリオ"/>
                <a:ea typeface="メイリオ"/>
              </a:rPr>
              <a:t>前後検索（補足</a:t>
            </a:r>
            <a:r>
              <a:rPr sz="1600" b="1" dirty="0">
                <a:solidFill>
                  <a:srgbClr val="1F2A5C"/>
                </a:solidFill>
                <a:latin typeface="メイリオ"/>
                <a:ea typeface="メイリオ"/>
              </a:rPr>
              <a:t>）｜</a:t>
            </a:r>
            <a:r>
              <a:rPr sz="1600" b="1" dirty="0" err="1">
                <a:solidFill>
                  <a:srgbClr val="1F2A5C"/>
                </a:solidFill>
                <a:latin typeface="メイリオ"/>
                <a:ea typeface="メイリオ"/>
              </a:rPr>
              <a:t>ダイエット需要は“医療”へ流出している</a:t>
            </a:r>
            <a:endParaRPr sz="1600" b="1" dirty="0">
              <a:solidFill>
                <a:srgbClr val="1F2A5C"/>
              </a:solidFill>
              <a:latin typeface="メイリオ"/>
              <a:ea typeface="メイリオ"/>
            </a:endParaRPr>
          </a:p>
        </p:txBody>
      </p:sp>
      <p:sp>
        <p:nvSpPr>
          <p:cNvPr id="3" name="TextBox 2"/>
          <p:cNvSpPr txBox="1"/>
          <p:nvPr/>
        </p:nvSpPr>
        <p:spPr>
          <a:xfrm>
            <a:off x="385200" y="702000"/>
            <a:ext cx="9133200" cy="646331"/>
          </a:xfrm>
          <a:prstGeom prst="rect">
            <a:avLst/>
          </a:prstGeom>
          <a:noFill/>
        </p:spPr>
        <p:txBody>
          <a:bodyPr wrap="square" lIns="18000" tIns="0" rIns="18000" bIns="0">
            <a:spAutoFit/>
          </a:bodyPr>
          <a:lstStyle/>
          <a:p>
            <a:r>
              <a:rPr lang="ja-JP" altLang="en-US" sz="1400" b="1" dirty="0">
                <a:solidFill>
                  <a:srgbClr val="646C82"/>
                </a:solidFill>
                <a:latin typeface="メイリオ"/>
                <a:ea typeface="メイリオ"/>
              </a:rPr>
              <a:t>「メディカルダイエット」の前後検索より</a:t>
            </a:r>
            <a:br>
              <a:rPr lang="en-US" sz="1400" b="1" dirty="0">
                <a:solidFill>
                  <a:srgbClr val="646C82"/>
                </a:solidFill>
                <a:latin typeface="メイリオ"/>
                <a:ea typeface="メイリオ"/>
              </a:rPr>
            </a:br>
            <a:r>
              <a:rPr sz="1400" b="1" dirty="0">
                <a:solidFill>
                  <a:srgbClr val="646C82"/>
                </a:solidFill>
                <a:latin typeface="メイリオ"/>
                <a:ea typeface="メイリオ"/>
              </a:rPr>
              <a:t>リベルサス・マンジャロ等のGLP-1系KWが巨大クラスタ化。</a:t>
            </a:r>
            <a:endParaRPr lang="en-US" sz="1400" b="1" dirty="0">
              <a:solidFill>
                <a:srgbClr val="646C82"/>
              </a:solidFill>
              <a:latin typeface="メイリオ"/>
              <a:ea typeface="メイリオ"/>
            </a:endParaRPr>
          </a:p>
          <a:p>
            <a:r>
              <a:rPr sz="1400" b="1" dirty="0">
                <a:solidFill>
                  <a:srgbClr val="646C82"/>
                </a:solidFill>
                <a:latin typeface="メイリオ"/>
                <a:ea typeface="メイリオ"/>
              </a:rPr>
              <a:t>「</a:t>
            </a:r>
            <a:r>
              <a:rPr sz="1400" b="1" dirty="0" err="1">
                <a:solidFill>
                  <a:srgbClr val="646C82"/>
                </a:solidFill>
                <a:latin typeface="メイリオ"/>
                <a:ea typeface="メイリオ"/>
              </a:rPr>
              <a:t>痩せたい」の受け皿が、運動から薬に移りつつある</a:t>
            </a:r>
            <a:r>
              <a:rPr sz="1400" b="1" dirty="0">
                <a:solidFill>
                  <a:srgbClr val="646C82"/>
                </a:solidFill>
                <a:latin typeface="メイリオ"/>
                <a:ea typeface="メイリオ"/>
              </a:rPr>
              <a:t>。</a:t>
            </a:r>
          </a:p>
        </p:txBody>
      </p:sp>
      <p:pic>
        <p:nvPicPr>
          <p:cNvPr id="4" name="Picture 3" descr="Journey_メディカルダイエット_直近1年間(20241202-20251207).png"/>
          <p:cNvPicPr>
            <a:picLocks noChangeAspect="1"/>
          </p:cNvPicPr>
          <p:nvPr/>
        </p:nvPicPr>
        <p:blipFill>
          <a:blip r:embed="rId2"/>
          <a:stretch>
            <a:fillRect/>
          </a:stretch>
        </p:blipFill>
        <p:spPr>
          <a:xfrm>
            <a:off x="385200" y="1403486"/>
            <a:ext cx="5400000" cy="3454834"/>
          </a:xfrm>
          <a:prstGeom prst="rect">
            <a:avLst/>
          </a:prstGeom>
        </p:spPr>
      </p:pic>
      <p:sp>
        <p:nvSpPr>
          <p:cNvPr id="5" name="TextBox 4"/>
          <p:cNvSpPr txBox="1"/>
          <p:nvPr/>
        </p:nvSpPr>
        <p:spPr>
          <a:xfrm>
            <a:off x="5956335" y="1729081"/>
            <a:ext cx="3718560" cy="2369880"/>
          </a:xfrm>
          <a:prstGeom prst="rect">
            <a:avLst/>
          </a:prstGeom>
          <a:noFill/>
        </p:spPr>
        <p:txBody>
          <a:bodyPr wrap="square" lIns="18000" tIns="0" rIns="18000" bIns="0">
            <a:spAutoFit/>
          </a:bodyPr>
          <a:lstStyle/>
          <a:p>
            <a:r>
              <a:rPr sz="1400" b="0" dirty="0">
                <a:solidFill>
                  <a:srgbClr val="1C2233"/>
                </a:solidFill>
                <a:latin typeface="メイリオ"/>
                <a:ea typeface="メイリオ"/>
              </a:rPr>
              <a:t>① </a:t>
            </a:r>
            <a:r>
              <a:rPr sz="1400" b="0" dirty="0" err="1">
                <a:solidFill>
                  <a:srgbClr val="1C2233"/>
                </a:solidFill>
                <a:latin typeface="メイリオ"/>
                <a:ea typeface="メイリオ"/>
              </a:rPr>
              <a:t>検索前＝自力手段の限界</a:t>
            </a:r>
            <a:endParaRPr sz="1400" b="0" dirty="0">
              <a:solidFill>
                <a:srgbClr val="1C2233"/>
              </a:solidFill>
              <a:latin typeface="メイリオ"/>
              <a:ea typeface="メイリオ"/>
            </a:endParaRPr>
          </a:p>
          <a:p>
            <a:r>
              <a:rPr sz="1400" b="0" dirty="0" err="1">
                <a:solidFill>
                  <a:srgbClr val="1C2233"/>
                </a:solidFill>
                <a:latin typeface="メイリオ"/>
                <a:ea typeface="メイリオ"/>
              </a:rPr>
              <a:t>ダイエット薬・サプリ・脂肪冷却</a:t>
            </a:r>
            <a:r>
              <a:rPr sz="1400" b="0" dirty="0">
                <a:solidFill>
                  <a:srgbClr val="1C2233"/>
                </a:solidFill>
                <a:latin typeface="メイリオ"/>
                <a:ea typeface="メイリオ"/>
              </a:rPr>
              <a:t>・</a:t>
            </a:r>
            <a:r>
              <a:rPr lang="ja-JP" altLang="en-US" sz="1400" b="0" dirty="0">
                <a:solidFill>
                  <a:srgbClr val="1C2233"/>
                </a:solidFill>
                <a:latin typeface="メイリオ"/>
                <a:ea typeface="メイリオ"/>
              </a:rPr>
              <a:t>　　　　</a:t>
            </a:r>
            <a:r>
              <a:rPr sz="1400" b="0" dirty="0" err="1">
                <a:solidFill>
                  <a:srgbClr val="1C2233"/>
                </a:solidFill>
                <a:latin typeface="メイリオ"/>
                <a:ea typeface="メイリオ"/>
              </a:rPr>
              <a:t>食事メニュ</a:t>
            </a:r>
            <a:r>
              <a:rPr sz="1400" b="0" dirty="0">
                <a:solidFill>
                  <a:srgbClr val="1C2233"/>
                </a:solidFill>
                <a:latin typeface="メイリオ"/>
                <a:ea typeface="メイリオ"/>
              </a:rPr>
              <a:t>ー</a:t>
            </a:r>
          </a:p>
          <a:p>
            <a:endParaRPr sz="1400" b="0" dirty="0">
              <a:solidFill>
                <a:srgbClr val="1C2233"/>
              </a:solidFill>
              <a:latin typeface="メイリオ"/>
              <a:ea typeface="メイリオ"/>
            </a:endParaRPr>
          </a:p>
          <a:p>
            <a:r>
              <a:rPr sz="1400" b="0" dirty="0">
                <a:solidFill>
                  <a:srgbClr val="1C2233"/>
                </a:solidFill>
                <a:latin typeface="メイリオ"/>
                <a:ea typeface="メイリオ"/>
              </a:rPr>
              <a:t>② </a:t>
            </a:r>
            <a:r>
              <a:rPr sz="1400" b="0" dirty="0" err="1">
                <a:solidFill>
                  <a:srgbClr val="1C2233"/>
                </a:solidFill>
                <a:latin typeface="メイリオ"/>
                <a:ea typeface="メイリオ"/>
              </a:rPr>
              <a:t>検索後＝薬の不安と比較</a:t>
            </a:r>
            <a:endParaRPr sz="1400" b="0" dirty="0">
              <a:solidFill>
                <a:srgbClr val="1C2233"/>
              </a:solidFill>
              <a:latin typeface="メイリオ"/>
              <a:ea typeface="メイリオ"/>
            </a:endParaRPr>
          </a:p>
          <a:p>
            <a:r>
              <a:rPr sz="1400" b="0" dirty="0" err="1">
                <a:solidFill>
                  <a:srgbClr val="1C2233"/>
                </a:solidFill>
                <a:latin typeface="メイリオ"/>
                <a:ea typeface="メイリオ"/>
              </a:rPr>
              <a:t>副作用・危険性・保険適用・クリニック比較</a:t>
            </a:r>
            <a:endParaRPr sz="1400" b="0" dirty="0">
              <a:solidFill>
                <a:srgbClr val="1C2233"/>
              </a:solidFill>
              <a:latin typeface="メイリオ"/>
              <a:ea typeface="メイリオ"/>
            </a:endParaRPr>
          </a:p>
          <a:p>
            <a:endParaRPr sz="1400" b="0" dirty="0">
              <a:solidFill>
                <a:srgbClr val="1C2233"/>
              </a:solidFill>
              <a:latin typeface="メイリオ"/>
              <a:ea typeface="メイリオ"/>
            </a:endParaRPr>
          </a:p>
          <a:p>
            <a:r>
              <a:rPr sz="1400" b="0" dirty="0">
                <a:solidFill>
                  <a:srgbClr val="1C2233"/>
                </a:solidFill>
                <a:latin typeface="メイリオ"/>
                <a:ea typeface="メイリオ"/>
              </a:rPr>
              <a:t>③ </a:t>
            </a:r>
            <a:r>
              <a:rPr sz="1400" b="0" dirty="0" err="1">
                <a:solidFill>
                  <a:srgbClr val="1C2233"/>
                </a:solidFill>
                <a:latin typeface="メイリオ"/>
                <a:ea typeface="メイリオ"/>
              </a:rPr>
              <a:t>ジム提案への含意</a:t>
            </a:r>
            <a:endParaRPr sz="1400" b="0" dirty="0">
              <a:solidFill>
                <a:srgbClr val="1C2233"/>
              </a:solidFill>
              <a:latin typeface="メイリオ"/>
              <a:ea typeface="メイリオ"/>
            </a:endParaRPr>
          </a:p>
          <a:p>
            <a:r>
              <a:rPr sz="1400" b="0" dirty="0">
                <a:solidFill>
                  <a:srgbClr val="1C2233"/>
                </a:solidFill>
                <a:latin typeface="メイリオ"/>
                <a:ea typeface="メイリオ"/>
              </a:rPr>
              <a:t>「</a:t>
            </a:r>
            <a:r>
              <a:rPr sz="1400" b="0" dirty="0" err="1">
                <a:solidFill>
                  <a:srgbClr val="1C2233"/>
                </a:solidFill>
                <a:latin typeface="メイリオ"/>
                <a:ea typeface="メイリオ"/>
              </a:rPr>
              <a:t>薬に頼らず変わる」訴求＋ビフォーアフター実例が、副作用・リバウンド不安への回答になる</a:t>
            </a:r>
            <a:endParaRPr sz="1400" b="0" dirty="0">
              <a:solidFill>
                <a:srgbClr val="1C2233"/>
              </a:solidFill>
              <a:latin typeface="メイリオ"/>
              <a:ea typeface="メイリオ"/>
            </a:endParaRPr>
          </a:p>
        </p:txBody>
      </p:sp>
      <p:sp>
        <p:nvSpPr>
          <p:cNvPr id="6" name="TextBox 5"/>
          <p:cNvSpPr txBox="1"/>
          <p:nvPr/>
        </p:nvSpPr>
        <p:spPr>
          <a:xfrm>
            <a:off x="385200" y="5128919"/>
            <a:ext cx="9133200" cy="1154162"/>
          </a:xfrm>
          <a:prstGeom prst="rect">
            <a:avLst/>
          </a:prstGeom>
          <a:noFill/>
        </p:spPr>
        <p:txBody>
          <a:bodyPr wrap="square" lIns="18000" tIns="0" rIns="18000" bIns="0">
            <a:spAutoFit/>
          </a:bodyPr>
          <a:lstStyle/>
          <a:p>
            <a:r>
              <a:rPr sz="1600" b="0" dirty="0">
                <a:solidFill>
                  <a:srgbClr val="1C2233"/>
                </a:solidFill>
                <a:latin typeface="メイリオ"/>
                <a:ea typeface="メイリオ"/>
              </a:rPr>
              <a:t>・S13〜14の「ダイエット検索の5年半減」と整合</a:t>
            </a:r>
            <a:endParaRPr lang="en-US" sz="1600" b="0" dirty="0">
              <a:solidFill>
                <a:srgbClr val="1C2233"/>
              </a:solidFill>
              <a:latin typeface="メイリオ"/>
              <a:ea typeface="メイリオ"/>
            </a:endParaRPr>
          </a:p>
          <a:p>
            <a:r>
              <a:rPr lang="ja-JP" altLang="en-US" sz="1600" dirty="0">
                <a:solidFill>
                  <a:srgbClr val="1C2233"/>
                </a:solidFill>
                <a:latin typeface="メイリオ"/>
                <a:ea typeface="メイリオ"/>
              </a:rPr>
              <a:t>→</a:t>
            </a:r>
            <a:r>
              <a:rPr sz="1600" b="0" dirty="0" err="1">
                <a:solidFill>
                  <a:srgbClr val="1C2233"/>
                </a:solidFill>
                <a:latin typeface="メイリオ"/>
                <a:ea typeface="メイリオ"/>
              </a:rPr>
              <a:t>需要が消えたのではなく、SNS・AI・医療に分散した</a:t>
            </a:r>
            <a:endParaRPr lang="en-US" sz="1600" b="0" dirty="0">
              <a:solidFill>
                <a:srgbClr val="1C2233"/>
              </a:solidFill>
              <a:latin typeface="メイリオ"/>
              <a:ea typeface="メイリオ"/>
            </a:endParaRPr>
          </a:p>
          <a:p>
            <a:endParaRPr sz="900" b="0" dirty="0">
              <a:solidFill>
                <a:srgbClr val="1C2233"/>
              </a:solidFill>
              <a:latin typeface="メイリオ"/>
              <a:ea typeface="メイリオ"/>
            </a:endParaRPr>
          </a:p>
          <a:p>
            <a:r>
              <a:rPr sz="1600" b="0" dirty="0">
                <a:solidFill>
                  <a:srgbClr val="1C2233"/>
                </a:solidFill>
                <a:latin typeface="メイリオ"/>
                <a:ea typeface="メイリオ"/>
              </a:rPr>
              <a:t>・</a:t>
            </a:r>
            <a:r>
              <a:rPr sz="1600" b="0" dirty="0" err="1">
                <a:solidFill>
                  <a:srgbClr val="1C2233"/>
                </a:solidFill>
                <a:latin typeface="メイリオ"/>
                <a:ea typeface="メイリオ"/>
              </a:rPr>
              <a:t>リバウンド・副作用への不安KWが検索後に立つ</a:t>
            </a:r>
            <a:endParaRPr lang="en-US" sz="1600" b="0" dirty="0">
              <a:solidFill>
                <a:srgbClr val="1C2233"/>
              </a:solidFill>
              <a:latin typeface="メイリオ"/>
              <a:ea typeface="メイリオ"/>
            </a:endParaRPr>
          </a:p>
          <a:p>
            <a:r>
              <a:rPr lang="ja-JP" altLang="en-US" sz="1600" dirty="0">
                <a:solidFill>
                  <a:srgbClr val="1C2233"/>
                </a:solidFill>
                <a:latin typeface="メイリオ"/>
                <a:ea typeface="メイリオ"/>
              </a:rPr>
              <a:t>→</a:t>
            </a:r>
            <a:r>
              <a:rPr sz="1600" b="0" dirty="0">
                <a:solidFill>
                  <a:srgbClr val="1C2233"/>
                </a:solidFill>
                <a:latin typeface="メイリオ"/>
                <a:ea typeface="メイリオ"/>
              </a:rPr>
              <a:t>「</a:t>
            </a:r>
            <a:r>
              <a:rPr sz="1600" b="0" dirty="0" err="1">
                <a:solidFill>
                  <a:srgbClr val="1C2233"/>
                </a:solidFill>
                <a:latin typeface="メイリオ"/>
                <a:ea typeface="メイリオ"/>
              </a:rPr>
              <a:t>運動で戻らない体を作る」はデータに裏付けられた切り返しになる</a:t>
            </a:r>
            <a:endParaRPr sz="1600" b="0" dirty="0">
              <a:solidFill>
                <a:srgbClr val="1C2233"/>
              </a:solidFill>
              <a:latin typeface="メイリオ"/>
              <a:ea typeface="メイリオ"/>
            </a:endParaRPr>
          </a:p>
        </p:txBody>
      </p:sp>
      <p:sp>
        <p:nvSpPr>
          <p:cNvPr id="7" name="TextBox 6"/>
          <p:cNvSpPr txBox="1"/>
          <p:nvPr/>
        </p:nvSpPr>
        <p:spPr>
          <a:xfrm>
            <a:off x="385200" y="6390000"/>
            <a:ext cx="9133200" cy="180000"/>
          </a:xfrm>
          <a:prstGeom prst="rect">
            <a:avLst/>
          </a:prstGeom>
          <a:noFill/>
        </p:spPr>
        <p:txBody>
          <a:bodyPr wrap="square" lIns="18000" tIns="0" rIns="18000" bIns="0">
            <a:spAutoFit/>
          </a:bodyPr>
          <a:lstStyle/>
          <a:p>
            <a:r>
              <a:rPr sz="800" b="0">
                <a:solidFill>
                  <a:srgbClr val="646C82"/>
                </a:solidFill>
                <a:latin typeface="メイリオ"/>
                <a:ea typeface="メイリオ"/>
              </a:rPr>
              <a:t>※ 出典：LINEヤフー media Journey（ウェブ検索・2024/12/2〜2025/12/7・0日＝メディカルダイエット系KW起点）。社内検討用の参考データ。実名の社外提示は要確認。</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2193285" y="3038203"/>
            <a:ext cx="551946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施策の詳細（配信の効率化）</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1128037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3B14C-0AEA-B93E-0808-EE37D50F60C4}"/>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2A5BF9CF-DABE-18D1-6B28-2A955BBABF7C}"/>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8521066C-FFDA-B384-2E51-56A4C461EF3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600" dirty="0">
                <a:solidFill>
                  <a:srgbClr val="343434"/>
                </a:solidFill>
                <a:latin typeface="メイリオ" panose="020B0604030504040204" pitchFamily="50" charset="-128"/>
                <a:ea typeface="メイリオ" panose="020B0604030504040204" pitchFamily="50" charset="-128"/>
              </a:rPr>
              <a:t>一般的な</a:t>
            </a:r>
            <a:r>
              <a:rPr lang="en-US" altLang="ja-JP" sz="1600" dirty="0">
                <a:solidFill>
                  <a:srgbClr val="343434"/>
                </a:solidFill>
                <a:latin typeface="メイリオ" panose="020B0604030504040204" pitchFamily="50" charset="-128"/>
                <a:ea typeface="メイリオ" panose="020B0604030504040204" pitchFamily="50" charset="-128"/>
              </a:rPr>
              <a:t>8</a:t>
            </a:r>
            <a:r>
              <a:rPr lang="ja-JP" altLang="en-US" sz="1600" dirty="0">
                <a:solidFill>
                  <a:srgbClr val="343434"/>
                </a:solidFill>
                <a:latin typeface="メイリオ" panose="020B0604030504040204" pitchFamily="50" charset="-128"/>
                <a:ea typeface="メイリオ" panose="020B0604030504040204" pitchFamily="50" charset="-128"/>
              </a:rPr>
              <a:t>フェーズを、ジム・フィットネスに当てはめるとこうなる。</a:t>
            </a:r>
          </a:p>
          <a:p>
            <a:pPr algn="ctr">
              <a:lnSpc>
                <a:spcPts val="2455"/>
              </a:lnSpc>
            </a:pPr>
            <a:r>
              <a:rPr lang="ja-JP" altLang="en-US" sz="1600" dirty="0">
                <a:solidFill>
                  <a:srgbClr val="343434"/>
                </a:solidFill>
                <a:latin typeface="メイリオ" panose="020B0604030504040204" pitchFamily="50" charset="-128"/>
                <a:ea typeface="メイリオ" panose="020B0604030504040204" pitchFamily="50" charset="-128"/>
              </a:rPr>
              <a:t>④体験予約と⑤来店の間が最も落ちる。ここに「匿名で聞ける」入口を置く。</a:t>
            </a:r>
            <a:endParaRPr lang="en-US" altLang="ja-JP" sz="16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B43B9AF0-6B1E-A342-438B-2E30C285E29D}"/>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F4F417D4-4BDF-E609-F703-DA8A26BF0E5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Meiryo"/>
                <a:sym typeface="Meiryo"/>
              </a:rPr>
              <a:t>想定のユーザーニーズ・インサイトの変化と施策方針</a:t>
            </a:r>
            <a:endParaRPr sz="1600" b="1" dirty="0">
              <a:solidFill>
                <a:srgbClr val="002060"/>
              </a:solidFill>
              <a:latin typeface="メイリオ"/>
              <a:ea typeface="メイリオ"/>
              <a:cs typeface="Meiryo"/>
              <a:sym typeface="Meiryo"/>
            </a:endParaRPr>
          </a:p>
        </p:txBody>
      </p:sp>
      <p:sp>
        <p:nvSpPr>
          <p:cNvPr id="31" name="正方形/長方形 30">
            <a:extLst>
              <a:ext uri="{FF2B5EF4-FFF2-40B4-BE49-F238E27FC236}">
                <a16:creationId xmlns:a16="http://schemas.microsoft.com/office/drawing/2014/main" id="{028C25A8-9FA6-9871-A97E-771FBA04FEF8}"/>
              </a:ext>
            </a:extLst>
          </p:cNvPr>
          <p:cNvSpPr/>
          <p:nvPr/>
        </p:nvSpPr>
        <p:spPr>
          <a:xfrm>
            <a:off x="334302" y="2523617"/>
            <a:ext cx="9425943" cy="2312943"/>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2" name="直線コネクタ 31">
            <a:extLst>
              <a:ext uri="{FF2B5EF4-FFF2-40B4-BE49-F238E27FC236}">
                <a16:creationId xmlns:a16="http://schemas.microsoft.com/office/drawing/2014/main" id="{3488C4F8-93FE-6F57-E3A9-E7EB0E334B73}"/>
              </a:ext>
            </a:extLst>
          </p:cNvPr>
          <p:cNvCxnSpPr>
            <a:cxnSpLocks/>
          </p:cNvCxnSpPr>
          <p:nvPr/>
        </p:nvCxnSpPr>
        <p:spPr>
          <a:xfrm>
            <a:off x="315939" y="155179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コネクタ 32">
            <a:extLst>
              <a:ext uri="{FF2B5EF4-FFF2-40B4-BE49-F238E27FC236}">
                <a16:creationId xmlns:a16="http://schemas.microsoft.com/office/drawing/2014/main" id="{C419B618-60A9-3C77-5074-3E01A065FABD}"/>
              </a:ext>
            </a:extLst>
          </p:cNvPr>
          <p:cNvCxnSpPr>
            <a:cxnSpLocks/>
          </p:cNvCxnSpPr>
          <p:nvPr/>
        </p:nvCxnSpPr>
        <p:spPr>
          <a:xfrm>
            <a:off x="1265077" y="156366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34" name="直線コネクタ 33">
            <a:extLst>
              <a:ext uri="{FF2B5EF4-FFF2-40B4-BE49-F238E27FC236}">
                <a16:creationId xmlns:a16="http://schemas.microsoft.com/office/drawing/2014/main" id="{65065F05-BC5D-01D1-5CD8-171A7D29CE07}"/>
              </a:ext>
            </a:extLst>
          </p:cNvPr>
          <p:cNvCxnSpPr>
            <a:cxnSpLocks/>
          </p:cNvCxnSpPr>
          <p:nvPr/>
        </p:nvCxnSpPr>
        <p:spPr>
          <a:xfrm>
            <a:off x="2202413" y="156101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35" name="直線コネクタ 34">
            <a:extLst>
              <a:ext uri="{FF2B5EF4-FFF2-40B4-BE49-F238E27FC236}">
                <a16:creationId xmlns:a16="http://schemas.microsoft.com/office/drawing/2014/main" id="{C3335872-8B1B-0399-4819-4550CFCC7F3A}"/>
              </a:ext>
            </a:extLst>
          </p:cNvPr>
          <p:cNvCxnSpPr>
            <a:cxnSpLocks/>
          </p:cNvCxnSpPr>
          <p:nvPr/>
        </p:nvCxnSpPr>
        <p:spPr>
          <a:xfrm>
            <a:off x="3136468" y="158033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36" name="直線コネクタ 35">
            <a:extLst>
              <a:ext uri="{FF2B5EF4-FFF2-40B4-BE49-F238E27FC236}">
                <a16:creationId xmlns:a16="http://schemas.microsoft.com/office/drawing/2014/main" id="{3385A133-7C08-9BB7-4412-7F7648A79076}"/>
              </a:ext>
            </a:extLst>
          </p:cNvPr>
          <p:cNvCxnSpPr>
            <a:cxnSpLocks/>
          </p:cNvCxnSpPr>
          <p:nvPr/>
        </p:nvCxnSpPr>
        <p:spPr>
          <a:xfrm>
            <a:off x="3541980" y="159091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a16:creationId xmlns:a16="http://schemas.microsoft.com/office/drawing/2014/main" id="{712B341B-CA1A-5342-6C1D-E3CA48B9C87C}"/>
              </a:ext>
            </a:extLst>
          </p:cNvPr>
          <p:cNvCxnSpPr>
            <a:cxnSpLocks/>
          </p:cNvCxnSpPr>
          <p:nvPr/>
        </p:nvCxnSpPr>
        <p:spPr>
          <a:xfrm>
            <a:off x="4833781" y="160278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38" name="直線コネクタ 37">
            <a:extLst>
              <a:ext uri="{FF2B5EF4-FFF2-40B4-BE49-F238E27FC236}">
                <a16:creationId xmlns:a16="http://schemas.microsoft.com/office/drawing/2014/main" id="{7A4BA556-4AA0-E77F-1F32-D7CAE4E43670}"/>
              </a:ext>
            </a:extLst>
          </p:cNvPr>
          <p:cNvCxnSpPr>
            <a:cxnSpLocks/>
          </p:cNvCxnSpPr>
          <p:nvPr/>
        </p:nvCxnSpPr>
        <p:spPr>
          <a:xfrm>
            <a:off x="6125582" y="160014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39" name="直線コネクタ 38">
            <a:extLst>
              <a:ext uri="{FF2B5EF4-FFF2-40B4-BE49-F238E27FC236}">
                <a16:creationId xmlns:a16="http://schemas.microsoft.com/office/drawing/2014/main" id="{13E90D95-9004-7E47-BB2D-FC12AD86943C}"/>
              </a:ext>
            </a:extLst>
          </p:cNvPr>
          <p:cNvCxnSpPr>
            <a:cxnSpLocks/>
          </p:cNvCxnSpPr>
          <p:nvPr/>
        </p:nvCxnSpPr>
        <p:spPr>
          <a:xfrm>
            <a:off x="7417384" y="159091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40" name="テキスト ボックス 39">
            <a:extLst>
              <a:ext uri="{FF2B5EF4-FFF2-40B4-BE49-F238E27FC236}">
                <a16:creationId xmlns:a16="http://schemas.microsoft.com/office/drawing/2014/main" id="{DB945B56-A37B-98FE-70DB-6E3D5E2DF966}"/>
              </a:ext>
            </a:extLst>
          </p:cNvPr>
          <p:cNvSpPr txBox="1"/>
          <p:nvPr/>
        </p:nvSpPr>
        <p:spPr>
          <a:xfrm>
            <a:off x="3542139" y="149714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B3932B8-37B9-C510-A29E-82B1B3579B1F}"/>
              </a:ext>
            </a:extLst>
          </p:cNvPr>
          <p:cNvSpPr txBox="1"/>
          <p:nvPr/>
        </p:nvSpPr>
        <p:spPr>
          <a:xfrm>
            <a:off x="6119413" y="190630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⑦マネタイズ</a:t>
            </a:r>
            <a:r>
              <a:rPr lang="en-US" altLang="ja-JP" sz="1000" b="1" dirty="0">
                <a:solidFill/>
                <a:latin typeface="メイリオ" panose="020B0604030504040204" pitchFamily="50" charset="-128"/>
                <a:ea typeface="メイリオ" panose="020B0604030504040204" pitchFamily="50" charset="-128"/>
              </a:rPr>
              <a:t>(</a:t>
            </a:r>
            <a:r>
              <a:rPr lang="ja-JP" altLang="en-US" sz="1000" b="1" dirty="0">
                <a:solidFill/>
                <a:latin typeface="メイリオ" panose="020B0604030504040204" pitchFamily="50" charset="-128"/>
                <a:ea typeface="メイリオ" panose="020B0604030504040204" pitchFamily="50" charset="-128"/>
              </a:rPr>
              <a:t>成約</a:t>
            </a:r>
            <a:r>
              <a:rPr lang="en-US" altLang="ja-JP" sz="1000" b="1" dirty="0">
                <a:solidFill/>
                <a:latin typeface="メイリオ" panose="020B0604030504040204" pitchFamily="50" charset="-128"/>
                <a:ea typeface="メイリオ" panose="020B0604030504040204" pitchFamily="50" charset="-128"/>
              </a:rPr>
              <a:t>/</a:t>
            </a:r>
            <a:r>
              <a:rPr lang="ja-JP" altLang="en-US" sz="1000" b="1" dirty="0">
                <a:solidFill/>
                <a:latin typeface="メイリオ" panose="020B0604030504040204" pitchFamily="50" charset="-128"/>
                <a:ea typeface="メイリオ" panose="020B0604030504040204" pitchFamily="50" charset="-128"/>
              </a:rPr>
              <a:t>購入</a:t>
            </a:r>
            <a:r>
              <a:rPr lang="en-US" altLang="ja-JP" sz="1000" b="1" dirty="0">
                <a:solidFill/>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42" name="テキスト ボックス 41">
            <a:extLst>
              <a:ext uri="{FF2B5EF4-FFF2-40B4-BE49-F238E27FC236}">
                <a16:creationId xmlns:a16="http://schemas.microsoft.com/office/drawing/2014/main" id="{086E832F-3BBB-2CF0-1185-3504E5F70EA5}"/>
              </a:ext>
            </a:extLst>
          </p:cNvPr>
          <p:cNvSpPr txBox="1"/>
          <p:nvPr/>
        </p:nvSpPr>
        <p:spPr>
          <a:xfrm>
            <a:off x="4830776" y="170172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B0222B3E-A030-A236-36E8-0ECC1151DC85}"/>
              </a:ext>
            </a:extLst>
          </p:cNvPr>
          <p:cNvSpPr txBox="1"/>
          <p:nvPr/>
        </p:nvSpPr>
        <p:spPr>
          <a:xfrm>
            <a:off x="7408050" y="211088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⑧</a:t>
            </a:r>
            <a:r>
              <a:rPr lang="en-US" altLang="ja-JP" sz="1100" b="1" dirty="0">
                <a:solidFill/>
                <a:latin typeface="メイリオ" panose="020B0604030504040204" pitchFamily="50" charset="-128"/>
                <a:ea typeface="メイリオ" panose="020B0604030504040204" pitchFamily="50" charset="-128"/>
              </a:rPr>
              <a:t>LTV</a:t>
            </a:r>
            <a:r>
              <a:rPr lang="ja-JP" altLang="en-US" sz="1100" b="1" dirty="0">
                <a:solidFill/>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44" name="テキスト ボックス 43">
            <a:extLst>
              <a:ext uri="{FF2B5EF4-FFF2-40B4-BE49-F238E27FC236}">
                <a16:creationId xmlns:a16="http://schemas.microsoft.com/office/drawing/2014/main" id="{4F86D14D-93C8-99A3-B6C5-21288DA1D94A}"/>
              </a:ext>
            </a:extLst>
          </p:cNvPr>
          <p:cNvSpPr txBox="1"/>
          <p:nvPr/>
        </p:nvSpPr>
        <p:spPr>
          <a:xfrm>
            <a:off x="334303" y="150323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solidFill/>
                <a:latin typeface="メイリオ" panose="020B0604030504040204" pitchFamily="50" charset="-128"/>
                <a:ea typeface="メイリオ" panose="020B0604030504040204" pitchFamily="50" charset="-128"/>
              </a:rPr>
              <a:t>① 接触（認知・流入）</a:t>
            </a:r>
          </a:p>
        </p:txBody>
      </p:sp>
      <p:sp>
        <p:nvSpPr>
          <p:cNvPr id="46" name="テキスト ボックス 45">
            <a:extLst>
              <a:ext uri="{FF2B5EF4-FFF2-40B4-BE49-F238E27FC236}">
                <a16:creationId xmlns:a16="http://schemas.microsoft.com/office/drawing/2014/main" id="{BA84F83D-F1A1-6470-779C-27806FDFF300}"/>
              </a:ext>
            </a:extLst>
          </p:cNvPr>
          <p:cNvSpPr txBox="1"/>
          <p:nvPr/>
        </p:nvSpPr>
        <p:spPr>
          <a:xfrm>
            <a:off x="1268358" y="171389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solidFill/>
                <a:latin typeface="メイリオ" panose="020B0604030504040204" pitchFamily="50" charset="-128"/>
                <a:ea typeface="メイリオ" panose="020B0604030504040204" pitchFamily="50" charset="-128"/>
              </a:rPr>
              <a:t>② サイト離脱</a:t>
            </a:r>
            <a:r>
              <a:rPr lang="ja-JP" altLang="en-US" sz="1100" b="1" dirty="0">
                <a:solidFill/>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47" name="テキスト ボックス 46">
            <a:extLst>
              <a:ext uri="{FF2B5EF4-FFF2-40B4-BE49-F238E27FC236}">
                <a16:creationId xmlns:a16="http://schemas.microsoft.com/office/drawing/2014/main" id="{80A2BF3B-2FDE-B47D-649A-453EE42A9D9C}"/>
              </a:ext>
            </a:extLst>
          </p:cNvPr>
          <p:cNvSpPr txBox="1"/>
          <p:nvPr/>
        </p:nvSpPr>
        <p:spPr>
          <a:xfrm>
            <a:off x="2202413" y="190800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solidFill/>
                <a:latin typeface="メイリオ" panose="020B0604030504040204" pitchFamily="50" charset="-128"/>
                <a:ea typeface="メイリオ" panose="020B0604030504040204" pitchFamily="50" charset="-128"/>
              </a:rPr>
              <a:t>③ 育成（興味</a:t>
            </a:r>
            <a:r>
              <a:rPr lang="ja-JP" altLang="en-US" sz="1100" b="1" dirty="0">
                <a:solidFill/>
                <a:latin typeface="メイリオ" panose="020B0604030504040204" pitchFamily="50" charset="-128"/>
                <a:ea typeface="メイリオ" panose="020B0604030504040204" pitchFamily="50" charset="-128"/>
              </a:rPr>
              <a:t>喚起</a:t>
            </a:r>
            <a:r>
              <a:rPr lang="ja-JP" altLang="ja-JP" sz="1100" b="1" dirty="0">
                <a:solidFill/>
                <a:latin typeface="メイリオ" panose="020B0604030504040204" pitchFamily="50" charset="-128"/>
                <a:ea typeface="メイリオ" panose="020B0604030504040204" pitchFamily="50" charset="-128"/>
              </a:rPr>
              <a:t>）</a:t>
            </a:r>
          </a:p>
        </p:txBody>
      </p:sp>
      <p:sp>
        <p:nvSpPr>
          <p:cNvPr id="48" name="テキスト ボックス 47">
            <a:extLst>
              <a:ext uri="{FF2B5EF4-FFF2-40B4-BE49-F238E27FC236}">
                <a16:creationId xmlns:a16="http://schemas.microsoft.com/office/drawing/2014/main" id="{B01E2583-B2F6-85CA-2360-912ACCEBF216}"/>
              </a:ext>
            </a:extLst>
          </p:cNvPr>
          <p:cNvSpPr txBox="1"/>
          <p:nvPr/>
        </p:nvSpPr>
        <p:spPr>
          <a:xfrm>
            <a:off x="3136468" y="210435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④リード獲得 </a:t>
            </a:r>
            <a:r>
              <a:rPr lang="en-US" altLang="ja-JP" sz="900" b="1" dirty="0">
                <a:solidFill/>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49" name="コネクタ: カギ線 48">
            <a:extLst>
              <a:ext uri="{FF2B5EF4-FFF2-40B4-BE49-F238E27FC236}">
                <a16:creationId xmlns:a16="http://schemas.microsoft.com/office/drawing/2014/main" id="{71187418-C8FB-7199-9042-5CCD9D9C501B}"/>
              </a:ext>
            </a:extLst>
          </p:cNvPr>
          <p:cNvCxnSpPr>
            <a:cxnSpLocks/>
            <a:stCxn id="48" idx="0"/>
            <a:endCxn id="40" idx="2"/>
          </p:cNvCxnSpPr>
          <p:nvPr/>
        </p:nvCxnSpPr>
        <p:spPr>
          <a:xfrm rot="5400000" flipH="1" flipV="1">
            <a:off x="4282287" y="186740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EFAD0D5D-8F39-2C2D-8164-9F443F6130D5}"/>
              </a:ext>
            </a:extLst>
          </p:cNvPr>
          <p:cNvSpPr txBox="1"/>
          <p:nvPr/>
        </p:nvSpPr>
        <p:spPr>
          <a:xfrm>
            <a:off x="3541822" y="2989468"/>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来店・体験</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1" name="テキスト ボックス 50">
            <a:extLst>
              <a:ext uri="{FF2B5EF4-FFF2-40B4-BE49-F238E27FC236}">
                <a16:creationId xmlns:a16="http://schemas.microsoft.com/office/drawing/2014/main" id="{64894078-BE3D-9354-2498-B57C29F97778}"/>
              </a:ext>
            </a:extLst>
          </p:cNvPr>
          <p:cNvSpPr txBox="1"/>
          <p:nvPr/>
        </p:nvSpPr>
        <p:spPr>
          <a:xfrm>
            <a:off x="6119096" y="3682465"/>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2" name="テキスト ボックス 51">
            <a:extLst>
              <a:ext uri="{FF2B5EF4-FFF2-40B4-BE49-F238E27FC236}">
                <a16:creationId xmlns:a16="http://schemas.microsoft.com/office/drawing/2014/main" id="{CECA121C-4B75-60CF-8CEF-29B9ADAFA7F9}"/>
              </a:ext>
            </a:extLst>
          </p:cNvPr>
          <p:cNvSpPr txBox="1"/>
          <p:nvPr/>
        </p:nvSpPr>
        <p:spPr>
          <a:xfrm>
            <a:off x="4830459" y="3335965"/>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3" name="テキスト ボックス 52">
            <a:extLst>
              <a:ext uri="{FF2B5EF4-FFF2-40B4-BE49-F238E27FC236}">
                <a16:creationId xmlns:a16="http://schemas.microsoft.com/office/drawing/2014/main" id="{B8720EB6-81E9-1161-4F3E-6F303807D2EF}"/>
              </a:ext>
            </a:extLst>
          </p:cNvPr>
          <p:cNvSpPr txBox="1"/>
          <p:nvPr/>
        </p:nvSpPr>
        <p:spPr>
          <a:xfrm>
            <a:off x="7408050" y="4037678"/>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⑧継続・PT/物販・友だち紹介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退会防止・再入会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
        <p:nvSpPr>
          <p:cNvPr id="54" name="テキスト ボックス 53">
            <a:extLst>
              <a:ext uri="{FF2B5EF4-FFF2-40B4-BE49-F238E27FC236}">
                <a16:creationId xmlns:a16="http://schemas.microsoft.com/office/drawing/2014/main" id="{A604636C-372E-EDB9-A524-8AA68EA7677B}"/>
              </a:ext>
            </a:extLst>
          </p:cNvPr>
          <p:cNvSpPr txBox="1"/>
          <p:nvPr/>
        </p:nvSpPr>
        <p:spPr>
          <a:xfrm>
            <a:off x="334303" y="2639541"/>
            <a:ext cx="1868111" cy="261610"/>
          </a:xfrm>
          <a:prstGeom prst="rect">
            <a:avLst/>
          </a:prstGeom>
          <a:solidFill>
            <a:srgbClr val="FFC000"/>
          </a:solidFill>
          <a:ln>
            <a:noFill/>
          </a:ln>
        </p:spPr>
        <p:txBody>
          <a:bodyPr wrap="square">
            <a:spAutoFit/>
          </a:bodyPr>
          <a:lstStyle/>
          <a:p>
            <a:pPr>
              <a:buNone/>
            </a:pPr>
            <a:r>
              <a:rPr lang="ja-JP" altLang="ja-JP" sz="1100" b="1" dirty="0">
                <a:solidFill/>
                <a:latin typeface="メイリオ" panose="020B0604030504040204" pitchFamily="50" charset="-128"/>
                <a:ea typeface="メイリオ" panose="020B0604030504040204" pitchFamily="50" charset="-128"/>
              </a:rPr>
              <a:t>① </a:t>
            </a:r>
            <a:r>
              <a:rPr lang="ja-JP" altLang="en-US" sz="1100" b="1" dirty="0">
                <a:solidFill/>
                <a:latin typeface="メイリオ" panose="020B0604030504040204" pitchFamily="50" charset="-128"/>
                <a:ea typeface="メイリオ" panose="020B0604030504040204" pitchFamily="50" charset="-128"/>
              </a:rPr>
              <a:t>広告</a:t>
            </a:r>
            <a:r>
              <a:rPr lang="ja-JP" altLang="ja-JP" sz="1100" b="1" dirty="0">
                <a:solidFill/>
                <a:latin typeface="メイリオ" panose="020B0604030504040204" pitchFamily="50" charset="-128"/>
                <a:ea typeface="メイリオ" panose="020B0604030504040204" pitchFamily="50" charset="-128"/>
              </a:rPr>
              <a:t>接触</a:t>
            </a:r>
            <a:r>
              <a:rPr lang="ja-JP" altLang="ja-JP" sz="1050" b="1" dirty="0">
                <a:solidFill/>
                <a:latin typeface="メイリオ" panose="020B0604030504040204" pitchFamily="50" charset="-128"/>
                <a:ea typeface="メイリオ" panose="020B0604030504040204" pitchFamily="50" charset="-128"/>
              </a:rPr>
              <a:t>（認知・流入）</a:t>
            </a:r>
            <a:endParaRPr lang="en-US" altLang="ja-JP" sz="1100" b="1" dirty="0">
              <a:latin typeface="メイリオ" panose="020B0604030504040204" pitchFamily="50" charset="-128"/>
              <a:ea typeface="メイリオ" panose="020B0604030504040204" pitchFamily="50" charset="-128"/>
            </a:endParaRPr>
          </a:p>
        </p:txBody>
      </p:sp>
      <p:sp>
        <p:nvSpPr>
          <p:cNvPr id="55" name="テキスト ボックス 54">
            <a:extLst>
              <a:ext uri="{FF2B5EF4-FFF2-40B4-BE49-F238E27FC236}">
                <a16:creationId xmlns:a16="http://schemas.microsoft.com/office/drawing/2014/main" id="{E9843A80-62F9-BE8D-3B74-6147295AB946}"/>
              </a:ext>
            </a:extLst>
          </p:cNvPr>
          <p:cNvSpPr txBox="1"/>
          <p:nvPr/>
        </p:nvSpPr>
        <p:spPr>
          <a:xfrm>
            <a:off x="1268358" y="2989468"/>
            <a:ext cx="1868111" cy="261610"/>
          </a:xfrm>
          <a:prstGeom prst="rect">
            <a:avLst/>
          </a:prstGeom>
          <a:solidFill>
            <a:srgbClr val="FFC000"/>
          </a:solidFill>
          <a:ln>
            <a:noFill/>
          </a:ln>
        </p:spPr>
        <p:txBody>
          <a:bodyPr wrap="square">
            <a:spAutoFit/>
          </a:bodyPr>
          <a:lstStyle/>
          <a:p>
            <a:pPr>
              <a:buNone/>
            </a:pPr>
            <a:r>
              <a:rPr lang="ja-JP" altLang="ja-JP" sz="1100" b="1" dirty="0">
                <a:solidFill/>
                <a:latin typeface="メイリオ" panose="020B0604030504040204" pitchFamily="50" charset="-128"/>
                <a:ea typeface="メイリオ" panose="020B0604030504040204" pitchFamily="50" charset="-128"/>
              </a:rPr>
              <a:t>② サイト離脱</a:t>
            </a:r>
            <a:r>
              <a:rPr lang="ja-JP" altLang="en-US" sz="1050" b="1" dirty="0">
                <a:solidFill/>
                <a:latin typeface="メイリオ" panose="020B0604030504040204" pitchFamily="50" charset="-128"/>
                <a:ea typeface="メイリオ" panose="020B0604030504040204" pitchFamily="50" charset="-128"/>
              </a:rPr>
              <a:t>（対策）</a:t>
            </a:r>
            <a:endParaRPr lang="en-US" altLang="ja-JP" sz="1100" b="1" dirty="0">
              <a:latin typeface="メイリオ" panose="020B0604030504040204" pitchFamily="50" charset="-128"/>
              <a:ea typeface="メイリオ" panose="020B0604030504040204" pitchFamily="50" charset="-128"/>
            </a:endParaRPr>
          </a:p>
        </p:txBody>
      </p:sp>
      <p:sp>
        <p:nvSpPr>
          <p:cNvPr id="56" name="テキスト ボックス 55">
            <a:extLst>
              <a:ext uri="{FF2B5EF4-FFF2-40B4-BE49-F238E27FC236}">
                <a16:creationId xmlns:a16="http://schemas.microsoft.com/office/drawing/2014/main" id="{562C0E19-F3C8-BFEB-41BA-01C231F6AB68}"/>
              </a:ext>
            </a:extLst>
          </p:cNvPr>
          <p:cNvSpPr txBox="1"/>
          <p:nvPr/>
        </p:nvSpPr>
        <p:spPr>
          <a:xfrm>
            <a:off x="2202413" y="3330682"/>
            <a:ext cx="1868111" cy="261610"/>
          </a:xfrm>
          <a:prstGeom prst="rect">
            <a:avLst/>
          </a:prstGeom>
          <a:solidFill>
            <a:srgbClr val="FFC000"/>
          </a:solidFill>
          <a:ln>
            <a:noFill/>
          </a:ln>
        </p:spPr>
        <p:txBody>
          <a:bodyPr wrap="square">
            <a:spAutoFit/>
          </a:bodyPr>
          <a:lstStyle/>
          <a:p>
            <a:pPr>
              <a:buNone/>
            </a:pPr>
            <a:r>
              <a:rPr lang="ja-JP" altLang="ja-JP" sz="1100" b="1" dirty="0">
                <a:solidFill/>
                <a:latin typeface="メイリオ" panose="020B0604030504040204" pitchFamily="50" charset="-128"/>
                <a:ea typeface="メイリオ" panose="020B0604030504040204" pitchFamily="50" charset="-128"/>
              </a:rPr>
              <a:t>③ 育成</a:t>
            </a:r>
            <a:r>
              <a:rPr lang="ja-JP" altLang="ja-JP" sz="1050" b="1" dirty="0">
                <a:solidFill/>
                <a:latin typeface="メイリオ" panose="020B0604030504040204" pitchFamily="50" charset="-128"/>
                <a:ea typeface="メイリオ" panose="020B0604030504040204" pitchFamily="50" charset="-128"/>
              </a:rPr>
              <a:t>（興味</a:t>
            </a:r>
            <a:r>
              <a:rPr lang="ja-JP" altLang="en-US" sz="1050" b="1" dirty="0">
                <a:solidFill/>
                <a:latin typeface="メイリオ" panose="020B0604030504040204" pitchFamily="50" charset="-128"/>
                <a:ea typeface="メイリオ" panose="020B0604030504040204" pitchFamily="50" charset="-128"/>
              </a:rPr>
              <a:t>喚起</a:t>
            </a:r>
            <a:r>
              <a:rPr lang="ja-JP" altLang="ja-JP" sz="1050" b="1" dirty="0">
                <a:solidFill/>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p:txBody>
      </p:sp>
      <p:sp>
        <p:nvSpPr>
          <p:cNvPr id="57" name="テキスト ボックス 56">
            <a:extLst>
              <a:ext uri="{FF2B5EF4-FFF2-40B4-BE49-F238E27FC236}">
                <a16:creationId xmlns:a16="http://schemas.microsoft.com/office/drawing/2014/main" id="{61BD8381-B930-1D8E-9096-0F86535FE580}"/>
              </a:ext>
            </a:extLst>
          </p:cNvPr>
          <p:cNvSpPr txBox="1"/>
          <p:nvPr/>
        </p:nvSpPr>
        <p:spPr>
          <a:xfrm>
            <a:off x="3132447" y="3671900"/>
            <a:ext cx="1868111" cy="261610"/>
          </a:xfrm>
          <a:prstGeom prst="rect">
            <a:avLst/>
          </a:prstGeom>
          <a:solidFill>
            <a:srgbClr val="FFC000"/>
          </a:solidFill>
          <a:ln>
            <a:noFill/>
          </a:ln>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④体験予約(web/LINE)</a:t>
            </a:r>
          </a:p>
        </p:txBody>
      </p:sp>
      <p:cxnSp>
        <p:nvCxnSpPr>
          <p:cNvPr id="58" name="コネクタ: カギ線 57">
            <a:extLst>
              <a:ext uri="{FF2B5EF4-FFF2-40B4-BE49-F238E27FC236}">
                <a16:creationId xmlns:a16="http://schemas.microsoft.com/office/drawing/2014/main" id="{6AB3A35A-B8AD-A5D7-2BCC-1432533F7764}"/>
              </a:ext>
            </a:extLst>
          </p:cNvPr>
          <p:cNvCxnSpPr>
            <a:cxnSpLocks/>
            <a:stCxn id="57" idx="0"/>
            <a:endCxn id="50" idx="2"/>
          </p:cNvCxnSpPr>
          <p:nvPr/>
        </p:nvCxnSpPr>
        <p:spPr>
          <a:xfrm rot="5400000" flipH="1" flipV="1">
            <a:off x="4181800" y="3323357"/>
            <a:ext cx="420822" cy="276264"/>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9" name="正方形/長方形 58">
            <a:extLst>
              <a:ext uri="{FF2B5EF4-FFF2-40B4-BE49-F238E27FC236}">
                <a16:creationId xmlns:a16="http://schemas.microsoft.com/office/drawing/2014/main" id="{03772BBA-2A8E-B8A9-3F32-9241614071ED}"/>
              </a:ext>
            </a:extLst>
          </p:cNvPr>
          <p:cNvSpPr/>
          <p:nvPr/>
        </p:nvSpPr>
        <p:spPr>
          <a:xfrm>
            <a:off x="315939" y="4519036"/>
            <a:ext cx="9444306" cy="241712"/>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solidFill/>
                <a:latin typeface="メイリオ" panose="020B0604030504040204" pitchFamily="50" charset="-128"/>
                <a:ea typeface="メイリオ" panose="020B0604030504040204" pitchFamily="50" charset="-128"/>
              </a:rPr>
              <a:t>← --- ジム・フィットネス業界の場合 --- →</a:t>
            </a:r>
          </a:p>
        </p:txBody>
      </p:sp>
      <p:sp>
        <p:nvSpPr>
          <p:cNvPr id="60" name="正方形/長方形 59">
            <a:extLst>
              <a:ext uri="{FF2B5EF4-FFF2-40B4-BE49-F238E27FC236}">
                <a16:creationId xmlns:a16="http://schemas.microsoft.com/office/drawing/2014/main" id="{90F34AC0-04C2-BAE1-6A8D-54D45A4A3391}"/>
              </a:ext>
            </a:extLst>
          </p:cNvPr>
          <p:cNvSpPr/>
          <p:nvPr/>
        </p:nvSpPr>
        <p:spPr>
          <a:xfrm>
            <a:off x="315939" y="2524461"/>
            <a:ext cx="9444306" cy="77017"/>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34501BD4-D0A1-1204-F1B6-3FF9DB9008B8}"/>
              </a:ext>
            </a:extLst>
          </p:cNvPr>
          <p:cNvSpPr/>
          <p:nvPr/>
        </p:nvSpPr>
        <p:spPr>
          <a:xfrm>
            <a:off x="307230" y="4760748"/>
            <a:ext cx="9444306" cy="151201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E33006BF-A7D4-677C-BC5C-604742DCB0AC}"/>
              </a:ext>
            </a:extLst>
          </p:cNvPr>
          <p:cNvSpPr/>
          <p:nvPr/>
        </p:nvSpPr>
        <p:spPr>
          <a:xfrm>
            <a:off x="307072" y="4846499"/>
            <a:ext cx="1185818" cy="253916"/>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latin typeface="メイリオ" panose="020B0604030504040204" pitchFamily="50" charset="-128"/>
                <a:ea typeface="メイリオ" panose="020B0604030504040204" pitchFamily="50" charset="-128"/>
              </a:rPr>
              <a:t>ニーズ</a:t>
            </a:r>
          </a:p>
        </p:txBody>
      </p:sp>
      <p:sp>
        <p:nvSpPr>
          <p:cNvPr id="71" name="四角形: 角を丸くする 70">
            <a:extLst>
              <a:ext uri="{FF2B5EF4-FFF2-40B4-BE49-F238E27FC236}">
                <a16:creationId xmlns:a16="http://schemas.microsoft.com/office/drawing/2014/main" id="{CB83D143-466E-0FF2-D6C5-E5909077F6A0}"/>
              </a:ext>
            </a:extLst>
          </p:cNvPr>
          <p:cNvSpPr/>
          <p:nvPr/>
        </p:nvSpPr>
        <p:spPr>
          <a:xfrm>
            <a:off x="315939" y="5584525"/>
            <a:ext cx="1185818" cy="253916"/>
          </a:xfrm>
          <a:prstGeom prst="roundRect">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latin typeface="メイリオ" panose="020B0604030504040204" pitchFamily="50" charset="-128"/>
                <a:ea typeface="メイリオ" panose="020B0604030504040204" pitchFamily="50" charset="-128"/>
              </a:rPr>
              <a:t>インサイト</a:t>
            </a:r>
          </a:p>
        </p:txBody>
      </p:sp>
      <p:sp>
        <p:nvSpPr>
          <p:cNvPr id="73" name="TextBox 72"/>
          <p:cNvSpPr txBox="1"/>
          <p:nvPr/>
        </p:nvSpPr>
        <p:spPr>
          <a:xfrm>
            <a:off x="1584000" y="4824000"/>
            <a:ext cx="1980000" cy="684000"/>
          </a:xfrm>
          <a:prstGeom prst="rect">
            <a:avLst/>
          </a:prstGeom>
          <a:noFill/>
        </p:spPr>
        <p:txBody>
          <a:bodyPr wrap="square" lIns="36000" tIns="18000" rIns="36000" bIns="18000">
            <a:spAutoFit/>
          </a:bodyPr>
          <a:lstStyle/>
          <a:p>
            <a:r>
              <a:rPr sz="1200">
                <a:solidFill>
                  <a:srgbClr val="1C2233"/>
                </a:solidFill>
                <a:latin typeface="メイリオ"/>
                <a:ea typeface="メイリオ"/>
              </a:rPr>
              <a:t>痩せたい・体を変えたい</a:t>
            </a:r>
          </a:p>
          <a:p>
            <a:r>
              <a:rPr sz="1200">
                <a:solidFill>
                  <a:srgbClr val="1C2233"/>
                </a:solidFill>
                <a:latin typeface="メイリオ"/>
                <a:ea typeface="メイリオ"/>
              </a:rPr>
              <a:t>まだ漠然。相場を知りたい</a:t>
            </a:r>
          </a:p>
        </p:txBody>
      </p:sp>
      <p:sp>
        <p:nvSpPr>
          <p:cNvPr id="74" name="TextBox 73"/>
          <p:cNvSpPr txBox="1"/>
          <p:nvPr/>
        </p:nvSpPr>
        <p:spPr>
          <a:xfrm>
            <a:off x="3654000" y="4824000"/>
            <a:ext cx="1980000" cy="684000"/>
          </a:xfrm>
          <a:prstGeom prst="rect">
            <a:avLst/>
          </a:prstGeom>
          <a:noFill/>
        </p:spPr>
        <p:txBody>
          <a:bodyPr wrap="square" lIns="36000" tIns="18000" rIns="36000" bIns="18000">
            <a:spAutoFit/>
          </a:bodyPr>
          <a:lstStyle/>
          <a:p>
            <a:r>
              <a:rPr sz="1200">
                <a:solidFill>
                  <a:srgbClr val="1C2233"/>
                </a:solidFill>
                <a:latin typeface="メイリオ"/>
                <a:ea typeface="メイリオ"/>
              </a:rPr>
              <a:t>比較して失敗したくない</a:t>
            </a:r>
          </a:p>
          <a:p>
            <a:r>
              <a:rPr sz="1200">
                <a:solidFill>
                  <a:srgbClr val="1C2233"/>
                </a:solidFill>
                <a:latin typeface="メイリオ"/>
                <a:ea typeface="メイリオ"/>
              </a:rPr>
              <a:t>フォーム入力・電話は重い</a:t>
            </a:r>
          </a:p>
        </p:txBody>
      </p:sp>
      <p:sp>
        <p:nvSpPr>
          <p:cNvPr id="75" name="TextBox 74"/>
          <p:cNvSpPr txBox="1"/>
          <p:nvPr/>
        </p:nvSpPr>
        <p:spPr>
          <a:xfrm>
            <a:off x="5724000" y="4824000"/>
            <a:ext cx="1980000" cy="684000"/>
          </a:xfrm>
          <a:prstGeom prst="rect">
            <a:avLst/>
          </a:prstGeom>
          <a:noFill/>
        </p:spPr>
        <p:txBody>
          <a:bodyPr wrap="square" lIns="36000" tIns="18000" rIns="36000" bIns="18000">
            <a:spAutoFit/>
          </a:bodyPr>
          <a:lstStyle/>
          <a:p>
            <a:r>
              <a:rPr sz="1200">
                <a:solidFill>
                  <a:srgbClr val="1C2233"/>
                </a:solidFill>
                <a:latin typeface="メイリオ"/>
                <a:ea typeface="メイリオ"/>
              </a:rPr>
              <a:t>勧誘されないか不安</a:t>
            </a:r>
          </a:p>
          <a:p>
            <a:r>
              <a:rPr sz="1200">
                <a:solidFill>
                  <a:srgbClr val="1C2233"/>
                </a:solidFill>
                <a:latin typeface="メイリオ"/>
                <a:ea typeface="メイリオ"/>
              </a:rPr>
              <a:t>当日の流れを知りたい</a:t>
            </a:r>
          </a:p>
        </p:txBody>
      </p:sp>
      <p:sp>
        <p:nvSpPr>
          <p:cNvPr id="76" name="TextBox 75"/>
          <p:cNvSpPr txBox="1"/>
          <p:nvPr/>
        </p:nvSpPr>
        <p:spPr>
          <a:xfrm>
            <a:off x="7776000" y="4824000"/>
            <a:ext cx="1980000" cy="684000"/>
          </a:xfrm>
          <a:prstGeom prst="rect">
            <a:avLst/>
          </a:prstGeom>
          <a:noFill/>
        </p:spPr>
        <p:txBody>
          <a:bodyPr wrap="square" lIns="36000" tIns="18000" rIns="36000" bIns="18000">
            <a:spAutoFit/>
          </a:bodyPr>
          <a:lstStyle/>
          <a:p>
            <a:r>
              <a:rPr sz="1200">
                <a:solidFill>
                  <a:srgbClr val="1C2233"/>
                </a:solidFill>
                <a:latin typeface="メイリオ"/>
                <a:ea typeface="メイリオ"/>
              </a:rPr>
              <a:t>成果を実感したい</a:t>
            </a:r>
          </a:p>
          <a:p>
            <a:r>
              <a:rPr sz="1200">
                <a:solidFill>
                  <a:srgbClr val="1C2233"/>
                </a:solidFill>
                <a:latin typeface="メイリオ"/>
                <a:ea typeface="メイリオ"/>
              </a:rPr>
              <a:t>飽きと中だるみで離脱</a:t>
            </a:r>
          </a:p>
        </p:txBody>
      </p:sp>
      <p:sp>
        <p:nvSpPr>
          <p:cNvPr id="77" name="TextBox 76"/>
          <p:cNvSpPr txBox="1"/>
          <p:nvPr/>
        </p:nvSpPr>
        <p:spPr>
          <a:xfrm>
            <a:off x="1584000" y="5580000"/>
            <a:ext cx="1980000" cy="684000"/>
          </a:xfrm>
          <a:prstGeom prst="rect">
            <a:avLst/>
          </a:prstGeom>
          <a:noFill/>
        </p:spPr>
        <p:txBody>
          <a:bodyPr wrap="square" lIns="36000" tIns="18000" rIns="36000" bIns="18000">
            <a:spAutoFit/>
          </a:bodyPr>
          <a:lstStyle/>
          <a:p>
            <a:r>
              <a:rPr sz="1200">
                <a:solidFill>
                  <a:srgbClr val="BF4E0E"/>
                </a:solidFill>
                <a:latin typeface="メイリオ"/>
                <a:ea typeface="メイリオ"/>
              </a:rPr>
              <a:t>続かなかった過去がある</a:t>
            </a:r>
          </a:p>
          <a:p>
            <a:r>
              <a:rPr sz="1200">
                <a:solidFill>
                  <a:srgbClr val="BF4E0E"/>
                </a:solidFill>
                <a:latin typeface="メイリオ"/>
                <a:ea typeface="メイリオ"/>
              </a:rPr>
              <a:t>＝失敗の再体験が怖い</a:t>
            </a:r>
          </a:p>
        </p:txBody>
      </p:sp>
      <p:sp>
        <p:nvSpPr>
          <p:cNvPr id="78" name="TextBox 77"/>
          <p:cNvSpPr txBox="1"/>
          <p:nvPr/>
        </p:nvSpPr>
        <p:spPr>
          <a:xfrm>
            <a:off x="3654000" y="5580000"/>
            <a:ext cx="1980000" cy="684000"/>
          </a:xfrm>
          <a:prstGeom prst="rect">
            <a:avLst/>
          </a:prstGeom>
          <a:noFill/>
        </p:spPr>
        <p:txBody>
          <a:bodyPr wrap="square" lIns="36000" tIns="18000" rIns="36000" bIns="18000">
            <a:spAutoFit/>
          </a:bodyPr>
          <a:lstStyle/>
          <a:p>
            <a:r>
              <a:rPr sz="1200">
                <a:solidFill>
                  <a:srgbClr val="BF4E0E"/>
                </a:solidFill>
                <a:latin typeface="メイリオ"/>
                <a:ea typeface="メイリオ"/>
              </a:rPr>
              <a:t>匿名で聞けるなら動ける</a:t>
            </a:r>
          </a:p>
          <a:p>
            <a:r>
              <a:rPr sz="1200">
                <a:solidFill>
                  <a:srgbClr val="BF4E0E"/>
                </a:solidFill>
                <a:latin typeface="メイリオ"/>
                <a:ea typeface="メイリオ"/>
              </a:rPr>
              <a:t>→LINE診断が受け皿</a:t>
            </a:r>
          </a:p>
        </p:txBody>
      </p:sp>
      <p:sp>
        <p:nvSpPr>
          <p:cNvPr id="79" name="TextBox 78"/>
          <p:cNvSpPr txBox="1"/>
          <p:nvPr/>
        </p:nvSpPr>
        <p:spPr>
          <a:xfrm>
            <a:off x="5724000" y="5580000"/>
            <a:ext cx="1980000" cy="684000"/>
          </a:xfrm>
          <a:prstGeom prst="rect">
            <a:avLst/>
          </a:prstGeom>
          <a:noFill/>
        </p:spPr>
        <p:txBody>
          <a:bodyPr wrap="square" lIns="36000" tIns="18000" rIns="36000" bIns="18000">
            <a:spAutoFit/>
          </a:bodyPr>
          <a:lstStyle/>
          <a:p>
            <a:r>
              <a:rPr sz="1200">
                <a:solidFill>
                  <a:srgbClr val="BF4E0E"/>
                </a:solidFill>
                <a:latin typeface="メイリオ"/>
                <a:ea typeface="メイリオ"/>
              </a:rPr>
              <a:t>「迫りません」の一言で</a:t>
            </a:r>
          </a:p>
          <a:p>
            <a:r>
              <a:rPr sz="1200">
                <a:solidFill>
                  <a:srgbClr val="BF4E0E"/>
                </a:solidFill>
                <a:latin typeface="メイリオ"/>
                <a:ea typeface="メイリオ"/>
              </a:rPr>
              <a:t>来店ハードルが下がる</a:t>
            </a:r>
          </a:p>
        </p:txBody>
      </p:sp>
      <p:sp>
        <p:nvSpPr>
          <p:cNvPr id="80" name="TextBox 79"/>
          <p:cNvSpPr txBox="1"/>
          <p:nvPr/>
        </p:nvSpPr>
        <p:spPr>
          <a:xfrm>
            <a:off x="7776000" y="5580000"/>
            <a:ext cx="1980000" cy="684000"/>
          </a:xfrm>
          <a:prstGeom prst="rect">
            <a:avLst/>
          </a:prstGeom>
          <a:noFill/>
        </p:spPr>
        <p:txBody>
          <a:bodyPr wrap="square" lIns="36000" tIns="18000" rIns="36000" bIns="18000">
            <a:spAutoFit/>
          </a:bodyPr>
          <a:lstStyle/>
          <a:p>
            <a:r>
              <a:rPr sz="1200">
                <a:solidFill>
                  <a:srgbClr val="BF4E0E"/>
                </a:solidFill>
                <a:latin typeface="メイリオ"/>
                <a:ea typeface="メイリオ"/>
              </a:rPr>
              <a:t>「見てもらえている感」が</a:t>
            </a:r>
          </a:p>
          <a:p>
            <a:r>
              <a:rPr sz="1200">
                <a:solidFill>
                  <a:srgbClr val="BF4E0E"/>
                </a:solidFill>
                <a:latin typeface="メイリオ"/>
                <a:ea typeface="メイリオ"/>
              </a:rPr>
              <a:t>継続と紹介の鍵になる</a:t>
            </a:r>
          </a:p>
        </p:txBody>
      </p:sp>
      <p:sp>
        <p:nvSpPr>
          <p:cNvPr id="2" name="テキスト ボックス 1">
            <a:extLst>
              <a:ext uri="{FF2B5EF4-FFF2-40B4-BE49-F238E27FC236}">
                <a16:creationId xmlns:a16="http://schemas.microsoft.com/office/drawing/2014/main" id="{451FFC26-7816-250A-591E-C953B9FABA67}"/>
              </a:ext>
            </a:extLst>
          </p:cNvPr>
          <p:cNvSpPr txBox="1"/>
          <p:nvPr/>
        </p:nvSpPr>
        <p:spPr>
          <a:xfrm>
            <a:off x="2363638" y="1147313"/>
            <a:ext cx="184731" cy="369332"/>
          </a:xfrm>
          <a:prstGeom prst="rect">
            <a:avLst/>
          </a:prstGeom>
          <a:noFill/>
        </p:spPr>
        <p:txBody>
          <a:bodyPr wrap="none" rtlCol="0">
            <a:spAutoFit/>
          </a:bodyPr>
          <a:lstStyle/>
          <a:p>
            <a:endParaRPr kumimoji="1" lang="ja-JP" altLang="en-US" dirty="0">
              <a:latin typeface="+mj-lt"/>
            </a:endParaRPr>
          </a:p>
        </p:txBody>
      </p:sp>
    </p:spTree>
    <p:extLst>
      <p:ext uri="{BB962C8B-B14F-4D97-AF65-F5344CB8AC3E}">
        <p14:creationId xmlns:p14="http://schemas.microsoft.com/office/powerpoint/2010/main" val="4069324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60ED90-F5DA-CFD4-A3DA-114442B93132}"/>
            </a:ext>
          </a:extLst>
        </p:cNvPr>
        <p:cNvGrpSpPr/>
        <p:nvPr/>
      </p:nvGrpSpPr>
      <p:grpSpPr>
        <a:xfrm>
          <a:off x="0" y="0"/>
          <a:ext cx="0" cy="0"/>
          <a:chOff x="0" y="0"/>
          <a:chExt cx="0" cy="0"/>
        </a:xfrm>
      </p:grpSpPr>
      <p:sp>
        <p:nvSpPr>
          <p:cNvPr id="518" name="Rectangle 517"/>
          <p:cNvSpPr/>
          <p:nvPr/>
        </p:nvSpPr>
        <p:spPr>
          <a:xfrm>
            <a:off x="1359527" y="726524"/>
            <a:ext cx="7152121" cy="4172072"/>
          </a:xfrm>
          <a:prstGeom prst="rect">
            <a:avLst/>
          </a:prstGeom>
          <a:solidFill>
            <a:srgbClr val="EFF1F7"/>
          </a:solidFill>
          <a:ln w="12700">
            <a:solidFill>
              <a:srgbClr val="C6CAD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 name="正方形/長方形 2">
            <a:extLst>
              <a:ext uri="{FF2B5EF4-FFF2-40B4-BE49-F238E27FC236}">
                <a16:creationId xmlns:a16="http://schemas.microsoft.com/office/drawing/2014/main" id="{71E13C0C-CCF6-A828-35F1-BF11CB1625B0}"/>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1EFDD2C6-1E0A-0108-4B70-6A79C1119616}"/>
              </a:ext>
            </a:extLst>
          </p:cNvPr>
          <p:cNvSpPr txBox="1"/>
          <p:nvPr/>
        </p:nvSpPr>
        <p:spPr>
          <a:xfrm>
            <a:off x="3096000" y="223200"/>
            <a:ext cx="2376000" cy="180000"/>
          </a:xfrm>
          <a:prstGeom prst="rect">
            <a:avLst/>
          </a:prstGeom>
          <a:noFill/>
        </p:spPr>
        <p:txBody>
          <a:bodyPr wrap="none">
            <a:spAutoFit/>
          </a:bodyPr>
          <a:lstStyle/>
          <a:p>
            <a:r>
              <a:rPr lang="en-US" altLang="ja-JP" sz="800" dirty="0">
                <a:solidFill>
                  <a:srgbClr val="646C82"/>
                </a:solidFill>
                <a:latin typeface="メイリオ"/>
                <a:ea typeface="メイリオ"/>
                <a:cs typeface="Meiryo"/>
                <a:sym typeface="Meiryo"/>
              </a:rPr>
              <a:t>※ LINEヤフー media Journey（2025-2026）</a:t>
            </a:r>
            <a:endParaRPr lang="ja-JP" altLang="en-US" sz="1050" dirty="0">
              <a:solidFill>
                <a:srgbClr val="FF0000"/>
              </a:solidFill>
            </a:endParaRPr>
          </a:p>
        </p:txBody>
      </p:sp>
      <p:cxnSp>
        <p:nvCxnSpPr>
          <p:cNvPr id="329" name="直線矢印コネクタ 328">
            <a:extLst>
              <a:ext uri="{FF2B5EF4-FFF2-40B4-BE49-F238E27FC236}">
                <a16:creationId xmlns:a16="http://schemas.microsoft.com/office/drawing/2014/main" id="{7A5BF96E-7A78-9225-6D96-1CD48192D639}"/>
              </a:ext>
            </a:extLst>
          </p:cNvPr>
          <p:cNvCxnSpPr>
            <a:cxnSpLocks/>
          </p:cNvCxnSpPr>
          <p:nvPr/>
        </p:nvCxnSpPr>
        <p:spPr>
          <a:xfrm flipV="1">
            <a:off x="807709" y="603912"/>
            <a:ext cx="0" cy="4562932"/>
          </a:xfrm>
          <a:prstGeom prst="straightConnector1">
            <a:avLst/>
          </a:prstGeom>
          <a:ln w="15875">
            <a:solidFill>
              <a:schemeClr val="tx1">
                <a:lumMod val="65000"/>
                <a:lumOff val="35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32" name="テキスト ボックス 331">
            <a:extLst>
              <a:ext uri="{FF2B5EF4-FFF2-40B4-BE49-F238E27FC236}">
                <a16:creationId xmlns:a16="http://schemas.microsoft.com/office/drawing/2014/main" id="{DF867EDF-94ED-0916-2B45-6EC2F1BD7CDF}"/>
              </a:ext>
            </a:extLst>
          </p:cNvPr>
          <p:cNvSpPr txBox="1"/>
          <p:nvPr/>
        </p:nvSpPr>
        <p:spPr>
          <a:xfrm>
            <a:off x="736682" y="741136"/>
            <a:ext cx="1079863"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rPr>
              <a:t>検索</a:t>
            </a:r>
            <a:r>
              <a:rPr lang="en-US" altLang="ja-JP" sz="1050" b="1" dirty="0">
                <a:latin typeface="メイリオ" panose="020B0604030504040204" pitchFamily="50" charset="-128"/>
                <a:ea typeface="メイリオ" panose="020B0604030504040204" pitchFamily="50" charset="-128"/>
              </a:rPr>
              <a:t>Vol:</a:t>
            </a:r>
            <a:r>
              <a:rPr lang="ja-JP" altLang="en-US" sz="1050" b="1" dirty="0">
                <a:latin typeface="メイリオ" panose="020B0604030504040204" pitchFamily="50" charset="-128"/>
                <a:ea typeface="メイリオ" panose="020B0604030504040204" pitchFamily="50" charset="-128"/>
              </a:rPr>
              <a:t>多</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242" name="四角形: 角を丸くする 241">
            <a:extLst>
              <a:ext uri="{FF2B5EF4-FFF2-40B4-BE49-F238E27FC236}">
                <a16:creationId xmlns:a16="http://schemas.microsoft.com/office/drawing/2014/main" id="{49068565-113C-F251-3ABE-4B34E06689C0}"/>
              </a:ext>
            </a:extLst>
          </p:cNvPr>
          <p:cNvSpPr/>
          <p:nvPr/>
        </p:nvSpPr>
        <p:spPr>
          <a:xfrm>
            <a:off x="1131486" y="645910"/>
            <a:ext cx="7593409" cy="4296369"/>
          </a:xfrm>
          <a:prstGeom prst="roundRect">
            <a:avLst/>
          </a:prstGeom>
          <a:solidFill>
            <a:schemeClr val="bg1">
              <a:alpha val="6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48" name="直角三角形 247">
            <a:extLst>
              <a:ext uri="{FF2B5EF4-FFF2-40B4-BE49-F238E27FC236}">
                <a16:creationId xmlns:a16="http://schemas.microsoft.com/office/drawing/2014/main" id="{B270A615-0932-7315-BB66-CC3D73CCC9ED}"/>
              </a:ext>
            </a:extLst>
          </p:cNvPr>
          <p:cNvSpPr/>
          <p:nvPr/>
        </p:nvSpPr>
        <p:spPr>
          <a:xfrm rot="16200000" flipV="1">
            <a:off x="5690701" y="413699"/>
            <a:ext cx="368444" cy="1531148"/>
          </a:xfrm>
          <a:prstGeom prst="rtTriangle">
            <a:avLst/>
          </a:prstGeom>
          <a:solidFill>
            <a:srgbClr val="04FA0A">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FF0000"/>
              </a:solidFill>
            </a:endParaRPr>
          </a:p>
        </p:txBody>
      </p:sp>
      <p:sp>
        <p:nvSpPr>
          <p:cNvPr id="252" name="テキスト ボックス 251">
            <a:extLst>
              <a:ext uri="{FF2B5EF4-FFF2-40B4-BE49-F238E27FC236}">
                <a16:creationId xmlns:a16="http://schemas.microsoft.com/office/drawing/2014/main" id="{C12F260D-7BF2-4DB0-B050-8B6388D75F65}"/>
              </a:ext>
            </a:extLst>
          </p:cNvPr>
          <p:cNvSpPr txBox="1"/>
          <p:nvPr/>
        </p:nvSpPr>
        <p:spPr>
          <a:xfrm>
            <a:off x="5109349" y="1109579"/>
            <a:ext cx="1531148" cy="253916"/>
          </a:xfrm>
          <a:prstGeom prst="rect">
            <a:avLst/>
          </a:prstGeom>
          <a:noFill/>
        </p:spPr>
        <p:txBody>
          <a:bodyPr wrap="square">
            <a:spAutoFit/>
          </a:bodyPr>
          <a:lstStyle/>
          <a:p>
            <a:pPr algn="ctr"/>
            <a:r>
              <a:rPr kumimoji="1" lang="ja-JP" altLang="en-US" sz="1050" dirty="0">
                <a:solidFill>
                  <a:schemeClr val="tx1"/>
                </a:solidFill>
                <a:latin typeface="メイリオ" panose="020B0604030504040204" pitchFamily="50" charset="-128"/>
                <a:ea typeface="メイリオ" panose="020B0604030504040204" pitchFamily="50" charset="-128"/>
              </a:rPr>
              <a:t>← 友だち追加想定 →</a:t>
            </a:r>
          </a:p>
        </p:txBody>
      </p:sp>
      <p:sp>
        <p:nvSpPr>
          <p:cNvPr id="463" name="Rounded Rectangle 47">
            <a:extLst>
              <a:ext uri="{FF2B5EF4-FFF2-40B4-BE49-F238E27FC236}">
                <a16:creationId xmlns:a16="http://schemas.microsoft.com/office/drawing/2014/main" id="{CDE0B279-5917-179F-369E-CB1B519BB9B0}"/>
              </a:ext>
            </a:extLst>
          </p:cNvPr>
          <p:cNvSpPr/>
          <p:nvPr/>
        </p:nvSpPr>
        <p:spPr>
          <a:xfrm>
            <a:off x="807709" y="4993039"/>
            <a:ext cx="1393404" cy="1009085"/>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900" b="0" dirty="0">
                <a:solidFill>
                  <a:srgbClr val="FFFFFF"/>
                </a:solidFill>
                <a:latin typeface="メイリオ"/>
                <a:ea typeface="メイリオ"/>
              </a:rPr>
              <a:t>離脱防止で</a:t>
            </a:r>
            <a:r>
              <a:rPr lang="en-US" altLang="ja-JP" sz="900" b="0" dirty="0">
                <a:solidFill>
                  <a:srgbClr val="FFFFFF"/>
                </a:solidFill>
                <a:latin typeface="メイリオ"/>
                <a:ea typeface="メイリオ"/>
              </a:rPr>
              <a:t>…</a:t>
            </a:r>
            <a:r>
              <a:rPr lang="ja-JP" altLang="en-US" sz="900" b="0" dirty="0">
                <a:solidFill>
                  <a:srgbClr val="FFFFFF"/>
                </a:solidFill>
                <a:latin typeface="メイリオ"/>
                <a:ea typeface="メイリオ"/>
              </a:rPr>
              <a:t>。</a:t>
            </a:r>
            <a:endParaRPr lang="en-US" altLang="ja-JP" sz="900" b="0" dirty="0">
              <a:solidFill>
                <a:srgbClr val="FFFFFF"/>
              </a:solidFill>
              <a:latin typeface="メイリオ"/>
              <a:ea typeface="メイリオ"/>
            </a:endParaRPr>
          </a:p>
          <a:p>
            <a:pPr algn="ctr"/>
            <a:endParaRPr lang="en-US" altLang="ja-JP" sz="900" b="0" dirty="0">
              <a:solidFill>
                <a:srgbClr val="FFFFFF"/>
              </a:solidFill>
              <a:latin typeface="メイリオ"/>
              <a:ea typeface="メイリオ"/>
            </a:endParaRPr>
          </a:p>
          <a:p>
            <a:pPr algn="ctr"/>
            <a:r>
              <a:rPr lang="ja-JP" altLang="en-US" sz="900" dirty="0">
                <a:solidFill>
                  <a:srgbClr val="FFFFFF"/>
                </a:solidFill>
                <a:latin typeface="メイリオ"/>
                <a:ea typeface="メイリオ"/>
              </a:rPr>
              <a:t>会員のビフォーアフター</a:t>
            </a:r>
            <a:endParaRPr lang="en-US" altLang="ja-JP" sz="900" b="0" dirty="0">
              <a:solidFill>
                <a:srgbClr val="FFFFFF"/>
              </a:solidFill>
              <a:latin typeface="メイリオ"/>
              <a:ea typeface="メイリオ"/>
            </a:endParaRPr>
          </a:p>
          <a:p>
            <a:pPr algn="ctr"/>
            <a:r>
              <a:rPr lang="ja-JP" altLang="en-US" sz="900" dirty="0">
                <a:solidFill>
                  <a:srgbClr val="FFFFFF"/>
                </a:solidFill>
                <a:latin typeface="メイリオ"/>
                <a:ea typeface="メイリオ"/>
              </a:rPr>
              <a:t>「会員の声・3ヶ月後の変化」</a:t>
            </a:r>
            <a:endParaRPr lang="en-US" sz="900" b="0" dirty="0">
              <a:solidFill>
                <a:srgbClr val="FFFFFF"/>
              </a:solidFill>
              <a:latin typeface="メイリオ"/>
              <a:ea typeface="メイリオ"/>
            </a:endParaRPr>
          </a:p>
        </p:txBody>
      </p:sp>
      <p:sp>
        <p:nvSpPr>
          <p:cNvPr id="465" name="Rounded Rectangle 49">
            <a:extLst>
              <a:ext uri="{FF2B5EF4-FFF2-40B4-BE49-F238E27FC236}">
                <a16:creationId xmlns:a16="http://schemas.microsoft.com/office/drawing/2014/main" id="{8CA9823E-08BE-7F33-923D-9D9E1D29A6D9}"/>
              </a:ext>
            </a:extLst>
          </p:cNvPr>
          <p:cNvSpPr/>
          <p:nvPr/>
        </p:nvSpPr>
        <p:spPr>
          <a:xfrm>
            <a:off x="2244141" y="4993039"/>
            <a:ext cx="1498245" cy="1009085"/>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1000" dirty="0">
                <a:solidFill>
                  <a:srgbClr val="FFFFFF"/>
                </a:solidFill>
                <a:latin typeface="メイリオ"/>
                <a:ea typeface="メイリオ"/>
              </a:rPr>
              <a:t>この機会に</a:t>
            </a:r>
            <a:endParaRPr lang="en-US" altLang="ja-JP" sz="1000" dirty="0">
              <a:solidFill>
                <a:srgbClr val="FFFFFF"/>
              </a:solidFill>
              <a:latin typeface="メイリオ"/>
              <a:ea typeface="メイリオ"/>
            </a:endParaRPr>
          </a:p>
          <a:p>
            <a:pPr algn="ctr"/>
            <a:r>
              <a:rPr lang="en-US" altLang="ja-JP" sz="1000" dirty="0">
                <a:solidFill>
                  <a:srgbClr val="FFFFFF"/>
                </a:solidFill>
                <a:latin typeface="メイリオ"/>
                <a:ea typeface="メイリオ"/>
              </a:rPr>
              <a:t>LINEで体づくりタイプ診断してみませんか？</a:t>
            </a:r>
          </a:p>
        </p:txBody>
      </p:sp>
      <p:sp>
        <p:nvSpPr>
          <p:cNvPr id="475" name="四角形: 角を丸くする 474">
            <a:extLst>
              <a:ext uri="{FF2B5EF4-FFF2-40B4-BE49-F238E27FC236}">
                <a16:creationId xmlns:a16="http://schemas.microsoft.com/office/drawing/2014/main" id="{C92902A9-E02B-9774-A438-1E6EF57F5CA1}"/>
              </a:ext>
            </a:extLst>
          </p:cNvPr>
          <p:cNvSpPr/>
          <p:nvPr/>
        </p:nvSpPr>
        <p:spPr>
          <a:xfrm>
            <a:off x="5109348" y="4668424"/>
            <a:ext cx="1669277" cy="253916"/>
          </a:xfrm>
          <a:prstGeom prst="roundRect">
            <a:avLst/>
          </a:prstGeom>
          <a:solidFill>
            <a:srgbClr val="04FA0A">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479" name="正方形/長方形 478">
            <a:extLst>
              <a:ext uri="{FF2B5EF4-FFF2-40B4-BE49-F238E27FC236}">
                <a16:creationId xmlns:a16="http://schemas.microsoft.com/office/drawing/2014/main" id="{A96DD9D8-4B51-5C6A-03EF-AFB54EDC6819}"/>
              </a:ext>
            </a:extLst>
          </p:cNvPr>
          <p:cNvSpPr/>
          <p:nvPr/>
        </p:nvSpPr>
        <p:spPr>
          <a:xfrm>
            <a:off x="5481354" y="90000"/>
            <a:ext cx="1554446" cy="396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パーソナルジム 女性</a:t>
            </a:r>
          </a:p>
        </p:txBody>
      </p:sp>
      <p:sp>
        <p:nvSpPr>
          <p:cNvPr id="481" name="テキスト ボックス 480">
            <a:extLst>
              <a:ext uri="{FF2B5EF4-FFF2-40B4-BE49-F238E27FC236}">
                <a16:creationId xmlns:a16="http://schemas.microsoft.com/office/drawing/2014/main" id="{4CBDD79F-7F7B-F65B-341E-714CE6BC2FEB}"/>
              </a:ext>
            </a:extLst>
          </p:cNvPr>
          <p:cNvSpPr txBox="1"/>
          <p:nvPr/>
        </p:nvSpPr>
        <p:spPr>
          <a:xfrm>
            <a:off x="6811961" y="179066"/>
            <a:ext cx="1576252" cy="253916"/>
          </a:xfrm>
          <a:prstGeom prst="rect">
            <a:avLst/>
          </a:prstGeom>
          <a:no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rPr>
              <a:t>の検索前後データ</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483" name="四角形: 角を丸くする 482">
            <a:extLst>
              <a:ext uri="{FF2B5EF4-FFF2-40B4-BE49-F238E27FC236}">
                <a16:creationId xmlns:a16="http://schemas.microsoft.com/office/drawing/2014/main" id="{91FD3245-1969-91B2-8CAC-ABF9610E9111}"/>
              </a:ext>
            </a:extLst>
          </p:cNvPr>
          <p:cNvSpPr/>
          <p:nvPr/>
        </p:nvSpPr>
        <p:spPr>
          <a:xfrm>
            <a:off x="712712" y="4722556"/>
            <a:ext cx="3232606" cy="253916"/>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tx1"/>
                </a:solidFill>
                <a:latin typeface="メイリオ" panose="020B0604030504040204" pitchFamily="50" charset="-128"/>
                <a:ea typeface="メイリオ" panose="020B0604030504040204" pitchFamily="50" charset="-128"/>
              </a:rPr>
              <a:t>LINE</a:t>
            </a:r>
            <a:r>
              <a:rPr lang="ja-JP" altLang="en-US" sz="1050" b="1" dirty="0">
                <a:solidFill>
                  <a:schemeClr val="tx1"/>
                </a:solidFill>
                <a:latin typeface="メイリオ" panose="020B0604030504040204" pitchFamily="50" charset="-128"/>
                <a:ea typeface="メイリオ" panose="020B0604030504040204" pitchFamily="50" charset="-128"/>
              </a:rPr>
              <a:t>追加率を上げるコンテンツとして</a:t>
            </a:r>
            <a:r>
              <a:rPr lang="en-US" altLang="ja-JP" sz="1050" b="1" dirty="0">
                <a:solidFill>
                  <a:schemeClr val="tx1"/>
                </a:solidFill>
                <a:latin typeface="メイリオ" panose="020B0604030504040204" pitchFamily="50" charset="-128"/>
                <a:ea typeface="メイリオ" panose="020B0604030504040204" pitchFamily="50" charset="-128"/>
              </a:rPr>
              <a:t>…</a:t>
            </a:r>
            <a:r>
              <a:rPr lang="ja-JP" altLang="en-US" sz="1050" b="1" dirty="0">
                <a:solidFill>
                  <a:schemeClr val="tx1"/>
                </a:solidFill>
                <a:latin typeface="メイリオ" panose="020B0604030504040204" pitchFamily="50" charset="-128"/>
                <a:ea typeface="メイリオ" panose="020B0604030504040204" pitchFamily="50" charset="-128"/>
              </a:rPr>
              <a:t>。</a:t>
            </a:r>
            <a:endParaRPr kumimoji="1" lang="en-US" altLang="ja-JP" sz="1050" b="1" dirty="0">
              <a:solidFill>
                <a:schemeClr val="tx1"/>
              </a:solidFill>
              <a:latin typeface="メイリオ" panose="020B0604030504040204" pitchFamily="50" charset="-128"/>
              <a:ea typeface="メイリオ" panose="020B0604030504040204" pitchFamily="50" charset="-128"/>
            </a:endParaRPr>
          </a:p>
        </p:txBody>
      </p:sp>
      <p:sp>
        <p:nvSpPr>
          <p:cNvPr id="485" name="四角形: 角を丸くする 484">
            <a:extLst>
              <a:ext uri="{FF2B5EF4-FFF2-40B4-BE49-F238E27FC236}">
                <a16:creationId xmlns:a16="http://schemas.microsoft.com/office/drawing/2014/main" id="{7D64F185-E715-0CD9-6299-C64C849BB3C0}"/>
              </a:ext>
            </a:extLst>
          </p:cNvPr>
          <p:cNvSpPr/>
          <p:nvPr/>
        </p:nvSpPr>
        <p:spPr>
          <a:xfrm>
            <a:off x="4082230" y="5078196"/>
            <a:ext cx="6089663" cy="253916"/>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b="1" dirty="0">
                <a:solidFill>
                  <a:schemeClr val="tx1"/>
                </a:solidFill>
                <a:latin typeface="メイリオ" panose="020B0604030504040204" pitchFamily="50" charset="-128"/>
                <a:ea typeface="メイリオ" panose="020B0604030504040204" pitchFamily="50" charset="-128"/>
              </a:rPr>
              <a:t>LINE</a:t>
            </a:r>
            <a:r>
              <a:rPr lang="ja-JP" altLang="en-US" sz="1000" b="1" dirty="0">
                <a:solidFill>
                  <a:schemeClr val="tx1"/>
                </a:solidFill>
                <a:latin typeface="メイリオ" panose="020B0604030504040204" pitchFamily="50" charset="-128"/>
                <a:ea typeface="メイリオ" panose="020B0604030504040204" pitchFamily="50" charset="-128"/>
              </a:rPr>
              <a:t>でのリード有効化率を上げるコンテンツとして</a:t>
            </a:r>
            <a:r>
              <a:rPr lang="en-US" altLang="ja-JP" sz="1000" b="1" dirty="0">
                <a:solidFill>
                  <a:schemeClr val="tx1"/>
                </a:solidFill>
                <a:latin typeface="メイリオ" panose="020B0604030504040204" pitchFamily="50" charset="-128"/>
                <a:ea typeface="メイリオ" panose="020B0604030504040204" pitchFamily="50" charset="-128"/>
              </a:rPr>
              <a:t>…</a:t>
            </a:r>
            <a:r>
              <a:rPr lang="ja-JP" altLang="en-US" sz="1000" b="1" dirty="0">
                <a:solidFill>
                  <a:schemeClr val="tx1"/>
                </a:solidFill>
                <a:latin typeface="メイリオ" panose="020B0604030504040204" pitchFamily="50" charset="-128"/>
                <a:ea typeface="メイリオ" panose="020B0604030504040204" pitchFamily="50" charset="-128"/>
              </a:rPr>
              <a:t>。</a:t>
            </a:r>
            <a:endParaRPr kumimoji="1" lang="en-US" altLang="ja-JP" sz="1000" b="1" dirty="0">
              <a:solidFill>
                <a:schemeClr val="tx1"/>
              </a:solidFill>
              <a:latin typeface="メイリオ" panose="020B0604030504040204" pitchFamily="50" charset="-128"/>
              <a:ea typeface="メイリオ" panose="020B0604030504040204" pitchFamily="50" charset="-128"/>
            </a:endParaRPr>
          </a:p>
        </p:txBody>
      </p:sp>
      <p:sp>
        <p:nvSpPr>
          <p:cNvPr id="487" name="Rounded Rectangle 51">
            <a:extLst>
              <a:ext uri="{FF2B5EF4-FFF2-40B4-BE49-F238E27FC236}">
                <a16:creationId xmlns:a16="http://schemas.microsoft.com/office/drawing/2014/main" id="{2B62F190-D7DD-DB58-1916-C8BBBAFC5980}"/>
              </a:ext>
            </a:extLst>
          </p:cNvPr>
          <p:cNvSpPr/>
          <p:nvPr/>
        </p:nvSpPr>
        <p:spPr>
          <a:xfrm>
            <a:off x="4404636" y="5381476"/>
            <a:ext cx="1292685" cy="1500000"/>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en-US" sz="1100" b="1" dirty="0">
                <a:solidFill>
                  <a:srgbClr val="FFFFFF"/>
                </a:solidFill>
                <a:latin typeface="メイリオ"/>
                <a:ea typeface="メイリオ"/>
              </a:rPr>
              <a:t>2</a:t>
            </a:r>
            <a:r>
              <a:rPr sz="1100" b="1" dirty="0">
                <a:solidFill>
                  <a:srgbClr val="FFFFFF"/>
                </a:solidFill>
                <a:latin typeface="メイリオ"/>
                <a:ea typeface="メイリオ"/>
              </a:rPr>
              <a:t>日目</a:t>
            </a:r>
          </a:p>
          <a:p>
            <a:pPr algn="ctr"/>
            <a:endParaRPr sz="1100" b="1" dirty="0">
              <a:solidFill>
                <a:srgbClr val="FFFFFF"/>
              </a:solidFill>
              <a:latin typeface="メイリオ"/>
              <a:ea typeface="メイリオ"/>
            </a:endParaRPr>
          </a:p>
          <a:p>
            <a:pPr algn="ctr"/>
            <a:r>
              <a:rPr lang="ja-JP" altLang="en-US" sz="900" b="0" dirty="0">
                <a:solidFill>
                  <a:srgbClr val="FFFFFF"/>
                </a:solidFill>
                <a:latin typeface="メイリオ"/>
                <a:ea typeface="メイリオ"/>
              </a:rPr>
              <a:t>ジム選びで失敗しやすい</a:t>
            </a:r>
            <a:endParaRPr lang="en-US" altLang="ja-JP" sz="900" b="0" dirty="0">
              <a:solidFill>
                <a:srgbClr val="FFFFFF"/>
              </a:solidFill>
              <a:latin typeface="メイリオ"/>
              <a:ea typeface="メイリオ"/>
            </a:endParaRPr>
          </a:p>
          <a:p>
            <a:pPr algn="ctr"/>
            <a:r>
              <a:rPr lang="ja-JP" altLang="en-US" sz="900" b="0" dirty="0">
                <a:solidFill>
                  <a:srgbClr val="FFFFFF"/>
                </a:solidFill>
                <a:latin typeface="メイリオ"/>
                <a:ea typeface="メイリオ"/>
              </a:rPr>
              <a:t>ポイント（啓蒙）</a:t>
            </a:r>
            <a:endParaRPr sz="900" b="0" dirty="0">
              <a:solidFill>
                <a:srgbClr val="FFFFFF"/>
              </a:solidFill>
              <a:latin typeface="メイリオ"/>
              <a:ea typeface="メイリオ"/>
            </a:endParaRPr>
          </a:p>
        </p:txBody>
      </p:sp>
      <p:cxnSp>
        <p:nvCxnSpPr>
          <p:cNvPr id="489" name="直線矢印コネクタ 488">
            <a:extLst>
              <a:ext uri="{FF2B5EF4-FFF2-40B4-BE49-F238E27FC236}">
                <a16:creationId xmlns:a16="http://schemas.microsoft.com/office/drawing/2014/main" id="{F662A18B-B2AE-C98F-AA3C-58176BEA664E}"/>
              </a:ext>
            </a:extLst>
          </p:cNvPr>
          <p:cNvCxnSpPr>
            <a:cxnSpLocks/>
            <a:endCxn id="485" idx="1"/>
          </p:cNvCxnSpPr>
          <p:nvPr/>
        </p:nvCxnSpPr>
        <p:spPr>
          <a:xfrm flipH="1">
            <a:off x="4082230" y="3914973"/>
            <a:ext cx="1027117" cy="12901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0" name="直線矢印コネクタ 489">
            <a:extLst>
              <a:ext uri="{FF2B5EF4-FFF2-40B4-BE49-F238E27FC236}">
                <a16:creationId xmlns:a16="http://schemas.microsoft.com/office/drawing/2014/main" id="{68132511-B505-B216-8D0D-13D34BB24CAB}"/>
              </a:ext>
            </a:extLst>
          </p:cNvPr>
          <p:cNvCxnSpPr>
            <a:cxnSpLocks/>
            <a:stCxn id="242" idx="3"/>
            <a:endCxn id="485" idx="3"/>
          </p:cNvCxnSpPr>
          <p:nvPr/>
        </p:nvCxnSpPr>
        <p:spPr>
          <a:xfrm>
            <a:off x="8724895" y="2794095"/>
            <a:ext cx="1446998" cy="24110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95" name="Rounded Rectangle 53">
            <a:extLst>
              <a:ext uri="{FF2B5EF4-FFF2-40B4-BE49-F238E27FC236}">
                <a16:creationId xmlns:a16="http://schemas.microsoft.com/office/drawing/2014/main" id="{F966B151-4239-FABF-9197-C691249632B7}"/>
              </a:ext>
            </a:extLst>
          </p:cNvPr>
          <p:cNvSpPr/>
          <p:nvPr/>
        </p:nvSpPr>
        <p:spPr>
          <a:xfrm>
            <a:off x="5728567" y="5384876"/>
            <a:ext cx="1292685" cy="1500000"/>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1100" b="1" dirty="0">
                <a:solidFill>
                  <a:srgbClr val="FFFFFF"/>
                </a:solidFill>
                <a:latin typeface="メイリオ"/>
                <a:ea typeface="メイリオ"/>
              </a:rPr>
              <a:t>４</a:t>
            </a:r>
            <a:r>
              <a:rPr sz="1100" b="1" dirty="0" err="1">
                <a:solidFill>
                  <a:srgbClr val="FFFFFF"/>
                </a:solidFill>
                <a:latin typeface="メイリオ"/>
                <a:ea typeface="メイリオ"/>
              </a:rPr>
              <a:t>日目</a:t>
            </a:r>
            <a:endParaRPr sz="1100" b="1" dirty="0">
              <a:solidFill>
                <a:srgbClr val="FFFFFF"/>
              </a:solidFill>
              <a:latin typeface="メイリオ"/>
              <a:ea typeface="メイリオ"/>
            </a:endParaRPr>
          </a:p>
          <a:p>
            <a:pPr algn="ctr"/>
            <a:endParaRPr sz="1100" b="1" dirty="0">
              <a:solidFill>
                <a:srgbClr val="FFFFFF"/>
              </a:solidFill>
              <a:latin typeface="メイリオ"/>
              <a:ea typeface="メイリオ"/>
            </a:endParaRPr>
          </a:p>
          <a:p>
            <a:pPr algn="ctr"/>
            <a:r>
              <a:rPr sz="900" b="0" dirty="0" err="1">
                <a:solidFill>
                  <a:srgbClr val="FFFFFF"/>
                </a:solidFill>
                <a:latin typeface="メイリオ"/>
                <a:ea typeface="メイリオ"/>
              </a:rPr>
              <a:t>体験予約オファー
【CV①】</a:t>
            </a:r>
          </a:p>
        </p:txBody>
      </p:sp>
      <p:sp>
        <p:nvSpPr>
          <p:cNvPr id="497" name="Rounded Rectangle 55">
            <a:extLst>
              <a:ext uri="{FF2B5EF4-FFF2-40B4-BE49-F238E27FC236}">
                <a16:creationId xmlns:a16="http://schemas.microsoft.com/office/drawing/2014/main" id="{E2F99808-6AFE-D850-D2B7-5C6D6D294E79}"/>
              </a:ext>
            </a:extLst>
          </p:cNvPr>
          <p:cNvSpPr/>
          <p:nvPr/>
        </p:nvSpPr>
        <p:spPr>
          <a:xfrm>
            <a:off x="7064281" y="5384876"/>
            <a:ext cx="1292685" cy="1500000"/>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1100" b="1" dirty="0">
                <a:solidFill>
                  <a:srgbClr val="FFFFFF"/>
                </a:solidFill>
                <a:latin typeface="メイリオ"/>
                <a:ea typeface="メイリオ"/>
              </a:rPr>
              <a:t>５</a:t>
            </a:r>
            <a:r>
              <a:rPr sz="1100" b="1" dirty="0" err="1">
                <a:solidFill>
                  <a:srgbClr val="FFFFFF"/>
                </a:solidFill>
                <a:latin typeface="メイリオ"/>
                <a:ea typeface="メイリオ"/>
              </a:rPr>
              <a:t>日目</a:t>
            </a:r>
            <a:endParaRPr sz="1100" b="1" dirty="0">
              <a:solidFill>
                <a:srgbClr val="FFFFFF"/>
              </a:solidFill>
              <a:latin typeface="メイリオ"/>
              <a:ea typeface="メイリオ"/>
            </a:endParaRPr>
          </a:p>
          <a:p>
            <a:pPr algn="ctr"/>
            <a:endParaRPr sz="1100" b="1" dirty="0">
              <a:solidFill>
                <a:srgbClr val="FFFFFF"/>
              </a:solidFill>
              <a:latin typeface="メイリオ"/>
              <a:ea typeface="メイリオ"/>
            </a:endParaRPr>
          </a:p>
          <a:p>
            <a:pPr algn="ctr"/>
            <a:r>
              <a:rPr lang="ja-JP" altLang="en-US" sz="900" b="0" dirty="0">
                <a:solidFill>
                  <a:srgbClr val="FFFFFF"/>
                </a:solidFill>
                <a:latin typeface="メイリオ"/>
                <a:ea typeface="メイリオ"/>
              </a:rPr>
              <a:t>入会金無料キャンペーン中</a:t>
            </a:r>
            <a:endParaRPr lang="en-US" altLang="ja-JP" sz="900" b="0" dirty="0">
              <a:solidFill>
                <a:srgbClr val="FFFFFF"/>
              </a:solidFill>
              <a:latin typeface="メイリオ"/>
              <a:ea typeface="メイリオ"/>
            </a:endParaRPr>
          </a:p>
          <a:p>
            <a:pPr algn="ctr"/>
            <a:r>
              <a:rPr lang="ja-JP" altLang="en-US" sz="900" b="0" dirty="0">
                <a:solidFill>
                  <a:srgbClr val="FFFFFF"/>
                </a:solidFill>
                <a:latin typeface="メイリオ"/>
                <a:ea typeface="メイリオ"/>
              </a:rPr>
              <a:t>体験特典のご案内</a:t>
            </a:r>
            <a:endParaRPr sz="900" b="0" dirty="0">
              <a:solidFill>
                <a:srgbClr val="FFFFFF"/>
              </a:solidFill>
              <a:latin typeface="メイリオ"/>
              <a:ea typeface="メイリオ"/>
            </a:endParaRPr>
          </a:p>
        </p:txBody>
      </p:sp>
      <p:sp>
        <p:nvSpPr>
          <p:cNvPr id="499" name="Rounded Rectangle 57">
            <a:extLst>
              <a:ext uri="{FF2B5EF4-FFF2-40B4-BE49-F238E27FC236}">
                <a16:creationId xmlns:a16="http://schemas.microsoft.com/office/drawing/2014/main" id="{15FBCDBF-B211-773D-E571-14A464C8AF2F}"/>
              </a:ext>
            </a:extLst>
          </p:cNvPr>
          <p:cNvSpPr/>
          <p:nvPr/>
        </p:nvSpPr>
        <p:spPr>
          <a:xfrm>
            <a:off x="8399995" y="5384876"/>
            <a:ext cx="1292685" cy="1500000"/>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en-US" altLang="ja-JP" sz="1100" b="1" dirty="0">
                <a:solidFill>
                  <a:srgbClr val="FFFFFF"/>
                </a:solidFill>
                <a:latin typeface="メイリオ"/>
                <a:ea typeface="メイリオ"/>
              </a:rPr>
              <a:t>8</a:t>
            </a:r>
            <a:r>
              <a:rPr sz="1100" b="1" dirty="0">
                <a:solidFill>
                  <a:srgbClr val="FFFFFF"/>
                </a:solidFill>
                <a:latin typeface="メイリオ"/>
                <a:ea typeface="メイリオ"/>
              </a:rPr>
              <a:t>日目〜</a:t>
            </a:r>
          </a:p>
          <a:p>
            <a:pPr algn="ctr"/>
            <a:endParaRPr sz="1100" b="1" dirty="0">
              <a:solidFill>
                <a:srgbClr val="FFFFFF"/>
              </a:solidFill>
              <a:latin typeface="メイリオ"/>
              <a:ea typeface="メイリオ"/>
            </a:endParaRPr>
          </a:p>
          <a:p>
            <a:pPr algn="ctr"/>
            <a:r>
              <a:rPr lang="ja-JP" altLang="en-US" sz="900" b="0" dirty="0">
                <a:solidFill>
                  <a:srgbClr val="FFFFFF"/>
                </a:solidFill>
                <a:latin typeface="メイリオ"/>
                <a:ea typeface="メイリオ"/>
              </a:rPr>
              <a:t>期間限定の入会特典</a:t>
            </a:r>
            <a:endParaRPr lang="en-US" altLang="ja-JP" sz="900" b="0" dirty="0">
              <a:solidFill>
                <a:srgbClr val="FFFFFF"/>
              </a:solidFill>
              <a:latin typeface="メイリオ"/>
              <a:ea typeface="メイリオ"/>
            </a:endParaRPr>
          </a:p>
          <a:p>
            <a:pPr algn="ctr"/>
            <a:r>
              <a:rPr lang="ja-JP" altLang="en-US" sz="900" b="0" dirty="0">
                <a:solidFill>
                  <a:srgbClr val="FFFFFF"/>
                </a:solidFill>
                <a:latin typeface="メイリオ"/>
                <a:ea typeface="メイリオ"/>
              </a:rPr>
              <a:t>事務手数料0円・特典UP</a:t>
            </a:r>
            <a:endParaRPr sz="900" b="0" dirty="0">
              <a:solidFill>
                <a:srgbClr val="FFFFFF"/>
              </a:solidFill>
              <a:latin typeface="メイリオ"/>
              <a:ea typeface="メイリオ"/>
            </a:endParaRPr>
          </a:p>
        </p:txBody>
      </p:sp>
      <p:sp>
        <p:nvSpPr>
          <p:cNvPr id="501" name="四角形: 角を丸くする 500">
            <a:extLst>
              <a:ext uri="{FF2B5EF4-FFF2-40B4-BE49-F238E27FC236}">
                <a16:creationId xmlns:a16="http://schemas.microsoft.com/office/drawing/2014/main" id="{9BEE51D7-85B7-1EEE-2DA3-A6919001F4A6}"/>
              </a:ext>
            </a:extLst>
          </p:cNvPr>
          <p:cNvSpPr/>
          <p:nvPr/>
        </p:nvSpPr>
        <p:spPr>
          <a:xfrm>
            <a:off x="8517887" y="1084883"/>
            <a:ext cx="1185818" cy="253916"/>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dirty="0">
                <a:solidFill>
                  <a:schemeClr val="tx1"/>
                </a:solidFill>
                <a:latin typeface="メイリオ" panose="020B0604030504040204" pitchFamily="50" charset="-128"/>
                <a:ea typeface="メイリオ" panose="020B0604030504040204" pitchFamily="50" charset="-128"/>
              </a:rPr>
              <a:t>ジム名・エリア名</a:t>
            </a:r>
          </a:p>
        </p:txBody>
      </p:sp>
      <p:sp>
        <p:nvSpPr>
          <p:cNvPr id="503" name="四角形: 角を丸くする 502">
            <a:extLst>
              <a:ext uri="{FF2B5EF4-FFF2-40B4-BE49-F238E27FC236}">
                <a16:creationId xmlns:a16="http://schemas.microsoft.com/office/drawing/2014/main" id="{5D99F84B-FDE7-C4B6-9351-9AE2D2D67DF8}"/>
              </a:ext>
            </a:extLst>
          </p:cNvPr>
          <p:cNvSpPr/>
          <p:nvPr/>
        </p:nvSpPr>
        <p:spPr>
          <a:xfrm>
            <a:off x="8517887" y="1379918"/>
            <a:ext cx="1185818" cy="253916"/>
          </a:xfrm>
          <a:prstGeom prst="roundRect">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他ジム名</a:t>
            </a:r>
          </a:p>
        </p:txBody>
      </p:sp>
      <p:sp>
        <p:nvSpPr>
          <p:cNvPr id="505" name="四角形: 角を丸くする 504">
            <a:extLst>
              <a:ext uri="{FF2B5EF4-FFF2-40B4-BE49-F238E27FC236}">
                <a16:creationId xmlns:a16="http://schemas.microsoft.com/office/drawing/2014/main" id="{034292A4-FADE-70C8-1F70-7A8B6CFFE235}"/>
              </a:ext>
            </a:extLst>
          </p:cNvPr>
          <p:cNvSpPr/>
          <p:nvPr/>
        </p:nvSpPr>
        <p:spPr>
          <a:xfrm>
            <a:off x="8517887" y="1669041"/>
            <a:ext cx="1185818" cy="253916"/>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骨格・カラー等の診断系</a:t>
            </a:r>
          </a:p>
        </p:txBody>
      </p:sp>
      <p:sp>
        <p:nvSpPr>
          <p:cNvPr id="507" name="四角形: 角を丸くする 506">
            <a:extLst>
              <a:ext uri="{FF2B5EF4-FFF2-40B4-BE49-F238E27FC236}">
                <a16:creationId xmlns:a16="http://schemas.microsoft.com/office/drawing/2014/main" id="{3A5BC051-7CD4-A45E-6D3B-981B109B8BD3}"/>
              </a:ext>
            </a:extLst>
          </p:cNvPr>
          <p:cNvSpPr/>
          <p:nvPr/>
        </p:nvSpPr>
        <p:spPr>
          <a:xfrm>
            <a:off x="8517887" y="1964076"/>
            <a:ext cx="1185818" cy="253916"/>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口コミ・相場</a:t>
            </a:r>
          </a:p>
        </p:txBody>
      </p:sp>
      <p:sp>
        <p:nvSpPr>
          <p:cNvPr id="509" name="Rounded Rectangle 47">
            <a:extLst>
              <a:ext uri="{FF2B5EF4-FFF2-40B4-BE49-F238E27FC236}">
                <a16:creationId xmlns:a16="http://schemas.microsoft.com/office/drawing/2014/main" id="{41275B32-0EBC-C4D4-E7C9-7949128091ED}"/>
              </a:ext>
            </a:extLst>
          </p:cNvPr>
          <p:cNvSpPr/>
          <p:nvPr/>
        </p:nvSpPr>
        <p:spPr>
          <a:xfrm>
            <a:off x="802074" y="6022295"/>
            <a:ext cx="1393404" cy="550487"/>
          </a:xfrm>
          <a:prstGeom prst="roundRect">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900" b="0" dirty="0">
                <a:solidFill>
                  <a:schemeClr val="tx1"/>
                </a:solidFill>
                <a:latin typeface="メイリオ" panose="020B0604030504040204" pitchFamily="50" charset="-128"/>
                <a:ea typeface="メイリオ" panose="020B0604030504040204" pitchFamily="50" charset="-128"/>
              </a:rPr>
              <a:t>実例を見て</a:t>
            </a:r>
            <a:endParaRPr lang="en-US" altLang="ja-JP" sz="900" b="0" dirty="0">
              <a:solidFill>
                <a:schemeClr val="tx1"/>
              </a:solidFill>
              <a:latin typeface="メイリオ" panose="020B0604030504040204" pitchFamily="50" charset="-128"/>
              <a:ea typeface="メイリオ" panose="020B0604030504040204" pitchFamily="50" charset="-128"/>
            </a:endParaRPr>
          </a:p>
          <a:p>
            <a:pPr algn="ctr"/>
            <a:r>
              <a:rPr lang="ja-JP" altLang="en-US" sz="900" dirty="0">
                <a:solidFill>
                  <a:schemeClr val="tx1"/>
                </a:solidFill>
                <a:latin typeface="メイリオ" panose="020B0604030504040204" pitchFamily="50" charset="-128"/>
                <a:ea typeface="メイリオ" panose="020B0604030504040204" pitchFamily="50" charset="-128"/>
              </a:rPr>
              <a:t>「自分にもできそう」になる</a:t>
            </a:r>
            <a:endParaRPr lang="en-US" altLang="ja-JP" sz="900" dirty="0">
              <a:solidFill>
                <a:schemeClr val="tx1"/>
              </a:solidFill>
              <a:latin typeface="メイリオ" panose="020B0604030504040204" pitchFamily="50" charset="-128"/>
              <a:ea typeface="メイリオ" panose="020B0604030504040204" pitchFamily="50" charset="-128"/>
            </a:endParaRPr>
          </a:p>
        </p:txBody>
      </p:sp>
      <p:sp>
        <p:nvSpPr>
          <p:cNvPr id="511" name="Rounded Rectangle 49">
            <a:extLst>
              <a:ext uri="{FF2B5EF4-FFF2-40B4-BE49-F238E27FC236}">
                <a16:creationId xmlns:a16="http://schemas.microsoft.com/office/drawing/2014/main" id="{51E3021D-7BDD-08BD-115E-DFAB6AC1418F}"/>
              </a:ext>
            </a:extLst>
          </p:cNvPr>
          <p:cNvSpPr/>
          <p:nvPr/>
        </p:nvSpPr>
        <p:spPr>
          <a:xfrm>
            <a:off x="2238506" y="6022295"/>
            <a:ext cx="1503880" cy="550487"/>
          </a:xfrm>
          <a:prstGeom prst="roundRect">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900" b="1" dirty="0">
                <a:solidFill>
                  <a:schemeClr val="tx1"/>
                </a:solidFill>
                <a:latin typeface="メイリオ" panose="020B0604030504040204" pitchFamily="50" charset="-128"/>
                <a:ea typeface="メイリオ" panose="020B0604030504040204" pitchFamily="50" charset="-128"/>
              </a:rPr>
              <a:t>検討初期でも動きやすい</a:t>
            </a:r>
            <a:endParaRPr lang="en-US" altLang="ja-JP" sz="900" b="1" dirty="0">
              <a:solidFill>
                <a:schemeClr val="tx1"/>
              </a:solidFill>
              <a:latin typeface="メイリオ" panose="020B0604030504040204" pitchFamily="50" charset="-128"/>
              <a:ea typeface="メイリオ" panose="020B0604030504040204" pitchFamily="50" charset="-128"/>
            </a:endParaRPr>
          </a:p>
          <a:p>
            <a:pPr algn="ctr"/>
            <a:r>
              <a:rPr lang="ja-JP" altLang="en-US" sz="900" b="1" dirty="0">
                <a:solidFill>
                  <a:schemeClr val="tx1"/>
                </a:solidFill>
                <a:latin typeface="メイリオ" panose="020B0604030504040204" pitchFamily="50" charset="-128"/>
                <a:ea typeface="メイリオ" panose="020B0604030504040204" pitchFamily="50" charset="-128"/>
              </a:rPr>
              <a:t>体験ハードルを下げる</a:t>
            </a:r>
            <a:endParaRPr lang="en-US" altLang="ja-JP" sz="900" b="1" dirty="0">
              <a:solidFill>
                <a:schemeClr val="tx1"/>
              </a:solidFill>
              <a:latin typeface="メイリオ" panose="020B0604030504040204" pitchFamily="50" charset="-128"/>
              <a:ea typeface="メイリオ" panose="020B0604030504040204" pitchFamily="50" charset="-128"/>
            </a:endParaRPr>
          </a:p>
          <a:p>
            <a:pPr algn="ctr"/>
            <a:r>
              <a:rPr lang="ja-JP" altLang="en-US" sz="900" b="1" dirty="0">
                <a:solidFill>
                  <a:schemeClr val="tx1"/>
                </a:solidFill>
                <a:latin typeface="メイリオ" panose="020B0604030504040204" pitchFamily="50" charset="-128"/>
                <a:ea typeface="メイリオ" panose="020B0604030504040204" pitchFamily="50" charset="-128"/>
              </a:rPr>
              <a:t>（</a:t>
            </a:r>
            <a:r>
              <a:rPr lang="en-US" altLang="ja-JP" sz="900" b="1" dirty="0">
                <a:solidFill>
                  <a:schemeClr val="tx1"/>
                </a:solidFill>
                <a:latin typeface="メイリオ" panose="020B0604030504040204" pitchFamily="50" charset="-128"/>
                <a:ea typeface="メイリオ" panose="020B0604030504040204" pitchFamily="50" charset="-128"/>
              </a:rPr>
              <a:t>LINE</a:t>
            </a:r>
            <a:r>
              <a:rPr lang="ja-JP" altLang="en-US" sz="900" b="1" dirty="0">
                <a:solidFill>
                  <a:schemeClr val="tx1"/>
                </a:solidFill>
                <a:latin typeface="メイリオ" panose="020B0604030504040204" pitchFamily="50" charset="-128"/>
                <a:ea typeface="メイリオ" panose="020B0604030504040204" pitchFamily="50" charset="-128"/>
              </a:rPr>
              <a:t>で簡単だと）</a:t>
            </a:r>
          </a:p>
        </p:txBody>
      </p:sp>
      <p:sp>
        <p:nvSpPr>
          <p:cNvPr id="513" name="Rounded Rectangle 55">
            <a:extLst>
              <a:ext uri="{FF2B5EF4-FFF2-40B4-BE49-F238E27FC236}">
                <a16:creationId xmlns:a16="http://schemas.microsoft.com/office/drawing/2014/main" id="{056EA98B-B524-7F96-6DAA-A35FCF5B9CB4}"/>
              </a:ext>
            </a:extLst>
          </p:cNvPr>
          <p:cNvSpPr/>
          <p:nvPr/>
        </p:nvSpPr>
        <p:spPr>
          <a:xfrm>
            <a:off x="7052498" y="6932236"/>
            <a:ext cx="1292685" cy="1500000"/>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1100" b="1" dirty="0">
                <a:solidFill>
                  <a:srgbClr val="FFFFFF"/>
                </a:solidFill>
                <a:latin typeface="メイリオ"/>
                <a:ea typeface="メイリオ"/>
              </a:rPr>
              <a:t>長期</a:t>
            </a:r>
            <a:endParaRPr sz="1100" b="1" dirty="0">
              <a:solidFill>
                <a:srgbClr val="FFFFFF"/>
              </a:solidFill>
              <a:latin typeface="メイリオ"/>
              <a:ea typeface="メイリオ"/>
            </a:endParaRPr>
          </a:p>
          <a:p>
            <a:pPr algn="ctr"/>
            <a:endParaRPr sz="1100" b="1" dirty="0">
              <a:solidFill>
                <a:srgbClr val="FFFFFF"/>
              </a:solidFill>
              <a:latin typeface="メイリオ"/>
              <a:ea typeface="メイリオ"/>
            </a:endParaRPr>
          </a:p>
          <a:p>
            <a:pPr algn="ctr"/>
            <a:r>
              <a:rPr sz="900" b="0" dirty="0" err="1">
                <a:solidFill>
                  <a:srgbClr val="FFFFFF"/>
                </a:solidFill>
                <a:latin typeface="メイリオ"/>
                <a:ea typeface="メイリオ"/>
              </a:rPr>
              <a:t>期間限定
季節の入会CP</a:t>
            </a:r>
            <a:endParaRPr sz="900" b="0" dirty="0">
              <a:solidFill>
                <a:srgbClr val="FFFFFF"/>
              </a:solidFill>
              <a:latin typeface="メイリオ"/>
              <a:ea typeface="メイリオ"/>
            </a:endParaRPr>
          </a:p>
        </p:txBody>
      </p:sp>
      <p:sp>
        <p:nvSpPr>
          <p:cNvPr id="515" name="Rounded Rectangle 57">
            <a:extLst>
              <a:ext uri="{FF2B5EF4-FFF2-40B4-BE49-F238E27FC236}">
                <a16:creationId xmlns:a16="http://schemas.microsoft.com/office/drawing/2014/main" id="{A749B661-FDEC-5A56-E115-E5B54A9BF875}"/>
              </a:ext>
            </a:extLst>
          </p:cNvPr>
          <p:cNvSpPr/>
          <p:nvPr/>
        </p:nvSpPr>
        <p:spPr>
          <a:xfrm>
            <a:off x="8388212" y="6932236"/>
            <a:ext cx="1292685" cy="1500000"/>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1100" b="1" dirty="0">
                <a:solidFill>
                  <a:srgbClr val="FFFFFF"/>
                </a:solidFill>
                <a:latin typeface="メイリオ"/>
                <a:ea typeface="メイリオ"/>
              </a:rPr>
              <a:t>長期</a:t>
            </a:r>
          </a:p>
          <a:p>
            <a:pPr algn="ctr"/>
            <a:endParaRPr sz="1100" b="1" dirty="0">
              <a:solidFill>
                <a:srgbClr val="FFFFFF"/>
              </a:solidFill>
              <a:latin typeface="メイリオ"/>
              <a:ea typeface="メイリオ"/>
            </a:endParaRPr>
          </a:p>
          <a:p>
            <a:pPr algn="ctr"/>
            <a:r>
              <a:rPr sz="900" b="0" dirty="0" err="1">
                <a:solidFill>
                  <a:srgbClr val="FFFFFF"/>
                </a:solidFill>
                <a:latin typeface="メイリオ"/>
                <a:ea typeface="メイリオ"/>
              </a:rPr>
              <a:t>継続・PT・紹介
【CV③】</a:t>
            </a:r>
          </a:p>
        </p:txBody>
      </p:sp>
      <p:sp>
        <p:nvSpPr>
          <p:cNvPr id="517" name="Rounded Rectangle 51">
            <a:extLst>
              <a:ext uri="{FF2B5EF4-FFF2-40B4-BE49-F238E27FC236}">
                <a16:creationId xmlns:a16="http://schemas.microsoft.com/office/drawing/2014/main" id="{58C85FCB-FAB2-BE11-628B-00336C176B7D}"/>
              </a:ext>
            </a:extLst>
          </p:cNvPr>
          <p:cNvSpPr/>
          <p:nvPr/>
        </p:nvSpPr>
        <p:spPr>
          <a:xfrm>
            <a:off x="5109346" y="6572782"/>
            <a:ext cx="1292685" cy="1500000"/>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1100" b="1" dirty="0">
                <a:solidFill>
                  <a:srgbClr val="FFFFFF"/>
                </a:solidFill>
                <a:latin typeface="メイリオ"/>
                <a:ea typeface="メイリオ"/>
              </a:rPr>
              <a:t>３</a:t>
            </a:r>
            <a:r>
              <a:rPr sz="1100" b="1" dirty="0" err="1">
                <a:solidFill>
                  <a:srgbClr val="FFFFFF"/>
                </a:solidFill>
                <a:latin typeface="メイリオ"/>
                <a:ea typeface="メイリオ"/>
              </a:rPr>
              <a:t>日目</a:t>
            </a:r>
            <a:endParaRPr sz="1100" b="1" dirty="0">
              <a:solidFill>
                <a:srgbClr val="FFFFFF"/>
              </a:solidFill>
              <a:latin typeface="メイリオ"/>
              <a:ea typeface="メイリオ"/>
            </a:endParaRPr>
          </a:p>
          <a:p>
            <a:pPr algn="ctr"/>
            <a:endParaRPr sz="1100" b="1" dirty="0">
              <a:solidFill>
                <a:srgbClr val="FFFFFF"/>
              </a:solidFill>
              <a:latin typeface="メイリオ"/>
              <a:ea typeface="メイリオ"/>
            </a:endParaRPr>
          </a:p>
          <a:p>
            <a:pPr algn="ctr"/>
            <a:r>
              <a:rPr lang="ja-JP" altLang="en-US" sz="900" b="0" dirty="0">
                <a:solidFill>
                  <a:srgbClr val="FFFFFF"/>
                </a:solidFill>
                <a:latin typeface="メイリオ"/>
                <a:ea typeface="メイリオ"/>
              </a:rPr>
              <a:t>施設の</a:t>
            </a:r>
            <a:endParaRPr lang="en-US" altLang="ja-JP" sz="900" b="0" dirty="0">
              <a:solidFill>
                <a:srgbClr val="FFFFFF"/>
              </a:solidFill>
              <a:latin typeface="メイリオ"/>
              <a:ea typeface="メイリオ"/>
            </a:endParaRPr>
          </a:p>
          <a:p>
            <a:pPr algn="ctr"/>
            <a:r>
              <a:rPr lang="ja-JP" altLang="en-US" sz="900" dirty="0">
                <a:solidFill>
                  <a:srgbClr val="FFFFFF"/>
                </a:solidFill>
                <a:latin typeface="メイリオ"/>
                <a:ea typeface="メイリオ"/>
              </a:rPr>
              <a:t>こだわり</a:t>
            </a:r>
            <a:endParaRPr lang="en-US" altLang="ja-JP" sz="900" dirty="0">
              <a:solidFill>
                <a:srgbClr val="FFFFFF"/>
              </a:solidFill>
              <a:latin typeface="メイリオ"/>
              <a:ea typeface="メイリオ"/>
            </a:endParaRPr>
          </a:p>
          <a:p>
            <a:pPr algn="ctr"/>
            <a:r>
              <a:rPr lang="ja-JP" altLang="en-US" sz="900" b="0" dirty="0">
                <a:solidFill>
                  <a:srgbClr val="FFFFFF"/>
                </a:solidFill>
                <a:latin typeface="メイリオ"/>
                <a:ea typeface="メイリオ"/>
              </a:rPr>
              <a:t>マシン・シャワー・混雑状況</a:t>
            </a:r>
            <a:endParaRPr sz="900" b="0" dirty="0">
              <a:solidFill>
                <a:srgbClr val="FFFFFF"/>
              </a:solidFill>
              <a:latin typeface="メイリオ"/>
              <a:ea typeface="メイリオ"/>
            </a:endParaRPr>
          </a:p>
        </p:txBody>
      </p:sp>
      <p:sp>
        <p:nvSpPr>
          <p:cNvPr id="4" name="Google Shape;156;p7">
            <a:extLst>
              <a:ext uri="{FF2B5EF4-FFF2-40B4-BE49-F238E27FC236}">
                <a16:creationId xmlns:a16="http://schemas.microsoft.com/office/drawing/2014/main" id="{DEB9E934-197D-1C68-C461-9EA03EB3A2A1}"/>
              </a:ext>
            </a:extLst>
          </p:cNvPr>
          <p:cNvSpPr txBox="1"/>
          <p:nvPr/>
        </p:nvSpPr>
        <p:spPr>
          <a:xfrm>
            <a:off x="548883" y="138118"/>
            <a:ext cx="6681368"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Meiryo"/>
                <a:sym typeface="Meiryo"/>
              </a:rPr>
              <a:t>ステップ配信のブレスト</a:t>
            </a:r>
            <a:endParaRPr sz="1600" b="1" dirty="0">
              <a:solidFill>
                <a:srgbClr val="002060"/>
              </a:solidFill>
              <a:latin typeface="メイリオ"/>
              <a:ea typeface="メイリオ"/>
              <a:cs typeface="Meiryo"/>
              <a:sym typeface="Meiryo"/>
            </a:endParaRPr>
          </a:p>
        </p:txBody>
      </p:sp>
      <p:pic>
        <p:nvPicPr>
          <p:cNvPr id="519" name="Picture 518" descr="journey_women_colored.png"/>
          <p:cNvPicPr>
            <a:picLocks noChangeAspect="1"/>
          </p:cNvPicPr>
          <p:nvPr/>
        </p:nvPicPr>
        <p:blipFill>
          <a:blip r:embed="rId3"/>
          <a:stretch>
            <a:fillRect/>
          </a:stretch>
        </p:blipFill>
        <p:spPr>
          <a:xfrm>
            <a:off x="1621811" y="762524"/>
            <a:ext cx="6627552" cy="3866072"/>
          </a:xfrm>
          <a:prstGeom prst="rect">
            <a:avLst/>
          </a:prstGeom>
        </p:spPr>
      </p:pic>
    </p:spTree>
    <p:extLst>
      <p:ext uri="{BB962C8B-B14F-4D97-AF65-F5344CB8AC3E}">
        <p14:creationId xmlns:p14="http://schemas.microsoft.com/office/powerpoint/2010/main" val="373746361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ステップ配信｜追加から14日で体験予約を取り切る</a:t>
            </a:r>
          </a:p>
        </p:txBody>
      </p:sp>
      <p:sp>
        <p:nvSpPr>
          <p:cNvPr id="3" name="TextBox 2"/>
          <p:cNvSpPr txBox="1"/>
          <p:nvPr/>
        </p:nvSpPr>
        <p:spPr>
          <a:xfrm>
            <a:off x="384048" y="731520"/>
            <a:ext cx="9134856" cy="430887"/>
          </a:xfrm>
          <a:prstGeom prst="rect">
            <a:avLst/>
          </a:prstGeom>
          <a:noFill/>
        </p:spPr>
        <p:txBody>
          <a:bodyPr wrap="square" lIns="0" tIns="0" rIns="0" bIns="0">
            <a:spAutoFit/>
          </a:bodyPr>
          <a:lstStyle/>
          <a:p>
            <a:r>
              <a:rPr sz="1400" b="0" dirty="0">
                <a:solidFill>
                  <a:srgbClr val="646C82"/>
                </a:solidFill>
                <a:latin typeface="メイリオ"/>
                <a:ea typeface="メイリオ"/>
              </a:rPr>
              <a:t>友だち追加から15日でアクティブ率が急落する。ジムの検討期間は数日〜2週間。</a:t>
            </a:r>
            <a:endParaRPr lang="en-US" sz="1400" b="0" dirty="0">
              <a:solidFill>
                <a:srgbClr val="646C82"/>
              </a:solidFill>
              <a:latin typeface="メイリオ"/>
              <a:ea typeface="メイリオ"/>
            </a:endParaRPr>
          </a:p>
          <a:p>
            <a:r>
              <a:rPr sz="1400" b="0" dirty="0">
                <a:solidFill>
                  <a:srgbClr val="646C82"/>
                </a:solidFill>
                <a:latin typeface="メイリオ"/>
                <a:ea typeface="メイリオ"/>
              </a:rPr>
              <a:t>この</a:t>
            </a:r>
            <a:r>
              <a:rPr sz="1400" dirty="0">
                <a:solidFill>
                  <a:srgbClr val="646C82"/>
                </a:solidFill>
                <a:latin typeface="メイリオ"/>
                <a:ea typeface="メイリオ"/>
              </a:rPr>
              <a:t>2つが重なるのが</a:t>
            </a:r>
            <a:r>
              <a:rPr sz="1400" b="1" dirty="0">
                <a:solidFill>
                  <a:srgbClr val="646C82"/>
                </a:solidFill>
                <a:latin typeface="メイリオ"/>
                <a:ea typeface="メイリオ"/>
              </a:rPr>
              <a:t>最初の14日。</a:t>
            </a:r>
          </a:p>
        </p:txBody>
      </p:sp>
      <p:graphicFrame>
        <p:nvGraphicFramePr>
          <p:cNvPr id="4" name="Table 3"/>
          <p:cNvGraphicFramePr>
            <a:graphicFrameLocks noGrp="1"/>
          </p:cNvGraphicFramePr>
          <p:nvPr>
            <p:extLst>
              <p:ext uri="{D42A27DB-BD31-4B8C-83A1-F6EECF244321}">
                <p14:modId xmlns:p14="http://schemas.microsoft.com/office/powerpoint/2010/main" val="3998067327"/>
              </p:ext>
            </p:extLst>
          </p:nvPr>
        </p:nvGraphicFramePr>
        <p:xfrm>
          <a:off x="384048" y="1280160"/>
          <a:ext cx="9134856" cy="3683728"/>
        </p:xfrm>
        <a:graphic>
          <a:graphicData uri="http://schemas.openxmlformats.org/drawingml/2006/table">
            <a:tbl>
              <a:tblPr firstRow="1" bandRow="1">
                <a:tableStyleId>{5C22544A-7EE6-4342-B048-85BDC9FD1C3A}</a:tableStyleId>
              </a:tblPr>
              <a:tblGrid>
                <a:gridCol w="73152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342900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2505456">
                  <a:extLst>
                    <a:ext uri="{9D8B030D-6E8A-4147-A177-3AD203B41FA5}">
                      <a16:colId xmlns:a16="http://schemas.microsoft.com/office/drawing/2014/main" val="20004"/>
                    </a:ext>
                  </a:extLst>
                </a:gridCol>
              </a:tblGrid>
              <a:tr h="460466">
                <a:tc>
                  <a:txBody>
                    <a:bodyPr/>
                    <a:lstStyle/>
                    <a:p>
                      <a:pPr algn="ctr"/>
                      <a:r>
                        <a:rPr sz="1200" b="1">
                          <a:solidFill>
                            <a:srgbClr val="FFFFFF"/>
                          </a:solidFill>
                          <a:latin typeface="メイリオ"/>
                          <a:ea typeface="メイリオ"/>
                        </a:rPr>
                        <a:t>日</a:t>
                      </a:r>
                    </a:p>
                  </a:txBody>
                  <a:tcPr>
                    <a:solidFill>
                      <a:srgbClr val="1F2A5C"/>
                    </a:solidFill>
                  </a:tcPr>
                </a:tc>
                <a:tc>
                  <a:txBody>
                    <a:bodyPr/>
                    <a:lstStyle/>
                    <a:p>
                      <a:pPr algn="ctr"/>
                      <a:r>
                        <a:rPr sz="1200" b="1">
                          <a:solidFill>
                            <a:srgbClr val="FFFFFF"/>
                          </a:solidFill>
                          <a:latin typeface="メイリオ"/>
                          <a:ea typeface="メイリオ"/>
                        </a:rPr>
                        <a:t>目的</a:t>
                      </a:r>
                    </a:p>
                  </a:txBody>
                  <a:tcPr>
                    <a:solidFill>
                      <a:srgbClr val="1F2A5C"/>
                    </a:solidFill>
                  </a:tcPr>
                </a:tc>
                <a:tc>
                  <a:txBody>
                    <a:bodyPr/>
                    <a:lstStyle/>
                    <a:p>
                      <a:pPr algn="ctr"/>
                      <a:r>
                        <a:rPr sz="1200" b="1">
                          <a:solidFill>
                            <a:srgbClr val="FFFFFF"/>
                          </a:solidFill>
                          <a:latin typeface="メイリオ"/>
                          <a:ea typeface="メイリオ"/>
                        </a:rPr>
                        <a:t>配信コンテンツ</a:t>
                      </a:r>
                    </a:p>
                  </a:txBody>
                  <a:tcPr>
                    <a:solidFill>
                      <a:srgbClr val="1F2A5C"/>
                    </a:solidFill>
                  </a:tcPr>
                </a:tc>
                <a:tc>
                  <a:txBody>
                    <a:bodyPr/>
                    <a:lstStyle/>
                    <a:p>
                      <a:pPr algn="ctr"/>
                      <a:r>
                        <a:rPr sz="1200" b="1">
                          <a:solidFill>
                            <a:srgbClr val="FFFFFF"/>
                          </a:solidFill>
                          <a:latin typeface="メイリオ"/>
                          <a:ea typeface="メイリオ"/>
                        </a:rPr>
                        <a:t>CTA</a:t>
                      </a:r>
                    </a:p>
                  </a:txBody>
                  <a:tcPr>
                    <a:solidFill>
                      <a:srgbClr val="1F2A5C"/>
                    </a:solidFill>
                  </a:tcPr>
                </a:tc>
                <a:tc>
                  <a:txBody>
                    <a:bodyPr/>
                    <a:lstStyle/>
                    <a:p>
                      <a:pPr algn="ctr"/>
                      <a:r>
                        <a:rPr sz="1200" b="1">
                          <a:solidFill>
                            <a:srgbClr val="FFFFFF"/>
                          </a:solidFill>
                          <a:latin typeface="メイリオ"/>
                          <a:ea typeface="メイリオ"/>
                        </a:rPr>
                        <a:t>通知プレビュー冒頭</a:t>
                      </a:r>
                    </a:p>
                  </a:txBody>
                  <a:tcPr>
                    <a:solidFill>
                      <a:srgbClr val="1F2A5C"/>
                    </a:solidFill>
                  </a:tcPr>
                </a:tc>
                <a:extLst>
                  <a:ext uri="{0D108BD9-81ED-4DB2-BD59-A6C34878D82A}">
                    <a16:rowId xmlns:a16="http://schemas.microsoft.com/office/drawing/2014/main" val="10000"/>
                  </a:ext>
                </a:extLst>
              </a:tr>
              <a:tr h="460466">
                <a:tc>
                  <a:txBody>
                    <a:bodyPr/>
                    <a:lstStyle/>
                    <a:p>
                      <a:pPr algn="l"/>
                      <a:r>
                        <a:rPr sz="1050" b="0">
                          <a:solidFill>
                            <a:srgbClr val="1C2233"/>
                          </a:solidFill>
                          <a:latin typeface="メイリオ"/>
                          <a:ea typeface="メイリオ"/>
                        </a:rPr>
                        <a:t>Day0</a:t>
                      </a:r>
                    </a:p>
                  </a:txBody>
                  <a:tcPr>
                    <a:solidFill>
                      <a:srgbClr val="FFFFFF"/>
                    </a:solidFill>
                  </a:tcPr>
                </a:tc>
                <a:tc>
                  <a:txBody>
                    <a:bodyPr/>
                    <a:lstStyle/>
                    <a:p>
                      <a:pPr algn="ctr"/>
                      <a:r>
                        <a:rPr sz="1050" b="0">
                          <a:solidFill>
                            <a:srgbClr val="1C2233"/>
                          </a:solidFill>
                          <a:latin typeface="メイリオ"/>
                          <a:ea typeface="メイリオ"/>
                        </a:rPr>
                        <a:t>体験の案内＋属性取得</a:t>
                      </a:r>
                    </a:p>
                  </a:txBody>
                  <a:tcPr>
                    <a:solidFill>
                      <a:srgbClr val="FFFFFF"/>
                    </a:solidFill>
                  </a:tcPr>
                </a:tc>
                <a:tc>
                  <a:txBody>
                    <a:bodyPr/>
                    <a:lstStyle/>
                    <a:p>
                      <a:pPr algn="ctr"/>
                      <a:r>
                        <a:rPr sz="1050" b="0">
                          <a:solidFill>
                            <a:srgbClr val="1C2233"/>
                          </a:solidFill>
                          <a:latin typeface="メイリオ"/>
                          <a:ea typeface="メイリオ"/>
                        </a:rPr>
                        <a:t>あいさつ＋無料体験（期限つき）のバナー＋30秒 体づくりタイプ診断</a:t>
                      </a:r>
                    </a:p>
                  </a:txBody>
                  <a:tcPr>
                    <a:solidFill>
                      <a:srgbClr val="FFFFFF"/>
                    </a:solidFill>
                  </a:tcPr>
                </a:tc>
                <a:tc>
                  <a:txBody>
                    <a:bodyPr/>
                    <a:lstStyle/>
                    <a:p>
                      <a:pPr algn="ctr"/>
                      <a:r>
                        <a:rPr sz="1050" b="0">
                          <a:solidFill>
                            <a:srgbClr val="1C2233"/>
                          </a:solidFill>
                          <a:latin typeface="メイリオ"/>
                          <a:ea typeface="メイリオ"/>
                        </a:rPr>
                        <a:t>体験予約／診断回答</a:t>
                      </a:r>
                    </a:p>
                  </a:txBody>
                  <a:tcPr>
                    <a:solidFill>
                      <a:srgbClr val="FFFFFF"/>
                    </a:solidFill>
                  </a:tcPr>
                </a:tc>
                <a:tc>
                  <a:txBody>
                    <a:bodyPr/>
                    <a:lstStyle/>
                    <a:p>
                      <a:pPr algn="ctr"/>
                      <a:r>
                        <a:rPr sz="1050" b="0">
                          <a:solidFill>
                            <a:srgbClr val="1C2233"/>
                          </a:solidFill>
                          <a:latin typeface="メイリオ"/>
                          <a:ea typeface="メイリオ"/>
                        </a:rPr>
                        <a:t>【〇月〇日まで】無料体験のご案内</a:t>
                      </a:r>
                    </a:p>
                  </a:txBody>
                  <a:tcPr>
                    <a:solidFill>
                      <a:srgbClr val="FFFFFF"/>
                    </a:solidFill>
                  </a:tcPr>
                </a:tc>
                <a:extLst>
                  <a:ext uri="{0D108BD9-81ED-4DB2-BD59-A6C34878D82A}">
                    <a16:rowId xmlns:a16="http://schemas.microsoft.com/office/drawing/2014/main" val="10001"/>
                  </a:ext>
                </a:extLst>
              </a:tr>
              <a:tr h="460466">
                <a:tc>
                  <a:txBody>
                    <a:bodyPr/>
                    <a:lstStyle/>
                    <a:p>
                      <a:pPr algn="l"/>
                      <a:r>
                        <a:rPr sz="1050" b="0">
                          <a:solidFill>
                            <a:srgbClr val="1C2233"/>
                          </a:solidFill>
                          <a:latin typeface="メイリオ"/>
                          <a:ea typeface="メイリオ"/>
                        </a:rPr>
                        <a:t>Day2</a:t>
                      </a:r>
                    </a:p>
                  </a:txBody>
                  <a:tcPr>
                    <a:solidFill>
                      <a:srgbClr val="EFF1F7"/>
                    </a:solidFill>
                  </a:tcPr>
                </a:tc>
                <a:tc>
                  <a:txBody>
                    <a:bodyPr/>
                    <a:lstStyle/>
                    <a:p>
                      <a:pPr algn="ctr"/>
                      <a:r>
                        <a:rPr sz="1050" b="0">
                          <a:solidFill>
                            <a:srgbClr val="1C2233"/>
                          </a:solidFill>
                          <a:latin typeface="メイリオ"/>
                          <a:ea typeface="メイリオ"/>
                        </a:rPr>
                        <a:t>初心者の不安</a:t>
                      </a:r>
                    </a:p>
                  </a:txBody>
                  <a:tcPr>
                    <a:solidFill>
                      <a:srgbClr val="EFF1F7"/>
                    </a:solidFill>
                  </a:tcPr>
                </a:tc>
                <a:tc>
                  <a:txBody>
                    <a:bodyPr/>
                    <a:lstStyle/>
                    <a:p>
                      <a:pPr algn="ctr"/>
                      <a:r>
                        <a:rPr sz="1050" b="0">
                          <a:solidFill>
                            <a:srgbClr val="1C2233"/>
                          </a:solidFill>
                          <a:latin typeface="メイリオ"/>
                          <a:ea typeface="メイリオ"/>
                        </a:rPr>
                        <a:t>タイプ別「最初の1ヶ月はこれだけ」＋マシンの使い方動画</a:t>
                      </a:r>
                    </a:p>
                  </a:txBody>
                  <a:tcPr>
                    <a:solidFill>
                      <a:srgbClr val="EFF1F7"/>
                    </a:solidFill>
                  </a:tcPr>
                </a:tc>
                <a:tc>
                  <a:txBody>
                    <a:bodyPr/>
                    <a:lstStyle/>
                    <a:p>
                      <a:pPr algn="ctr"/>
                      <a:r>
                        <a:rPr sz="1050" b="0">
                          <a:solidFill>
                            <a:srgbClr val="1C2233"/>
                          </a:solidFill>
                          <a:latin typeface="メイリオ"/>
                          <a:ea typeface="メイリオ"/>
                        </a:rPr>
                        <a:t>動画視聴</a:t>
                      </a:r>
                    </a:p>
                  </a:txBody>
                  <a:tcPr>
                    <a:solidFill>
                      <a:srgbClr val="EFF1F7"/>
                    </a:solidFill>
                  </a:tcPr>
                </a:tc>
                <a:tc>
                  <a:txBody>
                    <a:bodyPr/>
                    <a:lstStyle/>
                    <a:p>
                      <a:pPr algn="ctr"/>
                      <a:r>
                        <a:rPr sz="1050" b="0">
                          <a:solidFill>
                            <a:srgbClr val="1C2233"/>
                          </a:solidFill>
                          <a:latin typeface="メイリオ"/>
                          <a:ea typeface="メイリオ"/>
                        </a:rPr>
                        <a:t>【初めての方へ】まずはマシン3種類</a:t>
                      </a:r>
                    </a:p>
                  </a:txBody>
                  <a:tcPr>
                    <a:solidFill>
                      <a:srgbClr val="EFF1F7"/>
                    </a:solidFill>
                  </a:tcPr>
                </a:tc>
                <a:extLst>
                  <a:ext uri="{0D108BD9-81ED-4DB2-BD59-A6C34878D82A}">
                    <a16:rowId xmlns:a16="http://schemas.microsoft.com/office/drawing/2014/main" val="10002"/>
                  </a:ext>
                </a:extLst>
              </a:tr>
              <a:tr h="460466">
                <a:tc>
                  <a:txBody>
                    <a:bodyPr/>
                    <a:lstStyle/>
                    <a:p>
                      <a:pPr algn="l"/>
                      <a:r>
                        <a:rPr sz="1050" b="0">
                          <a:solidFill>
                            <a:srgbClr val="1C2233"/>
                          </a:solidFill>
                          <a:latin typeface="メイリオ"/>
                          <a:ea typeface="メイリオ"/>
                        </a:rPr>
                        <a:t>Day4</a:t>
                      </a:r>
                    </a:p>
                  </a:txBody>
                  <a:tcPr>
                    <a:solidFill>
                      <a:srgbClr val="FFFFFF"/>
                    </a:solidFill>
                  </a:tcPr>
                </a:tc>
                <a:tc>
                  <a:txBody>
                    <a:bodyPr/>
                    <a:lstStyle/>
                    <a:p>
                      <a:pPr algn="ctr"/>
                      <a:r>
                        <a:rPr sz="1050" b="0">
                          <a:solidFill>
                            <a:srgbClr val="1C2233"/>
                          </a:solidFill>
                          <a:latin typeface="メイリオ"/>
                          <a:ea typeface="メイリオ"/>
                        </a:rPr>
                        <a:t>費用の納得</a:t>
                      </a:r>
                    </a:p>
                  </a:txBody>
                  <a:tcPr>
                    <a:solidFill>
                      <a:srgbClr val="FFFFFF"/>
                    </a:solidFill>
                  </a:tcPr>
                </a:tc>
                <a:tc>
                  <a:txBody>
                    <a:bodyPr/>
                    <a:lstStyle/>
                    <a:p>
                      <a:pPr algn="ctr"/>
                      <a:r>
                        <a:rPr sz="1050" b="0">
                          <a:solidFill>
                            <a:srgbClr val="1C2233"/>
                          </a:solidFill>
                          <a:latin typeface="メイリオ"/>
                          <a:ea typeface="メイリオ"/>
                        </a:rPr>
                        <a:t>1分料金シミュレーター（週2回なら1回いくら？）</a:t>
                      </a:r>
                    </a:p>
                  </a:txBody>
                  <a:tcPr>
                    <a:solidFill>
                      <a:srgbClr val="FFFFFF"/>
                    </a:solidFill>
                  </a:tcPr>
                </a:tc>
                <a:tc>
                  <a:txBody>
                    <a:bodyPr/>
                    <a:lstStyle/>
                    <a:p>
                      <a:pPr algn="ctr"/>
                      <a:r>
                        <a:rPr sz="1050" b="0">
                          <a:solidFill>
                            <a:srgbClr val="1C2233"/>
                          </a:solidFill>
                          <a:latin typeface="メイリオ"/>
                          <a:ea typeface="メイリオ"/>
                        </a:rPr>
                        <a:t>料金診断</a:t>
                      </a:r>
                    </a:p>
                  </a:txBody>
                  <a:tcPr>
                    <a:solidFill>
                      <a:srgbClr val="FFFFFF"/>
                    </a:solidFill>
                  </a:tcPr>
                </a:tc>
                <a:tc>
                  <a:txBody>
                    <a:bodyPr/>
                    <a:lstStyle/>
                    <a:p>
                      <a:pPr algn="ctr"/>
                      <a:r>
                        <a:rPr sz="1050" b="0">
                          <a:solidFill>
                            <a:srgbClr val="1C2233"/>
                          </a:solidFill>
                          <a:latin typeface="メイリオ"/>
                          <a:ea typeface="メイリオ"/>
                        </a:rPr>
                        <a:t>【1回いくら？】週2回なら…</a:t>
                      </a:r>
                    </a:p>
                  </a:txBody>
                  <a:tcPr>
                    <a:solidFill>
                      <a:srgbClr val="FFFFFF"/>
                    </a:solidFill>
                  </a:tcPr>
                </a:tc>
                <a:extLst>
                  <a:ext uri="{0D108BD9-81ED-4DB2-BD59-A6C34878D82A}">
                    <a16:rowId xmlns:a16="http://schemas.microsoft.com/office/drawing/2014/main" val="10003"/>
                  </a:ext>
                </a:extLst>
              </a:tr>
              <a:tr h="460466">
                <a:tc>
                  <a:txBody>
                    <a:bodyPr/>
                    <a:lstStyle/>
                    <a:p>
                      <a:pPr algn="l"/>
                      <a:r>
                        <a:rPr sz="1050" b="0">
                          <a:solidFill>
                            <a:srgbClr val="1C2233"/>
                          </a:solidFill>
                          <a:latin typeface="メイリオ"/>
                          <a:ea typeface="メイリオ"/>
                        </a:rPr>
                        <a:t>Day6</a:t>
                      </a:r>
                    </a:p>
                  </a:txBody>
                  <a:tcPr>
                    <a:solidFill>
                      <a:srgbClr val="EFF1F7"/>
                    </a:solidFill>
                  </a:tcPr>
                </a:tc>
                <a:tc>
                  <a:txBody>
                    <a:bodyPr/>
                    <a:lstStyle/>
                    <a:p>
                      <a:pPr algn="ctr"/>
                      <a:r>
                        <a:rPr sz="1050" b="0">
                          <a:solidFill>
                            <a:srgbClr val="1C2233"/>
                          </a:solidFill>
                          <a:latin typeface="メイリオ"/>
                          <a:ea typeface="メイリオ"/>
                        </a:rPr>
                        <a:t>2回目のオファー</a:t>
                      </a:r>
                    </a:p>
                  </a:txBody>
                  <a:tcPr>
                    <a:solidFill>
                      <a:srgbClr val="EFF1F7"/>
                    </a:solidFill>
                  </a:tcPr>
                </a:tc>
                <a:tc>
                  <a:txBody>
                    <a:bodyPr/>
                    <a:lstStyle/>
                    <a:p>
                      <a:pPr algn="ctr"/>
                      <a:r>
                        <a:rPr sz="1050" b="0">
                          <a:solidFill>
                            <a:srgbClr val="1C2233"/>
                          </a:solidFill>
                          <a:latin typeface="メイリオ"/>
                          <a:ea typeface="メイリオ"/>
                        </a:rPr>
                        <a:t>無料体験のご案内＋「見学だけでもOK・入会を迫りません」</a:t>
                      </a:r>
                    </a:p>
                  </a:txBody>
                  <a:tcPr>
                    <a:solidFill>
                      <a:srgbClr val="EFF1F7"/>
                    </a:solidFill>
                  </a:tcPr>
                </a:tc>
                <a:tc>
                  <a:txBody>
                    <a:bodyPr/>
                    <a:lstStyle/>
                    <a:p>
                      <a:pPr algn="ctr"/>
                      <a:r>
                        <a:rPr sz="1050" b="1">
                          <a:solidFill>
                            <a:srgbClr val="FFFFFF"/>
                          </a:solidFill>
                          <a:latin typeface="メイリオ"/>
                          <a:ea typeface="メイリオ"/>
                        </a:rPr>
                        <a:t>体験予約 CV①</a:t>
                      </a:r>
                    </a:p>
                  </a:txBody>
                  <a:tcPr>
                    <a:solidFill>
                      <a:srgbClr val="BF4E0E"/>
                    </a:solidFill>
                  </a:tcPr>
                </a:tc>
                <a:tc>
                  <a:txBody>
                    <a:bodyPr/>
                    <a:lstStyle/>
                    <a:p>
                      <a:pPr algn="ctr"/>
                      <a:r>
                        <a:rPr sz="1050" b="0">
                          <a:solidFill>
                            <a:srgbClr val="1C2233"/>
                          </a:solidFill>
                          <a:latin typeface="メイリオ"/>
                          <a:ea typeface="メイリオ"/>
                        </a:rPr>
                        <a:t>【見学だけOK】今週の空き枠</a:t>
                      </a:r>
                    </a:p>
                  </a:txBody>
                  <a:tcPr>
                    <a:solidFill>
                      <a:srgbClr val="EFF1F7"/>
                    </a:solidFill>
                  </a:tcPr>
                </a:tc>
                <a:extLst>
                  <a:ext uri="{0D108BD9-81ED-4DB2-BD59-A6C34878D82A}">
                    <a16:rowId xmlns:a16="http://schemas.microsoft.com/office/drawing/2014/main" val="10004"/>
                  </a:ext>
                </a:extLst>
              </a:tr>
              <a:tr h="460466">
                <a:tc>
                  <a:txBody>
                    <a:bodyPr/>
                    <a:lstStyle/>
                    <a:p>
                      <a:pPr algn="l"/>
                      <a:r>
                        <a:rPr sz="1050" b="0">
                          <a:solidFill>
                            <a:srgbClr val="1C2233"/>
                          </a:solidFill>
                          <a:latin typeface="メイリオ"/>
                          <a:ea typeface="メイリオ"/>
                        </a:rPr>
                        <a:t>Day8</a:t>
                      </a:r>
                    </a:p>
                  </a:txBody>
                  <a:tcPr>
                    <a:solidFill>
                      <a:srgbClr val="FFFFFF"/>
                    </a:solidFill>
                  </a:tcPr>
                </a:tc>
                <a:tc>
                  <a:txBody>
                    <a:bodyPr/>
                    <a:lstStyle/>
                    <a:p>
                      <a:pPr algn="ctr"/>
                      <a:r>
                        <a:rPr sz="1050" b="0">
                          <a:solidFill>
                            <a:srgbClr val="1C2233"/>
                          </a:solidFill>
                          <a:latin typeface="メイリオ"/>
                          <a:ea typeface="メイリオ"/>
                        </a:rPr>
                        <a:t>社会的証明</a:t>
                      </a:r>
                    </a:p>
                  </a:txBody>
                  <a:tcPr>
                    <a:solidFill>
                      <a:srgbClr val="FFFFFF"/>
                    </a:solidFill>
                  </a:tcPr>
                </a:tc>
                <a:tc>
                  <a:txBody>
                    <a:bodyPr/>
                    <a:lstStyle/>
                    <a:p>
                      <a:pPr algn="ctr"/>
                      <a:r>
                        <a:rPr sz="1050" b="0">
                          <a:solidFill>
                            <a:srgbClr val="1C2233"/>
                          </a:solidFill>
                          <a:latin typeface="メイリオ"/>
                          <a:ea typeface="メイリオ"/>
                        </a:rPr>
                        <a:t>同年代・同目的の会員の声（動画など）／続いている人の共通点</a:t>
                      </a:r>
                    </a:p>
                  </a:txBody>
                  <a:tcPr>
                    <a:solidFill>
                      <a:srgbClr val="FFFFFF"/>
                    </a:solidFill>
                  </a:tcPr>
                </a:tc>
                <a:tc>
                  <a:txBody>
                    <a:bodyPr/>
                    <a:lstStyle/>
                    <a:p>
                      <a:pPr algn="ctr"/>
                      <a:r>
                        <a:rPr sz="1050" b="0">
                          <a:solidFill>
                            <a:srgbClr val="1C2233"/>
                          </a:solidFill>
                          <a:latin typeface="メイリオ"/>
                          <a:ea typeface="メイリオ"/>
                        </a:rPr>
                        <a:t>事例閲覧</a:t>
                      </a:r>
                    </a:p>
                  </a:txBody>
                  <a:tcPr>
                    <a:solidFill>
                      <a:srgbClr val="FFFFFF"/>
                    </a:solidFill>
                  </a:tcPr>
                </a:tc>
                <a:tc>
                  <a:txBody>
                    <a:bodyPr/>
                    <a:lstStyle/>
                    <a:p>
                      <a:pPr algn="ctr"/>
                      <a:r>
                        <a:rPr sz="1050" b="0">
                          <a:solidFill>
                            <a:srgbClr val="1C2233"/>
                          </a:solidFill>
                          <a:latin typeface="メイリオ"/>
                          <a:ea typeface="メイリオ"/>
                        </a:rPr>
                        <a:t>【40代・初心者】3ヶ月後の変化</a:t>
                      </a:r>
                    </a:p>
                  </a:txBody>
                  <a:tcPr>
                    <a:solidFill>
                      <a:srgbClr val="FFFFFF"/>
                    </a:solidFill>
                  </a:tcPr>
                </a:tc>
                <a:extLst>
                  <a:ext uri="{0D108BD9-81ED-4DB2-BD59-A6C34878D82A}">
                    <a16:rowId xmlns:a16="http://schemas.microsoft.com/office/drawing/2014/main" val="10005"/>
                  </a:ext>
                </a:extLst>
              </a:tr>
              <a:tr h="460466">
                <a:tc>
                  <a:txBody>
                    <a:bodyPr/>
                    <a:lstStyle/>
                    <a:p>
                      <a:pPr algn="l"/>
                      <a:r>
                        <a:rPr sz="1050" b="0">
                          <a:solidFill>
                            <a:srgbClr val="1C2233"/>
                          </a:solidFill>
                          <a:latin typeface="メイリオ"/>
                          <a:ea typeface="メイリオ"/>
                        </a:rPr>
                        <a:t>Day11</a:t>
                      </a:r>
                    </a:p>
                  </a:txBody>
                  <a:tcPr>
                    <a:solidFill>
                      <a:srgbClr val="EFF1F7"/>
                    </a:solidFill>
                  </a:tcPr>
                </a:tc>
                <a:tc>
                  <a:txBody>
                    <a:bodyPr/>
                    <a:lstStyle/>
                    <a:p>
                      <a:pPr algn="ctr"/>
                      <a:r>
                        <a:rPr sz="1050" b="0">
                          <a:solidFill>
                            <a:srgbClr val="1C2233"/>
                          </a:solidFill>
                          <a:latin typeface="メイリオ"/>
                          <a:ea typeface="メイリオ"/>
                        </a:rPr>
                        <a:t>疑問の除去</a:t>
                      </a:r>
                    </a:p>
                  </a:txBody>
                  <a:tcPr>
                    <a:solidFill>
                      <a:srgbClr val="EFF1F7"/>
                    </a:solidFill>
                  </a:tcPr>
                </a:tc>
                <a:tc>
                  <a:txBody>
                    <a:bodyPr/>
                    <a:lstStyle/>
                    <a:p>
                      <a:pPr algn="ctr"/>
                      <a:r>
                        <a:rPr sz="1050" b="0">
                          <a:solidFill>
                            <a:srgbClr val="1C2233"/>
                          </a:solidFill>
                          <a:latin typeface="メイリオ"/>
                          <a:ea typeface="メイリオ"/>
                        </a:rPr>
                        <a:t>不安Q&amp;A（勧誘／解約／シャワー／混雑時間／持ち物）＋チャット相談</a:t>
                      </a:r>
                    </a:p>
                  </a:txBody>
                  <a:tcPr>
                    <a:solidFill>
                      <a:srgbClr val="EFF1F7"/>
                    </a:solidFill>
                  </a:tcPr>
                </a:tc>
                <a:tc>
                  <a:txBody>
                    <a:bodyPr/>
                    <a:lstStyle/>
                    <a:p>
                      <a:pPr algn="ctr"/>
                      <a:r>
                        <a:rPr sz="1050" b="0">
                          <a:solidFill>
                            <a:srgbClr val="1C2233"/>
                          </a:solidFill>
                          <a:latin typeface="メイリオ"/>
                          <a:ea typeface="メイリオ"/>
                        </a:rPr>
                        <a:t>チャット相談</a:t>
                      </a:r>
                    </a:p>
                  </a:txBody>
                  <a:tcPr>
                    <a:solidFill>
                      <a:srgbClr val="EFF1F7"/>
                    </a:solidFill>
                  </a:tcPr>
                </a:tc>
                <a:tc>
                  <a:txBody>
                    <a:bodyPr/>
                    <a:lstStyle/>
                    <a:p>
                      <a:pPr algn="ctr"/>
                      <a:r>
                        <a:rPr sz="1050" b="0">
                          <a:solidFill>
                            <a:srgbClr val="1C2233"/>
                          </a:solidFill>
                          <a:latin typeface="メイリオ"/>
                          <a:ea typeface="メイリオ"/>
                        </a:rPr>
                        <a:t>【解約もOK】よくあるご質問</a:t>
                      </a:r>
                    </a:p>
                  </a:txBody>
                  <a:tcPr>
                    <a:solidFill>
                      <a:srgbClr val="EFF1F7"/>
                    </a:solidFill>
                  </a:tcPr>
                </a:tc>
                <a:extLst>
                  <a:ext uri="{0D108BD9-81ED-4DB2-BD59-A6C34878D82A}">
                    <a16:rowId xmlns:a16="http://schemas.microsoft.com/office/drawing/2014/main" val="10006"/>
                  </a:ext>
                </a:extLst>
              </a:tr>
              <a:tr h="460466">
                <a:tc>
                  <a:txBody>
                    <a:bodyPr/>
                    <a:lstStyle/>
                    <a:p>
                      <a:pPr algn="l"/>
                      <a:r>
                        <a:rPr sz="1050" b="0">
                          <a:solidFill>
                            <a:srgbClr val="1C2233"/>
                          </a:solidFill>
                          <a:latin typeface="メイリオ"/>
                          <a:ea typeface="メイリオ"/>
                        </a:rPr>
                        <a:t>Day14</a:t>
                      </a:r>
                    </a:p>
                  </a:txBody>
                  <a:tcPr>
                    <a:solidFill>
                      <a:srgbClr val="FFFFFF"/>
                    </a:solidFill>
                  </a:tcPr>
                </a:tc>
                <a:tc>
                  <a:txBody>
                    <a:bodyPr/>
                    <a:lstStyle/>
                    <a:p>
                      <a:pPr algn="ctr"/>
                      <a:r>
                        <a:rPr sz="1050" b="0">
                          <a:solidFill>
                            <a:srgbClr val="1C2233"/>
                          </a:solidFill>
                          <a:latin typeface="メイリオ"/>
                          <a:ea typeface="メイリオ"/>
                        </a:rPr>
                        <a:t>最終オファー</a:t>
                      </a:r>
                    </a:p>
                  </a:txBody>
                  <a:tcPr>
                    <a:solidFill>
                      <a:srgbClr val="FFFFFF"/>
                    </a:solidFill>
                  </a:tcPr>
                </a:tc>
                <a:tc>
                  <a:txBody>
                    <a:bodyPr/>
                    <a:lstStyle/>
                    <a:p>
                      <a:pPr algn="ctr"/>
                      <a:r>
                        <a:rPr sz="1050" b="0" dirty="0">
                          <a:solidFill>
                            <a:srgbClr val="1C2233"/>
                          </a:solidFill>
                          <a:latin typeface="メイリオ"/>
                          <a:ea typeface="メイリオ"/>
                        </a:rPr>
                        <a:t>入会金無料・事務手数料0円＋体験枠の残数</a:t>
                      </a:r>
                    </a:p>
                  </a:txBody>
                  <a:tcPr>
                    <a:solidFill>
                      <a:srgbClr val="FFFFFF"/>
                    </a:solidFill>
                  </a:tcPr>
                </a:tc>
                <a:tc>
                  <a:txBody>
                    <a:bodyPr/>
                    <a:lstStyle/>
                    <a:p>
                      <a:pPr algn="ctr"/>
                      <a:r>
                        <a:rPr sz="1050" b="1">
                          <a:solidFill>
                            <a:srgbClr val="FFFFFF"/>
                          </a:solidFill>
                          <a:latin typeface="メイリオ"/>
                          <a:ea typeface="メイリオ"/>
                        </a:rPr>
                        <a:t>体験予約（再）</a:t>
                      </a:r>
                    </a:p>
                  </a:txBody>
                  <a:tcPr>
                    <a:solidFill>
                      <a:srgbClr val="1F2A5C"/>
                    </a:solidFill>
                  </a:tcPr>
                </a:tc>
                <a:tc>
                  <a:txBody>
                    <a:bodyPr/>
                    <a:lstStyle/>
                    <a:p>
                      <a:pPr algn="ctr"/>
                      <a:r>
                        <a:rPr sz="1050" b="0" dirty="0">
                          <a:solidFill>
                            <a:srgbClr val="1C2233"/>
                          </a:solidFill>
                          <a:latin typeface="メイリオ"/>
                          <a:ea typeface="メイリオ"/>
                        </a:rPr>
                        <a:t>【残3枠】今月の体験ご予約</a:t>
                      </a:r>
                    </a:p>
                  </a:txBody>
                  <a:tcPr>
                    <a:solidFill>
                      <a:srgbClr val="FFFFFF"/>
                    </a:solidFill>
                  </a:tcPr>
                </a:tc>
                <a:extLst>
                  <a:ext uri="{0D108BD9-81ED-4DB2-BD59-A6C34878D82A}">
                    <a16:rowId xmlns:a16="http://schemas.microsoft.com/office/drawing/2014/main" val="10007"/>
                  </a:ext>
                </a:extLst>
              </a:tr>
            </a:tbl>
          </a:graphicData>
        </a:graphic>
      </p:graphicFrame>
      <p:sp>
        <p:nvSpPr>
          <p:cNvPr id="5" name="Rounded Rectangle 4"/>
          <p:cNvSpPr/>
          <p:nvPr/>
        </p:nvSpPr>
        <p:spPr>
          <a:xfrm>
            <a:off x="384048" y="5216435"/>
            <a:ext cx="2788920" cy="96012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100" b="1" dirty="0">
                <a:solidFill>
                  <a:srgbClr val="1C2233"/>
                </a:solidFill>
                <a:latin typeface="メイリオ"/>
                <a:ea typeface="メイリオ"/>
              </a:rPr>
              <a:t>① CV地点は1つ、オファーは3回</a:t>
            </a:r>
          </a:p>
          <a:p>
            <a:pPr algn="l">
              <a:spcBef>
                <a:spcPts val="200"/>
              </a:spcBef>
            </a:pPr>
            <a:r>
              <a:rPr sz="1100" b="0" dirty="0" err="1">
                <a:solidFill>
                  <a:srgbClr val="1C2233"/>
                </a:solidFill>
                <a:latin typeface="メイリオ"/>
                <a:ea typeface="メイリオ"/>
              </a:rPr>
              <a:t>CVは体験予約【CV</a:t>
            </a:r>
            <a:r>
              <a:rPr sz="1100" b="0" dirty="0">
                <a:solidFill>
                  <a:srgbClr val="1C2233"/>
                </a:solidFill>
                <a:latin typeface="メイリオ"/>
                <a:ea typeface="メイリオ"/>
              </a:rPr>
              <a:t>①】</a:t>
            </a:r>
            <a:r>
              <a:rPr sz="1100" b="0" dirty="0" err="1">
                <a:solidFill>
                  <a:srgbClr val="1C2233"/>
                </a:solidFill>
                <a:latin typeface="メイリオ"/>
                <a:ea typeface="メイリオ"/>
              </a:rPr>
              <a:t>のみ</a:t>
            </a:r>
            <a:r>
              <a:rPr sz="1100" b="0" dirty="0">
                <a:solidFill>
                  <a:srgbClr val="1C2233"/>
                </a:solidFill>
                <a:latin typeface="メイリオ"/>
                <a:ea typeface="メイリオ"/>
              </a:rPr>
              <a:t>。</a:t>
            </a:r>
            <a:r>
              <a:rPr lang="en-US" sz="1100" b="0" dirty="0">
                <a:solidFill>
                  <a:srgbClr val="1C2233"/>
                </a:solidFill>
                <a:latin typeface="メイリオ"/>
                <a:ea typeface="メイリオ"/>
              </a:rPr>
              <a:t>         </a:t>
            </a:r>
            <a:r>
              <a:rPr sz="1100" b="0" dirty="0">
                <a:solidFill>
                  <a:srgbClr val="1C2233"/>
                </a:solidFill>
                <a:latin typeface="メイリオ"/>
                <a:ea typeface="メイリオ"/>
              </a:rPr>
              <a:t>Day0・Day6・Day14の3回訴求し、1回で終わらせない。</a:t>
            </a:r>
          </a:p>
        </p:txBody>
      </p:sp>
      <p:sp>
        <p:nvSpPr>
          <p:cNvPr id="6" name="Rounded Rectangle 5"/>
          <p:cNvSpPr/>
          <p:nvPr/>
        </p:nvSpPr>
        <p:spPr>
          <a:xfrm>
            <a:off x="3383279" y="5216435"/>
            <a:ext cx="2788920" cy="96012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100" b="1" dirty="0">
                <a:solidFill>
                  <a:srgbClr val="1C2233"/>
                </a:solidFill>
                <a:latin typeface="メイリオ"/>
                <a:ea typeface="メイリオ"/>
              </a:rPr>
              <a:t>② Day6に「迫りません」と書く</a:t>
            </a:r>
          </a:p>
          <a:p>
            <a:pPr algn="l">
              <a:spcBef>
                <a:spcPts val="200"/>
              </a:spcBef>
            </a:pPr>
            <a:r>
              <a:rPr sz="1100" b="0" dirty="0" err="1">
                <a:solidFill>
                  <a:srgbClr val="1C2233"/>
                </a:solidFill>
                <a:latin typeface="メイリオ"/>
                <a:ea typeface="メイリオ"/>
              </a:rPr>
              <a:t>押し売り拒絶への直接回答</a:t>
            </a:r>
            <a:r>
              <a:rPr sz="1100" b="0" dirty="0">
                <a:solidFill>
                  <a:srgbClr val="1C2233"/>
                </a:solidFill>
                <a:latin typeface="メイリオ"/>
                <a:ea typeface="メイリオ"/>
              </a:rPr>
              <a:t>。</a:t>
            </a:r>
            <a:r>
              <a:rPr lang="en-US" sz="1100" b="0" dirty="0">
                <a:solidFill>
                  <a:srgbClr val="1C2233"/>
                </a:solidFill>
                <a:latin typeface="メイリオ"/>
                <a:ea typeface="メイリオ"/>
              </a:rPr>
              <a:t>  </a:t>
            </a:r>
          </a:p>
          <a:p>
            <a:pPr algn="l">
              <a:spcBef>
                <a:spcPts val="200"/>
              </a:spcBef>
            </a:pPr>
            <a:r>
              <a:rPr sz="1100" b="0" dirty="0" err="1">
                <a:solidFill>
                  <a:srgbClr val="1C2233"/>
                </a:solidFill>
                <a:latin typeface="メイリオ"/>
                <a:ea typeface="メイリオ"/>
              </a:rPr>
              <a:t>この業界の最重要コピ</a:t>
            </a:r>
            <a:r>
              <a:rPr sz="1100" b="0" dirty="0">
                <a:solidFill>
                  <a:srgbClr val="1C2233"/>
                </a:solidFill>
                <a:latin typeface="メイリオ"/>
                <a:ea typeface="メイリオ"/>
              </a:rPr>
              <a:t>ー。</a:t>
            </a:r>
          </a:p>
        </p:txBody>
      </p:sp>
      <p:sp>
        <p:nvSpPr>
          <p:cNvPr id="7" name="Rounded Rectangle 6"/>
          <p:cNvSpPr/>
          <p:nvPr/>
        </p:nvSpPr>
        <p:spPr>
          <a:xfrm>
            <a:off x="6382512" y="5216435"/>
            <a:ext cx="2788920" cy="96012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100" b="1" dirty="0">
                <a:solidFill>
                  <a:srgbClr val="1C2233"/>
                </a:solidFill>
                <a:latin typeface="メイリオ"/>
                <a:ea typeface="メイリオ"/>
              </a:rPr>
              <a:t>③ Day11で自ら「解約」に触れる</a:t>
            </a:r>
          </a:p>
          <a:p>
            <a:pPr algn="l">
              <a:spcBef>
                <a:spcPts val="200"/>
              </a:spcBef>
            </a:pPr>
            <a:r>
              <a:rPr sz="1100" b="0" dirty="0" err="1">
                <a:solidFill>
                  <a:srgbClr val="1C2233"/>
                </a:solidFill>
                <a:latin typeface="メイリオ"/>
                <a:ea typeface="メイリオ"/>
              </a:rPr>
              <a:t>隠すより先に出したほうが信頼される</a:t>
            </a:r>
            <a:r>
              <a:rPr sz="1100" b="0" dirty="0">
                <a:solidFill>
                  <a:srgbClr val="1C2233"/>
                </a:solidFill>
                <a:latin typeface="メイリオ"/>
                <a:ea typeface="メイリオ"/>
              </a:rPr>
              <a:t>。</a:t>
            </a:r>
          </a:p>
        </p:txBody>
      </p:sp>
      <p:sp>
        <p:nvSpPr>
          <p:cNvPr id="8" name="TextBox 7"/>
          <p:cNvSpPr txBox="1"/>
          <p:nvPr/>
        </p:nvSpPr>
        <p:spPr>
          <a:xfrm>
            <a:off x="384048" y="6267995"/>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Day15以降は「開始時期」セグメントの定常配信へ合流。予約者はステップから除外し、予約確定通知→前日リマインドへ分岐。</a:t>
            </a:r>
          </a:p>
        </p:txBody>
      </p:sp>
    </p:spTree>
    <p:extLst>
      <p:ext uri="{BB962C8B-B14F-4D97-AF65-F5344CB8AC3E}">
        <p14:creationId xmlns:p14="http://schemas.microsoft.com/office/powerpoint/2010/main" val="10987186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08000"/>
            <a:ext cx="7920000" cy="363600"/>
          </a:xfrm>
          <a:prstGeom prst="rect">
            <a:avLst/>
          </a:prstGeom>
          <a:noFill/>
        </p:spPr>
        <p:txBody>
          <a:bodyPr wrap="square" lIns="36000" tIns="14400" rIns="36000" bIns="14400" anchor="ctr">
            <a:spAutoFit/>
          </a:bodyPr>
          <a:lstStyle/>
          <a:p>
            <a:pPr algn="l">
              <a:lnSpc>
                <a:spcPct val="125000"/>
              </a:lnSpc>
            </a:pPr>
            <a:r>
              <a:rPr sz="1600" b="1">
                <a:solidFill>
                  <a:srgbClr val="323366"/>
                </a:solidFill>
                <a:latin typeface="メイリオ"/>
                <a:ea typeface="メイリオ"/>
                <a:cs typeface="メイリオ"/>
              </a:rPr>
              <a:t>ステップ配信｜入会後14日で「やめない形」を作る</a:t>
            </a:r>
          </a:p>
        </p:txBody>
      </p:sp>
      <p:sp>
        <p:nvSpPr>
          <p:cNvPr id="3" name="TextBox 2"/>
          <p:cNvSpPr txBox="1"/>
          <p:nvPr/>
        </p:nvSpPr>
        <p:spPr>
          <a:xfrm>
            <a:off x="385200" y="730799"/>
            <a:ext cx="9133200" cy="432000"/>
          </a:xfrm>
          <a:prstGeom prst="rect">
            <a:avLst/>
          </a:prstGeom>
          <a:noFill/>
        </p:spPr>
        <p:txBody>
          <a:bodyPr wrap="square" lIns="0" tIns="14400" rIns="0" bIns="14400" anchor="ctr">
            <a:spAutoFit/>
          </a:bodyPr>
          <a:lstStyle/>
          <a:p>
            <a:pPr algn="l">
              <a:lnSpc>
                <a:spcPct val="125000"/>
              </a:lnSpc>
            </a:pPr>
            <a:r>
              <a:rPr sz="1400" b="1">
                <a:solidFill>
                  <a:srgbClr val="1A1A2E"/>
                </a:solidFill>
                <a:latin typeface="メイリオ"/>
                <a:ea typeface="メイリオ"/>
                <a:cs typeface="メイリオ"/>
              </a:rPr>
              <a:t>前後検索では、入会直後（＋1〜15日）に「効果が出るまで」「脂肪冷却 効果ない」「医療ダイエット」が立つ。</a:t>
            </a:r>
          </a:p>
          <a:p>
            <a:pPr algn="l">
              <a:lnSpc>
                <a:spcPct val="125000"/>
              </a:lnSpc>
            </a:pPr>
            <a:r>
              <a:rPr sz="1400" b="1">
                <a:solidFill>
                  <a:srgbClr val="C00000"/>
                </a:solidFill>
                <a:latin typeface="メイリオ"/>
                <a:ea typeface="メイリオ"/>
                <a:cs typeface="メイリオ"/>
              </a:rPr>
              <a:t>離脱は入会前ではなく、入会直後に始まっている。</a:t>
            </a:r>
          </a:p>
        </p:txBody>
      </p:sp>
      <p:graphicFrame>
        <p:nvGraphicFramePr>
          <p:cNvPr id="4" name="Table 3"/>
          <p:cNvGraphicFramePr>
            <a:graphicFrameLocks noGrp="1"/>
          </p:cNvGraphicFramePr>
          <p:nvPr/>
        </p:nvGraphicFramePr>
        <p:xfrm>
          <a:off x="385200" y="1386000"/>
          <a:ext cx="9143999" cy="2692800"/>
        </p:xfrm>
        <a:graphic>
          <a:graphicData uri="http://schemas.openxmlformats.org/drawingml/2006/table">
            <a:tbl>
              <a:tblPr firstRow="1" bandRow="1">
                <a:tableStyleId>{5C22544A-7EE6-4342-B048-85BDC9FD1C3A}</a:tableStyleId>
              </a:tblPr>
              <a:tblGrid>
                <a:gridCol w="827999">
                  <a:extLst>
                    <a:ext uri="{9D8B030D-6E8A-4147-A177-3AD203B41FA5}">
                      <a16:colId xmlns:a16="http://schemas.microsoft.com/office/drawing/2014/main" val="20000"/>
                    </a:ext>
                  </a:extLst>
                </a:gridCol>
                <a:gridCol w="1224000">
                  <a:extLst>
                    <a:ext uri="{9D8B030D-6E8A-4147-A177-3AD203B41FA5}">
                      <a16:colId xmlns:a16="http://schemas.microsoft.com/office/drawing/2014/main" val="20001"/>
                    </a:ext>
                  </a:extLst>
                </a:gridCol>
                <a:gridCol w="3816000">
                  <a:extLst>
                    <a:ext uri="{9D8B030D-6E8A-4147-A177-3AD203B41FA5}">
                      <a16:colId xmlns:a16="http://schemas.microsoft.com/office/drawing/2014/main" val="20002"/>
                    </a:ext>
                  </a:extLst>
                </a:gridCol>
                <a:gridCol w="1224000">
                  <a:extLst>
                    <a:ext uri="{9D8B030D-6E8A-4147-A177-3AD203B41FA5}">
                      <a16:colId xmlns:a16="http://schemas.microsoft.com/office/drawing/2014/main" val="20003"/>
                    </a:ext>
                  </a:extLst>
                </a:gridCol>
                <a:gridCol w="2052000">
                  <a:extLst>
                    <a:ext uri="{9D8B030D-6E8A-4147-A177-3AD203B41FA5}">
                      <a16:colId xmlns:a16="http://schemas.microsoft.com/office/drawing/2014/main" val="20004"/>
                    </a:ext>
                  </a:extLst>
                </a:gridCol>
              </a:tblGrid>
              <a:tr h="360000">
                <a:tc>
                  <a:txBody>
                    <a:bodyPr/>
                    <a:lstStyle/>
                    <a:p>
                      <a:pPr algn="ctr">
                        <a:lnSpc>
                          <a:spcPct val="115000"/>
                        </a:lnSpc>
                      </a:pPr>
                      <a:r>
                        <a:rPr sz="1200" b="1">
                          <a:solidFill>
                            <a:srgbClr val="FFFFFF"/>
                          </a:solidFill>
                          <a:latin typeface="メイリオ"/>
                          <a:ea typeface="メイリオ"/>
                          <a:cs typeface="メイリオ"/>
                        </a:rPr>
                        <a:t>日</a:t>
                      </a:r>
                    </a:p>
                  </a:txBody>
                  <a:tcPr marL="50400" marR="50400" marT="21600" marB="21600" anchor="ctr">
                    <a:solidFill>
                      <a:srgbClr val="002060"/>
                    </a:solidFill>
                  </a:tcPr>
                </a:tc>
                <a:tc>
                  <a:txBody>
                    <a:bodyPr/>
                    <a:lstStyle/>
                    <a:p>
                      <a:pPr algn="ctr">
                        <a:lnSpc>
                          <a:spcPct val="115000"/>
                        </a:lnSpc>
                      </a:pPr>
                      <a:r>
                        <a:rPr sz="1200" b="1">
                          <a:solidFill>
                            <a:srgbClr val="FFFFFF"/>
                          </a:solidFill>
                          <a:latin typeface="メイリオ"/>
                          <a:ea typeface="メイリオ"/>
                          <a:cs typeface="メイリオ"/>
                        </a:rPr>
                        <a:t>役割</a:t>
                      </a:r>
                    </a:p>
                  </a:txBody>
                  <a:tcPr marL="50400" marR="50400" marT="21600" marB="21600" anchor="ctr">
                    <a:solidFill>
                      <a:srgbClr val="002060"/>
                    </a:solidFill>
                  </a:tcPr>
                </a:tc>
                <a:tc>
                  <a:txBody>
                    <a:bodyPr/>
                    <a:lstStyle/>
                    <a:p>
                      <a:pPr algn="ctr">
                        <a:lnSpc>
                          <a:spcPct val="115000"/>
                        </a:lnSpc>
                      </a:pPr>
                      <a:r>
                        <a:rPr sz="1200" b="1">
                          <a:solidFill>
                            <a:srgbClr val="FFFFFF"/>
                          </a:solidFill>
                          <a:latin typeface="メイリオ"/>
                          <a:ea typeface="メイリオ"/>
                          <a:cs typeface="メイリオ"/>
                        </a:rPr>
                        <a:t>配信コンテンツ</a:t>
                      </a:r>
                    </a:p>
                  </a:txBody>
                  <a:tcPr marL="50400" marR="50400" marT="21600" marB="21600" anchor="ctr">
                    <a:solidFill>
                      <a:srgbClr val="002060"/>
                    </a:solidFill>
                  </a:tcPr>
                </a:tc>
                <a:tc>
                  <a:txBody>
                    <a:bodyPr/>
                    <a:lstStyle/>
                    <a:p>
                      <a:pPr algn="ctr">
                        <a:lnSpc>
                          <a:spcPct val="115000"/>
                        </a:lnSpc>
                      </a:pPr>
                      <a:r>
                        <a:rPr sz="1200" b="1">
                          <a:solidFill>
                            <a:srgbClr val="FFFFFF"/>
                          </a:solidFill>
                          <a:latin typeface="メイリオ"/>
                          <a:ea typeface="メイリオ"/>
                          <a:cs typeface="メイリオ"/>
                        </a:rPr>
                        <a:t>CTA</a:t>
                      </a:r>
                    </a:p>
                  </a:txBody>
                  <a:tcPr marL="50400" marR="50400" marT="21600" marB="21600" anchor="ctr">
                    <a:solidFill>
                      <a:srgbClr val="002060"/>
                    </a:solidFill>
                  </a:tcPr>
                </a:tc>
                <a:tc>
                  <a:txBody>
                    <a:bodyPr/>
                    <a:lstStyle/>
                    <a:p>
                      <a:pPr algn="ctr">
                        <a:lnSpc>
                          <a:spcPct val="115000"/>
                        </a:lnSpc>
                      </a:pPr>
                      <a:r>
                        <a:rPr sz="1200" b="1">
                          <a:solidFill>
                            <a:srgbClr val="FFFFFF"/>
                          </a:solidFill>
                          <a:latin typeface="メイリオ"/>
                          <a:ea typeface="メイリオ"/>
                          <a:cs typeface="メイリオ"/>
                        </a:rPr>
                        <a:t>通知プレビュー冒頭</a:t>
                      </a:r>
                    </a:p>
                  </a:txBody>
                  <a:tcPr marL="50400" marR="50400" marT="21600" marB="21600" anchor="ctr">
                    <a:solidFill>
                      <a:srgbClr val="002060"/>
                    </a:solidFill>
                  </a:tcPr>
                </a:tc>
                <a:extLst>
                  <a:ext uri="{0D108BD9-81ED-4DB2-BD59-A6C34878D82A}">
                    <a16:rowId xmlns:a16="http://schemas.microsoft.com/office/drawing/2014/main" val="10000"/>
                  </a:ext>
                </a:extLst>
              </a:tr>
              <a:tr h="583200">
                <a:tc>
                  <a:txBody>
                    <a:bodyPr/>
                    <a:lstStyle/>
                    <a:p>
                      <a:pPr algn="ctr">
                        <a:lnSpc>
                          <a:spcPct val="115000"/>
                        </a:lnSpc>
                      </a:pPr>
                      <a:r>
                        <a:rPr sz="1200" b="1">
                          <a:solidFill>
                            <a:srgbClr val="1A1A2E"/>
                          </a:solidFill>
                          <a:latin typeface="メイリオ"/>
                          <a:ea typeface="メイリオ"/>
                          <a:cs typeface="メイリオ"/>
                        </a:rPr>
                        <a:t>Day1</a:t>
                      </a:r>
                    </a:p>
                  </a:txBody>
                  <a:tcPr marL="50400" marR="50400" marT="21600" marB="21600" anchor="ctr">
                    <a:solidFill>
                      <a:srgbClr val="FFFFFF"/>
                    </a:solidFill>
                  </a:tcPr>
                </a:tc>
                <a:tc>
                  <a:txBody>
                    <a:bodyPr/>
                    <a:lstStyle/>
                    <a:p>
                      <a:pPr algn="ctr">
                        <a:lnSpc>
                          <a:spcPct val="115000"/>
                        </a:lnSpc>
                      </a:pPr>
                      <a:r>
                        <a:rPr sz="1100" b="1">
                          <a:solidFill>
                            <a:srgbClr val="1A1A2E"/>
                          </a:solidFill>
                          <a:latin typeface="メイリオ"/>
                          <a:ea typeface="メイリオ"/>
                          <a:cs typeface="メイリオ"/>
                        </a:rPr>
                        <a:t>迷わせない</a:t>
                      </a:r>
                    </a:p>
                  </a:txBody>
                  <a:tcPr marL="50400" marR="50400" marT="21600" marB="21600" anchor="ctr">
                    <a:solidFill>
                      <a:srgbClr val="FFFFFF"/>
                    </a:solidFill>
                  </a:tcPr>
                </a:tc>
                <a:tc>
                  <a:txBody>
                    <a:bodyPr/>
                    <a:lstStyle/>
                    <a:p>
                      <a:pPr algn="l">
                        <a:lnSpc>
                          <a:spcPct val="115000"/>
                        </a:lnSpc>
                      </a:pPr>
                      <a:r>
                        <a:rPr sz="1100" b="0">
                          <a:solidFill>
                            <a:srgbClr val="1A1A2E"/>
                          </a:solidFill>
                          <a:latin typeface="メイリオ"/>
                          <a:ea typeface="メイリオ"/>
                          <a:cs typeface="メイリオ"/>
                        </a:rPr>
                        <a:t>持ち物5点（シューズ・ウェア・タオル・飲み物・鍵）＋最初の60分の型</a:t>
                      </a:r>
                    </a:p>
                  </a:txBody>
                  <a:tcPr marL="50400" marR="50400" marT="21600" marB="21600" anchor="ctr">
                    <a:solidFill>
                      <a:srgbClr val="FFFFFF"/>
                    </a:solidFill>
                  </a:tcPr>
                </a:tc>
                <a:tc>
                  <a:txBody>
                    <a:bodyPr/>
                    <a:lstStyle/>
                    <a:p>
                      <a:pPr algn="ctr">
                        <a:lnSpc>
                          <a:spcPct val="115000"/>
                        </a:lnSpc>
                      </a:pPr>
                      <a:r>
                        <a:rPr sz="1100" b="0">
                          <a:solidFill>
                            <a:srgbClr val="1A1A2E"/>
                          </a:solidFill>
                          <a:latin typeface="メイリオ"/>
                          <a:ea typeface="メイリオ"/>
                          <a:cs typeface="メイリオ"/>
                        </a:rPr>
                        <a:t>次回の来館予約</a:t>
                      </a:r>
                    </a:p>
                  </a:txBody>
                  <a:tcPr marL="50400" marR="50400" marT="21600" marB="21600" anchor="ctr">
                    <a:solidFill>
                      <a:srgbClr val="FFFFFF"/>
                    </a:solidFill>
                  </a:tcPr>
                </a:tc>
                <a:tc>
                  <a:txBody>
                    <a:bodyPr/>
                    <a:lstStyle/>
                    <a:p>
                      <a:pPr algn="l">
                        <a:lnSpc>
                          <a:spcPct val="115000"/>
                        </a:lnSpc>
                      </a:pPr>
                      <a:r>
                        <a:rPr sz="1100" b="0">
                          <a:solidFill>
                            <a:srgbClr val="1A1A2E"/>
                          </a:solidFill>
                          <a:latin typeface="メイリオ"/>
                          <a:ea typeface="メイリオ"/>
                          <a:cs typeface="メイリオ"/>
                        </a:rPr>
                        <a:t>【はじめての日に】持っていくのは5つ</a:t>
                      </a:r>
                    </a:p>
                  </a:txBody>
                  <a:tcPr marL="50400" marR="50400" marT="21600" marB="21600" anchor="ctr">
                    <a:solidFill>
                      <a:srgbClr val="FFFFFF"/>
                    </a:solidFill>
                  </a:tcPr>
                </a:tc>
                <a:extLst>
                  <a:ext uri="{0D108BD9-81ED-4DB2-BD59-A6C34878D82A}">
                    <a16:rowId xmlns:a16="http://schemas.microsoft.com/office/drawing/2014/main" val="10001"/>
                  </a:ext>
                </a:extLst>
              </a:tr>
              <a:tr h="583200">
                <a:tc>
                  <a:txBody>
                    <a:bodyPr/>
                    <a:lstStyle/>
                    <a:p>
                      <a:pPr algn="ctr">
                        <a:lnSpc>
                          <a:spcPct val="115000"/>
                        </a:lnSpc>
                      </a:pPr>
                      <a:r>
                        <a:rPr sz="1200" b="1">
                          <a:solidFill>
                            <a:srgbClr val="1A1A2E"/>
                          </a:solidFill>
                          <a:latin typeface="メイリオ"/>
                          <a:ea typeface="メイリオ"/>
                          <a:cs typeface="メイリオ"/>
                        </a:rPr>
                        <a:t>Day5</a:t>
                      </a:r>
                    </a:p>
                  </a:txBody>
                  <a:tcPr marL="50400" marR="50400" marT="21600" marB="21600" anchor="ctr">
                    <a:solidFill>
                      <a:srgbClr val="F4F7FF"/>
                    </a:solidFill>
                  </a:tcPr>
                </a:tc>
                <a:tc>
                  <a:txBody>
                    <a:bodyPr/>
                    <a:lstStyle/>
                    <a:p>
                      <a:pPr algn="ctr">
                        <a:lnSpc>
                          <a:spcPct val="115000"/>
                        </a:lnSpc>
                      </a:pPr>
                      <a:r>
                        <a:rPr sz="1100" b="1">
                          <a:solidFill>
                            <a:srgbClr val="1A1A2E"/>
                          </a:solidFill>
                          <a:latin typeface="メイリオ"/>
                          <a:ea typeface="メイリオ"/>
                          <a:cs typeface="メイリオ"/>
                        </a:rPr>
                        <a:t>失敗させない</a:t>
                      </a:r>
                    </a:p>
                  </a:txBody>
                  <a:tcPr marL="50400" marR="50400" marT="21600" marB="21600" anchor="ctr">
                    <a:solidFill>
                      <a:srgbClr val="F4F7FF"/>
                    </a:solidFill>
                  </a:tcPr>
                </a:tc>
                <a:tc>
                  <a:txBody>
                    <a:bodyPr/>
                    <a:lstStyle/>
                    <a:p>
                      <a:pPr algn="l">
                        <a:lnSpc>
                          <a:spcPct val="115000"/>
                        </a:lnSpc>
                      </a:pPr>
                      <a:r>
                        <a:rPr sz="1100" b="0">
                          <a:solidFill>
                            <a:srgbClr val="1A1A2E"/>
                          </a:solidFill>
                          <a:latin typeface="メイリオ"/>
                          <a:ea typeface="メイリオ"/>
                          <a:cs typeface="メイリオ"/>
                        </a:rPr>
                        <a:t>重すぎる重量から始めない／同じ部位は48〜72時間空ける／有酸素だけで終わらない</a:t>
                      </a:r>
                    </a:p>
                  </a:txBody>
                  <a:tcPr marL="50400" marR="50400" marT="21600" marB="21600" anchor="ctr">
                    <a:solidFill>
                      <a:srgbClr val="F4F7FF"/>
                    </a:solidFill>
                  </a:tcPr>
                </a:tc>
                <a:tc>
                  <a:txBody>
                    <a:bodyPr/>
                    <a:lstStyle/>
                    <a:p>
                      <a:pPr algn="ctr">
                        <a:lnSpc>
                          <a:spcPct val="115000"/>
                        </a:lnSpc>
                      </a:pPr>
                      <a:r>
                        <a:rPr sz="1100" b="0">
                          <a:solidFill>
                            <a:srgbClr val="1A1A2E"/>
                          </a:solidFill>
                          <a:latin typeface="メイリオ"/>
                          <a:ea typeface="メイリオ"/>
                          <a:cs typeface="メイリオ"/>
                        </a:rPr>
                        <a:t>フォームチェックを予約</a:t>
                      </a:r>
                    </a:p>
                  </a:txBody>
                  <a:tcPr marL="50400" marR="50400" marT="21600" marB="21600" anchor="ctr">
                    <a:solidFill>
                      <a:srgbClr val="F4F7FF"/>
                    </a:solidFill>
                  </a:tcPr>
                </a:tc>
                <a:tc>
                  <a:txBody>
                    <a:bodyPr/>
                    <a:lstStyle/>
                    <a:p>
                      <a:pPr algn="l">
                        <a:lnSpc>
                          <a:spcPct val="115000"/>
                        </a:lnSpc>
                      </a:pPr>
                      <a:r>
                        <a:rPr sz="1100" b="0">
                          <a:solidFill>
                            <a:srgbClr val="1A1A2E"/>
                          </a:solidFill>
                          <a:latin typeface="メイリオ"/>
                          <a:ea typeface="メイリオ"/>
                          <a:cs typeface="メイリオ"/>
                        </a:rPr>
                        <a:t>【やりがち】初心者の7つの落とし穴</a:t>
                      </a:r>
                    </a:p>
                  </a:txBody>
                  <a:tcPr marL="50400" marR="50400" marT="21600" marB="21600" anchor="ctr">
                    <a:solidFill>
                      <a:srgbClr val="F4F7FF"/>
                    </a:solidFill>
                  </a:tcPr>
                </a:tc>
                <a:extLst>
                  <a:ext uri="{0D108BD9-81ED-4DB2-BD59-A6C34878D82A}">
                    <a16:rowId xmlns:a16="http://schemas.microsoft.com/office/drawing/2014/main" val="10002"/>
                  </a:ext>
                </a:extLst>
              </a:tr>
              <a:tr h="583200">
                <a:tc>
                  <a:txBody>
                    <a:bodyPr/>
                    <a:lstStyle/>
                    <a:p>
                      <a:pPr algn="ctr">
                        <a:lnSpc>
                          <a:spcPct val="115000"/>
                        </a:lnSpc>
                      </a:pPr>
                      <a:r>
                        <a:rPr sz="1200" b="1">
                          <a:solidFill>
                            <a:srgbClr val="C00000"/>
                          </a:solidFill>
                          <a:latin typeface="メイリオ"/>
                          <a:ea typeface="メイリオ"/>
                          <a:cs typeface="メイリオ"/>
                        </a:rPr>
                        <a:t>Day7</a:t>
                      </a:r>
                    </a:p>
                  </a:txBody>
                  <a:tcPr marL="50400" marR="50400" marT="21600" marB="21600" anchor="ctr">
                    <a:solidFill>
                      <a:srgbClr val="FFFFFF"/>
                    </a:solidFill>
                  </a:tcPr>
                </a:tc>
                <a:tc>
                  <a:txBody>
                    <a:bodyPr/>
                    <a:lstStyle/>
                    <a:p>
                      <a:pPr algn="ctr">
                        <a:lnSpc>
                          <a:spcPct val="115000"/>
                        </a:lnSpc>
                      </a:pPr>
                      <a:r>
                        <a:rPr sz="1100" b="1">
                          <a:solidFill>
                            <a:srgbClr val="1A1A2E"/>
                          </a:solidFill>
                          <a:latin typeface="メイリオ"/>
                          <a:ea typeface="メイリオ"/>
                          <a:cs typeface="メイリオ"/>
                        </a:rPr>
                        <a:t>やめさせない</a:t>
                      </a:r>
                    </a:p>
                  </a:txBody>
                  <a:tcPr marL="50400" marR="50400" marT="21600" marB="21600" anchor="ctr">
                    <a:solidFill>
                      <a:srgbClr val="FFFFFF"/>
                    </a:solidFill>
                  </a:tcPr>
                </a:tc>
                <a:tc>
                  <a:txBody>
                    <a:bodyPr/>
                    <a:lstStyle/>
                    <a:p>
                      <a:pPr algn="l">
                        <a:lnSpc>
                          <a:spcPct val="115000"/>
                        </a:lnSpc>
                      </a:pPr>
                      <a:r>
                        <a:rPr sz="1100" b="0">
                          <a:solidFill>
                            <a:srgbClr val="1A1A2E"/>
                          </a:solidFill>
                          <a:latin typeface="メイリオ"/>
                          <a:ea typeface="メイリオ"/>
                          <a:cs typeface="メイリオ"/>
                        </a:rPr>
                        <a:t>1週間＝むくみ／1ヶ月＝引き締まり／2〜3ヶ月＝見た目。体重が動くのは最後</a:t>
                      </a:r>
                    </a:p>
                  </a:txBody>
                  <a:tcPr marL="50400" marR="50400" marT="21600" marB="21600" anchor="ctr">
                    <a:solidFill>
                      <a:srgbClr val="FFFFFF"/>
                    </a:solidFill>
                  </a:tcPr>
                </a:tc>
                <a:tc>
                  <a:txBody>
                    <a:bodyPr/>
                    <a:lstStyle/>
                    <a:p>
                      <a:pPr algn="ctr">
                        <a:lnSpc>
                          <a:spcPct val="115000"/>
                        </a:lnSpc>
                      </a:pPr>
                      <a:r>
                        <a:rPr sz="1100" b="0">
                          <a:solidFill>
                            <a:srgbClr val="1A1A2E"/>
                          </a:solidFill>
                          <a:latin typeface="メイリオ"/>
                          <a:ea typeface="メイリオ"/>
                          <a:cs typeface="メイリオ"/>
                        </a:rPr>
                        <a:t>体組成測定を予約</a:t>
                      </a:r>
                    </a:p>
                  </a:txBody>
                  <a:tcPr marL="50400" marR="50400" marT="21600" marB="21600" anchor="ctr">
                    <a:solidFill>
                      <a:srgbClr val="FFFFFF"/>
                    </a:solidFill>
                  </a:tcPr>
                </a:tc>
                <a:tc>
                  <a:txBody>
                    <a:bodyPr/>
                    <a:lstStyle/>
                    <a:p>
                      <a:pPr algn="l">
                        <a:lnSpc>
                          <a:spcPct val="115000"/>
                        </a:lnSpc>
                      </a:pPr>
                      <a:r>
                        <a:rPr sz="1100" b="0">
                          <a:solidFill>
                            <a:srgbClr val="1A1A2E"/>
                          </a:solidFill>
                          <a:latin typeface="メイリオ"/>
                          <a:ea typeface="メイリオ"/>
                          <a:cs typeface="メイリオ"/>
                        </a:rPr>
                        <a:t>【1週目】体重が動かなくて正常です</a:t>
                      </a:r>
                    </a:p>
                  </a:txBody>
                  <a:tcPr marL="50400" marR="50400" marT="21600" marB="21600" anchor="ctr">
                    <a:solidFill>
                      <a:srgbClr val="FFFFFF"/>
                    </a:solidFill>
                  </a:tcPr>
                </a:tc>
                <a:extLst>
                  <a:ext uri="{0D108BD9-81ED-4DB2-BD59-A6C34878D82A}">
                    <a16:rowId xmlns:a16="http://schemas.microsoft.com/office/drawing/2014/main" val="10003"/>
                  </a:ext>
                </a:extLst>
              </a:tr>
              <a:tr h="583200">
                <a:tc>
                  <a:txBody>
                    <a:bodyPr/>
                    <a:lstStyle/>
                    <a:p>
                      <a:pPr algn="ctr">
                        <a:lnSpc>
                          <a:spcPct val="115000"/>
                        </a:lnSpc>
                      </a:pPr>
                      <a:r>
                        <a:rPr sz="1200" b="1">
                          <a:solidFill>
                            <a:srgbClr val="C00000"/>
                          </a:solidFill>
                          <a:latin typeface="メイリオ"/>
                          <a:ea typeface="メイリオ"/>
                          <a:cs typeface="メイリオ"/>
                        </a:rPr>
                        <a:t>Day14</a:t>
                      </a:r>
                    </a:p>
                  </a:txBody>
                  <a:tcPr marL="50400" marR="50400" marT="21600" marB="21600" anchor="ctr">
                    <a:solidFill>
                      <a:srgbClr val="F4F7FF"/>
                    </a:solidFill>
                  </a:tcPr>
                </a:tc>
                <a:tc>
                  <a:txBody>
                    <a:bodyPr/>
                    <a:lstStyle/>
                    <a:p>
                      <a:pPr algn="ctr">
                        <a:lnSpc>
                          <a:spcPct val="115000"/>
                        </a:lnSpc>
                      </a:pPr>
                      <a:r>
                        <a:rPr sz="1100" b="1">
                          <a:solidFill>
                            <a:srgbClr val="1A1A2E"/>
                          </a:solidFill>
                          <a:latin typeface="メイリオ"/>
                          <a:ea typeface="メイリオ"/>
                          <a:cs typeface="メイリオ"/>
                        </a:rPr>
                        <a:t>戻れるようにする</a:t>
                      </a:r>
                    </a:p>
                  </a:txBody>
                  <a:tcPr marL="50400" marR="50400" marT="21600" marB="21600" anchor="ctr">
                    <a:solidFill>
                      <a:srgbClr val="F4F7FF"/>
                    </a:solidFill>
                  </a:tcPr>
                </a:tc>
                <a:tc>
                  <a:txBody>
                    <a:bodyPr/>
                    <a:lstStyle/>
                    <a:p>
                      <a:pPr algn="l">
                        <a:lnSpc>
                          <a:spcPct val="115000"/>
                        </a:lnSpc>
                      </a:pPr>
                      <a:r>
                        <a:rPr sz="1100" b="0">
                          <a:solidFill>
                            <a:srgbClr val="1A1A2E"/>
                          </a:solidFill>
                          <a:latin typeface="メイリオ"/>
                          <a:ea typeface="メイリオ"/>
                          <a:cs typeface="メイリオ"/>
                        </a:rPr>
                        <a:t>1週間空くと筋力は落ちる。でも1回サボってもOK。戻り方を先に決めておく</a:t>
                      </a:r>
                    </a:p>
                  </a:txBody>
                  <a:tcPr marL="50400" marR="50400" marT="21600" marB="21600" anchor="ctr">
                    <a:solidFill>
                      <a:srgbClr val="F4F7FF"/>
                    </a:solidFill>
                  </a:tcPr>
                </a:tc>
                <a:tc>
                  <a:txBody>
                    <a:bodyPr/>
                    <a:lstStyle/>
                    <a:p>
                      <a:pPr algn="ctr">
                        <a:lnSpc>
                          <a:spcPct val="115000"/>
                        </a:lnSpc>
                      </a:pPr>
                      <a:r>
                        <a:rPr sz="1100" b="0">
                          <a:solidFill>
                            <a:srgbClr val="1A1A2E"/>
                          </a:solidFill>
                          <a:latin typeface="メイリオ"/>
                          <a:ea typeface="メイリオ"/>
                          <a:cs typeface="メイリオ"/>
                        </a:rPr>
                        <a:t>お友だち紹介</a:t>
                      </a:r>
                    </a:p>
                  </a:txBody>
                  <a:tcPr marL="50400" marR="50400" marT="21600" marB="21600" anchor="ctr">
                    <a:solidFill>
                      <a:srgbClr val="F4F7FF"/>
                    </a:solidFill>
                  </a:tcPr>
                </a:tc>
                <a:tc>
                  <a:txBody>
                    <a:bodyPr/>
                    <a:lstStyle/>
                    <a:p>
                      <a:pPr algn="l">
                        <a:lnSpc>
                          <a:spcPct val="115000"/>
                        </a:lnSpc>
                      </a:pPr>
                      <a:r>
                        <a:rPr sz="1100" b="0">
                          <a:solidFill>
                            <a:srgbClr val="1A1A2E"/>
                          </a:solidFill>
                          <a:latin typeface="メイリオ"/>
                          <a:ea typeface="メイリオ"/>
                          <a:cs typeface="メイリオ"/>
                        </a:rPr>
                        <a:t>【2週間おつかれさまです】</a:t>
                      </a:r>
                    </a:p>
                  </a:txBody>
                  <a:tcPr marL="50400" marR="50400" marT="21600" marB="21600" anchor="ctr">
                    <a:solidFill>
                      <a:srgbClr val="F4F7FF"/>
                    </a:solidFill>
                  </a:tcPr>
                </a:tc>
                <a:extLst>
                  <a:ext uri="{0D108BD9-81ED-4DB2-BD59-A6C34878D82A}">
                    <a16:rowId xmlns:a16="http://schemas.microsoft.com/office/drawing/2014/main" val="10004"/>
                  </a:ext>
                </a:extLst>
              </a:tr>
            </a:tbl>
          </a:graphicData>
        </a:graphic>
      </p:graphicFrame>
      <p:sp>
        <p:nvSpPr>
          <p:cNvPr id="5" name="Rounded Rectangle 4"/>
          <p:cNvSpPr/>
          <p:nvPr/>
        </p:nvSpPr>
        <p:spPr>
          <a:xfrm>
            <a:off x="385200" y="4428000"/>
            <a:ext cx="2790000" cy="917999"/>
          </a:xfrm>
          <a:prstGeom prst="roundRect">
            <a:avLst>
              <a:gd name="adj" fmla="val 10000"/>
            </a:avLst>
          </a:prstGeom>
          <a:solidFill>
            <a:srgbClr val="F4F7FF"/>
          </a:solidFill>
          <a:ln w="12700">
            <a:solidFill>
              <a:srgbClr val="D8D8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86000" y="4500000"/>
            <a:ext cx="2588400" cy="259200"/>
          </a:xfrm>
          <a:prstGeom prst="rect">
            <a:avLst/>
          </a:prstGeom>
          <a:noFill/>
        </p:spPr>
        <p:txBody>
          <a:bodyPr wrap="square" lIns="0" tIns="14400" rIns="0" bIns="14400" anchor="ctr">
            <a:spAutoFit/>
          </a:bodyPr>
          <a:lstStyle/>
          <a:p>
            <a:pPr algn="l">
              <a:lnSpc>
                <a:spcPct val="125000"/>
              </a:lnSpc>
            </a:pPr>
            <a:r>
              <a:rPr sz="1200" b="1">
                <a:solidFill>
                  <a:srgbClr val="002060"/>
                </a:solidFill>
                <a:latin typeface="メイリオ"/>
                <a:ea typeface="メイリオ"/>
                <a:cs typeface="メイリオ"/>
              </a:rPr>
              <a:t>① 効くのはCV③</a:t>
            </a:r>
          </a:p>
        </p:txBody>
      </p:sp>
      <p:sp>
        <p:nvSpPr>
          <p:cNvPr id="7" name="TextBox 6"/>
          <p:cNvSpPr txBox="1"/>
          <p:nvPr/>
        </p:nvSpPr>
        <p:spPr>
          <a:xfrm>
            <a:off x="486000" y="4780800"/>
            <a:ext cx="2588400" cy="493199"/>
          </a:xfrm>
          <a:prstGeom prst="rect">
            <a:avLst/>
          </a:prstGeom>
          <a:noFill/>
        </p:spPr>
        <p:txBody>
          <a:bodyPr wrap="square" lIns="0" tIns="14400" rIns="0" bIns="14400" anchor="t">
            <a:spAutoFit/>
          </a:bodyPr>
          <a:lstStyle/>
          <a:p>
            <a:pPr algn="l">
              <a:lnSpc>
                <a:spcPct val="125000"/>
              </a:lnSpc>
            </a:pPr>
            <a:r>
              <a:rPr sz="1100" b="0">
                <a:solidFill>
                  <a:srgbClr val="1A1A2E"/>
                </a:solidFill>
                <a:latin typeface="メイリオ"/>
                <a:ea typeface="メイリオ"/>
                <a:cs typeface="メイリオ"/>
              </a:rPr>
              <a:t>入会前（前ページ）がCV①②を取り、</a:t>
            </a:r>
          </a:p>
          <a:p>
            <a:pPr algn="l">
              <a:lnSpc>
                <a:spcPct val="125000"/>
              </a:lnSpc>
            </a:pPr>
            <a:r>
              <a:rPr sz="1100" b="0">
                <a:solidFill>
                  <a:srgbClr val="1A1A2E"/>
                </a:solidFill>
                <a:latin typeface="メイリオ"/>
                <a:ea typeface="メイリオ"/>
                <a:cs typeface="メイリオ"/>
              </a:rPr>
              <a:t>この4通がCV③を守る。</a:t>
            </a:r>
          </a:p>
        </p:txBody>
      </p:sp>
      <p:sp>
        <p:nvSpPr>
          <p:cNvPr id="8" name="Rounded Rectangle 7"/>
          <p:cNvSpPr/>
          <p:nvPr/>
        </p:nvSpPr>
        <p:spPr>
          <a:xfrm>
            <a:off x="3384000" y="4428000"/>
            <a:ext cx="2790000" cy="917999"/>
          </a:xfrm>
          <a:prstGeom prst="roundRect">
            <a:avLst>
              <a:gd name="adj" fmla="val 10000"/>
            </a:avLst>
          </a:prstGeom>
          <a:solidFill>
            <a:srgbClr val="F4F7FF"/>
          </a:solidFill>
          <a:ln w="12700">
            <a:solidFill>
              <a:srgbClr val="D8D8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484800" y="4500000"/>
            <a:ext cx="2588400" cy="259200"/>
          </a:xfrm>
          <a:prstGeom prst="rect">
            <a:avLst/>
          </a:prstGeom>
          <a:noFill/>
        </p:spPr>
        <p:txBody>
          <a:bodyPr wrap="square" lIns="0" tIns="14400" rIns="0" bIns="14400" anchor="ctr">
            <a:spAutoFit/>
          </a:bodyPr>
          <a:lstStyle/>
          <a:p>
            <a:pPr algn="l">
              <a:lnSpc>
                <a:spcPct val="125000"/>
              </a:lnSpc>
            </a:pPr>
            <a:r>
              <a:rPr sz="1200" b="1">
                <a:solidFill>
                  <a:srgbClr val="002060"/>
                </a:solidFill>
                <a:latin typeface="メイリオ"/>
                <a:ea typeface="メイリオ"/>
                <a:cs typeface="メイリオ"/>
              </a:rPr>
              <a:t>② Day7とDay14が本体</a:t>
            </a:r>
          </a:p>
        </p:txBody>
      </p:sp>
      <p:sp>
        <p:nvSpPr>
          <p:cNvPr id="10" name="TextBox 9"/>
          <p:cNvSpPr txBox="1"/>
          <p:nvPr/>
        </p:nvSpPr>
        <p:spPr>
          <a:xfrm>
            <a:off x="3484800" y="4780800"/>
            <a:ext cx="2588400" cy="493199"/>
          </a:xfrm>
          <a:prstGeom prst="rect">
            <a:avLst/>
          </a:prstGeom>
          <a:noFill/>
        </p:spPr>
        <p:txBody>
          <a:bodyPr wrap="square" lIns="0" tIns="14400" rIns="0" bIns="14400" anchor="t">
            <a:spAutoFit/>
          </a:bodyPr>
          <a:lstStyle/>
          <a:p>
            <a:pPr algn="l">
              <a:lnSpc>
                <a:spcPct val="125000"/>
              </a:lnSpc>
            </a:pPr>
            <a:r>
              <a:rPr sz="1100" b="0">
                <a:solidFill>
                  <a:srgbClr val="1A1A2E"/>
                </a:solidFill>
                <a:latin typeface="メイリオ"/>
                <a:ea typeface="メイリオ"/>
                <a:cs typeface="メイリオ"/>
              </a:rPr>
              <a:t>前後検索で「効果への不安」が</a:t>
            </a:r>
          </a:p>
          <a:p>
            <a:pPr algn="l">
              <a:lnSpc>
                <a:spcPct val="125000"/>
              </a:lnSpc>
            </a:pPr>
            <a:r>
              <a:rPr sz="1100" b="0">
                <a:solidFill>
                  <a:srgbClr val="1A1A2E"/>
                </a:solidFill>
                <a:latin typeface="メイリオ"/>
                <a:ea typeface="メイリオ"/>
                <a:cs typeface="メイリオ"/>
              </a:rPr>
              <a:t>＋1〜15日に立つ。先回りして送る。</a:t>
            </a:r>
          </a:p>
        </p:txBody>
      </p:sp>
      <p:sp>
        <p:nvSpPr>
          <p:cNvPr id="11" name="Rounded Rectangle 10"/>
          <p:cNvSpPr/>
          <p:nvPr/>
        </p:nvSpPr>
        <p:spPr>
          <a:xfrm>
            <a:off x="6382800" y="4428000"/>
            <a:ext cx="2790000" cy="917999"/>
          </a:xfrm>
          <a:prstGeom prst="roundRect">
            <a:avLst>
              <a:gd name="adj" fmla="val 10000"/>
            </a:avLst>
          </a:prstGeom>
          <a:solidFill>
            <a:srgbClr val="F4F7FF"/>
          </a:solidFill>
          <a:ln w="12700">
            <a:solidFill>
              <a:srgbClr val="D8D8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83600" y="4500000"/>
            <a:ext cx="2588400" cy="259200"/>
          </a:xfrm>
          <a:prstGeom prst="rect">
            <a:avLst/>
          </a:prstGeom>
          <a:noFill/>
        </p:spPr>
        <p:txBody>
          <a:bodyPr wrap="square" lIns="0" tIns="14400" rIns="0" bIns="14400" anchor="ctr">
            <a:spAutoFit/>
          </a:bodyPr>
          <a:lstStyle/>
          <a:p>
            <a:pPr algn="l">
              <a:lnSpc>
                <a:spcPct val="125000"/>
              </a:lnSpc>
            </a:pPr>
            <a:r>
              <a:rPr sz="1200" b="1">
                <a:solidFill>
                  <a:srgbClr val="002060"/>
                </a:solidFill>
                <a:latin typeface="メイリオ"/>
                <a:ea typeface="メイリオ"/>
                <a:cs typeface="メイリオ"/>
              </a:rPr>
              <a:t>③ 数値は「一般的な目安」と添える</a:t>
            </a:r>
          </a:p>
        </p:txBody>
      </p:sp>
      <p:sp>
        <p:nvSpPr>
          <p:cNvPr id="13" name="TextBox 12"/>
          <p:cNvSpPr txBox="1"/>
          <p:nvPr/>
        </p:nvSpPr>
        <p:spPr>
          <a:xfrm>
            <a:off x="6483600" y="4780800"/>
            <a:ext cx="2588400" cy="493199"/>
          </a:xfrm>
          <a:prstGeom prst="rect">
            <a:avLst/>
          </a:prstGeom>
          <a:noFill/>
        </p:spPr>
        <p:txBody>
          <a:bodyPr wrap="square" lIns="0" tIns="14400" rIns="0" bIns="14400" anchor="t">
            <a:spAutoFit/>
          </a:bodyPr>
          <a:lstStyle/>
          <a:p>
            <a:pPr algn="l">
              <a:lnSpc>
                <a:spcPct val="125000"/>
              </a:lnSpc>
            </a:pPr>
            <a:r>
              <a:rPr sz="1100" b="0">
                <a:solidFill>
                  <a:srgbClr val="1A1A2E"/>
                </a:solidFill>
                <a:latin typeface="メイリオ"/>
                <a:ea typeface="メイリオ"/>
                <a:cs typeface="メイリオ"/>
              </a:rPr>
              <a:t>出典を明記できない業界数値は</a:t>
            </a:r>
          </a:p>
          <a:p>
            <a:pPr algn="l">
              <a:lnSpc>
                <a:spcPct val="125000"/>
              </a:lnSpc>
            </a:pPr>
            <a:r>
              <a:rPr sz="1100" b="0">
                <a:solidFill>
                  <a:srgbClr val="1A1A2E"/>
                </a:solidFill>
                <a:latin typeface="メイリオ"/>
                <a:ea typeface="メイリオ"/>
                <a:cs typeface="メイリオ"/>
              </a:rPr>
              <a:t>断定しない。</a:t>
            </a:r>
          </a:p>
        </p:txBody>
      </p:sp>
      <p:sp>
        <p:nvSpPr>
          <p:cNvPr id="14" name="TextBox 13"/>
          <p:cNvSpPr txBox="1"/>
          <p:nvPr/>
        </p:nvSpPr>
        <p:spPr>
          <a:xfrm>
            <a:off x="385200" y="5490000"/>
            <a:ext cx="9133200" cy="360000"/>
          </a:xfrm>
          <a:prstGeom prst="rect">
            <a:avLst/>
          </a:prstGeom>
          <a:noFill/>
        </p:spPr>
        <p:txBody>
          <a:bodyPr wrap="square" lIns="0" tIns="14400" rIns="0" bIns="14400" anchor="ctr">
            <a:spAutoFit/>
          </a:bodyPr>
          <a:lstStyle/>
          <a:p>
            <a:pPr algn="ctr">
              <a:lnSpc>
                <a:spcPct val="125000"/>
              </a:lnSpc>
            </a:pPr>
            <a:r>
              <a:rPr sz="1400" b="1">
                <a:solidFill>
                  <a:srgbClr val="C00000"/>
                </a:solidFill>
                <a:latin typeface="メイリオ"/>
                <a:ea typeface="メイリオ"/>
                <a:cs typeface="メイリオ"/>
              </a:rPr>
              <a:t>入会前の14日で予約を取り、入会後の14日で「やめない形」を作る。この2本で1セット。</a:t>
            </a:r>
          </a:p>
        </p:txBody>
      </p:sp>
      <p:sp>
        <p:nvSpPr>
          <p:cNvPr id="15" name="TextBox 14"/>
          <p:cNvSpPr txBox="1"/>
          <p:nvPr/>
        </p:nvSpPr>
        <p:spPr>
          <a:xfrm>
            <a:off x="385200" y="5940000"/>
            <a:ext cx="9133200" cy="503999"/>
          </a:xfrm>
          <a:prstGeom prst="rect">
            <a:avLst/>
          </a:prstGeom>
          <a:noFill/>
        </p:spPr>
        <p:txBody>
          <a:bodyPr wrap="square" lIns="0" tIns="14400" rIns="0" bIns="14400" anchor="t">
            <a:spAutoFit/>
          </a:bodyPr>
          <a:lstStyle/>
          <a:p>
            <a:pPr algn="l">
              <a:lnSpc>
                <a:spcPct val="125000"/>
              </a:lnSpc>
            </a:pPr>
            <a:r>
              <a:rPr sz="900" b="0">
                <a:solidFill>
                  <a:srgbClr val="5A5A72"/>
                </a:solidFill>
                <a:latin typeface="メイリオ"/>
                <a:ea typeface="メイリオ"/>
                <a:cs typeface="メイリオ"/>
              </a:rPr>
              <a:t>※ 配信内容の数値（週2〜3回・48〜72時間・タンパク質20〜30g・効果の出る時期など）は一般的な目安です。</a:t>
            </a:r>
          </a:p>
          <a:p>
            <a:pPr algn="l">
              <a:lnSpc>
                <a:spcPct val="125000"/>
              </a:lnSpc>
            </a:pPr>
            <a:r>
              <a:rPr sz="900" b="0">
                <a:solidFill>
                  <a:srgbClr val="5A5A72"/>
                </a:solidFill>
                <a:latin typeface="メイリオ"/>
                <a:ea typeface="メイリオ"/>
                <a:cs typeface="メイリオ"/>
              </a:rPr>
              <a:t>※ CV③＝友だち紹介・PT／物販の申込。継続率・在籍月数はLINE側では計測できないため、貴社の会員管理システムのデータで前後比較いたします。</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リッチメニュー設計案｜3タブ × 6枠</a:t>
            </a:r>
          </a:p>
        </p:txBody>
      </p:sp>
      <p:sp>
        <p:nvSpPr>
          <p:cNvPr id="3" name="TextBox 2"/>
          <p:cNvSpPr txBox="1"/>
          <p:nvPr/>
        </p:nvSpPr>
        <p:spPr>
          <a:xfrm>
            <a:off x="384048" y="731520"/>
            <a:ext cx="9134856" cy="310896"/>
          </a:xfrm>
          <a:prstGeom prst="rect">
            <a:avLst/>
          </a:prstGeom>
          <a:noFill/>
        </p:spPr>
        <p:txBody>
          <a:bodyPr wrap="square" lIns="0" tIns="0" rIns="0" bIns="0">
            <a:spAutoFit/>
          </a:bodyPr>
          <a:lstStyle/>
          <a:p>
            <a:r>
              <a:rPr sz="1500" b="0">
                <a:solidFill>
                  <a:srgbClr val="646C82"/>
                </a:solidFill>
                <a:latin typeface="メイリオ"/>
                <a:ea typeface="メイリオ"/>
              </a:rPr>
              <a:t>「見学前」「迷い中」「会員」で、見せる画面を変える。入会後もLINEを使ってもらう。</a:t>
            </a:r>
          </a:p>
        </p:txBody>
      </p:sp>
      <p:sp>
        <p:nvSpPr>
          <p:cNvPr id="4" name="Rounded Rectangle 3"/>
          <p:cNvSpPr/>
          <p:nvPr/>
        </p:nvSpPr>
        <p:spPr>
          <a:xfrm>
            <a:off x="384048" y="1234440"/>
            <a:ext cx="2788920" cy="475488"/>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400" b="1">
                <a:solidFill>
                  <a:srgbClr val="FFFFFF"/>
                </a:solidFill>
                <a:latin typeface="メイリオ"/>
                <a:ea typeface="メイリオ"/>
              </a:rPr>
              <a:t>① 見学・体験</a:t>
            </a:r>
          </a:p>
        </p:txBody>
      </p:sp>
      <p:sp>
        <p:nvSpPr>
          <p:cNvPr id="5" name="TextBox 4"/>
          <p:cNvSpPr txBox="1"/>
          <p:nvPr/>
        </p:nvSpPr>
        <p:spPr>
          <a:xfrm>
            <a:off x="384048" y="1764792"/>
            <a:ext cx="2788920" cy="310896"/>
          </a:xfrm>
          <a:prstGeom prst="rect">
            <a:avLst/>
          </a:prstGeom>
          <a:noFill/>
        </p:spPr>
        <p:txBody>
          <a:bodyPr wrap="square" lIns="0" tIns="0" rIns="0" bIns="0">
            <a:spAutoFit/>
          </a:bodyPr>
          <a:lstStyle/>
          <a:p>
            <a:r>
              <a:rPr sz="900" b="0">
                <a:solidFill>
                  <a:srgbClr val="646C82"/>
                </a:solidFill>
                <a:latin typeface="メイリオ"/>
                <a:ea typeface="メイリオ"/>
              </a:rPr>
              <a:t>未入会のデフォルト</a:t>
            </a:r>
          </a:p>
        </p:txBody>
      </p:sp>
      <p:sp>
        <p:nvSpPr>
          <p:cNvPr id="6" name="Rounded Rectangle 5"/>
          <p:cNvSpPr/>
          <p:nvPr/>
        </p:nvSpPr>
        <p:spPr>
          <a:xfrm>
            <a:off x="3852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無料体験を予約</a:t>
            </a:r>
          </a:p>
          <a:p>
            <a:pPr algn="ctr">
              <a:spcBef>
                <a:spcPts val="200"/>
              </a:spcBef>
            </a:pPr>
            <a:r>
              <a:rPr sz="1000" b="0">
                <a:solidFill>
                  <a:srgbClr val="1C2233"/>
                </a:solidFill>
                <a:latin typeface="メイリオ"/>
                <a:ea typeface="メイリオ"/>
              </a:rPr>
              <a:t>最重要CTA</a:t>
            </a:r>
          </a:p>
        </p:txBody>
      </p:sp>
      <p:sp>
        <p:nvSpPr>
          <p:cNvPr id="7" name="Rounded Rectangle 6"/>
          <p:cNvSpPr/>
          <p:nvPr/>
        </p:nvSpPr>
        <p:spPr>
          <a:xfrm>
            <a:off x="13284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店舗を探す</a:t>
            </a:r>
          </a:p>
          <a:p>
            <a:pPr algn="ctr">
              <a:spcBef>
                <a:spcPts val="200"/>
              </a:spcBef>
            </a:pPr>
            <a:r>
              <a:rPr sz="1000" b="0">
                <a:solidFill>
                  <a:srgbClr val="1C2233"/>
                </a:solidFill>
                <a:latin typeface="メイリオ"/>
                <a:ea typeface="メイリオ"/>
              </a:rPr>
              <a:t>立地が決め手</a:t>
            </a:r>
          </a:p>
        </p:txBody>
      </p:sp>
      <p:sp>
        <p:nvSpPr>
          <p:cNvPr id="8" name="Rounded Rectangle 7"/>
          <p:cNvSpPr/>
          <p:nvPr/>
        </p:nvSpPr>
        <p:spPr>
          <a:xfrm>
            <a:off x="22716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設備・マシン</a:t>
            </a:r>
          </a:p>
          <a:p>
            <a:pPr algn="ctr">
              <a:spcBef>
                <a:spcPts val="200"/>
              </a:spcBef>
            </a:pPr>
            <a:r>
              <a:rPr sz="1000" b="0">
                <a:solidFill>
                  <a:srgbClr val="1C2233"/>
                </a:solidFill>
                <a:latin typeface="メイリオ"/>
                <a:ea typeface="メイリオ"/>
              </a:rPr>
              <a:t>使えるか不安</a:t>
            </a:r>
          </a:p>
        </p:txBody>
      </p:sp>
      <p:sp>
        <p:nvSpPr>
          <p:cNvPr id="9" name="Rounded Rectangle 8"/>
          <p:cNvSpPr/>
          <p:nvPr/>
        </p:nvSpPr>
        <p:spPr>
          <a:xfrm>
            <a:off x="3852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料金プラン</a:t>
            </a:r>
          </a:p>
          <a:p>
            <a:pPr algn="ctr">
              <a:spcBef>
                <a:spcPts val="200"/>
              </a:spcBef>
            </a:pPr>
            <a:r>
              <a:rPr sz="1000" b="0">
                <a:solidFill>
                  <a:srgbClr val="1C2233"/>
                </a:solidFill>
                <a:latin typeface="メイリオ"/>
                <a:ea typeface="メイリオ"/>
              </a:rPr>
              <a:t>隠さない</a:t>
            </a:r>
          </a:p>
        </p:txBody>
      </p:sp>
      <p:sp>
        <p:nvSpPr>
          <p:cNvPr id="10" name="Rounded Rectangle 9"/>
          <p:cNvSpPr/>
          <p:nvPr/>
        </p:nvSpPr>
        <p:spPr>
          <a:xfrm>
            <a:off x="13284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24時間の使い方</a:t>
            </a:r>
          </a:p>
          <a:p>
            <a:pPr algn="ctr">
              <a:spcBef>
                <a:spcPts val="200"/>
              </a:spcBef>
            </a:pPr>
            <a:r>
              <a:rPr sz="1000" b="0">
                <a:solidFill>
                  <a:srgbClr val="1C2233"/>
                </a:solidFill>
                <a:latin typeface="メイリオ"/>
                <a:ea typeface="メイリオ"/>
              </a:rPr>
              <a:t>無人帯の不安</a:t>
            </a:r>
          </a:p>
        </p:txBody>
      </p:sp>
      <p:sp>
        <p:nvSpPr>
          <p:cNvPr id="11" name="Rounded Rectangle 10"/>
          <p:cNvSpPr/>
          <p:nvPr/>
        </p:nvSpPr>
        <p:spPr>
          <a:xfrm>
            <a:off x="22716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アクセス・駐車場</a:t>
            </a:r>
          </a:p>
          <a:p>
            <a:pPr algn="ctr">
              <a:spcBef>
                <a:spcPts val="200"/>
              </a:spcBef>
            </a:pPr>
            <a:r>
              <a:rPr sz="1000" b="0">
                <a:solidFill>
                  <a:srgbClr val="1C2233"/>
                </a:solidFill>
                <a:latin typeface="メイリオ"/>
                <a:ea typeface="メイリオ"/>
              </a:rPr>
              <a:t>直前の実務</a:t>
            </a:r>
          </a:p>
        </p:txBody>
      </p:sp>
      <p:sp>
        <p:nvSpPr>
          <p:cNvPr id="12" name="Rounded Rectangle 11"/>
          <p:cNvSpPr/>
          <p:nvPr/>
        </p:nvSpPr>
        <p:spPr>
          <a:xfrm>
            <a:off x="3383279" y="1234440"/>
            <a:ext cx="2788920" cy="475488"/>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400" b="1">
                <a:solidFill>
                  <a:srgbClr val="FFFFFF"/>
                </a:solidFill>
                <a:latin typeface="メイリオ"/>
                <a:ea typeface="メイリオ"/>
              </a:rPr>
              <a:t>② 診断・シミュレーター</a:t>
            </a:r>
          </a:p>
        </p:txBody>
      </p:sp>
      <p:sp>
        <p:nvSpPr>
          <p:cNvPr id="13" name="TextBox 12"/>
          <p:cNvSpPr txBox="1"/>
          <p:nvPr/>
        </p:nvSpPr>
        <p:spPr>
          <a:xfrm>
            <a:off x="3383279" y="1764792"/>
            <a:ext cx="2788920" cy="310896"/>
          </a:xfrm>
          <a:prstGeom prst="rect">
            <a:avLst/>
          </a:prstGeom>
          <a:noFill/>
        </p:spPr>
        <p:txBody>
          <a:bodyPr wrap="square" lIns="0" tIns="0" rIns="0" bIns="0">
            <a:spAutoFit/>
          </a:bodyPr>
          <a:lstStyle/>
          <a:p>
            <a:r>
              <a:rPr sz="900" b="0">
                <a:solidFill>
                  <a:srgbClr val="646C82"/>
                </a:solidFill>
                <a:latin typeface="メイリオ"/>
                <a:ea typeface="メイリオ"/>
              </a:rPr>
              <a:t>迷っている人</a:t>
            </a:r>
          </a:p>
        </p:txBody>
      </p:sp>
      <p:sp>
        <p:nvSpPr>
          <p:cNvPr id="14" name="Rounded Rectangle 13"/>
          <p:cNvSpPr/>
          <p:nvPr/>
        </p:nvSpPr>
        <p:spPr>
          <a:xfrm>
            <a:off x="33840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30秒 体づくり診断</a:t>
            </a:r>
          </a:p>
          <a:p>
            <a:pPr algn="ctr">
              <a:spcBef>
                <a:spcPts val="200"/>
              </a:spcBef>
            </a:pPr>
            <a:r>
              <a:rPr sz="1000" b="0">
                <a:solidFill>
                  <a:srgbClr val="1C2233"/>
                </a:solidFill>
                <a:latin typeface="メイリオ"/>
                <a:ea typeface="メイリオ"/>
              </a:rPr>
              <a:t>属性取得の本体</a:t>
            </a:r>
          </a:p>
        </p:txBody>
      </p:sp>
      <p:sp>
        <p:nvSpPr>
          <p:cNvPr id="15" name="Rounded Rectangle 14"/>
          <p:cNvSpPr/>
          <p:nvPr/>
        </p:nvSpPr>
        <p:spPr>
          <a:xfrm>
            <a:off x="43272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1分 料金診断</a:t>
            </a:r>
          </a:p>
          <a:p>
            <a:pPr algn="ctr">
              <a:spcBef>
                <a:spcPts val="200"/>
              </a:spcBef>
            </a:pPr>
            <a:r>
              <a:rPr sz="1000" b="0">
                <a:solidFill>
                  <a:srgbClr val="1C2233"/>
                </a:solidFill>
                <a:latin typeface="メイリオ"/>
                <a:ea typeface="メイリオ"/>
              </a:rPr>
              <a:t>1回あたりで見せる</a:t>
            </a:r>
          </a:p>
        </p:txBody>
      </p:sp>
      <p:sp>
        <p:nvSpPr>
          <p:cNvPr id="16" name="Rounded Rectangle 15"/>
          <p:cNvSpPr/>
          <p:nvPr/>
        </p:nvSpPr>
        <p:spPr>
          <a:xfrm>
            <a:off x="52704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初心者メニュー</a:t>
            </a:r>
          </a:p>
          <a:p>
            <a:pPr algn="ctr">
              <a:spcBef>
                <a:spcPts val="200"/>
              </a:spcBef>
            </a:pPr>
            <a:r>
              <a:rPr sz="1000" b="0">
                <a:solidFill>
                  <a:srgbClr val="1C2233"/>
                </a:solidFill>
                <a:latin typeface="メイリオ"/>
                <a:ea typeface="メイリオ"/>
              </a:rPr>
              <a:t>最多の不安</a:t>
            </a:r>
          </a:p>
        </p:txBody>
      </p:sp>
      <p:sp>
        <p:nvSpPr>
          <p:cNvPr id="17" name="Rounded Rectangle 16"/>
          <p:cNvSpPr/>
          <p:nvPr/>
        </p:nvSpPr>
        <p:spPr>
          <a:xfrm>
            <a:off x="33840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続けられるか診断</a:t>
            </a:r>
          </a:p>
          <a:p>
            <a:pPr algn="ctr">
              <a:spcBef>
                <a:spcPts val="200"/>
              </a:spcBef>
            </a:pPr>
            <a:r>
              <a:rPr sz="1000" b="0">
                <a:solidFill>
                  <a:srgbClr val="1C2233"/>
                </a:solidFill>
                <a:latin typeface="メイリオ"/>
                <a:ea typeface="メイリオ"/>
              </a:rPr>
              <a:t>「続かない」に直撃</a:t>
            </a:r>
          </a:p>
        </p:txBody>
      </p:sp>
      <p:sp>
        <p:nvSpPr>
          <p:cNvPr id="18" name="Rounded Rectangle 17"/>
          <p:cNvSpPr/>
          <p:nvPr/>
        </p:nvSpPr>
        <p:spPr>
          <a:xfrm>
            <a:off x="43272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よくある質問</a:t>
            </a:r>
          </a:p>
          <a:p>
            <a:pPr algn="ctr">
              <a:spcBef>
                <a:spcPts val="200"/>
              </a:spcBef>
            </a:pPr>
            <a:r>
              <a:rPr sz="1000" b="0">
                <a:solidFill>
                  <a:srgbClr val="1C2233"/>
                </a:solidFill>
                <a:latin typeface="メイリオ"/>
                <a:ea typeface="メイリオ"/>
              </a:rPr>
              <a:t>勧誘・解約</a:t>
            </a:r>
          </a:p>
        </p:txBody>
      </p:sp>
      <p:sp>
        <p:nvSpPr>
          <p:cNvPr id="19" name="Rounded Rectangle 18"/>
          <p:cNvSpPr/>
          <p:nvPr/>
        </p:nvSpPr>
        <p:spPr>
          <a:xfrm>
            <a:off x="52704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チャットで相談</a:t>
            </a:r>
          </a:p>
          <a:p>
            <a:pPr algn="ctr">
              <a:spcBef>
                <a:spcPts val="200"/>
              </a:spcBef>
            </a:pPr>
            <a:r>
              <a:rPr sz="1000" b="0">
                <a:solidFill>
                  <a:srgbClr val="1C2233"/>
                </a:solidFill>
                <a:latin typeface="メイリオ"/>
                <a:ea typeface="メイリオ"/>
              </a:rPr>
              <a:t>有人への逃げ道</a:t>
            </a:r>
          </a:p>
        </p:txBody>
      </p:sp>
      <p:sp>
        <p:nvSpPr>
          <p:cNvPr id="20" name="Rounded Rectangle 19"/>
          <p:cNvSpPr/>
          <p:nvPr/>
        </p:nvSpPr>
        <p:spPr>
          <a:xfrm>
            <a:off x="6382512" y="1234440"/>
            <a:ext cx="2788920" cy="475488"/>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400" b="1">
                <a:solidFill>
                  <a:srgbClr val="FFFFFF"/>
                </a:solidFill>
                <a:latin typeface="メイリオ"/>
                <a:ea typeface="メイリオ"/>
              </a:rPr>
              <a:t>③ 会員の方へ</a:t>
            </a:r>
          </a:p>
        </p:txBody>
      </p:sp>
      <p:sp>
        <p:nvSpPr>
          <p:cNvPr id="21" name="TextBox 20"/>
          <p:cNvSpPr txBox="1"/>
          <p:nvPr/>
        </p:nvSpPr>
        <p:spPr>
          <a:xfrm>
            <a:off x="6382512" y="1764792"/>
            <a:ext cx="2788920" cy="310896"/>
          </a:xfrm>
          <a:prstGeom prst="rect">
            <a:avLst/>
          </a:prstGeom>
          <a:noFill/>
        </p:spPr>
        <p:txBody>
          <a:bodyPr wrap="square" lIns="0" tIns="0" rIns="0" bIns="0">
            <a:spAutoFit/>
          </a:bodyPr>
          <a:lstStyle/>
          <a:p>
            <a:r>
              <a:rPr sz="900" b="0">
                <a:solidFill>
                  <a:srgbClr val="646C82"/>
                </a:solidFill>
                <a:latin typeface="メイリオ"/>
                <a:ea typeface="メイリオ"/>
              </a:rPr>
              <a:t>入会後に自動切替</a:t>
            </a:r>
          </a:p>
        </p:txBody>
      </p:sp>
      <p:sp>
        <p:nvSpPr>
          <p:cNvPr id="22" name="Rounded Rectangle 21"/>
          <p:cNvSpPr/>
          <p:nvPr/>
        </p:nvSpPr>
        <p:spPr>
          <a:xfrm>
            <a:off x="63828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会員コード</a:t>
            </a:r>
          </a:p>
          <a:p>
            <a:pPr algn="ctr">
              <a:spcBef>
                <a:spcPts val="200"/>
              </a:spcBef>
            </a:pPr>
            <a:r>
              <a:rPr sz="1000" b="0">
                <a:solidFill>
                  <a:srgbClr val="1C2233"/>
                </a:solidFill>
                <a:latin typeface="メイリオ"/>
                <a:ea typeface="メイリオ"/>
              </a:rPr>
              <a:t>毎日開く理由</a:t>
            </a:r>
          </a:p>
        </p:txBody>
      </p:sp>
      <p:sp>
        <p:nvSpPr>
          <p:cNvPr id="23" name="Rounded Rectangle 22"/>
          <p:cNvSpPr/>
          <p:nvPr/>
        </p:nvSpPr>
        <p:spPr>
          <a:xfrm>
            <a:off x="73260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レッスン予約</a:t>
            </a:r>
          </a:p>
          <a:p>
            <a:pPr algn="ctr">
              <a:spcBef>
                <a:spcPts val="200"/>
              </a:spcBef>
            </a:pPr>
            <a:r>
              <a:rPr sz="1000" b="0">
                <a:solidFill>
                  <a:srgbClr val="1C2233"/>
                </a:solidFill>
                <a:latin typeface="メイリオ"/>
                <a:ea typeface="メイリオ"/>
              </a:rPr>
              <a:t>来館の動機</a:t>
            </a:r>
          </a:p>
        </p:txBody>
      </p:sp>
      <p:sp>
        <p:nvSpPr>
          <p:cNvPr id="24" name="Rounded Rectangle 23"/>
          <p:cNvSpPr/>
          <p:nvPr/>
        </p:nvSpPr>
        <p:spPr>
          <a:xfrm>
            <a:off x="82692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トレーニング記録</a:t>
            </a:r>
          </a:p>
          <a:p>
            <a:pPr algn="ctr">
              <a:spcBef>
                <a:spcPts val="200"/>
              </a:spcBef>
            </a:pPr>
            <a:r>
              <a:rPr sz="1000" b="0">
                <a:solidFill>
                  <a:srgbClr val="1C2233"/>
                </a:solidFill>
                <a:latin typeface="メイリオ"/>
                <a:ea typeface="メイリオ"/>
              </a:rPr>
              <a:t>継続の可視化</a:t>
            </a:r>
          </a:p>
        </p:txBody>
      </p:sp>
      <p:sp>
        <p:nvSpPr>
          <p:cNvPr id="25" name="Rounded Rectangle 24"/>
          <p:cNvSpPr/>
          <p:nvPr/>
        </p:nvSpPr>
        <p:spPr>
          <a:xfrm>
            <a:off x="63828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混雑状況</a:t>
            </a:r>
          </a:p>
          <a:p>
            <a:pPr algn="ctr">
              <a:spcBef>
                <a:spcPts val="200"/>
              </a:spcBef>
            </a:pPr>
            <a:r>
              <a:rPr sz="1000" b="0">
                <a:solidFill>
                  <a:srgbClr val="1C2233"/>
                </a:solidFill>
                <a:latin typeface="メイリオ"/>
                <a:ea typeface="メイリオ"/>
              </a:rPr>
              <a:t>来館ハードル減</a:t>
            </a:r>
          </a:p>
        </p:txBody>
      </p:sp>
      <p:sp>
        <p:nvSpPr>
          <p:cNvPr id="26" name="Rounded Rectangle 25"/>
          <p:cNvSpPr/>
          <p:nvPr/>
        </p:nvSpPr>
        <p:spPr>
          <a:xfrm>
            <a:off x="73260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お友達紹介</a:t>
            </a:r>
          </a:p>
          <a:p>
            <a:pPr algn="ctr">
              <a:spcBef>
                <a:spcPts val="200"/>
              </a:spcBef>
            </a:pPr>
            <a:r>
              <a:rPr sz="1000" b="0">
                <a:solidFill>
                  <a:srgbClr val="1C2233"/>
                </a:solidFill>
                <a:latin typeface="メイリオ"/>
                <a:ea typeface="メイリオ"/>
              </a:rPr>
              <a:t>CV③・ゼロコスト</a:t>
            </a:r>
          </a:p>
        </p:txBody>
      </p:sp>
      <p:sp>
        <p:nvSpPr>
          <p:cNvPr id="27" name="Rounded Rectangle 26"/>
          <p:cNvSpPr/>
          <p:nvPr/>
        </p:nvSpPr>
        <p:spPr>
          <a:xfrm>
            <a:off x="82692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休会・退会</a:t>
            </a:r>
          </a:p>
          <a:p>
            <a:pPr algn="ctr">
              <a:spcBef>
                <a:spcPts val="200"/>
              </a:spcBef>
            </a:pPr>
            <a:r>
              <a:rPr sz="1000" b="0">
                <a:solidFill>
                  <a:srgbClr val="1C2233"/>
                </a:solidFill>
                <a:latin typeface="メイリオ"/>
                <a:ea typeface="メイリオ"/>
              </a:rPr>
              <a:t>隠さない＝信頼</a:t>
            </a:r>
          </a:p>
        </p:txBody>
      </p:sp>
      <p:sp>
        <p:nvSpPr>
          <p:cNvPr id="28" name="Rectangle 27"/>
          <p:cNvSpPr/>
          <p:nvPr/>
        </p:nvSpPr>
        <p:spPr>
          <a:xfrm>
            <a:off x="384048" y="5413247"/>
            <a:ext cx="54864" cy="566929"/>
          </a:xfrm>
          <a:prstGeom prst="rect">
            <a:avLst/>
          </a:prstGeom>
          <a:solidFill>
            <a:srgbClr val="BF4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429768" y="5413247"/>
            <a:ext cx="9089136" cy="566929"/>
          </a:xfrm>
          <a:prstGeom prst="rect">
            <a:avLst/>
          </a:prstGeom>
          <a:solidFill>
            <a:srgbClr val="FDEF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71500" y="5504687"/>
            <a:ext cx="8814816" cy="430887"/>
          </a:xfrm>
          <a:prstGeom prst="rect">
            <a:avLst/>
          </a:prstGeom>
          <a:noFill/>
        </p:spPr>
        <p:txBody>
          <a:bodyPr wrap="square" lIns="0" tIns="0" rIns="0" bIns="0">
            <a:spAutoFit/>
          </a:bodyPr>
          <a:lstStyle/>
          <a:p>
            <a:r>
              <a:rPr sz="1400" b="0" dirty="0">
                <a:solidFill>
                  <a:srgbClr val="1C2233"/>
                </a:solidFill>
                <a:latin typeface="メイリオ"/>
                <a:ea typeface="メイリオ"/>
              </a:rPr>
              <a:t>実装はLINEリッチメニュー大サイズ（2500×1686px）／3列×2行（1マス833×843px）。</a:t>
            </a:r>
            <a:endParaRPr lang="en-US" sz="1400" b="0" dirty="0">
              <a:solidFill>
                <a:srgbClr val="1C2233"/>
              </a:solidFill>
              <a:latin typeface="メイリオ"/>
              <a:ea typeface="メイリオ"/>
            </a:endParaRPr>
          </a:p>
          <a:p>
            <a:r>
              <a:rPr sz="1400" b="0" dirty="0" err="1">
                <a:solidFill>
                  <a:srgbClr val="1C2233"/>
                </a:solidFill>
                <a:latin typeface="メイリオ"/>
                <a:ea typeface="メイリオ"/>
              </a:rPr>
              <a:t>入会タグで</a:t>
            </a:r>
            <a:r>
              <a:rPr sz="1400" b="0" dirty="0">
                <a:solidFill>
                  <a:srgbClr val="1C2233"/>
                </a:solidFill>
                <a:latin typeface="メイリオ"/>
                <a:ea typeface="メイリオ"/>
              </a:rPr>
              <a:t>①→③</a:t>
            </a:r>
            <a:r>
              <a:rPr sz="1400" b="0" dirty="0" err="1">
                <a:solidFill>
                  <a:srgbClr val="1C2233"/>
                </a:solidFill>
                <a:latin typeface="メイリオ"/>
                <a:ea typeface="メイリオ"/>
              </a:rPr>
              <a:t>に自動切替</a:t>
            </a:r>
            <a:r>
              <a:rPr sz="1400" b="0" dirty="0">
                <a:solidFill>
                  <a:srgbClr val="1C2233"/>
                </a:solidFill>
                <a:latin typeface="メイリオ"/>
                <a:ea typeface="メイリオ"/>
              </a:rPr>
              <a:t>。</a:t>
            </a:r>
          </a:p>
        </p:txBody>
      </p:sp>
      <p:sp>
        <p:nvSpPr>
          <p:cNvPr id="31" name="TextBox 30"/>
          <p:cNvSpPr txBox="1"/>
          <p:nvPr/>
        </p:nvSpPr>
        <p:spPr>
          <a:xfrm>
            <a:off x="384048" y="6263640"/>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タブ③に「休会・退会の手続き」を置くのが要点。隠すと不信感になり、かえって解約されます。</a:t>
            </a:r>
          </a:p>
        </p:txBody>
      </p:sp>
      <p:pic>
        <p:nvPicPr>
          <p:cNvPr id="33" name="図 32">
            <a:extLst>
              <a:ext uri="{FF2B5EF4-FFF2-40B4-BE49-F238E27FC236}">
                <a16:creationId xmlns:a16="http://schemas.microsoft.com/office/drawing/2014/main" id="{D110590D-470C-755A-DA08-FD0F6B856E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8162" y="1234440"/>
            <a:ext cx="8849262" cy="3986783"/>
          </a:xfrm>
          <a:prstGeom prst="rect">
            <a:avLst/>
          </a:prstGeom>
        </p:spPr>
      </p:pic>
    </p:spTree>
    <p:extLst>
      <p:ext uri="{BB962C8B-B14F-4D97-AF65-F5344CB8AC3E}">
        <p14:creationId xmlns:p14="http://schemas.microsoft.com/office/powerpoint/2010/main" val="8279035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リッチメニュー実装イメージ｜3タブの実物</a:t>
            </a:r>
          </a:p>
        </p:txBody>
      </p:sp>
      <p:sp>
        <p:nvSpPr>
          <p:cNvPr id="3" name="TextBox 2"/>
          <p:cNvSpPr txBox="1"/>
          <p:nvPr/>
        </p:nvSpPr>
        <p:spPr>
          <a:xfrm>
            <a:off x="384048" y="857120"/>
            <a:ext cx="9134856" cy="553998"/>
          </a:xfrm>
          <a:prstGeom prst="rect">
            <a:avLst/>
          </a:prstGeom>
          <a:noFill/>
        </p:spPr>
        <p:txBody>
          <a:bodyPr wrap="square" lIns="0" tIns="0" rIns="0" bIns="0">
            <a:spAutoFit/>
          </a:bodyPr>
          <a:lstStyle/>
          <a:p>
            <a:r>
              <a:rPr b="0" dirty="0" err="1">
                <a:solidFill>
                  <a:srgbClr val="646C82"/>
                </a:solidFill>
                <a:latin typeface="メイリオ"/>
                <a:ea typeface="メイリオ"/>
              </a:rPr>
              <a:t>同じLINEでも、入会前と入会後で見える画面が切り替わる</a:t>
            </a:r>
            <a:r>
              <a:rPr b="0" dirty="0">
                <a:solidFill>
                  <a:srgbClr val="646C82"/>
                </a:solidFill>
                <a:latin typeface="メイリオ"/>
                <a:ea typeface="メイリオ"/>
              </a:rPr>
              <a:t>。</a:t>
            </a:r>
            <a:endParaRPr lang="en-US" b="0" dirty="0">
              <a:solidFill>
                <a:srgbClr val="646C82"/>
              </a:solidFill>
              <a:latin typeface="メイリオ"/>
              <a:ea typeface="メイリオ"/>
            </a:endParaRPr>
          </a:p>
          <a:p>
            <a:r>
              <a:rPr b="0" dirty="0" err="1">
                <a:solidFill>
                  <a:srgbClr val="646C82"/>
                </a:solidFill>
                <a:latin typeface="メイリオ"/>
                <a:ea typeface="メイリオ"/>
              </a:rPr>
              <a:t>入会後もLINEを使ってもらう設計</a:t>
            </a:r>
            <a:r>
              <a:rPr b="0" dirty="0">
                <a:solidFill>
                  <a:srgbClr val="646C82"/>
                </a:solidFill>
                <a:latin typeface="メイリオ"/>
                <a:ea typeface="メイリオ"/>
              </a:rPr>
              <a:t>。</a:t>
            </a:r>
          </a:p>
        </p:txBody>
      </p:sp>
      <p:sp>
        <p:nvSpPr>
          <p:cNvPr id="4" name="Rounded Rectangle 3"/>
          <p:cNvSpPr/>
          <p:nvPr/>
        </p:nvSpPr>
        <p:spPr>
          <a:xfrm>
            <a:off x="384048" y="1596368"/>
            <a:ext cx="2788920" cy="475488"/>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400" b="1">
                <a:solidFill>
                  <a:srgbClr val="FFFFFF"/>
                </a:solidFill>
                <a:latin typeface="メイリオ"/>
                <a:ea typeface="メイリオ"/>
              </a:rPr>
              <a:t>① 見学・体験</a:t>
            </a:r>
          </a:p>
        </p:txBody>
      </p:sp>
      <p:sp>
        <p:nvSpPr>
          <p:cNvPr id="5" name="TextBox 4"/>
          <p:cNvSpPr txBox="1"/>
          <p:nvPr/>
        </p:nvSpPr>
        <p:spPr>
          <a:xfrm>
            <a:off x="384048" y="2126720"/>
            <a:ext cx="2788920" cy="310896"/>
          </a:xfrm>
          <a:prstGeom prst="rect">
            <a:avLst/>
          </a:prstGeom>
          <a:noFill/>
        </p:spPr>
        <p:txBody>
          <a:bodyPr wrap="square" lIns="0" tIns="0" rIns="0" bIns="0">
            <a:spAutoFit/>
          </a:bodyPr>
          <a:lstStyle/>
          <a:p>
            <a:r>
              <a:rPr sz="900" b="0">
                <a:solidFill>
                  <a:srgbClr val="646C82"/>
                </a:solidFill>
                <a:latin typeface="メイリオ"/>
                <a:ea typeface="メイリオ"/>
              </a:rPr>
              <a:t>未入会のデフォルト</a:t>
            </a:r>
          </a:p>
        </p:txBody>
      </p:sp>
      <p:sp>
        <p:nvSpPr>
          <p:cNvPr id="12" name="Rounded Rectangle 11"/>
          <p:cNvSpPr/>
          <p:nvPr/>
        </p:nvSpPr>
        <p:spPr>
          <a:xfrm>
            <a:off x="3383279" y="1596368"/>
            <a:ext cx="2788920" cy="475488"/>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400" b="1">
                <a:solidFill>
                  <a:srgbClr val="FFFFFF"/>
                </a:solidFill>
                <a:latin typeface="メイリオ"/>
                <a:ea typeface="メイリオ"/>
              </a:rPr>
              <a:t>② 診断・シミュレーター</a:t>
            </a:r>
          </a:p>
        </p:txBody>
      </p:sp>
      <p:sp>
        <p:nvSpPr>
          <p:cNvPr id="13" name="TextBox 12"/>
          <p:cNvSpPr txBox="1"/>
          <p:nvPr/>
        </p:nvSpPr>
        <p:spPr>
          <a:xfrm>
            <a:off x="3383279" y="2126720"/>
            <a:ext cx="2788920" cy="310896"/>
          </a:xfrm>
          <a:prstGeom prst="rect">
            <a:avLst/>
          </a:prstGeom>
          <a:noFill/>
        </p:spPr>
        <p:txBody>
          <a:bodyPr wrap="square" lIns="0" tIns="0" rIns="0" bIns="0">
            <a:spAutoFit/>
          </a:bodyPr>
          <a:lstStyle/>
          <a:p>
            <a:r>
              <a:rPr sz="900" b="0">
                <a:solidFill>
                  <a:srgbClr val="646C82"/>
                </a:solidFill>
                <a:latin typeface="メイリオ"/>
                <a:ea typeface="メイリオ"/>
              </a:rPr>
              <a:t>迷っている人</a:t>
            </a:r>
          </a:p>
        </p:txBody>
      </p:sp>
      <p:sp>
        <p:nvSpPr>
          <p:cNvPr id="20" name="Rounded Rectangle 19"/>
          <p:cNvSpPr/>
          <p:nvPr/>
        </p:nvSpPr>
        <p:spPr>
          <a:xfrm>
            <a:off x="6382512" y="1596368"/>
            <a:ext cx="2788920" cy="475488"/>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400" b="1">
                <a:solidFill>
                  <a:srgbClr val="FFFFFF"/>
                </a:solidFill>
                <a:latin typeface="メイリオ"/>
                <a:ea typeface="メイリオ"/>
              </a:rPr>
              <a:t>③ 会員の方へ</a:t>
            </a:r>
          </a:p>
        </p:txBody>
      </p:sp>
      <p:sp>
        <p:nvSpPr>
          <p:cNvPr id="21" name="TextBox 20"/>
          <p:cNvSpPr txBox="1"/>
          <p:nvPr/>
        </p:nvSpPr>
        <p:spPr>
          <a:xfrm>
            <a:off x="6382512" y="2126720"/>
            <a:ext cx="2788920" cy="310896"/>
          </a:xfrm>
          <a:prstGeom prst="rect">
            <a:avLst/>
          </a:prstGeom>
          <a:noFill/>
        </p:spPr>
        <p:txBody>
          <a:bodyPr wrap="square" lIns="0" tIns="0" rIns="0" bIns="0">
            <a:spAutoFit/>
          </a:bodyPr>
          <a:lstStyle/>
          <a:p>
            <a:r>
              <a:rPr sz="900" b="0">
                <a:solidFill>
                  <a:srgbClr val="646C82"/>
                </a:solidFill>
                <a:latin typeface="メイリオ"/>
                <a:ea typeface="メイリオ"/>
              </a:rPr>
              <a:t>入会後に自動切替</a:t>
            </a:r>
          </a:p>
        </p:txBody>
      </p:sp>
      <p:sp>
        <p:nvSpPr>
          <p:cNvPr id="28" name="Rectangle 27"/>
          <p:cNvSpPr/>
          <p:nvPr/>
        </p:nvSpPr>
        <p:spPr>
          <a:xfrm>
            <a:off x="384048" y="5525392"/>
            <a:ext cx="54864" cy="475488"/>
          </a:xfrm>
          <a:prstGeom prst="rect">
            <a:avLst/>
          </a:prstGeom>
          <a:solidFill>
            <a:srgbClr val="BF4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429768" y="5525392"/>
            <a:ext cx="9089136" cy="475488"/>
          </a:xfrm>
          <a:prstGeom prst="rect">
            <a:avLst/>
          </a:prstGeom>
          <a:solidFill>
            <a:srgbClr val="FDEF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66928" y="5625976"/>
            <a:ext cx="8814816" cy="215444"/>
          </a:xfrm>
          <a:prstGeom prst="rect">
            <a:avLst/>
          </a:prstGeom>
          <a:noFill/>
        </p:spPr>
        <p:txBody>
          <a:bodyPr wrap="square" lIns="0" tIns="0" rIns="0" bIns="0">
            <a:spAutoFit/>
          </a:bodyPr>
          <a:lstStyle/>
          <a:p>
            <a:r>
              <a:rPr sz="1400" b="0">
                <a:solidFill>
                  <a:srgbClr val="1C2233"/>
                </a:solidFill>
                <a:latin typeface="メイリオ"/>
                <a:ea typeface="メイリオ"/>
              </a:rPr>
              <a:t>大サイズ2500×1686px／3列×2行（1マス833×843px）。入会タグで①→③に自動切替。</a:t>
            </a:r>
          </a:p>
        </p:txBody>
      </p:sp>
      <p:sp>
        <p:nvSpPr>
          <p:cNvPr id="31" name="TextBox 30"/>
          <p:cNvSpPr txBox="1"/>
          <p:nvPr/>
        </p:nvSpPr>
        <p:spPr>
          <a:xfrm>
            <a:off x="384048" y="6284344"/>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画像はイメージです。実装時は店舗写真・ブランドカラー・アイコンを貴社仕様に差し替えます。</a:t>
            </a:r>
          </a:p>
        </p:txBody>
      </p:sp>
      <p:pic>
        <p:nvPicPr>
          <p:cNvPr id="32" name="Picture 31" descr="ジム_リッチメニュー_1_見学体験.png"/>
          <p:cNvPicPr>
            <a:picLocks noChangeAspect="1"/>
          </p:cNvPicPr>
          <p:nvPr/>
        </p:nvPicPr>
        <p:blipFill>
          <a:blip r:embed="rId2"/>
          <a:stretch>
            <a:fillRect/>
          </a:stretch>
        </p:blipFill>
        <p:spPr>
          <a:xfrm>
            <a:off x="384048" y="2521928"/>
            <a:ext cx="2788920" cy="1880847"/>
          </a:xfrm>
          <a:prstGeom prst="rect">
            <a:avLst/>
          </a:prstGeom>
        </p:spPr>
      </p:pic>
      <p:pic>
        <p:nvPicPr>
          <p:cNvPr id="33" name="Picture 32" descr="ジム_リッチメニュー_2_診断シミュレーター.png"/>
          <p:cNvPicPr>
            <a:picLocks noChangeAspect="1"/>
          </p:cNvPicPr>
          <p:nvPr/>
        </p:nvPicPr>
        <p:blipFill>
          <a:blip r:embed="rId3"/>
          <a:stretch>
            <a:fillRect/>
          </a:stretch>
        </p:blipFill>
        <p:spPr>
          <a:xfrm>
            <a:off x="3383279" y="2521928"/>
            <a:ext cx="2788920" cy="1880847"/>
          </a:xfrm>
          <a:prstGeom prst="rect">
            <a:avLst/>
          </a:prstGeom>
        </p:spPr>
      </p:pic>
      <p:pic>
        <p:nvPicPr>
          <p:cNvPr id="34" name="Picture 33" descr="ジム_リッチメニュー_3_会員の方へ.png"/>
          <p:cNvPicPr>
            <a:picLocks noChangeAspect="1"/>
          </p:cNvPicPr>
          <p:nvPr/>
        </p:nvPicPr>
        <p:blipFill>
          <a:blip r:embed="rId4"/>
          <a:stretch>
            <a:fillRect/>
          </a:stretch>
        </p:blipFill>
        <p:spPr>
          <a:xfrm>
            <a:off x="6382512" y="2521928"/>
            <a:ext cx="2788920" cy="1880847"/>
          </a:xfrm>
          <a:prstGeom prst="rect">
            <a:avLst/>
          </a:prstGeom>
        </p:spPr>
      </p:pic>
      <p:sp>
        <p:nvSpPr>
          <p:cNvPr id="35" name="TextBox 34"/>
          <p:cNvSpPr txBox="1"/>
          <p:nvPr/>
        </p:nvSpPr>
        <p:spPr>
          <a:xfrm>
            <a:off x="384048" y="4541928"/>
            <a:ext cx="2788920" cy="700000"/>
          </a:xfrm>
          <a:prstGeom prst="rect">
            <a:avLst/>
          </a:prstGeom>
          <a:noFill/>
        </p:spPr>
        <p:txBody>
          <a:bodyPr wrap="square">
            <a:spAutoFit/>
          </a:bodyPr>
          <a:lstStyle/>
          <a:p>
            <a:r>
              <a:rPr sz="1200">
                <a:solidFill>
                  <a:srgbClr val="404040"/>
                </a:solidFill>
                <a:latin typeface="メイリオ"/>
                <a:ea typeface="メイリオ"/>
              </a:rPr>
              <a:t>押してほしい1枠だけ色を変え、6枠を等価に並べない。</a:t>
            </a:r>
          </a:p>
        </p:txBody>
      </p:sp>
      <p:sp>
        <p:nvSpPr>
          <p:cNvPr id="36" name="TextBox 35"/>
          <p:cNvSpPr txBox="1"/>
          <p:nvPr/>
        </p:nvSpPr>
        <p:spPr>
          <a:xfrm>
            <a:off x="3383279" y="4541928"/>
            <a:ext cx="2788920" cy="700000"/>
          </a:xfrm>
          <a:prstGeom prst="rect">
            <a:avLst/>
          </a:prstGeom>
          <a:noFill/>
        </p:spPr>
        <p:txBody>
          <a:bodyPr wrap="square">
            <a:spAutoFit/>
          </a:bodyPr>
          <a:lstStyle/>
          <a:p>
            <a:r>
              <a:rPr sz="1200">
                <a:solidFill>
                  <a:srgbClr val="404040"/>
                </a:solidFill>
                <a:latin typeface="メイリオ"/>
                <a:ea typeface="メイリオ"/>
              </a:rPr>
              <a:t>診断で属性を取り、そのまま配信セグメントに変換する。</a:t>
            </a:r>
          </a:p>
        </p:txBody>
      </p:sp>
      <p:sp>
        <p:nvSpPr>
          <p:cNvPr id="37" name="TextBox 36"/>
          <p:cNvSpPr txBox="1"/>
          <p:nvPr/>
        </p:nvSpPr>
        <p:spPr>
          <a:xfrm>
            <a:off x="6382512" y="4541928"/>
            <a:ext cx="2788920" cy="461665"/>
          </a:xfrm>
          <a:prstGeom prst="rect">
            <a:avLst/>
          </a:prstGeom>
          <a:noFill/>
        </p:spPr>
        <p:txBody>
          <a:bodyPr wrap="square">
            <a:spAutoFit/>
          </a:bodyPr>
          <a:lstStyle/>
          <a:p>
            <a:r>
              <a:rPr sz="1200" dirty="0" err="1">
                <a:solidFill>
                  <a:srgbClr val="404040"/>
                </a:solidFill>
                <a:latin typeface="メイリオ"/>
                <a:ea typeface="メイリオ"/>
              </a:rPr>
              <a:t>入会後は機能を総入れ替え</a:t>
            </a:r>
            <a:r>
              <a:rPr sz="1200" dirty="0">
                <a:solidFill>
                  <a:srgbClr val="404040"/>
                </a:solidFill>
                <a:latin typeface="メイリオ"/>
                <a:ea typeface="メイリオ"/>
              </a:rPr>
              <a:t>。</a:t>
            </a:r>
            <a:endParaRPr lang="en-US" sz="1200" dirty="0">
              <a:solidFill>
                <a:srgbClr val="404040"/>
              </a:solidFill>
              <a:latin typeface="メイリオ"/>
              <a:ea typeface="メイリオ"/>
            </a:endParaRPr>
          </a:p>
          <a:p>
            <a:r>
              <a:rPr sz="1200" dirty="0" err="1">
                <a:solidFill>
                  <a:srgbClr val="404040"/>
                </a:solidFill>
                <a:latin typeface="メイリオ"/>
                <a:ea typeface="メイリオ"/>
              </a:rPr>
              <a:t>休会・退会も隠さない</a:t>
            </a:r>
            <a:r>
              <a:rPr sz="1200" dirty="0">
                <a:solidFill>
                  <a:srgbClr val="404040"/>
                </a:solidFill>
                <a:latin typeface="メイリオ"/>
                <a:ea typeface="メイリオ"/>
              </a:rPr>
              <a: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トーク画面設計案｜あいさつメッセージと30秒診断</a:t>
            </a:r>
          </a:p>
        </p:txBody>
      </p:sp>
      <p:sp>
        <p:nvSpPr>
          <p:cNvPr id="3" name="TextBox 2"/>
          <p:cNvSpPr txBox="1"/>
          <p:nvPr/>
        </p:nvSpPr>
        <p:spPr>
          <a:xfrm>
            <a:off x="384048" y="731520"/>
            <a:ext cx="9134856" cy="246221"/>
          </a:xfrm>
          <a:prstGeom prst="rect">
            <a:avLst/>
          </a:prstGeom>
          <a:noFill/>
        </p:spPr>
        <p:txBody>
          <a:bodyPr wrap="square" lIns="0" tIns="0" rIns="0" bIns="0">
            <a:spAutoFit/>
          </a:bodyPr>
          <a:lstStyle/>
          <a:p>
            <a:r>
              <a:rPr sz="1600" b="0" dirty="0">
                <a:solidFill>
                  <a:srgbClr val="646C82"/>
                </a:solidFill>
                <a:latin typeface="メイリオ"/>
                <a:ea typeface="メイリオ"/>
              </a:rPr>
              <a:t>1通目で無料体験と期限を見せる。迷っている人には、30秒診断を用意する。</a:t>
            </a:r>
          </a:p>
        </p:txBody>
      </p:sp>
      <p:sp>
        <p:nvSpPr>
          <p:cNvPr id="4" name="TextBox 3"/>
          <p:cNvSpPr txBox="1"/>
          <p:nvPr/>
        </p:nvSpPr>
        <p:spPr>
          <a:xfrm>
            <a:off x="384048" y="1188720"/>
            <a:ext cx="4389120" cy="310896"/>
          </a:xfrm>
          <a:prstGeom prst="rect">
            <a:avLst/>
          </a:prstGeom>
          <a:noFill/>
        </p:spPr>
        <p:txBody>
          <a:bodyPr wrap="square" lIns="0" tIns="0" rIns="0" bIns="0">
            <a:spAutoFit/>
          </a:bodyPr>
          <a:lstStyle/>
          <a:p>
            <a:r>
              <a:rPr sz="1200" b="1">
                <a:solidFill>
                  <a:srgbClr val="1F2A5C"/>
                </a:solidFill>
                <a:latin typeface="メイリオ"/>
                <a:ea typeface="メイリオ"/>
              </a:rPr>
              <a:t>■ 友だち追加直後のあいさつメッセージ（自動）</a:t>
            </a:r>
          </a:p>
        </p:txBody>
      </p:sp>
      <p:sp>
        <p:nvSpPr>
          <p:cNvPr id="5" name="Rounded Rectangle 4"/>
          <p:cNvSpPr/>
          <p:nvPr/>
        </p:nvSpPr>
        <p:spPr>
          <a:xfrm>
            <a:off x="384048" y="1517904"/>
            <a:ext cx="4389120" cy="2542032"/>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buNone/>
            </a:pPr>
            <a:r>
              <a:rPr lang="ja-JP" altLang="en-US" sz="1100" b="0" dirty="0">
                <a:solidFill>
                  <a:srgbClr val="1C2233"/>
                </a:solidFill>
                <a:latin typeface="メイリオ" panose="020B0604030504040204" pitchFamily="50" charset="-128"/>
                <a:ea typeface="メイリオ" panose="020B0604030504040204" pitchFamily="50" charset="-128"/>
              </a:rPr>
              <a:t>【〇〇フィットネス △△店】</a:t>
            </a:r>
            <a:endParaRPr lang="ja-JP" altLang="en-US" sz="1100" dirty="0"/>
          </a:p>
          <a:p>
            <a:pPr algn="l">
              <a:buNone/>
            </a:pPr>
            <a:r>
              <a:rPr lang="ja-JP" altLang="en-US" sz="1100" b="0" dirty="0">
                <a:solidFill>
                  <a:srgbClr val="1C2233"/>
                </a:solidFill>
                <a:latin typeface="メイリオ" panose="020B0604030504040204" pitchFamily="50" charset="-128"/>
                <a:ea typeface="メイリオ" panose="020B0604030504040204" pitchFamily="50" charset="-128"/>
              </a:rPr>
              <a:t>友だち追加ありがとうございます💪</a:t>
            </a:r>
            <a:endParaRPr lang="ja-JP" altLang="en-US" sz="1100" dirty="0"/>
          </a:p>
          <a:p>
            <a:pPr algn="l">
              <a:buNone/>
            </a:pPr>
            <a:endParaRPr lang="ja-JP" altLang="en-US" sz="1100" dirty="0"/>
          </a:p>
          <a:p>
            <a:pPr algn="l">
              <a:buNone/>
            </a:pPr>
            <a:r>
              <a:rPr lang="ja-JP" altLang="en-US" sz="1100" b="0" dirty="0">
                <a:solidFill>
                  <a:srgbClr val="1C2233"/>
                </a:solidFill>
                <a:latin typeface="メイリオ" panose="020B0604030504040204" pitchFamily="50" charset="-128"/>
                <a:ea typeface="メイリオ" panose="020B0604030504040204" pitchFamily="50" charset="-128"/>
              </a:rPr>
              <a:t>〇月〇日まで、無料体験を受付中です（見学だけでもOK）。</a:t>
            </a:r>
            <a:endParaRPr lang="ja-JP" altLang="en-US" sz="1100" dirty="0"/>
          </a:p>
          <a:p>
            <a:pPr algn="l">
              <a:buNone/>
            </a:pPr>
            <a:endParaRPr lang="ja-JP" altLang="en-US" sz="1100" dirty="0"/>
          </a:p>
          <a:p>
            <a:pPr algn="l">
              <a:buNone/>
            </a:pPr>
            <a:r>
              <a:rPr lang="ja-JP" altLang="en-US" sz="1100" b="0" dirty="0">
                <a:solidFill>
                  <a:srgbClr val="1C2233"/>
                </a:solidFill>
                <a:latin typeface="メイリオ" panose="020B0604030504040204" pitchFamily="50" charset="-128"/>
                <a:ea typeface="メイリオ" panose="020B0604030504040204" pitchFamily="50" charset="-128"/>
              </a:rPr>
              <a:t>「続けられるか不安」という方は、まずは</a:t>
            </a:r>
            <a:endParaRPr lang="ja-JP" altLang="en-US" sz="1100" dirty="0"/>
          </a:p>
          <a:p>
            <a:pPr algn="l">
              <a:buNone/>
            </a:pPr>
            <a:r>
              <a:rPr lang="ja-JP" altLang="en-US" sz="1100" b="0" dirty="0">
                <a:solidFill>
                  <a:srgbClr val="1C2233"/>
                </a:solidFill>
                <a:latin typeface="メイリオ" panose="020B0604030504040204" pitchFamily="50" charset="-128"/>
                <a:ea typeface="メイリオ" panose="020B0604030504040204" pitchFamily="50" charset="-128"/>
              </a:rPr>
              <a:t>▶ 30秒でわかる「体づくりタイプ診断」から。</a:t>
            </a:r>
            <a:endParaRPr lang="ja-JP" altLang="en-US" sz="1100" dirty="0"/>
          </a:p>
          <a:p>
            <a:pPr algn="l">
              <a:buNone/>
            </a:pPr>
            <a:endParaRPr lang="ja-JP" altLang="en-US" sz="1100" dirty="0"/>
          </a:p>
          <a:p>
            <a:pPr algn="l">
              <a:buNone/>
            </a:pPr>
            <a:r>
              <a:rPr lang="ja-JP" altLang="en-US" sz="1100" b="0" dirty="0">
                <a:solidFill>
                  <a:srgbClr val="1C2233"/>
                </a:solidFill>
                <a:latin typeface="メイリオ" panose="020B0604030504040204" pitchFamily="50" charset="-128"/>
                <a:ea typeface="メイリオ" panose="020B0604030504040204" pitchFamily="50" charset="-128"/>
              </a:rPr>
              <a:t>※ こちらから営業のお電話をすることはありません。</a:t>
            </a:r>
            <a:endParaRPr lang="ja-JP" altLang="en-US" sz="1100" dirty="0"/>
          </a:p>
          <a:p>
            <a:pPr algn="l">
              <a:buNone/>
            </a:pPr>
            <a:r>
              <a:rPr lang="ja-JP" altLang="en-US" sz="1100" b="0" dirty="0">
                <a:solidFill>
                  <a:srgbClr val="1C2233"/>
                </a:solidFill>
                <a:latin typeface="メイリオ" panose="020B0604030504040204" pitchFamily="50" charset="-128"/>
                <a:ea typeface="メイリオ" panose="020B0604030504040204" pitchFamily="50" charset="-128"/>
              </a:rPr>
              <a:t>ご質問はこのままトークで送ってください(10:00–20:00)</a:t>
            </a:r>
            <a:endParaRPr lang="ja-JP" altLang="en-US" sz="1100" dirty="0"/>
          </a:p>
        </p:txBody>
      </p:sp>
      <p:sp>
        <p:nvSpPr>
          <p:cNvPr id="6" name="Rounded Rectangle 5"/>
          <p:cNvSpPr/>
          <p:nvPr/>
        </p:nvSpPr>
        <p:spPr>
          <a:xfrm>
            <a:off x="384048" y="5157216"/>
            <a:ext cx="1463040" cy="658368"/>
          </a:xfrm>
          <a:prstGeom prst="roundRect">
            <a:avLst/>
          </a:prstGeom>
          <a:solidFill>
            <a:srgbClr val="F7F8FB"/>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000" b="0">
                <a:solidFill>
                  <a:srgbClr val="646C82"/>
                </a:solidFill>
                <a:latin typeface="メイリオ"/>
                <a:ea typeface="メイリオ"/>
              </a:rPr>
              <a:t>「営業電話しません」を</a:t>
            </a:r>
          </a:p>
          <a:p>
            <a:pPr algn="ctr">
              <a:spcBef>
                <a:spcPts val="0"/>
              </a:spcBef>
            </a:pPr>
            <a:r>
              <a:rPr sz="1000" b="0">
                <a:solidFill>
                  <a:srgbClr val="646C82"/>
                </a:solidFill>
                <a:latin typeface="メイリオ"/>
                <a:ea typeface="メイリオ"/>
              </a:rPr>
              <a:t>1通目に明記</a:t>
            </a:r>
          </a:p>
        </p:txBody>
      </p:sp>
      <p:sp>
        <p:nvSpPr>
          <p:cNvPr id="7" name="Rounded Rectangle 6"/>
          <p:cNvSpPr/>
          <p:nvPr/>
        </p:nvSpPr>
        <p:spPr>
          <a:xfrm>
            <a:off x="1847088" y="5157216"/>
            <a:ext cx="1463040" cy="658368"/>
          </a:xfrm>
          <a:prstGeom prst="roundRect">
            <a:avLst/>
          </a:prstGeom>
          <a:solidFill>
            <a:srgbClr val="F7F8FB"/>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000" b="0">
                <a:solidFill>
                  <a:srgbClr val="646C82"/>
                </a:solidFill>
                <a:latin typeface="メイリオ"/>
                <a:ea typeface="メイリオ"/>
              </a:rPr>
              <a:t>無料体験と期限は</a:t>
            </a:r>
          </a:p>
          <a:p>
            <a:pPr algn="ctr">
              <a:spcBef>
                <a:spcPts val="0"/>
              </a:spcBef>
            </a:pPr>
            <a:r>
              <a:rPr sz="1000" b="0">
                <a:solidFill>
                  <a:srgbClr val="646C82"/>
                </a:solidFill>
                <a:latin typeface="メイリオ"/>
                <a:ea typeface="メイリオ"/>
              </a:rPr>
              <a:t>バナーで見せる</a:t>
            </a:r>
          </a:p>
        </p:txBody>
      </p:sp>
      <p:sp>
        <p:nvSpPr>
          <p:cNvPr id="8" name="Rounded Rectangle 7"/>
          <p:cNvSpPr/>
          <p:nvPr/>
        </p:nvSpPr>
        <p:spPr>
          <a:xfrm>
            <a:off x="3310128" y="5157216"/>
            <a:ext cx="1463040" cy="658368"/>
          </a:xfrm>
          <a:prstGeom prst="roundRect">
            <a:avLst/>
          </a:prstGeom>
          <a:solidFill>
            <a:srgbClr val="F7F8FB"/>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000" b="0">
                <a:solidFill>
                  <a:srgbClr val="646C82"/>
                </a:solidFill>
                <a:latin typeface="メイリオ"/>
                <a:ea typeface="メイリオ"/>
              </a:rPr>
              <a:t>費用は「1回あたり」</a:t>
            </a:r>
          </a:p>
          <a:p>
            <a:pPr algn="ctr">
              <a:spcBef>
                <a:spcPts val="0"/>
              </a:spcBef>
            </a:pPr>
            <a:r>
              <a:rPr sz="1000" b="0">
                <a:solidFill>
                  <a:srgbClr val="646C82"/>
                </a:solidFill>
                <a:latin typeface="メイリオ"/>
                <a:ea typeface="メイリオ"/>
              </a:rPr>
              <a:t>で見せる</a:t>
            </a:r>
          </a:p>
        </p:txBody>
      </p:sp>
      <p:sp>
        <p:nvSpPr>
          <p:cNvPr id="9" name="TextBox 8"/>
          <p:cNvSpPr txBox="1"/>
          <p:nvPr/>
        </p:nvSpPr>
        <p:spPr>
          <a:xfrm>
            <a:off x="4983480" y="1188720"/>
            <a:ext cx="4535424" cy="310896"/>
          </a:xfrm>
          <a:prstGeom prst="rect">
            <a:avLst/>
          </a:prstGeom>
          <a:noFill/>
        </p:spPr>
        <p:txBody>
          <a:bodyPr wrap="square" lIns="0" tIns="0" rIns="0" bIns="0">
            <a:spAutoFit/>
          </a:bodyPr>
          <a:lstStyle/>
          <a:p>
            <a:r>
              <a:rPr sz="1200" b="1">
                <a:solidFill>
                  <a:srgbClr val="1F2A5C"/>
                </a:solidFill>
                <a:latin typeface="メイリオ"/>
                <a:ea typeface="メイリオ"/>
              </a:rPr>
              <a:t>■ 30秒 体づくりタイプ診断（4問すべて選択式）</a:t>
            </a:r>
          </a:p>
        </p:txBody>
      </p:sp>
      <p:sp>
        <p:nvSpPr>
          <p:cNvPr id="10" name="Rounded Rectangle 9"/>
          <p:cNvSpPr/>
          <p:nvPr/>
        </p:nvSpPr>
        <p:spPr>
          <a:xfrm>
            <a:off x="4983480" y="1517904"/>
            <a:ext cx="438912" cy="493776"/>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1">
                <a:solidFill>
                  <a:srgbClr val="FFFFFF"/>
                </a:solidFill>
                <a:latin typeface="メイリオ"/>
                <a:ea typeface="メイリオ"/>
              </a:rPr>
              <a:t>Q1</a:t>
            </a:r>
          </a:p>
        </p:txBody>
      </p:sp>
      <p:sp>
        <p:nvSpPr>
          <p:cNvPr id="11" name="Rounded Rectangle 10"/>
          <p:cNvSpPr/>
          <p:nvPr/>
        </p:nvSpPr>
        <p:spPr>
          <a:xfrm>
            <a:off x="5468112" y="1517904"/>
            <a:ext cx="4050791" cy="493776"/>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l"/>
            <a:r>
              <a:rPr sz="1000" b="0">
                <a:solidFill>
                  <a:srgbClr val="1C2233"/>
                </a:solidFill>
                <a:latin typeface="メイリオ"/>
                <a:ea typeface="メイリオ"/>
              </a:rPr>
              <a:t>いつから始めたいですか？</a:t>
            </a:r>
          </a:p>
          <a:p>
            <a:pPr algn="l">
              <a:spcBef>
                <a:spcPts val="0"/>
              </a:spcBef>
            </a:pPr>
            <a:r>
              <a:rPr sz="1000" b="0">
                <a:solidFill>
                  <a:srgbClr val="1C2233"/>
                </a:solidFill>
                <a:latin typeface="メイリオ"/>
                <a:ea typeface="メイリオ"/>
              </a:rPr>
              <a:t>今すぐ ／ 1ヶ月以内 ／ 2〜3ヶ月先 ／ 検討中</a:t>
            </a:r>
          </a:p>
        </p:txBody>
      </p:sp>
      <p:sp>
        <p:nvSpPr>
          <p:cNvPr id="12" name="Rounded Rectangle 11"/>
          <p:cNvSpPr/>
          <p:nvPr/>
        </p:nvSpPr>
        <p:spPr>
          <a:xfrm>
            <a:off x="4983480" y="2084831"/>
            <a:ext cx="438912" cy="493776"/>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1">
                <a:solidFill>
                  <a:srgbClr val="FFFFFF"/>
                </a:solidFill>
                <a:latin typeface="メイリオ"/>
                <a:ea typeface="メイリオ"/>
              </a:rPr>
              <a:t>Q2</a:t>
            </a:r>
          </a:p>
        </p:txBody>
      </p:sp>
      <p:sp>
        <p:nvSpPr>
          <p:cNvPr id="13" name="Rounded Rectangle 12"/>
          <p:cNvSpPr/>
          <p:nvPr/>
        </p:nvSpPr>
        <p:spPr>
          <a:xfrm>
            <a:off x="5468112" y="2084831"/>
            <a:ext cx="4050791" cy="493776"/>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l"/>
            <a:r>
              <a:rPr sz="1000" b="0">
                <a:solidFill>
                  <a:srgbClr val="1C2233"/>
                </a:solidFill>
                <a:latin typeface="メイリオ"/>
                <a:ea typeface="メイリオ"/>
              </a:rPr>
              <a:t>一番の目的は？</a:t>
            </a:r>
          </a:p>
          <a:p>
            <a:pPr algn="l">
              <a:spcBef>
                <a:spcPts val="0"/>
              </a:spcBef>
            </a:pPr>
            <a:r>
              <a:rPr sz="1000" b="0">
                <a:solidFill>
                  <a:srgbClr val="1C2233"/>
                </a:solidFill>
                <a:latin typeface="メイリオ"/>
                <a:ea typeface="メイリオ"/>
              </a:rPr>
              <a:t>ダイエット ／ 筋肉 ／ 健康維持 ／ 姿勢・肩こり</a:t>
            </a:r>
          </a:p>
        </p:txBody>
      </p:sp>
      <p:sp>
        <p:nvSpPr>
          <p:cNvPr id="14" name="Rounded Rectangle 13"/>
          <p:cNvSpPr/>
          <p:nvPr/>
        </p:nvSpPr>
        <p:spPr>
          <a:xfrm>
            <a:off x="4983480" y="2651760"/>
            <a:ext cx="438912" cy="493776"/>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1">
                <a:solidFill>
                  <a:srgbClr val="FFFFFF"/>
                </a:solidFill>
                <a:latin typeface="メイリオ"/>
                <a:ea typeface="メイリオ"/>
              </a:rPr>
              <a:t>Q3</a:t>
            </a:r>
          </a:p>
        </p:txBody>
      </p:sp>
      <p:sp>
        <p:nvSpPr>
          <p:cNvPr id="15" name="Rounded Rectangle 14"/>
          <p:cNvSpPr/>
          <p:nvPr/>
        </p:nvSpPr>
        <p:spPr>
          <a:xfrm>
            <a:off x="5468112" y="2651760"/>
            <a:ext cx="4050791" cy="493776"/>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l"/>
            <a:r>
              <a:rPr sz="1000" b="0">
                <a:solidFill>
                  <a:srgbClr val="1C2233"/>
                </a:solidFill>
                <a:latin typeface="メイリオ"/>
                <a:ea typeface="メイリオ"/>
              </a:rPr>
              <a:t>運動の経験は？</a:t>
            </a:r>
          </a:p>
          <a:p>
            <a:pPr algn="l">
              <a:spcBef>
                <a:spcPts val="0"/>
              </a:spcBef>
            </a:pPr>
            <a:r>
              <a:rPr sz="1000" b="0">
                <a:solidFill>
                  <a:srgbClr val="1C2233"/>
                </a:solidFill>
                <a:latin typeface="メイリオ"/>
                <a:ea typeface="メイリオ"/>
              </a:rPr>
              <a:t>まったく初めて ／ 昔やっていた ／ 運動中 ／ ジム経験あり</a:t>
            </a:r>
          </a:p>
        </p:txBody>
      </p:sp>
      <p:sp>
        <p:nvSpPr>
          <p:cNvPr id="16" name="Rounded Rectangle 15"/>
          <p:cNvSpPr/>
          <p:nvPr/>
        </p:nvSpPr>
        <p:spPr>
          <a:xfrm>
            <a:off x="4983480" y="3218687"/>
            <a:ext cx="438912" cy="493776"/>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1">
                <a:solidFill>
                  <a:srgbClr val="FFFFFF"/>
                </a:solidFill>
                <a:latin typeface="メイリオ"/>
                <a:ea typeface="メイリオ"/>
              </a:rPr>
              <a:t>Q4</a:t>
            </a:r>
          </a:p>
        </p:txBody>
      </p:sp>
      <p:sp>
        <p:nvSpPr>
          <p:cNvPr id="17" name="Rounded Rectangle 16"/>
          <p:cNvSpPr/>
          <p:nvPr/>
        </p:nvSpPr>
        <p:spPr>
          <a:xfrm>
            <a:off x="5468112" y="3218687"/>
            <a:ext cx="4050791" cy="493776"/>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l"/>
            <a:r>
              <a:rPr sz="1000" b="0">
                <a:solidFill>
                  <a:srgbClr val="1C2233"/>
                </a:solidFill>
                <a:latin typeface="メイリオ"/>
                <a:ea typeface="メイリオ"/>
              </a:rPr>
              <a:t>通えそうな頻度は？</a:t>
            </a:r>
          </a:p>
          <a:p>
            <a:pPr algn="l">
              <a:spcBef>
                <a:spcPts val="0"/>
              </a:spcBef>
            </a:pPr>
            <a:r>
              <a:rPr sz="1000" b="0">
                <a:solidFill>
                  <a:srgbClr val="1C2233"/>
                </a:solidFill>
                <a:latin typeface="メイリオ"/>
                <a:ea typeface="メイリオ"/>
              </a:rPr>
              <a:t>週1回 ／ 週2回 ／ 週3回以上 ／ わからない</a:t>
            </a:r>
          </a:p>
        </p:txBody>
      </p:sp>
      <p:sp>
        <p:nvSpPr>
          <p:cNvPr id="18" name="Rounded Rectangle 17"/>
          <p:cNvSpPr/>
          <p:nvPr/>
        </p:nvSpPr>
        <p:spPr>
          <a:xfrm>
            <a:off x="4983480" y="4088808"/>
            <a:ext cx="4535424" cy="1408176"/>
          </a:xfrm>
          <a:prstGeom prst="roundRect">
            <a:avLst/>
          </a:prstGeom>
          <a:solidFill>
            <a:srgbClr val="FDEFE2"/>
          </a:solidFill>
          <a:ln w="9525">
            <a:solidFill>
              <a:srgbClr val="BF4E0E"/>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000" b="0" dirty="0">
                <a:solidFill>
                  <a:srgbClr val="1C2233"/>
                </a:solidFill>
                <a:latin typeface="メイリオ"/>
                <a:ea typeface="メイリオ"/>
              </a:rPr>
              <a:t>＼</a:t>
            </a:r>
            <a:r>
              <a:rPr sz="1000" b="0" dirty="0" err="1">
                <a:solidFill>
                  <a:srgbClr val="1C2233"/>
                </a:solidFill>
                <a:latin typeface="メイリオ"/>
                <a:ea typeface="メイリオ"/>
              </a:rPr>
              <a:t>あなたは「コツコツ習慣化タイプ</a:t>
            </a:r>
            <a:r>
              <a:rPr sz="1000" b="0" dirty="0">
                <a:solidFill>
                  <a:srgbClr val="1C2233"/>
                </a:solidFill>
                <a:latin typeface="メイリオ"/>
                <a:ea typeface="メイリオ"/>
              </a:rPr>
              <a:t>」／</a:t>
            </a:r>
          </a:p>
          <a:p>
            <a:pPr algn="l">
              <a:spcBef>
                <a:spcPts val="100"/>
              </a:spcBef>
            </a:pPr>
            <a:r>
              <a:rPr sz="1000" b="0" dirty="0">
                <a:solidFill>
                  <a:srgbClr val="1C2233"/>
                </a:solidFill>
                <a:latin typeface="メイリオ"/>
                <a:ea typeface="メイリオ"/>
              </a:rPr>
              <a:t>まったく初めての方が、週2回から始めて結果を出しているパターンです。</a:t>
            </a:r>
          </a:p>
          <a:p>
            <a:pPr algn="l">
              <a:spcBef>
                <a:spcPts val="100"/>
              </a:spcBef>
            </a:pPr>
            <a:r>
              <a:rPr sz="1000" b="0" dirty="0">
                <a:solidFill>
                  <a:srgbClr val="1C2233"/>
                </a:solidFill>
                <a:latin typeface="メイリオ"/>
                <a:ea typeface="メイリオ"/>
              </a:rPr>
              <a:t>最初の1ヶ月はマシン3種類だけでOK🔰</a:t>
            </a:r>
          </a:p>
          <a:p>
            <a:pPr algn="l">
              <a:spcBef>
                <a:spcPts val="100"/>
              </a:spcBef>
            </a:pPr>
            <a:r>
              <a:rPr sz="1000" b="0" dirty="0">
                <a:solidFill>
                  <a:srgbClr val="1C2233"/>
                </a:solidFill>
                <a:latin typeface="メイリオ"/>
                <a:ea typeface="メイリオ"/>
              </a:rPr>
              <a:t>💰 週2回なら 1回あたり約1,000円（月会費8,000円 ÷ 月8回）</a:t>
            </a:r>
          </a:p>
          <a:p>
            <a:pPr algn="l">
              <a:spcBef>
                <a:spcPts val="100"/>
              </a:spcBef>
            </a:pPr>
            <a:r>
              <a:rPr sz="1000" b="0" dirty="0">
                <a:solidFill>
                  <a:srgbClr val="1C2233"/>
                </a:solidFill>
                <a:latin typeface="メイリオ"/>
                <a:ea typeface="メイリオ"/>
              </a:rPr>
              <a:t>▶ </a:t>
            </a:r>
            <a:r>
              <a:rPr sz="1000" b="0" dirty="0" err="1">
                <a:solidFill>
                  <a:srgbClr val="1C2233"/>
                </a:solidFill>
                <a:latin typeface="メイリオ"/>
                <a:ea typeface="メイリオ"/>
              </a:rPr>
              <a:t>見学だけでも大丈夫です／今週の体験枠を見る</a:t>
            </a:r>
            <a:endParaRPr sz="1000" b="0" dirty="0">
              <a:solidFill>
                <a:srgbClr val="1C2233"/>
              </a:solidFill>
              <a:latin typeface="メイリオ"/>
              <a:ea typeface="メイリオ"/>
            </a:endParaRPr>
          </a:p>
        </p:txBody>
      </p:sp>
      <p:sp>
        <p:nvSpPr>
          <p:cNvPr id="19" name="TextBox 18"/>
          <p:cNvSpPr txBox="1"/>
          <p:nvPr/>
        </p:nvSpPr>
        <p:spPr>
          <a:xfrm>
            <a:off x="4873925" y="5641706"/>
            <a:ext cx="6085591" cy="307777"/>
          </a:xfrm>
          <a:prstGeom prst="rect">
            <a:avLst/>
          </a:prstGeom>
          <a:noFill/>
        </p:spPr>
        <p:txBody>
          <a:bodyPr wrap="square" lIns="0" tIns="0" rIns="0" bIns="0">
            <a:spAutoFit/>
          </a:bodyPr>
          <a:lstStyle/>
          <a:p>
            <a:r>
              <a:rPr sz="1000" b="0" dirty="0" err="1">
                <a:solidFill>
                  <a:srgbClr val="1C2233"/>
                </a:solidFill>
                <a:latin typeface="メイリオ"/>
                <a:ea typeface="メイリオ"/>
              </a:rPr>
              <a:t>回答＝配信セグメントのタグ</a:t>
            </a:r>
            <a:r>
              <a:rPr sz="1000" b="0" dirty="0">
                <a:solidFill>
                  <a:srgbClr val="1C2233"/>
                </a:solidFill>
                <a:latin typeface="メイリオ"/>
                <a:ea typeface="メイリオ"/>
              </a:rPr>
              <a:t>。</a:t>
            </a:r>
            <a:endParaRPr lang="en-US" sz="1000" b="0" dirty="0">
              <a:solidFill>
                <a:srgbClr val="1C2233"/>
              </a:solidFill>
              <a:latin typeface="メイリオ"/>
              <a:ea typeface="メイリオ"/>
            </a:endParaRPr>
          </a:p>
          <a:p>
            <a:r>
              <a:rPr sz="1000" b="0" dirty="0">
                <a:solidFill>
                  <a:srgbClr val="1C2233"/>
                </a:solidFill>
                <a:latin typeface="メイリオ"/>
                <a:ea typeface="メイリオ"/>
              </a:rPr>
              <a:t>「月8,000円」より「1回1,000円」のほうが決裁が下りる。</a:t>
            </a:r>
          </a:p>
        </p:txBody>
      </p:sp>
      <p:sp>
        <p:nvSpPr>
          <p:cNvPr id="20" name="TextBox 19"/>
          <p:cNvSpPr txBox="1"/>
          <p:nvPr/>
        </p:nvSpPr>
        <p:spPr>
          <a:xfrm>
            <a:off x="384048" y="6300432"/>
            <a:ext cx="9134856" cy="310896"/>
          </a:xfrm>
          <a:prstGeom prst="rect">
            <a:avLst/>
          </a:prstGeom>
          <a:noFill/>
        </p:spPr>
        <p:txBody>
          <a:bodyPr wrap="square" lIns="0" tIns="0" rIns="0" bIns="0">
            <a:spAutoFit/>
          </a:bodyPr>
          <a:lstStyle/>
          <a:p>
            <a:r>
              <a:rPr sz="900" b="0" dirty="0">
                <a:solidFill>
                  <a:srgbClr val="646C82"/>
                </a:solidFill>
                <a:latin typeface="メイリオ"/>
                <a:ea typeface="メイリオ"/>
              </a:rPr>
              <a:t>※ </a:t>
            </a:r>
            <a:r>
              <a:rPr sz="900" b="0" dirty="0" err="1">
                <a:solidFill>
                  <a:srgbClr val="646C82"/>
                </a:solidFill>
                <a:latin typeface="メイリオ"/>
                <a:ea typeface="メイリオ"/>
              </a:rPr>
              <a:t>文面は貴社トーンに合わせて調整します。診断結果は回答の組み合わせでパターン分岐させます</a:t>
            </a:r>
            <a:r>
              <a:rPr sz="900" b="0" dirty="0">
                <a:solidFill>
                  <a:srgbClr val="646C82"/>
                </a:solidFill>
                <a:latin typeface="メイリオ"/>
                <a:ea typeface="メイリオ"/>
              </a:rPr>
              <a:t>。</a:t>
            </a:r>
          </a:p>
        </p:txBody>
      </p:sp>
      <p:sp>
        <p:nvSpPr>
          <p:cNvPr id="21" name="TextBox 20"/>
          <p:cNvSpPr txBox="1"/>
          <p:nvPr/>
        </p:nvSpPr>
        <p:spPr>
          <a:xfrm>
            <a:off x="6710903" y="6239880"/>
            <a:ext cx="2808000" cy="216000"/>
          </a:xfrm>
          <a:prstGeom prst="rect">
            <a:avLst/>
          </a:prstGeom>
          <a:noFill/>
        </p:spPr>
        <p:txBody>
          <a:bodyPr wrap="square" lIns="28800" tIns="10800" rIns="28800" bIns="10800">
            <a:spAutoFit/>
          </a:bodyPr>
          <a:lstStyle/>
          <a:p>
            <a:r>
              <a:rPr sz="1200" b="1" dirty="0">
                <a:solidFill>
                  <a:srgbClr val="BF4E0E"/>
                </a:solidFill>
                <a:latin typeface="メイリオ"/>
                <a:ea typeface="メイリオ"/>
              </a:rPr>
              <a:t>▶ </a:t>
            </a:r>
            <a:r>
              <a:rPr sz="1200" b="1" dirty="0" err="1">
                <a:solidFill>
                  <a:srgbClr val="BF4E0E"/>
                </a:solidFill>
                <a:latin typeface="メイリオ"/>
                <a:ea typeface="メイリオ"/>
              </a:rPr>
              <a:t>実物の画面イメージは次ページ</a:t>
            </a:r>
            <a:endParaRPr sz="1200" b="1" dirty="0">
              <a:solidFill>
                <a:srgbClr val="BF4E0E"/>
              </a:solidFill>
              <a:latin typeface="メイリオ"/>
            </a:endParaRPr>
          </a:p>
        </p:txBody>
      </p:sp>
      <p:sp>
        <p:nvSpPr>
          <p:cNvPr id="22" name="Rectangle 21"/>
          <p:cNvSpPr/>
          <p:nvPr/>
        </p:nvSpPr>
        <p:spPr>
          <a:xfrm>
            <a:off x="384048" y="4114800"/>
            <a:ext cx="4389120" cy="201168"/>
          </a:xfrm>
          <a:prstGeom prst="rect">
            <a:avLst/>
          </a:prstGeom>
          <a:noFill/>
          <a:ln>
            <a:noFill/>
          </a:ln>
        </p:spPr>
        <p:txBody>
          <a:bodyPr wrap="square" lIns="18288" tIns="0" rIns="0" bIns="0" rtlCol="0" anchor="ctr">
            <a:noAutofit/>
          </a:bodyPr>
          <a:lstStyle/>
          <a:p>
            <a:pPr algn="l">
              <a:buNone/>
            </a:pPr>
            <a:r>
              <a:rPr lang="ja-JP" altLang="en-US" sz="900" b="0" dirty="0">
                <a:solidFill>
                  <a:srgbClr val="646C82"/>
                </a:solidFill>
                <a:latin typeface="メイリオ" panose="020B0604030504040204" pitchFamily="50" charset="-128"/>
                <a:ea typeface="メイリオ" panose="020B0604030504040204" pitchFamily="50" charset="-128"/>
              </a:rPr>
              <a:t>▼ バナー画像（期限・特典は毎月替える）</a:t>
            </a:r>
            <a:endParaRPr lang="ja-JP" altLang="en-US" sz="900" dirty="0"/>
          </a:p>
        </p:txBody>
      </p:sp>
      <p:sp>
        <p:nvSpPr>
          <p:cNvPr id="23" name="Rounded Rectangle 22"/>
          <p:cNvSpPr/>
          <p:nvPr/>
        </p:nvSpPr>
        <p:spPr>
          <a:xfrm>
            <a:off x="384048" y="4325112"/>
            <a:ext cx="4389120" cy="713232"/>
          </a:xfrm>
          <a:prstGeom prst="roundRect">
            <a:avLst>
              <a:gd name="adj" fmla="val 10000"/>
            </a:avLst>
          </a:prstGeom>
          <a:solidFill>
            <a:srgbClr val="1F2A5C"/>
          </a:solidFill>
          <a:ln>
            <a:noFill/>
          </a:ln>
        </p:spPr>
        <p:txBody>
          <a:bodyPr wrap="square" lIns="128016" tIns="36576" rIns="1371600" bIns="36576" rtlCol="0" anchor="ctr">
            <a:noAutofit/>
          </a:bodyPr>
          <a:lstStyle/>
          <a:p>
            <a:pPr algn="l">
              <a:lnSpc>
                <a:spcPct val="105000"/>
              </a:lnSpc>
              <a:buNone/>
            </a:pPr>
            <a:r>
              <a:rPr lang="ja-JP" altLang="en-US" sz="1300" b="1" dirty="0">
                <a:solidFill>
                  <a:srgbClr val="FFFFFF"/>
                </a:solidFill>
                <a:latin typeface="メイリオ" panose="020B0604030504040204" pitchFamily="50" charset="-128"/>
                <a:ea typeface="メイリオ" panose="020B0604030504040204" pitchFamily="50" charset="-128"/>
              </a:rPr>
              <a:t>〇月〇日まで｜無料体験＋入会特典</a:t>
            </a:r>
            <a:endParaRPr lang="ja-JP" altLang="en-US" sz="1200" dirty="0"/>
          </a:p>
          <a:p>
            <a:pPr algn="l">
              <a:lnSpc>
                <a:spcPct val="105000"/>
              </a:lnSpc>
              <a:buNone/>
            </a:pPr>
            <a:r>
              <a:rPr lang="ja-JP" altLang="en-US" sz="1000" b="0" dirty="0">
                <a:solidFill>
                  <a:srgbClr val="FFFFFF"/>
                </a:solidFill>
                <a:latin typeface="メイリオ" panose="020B0604030504040204" pitchFamily="50" charset="-128"/>
                <a:ea typeface="メイリオ" panose="020B0604030504040204" pitchFamily="50" charset="-128"/>
              </a:rPr>
              <a:t>各店先着〇名・見学だけでもOK</a:t>
            </a:r>
            <a:endParaRPr lang="ja-JP" altLang="en-US" sz="1200" dirty="0"/>
          </a:p>
        </p:txBody>
      </p:sp>
      <p:sp>
        <p:nvSpPr>
          <p:cNvPr id="24" name="Rounded Rectangle 23"/>
          <p:cNvSpPr/>
          <p:nvPr/>
        </p:nvSpPr>
        <p:spPr>
          <a:xfrm>
            <a:off x="3456432" y="4498848"/>
            <a:ext cx="1170432" cy="365760"/>
          </a:xfrm>
          <a:prstGeom prst="roundRect">
            <a:avLst>
              <a:gd name="adj" fmla="val 30000"/>
            </a:avLst>
          </a:prstGeom>
          <a:solidFill>
            <a:srgbClr val="FFFFFF"/>
          </a:solidFill>
          <a:ln>
            <a:noFill/>
          </a:ln>
        </p:spPr>
        <p:txBody>
          <a:bodyPr wrap="square" lIns="18288" tIns="0" rIns="18288" bIns="0" rtlCol="0" anchor="ctr">
            <a:noAutofit/>
          </a:bodyPr>
          <a:lstStyle/>
          <a:p>
            <a:pPr algn="ctr">
              <a:buNone/>
            </a:pPr>
            <a:r>
              <a:rPr lang="ja-JP" altLang="en-US" sz="1100" b="1" dirty="0">
                <a:solidFill>
                  <a:srgbClr val="1F2A5C"/>
                </a:solidFill>
                <a:latin typeface="メイリオ" panose="020B0604030504040204" pitchFamily="50" charset="-128"/>
                <a:ea typeface="メイリオ" panose="020B0604030504040204" pitchFamily="50" charset="-128"/>
              </a:rPr>
              <a:t>予約する ▶</a:t>
            </a:r>
            <a:endParaRPr lang="ja-JP" altLang="en-US" sz="1100" dirty="0"/>
          </a:p>
        </p:txBody>
      </p:sp>
    </p:spTree>
    <p:extLst>
      <p:ext uri="{BB962C8B-B14F-4D97-AF65-F5344CB8AC3E}">
        <p14:creationId xmlns:p14="http://schemas.microsoft.com/office/powerpoint/2010/main" val="18893932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トーク画面イメージ｜友だち追加の直後に届く1通目</a:t>
            </a:r>
          </a:p>
        </p:txBody>
      </p:sp>
      <p:sp>
        <p:nvSpPr>
          <p:cNvPr id="3" name="TextBox 2"/>
          <p:cNvSpPr txBox="1"/>
          <p:nvPr/>
        </p:nvSpPr>
        <p:spPr>
          <a:xfrm>
            <a:off x="384048" y="731520"/>
            <a:ext cx="9134856" cy="246221"/>
          </a:xfrm>
          <a:prstGeom prst="rect">
            <a:avLst/>
          </a:prstGeom>
          <a:noFill/>
        </p:spPr>
        <p:txBody>
          <a:bodyPr wrap="square" lIns="0" tIns="0" rIns="0" bIns="0">
            <a:spAutoFit/>
          </a:bodyPr>
          <a:lstStyle/>
          <a:p>
            <a:r>
              <a:rPr sz="1600" b="0">
                <a:solidFill>
                  <a:srgbClr val="646C82"/>
                </a:solidFill>
                <a:latin typeface="メイリオ"/>
                <a:ea typeface="メイリオ"/>
              </a:rPr>
              <a:t>1通目で無料体験と期限を見せる。迷っている人には、30秒診断を用意する。</a:t>
            </a:r>
          </a:p>
        </p:txBody>
      </p:sp>
      <p:sp>
        <p:nvSpPr>
          <p:cNvPr id="19" name="TextBox 18"/>
          <p:cNvSpPr txBox="1"/>
          <p:nvPr/>
        </p:nvSpPr>
        <p:spPr>
          <a:xfrm>
            <a:off x="3407434" y="4900000"/>
            <a:ext cx="6092566" cy="430887"/>
          </a:xfrm>
          <a:prstGeom prst="rect">
            <a:avLst/>
          </a:prstGeom>
          <a:noFill/>
        </p:spPr>
        <p:txBody>
          <a:bodyPr wrap="square" lIns="0" tIns="0" rIns="0" bIns="0">
            <a:spAutoFit/>
          </a:bodyPr>
          <a:lstStyle/>
          <a:p>
            <a:r>
              <a:rPr sz="1400" b="0" dirty="0">
                <a:solidFill>
                  <a:srgbClr val="1C2233"/>
                </a:solidFill>
                <a:latin typeface="メイリオ"/>
                <a:ea typeface="メイリオ"/>
              </a:rPr>
              <a:t>この1通で「誰か」「</a:t>
            </a:r>
            <a:r>
              <a:rPr sz="1400" b="0" dirty="0" err="1">
                <a:solidFill>
                  <a:srgbClr val="1C2233"/>
                </a:solidFill>
                <a:latin typeface="メイリオ"/>
                <a:ea typeface="メイリオ"/>
              </a:rPr>
              <a:t>何をくれるか</a:t>
            </a:r>
            <a:r>
              <a:rPr sz="1400" b="0" dirty="0">
                <a:solidFill>
                  <a:srgbClr val="1C2233"/>
                </a:solidFill>
                <a:latin typeface="メイリオ"/>
                <a:ea typeface="メイリオ"/>
              </a:rPr>
              <a:t>」「売り込まないか」の3つに答える。</a:t>
            </a:r>
            <a:endParaRPr lang="en-US" sz="1400" b="0" dirty="0">
              <a:solidFill>
                <a:srgbClr val="1C2233"/>
              </a:solidFill>
              <a:latin typeface="メイリオ"/>
              <a:ea typeface="メイリオ"/>
            </a:endParaRPr>
          </a:p>
          <a:p>
            <a:r>
              <a:rPr sz="1400" b="0" dirty="0" err="1">
                <a:solidFill>
                  <a:srgbClr val="1C2233"/>
                </a:solidFill>
                <a:latin typeface="メイリオ"/>
                <a:ea typeface="メイリオ"/>
              </a:rPr>
              <a:t>ここで離脱すると以降の配信は全部届かない</a:t>
            </a:r>
            <a:r>
              <a:rPr sz="1400" b="0" dirty="0">
                <a:solidFill>
                  <a:srgbClr val="1C2233"/>
                </a:solidFill>
                <a:latin typeface="メイリオ"/>
                <a:ea typeface="メイリオ"/>
              </a:rPr>
              <a:t>。</a:t>
            </a:r>
          </a:p>
        </p:txBody>
      </p:sp>
      <p:sp>
        <p:nvSpPr>
          <p:cNvPr id="20" name="TextBox 19"/>
          <p:cNvSpPr txBox="1"/>
          <p:nvPr/>
        </p:nvSpPr>
        <p:spPr>
          <a:xfrm>
            <a:off x="384048" y="5897880"/>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画面はイメージです（診断の部分。無料体験のバナーは前ページ）。文面・配色・診断の設問は貴社トーンに合わせて調整します。</a:t>
            </a:r>
          </a:p>
        </p:txBody>
      </p:sp>
      <p:pic>
        <p:nvPicPr>
          <p:cNvPr id="21" name="Picture 20" descr="12_トーク画面モック_トリム.png"/>
          <p:cNvPicPr>
            <a:picLocks noChangeAspect="1"/>
          </p:cNvPicPr>
          <p:nvPr/>
        </p:nvPicPr>
        <p:blipFill>
          <a:blip r:embed="rId2"/>
          <a:stretch>
            <a:fillRect/>
          </a:stretch>
        </p:blipFill>
        <p:spPr>
          <a:xfrm>
            <a:off x="700000" y="1400000"/>
            <a:ext cx="1936170" cy="3500000"/>
          </a:xfrm>
          <a:prstGeom prst="rect">
            <a:avLst/>
          </a:prstGeom>
        </p:spPr>
      </p:pic>
      <p:sp>
        <p:nvSpPr>
          <p:cNvPr id="22" name="TextBox 21"/>
          <p:cNvSpPr txBox="1"/>
          <p:nvPr/>
        </p:nvSpPr>
        <p:spPr>
          <a:xfrm>
            <a:off x="3407434" y="1500000"/>
            <a:ext cx="6092566" cy="769441"/>
          </a:xfrm>
          <a:prstGeom prst="rect">
            <a:avLst/>
          </a:prstGeom>
          <a:noFill/>
        </p:spPr>
        <p:txBody>
          <a:bodyPr wrap="square">
            <a:spAutoFit/>
          </a:bodyPr>
          <a:lstStyle/>
          <a:p>
            <a:r>
              <a:rPr sz="1600" b="1" dirty="0">
                <a:solidFill>
                  <a:srgbClr val="1F2A5C"/>
                </a:solidFill>
                <a:latin typeface="メイリオ"/>
                <a:ea typeface="メイリオ"/>
              </a:rPr>
              <a:t>① 1通目に「営業電話をしない」と書く</a:t>
            </a:r>
          </a:p>
          <a:p>
            <a:r>
              <a:rPr sz="1400" b="0" dirty="0" err="1">
                <a:solidFill>
                  <a:srgbClr val="404040"/>
                </a:solidFill>
                <a:latin typeface="メイリオ"/>
                <a:ea typeface="メイリオ"/>
              </a:rPr>
              <a:t>押し売りへの拒否感が最も強い業界です</a:t>
            </a:r>
            <a:r>
              <a:rPr sz="1400" b="0" dirty="0">
                <a:solidFill>
                  <a:srgbClr val="404040"/>
                </a:solidFill>
                <a:latin typeface="メイリオ"/>
                <a:ea typeface="メイリオ"/>
              </a:rPr>
              <a:t>。</a:t>
            </a:r>
            <a:endParaRPr lang="en-US" sz="1400" b="0" dirty="0">
              <a:solidFill>
                <a:srgbClr val="404040"/>
              </a:solidFill>
              <a:latin typeface="メイリオ"/>
              <a:ea typeface="メイリオ"/>
            </a:endParaRPr>
          </a:p>
          <a:p>
            <a:r>
              <a:rPr sz="1400" b="0" dirty="0" err="1">
                <a:solidFill>
                  <a:srgbClr val="404040"/>
                </a:solidFill>
                <a:latin typeface="メイリオ"/>
                <a:ea typeface="メイリオ"/>
              </a:rPr>
              <a:t>先に明言することで、その後の質問と診断回答のハードルが下がります</a:t>
            </a:r>
            <a:r>
              <a:rPr sz="1400" b="0" dirty="0">
                <a:solidFill>
                  <a:srgbClr val="404040"/>
                </a:solidFill>
                <a:latin typeface="メイリオ"/>
                <a:ea typeface="メイリオ"/>
              </a:rPr>
              <a:t>。</a:t>
            </a:r>
          </a:p>
        </p:txBody>
      </p:sp>
      <p:sp>
        <p:nvSpPr>
          <p:cNvPr id="23" name="TextBox 22"/>
          <p:cNvSpPr txBox="1"/>
          <p:nvPr/>
        </p:nvSpPr>
        <p:spPr>
          <a:xfrm>
            <a:off x="3407434" y="2650000"/>
            <a:ext cx="6092566" cy="984885"/>
          </a:xfrm>
          <a:prstGeom prst="rect">
            <a:avLst/>
          </a:prstGeom>
          <a:noFill/>
        </p:spPr>
        <p:txBody>
          <a:bodyPr wrap="square">
            <a:spAutoFit/>
          </a:bodyPr>
          <a:lstStyle/>
          <a:p>
            <a:r>
              <a:rPr sz="1600" b="1" dirty="0">
                <a:solidFill>
                  <a:srgbClr val="1F2A5C"/>
                </a:solidFill>
                <a:latin typeface="メイリオ"/>
                <a:ea typeface="メイリオ"/>
              </a:rPr>
              <a:t>② </a:t>
            </a:r>
            <a:r>
              <a:rPr sz="1600" b="1" dirty="0" err="1">
                <a:solidFill>
                  <a:srgbClr val="1F2A5C"/>
                </a:solidFill>
                <a:latin typeface="メイリオ"/>
                <a:ea typeface="メイリオ"/>
              </a:rPr>
              <a:t>無料体験と期限は、バナーで見せる</a:t>
            </a:r>
            <a:endParaRPr sz="1600" b="1" dirty="0">
              <a:solidFill>
                <a:srgbClr val="1F2A5C"/>
              </a:solidFill>
              <a:latin typeface="メイリオ"/>
              <a:ea typeface="メイリオ"/>
            </a:endParaRPr>
          </a:p>
          <a:p>
            <a:r>
              <a:rPr sz="1400" b="0" dirty="0" err="1">
                <a:solidFill>
                  <a:srgbClr val="404040"/>
                </a:solidFill>
                <a:latin typeface="メイリオ"/>
                <a:ea typeface="メイリオ"/>
              </a:rPr>
              <a:t>今すぐの人は、そのまま体験予約へ</a:t>
            </a:r>
            <a:r>
              <a:rPr sz="1400" b="0" dirty="0">
                <a:solidFill>
                  <a:srgbClr val="404040"/>
                </a:solidFill>
                <a:latin typeface="メイリオ"/>
                <a:ea typeface="メイリオ"/>
              </a:rPr>
              <a:t>。</a:t>
            </a:r>
            <a:endParaRPr lang="en-US" sz="1400" b="0" dirty="0">
              <a:solidFill>
                <a:srgbClr val="404040"/>
              </a:solidFill>
              <a:latin typeface="メイリオ"/>
              <a:ea typeface="メイリオ"/>
            </a:endParaRPr>
          </a:p>
          <a:p>
            <a:r>
              <a:rPr sz="1400" b="0" dirty="0">
                <a:solidFill>
                  <a:srgbClr val="404040"/>
                </a:solidFill>
                <a:latin typeface="メイリオ"/>
                <a:ea typeface="メイリオ"/>
              </a:rPr>
              <a:t>迷っている人には、4問の診断を用意します。</a:t>
            </a:r>
          </a:p>
          <a:p>
            <a:r>
              <a:rPr sz="1400" b="0" dirty="0" err="1">
                <a:solidFill>
                  <a:srgbClr val="404040"/>
                </a:solidFill>
                <a:latin typeface="メイリオ"/>
                <a:ea typeface="メイリオ"/>
              </a:rPr>
              <a:t>回答はそのまま配信セグメントのタグになります</a:t>
            </a:r>
            <a:r>
              <a:rPr sz="1400" b="0" dirty="0">
                <a:solidFill>
                  <a:srgbClr val="404040"/>
                </a:solidFill>
                <a:latin typeface="メイリオ"/>
                <a:ea typeface="メイリオ"/>
              </a:rPr>
              <a:t>。</a:t>
            </a:r>
          </a:p>
        </p:txBody>
      </p:sp>
      <p:sp>
        <p:nvSpPr>
          <p:cNvPr id="24" name="TextBox 23"/>
          <p:cNvSpPr txBox="1"/>
          <p:nvPr/>
        </p:nvSpPr>
        <p:spPr>
          <a:xfrm>
            <a:off x="3407434" y="3800000"/>
            <a:ext cx="6092566" cy="769441"/>
          </a:xfrm>
          <a:prstGeom prst="rect">
            <a:avLst/>
          </a:prstGeom>
          <a:noFill/>
        </p:spPr>
        <p:txBody>
          <a:bodyPr wrap="square">
            <a:spAutoFit/>
          </a:bodyPr>
          <a:lstStyle/>
          <a:p>
            <a:r>
              <a:rPr sz="1600" b="1">
                <a:solidFill>
                  <a:srgbClr val="1F2A5C"/>
                </a:solidFill>
                <a:latin typeface="メイリオ"/>
                <a:ea typeface="メイリオ"/>
              </a:rPr>
              <a:t>③ 費用は「1回あたり」で見せる</a:t>
            </a:r>
          </a:p>
          <a:p>
            <a:r>
              <a:rPr sz="1400" b="0">
                <a:solidFill>
                  <a:srgbClr val="404040"/>
                </a:solidFill>
                <a:latin typeface="メイリオ"/>
                <a:ea typeface="メイリオ"/>
              </a:rPr>
              <a:t>月会費8,000円より「週2回なら1回1,000円」のほうが決裁が下ります。</a:t>
            </a:r>
          </a:p>
          <a:p>
            <a:r>
              <a:rPr sz="1400" b="0">
                <a:solidFill>
                  <a:srgbClr val="404040"/>
                </a:solidFill>
                <a:latin typeface="メイリオ"/>
                <a:ea typeface="メイリオ"/>
              </a:rPr>
              <a:t>診断結果の中で自然に提示します。</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85E8310-DC90-A44B-9003-2370FEC43AA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3552C67E-68C8-EE20-8231-66ED97A5D6A1}"/>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b="0" dirty="0" err="1">
                <a:solidFill>
                  <a:srgbClr val="333333"/>
                </a:solidFill>
                <a:latin typeface="メイリオ"/>
                <a:ea typeface="メイリオ"/>
              </a:rPr>
              <a:t>需要の波に合わせた企画配信で、体験予約のピークを創出する</a:t>
            </a:r>
            <a:r>
              <a:rPr b="0" dirty="0">
                <a:solidFill>
                  <a:srgbClr val="333333"/>
                </a:solidFill>
                <a:latin typeface="メイリオ"/>
                <a:ea typeface="メイリオ"/>
              </a:rPr>
              <a:t>。</a:t>
            </a:r>
            <a:endParaRPr lang="en-US" altLang="ja-JP" sz="20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C97A8190-9FEF-BB71-78C1-DBFA9F0F74FD}"/>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Google Shape;156;p7">
            <a:extLst>
              <a:ext uri="{FF2B5EF4-FFF2-40B4-BE49-F238E27FC236}">
                <a16:creationId xmlns:a16="http://schemas.microsoft.com/office/drawing/2014/main" id="{6B80B6E5-D118-D5F1-ECE6-715F8A11F93E}"/>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Meiryo"/>
                <a:sym typeface="Meiryo"/>
              </a:rPr>
              <a:t>具体企画の構成</a:t>
            </a:r>
            <a:endParaRPr sz="1600" b="1" dirty="0">
              <a:solidFill>
                <a:srgbClr val="002060"/>
              </a:solidFill>
              <a:latin typeface="メイリオ"/>
              <a:ea typeface="メイリオ"/>
              <a:cs typeface="Meiryo"/>
              <a:sym typeface="Meiryo"/>
            </a:endParaRPr>
          </a:p>
        </p:txBody>
      </p:sp>
      <p:sp>
        <p:nvSpPr>
          <p:cNvPr id="7" name="Rounded Rectangle 6"/>
          <p:cNvSpPr/>
          <p:nvPr/>
        </p:nvSpPr>
        <p:spPr>
          <a:xfrm>
            <a:off x="350000" y="1703409"/>
            <a:ext cx="752000" cy="471775"/>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12月</a:t>
            </a:r>
          </a:p>
        </p:txBody>
      </p:sp>
      <p:sp>
        <p:nvSpPr>
          <p:cNvPr id="8" name="Rounded Rectangle 7"/>
          <p:cNvSpPr/>
          <p:nvPr/>
        </p:nvSpPr>
        <p:spPr>
          <a:xfrm>
            <a:off x="1116000" y="1703409"/>
            <a:ext cx="752000" cy="471775"/>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1月</a:t>
            </a:r>
          </a:p>
        </p:txBody>
      </p:sp>
      <p:sp>
        <p:nvSpPr>
          <p:cNvPr id="9" name="Rounded Rectangle 8"/>
          <p:cNvSpPr/>
          <p:nvPr/>
        </p:nvSpPr>
        <p:spPr>
          <a:xfrm>
            <a:off x="1882000" y="1703409"/>
            <a:ext cx="752000" cy="471775"/>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2月</a:t>
            </a:r>
          </a:p>
        </p:txBody>
      </p:sp>
      <p:sp>
        <p:nvSpPr>
          <p:cNvPr id="10" name="Rounded Rectangle 9"/>
          <p:cNvSpPr/>
          <p:nvPr/>
        </p:nvSpPr>
        <p:spPr>
          <a:xfrm>
            <a:off x="2648000" y="1703409"/>
            <a:ext cx="752000" cy="471775"/>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3月</a:t>
            </a:r>
          </a:p>
        </p:txBody>
      </p:sp>
      <p:sp>
        <p:nvSpPr>
          <p:cNvPr id="11" name="Rounded Rectangle 10"/>
          <p:cNvSpPr/>
          <p:nvPr/>
        </p:nvSpPr>
        <p:spPr>
          <a:xfrm>
            <a:off x="3414000" y="1703409"/>
            <a:ext cx="752000" cy="471775"/>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4月</a:t>
            </a:r>
          </a:p>
        </p:txBody>
      </p:sp>
      <p:sp>
        <p:nvSpPr>
          <p:cNvPr id="12" name="Rounded Rectangle 11"/>
          <p:cNvSpPr/>
          <p:nvPr/>
        </p:nvSpPr>
        <p:spPr>
          <a:xfrm>
            <a:off x="4180000" y="1703409"/>
            <a:ext cx="752000" cy="471775"/>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5月</a:t>
            </a:r>
          </a:p>
        </p:txBody>
      </p:sp>
      <p:sp>
        <p:nvSpPr>
          <p:cNvPr id="13" name="Rounded Rectangle 12"/>
          <p:cNvSpPr/>
          <p:nvPr/>
        </p:nvSpPr>
        <p:spPr>
          <a:xfrm>
            <a:off x="4946000" y="1703409"/>
            <a:ext cx="752000" cy="471775"/>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6月</a:t>
            </a:r>
          </a:p>
        </p:txBody>
      </p:sp>
      <p:sp>
        <p:nvSpPr>
          <p:cNvPr id="14" name="Rounded Rectangle 13"/>
          <p:cNvSpPr/>
          <p:nvPr/>
        </p:nvSpPr>
        <p:spPr>
          <a:xfrm>
            <a:off x="5712000" y="1703409"/>
            <a:ext cx="752000" cy="471775"/>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7月</a:t>
            </a:r>
          </a:p>
        </p:txBody>
      </p:sp>
      <p:sp>
        <p:nvSpPr>
          <p:cNvPr id="15" name="Rounded Rectangle 14"/>
          <p:cNvSpPr/>
          <p:nvPr/>
        </p:nvSpPr>
        <p:spPr>
          <a:xfrm>
            <a:off x="6478000" y="1703409"/>
            <a:ext cx="752000" cy="471775"/>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8月</a:t>
            </a:r>
          </a:p>
        </p:txBody>
      </p:sp>
      <p:sp>
        <p:nvSpPr>
          <p:cNvPr id="16" name="Rounded Rectangle 15"/>
          <p:cNvSpPr/>
          <p:nvPr/>
        </p:nvSpPr>
        <p:spPr>
          <a:xfrm>
            <a:off x="7244000" y="1703409"/>
            <a:ext cx="894210" cy="471775"/>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9月</a:t>
            </a:r>
          </a:p>
        </p:txBody>
      </p:sp>
      <p:sp>
        <p:nvSpPr>
          <p:cNvPr id="17" name="Rounded Rectangle 16"/>
          <p:cNvSpPr/>
          <p:nvPr/>
        </p:nvSpPr>
        <p:spPr>
          <a:xfrm>
            <a:off x="8010000" y="1703409"/>
            <a:ext cx="894210" cy="471775"/>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10月</a:t>
            </a:r>
          </a:p>
        </p:txBody>
      </p:sp>
      <p:sp>
        <p:nvSpPr>
          <p:cNvPr id="18" name="Rounded Rectangle 17"/>
          <p:cNvSpPr/>
          <p:nvPr/>
        </p:nvSpPr>
        <p:spPr>
          <a:xfrm>
            <a:off x="8776000" y="1703409"/>
            <a:ext cx="894210" cy="471775"/>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11月</a:t>
            </a:r>
          </a:p>
        </p:txBody>
      </p:sp>
      <p:sp>
        <p:nvSpPr>
          <p:cNvPr id="19" name="Rounded Rectangle 18"/>
          <p:cNvSpPr/>
          <p:nvPr/>
        </p:nvSpPr>
        <p:spPr>
          <a:xfrm>
            <a:off x="350000" y="2203409"/>
            <a:ext cx="3816000" cy="1643971"/>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t"/>
          <a:lstStyle/>
          <a:p>
            <a:pPr algn="l"/>
            <a:r>
              <a:rPr sz="1200" b="1" dirty="0">
                <a:solidFill>
                  <a:srgbClr val="1F3A5F"/>
                </a:solidFill>
                <a:latin typeface="メイリオ"/>
                <a:ea typeface="メイリオ"/>
              </a:rPr>
              <a:t>1月　</a:t>
            </a:r>
            <a:r>
              <a:rPr sz="1200" b="1" dirty="0" err="1">
                <a:solidFill>
                  <a:srgbClr val="1F3A5F"/>
                </a:solidFill>
                <a:latin typeface="メイリオ"/>
                <a:ea typeface="メイリオ"/>
              </a:rPr>
              <a:t>最大ピーク（新年の決意</a:t>
            </a:r>
            <a:r>
              <a:rPr sz="1200" b="1" dirty="0">
                <a:solidFill>
                  <a:srgbClr val="1F3A5F"/>
                </a:solidFill>
                <a:latin typeface="メイリオ"/>
                <a:ea typeface="メイリオ"/>
              </a:rPr>
              <a:t>）</a:t>
            </a:r>
            <a:endParaRPr lang="en-US" sz="12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200" b="0" dirty="0">
                <a:solidFill>
                  <a:srgbClr val="333333"/>
                </a:solidFill>
                <a:latin typeface="メイリオ"/>
                <a:ea typeface="メイリオ"/>
              </a:rPr>
              <a:t>・</a:t>
            </a:r>
            <a:r>
              <a:rPr sz="1200" b="0" dirty="0" err="1">
                <a:solidFill>
                  <a:srgbClr val="333333"/>
                </a:solidFill>
                <a:latin typeface="メイリオ"/>
                <a:ea typeface="メイリオ"/>
              </a:rPr>
              <a:t>年明けに検索が最も立つ／CPCも最高値</a:t>
            </a:r>
            <a:endParaRPr sz="1200" b="0" dirty="0">
              <a:solidFill>
                <a:srgbClr val="333333"/>
              </a:solidFill>
              <a:latin typeface="メイリオ"/>
              <a:ea typeface="メイリオ"/>
            </a:endParaRPr>
          </a:p>
          <a:p>
            <a:pPr algn="l"/>
            <a:r>
              <a:rPr sz="1200" b="0" dirty="0">
                <a:solidFill>
                  <a:srgbClr val="333333"/>
                </a:solidFill>
                <a:latin typeface="メイリオ"/>
                <a:ea typeface="メイリオ"/>
              </a:rPr>
              <a:t>・</a:t>
            </a:r>
            <a:r>
              <a:rPr sz="1200" b="0" dirty="0" err="1">
                <a:solidFill>
                  <a:srgbClr val="333333"/>
                </a:solidFill>
                <a:latin typeface="メイリオ"/>
                <a:ea typeface="メイリオ"/>
              </a:rPr>
              <a:t>入会金無料CP／体づくりタイプ診断</a:t>
            </a:r>
            <a:endParaRPr sz="1200" b="0" dirty="0">
              <a:solidFill>
                <a:srgbClr val="333333"/>
              </a:solidFill>
              <a:latin typeface="メイリオ"/>
              <a:ea typeface="メイリオ"/>
            </a:endParaRPr>
          </a:p>
          <a:p>
            <a:pPr algn="l"/>
            <a:r>
              <a:rPr sz="1200" b="0" dirty="0">
                <a:solidFill>
                  <a:srgbClr val="333333"/>
                </a:solidFill>
                <a:latin typeface="メイリオ"/>
                <a:ea typeface="メイリオ"/>
              </a:rPr>
              <a:t>・11〜12月に溜めた友だちへ一斉配信</a:t>
            </a:r>
          </a:p>
        </p:txBody>
      </p:sp>
      <p:sp>
        <p:nvSpPr>
          <p:cNvPr id="20" name="Rounded Rectangle 19"/>
          <p:cNvSpPr/>
          <p:nvPr/>
        </p:nvSpPr>
        <p:spPr>
          <a:xfrm>
            <a:off x="4180000" y="2203409"/>
            <a:ext cx="3050000" cy="1643971"/>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t"/>
          <a:lstStyle/>
          <a:p>
            <a:pPr algn="l"/>
            <a:r>
              <a:rPr sz="1200" b="1" dirty="0">
                <a:solidFill>
                  <a:srgbClr val="06C755"/>
                </a:solidFill>
                <a:latin typeface="メイリオ"/>
                <a:ea typeface="メイリオ"/>
              </a:rPr>
              <a:t>4〜7月　</a:t>
            </a:r>
            <a:r>
              <a:rPr sz="1200" b="1" dirty="0" err="1">
                <a:solidFill>
                  <a:srgbClr val="06C755"/>
                </a:solidFill>
                <a:latin typeface="メイリオ"/>
                <a:ea typeface="メイリオ"/>
              </a:rPr>
              <a:t>新生活と薄着期</a:t>
            </a:r>
            <a:endParaRPr lang="en-US" sz="1200" b="1" dirty="0">
              <a:solidFill>
                <a:srgbClr val="06C755"/>
              </a:solidFill>
              <a:latin typeface="メイリオ"/>
              <a:ea typeface="メイリオ"/>
            </a:endParaRPr>
          </a:p>
          <a:p>
            <a:pPr algn="l"/>
            <a:endParaRPr sz="800" b="1" dirty="0">
              <a:solidFill>
                <a:srgbClr val="06C755"/>
              </a:solidFill>
              <a:latin typeface="メイリオ"/>
              <a:ea typeface="メイリオ"/>
            </a:endParaRPr>
          </a:p>
          <a:p>
            <a:pPr algn="l"/>
            <a:r>
              <a:rPr sz="1200" b="0" dirty="0">
                <a:solidFill>
                  <a:srgbClr val="333333"/>
                </a:solidFill>
                <a:latin typeface="メイリオ"/>
                <a:ea typeface="メイリオ"/>
              </a:rPr>
              <a:t>・4月＝転居・異動・新社会人</a:t>
            </a:r>
          </a:p>
          <a:p>
            <a:pPr algn="l"/>
            <a:r>
              <a:rPr sz="1200" b="0" dirty="0">
                <a:solidFill>
                  <a:srgbClr val="333333"/>
                </a:solidFill>
                <a:latin typeface="メイリオ"/>
                <a:ea typeface="メイリオ"/>
              </a:rPr>
              <a:t>・5〜7月＝ダイエット目的で確度が高い</a:t>
            </a:r>
          </a:p>
          <a:p>
            <a:pPr algn="l"/>
            <a:r>
              <a:rPr sz="1200" b="0" dirty="0">
                <a:solidFill>
                  <a:srgbClr val="333333"/>
                </a:solidFill>
                <a:latin typeface="メイリオ"/>
                <a:ea typeface="メイリオ"/>
              </a:rPr>
              <a:t>・</a:t>
            </a:r>
            <a:r>
              <a:rPr sz="1200" b="0" dirty="0" err="1">
                <a:solidFill>
                  <a:srgbClr val="333333"/>
                </a:solidFill>
                <a:latin typeface="メイリオ"/>
                <a:ea typeface="メイリオ"/>
              </a:rPr>
              <a:t>ビフォーアフター実例が最も効く</a:t>
            </a:r>
            <a:endParaRPr sz="1200" b="0" dirty="0">
              <a:solidFill>
                <a:srgbClr val="333333"/>
              </a:solidFill>
              <a:latin typeface="メイリオ"/>
              <a:ea typeface="メイリオ"/>
            </a:endParaRPr>
          </a:p>
        </p:txBody>
      </p:sp>
      <p:sp>
        <p:nvSpPr>
          <p:cNvPr id="21" name="Rounded Rectangle 20"/>
          <p:cNvSpPr/>
          <p:nvPr/>
        </p:nvSpPr>
        <p:spPr>
          <a:xfrm>
            <a:off x="7243999" y="2203409"/>
            <a:ext cx="2426211" cy="1643971"/>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t"/>
          <a:lstStyle/>
          <a:p>
            <a:pPr algn="l"/>
            <a:r>
              <a:rPr sz="1200" b="1" dirty="0">
                <a:solidFill>
                  <a:srgbClr val="24345A"/>
                </a:solidFill>
                <a:latin typeface="メイリオ"/>
                <a:ea typeface="メイリオ"/>
              </a:rPr>
              <a:t>8〜12月　</a:t>
            </a:r>
            <a:r>
              <a:rPr sz="1200" b="1" dirty="0" err="1">
                <a:solidFill>
                  <a:srgbClr val="24345A"/>
                </a:solidFill>
                <a:latin typeface="メイリオ"/>
                <a:ea typeface="メイリオ"/>
              </a:rPr>
              <a:t>閑散期＝仕込み期</a:t>
            </a:r>
            <a:endParaRPr lang="en-US" sz="1200" b="1" dirty="0">
              <a:solidFill>
                <a:srgbClr val="24345A"/>
              </a:solidFill>
              <a:latin typeface="メイリオ"/>
              <a:ea typeface="メイリオ"/>
            </a:endParaRPr>
          </a:p>
          <a:p>
            <a:pPr algn="l"/>
            <a:endParaRPr sz="800" b="1" dirty="0">
              <a:solidFill>
                <a:srgbClr val="24345A"/>
              </a:solidFill>
              <a:latin typeface="メイリオ"/>
              <a:ea typeface="メイリオ"/>
            </a:endParaRPr>
          </a:p>
          <a:p>
            <a:pPr algn="l"/>
            <a:r>
              <a:rPr sz="1200" b="0" dirty="0">
                <a:solidFill>
                  <a:srgbClr val="333333"/>
                </a:solidFill>
                <a:latin typeface="メイリオ"/>
                <a:ea typeface="メイリオ"/>
              </a:rPr>
              <a:t>・8月後半と11〜12月は需要が落ちる</a:t>
            </a:r>
          </a:p>
          <a:p>
            <a:pPr algn="l"/>
            <a:r>
              <a:rPr sz="1200" b="0" dirty="0">
                <a:solidFill>
                  <a:srgbClr val="333333"/>
                </a:solidFill>
                <a:latin typeface="メイリオ"/>
                <a:ea typeface="メイリオ"/>
              </a:rPr>
              <a:t>・</a:t>
            </a:r>
            <a:r>
              <a:rPr sz="1200" b="0" dirty="0" err="1">
                <a:solidFill>
                  <a:srgbClr val="333333"/>
                </a:solidFill>
                <a:latin typeface="メイリオ"/>
                <a:ea typeface="メイリオ"/>
              </a:rPr>
              <a:t>診断・料金シミュレーターで友だちを溜める</a:t>
            </a:r>
            <a:endParaRPr sz="1200" b="0" dirty="0">
              <a:solidFill>
                <a:srgbClr val="333333"/>
              </a:solidFill>
              <a:latin typeface="メイリオ"/>
              <a:ea typeface="メイリオ"/>
            </a:endParaRPr>
          </a:p>
          <a:p>
            <a:pPr algn="l"/>
            <a:r>
              <a:rPr sz="1200" b="0" dirty="0">
                <a:solidFill>
                  <a:srgbClr val="333333"/>
                </a:solidFill>
                <a:latin typeface="メイリオ"/>
                <a:ea typeface="メイリオ"/>
              </a:rPr>
              <a:t>・1月に広告費ゼロで届く相手を作る</a:t>
            </a:r>
          </a:p>
        </p:txBody>
      </p:sp>
      <p:sp>
        <p:nvSpPr>
          <p:cNvPr id="22" name="TextBox 21"/>
          <p:cNvSpPr txBox="1"/>
          <p:nvPr/>
        </p:nvSpPr>
        <p:spPr>
          <a:xfrm>
            <a:off x="350000" y="6282000"/>
            <a:ext cx="9200000" cy="216000"/>
          </a:xfrm>
          <a:prstGeom prst="rect">
            <a:avLst/>
          </a:prstGeom>
          <a:noFill/>
        </p:spPr>
        <p:txBody>
          <a:bodyPr wrap="square">
            <a:spAutoFit/>
          </a:bodyPr>
          <a:lstStyle/>
          <a:p>
            <a:r>
              <a:rPr sz="900">
                <a:solidFill>
                  <a:srgbClr val="555555"/>
                </a:solidFill>
                <a:latin typeface="メイリオ"/>
                <a:ea typeface="メイリオ"/>
              </a:rPr>
              <a:t>※ 季節区分はGoogleトレンド（日本・過去5年・2026/8/17取得）で確認済み：毎年1月に山、10〜12月に谷。</a:t>
            </a:r>
          </a:p>
        </p:txBody>
      </p:sp>
      <p:sp>
        <p:nvSpPr>
          <p:cNvPr id="23" name="TextBox 22"/>
          <p:cNvSpPr txBox="1"/>
          <p:nvPr/>
        </p:nvSpPr>
        <p:spPr>
          <a:xfrm>
            <a:off x="330857" y="4213488"/>
            <a:ext cx="6000000" cy="338554"/>
          </a:xfrm>
          <a:prstGeom prst="rect">
            <a:avLst/>
          </a:prstGeom>
          <a:noFill/>
        </p:spPr>
        <p:txBody>
          <a:bodyPr wrap="square">
            <a:spAutoFit/>
          </a:bodyPr>
          <a:lstStyle/>
          <a:p>
            <a:r>
              <a:rPr sz="1600" b="1">
                <a:solidFill>
                  <a:srgbClr val="1F3A5F"/>
                </a:solidFill>
                <a:latin typeface="メイリオ"/>
                <a:ea typeface="メイリオ"/>
              </a:rPr>
              <a:t>配信運用のリズム（システム化：いつ・何を投稿するか）</a:t>
            </a:r>
          </a:p>
        </p:txBody>
      </p:sp>
      <p:sp>
        <p:nvSpPr>
          <p:cNvPr id="24" name="Rounded Rectangle 23"/>
          <p:cNvSpPr/>
          <p:nvPr/>
        </p:nvSpPr>
        <p:spPr>
          <a:xfrm>
            <a:off x="330857" y="4583488"/>
            <a:ext cx="2220000" cy="14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80000" tIns="45000" rIns="70000" bIns="30000" rtlCol="0" anchor="t"/>
          <a:lstStyle/>
          <a:p>
            <a:pPr algn="l"/>
            <a:r>
              <a:rPr lang="ja-JP" altLang="en-US" sz="1200" b="1" dirty="0">
                <a:solidFill>
                  <a:srgbClr val="1F3A5F"/>
                </a:solidFill>
                <a:latin typeface="メイリオ"/>
                <a:ea typeface="メイリオ"/>
              </a:rPr>
              <a:t>月</a:t>
            </a:r>
            <a:r>
              <a:rPr lang="en-US" altLang="ja-JP" sz="1200" b="1" dirty="0">
                <a:solidFill>
                  <a:srgbClr val="1F3A5F"/>
                </a:solidFill>
                <a:latin typeface="メイリオ"/>
                <a:ea typeface="メイリオ"/>
              </a:rPr>
              <a:t>4</a:t>
            </a:r>
            <a:r>
              <a:rPr sz="1200" b="1" dirty="0">
                <a:solidFill>
                  <a:srgbClr val="1F3A5F"/>
                </a:solidFill>
                <a:latin typeface="メイリオ"/>
                <a:ea typeface="メイリオ"/>
              </a:rPr>
              <a:t>回：定期投稿</a:t>
            </a:r>
          </a:p>
          <a:p>
            <a:pPr algn="l"/>
            <a:endParaRPr sz="800" b="1" dirty="0">
              <a:solidFill>
                <a:srgbClr val="1F3A5F"/>
              </a:solidFill>
              <a:latin typeface="メイリオ"/>
              <a:ea typeface="メイリオ"/>
            </a:endParaRPr>
          </a:p>
          <a:p>
            <a:pPr algn="l"/>
            <a:r>
              <a:rPr sz="1100" b="0" dirty="0" err="1">
                <a:solidFill>
                  <a:srgbClr val="333333"/>
                </a:solidFill>
                <a:latin typeface="メイリオ"/>
                <a:ea typeface="メイリオ"/>
              </a:rPr>
              <a:t>月次プランで「いつ・何を」を事前確定</a:t>
            </a:r>
            <a:endParaRPr lang="en-US" sz="1100" b="0" dirty="0">
              <a:solidFill>
                <a:srgbClr val="333333"/>
              </a:solidFill>
              <a:latin typeface="メイリオ"/>
              <a:ea typeface="メイリオ"/>
            </a:endParaRPr>
          </a:p>
          <a:p>
            <a:pPr algn="l"/>
            <a:r>
              <a:rPr lang="ja-JP" altLang="en-US" sz="1100" b="0" dirty="0">
                <a:solidFill>
                  <a:srgbClr val="333333"/>
                </a:solidFill>
                <a:latin typeface="メイリオ"/>
                <a:ea typeface="メイリオ"/>
              </a:rPr>
              <a:t>→</a:t>
            </a:r>
            <a:r>
              <a:rPr sz="1100" b="0" dirty="0" err="1">
                <a:solidFill>
                  <a:srgbClr val="333333"/>
                </a:solidFill>
                <a:latin typeface="メイリオ"/>
                <a:ea typeface="メイリオ"/>
              </a:rPr>
              <a:t>システム化して運用</a:t>
            </a:r>
            <a:endParaRPr sz="1100" b="0" dirty="0">
              <a:solidFill>
                <a:srgbClr val="333333"/>
              </a:solidFill>
              <a:latin typeface="メイリオ"/>
              <a:ea typeface="メイリオ"/>
            </a:endParaRPr>
          </a:p>
        </p:txBody>
      </p:sp>
      <p:sp>
        <p:nvSpPr>
          <p:cNvPr id="25" name="Rounded Rectangle 24"/>
          <p:cNvSpPr/>
          <p:nvPr/>
        </p:nvSpPr>
        <p:spPr>
          <a:xfrm>
            <a:off x="2660857" y="4583488"/>
            <a:ext cx="2220000" cy="14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80000" tIns="45000" rIns="70000" bIns="30000" rtlCol="0" anchor="t"/>
          <a:lstStyle/>
          <a:p>
            <a:pPr algn="l"/>
            <a:r>
              <a:rPr sz="1200" b="1" dirty="0" err="1">
                <a:solidFill>
                  <a:srgbClr val="1F3A5F"/>
                </a:solidFill>
                <a:latin typeface="メイリオ"/>
                <a:ea typeface="メイリオ"/>
              </a:rPr>
              <a:t>時期・時事の特別配信</a:t>
            </a:r>
            <a:endParaRPr sz="12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100" b="0" dirty="0" err="1">
                <a:solidFill>
                  <a:srgbClr val="333333"/>
                </a:solidFill>
                <a:latin typeface="メイリオ"/>
                <a:ea typeface="メイリオ"/>
              </a:rPr>
              <a:t>繁忙期CP、相場や時事ニュースに連動した配信を追加</a:t>
            </a:r>
            <a:endParaRPr sz="1100" b="0" dirty="0">
              <a:solidFill>
                <a:srgbClr val="333333"/>
              </a:solidFill>
              <a:latin typeface="メイリオ"/>
              <a:ea typeface="メイリオ"/>
            </a:endParaRPr>
          </a:p>
        </p:txBody>
      </p:sp>
      <p:sp>
        <p:nvSpPr>
          <p:cNvPr id="26" name="Rounded Rectangle 25"/>
          <p:cNvSpPr/>
          <p:nvPr/>
        </p:nvSpPr>
        <p:spPr>
          <a:xfrm>
            <a:off x="4990857" y="4583488"/>
            <a:ext cx="2220000" cy="14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80000" tIns="45000" rIns="70000" bIns="30000" rtlCol="0" anchor="t"/>
          <a:lstStyle/>
          <a:p>
            <a:pPr algn="l"/>
            <a:r>
              <a:rPr sz="1200" b="1" dirty="0" err="1">
                <a:solidFill>
                  <a:srgbClr val="1F3A5F"/>
                </a:solidFill>
                <a:latin typeface="メイリオ"/>
                <a:ea typeface="メイリオ"/>
              </a:rPr>
              <a:t>ステップ配信は全自動</a:t>
            </a:r>
            <a:endParaRPr sz="12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100" b="0" dirty="0" err="1">
                <a:solidFill>
                  <a:srgbClr val="333333"/>
                </a:solidFill>
                <a:latin typeface="メイリオ"/>
                <a:ea typeface="メイリオ"/>
              </a:rPr>
              <a:t>友だち追加後の育成配信はシナリオで常時稼働</a:t>
            </a:r>
            <a:endParaRPr sz="1100" b="0" dirty="0">
              <a:solidFill>
                <a:srgbClr val="333333"/>
              </a:solidFill>
              <a:latin typeface="メイリオ"/>
              <a:ea typeface="メイリオ"/>
            </a:endParaRPr>
          </a:p>
        </p:txBody>
      </p:sp>
      <p:sp>
        <p:nvSpPr>
          <p:cNvPr id="27" name="Rounded Rectangle 26"/>
          <p:cNvSpPr/>
          <p:nvPr/>
        </p:nvSpPr>
        <p:spPr>
          <a:xfrm>
            <a:off x="7320857" y="4583488"/>
            <a:ext cx="2220000" cy="14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80000" tIns="45000" rIns="70000" bIns="30000" rtlCol="0" anchor="t"/>
          <a:lstStyle/>
          <a:p>
            <a:pPr algn="l"/>
            <a:r>
              <a:rPr sz="1200" b="1" dirty="0" err="1">
                <a:solidFill>
                  <a:srgbClr val="1F3A5F"/>
                </a:solidFill>
                <a:latin typeface="メイリオ"/>
                <a:ea typeface="メイリオ"/>
              </a:rPr>
              <a:t>クリエイティブABテスト</a:t>
            </a:r>
            <a:endParaRPr sz="12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100" b="0" dirty="0" err="1">
                <a:solidFill>
                  <a:srgbClr val="333333"/>
                </a:solidFill>
                <a:latin typeface="メイリオ"/>
                <a:ea typeface="メイリオ"/>
              </a:rPr>
              <a:t>訴求×時期×ターゲットでテストし、勝ちパターンを更新</a:t>
            </a:r>
            <a:endParaRPr sz="1100" b="0" dirty="0">
              <a:solidFill>
                <a:srgbClr val="333333"/>
              </a:solidFill>
              <a:latin typeface="メイリオ"/>
              <a:ea typeface="メイリオ"/>
            </a:endParaRPr>
          </a:p>
        </p:txBody>
      </p:sp>
    </p:spTree>
    <p:extLst>
      <p:ext uri="{BB962C8B-B14F-4D97-AF65-F5344CB8AC3E}">
        <p14:creationId xmlns:p14="http://schemas.microsoft.com/office/powerpoint/2010/main" val="322507491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F6AB4E-6E86-5642-81B1-3703D9B31A8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9B22B17A-8DFC-D6EF-0B99-02AD1AC617B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A4ACD29B-215D-B1BC-4164-FF8A5CD20694}"/>
              </a:ext>
            </a:extLst>
          </p:cNvPr>
          <p:cNvSpPr/>
          <p:nvPr/>
        </p:nvSpPr>
        <p:spPr>
          <a:xfrm>
            <a:off x="349201" y="692184"/>
            <a:ext cx="9340800"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sz="1600" b="0" dirty="0" err="1">
                <a:solidFill>
                  <a:srgbClr val="333333"/>
                </a:solidFill>
                <a:latin typeface="メイリオ"/>
                <a:ea typeface="メイリオ"/>
              </a:rPr>
              <a:t>非友だち・保有リストにも接点を作り（通知メッセ</a:t>
            </a:r>
            <a:r>
              <a:rPr sz="1600" b="0" dirty="0">
                <a:solidFill>
                  <a:srgbClr val="333333"/>
                </a:solidFill>
                <a:latin typeface="メイリオ"/>
                <a:ea typeface="メイリオ"/>
              </a:rPr>
              <a:t>）、</a:t>
            </a:r>
            <a:r>
              <a:rPr sz="1600" b="0" dirty="0" err="1">
                <a:solidFill>
                  <a:srgbClr val="333333"/>
                </a:solidFill>
                <a:latin typeface="メイリオ"/>
                <a:ea typeface="メイリオ"/>
              </a:rPr>
              <a:t>参加型の企画で友だちとCVを両取りする</a:t>
            </a:r>
            <a:r>
              <a:rPr sz="1600" b="0" dirty="0">
                <a:solidFill>
                  <a:srgbClr val="333333"/>
                </a:solidFill>
                <a:latin typeface="メイリオ"/>
                <a:ea typeface="メイリオ"/>
              </a:rPr>
              <a:t>。</a:t>
            </a:r>
            <a:endParaRPr lang="en-US" altLang="ja-JP"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9ABD89CB-4100-C32C-CF98-1D09990839B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Google Shape;156;p7">
            <a:extLst>
              <a:ext uri="{FF2B5EF4-FFF2-40B4-BE49-F238E27FC236}">
                <a16:creationId xmlns:a16="http://schemas.microsoft.com/office/drawing/2014/main" id="{AAEDAADE-3623-8067-9891-A654C6EBFD24}"/>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Meiryo"/>
                <a:sym typeface="Meiryo"/>
              </a:rPr>
              <a:t>具体企画の構成</a:t>
            </a:r>
            <a:endParaRPr sz="1600" b="1" dirty="0">
              <a:solidFill>
                <a:srgbClr val="002060"/>
              </a:solidFill>
              <a:latin typeface="メイリオ"/>
              <a:ea typeface="メイリオ"/>
              <a:cs typeface="Meiryo"/>
              <a:sym typeface="Meiryo"/>
            </a:endParaRPr>
          </a:p>
        </p:txBody>
      </p:sp>
      <p:sp>
        <p:nvSpPr>
          <p:cNvPr id="7" name="TextBox 6"/>
          <p:cNvSpPr txBox="1"/>
          <p:nvPr/>
        </p:nvSpPr>
        <p:spPr>
          <a:xfrm>
            <a:off x="363000" y="1518334"/>
            <a:ext cx="4400000" cy="307777"/>
          </a:xfrm>
          <a:prstGeom prst="rect">
            <a:avLst/>
          </a:prstGeom>
          <a:noFill/>
        </p:spPr>
        <p:txBody>
          <a:bodyPr wrap="square">
            <a:spAutoFit/>
          </a:bodyPr>
          <a:lstStyle/>
          <a:p>
            <a:pPr algn="l"/>
            <a:r>
              <a:rPr sz="1400" b="1" dirty="0">
                <a:solidFill>
                  <a:srgbClr val="1F3A5F"/>
                </a:solidFill>
                <a:latin typeface="メイリオ"/>
                <a:ea typeface="メイリオ"/>
              </a:rPr>
              <a:t>■ </a:t>
            </a:r>
            <a:r>
              <a:rPr sz="1400" b="1" dirty="0" err="1">
                <a:solidFill>
                  <a:srgbClr val="1F3A5F"/>
                </a:solidFill>
                <a:latin typeface="メイリオ"/>
                <a:ea typeface="メイリオ"/>
              </a:rPr>
              <a:t>通知メッセージ</a:t>
            </a:r>
            <a:r>
              <a:rPr sz="1400" b="1" dirty="0">
                <a:solidFill>
                  <a:srgbClr val="1F3A5F"/>
                </a:solidFill>
                <a:latin typeface="メイリオ"/>
                <a:ea typeface="メイリオ"/>
              </a:rPr>
              <a:t> </a:t>
            </a:r>
            <a:r>
              <a:rPr sz="1400" b="1" dirty="0" err="1">
                <a:solidFill>
                  <a:srgbClr val="1F3A5F"/>
                </a:solidFill>
                <a:latin typeface="メイリオ"/>
                <a:ea typeface="メイリオ"/>
              </a:rPr>
              <a:t>利用シーン</a:t>
            </a:r>
            <a:endParaRPr sz="1400" b="1" dirty="0">
              <a:solidFill>
                <a:srgbClr val="1F3A5F"/>
              </a:solidFill>
              <a:latin typeface="メイリオ"/>
              <a:ea typeface="メイリオ"/>
            </a:endParaRPr>
          </a:p>
        </p:txBody>
      </p:sp>
      <p:sp>
        <p:nvSpPr>
          <p:cNvPr id="8" name="Rounded Rectangle 7"/>
          <p:cNvSpPr/>
          <p:nvPr/>
        </p:nvSpPr>
        <p:spPr>
          <a:xfrm>
            <a:off x="363000" y="1868334"/>
            <a:ext cx="2200000" cy="10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100" b="1" dirty="0" err="1">
                <a:solidFill>
                  <a:srgbClr val="1F3A5F"/>
                </a:solidFill>
                <a:latin typeface="メイリオ"/>
                <a:ea typeface="メイリオ"/>
              </a:rPr>
              <a:t>体験予約確定のお知らせ</a:t>
            </a:r>
            <a:endParaRPr sz="1100" b="1" dirty="0">
              <a:solidFill>
                <a:srgbClr val="1F3A5F"/>
              </a:solidFill>
              <a:latin typeface="メイリオ"/>
              <a:ea typeface="メイリオ"/>
            </a:endParaRPr>
          </a:p>
          <a:p>
            <a:pPr algn="ctr"/>
            <a:endParaRPr sz="1100" b="1" dirty="0">
              <a:solidFill>
                <a:srgbClr val="1F3A5F"/>
              </a:solidFill>
              <a:latin typeface="メイリオ"/>
              <a:ea typeface="メイリオ"/>
            </a:endParaRPr>
          </a:p>
          <a:p>
            <a:pPr algn="ctr"/>
            <a:r>
              <a:rPr sz="1000" b="0" dirty="0" err="1">
                <a:solidFill>
                  <a:srgbClr val="333333"/>
                </a:solidFill>
                <a:latin typeface="メイリオ"/>
                <a:ea typeface="メイリオ"/>
              </a:rPr>
              <a:t>持ち物・アクセス案内</a:t>
            </a:r>
            <a:endParaRPr lang="en-US" sz="1000" b="0" dirty="0">
              <a:solidFill>
                <a:srgbClr val="333333"/>
              </a:solidFill>
              <a:latin typeface="メイリオ"/>
              <a:ea typeface="メイリオ"/>
            </a:endParaRPr>
          </a:p>
          <a:p>
            <a:pPr algn="ctr"/>
            <a:r>
              <a:rPr sz="1000" b="0" dirty="0">
                <a:solidFill>
                  <a:srgbClr val="333333"/>
                </a:solidFill>
                <a:latin typeface="メイリオ"/>
                <a:ea typeface="メイリオ"/>
              </a:rPr>
              <a:t>→</a:t>
            </a:r>
            <a:r>
              <a:rPr sz="1000" b="0" dirty="0" err="1">
                <a:solidFill>
                  <a:srgbClr val="333333"/>
                </a:solidFill>
                <a:latin typeface="メイリオ"/>
                <a:ea typeface="メイリオ"/>
              </a:rPr>
              <a:t>来店</a:t>
            </a:r>
            <a:r>
              <a:rPr sz="1000" b="0" dirty="0">
                <a:solidFill>
                  <a:srgbClr val="333333"/>
                </a:solidFill>
                <a:latin typeface="メイリオ"/>
                <a:ea typeface="メイリオ"/>
              </a:rPr>
              <a:t>(CV②)へ</a:t>
            </a:r>
          </a:p>
        </p:txBody>
      </p:sp>
      <p:sp>
        <p:nvSpPr>
          <p:cNvPr id="9" name="Rounded Rectangle 8"/>
          <p:cNvSpPr/>
          <p:nvPr/>
        </p:nvSpPr>
        <p:spPr>
          <a:xfrm>
            <a:off x="2743000" y="1868334"/>
            <a:ext cx="2200000" cy="10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100" b="1" dirty="0" err="1">
                <a:solidFill>
                  <a:srgbClr val="1F3A5F"/>
                </a:solidFill>
                <a:latin typeface="メイリオ"/>
                <a:ea typeface="メイリオ"/>
              </a:rPr>
              <a:t>入会手続き完了のお知らせ</a:t>
            </a:r>
            <a:endParaRPr sz="1100" b="1" dirty="0">
              <a:solidFill>
                <a:srgbClr val="1F3A5F"/>
              </a:solidFill>
              <a:latin typeface="メイリオ"/>
              <a:ea typeface="メイリオ"/>
            </a:endParaRPr>
          </a:p>
          <a:p>
            <a:pPr algn="ctr"/>
            <a:endParaRPr sz="1100" b="1" dirty="0">
              <a:solidFill>
                <a:srgbClr val="1F3A5F"/>
              </a:solidFill>
              <a:latin typeface="メイリオ"/>
              <a:ea typeface="メイリオ"/>
            </a:endParaRPr>
          </a:p>
          <a:p>
            <a:pPr algn="ctr"/>
            <a:r>
              <a:rPr sz="1000" b="0" dirty="0" err="1">
                <a:solidFill>
                  <a:srgbClr val="333333"/>
                </a:solidFill>
                <a:latin typeface="メイリオ"/>
                <a:ea typeface="メイリオ"/>
              </a:rPr>
              <a:t>初回来店の予約→継続</a:t>
            </a:r>
            <a:r>
              <a:rPr sz="1000" b="0" dirty="0">
                <a:solidFill>
                  <a:srgbClr val="333333"/>
                </a:solidFill>
                <a:latin typeface="メイリオ"/>
                <a:ea typeface="メイリオ"/>
              </a:rPr>
              <a:t>(CV③)へ</a:t>
            </a:r>
          </a:p>
        </p:txBody>
      </p:sp>
      <p:sp>
        <p:nvSpPr>
          <p:cNvPr id="10" name="Rounded Rectangle 9"/>
          <p:cNvSpPr/>
          <p:nvPr/>
        </p:nvSpPr>
        <p:spPr>
          <a:xfrm>
            <a:off x="5123000" y="1868334"/>
            <a:ext cx="2200000" cy="10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100" b="1">
                <a:solidFill>
                  <a:srgbClr val="1F3A5F"/>
                </a:solidFill>
                <a:latin typeface="メイリオ"/>
                <a:ea typeface="メイリオ"/>
              </a:rPr>
              <a:t>体験前日リマインド</a:t>
            </a:r>
          </a:p>
          <a:p>
            <a:pPr algn="ctr"/>
            <a:endParaRPr sz="1100" b="1">
              <a:solidFill>
                <a:srgbClr val="1F3A5F"/>
              </a:solidFill>
              <a:latin typeface="メイリオ"/>
              <a:ea typeface="メイリオ"/>
            </a:endParaRPr>
          </a:p>
          <a:p>
            <a:pPr algn="ctr"/>
            <a:r>
              <a:rPr sz="1000" b="0">
                <a:solidFill>
                  <a:srgbClr val="333333"/>
                </a:solidFill>
                <a:latin typeface="メイリオ"/>
                <a:ea typeface="メイリオ"/>
              </a:rPr>
              <a:t>当日キャンセル防止</a:t>
            </a:r>
          </a:p>
        </p:txBody>
      </p:sp>
      <p:sp>
        <p:nvSpPr>
          <p:cNvPr id="11" name="Rounded Rectangle 10"/>
          <p:cNvSpPr/>
          <p:nvPr/>
        </p:nvSpPr>
        <p:spPr>
          <a:xfrm>
            <a:off x="7503000" y="1868334"/>
            <a:ext cx="2200000" cy="10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100" b="1">
                <a:solidFill>
                  <a:srgbClr val="1F3A5F"/>
                </a:solidFill>
                <a:latin typeface="メイリオ"/>
                <a:ea typeface="メイリオ"/>
              </a:rPr>
              <a:t>入会キャンペーン告知</a:t>
            </a:r>
          </a:p>
          <a:p>
            <a:pPr algn="ctr"/>
            <a:endParaRPr sz="1100" b="1">
              <a:solidFill>
                <a:srgbClr val="1F3A5F"/>
              </a:solidFill>
              <a:latin typeface="メイリオ"/>
              <a:ea typeface="メイリオ"/>
            </a:endParaRPr>
          </a:p>
          <a:p>
            <a:pPr algn="ctr"/>
            <a:r>
              <a:rPr sz="1000" b="0">
                <a:solidFill>
                  <a:srgbClr val="333333"/>
                </a:solidFill>
                <a:latin typeface="メイリオ"/>
                <a:ea typeface="メイリオ"/>
              </a:rPr>
              <a:t>保有リストへ再アプローチ</a:t>
            </a:r>
          </a:p>
        </p:txBody>
      </p:sp>
      <p:sp>
        <p:nvSpPr>
          <p:cNvPr id="12" name="TextBox 11"/>
          <p:cNvSpPr txBox="1"/>
          <p:nvPr/>
        </p:nvSpPr>
        <p:spPr>
          <a:xfrm>
            <a:off x="350001" y="3089667"/>
            <a:ext cx="4400000" cy="307777"/>
          </a:xfrm>
          <a:prstGeom prst="rect">
            <a:avLst/>
          </a:prstGeom>
          <a:noFill/>
        </p:spPr>
        <p:txBody>
          <a:bodyPr wrap="square">
            <a:spAutoFit/>
          </a:bodyPr>
          <a:lstStyle/>
          <a:p>
            <a:pPr algn="l"/>
            <a:r>
              <a:rPr sz="1400" b="1" dirty="0">
                <a:solidFill>
                  <a:srgbClr val="1F3A5F"/>
                </a:solidFill>
                <a:latin typeface="メイリオ"/>
                <a:ea typeface="メイリオ"/>
              </a:rPr>
              <a:t>■ </a:t>
            </a:r>
            <a:r>
              <a:rPr lang="ja-JP" altLang="en-US" sz="1400" b="1" dirty="0">
                <a:solidFill>
                  <a:srgbClr val="1F3A5F"/>
                </a:solidFill>
                <a:latin typeface="メイリオ"/>
                <a:ea typeface="メイリオ"/>
              </a:rPr>
              <a:t>その他特殊動線の利用シーン</a:t>
            </a:r>
            <a:endParaRPr sz="1400" b="1" dirty="0">
              <a:solidFill>
                <a:srgbClr val="1F3A5F"/>
              </a:solidFill>
              <a:latin typeface="メイリオ"/>
              <a:ea typeface="メイリオ"/>
            </a:endParaRPr>
          </a:p>
        </p:txBody>
      </p:sp>
      <p:sp>
        <p:nvSpPr>
          <p:cNvPr id="13" name="Rounded Rectangle 12"/>
          <p:cNvSpPr/>
          <p:nvPr/>
        </p:nvSpPr>
        <p:spPr>
          <a:xfrm>
            <a:off x="350001" y="3439667"/>
            <a:ext cx="2200000" cy="1100000"/>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dirty="0">
                <a:solidFill>
                  <a:srgbClr val="FFFFFF"/>
                </a:solidFill>
                <a:latin typeface="メイリオ"/>
                <a:ea typeface="メイリオ"/>
              </a:rPr>
              <a:t>① 30秒でわかる体づくりタイプ診断</a:t>
            </a:r>
          </a:p>
          <a:p>
            <a:pPr algn="ctr"/>
            <a:endParaRPr sz="1050" b="1" dirty="0">
              <a:solidFill>
                <a:srgbClr val="FFFFFF"/>
              </a:solidFill>
              <a:latin typeface="メイリオ"/>
              <a:ea typeface="メイリオ"/>
            </a:endParaRPr>
          </a:p>
          <a:p>
            <a:pPr algn="ctr"/>
            <a:r>
              <a:rPr sz="1000" b="0" dirty="0" err="1">
                <a:solidFill>
                  <a:srgbClr val="FFFFFF"/>
                </a:solidFill>
                <a:latin typeface="メイリオ"/>
                <a:ea typeface="メイリオ"/>
              </a:rPr>
              <a:t>数タップで完了</a:t>
            </a:r>
            <a:r>
              <a:rPr sz="1000" b="0" dirty="0">
                <a:solidFill>
                  <a:srgbClr val="FFFFFF"/>
                </a:solidFill>
                <a:latin typeface="メイリオ"/>
                <a:ea typeface="メイリオ"/>
              </a:rPr>
              <a:t>。</a:t>
            </a:r>
            <a:endParaRPr lang="en-US" sz="1000" b="0" dirty="0">
              <a:solidFill>
                <a:srgbClr val="FFFFFF"/>
              </a:solidFill>
              <a:latin typeface="メイリオ"/>
              <a:ea typeface="メイリオ"/>
            </a:endParaRPr>
          </a:p>
          <a:p>
            <a:pPr algn="ctr"/>
            <a:r>
              <a:rPr sz="1000" b="0" dirty="0" err="1">
                <a:solidFill>
                  <a:srgbClr val="FFFFFF"/>
                </a:solidFill>
                <a:latin typeface="メイリオ"/>
                <a:ea typeface="メイリオ"/>
              </a:rPr>
              <a:t>体験前の心理ハードルを最小化</a:t>
            </a:r>
            <a:endParaRPr sz="1000" b="0" dirty="0">
              <a:solidFill>
                <a:srgbClr val="FFFFFF"/>
              </a:solidFill>
              <a:latin typeface="メイリオ"/>
              <a:ea typeface="メイリオ"/>
            </a:endParaRPr>
          </a:p>
        </p:txBody>
      </p:sp>
      <p:sp>
        <p:nvSpPr>
          <p:cNvPr id="14" name="Rounded Rectangle 13"/>
          <p:cNvSpPr/>
          <p:nvPr/>
        </p:nvSpPr>
        <p:spPr>
          <a:xfrm>
            <a:off x="2730001" y="3439667"/>
            <a:ext cx="2200000" cy="1100000"/>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dirty="0">
                <a:solidFill>
                  <a:srgbClr val="FFFFFF"/>
                </a:solidFill>
                <a:latin typeface="メイリオ"/>
                <a:ea typeface="メイリオ"/>
              </a:rPr>
              <a:t>② </a:t>
            </a:r>
            <a:r>
              <a:rPr sz="1050" b="1" dirty="0" err="1">
                <a:solidFill>
                  <a:srgbClr val="FFFFFF"/>
                </a:solidFill>
                <a:latin typeface="メイリオ"/>
                <a:ea typeface="メイリオ"/>
              </a:rPr>
              <a:t>通う頻度から選ぶ料金診断</a:t>
            </a:r>
            <a:endParaRPr sz="1050" b="1" dirty="0">
              <a:solidFill>
                <a:srgbClr val="FFFFFF"/>
              </a:solidFill>
              <a:latin typeface="メイリオ"/>
              <a:ea typeface="メイリオ"/>
            </a:endParaRPr>
          </a:p>
          <a:p>
            <a:pPr algn="ctr"/>
            <a:endParaRPr sz="1050" b="1" dirty="0">
              <a:solidFill>
                <a:srgbClr val="FFFFFF"/>
              </a:solidFill>
              <a:latin typeface="メイリオ"/>
              <a:ea typeface="メイリオ"/>
            </a:endParaRPr>
          </a:p>
          <a:p>
            <a:pPr algn="ctr"/>
            <a:r>
              <a:rPr sz="1000" b="0" dirty="0">
                <a:solidFill>
                  <a:srgbClr val="FFFFFF"/>
                </a:solidFill>
                <a:latin typeface="メイリオ"/>
                <a:ea typeface="メイリオ"/>
              </a:rPr>
              <a:t>「週2回なら1回◯円」を提示</a:t>
            </a:r>
            <a:endParaRPr lang="en-US" sz="1000" b="0" dirty="0">
              <a:solidFill>
                <a:srgbClr val="FFFFFF"/>
              </a:solidFill>
              <a:latin typeface="メイリオ"/>
              <a:ea typeface="メイリオ"/>
            </a:endParaRPr>
          </a:p>
          <a:p>
            <a:pPr algn="ctr"/>
            <a:r>
              <a:rPr sz="1000" b="0" dirty="0">
                <a:solidFill>
                  <a:srgbClr val="FFFFFF"/>
                </a:solidFill>
                <a:latin typeface="メイリオ"/>
                <a:ea typeface="メイリオ"/>
              </a:rPr>
              <a:t>→</a:t>
            </a:r>
            <a:r>
              <a:rPr sz="1000" b="0" dirty="0" err="1">
                <a:solidFill>
                  <a:srgbClr val="FFFFFF"/>
                </a:solidFill>
                <a:latin typeface="メイリオ"/>
                <a:ea typeface="メイリオ"/>
              </a:rPr>
              <a:t>体験予約へ</a:t>
            </a:r>
            <a:endParaRPr sz="1000" b="0" dirty="0">
              <a:solidFill>
                <a:srgbClr val="FFFFFF"/>
              </a:solidFill>
              <a:latin typeface="メイリオ"/>
              <a:ea typeface="メイリオ"/>
            </a:endParaRPr>
          </a:p>
        </p:txBody>
      </p:sp>
      <p:sp>
        <p:nvSpPr>
          <p:cNvPr id="15" name="Rounded Rectangle 14"/>
          <p:cNvSpPr/>
          <p:nvPr/>
        </p:nvSpPr>
        <p:spPr>
          <a:xfrm>
            <a:off x="5110001" y="3439667"/>
            <a:ext cx="2200000" cy="1100000"/>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③ 続けられるかタイプ診断</a:t>
            </a:r>
          </a:p>
          <a:p>
            <a:pPr algn="ctr"/>
            <a:endParaRPr sz="1050" b="1">
              <a:solidFill>
                <a:srgbClr val="FFFFFF"/>
              </a:solidFill>
              <a:latin typeface="メイリオ"/>
              <a:ea typeface="メイリオ"/>
            </a:endParaRPr>
          </a:p>
          <a:p>
            <a:pPr algn="ctr"/>
            <a:r>
              <a:rPr sz="1000" b="0">
                <a:solidFill>
                  <a:srgbClr val="FFFFFF"/>
                </a:solidFill>
                <a:latin typeface="メイリオ"/>
                <a:ea typeface="メイリオ"/>
              </a:rPr>
              <a:t>「続かない」不安に直撃＋友だち獲得</a:t>
            </a:r>
          </a:p>
        </p:txBody>
      </p:sp>
      <p:sp>
        <p:nvSpPr>
          <p:cNvPr id="16" name="Rounded Rectangle 15"/>
          <p:cNvSpPr/>
          <p:nvPr/>
        </p:nvSpPr>
        <p:spPr>
          <a:xfrm>
            <a:off x="7490001" y="3439667"/>
            <a:ext cx="2200000" cy="1100000"/>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④ 退会予兆検知（来店が2週間途切れ）</a:t>
            </a:r>
          </a:p>
          <a:p>
            <a:pPr algn="ctr"/>
            <a:endParaRPr sz="1050" b="1">
              <a:solidFill>
                <a:srgbClr val="FFFFFF"/>
              </a:solidFill>
              <a:latin typeface="メイリオ"/>
              <a:ea typeface="メイリオ"/>
            </a:endParaRPr>
          </a:p>
          <a:p>
            <a:pPr algn="ctr"/>
            <a:r>
              <a:rPr sz="1000" b="0">
                <a:solidFill>
                  <a:srgbClr val="FFFFFF"/>
                </a:solidFill>
                <a:latin typeface="メイリオ"/>
                <a:ea typeface="メイリオ"/>
              </a:rPr>
              <a:t>幽霊会員化を、退会される前に止める</a:t>
            </a:r>
          </a:p>
        </p:txBody>
      </p:sp>
      <p:sp>
        <p:nvSpPr>
          <p:cNvPr id="17" name="TextBox 16"/>
          <p:cNvSpPr txBox="1"/>
          <p:nvPr/>
        </p:nvSpPr>
        <p:spPr>
          <a:xfrm>
            <a:off x="349200" y="4824000"/>
            <a:ext cx="5040000" cy="237255"/>
          </a:xfrm>
          <a:prstGeom prst="rect">
            <a:avLst/>
          </a:prstGeom>
          <a:noFill/>
        </p:spPr>
        <p:txBody>
          <a:bodyPr wrap="square" lIns="28800" tIns="10800" rIns="28800" bIns="10800">
            <a:spAutoFit/>
          </a:bodyPr>
          <a:lstStyle/>
          <a:p>
            <a:r>
              <a:rPr sz="1400" b="1">
                <a:solidFill>
                  <a:srgbClr val="1F2A5C"/>
                </a:solidFill>
                <a:latin typeface="メイリオ"/>
                <a:ea typeface="メイリオ"/>
              </a:rPr>
              <a:t>■ 通知メッセージの仕組み（非友だちにも届く公式機能）</a:t>
            </a:r>
          </a:p>
        </p:txBody>
      </p:sp>
      <p:sp>
        <p:nvSpPr>
          <p:cNvPr id="18" name="Rounded Rectangle 17"/>
          <p:cNvSpPr/>
          <p:nvPr/>
        </p:nvSpPr>
        <p:spPr>
          <a:xfrm>
            <a:off x="349200" y="5148000"/>
            <a:ext cx="2736000" cy="792000"/>
          </a:xfrm>
          <a:prstGeom prst="roundRect">
            <a:avLst/>
          </a:prstGeom>
          <a:solidFill>
            <a:srgbClr val="E8ECF4"/>
          </a:solidFill>
          <a:ln w="12700">
            <a:solidFill>
              <a:srgbClr val="1F2A5C"/>
            </a:solidFill>
          </a:ln>
        </p:spPr>
        <p:style>
          <a:lnRef idx="1">
            <a:schemeClr val="accent1"/>
          </a:lnRef>
          <a:fillRef idx="3">
            <a:schemeClr val="accent1"/>
          </a:fillRef>
          <a:effectRef idx="2">
            <a:schemeClr val="accent1"/>
          </a:effectRef>
          <a:fontRef idx="minor">
            <a:schemeClr val="lt1"/>
          </a:fontRef>
        </p:style>
        <p:txBody>
          <a:bodyPr wrap="square" lIns="54000" rIns="54000" rtlCol="0" anchor="ctr"/>
          <a:lstStyle/>
          <a:p>
            <a:pPr algn="ctr"/>
            <a:r>
              <a:rPr sz="1400" b="1" dirty="0" err="1">
                <a:solidFill>
                  <a:srgbClr val="1F2A5C"/>
                </a:solidFill>
                <a:latin typeface="メイリオ"/>
                <a:ea typeface="メイリオ"/>
              </a:rPr>
              <a:t>保有リストの電話番号</a:t>
            </a:r>
            <a:endParaRPr sz="1400" b="1" dirty="0">
              <a:solidFill>
                <a:srgbClr val="1F2A5C"/>
              </a:solidFill>
              <a:latin typeface="メイリオ"/>
            </a:endParaRPr>
          </a:p>
          <a:p>
            <a:pPr algn="ctr"/>
            <a:r>
              <a:rPr sz="1100" b="0" dirty="0" err="1">
                <a:solidFill>
                  <a:srgbClr val="1C2233"/>
                </a:solidFill>
                <a:latin typeface="メイリオ"/>
                <a:ea typeface="メイリオ"/>
              </a:rPr>
              <a:t>過去の体験申込・休眠会員リストを利用</a:t>
            </a:r>
            <a:endParaRPr sz="1100" b="0" dirty="0">
              <a:solidFill>
                <a:srgbClr val="1C2233"/>
              </a:solidFill>
              <a:latin typeface="メイリオ"/>
            </a:endParaRPr>
          </a:p>
        </p:txBody>
      </p:sp>
      <p:sp>
        <p:nvSpPr>
          <p:cNvPr id="19" name="TextBox 18"/>
          <p:cNvSpPr txBox="1"/>
          <p:nvPr/>
        </p:nvSpPr>
        <p:spPr>
          <a:xfrm>
            <a:off x="3114000" y="5364000"/>
            <a:ext cx="324000" cy="391143"/>
          </a:xfrm>
          <a:prstGeom prst="rect">
            <a:avLst/>
          </a:prstGeom>
          <a:noFill/>
        </p:spPr>
        <p:txBody>
          <a:bodyPr wrap="square" lIns="28800" tIns="10800" rIns="28800" bIns="10800">
            <a:spAutoFit/>
          </a:bodyPr>
          <a:lstStyle/>
          <a:p>
            <a:pPr algn="ctr"/>
            <a:r>
              <a:rPr sz="2400" b="1">
                <a:solidFill>
                  <a:srgbClr val="1F2A5C"/>
                </a:solidFill>
                <a:latin typeface="メイリオ"/>
                <a:ea typeface="メイリオ"/>
              </a:rPr>
              <a:t>▶</a:t>
            </a:r>
          </a:p>
        </p:txBody>
      </p:sp>
      <p:sp>
        <p:nvSpPr>
          <p:cNvPr id="20" name="Rounded Rectangle 19"/>
          <p:cNvSpPr/>
          <p:nvPr/>
        </p:nvSpPr>
        <p:spPr>
          <a:xfrm>
            <a:off x="3452400" y="5148000"/>
            <a:ext cx="2736000" cy="792000"/>
          </a:xfrm>
          <a:prstGeom prst="roundRect">
            <a:avLst/>
          </a:prstGeom>
          <a:solidFill>
            <a:srgbClr val="E8ECF4"/>
          </a:solidFill>
          <a:ln w="12700">
            <a:solidFill>
              <a:srgbClr val="1F2A5C"/>
            </a:solidFill>
          </a:ln>
        </p:spPr>
        <p:style>
          <a:lnRef idx="1">
            <a:schemeClr val="accent1"/>
          </a:lnRef>
          <a:fillRef idx="3">
            <a:schemeClr val="accent1"/>
          </a:fillRef>
          <a:effectRef idx="2">
            <a:schemeClr val="accent1"/>
          </a:effectRef>
          <a:fontRef idx="minor">
            <a:schemeClr val="lt1"/>
          </a:fontRef>
        </p:style>
        <p:txBody>
          <a:bodyPr wrap="square" lIns="54000" rIns="54000" rtlCol="0" anchor="ctr"/>
          <a:lstStyle/>
          <a:p>
            <a:pPr algn="ctr"/>
            <a:r>
              <a:rPr sz="1400" b="1" dirty="0" err="1">
                <a:solidFill>
                  <a:srgbClr val="1F2A5C"/>
                </a:solidFill>
                <a:latin typeface="メイリオ"/>
                <a:ea typeface="メイリオ"/>
              </a:rPr>
              <a:t>LINEの電話番号と照合</a:t>
            </a:r>
            <a:endParaRPr sz="1400" b="1" dirty="0">
              <a:solidFill>
                <a:srgbClr val="1F2A5C"/>
              </a:solidFill>
              <a:latin typeface="メイリオ"/>
            </a:endParaRPr>
          </a:p>
          <a:p>
            <a:pPr algn="ctr"/>
            <a:r>
              <a:rPr sz="1100" b="0" dirty="0" err="1">
                <a:solidFill>
                  <a:srgbClr val="1C2233"/>
                </a:solidFill>
                <a:latin typeface="メイリオ"/>
                <a:ea typeface="メイリオ"/>
              </a:rPr>
              <a:t>LINEヤフー公式機能</a:t>
            </a:r>
            <a:r>
              <a:rPr sz="1100" b="0" dirty="0">
                <a:solidFill>
                  <a:srgbClr val="1C2233"/>
                </a:solidFill>
                <a:latin typeface="メイリオ"/>
                <a:ea typeface="メイリオ"/>
              </a:rPr>
              <a:t>。</a:t>
            </a:r>
            <a:endParaRPr lang="en-US" sz="1100" b="0" dirty="0">
              <a:solidFill>
                <a:srgbClr val="1C2233"/>
              </a:solidFill>
              <a:latin typeface="メイリオ"/>
            </a:endParaRPr>
          </a:p>
          <a:p>
            <a:pPr algn="ctr"/>
            <a:r>
              <a:rPr sz="1100" b="0" dirty="0" err="1">
                <a:solidFill>
                  <a:srgbClr val="1C2233"/>
                </a:solidFill>
                <a:latin typeface="メイリオ"/>
                <a:ea typeface="メイリオ"/>
              </a:rPr>
              <a:t>友だち登録が無くても対象化</a:t>
            </a:r>
            <a:endParaRPr sz="1100" b="0" dirty="0">
              <a:solidFill>
                <a:srgbClr val="1C2233"/>
              </a:solidFill>
              <a:latin typeface="メイリオ"/>
            </a:endParaRPr>
          </a:p>
        </p:txBody>
      </p:sp>
      <p:sp>
        <p:nvSpPr>
          <p:cNvPr id="21" name="TextBox 20"/>
          <p:cNvSpPr txBox="1"/>
          <p:nvPr/>
        </p:nvSpPr>
        <p:spPr>
          <a:xfrm>
            <a:off x="6217200" y="5364000"/>
            <a:ext cx="324000" cy="391143"/>
          </a:xfrm>
          <a:prstGeom prst="rect">
            <a:avLst/>
          </a:prstGeom>
          <a:noFill/>
        </p:spPr>
        <p:txBody>
          <a:bodyPr wrap="square" lIns="28800" tIns="10800" rIns="28800" bIns="10800">
            <a:spAutoFit/>
          </a:bodyPr>
          <a:lstStyle/>
          <a:p>
            <a:pPr algn="ctr"/>
            <a:r>
              <a:rPr sz="2400" b="1">
                <a:solidFill>
                  <a:srgbClr val="1F2A5C"/>
                </a:solidFill>
                <a:latin typeface="メイリオ"/>
                <a:ea typeface="メイリオ"/>
              </a:rPr>
              <a:t>▶</a:t>
            </a:r>
          </a:p>
        </p:txBody>
      </p:sp>
      <p:sp>
        <p:nvSpPr>
          <p:cNvPr id="22" name="Rounded Rectangle 21"/>
          <p:cNvSpPr/>
          <p:nvPr/>
        </p:nvSpPr>
        <p:spPr>
          <a:xfrm>
            <a:off x="6555600" y="5148000"/>
            <a:ext cx="2736000" cy="792000"/>
          </a:xfrm>
          <a:prstGeom prst="roundRect">
            <a:avLst/>
          </a:prstGeom>
          <a:solidFill>
            <a:srgbClr val="E8ECF4"/>
          </a:solidFill>
          <a:ln w="12700">
            <a:solidFill>
              <a:srgbClr val="1F2A5C"/>
            </a:solidFill>
          </a:ln>
        </p:spPr>
        <p:style>
          <a:lnRef idx="1">
            <a:schemeClr val="accent1"/>
          </a:lnRef>
          <a:fillRef idx="3">
            <a:schemeClr val="accent1"/>
          </a:fillRef>
          <a:effectRef idx="2">
            <a:schemeClr val="accent1"/>
          </a:effectRef>
          <a:fontRef idx="minor">
            <a:schemeClr val="lt1"/>
          </a:fontRef>
        </p:style>
        <p:txBody>
          <a:bodyPr wrap="square" lIns="54000" rIns="54000" rtlCol="0" anchor="ctr"/>
          <a:lstStyle/>
          <a:p>
            <a:pPr algn="ctr"/>
            <a:r>
              <a:rPr sz="1400" b="1" dirty="0" err="1">
                <a:solidFill>
                  <a:srgbClr val="1F2A5C"/>
                </a:solidFill>
                <a:latin typeface="メイリオ"/>
                <a:ea typeface="メイリオ"/>
              </a:rPr>
              <a:t>LINE上に直接配信</a:t>
            </a:r>
            <a:endParaRPr sz="1400" b="1" dirty="0">
              <a:solidFill>
                <a:srgbClr val="1F2A5C"/>
              </a:solidFill>
              <a:latin typeface="メイリオ"/>
            </a:endParaRPr>
          </a:p>
          <a:p>
            <a:pPr algn="ctr"/>
            <a:r>
              <a:rPr sz="1100" b="0" dirty="0" err="1">
                <a:solidFill>
                  <a:srgbClr val="1C2233"/>
                </a:solidFill>
                <a:latin typeface="メイリオ"/>
                <a:ea typeface="メイリオ"/>
              </a:rPr>
              <a:t>友だち化・再来店へ</a:t>
            </a:r>
            <a:r>
              <a:rPr sz="1100" b="0" dirty="0">
                <a:solidFill>
                  <a:srgbClr val="1C2233"/>
                </a:solidFill>
                <a:latin typeface="メイリオ"/>
                <a:ea typeface="メイリオ"/>
              </a:rPr>
              <a:t>。</a:t>
            </a:r>
            <a:endParaRPr lang="en-US" sz="1100" b="0" dirty="0">
              <a:solidFill>
                <a:srgbClr val="1C2233"/>
              </a:solidFill>
              <a:latin typeface="メイリオ"/>
            </a:endParaRPr>
          </a:p>
          <a:p>
            <a:pPr algn="ctr"/>
            <a:r>
              <a:rPr sz="1100" b="0" dirty="0" err="1">
                <a:solidFill>
                  <a:srgbClr val="1C2233"/>
                </a:solidFill>
                <a:latin typeface="メイリオ"/>
                <a:ea typeface="メイリオ"/>
              </a:rPr>
              <a:t>メール・テレマより接触率の高い接点</a:t>
            </a:r>
            <a:endParaRPr sz="1100" b="0" dirty="0">
              <a:solidFill>
                <a:srgbClr val="1C2233"/>
              </a:solidFill>
              <a:latin typeface="メイリオ"/>
            </a:endParaRPr>
          </a:p>
        </p:txBody>
      </p:sp>
      <p:sp>
        <p:nvSpPr>
          <p:cNvPr id="23" name="TextBox 22"/>
          <p:cNvSpPr txBox="1"/>
          <p:nvPr/>
        </p:nvSpPr>
        <p:spPr>
          <a:xfrm>
            <a:off x="363000" y="6300256"/>
            <a:ext cx="9180000" cy="216000"/>
          </a:xfrm>
          <a:prstGeom prst="rect">
            <a:avLst/>
          </a:prstGeom>
          <a:noFill/>
        </p:spPr>
        <p:txBody>
          <a:bodyPr wrap="square" lIns="28800" tIns="10800" rIns="28800" bIns="10800">
            <a:spAutoFit/>
          </a:bodyPr>
          <a:lstStyle/>
          <a:p>
            <a:r>
              <a:rPr sz="1000" b="0" dirty="0">
                <a:solidFill>
                  <a:srgbClr val="646C82"/>
                </a:solidFill>
                <a:latin typeface="メイリオ"/>
                <a:ea typeface="メイリオ"/>
              </a:rPr>
              <a:t>※ 通知メッセージは別途費用（初期20万円・月額60万円〜／</a:t>
            </a:r>
            <a:r>
              <a:rPr sz="1000" b="0" dirty="0" err="1">
                <a:solidFill>
                  <a:srgbClr val="646C82"/>
                </a:solidFill>
                <a:latin typeface="メイリオ"/>
                <a:ea typeface="メイリオ"/>
              </a:rPr>
              <a:t>社内料金表</a:t>
            </a:r>
            <a:r>
              <a:rPr sz="1000" b="0" dirty="0">
                <a:solidFill>
                  <a:srgbClr val="646C82"/>
                </a:solidFill>
                <a:latin typeface="メイリオ"/>
                <a:ea typeface="メイリオ"/>
              </a:rPr>
              <a:t>）。</a:t>
            </a:r>
            <a:r>
              <a:rPr sz="1000" b="0" dirty="0" err="1">
                <a:solidFill>
                  <a:srgbClr val="646C82"/>
                </a:solidFill>
                <a:latin typeface="メイリオ"/>
                <a:ea typeface="メイリオ"/>
              </a:rPr>
              <a:t>配信できる内容には要件・審査があります</a:t>
            </a:r>
            <a:r>
              <a:rPr sz="1000" b="0" dirty="0">
                <a:solidFill>
                  <a:srgbClr val="646C82"/>
                </a:solidFill>
                <a:latin typeface="メイリオ"/>
                <a:ea typeface="メイリオ"/>
              </a:rPr>
              <a:t>。</a:t>
            </a:r>
          </a:p>
        </p:txBody>
      </p:sp>
    </p:spTree>
    <p:extLst>
      <p:ext uri="{BB962C8B-B14F-4D97-AF65-F5344CB8AC3E}">
        <p14:creationId xmlns:p14="http://schemas.microsoft.com/office/powerpoint/2010/main" val="422487045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3900D-063E-F973-5EF2-005AE1CA215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758DBC2-018A-378B-99F0-43DAFE20DF5C}"/>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施策の考え方</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3" name="正方形/長方形 2">
            <a:extLst>
              <a:ext uri="{FF2B5EF4-FFF2-40B4-BE49-F238E27FC236}">
                <a16:creationId xmlns:a16="http://schemas.microsoft.com/office/drawing/2014/main" id="{294458F3-B182-EFAE-9BE8-8E76712736E7}"/>
              </a:ext>
            </a:extLst>
          </p:cNvPr>
          <p:cNvSpPr/>
          <p:nvPr/>
        </p:nvSpPr>
        <p:spPr>
          <a:xfrm>
            <a:off x="175475" y="1823735"/>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EDB57FCC-E034-81EB-B2ED-2EB62032A504}"/>
              </a:ext>
            </a:extLst>
          </p:cNvPr>
          <p:cNvSpPr/>
          <p:nvPr/>
        </p:nvSpPr>
        <p:spPr>
          <a:xfrm>
            <a:off x="4994298" y="1823734"/>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3C363108-225C-23EE-472E-1E1A14DA49E4}"/>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10" name="Google Shape;752;p28">
            <a:extLst>
              <a:ext uri="{FF2B5EF4-FFF2-40B4-BE49-F238E27FC236}">
                <a16:creationId xmlns:a16="http://schemas.microsoft.com/office/drawing/2014/main" id="{9A39965E-24C8-AD90-0D9E-A9BC47D02016}"/>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WEB</a:t>
            </a:r>
            <a:r>
              <a:rPr lang="ja-JP" altLang="en-US" sz="1600" b="1" dirty="0">
                <a:latin typeface="メイリオ" panose="020B0604030504040204" pitchFamily="50" charset="-128"/>
                <a:ea typeface="メイリオ" panose="020B0604030504040204" pitchFamily="50" charset="-128"/>
                <a:cs typeface="Meiryo"/>
                <a:sym typeface="Meiryo"/>
              </a:rPr>
              <a:t>上で何らかの成果地点（</a:t>
            </a:r>
            <a:r>
              <a:rPr lang="en-US" altLang="ja-JP" sz="1600" b="1" dirty="0">
                <a:latin typeface="メイリオ" panose="020B0604030504040204" pitchFamily="50" charset="-128"/>
                <a:ea typeface="メイリオ" panose="020B0604030504040204" pitchFamily="50" charset="-128"/>
                <a:cs typeface="Meiryo"/>
                <a:sym typeface="Meiryo"/>
              </a:rPr>
              <a:t>mcv</a:t>
            </a:r>
            <a:r>
              <a:rPr lang="ja-JP" altLang="en-US" sz="1600" b="1" dirty="0">
                <a:latin typeface="メイリオ" panose="020B0604030504040204" pitchFamily="50" charset="-128"/>
                <a:ea typeface="メイリオ" panose="020B0604030504040204" pitchFamily="50" charset="-128"/>
                <a:cs typeface="Meiryo"/>
                <a:sym typeface="Meiryo"/>
              </a:rPr>
              <a:t>、</a:t>
            </a:r>
            <a:r>
              <a:rPr lang="en-US" altLang="ja-JP" sz="1600" b="1" dirty="0">
                <a:latin typeface="メイリオ" panose="020B0604030504040204" pitchFamily="50" charset="-128"/>
                <a:ea typeface="メイリオ" panose="020B0604030504040204" pitchFamily="50" charset="-128"/>
                <a:cs typeface="Meiryo"/>
                <a:sym typeface="Meiryo"/>
              </a:rPr>
              <a:t>CV</a:t>
            </a:r>
            <a:r>
              <a:rPr lang="ja-JP" altLang="en-US" sz="1600" b="1" dirty="0">
                <a:latin typeface="メイリオ" panose="020B0604030504040204" pitchFamily="50" charset="-128"/>
                <a:ea typeface="メイリオ" panose="020B0604030504040204" pitchFamily="50" charset="-128"/>
                <a:cs typeface="Meiryo"/>
                <a:sym typeface="Meiryo"/>
              </a:rPr>
              <a:t>）に到達しリード獲得できているか、</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を軸に配信戦略を組み立てることで、ユーザーアクティブ率を保った状態で運用。</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62" name="正方形/長方形 61">
            <a:extLst>
              <a:ext uri="{FF2B5EF4-FFF2-40B4-BE49-F238E27FC236}">
                <a16:creationId xmlns:a16="http://schemas.microsoft.com/office/drawing/2014/main" id="{EDC00F02-3FEF-F2A7-D36C-00239CB92DE5}"/>
              </a:ext>
            </a:extLst>
          </p:cNvPr>
          <p:cNvSpPr/>
          <p:nvPr/>
        </p:nvSpPr>
        <p:spPr>
          <a:xfrm>
            <a:off x="175475" y="1503248"/>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latin typeface="メイリオ" panose="020B0604030504040204" pitchFamily="50" charset="-128"/>
                <a:ea typeface="メイリオ" panose="020B0604030504040204" pitchFamily="50" charset="-128"/>
              </a:rPr>
              <a:t>施策パターン①</a:t>
            </a:r>
          </a:p>
        </p:txBody>
      </p:sp>
      <p:sp>
        <p:nvSpPr>
          <p:cNvPr id="66" name="正方形/長方形 65">
            <a:extLst>
              <a:ext uri="{FF2B5EF4-FFF2-40B4-BE49-F238E27FC236}">
                <a16:creationId xmlns:a16="http://schemas.microsoft.com/office/drawing/2014/main" id="{3B6038D6-0E00-CDB9-8318-C7D05A37E8F2}"/>
              </a:ext>
            </a:extLst>
          </p:cNvPr>
          <p:cNvSpPr/>
          <p:nvPr/>
        </p:nvSpPr>
        <p:spPr>
          <a:xfrm>
            <a:off x="4994298" y="1503247"/>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latin typeface="メイリオ" panose="020B0604030504040204" pitchFamily="50" charset="-128"/>
                <a:ea typeface="メイリオ" panose="020B0604030504040204" pitchFamily="50" charset="-128"/>
              </a:rPr>
              <a:t>施策パターン②</a:t>
            </a:r>
          </a:p>
        </p:txBody>
      </p:sp>
      <p:sp>
        <p:nvSpPr>
          <p:cNvPr id="29" name="テキスト ボックス 28">
            <a:extLst>
              <a:ext uri="{FF2B5EF4-FFF2-40B4-BE49-F238E27FC236}">
                <a16:creationId xmlns:a16="http://schemas.microsoft.com/office/drawing/2014/main" id="{95738B1D-B1C9-DA32-166A-EEB5583118B2}"/>
              </a:ext>
            </a:extLst>
          </p:cNvPr>
          <p:cNvSpPr txBox="1"/>
          <p:nvPr/>
        </p:nvSpPr>
        <p:spPr>
          <a:xfrm>
            <a:off x="422129" y="1984604"/>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a:t>
            </a:r>
            <a:r>
              <a:rPr lang="ja-JP" altLang="en-US" sz="1100" b="1" dirty="0">
                <a:latin typeface="メイリオ" panose="020B0604030504040204" pitchFamily="50" charset="-128"/>
                <a:ea typeface="メイリオ" panose="020B0604030504040204" pitchFamily="50" charset="-128"/>
              </a:rPr>
              <a:t>広告</a:t>
            </a:r>
            <a:r>
              <a:rPr lang="ja-JP" altLang="ja-JP" sz="1100" b="1" dirty="0">
                <a:latin typeface="メイリオ" panose="020B0604030504040204" pitchFamily="50" charset="-128"/>
                <a:ea typeface="メイリオ" panose="020B0604030504040204" pitchFamily="50" charset="-128"/>
              </a:rPr>
              <a:t>接触</a:t>
            </a:r>
            <a:r>
              <a:rPr lang="ja-JP" altLang="ja-JP" sz="1050" b="1" dirty="0">
                <a:latin typeface="メイリオ" panose="020B0604030504040204" pitchFamily="50" charset="-128"/>
                <a:ea typeface="メイリオ" panose="020B0604030504040204" pitchFamily="50" charset="-128"/>
              </a:rPr>
              <a:t>（認知・流入）</a:t>
            </a:r>
            <a:endParaRPr lang="en-US" altLang="ja-JP" sz="1100" b="1" dirty="0">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F7EABE5F-0E64-28C9-8263-322940EADD4B}"/>
              </a:ext>
            </a:extLst>
          </p:cNvPr>
          <p:cNvSpPr txBox="1"/>
          <p:nvPr/>
        </p:nvSpPr>
        <p:spPr>
          <a:xfrm>
            <a:off x="422129" y="2507075"/>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050" b="1" dirty="0">
                <a:latin typeface="メイリオ" panose="020B0604030504040204" pitchFamily="50" charset="-128"/>
                <a:ea typeface="メイリオ" panose="020B0604030504040204" pitchFamily="50" charset="-128"/>
              </a:rPr>
              <a:t>（対策）</a:t>
            </a:r>
            <a:endParaRPr lang="en-US" altLang="ja-JP" sz="1100" b="1" dirty="0">
              <a:latin typeface="メイリオ" panose="020B0604030504040204" pitchFamily="50" charset="-128"/>
              <a:ea typeface="メイリオ" panose="020B0604030504040204" pitchFamily="50" charset="-128"/>
            </a:endParaRPr>
          </a:p>
        </p:txBody>
      </p:sp>
      <p:sp>
        <p:nvSpPr>
          <p:cNvPr id="31" name="テキスト ボックス 30">
            <a:extLst>
              <a:ext uri="{FF2B5EF4-FFF2-40B4-BE49-F238E27FC236}">
                <a16:creationId xmlns:a16="http://schemas.microsoft.com/office/drawing/2014/main" id="{A12C45A1-12E4-9259-6A85-AEA2AB71D7BB}"/>
              </a:ext>
            </a:extLst>
          </p:cNvPr>
          <p:cNvSpPr txBox="1"/>
          <p:nvPr/>
        </p:nvSpPr>
        <p:spPr>
          <a:xfrm>
            <a:off x="422129" y="3029546"/>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a:t>
            </a:r>
            <a:r>
              <a:rPr lang="ja-JP" altLang="ja-JP" sz="1050" b="1" dirty="0">
                <a:latin typeface="メイリオ" panose="020B0604030504040204" pitchFamily="50" charset="-128"/>
                <a:ea typeface="メイリオ" panose="020B0604030504040204" pitchFamily="50" charset="-128"/>
              </a:rPr>
              <a:t>（興味</a:t>
            </a:r>
            <a:r>
              <a:rPr lang="ja-JP" altLang="en-US" sz="1050" b="1" dirty="0">
                <a:latin typeface="メイリオ" panose="020B0604030504040204" pitchFamily="50" charset="-128"/>
                <a:ea typeface="メイリオ" panose="020B0604030504040204" pitchFamily="50" charset="-128"/>
              </a:rPr>
              <a:t>喚起</a:t>
            </a:r>
            <a:r>
              <a:rPr lang="ja-JP" altLang="ja-JP" sz="105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p:txBody>
      </p:sp>
      <p:sp>
        <p:nvSpPr>
          <p:cNvPr id="33" name="テキスト ボックス 32">
            <a:extLst>
              <a:ext uri="{FF2B5EF4-FFF2-40B4-BE49-F238E27FC236}">
                <a16:creationId xmlns:a16="http://schemas.microsoft.com/office/drawing/2014/main" id="{128706D3-5B0C-1F73-557E-CB982B55D10F}"/>
              </a:ext>
            </a:extLst>
          </p:cNvPr>
          <p:cNvSpPr txBox="1"/>
          <p:nvPr/>
        </p:nvSpPr>
        <p:spPr>
          <a:xfrm>
            <a:off x="422129" y="3552018"/>
            <a:ext cx="1868111" cy="261610"/>
          </a:xfrm>
          <a:prstGeom prst="rect">
            <a:avLst/>
          </a:prstGeom>
          <a:solidFill>
            <a:srgbClr val="FFC000"/>
          </a:solidFill>
          <a:ln>
            <a:noFill/>
          </a:ln>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④体験予約(LINE)</a:t>
            </a:r>
          </a:p>
        </p:txBody>
      </p:sp>
      <p:pic>
        <p:nvPicPr>
          <p:cNvPr id="53" name="図 52">
            <a:extLst>
              <a:ext uri="{FF2B5EF4-FFF2-40B4-BE49-F238E27FC236}">
                <a16:creationId xmlns:a16="http://schemas.microsoft.com/office/drawing/2014/main" id="{EA1649D4-69AF-0DA4-C778-D98D940AEC00}"/>
              </a:ext>
            </a:extLst>
          </p:cNvPr>
          <p:cNvPicPr>
            <a:picLocks noChangeAspect="1"/>
          </p:cNvPicPr>
          <p:nvPr/>
        </p:nvPicPr>
        <p:blipFill>
          <a:blip r:embed="rId2"/>
          <a:stretch>
            <a:fillRect/>
          </a:stretch>
        </p:blipFill>
        <p:spPr>
          <a:xfrm>
            <a:off x="1802674" y="3028773"/>
            <a:ext cx="481489" cy="448956"/>
          </a:xfrm>
          <a:prstGeom prst="rect">
            <a:avLst/>
          </a:prstGeom>
        </p:spPr>
      </p:pic>
      <p:sp>
        <p:nvSpPr>
          <p:cNvPr id="85" name="テキスト ボックス 84">
            <a:extLst>
              <a:ext uri="{FF2B5EF4-FFF2-40B4-BE49-F238E27FC236}">
                <a16:creationId xmlns:a16="http://schemas.microsoft.com/office/drawing/2014/main" id="{5E6F539F-D2FB-C3FF-CADC-41A4B9393233}"/>
              </a:ext>
            </a:extLst>
          </p:cNvPr>
          <p:cNvSpPr txBox="1"/>
          <p:nvPr/>
        </p:nvSpPr>
        <p:spPr>
          <a:xfrm>
            <a:off x="5143201" y="1982693"/>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a:t>
            </a:r>
            <a:r>
              <a:rPr lang="ja-JP" altLang="en-US" sz="1100" b="1" dirty="0">
                <a:latin typeface="メイリオ" panose="020B0604030504040204" pitchFamily="50" charset="-128"/>
                <a:ea typeface="メイリオ" panose="020B0604030504040204" pitchFamily="50" charset="-128"/>
              </a:rPr>
              <a:t>広告</a:t>
            </a:r>
            <a:r>
              <a:rPr lang="ja-JP" altLang="ja-JP" sz="1100" b="1" dirty="0">
                <a:latin typeface="メイリオ" panose="020B0604030504040204" pitchFamily="50" charset="-128"/>
                <a:ea typeface="メイリオ" panose="020B0604030504040204" pitchFamily="50" charset="-128"/>
              </a:rPr>
              <a:t>接触</a:t>
            </a:r>
            <a:r>
              <a:rPr lang="ja-JP" altLang="ja-JP" sz="1050" b="1" dirty="0">
                <a:latin typeface="メイリオ" panose="020B0604030504040204" pitchFamily="50" charset="-128"/>
                <a:ea typeface="メイリオ" panose="020B0604030504040204" pitchFamily="50" charset="-128"/>
              </a:rPr>
              <a:t>（認知・流入）</a:t>
            </a:r>
            <a:endParaRPr lang="en-US" altLang="ja-JP" sz="1100" b="1" dirty="0">
              <a:latin typeface="メイリオ" panose="020B0604030504040204" pitchFamily="50" charset="-128"/>
              <a:ea typeface="メイリオ" panose="020B0604030504040204" pitchFamily="50" charset="-128"/>
            </a:endParaRPr>
          </a:p>
        </p:txBody>
      </p:sp>
      <p:sp>
        <p:nvSpPr>
          <p:cNvPr id="87" name="テキスト ボックス 86">
            <a:extLst>
              <a:ext uri="{FF2B5EF4-FFF2-40B4-BE49-F238E27FC236}">
                <a16:creationId xmlns:a16="http://schemas.microsoft.com/office/drawing/2014/main" id="{6B5C1DBC-53A4-6C17-453F-7392109F4349}"/>
              </a:ext>
            </a:extLst>
          </p:cNvPr>
          <p:cNvSpPr txBox="1"/>
          <p:nvPr/>
        </p:nvSpPr>
        <p:spPr>
          <a:xfrm>
            <a:off x="5143201" y="2505164"/>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050" b="1" dirty="0">
                <a:latin typeface="メイリオ" panose="020B0604030504040204" pitchFamily="50" charset="-128"/>
                <a:ea typeface="メイリオ" panose="020B0604030504040204" pitchFamily="50" charset="-128"/>
              </a:rPr>
              <a:t>（対策）</a:t>
            </a:r>
            <a:endParaRPr lang="en-US" altLang="ja-JP" sz="1100" b="1" dirty="0">
              <a:latin typeface="メイリオ" panose="020B0604030504040204" pitchFamily="50" charset="-128"/>
              <a:ea typeface="メイリオ" panose="020B0604030504040204" pitchFamily="50" charset="-128"/>
            </a:endParaRPr>
          </a:p>
        </p:txBody>
      </p:sp>
      <p:sp>
        <p:nvSpPr>
          <p:cNvPr id="89" name="テキスト ボックス 88">
            <a:extLst>
              <a:ext uri="{FF2B5EF4-FFF2-40B4-BE49-F238E27FC236}">
                <a16:creationId xmlns:a16="http://schemas.microsoft.com/office/drawing/2014/main" id="{DCFBD929-A905-61D5-CE80-44ED20F86966}"/>
              </a:ext>
            </a:extLst>
          </p:cNvPr>
          <p:cNvSpPr txBox="1"/>
          <p:nvPr/>
        </p:nvSpPr>
        <p:spPr>
          <a:xfrm>
            <a:off x="5143201" y="3027635"/>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a:t>
            </a:r>
            <a:r>
              <a:rPr lang="ja-JP" altLang="ja-JP" sz="1050" b="1" dirty="0">
                <a:latin typeface="メイリオ" panose="020B0604030504040204" pitchFamily="50" charset="-128"/>
                <a:ea typeface="メイリオ" panose="020B0604030504040204" pitchFamily="50" charset="-128"/>
              </a:rPr>
              <a:t>（興味</a:t>
            </a:r>
            <a:r>
              <a:rPr lang="ja-JP" altLang="en-US" sz="1050" b="1" dirty="0">
                <a:latin typeface="メイリオ" panose="020B0604030504040204" pitchFamily="50" charset="-128"/>
                <a:ea typeface="メイリオ" panose="020B0604030504040204" pitchFamily="50" charset="-128"/>
              </a:rPr>
              <a:t>喚起</a:t>
            </a:r>
            <a:r>
              <a:rPr lang="ja-JP" altLang="ja-JP" sz="105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p:txBody>
      </p:sp>
      <p:sp>
        <p:nvSpPr>
          <p:cNvPr id="91" name="テキスト ボックス 90">
            <a:extLst>
              <a:ext uri="{FF2B5EF4-FFF2-40B4-BE49-F238E27FC236}">
                <a16:creationId xmlns:a16="http://schemas.microsoft.com/office/drawing/2014/main" id="{4888F6B2-E8F3-6E3F-0048-663B63086746}"/>
              </a:ext>
            </a:extLst>
          </p:cNvPr>
          <p:cNvSpPr txBox="1"/>
          <p:nvPr/>
        </p:nvSpPr>
        <p:spPr>
          <a:xfrm>
            <a:off x="5143201" y="3550107"/>
            <a:ext cx="1868111" cy="261610"/>
          </a:xfrm>
          <a:prstGeom prst="rect">
            <a:avLst/>
          </a:prstGeom>
          <a:solidFill>
            <a:srgbClr val="FFC000"/>
          </a:solidFill>
          <a:ln>
            <a:noFill/>
          </a:ln>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④体験予約(WEB)</a:t>
            </a:r>
          </a:p>
        </p:txBody>
      </p:sp>
      <p:sp>
        <p:nvSpPr>
          <p:cNvPr id="102" name="正方形/長方形 101">
            <a:extLst>
              <a:ext uri="{FF2B5EF4-FFF2-40B4-BE49-F238E27FC236}">
                <a16:creationId xmlns:a16="http://schemas.microsoft.com/office/drawing/2014/main" id="{9EE14D7E-45A2-36AE-530E-59E20992B5AF}"/>
              </a:ext>
            </a:extLst>
          </p:cNvPr>
          <p:cNvSpPr/>
          <p:nvPr/>
        </p:nvSpPr>
        <p:spPr>
          <a:xfrm>
            <a:off x="2263414" y="302763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1" name="図 100">
            <a:extLst>
              <a:ext uri="{FF2B5EF4-FFF2-40B4-BE49-F238E27FC236}">
                <a16:creationId xmlns:a16="http://schemas.microsoft.com/office/drawing/2014/main" id="{DA7B3CB5-C4B3-1D97-3F10-262CAC6E015A}"/>
              </a:ext>
            </a:extLst>
          </p:cNvPr>
          <p:cNvPicPr>
            <a:picLocks noChangeAspect="1"/>
          </p:cNvPicPr>
          <p:nvPr/>
        </p:nvPicPr>
        <p:blipFill>
          <a:blip r:embed="rId2"/>
          <a:stretch>
            <a:fillRect/>
          </a:stretch>
        </p:blipFill>
        <p:spPr>
          <a:xfrm>
            <a:off x="6529823" y="3550106"/>
            <a:ext cx="481489" cy="448956"/>
          </a:xfrm>
          <a:prstGeom prst="rect">
            <a:avLst/>
          </a:prstGeom>
        </p:spPr>
      </p:pic>
      <p:sp>
        <p:nvSpPr>
          <p:cNvPr id="104" name="正方形/長方形 103">
            <a:extLst>
              <a:ext uri="{FF2B5EF4-FFF2-40B4-BE49-F238E27FC236}">
                <a16:creationId xmlns:a16="http://schemas.microsoft.com/office/drawing/2014/main" id="{FEDCBEDF-3AA0-5304-246A-9DE0FEF053CC}"/>
              </a:ext>
            </a:extLst>
          </p:cNvPr>
          <p:cNvSpPr/>
          <p:nvPr/>
        </p:nvSpPr>
        <p:spPr>
          <a:xfrm>
            <a:off x="7408576" y="381495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テキスト ボックス 109">
            <a:extLst>
              <a:ext uri="{FF2B5EF4-FFF2-40B4-BE49-F238E27FC236}">
                <a16:creationId xmlns:a16="http://schemas.microsoft.com/office/drawing/2014/main" id="{07D590B7-DD52-A9BA-474C-C49C3CD21DB2}"/>
              </a:ext>
            </a:extLst>
          </p:cNvPr>
          <p:cNvSpPr txBox="1"/>
          <p:nvPr/>
        </p:nvSpPr>
        <p:spPr>
          <a:xfrm>
            <a:off x="2354400" y="2848236"/>
            <a:ext cx="2348229" cy="261610"/>
          </a:xfrm>
          <a:prstGeom prst="rect">
            <a:avLst/>
          </a:prstGeom>
          <a:noFill/>
        </p:spPr>
        <p:txBody>
          <a:bodyPr wrap="square">
            <a:spAutoFit/>
          </a:bodyPr>
          <a:lstStyle/>
          <a:p>
            <a:pPr algn="ctr"/>
            <a:r>
              <a:rPr lang="en-US" altLang="ja-JP" sz="1050" b="1" dirty="0">
                <a:solidFill>
                  <a:srgbClr val="FF0000"/>
                </a:solidFill>
                <a:latin typeface="メイリオ" panose="020B0604030504040204" pitchFamily="50" charset="-128"/>
                <a:ea typeface="メイリオ" panose="020B0604030504040204" pitchFamily="50" charset="-128"/>
                <a:sym typeface="Meiryo"/>
              </a:rPr>
              <a:t>[LINEで体づくりタイプ診断] から</a:t>
            </a:r>
            <a:endParaRPr lang="ja-JP" altLang="en-US" sz="1100" dirty="0">
              <a:solidFill>
                <a:srgbClr val="FF0000"/>
              </a:solidFill>
            </a:endParaRPr>
          </a:p>
        </p:txBody>
      </p:sp>
      <p:sp>
        <p:nvSpPr>
          <p:cNvPr id="112" name="テキスト ボックス 111">
            <a:extLst>
              <a:ext uri="{FF2B5EF4-FFF2-40B4-BE49-F238E27FC236}">
                <a16:creationId xmlns:a16="http://schemas.microsoft.com/office/drawing/2014/main" id="{F0F00B34-5F05-6BF2-F97F-09EC9D503507}"/>
              </a:ext>
            </a:extLst>
          </p:cNvPr>
          <p:cNvSpPr txBox="1"/>
          <p:nvPr/>
        </p:nvSpPr>
        <p:spPr>
          <a:xfrm>
            <a:off x="7586643" y="3643779"/>
            <a:ext cx="2234109" cy="261610"/>
          </a:xfrm>
          <a:prstGeom prst="rect">
            <a:avLst/>
          </a:prstGeom>
          <a:no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sym typeface="Meiryo"/>
              </a:rPr>
              <a:t>体験予約/見学予約 から</a:t>
            </a:r>
            <a:endParaRPr lang="ja-JP" altLang="en-US" sz="1100" dirty="0">
              <a:solidFill>
                <a:srgbClr val="FF0000"/>
              </a:solidFill>
            </a:endParaRPr>
          </a:p>
        </p:txBody>
      </p:sp>
      <p:sp>
        <p:nvSpPr>
          <p:cNvPr id="113" name="TextBox 112"/>
          <p:cNvSpPr txBox="1"/>
          <p:nvPr/>
        </p:nvSpPr>
        <p:spPr>
          <a:xfrm>
            <a:off x="2354400" y="3117600"/>
            <a:ext cx="2260800" cy="251999"/>
          </a:xfrm>
          <a:prstGeom prst="rect">
            <a:avLst/>
          </a:prstGeom>
          <a:noFill/>
        </p:spPr>
        <p:txBody>
          <a:bodyPr wrap="square" lIns="28800" tIns="10800" rIns="28800" bIns="10800">
            <a:spAutoFit/>
          </a:bodyPr>
          <a:lstStyle/>
          <a:p>
            <a:r>
              <a:rPr sz="1200" b="1">
                <a:solidFill>
                  <a:srgbClr val="1F2A5C"/>
                </a:solidFill>
                <a:latin typeface="メイリオ"/>
                <a:ea typeface="メイリオ"/>
              </a:rPr>
              <a:t>こんな企業・状況に向く</a:t>
            </a:r>
          </a:p>
        </p:txBody>
      </p:sp>
      <p:sp>
        <p:nvSpPr>
          <p:cNvPr id="114" name="TextBox 113"/>
          <p:cNvSpPr txBox="1"/>
          <p:nvPr/>
        </p:nvSpPr>
        <p:spPr>
          <a:xfrm>
            <a:off x="2354400" y="3405600"/>
            <a:ext cx="2260800" cy="760475"/>
          </a:xfrm>
          <a:prstGeom prst="rect">
            <a:avLst/>
          </a:prstGeom>
          <a:noFill/>
        </p:spPr>
        <p:txBody>
          <a:bodyPr wrap="square" lIns="28800" tIns="10800" rIns="28800" bIns="10800">
            <a:spAutoFit/>
          </a:bodyPr>
          <a:lstStyle/>
          <a:p>
            <a:r>
              <a:rPr sz="1200" b="0" dirty="0">
                <a:solidFill>
                  <a:srgbClr val="1C2233"/>
                </a:solidFill>
                <a:latin typeface="メイリオ"/>
                <a:ea typeface="メイリオ"/>
              </a:rPr>
              <a:t>✓ </a:t>
            </a:r>
            <a:r>
              <a:rPr sz="1200" b="0" dirty="0" err="1">
                <a:solidFill>
                  <a:srgbClr val="1C2233"/>
                </a:solidFill>
                <a:latin typeface="メイリオ"/>
                <a:ea typeface="メイリオ"/>
              </a:rPr>
              <a:t>Web予約の完了率が低い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検討初期の迷い層を逃す</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電話折返しの工数が重い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予約までLINEで完結したい</a:t>
            </a:r>
            <a:endParaRPr sz="1200" b="0" dirty="0">
              <a:solidFill>
                <a:srgbClr val="1C2233"/>
              </a:solidFill>
              <a:latin typeface="メイリオ"/>
            </a:endParaRPr>
          </a:p>
        </p:txBody>
      </p:sp>
      <p:sp>
        <p:nvSpPr>
          <p:cNvPr id="115" name="TextBox 114"/>
          <p:cNvSpPr txBox="1"/>
          <p:nvPr/>
        </p:nvSpPr>
        <p:spPr>
          <a:xfrm>
            <a:off x="7463604" y="3898024"/>
            <a:ext cx="2260800" cy="251999"/>
          </a:xfrm>
          <a:prstGeom prst="rect">
            <a:avLst/>
          </a:prstGeom>
          <a:noFill/>
        </p:spPr>
        <p:txBody>
          <a:bodyPr wrap="square" lIns="28800" tIns="10800" rIns="28800" bIns="10800">
            <a:spAutoFit/>
          </a:bodyPr>
          <a:lstStyle/>
          <a:p>
            <a:r>
              <a:rPr sz="1200" b="1">
                <a:solidFill>
                  <a:srgbClr val="1F2A5C"/>
                </a:solidFill>
                <a:latin typeface="メイリオ"/>
                <a:ea typeface="メイリオ"/>
              </a:rPr>
              <a:t>こんな企業・状況に向く</a:t>
            </a:r>
          </a:p>
        </p:txBody>
      </p:sp>
      <p:sp>
        <p:nvSpPr>
          <p:cNvPr id="116" name="TextBox 115"/>
          <p:cNvSpPr txBox="1"/>
          <p:nvPr/>
        </p:nvSpPr>
        <p:spPr>
          <a:xfrm>
            <a:off x="7497067" y="4193638"/>
            <a:ext cx="2260800" cy="2160000"/>
          </a:xfrm>
          <a:prstGeom prst="rect">
            <a:avLst/>
          </a:prstGeom>
          <a:noFill/>
        </p:spPr>
        <p:txBody>
          <a:bodyPr wrap="square" lIns="28800" tIns="10800" rIns="28800" bIns="10800">
            <a:spAutoFit/>
          </a:bodyPr>
          <a:lstStyle/>
          <a:p>
            <a:r>
              <a:rPr sz="1200" b="0" dirty="0">
                <a:solidFill>
                  <a:srgbClr val="1C2233"/>
                </a:solidFill>
                <a:latin typeface="メイリオ"/>
                <a:ea typeface="メイリオ"/>
              </a:rPr>
              <a:t>✓ </a:t>
            </a:r>
            <a:r>
              <a:rPr sz="1200" b="0" dirty="0" err="1">
                <a:solidFill>
                  <a:srgbClr val="1C2233"/>
                </a:solidFill>
                <a:latin typeface="メイリオ"/>
                <a:ea typeface="メイリオ"/>
              </a:rPr>
              <a:t>Web予約は既に回っている</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無断キャンセルが課題</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通知メッセを使いたい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入会後もLINEを活用したい</a:t>
            </a:r>
            <a:endParaRPr sz="1200" b="0" dirty="0">
              <a:solidFill>
                <a:srgbClr val="1C2233"/>
              </a:solidFill>
              <a:latin typeface="メイリオ"/>
            </a:endParaRPr>
          </a:p>
        </p:txBody>
      </p:sp>
      <p:sp>
        <p:nvSpPr>
          <p:cNvPr id="41" name="テキスト ボックス 40">
            <a:extLst>
              <a:ext uri="{FF2B5EF4-FFF2-40B4-BE49-F238E27FC236}">
                <a16:creationId xmlns:a16="http://schemas.microsoft.com/office/drawing/2014/main" id="{A23A1E86-15BD-39B1-3D44-14FF135EC4BD}"/>
              </a:ext>
            </a:extLst>
          </p:cNvPr>
          <p:cNvSpPr txBox="1"/>
          <p:nvPr/>
        </p:nvSpPr>
        <p:spPr>
          <a:xfrm>
            <a:off x="422129" y="4306903"/>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来店・体験</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5" name="テキスト ボックス 44">
            <a:extLst>
              <a:ext uri="{FF2B5EF4-FFF2-40B4-BE49-F238E27FC236}">
                <a16:creationId xmlns:a16="http://schemas.microsoft.com/office/drawing/2014/main" id="{AE507E2D-17AC-0380-DFCC-8C7DCC0E7673}"/>
              </a:ext>
            </a:extLst>
          </p:cNvPr>
          <p:cNvSpPr txBox="1"/>
          <p:nvPr/>
        </p:nvSpPr>
        <p:spPr>
          <a:xfrm>
            <a:off x="422129" y="5363159"/>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8" name="テキスト ボックス 47">
            <a:extLst>
              <a:ext uri="{FF2B5EF4-FFF2-40B4-BE49-F238E27FC236}">
                <a16:creationId xmlns:a16="http://schemas.microsoft.com/office/drawing/2014/main" id="{7DDCEAFE-B7CC-0549-5F5E-BBC095E50653}"/>
              </a:ext>
            </a:extLst>
          </p:cNvPr>
          <p:cNvSpPr txBox="1"/>
          <p:nvPr/>
        </p:nvSpPr>
        <p:spPr>
          <a:xfrm>
            <a:off x="422129" y="4835031"/>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1" name="テキスト ボックス 50">
            <a:extLst>
              <a:ext uri="{FF2B5EF4-FFF2-40B4-BE49-F238E27FC236}">
                <a16:creationId xmlns:a16="http://schemas.microsoft.com/office/drawing/2014/main" id="{EE21130C-0D35-6976-246C-68BD7C0F13D8}"/>
              </a:ext>
            </a:extLst>
          </p:cNvPr>
          <p:cNvSpPr txBox="1"/>
          <p:nvPr/>
        </p:nvSpPr>
        <p:spPr>
          <a:xfrm>
            <a:off x="422129" y="5891287"/>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⑧継続・PT/物販・友だち紹介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退会防止・再入会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
        <p:nvSpPr>
          <p:cNvPr id="93" name="テキスト ボックス 92">
            <a:extLst>
              <a:ext uri="{FF2B5EF4-FFF2-40B4-BE49-F238E27FC236}">
                <a16:creationId xmlns:a16="http://schemas.microsoft.com/office/drawing/2014/main" id="{DCD3DD5B-BCF3-9B15-3A1E-D1002CBD5B53}"/>
              </a:ext>
            </a:extLst>
          </p:cNvPr>
          <p:cNvSpPr txBox="1"/>
          <p:nvPr/>
        </p:nvSpPr>
        <p:spPr>
          <a:xfrm>
            <a:off x="5143201" y="4304992"/>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来店・体験</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5" name="テキスト ボックス 94">
            <a:extLst>
              <a:ext uri="{FF2B5EF4-FFF2-40B4-BE49-F238E27FC236}">
                <a16:creationId xmlns:a16="http://schemas.microsoft.com/office/drawing/2014/main" id="{6C217945-7DF3-ECB7-9797-4D70FDBD7415}"/>
              </a:ext>
            </a:extLst>
          </p:cNvPr>
          <p:cNvSpPr txBox="1"/>
          <p:nvPr/>
        </p:nvSpPr>
        <p:spPr>
          <a:xfrm>
            <a:off x="5143201" y="5361248"/>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7" name="テキスト ボックス 96">
            <a:extLst>
              <a:ext uri="{FF2B5EF4-FFF2-40B4-BE49-F238E27FC236}">
                <a16:creationId xmlns:a16="http://schemas.microsoft.com/office/drawing/2014/main" id="{E6682A8D-8C54-2B25-5F3D-FC5AB6C50174}"/>
              </a:ext>
            </a:extLst>
          </p:cNvPr>
          <p:cNvSpPr txBox="1"/>
          <p:nvPr/>
        </p:nvSpPr>
        <p:spPr>
          <a:xfrm>
            <a:off x="5143201" y="4833120"/>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9" name="テキスト ボックス 98">
            <a:extLst>
              <a:ext uri="{FF2B5EF4-FFF2-40B4-BE49-F238E27FC236}">
                <a16:creationId xmlns:a16="http://schemas.microsoft.com/office/drawing/2014/main" id="{152C39F9-321A-C345-6065-160FF4B875C5}"/>
              </a:ext>
            </a:extLst>
          </p:cNvPr>
          <p:cNvSpPr txBox="1"/>
          <p:nvPr/>
        </p:nvSpPr>
        <p:spPr>
          <a:xfrm>
            <a:off x="5143201" y="5889376"/>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⑧継続・PT/物販・友だち紹介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退会防止・再入会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2993589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1AF94-39A6-ED70-5918-C4DFB0937C84}"/>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AA7E1F7-0824-AE94-5B85-AB7CDE6A394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改善モデル①</a:t>
            </a:r>
          </a:p>
        </p:txBody>
      </p:sp>
      <p:sp>
        <p:nvSpPr>
          <p:cNvPr id="9" name="正方形/長方形 8">
            <a:extLst>
              <a:ext uri="{FF2B5EF4-FFF2-40B4-BE49-F238E27FC236}">
                <a16:creationId xmlns:a16="http://schemas.microsoft.com/office/drawing/2014/main" id="{C0FCF3C4-80C9-827F-1385-EBD6AE02077C}"/>
              </a:ext>
            </a:extLst>
          </p:cNvPr>
          <p:cNvSpPr/>
          <p:nvPr/>
        </p:nvSpPr>
        <p:spPr>
          <a:xfrm>
            <a:off x="0" y="777240"/>
            <a:ext cx="1802674" cy="5029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施策内容</a:t>
            </a:r>
          </a:p>
        </p:txBody>
      </p:sp>
      <p:sp>
        <p:nvSpPr>
          <p:cNvPr id="3" name="Google Shape;752;p28">
            <a:extLst>
              <a:ext uri="{FF2B5EF4-FFF2-40B4-BE49-F238E27FC236}">
                <a16:creationId xmlns:a16="http://schemas.microsoft.com/office/drawing/2014/main" id="{C5064B01-7057-EF97-C2C2-7EA1400AE068}"/>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a:t>
            </a:r>
            <a:r>
              <a:rPr lang="ja-JP" altLang="en-US" sz="1600" b="1" dirty="0">
                <a:latin typeface="メイリオ" panose="020B0604030504040204" pitchFamily="50" charset="-128"/>
                <a:ea typeface="メイリオ" panose="020B0604030504040204" pitchFamily="50" charset="-128"/>
                <a:cs typeface="Meiryo"/>
                <a:sym typeface="Meiryo"/>
              </a:rPr>
              <a:t>施策を通じて貴社に送ることが出来る個人情報を最大化する。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7" name="テキスト ボックス 26">
            <a:extLst>
              <a:ext uri="{FF2B5EF4-FFF2-40B4-BE49-F238E27FC236}">
                <a16:creationId xmlns:a16="http://schemas.microsoft.com/office/drawing/2014/main" id="{6AB9A59D-5D83-F4A0-8E07-0F2D6665420A}"/>
              </a:ext>
            </a:extLst>
          </p:cNvPr>
          <p:cNvSpPr txBox="1"/>
          <p:nvPr/>
        </p:nvSpPr>
        <p:spPr>
          <a:xfrm>
            <a:off x="334303" y="142540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28" name="テキスト ボックス 27">
            <a:extLst>
              <a:ext uri="{FF2B5EF4-FFF2-40B4-BE49-F238E27FC236}">
                <a16:creationId xmlns:a16="http://schemas.microsoft.com/office/drawing/2014/main" id="{77440BBB-52A3-1900-D18A-8AF25E970934}"/>
              </a:ext>
            </a:extLst>
          </p:cNvPr>
          <p:cNvSpPr txBox="1"/>
          <p:nvPr/>
        </p:nvSpPr>
        <p:spPr>
          <a:xfrm>
            <a:off x="1268358" y="163606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5A50DC53-429F-39BB-C171-6F57EE64F0C2}"/>
              </a:ext>
            </a:extLst>
          </p:cNvPr>
          <p:cNvSpPr txBox="1"/>
          <p:nvPr/>
        </p:nvSpPr>
        <p:spPr>
          <a:xfrm>
            <a:off x="2202413" y="183017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cxnSp>
        <p:nvCxnSpPr>
          <p:cNvPr id="32" name="コネクタ: カギ線 31">
            <a:extLst>
              <a:ext uri="{FF2B5EF4-FFF2-40B4-BE49-F238E27FC236}">
                <a16:creationId xmlns:a16="http://schemas.microsoft.com/office/drawing/2014/main" id="{A2FE37DB-7FF9-8AA6-3138-A9AA0818706B}"/>
              </a:ext>
            </a:extLst>
          </p:cNvPr>
          <p:cNvCxnSpPr>
            <a:cxnSpLocks/>
            <a:endCxn id="6" idx="2"/>
          </p:cNvCxnSpPr>
          <p:nvPr/>
        </p:nvCxnSpPr>
        <p:spPr>
          <a:xfrm rot="5400000" flipH="1" flipV="1">
            <a:off x="4284885" y="1729027"/>
            <a:ext cx="218990" cy="365616"/>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a16:creationId xmlns:a16="http://schemas.microsoft.com/office/drawing/2014/main" id="{60AD3EC5-397C-F2E1-06DA-B35AA3F6DA3B}"/>
              </a:ext>
            </a:extLst>
          </p:cNvPr>
          <p:cNvSpPr txBox="1"/>
          <p:nvPr/>
        </p:nvSpPr>
        <p:spPr>
          <a:xfrm>
            <a:off x="3542139" y="141931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A916BF7B-2A5E-9585-D6BF-4545B58F8CDA}"/>
              </a:ext>
            </a:extLst>
          </p:cNvPr>
          <p:cNvSpPr txBox="1"/>
          <p:nvPr/>
        </p:nvSpPr>
        <p:spPr>
          <a:xfrm>
            <a:off x="6119413" y="182847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8" name="テキスト ボックス 7">
            <a:extLst>
              <a:ext uri="{FF2B5EF4-FFF2-40B4-BE49-F238E27FC236}">
                <a16:creationId xmlns:a16="http://schemas.microsoft.com/office/drawing/2014/main" id="{0CF33E8B-8A1D-B1FB-4244-9F0AFB92429B}"/>
              </a:ext>
            </a:extLst>
          </p:cNvPr>
          <p:cNvSpPr txBox="1"/>
          <p:nvPr/>
        </p:nvSpPr>
        <p:spPr>
          <a:xfrm>
            <a:off x="4830776" y="162389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916C11C4-F5B8-BBD3-EE11-4BBAC85EFEF6}"/>
              </a:ext>
            </a:extLst>
          </p:cNvPr>
          <p:cNvSpPr txBox="1"/>
          <p:nvPr/>
        </p:nvSpPr>
        <p:spPr>
          <a:xfrm>
            <a:off x="7408050" y="203305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4900F58B-9BD8-36E8-2837-7D435FEE306F}"/>
              </a:ext>
            </a:extLst>
          </p:cNvPr>
          <p:cNvSpPr/>
          <p:nvPr/>
        </p:nvSpPr>
        <p:spPr>
          <a:xfrm>
            <a:off x="175475" y="2510144"/>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1" name="正方形/長方形 10">
            <a:extLst>
              <a:ext uri="{FF2B5EF4-FFF2-40B4-BE49-F238E27FC236}">
                <a16:creationId xmlns:a16="http://schemas.microsoft.com/office/drawing/2014/main" id="{94AA99B3-016F-5352-F0F9-97BF2EF9495B}"/>
              </a:ext>
            </a:extLst>
          </p:cNvPr>
          <p:cNvSpPr/>
          <p:nvPr/>
        </p:nvSpPr>
        <p:spPr>
          <a:xfrm>
            <a:off x="4994298" y="2510143"/>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2" name="正方形/長方形 11">
            <a:extLst>
              <a:ext uri="{FF2B5EF4-FFF2-40B4-BE49-F238E27FC236}">
                <a16:creationId xmlns:a16="http://schemas.microsoft.com/office/drawing/2014/main" id="{A045185E-6C2C-A6FD-00A8-0A9C05295D96}"/>
              </a:ext>
            </a:extLst>
          </p:cNvPr>
          <p:cNvSpPr/>
          <p:nvPr/>
        </p:nvSpPr>
        <p:spPr>
          <a:xfrm>
            <a:off x="8382000" y="898654"/>
            <a:ext cx="1223554" cy="260090"/>
          </a:xfrm>
          <a:prstGeom prst="rect">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latin typeface="メイリオ" panose="020B0604030504040204" pitchFamily="50" charset="-128"/>
                <a:ea typeface="メイリオ" panose="020B0604030504040204" pitchFamily="50" charset="-128"/>
              </a:rPr>
              <a:t>成果報酬：可</a:t>
            </a:r>
          </a:p>
        </p:txBody>
      </p:sp>
      <p:sp>
        <p:nvSpPr>
          <p:cNvPr id="15" name="正方形/長方形 14">
            <a:extLst>
              <a:ext uri="{FF2B5EF4-FFF2-40B4-BE49-F238E27FC236}">
                <a16:creationId xmlns:a16="http://schemas.microsoft.com/office/drawing/2014/main" id="{EDFACFC7-1B18-419B-64DD-5EB407E04E3D}"/>
              </a:ext>
            </a:extLst>
          </p:cNvPr>
          <p:cNvSpPr/>
          <p:nvPr/>
        </p:nvSpPr>
        <p:spPr>
          <a:xfrm>
            <a:off x="196606" y="1304119"/>
            <a:ext cx="9709394" cy="1206024"/>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7" name="テキスト ボックス 16">
            <a:extLst>
              <a:ext uri="{FF2B5EF4-FFF2-40B4-BE49-F238E27FC236}">
                <a16:creationId xmlns:a16="http://schemas.microsoft.com/office/drawing/2014/main" id="{F808170B-2E7D-DA91-C855-5B0F96687E57}"/>
              </a:ext>
            </a:extLst>
          </p:cNvPr>
          <p:cNvSpPr txBox="1"/>
          <p:nvPr/>
        </p:nvSpPr>
        <p:spPr>
          <a:xfrm>
            <a:off x="3136468" y="2021330"/>
            <a:ext cx="1868111" cy="348203"/>
          </a:xfrm>
          <a:prstGeom prst="rect">
            <a:avLst/>
          </a:prstGeom>
          <a:solidFill>
            <a:srgbClr val="2080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④リード獲得 </a:t>
            </a:r>
            <a:r>
              <a:rPr lang="en-US" altLang="ja-JP" sz="900" b="1" dirty="0">
                <a:solidFill>
                  <a:schemeClr val="bg1"/>
                </a:solidFill>
                <a:latin typeface="メイリオ" panose="020B0604030504040204" pitchFamily="50" charset="-128"/>
                <a:ea typeface="メイリオ" panose="020B0604030504040204" pitchFamily="50" charset="-128"/>
              </a:rPr>
              <a:t>(web/LINE)</a:t>
            </a:r>
            <a:endParaRPr lang="ja-JP" altLang="ja-JP" sz="1050" b="1" dirty="0">
              <a:solidFill>
                <a:schemeClr val="bg1"/>
              </a:solidFill>
              <a:latin typeface="メイリオ" panose="020B0604030504040204" pitchFamily="50" charset="-128"/>
              <a:ea typeface="メイリオ" panose="020B0604030504040204" pitchFamily="50" charset="-128"/>
            </a:endParaRPr>
          </a:p>
        </p:txBody>
      </p:sp>
      <p:sp>
        <p:nvSpPr>
          <p:cNvPr id="215" name="正方形/長方形 214">
            <a:extLst>
              <a:ext uri="{FF2B5EF4-FFF2-40B4-BE49-F238E27FC236}">
                <a16:creationId xmlns:a16="http://schemas.microsoft.com/office/drawing/2014/main" id="{0D93F268-2976-E24C-FFDF-A52C518BD95E}"/>
              </a:ext>
            </a:extLst>
          </p:cNvPr>
          <p:cNvSpPr/>
          <p:nvPr/>
        </p:nvSpPr>
        <p:spPr>
          <a:xfrm>
            <a:off x="272142" y="2590761"/>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latin typeface="メイリオ" panose="020B0604030504040204" pitchFamily="50" charset="-128"/>
                <a:ea typeface="メイリオ" panose="020B0604030504040204" pitchFamily="50" charset="-128"/>
              </a:rPr>
              <a:t>広告・集客の成果地点として</a:t>
            </a:r>
            <a:r>
              <a:rPr kumimoji="1" lang="en-US" altLang="ja-JP" sz="1050" b="1" dirty="0">
                <a:latin typeface="メイリオ" panose="020B0604030504040204" pitchFamily="50" charset="-128"/>
                <a:ea typeface="メイリオ" panose="020B0604030504040204" pitchFamily="50" charset="-128"/>
              </a:rPr>
              <a:t>LINE</a:t>
            </a:r>
            <a:r>
              <a:rPr kumimoji="1" lang="ja-JP" altLang="en-US" sz="1050" b="1" dirty="0">
                <a:latin typeface="メイリオ" panose="020B0604030504040204" pitchFamily="50" charset="-128"/>
                <a:ea typeface="メイリオ" panose="020B0604030504040204" pitchFamily="50" charset="-128"/>
              </a:rPr>
              <a:t>を追加する</a:t>
            </a:r>
          </a:p>
        </p:txBody>
      </p:sp>
      <p:sp>
        <p:nvSpPr>
          <p:cNvPr id="217" name="正方形/長方形 216">
            <a:extLst>
              <a:ext uri="{FF2B5EF4-FFF2-40B4-BE49-F238E27FC236}">
                <a16:creationId xmlns:a16="http://schemas.microsoft.com/office/drawing/2014/main" id="{EFE9DDC0-6FAF-EE1E-D2F6-1599D9760DFE}"/>
              </a:ext>
            </a:extLst>
          </p:cNvPr>
          <p:cNvSpPr/>
          <p:nvPr/>
        </p:nvSpPr>
        <p:spPr>
          <a:xfrm>
            <a:off x="5084226" y="2584677"/>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b="1" dirty="0">
                <a:latin typeface="メイリオ" panose="020B0604030504040204" pitchFamily="50" charset="-128"/>
                <a:ea typeface="メイリオ" panose="020B0604030504040204" pitchFamily="50" charset="-128"/>
              </a:rPr>
              <a:t>LINE</a:t>
            </a:r>
            <a:r>
              <a:rPr lang="ja-JP" altLang="en-US" sz="1050" b="1" dirty="0">
                <a:latin typeface="メイリオ" panose="020B0604030504040204" pitchFamily="50" charset="-128"/>
                <a:ea typeface="メイリオ" panose="020B0604030504040204" pitchFamily="50" charset="-128"/>
              </a:rPr>
              <a:t>の特典・メリットを適切なタイミングで提示し</a:t>
            </a:r>
            <a:r>
              <a:rPr lang="en-US" altLang="ja-JP" sz="1050" b="1" dirty="0">
                <a:latin typeface="メイリオ" panose="020B0604030504040204" pitchFamily="50" charset="-128"/>
                <a:ea typeface="メイリオ" panose="020B0604030504040204" pitchFamily="50" charset="-128"/>
              </a:rPr>
              <a:t>CV</a:t>
            </a:r>
            <a:r>
              <a:rPr lang="ja-JP" altLang="en-US" sz="1050" b="1" dirty="0">
                <a:latin typeface="メイリオ" panose="020B0604030504040204" pitchFamily="50" charset="-128"/>
                <a:ea typeface="メイリオ" panose="020B0604030504040204" pitchFamily="50" charset="-128"/>
              </a:rPr>
              <a:t>へ</a:t>
            </a:r>
          </a:p>
        </p:txBody>
      </p:sp>
      <p:sp>
        <p:nvSpPr>
          <p:cNvPr id="265" name="Shape 59">
            <a:extLst>
              <a:ext uri="{FF2B5EF4-FFF2-40B4-BE49-F238E27FC236}">
                <a16:creationId xmlns:a16="http://schemas.microsoft.com/office/drawing/2014/main" id="{2B92E1A5-40B4-D866-C1EB-8ACEB8EE470D}"/>
              </a:ext>
            </a:extLst>
          </p:cNvPr>
          <p:cNvSpPr/>
          <p:nvPr/>
        </p:nvSpPr>
        <p:spPr>
          <a:xfrm>
            <a:off x="265419" y="4842285"/>
            <a:ext cx="4541216" cy="1600804"/>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7" name="Shape 63">
            <a:extLst>
              <a:ext uri="{FF2B5EF4-FFF2-40B4-BE49-F238E27FC236}">
                <a16:creationId xmlns:a16="http://schemas.microsoft.com/office/drawing/2014/main" id="{986279D3-31B7-AFE5-0997-A2CDC716E6CD}"/>
              </a:ext>
            </a:extLst>
          </p:cNvPr>
          <p:cNvSpPr/>
          <p:nvPr/>
        </p:nvSpPr>
        <p:spPr>
          <a:xfrm>
            <a:off x="686043"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9" name="Text 64">
            <a:extLst>
              <a:ext uri="{FF2B5EF4-FFF2-40B4-BE49-F238E27FC236}">
                <a16:creationId xmlns:a16="http://schemas.microsoft.com/office/drawing/2014/main" id="{314E4055-2D3D-DC19-BD60-79D095DBA6D9}"/>
              </a:ext>
            </a:extLst>
          </p:cNvPr>
          <p:cNvSpPr/>
          <p:nvPr/>
        </p:nvSpPr>
        <p:spPr>
          <a:xfrm>
            <a:off x="686043"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LINE広告</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1" name="Text 65">
            <a:extLst>
              <a:ext uri="{FF2B5EF4-FFF2-40B4-BE49-F238E27FC236}">
                <a16:creationId xmlns:a16="http://schemas.microsoft.com/office/drawing/2014/main" id="{2259F17B-A9B0-7F43-8907-87383FCBF6CE}"/>
              </a:ext>
            </a:extLst>
          </p:cNvPr>
          <p:cNvSpPr/>
          <p:nvPr/>
        </p:nvSpPr>
        <p:spPr>
          <a:xfrm>
            <a:off x="1545579" y="4924581"/>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LINE広告（CPF）完結型 × LINE内チャットボット</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3" name="Text 66">
            <a:extLst>
              <a:ext uri="{FF2B5EF4-FFF2-40B4-BE49-F238E27FC236}">
                <a16:creationId xmlns:a16="http://schemas.microsoft.com/office/drawing/2014/main" id="{98D6C858-0A51-D469-C857-32114CFA96FE}"/>
              </a:ext>
            </a:extLst>
          </p:cNvPr>
          <p:cNvSpPr/>
          <p:nvPr/>
        </p:nvSpPr>
        <p:spPr>
          <a:xfrm>
            <a:off x="356859" y="5226333"/>
            <a:ext cx="4449774" cy="457200"/>
          </a:xfrm>
          <a:prstGeom prst="rect">
            <a:avLst/>
          </a:prstGeom>
          <a:noFill/>
          <a:ln/>
        </p:spPr>
        <p:txBody>
          <a:bodyPr wrap="square" lIns="0" tIns="0" rIns="0" bIns="0" rtlCol="0" anchor="ctr"/>
          <a:lstStyle/>
          <a:p>
            <a:pPr marL="0" marR="0" lvl="0" indent="0" defTabSz="914400" eaLnBrk="1" fontAlgn="auto" latinLnBrk="0" hangingPunct="1">
              <a:lnSpc>
                <a:spcPct val="135000"/>
              </a:lnSpc>
              <a:spcBef>
                <a:spcPts val="0"/>
              </a:spcBef>
              <a:spcAft>
                <a:spcPts val="0"/>
              </a:spcAft>
              <a:buClrTx/>
              <a:buSzTx/>
              <a:buFontTx/>
              <a:buNone/>
              <a:tabLst/>
              <a:defRPr/>
            </a:pP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広告の</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CPF</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を利用して、興味関心</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商圏でのリード保有数を最大化。</a:t>
            </a:r>
            <a:endPar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endParaRPr>
          </a:p>
          <a:p>
            <a:pPr marL="0" marR="0" lvl="0" indent="0" defTabSz="914400" eaLnBrk="1" fontAlgn="auto" latinLnBrk="0" hangingPunct="1">
              <a:lnSpc>
                <a:spcPct val="135000"/>
              </a:lnSpc>
              <a:spcBef>
                <a:spcPts val="0"/>
              </a:spcBef>
              <a:spcAft>
                <a:spcPts val="0"/>
              </a:spcAft>
              <a:buClrTx/>
              <a:buSzTx/>
              <a:buFontTx/>
              <a:buNone/>
              <a:tabLst/>
              <a:defRPr/>
            </a:pP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LINE完結で</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WEBに遷移させないため離脱ゼロ</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でのステップ配信・有効リードの育成へ。</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5" name="Shape 68">
            <a:extLst>
              <a:ext uri="{FF2B5EF4-FFF2-40B4-BE49-F238E27FC236}">
                <a16:creationId xmlns:a16="http://schemas.microsoft.com/office/drawing/2014/main" id="{CFA7D9BB-A1E1-31FD-946A-B75B944AADA7}"/>
              </a:ext>
            </a:extLst>
          </p:cNvPr>
          <p:cNvSpPr/>
          <p:nvPr/>
        </p:nvSpPr>
        <p:spPr>
          <a:xfrm>
            <a:off x="430011" y="6011955"/>
            <a:ext cx="420624" cy="219456"/>
          </a:xfrm>
          <a:prstGeom prst="roundRect">
            <a:avLst>
              <a:gd name="adj" fmla="val 16667"/>
            </a:avLst>
          </a:prstGeom>
          <a:solidFill>
            <a:srgbClr val="E6A020"/>
          </a:solidFill>
          <a:ln w="12700">
            <a:solidFill>
              <a:srgbClr val="E6A02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7" name="Text 69">
            <a:extLst>
              <a:ext uri="{FF2B5EF4-FFF2-40B4-BE49-F238E27FC236}">
                <a16:creationId xmlns:a16="http://schemas.microsoft.com/office/drawing/2014/main" id="{94B27B5E-13D7-A4CA-7352-4BBEA8C99224}"/>
              </a:ext>
            </a:extLst>
          </p:cNvPr>
          <p:cNvSpPr/>
          <p:nvPr/>
        </p:nvSpPr>
        <p:spPr>
          <a:xfrm>
            <a:off x="430011" y="6011955"/>
            <a:ext cx="420624" cy="219456"/>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現場注意</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9" name="Text 70">
            <a:extLst>
              <a:ext uri="{FF2B5EF4-FFF2-40B4-BE49-F238E27FC236}">
                <a16:creationId xmlns:a16="http://schemas.microsoft.com/office/drawing/2014/main" id="{02B4B046-1456-2549-8D2A-03FE8B9434D4}"/>
              </a:ext>
            </a:extLst>
          </p:cNvPr>
          <p:cNvSpPr/>
          <p:nvPr/>
        </p:nvSpPr>
        <p:spPr>
          <a:xfrm>
            <a:off x="363197" y="5687343"/>
            <a:ext cx="4053598" cy="146304"/>
          </a:xfrm>
          <a:prstGeom prst="rect">
            <a:avLst/>
          </a:prstGeom>
          <a:noFill/>
          <a:ln/>
        </p:spPr>
        <p:txBody>
          <a:bodyPr wrap="square" lIns="0" tIns="0" rIns="0" bIns="0" rtlCol="0" anchor="ctr"/>
          <a:lstStyle/>
          <a:p>
            <a:pPr marL="0" marR="0" lvl="0" indent="0" defTabSz="914400" eaLnBrk="1" fontAlgn="auto" latinLnBrk="0" hangingPunct="1">
              <a:lnSpc>
                <a:spcPct val="125000"/>
              </a:lnSpc>
              <a:spcBef>
                <a:spcPts val="0"/>
              </a:spcBef>
              <a:spcAft>
                <a:spcPts val="0"/>
              </a:spcAft>
              <a:buClrTx/>
              <a:buSzTx/>
              <a:buFontTx/>
              <a:buNone/>
              <a:tabLst/>
              <a:defRPr/>
            </a:pPr>
            <a:r>
              <a:rPr kumimoji="0" lang="en-US" sz="800" b="0" i="0" u="none" strike="noStrike" kern="0" cap="none" spc="0" normalizeH="0" baseline="0" noProof="0" dirty="0" err="1">
                <a:ln>
                  <a:noFill/>
                </a:ln>
                <a:solidFill>
                  <a:srgbClr val="B84B00"/>
                </a:solidFill>
                <a:effectLst/>
                <a:uLnTx/>
                <a:uFillTx/>
                <a:latin typeface="メイリオ" panose="020B0604030504040204" pitchFamily="50" charset="-128"/>
                <a:ea typeface="メイリオ" panose="020B0604030504040204" pitchFamily="50" charset="-128"/>
                <a:cs typeface="Calibri" pitchFamily="34" charset="-120"/>
              </a:rPr>
              <a:t>CPFの強みを活かすならLINE内完結設計が正解</a:t>
            </a:r>
            <a:r>
              <a:rPr kumimoji="0" lang="en-US" sz="800" b="0" i="0" u="none" strike="noStrike" kern="0" cap="none" spc="0" normalizeH="0" baseline="0" noProof="0" dirty="0">
                <a:ln>
                  <a:noFill/>
                </a:ln>
                <a:solidFill>
                  <a:srgbClr val="B84B0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1" name="Shape 71">
            <a:extLst>
              <a:ext uri="{FF2B5EF4-FFF2-40B4-BE49-F238E27FC236}">
                <a16:creationId xmlns:a16="http://schemas.microsoft.com/office/drawing/2014/main" id="{69A5DB50-D061-75F2-9683-580DA89DA5BD}"/>
              </a:ext>
            </a:extLst>
          </p:cNvPr>
          <p:cNvSpPr/>
          <p:nvPr/>
        </p:nvSpPr>
        <p:spPr>
          <a:xfrm>
            <a:off x="356859"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83" name="Shape 72">
            <a:extLst>
              <a:ext uri="{FF2B5EF4-FFF2-40B4-BE49-F238E27FC236}">
                <a16:creationId xmlns:a16="http://schemas.microsoft.com/office/drawing/2014/main" id="{1E18DB25-A307-005D-2220-B5D1CB74EDBF}"/>
              </a:ext>
            </a:extLst>
          </p:cNvPr>
          <p:cNvSpPr/>
          <p:nvPr/>
        </p:nvSpPr>
        <p:spPr>
          <a:xfrm>
            <a:off x="411723"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85" name="Text 73">
            <a:extLst>
              <a:ext uri="{FF2B5EF4-FFF2-40B4-BE49-F238E27FC236}">
                <a16:creationId xmlns:a16="http://schemas.microsoft.com/office/drawing/2014/main" id="{453E45E2-53B3-3123-A567-3CDA891BBEEF}"/>
              </a:ext>
            </a:extLst>
          </p:cNvPr>
          <p:cNvSpPr/>
          <p:nvPr/>
        </p:nvSpPr>
        <p:spPr>
          <a:xfrm>
            <a:off x="4117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7" name="Text 74">
            <a:extLst>
              <a:ext uri="{FF2B5EF4-FFF2-40B4-BE49-F238E27FC236}">
                <a16:creationId xmlns:a16="http://schemas.microsoft.com/office/drawing/2014/main" id="{35068314-9221-6665-F236-3F5B1A8773D8}"/>
              </a:ext>
            </a:extLst>
          </p:cNvPr>
          <p:cNvSpPr/>
          <p:nvPr/>
        </p:nvSpPr>
        <p:spPr>
          <a:xfrm>
            <a:off x="631179" y="5957091"/>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CPF広告タップ</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9" name="Text 75">
            <a:extLst>
              <a:ext uri="{FF2B5EF4-FFF2-40B4-BE49-F238E27FC236}">
                <a16:creationId xmlns:a16="http://schemas.microsoft.com/office/drawing/2014/main" id="{9E831384-FBA1-9ABC-D5C4-E9D07BF92DC1}"/>
              </a:ext>
            </a:extLst>
          </p:cNvPr>
          <p:cNvSpPr/>
          <p:nvPr/>
        </p:nvSpPr>
        <p:spPr>
          <a:xfrm>
            <a:off x="411723"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即・友だち追加</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1" name="Text 76">
            <a:extLst>
              <a:ext uri="{FF2B5EF4-FFF2-40B4-BE49-F238E27FC236}">
                <a16:creationId xmlns:a16="http://schemas.microsoft.com/office/drawing/2014/main" id="{B609F64E-3A86-7ABF-C056-68CBD7347946}"/>
              </a:ext>
            </a:extLst>
          </p:cNvPr>
          <p:cNvSpPr/>
          <p:nvPr/>
        </p:nvSpPr>
        <p:spPr>
          <a:xfrm>
            <a:off x="1637019"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3" name="Shape 77">
            <a:extLst>
              <a:ext uri="{FF2B5EF4-FFF2-40B4-BE49-F238E27FC236}">
                <a16:creationId xmlns:a16="http://schemas.microsoft.com/office/drawing/2014/main" id="{A42E7FC8-693A-903C-101F-881077D3912E}"/>
              </a:ext>
            </a:extLst>
          </p:cNvPr>
          <p:cNvSpPr/>
          <p:nvPr/>
        </p:nvSpPr>
        <p:spPr>
          <a:xfrm>
            <a:off x="1765035"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5" name="Shape 78">
            <a:extLst>
              <a:ext uri="{FF2B5EF4-FFF2-40B4-BE49-F238E27FC236}">
                <a16:creationId xmlns:a16="http://schemas.microsoft.com/office/drawing/2014/main" id="{5D77DB8F-3255-B8FA-09A1-BA76AB1E30EC}"/>
              </a:ext>
            </a:extLst>
          </p:cNvPr>
          <p:cNvSpPr/>
          <p:nvPr/>
        </p:nvSpPr>
        <p:spPr>
          <a:xfrm>
            <a:off x="1819899"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7" name="Text 79">
            <a:extLst>
              <a:ext uri="{FF2B5EF4-FFF2-40B4-BE49-F238E27FC236}">
                <a16:creationId xmlns:a16="http://schemas.microsoft.com/office/drawing/2014/main" id="{AE657B72-3339-BAE3-9DA8-C9C378371C9D}"/>
              </a:ext>
            </a:extLst>
          </p:cNvPr>
          <p:cNvSpPr/>
          <p:nvPr/>
        </p:nvSpPr>
        <p:spPr>
          <a:xfrm>
            <a:off x="1819899"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9" name="Text 80">
            <a:extLst>
              <a:ext uri="{FF2B5EF4-FFF2-40B4-BE49-F238E27FC236}">
                <a16:creationId xmlns:a16="http://schemas.microsoft.com/office/drawing/2014/main" id="{582D1F5A-1093-8B0B-EC93-6F3E17DF1674}"/>
              </a:ext>
            </a:extLst>
          </p:cNvPr>
          <p:cNvSpPr/>
          <p:nvPr/>
        </p:nvSpPr>
        <p:spPr>
          <a:xfrm>
            <a:off x="2041211" y="5957091"/>
            <a:ext cx="98036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応答、ステップ起動</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1" name="Text 81">
            <a:extLst>
              <a:ext uri="{FF2B5EF4-FFF2-40B4-BE49-F238E27FC236}">
                <a16:creationId xmlns:a16="http://schemas.microsoft.com/office/drawing/2014/main" id="{267A8E72-34E2-AC1E-E783-02748F2A3058}"/>
              </a:ext>
            </a:extLst>
          </p:cNvPr>
          <p:cNvSpPr/>
          <p:nvPr/>
        </p:nvSpPr>
        <p:spPr>
          <a:xfrm>
            <a:off x="1819899"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ステップ配信が</a:t>
            </a:r>
            <a:r>
              <a:rPr kumimoji="0" lang="en-US" sz="7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起動</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3" name="Text 82">
            <a:extLst>
              <a:ext uri="{FF2B5EF4-FFF2-40B4-BE49-F238E27FC236}">
                <a16:creationId xmlns:a16="http://schemas.microsoft.com/office/drawing/2014/main" id="{9B65E420-0374-979E-BAA2-48722980545C}"/>
              </a:ext>
            </a:extLst>
          </p:cNvPr>
          <p:cNvSpPr/>
          <p:nvPr/>
        </p:nvSpPr>
        <p:spPr>
          <a:xfrm>
            <a:off x="3045195"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5" name="Shape 83">
            <a:extLst>
              <a:ext uri="{FF2B5EF4-FFF2-40B4-BE49-F238E27FC236}">
                <a16:creationId xmlns:a16="http://schemas.microsoft.com/office/drawing/2014/main" id="{7C0C6D93-01E9-C895-1E2E-400951DA4B8E}"/>
              </a:ext>
            </a:extLst>
          </p:cNvPr>
          <p:cNvSpPr/>
          <p:nvPr/>
        </p:nvSpPr>
        <p:spPr>
          <a:xfrm>
            <a:off x="3173211"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7" name="Shape 84">
            <a:extLst>
              <a:ext uri="{FF2B5EF4-FFF2-40B4-BE49-F238E27FC236}">
                <a16:creationId xmlns:a16="http://schemas.microsoft.com/office/drawing/2014/main" id="{6B131D82-5FD9-9308-3AF2-032B378170E3}"/>
              </a:ext>
            </a:extLst>
          </p:cNvPr>
          <p:cNvSpPr/>
          <p:nvPr/>
        </p:nvSpPr>
        <p:spPr>
          <a:xfrm>
            <a:off x="3228075"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9" name="Text 85">
            <a:extLst>
              <a:ext uri="{FF2B5EF4-FFF2-40B4-BE49-F238E27FC236}">
                <a16:creationId xmlns:a16="http://schemas.microsoft.com/office/drawing/2014/main" id="{A04EEFDD-332F-12BD-7677-D9DE3938B356}"/>
              </a:ext>
            </a:extLst>
          </p:cNvPr>
          <p:cNvSpPr/>
          <p:nvPr/>
        </p:nvSpPr>
        <p:spPr>
          <a:xfrm>
            <a:off x="3228075"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1" name="Text 86">
            <a:extLst>
              <a:ext uri="{FF2B5EF4-FFF2-40B4-BE49-F238E27FC236}">
                <a16:creationId xmlns:a16="http://schemas.microsoft.com/office/drawing/2014/main" id="{32928D0D-3150-AD73-9242-387FEEFEB4E7}"/>
              </a:ext>
            </a:extLst>
          </p:cNvPr>
          <p:cNvSpPr/>
          <p:nvPr/>
        </p:nvSpPr>
        <p:spPr>
          <a:xfrm>
            <a:off x="3447531" y="5957091"/>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リードデータ取得</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3" name="Text 87">
            <a:extLst>
              <a:ext uri="{FF2B5EF4-FFF2-40B4-BE49-F238E27FC236}">
                <a16:creationId xmlns:a16="http://schemas.microsoft.com/office/drawing/2014/main" id="{155A8DAC-6178-45E5-B78E-ED5968433C87}"/>
              </a:ext>
            </a:extLst>
          </p:cNvPr>
          <p:cNvSpPr/>
          <p:nvPr/>
        </p:nvSpPr>
        <p:spPr>
          <a:xfrm>
            <a:off x="3228075"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D0E8FF"/>
                </a:solidFill>
                <a:effectLst/>
                <a:uLnTx/>
                <a:uFillTx/>
                <a:latin typeface="メイリオ" panose="020B0604030504040204" pitchFamily="50" charset="-128"/>
                <a:ea typeface="メイリオ" panose="020B0604030504040204" pitchFamily="50" charset="-128"/>
                <a:cs typeface="Calibri" pitchFamily="34" charset="-120"/>
              </a:rPr>
              <a:t>LINE内で完結</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5" name="Shape 88">
            <a:extLst>
              <a:ext uri="{FF2B5EF4-FFF2-40B4-BE49-F238E27FC236}">
                <a16:creationId xmlns:a16="http://schemas.microsoft.com/office/drawing/2014/main" id="{65FD4E02-C70C-2DC3-6107-3854D0C99B17}"/>
              </a:ext>
            </a:extLst>
          </p:cNvPr>
          <p:cNvSpPr/>
          <p:nvPr/>
        </p:nvSpPr>
        <p:spPr>
          <a:xfrm>
            <a:off x="5099366" y="2999769"/>
            <a:ext cx="4526075" cy="1600806"/>
          </a:xfrm>
          <a:prstGeom prst="roundRect">
            <a:avLst>
              <a:gd name="adj" fmla="val 8000"/>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9" name="Shape 113">
            <a:extLst>
              <a:ext uri="{FF2B5EF4-FFF2-40B4-BE49-F238E27FC236}">
                <a16:creationId xmlns:a16="http://schemas.microsoft.com/office/drawing/2014/main" id="{11234610-A1AC-AA19-B005-775FD3F8A3B3}"/>
              </a:ext>
            </a:extLst>
          </p:cNvPr>
          <p:cNvSpPr/>
          <p:nvPr/>
        </p:nvSpPr>
        <p:spPr>
          <a:xfrm>
            <a:off x="5099366" y="4842285"/>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1" name="Shape 117">
            <a:extLst>
              <a:ext uri="{FF2B5EF4-FFF2-40B4-BE49-F238E27FC236}">
                <a16:creationId xmlns:a16="http://schemas.microsoft.com/office/drawing/2014/main" id="{53B1A122-71EF-1F9B-0702-A1A1393823D4}"/>
              </a:ext>
            </a:extLst>
          </p:cNvPr>
          <p:cNvSpPr/>
          <p:nvPr/>
        </p:nvSpPr>
        <p:spPr>
          <a:xfrm>
            <a:off x="5519991"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3" name="Text 118">
            <a:extLst>
              <a:ext uri="{FF2B5EF4-FFF2-40B4-BE49-F238E27FC236}">
                <a16:creationId xmlns:a16="http://schemas.microsoft.com/office/drawing/2014/main" id="{841897D7-C412-EE47-0B0D-746DD32E330E}"/>
              </a:ext>
            </a:extLst>
          </p:cNvPr>
          <p:cNvSpPr/>
          <p:nvPr/>
        </p:nvSpPr>
        <p:spPr>
          <a:xfrm>
            <a:off x="5519991"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KW自動応答</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5" name="Text 119">
            <a:extLst>
              <a:ext uri="{FF2B5EF4-FFF2-40B4-BE49-F238E27FC236}">
                <a16:creationId xmlns:a16="http://schemas.microsoft.com/office/drawing/2014/main" id="{EBE6ADAD-9C3A-4E30-E6A7-BF0CDE4B5719}"/>
              </a:ext>
            </a:extLst>
          </p:cNvPr>
          <p:cNvSpPr/>
          <p:nvPr/>
        </p:nvSpPr>
        <p:spPr>
          <a:xfrm>
            <a:off x="6379527" y="4924581"/>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短期</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CV</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sz="1100" b="1" i="0" u="none" strike="noStrike" kern="0" cap="none" spc="0" normalizeH="0" baseline="0" noProof="0" dirty="0" err="1">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KW自動応答でFAQ即解消→</a:t>
            </a:r>
            <a:r>
              <a:rPr kumimoji="0" lang="en-US" altLang="ja-JP" sz="1100" b="1" i="0" u="none" strike="noStrike" kern="0" cap="none" spc="0" normalizeH="0" baseline="0" noProof="0" dirty="0" err="1">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CV</a:t>
            </a:r>
            <a:r>
              <a:rPr kumimoji="0" lang="en-US" sz="1100" b="1" i="0" u="none" strike="noStrike" kern="0" cap="none" spc="0" normalizeH="0" baseline="0" noProof="0" dirty="0" err="1">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へ誘導</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7" name="Text 120">
            <a:extLst>
              <a:ext uri="{FF2B5EF4-FFF2-40B4-BE49-F238E27FC236}">
                <a16:creationId xmlns:a16="http://schemas.microsoft.com/office/drawing/2014/main" id="{9BC9F586-F4C8-69D1-0AB3-84BC5D46528A}"/>
              </a:ext>
            </a:extLst>
          </p:cNvPr>
          <p:cNvSpPr/>
          <p:nvPr/>
        </p:nvSpPr>
        <p:spPr>
          <a:xfrm>
            <a:off x="5190807" y="5226333"/>
            <a:ext cx="4449774" cy="493776"/>
          </a:xfrm>
          <a:prstGeom prst="rect">
            <a:avLst/>
          </a:prstGeom>
          <a:noFill/>
          <a:ln/>
        </p:spPr>
        <p:txBody>
          <a:bodyPr wrap="square" lIns="0" tIns="0" rIns="0" bIns="0" rtlCol="0" anchor="ctr"/>
          <a:lstStyle/>
          <a:p>
            <a:pPr marL="0" marR="0" lvl="0" indent="0" defTabSz="914400" eaLnBrk="1" fontAlgn="auto" latinLnBrk="0" hangingPunct="1">
              <a:lnSpc>
                <a:spcPct val="135000"/>
              </a:lnSpc>
              <a:spcBef>
                <a:spcPts val="0"/>
              </a:spcBef>
              <a:spcAft>
                <a:spcPts val="0"/>
              </a:spcAft>
              <a:buClrTx/>
              <a:buSzTx/>
              <a:buFontTx/>
              <a:buNone/>
              <a:tabLst/>
              <a:defRPr/>
            </a:pP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ステップ配信と並行して、</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にて代表的な</a:t>
            </a:r>
            <a:r>
              <a:rPr kumimoji="0" lang="en-US" altLang="ja-JP"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Q</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に自動返答＋CV</a:t>
            </a: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動線へ誘導</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p>
          <a:p>
            <a:pPr marL="0" marR="0" lvl="0" indent="0" defTabSz="914400" eaLnBrk="1" fontAlgn="auto" latinLnBrk="0" hangingPunct="1">
              <a:lnSpc>
                <a:spcPct val="135000"/>
              </a:lnSpc>
              <a:spcBef>
                <a:spcPts val="0"/>
              </a:spcBef>
              <a:spcAft>
                <a:spcPts val="0"/>
              </a:spcAft>
              <a:buClrTx/>
              <a:buSzTx/>
              <a:buFontTx/>
              <a:buNone/>
              <a:tabLst/>
              <a:defRPr/>
            </a:pP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24時間対応で「試しに聞いてみた」</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層</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をそのまま申込フォームへ転換</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9" name="Shape 121">
            <a:extLst>
              <a:ext uri="{FF2B5EF4-FFF2-40B4-BE49-F238E27FC236}">
                <a16:creationId xmlns:a16="http://schemas.microsoft.com/office/drawing/2014/main" id="{879C697E-7DA8-CA7E-D00D-C9CADF55302E}"/>
              </a:ext>
            </a:extLst>
          </p:cNvPr>
          <p:cNvSpPr/>
          <p:nvPr/>
        </p:nvSpPr>
        <p:spPr>
          <a:xfrm>
            <a:off x="5190807"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71" name="Shape 122">
            <a:extLst>
              <a:ext uri="{FF2B5EF4-FFF2-40B4-BE49-F238E27FC236}">
                <a16:creationId xmlns:a16="http://schemas.microsoft.com/office/drawing/2014/main" id="{E0FE3AAB-EEAF-8F74-4288-38540089361D}"/>
              </a:ext>
            </a:extLst>
          </p:cNvPr>
          <p:cNvSpPr/>
          <p:nvPr/>
        </p:nvSpPr>
        <p:spPr>
          <a:xfrm>
            <a:off x="5245671"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73" name="Text 123">
            <a:extLst>
              <a:ext uri="{FF2B5EF4-FFF2-40B4-BE49-F238E27FC236}">
                <a16:creationId xmlns:a16="http://schemas.microsoft.com/office/drawing/2014/main" id="{31A73E53-E872-D735-0EE5-02CFC5ED076F}"/>
              </a:ext>
            </a:extLst>
          </p:cNvPr>
          <p:cNvSpPr/>
          <p:nvPr/>
        </p:nvSpPr>
        <p:spPr>
          <a:xfrm>
            <a:off x="5245671"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5" name="Text 124">
            <a:extLst>
              <a:ext uri="{FF2B5EF4-FFF2-40B4-BE49-F238E27FC236}">
                <a16:creationId xmlns:a16="http://schemas.microsoft.com/office/drawing/2014/main" id="{014A61FB-ACC2-FA78-238A-10F112F08313}"/>
              </a:ext>
            </a:extLst>
          </p:cNvPr>
          <p:cNvSpPr/>
          <p:nvPr/>
        </p:nvSpPr>
        <p:spPr>
          <a:xfrm>
            <a:off x="5447079" y="5957091"/>
            <a:ext cx="1020168"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ステップ配信・</a:t>
            </a:r>
            <a:r>
              <a:rPr kumimoji="0" lang="en-US" altLang="ja-JP"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QA</a:t>
            </a:r>
            <a:r>
              <a:rPr kumimoji="0" lang="ja-JP" alt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集</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7" name="Text 125">
            <a:extLst>
              <a:ext uri="{FF2B5EF4-FFF2-40B4-BE49-F238E27FC236}">
                <a16:creationId xmlns:a16="http://schemas.microsoft.com/office/drawing/2014/main" id="{61B557F9-9683-D913-1D65-DD25D26B2695}"/>
              </a:ext>
            </a:extLst>
          </p:cNvPr>
          <p:cNvSpPr/>
          <p:nvPr/>
        </p:nvSpPr>
        <p:spPr>
          <a:xfrm>
            <a:off x="5245671"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ja-JP" alt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追加～</a:t>
            </a:r>
            <a:r>
              <a:rPr kumimoji="0" lang="en-US" altLang="ja-JP"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15</a:t>
            </a:r>
            <a:r>
              <a:rPr kumimoji="0" lang="ja-JP" alt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日で</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9" name="Text 126">
            <a:extLst>
              <a:ext uri="{FF2B5EF4-FFF2-40B4-BE49-F238E27FC236}">
                <a16:creationId xmlns:a16="http://schemas.microsoft.com/office/drawing/2014/main" id="{F117171D-C47B-261C-85AC-F680EF28CB19}"/>
              </a:ext>
            </a:extLst>
          </p:cNvPr>
          <p:cNvSpPr/>
          <p:nvPr/>
        </p:nvSpPr>
        <p:spPr>
          <a:xfrm>
            <a:off x="6470967"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1" name="Shape 127">
            <a:extLst>
              <a:ext uri="{FF2B5EF4-FFF2-40B4-BE49-F238E27FC236}">
                <a16:creationId xmlns:a16="http://schemas.microsoft.com/office/drawing/2014/main" id="{4BEE9167-F8E5-7442-64A8-E9F7D39F09D7}"/>
              </a:ext>
            </a:extLst>
          </p:cNvPr>
          <p:cNvSpPr/>
          <p:nvPr/>
        </p:nvSpPr>
        <p:spPr>
          <a:xfrm>
            <a:off x="6598983"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3" name="Shape 128">
            <a:extLst>
              <a:ext uri="{FF2B5EF4-FFF2-40B4-BE49-F238E27FC236}">
                <a16:creationId xmlns:a16="http://schemas.microsoft.com/office/drawing/2014/main" id="{9C2642A1-2BDB-C49F-7691-85BD71CF126B}"/>
              </a:ext>
            </a:extLst>
          </p:cNvPr>
          <p:cNvSpPr/>
          <p:nvPr/>
        </p:nvSpPr>
        <p:spPr>
          <a:xfrm>
            <a:off x="6653847"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5" name="Text 129">
            <a:extLst>
              <a:ext uri="{FF2B5EF4-FFF2-40B4-BE49-F238E27FC236}">
                <a16:creationId xmlns:a16="http://schemas.microsoft.com/office/drawing/2014/main" id="{B9E7F4F1-E140-0A15-9900-349580A383C4}"/>
              </a:ext>
            </a:extLst>
          </p:cNvPr>
          <p:cNvSpPr/>
          <p:nvPr/>
        </p:nvSpPr>
        <p:spPr>
          <a:xfrm>
            <a:off x="6653847"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7" name="Text 130">
            <a:extLst>
              <a:ext uri="{FF2B5EF4-FFF2-40B4-BE49-F238E27FC236}">
                <a16:creationId xmlns:a16="http://schemas.microsoft.com/office/drawing/2014/main" id="{538141D0-5353-E1AE-4CCC-4B7FBADE0E74}"/>
              </a:ext>
            </a:extLst>
          </p:cNvPr>
          <p:cNvSpPr/>
          <p:nvPr/>
        </p:nvSpPr>
        <p:spPr>
          <a:xfrm>
            <a:off x="6873303" y="5957091"/>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自動即返答</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9" name="Text 131">
            <a:extLst>
              <a:ext uri="{FF2B5EF4-FFF2-40B4-BE49-F238E27FC236}">
                <a16:creationId xmlns:a16="http://schemas.microsoft.com/office/drawing/2014/main" id="{507C3FBA-63F5-86D8-66C6-6318F2F8EDA2}"/>
              </a:ext>
            </a:extLst>
          </p:cNvPr>
          <p:cNvSpPr/>
          <p:nvPr/>
        </p:nvSpPr>
        <p:spPr>
          <a:xfrm>
            <a:off x="6653847"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FAQ解消＋LP URL送付</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1" name="Text 132">
            <a:extLst>
              <a:ext uri="{FF2B5EF4-FFF2-40B4-BE49-F238E27FC236}">
                <a16:creationId xmlns:a16="http://schemas.microsoft.com/office/drawing/2014/main" id="{6C6ED810-1D06-F9BD-D3C9-03D6BF6C14DA}"/>
              </a:ext>
            </a:extLst>
          </p:cNvPr>
          <p:cNvSpPr/>
          <p:nvPr/>
        </p:nvSpPr>
        <p:spPr>
          <a:xfrm>
            <a:off x="7879143"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3" name="Shape 133">
            <a:extLst>
              <a:ext uri="{FF2B5EF4-FFF2-40B4-BE49-F238E27FC236}">
                <a16:creationId xmlns:a16="http://schemas.microsoft.com/office/drawing/2014/main" id="{032FF15A-215D-CE84-EF89-D93E09191819}"/>
              </a:ext>
            </a:extLst>
          </p:cNvPr>
          <p:cNvSpPr/>
          <p:nvPr/>
        </p:nvSpPr>
        <p:spPr>
          <a:xfrm>
            <a:off x="8007159"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5" name="Shape 134">
            <a:extLst>
              <a:ext uri="{FF2B5EF4-FFF2-40B4-BE49-F238E27FC236}">
                <a16:creationId xmlns:a16="http://schemas.microsoft.com/office/drawing/2014/main" id="{4111E6D0-ABE0-6AC4-2D12-6FEF3F3EFA73}"/>
              </a:ext>
            </a:extLst>
          </p:cNvPr>
          <p:cNvSpPr/>
          <p:nvPr/>
        </p:nvSpPr>
        <p:spPr>
          <a:xfrm>
            <a:off x="8062023"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7" name="Text 135">
            <a:extLst>
              <a:ext uri="{FF2B5EF4-FFF2-40B4-BE49-F238E27FC236}">
                <a16:creationId xmlns:a16="http://schemas.microsoft.com/office/drawing/2014/main" id="{CF3AE303-2971-F53C-A610-F98F99E31897}"/>
              </a:ext>
            </a:extLst>
          </p:cNvPr>
          <p:cNvSpPr/>
          <p:nvPr/>
        </p:nvSpPr>
        <p:spPr>
          <a:xfrm>
            <a:off x="80620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9" name="Text 136">
            <a:extLst>
              <a:ext uri="{FF2B5EF4-FFF2-40B4-BE49-F238E27FC236}">
                <a16:creationId xmlns:a16="http://schemas.microsoft.com/office/drawing/2014/main" id="{F73C430F-E961-93C3-213B-0963BAC20CD3}"/>
              </a:ext>
            </a:extLst>
          </p:cNvPr>
          <p:cNvSpPr/>
          <p:nvPr/>
        </p:nvSpPr>
        <p:spPr>
          <a:xfrm>
            <a:off x="8281479" y="5957091"/>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申込フォームCV</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01" name="Text 137">
            <a:extLst>
              <a:ext uri="{FF2B5EF4-FFF2-40B4-BE49-F238E27FC236}">
                <a16:creationId xmlns:a16="http://schemas.microsoft.com/office/drawing/2014/main" id="{88FD7181-FD44-C0BF-B9A5-5C5C104EC047}"/>
              </a:ext>
            </a:extLst>
          </p:cNvPr>
          <p:cNvSpPr/>
          <p:nvPr/>
        </p:nvSpPr>
        <p:spPr>
          <a:xfrm>
            <a:off x="8062023"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D0E8FF"/>
                </a:solidFill>
                <a:effectLst/>
                <a:uLnTx/>
                <a:uFillTx/>
                <a:latin typeface="メイリオ" panose="020B0604030504040204" pitchFamily="50" charset="-128"/>
                <a:ea typeface="メイリオ" panose="020B0604030504040204" pitchFamily="50" charset="-128"/>
                <a:cs typeface="Calibri" pitchFamily="34" charset="-120"/>
              </a:rPr>
              <a:t>24時間・スタッフ不要</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03" name="Shape 36">
            <a:extLst>
              <a:ext uri="{FF2B5EF4-FFF2-40B4-BE49-F238E27FC236}">
                <a16:creationId xmlns:a16="http://schemas.microsoft.com/office/drawing/2014/main" id="{D62EC5F5-FA90-2741-4644-800F1639B9D6}"/>
              </a:ext>
            </a:extLst>
          </p:cNvPr>
          <p:cNvSpPr/>
          <p:nvPr/>
        </p:nvSpPr>
        <p:spPr>
          <a:xfrm>
            <a:off x="3568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7" name="Shape 36">
            <a:extLst>
              <a:ext uri="{FF2B5EF4-FFF2-40B4-BE49-F238E27FC236}">
                <a16:creationId xmlns:a16="http://schemas.microsoft.com/office/drawing/2014/main" id="{3ABA6325-0C4D-ADBB-5C93-9AB0A04C8F15}"/>
              </a:ext>
            </a:extLst>
          </p:cNvPr>
          <p:cNvSpPr/>
          <p:nvPr/>
        </p:nvSpPr>
        <p:spPr>
          <a:xfrm>
            <a:off x="52082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53" name="Shape 36">
            <a:extLst>
              <a:ext uri="{FF2B5EF4-FFF2-40B4-BE49-F238E27FC236}">
                <a16:creationId xmlns:a16="http://schemas.microsoft.com/office/drawing/2014/main" id="{0BB2AEB8-7FA8-EBC7-04FD-AD5A5B8538F8}"/>
              </a:ext>
            </a:extLst>
          </p:cNvPr>
          <p:cNvSpPr/>
          <p:nvPr/>
        </p:nvSpPr>
        <p:spPr>
          <a:xfrm>
            <a:off x="5207551" y="3082504"/>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55" name="Shape 38">
            <a:extLst>
              <a:ext uri="{FF2B5EF4-FFF2-40B4-BE49-F238E27FC236}">
                <a16:creationId xmlns:a16="http://schemas.microsoft.com/office/drawing/2014/main" id="{3976CA87-D608-B478-0B7F-76C239579767}"/>
              </a:ext>
            </a:extLst>
          </p:cNvPr>
          <p:cNvSpPr/>
          <p:nvPr/>
        </p:nvSpPr>
        <p:spPr>
          <a:xfrm>
            <a:off x="5536735" y="3100792"/>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57" name="Text 39">
            <a:extLst>
              <a:ext uri="{FF2B5EF4-FFF2-40B4-BE49-F238E27FC236}">
                <a16:creationId xmlns:a16="http://schemas.microsoft.com/office/drawing/2014/main" id="{00B73596-25FE-7BEA-B356-6BA40FA3B1A1}"/>
              </a:ext>
            </a:extLst>
          </p:cNvPr>
          <p:cNvSpPr/>
          <p:nvPr/>
        </p:nvSpPr>
        <p:spPr>
          <a:xfrm>
            <a:off x="5536735" y="3100792"/>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kern="0" dirty="0">
                <a:solidFill>
                  <a:srgbClr val="1565C0"/>
                </a:solidFill>
                <a:latin typeface="メイリオ" panose="020B0604030504040204" pitchFamily="50" charset="-128"/>
                <a:ea typeface="メイリオ" panose="020B0604030504040204" pitchFamily="50" charset="-128"/>
                <a:cs typeface="Calibri" pitchFamily="34" charset="-120"/>
              </a:rPr>
              <a:t>低ハードル</a:t>
            </a:r>
            <a:r>
              <a:rPr kumimoji="0" lang="en-US" altLang="ja-JP" sz="750" b="1" kern="0" dirty="0">
                <a:solidFill>
                  <a:srgbClr val="1565C0"/>
                </a:solidFill>
                <a:latin typeface="メイリオ" panose="020B0604030504040204" pitchFamily="50" charset="-128"/>
                <a:ea typeface="メイリオ" panose="020B0604030504040204" pitchFamily="50" charset="-128"/>
                <a:cs typeface="Calibri" pitchFamily="34" charset="-120"/>
              </a:rPr>
              <a:t>CV</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59" name="Text 40">
            <a:extLst>
              <a:ext uri="{FF2B5EF4-FFF2-40B4-BE49-F238E27FC236}">
                <a16:creationId xmlns:a16="http://schemas.microsoft.com/office/drawing/2014/main" id="{8E8E8572-E4BF-C131-AD4E-7DE59476C19F}"/>
              </a:ext>
            </a:extLst>
          </p:cNvPr>
          <p:cNvSpPr/>
          <p:nvPr/>
        </p:nvSpPr>
        <p:spPr>
          <a:xfrm>
            <a:off x="6396271" y="3073360"/>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簡易</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LP</a:t>
            </a:r>
            <a:r>
              <a:rPr kumimoji="0" 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 × </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WEB</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リード＋</a:t>
            </a:r>
            <a:r>
              <a:rPr kumimoji="0" lang="en-US" sz="1100" b="1" i="0" u="none" strike="noStrike" kern="0" cap="none" spc="0" normalizeH="0" baseline="0" noProof="0" dirty="0" err="1">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LINE登録</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（サンクス</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61" name="Text 41">
            <a:extLst>
              <a:ext uri="{FF2B5EF4-FFF2-40B4-BE49-F238E27FC236}">
                <a16:creationId xmlns:a16="http://schemas.microsoft.com/office/drawing/2014/main" id="{A02D25CE-9C9B-6858-9645-3D054403B80F}"/>
              </a:ext>
            </a:extLst>
          </p:cNvPr>
          <p:cNvSpPr/>
          <p:nvPr/>
        </p:nvSpPr>
        <p:spPr>
          <a:xfrm>
            <a:off x="5207551" y="3375112"/>
            <a:ext cx="4449774" cy="493776"/>
          </a:xfrm>
          <a:prstGeom prst="rect">
            <a:avLst/>
          </a:prstGeom>
          <a:noFill/>
          <a:ln/>
        </p:spPr>
        <p:txBody>
          <a:bodyPr wrap="square" lIns="0" tIns="0" rIns="0" bIns="0" rtlCol="0" anchor="ctr"/>
          <a:lstStyle/>
          <a:p>
            <a:pPr lvl="0">
              <a:lnSpc>
                <a:spcPct val="135000"/>
              </a:lnSpc>
              <a:defRPr/>
            </a:pP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シミュレーター、簡易診断を</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受け取る</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簡易的な</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LP</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を作成し</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WEB</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リード＋</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友だち追加そのままステップ配信へ移行</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altLang="ja-JP" sz="850" kern="0" dirty="0">
                <a:solidFill>
                  <a:srgbClr val="4A4A6A"/>
                </a:solidFill>
                <a:latin typeface="メイリオ" panose="020B0604030504040204" pitchFamily="50" charset="-128"/>
                <a:ea typeface="メイリオ" panose="020B0604030504040204" pitchFamily="50" charset="-128"/>
                <a:cs typeface="Calibri" pitchFamily="34" charset="-120"/>
              </a:rPr>
              <a:t>CVR</a:t>
            </a: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を</a:t>
            </a:r>
            <a:r>
              <a:rPr kumimoji="0" lang="ja-JP" altLang="en-US" sz="850" b="1"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altLang="ja-JP" sz="850" b="1"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2</a:t>
            </a:r>
            <a:r>
              <a:rPr kumimoji="0" lang="ja-JP" altLang="en-US" sz="850" b="1"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％前後</a:t>
            </a:r>
            <a:r>
              <a:rPr kumimoji="0" lang="ja-JP" altLang="en-US" sz="850" b="1" kern="0" dirty="0">
                <a:solidFill>
                  <a:srgbClr val="4A4A6A"/>
                </a:solidFill>
                <a:latin typeface="メイリオ" panose="020B0604030504040204" pitchFamily="50" charset="-128"/>
                <a:ea typeface="メイリオ" panose="020B0604030504040204" pitchFamily="50" charset="-128"/>
                <a:cs typeface="Calibri" pitchFamily="34" charset="-120"/>
              </a:rPr>
              <a:t>」を「</a:t>
            </a:r>
            <a:r>
              <a:rPr kumimoji="0" lang="en-US" altLang="ja-JP" sz="850" b="1" kern="0" dirty="0">
                <a:solidFill>
                  <a:srgbClr val="4A4A6A"/>
                </a:solidFill>
                <a:latin typeface="メイリオ" panose="020B0604030504040204" pitchFamily="50" charset="-128"/>
                <a:ea typeface="メイリオ" panose="020B0604030504040204" pitchFamily="50" charset="-128"/>
                <a:cs typeface="Calibri" pitchFamily="34" charset="-120"/>
              </a:rPr>
              <a:t>5</a:t>
            </a:r>
            <a:r>
              <a:rPr kumimoji="0" lang="ja-JP" altLang="en-US" sz="850" b="1" kern="0" dirty="0">
                <a:solidFill>
                  <a:srgbClr val="4A4A6A"/>
                </a:solidFill>
                <a:latin typeface="メイリオ" panose="020B0604030504040204" pitchFamily="50" charset="-128"/>
                <a:ea typeface="メイリオ" panose="020B0604030504040204" pitchFamily="50" charset="-128"/>
                <a:cs typeface="Calibri" pitchFamily="34" charset="-120"/>
              </a:rPr>
              <a:t>－</a:t>
            </a:r>
            <a:r>
              <a:rPr kumimoji="0" lang="en-US" altLang="ja-JP" sz="850" b="1" kern="0" dirty="0">
                <a:solidFill>
                  <a:srgbClr val="4A4A6A"/>
                </a:solidFill>
                <a:latin typeface="メイリオ" panose="020B0604030504040204" pitchFamily="50" charset="-128"/>
                <a:ea typeface="メイリオ" panose="020B0604030504040204" pitchFamily="50" charset="-128"/>
                <a:cs typeface="Calibri" pitchFamily="34" charset="-120"/>
              </a:rPr>
              <a:t>10</a:t>
            </a:r>
            <a:r>
              <a:rPr kumimoji="0" lang="ja-JP" altLang="en-US" sz="850" b="1" kern="0" dirty="0">
                <a:solidFill>
                  <a:srgbClr val="4A4A6A"/>
                </a:solidFill>
                <a:latin typeface="メイリオ" panose="020B0604030504040204" pitchFamily="50" charset="-128"/>
                <a:ea typeface="メイリオ" panose="020B0604030504040204" pitchFamily="50" charset="-128"/>
                <a:cs typeface="Calibri" pitchFamily="34" charset="-120"/>
              </a:rPr>
              <a:t>％」に引上げてリード最大化。</a:t>
            </a:r>
            <a:endParaRPr kumimoji="0" lang="en-US" sz="850" b="1"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63" name="Shape 42">
            <a:extLst>
              <a:ext uri="{FF2B5EF4-FFF2-40B4-BE49-F238E27FC236}">
                <a16:creationId xmlns:a16="http://schemas.microsoft.com/office/drawing/2014/main" id="{A9C5DE92-D696-84FB-0338-A45B2163E84E}"/>
              </a:ext>
            </a:extLst>
          </p:cNvPr>
          <p:cNvSpPr/>
          <p:nvPr/>
        </p:nvSpPr>
        <p:spPr>
          <a:xfrm>
            <a:off x="5207551" y="4069294"/>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65" name="Shape 43">
            <a:extLst>
              <a:ext uri="{FF2B5EF4-FFF2-40B4-BE49-F238E27FC236}">
                <a16:creationId xmlns:a16="http://schemas.microsoft.com/office/drawing/2014/main" id="{7A414BE8-8C56-464D-5646-C8428426E154}"/>
              </a:ext>
            </a:extLst>
          </p:cNvPr>
          <p:cNvSpPr/>
          <p:nvPr/>
        </p:nvSpPr>
        <p:spPr>
          <a:xfrm>
            <a:off x="5262415" y="4124158"/>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67" name="Text 44">
            <a:extLst>
              <a:ext uri="{FF2B5EF4-FFF2-40B4-BE49-F238E27FC236}">
                <a16:creationId xmlns:a16="http://schemas.microsoft.com/office/drawing/2014/main" id="{71F14BEE-D634-88A2-56B2-296177E648B8}"/>
              </a:ext>
            </a:extLst>
          </p:cNvPr>
          <p:cNvSpPr/>
          <p:nvPr/>
        </p:nvSpPr>
        <p:spPr>
          <a:xfrm>
            <a:off x="5262415" y="4124158"/>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69" name="Text 45">
            <a:extLst>
              <a:ext uri="{FF2B5EF4-FFF2-40B4-BE49-F238E27FC236}">
                <a16:creationId xmlns:a16="http://schemas.microsoft.com/office/drawing/2014/main" id="{38EAA9FF-3D6F-9893-A6AC-492E1F8D9ED2}"/>
              </a:ext>
            </a:extLst>
          </p:cNvPr>
          <p:cNvSpPr/>
          <p:nvPr/>
        </p:nvSpPr>
        <p:spPr>
          <a:xfrm>
            <a:off x="5481871" y="4105870"/>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超簡易</a:t>
            </a: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LP</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71" name="Text 46">
            <a:extLst>
              <a:ext uri="{FF2B5EF4-FFF2-40B4-BE49-F238E27FC236}">
                <a16:creationId xmlns:a16="http://schemas.microsoft.com/office/drawing/2014/main" id="{76F9D806-0316-8040-BBC1-059EC4037026}"/>
              </a:ext>
            </a:extLst>
          </p:cNvPr>
          <p:cNvSpPr/>
          <p:nvPr/>
        </p:nvSpPr>
        <p:spPr>
          <a:xfrm>
            <a:off x="5262415" y="4316182"/>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altLang="ja-JP"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WEB</a:t>
            </a: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リード獲得</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73" name="Text 47">
            <a:extLst>
              <a:ext uri="{FF2B5EF4-FFF2-40B4-BE49-F238E27FC236}">
                <a16:creationId xmlns:a16="http://schemas.microsoft.com/office/drawing/2014/main" id="{A91D1983-BD63-6B03-7992-4EBA1D20A7ED}"/>
              </a:ext>
            </a:extLst>
          </p:cNvPr>
          <p:cNvSpPr/>
          <p:nvPr/>
        </p:nvSpPr>
        <p:spPr>
          <a:xfrm>
            <a:off x="6487711" y="4224742"/>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75" name="Shape 48">
            <a:extLst>
              <a:ext uri="{FF2B5EF4-FFF2-40B4-BE49-F238E27FC236}">
                <a16:creationId xmlns:a16="http://schemas.microsoft.com/office/drawing/2014/main" id="{1B608CB6-10B1-7849-F676-C778EAF32793}"/>
              </a:ext>
            </a:extLst>
          </p:cNvPr>
          <p:cNvSpPr/>
          <p:nvPr/>
        </p:nvSpPr>
        <p:spPr>
          <a:xfrm>
            <a:off x="6615727" y="4069294"/>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77" name="Shape 49">
            <a:extLst>
              <a:ext uri="{FF2B5EF4-FFF2-40B4-BE49-F238E27FC236}">
                <a16:creationId xmlns:a16="http://schemas.microsoft.com/office/drawing/2014/main" id="{C6FD4C21-79ED-9901-73BB-36FADC629074}"/>
              </a:ext>
            </a:extLst>
          </p:cNvPr>
          <p:cNvSpPr/>
          <p:nvPr/>
        </p:nvSpPr>
        <p:spPr>
          <a:xfrm>
            <a:off x="6670591" y="4124158"/>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79" name="Text 50">
            <a:extLst>
              <a:ext uri="{FF2B5EF4-FFF2-40B4-BE49-F238E27FC236}">
                <a16:creationId xmlns:a16="http://schemas.microsoft.com/office/drawing/2014/main" id="{3AF7109C-EDE8-F8BE-01DA-9C306F9D4491}"/>
              </a:ext>
            </a:extLst>
          </p:cNvPr>
          <p:cNvSpPr/>
          <p:nvPr/>
        </p:nvSpPr>
        <p:spPr>
          <a:xfrm>
            <a:off x="6670591" y="4124158"/>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1" name="Text 51">
            <a:extLst>
              <a:ext uri="{FF2B5EF4-FFF2-40B4-BE49-F238E27FC236}">
                <a16:creationId xmlns:a16="http://schemas.microsoft.com/office/drawing/2014/main" id="{6A7C6314-C31C-2B4B-7A8D-E8DECD286DE8}"/>
              </a:ext>
            </a:extLst>
          </p:cNvPr>
          <p:cNvSpPr/>
          <p:nvPr/>
        </p:nvSpPr>
        <p:spPr>
          <a:xfrm>
            <a:off x="6887872" y="4105870"/>
            <a:ext cx="100584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サンクス</a:t>
            </a: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誘導</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3" name="Text 52">
            <a:extLst>
              <a:ext uri="{FF2B5EF4-FFF2-40B4-BE49-F238E27FC236}">
                <a16:creationId xmlns:a16="http://schemas.microsoft.com/office/drawing/2014/main" id="{0C3AD28D-E803-BC04-74B7-651CDCD70000}"/>
              </a:ext>
            </a:extLst>
          </p:cNvPr>
          <p:cNvSpPr/>
          <p:nvPr/>
        </p:nvSpPr>
        <p:spPr>
          <a:xfrm>
            <a:off x="6621208" y="4316182"/>
            <a:ext cx="137196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altLang="ja-JP"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上で受取</a:t>
            </a:r>
            <a:r>
              <a:rPr kumimoji="0" lang="ja-JP" altLang="en-US" sz="750" kern="0" dirty="0">
                <a:solidFill>
                  <a:srgbClr val="4A4A6A"/>
                </a:solidFill>
                <a:latin typeface="メイリオ" panose="020B0604030504040204" pitchFamily="50" charset="-128"/>
                <a:ea typeface="メイリオ" panose="020B0604030504040204" pitchFamily="50" charset="-128"/>
                <a:cs typeface="Calibri" pitchFamily="34" charset="-120"/>
              </a:rPr>
              <a:t>として友だちに</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5" name="Text 53">
            <a:extLst>
              <a:ext uri="{FF2B5EF4-FFF2-40B4-BE49-F238E27FC236}">
                <a16:creationId xmlns:a16="http://schemas.microsoft.com/office/drawing/2014/main" id="{2FB8B884-DB13-49DB-D682-50EB7789C9A4}"/>
              </a:ext>
            </a:extLst>
          </p:cNvPr>
          <p:cNvSpPr/>
          <p:nvPr/>
        </p:nvSpPr>
        <p:spPr>
          <a:xfrm>
            <a:off x="7895887" y="4224742"/>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7" name="Shape 54">
            <a:extLst>
              <a:ext uri="{FF2B5EF4-FFF2-40B4-BE49-F238E27FC236}">
                <a16:creationId xmlns:a16="http://schemas.microsoft.com/office/drawing/2014/main" id="{710A2000-BA3B-1AFB-FCE0-644E6898DD03}"/>
              </a:ext>
            </a:extLst>
          </p:cNvPr>
          <p:cNvSpPr/>
          <p:nvPr/>
        </p:nvSpPr>
        <p:spPr>
          <a:xfrm>
            <a:off x="8023903" y="4069294"/>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89" name="Shape 55">
            <a:extLst>
              <a:ext uri="{FF2B5EF4-FFF2-40B4-BE49-F238E27FC236}">
                <a16:creationId xmlns:a16="http://schemas.microsoft.com/office/drawing/2014/main" id="{1037F87F-5E4D-E3F5-E197-701DC444F492}"/>
              </a:ext>
            </a:extLst>
          </p:cNvPr>
          <p:cNvSpPr/>
          <p:nvPr/>
        </p:nvSpPr>
        <p:spPr>
          <a:xfrm>
            <a:off x="8078767" y="4124158"/>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91" name="Text 56">
            <a:extLst>
              <a:ext uri="{FF2B5EF4-FFF2-40B4-BE49-F238E27FC236}">
                <a16:creationId xmlns:a16="http://schemas.microsoft.com/office/drawing/2014/main" id="{B168640B-7EB6-045C-32D4-9F60E9C4069A}"/>
              </a:ext>
            </a:extLst>
          </p:cNvPr>
          <p:cNvSpPr/>
          <p:nvPr/>
        </p:nvSpPr>
        <p:spPr>
          <a:xfrm>
            <a:off x="8078767" y="4124158"/>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93" name="Text 57">
            <a:extLst>
              <a:ext uri="{FF2B5EF4-FFF2-40B4-BE49-F238E27FC236}">
                <a16:creationId xmlns:a16="http://schemas.microsoft.com/office/drawing/2014/main" id="{E14BC7E9-3708-9505-AC4A-060665171BCD}"/>
              </a:ext>
            </a:extLst>
          </p:cNvPr>
          <p:cNvSpPr/>
          <p:nvPr/>
        </p:nvSpPr>
        <p:spPr>
          <a:xfrm>
            <a:off x="8298223" y="4105870"/>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友だち追加完了</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95" name="Text 58">
            <a:extLst>
              <a:ext uri="{FF2B5EF4-FFF2-40B4-BE49-F238E27FC236}">
                <a16:creationId xmlns:a16="http://schemas.microsoft.com/office/drawing/2014/main" id="{5677227D-7522-18E3-CFF0-A01DE3054B96}"/>
              </a:ext>
            </a:extLst>
          </p:cNvPr>
          <p:cNvSpPr/>
          <p:nvPr/>
        </p:nvSpPr>
        <p:spPr>
          <a:xfrm>
            <a:off x="8078767" y="4316182"/>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err="1">
                <a:ln>
                  <a:noFill/>
                </a:ln>
                <a:solidFill>
                  <a:srgbClr val="D0E8FF"/>
                </a:solidFill>
                <a:effectLst/>
                <a:uLnTx/>
                <a:uFillTx/>
                <a:latin typeface="メイリオ" panose="020B0604030504040204" pitchFamily="50" charset="-128"/>
                <a:ea typeface="メイリオ" panose="020B0604030504040204" pitchFamily="50" charset="-128"/>
                <a:cs typeface="Calibri" pitchFamily="34" charset="-120"/>
              </a:rPr>
              <a:t>ステップ配信</a:t>
            </a:r>
            <a:r>
              <a:rPr kumimoji="0" lang="ja-JP" altLang="en-US" sz="750" kern="0" dirty="0">
                <a:solidFill>
                  <a:srgbClr val="D0E8FF"/>
                </a:solidFill>
                <a:latin typeface="メイリオ" panose="020B0604030504040204" pitchFamily="50" charset="-128"/>
                <a:ea typeface="メイリオ" panose="020B0604030504040204" pitchFamily="50" charset="-128"/>
                <a:cs typeface="Calibri" pitchFamily="34" charset="-120"/>
              </a:rPr>
              <a:t>対象に</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43" name="Shape 88">
            <a:extLst>
              <a:ext uri="{FF2B5EF4-FFF2-40B4-BE49-F238E27FC236}">
                <a16:creationId xmlns:a16="http://schemas.microsoft.com/office/drawing/2014/main" id="{E0F73C02-327E-D244-0ABD-F19F91EB24DD}"/>
              </a:ext>
            </a:extLst>
          </p:cNvPr>
          <p:cNvSpPr/>
          <p:nvPr/>
        </p:nvSpPr>
        <p:spPr>
          <a:xfrm>
            <a:off x="261702" y="2995754"/>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45" name="Shape 36">
            <a:extLst>
              <a:ext uri="{FF2B5EF4-FFF2-40B4-BE49-F238E27FC236}">
                <a16:creationId xmlns:a16="http://schemas.microsoft.com/office/drawing/2014/main" id="{845DFC42-70E6-B496-30C2-C44315D85C79}"/>
              </a:ext>
            </a:extLst>
          </p:cNvPr>
          <p:cNvSpPr/>
          <p:nvPr/>
        </p:nvSpPr>
        <p:spPr>
          <a:xfrm>
            <a:off x="369887" y="307848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547" name="Shape 38">
            <a:extLst>
              <a:ext uri="{FF2B5EF4-FFF2-40B4-BE49-F238E27FC236}">
                <a16:creationId xmlns:a16="http://schemas.microsoft.com/office/drawing/2014/main" id="{2DBF8816-E4F7-4E6B-6AB6-19DEA2101114}"/>
              </a:ext>
            </a:extLst>
          </p:cNvPr>
          <p:cNvSpPr/>
          <p:nvPr/>
        </p:nvSpPr>
        <p:spPr>
          <a:xfrm>
            <a:off x="699071" y="309677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49" name="Text 39">
            <a:extLst>
              <a:ext uri="{FF2B5EF4-FFF2-40B4-BE49-F238E27FC236}">
                <a16:creationId xmlns:a16="http://schemas.microsoft.com/office/drawing/2014/main" id="{27DB11BF-957B-1CEF-3AC8-18BF5DCF40D9}"/>
              </a:ext>
            </a:extLst>
          </p:cNvPr>
          <p:cNvSpPr/>
          <p:nvPr/>
        </p:nvSpPr>
        <p:spPr>
          <a:xfrm>
            <a:off x="699071" y="309677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ja-JP" sz="750" b="1" i="0" u="none" strike="noStrike" kern="0" cap="none" spc="0" normalizeH="0" baseline="0" noProof="0" dirty="0">
                <a:ln>
                  <a:noFill/>
                </a:ln>
                <a:solidFill>
                  <a:schemeClr val="accent1"/>
                </a:solidFill>
                <a:effectLst/>
                <a:uLnTx/>
                <a:uFillTx/>
                <a:latin typeface="メイリオ" panose="020B0604030504040204" pitchFamily="50" charset="-128"/>
                <a:ea typeface="メイリオ" panose="020B0604030504040204" pitchFamily="50" charset="-128"/>
              </a:rPr>
              <a:t>CV</a:t>
            </a:r>
            <a:r>
              <a:rPr kumimoji="0" lang="ja-JP" altLang="en-US" sz="750" b="1" i="0" u="none" strike="noStrike" kern="0" cap="none" spc="0" normalizeH="0" baseline="0" noProof="0" dirty="0">
                <a:ln>
                  <a:noFill/>
                </a:ln>
                <a:solidFill>
                  <a:schemeClr val="accent1"/>
                </a:solidFill>
                <a:effectLst/>
                <a:uLnTx/>
                <a:uFillTx/>
                <a:latin typeface="メイリオ" panose="020B0604030504040204" pitchFamily="50" charset="-128"/>
                <a:ea typeface="メイリオ" panose="020B0604030504040204" pitchFamily="50" charset="-128"/>
              </a:rPr>
              <a:t>地点追加</a:t>
            </a:r>
            <a:endParaRPr kumimoji="0" lang="en-US" sz="750" b="1" i="0" u="none" strike="noStrike" kern="0" cap="none" spc="0" normalizeH="0" baseline="0" noProof="0" dirty="0">
              <a:ln>
                <a:noFill/>
              </a:ln>
              <a:solidFill>
                <a:schemeClr val="accent1"/>
              </a:solidFill>
              <a:effectLst/>
              <a:uLnTx/>
              <a:uFillTx/>
              <a:latin typeface="メイリオ" panose="020B0604030504040204" pitchFamily="50" charset="-128"/>
              <a:ea typeface="メイリオ" panose="020B0604030504040204" pitchFamily="50" charset="-128"/>
            </a:endParaRPr>
          </a:p>
        </p:txBody>
      </p:sp>
      <p:sp>
        <p:nvSpPr>
          <p:cNvPr id="551" name="Text 40">
            <a:extLst>
              <a:ext uri="{FF2B5EF4-FFF2-40B4-BE49-F238E27FC236}">
                <a16:creationId xmlns:a16="http://schemas.microsoft.com/office/drawing/2014/main" id="{C23E771B-F34E-1D51-1F7F-E37507CCE586}"/>
              </a:ext>
            </a:extLst>
          </p:cNvPr>
          <p:cNvSpPr/>
          <p:nvPr/>
        </p:nvSpPr>
        <p:spPr>
          <a:xfrm>
            <a:off x="1558607" y="3069345"/>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追加をそもそも集客成果の</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1</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地点に追加</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53" name="Text 41">
            <a:extLst>
              <a:ext uri="{FF2B5EF4-FFF2-40B4-BE49-F238E27FC236}">
                <a16:creationId xmlns:a16="http://schemas.microsoft.com/office/drawing/2014/main" id="{2C88C715-1A68-D7F9-6C3C-2E4E657F87BC}"/>
              </a:ext>
            </a:extLst>
          </p:cNvPr>
          <p:cNvSpPr/>
          <p:nvPr/>
        </p:nvSpPr>
        <p:spPr>
          <a:xfrm>
            <a:off x="369887" y="3371097"/>
            <a:ext cx="4449774" cy="493776"/>
          </a:xfrm>
          <a:prstGeom prst="rect">
            <a:avLst/>
          </a:prstGeom>
          <a:noFill/>
          <a:ln/>
        </p:spPr>
        <p:txBody>
          <a:bodyPr wrap="square" lIns="0" tIns="0" rIns="0" bIns="0" rtlCol="0" anchor="ctr"/>
          <a:lstStyle/>
          <a:p>
            <a:pPr lvl="0">
              <a:lnSpc>
                <a:spcPct val="135000"/>
              </a:lnSpc>
              <a:defRPr/>
            </a:pP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メール、電話を中心とした集客動線では、個人情報としてのハードルが高いため、</a:t>
            </a:r>
            <a:endPar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endParaRPr>
          </a:p>
          <a:p>
            <a:pPr lvl="0">
              <a:lnSpc>
                <a:spcPct val="135000"/>
              </a:lnSpc>
              <a:defRPr/>
            </a:pP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集客実施内でのリード獲得単価を抑制できる上、反応率が高い</a:t>
            </a:r>
            <a:r>
              <a:rPr kumimoji="0" lang="en-US" altLang="ja-JP" sz="850" kern="0" dirty="0">
                <a:solidFill>
                  <a:srgbClr val="4A4A6A"/>
                </a:solidFill>
                <a:latin typeface="メイリオ" panose="020B0604030504040204" pitchFamily="50" charset="-128"/>
                <a:ea typeface="メイリオ" panose="020B0604030504040204" pitchFamily="50" charset="-128"/>
                <a:cs typeface="Calibri" pitchFamily="34" charset="-120"/>
              </a:rPr>
              <a:t>LINE</a:t>
            </a: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を動線の</a:t>
            </a:r>
            <a:r>
              <a:rPr kumimoji="0" lang="en-US" altLang="ja-JP" sz="850" kern="0" dirty="0">
                <a:solidFill>
                  <a:srgbClr val="4A4A6A"/>
                </a:solidFill>
                <a:latin typeface="メイリオ" panose="020B0604030504040204" pitchFamily="50" charset="-128"/>
                <a:ea typeface="メイリオ" panose="020B0604030504040204" pitchFamily="50" charset="-128"/>
                <a:cs typeface="Calibri" pitchFamily="34" charset="-120"/>
              </a:rPr>
              <a:t>1</a:t>
            </a: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つに。</a:t>
            </a:r>
            <a:endParaRPr kumimoji="0" lang="en-US" sz="850" b="1"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55" name="Shape 42">
            <a:extLst>
              <a:ext uri="{FF2B5EF4-FFF2-40B4-BE49-F238E27FC236}">
                <a16:creationId xmlns:a16="http://schemas.microsoft.com/office/drawing/2014/main" id="{113510A9-9BDD-9FAD-90F6-0D1EC0BCB699}"/>
              </a:ext>
            </a:extLst>
          </p:cNvPr>
          <p:cNvSpPr/>
          <p:nvPr/>
        </p:nvSpPr>
        <p:spPr>
          <a:xfrm>
            <a:off x="369887" y="406527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57" name="Shape 43">
            <a:extLst>
              <a:ext uri="{FF2B5EF4-FFF2-40B4-BE49-F238E27FC236}">
                <a16:creationId xmlns:a16="http://schemas.microsoft.com/office/drawing/2014/main" id="{4E4A9CB8-BC81-64F6-260F-5F493122A66C}"/>
              </a:ext>
            </a:extLst>
          </p:cNvPr>
          <p:cNvSpPr/>
          <p:nvPr/>
        </p:nvSpPr>
        <p:spPr>
          <a:xfrm>
            <a:off x="424751" y="412014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59" name="Text 44">
            <a:extLst>
              <a:ext uri="{FF2B5EF4-FFF2-40B4-BE49-F238E27FC236}">
                <a16:creationId xmlns:a16="http://schemas.microsoft.com/office/drawing/2014/main" id="{1140FDA8-6C5C-AE0C-F98C-11C8C0A073FE}"/>
              </a:ext>
            </a:extLst>
          </p:cNvPr>
          <p:cNvSpPr/>
          <p:nvPr/>
        </p:nvSpPr>
        <p:spPr>
          <a:xfrm>
            <a:off x="424751" y="412014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61" name="Text 45">
            <a:extLst>
              <a:ext uri="{FF2B5EF4-FFF2-40B4-BE49-F238E27FC236}">
                <a16:creationId xmlns:a16="http://schemas.microsoft.com/office/drawing/2014/main" id="{A22E630F-5396-9B90-711A-C5DCE95E1469}"/>
              </a:ext>
            </a:extLst>
          </p:cNvPr>
          <p:cNvSpPr/>
          <p:nvPr/>
        </p:nvSpPr>
        <p:spPr>
          <a:xfrm>
            <a:off x="644207" y="4101855"/>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広告・</a:t>
            </a: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SEO</a:t>
            </a: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SNS</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63" name="Text 46">
            <a:extLst>
              <a:ext uri="{FF2B5EF4-FFF2-40B4-BE49-F238E27FC236}">
                <a16:creationId xmlns:a16="http://schemas.microsoft.com/office/drawing/2014/main" id="{963027FB-D92E-2D7B-6655-63BA79599E4C}"/>
              </a:ext>
            </a:extLst>
          </p:cNvPr>
          <p:cNvSpPr/>
          <p:nvPr/>
        </p:nvSpPr>
        <p:spPr>
          <a:xfrm>
            <a:off x="424751" y="4312167"/>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流入チャネル</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65" name="Text 47">
            <a:extLst>
              <a:ext uri="{FF2B5EF4-FFF2-40B4-BE49-F238E27FC236}">
                <a16:creationId xmlns:a16="http://schemas.microsoft.com/office/drawing/2014/main" id="{74B99422-CBF5-9B4D-0494-5C4443B23CDC}"/>
              </a:ext>
            </a:extLst>
          </p:cNvPr>
          <p:cNvSpPr/>
          <p:nvPr/>
        </p:nvSpPr>
        <p:spPr>
          <a:xfrm>
            <a:off x="1650047" y="422072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67" name="Shape 48">
            <a:extLst>
              <a:ext uri="{FF2B5EF4-FFF2-40B4-BE49-F238E27FC236}">
                <a16:creationId xmlns:a16="http://schemas.microsoft.com/office/drawing/2014/main" id="{8B8CFEAA-9314-449D-1074-EF75AFDAC19A}"/>
              </a:ext>
            </a:extLst>
          </p:cNvPr>
          <p:cNvSpPr/>
          <p:nvPr/>
        </p:nvSpPr>
        <p:spPr>
          <a:xfrm>
            <a:off x="1778063" y="406527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69" name="Shape 49">
            <a:extLst>
              <a:ext uri="{FF2B5EF4-FFF2-40B4-BE49-F238E27FC236}">
                <a16:creationId xmlns:a16="http://schemas.microsoft.com/office/drawing/2014/main" id="{C950146B-431E-366D-1457-E0150725DAB8}"/>
              </a:ext>
            </a:extLst>
          </p:cNvPr>
          <p:cNvSpPr/>
          <p:nvPr/>
        </p:nvSpPr>
        <p:spPr>
          <a:xfrm>
            <a:off x="1832927" y="412014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71" name="Text 50">
            <a:extLst>
              <a:ext uri="{FF2B5EF4-FFF2-40B4-BE49-F238E27FC236}">
                <a16:creationId xmlns:a16="http://schemas.microsoft.com/office/drawing/2014/main" id="{2812D2BF-5313-2DA8-B2ED-115987FDA314}"/>
              </a:ext>
            </a:extLst>
          </p:cNvPr>
          <p:cNvSpPr/>
          <p:nvPr/>
        </p:nvSpPr>
        <p:spPr>
          <a:xfrm>
            <a:off x="1832927" y="412014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73" name="Text 51">
            <a:extLst>
              <a:ext uri="{FF2B5EF4-FFF2-40B4-BE49-F238E27FC236}">
                <a16:creationId xmlns:a16="http://schemas.microsoft.com/office/drawing/2014/main" id="{61B9DBCC-02E6-6237-0DAD-ED9142171120}"/>
              </a:ext>
            </a:extLst>
          </p:cNvPr>
          <p:cNvSpPr/>
          <p:nvPr/>
        </p:nvSpPr>
        <p:spPr>
          <a:xfrm>
            <a:off x="2050208" y="4101855"/>
            <a:ext cx="100584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LP</a:t>
            </a: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・ポップアップ</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75" name="Text 52">
            <a:extLst>
              <a:ext uri="{FF2B5EF4-FFF2-40B4-BE49-F238E27FC236}">
                <a16:creationId xmlns:a16="http://schemas.microsoft.com/office/drawing/2014/main" id="{1CF9536A-5A56-D77B-3F08-8BACCB3B4827}"/>
              </a:ext>
            </a:extLst>
          </p:cNvPr>
          <p:cNvSpPr/>
          <p:nvPr/>
        </p:nvSpPr>
        <p:spPr>
          <a:xfrm>
            <a:off x="1783544" y="4312167"/>
            <a:ext cx="137196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altLang="ja-JP"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LP</a:t>
            </a: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やポップアップでの動線に</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77" name="Text 53">
            <a:extLst>
              <a:ext uri="{FF2B5EF4-FFF2-40B4-BE49-F238E27FC236}">
                <a16:creationId xmlns:a16="http://schemas.microsoft.com/office/drawing/2014/main" id="{6C4945AC-3CDA-2080-CEF1-36A24E6529F2}"/>
              </a:ext>
            </a:extLst>
          </p:cNvPr>
          <p:cNvSpPr/>
          <p:nvPr/>
        </p:nvSpPr>
        <p:spPr>
          <a:xfrm>
            <a:off x="3058223" y="422072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79" name="Shape 54">
            <a:extLst>
              <a:ext uri="{FF2B5EF4-FFF2-40B4-BE49-F238E27FC236}">
                <a16:creationId xmlns:a16="http://schemas.microsoft.com/office/drawing/2014/main" id="{FB4A19A3-2EF9-47D2-F075-70F2D5D6B076}"/>
              </a:ext>
            </a:extLst>
          </p:cNvPr>
          <p:cNvSpPr/>
          <p:nvPr/>
        </p:nvSpPr>
        <p:spPr>
          <a:xfrm>
            <a:off x="3186239" y="406527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81" name="Shape 55">
            <a:extLst>
              <a:ext uri="{FF2B5EF4-FFF2-40B4-BE49-F238E27FC236}">
                <a16:creationId xmlns:a16="http://schemas.microsoft.com/office/drawing/2014/main" id="{6B43E1E4-2A7D-AD40-67F5-6B516A71860E}"/>
              </a:ext>
            </a:extLst>
          </p:cNvPr>
          <p:cNvSpPr/>
          <p:nvPr/>
        </p:nvSpPr>
        <p:spPr>
          <a:xfrm>
            <a:off x="3241103" y="412014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83" name="Text 56">
            <a:extLst>
              <a:ext uri="{FF2B5EF4-FFF2-40B4-BE49-F238E27FC236}">
                <a16:creationId xmlns:a16="http://schemas.microsoft.com/office/drawing/2014/main" id="{2E67F49B-16BE-07E6-9262-E50D4D3A8F60}"/>
              </a:ext>
            </a:extLst>
          </p:cNvPr>
          <p:cNvSpPr/>
          <p:nvPr/>
        </p:nvSpPr>
        <p:spPr>
          <a:xfrm>
            <a:off x="3241103" y="412014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85" name="Text 57">
            <a:extLst>
              <a:ext uri="{FF2B5EF4-FFF2-40B4-BE49-F238E27FC236}">
                <a16:creationId xmlns:a16="http://schemas.microsoft.com/office/drawing/2014/main" id="{AA931AD0-7A16-05D2-D8C7-AB50301B6C53}"/>
              </a:ext>
            </a:extLst>
          </p:cNvPr>
          <p:cNvSpPr/>
          <p:nvPr/>
        </p:nvSpPr>
        <p:spPr>
          <a:xfrm>
            <a:off x="3460559" y="4101855"/>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友だち追加完了</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87" name="Text 58">
            <a:extLst>
              <a:ext uri="{FF2B5EF4-FFF2-40B4-BE49-F238E27FC236}">
                <a16:creationId xmlns:a16="http://schemas.microsoft.com/office/drawing/2014/main" id="{54B49D2D-4FC3-300F-AAB4-B1D6ACEDA33A}"/>
              </a:ext>
            </a:extLst>
          </p:cNvPr>
          <p:cNvSpPr/>
          <p:nvPr/>
        </p:nvSpPr>
        <p:spPr>
          <a:xfrm>
            <a:off x="3241103" y="4312167"/>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D0E8FF"/>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3" name="Shape 59">
            <a:extLst>
              <a:ext uri="{FF2B5EF4-FFF2-40B4-BE49-F238E27FC236}">
                <a16:creationId xmlns:a16="http://schemas.microsoft.com/office/drawing/2014/main" id="{AD750B5D-07B2-F81B-8894-97831AB44188}"/>
              </a:ext>
            </a:extLst>
          </p:cNvPr>
          <p:cNvSpPr/>
          <p:nvPr/>
        </p:nvSpPr>
        <p:spPr>
          <a:xfrm>
            <a:off x="6653847" y="110408"/>
            <a:ext cx="1446971" cy="330537"/>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中長期で導入検討</a:t>
            </a:r>
          </a:p>
        </p:txBody>
      </p:sp>
      <p:sp>
        <p:nvSpPr>
          <p:cNvPr id="16" name="Shape 88">
            <a:extLst>
              <a:ext uri="{FF2B5EF4-FFF2-40B4-BE49-F238E27FC236}">
                <a16:creationId xmlns:a16="http://schemas.microsoft.com/office/drawing/2014/main" id="{D0EC0F33-09F6-41B1-2488-C9F12FCE2CDD}"/>
              </a:ext>
            </a:extLst>
          </p:cNvPr>
          <p:cNvSpPr/>
          <p:nvPr/>
        </p:nvSpPr>
        <p:spPr>
          <a:xfrm>
            <a:off x="5134337" y="111417"/>
            <a:ext cx="1442146" cy="330537"/>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導入推奨</a:t>
            </a:r>
          </a:p>
        </p:txBody>
      </p:sp>
    </p:spTree>
    <p:extLst>
      <p:ext uri="{BB962C8B-B14F-4D97-AF65-F5344CB8AC3E}">
        <p14:creationId xmlns:p14="http://schemas.microsoft.com/office/powerpoint/2010/main" val="295715877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1E7E9-7412-46E6-C9BD-3E3A30E4E19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8CB184C-78E9-D432-060D-EA3167991AB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改善モデル②</a:t>
            </a:r>
          </a:p>
        </p:txBody>
      </p:sp>
      <p:sp>
        <p:nvSpPr>
          <p:cNvPr id="27" name="テキスト ボックス 26">
            <a:extLst>
              <a:ext uri="{FF2B5EF4-FFF2-40B4-BE49-F238E27FC236}">
                <a16:creationId xmlns:a16="http://schemas.microsoft.com/office/drawing/2014/main" id="{CD5B9619-DF62-5A09-8786-F83CA0529EF7}"/>
              </a:ext>
            </a:extLst>
          </p:cNvPr>
          <p:cNvSpPr txBox="1"/>
          <p:nvPr/>
        </p:nvSpPr>
        <p:spPr>
          <a:xfrm>
            <a:off x="334303" y="142540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28" name="テキスト ボックス 27">
            <a:extLst>
              <a:ext uri="{FF2B5EF4-FFF2-40B4-BE49-F238E27FC236}">
                <a16:creationId xmlns:a16="http://schemas.microsoft.com/office/drawing/2014/main" id="{4FBA5686-1B33-AF5C-E6BC-2E0C88B24352}"/>
              </a:ext>
            </a:extLst>
          </p:cNvPr>
          <p:cNvSpPr txBox="1"/>
          <p:nvPr/>
        </p:nvSpPr>
        <p:spPr>
          <a:xfrm>
            <a:off x="1268358" y="163606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D27D1FC0-FB35-21DC-CE25-F2D2125F242E}"/>
              </a:ext>
            </a:extLst>
          </p:cNvPr>
          <p:cNvSpPr txBox="1"/>
          <p:nvPr/>
        </p:nvSpPr>
        <p:spPr>
          <a:xfrm>
            <a:off x="2202413" y="183017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30" name="テキスト ボックス 29">
            <a:extLst>
              <a:ext uri="{FF2B5EF4-FFF2-40B4-BE49-F238E27FC236}">
                <a16:creationId xmlns:a16="http://schemas.microsoft.com/office/drawing/2014/main" id="{7212DB55-F234-8FD7-C030-3F285C1EC16D}"/>
              </a:ext>
            </a:extLst>
          </p:cNvPr>
          <p:cNvSpPr txBox="1"/>
          <p:nvPr/>
        </p:nvSpPr>
        <p:spPr>
          <a:xfrm>
            <a:off x="3136468" y="202652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32" name="コネクタ: カギ線 31">
            <a:extLst>
              <a:ext uri="{FF2B5EF4-FFF2-40B4-BE49-F238E27FC236}">
                <a16:creationId xmlns:a16="http://schemas.microsoft.com/office/drawing/2014/main" id="{72B04E50-7661-9621-AE78-3522F8E664CF}"/>
              </a:ext>
            </a:extLst>
          </p:cNvPr>
          <p:cNvCxnSpPr>
            <a:cxnSpLocks/>
            <a:stCxn id="30" idx="0"/>
          </p:cNvCxnSpPr>
          <p:nvPr/>
        </p:nvCxnSpPr>
        <p:spPr>
          <a:xfrm rot="5400000" flipH="1" flipV="1">
            <a:off x="4270984" y="1681932"/>
            <a:ext cx="246792" cy="442396"/>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 name="テキスト ボックス 1">
            <a:extLst>
              <a:ext uri="{FF2B5EF4-FFF2-40B4-BE49-F238E27FC236}">
                <a16:creationId xmlns:a16="http://schemas.microsoft.com/office/drawing/2014/main" id="{323ECFC3-BA42-FBB4-E25E-F72CFED142D3}"/>
              </a:ext>
            </a:extLst>
          </p:cNvPr>
          <p:cNvSpPr txBox="1"/>
          <p:nvPr/>
        </p:nvSpPr>
        <p:spPr>
          <a:xfrm>
            <a:off x="6119413" y="182847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E9E0720-3E3A-6F6F-EF58-0D05A19D436C}"/>
              </a:ext>
            </a:extLst>
          </p:cNvPr>
          <p:cNvSpPr txBox="1"/>
          <p:nvPr/>
        </p:nvSpPr>
        <p:spPr>
          <a:xfrm>
            <a:off x="7408050" y="203305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08A18FCF-114F-90AD-1C87-48385A2F1077}"/>
              </a:ext>
            </a:extLst>
          </p:cNvPr>
          <p:cNvSpPr/>
          <p:nvPr/>
        </p:nvSpPr>
        <p:spPr>
          <a:xfrm>
            <a:off x="175475" y="2510144"/>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6534C85A-CAF2-CB68-930A-76AF50820018}"/>
              </a:ext>
            </a:extLst>
          </p:cNvPr>
          <p:cNvSpPr/>
          <p:nvPr/>
        </p:nvSpPr>
        <p:spPr>
          <a:xfrm>
            <a:off x="4994298" y="2510143"/>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3DC92EFA-89CD-05D2-4375-F2DE5BE5DDE6}"/>
              </a:ext>
            </a:extLst>
          </p:cNvPr>
          <p:cNvSpPr/>
          <p:nvPr/>
        </p:nvSpPr>
        <p:spPr>
          <a:xfrm>
            <a:off x="0" y="777240"/>
            <a:ext cx="1802674" cy="5029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施策内容</a:t>
            </a:r>
          </a:p>
        </p:txBody>
      </p:sp>
      <p:sp>
        <p:nvSpPr>
          <p:cNvPr id="11" name="Google Shape;752;p28">
            <a:extLst>
              <a:ext uri="{FF2B5EF4-FFF2-40B4-BE49-F238E27FC236}">
                <a16:creationId xmlns:a16="http://schemas.microsoft.com/office/drawing/2014/main" id="{9920090D-60BB-935F-AD0B-B7717467EA77}"/>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獲得されたリードを</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接触</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商談</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などの直リーチができる状態に引き上げる。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6" name="正方形/長方形 5">
            <a:extLst>
              <a:ext uri="{FF2B5EF4-FFF2-40B4-BE49-F238E27FC236}">
                <a16:creationId xmlns:a16="http://schemas.microsoft.com/office/drawing/2014/main" id="{E9F5C7F3-E9F1-D740-6953-AD8AB98C4502}"/>
              </a:ext>
            </a:extLst>
          </p:cNvPr>
          <p:cNvSpPr/>
          <p:nvPr/>
        </p:nvSpPr>
        <p:spPr>
          <a:xfrm>
            <a:off x="196606" y="1304119"/>
            <a:ext cx="9709394" cy="1206024"/>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2" name="テキスト ボックス 11">
            <a:extLst>
              <a:ext uri="{FF2B5EF4-FFF2-40B4-BE49-F238E27FC236}">
                <a16:creationId xmlns:a16="http://schemas.microsoft.com/office/drawing/2014/main" id="{AD26C97A-E96F-4F7B-9B0B-D735414D6034}"/>
              </a:ext>
            </a:extLst>
          </p:cNvPr>
          <p:cNvSpPr txBox="1"/>
          <p:nvPr/>
        </p:nvSpPr>
        <p:spPr>
          <a:xfrm>
            <a:off x="3542139" y="1396711"/>
            <a:ext cx="2352196" cy="383023"/>
          </a:xfrm>
          <a:prstGeom prst="rect">
            <a:avLst/>
          </a:prstGeom>
          <a:solidFill>
            <a:srgbClr val="1D8D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リード有効化</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14" name="テキスト ボックス 13">
            <a:extLst>
              <a:ext uri="{FF2B5EF4-FFF2-40B4-BE49-F238E27FC236}">
                <a16:creationId xmlns:a16="http://schemas.microsoft.com/office/drawing/2014/main" id="{796E80A6-B5BB-3A8B-412E-06EE28AF0C99}"/>
              </a:ext>
            </a:extLst>
          </p:cNvPr>
          <p:cNvSpPr txBox="1"/>
          <p:nvPr/>
        </p:nvSpPr>
        <p:spPr>
          <a:xfrm>
            <a:off x="4830776" y="1593660"/>
            <a:ext cx="2352196" cy="379232"/>
          </a:xfrm>
          <a:prstGeom prst="rect">
            <a:avLst/>
          </a:prstGeom>
          <a:solidFill>
            <a:srgbClr val="1D8D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⑥ 有効リードの再育成</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 name="正方形/長方形 8">
            <a:extLst>
              <a:ext uri="{FF2B5EF4-FFF2-40B4-BE49-F238E27FC236}">
                <a16:creationId xmlns:a16="http://schemas.microsoft.com/office/drawing/2014/main" id="{7CC6A546-6A9E-3367-D71C-1DB3BEF66AA8}"/>
              </a:ext>
            </a:extLst>
          </p:cNvPr>
          <p:cNvSpPr/>
          <p:nvPr/>
        </p:nvSpPr>
        <p:spPr>
          <a:xfrm>
            <a:off x="272142" y="2590761"/>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rgbClr val="FFC000"/>
                </a:solidFill>
                <a:latin typeface="メイリオ" panose="020B0604030504040204" pitchFamily="50" charset="-128"/>
                <a:ea typeface="メイリオ" panose="020B0604030504040204" pitchFamily="50" charset="-128"/>
              </a:rPr>
              <a:t>短期：</a:t>
            </a:r>
            <a:r>
              <a:rPr kumimoji="1" lang="ja-JP" altLang="en-US" sz="1050" b="1" dirty="0">
                <a:latin typeface="メイリオ" panose="020B0604030504040204" pitchFamily="50" charset="-128"/>
                <a:ea typeface="メイリオ" panose="020B0604030504040204" pitchFamily="50" charset="-128"/>
              </a:rPr>
              <a:t>ナーチャリングにより、情報収集→実来店・直面談の機会設定</a:t>
            </a:r>
          </a:p>
        </p:txBody>
      </p:sp>
      <p:sp>
        <p:nvSpPr>
          <p:cNvPr id="15" name="正方形/長方形 14">
            <a:extLst>
              <a:ext uri="{FF2B5EF4-FFF2-40B4-BE49-F238E27FC236}">
                <a16:creationId xmlns:a16="http://schemas.microsoft.com/office/drawing/2014/main" id="{400321D5-E759-A2AB-D632-D8852C5C2531}"/>
              </a:ext>
            </a:extLst>
          </p:cNvPr>
          <p:cNvSpPr/>
          <p:nvPr/>
        </p:nvSpPr>
        <p:spPr>
          <a:xfrm>
            <a:off x="5084226" y="2584677"/>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rgbClr val="FFC000"/>
                </a:solidFill>
                <a:latin typeface="メイリオ" panose="020B0604030504040204" pitchFamily="50" charset="-128"/>
                <a:ea typeface="メイリオ" panose="020B0604030504040204" pitchFamily="50" charset="-128"/>
              </a:rPr>
              <a:t>長期：</a:t>
            </a:r>
            <a:r>
              <a:rPr lang="ja-JP" altLang="en-US" sz="1050" b="1" dirty="0">
                <a:latin typeface="メイリオ" panose="020B0604030504040204" pitchFamily="50" charset="-128"/>
                <a:ea typeface="メイリオ" panose="020B0604030504040204" pitchFamily="50" charset="-128"/>
              </a:rPr>
              <a:t>休眠顧客リスト、すぐすぐ以外の層に再度接点を</a:t>
            </a:r>
          </a:p>
        </p:txBody>
      </p:sp>
      <p:sp>
        <p:nvSpPr>
          <p:cNvPr id="19" name="Shape 34">
            <a:extLst>
              <a:ext uri="{FF2B5EF4-FFF2-40B4-BE49-F238E27FC236}">
                <a16:creationId xmlns:a16="http://schemas.microsoft.com/office/drawing/2014/main" id="{E40C1293-6205-BD09-C870-AB694054FE21}"/>
              </a:ext>
            </a:extLst>
          </p:cNvPr>
          <p:cNvSpPr/>
          <p:nvPr/>
        </p:nvSpPr>
        <p:spPr>
          <a:xfrm>
            <a:off x="265419" y="2999768"/>
            <a:ext cx="4541216" cy="1600805"/>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1" name="Shape 36">
            <a:extLst>
              <a:ext uri="{FF2B5EF4-FFF2-40B4-BE49-F238E27FC236}">
                <a16:creationId xmlns:a16="http://schemas.microsoft.com/office/drawing/2014/main" id="{016D3DBA-827E-69AE-84A8-B5FA4B627604}"/>
              </a:ext>
            </a:extLst>
          </p:cNvPr>
          <p:cNvSpPr/>
          <p:nvPr/>
        </p:nvSpPr>
        <p:spPr>
          <a:xfrm>
            <a:off x="3568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3" name="Shape 38">
            <a:extLst>
              <a:ext uri="{FF2B5EF4-FFF2-40B4-BE49-F238E27FC236}">
                <a16:creationId xmlns:a16="http://schemas.microsoft.com/office/drawing/2014/main" id="{890CC249-519E-F80A-D737-4911D36F86B6}"/>
              </a:ext>
            </a:extLst>
          </p:cNvPr>
          <p:cNvSpPr/>
          <p:nvPr/>
        </p:nvSpPr>
        <p:spPr>
          <a:xfrm>
            <a:off x="686043"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 name="Text 39">
            <a:extLst>
              <a:ext uri="{FF2B5EF4-FFF2-40B4-BE49-F238E27FC236}">
                <a16:creationId xmlns:a16="http://schemas.microsoft.com/office/drawing/2014/main" id="{006785A7-ADAB-E382-C3A3-3F5FA13C51E7}"/>
              </a:ext>
            </a:extLst>
          </p:cNvPr>
          <p:cNvSpPr/>
          <p:nvPr/>
        </p:nvSpPr>
        <p:spPr>
          <a:xfrm>
            <a:off x="686043"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ステップ配信</a:t>
            </a:r>
          </a:p>
        </p:txBody>
      </p:sp>
      <p:sp>
        <p:nvSpPr>
          <p:cNvPr id="31" name="Text 40">
            <a:extLst>
              <a:ext uri="{FF2B5EF4-FFF2-40B4-BE49-F238E27FC236}">
                <a16:creationId xmlns:a16="http://schemas.microsoft.com/office/drawing/2014/main" id="{560BDF4C-A3DE-DDCD-85B8-65A392B6CE01}"/>
              </a:ext>
            </a:extLst>
          </p:cNvPr>
          <p:cNvSpPr/>
          <p:nvPr/>
        </p:nvSpPr>
        <p:spPr>
          <a:xfrm>
            <a:off x="1545579" y="3082065"/>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ステップ配信 </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 </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限定面談オファーで商談化</a:t>
            </a:r>
          </a:p>
        </p:txBody>
      </p:sp>
      <p:sp>
        <p:nvSpPr>
          <p:cNvPr id="34" name="Text 41">
            <a:extLst>
              <a:ext uri="{FF2B5EF4-FFF2-40B4-BE49-F238E27FC236}">
                <a16:creationId xmlns:a16="http://schemas.microsoft.com/office/drawing/2014/main" id="{99B219D6-3C6C-5799-528B-587E37059F99}"/>
              </a:ext>
            </a:extLst>
          </p:cNvPr>
          <p:cNvSpPr/>
          <p:nvPr/>
        </p:nvSpPr>
        <p:spPr>
          <a:xfrm>
            <a:off x="356859" y="3383817"/>
            <a:ext cx="4449774" cy="493776"/>
          </a:xfrm>
          <a:prstGeom prst="rect">
            <a:avLst/>
          </a:prstGeom>
          <a:noFill/>
          <a:ln/>
        </p:spPr>
        <p:txBody>
          <a:bodyPr wrap="square" lIns="0" tIns="0" rIns="0" bIns="0" rtlCol="0" anchor="ctr"/>
          <a:lstStyle/>
          <a:p>
            <a:pPr marL="0" marR="0" lvl="0" indent="0" defTabSz="914400" eaLnBrk="1" fontAlgn="auto" latinLnBrk="0" hangingPunct="1">
              <a:lnSpc>
                <a:spcPct val="135000"/>
              </a:lnSpc>
              <a:spcBef>
                <a:spcPts val="0"/>
              </a:spcBef>
              <a:spcAft>
                <a:spcPts val="0"/>
              </a:spcAft>
              <a:buClrTx/>
              <a:buSzTx/>
              <a:buFontTx/>
              <a:buNone/>
              <a:tabLst/>
              <a:defRPr/>
            </a:pP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Day0</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資料→</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Day3</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よくある質問→</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Day7</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事例紹介→</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Day10</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「今月限定・無料個別相談を○名様に」。「今すぐ買って」ではなく「まず話を聞くだけ」という低ハードル面談設定が鍵。限定性・数量制限で動機付け。</a:t>
            </a:r>
          </a:p>
        </p:txBody>
      </p:sp>
      <p:sp>
        <p:nvSpPr>
          <p:cNvPr id="36" name="Shape 42">
            <a:extLst>
              <a:ext uri="{FF2B5EF4-FFF2-40B4-BE49-F238E27FC236}">
                <a16:creationId xmlns:a16="http://schemas.microsoft.com/office/drawing/2014/main" id="{B511359D-C466-1D8A-5E4D-5C77E951F935}"/>
              </a:ext>
            </a:extLst>
          </p:cNvPr>
          <p:cNvSpPr/>
          <p:nvPr/>
        </p:nvSpPr>
        <p:spPr>
          <a:xfrm>
            <a:off x="356859"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 name="Shape 43">
            <a:extLst>
              <a:ext uri="{FF2B5EF4-FFF2-40B4-BE49-F238E27FC236}">
                <a16:creationId xmlns:a16="http://schemas.microsoft.com/office/drawing/2014/main" id="{CB296A78-8B99-D908-AF84-F6571FA229F6}"/>
              </a:ext>
            </a:extLst>
          </p:cNvPr>
          <p:cNvSpPr/>
          <p:nvPr/>
        </p:nvSpPr>
        <p:spPr>
          <a:xfrm>
            <a:off x="411723"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0" name="Text 44">
            <a:extLst>
              <a:ext uri="{FF2B5EF4-FFF2-40B4-BE49-F238E27FC236}">
                <a16:creationId xmlns:a16="http://schemas.microsoft.com/office/drawing/2014/main" id="{AA71EAAC-4F67-049F-5CB3-013124E72A38}"/>
              </a:ext>
            </a:extLst>
          </p:cNvPr>
          <p:cNvSpPr/>
          <p:nvPr/>
        </p:nvSpPr>
        <p:spPr>
          <a:xfrm>
            <a:off x="4117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2" name="Text 45">
            <a:extLst>
              <a:ext uri="{FF2B5EF4-FFF2-40B4-BE49-F238E27FC236}">
                <a16:creationId xmlns:a16="http://schemas.microsoft.com/office/drawing/2014/main" id="{42A6B48D-4266-BBC8-D43E-C90410471214}"/>
              </a:ext>
            </a:extLst>
          </p:cNvPr>
          <p:cNvSpPr/>
          <p:nvPr/>
        </p:nvSpPr>
        <p:spPr>
          <a:xfrm>
            <a:off x="631179" y="4114575"/>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Day0 </a:t>
            </a:r>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資料送付</a:t>
            </a:r>
            <a:endParaRPr lang="en-US" altLang="ja-JP" sz="850" dirty="0">
              <a:latin typeface="メイリオ" panose="020B0604030504040204" pitchFamily="50" charset="-128"/>
              <a:ea typeface="メイリオ" panose="020B0604030504040204" pitchFamily="50" charset="-128"/>
            </a:endParaRPr>
          </a:p>
        </p:txBody>
      </p:sp>
      <p:sp>
        <p:nvSpPr>
          <p:cNvPr id="44" name="Text 46">
            <a:extLst>
              <a:ext uri="{FF2B5EF4-FFF2-40B4-BE49-F238E27FC236}">
                <a16:creationId xmlns:a16="http://schemas.microsoft.com/office/drawing/2014/main" id="{2E529A7C-08F8-B965-8436-D648196C6289}"/>
              </a:ext>
            </a:extLst>
          </p:cNvPr>
          <p:cNvSpPr/>
          <p:nvPr/>
        </p:nvSpPr>
        <p:spPr>
          <a:xfrm>
            <a:off x="411723"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即時価値提供</a:t>
            </a:r>
            <a:endParaRPr lang="en-US" altLang="ja-JP" sz="750" dirty="0">
              <a:latin typeface="メイリオ" panose="020B0604030504040204" pitchFamily="50" charset="-128"/>
              <a:ea typeface="メイリオ" panose="020B0604030504040204" pitchFamily="50" charset="-128"/>
            </a:endParaRPr>
          </a:p>
        </p:txBody>
      </p:sp>
      <p:sp>
        <p:nvSpPr>
          <p:cNvPr id="46" name="Text 47">
            <a:extLst>
              <a:ext uri="{FF2B5EF4-FFF2-40B4-BE49-F238E27FC236}">
                <a16:creationId xmlns:a16="http://schemas.microsoft.com/office/drawing/2014/main" id="{A451AFAF-0FA1-3FD6-C1D3-3C9BFFAAC97A}"/>
              </a:ext>
            </a:extLst>
          </p:cNvPr>
          <p:cNvSpPr/>
          <p:nvPr/>
        </p:nvSpPr>
        <p:spPr>
          <a:xfrm>
            <a:off x="1637019"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 name="Shape 48">
            <a:extLst>
              <a:ext uri="{FF2B5EF4-FFF2-40B4-BE49-F238E27FC236}">
                <a16:creationId xmlns:a16="http://schemas.microsoft.com/office/drawing/2014/main" id="{5210973B-C00E-2564-6A70-0A7CEC5FC416}"/>
              </a:ext>
            </a:extLst>
          </p:cNvPr>
          <p:cNvSpPr/>
          <p:nvPr/>
        </p:nvSpPr>
        <p:spPr>
          <a:xfrm>
            <a:off x="1765035"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0" name="Shape 49">
            <a:extLst>
              <a:ext uri="{FF2B5EF4-FFF2-40B4-BE49-F238E27FC236}">
                <a16:creationId xmlns:a16="http://schemas.microsoft.com/office/drawing/2014/main" id="{7F26AFE2-607A-7519-13A7-AE894D5EE528}"/>
              </a:ext>
            </a:extLst>
          </p:cNvPr>
          <p:cNvSpPr/>
          <p:nvPr/>
        </p:nvSpPr>
        <p:spPr>
          <a:xfrm>
            <a:off x="1819899"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2" name="Text 50">
            <a:extLst>
              <a:ext uri="{FF2B5EF4-FFF2-40B4-BE49-F238E27FC236}">
                <a16:creationId xmlns:a16="http://schemas.microsoft.com/office/drawing/2014/main" id="{265C8DF0-C86B-C86C-3E73-66465F4B1369}"/>
              </a:ext>
            </a:extLst>
          </p:cNvPr>
          <p:cNvSpPr/>
          <p:nvPr/>
        </p:nvSpPr>
        <p:spPr>
          <a:xfrm>
            <a:off x="1819899"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4" name="Text 51">
            <a:extLst>
              <a:ext uri="{FF2B5EF4-FFF2-40B4-BE49-F238E27FC236}">
                <a16:creationId xmlns:a16="http://schemas.microsoft.com/office/drawing/2014/main" id="{A95F52FD-E9C5-4730-028B-AF50835B0B2E}"/>
              </a:ext>
            </a:extLst>
          </p:cNvPr>
          <p:cNvSpPr/>
          <p:nvPr/>
        </p:nvSpPr>
        <p:spPr>
          <a:xfrm>
            <a:off x="2039355" y="4114575"/>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Day7 </a:t>
            </a:r>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事例配信</a:t>
            </a:r>
            <a:endParaRPr lang="en-US" altLang="ja-JP" sz="850" dirty="0">
              <a:latin typeface="メイリオ" panose="020B0604030504040204" pitchFamily="50" charset="-128"/>
              <a:ea typeface="メイリオ" panose="020B0604030504040204" pitchFamily="50" charset="-128"/>
            </a:endParaRPr>
          </a:p>
        </p:txBody>
      </p:sp>
      <p:sp>
        <p:nvSpPr>
          <p:cNvPr id="56" name="Text 52">
            <a:extLst>
              <a:ext uri="{FF2B5EF4-FFF2-40B4-BE49-F238E27FC236}">
                <a16:creationId xmlns:a16="http://schemas.microsoft.com/office/drawing/2014/main" id="{5856973E-600C-9F69-B73B-7CF0931A980E}"/>
              </a:ext>
            </a:extLst>
          </p:cNvPr>
          <p:cNvSpPr/>
          <p:nvPr/>
        </p:nvSpPr>
        <p:spPr>
          <a:xfrm>
            <a:off x="1819899"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信頼醸成</a:t>
            </a:r>
            <a:endParaRPr lang="en-US" altLang="ja-JP" sz="750" dirty="0">
              <a:latin typeface="メイリオ" panose="020B0604030504040204" pitchFamily="50" charset="-128"/>
              <a:ea typeface="メイリオ" panose="020B0604030504040204" pitchFamily="50" charset="-128"/>
            </a:endParaRPr>
          </a:p>
        </p:txBody>
      </p:sp>
      <p:sp>
        <p:nvSpPr>
          <p:cNvPr id="58" name="Text 53">
            <a:extLst>
              <a:ext uri="{FF2B5EF4-FFF2-40B4-BE49-F238E27FC236}">
                <a16:creationId xmlns:a16="http://schemas.microsoft.com/office/drawing/2014/main" id="{758EA0D7-BE56-1F06-1A23-C564494322D2}"/>
              </a:ext>
            </a:extLst>
          </p:cNvPr>
          <p:cNvSpPr/>
          <p:nvPr/>
        </p:nvSpPr>
        <p:spPr>
          <a:xfrm>
            <a:off x="3045195"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60" name="Shape 54">
            <a:extLst>
              <a:ext uri="{FF2B5EF4-FFF2-40B4-BE49-F238E27FC236}">
                <a16:creationId xmlns:a16="http://schemas.microsoft.com/office/drawing/2014/main" id="{464D5640-6F1D-C6E1-393C-A5458B5A22C9}"/>
              </a:ext>
            </a:extLst>
          </p:cNvPr>
          <p:cNvSpPr/>
          <p:nvPr/>
        </p:nvSpPr>
        <p:spPr>
          <a:xfrm>
            <a:off x="3173211"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62" name="Shape 55">
            <a:extLst>
              <a:ext uri="{FF2B5EF4-FFF2-40B4-BE49-F238E27FC236}">
                <a16:creationId xmlns:a16="http://schemas.microsoft.com/office/drawing/2014/main" id="{89FC4EAE-E7E8-DC03-5DFF-37074D8D82B6}"/>
              </a:ext>
            </a:extLst>
          </p:cNvPr>
          <p:cNvSpPr/>
          <p:nvPr/>
        </p:nvSpPr>
        <p:spPr>
          <a:xfrm>
            <a:off x="3228075"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64" name="Text 56">
            <a:extLst>
              <a:ext uri="{FF2B5EF4-FFF2-40B4-BE49-F238E27FC236}">
                <a16:creationId xmlns:a16="http://schemas.microsoft.com/office/drawing/2014/main" id="{B33A9BF0-EC24-F583-5FA0-A5880F0E6A12}"/>
              </a:ext>
            </a:extLst>
          </p:cNvPr>
          <p:cNvSpPr/>
          <p:nvPr/>
        </p:nvSpPr>
        <p:spPr>
          <a:xfrm>
            <a:off x="3228075"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66" name="Text 57">
            <a:extLst>
              <a:ext uri="{FF2B5EF4-FFF2-40B4-BE49-F238E27FC236}">
                <a16:creationId xmlns:a16="http://schemas.microsoft.com/office/drawing/2014/main" id="{38746766-2598-E7FF-013F-7AF41C0BF589}"/>
              </a:ext>
            </a:extLst>
          </p:cNvPr>
          <p:cNvSpPr/>
          <p:nvPr/>
        </p:nvSpPr>
        <p:spPr>
          <a:xfrm>
            <a:off x="3447531" y="4114575"/>
            <a:ext cx="914400" cy="182880"/>
          </a:xfrm>
          <a:prstGeom prst="rect">
            <a:avLst/>
          </a:prstGeom>
          <a:noFill/>
          <a:ln/>
        </p:spPr>
        <p:txBody>
          <a:bodyPr wrap="square" lIns="0" tIns="0" rIns="0" bIns="0" rtlCol="0" anchor="ctr"/>
          <a:lstStyle/>
          <a:p>
            <a:r>
              <a:rPr lang="en-US" altLang="ja-JP" sz="850" b="1" dirty="0">
                <a:solidFill>
                  <a:srgbClr val="FFFFFF"/>
                </a:solidFill>
                <a:latin typeface="メイリオ" panose="020B0604030504040204" pitchFamily="50" charset="-128"/>
                <a:ea typeface="メイリオ" panose="020B0604030504040204" pitchFamily="50" charset="-128"/>
                <a:cs typeface="Calibri" pitchFamily="34" charset="-120"/>
              </a:rPr>
              <a:t>Day10 </a:t>
            </a:r>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オファ</a:t>
            </a:r>
            <a:r>
              <a:rPr lang="en-US" altLang="ja-JP" sz="850" b="1" dirty="0">
                <a:solidFill>
                  <a:srgbClr val="FFFFFF"/>
                </a:solidFill>
                <a:latin typeface="メイリオ" panose="020B0604030504040204" pitchFamily="50" charset="-128"/>
                <a:ea typeface="メイリオ" panose="020B0604030504040204" pitchFamily="50" charset="-128"/>
                <a:cs typeface="Calibri" pitchFamily="34" charset="-120"/>
              </a:rPr>
              <a:t>ー</a:t>
            </a:r>
            <a:endParaRPr lang="en-US" altLang="ja-JP" sz="850" dirty="0">
              <a:latin typeface="メイリオ" panose="020B0604030504040204" pitchFamily="50" charset="-128"/>
              <a:ea typeface="メイリオ" panose="020B0604030504040204" pitchFamily="50" charset="-128"/>
            </a:endParaRPr>
          </a:p>
        </p:txBody>
      </p:sp>
      <p:sp>
        <p:nvSpPr>
          <p:cNvPr id="68" name="Text 58">
            <a:extLst>
              <a:ext uri="{FF2B5EF4-FFF2-40B4-BE49-F238E27FC236}">
                <a16:creationId xmlns:a16="http://schemas.microsoft.com/office/drawing/2014/main" id="{EE1DF143-F3CF-E063-7DA2-53A3D0BCB28D}"/>
              </a:ext>
            </a:extLst>
          </p:cNvPr>
          <p:cNvSpPr/>
          <p:nvPr/>
        </p:nvSpPr>
        <p:spPr>
          <a:xfrm>
            <a:off x="3228075"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限定・数量制限</a:t>
            </a:r>
            <a:endParaRPr lang="en-US" altLang="ja-JP" sz="750" dirty="0">
              <a:latin typeface="メイリオ" panose="020B0604030504040204" pitchFamily="50" charset="-128"/>
              <a:ea typeface="メイリオ" panose="020B0604030504040204" pitchFamily="50" charset="-128"/>
            </a:endParaRPr>
          </a:p>
        </p:txBody>
      </p:sp>
      <p:sp>
        <p:nvSpPr>
          <p:cNvPr id="70" name="Shape 59">
            <a:extLst>
              <a:ext uri="{FF2B5EF4-FFF2-40B4-BE49-F238E27FC236}">
                <a16:creationId xmlns:a16="http://schemas.microsoft.com/office/drawing/2014/main" id="{ED1F64AB-43E6-3EF4-E22A-1C2B3A1EAFE6}"/>
              </a:ext>
            </a:extLst>
          </p:cNvPr>
          <p:cNvSpPr/>
          <p:nvPr/>
        </p:nvSpPr>
        <p:spPr>
          <a:xfrm>
            <a:off x="265419" y="4842285"/>
            <a:ext cx="4541216" cy="1600804"/>
          </a:xfrm>
          <a:prstGeom prst="roundRect">
            <a:avLst>
              <a:gd name="adj" fmla="val 5263"/>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72" name="Shape 63">
            <a:extLst>
              <a:ext uri="{FF2B5EF4-FFF2-40B4-BE49-F238E27FC236}">
                <a16:creationId xmlns:a16="http://schemas.microsoft.com/office/drawing/2014/main" id="{38B1441B-4C63-5D92-EC3A-90F6C29F7A30}"/>
              </a:ext>
            </a:extLst>
          </p:cNvPr>
          <p:cNvSpPr/>
          <p:nvPr/>
        </p:nvSpPr>
        <p:spPr>
          <a:xfrm>
            <a:off x="686043"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74" name="Text 64">
            <a:extLst>
              <a:ext uri="{FF2B5EF4-FFF2-40B4-BE49-F238E27FC236}">
                <a16:creationId xmlns:a16="http://schemas.microsoft.com/office/drawing/2014/main" id="{57430ED0-462D-34B1-A475-D78F816729F5}"/>
              </a:ext>
            </a:extLst>
          </p:cNvPr>
          <p:cNvSpPr/>
          <p:nvPr/>
        </p:nvSpPr>
        <p:spPr>
          <a:xfrm>
            <a:off x="686043"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LINE広告</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76" name="Text 65">
            <a:extLst>
              <a:ext uri="{FF2B5EF4-FFF2-40B4-BE49-F238E27FC236}">
                <a16:creationId xmlns:a16="http://schemas.microsoft.com/office/drawing/2014/main" id="{B7DB943B-00E9-7974-CDB8-CF2D59CC61D4}"/>
              </a:ext>
            </a:extLst>
          </p:cNvPr>
          <p:cNvSpPr/>
          <p:nvPr/>
        </p:nvSpPr>
        <p:spPr>
          <a:xfrm>
            <a:off x="1545579" y="4924581"/>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アンケート</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 × </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スコアリングで商談自動振り分け</a:t>
            </a:r>
            <a:endParaRPr lang="en-US" altLang="ja-JP" sz="1100" dirty="0">
              <a:latin typeface="メイリオ" panose="020B0604030504040204" pitchFamily="50" charset="-128"/>
              <a:ea typeface="メイリオ" panose="020B0604030504040204" pitchFamily="50" charset="-128"/>
            </a:endParaRPr>
          </a:p>
        </p:txBody>
      </p:sp>
      <p:sp>
        <p:nvSpPr>
          <p:cNvPr id="78" name="Text 66">
            <a:extLst>
              <a:ext uri="{FF2B5EF4-FFF2-40B4-BE49-F238E27FC236}">
                <a16:creationId xmlns:a16="http://schemas.microsoft.com/office/drawing/2014/main" id="{4EFBD6ED-AC70-7247-939C-182C24C7C8EB}"/>
              </a:ext>
            </a:extLst>
          </p:cNvPr>
          <p:cNvSpPr/>
          <p:nvPr/>
        </p:nvSpPr>
        <p:spPr>
          <a:xfrm>
            <a:off x="356859" y="5226333"/>
            <a:ext cx="4449774" cy="457200"/>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現在の状況を3問で教えてください」をLINEで配信。「3ヶ月以内に検討」「他社比較中」の回答者を自動でホットリードとして抽出しスタッフが即日連絡。全リードにスタッフ対応せず、温度感の高い層だけに集中する。</a:t>
            </a:r>
            <a:endParaRPr lang="en-US" altLang="ja-JP" sz="850" dirty="0">
              <a:latin typeface="メイリオ" panose="020B0604030504040204" pitchFamily="50" charset="-128"/>
              <a:ea typeface="メイリオ" panose="020B0604030504040204" pitchFamily="50" charset="-128"/>
            </a:endParaRPr>
          </a:p>
        </p:txBody>
      </p:sp>
      <p:sp>
        <p:nvSpPr>
          <p:cNvPr id="80" name="Shape 68">
            <a:extLst>
              <a:ext uri="{FF2B5EF4-FFF2-40B4-BE49-F238E27FC236}">
                <a16:creationId xmlns:a16="http://schemas.microsoft.com/office/drawing/2014/main" id="{A878F7AF-2951-6346-AC7C-117CEAD65882}"/>
              </a:ext>
            </a:extLst>
          </p:cNvPr>
          <p:cNvSpPr/>
          <p:nvPr/>
        </p:nvSpPr>
        <p:spPr>
          <a:xfrm>
            <a:off x="430011" y="6011955"/>
            <a:ext cx="420624" cy="219456"/>
          </a:xfrm>
          <a:prstGeom prst="roundRect">
            <a:avLst>
              <a:gd name="adj" fmla="val 16667"/>
            </a:avLst>
          </a:prstGeom>
          <a:solidFill>
            <a:srgbClr val="E6A020"/>
          </a:solidFill>
          <a:ln w="12700">
            <a:solidFill>
              <a:srgbClr val="E6A02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82" name="Text 69">
            <a:extLst>
              <a:ext uri="{FF2B5EF4-FFF2-40B4-BE49-F238E27FC236}">
                <a16:creationId xmlns:a16="http://schemas.microsoft.com/office/drawing/2014/main" id="{51BC50E4-D2C2-FB3A-BADF-2405ED305FFC}"/>
              </a:ext>
            </a:extLst>
          </p:cNvPr>
          <p:cNvSpPr/>
          <p:nvPr/>
        </p:nvSpPr>
        <p:spPr>
          <a:xfrm>
            <a:off x="430011" y="6011955"/>
            <a:ext cx="420624" cy="219456"/>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現場注意</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84" name="Text 70">
            <a:extLst>
              <a:ext uri="{FF2B5EF4-FFF2-40B4-BE49-F238E27FC236}">
                <a16:creationId xmlns:a16="http://schemas.microsoft.com/office/drawing/2014/main" id="{C0DB247B-6B3F-9051-4404-63FBF132961F}"/>
              </a:ext>
            </a:extLst>
          </p:cNvPr>
          <p:cNvSpPr/>
          <p:nvPr/>
        </p:nvSpPr>
        <p:spPr>
          <a:xfrm>
            <a:off x="2671467" y="5559265"/>
            <a:ext cx="2022453" cy="158716"/>
          </a:xfrm>
          <a:prstGeom prst="rect">
            <a:avLst/>
          </a:prstGeom>
          <a:noFill/>
          <a:ln/>
        </p:spPr>
        <p:txBody>
          <a:bodyPr wrap="square" lIns="0" tIns="0" rIns="0" bIns="0" rtlCol="0" anchor="ctr"/>
          <a:lstStyle/>
          <a:p>
            <a:pPr marL="0" marR="0" lvl="0" indent="0" defTabSz="914400" eaLnBrk="1" fontAlgn="auto" latinLnBrk="0" hangingPunct="1">
              <a:lnSpc>
                <a:spcPct val="125000"/>
              </a:lnSpc>
              <a:spcBef>
                <a:spcPts val="0"/>
              </a:spcBef>
              <a:spcAft>
                <a:spcPts val="0"/>
              </a:spcAft>
              <a:buClrTx/>
              <a:buSzTx/>
              <a:buFontTx/>
              <a:buNone/>
              <a:tabLst/>
              <a:defRPr/>
            </a:pPr>
            <a:r>
              <a:rPr kumimoji="0" lang="en-US" sz="700" b="0" i="0" u="none" strike="noStrike" kern="0" cap="none" spc="0" normalizeH="0" baseline="0" noProof="0" dirty="0" err="1">
                <a:ln>
                  <a:noFill/>
                </a:ln>
                <a:solidFill>
                  <a:srgbClr val="B84B00"/>
                </a:solidFill>
                <a:effectLst/>
                <a:uLnTx/>
                <a:uFillTx/>
                <a:latin typeface="メイリオ" panose="020B0604030504040204" pitchFamily="50" charset="-128"/>
                <a:ea typeface="メイリオ" panose="020B0604030504040204" pitchFamily="50" charset="-128"/>
                <a:cs typeface="Calibri" pitchFamily="34" charset="-120"/>
              </a:rPr>
              <a:t>CPFの強みを活かすならLINE内完結設計が正解</a:t>
            </a:r>
            <a:r>
              <a:rPr kumimoji="0" lang="en-US" sz="700" b="0" i="0" u="none" strike="noStrike" kern="0" cap="none" spc="0" normalizeH="0" baseline="0" noProof="0" dirty="0">
                <a:ln>
                  <a:noFill/>
                </a:ln>
                <a:solidFill>
                  <a:srgbClr val="B84B0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86" name="Shape 71">
            <a:extLst>
              <a:ext uri="{FF2B5EF4-FFF2-40B4-BE49-F238E27FC236}">
                <a16:creationId xmlns:a16="http://schemas.microsoft.com/office/drawing/2014/main" id="{E782C278-7AB5-1A6B-D371-D48C786DEC22}"/>
              </a:ext>
            </a:extLst>
          </p:cNvPr>
          <p:cNvSpPr/>
          <p:nvPr/>
        </p:nvSpPr>
        <p:spPr>
          <a:xfrm>
            <a:off x="356859"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88" name="Shape 72">
            <a:extLst>
              <a:ext uri="{FF2B5EF4-FFF2-40B4-BE49-F238E27FC236}">
                <a16:creationId xmlns:a16="http://schemas.microsoft.com/office/drawing/2014/main" id="{F8BD45B3-63BC-CCCC-A02C-22292B165914}"/>
              </a:ext>
            </a:extLst>
          </p:cNvPr>
          <p:cNvSpPr/>
          <p:nvPr/>
        </p:nvSpPr>
        <p:spPr>
          <a:xfrm>
            <a:off x="411723"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90" name="Text 73">
            <a:extLst>
              <a:ext uri="{FF2B5EF4-FFF2-40B4-BE49-F238E27FC236}">
                <a16:creationId xmlns:a16="http://schemas.microsoft.com/office/drawing/2014/main" id="{7C72A4DB-C3F4-16C9-6A51-D60CB4DF1517}"/>
              </a:ext>
            </a:extLst>
          </p:cNvPr>
          <p:cNvSpPr/>
          <p:nvPr/>
        </p:nvSpPr>
        <p:spPr>
          <a:xfrm>
            <a:off x="4117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92" name="Text 74">
            <a:extLst>
              <a:ext uri="{FF2B5EF4-FFF2-40B4-BE49-F238E27FC236}">
                <a16:creationId xmlns:a16="http://schemas.microsoft.com/office/drawing/2014/main" id="{BE7ADCA5-3612-7BC6-AA8D-040022EE1617}"/>
              </a:ext>
            </a:extLst>
          </p:cNvPr>
          <p:cNvSpPr/>
          <p:nvPr/>
        </p:nvSpPr>
        <p:spPr>
          <a:xfrm>
            <a:off x="631179" y="5957091"/>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3問アンケート配信</a:t>
            </a:r>
            <a:endParaRPr lang="en-US" altLang="ja-JP" sz="850" dirty="0">
              <a:latin typeface="メイリオ" panose="020B0604030504040204" pitchFamily="50" charset="-128"/>
              <a:ea typeface="メイリオ" panose="020B0604030504040204" pitchFamily="50" charset="-128"/>
            </a:endParaRPr>
          </a:p>
        </p:txBody>
      </p:sp>
      <p:sp>
        <p:nvSpPr>
          <p:cNvPr id="94" name="Text 75">
            <a:extLst>
              <a:ext uri="{FF2B5EF4-FFF2-40B4-BE49-F238E27FC236}">
                <a16:creationId xmlns:a16="http://schemas.microsoft.com/office/drawing/2014/main" id="{F0DD5913-5DC7-A93B-7D58-6F8AE9356AB0}"/>
              </a:ext>
            </a:extLst>
          </p:cNvPr>
          <p:cNvSpPr/>
          <p:nvPr/>
        </p:nvSpPr>
        <p:spPr>
          <a:xfrm>
            <a:off x="4117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タップ式・即回答</a:t>
            </a:r>
            <a:endParaRPr lang="en-US" altLang="ja-JP" sz="750" dirty="0">
              <a:latin typeface="メイリオ" panose="020B0604030504040204" pitchFamily="50" charset="-128"/>
              <a:ea typeface="メイリオ" panose="020B0604030504040204" pitchFamily="50" charset="-128"/>
            </a:endParaRPr>
          </a:p>
        </p:txBody>
      </p:sp>
      <p:sp>
        <p:nvSpPr>
          <p:cNvPr id="96" name="Text 76">
            <a:extLst>
              <a:ext uri="{FF2B5EF4-FFF2-40B4-BE49-F238E27FC236}">
                <a16:creationId xmlns:a16="http://schemas.microsoft.com/office/drawing/2014/main" id="{8841F69C-C2EB-F428-9C29-1835C7671985}"/>
              </a:ext>
            </a:extLst>
          </p:cNvPr>
          <p:cNvSpPr/>
          <p:nvPr/>
        </p:nvSpPr>
        <p:spPr>
          <a:xfrm>
            <a:off x="1637019"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98" name="Shape 77">
            <a:extLst>
              <a:ext uri="{FF2B5EF4-FFF2-40B4-BE49-F238E27FC236}">
                <a16:creationId xmlns:a16="http://schemas.microsoft.com/office/drawing/2014/main" id="{3D4B0674-1BDF-A06F-3031-1D2C3CFCAFCB}"/>
              </a:ext>
            </a:extLst>
          </p:cNvPr>
          <p:cNvSpPr/>
          <p:nvPr/>
        </p:nvSpPr>
        <p:spPr>
          <a:xfrm>
            <a:off x="1765035"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00" name="Shape 78">
            <a:extLst>
              <a:ext uri="{FF2B5EF4-FFF2-40B4-BE49-F238E27FC236}">
                <a16:creationId xmlns:a16="http://schemas.microsoft.com/office/drawing/2014/main" id="{A6BF8401-0185-4740-65BD-3B25BF274C5D}"/>
              </a:ext>
            </a:extLst>
          </p:cNvPr>
          <p:cNvSpPr/>
          <p:nvPr/>
        </p:nvSpPr>
        <p:spPr>
          <a:xfrm>
            <a:off x="1819899"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02" name="Text 79">
            <a:extLst>
              <a:ext uri="{FF2B5EF4-FFF2-40B4-BE49-F238E27FC236}">
                <a16:creationId xmlns:a16="http://schemas.microsoft.com/office/drawing/2014/main" id="{60ECC73C-CE71-5B5F-BE35-36A110A9273A}"/>
              </a:ext>
            </a:extLst>
          </p:cNvPr>
          <p:cNvSpPr/>
          <p:nvPr/>
        </p:nvSpPr>
        <p:spPr>
          <a:xfrm>
            <a:off x="1819899"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04" name="Text 80">
            <a:extLst>
              <a:ext uri="{FF2B5EF4-FFF2-40B4-BE49-F238E27FC236}">
                <a16:creationId xmlns:a16="http://schemas.microsoft.com/office/drawing/2014/main" id="{96428CFC-DE5B-2C59-73AD-050998F19ECE}"/>
              </a:ext>
            </a:extLst>
          </p:cNvPr>
          <p:cNvSpPr/>
          <p:nvPr/>
        </p:nvSpPr>
        <p:spPr>
          <a:xfrm>
            <a:off x="2039355"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自動スコアリング</a:t>
            </a:r>
            <a:endParaRPr lang="en-US" altLang="ja-JP" sz="850" dirty="0">
              <a:latin typeface="メイリオ" panose="020B0604030504040204" pitchFamily="50" charset="-128"/>
              <a:ea typeface="メイリオ" panose="020B0604030504040204" pitchFamily="50" charset="-128"/>
            </a:endParaRPr>
          </a:p>
        </p:txBody>
      </p:sp>
      <p:sp>
        <p:nvSpPr>
          <p:cNvPr id="106" name="Text 81">
            <a:extLst>
              <a:ext uri="{FF2B5EF4-FFF2-40B4-BE49-F238E27FC236}">
                <a16:creationId xmlns:a16="http://schemas.microsoft.com/office/drawing/2014/main" id="{A4C856B7-9917-9F3B-C6EC-F2AB00761D32}"/>
              </a:ext>
            </a:extLst>
          </p:cNvPr>
          <p:cNvSpPr/>
          <p:nvPr/>
        </p:nvSpPr>
        <p:spPr>
          <a:xfrm>
            <a:off x="1819899"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ホットリード特定</a:t>
            </a:r>
            <a:endParaRPr lang="en-US" altLang="ja-JP" sz="750" dirty="0">
              <a:latin typeface="メイリオ" panose="020B0604030504040204" pitchFamily="50" charset="-128"/>
              <a:ea typeface="メイリオ" panose="020B0604030504040204" pitchFamily="50" charset="-128"/>
            </a:endParaRPr>
          </a:p>
        </p:txBody>
      </p:sp>
      <p:sp>
        <p:nvSpPr>
          <p:cNvPr id="108" name="Text 82">
            <a:extLst>
              <a:ext uri="{FF2B5EF4-FFF2-40B4-BE49-F238E27FC236}">
                <a16:creationId xmlns:a16="http://schemas.microsoft.com/office/drawing/2014/main" id="{E3396CCE-6D05-BB63-89D2-AFEC3888A603}"/>
              </a:ext>
            </a:extLst>
          </p:cNvPr>
          <p:cNvSpPr/>
          <p:nvPr/>
        </p:nvSpPr>
        <p:spPr>
          <a:xfrm>
            <a:off x="3045195"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10" name="Shape 83">
            <a:extLst>
              <a:ext uri="{FF2B5EF4-FFF2-40B4-BE49-F238E27FC236}">
                <a16:creationId xmlns:a16="http://schemas.microsoft.com/office/drawing/2014/main" id="{E0F59D7C-4363-A525-B16C-695512C79C58}"/>
              </a:ext>
            </a:extLst>
          </p:cNvPr>
          <p:cNvSpPr/>
          <p:nvPr/>
        </p:nvSpPr>
        <p:spPr>
          <a:xfrm>
            <a:off x="3173211"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12" name="Shape 84">
            <a:extLst>
              <a:ext uri="{FF2B5EF4-FFF2-40B4-BE49-F238E27FC236}">
                <a16:creationId xmlns:a16="http://schemas.microsoft.com/office/drawing/2014/main" id="{9E2F0FE0-EA67-CDB7-9CF3-64EDD1E5E81A}"/>
              </a:ext>
            </a:extLst>
          </p:cNvPr>
          <p:cNvSpPr/>
          <p:nvPr/>
        </p:nvSpPr>
        <p:spPr>
          <a:xfrm>
            <a:off x="3228075"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14" name="Text 85">
            <a:extLst>
              <a:ext uri="{FF2B5EF4-FFF2-40B4-BE49-F238E27FC236}">
                <a16:creationId xmlns:a16="http://schemas.microsoft.com/office/drawing/2014/main" id="{E836FDF6-8AA3-5464-F9B5-FFD8960B35B5}"/>
              </a:ext>
            </a:extLst>
          </p:cNvPr>
          <p:cNvSpPr/>
          <p:nvPr/>
        </p:nvSpPr>
        <p:spPr>
          <a:xfrm>
            <a:off x="3228075"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16" name="Text 86">
            <a:extLst>
              <a:ext uri="{FF2B5EF4-FFF2-40B4-BE49-F238E27FC236}">
                <a16:creationId xmlns:a16="http://schemas.microsoft.com/office/drawing/2014/main" id="{FEF48462-734A-1272-13A3-E0A1A2C1A704}"/>
              </a:ext>
            </a:extLst>
          </p:cNvPr>
          <p:cNvSpPr/>
          <p:nvPr/>
        </p:nvSpPr>
        <p:spPr>
          <a:xfrm>
            <a:off x="3447531" y="5957091"/>
            <a:ext cx="914400" cy="182880"/>
          </a:xfrm>
          <a:prstGeom prst="rect">
            <a:avLst/>
          </a:prstGeom>
          <a:noFill/>
          <a:ln/>
        </p:spPr>
        <p:txBody>
          <a:bodyPr wrap="square" lIns="0" tIns="0" rIns="0" bIns="0" rtlCol="0" anchor="ctr"/>
          <a:lstStyle/>
          <a:p>
            <a:r>
              <a:rPr lang="ja-JP" altLang="en-US" sz="850" b="1" dirty="0">
                <a:solidFill>
                  <a:srgbClr val="FFFFFF"/>
                </a:solidFill>
                <a:latin typeface="メイリオ" panose="020B0604030504040204" pitchFamily="50" charset="-128"/>
                <a:ea typeface="メイリオ" panose="020B0604030504040204" pitchFamily="50" charset="-128"/>
                <a:cs typeface="Calibri" pitchFamily="34" charset="-120"/>
              </a:rPr>
              <a:t>トスアップ</a:t>
            </a:r>
            <a:endParaRPr lang="en-US" altLang="ja-JP" sz="850" dirty="0">
              <a:latin typeface="メイリオ" panose="020B0604030504040204" pitchFamily="50" charset="-128"/>
              <a:ea typeface="メイリオ" panose="020B0604030504040204" pitchFamily="50" charset="-128"/>
            </a:endParaRPr>
          </a:p>
        </p:txBody>
      </p:sp>
      <p:sp>
        <p:nvSpPr>
          <p:cNvPr id="118" name="Text 87">
            <a:extLst>
              <a:ext uri="{FF2B5EF4-FFF2-40B4-BE49-F238E27FC236}">
                <a16:creationId xmlns:a16="http://schemas.microsoft.com/office/drawing/2014/main" id="{7A5801BF-BB1C-CA06-2ADD-8917D3F321CF}"/>
              </a:ext>
            </a:extLst>
          </p:cNvPr>
          <p:cNvSpPr/>
          <p:nvPr/>
        </p:nvSpPr>
        <p:spPr>
          <a:xfrm>
            <a:off x="3228075" y="6167403"/>
            <a:ext cx="1133856" cy="201168"/>
          </a:xfrm>
          <a:prstGeom prst="rect">
            <a:avLst/>
          </a:prstGeom>
          <a:noFill/>
          <a:ln/>
        </p:spPr>
        <p:txBody>
          <a:bodyPr wrap="square" lIns="0" tIns="0" rIns="0" bIns="0" rtlCol="0" anchor="ctr"/>
          <a:lstStyle/>
          <a:p>
            <a:pPr>
              <a:lnSpc>
                <a:spcPct val="115000"/>
              </a:lnSpc>
            </a:pP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商談化70%</a:t>
            </a:r>
            <a:r>
              <a:rPr lang="ja-JP" altLang="en-US" sz="750" dirty="0">
                <a:solidFill>
                  <a:srgbClr val="D0E8FF"/>
                </a:solidFill>
                <a:latin typeface="メイリオ" panose="020B0604030504040204" pitchFamily="50" charset="-128"/>
                <a:ea typeface="メイリオ" panose="020B0604030504040204" pitchFamily="50" charset="-128"/>
                <a:cs typeface="Calibri" pitchFamily="34" charset="-120"/>
              </a:rPr>
              <a:t>改善事例も</a:t>
            </a:r>
            <a:endParaRPr lang="en-US" altLang="ja-JP" sz="750" dirty="0">
              <a:latin typeface="メイリオ" panose="020B0604030504040204" pitchFamily="50" charset="-128"/>
              <a:ea typeface="メイリオ" panose="020B0604030504040204" pitchFamily="50" charset="-128"/>
            </a:endParaRPr>
          </a:p>
        </p:txBody>
      </p:sp>
      <p:sp>
        <p:nvSpPr>
          <p:cNvPr id="120" name="Shape 88">
            <a:extLst>
              <a:ext uri="{FF2B5EF4-FFF2-40B4-BE49-F238E27FC236}">
                <a16:creationId xmlns:a16="http://schemas.microsoft.com/office/drawing/2014/main" id="{1022B804-29BA-C16F-59BF-7116998459A1}"/>
              </a:ext>
            </a:extLst>
          </p:cNvPr>
          <p:cNvSpPr/>
          <p:nvPr/>
        </p:nvSpPr>
        <p:spPr>
          <a:xfrm>
            <a:off x="5099366" y="2999769"/>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22" name="Shape 92">
            <a:extLst>
              <a:ext uri="{FF2B5EF4-FFF2-40B4-BE49-F238E27FC236}">
                <a16:creationId xmlns:a16="http://schemas.microsoft.com/office/drawing/2014/main" id="{C083C52C-3E3D-EE4D-FA9C-B0A718669F53}"/>
              </a:ext>
            </a:extLst>
          </p:cNvPr>
          <p:cNvSpPr/>
          <p:nvPr/>
        </p:nvSpPr>
        <p:spPr>
          <a:xfrm>
            <a:off x="5519991"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24" name="Text 93">
            <a:extLst>
              <a:ext uri="{FF2B5EF4-FFF2-40B4-BE49-F238E27FC236}">
                <a16:creationId xmlns:a16="http://schemas.microsoft.com/office/drawing/2014/main" id="{1BBE6434-6048-9866-D279-EBE9D835E91D}"/>
              </a:ext>
            </a:extLst>
          </p:cNvPr>
          <p:cNvSpPr/>
          <p:nvPr/>
        </p:nvSpPr>
        <p:spPr>
          <a:xfrm>
            <a:off x="5519991"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企画配信</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26" name="Text 94">
            <a:extLst>
              <a:ext uri="{FF2B5EF4-FFF2-40B4-BE49-F238E27FC236}">
                <a16:creationId xmlns:a16="http://schemas.microsoft.com/office/drawing/2014/main" id="{F578845C-26D5-3691-D376-1CA844A61B98}"/>
              </a:ext>
            </a:extLst>
          </p:cNvPr>
          <p:cNvSpPr/>
          <p:nvPr/>
        </p:nvSpPr>
        <p:spPr>
          <a:xfrm>
            <a:off x="6379527" y="3082065"/>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季節・業界イベント連動配信で休眠リストを起こす</a:t>
            </a:r>
            <a:endParaRPr lang="en-US" altLang="ja-JP" sz="1100" dirty="0">
              <a:latin typeface="メイリオ" panose="020B0604030504040204" pitchFamily="50" charset="-128"/>
              <a:ea typeface="メイリオ" panose="020B0604030504040204" pitchFamily="50" charset="-128"/>
            </a:endParaRPr>
          </a:p>
        </p:txBody>
      </p:sp>
      <p:sp>
        <p:nvSpPr>
          <p:cNvPr id="128" name="Text 95">
            <a:extLst>
              <a:ext uri="{FF2B5EF4-FFF2-40B4-BE49-F238E27FC236}">
                <a16:creationId xmlns:a16="http://schemas.microsoft.com/office/drawing/2014/main" id="{06D9F55B-7232-7A4D-8F5C-1AB4E0C70FBD}"/>
              </a:ext>
            </a:extLst>
          </p:cNvPr>
          <p:cNvSpPr/>
          <p:nvPr/>
        </p:nvSpPr>
        <p:spPr>
          <a:xfrm>
            <a:off x="5190807" y="3383817"/>
            <a:ext cx="4449774" cy="493776"/>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「年末の〇〇に向けて、今から準備を始めるお客様が増えています」という業界固有モーメントに乗せた再接触配信。悩みのピーク2〜3週前に配信することがCVR最大化のコツ。「</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売り込み」ではなく「タイミングの案内」として届ける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130" name="Shape 96">
            <a:extLst>
              <a:ext uri="{FF2B5EF4-FFF2-40B4-BE49-F238E27FC236}">
                <a16:creationId xmlns:a16="http://schemas.microsoft.com/office/drawing/2014/main" id="{069D4174-4F64-8276-0A34-474428B42A09}"/>
              </a:ext>
            </a:extLst>
          </p:cNvPr>
          <p:cNvSpPr/>
          <p:nvPr/>
        </p:nvSpPr>
        <p:spPr>
          <a:xfrm>
            <a:off x="5190807"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32" name="Shape 97">
            <a:extLst>
              <a:ext uri="{FF2B5EF4-FFF2-40B4-BE49-F238E27FC236}">
                <a16:creationId xmlns:a16="http://schemas.microsoft.com/office/drawing/2014/main" id="{D9EBB717-A542-13FE-924C-50E4D9047DEA}"/>
              </a:ext>
            </a:extLst>
          </p:cNvPr>
          <p:cNvSpPr/>
          <p:nvPr/>
        </p:nvSpPr>
        <p:spPr>
          <a:xfrm>
            <a:off x="5245671"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34" name="Text 98">
            <a:extLst>
              <a:ext uri="{FF2B5EF4-FFF2-40B4-BE49-F238E27FC236}">
                <a16:creationId xmlns:a16="http://schemas.microsoft.com/office/drawing/2014/main" id="{5701D322-E6AC-4743-3BF0-3D2C916AA73A}"/>
              </a:ext>
            </a:extLst>
          </p:cNvPr>
          <p:cNvSpPr/>
          <p:nvPr/>
        </p:nvSpPr>
        <p:spPr>
          <a:xfrm>
            <a:off x="5245671"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36" name="Text 99">
            <a:extLst>
              <a:ext uri="{FF2B5EF4-FFF2-40B4-BE49-F238E27FC236}">
                <a16:creationId xmlns:a16="http://schemas.microsoft.com/office/drawing/2014/main" id="{CA2962DC-C768-875A-D569-10ECD1DEB616}"/>
              </a:ext>
            </a:extLst>
          </p:cNvPr>
          <p:cNvSpPr/>
          <p:nvPr/>
        </p:nvSpPr>
        <p:spPr>
          <a:xfrm>
            <a:off x="5465127"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モーメント特定</a:t>
            </a:r>
            <a:endParaRPr lang="en-US" altLang="ja-JP" sz="850" dirty="0">
              <a:latin typeface="メイリオ" panose="020B0604030504040204" pitchFamily="50" charset="-128"/>
              <a:ea typeface="メイリオ" panose="020B0604030504040204" pitchFamily="50" charset="-128"/>
            </a:endParaRPr>
          </a:p>
        </p:txBody>
      </p:sp>
      <p:sp>
        <p:nvSpPr>
          <p:cNvPr id="138" name="Text 100">
            <a:extLst>
              <a:ext uri="{FF2B5EF4-FFF2-40B4-BE49-F238E27FC236}">
                <a16:creationId xmlns:a16="http://schemas.microsoft.com/office/drawing/2014/main" id="{C3D786F9-91FC-82F5-3763-A658668EED4C}"/>
              </a:ext>
            </a:extLst>
          </p:cNvPr>
          <p:cNvSpPr/>
          <p:nvPr/>
        </p:nvSpPr>
        <p:spPr>
          <a:xfrm>
            <a:off x="5245671"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rPr>
              <a:t>ピーク2〜3週前</a:t>
            </a:r>
            <a:endParaRPr lang="en-US" altLang="ja-JP" sz="750" dirty="0">
              <a:latin typeface="メイリオ" panose="020B0604030504040204" pitchFamily="50" charset="-128"/>
              <a:ea typeface="メイリオ" panose="020B0604030504040204" pitchFamily="50" charset="-128"/>
            </a:endParaRPr>
          </a:p>
        </p:txBody>
      </p:sp>
      <p:sp>
        <p:nvSpPr>
          <p:cNvPr id="140" name="Text 101">
            <a:extLst>
              <a:ext uri="{FF2B5EF4-FFF2-40B4-BE49-F238E27FC236}">
                <a16:creationId xmlns:a16="http://schemas.microsoft.com/office/drawing/2014/main" id="{C1EEB04D-625F-17CE-C89D-4B08395FBAFC}"/>
              </a:ext>
            </a:extLst>
          </p:cNvPr>
          <p:cNvSpPr/>
          <p:nvPr/>
        </p:nvSpPr>
        <p:spPr>
          <a:xfrm>
            <a:off x="6470967"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42" name="Shape 102">
            <a:extLst>
              <a:ext uri="{FF2B5EF4-FFF2-40B4-BE49-F238E27FC236}">
                <a16:creationId xmlns:a16="http://schemas.microsoft.com/office/drawing/2014/main" id="{50E9AED5-D9C7-D6C3-65D6-3119987A999C}"/>
              </a:ext>
            </a:extLst>
          </p:cNvPr>
          <p:cNvSpPr/>
          <p:nvPr/>
        </p:nvSpPr>
        <p:spPr>
          <a:xfrm>
            <a:off x="6598983"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44" name="Shape 103">
            <a:extLst>
              <a:ext uri="{FF2B5EF4-FFF2-40B4-BE49-F238E27FC236}">
                <a16:creationId xmlns:a16="http://schemas.microsoft.com/office/drawing/2014/main" id="{C74365D2-79DD-46D0-F7E6-AB9A53F69C2C}"/>
              </a:ext>
            </a:extLst>
          </p:cNvPr>
          <p:cNvSpPr/>
          <p:nvPr/>
        </p:nvSpPr>
        <p:spPr>
          <a:xfrm>
            <a:off x="6653847"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46" name="Text 104">
            <a:extLst>
              <a:ext uri="{FF2B5EF4-FFF2-40B4-BE49-F238E27FC236}">
                <a16:creationId xmlns:a16="http://schemas.microsoft.com/office/drawing/2014/main" id="{6E4E920B-459D-A400-22E8-BABF2781E2BA}"/>
              </a:ext>
            </a:extLst>
          </p:cNvPr>
          <p:cNvSpPr/>
          <p:nvPr/>
        </p:nvSpPr>
        <p:spPr>
          <a:xfrm>
            <a:off x="6653847"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48" name="Text 105">
            <a:extLst>
              <a:ext uri="{FF2B5EF4-FFF2-40B4-BE49-F238E27FC236}">
                <a16:creationId xmlns:a16="http://schemas.microsoft.com/office/drawing/2014/main" id="{A09DCB92-8255-C6E6-87C7-473321C80234}"/>
              </a:ext>
            </a:extLst>
          </p:cNvPr>
          <p:cNvSpPr/>
          <p:nvPr/>
        </p:nvSpPr>
        <p:spPr>
          <a:xfrm>
            <a:off x="6873303"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コンテンツ配信</a:t>
            </a:r>
            <a:endParaRPr lang="en-US" altLang="ja-JP" sz="850" dirty="0">
              <a:latin typeface="メイリオ" panose="020B0604030504040204" pitchFamily="50" charset="-128"/>
              <a:ea typeface="メイリオ" panose="020B0604030504040204" pitchFamily="50" charset="-128"/>
            </a:endParaRPr>
          </a:p>
        </p:txBody>
      </p:sp>
      <p:sp>
        <p:nvSpPr>
          <p:cNvPr id="150" name="Text 106">
            <a:extLst>
              <a:ext uri="{FF2B5EF4-FFF2-40B4-BE49-F238E27FC236}">
                <a16:creationId xmlns:a16="http://schemas.microsoft.com/office/drawing/2014/main" id="{09AC34DD-AAEC-BF91-CB1D-5545FE79C4D2}"/>
              </a:ext>
            </a:extLst>
          </p:cNvPr>
          <p:cNvSpPr/>
          <p:nvPr/>
        </p:nvSpPr>
        <p:spPr>
          <a:xfrm>
            <a:off x="6653847"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今だから」訴求</a:t>
            </a:r>
            <a:endParaRPr lang="en-US" altLang="ja-JP" sz="750" dirty="0">
              <a:latin typeface="メイリオ" panose="020B0604030504040204" pitchFamily="50" charset="-128"/>
              <a:ea typeface="メイリオ" panose="020B0604030504040204" pitchFamily="50" charset="-128"/>
            </a:endParaRPr>
          </a:p>
        </p:txBody>
      </p:sp>
      <p:sp>
        <p:nvSpPr>
          <p:cNvPr id="152" name="Text 107">
            <a:extLst>
              <a:ext uri="{FF2B5EF4-FFF2-40B4-BE49-F238E27FC236}">
                <a16:creationId xmlns:a16="http://schemas.microsoft.com/office/drawing/2014/main" id="{BF81408E-47F9-9F16-013B-45DCB0A4C212}"/>
              </a:ext>
            </a:extLst>
          </p:cNvPr>
          <p:cNvSpPr/>
          <p:nvPr/>
        </p:nvSpPr>
        <p:spPr>
          <a:xfrm>
            <a:off x="7879143"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54" name="Shape 108">
            <a:extLst>
              <a:ext uri="{FF2B5EF4-FFF2-40B4-BE49-F238E27FC236}">
                <a16:creationId xmlns:a16="http://schemas.microsoft.com/office/drawing/2014/main" id="{503FF76B-C744-3397-71C4-D41BA4685B17}"/>
              </a:ext>
            </a:extLst>
          </p:cNvPr>
          <p:cNvSpPr/>
          <p:nvPr/>
        </p:nvSpPr>
        <p:spPr>
          <a:xfrm>
            <a:off x="8007159"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56" name="Shape 109">
            <a:extLst>
              <a:ext uri="{FF2B5EF4-FFF2-40B4-BE49-F238E27FC236}">
                <a16:creationId xmlns:a16="http://schemas.microsoft.com/office/drawing/2014/main" id="{A6B21F29-F9B0-9369-C7F9-877467F07918}"/>
              </a:ext>
            </a:extLst>
          </p:cNvPr>
          <p:cNvSpPr/>
          <p:nvPr/>
        </p:nvSpPr>
        <p:spPr>
          <a:xfrm>
            <a:off x="8062023"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58" name="Text 110">
            <a:extLst>
              <a:ext uri="{FF2B5EF4-FFF2-40B4-BE49-F238E27FC236}">
                <a16:creationId xmlns:a16="http://schemas.microsoft.com/office/drawing/2014/main" id="{27C2769D-257A-7368-2C8C-D5AC1F474DEE}"/>
              </a:ext>
            </a:extLst>
          </p:cNvPr>
          <p:cNvSpPr/>
          <p:nvPr/>
        </p:nvSpPr>
        <p:spPr>
          <a:xfrm>
            <a:off x="80620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60" name="Text 111">
            <a:extLst>
              <a:ext uri="{FF2B5EF4-FFF2-40B4-BE49-F238E27FC236}">
                <a16:creationId xmlns:a16="http://schemas.microsoft.com/office/drawing/2014/main" id="{38FBDAAB-A07A-E8C4-47B0-D464E78D6F27}"/>
              </a:ext>
            </a:extLst>
          </p:cNvPr>
          <p:cNvSpPr/>
          <p:nvPr/>
        </p:nvSpPr>
        <p:spPr>
          <a:xfrm>
            <a:off x="8281479"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休眠リスト再CV</a:t>
            </a:r>
            <a:endParaRPr lang="en-US" altLang="ja-JP" sz="850" dirty="0">
              <a:latin typeface="メイリオ" panose="020B0604030504040204" pitchFamily="50" charset="-128"/>
              <a:ea typeface="メイリオ" panose="020B0604030504040204" pitchFamily="50" charset="-128"/>
            </a:endParaRPr>
          </a:p>
        </p:txBody>
      </p:sp>
      <p:sp>
        <p:nvSpPr>
          <p:cNvPr id="162" name="Text 112">
            <a:extLst>
              <a:ext uri="{FF2B5EF4-FFF2-40B4-BE49-F238E27FC236}">
                <a16:creationId xmlns:a16="http://schemas.microsoft.com/office/drawing/2014/main" id="{D3F04975-0A5A-781C-2B9E-C31F7695748A}"/>
              </a:ext>
            </a:extLst>
          </p:cNvPr>
          <p:cNvSpPr/>
          <p:nvPr/>
        </p:nvSpPr>
        <p:spPr>
          <a:xfrm>
            <a:off x="8062023"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再CV率3〜8%</a:t>
            </a:r>
            <a:endParaRPr lang="en-US" altLang="ja-JP" sz="750" dirty="0">
              <a:latin typeface="メイリオ" panose="020B0604030504040204" pitchFamily="50" charset="-128"/>
              <a:ea typeface="メイリオ" panose="020B0604030504040204" pitchFamily="50" charset="-128"/>
            </a:endParaRPr>
          </a:p>
        </p:txBody>
      </p:sp>
      <p:sp>
        <p:nvSpPr>
          <p:cNvPr id="164" name="Shape 113">
            <a:extLst>
              <a:ext uri="{FF2B5EF4-FFF2-40B4-BE49-F238E27FC236}">
                <a16:creationId xmlns:a16="http://schemas.microsoft.com/office/drawing/2014/main" id="{B8A7F8E0-2D9E-4F58-B45C-445490BAD2A6}"/>
              </a:ext>
            </a:extLst>
          </p:cNvPr>
          <p:cNvSpPr/>
          <p:nvPr/>
        </p:nvSpPr>
        <p:spPr>
          <a:xfrm>
            <a:off x="5099366" y="4842285"/>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66" name="Shape 117">
            <a:extLst>
              <a:ext uri="{FF2B5EF4-FFF2-40B4-BE49-F238E27FC236}">
                <a16:creationId xmlns:a16="http://schemas.microsoft.com/office/drawing/2014/main" id="{405D8489-0824-1FFD-1B67-B3B0A50D9604}"/>
              </a:ext>
            </a:extLst>
          </p:cNvPr>
          <p:cNvSpPr/>
          <p:nvPr/>
        </p:nvSpPr>
        <p:spPr>
          <a:xfrm>
            <a:off x="5519991"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68" name="Text 118">
            <a:extLst>
              <a:ext uri="{FF2B5EF4-FFF2-40B4-BE49-F238E27FC236}">
                <a16:creationId xmlns:a16="http://schemas.microsoft.com/office/drawing/2014/main" id="{FE9A5096-9CFE-5412-810F-0F2F5A6CF1D7}"/>
              </a:ext>
            </a:extLst>
          </p:cNvPr>
          <p:cNvSpPr/>
          <p:nvPr/>
        </p:nvSpPr>
        <p:spPr>
          <a:xfrm>
            <a:off x="5519991"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再スクリーニング</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70" name="Text 119">
            <a:extLst>
              <a:ext uri="{FF2B5EF4-FFF2-40B4-BE49-F238E27FC236}">
                <a16:creationId xmlns:a16="http://schemas.microsoft.com/office/drawing/2014/main" id="{64A72FA9-D385-9A82-A7FF-CCA964EA228C}"/>
              </a:ext>
            </a:extLst>
          </p:cNvPr>
          <p:cNvSpPr/>
          <p:nvPr/>
        </p:nvSpPr>
        <p:spPr>
          <a:xfrm>
            <a:off x="6379527" y="4924581"/>
            <a:ext cx="3319066" cy="256032"/>
          </a:xfrm>
          <a:prstGeom prst="rect">
            <a:avLst/>
          </a:prstGeom>
          <a:noFill/>
          <a:ln/>
        </p:spPr>
        <p:txBody>
          <a:bodyPr wrap="square" lIns="0" tIns="0" rIns="0" bIns="0" rtlCol="0" anchor="ctr"/>
          <a:lstStyle/>
          <a:p>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その後いかが</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配信で失注リストを再活性化</a:t>
            </a:r>
            <a:endParaRPr lang="en-US" altLang="ja-JP" sz="1100" dirty="0">
              <a:latin typeface="メイリオ" panose="020B0604030504040204" pitchFamily="50" charset="-128"/>
              <a:ea typeface="メイリオ" panose="020B0604030504040204" pitchFamily="50" charset="-128"/>
            </a:endParaRPr>
          </a:p>
        </p:txBody>
      </p:sp>
      <p:sp>
        <p:nvSpPr>
          <p:cNvPr id="172" name="Text 120">
            <a:extLst>
              <a:ext uri="{FF2B5EF4-FFF2-40B4-BE49-F238E27FC236}">
                <a16:creationId xmlns:a16="http://schemas.microsoft.com/office/drawing/2014/main" id="{CBDC21B9-7A24-59D8-C78B-DA02EFBD1EE5}"/>
              </a:ext>
            </a:extLst>
          </p:cNvPr>
          <p:cNvSpPr/>
          <p:nvPr/>
        </p:nvSpPr>
        <p:spPr>
          <a:xfrm>
            <a:off x="5190807" y="5226333"/>
            <a:ext cx="4449774" cy="529590"/>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失注・辞退から3〜6ヶ月後に「ご状況が変わっていれば改めてご案内できます」と自然なトーンで再接触。失注理由別でシナリオを分岐：「</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予算NG」層</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新プランができました</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タイミングNG」層</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またご都合のよい時期に</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174" name="Shape 121">
            <a:extLst>
              <a:ext uri="{FF2B5EF4-FFF2-40B4-BE49-F238E27FC236}">
                <a16:creationId xmlns:a16="http://schemas.microsoft.com/office/drawing/2014/main" id="{8F2AD48D-D152-8DDF-689E-38F793A7A035}"/>
              </a:ext>
            </a:extLst>
          </p:cNvPr>
          <p:cNvSpPr/>
          <p:nvPr/>
        </p:nvSpPr>
        <p:spPr>
          <a:xfrm>
            <a:off x="5190807"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76" name="Shape 122">
            <a:extLst>
              <a:ext uri="{FF2B5EF4-FFF2-40B4-BE49-F238E27FC236}">
                <a16:creationId xmlns:a16="http://schemas.microsoft.com/office/drawing/2014/main" id="{62E05E15-51AF-4DED-F35A-E0341BEEDB6E}"/>
              </a:ext>
            </a:extLst>
          </p:cNvPr>
          <p:cNvSpPr/>
          <p:nvPr/>
        </p:nvSpPr>
        <p:spPr>
          <a:xfrm>
            <a:off x="5245671"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78" name="Text 123">
            <a:extLst>
              <a:ext uri="{FF2B5EF4-FFF2-40B4-BE49-F238E27FC236}">
                <a16:creationId xmlns:a16="http://schemas.microsoft.com/office/drawing/2014/main" id="{E6A90B54-8A00-3600-E1D6-0F35C45F9544}"/>
              </a:ext>
            </a:extLst>
          </p:cNvPr>
          <p:cNvSpPr/>
          <p:nvPr/>
        </p:nvSpPr>
        <p:spPr>
          <a:xfrm>
            <a:off x="5245671"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80" name="Text 124">
            <a:extLst>
              <a:ext uri="{FF2B5EF4-FFF2-40B4-BE49-F238E27FC236}">
                <a16:creationId xmlns:a16="http://schemas.microsoft.com/office/drawing/2014/main" id="{5CE65D75-4BC1-519E-F76F-6A0757C1EC53}"/>
              </a:ext>
            </a:extLst>
          </p:cNvPr>
          <p:cNvSpPr/>
          <p:nvPr/>
        </p:nvSpPr>
        <p:spPr>
          <a:xfrm>
            <a:off x="5465127" y="5957091"/>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失注後3〜6ヶ月</a:t>
            </a:r>
            <a:endParaRPr lang="en-US" altLang="ja-JP" sz="850" dirty="0">
              <a:latin typeface="メイリオ" panose="020B0604030504040204" pitchFamily="50" charset="-128"/>
              <a:ea typeface="メイリオ" panose="020B0604030504040204" pitchFamily="50" charset="-128"/>
            </a:endParaRPr>
          </a:p>
        </p:txBody>
      </p:sp>
      <p:sp>
        <p:nvSpPr>
          <p:cNvPr id="182" name="Text 125">
            <a:extLst>
              <a:ext uri="{FF2B5EF4-FFF2-40B4-BE49-F238E27FC236}">
                <a16:creationId xmlns:a16="http://schemas.microsoft.com/office/drawing/2014/main" id="{321D2CBF-DB5B-0A56-8946-401A4AD2CC5C}"/>
              </a:ext>
            </a:extLst>
          </p:cNvPr>
          <p:cNvSpPr/>
          <p:nvPr/>
        </p:nvSpPr>
        <p:spPr>
          <a:xfrm>
            <a:off x="5245671"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自動配信</a:t>
            </a:r>
            <a:r>
              <a:rPr lang="ja-JP" altLang="en-US" sz="750" dirty="0">
                <a:solidFill>
                  <a:srgbClr val="4A4A6A"/>
                </a:solidFill>
                <a:latin typeface="メイリオ" panose="020B0604030504040204" pitchFamily="50" charset="-128"/>
                <a:ea typeface="メイリオ" panose="020B0604030504040204" pitchFamily="50" charset="-128"/>
                <a:cs typeface="Calibri" pitchFamily="34" charset="-120"/>
              </a:rPr>
              <a:t>（ステップ）</a:t>
            </a:r>
            <a:endParaRPr lang="en-US" altLang="ja-JP" sz="750" dirty="0">
              <a:latin typeface="メイリオ" panose="020B0604030504040204" pitchFamily="50" charset="-128"/>
              <a:ea typeface="メイリオ" panose="020B0604030504040204" pitchFamily="50" charset="-128"/>
            </a:endParaRPr>
          </a:p>
        </p:txBody>
      </p:sp>
      <p:sp>
        <p:nvSpPr>
          <p:cNvPr id="184" name="Text 126">
            <a:extLst>
              <a:ext uri="{FF2B5EF4-FFF2-40B4-BE49-F238E27FC236}">
                <a16:creationId xmlns:a16="http://schemas.microsoft.com/office/drawing/2014/main" id="{06401F8E-C60A-CA49-A807-0A6452BDC118}"/>
              </a:ext>
            </a:extLst>
          </p:cNvPr>
          <p:cNvSpPr/>
          <p:nvPr/>
        </p:nvSpPr>
        <p:spPr>
          <a:xfrm>
            <a:off x="6470967"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86" name="Shape 127">
            <a:extLst>
              <a:ext uri="{FF2B5EF4-FFF2-40B4-BE49-F238E27FC236}">
                <a16:creationId xmlns:a16="http://schemas.microsoft.com/office/drawing/2014/main" id="{AE3CA431-0C8F-8EF0-2ED8-A83CCA602B3E}"/>
              </a:ext>
            </a:extLst>
          </p:cNvPr>
          <p:cNvSpPr/>
          <p:nvPr/>
        </p:nvSpPr>
        <p:spPr>
          <a:xfrm>
            <a:off x="6598983"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88" name="Shape 128">
            <a:extLst>
              <a:ext uri="{FF2B5EF4-FFF2-40B4-BE49-F238E27FC236}">
                <a16:creationId xmlns:a16="http://schemas.microsoft.com/office/drawing/2014/main" id="{1AD820F2-8E91-97A5-8E0A-B1C6BFB331A1}"/>
              </a:ext>
            </a:extLst>
          </p:cNvPr>
          <p:cNvSpPr/>
          <p:nvPr/>
        </p:nvSpPr>
        <p:spPr>
          <a:xfrm>
            <a:off x="6653847"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90" name="Text 129">
            <a:extLst>
              <a:ext uri="{FF2B5EF4-FFF2-40B4-BE49-F238E27FC236}">
                <a16:creationId xmlns:a16="http://schemas.microsoft.com/office/drawing/2014/main" id="{8D818818-A3AE-555E-7011-4F3D90379688}"/>
              </a:ext>
            </a:extLst>
          </p:cNvPr>
          <p:cNvSpPr/>
          <p:nvPr/>
        </p:nvSpPr>
        <p:spPr>
          <a:xfrm>
            <a:off x="6653847"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92" name="Text 130">
            <a:extLst>
              <a:ext uri="{FF2B5EF4-FFF2-40B4-BE49-F238E27FC236}">
                <a16:creationId xmlns:a16="http://schemas.microsoft.com/office/drawing/2014/main" id="{4EF9A98F-AC88-0728-EFD8-0C772A79587A}"/>
              </a:ext>
            </a:extLst>
          </p:cNvPr>
          <p:cNvSpPr/>
          <p:nvPr/>
        </p:nvSpPr>
        <p:spPr>
          <a:xfrm>
            <a:off x="6873303"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失注理由別分岐</a:t>
            </a:r>
            <a:endParaRPr lang="en-US" altLang="ja-JP" sz="850" dirty="0">
              <a:latin typeface="メイリオ" panose="020B0604030504040204" pitchFamily="50" charset="-128"/>
              <a:ea typeface="メイリオ" panose="020B0604030504040204" pitchFamily="50" charset="-128"/>
            </a:endParaRPr>
          </a:p>
        </p:txBody>
      </p:sp>
      <p:sp>
        <p:nvSpPr>
          <p:cNvPr id="194" name="Text 131">
            <a:extLst>
              <a:ext uri="{FF2B5EF4-FFF2-40B4-BE49-F238E27FC236}">
                <a16:creationId xmlns:a16="http://schemas.microsoft.com/office/drawing/2014/main" id="{AA3268CA-2C22-0C62-160E-0C0216963E5F}"/>
              </a:ext>
            </a:extLst>
          </p:cNvPr>
          <p:cNvSpPr/>
          <p:nvPr/>
        </p:nvSpPr>
        <p:spPr>
          <a:xfrm>
            <a:off x="6653847"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シナリオカスタマイズ</a:t>
            </a:r>
            <a:endParaRPr lang="en-US" altLang="ja-JP" sz="750" dirty="0">
              <a:latin typeface="メイリオ" panose="020B0604030504040204" pitchFamily="50" charset="-128"/>
              <a:ea typeface="メイリオ" panose="020B0604030504040204" pitchFamily="50" charset="-128"/>
            </a:endParaRPr>
          </a:p>
        </p:txBody>
      </p:sp>
      <p:sp>
        <p:nvSpPr>
          <p:cNvPr id="196" name="Text 132">
            <a:extLst>
              <a:ext uri="{FF2B5EF4-FFF2-40B4-BE49-F238E27FC236}">
                <a16:creationId xmlns:a16="http://schemas.microsoft.com/office/drawing/2014/main" id="{2F00F7D4-1087-A7FE-323B-EE40BA03BBCF}"/>
              </a:ext>
            </a:extLst>
          </p:cNvPr>
          <p:cNvSpPr/>
          <p:nvPr/>
        </p:nvSpPr>
        <p:spPr>
          <a:xfrm>
            <a:off x="7879143"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98" name="Shape 133">
            <a:extLst>
              <a:ext uri="{FF2B5EF4-FFF2-40B4-BE49-F238E27FC236}">
                <a16:creationId xmlns:a16="http://schemas.microsoft.com/office/drawing/2014/main" id="{48973DFD-52B9-D288-5F88-EBA671150D93}"/>
              </a:ext>
            </a:extLst>
          </p:cNvPr>
          <p:cNvSpPr/>
          <p:nvPr/>
        </p:nvSpPr>
        <p:spPr>
          <a:xfrm>
            <a:off x="8007159"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00" name="Shape 134">
            <a:extLst>
              <a:ext uri="{FF2B5EF4-FFF2-40B4-BE49-F238E27FC236}">
                <a16:creationId xmlns:a16="http://schemas.microsoft.com/office/drawing/2014/main" id="{E611469B-B55C-8664-CADB-DF4675853BF0}"/>
              </a:ext>
            </a:extLst>
          </p:cNvPr>
          <p:cNvSpPr/>
          <p:nvPr/>
        </p:nvSpPr>
        <p:spPr>
          <a:xfrm>
            <a:off x="8062023"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02" name="Text 135">
            <a:extLst>
              <a:ext uri="{FF2B5EF4-FFF2-40B4-BE49-F238E27FC236}">
                <a16:creationId xmlns:a16="http://schemas.microsoft.com/office/drawing/2014/main" id="{F56AD707-B2E2-F152-960D-3E43770D8634}"/>
              </a:ext>
            </a:extLst>
          </p:cNvPr>
          <p:cNvSpPr/>
          <p:nvPr/>
        </p:nvSpPr>
        <p:spPr>
          <a:xfrm>
            <a:off x="80620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04" name="Text 136">
            <a:extLst>
              <a:ext uri="{FF2B5EF4-FFF2-40B4-BE49-F238E27FC236}">
                <a16:creationId xmlns:a16="http://schemas.microsoft.com/office/drawing/2014/main" id="{44EA5DE9-1C7B-2119-EC2E-A8BE9873034E}"/>
              </a:ext>
            </a:extLst>
          </p:cNvPr>
          <p:cNvSpPr/>
          <p:nvPr/>
        </p:nvSpPr>
        <p:spPr>
          <a:xfrm>
            <a:off x="8281479" y="5957091"/>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再CV獲得</a:t>
            </a:r>
            <a:endParaRPr lang="en-US" altLang="ja-JP" sz="850" dirty="0">
              <a:latin typeface="メイリオ" panose="020B0604030504040204" pitchFamily="50" charset="-128"/>
              <a:ea typeface="メイリオ" panose="020B0604030504040204" pitchFamily="50" charset="-128"/>
            </a:endParaRPr>
          </a:p>
        </p:txBody>
      </p:sp>
      <p:sp>
        <p:nvSpPr>
          <p:cNvPr id="206" name="Text 137">
            <a:extLst>
              <a:ext uri="{FF2B5EF4-FFF2-40B4-BE49-F238E27FC236}">
                <a16:creationId xmlns:a16="http://schemas.microsoft.com/office/drawing/2014/main" id="{8096588A-C237-8806-3F2E-41D5083C6A97}"/>
              </a:ext>
            </a:extLst>
          </p:cNvPr>
          <p:cNvSpPr/>
          <p:nvPr/>
        </p:nvSpPr>
        <p:spPr>
          <a:xfrm>
            <a:off x="80620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コストゼロ受注</a:t>
            </a:r>
            <a:endParaRPr lang="en-US" altLang="ja-JP" sz="750" dirty="0">
              <a:latin typeface="メイリオ" panose="020B0604030504040204" pitchFamily="50" charset="-128"/>
              <a:ea typeface="メイリオ" panose="020B0604030504040204" pitchFamily="50" charset="-128"/>
            </a:endParaRPr>
          </a:p>
        </p:txBody>
      </p:sp>
      <p:sp>
        <p:nvSpPr>
          <p:cNvPr id="208" name="Shape 36">
            <a:extLst>
              <a:ext uri="{FF2B5EF4-FFF2-40B4-BE49-F238E27FC236}">
                <a16:creationId xmlns:a16="http://schemas.microsoft.com/office/drawing/2014/main" id="{A5FC7E14-B018-D022-4C5B-B6CBBCAE4736}"/>
              </a:ext>
            </a:extLst>
          </p:cNvPr>
          <p:cNvSpPr/>
          <p:nvPr/>
        </p:nvSpPr>
        <p:spPr>
          <a:xfrm>
            <a:off x="3568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10" name="Shape 36">
            <a:extLst>
              <a:ext uri="{FF2B5EF4-FFF2-40B4-BE49-F238E27FC236}">
                <a16:creationId xmlns:a16="http://schemas.microsoft.com/office/drawing/2014/main" id="{6310D41F-AA25-B595-2E67-274ED86E8EEC}"/>
              </a:ext>
            </a:extLst>
          </p:cNvPr>
          <p:cNvSpPr/>
          <p:nvPr/>
        </p:nvSpPr>
        <p:spPr>
          <a:xfrm>
            <a:off x="52082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12" name="Shape 36">
            <a:extLst>
              <a:ext uri="{FF2B5EF4-FFF2-40B4-BE49-F238E27FC236}">
                <a16:creationId xmlns:a16="http://schemas.microsoft.com/office/drawing/2014/main" id="{04FC39D4-AF33-9A13-B4BB-7BF38704EB41}"/>
              </a:ext>
            </a:extLst>
          </p:cNvPr>
          <p:cNvSpPr/>
          <p:nvPr/>
        </p:nvSpPr>
        <p:spPr>
          <a:xfrm>
            <a:off x="52082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13" name="Shape 59">
            <a:extLst>
              <a:ext uri="{FF2B5EF4-FFF2-40B4-BE49-F238E27FC236}">
                <a16:creationId xmlns:a16="http://schemas.microsoft.com/office/drawing/2014/main" id="{0D838070-28E0-7844-7B87-9CC6E5DC79D9}"/>
              </a:ext>
            </a:extLst>
          </p:cNvPr>
          <p:cNvSpPr/>
          <p:nvPr/>
        </p:nvSpPr>
        <p:spPr>
          <a:xfrm>
            <a:off x="6653847" y="110408"/>
            <a:ext cx="1446971" cy="330537"/>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中長期で導入検討</a:t>
            </a:r>
          </a:p>
        </p:txBody>
      </p:sp>
      <p:sp>
        <p:nvSpPr>
          <p:cNvPr id="17" name="Shape 88">
            <a:extLst>
              <a:ext uri="{FF2B5EF4-FFF2-40B4-BE49-F238E27FC236}">
                <a16:creationId xmlns:a16="http://schemas.microsoft.com/office/drawing/2014/main" id="{BF047FFF-FD3A-83AB-B6A5-B1D64F67C5FF}"/>
              </a:ext>
            </a:extLst>
          </p:cNvPr>
          <p:cNvSpPr/>
          <p:nvPr/>
        </p:nvSpPr>
        <p:spPr>
          <a:xfrm>
            <a:off x="5134337" y="111417"/>
            <a:ext cx="1442146" cy="330537"/>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導入推奨</a:t>
            </a:r>
          </a:p>
        </p:txBody>
      </p:sp>
    </p:spTree>
    <p:extLst>
      <p:ext uri="{BB962C8B-B14F-4D97-AF65-F5344CB8AC3E}">
        <p14:creationId xmlns:p14="http://schemas.microsoft.com/office/powerpoint/2010/main" val="275682684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5F51C-1549-19C8-A509-C77C3C8B926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0881644-71DA-0FD5-31A8-50845CB45B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改善モデル③</a:t>
            </a:r>
          </a:p>
        </p:txBody>
      </p:sp>
      <p:sp>
        <p:nvSpPr>
          <p:cNvPr id="27" name="テキスト ボックス 26">
            <a:extLst>
              <a:ext uri="{FF2B5EF4-FFF2-40B4-BE49-F238E27FC236}">
                <a16:creationId xmlns:a16="http://schemas.microsoft.com/office/drawing/2014/main" id="{3E754129-4E82-ADF0-7762-6DB3D6C37869}"/>
              </a:ext>
            </a:extLst>
          </p:cNvPr>
          <p:cNvSpPr txBox="1"/>
          <p:nvPr/>
        </p:nvSpPr>
        <p:spPr>
          <a:xfrm>
            <a:off x="334303" y="142540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28" name="テキスト ボックス 27">
            <a:extLst>
              <a:ext uri="{FF2B5EF4-FFF2-40B4-BE49-F238E27FC236}">
                <a16:creationId xmlns:a16="http://schemas.microsoft.com/office/drawing/2014/main" id="{90A62F05-90DB-BEFF-2CA5-AB5CBFB875BB}"/>
              </a:ext>
            </a:extLst>
          </p:cNvPr>
          <p:cNvSpPr txBox="1"/>
          <p:nvPr/>
        </p:nvSpPr>
        <p:spPr>
          <a:xfrm>
            <a:off x="1268358" y="163606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FEA37072-D446-4372-FBCF-FF05EAA5FFDB}"/>
              </a:ext>
            </a:extLst>
          </p:cNvPr>
          <p:cNvSpPr txBox="1"/>
          <p:nvPr/>
        </p:nvSpPr>
        <p:spPr>
          <a:xfrm>
            <a:off x="2202413" y="183017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30" name="テキスト ボックス 29">
            <a:extLst>
              <a:ext uri="{FF2B5EF4-FFF2-40B4-BE49-F238E27FC236}">
                <a16:creationId xmlns:a16="http://schemas.microsoft.com/office/drawing/2014/main" id="{768555E4-10E4-ED78-186D-F8BBA4ECA773}"/>
              </a:ext>
            </a:extLst>
          </p:cNvPr>
          <p:cNvSpPr txBox="1"/>
          <p:nvPr/>
        </p:nvSpPr>
        <p:spPr>
          <a:xfrm>
            <a:off x="3136468" y="202652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32" name="コネクタ: カギ線 31">
            <a:extLst>
              <a:ext uri="{FF2B5EF4-FFF2-40B4-BE49-F238E27FC236}">
                <a16:creationId xmlns:a16="http://schemas.microsoft.com/office/drawing/2014/main" id="{C655AFC2-F818-8CFC-48E3-29591E6CCBA4}"/>
              </a:ext>
            </a:extLst>
          </p:cNvPr>
          <p:cNvCxnSpPr>
            <a:cxnSpLocks/>
            <a:stCxn id="30" idx="0"/>
          </p:cNvCxnSpPr>
          <p:nvPr/>
        </p:nvCxnSpPr>
        <p:spPr>
          <a:xfrm rot="5400000" flipH="1" flipV="1">
            <a:off x="4270984" y="1720322"/>
            <a:ext cx="246792" cy="365616"/>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 name="テキスト ボックス 4">
            <a:extLst>
              <a:ext uri="{FF2B5EF4-FFF2-40B4-BE49-F238E27FC236}">
                <a16:creationId xmlns:a16="http://schemas.microsoft.com/office/drawing/2014/main" id="{AE0E605C-24DB-D0F6-408E-DC91DFF126F2}"/>
              </a:ext>
            </a:extLst>
          </p:cNvPr>
          <p:cNvSpPr txBox="1"/>
          <p:nvPr/>
        </p:nvSpPr>
        <p:spPr>
          <a:xfrm>
            <a:off x="3542139" y="141931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024124EA-8A11-9089-D195-BFB58DD5068D}"/>
              </a:ext>
            </a:extLst>
          </p:cNvPr>
          <p:cNvSpPr txBox="1"/>
          <p:nvPr/>
        </p:nvSpPr>
        <p:spPr>
          <a:xfrm>
            <a:off x="4830776" y="162389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B87E9823-A3D2-CC28-7E59-EE124DBE7CAD}"/>
              </a:ext>
            </a:extLst>
          </p:cNvPr>
          <p:cNvSpPr txBox="1"/>
          <p:nvPr/>
        </p:nvSpPr>
        <p:spPr>
          <a:xfrm>
            <a:off x="7408050" y="203305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0E616C55-41AE-4E89-AA73-D23C6063BAC5}"/>
              </a:ext>
            </a:extLst>
          </p:cNvPr>
          <p:cNvSpPr/>
          <p:nvPr/>
        </p:nvSpPr>
        <p:spPr>
          <a:xfrm>
            <a:off x="175475" y="2510144"/>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4F6D876E-0365-432F-46BA-A5401006C465}"/>
              </a:ext>
            </a:extLst>
          </p:cNvPr>
          <p:cNvSpPr/>
          <p:nvPr/>
        </p:nvSpPr>
        <p:spPr>
          <a:xfrm>
            <a:off x="4994298" y="2510143"/>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3EE31941-0F5E-1E7C-269A-8F9D019765CF}"/>
              </a:ext>
            </a:extLst>
          </p:cNvPr>
          <p:cNvSpPr/>
          <p:nvPr/>
        </p:nvSpPr>
        <p:spPr>
          <a:xfrm>
            <a:off x="0" y="777240"/>
            <a:ext cx="1802674" cy="5029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施策内容</a:t>
            </a:r>
          </a:p>
        </p:txBody>
      </p:sp>
      <p:sp>
        <p:nvSpPr>
          <p:cNvPr id="15" name="Google Shape;752;p28">
            <a:extLst>
              <a:ext uri="{FF2B5EF4-FFF2-40B4-BE49-F238E27FC236}">
                <a16:creationId xmlns:a16="http://schemas.microsoft.com/office/drawing/2014/main" id="{98886420-FB53-2FB8-A09E-EB3FDE7308E8}"/>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成約、購入等、企業としての売上・利益につなげる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3" name="正方形/長方形 2">
            <a:extLst>
              <a:ext uri="{FF2B5EF4-FFF2-40B4-BE49-F238E27FC236}">
                <a16:creationId xmlns:a16="http://schemas.microsoft.com/office/drawing/2014/main" id="{25A50B78-E73B-4B44-EA42-3D987F8E8733}"/>
              </a:ext>
            </a:extLst>
          </p:cNvPr>
          <p:cNvSpPr/>
          <p:nvPr/>
        </p:nvSpPr>
        <p:spPr>
          <a:xfrm>
            <a:off x="196606" y="1304119"/>
            <a:ext cx="9709394" cy="1206024"/>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2" name="テキスト ボックス 11">
            <a:extLst>
              <a:ext uri="{FF2B5EF4-FFF2-40B4-BE49-F238E27FC236}">
                <a16:creationId xmlns:a16="http://schemas.microsoft.com/office/drawing/2014/main" id="{EDBFCB04-05B4-E4AC-12A0-CD0E81A2DC3C}"/>
              </a:ext>
            </a:extLst>
          </p:cNvPr>
          <p:cNvSpPr txBox="1"/>
          <p:nvPr/>
        </p:nvSpPr>
        <p:spPr>
          <a:xfrm>
            <a:off x="6119413" y="1832804"/>
            <a:ext cx="2352196" cy="348203"/>
          </a:xfrm>
          <a:prstGeom prst="rect">
            <a:avLst/>
          </a:prstGeom>
          <a:solidFill>
            <a:srgbClr val="1D8D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⑦マネタイズ</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成約</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購入</a:t>
            </a:r>
            <a:r>
              <a:rPr lang="en-US" altLang="ja-JP" sz="1000" b="1" dirty="0">
                <a:solidFill>
                  <a:schemeClr val="bg1"/>
                </a:solidFill>
                <a:latin typeface="メイリオ" panose="020B0604030504040204" pitchFamily="50" charset="-128"/>
                <a:ea typeface="メイリオ" panose="020B0604030504040204" pitchFamily="50" charset="-128"/>
              </a:rPr>
              <a:t>)</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212" name="正方形/長方形 211">
            <a:extLst>
              <a:ext uri="{FF2B5EF4-FFF2-40B4-BE49-F238E27FC236}">
                <a16:creationId xmlns:a16="http://schemas.microsoft.com/office/drawing/2014/main" id="{7ACD6D34-5B12-71B8-0225-D9C053F55ED2}"/>
              </a:ext>
            </a:extLst>
          </p:cNvPr>
          <p:cNvSpPr/>
          <p:nvPr/>
        </p:nvSpPr>
        <p:spPr>
          <a:xfrm>
            <a:off x="272142" y="2590761"/>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latin typeface="メイリオ" panose="020B0604030504040204" pitchFamily="50" charset="-128"/>
                <a:ea typeface="メイリオ" panose="020B0604030504040204" pitchFamily="50" charset="-128"/>
              </a:rPr>
              <a:t>実際の購入・契約に関わるハードルを下げる</a:t>
            </a:r>
          </a:p>
        </p:txBody>
      </p:sp>
      <p:sp>
        <p:nvSpPr>
          <p:cNvPr id="214" name="正方形/長方形 213">
            <a:extLst>
              <a:ext uri="{FF2B5EF4-FFF2-40B4-BE49-F238E27FC236}">
                <a16:creationId xmlns:a16="http://schemas.microsoft.com/office/drawing/2014/main" id="{9B22DD71-4656-D5C5-DBDF-22BB0DC5C6FA}"/>
              </a:ext>
            </a:extLst>
          </p:cNvPr>
          <p:cNvSpPr/>
          <p:nvPr/>
        </p:nvSpPr>
        <p:spPr>
          <a:xfrm>
            <a:off x="5084226" y="2584677"/>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成約後のイメージ・アフターフォローを見える化する</a:t>
            </a:r>
            <a:endParaRPr lang="en-US" altLang="ja-JP" sz="1050" dirty="0">
              <a:latin typeface="メイリオ" panose="020B0604030504040204" pitchFamily="50" charset="-128"/>
              <a:ea typeface="メイリオ" panose="020B0604030504040204" pitchFamily="50" charset="-128"/>
            </a:endParaRPr>
          </a:p>
        </p:txBody>
      </p:sp>
      <p:sp>
        <p:nvSpPr>
          <p:cNvPr id="216" name="Shape 34">
            <a:extLst>
              <a:ext uri="{FF2B5EF4-FFF2-40B4-BE49-F238E27FC236}">
                <a16:creationId xmlns:a16="http://schemas.microsoft.com/office/drawing/2014/main" id="{17BC1EF4-21DA-CE94-283E-846B9F001F36}"/>
              </a:ext>
            </a:extLst>
          </p:cNvPr>
          <p:cNvSpPr/>
          <p:nvPr/>
        </p:nvSpPr>
        <p:spPr>
          <a:xfrm>
            <a:off x="265419" y="2999768"/>
            <a:ext cx="4541216" cy="1600805"/>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18" name="Shape 36">
            <a:extLst>
              <a:ext uri="{FF2B5EF4-FFF2-40B4-BE49-F238E27FC236}">
                <a16:creationId xmlns:a16="http://schemas.microsoft.com/office/drawing/2014/main" id="{B139C33D-7A13-4B90-506A-BD3D89DCB343}"/>
              </a:ext>
            </a:extLst>
          </p:cNvPr>
          <p:cNvSpPr/>
          <p:nvPr/>
        </p:nvSpPr>
        <p:spPr>
          <a:xfrm>
            <a:off x="3568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20" name="Shape 38">
            <a:extLst>
              <a:ext uri="{FF2B5EF4-FFF2-40B4-BE49-F238E27FC236}">
                <a16:creationId xmlns:a16="http://schemas.microsoft.com/office/drawing/2014/main" id="{2D290F22-1E3B-8151-C419-A64914BDF65F}"/>
              </a:ext>
            </a:extLst>
          </p:cNvPr>
          <p:cNvSpPr/>
          <p:nvPr/>
        </p:nvSpPr>
        <p:spPr>
          <a:xfrm>
            <a:off x="686043"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22" name="Text 39">
            <a:extLst>
              <a:ext uri="{FF2B5EF4-FFF2-40B4-BE49-F238E27FC236}">
                <a16:creationId xmlns:a16="http://schemas.microsoft.com/office/drawing/2014/main" id="{19C3AE76-E5E9-46FF-E31E-15492F60B623}"/>
              </a:ext>
            </a:extLst>
          </p:cNvPr>
          <p:cNvSpPr/>
          <p:nvPr/>
        </p:nvSpPr>
        <p:spPr>
          <a:xfrm>
            <a:off x="686043"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不安解消</a:t>
            </a:r>
            <a:r>
              <a:rPr kumimoji="0" lang="en-US" altLang="ja-JP"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BOT</a:t>
            </a:r>
          </a:p>
        </p:txBody>
      </p:sp>
      <p:sp>
        <p:nvSpPr>
          <p:cNvPr id="224" name="Text 40">
            <a:extLst>
              <a:ext uri="{FF2B5EF4-FFF2-40B4-BE49-F238E27FC236}">
                <a16:creationId xmlns:a16="http://schemas.microsoft.com/office/drawing/2014/main" id="{F72D9597-CBE6-7729-EBB8-42A4EB56D3AC}"/>
              </a:ext>
            </a:extLst>
          </p:cNvPr>
          <p:cNvSpPr/>
          <p:nvPr/>
        </p:nvSpPr>
        <p:spPr>
          <a:xfrm>
            <a:off x="1545579" y="3082065"/>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チャットBOT</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 × </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申込前の不安をリアルタイム解消</a:t>
            </a:r>
            <a:endParaRPr lang="en-US" altLang="ja-JP" sz="1100" dirty="0">
              <a:latin typeface="メイリオ" panose="020B0604030504040204" pitchFamily="50" charset="-128"/>
              <a:ea typeface="メイリオ" panose="020B0604030504040204" pitchFamily="50" charset="-128"/>
            </a:endParaRPr>
          </a:p>
        </p:txBody>
      </p:sp>
      <p:sp>
        <p:nvSpPr>
          <p:cNvPr id="226" name="Text 41">
            <a:extLst>
              <a:ext uri="{FF2B5EF4-FFF2-40B4-BE49-F238E27FC236}">
                <a16:creationId xmlns:a16="http://schemas.microsoft.com/office/drawing/2014/main" id="{D4867974-A5DB-62BF-B56C-7B48EBD4FCD6}"/>
              </a:ext>
            </a:extLst>
          </p:cNvPr>
          <p:cNvSpPr/>
          <p:nvPr/>
        </p:nvSpPr>
        <p:spPr>
          <a:xfrm>
            <a:off x="356859" y="3383817"/>
            <a:ext cx="4449774" cy="493776"/>
          </a:xfrm>
          <a:prstGeom prst="rect">
            <a:avLst/>
          </a:prstGeom>
          <a:noFill/>
          <a:ln/>
        </p:spPr>
        <p:txBody>
          <a:bodyPr wrap="square" lIns="0" tIns="0" rIns="0" bIns="0" rtlCol="0" anchor="ctr"/>
          <a:lstStyle/>
          <a:p>
            <a:pPr>
              <a:lnSpc>
                <a:spcPct val="135000"/>
              </a:lnSpc>
            </a:pP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申込ページを複数回閲覧しているが踏み切れない層に「ご不明な点はありますか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とLINEからプッシュ</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解約できる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返金保証は</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効果はいつ出る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など頻出の不安をKW自動応答で即解消し申込フォームへ誘導</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228" name="Shape 42">
            <a:extLst>
              <a:ext uri="{FF2B5EF4-FFF2-40B4-BE49-F238E27FC236}">
                <a16:creationId xmlns:a16="http://schemas.microsoft.com/office/drawing/2014/main" id="{131B059A-8308-F9A4-4B71-FDED85A0F305}"/>
              </a:ext>
            </a:extLst>
          </p:cNvPr>
          <p:cNvSpPr/>
          <p:nvPr/>
        </p:nvSpPr>
        <p:spPr>
          <a:xfrm>
            <a:off x="356859"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0" name="Shape 43">
            <a:extLst>
              <a:ext uri="{FF2B5EF4-FFF2-40B4-BE49-F238E27FC236}">
                <a16:creationId xmlns:a16="http://schemas.microsoft.com/office/drawing/2014/main" id="{763DFBBD-2B1A-7385-B3C6-41AF5556E607}"/>
              </a:ext>
            </a:extLst>
          </p:cNvPr>
          <p:cNvSpPr/>
          <p:nvPr/>
        </p:nvSpPr>
        <p:spPr>
          <a:xfrm>
            <a:off x="411723"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2" name="Text 44">
            <a:extLst>
              <a:ext uri="{FF2B5EF4-FFF2-40B4-BE49-F238E27FC236}">
                <a16:creationId xmlns:a16="http://schemas.microsoft.com/office/drawing/2014/main" id="{426BE58B-62E2-01C7-74C9-694E2A9CD289}"/>
              </a:ext>
            </a:extLst>
          </p:cNvPr>
          <p:cNvSpPr/>
          <p:nvPr/>
        </p:nvSpPr>
        <p:spPr>
          <a:xfrm>
            <a:off x="4117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34" name="Text 45">
            <a:extLst>
              <a:ext uri="{FF2B5EF4-FFF2-40B4-BE49-F238E27FC236}">
                <a16:creationId xmlns:a16="http://schemas.microsoft.com/office/drawing/2014/main" id="{A698A3A9-032A-DEE2-0FD2-AAF7EC37F195}"/>
              </a:ext>
            </a:extLst>
          </p:cNvPr>
          <p:cNvSpPr/>
          <p:nvPr/>
        </p:nvSpPr>
        <p:spPr>
          <a:xfrm>
            <a:off x="631179"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複数LP閲覧を検知</a:t>
            </a:r>
            <a:endParaRPr lang="en-US" altLang="ja-JP" sz="850" dirty="0">
              <a:latin typeface="メイリオ" panose="020B0604030504040204" pitchFamily="50" charset="-128"/>
              <a:ea typeface="メイリオ" panose="020B0604030504040204" pitchFamily="50" charset="-128"/>
            </a:endParaRPr>
          </a:p>
        </p:txBody>
      </p:sp>
      <p:sp>
        <p:nvSpPr>
          <p:cNvPr id="236" name="Text 46">
            <a:extLst>
              <a:ext uri="{FF2B5EF4-FFF2-40B4-BE49-F238E27FC236}">
                <a16:creationId xmlns:a16="http://schemas.microsoft.com/office/drawing/2014/main" id="{6CD14118-9279-776C-30F3-C63B5F00B503}"/>
              </a:ext>
            </a:extLst>
          </p:cNvPr>
          <p:cNvSpPr/>
          <p:nvPr/>
        </p:nvSpPr>
        <p:spPr>
          <a:xfrm>
            <a:off x="411723" y="4324887"/>
            <a:ext cx="1133856" cy="201168"/>
          </a:xfrm>
          <a:prstGeom prst="rect">
            <a:avLst/>
          </a:prstGeom>
          <a:noFill/>
          <a:ln/>
        </p:spPr>
        <p:txBody>
          <a:bodyPr wrap="square" lIns="0" tIns="0" rIns="0" bIns="0" rtlCol="0" anchor="ctr"/>
          <a:lstStyle/>
          <a:p>
            <a:pPr>
              <a:lnSpc>
                <a:spcPct val="115000"/>
              </a:lnSpc>
            </a:pPr>
            <a:r>
              <a:rPr lang="ja-JP" altLang="en-US" sz="750" dirty="0">
                <a:solidFill>
                  <a:srgbClr val="4A4A6A"/>
                </a:solidFill>
                <a:latin typeface="メイリオ" panose="020B0604030504040204" pitchFamily="50" charset="-128"/>
                <a:ea typeface="メイリオ" panose="020B0604030504040204" pitchFamily="50" charset="-128"/>
                <a:cs typeface="Calibri" pitchFamily="34" charset="-120"/>
              </a:rPr>
              <a:t>確度：高として認定</a:t>
            </a:r>
            <a:endPar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endParaRPr>
          </a:p>
        </p:txBody>
      </p:sp>
      <p:sp>
        <p:nvSpPr>
          <p:cNvPr id="238" name="Text 47">
            <a:extLst>
              <a:ext uri="{FF2B5EF4-FFF2-40B4-BE49-F238E27FC236}">
                <a16:creationId xmlns:a16="http://schemas.microsoft.com/office/drawing/2014/main" id="{E675B87B-4A8E-ADF8-DADF-AA406110BF3C}"/>
              </a:ext>
            </a:extLst>
          </p:cNvPr>
          <p:cNvSpPr/>
          <p:nvPr/>
        </p:nvSpPr>
        <p:spPr>
          <a:xfrm>
            <a:off x="1637019"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40" name="Shape 48">
            <a:extLst>
              <a:ext uri="{FF2B5EF4-FFF2-40B4-BE49-F238E27FC236}">
                <a16:creationId xmlns:a16="http://schemas.microsoft.com/office/drawing/2014/main" id="{7E2CC952-E8D7-ECD4-395A-BE9452A2A487}"/>
              </a:ext>
            </a:extLst>
          </p:cNvPr>
          <p:cNvSpPr/>
          <p:nvPr/>
        </p:nvSpPr>
        <p:spPr>
          <a:xfrm>
            <a:off x="1765035"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2" name="Shape 49">
            <a:extLst>
              <a:ext uri="{FF2B5EF4-FFF2-40B4-BE49-F238E27FC236}">
                <a16:creationId xmlns:a16="http://schemas.microsoft.com/office/drawing/2014/main" id="{AE59EEF6-CC45-015B-A9E5-8A7A937B56CA}"/>
              </a:ext>
            </a:extLst>
          </p:cNvPr>
          <p:cNvSpPr/>
          <p:nvPr/>
        </p:nvSpPr>
        <p:spPr>
          <a:xfrm>
            <a:off x="1819899"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4" name="Text 50">
            <a:extLst>
              <a:ext uri="{FF2B5EF4-FFF2-40B4-BE49-F238E27FC236}">
                <a16:creationId xmlns:a16="http://schemas.microsoft.com/office/drawing/2014/main" id="{C754A20D-10B5-62BF-4DDB-DE8127CF6F40}"/>
              </a:ext>
            </a:extLst>
          </p:cNvPr>
          <p:cNvSpPr/>
          <p:nvPr/>
        </p:nvSpPr>
        <p:spPr>
          <a:xfrm>
            <a:off x="1819899"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46" name="Text 51">
            <a:extLst>
              <a:ext uri="{FF2B5EF4-FFF2-40B4-BE49-F238E27FC236}">
                <a16:creationId xmlns:a16="http://schemas.microsoft.com/office/drawing/2014/main" id="{D244FC3B-C26B-1060-3973-384C3CC08ADD}"/>
              </a:ext>
            </a:extLst>
          </p:cNvPr>
          <p:cNvSpPr/>
          <p:nvPr/>
        </p:nvSpPr>
        <p:spPr>
          <a:xfrm>
            <a:off x="2039355"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不安ありますか</a:t>
            </a:r>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248" name="Text 52">
            <a:extLst>
              <a:ext uri="{FF2B5EF4-FFF2-40B4-BE49-F238E27FC236}">
                <a16:creationId xmlns:a16="http://schemas.microsoft.com/office/drawing/2014/main" id="{9C10D7EA-6A29-74A3-5046-A7A5BA81CFEB}"/>
              </a:ext>
            </a:extLst>
          </p:cNvPr>
          <p:cNvSpPr/>
          <p:nvPr/>
        </p:nvSpPr>
        <p:spPr>
          <a:xfrm>
            <a:off x="1819899"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LINEからプッシュ</a:t>
            </a:r>
            <a:endParaRPr lang="en-US" altLang="ja-JP" sz="750" dirty="0">
              <a:latin typeface="メイリオ" panose="020B0604030504040204" pitchFamily="50" charset="-128"/>
              <a:ea typeface="メイリオ" panose="020B0604030504040204" pitchFamily="50" charset="-128"/>
            </a:endParaRPr>
          </a:p>
        </p:txBody>
      </p:sp>
      <p:sp>
        <p:nvSpPr>
          <p:cNvPr id="250" name="Text 53">
            <a:extLst>
              <a:ext uri="{FF2B5EF4-FFF2-40B4-BE49-F238E27FC236}">
                <a16:creationId xmlns:a16="http://schemas.microsoft.com/office/drawing/2014/main" id="{9EC056C0-654F-C52F-62E6-8D47A6551C13}"/>
              </a:ext>
            </a:extLst>
          </p:cNvPr>
          <p:cNvSpPr/>
          <p:nvPr/>
        </p:nvSpPr>
        <p:spPr>
          <a:xfrm>
            <a:off x="3045195"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2" name="Shape 54">
            <a:extLst>
              <a:ext uri="{FF2B5EF4-FFF2-40B4-BE49-F238E27FC236}">
                <a16:creationId xmlns:a16="http://schemas.microsoft.com/office/drawing/2014/main" id="{834935BC-F5E7-BAED-6E85-E07CBFE19550}"/>
              </a:ext>
            </a:extLst>
          </p:cNvPr>
          <p:cNvSpPr/>
          <p:nvPr/>
        </p:nvSpPr>
        <p:spPr>
          <a:xfrm>
            <a:off x="3173211"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4" name="Shape 55">
            <a:extLst>
              <a:ext uri="{FF2B5EF4-FFF2-40B4-BE49-F238E27FC236}">
                <a16:creationId xmlns:a16="http://schemas.microsoft.com/office/drawing/2014/main" id="{6327123E-240D-2DFD-89A6-C68864B84618}"/>
              </a:ext>
            </a:extLst>
          </p:cNvPr>
          <p:cNvSpPr/>
          <p:nvPr/>
        </p:nvSpPr>
        <p:spPr>
          <a:xfrm>
            <a:off x="3228075"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6" name="Text 56">
            <a:extLst>
              <a:ext uri="{FF2B5EF4-FFF2-40B4-BE49-F238E27FC236}">
                <a16:creationId xmlns:a16="http://schemas.microsoft.com/office/drawing/2014/main" id="{0395E968-804F-D503-B217-5E6877EED965}"/>
              </a:ext>
            </a:extLst>
          </p:cNvPr>
          <p:cNvSpPr/>
          <p:nvPr/>
        </p:nvSpPr>
        <p:spPr>
          <a:xfrm>
            <a:off x="3228075"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8" name="Text 57">
            <a:extLst>
              <a:ext uri="{FF2B5EF4-FFF2-40B4-BE49-F238E27FC236}">
                <a16:creationId xmlns:a16="http://schemas.microsoft.com/office/drawing/2014/main" id="{1F68B74A-B629-3DFC-2CEE-48823841BEF3}"/>
              </a:ext>
            </a:extLst>
          </p:cNvPr>
          <p:cNvSpPr/>
          <p:nvPr/>
        </p:nvSpPr>
        <p:spPr>
          <a:xfrm>
            <a:off x="3447531"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KW自動応答→CV</a:t>
            </a:r>
            <a:endParaRPr lang="en-US" altLang="ja-JP" sz="850" dirty="0">
              <a:latin typeface="メイリオ" panose="020B0604030504040204" pitchFamily="50" charset="-128"/>
              <a:ea typeface="メイリオ" panose="020B0604030504040204" pitchFamily="50" charset="-128"/>
            </a:endParaRPr>
          </a:p>
        </p:txBody>
      </p:sp>
      <p:sp>
        <p:nvSpPr>
          <p:cNvPr id="260" name="Text 58">
            <a:extLst>
              <a:ext uri="{FF2B5EF4-FFF2-40B4-BE49-F238E27FC236}">
                <a16:creationId xmlns:a16="http://schemas.microsoft.com/office/drawing/2014/main" id="{31AA167F-1838-719F-81AA-E6D277EA6DCC}"/>
              </a:ext>
            </a:extLst>
          </p:cNvPr>
          <p:cNvSpPr/>
          <p:nvPr/>
        </p:nvSpPr>
        <p:spPr>
          <a:xfrm>
            <a:off x="3228075" y="4324887"/>
            <a:ext cx="1133856" cy="201168"/>
          </a:xfrm>
          <a:prstGeom prst="rect">
            <a:avLst/>
          </a:prstGeom>
          <a:noFill/>
          <a:ln/>
        </p:spPr>
        <p:txBody>
          <a:bodyPr wrap="square" lIns="0" tIns="0" rIns="0" bIns="0" rtlCol="0" anchor="ctr"/>
          <a:lstStyle/>
          <a:p>
            <a:pPr>
              <a:lnSpc>
                <a:spcPct val="115000"/>
              </a:lnSpc>
            </a:pPr>
            <a:r>
              <a:rPr lang="ja-JP" altLang="en-US" sz="750" dirty="0">
                <a:solidFill>
                  <a:srgbClr val="D0E8FF"/>
                </a:solidFill>
                <a:latin typeface="メイリオ" panose="020B0604030504040204" pitchFamily="50" charset="-128"/>
                <a:ea typeface="メイリオ" panose="020B0604030504040204" pitchFamily="50" charset="-128"/>
                <a:cs typeface="Calibri" pitchFamily="34" charset="-120"/>
              </a:rPr>
              <a:t>段階式自動応答で</a:t>
            </a: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CV</a:t>
            </a:r>
            <a:r>
              <a:rPr lang="ja-JP" altLang="en-US" sz="750" dirty="0">
                <a:solidFill>
                  <a:srgbClr val="D0E8FF"/>
                </a:solidFill>
                <a:latin typeface="メイリオ" panose="020B0604030504040204" pitchFamily="50" charset="-128"/>
                <a:ea typeface="メイリオ" panose="020B0604030504040204" pitchFamily="50" charset="-128"/>
                <a:cs typeface="Calibri" pitchFamily="34" charset="-120"/>
              </a:rPr>
              <a:t>まで</a:t>
            </a:r>
            <a:endParaRPr lang="en-US" altLang="ja-JP" sz="750" dirty="0">
              <a:latin typeface="メイリオ" panose="020B0604030504040204" pitchFamily="50" charset="-128"/>
              <a:ea typeface="メイリオ" panose="020B0604030504040204" pitchFamily="50" charset="-128"/>
            </a:endParaRPr>
          </a:p>
        </p:txBody>
      </p:sp>
      <p:sp>
        <p:nvSpPr>
          <p:cNvPr id="262" name="Shape 59">
            <a:extLst>
              <a:ext uri="{FF2B5EF4-FFF2-40B4-BE49-F238E27FC236}">
                <a16:creationId xmlns:a16="http://schemas.microsoft.com/office/drawing/2014/main" id="{158EC588-B65C-48B3-4271-EDA2EA270201}"/>
              </a:ext>
            </a:extLst>
          </p:cNvPr>
          <p:cNvSpPr/>
          <p:nvPr/>
        </p:nvSpPr>
        <p:spPr>
          <a:xfrm>
            <a:off x="265419" y="4842285"/>
            <a:ext cx="4541216" cy="1600804"/>
          </a:xfrm>
          <a:prstGeom prst="roundRect">
            <a:avLst>
              <a:gd name="adj" fmla="val 5263"/>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4" name="Shape 63">
            <a:extLst>
              <a:ext uri="{FF2B5EF4-FFF2-40B4-BE49-F238E27FC236}">
                <a16:creationId xmlns:a16="http://schemas.microsoft.com/office/drawing/2014/main" id="{1DCC50EF-FB92-09C8-A8AA-7A7EDB9B0146}"/>
              </a:ext>
            </a:extLst>
          </p:cNvPr>
          <p:cNvSpPr/>
          <p:nvPr/>
        </p:nvSpPr>
        <p:spPr>
          <a:xfrm>
            <a:off x="686043"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6" name="Text 64">
            <a:extLst>
              <a:ext uri="{FF2B5EF4-FFF2-40B4-BE49-F238E27FC236}">
                <a16:creationId xmlns:a16="http://schemas.microsoft.com/office/drawing/2014/main" id="{446B3B6C-4902-BBA2-7F54-3C24433597F1}"/>
              </a:ext>
            </a:extLst>
          </p:cNvPr>
          <p:cNvSpPr/>
          <p:nvPr/>
        </p:nvSpPr>
        <p:spPr>
          <a:xfrm>
            <a:off x="686043"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日程自動化</a:t>
            </a:r>
          </a:p>
        </p:txBody>
      </p:sp>
      <p:sp>
        <p:nvSpPr>
          <p:cNvPr id="268" name="Text 65">
            <a:extLst>
              <a:ext uri="{FF2B5EF4-FFF2-40B4-BE49-F238E27FC236}">
                <a16:creationId xmlns:a16="http://schemas.microsoft.com/office/drawing/2014/main" id="{43250F18-B2EB-58ED-89E5-9D277C0A5794}"/>
              </a:ext>
            </a:extLst>
          </p:cNvPr>
          <p:cNvSpPr/>
          <p:nvPr/>
        </p:nvSpPr>
        <p:spPr>
          <a:xfrm>
            <a:off x="1545579" y="4924581"/>
            <a:ext cx="3319066" cy="256032"/>
          </a:xfrm>
          <a:prstGeom prst="rect">
            <a:avLst/>
          </a:prstGeom>
          <a:noFill/>
          <a:ln/>
        </p:spPr>
        <p:txBody>
          <a:bodyPr wrap="square" lIns="0" tIns="0" rIns="0" bIns="0" rtlCol="0" anchor="ctr"/>
          <a:lstStyle/>
          <a:p>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日程調整自動化で、検討前に商談確定</a:t>
            </a:r>
          </a:p>
        </p:txBody>
      </p:sp>
      <p:sp>
        <p:nvSpPr>
          <p:cNvPr id="270" name="Text 66">
            <a:extLst>
              <a:ext uri="{FF2B5EF4-FFF2-40B4-BE49-F238E27FC236}">
                <a16:creationId xmlns:a16="http://schemas.microsoft.com/office/drawing/2014/main" id="{251E5163-4BD4-2320-E1D0-DC825BC643E2}"/>
              </a:ext>
            </a:extLst>
          </p:cNvPr>
          <p:cNvSpPr/>
          <p:nvPr/>
        </p:nvSpPr>
        <p:spPr>
          <a:xfrm>
            <a:off x="356859" y="5226333"/>
            <a:ext cx="4449774" cy="457200"/>
          </a:xfrm>
          <a:prstGeom prst="rect">
            <a:avLst/>
          </a:prstGeom>
          <a:noFill/>
          <a:ln/>
        </p:spPr>
        <p:txBody>
          <a:bodyPr wrap="square" lIns="0" tIns="0" rIns="0" bIns="0" rtlCol="0" anchor="ctr"/>
          <a:lstStyle/>
          <a:p>
            <a:pPr>
              <a:lnSpc>
                <a:spcPct val="135000"/>
              </a:lnSpc>
            </a:pPr>
            <a:r>
              <a:rPr lang="ja-JP" altLang="en-US" sz="850" dirty="0">
                <a:solidFill>
                  <a:srgbClr val="4A4A6A"/>
                </a:solidFill>
                <a:latin typeface="メイリオ" panose="020B0604030504040204" pitchFamily="50" charset="-128"/>
                <a:ea typeface="メイリオ" panose="020B0604030504040204" pitchFamily="50" charset="-128"/>
                <a:cs typeface="Calibri" pitchFamily="34" charset="-120"/>
              </a:rPr>
              <a:t>「面談を希望します」と入力した瞬間にカレンダー連携で候補日程を自動提示→タップで選択→確定通知＋リマインドを自動送付。「後で連絡します」のやり取りで冷めるのを防ぎ、温度感が高いまま商談へ。</a:t>
            </a:r>
          </a:p>
        </p:txBody>
      </p:sp>
      <p:sp>
        <p:nvSpPr>
          <p:cNvPr id="272" name="Shape 68">
            <a:extLst>
              <a:ext uri="{FF2B5EF4-FFF2-40B4-BE49-F238E27FC236}">
                <a16:creationId xmlns:a16="http://schemas.microsoft.com/office/drawing/2014/main" id="{971EF85D-2530-7E85-695D-21576E3399C6}"/>
              </a:ext>
            </a:extLst>
          </p:cNvPr>
          <p:cNvSpPr/>
          <p:nvPr/>
        </p:nvSpPr>
        <p:spPr>
          <a:xfrm>
            <a:off x="430011" y="6011955"/>
            <a:ext cx="420624" cy="219456"/>
          </a:xfrm>
          <a:prstGeom prst="roundRect">
            <a:avLst>
              <a:gd name="adj" fmla="val 16667"/>
            </a:avLst>
          </a:prstGeom>
          <a:solidFill>
            <a:srgbClr val="E6A020"/>
          </a:solidFill>
          <a:ln w="12700">
            <a:solidFill>
              <a:srgbClr val="E6A02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4" name="Text 69">
            <a:extLst>
              <a:ext uri="{FF2B5EF4-FFF2-40B4-BE49-F238E27FC236}">
                <a16:creationId xmlns:a16="http://schemas.microsoft.com/office/drawing/2014/main" id="{C61543A0-6CA4-B8A9-BABF-E3F296767C9F}"/>
              </a:ext>
            </a:extLst>
          </p:cNvPr>
          <p:cNvSpPr/>
          <p:nvPr/>
        </p:nvSpPr>
        <p:spPr>
          <a:xfrm>
            <a:off x="430011" y="6011955"/>
            <a:ext cx="420624" cy="219456"/>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現場注意</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6" name="Shape 71">
            <a:extLst>
              <a:ext uri="{FF2B5EF4-FFF2-40B4-BE49-F238E27FC236}">
                <a16:creationId xmlns:a16="http://schemas.microsoft.com/office/drawing/2014/main" id="{711A428D-8DE9-E0B6-1327-82CC5DEC5364}"/>
              </a:ext>
            </a:extLst>
          </p:cNvPr>
          <p:cNvSpPr/>
          <p:nvPr/>
        </p:nvSpPr>
        <p:spPr>
          <a:xfrm>
            <a:off x="356859"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8" name="Shape 72">
            <a:extLst>
              <a:ext uri="{FF2B5EF4-FFF2-40B4-BE49-F238E27FC236}">
                <a16:creationId xmlns:a16="http://schemas.microsoft.com/office/drawing/2014/main" id="{A6F2A656-9918-5CCF-081B-90932FB7B31A}"/>
              </a:ext>
            </a:extLst>
          </p:cNvPr>
          <p:cNvSpPr/>
          <p:nvPr/>
        </p:nvSpPr>
        <p:spPr>
          <a:xfrm>
            <a:off x="411723"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80" name="Text 73">
            <a:extLst>
              <a:ext uri="{FF2B5EF4-FFF2-40B4-BE49-F238E27FC236}">
                <a16:creationId xmlns:a16="http://schemas.microsoft.com/office/drawing/2014/main" id="{939DCB1A-68BA-D577-ECE4-D4DFF019EA70}"/>
              </a:ext>
            </a:extLst>
          </p:cNvPr>
          <p:cNvSpPr/>
          <p:nvPr/>
        </p:nvSpPr>
        <p:spPr>
          <a:xfrm>
            <a:off x="4117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2" name="Text 74">
            <a:extLst>
              <a:ext uri="{FF2B5EF4-FFF2-40B4-BE49-F238E27FC236}">
                <a16:creationId xmlns:a16="http://schemas.microsoft.com/office/drawing/2014/main" id="{85D30E2A-FEB3-5FD0-BE47-D36B7C7ADC4B}"/>
              </a:ext>
            </a:extLst>
          </p:cNvPr>
          <p:cNvSpPr/>
          <p:nvPr/>
        </p:nvSpPr>
        <p:spPr>
          <a:xfrm>
            <a:off x="631179" y="5957091"/>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面談希望」入力</a:t>
            </a:r>
            <a:endParaRPr lang="en-US" altLang="ja-JP" sz="850" dirty="0">
              <a:latin typeface="メイリオ" panose="020B0604030504040204" pitchFamily="50" charset="-128"/>
              <a:ea typeface="メイリオ" panose="020B0604030504040204" pitchFamily="50" charset="-128"/>
            </a:endParaRPr>
          </a:p>
        </p:txBody>
      </p:sp>
      <p:sp>
        <p:nvSpPr>
          <p:cNvPr id="284" name="Text 75">
            <a:extLst>
              <a:ext uri="{FF2B5EF4-FFF2-40B4-BE49-F238E27FC236}">
                <a16:creationId xmlns:a16="http://schemas.microsoft.com/office/drawing/2014/main" id="{1D748291-A5CD-A534-775B-B4EBF567F665}"/>
              </a:ext>
            </a:extLst>
          </p:cNvPr>
          <p:cNvSpPr/>
          <p:nvPr/>
        </p:nvSpPr>
        <p:spPr>
          <a:xfrm>
            <a:off x="4117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即・日程提示</a:t>
            </a:r>
            <a:endParaRPr lang="en-US" altLang="ja-JP" sz="750" dirty="0">
              <a:latin typeface="メイリオ" panose="020B0604030504040204" pitchFamily="50" charset="-128"/>
              <a:ea typeface="メイリオ" panose="020B0604030504040204" pitchFamily="50" charset="-128"/>
            </a:endParaRPr>
          </a:p>
        </p:txBody>
      </p:sp>
      <p:sp>
        <p:nvSpPr>
          <p:cNvPr id="286" name="Text 76">
            <a:extLst>
              <a:ext uri="{FF2B5EF4-FFF2-40B4-BE49-F238E27FC236}">
                <a16:creationId xmlns:a16="http://schemas.microsoft.com/office/drawing/2014/main" id="{6D85AEBA-8759-4590-2BD5-991827894447}"/>
              </a:ext>
            </a:extLst>
          </p:cNvPr>
          <p:cNvSpPr/>
          <p:nvPr/>
        </p:nvSpPr>
        <p:spPr>
          <a:xfrm>
            <a:off x="1637019"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8" name="Shape 77">
            <a:extLst>
              <a:ext uri="{FF2B5EF4-FFF2-40B4-BE49-F238E27FC236}">
                <a16:creationId xmlns:a16="http://schemas.microsoft.com/office/drawing/2014/main" id="{32D27DAD-D2AF-DBAD-F818-E996C478DEC9}"/>
              </a:ext>
            </a:extLst>
          </p:cNvPr>
          <p:cNvSpPr/>
          <p:nvPr/>
        </p:nvSpPr>
        <p:spPr>
          <a:xfrm>
            <a:off x="1765035"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0" name="Shape 78">
            <a:extLst>
              <a:ext uri="{FF2B5EF4-FFF2-40B4-BE49-F238E27FC236}">
                <a16:creationId xmlns:a16="http://schemas.microsoft.com/office/drawing/2014/main" id="{638800F5-D582-38D9-A3E4-C35550FAF436}"/>
              </a:ext>
            </a:extLst>
          </p:cNvPr>
          <p:cNvSpPr/>
          <p:nvPr/>
        </p:nvSpPr>
        <p:spPr>
          <a:xfrm>
            <a:off x="1819899"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2" name="Text 79">
            <a:extLst>
              <a:ext uri="{FF2B5EF4-FFF2-40B4-BE49-F238E27FC236}">
                <a16:creationId xmlns:a16="http://schemas.microsoft.com/office/drawing/2014/main" id="{4FE98861-5470-BC0D-C54A-2F4F47BBE9EF}"/>
              </a:ext>
            </a:extLst>
          </p:cNvPr>
          <p:cNvSpPr/>
          <p:nvPr/>
        </p:nvSpPr>
        <p:spPr>
          <a:xfrm>
            <a:off x="1819899"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4" name="Text 80">
            <a:extLst>
              <a:ext uri="{FF2B5EF4-FFF2-40B4-BE49-F238E27FC236}">
                <a16:creationId xmlns:a16="http://schemas.microsoft.com/office/drawing/2014/main" id="{12FEA545-2A73-5AFD-1BD2-9F4325BD29F7}"/>
              </a:ext>
            </a:extLst>
          </p:cNvPr>
          <p:cNvSpPr/>
          <p:nvPr/>
        </p:nvSpPr>
        <p:spPr>
          <a:xfrm>
            <a:off x="2039355"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タップで日程確定</a:t>
            </a:r>
            <a:endParaRPr lang="en-US" altLang="ja-JP" sz="850" dirty="0">
              <a:latin typeface="メイリオ" panose="020B0604030504040204" pitchFamily="50" charset="-128"/>
              <a:ea typeface="メイリオ" panose="020B0604030504040204" pitchFamily="50" charset="-128"/>
            </a:endParaRPr>
          </a:p>
        </p:txBody>
      </p:sp>
      <p:sp>
        <p:nvSpPr>
          <p:cNvPr id="296" name="Text 81">
            <a:extLst>
              <a:ext uri="{FF2B5EF4-FFF2-40B4-BE49-F238E27FC236}">
                <a16:creationId xmlns:a16="http://schemas.microsoft.com/office/drawing/2014/main" id="{092A8A0A-B8FB-B1A7-1FCB-9EA219E6BFDE}"/>
              </a:ext>
            </a:extLst>
          </p:cNvPr>
          <p:cNvSpPr/>
          <p:nvPr/>
        </p:nvSpPr>
        <p:spPr>
          <a:xfrm>
            <a:off x="1819899"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メール往復ゼロ</a:t>
            </a:r>
            <a:endParaRPr lang="en-US" altLang="ja-JP" sz="750" dirty="0">
              <a:latin typeface="メイリオ" panose="020B0604030504040204" pitchFamily="50" charset="-128"/>
              <a:ea typeface="メイリオ" panose="020B0604030504040204" pitchFamily="50" charset="-128"/>
            </a:endParaRPr>
          </a:p>
        </p:txBody>
      </p:sp>
      <p:sp>
        <p:nvSpPr>
          <p:cNvPr id="298" name="Text 82">
            <a:extLst>
              <a:ext uri="{FF2B5EF4-FFF2-40B4-BE49-F238E27FC236}">
                <a16:creationId xmlns:a16="http://schemas.microsoft.com/office/drawing/2014/main" id="{A95A046B-C53A-FDCE-5111-F5834D0CA584}"/>
              </a:ext>
            </a:extLst>
          </p:cNvPr>
          <p:cNvSpPr/>
          <p:nvPr/>
        </p:nvSpPr>
        <p:spPr>
          <a:xfrm>
            <a:off x="3045195"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0" name="Shape 83">
            <a:extLst>
              <a:ext uri="{FF2B5EF4-FFF2-40B4-BE49-F238E27FC236}">
                <a16:creationId xmlns:a16="http://schemas.microsoft.com/office/drawing/2014/main" id="{19A246E9-D30A-1092-6D5A-555407259AB3}"/>
              </a:ext>
            </a:extLst>
          </p:cNvPr>
          <p:cNvSpPr/>
          <p:nvPr/>
        </p:nvSpPr>
        <p:spPr>
          <a:xfrm>
            <a:off x="3173211"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2" name="Shape 84">
            <a:extLst>
              <a:ext uri="{FF2B5EF4-FFF2-40B4-BE49-F238E27FC236}">
                <a16:creationId xmlns:a16="http://schemas.microsoft.com/office/drawing/2014/main" id="{9CFB5A33-6601-FA88-5E14-AD083E8A974F}"/>
              </a:ext>
            </a:extLst>
          </p:cNvPr>
          <p:cNvSpPr/>
          <p:nvPr/>
        </p:nvSpPr>
        <p:spPr>
          <a:xfrm>
            <a:off x="3228075"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4" name="Text 85">
            <a:extLst>
              <a:ext uri="{FF2B5EF4-FFF2-40B4-BE49-F238E27FC236}">
                <a16:creationId xmlns:a16="http://schemas.microsoft.com/office/drawing/2014/main" id="{115C0B2B-98C8-8B25-3BBF-1156626D6C87}"/>
              </a:ext>
            </a:extLst>
          </p:cNvPr>
          <p:cNvSpPr/>
          <p:nvPr/>
        </p:nvSpPr>
        <p:spPr>
          <a:xfrm>
            <a:off x="3228075"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6" name="Text 86">
            <a:extLst>
              <a:ext uri="{FF2B5EF4-FFF2-40B4-BE49-F238E27FC236}">
                <a16:creationId xmlns:a16="http://schemas.microsoft.com/office/drawing/2014/main" id="{A407CA47-3CF8-760D-6BA8-0DF95F970630}"/>
              </a:ext>
            </a:extLst>
          </p:cNvPr>
          <p:cNvSpPr/>
          <p:nvPr/>
        </p:nvSpPr>
        <p:spPr>
          <a:xfrm>
            <a:off x="3447530" y="5957091"/>
            <a:ext cx="1060705"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リマインド自動送付</a:t>
            </a:r>
            <a:endParaRPr lang="en-US" altLang="ja-JP" sz="850" dirty="0">
              <a:latin typeface="メイリオ" panose="020B0604030504040204" pitchFamily="50" charset="-128"/>
              <a:ea typeface="メイリオ" panose="020B0604030504040204" pitchFamily="50" charset="-128"/>
            </a:endParaRPr>
          </a:p>
        </p:txBody>
      </p:sp>
      <p:sp>
        <p:nvSpPr>
          <p:cNvPr id="308" name="Text 87">
            <a:extLst>
              <a:ext uri="{FF2B5EF4-FFF2-40B4-BE49-F238E27FC236}">
                <a16:creationId xmlns:a16="http://schemas.microsoft.com/office/drawing/2014/main" id="{4168941F-0BBB-6115-B5E7-6928BD42FC99}"/>
              </a:ext>
            </a:extLst>
          </p:cNvPr>
          <p:cNvSpPr/>
          <p:nvPr/>
        </p:nvSpPr>
        <p:spPr>
          <a:xfrm>
            <a:off x="3228075"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ドタキャン率低下</a:t>
            </a:r>
            <a:endParaRPr lang="en-US" altLang="ja-JP" sz="750" dirty="0">
              <a:latin typeface="メイリオ" panose="020B0604030504040204" pitchFamily="50" charset="-128"/>
              <a:ea typeface="メイリオ" panose="020B0604030504040204" pitchFamily="50" charset="-128"/>
            </a:endParaRPr>
          </a:p>
        </p:txBody>
      </p:sp>
      <p:sp>
        <p:nvSpPr>
          <p:cNvPr id="310" name="Shape 88">
            <a:extLst>
              <a:ext uri="{FF2B5EF4-FFF2-40B4-BE49-F238E27FC236}">
                <a16:creationId xmlns:a16="http://schemas.microsoft.com/office/drawing/2014/main" id="{25BA7DFC-080F-45BC-1CEB-0E2FA1036911}"/>
              </a:ext>
            </a:extLst>
          </p:cNvPr>
          <p:cNvSpPr/>
          <p:nvPr/>
        </p:nvSpPr>
        <p:spPr>
          <a:xfrm>
            <a:off x="5099366" y="2999769"/>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12" name="Shape 92">
            <a:extLst>
              <a:ext uri="{FF2B5EF4-FFF2-40B4-BE49-F238E27FC236}">
                <a16:creationId xmlns:a16="http://schemas.microsoft.com/office/drawing/2014/main" id="{05737E4A-7E87-3F90-A1F5-285284CA80FB}"/>
              </a:ext>
            </a:extLst>
          </p:cNvPr>
          <p:cNvSpPr/>
          <p:nvPr/>
        </p:nvSpPr>
        <p:spPr>
          <a:xfrm>
            <a:off x="5519991"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14" name="Text 93">
            <a:extLst>
              <a:ext uri="{FF2B5EF4-FFF2-40B4-BE49-F238E27FC236}">
                <a16:creationId xmlns:a16="http://schemas.microsoft.com/office/drawing/2014/main" id="{F29C5B70-F57E-D134-7E8F-7689219DE10A}"/>
              </a:ext>
            </a:extLst>
          </p:cNvPr>
          <p:cNvSpPr/>
          <p:nvPr/>
        </p:nvSpPr>
        <p:spPr>
          <a:xfrm>
            <a:off x="5519991"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体験談配信</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6" name="Text 94">
            <a:extLst>
              <a:ext uri="{FF2B5EF4-FFF2-40B4-BE49-F238E27FC236}">
                <a16:creationId xmlns:a16="http://schemas.microsoft.com/office/drawing/2014/main" id="{FCC6DF42-A77D-8CE5-0ECF-48B3E50916B0}"/>
              </a:ext>
            </a:extLst>
          </p:cNvPr>
          <p:cNvSpPr/>
          <p:nvPr/>
        </p:nvSpPr>
        <p:spPr>
          <a:xfrm>
            <a:off x="6379527" y="3082065"/>
            <a:ext cx="3319066" cy="256032"/>
          </a:xfrm>
          <a:prstGeom prst="rect">
            <a:avLst/>
          </a:prstGeom>
          <a:noFill/>
          <a:ln/>
        </p:spPr>
        <p:txBody>
          <a:bodyPr wrap="square" lIns="0" tIns="0" rIns="0" bIns="0" rtlCol="0" anchor="ctr"/>
          <a:lstStyle/>
          <a:p>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利用イメージ</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コンテンツ</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で利用想起</a:t>
            </a:r>
            <a:endParaRPr lang="en-US" altLang="ja-JP" sz="1100" dirty="0">
              <a:latin typeface="メイリオ" panose="020B0604030504040204" pitchFamily="50" charset="-128"/>
              <a:ea typeface="メイリオ" panose="020B0604030504040204" pitchFamily="50" charset="-128"/>
            </a:endParaRPr>
          </a:p>
        </p:txBody>
      </p:sp>
      <p:sp>
        <p:nvSpPr>
          <p:cNvPr id="318" name="Text 95">
            <a:extLst>
              <a:ext uri="{FF2B5EF4-FFF2-40B4-BE49-F238E27FC236}">
                <a16:creationId xmlns:a16="http://schemas.microsoft.com/office/drawing/2014/main" id="{C1491931-3BA8-2594-BE3C-4EBDCD6864BF}"/>
              </a:ext>
            </a:extLst>
          </p:cNvPr>
          <p:cNvSpPr/>
          <p:nvPr/>
        </p:nvSpPr>
        <p:spPr>
          <a:xfrm>
            <a:off x="5190807" y="3383817"/>
            <a:ext cx="4449774" cy="493776"/>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申込を迷っているユーザーに「〇〇を始めて3ヶ月の方の今」「先輩ユーザーの1週間スケジュール」などリアルな体験談をLINEで定期配信。「</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買った後どうなるか」の不安を、実際のユーザー事例で解消する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320" name="Shape 96">
            <a:extLst>
              <a:ext uri="{FF2B5EF4-FFF2-40B4-BE49-F238E27FC236}">
                <a16:creationId xmlns:a16="http://schemas.microsoft.com/office/drawing/2014/main" id="{9114BF09-7036-90AC-D9C8-0C172510E7C2}"/>
              </a:ext>
            </a:extLst>
          </p:cNvPr>
          <p:cNvSpPr/>
          <p:nvPr/>
        </p:nvSpPr>
        <p:spPr>
          <a:xfrm>
            <a:off x="5190807"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2" name="Shape 97">
            <a:extLst>
              <a:ext uri="{FF2B5EF4-FFF2-40B4-BE49-F238E27FC236}">
                <a16:creationId xmlns:a16="http://schemas.microsoft.com/office/drawing/2014/main" id="{1382F6BB-3947-2399-C34B-C78B6937D2DA}"/>
              </a:ext>
            </a:extLst>
          </p:cNvPr>
          <p:cNvSpPr/>
          <p:nvPr/>
        </p:nvSpPr>
        <p:spPr>
          <a:xfrm>
            <a:off x="5245671"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4" name="Text 98">
            <a:extLst>
              <a:ext uri="{FF2B5EF4-FFF2-40B4-BE49-F238E27FC236}">
                <a16:creationId xmlns:a16="http://schemas.microsoft.com/office/drawing/2014/main" id="{7CAD0DE0-345C-F621-25D3-89CEBC9C59EB}"/>
              </a:ext>
            </a:extLst>
          </p:cNvPr>
          <p:cNvSpPr/>
          <p:nvPr/>
        </p:nvSpPr>
        <p:spPr>
          <a:xfrm>
            <a:off x="5245671"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26" name="Text 99">
            <a:extLst>
              <a:ext uri="{FF2B5EF4-FFF2-40B4-BE49-F238E27FC236}">
                <a16:creationId xmlns:a16="http://schemas.microsoft.com/office/drawing/2014/main" id="{488ED467-36DE-30E3-BF80-C9BE8B1CF783}"/>
              </a:ext>
            </a:extLst>
          </p:cNvPr>
          <p:cNvSpPr/>
          <p:nvPr/>
        </p:nvSpPr>
        <p:spPr>
          <a:xfrm>
            <a:off x="5465127"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体験談コンテンツ</a:t>
            </a:r>
            <a:endParaRPr lang="en-US" altLang="ja-JP" sz="850" dirty="0">
              <a:latin typeface="メイリオ" panose="020B0604030504040204" pitchFamily="50" charset="-128"/>
              <a:ea typeface="メイリオ" panose="020B0604030504040204" pitchFamily="50" charset="-128"/>
            </a:endParaRPr>
          </a:p>
        </p:txBody>
      </p:sp>
      <p:sp>
        <p:nvSpPr>
          <p:cNvPr id="328" name="Text 100">
            <a:extLst>
              <a:ext uri="{FF2B5EF4-FFF2-40B4-BE49-F238E27FC236}">
                <a16:creationId xmlns:a16="http://schemas.microsoft.com/office/drawing/2014/main" id="{49A04842-DDE9-37E6-1E8D-79BF82BE9FA9}"/>
              </a:ext>
            </a:extLst>
          </p:cNvPr>
          <p:cNvSpPr/>
          <p:nvPr/>
        </p:nvSpPr>
        <p:spPr>
          <a:xfrm>
            <a:off x="5245671"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写真・動画・レポート</a:t>
            </a:r>
            <a:endParaRPr lang="en-US" altLang="ja-JP" sz="750" dirty="0">
              <a:latin typeface="メイリオ" panose="020B0604030504040204" pitchFamily="50" charset="-128"/>
              <a:ea typeface="メイリオ" panose="020B0604030504040204" pitchFamily="50" charset="-128"/>
            </a:endParaRPr>
          </a:p>
        </p:txBody>
      </p:sp>
      <p:sp>
        <p:nvSpPr>
          <p:cNvPr id="330" name="Text 101">
            <a:extLst>
              <a:ext uri="{FF2B5EF4-FFF2-40B4-BE49-F238E27FC236}">
                <a16:creationId xmlns:a16="http://schemas.microsoft.com/office/drawing/2014/main" id="{5E2DEEEF-3ABB-D51C-CB78-AD0E64E26029}"/>
              </a:ext>
            </a:extLst>
          </p:cNvPr>
          <p:cNvSpPr/>
          <p:nvPr/>
        </p:nvSpPr>
        <p:spPr>
          <a:xfrm>
            <a:off x="6470967"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32" name="Shape 102">
            <a:extLst>
              <a:ext uri="{FF2B5EF4-FFF2-40B4-BE49-F238E27FC236}">
                <a16:creationId xmlns:a16="http://schemas.microsoft.com/office/drawing/2014/main" id="{583FCA0F-3FAB-2529-936B-557E5CDD8BFF}"/>
              </a:ext>
            </a:extLst>
          </p:cNvPr>
          <p:cNvSpPr/>
          <p:nvPr/>
        </p:nvSpPr>
        <p:spPr>
          <a:xfrm>
            <a:off x="6598983"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4" name="Shape 103">
            <a:extLst>
              <a:ext uri="{FF2B5EF4-FFF2-40B4-BE49-F238E27FC236}">
                <a16:creationId xmlns:a16="http://schemas.microsoft.com/office/drawing/2014/main" id="{46DA626B-859D-0A40-A6EC-EBD75A52A80D}"/>
              </a:ext>
            </a:extLst>
          </p:cNvPr>
          <p:cNvSpPr/>
          <p:nvPr/>
        </p:nvSpPr>
        <p:spPr>
          <a:xfrm>
            <a:off x="6653847"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6" name="Text 104">
            <a:extLst>
              <a:ext uri="{FF2B5EF4-FFF2-40B4-BE49-F238E27FC236}">
                <a16:creationId xmlns:a16="http://schemas.microsoft.com/office/drawing/2014/main" id="{751B80C7-91E9-70BD-A17B-7A4E723D4D8C}"/>
              </a:ext>
            </a:extLst>
          </p:cNvPr>
          <p:cNvSpPr/>
          <p:nvPr/>
        </p:nvSpPr>
        <p:spPr>
          <a:xfrm>
            <a:off x="6653847"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38" name="Text 105">
            <a:extLst>
              <a:ext uri="{FF2B5EF4-FFF2-40B4-BE49-F238E27FC236}">
                <a16:creationId xmlns:a16="http://schemas.microsoft.com/office/drawing/2014/main" id="{A7ABE51D-147A-4B8A-9A19-112FACBFFA1D}"/>
              </a:ext>
            </a:extLst>
          </p:cNvPr>
          <p:cNvSpPr/>
          <p:nvPr/>
        </p:nvSpPr>
        <p:spPr>
          <a:xfrm>
            <a:off x="6873303" y="4114575"/>
            <a:ext cx="914400" cy="182880"/>
          </a:xfrm>
          <a:prstGeom prst="rect">
            <a:avLst/>
          </a:prstGeom>
          <a:noFill/>
          <a:ln/>
        </p:spPr>
        <p:txBody>
          <a:bodyPr wrap="square" lIns="0" tIns="0" rIns="0" bIns="0" rtlCol="0" anchor="ctr"/>
          <a:lstStyle/>
          <a:p>
            <a:r>
              <a:rPr lang="ja-JP" altLang="en-US" sz="850" dirty="0">
                <a:latin typeface="メイリオ" panose="020B0604030504040204" pitchFamily="50" charset="-128"/>
                <a:ea typeface="メイリオ" panose="020B0604030504040204" pitchFamily="50" charset="-128"/>
              </a:rPr>
              <a:t>不安払しょく</a:t>
            </a:r>
            <a:endParaRPr lang="en-US" altLang="ja-JP" sz="850" dirty="0">
              <a:latin typeface="メイリオ" panose="020B0604030504040204" pitchFamily="50" charset="-128"/>
              <a:ea typeface="メイリオ" panose="020B0604030504040204" pitchFamily="50" charset="-128"/>
            </a:endParaRPr>
          </a:p>
        </p:txBody>
      </p:sp>
      <p:sp>
        <p:nvSpPr>
          <p:cNvPr id="340" name="Text 106">
            <a:extLst>
              <a:ext uri="{FF2B5EF4-FFF2-40B4-BE49-F238E27FC236}">
                <a16:creationId xmlns:a16="http://schemas.microsoft.com/office/drawing/2014/main" id="{318494AB-2707-1129-BA71-E24AAAEEA5FA}"/>
              </a:ext>
            </a:extLst>
          </p:cNvPr>
          <p:cNvSpPr/>
          <p:nvPr/>
        </p:nvSpPr>
        <p:spPr>
          <a:xfrm>
            <a:off x="6653847"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購入後イメージ醸成</a:t>
            </a:r>
            <a:endParaRPr lang="en-US" altLang="ja-JP" sz="750" dirty="0">
              <a:latin typeface="メイリオ" panose="020B0604030504040204" pitchFamily="50" charset="-128"/>
              <a:ea typeface="メイリオ" panose="020B0604030504040204" pitchFamily="50" charset="-128"/>
            </a:endParaRPr>
          </a:p>
        </p:txBody>
      </p:sp>
      <p:sp>
        <p:nvSpPr>
          <p:cNvPr id="342" name="Text 107">
            <a:extLst>
              <a:ext uri="{FF2B5EF4-FFF2-40B4-BE49-F238E27FC236}">
                <a16:creationId xmlns:a16="http://schemas.microsoft.com/office/drawing/2014/main" id="{D2A81EF1-BC58-1253-ECD2-53DF3B40891F}"/>
              </a:ext>
            </a:extLst>
          </p:cNvPr>
          <p:cNvSpPr/>
          <p:nvPr/>
        </p:nvSpPr>
        <p:spPr>
          <a:xfrm>
            <a:off x="7879143"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44" name="Shape 108">
            <a:extLst>
              <a:ext uri="{FF2B5EF4-FFF2-40B4-BE49-F238E27FC236}">
                <a16:creationId xmlns:a16="http://schemas.microsoft.com/office/drawing/2014/main" id="{0417CEED-7C17-F2CD-95E5-6BA2C686EE12}"/>
              </a:ext>
            </a:extLst>
          </p:cNvPr>
          <p:cNvSpPr/>
          <p:nvPr/>
        </p:nvSpPr>
        <p:spPr>
          <a:xfrm>
            <a:off x="8007159"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46" name="Shape 109">
            <a:extLst>
              <a:ext uri="{FF2B5EF4-FFF2-40B4-BE49-F238E27FC236}">
                <a16:creationId xmlns:a16="http://schemas.microsoft.com/office/drawing/2014/main" id="{BE5D8431-CA60-5904-8740-E1668BC7E91C}"/>
              </a:ext>
            </a:extLst>
          </p:cNvPr>
          <p:cNvSpPr/>
          <p:nvPr/>
        </p:nvSpPr>
        <p:spPr>
          <a:xfrm>
            <a:off x="8062023"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48" name="Text 110">
            <a:extLst>
              <a:ext uri="{FF2B5EF4-FFF2-40B4-BE49-F238E27FC236}">
                <a16:creationId xmlns:a16="http://schemas.microsoft.com/office/drawing/2014/main" id="{DE57ABB2-07C3-A007-67C2-E95C551B1B58}"/>
              </a:ext>
            </a:extLst>
          </p:cNvPr>
          <p:cNvSpPr/>
          <p:nvPr/>
        </p:nvSpPr>
        <p:spPr>
          <a:xfrm>
            <a:off x="80620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50" name="Text 111">
            <a:extLst>
              <a:ext uri="{FF2B5EF4-FFF2-40B4-BE49-F238E27FC236}">
                <a16:creationId xmlns:a16="http://schemas.microsoft.com/office/drawing/2014/main" id="{94D9AB7C-B1F7-BB2D-6801-2EC11474714E}"/>
              </a:ext>
            </a:extLst>
          </p:cNvPr>
          <p:cNvSpPr/>
          <p:nvPr/>
        </p:nvSpPr>
        <p:spPr>
          <a:xfrm>
            <a:off x="8281479"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申込前ユーザーCV</a:t>
            </a:r>
            <a:endParaRPr lang="en-US" altLang="ja-JP" sz="850" dirty="0">
              <a:latin typeface="メイリオ" panose="020B0604030504040204" pitchFamily="50" charset="-128"/>
              <a:ea typeface="メイリオ" panose="020B0604030504040204" pitchFamily="50" charset="-128"/>
            </a:endParaRPr>
          </a:p>
        </p:txBody>
      </p:sp>
      <p:sp>
        <p:nvSpPr>
          <p:cNvPr id="352" name="Text 112">
            <a:extLst>
              <a:ext uri="{FF2B5EF4-FFF2-40B4-BE49-F238E27FC236}">
                <a16:creationId xmlns:a16="http://schemas.microsoft.com/office/drawing/2014/main" id="{FD2DA1A7-F345-DFC3-8751-889A3BEA99AB}"/>
              </a:ext>
            </a:extLst>
          </p:cNvPr>
          <p:cNvSpPr/>
          <p:nvPr/>
        </p:nvSpPr>
        <p:spPr>
          <a:xfrm>
            <a:off x="8062023"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a:t>
            </a: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安心して申込めた</a:t>
            </a: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a:t>
            </a:r>
            <a:endParaRPr lang="en-US" altLang="ja-JP" sz="750" dirty="0">
              <a:latin typeface="メイリオ" panose="020B0604030504040204" pitchFamily="50" charset="-128"/>
              <a:ea typeface="メイリオ" panose="020B0604030504040204" pitchFamily="50" charset="-128"/>
            </a:endParaRPr>
          </a:p>
        </p:txBody>
      </p:sp>
      <p:sp>
        <p:nvSpPr>
          <p:cNvPr id="354" name="Shape 113">
            <a:extLst>
              <a:ext uri="{FF2B5EF4-FFF2-40B4-BE49-F238E27FC236}">
                <a16:creationId xmlns:a16="http://schemas.microsoft.com/office/drawing/2014/main" id="{A3968D0A-D5A3-B6DF-A4E1-5C8230BDD229}"/>
              </a:ext>
            </a:extLst>
          </p:cNvPr>
          <p:cNvSpPr/>
          <p:nvPr/>
        </p:nvSpPr>
        <p:spPr>
          <a:xfrm>
            <a:off x="5099366" y="4842285"/>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6" name="Shape 117">
            <a:extLst>
              <a:ext uri="{FF2B5EF4-FFF2-40B4-BE49-F238E27FC236}">
                <a16:creationId xmlns:a16="http://schemas.microsoft.com/office/drawing/2014/main" id="{D69FAC34-5229-FB00-C4A2-B94AD64E02AC}"/>
              </a:ext>
            </a:extLst>
          </p:cNvPr>
          <p:cNvSpPr/>
          <p:nvPr/>
        </p:nvSpPr>
        <p:spPr>
          <a:xfrm>
            <a:off x="5519991"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8" name="Text 118">
            <a:extLst>
              <a:ext uri="{FF2B5EF4-FFF2-40B4-BE49-F238E27FC236}">
                <a16:creationId xmlns:a16="http://schemas.microsoft.com/office/drawing/2014/main" id="{2DF5057F-5690-994B-B840-B9A70C3615E5}"/>
              </a:ext>
            </a:extLst>
          </p:cNvPr>
          <p:cNvSpPr/>
          <p:nvPr/>
        </p:nvSpPr>
        <p:spPr>
          <a:xfrm>
            <a:off x="5519991"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フロー案内</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0" name="Text 119">
            <a:extLst>
              <a:ext uri="{FF2B5EF4-FFF2-40B4-BE49-F238E27FC236}">
                <a16:creationId xmlns:a16="http://schemas.microsoft.com/office/drawing/2014/main" id="{C6CDBA0C-C4AB-DB49-4D97-5F4E1FADE225}"/>
              </a:ext>
            </a:extLst>
          </p:cNvPr>
          <p:cNvSpPr/>
          <p:nvPr/>
        </p:nvSpPr>
        <p:spPr>
          <a:xfrm>
            <a:off x="6379527" y="4924581"/>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フロー事前案内でキャンセル率を激減させる</a:t>
            </a:r>
            <a:endParaRPr lang="en-US" altLang="ja-JP" sz="1100" dirty="0">
              <a:latin typeface="メイリオ" panose="020B0604030504040204" pitchFamily="50" charset="-128"/>
              <a:ea typeface="メイリオ" panose="020B0604030504040204" pitchFamily="50" charset="-128"/>
            </a:endParaRPr>
          </a:p>
        </p:txBody>
      </p:sp>
      <p:sp>
        <p:nvSpPr>
          <p:cNvPr id="362" name="Text 120">
            <a:extLst>
              <a:ext uri="{FF2B5EF4-FFF2-40B4-BE49-F238E27FC236}">
                <a16:creationId xmlns:a16="http://schemas.microsoft.com/office/drawing/2014/main" id="{BD5402DC-C1D0-29CE-40A9-BA86E6FF6BAD}"/>
              </a:ext>
            </a:extLst>
          </p:cNvPr>
          <p:cNvSpPr/>
          <p:nvPr/>
        </p:nvSpPr>
        <p:spPr>
          <a:xfrm>
            <a:off x="5190807" y="5226333"/>
            <a:ext cx="4449774" cy="529590"/>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申込完了後すぐにLINEで「当日の流れをお伝えします」を送付。所要時間・準備するもの・スタッフの到着時間・終了後の対応まで全て事前案内する。不安が解消されると「楽しみに待てる」状態になりキャンセル・ドタキャンが激減。</a:t>
            </a:r>
            <a:endParaRPr lang="en-US" altLang="ja-JP" sz="850" dirty="0">
              <a:latin typeface="メイリオ" panose="020B0604030504040204" pitchFamily="50" charset="-128"/>
              <a:ea typeface="メイリオ" panose="020B0604030504040204" pitchFamily="50" charset="-128"/>
            </a:endParaRPr>
          </a:p>
        </p:txBody>
      </p:sp>
      <p:sp>
        <p:nvSpPr>
          <p:cNvPr id="364" name="Shape 121">
            <a:extLst>
              <a:ext uri="{FF2B5EF4-FFF2-40B4-BE49-F238E27FC236}">
                <a16:creationId xmlns:a16="http://schemas.microsoft.com/office/drawing/2014/main" id="{EC4E379D-5E50-776A-B55F-BD46A9652992}"/>
              </a:ext>
            </a:extLst>
          </p:cNvPr>
          <p:cNvSpPr/>
          <p:nvPr/>
        </p:nvSpPr>
        <p:spPr>
          <a:xfrm>
            <a:off x="5190807"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6" name="Shape 122">
            <a:extLst>
              <a:ext uri="{FF2B5EF4-FFF2-40B4-BE49-F238E27FC236}">
                <a16:creationId xmlns:a16="http://schemas.microsoft.com/office/drawing/2014/main" id="{46F28470-9DDC-A1C0-44ED-C1A38232636F}"/>
              </a:ext>
            </a:extLst>
          </p:cNvPr>
          <p:cNvSpPr/>
          <p:nvPr/>
        </p:nvSpPr>
        <p:spPr>
          <a:xfrm>
            <a:off x="5245671"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8" name="Text 123">
            <a:extLst>
              <a:ext uri="{FF2B5EF4-FFF2-40B4-BE49-F238E27FC236}">
                <a16:creationId xmlns:a16="http://schemas.microsoft.com/office/drawing/2014/main" id="{6E320849-A3F7-A150-79AA-9261937FECF2}"/>
              </a:ext>
            </a:extLst>
          </p:cNvPr>
          <p:cNvSpPr/>
          <p:nvPr/>
        </p:nvSpPr>
        <p:spPr>
          <a:xfrm>
            <a:off x="5245671"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0" name="Text 124">
            <a:extLst>
              <a:ext uri="{FF2B5EF4-FFF2-40B4-BE49-F238E27FC236}">
                <a16:creationId xmlns:a16="http://schemas.microsoft.com/office/drawing/2014/main" id="{16CF1DC5-D3CD-E50F-B7D5-B1647AD84264}"/>
              </a:ext>
            </a:extLst>
          </p:cNvPr>
          <p:cNvSpPr/>
          <p:nvPr/>
        </p:nvSpPr>
        <p:spPr>
          <a:xfrm>
            <a:off x="5465127"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申込完了直後</a:t>
            </a:r>
            <a:endParaRPr lang="en-US" altLang="ja-JP" sz="850" dirty="0">
              <a:latin typeface="メイリオ" panose="020B0604030504040204" pitchFamily="50" charset="-128"/>
              <a:ea typeface="メイリオ" panose="020B0604030504040204" pitchFamily="50" charset="-128"/>
            </a:endParaRPr>
          </a:p>
        </p:txBody>
      </p:sp>
      <p:sp>
        <p:nvSpPr>
          <p:cNvPr id="372" name="Text 125">
            <a:extLst>
              <a:ext uri="{FF2B5EF4-FFF2-40B4-BE49-F238E27FC236}">
                <a16:creationId xmlns:a16="http://schemas.microsoft.com/office/drawing/2014/main" id="{13B785A9-AE07-65EA-5E5C-8F6B908562CF}"/>
              </a:ext>
            </a:extLst>
          </p:cNvPr>
          <p:cNvSpPr/>
          <p:nvPr/>
        </p:nvSpPr>
        <p:spPr>
          <a:xfrm>
            <a:off x="5245671"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当日フロー自動送付</a:t>
            </a:r>
            <a:endParaRPr lang="en-US" altLang="ja-JP" sz="750" dirty="0">
              <a:latin typeface="メイリオ" panose="020B0604030504040204" pitchFamily="50" charset="-128"/>
              <a:ea typeface="メイリオ" panose="020B0604030504040204" pitchFamily="50" charset="-128"/>
            </a:endParaRPr>
          </a:p>
        </p:txBody>
      </p:sp>
      <p:sp>
        <p:nvSpPr>
          <p:cNvPr id="374" name="Text 126">
            <a:extLst>
              <a:ext uri="{FF2B5EF4-FFF2-40B4-BE49-F238E27FC236}">
                <a16:creationId xmlns:a16="http://schemas.microsoft.com/office/drawing/2014/main" id="{396E4066-71DA-8649-8C5F-BDFFC56B7F3A}"/>
              </a:ext>
            </a:extLst>
          </p:cNvPr>
          <p:cNvSpPr/>
          <p:nvPr/>
        </p:nvSpPr>
        <p:spPr>
          <a:xfrm>
            <a:off x="6470967"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6" name="Shape 127">
            <a:extLst>
              <a:ext uri="{FF2B5EF4-FFF2-40B4-BE49-F238E27FC236}">
                <a16:creationId xmlns:a16="http://schemas.microsoft.com/office/drawing/2014/main" id="{9B006DA7-6196-F8F6-970F-DC9C2663876A}"/>
              </a:ext>
            </a:extLst>
          </p:cNvPr>
          <p:cNvSpPr/>
          <p:nvPr/>
        </p:nvSpPr>
        <p:spPr>
          <a:xfrm>
            <a:off x="6598983"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78" name="Shape 128">
            <a:extLst>
              <a:ext uri="{FF2B5EF4-FFF2-40B4-BE49-F238E27FC236}">
                <a16:creationId xmlns:a16="http://schemas.microsoft.com/office/drawing/2014/main" id="{6F508C7C-1181-D6F1-04E3-871D86B1A7F3}"/>
              </a:ext>
            </a:extLst>
          </p:cNvPr>
          <p:cNvSpPr/>
          <p:nvPr/>
        </p:nvSpPr>
        <p:spPr>
          <a:xfrm>
            <a:off x="6653847"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0" name="Text 129">
            <a:extLst>
              <a:ext uri="{FF2B5EF4-FFF2-40B4-BE49-F238E27FC236}">
                <a16:creationId xmlns:a16="http://schemas.microsoft.com/office/drawing/2014/main" id="{50E830AA-3612-B666-F090-99534DF142A9}"/>
              </a:ext>
            </a:extLst>
          </p:cNvPr>
          <p:cNvSpPr/>
          <p:nvPr/>
        </p:nvSpPr>
        <p:spPr>
          <a:xfrm>
            <a:off x="6653847"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2" name="Text 130">
            <a:extLst>
              <a:ext uri="{FF2B5EF4-FFF2-40B4-BE49-F238E27FC236}">
                <a16:creationId xmlns:a16="http://schemas.microsoft.com/office/drawing/2014/main" id="{CAB1B380-D7B7-197D-641E-1FDD0F2113B6}"/>
              </a:ext>
            </a:extLst>
          </p:cNvPr>
          <p:cNvSpPr/>
          <p:nvPr/>
        </p:nvSpPr>
        <p:spPr>
          <a:xfrm>
            <a:off x="6873303"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不安ゼロで待機</a:t>
            </a:r>
            <a:endParaRPr lang="en-US" altLang="ja-JP" sz="850" dirty="0">
              <a:latin typeface="メイリオ" panose="020B0604030504040204" pitchFamily="50" charset="-128"/>
              <a:ea typeface="メイリオ" panose="020B0604030504040204" pitchFamily="50" charset="-128"/>
            </a:endParaRPr>
          </a:p>
        </p:txBody>
      </p:sp>
      <p:sp>
        <p:nvSpPr>
          <p:cNvPr id="384" name="Text 131">
            <a:extLst>
              <a:ext uri="{FF2B5EF4-FFF2-40B4-BE49-F238E27FC236}">
                <a16:creationId xmlns:a16="http://schemas.microsoft.com/office/drawing/2014/main" id="{0ED63B1C-3E6C-4055-2FDE-C901EA2E281E}"/>
              </a:ext>
            </a:extLst>
          </p:cNvPr>
          <p:cNvSpPr/>
          <p:nvPr/>
        </p:nvSpPr>
        <p:spPr>
          <a:xfrm>
            <a:off x="6653847" y="6167403"/>
            <a:ext cx="1133856" cy="201168"/>
          </a:xfrm>
          <a:prstGeom prst="rect">
            <a:avLst/>
          </a:prstGeom>
          <a:noFill/>
          <a:ln/>
        </p:spPr>
        <p:txBody>
          <a:bodyPr wrap="square" lIns="0" tIns="0" rIns="0" bIns="0" rtlCol="0" anchor="ctr"/>
          <a:lstStyle/>
          <a:p>
            <a:pPr>
              <a:lnSpc>
                <a:spcPct val="115000"/>
              </a:lnSpc>
            </a:pPr>
            <a:r>
              <a:rPr lang="ja-JP" altLang="en-US" sz="750" dirty="0">
                <a:solidFill>
                  <a:srgbClr val="4A4A6A"/>
                </a:solidFill>
                <a:latin typeface="メイリオ" panose="020B0604030504040204" pitchFamily="50" charset="-128"/>
                <a:ea typeface="メイリオ" panose="020B0604030504040204" pitchFamily="50" charset="-128"/>
                <a:cs typeface="Calibri" pitchFamily="34" charset="-120"/>
              </a:rPr>
              <a:t>アフターフォロー期待</a:t>
            </a:r>
            <a:endParaRPr lang="en-US" altLang="ja-JP" sz="750" dirty="0">
              <a:latin typeface="メイリオ" panose="020B0604030504040204" pitchFamily="50" charset="-128"/>
              <a:ea typeface="メイリオ" panose="020B0604030504040204" pitchFamily="50" charset="-128"/>
            </a:endParaRPr>
          </a:p>
        </p:txBody>
      </p:sp>
      <p:sp>
        <p:nvSpPr>
          <p:cNvPr id="386" name="Text 132">
            <a:extLst>
              <a:ext uri="{FF2B5EF4-FFF2-40B4-BE49-F238E27FC236}">
                <a16:creationId xmlns:a16="http://schemas.microsoft.com/office/drawing/2014/main" id="{A7504597-DAE8-7BD5-E427-59FE3F3330B0}"/>
              </a:ext>
            </a:extLst>
          </p:cNvPr>
          <p:cNvSpPr/>
          <p:nvPr/>
        </p:nvSpPr>
        <p:spPr>
          <a:xfrm>
            <a:off x="7879143"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8" name="Shape 133">
            <a:extLst>
              <a:ext uri="{FF2B5EF4-FFF2-40B4-BE49-F238E27FC236}">
                <a16:creationId xmlns:a16="http://schemas.microsoft.com/office/drawing/2014/main" id="{57656A25-7392-A4F8-42FF-0AAD35DAB96A}"/>
              </a:ext>
            </a:extLst>
          </p:cNvPr>
          <p:cNvSpPr/>
          <p:nvPr/>
        </p:nvSpPr>
        <p:spPr>
          <a:xfrm>
            <a:off x="8007159"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0" name="Shape 134">
            <a:extLst>
              <a:ext uri="{FF2B5EF4-FFF2-40B4-BE49-F238E27FC236}">
                <a16:creationId xmlns:a16="http://schemas.microsoft.com/office/drawing/2014/main" id="{A01509C7-F9AC-D612-CC39-58640601C006}"/>
              </a:ext>
            </a:extLst>
          </p:cNvPr>
          <p:cNvSpPr/>
          <p:nvPr/>
        </p:nvSpPr>
        <p:spPr>
          <a:xfrm>
            <a:off x="8062023"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2" name="Text 135">
            <a:extLst>
              <a:ext uri="{FF2B5EF4-FFF2-40B4-BE49-F238E27FC236}">
                <a16:creationId xmlns:a16="http://schemas.microsoft.com/office/drawing/2014/main" id="{4BF6839F-2873-F373-446B-2181CDBE0B5C}"/>
              </a:ext>
            </a:extLst>
          </p:cNvPr>
          <p:cNvSpPr/>
          <p:nvPr/>
        </p:nvSpPr>
        <p:spPr>
          <a:xfrm>
            <a:off x="80620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4" name="Text 136">
            <a:extLst>
              <a:ext uri="{FF2B5EF4-FFF2-40B4-BE49-F238E27FC236}">
                <a16:creationId xmlns:a16="http://schemas.microsoft.com/office/drawing/2014/main" id="{0E9F188B-90C4-31AB-2701-03D1FF2CC694}"/>
              </a:ext>
            </a:extLst>
          </p:cNvPr>
          <p:cNvSpPr/>
          <p:nvPr/>
        </p:nvSpPr>
        <p:spPr>
          <a:xfrm>
            <a:off x="8281479" y="5957091"/>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満足度向上</a:t>
            </a:r>
            <a:endParaRPr lang="en-US" altLang="ja-JP" sz="850" dirty="0">
              <a:latin typeface="メイリオ" panose="020B0604030504040204" pitchFamily="50" charset="-128"/>
              <a:ea typeface="メイリオ" panose="020B0604030504040204" pitchFamily="50" charset="-128"/>
            </a:endParaRPr>
          </a:p>
        </p:txBody>
      </p:sp>
      <p:sp>
        <p:nvSpPr>
          <p:cNvPr id="396" name="Text 137">
            <a:extLst>
              <a:ext uri="{FF2B5EF4-FFF2-40B4-BE49-F238E27FC236}">
                <a16:creationId xmlns:a16="http://schemas.microsoft.com/office/drawing/2014/main" id="{C8404977-9DAC-F0B8-336A-CAD39A2D9574}"/>
              </a:ext>
            </a:extLst>
          </p:cNvPr>
          <p:cNvSpPr/>
          <p:nvPr/>
        </p:nvSpPr>
        <p:spPr>
          <a:xfrm>
            <a:off x="80620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紹介・口コミ促進</a:t>
            </a:r>
            <a:endParaRPr lang="en-US" altLang="ja-JP" sz="750" dirty="0">
              <a:latin typeface="メイリオ" panose="020B0604030504040204" pitchFamily="50" charset="-128"/>
              <a:ea typeface="メイリオ" panose="020B0604030504040204" pitchFamily="50" charset="-128"/>
            </a:endParaRPr>
          </a:p>
        </p:txBody>
      </p:sp>
      <p:sp>
        <p:nvSpPr>
          <p:cNvPr id="398" name="Shape 36">
            <a:extLst>
              <a:ext uri="{FF2B5EF4-FFF2-40B4-BE49-F238E27FC236}">
                <a16:creationId xmlns:a16="http://schemas.microsoft.com/office/drawing/2014/main" id="{E1A706A9-2858-6B94-F554-D7AF99876505}"/>
              </a:ext>
            </a:extLst>
          </p:cNvPr>
          <p:cNvSpPr/>
          <p:nvPr/>
        </p:nvSpPr>
        <p:spPr>
          <a:xfrm>
            <a:off x="3568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0" name="Shape 36">
            <a:extLst>
              <a:ext uri="{FF2B5EF4-FFF2-40B4-BE49-F238E27FC236}">
                <a16:creationId xmlns:a16="http://schemas.microsoft.com/office/drawing/2014/main" id="{4310345B-A0A0-5528-0149-1158E742747C}"/>
              </a:ext>
            </a:extLst>
          </p:cNvPr>
          <p:cNvSpPr/>
          <p:nvPr/>
        </p:nvSpPr>
        <p:spPr>
          <a:xfrm>
            <a:off x="52082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2" name="Shape 36">
            <a:extLst>
              <a:ext uri="{FF2B5EF4-FFF2-40B4-BE49-F238E27FC236}">
                <a16:creationId xmlns:a16="http://schemas.microsoft.com/office/drawing/2014/main" id="{1F298478-02C0-26AD-DD18-2A5F883779BB}"/>
              </a:ext>
            </a:extLst>
          </p:cNvPr>
          <p:cNvSpPr/>
          <p:nvPr/>
        </p:nvSpPr>
        <p:spPr>
          <a:xfrm>
            <a:off x="52082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6" name="Shape 59">
            <a:extLst>
              <a:ext uri="{FF2B5EF4-FFF2-40B4-BE49-F238E27FC236}">
                <a16:creationId xmlns:a16="http://schemas.microsoft.com/office/drawing/2014/main" id="{6B769AD0-A25C-5581-5EDD-43D23F542EE9}"/>
              </a:ext>
            </a:extLst>
          </p:cNvPr>
          <p:cNvSpPr/>
          <p:nvPr/>
        </p:nvSpPr>
        <p:spPr>
          <a:xfrm>
            <a:off x="6653847" y="110408"/>
            <a:ext cx="1446971" cy="330537"/>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中長期で導入検討</a:t>
            </a:r>
          </a:p>
        </p:txBody>
      </p:sp>
      <p:sp>
        <p:nvSpPr>
          <p:cNvPr id="13" name="Shape 88">
            <a:extLst>
              <a:ext uri="{FF2B5EF4-FFF2-40B4-BE49-F238E27FC236}">
                <a16:creationId xmlns:a16="http://schemas.microsoft.com/office/drawing/2014/main" id="{39E53043-2B3B-6947-E0A2-0E82BEC7F188}"/>
              </a:ext>
            </a:extLst>
          </p:cNvPr>
          <p:cNvSpPr/>
          <p:nvPr/>
        </p:nvSpPr>
        <p:spPr>
          <a:xfrm>
            <a:off x="5134337" y="111417"/>
            <a:ext cx="1442146" cy="330537"/>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導入推奨</a:t>
            </a:r>
          </a:p>
        </p:txBody>
      </p:sp>
    </p:spTree>
    <p:extLst>
      <p:ext uri="{BB962C8B-B14F-4D97-AF65-F5344CB8AC3E}">
        <p14:creationId xmlns:p14="http://schemas.microsoft.com/office/powerpoint/2010/main" val="7743960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1E2D0F-DE07-83AE-E053-ED6184F31BC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D1EA046-6B24-6F8B-072F-C58606586D2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改善モデル④</a:t>
            </a:r>
          </a:p>
        </p:txBody>
      </p:sp>
      <p:sp>
        <p:nvSpPr>
          <p:cNvPr id="9" name="正方形/長方形 8">
            <a:extLst>
              <a:ext uri="{FF2B5EF4-FFF2-40B4-BE49-F238E27FC236}">
                <a16:creationId xmlns:a16="http://schemas.microsoft.com/office/drawing/2014/main" id="{4CC6B560-F63A-0124-FC5F-88DB86F5E043}"/>
              </a:ext>
            </a:extLst>
          </p:cNvPr>
          <p:cNvSpPr/>
          <p:nvPr/>
        </p:nvSpPr>
        <p:spPr>
          <a:xfrm>
            <a:off x="0" y="777240"/>
            <a:ext cx="1802674" cy="5029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3" name="Google Shape;752;p28">
            <a:extLst>
              <a:ext uri="{FF2B5EF4-FFF2-40B4-BE49-F238E27FC236}">
                <a16:creationId xmlns:a16="http://schemas.microsoft.com/office/drawing/2014/main" id="{5D31B060-8732-8226-E996-E5CD8768DC86}"/>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リピート率、クロスセル率、客単価を改善し、</a:t>
            </a:r>
            <a:r>
              <a:rPr lang="en-US" altLang="ja-JP" sz="1600" b="1" dirty="0">
                <a:latin typeface="メイリオ" panose="020B0604030504040204" pitchFamily="50" charset="-128"/>
                <a:ea typeface="メイリオ" panose="020B0604030504040204" pitchFamily="50" charset="-128"/>
                <a:cs typeface="Meiryo"/>
                <a:sym typeface="Meiryo"/>
              </a:rPr>
              <a:t>LTV</a:t>
            </a:r>
            <a:r>
              <a:rPr lang="ja-JP" altLang="en-US" sz="1600" b="1" dirty="0">
                <a:latin typeface="メイリオ" panose="020B0604030504040204" pitchFamily="50" charset="-128"/>
                <a:ea typeface="メイリオ" panose="020B0604030504040204" pitchFamily="50" charset="-128"/>
                <a:cs typeface="Meiryo"/>
                <a:sym typeface="Meiryo"/>
              </a:rPr>
              <a:t>を最大化する。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1" name="テキスト ボックス 20">
            <a:extLst>
              <a:ext uri="{FF2B5EF4-FFF2-40B4-BE49-F238E27FC236}">
                <a16:creationId xmlns:a16="http://schemas.microsoft.com/office/drawing/2014/main" id="{A963DBCC-3129-4694-2516-D42EB1CB36A7}"/>
              </a:ext>
            </a:extLst>
          </p:cNvPr>
          <p:cNvSpPr txBox="1"/>
          <p:nvPr/>
        </p:nvSpPr>
        <p:spPr>
          <a:xfrm>
            <a:off x="3542139" y="141931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22" name="テキスト ボックス 21">
            <a:extLst>
              <a:ext uri="{FF2B5EF4-FFF2-40B4-BE49-F238E27FC236}">
                <a16:creationId xmlns:a16="http://schemas.microsoft.com/office/drawing/2014/main" id="{640F53FA-21E2-6B03-27CB-8DE09650F7F7}"/>
              </a:ext>
            </a:extLst>
          </p:cNvPr>
          <p:cNvSpPr txBox="1"/>
          <p:nvPr/>
        </p:nvSpPr>
        <p:spPr>
          <a:xfrm>
            <a:off x="6119413" y="182847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24" name="テキスト ボックス 23">
            <a:extLst>
              <a:ext uri="{FF2B5EF4-FFF2-40B4-BE49-F238E27FC236}">
                <a16:creationId xmlns:a16="http://schemas.microsoft.com/office/drawing/2014/main" id="{CD6F3969-7970-ED78-97A1-E18A646DC413}"/>
              </a:ext>
            </a:extLst>
          </p:cNvPr>
          <p:cNvSpPr txBox="1"/>
          <p:nvPr/>
        </p:nvSpPr>
        <p:spPr>
          <a:xfrm>
            <a:off x="4830776" y="162389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27" name="テキスト ボックス 26">
            <a:extLst>
              <a:ext uri="{FF2B5EF4-FFF2-40B4-BE49-F238E27FC236}">
                <a16:creationId xmlns:a16="http://schemas.microsoft.com/office/drawing/2014/main" id="{DE48F05F-518B-8B69-CAE4-9FC447A9510C}"/>
              </a:ext>
            </a:extLst>
          </p:cNvPr>
          <p:cNvSpPr txBox="1"/>
          <p:nvPr/>
        </p:nvSpPr>
        <p:spPr>
          <a:xfrm>
            <a:off x="334303" y="142540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28" name="テキスト ボックス 27">
            <a:extLst>
              <a:ext uri="{FF2B5EF4-FFF2-40B4-BE49-F238E27FC236}">
                <a16:creationId xmlns:a16="http://schemas.microsoft.com/office/drawing/2014/main" id="{D5D38C1D-8C53-09C4-237B-4FFBFD65D619}"/>
              </a:ext>
            </a:extLst>
          </p:cNvPr>
          <p:cNvSpPr txBox="1"/>
          <p:nvPr/>
        </p:nvSpPr>
        <p:spPr>
          <a:xfrm>
            <a:off x="1268358" y="163606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13FD3000-99FD-4540-2B87-0D726E46FCA6}"/>
              </a:ext>
            </a:extLst>
          </p:cNvPr>
          <p:cNvSpPr txBox="1"/>
          <p:nvPr/>
        </p:nvSpPr>
        <p:spPr>
          <a:xfrm>
            <a:off x="2202413" y="183017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30" name="テキスト ボックス 29">
            <a:extLst>
              <a:ext uri="{FF2B5EF4-FFF2-40B4-BE49-F238E27FC236}">
                <a16:creationId xmlns:a16="http://schemas.microsoft.com/office/drawing/2014/main" id="{27A03507-5C3E-DF3F-18DA-D429C2C2869A}"/>
              </a:ext>
            </a:extLst>
          </p:cNvPr>
          <p:cNvSpPr txBox="1"/>
          <p:nvPr/>
        </p:nvSpPr>
        <p:spPr>
          <a:xfrm>
            <a:off x="3136468" y="202652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32" name="コネクタ: カギ線 31">
            <a:extLst>
              <a:ext uri="{FF2B5EF4-FFF2-40B4-BE49-F238E27FC236}">
                <a16:creationId xmlns:a16="http://schemas.microsoft.com/office/drawing/2014/main" id="{3A508995-2791-7443-0604-9D0C327CA4C2}"/>
              </a:ext>
            </a:extLst>
          </p:cNvPr>
          <p:cNvCxnSpPr>
            <a:cxnSpLocks/>
            <a:stCxn id="30" idx="0"/>
            <a:endCxn id="21" idx="2"/>
          </p:cNvCxnSpPr>
          <p:nvPr/>
        </p:nvCxnSpPr>
        <p:spPr>
          <a:xfrm rot="5400000" flipH="1" flipV="1">
            <a:off x="4282287" y="178957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 name="正方形/長方形 4">
            <a:extLst>
              <a:ext uri="{FF2B5EF4-FFF2-40B4-BE49-F238E27FC236}">
                <a16:creationId xmlns:a16="http://schemas.microsoft.com/office/drawing/2014/main" id="{83A147CB-7405-2DCF-1F21-0B8337012B05}"/>
              </a:ext>
            </a:extLst>
          </p:cNvPr>
          <p:cNvSpPr/>
          <p:nvPr/>
        </p:nvSpPr>
        <p:spPr>
          <a:xfrm>
            <a:off x="175475" y="2510144"/>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F635E64C-0D36-F30F-0A02-3BAB66350C25}"/>
              </a:ext>
            </a:extLst>
          </p:cNvPr>
          <p:cNvSpPr/>
          <p:nvPr/>
        </p:nvSpPr>
        <p:spPr>
          <a:xfrm>
            <a:off x="4994298" y="2510143"/>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6E52B63D-D41D-D127-AC66-256E2241FC5B}"/>
              </a:ext>
            </a:extLst>
          </p:cNvPr>
          <p:cNvSpPr/>
          <p:nvPr/>
        </p:nvSpPr>
        <p:spPr>
          <a:xfrm>
            <a:off x="196606" y="1304119"/>
            <a:ext cx="9709394" cy="1206024"/>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0" name="テキスト ボックス 9">
            <a:extLst>
              <a:ext uri="{FF2B5EF4-FFF2-40B4-BE49-F238E27FC236}">
                <a16:creationId xmlns:a16="http://schemas.microsoft.com/office/drawing/2014/main" id="{94C6D99A-720E-C67C-F0D7-BCC4F523B05A}"/>
              </a:ext>
            </a:extLst>
          </p:cNvPr>
          <p:cNvSpPr txBox="1"/>
          <p:nvPr/>
        </p:nvSpPr>
        <p:spPr>
          <a:xfrm>
            <a:off x="7408050" y="2033054"/>
            <a:ext cx="2352196" cy="400110"/>
          </a:xfrm>
          <a:prstGeom prst="rect">
            <a:avLst/>
          </a:prstGeom>
          <a:solidFill>
            <a:srgbClr val="1D8D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a:t>
            </a:r>
            <a:r>
              <a:rPr lang="en-US" altLang="ja-JP" sz="1100" b="1" dirty="0">
                <a:solidFill>
                  <a:schemeClr val="bg1"/>
                </a:solidFill>
                <a:latin typeface="メイリオ" panose="020B0604030504040204" pitchFamily="50" charset="-128"/>
                <a:ea typeface="メイリオ" panose="020B0604030504040204" pitchFamily="50" charset="-128"/>
              </a:rPr>
              <a:t>LTV</a:t>
            </a:r>
            <a:r>
              <a:rPr lang="ja-JP" altLang="en-US" sz="1100" b="1" dirty="0">
                <a:solidFill>
                  <a:schemeClr val="bg1"/>
                </a:solidFill>
                <a:latin typeface="メイリオ" panose="020B0604030504040204" pitchFamily="50" charset="-128"/>
                <a:ea typeface="メイリオ" panose="020B0604030504040204" pitchFamily="50" charset="-128"/>
              </a:rPr>
              <a:t>最大化・紹介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endParaRPr lang="ja-JP" altLang="ja-JP" sz="900" b="1" dirty="0">
              <a:solidFill>
                <a:schemeClr val="bg1"/>
              </a:solidFill>
              <a:latin typeface="メイリオ" panose="020B0604030504040204" pitchFamily="50" charset="-128"/>
              <a:ea typeface="メイリオ" panose="020B0604030504040204" pitchFamily="50" charset="-128"/>
            </a:endParaRPr>
          </a:p>
        </p:txBody>
      </p:sp>
      <p:sp>
        <p:nvSpPr>
          <p:cNvPr id="212" name="正方形/長方形 211">
            <a:extLst>
              <a:ext uri="{FF2B5EF4-FFF2-40B4-BE49-F238E27FC236}">
                <a16:creationId xmlns:a16="http://schemas.microsoft.com/office/drawing/2014/main" id="{EBFE876B-88B7-8368-241B-4213AC327DEF}"/>
              </a:ext>
            </a:extLst>
          </p:cNvPr>
          <p:cNvSpPr/>
          <p:nvPr/>
        </p:nvSpPr>
        <p:spPr>
          <a:xfrm>
            <a:off x="272142" y="2590761"/>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latin typeface="メイリオ" panose="020B0604030504040204" pitchFamily="50" charset="-128"/>
                <a:ea typeface="メイリオ" panose="020B0604030504040204" pitchFamily="50" charset="-128"/>
              </a:rPr>
              <a:t>属性把握により最適なタイミング・サービスラインを提示</a:t>
            </a:r>
          </a:p>
        </p:txBody>
      </p:sp>
      <p:sp>
        <p:nvSpPr>
          <p:cNvPr id="214" name="正方形/長方形 213">
            <a:extLst>
              <a:ext uri="{FF2B5EF4-FFF2-40B4-BE49-F238E27FC236}">
                <a16:creationId xmlns:a16="http://schemas.microsoft.com/office/drawing/2014/main" id="{BC37FCD9-3298-5435-6B9C-3FDC96F4BED5}"/>
              </a:ext>
            </a:extLst>
          </p:cNvPr>
          <p:cNvSpPr/>
          <p:nvPr/>
        </p:nvSpPr>
        <p:spPr>
          <a:xfrm>
            <a:off x="5084226" y="2584677"/>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成約後のイメージ・アフターフォローを見える化する</a:t>
            </a:r>
            <a:endParaRPr lang="en-US" altLang="ja-JP" sz="1050" dirty="0">
              <a:latin typeface="メイリオ" panose="020B0604030504040204" pitchFamily="50" charset="-128"/>
              <a:ea typeface="メイリオ" panose="020B0604030504040204" pitchFamily="50" charset="-128"/>
            </a:endParaRPr>
          </a:p>
        </p:txBody>
      </p:sp>
      <p:sp>
        <p:nvSpPr>
          <p:cNvPr id="216" name="Shape 34">
            <a:extLst>
              <a:ext uri="{FF2B5EF4-FFF2-40B4-BE49-F238E27FC236}">
                <a16:creationId xmlns:a16="http://schemas.microsoft.com/office/drawing/2014/main" id="{031543C4-0BBC-6209-20D0-2EFA2FCEF86D}"/>
              </a:ext>
            </a:extLst>
          </p:cNvPr>
          <p:cNvSpPr/>
          <p:nvPr/>
        </p:nvSpPr>
        <p:spPr>
          <a:xfrm>
            <a:off x="265419" y="2999768"/>
            <a:ext cx="4541216" cy="1600805"/>
          </a:xfrm>
          <a:prstGeom prst="roundRect">
            <a:avLst>
              <a:gd name="adj" fmla="val 8000"/>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18" name="Shape 36">
            <a:extLst>
              <a:ext uri="{FF2B5EF4-FFF2-40B4-BE49-F238E27FC236}">
                <a16:creationId xmlns:a16="http://schemas.microsoft.com/office/drawing/2014/main" id="{101BD496-9F8B-4FB2-A6BB-61070F561E0B}"/>
              </a:ext>
            </a:extLst>
          </p:cNvPr>
          <p:cNvSpPr/>
          <p:nvPr/>
        </p:nvSpPr>
        <p:spPr>
          <a:xfrm>
            <a:off x="3568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20" name="Shape 38">
            <a:extLst>
              <a:ext uri="{FF2B5EF4-FFF2-40B4-BE49-F238E27FC236}">
                <a16:creationId xmlns:a16="http://schemas.microsoft.com/office/drawing/2014/main" id="{C11A3E69-9E4D-9846-409E-E9A711BD995E}"/>
              </a:ext>
            </a:extLst>
          </p:cNvPr>
          <p:cNvSpPr/>
          <p:nvPr/>
        </p:nvSpPr>
        <p:spPr>
          <a:xfrm>
            <a:off x="686043"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22" name="Text 39">
            <a:extLst>
              <a:ext uri="{FF2B5EF4-FFF2-40B4-BE49-F238E27FC236}">
                <a16:creationId xmlns:a16="http://schemas.microsoft.com/office/drawing/2014/main" id="{9A2D9F28-CC07-BFBF-1F09-849BDDAE374B}"/>
              </a:ext>
            </a:extLst>
          </p:cNvPr>
          <p:cNvSpPr/>
          <p:nvPr/>
        </p:nvSpPr>
        <p:spPr>
          <a:xfrm>
            <a:off x="686043" y="3109497"/>
            <a:ext cx="804672" cy="201168"/>
          </a:xfrm>
          <a:prstGeom prst="rect">
            <a:avLst/>
          </a:prstGeom>
          <a:noFill/>
          <a:ln/>
        </p:spPr>
        <p:txBody>
          <a:bodyPr wrap="square" lIns="0" tIns="0" rIns="0" bIns="0" rtlCol="0" anchor="ctr"/>
          <a:lstStyle/>
          <a:p>
            <a:pPr algn="ctr"/>
            <a:r>
              <a:rPr lang="en-US" altLang="ja-JP" sz="750" b="1" dirty="0" err="1">
                <a:solidFill>
                  <a:schemeClr val="accent1"/>
                </a:solidFill>
                <a:latin typeface="メイリオ" panose="020B0604030504040204" pitchFamily="50" charset="-128"/>
                <a:ea typeface="メイリオ" panose="020B0604030504040204" pitchFamily="50" charset="-128"/>
                <a:cs typeface="Calibri" pitchFamily="34" charset="-120"/>
              </a:rPr>
              <a:t>クロスセル配信</a:t>
            </a:r>
            <a:endParaRPr lang="en-US" altLang="ja-JP" sz="750" dirty="0">
              <a:solidFill>
                <a:schemeClr val="accent1"/>
              </a:solidFill>
              <a:latin typeface="メイリオ" panose="020B0604030504040204" pitchFamily="50" charset="-128"/>
              <a:ea typeface="メイリオ" panose="020B0604030504040204" pitchFamily="50" charset="-128"/>
            </a:endParaRPr>
          </a:p>
        </p:txBody>
      </p:sp>
      <p:sp>
        <p:nvSpPr>
          <p:cNvPr id="224" name="Text 40">
            <a:extLst>
              <a:ext uri="{FF2B5EF4-FFF2-40B4-BE49-F238E27FC236}">
                <a16:creationId xmlns:a16="http://schemas.microsoft.com/office/drawing/2014/main" id="{E07A6550-E043-DAC7-D1DE-2F58496625C9}"/>
              </a:ext>
            </a:extLst>
          </p:cNvPr>
          <p:cNvSpPr/>
          <p:nvPr/>
        </p:nvSpPr>
        <p:spPr>
          <a:xfrm>
            <a:off x="1545579" y="3082065"/>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利用状況タグ</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 × </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アップグレード提案で客単価を向上</a:t>
            </a:r>
            <a:endParaRPr lang="en-US" altLang="ja-JP" sz="1100" dirty="0">
              <a:latin typeface="メイリオ" panose="020B0604030504040204" pitchFamily="50" charset="-128"/>
              <a:ea typeface="メイリオ" panose="020B0604030504040204" pitchFamily="50" charset="-128"/>
            </a:endParaRPr>
          </a:p>
        </p:txBody>
      </p:sp>
      <p:sp>
        <p:nvSpPr>
          <p:cNvPr id="226" name="Text 41">
            <a:extLst>
              <a:ext uri="{FF2B5EF4-FFF2-40B4-BE49-F238E27FC236}">
                <a16:creationId xmlns:a16="http://schemas.microsoft.com/office/drawing/2014/main" id="{8B380EA5-B628-C9F7-AB4A-470FADCA002E}"/>
              </a:ext>
            </a:extLst>
          </p:cNvPr>
          <p:cNvSpPr/>
          <p:nvPr/>
        </p:nvSpPr>
        <p:spPr>
          <a:xfrm>
            <a:off x="356859" y="3383817"/>
            <a:ext cx="4449774" cy="493776"/>
          </a:xfrm>
          <a:prstGeom prst="rect">
            <a:avLst/>
          </a:prstGeom>
          <a:noFill/>
          <a:ln/>
        </p:spPr>
        <p:txBody>
          <a:bodyPr wrap="square" lIns="0" tIns="0" rIns="0" bIns="0" rtlCol="0" anchor="ctr"/>
          <a:lstStyle/>
          <a:p>
            <a:pPr>
              <a:lnSpc>
                <a:spcPct val="135000"/>
              </a:lnSpc>
            </a:pPr>
            <a:r>
              <a:rPr lang="ja-JP" altLang="en-US" sz="850" dirty="0">
                <a:solidFill>
                  <a:srgbClr val="4A4A6A"/>
                </a:solidFill>
                <a:latin typeface="メイリオ" panose="020B0604030504040204" pitchFamily="50" charset="-128"/>
                <a:ea typeface="メイリオ" panose="020B0604030504040204" pitchFamily="50" charset="-128"/>
                <a:cs typeface="Calibri" pitchFamily="34" charset="-120"/>
              </a:rPr>
              <a:t>利用量・頻度タグを活用して「よく使っている層」に上位プラン・関連サービスを自動配信。「今のプランより月〇〇円で〇〇が追加できます」という具体的メリット提示が</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CVR</a:t>
            </a:r>
            <a:r>
              <a:rPr lang="ja-JP" altLang="en-US" sz="850" dirty="0">
                <a:solidFill>
                  <a:srgbClr val="4A4A6A"/>
                </a:solidFill>
                <a:latin typeface="メイリオ" panose="020B0604030504040204" pitchFamily="50" charset="-128"/>
                <a:ea typeface="メイリオ" panose="020B0604030504040204" pitchFamily="50" charset="-128"/>
                <a:cs typeface="Calibri" pitchFamily="34" charset="-120"/>
              </a:rPr>
              <a:t>を高める。満足度が高い購入後</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3</a:t>
            </a:r>
            <a:r>
              <a:rPr lang="ja-JP" altLang="en-US" sz="850" dirty="0">
                <a:solidFill>
                  <a:srgbClr val="4A4A6A"/>
                </a:solidFill>
                <a:latin typeface="メイリオ" panose="020B0604030504040204" pitchFamily="50" charset="-128"/>
                <a:ea typeface="メイリオ" panose="020B0604030504040204" pitchFamily="50" charset="-128"/>
                <a:cs typeface="Calibri" pitchFamily="34" charset="-120"/>
              </a:rPr>
              <a:t>ヶ月が最適タイミング。</a:t>
            </a:r>
          </a:p>
        </p:txBody>
      </p:sp>
      <p:sp>
        <p:nvSpPr>
          <p:cNvPr id="228" name="Shape 42">
            <a:extLst>
              <a:ext uri="{FF2B5EF4-FFF2-40B4-BE49-F238E27FC236}">
                <a16:creationId xmlns:a16="http://schemas.microsoft.com/office/drawing/2014/main" id="{9B4B4FC2-ABA9-EE54-2AE8-6D8B446B20FF}"/>
              </a:ext>
            </a:extLst>
          </p:cNvPr>
          <p:cNvSpPr/>
          <p:nvPr/>
        </p:nvSpPr>
        <p:spPr>
          <a:xfrm>
            <a:off x="356859"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0" name="Shape 43">
            <a:extLst>
              <a:ext uri="{FF2B5EF4-FFF2-40B4-BE49-F238E27FC236}">
                <a16:creationId xmlns:a16="http://schemas.microsoft.com/office/drawing/2014/main" id="{B6DB6636-0D01-AC92-D361-5BB4DD706048}"/>
              </a:ext>
            </a:extLst>
          </p:cNvPr>
          <p:cNvSpPr/>
          <p:nvPr/>
        </p:nvSpPr>
        <p:spPr>
          <a:xfrm>
            <a:off x="411723"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2" name="Text 44">
            <a:extLst>
              <a:ext uri="{FF2B5EF4-FFF2-40B4-BE49-F238E27FC236}">
                <a16:creationId xmlns:a16="http://schemas.microsoft.com/office/drawing/2014/main" id="{AA004DDF-312A-3679-2F4A-C0D702FDE201}"/>
              </a:ext>
            </a:extLst>
          </p:cNvPr>
          <p:cNvSpPr/>
          <p:nvPr/>
        </p:nvSpPr>
        <p:spPr>
          <a:xfrm>
            <a:off x="4117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34" name="Text 45">
            <a:extLst>
              <a:ext uri="{FF2B5EF4-FFF2-40B4-BE49-F238E27FC236}">
                <a16:creationId xmlns:a16="http://schemas.microsoft.com/office/drawing/2014/main" id="{8C971CE9-8DC5-3C5A-C74E-473D1EEF0A37}"/>
              </a:ext>
            </a:extLst>
          </p:cNvPr>
          <p:cNvSpPr/>
          <p:nvPr/>
        </p:nvSpPr>
        <p:spPr>
          <a:xfrm>
            <a:off x="631179"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利用状況タグ付与</a:t>
            </a:r>
            <a:endParaRPr lang="en-US" altLang="ja-JP" sz="850" dirty="0">
              <a:latin typeface="メイリオ" panose="020B0604030504040204" pitchFamily="50" charset="-128"/>
              <a:ea typeface="メイリオ" panose="020B0604030504040204" pitchFamily="50" charset="-128"/>
            </a:endParaRPr>
          </a:p>
        </p:txBody>
      </p:sp>
      <p:sp>
        <p:nvSpPr>
          <p:cNvPr id="236" name="Text 46">
            <a:extLst>
              <a:ext uri="{FF2B5EF4-FFF2-40B4-BE49-F238E27FC236}">
                <a16:creationId xmlns:a16="http://schemas.microsoft.com/office/drawing/2014/main" id="{BDCB6CBA-6BE0-0029-00B8-F3E8C622531C}"/>
              </a:ext>
            </a:extLst>
          </p:cNvPr>
          <p:cNvSpPr/>
          <p:nvPr/>
        </p:nvSpPr>
        <p:spPr>
          <a:xfrm>
            <a:off x="411723"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高頻度ユーザー特定</a:t>
            </a:r>
            <a:endParaRPr lang="en-US" altLang="ja-JP" sz="750" dirty="0">
              <a:latin typeface="メイリオ" panose="020B0604030504040204" pitchFamily="50" charset="-128"/>
              <a:ea typeface="メイリオ" panose="020B0604030504040204" pitchFamily="50" charset="-128"/>
            </a:endParaRPr>
          </a:p>
        </p:txBody>
      </p:sp>
      <p:sp>
        <p:nvSpPr>
          <p:cNvPr id="238" name="Text 47">
            <a:extLst>
              <a:ext uri="{FF2B5EF4-FFF2-40B4-BE49-F238E27FC236}">
                <a16:creationId xmlns:a16="http://schemas.microsoft.com/office/drawing/2014/main" id="{1D84C63C-EF83-B3FE-DA12-C6FED620F69C}"/>
              </a:ext>
            </a:extLst>
          </p:cNvPr>
          <p:cNvSpPr/>
          <p:nvPr/>
        </p:nvSpPr>
        <p:spPr>
          <a:xfrm>
            <a:off x="1637019"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40" name="Shape 48">
            <a:extLst>
              <a:ext uri="{FF2B5EF4-FFF2-40B4-BE49-F238E27FC236}">
                <a16:creationId xmlns:a16="http://schemas.microsoft.com/office/drawing/2014/main" id="{0BE03B95-9AB7-E6ED-2E78-10CF317A8766}"/>
              </a:ext>
            </a:extLst>
          </p:cNvPr>
          <p:cNvSpPr/>
          <p:nvPr/>
        </p:nvSpPr>
        <p:spPr>
          <a:xfrm>
            <a:off x="1765035"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2" name="Shape 49">
            <a:extLst>
              <a:ext uri="{FF2B5EF4-FFF2-40B4-BE49-F238E27FC236}">
                <a16:creationId xmlns:a16="http://schemas.microsoft.com/office/drawing/2014/main" id="{1E6CCFE3-96DE-0131-BB9B-0F2313B82CFB}"/>
              </a:ext>
            </a:extLst>
          </p:cNvPr>
          <p:cNvSpPr/>
          <p:nvPr/>
        </p:nvSpPr>
        <p:spPr>
          <a:xfrm>
            <a:off x="1819899"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4" name="Text 50">
            <a:extLst>
              <a:ext uri="{FF2B5EF4-FFF2-40B4-BE49-F238E27FC236}">
                <a16:creationId xmlns:a16="http://schemas.microsoft.com/office/drawing/2014/main" id="{5E69FB79-6A36-8814-5961-E84046021AAC}"/>
              </a:ext>
            </a:extLst>
          </p:cNvPr>
          <p:cNvSpPr/>
          <p:nvPr/>
        </p:nvSpPr>
        <p:spPr>
          <a:xfrm>
            <a:off x="1819899"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46" name="Text 51">
            <a:extLst>
              <a:ext uri="{FF2B5EF4-FFF2-40B4-BE49-F238E27FC236}">
                <a16:creationId xmlns:a16="http://schemas.microsoft.com/office/drawing/2014/main" id="{4EBEE041-7A21-6197-B2AC-4D081A8E8AD0}"/>
              </a:ext>
            </a:extLst>
          </p:cNvPr>
          <p:cNvSpPr/>
          <p:nvPr/>
        </p:nvSpPr>
        <p:spPr>
          <a:xfrm>
            <a:off x="2039355" y="4114575"/>
            <a:ext cx="914400" cy="182880"/>
          </a:xfrm>
          <a:prstGeom prst="rect">
            <a:avLst/>
          </a:prstGeom>
          <a:noFill/>
          <a:ln/>
        </p:spPr>
        <p:txBody>
          <a:bodyPr wrap="square" lIns="0" tIns="0" rIns="0" bIns="0" rtlCol="0" anchor="ctr"/>
          <a:lstStyle/>
          <a:p>
            <a:r>
              <a:rPr lang="ja-JP" altLang="en-US" sz="850" b="1" dirty="0">
                <a:solidFill>
                  <a:srgbClr val="1A1A2E"/>
                </a:solidFill>
                <a:latin typeface="メイリオ" panose="020B0604030504040204" pitchFamily="50" charset="-128"/>
                <a:ea typeface="メイリオ" panose="020B0604030504040204" pitchFamily="50" charset="-128"/>
                <a:cs typeface="Calibri" pitchFamily="34" charset="-120"/>
              </a:rPr>
              <a:t>アップセル</a:t>
            </a:r>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提案</a:t>
            </a:r>
            <a:endParaRPr lang="en-US" altLang="ja-JP" sz="850" dirty="0">
              <a:latin typeface="メイリオ" panose="020B0604030504040204" pitchFamily="50" charset="-128"/>
              <a:ea typeface="メイリオ" panose="020B0604030504040204" pitchFamily="50" charset="-128"/>
            </a:endParaRPr>
          </a:p>
        </p:txBody>
      </p:sp>
      <p:sp>
        <p:nvSpPr>
          <p:cNvPr id="248" name="Text 52">
            <a:extLst>
              <a:ext uri="{FF2B5EF4-FFF2-40B4-BE49-F238E27FC236}">
                <a16:creationId xmlns:a16="http://schemas.microsoft.com/office/drawing/2014/main" id="{07AD15D9-CD6F-2D3C-CC15-71235D18482D}"/>
              </a:ext>
            </a:extLst>
          </p:cNvPr>
          <p:cNvSpPr/>
          <p:nvPr/>
        </p:nvSpPr>
        <p:spPr>
          <a:xfrm>
            <a:off x="1819899"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具体的金額＋メリット</a:t>
            </a:r>
            <a:endParaRPr lang="en-US" altLang="ja-JP" sz="750" dirty="0">
              <a:latin typeface="メイリオ" panose="020B0604030504040204" pitchFamily="50" charset="-128"/>
              <a:ea typeface="メイリオ" panose="020B0604030504040204" pitchFamily="50" charset="-128"/>
            </a:endParaRPr>
          </a:p>
        </p:txBody>
      </p:sp>
      <p:sp>
        <p:nvSpPr>
          <p:cNvPr id="250" name="Text 53">
            <a:extLst>
              <a:ext uri="{FF2B5EF4-FFF2-40B4-BE49-F238E27FC236}">
                <a16:creationId xmlns:a16="http://schemas.microsoft.com/office/drawing/2014/main" id="{8ECA8D7C-C4A5-C970-D4A6-A16EF6F3350C}"/>
              </a:ext>
            </a:extLst>
          </p:cNvPr>
          <p:cNvSpPr/>
          <p:nvPr/>
        </p:nvSpPr>
        <p:spPr>
          <a:xfrm>
            <a:off x="3045195"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2" name="Shape 54">
            <a:extLst>
              <a:ext uri="{FF2B5EF4-FFF2-40B4-BE49-F238E27FC236}">
                <a16:creationId xmlns:a16="http://schemas.microsoft.com/office/drawing/2014/main" id="{B12A5926-50A5-13EB-6415-C90901191CBD}"/>
              </a:ext>
            </a:extLst>
          </p:cNvPr>
          <p:cNvSpPr/>
          <p:nvPr/>
        </p:nvSpPr>
        <p:spPr>
          <a:xfrm>
            <a:off x="3173211"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4" name="Shape 55">
            <a:extLst>
              <a:ext uri="{FF2B5EF4-FFF2-40B4-BE49-F238E27FC236}">
                <a16:creationId xmlns:a16="http://schemas.microsoft.com/office/drawing/2014/main" id="{2700C358-B913-5B66-30B3-A247A5CFA965}"/>
              </a:ext>
            </a:extLst>
          </p:cNvPr>
          <p:cNvSpPr/>
          <p:nvPr/>
        </p:nvSpPr>
        <p:spPr>
          <a:xfrm>
            <a:off x="3228075"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6" name="Text 56">
            <a:extLst>
              <a:ext uri="{FF2B5EF4-FFF2-40B4-BE49-F238E27FC236}">
                <a16:creationId xmlns:a16="http://schemas.microsoft.com/office/drawing/2014/main" id="{25DAB092-6EC6-4374-F29D-D2E43E4B9FEB}"/>
              </a:ext>
            </a:extLst>
          </p:cNvPr>
          <p:cNvSpPr/>
          <p:nvPr/>
        </p:nvSpPr>
        <p:spPr>
          <a:xfrm>
            <a:off x="3228075"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8" name="Text 57">
            <a:extLst>
              <a:ext uri="{FF2B5EF4-FFF2-40B4-BE49-F238E27FC236}">
                <a16:creationId xmlns:a16="http://schemas.microsoft.com/office/drawing/2014/main" id="{9DFA3811-543F-B130-C558-9F98D1BDCE28}"/>
              </a:ext>
            </a:extLst>
          </p:cNvPr>
          <p:cNvSpPr/>
          <p:nvPr/>
        </p:nvSpPr>
        <p:spPr>
          <a:xfrm>
            <a:off x="3447531"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クロスセルCV</a:t>
            </a:r>
            <a:endParaRPr lang="en-US" altLang="ja-JP" sz="850" dirty="0">
              <a:latin typeface="メイリオ" panose="020B0604030504040204" pitchFamily="50" charset="-128"/>
              <a:ea typeface="メイリオ" panose="020B0604030504040204" pitchFamily="50" charset="-128"/>
            </a:endParaRPr>
          </a:p>
        </p:txBody>
      </p:sp>
      <p:sp>
        <p:nvSpPr>
          <p:cNvPr id="260" name="Text 58">
            <a:extLst>
              <a:ext uri="{FF2B5EF4-FFF2-40B4-BE49-F238E27FC236}">
                <a16:creationId xmlns:a16="http://schemas.microsoft.com/office/drawing/2014/main" id="{7A46B590-0C64-FEE3-0E7C-7EA298F486A3}"/>
              </a:ext>
            </a:extLst>
          </p:cNvPr>
          <p:cNvSpPr/>
          <p:nvPr/>
        </p:nvSpPr>
        <p:spPr>
          <a:xfrm>
            <a:off x="3228075"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客単価</a:t>
            </a: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 -- %向上</a:t>
            </a:r>
            <a:endParaRPr lang="en-US" altLang="ja-JP" sz="750" dirty="0">
              <a:latin typeface="メイリオ" panose="020B0604030504040204" pitchFamily="50" charset="-128"/>
              <a:ea typeface="メイリオ" panose="020B0604030504040204" pitchFamily="50" charset="-128"/>
            </a:endParaRPr>
          </a:p>
        </p:txBody>
      </p:sp>
      <p:sp>
        <p:nvSpPr>
          <p:cNvPr id="262" name="Shape 59">
            <a:extLst>
              <a:ext uri="{FF2B5EF4-FFF2-40B4-BE49-F238E27FC236}">
                <a16:creationId xmlns:a16="http://schemas.microsoft.com/office/drawing/2014/main" id="{17831C21-2DE0-1603-B120-3BAF591E685E}"/>
              </a:ext>
            </a:extLst>
          </p:cNvPr>
          <p:cNvSpPr/>
          <p:nvPr/>
        </p:nvSpPr>
        <p:spPr>
          <a:xfrm>
            <a:off x="265419" y="4842285"/>
            <a:ext cx="4541216" cy="1600804"/>
          </a:xfrm>
          <a:prstGeom prst="roundRect">
            <a:avLst>
              <a:gd name="adj" fmla="val 5263"/>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4" name="Shape 63">
            <a:extLst>
              <a:ext uri="{FF2B5EF4-FFF2-40B4-BE49-F238E27FC236}">
                <a16:creationId xmlns:a16="http://schemas.microsoft.com/office/drawing/2014/main" id="{E0489255-B5B1-35CB-C8E0-D92F3D34C15B}"/>
              </a:ext>
            </a:extLst>
          </p:cNvPr>
          <p:cNvSpPr/>
          <p:nvPr/>
        </p:nvSpPr>
        <p:spPr>
          <a:xfrm>
            <a:off x="686043"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6" name="Text 64">
            <a:extLst>
              <a:ext uri="{FF2B5EF4-FFF2-40B4-BE49-F238E27FC236}">
                <a16:creationId xmlns:a16="http://schemas.microsoft.com/office/drawing/2014/main" id="{45D18941-826F-30A6-3AA3-251341CB9EB1}"/>
              </a:ext>
            </a:extLst>
          </p:cNvPr>
          <p:cNvSpPr/>
          <p:nvPr/>
        </p:nvSpPr>
        <p:spPr>
          <a:xfrm>
            <a:off x="686043" y="4952013"/>
            <a:ext cx="804672" cy="201168"/>
          </a:xfrm>
          <a:prstGeom prst="rect">
            <a:avLst/>
          </a:prstGeom>
          <a:noFill/>
          <a:ln/>
        </p:spPr>
        <p:txBody>
          <a:bodyPr wrap="square" lIns="0" tIns="0" rIns="0" bIns="0" rtlCol="0" anchor="ctr"/>
          <a:lstStyle/>
          <a:p>
            <a:pPr algn="ctr"/>
            <a:r>
              <a:rPr lang="en-US" altLang="ja-JP" sz="750" b="1" dirty="0" err="1">
                <a:solidFill>
                  <a:schemeClr val="accent1"/>
                </a:solidFill>
                <a:latin typeface="メイリオ" panose="020B0604030504040204" pitchFamily="50" charset="-128"/>
                <a:ea typeface="メイリオ" panose="020B0604030504040204" pitchFamily="50" charset="-128"/>
                <a:cs typeface="Calibri" pitchFamily="34" charset="-120"/>
              </a:rPr>
              <a:t>紹介キャンペーン</a:t>
            </a:r>
            <a:endParaRPr lang="en-US" altLang="ja-JP" sz="750" dirty="0">
              <a:solidFill>
                <a:schemeClr val="accent1"/>
              </a:solidFill>
              <a:latin typeface="メイリオ" panose="020B0604030504040204" pitchFamily="50" charset="-128"/>
              <a:ea typeface="メイリオ" panose="020B0604030504040204" pitchFamily="50" charset="-128"/>
            </a:endParaRPr>
          </a:p>
        </p:txBody>
      </p:sp>
      <p:sp>
        <p:nvSpPr>
          <p:cNvPr id="268" name="Text 65">
            <a:extLst>
              <a:ext uri="{FF2B5EF4-FFF2-40B4-BE49-F238E27FC236}">
                <a16:creationId xmlns:a16="http://schemas.microsoft.com/office/drawing/2014/main" id="{46A7ADAB-7FB3-0E5E-A98A-5FA74D2FF194}"/>
              </a:ext>
            </a:extLst>
          </p:cNvPr>
          <p:cNvSpPr/>
          <p:nvPr/>
        </p:nvSpPr>
        <p:spPr>
          <a:xfrm>
            <a:off x="1545579" y="4924581"/>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紹介キャンペーン</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の誘導</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設計でゼロコスト新規獲得</a:t>
            </a:r>
            <a:endParaRPr lang="en-US" altLang="ja-JP" sz="1100" dirty="0">
              <a:latin typeface="メイリオ" panose="020B0604030504040204" pitchFamily="50" charset="-128"/>
              <a:ea typeface="メイリオ" panose="020B0604030504040204" pitchFamily="50" charset="-128"/>
            </a:endParaRPr>
          </a:p>
        </p:txBody>
      </p:sp>
      <p:sp>
        <p:nvSpPr>
          <p:cNvPr id="270" name="Text 66">
            <a:extLst>
              <a:ext uri="{FF2B5EF4-FFF2-40B4-BE49-F238E27FC236}">
                <a16:creationId xmlns:a16="http://schemas.microsoft.com/office/drawing/2014/main" id="{730ECA19-26DA-232F-404E-DBF02F6BA8B1}"/>
              </a:ext>
            </a:extLst>
          </p:cNvPr>
          <p:cNvSpPr/>
          <p:nvPr/>
        </p:nvSpPr>
        <p:spPr>
          <a:xfrm>
            <a:off x="356859" y="5226333"/>
            <a:ext cx="4449774" cy="457200"/>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お友達をご紹介いただいた方にAmazonギフト</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○○円プレゼント」をLINEで配信。満足度が最も高い利用開始3ヶ月後が最適タイミング。紹介ユーザーのLTVは通常ユーザーの1.5〜2倍で広告比CPA1/5〜1/10。</a:t>
            </a:r>
            <a:endParaRPr lang="en-US" altLang="ja-JP" sz="850" dirty="0">
              <a:latin typeface="メイリオ" panose="020B0604030504040204" pitchFamily="50" charset="-128"/>
              <a:ea typeface="メイリオ" panose="020B0604030504040204" pitchFamily="50" charset="-128"/>
            </a:endParaRPr>
          </a:p>
        </p:txBody>
      </p:sp>
      <p:sp>
        <p:nvSpPr>
          <p:cNvPr id="272" name="Shape 68">
            <a:extLst>
              <a:ext uri="{FF2B5EF4-FFF2-40B4-BE49-F238E27FC236}">
                <a16:creationId xmlns:a16="http://schemas.microsoft.com/office/drawing/2014/main" id="{462FA3CD-674C-EF8C-8AE8-10A144147A63}"/>
              </a:ext>
            </a:extLst>
          </p:cNvPr>
          <p:cNvSpPr/>
          <p:nvPr/>
        </p:nvSpPr>
        <p:spPr>
          <a:xfrm>
            <a:off x="430011" y="6011955"/>
            <a:ext cx="420624" cy="219456"/>
          </a:xfrm>
          <a:prstGeom prst="roundRect">
            <a:avLst>
              <a:gd name="adj" fmla="val 16667"/>
            </a:avLst>
          </a:prstGeom>
          <a:solidFill>
            <a:srgbClr val="E6A020"/>
          </a:solidFill>
          <a:ln w="12700">
            <a:solidFill>
              <a:srgbClr val="E6A02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4" name="Text 69">
            <a:extLst>
              <a:ext uri="{FF2B5EF4-FFF2-40B4-BE49-F238E27FC236}">
                <a16:creationId xmlns:a16="http://schemas.microsoft.com/office/drawing/2014/main" id="{11F7B611-A14B-627C-5FBB-0170B886D5EA}"/>
              </a:ext>
            </a:extLst>
          </p:cNvPr>
          <p:cNvSpPr/>
          <p:nvPr/>
        </p:nvSpPr>
        <p:spPr>
          <a:xfrm>
            <a:off x="430011" y="6011955"/>
            <a:ext cx="420624" cy="219456"/>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現場注意</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6" name="Shape 71">
            <a:extLst>
              <a:ext uri="{FF2B5EF4-FFF2-40B4-BE49-F238E27FC236}">
                <a16:creationId xmlns:a16="http://schemas.microsoft.com/office/drawing/2014/main" id="{C99449D4-E546-985F-BE72-933F1694A4F7}"/>
              </a:ext>
            </a:extLst>
          </p:cNvPr>
          <p:cNvSpPr/>
          <p:nvPr/>
        </p:nvSpPr>
        <p:spPr>
          <a:xfrm>
            <a:off x="356859"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8" name="Shape 72">
            <a:extLst>
              <a:ext uri="{FF2B5EF4-FFF2-40B4-BE49-F238E27FC236}">
                <a16:creationId xmlns:a16="http://schemas.microsoft.com/office/drawing/2014/main" id="{164235F1-23EF-1248-60B7-999A0B29AA4D}"/>
              </a:ext>
            </a:extLst>
          </p:cNvPr>
          <p:cNvSpPr/>
          <p:nvPr/>
        </p:nvSpPr>
        <p:spPr>
          <a:xfrm>
            <a:off x="411723"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80" name="Text 73">
            <a:extLst>
              <a:ext uri="{FF2B5EF4-FFF2-40B4-BE49-F238E27FC236}">
                <a16:creationId xmlns:a16="http://schemas.microsoft.com/office/drawing/2014/main" id="{12B0160C-FE2A-C7A4-E0AD-74F3D0F9BB4B}"/>
              </a:ext>
            </a:extLst>
          </p:cNvPr>
          <p:cNvSpPr/>
          <p:nvPr/>
        </p:nvSpPr>
        <p:spPr>
          <a:xfrm>
            <a:off x="4117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2" name="Text 74">
            <a:extLst>
              <a:ext uri="{FF2B5EF4-FFF2-40B4-BE49-F238E27FC236}">
                <a16:creationId xmlns:a16="http://schemas.microsoft.com/office/drawing/2014/main" id="{5E79EB16-FC89-25AD-ABF7-33918A2FDFC6}"/>
              </a:ext>
            </a:extLst>
          </p:cNvPr>
          <p:cNvSpPr/>
          <p:nvPr/>
        </p:nvSpPr>
        <p:spPr>
          <a:xfrm>
            <a:off x="631179"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紹介特典を配信</a:t>
            </a:r>
            <a:endParaRPr lang="en-US" altLang="ja-JP" sz="850" dirty="0">
              <a:latin typeface="メイリオ" panose="020B0604030504040204" pitchFamily="50" charset="-128"/>
              <a:ea typeface="メイリオ" panose="020B0604030504040204" pitchFamily="50" charset="-128"/>
            </a:endParaRPr>
          </a:p>
        </p:txBody>
      </p:sp>
      <p:sp>
        <p:nvSpPr>
          <p:cNvPr id="284" name="Text 75">
            <a:extLst>
              <a:ext uri="{FF2B5EF4-FFF2-40B4-BE49-F238E27FC236}">
                <a16:creationId xmlns:a16="http://schemas.microsoft.com/office/drawing/2014/main" id="{64C81502-47D8-FD41-CAA1-246D2A7C55F4}"/>
              </a:ext>
            </a:extLst>
          </p:cNvPr>
          <p:cNvSpPr/>
          <p:nvPr/>
        </p:nvSpPr>
        <p:spPr>
          <a:xfrm>
            <a:off x="411723" y="6167403"/>
            <a:ext cx="1133856" cy="201168"/>
          </a:xfrm>
          <a:prstGeom prst="rect">
            <a:avLst/>
          </a:prstGeom>
          <a:noFill/>
          <a:ln/>
        </p:spPr>
        <p:txBody>
          <a:bodyPr wrap="square" lIns="0" tIns="0" rIns="0" bIns="0" rtlCol="0" anchor="ctr"/>
          <a:lstStyle/>
          <a:p>
            <a:pPr>
              <a:lnSpc>
                <a:spcPct val="115000"/>
              </a:lnSpc>
            </a:pPr>
            <a:r>
              <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rPr>
              <a:t>満足度高い3ヶ月後</a:t>
            </a:r>
            <a:endParaRPr lang="en-US" altLang="ja-JP" sz="750" dirty="0">
              <a:latin typeface="メイリオ" panose="020B0604030504040204" pitchFamily="50" charset="-128"/>
              <a:ea typeface="メイリオ" panose="020B0604030504040204" pitchFamily="50" charset="-128"/>
            </a:endParaRPr>
          </a:p>
        </p:txBody>
      </p:sp>
      <p:sp>
        <p:nvSpPr>
          <p:cNvPr id="286" name="Text 76">
            <a:extLst>
              <a:ext uri="{FF2B5EF4-FFF2-40B4-BE49-F238E27FC236}">
                <a16:creationId xmlns:a16="http://schemas.microsoft.com/office/drawing/2014/main" id="{DDBCEA73-1ED9-CA4D-8311-CAF89AE71249}"/>
              </a:ext>
            </a:extLst>
          </p:cNvPr>
          <p:cNvSpPr/>
          <p:nvPr/>
        </p:nvSpPr>
        <p:spPr>
          <a:xfrm>
            <a:off x="1637019"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8" name="Shape 77">
            <a:extLst>
              <a:ext uri="{FF2B5EF4-FFF2-40B4-BE49-F238E27FC236}">
                <a16:creationId xmlns:a16="http://schemas.microsoft.com/office/drawing/2014/main" id="{4A9CE2B6-4FF8-B0CB-C568-0E29CCB25364}"/>
              </a:ext>
            </a:extLst>
          </p:cNvPr>
          <p:cNvSpPr/>
          <p:nvPr/>
        </p:nvSpPr>
        <p:spPr>
          <a:xfrm>
            <a:off x="1765035"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0" name="Shape 78">
            <a:extLst>
              <a:ext uri="{FF2B5EF4-FFF2-40B4-BE49-F238E27FC236}">
                <a16:creationId xmlns:a16="http://schemas.microsoft.com/office/drawing/2014/main" id="{FB713A24-D0F7-6DC1-B787-27EFB8E42CD6}"/>
              </a:ext>
            </a:extLst>
          </p:cNvPr>
          <p:cNvSpPr/>
          <p:nvPr/>
        </p:nvSpPr>
        <p:spPr>
          <a:xfrm>
            <a:off x="1819899"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2" name="Text 79">
            <a:extLst>
              <a:ext uri="{FF2B5EF4-FFF2-40B4-BE49-F238E27FC236}">
                <a16:creationId xmlns:a16="http://schemas.microsoft.com/office/drawing/2014/main" id="{37FF5E38-4F70-1C68-3580-FD6C0D20C5DF}"/>
              </a:ext>
            </a:extLst>
          </p:cNvPr>
          <p:cNvSpPr/>
          <p:nvPr/>
        </p:nvSpPr>
        <p:spPr>
          <a:xfrm>
            <a:off x="1819899"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4" name="Text 80">
            <a:extLst>
              <a:ext uri="{FF2B5EF4-FFF2-40B4-BE49-F238E27FC236}">
                <a16:creationId xmlns:a16="http://schemas.microsoft.com/office/drawing/2014/main" id="{5C71A4A8-6960-FBE7-CE24-A77A0C89DFFD}"/>
              </a:ext>
            </a:extLst>
          </p:cNvPr>
          <p:cNvSpPr/>
          <p:nvPr/>
        </p:nvSpPr>
        <p:spPr>
          <a:xfrm>
            <a:off x="2039355"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LINEシェア</a:t>
            </a:r>
            <a:endParaRPr lang="en-US" altLang="ja-JP" sz="850" dirty="0">
              <a:latin typeface="メイリオ" panose="020B0604030504040204" pitchFamily="50" charset="-128"/>
              <a:ea typeface="メイリオ" panose="020B0604030504040204" pitchFamily="50" charset="-128"/>
            </a:endParaRPr>
          </a:p>
        </p:txBody>
      </p:sp>
      <p:sp>
        <p:nvSpPr>
          <p:cNvPr id="296" name="Text 81">
            <a:extLst>
              <a:ext uri="{FF2B5EF4-FFF2-40B4-BE49-F238E27FC236}">
                <a16:creationId xmlns:a16="http://schemas.microsoft.com/office/drawing/2014/main" id="{F823702E-E3FF-CBCE-0A20-E5381533CBF2}"/>
              </a:ext>
            </a:extLst>
          </p:cNvPr>
          <p:cNvSpPr/>
          <p:nvPr/>
        </p:nvSpPr>
        <p:spPr>
          <a:xfrm>
            <a:off x="1819899"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心理ハードル最低</a:t>
            </a:r>
            <a:endParaRPr lang="en-US" altLang="ja-JP" sz="750" dirty="0">
              <a:latin typeface="メイリオ" panose="020B0604030504040204" pitchFamily="50" charset="-128"/>
              <a:ea typeface="メイリオ" panose="020B0604030504040204" pitchFamily="50" charset="-128"/>
            </a:endParaRPr>
          </a:p>
        </p:txBody>
      </p:sp>
      <p:sp>
        <p:nvSpPr>
          <p:cNvPr id="298" name="Text 82">
            <a:extLst>
              <a:ext uri="{FF2B5EF4-FFF2-40B4-BE49-F238E27FC236}">
                <a16:creationId xmlns:a16="http://schemas.microsoft.com/office/drawing/2014/main" id="{A83E74AB-BECE-59CE-D634-A3A5C9A361C9}"/>
              </a:ext>
            </a:extLst>
          </p:cNvPr>
          <p:cNvSpPr/>
          <p:nvPr/>
        </p:nvSpPr>
        <p:spPr>
          <a:xfrm>
            <a:off x="3045195"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0" name="Shape 83">
            <a:extLst>
              <a:ext uri="{FF2B5EF4-FFF2-40B4-BE49-F238E27FC236}">
                <a16:creationId xmlns:a16="http://schemas.microsoft.com/office/drawing/2014/main" id="{B99E233A-6870-51BA-7438-99DBD2BE03C3}"/>
              </a:ext>
            </a:extLst>
          </p:cNvPr>
          <p:cNvSpPr/>
          <p:nvPr/>
        </p:nvSpPr>
        <p:spPr>
          <a:xfrm>
            <a:off x="3173211"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2" name="Shape 84">
            <a:extLst>
              <a:ext uri="{FF2B5EF4-FFF2-40B4-BE49-F238E27FC236}">
                <a16:creationId xmlns:a16="http://schemas.microsoft.com/office/drawing/2014/main" id="{14136A19-FB98-4163-504D-27BC3C347109}"/>
              </a:ext>
            </a:extLst>
          </p:cNvPr>
          <p:cNvSpPr/>
          <p:nvPr/>
        </p:nvSpPr>
        <p:spPr>
          <a:xfrm>
            <a:off x="3228075"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4" name="Text 85">
            <a:extLst>
              <a:ext uri="{FF2B5EF4-FFF2-40B4-BE49-F238E27FC236}">
                <a16:creationId xmlns:a16="http://schemas.microsoft.com/office/drawing/2014/main" id="{B1261818-8213-92C4-5F69-CDB1FEED7D6B}"/>
              </a:ext>
            </a:extLst>
          </p:cNvPr>
          <p:cNvSpPr/>
          <p:nvPr/>
        </p:nvSpPr>
        <p:spPr>
          <a:xfrm>
            <a:off x="3228075"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6" name="Text 86">
            <a:extLst>
              <a:ext uri="{FF2B5EF4-FFF2-40B4-BE49-F238E27FC236}">
                <a16:creationId xmlns:a16="http://schemas.microsoft.com/office/drawing/2014/main" id="{2F5670AB-004B-F8FE-78FA-0194BCE83E05}"/>
              </a:ext>
            </a:extLst>
          </p:cNvPr>
          <p:cNvSpPr/>
          <p:nvPr/>
        </p:nvSpPr>
        <p:spPr>
          <a:xfrm>
            <a:off x="3447530" y="5957091"/>
            <a:ext cx="1060705"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紹介経由＋特典付与</a:t>
            </a:r>
            <a:endParaRPr lang="en-US" altLang="ja-JP" sz="850" dirty="0">
              <a:latin typeface="メイリオ" panose="020B0604030504040204" pitchFamily="50" charset="-128"/>
              <a:ea typeface="メイリオ" panose="020B0604030504040204" pitchFamily="50" charset="-128"/>
            </a:endParaRPr>
          </a:p>
        </p:txBody>
      </p:sp>
      <p:sp>
        <p:nvSpPr>
          <p:cNvPr id="308" name="Text 87">
            <a:extLst>
              <a:ext uri="{FF2B5EF4-FFF2-40B4-BE49-F238E27FC236}">
                <a16:creationId xmlns:a16="http://schemas.microsoft.com/office/drawing/2014/main" id="{DC6BE138-921D-A694-0DAC-F5A995A4F15D}"/>
              </a:ext>
            </a:extLst>
          </p:cNvPr>
          <p:cNvSpPr/>
          <p:nvPr/>
        </p:nvSpPr>
        <p:spPr>
          <a:xfrm>
            <a:off x="3228075"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ツール連携で自動追跡</a:t>
            </a:r>
            <a:endParaRPr lang="en-US" altLang="ja-JP" sz="750" dirty="0">
              <a:latin typeface="メイリオ" panose="020B0604030504040204" pitchFamily="50" charset="-128"/>
              <a:ea typeface="メイリオ" panose="020B0604030504040204" pitchFamily="50" charset="-128"/>
            </a:endParaRPr>
          </a:p>
        </p:txBody>
      </p:sp>
      <p:sp>
        <p:nvSpPr>
          <p:cNvPr id="310" name="Shape 88">
            <a:extLst>
              <a:ext uri="{FF2B5EF4-FFF2-40B4-BE49-F238E27FC236}">
                <a16:creationId xmlns:a16="http://schemas.microsoft.com/office/drawing/2014/main" id="{00EA83A8-D640-D726-5B4E-5B7E5CC8BB06}"/>
              </a:ext>
            </a:extLst>
          </p:cNvPr>
          <p:cNvSpPr/>
          <p:nvPr/>
        </p:nvSpPr>
        <p:spPr>
          <a:xfrm>
            <a:off x="5099366" y="2999769"/>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12" name="Shape 92">
            <a:extLst>
              <a:ext uri="{FF2B5EF4-FFF2-40B4-BE49-F238E27FC236}">
                <a16:creationId xmlns:a16="http://schemas.microsoft.com/office/drawing/2014/main" id="{2ED50188-C3E8-671B-437B-FE9D09CB0C8A}"/>
              </a:ext>
            </a:extLst>
          </p:cNvPr>
          <p:cNvSpPr/>
          <p:nvPr/>
        </p:nvSpPr>
        <p:spPr>
          <a:xfrm>
            <a:off x="5519991"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14" name="Text 93">
            <a:extLst>
              <a:ext uri="{FF2B5EF4-FFF2-40B4-BE49-F238E27FC236}">
                <a16:creationId xmlns:a16="http://schemas.microsoft.com/office/drawing/2014/main" id="{F6E39E70-FE8A-DE23-0A39-4AE1241BE1AD}"/>
              </a:ext>
            </a:extLst>
          </p:cNvPr>
          <p:cNvSpPr/>
          <p:nvPr/>
        </p:nvSpPr>
        <p:spPr>
          <a:xfrm>
            <a:off x="5519991"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再接触</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6" name="Text 94">
            <a:extLst>
              <a:ext uri="{FF2B5EF4-FFF2-40B4-BE49-F238E27FC236}">
                <a16:creationId xmlns:a16="http://schemas.microsoft.com/office/drawing/2014/main" id="{2B080416-8CAA-F775-2812-CDE294817703}"/>
              </a:ext>
            </a:extLst>
          </p:cNvPr>
          <p:cNvSpPr/>
          <p:nvPr/>
        </p:nvSpPr>
        <p:spPr>
          <a:xfrm>
            <a:off x="6379527" y="3082065"/>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長期離脱</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層</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へコンテンツ型ギフトで関係再構築</a:t>
            </a:r>
            <a:endParaRPr lang="en-US" altLang="ja-JP" sz="1100" dirty="0">
              <a:latin typeface="メイリオ" panose="020B0604030504040204" pitchFamily="50" charset="-128"/>
              <a:ea typeface="メイリオ" panose="020B0604030504040204" pitchFamily="50" charset="-128"/>
            </a:endParaRPr>
          </a:p>
        </p:txBody>
      </p:sp>
      <p:sp>
        <p:nvSpPr>
          <p:cNvPr id="318" name="Text 95">
            <a:extLst>
              <a:ext uri="{FF2B5EF4-FFF2-40B4-BE49-F238E27FC236}">
                <a16:creationId xmlns:a16="http://schemas.microsoft.com/office/drawing/2014/main" id="{56FA365B-5BDE-ED2F-4006-8ED9F6DCA2CB}"/>
              </a:ext>
            </a:extLst>
          </p:cNvPr>
          <p:cNvSpPr/>
          <p:nvPr/>
        </p:nvSpPr>
        <p:spPr>
          <a:xfrm>
            <a:off x="5190807" y="3383817"/>
            <a:ext cx="4449774" cy="493776"/>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6ヶ月以上アクションなしのユーザーに「ご無沙汰しています。最近こんな情報があります」という業界ニュース・役立つコンテンツ型で再接触。最初の2〜3回は純粋にギフトとして届け、関係を再構築してからCV訴求する。</a:t>
            </a:r>
            <a:endParaRPr lang="en-US" altLang="ja-JP" sz="850" dirty="0">
              <a:latin typeface="メイリオ" panose="020B0604030504040204" pitchFamily="50" charset="-128"/>
              <a:ea typeface="メイリオ" panose="020B0604030504040204" pitchFamily="50" charset="-128"/>
            </a:endParaRPr>
          </a:p>
        </p:txBody>
      </p:sp>
      <p:sp>
        <p:nvSpPr>
          <p:cNvPr id="320" name="Shape 96">
            <a:extLst>
              <a:ext uri="{FF2B5EF4-FFF2-40B4-BE49-F238E27FC236}">
                <a16:creationId xmlns:a16="http://schemas.microsoft.com/office/drawing/2014/main" id="{1E05EEB3-91EB-E94B-2D69-D35527B446BF}"/>
              </a:ext>
            </a:extLst>
          </p:cNvPr>
          <p:cNvSpPr/>
          <p:nvPr/>
        </p:nvSpPr>
        <p:spPr>
          <a:xfrm>
            <a:off x="5190807"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2" name="Shape 97">
            <a:extLst>
              <a:ext uri="{FF2B5EF4-FFF2-40B4-BE49-F238E27FC236}">
                <a16:creationId xmlns:a16="http://schemas.microsoft.com/office/drawing/2014/main" id="{BA904CD8-501F-A1E3-D3ED-D2CCD783E4DC}"/>
              </a:ext>
            </a:extLst>
          </p:cNvPr>
          <p:cNvSpPr/>
          <p:nvPr/>
        </p:nvSpPr>
        <p:spPr>
          <a:xfrm>
            <a:off x="5245671"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4" name="Text 98">
            <a:extLst>
              <a:ext uri="{FF2B5EF4-FFF2-40B4-BE49-F238E27FC236}">
                <a16:creationId xmlns:a16="http://schemas.microsoft.com/office/drawing/2014/main" id="{35DBBF69-D787-B899-0A91-599E4F6F88FD}"/>
              </a:ext>
            </a:extLst>
          </p:cNvPr>
          <p:cNvSpPr/>
          <p:nvPr/>
        </p:nvSpPr>
        <p:spPr>
          <a:xfrm>
            <a:off x="5245671"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26" name="Text 99">
            <a:extLst>
              <a:ext uri="{FF2B5EF4-FFF2-40B4-BE49-F238E27FC236}">
                <a16:creationId xmlns:a16="http://schemas.microsoft.com/office/drawing/2014/main" id="{571F5D58-D9F5-DDDB-BBA8-754874B6BA6A}"/>
              </a:ext>
            </a:extLst>
          </p:cNvPr>
          <p:cNvSpPr/>
          <p:nvPr/>
        </p:nvSpPr>
        <p:spPr>
          <a:xfrm>
            <a:off x="5465127"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役立つ情報のみ</a:t>
            </a:r>
            <a:endParaRPr lang="en-US" altLang="ja-JP" sz="850" dirty="0">
              <a:latin typeface="メイリオ" panose="020B0604030504040204" pitchFamily="50" charset="-128"/>
              <a:ea typeface="メイリオ" panose="020B0604030504040204" pitchFamily="50" charset="-128"/>
            </a:endParaRPr>
          </a:p>
        </p:txBody>
      </p:sp>
      <p:sp>
        <p:nvSpPr>
          <p:cNvPr id="328" name="Text 100">
            <a:extLst>
              <a:ext uri="{FF2B5EF4-FFF2-40B4-BE49-F238E27FC236}">
                <a16:creationId xmlns:a16="http://schemas.microsoft.com/office/drawing/2014/main" id="{ED413E21-4A95-D38C-61A6-621C9118C6E5}"/>
              </a:ext>
            </a:extLst>
          </p:cNvPr>
          <p:cNvSpPr/>
          <p:nvPr/>
        </p:nvSpPr>
        <p:spPr>
          <a:xfrm>
            <a:off x="5245671"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rPr>
              <a:t>売り込みゼロ×2〜3回</a:t>
            </a:r>
            <a:endParaRPr lang="en-US" altLang="ja-JP" sz="750" dirty="0">
              <a:latin typeface="メイリオ" panose="020B0604030504040204" pitchFamily="50" charset="-128"/>
              <a:ea typeface="メイリオ" panose="020B0604030504040204" pitchFamily="50" charset="-128"/>
            </a:endParaRPr>
          </a:p>
        </p:txBody>
      </p:sp>
      <p:sp>
        <p:nvSpPr>
          <p:cNvPr id="330" name="Text 101">
            <a:extLst>
              <a:ext uri="{FF2B5EF4-FFF2-40B4-BE49-F238E27FC236}">
                <a16:creationId xmlns:a16="http://schemas.microsoft.com/office/drawing/2014/main" id="{CCFB2388-34C1-5BB1-7989-946A3B745B6A}"/>
              </a:ext>
            </a:extLst>
          </p:cNvPr>
          <p:cNvSpPr/>
          <p:nvPr/>
        </p:nvSpPr>
        <p:spPr>
          <a:xfrm>
            <a:off x="6470967"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32" name="Shape 102">
            <a:extLst>
              <a:ext uri="{FF2B5EF4-FFF2-40B4-BE49-F238E27FC236}">
                <a16:creationId xmlns:a16="http://schemas.microsoft.com/office/drawing/2014/main" id="{F8446415-1501-E693-C4B3-EB8C32C67E45}"/>
              </a:ext>
            </a:extLst>
          </p:cNvPr>
          <p:cNvSpPr/>
          <p:nvPr/>
        </p:nvSpPr>
        <p:spPr>
          <a:xfrm>
            <a:off x="6598983"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4" name="Shape 103">
            <a:extLst>
              <a:ext uri="{FF2B5EF4-FFF2-40B4-BE49-F238E27FC236}">
                <a16:creationId xmlns:a16="http://schemas.microsoft.com/office/drawing/2014/main" id="{A98E62F3-DFAB-3380-0063-854CD3B54274}"/>
              </a:ext>
            </a:extLst>
          </p:cNvPr>
          <p:cNvSpPr/>
          <p:nvPr/>
        </p:nvSpPr>
        <p:spPr>
          <a:xfrm>
            <a:off x="6653847"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6" name="Text 104">
            <a:extLst>
              <a:ext uri="{FF2B5EF4-FFF2-40B4-BE49-F238E27FC236}">
                <a16:creationId xmlns:a16="http://schemas.microsoft.com/office/drawing/2014/main" id="{415DB8B7-F668-AC7A-CE33-494F03854BD4}"/>
              </a:ext>
            </a:extLst>
          </p:cNvPr>
          <p:cNvSpPr/>
          <p:nvPr/>
        </p:nvSpPr>
        <p:spPr>
          <a:xfrm>
            <a:off x="6653847"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38" name="Text 105">
            <a:extLst>
              <a:ext uri="{FF2B5EF4-FFF2-40B4-BE49-F238E27FC236}">
                <a16:creationId xmlns:a16="http://schemas.microsoft.com/office/drawing/2014/main" id="{FA1DC66E-AF0D-0985-0802-20D85E926CA0}"/>
              </a:ext>
            </a:extLst>
          </p:cNvPr>
          <p:cNvSpPr/>
          <p:nvPr/>
        </p:nvSpPr>
        <p:spPr>
          <a:xfrm>
            <a:off x="6873303"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関係再構築完了</a:t>
            </a:r>
            <a:endParaRPr lang="en-US" altLang="ja-JP" sz="850" dirty="0">
              <a:latin typeface="メイリオ" panose="020B0604030504040204" pitchFamily="50" charset="-128"/>
              <a:ea typeface="メイリオ" panose="020B0604030504040204" pitchFamily="50" charset="-128"/>
            </a:endParaRPr>
          </a:p>
        </p:txBody>
      </p:sp>
      <p:sp>
        <p:nvSpPr>
          <p:cNvPr id="340" name="Text 106">
            <a:extLst>
              <a:ext uri="{FF2B5EF4-FFF2-40B4-BE49-F238E27FC236}">
                <a16:creationId xmlns:a16="http://schemas.microsoft.com/office/drawing/2014/main" id="{4D8603BB-BC34-BD19-18F7-38CF49867740}"/>
              </a:ext>
            </a:extLst>
          </p:cNvPr>
          <p:cNvSpPr/>
          <p:nvPr/>
        </p:nvSpPr>
        <p:spPr>
          <a:xfrm>
            <a:off x="6653847"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ブロック率を抑制</a:t>
            </a:r>
            <a:endParaRPr lang="en-US" altLang="ja-JP" sz="750" dirty="0">
              <a:latin typeface="メイリオ" panose="020B0604030504040204" pitchFamily="50" charset="-128"/>
              <a:ea typeface="メイリオ" panose="020B0604030504040204" pitchFamily="50" charset="-128"/>
            </a:endParaRPr>
          </a:p>
        </p:txBody>
      </p:sp>
      <p:sp>
        <p:nvSpPr>
          <p:cNvPr id="342" name="Text 107">
            <a:extLst>
              <a:ext uri="{FF2B5EF4-FFF2-40B4-BE49-F238E27FC236}">
                <a16:creationId xmlns:a16="http://schemas.microsoft.com/office/drawing/2014/main" id="{588E7835-072B-748B-58F3-CA6AFC64CEFD}"/>
              </a:ext>
            </a:extLst>
          </p:cNvPr>
          <p:cNvSpPr/>
          <p:nvPr/>
        </p:nvSpPr>
        <p:spPr>
          <a:xfrm>
            <a:off x="7879143"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44" name="Shape 108">
            <a:extLst>
              <a:ext uri="{FF2B5EF4-FFF2-40B4-BE49-F238E27FC236}">
                <a16:creationId xmlns:a16="http://schemas.microsoft.com/office/drawing/2014/main" id="{4F170C42-630C-8D4B-FBB8-27015876762A}"/>
              </a:ext>
            </a:extLst>
          </p:cNvPr>
          <p:cNvSpPr/>
          <p:nvPr/>
        </p:nvSpPr>
        <p:spPr>
          <a:xfrm>
            <a:off x="8007159"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46" name="Shape 109">
            <a:extLst>
              <a:ext uri="{FF2B5EF4-FFF2-40B4-BE49-F238E27FC236}">
                <a16:creationId xmlns:a16="http://schemas.microsoft.com/office/drawing/2014/main" id="{4949CD92-D7C3-604E-24C2-5DF64D165947}"/>
              </a:ext>
            </a:extLst>
          </p:cNvPr>
          <p:cNvSpPr/>
          <p:nvPr/>
        </p:nvSpPr>
        <p:spPr>
          <a:xfrm>
            <a:off x="8062023"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48" name="Text 110">
            <a:extLst>
              <a:ext uri="{FF2B5EF4-FFF2-40B4-BE49-F238E27FC236}">
                <a16:creationId xmlns:a16="http://schemas.microsoft.com/office/drawing/2014/main" id="{89D2F0E4-B8EC-3B98-9281-44E80C6C2F05}"/>
              </a:ext>
            </a:extLst>
          </p:cNvPr>
          <p:cNvSpPr/>
          <p:nvPr/>
        </p:nvSpPr>
        <p:spPr>
          <a:xfrm>
            <a:off x="80620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50" name="Text 111">
            <a:extLst>
              <a:ext uri="{FF2B5EF4-FFF2-40B4-BE49-F238E27FC236}">
                <a16:creationId xmlns:a16="http://schemas.microsoft.com/office/drawing/2014/main" id="{86FADA7D-7380-B2D4-BB29-67FA3FF02D03}"/>
              </a:ext>
            </a:extLst>
          </p:cNvPr>
          <p:cNvSpPr/>
          <p:nvPr/>
        </p:nvSpPr>
        <p:spPr>
          <a:xfrm>
            <a:off x="8281479"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自然な形でCV訴求</a:t>
            </a:r>
            <a:endParaRPr lang="en-US" altLang="ja-JP" sz="850" dirty="0">
              <a:latin typeface="メイリオ" panose="020B0604030504040204" pitchFamily="50" charset="-128"/>
              <a:ea typeface="メイリオ" panose="020B0604030504040204" pitchFamily="50" charset="-128"/>
            </a:endParaRPr>
          </a:p>
        </p:txBody>
      </p:sp>
      <p:sp>
        <p:nvSpPr>
          <p:cNvPr id="352" name="Text 112">
            <a:extLst>
              <a:ext uri="{FF2B5EF4-FFF2-40B4-BE49-F238E27FC236}">
                <a16:creationId xmlns:a16="http://schemas.microsoft.com/office/drawing/2014/main" id="{281ABCCF-C22A-E77A-4B67-210FD1F78104}"/>
              </a:ext>
            </a:extLst>
          </p:cNvPr>
          <p:cNvSpPr/>
          <p:nvPr/>
        </p:nvSpPr>
        <p:spPr>
          <a:xfrm>
            <a:off x="8062023"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再購入率10%</a:t>
            </a:r>
            <a:r>
              <a:rPr lang="ja-JP" altLang="en-US" sz="750" dirty="0">
                <a:solidFill>
                  <a:srgbClr val="D0E8FF"/>
                </a:solidFill>
                <a:latin typeface="メイリオ" panose="020B0604030504040204" pitchFamily="50" charset="-128"/>
                <a:ea typeface="メイリオ" panose="020B0604030504040204" pitchFamily="50" charset="-128"/>
                <a:cs typeface="Calibri" pitchFamily="34" charset="-120"/>
              </a:rPr>
              <a:t>前後</a:t>
            </a:r>
            <a:endParaRPr lang="en-US" altLang="ja-JP" sz="750" dirty="0">
              <a:latin typeface="メイリオ" panose="020B0604030504040204" pitchFamily="50" charset="-128"/>
              <a:ea typeface="メイリオ" panose="020B0604030504040204" pitchFamily="50" charset="-128"/>
            </a:endParaRPr>
          </a:p>
        </p:txBody>
      </p:sp>
      <p:sp>
        <p:nvSpPr>
          <p:cNvPr id="354" name="Shape 113">
            <a:extLst>
              <a:ext uri="{FF2B5EF4-FFF2-40B4-BE49-F238E27FC236}">
                <a16:creationId xmlns:a16="http://schemas.microsoft.com/office/drawing/2014/main" id="{971278A0-D337-07E8-607D-BF93BE0DD844}"/>
              </a:ext>
            </a:extLst>
          </p:cNvPr>
          <p:cNvSpPr/>
          <p:nvPr/>
        </p:nvSpPr>
        <p:spPr>
          <a:xfrm>
            <a:off x="5099366" y="4842285"/>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6" name="Shape 117">
            <a:extLst>
              <a:ext uri="{FF2B5EF4-FFF2-40B4-BE49-F238E27FC236}">
                <a16:creationId xmlns:a16="http://schemas.microsoft.com/office/drawing/2014/main" id="{F47773F9-0CEF-F0E1-89AB-B3B4EFC203DB}"/>
              </a:ext>
            </a:extLst>
          </p:cNvPr>
          <p:cNvSpPr/>
          <p:nvPr/>
        </p:nvSpPr>
        <p:spPr>
          <a:xfrm>
            <a:off x="5519991"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8" name="Text 118">
            <a:extLst>
              <a:ext uri="{FF2B5EF4-FFF2-40B4-BE49-F238E27FC236}">
                <a16:creationId xmlns:a16="http://schemas.microsoft.com/office/drawing/2014/main" id="{5E262051-72BB-2E2F-38AC-EAC107F4BF2D}"/>
              </a:ext>
            </a:extLst>
          </p:cNvPr>
          <p:cNvSpPr/>
          <p:nvPr/>
        </p:nvSpPr>
        <p:spPr>
          <a:xfrm>
            <a:off x="5519991"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フロー案内</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0" name="Text 119">
            <a:extLst>
              <a:ext uri="{FF2B5EF4-FFF2-40B4-BE49-F238E27FC236}">
                <a16:creationId xmlns:a16="http://schemas.microsoft.com/office/drawing/2014/main" id="{E3B15F81-AADD-9921-7172-C1CD99BDF110}"/>
              </a:ext>
            </a:extLst>
          </p:cNvPr>
          <p:cNvSpPr/>
          <p:nvPr/>
        </p:nvSpPr>
        <p:spPr>
          <a:xfrm>
            <a:off x="6379526" y="4924581"/>
            <a:ext cx="3480635" cy="256032"/>
          </a:xfrm>
          <a:prstGeom prst="rect">
            <a:avLst/>
          </a:prstGeom>
          <a:noFill/>
          <a:ln/>
        </p:spPr>
        <p:txBody>
          <a:bodyPr wrap="square" lIns="0" tIns="0" rIns="0" bIns="0" rtlCol="0" anchor="ctr"/>
          <a:lstStyle/>
          <a:p>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誕生日記念日タグ </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 </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パーソナライズ配信で</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LTV</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向上</a:t>
            </a:r>
          </a:p>
        </p:txBody>
      </p:sp>
      <p:sp>
        <p:nvSpPr>
          <p:cNvPr id="362" name="Text 120">
            <a:extLst>
              <a:ext uri="{FF2B5EF4-FFF2-40B4-BE49-F238E27FC236}">
                <a16:creationId xmlns:a16="http://schemas.microsoft.com/office/drawing/2014/main" id="{5D40B60F-5F09-DB2E-8DFF-C187AC234EEE}"/>
              </a:ext>
            </a:extLst>
          </p:cNvPr>
          <p:cNvSpPr/>
          <p:nvPr/>
        </p:nvSpPr>
        <p:spPr>
          <a:xfrm>
            <a:off x="5190807" y="5226333"/>
            <a:ext cx="4449774" cy="529590"/>
          </a:xfrm>
          <a:prstGeom prst="rect">
            <a:avLst/>
          </a:prstGeom>
          <a:noFill/>
          <a:ln/>
        </p:spPr>
        <p:txBody>
          <a:bodyPr wrap="square" lIns="0" tIns="0" rIns="0" bIns="0" rtlCol="0" anchor="ctr"/>
          <a:lstStyle/>
          <a:p>
            <a:pPr>
              <a:lnSpc>
                <a:spcPct val="135000"/>
              </a:lnSpc>
            </a:pP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誕生日・入会記念日を記念日タグとして登録し</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様、今日はご誕生日おめでとうございます。特別クーポンをお贈りします」を自動配信</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。「自分のことを覚えてくれている」体験がロイヤリティを高め年間LTVを平均20%向上。</a:t>
            </a:r>
            <a:endParaRPr lang="en-US" altLang="ja-JP" sz="850" dirty="0">
              <a:latin typeface="メイリオ" panose="020B0604030504040204" pitchFamily="50" charset="-128"/>
              <a:ea typeface="メイリオ" panose="020B0604030504040204" pitchFamily="50" charset="-128"/>
            </a:endParaRPr>
          </a:p>
        </p:txBody>
      </p:sp>
      <p:sp>
        <p:nvSpPr>
          <p:cNvPr id="364" name="Shape 121">
            <a:extLst>
              <a:ext uri="{FF2B5EF4-FFF2-40B4-BE49-F238E27FC236}">
                <a16:creationId xmlns:a16="http://schemas.microsoft.com/office/drawing/2014/main" id="{6D87E532-2B58-F1E3-5364-68322B8546E8}"/>
              </a:ext>
            </a:extLst>
          </p:cNvPr>
          <p:cNvSpPr/>
          <p:nvPr/>
        </p:nvSpPr>
        <p:spPr>
          <a:xfrm>
            <a:off x="5190807"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6" name="Shape 122">
            <a:extLst>
              <a:ext uri="{FF2B5EF4-FFF2-40B4-BE49-F238E27FC236}">
                <a16:creationId xmlns:a16="http://schemas.microsoft.com/office/drawing/2014/main" id="{D091E1D9-CAC7-E7FA-4AE7-10C04B5FA5B7}"/>
              </a:ext>
            </a:extLst>
          </p:cNvPr>
          <p:cNvSpPr/>
          <p:nvPr/>
        </p:nvSpPr>
        <p:spPr>
          <a:xfrm>
            <a:off x="5245671"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8" name="Text 123">
            <a:extLst>
              <a:ext uri="{FF2B5EF4-FFF2-40B4-BE49-F238E27FC236}">
                <a16:creationId xmlns:a16="http://schemas.microsoft.com/office/drawing/2014/main" id="{91206034-9E2C-FBA8-B2C3-24856EE4B44C}"/>
              </a:ext>
            </a:extLst>
          </p:cNvPr>
          <p:cNvSpPr/>
          <p:nvPr/>
        </p:nvSpPr>
        <p:spPr>
          <a:xfrm>
            <a:off x="5245671"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0" name="Text 124">
            <a:extLst>
              <a:ext uri="{FF2B5EF4-FFF2-40B4-BE49-F238E27FC236}">
                <a16:creationId xmlns:a16="http://schemas.microsoft.com/office/drawing/2014/main" id="{96A70C8C-D3D2-8BAD-7C6C-DDACC0B79B34}"/>
              </a:ext>
            </a:extLst>
          </p:cNvPr>
          <p:cNvSpPr/>
          <p:nvPr/>
        </p:nvSpPr>
        <p:spPr>
          <a:xfrm>
            <a:off x="5465127"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記念日タグを設定</a:t>
            </a:r>
            <a:endParaRPr lang="en-US" altLang="ja-JP" sz="850" dirty="0">
              <a:latin typeface="メイリオ" panose="020B0604030504040204" pitchFamily="50" charset="-128"/>
              <a:ea typeface="メイリオ" panose="020B0604030504040204" pitchFamily="50" charset="-128"/>
            </a:endParaRPr>
          </a:p>
        </p:txBody>
      </p:sp>
      <p:sp>
        <p:nvSpPr>
          <p:cNvPr id="372" name="Text 125">
            <a:extLst>
              <a:ext uri="{FF2B5EF4-FFF2-40B4-BE49-F238E27FC236}">
                <a16:creationId xmlns:a16="http://schemas.microsoft.com/office/drawing/2014/main" id="{C7DCCB91-2446-504F-DB21-38DC9E40A99E}"/>
              </a:ext>
            </a:extLst>
          </p:cNvPr>
          <p:cNvSpPr/>
          <p:nvPr/>
        </p:nvSpPr>
        <p:spPr>
          <a:xfrm>
            <a:off x="5245671"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誕生日・入会日等</a:t>
            </a:r>
            <a:endParaRPr lang="en-US" altLang="ja-JP" sz="750" dirty="0">
              <a:latin typeface="メイリオ" panose="020B0604030504040204" pitchFamily="50" charset="-128"/>
              <a:ea typeface="メイリオ" panose="020B0604030504040204" pitchFamily="50" charset="-128"/>
            </a:endParaRPr>
          </a:p>
        </p:txBody>
      </p:sp>
      <p:sp>
        <p:nvSpPr>
          <p:cNvPr id="374" name="Text 126">
            <a:extLst>
              <a:ext uri="{FF2B5EF4-FFF2-40B4-BE49-F238E27FC236}">
                <a16:creationId xmlns:a16="http://schemas.microsoft.com/office/drawing/2014/main" id="{1F4F8BB1-7C46-CFAC-4A82-3A92CFDC15EE}"/>
              </a:ext>
            </a:extLst>
          </p:cNvPr>
          <p:cNvSpPr/>
          <p:nvPr/>
        </p:nvSpPr>
        <p:spPr>
          <a:xfrm>
            <a:off x="6470967"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6" name="Shape 127">
            <a:extLst>
              <a:ext uri="{FF2B5EF4-FFF2-40B4-BE49-F238E27FC236}">
                <a16:creationId xmlns:a16="http://schemas.microsoft.com/office/drawing/2014/main" id="{2D872CE0-C558-B33C-59A0-3B8B41F4DCBB}"/>
              </a:ext>
            </a:extLst>
          </p:cNvPr>
          <p:cNvSpPr/>
          <p:nvPr/>
        </p:nvSpPr>
        <p:spPr>
          <a:xfrm>
            <a:off x="6598983"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78" name="Shape 128">
            <a:extLst>
              <a:ext uri="{FF2B5EF4-FFF2-40B4-BE49-F238E27FC236}">
                <a16:creationId xmlns:a16="http://schemas.microsoft.com/office/drawing/2014/main" id="{356DDE33-7381-CEF0-7015-298C11EB34FA}"/>
              </a:ext>
            </a:extLst>
          </p:cNvPr>
          <p:cNvSpPr/>
          <p:nvPr/>
        </p:nvSpPr>
        <p:spPr>
          <a:xfrm>
            <a:off x="6653847"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0" name="Text 129">
            <a:extLst>
              <a:ext uri="{FF2B5EF4-FFF2-40B4-BE49-F238E27FC236}">
                <a16:creationId xmlns:a16="http://schemas.microsoft.com/office/drawing/2014/main" id="{EE6BBEAB-1160-1953-0E09-D30313ED9406}"/>
              </a:ext>
            </a:extLst>
          </p:cNvPr>
          <p:cNvSpPr/>
          <p:nvPr/>
        </p:nvSpPr>
        <p:spPr>
          <a:xfrm>
            <a:off x="6653847"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2" name="Text 130">
            <a:extLst>
              <a:ext uri="{FF2B5EF4-FFF2-40B4-BE49-F238E27FC236}">
                <a16:creationId xmlns:a16="http://schemas.microsoft.com/office/drawing/2014/main" id="{F035AA22-D856-8317-F313-F0B2385E993B}"/>
              </a:ext>
            </a:extLst>
          </p:cNvPr>
          <p:cNvSpPr/>
          <p:nvPr/>
        </p:nvSpPr>
        <p:spPr>
          <a:xfrm>
            <a:off x="6873303"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特別オファ</a:t>
            </a:r>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ー</a:t>
            </a:r>
            <a:r>
              <a:rPr lang="ja-JP" altLang="en-US" sz="850" b="1" dirty="0">
                <a:solidFill>
                  <a:srgbClr val="1A1A2E"/>
                </a:solidFill>
                <a:latin typeface="メイリオ" panose="020B0604030504040204" pitchFamily="50" charset="-128"/>
                <a:ea typeface="メイリオ" panose="020B0604030504040204" pitchFamily="50" charset="-128"/>
                <a:cs typeface="Calibri" pitchFamily="34" charset="-120"/>
              </a:rPr>
              <a:t>配信</a:t>
            </a:r>
            <a:endParaRPr lang="en-US" altLang="ja-JP" sz="850" dirty="0">
              <a:latin typeface="メイリオ" panose="020B0604030504040204" pitchFamily="50" charset="-128"/>
              <a:ea typeface="メイリオ" panose="020B0604030504040204" pitchFamily="50" charset="-128"/>
            </a:endParaRPr>
          </a:p>
        </p:txBody>
      </p:sp>
      <p:sp>
        <p:nvSpPr>
          <p:cNvPr id="384" name="Text 131">
            <a:extLst>
              <a:ext uri="{FF2B5EF4-FFF2-40B4-BE49-F238E27FC236}">
                <a16:creationId xmlns:a16="http://schemas.microsoft.com/office/drawing/2014/main" id="{5E7101A0-55A9-D99A-CD95-05335CAC2992}"/>
              </a:ext>
            </a:extLst>
          </p:cNvPr>
          <p:cNvSpPr/>
          <p:nvPr/>
        </p:nvSpPr>
        <p:spPr>
          <a:xfrm>
            <a:off x="6653847"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完全自動・スタッフゼロ</a:t>
            </a:r>
            <a:endParaRPr lang="en-US" altLang="ja-JP" sz="750" dirty="0">
              <a:latin typeface="メイリオ" panose="020B0604030504040204" pitchFamily="50" charset="-128"/>
              <a:ea typeface="メイリオ" panose="020B0604030504040204" pitchFamily="50" charset="-128"/>
            </a:endParaRPr>
          </a:p>
        </p:txBody>
      </p:sp>
      <p:sp>
        <p:nvSpPr>
          <p:cNvPr id="386" name="Text 132">
            <a:extLst>
              <a:ext uri="{FF2B5EF4-FFF2-40B4-BE49-F238E27FC236}">
                <a16:creationId xmlns:a16="http://schemas.microsoft.com/office/drawing/2014/main" id="{EB31AD4D-43BF-8F45-39CD-B0337D31809F}"/>
              </a:ext>
            </a:extLst>
          </p:cNvPr>
          <p:cNvSpPr/>
          <p:nvPr/>
        </p:nvSpPr>
        <p:spPr>
          <a:xfrm>
            <a:off x="7879143"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8" name="Shape 133">
            <a:extLst>
              <a:ext uri="{FF2B5EF4-FFF2-40B4-BE49-F238E27FC236}">
                <a16:creationId xmlns:a16="http://schemas.microsoft.com/office/drawing/2014/main" id="{9D865312-D619-1BB5-483D-A496A7C19C36}"/>
              </a:ext>
            </a:extLst>
          </p:cNvPr>
          <p:cNvSpPr/>
          <p:nvPr/>
        </p:nvSpPr>
        <p:spPr>
          <a:xfrm>
            <a:off x="8007159"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0" name="Shape 134">
            <a:extLst>
              <a:ext uri="{FF2B5EF4-FFF2-40B4-BE49-F238E27FC236}">
                <a16:creationId xmlns:a16="http://schemas.microsoft.com/office/drawing/2014/main" id="{A6902040-0093-C584-7CD4-3A8474835775}"/>
              </a:ext>
            </a:extLst>
          </p:cNvPr>
          <p:cNvSpPr/>
          <p:nvPr/>
        </p:nvSpPr>
        <p:spPr>
          <a:xfrm>
            <a:off x="8062023"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2" name="Text 135">
            <a:extLst>
              <a:ext uri="{FF2B5EF4-FFF2-40B4-BE49-F238E27FC236}">
                <a16:creationId xmlns:a16="http://schemas.microsoft.com/office/drawing/2014/main" id="{FB44CA82-5B08-B387-57C3-88F14FCA18B7}"/>
              </a:ext>
            </a:extLst>
          </p:cNvPr>
          <p:cNvSpPr/>
          <p:nvPr/>
        </p:nvSpPr>
        <p:spPr>
          <a:xfrm>
            <a:off x="80620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4" name="Text 136">
            <a:extLst>
              <a:ext uri="{FF2B5EF4-FFF2-40B4-BE49-F238E27FC236}">
                <a16:creationId xmlns:a16="http://schemas.microsoft.com/office/drawing/2014/main" id="{85A4EC17-97B2-BCD7-FCE3-303E8114491D}"/>
              </a:ext>
            </a:extLst>
          </p:cNvPr>
          <p:cNvSpPr/>
          <p:nvPr/>
        </p:nvSpPr>
        <p:spPr>
          <a:xfrm>
            <a:off x="8281479" y="5957091"/>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満足度向上</a:t>
            </a:r>
            <a:endParaRPr lang="en-US" altLang="ja-JP" sz="850" dirty="0">
              <a:latin typeface="メイリオ" panose="020B0604030504040204" pitchFamily="50" charset="-128"/>
              <a:ea typeface="メイリオ" panose="020B0604030504040204" pitchFamily="50" charset="-128"/>
            </a:endParaRPr>
          </a:p>
        </p:txBody>
      </p:sp>
      <p:sp>
        <p:nvSpPr>
          <p:cNvPr id="396" name="Text 137">
            <a:extLst>
              <a:ext uri="{FF2B5EF4-FFF2-40B4-BE49-F238E27FC236}">
                <a16:creationId xmlns:a16="http://schemas.microsoft.com/office/drawing/2014/main" id="{F48F4888-D926-9901-DE92-103FA2FF00EB}"/>
              </a:ext>
            </a:extLst>
          </p:cNvPr>
          <p:cNvSpPr/>
          <p:nvPr/>
        </p:nvSpPr>
        <p:spPr>
          <a:xfrm>
            <a:off x="80620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紹介・口コミ促進</a:t>
            </a:r>
            <a:endParaRPr lang="en-US" altLang="ja-JP" sz="750" dirty="0">
              <a:latin typeface="メイリオ" panose="020B0604030504040204" pitchFamily="50" charset="-128"/>
              <a:ea typeface="メイリオ" panose="020B0604030504040204" pitchFamily="50" charset="-128"/>
            </a:endParaRPr>
          </a:p>
        </p:txBody>
      </p:sp>
      <p:sp>
        <p:nvSpPr>
          <p:cNvPr id="398" name="Shape 36">
            <a:extLst>
              <a:ext uri="{FF2B5EF4-FFF2-40B4-BE49-F238E27FC236}">
                <a16:creationId xmlns:a16="http://schemas.microsoft.com/office/drawing/2014/main" id="{0734E444-168A-89C6-D964-38759E540BCB}"/>
              </a:ext>
            </a:extLst>
          </p:cNvPr>
          <p:cNvSpPr/>
          <p:nvPr/>
        </p:nvSpPr>
        <p:spPr>
          <a:xfrm>
            <a:off x="3568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0" name="Shape 36">
            <a:extLst>
              <a:ext uri="{FF2B5EF4-FFF2-40B4-BE49-F238E27FC236}">
                <a16:creationId xmlns:a16="http://schemas.microsoft.com/office/drawing/2014/main" id="{B45D359F-4CA9-C051-F58B-E1296B6FBFE4}"/>
              </a:ext>
            </a:extLst>
          </p:cNvPr>
          <p:cNvSpPr/>
          <p:nvPr/>
        </p:nvSpPr>
        <p:spPr>
          <a:xfrm>
            <a:off x="52082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2" name="Shape 36">
            <a:extLst>
              <a:ext uri="{FF2B5EF4-FFF2-40B4-BE49-F238E27FC236}">
                <a16:creationId xmlns:a16="http://schemas.microsoft.com/office/drawing/2014/main" id="{8EA02CFD-BE47-AC79-7F8B-5F9B8FB2B494}"/>
              </a:ext>
            </a:extLst>
          </p:cNvPr>
          <p:cNvSpPr/>
          <p:nvPr/>
        </p:nvSpPr>
        <p:spPr>
          <a:xfrm>
            <a:off x="52082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8" name="Shape 59">
            <a:extLst>
              <a:ext uri="{FF2B5EF4-FFF2-40B4-BE49-F238E27FC236}">
                <a16:creationId xmlns:a16="http://schemas.microsoft.com/office/drawing/2014/main" id="{906437AE-A1AC-C85D-0C78-A58EF8AC7546}"/>
              </a:ext>
            </a:extLst>
          </p:cNvPr>
          <p:cNvSpPr/>
          <p:nvPr/>
        </p:nvSpPr>
        <p:spPr>
          <a:xfrm>
            <a:off x="6653847" y="110408"/>
            <a:ext cx="1446971" cy="330537"/>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中長期で導入検討</a:t>
            </a:r>
          </a:p>
        </p:txBody>
      </p:sp>
      <p:sp>
        <p:nvSpPr>
          <p:cNvPr id="12" name="Shape 88">
            <a:extLst>
              <a:ext uri="{FF2B5EF4-FFF2-40B4-BE49-F238E27FC236}">
                <a16:creationId xmlns:a16="http://schemas.microsoft.com/office/drawing/2014/main" id="{BBB2E958-CD66-B60F-6B1C-02CC16969C76}"/>
              </a:ext>
            </a:extLst>
          </p:cNvPr>
          <p:cNvSpPr/>
          <p:nvPr/>
        </p:nvSpPr>
        <p:spPr>
          <a:xfrm>
            <a:off x="5134337" y="111417"/>
            <a:ext cx="1442146" cy="330537"/>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導入推奨</a:t>
            </a:r>
          </a:p>
        </p:txBody>
      </p:sp>
    </p:spTree>
    <p:extLst>
      <p:ext uri="{BB962C8B-B14F-4D97-AF65-F5344CB8AC3E}">
        <p14:creationId xmlns:p14="http://schemas.microsoft.com/office/powerpoint/2010/main" val="229972551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導入成果シミュレーション（Before / After）</a:t>
            </a:r>
          </a:p>
        </p:txBody>
      </p:sp>
      <p:sp>
        <p:nvSpPr>
          <p:cNvPr id="3" name="TextBox 2"/>
          <p:cNvSpPr txBox="1"/>
          <p:nvPr/>
        </p:nvSpPr>
        <p:spPr>
          <a:xfrm>
            <a:off x="384048" y="713232"/>
            <a:ext cx="9134856" cy="215444"/>
          </a:xfrm>
          <a:prstGeom prst="rect">
            <a:avLst/>
          </a:prstGeom>
          <a:noFill/>
        </p:spPr>
        <p:txBody>
          <a:bodyPr wrap="square" lIns="0" tIns="0" rIns="0" bIns="0">
            <a:spAutoFit/>
          </a:bodyPr>
          <a:lstStyle/>
          <a:p>
            <a:r>
              <a:rPr sz="1400" b="0" dirty="0" err="1">
                <a:solidFill>
                  <a:srgbClr val="646C82"/>
                </a:solidFill>
                <a:latin typeface="メイリオ"/>
                <a:ea typeface="メイリオ"/>
              </a:rPr>
              <a:t>WEB広告</a:t>
            </a:r>
            <a:r>
              <a:rPr sz="1400" b="0" dirty="0">
                <a:solidFill>
                  <a:srgbClr val="646C82"/>
                </a:solidFill>
                <a:latin typeface="メイリオ"/>
                <a:ea typeface="メイリオ"/>
              </a:rPr>
              <a:t> 月100万円は据え置き。追加するのはLINE運用費10万円のみ。（月会費8,000円・平均在籍12ヶ月）</a:t>
            </a:r>
          </a:p>
        </p:txBody>
      </p:sp>
      <p:graphicFrame>
        <p:nvGraphicFramePr>
          <p:cNvPr id="4" name="Table 3"/>
          <p:cNvGraphicFramePr>
            <a:graphicFrameLocks noGrp="1"/>
          </p:cNvGraphicFramePr>
          <p:nvPr>
            <p:extLst>
              <p:ext uri="{D42A27DB-BD31-4B8C-83A1-F6EECF244321}">
                <p14:modId xmlns:p14="http://schemas.microsoft.com/office/powerpoint/2010/main" val="2305978959"/>
              </p:ext>
            </p:extLst>
          </p:nvPr>
        </p:nvGraphicFramePr>
        <p:xfrm>
          <a:off x="384048" y="1170432"/>
          <a:ext cx="9134856" cy="3628209"/>
        </p:xfrm>
        <a:graphic>
          <a:graphicData uri="http://schemas.openxmlformats.org/drawingml/2006/table">
            <a:tbl>
              <a:tblPr firstRow="1" bandRow="1">
                <a:tableStyleId>{5C22544A-7EE6-4342-B048-85BDC9FD1C3A}</a:tableStyleId>
              </a:tblPr>
              <a:tblGrid>
                <a:gridCol w="251460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2514600">
                  <a:extLst>
                    <a:ext uri="{9D8B030D-6E8A-4147-A177-3AD203B41FA5}">
                      <a16:colId xmlns:a16="http://schemas.microsoft.com/office/drawing/2014/main" val="20002"/>
                    </a:ext>
                  </a:extLst>
                </a:gridCol>
                <a:gridCol w="1956816">
                  <a:extLst>
                    <a:ext uri="{9D8B030D-6E8A-4147-A177-3AD203B41FA5}">
                      <a16:colId xmlns:a16="http://schemas.microsoft.com/office/drawing/2014/main" val="20003"/>
                    </a:ext>
                  </a:extLst>
                </a:gridCol>
              </a:tblGrid>
              <a:tr h="257991">
                <a:tc>
                  <a:txBody>
                    <a:bodyPr/>
                    <a:lstStyle/>
                    <a:p>
                      <a:pPr algn="ctr"/>
                      <a:r>
                        <a:rPr sz="1200" b="1">
                          <a:solidFill>
                            <a:srgbClr val="FFFFFF"/>
                          </a:solidFill>
                          <a:latin typeface="メイリオ"/>
                          <a:ea typeface="メイリオ"/>
                        </a:rPr>
                        <a:t>指標</a:t>
                      </a:r>
                    </a:p>
                  </a:txBody>
                  <a:tcPr>
                    <a:solidFill>
                      <a:srgbClr val="1F2A5C"/>
                    </a:solidFill>
                  </a:tcPr>
                </a:tc>
                <a:tc>
                  <a:txBody>
                    <a:bodyPr/>
                    <a:lstStyle/>
                    <a:p>
                      <a:pPr algn="ctr"/>
                      <a:r>
                        <a:rPr sz="1200" b="1">
                          <a:solidFill>
                            <a:srgbClr val="FFFFFF"/>
                          </a:solidFill>
                          <a:latin typeface="メイリオ"/>
                          <a:ea typeface="メイリオ"/>
                        </a:rPr>
                        <a:t>Before（WEB広告のみ）</a:t>
                      </a:r>
                    </a:p>
                  </a:txBody>
                  <a:tcPr>
                    <a:solidFill>
                      <a:srgbClr val="1F2A5C"/>
                    </a:solidFill>
                  </a:tcPr>
                </a:tc>
                <a:tc>
                  <a:txBody>
                    <a:bodyPr/>
                    <a:lstStyle/>
                    <a:p>
                      <a:pPr algn="ctr"/>
                      <a:r>
                        <a:rPr sz="1200" b="1">
                          <a:solidFill>
                            <a:srgbClr val="FFFFFF"/>
                          </a:solidFill>
                          <a:latin typeface="メイリオ"/>
                          <a:ea typeface="メイリオ"/>
                        </a:rPr>
                        <a:t>After（広告 × LINE OA）</a:t>
                      </a:r>
                    </a:p>
                  </a:txBody>
                  <a:tcPr>
                    <a:solidFill>
                      <a:srgbClr val="1F2A5C"/>
                    </a:solidFill>
                  </a:tcPr>
                </a:tc>
                <a:tc>
                  <a:txBody>
                    <a:bodyPr/>
                    <a:lstStyle/>
                    <a:p>
                      <a:pPr algn="ctr"/>
                      <a:r>
                        <a:rPr sz="1200" b="1">
                          <a:solidFill>
                            <a:srgbClr val="FFFFFF"/>
                          </a:solidFill>
                          <a:latin typeface="メイリオ"/>
                          <a:ea typeface="メイリオ"/>
                        </a:rPr>
                        <a:t>差分</a:t>
                      </a:r>
                    </a:p>
                  </a:txBody>
                  <a:tcPr>
                    <a:solidFill>
                      <a:srgbClr val="1F2A5C"/>
                    </a:solidFill>
                  </a:tcPr>
                </a:tc>
                <a:extLst>
                  <a:ext uri="{0D108BD9-81ED-4DB2-BD59-A6C34878D82A}">
                    <a16:rowId xmlns:a16="http://schemas.microsoft.com/office/drawing/2014/main" val="10000"/>
                  </a:ext>
                </a:extLst>
              </a:tr>
              <a:tr h="257991">
                <a:tc>
                  <a:txBody>
                    <a:bodyPr/>
                    <a:lstStyle/>
                    <a:p>
                      <a:pPr algn="l"/>
                      <a:r>
                        <a:rPr sz="1050" b="0">
                          <a:solidFill>
                            <a:srgbClr val="1C2233"/>
                          </a:solidFill>
                          <a:latin typeface="メイリオ"/>
                          <a:ea typeface="メイリオ"/>
                        </a:rPr>
                        <a:t>投下計（広告費＋LINE運用費）</a:t>
                      </a:r>
                    </a:p>
                  </a:txBody>
                  <a:tcPr>
                    <a:solidFill>
                      <a:srgbClr val="FFFFFF"/>
                    </a:solidFill>
                  </a:tcPr>
                </a:tc>
                <a:tc>
                  <a:txBody>
                    <a:bodyPr/>
                    <a:lstStyle/>
                    <a:p>
                      <a:pPr algn="ctr"/>
                      <a:r>
                        <a:rPr sz="1050" b="0">
                          <a:solidFill>
                            <a:srgbClr val="1C2233"/>
                          </a:solidFill>
                          <a:latin typeface="メイリオ"/>
                          <a:ea typeface="メイリオ"/>
                        </a:rPr>
                        <a:t>100万円</a:t>
                      </a:r>
                    </a:p>
                  </a:txBody>
                  <a:tcPr>
                    <a:solidFill>
                      <a:srgbClr val="FFFFFF"/>
                    </a:solidFill>
                  </a:tcPr>
                </a:tc>
                <a:tc>
                  <a:txBody>
                    <a:bodyPr/>
                    <a:lstStyle/>
                    <a:p>
                      <a:pPr algn="ctr"/>
                      <a:r>
                        <a:rPr sz="1050" b="0">
                          <a:solidFill>
                            <a:srgbClr val="1C2233"/>
                          </a:solidFill>
                          <a:latin typeface="メイリオ"/>
                          <a:ea typeface="メイリオ"/>
                        </a:rPr>
                        <a:t>110万円</a:t>
                      </a:r>
                    </a:p>
                  </a:txBody>
                  <a:tcPr>
                    <a:solidFill>
                      <a:srgbClr val="FFFFFF"/>
                    </a:solidFill>
                  </a:tcPr>
                </a:tc>
                <a:tc>
                  <a:txBody>
                    <a:bodyPr/>
                    <a:lstStyle/>
                    <a:p>
                      <a:pPr algn="ctr"/>
                      <a:r>
                        <a:rPr sz="1050" b="0">
                          <a:solidFill>
                            <a:srgbClr val="1C2233"/>
                          </a:solidFill>
                          <a:latin typeface="メイリオ"/>
                          <a:ea typeface="メイリオ"/>
                        </a:rPr>
                        <a:t>+10%</a:t>
                      </a:r>
                    </a:p>
                  </a:txBody>
                  <a:tcPr>
                    <a:solidFill>
                      <a:srgbClr val="FFFFFF"/>
                    </a:solidFill>
                  </a:tcPr>
                </a:tc>
                <a:extLst>
                  <a:ext uri="{0D108BD9-81ED-4DB2-BD59-A6C34878D82A}">
                    <a16:rowId xmlns:a16="http://schemas.microsoft.com/office/drawing/2014/main" val="10001"/>
                  </a:ext>
                </a:extLst>
              </a:tr>
              <a:tr h="257991">
                <a:tc>
                  <a:txBody>
                    <a:bodyPr/>
                    <a:lstStyle/>
                    <a:p>
                      <a:pPr algn="l"/>
                      <a:r>
                        <a:rPr sz="1050" b="0">
                          <a:solidFill>
                            <a:srgbClr val="1C2233"/>
                          </a:solidFill>
                          <a:latin typeface="メイリオ"/>
                          <a:ea typeface="メイリオ"/>
                        </a:rPr>
                        <a:t>LP流入 × LP CVR</a:t>
                      </a:r>
                    </a:p>
                  </a:txBody>
                  <a:tcPr>
                    <a:solidFill>
                      <a:srgbClr val="EFF1F7"/>
                    </a:solidFill>
                  </a:tcPr>
                </a:tc>
                <a:tc>
                  <a:txBody>
                    <a:bodyPr/>
                    <a:lstStyle/>
                    <a:p>
                      <a:pPr algn="ctr"/>
                      <a:r>
                        <a:rPr sz="1050" b="0">
                          <a:solidFill>
                            <a:srgbClr val="1C2233"/>
                          </a:solidFill>
                          <a:latin typeface="メイリオ"/>
                          <a:ea typeface="メイリオ"/>
                        </a:rPr>
                        <a:t>5,000 × 2.0%</a:t>
                      </a:r>
                    </a:p>
                  </a:txBody>
                  <a:tcPr>
                    <a:solidFill>
                      <a:srgbClr val="EFF1F7"/>
                    </a:solidFill>
                  </a:tcPr>
                </a:tc>
                <a:tc>
                  <a:txBody>
                    <a:bodyPr/>
                    <a:lstStyle/>
                    <a:p>
                      <a:pPr algn="ctr"/>
                      <a:r>
                        <a:rPr sz="1050" b="0">
                          <a:solidFill>
                            <a:srgbClr val="1C2233"/>
                          </a:solidFill>
                          <a:latin typeface="メイリオ"/>
                          <a:ea typeface="メイリオ"/>
                        </a:rPr>
                        <a:t>5,000 × 2.0%</a:t>
                      </a:r>
                    </a:p>
                  </a:txBody>
                  <a:tcPr>
                    <a:solidFill>
                      <a:srgbClr val="EFF1F7"/>
                    </a:solidFill>
                  </a:tcPr>
                </a:tc>
                <a:tc>
                  <a:txBody>
                    <a:bodyPr/>
                    <a:lstStyle/>
                    <a:p>
                      <a:pPr algn="ctr"/>
                      <a:r>
                        <a:rPr sz="1050" b="0">
                          <a:solidFill>
                            <a:srgbClr val="1C2233"/>
                          </a:solidFill>
                          <a:latin typeface="メイリオ"/>
                          <a:ea typeface="メイリオ"/>
                        </a:rPr>
                        <a:t>± 0</a:t>
                      </a:r>
                    </a:p>
                  </a:txBody>
                  <a:tcPr>
                    <a:solidFill>
                      <a:srgbClr val="EFF1F7"/>
                    </a:solidFill>
                  </a:tcPr>
                </a:tc>
                <a:extLst>
                  <a:ext uri="{0D108BD9-81ED-4DB2-BD59-A6C34878D82A}">
                    <a16:rowId xmlns:a16="http://schemas.microsoft.com/office/drawing/2014/main" val="10002"/>
                  </a:ext>
                </a:extLst>
              </a:tr>
              <a:tr h="257991">
                <a:tc>
                  <a:txBody>
                    <a:bodyPr/>
                    <a:lstStyle/>
                    <a:p>
                      <a:pPr algn="l"/>
                      <a:r>
                        <a:rPr sz="1050" b="0">
                          <a:solidFill>
                            <a:srgbClr val="1C2233"/>
                          </a:solidFill>
                          <a:latin typeface="メイリオ"/>
                          <a:ea typeface="メイリオ"/>
                        </a:rPr>
                        <a:t>広告経由の体験予約</a:t>
                      </a:r>
                    </a:p>
                  </a:txBody>
                  <a:tcPr>
                    <a:solidFill>
                      <a:srgbClr val="FFFFFF"/>
                    </a:solidFill>
                  </a:tcPr>
                </a:tc>
                <a:tc>
                  <a:txBody>
                    <a:bodyPr/>
                    <a:lstStyle/>
                    <a:p>
                      <a:pPr algn="ctr"/>
                      <a:r>
                        <a:rPr sz="1050" b="0">
                          <a:solidFill>
                            <a:srgbClr val="1C2233"/>
                          </a:solidFill>
                          <a:latin typeface="メイリオ"/>
                          <a:ea typeface="メイリオ"/>
                        </a:rPr>
                        <a:t>100件</a:t>
                      </a:r>
                    </a:p>
                  </a:txBody>
                  <a:tcPr>
                    <a:solidFill>
                      <a:srgbClr val="FFFFFF"/>
                    </a:solidFill>
                  </a:tcPr>
                </a:tc>
                <a:tc>
                  <a:txBody>
                    <a:bodyPr/>
                    <a:lstStyle/>
                    <a:p>
                      <a:pPr algn="ctr"/>
                      <a:r>
                        <a:rPr sz="1050" b="0">
                          <a:solidFill>
                            <a:srgbClr val="1C2233"/>
                          </a:solidFill>
                          <a:latin typeface="メイリオ"/>
                          <a:ea typeface="メイリオ"/>
                        </a:rPr>
                        <a:t>100件</a:t>
                      </a:r>
                    </a:p>
                  </a:txBody>
                  <a:tcPr>
                    <a:solidFill>
                      <a:srgbClr val="FFFFFF"/>
                    </a:solidFill>
                  </a:tcPr>
                </a:tc>
                <a:tc>
                  <a:txBody>
                    <a:bodyPr/>
                    <a:lstStyle/>
                    <a:p>
                      <a:pPr algn="ctr"/>
                      <a:r>
                        <a:rPr sz="1050" b="0">
                          <a:solidFill>
                            <a:srgbClr val="1C2233"/>
                          </a:solidFill>
                          <a:latin typeface="メイリオ"/>
                          <a:ea typeface="メイリオ"/>
                        </a:rPr>
                        <a:t>± 0</a:t>
                      </a:r>
                    </a:p>
                  </a:txBody>
                  <a:tcPr>
                    <a:solidFill>
                      <a:srgbClr val="FFFFFF"/>
                    </a:solidFill>
                  </a:tcPr>
                </a:tc>
                <a:extLst>
                  <a:ext uri="{0D108BD9-81ED-4DB2-BD59-A6C34878D82A}">
                    <a16:rowId xmlns:a16="http://schemas.microsoft.com/office/drawing/2014/main" val="10003"/>
                  </a:ext>
                </a:extLst>
              </a:tr>
              <a:tr h="257991">
                <a:tc>
                  <a:txBody>
                    <a:bodyPr/>
                    <a:lstStyle/>
                    <a:p>
                      <a:pPr algn="l"/>
                      <a:r>
                        <a:rPr sz="1050" b="0">
                          <a:solidFill>
                            <a:srgbClr val="1C2233"/>
                          </a:solidFill>
                          <a:latin typeface="メイリオ"/>
                          <a:ea typeface="メイリオ"/>
                        </a:rPr>
                        <a:t>LINE友だち化（離脱防止）</a:t>
                      </a:r>
                    </a:p>
                  </a:txBody>
                  <a:tcPr>
                    <a:solidFill>
                      <a:srgbClr val="EFF1F7"/>
                    </a:solidFill>
                  </a:tcPr>
                </a:tc>
                <a:tc>
                  <a:txBody>
                    <a:bodyPr/>
                    <a:lstStyle/>
                    <a:p>
                      <a:pPr algn="ctr"/>
                      <a:r>
                        <a:rPr sz="1050" b="0">
                          <a:solidFill>
                            <a:srgbClr val="1C2233"/>
                          </a:solidFill>
                          <a:latin typeface="メイリオ"/>
                          <a:ea typeface="メイリオ"/>
                        </a:rPr>
                        <a:t>―</a:t>
                      </a:r>
                    </a:p>
                  </a:txBody>
                  <a:tcPr>
                    <a:solidFill>
                      <a:srgbClr val="EFF1F7"/>
                    </a:solidFill>
                  </a:tcPr>
                </a:tc>
                <a:tc>
                  <a:txBody>
                    <a:bodyPr/>
                    <a:lstStyle/>
                    <a:p>
                      <a:pPr algn="ctr"/>
                      <a:r>
                        <a:rPr sz="1050" b="0">
                          <a:solidFill>
                            <a:srgbClr val="1C2233"/>
                          </a:solidFill>
                          <a:latin typeface="メイリオ"/>
                          <a:ea typeface="メイリオ"/>
                        </a:rPr>
                        <a:t>150人（流入の3%）</a:t>
                      </a:r>
                    </a:p>
                  </a:txBody>
                  <a:tcPr>
                    <a:solidFill>
                      <a:srgbClr val="EFF1F7"/>
                    </a:solidFill>
                  </a:tcPr>
                </a:tc>
                <a:tc>
                  <a:txBody>
                    <a:bodyPr/>
                    <a:lstStyle/>
                    <a:p>
                      <a:pPr algn="ctr"/>
                      <a:r>
                        <a:rPr sz="1050" b="0">
                          <a:solidFill>
                            <a:srgbClr val="1C2233"/>
                          </a:solidFill>
                          <a:latin typeface="メイリオ"/>
                          <a:ea typeface="メイリオ"/>
                        </a:rPr>
                        <a:t>新規</a:t>
                      </a:r>
                    </a:p>
                  </a:txBody>
                  <a:tcPr>
                    <a:solidFill>
                      <a:srgbClr val="EFF1F7"/>
                    </a:solidFill>
                  </a:tcPr>
                </a:tc>
                <a:extLst>
                  <a:ext uri="{0D108BD9-81ED-4DB2-BD59-A6C34878D82A}">
                    <a16:rowId xmlns:a16="http://schemas.microsoft.com/office/drawing/2014/main" val="10004"/>
                  </a:ext>
                </a:extLst>
              </a:tr>
              <a:tr h="257991">
                <a:tc>
                  <a:txBody>
                    <a:bodyPr/>
                    <a:lstStyle/>
                    <a:p>
                      <a:pPr algn="l"/>
                      <a:r>
                        <a:rPr sz="1050" b="0">
                          <a:solidFill>
                            <a:srgbClr val="1C2233"/>
                          </a:solidFill>
                          <a:latin typeface="メイリオ"/>
                          <a:ea typeface="メイリオ"/>
                        </a:rPr>
                        <a:t>LINE経由の体験予約</a:t>
                      </a:r>
                    </a:p>
                  </a:txBody>
                  <a:tcPr>
                    <a:solidFill>
                      <a:srgbClr val="FFFFFF"/>
                    </a:solidFill>
                  </a:tcPr>
                </a:tc>
                <a:tc>
                  <a:txBody>
                    <a:bodyPr/>
                    <a:lstStyle/>
                    <a:p>
                      <a:pPr algn="ctr"/>
                      <a:r>
                        <a:rPr sz="1050" b="0">
                          <a:solidFill>
                            <a:srgbClr val="1C2233"/>
                          </a:solidFill>
                          <a:latin typeface="メイリオ"/>
                          <a:ea typeface="メイリオ"/>
                        </a:rPr>
                        <a:t>―</a:t>
                      </a:r>
                    </a:p>
                  </a:txBody>
                  <a:tcPr>
                    <a:solidFill>
                      <a:srgbClr val="FFFFFF"/>
                    </a:solidFill>
                  </a:tcPr>
                </a:tc>
                <a:tc>
                  <a:txBody>
                    <a:bodyPr/>
                    <a:lstStyle/>
                    <a:p>
                      <a:pPr algn="ctr"/>
                      <a:r>
                        <a:rPr sz="1050" b="0">
                          <a:solidFill>
                            <a:srgbClr val="1C2233"/>
                          </a:solidFill>
                          <a:latin typeface="メイリオ"/>
                          <a:ea typeface="メイリオ"/>
                        </a:rPr>
                        <a:t>12件（友だちの8%）</a:t>
                      </a:r>
                    </a:p>
                  </a:txBody>
                  <a:tcPr>
                    <a:solidFill>
                      <a:srgbClr val="FFFFFF"/>
                    </a:solidFill>
                  </a:tcPr>
                </a:tc>
                <a:tc>
                  <a:txBody>
                    <a:bodyPr/>
                    <a:lstStyle/>
                    <a:p>
                      <a:pPr algn="ctr"/>
                      <a:r>
                        <a:rPr sz="1050" b="0">
                          <a:solidFill>
                            <a:srgbClr val="1C2233"/>
                          </a:solidFill>
                          <a:latin typeface="メイリオ"/>
                          <a:ea typeface="メイリオ"/>
                        </a:rPr>
                        <a:t>新規</a:t>
                      </a:r>
                    </a:p>
                  </a:txBody>
                  <a:tcPr>
                    <a:solidFill>
                      <a:srgbClr val="FFFFFF"/>
                    </a:solidFill>
                  </a:tcPr>
                </a:tc>
                <a:extLst>
                  <a:ext uri="{0D108BD9-81ED-4DB2-BD59-A6C34878D82A}">
                    <a16:rowId xmlns:a16="http://schemas.microsoft.com/office/drawing/2014/main" val="10005"/>
                  </a:ext>
                </a:extLst>
              </a:tr>
              <a:tr h="257991">
                <a:tc>
                  <a:txBody>
                    <a:bodyPr/>
                    <a:lstStyle/>
                    <a:p>
                      <a:pPr algn="l"/>
                      <a:r>
                        <a:rPr sz="1050" b="0">
                          <a:solidFill>
                            <a:srgbClr val="1C2233"/>
                          </a:solidFill>
                          <a:latin typeface="メイリオ"/>
                          <a:ea typeface="メイリオ"/>
                        </a:rPr>
                        <a:t>体験予約 合計</a:t>
                      </a:r>
                    </a:p>
                  </a:txBody>
                  <a:tcPr>
                    <a:solidFill>
                      <a:srgbClr val="EFF1F7"/>
                    </a:solidFill>
                  </a:tcPr>
                </a:tc>
                <a:tc>
                  <a:txBody>
                    <a:bodyPr/>
                    <a:lstStyle/>
                    <a:p>
                      <a:pPr algn="ctr"/>
                      <a:r>
                        <a:rPr sz="1050" b="0">
                          <a:solidFill>
                            <a:srgbClr val="1C2233"/>
                          </a:solidFill>
                          <a:latin typeface="メイリオ"/>
                          <a:ea typeface="メイリオ"/>
                        </a:rPr>
                        <a:t>100件</a:t>
                      </a:r>
                    </a:p>
                  </a:txBody>
                  <a:tcPr>
                    <a:solidFill>
                      <a:srgbClr val="EFF1F7"/>
                    </a:solidFill>
                  </a:tcPr>
                </a:tc>
                <a:tc>
                  <a:txBody>
                    <a:bodyPr/>
                    <a:lstStyle/>
                    <a:p>
                      <a:pPr algn="ctr"/>
                      <a:r>
                        <a:rPr sz="1050" b="0">
                          <a:solidFill>
                            <a:srgbClr val="1C2233"/>
                          </a:solidFill>
                          <a:latin typeface="メイリオ"/>
                          <a:ea typeface="メイリオ"/>
                        </a:rPr>
                        <a:t>112件</a:t>
                      </a:r>
                    </a:p>
                  </a:txBody>
                  <a:tcPr>
                    <a:solidFill>
                      <a:srgbClr val="EFF1F7"/>
                    </a:solidFill>
                  </a:tcPr>
                </a:tc>
                <a:tc>
                  <a:txBody>
                    <a:bodyPr/>
                    <a:lstStyle/>
                    <a:p>
                      <a:pPr algn="ctr"/>
                      <a:r>
                        <a:rPr sz="1050" b="0">
                          <a:solidFill>
                            <a:srgbClr val="1C2233"/>
                          </a:solidFill>
                          <a:latin typeface="メイリオ"/>
                          <a:ea typeface="メイリオ"/>
                        </a:rPr>
                        <a:t>+12%</a:t>
                      </a:r>
                    </a:p>
                  </a:txBody>
                  <a:tcPr>
                    <a:solidFill>
                      <a:srgbClr val="EFF1F7"/>
                    </a:solidFill>
                  </a:tcPr>
                </a:tc>
                <a:extLst>
                  <a:ext uri="{0D108BD9-81ED-4DB2-BD59-A6C34878D82A}">
                    <a16:rowId xmlns:a16="http://schemas.microsoft.com/office/drawing/2014/main" val="10006"/>
                  </a:ext>
                </a:extLst>
              </a:tr>
              <a:tr h="257991">
                <a:tc>
                  <a:txBody>
                    <a:bodyPr/>
                    <a:lstStyle/>
                    <a:p>
                      <a:pPr algn="l"/>
                      <a:r>
                        <a:rPr sz="1050" b="0" dirty="0" err="1">
                          <a:solidFill>
                            <a:srgbClr val="1C2233"/>
                          </a:solidFill>
                          <a:latin typeface="メイリオ"/>
                          <a:ea typeface="メイリオ"/>
                        </a:rPr>
                        <a:t>来店率</a:t>
                      </a:r>
                      <a:endParaRPr sz="1050" b="0" dirty="0">
                        <a:solidFill>
                          <a:srgbClr val="1C2233"/>
                        </a:solidFill>
                        <a:latin typeface="メイリオ"/>
                        <a:ea typeface="メイリオ"/>
                      </a:endParaRPr>
                    </a:p>
                  </a:txBody>
                  <a:tcPr>
                    <a:solidFill>
                      <a:srgbClr val="FFFFFF"/>
                    </a:solidFill>
                  </a:tcPr>
                </a:tc>
                <a:tc>
                  <a:txBody>
                    <a:bodyPr/>
                    <a:lstStyle/>
                    <a:p>
                      <a:pPr algn="ctr"/>
                      <a:r>
                        <a:rPr sz="1050" b="0">
                          <a:solidFill>
                            <a:srgbClr val="1C2233"/>
                          </a:solidFill>
                          <a:latin typeface="メイリオ"/>
                          <a:ea typeface="メイリオ"/>
                        </a:rPr>
                        <a:t>60%</a:t>
                      </a:r>
                    </a:p>
                  </a:txBody>
                  <a:tcPr>
                    <a:solidFill>
                      <a:srgbClr val="FFFFFF"/>
                    </a:solidFill>
                  </a:tcPr>
                </a:tc>
                <a:tc>
                  <a:txBody>
                    <a:bodyPr/>
                    <a:lstStyle/>
                    <a:p>
                      <a:pPr algn="ctr"/>
                      <a:r>
                        <a:rPr sz="1050" b="0">
                          <a:solidFill>
                            <a:srgbClr val="1C2233"/>
                          </a:solidFill>
                          <a:latin typeface="メイリオ"/>
                          <a:ea typeface="メイリオ"/>
                        </a:rPr>
                        <a:t>75%</a:t>
                      </a:r>
                    </a:p>
                  </a:txBody>
                  <a:tcPr>
                    <a:solidFill>
                      <a:srgbClr val="FFFFFF"/>
                    </a:solidFill>
                  </a:tcPr>
                </a:tc>
                <a:tc>
                  <a:txBody>
                    <a:bodyPr/>
                    <a:lstStyle/>
                    <a:p>
                      <a:pPr algn="ctr"/>
                      <a:r>
                        <a:rPr sz="1050" b="0">
                          <a:solidFill>
                            <a:srgbClr val="1C2233"/>
                          </a:solidFill>
                          <a:latin typeface="メイリオ"/>
                          <a:ea typeface="メイリオ"/>
                        </a:rPr>
                        <a:t>+15pt</a:t>
                      </a:r>
                    </a:p>
                  </a:txBody>
                  <a:tcPr>
                    <a:solidFill>
                      <a:srgbClr val="FFFFFF"/>
                    </a:solidFill>
                  </a:tcPr>
                </a:tc>
                <a:extLst>
                  <a:ext uri="{0D108BD9-81ED-4DB2-BD59-A6C34878D82A}">
                    <a16:rowId xmlns:a16="http://schemas.microsoft.com/office/drawing/2014/main" val="10007"/>
                  </a:ext>
                </a:extLst>
              </a:tr>
              <a:tr h="257991">
                <a:tc>
                  <a:txBody>
                    <a:bodyPr/>
                    <a:lstStyle/>
                    <a:p>
                      <a:pPr algn="l"/>
                      <a:r>
                        <a:rPr sz="1050" b="0">
                          <a:solidFill>
                            <a:srgbClr val="1C2233"/>
                          </a:solidFill>
                          <a:latin typeface="メイリオ"/>
                          <a:ea typeface="メイリオ"/>
                        </a:rPr>
                        <a:t>来店数</a:t>
                      </a:r>
                    </a:p>
                  </a:txBody>
                  <a:tcPr>
                    <a:solidFill>
                      <a:srgbClr val="EFF1F7"/>
                    </a:solidFill>
                  </a:tcPr>
                </a:tc>
                <a:tc>
                  <a:txBody>
                    <a:bodyPr/>
                    <a:lstStyle/>
                    <a:p>
                      <a:pPr algn="ctr"/>
                      <a:r>
                        <a:rPr sz="1050" b="0">
                          <a:solidFill>
                            <a:srgbClr val="1C2233"/>
                          </a:solidFill>
                          <a:latin typeface="メイリオ"/>
                          <a:ea typeface="メイリオ"/>
                        </a:rPr>
                        <a:t>60.0件</a:t>
                      </a:r>
                    </a:p>
                  </a:txBody>
                  <a:tcPr>
                    <a:solidFill>
                      <a:srgbClr val="EFF1F7"/>
                    </a:solidFill>
                  </a:tcPr>
                </a:tc>
                <a:tc>
                  <a:txBody>
                    <a:bodyPr/>
                    <a:lstStyle/>
                    <a:p>
                      <a:pPr algn="ctr"/>
                      <a:r>
                        <a:rPr sz="1050" b="0">
                          <a:solidFill>
                            <a:srgbClr val="1C2233"/>
                          </a:solidFill>
                          <a:latin typeface="メイリオ"/>
                          <a:ea typeface="メイリオ"/>
                        </a:rPr>
                        <a:t>84.0件</a:t>
                      </a:r>
                    </a:p>
                  </a:txBody>
                  <a:tcPr>
                    <a:solidFill>
                      <a:srgbClr val="EFF1F7"/>
                    </a:solidFill>
                  </a:tcPr>
                </a:tc>
                <a:tc>
                  <a:txBody>
                    <a:bodyPr/>
                    <a:lstStyle/>
                    <a:p>
                      <a:pPr algn="ctr"/>
                      <a:r>
                        <a:rPr sz="1050" b="0">
                          <a:solidFill>
                            <a:srgbClr val="1C2233"/>
                          </a:solidFill>
                          <a:latin typeface="メイリオ"/>
                          <a:ea typeface="メイリオ"/>
                        </a:rPr>
                        <a:t>+40%</a:t>
                      </a:r>
                    </a:p>
                  </a:txBody>
                  <a:tcPr>
                    <a:solidFill>
                      <a:srgbClr val="EFF1F7"/>
                    </a:solidFill>
                  </a:tcPr>
                </a:tc>
                <a:extLst>
                  <a:ext uri="{0D108BD9-81ED-4DB2-BD59-A6C34878D82A}">
                    <a16:rowId xmlns:a16="http://schemas.microsoft.com/office/drawing/2014/main" val="10008"/>
                  </a:ext>
                </a:extLst>
              </a:tr>
              <a:tr h="257991">
                <a:tc>
                  <a:txBody>
                    <a:bodyPr/>
                    <a:lstStyle/>
                    <a:p>
                      <a:pPr algn="l"/>
                      <a:r>
                        <a:rPr sz="1050" b="0">
                          <a:solidFill>
                            <a:srgbClr val="1C2233"/>
                          </a:solidFill>
                          <a:latin typeface="メイリオ"/>
                          <a:ea typeface="メイリオ"/>
                        </a:rPr>
                        <a:t>入会率</a:t>
                      </a:r>
                    </a:p>
                  </a:txBody>
                  <a:tcPr>
                    <a:solidFill>
                      <a:srgbClr val="FFFFFF"/>
                    </a:solidFill>
                  </a:tcPr>
                </a:tc>
                <a:tc>
                  <a:txBody>
                    <a:bodyPr/>
                    <a:lstStyle/>
                    <a:p>
                      <a:pPr algn="ctr"/>
                      <a:r>
                        <a:rPr sz="1050" b="0">
                          <a:solidFill>
                            <a:srgbClr val="1C2233"/>
                          </a:solidFill>
                          <a:latin typeface="メイリオ"/>
                          <a:ea typeface="メイリオ"/>
                        </a:rPr>
                        <a:t>50%</a:t>
                      </a:r>
                    </a:p>
                  </a:txBody>
                  <a:tcPr>
                    <a:solidFill>
                      <a:srgbClr val="FFFFFF"/>
                    </a:solidFill>
                  </a:tcPr>
                </a:tc>
                <a:tc>
                  <a:txBody>
                    <a:bodyPr/>
                    <a:lstStyle/>
                    <a:p>
                      <a:pPr algn="ctr"/>
                      <a:r>
                        <a:rPr sz="1050" b="0">
                          <a:solidFill>
                            <a:srgbClr val="1C2233"/>
                          </a:solidFill>
                          <a:latin typeface="メイリオ"/>
                          <a:ea typeface="メイリオ"/>
                        </a:rPr>
                        <a:t>50%（据え置き）</a:t>
                      </a:r>
                    </a:p>
                  </a:txBody>
                  <a:tcPr>
                    <a:solidFill>
                      <a:srgbClr val="FFFFFF"/>
                    </a:solidFill>
                  </a:tcPr>
                </a:tc>
                <a:tc>
                  <a:txBody>
                    <a:bodyPr/>
                    <a:lstStyle/>
                    <a:p>
                      <a:pPr algn="ctr"/>
                      <a:r>
                        <a:rPr sz="1050" b="0">
                          <a:solidFill>
                            <a:srgbClr val="1C2233"/>
                          </a:solidFill>
                          <a:latin typeface="メイリオ"/>
                          <a:ea typeface="メイリオ"/>
                        </a:rPr>
                        <a:t>± 0</a:t>
                      </a:r>
                    </a:p>
                  </a:txBody>
                  <a:tcPr>
                    <a:solidFill>
                      <a:srgbClr val="FFFFFF"/>
                    </a:solidFill>
                  </a:tcPr>
                </a:tc>
                <a:extLst>
                  <a:ext uri="{0D108BD9-81ED-4DB2-BD59-A6C34878D82A}">
                    <a16:rowId xmlns:a16="http://schemas.microsoft.com/office/drawing/2014/main" val="10009"/>
                  </a:ext>
                </a:extLst>
              </a:tr>
              <a:tr h="257991">
                <a:tc>
                  <a:txBody>
                    <a:bodyPr/>
                    <a:lstStyle/>
                    <a:p>
                      <a:pPr algn="l"/>
                      <a:r>
                        <a:rPr sz="1050" b="0">
                          <a:solidFill>
                            <a:srgbClr val="1C2233"/>
                          </a:solidFill>
                          <a:latin typeface="メイリオ"/>
                          <a:ea typeface="メイリオ"/>
                        </a:rPr>
                        <a:t>入会数</a:t>
                      </a:r>
                    </a:p>
                  </a:txBody>
                  <a:tcPr>
                    <a:solidFill>
                      <a:srgbClr val="EFF1F7"/>
                    </a:solidFill>
                  </a:tcPr>
                </a:tc>
                <a:tc>
                  <a:txBody>
                    <a:bodyPr/>
                    <a:lstStyle/>
                    <a:p>
                      <a:pPr algn="ctr"/>
                      <a:r>
                        <a:rPr sz="1050" b="0">
                          <a:solidFill>
                            <a:srgbClr val="1C2233"/>
                          </a:solidFill>
                          <a:latin typeface="メイリオ"/>
                          <a:ea typeface="メイリオ"/>
                        </a:rPr>
                        <a:t>30.0名</a:t>
                      </a:r>
                    </a:p>
                  </a:txBody>
                  <a:tcPr>
                    <a:solidFill>
                      <a:srgbClr val="EFF1F7"/>
                    </a:solidFill>
                  </a:tcPr>
                </a:tc>
                <a:tc>
                  <a:txBody>
                    <a:bodyPr/>
                    <a:lstStyle/>
                    <a:p>
                      <a:pPr algn="ctr"/>
                      <a:r>
                        <a:rPr sz="1050" b="0">
                          <a:solidFill>
                            <a:srgbClr val="1C2233"/>
                          </a:solidFill>
                          <a:latin typeface="メイリオ"/>
                          <a:ea typeface="メイリオ"/>
                        </a:rPr>
                        <a:t>42.0名</a:t>
                      </a:r>
                    </a:p>
                  </a:txBody>
                  <a:tcPr>
                    <a:solidFill>
                      <a:srgbClr val="EFF1F7"/>
                    </a:solidFill>
                  </a:tcPr>
                </a:tc>
                <a:tc>
                  <a:txBody>
                    <a:bodyPr/>
                    <a:lstStyle/>
                    <a:p>
                      <a:pPr algn="ctr"/>
                      <a:r>
                        <a:rPr sz="1050" b="0">
                          <a:solidFill>
                            <a:srgbClr val="1C2233"/>
                          </a:solidFill>
                          <a:latin typeface="メイリオ"/>
                          <a:ea typeface="メイリオ"/>
                        </a:rPr>
                        <a:t>+40%</a:t>
                      </a:r>
                    </a:p>
                  </a:txBody>
                  <a:tcPr>
                    <a:solidFill>
                      <a:srgbClr val="EFF1F7"/>
                    </a:solidFill>
                  </a:tcPr>
                </a:tc>
                <a:extLst>
                  <a:ext uri="{0D108BD9-81ED-4DB2-BD59-A6C34878D82A}">
                    <a16:rowId xmlns:a16="http://schemas.microsoft.com/office/drawing/2014/main" val="10010"/>
                  </a:ext>
                </a:extLst>
              </a:tr>
              <a:tr h="257991">
                <a:tc>
                  <a:txBody>
                    <a:bodyPr/>
                    <a:lstStyle/>
                    <a:p>
                      <a:pPr algn="l"/>
                      <a:r>
                        <a:rPr sz="1050" b="0">
                          <a:solidFill>
                            <a:srgbClr val="1C2233"/>
                          </a:solidFill>
                          <a:latin typeface="メイリオ"/>
                          <a:ea typeface="メイリオ"/>
                        </a:rPr>
                        <a:t>入会CPA</a:t>
                      </a:r>
                    </a:p>
                  </a:txBody>
                  <a:tcPr>
                    <a:solidFill>
                      <a:srgbClr val="FFFFFF"/>
                    </a:solidFill>
                  </a:tcPr>
                </a:tc>
                <a:tc>
                  <a:txBody>
                    <a:bodyPr/>
                    <a:lstStyle/>
                    <a:p>
                      <a:pPr algn="ctr"/>
                      <a:r>
                        <a:rPr sz="1050" b="0">
                          <a:solidFill>
                            <a:srgbClr val="1C2233"/>
                          </a:solidFill>
                          <a:latin typeface="メイリオ"/>
                          <a:ea typeface="メイリオ"/>
                        </a:rPr>
                        <a:t>33,300円</a:t>
                      </a:r>
                    </a:p>
                  </a:txBody>
                  <a:tcPr>
                    <a:solidFill>
                      <a:srgbClr val="FFFFFF"/>
                    </a:solidFill>
                  </a:tcPr>
                </a:tc>
                <a:tc>
                  <a:txBody>
                    <a:bodyPr/>
                    <a:lstStyle/>
                    <a:p>
                      <a:pPr algn="ctr"/>
                      <a:r>
                        <a:rPr sz="1050" b="0">
                          <a:solidFill>
                            <a:srgbClr val="1C2233"/>
                          </a:solidFill>
                          <a:latin typeface="メイリオ"/>
                          <a:ea typeface="メイリオ"/>
                        </a:rPr>
                        <a:t>26,200円</a:t>
                      </a:r>
                    </a:p>
                  </a:txBody>
                  <a:tcPr>
                    <a:solidFill>
                      <a:srgbClr val="FFFFFF"/>
                    </a:solidFill>
                  </a:tcPr>
                </a:tc>
                <a:tc>
                  <a:txBody>
                    <a:bodyPr/>
                    <a:lstStyle/>
                    <a:p>
                      <a:pPr algn="ctr"/>
                      <a:r>
                        <a:rPr sz="1050" b="0">
                          <a:solidFill>
                            <a:srgbClr val="1C2233"/>
                          </a:solidFill>
                          <a:latin typeface="メイリオ"/>
                          <a:ea typeface="メイリオ"/>
                        </a:rPr>
                        <a:t>▲21%</a:t>
                      </a:r>
                    </a:p>
                  </a:txBody>
                  <a:tcPr>
                    <a:solidFill>
                      <a:srgbClr val="FFFFFF"/>
                    </a:solidFill>
                  </a:tcPr>
                </a:tc>
                <a:extLst>
                  <a:ext uri="{0D108BD9-81ED-4DB2-BD59-A6C34878D82A}">
                    <a16:rowId xmlns:a16="http://schemas.microsoft.com/office/drawing/2014/main" val="10011"/>
                  </a:ext>
                </a:extLst>
              </a:tr>
              <a:tr h="257991">
                <a:tc>
                  <a:txBody>
                    <a:bodyPr/>
                    <a:lstStyle/>
                    <a:p>
                      <a:pPr algn="l"/>
                      <a:r>
                        <a:rPr sz="1050" b="0">
                          <a:solidFill>
                            <a:srgbClr val="1C2233"/>
                          </a:solidFill>
                          <a:latin typeface="メイリオ"/>
                          <a:ea typeface="メイリオ"/>
                        </a:rPr>
                        <a:t>平均在籍月数</a:t>
                      </a:r>
                    </a:p>
                  </a:txBody>
                  <a:tcPr>
                    <a:solidFill>
                      <a:srgbClr val="EFF1F7"/>
                    </a:solidFill>
                  </a:tcPr>
                </a:tc>
                <a:tc>
                  <a:txBody>
                    <a:bodyPr/>
                    <a:lstStyle/>
                    <a:p>
                      <a:pPr algn="ctr"/>
                      <a:r>
                        <a:rPr sz="1050" b="0">
                          <a:solidFill>
                            <a:srgbClr val="1C2233"/>
                          </a:solidFill>
                          <a:latin typeface="メイリオ"/>
                          <a:ea typeface="メイリオ"/>
                        </a:rPr>
                        <a:t>12ヶ月</a:t>
                      </a:r>
                    </a:p>
                  </a:txBody>
                  <a:tcPr>
                    <a:solidFill>
                      <a:srgbClr val="EFF1F7"/>
                    </a:solidFill>
                  </a:tcPr>
                </a:tc>
                <a:tc>
                  <a:txBody>
                    <a:bodyPr/>
                    <a:lstStyle/>
                    <a:p>
                      <a:pPr algn="ctr"/>
                      <a:r>
                        <a:rPr sz="1050" b="0">
                          <a:solidFill>
                            <a:srgbClr val="1C2233"/>
                          </a:solidFill>
                          <a:latin typeface="メイリオ"/>
                          <a:ea typeface="メイリオ"/>
                        </a:rPr>
                        <a:t>14ヶ月</a:t>
                      </a:r>
                    </a:p>
                  </a:txBody>
                  <a:tcPr>
                    <a:solidFill>
                      <a:srgbClr val="EFF1F7"/>
                    </a:solidFill>
                  </a:tcPr>
                </a:tc>
                <a:tc>
                  <a:txBody>
                    <a:bodyPr/>
                    <a:lstStyle/>
                    <a:p>
                      <a:pPr algn="ctr"/>
                      <a:r>
                        <a:rPr sz="1050" b="0">
                          <a:solidFill>
                            <a:srgbClr val="1C2233"/>
                          </a:solidFill>
                          <a:latin typeface="メイリオ"/>
                          <a:ea typeface="メイリオ"/>
                        </a:rPr>
                        <a:t>+2ヶ月</a:t>
                      </a:r>
                    </a:p>
                  </a:txBody>
                  <a:tcPr>
                    <a:solidFill>
                      <a:srgbClr val="EFF1F7"/>
                    </a:solidFill>
                  </a:tcPr>
                </a:tc>
                <a:extLst>
                  <a:ext uri="{0D108BD9-81ED-4DB2-BD59-A6C34878D82A}">
                    <a16:rowId xmlns:a16="http://schemas.microsoft.com/office/drawing/2014/main" val="10012"/>
                  </a:ext>
                </a:extLst>
              </a:tr>
              <a:tr h="257997">
                <a:tc>
                  <a:txBody>
                    <a:bodyPr/>
                    <a:lstStyle/>
                    <a:p>
                      <a:pPr algn="l"/>
                      <a:r>
                        <a:rPr sz="1050" b="0" dirty="0" err="1">
                          <a:solidFill>
                            <a:srgbClr val="1C2233"/>
                          </a:solidFill>
                          <a:latin typeface="メイリオ"/>
                          <a:ea typeface="メイリオ"/>
                        </a:rPr>
                        <a:t>会費売上（LTV基準</a:t>
                      </a:r>
                      <a:r>
                        <a:rPr sz="1050" b="0" dirty="0">
                          <a:solidFill>
                            <a:srgbClr val="1C2233"/>
                          </a:solidFill>
                          <a:latin typeface="メイリオ"/>
                          <a:ea typeface="メイリオ"/>
                        </a:rPr>
                        <a:t>）</a:t>
                      </a:r>
                    </a:p>
                  </a:txBody>
                  <a:tcPr>
                    <a:solidFill>
                      <a:srgbClr val="FFFFFF"/>
                    </a:solidFill>
                  </a:tcPr>
                </a:tc>
                <a:tc>
                  <a:txBody>
                    <a:bodyPr/>
                    <a:lstStyle/>
                    <a:p>
                      <a:pPr algn="ctr"/>
                      <a:r>
                        <a:rPr sz="1050" b="0">
                          <a:solidFill>
                            <a:srgbClr val="1C2233"/>
                          </a:solidFill>
                          <a:latin typeface="メイリオ"/>
                          <a:ea typeface="メイリオ"/>
                        </a:rPr>
                        <a:t>288万円</a:t>
                      </a:r>
                    </a:p>
                  </a:txBody>
                  <a:tcPr>
                    <a:solidFill>
                      <a:srgbClr val="FFFFFF"/>
                    </a:solidFill>
                  </a:tcPr>
                </a:tc>
                <a:tc>
                  <a:txBody>
                    <a:bodyPr/>
                    <a:lstStyle/>
                    <a:p>
                      <a:pPr algn="ctr"/>
                      <a:r>
                        <a:rPr sz="1050" b="1">
                          <a:solidFill>
                            <a:srgbClr val="FFFFFF"/>
                          </a:solidFill>
                          <a:latin typeface="メイリオ"/>
                          <a:ea typeface="メイリオ"/>
                        </a:rPr>
                        <a:t>470万円</a:t>
                      </a:r>
                    </a:p>
                  </a:txBody>
                  <a:tcPr>
                    <a:solidFill>
                      <a:srgbClr val="BF4E0E"/>
                    </a:solidFill>
                  </a:tcPr>
                </a:tc>
                <a:tc>
                  <a:txBody>
                    <a:bodyPr/>
                    <a:lstStyle/>
                    <a:p>
                      <a:pPr algn="ctr"/>
                      <a:r>
                        <a:rPr sz="1050" b="0" dirty="0">
                          <a:solidFill>
                            <a:srgbClr val="1C2233"/>
                          </a:solidFill>
                          <a:latin typeface="メイリオ"/>
                          <a:ea typeface="メイリオ"/>
                        </a:rPr>
                        <a:t>+182万円</a:t>
                      </a:r>
                    </a:p>
                  </a:txBody>
                  <a:tcPr>
                    <a:solidFill>
                      <a:srgbClr val="FFFFFF"/>
                    </a:solidFill>
                  </a:tcPr>
                </a:tc>
                <a:extLst>
                  <a:ext uri="{0D108BD9-81ED-4DB2-BD59-A6C34878D82A}">
                    <a16:rowId xmlns:a16="http://schemas.microsoft.com/office/drawing/2014/main" val="10013"/>
                  </a:ext>
                </a:extLst>
              </a:tr>
            </a:tbl>
          </a:graphicData>
        </a:graphic>
      </p:graphicFrame>
      <p:sp>
        <p:nvSpPr>
          <p:cNvPr id="5" name="Rounded Rectangle 4"/>
          <p:cNvSpPr/>
          <p:nvPr/>
        </p:nvSpPr>
        <p:spPr>
          <a:xfrm>
            <a:off x="384047" y="5120954"/>
            <a:ext cx="2928495" cy="841248"/>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a:solidFill>
                  <a:srgbClr val="1C2233"/>
                </a:solidFill>
                <a:latin typeface="メイリオ"/>
                <a:ea typeface="メイリオ"/>
              </a:rPr>
              <a:t>① LP </a:t>
            </a:r>
            <a:r>
              <a:rPr sz="1200" b="1" dirty="0" err="1">
                <a:solidFill>
                  <a:srgbClr val="1C2233"/>
                </a:solidFill>
                <a:latin typeface="メイリオ"/>
                <a:ea typeface="メイリオ"/>
              </a:rPr>
              <a:t>CVRも入会率も変えていない</a:t>
            </a:r>
            <a:endParaRPr sz="1200" b="1" dirty="0">
              <a:solidFill>
                <a:srgbClr val="1C2233"/>
              </a:solidFill>
              <a:latin typeface="メイリオ"/>
              <a:ea typeface="メイリオ"/>
            </a:endParaRPr>
          </a:p>
          <a:p>
            <a:pPr algn="l">
              <a:spcBef>
                <a:spcPts val="200"/>
              </a:spcBef>
            </a:pPr>
            <a:r>
              <a:rPr sz="1100" b="0" dirty="0" err="1">
                <a:solidFill>
                  <a:srgbClr val="1C2233"/>
                </a:solidFill>
                <a:latin typeface="メイリオ"/>
                <a:ea typeface="メイリオ"/>
              </a:rPr>
              <a:t>触るのは「落ちた後</a:t>
            </a:r>
            <a:r>
              <a:rPr sz="1100" b="0" dirty="0">
                <a:solidFill>
                  <a:srgbClr val="1C2233"/>
                </a:solidFill>
                <a:latin typeface="メイリオ"/>
                <a:ea typeface="メイリオ"/>
              </a:rPr>
              <a:t>」「</a:t>
            </a:r>
            <a:r>
              <a:rPr sz="1100" b="0" dirty="0" err="1">
                <a:solidFill>
                  <a:srgbClr val="1C2233"/>
                </a:solidFill>
                <a:latin typeface="メイリオ"/>
                <a:ea typeface="メイリオ"/>
              </a:rPr>
              <a:t>予約後</a:t>
            </a:r>
            <a:r>
              <a:rPr sz="1100" b="0" dirty="0">
                <a:solidFill>
                  <a:srgbClr val="1C2233"/>
                </a:solidFill>
                <a:latin typeface="メイリオ"/>
                <a:ea typeface="メイリオ"/>
              </a:rPr>
              <a:t>」</a:t>
            </a:r>
            <a:endParaRPr lang="en-US" sz="1100" b="0" dirty="0">
              <a:solidFill>
                <a:srgbClr val="1C2233"/>
              </a:solidFill>
              <a:latin typeface="メイリオ"/>
              <a:ea typeface="メイリオ"/>
            </a:endParaRPr>
          </a:p>
          <a:p>
            <a:pPr algn="l">
              <a:spcBef>
                <a:spcPts val="200"/>
              </a:spcBef>
            </a:pPr>
            <a:r>
              <a:rPr sz="1100" b="0" dirty="0">
                <a:solidFill>
                  <a:srgbClr val="1C2233"/>
                </a:solidFill>
                <a:latin typeface="メイリオ"/>
                <a:ea typeface="メイリオ"/>
              </a:rPr>
              <a:t>「入会後」の3箇所だけ。</a:t>
            </a:r>
          </a:p>
        </p:txBody>
      </p:sp>
      <p:sp>
        <p:nvSpPr>
          <p:cNvPr id="6" name="Rounded Rectangle 5"/>
          <p:cNvSpPr/>
          <p:nvPr/>
        </p:nvSpPr>
        <p:spPr>
          <a:xfrm>
            <a:off x="3383278" y="5120954"/>
            <a:ext cx="2928495" cy="841248"/>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a:solidFill>
                  <a:srgbClr val="1C2233"/>
                </a:solidFill>
                <a:latin typeface="メイリオ"/>
                <a:ea typeface="メイリオ"/>
              </a:rPr>
              <a:t>② </a:t>
            </a:r>
            <a:r>
              <a:rPr sz="1200" b="1" dirty="0" err="1">
                <a:solidFill>
                  <a:srgbClr val="1C2233"/>
                </a:solidFill>
                <a:latin typeface="メイリオ"/>
                <a:ea typeface="メイリオ"/>
              </a:rPr>
              <a:t>効くのは“率”であって母数ではない</a:t>
            </a:r>
            <a:endParaRPr sz="1200" b="1" dirty="0">
              <a:solidFill>
                <a:srgbClr val="1C2233"/>
              </a:solidFill>
              <a:latin typeface="メイリオ"/>
              <a:ea typeface="メイリオ"/>
            </a:endParaRPr>
          </a:p>
          <a:p>
            <a:pPr algn="l">
              <a:spcBef>
                <a:spcPts val="200"/>
              </a:spcBef>
            </a:pPr>
            <a:r>
              <a:rPr sz="1100" b="0" dirty="0">
                <a:solidFill>
                  <a:srgbClr val="1C2233"/>
                </a:solidFill>
                <a:latin typeface="メイリオ"/>
                <a:ea typeface="メイリオ"/>
              </a:rPr>
              <a:t>予約+12%より、来店率60→75%と在籍+2ヶ月のほうが効く。</a:t>
            </a:r>
          </a:p>
        </p:txBody>
      </p:sp>
      <p:sp>
        <p:nvSpPr>
          <p:cNvPr id="7" name="Rounded Rectangle 6"/>
          <p:cNvSpPr/>
          <p:nvPr/>
        </p:nvSpPr>
        <p:spPr>
          <a:xfrm>
            <a:off x="6382511" y="5120954"/>
            <a:ext cx="2928495" cy="841248"/>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a:solidFill>
                  <a:srgbClr val="002060"/>
                </a:solidFill>
                <a:latin typeface="メイリオ"/>
                <a:ea typeface="メイリオ"/>
                <a:cs typeface="メイリオ"/>
              </a:rPr>
              <a:t>③ 在籍2ヶ月分が ＋67万円</a:t>
            </a:r>
          </a:p>
          <a:p>
            <a:pPr algn="l"/>
            <a:r>
              <a:rPr sz="1100" b="0">
                <a:solidFill>
                  <a:srgbClr val="1A1A2E"/>
                </a:solidFill>
                <a:latin typeface="メイリオ"/>
                <a:ea typeface="メイリオ"/>
                <a:cs typeface="メイリオ"/>
              </a:rPr>
              <a:t>増分182万円の37%。ただし在籍月数は</a:t>
            </a:r>
          </a:p>
          <a:p>
            <a:pPr algn="l"/>
            <a:r>
              <a:rPr sz="1100" b="0">
                <a:solidFill>
                  <a:srgbClr val="1A1A2E"/>
                </a:solidFill>
                <a:latin typeface="メイリオ"/>
                <a:ea typeface="メイリオ"/>
                <a:cs typeface="メイリオ"/>
              </a:rPr>
              <a:t>LINEでは測れず、会員データで前後比較する。</a:t>
            </a:r>
          </a:p>
        </p:txBody>
      </p:sp>
      <p:sp>
        <p:nvSpPr>
          <p:cNvPr id="8" name="TextBox 7"/>
          <p:cNvSpPr txBox="1"/>
          <p:nvPr/>
        </p:nvSpPr>
        <p:spPr>
          <a:xfrm>
            <a:off x="384048" y="6284516"/>
            <a:ext cx="9134856" cy="310896"/>
          </a:xfrm>
          <a:prstGeom prst="rect">
            <a:avLst/>
          </a:prstGeom>
          <a:noFill/>
        </p:spPr>
        <p:txBody>
          <a:bodyPr wrap="square" lIns="0" tIns="0" rIns="0" bIns="0">
            <a:spAutoFit/>
          </a:bodyPr>
          <a:lstStyle/>
          <a:p>
            <a:r>
              <a:rPr sz="900" b="0">
                <a:solidFill>
                  <a:srgbClr val="646C82"/>
                </a:solidFill>
                <a:latin typeface="メイリオ"/>
                <a:ea typeface="メイリオ"/>
                <a:cs typeface="メイリオ"/>
              </a:rPr>
              <a:t>★前提（すべて社内想定）：友だち化率3%／体験予約転換率8%／平均在籍12→14ヶ月／来店率60→75%。月会費・在籍月数は業界一般値。</a:t>
            </a:r>
          </a:p>
          <a:p>
            <a:r>
              <a:rPr sz="900" b="0">
                <a:solidFill>
                  <a:srgbClr val="646C82"/>
                </a:solidFill>
                <a:latin typeface="メイリオ"/>
                <a:ea typeface="メイリオ"/>
                <a:cs typeface="メイリオ"/>
              </a:rPr>
              <a:t>※ 在籍月数はLINE側では計測できません。導入前後の在籍月数は、貴社の会員管理システムのデータで比較いたします。</a:t>
            </a:r>
          </a:p>
        </p:txBody>
      </p:sp>
    </p:spTree>
    <p:extLst>
      <p:ext uri="{BB962C8B-B14F-4D97-AF65-F5344CB8AC3E}">
        <p14:creationId xmlns:p14="http://schemas.microsoft.com/office/powerpoint/2010/main" val="411222659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A257E-053E-E603-90CB-9BDC893E2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3E008DC-B597-D6BE-17A5-E0E8A30F3CE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9C67BF09-6100-F781-92A9-1D3AD767C055}"/>
              </a:ext>
            </a:extLst>
          </p:cNvPr>
          <p:cNvSpPr/>
          <p:nvPr/>
        </p:nvSpPr>
        <p:spPr>
          <a:xfrm>
            <a:off x="3424390" y="3038203"/>
            <a:ext cx="3057247"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具体プラン提示</a:t>
            </a:r>
            <a:endParaRPr lang="en-US" altLang="ja-I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6331967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AC0CE-FB74-5332-7EA1-C1F4EC9ED094}"/>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F0674222-23F2-C2FA-1676-03E492633A91}"/>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6D660AB6-8BEB-7060-C6E7-84B830DE3B73}"/>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sz="1600" b="1" dirty="0">
                <a:solidFill>
                  <a:srgbClr val="333333"/>
                </a:solidFill>
                <a:latin typeface="メイリオ"/>
                <a:ea typeface="メイリオ"/>
              </a:rPr>
              <a:t>「</a:t>
            </a:r>
            <a:r>
              <a:rPr sz="1600" b="1" dirty="0" err="1">
                <a:solidFill>
                  <a:srgbClr val="333333"/>
                </a:solidFill>
                <a:latin typeface="メイリオ"/>
                <a:ea typeface="メイリオ"/>
              </a:rPr>
              <a:t>ターゲット</a:t>
            </a:r>
            <a:r>
              <a:rPr sz="1600" b="1" dirty="0">
                <a:solidFill>
                  <a:srgbClr val="333333"/>
                </a:solidFill>
                <a:latin typeface="メイリオ"/>
                <a:ea typeface="メイリオ"/>
              </a:rPr>
              <a:t> × </a:t>
            </a:r>
            <a:r>
              <a:rPr sz="1600" b="1" dirty="0" err="1">
                <a:solidFill>
                  <a:srgbClr val="333333"/>
                </a:solidFill>
                <a:latin typeface="メイリオ"/>
                <a:ea typeface="メイリオ"/>
              </a:rPr>
              <a:t>ステップ」</a:t>
            </a:r>
            <a:r>
              <a:rPr sz="1600" b="0" dirty="0" err="1">
                <a:solidFill>
                  <a:srgbClr val="333333"/>
                </a:solidFill>
                <a:latin typeface="メイリオ"/>
                <a:ea typeface="メイリオ"/>
              </a:rPr>
              <a:t>を軸にした構成</a:t>
            </a:r>
            <a:r>
              <a:rPr sz="1600" b="0" dirty="0">
                <a:solidFill>
                  <a:srgbClr val="333333"/>
                </a:solidFill>
                <a:latin typeface="メイリオ"/>
                <a:ea typeface="メイリオ"/>
              </a:rPr>
              <a:t>。</a:t>
            </a:r>
            <a:endParaRPr lang="en-US" sz="1600" b="0" dirty="0">
              <a:solidFill>
                <a:srgbClr val="333333"/>
              </a:solidFill>
              <a:latin typeface="メイリオ"/>
              <a:ea typeface="メイリオ"/>
            </a:endParaRPr>
          </a:p>
          <a:p>
            <a:pPr algn="ctr">
              <a:lnSpc>
                <a:spcPts val="2455"/>
              </a:lnSpc>
            </a:pPr>
            <a:r>
              <a:rPr sz="1600" b="0" dirty="0">
                <a:solidFill>
                  <a:srgbClr val="333333"/>
                </a:solidFill>
                <a:latin typeface="メイリオ"/>
                <a:ea typeface="メイリオ"/>
              </a:rPr>
              <a:t>◯</a:t>
            </a:r>
            <a:r>
              <a:rPr sz="1600" b="0" dirty="0" err="1">
                <a:solidFill>
                  <a:srgbClr val="333333"/>
                </a:solidFill>
                <a:latin typeface="メイリオ"/>
                <a:ea typeface="メイリオ"/>
              </a:rPr>
              <a:t>の数は貴社の商材数・リスト規模に合わせて確定します</a:t>
            </a:r>
            <a:r>
              <a:rPr sz="1600" b="0" dirty="0">
                <a:solidFill>
                  <a:srgbClr val="333333"/>
                </a:solidFill>
                <a:latin typeface="メイリオ"/>
                <a:ea typeface="メイリオ"/>
              </a:rPr>
              <a:t>。</a:t>
            </a:r>
            <a:endParaRPr lang="en-US" altLang="ja-JP"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A222F43F-D0AF-9AFC-9F2B-653C85E63E7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A2BA354-F6A0-F5FB-F7A4-8C5F010328B8}"/>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Meiryo"/>
                <a:sym typeface="Meiryo"/>
              </a:rPr>
              <a:t>ご提供プラン（運用構成）</a:t>
            </a:r>
            <a:endParaRPr sz="1600" b="1" dirty="0">
              <a:solidFill>
                <a:srgbClr val="002060"/>
              </a:solidFill>
              <a:latin typeface="メイリオ"/>
              <a:ea typeface="メイリオ"/>
              <a:cs typeface="Meiryo"/>
              <a:sym typeface="Meiryo"/>
            </a:endParaRPr>
          </a:p>
        </p:txBody>
      </p:sp>
      <p:sp>
        <p:nvSpPr>
          <p:cNvPr id="46" name="Rounded Rectangle 45"/>
          <p:cNvSpPr/>
          <p:nvPr/>
        </p:nvSpPr>
        <p:spPr>
          <a:xfrm>
            <a:off x="350000" y="1560000"/>
            <a:ext cx="4300000" cy="378504"/>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dirty="0" err="1">
                <a:solidFill>
                  <a:srgbClr val="1F3A5F"/>
                </a:solidFill>
                <a:latin typeface="メイリオ"/>
                <a:ea typeface="メイリオ"/>
              </a:rPr>
              <a:t>運用構成（貴社に合わせて確定</a:t>
            </a:r>
            <a:r>
              <a:rPr sz="1400" b="1" dirty="0">
                <a:solidFill>
                  <a:srgbClr val="1F3A5F"/>
                </a:solidFill>
                <a:latin typeface="メイリオ"/>
                <a:ea typeface="メイリオ"/>
              </a:rPr>
              <a:t>）</a:t>
            </a:r>
          </a:p>
        </p:txBody>
      </p:sp>
      <p:sp>
        <p:nvSpPr>
          <p:cNvPr id="47" name="Rounded Rectangle 46"/>
          <p:cNvSpPr/>
          <p:nvPr/>
        </p:nvSpPr>
        <p:spPr>
          <a:xfrm>
            <a:off x="350000" y="1929999"/>
            <a:ext cx="4300000" cy="1299529"/>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dirty="0" err="1">
                <a:solidFill>
                  <a:srgbClr val="1F3A5F"/>
                </a:solidFill>
                <a:latin typeface="メイリオ"/>
                <a:ea typeface="メイリオ"/>
              </a:rPr>
              <a:t>ターゲット</a:t>
            </a:r>
            <a:r>
              <a:rPr sz="1400" b="1" dirty="0">
                <a:solidFill>
                  <a:srgbClr val="1F3A5F"/>
                </a:solidFill>
                <a:latin typeface="メイリオ"/>
                <a:ea typeface="メイリオ"/>
              </a:rPr>
              <a:t>：◯ 個</a:t>
            </a:r>
            <a:endParaRPr lang="en-US" sz="14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200" b="0" dirty="0" err="1">
                <a:solidFill>
                  <a:srgbClr val="333333"/>
                </a:solidFill>
                <a:latin typeface="メイリオ"/>
                <a:ea typeface="メイリオ"/>
              </a:rPr>
              <a:t>二軸アンケート（配信頻度×商材）で分類</a:t>
            </a:r>
            <a:endParaRPr sz="1200" b="0" dirty="0">
              <a:solidFill>
                <a:srgbClr val="333333"/>
              </a:solidFill>
              <a:latin typeface="メイリオ"/>
              <a:ea typeface="メイリオ"/>
            </a:endParaRPr>
          </a:p>
          <a:p>
            <a:pPr algn="l"/>
            <a:r>
              <a:rPr sz="1200" b="0" dirty="0">
                <a:solidFill>
                  <a:srgbClr val="555555"/>
                </a:solidFill>
                <a:latin typeface="メイリオ"/>
                <a:ea typeface="メイリオ"/>
              </a:rPr>
              <a:t>例：3個｜「</a:t>
            </a:r>
            <a:r>
              <a:rPr sz="1200" b="0" dirty="0" err="1">
                <a:solidFill>
                  <a:srgbClr val="555555"/>
                </a:solidFill>
                <a:latin typeface="メイリオ"/>
                <a:ea typeface="メイリオ"/>
              </a:rPr>
              <a:t>今すぐ</a:t>
            </a:r>
            <a:r>
              <a:rPr sz="1200" b="0" dirty="0">
                <a:solidFill>
                  <a:srgbClr val="555555"/>
                </a:solidFill>
                <a:latin typeface="メイリオ"/>
                <a:ea typeface="メイリオ"/>
              </a:rPr>
              <a:t>/1ヶ月以内/2〜3ヶ月先・未定」</a:t>
            </a:r>
          </a:p>
        </p:txBody>
      </p:sp>
      <p:sp>
        <p:nvSpPr>
          <p:cNvPr id="48" name="Rounded Rectangle 47"/>
          <p:cNvSpPr/>
          <p:nvPr/>
        </p:nvSpPr>
        <p:spPr>
          <a:xfrm>
            <a:off x="340857" y="3388642"/>
            <a:ext cx="4300000" cy="1299529"/>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dirty="0" err="1">
                <a:solidFill>
                  <a:srgbClr val="1F3A5F"/>
                </a:solidFill>
                <a:latin typeface="メイリオ"/>
                <a:ea typeface="メイリオ"/>
              </a:rPr>
              <a:t>ステップ配信：各</a:t>
            </a:r>
            <a:r>
              <a:rPr sz="1400" b="1" dirty="0">
                <a:solidFill>
                  <a:srgbClr val="1F3A5F"/>
                </a:solidFill>
                <a:latin typeface="メイリオ"/>
                <a:ea typeface="メイリオ"/>
              </a:rPr>
              <a:t>◯ 通 × ◯ </a:t>
            </a:r>
            <a:r>
              <a:rPr sz="1400" b="1" dirty="0" err="1">
                <a:solidFill>
                  <a:srgbClr val="1F3A5F"/>
                </a:solidFill>
                <a:latin typeface="メイリオ"/>
                <a:ea typeface="メイリオ"/>
              </a:rPr>
              <a:t>セット</a:t>
            </a:r>
            <a:endParaRPr lang="en-US" sz="14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200" b="0" dirty="0" err="1">
                <a:solidFill>
                  <a:srgbClr val="333333"/>
                </a:solidFill>
                <a:latin typeface="メイリオ"/>
                <a:ea typeface="メイリオ"/>
              </a:rPr>
              <a:t>ターゲット別シナリオを全自動で稼働</a:t>
            </a:r>
            <a:endParaRPr sz="1200" b="0" dirty="0">
              <a:solidFill>
                <a:srgbClr val="333333"/>
              </a:solidFill>
              <a:latin typeface="メイリオ"/>
              <a:ea typeface="メイリオ"/>
            </a:endParaRPr>
          </a:p>
          <a:p>
            <a:pPr algn="l"/>
            <a:r>
              <a:rPr sz="1200" b="0" dirty="0">
                <a:solidFill>
                  <a:srgbClr val="555555"/>
                </a:solidFill>
                <a:latin typeface="メイリオ"/>
                <a:ea typeface="メイリオ"/>
              </a:rPr>
              <a:t>例：6通×3セット＝18通</a:t>
            </a:r>
          </a:p>
        </p:txBody>
      </p:sp>
      <p:sp>
        <p:nvSpPr>
          <p:cNvPr id="49" name="Rounded Rectangle 48"/>
          <p:cNvSpPr/>
          <p:nvPr/>
        </p:nvSpPr>
        <p:spPr>
          <a:xfrm>
            <a:off x="350000" y="4847286"/>
            <a:ext cx="4300000" cy="1299529"/>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dirty="0" err="1">
                <a:solidFill>
                  <a:srgbClr val="1F3A5F"/>
                </a:solidFill>
                <a:latin typeface="メイリオ"/>
                <a:ea typeface="メイリオ"/>
              </a:rPr>
              <a:t>企画投稿：月</a:t>
            </a:r>
            <a:r>
              <a:rPr sz="1400" b="1" dirty="0">
                <a:solidFill>
                  <a:srgbClr val="1F3A5F"/>
                </a:solidFill>
                <a:latin typeface="メイリオ"/>
                <a:ea typeface="メイリオ"/>
              </a:rPr>
              <a:t>◯ 本</a:t>
            </a:r>
            <a:endParaRPr lang="en-US" sz="14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200" b="0" dirty="0">
                <a:solidFill>
                  <a:srgbClr val="333333"/>
                </a:solidFill>
                <a:latin typeface="メイリオ"/>
                <a:ea typeface="メイリオ"/>
              </a:rPr>
              <a:t>週1回の定期投稿＋時期・時事の特別配信</a:t>
            </a:r>
          </a:p>
          <a:p>
            <a:pPr algn="l"/>
            <a:r>
              <a:rPr sz="1200" b="0" dirty="0">
                <a:solidFill>
                  <a:srgbClr val="555555"/>
                </a:solidFill>
                <a:latin typeface="メイリオ"/>
                <a:ea typeface="メイリオ"/>
              </a:rPr>
              <a:t>例：月4本（週1回）</a:t>
            </a:r>
          </a:p>
        </p:txBody>
      </p:sp>
      <p:sp>
        <p:nvSpPr>
          <p:cNvPr id="50" name="Rounded Rectangle 49"/>
          <p:cNvSpPr/>
          <p:nvPr/>
        </p:nvSpPr>
        <p:spPr>
          <a:xfrm>
            <a:off x="4850000" y="1560000"/>
            <a:ext cx="4700000" cy="378504"/>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a:solidFill>
                  <a:srgbClr val="1F3A5F"/>
                </a:solidFill>
                <a:latin typeface="メイリオ"/>
                <a:ea typeface="メイリオ"/>
              </a:rPr>
              <a:t>費用・ツール・運営（標準）</a:t>
            </a:r>
          </a:p>
        </p:txBody>
      </p:sp>
      <p:sp>
        <p:nvSpPr>
          <p:cNvPr id="51" name="Rounded Rectangle 50"/>
          <p:cNvSpPr/>
          <p:nvPr/>
        </p:nvSpPr>
        <p:spPr>
          <a:xfrm>
            <a:off x="4850000" y="1929999"/>
            <a:ext cx="4700000" cy="1299529"/>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600" b="1" dirty="0" err="1">
                <a:solidFill>
                  <a:srgbClr val="FFFFFF"/>
                </a:solidFill>
                <a:latin typeface="メイリオ"/>
                <a:ea typeface="メイリオ"/>
              </a:rPr>
              <a:t>月額</a:t>
            </a:r>
            <a:r>
              <a:rPr sz="1600" b="1" dirty="0">
                <a:solidFill>
                  <a:srgbClr val="FFFFFF"/>
                </a:solidFill>
                <a:latin typeface="メイリオ"/>
                <a:ea typeface="メイリオ"/>
              </a:rPr>
              <a:t> 20万円〜（3投稿）</a:t>
            </a:r>
            <a:endParaRPr lang="en-US" sz="1600" b="1" dirty="0">
              <a:solidFill>
                <a:srgbClr val="FFFFFF"/>
              </a:solidFill>
              <a:latin typeface="メイリオ"/>
              <a:ea typeface="メイリオ"/>
            </a:endParaRPr>
          </a:p>
          <a:p>
            <a:pPr algn="l"/>
            <a:endParaRPr sz="800" b="1" dirty="0">
              <a:solidFill>
                <a:srgbClr val="FFFFFF"/>
              </a:solidFill>
              <a:latin typeface="メイリオ"/>
              <a:ea typeface="メイリオ"/>
            </a:endParaRPr>
          </a:p>
          <a:p>
            <a:pPr algn="l"/>
            <a:r>
              <a:rPr sz="1400" dirty="0" err="1">
                <a:solidFill>
                  <a:srgbClr val="FFFFFF"/>
                </a:solidFill>
                <a:latin typeface="メイリオ"/>
                <a:ea typeface="メイリオ"/>
              </a:rPr>
              <a:t>初期費用</a:t>
            </a:r>
            <a:r>
              <a:rPr sz="1400" dirty="0">
                <a:solidFill>
                  <a:srgbClr val="FFFFFF"/>
                </a:solidFill>
                <a:latin typeface="メイリオ"/>
                <a:ea typeface="メイリオ"/>
              </a:rPr>
              <a:t> 10万円〜 ／ 6か月〜契約</a:t>
            </a:r>
          </a:p>
          <a:p>
            <a:pPr algn="l"/>
            <a:r>
              <a:rPr sz="1200" dirty="0">
                <a:solidFill>
                  <a:srgbClr val="FFFFFF"/>
                </a:solidFill>
                <a:latin typeface="メイリオ"/>
                <a:ea typeface="メイリオ"/>
              </a:rPr>
              <a:t>※5投稿=30万円／9投稿=50万円（投稿数により変動）</a:t>
            </a:r>
          </a:p>
        </p:txBody>
      </p:sp>
      <p:sp>
        <p:nvSpPr>
          <p:cNvPr id="53" name="Rounded Rectangle 52"/>
          <p:cNvSpPr/>
          <p:nvPr/>
        </p:nvSpPr>
        <p:spPr>
          <a:xfrm>
            <a:off x="4850000" y="4847286"/>
            <a:ext cx="4700000" cy="1347473"/>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200" b="1" dirty="0" err="1">
                <a:solidFill>
                  <a:srgbClr val="1F3A5F"/>
                </a:solidFill>
                <a:latin typeface="メイリオ"/>
                <a:ea typeface="メイリオ"/>
              </a:rPr>
              <a:t>個別チャット運営</a:t>
            </a:r>
            <a:endParaRPr lang="en-US" sz="12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200" b="0" dirty="0" err="1">
                <a:solidFill>
                  <a:srgbClr val="333333"/>
                </a:solidFill>
                <a:latin typeface="メイリオ"/>
                <a:ea typeface="メイリオ"/>
              </a:rPr>
              <a:t>よくある質問＝KW自動応答／営業時間内は有人対応</a:t>
            </a:r>
            <a:endParaRPr sz="1200" b="0" dirty="0">
              <a:solidFill>
                <a:srgbClr val="333333"/>
              </a:solidFill>
              <a:latin typeface="メイリオ"/>
              <a:ea typeface="メイリオ"/>
            </a:endParaRPr>
          </a:p>
          <a:p>
            <a:pPr algn="l"/>
            <a:r>
              <a:rPr sz="1200" b="0" dirty="0" err="1">
                <a:solidFill>
                  <a:srgbClr val="333333"/>
                </a:solidFill>
                <a:latin typeface="メイリオ"/>
                <a:ea typeface="メイリオ"/>
              </a:rPr>
              <a:t>体験希望はチャット受付</a:t>
            </a:r>
            <a:r>
              <a:rPr sz="1200" b="0" dirty="0">
                <a:solidFill>
                  <a:srgbClr val="333333"/>
                </a:solidFill>
                <a:latin typeface="メイリオ"/>
                <a:ea typeface="メイリオ"/>
              </a:rPr>
              <a:t> → </a:t>
            </a:r>
            <a:r>
              <a:rPr sz="1200" b="0" dirty="0" err="1">
                <a:solidFill>
                  <a:srgbClr val="333333"/>
                </a:solidFill>
                <a:latin typeface="メイリオ"/>
                <a:ea typeface="メイリオ"/>
              </a:rPr>
              <a:t>店舗スタッフへトスアップ</a:t>
            </a:r>
            <a:endParaRPr sz="1200" b="0" dirty="0">
              <a:solidFill>
                <a:srgbClr val="333333"/>
              </a:solidFill>
              <a:latin typeface="メイリオ"/>
              <a:ea typeface="メイリオ"/>
            </a:endParaRPr>
          </a:p>
        </p:txBody>
      </p:sp>
      <p:sp>
        <p:nvSpPr>
          <p:cNvPr id="54" name="Rounded Rectangle 53"/>
          <p:cNvSpPr/>
          <p:nvPr/>
        </p:nvSpPr>
        <p:spPr>
          <a:xfrm>
            <a:off x="4840857" y="3388642"/>
            <a:ext cx="4700000" cy="1299529"/>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40000" rIns="70000" rtlCol="0" anchor="t"/>
          <a:lstStyle/>
          <a:p>
            <a:r>
              <a:rPr sz="1200" b="1" dirty="0" err="1">
                <a:solidFill>
                  <a:srgbClr val="1F3A5F"/>
                </a:solidFill>
                <a:latin typeface="メイリオ"/>
                <a:ea typeface="メイリオ"/>
              </a:rPr>
              <a:t>導入ツール：役割別に選定</a:t>
            </a:r>
            <a:endParaRPr lang="en-US" sz="1200" b="1" dirty="0">
              <a:solidFill>
                <a:srgbClr val="1F3A5F"/>
              </a:solidFill>
              <a:latin typeface="メイリオ"/>
              <a:ea typeface="メイリオ"/>
            </a:endParaRPr>
          </a:p>
          <a:p>
            <a:endParaRPr sz="800" b="1" dirty="0">
              <a:solidFill>
                <a:srgbClr val="1F3A5F"/>
              </a:solidFill>
              <a:latin typeface="メイリオ"/>
              <a:ea typeface="メイリオ"/>
            </a:endParaRPr>
          </a:p>
          <a:p>
            <a:r>
              <a:rPr sz="1200" b="1" dirty="0" err="1">
                <a:solidFill>
                  <a:srgbClr val="333333"/>
                </a:solidFill>
                <a:latin typeface="メイリオ"/>
                <a:ea typeface="メイリオ"/>
              </a:rPr>
              <a:t>入口＝Sitelead（離脱防止ポップアップ</a:t>
            </a:r>
            <a:r>
              <a:rPr sz="1200" b="1" dirty="0">
                <a:solidFill>
                  <a:srgbClr val="333333"/>
                </a:solidFill>
                <a:latin typeface="メイリオ"/>
                <a:ea typeface="メイリオ"/>
              </a:rPr>
              <a:t>）※</a:t>
            </a:r>
            <a:r>
              <a:rPr sz="1200" b="1" dirty="0" err="1">
                <a:solidFill>
                  <a:srgbClr val="333333"/>
                </a:solidFill>
                <a:latin typeface="メイリオ"/>
                <a:ea typeface="メイリオ"/>
              </a:rPr>
              <a:t>別途費用</a:t>
            </a:r>
            <a:endParaRPr sz="1200" b="1" dirty="0">
              <a:solidFill>
                <a:srgbClr val="333333"/>
              </a:solidFill>
              <a:latin typeface="メイリオ"/>
              <a:ea typeface="メイリオ"/>
            </a:endParaRPr>
          </a:p>
          <a:p>
            <a:r>
              <a:rPr sz="1200" b="1" dirty="0" err="1">
                <a:solidFill>
                  <a:srgbClr val="333333"/>
                </a:solidFill>
                <a:latin typeface="メイリオ"/>
                <a:ea typeface="メイリオ"/>
              </a:rPr>
              <a:t>配信＝Lstep</a:t>
            </a:r>
            <a:r>
              <a:rPr sz="1200" b="1" dirty="0">
                <a:solidFill>
                  <a:srgbClr val="333333"/>
                </a:solidFill>
                <a:latin typeface="メイリオ"/>
                <a:ea typeface="メイリオ"/>
              </a:rPr>
              <a:t> </a:t>
            </a:r>
            <a:r>
              <a:rPr sz="1200" b="1" dirty="0" err="1">
                <a:solidFill>
                  <a:srgbClr val="333333"/>
                </a:solidFill>
                <a:latin typeface="メイリオ"/>
                <a:ea typeface="メイリオ"/>
              </a:rPr>
              <a:t>または</a:t>
            </a:r>
            <a:r>
              <a:rPr sz="1200" b="1" dirty="0">
                <a:solidFill>
                  <a:srgbClr val="333333"/>
                </a:solidFill>
                <a:latin typeface="メイリオ"/>
                <a:ea typeface="メイリオ"/>
              </a:rPr>
              <a:t> </a:t>
            </a:r>
            <a:r>
              <a:rPr sz="1200" b="1" dirty="0" err="1">
                <a:solidFill>
                  <a:srgbClr val="333333"/>
                </a:solidFill>
                <a:latin typeface="メイリオ"/>
                <a:ea typeface="メイリオ"/>
              </a:rPr>
              <a:t>Hachidori</a:t>
            </a:r>
            <a:r>
              <a:rPr sz="1200" b="1" dirty="0">
                <a:solidFill>
                  <a:srgbClr val="333333"/>
                </a:solidFill>
                <a:latin typeface="メイリオ"/>
                <a:ea typeface="メイリオ"/>
              </a:rPr>
              <a:t> </a:t>
            </a:r>
            <a:r>
              <a:rPr sz="1200" b="1" dirty="0" err="1">
                <a:solidFill>
                  <a:srgbClr val="333333"/>
                </a:solidFill>
                <a:latin typeface="メイリオ"/>
                <a:ea typeface="メイリオ"/>
              </a:rPr>
              <a:t>のどちらか一方を要件で選定</a:t>
            </a:r>
            <a:endParaRPr sz="1200" b="1" dirty="0">
              <a:solidFill>
                <a:srgbClr val="333333"/>
              </a:solidFill>
              <a:latin typeface="メイリオ"/>
              <a:ea typeface="メイリオ"/>
            </a:endParaRPr>
          </a:p>
          <a:p>
            <a:r>
              <a:rPr sz="1100" b="0" dirty="0" err="1">
                <a:solidFill>
                  <a:srgbClr val="333333"/>
                </a:solidFill>
                <a:latin typeface="メイリオ"/>
                <a:ea typeface="メイリオ"/>
              </a:rPr>
              <a:t>Lstep＝タグ・セグメント・ステップ自動化／Hachidori</a:t>
            </a:r>
            <a:endParaRPr lang="en-US" sz="1100" b="0" dirty="0">
              <a:solidFill>
                <a:srgbClr val="333333"/>
              </a:solidFill>
              <a:latin typeface="メイリオ"/>
              <a:ea typeface="メイリオ"/>
            </a:endParaRPr>
          </a:p>
          <a:p>
            <a:r>
              <a:rPr lang="ja-JP" altLang="en-US" sz="1100" b="0" dirty="0">
                <a:solidFill>
                  <a:srgbClr val="333333"/>
                </a:solidFill>
                <a:latin typeface="メイリオ"/>
                <a:ea typeface="メイリオ"/>
              </a:rPr>
              <a:t>＝</a:t>
            </a:r>
            <a:r>
              <a:rPr sz="1100" b="0" dirty="0" err="1">
                <a:solidFill>
                  <a:srgbClr val="333333"/>
                </a:solidFill>
                <a:latin typeface="メイリオ"/>
                <a:ea typeface="メイリオ"/>
              </a:rPr>
              <a:t>通知メッセ・保有リスト活用</a:t>
            </a:r>
            <a:endParaRPr sz="1100" b="0" dirty="0">
              <a:solidFill>
                <a:srgbClr val="333333"/>
              </a:solidFill>
              <a:latin typeface="メイリオ"/>
              <a:ea typeface="メイリオ"/>
            </a:endParaRPr>
          </a:p>
          <a:p>
            <a:r>
              <a:rPr sz="1100" b="0" dirty="0" err="1">
                <a:solidFill>
                  <a:srgbClr val="555555"/>
                </a:solidFill>
                <a:latin typeface="メイリオ"/>
                <a:ea typeface="メイリオ"/>
              </a:rPr>
              <a:t>既存CRMとのAPI連携も対応（特定ツールに依存しない</a:t>
            </a:r>
            <a:r>
              <a:rPr sz="1100" b="0" dirty="0">
                <a:solidFill>
                  <a:srgbClr val="555555"/>
                </a:solidFill>
                <a:latin typeface="メイリオ"/>
                <a:ea typeface="メイリオ"/>
              </a:rPr>
              <a:t>）</a:t>
            </a:r>
          </a:p>
        </p:txBody>
      </p:sp>
    </p:spTree>
    <p:extLst>
      <p:ext uri="{BB962C8B-B14F-4D97-AF65-F5344CB8AC3E}">
        <p14:creationId xmlns:p14="http://schemas.microsoft.com/office/powerpoint/2010/main" val="3943753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6F07D-57DB-D005-AEF4-0353E12BFBBB}"/>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E70BA7A-C846-DB25-5226-608EE498C23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C580AE1A-1ED9-8A39-74F0-21E10C52709E}"/>
              </a:ext>
            </a:extLst>
          </p:cNvPr>
          <p:cNvSpPr/>
          <p:nvPr/>
        </p:nvSpPr>
        <p:spPr>
          <a:xfrm>
            <a:off x="3424389" y="3038203"/>
            <a:ext cx="3057247" cy="892552"/>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ご提案にあたり</a:t>
            </a:r>
            <a:endPar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（施策紹介・企画案）</a:t>
            </a:r>
            <a:endParaRPr lang="en-US" altLang="ja-I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381273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C912E4CC-70AD-5529-2A5A-4FA0D1C97A2B}"/>
              </a:ext>
            </a:extLst>
          </p:cNvPr>
          <p:cNvSpPr txBox="1"/>
          <p:nvPr/>
        </p:nvSpPr>
        <p:spPr>
          <a:xfrm>
            <a:off x="548883" y="138137"/>
            <a:ext cx="6276325" cy="338514"/>
          </a:xfrm>
          <a:prstGeom prst="rect">
            <a:avLst/>
          </a:prstGeom>
          <a:noFill/>
          <a:ln>
            <a:noFill/>
          </a:ln>
        </p:spPr>
        <p:txBody>
          <a:bodyPr spcFirstLastPara="1" wrap="square" lIns="36000" tIns="10800" rIns="36000" bIns="10800" anchor="ctr" anchorCtr="0">
            <a:spAutoFit/>
          </a:bodyPr>
          <a:lstStyle/>
          <a:p>
            <a:pPr lvl="0" algn="l">
              <a:lnSpc>
                <a:spcPct val="115000"/>
              </a:lnSpc>
            </a:pPr>
            <a:r>
              <a:rPr sz="1600" b="1">
                <a:solidFill>
                  <a:srgbClr val="323366"/>
                </a:solidFill>
                <a:latin typeface="メイリオ"/>
                <a:ea typeface="メイリオ"/>
                <a:cs typeface="メイリオ"/>
              </a:rPr>
              <a:t>具体施策｜18の施策をジャーニー上に配置</a:t>
            </a:r>
          </a:p>
        </p:txBody>
      </p:sp>
      <p:sp>
        <p:nvSpPr>
          <p:cNvPr id="9" name="正方形/長方形 8">
            <a:extLst>
              <a:ext uri="{FF2B5EF4-FFF2-40B4-BE49-F238E27FC236}">
                <a16:creationId xmlns:a16="http://schemas.microsoft.com/office/drawing/2014/main" id="{BD73628C-261B-9AE4-0B66-12C6BEDE3EDD}"/>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a:latin typeface="メイリオ" panose="020B0604030504040204" pitchFamily="50" charset="-128"/>
                <a:ea typeface="メイリオ" panose="020B0604030504040204" pitchFamily="50" charset="-128"/>
              </a:rPr>
              <a:t>集客動線</a:t>
            </a:r>
            <a:endParaRPr kumimoji="1" lang="ja-JP" altLang="en-US" sz="1400" dirty="0">
              <a:latin typeface="メイリオ" panose="020B0604030504040204" pitchFamily="50" charset="-128"/>
              <a:ea typeface="メイリオ" panose="020B0604030504040204" pitchFamily="50" charset="-128"/>
            </a:endParaRPr>
          </a:p>
        </p:txBody>
      </p:sp>
      <p:sp>
        <p:nvSpPr>
          <p:cNvPr id="3" name="Google Shape;752;p28">
            <a:extLst>
              <a:ext uri="{FF2B5EF4-FFF2-40B4-BE49-F238E27FC236}">
                <a16:creationId xmlns:a16="http://schemas.microsoft.com/office/drawing/2014/main" id="{AF6C2475-3BD5-7DF2-52BD-C0F30E8072CF}"/>
              </a:ext>
            </a:extLst>
          </p:cNvPr>
          <p:cNvSpPr txBox="1"/>
          <p:nvPr/>
        </p:nvSpPr>
        <p:spPr>
          <a:xfrm>
            <a:off x="1988819" y="736332"/>
            <a:ext cx="7774305" cy="584735"/>
          </a:xfrm>
          <a:prstGeom prst="rect">
            <a:avLst/>
          </a:prstGeom>
          <a:noFill/>
          <a:ln>
            <a:noFill/>
          </a:ln>
        </p:spPr>
        <p:txBody>
          <a:bodyPr spcFirstLastPara="1" wrap="square" lIns="0" tIns="10800" rIns="0" bIns="10800" anchor="ctr" anchorCtr="0">
            <a:spAutoFit/>
          </a:bodyPr>
          <a:lstStyle/>
          <a:p>
            <a:pPr algn="l">
              <a:lnSpc>
                <a:spcPct val="115000"/>
              </a:lnSpc>
            </a:pPr>
            <a:r>
              <a:rPr sz="1300" b="1">
                <a:solidFill>
                  <a:srgbClr val="002060"/>
                </a:solidFill>
                <a:latin typeface="メイリオ"/>
                <a:ea typeface="メイリオ"/>
                <a:cs typeface="メイリオ"/>
              </a:rPr>
              <a:t>18の具体施策が、ジャーニーのどのフェーズで効くかを1枚に置きました。</a:t>
            </a:r>
            <a:endParaRPr lang="en-US" altLang="ja-JP" sz="1600" b="1" dirty="0">
              <a:latin typeface="メイリオ" panose="020B0604030504040204" pitchFamily="50" charset="-128"/>
              <a:ea typeface="メイリオ" panose="020B0604030504040204" pitchFamily="50" charset="-128"/>
              <a:cs typeface="Meiryo"/>
              <a:sym typeface="Meiryo"/>
            </a:endParaRPr>
          </a:p>
          <a:p>
            <a:pPr algn="l">
              <a:lnSpc>
                <a:spcPct val="115000"/>
              </a:lnSpc>
            </a:pPr>
            <a:r>
              <a:rPr sz="1300" b="1">
                <a:solidFill>
                  <a:srgbClr val="C00000"/>
                </a:solidFill>
                <a:latin typeface="メイリオ"/>
                <a:ea typeface="メイリオ"/>
                <a:cs typeface="メイリオ"/>
              </a:rPr>
              <a:t>追加までが6施策、追加後が12施策。後半のほうが厚い構成です。</a:t>
            </a:r>
          </a:p>
        </p:txBody>
      </p:sp>
      <p:cxnSp>
        <p:nvCxnSpPr>
          <p:cNvPr id="2" name="直線コネクタ 1">
            <a:extLst>
              <a:ext uri="{FF2B5EF4-FFF2-40B4-BE49-F238E27FC236}">
                <a16:creationId xmlns:a16="http://schemas.microsoft.com/office/drawing/2014/main" id="{8D0721AE-E7E5-698E-E773-F2614C0DBB07}"/>
              </a:ext>
            </a:extLst>
          </p:cNvPr>
          <p:cNvCxnSpPr>
            <a:cxnSpLocks/>
          </p:cNvCxnSpPr>
          <p:nvPr/>
        </p:nvCxnSpPr>
        <p:spPr>
          <a:xfrm>
            <a:off x="315939" y="217881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 name="直線コネクタ 4">
            <a:extLst>
              <a:ext uri="{FF2B5EF4-FFF2-40B4-BE49-F238E27FC236}">
                <a16:creationId xmlns:a16="http://schemas.microsoft.com/office/drawing/2014/main" id="{3BFFC88E-A589-D631-D366-94F280EFF67D}"/>
              </a:ext>
            </a:extLst>
          </p:cNvPr>
          <p:cNvCxnSpPr>
            <a:cxnSpLocks/>
          </p:cNvCxnSpPr>
          <p:nvPr/>
        </p:nvCxnSpPr>
        <p:spPr>
          <a:xfrm>
            <a:off x="1265077" y="219068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D90E23BB-3076-5B7D-82F3-8433A2B09D1F}"/>
              </a:ext>
            </a:extLst>
          </p:cNvPr>
          <p:cNvCxnSpPr>
            <a:cxnSpLocks/>
          </p:cNvCxnSpPr>
          <p:nvPr/>
        </p:nvCxnSpPr>
        <p:spPr>
          <a:xfrm>
            <a:off x="2202413" y="218803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3A68BF14-4E95-B76C-1300-FF13B29BADF0}"/>
              </a:ext>
            </a:extLst>
          </p:cNvPr>
          <p:cNvCxnSpPr>
            <a:cxnSpLocks/>
          </p:cNvCxnSpPr>
          <p:nvPr/>
        </p:nvCxnSpPr>
        <p:spPr>
          <a:xfrm>
            <a:off x="3136468" y="220735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6558815C-4A36-8DFA-3258-ADAC642B44B6}"/>
              </a:ext>
            </a:extLst>
          </p:cNvPr>
          <p:cNvCxnSpPr>
            <a:cxnSpLocks/>
          </p:cNvCxnSpPr>
          <p:nvPr/>
        </p:nvCxnSpPr>
        <p:spPr>
          <a:xfrm>
            <a:off x="3541980" y="221793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9B24DBF0-6A3A-0783-C6E3-74B28D837D9E}"/>
              </a:ext>
            </a:extLst>
          </p:cNvPr>
          <p:cNvCxnSpPr>
            <a:cxnSpLocks/>
          </p:cNvCxnSpPr>
          <p:nvPr/>
        </p:nvCxnSpPr>
        <p:spPr>
          <a:xfrm>
            <a:off x="4833781" y="222980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D9F92929-7F37-647E-2D3E-0EB84FFB20D1}"/>
              </a:ext>
            </a:extLst>
          </p:cNvPr>
          <p:cNvCxnSpPr>
            <a:cxnSpLocks/>
          </p:cNvCxnSpPr>
          <p:nvPr/>
        </p:nvCxnSpPr>
        <p:spPr>
          <a:xfrm>
            <a:off x="6125582" y="222716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A53FD7B1-4120-4E04-0DDF-B4B54EDB9BFD}"/>
              </a:ext>
            </a:extLst>
          </p:cNvPr>
          <p:cNvCxnSpPr>
            <a:cxnSpLocks/>
          </p:cNvCxnSpPr>
          <p:nvPr/>
        </p:nvCxnSpPr>
        <p:spPr>
          <a:xfrm>
            <a:off x="7417384" y="221793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ABDE72C7-C765-8BB2-E494-8277E0D528BC}"/>
              </a:ext>
            </a:extLst>
          </p:cNvPr>
          <p:cNvSpPr txBox="1"/>
          <p:nvPr/>
        </p:nvSpPr>
        <p:spPr>
          <a:xfrm>
            <a:off x="3542139" y="212416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96BDDC66-06A4-F147-F6D6-595BB801B1D3}"/>
              </a:ext>
            </a:extLst>
          </p:cNvPr>
          <p:cNvSpPr txBox="1"/>
          <p:nvPr/>
        </p:nvSpPr>
        <p:spPr>
          <a:xfrm>
            <a:off x="6119413" y="253332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375707FE-6207-A0AF-61A0-E9AABECDAC37}"/>
              </a:ext>
            </a:extLst>
          </p:cNvPr>
          <p:cNvSpPr txBox="1"/>
          <p:nvPr/>
        </p:nvSpPr>
        <p:spPr>
          <a:xfrm>
            <a:off x="4830776" y="232874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49AFAACD-69A5-DAB7-2AB7-5204509E5CCB}"/>
              </a:ext>
            </a:extLst>
          </p:cNvPr>
          <p:cNvSpPr txBox="1"/>
          <p:nvPr/>
        </p:nvSpPr>
        <p:spPr>
          <a:xfrm>
            <a:off x="7408050" y="273790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8B260C5F-25D5-8ED9-9E9C-2E4B97F7FE0C}"/>
              </a:ext>
            </a:extLst>
          </p:cNvPr>
          <p:cNvSpPr txBox="1"/>
          <p:nvPr/>
        </p:nvSpPr>
        <p:spPr>
          <a:xfrm>
            <a:off x="334303" y="213025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9" name="テキスト ボックス 18">
            <a:extLst>
              <a:ext uri="{FF2B5EF4-FFF2-40B4-BE49-F238E27FC236}">
                <a16:creationId xmlns:a16="http://schemas.microsoft.com/office/drawing/2014/main" id="{D76A6924-9615-4D2D-207A-2C463DAF53AF}"/>
              </a:ext>
            </a:extLst>
          </p:cNvPr>
          <p:cNvSpPr txBox="1"/>
          <p:nvPr/>
        </p:nvSpPr>
        <p:spPr>
          <a:xfrm>
            <a:off x="1268358" y="234091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8C64E429-AF18-081D-2A8E-EDCE056C0C0B}"/>
              </a:ext>
            </a:extLst>
          </p:cNvPr>
          <p:cNvSpPr txBox="1"/>
          <p:nvPr/>
        </p:nvSpPr>
        <p:spPr>
          <a:xfrm>
            <a:off x="2202413" y="253502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21" name="テキスト ボックス 20">
            <a:extLst>
              <a:ext uri="{FF2B5EF4-FFF2-40B4-BE49-F238E27FC236}">
                <a16:creationId xmlns:a16="http://schemas.microsoft.com/office/drawing/2014/main" id="{7B99F819-3A4C-8D01-87D3-59398A0C3663}"/>
              </a:ext>
            </a:extLst>
          </p:cNvPr>
          <p:cNvSpPr txBox="1"/>
          <p:nvPr/>
        </p:nvSpPr>
        <p:spPr>
          <a:xfrm>
            <a:off x="3136468" y="273137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22" name="コネクタ: カギ線 21">
            <a:extLst>
              <a:ext uri="{FF2B5EF4-FFF2-40B4-BE49-F238E27FC236}">
                <a16:creationId xmlns:a16="http://schemas.microsoft.com/office/drawing/2014/main" id="{89810CF4-19DD-8F80-464F-FE8E1D250689}"/>
              </a:ext>
            </a:extLst>
          </p:cNvPr>
          <p:cNvCxnSpPr>
            <a:cxnSpLocks/>
            <a:stCxn id="21" idx="0"/>
            <a:endCxn id="14" idx="2"/>
          </p:cNvCxnSpPr>
          <p:nvPr/>
        </p:nvCxnSpPr>
        <p:spPr>
          <a:xfrm rot="5400000" flipH="1" flipV="1">
            <a:off x="4282287" y="249442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2AFCBDA6-2140-B4C1-A45D-7A34BC21899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0" name="直線矢印コネクタ 29">
            <a:extLst>
              <a:ext uri="{FF2B5EF4-FFF2-40B4-BE49-F238E27FC236}">
                <a16:creationId xmlns:a16="http://schemas.microsoft.com/office/drawing/2014/main" id="{852097C2-692E-64D7-A5ED-5C35A2EFC97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9F2742C3-41F6-3CC5-6355-EC9495CFE608}"/>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32" name="Rectangle 31"/>
          <p:cNvSpPr/>
          <p:nvPr/>
        </p:nvSpPr>
        <p:spPr>
          <a:xfrm>
            <a:off x="316800" y="3463199"/>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16800" y="3463199"/>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どう友だち追加させるか？　（① 〜 ④）</a:t>
            </a:r>
          </a:p>
        </p:txBody>
      </p:sp>
      <p:sp>
        <p:nvSpPr>
          <p:cNvPr id="34" name="Rounded Rectangle 33"/>
          <p:cNvSpPr/>
          <p:nvPr/>
        </p:nvSpPr>
        <p:spPr>
          <a:xfrm>
            <a:off x="3960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464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① </a:t>
            </a:r>
            <a:r>
              <a:rPr sz="1100" b="1">
                <a:solidFill>
                  <a:srgbClr val="1A1A2E"/>
                </a:solidFill>
                <a:latin typeface="メイリオ"/>
                <a:ea typeface="メイリオ"/>
                <a:cs typeface="メイリオ"/>
              </a:rPr>
              <a:t>LINE広告（CPF）</a:t>
            </a:r>
          </a:p>
        </p:txBody>
      </p:sp>
      <p:sp>
        <p:nvSpPr>
          <p:cNvPr id="36" name="Rounded Rectangle 35"/>
          <p:cNvSpPr/>
          <p:nvPr/>
        </p:nvSpPr>
        <p:spPr>
          <a:xfrm>
            <a:off x="2743199"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793599"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② </a:t>
            </a:r>
            <a:r>
              <a:rPr sz="1100" b="1">
                <a:solidFill>
                  <a:srgbClr val="1A1A2E"/>
                </a:solidFill>
                <a:latin typeface="メイリオ"/>
                <a:ea typeface="メイリオ"/>
                <a:cs typeface="メイリオ"/>
              </a:rPr>
              <a:t>離脱防止ポップアップ</a:t>
            </a:r>
          </a:p>
        </p:txBody>
      </p:sp>
      <p:sp>
        <p:nvSpPr>
          <p:cNvPr id="38" name="Rounded Rectangle 37"/>
          <p:cNvSpPr/>
          <p:nvPr/>
        </p:nvSpPr>
        <p:spPr>
          <a:xfrm>
            <a:off x="50904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1408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無料特典の配布</a:t>
            </a:r>
          </a:p>
        </p:txBody>
      </p:sp>
      <p:sp>
        <p:nvSpPr>
          <p:cNvPr id="40" name="Rounded Rectangle 39"/>
          <p:cNvSpPr/>
          <p:nvPr/>
        </p:nvSpPr>
        <p:spPr>
          <a:xfrm>
            <a:off x="3960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464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〇〇タイプ診断</a:t>
            </a:r>
          </a:p>
        </p:txBody>
      </p:sp>
      <p:sp>
        <p:nvSpPr>
          <p:cNvPr id="42" name="Rounded Rectangle 41"/>
          <p:cNvSpPr/>
          <p:nvPr/>
        </p:nvSpPr>
        <p:spPr>
          <a:xfrm>
            <a:off x="2743199"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2793599"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a:t>
            </a:r>
            <a:r>
              <a:rPr sz="1100" b="1">
                <a:solidFill>
                  <a:srgbClr val="1A1A2E"/>
                </a:solidFill>
                <a:latin typeface="メイリオ"/>
                <a:ea typeface="メイリオ"/>
                <a:cs typeface="メイリオ"/>
              </a:rPr>
              <a:t>LINE登録をCVゴールに</a:t>
            </a:r>
          </a:p>
        </p:txBody>
      </p:sp>
      <p:sp>
        <p:nvSpPr>
          <p:cNvPr id="44" name="Rounded Rectangle 43"/>
          <p:cNvSpPr/>
          <p:nvPr/>
        </p:nvSpPr>
        <p:spPr>
          <a:xfrm>
            <a:off x="50904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51408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a:t>
            </a:r>
            <a:r>
              <a:rPr sz="1100" b="1">
                <a:solidFill>
                  <a:srgbClr val="1A1A2E"/>
                </a:solidFill>
                <a:latin typeface="メイリオ"/>
                <a:ea typeface="メイリオ"/>
                <a:cs typeface="メイリオ"/>
              </a:rPr>
              <a:t>サンクスLINE誘導</a:t>
            </a:r>
          </a:p>
        </p:txBody>
      </p:sp>
      <p:sp>
        <p:nvSpPr>
          <p:cNvPr id="46" name="TextBox 45"/>
          <p:cNvSpPr txBox="1"/>
          <p:nvPr/>
        </p:nvSpPr>
        <p:spPr>
          <a:xfrm>
            <a:off x="7462200" y="3758399"/>
            <a:ext cx="2232000" cy="676800"/>
          </a:xfrm>
          <a:prstGeom prst="rect">
            <a:avLst/>
          </a:prstGeom>
          <a:noFill/>
        </p:spPr>
        <p:txBody>
          <a:bodyPr wrap="square" lIns="0" tIns="10800" rIns="0" bIns="10800" anchor="ctr">
            <a:spAutoFit/>
          </a:bodyPr>
          <a:lstStyle/>
          <a:p>
            <a:pPr algn="l">
              <a:lnSpc>
                <a:spcPct val="115000"/>
              </a:lnSpc>
            </a:pPr>
            <a:r>
              <a:rPr sz="1100" b="1" dirty="0">
                <a:solidFill>
                  <a:srgbClr val="002060"/>
                </a:solidFill>
                <a:latin typeface="メイリオ"/>
                <a:ea typeface="メイリオ"/>
                <a:cs typeface="メイリオ"/>
              </a:rPr>
              <a:t>入口は1つに絞らない。</a:t>
            </a:r>
          </a:p>
          <a:p>
            <a:pPr algn="l">
              <a:lnSpc>
                <a:spcPct val="115000"/>
              </a:lnSpc>
            </a:pPr>
            <a:r>
              <a:rPr sz="1100" b="0" dirty="0">
                <a:solidFill>
                  <a:srgbClr val="1A1A2E"/>
                </a:solidFill>
                <a:latin typeface="メイリオ"/>
                <a:ea typeface="メイリオ"/>
                <a:cs typeface="メイリオ"/>
              </a:rPr>
              <a:t>4フェーズすべてに受け皿を</a:t>
            </a:r>
          </a:p>
          <a:p>
            <a:pPr algn="l">
              <a:lnSpc>
                <a:spcPct val="115000"/>
              </a:lnSpc>
            </a:pPr>
            <a:r>
              <a:rPr sz="1100" b="0" dirty="0" err="1">
                <a:solidFill>
                  <a:srgbClr val="1A1A2E"/>
                </a:solidFill>
                <a:latin typeface="メイリオ"/>
                <a:ea typeface="メイリオ"/>
                <a:cs typeface="メイリオ"/>
              </a:rPr>
              <a:t>置くことで取りこぼしが減る</a:t>
            </a:r>
            <a:r>
              <a:rPr sz="1100" b="0" dirty="0">
                <a:solidFill>
                  <a:srgbClr val="1A1A2E"/>
                </a:solidFill>
                <a:latin typeface="メイリオ"/>
                <a:ea typeface="メイリオ"/>
                <a:cs typeface="メイリオ"/>
              </a:rPr>
              <a:t>。</a:t>
            </a:r>
          </a:p>
        </p:txBody>
      </p:sp>
      <p:sp>
        <p:nvSpPr>
          <p:cNvPr id="47" name="Rectangle 46"/>
          <p:cNvSpPr/>
          <p:nvPr/>
        </p:nvSpPr>
        <p:spPr>
          <a:xfrm>
            <a:off x="316800" y="4590000"/>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316800" y="4590000"/>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どう友だちをアクションに結びつけるか？　（⑤ 〜 ⑧）</a:t>
            </a:r>
          </a:p>
        </p:txBody>
      </p:sp>
      <p:sp>
        <p:nvSpPr>
          <p:cNvPr id="49" name="Rounded Rectangle 48"/>
          <p:cNvSpPr/>
          <p:nvPr/>
        </p:nvSpPr>
        <p:spPr>
          <a:xfrm>
            <a:off x="3960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4464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KW自動応答</a:t>
            </a:r>
          </a:p>
        </p:txBody>
      </p:sp>
      <p:sp>
        <p:nvSpPr>
          <p:cNvPr id="51" name="Rounded Rectangle 50"/>
          <p:cNvSpPr/>
          <p:nvPr/>
        </p:nvSpPr>
        <p:spPr>
          <a:xfrm>
            <a:off x="2743199"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2793599"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日程調整の自動化</a:t>
            </a:r>
          </a:p>
        </p:txBody>
      </p:sp>
      <p:sp>
        <p:nvSpPr>
          <p:cNvPr id="53" name="Rounded Rectangle 52"/>
          <p:cNvSpPr/>
          <p:nvPr/>
        </p:nvSpPr>
        <p:spPr>
          <a:xfrm>
            <a:off x="50904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1408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ホットリード検知</a:t>
            </a:r>
          </a:p>
        </p:txBody>
      </p:sp>
      <p:sp>
        <p:nvSpPr>
          <p:cNvPr id="55" name="Rounded Rectangle 54"/>
          <p:cNvSpPr/>
          <p:nvPr/>
        </p:nvSpPr>
        <p:spPr>
          <a:xfrm>
            <a:off x="74376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74880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失注リストへ再接触</a:t>
            </a:r>
          </a:p>
        </p:txBody>
      </p:sp>
      <p:sp>
        <p:nvSpPr>
          <p:cNvPr id="57" name="Rounded Rectangle 56"/>
          <p:cNvSpPr/>
          <p:nvPr/>
        </p:nvSpPr>
        <p:spPr>
          <a:xfrm>
            <a:off x="3960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4464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モーメント配信</a:t>
            </a:r>
          </a:p>
        </p:txBody>
      </p:sp>
      <p:sp>
        <p:nvSpPr>
          <p:cNvPr id="59" name="Rounded Rectangle 58"/>
          <p:cNvSpPr/>
          <p:nvPr/>
        </p:nvSpPr>
        <p:spPr>
          <a:xfrm>
            <a:off x="2743199"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2793599"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通知メッセでリスト活性化</a:t>
            </a:r>
          </a:p>
        </p:txBody>
      </p:sp>
      <p:sp>
        <p:nvSpPr>
          <p:cNvPr id="61" name="Rounded Rectangle 60"/>
          <p:cNvSpPr/>
          <p:nvPr/>
        </p:nvSpPr>
        <p:spPr>
          <a:xfrm>
            <a:off x="50904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1408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カゴ落ちリマインド</a:t>
            </a:r>
          </a:p>
        </p:txBody>
      </p:sp>
      <p:sp>
        <p:nvSpPr>
          <p:cNvPr id="63" name="Rounded Rectangle 62"/>
          <p:cNvSpPr/>
          <p:nvPr/>
        </p:nvSpPr>
        <p:spPr>
          <a:xfrm>
            <a:off x="74376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74880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⑦ </a:t>
            </a:r>
            <a:r>
              <a:rPr sz="1100" b="1">
                <a:solidFill>
                  <a:srgbClr val="1A1A2E"/>
                </a:solidFill>
                <a:latin typeface="メイリオ"/>
                <a:ea typeface="メイリオ"/>
                <a:cs typeface="メイリオ"/>
              </a:rPr>
              <a:t>BOT×有人の切替</a:t>
            </a:r>
          </a:p>
        </p:txBody>
      </p:sp>
      <p:sp>
        <p:nvSpPr>
          <p:cNvPr id="65" name="Rounded Rectangle 64"/>
          <p:cNvSpPr/>
          <p:nvPr/>
        </p:nvSpPr>
        <p:spPr>
          <a:xfrm>
            <a:off x="3960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4464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アフターフォロー</a:t>
            </a:r>
          </a:p>
        </p:txBody>
      </p:sp>
      <p:sp>
        <p:nvSpPr>
          <p:cNvPr id="67" name="Rounded Rectangle 66"/>
          <p:cNvSpPr/>
          <p:nvPr/>
        </p:nvSpPr>
        <p:spPr>
          <a:xfrm>
            <a:off x="2743199"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2793599"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記念日配信</a:t>
            </a:r>
          </a:p>
        </p:txBody>
      </p:sp>
      <p:sp>
        <p:nvSpPr>
          <p:cNvPr id="69" name="Rounded Rectangle 68"/>
          <p:cNvSpPr/>
          <p:nvPr/>
        </p:nvSpPr>
        <p:spPr>
          <a:xfrm>
            <a:off x="50904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51408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利用状況連動アップセル</a:t>
            </a:r>
          </a:p>
        </p:txBody>
      </p:sp>
      <p:sp>
        <p:nvSpPr>
          <p:cNvPr id="71" name="Rounded Rectangle 70"/>
          <p:cNvSpPr/>
          <p:nvPr/>
        </p:nvSpPr>
        <p:spPr>
          <a:xfrm>
            <a:off x="74376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74880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関連商材クロスセル</a:t>
            </a:r>
          </a:p>
        </p:txBody>
      </p:sp>
      <p:sp>
        <p:nvSpPr>
          <p:cNvPr id="73" name="TextBox 72"/>
          <p:cNvSpPr txBox="1"/>
          <p:nvPr/>
        </p:nvSpPr>
        <p:spPr>
          <a:xfrm>
            <a:off x="316800" y="5983200"/>
            <a:ext cx="9273600" cy="324000"/>
          </a:xfrm>
          <a:prstGeom prst="rect">
            <a:avLst/>
          </a:prstGeom>
          <a:noFill/>
        </p:spPr>
        <p:txBody>
          <a:bodyPr wrap="square" lIns="0" tIns="10800" rIns="0" bIns="10800" anchor="ctr">
            <a:spAutoFit/>
          </a:bodyPr>
          <a:lstStyle/>
          <a:p>
            <a:pPr algn="ctr">
              <a:lnSpc>
                <a:spcPct val="115000"/>
              </a:lnSpc>
            </a:pPr>
            <a:r>
              <a:rPr sz="1400" b="1">
                <a:solidFill>
                  <a:srgbClr val="C00000"/>
                </a:solidFill>
                <a:latin typeface="メイリオ"/>
                <a:ea typeface="メイリオ"/>
                <a:cs typeface="メイリオ"/>
              </a:rPr>
              <a:t>施策は獲得より後ろに多い。増やすことより、増えた友だちをどう扱うかで差がつく。</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53F5926-064C-E9E2-1BF7-7405461E390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36CA518-3F59-3390-7B5A-E644AD768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19E80E8E-60A7-3A23-9CC8-7604796F1C0C}"/>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想定：低ハードルの</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地点を設定してリード情報を大量獲得する動線構築</a:t>
            </a:r>
          </a:p>
        </p:txBody>
      </p:sp>
      <p:sp>
        <p:nvSpPr>
          <p:cNvPr id="245" name="Shape 8">
            <a:extLst>
              <a:ext uri="{FF2B5EF4-FFF2-40B4-BE49-F238E27FC236}">
                <a16:creationId xmlns:a16="http://schemas.microsoft.com/office/drawing/2014/main" id="{50B34EBB-32AA-4AD8-2936-6751081DDE7C}"/>
              </a:ext>
            </a:extLst>
          </p:cNvPr>
          <p:cNvSpPr/>
          <p:nvPr/>
        </p:nvSpPr>
        <p:spPr>
          <a:xfrm>
            <a:off x="603747" y="1309908"/>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7" name="Text 9">
            <a:extLst>
              <a:ext uri="{FF2B5EF4-FFF2-40B4-BE49-F238E27FC236}">
                <a16:creationId xmlns:a16="http://schemas.microsoft.com/office/drawing/2014/main" id="{6B824CCD-B508-0A92-337C-8E55E54ECCC6}"/>
              </a:ext>
            </a:extLst>
          </p:cNvPr>
          <p:cNvSpPr/>
          <p:nvPr/>
        </p:nvSpPr>
        <p:spPr>
          <a:xfrm>
            <a:off x="731763"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A　入口設計</a:t>
            </a:r>
            <a:endParaRPr lang="en-US" sz="1000" dirty="0">
              <a:latin typeface="メイリオ" panose="020B0604030504040204" pitchFamily="50" charset="-128"/>
              <a:ea typeface="メイリオ" panose="020B0604030504040204" pitchFamily="50" charset="-128"/>
            </a:endParaRPr>
          </a:p>
        </p:txBody>
      </p:sp>
      <p:sp>
        <p:nvSpPr>
          <p:cNvPr id="249" name="Text 10">
            <a:extLst>
              <a:ext uri="{FF2B5EF4-FFF2-40B4-BE49-F238E27FC236}">
                <a16:creationId xmlns:a16="http://schemas.microsoft.com/office/drawing/2014/main" id="{84F4A405-7F45-B583-37DE-94237EEF3D61}"/>
              </a:ext>
            </a:extLst>
          </p:cNvPr>
          <p:cNvSpPr/>
          <p:nvPr/>
        </p:nvSpPr>
        <p:spPr>
          <a:xfrm>
            <a:off x="2679778" y="1294892"/>
            <a:ext cx="2178492"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LINE登録をCVゴールに変える</a:t>
            </a:r>
            <a:endParaRPr lang="en-US" sz="700" dirty="0">
              <a:latin typeface="メイリオ" panose="020B0604030504040204" pitchFamily="50" charset="-128"/>
              <a:ea typeface="メイリオ" panose="020B0604030504040204" pitchFamily="50" charset="-128"/>
            </a:endParaRPr>
          </a:p>
        </p:txBody>
      </p:sp>
      <p:sp>
        <p:nvSpPr>
          <p:cNvPr id="251" name="Shape 11">
            <a:extLst>
              <a:ext uri="{FF2B5EF4-FFF2-40B4-BE49-F238E27FC236}">
                <a16:creationId xmlns:a16="http://schemas.microsoft.com/office/drawing/2014/main" id="{E03D806A-5D1C-D296-4B14-ED4D280CB458}"/>
              </a:ext>
            </a:extLst>
          </p:cNvPr>
          <p:cNvSpPr/>
          <p:nvPr/>
        </p:nvSpPr>
        <p:spPr>
          <a:xfrm>
            <a:off x="5047731" y="1309908"/>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3" name="Text 12">
            <a:extLst>
              <a:ext uri="{FF2B5EF4-FFF2-40B4-BE49-F238E27FC236}">
                <a16:creationId xmlns:a16="http://schemas.microsoft.com/office/drawing/2014/main" id="{4B548AFE-3848-314C-CA69-8B8E255E25A3}"/>
              </a:ext>
            </a:extLst>
          </p:cNvPr>
          <p:cNvSpPr/>
          <p:nvPr/>
        </p:nvSpPr>
        <p:spPr>
          <a:xfrm>
            <a:off x="5175747"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B　特典訴求</a:t>
            </a:r>
            <a:endParaRPr lang="en-US" sz="1000" dirty="0">
              <a:latin typeface="メイリオ" panose="020B0604030504040204" pitchFamily="50" charset="-128"/>
              <a:ea typeface="メイリオ" panose="020B0604030504040204" pitchFamily="50" charset="-128"/>
            </a:endParaRPr>
          </a:p>
        </p:txBody>
      </p:sp>
      <p:sp>
        <p:nvSpPr>
          <p:cNvPr id="255" name="Text 13">
            <a:extLst>
              <a:ext uri="{FF2B5EF4-FFF2-40B4-BE49-F238E27FC236}">
                <a16:creationId xmlns:a16="http://schemas.microsoft.com/office/drawing/2014/main" id="{F7BBED76-5EF3-CF1C-3E94-BFDDA81FC4CB}"/>
              </a:ext>
            </a:extLst>
          </p:cNvPr>
          <p:cNvSpPr/>
          <p:nvPr/>
        </p:nvSpPr>
        <p:spPr>
          <a:xfrm>
            <a:off x="7123762" y="1294892"/>
            <a:ext cx="2178492"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もらえる理由を先に見せる</a:t>
            </a:r>
            <a:endParaRPr lang="en-US" sz="700" dirty="0">
              <a:latin typeface="メイリオ" panose="020B0604030504040204" pitchFamily="50" charset="-128"/>
              <a:ea typeface="メイリオ" panose="020B0604030504040204" pitchFamily="50" charset="-128"/>
            </a:endParaRPr>
          </a:p>
        </p:txBody>
      </p:sp>
      <p:sp>
        <p:nvSpPr>
          <p:cNvPr id="257" name="Shape 15">
            <a:extLst>
              <a:ext uri="{FF2B5EF4-FFF2-40B4-BE49-F238E27FC236}">
                <a16:creationId xmlns:a16="http://schemas.microsoft.com/office/drawing/2014/main" id="{3C3A65BE-9DC3-733C-E32C-C6463CB1B2D8}"/>
              </a:ext>
            </a:extLst>
          </p:cNvPr>
          <p:cNvSpPr/>
          <p:nvPr/>
        </p:nvSpPr>
        <p:spPr>
          <a:xfrm>
            <a:off x="603747" y="156077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1" name="Shape 17">
            <a:extLst>
              <a:ext uri="{FF2B5EF4-FFF2-40B4-BE49-F238E27FC236}">
                <a16:creationId xmlns:a16="http://schemas.microsoft.com/office/drawing/2014/main" id="{3CF94F6C-2ADA-3F87-0FEF-DBA69394A376}"/>
              </a:ext>
            </a:extLst>
          </p:cNvPr>
          <p:cNvSpPr/>
          <p:nvPr/>
        </p:nvSpPr>
        <p:spPr>
          <a:xfrm>
            <a:off x="713475" y="165221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3" name="Text 18">
            <a:extLst>
              <a:ext uri="{FF2B5EF4-FFF2-40B4-BE49-F238E27FC236}">
                <a16:creationId xmlns:a16="http://schemas.microsoft.com/office/drawing/2014/main" id="{103195C8-2651-E639-EA61-8D610F734E60}"/>
              </a:ext>
            </a:extLst>
          </p:cNvPr>
          <p:cNvSpPr/>
          <p:nvPr/>
        </p:nvSpPr>
        <p:spPr>
          <a:xfrm>
            <a:off x="713475" y="167504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7" name="Text 20">
            <a:extLst>
              <a:ext uri="{FF2B5EF4-FFF2-40B4-BE49-F238E27FC236}">
                <a16:creationId xmlns:a16="http://schemas.microsoft.com/office/drawing/2014/main" id="{5FD52149-2769-6790-5E24-12A543DB12BE}"/>
              </a:ext>
            </a:extLst>
          </p:cNvPr>
          <p:cNvSpPr/>
          <p:nvPr/>
        </p:nvSpPr>
        <p:spPr>
          <a:xfrm>
            <a:off x="1060947" y="1675046"/>
            <a:ext cx="859536" cy="201168"/>
          </a:xfrm>
          <a:prstGeom prst="rect">
            <a:avLst/>
          </a:prstGeom>
          <a:no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SEO・広告流入</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269" name="Text 21">
            <a:extLst>
              <a:ext uri="{FF2B5EF4-FFF2-40B4-BE49-F238E27FC236}">
                <a16:creationId xmlns:a16="http://schemas.microsoft.com/office/drawing/2014/main" id="{CD72F40E-8420-7001-60D2-BE4609277B4B}"/>
              </a:ext>
            </a:extLst>
          </p:cNvPr>
          <p:cNvSpPr/>
          <p:nvPr/>
        </p:nvSpPr>
        <p:spPr>
          <a:xfrm>
            <a:off x="1975347" y="167504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「資料・診断」をLINE登録特典に設定</a:t>
            </a:r>
            <a:endParaRPr lang="en-US" sz="1000" dirty="0">
              <a:latin typeface="メイリオ" panose="020B0604030504040204" pitchFamily="50" charset="-128"/>
              <a:ea typeface="メイリオ" panose="020B0604030504040204" pitchFamily="50" charset="-128"/>
            </a:endParaRPr>
          </a:p>
        </p:txBody>
      </p:sp>
      <p:sp>
        <p:nvSpPr>
          <p:cNvPr id="271" name="Text 22">
            <a:extLst>
              <a:ext uri="{FF2B5EF4-FFF2-40B4-BE49-F238E27FC236}">
                <a16:creationId xmlns:a16="http://schemas.microsoft.com/office/drawing/2014/main" id="{9E779F3B-EE90-9E2A-0F05-BE0AF6DB44A6}"/>
              </a:ext>
            </a:extLst>
          </p:cNvPr>
          <p:cNvSpPr/>
          <p:nvPr/>
        </p:nvSpPr>
        <p:spPr>
          <a:xfrm>
            <a:off x="713475"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フォーム入力より低ハードルなLINE登録をCV地点に変更。「まず資料だけ」「30秒診断」など登録理由を明確にし、友だち追加率を0.8〜1.0%前後に改善する。</a:t>
            </a:r>
            <a:endParaRPr lang="en-US" sz="600" dirty="0">
              <a:latin typeface="メイリオ" panose="020B0604030504040204" pitchFamily="50" charset="-128"/>
              <a:ea typeface="メイリオ" panose="020B0604030504040204" pitchFamily="50" charset="-128"/>
            </a:endParaRPr>
          </a:p>
        </p:txBody>
      </p:sp>
      <p:sp>
        <p:nvSpPr>
          <p:cNvPr id="273" name="Shape 23">
            <a:extLst>
              <a:ext uri="{FF2B5EF4-FFF2-40B4-BE49-F238E27FC236}">
                <a16:creationId xmlns:a16="http://schemas.microsoft.com/office/drawing/2014/main" id="{675C0BB0-8300-FD46-0D46-92211B03501E}"/>
              </a:ext>
            </a:extLst>
          </p:cNvPr>
          <p:cNvSpPr/>
          <p:nvPr/>
        </p:nvSpPr>
        <p:spPr>
          <a:xfrm>
            <a:off x="695187"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275" name="Text 24">
            <a:extLst>
              <a:ext uri="{FF2B5EF4-FFF2-40B4-BE49-F238E27FC236}">
                <a16:creationId xmlns:a16="http://schemas.microsoft.com/office/drawing/2014/main" id="{656BBEFB-D770-4F75-DBE8-633CD2956F1D}"/>
              </a:ext>
            </a:extLst>
          </p:cNvPr>
          <p:cNvSpPr/>
          <p:nvPr/>
        </p:nvSpPr>
        <p:spPr>
          <a:xfrm>
            <a:off x="695187"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LP閲覧</a:t>
            </a:r>
            <a:endParaRPr lang="en-US" sz="700" dirty="0">
              <a:latin typeface="メイリオ" panose="020B0604030504040204" pitchFamily="50" charset="-128"/>
              <a:ea typeface="メイリオ" panose="020B0604030504040204" pitchFamily="50" charset="-128"/>
            </a:endParaRPr>
          </a:p>
        </p:txBody>
      </p:sp>
      <p:sp>
        <p:nvSpPr>
          <p:cNvPr id="277" name="Shape 25">
            <a:extLst>
              <a:ext uri="{FF2B5EF4-FFF2-40B4-BE49-F238E27FC236}">
                <a16:creationId xmlns:a16="http://schemas.microsoft.com/office/drawing/2014/main" id="{F4B93B37-4B61-4E52-FE2D-5809A86D42AD}"/>
              </a:ext>
            </a:extLst>
          </p:cNvPr>
          <p:cNvSpPr/>
          <p:nvPr/>
        </p:nvSpPr>
        <p:spPr>
          <a:xfrm>
            <a:off x="1969251"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9" name="Text 26">
            <a:extLst>
              <a:ext uri="{FF2B5EF4-FFF2-40B4-BE49-F238E27FC236}">
                <a16:creationId xmlns:a16="http://schemas.microsoft.com/office/drawing/2014/main" id="{61F60C63-C90B-8878-87EB-125EC950C1B5}"/>
              </a:ext>
            </a:extLst>
          </p:cNvPr>
          <p:cNvSpPr/>
          <p:nvPr/>
        </p:nvSpPr>
        <p:spPr>
          <a:xfrm>
            <a:off x="1969251"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1" name="Shape 27">
            <a:extLst>
              <a:ext uri="{FF2B5EF4-FFF2-40B4-BE49-F238E27FC236}">
                <a16:creationId xmlns:a16="http://schemas.microsoft.com/office/drawing/2014/main" id="{C645E261-F348-F246-EC19-FD2061AD3056}"/>
              </a:ext>
            </a:extLst>
          </p:cNvPr>
          <p:cNvSpPr/>
          <p:nvPr/>
        </p:nvSpPr>
        <p:spPr>
          <a:xfrm>
            <a:off x="2060691" y="2621391"/>
            <a:ext cx="1274064" cy="329184"/>
          </a:xfrm>
          <a:prstGeom prst="roundRect">
            <a:avLst>
              <a:gd name="adj" fmla="val 16667"/>
            </a:avLst>
          </a:prstGeom>
          <a:solidFill>
            <a:schemeClr val="tx1"/>
          </a:solidFill>
          <a:ln w="12700">
            <a:noFill/>
            <a:prstDash val="solid"/>
          </a:ln>
        </p:spPr>
        <p:txBody>
          <a:bodyPr/>
          <a:lstStyle/>
          <a:p>
            <a:endParaRPr lang="ja-JP" altLang="en-US" sz="800">
              <a:latin typeface="メイリオ" panose="020B0604030504040204" pitchFamily="50" charset="-128"/>
              <a:ea typeface="メイリオ" panose="020B0604030504040204" pitchFamily="50" charset="-128"/>
            </a:endParaRPr>
          </a:p>
        </p:txBody>
      </p:sp>
      <p:sp>
        <p:nvSpPr>
          <p:cNvPr id="283" name="Text 28">
            <a:extLst>
              <a:ext uri="{FF2B5EF4-FFF2-40B4-BE49-F238E27FC236}">
                <a16:creationId xmlns:a16="http://schemas.microsoft.com/office/drawing/2014/main" id="{2CB542A9-044C-66B0-BB16-9144232C75A6}"/>
              </a:ext>
            </a:extLst>
          </p:cNvPr>
          <p:cNvSpPr/>
          <p:nvPr/>
        </p:nvSpPr>
        <p:spPr>
          <a:xfrm>
            <a:off x="206069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登録特典訴求</a:t>
            </a:r>
            <a:endParaRPr lang="en-US" sz="700" dirty="0">
              <a:latin typeface="メイリオ" panose="020B0604030504040204" pitchFamily="50" charset="-128"/>
              <a:ea typeface="メイリオ" panose="020B0604030504040204" pitchFamily="50" charset="-128"/>
            </a:endParaRPr>
          </a:p>
        </p:txBody>
      </p:sp>
      <p:sp>
        <p:nvSpPr>
          <p:cNvPr id="285" name="Shape 29">
            <a:extLst>
              <a:ext uri="{FF2B5EF4-FFF2-40B4-BE49-F238E27FC236}">
                <a16:creationId xmlns:a16="http://schemas.microsoft.com/office/drawing/2014/main" id="{2C761D6B-768E-B3F9-32B2-443E96E0F616}"/>
              </a:ext>
            </a:extLst>
          </p:cNvPr>
          <p:cNvSpPr/>
          <p:nvPr/>
        </p:nvSpPr>
        <p:spPr>
          <a:xfrm>
            <a:off x="333475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7" name="Text 30">
            <a:extLst>
              <a:ext uri="{FF2B5EF4-FFF2-40B4-BE49-F238E27FC236}">
                <a16:creationId xmlns:a16="http://schemas.microsoft.com/office/drawing/2014/main" id="{AF64CF89-0BBE-D590-0A33-9D0B3155D051}"/>
              </a:ext>
            </a:extLst>
          </p:cNvPr>
          <p:cNvSpPr/>
          <p:nvPr/>
        </p:nvSpPr>
        <p:spPr>
          <a:xfrm>
            <a:off x="333475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9" name="Shape 31">
            <a:extLst>
              <a:ext uri="{FF2B5EF4-FFF2-40B4-BE49-F238E27FC236}">
                <a16:creationId xmlns:a16="http://schemas.microsoft.com/office/drawing/2014/main" id="{A59F8ABE-3E84-32A7-F100-7F2C83484C81}"/>
              </a:ext>
            </a:extLst>
          </p:cNvPr>
          <p:cNvSpPr/>
          <p:nvPr/>
        </p:nvSpPr>
        <p:spPr>
          <a:xfrm>
            <a:off x="3426195" y="2621391"/>
            <a:ext cx="1274064" cy="329184"/>
          </a:xfrm>
          <a:prstGeom prst="roundRect">
            <a:avLst>
              <a:gd name="adj" fmla="val 16667"/>
            </a:avLst>
          </a:prstGeom>
          <a:solidFill>
            <a:schemeClr val="tx1"/>
          </a:solidFill>
          <a:ln w="12700">
            <a:noFill/>
            <a:prstDash val="solid"/>
          </a:ln>
        </p:spPr>
        <p:txBody>
          <a:bodyPr/>
          <a:lstStyle/>
          <a:p>
            <a:endParaRPr lang="ja-JP" altLang="en-US" sz="800">
              <a:latin typeface="メイリオ" panose="020B0604030504040204" pitchFamily="50" charset="-128"/>
              <a:ea typeface="メイリオ" panose="020B0604030504040204" pitchFamily="50" charset="-128"/>
            </a:endParaRPr>
          </a:p>
        </p:txBody>
      </p:sp>
      <p:sp>
        <p:nvSpPr>
          <p:cNvPr id="291" name="Text 32">
            <a:extLst>
              <a:ext uri="{FF2B5EF4-FFF2-40B4-BE49-F238E27FC236}">
                <a16:creationId xmlns:a16="http://schemas.microsoft.com/office/drawing/2014/main" id="{DFCEB467-89AA-CC7A-AE80-E30F3A21DA5C}"/>
              </a:ext>
            </a:extLst>
          </p:cNvPr>
          <p:cNvSpPr/>
          <p:nvPr/>
        </p:nvSpPr>
        <p:spPr>
          <a:xfrm>
            <a:off x="3426195"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友だち追加</a:t>
            </a:r>
            <a:endParaRPr lang="en-US" sz="700" dirty="0">
              <a:latin typeface="メイリオ" panose="020B0604030504040204" pitchFamily="50" charset="-128"/>
              <a:ea typeface="メイリオ" panose="020B0604030504040204" pitchFamily="50" charset="-128"/>
            </a:endParaRPr>
          </a:p>
        </p:txBody>
      </p:sp>
      <p:sp>
        <p:nvSpPr>
          <p:cNvPr id="293" name="Shape 33">
            <a:extLst>
              <a:ext uri="{FF2B5EF4-FFF2-40B4-BE49-F238E27FC236}">
                <a16:creationId xmlns:a16="http://schemas.microsoft.com/office/drawing/2014/main" id="{1BECB815-6070-49FB-327C-8C81ADE9C9A4}"/>
              </a:ext>
            </a:extLst>
          </p:cNvPr>
          <p:cNvSpPr/>
          <p:nvPr/>
        </p:nvSpPr>
        <p:spPr>
          <a:xfrm>
            <a:off x="578878" y="3096060"/>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7" name="Shape 35">
            <a:extLst>
              <a:ext uri="{FF2B5EF4-FFF2-40B4-BE49-F238E27FC236}">
                <a16:creationId xmlns:a16="http://schemas.microsoft.com/office/drawing/2014/main" id="{8975206F-9C1B-B632-6774-C18FE5D889D0}"/>
              </a:ext>
            </a:extLst>
          </p:cNvPr>
          <p:cNvSpPr/>
          <p:nvPr/>
        </p:nvSpPr>
        <p:spPr>
          <a:xfrm>
            <a:off x="713475" y="3199663"/>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9" name="Text 36">
            <a:extLst>
              <a:ext uri="{FF2B5EF4-FFF2-40B4-BE49-F238E27FC236}">
                <a16:creationId xmlns:a16="http://schemas.microsoft.com/office/drawing/2014/main" id="{8BA14BF1-A613-57E7-03CB-725B3C62074A}"/>
              </a:ext>
            </a:extLst>
          </p:cNvPr>
          <p:cNvSpPr/>
          <p:nvPr/>
        </p:nvSpPr>
        <p:spPr>
          <a:xfrm>
            <a:off x="713475"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3" name="Text 38">
            <a:extLst>
              <a:ext uri="{FF2B5EF4-FFF2-40B4-BE49-F238E27FC236}">
                <a16:creationId xmlns:a16="http://schemas.microsoft.com/office/drawing/2014/main" id="{4C39AC04-3638-D60D-DAEF-A34EE2A29086}"/>
              </a:ext>
            </a:extLst>
          </p:cNvPr>
          <p:cNvSpPr/>
          <p:nvPr/>
        </p:nvSpPr>
        <p:spPr>
          <a:xfrm>
            <a:off x="1060947" y="3217623"/>
            <a:ext cx="859536" cy="201168"/>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離脱防止</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5" name="Text 39">
            <a:extLst>
              <a:ext uri="{FF2B5EF4-FFF2-40B4-BE49-F238E27FC236}">
                <a16:creationId xmlns:a16="http://schemas.microsoft.com/office/drawing/2014/main" id="{65FFEC87-48E1-7E1B-7864-8D4BE90902D9}"/>
              </a:ext>
            </a:extLst>
          </p:cNvPr>
          <p:cNvSpPr/>
          <p:nvPr/>
        </p:nvSpPr>
        <p:spPr>
          <a:xfrm>
            <a:off x="1975347" y="3217623"/>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サイト滞在ユーザーへのポップアップ表示</a:t>
            </a:r>
            <a:endParaRPr lang="en-US" sz="1000" dirty="0">
              <a:latin typeface="メイリオ" panose="020B0604030504040204" pitchFamily="50" charset="-128"/>
              <a:ea typeface="メイリオ" panose="020B0604030504040204" pitchFamily="50" charset="-128"/>
            </a:endParaRPr>
          </a:p>
        </p:txBody>
      </p:sp>
      <p:sp>
        <p:nvSpPr>
          <p:cNvPr id="307" name="Text 40">
            <a:extLst>
              <a:ext uri="{FF2B5EF4-FFF2-40B4-BE49-F238E27FC236}">
                <a16:creationId xmlns:a16="http://schemas.microsoft.com/office/drawing/2014/main" id="{4D4E02D9-8D3A-B52C-98F8-C4162B5CCBF1}"/>
              </a:ext>
            </a:extLst>
          </p:cNvPr>
          <p:cNvSpPr/>
          <p:nvPr/>
        </p:nvSpPr>
        <p:spPr>
          <a:xfrm>
            <a:off x="713475"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一定時間閲覧・離脱意図を検知した際にLINE追加バナーを表示。「今すぐ問い合わせ」より「無料で資料受け取る」のCTAがCVRを向上させる。</a:t>
            </a:r>
            <a:endParaRPr lang="en-US" sz="600" dirty="0">
              <a:latin typeface="メイリオ" panose="020B0604030504040204" pitchFamily="50" charset="-128"/>
              <a:ea typeface="メイリオ" panose="020B0604030504040204" pitchFamily="50" charset="-128"/>
            </a:endParaRPr>
          </a:p>
        </p:txBody>
      </p:sp>
      <p:sp>
        <p:nvSpPr>
          <p:cNvPr id="309" name="Shape 41">
            <a:extLst>
              <a:ext uri="{FF2B5EF4-FFF2-40B4-BE49-F238E27FC236}">
                <a16:creationId xmlns:a16="http://schemas.microsoft.com/office/drawing/2014/main" id="{4ACBB8E7-2F20-7BE2-4CE1-5E63FB2D2A19}"/>
              </a:ext>
            </a:extLst>
          </p:cNvPr>
          <p:cNvSpPr/>
          <p:nvPr/>
        </p:nvSpPr>
        <p:spPr>
          <a:xfrm>
            <a:off x="695187"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1" name="Text 42">
            <a:extLst>
              <a:ext uri="{FF2B5EF4-FFF2-40B4-BE49-F238E27FC236}">
                <a16:creationId xmlns:a16="http://schemas.microsoft.com/office/drawing/2014/main" id="{801F8A22-4494-B935-6101-F68A1F96B362}"/>
              </a:ext>
            </a:extLst>
          </p:cNvPr>
          <p:cNvSpPr/>
          <p:nvPr/>
        </p:nvSpPr>
        <p:spPr>
          <a:xfrm>
            <a:off x="69518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離脱検知</a:t>
            </a:r>
            <a:endParaRPr lang="en-US" sz="700" dirty="0">
              <a:latin typeface="メイリオ" panose="020B0604030504040204" pitchFamily="50" charset="-128"/>
              <a:ea typeface="メイリオ" panose="020B0604030504040204" pitchFamily="50" charset="-128"/>
            </a:endParaRPr>
          </a:p>
        </p:txBody>
      </p:sp>
      <p:sp>
        <p:nvSpPr>
          <p:cNvPr id="313" name="Shape 43">
            <a:extLst>
              <a:ext uri="{FF2B5EF4-FFF2-40B4-BE49-F238E27FC236}">
                <a16:creationId xmlns:a16="http://schemas.microsoft.com/office/drawing/2014/main" id="{5A6F984C-63AF-ACD2-BF62-D30F1D25838C}"/>
              </a:ext>
            </a:extLst>
          </p:cNvPr>
          <p:cNvSpPr/>
          <p:nvPr/>
        </p:nvSpPr>
        <p:spPr>
          <a:xfrm>
            <a:off x="1969251"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5" name="Text 44">
            <a:extLst>
              <a:ext uri="{FF2B5EF4-FFF2-40B4-BE49-F238E27FC236}">
                <a16:creationId xmlns:a16="http://schemas.microsoft.com/office/drawing/2014/main" id="{898D2A9B-2C91-5C0E-E0D1-08EC04B5B101}"/>
              </a:ext>
            </a:extLst>
          </p:cNvPr>
          <p:cNvSpPr/>
          <p:nvPr/>
        </p:nvSpPr>
        <p:spPr>
          <a:xfrm>
            <a:off x="1969251"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7" name="Shape 45">
            <a:extLst>
              <a:ext uri="{FF2B5EF4-FFF2-40B4-BE49-F238E27FC236}">
                <a16:creationId xmlns:a16="http://schemas.microsoft.com/office/drawing/2014/main" id="{73ECF984-984E-E268-3600-20C40EDFB08B}"/>
              </a:ext>
            </a:extLst>
          </p:cNvPr>
          <p:cNvSpPr/>
          <p:nvPr/>
        </p:nvSpPr>
        <p:spPr>
          <a:xfrm>
            <a:off x="2060691"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9" name="Text 46">
            <a:extLst>
              <a:ext uri="{FF2B5EF4-FFF2-40B4-BE49-F238E27FC236}">
                <a16:creationId xmlns:a16="http://schemas.microsoft.com/office/drawing/2014/main" id="{CF65025C-BF9E-DD3E-F624-8D11792E90C8}"/>
              </a:ext>
            </a:extLst>
          </p:cNvPr>
          <p:cNvSpPr/>
          <p:nvPr/>
        </p:nvSpPr>
        <p:spPr>
          <a:xfrm>
            <a:off x="2060691" y="4158910"/>
            <a:ext cx="1274064" cy="329184"/>
          </a:xfrm>
          <a:prstGeom prst="rect">
            <a:avLst/>
          </a:prstGeom>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ポップアップ表示</a:t>
            </a:r>
            <a:endParaRPr lang="en-US" sz="700" dirty="0">
              <a:latin typeface="メイリオ" panose="020B0604030504040204" pitchFamily="50" charset="-128"/>
              <a:ea typeface="メイリオ" panose="020B0604030504040204" pitchFamily="50" charset="-128"/>
            </a:endParaRPr>
          </a:p>
        </p:txBody>
      </p:sp>
      <p:sp>
        <p:nvSpPr>
          <p:cNvPr id="321" name="Shape 47">
            <a:extLst>
              <a:ext uri="{FF2B5EF4-FFF2-40B4-BE49-F238E27FC236}">
                <a16:creationId xmlns:a16="http://schemas.microsoft.com/office/drawing/2014/main" id="{D4367962-B456-5285-6F36-9C11FF008F9C}"/>
              </a:ext>
            </a:extLst>
          </p:cNvPr>
          <p:cNvSpPr/>
          <p:nvPr/>
        </p:nvSpPr>
        <p:spPr>
          <a:xfrm>
            <a:off x="333475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3" name="Text 48">
            <a:extLst>
              <a:ext uri="{FF2B5EF4-FFF2-40B4-BE49-F238E27FC236}">
                <a16:creationId xmlns:a16="http://schemas.microsoft.com/office/drawing/2014/main" id="{A419A458-B799-4951-9FF6-942FE396F15A}"/>
              </a:ext>
            </a:extLst>
          </p:cNvPr>
          <p:cNvSpPr/>
          <p:nvPr/>
        </p:nvSpPr>
        <p:spPr>
          <a:xfrm>
            <a:off x="333475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5" name="Shape 49">
            <a:extLst>
              <a:ext uri="{FF2B5EF4-FFF2-40B4-BE49-F238E27FC236}">
                <a16:creationId xmlns:a16="http://schemas.microsoft.com/office/drawing/2014/main" id="{6D1A4CA3-33E1-E41B-7C83-F990FB5BE3FD}"/>
              </a:ext>
            </a:extLst>
          </p:cNvPr>
          <p:cNvSpPr/>
          <p:nvPr/>
        </p:nvSpPr>
        <p:spPr>
          <a:xfrm>
            <a:off x="3426195"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27" name="Text 50">
            <a:extLst>
              <a:ext uri="{FF2B5EF4-FFF2-40B4-BE49-F238E27FC236}">
                <a16:creationId xmlns:a16="http://schemas.microsoft.com/office/drawing/2014/main" id="{C59264FC-5AE8-9BB2-623A-9DEF6D9D796C}"/>
              </a:ext>
            </a:extLst>
          </p:cNvPr>
          <p:cNvSpPr/>
          <p:nvPr/>
        </p:nvSpPr>
        <p:spPr>
          <a:xfrm>
            <a:off x="342619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LINE追加</a:t>
            </a:r>
            <a:endParaRPr lang="en-US" sz="700" dirty="0">
              <a:latin typeface="メイリオ" panose="020B0604030504040204" pitchFamily="50" charset="-128"/>
              <a:ea typeface="メイリオ" panose="020B0604030504040204" pitchFamily="50" charset="-128"/>
            </a:endParaRPr>
          </a:p>
        </p:txBody>
      </p:sp>
      <p:sp>
        <p:nvSpPr>
          <p:cNvPr id="329" name="Shape 51">
            <a:extLst>
              <a:ext uri="{FF2B5EF4-FFF2-40B4-BE49-F238E27FC236}">
                <a16:creationId xmlns:a16="http://schemas.microsoft.com/office/drawing/2014/main" id="{6D963E5B-1138-2B0E-0167-B5B9BF716186}"/>
              </a:ext>
            </a:extLst>
          </p:cNvPr>
          <p:cNvSpPr/>
          <p:nvPr/>
        </p:nvSpPr>
        <p:spPr>
          <a:xfrm>
            <a:off x="603747" y="4656247"/>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3" name="Shape 53">
            <a:extLst>
              <a:ext uri="{FF2B5EF4-FFF2-40B4-BE49-F238E27FC236}">
                <a16:creationId xmlns:a16="http://schemas.microsoft.com/office/drawing/2014/main" id="{2F6F51E4-22ED-423C-D348-1FBBE8111C30}"/>
              </a:ext>
            </a:extLst>
          </p:cNvPr>
          <p:cNvSpPr/>
          <p:nvPr/>
        </p:nvSpPr>
        <p:spPr>
          <a:xfrm>
            <a:off x="713475" y="4747687"/>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5" name="Text 54">
            <a:extLst>
              <a:ext uri="{FF2B5EF4-FFF2-40B4-BE49-F238E27FC236}">
                <a16:creationId xmlns:a16="http://schemas.microsoft.com/office/drawing/2014/main" id="{89F3FA46-BAFD-DBEA-D8E2-4D32A77DBE47}"/>
              </a:ext>
            </a:extLst>
          </p:cNvPr>
          <p:cNvSpPr/>
          <p:nvPr/>
        </p:nvSpPr>
        <p:spPr>
          <a:xfrm>
            <a:off x="713475" y="4765128"/>
            <a:ext cx="27432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9" name="Text 56">
            <a:extLst>
              <a:ext uri="{FF2B5EF4-FFF2-40B4-BE49-F238E27FC236}">
                <a16:creationId xmlns:a16="http://schemas.microsoft.com/office/drawing/2014/main" id="{18FC6107-EEDB-D5C0-0493-D5024B31930A}"/>
              </a:ext>
            </a:extLst>
          </p:cNvPr>
          <p:cNvSpPr/>
          <p:nvPr/>
        </p:nvSpPr>
        <p:spPr>
          <a:xfrm>
            <a:off x="1060947" y="4765128"/>
            <a:ext cx="859536" cy="201168"/>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LINE広告</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41" name="Text 57">
            <a:extLst>
              <a:ext uri="{FF2B5EF4-FFF2-40B4-BE49-F238E27FC236}">
                <a16:creationId xmlns:a16="http://schemas.microsoft.com/office/drawing/2014/main" id="{C7099D20-6647-411E-495C-A262E2099219}"/>
              </a:ext>
            </a:extLst>
          </p:cNvPr>
          <p:cNvSpPr/>
          <p:nvPr/>
        </p:nvSpPr>
        <p:spPr>
          <a:xfrm>
            <a:off x="1975347" y="4765128"/>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LINE広告（CPF）で友だち追加を直接獲得</a:t>
            </a:r>
            <a:endParaRPr lang="en-US" sz="1000" dirty="0">
              <a:latin typeface="メイリオ" panose="020B0604030504040204" pitchFamily="50" charset="-128"/>
              <a:ea typeface="メイリオ" panose="020B0604030504040204" pitchFamily="50" charset="-128"/>
            </a:endParaRPr>
          </a:p>
        </p:txBody>
      </p:sp>
      <p:sp>
        <p:nvSpPr>
          <p:cNvPr id="343" name="Text 58">
            <a:extLst>
              <a:ext uri="{FF2B5EF4-FFF2-40B4-BE49-F238E27FC236}">
                <a16:creationId xmlns:a16="http://schemas.microsoft.com/office/drawing/2014/main" id="{E2CBABF1-E10B-8655-69E8-9A7C51A6D9E3}"/>
              </a:ext>
            </a:extLst>
          </p:cNvPr>
          <p:cNvSpPr/>
          <p:nvPr/>
        </p:nvSpPr>
        <p:spPr>
          <a:xfrm>
            <a:off x="713475"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LINEのタイムラインに広告を配信し、タップするだけで友だち追加が完了するCPFを活用。フォーム入力ゼロで大量リストを獲得できる。</a:t>
            </a:r>
            <a:endParaRPr lang="en-US" sz="600" dirty="0">
              <a:latin typeface="メイリオ" panose="020B0604030504040204" pitchFamily="50" charset="-128"/>
              <a:ea typeface="メイリオ" panose="020B0604030504040204" pitchFamily="50" charset="-128"/>
            </a:endParaRPr>
          </a:p>
        </p:txBody>
      </p:sp>
      <p:sp>
        <p:nvSpPr>
          <p:cNvPr id="345" name="Shape 59">
            <a:extLst>
              <a:ext uri="{FF2B5EF4-FFF2-40B4-BE49-F238E27FC236}">
                <a16:creationId xmlns:a16="http://schemas.microsoft.com/office/drawing/2014/main" id="{F7FA16E9-28E9-5FAA-0B5A-2DEB195507E8}"/>
              </a:ext>
            </a:extLst>
          </p:cNvPr>
          <p:cNvSpPr/>
          <p:nvPr/>
        </p:nvSpPr>
        <p:spPr>
          <a:xfrm>
            <a:off x="695187"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47" name="Text 60">
            <a:extLst>
              <a:ext uri="{FF2B5EF4-FFF2-40B4-BE49-F238E27FC236}">
                <a16:creationId xmlns:a16="http://schemas.microsoft.com/office/drawing/2014/main" id="{E2B42AA0-132E-2BD1-9170-8FB822F9DD8D}"/>
              </a:ext>
            </a:extLst>
          </p:cNvPr>
          <p:cNvSpPr/>
          <p:nvPr/>
        </p:nvSpPr>
        <p:spPr>
          <a:xfrm>
            <a:off x="69518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LINE広告配信</a:t>
            </a:r>
            <a:endParaRPr lang="en-US" sz="700" dirty="0">
              <a:latin typeface="メイリオ" panose="020B0604030504040204" pitchFamily="50" charset="-128"/>
              <a:ea typeface="メイリオ" panose="020B0604030504040204" pitchFamily="50" charset="-128"/>
            </a:endParaRPr>
          </a:p>
        </p:txBody>
      </p:sp>
      <p:sp>
        <p:nvSpPr>
          <p:cNvPr id="349" name="Shape 61">
            <a:extLst>
              <a:ext uri="{FF2B5EF4-FFF2-40B4-BE49-F238E27FC236}">
                <a16:creationId xmlns:a16="http://schemas.microsoft.com/office/drawing/2014/main" id="{2D2F38BD-F703-1322-C0EB-FF7E51A439E3}"/>
              </a:ext>
            </a:extLst>
          </p:cNvPr>
          <p:cNvSpPr/>
          <p:nvPr/>
        </p:nvSpPr>
        <p:spPr>
          <a:xfrm>
            <a:off x="1969251"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1" name="Text 62">
            <a:extLst>
              <a:ext uri="{FF2B5EF4-FFF2-40B4-BE49-F238E27FC236}">
                <a16:creationId xmlns:a16="http://schemas.microsoft.com/office/drawing/2014/main" id="{C2B3A8C9-C9C1-FA05-756B-E4822346E20D}"/>
              </a:ext>
            </a:extLst>
          </p:cNvPr>
          <p:cNvSpPr/>
          <p:nvPr/>
        </p:nvSpPr>
        <p:spPr>
          <a:xfrm>
            <a:off x="1969251"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3" name="Shape 63">
            <a:extLst>
              <a:ext uri="{FF2B5EF4-FFF2-40B4-BE49-F238E27FC236}">
                <a16:creationId xmlns:a16="http://schemas.microsoft.com/office/drawing/2014/main" id="{BD3E93B4-E548-6909-FB3B-06C1E8639169}"/>
              </a:ext>
            </a:extLst>
          </p:cNvPr>
          <p:cNvSpPr/>
          <p:nvPr/>
        </p:nvSpPr>
        <p:spPr>
          <a:xfrm>
            <a:off x="2060691"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55" name="Text 64">
            <a:extLst>
              <a:ext uri="{FF2B5EF4-FFF2-40B4-BE49-F238E27FC236}">
                <a16:creationId xmlns:a16="http://schemas.microsoft.com/office/drawing/2014/main" id="{A6256185-6AD4-3A20-1F48-E2EF9D4891CE}"/>
              </a:ext>
            </a:extLst>
          </p:cNvPr>
          <p:cNvSpPr/>
          <p:nvPr/>
        </p:nvSpPr>
        <p:spPr>
          <a:xfrm>
            <a:off x="206069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タップ1回</a:t>
            </a:r>
            <a:endParaRPr lang="en-US" sz="700" dirty="0">
              <a:latin typeface="メイリオ" panose="020B0604030504040204" pitchFamily="50" charset="-128"/>
              <a:ea typeface="メイリオ" panose="020B0604030504040204" pitchFamily="50" charset="-128"/>
            </a:endParaRPr>
          </a:p>
        </p:txBody>
      </p:sp>
      <p:sp>
        <p:nvSpPr>
          <p:cNvPr id="357" name="Shape 65">
            <a:extLst>
              <a:ext uri="{FF2B5EF4-FFF2-40B4-BE49-F238E27FC236}">
                <a16:creationId xmlns:a16="http://schemas.microsoft.com/office/drawing/2014/main" id="{3BF64739-BCDC-698F-EF0E-28E1322565B2}"/>
              </a:ext>
            </a:extLst>
          </p:cNvPr>
          <p:cNvSpPr/>
          <p:nvPr/>
        </p:nvSpPr>
        <p:spPr>
          <a:xfrm>
            <a:off x="3334755"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9" name="Text 66">
            <a:extLst>
              <a:ext uri="{FF2B5EF4-FFF2-40B4-BE49-F238E27FC236}">
                <a16:creationId xmlns:a16="http://schemas.microsoft.com/office/drawing/2014/main" id="{DC3E4D69-6A59-7489-79CB-99F94D990D7A}"/>
              </a:ext>
            </a:extLst>
          </p:cNvPr>
          <p:cNvSpPr/>
          <p:nvPr/>
        </p:nvSpPr>
        <p:spPr>
          <a:xfrm>
            <a:off x="3334755"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61" name="Shape 67">
            <a:extLst>
              <a:ext uri="{FF2B5EF4-FFF2-40B4-BE49-F238E27FC236}">
                <a16:creationId xmlns:a16="http://schemas.microsoft.com/office/drawing/2014/main" id="{9ADB30CA-F6EE-C089-A57A-6F22275FEAB4}"/>
              </a:ext>
            </a:extLst>
          </p:cNvPr>
          <p:cNvSpPr/>
          <p:nvPr/>
        </p:nvSpPr>
        <p:spPr>
          <a:xfrm>
            <a:off x="342619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63" name="Text 68">
            <a:extLst>
              <a:ext uri="{FF2B5EF4-FFF2-40B4-BE49-F238E27FC236}">
                <a16:creationId xmlns:a16="http://schemas.microsoft.com/office/drawing/2014/main" id="{98B08C9C-D511-6B94-9B7A-44C6A5439875}"/>
              </a:ext>
            </a:extLst>
          </p:cNvPr>
          <p:cNvSpPr/>
          <p:nvPr/>
        </p:nvSpPr>
        <p:spPr>
          <a:xfrm>
            <a:off x="342619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友だち追加完了</a:t>
            </a:r>
            <a:endParaRPr lang="en-US" sz="700" dirty="0">
              <a:latin typeface="メイリオ" panose="020B0604030504040204" pitchFamily="50" charset="-128"/>
              <a:ea typeface="メイリオ" panose="020B0604030504040204" pitchFamily="50" charset="-128"/>
            </a:endParaRPr>
          </a:p>
        </p:txBody>
      </p:sp>
      <p:sp>
        <p:nvSpPr>
          <p:cNvPr id="365" name="Shape 69">
            <a:extLst>
              <a:ext uri="{FF2B5EF4-FFF2-40B4-BE49-F238E27FC236}">
                <a16:creationId xmlns:a16="http://schemas.microsoft.com/office/drawing/2014/main" id="{D6B35E10-B1AC-F1BF-E6B4-49DBF665E15B}"/>
              </a:ext>
            </a:extLst>
          </p:cNvPr>
          <p:cNvSpPr/>
          <p:nvPr/>
        </p:nvSpPr>
        <p:spPr>
          <a:xfrm>
            <a:off x="5047731" y="156281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9" name="Shape 71">
            <a:extLst>
              <a:ext uri="{FF2B5EF4-FFF2-40B4-BE49-F238E27FC236}">
                <a16:creationId xmlns:a16="http://schemas.microsoft.com/office/drawing/2014/main" id="{68234D9A-1E80-F88C-68E3-9B0BD913573C}"/>
              </a:ext>
            </a:extLst>
          </p:cNvPr>
          <p:cNvSpPr/>
          <p:nvPr/>
        </p:nvSpPr>
        <p:spPr>
          <a:xfrm>
            <a:off x="5157459" y="165425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1" name="Text 72">
            <a:extLst>
              <a:ext uri="{FF2B5EF4-FFF2-40B4-BE49-F238E27FC236}">
                <a16:creationId xmlns:a16="http://schemas.microsoft.com/office/drawing/2014/main" id="{552F05CD-97BD-C4BE-A13E-740BB4C11A0B}"/>
              </a:ext>
            </a:extLst>
          </p:cNvPr>
          <p:cNvSpPr/>
          <p:nvPr/>
        </p:nvSpPr>
        <p:spPr>
          <a:xfrm>
            <a:off x="5157459"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5" name="Text 74">
            <a:extLst>
              <a:ext uri="{FF2B5EF4-FFF2-40B4-BE49-F238E27FC236}">
                <a16:creationId xmlns:a16="http://schemas.microsoft.com/office/drawing/2014/main" id="{DF4277DC-C449-82E4-95E9-6A760DB1A9BE}"/>
              </a:ext>
            </a:extLst>
          </p:cNvPr>
          <p:cNvSpPr/>
          <p:nvPr/>
        </p:nvSpPr>
        <p:spPr>
          <a:xfrm>
            <a:off x="5514089" y="1672216"/>
            <a:ext cx="899146" cy="214480"/>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無料特典</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7" name="Text 75">
            <a:extLst>
              <a:ext uri="{FF2B5EF4-FFF2-40B4-BE49-F238E27FC236}">
                <a16:creationId xmlns:a16="http://schemas.microsoft.com/office/drawing/2014/main" id="{26E53970-4631-F503-9567-2A93A8696D8A}"/>
              </a:ext>
            </a:extLst>
          </p:cNvPr>
          <p:cNvSpPr/>
          <p:nvPr/>
        </p:nvSpPr>
        <p:spPr>
          <a:xfrm>
            <a:off x="6419331" y="167221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業界特化の無料チェックリスト・資料を配布</a:t>
            </a:r>
            <a:endParaRPr lang="en-US" sz="1000" dirty="0">
              <a:latin typeface="メイリオ" panose="020B0604030504040204" pitchFamily="50" charset="-128"/>
              <a:ea typeface="メイリオ" panose="020B0604030504040204" pitchFamily="50" charset="-128"/>
            </a:endParaRPr>
          </a:p>
        </p:txBody>
      </p:sp>
      <p:sp>
        <p:nvSpPr>
          <p:cNvPr id="379" name="Text 76">
            <a:extLst>
              <a:ext uri="{FF2B5EF4-FFF2-40B4-BE49-F238E27FC236}">
                <a16:creationId xmlns:a16="http://schemas.microsoft.com/office/drawing/2014/main" id="{2D8E133D-EC4C-5575-4BD8-86BE9F65DDF1}"/>
              </a:ext>
            </a:extLst>
          </p:cNvPr>
          <p:cNvSpPr/>
          <p:nvPr/>
        </p:nvSpPr>
        <p:spPr>
          <a:xfrm>
            <a:off x="5157459"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「登録するだけでもらえる」特典を用意することで登録動機を明確化。業界固有の課題解決系コンテンツ（チェックシート・業界レポート等）が最もCV率が高い。</a:t>
            </a:r>
            <a:endParaRPr lang="en-US" sz="600" dirty="0">
              <a:latin typeface="メイリオ" panose="020B0604030504040204" pitchFamily="50" charset="-128"/>
              <a:ea typeface="メイリオ" panose="020B0604030504040204" pitchFamily="50" charset="-128"/>
            </a:endParaRPr>
          </a:p>
        </p:txBody>
      </p:sp>
      <p:sp>
        <p:nvSpPr>
          <p:cNvPr id="381" name="Shape 77">
            <a:extLst>
              <a:ext uri="{FF2B5EF4-FFF2-40B4-BE49-F238E27FC236}">
                <a16:creationId xmlns:a16="http://schemas.microsoft.com/office/drawing/2014/main" id="{31E10F06-F863-67FA-6DAC-010C215B84E8}"/>
              </a:ext>
            </a:extLst>
          </p:cNvPr>
          <p:cNvSpPr/>
          <p:nvPr/>
        </p:nvSpPr>
        <p:spPr>
          <a:xfrm>
            <a:off x="5139171"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83" name="Text 78">
            <a:extLst>
              <a:ext uri="{FF2B5EF4-FFF2-40B4-BE49-F238E27FC236}">
                <a16:creationId xmlns:a16="http://schemas.microsoft.com/office/drawing/2014/main" id="{6C9F3ABA-2FF8-FD90-4A48-758E002398FB}"/>
              </a:ext>
            </a:extLst>
          </p:cNvPr>
          <p:cNvSpPr/>
          <p:nvPr/>
        </p:nvSpPr>
        <p:spPr>
          <a:xfrm>
            <a:off x="513917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特典を訴求</a:t>
            </a:r>
            <a:endParaRPr lang="en-US" sz="700" dirty="0">
              <a:latin typeface="メイリオ" panose="020B0604030504040204" pitchFamily="50" charset="-128"/>
              <a:ea typeface="メイリオ" panose="020B0604030504040204" pitchFamily="50" charset="-128"/>
            </a:endParaRPr>
          </a:p>
        </p:txBody>
      </p:sp>
      <p:sp>
        <p:nvSpPr>
          <p:cNvPr id="385" name="Shape 79">
            <a:extLst>
              <a:ext uri="{FF2B5EF4-FFF2-40B4-BE49-F238E27FC236}">
                <a16:creationId xmlns:a16="http://schemas.microsoft.com/office/drawing/2014/main" id="{E72C78D1-0BB9-916F-36B5-7479F8CE5D3C}"/>
              </a:ext>
            </a:extLst>
          </p:cNvPr>
          <p:cNvSpPr/>
          <p:nvPr/>
        </p:nvSpPr>
        <p:spPr>
          <a:xfrm>
            <a:off x="641323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7" name="Text 80">
            <a:extLst>
              <a:ext uri="{FF2B5EF4-FFF2-40B4-BE49-F238E27FC236}">
                <a16:creationId xmlns:a16="http://schemas.microsoft.com/office/drawing/2014/main" id="{BC0BBF5B-BAF8-E70E-8B07-996AA9432035}"/>
              </a:ext>
            </a:extLst>
          </p:cNvPr>
          <p:cNvSpPr/>
          <p:nvPr/>
        </p:nvSpPr>
        <p:spPr>
          <a:xfrm>
            <a:off x="641323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89" name="Shape 81">
            <a:extLst>
              <a:ext uri="{FF2B5EF4-FFF2-40B4-BE49-F238E27FC236}">
                <a16:creationId xmlns:a16="http://schemas.microsoft.com/office/drawing/2014/main" id="{408D8BF9-9A64-3437-189F-7AB6EF573C7B}"/>
              </a:ext>
            </a:extLst>
          </p:cNvPr>
          <p:cNvSpPr/>
          <p:nvPr/>
        </p:nvSpPr>
        <p:spPr>
          <a:xfrm>
            <a:off x="6504675"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91" name="Text 82">
            <a:extLst>
              <a:ext uri="{FF2B5EF4-FFF2-40B4-BE49-F238E27FC236}">
                <a16:creationId xmlns:a16="http://schemas.microsoft.com/office/drawing/2014/main" id="{143086EA-358A-8358-5A98-D73784BCDE63}"/>
              </a:ext>
            </a:extLst>
          </p:cNvPr>
          <p:cNvSpPr/>
          <p:nvPr/>
        </p:nvSpPr>
        <p:spPr>
          <a:xfrm>
            <a:off x="6504675"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LINE登録</a:t>
            </a:r>
            <a:endParaRPr lang="en-US" sz="700" dirty="0">
              <a:latin typeface="メイリオ" panose="020B0604030504040204" pitchFamily="50" charset="-128"/>
              <a:ea typeface="メイリオ" panose="020B0604030504040204" pitchFamily="50" charset="-128"/>
            </a:endParaRPr>
          </a:p>
        </p:txBody>
      </p:sp>
      <p:sp>
        <p:nvSpPr>
          <p:cNvPr id="393" name="Shape 83">
            <a:extLst>
              <a:ext uri="{FF2B5EF4-FFF2-40B4-BE49-F238E27FC236}">
                <a16:creationId xmlns:a16="http://schemas.microsoft.com/office/drawing/2014/main" id="{735AC242-9C22-523C-8493-ED1444186A4A}"/>
              </a:ext>
            </a:extLst>
          </p:cNvPr>
          <p:cNvSpPr/>
          <p:nvPr/>
        </p:nvSpPr>
        <p:spPr>
          <a:xfrm>
            <a:off x="77787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5" name="Text 84">
            <a:extLst>
              <a:ext uri="{FF2B5EF4-FFF2-40B4-BE49-F238E27FC236}">
                <a16:creationId xmlns:a16="http://schemas.microsoft.com/office/drawing/2014/main" id="{5CA0A665-628D-A550-FA00-F6977D3E7726}"/>
              </a:ext>
            </a:extLst>
          </p:cNvPr>
          <p:cNvSpPr/>
          <p:nvPr/>
        </p:nvSpPr>
        <p:spPr>
          <a:xfrm>
            <a:off x="77787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7" name="Shape 85">
            <a:extLst>
              <a:ext uri="{FF2B5EF4-FFF2-40B4-BE49-F238E27FC236}">
                <a16:creationId xmlns:a16="http://schemas.microsoft.com/office/drawing/2014/main" id="{C421B86C-B079-C4D9-00AC-3FDB83FD4088}"/>
              </a:ext>
            </a:extLst>
          </p:cNvPr>
          <p:cNvSpPr/>
          <p:nvPr/>
        </p:nvSpPr>
        <p:spPr>
          <a:xfrm>
            <a:off x="7870179"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99" name="Text 86">
            <a:extLst>
              <a:ext uri="{FF2B5EF4-FFF2-40B4-BE49-F238E27FC236}">
                <a16:creationId xmlns:a16="http://schemas.microsoft.com/office/drawing/2014/main" id="{C9D03C7D-B81E-970A-1517-18C66C14BA76}"/>
              </a:ext>
            </a:extLst>
          </p:cNvPr>
          <p:cNvSpPr/>
          <p:nvPr/>
        </p:nvSpPr>
        <p:spPr>
          <a:xfrm>
            <a:off x="78701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即時受け取り</a:t>
            </a:r>
            <a:endParaRPr lang="en-US" sz="700" dirty="0">
              <a:latin typeface="メイリオ" panose="020B0604030504040204" pitchFamily="50" charset="-128"/>
              <a:ea typeface="メイリオ" panose="020B0604030504040204" pitchFamily="50" charset="-128"/>
            </a:endParaRPr>
          </a:p>
        </p:txBody>
      </p:sp>
      <p:sp>
        <p:nvSpPr>
          <p:cNvPr id="401" name="Shape 87">
            <a:extLst>
              <a:ext uri="{FF2B5EF4-FFF2-40B4-BE49-F238E27FC236}">
                <a16:creationId xmlns:a16="http://schemas.microsoft.com/office/drawing/2014/main" id="{5F9AA049-EA0A-0919-98F9-2182FAADD0F3}"/>
              </a:ext>
            </a:extLst>
          </p:cNvPr>
          <p:cNvSpPr/>
          <p:nvPr/>
        </p:nvSpPr>
        <p:spPr>
          <a:xfrm>
            <a:off x="5047731" y="3109414"/>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5" name="Shape 89">
            <a:extLst>
              <a:ext uri="{FF2B5EF4-FFF2-40B4-BE49-F238E27FC236}">
                <a16:creationId xmlns:a16="http://schemas.microsoft.com/office/drawing/2014/main" id="{994EA064-C509-0D34-2927-FD8920D66D38}"/>
              </a:ext>
            </a:extLst>
          </p:cNvPr>
          <p:cNvSpPr/>
          <p:nvPr/>
        </p:nvSpPr>
        <p:spPr>
          <a:xfrm>
            <a:off x="5157459" y="3200854"/>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7" name="Text 90">
            <a:extLst>
              <a:ext uri="{FF2B5EF4-FFF2-40B4-BE49-F238E27FC236}">
                <a16:creationId xmlns:a16="http://schemas.microsoft.com/office/drawing/2014/main" id="{81BA2858-4DF2-33F8-E6B3-E47B08169C58}"/>
              </a:ext>
            </a:extLst>
          </p:cNvPr>
          <p:cNvSpPr/>
          <p:nvPr/>
        </p:nvSpPr>
        <p:spPr>
          <a:xfrm>
            <a:off x="5157459" y="3218704"/>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13" name="Text 93">
            <a:extLst>
              <a:ext uri="{FF2B5EF4-FFF2-40B4-BE49-F238E27FC236}">
                <a16:creationId xmlns:a16="http://schemas.microsoft.com/office/drawing/2014/main" id="{7C039DD3-77AB-DC72-1BF7-6F43484A6F48}"/>
              </a:ext>
            </a:extLst>
          </p:cNvPr>
          <p:cNvSpPr/>
          <p:nvPr/>
        </p:nvSpPr>
        <p:spPr>
          <a:xfrm>
            <a:off x="6419331"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「〇〇診断」でゲーム感覚の登録動線を設計</a:t>
            </a:r>
            <a:endParaRPr lang="en-US" sz="1000" dirty="0">
              <a:latin typeface="メイリオ" panose="020B0604030504040204" pitchFamily="50" charset="-128"/>
              <a:ea typeface="メイリオ" panose="020B0604030504040204" pitchFamily="50" charset="-128"/>
            </a:endParaRPr>
          </a:p>
        </p:txBody>
      </p:sp>
      <p:sp>
        <p:nvSpPr>
          <p:cNvPr id="415" name="Text 94">
            <a:extLst>
              <a:ext uri="{FF2B5EF4-FFF2-40B4-BE49-F238E27FC236}">
                <a16:creationId xmlns:a16="http://schemas.microsoft.com/office/drawing/2014/main" id="{DC0D3973-D909-3E0E-0185-8C5F00160F49}"/>
              </a:ext>
            </a:extLst>
          </p:cNvPr>
          <p:cNvSpPr/>
          <p:nvPr/>
        </p:nvSpPr>
        <p:spPr>
          <a:xfrm>
            <a:off x="5157459"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「あなたの〇〇タイプ診断」など自分に関係する情報を得られる診断コンテンツをLINE登録の特典に設定。結果表示→そのまま育成配信へ移行。</a:t>
            </a:r>
            <a:endParaRPr lang="en-US" sz="600" dirty="0">
              <a:latin typeface="メイリオ" panose="020B0604030504040204" pitchFamily="50" charset="-128"/>
              <a:ea typeface="メイリオ" panose="020B0604030504040204" pitchFamily="50" charset="-128"/>
            </a:endParaRPr>
          </a:p>
        </p:txBody>
      </p:sp>
      <p:sp>
        <p:nvSpPr>
          <p:cNvPr id="417" name="Shape 95">
            <a:extLst>
              <a:ext uri="{FF2B5EF4-FFF2-40B4-BE49-F238E27FC236}">
                <a16:creationId xmlns:a16="http://schemas.microsoft.com/office/drawing/2014/main" id="{A539ABF7-93E6-0B97-E682-67036D8B4469}"/>
              </a:ext>
            </a:extLst>
          </p:cNvPr>
          <p:cNvSpPr/>
          <p:nvPr/>
        </p:nvSpPr>
        <p:spPr>
          <a:xfrm>
            <a:off x="5139171" y="4158910"/>
            <a:ext cx="1274064" cy="329184"/>
          </a:xfrm>
          <a:prstGeom prst="roundRect">
            <a:avLst>
              <a:gd name="adj" fmla="val 16667"/>
            </a:avLst>
          </a:prstGeom>
          <a:solidFill>
            <a:srgbClr val="1F5FA6"/>
          </a:solidFill>
          <a:ln w="12700">
            <a:solidFill>
              <a:srgbClr val="1F5FA6"/>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19" name="Text 96">
            <a:extLst>
              <a:ext uri="{FF2B5EF4-FFF2-40B4-BE49-F238E27FC236}">
                <a16:creationId xmlns:a16="http://schemas.microsoft.com/office/drawing/2014/main" id="{872D0829-AC14-447F-7459-990C0436BD6F}"/>
              </a:ext>
            </a:extLst>
          </p:cNvPr>
          <p:cNvSpPr/>
          <p:nvPr/>
        </p:nvSpPr>
        <p:spPr>
          <a:xfrm>
            <a:off x="5139171" y="4158910"/>
            <a:ext cx="1274064" cy="329184"/>
          </a:xfrm>
          <a:prstGeom prst="rect">
            <a:avLst/>
          </a:prstGeom>
          <a:solidFill>
            <a:schemeClr val="tx1"/>
          </a:solid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診断スタート</a:t>
            </a:r>
            <a:endParaRPr lang="en-US" sz="700" dirty="0">
              <a:latin typeface="メイリオ" panose="020B0604030504040204" pitchFamily="50" charset="-128"/>
              <a:ea typeface="メイリオ" panose="020B0604030504040204" pitchFamily="50" charset="-128"/>
            </a:endParaRPr>
          </a:p>
        </p:txBody>
      </p:sp>
      <p:sp>
        <p:nvSpPr>
          <p:cNvPr id="421" name="Shape 97">
            <a:extLst>
              <a:ext uri="{FF2B5EF4-FFF2-40B4-BE49-F238E27FC236}">
                <a16:creationId xmlns:a16="http://schemas.microsoft.com/office/drawing/2014/main" id="{277FEA39-DF85-2BC7-8790-281873782510}"/>
              </a:ext>
            </a:extLst>
          </p:cNvPr>
          <p:cNvSpPr/>
          <p:nvPr/>
        </p:nvSpPr>
        <p:spPr>
          <a:xfrm>
            <a:off x="641323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3" name="Text 98">
            <a:extLst>
              <a:ext uri="{FF2B5EF4-FFF2-40B4-BE49-F238E27FC236}">
                <a16:creationId xmlns:a16="http://schemas.microsoft.com/office/drawing/2014/main" id="{CCEC2CA7-1DA7-3457-DB53-866B5464808A}"/>
              </a:ext>
            </a:extLst>
          </p:cNvPr>
          <p:cNvSpPr/>
          <p:nvPr/>
        </p:nvSpPr>
        <p:spPr>
          <a:xfrm>
            <a:off x="641323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5" name="Shape 99">
            <a:extLst>
              <a:ext uri="{FF2B5EF4-FFF2-40B4-BE49-F238E27FC236}">
                <a16:creationId xmlns:a16="http://schemas.microsoft.com/office/drawing/2014/main" id="{BEE40DCA-8F8C-5FB8-E003-26C56815916C}"/>
              </a:ext>
            </a:extLst>
          </p:cNvPr>
          <p:cNvSpPr/>
          <p:nvPr/>
        </p:nvSpPr>
        <p:spPr>
          <a:xfrm>
            <a:off x="6504675" y="4158910"/>
            <a:ext cx="1274064" cy="329184"/>
          </a:xfrm>
          <a:prstGeom prst="roundRect">
            <a:avLst>
              <a:gd name="adj" fmla="val 16667"/>
            </a:avLst>
          </a:prstGeom>
          <a:solidFill>
            <a:srgbClr val="1F5FA6"/>
          </a:solidFill>
          <a:ln w="12700">
            <a:solidFill>
              <a:srgbClr val="1F5FA6"/>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7" name="Text 100">
            <a:extLst>
              <a:ext uri="{FF2B5EF4-FFF2-40B4-BE49-F238E27FC236}">
                <a16:creationId xmlns:a16="http://schemas.microsoft.com/office/drawing/2014/main" id="{00D1855F-45CE-D188-2C64-7750B7F10335}"/>
              </a:ext>
            </a:extLst>
          </p:cNvPr>
          <p:cNvSpPr/>
          <p:nvPr/>
        </p:nvSpPr>
        <p:spPr>
          <a:xfrm>
            <a:off x="6504675" y="4158910"/>
            <a:ext cx="1274064" cy="329184"/>
          </a:xfrm>
          <a:prstGeom prst="rect">
            <a:avLst/>
          </a:prstGeom>
          <a:solidFill>
            <a:schemeClr val="tx1"/>
          </a:solid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LINE登録</a:t>
            </a:r>
            <a:endParaRPr lang="en-US" sz="700" dirty="0">
              <a:latin typeface="メイリオ" panose="020B0604030504040204" pitchFamily="50" charset="-128"/>
              <a:ea typeface="メイリオ" panose="020B0604030504040204" pitchFamily="50" charset="-128"/>
            </a:endParaRPr>
          </a:p>
        </p:txBody>
      </p:sp>
      <p:sp>
        <p:nvSpPr>
          <p:cNvPr id="429" name="Shape 101">
            <a:extLst>
              <a:ext uri="{FF2B5EF4-FFF2-40B4-BE49-F238E27FC236}">
                <a16:creationId xmlns:a16="http://schemas.microsoft.com/office/drawing/2014/main" id="{BC3DBCCE-C415-FFB9-0EF0-ED016BFACE66}"/>
              </a:ext>
            </a:extLst>
          </p:cNvPr>
          <p:cNvSpPr/>
          <p:nvPr/>
        </p:nvSpPr>
        <p:spPr>
          <a:xfrm>
            <a:off x="77787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1" name="Text 102">
            <a:extLst>
              <a:ext uri="{FF2B5EF4-FFF2-40B4-BE49-F238E27FC236}">
                <a16:creationId xmlns:a16="http://schemas.microsoft.com/office/drawing/2014/main" id="{87E68EDD-1B05-C39E-A803-3CD6952C46E3}"/>
              </a:ext>
            </a:extLst>
          </p:cNvPr>
          <p:cNvSpPr/>
          <p:nvPr/>
        </p:nvSpPr>
        <p:spPr>
          <a:xfrm>
            <a:off x="77787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3" name="Shape 103">
            <a:extLst>
              <a:ext uri="{FF2B5EF4-FFF2-40B4-BE49-F238E27FC236}">
                <a16:creationId xmlns:a16="http://schemas.microsoft.com/office/drawing/2014/main" id="{75540B87-5EA1-8B70-BE9E-D7CD43DE2F0B}"/>
              </a:ext>
            </a:extLst>
          </p:cNvPr>
          <p:cNvSpPr/>
          <p:nvPr/>
        </p:nvSpPr>
        <p:spPr>
          <a:xfrm>
            <a:off x="787017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35" name="Text 104">
            <a:extLst>
              <a:ext uri="{FF2B5EF4-FFF2-40B4-BE49-F238E27FC236}">
                <a16:creationId xmlns:a16="http://schemas.microsoft.com/office/drawing/2014/main" id="{D38E76BC-A277-7B9A-A14E-8E7F032F5CF9}"/>
              </a:ext>
            </a:extLst>
          </p:cNvPr>
          <p:cNvSpPr/>
          <p:nvPr/>
        </p:nvSpPr>
        <p:spPr>
          <a:xfrm>
            <a:off x="787017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結果＋ナーチャ</a:t>
            </a:r>
            <a:endParaRPr lang="en-US" sz="700" dirty="0">
              <a:latin typeface="メイリオ" panose="020B0604030504040204" pitchFamily="50" charset="-128"/>
              <a:ea typeface="メイリオ" panose="020B0604030504040204" pitchFamily="50" charset="-128"/>
            </a:endParaRPr>
          </a:p>
        </p:txBody>
      </p:sp>
      <p:sp>
        <p:nvSpPr>
          <p:cNvPr id="437" name="Shape 105">
            <a:extLst>
              <a:ext uri="{FF2B5EF4-FFF2-40B4-BE49-F238E27FC236}">
                <a16:creationId xmlns:a16="http://schemas.microsoft.com/office/drawing/2014/main" id="{7E7D236C-E62B-82AE-1904-7E878C11F436}"/>
              </a:ext>
            </a:extLst>
          </p:cNvPr>
          <p:cNvSpPr/>
          <p:nvPr/>
        </p:nvSpPr>
        <p:spPr>
          <a:xfrm>
            <a:off x="5047731" y="465815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1" name="Shape 107">
            <a:extLst>
              <a:ext uri="{FF2B5EF4-FFF2-40B4-BE49-F238E27FC236}">
                <a16:creationId xmlns:a16="http://schemas.microsoft.com/office/drawing/2014/main" id="{11FB9564-FEC8-56EC-F099-43F051A24D1D}"/>
              </a:ext>
            </a:extLst>
          </p:cNvPr>
          <p:cNvSpPr/>
          <p:nvPr/>
        </p:nvSpPr>
        <p:spPr>
          <a:xfrm>
            <a:off x="5157459" y="474959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3" name="Text 108">
            <a:extLst>
              <a:ext uri="{FF2B5EF4-FFF2-40B4-BE49-F238E27FC236}">
                <a16:creationId xmlns:a16="http://schemas.microsoft.com/office/drawing/2014/main" id="{F6040C66-355F-8C90-5BE2-53D9C4A42B57}"/>
              </a:ext>
            </a:extLst>
          </p:cNvPr>
          <p:cNvSpPr/>
          <p:nvPr/>
        </p:nvSpPr>
        <p:spPr>
          <a:xfrm>
            <a:off x="5157459"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9" name="Text 111">
            <a:extLst>
              <a:ext uri="{FF2B5EF4-FFF2-40B4-BE49-F238E27FC236}">
                <a16:creationId xmlns:a16="http://schemas.microsoft.com/office/drawing/2014/main" id="{4EB6017D-3A77-E9F5-F635-7B6DB13B4131}"/>
              </a:ext>
            </a:extLst>
          </p:cNvPr>
          <p:cNvSpPr/>
          <p:nvPr/>
        </p:nvSpPr>
        <p:spPr>
          <a:xfrm>
            <a:off x="6419331" y="4767552"/>
            <a:ext cx="2798064" cy="256032"/>
          </a:xfrm>
          <a:prstGeom prst="rect">
            <a:avLst/>
          </a:prstGeom>
          <a:noFill/>
          <a:ln/>
        </p:spPr>
        <p:txBody>
          <a:bodyPr wrap="square" lIns="0" tIns="0" rIns="0" bIns="0" rtlCol="0" anchor="ctr"/>
          <a:lstStyle/>
          <a:p>
            <a:pPr marL="0" indent="0">
              <a:buNone/>
            </a:pPr>
            <a:r>
              <a:rPr lang="en-US" sz="1000" b="1" dirty="0" err="1">
                <a:solidFill>
                  <a:srgbClr val="1A1A2E"/>
                </a:solidFill>
                <a:latin typeface="メイリオ" panose="020B0604030504040204" pitchFamily="50" charset="-128"/>
                <a:ea typeface="メイリオ" panose="020B0604030504040204" pitchFamily="50" charset="-128"/>
                <a:cs typeface="Calibri" pitchFamily="34" charset="-120"/>
              </a:rPr>
              <a:t>WEBフォームCV後サンクスページでLINE誘導</a:t>
            </a:r>
            <a:endParaRPr lang="en-US" sz="1000" dirty="0">
              <a:latin typeface="メイリオ" panose="020B0604030504040204" pitchFamily="50" charset="-128"/>
              <a:ea typeface="メイリオ" panose="020B0604030504040204" pitchFamily="50" charset="-128"/>
            </a:endParaRPr>
          </a:p>
        </p:txBody>
      </p:sp>
      <p:sp>
        <p:nvSpPr>
          <p:cNvPr id="451" name="Text 112">
            <a:extLst>
              <a:ext uri="{FF2B5EF4-FFF2-40B4-BE49-F238E27FC236}">
                <a16:creationId xmlns:a16="http://schemas.microsoft.com/office/drawing/2014/main" id="{A63DAD2F-DDAE-6E26-0FE7-A71DCF606881}"/>
              </a:ext>
            </a:extLst>
          </p:cNvPr>
          <p:cNvSpPr/>
          <p:nvPr/>
        </p:nvSpPr>
        <p:spPr>
          <a:xfrm>
            <a:off x="5157459"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問い合わせや申込のサンクスページ上にLINE追加QRコードを設置。「手続き状況・キャンペーン情報をLINEでお知らせします」という理由付けで登録率を高める。</a:t>
            </a:r>
            <a:endParaRPr lang="en-US" sz="600" dirty="0">
              <a:latin typeface="メイリオ" panose="020B0604030504040204" pitchFamily="50" charset="-128"/>
              <a:ea typeface="メイリオ" panose="020B0604030504040204" pitchFamily="50" charset="-128"/>
            </a:endParaRPr>
          </a:p>
        </p:txBody>
      </p:sp>
      <p:sp>
        <p:nvSpPr>
          <p:cNvPr id="453" name="Shape 113">
            <a:extLst>
              <a:ext uri="{FF2B5EF4-FFF2-40B4-BE49-F238E27FC236}">
                <a16:creationId xmlns:a16="http://schemas.microsoft.com/office/drawing/2014/main" id="{1A747923-8770-D6A4-F82F-4A2F7CF2E59A}"/>
              </a:ext>
            </a:extLst>
          </p:cNvPr>
          <p:cNvSpPr/>
          <p:nvPr/>
        </p:nvSpPr>
        <p:spPr>
          <a:xfrm>
            <a:off x="5139171"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55" name="Text 114">
            <a:extLst>
              <a:ext uri="{FF2B5EF4-FFF2-40B4-BE49-F238E27FC236}">
                <a16:creationId xmlns:a16="http://schemas.microsoft.com/office/drawing/2014/main" id="{C1269C45-D060-14BD-4EA5-EEA9971F9196}"/>
              </a:ext>
            </a:extLst>
          </p:cNvPr>
          <p:cNvSpPr/>
          <p:nvPr/>
        </p:nvSpPr>
        <p:spPr>
          <a:xfrm>
            <a:off x="513917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WEBフォームCV</a:t>
            </a:r>
            <a:endParaRPr lang="en-US" sz="700" dirty="0">
              <a:latin typeface="メイリオ" panose="020B0604030504040204" pitchFamily="50" charset="-128"/>
              <a:ea typeface="メイリオ" panose="020B0604030504040204" pitchFamily="50" charset="-128"/>
            </a:endParaRPr>
          </a:p>
        </p:txBody>
      </p:sp>
      <p:sp>
        <p:nvSpPr>
          <p:cNvPr id="457" name="Shape 115">
            <a:extLst>
              <a:ext uri="{FF2B5EF4-FFF2-40B4-BE49-F238E27FC236}">
                <a16:creationId xmlns:a16="http://schemas.microsoft.com/office/drawing/2014/main" id="{FCD11C9D-95DC-CE32-D1D6-7DA9E01A8070}"/>
              </a:ext>
            </a:extLst>
          </p:cNvPr>
          <p:cNvSpPr/>
          <p:nvPr/>
        </p:nvSpPr>
        <p:spPr>
          <a:xfrm>
            <a:off x="6413235"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9" name="Text 116">
            <a:extLst>
              <a:ext uri="{FF2B5EF4-FFF2-40B4-BE49-F238E27FC236}">
                <a16:creationId xmlns:a16="http://schemas.microsoft.com/office/drawing/2014/main" id="{0CA15731-A766-6C2F-3E49-8EB2B66C2373}"/>
              </a:ext>
            </a:extLst>
          </p:cNvPr>
          <p:cNvSpPr/>
          <p:nvPr/>
        </p:nvSpPr>
        <p:spPr>
          <a:xfrm>
            <a:off x="6413235"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1" name="Shape 117">
            <a:extLst>
              <a:ext uri="{FF2B5EF4-FFF2-40B4-BE49-F238E27FC236}">
                <a16:creationId xmlns:a16="http://schemas.microsoft.com/office/drawing/2014/main" id="{06D1EAE5-1FBE-2FD3-053D-8C52C5C51D7E}"/>
              </a:ext>
            </a:extLst>
          </p:cNvPr>
          <p:cNvSpPr/>
          <p:nvPr/>
        </p:nvSpPr>
        <p:spPr>
          <a:xfrm>
            <a:off x="650467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3" name="Text 118">
            <a:extLst>
              <a:ext uri="{FF2B5EF4-FFF2-40B4-BE49-F238E27FC236}">
                <a16:creationId xmlns:a16="http://schemas.microsoft.com/office/drawing/2014/main" id="{6E95A348-95C2-C3E1-0F40-D8D0B9C5F18E}"/>
              </a:ext>
            </a:extLst>
          </p:cNvPr>
          <p:cNvSpPr/>
          <p:nvPr/>
        </p:nvSpPr>
        <p:spPr>
          <a:xfrm>
            <a:off x="650467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サンクスページ</a:t>
            </a:r>
            <a:endParaRPr lang="en-US" sz="700" dirty="0">
              <a:latin typeface="メイリオ" panose="020B0604030504040204" pitchFamily="50" charset="-128"/>
              <a:ea typeface="メイリオ" panose="020B0604030504040204" pitchFamily="50" charset="-128"/>
            </a:endParaRPr>
          </a:p>
        </p:txBody>
      </p:sp>
      <p:sp>
        <p:nvSpPr>
          <p:cNvPr id="465" name="Shape 119">
            <a:extLst>
              <a:ext uri="{FF2B5EF4-FFF2-40B4-BE49-F238E27FC236}">
                <a16:creationId xmlns:a16="http://schemas.microsoft.com/office/drawing/2014/main" id="{052DAA84-9922-E532-C742-794FAF42CC11}"/>
              </a:ext>
            </a:extLst>
          </p:cNvPr>
          <p:cNvSpPr/>
          <p:nvPr/>
        </p:nvSpPr>
        <p:spPr>
          <a:xfrm>
            <a:off x="7778739"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7" name="Text 120">
            <a:extLst>
              <a:ext uri="{FF2B5EF4-FFF2-40B4-BE49-F238E27FC236}">
                <a16:creationId xmlns:a16="http://schemas.microsoft.com/office/drawing/2014/main" id="{6BC630B4-8A8E-3272-A831-973D660DF9AA}"/>
              </a:ext>
            </a:extLst>
          </p:cNvPr>
          <p:cNvSpPr/>
          <p:nvPr/>
        </p:nvSpPr>
        <p:spPr>
          <a:xfrm>
            <a:off x="7778739"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9" name="Shape 121">
            <a:extLst>
              <a:ext uri="{FF2B5EF4-FFF2-40B4-BE49-F238E27FC236}">
                <a16:creationId xmlns:a16="http://schemas.microsoft.com/office/drawing/2014/main" id="{255DDAF0-4E72-66D8-778E-24CDC5A34141}"/>
              </a:ext>
            </a:extLst>
          </p:cNvPr>
          <p:cNvSpPr/>
          <p:nvPr/>
        </p:nvSpPr>
        <p:spPr>
          <a:xfrm>
            <a:off x="7870179"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71" name="Text 122">
            <a:extLst>
              <a:ext uri="{FF2B5EF4-FFF2-40B4-BE49-F238E27FC236}">
                <a16:creationId xmlns:a16="http://schemas.microsoft.com/office/drawing/2014/main" id="{BC85E7AC-9264-BDB0-801D-8FD55C9ABAC6}"/>
              </a:ext>
            </a:extLst>
          </p:cNvPr>
          <p:cNvSpPr/>
          <p:nvPr/>
        </p:nvSpPr>
        <p:spPr>
          <a:xfrm>
            <a:off x="78701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LINE友だち追加</a:t>
            </a:r>
            <a:endParaRPr lang="en-US" sz="700" dirty="0">
              <a:latin typeface="メイリオ" panose="020B0604030504040204" pitchFamily="50" charset="-128"/>
              <a:ea typeface="メイリオ" panose="020B0604030504040204" pitchFamily="50" charset="-128"/>
            </a:endParaRPr>
          </a:p>
        </p:txBody>
      </p:sp>
      <p:sp>
        <p:nvSpPr>
          <p:cNvPr id="5" name="Shape 19">
            <a:extLst>
              <a:ext uri="{FF2B5EF4-FFF2-40B4-BE49-F238E27FC236}">
                <a16:creationId xmlns:a16="http://schemas.microsoft.com/office/drawing/2014/main" id="{779670CC-3A4B-99AD-47F8-99C1DC7CC783}"/>
              </a:ext>
            </a:extLst>
          </p:cNvPr>
          <p:cNvSpPr/>
          <p:nvPr/>
        </p:nvSpPr>
        <p:spPr>
          <a:xfrm>
            <a:off x="1060947" y="1615636"/>
            <a:ext cx="859536" cy="282151"/>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7" name="Text 20">
            <a:extLst>
              <a:ext uri="{FF2B5EF4-FFF2-40B4-BE49-F238E27FC236}">
                <a16:creationId xmlns:a16="http://schemas.microsoft.com/office/drawing/2014/main" id="{1DB2C24D-FB84-85D3-0975-0F08103A2C4E}"/>
              </a:ext>
            </a:extLst>
          </p:cNvPr>
          <p:cNvSpPr/>
          <p:nvPr/>
        </p:nvSpPr>
        <p:spPr>
          <a:xfrm>
            <a:off x="1060947" y="1637651"/>
            <a:ext cx="859536" cy="281683"/>
          </a:xfrm>
          <a:prstGeom prst="rect">
            <a:avLst/>
          </a:prstGeom>
          <a:noFill/>
          <a:ln/>
        </p:spPr>
        <p:txBody>
          <a:bodyPr wrap="square" lIns="0" tIns="0" rIns="0" bIns="0" rtlCol="0" anchor="ctr"/>
          <a:lstStyle/>
          <a:p>
            <a:pPr algn="ctr"/>
            <a:r>
              <a:rPr lang="ja-JP" altLang="en-US" sz="900" b="1" dirty="0">
                <a:solidFill>
                  <a:srgbClr val="FDFDFD"/>
                </a:solidFill>
                <a:latin typeface="メイリオ"/>
                <a:ea typeface="メイリオ"/>
              </a:rPr>
              <a:t>流入</a:t>
            </a:r>
            <a:r>
              <a:rPr lang="en-US" altLang="ja-JP" sz="900" b="1" dirty="0">
                <a:solidFill>
                  <a:srgbClr val="FDFDFD"/>
                </a:solidFill>
                <a:latin typeface="メイリオ"/>
                <a:ea typeface="メイリオ"/>
              </a:rPr>
              <a:t>/</a:t>
            </a:r>
            <a:r>
              <a:rPr lang="ja-JP" altLang="en-US" sz="900" b="1" dirty="0">
                <a:solidFill>
                  <a:srgbClr val="FDFDFD"/>
                </a:solidFill>
                <a:latin typeface="メイリオ"/>
                <a:ea typeface="メイリオ"/>
              </a:rPr>
              <a:t>集客</a:t>
            </a:r>
            <a:endParaRPr lang="en-US" altLang="ja-JP" sz="900" b="1" dirty="0">
              <a:solidFill>
                <a:srgbClr val="FDFDFD"/>
              </a:solidFill>
              <a:latin typeface="メイリオ" panose="020B0604030504040204" pitchFamily="50" charset="-128"/>
            </a:endParaRPr>
          </a:p>
          <a:p>
            <a:pPr algn="ctr"/>
            <a:r>
              <a:rPr lang="ja-JP" altLang="en-US" sz="900" b="1" dirty="0">
                <a:solidFill>
                  <a:srgbClr val="FDFDFD"/>
                </a:solidFill>
                <a:latin typeface="メイリオ"/>
                <a:ea typeface="メイリオ"/>
              </a:rPr>
              <a:t>チャネル</a:t>
            </a:r>
            <a:endParaRPr lang="en-US" altLang="ja-JP" sz="400" b="1" dirty="0">
              <a:solidFill>
                <a:srgbClr val="FDFDFD"/>
              </a:solidFill>
              <a:latin typeface="メイリオ" panose="020B0604030504040204" pitchFamily="50" charset="-128"/>
            </a:endParaRPr>
          </a:p>
        </p:txBody>
      </p:sp>
      <p:sp>
        <p:nvSpPr>
          <p:cNvPr id="9" name="Shape 37">
            <a:extLst>
              <a:ext uri="{FF2B5EF4-FFF2-40B4-BE49-F238E27FC236}">
                <a16:creationId xmlns:a16="http://schemas.microsoft.com/office/drawing/2014/main" id="{5F39079C-5F31-C56D-AD14-1DC3C7AEDE30}"/>
              </a:ext>
            </a:extLst>
          </p:cNvPr>
          <p:cNvSpPr/>
          <p:nvPr/>
        </p:nvSpPr>
        <p:spPr>
          <a:xfrm>
            <a:off x="1060947" y="3244070"/>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11" name="Text 38">
            <a:extLst>
              <a:ext uri="{FF2B5EF4-FFF2-40B4-BE49-F238E27FC236}">
                <a16:creationId xmlns:a16="http://schemas.microsoft.com/office/drawing/2014/main" id="{9FE95EAB-22DB-4E55-885E-2DC8280EB9CD}"/>
              </a:ext>
            </a:extLst>
          </p:cNvPr>
          <p:cNvSpPr/>
          <p:nvPr/>
        </p:nvSpPr>
        <p:spPr>
          <a:xfrm>
            <a:off x="1060947" y="3217623"/>
            <a:ext cx="859536" cy="201168"/>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離脱防止</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13" name="Shape 55">
            <a:extLst>
              <a:ext uri="{FF2B5EF4-FFF2-40B4-BE49-F238E27FC236}">
                <a16:creationId xmlns:a16="http://schemas.microsoft.com/office/drawing/2014/main" id="{356ADFC3-885B-BB77-EA21-6C4F3B80B276}"/>
              </a:ext>
            </a:extLst>
          </p:cNvPr>
          <p:cNvSpPr/>
          <p:nvPr/>
        </p:nvSpPr>
        <p:spPr>
          <a:xfrm>
            <a:off x="1060947" y="4792094"/>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19" name="Text 92">
            <a:extLst>
              <a:ext uri="{FF2B5EF4-FFF2-40B4-BE49-F238E27FC236}">
                <a16:creationId xmlns:a16="http://schemas.microsoft.com/office/drawing/2014/main" id="{859EC5EC-52A5-A121-F295-214BCB4D4C62}"/>
              </a:ext>
            </a:extLst>
          </p:cNvPr>
          <p:cNvSpPr/>
          <p:nvPr/>
        </p:nvSpPr>
        <p:spPr>
          <a:xfrm>
            <a:off x="5514089" y="3245261"/>
            <a:ext cx="899146" cy="214480"/>
          </a:xfrm>
          <a:prstGeom prst="rect">
            <a:avLst/>
          </a:prstGeom>
          <a:noFill/>
          <a:ln/>
        </p:spPr>
        <p:txBody>
          <a:bodyPr wrap="square" lIns="0" tIns="0" rIns="0" bIns="0" rtlCol="0" anchor="ctr"/>
          <a:lstStyle/>
          <a:p>
            <a:pPr marL="0" indent="0" algn="ctr">
              <a:buNone/>
            </a:pPr>
            <a:endParaRPr lang="en-US" sz="500" dirty="0">
              <a:latin typeface="メイリオ" panose="020B0604030504040204" pitchFamily="50" charset="-128"/>
              <a:ea typeface="メイリオ" panose="020B0604030504040204" pitchFamily="50" charset="-128"/>
            </a:endParaRPr>
          </a:p>
        </p:txBody>
      </p:sp>
      <p:sp>
        <p:nvSpPr>
          <p:cNvPr id="21" name="Shape 109">
            <a:extLst>
              <a:ext uri="{FF2B5EF4-FFF2-40B4-BE49-F238E27FC236}">
                <a16:creationId xmlns:a16="http://schemas.microsoft.com/office/drawing/2014/main" id="{911D55AD-ECC0-DC10-3F42-35787A02D284}"/>
              </a:ext>
            </a:extLst>
          </p:cNvPr>
          <p:cNvSpPr/>
          <p:nvPr/>
        </p:nvSpPr>
        <p:spPr>
          <a:xfrm>
            <a:off x="5514089" y="4721862"/>
            <a:ext cx="901097" cy="306738"/>
          </a:xfrm>
          <a:prstGeom prst="roundRect">
            <a:avLst>
              <a:gd name="adj" fmla="val 18182"/>
            </a:avLst>
          </a:prstGeom>
          <a:solidFill>
            <a:srgbClr val="173559"/>
          </a:solidFill>
          <a:ln w="12700">
            <a:solidFill>
              <a:srgbClr val="D8D8E2"/>
            </a:solidFill>
            <a:prstDash val="solid"/>
          </a:ln>
        </p:spPr>
        <p:txBody>
          <a:bodyPr/>
          <a:lstStyle/>
          <a:p>
            <a:pPr algn="ctr"/>
            <a:r>
              <a:rPr lang="ja-JP" altLang="en-US" sz="800" b="1" dirty="0">
                <a:solidFill>
                  <a:srgbClr val="FDFDFD"/>
                </a:solidFill>
                <a:latin typeface="メイリオ" panose="020B0604030504040204" pitchFamily="50" charset="-128"/>
                <a:ea typeface="メイリオ" panose="020B0604030504040204" pitchFamily="50" charset="-128"/>
              </a:rPr>
              <a:t>サンクス</a:t>
            </a:r>
            <a:endParaRPr lang="en-US" altLang="ja-JP" sz="800" b="1" dirty="0">
              <a:solidFill>
                <a:srgbClr val="FDFDFD"/>
              </a:solidFill>
              <a:latin typeface="メイリオ" panose="020B0604030504040204" pitchFamily="50" charset="-128"/>
              <a:ea typeface="メイリオ" panose="020B0604030504040204" pitchFamily="50" charset="-128"/>
            </a:endParaRPr>
          </a:p>
          <a:p>
            <a:pPr algn="ctr"/>
            <a:r>
              <a:rPr lang="en-US" altLang="ja-JP" sz="800" b="1" dirty="0">
                <a:solidFill>
                  <a:srgbClr val="FDFDFD"/>
                </a:solidFill>
                <a:latin typeface="メイリオ" panose="020B0604030504040204" pitchFamily="50" charset="-128"/>
                <a:ea typeface="メイリオ" panose="020B0604030504040204" pitchFamily="50" charset="-128"/>
              </a:rPr>
              <a:t>LINE</a:t>
            </a:r>
            <a:r>
              <a:rPr lang="ja-JP" altLang="en-US" sz="800" b="1" dirty="0">
                <a:solidFill>
                  <a:srgbClr val="FDFDFD"/>
                </a:solidFill>
                <a:latin typeface="メイリオ" panose="020B0604030504040204" pitchFamily="50" charset="-128"/>
                <a:ea typeface="メイリオ" panose="020B0604030504040204" pitchFamily="50" charset="-128"/>
              </a:rPr>
              <a:t>誘導</a:t>
            </a:r>
          </a:p>
        </p:txBody>
      </p:sp>
      <p:sp>
        <p:nvSpPr>
          <p:cNvPr id="25" name="Text 110">
            <a:extLst>
              <a:ext uri="{FF2B5EF4-FFF2-40B4-BE49-F238E27FC236}">
                <a16:creationId xmlns:a16="http://schemas.microsoft.com/office/drawing/2014/main" id="{E8EED7F4-BAE1-D41E-67C4-68F570C48388}"/>
              </a:ext>
            </a:extLst>
          </p:cNvPr>
          <p:cNvSpPr/>
          <p:nvPr/>
        </p:nvSpPr>
        <p:spPr>
          <a:xfrm>
            <a:off x="5514089" y="3218704"/>
            <a:ext cx="899146" cy="183942"/>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診断コンテンツ</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27" name="Text 110">
            <a:extLst>
              <a:ext uri="{FF2B5EF4-FFF2-40B4-BE49-F238E27FC236}">
                <a16:creationId xmlns:a16="http://schemas.microsoft.com/office/drawing/2014/main" id="{28C48291-9255-498E-EA09-1FE91DCD196F}"/>
              </a:ext>
            </a:extLst>
          </p:cNvPr>
          <p:cNvSpPr/>
          <p:nvPr/>
        </p:nvSpPr>
        <p:spPr>
          <a:xfrm>
            <a:off x="1060947" y="4765128"/>
            <a:ext cx="859536" cy="164776"/>
          </a:xfrm>
          <a:prstGeom prst="rect">
            <a:avLst/>
          </a:prstGeom>
          <a:solidFill>
            <a:schemeClr val="tx2"/>
          </a:solidFill>
          <a:ln/>
        </p:spPr>
        <p:txBody>
          <a:bodyPr wrap="square" lIns="0" tIns="0" rIns="0" bIns="0" rtlCol="0" anchor="ctr"/>
          <a:lstStyle/>
          <a:p>
            <a:pPr marL="0" indent="0" algn="ctr">
              <a:buNone/>
            </a:pPr>
            <a:r>
              <a:rPr lang="en-US" altLang="ja-JP" sz="1000" b="1" dirty="0">
                <a:solidFill>
                  <a:srgbClr val="FDFDFD"/>
                </a:solidFill>
                <a:latin typeface="メイリオ" panose="020B0604030504040204" pitchFamily="50" charset="-128"/>
                <a:ea typeface="メイリオ" panose="020B0604030504040204" pitchFamily="50" charset="-128"/>
                <a:cs typeface="Calibri" pitchFamily="34" charset="-120"/>
              </a:rPr>
              <a:t>LINE</a:t>
            </a:r>
            <a:r>
              <a:rPr lang="ja-JP" altLang="en-US" sz="1000" b="1" dirty="0">
                <a:solidFill>
                  <a:srgbClr val="FDFDFD"/>
                </a:solidFill>
                <a:latin typeface="メイリオ" panose="020B0604030504040204" pitchFamily="50" charset="-128"/>
                <a:ea typeface="メイリオ" panose="020B0604030504040204" pitchFamily="50" charset="-128"/>
                <a:cs typeface="Calibri" pitchFamily="34" charset="-120"/>
              </a:rPr>
              <a:t>広告</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1" name="Text 74">
            <a:extLst>
              <a:ext uri="{FF2B5EF4-FFF2-40B4-BE49-F238E27FC236}">
                <a16:creationId xmlns:a16="http://schemas.microsoft.com/office/drawing/2014/main" id="{A540ADCF-43EA-1930-0DAD-09ED3B6411D9}"/>
              </a:ext>
            </a:extLst>
          </p:cNvPr>
          <p:cNvSpPr/>
          <p:nvPr/>
        </p:nvSpPr>
        <p:spPr>
          <a:xfrm>
            <a:off x="5514089" y="1672216"/>
            <a:ext cx="899146" cy="214480"/>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無料特典</a:t>
            </a:r>
            <a:endParaRPr lang="en-US" sz="700" b="1" dirty="0">
              <a:solidFill>
                <a:srgbClr val="FDFDFD"/>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5619672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780F9E9-3239-4F30-04FA-62A41B30208F}"/>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70640CA-DB77-D06C-8E9B-5D428526E6D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5C5AA372-6333-C3A6-0175-98D1ECE0C2E1}"/>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想定：過去の保有リストに対して、再度</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を促す動線を設計</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（未アクションユーザーの再アクション）</a:t>
            </a:r>
            <a:endPar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247" name="Shape 8">
            <a:extLst>
              <a:ext uri="{FF2B5EF4-FFF2-40B4-BE49-F238E27FC236}">
                <a16:creationId xmlns:a16="http://schemas.microsoft.com/office/drawing/2014/main" id="{0799E4C9-4772-6D53-7617-85D7F0745D89}"/>
              </a:ext>
            </a:extLst>
          </p:cNvPr>
          <p:cNvSpPr/>
          <p:nvPr/>
        </p:nvSpPr>
        <p:spPr>
          <a:xfrm>
            <a:off x="603747" y="129357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9" name="Text 9">
            <a:extLst>
              <a:ext uri="{FF2B5EF4-FFF2-40B4-BE49-F238E27FC236}">
                <a16:creationId xmlns:a16="http://schemas.microsoft.com/office/drawing/2014/main" id="{503999D2-F9B7-AB8E-4554-F51FB54870FC}"/>
              </a:ext>
            </a:extLst>
          </p:cNvPr>
          <p:cNvSpPr/>
          <p:nvPr/>
        </p:nvSpPr>
        <p:spPr>
          <a:xfrm>
            <a:off x="731763"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A　タイミング設計</a:t>
            </a:r>
            <a:endParaRPr lang="en-US" sz="1000" dirty="0">
              <a:latin typeface="メイリオ" panose="020B0604030504040204" pitchFamily="50" charset="-128"/>
              <a:ea typeface="メイリオ" panose="020B0604030504040204" pitchFamily="50" charset="-128"/>
            </a:endParaRPr>
          </a:p>
        </p:txBody>
      </p:sp>
      <p:sp>
        <p:nvSpPr>
          <p:cNvPr id="251" name="Text 10">
            <a:extLst>
              <a:ext uri="{FF2B5EF4-FFF2-40B4-BE49-F238E27FC236}">
                <a16:creationId xmlns:a16="http://schemas.microsoft.com/office/drawing/2014/main" id="{7868CE86-40F0-7280-8274-0AE354E0F621}"/>
              </a:ext>
            </a:extLst>
          </p:cNvPr>
          <p:cNvSpPr/>
          <p:nvPr/>
        </p:nvSpPr>
        <p:spPr>
          <a:xfrm>
            <a:off x="3214016" y="1294892"/>
            <a:ext cx="1669123"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「今動きやすい理由」を作って再接触</a:t>
            </a:r>
            <a:endParaRPr lang="en-US" sz="700" dirty="0">
              <a:latin typeface="メイリオ" panose="020B0604030504040204" pitchFamily="50" charset="-128"/>
              <a:ea typeface="メイリオ" panose="020B0604030504040204" pitchFamily="50" charset="-128"/>
            </a:endParaRPr>
          </a:p>
        </p:txBody>
      </p:sp>
      <p:sp>
        <p:nvSpPr>
          <p:cNvPr id="253" name="Shape 11">
            <a:extLst>
              <a:ext uri="{FF2B5EF4-FFF2-40B4-BE49-F238E27FC236}">
                <a16:creationId xmlns:a16="http://schemas.microsoft.com/office/drawing/2014/main" id="{5A6F33C8-39E2-1FDF-60C3-CAE6BB50B2E0}"/>
              </a:ext>
            </a:extLst>
          </p:cNvPr>
          <p:cNvSpPr/>
          <p:nvPr/>
        </p:nvSpPr>
        <p:spPr>
          <a:xfrm>
            <a:off x="5047731" y="129357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5" name="Text 12">
            <a:extLst>
              <a:ext uri="{FF2B5EF4-FFF2-40B4-BE49-F238E27FC236}">
                <a16:creationId xmlns:a16="http://schemas.microsoft.com/office/drawing/2014/main" id="{E483BA7C-D180-763E-0C14-8368B0CD432E}"/>
              </a:ext>
            </a:extLst>
          </p:cNvPr>
          <p:cNvSpPr/>
          <p:nvPr/>
        </p:nvSpPr>
        <p:spPr>
          <a:xfrm>
            <a:off x="5175747"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B　再接触設計</a:t>
            </a:r>
            <a:endParaRPr lang="en-US" sz="1000" dirty="0">
              <a:latin typeface="メイリオ" panose="020B0604030504040204" pitchFamily="50" charset="-128"/>
              <a:ea typeface="メイリオ" panose="020B0604030504040204" pitchFamily="50" charset="-128"/>
            </a:endParaRPr>
          </a:p>
        </p:txBody>
      </p:sp>
      <p:sp>
        <p:nvSpPr>
          <p:cNvPr id="257" name="Text 13">
            <a:extLst>
              <a:ext uri="{FF2B5EF4-FFF2-40B4-BE49-F238E27FC236}">
                <a16:creationId xmlns:a16="http://schemas.microsoft.com/office/drawing/2014/main" id="{FDF61AEE-BD8E-57C5-25B1-5985C67AE181}"/>
              </a:ext>
            </a:extLst>
          </p:cNvPr>
          <p:cNvSpPr/>
          <p:nvPr/>
        </p:nvSpPr>
        <p:spPr>
          <a:xfrm>
            <a:off x="7658000" y="1294892"/>
            <a:ext cx="1669123" cy="182880"/>
          </a:xfrm>
          <a:prstGeom prst="rect">
            <a:avLst/>
          </a:prstGeom>
          <a:noFill/>
          <a:ln/>
        </p:spPr>
        <p:txBody>
          <a:bodyPr wrap="square" lIns="0" tIns="0" rIns="0" bIns="0" rtlCol="0" anchor="ctr"/>
          <a:lstStyle/>
          <a:p>
            <a:pPr marL="0" indent="0">
              <a:buNone/>
            </a:pPr>
            <a:r>
              <a:rPr lang="ja-JP" altLang="en-US" sz="900" i="1" dirty="0">
                <a:solidFill>
                  <a:srgbClr val="CADCF2"/>
                </a:solidFill>
                <a:latin typeface="メイリオ" panose="020B0604030504040204" pitchFamily="50" charset="-128"/>
                <a:ea typeface="メイリオ" panose="020B0604030504040204" pitchFamily="50" charset="-128"/>
                <a:cs typeface="Calibri" pitchFamily="34" charset="-120"/>
              </a:rPr>
              <a:t>休眠</a:t>
            </a:r>
            <a:r>
              <a:rPr lang="en-US" sz="900" i="1" dirty="0" err="1">
                <a:solidFill>
                  <a:srgbClr val="CADCF2"/>
                </a:solidFill>
                <a:latin typeface="メイリオ" panose="020B0604030504040204" pitchFamily="50" charset="-128"/>
                <a:ea typeface="メイリオ" panose="020B0604030504040204" pitchFamily="50" charset="-128"/>
                <a:cs typeface="Calibri" pitchFamily="34" charset="-120"/>
              </a:rPr>
              <a:t>ユーザーを起こす動線</a:t>
            </a:r>
            <a:endParaRPr lang="en-US" sz="700" dirty="0">
              <a:latin typeface="メイリオ" panose="020B0604030504040204" pitchFamily="50" charset="-128"/>
              <a:ea typeface="メイリオ" panose="020B0604030504040204" pitchFamily="50" charset="-128"/>
            </a:endParaRPr>
          </a:p>
        </p:txBody>
      </p:sp>
      <p:sp>
        <p:nvSpPr>
          <p:cNvPr id="259" name="Shape 15">
            <a:extLst>
              <a:ext uri="{FF2B5EF4-FFF2-40B4-BE49-F238E27FC236}">
                <a16:creationId xmlns:a16="http://schemas.microsoft.com/office/drawing/2014/main" id="{4CD9286D-9F08-88C6-E014-06303CCE918A}"/>
              </a:ext>
            </a:extLst>
          </p:cNvPr>
          <p:cNvSpPr/>
          <p:nvPr/>
        </p:nvSpPr>
        <p:spPr>
          <a:xfrm>
            <a:off x="603747" y="157040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3" name="Shape 17">
            <a:extLst>
              <a:ext uri="{FF2B5EF4-FFF2-40B4-BE49-F238E27FC236}">
                <a16:creationId xmlns:a16="http://schemas.microsoft.com/office/drawing/2014/main" id="{89F06007-1636-DBF8-2A66-6F5D4D265EED}"/>
              </a:ext>
            </a:extLst>
          </p:cNvPr>
          <p:cNvSpPr/>
          <p:nvPr/>
        </p:nvSpPr>
        <p:spPr>
          <a:xfrm>
            <a:off x="713475" y="166184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5" name="Text 18">
            <a:extLst>
              <a:ext uri="{FF2B5EF4-FFF2-40B4-BE49-F238E27FC236}">
                <a16:creationId xmlns:a16="http://schemas.microsoft.com/office/drawing/2014/main" id="{38635304-800A-B1D2-8097-4F4856E2C577}"/>
              </a:ext>
            </a:extLst>
          </p:cNvPr>
          <p:cNvSpPr/>
          <p:nvPr/>
        </p:nvSpPr>
        <p:spPr>
          <a:xfrm>
            <a:off x="713475" y="167504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7" name="Shape 19">
            <a:extLst>
              <a:ext uri="{FF2B5EF4-FFF2-40B4-BE49-F238E27FC236}">
                <a16:creationId xmlns:a16="http://schemas.microsoft.com/office/drawing/2014/main" id="{4D46F564-C151-62CF-8B30-E68A1621865C}"/>
              </a:ext>
            </a:extLst>
          </p:cNvPr>
          <p:cNvSpPr/>
          <p:nvPr/>
        </p:nvSpPr>
        <p:spPr>
          <a:xfrm>
            <a:off x="1060947" y="1689281"/>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269" name="Text 20">
            <a:extLst>
              <a:ext uri="{FF2B5EF4-FFF2-40B4-BE49-F238E27FC236}">
                <a16:creationId xmlns:a16="http://schemas.microsoft.com/office/drawing/2014/main" id="{D9E0431F-47A8-8AC8-E983-9F1E51409534}"/>
              </a:ext>
            </a:extLst>
          </p:cNvPr>
          <p:cNvSpPr/>
          <p:nvPr/>
        </p:nvSpPr>
        <p:spPr>
          <a:xfrm>
            <a:off x="1060947" y="1675046"/>
            <a:ext cx="859536" cy="201168"/>
          </a:xfrm>
          <a:prstGeom prst="rect">
            <a:avLst/>
          </a:prstGeom>
          <a:noFill/>
          <a:ln/>
        </p:spPr>
        <p:txBody>
          <a:bodyPr wrap="square" lIns="0" tIns="0" rIns="0" bIns="0" rtlCol="0" anchor="ctr"/>
          <a:lstStyle/>
          <a:p>
            <a:pPr algn="ctr"/>
            <a:r>
              <a:rPr lang="en-US" altLang="ja-JP" sz="1100" b="1" dirty="0" err="1">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altLang="ja-JP" sz="700" dirty="0">
              <a:solidFill>
                <a:srgbClr val="FDFDFD"/>
              </a:solidFill>
              <a:latin typeface="メイリオ" panose="020B0604030504040204" pitchFamily="50" charset="-128"/>
              <a:ea typeface="メイリオ" panose="020B0604030504040204" pitchFamily="50" charset="-128"/>
            </a:endParaRPr>
          </a:p>
        </p:txBody>
      </p:sp>
      <p:sp>
        <p:nvSpPr>
          <p:cNvPr id="271" name="Text 21">
            <a:extLst>
              <a:ext uri="{FF2B5EF4-FFF2-40B4-BE49-F238E27FC236}">
                <a16:creationId xmlns:a16="http://schemas.microsoft.com/office/drawing/2014/main" id="{0A469BFD-45E9-8234-0B4E-FCBD032981EA}"/>
              </a:ext>
            </a:extLst>
          </p:cNvPr>
          <p:cNvSpPr/>
          <p:nvPr/>
        </p:nvSpPr>
        <p:spPr>
          <a:xfrm>
            <a:off x="1975347" y="167504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通知メッセで保有リストを一括再接触</a:t>
            </a:r>
            <a:endParaRPr lang="en-US" sz="1000" dirty="0">
              <a:latin typeface="メイリオ" panose="020B0604030504040204" pitchFamily="50" charset="-128"/>
              <a:ea typeface="メイリオ" panose="020B0604030504040204" pitchFamily="50" charset="-128"/>
            </a:endParaRPr>
          </a:p>
        </p:txBody>
      </p:sp>
      <p:sp>
        <p:nvSpPr>
          <p:cNvPr id="273" name="Text 22">
            <a:extLst>
              <a:ext uri="{FF2B5EF4-FFF2-40B4-BE49-F238E27FC236}">
                <a16:creationId xmlns:a16="http://schemas.microsoft.com/office/drawing/2014/main" id="{EFC13B7C-7CC2-B883-A014-EB9039ADFA69}"/>
              </a:ext>
            </a:extLst>
          </p:cNvPr>
          <p:cNvSpPr/>
          <p:nvPr/>
        </p:nvSpPr>
        <p:spPr>
          <a:xfrm>
            <a:off x="713475"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メルマガ・テレマの既存リストにLINE移行キャンペーンを配信。「LINE登録でXXXプレゼント」などの特典で現役のLINEリストに転換し、再ナーチャリングを開始する。</a:t>
            </a:r>
            <a:endParaRPr lang="en-US" sz="600" dirty="0">
              <a:latin typeface="メイリオ" panose="020B0604030504040204" pitchFamily="50" charset="-128"/>
              <a:ea typeface="メイリオ" panose="020B0604030504040204" pitchFamily="50" charset="-128"/>
            </a:endParaRPr>
          </a:p>
        </p:txBody>
      </p:sp>
      <p:sp>
        <p:nvSpPr>
          <p:cNvPr id="275" name="Shape 23">
            <a:extLst>
              <a:ext uri="{FF2B5EF4-FFF2-40B4-BE49-F238E27FC236}">
                <a16:creationId xmlns:a16="http://schemas.microsoft.com/office/drawing/2014/main" id="{08872876-56FF-B053-724C-EA829FBD2859}"/>
              </a:ext>
            </a:extLst>
          </p:cNvPr>
          <p:cNvSpPr/>
          <p:nvPr/>
        </p:nvSpPr>
        <p:spPr>
          <a:xfrm>
            <a:off x="695187"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7" name="Text 24">
            <a:extLst>
              <a:ext uri="{FF2B5EF4-FFF2-40B4-BE49-F238E27FC236}">
                <a16:creationId xmlns:a16="http://schemas.microsoft.com/office/drawing/2014/main" id="{AD668F19-8AF9-40E5-B252-5466AAC211D4}"/>
              </a:ext>
            </a:extLst>
          </p:cNvPr>
          <p:cNvSpPr/>
          <p:nvPr/>
        </p:nvSpPr>
        <p:spPr>
          <a:xfrm>
            <a:off x="695187"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既存リスト</a:t>
            </a:r>
            <a:endParaRPr lang="en-US" sz="700" dirty="0">
              <a:latin typeface="メイリオ" panose="020B0604030504040204" pitchFamily="50" charset="-128"/>
              <a:ea typeface="メイリオ" panose="020B0604030504040204" pitchFamily="50" charset="-128"/>
            </a:endParaRPr>
          </a:p>
        </p:txBody>
      </p:sp>
      <p:sp>
        <p:nvSpPr>
          <p:cNvPr id="279" name="Shape 25">
            <a:extLst>
              <a:ext uri="{FF2B5EF4-FFF2-40B4-BE49-F238E27FC236}">
                <a16:creationId xmlns:a16="http://schemas.microsoft.com/office/drawing/2014/main" id="{53FD5EF2-15D7-6676-A293-790E6A49DF58}"/>
              </a:ext>
            </a:extLst>
          </p:cNvPr>
          <p:cNvSpPr/>
          <p:nvPr/>
        </p:nvSpPr>
        <p:spPr>
          <a:xfrm>
            <a:off x="1969251"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1" name="Text 26">
            <a:extLst>
              <a:ext uri="{FF2B5EF4-FFF2-40B4-BE49-F238E27FC236}">
                <a16:creationId xmlns:a16="http://schemas.microsoft.com/office/drawing/2014/main" id="{F355D7F8-8131-3548-836D-B163B9DE9373}"/>
              </a:ext>
            </a:extLst>
          </p:cNvPr>
          <p:cNvSpPr/>
          <p:nvPr/>
        </p:nvSpPr>
        <p:spPr>
          <a:xfrm>
            <a:off x="1969251"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3" name="Shape 27">
            <a:extLst>
              <a:ext uri="{FF2B5EF4-FFF2-40B4-BE49-F238E27FC236}">
                <a16:creationId xmlns:a16="http://schemas.microsoft.com/office/drawing/2014/main" id="{29B4E427-F660-12E7-1167-8F6AE81B2CFA}"/>
              </a:ext>
            </a:extLst>
          </p:cNvPr>
          <p:cNvSpPr/>
          <p:nvPr/>
        </p:nvSpPr>
        <p:spPr>
          <a:xfrm>
            <a:off x="2060691"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5" name="Text 28">
            <a:extLst>
              <a:ext uri="{FF2B5EF4-FFF2-40B4-BE49-F238E27FC236}">
                <a16:creationId xmlns:a16="http://schemas.microsoft.com/office/drawing/2014/main" id="{D066DD46-5262-0D07-EB4C-1D98EB173D07}"/>
              </a:ext>
            </a:extLst>
          </p:cNvPr>
          <p:cNvSpPr/>
          <p:nvPr/>
        </p:nvSpPr>
        <p:spPr>
          <a:xfrm>
            <a:off x="206069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LINE移行配信</a:t>
            </a:r>
            <a:endParaRPr lang="en-US" sz="600" dirty="0">
              <a:latin typeface="メイリオ" panose="020B0604030504040204" pitchFamily="50" charset="-128"/>
              <a:ea typeface="メイリオ" panose="020B0604030504040204" pitchFamily="50" charset="-128"/>
            </a:endParaRPr>
          </a:p>
        </p:txBody>
      </p:sp>
      <p:sp>
        <p:nvSpPr>
          <p:cNvPr id="287" name="Shape 29">
            <a:extLst>
              <a:ext uri="{FF2B5EF4-FFF2-40B4-BE49-F238E27FC236}">
                <a16:creationId xmlns:a16="http://schemas.microsoft.com/office/drawing/2014/main" id="{FD6D25F1-7F51-6F80-08D2-5C57CC0EE5FD}"/>
              </a:ext>
            </a:extLst>
          </p:cNvPr>
          <p:cNvSpPr/>
          <p:nvPr/>
        </p:nvSpPr>
        <p:spPr>
          <a:xfrm>
            <a:off x="333475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9" name="Text 30">
            <a:extLst>
              <a:ext uri="{FF2B5EF4-FFF2-40B4-BE49-F238E27FC236}">
                <a16:creationId xmlns:a16="http://schemas.microsoft.com/office/drawing/2014/main" id="{445D1811-574B-7D5D-C8F7-69A8E5E9C21D}"/>
              </a:ext>
            </a:extLst>
          </p:cNvPr>
          <p:cNvSpPr/>
          <p:nvPr/>
        </p:nvSpPr>
        <p:spPr>
          <a:xfrm>
            <a:off x="333475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91" name="Shape 31">
            <a:extLst>
              <a:ext uri="{FF2B5EF4-FFF2-40B4-BE49-F238E27FC236}">
                <a16:creationId xmlns:a16="http://schemas.microsoft.com/office/drawing/2014/main" id="{3ECC5DD0-1593-14F4-CE83-E996526D1F30}"/>
              </a:ext>
            </a:extLst>
          </p:cNvPr>
          <p:cNvSpPr/>
          <p:nvPr/>
        </p:nvSpPr>
        <p:spPr>
          <a:xfrm>
            <a:off x="342619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再ナーチャ開始</a:t>
            </a:r>
            <a:endParaRPr lang="en-US" altLang="ja-JP" sz="700" dirty="0">
              <a:latin typeface="メイリオ" panose="020B0604030504040204" pitchFamily="50" charset="-128"/>
              <a:ea typeface="メイリオ" panose="020B0604030504040204" pitchFamily="50" charset="-128"/>
            </a:endParaRPr>
          </a:p>
        </p:txBody>
      </p:sp>
      <p:sp>
        <p:nvSpPr>
          <p:cNvPr id="295" name="Shape 33">
            <a:extLst>
              <a:ext uri="{FF2B5EF4-FFF2-40B4-BE49-F238E27FC236}">
                <a16:creationId xmlns:a16="http://schemas.microsoft.com/office/drawing/2014/main" id="{82289F46-2DD5-5C3A-3C48-00C24CA11CB0}"/>
              </a:ext>
            </a:extLst>
          </p:cNvPr>
          <p:cNvSpPr/>
          <p:nvPr/>
        </p:nvSpPr>
        <p:spPr>
          <a:xfrm>
            <a:off x="603747" y="311703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9" name="Shape 35">
            <a:extLst>
              <a:ext uri="{FF2B5EF4-FFF2-40B4-BE49-F238E27FC236}">
                <a16:creationId xmlns:a16="http://schemas.microsoft.com/office/drawing/2014/main" id="{24455EB4-1D48-DB00-C3B3-680CAE5E3D80}"/>
              </a:ext>
            </a:extLst>
          </p:cNvPr>
          <p:cNvSpPr/>
          <p:nvPr/>
        </p:nvSpPr>
        <p:spPr>
          <a:xfrm>
            <a:off x="713475" y="320847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01" name="Text 36">
            <a:extLst>
              <a:ext uri="{FF2B5EF4-FFF2-40B4-BE49-F238E27FC236}">
                <a16:creationId xmlns:a16="http://schemas.microsoft.com/office/drawing/2014/main" id="{CB2D1291-F43D-C666-8910-F82EACBD2188}"/>
              </a:ext>
            </a:extLst>
          </p:cNvPr>
          <p:cNvSpPr/>
          <p:nvPr/>
        </p:nvSpPr>
        <p:spPr>
          <a:xfrm>
            <a:off x="713475"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3" name="Shape 37">
            <a:extLst>
              <a:ext uri="{FF2B5EF4-FFF2-40B4-BE49-F238E27FC236}">
                <a16:creationId xmlns:a16="http://schemas.microsoft.com/office/drawing/2014/main" id="{1F29E0C9-C40D-4D78-5118-4ECCEB313DBE}"/>
              </a:ext>
            </a:extLst>
          </p:cNvPr>
          <p:cNvSpPr/>
          <p:nvPr/>
        </p:nvSpPr>
        <p:spPr>
          <a:xfrm>
            <a:off x="1060947" y="3235911"/>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05" name="Text 38">
            <a:extLst>
              <a:ext uri="{FF2B5EF4-FFF2-40B4-BE49-F238E27FC236}">
                <a16:creationId xmlns:a16="http://schemas.microsoft.com/office/drawing/2014/main" id="{1FD30953-D12F-98F2-00A8-937392AB3DC2}"/>
              </a:ext>
            </a:extLst>
          </p:cNvPr>
          <p:cNvSpPr/>
          <p:nvPr/>
        </p:nvSpPr>
        <p:spPr>
          <a:xfrm>
            <a:off x="1060947" y="3217623"/>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モーメント活用</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7" name="Text 39">
            <a:extLst>
              <a:ext uri="{FF2B5EF4-FFF2-40B4-BE49-F238E27FC236}">
                <a16:creationId xmlns:a16="http://schemas.microsoft.com/office/drawing/2014/main" id="{6A195358-D025-E7FE-2931-51A26C3E1674}"/>
              </a:ext>
            </a:extLst>
          </p:cNvPr>
          <p:cNvSpPr/>
          <p:nvPr/>
        </p:nvSpPr>
        <p:spPr>
          <a:xfrm>
            <a:off x="1975347" y="3217623"/>
            <a:ext cx="2907792"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季節・業界イベントに合わせた限定配信でCV喚起</a:t>
            </a:r>
            <a:endParaRPr lang="en-US" sz="1000" dirty="0">
              <a:latin typeface="メイリオ" panose="020B0604030504040204" pitchFamily="50" charset="-128"/>
              <a:ea typeface="メイリオ" panose="020B0604030504040204" pitchFamily="50" charset="-128"/>
            </a:endParaRPr>
          </a:p>
        </p:txBody>
      </p:sp>
      <p:sp>
        <p:nvSpPr>
          <p:cNvPr id="309" name="Text 40">
            <a:extLst>
              <a:ext uri="{FF2B5EF4-FFF2-40B4-BE49-F238E27FC236}">
                <a16:creationId xmlns:a16="http://schemas.microsoft.com/office/drawing/2014/main" id="{E5DC2BC8-3C7E-A26E-2F0A-55D95A140AE0}"/>
              </a:ext>
            </a:extLst>
          </p:cNvPr>
          <p:cNvSpPr/>
          <p:nvPr/>
        </p:nvSpPr>
        <p:spPr>
          <a:xfrm>
            <a:off x="713475"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「年末特別キャンペーン」「繁忙期前のご案内」など、ユーザーが動きやすいタイミングに合わせて配信。「今だから」という理由付けが未アクション層の行動を促す。</a:t>
            </a:r>
            <a:endParaRPr lang="en-US" sz="600" dirty="0">
              <a:latin typeface="メイリオ" panose="020B0604030504040204" pitchFamily="50" charset="-128"/>
              <a:ea typeface="メイリオ" panose="020B0604030504040204" pitchFamily="50" charset="-128"/>
            </a:endParaRPr>
          </a:p>
        </p:txBody>
      </p:sp>
      <p:sp>
        <p:nvSpPr>
          <p:cNvPr id="311" name="Shape 41">
            <a:extLst>
              <a:ext uri="{FF2B5EF4-FFF2-40B4-BE49-F238E27FC236}">
                <a16:creationId xmlns:a16="http://schemas.microsoft.com/office/drawing/2014/main" id="{0070C0BA-3D13-97EE-26A8-CE149AA4A04E}"/>
              </a:ext>
            </a:extLst>
          </p:cNvPr>
          <p:cNvSpPr/>
          <p:nvPr/>
        </p:nvSpPr>
        <p:spPr>
          <a:xfrm>
            <a:off x="695187"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3" name="Text 42">
            <a:extLst>
              <a:ext uri="{FF2B5EF4-FFF2-40B4-BE49-F238E27FC236}">
                <a16:creationId xmlns:a16="http://schemas.microsoft.com/office/drawing/2014/main" id="{768D77C7-92A2-948E-DE3D-509594621085}"/>
              </a:ext>
            </a:extLst>
          </p:cNvPr>
          <p:cNvSpPr/>
          <p:nvPr/>
        </p:nvSpPr>
        <p:spPr>
          <a:xfrm>
            <a:off x="69518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イベント前3週</a:t>
            </a:r>
            <a:endParaRPr lang="en-US" sz="700" dirty="0">
              <a:latin typeface="メイリオ" panose="020B0604030504040204" pitchFamily="50" charset="-128"/>
              <a:ea typeface="メイリオ" panose="020B0604030504040204" pitchFamily="50" charset="-128"/>
            </a:endParaRPr>
          </a:p>
        </p:txBody>
      </p:sp>
      <p:sp>
        <p:nvSpPr>
          <p:cNvPr id="315" name="Shape 43">
            <a:extLst>
              <a:ext uri="{FF2B5EF4-FFF2-40B4-BE49-F238E27FC236}">
                <a16:creationId xmlns:a16="http://schemas.microsoft.com/office/drawing/2014/main" id="{8F66DE4C-D7A8-1BDB-39CF-66DEBA652EAD}"/>
              </a:ext>
            </a:extLst>
          </p:cNvPr>
          <p:cNvSpPr/>
          <p:nvPr/>
        </p:nvSpPr>
        <p:spPr>
          <a:xfrm>
            <a:off x="1969251"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7" name="Text 44">
            <a:extLst>
              <a:ext uri="{FF2B5EF4-FFF2-40B4-BE49-F238E27FC236}">
                <a16:creationId xmlns:a16="http://schemas.microsoft.com/office/drawing/2014/main" id="{2305B67B-4CE8-2127-6CE4-351EB11A2BDC}"/>
              </a:ext>
            </a:extLst>
          </p:cNvPr>
          <p:cNvSpPr/>
          <p:nvPr/>
        </p:nvSpPr>
        <p:spPr>
          <a:xfrm>
            <a:off x="1969251"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9" name="Shape 45">
            <a:extLst>
              <a:ext uri="{FF2B5EF4-FFF2-40B4-BE49-F238E27FC236}">
                <a16:creationId xmlns:a16="http://schemas.microsoft.com/office/drawing/2014/main" id="{28045CD1-3B2D-EC7B-E972-FDF6398513D4}"/>
              </a:ext>
            </a:extLst>
          </p:cNvPr>
          <p:cNvSpPr/>
          <p:nvPr/>
        </p:nvSpPr>
        <p:spPr>
          <a:xfrm>
            <a:off x="2060691"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100" b="1">
                <a:solidFill>
                  <a:srgbClr val="FFFFFF"/>
                </a:solidFill>
                <a:latin typeface="メイリオ" panose="020B0604030504040204" pitchFamily="50" charset="-128"/>
                <a:ea typeface="メイリオ" panose="020B0604030504040204" pitchFamily="50" charset="-128"/>
                <a:cs typeface="Calibri" pitchFamily="34" charset="-120"/>
              </a:rPr>
              <a:t>限定オファー配信</a:t>
            </a:r>
            <a:endParaRPr lang="en-US" altLang="ja-JP" sz="700" dirty="0">
              <a:latin typeface="メイリオ" panose="020B0604030504040204" pitchFamily="50" charset="-128"/>
              <a:ea typeface="メイリオ" panose="020B0604030504040204" pitchFamily="50" charset="-128"/>
            </a:endParaRPr>
          </a:p>
        </p:txBody>
      </p:sp>
      <p:sp>
        <p:nvSpPr>
          <p:cNvPr id="323" name="Shape 47">
            <a:extLst>
              <a:ext uri="{FF2B5EF4-FFF2-40B4-BE49-F238E27FC236}">
                <a16:creationId xmlns:a16="http://schemas.microsoft.com/office/drawing/2014/main" id="{91BB8E57-FE8E-A082-C6EE-88B56532C6FC}"/>
              </a:ext>
            </a:extLst>
          </p:cNvPr>
          <p:cNvSpPr/>
          <p:nvPr/>
        </p:nvSpPr>
        <p:spPr>
          <a:xfrm>
            <a:off x="333475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5" name="Text 48">
            <a:extLst>
              <a:ext uri="{FF2B5EF4-FFF2-40B4-BE49-F238E27FC236}">
                <a16:creationId xmlns:a16="http://schemas.microsoft.com/office/drawing/2014/main" id="{56A5766B-A3BD-2EE9-DB90-A95ABA8474AA}"/>
              </a:ext>
            </a:extLst>
          </p:cNvPr>
          <p:cNvSpPr/>
          <p:nvPr/>
        </p:nvSpPr>
        <p:spPr>
          <a:xfrm>
            <a:off x="333475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7" name="Shape 49">
            <a:extLst>
              <a:ext uri="{FF2B5EF4-FFF2-40B4-BE49-F238E27FC236}">
                <a16:creationId xmlns:a16="http://schemas.microsoft.com/office/drawing/2014/main" id="{D9B75229-E701-C66D-A2EB-914F33FC7A38}"/>
              </a:ext>
            </a:extLst>
          </p:cNvPr>
          <p:cNvSpPr/>
          <p:nvPr/>
        </p:nvSpPr>
        <p:spPr>
          <a:xfrm>
            <a:off x="3426195"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CV獲得</a:t>
            </a:r>
            <a:endParaRPr lang="en-US" altLang="ja-JP" sz="700" dirty="0">
              <a:latin typeface="メイリオ" panose="020B0604030504040204" pitchFamily="50" charset="-128"/>
              <a:ea typeface="メイリオ" panose="020B0604030504040204" pitchFamily="50" charset="-128"/>
            </a:endParaRPr>
          </a:p>
        </p:txBody>
      </p:sp>
      <p:sp>
        <p:nvSpPr>
          <p:cNvPr id="331" name="Shape 51">
            <a:extLst>
              <a:ext uri="{FF2B5EF4-FFF2-40B4-BE49-F238E27FC236}">
                <a16:creationId xmlns:a16="http://schemas.microsoft.com/office/drawing/2014/main" id="{22A4D85B-1CBD-0995-DA90-60C14D83ECE6}"/>
              </a:ext>
            </a:extLst>
          </p:cNvPr>
          <p:cNvSpPr/>
          <p:nvPr/>
        </p:nvSpPr>
        <p:spPr>
          <a:xfrm>
            <a:off x="603747" y="466523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5" name="Shape 53">
            <a:extLst>
              <a:ext uri="{FF2B5EF4-FFF2-40B4-BE49-F238E27FC236}">
                <a16:creationId xmlns:a16="http://schemas.microsoft.com/office/drawing/2014/main" id="{0EFDA52C-6BD8-EC2C-8042-989867BEE007}"/>
              </a:ext>
            </a:extLst>
          </p:cNvPr>
          <p:cNvSpPr/>
          <p:nvPr/>
        </p:nvSpPr>
        <p:spPr>
          <a:xfrm>
            <a:off x="713475" y="475667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7" name="Text 54">
            <a:extLst>
              <a:ext uri="{FF2B5EF4-FFF2-40B4-BE49-F238E27FC236}">
                <a16:creationId xmlns:a16="http://schemas.microsoft.com/office/drawing/2014/main" id="{1A38F7F4-D85C-3C2E-52E8-1DA18687D157}"/>
              </a:ext>
            </a:extLst>
          </p:cNvPr>
          <p:cNvSpPr/>
          <p:nvPr/>
        </p:nvSpPr>
        <p:spPr>
          <a:xfrm>
            <a:off x="713475" y="4765128"/>
            <a:ext cx="27432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9" name="Shape 55">
            <a:extLst>
              <a:ext uri="{FF2B5EF4-FFF2-40B4-BE49-F238E27FC236}">
                <a16:creationId xmlns:a16="http://schemas.microsoft.com/office/drawing/2014/main" id="{67EE7C45-7156-71ED-275F-D3D0B62D6390}"/>
              </a:ext>
            </a:extLst>
          </p:cNvPr>
          <p:cNvSpPr/>
          <p:nvPr/>
        </p:nvSpPr>
        <p:spPr>
          <a:xfrm>
            <a:off x="1060947" y="4729244"/>
            <a:ext cx="859536" cy="256032"/>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再スクリーニング</a:t>
            </a:r>
          </a:p>
        </p:txBody>
      </p:sp>
      <p:sp>
        <p:nvSpPr>
          <p:cNvPr id="343" name="Text 57">
            <a:extLst>
              <a:ext uri="{FF2B5EF4-FFF2-40B4-BE49-F238E27FC236}">
                <a16:creationId xmlns:a16="http://schemas.microsoft.com/office/drawing/2014/main" id="{3D038977-48FB-088C-1A4C-879420FF6CE5}"/>
              </a:ext>
            </a:extLst>
          </p:cNvPr>
          <p:cNvSpPr/>
          <p:nvPr/>
        </p:nvSpPr>
        <p:spPr>
          <a:xfrm>
            <a:off x="1975347" y="4765128"/>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現在の状況確認アンケートで温度感を再把握</a:t>
            </a:r>
            <a:endParaRPr lang="en-US" sz="1000" dirty="0">
              <a:latin typeface="メイリオ" panose="020B0604030504040204" pitchFamily="50" charset="-128"/>
              <a:ea typeface="メイリオ" panose="020B0604030504040204" pitchFamily="50" charset="-128"/>
            </a:endParaRPr>
          </a:p>
        </p:txBody>
      </p:sp>
      <p:sp>
        <p:nvSpPr>
          <p:cNvPr id="345" name="Text 58">
            <a:extLst>
              <a:ext uri="{FF2B5EF4-FFF2-40B4-BE49-F238E27FC236}">
                <a16:creationId xmlns:a16="http://schemas.microsoft.com/office/drawing/2014/main" id="{1DCE3801-724B-70B8-6043-4AE707933047}"/>
              </a:ext>
            </a:extLst>
          </p:cNvPr>
          <p:cNvSpPr/>
          <p:nvPr/>
        </p:nvSpPr>
        <p:spPr>
          <a:xfrm>
            <a:off x="713475"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「現在の状況を教えてください（3問）」を配信。「検討中」「他社比較中」「まだ先」に応じてシナリオを分岐させ、各層に最適なコンテンツを配信する。</a:t>
            </a:r>
            <a:endParaRPr lang="en-US" sz="600" dirty="0">
              <a:latin typeface="メイリオ" panose="020B0604030504040204" pitchFamily="50" charset="-128"/>
              <a:ea typeface="メイリオ" panose="020B0604030504040204" pitchFamily="50" charset="-128"/>
            </a:endParaRPr>
          </a:p>
        </p:txBody>
      </p:sp>
      <p:sp>
        <p:nvSpPr>
          <p:cNvPr id="347" name="Shape 59">
            <a:extLst>
              <a:ext uri="{FF2B5EF4-FFF2-40B4-BE49-F238E27FC236}">
                <a16:creationId xmlns:a16="http://schemas.microsoft.com/office/drawing/2014/main" id="{153BB988-9655-425D-2D4F-44E89C57F2F5}"/>
              </a:ext>
            </a:extLst>
          </p:cNvPr>
          <p:cNvSpPr/>
          <p:nvPr/>
        </p:nvSpPr>
        <p:spPr>
          <a:xfrm>
            <a:off x="695187"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49" name="Text 60">
            <a:extLst>
              <a:ext uri="{FF2B5EF4-FFF2-40B4-BE49-F238E27FC236}">
                <a16:creationId xmlns:a16="http://schemas.microsoft.com/office/drawing/2014/main" id="{CD7CE35E-3AD0-5FAC-435B-4694E9133E17}"/>
              </a:ext>
            </a:extLst>
          </p:cNvPr>
          <p:cNvSpPr/>
          <p:nvPr/>
        </p:nvSpPr>
        <p:spPr>
          <a:xfrm>
            <a:off x="69518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3問配信</a:t>
            </a:r>
            <a:endParaRPr lang="en-US" sz="700" dirty="0">
              <a:latin typeface="メイリオ" panose="020B0604030504040204" pitchFamily="50" charset="-128"/>
              <a:ea typeface="メイリオ" panose="020B0604030504040204" pitchFamily="50" charset="-128"/>
            </a:endParaRPr>
          </a:p>
        </p:txBody>
      </p:sp>
      <p:sp>
        <p:nvSpPr>
          <p:cNvPr id="351" name="Shape 61">
            <a:extLst>
              <a:ext uri="{FF2B5EF4-FFF2-40B4-BE49-F238E27FC236}">
                <a16:creationId xmlns:a16="http://schemas.microsoft.com/office/drawing/2014/main" id="{DFAA349E-29DE-1759-4B7A-492F6D87018D}"/>
              </a:ext>
            </a:extLst>
          </p:cNvPr>
          <p:cNvSpPr/>
          <p:nvPr/>
        </p:nvSpPr>
        <p:spPr>
          <a:xfrm>
            <a:off x="1969251"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3" name="Text 62">
            <a:extLst>
              <a:ext uri="{FF2B5EF4-FFF2-40B4-BE49-F238E27FC236}">
                <a16:creationId xmlns:a16="http://schemas.microsoft.com/office/drawing/2014/main" id="{B5184D6B-2A05-C57D-1F26-E41EB297B5B8}"/>
              </a:ext>
            </a:extLst>
          </p:cNvPr>
          <p:cNvSpPr/>
          <p:nvPr/>
        </p:nvSpPr>
        <p:spPr>
          <a:xfrm>
            <a:off x="1969251"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5" name="Shape 63">
            <a:extLst>
              <a:ext uri="{FF2B5EF4-FFF2-40B4-BE49-F238E27FC236}">
                <a16:creationId xmlns:a16="http://schemas.microsoft.com/office/drawing/2014/main" id="{1D19C5F8-3384-B358-0F6D-32AC93A34F7A}"/>
              </a:ext>
            </a:extLst>
          </p:cNvPr>
          <p:cNvSpPr/>
          <p:nvPr/>
        </p:nvSpPr>
        <p:spPr>
          <a:xfrm>
            <a:off x="2060691"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7" name="Text 64">
            <a:extLst>
              <a:ext uri="{FF2B5EF4-FFF2-40B4-BE49-F238E27FC236}">
                <a16:creationId xmlns:a16="http://schemas.microsoft.com/office/drawing/2014/main" id="{AA99E733-4810-E0D8-954C-794B120B1798}"/>
              </a:ext>
            </a:extLst>
          </p:cNvPr>
          <p:cNvSpPr/>
          <p:nvPr/>
        </p:nvSpPr>
        <p:spPr>
          <a:xfrm>
            <a:off x="206069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状況把握</a:t>
            </a:r>
            <a:endParaRPr lang="en-US" sz="700" dirty="0">
              <a:latin typeface="メイリオ" panose="020B0604030504040204" pitchFamily="50" charset="-128"/>
              <a:ea typeface="メイリオ" panose="020B0604030504040204" pitchFamily="50" charset="-128"/>
            </a:endParaRPr>
          </a:p>
        </p:txBody>
      </p:sp>
      <p:sp>
        <p:nvSpPr>
          <p:cNvPr id="359" name="Shape 65">
            <a:extLst>
              <a:ext uri="{FF2B5EF4-FFF2-40B4-BE49-F238E27FC236}">
                <a16:creationId xmlns:a16="http://schemas.microsoft.com/office/drawing/2014/main" id="{E098D67B-D4FA-1F81-743A-A0EF2B8E894C}"/>
              </a:ext>
            </a:extLst>
          </p:cNvPr>
          <p:cNvSpPr/>
          <p:nvPr/>
        </p:nvSpPr>
        <p:spPr>
          <a:xfrm>
            <a:off x="3334755"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1" name="Text 66">
            <a:extLst>
              <a:ext uri="{FF2B5EF4-FFF2-40B4-BE49-F238E27FC236}">
                <a16:creationId xmlns:a16="http://schemas.microsoft.com/office/drawing/2014/main" id="{3A788ABA-1FAA-0E0C-477B-176A52F30D82}"/>
              </a:ext>
            </a:extLst>
          </p:cNvPr>
          <p:cNvSpPr/>
          <p:nvPr/>
        </p:nvSpPr>
        <p:spPr>
          <a:xfrm>
            <a:off x="3334755"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63" name="Shape 67">
            <a:extLst>
              <a:ext uri="{FF2B5EF4-FFF2-40B4-BE49-F238E27FC236}">
                <a16:creationId xmlns:a16="http://schemas.microsoft.com/office/drawing/2014/main" id="{2C82253D-F8B8-D14C-4626-9B78723DE539}"/>
              </a:ext>
            </a:extLst>
          </p:cNvPr>
          <p:cNvSpPr/>
          <p:nvPr/>
        </p:nvSpPr>
        <p:spPr>
          <a:xfrm>
            <a:off x="3426195"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5" name="Text 68">
            <a:extLst>
              <a:ext uri="{FF2B5EF4-FFF2-40B4-BE49-F238E27FC236}">
                <a16:creationId xmlns:a16="http://schemas.microsoft.com/office/drawing/2014/main" id="{5DD03071-2AEB-1384-0051-084B996E481D}"/>
              </a:ext>
            </a:extLst>
          </p:cNvPr>
          <p:cNvSpPr/>
          <p:nvPr/>
        </p:nvSpPr>
        <p:spPr>
          <a:xfrm>
            <a:off x="342619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シナリオ分岐</a:t>
            </a:r>
            <a:endParaRPr lang="en-US" sz="700" dirty="0">
              <a:latin typeface="メイリオ" panose="020B0604030504040204" pitchFamily="50" charset="-128"/>
              <a:ea typeface="メイリオ" panose="020B0604030504040204" pitchFamily="50" charset="-128"/>
            </a:endParaRPr>
          </a:p>
        </p:txBody>
      </p:sp>
      <p:sp>
        <p:nvSpPr>
          <p:cNvPr id="367" name="Shape 69">
            <a:extLst>
              <a:ext uri="{FF2B5EF4-FFF2-40B4-BE49-F238E27FC236}">
                <a16:creationId xmlns:a16="http://schemas.microsoft.com/office/drawing/2014/main" id="{F329F47A-44ED-4B04-F04D-56BC913CF99F}"/>
              </a:ext>
            </a:extLst>
          </p:cNvPr>
          <p:cNvSpPr/>
          <p:nvPr/>
        </p:nvSpPr>
        <p:spPr>
          <a:xfrm>
            <a:off x="5047731" y="157163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1" name="Shape 71">
            <a:extLst>
              <a:ext uri="{FF2B5EF4-FFF2-40B4-BE49-F238E27FC236}">
                <a16:creationId xmlns:a16="http://schemas.microsoft.com/office/drawing/2014/main" id="{BA1D3F46-451A-2E85-599A-900433C193B8}"/>
              </a:ext>
            </a:extLst>
          </p:cNvPr>
          <p:cNvSpPr/>
          <p:nvPr/>
        </p:nvSpPr>
        <p:spPr>
          <a:xfrm>
            <a:off x="5157459" y="166307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3" name="Text 72">
            <a:extLst>
              <a:ext uri="{FF2B5EF4-FFF2-40B4-BE49-F238E27FC236}">
                <a16:creationId xmlns:a16="http://schemas.microsoft.com/office/drawing/2014/main" id="{8BCF6B4A-374A-B6D9-3EF4-5AE1A778DE73}"/>
              </a:ext>
            </a:extLst>
          </p:cNvPr>
          <p:cNvSpPr/>
          <p:nvPr/>
        </p:nvSpPr>
        <p:spPr>
          <a:xfrm>
            <a:off x="5157459"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5" name="Shape 73">
            <a:extLst>
              <a:ext uri="{FF2B5EF4-FFF2-40B4-BE49-F238E27FC236}">
                <a16:creationId xmlns:a16="http://schemas.microsoft.com/office/drawing/2014/main" id="{9F918316-F2DF-A22A-C6CB-01F22910720D}"/>
              </a:ext>
            </a:extLst>
          </p:cNvPr>
          <p:cNvSpPr/>
          <p:nvPr/>
        </p:nvSpPr>
        <p:spPr>
          <a:xfrm>
            <a:off x="5504931" y="1690504"/>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7" name="Text 74">
            <a:extLst>
              <a:ext uri="{FF2B5EF4-FFF2-40B4-BE49-F238E27FC236}">
                <a16:creationId xmlns:a16="http://schemas.microsoft.com/office/drawing/2014/main" id="{1C57608E-D0D9-DD5B-8ED8-37BB302AB673}"/>
              </a:ext>
            </a:extLst>
          </p:cNvPr>
          <p:cNvSpPr/>
          <p:nvPr/>
        </p:nvSpPr>
        <p:spPr>
          <a:xfrm>
            <a:off x="5504931" y="1672216"/>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失注リスト</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9" name="Text 75">
            <a:extLst>
              <a:ext uri="{FF2B5EF4-FFF2-40B4-BE49-F238E27FC236}">
                <a16:creationId xmlns:a16="http://schemas.microsoft.com/office/drawing/2014/main" id="{2DAFDF0B-346B-15F4-BEBF-857C67E91ED9}"/>
              </a:ext>
            </a:extLst>
          </p:cNvPr>
          <p:cNvSpPr/>
          <p:nvPr/>
        </p:nvSpPr>
        <p:spPr>
          <a:xfrm>
            <a:off x="6419331" y="1672216"/>
            <a:ext cx="3017520" cy="256032"/>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失注・辞退ユーザーへ「その後</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どう</a:t>
            </a: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ですか</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？」配信</a:t>
            </a:r>
            <a:endParaRPr lang="en-US" sz="1000" dirty="0">
              <a:latin typeface="メイリオ" panose="020B0604030504040204" pitchFamily="50" charset="-128"/>
              <a:ea typeface="メイリオ" panose="020B0604030504040204" pitchFamily="50" charset="-128"/>
            </a:endParaRPr>
          </a:p>
        </p:txBody>
      </p:sp>
      <p:sp>
        <p:nvSpPr>
          <p:cNvPr id="381" name="Text 76">
            <a:extLst>
              <a:ext uri="{FF2B5EF4-FFF2-40B4-BE49-F238E27FC236}">
                <a16:creationId xmlns:a16="http://schemas.microsoft.com/office/drawing/2014/main" id="{0AF5CE2E-2255-A788-F029-07167611F1A8}"/>
              </a:ext>
            </a:extLst>
          </p:cNvPr>
          <p:cNvSpPr/>
          <p:nvPr/>
        </p:nvSpPr>
        <p:spPr>
          <a:xfrm>
            <a:off x="5157459"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過去に問い合わせしたが未申込の層に、3〜6ヶ月後を目安に再接触。「新しいプランができました」「条件が改善されました」という切り口が再CVに有効。</a:t>
            </a:r>
            <a:endParaRPr lang="en-US" sz="600" dirty="0">
              <a:latin typeface="メイリオ" panose="020B0604030504040204" pitchFamily="50" charset="-128"/>
              <a:ea typeface="メイリオ" panose="020B0604030504040204" pitchFamily="50" charset="-128"/>
            </a:endParaRPr>
          </a:p>
        </p:txBody>
      </p:sp>
      <p:sp>
        <p:nvSpPr>
          <p:cNvPr id="383" name="Shape 77">
            <a:extLst>
              <a:ext uri="{FF2B5EF4-FFF2-40B4-BE49-F238E27FC236}">
                <a16:creationId xmlns:a16="http://schemas.microsoft.com/office/drawing/2014/main" id="{4E4B79B4-719F-E82E-34BC-1FDB6969E4DA}"/>
              </a:ext>
            </a:extLst>
          </p:cNvPr>
          <p:cNvSpPr/>
          <p:nvPr/>
        </p:nvSpPr>
        <p:spPr>
          <a:xfrm>
            <a:off x="5139171"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5" name="Text 78">
            <a:extLst>
              <a:ext uri="{FF2B5EF4-FFF2-40B4-BE49-F238E27FC236}">
                <a16:creationId xmlns:a16="http://schemas.microsoft.com/office/drawing/2014/main" id="{5AD0E7CC-7987-CDC0-51C0-C45C57A162F8}"/>
              </a:ext>
            </a:extLst>
          </p:cNvPr>
          <p:cNvSpPr/>
          <p:nvPr/>
        </p:nvSpPr>
        <p:spPr>
          <a:xfrm>
            <a:off x="513917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失注後3〜6ヶ月</a:t>
            </a:r>
            <a:endParaRPr lang="en-US" sz="700" dirty="0">
              <a:latin typeface="メイリオ" panose="020B0604030504040204" pitchFamily="50" charset="-128"/>
              <a:ea typeface="メイリオ" panose="020B0604030504040204" pitchFamily="50" charset="-128"/>
            </a:endParaRPr>
          </a:p>
        </p:txBody>
      </p:sp>
      <p:sp>
        <p:nvSpPr>
          <p:cNvPr id="387" name="Shape 79">
            <a:extLst>
              <a:ext uri="{FF2B5EF4-FFF2-40B4-BE49-F238E27FC236}">
                <a16:creationId xmlns:a16="http://schemas.microsoft.com/office/drawing/2014/main" id="{F0421E50-A8C1-66B8-6E6F-D74D7601A19C}"/>
              </a:ext>
            </a:extLst>
          </p:cNvPr>
          <p:cNvSpPr/>
          <p:nvPr/>
        </p:nvSpPr>
        <p:spPr>
          <a:xfrm>
            <a:off x="641323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9" name="Text 80">
            <a:extLst>
              <a:ext uri="{FF2B5EF4-FFF2-40B4-BE49-F238E27FC236}">
                <a16:creationId xmlns:a16="http://schemas.microsoft.com/office/drawing/2014/main" id="{65A5B5BF-4145-BBC7-EEE4-1712EFD3CF93}"/>
              </a:ext>
            </a:extLst>
          </p:cNvPr>
          <p:cNvSpPr/>
          <p:nvPr/>
        </p:nvSpPr>
        <p:spPr>
          <a:xfrm>
            <a:off x="641323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1" name="Shape 81">
            <a:extLst>
              <a:ext uri="{FF2B5EF4-FFF2-40B4-BE49-F238E27FC236}">
                <a16:creationId xmlns:a16="http://schemas.microsoft.com/office/drawing/2014/main" id="{9EA3BBF7-3315-16D0-DC9B-BE1C67242EA7}"/>
              </a:ext>
            </a:extLst>
          </p:cNvPr>
          <p:cNvSpPr/>
          <p:nvPr/>
        </p:nvSpPr>
        <p:spPr>
          <a:xfrm>
            <a:off x="650467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状況再確認配信</a:t>
            </a:r>
            <a:endParaRPr lang="en-US" altLang="ja-JP" sz="700" dirty="0">
              <a:latin typeface="メイリオ" panose="020B0604030504040204" pitchFamily="50" charset="-128"/>
              <a:ea typeface="メイリオ" panose="020B0604030504040204" pitchFamily="50" charset="-128"/>
            </a:endParaRPr>
          </a:p>
        </p:txBody>
      </p:sp>
      <p:sp>
        <p:nvSpPr>
          <p:cNvPr id="395" name="Shape 83">
            <a:extLst>
              <a:ext uri="{FF2B5EF4-FFF2-40B4-BE49-F238E27FC236}">
                <a16:creationId xmlns:a16="http://schemas.microsoft.com/office/drawing/2014/main" id="{DC049964-E96C-C1BF-7C7A-F15300037114}"/>
              </a:ext>
            </a:extLst>
          </p:cNvPr>
          <p:cNvSpPr/>
          <p:nvPr/>
        </p:nvSpPr>
        <p:spPr>
          <a:xfrm>
            <a:off x="77787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7" name="Text 84">
            <a:extLst>
              <a:ext uri="{FF2B5EF4-FFF2-40B4-BE49-F238E27FC236}">
                <a16:creationId xmlns:a16="http://schemas.microsoft.com/office/drawing/2014/main" id="{51EFCC51-0F78-4F8D-C532-B98FB0AF559F}"/>
              </a:ext>
            </a:extLst>
          </p:cNvPr>
          <p:cNvSpPr/>
          <p:nvPr/>
        </p:nvSpPr>
        <p:spPr>
          <a:xfrm>
            <a:off x="77787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9" name="Shape 85">
            <a:extLst>
              <a:ext uri="{FF2B5EF4-FFF2-40B4-BE49-F238E27FC236}">
                <a16:creationId xmlns:a16="http://schemas.microsoft.com/office/drawing/2014/main" id="{58F818F9-0832-56EA-F61B-C4AA37B01F57}"/>
              </a:ext>
            </a:extLst>
          </p:cNvPr>
          <p:cNvSpPr/>
          <p:nvPr/>
        </p:nvSpPr>
        <p:spPr>
          <a:xfrm>
            <a:off x="7870179"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1" name="Text 86">
            <a:extLst>
              <a:ext uri="{FF2B5EF4-FFF2-40B4-BE49-F238E27FC236}">
                <a16:creationId xmlns:a16="http://schemas.microsoft.com/office/drawing/2014/main" id="{9B117C4F-B6A8-E365-C69E-36D76F40D869}"/>
              </a:ext>
            </a:extLst>
          </p:cNvPr>
          <p:cNvSpPr/>
          <p:nvPr/>
        </p:nvSpPr>
        <p:spPr>
          <a:xfrm>
            <a:off x="78701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再CV誘導</a:t>
            </a:r>
            <a:endParaRPr lang="en-US" sz="700" dirty="0">
              <a:latin typeface="メイリオ" panose="020B0604030504040204" pitchFamily="50" charset="-128"/>
              <a:ea typeface="メイリオ" panose="020B0604030504040204" pitchFamily="50" charset="-128"/>
            </a:endParaRPr>
          </a:p>
        </p:txBody>
      </p:sp>
      <p:sp>
        <p:nvSpPr>
          <p:cNvPr id="403" name="Shape 87">
            <a:extLst>
              <a:ext uri="{FF2B5EF4-FFF2-40B4-BE49-F238E27FC236}">
                <a16:creationId xmlns:a16="http://schemas.microsoft.com/office/drawing/2014/main" id="{5F6AFF3E-D4D9-71AD-93DC-B81C9B4D82B7}"/>
              </a:ext>
            </a:extLst>
          </p:cNvPr>
          <p:cNvSpPr/>
          <p:nvPr/>
        </p:nvSpPr>
        <p:spPr>
          <a:xfrm>
            <a:off x="5047731" y="311507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7" name="Shape 89">
            <a:extLst>
              <a:ext uri="{FF2B5EF4-FFF2-40B4-BE49-F238E27FC236}">
                <a16:creationId xmlns:a16="http://schemas.microsoft.com/office/drawing/2014/main" id="{D1B45F88-544D-FBED-408C-8209CA691AC8}"/>
              </a:ext>
            </a:extLst>
          </p:cNvPr>
          <p:cNvSpPr/>
          <p:nvPr/>
        </p:nvSpPr>
        <p:spPr>
          <a:xfrm>
            <a:off x="5157459" y="320651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9" name="Text 90">
            <a:extLst>
              <a:ext uri="{FF2B5EF4-FFF2-40B4-BE49-F238E27FC236}">
                <a16:creationId xmlns:a16="http://schemas.microsoft.com/office/drawing/2014/main" id="{592A9BD1-F0B8-60E4-8129-402CDDB4073D}"/>
              </a:ext>
            </a:extLst>
          </p:cNvPr>
          <p:cNvSpPr/>
          <p:nvPr/>
        </p:nvSpPr>
        <p:spPr>
          <a:xfrm>
            <a:off x="5157459" y="3218704"/>
            <a:ext cx="274320" cy="274320"/>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13" name="Text 92">
            <a:extLst>
              <a:ext uri="{FF2B5EF4-FFF2-40B4-BE49-F238E27FC236}">
                <a16:creationId xmlns:a16="http://schemas.microsoft.com/office/drawing/2014/main" id="{1B276E55-4348-C44C-DC53-C0E12FAE38EA}"/>
              </a:ext>
            </a:extLst>
          </p:cNvPr>
          <p:cNvSpPr/>
          <p:nvPr/>
        </p:nvSpPr>
        <p:spPr>
          <a:xfrm>
            <a:off x="5504931" y="3233944"/>
            <a:ext cx="859536" cy="201168"/>
          </a:xfrm>
          <a:prstGeom prst="rect">
            <a:avLst/>
          </a:prstGeom>
          <a:noFill/>
          <a:ln/>
        </p:spPr>
        <p:txBody>
          <a:bodyPr wrap="square" lIns="0" tIns="0" rIns="0" bIns="0" rtlCol="0" anchor="ctr"/>
          <a:lstStyle/>
          <a:p>
            <a:pPr marL="0" indent="0" algn="ctr">
              <a:buNone/>
            </a:pPr>
            <a:endParaRPr lang="en-US" sz="500" dirty="0">
              <a:latin typeface="メイリオ" panose="020B0604030504040204" pitchFamily="50" charset="-128"/>
              <a:ea typeface="メイリオ" panose="020B0604030504040204" pitchFamily="50" charset="-128"/>
            </a:endParaRPr>
          </a:p>
        </p:txBody>
      </p:sp>
      <p:sp>
        <p:nvSpPr>
          <p:cNvPr id="415" name="Text 93">
            <a:extLst>
              <a:ext uri="{FF2B5EF4-FFF2-40B4-BE49-F238E27FC236}">
                <a16:creationId xmlns:a16="http://schemas.microsoft.com/office/drawing/2014/main" id="{80CB45ED-8383-FD42-4282-965B68B36BF6}"/>
              </a:ext>
            </a:extLst>
          </p:cNvPr>
          <p:cNvSpPr/>
          <p:nvPr/>
        </p:nvSpPr>
        <p:spPr>
          <a:xfrm>
            <a:off x="6419331"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カゴ落ち・問い合わせのみ層へのリマインド配信</a:t>
            </a:r>
            <a:endParaRPr lang="en-US" sz="1000" dirty="0">
              <a:latin typeface="メイリオ" panose="020B0604030504040204" pitchFamily="50" charset="-128"/>
              <a:ea typeface="メイリオ" panose="020B0604030504040204" pitchFamily="50" charset="-128"/>
            </a:endParaRPr>
          </a:p>
        </p:txBody>
      </p:sp>
      <p:sp>
        <p:nvSpPr>
          <p:cNvPr id="417" name="Text 94">
            <a:extLst>
              <a:ext uri="{FF2B5EF4-FFF2-40B4-BE49-F238E27FC236}">
                <a16:creationId xmlns:a16="http://schemas.microsoft.com/office/drawing/2014/main" id="{AEF4A7E3-C254-08CE-C1D1-259691AA1AE0}"/>
              </a:ext>
            </a:extLst>
          </p:cNvPr>
          <p:cNvSpPr/>
          <p:nvPr/>
        </p:nvSpPr>
        <p:spPr>
          <a:xfrm>
            <a:off x="5157459"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資料請求・問い合わせのみで申込に至っていない層に特化したステップ配信を設計。「無料相談受付中」「今月末で受付終了」等のCTAで背中を押す。</a:t>
            </a:r>
            <a:endParaRPr lang="en-US" sz="600" dirty="0">
              <a:latin typeface="メイリオ" panose="020B0604030504040204" pitchFamily="50" charset="-128"/>
              <a:ea typeface="メイリオ" panose="020B0604030504040204" pitchFamily="50" charset="-128"/>
            </a:endParaRPr>
          </a:p>
        </p:txBody>
      </p:sp>
      <p:sp>
        <p:nvSpPr>
          <p:cNvPr id="419" name="Shape 95">
            <a:extLst>
              <a:ext uri="{FF2B5EF4-FFF2-40B4-BE49-F238E27FC236}">
                <a16:creationId xmlns:a16="http://schemas.microsoft.com/office/drawing/2014/main" id="{620086D7-B11A-B51E-6EBE-09AABF87761F}"/>
              </a:ext>
            </a:extLst>
          </p:cNvPr>
          <p:cNvSpPr/>
          <p:nvPr/>
        </p:nvSpPr>
        <p:spPr>
          <a:xfrm>
            <a:off x="5139171"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1" name="Text 96">
            <a:extLst>
              <a:ext uri="{FF2B5EF4-FFF2-40B4-BE49-F238E27FC236}">
                <a16:creationId xmlns:a16="http://schemas.microsoft.com/office/drawing/2014/main" id="{0A5E544F-BFBF-5FCC-DE72-1F0EA2CD109F}"/>
              </a:ext>
            </a:extLst>
          </p:cNvPr>
          <p:cNvSpPr/>
          <p:nvPr/>
        </p:nvSpPr>
        <p:spPr>
          <a:xfrm>
            <a:off x="5139171"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行動履歴取得</a:t>
            </a:r>
            <a:endParaRPr lang="en-US" sz="700" dirty="0">
              <a:latin typeface="メイリオ" panose="020B0604030504040204" pitchFamily="50" charset="-128"/>
              <a:ea typeface="メイリオ" panose="020B0604030504040204" pitchFamily="50" charset="-128"/>
            </a:endParaRPr>
          </a:p>
        </p:txBody>
      </p:sp>
      <p:sp>
        <p:nvSpPr>
          <p:cNvPr id="423" name="Shape 97">
            <a:extLst>
              <a:ext uri="{FF2B5EF4-FFF2-40B4-BE49-F238E27FC236}">
                <a16:creationId xmlns:a16="http://schemas.microsoft.com/office/drawing/2014/main" id="{437F2371-56CA-9C8D-898A-5718BBBC16BD}"/>
              </a:ext>
            </a:extLst>
          </p:cNvPr>
          <p:cNvSpPr/>
          <p:nvPr/>
        </p:nvSpPr>
        <p:spPr>
          <a:xfrm>
            <a:off x="641323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5" name="Text 98">
            <a:extLst>
              <a:ext uri="{FF2B5EF4-FFF2-40B4-BE49-F238E27FC236}">
                <a16:creationId xmlns:a16="http://schemas.microsoft.com/office/drawing/2014/main" id="{F6BB9355-F36A-724C-0AF5-0A7D58041D0E}"/>
              </a:ext>
            </a:extLst>
          </p:cNvPr>
          <p:cNvSpPr/>
          <p:nvPr/>
        </p:nvSpPr>
        <p:spPr>
          <a:xfrm>
            <a:off x="641323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7" name="Shape 99">
            <a:extLst>
              <a:ext uri="{FF2B5EF4-FFF2-40B4-BE49-F238E27FC236}">
                <a16:creationId xmlns:a16="http://schemas.microsoft.com/office/drawing/2014/main" id="{A92E3EF4-24A4-2366-71A1-E5DDC1CAC6F2}"/>
              </a:ext>
            </a:extLst>
          </p:cNvPr>
          <p:cNvSpPr/>
          <p:nvPr/>
        </p:nvSpPr>
        <p:spPr>
          <a:xfrm>
            <a:off x="6504675"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9" name="Text 100">
            <a:extLst>
              <a:ext uri="{FF2B5EF4-FFF2-40B4-BE49-F238E27FC236}">
                <a16:creationId xmlns:a16="http://schemas.microsoft.com/office/drawing/2014/main" id="{0D73681F-6C0D-7920-A565-AF64BA896102}"/>
              </a:ext>
            </a:extLst>
          </p:cNvPr>
          <p:cNvSpPr/>
          <p:nvPr/>
        </p:nvSpPr>
        <p:spPr>
          <a:xfrm>
            <a:off x="650467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リマインド配信</a:t>
            </a:r>
            <a:endParaRPr lang="en-US" sz="700" dirty="0">
              <a:latin typeface="メイリオ" panose="020B0604030504040204" pitchFamily="50" charset="-128"/>
              <a:ea typeface="メイリオ" panose="020B0604030504040204" pitchFamily="50" charset="-128"/>
            </a:endParaRPr>
          </a:p>
        </p:txBody>
      </p:sp>
      <p:sp>
        <p:nvSpPr>
          <p:cNvPr id="431" name="Shape 101">
            <a:extLst>
              <a:ext uri="{FF2B5EF4-FFF2-40B4-BE49-F238E27FC236}">
                <a16:creationId xmlns:a16="http://schemas.microsoft.com/office/drawing/2014/main" id="{3B3A64CC-6A13-370D-9373-AD0FB06E375E}"/>
              </a:ext>
            </a:extLst>
          </p:cNvPr>
          <p:cNvSpPr/>
          <p:nvPr/>
        </p:nvSpPr>
        <p:spPr>
          <a:xfrm>
            <a:off x="77787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3" name="Text 102">
            <a:extLst>
              <a:ext uri="{FF2B5EF4-FFF2-40B4-BE49-F238E27FC236}">
                <a16:creationId xmlns:a16="http://schemas.microsoft.com/office/drawing/2014/main" id="{4F5D5A55-D409-4FDA-49E0-1758FEAFEE48}"/>
              </a:ext>
            </a:extLst>
          </p:cNvPr>
          <p:cNvSpPr/>
          <p:nvPr/>
        </p:nvSpPr>
        <p:spPr>
          <a:xfrm>
            <a:off x="77787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5" name="Shape 103">
            <a:extLst>
              <a:ext uri="{FF2B5EF4-FFF2-40B4-BE49-F238E27FC236}">
                <a16:creationId xmlns:a16="http://schemas.microsoft.com/office/drawing/2014/main" id="{E0FBF11F-8E0A-C526-CF1A-16BB189BC592}"/>
              </a:ext>
            </a:extLst>
          </p:cNvPr>
          <p:cNvSpPr/>
          <p:nvPr/>
        </p:nvSpPr>
        <p:spPr>
          <a:xfrm>
            <a:off x="7870179"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7" name="Text 104">
            <a:extLst>
              <a:ext uri="{FF2B5EF4-FFF2-40B4-BE49-F238E27FC236}">
                <a16:creationId xmlns:a16="http://schemas.microsoft.com/office/drawing/2014/main" id="{35AF2962-900D-E7A7-6796-0642679811B9}"/>
              </a:ext>
            </a:extLst>
          </p:cNvPr>
          <p:cNvSpPr/>
          <p:nvPr/>
        </p:nvSpPr>
        <p:spPr>
          <a:xfrm>
            <a:off x="787017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最終CVオファー</a:t>
            </a:r>
            <a:endParaRPr lang="en-US" sz="700" dirty="0">
              <a:latin typeface="メイリオ" panose="020B0604030504040204" pitchFamily="50" charset="-128"/>
              <a:ea typeface="メイリオ" panose="020B0604030504040204" pitchFamily="50" charset="-128"/>
            </a:endParaRPr>
          </a:p>
        </p:txBody>
      </p:sp>
      <p:sp>
        <p:nvSpPr>
          <p:cNvPr id="439" name="Shape 105">
            <a:extLst>
              <a:ext uri="{FF2B5EF4-FFF2-40B4-BE49-F238E27FC236}">
                <a16:creationId xmlns:a16="http://schemas.microsoft.com/office/drawing/2014/main" id="{991461E6-A613-71C0-FEED-105A9B53A82F}"/>
              </a:ext>
            </a:extLst>
          </p:cNvPr>
          <p:cNvSpPr/>
          <p:nvPr/>
        </p:nvSpPr>
        <p:spPr>
          <a:xfrm>
            <a:off x="5047731" y="4666968"/>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3" name="Shape 107">
            <a:extLst>
              <a:ext uri="{FF2B5EF4-FFF2-40B4-BE49-F238E27FC236}">
                <a16:creationId xmlns:a16="http://schemas.microsoft.com/office/drawing/2014/main" id="{B151BD68-31EC-2062-2399-27CE0A52BCDA}"/>
              </a:ext>
            </a:extLst>
          </p:cNvPr>
          <p:cNvSpPr/>
          <p:nvPr/>
        </p:nvSpPr>
        <p:spPr>
          <a:xfrm>
            <a:off x="5157459" y="4758408"/>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5" name="Text 108">
            <a:extLst>
              <a:ext uri="{FF2B5EF4-FFF2-40B4-BE49-F238E27FC236}">
                <a16:creationId xmlns:a16="http://schemas.microsoft.com/office/drawing/2014/main" id="{2838910A-123C-E9FE-5AF1-45001B06EE8A}"/>
              </a:ext>
            </a:extLst>
          </p:cNvPr>
          <p:cNvSpPr/>
          <p:nvPr/>
        </p:nvSpPr>
        <p:spPr>
          <a:xfrm>
            <a:off x="5157459"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7" name="Shape 109">
            <a:extLst>
              <a:ext uri="{FF2B5EF4-FFF2-40B4-BE49-F238E27FC236}">
                <a16:creationId xmlns:a16="http://schemas.microsoft.com/office/drawing/2014/main" id="{7AACC6BD-1A7A-0ECC-2C70-E171A4B73D2E}"/>
              </a:ext>
            </a:extLst>
          </p:cNvPr>
          <p:cNvSpPr/>
          <p:nvPr/>
        </p:nvSpPr>
        <p:spPr>
          <a:xfrm>
            <a:off x="5504931" y="4785840"/>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9" name="Text 110">
            <a:extLst>
              <a:ext uri="{FF2B5EF4-FFF2-40B4-BE49-F238E27FC236}">
                <a16:creationId xmlns:a16="http://schemas.microsoft.com/office/drawing/2014/main" id="{5D30EE12-A5B1-F69B-1B36-9BA013EE1870}"/>
              </a:ext>
            </a:extLst>
          </p:cNvPr>
          <p:cNvSpPr/>
          <p:nvPr/>
        </p:nvSpPr>
        <p:spPr>
          <a:xfrm>
            <a:off x="5504931" y="4767552"/>
            <a:ext cx="859536" cy="217724"/>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長期離脱層</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51" name="Text 111">
            <a:extLst>
              <a:ext uri="{FF2B5EF4-FFF2-40B4-BE49-F238E27FC236}">
                <a16:creationId xmlns:a16="http://schemas.microsoft.com/office/drawing/2014/main" id="{11D406F6-8148-4982-8BAD-ED92DE292139}"/>
              </a:ext>
            </a:extLst>
          </p:cNvPr>
          <p:cNvSpPr/>
          <p:nvPr/>
        </p:nvSpPr>
        <p:spPr>
          <a:xfrm>
            <a:off x="6419331" y="4767552"/>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「ご無沙汰ユーザー」へ限定特典で関係再構築</a:t>
            </a:r>
            <a:endParaRPr lang="en-US" sz="1000" dirty="0">
              <a:latin typeface="メイリオ" panose="020B0604030504040204" pitchFamily="50" charset="-128"/>
              <a:ea typeface="メイリオ" panose="020B0604030504040204" pitchFamily="50" charset="-128"/>
            </a:endParaRPr>
          </a:p>
        </p:txBody>
      </p:sp>
      <p:sp>
        <p:nvSpPr>
          <p:cNvPr id="453" name="Text 112">
            <a:extLst>
              <a:ext uri="{FF2B5EF4-FFF2-40B4-BE49-F238E27FC236}">
                <a16:creationId xmlns:a16="http://schemas.microsoft.com/office/drawing/2014/main" id="{508C543F-C9AB-A60B-8018-61A15273F0DE}"/>
              </a:ext>
            </a:extLst>
          </p:cNvPr>
          <p:cNvSpPr/>
          <p:nvPr/>
        </p:nvSpPr>
        <p:spPr>
          <a:xfrm>
            <a:off x="5157459"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6ヶ月以上アクションがないユーザーに「久しぶりにご連絡します」という自然なトーンで接触。業界ニュース・役立つコンテンツから入り、関係を再構築してからCVを狙う。</a:t>
            </a:r>
            <a:endParaRPr lang="en-US" sz="600" dirty="0">
              <a:latin typeface="メイリオ" panose="020B0604030504040204" pitchFamily="50" charset="-128"/>
              <a:ea typeface="メイリオ" panose="020B0604030504040204" pitchFamily="50" charset="-128"/>
            </a:endParaRPr>
          </a:p>
        </p:txBody>
      </p:sp>
      <p:sp>
        <p:nvSpPr>
          <p:cNvPr id="455" name="Shape 113">
            <a:extLst>
              <a:ext uri="{FF2B5EF4-FFF2-40B4-BE49-F238E27FC236}">
                <a16:creationId xmlns:a16="http://schemas.microsoft.com/office/drawing/2014/main" id="{0D84DDA0-BF3C-451C-FA1C-5C4E0CC796E5}"/>
              </a:ext>
            </a:extLst>
          </p:cNvPr>
          <p:cNvSpPr/>
          <p:nvPr/>
        </p:nvSpPr>
        <p:spPr>
          <a:xfrm>
            <a:off x="5139171"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7" name="Text 114">
            <a:extLst>
              <a:ext uri="{FF2B5EF4-FFF2-40B4-BE49-F238E27FC236}">
                <a16:creationId xmlns:a16="http://schemas.microsoft.com/office/drawing/2014/main" id="{A87F45F7-ABD3-CEBF-4AF2-8CB3A30A3DC0}"/>
              </a:ext>
            </a:extLst>
          </p:cNvPr>
          <p:cNvSpPr/>
          <p:nvPr/>
        </p:nvSpPr>
        <p:spPr>
          <a:xfrm>
            <a:off x="513917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コンテンツ接触</a:t>
            </a:r>
            <a:endParaRPr lang="en-US" sz="700" dirty="0">
              <a:latin typeface="メイリオ" panose="020B0604030504040204" pitchFamily="50" charset="-128"/>
              <a:ea typeface="メイリオ" panose="020B0604030504040204" pitchFamily="50" charset="-128"/>
            </a:endParaRPr>
          </a:p>
        </p:txBody>
      </p:sp>
      <p:sp>
        <p:nvSpPr>
          <p:cNvPr id="459" name="Shape 115">
            <a:extLst>
              <a:ext uri="{FF2B5EF4-FFF2-40B4-BE49-F238E27FC236}">
                <a16:creationId xmlns:a16="http://schemas.microsoft.com/office/drawing/2014/main" id="{21CA3B89-DC5E-AD89-5676-C5B918F75004}"/>
              </a:ext>
            </a:extLst>
          </p:cNvPr>
          <p:cNvSpPr/>
          <p:nvPr/>
        </p:nvSpPr>
        <p:spPr>
          <a:xfrm>
            <a:off x="6413235"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1" name="Text 116">
            <a:extLst>
              <a:ext uri="{FF2B5EF4-FFF2-40B4-BE49-F238E27FC236}">
                <a16:creationId xmlns:a16="http://schemas.microsoft.com/office/drawing/2014/main" id="{2B5EBEB8-BD89-88B8-B0AF-DB4EF15161B3}"/>
              </a:ext>
            </a:extLst>
          </p:cNvPr>
          <p:cNvSpPr/>
          <p:nvPr/>
        </p:nvSpPr>
        <p:spPr>
          <a:xfrm>
            <a:off x="6413235"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3" name="Shape 117">
            <a:extLst>
              <a:ext uri="{FF2B5EF4-FFF2-40B4-BE49-F238E27FC236}">
                <a16:creationId xmlns:a16="http://schemas.microsoft.com/office/drawing/2014/main" id="{D5BA2610-8ECE-0E46-5DE9-D84256F4ABB7}"/>
              </a:ext>
            </a:extLst>
          </p:cNvPr>
          <p:cNvSpPr/>
          <p:nvPr/>
        </p:nvSpPr>
        <p:spPr>
          <a:xfrm>
            <a:off x="6504675" y="567627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00" b="1">
                <a:solidFill>
                  <a:srgbClr val="FFFFFF"/>
                </a:solidFill>
                <a:latin typeface="メイリオ" panose="020B0604030504040204" pitchFamily="50" charset="-128"/>
                <a:ea typeface="メイリオ" panose="020B0604030504040204" pitchFamily="50" charset="-128"/>
                <a:cs typeface="Calibri" pitchFamily="34" charset="-120"/>
              </a:rPr>
              <a:t>関係再構築</a:t>
            </a:r>
            <a:endParaRPr lang="en-US" altLang="ja-JP" sz="700" dirty="0">
              <a:latin typeface="メイリオ" panose="020B0604030504040204" pitchFamily="50" charset="-128"/>
              <a:ea typeface="メイリオ" panose="020B0604030504040204" pitchFamily="50" charset="-128"/>
            </a:endParaRPr>
          </a:p>
        </p:txBody>
      </p:sp>
      <p:sp>
        <p:nvSpPr>
          <p:cNvPr id="467" name="Shape 119">
            <a:extLst>
              <a:ext uri="{FF2B5EF4-FFF2-40B4-BE49-F238E27FC236}">
                <a16:creationId xmlns:a16="http://schemas.microsoft.com/office/drawing/2014/main" id="{ECDAE41D-74EE-70DA-6BA7-EFBBEFFC654B}"/>
              </a:ext>
            </a:extLst>
          </p:cNvPr>
          <p:cNvSpPr/>
          <p:nvPr/>
        </p:nvSpPr>
        <p:spPr>
          <a:xfrm>
            <a:off x="7778739"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9" name="Text 120">
            <a:extLst>
              <a:ext uri="{FF2B5EF4-FFF2-40B4-BE49-F238E27FC236}">
                <a16:creationId xmlns:a16="http://schemas.microsoft.com/office/drawing/2014/main" id="{CB14E44B-796A-6A2D-D1B3-013FACC24DEC}"/>
              </a:ext>
            </a:extLst>
          </p:cNvPr>
          <p:cNvSpPr/>
          <p:nvPr/>
        </p:nvSpPr>
        <p:spPr>
          <a:xfrm>
            <a:off x="7778739"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71" name="Shape 121">
            <a:extLst>
              <a:ext uri="{FF2B5EF4-FFF2-40B4-BE49-F238E27FC236}">
                <a16:creationId xmlns:a16="http://schemas.microsoft.com/office/drawing/2014/main" id="{75D4D855-A0E2-F793-0792-F5696FFF8659}"/>
              </a:ext>
            </a:extLst>
          </p:cNvPr>
          <p:cNvSpPr/>
          <p:nvPr/>
        </p:nvSpPr>
        <p:spPr>
          <a:xfrm>
            <a:off x="787017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73" name="Text 122">
            <a:extLst>
              <a:ext uri="{FF2B5EF4-FFF2-40B4-BE49-F238E27FC236}">
                <a16:creationId xmlns:a16="http://schemas.microsoft.com/office/drawing/2014/main" id="{B61DFFD1-F302-D0F1-D19E-8923951471AC}"/>
              </a:ext>
            </a:extLst>
          </p:cNvPr>
          <p:cNvSpPr/>
          <p:nvPr/>
        </p:nvSpPr>
        <p:spPr>
          <a:xfrm>
            <a:off x="78701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CV誘導</a:t>
            </a:r>
            <a:endParaRPr lang="en-US" sz="700" dirty="0">
              <a:latin typeface="メイリオ" panose="020B0604030504040204" pitchFamily="50" charset="-128"/>
              <a:ea typeface="メイリオ" panose="020B0604030504040204" pitchFamily="50" charset="-128"/>
            </a:endParaRPr>
          </a:p>
        </p:txBody>
      </p:sp>
      <p:sp>
        <p:nvSpPr>
          <p:cNvPr id="9" name="Text 110">
            <a:extLst>
              <a:ext uri="{FF2B5EF4-FFF2-40B4-BE49-F238E27FC236}">
                <a16:creationId xmlns:a16="http://schemas.microsoft.com/office/drawing/2014/main" id="{D50F457C-0303-AF4A-FC6E-E83638F895A9}"/>
              </a:ext>
            </a:extLst>
          </p:cNvPr>
          <p:cNvSpPr/>
          <p:nvPr/>
        </p:nvSpPr>
        <p:spPr>
          <a:xfrm>
            <a:off x="5504931" y="3218704"/>
            <a:ext cx="859536" cy="201168"/>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購入検討層</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15" name="Text 38">
            <a:extLst>
              <a:ext uri="{FF2B5EF4-FFF2-40B4-BE49-F238E27FC236}">
                <a16:creationId xmlns:a16="http://schemas.microsoft.com/office/drawing/2014/main" id="{3534AFB2-278D-FF29-BCC6-4EA3CABA4614}"/>
              </a:ext>
            </a:extLst>
          </p:cNvPr>
          <p:cNvSpPr/>
          <p:nvPr/>
        </p:nvSpPr>
        <p:spPr>
          <a:xfrm>
            <a:off x="1060947" y="1675046"/>
            <a:ext cx="859536" cy="190604"/>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sz="700" dirty="0">
              <a:solidFill>
                <a:srgbClr val="FDFDFD"/>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01254505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8F4B6A2-11F2-64AD-4DDE-1248419C631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11AA335-9B44-6B58-2534-BB048200CA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72627B2D-8393-455B-0855-0EB48BEF4480}"/>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想定：リピート、クロスセルを計画的に実施</a:t>
            </a:r>
          </a:p>
        </p:txBody>
      </p:sp>
      <p:sp>
        <p:nvSpPr>
          <p:cNvPr id="243" name="Shape 8">
            <a:extLst>
              <a:ext uri="{FF2B5EF4-FFF2-40B4-BE49-F238E27FC236}">
                <a16:creationId xmlns:a16="http://schemas.microsoft.com/office/drawing/2014/main" id="{25BEC70F-1CF8-F07A-EA93-FC6E8D940E95}"/>
              </a:ext>
            </a:extLst>
          </p:cNvPr>
          <p:cNvSpPr/>
          <p:nvPr/>
        </p:nvSpPr>
        <p:spPr>
          <a:xfrm>
            <a:off x="622035" y="130664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5" name="Text 9">
            <a:extLst>
              <a:ext uri="{FF2B5EF4-FFF2-40B4-BE49-F238E27FC236}">
                <a16:creationId xmlns:a16="http://schemas.microsoft.com/office/drawing/2014/main" id="{15FC7E1F-9877-CB06-F5F1-37331233B89F}"/>
              </a:ext>
            </a:extLst>
          </p:cNvPr>
          <p:cNvSpPr/>
          <p:nvPr/>
        </p:nvSpPr>
        <p:spPr>
          <a:xfrm>
            <a:off x="750051"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リピート施策</a:t>
            </a:r>
            <a:endParaRPr lang="en-US" sz="1000" dirty="0">
              <a:latin typeface="メイリオ" panose="020B0604030504040204" pitchFamily="50" charset="-128"/>
              <a:ea typeface="メイリオ" panose="020B0604030504040204" pitchFamily="50" charset="-128"/>
            </a:endParaRPr>
          </a:p>
        </p:txBody>
      </p:sp>
      <p:sp>
        <p:nvSpPr>
          <p:cNvPr id="247" name="Text 10">
            <a:extLst>
              <a:ext uri="{FF2B5EF4-FFF2-40B4-BE49-F238E27FC236}">
                <a16:creationId xmlns:a16="http://schemas.microsoft.com/office/drawing/2014/main" id="{04713F76-50FA-FA3F-D4BD-08DC408EA176}"/>
              </a:ext>
            </a:extLst>
          </p:cNvPr>
          <p:cNvSpPr/>
          <p:nvPr/>
        </p:nvSpPr>
        <p:spPr>
          <a:xfrm>
            <a:off x="2541313" y="1294892"/>
            <a:ext cx="2177234"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既存顧客を繰り返しCVさせる設計</a:t>
            </a:r>
            <a:endParaRPr lang="en-US" sz="700" dirty="0">
              <a:latin typeface="メイリオ" panose="020B0604030504040204" pitchFamily="50" charset="-128"/>
              <a:ea typeface="メイリオ" panose="020B0604030504040204" pitchFamily="50" charset="-128"/>
            </a:endParaRPr>
          </a:p>
        </p:txBody>
      </p:sp>
      <p:sp>
        <p:nvSpPr>
          <p:cNvPr id="249" name="Shape 11">
            <a:extLst>
              <a:ext uri="{FF2B5EF4-FFF2-40B4-BE49-F238E27FC236}">
                <a16:creationId xmlns:a16="http://schemas.microsoft.com/office/drawing/2014/main" id="{8636F3C8-63E7-CBB8-3872-E6B2584513F2}"/>
              </a:ext>
            </a:extLst>
          </p:cNvPr>
          <p:cNvSpPr/>
          <p:nvPr/>
        </p:nvSpPr>
        <p:spPr>
          <a:xfrm>
            <a:off x="5066019" y="130664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1" name="Text 12">
            <a:extLst>
              <a:ext uri="{FF2B5EF4-FFF2-40B4-BE49-F238E27FC236}">
                <a16:creationId xmlns:a16="http://schemas.microsoft.com/office/drawing/2014/main" id="{6615CF57-D24E-7288-7AB0-1DF692D04526}"/>
              </a:ext>
            </a:extLst>
          </p:cNvPr>
          <p:cNvSpPr/>
          <p:nvPr/>
        </p:nvSpPr>
        <p:spPr>
          <a:xfrm>
            <a:off x="5194035"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クロスセル施策</a:t>
            </a:r>
            <a:endParaRPr lang="en-US" sz="1000" dirty="0">
              <a:latin typeface="メイリオ" panose="020B0604030504040204" pitchFamily="50" charset="-128"/>
              <a:ea typeface="メイリオ" panose="020B0604030504040204" pitchFamily="50" charset="-128"/>
            </a:endParaRPr>
          </a:p>
        </p:txBody>
      </p:sp>
      <p:sp>
        <p:nvSpPr>
          <p:cNvPr id="253" name="Text 13">
            <a:extLst>
              <a:ext uri="{FF2B5EF4-FFF2-40B4-BE49-F238E27FC236}">
                <a16:creationId xmlns:a16="http://schemas.microsoft.com/office/drawing/2014/main" id="{7C345B51-6053-1E03-9823-0F386006D466}"/>
              </a:ext>
            </a:extLst>
          </p:cNvPr>
          <p:cNvSpPr/>
          <p:nvPr/>
        </p:nvSpPr>
        <p:spPr>
          <a:xfrm>
            <a:off x="6985297" y="1294892"/>
            <a:ext cx="2177234"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関連サービス・上位プランへの誘導設計</a:t>
            </a:r>
            <a:endParaRPr lang="en-US" sz="700" dirty="0">
              <a:latin typeface="メイリオ" panose="020B0604030504040204" pitchFamily="50" charset="-128"/>
              <a:ea typeface="メイリオ" panose="020B0604030504040204" pitchFamily="50" charset="-128"/>
            </a:endParaRPr>
          </a:p>
        </p:txBody>
      </p:sp>
      <p:sp>
        <p:nvSpPr>
          <p:cNvPr id="255" name="Shape 15">
            <a:extLst>
              <a:ext uri="{FF2B5EF4-FFF2-40B4-BE49-F238E27FC236}">
                <a16:creationId xmlns:a16="http://schemas.microsoft.com/office/drawing/2014/main" id="{2BEE7A23-A38F-24B6-8785-FB455AC73808}"/>
              </a:ext>
            </a:extLst>
          </p:cNvPr>
          <p:cNvSpPr/>
          <p:nvPr/>
        </p:nvSpPr>
        <p:spPr>
          <a:xfrm>
            <a:off x="622035" y="157446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9" name="Shape 17">
            <a:extLst>
              <a:ext uri="{FF2B5EF4-FFF2-40B4-BE49-F238E27FC236}">
                <a16:creationId xmlns:a16="http://schemas.microsoft.com/office/drawing/2014/main" id="{6EA2FE60-CA64-D4E8-A942-9C618AC68B86}"/>
              </a:ext>
            </a:extLst>
          </p:cNvPr>
          <p:cNvSpPr/>
          <p:nvPr/>
        </p:nvSpPr>
        <p:spPr>
          <a:xfrm>
            <a:off x="731763" y="166590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1" name="Text 18">
            <a:extLst>
              <a:ext uri="{FF2B5EF4-FFF2-40B4-BE49-F238E27FC236}">
                <a16:creationId xmlns:a16="http://schemas.microsoft.com/office/drawing/2014/main" id="{E856EF37-698D-F191-3067-928FC0AFC456}"/>
              </a:ext>
            </a:extLst>
          </p:cNvPr>
          <p:cNvSpPr/>
          <p:nvPr/>
        </p:nvSpPr>
        <p:spPr>
          <a:xfrm>
            <a:off x="731763" y="1675046"/>
            <a:ext cx="274320" cy="274320"/>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3" name="Shape 19">
            <a:extLst>
              <a:ext uri="{FF2B5EF4-FFF2-40B4-BE49-F238E27FC236}">
                <a16:creationId xmlns:a16="http://schemas.microsoft.com/office/drawing/2014/main" id="{C3D7846E-19C7-41FD-05BA-E1F3CF32FFFD}"/>
              </a:ext>
            </a:extLst>
          </p:cNvPr>
          <p:cNvSpPr/>
          <p:nvPr/>
        </p:nvSpPr>
        <p:spPr>
          <a:xfrm>
            <a:off x="1039813" y="1693334"/>
            <a:ext cx="880670" cy="246248"/>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アフターフォロー</a:t>
            </a:r>
          </a:p>
        </p:txBody>
      </p:sp>
      <p:sp>
        <p:nvSpPr>
          <p:cNvPr id="267" name="Text 21">
            <a:extLst>
              <a:ext uri="{FF2B5EF4-FFF2-40B4-BE49-F238E27FC236}">
                <a16:creationId xmlns:a16="http://schemas.microsoft.com/office/drawing/2014/main" id="{FCE3B029-FE9D-7576-7B05-2585AB5A66B1}"/>
              </a:ext>
            </a:extLst>
          </p:cNvPr>
          <p:cNvSpPr/>
          <p:nvPr/>
        </p:nvSpPr>
        <p:spPr>
          <a:xfrm>
            <a:off x="1993635" y="1675046"/>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購入・利用完了後の自動フォローアップ配信</a:t>
            </a:r>
            <a:endParaRPr lang="en-US" sz="1000" dirty="0">
              <a:latin typeface="メイリオ" panose="020B0604030504040204" pitchFamily="50" charset="-128"/>
              <a:ea typeface="メイリオ" panose="020B0604030504040204" pitchFamily="50" charset="-128"/>
            </a:endParaRPr>
          </a:p>
        </p:txBody>
      </p:sp>
      <p:sp>
        <p:nvSpPr>
          <p:cNvPr id="269" name="Text 22">
            <a:extLst>
              <a:ext uri="{FF2B5EF4-FFF2-40B4-BE49-F238E27FC236}">
                <a16:creationId xmlns:a16="http://schemas.microsoft.com/office/drawing/2014/main" id="{C1ECFC15-9129-ED3B-D3EF-84A237B9E067}"/>
              </a:ext>
            </a:extLst>
          </p:cNvPr>
          <p:cNvSpPr/>
          <p:nvPr/>
        </p:nvSpPr>
        <p:spPr>
          <a:xfrm>
            <a:off x="731763"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サービス利用後30日・3ヶ月・6ヶ月のタイミングで自動配信。「その後いかがですか？」「定期メンテナンスのご案内」など適切なタイミングで次回利用を自然に促す。</a:t>
            </a:r>
            <a:endParaRPr lang="en-US" sz="600" dirty="0">
              <a:latin typeface="メイリオ" panose="020B0604030504040204" pitchFamily="50" charset="-128"/>
              <a:ea typeface="メイリオ" panose="020B0604030504040204" pitchFamily="50" charset="-128"/>
            </a:endParaRPr>
          </a:p>
        </p:txBody>
      </p:sp>
      <p:sp>
        <p:nvSpPr>
          <p:cNvPr id="271" name="Shape 23">
            <a:extLst>
              <a:ext uri="{FF2B5EF4-FFF2-40B4-BE49-F238E27FC236}">
                <a16:creationId xmlns:a16="http://schemas.microsoft.com/office/drawing/2014/main" id="{02AAD0EA-81DD-0BAE-0FBC-DF75C0098CFF}"/>
              </a:ext>
            </a:extLst>
          </p:cNvPr>
          <p:cNvSpPr/>
          <p:nvPr/>
        </p:nvSpPr>
        <p:spPr>
          <a:xfrm>
            <a:off x="71347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購入完了</a:t>
            </a:r>
            <a:endParaRPr lang="en-US" altLang="ja-JP" sz="700" dirty="0">
              <a:latin typeface="メイリオ" panose="020B0604030504040204" pitchFamily="50" charset="-128"/>
              <a:ea typeface="メイリオ" panose="020B0604030504040204" pitchFamily="50" charset="-128"/>
            </a:endParaRPr>
          </a:p>
        </p:txBody>
      </p:sp>
      <p:sp>
        <p:nvSpPr>
          <p:cNvPr id="275" name="Shape 25">
            <a:extLst>
              <a:ext uri="{FF2B5EF4-FFF2-40B4-BE49-F238E27FC236}">
                <a16:creationId xmlns:a16="http://schemas.microsoft.com/office/drawing/2014/main" id="{597E6017-68DF-6125-D04E-EBE42E4AC1C8}"/>
              </a:ext>
            </a:extLst>
          </p:cNvPr>
          <p:cNvSpPr/>
          <p:nvPr/>
        </p:nvSpPr>
        <p:spPr>
          <a:xfrm>
            <a:off x="19875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7" name="Text 26">
            <a:extLst>
              <a:ext uri="{FF2B5EF4-FFF2-40B4-BE49-F238E27FC236}">
                <a16:creationId xmlns:a16="http://schemas.microsoft.com/office/drawing/2014/main" id="{A0AA9CE1-6CB6-6DB8-F485-AA5FC31BD9AB}"/>
              </a:ext>
            </a:extLst>
          </p:cNvPr>
          <p:cNvSpPr/>
          <p:nvPr/>
        </p:nvSpPr>
        <p:spPr>
          <a:xfrm>
            <a:off x="19875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79" name="Shape 27">
            <a:extLst>
              <a:ext uri="{FF2B5EF4-FFF2-40B4-BE49-F238E27FC236}">
                <a16:creationId xmlns:a16="http://schemas.microsoft.com/office/drawing/2014/main" id="{0033C6EE-6DB2-CF55-B4C7-D25DA14E4D93}"/>
              </a:ext>
            </a:extLst>
          </p:cNvPr>
          <p:cNvSpPr/>
          <p:nvPr/>
        </p:nvSpPr>
        <p:spPr>
          <a:xfrm>
            <a:off x="2078979" y="2621391"/>
            <a:ext cx="1274064" cy="329184"/>
          </a:xfrm>
          <a:prstGeom prst="roundRect">
            <a:avLst>
              <a:gd name="adj" fmla="val 16667"/>
            </a:avLst>
          </a:prstGeom>
          <a:solidFill>
            <a:schemeClr val="tx1"/>
          </a:solidFill>
          <a:ln w="12700">
            <a:noFill/>
            <a:prstDash val="solid"/>
          </a:ln>
        </p:spPr>
        <p:txBody>
          <a:bodyPr/>
          <a:lstStyle/>
          <a:p>
            <a:endParaRPr lang="ja-JP" altLang="en-US" sz="700" dirty="0">
              <a:latin typeface="メイリオ" panose="020B0604030504040204" pitchFamily="50" charset="-128"/>
              <a:ea typeface="メイリオ" panose="020B0604030504040204" pitchFamily="50" charset="-128"/>
            </a:endParaRPr>
          </a:p>
        </p:txBody>
      </p:sp>
      <p:sp>
        <p:nvSpPr>
          <p:cNvPr id="281" name="Text 28">
            <a:extLst>
              <a:ext uri="{FF2B5EF4-FFF2-40B4-BE49-F238E27FC236}">
                <a16:creationId xmlns:a16="http://schemas.microsoft.com/office/drawing/2014/main" id="{7A443300-A185-ED88-10AA-DFD63178035A}"/>
              </a:ext>
            </a:extLst>
          </p:cNvPr>
          <p:cNvSpPr/>
          <p:nvPr/>
        </p:nvSpPr>
        <p:spPr>
          <a:xfrm>
            <a:off x="20789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30日/3ヶ月/6ヶ月</a:t>
            </a:r>
            <a:endParaRPr lang="en-US" sz="700" dirty="0">
              <a:latin typeface="メイリオ" panose="020B0604030504040204" pitchFamily="50" charset="-128"/>
              <a:ea typeface="メイリオ" panose="020B0604030504040204" pitchFamily="50" charset="-128"/>
            </a:endParaRPr>
          </a:p>
        </p:txBody>
      </p:sp>
      <p:sp>
        <p:nvSpPr>
          <p:cNvPr id="283" name="Shape 29">
            <a:extLst>
              <a:ext uri="{FF2B5EF4-FFF2-40B4-BE49-F238E27FC236}">
                <a16:creationId xmlns:a16="http://schemas.microsoft.com/office/drawing/2014/main" id="{A8CDF565-4E56-34DE-F4B7-83C324AB1111}"/>
              </a:ext>
            </a:extLst>
          </p:cNvPr>
          <p:cNvSpPr/>
          <p:nvPr/>
        </p:nvSpPr>
        <p:spPr>
          <a:xfrm>
            <a:off x="3353043"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5" name="Text 30">
            <a:extLst>
              <a:ext uri="{FF2B5EF4-FFF2-40B4-BE49-F238E27FC236}">
                <a16:creationId xmlns:a16="http://schemas.microsoft.com/office/drawing/2014/main" id="{C7552AF9-D505-7C0D-70BF-ACE641907EEA}"/>
              </a:ext>
            </a:extLst>
          </p:cNvPr>
          <p:cNvSpPr/>
          <p:nvPr/>
        </p:nvSpPr>
        <p:spPr>
          <a:xfrm>
            <a:off x="3353043"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7" name="Shape 31">
            <a:extLst>
              <a:ext uri="{FF2B5EF4-FFF2-40B4-BE49-F238E27FC236}">
                <a16:creationId xmlns:a16="http://schemas.microsoft.com/office/drawing/2014/main" id="{41993352-6267-4FE7-B0F8-37A18FC55C5D}"/>
              </a:ext>
            </a:extLst>
          </p:cNvPr>
          <p:cNvSpPr/>
          <p:nvPr/>
        </p:nvSpPr>
        <p:spPr>
          <a:xfrm>
            <a:off x="3444483"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289" name="Text 32">
            <a:extLst>
              <a:ext uri="{FF2B5EF4-FFF2-40B4-BE49-F238E27FC236}">
                <a16:creationId xmlns:a16="http://schemas.microsoft.com/office/drawing/2014/main" id="{56896933-7E6D-6A12-EEAF-C1E0A07B9A27}"/>
              </a:ext>
            </a:extLst>
          </p:cNvPr>
          <p:cNvSpPr/>
          <p:nvPr/>
        </p:nvSpPr>
        <p:spPr>
          <a:xfrm>
            <a:off x="3444483"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自動リマインド</a:t>
            </a:r>
            <a:endParaRPr lang="en-US" sz="700" dirty="0">
              <a:latin typeface="メイリオ" panose="020B0604030504040204" pitchFamily="50" charset="-128"/>
              <a:ea typeface="メイリオ" panose="020B0604030504040204" pitchFamily="50" charset="-128"/>
            </a:endParaRPr>
          </a:p>
        </p:txBody>
      </p:sp>
      <p:sp>
        <p:nvSpPr>
          <p:cNvPr id="291" name="Shape 33">
            <a:extLst>
              <a:ext uri="{FF2B5EF4-FFF2-40B4-BE49-F238E27FC236}">
                <a16:creationId xmlns:a16="http://schemas.microsoft.com/office/drawing/2014/main" id="{F55E1F0E-CE1E-4788-56E8-EEC6BC428B40}"/>
              </a:ext>
            </a:extLst>
          </p:cNvPr>
          <p:cNvSpPr/>
          <p:nvPr/>
        </p:nvSpPr>
        <p:spPr>
          <a:xfrm>
            <a:off x="622035" y="311703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5" name="Shape 35">
            <a:extLst>
              <a:ext uri="{FF2B5EF4-FFF2-40B4-BE49-F238E27FC236}">
                <a16:creationId xmlns:a16="http://schemas.microsoft.com/office/drawing/2014/main" id="{A12EE24B-120D-6CFC-50B3-086F27872223}"/>
              </a:ext>
            </a:extLst>
          </p:cNvPr>
          <p:cNvSpPr/>
          <p:nvPr/>
        </p:nvSpPr>
        <p:spPr>
          <a:xfrm>
            <a:off x="731763" y="320847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7" name="Text 36">
            <a:extLst>
              <a:ext uri="{FF2B5EF4-FFF2-40B4-BE49-F238E27FC236}">
                <a16:creationId xmlns:a16="http://schemas.microsoft.com/office/drawing/2014/main" id="{751A7A54-3F2B-726E-0209-EC76E1460C60}"/>
              </a:ext>
            </a:extLst>
          </p:cNvPr>
          <p:cNvSpPr/>
          <p:nvPr/>
        </p:nvSpPr>
        <p:spPr>
          <a:xfrm>
            <a:off x="731763"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1" name="Text 38">
            <a:extLst>
              <a:ext uri="{FF2B5EF4-FFF2-40B4-BE49-F238E27FC236}">
                <a16:creationId xmlns:a16="http://schemas.microsoft.com/office/drawing/2014/main" id="{38E18943-F8B5-9629-4062-419A919A3557}"/>
              </a:ext>
            </a:extLst>
          </p:cNvPr>
          <p:cNvSpPr/>
          <p:nvPr/>
        </p:nvSpPr>
        <p:spPr>
          <a:xfrm>
            <a:off x="1037770" y="3231978"/>
            <a:ext cx="882713" cy="241677"/>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記念日配信</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3" name="Text 39">
            <a:extLst>
              <a:ext uri="{FF2B5EF4-FFF2-40B4-BE49-F238E27FC236}">
                <a16:creationId xmlns:a16="http://schemas.microsoft.com/office/drawing/2014/main" id="{3E303003-51EC-7FC3-DE76-F0E6D2EAB3EE}"/>
              </a:ext>
            </a:extLst>
          </p:cNvPr>
          <p:cNvSpPr/>
          <p:nvPr/>
        </p:nvSpPr>
        <p:spPr>
          <a:xfrm>
            <a:off x="1993635" y="3217623"/>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誕生日・契約記念日に特別オファーを自動配信</a:t>
            </a:r>
            <a:endParaRPr lang="en-US" sz="1000" dirty="0">
              <a:latin typeface="メイリオ" panose="020B0604030504040204" pitchFamily="50" charset="-128"/>
              <a:ea typeface="メイリオ" panose="020B0604030504040204" pitchFamily="50" charset="-128"/>
            </a:endParaRPr>
          </a:p>
        </p:txBody>
      </p:sp>
      <p:sp>
        <p:nvSpPr>
          <p:cNvPr id="305" name="Text 40">
            <a:extLst>
              <a:ext uri="{FF2B5EF4-FFF2-40B4-BE49-F238E27FC236}">
                <a16:creationId xmlns:a16="http://schemas.microsoft.com/office/drawing/2014/main" id="{30181338-1CDB-632A-4D21-1980958DAE90}"/>
              </a:ext>
            </a:extLst>
          </p:cNvPr>
          <p:cNvSpPr/>
          <p:nvPr/>
        </p:nvSpPr>
        <p:spPr>
          <a:xfrm>
            <a:off x="731763"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誕生日や初回購入日を記念日として登録し、該当日に特別クーポン・優待を自動配信。「あなただけへの特別オファー」感が再購入率を高める。</a:t>
            </a:r>
            <a:endParaRPr lang="en-US" sz="600" dirty="0">
              <a:latin typeface="メイリオ" panose="020B0604030504040204" pitchFamily="50" charset="-128"/>
              <a:ea typeface="メイリオ" panose="020B0604030504040204" pitchFamily="50" charset="-128"/>
            </a:endParaRPr>
          </a:p>
        </p:txBody>
      </p:sp>
      <p:sp>
        <p:nvSpPr>
          <p:cNvPr id="307" name="Shape 41">
            <a:extLst>
              <a:ext uri="{FF2B5EF4-FFF2-40B4-BE49-F238E27FC236}">
                <a16:creationId xmlns:a16="http://schemas.microsoft.com/office/drawing/2014/main" id="{9C3ADD4D-62FF-6E75-0C94-EBA797742E61}"/>
              </a:ext>
            </a:extLst>
          </p:cNvPr>
          <p:cNvSpPr/>
          <p:nvPr/>
        </p:nvSpPr>
        <p:spPr>
          <a:xfrm>
            <a:off x="713475"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09" name="Text 42">
            <a:extLst>
              <a:ext uri="{FF2B5EF4-FFF2-40B4-BE49-F238E27FC236}">
                <a16:creationId xmlns:a16="http://schemas.microsoft.com/office/drawing/2014/main" id="{A3F87B85-6E13-9A64-8ED1-AC226457C436}"/>
              </a:ext>
            </a:extLst>
          </p:cNvPr>
          <p:cNvSpPr/>
          <p:nvPr/>
        </p:nvSpPr>
        <p:spPr>
          <a:xfrm>
            <a:off x="71347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記念日タグ設定</a:t>
            </a:r>
            <a:endParaRPr lang="en-US" sz="700" dirty="0">
              <a:latin typeface="メイリオ" panose="020B0604030504040204" pitchFamily="50" charset="-128"/>
              <a:ea typeface="メイリオ" panose="020B0604030504040204" pitchFamily="50" charset="-128"/>
            </a:endParaRPr>
          </a:p>
        </p:txBody>
      </p:sp>
      <p:sp>
        <p:nvSpPr>
          <p:cNvPr id="311" name="Shape 43">
            <a:extLst>
              <a:ext uri="{FF2B5EF4-FFF2-40B4-BE49-F238E27FC236}">
                <a16:creationId xmlns:a16="http://schemas.microsoft.com/office/drawing/2014/main" id="{0A895F50-3F88-98A2-89D0-3ACC9E308C89}"/>
              </a:ext>
            </a:extLst>
          </p:cNvPr>
          <p:cNvSpPr/>
          <p:nvPr/>
        </p:nvSpPr>
        <p:spPr>
          <a:xfrm>
            <a:off x="19875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3" name="Text 44">
            <a:extLst>
              <a:ext uri="{FF2B5EF4-FFF2-40B4-BE49-F238E27FC236}">
                <a16:creationId xmlns:a16="http://schemas.microsoft.com/office/drawing/2014/main" id="{84141BF0-6600-94F4-8298-8914165AE119}"/>
              </a:ext>
            </a:extLst>
          </p:cNvPr>
          <p:cNvSpPr/>
          <p:nvPr/>
        </p:nvSpPr>
        <p:spPr>
          <a:xfrm>
            <a:off x="19875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5" name="Shape 45">
            <a:extLst>
              <a:ext uri="{FF2B5EF4-FFF2-40B4-BE49-F238E27FC236}">
                <a16:creationId xmlns:a16="http://schemas.microsoft.com/office/drawing/2014/main" id="{D6D24DD8-6D7D-257C-F532-6ED722A69206}"/>
              </a:ext>
            </a:extLst>
          </p:cNvPr>
          <p:cNvSpPr/>
          <p:nvPr/>
        </p:nvSpPr>
        <p:spPr>
          <a:xfrm>
            <a:off x="207897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7" name="Text 46">
            <a:extLst>
              <a:ext uri="{FF2B5EF4-FFF2-40B4-BE49-F238E27FC236}">
                <a16:creationId xmlns:a16="http://schemas.microsoft.com/office/drawing/2014/main" id="{7BD3B483-4A49-A931-5EB8-12119ED715C2}"/>
              </a:ext>
            </a:extLst>
          </p:cNvPr>
          <p:cNvSpPr/>
          <p:nvPr/>
        </p:nvSpPr>
        <p:spPr>
          <a:xfrm>
            <a:off x="2078979" y="4158910"/>
            <a:ext cx="1274064" cy="329184"/>
          </a:xfrm>
          <a:prstGeom prst="rect">
            <a:avLst/>
          </a:prstGeom>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特別オファー配信</a:t>
            </a:r>
            <a:endParaRPr lang="en-US" sz="700" dirty="0">
              <a:latin typeface="メイリオ" panose="020B0604030504040204" pitchFamily="50" charset="-128"/>
              <a:ea typeface="メイリオ" panose="020B0604030504040204" pitchFamily="50" charset="-128"/>
            </a:endParaRPr>
          </a:p>
        </p:txBody>
      </p:sp>
      <p:sp>
        <p:nvSpPr>
          <p:cNvPr id="319" name="Shape 47">
            <a:extLst>
              <a:ext uri="{FF2B5EF4-FFF2-40B4-BE49-F238E27FC236}">
                <a16:creationId xmlns:a16="http://schemas.microsoft.com/office/drawing/2014/main" id="{1A3ED534-DB25-D7E2-0DDC-342462B34810}"/>
              </a:ext>
            </a:extLst>
          </p:cNvPr>
          <p:cNvSpPr/>
          <p:nvPr/>
        </p:nvSpPr>
        <p:spPr>
          <a:xfrm>
            <a:off x="3353043"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1" name="Text 48">
            <a:extLst>
              <a:ext uri="{FF2B5EF4-FFF2-40B4-BE49-F238E27FC236}">
                <a16:creationId xmlns:a16="http://schemas.microsoft.com/office/drawing/2014/main" id="{0A78ED48-FFFC-A962-F364-19738CBAA8ED}"/>
              </a:ext>
            </a:extLst>
          </p:cNvPr>
          <p:cNvSpPr/>
          <p:nvPr/>
        </p:nvSpPr>
        <p:spPr>
          <a:xfrm>
            <a:off x="3353043"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3" name="Shape 49">
            <a:extLst>
              <a:ext uri="{FF2B5EF4-FFF2-40B4-BE49-F238E27FC236}">
                <a16:creationId xmlns:a16="http://schemas.microsoft.com/office/drawing/2014/main" id="{A71799E1-6D37-9019-F683-E28EDFCD59C9}"/>
              </a:ext>
            </a:extLst>
          </p:cNvPr>
          <p:cNvSpPr/>
          <p:nvPr/>
        </p:nvSpPr>
        <p:spPr>
          <a:xfrm>
            <a:off x="3444483"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25" name="Text 50">
            <a:extLst>
              <a:ext uri="{FF2B5EF4-FFF2-40B4-BE49-F238E27FC236}">
                <a16:creationId xmlns:a16="http://schemas.microsoft.com/office/drawing/2014/main" id="{95527DCC-1F43-8A3D-2A58-DC34D3444C39}"/>
              </a:ext>
            </a:extLst>
          </p:cNvPr>
          <p:cNvSpPr/>
          <p:nvPr/>
        </p:nvSpPr>
        <p:spPr>
          <a:xfrm>
            <a:off x="3444483"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再購入CV</a:t>
            </a:r>
            <a:endParaRPr lang="en-US" sz="700" dirty="0">
              <a:latin typeface="メイリオ" panose="020B0604030504040204" pitchFamily="50" charset="-128"/>
              <a:ea typeface="メイリオ" panose="020B0604030504040204" pitchFamily="50" charset="-128"/>
            </a:endParaRPr>
          </a:p>
        </p:txBody>
      </p:sp>
      <p:sp>
        <p:nvSpPr>
          <p:cNvPr id="327" name="Shape 51">
            <a:extLst>
              <a:ext uri="{FF2B5EF4-FFF2-40B4-BE49-F238E27FC236}">
                <a16:creationId xmlns:a16="http://schemas.microsoft.com/office/drawing/2014/main" id="{BB7FE265-C435-3F11-D327-2005EB3B7D4C}"/>
              </a:ext>
            </a:extLst>
          </p:cNvPr>
          <p:cNvSpPr/>
          <p:nvPr/>
        </p:nvSpPr>
        <p:spPr>
          <a:xfrm>
            <a:off x="622035" y="469832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1" name="Shape 53">
            <a:extLst>
              <a:ext uri="{FF2B5EF4-FFF2-40B4-BE49-F238E27FC236}">
                <a16:creationId xmlns:a16="http://schemas.microsoft.com/office/drawing/2014/main" id="{F32B0A21-54EF-8445-6E6B-BBF9705C30E4}"/>
              </a:ext>
            </a:extLst>
          </p:cNvPr>
          <p:cNvSpPr/>
          <p:nvPr/>
        </p:nvSpPr>
        <p:spPr>
          <a:xfrm>
            <a:off x="731763" y="4755984"/>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3" name="Text 54">
            <a:extLst>
              <a:ext uri="{FF2B5EF4-FFF2-40B4-BE49-F238E27FC236}">
                <a16:creationId xmlns:a16="http://schemas.microsoft.com/office/drawing/2014/main" id="{4F222B19-A9AA-8B90-A278-F2067EC7FD8D}"/>
              </a:ext>
            </a:extLst>
          </p:cNvPr>
          <p:cNvSpPr/>
          <p:nvPr/>
        </p:nvSpPr>
        <p:spPr>
          <a:xfrm>
            <a:off x="731763" y="4765128"/>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5" name="Shape 55">
            <a:extLst>
              <a:ext uri="{FF2B5EF4-FFF2-40B4-BE49-F238E27FC236}">
                <a16:creationId xmlns:a16="http://schemas.microsoft.com/office/drawing/2014/main" id="{ABF7DB2E-403A-46F2-A837-399B3FE97C5E}"/>
              </a:ext>
            </a:extLst>
          </p:cNvPr>
          <p:cNvSpPr/>
          <p:nvPr/>
        </p:nvSpPr>
        <p:spPr>
          <a:xfrm>
            <a:off x="1037770" y="4765128"/>
            <a:ext cx="882713" cy="206647"/>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紹介キャンペーン</a:t>
            </a:r>
          </a:p>
        </p:txBody>
      </p:sp>
      <p:sp>
        <p:nvSpPr>
          <p:cNvPr id="339" name="Text 57">
            <a:extLst>
              <a:ext uri="{FF2B5EF4-FFF2-40B4-BE49-F238E27FC236}">
                <a16:creationId xmlns:a16="http://schemas.microsoft.com/office/drawing/2014/main" id="{863EF515-E441-C008-46FD-E8772A47BE9A}"/>
              </a:ext>
            </a:extLst>
          </p:cNvPr>
          <p:cNvSpPr/>
          <p:nvPr/>
        </p:nvSpPr>
        <p:spPr>
          <a:xfrm>
            <a:off x="1993635" y="4765128"/>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友人紹介制度をLINEで完結させる仕組みを設計</a:t>
            </a:r>
            <a:endParaRPr lang="en-US" sz="1000" dirty="0">
              <a:latin typeface="メイリオ" panose="020B0604030504040204" pitchFamily="50" charset="-128"/>
              <a:ea typeface="メイリオ" panose="020B0604030504040204" pitchFamily="50" charset="-128"/>
            </a:endParaRPr>
          </a:p>
        </p:txBody>
      </p:sp>
      <p:sp>
        <p:nvSpPr>
          <p:cNvPr id="341" name="Text 58">
            <a:extLst>
              <a:ext uri="{FF2B5EF4-FFF2-40B4-BE49-F238E27FC236}">
                <a16:creationId xmlns:a16="http://schemas.microsoft.com/office/drawing/2014/main" id="{8F06CA0B-814F-E8C0-33FE-0B48BBED0532}"/>
              </a:ext>
            </a:extLst>
          </p:cNvPr>
          <p:cNvSpPr/>
          <p:nvPr/>
        </p:nvSpPr>
        <p:spPr>
          <a:xfrm>
            <a:off x="731763"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「友人を紹介してくれたらXXXをプレゼント」をLINEで告知・管理。満足度が高い時期（利用直後・成果確認後）に訴求することで紹介件数が最大化する。</a:t>
            </a:r>
            <a:endParaRPr lang="en-US" sz="600" dirty="0">
              <a:latin typeface="メイリオ" panose="020B0604030504040204" pitchFamily="50" charset="-128"/>
              <a:ea typeface="メイリオ" panose="020B0604030504040204" pitchFamily="50" charset="-128"/>
            </a:endParaRPr>
          </a:p>
        </p:txBody>
      </p:sp>
      <p:sp>
        <p:nvSpPr>
          <p:cNvPr id="343" name="Shape 59">
            <a:extLst>
              <a:ext uri="{FF2B5EF4-FFF2-40B4-BE49-F238E27FC236}">
                <a16:creationId xmlns:a16="http://schemas.microsoft.com/office/drawing/2014/main" id="{F9FC2AD5-120F-E447-D301-5476F135AF0B}"/>
              </a:ext>
            </a:extLst>
          </p:cNvPr>
          <p:cNvSpPr/>
          <p:nvPr/>
        </p:nvSpPr>
        <p:spPr>
          <a:xfrm>
            <a:off x="71347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45" name="Text 60">
            <a:extLst>
              <a:ext uri="{FF2B5EF4-FFF2-40B4-BE49-F238E27FC236}">
                <a16:creationId xmlns:a16="http://schemas.microsoft.com/office/drawing/2014/main" id="{FB0832F3-E1A0-CA4E-156B-CE6E264BF982}"/>
              </a:ext>
            </a:extLst>
          </p:cNvPr>
          <p:cNvSpPr/>
          <p:nvPr/>
        </p:nvSpPr>
        <p:spPr>
          <a:xfrm>
            <a:off x="71347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利用後3ヶ月</a:t>
            </a:r>
            <a:endParaRPr lang="en-US" sz="700" dirty="0">
              <a:latin typeface="メイリオ" panose="020B0604030504040204" pitchFamily="50" charset="-128"/>
              <a:ea typeface="メイリオ" panose="020B0604030504040204" pitchFamily="50" charset="-128"/>
            </a:endParaRPr>
          </a:p>
        </p:txBody>
      </p:sp>
      <p:sp>
        <p:nvSpPr>
          <p:cNvPr id="347" name="Shape 61">
            <a:extLst>
              <a:ext uri="{FF2B5EF4-FFF2-40B4-BE49-F238E27FC236}">
                <a16:creationId xmlns:a16="http://schemas.microsoft.com/office/drawing/2014/main" id="{E24615D6-1A79-B0F4-BB14-14E2183880AC}"/>
              </a:ext>
            </a:extLst>
          </p:cNvPr>
          <p:cNvSpPr/>
          <p:nvPr/>
        </p:nvSpPr>
        <p:spPr>
          <a:xfrm>
            <a:off x="1987539"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49" name="Text 62">
            <a:extLst>
              <a:ext uri="{FF2B5EF4-FFF2-40B4-BE49-F238E27FC236}">
                <a16:creationId xmlns:a16="http://schemas.microsoft.com/office/drawing/2014/main" id="{64603FC2-C317-4C97-5288-F270620ED7B9}"/>
              </a:ext>
            </a:extLst>
          </p:cNvPr>
          <p:cNvSpPr/>
          <p:nvPr/>
        </p:nvSpPr>
        <p:spPr>
          <a:xfrm>
            <a:off x="1987539"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1" name="Shape 63">
            <a:extLst>
              <a:ext uri="{FF2B5EF4-FFF2-40B4-BE49-F238E27FC236}">
                <a16:creationId xmlns:a16="http://schemas.microsoft.com/office/drawing/2014/main" id="{C477B16C-33E8-F120-9A1F-AFC395AE6E3D}"/>
              </a:ext>
            </a:extLst>
          </p:cNvPr>
          <p:cNvSpPr/>
          <p:nvPr/>
        </p:nvSpPr>
        <p:spPr>
          <a:xfrm>
            <a:off x="207897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3" name="Text 64">
            <a:extLst>
              <a:ext uri="{FF2B5EF4-FFF2-40B4-BE49-F238E27FC236}">
                <a16:creationId xmlns:a16="http://schemas.microsoft.com/office/drawing/2014/main" id="{2A73DA5C-F06B-A590-9987-5306E6C59DCE}"/>
              </a:ext>
            </a:extLst>
          </p:cNvPr>
          <p:cNvSpPr/>
          <p:nvPr/>
        </p:nvSpPr>
        <p:spPr>
          <a:xfrm>
            <a:off x="20789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紹介特典訴求</a:t>
            </a:r>
            <a:endParaRPr lang="en-US" sz="700" dirty="0">
              <a:latin typeface="メイリオ" panose="020B0604030504040204" pitchFamily="50" charset="-128"/>
              <a:ea typeface="メイリオ" panose="020B0604030504040204" pitchFamily="50" charset="-128"/>
            </a:endParaRPr>
          </a:p>
        </p:txBody>
      </p:sp>
      <p:sp>
        <p:nvSpPr>
          <p:cNvPr id="355" name="Shape 65">
            <a:extLst>
              <a:ext uri="{FF2B5EF4-FFF2-40B4-BE49-F238E27FC236}">
                <a16:creationId xmlns:a16="http://schemas.microsoft.com/office/drawing/2014/main" id="{4B5406BB-D5C2-0D61-B213-493260EC338A}"/>
              </a:ext>
            </a:extLst>
          </p:cNvPr>
          <p:cNvSpPr/>
          <p:nvPr/>
        </p:nvSpPr>
        <p:spPr>
          <a:xfrm>
            <a:off x="3353043"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7" name="Text 66">
            <a:extLst>
              <a:ext uri="{FF2B5EF4-FFF2-40B4-BE49-F238E27FC236}">
                <a16:creationId xmlns:a16="http://schemas.microsoft.com/office/drawing/2014/main" id="{E443F4FD-BC95-5CA8-315B-21521441E367}"/>
              </a:ext>
            </a:extLst>
          </p:cNvPr>
          <p:cNvSpPr/>
          <p:nvPr/>
        </p:nvSpPr>
        <p:spPr>
          <a:xfrm>
            <a:off x="3353043"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9" name="Shape 67">
            <a:extLst>
              <a:ext uri="{FF2B5EF4-FFF2-40B4-BE49-F238E27FC236}">
                <a16:creationId xmlns:a16="http://schemas.microsoft.com/office/drawing/2014/main" id="{DA4B236A-3702-649B-9446-3AB64493F09A}"/>
              </a:ext>
            </a:extLst>
          </p:cNvPr>
          <p:cNvSpPr/>
          <p:nvPr/>
        </p:nvSpPr>
        <p:spPr>
          <a:xfrm>
            <a:off x="3444483" y="567627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00" b="1" dirty="0" err="1">
                <a:solidFill>
                  <a:srgbClr val="FFFFFF"/>
                </a:solidFill>
                <a:latin typeface="メイリオ" panose="020B0604030504040204" pitchFamily="50" charset="-128"/>
                <a:ea typeface="メイリオ" panose="020B0604030504040204" pitchFamily="50" charset="-128"/>
                <a:cs typeface="Calibri" pitchFamily="34" charset="-120"/>
              </a:rPr>
              <a:t>紹介→新規CV</a:t>
            </a:r>
            <a:endParaRPr lang="en-US" altLang="ja-JP" sz="700" dirty="0">
              <a:latin typeface="メイリオ" panose="020B0604030504040204" pitchFamily="50" charset="-128"/>
              <a:ea typeface="メイリオ" panose="020B0604030504040204" pitchFamily="50" charset="-128"/>
            </a:endParaRPr>
          </a:p>
        </p:txBody>
      </p:sp>
      <p:sp>
        <p:nvSpPr>
          <p:cNvPr id="363" name="Shape 69">
            <a:extLst>
              <a:ext uri="{FF2B5EF4-FFF2-40B4-BE49-F238E27FC236}">
                <a16:creationId xmlns:a16="http://schemas.microsoft.com/office/drawing/2014/main" id="{11D208CF-F0AA-77FB-68F5-7FA3663557BE}"/>
              </a:ext>
            </a:extLst>
          </p:cNvPr>
          <p:cNvSpPr/>
          <p:nvPr/>
        </p:nvSpPr>
        <p:spPr>
          <a:xfrm>
            <a:off x="5066019" y="157163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7" name="Shape 71">
            <a:extLst>
              <a:ext uri="{FF2B5EF4-FFF2-40B4-BE49-F238E27FC236}">
                <a16:creationId xmlns:a16="http://schemas.microsoft.com/office/drawing/2014/main" id="{BA65DAD3-3E2D-0363-0ABA-819311B17A9B}"/>
              </a:ext>
            </a:extLst>
          </p:cNvPr>
          <p:cNvSpPr/>
          <p:nvPr/>
        </p:nvSpPr>
        <p:spPr>
          <a:xfrm>
            <a:off x="5175747" y="166307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9" name="Text 72">
            <a:extLst>
              <a:ext uri="{FF2B5EF4-FFF2-40B4-BE49-F238E27FC236}">
                <a16:creationId xmlns:a16="http://schemas.microsoft.com/office/drawing/2014/main" id="{772DDEC2-C488-7293-86EB-F96BAAD7EA90}"/>
              </a:ext>
            </a:extLst>
          </p:cNvPr>
          <p:cNvSpPr/>
          <p:nvPr/>
        </p:nvSpPr>
        <p:spPr>
          <a:xfrm>
            <a:off x="5175747"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1" name="Shape 73">
            <a:extLst>
              <a:ext uri="{FF2B5EF4-FFF2-40B4-BE49-F238E27FC236}">
                <a16:creationId xmlns:a16="http://schemas.microsoft.com/office/drawing/2014/main" id="{595BE68E-4F81-E693-447A-8BD486204CD6}"/>
              </a:ext>
            </a:extLst>
          </p:cNvPr>
          <p:cNvSpPr/>
          <p:nvPr/>
        </p:nvSpPr>
        <p:spPr>
          <a:xfrm>
            <a:off x="5523219" y="1690504"/>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373" name="Text 74">
            <a:extLst>
              <a:ext uri="{FF2B5EF4-FFF2-40B4-BE49-F238E27FC236}">
                <a16:creationId xmlns:a16="http://schemas.microsoft.com/office/drawing/2014/main" id="{DE0C1BD7-D498-BF93-A12E-93FC8F3EFEEB}"/>
              </a:ext>
            </a:extLst>
          </p:cNvPr>
          <p:cNvSpPr/>
          <p:nvPr/>
        </p:nvSpPr>
        <p:spPr>
          <a:xfrm>
            <a:off x="5523219" y="1672216"/>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利用状況連動</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5" name="Text 75">
            <a:extLst>
              <a:ext uri="{FF2B5EF4-FFF2-40B4-BE49-F238E27FC236}">
                <a16:creationId xmlns:a16="http://schemas.microsoft.com/office/drawing/2014/main" id="{828F19F3-3156-29E9-3072-E1DED5F92BA0}"/>
              </a:ext>
            </a:extLst>
          </p:cNvPr>
          <p:cNvSpPr/>
          <p:nvPr/>
        </p:nvSpPr>
        <p:spPr>
          <a:xfrm>
            <a:off x="6437619" y="1672216"/>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利用量・頻度に応じたアップグレード提案</a:t>
            </a:r>
            <a:endParaRPr lang="en-US" sz="1000" dirty="0">
              <a:latin typeface="メイリオ" panose="020B0604030504040204" pitchFamily="50" charset="-128"/>
              <a:ea typeface="メイリオ" panose="020B0604030504040204" pitchFamily="50" charset="-128"/>
            </a:endParaRPr>
          </a:p>
        </p:txBody>
      </p:sp>
      <p:sp>
        <p:nvSpPr>
          <p:cNvPr id="377" name="Text 76">
            <a:extLst>
              <a:ext uri="{FF2B5EF4-FFF2-40B4-BE49-F238E27FC236}">
                <a16:creationId xmlns:a16="http://schemas.microsoft.com/office/drawing/2014/main" id="{74CEEBF9-FB5E-B42A-5BBB-7613F874DD22}"/>
              </a:ext>
            </a:extLst>
          </p:cNvPr>
          <p:cNvSpPr/>
          <p:nvPr/>
        </p:nvSpPr>
        <p:spPr>
          <a:xfrm>
            <a:off x="5175747"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利用状況タグを活用して「よく使っている層」に上位プランの提案を自動配信。「今のプランより月1,000円で〇〇が使い放題に」という具体的メリット提示がCVRを高める。</a:t>
            </a:r>
            <a:endParaRPr lang="en-US" sz="600" dirty="0">
              <a:latin typeface="メイリオ" panose="020B0604030504040204" pitchFamily="50" charset="-128"/>
              <a:ea typeface="メイリオ" panose="020B0604030504040204" pitchFamily="50" charset="-128"/>
            </a:endParaRPr>
          </a:p>
        </p:txBody>
      </p:sp>
      <p:sp>
        <p:nvSpPr>
          <p:cNvPr id="379" name="Shape 77">
            <a:extLst>
              <a:ext uri="{FF2B5EF4-FFF2-40B4-BE49-F238E27FC236}">
                <a16:creationId xmlns:a16="http://schemas.microsoft.com/office/drawing/2014/main" id="{EB3AEAB9-3091-B770-5C73-60F2CC509D9D}"/>
              </a:ext>
            </a:extLst>
          </p:cNvPr>
          <p:cNvSpPr/>
          <p:nvPr/>
        </p:nvSpPr>
        <p:spPr>
          <a:xfrm>
            <a:off x="5157459"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81" name="Text 78">
            <a:extLst>
              <a:ext uri="{FF2B5EF4-FFF2-40B4-BE49-F238E27FC236}">
                <a16:creationId xmlns:a16="http://schemas.microsoft.com/office/drawing/2014/main" id="{16B65D6F-FEB1-6B8D-4243-6E6A8950251C}"/>
              </a:ext>
            </a:extLst>
          </p:cNvPr>
          <p:cNvSpPr/>
          <p:nvPr/>
        </p:nvSpPr>
        <p:spPr>
          <a:xfrm>
            <a:off x="515745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利用量タグ付与</a:t>
            </a:r>
            <a:endParaRPr lang="en-US" sz="700" dirty="0">
              <a:latin typeface="メイリオ" panose="020B0604030504040204" pitchFamily="50" charset="-128"/>
              <a:ea typeface="メイリオ" panose="020B0604030504040204" pitchFamily="50" charset="-128"/>
            </a:endParaRPr>
          </a:p>
        </p:txBody>
      </p:sp>
      <p:sp>
        <p:nvSpPr>
          <p:cNvPr id="383" name="Shape 79">
            <a:extLst>
              <a:ext uri="{FF2B5EF4-FFF2-40B4-BE49-F238E27FC236}">
                <a16:creationId xmlns:a16="http://schemas.microsoft.com/office/drawing/2014/main" id="{ACEF9838-1EE3-1464-24F9-5960C72ACE63}"/>
              </a:ext>
            </a:extLst>
          </p:cNvPr>
          <p:cNvSpPr/>
          <p:nvPr/>
        </p:nvSpPr>
        <p:spPr>
          <a:xfrm>
            <a:off x="6431523"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5" name="Text 80">
            <a:extLst>
              <a:ext uri="{FF2B5EF4-FFF2-40B4-BE49-F238E27FC236}">
                <a16:creationId xmlns:a16="http://schemas.microsoft.com/office/drawing/2014/main" id="{69501D59-8F67-4ADD-2B3A-62D69E08E6AD}"/>
              </a:ext>
            </a:extLst>
          </p:cNvPr>
          <p:cNvSpPr/>
          <p:nvPr/>
        </p:nvSpPr>
        <p:spPr>
          <a:xfrm>
            <a:off x="6431523"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87" name="Shape 81">
            <a:extLst>
              <a:ext uri="{FF2B5EF4-FFF2-40B4-BE49-F238E27FC236}">
                <a16:creationId xmlns:a16="http://schemas.microsoft.com/office/drawing/2014/main" id="{24E5901A-0626-345C-7E4E-690DFA9947EE}"/>
              </a:ext>
            </a:extLst>
          </p:cNvPr>
          <p:cNvSpPr/>
          <p:nvPr/>
        </p:nvSpPr>
        <p:spPr>
          <a:xfrm>
            <a:off x="6522963"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アップグレード提案</a:t>
            </a:r>
            <a:endParaRPr lang="en-US" altLang="ja-JP" sz="700" dirty="0">
              <a:latin typeface="メイリオ" panose="020B0604030504040204" pitchFamily="50" charset="-128"/>
              <a:ea typeface="メイリオ" panose="020B0604030504040204" pitchFamily="50" charset="-128"/>
            </a:endParaRPr>
          </a:p>
        </p:txBody>
      </p:sp>
      <p:sp>
        <p:nvSpPr>
          <p:cNvPr id="391" name="Shape 83">
            <a:extLst>
              <a:ext uri="{FF2B5EF4-FFF2-40B4-BE49-F238E27FC236}">
                <a16:creationId xmlns:a16="http://schemas.microsoft.com/office/drawing/2014/main" id="{DBA87A6B-3A5A-5BB5-800C-AD29E3A38E51}"/>
              </a:ext>
            </a:extLst>
          </p:cNvPr>
          <p:cNvSpPr/>
          <p:nvPr/>
        </p:nvSpPr>
        <p:spPr>
          <a:xfrm>
            <a:off x="7797027"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3" name="Text 84">
            <a:extLst>
              <a:ext uri="{FF2B5EF4-FFF2-40B4-BE49-F238E27FC236}">
                <a16:creationId xmlns:a16="http://schemas.microsoft.com/office/drawing/2014/main" id="{5F05F5BA-6ADB-F29A-796A-6AE1FAE69215}"/>
              </a:ext>
            </a:extLst>
          </p:cNvPr>
          <p:cNvSpPr/>
          <p:nvPr/>
        </p:nvSpPr>
        <p:spPr>
          <a:xfrm>
            <a:off x="7797027"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5" name="Shape 85">
            <a:extLst>
              <a:ext uri="{FF2B5EF4-FFF2-40B4-BE49-F238E27FC236}">
                <a16:creationId xmlns:a16="http://schemas.microsoft.com/office/drawing/2014/main" id="{B5E69B07-FB02-4F49-A566-CE157E614F49}"/>
              </a:ext>
            </a:extLst>
          </p:cNvPr>
          <p:cNvSpPr/>
          <p:nvPr/>
        </p:nvSpPr>
        <p:spPr>
          <a:xfrm>
            <a:off x="7888467"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プラン変更CV</a:t>
            </a:r>
            <a:endParaRPr lang="en-US" altLang="ja-JP" sz="700" dirty="0">
              <a:latin typeface="メイリオ" panose="020B0604030504040204" pitchFamily="50" charset="-128"/>
              <a:ea typeface="メイリオ" panose="020B0604030504040204" pitchFamily="50" charset="-128"/>
            </a:endParaRPr>
          </a:p>
        </p:txBody>
      </p:sp>
      <p:sp>
        <p:nvSpPr>
          <p:cNvPr id="399" name="Shape 87">
            <a:extLst>
              <a:ext uri="{FF2B5EF4-FFF2-40B4-BE49-F238E27FC236}">
                <a16:creationId xmlns:a16="http://schemas.microsoft.com/office/drawing/2014/main" id="{BF4F34D9-E34A-88AA-21A2-8773568F5586}"/>
              </a:ext>
            </a:extLst>
          </p:cNvPr>
          <p:cNvSpPr/>
          <p:nvPr/>
        </p:nvSpPr>
        <p:spPr>
          <a:xfrm>
            <a:off x="5066019" y="3118120"/>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3" name="Shape 89">
            <a:extLst>
              <a:ext uri="{FF2B5EF4-FFF2-40B4-BE49-F238E27FC236}">
                <a16:creationId xmlns:a16="http://schemas.microsoft.com/office/drawing/2014/main" id="{EFE5E9D0-3F2E-411E-681C-D9CBD3BA1795}"/>
              </a:ext>
            </a:extLst>
          </p:cNvPr>
          <p:cNvSpPr/>
          <p:nvPr/>
        </p:nvSpPr>
        <p:spPr>
          <a:xfrm>
            <a:off x="5175747" y="3209560"/>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5" name="Text 90">
            <a:extLst>
              <a:ext uri="{FF2B5EF4-FFF2-40B4-BE49-F238E27FC236}">
                <a16:creationId xmlns:a16="http://schemas.microsoft.com/office/drawing/2014/main" id="{5A2E3029-A975-C95C-7E57-D4269143AA55}"/>
              </a:ext>
            </a:extLst>
          </p:cNvPr>
          <p:cNvSpPr/>
          <p:nvPr/>
        </p:nvSpPr>
        <p:spPr>
          <a:xfrm>
            <a:off x="5175747" y="3218704"/>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07" name="Shape 91">
            <a:extLst>
              <a:ext uri="{FF2B5EF4-FFF2-40B4-BE49-F238E27FC236}">
                <a16:creationId xmlns:a16="http://schemas.microsoft.com/office/drawing/2014/main" id="{0B44982A-093D-F4A4-8627-DD2BEB875FCE}"/>
              </a:ext>
            </a:extLst>
          </p:cNvPr>
          <p:cNvSpPr/>
          <p:nvPr/>
        </p:nvSpPr>
        <p:spPr>
          <a:xfrm>
            <a:off x="5523219" y="3236992"/>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409" name="Text 92">
            <a:extLst>
              <a:ext uri="{FF2B5EF4-FFF2-40B4-BE49-F238E27FC236}">
                <a16:creationId xmlns:a16="http://schemas.microsoft.com/office/drawing/2014/main" id="{8E58A804-D262-6223-9739-795C7490802F}"/>
              </a:ext>
            </a:extLst>
          </p:cNvPr>
          <p:cNvSpPr/>
          <p:nvPr/>
        </p:nvSpPr>
        <p:spPr>
          <a:xfrm>
            <a:off x="5523219" y="3218704"/>
            <a:ext cx="859536" cy="189246"/>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関連商材</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11" name="Text 93">
            <a:extLst>
              <a:ext uri="{FF2B5EF4-FFF2-40B4-BE49-F238E27FC236}">
                <a16:creationId xmlns:a16="http://schemas.microsoft.com/office/drawing/2014/main" id="{2820774A-8461-0C15-3354-D17D2A38ACE9}"/>
              </a:ext>
            </a:extLst>
          </p:cNvPr>
          <p:cNvSpPr/>
          <p:nvPr/>
        </p:nvSpPr>
        <p:spPr>
          <a:xfrm>
            <a:off x="6437619"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購入・利用カテゴリに紐づくクロスセル配信</a:t>
            </a:r>
            <a:endParaRPr lang="en-US" sz="1000" dirty="0">
              <a:latin typeface="メイリオ" panose="020B0604030504040204" pitchFamily="50" charset="-128"/>
              <a:ea typeface="メイリオ" panose="020B0604030504040204" pitchFamily="50" charset="-128"/>
            </a:endParaRPr>
          </a:p>
        </p:txBody>
      </p:sp>
      <p:sp>
        <p:nvSpPr>
          <p:cNvPr id="413" name="Text 94">
            <a:extLst>
              <a:ext uri="{FF2B5EF4-FFF2-40B4-BE49-F238E27FC236}">
                <a16:creationId xmlns:a16="http://schemas.microsoft.com/office/drawing/2014/main" id="{66C6D264-EC5E-9BD7-A6C4-38CC9629CE29}"/>
              </a:ext>
            </a:extLst>
          </p:cNvPr>
          <p:cNvSpPr/>
          <p:nvPr/>
        </p:nvSpPr>
        <p:spPr>
          <a:xfrm>
            <a:off x="5175747"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「Aサービスをご利用中の方向け：Bサービスとの組み合わせで効果UP」という形で関連商材を案内。タグセグメントで対象を絞ることで過剰アプローチを防ぐ。</a:t>
            </a:r>
            <a:endParaRPr lang="en-US" sz="600" dirty="0">
              <a:latin typeface="メイリオ" panose="020B0604030504040204" pitchFamily="50" charset="-128"/>
              <a:ea typeface="メイリオ" panose="020B0604030504040204" pitchFamily="50" charset="-128"/>
            </a:endParaRPr>
          </a:p>
        </p:txBody>
      </p:sp>
      <p:sp>
        <p:nvSpPr>
          <p:cNvPr id="415" name="Shape 95">
            <a:extLst>
              <a:ext uri="{FF2B5EF4-FFF2-40B4-BE49-F238E27FC236}">
                <a16:creationId xmlns:a16="http://schemas.microsoft.com/office/drawing/2014/main" id="{3620767E-5C81-82F3-ACE8-BEF5B040FA3C}"/>
              </a:ext>
            </a:extLst>
          </p:cNvPr>
          <p:cNvSpPr/>
          <p:nvPr/>
        </p:nvSpPr>
        <p:spPr>
          <a:xfrm>
            <a:off x="515745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17" name="Text 96">
            <a:extLst>
              <a:ext uri="{FF2B5EF4-FFF2-40B4-BE49-F238E27FC236}">
                <a16:creationId xmlns:a16="http://schemas.microsoft.com/office/drawing/2014/main" id="{9AA7117C-343C-4068-D766-8BFDA27C8DE4}"/>
              </a:ext>
            </a:extLst>
          </p:cNvPr>
          <p:cNvSpPr/>
          <p:nvPr/>
        </p:nvSpPr>
        <p:spPr>
          <a:xfrm>
            <a:off x="515745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購入カテゴリ特定</a:t>
            </a:r>
            <a:endParaRPr lang="en-US" sz="700" dirty="0">
              <a:latin typeface="メイリオ" panose="020B0604030504040204" pitchFamily="50" charset="-128"/>
              <a:ea typeface="メイリオ" panose="020B0604030504040204" pitchFamily="50" charset="-128"/>
            </a:endParaRPr>
          </a:p>
        </p:txBody>
      </p:sp>
      <p:sp>
        <p:nvSpPr>
          <p:cNvPr id="419" name="Shape 97">
            <a:extLst>
              <a:ext uri="{FF2B5EF4-FFF2-40B4-BE49-F238E27FC236}">
                <a16:creationId xmlns:a16="http://schemas.microsoft.com/office/drawing/2014/main" id="{0EBCC7F5-0E29-C4A8-94D8-A7D7ECC5F89A}"/>
              </a:ext>
            </a:extLst>
          </p:cNvPr>
          <p:cNvSpPr/>
          <p:nvPr/>
        </p:nvSpPr>
        <p:spPr>
          <a:xfrm>
            <a:off x="6431523"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1" name="Text 98">
            <a:extLst>
              <a:ext uri="{FF2B5EF4-FFF2-40B4-BE49-F238E27FC236}">
                <a16:creationId xmlns:a16="http://schemas.microsoft.com/office/drawing/2014/main" id="{BD96E4BA-ADE4-8898-880F-1EAA79A8DF2D}"/>
              </a:ext>
            </a:extLst>
          </p:cNvPr>
          <p:cNvSpPr/>
          <p:nvPr/>
        </p:nvSpPr>
        <p:spPr>
          <a:xfrm>
            <a:off x="6431523"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3" name="Shape 99">
            <a:extLst>
              <a:ext uri="{FF2B5EF4-FFF2-40B4-BE49-F238E27FC236}">
                <a16:creationId xmlns:a16="http://schemas.microsoft.com/office/drawing/2014/main" id="{E126C166-BD13-9190-0FE0-63914F4AD447}"/>
              </a:ext>
            </a:extLst>
          </p:cNvPr>
          <p:cNvSpPr/>
          <p:nvPr/>
        </p:nvSpPr>
        <p:spPr>
          <a:xfrm>
            <a:off x="6522963"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関連商材案内</a:t>
            </a:r>
            <a:endParaRPr lang="en-US" altLang="ja-JP" sz="700" dirty="0">
              <a:latin typeface="メイリオ" panose="020B0604030504040204" pitchFamily="50" charset="-128"/>
              <a:ea typeface="メイリオ" panose="020B0604030504040204" pitchFamily="50" charset="-128"/>
            </a:endParaRPr>
          </a:p>
        </p:txBody>
      </p:sp>
      <p:sp>
        <p:nvSpPr>
          <p:cNvPr id="427" name="Shape 101">
            <a:extLst>
              <a:ext uri="{FF2B5EF4-FFF2-40B4-BE49-F238E27FC236}">
                <a16:creationId xmlns:a16="http://schemas.microsoft.com/office/drawing/2014/main" id="{EE014BEF-08EA-D95F-B260-566E9689AFE2}"/>
              </a:ext>
            </a:extLst>
          </p:cNvPr>
          <p:cNvSpPr/>
          <p:nvPr/>
        </p:nvSpPr>
        <p:spPr>
          <a:xfrm>
            <a:off x="7797027"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9" name="Text 102">
            <a:extLst>
              <a:ext uri="{FF2B5EF4-FFF2-40B4-BE49-F238E27FC236}">
                <a16:creationId xmlns:a16="http://schemas.microsoft.com/office/drawing/2014/main" id="{6D8C6BF2-428E-B744-84F1-70D22F6EC306}"/>
              </a:ext>
            </a:extLst>
          </p:cNvPr>
          <p:cNvSpPr/>
          <p:nvPr/>
        </p:nvSpPr>
        <p:spPr>
          <a:xfrm>
            <a:off x="7797027"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1" name="Shape 103">
            <a:extLst>
              <a:ext uri="{FF2B5EF4-FFF2-40B4-BE49-F238E27FC236}">
                <a16:creationId xmlns:a16="http://schemas.microsoft.com/office/drawing/2014/main" id="{EB1CED23-229B-155C-8DA1-725B58167B0D}"/>
              </a:ext>
            </a:extLst>
          </p:cNvPr>
          <p:cNvSpPr/>
          <p:nvPr/>
        </p:nvSpPr>
        <p:spPr>
          <a:xfrm>
            <a:off x="7888467"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33" name="Text 104">
            <a:extLst>
              <a:ext uri="{FF2B5EF4-FFF2-40B4-BE49-F238E27FC236}">
                <a16:creationId xmlns:a16="http://schemas.microsoft.com/office/drawing/2014/main" id="{B0BD8085-260F-767B-600D-29C4EFE91EF6}"/>
              </a:ext>
            </a:extLst>
          </p:cNvPr>
          <p:cNvSpPr/>
          <p:nvPr/>
        </p:nvSpPr>
        <p:spPr>
          <a:xfrm>
            <a:off x="788846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クロスセルCV</a:t>
            </a:r>
            <a:endParaRPr lang="en-US" sz="700" dirty="0">
              <a:latin typeface="メイリオ" panose="020B0604030504040204" pitchFamily="50" charset="-128"/>
              <a:ea typeface="メイリオ" panose="020B0604030504040204" pitchFamily="50" charset="-128"/>
            </a:endParaRPr>
          </a:p>
        </p:txBody>
      </p:sp>
      <p:sp>
        <p:nvSpPr>
          <p:cNvPr id="435" name="Shape 105">
            <a:extLst>
              <a:ext uri="{FF2B5EF4-FFF2-40B4-BE49-F238E27FC236}">
                <a16:creationId xmlns:a16="http://schemas.microsoft.com/office/drawing/2014/main" id="{2B58AD02-89B6-782E-1247-733846A3BEB6}"/>
              </a:ext>
            </a:extLst>
          </p:cNvPr>
          <p:cNvSpPr/>
          <p:nvPr/>
        </p:nvSpPr>
        <p:spPr>
          <a:xfrm>
            <a:off x="5066019" y="4666968"/>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9" name="Shape 107">
            <a:extLst>
              <a:ext uri="{FF2B5EF4-FFF2-40B4-BE49-F238E27FC236}">
                <a16:creationId xmlns:a16="http://schemas.microsoft.com/office/drawing/2014/main" id="{A1CF4B93-1F7F-95B1-9748-9AE48BB0A67D}"/>
              </a:ext>
            </a:extLst>
          </p:cNvPr>
          <p:cNvSpPr/>
          <p:nvPr/>
        </p:nvSpPr>
        <p:spPr>
          <a:xfrm>
            <a:off x="5175747" y="4758408"/>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1" name="Text 108">
            <a:extLst>
              <a:ext uri="{FF2B5EF4-FFF2-40B4-BE49-F238E27FC236}">
                <a16:creationId xmlns:a16="http://schemas.microsoft.com/office/drawing/2014/main" id="{699242CC-C724-22FB-181E-24FA20BE103C}"/>
              </a:ext>
            </a:extLst>
          </p:cNvPr>
          <p:cNvSpPr/>
          <p:nvPr/>
        </p:nvSpPr>
        <p:spPr>
          <a:xfrm>
            <a:off x="5175747"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3" name="Shape 109">
            <a:extLst>
              <a:ext uri="{FF2B5EF4-FFF2-40B4-BE49-F238E27FC236}">
                <a16:creationId xmlns:a16="http://schemas.microsoft.com/office/drawing/2014/main" id="{5C0B9632-0D33-3A4F-852D-28C99ACB77A6}"/>
              </a:ext>
            </a:extLst>
          </p:cNvPr>
          <p:cNvSpPr/>
          <p:nvPr/>
        </p:nvSpPr>
        <p:spPr>
          <a:xfrm>
            <a:off x="5523219" y="4785840"/>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445" name="Text 110">
            <a:extLst>
              <a:ext uri="{FF2B5EF4-FFF2-40B4-BE49-F238E27FC236}">
                <a16:creationId xmlns:a16="http://schemas.microsoft.com/office/drawing/2014/main" id="{B910E2C6-1CCA-1DB7-F916-05CAB4560F12}"/>
              </a:ext>
            </a:extLst>
          </p:cNvPr>
          <p:cNvSpPr/>
          <p:nvPr/>
        </p:nvSpPr>
        <p:spPr>
          <a:xfrm>
            <a:off x="5523219" y="4767551"/>
            <a:ext cx="859536" cy="204224"/>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季節連動</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47" name="Text 111">
            <a:extLst>
              <a:ext uri="{FF2B5EF4-FFF2-40B4-BE49-F238E27FC236}">
                <a16:creationId xmlns:a16="http://schemas.microsoft.com/office/drawing/2014/main" id="{418968BF-D240-4525-61FD-34A2CD92F77A}"/>
              </a:ext>
            </a:extLst>
          </p:cNvPr>
          <p:cNvSpPr/>
          <p:nvPr/>
        </p:nvSpPr>
        <p:spPr>
          <a:xfrm>
            <a:off x="6437619" y="4767552"/>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季節・繁忙期に合わせた関連サービス案内</a:t>
            </a:r>
            <a:endParaRPr lang="en-US" sz="1000" dirty="0">
              <a:latin typeface="メイリオ" panose="020B0604030504040204" pitchFamily="50" charset="-128"/>
              <a:ea typeface="メイリオ" panose="020B0604030504040204" pitchFamily="50" charset="-128"/>
            </a:endParaRPr>
          </a:p>
        </p:txBody>
      </p:sp>
      <p:sp>
        <p:nvSpPr>
          <p:cNvPr id="449" name="Text 112">
            <a:extLst>
              <a:ext uri="{FF2B5EF4-FFF2-40B4-BE49-F238E27FC236}">
                <a16:creationId xmlns:a16="http://schemas.microsoft.com/office/drawing/2014/main" id="{DB9225A3-0B40-6631-04BA-B036BA78DD18}"/>
              </a:ext>
            </a:extLst>
          </p:cNvPr>
          <p:cNvSpPr/>
          <p:nvPr/>
        </p:nvSpPr>
        <p:spPr>
          <a:xfrm>
            <a:off x="5175747"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ユーザーが次のニーズを感じる前に関連サービスを先出しする。「春のXXXに向けて、ご準備はお済みですか？」という形でシーズン2〜3週前に配信するとCVRが高い。</a:t>
            </a:r>
            <a:endParaRPr lang="en-US" sz="600" dirty="0">
              <a:latin typeface="メイリオ" panose="020B0604030504040204" pitchFamily="50" charset="-128"/>
              <a:ea typeface="メイリオ" panose="020B0604030504040204" pitchFamily="50" charset="-128"/>
            </a:endParaRPr>
          </a:p>
        </p:txBody>
      </p:sp>
      <p:sp>
        <p:nvSpPr>
          <p:cNvPr id="451" name="Shape 113">
            <a:extLst>
              <a:ext uri="{FF2B5EF4-FFF2-40B4-BE49-F238E27FC236}">
                <a16:creationId xmlns:a16="http://schemas.microsoft.com/office/drawing/2014/main" id="{2E10B183-2361-FE23-322F-7D503F80197A}"/>
              </a:ext>
            </a:extLst>
          </p:cNvPr>
          <p:cNvSpPr/>
          <p:nvPr/>
        </p:nvSpPr>
        <p:spPr>
          <a:xfrm>
            <a:off x="515745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3" name="Text 114">
            <a:extLst>
              <a:ext uri="{FF2B5EF4-FFF2-40B4-BE49-F238E27FC236}">
                <a16:creationId xmlns:a16="http://schemas.microsoft.com/office/drawing/2014/main" id="{E3F71D55-3A7F-7216-A68B-E9D41C4251F7}"/>
              </a:ext>
            </a:extLst>
          </p:cNvPr>
          <p:cNvSpPr/>
          <p:nvPr/>
        </p:nvSpPr>
        <p:spPr>
          <a:xfrm>
            <a:off x="515745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シーズン2〜3週前</a:t>
            </a:r>
            <a:endParaRPr lang="en-US" sz="700" dirty="0">
              <a:latin typeface="メイリオ" panose="020B0604030504040204" pitchFamily="50" charset="-128"/>
              <a:ea typeface="メイリオ" panose="020B0604030504040204" pitchFamily="50" charset="-128"/>
            </a:endParaRPr>
          </a:p>
        </p:txBody>
      </p:sp>
      <p:sp>
        <p:nvSpPr>
          <p:cNvPr id="455" name="Shape 115">
            <a:extLst>
              <a:ext uri="{FF2B5EF4-FFF2-40B4-BE49-F238E27FC236}">
                <a16:creationId xmlns:a16="http://schemas.microsoft.com/office/drawing/2014/main" id="{4DD46369-30C8-F75A-A124-3FEDB935C4A0}"/>
              </a:ext>
            </a:extLst>
          </p:cNvPr>
          <p:cNvSpPr/>
          <p:nvPr/>
        </p:nvSpPr>
        <p:spPr>
          <a:xfrm>
            <a:off x="6431523"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7" name="Text 116">
            <a:extLst>
              <a:ext uri="{FF2B5EF4-FFF2-40B4-BE49-F238E27FC236}">
                <a16:creationId xmlns:a16="http://schemas.microsoft.com/office/drawing/2014/main" id="{4A907B15-7708-47C9-7642-BA0B05630DEF}"/>
              </a:ext>
            </a:extLst>
          </p:cNvPr>
          <p:cNvSpPr/>
          <p:nvPr/>
        </p:nvSpPr>
        <p:spPr>
          <a:xfrm>
            <a:off x="6431523"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59" name="Shape 117">
            <a:extLst>
              <a:ext uri="{FF2B5EF4-FFF2-40B4-BE49-F238E27FC236}">
                <a16:creationId xmlns:a16="http://schemas.microsoft.com/office/drawing/2014/main" id="{33185618-A887-525D-081A-03DCDB2AC769}"/>
              </a:ext>
            </a:extLst>
          </p:cNvPr>
          <p:cNvSpPr/>
          <p:nvPr/>
        </p:nvSpPr>
        <p:spPr>
          <a:xfrm>
            <a:off x="6522963"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1" name="Text 118">
            <a:extLst>
              <a:ext uri="{FF2B5EF4-FFF2-40B4-BE49-F238E27FC236}">
                <a16:creationId xmlns:a16="http://schemas.microsoft.com/office/drawing/2014/main" id="{A758DBE7-E957-396E-311E-D9582502DB4F}"/>
              </a:ext>
            </a:extLst>
          </p:cNvPr>
          <p:cNvSpPr/>
          <p:nvPr/>
        </p:nvSpPr>
        <p:spPr>
          <a:xfrm>
            <a:off x="6522963"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関連サービス先出し</a:t>
            </a:r>
            <a:endParaRPr lang="en-US" sz="700" dirty="0">
              <a:latin typeface="メイリオ" panose="020B0604030504040204" pitchFamily="50" charset="-128"/>
              <a:ea typeface="メイリオ" panose="020B0604030504040204" pitchFamily="50" charset="-128"/>
            </a:endParaRPr>
          </a:p>
        </p:txBody>
      </p:sp>
      <p:sp>
        <p:nvSpPr>
          <p:cNvPr id="463" name="Shape 119">
            <a:extLst>
              <a:ext uri="{FF2B5EF4-FFF2-40B4-BE49-F238E27FC236}">
                <a16:creationId xmlns:a16="http://schemas.microsoft.com/office/drawing/2014/main" id="{BF462C74-804E-9C1C-C821-FF72072655B2}"/>
              </a:ext>
            </a:extLst>
          </p:cNvPr>
          <p:cNvSpPr/>
          <p:nvPr/>
        </p:nvSpPr>
        <p:spPr>
          <a:xfrm>
            <a:off x="7797027"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5" name="Text 120">
            <a:extLst>
              <a:ext uri="{FF2B5EF4-FFF2-40B4-BE49-F238E27FC236}">
                <a16:creationId xmlns:a16="http://schemas.microsoft.com/office/drawing/2014/main" id="{BB683829-0CAA-9EF6-F72B-0FA8AE6169AD}"/>
              </a:ext>
            </a:extLst>
          </p:cNvPr>
          <p:cNvSpPr/>
          <p:nvPr/>
        </p:nvSpPr>
        <p:spPr>
          <a:xfrm>
            <a:off x="7797027"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7" name="Shape 121">
            <a:extLst>
              <a:ext uri="{FF2B5EF4-FFF2-40B4-BE49-F238E27FC236}">
                <a16:creationId xmlns:a16="http://schemas.microsoft.com/office/drawing/2014/main" id="{EE617E52-3088-925B-672C-E8F15869002F}"/>
              </a:ext>
            </a:extLst>
          </p:cNvPr>
          <p:cNvSpPr/>
          <p:nvPr/>
        </p:nvSpPr>
        <p:spPr>
          <a:xfrm>
            <a:off x="7888467"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9" name="Text 122">
            <a:extLst>
              <a:ext uri="{FF2B5EF4-FFF2-40B4-BE49-F238E27FC236}">
                <a16:creationId xmlns:a16="http://schemas.microsoft.com/office/drawing/2014/main" id="{571C1378-34E0-DF83-9B00-2BE63986DA83}"/>
              </a:ext>
            </a:extLst>
          </p:cNvPr>
          <p:cNvSpPr/>
          <p:nvPr/>
        </p:nvSpPr>
        <p:spPr>
          <a:xfrm>
            <a:off x="788846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CV獲得</a:t>
            </a:r>
            <a:endParaRPr lang="en-US" sz="7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84554320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D9CBDC7-BB8D-566B-5273-6DCD8BE0326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F5D35F1-C5E4-FAC8-AB97-4C02D6883A9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53CF23F6-F858-EAD5-4A2E-672EF61A2882}"/>
              </a:ext>
            </a:extLst>
          </p:cNvPr>
          <p:cNvSpPr txBox="1"/>
          <p:nvPr/>
        </p:nvSpPr>
        <p:spPr>
          <a:xfrm>
            <a:off x="309397" y="778217"/>
            <a:ext cx="9461620"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想定：チャットやり取りを簡略化・自動化する事で、利便性を下げず営業トスアップ、</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に繋げる</a:t>
            </a:r>
          </a:p>
        </p:txBody>
      </p:sp>
      <p:sp>
        <p:nvSpPr>
          <p:cNvPr id="481" name="Shape 8">
            <a:extLst>
              <a:ext uri="{FF2B5EF4-FFF2-40B4-BE49-F238E27FC236}">
                <a16:creationId xmlns:a16="http://schemas.microsoft.com/office/drawing/2014/main" id="{40D8E928-F46D-96F7-0405-13E012EFA7B2}"/>
              </a:ext>
            </a:extLst>
          </p:cNvPr>
          <p:cNvSpPr/>
          <p:nvPr/>
        </p:nvSpPr>
        <p:spPr>
          <a:xfrm>
            <a:off x="622035" y="127990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83" name="Text 9">
            <a:extLst>
              <a:ext uri="{FF2B5EF4-FFF2-40B4-BE49-F238E27FC236}">
                <a16:creationId xmlns:a16="http://schemas.microsoft.com/office/drawing/2014/main" id="{211C6D19-0C27-C77A-DDEA-DCD4258F1B5D}"/>
              </a:ext>
            </a:extLst>
          </p:cNvPr>
          <p:cNvSpPr/>
          <p:nvPr/>
        </p:nvSpPr>
        <p:spPr>
          <a:xfrm>
            <a:off x="750051" y="1262926"/>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自動化施策</a:t>
            </a:r>
            <a:endParaRPr lang="en-US" sz="1100" dirty="0">
              <a:latin typeface="メイリオ" panose="020B0604030504040204" pitchFamily="50" charset="-128"/>
              <a:ea typeface="メイリオ" panose="020B0604030504040204" pitchFamily="50" charset="-128"/>
            </a:endParaRPr>
          </a:p>
        </p:txBody>
      </p:sp>
      <p:sp>
        <p:nvSpPr>
          <p:cNvPr id="485" name="Text 10">
            <a:extLst>
              <a:ext uri="{FF2B5EF4-FFF2-40B4-BE49-F238E27FC236}">
                <a16:creationId xmlns:a16="http://schemas.microsoft.com/office/drawing/2014/main" id="{DA951D4A-E1CE-ACE1-3BD6-706CA24B5611}"/>
              </a:ext>
            </a:extLst>
          </p:cNvPr>
          <p:cNvSpPr/>
          <p:nvPr/>
        </p:nvSpPr>
        <p:spPr>
          <a:xfrm>
            <a:off x="2430690" y="1326857"/>
            <a:ext cx="2361009"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よくある問い合わせを人手ゼロで対応する</a:t>
            </a:r>
            <a:endParaRPr lang="en-US" sz="900" dirty="0">
              <a:latin typeface="メイリオ" panose="020B0604030504040204" pitchFamily="50" charset="-128"/>
              <a:ea typeface="メイリオ" panose="020B0604030504040204" pitchFamily="50" charset="-128"/>
            </a:endParaRPr>
          </a:p>
        </p:txBody>
      </p:sp>
      <p:sp>
        <p:nvSpPr>
          <p:cNvPr id="487" name="Shape 11">
            <a:extLst>
              <a:ext uri="{FF2B5EF4-FFF2-40B4-BE49-F238E27FC236}">
                <a16:creationId xmlns:a16="http://schemas.microsoft.com/office/drawing/2014/main" id="{63FB878D-F961-067F-8450-B9BA5EA58307}"/>
              </a:ext>
            </a:extLst>
          </p:cNvPr>
          <p:cNvSpPr/>
          <p:nvPr/>
        </p:nvSpPr>
        <p:spPr>
          <a:xfrm>
            <a:off x="5066019" y="127990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89" name="Text 12">
            <a:extLst>
              <a:ext uri="{FF2B5EF4-FFF2-40B4-BE49-F238E27FC236}">
                <a16:creationId xmlns:a16="http://schemas.microsoft.com/office/drawing/2014/main" id="{F847FC9F-9261-C712-24D2-50358A98E369}"/>
              </a:ext>
            </a:extLst>
          </p:cNvPr>
          <p:cNvSpPr/>
          <p:nvPr/>
        </p:nvSpPr>
        <p:spPr>
          <a:xfrm>
            <a:off x="5194035" y="1262926"/>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トスアップ施策</a:t>
            </a:r>
            <a:endParaRPr lang="en-US" sz="1100" dirty="0">
              <a:latin typeface="メイリオ" panose="020B0604030504040204" pitchFamily="50" charset="-128"/>
              <a:ea typeface="メイリオ" panose="020B0604030504040204" pitchFamily="50" charset="-128"/>
            </a:endParaRPr>
          </a:p>
        </p:txBody>
      </p:sp>
      <p:sp>
        <p:nvSpPr>
          <p:cNvPr id="491" name="Text 13">
            <a:extLst>
              <a:ext uri="{FF2B5EF4-FFF2-40B4-BE49-F238E27FC236}">
                <a16:creationId xmlns:a16="http://schemas.microsoft.com/office/drawing/2014/main" id="{BAB90F2A-13E5-1033-2A8F-C414B5648062}"/>
              </a:ext>
            </a:extLst>
          </p:cNvPr>
          <p:cNvSpPr/>
          <p:nvPr/>
        </p:nvSpPr>
        <p:spPr>
          <a:xfrm>
            <a:off x="6600354" y="1326857"/>
            <a:ext cx="2635329" cy="219533"/>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温度感が高まったユーザーを営業に自動連携する</a:t>
            </a:r>
            <a:endParaRPr lang="en-US" sz="900" dirty="0">
              <a:latin typeface="メイリオ" panose="020B0604030504040204" pitchFamily="50" charset="-128"/>
              <a:ea typeface="メイリオ" panose="020B0604030504040204" pitchFamily="50" charset="-128"/>
            </a:endParaRPr>
          </a:p>
        </p:txBody>
      </p:sp>
      <p:sp>
        <p:nvSpPr>
          <p:cNvPr id="493" name="Shape 15">
            <a:extLst>
              <a:ext uri="{FF2B5EF4-FFF2-40B4-BE49-F238E27FC236}">
                <a16:creationId xmlns:a16="http://schemas.microsoft.com/office/drawing/2014/main" id="{7E3C711F-E58C-C906-0A6A-BB593A1E2C84}"/>
              </a:ext>
            </a:extLst>
          </p:cNvPr>
          <p:cNvSpPr/>
          <p:nvPr/>
        </p:nvSpPr>
        <p:spPr>
          <a:xfrm>
            <a:off x="622035" y="1623387"/>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97" name="Shape 17">
            <a:extLst>
              <a:ext uri="{FF2B5EF4-FFF2-40B4-BE49-F238E27FC236}">
                <a16:creationId xmlns:a16="http://schemas.microsoft.com/office/drawing/2014/main" id="{C3F3A0E1-065D-A29B-1DB2-A3E74C471585}"/>
              </a:ext>
            </a:extLst>
          </p:cNvPr>
          <p:cNvSpPr/>
          <p:nvPr/>
        </p:nvSpPr>
        <p:spPr>
          <a:xfrm>
            <a:off x="731763" y="1658715"/>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99" name="Text 18">
            <a:extLst>
              <a:ext uri="{FF2B5EF4-FFF2-40B4-BE49-F238E27FC236}">
                <a16:creationId xmlns:a16="http://schemas.microsoft.com/office/drawing/2014/main" id="{F9CB141F-8399-5788-B588-7FE43F1079D4}"/>
              </a:ext>
            </a:extLst>
          </p:cNvPr>
          <p:cNvSpPr/>
          <p:nvPr/>
        </p:nvSpPr>
        <p:spPr>
          <a:xfrm>
            <a:off x="731763" y="1658715"/>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050" dirty="0">
              <a:latin typeface="メイリオ" panose="020B0604030504040204" pitchFamily="50" charset="-128"/>
              <a:ea typeface="メイリオ" panose="020B0604030504040204" pitchFamily="50" charset="-128"/>
            </a:endParaRPr>
          </a:p>
        </p:txBody>
      </p:sp>
      <p:sp>
        <p:nvSpPr>
          <p:cNvPr id="501" name="Shape 19">
            <a:extLst>
              <a:ext uri="{FF2B5EF4-FFF2-40B4-BE49-F238E27FC236}">
                <a16:creationId xmlns:a16="http://schemas.microsoft.com/office/drawing/2014/main" id="{3481035F-3DCB-6282-CAE4-A507C103A500}"/>
              </a:ext>
            </a:extLst>
          </p:cNvPr>
          <p:cNvSpPr/>
          <p:nvPr/>
        </p:nvSpPr>
        <p:spPr>
          <a:xfrm>
            <a:off x="999987" y="1703397"/>
            <a:ext cx="938784" cy="238470"/>
          </a:xfrm>
          <a:prstGeom prst="roundRect">
            <a:avLst>
              <a:gd name="adj" fmla="val 18182"/>
            </a:avLst>
          </a:prstGeom>
          <a:solidFill>
            <a:schemeClr val="tx2"/>
          </a:solidFill>
          <a:ln w="12700">
            <a:solidFill>
              <a:srgbClr val="D8D8E2"/>
            </a:solidFill>
            <a:prstDash val="solid"/>
          </a:ln>
        </p:spPr>
        <p:txBody>
          <a:bodyPr/>
          <a:lstStyle/>
          <a:p>
            <a:endParaRPr lang="ja-JP" altLang="en-US" sz="900">
              <a:solidFill>
                <a:srgbClr val="FDFDFD"/>
              </a:solidFill>
              <a:latin typeface="メイリオ" panose="020B0604030504040204" pitchFamily="50" charset="-128"/>
              <a:ea typeface="メイリオ" panose="020B0604030504040204" pitchFamily="50" charset="-128"/>
            </a:endParaRPr>
          </a:p>
        </p:txBody>
      </p:sp>
      <p:sp>
        <p:nvSpPr>
          <p:cNvPr id="503" name="Text 20">
            <a:extLst>
              <a:ext uri="{FF2B5EF4-FFF2-40B4-BE49-F238E27FC236}">
                <a16:creationId xmlns:a16="http://schemas.microsoft.com/office/drawing/2014/main" id="{0C55A5FC-8367-FE85-5883-A028AB70B62A}"/>
              </a:ext>
            </a:extLst>
          </p:cNvPr>
          <p:cNvSpPr/>
          <p:nvPr/>
        </p:nvSpPr>
        <p:spPr>
          <a:xfrm>
            <a:off x="999987" y="1703396"/>
            <a:ext cx="938784" cy="276035"/>
          </a:xfrm>
          <a:prstGeom prst="rect">
            <a:avLst/>
          </a:prstGeom>
          <a:no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KW自動応答</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505" name="Text 21">
            <a:extLst>
              <a:ext uri="{FF2B5EF4-FFF2-40B4-BE49-F238E27FC236}">
                <a16:creationId xmlns:a16="http://schemas.microsoft.com/office/drawing/2014/main" id="{8A25C9DA-C365-44B1-C918-421BC16A0936}"/>
              </a:ext>
            </a:extLst>
          </p:cNvPr>
          <p:cNvSpPr/>
          <p:nvPr/>
        </p:nvSpPr>
        <p:spPr>
          <a:xfrm>
            <a:off x="1993635" y="1663027"/>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頻出ワードへの自動返答でFAQを即解消</a:t>
            </a:r>
            <a:endParaRPr lang="en-US" sz="1100" dirty="0">
              <a:latin typeface="メイリオ" panose="020B0604030504040204" pitchFamily="50" charset="-128"/>
              <a:ea typeface="メイリオ" panose="020B0604030504040204" pitchFamily="50" charset="-128"/>
            </a:endParaRPr>
          </a:p>
        </p:txBody>
      </p:sp>
      <p:sp>
        <p:nvSpPr>
          <p:cNvPr id="507" name="Text 22">
            <a:extLst>
              <a:ext uri="{FF2B5EF4-FFF2-40B4-BE49-F238E27FC236}">
                <a16:creationId xmlns:a16="http://schemas.microsoft.com/office/drawing/2014/main" id="{B693EEEC-7F00-EA99-5A34-4E9A268BE1A5}"/>
              </a:ext>
            </a:extLst>
          </p:cNvPr>
          <p:cNvSpPr/>
          <p:nvPr/>
        </p:nvSpPr>
        <p:spPr>
          <a:xfrm>
            <a:off x="731763" y="2106046"/>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「料金は？」「予約したい」などの頻出キーワードをLINEに登録し自動返答。スタッフ対応ゼロで24時間365日対応が可能になり、問い合わせコストを大幅削減できる。</a:t>
            </a:r>
            <a:endParaRPr lang="en-US" sz="1000" dirty="0">
              <a:latin typeface="メイリオ" panose="020B0604030504040204" pitchFamily="50" charset="-128"/>
              <a:ea typeface="メイリオ" panose="020B0604030504040204" pitchFamily="50" charset="-128"/>
            </a:endParaRPr>
          </a:p>
        </p:txBody>
      </p:sp>
      <p:sp>
        <p:nvSpPr>
          <p:cNvPr id="509" name="Shape 23">
            <a:extLst>
              <a:ext uri="{FF2B5EF4-FFF2-40B4-BE49-F238E27FC236}">
                <a16:creationId xmlns:a16="http://schemas.microsoft.com/office/drawing/2014/main" id="{A2D2CDF0-CB49-AE15-936A-5D4CF22FFF73}"/>
              </a:ext>
            </a:extLst>
          </p:cNvPr>
          <p:cNvSpPr/>
          <p:nvPr/>
        </p:nvSpPr>
        <p:spPr>
          <a:xfrm>
            <a:off x="713475"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KW受信</a:t>
            </a:r>
            <a:endParaRPr lang="en-US" altLang="ja-JP" sz="1050" dirty="0">
              <a:latin typeface="メイリオ" panose="020B0604030504040204" pitchFamily="50" charset="-128"/>
              <a:ea typeface="メイリオ" panose="020B0604030504040204" pitchFamily="50" charset="-128"/>
            </a:endParaRPr>
          </a:p>
        </p:txBody>
      </p:sp>
      <p:sp>
        <p:nvSpPr>
          <p:cNvPr id="513" name="Shape 25">
            <a:extLst>
              <a:ext uri="{FF2B5EF4-FFF2-40B4-BE49-F238E27FC236}">
                <a16:creationId xmlns:a16="http://schemas.microsoft.com/office/drawing/2014/main" id="{E2556D42-A97F-4FB8-9798-9FA17D54E059}"/>
              </a:ext>
            </a:extLst>
          </p:cNvPr>
          <p:cNvSpPr/>
          <p:nvPr/>
        </p:nvSpPr>
        <p:spPr>
          <a:xfrm>
            <a:off x="1987539"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15" name="Text 26">
            <a:extLst>
              <a:ext uri="{FF2B5EF4-FFF2-40B4-BE49-F238E27FC236}">
                <a16:creationId xmlns:a16="http://schemas.microsoft.com/office/drawing/2014/main" id="{C1C6DA5E-79AC-68C0-42C1-CAA0B39FA416}"/>
              </a:ext>
            </a:extLst>
          </p:cNvPr>
          <p:cNvSpPr/>
          <p:nvPr/>
        </p:nvSpPr>
        <p:spPr>
          <a:xfrm>
            <a:off x="1987539"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17" name="Shape 27">
            <a:extLst>
              <a:ext uri="{FF2B5EF4-FFF2-40B4-BE49-F238E27FC236}">
                <a16:creationId xmlns:a16="http://schemas.microsoft.com/office/drawing/2014/main" id="{A8D5B9DB-4355-49CF-1630-7986C6276E29}"/>
              </a:ext>
            </a:extLst>
          </p:cNvPr>
          <p:cNvSpPr/>
          <p:nvPr/>
        </p:nvSpPr>
        <p:spPr>
          <a:xfrm>
            <a:off x="2078979" y="2621391"/>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19" name="Text 28">
            <a:extLst>
              <a:ext uri="{FF2B5EF4-FFF2-40B4-BE49-F238E27FC236}">
                <a16:creationId xmlns:a16="http://schemas.microsoft.com/office/drawing/2014/main" id="{F85272E7-370C-6676-96F2-02AE710242A4}"/>
              </a:ext>
            </a:extLst>
          </p:cNvPr>
          <p:cNvSpPr/>
          <p:nvPr/>
        </p:nvSpPr>
        <p:spPr>
          <a:xfrm>
            <a:off x="2078979" y="2621391"/>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自動返答</a:t>
            </a:r>
            <a:endParaRPr lang="en-US" sz="1050" dirty="0">
              <a:latin typeface="メイリオ" panose="020B0604030504040204" pitchFamily="50" charset="-128"/>
              <a:ea typeface="メイリオ" panose="020B0604030504040204" pitchFamily="50" charset="-128"/>
            </a:endParaRPr>
          </a:p>
        </p:txBody>
      </p:sp>
      <p:sp>
        <p:nvSpPr>
          <p:cNvPr id="521" name="Shape 29">
            <a:extLst>
              <a:ext uri="{FF2B5EF4-FFF2-40B4-BE49-F238E27FC236}">
                <a16:creationId xmlns:a16="http://schemas.microsoft.com/office/drawing/2014/main" id="{F507953E-977B-FFA6-1D19-EA7E8F6B3BEA}"/>
              </a:ext>
            </a:extLst>
          </p:cNvPr>
          <p:cNvSpPr/>
          <p:nvPr/>
        </p:nvSpPr>
        <p:spPr>
          <a:xfrm>
            <a:off x="3353043"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23" name="Text 30">
            <a:extLst>
              <a:ext uri="{FF2B5EF4-FFF2-40B4-BE49-F238E27FC236}">
                <a16:creationId xmlns:a16="http://schemas.microsoft.com/office/drawing/2014/main" id="{65A59212-B09E-F4BC-9E5F-C2F671474A3C}"/>
              </a:ext>
            </a:extLst>
          </p:cNvPr>
          <p:cNvSpPr/>
          <p:nvPr/>
        </p:nvSpPr>
        <p:spPr>
          <a:xfrm>
            <a:off x="3353043"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25" name="Shape 31">
            <a:extLst>
              <a:ext uri="{FF2B5EF4-FFF2-40B4-BE49-F238E27FC236}">
                <a16:creationId xmlns:a16="http://schemas.microsoft.com/office/drawing/2014/main" id="{CAEC6CDB-23CB-5A93-4438-A59C2BFFFACF}"/>
              </a:ext>
            </a:extLst>
          </p:cNvPr>
          <p:cNvSpPr/>
          <p:nvPr/>
        </p:nvSpPr>
        <p:spPr>
          <a:xfrm>
            <a:off x="3444483" y="2621391"/>
            <a:ext cx="1274064" cy="406805"/>
          </a:xfrm>
          <a:prstGeom prst="roundRect">
            <a:avLst>
              <a:gd name="adj" fmla="val 16667"/>
            </a:avLst>
          </a:prstGeom>
          <a:solidFill>
            <a:schemeClr val="tx1"/>
          </a:solidFill>
          <a:ln w="12700">
            <a:solidFill>
              <a:srgbClr val="4A2080"/>
            </a:solid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疑問即解消</a:t>
            </a:r>
            <a:endParaRPr lang="en-US" altLang="ja-JP" sz="1050" dirty="0">
              <a:latin typeface="メイリオ" panose="020B0604030504040204" pitchFamily="50" charset="-128"/>
              <a:ea typeface="メイリオ" panose="020B0604030504040204" pitchFamily="50" charset="-128"/>
            </a:endParaRPr>
          </a:p>
        </p:txBody>
      </p:sp>
      <p:sp>
        <p:nvSpPr>
          <p:cNvPr id="529" name="Shape 33">
            <a:extLst>
              <a:ext uri="{FF2B5EF4-FFF2-40B4-BE49-F238E27FC236}">
                <a16:creationId xmlns:a16="http://schemas.microsoft.com/office/drawing/2014/main" id="{F248F8B6-9A86-ABF2-E2D6-E7CF006E3C5F}"/>
              </a:ext>
            </a:extLst>
          </p:cNvPr>
          <p:cNvSpPr/>
          <p:nvPr/>
        </p:nvSpPr>
        <p:spPr>
          <a:xfrm>
            <a:off x="622035" y="3160341"/>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33" name="Shape 35">
            <a:extLst>
              <a:ext uri="{FF2B5EF4-FFF2-40B4-BE49-F238E27FC236}">
                <a16:creationId xmlns:a16="http://schemas.microsoft.com/office/drawing/2014/main" id="{44F07E0D-5DE6-3E4A-4251-8215FFA1B921}"/>
              </a:ext>
            </a:extLst>
          </p:cNvPr>
          <p:cNvSpPr/>
          <p:nvPr/>
        </p:nvSpPr>
        <p:spPr>
          <a:xfrm>
            <a:off x="725667" y="3207928"/>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35" name="Text 36">
            <a:extLst>
              <a:ext uri="{FF2B5EF4-FFF2-40B4-BE49-F238E27FC236}">
                <a16:creationId xmlns:a16="http://schemas.microsoft.com/office/drawing/2014/main" id="{2C4560AC-AA6D-E576-2CBD-46E3A388A446}"/>
              </a:ext>
            </a:extLst>
          </p:cNvPr>
          <p:cNvSpPr/>
          <p:nvPr/>
        </p:nvSpPr>
        <p:spPr>
          <a:xfrm>
            <a:off x="725667" y="3207928"/>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050" dirty="0">
              <a:latin typeface="メイリオ" panose="020B0604030504040204" pitchFamily="50" charset="-128"/>
              <a:ea typeface="メイリオ" panose="020B0604030504040204" pitchFamily="50" charset="-128"/>
            </a:endParaRPr>
          </a:p>
        </p:txBody>
      </p:sp>
      <p:sp>
        <p:nvSpPr>
          <p:cNvPr id="537" name="Shape 37">
            <a:extLst>
              <a:ext uri="{FF2B5EF4-FFF2-40B4-BE49-F238E27FC236}">
                <a16:creationId xmlns:a16="http://schemas.microsoft.com/office/drawing/2014/main" id="{EE277A39-0DD5-47B3-B211-B3AD8641BF28}"/>
              </a:ext>
            </a:extLst>
          </p:cNvPr>
          <p:cNvSpPr/>
          <p:nvPr/>
        </p:nvSpPr>
        <p:spPr>
          <a:xfrm>
            <a:off x="999987" y="3230566"/>
            <a:ext cx="947928" cy="248603"/>
          </a:xfrm>
          <a:prstGeom prst="roundRect">
            <a:avLst>
              <a:gd name="adj" fmla="val 18182"/>
            </a:avLst>
          </a:prstGeom>
          <a:solidFill>
            <a:schemeClr val="tx2"/>
          </a:solidFill>
          <a:ln w="12700">
            <a:solidFill>
              <a:srgbClr val="D8D8E2"/>
            </a:solidFill>
            <a:prstDash val="solid"/>
          </a:ln>
        </p:spPr>
        <p:txBody>
          <a:bodyPr/>
          <a:lstStyle/>
          <a:p>
            <a:endParaRPr lang="ja-JP" altLang="en-US" sz="900">
              <a:solidFill>
                <a:srgbClr val="FDFDFD"/>
              </a:solidFill>
              <a:latin typeface="メイリオ" panose="020B0604030504040204" pitchFamily="50" charset="-128"/>
              <a:ea typeface="メイリオ" panose="020B0604030504040204" pitchFamily="50" charset="-128"/>
            </a:endParaRPr>
          </a:p>
        </p:txBody>
      </p:sp>
      <p:sp>
        <p:nvSpPr>
          <p:cNvPr id="539" name="Text 38">
            <a:extLst>
              <a:ext uri="{FF2B5EF4-FFF2-40B4-BE49-F238E27FC236}">
                <a16:creationId xmlns:a16="http://schemas.microsoft.com/office/drawing/2014/main" id="{C4B5340D-36BF-DDE8-20C8-687DA330872F}"/>
              </a:ext>
            </a:extLst>
          </p:cNvPr>
          <p:cNvSpPr/>
          <p:nvPr/>
        </p:nvSpPr>
        <p:spPr>
          <a:xfrm>
            <a:off x="1097523" y="3245973"/>
            <a:ext cx="859536" cy="248603"/>
          </a:xfrm>
          <a:prstGeom prst="rect">
            <a:avLst/>
          </a:prstGeom>
          <a:no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日程調整自動化</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541" name="Text 39">
            <a:extLst>
              <a:ext uri="{FF2B5EF4-FFF2-40B4-BE49-F238E27FC236}">
                <a16:creationId xmlns:a16="http://schemas.microsoft.com/office/drawing/2014/main" id="{0DC216C4-D41D-ED06-86B7-5AC5FCBFEB41}"/>
              </a:ext>
            </a:extLst>
          </p:cNvPr>
          <p:cNvSpPr/>
          <p:nvPr/>
        </p:nvSpPr>
        <p:spPr>
          <a:xfrm>
            <a:off x="2011923" y="3205604"/>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面談・予約の日程調整をLINEで完結させる</a:t>
            </a:r>
            <a:endParaRPr lang="en-US" sz="1100" dirty="0">
              <a:latin typeface="メイリオ" panose="020B0604030504040204" pitchFamily="50" charset="-128"/>
              <a:ea typeface="メイリオ" panose="020B0604030504040204" pitchFamily="50" charset="-128"/>
            </a:endParaRPr>
          </a:p>
        </p:txBody>
      </p:sp>
      <p:sp>
        <p:nvSpPr>
          <p:cNvPr id="543" name="Text 40">
            <a:extLst>
              <a:ext uri="{FF2B5EF4-FFF2-40B4-BE49-F238E27FC236}">
                <a16:creationId xmlns:a16="http://schemas.microsoft.com/office/drawing/2014/main" id="{DFBBA734-BAAC-1419-468E-1E9B8278BC26}"/>
              </a:ext>
            </a:extLst>
          </p:cNvPr>
          <p:cNvSpPr/>
          <p:nvPr/>
        </p:nvSpPr>
        <p:spPr>
          <a:xfrm>
            <a:off x="731763" y="3643349"/>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「面談を希望する」と入力したユーザーに日程候補を自動提示→選択→確定までLINE内で完結。電話折り返し・メール往復ゼロで商談設定工数を大幅削減できる。</a:t>
            </a:r>
            <a:endParaRPr lang="en-US" sz="1000" dirty="0">
              <a:latin typeface="メイリオ" panose="020B0604030504040204" pitchFamily="50" charset="-128"/>
              <a:ea typeface="メイリオ" panose="020B0604030504040204" pitchFamily="50" charset="-128"/>
            </a:endParaRPr>
          </a:p>
        </p:txBody>
      </p:sp>
      <p:sp>
        <p:nvSpPr>
          <p:cNvPr id="545" name="Shape 41">
            <a:extLst>
              <a:ext uri="{FF2B5EF4-FFF2-40B4-BE49-F238E27FC236}">
                <a16:creationId xmlns:a16="http://schemas.microsoft.com/office/drawing/2014/main" id="{FE670AD2-A079-0197-8810-8F9B34E3CABD}"/>
              </a:ext>
            </a:extLst>
          </p:cNvPr>
          <p:cNvSpPr/>
          <p:nvPr/>
        </p:nvSpPr>
        <p:spPr>
          <a:xfrm>
            <a:off x="713475" y="4158910"/>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希望入力</a:t>
            </a:r>
            <a:endParaRPr lang="en-US" altLang="ja-JP" sz="1050" dirty="0">
              <a:latin typeface="メイリオ" panose="020B0604030504040204" pitchFamily="50" charset="-128"/>
              <a:ea typeface="メイリオ" panose="020B0604030504040204" pitchFamily="50" charset="-128"/>
            </a:endParaRPr>
          </a:p>
        </p:txBody>
      </p:sp>
      <p:sp>
        <p:nvSpPr>
          <p:cNvPr id="549" name="Shape 43">
            <a:extLst>
              <a:ext uri="{FF2B5EF4-FFF2-40B4-BE49-F238E27FC236}">
                <a16:creationId xmlns:a16="http://schemas.microsoft.com/office/drawing/2014/main" id="{9DCF792D-C31C-B1B0-89D3-34127B875145}"/>
              </a:ext>
            </a:extLst>
          </p:cNvPr>
          <p:cNvSpPr/>
          <p:nvPr/>
        </p:nvSpPr>
        <p:spPr>
          <a:xfrm>
            <a:off x="1987539"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1" name="Text 44">
            <a:extLst>
              <a:ext uri="{FF2B5EF4-FFF2-40B4-BE49-F238E27FC236}">
                <a16:creationId xmlns:a16="http://schemas.microsoft.com/office/drawing/2014/main" id="{30983E3A-6EDF-B882-D614-D35301C1A700}"/>
              </a:ext>
            </a:extLst>
          </p:cNvPr>
          <p:cNvSpPr/>
          <p:nvPr/>
        </p:nvSpPr>
        <p:spPr>
          <a:xfrm>
            <a:off x="1987539"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53" name="Shape 45">
            <a:extLst>
              <a:ext uri="{FF2B5EF4-FFF2-40B4-BE49-F238E27FC236}">
                <a16:creationId xmlns:a16="http://schemas.microsoft.com/office/drawing/2014/main" id="{209054EF-CC06-6B5D-0FD0-5D15A5DB252B}"/>
              </a:ext>
            </a:extLst>
          </p:cNvPr>
          <p:cNvSpPr/>
          <p:nvPr/>
        </p:nvSpPr>
        <p:spPr>
          <a:xfrm>
            <a:off x="2078979"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5" name="Text 46">
            <a:extLst>
              <a:ext uri="{FF2B5EF4-FFF2-40B4-BE49-F238E27FC236}">
                <a16:creationId xmlns:a16="http://schemas.microsoft.com/office/drawing/2014/main" id="{5BE3AFBB-71C6-1263-E9E2-A276B8A0D061}"/>
              </a:ext>
            </a:extLst>
          </p:cNvPr>
          <p:cNvSpPr/>
          <p:nvPr/>
        </p:nvSpPr>
        <p:spPr>
          <a:xfrm>
            <a:off x="2078979"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日程自動提示</a:t>
            </a:r>
            <a:endParaRPr lang="en-US" sz="1100" dirty="0">
              <a:latin typeface="メイリオ" panose="020B0604030504040204" pitchFamily="50" charset="-128"/>
              <a:ea typeface="メイリオ" panose="020B0604030504040204" pitchFamily="50" charset="-128"/>
            </a:endParaRPr>
          </a:p>
        </p:txBody>
      </p:sp>
      <p:sp>
        <p:nvSpPr>
          <p:cNvPr id="557" name="Shape 47">
            <a:extLst>
              <a:ext uri="{FF2B5EF4-FFF2-40B4-BE49-F238E27FC236}">
                <a16:creationId xmlns:a16="http://schemas.microsoft.com/office/drawing/2014/main" id="{A9232A71-6BB9-1F02-D8A6-0D588E915F91}"/>
              </a:ext>
            </a:extLst>
          </p:cNvPr>
          <p:cNvSpPr/>
          <p:nvPr/>
        </p:nvSpPr>
        <p:spPr>
          <a:xfrm>
            <a:off x="3353043"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9" name="Text 48">
            <a:extLst>
              <a:ext uri="{FF2B5EF4-FFF2-40B4-BE49-F238E27FC236}">
                <a16:creationId xmlns:a16="http://schemas.microsoft.com/office/drawing/2014/main" id="{C5C94F94-3800-196D-F055-BE367B6C3823}"/>
              </a:ext>
            </a:extLst>
          </p:cNvPr>
          <p:cNvSpPr/>
          <p:nvPr/>
        </p:nvSpPr>
        <p:spPr>
          <a:xfrm>
            <a:off x="3353043"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61" name="Shape 49">
            <a:extLst>
              <a:ext uri="{FF2B5EF4-FFF2-40B4-BE49-F238E27FC236}">
                <a16:creationId xmlns:a16="http://schemas.microsoft.com/office/drawing/2014/main" id="{27FD51EA-7B61-DE39-7567-087D884D2689}"/>
              </a:ext>
            </a:extLst>
          </p:cNvPr>
          <p:cNvSpPr/>
          <p:nvPr/>
        </p:nvSpPr>
        <p:spPr>
          <a:xfrm>
            <a:off x="3444483" y="4158910"/>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563" name="Text 50">
            <a:extLst>
              <a:ext uri="{FF2B5EF4-FFF2-40B4-BE49-F238E27FC236}">
                <a16:creationId xmlns:a16="http://schemas.microsoft.com/office/drawing/2014/main" id="{8F32671E-225E-D073-04DF-BE2045451A90}"/>
              </a:ext>
            </a:extLst>
          </p:cNvPr>
          <p:cNvSpPr/>
          <p:nvPr/>
        </p:nvSpPr>
        <p:spPr>
          <a:xfrm>
            <a:off x="3444483" y="4158910"/>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確定完了</a:t>
            </a:r>
            <a:endParaRPr lang="en-US" sz="1050" dirty="0">
              <a:latin typeface="メイリオ" panose="020B0604030504040204" pitchFamily="50" charset="-128"/>
              <a:ea typeface="メイリオ" panose="020B0604030504040204" pitchFamily="50" charset="-128"/>
            </a:endParaRPr>
          </a:p>
        </p:txBody>
      </p:sp>
      <p:sp>
        <p:nvSpPr>
          <p:cNvPr id="565" name="Shape 51">
            <a:extLst>
              <a:ext uri="{FF2B5EF4-FFF2-40B4-BE49-F238E27FC236}">
                <a16:creationId xmlns:a16="http://schemas.microsoft.com/office/drawing/2014/main" id="{BD20E957-9831-52B2-3945-EA8265886264}"/>
              </a:ext>
            </a:extLst>
          </p:cNvPr>
          <p:cNvSpPr/>
          <p:nvPr/>
        </p:nvSpPr>
        <p:spPr>
          <a:xfrm>
            <a:off x="622035" y="4709813"/>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69" name="Shape 53">
            <a:extLst>
              <a:ext uri="{FF2B5EF4-FFF2-40B4-BE49-F238E27FC236}">
                <a16:creationId xmlns:a16="http://schemas.microsoft.com/office/drawing/2014/main" id="{000D987C-780E-251D-7A2E-453B098046FA}"/>
              </a:ext>
            </a:extLst>
          </p:cNvPr>
          <p:cNvSpPr/>
          <p:nvPr/>
        </p:nvSpPr>
        <p:spPr>
          <a:xfrm>
            <a:off x="725667" y="4751221"/>
            <a:ext cx="274320" cy="339004"/>
          </a:xfrm>
          <a:prstGeom prst="ellipse">
            <a:avLst/>
          </a:prstGeom>
          <a:solidFill>
            <a:schemeClr val="tx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71" name="Text 54">
            <a:extLst>
              <a:ext uri="{FF2B5EF4-FFF2-40B4-BE49-F238E27FC236}">
                <a16:creationId xmlns:a16="http://schemas.microsoft.com/office/drawing/2014/main" id="{D7EBC11B-EE52-5F8C-3A09-E5EFC16DAD14}"/>
              </a:ext>
            </a:extLst>
          </p:cNvPr>
          <p:cNvSpPr/>
          <p:nvPr/>
        </p:nvSpPr>
        <p:spPr>
          <a:xfrm>
            <a:off x="725667" y="4751221"/>
            <a:ext cx="274320" cy="339004"/>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573" name="Shape 55">
            <a:extLst>
              <a:ext uri="{FF2B5EF4-FFF2-40B4-BE49-F238E27FC236}">
                <a16:creationId xmlns:a16="http://schemas.microsoft.com/office/drawing/2014/main" id="{CE118FE4-70B1-ABC1-CFCE-B2C7803700D6}"/>
              </a:ext>
            </a:extLst>
          </p:cNvPr>
          <p:cNvSpPr/>
          <p:nvPr/>
        </p:nvSpPr>
        <p:spPr>
          <a:xfrm>
            <a:off x="999987" y="4795902"/>
            <a:ext cx="957072" cy="230221"/>
          </a:xfrm>
          <a:prstGeom prst="roundRect">
            <a:avLst>
              <a:gd name="adj" fmla="val 18182"/>
            </a:avLst>
          </a:prstGeom>
          <a:solidFill>
            <a:schemeClr val="tx2"/>
          </a:solidFill>
          <a:ln w="12700">
            <a:solidFill>
              <a:srgbClr val="D8D8E2"/>
            </a:solidFill>
            <a:prstDash val="solid"/>
          </a:ln>
        </p:spPr>
        <p:txBody>
          <a:bodyPr/>
          <a:lstStyle/>
          <a:p>
            <a:endParaRPr lang="ja-JP" altLang="en-US" sz="1000">
              <a:solidFill>
                <a:srgbClr val="FDFDFD"/>
              </a:solidFill>
              <a:latin typeface="メイリオ" panose="020B0604030504040204" pitchFamily="50" charset="-128"/>
              <a:ea typeface="メイリオ" panose="020B0604030504040204" pitchFamily="50" charset="-128"/>
            </a:endParaRPr>
          </a:p>
        </p:txBody>
      </p:sp>
      <p:sp>
        <p:nvSpPr>
          <p:cNvPr id="575" name="Text 56">
            <a:extLst>
              <a:ext uri="{FF2B5EF4-FFF2-40B4-BE49-F238E27FC236}">
                <a16:creationId xmlns:a16="http://schemas.microsoft.com/office/drawing/2014/main" id="{7B3D7BAA-5B14-06C5-CCFD-B1B2ED14D54C}"/>
              </a:ext>
            </a:extLst>
          </p:cNvPr>
          <p:cNvSpPr/>
          <p:nvPr/>
        </p:nvSpPr>
        <p:spPr>
          <a:xfrm>
            <a:off x="1079235" y="4788631"/>
            <a:ext cx="859536" cy="255874"/>
          </a:xfrm>
          <a:prstGeom prst="rect">
            <a:avLst/>
          </a:prstGeom>
          <a:no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Q&amp;A自動対応</a:t>
            </a:r>
            <a:endParaRPr lang="en-US" sz="1000" dirty="0">
              <a:solidFill>
                <a:srgbClr val="FDFDFD"/>
              </a:solidFill>
              <a:latin typeface="メイリオ" panose="020B0604030504040204" pitchFamily="50" charset="-128"/>
              <a:ea typeface="メイリオ" panose="020B0604030504040204" pitchFamily="50" charset="-128"/>
            </a:endParaRPr>
          </a:p>
        </p:txBody>
      </p:sp>
      <p:sp>
        <p:nvSpPr>
          <p:cNvPr id="577" name="Text 57">
            <a:extLst>
              <a:ext uri="{FF2B5EF4-FFF2-40B4-BE49-F238E27FC236}">
                <a16:creationId xmlns:a16="http://schemas.microsoft.com/office/drawing/2014/main" id="{3B6EAD0F-BD63-287A-3804-2B841A85C33B}"/>
              </a:ext>
            </a:extLst>
          </p:cNvPr>
          <p:cNvSpPr/>
          <p:nvPr/>
        </p:nvSpPr>
        <p:spPr>
          <a:xfrm>
            <a:off x="2030211" y="4755532"/>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よくある質問の回答をメニュー選択式で自動配信</a:t>
            </a:r>
            <a:endParaRPr lang="en-US" sz="1100" dirty="0">
              <a:latin typeface="メイリオ" panose="020B0604030504040204" pitchFamily="50" charset="-128"/>
              <a:ea typeface="メイリオ" panose="020B0604030504040204" pitchFamily="50" charset="-128"/>
            </a:endParaRPr>
          </a:p>
        </p:txBody>
      </p:sp>
      <p:sp>
        <p:nvSpPr>
          <p:cNvPr id="579" name="Text 58">
            <a:extLst>
              <a:ext uri="{FF2B5EF4-FFF2-40B4-BE49-F238E27FC236}">
                <a16:creationId xmlns:a16="http://schemas.microsoft.com/office/drawing/2014/main" id="{57A957C0-047C-B1C9-3EBB-B3B3F767873F}"/>
              </a:ext>
            </a:extLst>
          </p:cNvPr>
          <p:cNvSpPr/>
          <p:nvPr/>
        </p:nvSpPr>
        <p:spPr>
          <a:xfrm>
            <a:off x="731763" y="5182003"/>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リッチメニューに「よくある質問」「料金を知りたい」「事例を見たい」等のボタンを設置し、タップするだけで回答が届く設計にする。スタッフが答える前に自己解決を促す。</a:t>
            </a:r>
            <a:endParaRPr lang="en-US" sz="1000" dirty="0">
              <a:latin typeface="メイリオ" panose="020B0604030504040204" pitchFamily="50" charset="-128"/>
              <a:ea typeface="メイリオ" panose="020B0604030504040204" pitchFamily="50" charset="-128"/>
            </a:endParaRPr>
          </a:p>
        </p:txBody>
      </p:sp>
      <p:sp>
        <p:nvSpPr>
          <p:cNvPr id="581" name="Shape 59">
            <a:extLst>
              <a:ext uri="{FF2B5EF4-FFF2-40B4-BE49-F238E27FC236}">
                <a16:creationId xmlns:a16="http://schemas.microsoft.com/office/drawing/2014/main" id="{9A61C22E-A4B2-9E05-F598-E9C4F0164BD1}"/>
              </a:ext>
            </a:extLst>
          </p:cNvPr>
          <p:cNvSpPr/>
          <p:nvPr/>
        </p:nvSpPr>
        <p:spPr>
          <a:xfrm>
            <a:off x="713475"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583" name="Text 60">
            <a:extLst>
              <a:ext uri="{FF2B5EF4-FFF2-40B4-BE49-F238E27FC236}">
                <a16:creationId xmlns:a16="http://schemas.microsoft.com/office/drawing/2014/main" id="{A8DD111B-2CD0-0C8C-5FFD-F634D3033930}"/>
              </a:ext>
            </a:extLst>
          </p:cNvPr>
          <p:cNvSpPr/>
          <p:nvPr/>
        </p:nvSpPr>
        <p:spPr>
          <a:xfrm>
            <a:off x="713475" y="5676275"/>
            <a:ext cx="1274064" cy="406805"/>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メニューをタップ</a:t>
            </a:r>
            <a:endParaRPr lang="en-US" sz="1000" dirty="0">
              <a:latin typeface="メイリオ" panose="020B0604030504040204" pitchFamily="50" charset="-128"/>
              <a:ea typeface="メイリオ" panose="020B0604030504040204" pitchFamily="50" charset="-128"/>
            </a:endParaRPr>
          </a:p>
        </p:txBody>
      </p:sp>
      <p:sp>
        <p:nvSpPr>
          <p:cNvPr id="589" name="Shape 63">
            <a:extLst>
              <a:ext uri="{FF2B5EF4-FFF2-40B4-BE49-F238E27FC236}">
                <a16:creationId xmlns:a16="http://schemas.microsoft.com/office/drawing/2014/main" id="{E77A650E-654A-EC81-6A3F-240D6A4404F3}"/>
              </a:ext>
            </a:extLst>
          </p:cNvPr>
          <p:cNvSpPr/>
          <p:nvPr/>
        </p:nvSpPr>
        <p:spPr>
          <a:xfrm>
            <a:off x="2078979"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591" name="Text 64">
            <a:extLst>
              <a:ext uri="{FF2B5EF4-FFF2-40B4-BE49-F238E27FC236}">
                <a16:creationId xmlns:a16="http://schemas.microsoft.com/office/drawing/2014/main" id="{515BC9A2-B5AE-4A2B-32CA-BEE70A5B85EE}"/>
              </a:ext>
            </a:extLst>
          </p:cNvPr>
          <p:cNvSpPr/>
          <p:nvPr/>
        </p:nvSpPr>
        <p:spPr>
          <a:xfrm>
            <a:off x="2078979"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自動回答配信</a:t>
            </a:r>
            <a:endParaRPr lang="en-US" sz="1000" dirty="0">
              <a:latin typeface="メイリオ" panose="020B0604030504040204" pitchFamily="50" charset="-128"/>
              <a:ea typeface="メイリオ" panose="020B0604030504040204" pitchFamily="50" charset="-128"/>
            </a:endParaRPr>
          </a:p>
        </p:txBody>
      </p:sp>
      <p:sp>
        <p:nvSpPr>
          <p:cNvPr id="597" name="Shape 67">
            <a:extLst>
              <a:ext uri="{FF2B5EF4-FFF2-40B4-BE49-F238E27FC236}">
                <a16:creationId xmlns:a16="http://schemas.microsoft.com/office/drawing/2014/main" id="{0EEFD0FA-7548-0ECC-E0D4-F44B04D48FB8}"/>
              </a:ext>
            </a:extLst>
          </p:cNvPr>
          <p:cNvSpPr/>
          <p:nvPr/>
        </p:nvSpPr>
        <p:spPr>
          <a:xfrm>
            <a:off x="3444483" y="5676275"/>
            <a:ext cx="1274064" cy="406805"/>
          </a:xfrm>
          <a:prstGeom prst="roundRect">
            <a:avLst>
              <a:gd name="adj" fmla="val 16667"/>
            </a:avLst>
          </a:prstGeom>
          <a:solidFill>
            <a:schemeClr val="tx1"/>
          </a:solidFill>
          <a:ln w="12700">
            <a:solidFill>
              <a:srgbClr val="4A2080"/>
            </a:solidFill>
            <a:prstDash val="solid"/>
          </a:ln>
        </p:spPr>
        <p:txBody>
          <a:bodyPr anchor="ctr"/>
          <a:lstStyle/>
          <a:p>
            <a:pPr algn="ctr">
              <a:lnSpc>
                <a:spcPct val="115000"/>
              </a:lnSpc>
            </a:pPr>
            <a:r>
              <a:rPr lang="en-US" altLang="ja-JP" sz="1000" b="1">
                <a:solidFill>
                  <a:srgbClr val="FFFFFF"/>
                </a:solidFill>
                <a:latin typeface="メイリオ" panose="020B0604030504040204" pitchFamily="50" charset="-128"/>
                <a:ea typeface="メイリオ" panose="020B0604030504040204" pitchFamily="50" charset="-128"/>
                <a:cs typeface="Calibri" pitchFamily="34" charset="-120"/>
              </a:rPr>
              <a:t>自己解決完了</a:t>
            </a:r>
            <a:endParaRPr lang="en-US" altLang="ja-JP" sz="1000" dirty="0">
              <a:latin typeface="メイリオ" panose="020B0604030504040204" pitchFamily="50" charset="-128"/>
              <a:ea typeface="メイリオ" panose="020B0604030504040204" pitchFamily="50" charset="-128"/>
            </a:endParaRPr>
          </a:p>
        </p:txBody>
      </p:sp>
      <p:sp>
        <p:nvSpPr>
          <p:cNvPr id="601" name="Shape 69">
            <a:extLst>
              <a:ext uri="{FF2B5EF4-FFF2-40B4-BE49-F238E27FC236}">
                <a16:creationId xmlns:a16="http://schemas.microsoft.com/office/drawing/2014/main" id="{BB58A48E-96E7-063D-EB59-D048E2A09397}"/>
              </a:ext>
            </a:extLst>
          </p:cNvPr>
          <p:cNvSpPr/>
          <p:nvPr/>
        </p:nvSpPr>
        <p:spPr>
          <a:xfrm>
            <a:off x="5066019" y="1623387"/>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05" name="Shape 71">
            <a:extLst>
              <a:ext uri="{FF2B5EF4-FFF2-40B4-BE49-F238E27FC236}">
                <a16:creationId xmlns:a16="http://schemas.microsoft.com/office/drawing/2014/main" id="{CEEFFC68-843C-CB8F-F3EE-D5F381F99FB3}"/>
              </a:ext>
            </a:extLst>
          </p:cNvPr>
          <p:cNvSpPr/>
          <p:nvPr/>
        </p:nvSpPr>
        <p:spPr>
          <a:xfrm>
            <a:off x="5175747" y="1658715"/>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07" name="Text 72">
            <a:extLst>
              <a:ext uri="{FF2B5EF4-FFF2-40B4-BE49-F238E27FC236}">
                <a16:creationId xmlns:a16="http://schemas.microsoft.com/office/drawing/2014/main" id="{BA1AC9FB-2A36-A56E-5C44-D0E3ACC9A307}"/>
              </a:ext>
            </a:extLst>
          </p:cNvPr>
          <p:cNvSpPr/>
          <p:nvPr/>
        </p:nvSpPr>
        <p:spPr>
          <a:xfrm>
            <a:off x="5175747" y="1658715"/>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050" dirty="0">
              <a:latin typeface="メイリオ" panose="020B0604030504040204" pitchFamily="50" charset="-128"/>
              <a:ea typeface="メイリオ" panose="020B0604030504040204" pitchFamily="50" charset="-128"/>
            </a:endParaRPr>
          </a:p>
        </p:txBody>
      </p:sp>
      <p:sp>
        <p:nvSpPr>
          <p:cNvPr id="609" name="Shape 73">
            <a:extLst>
              <a:ext uri="{FF2B5EF4-FFF2-40B4-BE49-F238E27FC236}">
                <a16:creationId xmlns:a16="http://schemas.microsoft.com/office/drawing/2014/main" id="{DA9D4DB3-FD3E-CC23-5F93-7DD0F2C4A66E}"/>
              </a:ext>
            </a:extLst>
          </p:cNvPr>
          <p:cNvSpPr/>
          <p:nvPr/>
        </p:nvSpPr>
        <p:spPr>
          <a:xfrm>
            <a:off x="5523219" y="1703396"/>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11" name="Text 74">
            <a:extLst>
              <a:ext uri="{FF2B5EF4-FFF2-40B4-BE49-F238E27FC236}">
                <a16:creationId xmlns:a16="http://schemas.microsoft.com/office/drawing/2014/main" id="{388F5303-8FCA-86F2-09F0-93CE3D368104}"/>
              </a:ext>
            </a:extLst>
          </p:cNvPr>
          <p:cNvSpPr/>
          <p:nvPr/>
        </p:nvSpPr>
        <p:spPr>
          <a:xfrm>
            <a:off x="5450067" y="1694906"/>
            <a:ext cx="932688" cy="257094"/>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ホットリード検知</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613" name="Text 75">
            <a:extLst>
              <a:ext uri="{FF2B5EF4-FFF2-40B4-BE49-F238E27FC236}">
                <a16:creationId xmlns:a16="http://schemas.microsoft.com/office/drawing/2014/main" id="{FC4B8845-D876-501A-B76E-902595F69EEE}"/>
              </a:ext>
            </a:extLst>
          </p:cNvPr>
          <p:cNvSpPr/>
          <p:nvPr/>
        </p:nvSpPr>
        <p:spPr>
          <a:xfrm>
            <a:off x="6437619" y="1663027"/>
            <a:ext cx="298094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高スコアユーザーを自動で</a:t>
            </a:r>
            <a:endParaRPr lang="en-US" sz="1100" b="1" dirty="0">
              <a:solidFill>
                <a:srgbClr val="1A1A2E"/>
              </a:solidFill>
              <a:latin typeface="メイリオ" panose="020B0604030504040204" pitchFamily="50" charset="-128"/>
              <a:ea typeface="メイリオ" panose="020B0604030504040204" pitchFamily="50" charset="-128"/>
              <a:cs typeface="Calibri" pitchFamily="34" charset="-120"/>
            </a:endParaRPr>
          </a:p>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スタッフにアラート通知</a:t>
            </a:r>
            <a:endParaRPr lang="en-US" sz="1100" dirty="0">
              <a:latin typeface="メイリオ" panose="020B0604030504040204" pitchFamily="50" charset="-128"/>
              <a:ea typeface="メイリオ" panose="020B0604030504040204" pitchFamily="50" charset="-128"/>
            </a:endParaRPr>
          </a:p>
        </p:txBody>
      </p:sp>
      <p:sp>
        <p:nvSpPr>
          <p:cNvPr id="615" name="Text 76">
            <a:extLst>
              <a:ext uri="{FF2B5EF4-FFF2-40B4-BE49-F238E27FC236}">
                <a16:creationId xmlns:a16="http://schemas.microsoft.com/office/drawing/2014/main" id="{41A00D6D-FDD2-F734-B47F-D5335D94AED4}"/>
              </a:ext>
            </a:extLst>
          </p:cNvPr>
          <p:cNvSpPr/>
          <p:nvPr/>
        </p:nvSpPr>
        <p:spPr>
          <a:xfrm>
            <a:off x="5175747" y="2106046"/>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アンケート回答・特定コンテンツのクリック・複数回のサイト訪問など、CVに近いアクションを検知した際に営業担当へ自動アラート。商談タイミングを逃さない。</a:t>
            </a:r>
            <a:endParaRPr lang="en-US" sz="1000" dirty="0">
              <a:latin typeface="メイリオ" panose="020B0604030504040204" pitchFamily="50" charset="-128"/>
              <a:ea typeface="メイリオ" panose="020B0604030504040204" pitchFamily="50" charset="-128"/>
            </a:endParaRPr>
          </a:p>
        </p:txBody>
      </p:sp>
      <p:sp>
        <p:nvSpPr>
          <p:cNvPr id="617" name="Shape 77">
            <a:extLst>
              <a:ext uri="{FF2B5EF4-FFF2-40B4-BE49-F238E27FC236}">
                <a16:creationId xmlns:a16="http://schemas.microsoft.com/office/drawing/2014/main" id="{AAC1844B-8885-A3DF-88B2-F8DB39D7D842}"/>
              </a:ext>
            </a:extLst>
          </p:cNvPr>
          <p:cNvSpPr/>
          <p:nvPr/>
        </p:nvSpPr>
        <p:spPr>
          <a:xfrm>
            <a:off x="5157459" y="2621391"/>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19" name="Text 78">
            <a:extLst>
              <a:ext uri="{FF2B5EF4-FFF2-40B4-BE49-F238E27FC236}">
                <a16:creationId xmlns:a16="http://schemas.microsoft.com/office/drawing/2014/main" id="{E6B184D6-84E5-DB05-766A-D1E68B869F8D}"/>
              </a:ext>
            </a:extLst>
          </p:cNvPr>
          <p:cNvSpPr/>
          <p:nvPr/>
        </p:nvSpPr>
        <p:spPr>
          <a:xfrm>
            <a:off x="5157459" y="2621391"/>
            <a:ext cx="1274064" cy="406805"/>
          </a:xfrm>
          <a:prstGeom prst="rect">
            <a:avLst/>
          </a:prstGeom>
          <a:noFill/>
          <a:ln/>
        </p:spPr>
        <p:txBody>
          <a:bodyPr wrap="square" lIns="0" tIns="0" rIns="0" bIns="0" rtlCol="0" anchor="ctr"/>
          <a:lstStyle/>
          <a:p>
            <a:pPr marL="0" indent="0" algn="ctr">
              <a:lnSpc>
                <a:spcPct val="115000"/>
              </a:lnSpc>
              <a:buNone/>
            </a:pPr>
            <a:r>
              <a:rPr lang="en-US" sz="1050" b="1" dirty="0" err="1">
                <a:solidFill>
                  <a:srgbClr val="FFFFFF"/>
                </a:solidFill>
                <a:latin typeface="メイリオ" panose="020B0604030504040204" pitchFamily="50" charset="-128"/>
                <a:ea typeface="メイリオ" panose="020B0604030504040204" pitchFamily="50" charset="-128"/>
                <a:cs typeface="Calibri" pitchFamily="34" charset="-120"/>
              </a:rPr>
              <a:t>行動スコア計測</a:t>
            </a:r>
            <a:endParaRPr lang="en-US" sz="1050" dirty="0">
              <a:latin typeface="メイリオ" panose="020B0604030504040204" pitchFamily="50" charset="-128"/>
              <a:ea typeface="メイリオ" panose="020B0604030504040204" pitchFamily="50" charset="-128"/>
            </a:endParaRPr>
          </a:p>
        </p:txBody>
      </p:sp>
      <p:sp>
        <p:nvSpPr>
          <p:cNvPr id="621" name="Shape 79">
            <a:extLst>
              <a:ext uri="{FF2B5EF4-FFF2-40B4-BE49-F238E27FC236}">
                <a16:creationId xmlns:a16="http://schemas.microsoft.com/office/drawing/2014/main" id="{1CC3FE20-C3AA-8956-0689-74FD2017633E}"/>
              </a:ext>
            </a:extLst>
          </p:cNvPr>
          <p:cNvSpPr/>
          <p:nvPr/>
        </p:nvSpPr>
        <p:spPr>
          <a:xfrm>
            <a:off x="6431523"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23" name="Text 80">
            <a:extLst>
              <a:ext uri="{FF2B5EF4-FFF2-40B4-BE49-F238E27FC236}">
                <a16:creationId xmlns:a16="http://schemas.microsoft.com/office/drawing/2014/main" id="{9AC9454B-847A-EEEC-85FF-D2119E030598}"/>
              </a:ext>
            </a:extLst>
          </p:cNvPr>
          <p:cNvSpPr/>
          <p:nvPr/>
        </p:nvSpPr>
        <p:spPr>
          <a:xfrm>
            <a:off x="6431523"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25" name="Shape 81">
            <a:extLst>
              <a:ext uri="{FF2B5EF4-FFF2-40B4-BE49-F238E27FC236}">
                <a16:creationId xmlns:a16="http://schemas.microsoft.com/office/drawing/2014/main" id="{60491B0C-3EEB-681C-1D47-8D098E8FA7D8}"/>
              </a:ext>
            </a:extLst>
          </p:cNvPr>
          <p:cNvSpPr/>
          <p:nvPr/>
        </p:nvSpPr>
        <p:spPr>
          <a:xfrm>
            <a:off x="6522963"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閾値超えで検知</a:t>
            </a:r>
            <a:endParaRPr lang="en-US" altLang="ja-JP" sz="1050" dirty="0">
              <a:latin typeface="メイリオ" panose="020B0604030504040204" pitchFamily="50" charset="-128"/>
              <a:ea typeface="メイリオ" panose="020B0604030504040204" pitchFamily="50" charset="-128"/>
            </a:endParaRPr>
          </a:p>
        </p:txBody>
      </p:sp>
      <p:sp>
        <p:nvSpPr>
          <p:cNvPr id="629" name="Shape 83">
            <a:extLst>
              <a:ext uri="{FF2B5EF4-FFF2-40B4-BE49-F238E27FC236}">
                <a16:creationId xmlns:a16="http://schemas.microsoft.com/office/drawing/2014/main" id="{4B84A085-A08B-402E-675A-39F203C58877}"/>
              </a:ext>
            </a:extLst>
          </p:cNvPr>
          <p:cNvSpPr/>
          <p:nvPr/>
        </p:nvSpPr>
        <p:spPr>
          <a:xfrm>
            <a:off x="7797027"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31" name="Text 84">
            <a:extLst>
              <a:ext uri="{FF2B5EF4-FFF2-40B4-BE49-F238E27FC236}">
                <a16:creationId xmlns:a16="http://schemas.microsoft.com/office/drawing/2014/main" id="{73ACF39F-9B9B-5BCF-7511-91DAC982D28F}"/>
              </a:ext>
            </a:extLst>
          </p:cNvPr>
          <p:cNvSpPr/>
          <p:nvPr/>
        </p:nvSpPr>
        <p:spPr>
          <a:xfrm>
            <a:off x="7797027"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33" name="Shape 85">
            <a:extLst>
              <a:ext uri="{FF2B5EF4-FFF2-40B4-BE49-F238E27FC236}">
                <a16:creationId xmlns:a16="http://schemas.microsoft.com/office/drawing/2014/main" id="{260C63D6-01F1-691F-333C-A703B453DFD3}"/>
              </a:ext>
            </a:extLst>
          </p:cNvPr>
          <p:cNvSpPr/>
          <p:nvPr/>
        </p:nvSpPr>
        <p:spPr>
          <a:xfrm>
            <a:off x="7888467"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スタッフに</a:t>
            </a:r>
            <a:endParaRPr lang="en-US" altLang="ja-JP" sz="1050" b="1" dirty="0">
              <a:solidFill>
                <a:srgbClr val="FFFFFF"/>
              </a:solidFill>
              <a:latin typeface="メイリオ" panose="020B0604030504040204" pitchFamily="50" charset="-128"/>
              <a:ea typeface="メイリオ" panose="020B0604030504040204" pitchFamily="50" charset="-128"/>
              <a:cs typeface="Calibri" pitchFamily="34" charset="-120"/>
            </a:endParaRPr>
          </a:p>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アラート</a:t>
            </a:r>
            <a:endParaRPr lang="en-US" altLang="ja-JP" sz="1050" dirty="0">
              <a:latin typeface="メイリオ" panose="020B0604030504040204" pitchFamily="50" charset="-128"/>
              <a:ea typeface="メイリオ" panose="020B0604030504040204" pitchFamily="50" charset="-128"/>
            </a:endParaRPr>
          </a:p>
        </p:txBody>
      </p:sp>
      <p:sp>
        <p:nvSpPr>
          <p:cNvPr id="637" name="Shape 87">
            <a:extLst>
              <a:ext uri="{FF2B5EF4-FFF2-40B4-BE49-F238E27FC236}">
                <a16:creationId xmlns:a16="http://schemas.microsoft.com/office/drawing/2014/main" id="{784BB10F-3251-36CA-8B39-87931A158145}"/>
              </a:ext>
            </a:extLst>
          </p:cNvPr>
          <p:cNvSpPr/>
          <p:nvPr/>
        </p:nvSpPr>
        <p:spPr>
          <a:xfrm>
            <a:off x="5066019" y="3160341"/>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1" name="Shape 89">
            <a:extLst>
              <a:ext uri="{FF2B5EF4-FFF2-40B4-BE49-F238E27FC236}">
                <a16:creationId xmlns:a16="http://schemas.microsoft.com/office/drawing/2014/main" id="{00DC0A3B-4000-F47D-3213-A4E96634D97B}"/>
              </a:ext>
            </a:extLst>
          </p:cNvPr>
          <p:cNvSpPr/>
          <p:nvPr/>
        </p:nvSpPr>
        <p:spPr>
          <a:xfrm>
            <a:off x="5194035" y="3202373"/>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3" name="Text 90">
            <a:extLst>
              <a:ext uri="{FF2B5EF4-FFF2-40B4-BE49-F238E27FC236}">
                <a16:creationId xmlns:a16="http://schemas.microsoft.com/office/drawing/2014/main" id="{B83E96EB-4D94-8784-7634-300FB4B3D87E}"/>
              </a:ext>
            </a:extLst>
          </p:cNvPr>
          <p:cNvSpPr/>
          <p:nvPr/>
        </p:nvSpPr>
        <p:spPr>
          <a:xfrm>
            <a:off x="5194035" y="3202373"/>
            <a:ext cx="274320" cy="339004"/>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050" dirty="0">
              <a:latin typeface="メイリオ" panose="020B0604030504040204" pitchFamily="50" charset="-128"/>
              <a:ea typeface="メイリオ" panose="020B0604030504040204" pitchFamily="50" charset="-128"/>
            </a:endParaRPr>
          </a:p>
        </p:txBody>
      </p:sp>
      <p:sp>
        <p:nvSpPr>
          <p:cNvPr id="645" name="Shape 91">
            <a:extLst>
              <a:ext uri="{FF2B5EF4-FFF2-40B4-BE49-F238E27FC236}">
                <a16:creationId xmlns:a16="http://schemas.microsoft.com/office/drawing/2014/main" id="{46886788-FBC0-BB7D-8B57-0602CB1FB3B4}"/>
              </a:ext>
            </a:extLst>
          </p:cNvPr>
          <p:cNvSpPr/>
          <p:nvPr/>
        </p:nvSpPr>
        <p:spPr>
          <a:xfrm>
            <a:off x="5541507" y="3247054"/>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7" name="Text 92">
            <a:extLst>
              <a:ext uri="{FF2B5EF4-FFF2-40B4-BE49-F238E27FC236}">
                <a16:creationId xmlns:a16="http://schemas.microsoft.com/office/drawing/2014/main" id="{FAEBC937-35CD-96F3-EB63-7A55072A57D0}"/>
              </a:ext>
            </a:extLst>
          </p:cNvPr>
          <p:cNvSpPr/>
          <p:nvPr/>
        </p:nvSpPr>
        <p:spPr>
          <a:xfrm>
            <a:off x="5486643" y="3247054"/>
            <a:ext cx="859536" cy="248603"/>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BOT×有人切替</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649" name="Text 93">
            <a:extLst>
              <a:ext uri="{FF2B5EF4-FFF2-40B4-BE49-F238E27FC236}">
                <a16:creationId xmlns:a16="http://schemas.microsoft.com/office/drawing/2014/main" id="{67BE3A5A-F652-950D-998F-E17F2540B5B5}"/>
              </a:ext>
            </a:extLst>
          </p:cNvPr>
          <p:cNvSpPr/>
          <p:nvPr/>
        </p:nvSpPr>
        <p:spPr>
          <a:xfrm>
            <a:off x="6455907" y="3206685"/>
            <a:ext cx="279806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BOT初期対応</a:t>
            </a:r>
            <a:endParaRPr lang="en-US" sz="1100" b="1" dirty="0">
              <a:solidFill>
                <a:srgbClr val="1A1A2E"/>
              </a:solidFill>
              <a:latin typeface="メイリオ" panose="020B0604030504040204" pitchFamily="50" charset="-128"/>
              <a:ea typeface="メイリオ" panose="020B0604030504040204" pitchFamily="50" charset="-128"/>
              <a:cs typeface="Calibri" pitchFamily="34" charset="-120"/>
            </a:endParaRPr>
          </a:p>
          <a:p>
            <a:pPr marL="0" indent="0">
              <a:buNone/>
            </a:pP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　</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→温度感に応じて人に切り替える</a:t>
            </a:r>
            <a:endParaRPr lang="en-US" sz="1100" dirty="0">
              <a:latin typeface="メイリオ" panose="020B0604030504040204" pitchFamily="50" charset="-128"/>
              <a:ea typeface="メイリオ" panose="020B0604030504040204" pitchFamily="50" charset="-128"/>
            </a:endParaRPr>
          </a:p>
        </p:txBody>
      </p:sp>
      <p:sp>
        <p:nvSpPr>
          <p:cNvPr id="651" name="Text 94">
            <a:extLst>
              <a:ext uri="{FF2B5EF4-FFF2-40B4-BE49-F238E27FC236}">
                <a16:creationId xmlns:a16="http://schemas.microsoft.com/office/drawing/2014/main" id="{AFBBE4E7-B1A7-4292-09B1-18137ED8D42D}"/>
              </a:ext>
            </a:extLst>
          </p:cNvPr>
          <p:cNvSpPr/>
          <p:nvPr/>
        </p:nvSpPr>
        <p:spPr>
          <a:xfrm>
            <a:off x="5175747" y="3609802"/>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最初の問い合わせはBOTで自動対応しつつ、「今すぐ相談したい」「詳しく聞きたい」等のキーワードや返信内容に応じてスタッフのチャット対応に切り替える二段構えの設計。</a:t>
            </a:r>
            <a:endParaRPr lang="en-US" sz="1000" dirty="0">
              <a:latin typeface="メイリオ" panose="020B0604030504040204" pitchFamily="50" charset="-128"/>
              <a:ea typeface="メイリオ" panose="020B0604030504040204" pitchFamily="50" charset="-128"/>
            </a:endParaRPr>
          </a:p>
        </p:txBody>
      </p:sp>
      <p:sp>
        <p:nvSpPr>
          <p:cNvPr id="653" name="Shape 95">
            <a:extLst>
              <a:ext uri="{FF2B5EF4-FFF2-40B4-BE49-F238E27FC236}">
                <a16:creationId xmlns:a16="http://schemas.microsoft.com/office/drawing/2014/main" id="{39FA8CE3-0F53-8CA9-1EA5-539561B76F93}"/>
              </a:ext>
            </a:extLst>
          </p:cNvPr>
          <p:cNvSpPr/>
          <p:nvPr/>
        </p:nvSpPr>
        <p:spPr>
          <a:xfrm>
            <a:off x="5157459" y="4158910"/>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55" name="Text 96">
            <a:extLst>
              <a:ext uri="{FF2B5EF4-FFF2-40B4-BE49-F238E27FC236}">
                <a16:creationId xmlns:a16="http://schemas.microsoft.com/office/drawing/2014/main" id="{E655B7A0-C9A5-CF91-16E4-1895DE139666}"/>
              </a:ext>
            </a:extLst>
          </p:cNvPr>
          <p:cNvSpPr/>
          <p:nvPr/>
        </p:nvSpPr>
        <p:spPr>
          <a:xfrm>
            <a:off x="5157459" y="4158910"/>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BOT自動対応</a:t>
            </a:r>
            <a:endParaRPr lang="en-US" sz="1050" dirty="0">
              <a:latin typeface="メイリオ" panose="020B0604030504040204" pitchFamily="50" charset="-128"/>
              <a:ea typeface="メイリオ" panose="020B0604030504040204" pitchFamily="50" charset="-128"/>
            </a:endParaRPr>
          </a:p>
        </p:txBody>
      </p:sp>
      <p:sp>
        <p:nvSpPr>
          <p:cNvPr id="657" name="Shape 97">
            <a:extLst>
              <a:ext uri="{FF2B5EF4-FFF2-40B4-BE49-F238E27FC236}">
                <a16:creationId xmlns:a16="http://schemas.microsoft.com/office/drawing/2014/main" id="{1626AF9B-240E-5BE3-7DCD-12861D786B24}"/>
              </a:ext>
            </a:extLst>
          </p:cNvPr>
          <p:cNvSpPr/>
          <p:nvPr/>
        </p:nvSpPr>
        <p:spPr>
          <a:xfrm>
            <a:off x="6431523"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59" name="Text 98">
            <a:extLst>
              <a:ext uri="{FF2B5EF4-FFF2-40B4-BE49-F238E27FC236}">
                <a16:creationId xmlns:a16="http://schemas.microsoft.com/office/drawing/2014/main" id="{42A3A949-F941-32D9-7509-689D4FFFDFB7}"/>
              </a:ext>
            </a:extLst>
          </p:cNvPr>
          <p:cNvSpPr/>
          <p:nvPr/>
        </p:nvSpPr>
        <p:spPr>
          <a:xfrm>
            <a:off x="6431523"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61" name="Shape 99">
            <a:extLst>
              <a:ext uri="{FF2B5EF4-FFF2-40B4-BE49-F238E27FC236}">
                <a16:creationId xmlns:a16="http://schemas.microsoft.com/office/drawing/2014/main" id="{6DE99E7F-7471-D525-A123-D720FA6FA9B5}"/>
              </a:ext>
            </a:extLst>
          </p:cNvPr>
          <p:cNvSpPr/>
          <p:nvPr/>
        </p:nvSpPr>
        <p:spPr>
          <a:xfrm>
            <a:off x="6522963"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63" name="Text 100">
            <a:extLst>
              <a:ext uri="{FF2B5EF4-FFF2-40B4-BE49-F238E27FC236}">
                <a16:creationId xmlns:a16="http://schemas.microsoft.com/office/drawing/2014/main" id="{9B9F0FB1-A7C2-521A-B063-2941776A633E}"/>
              </a:ext>
            </a:extLst>
          </p:cNvPr>
          <p:cNvSpPr/>
          <p:nvPr/>
        </p:nvSpPr>
        <p:spPr>
          <a:xfrm>
            <a:off x="6522963"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温度感判定</a:t>
            </a:r>
            <a:endParaRPr lang="en-US" sz="1050" dirty="0">
              <a:latin typeface="メイリオ" panose="020B0604030504040204" pitchFamily="50" charset="-128"/>
              <a:ea typeface="メイリオ" panose="020B0604030504040204" pitchFamily="50" charset="-128"/>
            </a:endParaRPr>
          </a:p>
        </p:txBody>
      </p:sp>
      <p:sp>
        <p:nvSpPr>
          <p:cNvPr id="665" name="Shape 101">
            <a:extLst>
              <a:ext uri="{FF2B5EF4-FFF2-40B4-BE49-F238E27FC236}">
                <a16:creationId xmlns:a16="http://schemas.microsoft.com/office/drawing/2014/main" id="{9339D2EE-CDD4-3AA6-FBFA-6A18F1CC0246}"/>
              </a:ext>
            </a:extLst>
          </p:cNvPr>
          <p:cNvSpPr/>
          <p:nvPr/>
        </p:nvSpPr>
        <p:spPr>
          <a:xfrm>
            <a:off x="7797027"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67" name="Text 102">
            <a:extLst>
              <a:ext uri="{FF2B5EF4-FFF2-40B4-BE49-F238E27FC236}">
                <a16:creationId xmlns:a16="http://schemas.microsoft.com/office/drawing/2014/main" id="{851DC5F9-D2E2-AB8D-5270-F12410849762}"/>
              </a:ext>
            </a:extLst>
          </p:cNvPr>
          <p:cNvSpPr/>
          <p:nvPr/>
        </p:nvSpPr>
        <p:spPr>
          <a:xfrm>
            <a:off x="7797027"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69" name="Shape 103">
            <a:extLst>
              <a:ext uri="{FF2B5EF4-FFF2-40B4-BE49-F238E27FC236}">
                <a16:creationId xmlns:a16="http://schemas.microsoft.com/office/drawing/2014/main" id="{CA3E34EC-809E-1460-AF84-01892AC164A2}"/>
              </a:ext>
            </a:extLst>
          </p:cNvPr>
          <p:cNvSpPr/>
          <p:nvPr/>
        </p:nvSpPr>
        <p:spPr>
          <a:xfrm>
            <a:off x="7888467"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71" name="Text 104">
            <a:extLst>
              <a:ext uri="{FF2B5EF4-FFF2-40B4-BE49-F238E27FC236}">
                <a16:creationId xmlns:a16="http://schemas.microsoft.com/office/drawing/2014/main" id="{92D817DE-E3E0-0210-118B-E88552E70384}"/>
              </a:ext>
            </a:extLst>
          </p:cNvPr>
          <p:cNvSpPr/>
          <p:nvPr/>
        </p:nvSpPr>
        <p:spPr>
          <a:xfrm>
            <a:off x="7888467"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有人チャット切替</a:t>
            </a:r>
            <a:endParaRPr lang="en-US" sz="1050" dirty="0">
              <a:latin typeface="メイリオ" panose="020B0604030504040204" pitchFamily="50" charset="-128"/>
              <a:ea typeface="メイリオ" panose="020B0604030504040204" pitchFamily="50" charset="-128"/>
            </a:endParaRPr>
          </a:p>
        </p:txBody>
      </p:sp>
      <p:sp>
        <p:nvSpPr>
          <p:cNvPr id="673" name="Shape 105">
            <a:extLst>
              <a:ext uri="{FF2B5EF4-FFF2-40B4-BE49-F238E27FC236}">
                <a16:creationId xmlns:a16="http://schemas.microsoft.com/office/drawing/2014/main" id="{81CD6781-0482-CB41-CA37-3520B7496A5A}"/>
              </a:ext>
            </a:extLst>
          </p:cNvPr>
          <p:cNvSpPr/>
          <p:nvPr/>
        </p:nvSpPr>
        <p:spPr>
          <a:xfrm>
            <a:off x="5066019" y="4709813"/>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77" name="Shape 107">
            <a:extLst>
              <a:ext uri="{FF2B5EF4-FFF2-40B4-BE49-F238E27FC236}">
                <a16:creationId xmlns:a16="http://schemas.microsoft.com/office/drawing/2014/main" id="{A81AEAB6-AD7E-F31B-0ADE-5C7B295D5EA4}"/>
              </a:ext>
            </a:extLst>
          </p:cNvPr>
          <p:cNvSpPr/>
          <p:nvPr/>
        </p:nvSpPr>
        <p:spPr>
          <a:xfrm>
            <a:off x="5169651" y="4751221"/>
            <a:ext cx="274320" cy="339004"/>
          </a:xfrm>
          <a:prstGeom prst="ellipse">
            <a:avLst/>
          </a:prstGeom>
          <a:solidFill>
            <a:schemeClr val="tx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79" name="Text 108">
            <a:extLst>
              <a:ext uri="{FF2B5EF4-FFF2-40B4-BE49-F238E27FC236}">
                <a16:creationId xmlns:a16="http://schemas.microsoft.com/office/drawing/2014/main" id="{64AA460F-920B-4702-F2D6-9DC6134F10FA}"/>
              </a:ext>
            </a:extLst>
          </p:cNvPr>
          <p:cNvSpPr/>
          <p:nvPr/>
        </p:nvSpPr>
        <p:spPr>
          <a:xfrm>
            <a:off x="5169651" y="4751221"/>
            <a:ext cx="274320" cy="339004"/>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681" name="Shape 109">
            <a:extLst>
              <a:ext uri="{FF2B5EF4-FFF2-40B4-BE49-F238E27FC236}">
                <a16:creationId xmlns:a16="http://schemas.microsoft.com/office/drawing/2014/main" id="{A7159021-040A-B966-0BEA-A487B1880278}"/>
              </a:ext>
            </a:extLst>
          </p:cNvPr>
          <p:cNvSpPr/>
          <p:nvPr/>
        </p:nvSpPr>
        <p:spPr>
          <a:xfrm>
            <a:off x="5517123" y="4795902"/>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83" name="Text 110">
            <a:extLst>
              <a:ext uri="{FF2B5EF4-FFF2-40B4-BE49-F238E27FC236}">
                <a16:creationId xmlns:a16="http://schemas.microsoft.com/office/drawing/2014/main" id="{54E3A1A7-41A3-D934-7220-35DFA71C0D16}"/>
              </a:ext>
            </a:extLst>
          </p:cNvPr>
          <p:cNvSpPr/>
          <p:nvPr/>
        </p:nvSpPr>
        <p:spPr>
          <a:xfrm>
            <a:off x="5486643" y="4795902"/>
            <a:ext cx="890016" cy="248603"/>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CV前プッシュ</a:t>
            </a:r>
            <a:endParaRPr lang="en-US" sz="1000" dirty="0">
              <a:solidFill>
                <a:srgbClr val="FDFDFD"/>
              </a:solidFill>
              <a:latin typeface="メイリオ" panose="020B0604030504040204" pitchFamily="50" charset="-128"/>
              <a:ea typeface="メイリオ" panose="020B0604030504040204" pitchFamily="50" charset="-128"/>
            </a:endParaRPr>
          </a:p>
        </p:txBody>
      </p:sp>
      <p:sp>
        <p:nvSpPr>
          <p:cNvPr id="685" name="Text 111">
            <a:extLst>
              <a:ext uri="{FF2B5EF4-FFF2-40B4-BE49-F238E27FC236}">
                <a16:creationId xmlns:a16="http://schemas.microsoft.com/office/drawing/2014/main" id="{F45F7554-888D-796D-0EEB-97F748D6AF65}"/>
              </a:ext>
            </a:extLst>
          </p:cNvPr>
          <p:cNvSpPr/>
          <p:nvPr/>
        </p:nvSpPr>
        <p:spPr>
          <a:xfrm>
            <a:off x="6431523" y="4755533"/>
            <a:ext cx="305472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購入・申込前</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の検討</a:t>
            </a: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ユーザーへ自動フォロ</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ー</a:t>
            </a:r>
            <a:endParaRPr lang="en-US" sz="1100" dirty="0">
              <a:latin typeface="メイリオ" panose="020B0604030504040204" pitchFamily="50" charset="-128"/>
              <a:ea typeface="メイリオ" panose="020B0604030504040204" pitchFamily="50" charset="-128"/>
            </a:endParaRPr>
          </a:p>
        </p:txBody>
      </p:sp>
      <p:sp>
        <p:nvSpPr>
          <p:cNvPr id="687" name="Text 112">
            <a:extLst>
              <a:ext uri="{FF2B5EF4-FFF2-40B4-BE49-F238E27FC236}">
                <a16:creationId xmlns:a16="http://schemas.microsoft.com/office/drawing/2014/main" id="{70BE181D-BA19-893E-1406-EC150E011C61}"/>
              </a:ext>
            </a:extLst>
          </p:cNvPr>
          <p:cNvSpPr/>
          <p:nvPr/>
        </p:nvSpPr>
        <p:spPr>
          <a:xfrm>
            <a:off x="5175747" y="5163094"/>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特定LPを複数回閲覧・カートに入れたまま未購入等をトリガーに「ご不明な点はありますか？」とLINEから自動チャット誘導し、最後の一押しをする。</a:t>
            </a:r>
            <a:endParaRPr lang="en-US" sz="1000" dirty="0">
              <a:latin typeface="メイリオ" panose="020B0604030504040204" pitchFamily="50" charset="-128"/>
              <a:ea typeface="メイリオ" panose="020B0604030504040204" pitchFamily="50" charset="-128"/>
            </a:endParaRPr>
          </a:p>
        </p:txBody>
      </p:sp>
      <p:sp>
        <p:nvSpPr>
          <p:cNvPr id="689" name="Shape 113">
            <a:extLst>
              <a:ext uri="{FF2B5EF4-FFF2-40B4-BE49-F238E27FC236}">
                <a16:creationId xmlns:a16="http://schemas.microsoft.com/office/drawing/2014/main" id="{ECAFE45D-D34B-EFFC-7D25-B08BEE20AEF6}"/>
              </a:ext>
            </a:extLst>
          </p:cNvPr>
          <p:cNvSpPr/>
          <p:nvPr/>
        </p:nvSpPr>
        <p:spPr>
          <a:xfrm>
            <a:off x="5157459" y="5676275"/>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91" name="Text 114">
            <a:extLst>
              <a:ext uri="{FF2B5EF4-FFF2-40B4-BE49-F238E27FC236}">
                <a16:creationId xmlns:a16="http://schemas.microsoft.com/office/drawing/2014/main" id="{6B779C85-BD07-0168-5453-28C423513F9D}"/>
              </a:ext>
            </a:extLst>
          </p:cNvPr>
          <p:cNvSpPr/>
          <p:nvPr/>
        </p:nvSpPr>
        <p:spPr>
          <a:xfrm>
            <a:off x="5157459" y="5676275"/>
            <a:ext cx="1274064" cy="406805"/>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行動トリガー検知</a:t>
            </a:r>
            <a:endParaRPr lang="en-US" sz="1000" dirty="0">
              <a:latin typeface="メイリオ" panose="020B0604030504040204" pitchFamily="50" charset="-128"/>
              <a:ea typeface="メイリオ" panose="020B0604030504040204" pitchFamily="50" charset="-128"/>
            </a:endParaRPr>
          </a:p>
        </p:txBody>
      </p:sp>
      <p:sp>
        <p:nvSpPr>
          <p:cNvPr id="697" name="Shape 117">
            <a:extLst>
              <a:ext uri="{FF2B5EF4-FFF2-40B4-BE49-F238E27FC236}">
                <a16:creationId xmlns:a16="http://schemas.microsoft.com/office/drawing/2014/main" id="{74895763-F19D-BB26-23E9-71C875568975}"/>
              </a:ext>
            </a:extLst>
          </p:cNvPr>
          <p:cNvSpPr/>
          <p:nvPr/>
        </p:nvSpPr>
        <p:spPr>
          <a:xfrm>
            <a:off x="6522963"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699" name="Text 118">
            <a:extLst>
              <a:ext uri="{FF2B5EF4-FFF2-40B4-BE49-F238E27FC236}">
                <a16:creationId xmlns:a16="http://schemas.microsoft.com/office/drawing/2014/main" id="{503535A8-3E13-EB09-4892-4EF8B4B48074}"/>
              </a:ext>
            </a:extLst>
          </p:cNvPr>
          <p:cNvSpPr/>
          <p:nvPr/>
        </p:nvSpPr>
        <p:spPr>
          <a:xfrm>
            <a:off x="6522963"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自動チャット誘導</a:t>
            </a:r>
            <a:endParaRPr lang="en-US" sz="1000" dirty="0">
              <a:latin typeface="メイリオ" panose="020B0604030504040204" pitchFamily="50" charset="-128"/>
              <a:ea typeface="メイリオ" panose="020B0604030504040204" pitchFamily="50" charset="-128"/>
            </a:endParaRPr>
          </a:p>
        </p:txBody>
      </p:sp>
      <p:sp>
        <p:nvSpPr>
          <p:cNvPr id="705" name="Shape 121">
            <a:extLst>
              <a:ext uri="{FF2B5EF4-FFF2-40B4-BE49-F238E27FC236}">
                <a16:creationId xmlns:a16="http://schemas.microsoft.com/office/drawing/2014/main" id="{AC9980DB-B831-BCAA-8D60-562EB65D4D3A}"/>
              </a:ext>
            </a:extLst>
          </p:cNvPr>
          <p:cNvSpPr/>
          <p:nvPr/>
        </p:nvSpPr>
        <p:spPr>
          <a:xfrm>
            <a:off x="7888467" y="5676275"/>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707" name="Text 122">
            <a:extLst>
              <a:ext uri="{FF2B5EF4-FFF2-40B4-BE49-F238E27FC236}">
                <a16:creationId xmlns:a16="http://schemas.microsoft.com/office/drawing/2014/main" id="{22E49EBC-D7D9-221D-5A31-6BDEA690B75F}"/>
              </a:ext>
            </a:extLst>
          </p:cNvPr>
          <p:cNvSpPr/>
          <p:nvPr/>
        </p:nvSpPr>
        <p:spPr>
          <a:xfrm>
            <a:off x="7888467"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最終CV押し</a:t>
            </a:r>
            <a:endParaRPr lang="en-US" sz="1000" dirty="0">
              <a:latin typeface="メイリオ" panose="020B0604030504040204" pitchFamily="50" charset="-128"/>
              <a:ea typeface="メイリオ" panose="020B0604030504040204" pitchFamily="50" charset="-128"/>
            </a:endParaRPr>
          </a:p>
        </p:txBody>
      </p:sp>
      <p:sp>
        <p:nvSpPr>
          <p:cNvPr id="12" name="Shape 43">
            <a:extLst>
              <a:ext uri="{FF2B5EF4-FFF2-40B4-BE49-F238E27FC236}">
                <a16:creationId xmlns:a16="http://schemas.microsoft.com/office/drawing/2014/main" id="{015046B1-422B-D143-D42E-FFCB6E50BDFD}"/>
              </a:ext>
            </a:extLst>
          </p:cNvPr>
          <p:cNvSpPr/>
          <p:nvPr/>
        </p:nvSpPr>
        <p:spPr>
          <a:xfrm>
            <a:off x="1987539" y="583217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14" name="Text 44">
            <a:extLst>
              <a:ext uri="{FF2B5EF4-FFF2-40B4-BE49-F238E27FC236}">
                <a16:creationId xmlns:a16="http://schemas.microsoft.com/office/drawing/2014/main" id="{E10F9D9D-B8B4-2619-0D78-A8518E7D27D9}"/>
              </a:ext>
            </a:extLst>
          </p:cNvPr>
          <p:cNvSpPr/>
          <p:nvPr/>
        </p:nvSpPr>
        <p:spPr>
          <a:xfrm>
            <a:off x="1987539" y="5832174"/>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16" name="Shape 47">
            <a:extLst>
              <a:ext uri="{FF2B5EF4-FFF2-40B4-BE49-F238E27FC236}">
                <a16:creationId xmlns:a16="http://schemas.microsoft.com/office/drawing/2014/main" id="{C0AA6635-6DF6-2127-AAD7-0D9D5EB088C1}"/>
              </a:ext>
            </a:extLst>
          </p:cNvPr>
          <p:cNvSpPr/>
          <p:nvPr/>
        </p:nvSpPr>
        <p:spPr>
          <a:xfrm>
            <a:off x="3353043" y="583217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18" name="Text 48">
            <a:extLst>
              <a:ext uri="{FF2B5EF4-FFF2-40B4-BE49-F238E27FC236}">
                <a16:creationId xmlns:a16="http://schemas.microsoft.com/office/drawing/2014/main" id="{497710E5-220F-C545-E364-574BD79A0BE8}"/>
              </a:ext>
            </a:extLst>
          </p:cNvPr>
          <p:cNvSpPr/>
          <p:nvPr/>
        </p:nvSpPr>
        <p:spPr>
          <a:xfrm>
            <a:off x="3353043" y="5832174"/>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20" name="Shape 43">
            <a:extLst>
              <a:ext uri="{FF2B5EF4-FFF2-40B4-BE49-F238E27FC236}">
                <a16:creationId xmlns:a16="http://schemas.microsoft.com/office/drawing/2014/main" id="{06C06D8C-BAFC-2894-2CA3-9E087FEEA2E3}"/>
              </a:ext>
            </a:extLst>
          </p:cNvPr>
          <p:cNvSpPr/>
          <p:nvPr/>
        </p:nvSpPr>
        <p:spPr>
          <a:xfrm>
            <a:off x="6431523" y="5807651"/>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22" name="Text 44">
            <a:extLst>
              <a:ext uri="{FF2B5EF4-FFF2-40B4-BE49-F238E27FC236}">
                <a16:creationId xmlns:a16="http://schemas.microsoft.com/office/drawing/2014/main" id="{008286C9-78EA-C479-FFCF-2F148042A721}"/>
              </a:ext>
            </a:extLst>
          </p:cNvPr>
          <p:cNvSpPr/>
          <p:nvPr/>
        </p:nvSpPr>
        <p:spPr>
          <a:xfrm>
            <a:off x="6431523" y="5807651"/>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24" name="Shape 47">
            <a:extLst>
              <a:ext uri="{FF2B5EF4-FFF2-40B4-BE49-F238E27FC236}">
                <a16:creationId xmlns:a16="http://schemas.microsoft.com/office/drawing/2014/main" id="{E3694C2E-3C58-CF49-66A0-6BD648B3759E}"/>
              </a:ext>
            </a:extLst>
          </p:cNvPr>
          <p:cNvSpPr/>
          <p:nvPr/>
        </p:nvSpPr>
        <p:spPr>
          <a:xfrm>
            <a:off x="7797027" y="5807651"/>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26" name="Text 48">
            <a:extLst>
              <a:ext uri="{FF2B5EF4-FFF2-40B4-BE49-F238E27FC236}">
                <a16:creationId xmlns:a16="http://schemas.microsoft.com/office/drawing/2014/main" id="{EC1D5F75-6D8E-B3B8-DD9E-954F37F1B769}"/>
              </a:ext>
            </a:extLst>
          </p:cNvPr>
          <p:cNvSpPr/>
          <p:nvPr/>
        </p:nvSpPr>
        <p:spPr>
          <a:xfrm>
            <a:off x="7797027" y="5807651"/>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48277907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メイリオ" pitchFamily="34" charset="0"/>
              <a:ea typeface="メイリオ"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カーブスの型を分解すると、3つの仕組み</a:t>
            </a:r>
          </a:p>
        </p:txBody>
      </p:sp>
      <p:sp>
        <p:nvSpPr>
          <p:cNvPr id="3" name="TextBox 2"/>
          <p:cNvSpPr txBox="1"/>
          <p:nvPr/>
        </p:nvSpPr>
        <p:spPr>
          <a:xfrm>
            <a:off x="384048" y="731520"/>
            <a:ext cx="9134856" cy="310896"/>
          </a:xfrm>
          <a:prstGeom prst="rect">
            <a:avLst/>
          </a:prstGeom>
          <a:noFill/>
        </p:spPr>
        <p:txBody>
          <a:bodyPr wrap="square" lIns="0" tIns="0" rIns="0" bIns="0">
            <a:spAutoFit/>
          </a:bodyPr>
          <a:lstStyle/>
          <a:p>
            <a:r>
              <a:rPr sz="1500" b="0">
                <a:solidFill>
                  <a:srgbClr val="646C82"/>
                </a:solidFill>
                <a:latin typeface="メイリオ"/>
                <a:ea typeface="メイリオ"/>
              </a:rPr>
              <a:t>やっていることは3つ。どれも同じ型を、毎月くり返しています。</a:t>
            </a:r>
          </a:p>
          <a:p>
            <a:r>
              <a:rPr sz="1500" b="0">
                <a:solidFill>
                  <a:srgbClr val="646C82"/>
                </a:solidFill>
                <a:latin typeface="メイリオ"/>
                <a:ea typeface="メイリオ"/>
              </a:rPr>
              <a:t>この型を、このあとのステップ配信（P25）とあいさつ（P29〜P30）に取り入れます。</a:t>
            </a:r>
          </a:p>
        </p:txBody>
      </p:sp>
      <p:sp>
        <p:nvSpPr>
          <p:cNvPr id="5" name="Rectangle 4"/>
          <p:cNvSpPr/>
          <p:nvPr/>
        </p:nvSpPr>
        <p:spPr>
          <a:xfrm>
            <a:off x="384048" y="5623560"/>
            <a:ext cx="54864" cy="475488"/>
          </a:xfrm>
          <a:prstGeom prst="rect">
            <a:avLst/>
          </a:prstGeom>
          <a:solidFill>
            <a:srgbClr val="BF4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29768" y="5623560"/>
            <a:ext cx="9089136" cy="475488"/>
          </a:xfrm>
          <a:prstGeom prst="rect">
            <a:avLst/>
          </a:prstGeom>
          <a:solidFill>
            <a:srgbClr val="FDEF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5788152"/>
            <a:ext cx="8814816" cy="215444"/>
          </a:xfrm>
          <a:prstGeom prst="rect">
            <a:avLst/>
          </a:prstGeom>
          <a:noFill/>
        </p:spPr>
        <p:txBody>
          <a:bodyPr wrap="square" lIns="0" tIns="0" rIns="0" bIns="0">
            <a:spAutoFit/>
          </a:bodyPr>
          <a:lstStyle/>
          <a:p>
            <a:r>
              <a:rPr sz="1400" b="0" dirty="0" err="1">
                <a:solidFill>
                  <a:srgbClr val="1C2233"/>
                </a:solidFill>
                <a:latin typeface="メイリオ"/>
                <a:ea typeface="メイリオ"/>
              </a:rPr>
              <a:t>仕掛けを増やすより、同じ型を毎月くり返す。だから配信を止めずに続けられる。</a:t>
            </a:r>
          </a:p>
        </p:txBody>
      </p:sp>
      <p:sp>
        <p:nvSpPr>
          <p:cNvPr id="8" name="TextBox 7"/>
          <p:cNvSpPr txBox="1"/>
          <p:nvPr/>
        </p:nvSpPr>
        <p:spPr>
          <a:xfrm>
            <a:off x="384048" y="6241868"/>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弊社確認（カーブス LINE公式アカウント・2026年7〜10月の配信）。実際の画面はP11。</a:t>
            </a:r>
          </a:p>
        </p:txBody>
      </p:sp>
      <p:sp>
        <p:nvSpPr>
          <p:cNvPr id="9" name="Rounded Rectangle 8"/>
          <p:cNvSpPr/>
          <p:nvPr/>
        </p:nvSpPr>
        <p:spPr>
          <a:xfrm>
            <a:off x="384048" y="1389888"/>
            <a:ext cx="2880360" cy="384048"/>
          </a:xfrm>
          <a:prstGeom prst="roundRect">
            <a:avLst>
              <a:gd name="adj" fmla="val 20000"/>
            </a:avLst>
          </a:prstGeom>
          <a:solidFill>
            <a:srgbClr val="1F2A5C"/>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① あいさつで、無料体験と期限を出す</a:t>
            </a:r>
            <a:endParaRPr lang="ja-JP" altLang="en-US" sz="1200" dirty="0"/>
          </a:p>
        </p:txBody>
      </p:sp>
      <p:sp>
        <p:nvSpPr>
          <p:cNvPr id="10" name="Rounded Rectangle 9"/>
          <p:cNvSpPr/>
          <p:nvPr/>
        </p:nvSpPr>
        <p:spPr>
          <a:xfrm>
            <a:off x="384048" y="1865376"/>
            <a:ext cx="2880360" cy="2057400"/>
          </a:xfrm>
          <a:prstGeom prst="roundRect">
            <a:avLst>
              <a:gd name="adj" fmla="val 5000"/>
            </a:avLst>
          </a:prstGeom>
          <a:solidFill>
            <a:srgbClr val="EFF1F7"/>
          </a:solidFill>
          <a:ln w="9525">
            <a:solidFill>
              <a:srgbClr val="C6CADD"/>
            </a:solidFill>
          </a:ln>
        </p:spPr>
        <p:txBody>
          <a:bodyPr wrap="square" lIns="91440" tIns="91440" rIns="73152" bIns="54864" rtlCol="0" anchor="t">
            <a:noAutofit/>
          </a:bodyPr>
          <a:lstStyle/>
          <a:p>
            <a:pPr algn="l">
              <a:lnSpc>
                <a:spcPct val="105000"/>
              </a:lnSpc>
              <a:spcAft>
                <a:spcPts val="400"/>
              </a:spcAft>
              <a:buNone/>
            </a:pPr>
            <a:r>
              <a:rPr lang="ja-JP" altLang="en-US" sz="1150" b="0" dirty="0">
                <a:solidFill>
                  <a:srgbClr val="1C2233"/>
                </a:solidFill>
                <a:latin typeface="メイリオ" panose="020B0604030504040204" pitchFamily="50" charset="-128"/>
                <a:ea typeface="メイリオ" panose="020B0604030504040204" pitchFamily="50" charset="-128"/>
              </a:rPr>
              <a:t>友だち追加の直後に、期限つきの無料体験をバナー画像で案内する。</a:t>
            </a:r>
            <a:endParaRPr lang="ja-JP" altLang="en-US" sz="1150" dirty="0"/>
          </a:p>
          <a:p>
            <a:pPr algn="l">
              <a:lnSpc>
                <a:spcPct val="105000"/>
              </a:lnSpc>
              <a:spcAft>
                <a:spcPts val="400"/>
              </a:spcAft>
              <a:buNone/>
            </a:pPr>
            <a:r>
              <a:rPr lang="ja-JP" altLang="en-US" sz="1150" b="0" dirty="0">
                <a:solidFill>
                  <a:srgbClr val="1C2233"/>
                </a:solidFill>
                <a:latin typeface="メイリオ" panose="020B0604030504040204" pitchFamily="50" charset="-128"/>
                <a:ea typeface="メイリオ" panose="020B0604030504040204" pitchFamily="50" charset="-128"/>
              </a:rPr>
              <a:t>「お急ぎください」と添えて、今すぐ始めたい人を逃さない。</a:t>
            </a:r>
            <a:endParaRPr lang="ja-JP" altLang="en-US" sz="1150" dirty="0"/>
          </a:p>
          <a:p>
            <a:pPr algn="l">
              <a:lnSpc>
                <a:spcPct val="105000"/>
              </a:lnSpc>
              <a:spcAft>
                <a:spcPts val="400"/>
              </a:spcAft>
              <a:buNone/>
            </a:pPr>
            <a:r>
              <a:rPr lang="ja-JP" altLang="en-US" sz="1150" b="0" dirty="0">
                <a:solidFill>
                  <a:srgbClr val="1C2233"/>
                </a:solidFill>
                <a:latin typeface="メイリオ" panose="020B0604030504040204" pitchFamily="50" charset="-128"/>
                <a:ea typeface="メイリオ" panose="020B0604030504040204" pitchFamily="50" charset="-128"/>
              </a:rPr>
              <a:t>あいさつは、文章とバナー画像だけ（動画は使っていない）。</a:t>
            </a:r>
            <a:endParaRPr lang="ja-JP" altLang="en-US" sz="1150" dirty="0"/>
          </a:p>
        </p:txBody>
      </p:sp>
      <p:sp>
        <p:nvSpPr>
          <p:cNvPr id="11" name="Rounded Rectangle 10"/>
          <p:cNvSpPr/>
          <p:nvPr/>
        </p:nvSpPr>
        <p:spPr>
          <a:xfrm>
            <a:off x="384048" y="4041648"/>
            <a:ext cx="2880360" cy="1097280"/>
          </a:xfrm>
          <a:prstGeom prst="roundRect">
            <a:avLst>
              <a:gd name="adj" fmla="val 5000"/>
            </a:avLst>
          </a:prstGeom>
          <a:solidFill>
            <a:srgbClr val="FFFFFF"/>
          </a:solidFill>
          <a:ln w="9525">
            <a:solidFill>
              <a:srgbClr val="C6CADD"/>
            </a:solidFill>
          </a:ln>
        </p:spPr>
        <p:txBody>
          <a:bodyPr wrap="square" lIns="91440" tIns="73152" rIns="73152" bIns="36576" rtlCol="0" anchor="t">
            <a:noAutofit/>
          </a:bodyPr>
          <a:lstStyle/>
          <a:p>
            <a:pPr algn="l">
              <a:lnSpc>
                <a:spcPct val="105000"/>
              </a:lnSpc>
              <a:buNone/>
            </a:pPr>
            <a:r>
              <a:rPr lang="ja-JP" altLang="en-US" sz="1000" b="1" dirty="0">
                <a:solidFill>
                  <a:srgbClr val="BF4E0E"/>
                </a:solidFill>
                <a:latin typeface="メイリオ" panose="020B0604030504040204" pitchFamily="50" charset="-128"/>
                <a:ea typeface="メイリオ" panose="020B0604030504040204" pitchFamily="50" charset="-128"/>
              </a:rPr>
              <a:t>実際の例</a:t>
            </a:r>
            <a:endParaRPr lang="ja-JP" altLang="en-US" sz="1050" dirty="0"/>
          </a:p>
          <a:p>
            <a:pPr algn="l">
              <a:lnSpc>
                <a:spcPct val="105000"/>
              </a:lnSpc>
              <a:buNone/>
            </a:pPr>
            <a:r>
              <a:rPr lang="ja-JP" altLang="en-US" sz="1050" b="0" dirty="0">
                <a:solidFill>
                  <a:srgbClr val="1C2233"/>
                </a:solidFill>
                <a:latin typeface="メイリオ" panose="020B0604030504040204" pitchFamily="50" charset="-128"/>
                <a:ea typeface="メイリオ" panose="020B0604030504040204" pitchFamily="50" charset="-128"/>
              </a:rPr>
              <a:t>7/28 あいさつ</a:t>
            </a:r>
            <a:endParaRPr lang="ja-JP" altLang="en-US" sz="1050" dirty="0"/>
          </a:p>
          <a:p>
            <a:pPr algn="l">
              <a:lnSpc>
                <a:spcPct val="105000"/>
              </a:lnSpc>
              <a:buNone/>
            </a:pPr>
            <a:r>
              <a:rPr lang="ja-JP" altLang="en-US" sz="1050" b="0" dirty="0">
                <a:solidFill>
                  <a:srgbClr val="1C2233"/>
                </a:solidFill>
                <a:latin typeface="メイリオ" panose="020B0604030504040204" pitchFamily="50" charset="-128"/>
                <a:ea typeface="メイリオ" panose="020B0604030504040204" pitchFamily="50" charset="-128"/>
              </a:rPr>
              <a:t>5回無料体験・7/31まで・各店先着30名</a:t>
            </a:r>
            <a:endParaRPr lang="ja-JP" altLang="en-US" sz="1050" dirty="0"/>
          </a:p>
        </p:txBody>
      </p:sp>
      <p:sp>
        <p:nvSpPr>
          <p:cNvPr id="12" name="Rounded Rectangle 11"/>
          <p:cNvSpPr/>
          <p:nvPr/>
        </p:nvSpPr>
        <p:spPr>
          <a:xfrm>
            <a:off x="3511296" y="1389888"/>
            <a:ext cx="2880360" cy="384048"/>
          </a:xfrm>
          <a:prstGeom prst="roundRect">
            <a:avLst>
              <a:gd name="adj" fmla="val 20000"/>
            </a:avLst>
          </a:prstGeom>
          <a:solidFill>
            <a:srgbClr val="1F2A5C"/>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② 配信で、動画を使うこともある</a:t>
            </a:r>
            <a:endParaRPr lang="ja-JP" altLang="en-US" sz="1200" dirty="0"/>
          </a:p>
        </p:txBody>
      </p:sp>
      <p:sp>
        <p:nvSpPr>
          <p:cNvPr id="13" name="Rounded Rectangle 12"/>
          <p:cNvSpPr/>
          <p:nvPr/>
        </p:nvSpPr>
        <p:spPr>
          <a:xfrm>
            <a:off x="3511296" y="1865376"/>
            <a:ext cx="2880360" cy="2057400"/>
          </a:xfrm>
          <a:prstGeom prst="roundRect">
            <a:avLst>
              <a:gd name="adj" fmla="val 5000"/>
            </a:avLst>
          </a:prstGeom>
          <a:solidFill>
            <a:srgbClr val="EFF1F7"/>
          </a:solidFill>
          <a:ln w="9525">
            <a:solidFill>
              <a:srgbClr val="C6CADD"/>
            </a:solidFill>
          </a:ln>
        </p:spPr>
        <p:txBody>
          <a:bodyPr wrap="square" lIns="91440" tIns="91440" rIns="73152" bIns="54864" rtlCol="0" anchor="t">
            <a:noAutofit/>
          </a:bodyPr>
          <a:lstStyle/>
          <a:p>
            <a:pPr algn="l">
              <a:lnSpc>
                <a:spcPct val="105000"/>
              </a:lnSpc>
              <a:spcAft>
                <a:spcPts val="400"/>
              </a:spcAft>
              <a:buNone/>
            </a:pPr>
            <a:r>
              <a:rPr lang="ja-JP" altLang="en-US" sz="1150" b="0" dirty="0">
                <a:solidFill>
                  <a:srgbClr val="1C2233"/>
                </a:solidFill>
                <a:latin typeface="メイリオ" panose="020B0604030504040204" pitchFamily="50" charset="-128"/>
                <a:ea typeface="メイリオ" panose="020B0604030504040204" pitchFamily="50" charset="-128"/>
              </a:rPr>
              <a:t>会員の声（「半年で-6キロ」など）の動画で、「自分にもできそう」と感じてもらう。</a:t>
            </a:r>
            <a:endParaRPr lang="ja-JP" altLang="en-US" sz="1150" dirty="0"/>
          </a:p>
          <a:p>
            <a:pPr algn="l">
              <a:lnSpc>
                <a:spcPct val="105000"/>
              </a:lnSpc>
              <a:spcAft>
                <a:spcPts val="400"/>
              </a:spcAft>
              <a:buNone/>
            </a:pPr>
            <a:r>
              <a:rPr lang="ja-JP" altLang="en-US" sz="1000" b="0" dirty="0">
                <a:solidFill>
                  <a:srgbClr val="646C82"/>
                </a:solidFill>
                <a:latin typeface="メイリオ" panose="020B0604030504040204" pitchFamily="50" charset="-128"/>
                <a:ea typeface="メイリオ" panose="020B0604030504040204" pitchFamily="50" charset="-128"/>
              </a:rPr>
              <a:t>※全員に送っているか、対象を絞って送っているかは、弊社の確認範囲では判別できない。</a:t>
            </a:r>
            <a:endParaRPr lang="ja-JP" altLang="en-US" sz="1150" dirty="0"/>
          </a:p>
        </p:txBody>
      </p:sp>
      <p:sp>
        <p:nvSpPr>
          <p:cNvPr id="14" name="Rounded Rectangle 13"/>
          <p:cNvSpPr/>
          <p:nvPr/>
        </p:nvSpPr>
        <p:spPr>
          <a:xfrm>
            <a:off x="3511296" y="4041648"/>
            <a:ext cx="2880360" cy="1097280"/>
          </a:xfrm>
          <a:prstGeom prst="roundRect">
            <a:avLst>
              <a:gd name="adj" fmla="val 5000"/>
            </a:avLst>
          </a:prstGeom>
          <a:solidFill>
            <a:srgbClr val="FFFFFF"/>
          </a:solidFill>
          <a:ln w="9525">
            <a:solidFill>
              <a:srgbClr val="C6CADD"/>
            </a:solidFill>
          </a:ln>
        </p:spPr>
        <p:txBody>
          <a:bodyPr wrap="square" lIns="91440" tIns="73152" rIns="73152" bIns="36576" rtlCol="0" anchor="t">
            <a:noAutofit/>
          </a:bodyPr>
          <a:lstStyle/>
          <a:p>
            <a:pPr algn="l">
              <a:lnSpc>
                <a:spcPct val="105000"/>
              </a:lnSpc>
              <a:buNone/>
            </a:pPr>
            <a:r>
              <a:rPr lang="ja-JP" altLang="en-US" sz="1000" b="1" dirty="0">
                <a:solidFill>
                  <a:srgbClr val="BF4E0E"/>
                </a:solidFill>
                <a:latin typeface="メイリオ" panose="020B0604030504040204" pitchFamily="50" charset="-128"/>
                <a:ea typeface="メイリオ" panose="020B0604030504040204" pitchFamily="50" charset="-128"/>
              </a:rPr>
              <a:t>実際の例</a:t>
            </a:r>
            <a:endParaRPr lang="ja-JP" altLang="en-US" sz="1050" dirty="0"/>
          </a:p>
          <a:p>
            <a:pPr algn="l">
              <a:lnSpc>
                <a:spcPct val="105000"/>
              </a:lnSpc>
              <a:buNone/>
            </a:pPr>
            <a:r>
              <a:rPr lang="ja-JP" altLang="en-US" sz="1050" b="0" dirty="0">
                <a:solidFill>
                  <a:srgbClr val="1C2233"/>
                </a:solidFill>
                <a:latin typeface="メイリオ" panose="020B0604030504040204" pitchFamily="50" charset="-128"/>
                <a:ea typeface="メイリオ" panose="020B0604030504040204" pitchFamily="50" charset="-128"/>
              </a:rPr>
              <a:t>7/28・8/27：会員の声の動画</a:t>
            </a:r>
            <a:endParaRPr lang="ja-JP" altLang="en-US" sz="1050" dirty="0"/>
          </a:p>
          <a:p>
            <a:pPr algn="l">
              <a:lnSpc>
                <a:spcPct val="105000"/>
              </a:lnSpc>
              <a:buNone/>
            </a:pPr>
            <a:r>
              <a:rPr lang="ja-JP" altLang="en-US" sz="1050" b="0" dirty="0">
                <a:solidFill>
                  <a:srgbClr val="1C2233"/>
                </a:solidFill>
                <a:latin typeface="メイリオ" panose="020B0604030504040204" pitchFamily="50" charset="-128"/>
                <a:ea typeface="メイリオ" panose="020B0604030504040204" pitchFamily="50" charset="-128"/>
              </a:rPr>
              <a:t>7月下旬・9/26：締切前の告知にも動画</a:t>
            </a:r>
            <a:endParaRPr lang="ja-JP" altLang="en-US" sz="1050" dirty="0"/>
          </a:p>
        </p:txBody>
      </p:sp>
      <p:sp>
        <p:nvSpPr>
          <p:cNvPr id="15" name="Rounded Rectangle 14"/>
          <p:cNvSpPr/>
          <p:nvPr/>
        </p:nvSpPr>
        <p:spPr>
          <a:xfrm>
            <a:off x="6638544" y="1389888"/>
            <a:ext cx="2880360" cy="384048"/>
          </a:xfrm>
          <a:prstGeom prst="roundRect">
            <a:avLst>
              <a:gd name="adj" fmla="val 20000"/>
            </a:avLst>
          </a:prstGeom>
          <a:solidFill>
            <a:srgbClr val="1F2A5C"/>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③ 特典を毎月替えて、締切前に告知</a:t>
            </a:r>
            <a:endParaRPr lang="ja-JP" altLang="en-US" sz="1200" dirty="0"/>
          </a:p>
        </p:txBody>
      </p:sp>
      <p:sp>
        <p:nvSpPr>
          <p:cNvPr id="16" name="Rounded Rectangle 15"/>
          <p:cNvSpPr/>
          <p:nvPr/>
        </p:nvSpPr>
        <p:spPr>
          <a:xfrm>
            <a:off x="6638544" y="1865376"/>
            <a:ext cx="2880360" cy="2057400"/>
          </a:xfrm>
          <a:prstGeom prst="roundRect">
            <a:avLst>
              <a:gd name="adj" fmla="val 5000"/>
            </a:avLst>
          </a:prstGeom>
          <a:solidFill>
            <a:srgbClr val="EFF1F7"/>
          </a:solidFill>
          <a:ln w="9525">
            <a:solidFill>
              <a:srgbClr val="C6CADD"/>
            </a:solidFill>
          </a:ln>
        </p:spPr>
        <p:txBody>
          <a:bodyPr wrap="square" lIns="91440" tIns="91440" rIns="73152" bIns="54864" rtlCol="0" anchor="t">
            <a:noAutofit/>
          </a:bodyPr>
          <a:lstStyle/>
          <a:p>
            <a:pPr algn="l">
              <a:lnSpc>
                <a:spcPct val="105000"/>
              </a:lnSpc>
              <a:spcAft>
                <a:spcPts val="400"/>
              </a:spcAft>
              <a:buNone/>
            </a:pPr>
            <a:r>
              <a:rPr lang="ja-JP" altLang="en-US" sz="1150" b="0" dirty="0">
                <a:solidFill>
                  <a:srgbClr val="1C2233"/>
                </a:solidFill>
                <a:latin typeface="メイリオ" panose="020B0604030504040204" pitchFamily="50" charset="-128"/>
                <a:ea typeface="メイリオ" panose="020B0604030504040204" pitchFamily="50" charset="-128"/>
              </a:rPr>
              <a:t>その月の特典に「期限・見学だけでもOK」をセットにして、締切の数日前に告知する。</a:t>
            </a:r>
            <a:endParaRPr lang="ja-JP" altLang="en-US" sz="1150" dirty="0"/>
          </a:p>
          <a:p>
            <a:pPr algn="l">
              <a:lnSpc>
                <a:spcPct val="105000"/>
              </a:lnSpc>
              <a:spcAft>
                <a:spcPts val="400"/>
              </a:spcAft>
              <a:buNone/>
            </a:pPr>
            <a:r>
              <a:rPr lang="ja-JP" altLang="en-US" sz="1150" b="0" dirty="0">
                <a:solidFill>
                  <a:srgbClr val="1C2233"/>
                </a:solidFill>
                <a:latin typeface="メイリオ" panose="020B0604030504040204" pitchFamily="50" charset="-128"/>
                <a:ea typeface="メイリオ" panose="020B0604030504040204" pitchFamily="50" charset="-128"/>
              </a:rPr>
              <a:t>文面は、毎月同じ型を使っている。</a:t>
            </a:r>
            <a:endParaRPr lang="ja-JP" altLang="en-US" sz="1150" dirty="0"/>
          </a:p>
          <a:p>
            <a:pPr algn="l">
              <a:lnSpc>
                <a:spcPct val="105000"/>
              </a:lnSpc>
              <a:spcAft>
                <a:spcPts val="400"/>
              </a:spcAft>
              <a:buNone/>
            </a:pPr>
            <a:r>
              <a:rPr lang="ja-JP" altLang="en-US" sz="1150" b="0" dirty="0">
                <a:solidFill>
                  <a:srgbClr val="1C2233"/>
                </a:solidFill>
                <a:latin typeface="メイリオ" panose="020B0604030504040204" pitchFamily="50" charset="-128"/>
                <a:ea typeface="メイリオ" panose="020B0604030504040204" pitchFamily="50" charset="-128"/>
              </a:rPr>
              <a:t>リッチメニューにも、その月の特典を表示。</a:t>
            </a:r>
            <a:endParaRPr lang="ja-JP" altLang="en-US" sz="1150" dirty="0"/>
          </a:p>
        </p:txBody>
      </p:sp>
      <p:sp>
        <p:nvSpPr>
          <p:cNvPr id="17" name="Rounded Rectangle 16"/>
          <p:cNvSpPr/>
          <p:nvPr/>
        </p:nvSpPr>
        <p:spPr>
          <a:xfrm>
            <a:off x="6638544" y="4041648"/>
            <a:ext cx="2880360" cy="1097280"/>
          </a:xfrm>
          <a:prstGeom prst="roundRect">
            <a:avLst>
              <a:gd name="adj" fmla="val 5000"/>
            </a:avLst>
          </a:prstGeom>
          <a:solidFill>
            <a:srgbClr val="FFFFFF"/>
          </a:solidFill>
          <a:ln w="9525">
            <a:solidFill>
              <a:srgbClr val="C6CADD"/>
            </a:solidFill>
          </a:ln>
        </p:spPr>
        <p:txBody>
          <a:bodyPr wrap="square" lIns="91440" tIns="73152" rIns="73152" bIns="36576" rtlCol="0" anchor="t">
            <a:noAutofit/>
          </a:bodyPr>
          <a:lstStyle/>
          <a:p>
            <a:pPr algn="l">
              <a:lnSpc>
                <a:spcPct val="105000"/>
              </a:lnSpc>
              <a:buNone/>
            </a:pPr>
            <a:r>
              <a:rPr lang="ja-JP" altLang="en-US" sz="1000" b="1" dirty="0">
                <a:solidFill>
                  <a:srgbClr val="BF4E0E"/>
                </a:solidFill>
                <a:latin typeface="メイリオ" panose="020B0604030504040204" pitchFamily="50" charset="-128"/>
                <a:ea typeface="メイリオ" panose="020B0604030504040204" pitchFamily="50" charset="-128"/>
              </a:rPr>
              <a:t>実際の例</a:t>
            </a:r>
            <a:endParaRPr lang="ja-JP" altLang="en-US" sz="1050" dirty="0"/>
          </a:p>
          <a:p>
            <a:pPr algn="l">
              <a:lnSpc>
                <a:spcPct val="105000"/>
              </a:lnSpc>
              <a:buNone/>
            </a:pPr>
            <a:r>
              <a:rPr lang="ja-JP" altLang="en-US" sz="1050" b="0" dirty="0">
                <a:solidFill>
                  <a:srgbClr val="1C2233"/>
                </a:solidFill>
                <a:latin typeface="メイリオ" panose="020B0604030504040204" pitchFamily="50" charset="-128"/>
                <a:ea typeface="メイリオ" panose="020B0604030504040204" pitchFamily="50" charset="-128"/>
              </a:rPr>
              <a:t>7月＝5回無料／9月＝1か月無料</a:t>
            </a:r>
            <a:endParaRPr lang="ja-JP" altLang="en-US" sz="1050" dirty="0"/>
          </a:p>
          <a:p>
            <a:pPr algn="l">
              <a:lnSpc>
                <a:spcPct val="105000"/>
              </a:lnSpc>
              <a:buNone/>
            </a:pPr>
            <a:r>
              <a:rPr lang="ja-JP" altLang="en-US" sz="1050" b="0" dirty="0">
                <a:solidFill>
                  <a:srgbClr val="1C2233"/>
                </a:solidFill>
                <a:latin typeface="メイリオ" panose="020B0604030504040204" pitchFamily="50" charset="-128"/>
                <a:ea typeface="メイリオ" panose="020B0604030504040204" pitchFamily="50" charset="-128"/>
              </a:rPr>
              <a:t>10月＝10回無料（10/31まで）</a:t>
            </a:r>
            <a:endParaRPr lang="ja-JP" altLang="en-US" sz="1050" dirty="0"/>
          </a:p>
        </p:txBody>
      </p:sp>
    </p:spTree>
    <p:extLst>
      <p:ext uri="{BB962C8B-B14F-4D97-AF65-F5344CB8AC3E}">
        <p14:creationId xmlns:p14="http://schemas.microsoft.com/office/powerpoint/2010/main" val="1256539237"/>
      </p:ext>
    </p:extLst>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メイリオ"/>
        <a:ea typeface="メイリオ"/>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メイリオ"/>
        <a:ea typeface="メイリオ"/>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メイリオ" panose="020F0302020204030204"/>
        <a:ea typeface="メイリオ"/>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メイリオ" panose="020F0502020204030204"/>
        <a:ea typeface="メイリオ"/>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メイリオ" panose="020F0302020204030204"/>
        <a:ea typeface="メイリオ"/>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メイリオ" panose="020F0502020204030204"/>
        <a:ea typeface="メイリオ"/>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146282</TotalTime>
  <Words>7633</Words>
  <Application>Microsoft Office PowerPoint</Application>
  <PresentationFormat>A4 210 x 297 mm</PresentationFormat>
  <Paragraphs>1711</Paragraphs>
  <Slides>47</Slides>
  <Notes>9</Notes>
  <HiddenSlides>5</HiddenSlides>
  <MMClips>0</MMClips>
  <ScaleCrop>false</ScaleCrop>
  <HeadingPairs>
    <vt:vector size="6" baseType="variant">
      <vt:variant>
        <vt:lpstr>使用されているフォント</vt:lpstr>
      </vt:variant>
      <vt:variant>
        <vt:i4>3</vt:i4>
      </vt:variant>
      <vt:variant>
        <vt:lpstr>テーマ</vt:lpstr>
      </vt:variant>
      <vt:variant>
        <vt:i4>2</vt:i4>
      </vt:variant>
      <vt:variant>
        <vt:lpstr>スライド タイトル</vt:lpstr>
      </vt:variant>
      <vt:variant>
        <vt:i4>47</vt:i4>
      </vt:variant>
    </vt:vector>
  </HeadingPairs>
  <TitlesOfParts>
    <vt:vector size="52" baseType="lpstr">
      <vt:lpstr>メイリオ</vt:lpstr>
      <vt:lpstr>Arial</vt:lpstr>
      <vt:lpstr>Calibri</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1962</cp:revision>
  <cp:lastPrinted>2022-11-01T11:38:14Z</cp:lastPrinted>
  <dcterms:created xsi:type="dcterms:W3CDTF">2015-09-04T09:21:15Z</dcterms:created>
  <dcterms:modified xsi:type="dcterms:W3CDTF">2026-09-09T01:49:52Z</dcterms:modified>
</cp:coreProperties>
</file>