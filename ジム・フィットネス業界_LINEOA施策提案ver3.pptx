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0"/>
  </p:notesMasterIdLst>
  <p:handoutMasterIdLst>
    <p:handoutMasterId r:id="rId51"/>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3154" r:id="rId24"/>
    <p:sldId id="2983" r:id="rId25"/>
    <p:sldId id="2996" r:id="rId26"/>
    <p:sldId id="3143" r:id="rId27"/>
    <p:sldId id="3153" r:id="rId28"/>
    <p:sldId id="3144" r:id="rId29"/>
    <p:sldId id="3149" r:id="rId30"/>
    <p:sldId id="3145" r:id="rId31"/>
    <p:sldId id="3150" r:id="rId32"/>
    <p:sldId id="2984" r:id="rId33"/>
    <p:sldId id="2985" r:id="rId34"/>
    <p:sldId id="2962" r:id="rId35"/>
    <p:sldId id="2942" r:id="rId36"/>
    <p:sldId id="2941" r:id="rId37"/>
    <p:sldId id="2943" r:id="rId38"/>
    <p:sldId id="2944" r:id="rId39"/>
    <p:sldId id="3146" r:id="rId40"/>
    <p:sldId id="2990" r:id="rId41"/>
    <p:sldId id="2991" r:id="rId42"/>
    <p:sldId id="2967" r:id="rId43"/>
    <p:sldId id="3152" r:id="rId44"/>
    <p:sldId id="2946" r:id="rId45"/>
    <p:sldId id="2947" r:id="rId46"/>
    <p:sldId id="2948" r:id="rId47"/>
    <p:sldId id="2958" r:id="rId48"/>
    <p:sldId id="1169" r:id="rId49"/>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2026/10/19</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24</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32</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47</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3.emf"/><Relationship Id="rId7" Type="http://schemas.openxmlformats.org/officeDocument/2006/relationships/image" Target="../media/image27.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業界：ジム・フィットネス</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メイリオ"/>
                <a:ea typeface="メイリオ"/>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latin typeface="メイリオ"/>
                <a:ea typeface="メイリオ"/>
              </a:rPr>
              <a:t>1. LINE</a:t>
            </a:r>
            <a:r>
              <a:rPr lang="ja-JP" altLang="en-US" sz="2400" dirty="0">
                <a:latin typeface="メイリオ"/>
                <a:ea typeface="メイリオ"/>
              </a:rPr>
              <a:t>公式アカウントを検討する背景         </a:t>
            </a:r>
            <a:endParaRPr lang="en-US" altLang="ja-JP" sz="2400" dirty="0"/>
          </a:p>
          <a:p>
            <a:r>
              <a:rPr lang="en-US" altLang="ja-JP" sz="2400" dirty="0">
                <a:latin typeface="メイリオ"/>
                <a:ea typeface="メイリオ"/>
              </a:rPr>
              <a:t>2. </a:t>
            </a:r>
            <a:r>
              <a:rPr lang="ja-JP" altLang="en-US" sz="2400" dirty="0">
                <a:latin typeface="メイリオ"/>
                <a:ea typeface="メイリオ"/>
              </a:rPr>
              <a:t>配信の考え方 ── 市場・需要の実態      </a:t>
            </a:r>
            <a:br>
              <a:rPr lang="en-US" altLang="ja-JP" sz="2400" dirty="0"/>
            </a:br>
            <a:r>
              <a:rPr lang="en-US" altLang="ja-JP" sz="2400" dirty="0">
                <a:latin typeface="メイリオ"/>
                <a:ea typeface="メイリオ"/>
              </a:rPr>
              <a:t>3. </a:t>
            </a:r>
            <a:r>
              <a:rPr lang="ja-JP" altLang="en-US" sz="2400" dirty="0">
                <a:latin typeface="メイリオ"/>
                <a:ea typeface="メイリオ"/>
              </a:rPr>
              <a:t>施策の詳細（配信の効率化）── 設計と改善モデル  </a:t>
            </a:r>
          </a:p>
          <a:p>
            <a:r>
              <a:rPr lang="en-US" altLang="ja-JP" sz="2400" dirty="0">
                <a:latin typeface="メイリオ"/>
                <a:ea typeface="メイリオ"/>
              </a:rPr>
              <a:t>4. </a:t>
            </a:r>
            <a:r>
              <a:rPr lang="ja-JP" altLang="en-US" sz="2400" dirty="0">
                <a:latin typeface="メイリオ"/>
                <a:ea typeface="メイリオ"/>
              </a:rPr>
              <a:t>具体プラン提示                     </a:t>
            </a:r>
          </a:p>
          <a:p>
            <a:r>
              <a:rPr lang="en-US" altLang="ja-JP" sz="2400" dirty="0">
                <a:latin typeface="メイリオ"/>
                <a:ea typeface="メイリオ"/>
              </a:rPr>
              <a:t>5. </a:t>
            </a:r>
            <a:r>
              <a:rPr lang="ja-JP" altLang="en-US" sz="2400" dirty="0">
                <a:latin typeface="メイリオ"/>
                <a:ea typeface="メイリオ"/>
              </a:rPr>
              <a:t>ご提案にあたり（施策紹介・企画案）      </a:t>
            </a:r>
            <a:endParaRPr kumimoji="1" lang="ja-JP" altLang="en-US" sz="2400" dirty="0"/>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rPr>
              <a:t>”</a:t>
            </a:r>
            <a:r>
              <a:rPr lang="ja-JP" altLang="en-US" sz="1400" dirty="0">
                <a:solidFill>
                  <a:srgbClr val="343434"/>
                </a:solidFill>
                <a:latin typeface="メイリオ" panose="020B0604030504040204" pitchFamily="50" charset="-128"/>
                <a:ea typeface="メイリオ" panose="020B0604030504040204" pitchFamily="50" charset="-128"/>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LINEで診断・体験予約 &gt;&gt; 実利用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「LINE診断・体験予約」にて</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リードを獲得</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継続・PT/物販</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友だち紹介に繋げる</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開始時期・通える頻度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特典(診断) 自動送付 / 体づくりタイプ診断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7〜14</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体験予約への誘導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1F2A5C"/>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サンクス自動</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MSG</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3</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来店・入会への誘導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特典訴求で友だち追加促進</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endPar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endParaRP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LINEで継続・紹介を促進</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,LTV</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✓限定クーポン　✓限定特典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✓LINEで診断　✓LINEで体験予約</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現状分析｜ジム・フィットネス業界のLINE公式アカウント実態</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友だち数の実測（LINEヤフー公式ページの公開値）。3社は公式ページ保存版で伸びを確認。</a:t>
            </a:r>
          </a:p>
        </p:txBody>
      </p:sp>
      <p:graphicFrame>
        <p:nvGraphicFramePr>
          <p:cNvPr id="4" name="Table 3"/>
          <p:cNvGraphicFramePr>
            <a:graphicFrameLocks noGrp="1"/>
          </p:cNvGraphicFramePr>
          <p:nvPr>
            <p:extLst>
              <p:ext uri="{D42A27DB-BD31-4B8C-83A1-F6EECF244321}">
                <p14:modId xmlns:p14="http://schemas.microsoft.com/office/powerpoint/2010/main" val="4290336896"/>
              </p:ext>
            </p:extLst>
          </p:nvPr>
        </p:nvGraphicFramePr>
        <p:xfrm>
          <a:off x="384048" y="1234440"/>
          <a:ext cx="9134856" cy="2654843"/>
        </p:xfrm>
        <a:graphic>
          <a:graphicData uri="http://schemas.openxmlformats.org/drawingml/2006/table">
            <a:tbl>
              <a:tblPr firstRow="1" bandRow="1">
                <a:tableStyleId>{5C22544A-7EE6-4342-B048-85BDC9FD1C3A}</a:tableStyleId>
              </a:tblPr>
              <a:tblGrid>
                <a:gridCol w="2097895">
                  <a:extLst>
                    <a:ext uri="{9D8B030D-6E8A-4147-A177-3AD203B41FA5}">
                      <a16:colId xmlns:a16="http://schemas.microsoft.com/office/drawing/2014/main" val="20000"/>
                    </a:ext>
                  </a:extLst>
                </a:gridCol>
                <a:gridCol w="1750423">
                  <a:extLst>
                    <a:ext uri="{9D8B030D-6E8A-4147-A177-3AD203B41FA5}">
                      <a16:colId xmlns:a16="http://schemas.microsoft.com/office/drawing/2014/main" val="20001"/>
                    </a:ext>
                  </a:extLst>
                </a:gridCol>
                <a:gridCol w="1541417">
                  <a:extLst>
                    <a:ext uri="{9D8B030D-6E8A-4147-A177-3AD203B41FA5}">
                      <a16:colId xmlns:a16="http://schemas.microsoft.com/office/drawing/2014/main" val="20002"/>
                    </a:ext>
                  </a:extLst>
                </a:gridCol>
                <a:gridCol w="1140823">
                  <a:extLst>
                    <a:ext uri="{9D8B030D-6E8A-4147-A177-3AD203B41FA5}">
                      <a16:colId xmlns:a16="http://schemas.microsoft.com/office/drawing/2014/main" val="20003"/>
                    </a:ext>
                  </a:extLst>
                </a:gridCol>
                <a:gridCol w="1132114">
                  <a:extLst>
                    <a:ext uri="{9D8B030D-6E8A-4147-A177-3AD203B41FA5}">
                      <a16:colId xmlns:a16="http://schemas.microsoft.com/office/drawing/2014/main" val="20004"/>
                    </a:ext>
                  </a:extLst>
                </a:gridCol>
                <a:gridCol w="1472184">
                  <a:extLst>
                    <a:ext uri="{9D8B030D-6E8A-4147-A177-3AD203B41FA5}">
                      <a16:colId xmlns:a16="http://schemas.microsoft.com/office/drawing/2014/main" val="20005"/>
                    </a:ext>
                  </a:extLst>
                </a:gridCol>
              </a:tblGrid>
              <a:tr h="399217">
                <a:tc>
                  <a:txBody>
                    <a:bodyPr/>
                    <a:lstStyle/>
                    <a:p>
                      <a:pPr algn="ctr"/>
                      <a:r>
                        <a:rPr sz="1200" b="1" dirty="0" err="1">
                          <a:solidFill>
                            <a:srgbClr val="FFFFFF"/>
                          </a:solidFill>
                          <a:latin typeface="メイリオ"/>
                          <a:ea typeface="メイリオ"/>
                        </a:rPr>
                        <a:t>事業者</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業態</a:t>
                      </a:r>
                    </a:p>
                  </a:txBody>
                  <a:tcPr marT="18000" marB="18000">
                    <a:solidFill>
                      <a:srgbClr val="1F2A5C"/>
                    </a:solidFill>
                  </a:tcPr>
                </a:tc>
                <a:tc>
                  <a:txBody>
                    <a:bodyPr/>
                    <a:lstStyle/>
                    <a:p>
                      <a:pPr algn="ctr"/>
                      <a:r>
                        <a:rPr sz="1200" b="1" dirty="0" err="1">
                          <a:solidFill>
                            <a:srgbClr val="FFFFFF"/>
                          </a:solidFill>
                          <a:latin typeface="メイリオ"/>
                          <a:ea typeface="メイリオ"/>
                        </a:rPr>
                        <a:t>友だち数</a:t>
                      </a:r>
                      <a:r>
                        <a:rPr sz="1200" b="1" dirty="0">
                          <a:solidFill>
                            <a:srgbClr val="FFFFFF"/>
                          </a:solidFill>
                          <a:latin typeface="メイリオ"/>
                          <a:ea typeface="メイリオ"/>
                        </a:rPr>
                        <a:t> </a:t>
                      </a:r>
                      <a:r>
                        <a:rPr sz="1200" b="1" dirty="0" err="1">
                          <a:solidFill>
                            <a:srgbClr val="FFFFFF"/>
                          </a:solidFill>
                          <a:latin typeface="メイリオ"/>
                          <a:ea typeface="メイリオ"/>
                        </a:rPr>
                        <a:t>実測</a:t>
                      </a:r>
                      <a:endParaRPr sz="1200" b="1" dirty="0">
                        <a:solidFill>
                          <a:srgbClr val="FFFFFF"/>
                        </a:solidFill>
                        <a:latin typeface="メイリオ"/>
                        <a:ea typeface="メイリオ"/>
                      </a:endParaRPr>
                    </a:p>
                  </a:txBody>
                  <a:tcPr marT="18000" marB="18000">
                    <a:solidFill>
                      <a:srgbClr val="1F2A5C"/>
                    </a:solidFill>
                  </a:tcPr>
                </a:tc>
                <a:tc>
                  <a:txBody>
                    <a:bodyPr/>
                    <a:lstStyle/>
                    <a:p>
                      <a:pPr algn="ctr"/>
                      <a:r>
                        <a:rPr sz="1200" b="1">
                          <a:solidFill>
                            <a:srgbClr val="FFFFFF"/>
                          </a:solidFill>
                          <a:latin typeface="メイリオ"/>
                          <a:ea typeface="メイリオ"/>
                        </a:rPr>
                        <a:t>過去値 保存版</a:t>
                      </a:r>
                    </a:p>
                  </a:txBody>
                  <a:tcPr marT="18000" marB="18000">
                    <a:solidFill>
                      <a:srgbClr val="1F2A5C"/>
                    </a:solidFill>
                  </a:tcPr>
                </a:tc>
                <a:tc>
                  <a:txBody>
                    <a:bodyPr/>
                    <a:lstStyle/>
                    <a:p>
                      <a:pPr algn="ctr"/>
                      <a:r>
                        <a:rPr sz="1200" b="1">
                          <a:solidFill>
                            <a:srgbClr val="FFFFFF"/>
                          </a:solidFill>
                          <a:latin typeface="メイリオ"/>
                          <a:ea typeface="メイリオ"/>
                        </a:rPr>
                        <a:t>伸び</a:t>
                      </a:r>
                    </a:p>
                  </a:txBody>
                  <a:tcPr marT="18000" marB="18000">
                    <a:solidFill>
                      <a:srgbClr val="1F2A5C"/>
                    </a:solidFill>
                  </a:tcPr>
                </a:tc>
                <a:tc>
                  <a:txBody>
                    <a:bodyPr/>
                    <a:lstStyle/>
                    <a:p>
                      <a:pPr algn="ctr"/>
                      <a:r>
                        <a:rPr sz="1200" b="1">
                          <a:solidFill>
                            <a:srgbClr val="FFFFFF"/>
                          </a:solidFill>
                          <a:latin typeface="メイリオ"/>
                          <a:ea typeface="メイリオ"/>
                        </a:rPr>
                        <a:t>配信 実機調査</a:t>
                      </a:r>
                    </a:p>
                  </a:txBody>
                  <a:tcPr marT="18000" marB="18000">
                    <a:solidFill>
                      <a:srgbClr val="1F2A5C"/>
                    </a:solidFill>
                  </a:tcPr>
                </a:tc>
                <a:extLst>
                  <a:ext uri="{0D108BD9-81ED-4DB2-BD59-A6C34878D82A}">
                    <a16:rowId xmlns:a16="http://schemas.microsoft.com/office/drawing/2014/main" val="10000"/>
                  </a:ext>
                </a:extLst>
              </a:tr>
              <a:tr h="321869">
                <a:tc>
                  <a:txBody>
                    <a:bodyPr/>
                    <a:lstStyle/>
                    <a:p>
                      <a:pPr algn="l"/>
                      <a:r>
                        <a:rPr sz="1200" b="0">
                          <a:solidFill>
                            <a:srgbClr val="1C2233"/>
                          </a:solidFill>
                          <a:latin typeface="メイリオ"/>
                          <a:ea typeface="メイリオ"/>
                        </a:rPr>
                        <a:t>ライザップ</a:t>
                      </a:r>
                    </a:p>
                  </a:txBody>
                  <a:tcPr marT="18000" marB="18000">
                    <a:solidFill>
                      <a:srgbClr val="FFFFFF"/>
                    </a:solidFill>
                  </a:tcPr>
                </a:tc>
                <a:tc>
                  <a:txBody>
                    <a:bodyPr/>
                    <a:lstStyle/>
                    <a:p>
                      <a:pPr algn="ctr"/>
                      <a:r>
                        <a:rPr sz="1200" b="0">
                          <a:solidFill>
                            <a:srgbClr val="1C2233"/>
                          </a:solidFill>
                          <a:latin typeface="メイリオ"/>
                          <a:ea typeface="メイリオ"/>
                        </a:rPr>
                        <a:t>パーソナル</a:t>
                      </a:r>
                    </a:p>
                  </a:txBody>
                  <a:tcPr marT="18000" marB="18000">
                    <a:solidFill>
                      <a:srgbClr val="FFFFFF"/>
                    </a:solidFill>
                  </a:tcPr>
                </a:tc>
                <a:tc>
                  <a:txBody>
                    <a:bodyPr/>
                    <a:lstStyle/>
                    <a:p>
                      <a:pPr algn="ctr"/>
                      <a:r>
                        <a:rPr sz="1200" b="0">
                          <a:solidFill>
                            <a:srgbClr val="1C2233"/>
                          </a:solidFill>
                          <a:latin typeface="メイリオ"/>
                          <a:ea typeface="メイリオ"/>
                        </a:rPr>
                        <a:t>非公開</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1"/>
                  </a:ext>
                </a:extLst>
              </a:tr>
              <a:tr h="321869">
                <a:tc>
                  <a:txBody>
                    <a:bodyPr/>
                    <a:lstStyle/>
                    <a:p>
                      <a:pPr algn="l"/>
                      <a:r>
                        <a:rPr sz="1200" b="0">
                          <a:solidFill>
                            <a:srgbClr val="1C2233"/>
                          </a:solidFill>
                          <a:latin typeface="メイリオ"/>
                          <a:ea typeface="メイリオ"/>
                        </a:rPr>
                        <a:t>chocoZAP</a:t>
                      </a:r>
                    </a:p>
                  </a:txBody>
                  <a:tcPr marT="18000" marB="18000">
                    <a:solidFill>
                      <a:srgbClr val="FFFFFF"/>
                    </a:solidFill>
                  </a:tcPr>
                </a:tc>
                <a:tc>
                  <a:txBody>
                    <a:bodyPr/>
                    <a:lstStyle/>
                    <a:p>
                      <a:pPr algn="ctr"/>
                      <a:r>
                        <a:rPr sz="1200" b="0">
                          <a:solidFill>
                            <a:srgbClr val="1C2233"/>
                          </a:solidFill>
                          <a:latin typeface="メイリオ"/>
                          <a:ea typeface="メイリオ"/>
                        </a:rPr>
                        <a:t>24時間コンビニジム</a:t>
                      </a:r>
                    </a:p>
                  </a:txBody>
                  <a:tcPr marT="18000" marB="18000">
                    <a:solidFill>
                      <a:srgbClr val="FFFFFF"/>
                    </a:solidFill>
                  </a:tcPr>
                </a:tc>
                <a:tc>
                  <a:txBody>
                    <a:bodyPr/>
                    <a:lstStyle/>
                    <a:p>
                      <a:pPr algn="ctr"/>
                      <a:r>
                        <a:rPr sz="1200" b="0">
                          <a:solidFill>
                            <a:srgbClr val="1C2233"/>
                          </a:solidFill>
                          <a:latin typeface="メイリオ"/>
                          <a:ea typeface="メイリオ"/>
                        </a:rPr>
                        <a:t>20,680,767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371951212"/>
                  </a:ext>
                </a:extLst>
              </a:tr>
              <a:tr h="321869">
                <a:tc>
                  <a:txBody>
                    <a:bodyPr/>
                    <a:lstStyle/>
                    <a:p>
                      <a:pPr algn="l"/>
                      <a:r>
                        <a:rPr sz="1200" b="0">
                          <a:solidFill>
                            <a:srgbClr val="1C2233"/>
                          </a:solidFill>
                          <a:latin typeface="メイリオ"/>
                          <a:ea typeface="メイリオ"/>
                        </a:rPr>
                        <a:t>カーブス</a:t>
                      </a:r>
                    </a:p>
                  </a:txBody>
                  <a:tcPr marT="18000" marB="18000">
                    <a:solidFill>
                      <a:srgbClr val="EFF1F7"/>
                    </a:solidFill>
                  </a:tcPr>
                </a:tc>
                <a:tc>
                  <a:txBody>
                    <a:bodyPr/>
                    <a:lstStyle/>
                    <a:p>
                      <a:pPr algn="ctr"/>
                      <a:r>
                        <a:rPr sz="1200" b="0">
                          <a:solidFill>
                            <a:srgbClr val="1C2233"/>
                          </a:solidFill>
                          <a:latin typeface="メイリオ"/>
                          <a:ea typeface="メイリオ"/>
                        </a:rPr>
                        <a:t>女性専用サーキット</a:t>
                      </a:r>
                    </a:p>
                  </a:txBody>
                  <a:tcPr marT="18000" marB="18000">
                    <a:solidFill>
                      <a:srgbClr val="EFF1F7"/>
                    </a:solidFill>
                  </a:tcPr>
                </a:tc>
                <a:tc>
                  <a:txBody>
                    <a:bodyPr/>
                    <a:lstStyle/>
                    <a:p>
                      <a:pPr algn="ctr"/>
                      <a:r>
                        <a:rPr sz="1200" b="0">
                          <a:solidFill>
                            <a:srgbClr val="1C2233"/>
                          </a:solidFill>
                          <a:latin typeface="メイリオ"/>
                          <a:ea typeface="メイリオ"/>
                        </a:rPr>
                        <a:t>5,921,564</a:t>
                      </a:r>
                    </a:p>
                  </a:txBody>
                  <a:tcPr marT="18000" marB="18000">
                    <a:solidFill>
                      <a:srgbClr val="EFF1F7"/>
                    </a:solidFill>
                  </a:tcPr>
                </a:tc>
                <a:tc>
                  <a:txBody>
                    <a:bodyPr/>
                    <a:lstStyle/>
                    <a:p>
                      <a:pPr algn="ctr"/>
                      <a:r>
                        <a:rPr sz="1200" b="0">
                          <a:solidFill>
                            <a:srgbClr val="1C2233"/>
                          </a:solidFill>
                          <a:latin typeface="メイリオ"/>
                          <a:ea typeface="メイリオ"/>
                        </a:rPr>
                        <a:t>2,275,646</a:t>
                      </a:r>
                    </a:p>
                  </a:txBody>
                  <a:tcPr marT="18000" marB="18000">
                    <a:solidFill>
                      <a:srgbClr val="EFF1F7"/>
                    </a:solidFill>
                  </a:tcPr>
                </a:tc>
                <a:tc>
                  <a:txBody>
                    <a:bodyPr/>
                    <a:lstStyle/>
                    <a:p>
                      <a:pPr algn="ctr"/>
                      <a:r>
                        <a:rPr sz="1200" b="0">
                          <a:solidFill>
                            <a:srgbClr val="1C2233"/>
                          </a:solidFill>
                          <a:latin typeface="メイリオ"/>
                          <a:ea typeface="メイリオ"/>
                        </a:rPr>
                        <a:t>×2.6</a:t>
                      </a:r>
                    </a:p>
                  </a:txBody>
                  <a:tcPr marT="18000" marB="18000">
                    <a:solidFill>
                      <a:srgbClr val="EFF1F7"/>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2"/>
                  </a:ext>
                </a:extLst>
              </a:tr>
              <a:tr h="321869">
                <a:tc>
                  <a:txBody>
                    <a:bodyPr/>
                    <a:lstStyle/>
                    <a:p>
                      <a:pPr algn="l"/>
                      <a:r>
                        <a:rPr sz="1200" b="0">
                          <a:solidFill>
                            <a:srgbClr val="1C2233"/>
                          </a:solidFill>
                          <a:latin typeface="メイリオ"/>
                          <a:ea typeface="メイリオ"/>
                        </a:rPr>
                        <a:t>エニタイムフィットネス</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1,452,477</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3"/>
                  </a:ext>
                </a:extLst>
              </a:tr>
              <a:tr h="321869">
                <a:tc>
                  <a:txBody>
                    <a:bodyPr/>
                    <a:lstStyle/>
                    <a:p>
                      <a:pPr algn="l"/>
                      <a:r>
                        <a:rPr sz="1200" b="0">
                          <a:solidFill>
                            <a:srgbClr val="1C2233"/>
                          </a:solidFill>
                          <a:latin typeface="メイリオ"/>
                          <a:ea typeface="メイリオ"/>
                        </a:rPr>
                        <a:t>FIT PLACE24</a:t>
                      </a:r>
                    </a:p>
                  </a:txBody>
                  <a:tcPr marT="18000" marB="18000">
                    <a:solidFill>
                      <a:srgbClr val="FFFFFF"/>
                    </a:solidFill>
                  </a:tcPr>
                </a:tc>
                <a:tc>
                  <a:txBody>
                    <a:bodyPr/>
                    <a:lstStyle/>
                    <a:p>
                      <a:pPr algn="ctr"/>
                      <a:r>
                        <a:rPr sz="1200" b="0">
                          <a:solidFill>
                            <a:srgbClr val="1C2233"/>
                          </a:solidFill>
                          <a:latin typeface="メイリオ"/>
                          <a:ea typeface="メイリオ"/>
                        </a:rPr>
                        <a:t>24時間ジム</a:t>
                      </a:r>
                    </a:p>
                  </a:txBody>
                  <a:tcPr marT="18000" marB="18000">
                    <a:solidFill>
                      <a:srgbClr val="FFFFFF"/>
                    </a:solidFill>
                  </a:tcPr>
                </a:tc>
                <a:tc>
                  <a:txBody>
                    <a:bodyPr/>
                    <a:lstStyle/>
                    <a:p>
                      <a:pPr algn="ctr"/>
                      <a:r>
                        <a:rPr sz="1200" b="0">
                          <a:solidFill>
                            <a:srgbClr val="1C2233"/>
                          </a:solidFill>
                          <a:latin typeface="メイリオ"/>
                          <a:ea typeface="メイリオ"/>
                        </a:rPr>
                        <a:t>913,243</a:t>
                      </a:r>
                    </a:p>
                  </a:txBody>
                  <a:tcPr marT="18000" marB="18000">
                    <a:solidFill>
                      <a:srgbClr val="FFFFFF"/>
                    </a:solidFill>
                  </a:tcPr>
                </a:tc>
                <a:tc>
                  <a:txBody>
                    <a:bodyPr/>
                    <a:lstStyle/>
                    <a:p>
                      <a:pPr algn="ctr"/>
                      <a:r>
                        <a:rPr sz="1200" b="0">
                          <a:solidFill>
                            <a:srgbClr val="1C2233"/>
                          </a:solidFill>
                          <a:latin typeface="メイリオ"/>
                          <a:ea typeface="メイリオ"/>
                        </a:rPr>
                        <a:t>保存版なし</a:t>
                      </a:r>
                    </a:p>
                  </a:txBody>
                  <a:tcPr marT="18000" marB="18000">
                    <a:solidFill>
                      <a:srgbClr val="FFFFFF"/>
                    </a:solidFill>
                  </a:tcPr>
                </a:tc>
                <a:tc>
                  <a:txBody>
                    <a:bodyPr/>
                    <a:lstStyle/>
                    <a:p>
                      <a:pPr algn="ctr"/>
                      <a:r>
                        <a:rPr sz="1200" b="0">
                          <a:solidFill>
                            <a:srgbClr val="1C2233"/>
                          </a:solidFill>
                          <a:latin typeface="メイリオ"/>
                          <a:ea typeface="メイリオ"/>
                        </a:rPr>
                        <a:t>―</a:t>
                      </a:r>
                    </a:p>
                  </a:txBody>
                  <a:tcPr marT="18000" marB="18000">
                    <a:solidFill>
                      <a:srgbClr val="FFFFFF"/>
                    </a:solidFill>
                  </a:tcPr>
                </a:tc>
                <a:tc>
                  <a:txBody>
                    <a:bodyPr/>
                    <a:lstStyle/>
                    <a:p>
                      <a:pPr algn="ctr"/>
                      <a:r>
                        <a:rPr sz="1200" b="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2207494840"/>
                  </a:ext>
                </a:extLst>
              </a:tr>
              <a:tr h="321869">
                <a:tc>
                  <a:txBody>
                    <a:bodyPr/>
                    <a:lstStyle/>
                    <a:p>
                      <a:pPr algn="l"/>
                      <a:r>
                        <a:rPr sz="1200" b="0">
                          <a:solidFill>
                            <a:srgbClr val="1C2233"/>
                          </a:solidFill>
                          <a:latin typeface="メイリオ"/>
                          <a:ea typeface="メイリオ"/>
                        </a:rPr>
                        <a:t>フィットイージー</a:t>
                      </a:r>
                    </a:p>
                  </a:txBody>
                  <a:tcPr marT="18000" marB="18000">
                    <a:solidFill>
                      <a:srgbClr val="EFF1F7"/>
                    </a:solidFill>
                  </a:tcPr>
                </a:tc>
                <a:tc>
                  <a:txBody>
                    <a:bodyPr/>
                    <a:lstStyle/>
                    <a:p>
                      <a:pPr algn="ctr"/>
                      <a:r>
                        <a:rPr sz="1200" b="0">
                          <a:solidFill>
                            <a:srgbClr val="1C2233"/>
                          </a:solidFill>
                          <a:latin typeface="メイリオ"/>
                          <a:ea typeface="メイリオ"/>
                        </a:rPr>
                        <a:t>24時間ジム</a:t>
                      </a:r>
                    </a:p>
                  </a:txBody>
                  <a:tcPr marT="18000" marB="18000">
                    <a:solidFill>
                      <a:srgbClr val="EFF1F7"/>
                    </a:solidFill>
                  </a:tcPr>
                </a:tc>
                <a:tc>
                  <a:txBody>
                    <a:bodyPr/>
                    <a:lstStyle/>
                    <a:p>
                      <a:pPr algn="ctr"/>
                      <a:r>
                        <a:rPr sz="1200" b="0">
                          <a:solidFill>
                            <a:srgbClr val="1C2233"/>
                          </a:solidFill>
                          <a:latin typeface="メイリオ"/>
                          <a:ea typeface="メイリオ"/>
                        </a:rPr>
                        <a:t>802,620</a:t>
                      </a:r>
                    </a:p>
                  </a:txBody>
                  <a:tcPr marT="18000" marB="18000">
                    <a:solidFill>
                      <a:srgbClr val="EFF1F7"/>
                    </a:solidFill>
                  </a:tcPr>
                </a:tc>
                <a:tc>
                  <a:txBody>
                    <a:bodyPr/>
                    <a:lstStyle/>
                    <a:p>
                      <a:pPr algn="ctr"/>
                      <a:r>
                        <a:rPr sz="1200" b="0">
                          <a:solidFill>
                            <a:srgbClr val="1C2233"/>
                          </a:solidFill>
                          <a:latin typeface="メイリオ"/>
                          <a:ea typeface="メイリオ"/>
                        </a:rPr>
                        <a:t>487,710</a:t>
                      </a:r>
                    </a:p>
                  </a:txBody>
                  <a:tcPr marT="18000" marB="18000">
                    <a:solidFill>
                      <a:srgbClr val="EFF1F7"/>
                    </a:solidFill>
                  </a:tcPr>
                </a:tc>
                <a:tc>
                  <a:txBody>
                    <a:bodyPr/>
                    <a:lstStyle/>
                    <a:p>
                      <a:pPr algn="ctr"/>
                      <a:r>
                        <a:rPr sz="1200" b="0">
                          <a:solidFill>
                            <a:srgbClr val="1C2233"/>
                          </a:solidFill>
                          <a:latin typeface="メイリオ"/>
                          <a:ea typeface="メイリオ"/>
                        </a:rPr>
                        <a:t>×1.6</a:t>
                      </a:r>
                    </a:p>
                  </a:txBody>
                  <a:tcPr marT="18000" marB="18000">
                    <a:solidFill>
                      <a:srgbClr val="F2F2F2"/>
                    </a:solidFill>
                  </a:tcPr>
                </a:tc>
                <a:tc>
                  <a:txBody>
                    <a:bodyPr/>
                    <a:lstStyle/>
                    <a:p>
                      <a:pPr algn="ctr"/>
                      <a:r>
                        <a:rPr sz="1200" b="0">
                          <a:solidFill>
                            <a:srgbClr val="1C2233"/>
                          </a:solidFill>
                          <a:latin typeface="メイリオ"/>
                          <a:ea typeface="メイリオ"/>
                        </a:rPr>
                        <a:t>8/31確認</a:t>
                      </a:r>
                    </a:p>
                  </a:txBody>
                  <a:tcPr marT="18000" marB="18000">
                    <a:solidFill>
                      <a:srgbClr val="EFF1F7"/>
                    </a:solidFill>
                  </a:tcPr>
                </a:tc>
                <a:extLst>
                  <a:ext uri="{0D108BD9-81ED-4DB2-BD59-A6C34878D82A}">
                    <a16:rowId xmlns:a16="http://schemas.microsoft.com/office/drawing/2014/main" val="10004"/>
                  </a:ext>
                </a:extLst>
              </a:tr>
              <a:tr h="321869">
                <a:tc>
                  <a:txBody>
                    <a:bodyPr/>
                    <a:lstStyle/>
                    <a:p>
                      <a:pPr algn="l"/>
                      <a:r>
                        <a:rPr sz="1200" b="0">
                          <a:solidFill>
                            <a:srgbClr val="1C2233"/>
                          </a:solidFill>
                          <a:latin typeface="メイリオ"/>
                          <a:ea typeface="メイリオ"/>
                        </a:rPr>
                        <a:t>ティップネス</a:t>
                      </a:r>
                    </a:p>
                  </a:txBody>
                  <a:tcPr marT="18000" marB="18000">
                    <a:solidFill>
                      <a:srgbClr val="FFFFFF"/>
                    </a:solidFill>
                  </a:tcPr>
                </a:tc>
                <a:tc>
                  <a:txBody>
                    <a:bodyPr/>
                    <a:lstStyle/>
                    <a:p>
                      <a:pPr algn="ctr"/>
                      <a:r>
                        <a:rPr sz="1200" b="0" dirty="0" err="1">
                          <a:solidFill>
                            <a:srgbClr val="1C2233"/>
                          </a:solidFill>
                          <a:latin typeface="メイリオ"/>
                          <a:ea typeface="メイリオ"/>
                        </a:rPr>
                        <a:t>総合クラブ</a:t>
                      </a:r>
                      <a:endParaRPr sz="1200" b="0" dirty="0">
                        <a:solidFill>
                          <a:srgbClr val="1C2233"/>
                        </a:solidFill>
                        <a:latin typeface="メイリオ"/>
                        <a:ea typeface="メイリオ"/>
                      </a:endParaRPr>
                    </a:p>
                  </a:txBody>
                  <a:tcPr marT="18000" marB="18000">
                    <a:solidFill>
                      <a:srgbClr val="FFFFFF"/>
                    </a:solidFill>
                  </a:tcPr>
                </a:tc>
                <a:tc>
                  <a:txBody>
                    <a:bodyPr/>
                    <a:lstStyle/>
                    <a:p>
                      <a:pPr algn="ctr"/>
                      <a:r>
                        <a:rPr sz="1200" b="0">
                          <a:solidFill>
                            <a:srgbClr val="1C2233"/>
                          </a:solidFill>
                          <a:latin typeface="メイリオ"/>
                          <a:ea typeface="メイリオ"/>
                        </a:rPr>
                        <a:t>262,502</a:t>
                      </a:r>
                    </a:p>
                  </a:txBody>
                  <a:tcPr marT="18000" marB="18000">
                    <a:solidFill>
                      <a:srgbClr val="FFFFFF"/>
                    </a:solidFill>
                  </a:tcPr>
                </a:tc>
                <a:tc>
                  <a:txBody>
                    <a:bodyPr/>
                    <a:lstStyle/>
                    <a:p>
                      <a:pPr algn="ctr"/>
                      <a:r>
                        <a:rPr sz="1200" b="0">
                          <a:solidFill>
                            <a:srgbClr val="1C2233"/>
                          </a:solidFill>
                          <a:latin typeface="メイリオ"/>
                          <a:ea typeface="メイリオ"/>
                        </a:rPr>
                        <a:t>53,138</a:t>
                      </a:r>
                    </a:p>
                  </a:txBody>
                  <a:tcPr marT="18000" marB="18000">
                    <a:solidFill>
                      <a:srgbClr val="FFFFFF"/>
                    </a:solidFill>
                  </a:tcPr>
                </a:tc>
                <a:tc>
                  <a:txBody>
                    <a:bodyPr/>
                    <a:lstStyle/>
                    <a:p>
                      <a:pPr algn="ctr"/>
                      <a:r>
                        <a:rPr sz="1200" b="0">
                          <a:solidFill>
                            <a:srgbClr val="1C2233"/>
                          </a:solidFill>
                          <a:latin typeface="メイリオ"/>
                          <a:ea typeface="メイリオ"/>
                        </a:rPr>
                        <a:t>×4.9</a:t>
                      </a:r>
                    </a:p>
                  </a:txBody>
                  <a:tcPr marT="18000" marB="18000">
                    <a:solidFill>
                      <a:srgbClr val="FFFFFF"/>
                    </a:solidFill>
                  </a:tcPr>
                </a:tc>
                <a:tc>
                  <a:txBody>
                    <a:bodyPr/>
                    <a:lstStyle/>
                    <a:p>
                      <a:pPr algn="ctr"/>
                      <a:r>
                        <a:rPr sz="1200" b="0" dirty="0">
                          <a:solidFill>
                            <a:srgbClr val="1C2233"/>
                          </a:solidFill>
                          <a:latin typeface="メイリオ"/>
                          <a:ea typeface="メイリオ"/>
                        </a:rPr>
                        <a:t>8/31確認</a:t>
                      </a:r>
                    </a:p>
                  </a:txBody>
                  <a:tcPr marT="18000" marB="18000">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a:t>
            </a:r>
            <a:r>
              <a:rPr sz="1200" b="1" dirty="0" err="1">
                <a:solidFill>
                  <a:srgbClr val="1C2233"/>
                </a:solidFill>
                <a:latin typeface="メイリオ"/>
                <a:ea typeface="メイリオ"/>
              </a:rPr>
              <a:t>規模の桁が違う</a:t>
            </a:r>
            <a:endParaRPr sz="1200" b="1" dirty="0">
              <a:solidFill>
                <a:srgbClr val="1C2233"/>
              </a:solidFill>
              <a:latin typeface="メイリオ"/>
              <a:ea typeface="メイリオ"/>
            </a:endParaRPr>
          </a:p>
          <a:p>
            <a:pPr algn="l">
              <a:spcBef>
                <a:spcPts val="200"/>
              </a:spcBef>
            </a:pPr>
            <a:r>
              <a:rPr sz="1200" b="0" dirty="0" err="1">
                <a:solidFill>
                  <a:srgbClr val="1C2233"/>
                </a:solidFill>
                <a:latin typeface="メイリオ"/>
                <a:ea typeface="メイリオ"/>
              </a:rPr>
              <a:t>chocoZAP</a:t>
            </a:r>
            <a:r>
              <a:rPr sz="1200" b="0" dirty="0">
                <a:solidFill>
                  <a:srgbClr val="1C2233"/>
                </a:solidFill>
                <a:latin typeface="メイリオ"/>
                <a:ea typeface="メイリオ"/>
              </a:rPr>
              <a:t> 2,068万人・カーブス592万人。マス層はすでにLINEを顧客接点のインフラにしている。</a:t>
            </a:r>
          </a:p>
        </p:txBody>
      </p:sp>
      <p:sp>
        <p:nvSpPr>
          <p:cNvPr id="6" name="Rounded Rectangle 5"/>
          <p:cNvSpPr/>
          <p:nvPr/>
        </p:nvSpPr>
        <p:spPr>
          <a:xfrm>
            <a:off x="3383279"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24時間ジム勢の分布</a:t>
            </a:r>
          </a:p>
          <a:p>
            <a:pPr algn="l">
              <a:spcBef>
                <a:spcPts val="200"/>
              </a:spcBef>
            </a:pPr>
            <a:r>
              <a:rPr sz="1200" dirty="0">
                <a:solidFill>
                  <a:srgbClr val="1C2233"/>
                </a:solidFill>
                <a:latin typeface="メイリオ"/>
                <a:ea typeface="メイリオ"/>
              </a:rPr>
              <a:t>エニタイム145万 &gt; FIT PLACE24 91万 &gt; フィットイージー80万。</a:t>
            </a:r>
            <a:endParaRPr lang="en-US" sz="1200" dirty="0">
              <a:solidFill>
                <a:srgbClr val="1C2233"/>
              </a:solidFill>
              <a:latin typeface="メイリオ"/>
              <a:ea typeface="メイリオ"/>
            </a:endParaRPr>
          </a:p>
          <a:p>
            <a:pPr algn="l">
              <a:spcBef>
                <a:spcPts val="200"/>
              </a:spcBef>
            </a:pPr>
            <a:r>
              <a:rPr sz="1200" dirty="0">
                <a:solidFill>
                  <a:srgbClr val="1C2233"/>
                </a:solidFill>
                <a:latin typeface="メイリオ"/>
                <a:ea typeface="メイリオ"/>
              </a:rPr>
              <a:t>FIT PLACE24は2023年開業＝入会手続きをLINE起点に設計した新興が最短で肉薄。</a:t>
            </a:r>
          </a:p>
        </p:txBody>
      </p:sp>
      <p:sp>
        <p:nvSpPr>
          <p:cNvPr id="7" name="Rounded Rectangle 6"/>
          <p:cNvSpPr/>
          <p:nvPr/>
        </p:nvSpPr>
        <p:spPr>
          <a:xfrm>
            <a:off x="6382512" y="4023320"/>
            <a:ext cx="2788920" cy="132588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spcBef>
                <a:spcPts val="200"/>
              </a:spcBef>
            </a:pPr>
            <a:r>
              <a:rPr lang="ja-JP" altLang="en-US" sz="1200" b="1" dirty="0">
                <a:solidFill>
                  <a:srgbClr val="1C2233"/>
                </a:solidFill>
                <a:latin typeface="メイリオ"/>
                <a:ea typeface="メイリオ"/>
              </a:rPr>
              <a:t>③ 友だち数の伸び</a:t>
            </a:r>
            <a:endParaRPr lang="en-US" altLang="ja-JP" sz="1200" b="1" dirty="0">
              <a:solidFill>
                <a:srgbClr val="1C2233"/>
              </a:solidFill>
              <a:ea typeface="メイリオ"/>
            </a:endParaRPr>
          </a:p>
          <a:p>
            <a:pPr>
              <a:spcBef>
                <a:spcPts val="200"/>
              </a:spcBef>
            </a:pPr>
            <a:r>
              <a:rPr lang="ja-JP" altLang="en-US" sz="1200" dirty="0">
                <a:solidFill>
                  <a:srgbClr val="1C2233"/>
                </a:solidFill>
                <a:latin typeface="メイリオ"/>
                <a:ea typeface="メイリオ"/>
              </a:rPr>
              <a:t>カーブス</a:t>
            </a:r>
            <a:r>
              <a:rPr lang="en-US" altLang="ja-JP" sz="1200" dirty="0">
                <a:solidFill>
                  <a:srgbClr val="1C2233"/>
                </a:solidFill>
                <a:latin typeface="メイリオ"/>
                <a:ea typeface="メイリオ"/>
              </a:rPr>
              <a:t>×1.6/</a:t>
            </a:r>
            <a:r>
              <a:rPr lang="ja-JP" altLang="en-US" sz="1200" dirty="0">
                <a:solidFill>
                  <a:srgbClr val="1C2233"/>
                </a:solidFill>
                <a:latin typeface="メイリオ"/>
                <a:ea typeface="メイリオ"/>
              </a:rPr>
              <a:t>年・ティップネス</a:t>
            </a:r>
            <a:r>
              <a:rPr lang="en-US" altLang="ja-JP" sz="1200" dirty="0">
                <a:solidFill>
                  <a:srgbClr val="1C2233"/>
                </a:solidFill>
                <a:latin typeface="メイリオ"/>
                <a:ea typeface="メイリオ"/>
              </a:rPr>
              <a:t>×1.5/</a:t>
            </a:r>
            <a:r>
              <a:rPr lang="ja-JP" altLang="en-US" sz="1200" dirty="0">
                <a:solidFill>
                  <a:srgbClr val="1C2233"/>
                </a:solidFill>
                <a:latin typeface="メイリオ"/>
                <a:ea typeface="メイリオ"/>
              </a:rPr>
              <a:t>年・フィットイージー</a:t>
            </a:r>
            <a:r>
              <a:rPr lang="en-US" altLang="ja-JP" sz="1200" dirty="0">
                <a:solidFill>
                  <a:srgbClr val="1C2233"/>
                </a:solidFill>
                <a:latin typeface="メイリオ"/>
                <a:ea typeface="メイリオ"/>
              </a:rPr>
              <a:t>×1.3/</a:t>
            </a:r>
            <a:r>
              <a:rPr lang="ja-JP" altLang="en-US" sz="1200" dirty="0">
                <a:solidFill>
                  <a:srgbClr val="1C2233"/>
                </a:solidFill>
                <a:latin typeface="メイリオ"/>
                <a:ea typeface="メイリオ"/>
              </a:rPr>
              <a:t>年</a:t>
            </a:r>
          </a:p>
          <a:p>
            <a:pPr>
              <a:spcBef>
                <a:spcPts val="200"/>
              </a:spcBef>
            </a:pPr>
            <a:r>
              <a:rPr lang="en-US" altLang="ja-JP" sz="1200" dirty="0">
                <a:solidFill>
                  <a:srgbClr val="1C2233"/>
                </a:solidFill>
                <a:latin typeface="メイリオ"/>
                <a:ea typeface="メイリオ"/>
              </a:rPr>
              <a:t>※カーブスの配信はP10・P11</a:t>
            </a:r>
            <a:endParaRPr sz="1200" b="0" dirty="0">
              <a:solidFill>
                <a:srgbClr val="1C2233"/>
              </a:solidFill>
              <a:latin typeface="メイリオ"/>
              <a:ea typeface="メイリオ"/>
            </a:endParaRPr>
          </a:p>
        </p:txBody>
      </p:sp>
      <p:sp>
        <p:nvSpPr>
          <p:cNvPr id="9" name="Rectangle 8"/>
          <p:cNvSpPr/>
          <p:nvPr/>
        </p:nvSpPr>
        <p:spPr>
          <a:xfrm>
            <a:off x="429768" y="5500096"/>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1500" y="5623560"/>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中堅規模で「集める力」と「育てる力」を両立する会社はまだない</a:t>
            </a:r>
            <a:r>
              <a:rPr sz="1400" b="0" dirty="0">
                <a:solidFill>
                  <a:srgbClr val="1C2233"/>
                </a:solidFill>
                <a:latin typeface="メイリオ"/>
                <a:ea typeface="メイリオ"/>
              </a:rPr>
              <a:t>。</a:t>
            </a:r>
          </a:p>
        </p:txBody>
      </p:sp>
      <p:sp>
        <p:nvSpPr>
          <p:cNvPr id="11" name="TextBox 10"/>
          <p:cNvSpPr txBox="1"/>
          <p:nvPr/>
        </p:nvSpPr>
        <p:spPr>
          <a:xfrm>
            <a:off x="384048" y="61264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出典：page.line.me（LINEヤフー社公式ページ）2026/8/17実測。過去値は同ページのWayback Machine保存版（保存日：カーブス2024/8・フィットイージー2024/10・ティップネス2022/6）。保存版が無い社は「―」。ライザップは公式ページ非公開。</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運用の参考事例｜カーブス</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友だち592万人。ジム・フィットネスでも最大級のLINE公式アカウントです。</a:t>
            </a:r>
          </a:p>
          <a:p>
            <a:r>
              <a:rPr sz="1500" b="0">
                <a:solidFill>
                  <a:srgbClr val="646C82"/>
                </a:solidFill>
                <a:latin typeface="メイリオ"/>
                <a:ea typeface="メイリオ"/>
              </a:rPr>
              <a:t>毎月「期限つきの無料体験」を、あいさつ・配信・リッチメニューで案内し続けています。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大規模でも、やっていることは「期限つきの無料体験」を毎月案内し続けるシンプルな型。</a:t>
            </a:r>
          </a:p>
        </p:txBody>
      </p:sp>
      <p:sp>
        <p:nvSpPr>
          <p:cNvPr id="8" name="TextBox 7"/>
          <p:cNvSpPr txBox="1"/>
          <p:nvPr/>
        </p:nvSpPr>
        <p:spPr>
          <a:xfrm>
            <a:off x="384048" y="6163056"/>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友だち数：page.line.me（LINEヤフー社公式ページ）2026/8/17実測・過去値は同ページの保存版（2024/8）。会員数：カーブスホールディングス 決算補足資料（2026年8月期 第3四半期・2026年5月末）。配信：弊社確認（2026年7〜10月）。</a:t>
            </a:r>
          </a:p>
        </p:txBody>
      </p:sp>
      <p:sp>
        <p:nvSpPr>
          <p:cNvPr id="9" name="Rounded Rectangle 8"/>
          <p:cNvSpPr/>
          <p:nvPr/>
        </p:nvSpPr>
        <p:spPr>
          <a:xfrm>
            <a:off x="384048"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592万人</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2026年8月の実測</a:t>
            </a:r>
            <a:endParaRPr lang="ja-JP" altLang="en-US" sz="1200" dirty="0"/>
          </a:p>
        </p:txBody>
      </p:sp>
      <p:sp>
        <p:nvSpPr>
          <p:cNvPr id="10" name="Rounded Rectangle 9"/>
          <p:cNvSpPr/>
          <p:nvPr/>
        </p:nvSpPr>
        <p:spPr>
          <a:xfrm>
            <a:off x="3511296"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2年での伸び</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×2.6</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2024年8月 約228万人 → 2026年8月</a:t>
            </a:r>
            <a:endParaRPr lang="ja-JP" altLang="en-US" sz="1200" dirty="0"/>
          </a:p>
        </p:txBody>
      </p:sp>
      <p:sp>
        <p:nvSpPr>
          <p:cNvPr id="11" name="Rounded Rectangle 10"/>
          <p:cNvSpPr/>
          <p:nvPr/>
        </p:nvSpPr>
        <p:spPr>
          <a:xfrm>
            <a:off x="6638544" y="1371600"/>
            <a:ext cx="2880360" cy="1371600"/>
          </a:xfrm>
          <a:prstGeom prst="roundRect">
            <a:avLst>
              <a:gd name="adj" fmla="val 8000"/>
            </a:avLst>
          </a:prstGeom>
          <a:solidFill>
            <a:srgbClr val="EFF1F7"/>
          </a:solidFill>
          <a:ln w="9525">
            <a:solidFill>
              <a:srgbClr val="C6CADD"/>
            </a:solidFill>
          </a:ln>
        </p:spPr>
        <p:txBody>
          <a:bodyPr wrap="square" lIns="73152" tIns="36576" rIns="73152" bIns="36576" rtlCol="0" anchor="ctr">
            <a:noAutofit/>
          </a:bodyPr>
          <a:lstStyle/>
          <a:p>
            <a:pPr algn="ctr">
              <a:lnSpc>
                <a:spcPct val="100000"/>
              </a:lnSpc>
              <a:buNone/>
            </a:pPr>
            <a:r>
              <a:rPr lang="ja-JP" altLang="en-US" sz="1100" b="1" dirty="0">
                <a:solidFill>
                  <a:srgbClr val="1F2A5C"/>
                </a:solidFill>
                <a:latin typeface="メイリオ" panose="020B0604030504040204" pitchFamily="50" charset="-128"/>
                <a:ea typeface="メイリオ" panose="020B0604030504040204" pitchFamily="50" charset="-128"/>
              </a:rPr>
              <a:t>会員数に対する友だち数</a:t>
            </a:r>
            <a:endParaRPr lang="ja-JP" altLang="en-US" sz="1200" dirty="0"/>
          </a:p>
          <a:p>
            <a:pPr algn="ctr">
              <a:lnSpc>
                <a:spcPct val="100000"/>
              </a:lnSpc>
              <a:buNone/>
            </a:pPr>
            <a:r>
              <a:rPr lang="ja-JP" altLang="en-US" sz="3000" b="1" dirty="0">
                <a:solidFill>
                  <a:srgbClr val="1F2A5C"/>
                </a:solidFill>
                <a:latin typeface="メイリオ" panose="020B0604030504040204" pitchFamily="50" charset="-128"/>
                <a:ea typeface="メイリオ" panose="020B0604030504040204" pitchFamily="50" charset="-128"/>
              </a:rPr>
              <a:t>約6.7倍</a:t>
            </a:r>
            <a:endParaRPr lang="ja-JP" altLang="en-US" sz="1200" dirty="0"/>
          </a:p>
          <a:p>
            <a:pPr algn="ctr">
              <a:lnSpc>
                <a:spcPct val="100000"/>
              </a:lnSpc>
              <a:buNone/>
            </a:pPr>
            <a:r>
              <a:rPr lang="ja-JP" altLang="en-US" sz="950" b="0" dirty="0">
                <a:solidFill>
                  <a:srgbClr val="646C82"/>
                </a:solidFill>
                <a:latin typeface="メイリオ" panose="020B0604030504040204" pitchFamily="50" charset="-128"/>
                <a:ea typeface="メイリオ" panose="020B0604030504040204" pitchFamily="50" charset="-128"/>
              </a:rPr>
              <a:t>会員 89.0万人（2026年5月末）に対して</a:t>
            </a:r>
            <a:endParaRPr lang="ja-JP" altLang="en-US" sz="1200" dirty="0"/>
          </a:p>
        </p:txBody>
      </p:sp>
      <p:sp>
        <p:nvSpPr>
          <p:cNvPr id="12" name="Rectangle 11"/>
          <p:cNvSpPr/>
          <p:nvPr/>
        </p:nvSpPr>
        <p:spPr>
          <a:xfrm>
            <a:off x="384048" y="2926080"/>
            <a:ext cx="9134856" cy="274320"/>
          </a:xfrm>
          <a:prstGeom prst="rect">
            <a:avLst/>
          </a:prstGeom>
          <a:noFill/>
          <a:ln>
            <a:noFill/>
          </a:ln>
        </p:spPr>
        <p:txBody>
          <a:bodyPr wrap="square" lIns="0" tIns="0" rIns="0" bIns="0" rtlCol="0" anchor="ctr">
            <a:noAutofit/>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実際の配信の流れ（2026年7〜10月・弊社で確認）</a:t>
            </a:r>
            <a:endParaRPr lang="ja-JP" altLang="en-US" sz="1200" dirty="0"/>
          </a:p>
        </p:txBody>
      </p:sp>
      <p:sp>
        <p:nvSpPr>
          <p:cNvPr id="13" name="Rectangle 12"/>
          <p:cNvSpPr/>
          <p:nvPr/>
        </p:nvSpPr>
        <p:spPr>
          <a:xfrm>
            <a:off x="38404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5回無料体験の案内</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期限（7/31まで）と</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先着30名をバナーで</a:t>
            </a:r>
            <a:endParaRPr lang="ja-JP" altLang="en-US" sz="1000" dirty="0"/>
          </a:p>
        </p:txBody>
      </p:sp>
      <p:sp>
        <p:nvSpPr>
          <p:cNvPr id="14" name="Rectangle 13"/>
          <p:cNvSpPr/>
          <p:nvPr/>
        </p:nvSpPr>
        <p:spPr>
          <a:xfrm>
            <a:off x="38404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7/28｜あいさつ</a:t>
            </a:r>
            <a:endParaRPr lang="ja-JP" altLang="en-US" sz="950" dirty="0"/>
          </a:p>
        </p:txBody>
      </p:sp>
      <p:sp>
        <p:nvSpPr>
          <p:cNvPr id="15" name="Rectangle 14"/>
          <p:cNvSpPr/>
          <p:nvPr/>
        </p:nvSpPr>
        <p:spPr>
          <a:xfrm>
            <a:off x="1921764"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「半年で-6キロ」</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16" name="Rectangle 15"/>
          <p:cNvSpPr/>
          <p:nvPr/>
        </p:nvSpPr>
        <p:spPr>
          <a:xfrm>
            <a:off x="1921764"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7/28｜配信</a:t>
            </a:r>
            <a:endParaRPr lang="ja-JP" altLang="en-US" sz="950" dirty="0"/>
          </a:p>
        </p:txBody>
      </p:sp>
      <p:sp>
        <p:nvSpPr>
          <p:cNvPr id="17" name="Rectangle 16"/>
          <p:cNvSpPr/>
          <p:nvPr/>
        </p:nvSpPr>
        <p:spPr>
          <a:xfrm>
            <a:off x="3459480"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18" name="Rectangle 17"/>
          <p:cNvSpPr/>
          <p:nvPr/>
        </p:nvSpPr>
        <p:spPr>
          <a:xfrm>
            <a:off x="3459480"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7月下旬｜配信</a:t>
            </a:r>
            <a:endParaRPr lang="ja-JP" altLang="en-US" sz="950" dirty="0"/>
          </a:p>
        </p:txBody>
      </p:sp>
      <p:sp>
        <p:nvSpPr>
          <p:cNvPr id="19" name="Rectangle 18"/>
          <p:cNvSpPr/>
          <p:nvPr/>
        </p:nvSpPr>
        <p:spPr>
          <a:xfrm>
            <a:off x="4997196"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＋9月の特典</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1か月無料</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（9/30まで）</a:t>
            </a:r>
            <a:endParaRPr lang="ja-JP" altLang="en-US" sz="1000" dirty="0"/>
          </a:p>
        </p:txBody>
      </p:sp>
      <p:sp>
        <p:nvSpPr>
          <p:cNvPr id="20" name="Rectangle 19"/>
          <p:cNvSpPr/>
          <p:nvPr/>
        </p:nvSpPr>
        <p:spPr>
          <a:xfrm>
            <a:off x="4997196"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8/27｜配信</a:t>
            </a:r>
            <a:endParaRPr lang="ja-JP" altLang="en-US" sz="950" dirty="0"/>
          </a:p>
        </p:txBody>
      </p:sp>
      <p:sp>
        <p:nvSpPr>
          <p:cNvPr id="21" name="Rectangle 20"/>
          <p:cNvSpPr/>
          <p:nvPr/>
        </p:nvSpPr>
        <p:spPr>
          <a:xfrm>
            <a:off x="6534912"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PEANUTSとのコラボ</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＋カルーセル</a:t>
            </a:r>
            <a:endParaRPr lang="ja-JP" altLang="en-US" sz="1000" dirty="0"/>
          </a:p>
        </p:txBody>
      </p:sp>
      <p:sp>
        <p:nvSpPr>
          <p:cNvPr id="22" name="Rectangle 21"/>
          <p:cNvSpPr/>
          <p:nvPr/>
        </p:nvSpPr>
        <p:spPr>
          <a:xfrm>
            <a:off x="6534912"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9/26｜配信</a:t>
            </a:r>
            <a:endParaRPr lang="ja-JP" altLang="en-US" sz="950" dirty="0"/>
          </a:p>
        </p:txBody>
      </p:sp>
      <p:sp>
        <p:nvSpPr>
          <p:cNvPr id="23" name="Rectangle 22"/>
          <p:cNvSpPr/>
          <p:nvPr/>
        </p:nvSpPr>
        <p:spPr>
          <a:xfrm>
            <a:off x="8072628" y="3538728"/>
            <a:ext cx="1446276" cy="1371600"/>
          </a:xfrm>
          <a:prstGeom prst="rect">
            <a:avLst/>
          </a:prstGeom>
          <a:solidFill>
            <a:srgbClr val="FFFFFF"/>
          </a:solidFill>
          <a:ln w="9525">
            <a:solidFill>
              <a:srgbClr val="C6CADD"/>
            </a:solidFill>
          </a:ln>
        </p:spPr>
        <p:txBody>
          <a:bodyPr wrap="square" lIns="36576" tIns="36576" rIns="36576" bIns="36576" rtlCol="0" anchor="ctr">
            <a:noAutofit/>
          </a:bodyPr>
          <a:lstStyle/>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10回無料体験</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（10/31まで）</a:t>
            </a:r>
            <a:endParaRPr lang="ja-JP" altLang="en-US" sz="1000" dirty="0"/>
          </a:p>
          <a:p>
            <a:pPr algn="ctr">
              <a:lnSpc>
                <a:spcPct val="110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＋無料スタンプ配布</a:t>
            </a:r>
            <a:endParaRPr lang="ja-JP" altLang="en-US" sz="1000" dirty="0"/>
          </a:p>
        </p:txBody>
      </p:sp>
      <p:sp>
        <p:nvSpPr>
          <p:cNvPr id="24" name="Rectangle 23"/>
          <p:cNvSpPr/>
          <p:nvPr/>
        </p:nvSpPr>
        <p:spPr>
          <a:xfrm>
            <a:off x="8072628" y="3246120"/>
            <a:ext cx="1446276" cy="292608"/>
          </a:xfrm>
          <a:prstGeom prst="rect">
            <a:avLst/>
          </a:prstGeom>
          <a:solidFill>
            <a:srgbClr val="1F2A5C"/>
          </a:solidFill>
          <a:ln>
            <a:noFill/>
          </a:ln>
        </p:spPr>
        <p:txBody>
          <a:bodyPr wrap="square" lIns="18288" tIns="0" rIns="18288" bIns="0" rtlCol="0" anchor="ctr">
            <a:noAutofit/>
          </a:bodyPr>
          <a:lstStyle/>
          <a:p>
            <a:pPr algn="ctr">
              <a:buNone/>
            </a:pPr>
            <a:r>
              <a:rPr lang="ja-JP" altLang="en-US" sz="950" b="1" dirty="0">
                <a:solidFill>
                  <a:srgbClr val="FFFFFF"/>
                </a:solidFill>
                <a:latin typeface="メイリオ" panose="020B0604030504040204" pitchFamily="50" charset="-128"/>
                <a:ea typeface="メイリオ" panose="020B0604030504040204" pitchFamily="50" charset="-128"/>
              </a:rPr>
              <a:t>10月｜リッチメニュー</a:t>
            </a:r>
            <a:endParaRPr lang="ja-JP" altLang="en-US" sz="950" dirty="0"/>
          </a:p>
        </p:txBody>
      </p:sp>
      <p:sp>
        <p:nvSpPr>
          <p:cNvPr id="25" name="Rectangle 24"/>
          <p:cNvSpPr/>
          <p:nvPr/>
        </p:nvSpPr>
        <p:spPr>
          <a:xfrm>
            <a:off x="384048" y="5029200"/>
            <a:ext cx="9134856" cy="256032"/>
          </a:xfrm>
          <a:prstGeom prst="rect">
            <a:avLst/>
          </a:prstGeom>
          <a:noFill/>
          <a:ln>
            <a:noFill/>
          </a:ln>
        </p:spPr>
        <p:txBody>
          <a:bodyPr wrap="square" lIns="0" tIns="0" rIns="0" bIns="0" rtlCol="0" anchor="ctr">
            <a:noAutofit/>
          </a:bodyPr>
          <a:lstStyle/>
          <a:p>
            <a:pPr algn="l">
              <a:buNone/>
            </a:pPr>
            <a:r>
              <a:rPr lang="ja-JP" altLang="en-US" sz="950" b="0" dirty="0">
                <a:solidFill>
                  <a:srgbClr val="646C82"/>
                </a:solidFill>
                <a:latin typeface="メイリオ" panose="020B0604030504040204" pitchFamily="50" charset="-128"/>
                <a:ea typeface="メイリオ" panose="020B0604030504040204" pitchFamily="50" charset="-128"/>
              </a:rPr>
              <a:t>※ 特典は月ごとに替わる（7月＝5回無料／9月＝1か月無料／10月＝10回無料）。配信では毎回、期限と「見学だけでもOK」をセットにしている。</a:t>
            </a:r>
            <a:endParaRPr lang="ja-JP" altLang="en-US" sz="950" dirty="0"/>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カーブスの実際の画面</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あいさつで期限つきの無料体験を案内し、その後の配信で動画や締切前の告知を重ねています。</a:t>
            </a:r>
          </a:p>
          <a:p>
            <a:r>
              <a:rPr sz="1500" b="0">
                <a:solidFill>
                  <a:srgbClr val="646C82"/>
                </a:solidFill>
                <a:latin typeface="メイリオ"/>
                <a:ea typeface="メイリオ"/>
              </a:rPr>
              <a:t>リッチメニューにも、その月の特典を表示しています。</a:t>
            </a:r>
          </a:p>
        </p:txBody>
      </p:sp>
      <p:sp>
        <p:nvSpPr>
          <p:cNvPr id="22" name="TextBox 21"/>
          <p:cNvSpPr txBox="1"/>
          <p:nvPr/>
        </p:nvSpPr>
        <p:spPr>
          <a:xfrm>
            <a:off x="384048" y="621792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画面：カーブス LINE公式アカウント（2026年7〜10月 弊社確認）</a:t>
            </a:r>
          </a:p>
        </p:txBody>
      </p:sp>
      <p:sp>
        <p:nvSpPr>
          <p:cNvPr id="23" name="Rounded Rectangle 22"/>
          <p:cNvSpPr/>
          <p:nvPr/>
        </p:nvSpPr>
        <p:spPr>
          <a:xfrm>
            <a:off x="384048"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　あいさつ（7/28）</a:t>
            </a:r>
            <a:endParaRPr lang="ja-JP" altLang="en-US" sz="1100" dirty="0"/>
          </a:p>
        </p:txBody>
      </p:sp>
      <p:pic>
        <p:nvPicPr>
          <p:cNvPr id="24" name="カーブス_いさつ（7/28）"/>
          <p:cNvPicPr>
            <a:picLocks noChangeAspect="1"/>
          </p:cNvPicPr>
          <p:nvPr/>
        </p:nvPicPr>
        <p:blipFill>
          <a:blip r:embed="rId2"/>
          <a:stretch>
            <a:fillRect/>
          </a:stretch>
        </p:blipFill>
        <p:spPr>
          <a:xfrm>
            <a:off x="570204" y="1792224"/>
            <a:ext cx="1730806" cy="3749039"/>
          </a:xfrm>
          <a:prstGeom prst="rect">
            <a:avLst/>
          </a:prstGeom>
          <a:ln w="9525">
            <a:solidFill>
              <a:srgbClr val="C6CADD"/>
            </a:solidFill>
          </a:ln>
        </p:spPr>
      </p:pic>
      <p:sp>
        <p:nvSpPr>
          <p:cNvPr id="25" name="Rectangle 24"/>
          <p:cNvSpPr/>
          <p:nvPr/>
        </p:nvSpPr>
        <p:spPr>
          <a:xfrm>
            <a:off x="384048"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友だち追加の直後に</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無料体験と期限のバナー</a:t>
            </a:r>
            <a:endParaRPr lang="ja-JP" altLang="en-US" sz="1000" dirty="0"/>
          </a:p>
        </p:txBody>
      </p:sp>
      <p:sp>
        <p:nvSpPr>
          <p:cNvPr id="26" name="Rounded Rectangle 25"/>
          <p:cNvSpPr/>
          <p:nvPr/>
        </p:nvSpPr>
        <p:spPr>
          <a:xfrm>
            <a:off x="2727960"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　配信（7/28）</a:t>
            </a:r>
            <a:endParaRPr lang="ja-JP" altLang="en-US" sz="1100" dirty="0"/>
          </a:p>
        </p:txBody>
      </p:sp>
      <p:pic>
        <p:nvPicPr>
          <p:cNvPr id="27" name="カーブス_信（7/28）"/>
          <p:cNvPicPr>
            <a:picLocks noChangeAspect="1"/>
          </p:cNvPicPr>
          <p:nvPr/>
        </p:nvPicPr>
        <p:blipFill>
          <a:blip r:embed="rId3"/>
          <a:stretch>
            <a:fillRect/>
          </a:stretch>
        </p:blipFill>
        <p:spPr>
          <a:xfrm>
            <a:off x="2914116" y="1792224"/>
            <a:ext cx="1730806" cy="3749039"/>
          </a:xfrm>
          <a:prstGeom prst="rect">
            <a:avLst/>
          </a:prstGeom>
          <a:ln w="9525">
            <a:solidFill>
              <a:srgbClr val="C6CADD"/>
            </a:solidFill>
          </a:ln>
        </p:spPr>
      </p:pic>
      <p:sp>
        <p:nvSpPr>
          <p:cNvPr id="28" name="Rectangle 27"/>
          <p:cNvSpPr/>
          <p:nvPr/>
        </p:nvSpPr>
        <p:spPr>
          <a:xfrm>
            <a:off x="2727960"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会員の声の動画</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＋期限と予約ボタン</a:t>
            </a:r>
            <a:endParaRPr lang="ja-JP" altLang="en-US" sz="1000" dirty="0"/>
          </a:p>
        </p:txBody>
      </p:sp>
      <p:sp>
        <p:nvSpPr>
          <p:cNvPr id="29" name="Rounded Rectangle 28"/>
          <p:cNvSpPr/>
          <p:nvPr/>
        </p:nvSpPr>
        <p:spPr>
          <a:xfrm>
            <a:off x="5071872"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　配信（9/26）</a:t>
            </a:r>
            <a:endParaRPr lang="ja-JP" altLang="en-US" sz="1100" dirty="0"/>
          </a:p>
        </p:txBody>
      </p:sp>
      <p:pic>
        <p:nvPicPr>
          <p:cNvPr id="30" name="カーブス_信（9/26）"/>
          <p:cNvPicPr>
            <a:picLocks noChangeAspect="1"/>
          </p:cNvPicPr>
          <p:nvPr/>
        </p:nvPicPr>
        <p:blipFill>
          <a:blip r:embed="rId4"/>
          <a:stretch>
            <a:fillRect/>
          </a:stretch>
        </p:blipFill>
        <p:spPr>
          <a:xfrm>
            <a:off x="5258028" y="1792224"/>
            <a:ext cx="1730806" cy="3749039"/>
          </a:xfrm>
          <a:prstGeom prst="rect">
            <a:avLst/>
          </a:prstGeom>
          <a:ln w="9525">
            <a:solidFill>
              <a:srgbClr val="C6CADD"/>
            </a:solidFill>
          </a:ln>
        </p:spPr>
      </p:pic>
      <p:sp>
        <p:nvSpPr>
          <p:cNvPr id="31" name="Rectangle 30"/>
          <p:cNvSpPr/>
          <p:nvPr/>
        </p:nvSpPr>
        <p:spPr>
          <a:xfrm>
            <a:off x="5071872"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締切前の告知</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動画＋カルーセル</a:t>
            </a:r>
            <a:endParaRPr lang="ja-JP" altLang="en-US" sz="1000" dirty="0"/>
          </a:p>
        </p:txBody>
      </p:sp>
      <p:sp>
        <p:nvSpPr>
          <p:cNvPr id="32" name="Rounded Rectangle 31"/>
          <p:cNvSpPr/>
          <p:nvPr/>
        </p:nvSpPr>
        <p:spPr>
          <a:xfrm>
            <a:off x="7415784" y="1417320"/>
            <a:ext cx="2103120" cy="29260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　リッチメニュー（10月）</a:t>
            </a:r>
            <a:endParaRPr lang="ja-JP" altLang="en-US" sz="1100" dirty="0"/>
          </a:p>
        </p:txBody>
      </p:sp>
      <p:pic>
        <p:nvPicPr>
          <p:cNvPr id="33" name="カーブス_ッチメニュー（10月）"/>
          <p:cNvPicPr>
            <a:picLocks noChangeAspect="1"/>
          </p:cNvPicPr>
          <p:nvPr/>
        </p:nvPicPr>
        <p:blipFill>
          <a:blip r:embed="rId5"/>
          <a:stretch>
            <a:fillRect/>
          </a:stretch>
        </p:blipFill>
        <p:spPr>
          <a:xfrm>
            <a:off x="7601940" y="1792224"/>
            <a:ext cx="1730806" cy="3749039"/>
          </a:xfrm>
          <a:prstGeom prst="rect">
            <a:avLst/>
          </a:prstGeom>
          <a:ln w="9525">
            <a:solidFill>
              <a:srgbClr val="C6CADD"/>
            </a:solidFill>
          </a:ln>
        </p:spPr>
      </p:pic>
      <p:sp>
        <p:nvSpPr>
          <p:cNvPr id="34" name="Rectangle 33"/>
          <p:cNvSpPr/>
          <p:nvPr/>
        </p:nvSpPr>
        <p:spPr>
          <a:xfrm>
            <a:off x="7415784" y="5596128"/>
            <a:ext cx="2103120" cy="457200"/>
          </a:xfrm>
          <a:prstGeom prst="rect">
            <a:avLst/>
          </a:prstGeom>
          <a:noFill/>
          <a:ln>
            <a:noFill/>
          </a:ln>
        </p:spPr>
        <p:txBody>
          <a:bodyPr wrap="square" lIns="0" tIns="0" rIns="0" bIns="0" rtlCol="0" anchor="t">
            <a:noAutofit/>
          </a:bodyPr>
          <a:lstStyle/>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その月の特典を表示</a:t>
            </a:r>
            <a:endParaRPr lang="ja-JP" altLang="en-US" sz="1000" dirty="0"/>
          </a:p>
          <a:p>
            <a:pPr algn="ctr">
              <a:lnSpc>
                <a:spcPct val="105000"/>
              </a:lnSpc>
              <a:buNone/>
            </a:pPr>
            <a:r>
              <a:rPr lang="ja-JP" altLang="en-US" sz="1000" b="0" dirty="0">
                <a:solidFill>
                  <a:srgbClr val="1C2233"/>
                </a:solidFill>
                <a:latin typeface="メイリオ" panose="020B0604030504040204" pitchFamily="50" charset="-128"/>
                <a:ea typeface="メイリオ" panose="020B0604030504040204" pitchFamily="50" charset="-128"/>
              </a:rPr>
              <a:t>＋無料スタンプの配布</a:t>
            </a:r>
            <a:endParaRPr lang="ja-JP" altLang="en-US" sz="1000" dirty="0"/>
          </a:p>
        </p:txBody>
      </p:sp>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a:ea typeface="メイリオ"/>
                <a:cs typeface="Meiryo"/>
                <a:sym typeface="Meiryo"/>
              </a:rPr>
              <a:t>一般的な</a:t>
            </a:r>
            <a:r>
              <a:rPr lang="en-US" altLang="ja-JP" sz="1600" b="1" dirty="0">
                <a:solidFill>
                  <a:srgbClr val="FF0000"/>
                </a:solidFill>
                <a:latin typeface="メイリオ"/>
                <a:ea typeface="メイリオ"/>
                <a:cs typeface="Meiryo"/>
                <a:sym typeface="Meiryo"/>
              </a:rPr>
              <a:t>8</a:t>
            </a:r>
            <a:r>
              <a:rPr lang="ja-JP" altLang="en-US" sz="1600" b="1" dirty="0">
                <a:solidFill>
                  <a:srgbClr val="FF0000"/>
                </a:solidFill>
                <a:latin typeface="メイリオ"/>
                <a:ea typeface="メイリオ"/>
                <a:cs typeface="Meiryo"/>
                <a:sym typeface="Meiryo"/>
              </a:rPr>
              <a:t>フェーズを、ジム・フィットネス業界に置き換えます。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④体験予約(web/LINE)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ジム・フィットネス業界の場合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2544451" y="6031135"/>
            <a:ext cx="5359159" cy="461665"/>
          </a:xfrm>
          <a:prstGeom prst="rect">
            <a:avLst/>
          </a:prstGeom>
          <a:noFill/>
        </p:spPr>
        <p:txBody>
          <a:bodyPr wrap="none" rtlCol="0">
            <a:spAutoFit/>
          </a:bodyPr>
          <a:lstStyle/>
          <a:p>
            <a:r>
              <a:rPr lang="ja-JP" altLang="en-US" sz="1200" dirty="0">
                <a:latin typeface="メイリオ"/>
                <a:ea typeface="メイリオ"/>
              </a:rPr>
              <a:t>一般的な</a:t>
            </a:r>
            <a:r>
              <a:rPr lang="en-US" altLang="ja-JP" sz="1200" dirty="0">
                <a:latin typeface="メイリオ"/>
                <a:ea typeface="メイリオ"/>
              </a:rPr>
              <a:t>8</a:t>
            </a:r>
            <a:r>
              <a:rPr lang="ja-JP" altLang="en-US" sz="1200" dirty="0">
                <a:latin typeface="メイリオ"/>
                <a:ea typeface="メイリオ"/>
              </a:rPr>
              <a:t>フェーズを、ジム・フィットネスに置き換えるとこうなります。</a:t>
            </a:r>
          </a:p>
          <a:p>
            <a:r>
              <a:rPr lang="ja-JP" altLang="en-US" sz="1200" dirty="0">
                <a:latin typeface="メイリオ"/>
                <a:ea typeface="メイリオ"/>
              </a:rPr>
              <a:t>④体験予約 → ⑤来店 → ⑦ご入会 が、この業界の</a:t>
            </a:r>
            <a:r>
              <a:rPr lang="en-US" altLang="ja-JP" sz="1200" dirty="0">
                <a:latin typeface="メイリオ"/>
                <a:ea typeface="メイリオ"/>
              </a:rPr>
              <a:t>CV</a:t>
            </a:r>
            <a:r>
              <a:rPr lang="ja-JP" altLang="en-US" sz="1200" dirty="0">
                <a:latin typeface="メイリオ"/>
                <a:ea typeface="メイリオ"/>
              </a:rPr>
              <a:t>地点です。</a:t>
            </a:r>
            <a:endParaRPr kumimoji="1" lang="ja-JP" altLang="en-US" sz="1200" dirty="0">
              <a:latin typeface="+mn-ea"/>
            </a:endParaRP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EA154C-E574-B6EC-24FA-4060142D037B}"/>
              </a:ext>
            </a:extLst>
          </p:cNvPr>
          <p:cNvSpPr/>
          <p:nvPr/>
        </p:nvSpPr>
        <p:spPr>
          <a:xfrm>
            <a:off x="-85484" y="793451"/>
            <a:ext cx="10076969"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0000" anchor="ctr"/>
          <a:lstStyle/>
          <a:p>
            <a:pPr algn="ctr">
              <a:lnSpc>
                <a:spcPts val="2455"/>
              </a:lnSpc>
            </a:pPr>
            <a:r>
              <a:rPr sz="1400">
                <a:solidFill>
                  <a:srgbClr val="343434"/>
                </a:solidFill>
                <a:latin typeface="メイリオ"/>
                <a:ea typeface="メイリオ"/>
                <a:cs typeface="メイリオ"/>
              </a:rPr>
              <a:t>検索需要は5年間ほぼ横ばい。一方で大手の店舗数は3年で1,000店超増えました。</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sz="1400">
                <a:solidFill>
                  <a:srgbClr val="343434"/>
                </a:solidFill>
                <a:latin typeface="メイリオ"/>
                <a:ea typeface="メイリオ"/>
                <a:cs typeface="メイリオ"/>
              </a:rPr>
              <a:t>→同じ人数をより多くの店で奪い合う構造です。検索広告に依存するほど条件は厳しくなります。</a:t>
            </a:r>
          </a:p>
        </p:txBody>
      </p:sp>
      <p:cxnSp>
        <p:nvCxnSpPr>
          <p:cNvPr id="5" name="直線コネクタ 4">
            <a:extLst>
              <a:ext uri="{FF2B5EF4-FFF2-40B4-BE49-F238E27FC236}">
                <a16:creationId xmlns:a16="http://schemas.microsoft.com/office/drawing/2014/main" id="{03D37819-F9B0-21D0-F3D4-E790F695CE35}"/>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90" name="Text 22">
            <a:extLst>
              <a:ext uri="{FF2B5EF4-FFF2-40B4-BE49-F238E27FC236}">
                <a16:creationId xmlns:a16="http://schemas.microsoft.com/office/drawing/2014/main" id="{8200CA8A-D095-2BD7-6490-5DB801AFAA26}"/>
              </a:ext>
            </a:extLst>
          </p:cNvPr>
          <p:cNvSpPr/>
          <p:nvPr/>
        </p:nvSpPr>
        <p:spPr>
          <a:xfrm>
            <a:off x="1550716" y="1248171"/>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CE4649BB-D97A-4AB7-AA4E-FFF5CC432064}"/>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7" name="テキスト ボックス 6">
            <a:extLst>
              <a:ext uri="{FF2B5EF4-FFF2-40B4-BE49-F238E27FC236}">
                <a16:creationId xmlns:a16="http://schemas.microsoft.com/office/drawing/2014/main" id="{7506C918-810D-8185-C735-E1F5DE008329}"/>
              </a:ext>
            </a:extLst>
          </p:cNvPr>
          <p:cNvSpPr txBox="1"/>
          <p:nvPr/>
        </p:nvSpPr>
        <p:spPr>
          <a:xfrm>
            <a:off x="422366" y="1618998"/>
            <a:ext cx="5512524" cy="738664"/>
          </a:xfrm>
          <a:prstGeom prst="rect">
            <a:avLst/>
          </a:prstGeom>
          <a:noFill/>
        </p:spPr>
        <p:txBody>
          <a:bodyPr wrap="square">
            <a:spAutoFit/>
          </a:bodyPr>
          <a:lstStyle/>
          <a:p>
            <a:r>
              <a:rPr lang="ja-JP" altLang="en-US" sz="1400" b="1" i="0" dirty="0">
                <a:solidFill>
                  <a:srgbClr val="525860"/>
                </a:solidFill>
                <a:effectLst/>
                <a:latin typeface="メイリオ" panose="020B0604030504040204" pitchFamily="50" charset="-128"/>
                <a:ea typeface="メイリオ" panose="020B0604030504040204" pitchFamily="50" charset="-128"/>
              </a:rPr>
              <a:t>検索広告における</a:t>
            </a:r>
            <a:r>
              <a:rPr lang="en-US" altLang="ja-JP" sz="1400" b="1" i="0" dirty="0">
                <a:solidFill>
                  <a:srgbClr val="525860"/>
                </a:solidFill>
                <a:effectLst/>
                <a:latin typeface="メイリオ" panose="020B0604030504040204" pitchFamily="50" charset="-128"/>
                <a:ea typeface="メイリオ" panose="020B0604030504040204" pitchFamily="50" charset="-128"/>
              </a:rPr>
              <a:t>CPC</a:t>
            </a:r>
            <a:r>
              <a:rPr lang="ja-JP" altLang="en-US" sz="1400" b="1" i="0" dirty="0">
                <a:solidFill>
                  <a:srgbClr val="525860"/>
                </a:solidFill>
                <a:effectLst/>
                <a:latin typeface="メイリオ" panose="020B0604030504040204" pitchFamily="50" charset="-128"/>
                <a:ea typeface="メイリオ" panose="020B0604030504040204" pitchFamily="50" charset="-128"/>
              </a:rPr>
              <a:t>の推移</a:t>
            </a:r>
            <a:br>
              <a:rPr lang="ja-JP" altLang="ja-JP" sz="2800" b="1" dirty="0">
                <a:latin typeface="メイリオ" panose="020B0604030504040204" pitchFamily="50" charset="-128"/>
                <a:ea typeface="メイリオ" panose="020B0604030504040204" pitchFamily="50" charset="-128"/>
              </a:rPr>
            </a:br>
            <a:endParaRPr lang="ja-JP" altLang="en-US" sz="2800" b="1" dirty="0">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E6C884B8-5140-2AFF-15DD-138629C82DCB}"/>
              </a:ext>
            </a:extLst>
          </p:cNvPr>
          <p:cNvSpPr/>
          <p:nvPr/>
        </p:nvSpPr>
        <p:spPr>
          <a:xfrm>
            <a:off x="283029" y="2048899"/>
            <a:ext cx="9117874" cy="574766"/>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panose="020B0604030504040204" pitchFamily="50" charset="-128"/>
                <a:ea typeface="メイリオ" panose="020B0604030504040204" pitchFamily="50" charset="-128"/>
              </a:rPr>
              <a:t>需要構造・経済環境・媒体仕様の三層要因により検索広告の</a:t>
            </a:r>
            <a:r>
              <a:rPr lang="en-US" altLang="ja-JP" sz="1400" b="1" dirty="0">
                <a:solidFill>
                  <a:schemeClr val="tx1"/>
                </a:solidFill>
                <a:latin typeface="メイリオ" panose="020B0604030504040204" pitchFamily="50" charset="-128"/>
                <a:ea typeface="メイリオ" panose="020B0604030504040204" pitchFamily="50" charset="-128"/>
              </a:rPr>
              <a:t>CPC</a:t>
            </a:r>
            <a:r>
              <a:rPr lang="ja-JP" altLang="en-US" sz="1400" b="1" dirty="0">
                <a:solidFill>
                  <a:schemeClr val="tx1"/>
                </a:solidFill>
                <a:latin typeface="メイリオ" panose="020B0604030504040204" pitchFamily="50" charset="-128"/>
                <a:ea typeface="メイリオ" panose="020B0604030504040204" pitchFamily="50" charset="-128"/>
              </a:rPr>
              <a:t>は構造的に上昇している</a:t>
            </a:r>
            <a:endParaRPr lang="en-US" altLang="ja-JP" sz="1400" b="1" dirty="0">
              <a:solidFill>
                <a:schemeClr val="tx1"/>
              </a:solidFill>
              <a:latin typeface="メイリオ" panose="020B0604030504040204" pitchFamily="50" charset="-128"/>
              <a:ea typeface="メイリオ" panose="020B0604030504040204" pitchFamily="50" charset="-128"/>
            </a:endParaRPr>
          </a:p>
          <a:p>
            <a:r>
              <a:rPr lang="ja-JP" altLang="en-US" sz="1400" dirty="0">
                <a:solidFill>
                  <a:schemeClr val="tx1"/>
                </a:solidFill>
                <a:latin typeface="メイリオ" panose="020B0604030504040204" pitchFamily="50" charset="-128"/>
                <a:ea typeface="メイリオ" panose="020B0604030504040204" pitchFamily="50" charset="-128"/>
              </a:rPr>
              <a:t>→同一成果を維持するための広告費は年々増加しており、費用対効果の改善には検索依存からの脱却が不可欠</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5AF5451E-53A3-FB12-1B70-368E81E5724E}"/>
              </a:ext>
            </a:extLst>
          </p:cNvPr>
          <p:cNvSpPr/>
          <p:nvPr/>
        </p:nvSpPr>
        <p:spPr>
          <a:xfrm>
            <a:off x="283029" y="2940426"/>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200" b="1">
                <a:solidFill>
                  <a:srgbClr val="002060"/>
                </a:solidFill>
                <a:latin typeface="メイリオ"/>
                <a:ea typeface="メイリオ"/>
                <a:cs typeface="メイリオ"/>
              </a:rPr>
              <a:t>市場競争要因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sz="1100" b="0">
                <a:solidFill>
                  <a:srgbClr val="1A1A2E"/>
                </a:solidFill>
                <a:latin typeface="メイリオ"/>
                <a:ea typeface="メイリオ"/>
                <a:cs typeface="メイリオ"/>
              </a:rPr>
              <a:t>参入企業の増加（大手15社で3年＋1,000店超）</a:t>
            </a:r>
          </a:p>
          <a:p>
            <a:pPr algn="ctr"/>
            <a:r>
              <a:rPr sz="1100" b="0">
                <a:solidFill>
                  <a:srgbClr val="1A1A2E"/>
                </a:solidFill>
                <a:latin typeface="メイリオ"/>
                <a:ea typeface="メイリオ"/>
                <a:cs typeface="メイリオ"/>
              </a:rPr>
              <a:t>LTV前提の過剰入札</a:t>
            </a:r>
          </a:p>
          <a:p>
            <a:pPr algn="ctr"/>
            <a:r>
              <a:rPr sz="1100" b="0">
                <a:solidFill>
                  <a:srgbClr val="1A1A2E"/>
                </a:solidFill>
                <a:latin typeface="メイリオ"/>
                <a:ea typeface="メイリオ"/>
                <a:cs typeface="メイリオ"/>
              </a:rPr>
              <a:t>“比較サイト化”による競争集中</a:t>
            </a:r>
          </a:p>
        </p:txBody>
      </p:sp>
      <p:sp>
        <p:nvSpPr>
          <p:cNvPr id="11" name="正方形/長方形 10">
            <a:extLst>
              <a:ext uri="{FF2B5EF4-FFF2-40B4-BE49-F238E27FC236}">
                <a16:creationId xmlns:a16="http://schemas.microsoft.com/office/drawing/2014/main" id="{CD688CD6-06D4-183B-FAB6-7FAAE7B2E63E}"/>
              </a:ext>
            </a:extLst>
          </p:cNvPr>
          <p:cNvSpPr/>
          <p:nvPr/>
        </p:nvSpPr>
        <p:spPr>
          <a:xfrm>
            <a:off x="283029" y="5125754"/>
            <a:ext cx="3744686" cy="104359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マクロ経済要因</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広告費のデジタルシフト</a:t>
            </a:r>
            <a:endParaRPr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インフレによる</a:t>
            </a:r>
            <a:r>
              <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rPr>
              <a:t>CPA</a:t>
            </a:r>
            <a:r>
              <a:rPr kumimoji="1"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許容値上昇</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低金利→投資マネー流入</a:t>
            </a:r>
            <a:endParaRPr kumimoji="1"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F564AF1C-D233-CAC0-8959-610D7489C2D8}"/>
              </a:ext>
            </a:extLst>
          </p:cNvPr>
          <p:cNvSpPr/>
          <p:nvPr/>
        </p:nvSpPr>
        <p:spPr>
          <a:xfrm>
            <a:off x="283029" y="4033090"/>
            <a:ext cx="3744686" cy="104358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媒体・技術要因</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6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kumimoji="1" lang="ja-JP" altLang="en-US" sz="1100" u="sng" dirty="0">
                <a:solidFill>
                  <a:schemeClr val="tx1">
                    <a:lumMod val="75000"/>
                    <a:lumOff val="25000"/>
                  </a:schemeClr>
                </a:solidFill>
                <a:latin typeface="メイリオ" panose="020B0604030504040204" pitchFamily="50" charset="-128"/>
                <a:ea typeface="メイリオ" panose="020B0604030504040204" pitchFamily="50" charset="-128"/>
              </a:rPr>
              <a:t>自動入札アルゴリズムの普及</a:t>
            </a:r>
            <a:endParaRPr kumimoji="1" lang="en-US" altLang="ja-JP" sz="1100" u="sng"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100" dirty="0">
                <a:solidFill>
                  <a:schemeClr val="tx1">
                    <a:lumMod val="75000"/>
                    <a:lumOff val="25000"/>
                  </a:schemeClr>
                </a:solidFill>
                <a:latin typeface="メイリオ" panose="020B0604030504040204" pitchFamily="50" charset="-128"/>
                <a:ea typeface="メイリオ" panose="020B0604030504040204" pitchFamily="50" charset="-128"/>
              </a:rPr>
              <a:t>広告枠の実質減少</a:t>
            </a:r>
            <a:endParaRPr lang="en-US" altLang="ja-JP" sz="11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右中かっこ 14">
            <a:extLst>
              <a:ext uri="{FF2B5EF4-FFF2-40B4-BE49-F238E27FC236}">
                <a16:creationId xmlns:a16="http://schemas.microsoft.com/office/drawing/2014/main" id="{C2943848-5BD0-2838-D62F-51572D5DB8C0}"/>
              </a:ext>
            </a:extLst>
          </p:cNvPr>
          <p:cNvSpPr/>
          <p:nvPr/>
        </p:nvSpPr>
        <p:spPr>
          <a:xfrm>
            <a:off x="4239240" y="2940425"/>
            <a:ext cx="286696" cy="3225087"/>
          </a:xfrm>
          <a:prstGeom prst="rightBrace">
            <a:avLst>
              <a:gd name="adj1" fmla="val 50859"/>
              <a:gd name="adj2" fmla="val 11010"/>
            </a:avLst>
          </a:prstGeom>
          <a:ln>
            <a:solidFill>
              <a:schemeClr val="tx2"/>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sz="1400">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E9FABDC4-2C00-F5C7-B85D-477CCDFC4CEF}"/>
              </a:ext>
            </a:extLst>
          </p:cNvPr>
          <p:cNvSpPr/>
          <p:nvPr/>
        </p:nvSpPr>
        <p:spPr>
          <a:xfrm>
            <a:off x="4769525" y="2933550"/>
            <a:ext cx="4631377" cy="62965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メイリオ" panose="020B0604030504040204" pitchFamily="50" charset="-128"/>
                <a:ea typeface="メイリオ" panose="020B0604030504040204" pitchFamily="50" charset="-128"/>
              </a:rPr>
              <a:t>CPC</a:t>
            </a:r>
            <a:r>
              <a:rPr lang="ja-JP" altLang="en-US" sz="1200" b="1" dirty="0">
                <a:solidFill>
                  <a:schemeClr val="tx1"/>
                </a:solidFill>
                <a:latin typeface="メイリオ" panose="020B0604030504040204" pitchFamily="50" charset="-128"/>
                <a:ea typeface="メイリオ" panose="020B0604030504040204" pitchFamily="50" charset="-128"/>
              </a:rPr>
              <a:t>は構造的に上昇傾向</a:t>
            </a:r>
            <a:r>
              <a:rPr lang="en-US" altLang="ja-JP" sz="1200" b="1" dirty="0">
                <a:solidFill>
                  <a:schemeClr val="tx1"/>
                </a:solidFill>
                <a:latin typeface="メイリオ" panose="020B0604030504040204" pitchFamily="50" charset="-128"/>
                <a:ea typeface="メイリオ" panose="020B0604030504040204" pitchFamily="50" charset="-128"/>
              </a:rPr>
              <a:t>  /  </a:t>
            </a:r>
            <a:r>
              <a:rPr kumimoji="1" lang="ja-JP" altLang="en-US" sz="1200" b="1" dirty="0">
                <a:solidFill>
                  <a:schemeClr val="tx1"/>
                </a:solidFill>
                <a:latin typeface="メイリオ" panose="020B0604030504040204" pitchFamily="50" charset="-128"/>
                <a:ea typeface="メイリオ" panose="020B0604030504040204" pitchFamily="50" charset="-128"/>
              </a:rPr>
              <a:t>検索ボリュームは伸び悩み</a:t>
            </a:r>
            <a:endParaRPr kumimoji="1" lang="en-US" altLang="ja-JP" sz="1200" b="1" dirty="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FE7F5D08-3889-C262-3F9F-B5524E38C4ED}"/>
              </a:ext>
            </a:extLst>
          </p:cNvPr>
          <p:cNvSpPr/>
          <p:nvPr/>
        </p:nvSpPr>
        <p:spPr>
          <a:xfrm>
            <a:off x="7014753" y="3621957"/>
            <a:ext cx="2299750" cy="2538790"/>
          </a:xfrm>
          <a:prstGeom prst="rect">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sz="1050" b="1">
                <a:solidFill>
                  <a:srgbClr val="002060"/>
                </a:solidFill>
                <a:latin typeface="メイリオ"/>
                <a:ea typeface="メイリオ"/>
                <a:cs typeface="メイリオ"/>
              </a:rPr>
              <a:t>【検索需要】</a:t>
            </a:r>
          </a:p>
          <a:p>
            <a:pPr algn="ctr"/>
            <a:r>
              <a:rPr sz="1050" b="0">
                <a:solidFill>
                  <a:srgbClr val="1A1A2E"/>
                </a:solidFill>
                <a:latin typeface="メイリオ"/>
                <a:ea typeface="メイリオ"/>
                <a:cs typeface="メイリオ"/>
              </a:rPr>
              <a:t>ジム 5年で ＋2％（横ばい）</a:t>
            </a:r>
          </a:p>
          <a:p>
            <a:pPr algn="ctr"/>
            <a:r>
              <a:rPr sz="1050" b="1">
                <a:solidFill>
                  <a:srgbClr val="002060"/>
                </a:solidFill>
                <a:latin typeface="メイリオ"/>
                <a:ea typeface="メイリオ"/>
                <a:cs typeface="メイリオ"/>
              </a:rPr>
              <a:t>【大手15社の店舗数 ＋1,000店】</a:t>
            </a:r>
          </a:p>
          <a:p>
            <a:pPr algn="ctr"/>
            <a:r>
              <a:rPr sz="1050" b="0">
                <a:solidFill>
                  <a:srgbClr val="1A1A2E"/>
                </a:solidFill>
                <a:latin typeface="メイリオ"/>
                <a:ea typeface="メイリオ"/>
                <a:cs typeface="メイリオ"/>
              </a:rPr>
              <a:t>4,387店 → 5,900店</a:t>
            </a:r>
          </a:p>
          <a:p>
            <a:pPr algn="ctr"/>
            <a:r>
              <a:rPr sz="1050" b="1">
                <a:solidFill>
                  <a:srgbClr val="002060"/>
                </a:solidFill>
                <a:latin typeface="メイリオ"/>
                <a:ea typeface="メイリオ"/>
                <a:cs typeface="メイリオ"/>
              </a:rPr>
              <a:t>【年間消費額 ▲10.6%】</a:t>
            </a:r>
          </a:p>
          <a:p>
            <a:pPr algn="ctr"/>
            <a:r>
              <a:rPr sz="1050" b="0">
                <a:solidFill>
                  <a:srgbClr val="1A1A2E"/>
                </a:solidFill>
                <a:latin typeface="メイリオ"/>
                <a:ea typeface="メイリオ"/>
                <a:cs typeface="メイリオ"/>
              </a:rPr>
              <a:t>98,081円 → 87,645円</a:t>
            </a:r>
          </a:p>
          <a:p>
            <a:pPr algn="ctr"/>
            <a:r>
              <a:rPr sz="1050" b="1">
                <a:solidFill>
                  <a:srgbClr val="1A1A2E"/>
                </a:solidFill>
                <a:latin typeface="メイリオ"/>
                <a:ea typeface="メイリオ"/>
                <a:cs typeface="メイリオ"/>
              </a:rPr>
              <a:t>⇊</a:t>
            </a:r>
          </a:p>
          <a:p>
            <a:pPr algn="ctr"/>
            <a:r>
              <a:rPr sz="1050" b="1">
                <a:solidFill>
                  <a:srgbClr val="C00000"/>
                </a:solidFill>
                <a:latin typeface="メイリオ"/>
                <a:ea typeface="メイリオ"/>
                <a:cs typeface="メイリオ"/>
              </a:rPr>
              <a:t>需要は増えず、店だけ増えた</a:t>
            </a:r>
          </a:p>
        </p:txBody>
      </p:sp>
      <p:sp>
        <p:nvSpPr>
          <p:cNvPr id="93" name="TextBox 92"/>
          <p:cNvSpPr txBox="1"/>
          <p:nvPr/>
        </p:nvSpPr>
        <p:spPr>
          <a:xfrm>
            <a:off x="350000" y="6271200"/>
            <a:ext cx="9200000" cy="288000"/>
          </a:xfrm>
          <a:prstGeom prst="rect">
            <a:avLst/>
          </a:prstGeom>
          <a:noFill/>
        </p:spPr>
        <p:txBody>
          <a:bodyPr wrap="square">
            <a:spAutoFit/>
          </a:bodyPr>
          <a:lstStyle/>
          <a:p>
            <a:r>
              <a:rPr sz="900" b="0">
                <a:solidFill>
                  <a:srgbClr val="5A5A72"/>
                </a:solidFill>
                <a:latin typeface="メイリオ"/>
                <a:ea typeface="メイリオ"/>
                <a:cs typeface="メイリオ"/>
              </a:rPr>
              <a:t>※ 出典：Googleトレンド（2021/9〜2026/9）／帝国データバンク（2024年3月）。CPC推移のグラフは社内想定のイメージです。</a:t>
            </a:r>
          </a:p>
        </p:txBody>
      </p:sp>
      <p:sp>
        <p:nvSpPr>
          <p:cNvPr id="2" name="テキスト ボックス 1">
            <a:extLst>
              <a:ext uri="{FF2B5EF4-FFF2-40B4-BE49-F238E27FC236}">
                <a16:creationId xmlns:a16="http://schemas.microsoft.com/office/drawing/2014/main" id="{52F70E57-7626-3564-60E1-3AC4F4EDE16A}"/>
              </a:ext>
            </a:extLst>
          </p:cNvPr>
          <p:cNvSpPr txBox="1"/>
          <p:nvPr/>
        </p:nvSpPr>
        <p:spPr>
          <a:xfrm>
            <a:off x="4535424" y="3621957"/>
            <a:ext cx="2528316" cy="1631216"/>
          </a:xfrm>
          <a:prstGeom prst="rect">
            <a:avLst/>
          </a:prstGeom>
          <a:noFill/>
        </p:spPr>
        <p:txBody>
          <a:bodyPr wrap="square" rtlCol="0">
            <a:spAutoFit/>
          </a:bodyPr>
          <a:lstStyle/>
          <a:p>
            <a:pPr algn="ctr"/>
            <a:r>
              <a:rPr lang="en-US" altLang="ja-JP" sz="1200" dirty="0">
                <a:latin typeface="メイリオ"/>
                <a:ea typeface="メイリオ"/>
              </a:rPr>
              <a:t>【</a:t>
            </a:r>
            <a:r>
              <a:rPr lang="ja-JP" altLang="en-US" sz="1200" dirty="0">
                <a:latin typeface="メイリオ"/>
                <a:ea typeface="メイリオ"/>
              </a:rPr>
              <a:t>平均</a:t>
            </a:r>
            <a:r>
              <a:rPr lang="en-US" altLang="ja-JP" sz="1200" dirty="0">
                <a:latin typeface="メイリオ"/>
                <a:ea typeface="メイリオ"/>
              </a:rPr>
              <a:t>CPC】</a:t>
            </a:r>
          </a:p>
          <a:p>
            <a:pPr algn="ctr"/>
            <a:r>
              <a:rPr lang="en-US" altLang="ja-JP" sz="1200" dirty="0">
                <a:latin typeface="メイリオ"/>
                <a:ea typeface="メイリオ"/>
              </a:rPr>
              <a:t>246</a:t>
            </a:r>
            <a:r>
              <a:rPr lang="ja-JP" altLang="en-US" sz="1200" dirty="0">
                <a:latin typeface="メイリオ"/>
                <a:ea typeface="メイリオ"/>
              </a:rPr>
              <a:t>円（</a:t>
            </a:r>
            <a:r>
              <a:rPr lang="en-US" altLang="ja-JP" sz="1200" dirty="0">
                <a:latin typeface="メイリオ"/>
                <a:ea typeface="メイリオ"/>
              </a:rPr>
              <a:t>150〜400</a:t>
            </a:r>
            <a:r>
              <a:rPr lang="ja-JP" altLang="en-US" sz="1200" dirty="0">
                <a:latin typeface="メイリオ"/>
                <a:ea typeface="メイリオ"/>
              </a:rPr>
              <a:t>円）</a:t>
            </a:r>
          </a:p>
          <a:p>
            <a:pPr algn="ctr"/>
            <a:r>
              <a:rPr lang="en-US" altLang="ja-JP" sz="1200" dirty="0">
                <a:latin typeface="メイリオ"/>
                <a:ea typeface="メイリオ"/>
              </a:rPr>
              <a:t>【</a:t>
            </a:r>
            <a:r>
              <a:rPr lang="ja-JP" altLang="en-US" sz="1200" dirty="0">
                <a:latin typeface="メイリオ"/>
                <a:ea typeface="メイリオ"/>
              </a:rPr>
              <a:t>最も高いアカウント</a:t>
            </a:r>
            <a:r>
              <a:rPr lang="en-US" altLang="ja-JP" sz="1200" dirty="0">
                <a:latin typeface="メイリオ"/>
                <a:ea typeface="メイリオ"/>
              </a:rPr>
              <a:t>】</a:t>
            </a:r>
          </a:p>
          <a:p>
            <a:pPr algn="ctr"/>
            <a:r>
              <a:rPr lang="ja-JP" altLang="en-US" sz="1200" dirty="0">
                <a:latin typeface="メイリオ"/>
                <a:ea typeface="メイリオ"/>
              </a:rPr>
              <a:t>最も安いアカウントの</a:t>
            </a:r>
            <a:r>
              <a:rPr lang="en-US" altLang="ja-JP" sz="1200" dirty="0">
                <a:latin typeface="メイリオ"/>
                <a:ea typeface="メイリオ"/>
              </a:rPr>
              <a:t>2.7</a:t>
            </a:r>
            <a:r>
              <a:rPr lang="ja-JP" altLang="en-US" sz="1200" dirty="0">
                <a:latin typeface="メイリオ"/>
                <a:ea typeface="メイリオ"/>
              </a:rPr>
              <a:t>倍</a:t>
            </a:r>
          </a:p>
          <a:p>
            <a:pPr algn="ctr"/>
            <a:r>
              <a:rPr lang="en-US" altLang="ja-JP" sz="1200" dirty="0">
                <a:latin typeface="メイリオ"/>
                <a:ea typeface="メイリオ"/>
              </a:rPr>
              <a:t>【</a:t>
            </a:r>
            <a:r>
              <a:rPr lang="ja-JP" altLang="en-US" sz="1200" dirty="0">
                <a:latin typeface="メイリオ"/>
                <a:ea typeface="メイリオ"/>
              </a:rPr>
              <a:t>ご入会</a:t>
            </a:r>
            <a:r>
              <a:rPr lang="en-US" altLang="ja-JP" sz="1200" dirty="0">
                <a:latin typeface="メイリオ"/>
                <a:ea typeface="メイリオ"/>
              </a:rPr>
              <a:t>1</a:t>
            </a:r>
            <a:r>
              <a:rPr lang="ja-JP" altLang="en-US" sz="1200" dirty="0">
                <a:latin typeface="メイリオ"/>
                <a:ea typeface="メイリオ"/>
              </a:rPr>
              <a:t>件あたり</a:t>
            </a:r>
            <a:r>
              <a:rPr lang="en-US" altLang="ja-JP" sz="1200" dirty="0">
                <a:latin typeface="メイリオ"/>
                <a:ea typeface="メイリオ"/>
              </a:rPr>
              <a:t>】</a:t>
            </a:r>
          </a:p>
          <a:p>
            <a:pPr algn="ctr"/>
            <a:r>
              <a:rPr lang="ja-JP" altLang="en-US" sz="1200" dirty="0">
                <a:latin typeface="メイリオ"/>
                <a:ea typeface="メイリオ"/>
              </a:rPr>
              <a:t>約</a:t>
            </a:r>
            <a:r>
              <a:rPr lang="en-US" altLang="ja-JP" sz="1200" dirty="0">
                <a:latin typeface="メイリオ"/>
                <a:ea typeface="メイリオ"/>
              </a:rPr>
              <a:t>24,600</a:t>
            </a:r>
            <a:r>
              <a:rPr lang="ja-JP" altLang="en-US" sz="1200" dirty="0">
                <a:latin typeface="メイリオ"/>
                <a:ea typeface="メイリオ"/>
              </a:rPr>
              <a:t>円</a:t>
            </a:r>
          </a:p>
          <a:p>
            <a:pPr algn="ctr"/>
            <a:r>
              <a:rPr lang="ja-JP" altLang="en-US" sz="1400" dirty="0">
                <a:latin typeface="メイリオ"/>
                <a:ea typeface="メイリオ"/>
              </a:rPr>
              <a:t>⇊</a:t>
            </a:r>
          </a:p>
          <a:p>
            <a:r>
              <a:rPr lang="en-US" altLang="ja-JP" sz="1400" dirty="0">
                <a:latin typeface="メイリオ"/>
                <a:ea typeface="メイリオ"/>
              </a:rPr>
              <a:t>1</a:t>
            </a:r>
            <a:r>
              <a:rPr lang="ja-JP" altLang="en-US" sz="1400" dirty="0">
                <a:latin typeface="メイリオ"/>
                <a:ea typeface="メイリオ"/>
              </a:rPr>
              <a:t>人を獲るのに</a:t>
            </a:r>
            <a:r>
              <a:rPr lang="en-US" altLang="ja-JP" sz="1400" dirty="0">
                <a:latin typeface="メイリオ"/>
                <a:ea typeface="メイリオ"/>
              </a:rPr>
              <a:t>2</a:t>
            </a:r>
            <a:r>
              <a:rPr lang="ja-JP" altLang="en-US" sz="1400" dirty="0">
                <a:latin typeface="メイリオ"/>
                <a:ea typeface="メイリオ"/>
              </a:rPr>
              <a:t>万円超かかる</a:t>
            </a:r>
            <a:endParaRPr kumimoji="1" lang="ja-JP" altLang="en-US" sz="1400" dirty="0"/>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ニーズ調査（シーズナリティ）</a:t>
            </a:r>
          </a:p>
        </p:txBody>
      </p:sp>
      <p:sp>
        <p:nvSpPr>
          <p:cNvPr id="3" name="TextBox 2"/>
          <p:cNvSpPr txBox="1"/>
          <p:nvPr/>
        </p:nvSpPr>
        <p:spPr>
          <a:xfrm>
            <a:off x="384048" y="713139"/>
            <a:ext cx="9134856" cy="461665"/>
          </a:xfrm>
          <a:prstGeom prst="rect">
            <a:avLst/>
          </a:prstGeom>
          <a:noFill/>
        </p:spPr>
        <p:txBody>
          <a:bodyPr wrap="square" lIns="0" tIns="0" rIns="0" bIns="0">
            <a:spAutoFit/>
          </a:bodyPr>
          <a:lstStyle/>
          <a:p>
            <a:r>
              <a:rPr sz="1500" b="0">
                <a:solidFill>
                  <a:srgbClr val="646C82"/>
                </a:solidFill>
                <a:latin typeface="メイリオ"/>
                <a:ea typeface="メイリオ"/>
                <a:cs typeface="メイリオ"/>
              </a:rPr>
              <a:t>「ジム」「フィットネス」は1月、「筋トレ」「筋肉」は6月に山が立つ。</a:t>
            </a:r>
            <a:endParaRPr lang="en-US" sz="1500" b="0" dirty="0">
              <a:solidFill>
                <a:srgbClr val="646C82"/>
              </a:solidFill>
              <a:latin typeface="メイリオ"/>
              <a:ea typeface="メイリオ"/>
            </a:endParaRPr>
          </a:p>
          <a:p>
            <a:r>
              <a:rPr sz="1500" b="0">
                <a:solidFill>
                  <a:srgbClr val="646C82"/>
                </a:solidFill>
                <a:latin typeface="メイリオ"/>
                <a:ea typeface="メイリオ"/>
                <a:cs typeface="メイリオ"/>
              </a:rPr>
              <a:t>振れ幅は小さく、需要は通年ある。</a:t>
            </a:r>
          </a:p>
        </p:txBody>
      </p:sp>
      <p:sp>
        <p:nvSpPr>
          <p:cNvPr id="4" name="Rounded Rectangle 3"/>
          <p:cNvSpPr/>
          <p:nvPr/>
        </p:nvSpPr>
        <p:spPr>
          <a:xfrm>
            <a:off x="384048" y="3742528"/>
            <a:ext cx="2788920" cy="160279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① 山は年2回ある</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入口のKW（ジム・フィットネス）は1月、行動のKW（筋トレ・筋肉）は6月。半年ズレる。</a:t>
            </a:r>
          </a:p>
        </p:txBody>
      </p:sp>
      <p:sp>
        <p:nvSpPr>
          <p:cNvPr id="5" name="Rounded Rectangle 4"/>
          <p:cNvSpPr/>
          <p:nvPr/>
        </p:nvSpPr>
        <p:spPr>
          <a:xfrm>
            <a:off x="3383279" y="3742527"/>
            <a:ext cx="2788920" cy="1602795"/>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② 谷は11〜12月</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全KWが年間最低。特に筋トレは12月に77.9。ここが仕込み期</a:t>
            </a:r>
          </a:p>
        </p:txBody>
      </p:sp>
      <p:sp>
        <p:nvSpPr>
          <p:cNvPr id="6" name="Rounded Rectangle 5"/>
          <p:cNvSpPr/>
          <p:nvPr/>
        </p:nvSpPr>
        <p:spPr>
          <a:xfrm>
            <a:off x="6382512" y="3742528"/>
            <a:ext cx="2788920" cy="1602794"/>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127000" tIns="177800" rIns="127000" rtlCol="0" anchor="t"/>
          <a:lstStyle/>
          <a:p>
            <a:pPr algn="ctr"/>
            <a:r>
              <a:rPr sz="1700" b="1">
                <a:solidFill>
                  <a:srgbClr val="1F2A5C"/>
                </a:solidFill>
                <a:latin typeface="メイリオ"/>
                <a:ea typeface="メイリオ"/>
                <a:cs typeface="メイリオ"/>
              </a:rPr>
              <a:t>③ 振れ幅は17ptだけ</a:t>
            </a:r>
            <a:endParaRPr lang="en-US" sz="1700" b="1" dirty="0">
              <a:solidFill>
                <a:srgbClr val="1F2A5C"/>
              </a:solidFill>
              <a:latin typeface="メイリオ"/>
              <a:ea typeface="メイリオ"/>
            </a:endParaRPr>
          </a:p>
          <a:p>
            <a:pPr algn="ctr"/>
            <a:r>
              <a:rPr sz="1700" b="1">
                <a:solidFill>
                  <a:srgbClr val="1F2A5C"/>
                </a:solidFill>
                <a:latin typeface="メイリオ"/>
                <a:ea typeface="メイリオ"/>
                <a:cs typeface="メイリオ"/>
              </a:rPr>
              <a:t>ジムの山と谷の差はわずか。1月にすべてが決まる業界ではない。</a:t>
            </a:r>
          </a:p>
        </p:txBody>
      </p:sp>
      <p:sp>
        <p:nvSpPr>
          <p:cNvPr id="8" name="Rectangle 7"/>
          <p:cNvSpPr/>
          <p:nvPr/>
        </p:nvSpPr>
        <p:spPr>
          <a:xfrm>
            <a:off x="438912" y="5606854"/>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44068" y="5642601"/>
            <a:ext cx="8814816" cy="430887"/>
          </a:xfrm>
          <a:prstGeom prst="rect">
            <a:avLst/>
          </a:prstGeom>
          <a:noFill/>
        </p:spPr>
        <p:txBody>
          <a:bodyPr wrap="square" lIns="0" tIns="0" rIns="0" bIns="0">
            <a:spAutoFit/>
          </a:bodyPr>
          <a:lstStyle/>
          <a:p>
            <a:r>
              <a:rPr lang="ja-JP" altLang="en-US" sz="1400" b="0" dirty="0">
                <a:solidFill>
                  <a:srgbClr val="1C2233"/>
                </a:solidFill>
                <a:latin typeface="メイリオ"/>
                <a:ea typeface="メイリオ"/>
                <a:cs typeface="メイリオ"/>
              </a:rPr>
              <a:t>需要が極端に下がるという月はない。→毎月配信をする。</a:t>
            </a:r>
            <a:endParaRPr lang="en-US" altLang="ja-JP" sz="1400" b="0" dirty="0">
              <a:solidFill>
                <a:srgbClr val="1C2233"/>
              </a:solidFill>
              <a:latin typeface="メイリオ"/>
              <a:ea typeface="メイリオ"/>
              <a:cs typeface="メイリオ"/>
            </a:endParaRPr>
          </a:p>
          <a:p>
            <a:r>
              <a:rPr lang="ja-JP" altLang="en-US" sz="1400" b="0" dirty="0">
                <a:solidFill>
                  <a:srgbClr val="1C2233"/>
                </a:solidFill>
                <a:latin typeface="メイリオ"/>
                <a:ea typeface="メイリオ"/>
                <a:cs typeface="メイリオ"/>
              </a:rPr>
              <a:t>ただし、月によって送る内容を吟味する。</a:t>
            </a:r>
            <a:endParaRPr sz="1400" b="0" dirty="0">
              <a:solidFill>
                <a:srgbClr val="1C2233"/>
              </a:solidFill>
              <a:latin typeface="メイリオ"/>
              <a:ea typeface="メイリオ"/>
              <a:cs typeface="メイリオ"/>
            </a:endParaRPr>
          </a:p>
        </p:txBody>
      </p:sp>
      <p:sp>
        <p:nvSpPr>
          <p:cNvPr id="10" name="TextBox 9"/>
          <p:cNvSpPr txBox="1"/>
          <p:nvPr/>
        </p:nvSpPr>
        <p:spPr>
          <a:xfrm>
            <a:off x="385572" y="622880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 出典：Googleトレンド（日本・ウェブ検索・2021/9〜2026/9取得）。各年の年平均＝100として2022〜2025を平均。ポケモンSV発売期（2022/11〜2023/1）は「ジム」に別語義が混ざるため除外。</a:t>
            </a:r>
          </a:p>
        </p:txBody>
      </p:sp>
      <p:pic>
        <p:nvPicPr>
          <p:cNvPr id="11" name="Picture 10" descr="trend_main.png"/>
          <p:cNvPicPr>
            <a:picLocks noChangeAspect="1"/>
          </p:cNvPicPr>
          <p:nvPr/>
        </p:nvPicPr>
        <p:blipFill>
          <a:blip r:embed="rId2"/>
          <a:stretch>
            <a:fillRect/>
          </a:stretch>
        </p:blipFill>
        <p:spPr>
          <a:xfrm>
            <a:off x="385200" y="1260000"/>
            <a:ext cx="9133200" cy="2336063"/>
          </a:xfrm>
          <a:prstGeom prst="rect">
            <a:avLst/>
          </a:prstGeom>
        </p:spPr>
      </p:pic>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6210" y="177059"/>
            <a:ext cx="7513200" cy="360000"/>
          </a:xfrm>
          <a:prstGeom prst="rect">
            <a:avLst/>
          </a:prstGeom>
          <a:noFill/>
        </p:spPr>
        <p:txBody>
          <a:bodyPr wrap="square" lIns="18000" tIns="0" rIns="18000" bIns="0">
            <a:spAutoFit/>
          </a:bodyPr>
          <a:lstStyle/>
          <a:p>
            <a:r>
              <a:rPr sz="1600" b="1" dirty="0">
                <a:solidFill>
                  <a:srgbClr val="1F2A5C"/>
                </a:solidFill>
                <a:latin typeface="メイリオ"/>
                <a:ea typeface="メイリオ"/>
              </a:rPr>
              <a:t>ニーズ調査（参考データ：5年トレンド）</a:t>
            </a:r>
          </a:p>
        </p:txBody>
      </p:sp>
      <p:sp>
        <p:nvSpPr>
          <p:cNvPr id="3" name="TextBox 2"/>
          <p:cNvSpPr txBox="1"/>
          <p:nvPr/>
        </p:nvSpPr>
        <p:spPr>
          <a:xfrm>
            <a:off x="385200" y="720000"/>
            <a:ext cx="9133200" cy="184666"/>
          </a:xfrm>
          <a:prstGeom prst="rect">
            <a:avLst/>
          </a:prstGeom>
          <a:noFill/>
        </p:spPr>
        <p:txBody>
          <a:bodyPr wrap="square" lIns="18000" tIns="0" rIns="18000" bIns="0">
            <a:spAutoFit/>
          </a:bodyPr>
          <a:lstStyle/>
          <a:p>
            <a:r>
              <a:rPr sz="1200" b="1">
                <a:solidFill>
                  <a:srgbClr val="646C82"/>
                </a:solidFill>
                <a:latin typeface="メイリオ"/>
                <a:ea typeface="メイリオ"/>
                <a:cs typeface="メイリオ"/>
              </a:rPr>
              <a:t>運動需要は減っていない。ジムは5年で＋2％、筋トレは−10％にとどまる。</a:t>
            </a:r>
          </a:p>
          <a:p>
            <a:r>
              <a:rPr sz="1200" b="1">
                <a:solidFill>
                  <a:srgbClr val="646C82"/>
                </a:solidFill>
                <a:latin typeface="メイリオ"/>
                <a:ea typeface="メイリオ"/>
                <a:cs typeface="メイリオ"/>
              </a:rPr>
              <a:t>半減したのは「ダイエット」という言葉のほうだった。</a:t>
            </a:r>
          </a:p>
        </p:txBody>
      </p:sp>
      <p:sp>
        <p:nvSpPr>
          <p:cNvPr id="4" name="TextBox 3"/>
          <p:cNvSpPr txBox="1"/>
          <p:nvPr/>
        </p:nvSpPr>
        <p:spPr>
          <a:xfrm>
            <a:off x="385200" y="1098000"/>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cs typeface="メイリオ"/>
              </a:rPr>
              <a:t>■ ジム × フィットネス × 筋トレ × 筋肉（5年の伸び率）</a:t>
            </a:r>
          </a:p>
        </p:txBody>
      </p:sp>
      <p:pic>
        <p:nvPicPr>
          <p:cNvPr id="5" name="Picture 4" descr="trend_kintore.png"/>
          <p:cNvPicPr>
            <a:picLocks noChangeAspect="1"/>
          </p:cNvPicPr>
          <p:nvPr/>
        </p:nvPicPr>
        <p:blipFill>
          <a:blip r:embed="rId2"/>
          <a:stretch>
            <a:fillRect/>
          </a:stretch>
        </p:blipFill>
        <p:spPr>
          <a:xfrm>
            <a:off x="385200" y="1314000"/>
            <a:ext cx="9133200" cy="1934297"/>
          </a:xfrm>
          <a:prstGeom prst="rect">
            <a:avLst/>
          </a:prstGeom>
        </p:spPr>
      </p:pic>
      <p:sp>
        <p:nvSpPr>
          <p:cNvPr id="6" name="TextBox 5"/>
          <p:cNvSpPr txBox="1"/>
          <p:nvPr/>
        </p:nvSpPr>
        <p:spPr>
          <a:xfrm>
            <a:off x="386400" y="3263882"/>
            <a:ext cx="9133200" cy="198000"/>
          </a:xfrm>
          <a:prstGeom prst="rect">
            <a:avLst/>
          </a:prstGeom>
          <a:noFill/>
        </p:spPr>
        <p:txBody>
          <a:bodyPr wrap="square" lIns="18000" tIns="0" rIns="18000" bIns="0">
            <a:spAutoFit/>
          </a:bodyPr>
          <a:lstStyle/>
          <a:p>
            <a:r>
              <a:rPr sz="1200" b="1">
                <a:solidFill>
                  <a:srgbClr val="1F2A5C"/>
                </a:solidFill>
                <a:latin typeface="メイリオ"/>
                <a:ea typeface="メイリオ"/>
              </a:rPr>
              <a:t>■ パーソナルジム × 24時間ジム × 24ジム</a:t>
            </a:r>
          </a:p>
        </p:txBody>
      </p:sp>
      <p:pic>
        <p:nvPicPr>
          <p:cNvPr id="7" name="Picture 6" descr="trend_personal.png"/>
          <p:cNvPicPr>
            <a:picLocks noChangeAspect="1"/>
          </p:cNvPicPr>
          <p:nvPr/>
        </p:nvPicPr>
        <p:blipFill>
          <a:blip r:embed="rId3"/>
          <a:stretch>
            <a:fillRect/>
          </a:stretch>
        </p:blipFill>
        <p:spPr>
          <a:xfrm>
            <a:off x="385200" y="3467765"/>
            <a:ext cx="9133200" cy="1934298"/>
          </a:xfrm>
          <a:prstGeom prst="rect">
            <a:avLst/>
          </a:prstGeom>
        </p:spPr>
      </p:pic>
      <p:sp>
        <p:nvSpPr>
          <p:cNvPr id="8" name="TextBox 7"/>
          <p:cNvSpPr txBox="1"/>
          <p:nvPr/>
        </p:nvSpPr>
        <p:spPr>
          <a:xfrm>
            <a:off x="385200" y="5508000"/>
            <a:ext cx="9133200" cy="630000"/>
          </a:xfrm>
          <a:prstGeom prst="rect">
            <a:avLst/>
          </a:prstGeom>
          <a:noFill/>
        </p:spPr>
        <p:txBody>
          <a:bodyPr wrap="square" lIns="18000" tIns="0" rIns="18000" bIns="0">
            <a:spAutoFit/>
          </a:bodyPr>
          <a:lstStyle/>
          <a:p>
            <a:r>
              <a:rPr sz="1200" b="0">
                <a:solidFill>
                  <a:srgbClr val="1C2233"/>
                </a:solidFill>
                <a:latin typeface="メイリオ"/>
                <a:ea typeface="メイリオ"/>
                <a:cs typeface="メイリオ"/>
              </a:rPr>
              <a:t>・ジム＋2％／フィットネス−6％／筋トレ−10％／筋肉−14％＝いずれも横ばい圏。市場が細っているのではない</a:t>
            </a:r>
            <a:endParaRPr sz="1200" b="0" dirty="0">
              <a:solidFill>
                <a:srgbClr val="1C2233"/>
              </a:solidFill>
              <a:latin typeface="メイリオ"/>
              <a:ea typeface="メイリオ"/>
            </a:endParaRPr>
          </a:p>
          <a:p>
            <a:r>
              <a:rPr sz="1200" b="0">
                <a:solidFill>
                  <a:srgbClr val="1C2233"/>
                </a:solidFill>
                <a:latin typeface="メイリオ"/>
                <a:ea typeface="メイリオ"/>
                <a:cs typeface="メイリオ"/>
              </a:rPr>
              <a:t>・減ったのは「やり方を調べる」検索。残ったのは「場所を探す」検索（＝ジムだけが増えている）</a:t>
            </a:r>
          </a:p>
          <a:p>
            <a:r>
              <a:rPr sz="1200" b="0">
                <a:solidFill>
                  <a:srgbClr val="1C2233"/>
                </a:solidFill>
                <a:latin typeface="メイリオ"/>
                <a:ea typeface="メイリオ"/>
                <a:cs typeface="メイリオ"/>
              </a:rPr>
              <a:t>・移行先は医療（GLP-1系）が実データで確認できる。SNS・動画・生成AIへの分散は推測</a:t>
            </a:r>
          </a:p>
          <a:p>
            <a:r>
              <a:rPr sz="1200" b="0">
                <a:solidFill>
                  <a:srgbClr val="1C2233"/>
                </a:solidFill>
                <a:latin typeface="メイリオ"/>
                <a:ea typeface="メイリオ"/>
                <a:cs typeface="メイリオ"/>
              </a:rPr>
              <a:t>・24時間ジム系の一般KWは低位安定＝実需はエリア検索（地名×ジム）と指名検索（ブランド名）に分かれている</a:t>
            </a:r>
          </a:p>
        </p:txBody>
      </p:sp>
      <p:sp>
        <p:nvSpPr>
          <p:cNvPr id="9" name="TextBox 8"/>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cs typeface="メイリオ"/>
              </a:rPr>
              <a:t>※ 出典：Googleトレンド（日本・ウェブ検索・2021/9〜2026/9取得）。各年2〜9月の平均を2022年＝100として正規化。数値は相対値で、別々に取得したグラフ間の比較は不可。</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年間の配信設計マトリクス（時期 × 対象 × 訴求 × CV）</a:t>
            </a:r>
          </a:p>
        </p:txBody>
      </p:sp>
      <p:sp>
        <p:nvSpPr>
          <p:cNvPr id="3" name="TextBox 2"/>
          <p:cNvSpPr txBox="1"/>
          <p:nvPr/>
        </p:nvSpPr>
        <p:spPr>
          <a:xfrm>
            <a:off x="384048" y="731520"/>
            <a:ext cx="9134856" cy="230832"/>
          </a:xfrm>
          <a:prstGeom prst="rect">
            <a:avLst/>
          </a:prstGeom>
          <a:noFill/>
        </p:spPr>
        <p:txBody>
          <a:bodyPr wrap="square" lIns="0" tIns="0" rIns="0" bIns="0">
            <a:spAutoFit/>
          </a:bodyPr>
          <a:lstStyle/>
          <a:p>
            <a:r>
              <a:rPr sz="1500" b="0" dirty="0" err="1">
                <a:solidFill>
                  <a:srgbClr val="646C82"/>
                </a:solidFill>
                <a:latin typeface="メイリオ"/>
                <a:ea typeface="メイリオ"/>
              </a:rPr>
              <a:t>需要の波が極端な業界。時期ごとに「</a:t>
            </a:r>
            <a:r>
              <a:rPr sz="1500" b="1" dirty="0" err="1">
                <a:solidFill>
                  <a:srgbClr val="646C82"/>
                </a:solidFill>
                <a:latin typeface="メイリオ"/>
                <a:ea typeface="メイリオ"/>
              </a:rPr>
              <a:t>誰に・何を言い・どこへ着地させるか</a:t>
            </a:r>
            <a:r>
              <a:rPr sz="1500" b="0" dirty="0" err="1">
                <a:solidFill>
                  <a:srgbClr val="646C82"/>
                </a:solidFill>
                <a:latin typeface="メイリオ"/>
                <a:ea typeface="メイリオ"/>
              </a:rPr>
              <a:t>」を先に決めておく</a:t>
            </a:r>
            <a:r>
              <a:rPr sz="1500" b="0" dirty="0">
                <a:solidFill>
                  <a:srgbClr val="646C82"/>
                </a:solidFill>
                <a:latin typeface="メイリオ"/>
                <a:ea typeface="メイリオ"/>
              </a:rPr>
              <a:t>。</a:t>
            </a:r>
          </a:p>
        </p:txBody>
      </p:sp>
      <p:graphicFrame>
        <p:nvGraphicFramePr>
          <p:cNvPr id="4" name="Table 3"/>
          <p:cNvGraphicFramePr>
            <a:graphicFrameLocks noGrp="1"/>
          </p:cNvGraphicFramePr>
          <p:nvPr>
            <p:extLst>
              <p:ext uri="{D42A27DB-BD31-4B8C-83A1-F6EECF244321}">
                <p14:modId xmlns:p14="http://schemas.microsoft.com/office/powerpoint/2010/main" val="1143097914"/>
              </p:ext>
            </p:extLst>
          </p:nvPr>
        </p:nvGraphicFramePr>
        <p:xfrm>
          <a:off x="384048" y="1234439"/>
          <a:ext cx="9134855" cy="3060628"/>
        </p:xfrm>
        <a:graphic>
          <a:graphicData uri="http://schemas.openxmlformats.org/drawingml/2006/table">
            <a:tbl>
              <a:tblPr firstRow="1" bandRow="1">
                <a:tableStyleId>{5C22544A-7EE6-4342-B048-85BDC9FD1C3A}</a:tableStyleId>
              </a:tblPr>
              <a:tblGrid>
                <a:gridCol w="1793095">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3248297">
                  <a:extLst>
                    <a:ext uri="{9D8B030D-6E8A-4147-A177-3AD203B41FA5}">
                      <a16:colId xmlns:a16="http://schemas.microsoft.com/office/drawing/2014/main" val="20002"/>
                    </a:ext>
                  </a:extLst>
                </a:gridCol>
                <a:gridCol w="2020823">
                  <a:extLst>
                    <a:ext uri="{9D8B030D-6E8A-4147-A177-3AD203B41FA5}">
                      <a16:colId xmlns:a16="http://schemas.microsoft.com/office/drawing/2014/main" val="20003"/>
                    </a:ext>
                  </a:extLst>
                </a:gridCol>
              </a:tblGrid>
              <a:tr h="505669">
                <a:tc>
                  <a:txBody>
                    <a:bodyPr/>
                    <a:lstStyle/>
                    <a:p>
                      <a:pPr algn="ctr"/>
                      <a:r>
                        <a:rPr sz="1300" b="1">
                          <a:solidFill>
                            <a:srgbClr val="FFFFFF"/>
                          </a:solidFill>
                          <a:latin typeface="メイリオ"/>
                          <a:ea typeface="メイリオ"/>
                        </a:rPr>
                        <a:t>時期</a:t>
                      </a:r>
                    </a:p>
                  </a:txBody>
                  <a:tcPr>
                    <a:solidFill>
                      <a:srgbClr val="1F2A5C"/>
                    </a:solidFill>
                  </a:tcPr>
                </a:tc>
                <a:tc>
                  <a:txBody>
                    <a:bodyPr/>
                    <a:lstStyle/>
                    <a:p>
                      <a:pPr algn="ctr"/>
                      <a:r>
                        <a:rPr sz="1300" b="1" dirty="0" err="1">
                          <a:solidFill>
                            <a:srgbClr val="FFFFFF"/>
                          </a:solidFill>
                          <a:latin typeface="メイリオ"/>
                          <a:ea typeface="メイリオ"/>
                        </a:rPr>
                        <a:t>主な対象</a:t>
                      </a:r>
                      <a:endParaRPr sz="1300" b="1" dirty="0">
                        <a:solidFill>
                          <a:srgbClr val="FFFFFF"/>
                        </a:solidFill>
                        <a:latin typeface="メイリオ"/>
                        <a:ea typeface="メイリオ"/>
                      </a:endParaRPr>
                    </a:p>
                  </a:txBody>
                  <a:tcPr>
                    <a:solidFill>
                      <a:srgbClr val="1F2A5C"/>
                    </a:solidFill>
                  </a:tcPr>
                </a:tc>
                <a:tc>
                  <a:txBody>
                    <a:bodyPr/>
                    <a:lstStyle/>
                    <a:p>
                      <a:pPr algn="ctr"/>
                      <a:r>
                        <a:rPr sz="1300" b="1">
                          <a:solidFill>
                            <a:srgbClr val="FFFFFF"/>
                          </a:solidFill>
                          <a:latin typeface="メイリオ"/>
                          <a:ea typeface="メイリオ"/>
                        </a:rPr>
                        <a:t>訴求軸</a:t>
                      </a:r>
                    </a:p>
                  </a:txBody>
                  <a:tcPr>
                    <a:solidFill>
                      <a:srgbClr val="1F2A5C"/>
                    </a:solidFill>
                  </a:tcPr>
                </a:tc>
                <a:tc>
                  <a:txBody>
                    <a:bodyPr/>
                    <a:lstStyle/>
                    <a:p>
                      <a:pPr algn="ctr"/>
                      <a:r>
                        <a:rPr sz="1300" b="1">
                          <a:solidFill>
                            <a:srgbClr val="FFFFFF"/>
                          </a:solidFill>
                          <a:latin typeface="メイリオ"/>
                          <a:ea typeface="メイリオ"/>
                        </a:rPr>
                        <a:t>CV地点</a:t>
                      </a:r>
                    </a:p>
                  </a:txBody>
                  <a:tcPr>
                    <a:solidFill>
                      <a:srgbClr val="1F2A5C"/>
                    </a:solidFill>
                  </a:tcPr>
                </a:tc>
                <a:extLst>
                  <a:ext uri="{0D108BD9-81ED-4DB2-BD59-A6C34878D82A}">
                    <a16:rowId xmlns:a16="http://schemas.microsoft.com/office/drawing/2014/main" val="10000"/>
                  </a:ext>
                </a:extLst>
              </a:tr>
              <a:tr h="505669">
                <a:tc>
                  <a:txBody>
                    <a:bodyPr/>
                    <a:lstStyle/>
                    <a:p>
                      <a:pPr algn="l"/>
                      <a:r>
                        <a:rPr sz="1200" b="0">
                          <a:solidFill>
                            <a:srgbClr val="1C2233"/>
                          </a:solidFill>
                          <a:latin typeface="メイリオ"/>
                          <a:ea typeface="メイリオ"/>
                        </a:rPr>
                        <a:t>1月（最大ピーク）</a:t>
                      </a:r>
                    </a:p>
                  </a:txBody>
                  <a:tcPr>
                    <a:solidFill>
                      <a:srgbClr val="FFFFFF"/>
                    </a:solidFill>
                  </a:tcPr>
                </a:tc>
                <a:tc>
                  <a:txBody>
                    <a:bodyPr/>
                    <a:lstStyle/>
                    <a:p>
                      <a:pPr algn="ctr"/>
                      <a:r>
                        <a:rPr sz="1200" b="0">
                          <a:solidFill>
                            <a:srgbClr val="1C2233"/>
                          </a:solidFill>
                          <a:latin typeface="メイリオ"/>
                          <a:ea typeface="メイリオ"/>
                        </a:rPr>
                        <a:t>新年の決意層・運動初心者</a:t>
                      </a:r>
                    </a:p>
                  </a:txBody>
                  <a:tcPr>
                    <a:solidFill>
                      <a:srgbClr val="FFFFFF"/>
                    </a:solidFill>
                  </a:tcPr>
                </a:tc>
                <a:tc>
                  <a:txBody>
                    <a:bodyPr/>
                    <a:lstStyle/>
                    <a:p>
                      <a:pPr algn="ctr"/>
                      <a:r>
                        <a:rPr sz="1200" b="0">
                          <a:solidFill>
                            <a:srgbClr val="1C2233"/>
                          </a:solidFill>
                          <a:latin typeface="メイリオ"/>
                          <a:ea typeface="メイリオ"/>
                        </a:rPr>
                        <a:t>「今年こそ」習慣化サポート／入会金無料</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1"/>
                  </a:ext>
                </a:extLst>
              </a:tr>
              <a:tr h="532283">
                <a:tc>
                  <a:txBody>
                    <a:bodyPr/>
                    <a:lstStyle/>
                    <a:p>
                      <a:pPr algn="l"/>
                      <a:r>
                        <a:rPr sz="1200" b="0">
                          <a:solidFill>
                            <a:srgbClr val="1C2233"/>
                          </a:solidFill>
                          <a:latin typeface="メイリオ"/>
                          <a:ea typeface="メイリオ"/>
                        </a:rPr>
                        <a:t>4月（新生活）</a:t>
                      </a:r>
                    </a:p>
                  </a:txBody>
                  <a:tcPr>
                    <a:solidFill>
                      <a:srgbClr val="EFF1F7"/>
                    </a:solidFill>
                  </a:tcPr>
                </a:tc>
                <a:tc>
                  <a:txBody>
                    <a:bodyPr/>
                    <a:lstStyle/>
                    <a:p>
                      <a:pPr algn="ctr"/>
                      <a:r>
                        <a:rPr sz="1200" b="0">
                          <a:solidFill>
                            <a:srgbClr val="1C2233"/>
                          </a:solidFill>
                          <a:latin typeface="メイリオ"/>
                          <a:ea typeface="メイリオ"/>
                        </a:rPr>
                        <a:t>転居・異動・新社会人</a:t>
                      </a:r>
                    </a:p>
                  </a:txBody>
                  <a:tcPr>
                    <a:solidFill>
                      <a:srgbClr val="EFF1F7"/>
                    </a:solidFill>
                  </a:tcPr>
                </a:tc>
                <a:tc>
                  <a:txBody>
                    <a:bodyPr/>
                    <a:lstStyle/>
                    <a:p>
                      <a:pPr algn="ctr"/>
                      <a:r>
                        <a:rPr sz="1200" b="0">
                          <a:solidFill>
                            <a:srgbClr val="1C2233"/>
                          </a:solidFill>
                          <a:latin typeface="メイリオ"/>
                          <a:ea typeface="メイリオ"/>
                        </a:rPr>
                        <a:t>近い・24時間・続けやすい</a:t>
                      </a:r>
                    </a:p>
                  </a:txBody>
                  <a:tcPr>
                    <a:solidFill>
                      <a:srgbClr val="EFF1F7"/>
                    </a:solidFill>
                  </a:tcPr>
                </a:tc>
                <a:tc>
                  <a:txBody>
                    <a:bodyPr/>
                    <a:lstStyle/>
                    <a:p>
                      <a:pPr algn="ctr"/>
                      <a:r>
                        <a:rPr sz="1200" b="0">
                          <a:solidFill>
                            <a:srgbClr val="1C2233"/>
                          </a:solidFill>
                          <a:latin typeface="メイリオ"/>
                          <a:ea typeface="メイリオ"/>
                        </a:rPr>
                        <a:t>体験・見学予約【CV①】</a:t>
                      </a:r>
                    </a:p>
                  </a:txBody>
                  <a:tcPr>
                    <a:solidFill>
                      <a:srgbClr val="EFF1F7"/>
                    </a:solidFill>
                  </a:tcPr>
                </a:tc>
                <a:extLst>
                  <a:ext uri="{0D108BD9-81ED-4DB2-BD59-A6C34878D82A}">
                    <a16:rowId xmlns:a16="http://schemas.microsoft.com/office/drawing/2014/main" val="10002"/>
                  </a:ext>
                </a:extLst>
              </a:tr>
              <a:tr h="505669">
                <a:tc>
                  <a:txBody>
                    <a:bodyPr/>
                    <a:lstStyle/>
                    <a:p>
                      <a:pPr algn="l"/>
                      <a:r>
                        <a:rPr sz="1200" b="0">
                          <a:solidFill>
                            <a:srgbClr val="1C2233"/>
                          </a:solidFill>
                          <a:latin typeface="メイリオ"/>
                          <a:ea typeface="メイリオ"/>
                        </a:rPr>
                        <a:t>5〜7月（薄着期）</a:t>
                      </a:r>
                    </a:p>
                  </a:txBody>
                  <a:tcPr>
                    <a:solidFill>
                      <a:srgbClr val="FFFFFF"/>
                    </a:solidFill>
                  </a:tcPr>
                </a:tc>
                <a:tc>
                  <a:txBody>
                    <a:bodyPr/>
                    <a:lstStyle/>
                    <a:p>
                      <a:pPr algn="ctr"/>
                      <a:r>
                        <a:rPr sz="1200" b="0">
                          <a:solidFill>
                            <a:srgbClr val="1C2233"/>
                          </a:solidFill>
                          <a:latin typeface="メイリオ"/>
                          <a:ea typeface="メイリオ"/>
                        </a:rPr>
                        <a:t>目的が明確なダイエット層</a:t>
                      </a:r>
                    </a:p>
                  </a:txBody>
                  <a:tcPr>
                    <a:solidFill>
                      <a:srgbClr val="FFFFFF"/>
                    </a:solidFill>
                  </a:tcPr>
                </a:tc>
                <a:tc>
                  <a:txBody>
                    <a:bodyPr/>
                    <a:lstStyle/>
                    <a:p>
                      <a:pPr algn="ctr"/>
                      <a:r>
                        <a:rPr sz="1200" b="0">
                          <a:solidFill>
                            <a:srgbClr val="1C2233"/>
                          </a:solidFill>
                          <a:latin typeface="メイリオ"/>
                          <a:ea typeface="メイリオ"/>
                        </a:rPr>
                        <a:t>3ヶ月で変わる／ビフォーアフター実例</a:t>
                      </a:r>
                    </a:p>
                  </a:txBody>
                  <a:tcPr>
                    <a:solidFill>
                      <a:srgbClr val="FFFFFF"/>
                    </a:solidFill>
                  </a:tcPr>
                </a:tc>
                <a:tc>
                  <a:txBody>
                    <a:bodyPr/>
                    <a:lstStyle/>
                    <a:p>
                      <a:pPr algn="ctr"/>
                      <a:r>
                        <a:rPr sz="1200" b="0">
                          <a:solidFill>
                            <a:srgbClr val="1C2233"/>
                          </a:solidFill>
                          <a:latin typeface="メイリオ"/>
                          <a:ea typeface="メイリオ"/>
                        </a:rPr>
                        <a:t>体験予約【CV①】</a:t>
                      </a:r>
                    </a:p>
                  </a:txBody>
                  <a:tcPr>
                    <a:solidFill>
                      <a:srgbClr val="FFFFFF"/>
                    </a:solidFill>
                  </a:tcPr>
                </a:tc>
                <a:extLst>
                  <a:ext uri="{0D108BD9-81ED-4DB2-BD59-A6C34878D82A}">
                    <a16:rowId xmlns:a16="http://schemas.microsoft.com/office/drawing/2014/main" val="10003"/>
                  </a:ext>
                </a:extLst>
              </a:tr>
              <a:tr h="505669">
                <a:tc>
                  <a:txBody>
                    <a:bodyPr/>
                    <a:lstStyle/>
                    <a:p>
                      <a:pPr algn="l"/>
                      <a:r>
                        <a:rPr sz="1200" b="0">
                          <a:solidFill>
                            <a:srgbClr val="1C2233"/>
                          </a:solidFill>
                          <a:latin typeface="メイリオ"/>
                          <a:ea typeface="メイリオ"/>
                        </a:rPr>
                        <a:t>8月後半〜9月</a:t>
                      </a:r>
                    </a:p>
                  </a:txBody>
                  <a:tcPr>
                    <a:solidFill>
                      <a:srgbClr val="EFF1F7"/>
                    </a:solidFill>
                  </a:tcPr>
                </a:tc>
                <a:tc>
                  <a:txBody>
                    <a:bodyPr/>
                    <a:lstStyle/>
                    <a:p>
                      <a:pPr algn="ctr"/>
                      <a:r>
                        <a:rPr sz="1200" b="0">
                          <a:solidFill>
                            <a:srgbClr val="1C2233"/>
                          </a:solidFill>
                          <a:latin typeface="メイリオ"/>
                          <a:ea typeface="メイリオ"/>
                        </a:rPr>
                        <a:t>夏に動けなかった層</a:t>
                      </a:r>
                    </a:p>
                  </a:txBody>
                  <a:tcPr>
                    <a:solidFill>
                      <a:srgbClr val="EFF1F7"/>
                    </a:solidFill>
                  </a:tcPr>
                </a:tc>
                <a:tc>
                  <a:txBody>
                    <a:bodyPr/>
                    <a:lstStyle/>
                    <a:p>
                      <a:pPr algn="ctr"/>
                      <a:r>
                        <a:rPr sz="1200" b="0">
                          <a:solidFill>
                            <a:srgbClr val="1C2233"/>
                          </a:solidFill>
                          <a:latin typeface="メイリオ"/>
                          <a:ea typeface="メイリオ"/>
                        </a:rPr>
                        <a:t>秋から始める／今なら空いている</a:t>
                      </a:r>
                    </a:p>
                  </a:txBody>
                  <a:tcPr>
                    <a:solidFill>
                      <a:srgbClr val="EFF1F7"/>
                    </a:solidFill>
                  </a:tcPr>
                </a:tc>
                <a:tc>
                  <a:txBody>
                    <a:bodyPr/>
                    <a:lstStyle/>
                    <a:p>
                      <a:pPr algn="ctr"/>
                      <a:r>
                        <a:rPr sz="1200" b="0">
                          <a:solidFill>
                            <a:srgbClr val="1C2233"/>
                          </a:solidFill>
                          <a:latin typeface="メイリオ"/>
                          <a:ea typeface="メイリオ"/>
                        </a:rPr>
                        <a:t>見学・チャット相談</a:t>
                      </a:r>
                    </a:p>
                  </a:txBody>
                  <a:tcPr>
                    <a:solidFill>
                      <a:srgbClr val="EFF1F7"/>
                    </a:solidFill>
                  </a:tcPr>
                </a:tc>
                <a:extLst>
                  <a:ext uri="{0D108BD9-81ED-4DB2-BD59-A6C34878D82A}">
                    <a16:rowId xmlns:a16="http://schemas.microsoft.com/office/drawing/2014/main" val="10004"/>
                  </a:ext>
                </a:extLst>
              </a:tr>
              <a:tr h="505669">
                <a:tc>
                  <a:txBody>
                    <a:bodyPr/>
                    <a:lstStyle/>
                    <a:p>
                      <a:pPr algn="l"/>
                      <a:r>
                        <a:rPr sz="1200" b="0" dirty="0">
                          <a:solidFill>
                            <a:srgbClr val="1C2233"/>
                          </a:solidFill>
                          <a:latin typeface="メイリオ"/>
                          <a:ea typeface="メイリオ"/>
                        </a:rPr>
                        <a:t>10〜12月（仕込み期）</a:t>
                      </a:r>
                    </a:p>
                  </a:txBody>
                  <a:tcPr>
                    <a:solidFill>
                      <a:srgbClr val="FFFFFF"/>
                    </a:solidFill>
                  </a:tcPr>
                </a:tc>
                <a:tc>
                  <a:txBody>
                    <a:bodyPr/>
                    <a:lstStyle/>
                    <a:p>
                      <a:pPr algn="ctr"/>
                      <a:r>
                        <a:rPr sz="1200" b="0">
                          <a:solidFill>
                            <a:srgbClr val="1C2233"/>
                          </a:solidFill>
                          <a:latin typeface="メイリオ"/>
                          <a:ea typeface="メイリオ"/>
                        </a:rPr>
                        <a:t>検討初期・情報収集層</a:t>
                      </a:r>
                    </a:p>
                  </a:txBody>
                  <a:tcPr>
                    <a:solidFill>
                      <a:srgbClr val="FFFFFF"/>
                    </a:solidFill>
                  </a:tcPr>
                </a:tc>
                <a:tc>
                  <a:txBody>
                    <a:bodyPr/>
                    <a:lstStyle/>
                    <a:p>
                      <a:pPr algn="ctr"/>
                      <a:r>
                        <a:rPr sz="1200" b="0">
                          <a:solidFill>
                            <a:srgbClr val="1C2233"/>
                          </a:solidFill>
                          <a:latin typeface="メイリオ"/>
                          <a:ea typeface="メイリオ"/>
                        </a:rPr>
                        <a:t>体づくりタイプ診断／料金シミュレーター</a:t>
                      </a:r>
                    </a:p>
                  </a:txBody>
                  <a:tcPr>
                    <a:solidFill>
                      <a:srgbClr val="FFFFFF"/>
                    </a:solidFill>
                  </a:tcPr>
                </a:tc>
                <a:tc>
                  <a:txBody>
                    <a:bodyPr/>
                    <a:lstStyle/>
                    <a:p>
                      <a:pPr algn="ctr"/>
                      <a:r>
                        <a:rPr sz="1200" b="1" dirty="0" err="1">
                          <a:solidFill>
                            <a:srgbClr val="FFFFFF"/>
                          </a:solidFill>
                          <a:latin typeface="メイリオ"/>
                          <a:ea typeface="メイリオ"/>
                        </a:rPr>
                        <a:t>LINE友だち追加</a:t>
                      </a:r>
                      <a:endParaRPr sz="1200" b="1" dirty="0">
                        <a:solidFill>
                          <a:srgbClr val="FFFFFF"/>
                        </a:solidFill>
                        <a:latin typeface="メイリオ"/>
                        <a:ea typeface="メイリオ"/>
                      </a:endParaRPr>
                    </a:p>
                  </a:txBody>
                  <a:tcPr>
                    <a:solidFill>
                      <a:srgbClr val="1F2A5C"/>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384048"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ピーク月は広告費も最高値</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1月はCPCが最も高い。</a:t>
            </a:r>
            <a:r>
              <a:rPr lang="ja-JP" altLang="en-US" sz="1400" dirty="0">
                <a:solidFill>
                  <a:srgbClr val="1C2233"/>
                </a:solidFill>
                <a:latin typeface="メイリオ"/>
                <a:ea typeface="メイリオ"/>
              </a:rPr>
              <a:t>　　　</a:t>
            </a:r>
            <a:r>
              <a:rPr sz="1400" b="0" dirty="0" err="1">
                <a:solidFill>
                  <a:srgbClr val="1C2233"/>
                </a:solidFill>
                <a:latin typeface="メイリオ"/>
                <a:ea typeface="メイリオ"/>
              </a:rPr>
              <a:t>同じ予算で取れる件数が最も少ない月でもある</a:t>
            </a:r>
            <a:r>
              <a:rPr sz="1400" b="0" dirty="0">
                <a:solidFill>
                  <a:srgbClr val="1C2233"/>
                </a:solidFill>
                <a:latin typeface="メイリオ"/>
                <a:ea typeface="メイリオ"/>
              </a:rPr>
              <a:t>。</a:t>
            </a:r>
          </a:p>
        </p:txBody>
      </p:sp>
      <p:sp>
        <p:nvSpPr>
          <p:cNvPr id="6" name="Rounded Rectangle 5"/>
          <p:cNvSpPr/>
          <p:nvPr/>
        </p:nvSpPr>
        <p:spPr>
          <a:xfrm>
            <a:off x="3383279"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検討期間は数日〜2週間</a:t>
            </a:r>
          </a:p>
          <a:p>
            <a:pPr algn="l">
              <a:spcBef>
                <a:spcPts val="200"/>
              </a:spcBef>
            </a:pPr>
            <a:r>
              <a:rPr sz="1400" b="0" dirty="0" err="1">
                <a:solidFill>
                  <a:srgbClr val="1C2233"/>
                </a:solidFill>
                <a:latin typeface="メイリオ"/>
                <a:ea typeface="メイリオ"/>
              </a:rPr>
              <a:t>広告で追いかける時間がない。思い立った時点で候補に入っていないと負ける</a:t>
            </a:r>
            <a:r>
              <a:rPr sz="1400" b="0" dirty="0">
                <a:solidFill>
                  <a:srgbClr val="1C2233"/>
                </a:solidFill>
                <a:latin typeface="メイリオ"/>
                <a:ea typeface="メイリオ"/>
              </a:rPr>
              <a:t>。</a:t>
            </a:r>
          </a:p>
        </p:txBody>
      </p:sp>
      <p:sp>
        <p:nvSpPr>
          <p:cNvPr id="7" name="Rounded Rectangle 6"/>
          <p:cNvSpPr/>
          <p:nvPr/>
        </p:nvSpPr>
        <p:spPr>
          <a:xfrm>
            <a:off x="6382512" y="4487091"/>
            <a:ext cx="2788920" cy="100584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err="1">
                <a:solidFill>
                  <a:srgbClr val="1C2233"/>
                </a:solidFill>
                <a:latin typeface="メイリオ"/>
                <a:ea typeface="メイリオ"/>
              </a:rPr>
              <a:t>だから閑散期に友だちを溜める</a:t>
            </a:r>
            <a:endParaRPr sz="1200" b="1" dirty="0">
              <a:solidFill>
                <a:srgbClr val="1C2233"/>
              </a:solidFill>
              <a:latin typeface="メイリオ"/>
              <a:ea typeface="メイリオ"/>
            </a:endParaRPr>
          </a:p>
          <a:p>
            <a:pPr algn="l">
              <a:spcBef>
                <a:spcPts val="200"/>
              </a:spcBef>
            </a:pPr>
            <a:r>
              <a:rPr sz="1400" b="0" dirty="0">
                <a:solidFill>
                  <a:srgbClr val="1C2233"/>
                </a:solidFill>
                <a:latin typeface="メイリオ"/>
                <a:ea typeface="メイリオ"/>
              </a:rPr>
              <a:t>10〜12月に集めた友だちに、</a:t>
            </a:r>
            <a:r>
              <a:rPr lang="ja-JP" altLang="en-US" sz="1400" b="0" dirty="0">
                <a:solidFill>
                  <a:srgbClr val="1C2233"/>
                </a:solidFill>
                <a:latin typeface="メイリオ"/>
                <a:ea typeface="メイリオ"/>
              </a:rPr>
              <a:t>　</a:t>
            </a:r>
            <a:r>
              <a:rPr sz="1400" b="0" dirty="0">
                <a:solidFill>
                  <a:srgbClr val="1C2233"/>
                </a:solidFill>
                <a:latin typeface="メイリオ"/>
                <a:ea typeface="メイリオ"/>
              </a:rPr>
              <a:t>1月1日へ広告費ゼロで届く。</a:t>
            </a:r>
          </a:p>
        </p:txBody>
      </p:sp>
      <p:sp>
        <p:nvSpPr>
          <p:cNvPr id="9" name="Rectangle 8"/>
          <p:cNvSpPr/>
          <p:nvPr/>
        </p:nvSpPr>
        <p:spPr>
          <a:xfrm>
            <a:off x="429768" y="5648379"/>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66928" y="5748963"/>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ピーク月に広告費を積むのは全社やる。差がつくのは、その前に何人リスト化できているか</a:t>
            </a:r>
            <a:r>
              <a:rPr sz="1400" b="0" dirty="0">
                <a:solidFill>
                  <a:srgbClr val="1C2233"/>
                </a:solidFill>
                <a:latin typeface="メイリオ"/>
                <a:ea typeface="メイリオ"/>
              </a:rPr>
              <a:t>。</a:t>
            </a:r>
          </a:p>
        </p:txBody>
      </p:sp>
      <p:sp>
        <p:nvSpPr>
          <p:cNvPr id="11" name="TextBox 10"/>
          <p:cNvSpPr txBox="1"/>
          <p:nvPr/>
        </p:nvSpPr>
        <p:spPr>
          <a:xfrm>
            <a:off x="384048" y="6315891"/>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実績数値（CV地点別のCPC／CVR／CPA）は社内データ確認のうえ最終版で差し込みます。時期区分はGoogleトレンド（過去5年・2026/8/17取得）で確認済み。</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2"/>
          <p:cNvSpPr txBox="1"/>
          <p:nvPr/>
        </p:nvSpPr>
        <p:spPr>
          <a:xfrm>
            <a:off x="548883" y="138118"/>
            <a:ext cx="6276325"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ja-JP" sz="1600" b="1" dirty="0">
                <a:solidFill>
                  <a:srgbClr val="173559"/>
                </a:solidFill>
                <a:latin typeface="メイリオ"/>
                <a:ea typeface="メイリオ"/>
                <a:cs typeface="Meiryo"/>
                <a:sym typeface="Meiryo"/>
              </a:rPr>
              <a:t>前後検索</a:t>
            </a:r>
            <a:endParaRPr sz="1600" b="1" dirty="0">
              <a:solidFill>
                <a:srgbClr val="173559"/>
              </a:solidFill>
              <a:latin typeface="メイリオ"/>
              <a:ea typeface="メイリオ"/>
              <a:cs typeface="Meiryo"/>
              <a:sym typeface="Meiryo"/>
            </a:endParaRPr>
          </a:p>
        </p:txBody>
      </p:sp>
      <p:cxnSp>
        <p:nvCxnSpPr>
          <p:cNvPr id="471" name="Google Shape;471;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2" name="Google Shape;472;p12"/>
          <p:cNvSpPr/>
          <p:nvPr/>
        </p:nvSpPr>
        <p:spPr>
          <a:xfrm>
            <a:off x="-6096" y="531754"/>
            <a:ext cx="9906000" cy="361950"/>
          </a:xfrm>
          <a:prstGeom prst="rect">
            <a:avLst/>
          </a:prstGeom>
          <a:noFill/>
          <a:ln>
            <a:noFill/>
          </a:ln>
        </p:spPr>
        <p:txBody>
          <a:bodyPr spcFirstLastPara="1" wrap="square" lIns="91425" tIns="90000" rIns="91425" bIns="45700" anchor="ctr" anchorCtr="0">
            <a:noAutofit/>
          </a:bodyPr>
          <a:lstStyle/>
          <a:p>
            <a:pPr marL="0" marR="0" lvl="0" indent="0" algn="ctr" rtl="0">
              <a:spcBef>
                <a:spcPts val="0"/>
              </a:spcBef>
              <a:spcAft>
                <a:spcPts val="0"/>
              </a:spcAft>
              <a:buNone/>
            </a:pPr>
            <a:r>
              <a:rPr lang="ja-JP" dirty="0">
                <a:solidFill>
                  <a:srgbClr val="262626"/>
                </a:solidFill>
                <a:latin typeface="メイリオ"/>
                <a:ea typeface="メイリオ"/>
                <a:cs typeface="Meiryo"/>
                <a:sym typeface="Meiryo"/>
              </a:rPr>
              <a:t>ユーザー</a:t>
            </a:r>
            <a:r>
              <a:rPr lang="ja-JP" sz="2000" dirty="0">
                <a:solidFill>
                  <a:srgbClr val="262626"/>
                </a:solidFill>
                <a:latin typeface="メイリオ"/>
                <a:ea typeface="メイリオ"/>
                <a:cs typeface="Meiryo"/>
                <a:sym typeface="Meiryo"/>
              </a:rPr>
              <a:t>の検索動向</a:t>
            </a:r>
            <a:endParaRPr sz="2000" dirty="0">
              <a:solidFill>
                <a:srgbClr val="262626"/>
              </a:solidFill>
              <a:latin typeface="メイリオ"/>
              <a:ea typeface="メイリオ"/>
              <a:cs typeface="Meiryo"/>
              <a:sym typeface="Meiryo"/>
            </a:endParaRPr>
          </a:p>
        </p:txBody>
      </p:sp>
      <p:sp>
        <p:nvSpPr>
          <p:cNvPr id="473" name="Google Shape;473;p12"/>
          <p:cNvSpPr/>
          <p:nvPr/>
        </p:nvSpPr>
        <p:spPr>
          <a:xfrm>
            <a:off x="440436" y="887456"/>
            <a:ext cx="9465564" cy="403710"/>
          </a:xfrm>
          <a:prstGeom prst="rect">
            <a:avLst/>
          </a:prstGeom>
          <a:noFill/>
          <a:ln>
            <a:noFill/>
          </a:ln>
        </p:spPr>
        <p:txBody>
          <a:bodyPr spcFirstLastPara="1" wrap="square" lIns="91425" tIns="45700" rIns="91425" bIns="45700" anchor="ctr" anchorCtr="0">
            <a:noAutofit/>
          </a:bodyPr>
          <a:lstStyle/>
          <a:p>
            <a:pPr marL="0" marR="0" lvl="0" indent="0" rtl="0">
              <a:lnSpc>
                <a:spcPct val="115000"/>
              </a:lnSpc>
              <a:spcBef>
                <a:spcPts val="0"/>
              </a:spcBef>
              <a:spcAft>
                <a:spcPts val="0"/>
              </a:spcAft>
              <a:buNone/>
            </a:pPr>
            <a:r>
              <a:rPr sz="1200" b="1" dirty="0">
                <a:solidFill>
                  <a:srgbClr val="1A1A2E"/>
                </a:solidFill>
                <a:latin typeface="メイリオ"/>
                <a:ea typeface="メイリオ"/>
                <a:cs typeface="メイリオ"/>
              </a:rPr>
              <a:t>検索前後15日は4つに分かれる。手段さがし → </a:t>
            </a:r>
            <a:r>
              <a:rPr sz="1200" b="1" dirty="0" err="1">
                <a:solidFill>
                  <a:srgbClr val="1A1A2E"/>
                </a:solidFill>
                <a:latin typeface="メイリオ"/>
                <a:ea typeface="メイリオ"/>
                <a:cs typeface="メイリオ"/>
              </a:rPr>
              <a:t>比較と相場</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通い始めの</a:t>
            </a:r>
            <a:r>
              <a:rPr lang="ja-JP" altLang="en-US" sz="1200" b="1" dirty="0">
                <a:solidFill>
                  <a:srgbClr val="1A1A2E"/>
                </a:solidFill>
                <a:latin typeface="メイリオ"/>
                <a:ea typeface="メイリオ"/>
                <a:cs typeface="メイリオ"/>
              </a:rPr>
              <a:t>イメージ</a:t>
            </a:r>
            <a:r>
              <a:rPr sz="1200" b="1" dirty="0">
                <a:solidFill>
                  <a:srgbClr val="1A1A2E"/>
                </a:solidFill>
                <a:latin typeface="メイリオ"/>
                <a:ea typeface="メイリオ"/>
                <a:cs typeface="メイリオ"/>
              </a:rPr>
              <a:t> → </a:t>
            </a:r>
            <a:r>
              <a:rPr sz="1200" b="1" dirty="0" err="1">
                <a:solidFill>
                  <a:srgbClr val="1A1A2E"/>
                </a:solidFill>
                <a:latin typeface="メイリオ"/>
                <a:ea typeface="メイリオ"/>
                <a:cs typeface="メイリオ"/>
              </a:rPr>
              <a:t>効果への不安</a:t>
            </a:r>
            <a:r>
              <a:rPr sz="1200" b="1" dirty="0">
                <a:solidFill>
                  <a:srgbClr val="1A1A2E"/>
                </a:solidFill>
                <a:latin typeface="メイリオ"/>
                <a:ea typeface="メイリオ"/>
                <a:cs typeface="メイリオ"/>
              </a:rPr>
              <a:t>。</a:t>
            </a:r>
            <a:endParaRPr sz="1200" dirty="0">
              <a:solidFill>
                <a:srgbClr val="3F3F3F"/>
              </a:solidFill>
              <a:latin typeface="メイリオ"/>
              <a:ea typeface="メイリオ"/>
              <a:cs typeface="Meiryo"/>
              <a:sym typeface="Meiryo"/>
            </a:endParaRPr>
          </a:p>
          <a:p>
            <a:pPr>
              <a:lnSpc>
                <a:spcPct val="115000"/>
              </a:lnSpc>
            </a:pPr>
            <a:r>
              <a:rPr sz="1200" b="1" dirty="0" err="1">
                <a:solidFill>
                  <a:srgbClr val="1A1A2E"/>
                </a:solidFill>
                <a:latin typeface="メイリオ"/>
                <a:ea typeface="メイリオ"/>
                <a:cs typeface="メイリオ"/>
              </a:rPr>
              <a:t>ジムの競合は、他のジムだけではない</a:t>
            </a:r>
            <a:r>
              <a:rPr sz="1200" b="1" dirty="0">
                <a:solidFill>
                  <a:srgbClr val="1A1A2E"/>
                </a:solidFill>
                <a:latin typeface="メイリオ"/>
                <a:ea typeface="メイリオ"/>
                <a:cs typeface="メイリオ"/>
              </a:rPr>
              <a:t>。</a:t>
            </a:r>
            <a:r>
              <a:rPr lang="ja-JP" altLang="en-US" sz="1200" b="1" dirty="0">
                <a:solidFill>
                  <a:srgbClr val="1A1A2E"/>
                </a:solidFill>
                <a:latin typeface="メイリオ"/>
                <a:ea typeface="メイリオ"/>
                <a:cs typeface="メイリオ"/>
              </a:rPr>
              <a:t>他の自分磨きの手段も混在</a:t>
            </a:r>
            <a:endParaRPr sz="1200" b="1" dirty="0">
              <a:solidFill>
                <a:srgbClr val="1A1A2E"/>
              </a:solidFill>
              <a:latin typeface="メイリオ"/>
              <a:ea typeface="メイリオ"/>
              <a:cs typeface="メイリオ"/>
            </a:endParaRPr>
          </a:p>
        </p:txBody>
      </p:sp>
      <p:cxnSp>
        <p:nvCxnSpPr>
          <p:cNvPr id="474" name="Google Shape;474;p12"/>
          <p:cNvCxnSpPr/>
          <p:nvPr/>
        </p:nvCxnSpPr>
        <p:spPr>
          <a:xfrm>
            <a:off x="0" y="1318670"/>
            <a:ext cx="9906000" cy="0"/>
          </a:xfrm>
          <a:prstGeom prst="straightConnector1">
            <a:avLst/>
          </a:prstGeom>
          <a:noFill/>
          <a:ln w="19050" cap="flat" cmpd="sng">
            <a:solidFill>
              <a:srgbClr val="D8D8D8">
                <a:alpha val="60000"/>
              </a:srgbClr>
            </a:solidFill>
            <a:prstDash val="solid"/>
            <a:round/>
            <a:headEnd type="none" w="sm" len="sm"/>
            <a:tailEnd type="none" w="sm" len="sm"/>
          </a:ln>
        </p:spPr>
      </p:cxnSp>
      <p:sp>
        <p:nvSpPr>
          <p:cNvPr id="475" name="Google Shape;475;p12"/>
          <p:cNvSpPr/>
          <p:nvPr/>
        </p:nvSpPr>
        <p:spPr>
          <a:xfrm>
            <a:off x="0" y="1362853"/>
            <a:ext cx="9906000" cy="295968"/>
          </a:xfrm>
          <a:prstGeom prst="rect">
            <a:avLst/>
          </a:prstGeom>
          <a:solidFill>
            <a:srgbClr val="0F24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sz="1100" b="1">
                <a:solidFill>
                  <a:schemeClr val="lt1"/>
                </a:solidFill>
                <a:latin typeface="メイリオ"/>
                <a:ea typeface="メイリオ"/>
                <a:cs typeface="Meiryo"/>
                <a:sym typeface="Meiryo"/>
              </a:rPr>
              <a:t>「パーソナルジム」の検索前後（LINEヤフー media Journey・実データ）</a:t>
            </a:r>
            <a:endParaRPr sz="1100" b="1">
              <a:solidFill>
                <a:schemeClr val="lt1"/>
              </a:solidFill>
              <a:latin typeface="メイリオ"/>
              <a:ea typeface="メイリオ"/>
              <a:cs typeface="Meiryo"/>
              <a:sym typeface="Meiryo"/>
            </a:endParaRPr>
          </a:p>
        </p:txBody>
      </p:sp>
      <p:sp>
        <p:nvSpPr>
          <p:cNvPr id="487" name="Rectangle 486"/>
          <p:cNvSpPr/>
          <p:nvPr/>
        </p:nvSpPr>
        <p:spPr>
          <a:xfrm>
            <a:off x="193897" y="1718362"/>
            <a:ext cx="9151271" cy="3744951"/>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91" name="TextBox 490"/>
          <p:cNvSpPr txBox="1"/>
          <p:nvPr/>
        </p:nvSpPr>
        <p:spPr>
          <a:xfrm>
            <a:off x="385572" y="6248400"/>
            <a:ext cx="9134856" cy="310896"/>
          </a:xfrm>
          <a:prstGeom prst="rect">
            <a:avLst/>
          </a:prstGeom>
          <a:noFill/>
        </p:spPr>
        <p:txBody>
          <a:bodyPr wrap="square">
            <a:spAutoFit/>
          </a:bodyPr>
          <a:lstStyle/>
          <a:p>
            <a:r>
              <a:rPr sz="900">
                <a:solidFill>
                  <a:srgbClr val="646C82"/>
                </a:solidFill>
                <a:latin typeface="メイリオ"/>
                <a:ea typeface="メイリオ"/>
              </a:rPr>
              <a:t>※ 出典：LINEヤフー media Journey（ウェブ検索・2024/7/22〜2025/7/27・0日＝「パーソナルジム」検索起点）。競合実名を含むため社外提示は社内確認のうえ。</a:t>
            </a:r>
          </a:p>
        </p:txBody>
      </p:sp>
      <p:sp>
        <p:nvSpPr>
          <p:cNvPr id="493" name="Rectangle 492"/>
          <p:cNvSpPr/>
          <p:nvPr/>
        </p:nvSpPr>
        <p:spPr>
          <a:xfrm>
            <a:off x="431292" y="560832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4" name="TextBox 493"/>
          <p:cNvSpPr txBox="1"/>
          <p:nvPr/>
        </p:nvSpPr>
        <p:spPr>
          <a:xfrm>
            <a:off x="568452" y="5708904"/>
            <a:ext cx="8814815" cy="329899"/>
          </a:xfrm>
          <a:prstGeom prst="rect">
            <a:avLst/>
          </a:prstGeom>
          <a:noFill/>
        </p:spPr>
        <p:txBody>
          <a:bodyPr wrap="square">
            <a:spAutoFit/>
          </a:bodyPr>
          <a:lstStyle/>
          <a:p>
            <a:pPr>
              <a:lnSpc>
                <a:spcPct val="125000"/>
              </a:lnSpc>
            </a:pPr>
            <a:r>
              <a:rPr lang="ja-JP" altLang="en-US" sz="1300" b="1" dirty="0">
                <a:solidFill>
                  <a:srgbClr val="C00000"/>
                </a:solidFill>
                <a:latin typeface="メイリオ"/>
                <a:ea typeface="メイリオ"/>
                <a:cs typeface="メイリオ"/>
              </a:rPr>
              <a:t>人は入る前から「入った後」を想像している。同時に、効かなかったときの代案を探す。</a:t>
            </a:r>
            <a:endParaRPr sz="1300" b="1" dirty="0">
              <a:solidFill>
                <a:srgbClr val="C00000"/>
              </a:solidFill>
              <a:latin typeface="メイリオ"/>
              <a:ea typeface="メイリオ"/>
              <a:cs typeface="メイリオ"/>
            </a:endParaRPr>
          </a:p>
        </p:txBody>
      </p:sp>
      <p:pic>
        <p:nvPicPr>
          <p:cNvPr id="495" name="Picture 494" descr="Journey_パーソナルジム_直近1年間(20240722-20250727).png"/>
          <p:cNvPicPr>
            <a:picLocks noChangeAspect="1"/>
          </p:cNvPicPr>
          <p:nvPr/>
        </p:nvPicPr>
        <p:blipFill>
          <a:blip r:embed="rId3"/>
          <a:stretch>
            <a:fillRect/>
          </a:stretch>
        </p:blipFill>
        <p:spPr>
          <a:xfrm>
            <a:off x="193897" y="1716132"/>
            <a:ext cx="5327009" cy="3744951"/>
          </a:xfrm>
          <a:prstGeom prst="rect">
            <a:avLst/>
          </a:prstGeom>
        </p:spPr>
      </p:pic>
      <p:sp>
        <p:nvSpPr>
          <p:cNvPr id="496" name="TextBox 495"/>
          <p:cNvSpPr txBox="1"/>
          <p:nvPr/>
        </p:nvSpPr>
        <p:spPr>
          <a:xfrm>
            <a:off x="5641675" y="1779721"/>
            <a:ext cx="3631492" cy="3422604"/>
          </a:xfrm>
          <a:prstGeom prst="rect">
            <a:avLst/>
          </a:prstGeom>
          <a:noFill/>
        </p:spPr>
        <p:txBody>
          <a:bodyPr wrap="square" lIns="18000" tIns="0" rIns="18000" bIns="0">
            <a:spAutoFit/>
          </a:bodyPr>
          <a:lstStyle/>
          <a:p>
            <a:pPr>
              <a:lnSpc>
                <a:spcPct val="125000"/>
              </a:lnSpc>
            </a:pPr>
            <a:r>
              <a:rPr sz="1300" b="1" dirty="0">
                <a:solidFill>
                  <a:srgbClr val="9550C6"/>
                </a:solidFill>
                <a:latin typeface="メイリオ"/>
                <a:ea typeface="メイリオ"/>
                <a:cs typeface="メイリオ"/>
              </a:rPr>
              <a:t>① </a:t>
            </a:r>
            <a:r>
              <a:rPr sz="1300" b="1" dirty="0" err="1">
                <a:solidFill>
                  <a:srgbClr val="9550C6"/>
                </a:solidFill>
                <a:latin typeface="メイリオ"/>
                <a:ea typeface="メイリオ"/>
                <a:cs typeface="メイリオ"/>
              </a:rPr>
              <a:t>なりたい自分への手段さがし</a:t>
            </a:r>
            <a:endParaRPr sz="1400" b="0" dirty="0">
              <a:solidFill>
                <a:srgbClr val="1C2233"/>
              </a:solidFill>
              <a:latin typeface="メイリオ"/>
              <a:ea typeface="メイリオ"/>
            </a:endParaRPr>
          </a:p>
          <a:p>
            <a:pPr>
              <a:lnSpc>
                <a:spcPct val="125000"/>
              </a:lnSpc>
            </a:pPr>
            <a:r>
              <a:rPr sz="1150" b="0" dirty="0">
                <a:solidFill>
                  <a:srgbClr val="1A1A2E"/>
                </a:solidFill>
                <a:latin typeface="メイリオ"/>
                <a:ea typeface="メイリオ"/>
                <a:cs typeface="メイリオ"/>
              </a:rPr>
              <a:t>医療脱毛・エステ・脂肪吸引・婚活アプリ／1ヶ月で10キロ痩せる</a:t>
            </a: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4285F4"/>
                </a:solidFill>
                <a:latin typeface="メイリオ"/>
                <a:ea typeface="メイリオ"/>
                <a:cs typeface="メイリオ"/>
              </a:rPr>
              <a:t>② </a:t>
            </a:r>
            <a:r>
              <a:rPr sz="1300" b="1" dirty="0" err="1">
                <a:solidFill>
                  <a:srgbClr val="4285F4"/>
                </a:solidFill>
                <a:latin typeface="メイリオ"/>
                <a:ea typeface="メイリオ"/>
                <a:cs typeface="メイリオ"/>
              </a:rPr>
              <a:t>ジムの比較と相場</a:t>
            </a:r>
            <a:endParaRPr sz="1300" b="1" dirty="0">
              <a:solidFill>
                <a:srgbClr val="4285F4"/>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パーソナルトレーニング・ライザップ・パーソナルジム</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相場</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34A853"/>
                </a:solidFill>
                <a:latin typeface="メイリオ"/>
                <a:ea typeface="メイリオ"/>
                <a:cs typeface="メイリオ"/>
              </a:rPr>
              <a:t>③ </a:t>
            </a:r>
            <a:r>
              <a:rPr sz="1300" b="1" dirty="0" err="1">
                <a:solidFill>
                  <a:srgbClr val="34A853"/>
                </a:solidFill>
                <a:latin typeface="メイリオ"/>
                <a:ea typeface="メイリオ"/>
                <a:cs typeface="メイリオ"/>
              </a:rPr>
              <a:t>通い始めてからの</a:t>
            </a:r>
            <a:r>
              <a:rPr lang="ja-JP" altLang="en-US" sz="1300" b="1" dirty="0">
                <a:solidFill>
                  <a:srgbClr val="34A853"/>
                </a:solidFill>
                <a:latin typeface="メイリオ"/>
                <a:ea typeface="メイリオ"/>
                <a:cs typeface="メイリオ"/>
              </a:rPr>
              <a:t>イメージ</a:t>
            </a:r>
            <a:endParaRPr lang="en-US" altLang="ja-JP" sz="1300" b="1" dirty="0">
              <a:solidFill>
                <a:srgbClr val="34A853"/>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ベンチプレス</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換算・マイプロテイン・ジムウェア・ジム用シューズ</a:t>
            </a:r>
            <a:endParaRPr sz="1150" b="0" dirty="0">
              <a:solidFill>
                <a:srgbClr val="1A1A2E"/>
              </a:solidFill>
              <a:latin typeface="メイリオ"/>
              <a:ea typeface="メイリオ"/>
              <a:cs typeface="メイリオ"/>
            </a:endParaRPr>
          </a:p>
          <a:p>
            <a:pPr>
              <a:lnSpc>
                <a:spcPct val="125000"/>
              </a:lnSpc>
            </a:pPr>
            <a:endParaRPr sz="1150" b="0" dirty="0">
              <a:solidFill>
                <a:srgbClr val="1A1A2E"/>
              </a:solidFill>
              <a:latin typeface="メイリオ"/>
              <a:ea typeface="メイリオ"/>
              <a:cs typeface="メイリオ"/>
            </a:endParaRPr>
          </a:p>
          <a:p>
            <a:pPr>
              <a:lnSpc>
                <a:spcPct val="125000"/>
              </a:lnSpc>
            </a:pPr>
            <a:r>
              <a:rPr sz="1300" b="1" dirty="0">
                <a:solidFill>
                  <a:srgbClr val="EA4335"/>
                </a:solidFill>
                <a:latin typeface="メイリオ"/>
                <a:ea typeface="メイリオ"/>
                <a:cs typeface="メイリオ"/>
              </a:rPr>
              <a:t>④ </a:t>
            </a:r>
            <a:r>
              <a:rPr sz="1300" b="1" dirty="0" err="1">
                <a:solidFill>
                  <a:srgbClr val="EA4335"/>
                </a:solidFill>
                <a:latin typeface="メイリオ"/>
                <a:ea typeface="メイリオ"/>
                <a:cs typeface="メイリオ"/>
              </a:rPr>
              <a:t>効果への不安と、別手段への</a:t>
            </a:r>
            <a:r>
              <a:rPr lang="ja-JP" altLang="en-US" sz="1300" b="1" dirty="0">
                <a:solidFill>
                  <a:srgbClr val="EA4335"/>
                </a:solidFill>
                <a:latin typeface="メイリオ"/>
                <a:ea typeface="メイリオ"/>
                <a:cs typeface="メイリオ"/>
              </a:rPr>
              <a:t>迷い</a:t>
            </a:r>
            <a:endParaRPr lang="en-US" altLang="ja-JP" sz="1300" b="1" dirty="0">
              <a:solidFill>
                <a:srgbClr val="EA4335"/>
              </a:solidFill>
              <a:latin typeface="メイリオ"/>
              <a:ea typeface="メイリオ"/>
              <a:cs typeface="メイリオ"/>
            </a:endParaRPr>
          </a:p>
          <a:p>
            <a:pPr>
              <a:lnSpc>
                <a:spcPct val="125000"/>
              </a:lnSpc>
            </a:pPr>
            <a:r>
              <a:rPr sz="1150" b="0" dirty="0" err="1">
                <a:solidFill>
                  <a:srgbClr val="1A1A2E"/>
                </a:solidFill>
                <a:latin typeface="メイリオ"/>
                <a:ea typeface="メイリオ"/>
                <a:cs typeface="メイリオ"/>
              </a:rPr>
              <a:t>筋トレ</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効果が出るまで・脂肪冷却</a:t>
            </a:r>
            <a:r>
              <a:rPr sz="1150" b="0" dirty="0">
                <a:solidFill>
                  <a:srgbClr val="1A1A2E"/>
                </a:solidFill>
                <a:latin typeface="メイリオ"/>
                <a:ea typeface="メイリオ"/>
                <a:cs typeface="メイリオ"/>
              </a:rPr>
              <a:t> </a:t>
            </a:r>
            <a:r>
              <a:rPr sz="1150" b="0" dirty="0" err="1">
                <a:solidFill>
                  <a:srgbClr val="1A1A2E"/>
                </a:solidFill>
                <a:latin typeface="メイリオ"/>
                <a:ea typeface="メイリオ"/>
                <a:cs typeface="メイリオ"/>
              </a:rPr>
              <a:t>効果ない・医療ダイエット</a:t>
            </a:r>
            <a:endParaRPr sz="1150" b="0" dirty="0">
              <a:solidFill>
                <a:srgbClr val="1A1A2E"/>
              </a:solidFill>
              <a:latin typeface="メイリオ"/>
              <a:ea typeface="メイリオ"/>
              <a:cs typeface="メイリオ"/>
            </a:endParaRP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31800" y="180000"/>
            <a:ext cx="8640000" cy="360000"/>
          </a:xfrm>
          <a:prstGeom prst="rect">
            <a:avLst/>
          </a:prstGeom>
          <a:noFill/>
        </p:spPr>
        <p:txBody>
          <a:bodyPr wrap="square" lIns="18000" tIns="0" rIns="18000" bIns="0">
            <a:spAutoFit/>
          </a:bodyPr>
          <a:lstStyle/>
          <a:p>
            <a:r>
              <a:rPr sz="1600" b="1" dirty="0" err="1">
                <a:solidFill>
                  <a:srgbClr val="1F2A5C"/>
                </a:solidFill>
                <a:latin typeface="メイリオ"/>
                <a:ea typeface="メイリオ"/>
              </a:rPr>
              <a:t>前後検索（補足</a:t>
            </a:r>
            <a:r>
              <a:rPr sz="1600" b="1" dirty="0">
                <a:solidFill>
                  <a:srgbClr val="1F2A5C"/>
                </a:solidFill>
                <a:latin typeface="メイリオ"/>
                <a:ea typeface="メイリオ"/>
              </a:rPr>
              <a:t>）｜</a:t>
            </a:r>
            <a:r>
              <a:rPr sz="1600" b="1" dirty="0" err="1">
                <a:solidFill>
                  <a:srgbClr val="1F2A5C"/>
                </a:solidFill>
                <a:latin typeface="メイリオ"/>
                <a:ea typeface="メイリオ"/>
              </a:rPr>
              <a:t>ダイエット需要は“医療”へ流出している</a:t>
            </a:r>
            <a:endParaRPr sz="1600" b="1" dirty="0">
              <a:solidFill>
                <a:srgbClr val="1F2A5C"/>
              </a:solidFill>
              <a:latin typeface="メイリオ"/>
              <a:ea typeface="メイリオ"/>
            </a:endParaRPr>
          </a:p>
        </p:txBody>
      </p:sp>
      <p:sp>
        <p:nvSpPr>
          <p:cNvPr id="3" name="TextBox 2"/>
          <p:cNvSpPr txBox="1"/>
          <p:nvPr/>
        </p:nvSpPr>
        <p:spPr>
          <a:xfrm>
            <a:off x="385200" y="702000"/>
            <a:ext cx="9133200" cy="646331"/>
          </a:xfrm>
          <a:prstGeom prst="rect">
            <a:avLst/>
          </a:prstGeom>
          <a:noFill/>
        </p:spPr>
        <p:txBody>
          <a:bodyPr wrap="square" lIns="18000" tIns="0" rIns="18000" bIns="0">
            <a:spAutoFit/>
          </a:bodyPr>
          <a:lstStyle/>
          <a:p>
            <a:r>
              <a:rPr lang="ja-JP" altLang="en-US" sz="1400" b="1" dirty="0">
                <a:solidFill>
                  <a:srgbClr val="646C82"/>
                </a:solidFill>
                <a:latin typeface="メイリオ"/>
                <a:ea typeface="メイリオ"/>
              </a:rPr>
              <a:t>「メディカルダイエット」の前後検索より</a:t>
            </a:r>
            <a:br>
              <a:rPr lang="en-US" sz="1400" b="1" dirty="0">
                <a:solidFill>
                  <a:srgbClr val="646C82"/>
                </a:solidFill>
                <a:latin typeface="メイリオ"/>
                <a:ea typeface="メイリオ"/>
              </a:rPr>
            </a:br>
            <a:r>
              <a:rPr sz="1400" b="1" dirty="0">
                <a:solidFill>
                  <a:srgbClr val="646C82"/>
                </a:solidFill>
                <a:latin typeface="メイリオ"/>
                <a:ea typeface="メイリオ"/>
              </a:rPr>
              <a:t>リベルサス・マンジャロ等のGLP-1系KWが巨大クラスタ化。</a:t>
            </a:r>
            <a:endParaRPr lang="en-US" sz="1400" b="1" dirty="0">
              <a:solidFill>
                <a:srgbClr val="646C82"/>
              </a:solidFill>
              <a:latin typeface="メイリオ"/>
              <a:ea typeface="メイリオ"/>
            </a:endParaRPr>
          </a:p>
          <a:p>
            <a:r>
              <a:rPr sz="1400" b="1" dirty="0">
                <a:solidFill>
                  <a:srgbClr val="646C82"/>
                </a:solidFill>
                <a:latin typeface="メイリオ"/>
                <a:ea typeface="メイリオ"/>
              </a:rPr>
              <a:t>「</a:t>
            </a:r>
            <a:r>
              <a:rPr sz="1400" b="1" dirty="0" err="1">
                <a:solidFill>
                  <a:srgbClr val="646C82"/>
                </a:solidFill>
                <a:latin typeface="メイリオ"/>
                <a:ea typeface="メイリオ"/>
              </a:rPr>
              <a:t>痩せたい」の受け皿が、運動から薬に移りつつある</a:t>
            </a:r>
            <a:r>
              <a:rPr sz="1400" b="1" dirty="0">
                <a:solidFill>
                  <a:srgbClr val="646C82"/>
                </a:solidFill>
                <a:latin typeface="メイリオ"/>
                <a:ea typeface="メイリオ"/>
              </a:rPr>
              <a:t>。</a:t>
            </a:r>
          </a:p>
        </p:txBody>
      </p:sp>
      <p:pic>
        <p:nvPicPr>
          <p:cNvPr id="4" name="Picture 3" descr="Journey_メディカルダイエット_直近1年間(20241202-20251207).png"/>
          <p:cNvPicPr>
            <a:picLocks noChangeAspect="1"/>
          </p:cNvPicPr>
          <p:nvPr/>
        </p:nvPicPr>
        <p:blipFill>
          <a:blip r:embed="rId2"/>
          <a:stretch>
            <a:fillRect/>
          </a:stretch>
        </p:blipFill>
        <p:spPr>
          <a:xfrm>
            <a:off x="385200" y="1403486"/>
            <a:ext cx="5400000" cy="3454834"/>
          </a:xfrm>
          <a:prstGeom prst="rect">
            <a:avLst/>
          </a:prstGeom>
        </p:spPr>
      </p:pic>
      <p:sp>
        <p:nvSpPr>
          <p:cNvPr id="5" name="TextBox 4"/>
          <p:cNvSpPr txBox="1"/>
          <p:nvPr/>
        </p:nvSpPr>
        <p:spPr>
          <a:xfrm>
            <a:off x="5956335" y="1729081"/>
            <a:ext cx="3718560" cy="2369880"/>
          </a:xfrm>
          <a:prstGeom prst="rect">
            <a:avLst/>
          </a:prstGeom>
          <a:noFill/>
        </p:spPr>
        <p:txBody>
          <a:bodyPr wrap="square" lIns="18000" tIns="0" rIns="18000" bIns="0">
            <a:spAutoFit/>
          </a:bodyPr>
          <a:lstStyle/>
          <a:p>
            <a:r>
              <a:rPr sz="1400" b="0" dirty="0">
                <a:solidFill>
                  <a:srgbClr val="1C2233"/>
                </a:solidFill>
                <a:latin typeface="メイリオ"/>
                <a:ea typeface="メイリオ"/>
              </a:rPr>
              <a:t>① </a:t>
            </a:r>
            <a:r>
              <a:rPr sz="1400" b="0" dirty="0" err="1">
                <a:solidFill>
                  <a:srgbClr val="1C2233"/>
                </a:solidFill>
                <a:latin typeface="メイリオ"/>
                <a:ea typeface="メイリオ"/>
              </a:rPr>
              <a:t>検索前＝自力手段の限界</a:t>
            </a:r>
            <a:endParaRPr sz="1400" b="0" dirty="0">
              <a:solidFill>
                <a:srgbClr val="1C2233"/>
              </a:solidFill>
              <a:latin typeface="メイリオ"/>
              <a:ea typeface="メイリオ"/>
            </a:endParaRPr>
          </a:p>
          <a:p>
            <a:r>
              <a:rPr sz="1400" b="0" dirty="0" err="1">
                <a:solidFill>
                  <a:srgbClr val="1C2233"/>
                </a:solidFill>
                <a:latin typeface="メイリオ"/>
                <a:ea typeface="メイリオ"/>
              </a:rPr>
              <a:t>ダイエット薬・サプリ・脂肪冷却</a:t>
            </a:r>
            <a:r>
              <a:rPr sz="1400" b="0" dirty="0">
                <a:solidFill>
                  <a:srgbClr val="1C2233"/>
                </a:solidFill>
                <a:latin typeface="メイリオ"/>
                <a:ea typeface="メイリオ"/>
              </a:rPr>
              <a:t>・</a:t>
            </a:r>
            <a:r>
              <a:rPr lang="ja-JP" altLang="en-US" sz="1400" b="0" dirty="0">
                <a:solidFill>
                  <a:srgbClr val="1C2233"/>
                </a:solidFill>
                <a:latin typeface="メイリオ"/>
                <a:ea typeface="メイリオ"/>
              </a:rPr>
              <a:t>　　　　</a:t>
            </a:r>
            <a:r>
              <a:rPr sz="1400" b="0" dirty="0" err="1">
                <a:solidFill>
                  <a:srgbClr val="1C2233"/>
                </a:solidFill>
                <a:latin typeface="メイリオ"/>
                <a:ea typeface="メイリオ"/>
              </a:rPr>
              <a:t>食事メニュ</a:t>
            </a:r>
            <a:r>
              <a:rPr sz="1400" b="0" dirty="0">
                <a:solidFill>
                  <a:srgbClr val="1C2233"/>
                </a:solidFill>
                <a:latin typeface="メイリオ"/>
                <a:ea typeface="メイリオ"/>
              </a:rPr>
              <a:t>ー</a:t>
            </a:r>
          </a:p>
          <a:p>
            <a:endParaRPr sz="1400" b="0" dirty="0">
              <a:solidFill>
                <a:srgbClr val="1C2233"/>
              </a:solidFill>
              <a:latin typeface="メイリオ"/>
              <a:ea typeface="メイリオ"/>
            </a:endParaRPr>
          </a:p>
          <a:p>
            <a:r>
              <a:rPr sz="1400" b="0" dirty="0">
                <a:solidFill>
                  <a:srgbClr val="1C2233"/>
                </a:solidFill>
                <a:latin typeface="メイリオ"/>
                <a:ea typeface="メイリオ"/>
              </a:rPr>
              <a:t>② </a:t>
            </a:r>
            <a:r>
              <a:rPr sz="1400" b="0" dirty="0" err="1">
                <a:solidFill>
                  <a:srgbClr val="1C2233"/>
                </a:solidFill>
                <a:latin typeface="メイリオ"/>
                <a:ea typeface="メイリオ"/>
              </a:rPr>
              <a:t>検索後＝薬の不安と比較</a:t>
            </a:r>
            <a:endParaRPr sz="1400" b="0" dirty="0">
              <a:solidFill>
                <a:srgbClr val="1C2233"/>
              </a:solidFill>
              <a:latin typeface="メイリオ"/>
              <a:ea typeface="メイリオ"/>
            </a:endParaRPr>
          </a:p>
          <a:p>
            <a:r>
              <a:rPr sz="1400" b="0" dirty="0" err="1">
                <a:solidFill>
                  <a:srgbClr val="1C2233"/>
                </a:solidFill>
                <a:latin typeface="メイリオ"/>
                <a:ea typeface="メイリオ"/>
              </a:rPr>
              <a:t>副作用・危険性・保険適用・クリニック比較</a:t>
            </a:r>
            <a:endParaRPr sz="1400" b="0" dirty="0">
              <a:solidFill>
                <a:srgbClr val="1C2233"/>
              </a:solidFill>
              <a:latin typeface="メイリオ"/>
              <a:ea typeface="メイリオ"/>
            </a:endParaRPr>
          </a:p>
          <a:p>
            <a:endParaRPr sz="1400" b="0" dirty="0">
              <a:solidFill>
                <a:srgbClr val="1C2233"/>
              </a:solidFill>
              <a:latin typeface="メイリオ"/>
              <a:ea typeface="メイリオ"/>
            </a:endParaRPr>
          </a:p>
          <a:p>
            <a:r>
              <a:rPr sz="1400" b="0" dirty="0">
                <a:solidFill>
                  <a:srgbClr val="1C2233"/>
                </a:solidFill>
                <a:latin typeface="メイリオ"/>
                <a:ea typeface="メイリオ"/>
              </a:rPr>
              <a:t>③ </a:t>
            </a:r>
            <a:r>
              <a:rPr sz="1400" b="0" dirty="0" err="1">
                <a:solidFill>
                  <a:srgbClr val="1C2233"/>
                </a:solidFill>
                <a:latin typeface="メイリオ"/>
                <a:ea typeface="メイリオ"/>
              </a:rPr>
              <a:t>ジム提案への含意</a:t>
            </a:r>
            <a:endParaRPr sz="1400" b="0" dirty="0">
              <a:solidFill>
                <a:srgbClr val="1C2233"/>
              </a:solidFill>
              <a:latin typeface="メイリオ"/>
              <a:ea typeface="メイリオ"/>
            </a:endParaRPr>
          </a:p>
          <a:p>
            <a:r>
              <a:rPr sz="1400" b="0" dirty="0">
                <a:solidFill>
                  <a:srgbClr val="1C2233"/>
                </a:solidFill>
                <a:latin typeface="メイリオ"/>
                <a:ea typeface="メイリオ"/>
              </a:rPr>
              <a:t>「</a:t>
            </a:r>
            <a:r>
              <a:rPr sz="1400" b="0" dirty="0" err="1">
                <a:solidFill>
                  <a:srgbClr val="1C2233"/>
                </a:solidFill>
                <a:latin typeface="メイリオ"/>
                <a:ea typeface="メイリオ"/>
              </a:rPr>
              <a:t>薬に頼らず変わる」訴求＋ビフォーアフター実例が、副作用・リバウンド不安への回答になる</a:t>
            </a:r>
            <a:endParaRPr sz="1400" b="0" dirty="0">
              <a:solidFill>
                <a:srgbClr val="1C2233"/>
              </a:solidFill>
              <a:latin typeface="メイリオ"/>
              <a:ea typeface="メイリオ"/>
            </a:endParaRPr>
          </a:p>
        </p:txBody>
      </p:sp>
      <p:sp>
        <p:nvSpPr>
          <p:cNvPr id="6" name="TextBox 5"/>
          <p:cNvSpPr txBox="1"/>
          <p:nvPr/>
        </p:nvSpPr>
        <p:spPr>
          <a:xfrm>
            <a:off x="385200" y="5128919"/>
            <a:ext cx="9133200" cy="1154162"/>
          </a:xfrm>
          <a:prstGeom prst="rect">
            <a:avLst/>
          </a:prstGeom>
          <a:noFill/>
        </p:spPr>
        <p:txBody>
          <a:bodyPr wrap="square" lIns="18000" tIns="0" rIns="18000" bIns="0">
            <a:spAutoFit/>
          </a:bodyPr>
          <a:lstStyle/>
          <a:p>
            <a:r>
              <a:rPr sz="1600" b="0" dirty="0">
                <a:solidFill>
                  <a:srgbClr val="1C2233"/>
                </a:solidFill>
                <a:latin typeface="メイリオ"/>
                <a:ea typeface="メイリオ"/>
              </a:rPr>
              <a:t>・S13〜14の「ダイエット検索の5年半減」と整合</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err="1">
                <a:solidFill>
                  <a:srgbClr val="1C2233"/>
                </a:solidFill>
                <a:latin typeface="メイリオ"/>
                <a:ea typeface="メイリオ"/>
              </a:rPr>
              <a:t>需要が消えたのではなく、SNS・AI・医療に分散した</a:t>
            </a:r>
            <a:endParaRPr lang="en-US" sz="1600" b="0" dirty="0">
              <a:solidFill>
                <a:srgbClr val="1C2233"/>
              </a:solidFill>
              <a:latin typeface="メイリオ"/>
              <a:ea typeface="メイリオ"/>
            </a:endParaRPr>
          </a:p>
          <a:p>
            <a:endParaRPr sz="900" b="0" dirty="0">
              <a:solidFill>
                <a:srgbClr val="1C2233"/>
              </a:solidFill>
              <a:latin typeface="メイリオ"/>
              <a:ea typeface="メイリオ"/>
            </a:endParaRPr>
          </a:p>
          <a:p>
            <a:r>
              <a:rPr sz="1600" b="0" dirty="0">
                <a:solidFill>
                  <a:srgbClr val="1C2233"/>
                </a:solidFill>
                <a:latin typeface="メイリオ"/>
                <a:ea typeface="メイリオ"/>
              </a:rPr>
              <a:t>・</a:t>
            </a:r>
            <a:r>
              <a:rPr sz="1600" b="0" dirty="0" err="1">
                <a:solidFill>
                  <a:srgbClr val="1C2233"/>
                </a:solidFill>
                <a:latin typeface="メイリオ"/>
                <a:ea typeface="メイリオ"/>
              </a:rPr>
              <a:t>リバウンド・副作用への不安KWが検索後に立つ</a:t>
            </a:r>
            <a:endParaRPr lang="en-US" sz="1600" b="0" dirty="0">
              <a:solidFill>
                <a:srgbClr val="1C2233"/>
              </a:solidFill>
              <a:latin typeface="メイリオ"/>
              <a:ea typeface="メイリオ"/>
            </a:endParaRPr>
          </a:p>
          <a:p>
            <a:r>
              <a:rPr lang="ja-JP" altLang="en-US" sz="1600" dirty="0">
                <a:solidFill>
                  <a:srgbClr val="1C2233"/>
                </a:solidFill>
                <a:latin typeface="メイリオ"/>
                <a:ea typeface="メイリオ"/>
              </a:rPr>
              <a:t>→</a:t>
            </a:r>
            <a:r>
              <a:rPr sz="1600" b="0" dirty="0">
                <a:solidFill>
                  <a:srgbClr val="1C2233"/>
                </a:solidFill>
                <a:latin typeface="メイリオ"/>
                <a:ea typeface="メイリオ"/>
              </a:rPr>
              <a:t>「</a:t>
            </a:r>
            <a:r>
              <a:rPr sz="1600" b="0" dirty="0" err="1">
                <a:solidFill>
                  <a:srgbClr val="1C2233"/>
                </a:solidFill>
                <a:latin typeface="メイリオ"/>
                <a:ea typeface="メイリオ"/>
              </a:rPr>
              <a:t>運動で戻らない体を作る」はデータに裏付けられた切り返しになる</a:t>
            </a:r>
            <a:endParaRPr sz="1600" b="0" dirty="0">
              <a:solidFill>
                <a:srgbClr val="1C2233"/>
              </a:solidFill>
              <a:latin typeface="メイリオ"/>
              <a:ea typeface="メイリオ"/>
            </a:endParaRPr>
          </a:p>
        </p:txBody>
      </p:sp>
      <p:sp>
        <p:nvSpPr>
          <p:cNvPr id="7" name="TextBox 6"/>
          <p:cNvSpPr txBox="1"/>
          <p:nvPr/>
        </p:nvSpPr>
        <p:spPr>
          <a:xfrm>
            <a:off x="385200" y="6390000"/>
            <a:ext cx="9133200" cy="180000"/>
          </a:xfrm>
          <a:prstGeom prst="rect">
            <a:avLst/>
          </a:prstGeom>
          <a:noFill/>
        </p:spPr>
        <p:txBody>
          <a:bodyPr wrap="square" lIns="18000" tIns="0" rIns="18000" bIns="0">
            <a:spAutoFit/>
          </a:bodyPr>
          <a:lstStyle/>
          <a:p>
            <a:r>
              <a:rPr sz="800" b="0">
                <a:solidFill>
                  <a:srgbClr val="646C82"/>
                </a:solidFill>
                <a:latin typeface="メイリオ"/>
                <a:ea typeface="メイリオ"/>
              </a:rPr>
              <a:t>※ 出典：LINEヤフー media Journey（ウェブ検索・2024/12/2〜2025/12/7・0日＝メディカルダイエット系KW起点）。社内検討用の参考データ。実名の社外提示は要確認。</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カーブスの型を分解すると、3つの仕組み</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やっていることは3つ。どれも同じ型を、毎月くり返しています。</a:t>
            </a:r>
          </a:p>
          <a:p>
            <a:r>
              <a:rPr sz="1500" b="0">
                <a:solidFill>
                  <a:srgbClr val="646C82"/>
                </a:solidFill>
                <a:latin typeface="メイリオ"/>
                <a:ea typeface="メイリオ"/>
              </a:rPr>
              <a:t>この型を、このあとのステップ配信（P25）とあいさつ（P29〜P30）に取り入れます。</a:t>
            </a:r>
          </a:p>
        </p:txBody>
      </p:sp>
      <p:sp>
        <p:nvSpPr>
          <p:cNvPr id="6" name="Rectangle 5"/>
          <p:cNvSpPr/>
          <p:nvPr/>
        </p:nvSpPr>
        <p:spPr>
          <a:xfrm>
            <a:off x="429768" y="5623560"/>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5788152"/>
            <a:ext cx="8814816" cy="215444"/>
          </a:xfrm>
          <a:prstGeom prst="rect">
            <a:avLst/>
          </a:prstGeom>
          <a:noFill/>
        </p:spPr>
        <p:txBody>
          <a:bodyPr wrap="square" lIns="0" tIns="0" rIns="0" bIns="0">
            <a:spAutoFit/>
          </a:bodyPr>
          <a:lstStyle/>
          <a:p>
            <a:r>
              <a:rPr sz="1400" b="0" dirty="0" err="1">
                <a:solidFill>
                  <a:srgbClr val="1C2233"/>
                </a:solidFill>
                <a:latin typeface="メイリオ"/>
                <a:ea typeface="メイリオ"/>
              </a:rPr>
              <a:t>仕掛けを増やすより、同じ型を毎月くり返す。だから配信を止めずに続けられる。</a:t>
            </a:r>
          </a:p>
        </p:txBody>
      </p:sp>
      <p:sp>
        <p:nvSpPr>
          <p:cNvPr id="8" name="TextBox 7"/>
          <p:cNvSpPr txBox="1"/>
          <p:nvPr/>
        </p:nvSpPr>
        <p:spPr>
          <a:xfrm>
            <a:off x="384048" y="6241868"/>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弊社確認（カーブス LINE公式アカウント・2026年7〜10月の配信）。実際の画面はP11。</a:t>
            </a:r>
          </a:p>
        </p:txBody>
      </p:sp>
      <p:sp>
        <p:nvSpPr>
          <p:cNvPr id="9" name="Rounded Rectangle 8"/>
          <p:cNvSpPr/>
          <p:nvPr/>
        </p:nvSpPr>
        <p:spPr>
          <a:xfrm>
            <a:off x="384048"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① あいさつで、無料体験と期限を出す</a:t>
            </a:r>
            <a:endParaRPr lang="ja-JP" altLang="en-US" sz="1200" dirty="0"/>
          </a:p>
        </p:txBody>
      </p:sp>
      <p:sp>
        <p:nvSpPr>
          <p:cNvPr id="10" name="Rounded Rectangle 9"/>
          <p:cNvSpPr/>
          <p:nvPr/>
        </p:nvSpPr>
        <p:spPr>
          <a:xfrm>
            <a:off x="384048"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友だち追加の直後に、期限つきの無料体験をバナー画像で案内する。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「お急ぎください」と添えて、</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今すぐ始めたい人を逃さない。</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あいさつは、文章とバナー画像だけ</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（動画は使っていない）。</a:t>
            </a:r>
            <a:endParaRPr lang="ja-JP" altLang="en-US" sz="1150" dirty="0"/>
          </a:p>
        </p:txBody>
      </p:sp>
      <p:sp>
        <p:nvSpPr>
          <p:cNvPr id="11" name="Rounded Rectangle 10"/>
          <p:cNvSpPr/>
          <p:nvPr/>
        </p:nvSpPr>
        <p:spPr>
          <a:xfrm>
            <a:off x="384048"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 あいさつ</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5回無料体験・7/31まで・各店先着30名</a:t>
            </a:r>
            <a:endParaRPr lang="ja-JP" altLang="en-US" sz="1050" dirty="0"/>
          </a:p>
        </p:txBody>
      </p:sp>
      <p:sp>
        <p:nvSpPr>
          <p:cNvPr id="12" name="Rounded Rectangle 11"/>
          <p:cNvSpPr/>
          <p:nvPr/>
        </p:nvSpPr>
        <p:spPr>
          <a:xfrm>
            <a:off x="3511296"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② 配信で、動画を使うこともある</a:t>
            </a:r>
            <a:endParaRPr lang="ja-JP" altLang="en-US" sz="1200" dirty="0"/>
          </a:p>
        </p:txBody>
      </p:sp>
      <p:sp>
        <p:nvSpPr>
          <p:cNvPr id="13" name="Rounded Rectangle 12"/>
          <p:cNvSpPr/>
          <p:nvPr/>
        </p:nvSpPr>
        <p:spPr>
          <a:xfrm>
            <a:off x="3511296"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会員の声（「半年で-6キロ」など）の</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動画で、「自分にもできそう」と感じてもらう。</a:t>
            </a:r>
            <a:endParaRPr lang="ja-JP" altLang="en-US" sz="1150" dirty="0"/>
          </a:p>
          <a:p>
            <a:pPr algn="l">
              <a:lnSpc>
                <a:spcPct val="105000"/>
              </a:lnSpc>
              <a:spcAft>
                <a:spcPts val="400"/>
              </a:spcAft>
              <a:buNone/>
            </a:pPr>
            <a:r>
              <a:rPr lang="ja-JP" altLang="en-US" sz="1000" b="0" dirty="0">
                <a:solidFill>
                  <a:srgbClr val="646C82"/>
                </a:solidFill>
                <a:latin typeface="メイリオ" panose="020B0604030504040204" pitchFamily="50" charset="-128"/>
                <a:ea typeface="メイリオ" panose="020B0604030504040204" pitchFamily="50" charset="-128"/>
              </a:rPr>
              <a:t>※全員に送っているか、対象を絞って送っているかは、弊社の確認範囲では判別できない。</a:t>
            </a:r>
            <a:endParaRPr lang="ja-JP" altLang="en-US" sz="1150" dirty="0"/>
          </a:p>
        </p:txBody>
      </p:sp>
      <p:sp>
        <p:nvSpPr>
          <p:cNvPr id="14" name="Rounded Rectangle 13"/>
          <p:cNvSpPr/>
          <p:nvPr/>
        </p:nvSpPr>
        <p:spPr>
          <a:xfrm>
            <a:off x="3511296"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7/28・8/27：会員の声の動画</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7月下旬・9/26：締切前の告知にも動画</a:t>
            </a:r>
            <a:endParaRPr lang="ja-JP" altLang="en-US" sz="1050" dirty="0"/>
          </a:p>
        </p:txBody>
      </p:sp>
      <p:sp>
        <p:nvSpPr>
          <p:cNvPr id="15" name="Rounded Rectangle 14"/>
          <p:cNvSpPr/>
          <p:nvPr/>
        </p:nvSpPr>
        <p:spPr>
          <a:xfrm>
            <a:off x="6638544" y="1389888"/>
            <a:ext cx="2880360" cy="384048"/>
          </a:xfrm>
          <a:prstGeom prst="roundRect">
            <a:avLst>
              <a:gd name="adj" fmla="val 20000"/>
            </a:avLst>
          </a:prstGeom>
          <a:solidFill>
            <a:srgbClr val="1F2A5C"/>
          </a:solidFill>
          <a:ln>
            <a:noFill/>
          </a:ln>
        </p:spPr>
        <p:txBody>
          <a:bodyPr wrap="square" lIns="36576" tIns="0" rIns="36576" bIns="0"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③ 特典を毎月替えて、締切前に告知</a:t>
            </a:r>
            <a:endParaRPr lang="ja-JP" altLang="en-US" sz="1200" dirty="0"/>
          </a:p>
        </p:txBody>
      </p:sp>
      <p:sp>
        <p:nvSpPr>
          <p:cNvPr id="16" name="Rounded Rectangle 15"/>
          <p:cNvSpPr/>
          <p:nvPr/>
        </p:nvSpPr>
        <p:spPr>
          <a:xfrm>
            <a:off x="6638544" y="1865376"/>
            <a:ext cx="2880360" cy="2057400"/>
          </a:xfrm>
          <a:prstGeom prst="roundRect">
            <a:avLst>
              <a:gd name="adj" fmla="val 5000"/>
            </a:avLst>
          </a:prstGeom>
          <a:solidFill>
            <a:srgbClr val="EFF1F7"/>
          </a:solidFill>
          <a:ln w="9525">
            <a:solidFill>
              <a:srgbClr val="C6CADD"/>
            </a:solidFill>
          </a:ln>
        </p:spPr>
        <p:txBody>
          <a:bodyPr wrap="square" lIns="91440" tIns="91440" rIns="73152" bIns="54864" rtlCol="0" anchor="t">
            <a:noAutofit/>
          </a:bodyPr>
          <a:lstStyle/>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その月の特典に「期限・見学だけでもOK」をセットにして、締切の数日前に告知する。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文面は、毎月同じ型を使っている。</a:t>
            </a:r>
            <a:endParaRPr lang="ja-JP" altLang="en-US" sz="1150" dirty="0"/>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リッチメニューにも、その月の特典を</a:t>
            </a:r>
            <a:endParaRPr lang="en-US" altLang="ja-JP" sz="1150" b="0" dirty="0">
              <a:solidFill>
                <a:srgbClr val="1C2233"/>
              </a:solidFill>
              <a:latin typeface="メイリオ" panose="020B0604030504040204" pitchFamily="50" charset="-128"/>
              <a:ea typeface="メイリオ" panose="020B0604030504040204" pitchFamily="50" charset="-128"/>
            </a:endParaRPr>
          </a:p>
          <a:p>
            <a:pPr algn="l">
              <a:lnSpc>
                <a:spcPct val="105000"/>
              </a:lnSpc>
              <a:spcAft>
                <a:spcPts val="400"/>
              </a:spcAft>
              <a:buNone/>
            </a:pPr>
            <a:r>
              <a:rPr lang="ja-JP" altLang="en-US" sz="1150" b="0" dirty="0">
                <a:solidFill>
                  <a:srgbClr val="1C2233"/>
                </a:solidFill>
                <a:latin typeface="メイリオ" panose="020B0604030504040204" pitchFamily="50" charset="-128"/>
                <a:ea typeface="メイリオ" panose="020B0604030504040204" pitchFamily="50" charset="-128"/>
              </a:rPr>
              <a:t>表示。</a:t>
            </a:r>
            <a:endParaRPr lang="ja-JP" altLang="en-US" sz="1150" dirty="0"/>
          </a:p>
        </p:txBody>
      </p:sp>
      <p:sp>
        <p:nvSpPr>
          <p:cNvPr id="17" name="Rounded Rectangle 16"/>
          <p:cNvSpPr/>
          <p:nvPr/>
        </p:nvSpPr>
        <p:spPr>
          <a:xfrm>
            <a:off x="6638544" y="4041648"/>
            <a:ext cx="2880360" cy="1097280"/>
          </a:xfrm>
          <a:prstGeom prst="roundRect">
            <a:avLst>
              <a:gd name="adj" fmla="val 5000"/>
            </a:avLst>
          </a:prstGeom>
          <a:solidFill>
            <a:srgbClr val="FFFFFF"/>
          </a:solidFill>
          <a:ln w="9525">
            <a:solidFill>
              <a:srgbClr val="C6CADD"/>
            </a:solidFill>
          </a:ln>
        </p:spPr>
        <p:txBody>
          <a:bodyPr wrap="square" lIns="91440" tIns="73152" rIns="73152" bIns="36576" rtlCol="0" anchor="t">
            <a:noAutofit/>
          </a:bodyPr>
          <a:lstStyle/>
          <a:p>
            <a:pPr algn="l">
              <a:lnSpc>
                <a:spcPct val="105000"/>
              </a:lnSpc>
              <a:buNone/>
            </a:pPr>
            <a:r>
              <a:rPr lang="ja-JP" altLang="en-US" sz="1000" b="1" dirty="0">
                <a:solidFill>
                  <a:srgbClr val="1F2A5C"/>
                </a:solidFill>
                <a:latin typeface="メイリオ" panose="020B0604030504040204" pitchFamily="50" charset="-128"/>
                <a:ea typeface="メイリオ" panose="020B0604030504040204" pitchFamily="50" charset="-128"/>
              </a:rPr>
              <a:t>実際の例</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7月＝5回無料／9月＝1か月無料</a:t>
            </a:r>
            <a:endParaRPr lang="ja-JP" altLang="en-US" sz="1050" dirty="0"/>
          </a:p>
          <a:p>
            <a:pPr algn="l">
              <a:lnSpc>
                <a:spcPct val="105000"/>
              </a:lnSpc>
              <a:buNone/>
            </a:pPr>
            <a:r>
              <a:rPr lang="ja-JP" altLang="en-US" sz="1050" b="0" dirty="0">
                <a:solidFill>
                  <a:srgbClr val="1C2233"/>
                </a:solidFill>
                <a:latin typeface="メイリオ" panose="020B0604030504040204" pitchFamily="50" charset="-128"/>
                <a:ea typeface="メイリオ" panose="020B0604030504040204" pitchFamily="50" charset="-128"/>
              </a:rPr>
              <a:t>10月＝10回無料（10/31まで）</a:t>
            </a:r>
            <a:endParaRPr lang="ja-JP" altLang="en-US" sz="1050" dirty="0"/>
          </a:p>
        </p:txBody>
      </p:sp>
    </p:spTree>
    <p:extLst>
      <p:ext uri="{BB962C8B-B14F-4D97-AF65-F5344CB8AC3E}">
        <p14:creationId xmlns:p14="http://schemas.microsoft.com/office/powerpoint/2010/main" val="12565392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a:t>
            </a:r>
            <a:r>
              <a:rPr lang="en-US" altLang="ja-JP" sz="1600" dirty="0">
                <a:solidFill>
                  <a:srgbClr val="343434"/>
                </a:solidFill>
                <a:latin typeface="メイリオ" panose="020B0604030504040204" pitchFamily="50" charset="-128"/>
                <a:ea typeface="メイリオ" panose="020B0604030504040204" pitchFamily="50" charset="-128"/>
              </a:rPr>
              <a:t>8</a:t>
            </a:r>
            <a:r>
              <a:rPr lang="ja-JP" altLang="en-US" sz="1600" dirty="0">
                <a:solidFill>
                  <a:srgbClr val="343434"/>
                </a:solidFill>
                <a:latin typeface="メイリオ" panose="020B0604030504040204" pitchFamily="50" charset="-128"/>
                <a:ea typeface="メイリオ" panose="020B0604030504040204" pitchFamily="50" charset="-128"/>
              </a:rPr>
              <a:t>フェーズを、ジム・フィットネスに当てはめるとこうなる。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④体験予約と⑤来店の間が最も落ちる。ここに「匿名で聞ける」入口を置く。</a:t>
            </a:r>
            <a:endParaRPr lang="en-US" altLang="ja-JP" sz="16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rgbClr val="1F2A5C">
              <a:alpha val="12000"/>
            </a:srgb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rgbClr val="1F2A5C">
              <a:alpha val="12000"/>
            </a:srgb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ジム・フィットネス業界の場合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痩せたい・体を変えたい</a:t>
            </a:r>
          </a:p>
          <a:p>
            <a:r>
              <a:rPr sz="1200">
                <a:solidFill>
                  <a:srgbClr val="1C2233"/>
                </a:solidFill>
                <a:latin typeface="メイリオ"/>
                <a:ea typeface="メイリオ"/>
              </a:rPr>
              <a:t>まだ漠然。相場を知りたい</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勧誘されないか不安</a:t>
            </a:r>
          </a:p>
          <a:p>
            <a:r>
              <a:rPr sz="1200">
                <a:solidFill>
                  <a:srgbClr val="1C2233"/>
                </a:solidFill>
                <a:latin typeface="メイリオ"/>
                <a:ea typeface="メイリオ"/>
              </a:rPr>
              <a:t>当日の流れを知りたい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続かなかった過去がある</a:t>
            </a:r>
          </a:p>
          <a:p>
            <a:r>
              <a:rPr sz="1200">
                <a:solidFill>
                  <a:srgbClr val="1F2A5C"/>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匿名で聞けるなら動ける</a:t>
            </a:r>
          </a:p>
          <a:p>
            <a:r>
              <a:rPr sz="1200">
                <a:solidFill>
                  <a:srgbClr val="1F2A5C"/>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「迫りません」の一言で</a:t>
            </a:r>
          </a:p>
          <a:p>
            <a:r>
              <a:rPr sz="1200">
                <a:solidFill>
                  <a:srgbClr val="1F2A5C"/>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1F2A5C"/>
                </a:solidFill>
                <a:latin typeface="メイリオ"/>
                <a:ea typeface="メイリオ"/>
              </a:rPr>
              <a:t>「見てもらえている感」が</a:t>
            </a:r>
          </a:p>
          <a:p>
            <a:r>
              <a:rPr sz="1200">
                <a:solidFill>
                  <a:srgbClr val="1F2A5C"/>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518" name="Rectangle 517"/>
          <p:cNvSpPr/>
          <p:nvPr/>
        </p:nvSpPr>
        <p:spPr>
          <a:xfrm>
            <a:off x="1359527" y="726524"/>
            <a:ext cx="7152121" cy="4172072"/>
          </a:xfrm>
          <a:prstGeom prst="rect">
            <a:avLst/>
          </a:prstGeom>
          <a:solidFill>
            <a:srgbClr val="EFF1F7"/>
          </a:solidFill>
          <a:ln w="12700">
            <a:solidFill>
              <a:srgbClr val="C6CADD"/>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正方形/長方形 2">
            <a:extLst>
              <a:ext uri="{FF2B5EF4-FFF2-40B4-BE49-F238E27FC236}">
                <a16:creationId xmlns:a16="http://schemas.microsoft.com/office/drawing/2014/main" id="{71E13C0C-CCF6-A828-35F1-BF11CB1625B0}"/>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1EFDD2C6-1E0A-0108-4B70-6A79C1119616}"/>
              </a:ext>
            </a:extLst>
          </p:cNvPr>
          <p:cNvSpPr txBox="1"/>
          <p:nvPr/>
        </p:nvSpPr>
        <p:spPr>
          <a:xfrm>
            <a:off x="3096000" y="223200"/>
            <a:ext cx="2376000" cy="180000"/>
          </a:xfrm>
          <a:prstGeom prst="rect">
            <a:avLst/>
          </a:prstGeom>
          <a:noFill/>
        </p:spPr>
        <p:txBody>
          <a:bodyPr wrap="none">
            <a:spAutoFit/>
          </a:bodyPr>
          <a:lstStyle/>
          <a:p>
            <a:r>
              <a:rPr lang="en-US" altLang="ja-JP" sz="800" dirty="0">
                <a:solidFill>
                  <a:srgbClr val="646C82"/>
                </a:solidFill>
                <a:latin typeface="メイリオ"/>
                <a:ea typeface="メイリオ"/>
                <a:cs typeface="Meiryo"/>
                <a:sym typeface="Meiryo"/>
              </a:rPr>
              <a:t>※ LINEヤフー media Journey（2025-2026）</a:t>
            </a:r>
            <a:endParaRPr lang="ja-JP" altLang="en-US" sz="1050" dirty="0">
              <a:solidFill>
                <a:srgbClr val="FF0000"/>
              </a:solidFill>
            </a:endParaRPr>
          </a:p>
        </p:txBody>
      </p:sp>
      <p:cxnSp>
        <p:nvCxnSpPr>
          <p:cNvPr id="329" name="直線矢印コネクタ 328">
            <a:extLst>
              <a:ext uri="{FF2B5EF4-FFF2-40B4-BE49-F238E27FC236}">
                <a16:creationId xmlns:a16="http://schemas.microsoft.com/office/drawing/2014/main" id="{7A5BF96E-7A78-9225-6D96-1CD48192D639}"/>
              </a:ext>
            </a:extLst>
          </p:cNvPr>
          <p:cNvCxnSpPr>
            <a:cxnSpLocks/>
          </p:cNvCxnSpPr>
          <p:nvPr/>
        </p:nvCxnSpPr>
        <p:spPr>
          <a:xfrm flipV="1">
            <a:off x="807709" y="60391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32" name="テキスト ボックス 331">
            <a:extLst>
              <a:ext uri="{FF2B5EF4-FFF2-40B4-BE49-F238E27FC236}">
                <a16:creationId xmlns:a16="http://schemas.microsoft.com/office/drawing/2014/main" id="{DF867EDF-94ED-0916-2B45-6EC2F1BD7CDF}"/>
              </a:ext>
            </a:extLst>
          </p:cNvPr>
          <p:cNvSpPr txBox="1"/>
          <p:nvPr/>
        </p:nvSpPr>
        <p:spPr>
          <a:xfrm>
            <a:off x="736682" y="74113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42" name="四角形: 角を丸くする 241">
            <a:extLst>
              <a:ext uri="{FF2B5EF4-FFF2-40B4-BE49-F238E27FC236}">
                <a16:creationId xmlns:a16="http://schemas.microsoft.com/office/drawing/2014/main" id="{49068565-113C-F251-3ABE-4B34E06689C0}"/>
              </a:ext>
            </a:extLst>
          </p:cNvPr>
          <p:cNvSpPr/>
          <p:nvPr/>
        </p:nvSpPr>
        <p:spPr>
          <a:xfrm>
            <a:off x="1131486" y="645910"/>
            <a:ext cx="7593409" cy="4296369"/>
          </a:xfrm>
          <a:prstGeom prst="roundRect">
            <a:avLst/>
          </a:prstGeom>
          <a:solidFill>
            <a:schemeClr val="bg1">
              <a:alpha val="6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248" name="直角三角形 247">
            <a:extLst>
              <a:ext uri="{FF2B5EF4-FFF2-40B4-BE49-F238E27FC236}">
                <a16:creationId xmlns:a16="http://schemas.microsoft.com/office/drawing/2014/main" id="{B270A615-0932-7315-BB66-CC3D73CCC9ED}"/>
              </a:ext>
            </a:extLst>
          </p:cNvPr>
          <p:cNvSpPr/>
          <p:nvPr/>
        </p:nvSpPr>
        <p:spPr>
          <a:xfrm rot="16200000" flipV="1">
            <a:off x="5690701" y="413699"/>
            <a:ext cx="368444" cy="1531148"/>
          </a:xfrm>
          <a:prstGeom prst="rtTriangle">
            <a:avLst/>
          </a:prstGeom>
          <a:solidFill>
            <a:srgbClr val="04FA0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252" name="テキスト ボックス 251">
            <a:extLst>
              <a:ext uri="{FF2B5EF4-FFF2-40B4-BE49-F238E27FC236}">
                <a16:creationId xmlns:a16="http://schemas.microsoft.com/office/drawing/2014/main" id="{C12F260D-7BF2-4DB0-B050-8B6388D75F65}"/>
              </a:ext>
            </a:extLst>
          </p:cNvPr>
          <p:cNvSpPr txBox="1"/>
          <p:nvPr/>
        </p:nvSpPr>
        <p:spPr>
          <a:xfrm>
            <a:off x="5109349" y="1109579"/>
            <a:ext cx="1531148" cy="253916"/>
          </a:xfrm>
          <a:prstGeom prst="rect">
            <a:avLst/>
          </a:prstGeom>
          <a:noFill/>
        </p:spPr>
        <p:txBody>
          <a:bodyPr wrap="square">
            <a:spAutoFit/>
          </a:bodyPr>
          <a:lstStyle/>
          <a:p>
            <a:pPr algn="ctr"/>
            <a:r>
              <a:rPr kumimoji="1" lang="ja-JP" altLang="en-US" sz="1050" dirty="0">
                <a:solidFill>
                  <a:schemeClr val="tx1"/>
                </a:solidFill>
                <a:latin typeface="メイリオ" panose="020B0604030504040204" pitchFamily="50" charset="-128"/>
                <a:ea typeface="メイリオ" panose="020B0604030504040204" pitchFamily="50" charset="-128"/>
              </a:rPr>
              <a:t>← 友だち追加想定 →</a:t>
            </a:r>
          </a:p>
        </p:txBody>
      </p:sp>
      <p:sp>
        <p:nvSpPr>
          <p:cNvPr id="463" name="Rounded Rectangle 47">
            <a:extLst>
              <a:ext uri="{FF2B5EF4-FFF2-40B4-BE49-F238E27FC236}">
                <a16:creationId xmlns:a16="http://schemas.microsoft.com/office/drawing/2014/main" id="{CDE0B279-5917-179F-369E-CB1B519BB9B0}"/>
              </a:ext>
            </a:extLst>
          </p:cNvPr>
          <p:cNvSpPr/>
          <p:nvPr/>
        </p:nvSpPr>
        <p:spPr>
          <a:xfrm>
            <a:off x="807709" y="4993039"/>
            <a:ext cx="1393404"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rgbClr val="FFFFFF"/>
                </a:solidFill>
                <a:latin typeface="メイリオ"/>
                <a:ea typeface="メイリオ"/>
              </a:rPr>
              <a:t>離脱防止で</a:t>
            </a:r>
            <a:r>
              <a:rPr lang="en-US" altLang="ja-JP" sz="900" b="0" dirty="0">
                <a:solidFill>
                  <a:srgbClr val="FFFFFF"/>
                </a:solidFill>
                <a:latin typeface="メイリオ"/>
                <a:ea typeface="メイリオ"/>
              </a:rPr>
              <a:t>…</a:t>
            </a:r>
            <a:r>
              <a:rPr lang="ja-JP" altLang="en-US" sz="900" b="0" dirty="0">
                <a:solidFill>
                  <a:srgbClr val="FFFFFF"/>
                </a:solidFill>
                <a:latin typeface="メイリオ"/>
                <a:ea typeface="メイリオ"/>
              </a:rPr>
              <a:t>。</a:t>
            </a:r>
            <a:endParaRPr lang="en-US" altLang="ja-JP" sz="900" b="0" dirty="0">
              <a:solidFill>
                <a:srgbClr val="FFFFFF"/>
              </a:solidFill>
              <a:latin typeface="メイリオ"/>
              <a:ea typeface="メイリオ"/>
            </a:endParaRPr>
          </a:p>
          <a:p>
            <a:pPr algn="ct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会員のビフォーアフター</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「会員の声・3ヶ月後の変化」</a:t>
            </a:r>
            <a:endParaRPr lang="en-US" sz="900" b="0" dirty="0">
              <a:solidFill>
                <a:srgbClr val="FFFFFF"/>
              </a:solidFill>
              <a:latin typeface="メイリオ"/>
              <a:ea typeface="メイリオ"/>
            </a:endParaRPr>
          </a:p>
        </p:txBody>
      </p:sp>
      <p:sp>
        <p:nvSpPr>
          <p:cNvPr id="465" name="Rounded Rectangle 49">
            <a:extLst>
              <a:ext uri="{FF2B5EF4-FFF2-40B4-BE49-F238E27FC236}">
                <a16:creationId xmlns:a16="http://schemas.microsoft.com/office/drawing/2014/main" id="{8CA9823E-08BE-7F33-923D-9D9E1D29A6D9}"/>
              </a:ext>
            </a:extLst>
          </p:cNvPr>
          <p:cNvSpPr/>
          <p:nvPr/>
        </p:nvSpPr>
        <p:spPr>
          <a:xfrm>
            <a:off x="2244141" y="4993039"/>
            <a:ext cx="1498245" cy="100908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000" dirty="0">
                <a:solidFill>
                  <a:srgbClr val="FFFFFF"/>
                </a:solidFill>
                <a:latin typeface="メイリオ"/>
                <a:ea typeface="メイリオ"/>
              </a:rPr>
              <a:t>この機会に</a:t>
            </a:r>
            <a:endParaRPr lang="en-US" altLang="ja-JP" sz="1000" dirty="0">
              <a:solidFill>
                <a:srgbClr val="FFFFFF"/>
              </a:solidFill>
              <a:latin typeface="メイリオ"/>
              <a:ea typeface="メイリオ"/>
            </a:endParaRPr>
          </a:p>
          <a:p>
            <a:pPr algn="ctr"/>
            <a:r>
              <a:rPr lang="en-US" altLang="ja-JP" sz="1000" dirty="0">
                <a:solidFill>
                  <a:srgbClr val="FFFFFF"/>
                </a:solidFill>
                <a:latin typeface="メイリオ"/>
                <a:ea typeface="メイリオ"/>
              </a:rPr>
              <a:t>LINEで体づくりタイプ診断してみませんか？</a:t>
            </a:r>
          </a:p>
        </p:txBody>
      </p:sp>
      <p:sp>
        <p:nvSpPr>
          <p:cNvPr id="475" name="四角形: 角を丸くする 474">
            <a:extLst>
              <a:ext uri="{FF2B5EF4-FFF2-40B4-BE49-F238E27FC236}">
                <a16:creationId xmlns:a16="http://schemas.microsoft.com/office/drawing/2014/main" id="{C92902A9-E02B-9774-A438-1E6EF57F5CA1}"/>
              </a:ext>
            </a:extLst>
          </p:cNvPr>
          <p:cNvSpPr/>
          <p:nvPr/>
        </p:nvSpPr>
        <p:spPr>
          <a:xfrm>
            <a:off x="5109348" y="4668424"/>
            <a:ext cx="1669277" cy="253916"/>
          </a:xfrm>
          <a:prstGeom prst="roundRect">
            <a:avLst/>
          </a:prstGeom>
          <a:solidFill>
            <a:srgbClr val="04FA0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479" name="正方形/長方形 478">
            <a:extLst>
              <a:ext uri="{FF2B5EF4-FFF2-40B4-BE49-F238E27FC236}">
                <a16:creationId xmlns:a16="http://schemas.microsoft.com/office/drawing/2014/main" id="{A96DD9D8-4B51-5C6A-03EF-AFB54EDC6819}"/>
              </a:ext>
            </a:extLst>
          </p:cNvPr>
          <p:cNvSpPr/>
          <p:nvPr/>
        </p:nvSpPr>
        <p:spPr>
          <a:xfrm>
            <a:off x="5481354" y="90000"/>
            <a:ext cx="1554446" cy="396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パーソナルジム 女性</a:t>
            </a:r>
          </a:p>
        </p:txBody>
      </p:sp>
      <p:sp>
        <p:nvSpPr>
          <p:cNvPr id="481" name="テキスト ボックス 480">
            <a:extLst>
              <a:ext uri="{FF2B5EF4-FFF2-40B4-BE49-F238E27FC236}">
                <a16:creationId xmlns:a16="http://schemas.microsoft.com/office/drawing/2014/main" id="{4CBDD79F-7F7B-F65B-341E-714CE6BC2FEB}"/>
              </a:ext>
            </a:extLst>
          </p:cNvPr>
          <p:cNvSpPr txBox="1"/>
          <p:nvPr/>
        </p:nvSpPr>
        <p:spPr>
          <a:xfrm>
            <a:off x="6811961" y="179066"/>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483" name="四角形: 角を丸くする 482">
            <a:extLst>
              <a:ext uri="{FF2B5EF4-FFF2-40B4-BE49-F238E27FC236}">
                <a16:creationId xmlns:a16="http://schemas.microsoft.com/office/drawing/2014/main" id="{91FD3245-1969-91B2-8CAC-ABF9610E9111}"/>
              </a:ext>
            </a:extLst>
          </p:cNvPr>
          <p:cNvSpPr/>
          <p:nvPr/>
        </p:nvSpPr>
        <p:spPr>
          <a:xfrm>
            <a:off x="712712" y="4722556"/>
            <a:ext cx="3232606"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panose="020B0604030504040204" pitchFamily="50" charset="-128"/>
                <a:ea typeface="メイリオ" panose="020B0604030504040204" pitchFamily="50" charset="-128"/>
              </a:rPr>
              <a:t>LINE</a:t>
            </a:r>
            <a:r>
              <a:rPr lang="ja-JP" altLang="en-US" sz="1050" b="1" dirty="0">
                <a:solidFill>
                  <a:schemeClr val="tx1"/>
                </a:solidFill>
                <a:latin typeface="メイリオ" panose="020B0604030504040204" pitchFamily="50" charset="-128"/>
                <a:ea typeface="メイリオ" panose="020B0604030504040204" pitchFamily="50" charset="-128"/>
              </a:rPr>
              <a:t>追加率を上げるコンテンツとして</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a:t>
            </a:r>
            <a:endParaRPr kumimoji="1" lang="en-US" altLang="ja-JP" sz="1050" b="1" dirty="0">
              <a:solidFill>
                <a:schemeClr val="tx1"/>
              </a:solidFill>
              <a:latin typeface="メイリオ" panose="020B0604030504040204" pitchFamily="50" charset="-128"/>
              <a:ea typeface="メイリオ" panose="020B0604030504040204" pitchFamily="50" charset="-128"/>
            </a:endParaRPr>
          </a:p>
        </p:txBody>
      </p:sp>
      <p:sp>
        <p:nvSpPr>
          <p:cNvPr id="485" name="四角形: 角を丸くする 484">
            <a:extLst>
              <a:ext uri="{FF2B5EF4-FFF2-40B4-BE49-F238E27FC236}">
                <a16:creationId xmlns:a16="http://schemas.microsoft.com/office/drawing/2014/main" id="{7D64F185-E715-0CD9-6299-C64C849BB3C0}"/>
              </a:ext>
            </a:extLst>
          </p:cNvPr>
          <p:cNvSpPr/>
          <p:nvPr/>
        </p:nvSpPr>
        <p:spPr>
          <a:xfrm>
            <a:off x="4082230" y="5078196"/>
            <a:ext cx="6089663" cy="253916"/>
          </a:xfrm>
          <a:prstGeom prst="roundRect">
            <a:avLst/>
          </a:prstGeom>
          <a:solidFill>
            <a:srgbClr val="1F2A5C">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tx1"/>
                </a:solidFill>
                <a:latin typeface="メイリオ" panose="020B0604030504040204" pitchFamily="50" charset="-128"/>
                <a:ea typeface="メイリオ" panose="020B0604030504040204" pitchFamily="50" charset="-128"/>
              </a:rPr>
              <a:t>LINE</a:t>
            </a:r>
            <a:r>
              <a:rPr lang="ja-JP" altLang="en-US" sz="1000" b="1" dirty="0">
                <a:solidFill>
                  <a:schemeClr val="tx1"/>
                </a:solidFill>
                <a:latin typeface="メイリオ" panose="020B0604030504040204" pitchFamily="50" charset="-128"/>
                <a:ea typeface="メイリオ" panose="020B0604030504040204" pitchFamily="50" charset="-128"/>
              </a:rPr>
              <a:t>でのリード有効化率を上げるコンテンツとして</a:t>
            </a:r>
            <a:r>
              <a:rPr lang="en-US" altLang="ja-JP" sz="1000" b="1" dirty="0">
                <a:solidFill>
                  <a:schemeClr val="tx1"/>
                </a:solidFill>
                <a:latin typeface="メイリオ" panose="020B0604030504040204" pitchFamily="50" charset="-128"/>
                <a:ea typeface="メイリオ" panose="020B0604030504040204" pitchFamily="50" charset="-128"/>
              </a:rPr>
              <a:t>…</a:t>
            </a:r>
            <a:r>
              <a:rPr lang="ja-JP" altLang="en-US" sz="1000" b="1" dirty="0">
                <a:solidFill>
                  <a:schemeClr val="tx1"/>
                </a:solidFill>
                <a:latin typeface="メイリオ" panose="020B0604030504040204" pitchFamily="50" charset="-128"/>
                <a:ea typeface="メイリオ" panose="020B0604030504040204" pitchFamily="50" charset="-128"/>
              </a:rPr>
              <a:t>。</a:t>
            </a:r>
            <a:endParaRPr kumimoji="1" lang="en-US" altLang="ja-JP" sz="1000" b="1" dirty="0">
              <a:solidFill>
                <a:schemeClr val="tx1"/>
              </a:solidFill>
              <a:latin typeface="メイリオ" panose="020B0604030504040204" pitchFamily="50" charset="-128"/>
              <a:ea typeface="メイリオ" panose="020B0604030504040204" pitchFamily="50" charset="-128"/>
            </a:endParaRPr>
          </a:p>
        </p:txBody>
      </p:sp>
      <p:sp>
        <p:nvSpPr>
          <p:cNvPr id="487" name="Rounded Rectangle 51">
            <a:extLst>
              <a:ext uri="{FF2B5EF4-FFF2-40B4-BE49-F238E27FC236}">
                <a16:creationId xmlns:a16="http://schemas.microsoft.com/office/drawing/2014/main" id="{2B62F190-D7DD-DB58-1916-C8BBBAFC5980}"/>
              </a:ext>
            </a:extLst>
          </p:cNvPr>
          <p:cNvSpPr/>
          <p:nvPr/>
        </p:nvSpPr>
        <p:spPr>
          <a:xfrm>
            <a:off x="4404636" y="53814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sz="1100" b="1" dirty="0">
                <a:solidFill>
                  <a:srgbClr val="FFFFFF"/>
                </a:solidFill>
                <a:latin typeface="メイリオ"/>
                <a:ea typeface="メイリオ"/>
              </a:rPr>
              <a:t>2</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ジム選びで失敗しやすい</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ポイント（啓蒙）</a:t>
            </a:r>
            <a:endParaRPr sz="900" b="0" dirty="0">
              <a:solidFill>
                <a:srgbClr val="FFFFFF"/>
              </a:solidFill>
              <a:latin typeface="メイリオ"/>
              <a:ea typeface="メイリオ"/>
            </a:endParaRPr>
          </a:p>
        </p:txBody>
      </p:sp>
      <p:cxnSp>
        <p:nvCxnSpPr>
          <p:cNvPr id="489" name="直線矢印コネクタ 488">
            <a:extLst>
              <a:ext uri="{FF2B5EF4-FFF2-40B4-BE49-F238E27FC236}">
                <a16:creationId xmlns:a16="http://schemas.microsoft.com/office/drawing/2014/main" id="{F662A18B-B2AE-C98F-AA3C-58176BEA664E}"/>
              </a:ext>
            </a:extLst>
          </p:cNvPr>
          <p:cNvCxnSpPr>
            <a:cxnSpLocks/>
            <a:endCxn id="485" idx="1"/>
          </p:cNvCxnSpPr>
          <p:nvPr/>
        </p:nvCxnSpPr>
        <p:spPr>
          <a:xfrm flipH="1">
            <a:off x="4082230" y="3914973"/>
            <a:ext cx="1027117" cy="12901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0" name="直線矢印コネクタ 489">
            <a:extLst>
              <a:ext uri="{FF2B5EF4-FFF2-40B4-BE49-F238E27FC236}">
                <a16:creationId xmlns:a16="http://schemas.microsoft.com/office/drawing/2014/main" id="{68132511-B505-B216-8D0D-13D34BB24CAB}"/>
              </a:ext>
            </a:extLst>
          </p:cNvPr>
          <p:cNvCxnSpPr>
            <a:cxnSpLocks/>
            <a:stCxn id="242" idx="3"/>
            <a:endCxn id="485" idx="3"/>
          </p:cNvCxnSpPr>
          <p:nvPr/>
        </p:nvCxnSpPr>
        <p:spPr>
          <a:xfrm>
            <a:off x="8724895" y="2794095"/>
            <a:ext cx="1446998" cy="24110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95" name="Rounded Rectangle 53">
            <a:extLst>
              <a:ext uri="{FF2B5EF4-FFF2-40B4-BE49-F238E27FC236}">
                <a16:creationId xmlns:a16="http://schemas.microsoft.com/office/drawing/2014/main" id="{F966B151-4239-FABF-9197-C691249632B7}"/>
              </a:ext>
            </a:extLst>
          </p:cNvPr>
          <p:cNvSpPr/>
          <p:nvPr/>
        </p:nvSpPr>
        <p:spPr>
          <a:xfrm>
            <a:off x="5728567"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４</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体験予約オファー
【CV①】</a:t>
            </a:r>
          </a:p>
        </p:txBody>
      </p:sp>
      <p:sp>
        <p:nvSpPr>
          <p:cNvPr id="497" name="Rounded Rectangle 55">
            <a:extLst>
              <a:ext uri="{FF2B5EF4-FFF2-40B4-BE49-F238E27FC236}">
                <a16:creationId xmlns:a16="http://schemas.microsoft.com/office/drawing/2014/main" id="{E2F99808-6AFE-D850-D2B7-5C6D6D294E79}"/>
              </a:ext>
            </a:extLst>
          </p:cNvPr>
          <p:cNvSpPr/>
          <p:nvPr/>
        </p:nvSpPr>
        <p:spPr>
          <a:xfrm>
            <a:off x="7064281" y="538487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５</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入会金無料キャンペーン中</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体験特典のご案内</a:t>
            </a:r>
            <a:endParaRPr sz="900" b="0" dirty="0">
              <a:solidFill>
                <a:srgbClr val="FFFFFF"/>
              </a:solidFill>
              <a:latin typeface="メイリオ"/>
              <a:ea typeface="メイリオ"/>
            </a:endParaRPr>
          </a:p>
        </p:txBody>
      </p:sp>
      <p:sp>
        <p:nvSpPr>
          <p:cNvPr id="499" name="Rounded Rectangle 57">
            <a:extLst>
              <a:ext uri="{FF2B5EF4-FFF2-40B4-BE49-F238E27FC236}">
                <a16:creationId xmlns:a16="http://schemas.microsoft.com/office/drawing/2014/main" id="{15FBCDBF-B211-773D-E571-14A464C8AF2F}"/>
              </a:ext>
            </a:extLst>
          </p:cNvPr>
          <p:cNvSpPr/>
          <p:nvPr/>
        </p:nvSpPr>
        <p:spPr>
          <a:xfrm>
            <a:off x="8399995" y="538487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en-US" altLang="ja-JP" sz="1100" b="1" dirty="0">
                <a:solidFill>
                  <a:srgbClr val="FFFFFF"/>
                </a:solidFill>
                <a:latin typeface="メイリオ"/>
                <a:ea typeface="メイリオ"/>
              </a:rPr>
              <a:t>8</a:t>
            </a:r>
            <a:r>
              <a:rPr sz="1100" b="1" dirty="0">
                <a:solidFill>
                  <a:srgbClr val="FFFFFF"/>
                </a:solidFill>
                <a:latin typeface="メイリオ"/>
                <a:ea typeface="メイリオ"/>
              </a:rPr>
              <a:t>日目〜</a:t>
            </a: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期間限定の入会特典</a:t>
            </a:r>
            <a:endParaRPr lang="en-US" altLang="ja-JP" sz="900" b="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事務手数料0円・特典UP</a:t>
            </a:r>
            <a:endParaRPr sz="900" b="0" dirty="0">
              <a:solidFill>
                <a:srgbClr val="FFFFFF"/>
              </a:solidFill>
              <a:latin typeface="メイリオ"/>
              <a:ea typeface="メイリオ"/>
            </a:endParaRPr>
          </a:p>
        </p:txBody>
      </p:sp>
      <p:sp>
        <p:nvSpPr>
          <p:cNvPr id="501" name="四角形: 角を丸くする 500">
            <a:extLst>
              <a:ext uri="{FF2B5EF4-FFF2-40B4-BE49-F238E27FC236}">
                <a16:creationId xmlns:a16="http://schemas.microsoft.com/office/drawing/2014/main" id="{9BEE51D7-85B7-1EEE-2DA3-A6919001F4A6}"/>
              </a:ext>
            </a:extLst>
          </p:cNvPr>
          <p:cNvSpPr/>
          <p:nvPr/>
        </p:nvSpPr>
        <p:spPr>
          <a:xfrm>
            <a:off x="8517887" y="1084883"/>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ジム名・エリア名</a:t>
            </a:r>
          </a:p>
        </p:txBody>
      </p:sp>
      <p:sp>
        <p:nvSpPr>
          <p:cNvPr id="503" name="四角形: 角を丸くする 502">
            <a:extLst>
              <a:ext uri="{FF2B5EF4-FFF2-40B4-BE49-F238E27FC236}">
                <a16:creationId xmlns:a16="http://schemas.microsoft.com/office/drawing/2014/main" id="{5D99F84B-FDE7-C4B6-9351-9AE2D2D67DF8}"/>
              </a:ext>
            </a:extLst>
          </p:cNvPr>
          <p:cNvSpPr/>
          <p:nvPr/>
        </p:nvSpPr>
        <p:spPr>
          <a:xfrm>
            <a:off x="8517887" y="1379918"/>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他ジム名</a:t>
            </a:r>
          </a:p>
        </p:txBody>
      </p:sp>
      <p:sp>
        <p:nvSpPr>
          <p:cNvPr id="505" name="四角形: 角を丸くする 504">
            <a:extLst>
              <a:ext uri="{FF2B5EF4-FFF2-40B4-BE49-F238E27FC236}">
                <a16:creationId xmlns:a16="http://schemas.microsoft.com/office/drawing/2014/main" id="{034292A4-FADE-70C8-1F70-7A8B6CFFE235}"/>
              </a:ext>
            </a:extLst>
          </p:cNvPr>
          <p:cNvSpPr/>
          <p:nvPr/>
        </p:nvSpPr>
        <p:spPr>
          <a:xfrm>
            <a:off x="8517887" y="1669041"/>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骨格・カラー等の診断系</a:t>
            </a:r>
          </a:p>
        </p:txBody>
      </p:sp>
      <p:sp>
        <p:nvSpPr>
          <p:cNvPr id="507" name="四角形: 角を丸くする 506">
            <a:extLst>
              <a:ext uri="{FF2B5EF4-FFF2-40B4-BE49-F238E27FC236}">
                <a16:creationId xmlns:a16="http://schemas.microsoft.com/office/drawing/2014/main" id="{3A5BC051-7CD4-A45E-6D3B-981B109B8BD3}"/>
              </a:ext>
            </a:extLst>
          </p:cNvPr>
          <p:cNvSpPr/>
          <p:nvPr/>
        </p:nvSpPr>
        <p:spPr>
          <a:xfrm>
            <a:off x="8517887" y="1964076"/>
            <a:ext cx="1185818" cy="253916"/>
          </a:xfrm>
          <a:prstGeom prst="roundRect">
            <a:avLst/>
          </a:prstGeom>
          <a:solidFill>
            <a:srgbClr val="EB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口コミ・相場</a:t>
            </a:r>
          </a:p>
        </p:txBody>
      </p:sp>
      <p:sp>
        <p:nvSpPr>
          <p:cNvPr id="509" name="Rounded Rectangle 47">
            <a:extLst>
              <a:ext uri="{FF2B5EF4-FFF2-40B4-BE49-F238E27FC236}">
                <a16:creationId xmlns:a16="http://schemas.microsoft.com/office/drawing/2014/main" id="{41275B32-0EBC-C4D4-E7C9-7949128091ED}"/>
              </a:ext>
            </a:extLst>
          </p:cNvPr>
          <p:cNvSpPr/>
          <p:nvPr/>
        </p:nvSpPr>
        <p:spPr>
          <a:xfrm>
            <a:off x="802074" y="6022295"/>
            <a:ext cx="1393404"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0" dirty="0">
                <a:solidFill>
                  <a:schemeClr val="tx1"/>
                </a:solidFill>
                <a:latin typeface="メイリオ" panose="020B0604030504040204" pitchFamily="50" charset="-128"/>
                <a:ea typeface="メイリオ" panose="020B0604030504040204" pitchFamily="50" charset="-128"/>
              </a:rPr>
              <a:t>実例を見て</a:t>
            </a:r>
            <a:endParaRPr lang="en-US" altLang="ja-JP" sz="900" b="0" dirty="0">
              <a:solidFill>
                <a:schemeClr val="tx1"/>
              </a:solidFill>
              <a:latin typeface="メイリオ" panose="020B0604030504040204" pitchFamily="50" charset="-128"/>
              <a:ea typeface="メイリオ" panose="020B0604030504040204" pitchFamily="50" charset="-128"/>
            </a:endParaRPr>
          </a:p>
          <a:p>
            <a:pPr algn="ctr"/>
            <a:r>
              <a:rPr lang="ja-JP" altLang="en-US" sz="900" dirty="0">
                <a:solidFill>
                  <a:schemeClr val="tx1"/>
                </a:solidFill>
                <a:latin typeface="メイリオ" panose="020B0604030504040204" pitchFamily="50" charset="-128"/>
                <a:ea typeface="メイリオ" panose="020B0604030504040204" pitchFamily="50" charset="-128"/>
              </a:rPr>
              <a:t>「自分にもできそう」になる</a:t>
            </a:r>
            <a:endParaRPr lang="en-US" altLang="ja-JP" sz="900" dirty="0">
              <a:solidFill>
                <a:schemeClr val="tx1"/>
              </a:solidFill>
              <a:latin typeface="メイリオ" panose="020B0604030504040204" pitchFamily="50" charset="-128"/>
              <a:ea typeface="メイリオ" panose="020B0604030504040204" pitchFamily="50" charset="-128"/>
            </a:endParaRPr>
          </a:p>
        </p:txBody>
      </p:sp>
      <p:sp>
        <p:nvSpPr>
          <p:cNvPr id="511" name="Rounded Rectangle 49">
            <a:extLst>
              <a:ext uri="{FF2B5EF4-FFF2-40B4-BE49-F238E27FC236}">
                <a16:creationId xmlns:a16="http://schemas.microsoft.com/office/drawing/2014/main" id="{51E3021D-7BDD-08BD-115E-DFAB6AC1418F}"/>
              </a:ext>
            </a:extLst>
          </p:cNvPr>
          <p:cNvSpPr/>
          <p:nvPr/>
        </p:nvSpPr>
        <p:spPr>
          <a:xfrm>
            <a:off x="2238506" y="6022295"/>
            <a:ext cx="1503880" cy="550487"/>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900" b="1" dirty="0">
                <a:solidFill>
                  <a:schemeClr val="tx1"/>
                </a:solidFill>
                <a:latin typeface="メイリオ" panose="020B0604030504040204" pitchFamily="50" charset="-128"/>
                <a:ea typeface="メイリオ" panose="020B0604030504040204" pitchFamily="50" charset="-128"/>
              </a:rPr>
              <a:t>検討初期でも動きやすい</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体験ハードルを下げる</a:t>
            </a:r>
            <a:endParaRPr lang="en-US" altLang="ja-JP" sz="900" b="1" dirty="0">
              <a:solidFill>
                <a:schemeClr val="tx1"/>
              </a:solidFill>
              <a:latin typeface="メイリオ" panose="020B0604030504040204" pitchFamily="50" charset="-128"/>
              <a:ea typeface="メイリオ" panose="020B0604030504040204" pitchFamily="50" charset="-128"/>
            </a:endParaRPr>
          </a:p>
          <a:p>
            <a:pPr algn="ctr"/>
            <a:r>
              <a:rPr lang="ja-JP" altLang="en-US" sz="900" b="1" dirty="0">
                <a:solidFill>
                  <a:schemeClr val="tx1"/>
                </a:solidFill>
                <a:latin typeface="メイリオ" panose="020B0604030504040204" pitchFamily="50" charset="-128"/>
                <a:ea typeface="メイリオ" panose="020B0604030504040204" pitchFamily="50" charset="-128"/>
              </a:rPr>
              <a:t>（</a:t>
            </a:r>
            <a:r>
              <a:rPr lang="en-US" altLang="ja-JP" sz="900" b="1" dirty="0">
                <a:solidFill>
                  <a:schemeClr val="tx1"/>
                </a:solidFill>
                <a:latin typeface="メイリオ" panose="020B0604030504040204" pitchFamily="50" charset="-128"/>
                <a:ea typeface="メイリオ" panose="020B0604030504040204" pitchFamily="50" charset="-128"/>
              </a:rPr>
              <a:t>LINE</a:t>
            </a:r>
            <a:r>
              <a:rPr lang="ja-JP" altLang="en-US" sz="900" b="1" dirty="0">
                <a:solidFill>
                  <a:schemeClr val="tx1"/>
                </a:solidFill>
                <a:latin typeface="メイリオ" panose="020B0604030504040204" pitchFamily="50" charset="-128"/>
                <a:ea typeface="メイリオ" panose="020B0604030504040204" pitchFamily="50" charset="-128"/>
              </a:rPr>
              <a:t>で簡単だと）</a:t>
            </a:r>
          </a:p>
        </p:txBody>
      </p:sp>
      <p:sp>
        <p:nvSpPr>
          <p:cNvPr id="513" name="Rounded Rectangle 55">
            <a:extLst>
              <a:ext uri="{FF2B5EF4-FFF2-40B4-BE49-F238E27FC236}">
                <a16:creationId xmlns:a16="http://schemas.microsoft.com/office/drawing/2014/main" id="{056EA98B-B524-7F96-6DAA-A35FCF5B9CB4}"/>
              </a:ext>
            </a:extLst>
          </p:cNvPr>
          <p:cNvSpPr/>
          <p:nvPr/>
        </p:nvSpPr>
        <p:spPr>
          <a:xfrm>
            <a:off x="7052498" y="6932236"/>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期間限定
季節の入会CP</a:t>
            </a:r>
            <a:endParaRPr sz="900" b="0" dirty="0">
              <a:solidFill>
                <a:srgbClr val="FFFFFF"/>
              </a:solidFill>
              <a:latin typeface="メイリオ"/>
              <a:ea typeface="メイリオ"/>
            </a:endParaRPr>
          </a:p>
        </p:txBody>
      </p:sp>
      <p:sp>
        <p:nvSpPr>
          <p:cNvPr id="515" name="Rounded Rectangle 57">
            <a:extLst>
              <a:ext uri="{FF2B5EF4-FFF2-40B4-BE49-F238E27FC236}">
                <a16:creationId xmlns:a16="http://schemas.microsoft.com/office/drawing/2014/main" id="{A749B661-FDEC-5A56-E115-E5B54A9BF875}"/>
              </a:ext>
            </a:extLst>
          </p:cNvPr>
          <p:cNvSpPr/>
          <p:nvPr/>
        </p:nvSpPr>
        <p:spPr>
          <a:xfrm>
            <a:off x="8388212" y="6932236"/>
            <a:ext cx="1292685" cy="150000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長期</a:t>
            </a:r>
          </a:p>
          <a:p>
            <a:pPr algn="ctr"/>
            <a:endParaRPr sz="1100" b="1" dirty="0">
              <a:solidFill>
                <a:srgbClr val="FFFFFF"/>
              </a:solidFill>
              <a:latin typeface="メイリオ"/>
              <a:ea typeface="メイリオ"/>
            </a:endParaRPr>
          </a:p>
          <a:p>
            <a:pPr algn="ctr"/>
            <a:r>
              <a:rPr sz="900" b="0" dirty="0" err="1">
                <a:solidFill>
                  <a:srgbClr val="FFFFFF"/>
                </a:solidFill>
                <a:latin typeface="メイリオ"/>
                <a:ea typeface="メイリオ"/>
              </a:rPr>
              <a:t>継続・PT・紹介
【CV③】</a:t>
            </a:r>
          </a:p>
        </p:txBody>
      </p:sp>
      <p:sp>
        <p:nvSpPr>
          <p:cNvPr id="517" name="Rounded Rectangle 51">
            <a:extLst>
              <a:ext uri="{FF2B5EF4-FFF2-40B4-BE49-F238E27FC236}">
                <a16:creationId xmlns:a16="http://schemas.microsoft.com/office/drawing/2014/main" id="{58C85FCB-FAB2-BE11-628B-00336C176B7D}"/>
              </a:ext>
            </a:extLst>
          </p:cNvPr>
          <p:cNvSpPr/>
          <p:nvPr/>
        </p:nvSpPr>
        <p:spPr>
          <a:xfrm>
            <a:off x="5109346" y="6572782"/>
            <a:ext cx="1292685" cy="1500000"/>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lang="ja-JP" altLang="en-US" sz="1100" b="1" dirty="0">
                <a:solidFill>
                  <a:srgbClr val="FFFFFF"/>
                </a:solidFill>
                <a:latin typeface="メイリオ"/>
                <a:ea typeface="メイリオ"/>
              </a:rPr>
              <a:t>３</a:t>
            </a:r>
            <a:r>
              <a:rPr sz="1100" b="1" dirty="0" err="1">
                <a:solidFill>
                  <a:srgbClr val="FFFFFF"/>
                </a:solidFill>
                <a:latin typeface="メイリオ"/>
                <a:ea typeface="メイリオ"/>
              </a:rPr>
              <a:t>日目</a:t>
            </a:r>
            <a:endParaRPr sz="1100" b="1" dirty="0">
              <a:solidFill>
                <a:srgbClr val="FFFFFF"/>
              </a:solidFill>
              <a:latin typeface="メイリオ"/>
              <a:ea typeface="メイリオ"/>
            </a:endParaRPr>
          </a:p>
          <a:p>
            <a:pPr algn="ctr"/>
            <a:endParaRPr sz="1100" b="1" dirty="0">
              <a:solidFill>
                <a:srgbClr val="FFFFFF"/>
              </a:solidFill>
              <a:latin typeface="メイリオ"/>
              <a:ea typeface="メイリオ"/>
            </a:endParaRPr>
          </a:p>
          <a:p>
            <a:pPr algn="ctr"/>
            <a:r>
              <a:rPr lang="ja-JP" altLang="en-US" sz="900" b="0" dirty="0">
                <a:solidFill>
                  <a:srgbClr val="FFFFFF"/>
                </a:solidFill>
                <a:latin typeface="メイリオ"/>
                <a:ea typeface="メイリオ"/>
              </a:rPr>
              <a:t>施設の</a:t>
            </a:r>
            <a:endParaRPr lang="en-US" altLang="ja-JP" sz="900" b="0" dirty="0">
              <a:solidFill>
                <a:srgbClr val="FFFFFF"/>
              </a:solidFill>
              <a:latin typeface="メイリオ"/>
              <a:ea typeface="メイリオ"/>
            </a:endParaRPr>
          </a:p>
          <a:p>
            <a:pPr algn="ctr"/>
            <a:r>
              <a:rPr lang="ja-JP" altLang="en-US" sz="900" dirty="0">
                <a:solidFill>
                  <a:srgbClr val="FFFFFF"/>
                </a:solidFill>
                <a:latin typeface="メイリオ"/>
                <a:ea typeface="メイリオ"/>
              </a:rPr>
              <a:t>こだわり</a:t>
            </a:r>
            <a:endParaRPr lang="en-US" altLang="ja-JP" sz="900" dirty="0">
              <a:solidFill>
                <a:srgbClr val="FFFFFF"/>
              </a:solidFill>
              <a:latin typeface="メイリオ"/>
              <a:ea typeface="メイリオ"/>
            </a:endParaRPr>
          </a:p>
          <a:p>
            <a:pPr algn="ctr"/>
            <a:r>
              <a:rPr lang="ja-JP" altLang="en-US" sz="900" b="0" dirty="0">
                <a:solidFill>
                  <a:srgbClr val="FFFFFF"/>
                </a:solidFill>
                <a:latin typeface="メイリオ"/>
                <a:ea typeface="メイリオ"/>
              </a:rPr>
              <a:t>マシン・シャワー・混雑状況</a:t>
            </a:r>
            <a:endParaRPr sz="900" b="0" dirty="0">
              <a:solidFill>
                <a:srgbClr val="FFFFFF"/>
              </a:solidFill>
              <a:latin typeface="メイリオ"/>
              <a:ea typeface="メイリオ"/>
            </a:endParaRPr>
          </a:p>
        </p:txBody>
      </p:sp>
      <p:sp>
        <p:nvSpPr>
          <p:cNvPr id="4" name="Google Shape;156;p7">
            <a:extLst>
              <a:ext uri="{FF2B5EF4-FFF2-40B4-BE49-F238E27FC236}">
                <a16:creationId xmlns:a16="http://schemas.microsoft.com/office/drawing/2014/main" id="{DEB9E934-197D-1C68-C461-9EA03EB3A2A1}"/>
              </a:ext>
            </a:extLst>
          </p:cNvPr>
          <p:cNvSpPr txBox="1"/>
          <p:nvPr/>
        </p:nvSpPr>
        <p:spPr>
          <a:xfrm>
            <a:off x="548883" y="138118"/>
            <a:ext cx="6681368"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ステップ配信のブレスト</a:t>
            </a:r>
            <a:endParaRPr sz="1600" b="1" dirty="0">
              <a:solidFill>
                <a:srgbClr val="002060"/>
              </a:solidFill>
              <a:latin typeface="メイリオ"/>
              <a:ea typeface="メイリオ"/>
              <a:cs typeface="Meiryo"/>
              <a:sym typeface="Meiryo"/>
            </a:endParaRPr>
          </a:p>
        </p:txBody>
      </p:sp>
      <p:pic>
        <p:nvPicPr>
          <p:cNvPr id="519" name="Picture 518" descr="journey_women_colored.png"/>
          <p:cNvPicPr>
            <a:picLocks noChangeAspect="1"/>
          </p:cNvPicPr>
          <p:nvPr/>
        </p:nvPicPr>
        <p:blipFill>
          <a:blip r:embed="rId3"/>
          <a:stretch>
            <a:fillRect/>
          </a:stretch>
        </p:blipFill>
        <p:spPr>
          <a:xfrm>
            <a:off x="1621811" y="762524"/>
            <a:ext cx="6627552" cy="3866072"/>
          </a:xfrm>
          <a:prstGeom prst="rect">
            <a:avLst/>
          </a:prstGeom>
        </p:spPr>
      </p:pic>
    </p:spTree>
    <p:extLst>
      <p:ext uri="{BB962C8B-B14F-4D97-AF65-F5344CB8AC3E}">
        <p14:creationId xmlns:p14="http://schemas.microsoft.com/office/powerpoint/2010/main" val="37374636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ステップ配信｜追加から14日で体験予約を取り切る</a:t>
            </a:r>
          </a:p>
        </p:txBody>
      </p:sp>
      <p:sp>
        <p:nvSpPr>
          <p:cNvPr id="3" name="TextBox 2"/>
          <p:cNvSpPr txBox="1"/>
          <p:nvPr/>
        </p:nvSpPr>
        <p:spPr>
          <a:xfrm>
            <a:off x="384048" y="731520"/>
            <a:ext cx="9134856" cy="430887"/>
          </a:xfrm>
          <a:prstGeom prst="rect">
            <a:avLst/>
          </a:prstGeom>
          <a:noFill/>
        </p:spPr>
        <p:txBody>
          <a:bodyPr wrap="square" lIns="0" tIns="0" rIns="0" bIns="0">
            <a:spAutoFit/>
          </a:bodyPr>
          <a:lstStyle/>
          <a:p>
            <a:r>
              <a:rPr sz="1400" b="0" dirty="0">
                <a:solidFill>
                  <a:srgbClr val="646C82"/>
                </a:solidFill>
                <a:latin typeface="メイリオ"/>
                <a:ea typeface="メイリオ"/>
              </a:rPr>
              <a:t>友だち追加から15日でアクティブ率が急落する。ジムの検討期間は数日〜2週間。</a:t>
            </a:r>
            <a:endParaRPr lang="en-US" sz="1400" b="0" dirty="0">
              <a:solidFill>
                <a:srgbClr val="646C82"/>
              </a:solidFill>
              <a:latin typeface="メイリオ"/>
              <a:ea typeface="メイリオ"/>
            </a:endParaRPr>
          </a:p>
          <a:p>
            <a:r>
              <a:rPr sz="1400" b="0" dirty="0">
                <a:solidFill>
                  <a:srgbClr val="646C82"/>
                </a:solidFill>
                <a:latin typeface="メイリオ"/>
                <a:ea typeface="メイリオ"/>
              </a:rPr>
              <a:t>この</a:t>
            </a:r>
            <a:r>
              <a:rPr sz="1400" dirty="0">
                <a:solidFill>
                  <a:srgbClr val="646C82"/>
                </a:solidFill>
                <a:latin typeface="メイリオ"/>
                <a:ea typeface="メイリオ"/>
              </a:rPr>
              <a:t>2つが重なるのが</a:t>
            </a:r>
            <a:r>
              <a:rPr sz="1400" b="1" dirty="0">
                <a:solidFill>
                  <a:srgbClr val="646C82"/>
                </a:solidFill>
                <a:latin typeface="メイリオ"/>
                <a:ea typeface="メイリオ"/>
              </a:rPr>
              <a:t>最初の14日。</a:t>
            </a:r>
          </a:p>
        </p:txBody>
      </p:sp>
      <p:graphicFrame>
        <p:nvGraphicFramePr>
          <p:cNvPr id="4" name="Table 3"/>
          <p:cNvGraphicFramePr>
            <a:graphicFrameLocks noGrp="1"/>
          </p:cNvGraphicFramePr>
          <p:nvPr>
            <p:extLst>
              <p:ext uri="{D42A27DB-BD31-4B8C-83A1-F6EECF244321}">
                <p14:modId xmlns:p14="http://schemas.microsoft.com/office/powerpoint/2010/main" val="3998067327"/>
              </p:ext>
            </p:extLst>
          </p:nvPr>
        </p:nvGraphicFramePr>
        <p:xfrm>
          <a:off x="384048" y="1280160"/>
          <a:ext cx="9134856" cy="3683728"/>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2505456">
                  <a:extLst>
                    <a:ext uri="{9D8B030D-6E8A-4147-A177-3AD203B41FA5}">
                      <a16:colId xmlns:a16="http://schemas.microsoft.com/office/drawing/2014/main" val="20004"/>
                    </a:ext>
                  </a:extLst>
                </a:gridCol>
              </a:tblGrid>
              <a:tr h="460466">
                <a:tc>
                  <a:txBody>
                    <a:bodyPr/>
                    <a:lstStyle/>
                    <a:p>
                      <a:pPr algn="ctr"/>
                      <a:r>
                        <a:rPr sz="1200" b="1">
                          <a:solidFill>
                            <a:srgbClr val="FFFFFF"/>
                          </a:solidFill>
                          <a:latin typeface="メイリオ"/>
                          <a:ea typeface="メイリオ"/>
                        </a:rPr>
                        <a:t>日</a:t>
                      </a:r>
                    </a:p>
                  </a:txBody>
                  <a:tcPr>
                    <a:solidFill>
                      <a:srgbClr val="1F2A5C"/>
                    </a:solidFill>
                  </a:tcPr>
                </a:tc>
                <a:tc>
                  <a:txBody>
                    <a:bodyPr/>
                    <a:lstStyle/>
                    <a:p>
                      <a:pPr algn="ctr"/>
                      <a:r>
                        <a:rPr sz="1200" b="1">
                          <a:solidFill>
                            <a:srgbClr val="FFFFFF"/>
                          </a:solidFill>
                          <a:latin typeface="メイリオ"/>
                          <a:ea typeface="メイリオ"/>
                        </a:rPr>
                        <a:t>目的</a:t>
                      </a:r>
                    </a:p>
                  </a:txBody>
                  <a:tcPr>
                    <a:solidFill>
                      <a:srgbClr val="1F2A5C"/>
                    </a:solidFill>
                  </a:tcPr>
                </a:tc>
                <a:tc>
                  <a:txBody>
                    <a:bodyPr/>
                    <a:lstStyle/>
                    <a:p>
                      <a:pPr algn="ctr"/>
                      <a:r>
                        <a:rPr sz="1200" b="1">
                          <a:solidFill>
                            <a:srgbClr val="FFFFFF"/>
                          </a:solidFill>
                          <a:latin typeface="メイリオ"/>
                          <a:ea typeface="メイリオ"/>
                        </a:rPr>
                        <a:t>配信コンテンツ</a:t>
                      </a:r>
                    </a:p>
                  </a:txBody>
                  <a:tcPr>
                    <a:solidFill>
                      <a:srgbClr val="1F2A5C"/>
                    </a:solidFill>
                  </a:tcPr>
                </a:tc>
                <a:tc>
                  <a:txBody>
                    <a:bodyPr/>
                    <a:lstStyle/>
                    <a:p>
                      <a:pPr algn="ctr"/>
                      <a:r>
                        <a:rPr sz="1200" b="1">
                          <a:solidFill>
                            <a:srgbClr val="FFFFFF"/>
                          </a:solidFill>
                          <a:latin typeface="メイリオ"/>
                          <a:ea typeface="メイリオ"/>
                        </a:rPr>
                        <a:t>CTA</a:t>
                      </a:r>
                    </a:p>
                  </a:txBody>
                  <a:tcPr>
                    <a:solidFill>
                      <a:srgbClr val="1F2A5C"/>
                    </a:solidFill>
                  </a:tcPr>
                </a:tc>
                <a:tc>
                  <a:txBody>
                    <a:bodyPr/>
                    <a:lstStyle/>
                    <a:p>
                      <a:pPr algn="ctr"/>
                      <a:r>
                        <a:rPr sz="1200" b="1">
                          <a:solidFill>
                            <a:srgbClr val="FFFFFF"/>
                          </a:solidFill>
                          <a:latin typeface="メイリオ"/>
                          <a:ea typeface="メイリオ"/>
                        </a:rPr>
                        <a:t>通知プレビュー冒頭</a:t>
                      </a:r>
                    </a:p>
                  </a:txBody>
                  <a:tcPr>
                    <a:solidFill>
                      <a:srgbClr val="1F2A5C"/>
                    </a:solidFill>
                  </a:tcPr>
                </a:tc>
                <a:extLst>
                  <a:ext uri="{0D108BD9-81ED-4DB2-BD59-A6C34878D82A}">
                    <a16:rowId xmlns:a16="http://schemas.microsoft.com/office/drawing/2014/main" val="10000"/>
                  </a:ext>
                </a:extLst>
              </a:tr>
              <a:tr h="460466">
                <a:tc>
                  <a:txBody>
                    <a:bodyPr/>
                    <a:lstStyle/>
                    <a:p>
                      <a:pPr algn="l"/>
                      <a:r>
                        <a:rPr sz="1050" b="0">
                          <a:solidFill>
                            <a:srgbClr val="1C2233"/>
                          </a:solidFill>
                          <a:latin typeface="メイリオ"/>
                          <a:ea typeface="メイリオ"/>
                        </a:rPr>
                        <a:t>Day0</a:t>
                      </a:r>
                    </a:p>
                  </a:txBody>
                  <a:tcPr>
                    <a:solidFill>
                      <a:srgbClr val="FFFFFF"/>
                    </a:solidFill>
                  </a:tcPr>
                </a:tc>
                <a:tc>
                  <a:txBody>
                    <a:bodyPr/>
                    <a:lstStyle/>
                    <a:p>
                      <a:pPr algn="ctr"/>
                      <a:r>
                        <a:rPr sz="1050" b="0">
                          <a:solidFill>
                            <a:srgbClr val="1C2233"/>
                          </a:solidFill>
                          <a:latin typeface="メイリオ"/>
                          <a:ea typeface="メイリオ"/>
                        </a:rPr>
                        <a:t>体験の案内＋属性取得</a:t>
                      </a:r>
                    </a:p>
                  </a:txBody>
                  <a:tcPr>
                    <a:solidFill>
                      <a:srgbClr val="FFFFFF"/>
                    </a:solidFill>
                  </a:tcPr>
                </a:tc>
                <a:tc>
                  <a:txBody>
                    <a:bodyPr/>
                    <a:lstStyle/>
                    <a:p>
                      <a:pPr algn="ctr"/>
                      <a:r>
                        <a:rPr sz="1050" b="0">
                          <a:solidFill>
                            <a:srgbClr val="1C2233"/>
                          </a:solidFill>
                          <a:latin typeface="メイリオ"/>
                          <a:ea typeface="メイリオ"/>
                        </a:rPr>
                        <a:t>あいさつ＋無料体験（期限つき）のバナー＋30秒 体づくりタイプ診断</a:t>
                      </a:r>
                    </a:p>
                  </a:txBody>
                  <a:tcPr>
                    <a:solidFill>
                      <a:srgbClr val="FFFFFF"/>
                    </a:solidFill>
                  </a:tcPr>
                </a:tc>
                <a:tc>
                  <a:txBody>
                    <a:bodyPr/>
                    <a:lstStyle/>
                    <a:p>
                      <a:pPr algn="ctr"/>
                      <a:r>
                        <a:rPr sz="1050" b="0">
                          <a:solidFill>
                            <a:srgbClr val="1C2233"/>
                          </a:solidFill>
                          <a:latin typeface="メイリオ"/>
                          <a:ea typeface="メイリオ"/>
                        </a:rPr>
                        <a:t>体験予約／診断回答</a:t>
                      </a:r>
                    </a:p>
                  </a:txBody>
                  <a:tcPr>
                    <a:solidFill>
                      <a:srgbClr val="FFFFFF"/>
                    </a:solidFill>
                  </a:tcPr>
                </a:tc>
                <a:tc>
                  <a:txBody>
                    <a:bodyPr/>
                    <a:lstStyle/>
                    <a:p>
                      <a:pPr algn="ctr"/>
                      <a:r>
                        <a:rPr sz="1050" b="0">
                          <a:solidFill>
                            <a:srgbClr val="1C2233"/>
                          </a:solidFill>
                          <a:latin typeface="メイリオ"/>
                          <a:ea typeface="メイリオ"/>
                        </a:rPr>
                        <a:t>【〇月〇日まで】無料体験のご案内</a:t>
                      </a:r>
                    </a:p>
                  </a:txBody>
                  <a:tcPr>
                    <a:solidFill>
                      <a:srgbClr val="FFFFFF"/>
                    </a:solidFill>
                  </a:tcPr>
                </a:tc>
                <a:extLst>
                  <a:ext uri="{0D108BD9-81ED-4DB2-BD59-A6C34878D82A}">
                    <a16:rowId xmlns:a16="http://schemas.microsoft.com/office/drawing/2014/main" val="10001"/>
                  </a:ext>
                </a:extLst>
              </a:tr>
              <a:tr h="460466">
                <a:tc>
                  <a:txBody>
                    <a:bodyPr/>
                    <a:lstStyle/>
                    <a:p>
                      <a:pPr algn="l"/>
                      <a:r>
                        <a:rPr sz="1050" b="0">
                          <a:solidFill>
                            <a:srgbClr val="1C2233"/>
                          </a:solidFill>
                          <a:latin typeface="メイリオ"/>
                          <a:ea typeface="メイリオ"/>
                        </a:rPr>
                        <a:t>Day2</a:t>
                      </a:r>
                    </a:p>
                  </a:txBody>
                  <a:tcPr>
                    <a:solidFill>
                      <a:srgbClr val="EFF1F7"/>
                    </a:solidFill>
                  </a:tcPr>
                </a:tc>
                <a:tc>
                  <a:txBody>
                    <a:bodyPr/>
                    <a:lstStyle/>
                    <a:p>
                      <a:pPr algn="ctr"/>
                      <a:r>
                        <a:rPr sz="1050" b="0">
                          <a:solidFill>
                            <a:srgbClr val="1C2233"/>
                          </a:solidFill>
                          <a:latin typeface="メイリオ"/>
                          <a:ea typeface="メイリオ"/>
                        </a:rPr>
                        <a:t>初心者の不安</a:t>
                      </a:r>
                    </a:p>
                  </a:txBody>
                  <a:tcPr>
                    <a:solidFill>
                      <a:srgbClr val="EFF1F7"/>
                    </a:solidFill>
                  </a:tcPr>
                </a:tc>
                <a:tc>
                  <a:txBody>
                    <a:bodyPr/>
                    <a:lstStyle/>
                    <a:p>
                      <a:pPr algn="ctr"/>
                      <a:r>
                        <a:rPr sz="1050" b="0">
                          <a:solidFill>
                            <a:srgbClr val="1C2233"/>
                          </a:solidFill>
                          <a:latin typeface="メイリオ"/>
                          <a:ea typeface="メイリオ"/>
                        </a:rPr>
                        <a:t>タイプ別「最初の1ヶ月はこれだけ」＋マシンの使い方動画</a:t>
                      </a:r>
                    </a:p>
                  </a:txBody>
                  <a:tcPr>
                    <a:solidFill>
                      <a:srgbClr val="EFF1F7"/>
                    </a:solidFill>
                  </a:tcPr>
                </a:tc>
                <a:tc>
                  <a:txBody>
                    <a:bodyPr/>
                    <a:lstStyle/>
                    <a:p>
                      <a:pPr algn="ctr"/>
                      <a:r>
                        <a:rPr sz="1050" b="0">
                          <a:solidFill>
                            <a:srgbClr val="1C2233"/>
                          </a:solidFill>
                          <a:latin typeface="メイリオ"/>
                          <a:ea typeface="メイリオ"/>
                        </a:rPr>
                        <a:t>動画視聴</a:t>
                      </a:r>
                    </a:p>
                  </a:txBody>
                  <a:tcPr>
                    <a:solidFill>
                      <a:srgbClr val="EFF1F7"/>
                    </a:solidFill>
                  </a:tcPr>
                </a:tc>
                <a:tc>
                  <a:txBody>
                    <a:bodyPr/>
                    <a:lstStyle/>
                    <a:p>
                      <a:pPr algn="ctr"/>
                      <a:r>
                        <a:rPr sz="1050" b="0">
                          <a:solidFill>
                            <a:srgbClr val="1C2233"/>
                          </a:solidFill>
                          <a:latin typeface="メイリオ"/>
                          <a:ea typeface="メイリオ"/>
                        </a:rPr>
                        <a:t>【初めての方へ】まずはマシン3種類</a:t>
                      </a:r>
                    </a:p>
                  </a:txBody>
                  <a:tcPr>
                    <a:solidFill>
                      <a:srgbClr val="EFF1F7"/>
                    </a:solidFill>
                  </a:tcPr>
                </a:tc>
                <a:extLst>
                  <a:ext uri="{0D108BD9-81ED-4DB2-BD59-A6C34878D82A}">
                    <a16:rowId xmlns:a16="http://schemas.microsoft.com/office/drawing/2014/main" val="10002"/>
                  </a:ext>
                </a:extLst>
              </a:tr>
              <a:tr h="460466">
                <a:tc>
                  <a:txBody>
                    <a:bodyPr/>
                    <a:lstStyle/>
                    <a:p>
                      <a:pPr algn="l"/>
                      <a:r>
                        <a:rPr sz="1050" b="0">
                          <a:solidFill>
                            <a:srgbClr val="1C2233"/>
                          </a:solidFill>
                          <a:latin typeface="メイリオ"/>
                          <a:ea typeface="メイリオ"/>
                        </a:rPr>
                        <a:t>Day4</a:t>
                      </a:r>
                    </a:p>
                  </a:txBody>
                  <a:tcPr>
                    <a:solidFill>
                      <a:srgbClr val="FFFFFF"/>
                    </a:solidFill>
                  </a:tcPr>
                </a:tc>
                <a:tc>
                  <a:txBody>
                    <a:bodyPr/>
                    <a:lstStyle/>
                    <a:p>
                      <a:pPr algn="ctr"/>
                      <a:r>
                        <a:rPr sz="1050" b="0">
                          <a:solidFill>
                            <a:srgbClr val="1C2233"/>
                          </a:solidFill>
                          <a:latin typeface="メイリオ"/>
                          <a:ea typeface="メイリオ"/>
                        </a:rPr>
                        <a:t>費用の納得</a:t>
                      </a:r>
                    </a:p>
                  </a:txBody>
                  <a:tcPr>
                    <a:solidFill>
                      <a:srgbClr val="FFFFFF"/>
                    </a:solidFill>
                  </a:tcPr>
                </a:tc>
                <a:tc>
                  <a:txBody>
                    <a:bodyPr/>
                    <a:lstStyle/>
                    <a:p>
                      <a:pPr algn="ctr"/>
                      <a:r>
                        <a:rPr sz="1050" b="0">
                          <a:solidFill>
                            <a:srgbClr val="1C2233"/>
                          </a:solidFill>
                          <a:latin typeface="メイリオ"/>
                          <a:ea typeface="メイリオ"/>
                        </a:rPr>
                        <a:t>1分料金シミュレーター（週2回なら1回いくら？）</a:t>
                      </a:r>
                    </a:p>
                  </a:txBody>
                  <a:tcPr>
                    <a:solidFill>
                      <a:srgbClr val="FFFFFF"/>
                    </a:solidFill>
                  </a:tcPr>
                </a:tc>
                <a:tc>
                  <a:txBody>
                    <a:bodyPr/>
                    <a:lstStyle/>
                    <a:p>
                      <a:pPr algn="ctr"/>
                      <a:r>
                        <a:rPr sz="1050" b="0">
                          <a:solidFill>
                            <a:srgbClr val="1C2233"/>
                          </a:solidFill>
                          <a:latin typeface="メイリオ"/>
                          <a:ea typeface="メイリオ"/>
                        </a:rPr>
                        <a:t>料金診断</a:t>
                      </a:r>
                    </a:p>
                  </a:txBody>
                  <a:tcPr>
                    <a:solidFill>
                      <a:srgbClr val="FFFFFF"/>
                    </a:solidFill>
                  </a:tcPr>
                </a:tc>
                <a:tc>
                  <a:txBody>
                    <a:bodyPr/>
                    <a:lstStyle/>
                    <a:p>
                      <a:pPr algn="ctr"/>
                      <a:r>
                        <a:rPr sz="1050" b="0">
                          <a:solidFill>
                            <a:srgbClr val="1C2233"/>
                          </a:solidFill>
                          <a:latin typeface="メイリオ"/>
                          <a:ea typeface="メイリオ"/>
                        </a:rPr>
                        <a:t>【1回いくら？】週2回なら…</a:t>
                      </a:r>
                    </a:p>
                  </a:txBody>
                  <a:tcPr>
                    <a:solidFill>
                      <a:srgbClr val="FFFFFF"/>
                    </a:solidFill>
                  </a:tcPr>
                </a:tc>
                <a:extLst>
                  <a:ext uri="{0D108BD9-81ED-4DB2-BD59-A6C34878D82A}">
                    <a16:rowId xmlns:a16="http://schemas.microsoft.com/office/drawing/2014/main" val="10003"/>
                  </a:ext>
                </a:extLst>
              </a:tr>
              <a:tr h="460466">
                <a:tc>
                  <a:txBody>
                    <a:bodyPr/>
                    <a:lstStyle/>
                    <a:p>
                      <a:pPr algn="l"/>
                      <a:r>
                        <a:rPr sz="1050" b="0">
                          <a:solidFill>
                            <a:srgbClr val="1C2233"/>
                          </a:solidFill>
                          <a:latin typeface="メイリオ"/>
                          <a:ea typeface="メイリオ"/>
                        </a:rPr>
                        <a:t>Day6</a:t>
                      </a:r>
                    </a:p>
                  </a:txBody>
                  <a:tcPr>
                    <a:solidFill>
                      <a:srgbClr val="EFF1F7"/>
                    </a:solidFill>
                  </a:tcPr>
                </a:tc>
                <a:tc>
                  <a:txBody>
                    <a:bodyPr/>
                    <a:lstStyle/>
                    <a:p>
                      <a:pPr algn="ctr"/>
                      <a:r>
                        <a:rPr sz="1050" b="0">
                          <a:solidFill>
                            <a:srgbClr val="1C2233"/>
                          </a:solidFill>
                          <a:latin typeface="メイリオ"/>
                          <a:ea typeface="メイリオ"/>
                        </a:rPr>
                        <a:t>2回目のオファー</a:t>
                      </a:r>
                    </a:p>
                  </a:txBody>
                  <a:tcPr>
                    <a:solidFill>
                      <a:srgbClr val="EFF1F7"/>
                    </a:solidFill>
                  </a:tcPr>
                </a:tc>
                <a:tc>
                  <a:txBody>
                    <a:bodyPr/>
                    <a:lstStyle/>
                    <a:p>
                      <a:pPr algn="ctr"/>
                      <a:r>
                        <a:rPr sz="1050" b="0">
                          <a:solidFill>
                            <a:srgbClr val="1C2233"/>
                          </a:solidFill>
                          <a:latin typeface="メイリオ"/>
                          <a:ea typeface="メイリオ"/>
                        </a:rPr>
                        <a:t>無料体験のご案内＋「見学だけでもOK・入会を迫りません」</a:t>
                      </a:r>
                    </a:p>
                  </a:txBody>
                  <a:tcPr>
                    <a:solidFill>
                      <a:srgbClr val="EFF1F7"/>
                    </a:solidFill>
                  </a:tcPr>
                </a:tc>
                <a:tc>
                  <a:txBody>
                    <a:bodyPr/>
                    <a:lstStyle/>
                    <a:p>
                      <a:pPr algn="ctr"/>
                      <a:r>
                        <a:rPr sz="1050" b="1">
                          <a:solidFill>
                            <a:srgbClr val="FFFFFF"/>
                          </a:solidFill>
                          <a:latin typeface="メイリオ"/>
                          <a:ea typeface="メイリオ"/>
                        </a:rPr>
                        <a:t>体験予約 CV①</a:t>
                      </a:r>
                    </a:p>
                  </a:txBody>
                  <a:tcPr>
                    <a:solidFill>
                      <a:srgbClr val="1F2A5C"/>
                    </a:solidFill>
                  </a:tcPr>
                </a:tc>
                <a:tc>
                  <a:txBody>
                    <a:bodyPr/>
                    <a:lstStyle/>
                    <a:p>
                      <a:pPr algn="ctr"/>
                      <a:r>
                        <a:rPr sz="1050" b="0">
                          <a:solidFill>
                            <a:srgbClr val="1C2233"/>
                          </a:solidFill>
                          <a:latin typeface="メイリオ"/>
                          <a:ea typeface="メイリオ"/>
                        </a:rPr>
                        <a:t>【見学だけOK】今週の空き枠</a:t>
                      </a:r>
                    </a:p>
                  </a:txBody>
                  <a:tcPr>
                    <a:solidFill>
                      <a:srgbClr val="EFF1F7"/>
                    </a:solidFill>
                  </a:tcPr>
                </a:tc>
                <a:extLst>
                  <a:ext uri="{0D108BD9-81ED-4DB2-BD59-A6C34878D82A}">
                    <a16:rowId xmlns:a16="http://schemas.microsoft.com/office/drawing/2014/main" val="10004"/>
                  </a:ext>
                </a:extLst>
              </a:tr>
              <a:tr h="460466">
                <a:tc>
                  <a:txBody>
                    <a:bodyPr/>
                    <a:lstStyle/>
                    <a:p>
                      <a:pPr algn="l"/>
                      <a:r>
                        <a:rPr sz="1050" b="0">
                          <a:solidFill>
                            <a:srgbClr val="1C2233"/>
                          </a:solidFill>
                          <a:latin typeface="メイリオ"/>
                          <a:ea typeface="メイリオ"/>
                        </a:rPr>
                        <a:t>Day8</a:t>
                      </a:r>
                    </a:p>
                  </a:txBody>
                  <a:tcPr>
                    <a:solidFill>
                      <a:srgbClr val="FFFFFF"/>
                    </a:solidFill>
                  </a:tcPr>
                </a:tc>
                <a:tc>
                  <a:txBody>
                    <a:bodyPr/>
                    <a:lstStyle/>
                    <a:p>
                      <a:pPr algn="ctr"/>
                      <a:r>
                        <a:rPr sz="1050" b="0">
                          <a:solidFill>
                            <a:srgbClr val="1C2233"/>
                          </a:solidFill>
                          <a:latin typeface="メイリオ"/>
                          <a:ea typeface="メイリオ"/>
                        </a:rPr>
                        <a:t>社会的証明</a:t>
                      </a:r>
                    </a:p>
                  </a:txBody>
                  <a:tcPr>
                    <a:solidFill>
                      <a:srgbClr val="FFFFFF"/>
                    </a:solidFill>
                  </a:tcPr>
                </a:tc>
                <a:tc>
                  <a:txBody>
                    <a:bodyPr/>
                    <a:lstStyle/>
                    <a:p>
                      <a:pPr algn="ctr"/>
                      <a:r>
                        <a:rPr sz="1050" b="0">
                          <a:solidFill>
                            <a:srgbClr val="1C2233"/>
                          </a:solidFill>
                          <a:latin typeface="メイリオ"/>
                          <a:ea typeface="メイリオ"/>
                        </a:rPr>
                        <a:t>同年代・同目的の会員の声（動画など）／続いている人の共通点</a:t>
                      </a:r>
                    </a:p>
                  </a:txBody>
                  <a:tcPr>
                    <a:solidFill>
                      <a:srgbClr val="FFFFFF"/>
                    </a:solidFill>
                  </a:tcPr>
                </a:tc>
                <a:tc>
                  <a:txBody>
                    <a:bodyPr/>
                    <a:lstStyle/>
                    <a:p>
                      <a:pPr algn="ctr"/>
                      <a:r>
                        <a:rPr sz="1050" b="0">
                          <a:solidFill>
                            <a:srgbClr val="1C2233"/>
                          </a:solidFill>
                          <a:latin typeface="メイリオ"/>
                          <a:ea typeface="メイリオ"/>
                        </a:rPr>
                        <a:t>事例閲覧</a:t>
                      </a:r>
                    </a:p>
                  </a:txBody>
                  <a:tcPr>
                    <a:solidFill>
                      <a:srgbClr val="FFFFFF"/>
                    </a:solidFill>
                  </a:tcPr>
                </a:tc>
                <a:tc>
                  <a:txBody>
                    <a:bodyPr/>
                    <a:lstStyle/>
                    <a:p>
                      <a:pPr algn="ctr"/>
                      <a:r>
                        <a:rPr sz="1050" b="0">
                          <a:solidFill>
                            <a:srgbClr val="1C2233"/>
                          </a:solidFill>
                          <a:latin typeface="メイリオ"/>
                          <a:ea typeface="メイリオ"/>
                        </a:rPr>
                        <a:t>【40代・初心者】3ヶ月後の変化</a:t>
                      </a:r>
                    </a:p>
                  </a:txBody>
                  <a:tcPr>
                    <a:solidFill>
                      <a:srgbClr val="FFFFFF"/>
                    </a:solidFill>
                  </a:tcPr>
                </a:tc>
                <a:extLst>
                  <a:ext uri="{0D108BD9-81ED-4DB2-BD59-A6C34878D82A}">
                    <a16:rowId xmlns:a16="http://schemas.microsoft.com/office/drawing/2014/main" val="10005"/>
                  </a:ext>
                </a:extLst>
              </a:tr>
              <a:tr h="460466">
                <a:tc>
                  <a:txBody>
                    <a:bodyPr/>
                    <a:lstStyle/>
                    <a:p>
                      <a:pPr algn="l"/>
                      <a:r>
                        <a:rPr sz="1050" b="0">
                          <a:solidFill>
                            <a:srgbClr val="1C2233"/>
                          </a:solidFill>
                          <a:latin typeface="メイリオ"/>
                          <a:ea typeface="メイリオ"/>
                        </a:rPr>
                        <a:t>Day11</a:t>
                      </a:r>
                    </a:p>
                  </a:txBody>
                  <a:tcPr>
                    <a:solidFill>
                      <a:srgbClr val="EFF1F7"/>
                    </a:solidFill>
                  </a:tcPr>
                </a:tc>
                <a:tc>
                  <a:txBody>
                    <a:bodyPr/>
                    <a:lstStyle/>
                    <a:p>
                      <a:pPr algn="ctr"/>
                      <a:r>
                        <a:rPr sz="1050" b="0">
                          <a:solidFill>
                            <a:srgbClr val="1C2233"/>
                          </a:solidFill>
                          <a:latin typeface="メイリオ"/>
                          <a:ea typeface="メイリオ"/>
                        </a:rPr>
                        <a:t>疑問の除去</a:t>
                      </a:r>
                    </a:p>
                  </a:txBody>
                  <a:tcPr>
                    <a:solidFill>
                      <a:srgbClr val="EFF1F7"/>
                    </a:solidFill>
                  </a:tcPr>
                </a:tc>
                <a:tc>
                  <a:txBody>
                    <a:bodyPr/>
                    <a:lstStyle/>
                    <a:p>
                      <a:pPr algn="ctr"/>
                      <a:r>
                        <a:rPr sz="1050" b="0">
                          <a:solidFill>
                            <a:srgbClr val="1C2233"/>
                          </a:solidFill>
                          <a:latin typeface="メイリオ"/>
                          <a:ea typeface="メイリオ"/>
                        </a:rPr>
                        <a:t>不安Q&amp;A（勧誘／解約／シャワー／混雑時間／持ち物）＋チャット相談</a:t>
                      </a:r>
                    </a:p>
                  </a:txBody>
                  <a:tcPr>
                    <a:solidFill>
                      <a:srgbClr val="EFF1F7"/>
                    </a:solidFill>
                  </a:tcPr>
                </a:tc>
                <a:tc>
                  <a:txBody>
                    <a:bodyPr/>
                    <a:lstStyle/>
                    <a:p>
                      <a:pPr algn="ctr"/>
                      <a:r>
                        <a:rPr sz="1050" b="0">
                          <a:solidFill>
                            <a:srgbClr val="1C2233"/>
                          </a:solidFill>
                          <a:latin typeface="メイリオ"/>
                          <a:ea typeface="メイリオ"/>
                        </a:rPr>
                        <a:t>チャット相談</a:t>
                      </a:r>
                    </a:p>
                  </a:txBody>
                  <a:tcPr>
                    <a:solidFill>
                      <a:srgbClr val="EFF1F7"/>
                    </a:solidFill>
                  </a:tcPr>
                </a:tc>
                <a:tc>
                  <a:txBody>
                    <a:bodyPr/>
                    <a:lstStyle/>
                    <a:p>
                      <a:pPr algn="ctr"/>
                      <a:r>
                        <a:rPr sz="1050" b="0">
                          <a:solidFill>
                            <a:srgbClr val="1C2233"/>
                          </a:solidFill>
                          <a:latin typeface="メイリオ"/>
                          <a:ea typeface="メイリオ"/>
                        </a:rPr>
                        <a:t>【解約もOK】よくあるご質問</a:t>
                      </a:r>
                    </a:p>
                  </a:txBody>
                  <a:tcPr>
                    <a:solidFill>
                      <a:srgbClr val="EFF1F7"/>
                    </a:solidFill>
                  </a:tcPr>
                </a:tc>
                <a:extLst>
                  <a:ext uri="{0D108BD9-81ED-4DB2-BD59-A6C34878D82A}">
                    <a16:rowId xmlns:a16="http://schemas.microsoft.com/office/drawing/2014/main" val="10006"/>
                  </a:ext>
                </a:extLst>
              </a:tr>
              <a:tr h="460466">
                <a:tc>
                  <a:txBody>
                    <a:bodyPr/>
                    <a:lstStyle/>
                    <a:p>
                      <a:pPr algn="l"/>
                      <a:r>
                        <a:rPr sz="1050" b="0">
                          <a:solidFill>
                            <a:srgbClr val="1C2233"/>
                          </a:solidFill>
                          <a:latin typeface="メイリオ"/>
                          <a:ea typeface="メイリオ"/>
                        </a:rPr>
                        <a:t>Day14</a:t>
                      </a:r>
                    </a:p>
                  </a:txBody>
                  <a:tcPr>
                    <a:solidFill>
                      <a:srgbClr val="FFFFFF"/>
                    </a:solidFill>
                  </a:tcPr>
                </a:tc>
                <a:tc>
                  <a:txBody>
                    <a:bodyPr/>
                    <a:lstStyle/>
                    <a:p>
                      <a:pPr algn="ctr"/>
                      <a:r>
                        <a:rPr sz="1050" b="0">
                          <a:solidFill>
                            <a:srgbClr val="1C2233"/>
                          </a:solidFill>
                          <a:latin typeface="メイリオ"/>
                          <a:ea typeface="メイリオ"/>
                        </a:rPr>
                        <a:t>最終オファー</a:t>
                      </a:r>
                    </a:p>
                  </a:txBody>
                  <a:tcPr>
                    <a:solidFill>
                      <a:srgbClr val="FFFFFF"/>
                    </a:solidFill>
                  </a:tcPr>
                </a:tc>
                <a:tc>
                  <a:txBody>
                    <a:bodyPr/>
                    <a:lstStyle/>
                    <a:p>
                      <a:pPr algn="ctr"/>
                      <a:r>
                        <a:rPr sz="1050" b="0" dirty="0">
                          <a:solidFill>
                            <a:srgbClr val="1C2233"/>
                          </a:solidFill>
                          <a:latin typeface="メイリオ"/>
                          <a:ea typeface="メイリオ"/>
                        </a:rPr>
                        <a:t>入会金無料・事務手数料0円＋体験枠の残数</a:t>
                      </a:r>
                    </a:p>
                  </a:txBody>
                  <a:tcPr>
                    <a:solidFill>
                      <a:srgbClr val="FFFFFF"/>
                    </a:solidFill>
                  </a:tcPr>
                </a:tc>
                <a:tc>
                  <a:txBody>
                    <a:bodyPr/>
                    <a:lstStyle/>
                    <a:p>
                      <a:pPr algn="ctr"/>
                      <a:r>
                        <a:rPr sz="1050" b="1">
                          <a:solidFill>
                            <a:srgbClr val="FFFFFF"/>
                          </a:solidFill>
                          <a:latin typeface="メイリオ"/>
                          <a:ea typeface="メイリオ"/>
                        </a:rPr>
                        <a:t>体験予約（再）</a:t>
                      </a:r>
                    </a:p>
                  </a:txBody>
                  <a:tcPr>
                    <a:solidFill>
                      <a:srgbClr val="1F2A5C"/>
                    </a:solidFill>
                  </a:tcPr>
                </a:tc>
                <a:tc>
                  <a:txBody>
                    <a:bodyPr/>
                    <a:lstStyle/>
                    <a:p>
                      <a:pPr algn="ctr"/>
                      <a:r>
                        <a:rPr sz="1050" b="0" dirty="0">
                          <a:solidFill>
                            <a:srgbClr val="1C2233"/>
                          </a:solidFill>
                          <a:latin typeface="メイリオ"/>
                          <a:ea typeface="メイリオ"/>
                        </a:rPr>
                        <a:t>【残3枠】今月の体験ご予約</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ounded Rectangle 4"/>
          <p:cNvSpPr/>
          <p:nvPr/>
        </p:nvSpPr>
        <p:spPr>
          <a:xfrm>
            <a:off x="384048"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① CV地点は1つ、オファーは3回</a:t>
            </a:r>
          </a:p>
          <a:p>
            <a:pPr algn="l">
              <a:spcBef>
                <a:spcPts val="200"/>
              </a:spcBef>
            </a:pPr>
            <a:r>
              <a:rPr sz="1100" b="0" dirty="0" err="1">
                <a:solidFill>
                  <a:srgbClr val="1C2233"/>
                </a:solidFill>
                <a:latin typeface="メイリオ"/>
                <a:ea typeface="メイリオ"/>
              </a:rPr>
              <a:t>CVは体験予約【CV</a:t>
            </a:r>
            <a:r>
              <a:rPr sz="1100" b="0" dirty="0">
                <a:solidFill>
                  <a:srgbClr val="1C2233"/>
                </a:solidFill>
                <a:latin typeface="メイリオ"/>
                <a:ea typeface="メイリオ"/>
              </a:rPr>
              <a:t>①】</a:t>
            </a:r>
            <a:r>
              <a:rPr sz="1100" b="0" dirty="0" err="1">
                <a:solidFill>
                  <a:srgbClr val="1C2233"/>
                </a:solidFill>
                <a:latin typeface="メイリオ"/>
                <a:ea typeface="メイリオ"/>
              </a:rPr>
              <a:t>のみ</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r>
              <a:rPr sz="1100" b="0" dirty="0">
                <a:solidFill>
                  <a:srgbClr val="1C2233"/>
                </a:solidFill>
                <a:latin typeface="メイリオ"/>
                <a:ea typeface="メイリオ"/>
              </a:rPr>
              <a:t>Day0・Day6・Day14の3回訴求し、1回で終わらせない。</a:t>
            </a:r>
          </a:p>
        </p:txBody>
      </p:sp>
      <p:sp>
        <p:nvSpPr>
          <p:cNvPr id="6" name="Rounded Rectangle 5"/>
          <p:cNvSpPr/>
          <p:nvPr/>
        </p:nvSpPr>
        <p:spPr>
          <a:xfrm>
            <a:off x="3383279"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② Day6に「迫りません」と書く</a:t>
            </a:r>
          </a:p>
          <a:p>
            <a:pPr algn="l">
              <a:spcBef>
                <a:spcPts val="200"/>
              </a:spcBef>
            </a:pPr>
            <a:r>
              <a:rPr sz="1100" b="0" dirty="0" err="1">
                <a:solidFill>
                  <a:srgbClr val="1C2233"/>
                </a:solidFill>
                <a:latin typeface="メイリオ"/>
                <a:ea typeface="メイリオ"/>
              </a:rPr>
              <a:t>押し売り拒絶への直接回答</a:t>
            </a:r>
            <a:r>
              <a:rPr sz="1100" b="0" dirty="0">
                <a:solidFill>
                  <a:srgbClr val="1C2233"/>
                </a:solidFill>
                <a:latin typeface="メイリオ"/>
                <a:ea typeface="メイリオ"/>
              </a:rPr>
              <a:t>。</a:t>
            </a:r>
            <a:r>
              <a:rPr lang="en-US" sz="1100" b="0" dirty="0">
                <a:solidFill>
                  <a:srgbClr val="1C2233"/>
                </a:solidFill>
                <a:latin typeface="メイリオ"/>
                <a:ea typeface="メイリオ"/>
              </a:rPr>
              <a:t>  </a:t>
            </a:r>
          </a:p>
          <a:p>
            <a:pPr algn="l">
              <a:spcBef>
                <a:spcPts val="200"/>
              </a:spcBef>
            </a:pPr>
            <a:r>
              <a:rPr sz="1100" b="0" dirty="0" err="1">
                <a:solidFill>
                  <a:srgbClr val="1C2233"/>
                </a:solidFill>
                <a:latin typeface="メイリオ"/>
                <a:ea typeface="メイリオ"/>
              </a:rPr>
              <a:t>この業界の最重要コピ</a:t>
            </a:r>
            <a:r>
              <a:rPr sz="1100" b="0" dirty="0">
                <a:solidFill>
                  <a:srgbClr val="1C2233"/>
                </a:solidFill>
                <a:latin typeface="メイリオ"/>
                <a:ea typeface="メイリオ"/>
              </a:rPr>
              <a:t>ー。</a:t>
            </a:r>
          </a:p>
        </p:txBody>
      </p:sp>
      <p:sp>
        <p:nvSpPr>
          <p:cNvPr id="7" name="Rounded Rectangle 6"/>
          <p:cNvSpPr/>
          <p:nvPr/>
        </p:nvSpPr>
        <p:spPr>
          <a:xfrm>
            <a:off x="6382512" y="5216435"/>
            <a:ext cx="2788920" cy="960120"/>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100" b="1" dirty="0">
                <a:solidFill>
                  <a:srgbClr val="1C2233"/>
                </a:solidFill>
                <a:latin typeface="メイリオ"/>
                <a:ea typeface="メイリオ"/>
              </a:rPr>
              <a:t>③ Day11で自ら「解約」に触れる</a:t>
            </a:r>
          </a:p>
          <a:p>
            <a:pPr algn="l">
              <a:spcBef>
                <a:spcPts val="200"/>
              </a:spcBef>
            </a:pPr>
            <a:r>
              <a:rPr sz="1100" b="0" dirty="0" err="1">
                <a:solidFill>
                  <a:srgbClr val="1C2233"/>
                </a:solidFill>
                <a:latin typeface="メイリオ"/>
                <a:ea typeface="メイリオ"/>
              </a:rPr>
              <a:t>隠すより先に出したほうが信頼される</a:t>
            </a:r>
            <a:r>
              <a:rPr sz="1100" b="0" dirty="0">
                <a:solidFill>
                  <a:srgbClr val="1C2233"/>
                </a:solidFill>
                <a:latin typeface="メイリオ"/>
                <a:ea typeface="メイリオ"/>
              </a:rPr>
              <a:t>。</a:t>
            </a:r>
          </a:p>
        </p:txBody>
      </p:sp>
      <p:sp>
        <p:nvSpPr>
          <p:cNvPr id="8" name="TextBox 7"/>
          <p:cNvSpPr txBox="1"/>
          <p:nvPr/>
        </p:nvSpPr>
        <p:spPr>
          <a:xfrm>
            <a:off x="384048" y="6267995"/>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Day15以降は「開始時期」セグメントの定常配信へ合流。予約者はステップから除外し、予約確定通知→前日リマインドへ分岐。</a:t>
            </a:r>
          </a:p>
        </p:txBody>
      </p:sp>
    </p:spTree>
    <p:extLst>
      <p:ext uri="{BB962C8B-B14F-4D97-AF65-F5344CB8AC3E}">
        <p14:creationId xmlns:p14="http://schemas.microsoft.com/office/powerpoint/2010/main" val="1098718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7200" y="108000"/>
            <a:ext cx="7920000" cy="363600"/>
          </a:xfrm>
          <a:prstGeom prst="rect">
            <a:avLst/>
          </a:prstGeom>
          <a:noFill/>
        </p:spPr>
        <p:txBody>
          <a:bodyPr wrap="square" lIns="36000" tIns="14400" rIns="36000" bIns="14400" anchor="ctr">
            <a:spAutoFit/>
          </a:bodyPr>
          <a:lstStyle/>
          <a:p>
            <a:pPr algn="l">
              <a:lnSpc>
                <a:spcPct val="125000"/>
              </a:lnSpc>
            </a:pPr>
            <a:r>
              <a:rPr sz="1600" b="1">
                <a:solidFill>
                  <a:srgbClr val="323366"/>
                </a:solidFill>
                <a:latin typeface="メイリオ"/>
                <a:ea typeface="メイリオ"/>
                <a:cs typeface="メイリオ"/>
              </a:rPr>
              <a:t>ステップ配信｜入会後14日で「やめない形」を作る</a:t>
            </a:r>
          </a:p>
        </p:txBody>
      </p:sp>
      <p:sp>
        <p:nvSpPr>
          <p:cNvPr id="3" name="TextBox 2"/>
          <p:cNvSpPr txBox="1"/>
          <p:nvPr/>
        </p:nvSpPr>
        <p:spPr>
          <a:xfrm>
            <a:off x="385200" y="730799"/>
            <a:ext cx="9133200" cy="432000"/>
          </a:xfrm>
          <a:prstGeom prst="rect">
            <a:avLst/>
          </a:prstGeom>
          <a:noFill/>
        </p:spPr>
        <p:txBody>
          <a:bodyPr wrap="square" lIns="0" tIns="14400" rIns="0" bIns="14400" anchor="ctr">
            <a:spAutoFit/>
          </a:bodyPr>
          <a:lstStyle/>
          <a:p>
            <a:pPr algn="l">
              <a:lnSpc>
                <a:spcPct val="125000"/>
              </a:lnSpc>
            </a:pPr>
            <a:r>
              <a:rPr sz="1400" b="1">
                <a:solidFill>
                  <a:srgbClr val="1A1A2E"/>
                </a:solidFill>
                <a:latin typeface="メイリオ"/>
                <a:ea typeface="メイリオ"/>
                <a:cs typeface="メイリオ"/>
              </a:rPr>
              <a:t>前後検索では、入会直後（＋1〜15日）に「効果が出るまで」「脂肪冷却 効果ない」「医療ダイエット」が立つ。</a:t>
            </a:r>
          </a:p>
          <a:p>
            <a:pPr algn="l">
              <a:lnSpc>
                <a:spcPct val="125000"/>
              </a:lnSpc>
            </a:pPr>
            <a:r>
              <a:rPr sz="1400" b="1">
                <a:solidFill>
                  <a:srgbClr val="C00000"/>
                </a:solidFill>
                <a:latin typeface="メイリオ"/>
                <a:ea typeface="メイリオ"/>
                <a:cs typeface="メイリオ"/>
              </a:rPr>
              <a:t>離脱は入会前ではなく、入会直後に始まっている。</a:t>
            </a:r>
          </a:p>
        </p:txBody>
      </p:sp>
      <p:graphicFrame>
        <p:nvGraphicFramePr>
          <p:cNvPr id="4" name="Table 3"/>
          <p:cNvGraphicFramePr>
            <a:graphicFrameLocks noGrp="1"/>
          </p:cNvGraphicFramePr>
          <p:nvPr/>
        </p:nvGraphicFramePr>
        <p:xfrm>
          <a:off x="385200" y="1386000"/>
          <a:ext cx="9143999" cy="2692800"/>
        </p:xfrm>
        <a:graphic>
          <a:graphicData uri="http://schemas.openxmlformats.org/drawingml/2006/table">
            <a:tbl>
              <a:tblPr firstRow="1" bandRow="1">
                <a:tableStyleId>{5C22544A-7EE6-4342-B048-85BDC9FD1C3A}</a:tableStyleId>
              </a:tblPr>
              <a:tblGrid>
                <a:gridCol w="827999">
                  <a:extLst>
                    <a:ext uri="{9D8B030D-6E8A-4147-A177-3AD203B41FA5}">
                      <a16:colId xmlns:a16="http://schemas.microsoft.com/office/drawing/2014/main" val="20000"/>
                    </a:ext>
                  </a:extLst>
                </a:gridCol>
                <a:gridCol w="1224000">
                  <a:extLst>
                    <a:ext uri="{9D8B030D-6E8A-4147-A177-3AD203B41FA5}">
                      <a16:colId xmlns:a16="http://schemas.microsoft.com/office/drawing/2014/main" val="20001"/>
                    </a:ext>
                  </a:extLst>
                </a:gridCol>
                <a:gridCol w="3816000">
                  <a:extLst>
                    <a:ext uri="{9D8B030D-6E8A-4147-A177-3AD203B41FA5}">
                      <a16:colId xmlns:a16="http://schemas.microsoft.com/office/drawing/2014/main" val="20002"/>
                    </a:ext>
                  </a:extLst>
                </a:gridCol>
                <a:gridCol w="1224000">
                  <a:extLst>
                    <a:ext uri="{9D8B030D-6E8A-4147-A177-3AD203B41FA5}">
                      <a16:colId xmlns:a16="http://schemas.microsoft.com/office/drawing/2014/main" val="20003"/>
                    </a:ext>
                  </a:extLst>
                </a:gridCol>
                <a:gridCol w="2052000">
                  <a:extLst>
                    <a:ext uri="{9D8B030D-6E8A-4147-A177-3AD203B41FA5}">
                      <a16:colId xmlns:a16="http://schemas.microsoft.com/office/drawing/2014/main" val="20004"/>
                    </a:ext>
                  </a:extLst>
                </a:gridCol>
              </a:tblGrid>
              <a:tr h="360000">
                <a:tc>
                  <a:txBody>
                    <a:bodyPr/>
                    <a:lstStyle/>
                    <a:p>
                      <a:pPr algn="ctr">
                        <a:lnSpc>
                          <a:spcPct val="115000"/>
                        </a:lnSpc>
                      </a:pPr>
                      <a:r>
                        <a:rPr sz="1200" b="1">
                          <a:solidFill>
                            <a:srgbClr val="FFFFFF"/>
                          </a:solidFill>
                          <a:latin typeface="メイリオ"/>
                          <a:ea typeface="メイリオ"/>
                          <a:cs typeface="メイリオ"/>
                        </a:rPr>
                        <a:t>日</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役割</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配信コンテンツ</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CTA</a:t>
                      </a:r>
                    </a:p>
                  </a:txBody>
                  <a:tcPr marL="50400" marR="50400" marT="21600" marB="21600" anchor="ctr">
                    <a:solidFill>
                      <a:srgbClr val="002060"/>
                    </a:solidFill>
                  </a:tcPr>
                </a:tc>
                <a:tc>
                  <a:txBody>
                    <a:bodyPr/>
                    <a:lstStyle/>
                    <a:p>
                      <a:pPr algn="ctr">
                        <a:lnSpc>
                          <a:spcPct val="115000"/>
                        </a:lnSpc>
                      </a:pPr>
                      <a:r>
                        <a:rPr sz="1200" b="1">
                          <a:solidFill>
                            <a:srgbClr val="FFFFFF"/>
                          </a:solidFill>
                          <a:latin typeface="メイリオ"/>
                          <a:ea typeface="メイリオ"/>
                          <a:cs typeface="メイリオ"/>
                        </a:rPr>
                        <a:t>通知プレビュー冒頭</a:t>
                      </a:r>
                    </a:p>
                  </a:txBody>
                  <a:tcPr marL="50400" marR="50400" marT="21600" marB="21600" anchor="ctr">
                    <a:solidFill>
                      <a:srgbClr val="002060"/>
                    </a:solidFill>
                  </a:tcPr>
                </a:tc>
                <a:extLst>
                  <a:ext uri="{0D108BD9-81ED-4DB2-BD59-A6C34878D82A}">
                    <a16:rowId xmlns:a16="http://schemas.microsoft.com/office/drawing/2014/main" val="10000"/>
                  </a:ext>
                </a:extLst>
              </a:tr>
              <a:tr h="583200">
                <a:tc>
                  <a:txBody>
                    <a:bodyPr/>
                    <a:lstStyle/>
                    <a:p>
                      <a:pPr algn="ctr">
                        <a:lnSpc>
                          <a:spcPct val="115000"/>
                        </a:lnSpc>
                      </a:pPr>
                      <a:r>
                        <a:rPr sz="1200" b="1">
                          <a:solidFill>
                            <a:srgbClr val="1A1A2E"/>
                          </a:solidFill>
                          <a:latin typeface="メイリオ"/>
                          <a:ea typeface="メイリオ"/>
                          <a:cs typeface="メイリオ"/>
                        </a:rPr>
                        <a:t>Day1</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迷わせない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持ち物5点（シューズ・ウェア・タオル・飲み物・鍵）＋最初の60分の型</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次回の来館予約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【はじめての日に】持っていくのは5つ</a:t>
                      </a:r>
                    </a:p>
                  </a:txBody>
                  <a:tcPr marL="50400" marR="50400" marT="21600" marB="21600" anchor="ctr">
                    <a:solidFill>
                      <a:srgbClr val="FFFFFF"/>
                    </a:solidFill>
                  </a:tcPr>
                </a:tc>
                <a:extLst>
                  <a:ext uri="{0D108BD9-81ED-4DB2-BD59-A6C34878D82A}">
                    <a16:rowId xmlns:a16="http://schemas.microsoft.com/office/drawing/2014/main" val="10001"/>
                  </a:ext>
                </a:extLst>
              </a:tr>
              <a:tr h="583200">
                <a:tc>
                  <a:txBody>
                    <a:bodyPr/>
                    <a:lstStyle/>
                    <a:p>
                      <a:pPr algn="ctr">
                        <a:lnSpc>
                          <a:spcPct val="115000"/>
                        </a:lnSpc>
                      </a:pPr>
                      <a:r>
                        <a:rPr sz="1200" b="1">
                          <a:solidFill>
                            <a:srgbClr val="1A1A2E"/>
                          </a:solidFill>
                          <a:latin typeface="メイリオ"/>
                          <a:ea typeface="メイリオ"/>
                          <a:cs typeface="メイリオ"/>
                        </a:rPr>
                        <a:t>Day5</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失敗させない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重すぎる重量から始めない／同じ部位は48〜72時間空ける／有酸素だけで終わらない</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フォームチェックを予約</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【やりがち】初心者の7つの落とし穴</a:t>
                      </a:r>
                    </a:p>
                  </a:txBody>
                  <a:tcPr marL="50400" marR="50400" marT="21600" marB="21600" anchor="ctr">
                    <a:solidFill>
                      <a:srgbClr val="F4F7FF"/>
                    </a:solidFill>
                  </a:tcPr>
                </a:tc>
                <a:extLst>
                  <a:ext uri="{0D108BD9-81ED-4DB2-BD59-A6C34878D82A}">
                    <a16:rowId xmlns:a16="http://schemas.microsoft.com/office/drawing/2014/main" val="10002"/>
                  </a:ext>
                </a:extLst>
              </a:tr>
              <a:tr h="583200">
                <a:tc>
                  <a:txBody>
                    <a:bodyPr/>
                    <a:lstStyle/>
                    <a:p>
                      <a:pPr algn="ctr">
                        <a:lnSpc>
                          <a:spcPct val="115000"/>
                        </a:lnSpc>
                      </a:pPr>
                      <a:r>
                        <a:rPr sz="1200" b="1">
                          <a:solidFill>
                            <a:srgbClr val="C00000"/>
                          </a:solidFill>
                          <a:latin typeface="メイリオ"/>
                          <a:ea typeface="メイリオ"/>
                          <a:cs typeface="メイリオ"/>
                        </a:rPr>
                        <a:t>Day7</a:t>
                      </a:r>
                    </a:p>
                  </a:txBody>
                  <a:tcPr marL="50400" marR="50400" marT="21600" marB="21600" anchor="ctr">
                    <a:solidFill>
                      <a:srgbClr val="FFFFFF"/>
                    </a:solidFill>
                  </a:tcPr>
                </a:tc>
                <a:tc>
                  <a:txBody>
                    <a:bodyPr/>
                    <a:lstStyle/>
                    <a:p>
                      <a:pPr algn="ctr">
                        <a:lnSpc>
                          <a:spcPct val="115000"/>
                        </a:lnSpc>
                      </a:pPr>
                      <a:r>
                        <a:rPr sz="1100" b="1">
                          <a:solidFill>
                            <a:srgbClr val="1A1A2E"/>
                          </a:solidFill>
                          <a:latin typeface="メイリオ"/>
                          <a:ea typeface="メイリオ"/>
                          <a:cs typeface="メイリオ"/>
                        </a:rPr>
                        <a:t>やめさせない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1週間＝むくみ／1ヶ月＝引き締まり／2〜3ヶ月＝見た目。体重が動くのは最後</a:t>
                      </a:r>
                    </a:p>
                  </a:txBody>
                  <a:tcPr marL="50400" marR="50400" marT="21600" marB="21600" anchor="ctr">
                    <a:solidFill>
                      <a:srgbClr val="FFFFFF"/>
                    </a:solidFill>
                  </a:tcPr>
                </a:tc>
                <a:tc>
                  <a:txBody>
                    <a:bodyPr/>
                    <a:lstStyle/>
                    <a:p>
                      <a:pPr algn="ctr">
                        <a:lnSpc>
                          <a:spcPct val="115000"/>
                        </a:lnSpc>
                      </a:pPr>
                      <a:r>
                        <a:rPr sz="1100" b="0">
                          <a:solidFill>
                            <a:srgbClr val="1A1A2E"/>
                          </a:solidFill>
                          <a:latin typeface="メイリオ"/>
                          <a:ea typeface="メイリオ"/>
                          <a:cs typeface="メイリオ"/>
                        </a:rPr>
                        <a:t>体組成測定を予約</a:t>
                      </a:r>
                    </a:p>
                  </a:txBody>
                  <a:tcPr marL="50400" marR="50400" marT="21600" marB="21600" anchor="ctr">
                    <a:solidFill>
                      <a:srgbClr val="FFFFFF"/>
                    </a:solidFill>
                  </a:tcPr>
                </a:tc>
                <a:tc>
                  <a:txBody>
                    <a:bodyPr/>
                    <a:lstStyle/>
                    <a:p>
                      <a:pPr algn="l">
                        <a:lnSpc>
                          <a:spcPct val="115000"/>
                        </a:lnSpc>
                      </a:pPr>
                      <a:r>
                        <a:rPr sz="1100" b="0">
                          <a:solidFill>
                            <a:srgbClr val="1A1A2E"/>
                          </a:solidFill>
                          <a:latin typeface="メイリオ"/>
                          <a:ea typeface="メイリオ"/>
                          <a:cs typeface="メイリオ"/>
                        </a:rPr>
                        <a:t>【1週目】体重が動かなくて正常です</a:t>
                      </a:r>
                    </a:p>
                  </a:txBody>
                  <a:tcPr marL="50400" marR="50400" marT="21600" marB="21600" anchor="ctr">
                    <a:solidFill>
                      <a:srgbClr val="FFFFFF"/>
                    </a:solidFill>
                  </a:tcPr>
                </a:tc>
                <a:extLst>
                  <a:ext uri="{0D108BD9-81ED-4DB2-BD59-A6C34878D82A}">
                    <a16:rowId xmlns:a16="http://schemas.microsoft.com/office/drawing/2014/main" val="10003"/>
                  </a:ext>
                </a:extLst>
              </a:tr>
              <a:tr h="583200">
                <a:tc>
                  <a:txBody>
                    <a:bodyPr/>
                    <a:lstStyle/>
                    <a:p>
                      <a:pPr algn="ctr">
                        <a:lnSpc>
                          <a:spcPct val="115000"/>
                        </a:lnSpc>
                      </a:pPr>
                      <a:r>
                        <a:rPr sz="1200" b="1">
                          <a:solidFill>
                            <a:srgbClr val="C00000"/>
                          </a:solidFill>
                          <a:latin typeface="メイリオ"/>
                          <a:ea typeface="メイリオ"/>
                          <a:cs typeface="メイリオ"/>
                        </a:rPr>
                        <a:t>Day14</a:t>
                      </a:r>
                    </a:p>
                  </a:txBody>
                  <a:tcPr marL="50400" marR="50400" marT="21600" marB="21600" anchor="ctr">
                    <a:solidFill>
                      <a:srgbClr val="F4F7FF"/>
                    </a:solidFill>
                  </a:tcPr>
                </a:tc>
                <a:tc>
                  <a:txBody>
                    <a:bodyPr/>
                    <a:lstStyle/>
                    <a:p>
                      <a:pPr algn="ctr">
                        <a:lnSpc>
                          <a:spcPct val="115000"/>
                        </a:lnSpc>
                      </a:pPr>
                      <a:r>
                        <a:rPr sz="1100" b="1">
                          <a:solidFill>
                            <a:srgbClr val="1A1A2E"/>
                          </a:solidFill>
                          <a:latin typeface="メイリオ"/>
                          <a:ea typeface="メイリオ"/>
                          <a:cs typeface="メイリオ"/>
                        </a:rPr>
                        <a:t>戻れるようにする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1週間空くと筋力は落ちる。でも1回サボってもOK。戻り方を先に決めておく</a:t>
                      </a:r>
                    </a:p>
                  </a:txBody>
                  <a:tcPr marL="50400" marR="50400" marT="21600" marB="21600" anchor="ctr">
                    <a:solidFill>
                      <a:srgbClr val="F4F7FF"/>
                    </a:solidFill>
                  </a:tcPr>
                </a:tc>
                <a:tc>
                  <a:txBody>
                    <a:bodyPr/>
                    <a:lstStyle/>
                    <a:p>
                      <a:pPr algn="ctr">
                        <a:lnSpc>
                          <a:spcPct val="115000"/>
                        </a:lnSpc>
                      </a:pPr>
                      <a:r>
                        <a:rPr sz="1100" b="0">
                          <a:solidFill>
                            <a:srgbClr val="1A1A2E"/>
                          </a:solidFill>
                          <a:latin typeface="メイリオ"/>
                          <a:ea typeface="メイリオ"/>
                          <a:cs typeface="メイリオ"/>
                        </a:rPr>
                        <a:t>お友だち紹介</a:t>
                      </a:r>
                    </a:p>
                  </a:txBody>
                  <a:tcPr marL="50400" marR="50400" marT="21600" marB="21600" anchor="ctr">
                    <a:solidFill>
                      <a:srgbClr val="F4F7FF"/>
                    </a:solidFill>
                  </a:tcPr>
                </a:tc>
                <a:tc>
                  <a:txBody>
                    <a:bodyPr/>
                    <a:lstStyle/>
                    <a:p>
                      <a:pPr algn="l">
                        <a:lnSpc>
                          <a:spcPct val="115000"/>
                        </a:lnSpc>
                      </a:pPr>
                      <a:r>
                        <a:rPr sz="1100" b="0">
                          <a:solidFill>
                            <a:srgbClr val="1A1A2E"/>
                          </a:solidFill>
                          <a:latin typeface="メイリオ"/>
                          <a:ea typeface="メイリオ"/>
                          <a:cs typeface="メイリオ"/>
                        </a:rPr>
                        <a:t>【2週間おつかれさまです】</a:t>
                      </a:r>
                    </a:p>
                  </a:txBody>
                  <a:tcPr marL="50400" marR="50400" marT="21600" marB="21600"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3852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60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① 効くのはCV③</a:t>
            </a:r>
          </a:p>
        </p:txBody>
      </p:sp>
      <p:sp>
        <p:nvSpPr>
          <p:cNvPr id="7" name="TextBox 6"/>
          <p:cNvSpPr txBox="1"/>
          <p:nvPr/>
        </p:nvSpPr>
        <p:spPr>
          <a:xfrm>
            <a:off x="4860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入会前（前ページ）がCV①②を取り、</a:t>
            </a:r>
          </a:p>
          <a:p>
            <a:pPr algn="l">
              <a:lnSpc>
                <a:spcPct val="125000"/>
              </a:lnSpc>
            </a:pPr>
            <a:r>
              <a:rPr sz="1100" b="0">
                <a:solidFill>
                  <a:srgbClr val="1A1A2E"/>
                </a:solidFill>
                <a:latin typeface="メイリオ"/>
                <a:ea typeface="メイリオ"/>
                <a:cs typeface="メイリオ"/>
              </a:rPr>
              <a:t>この4通がCV③を守る。</a:t>
            </a:r>
          </a:p>
        </p:txBody>
      </p:sp>
      <p:sp>
        <p:nvSpPr>
          <p:cNvPr id="8" name="Rounded Rectangle 7"/>
          <p:cNvSpPr/>
          <p:nvPr/>
        </p:nvSpPr>
        <p:spPr>
          <a:xfrm>
            <a:off x="33840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848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② Day7とDay14が本体</a:t>
            </a:r>
          </a:p>
        </p:txBody>
      </p:sp>
      <p:sp>
        <p:nvSpPr>
          <p:cNvPr id="10" name="TextBox 9"/>
          <p:cNvSpPr txBox="1"/>
          <p:nvPr/>
        </p:nvSpPr>
        <p:spPr>
          <a:xfrm>
            <a:off x="34848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前後検索で「効果への不安」が</a:t>
            </a:r>
          </a:p>
          <a:p>
            <a:pPr algn="l">
              <a:lnSpc>
                <a:spcPct val="125000"/>
              </a:lnSpc>
            </a:pPr>
            <a:r>
              <a:rPr sz="1100" b="0">
                <a:solidFill>
                  <a:srgbClr val="1A1A2E"/>
                </a:solidFill>
                <a:latin typeface="メイリオ"/>
                <a:ea typeface="メイリオ"/>
                <a:cs typeface="メイリオ"/>
              </a:rPr>
              <a:t>＋1〜15日に立つ。先回りして送る。</a:t>
            </a:r>
          </a:p>
        </p:txBody>
      </p:sp>
      <p:sp>
        <p:nvSpPr>
          <p:cNvPr id="11" name="Rounded Rectangle 10"/>
          <p:cNvSpPr/>
          <p:nvPr/>
        </p:nvSpPr>
        <p:spPr>
          <a:xfrm>
            <a:off x="6382800" y="4428000"/>
            <a:ext cx="2790000" cy="917999"/>
          </a:xfrm>
          <a:prstGeom prst="roundRect">
            <a:avLst>
              <a:gd name="adj" fmla="val 10000"/>
            </a:avLst>
          </a:prstGeom>
          <a:solidFill>
            <a:srgbClr val="F4F7FF"/>
          </a:solidFill>
          <a:ln w="12700">
            <a:solidFill>
              <a:srgbClr val="D8D8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83600" y="4500000"/>
            <a:ext cx="2588400" cy="259200"/>
          </a:xfrm>
          <a:prstGeom prst="rect">
            <a:avLst/>
          </a:prstGeom>
          <a:noFill/>
        </p:spPr>
        <p:txBody>
          <a:bodyPr wrap="square" lIns="0" tIns="14400" rIns="0" bIns="14400" anchor="ctr">
            <a:spAutoFit/>
          </a:bodyPr>
          <a:lstStyle/>
          <a:p>
            <a:pPr algn="l">
              <a:lnSpc>
                <a:spcPct val="125000"/>
              </a:lnSpc>
            </a:pPr>
            <a:r>
              <a:rPr sz="1200" b="1">
                <a:solidFill>
                  <a:srgbClr val="002060"/>
                </a:solidFill>
                <a:latin typeface="メイリオ"/>
                <a:ea typeface="メイリオ"/>
                <a:cs typeface="メイリオ"/>
              </a:rPr>
              <a:t>③ 数値は「一般的な目安」と添える</a:t>
            </a:r>
          </a:p>
        </p:txBody>
      </p:sp>
      <p:sp>
        <p:nvSpPr>
          <p:cNvPr id="13" name="TextBox 12"/>
          <p:cNvSpPr txBox="1"/>
          <p:nvPr/>
        </p:nvSpPr>
        <p:spPr>
          <a:xfrm>
            <a:off x="6483600" y="4780800"/>
            <a:ext cx="2588400" cy="493199"/>
          </a:xfrm>
          <a:prstGeom prst="rect">
            <a:avLst/>
          </a:prstGeom>
          <a:noFill/>
        </p:spPr>
        <p:txBody>
          <a:bodyPr wrap="square" lIns="0" tIns="14400" rIns="0" bIns="14400" anchor="t">
            <a:spAutoFit/>
          </a:bodyPr>
          <a:lstStyle/>
          <a:p>
            <a:pPr algn="l">
              <a:lnSpc>
                <a:spcPct val="125000"/>
              </a:lnSpc>
            </a:pPr>
            <a:r>
              <a:rPr sz="1100" b="0">
                <a:solidFill>
                  <a:srgbClr val="1A1A2E"/>
                </a:solidFill>
                <a:latin typeface="メイリオ"/>
                <a:ea typeface="メイリオ"/>
                <a:cs typeface="メイリオ"/>
              </a:rPr>
              <a:t>出典を明記できない業界数値は</a:t>
            </a:r>
          </a:p>
          <a:p>
            <a:pPr algn="l">
              <a:lnSpc>
                <a:spcPct val="125000"/>
              </a:lnSpc>
            </a:pPr>
            <a:r>
              <a:rPr sz="1100" b="0">
                <a:solidFill>
                  <a:srgbClr val="1A1A2E"/>
                </a:solidFill>
                <a:latin typeface="メイリオ"/>
                <a:ea typeface="メイリオ"/>
                <a:cs typeface="メイリオ"/>
              </a:rPr>
              <a:t>断定しない。</a:t>
            </a:r>
          </a:p>
        </p:txBody>
      </p:sp>
      <p:sp>
        <p:nvSpPr>
          <p:cNvPr id="14" name="TextBox 13"/>
          <p:cNvSpPr txBox="1"/>
          <p:nvPr/>
        </p:nvSpPr>
        <p:spPr>
          <a:xfrm>
            <a:off x="385200" y="5490000"/>
            <a:ext cx="9133200" cy="360000"/>
          </a:xfrm>
          <a:prstGeom prst="rect">
            <a:avLst/>
          </a:prstGeom>
          <a:noFill/>
        </p:spPr>
        <p:txBody>
          <a:bodyPr wrap="square" lIns="0" tIns="14400" rIns="0" bIns="14400" anchor="ctr">
            <a:spAutoFit/>
          </a:bodyPr>
          <a:lstStyle/>
          <a:p>
            <a:pPr algn="ctr">
              <a:lnSpc>
                <a:spcPct val="125000"/>
              </a:lnSpc>
            </a:pPr>
            <a:r>
              <a:rPr sz="1400" b="1">
                <a:solidFill>
                  <a:srgbClr val="C00000"/>
                </a:solidFill>
                <a:latin typeface="メイリオ"/>
                <a:ea typeface="メイリオ"/>
                <a:cs typeface="メイリオ"/>
              </a:rPr>
              <a:t>入会前の14日で予約を取り、入会後の14日で「やめない形」を作る。この2本で1セット。</a:t>
            </a:r>
          </a:p>
        </p:txBody>
      </p:sp>
      <p:sp>
        <p:nvSpPr>
          <p:cNvPr id="15" name="TextBox 14"/>
          <p:cNvSpPr txBox="1"/>
          <p:nvPr/>
        </p:nvSpPr>
        <p:spPr>
          <a:xfrm>
            <a:off x="385200" y="5940000"/>
            <a:ext cx="9133200" cy="503999"/>
          </a:xfrm>
          <a:prstGeom prst="rect">
            <a:avLst/>
          </a:prstGeom>
          <a:noFill/>
        </p:spPr>
        <p:txBody>
          <a:bodyPr wrap="square" lIns="0" tIns="14400" rIns="0" bIns="14400" anchor="t">
            <a:spAutoFit/>
          </a:bodyPr>
          <a:lstStyle/>
          <a:p>
            <a:pPr algn="l">
              <a:lnSpc>
                <a:spcPct val="125000"/>
              </a:lnSpc>
            </a:pPr>
            <a:r>
              <a:rPr sz="900" b="0">
                <a:solidFill>
                  <a:srgbClr val="5A5A72"/>
                </a:solidFill>
                <a:latin typeface="メイリオ"/>
                <a:ea typeface="メイリオ"/>
                <a:cs typeface="メイリオ"/>
              </a:rPr>
              <a:t>※ 配信内容の数値（週2〜3回・48〜72時間・タンパク質20〜30g・効果の出る時期など）は一般的な目安です。</a:t>
            </a:r>
          </a:p>
          <a:p>
            <a:pPr algn="l">
              <a:lnSpc>
                <a:spcPct val="125000"/>
              </a:lnSpc>
            </a:pPr>
            <a:r>
              <a:rPr sz="900" b="0">
                <a:solidFill>
                  <a:srgbClr val="5A5A72"/>
                </a:solidFill>
                <a:latin typeface="メイリオ"/>
                <a:ea typeface="メイリオ"/>
                <a:cs typeface="メイリオ"/>
              </a:rPr>
              <a:t>※ CV③＝友だち紹介・PT／物販の申込。継続率・在籍月数はLINE側では計測できないため、貴社の会員管理システムのデータで前後比較いたします。</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リッチメニュー設計案｜3タブ × 6枠</a:t>
            </a:r>
          </a:p>
        </p:txBody>
      </p:sp>
      <p:sp>
        <p:nvSpPr>
          <p:cNvPr id="3" name="TextBox 2"/>
          <p:cNvSpPr txBox="1"/>
          <p:nvPr/>
        </p:nvSpPr>
        <p:spPr>
          <a:xfrm>
            <a:off x="384048" y="731520"/>
            <a:ext cx="9134856" cy="310896"/>
          </a:xfrm>
          <a:prstGeom prst="rect">
            <a:avLst/>
          </a:prstGeom>
          <a:noFill/>
        </p:spPr>
        <p:txBody>
          <a:bodyPr wrap="square" lIns="0" tIns="0" rIns="0" bIns="0">
            <a:spAutoFit/>
          </a:bodyPr>
          <a:lstStyle/>
          <a:p>
            <a:r>
              <a:rPr sz="1500" b="0">
                <a:solidFill>
                  <a:srgbClr val="646C82"/>
                </a:solidFill>
                <a:latin typeface="メイリオ"/>
                <a:ea typeface="メイリオ"/>
              </a:rPr>
              <a:t>「見学前」「迷い中」「会員」で、見せる画面を変える。入会後もLINEを使ってもらう。</a:t>
            </a:r>
          </a:p>
        </p:txBody>
      </p:sp>
      <p:sp>
        <p:nvSpPr>
          <p:cNvPr id="4" name="Rounded Rectangle 3"/>
          <p:cNvSpPr/>
          <p:nvPr/>
        </p:nvSpPr>
        <p:spPr>
          <a:xfrm>
            <a:off x="384048"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6" name="Rounded Rectangle 5"/>
          <p:cNvSpPr/>
          <p:nvPr/>
        </p:nvSpPr>
        <p:spPr>
          <a:xfrm>
            <a:off x="385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無料体験を予約</a:t>
            </a:r>
          </a:p>
          <a:p>
            <a:pPr algn="ctr">
              <a:spcBef>
                <a:spcPts val="200"/>
              </a:spcBef>
            </a:pPr>
            <a:r>
              <a:rPr sz="1000" b="0">
                <a:solidFill>
                  <a:srgbClr val="1C2233"/>
                </a:solidFill>
                <a:latin typeface="メイリオ"/>
                <a:ea typeface="メイリオ"/>
              </a:rPr>
              <a:t>最重要CTA</a:t>
            </a:r>
          </a:p>
        </p:txBody>
      </p:sp>
      <p:sp>
        <p:nvSpPr>
          <p:cNvPr id="7" name="Rounded Rectangle 6"/>
          <p:cNvSpPr/>
          <p:nvPr/>
        </p:nvSpPr>
        <p:spPr>
          <a:xfrm>
            <a:off x="1328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店舗を探す</a:t>
            </a:r>
          </a:p>
          <a:p>
            <a:pPr algn="ctr">
              <a:spcBef>
                <a:spcPts val="200"/>
              </a:spcBef>
            </a:pPr>
            <a:r>
              <a:rPr sz="1000" b="0">
                <a:solidFill>
                  <a:srgbClr val="1C2233"/>
                </a:solidFill>
                <a:latin typeface="メイリオ"/>
                <a:ea typeface="メイリオ"/>
              </a:rPr>
              <a:t>立地が決め手</a:t>
            </a:r>
          </a:p>
        </p:txBody>
      </p:sp>
      <p:sp>
        <p:nvSpPr>
          <p:cNvPr id="8" name="Rounded Rectangle 7"/>
          <p:cNvSpPr/>
          <p:nvPr/>
        </p:nvSpPr>
        <p:spPr>
          <a:xfrm>
            <a:off x="22716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設備・マシン</a:t>
            </a:r>
          </a:p>
          <a:p>
            <a:pPr algn="ctr">
              <a:spcBef>
                <a:spcPts val="200"/>
              </a:spcBef>
            </a:pPr>
            <a:r>
              <a:rPr sz="1000" b="0">
                <a:solidFill>
                  <a:srgbClr val="1C2233"/>
                </a:solidFill>
                <a:latin typeface="メイリオ"/>
                <a:ea typeface="メイリオ"/>
              </a:rPr>
              <a:t>使えるか不安</a:t>
            </a:r>
          </a:p>
        </p:txBody>
      </p:sp>
      <p:sp>
        <p:nvSpPr>
          <p:cNvPr id="9" name="Rounded Rectangle 8"/>
          <p:cNvSpPr/>
          <p:nvPr/>
        </p:nvSpPr>
        <p:spPr>
          <a:xfrm>
            <a:off x="385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料金プラン</a:t>
            </a:r>
          </a:p>
          <a:p>
            <a:pPr algn="ctr">
              <a:spcBef>
                <a:spcPts val="200"/>
              </a:spcBef>
            </a:pPr>
            <a:r>
              <a:rPr sz="1000" b="0">
                <a:solidFill>
                  <a:srgbClr val="1C2233"/>
                </a:solidFill>
                <a:latin typeface="メイリオ"/>
                <a:ea typeface="メイリオ"/>
              </a:rPr>
              <a:t>隠さない</a:t>
            </a:r>
          </a:p>
        </p:txBody>
      </p:sp>
      <p:sp>
        <p:nvSpPr>
          <p:cNvPr id="10" name="Rounded Rectangle 9"/>
          <p:cNvSpPr/>
          <p:nvPr/>
        </p:nvSpPr>
        <p:spPr>
          <a:xfrm>
            <a:off x="1328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24時間の使い方</a:t>
            </a:r>
          </a:p>
          <a:p>
            <a:pPr algn="ctr">
              <a:spcBef>
                <a:spcPts val="200"/>
              </a:spcBef>
            </a:pPr>
            <a:r>
              <a:rPr sz="1000" b="0">
                <a:solidFill>
                  <a:srgbClr val="1C2233"/>
                </a:solidFill>
                <a:latin typeface="メイリオ"/>
                <a:ea typeface="メイリオ"/>
              </a:rPr>
              <a:t>無人帯の不安</a:t>
            </a:r>
          </a:p>
        </p:txBody>
      </p:sp>
      <p:sp>
        <p:nvSpPr>
          <p:cNvPr id="11" name="Rounded Rectangle 10"/>
          <p:cNvSpPr/>
          <p:nvPr/>
        </p:nvSpPr>
        <p:spPr>
          <a:xfrm>
            <a:off x="22716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アクセス・駐車場</a:t>
            </a:r>
          </a:p>
          <a:p>
            <a:pPr algn="ctr">
              <a:spcBef>
                <a:spcPts val="200"/>
              </a:spcBef>
            </a:pPr>
            <a:r>
              <a:rPr sz="1000" b="0">
                <a:solidFill>
                  <a:srgbClr val="1C2233"/>
                </a:solidFill>
                <a:latin typeface="メイリオ"/>
                <a:ea typeface="メイリオ"/>
              </a:rPr>
              <a:t>直前の実務</a:t>
            </a:r>
          </a:p>
        </p:txBody>
      </p:sp>
      <p:sp>
        <p:nvSpPr>
          <p:cNvPr id="12" name="Rounded Rectangle 11"/>
          <p:cNvSpPr/>
          <p:nvPr/>
        </p:nvSpPr>
        <p:spPr>
          <a:xfrm>
            <a:off x="3383279"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14" name="Rounded Rectangle 13"/>
          <p:cNvSpPr/>
          <p:nvPr/>
        </p:nvSpPr>
        <p:spPr>
          <a:xfrm>
            <a:off x="3384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30秒 体づくり診断</a:t>
            </a:r>
          </a:p>
          <a:p>
            <a:pPr algn="ctr">
              <a:spcBef>
                <a:spcPts val="200"/>
              </a:spcBef>
            </a:pPr>
            <a:r>
              <a:rPr sz="1000" b="0">
                <a:solidFill>
                  <a:srgbClr val="1C2233"/>
                </a:solidFill>
                <a:latin typeface="メイリオ"/>
                <a:ea typeface="メイリオ"/>
              </a:rPr>
              <a:t>属性取得の本体</a:t>
            </a:r>
          </a:p>
        </p:txBody>
      </p:sp>
      <p:sp>
        <p:nvSpPr>
          <p:cNvPr id="15" name="Rounded Rectangle 14"/>
          <p:cNvSpPr/>
          <p:nvPr/>
        </p:nvSpPr>
        <p:spPr>
          <a:xfrm>
            <a:off x="4327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1分 料金診断</a:t>
            </a:r>
          </a:p>
          <a:p>
            <a:pPr algn="ctr">
              <a:spcBef>
                <a:spcPts val="200"/>
              </a:spcBef>
            </a:pPr>
            <a:r>
              <a:rPr sz="1000" b="0">
                <a:solidFill>
                  <a:srgbClr val="1C2233"/>
                </a:solidFill>
                <a:latin typeface="メイリオ"/>
                <a:ea typeface="メイリオ"/>
              </a:rPr>
              <a:t>1回あたりで見せる</a:t>
            </a:r>
          </a:p>
        </p:txBody>
      </p:sp>
      <p:sp>
        <p:nvSpPr>
          <p:cNvPr id="16" name="Rounded Rectangle 15"/>
          <p:cNvSpPr/>
          <p:nvPr/>
        </p:nvSpPr>
        <p:spPr>
          <a:xfrm>
            <a:off x="52704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初心者メニュー</a:t>
            </a:r>
          </a:p>
          <a:p>
            <a:pPr algn="ctr">
              <a:spcBef>
                <a:spcPts val="200"/>
              </a:spcBef>
            </a:pPr>
            <a:r>
              <a:rPr sz="1000" b="0">
                <a:solidFill>
                  <a:srgbClr val="1C2233"/>
                </a:solidFill>
                <a:latin typeface="メイリオ"/>
                <a:ea typeface="メイリオ"/>
              </a:rPr>
              <a:t>最多の不安</a:t>
            </a:r>
          </a:p>
        </p:txBody>
      </p:sp>
      <p:sp>
        <p:nvSpPr>
          <p:cNvPr id="17" name="Rounded Rectangle 16"/>
          <p:cNvSpPr/>
          <p:nvPr/>
        </p:nvSpPr>
        <p:spPr>
          <a:xfrm>
            <a:off x="3384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続けられるか診断</a:t>
            </a:r>
          </a:p>
          <a:p>
            <a:pPr algn="ctr">
              <a:spcBef>
                <a:spcPts val="200"/>
              </a:spcBef>
            </a:pPr>
            <a:r>
              <a:rPr sz="1000" b="0">
                <a:solidFill>
                  <a:srgbClr val="1C2233"/>
                </a:solidFill>
                <a:latin typeface="メイリオ"/>
                <a:ea typeface="メイリオ"/>
              </a:rPr>
              <a:t>「続かない」に直撃</a:t>
            </a:r>
          </a:p>
        </p:txBody>
      </p:sp>
      <p:sp>
        <p:nvSpPr>
          <p:cNvPr id="18" name="Rounded Rectangle 17"/>
          <p:cNvSpPr/>
          <p:nvPr/>
        </p:nvSpPr>
        <p:spPr>
          <a:xfrm>
            <a:off x="4327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よくある質問</a:t>
            </a:r>
          </a:p>
          <a:p>
            <a:pPr algn="ctr">
              <a:spcBef>
                <a:spcPts val="200"/>
              </a:spcBef>
            </a:pPr>
            <a:r>
              <a:rPr sz="1000" b="0">
                <a:solidFill>
                  <a:srgbClr val="1C2233"/>
                </a:solidFill>
                <a:latin typeface="メイリオ"/>
                <a:ea typeface="メイリオ"/>
              </a:rPr>
              <a:t>勧誘・解約</a:t>
            </a:r>
          </a:p>
        </p:txBody>
      </p:sp>
      <p:sp>
        <p:nvSpPr>
          <p:cNvPr id="19" name="Rounded Rectangle 18"/>
          <p:cNvSpPr/>
          <p:nvPr/>
        </p:nvSpPr>
        <p:spPr>
          <a:xfrm>
            <a:off x="52704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チャットで相談</a:t>
            </a:r>
          </a:p>
          <a:p>
            <a:pPr algn="ctr">
              <a:spcBef>
                <a:spcPts val="200"/>
              </a:spcBef>
            </a:pPr>
            <a:r>
              <a:rPr sz="1000" b="0">
                <a:solidFill>
                  <a:srgbClr val="1C2233"/>
                </a:solidFill>
                <a:latin typeface="メイリオ"/>
                <a:ea typeface="メイリオ"/>
              </a:rPr>
              <a:t>有人への逃げ道</a:t>
            </a:r>
          </a:p>
        </p:txBody>
      </p:sp>
      <p:sp>
        <p:nvSpPr>
          <p:cNvPr id="20" name="Rounded Rectangle 19"/>
          <p:cNvSpPr/>
          <p:nvPr/>
        </p:nvSpPr>
        <p:spPr>
          <a:xfrm>
            <a:off x="6382512" y="1234440"/>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1764792"/>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2" name="Rounded Rectangle 21"/>
          <p:cNvSpPr/>
          <p:nvPr/>
        </p:nvSpPr>
        <p:spPr>
          <a:xfrm>
            <a:off x="63828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会員コード</a:t>
            </a:r>
          </a:p>
          <a:p>
            <a:pPr algn="ctr">
              <a:spcBef>
                <a:spcPts val="200"/>
              </a:spcBef>
            </a:pPr>
            <a:r>
              <a:rPr sz="1000" b="0">
                <a:solidFill>
                  <a:srgbClr val="1C2233"/>
                </a:solidFill>
                <a:latin typeface="メイリオ"/>
                <a:ea typeface="メイリオ"/>
              </a:rPr>
              <a:t>毎日開く理由</a:t>
            </a:r>
          </a:p>
        </p:txBody>
      </p:sp>
      <p:sp>
        <p:nvSpPr>
          <p:cNvPr id="23" name="Rounded Rectangle 22"/>
          <p:cNvSpPr/>
          <p:nvPr/>
        </p:nvSpPr>
        <p:spPr>
          <a:xfrm>
            <a:off x="73260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レッスン予約</a:t>
            </a:r>
          </a:p>
          <a:p>
            <a:pPr algn="ctr">
              <a:spcBef>
                <a:spcPts val="200"/>
              </a:spcBef>
            </a:pPr>
            <a:r>
              <a:rPr sz="1000" b="0">
                <a:solidFill>
                  <a:srgbClr val="1C2233"/>
                </a:solidFill>
                <a:latin typeface="メイリオ"/>
                <a:ea typeface="メイリオ"/>
              </a:rPr>
              <a:t>来館の動機</a:t>
            </a:r>
          </a:p>
        </p:txBody>
      </p:sp>
      <p:sp>
        <p:nvSpPr>
          <p:cNvPr id="24" name="Rounded Rectangle 23"/>
          <p:cNvSpPr/>
          <p:nvPr/>
        </p:nvSpPr>
        <p:spPr>
          <a:xfrm>
            <a:off x="8269200" y="2012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トレーニング記録</a:t>
            </a:r>
          </a:p>
          <a:p>
            <a:pPr algn="ctr">
              <a:spcBef>
                <a:spcPts val="200"/>
              </a:spcBef>
            </a:pPr>
            <a:r>
              <a:rPr sz="1000" b="0">
                <a:solidFill>
                  <a:srgbClr val="1C2233"/>
                </a:solidFill>
                <a:latin typeface="メイリオ"/>
                <a:ea typeface="メイリオ"/>
              </a:rPr>
              <a:t>継続の可視化</a:t>
            </a:r>
          </a:p>
        </p:txBody>
      </p:sp>
      <p:sp>
        <p:nvSpPr>
          <p:cNvPr id="25" name="Rounded Rectangle 24"/>
          <p:cNvSpPr/>
          <p:nvPr/>
        </p:nvSpPr>
        <p:spPr>
          <a:xfrm>
            <a:off x="63828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混雑状況</a:t>
            </a:r>
          </a:p>
          <a:p>
            <a:pPr algn="ctr">
              <a:spcBef>
                <a:spcPts val="200"/>
              </a:spcBef>
            </a:pPr>
            <a:r>
              <a:rPr sz="1000" b="0">
                <a:solidFill>
                  <a:srgbClr val="1C2233"/>
                </a:solidFill>
                <a:latin typeface="メイリオ"/>
                <a:ea typeface="メイリオ"/>
              </a:rPr>
              <a:t>来館ハードル減</a:t>
            </a:r>
          </a:p>
        </p:txBody>
      </p:sp>
      <p:sp>
        <p:nvSpPr>
          <p:cNvPr id="26" name="Rounded Rectangle 25"/>
          <p:cNvSpPr/>
          <p:nvPr/>
        </p:nvSpPr>
        <p:spPr>
          <a:xfrm>
            <a:off x="73260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お友達紹介</a:t>
            </a:r>
          </a:p>
          <a:p>
            <a:pPr algn="ctr">
              <a:spcBef>
                <a:spcPts val="200"/>
              </a:spcBef>
            </a:pPr>
            <a:r>
              <a:rPr sz="1000" b="0">
                <a:solidFill>
                  <a:srgbClr val="1C2233"/>
                </a:solidFill>
                <a:latin typeface="メイリオ"/>
                <a:ea typeface="メイリオ"/>
              </a:rPr>
              <a:t>CV③・ゼロコスト</a:t>
            </a:r>
          </a:p>
        </p:txBody>
      </p:sp>
      <p:sp>
        <p:nvSpPr>
          <p:cNvPr id="27" name="Rounded Rectangle 26"/>
          <p:cNvSpPr/>
          <p:nvPr/>
        </p:nvSpPr>
        <p:spPr>
          <a:xfrm>
            <a:off x="8269200" y="3380400"/>
            <a:ext cx="900000" cy="1260000"/>
          </a:xfrm>
          <a:prstGeom prst="roundRect">
            <a:avLst/>
          </a:prstGeom>
          <a:solidFill>
            <a:srgbClr val="EFF1F7"/>
          </a:solidFill>
          <a:ln w="9525">
            <a:solidFill>
              <a:srgbClr val="7A83A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0">
                <a:solidFill>
                  <a:srgbClr val="1C2233"/>
                </a:solidFill>
                <a:latin typeface="メイリオ"/>
                <a:ea typeface="メイリオ"/>
              </a:rPr>
              <a:t>休会・退会</a:t>
            </a:r>
          </a:p>
          <a:p>
            <a:pPr algn="ctr">
              <a:spcBef>
                <a:spcPts val="200"/>
              </a:spcBef>
            </a:pPr>
            <a:r>
              <a:rPr sz="1000" b="0">
                <a:solidFill>
                  <a:srgbClr val="1C2233"/>
                </a:solidFill>
                <a:latin typeface="メイリオ"/>
                <a:ea typeface="メイリオ"/>
              </a:rPr>
              <a:t>隠さない＝信頼</a:t>
            </a:r>
          </a:p>
        </p:txBody>
      </p:sp>
      <p:sp>
        <p:nvSpPr>
          <p:cNvPr id="29" name="Rectangle 28"/>
          <p:cNvSpPr/>
          <p:nvPr/>
        </p:nvSpPr>
        <p:spPr>
          <a:xfrm>
            <a:off x="429768" y="5413247"/>
            <a:ext cx="9089136" cy="566929"/>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71500" y="5504687"/>
            <a:ext cx="8814816" cy="430887"/>
          </a:xfrm>
          <a:prstGeom prst="rect">
            <a:avLst/>
          </a:prstGeom>
          <a:noFill/>
        </p:spPr>
        <p:txBody>
          <a:bodyPr wrap="square" lIns="0" tIns="0" rIns="0" bIns="0">
            <a:spAutoFit/>
          </a:bodyPr>
          <a:lstStyle/>
          <a:p>
            <a:r>
              <a:rPr sz="1400" b="0" dirty="0">
                <a:solidFill>
                  <a:srgbClr val="1C2233"/>
                </a:solidFill>
                <a:latin typeface="メイリオ"/>
                <a:ea typeface="メイリオ"/>
              </a:rPr>
              <a:t>実装はLINEリッチメニュー大サイズ（2500×1686px）／3列×2行（1マス833×843px）。</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入会タグで</a:t>
            </a:r>
            <a:r>
              <a:rPr sz="1400" b="0" dirty="0">
                <a:solidFill>
                  <a:srgbClr val="1C2233"/>
                </a:solidFill>
                <a:latin typeface="メイリオ"/>
                <a:ea typeface="メイリオ"/>
              </a:rPr>
              <a:t>①→③</a:t>
            </a:r>
            <a:r>
              <a:rPr sz="1400" b="0" dirty="0" err="1">
                <a:solidFill>
                  <a:srgbClr val="1C2233"/>
                </a:solidFill>
                <a:latin typeface="メイリオ"/>
                <a:ea typeface="メイリオ"/>
              </a:rPr>
              <a:t>に自動切替</a:t>
            </a:r>
            <a:r>
              <a:rPr sz="1400" b="0" dirty="0">
                <a:solidFill>
                  <a:srgbClr val="1C2233"/>
                </a:solidFill>
                <a:latin typeface="メイリオ"/>
                <a:ea typeface="メイリオ"/>
              </a:rPr>
              <a:t>。</a:t>
            </a:r>
          </a:p>
        </p:txBody>
      </p:sp>
      <p:sp>
        <p:nvSpPr>
          <p:cNvPr id="31" name="TextBox 30"/>
          <p:cNvSpPr txBox="1"/>
          <p:nvPr/>
        </p:nvSpPr>
        <p:spPr>
          <a:xfrm>
            <a:off x="384048" y="626364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タブ③に「休会・退会の手続き」を置くのが要点。隠すと不信感になり、かえって解約されます。</a:t>
            </a:r>
          </a:p>
        </p:txBody>
      </p:sp>
      <p:pic>
        <p:nvPicPr>
          <p:cNvPr id="33" name="図 32">
            <a:extLst>
              <a:ext uri="{FF2B5EF4-FFF2-40B4-BE49-F238E27FC236}">
                <a16:creationId xmlns:a16="http://schemas.microsoft.com/office/drawing/2014/main" id="{D110590D-470C-755A-DA08-FD0F6B856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162" y="1234440"/>
            <a:ext cx="8849262" cy="3986783"/>
          </a:xfrm>
          <a:prstGeom prst="rect">
            <a:avLst/>
          </a:prstGeom>
        </p:spPr>
      </p:pic>
    </p:spTree>
    <p:extLst>
      <p:ext uri="{BB962C8B-B14F-4D97-AF65-F5344CB8AC3E}">
        <p14:creationId xmlns:p14="http://schemas.microsoft.com/office/powerpoint/2010/main" val="827903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リッチメニュー実装イメージ｜3タブの実物</a:t>
            </a:r>
          </a:p>
        </p:txBody>
      </p:sp>
      <p:sp>
        <p:nvSpPr>
          <p:cNvPr id="3" name="TextBox 2"/>
          <p:cNvSpPr txBox="1"/>
          <p:nvPr/>
        </p:nvSpPr>
        <p:spPr>
          <a:xfrm>
            <a:off x="384048" y="857120"/>
            <a:ext cx="9134856" cy="553998"/>
          </a:xfrm>
          <a:prstGeom prst="rect">
            <a:avLst/>
          </a:prstGeom>
          <a:noFill/>
        </p:spPr>
        <p:txBody>
          <a:bodyPr wrap="square" lIns="0" tIns="0" rIns="0" bIns="0">
            <a:spAutoFit/>
          </a:bodyPr>
          <a:lstStyle/>
          <a:p>
            <a:r>
              <a:rPr b="0" dirty="0" err="1">
                <a:solidFill>
                  <a:srgbClr val="646C82"/>
                </a:solidFill>
                <a:latin typeface="メイリオ"/>
                <a:ea typeface="メイリオ"/>
              </a:rPr>
              <a:t>同じLINEでも、入会前と入会後で見える画面が切り替わる</a:t>
            </a:r>
            <a:r>
              <a:rPr b="0" dirty="0">
                <a:solidFill>
                  <a:srgbClr val="646C82"/>
                </a:solidFill>
                <a:latin typeface="メイリオ"/>
                <a:ea typeface="メイリオ"/>
              </a:rPr>
              <a:t>。</a:t>
            </a:r>
            <a:endParaRPr lang="en-US" b="0" dirty="0">
              <a:solidFill>
                <a:srgbClr val="646C82"/>
              </a:solidFill>
              <a:latin typeface="メイリオ"/>
              <a:ea typeface="メイリオ"/>
            </a:endParaRPr>
          </a:p>
          <a:p>
            <a:r>
              <a:rPr b="0" dirty="0" err="1">
                <a:solidFill>
                  <a:srgbClr val="646C82"/>
                </a:solidFill>
                <a:latin typeface="メイリオ"/>
                <a:ea typeface="メイリオ"/>
              </a:rPr>
              <a:t>入会後もLINEを使ってもらう設計</a:t>
            </a:r>
            <a:r>
              <a:rPr b="0" dirty="0">
                <a:solidFill>
                  <a:srgbClr val="646C82"/>
                </a:solidFill>
                <a:latin typeface="メイリオ"/>
                <a:ea typeface="メイリオ"/>
              </a:rPr>
              <a:t>。</a:t>
            </a:r>
          </a:p>
        </p:txBody>
      </p:sp>
      <p:sp>
        <p:nvSpPr>
          <p:cNvPr id="4" name="Rounded Rectangle 3"/>
          <p:cNvSpPr/>
          <p:nvPr/>
        </p:nvSpPr>
        <p:spPr>
          <a:xfrm>
            <a:off x="384048"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① 見学・体験</a:t>
            </a:r>
          </a:p>
        </p:txBody>
      </p:sp>
      <p:sp>
        <p:nvSpPr>
          <p:cNvPr id="5" name="TextBox 4"/>
          <p:cNvSpPr txBox="1"/>
          <p:nvPr/>
        </p:nvSpPr>
        <p:spPr>
          <a:xfrm>
            <a:off x="384048"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未入会のデフォルト</a:t>
            </a:r>
          </a:p>
        </p:txBody>
      </p:sp>
      <p:sp>
        <p:nvSpPr>
          <p:cNvPr id="12" name="Rounded Rectangle 11"/>
          <p:cNvSpPr/>
          <p:nvPr/>
        </p:nvSpPr>
        <p:spPr>
          <a:xfrm>
            <a:off x="3383279"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② 診断・シミュレーター</a:t>
            </a:r>
          </a:p>
        </p:txBody>
      </p:sp>
      <p:sp>
        <p:nvSpPr>
          <p:cNvPr id="13" name="TextBox 12"/>
          <p:cNvSpPr txBox="1"/>
          <p:nvPr/>
        </p:nvSpPr>
        <p:spPr>
          <a:xfrm>
            <a:off x="3383279"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迷っている人</a:t>
            </a:r>
          </a:p>
        </p:txBody>
      </p:sp>
      <p:sp>
        <p:nvSpPr>
          <p:cNvPr id="20" name="Rounded Rectangle 19"/>
          <p:cNvSpPr/>
          <p:nvPr/>
        </p:nvSpPr>
        <p:spPr>
          <a:xfrm>
            <a:off x="6382512" y="1596368"/>
            <a:ext cx="2788920" cy="475488"/>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400" b="1">
                <a:solidFill>
                  <a:srgbClr val="FFFFFF"/>
                </a:solidFill>
                <a:latin typeface="メイリオ"/>
                <a:ea typeface="メイリオ"/>
              </a:rPr>
              <a:t>③ 会員の方へ</a:t>
            </a:r>
          </a:p>
        </p:txBody>
      </p:sp>
      <p:sp>
        <p:nvSpPr>
          <p:cNvPr id="21" name="TextBox 20"/>
          <p:cNvSpPr txBox="1"/>
          <p:nvPr/>
        </p:nvSpPr>
        <p:spPr>
          <a:xfrm>
            <a:off x="6382512" y="2126720"/>
            <a:ext cx="2788920" cy="310896"/>
          </a:xfrm>
          <a:prstGeom prst="rect">
            <a:avLst/>
          </a:prstGeom>
          <a:noFill/>
        </p:spPr>
        <p:txBody>
          <a:bodyPr wrap="square" lIns="0" tIns="0" rIns="0" bIns="0">
            <a:spAutoFit/>
          </a:bodyPr>
          <a:lstStyle/>
          <a:p>
            <a:r>
              <a:rPr sz="900" b="0">
                <a:solidFill>
                  <a:srgbClr val="646C82"/>
                </a:solidFill>
                <a:latin typeface="メイリオ"/>
                <a:ea typeface="メイリオ"/>
              </a:rPr>
              <a:t>入会後に自動切替</a:t>
            </a:r>
          </a:p>
        </p:txBody>
      </p:sp>
      <p:sp>
        <p:nvSpPr>
          <p:cNvPr id="29" name="Rectangle 28"/>
          <p:cNvSpPr/>
          <p:nvPr/>
        </p:nvSpPr>
        <p:spPr>
          <a:xfrm>
            <a:off x="429768" y="5525392"/>
            <a:ext cx="9089136" cy="475488"/>
          </a:xfrm>
          <a:prstGeom prst="rect">
            <a:avLst/>
          </a:prstGeom>
          <a:solidFill>
            <a:srgbClr val="E4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5625976"/>
            <a:ext cx="8814816" cy="215444"/>
          </a:xfrm>
          <a:prstGeom prst="rect">
            <a:avLst/>
          </a:prstGeom>
          <a:noFill/>
        </p:spPr>
        <p:txBody>
          <a:bodyPr wrap="square" lIns="0" tIns="0" rIns="0" bIns="0">
            <a:spAutoFit/>
          </a:bodyPr>
          <a:lstStyle/>
          <a:p>
            <a:r>
              <a:rPr sz="1400" b="0">
                <a:solidFill>
                  <a:srgbClr val="1C2233"/>
                </a:solidFill>
                <a:latin typeface="メイリオ"/>
                <a:ea typeface="メイリオ"/>
              </a:rPr>
              <a:t>大サイズ2500×1686px／3列×2行（1マス833×843px）。入会タグで①→③に自動切替。</a:t>
            </a:r>
          </a:p>
        </p:txBody>
      </p:sp>
      <p:sp>
        <p:nvSpPr>
          <p:cNvPr id="31" name="TextBox 30"/>
          <p:cNvSpPr txBox="1"/>
          <p:nvPr/>
        </p:nvSpPr>
        <p:spPr>
          <a:xfrm>
            <a:off x="384048" y="6284344"/>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画像はイメージです。実装時は店舗写真・ブランドカラー・アイコンを貴社仕様に差し替えます。</a:t>
            </a:r>
          </a:p>
        </p:txBody>
      </p:sp>
      <p:pic>
        <p:nvPicPr>
          <p:cNvPr id="32" name="Picture 31" descr="ジム_リッチメニュー_1_見学体験.png"/>
          <p:cNvPicPr>
            <a:picLocks noChangeAspect="1"/>
          </p:cNvPicPr>
          <p:nvPr/>
        </p:nvPicPr>
        <p:blipFill>
          <a:blip r:embed="rId2"/>
          <a:stretch>
            <a:fillRect/>
          </a:stretch>
        </p:blipFill>
        <p:spPr>
          <a:xfrm>
            <a:off x="384048" y="2521928"/>
            <a:ext cx="2788920" cy="1880847"/>
          </a:xfrm>
          <a:prstGeom prst="rect">
            <a:avLst/>
          </a:prstGeom>
        </p:spPr>
      </p:pic>
      <p:pic>
        <p:nvPicPr>
          <p:cNvPr id="33" name="Picture 32" descr="ジム_リッチメニュー_2_診断シミュレーター.png"/>
          <p:cNvPicPr>
            <a:picLocks noChangeAspect="1"/>
          </p:cNvPicPr>
          <p:nvPr/>
        </p:nvPicPr>
        <p:blipFill>
          <a:blip r:embed="rId3"/>
          <a:stretch>
            <a:fillRect/>
          </a:stretch>
        </p:blipFill>
        <p:spPr>
          <a:xfrm>
            <a:off x="3383279" y="2521928"/>
            <a:ext cx="2788920" cy="1880847"/>
          </a:xfrm>
          <a:prstGeom prst="rect">
            <a:avLst/>
          </a:prstGeom>
        </p:spPr>
      </p:pic>
      <p:pic>
        <p:nvPicPr>
          <p:cNvPr id="34" name="Picture 33" descr="ジム_リッチメニュー_3_会員の方へ.png"/>
          <p:cNvPicPr>
            <a:picLocks noChangeAspect="1"/>
          </p:cNvPicPr>
          <p:nvPr/>
        </p:nvPicPr>
        <p:blipFill>
          <a:blip r:embed="rId4"/>
          <a:stretch>
            <a:fillRect/>
          </a:stretch>
        </p:blipFill>
        <p:spPr>
          <a:xfrm>
            <a:off x="6382512" y="2521928"/>
            <a:ext cx="2788920" cy="1880847"/>
          </a:xfrm>
          <a:prstGeom prst="rect">
            <a:avLst/>
          </a:prstGeom>
        </p:spPr>
      </p:pic>
      <p:sp>
        <p:nvSpPr>
          <p:cNvPr id="35" name="TextBox 34"/>
          <p:cNvSpPr txBox="1"/>
          <p:nvPr/>
        </p:nvSpPr>
        <p:spPr>
          <a:xfrm>
            <a:off x="384048" y="4541928"/>
            <a:ext cx="2788920" cy="700000"/>
          </a:xfrm>
          <a:prstGeom prst="rect">
            <a:avLst/>
          </a:prstGeom>
          <a:noFill/>
        </p:spPr>
        <p:txBody>
          <a:bodyPr wrap="square">
            <a:spAutoFit/>
          </a:bodyPr>
          <a:lstStyle/>
          <a:p>
            <a:r>
              <a:rPr sz="1200">
                <a:solidFill>
                  <a:srgbClr val="404040"/>
                </a:solidFill>
                <a:latin typeface="メイリオ"/>
                <a:ea typeface="メイリオ"/>
              </a:rPr>
              <a:t>押してほしい1枠だけ色を変え、6枠を等価に並べない。</a:t>
            </a:r>
          </a:p>
        </p:txBody>
      </p:sp>
      <p:sp>
        <p:nvSpPr>
          <p:cNvPr id="36" name="TextBox 35"/>
          <p:cNvSpPr txBox="1"/>
          <p:nvPr/>
        </p:nvSpPr>
        <p:spPr>
          <a:xfrm>
            <a:off x="3383279" y="4541928"/>
            <a:ext cx="2788920" cy="700000"/>
          </a:xfrm>
          <a:prstGeom prst="rect">
            <a:avLst/>
          </a:prstGeom>
          <a:noFill/>
        </p:spPr>
        <p:txBody>
          <a:bodyPr wrap="square">
            <a:spAutoFit/>
          </a:bodyPr>
          <a:lstStyle/>
          <a:p>
            <a:r>
              <a:rPr sz="1200">
                <a:solidFill>
                  <a:srgbClr val="404040"/>
                </a:solidFill>
                <a:latin typeface="メイリオ"/>
                <a:ea typeface="メイリオ"/>
              </a:rPr>
              <a:t>診断で属性を取り、そのまま配信セグメントに変換する。</a:t>
            </a:r>
          </a:p>
        </p:txBody>
      </p:sp>
      <p:sp>
        <p:nvSpPr>
          <p:cNvPr id="37" name="TextBox 36"/>
          <p:cNvSpPr txBox="1"/>
          <p:nvPr/>
        </p:nvSpPr>
        <p:spPr>
          <a:xfrm>
            <a:off x="6382512" y="4541928"/>
            <a:ext cx="2788920" cy="461665"/>
          </a:xfrm>
          <a:prstGeom prst="rect">
            <a:avLst/>
          </a:prstGeom>
          <a:noFill/>
        </p:spPr>
        <p:txBody>
          <a:bodyPr wrap="square">
            <a:spAutoFit/>
          </a:bodyPr>
          <a:lstStyle/>
          <a:p>
            <a:r>
              <a:rPr sz="1200" dirty="0" err="1">
                <a:solidFill>
                  <a:srgbClr val="404040"/>
                </a:solidFill>
                <a:latin typeface="メイリオ"/>
                <a:ea typeface="メイリオ"/>
              </a:rPr>
              <a:t>入会後は機能を総入れ替え</a:t>
            </a:r>
            <a:r>
              <a:rPr sz="1200" dirty="0">
                <a:solidFill>
                  <a:srgbClr val="404040"/>
                </a:solidFill>
                <a:latin typeface="メイリオ"/>
                <a:ea typeface="メイリオ"/>
              </a:rPr>
              <a:t>。</a:t>
            </a:r>
            <a:endParaRPr lang="en-US" sz="1200" dirty="0">
              <a:solidFill>
                <a:srgbClr val="404040"/>
              </a:solidFill>
              <a:latin typeface="メイリオ"/>
              <a:ea typeface="メイリオ"/>
            </a:endParaRPr>
          </a:p>
          <a:p>
            <a:r>
              <a:rPr sz="1200" dirty="0" err="1">
                <a:solidFill>
                  <a:srgbClr val="404040"/>
                </a:solidFill>
                <a:latin typeface="メイリオ"/>
                <a:ea typeface="メイリオ"/>
              </a:rPr>
              <a:t>休会・退会も隠さない</a:t>
            </a:r>
            <a:r>
              <a:rPr sz="1200" dirty="0">
                <a:solidFill>
                  <a:srgbClr val="404040"/>
                </a:solidFill>
                <a:latin typeface="メイリオ"/>
                <a:ea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トーク画面設計案｜あいさつメッセージと30秒診断</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dirty="0">
                <a:solidFill>
                  <a:srgbClr val="646C82"/>
                </a:solidFill>
                <a:latin typeface="メイリオ"/>
                <a:ea typeface="メイリオ"/>
              </a:rPr>
              <a:t>1通目で無料体験と期限を見せる。迷っている人には、30秒診断を用意する。</a:t>
            </a:r>
          </a:p>
        </p:txBody>
      </p:sp>
      <p:sp>
        <p:nvSpPr>
          <p:cNvPr id="4" name="TextBox 3"/>
          <p:cNvSpPr txBox="1"/>
          <p:nvPr/>
        </p:nvSpPr>
        <p:spPr>
          <a:xfrm>
            <a:off x="384048" y="1188720"/>
            <a:ext cx="4389120" cy="310896"/>
          </a:xfrm>
          <a:prstGeom prst="rect">
            <a:avLst/>
          </a:prstGeom>
          <a:noFill/>
        </p:spPr>
        <p:txBody>
          <a:bodyPr wrap="square" lIns="0" tIns="0" rIns="0" bIns="0">
            <a:spAutoFit/>
          </a:bodyPr>
          <a:lstStyle/>
          <a:p>
            <a:r>
              <a:rPr sz="1200" b="1">
                <a:solidFill>
                  <a:srgbClr val="1F2A5C"/>
                </a:solidFill>
                <a:latin typeface="メイリオ"/>
                <a:ea typeface="メイリオ"/>
              </a:rPr>
              <a:t>■ 友だち追加直後のあいさつメッセージ（自動）</a:t>
            </a:r>
          </a:p>
        </p:txBody>
      </p:sp>
      <p:sp>
        <p:nvSpPr>
          <p:cNvPr id="5" name="Rounded Rectangle 4"/>
          <p:cNvSpPr/>
          <p:nvPr/>
        </p:nvSpPr>
        <p:spPr>
          <a:xfrm>
            <a:off x="384048" y="1517904"/>
            <a:ext cx="4389120" cy="2542032"/>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【〇〇フィットネス △△店】</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友だち追加ありがとうございます💪</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〇月〇日まで、無料体験を受付中です（見学だけでもOK）。</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「続けられるか不安」という方は、まずは</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30秒でわかる「体づくりタイプ診断」から。</a:t>
            </a:r>
            <a:endParaRPr lang="ja-JP" altLang="en-US" sz="1100" dirty="0"/>
          </a:p>
          <a:p>
            <a:pPr algn="l">
              <a:buNone/>
            </a:pP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 こちらから営業のお電話をすることはありません。</a:t>
            </a:r>
            <a:endParaRPr lang="ja-JP" altLang="en-US" sz="1100" dirty="0"/>
          </a:p>
          <a:p>
            <a:pPr algn="l">
              <a:buNone/>
            </a:pPr>
            <a:r>
              <a:rPr lang="ja-JP" altLang="en-US" sz="1100" b="0" dirty="0">
                <a:solidFill>
                  <a:srgbClr val="1C2233"/>
                </a:solidFill>
                <a:latin typeface="メイリオ" panose="020B0604030504040204" pitchFamily="50" charset="-128"/>
                <a:ea typeface="メイリオ" panose="020B0604030504040204" pitchFamily="50" charset="-128"/>
              </a:rPr>
              <a:t>ご質問はこのままトークで送ってください(10:00–20:00)</a:t>
            </a:r>
            <a:endParaRPr lang="ja-JP" altLang="en-US" sz="1100" dirty="0"/>
          </a:p>
        </p:txBody>
      </p:sp>
      <p:sp>
        <p:nvSpPr>
          <p:cNvPr id="6" name="Rounded Rectangle 5"/>
          <p:cNvSpPr/>
          <p:nvPr/>
        </p:nvSpPr>
        <p:spPr>
          <a:xfrm>
            <a:off x="38404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「営業電話しません」を</a:t>
            </a:r>
          </a:p>
          <a:p>
            <a:pPr algn="ctr">
              <a:spcBef>
                <a:spcPts val="0"/>
              </a:spcBef>
            </a:pPr>
            <a:r>
              <a:rPr sz="1000" b="0">
                <a:solidFill>
                  <a:srgbClr val="646C82"/>
                </a:solidFill>
                <a:latin typeface="メイリオ"/>
                <a:ea typeface="メイリオ"/>
              </a:rPr>
              <a:t>1通目に明記</a:t>
            </a:r>
          </a:p>
        </p:txBody>
      </p:sp>
      <p:sp>
        <p:nvSpPr>
          <p:cNvPr id="7" name="Rounded Rectangle 6"/>
          <p:cNvSpPr/>
          <p:nvPr/>
        </p:nvSpPr>
        <p:spPr>
          <a:xfrm>
            <a:off x="184708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無料体験と期限は</a:t>
            </a:r>
          </a:p>
          <a:p>
            <a:pPr algn="ctr">
              <a:spcBef>
                <a:spcPts val="0"/>
              </a:spcBef>
            </a:pPr>
            <a:r>
              <a:rPr sz="1000" b="0">
                <a:solidFill>
                  <a:srgbClr val="646C82"/>
                </a:solidFill>
                <a:latin typeface="メイリオ"/>
                <a:ea typeface="メイリオ"/>
              </a:rPr>
              <a:t>バナーで見せる</a:t>
            </a:r>
          </a:p>
        </p:txBody>
      </p:sp>
      <p:sp>
        <p:nvSpPr>
          <p:cNvPr id="8" name="Rounded Rectangle 7"/>
          <p:cNvSpPr/>
          <p:nvPr/>
        </p:nvSpPr>
        <p:spPr>
          <a:xfrm>
            <a:off x="3310128" y="5157216"/>
            <a:ext cx="1463040" cy="658368"/>
          </a:xfrm>
          <a:prstGeom prst="roundRect">
            <a:avLst/>
          </a:prstGeom>
          <a:solidFill>
            <a:srgbClr val="F7F8FB"/>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000" b="0">
                <a:solidFill>
                  <a:srgbClr val="646C82"/>
                </a:solidFill>
                <a:latin typeface="メイリオ"/>
                <a:ea typeface="メイリオ"/>
              </a:rPr>
              <a:t>費用は「1回あたり」</a:t>
            </a:r>
          </a:p>
          <a:p>
            <a:pPr algn="ctr">
              <a:spcBef>
                <a:spcPts val="0"/>
              </a:spcBef>
            </a:pPr>
            <a:r>
              <a:rPr sz="1000" b="0">
                <a:solidFill>
                  <a:srgbClr val="646C82"/>
                </a:solidFill>
                <a:latin typeface="メイリオ"/>
                <a:ea typeface="メイリオ"/>
              </a:rPr>
              <a:t>で見せる</a:t>
            </a:r>
          </a:p>
        </p:txBody>
      </p:sp>
      <p:sp>
        <p:nvSpPr>
          <p:cNvPr id="9" name="TextBox 8"/>
          <p:cNvSpPr txBox="1"/>
          <p:nvPr/>
        </p:nvSpPr>
        <p:spPr>
          <a:xfrm>
            <a:off x="4983480" y="1188720"/>
            <a:ext cx="4535424" cy="310896"/>
          </a:xfrm>
          <a:prstGeom prst="rect">
            <a:avLst/>
          </a:prstGeom>
          <a:noFill/>
        </p:spPr>
        <p:txBody>
          <a:bodyPr wrap="square" lIns="0" tIns="0" rIns="0" bIns="0">
            <a:spAutoFit/>
          </a:bodyPr>
          <a:lstStyle/>
          <a:p>
            <a:r>
              <a:rPr sz="1200" b="1">
                <a:solidFill>
                  <a:srgbClr val="1F2A5C"/>
                </a:solidFill>
                <a:latin typeface="メイリオ"/>
                <a:ea typeface="メイリオ"/>
              </a:rPr>
              <a:t>■ 30秒 体づくりタイプ診断（4問すべて選択式）</a:t>
            </a:r>
          </a:p>
        </p:txBody>
      </p:sp>
      <p:sp>
        <p:nvSpPr>
          <p:cNvPr id="10" name="Rounded Rectangle 9"/>
          <p:cNvSpPr/>
          <p:nvPr/>
        </p:nvSpPr>
        <p:spPr>
          <a:xfrm>
            <a:off x="4983480" y="1517904"/>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Q1</a:t>
            </a:r>
          </a:p>
        </p:txBody>
      </p:sp>
      <p:sp>
        <p:nvSpPr>
          <p:cNvPr id="11" name="Rounded Rectangle 10"/>
          <p:cNvSpPr/>
          <p:nvPr/>
        </p:nvSpPr>
        <p:spPr>
          <a:xfrm>
            <a:off x="5468112" y="1517904"/>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いつから始めたいですか？</a:t>
            </a:r>
          </a:p>
          <a:p>
            <a:pPr algn="l">
              <a:spcBef>
                <a:spcPts val="0"/>
              </a:spcBef>
            </a:pPr>
            <a:r>
              <a:rPr sz="1000" b="0">
                <a:solidFill>
                  <a:srgbClr val="1C2233"/>
                </a:solidFill>
                <a:latin typeface="メイリオ"/>
                <a:ea typeface="メイリオ"/>
              </a:rPr>
              <a:t>今すぐ ／ 1ヶ月以内 ／ 2〜3ヶ月先 ／ 検討中</a:t>
            </a:r>
          </a:p>
        </p:txBody>
      </p:sp>
      <p:sp>
        <p:nvSpPr>
          <p:cNvPr id="12" name="Rounded Rectangle 11"/>
          <p:cNvSpPr/>
          <p:nvPr/>
        </p:nvSpPr>
        <p:spPr>
          <a:xfrm>
            <a:off x="4983480" y="2084831"/>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Q2</a:t>
            </a:r>
          </a:p>
        </p:txBody>
      </p:sp>
      <p:sp>
        <p:nvSpPr>
          <p:cNvPr id="13" name="Rounded Rectangle 12"/>
          <p:cNvSpPr/>
          <p:nvPr/>
        </p:nvSpPr>
        <p:spPr>
          <a:xfrm>
            <a:off x="5468112" y="2084831"/>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一番の目的は？</a:t>
            </a:r>
          </a:p>
          <a:p>
            <a:pPr algn="l">
              <a:spcBef>
                <a:spcPts val="0"/>
              </a:spcBef>
            </a:pPr>
            <a:r>
              <a:rPr sz="1000" b="0">
                <a:solidFill>
                  <a:srgbClr val="1C2233"/>
                </a:solidFill>
                <a:latin typeface="メイリオ"/>
                <a:ea typeface="メイリオ"/>
              </a:rPr>
              <a:t>ダイエット ／ 筋肉 ／ 健康維持 ／ 姿勢・肩こり</a:t>
            </a:r>
          </a:p>
        </p:txBody>
      </p:sp>
      <p:sp>
        <p:nvSpPr>
          <p:cNvPr id="14" name="Rounded Rectangle 13"/>
          <p:cNvSpPr/>
          <p:nvPr/>
        </p:nvSpPr>
        <p:spPr>
          <a:xfrm>
            <a:off x="4983480" y="2651760"/>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Q3</a:t>
            </a:r>
          </a:p>
        </p:txBody>
      </p:sp>
      <p:sp>
        <p:nvSpPr>
          <p:cNvPr id="15" name="Rounded Rectangle 14"/>
          <p:cNvSpPr/>
          <p:nvPr/>
        </p:nvSpPr>
        <p:spPr>
          <a:xfrm>
            <a:off x="5468112" y="2651760"/>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運動の経験は？</a:t>
            </a:r>
          </a:p>
          <a:p>
            <a:pPr algn="l">
              <a:spcBef>
                <a:spcPts val="0"/>
              </a:spcBef>
            </a:pPr>
            <a:r>
              <a:rPr sz="1000" b="0">
                <a:solidFill>
                  <a:srgbClr val="1C2233"/>
                </a:solidFill>
                <a:latin typeface="メイリオ"/>
                <a:ea typeface="メイリオ"/>
              </a:rPr>
              <a:t>まったく初めて ／ 昔やっていた ／ 運動中 ／ ジム経験あり</a:t>
            </a:r>
          </a:p>
        </p:txBody>
      </p:sp>
      <p:sp>
        <p:nvSpPr>
          <p:cNvPr id="16" name="Rounded Rectangle 15"/>
          <p:cNvSpPr/>
          <p:nvPr/>
        </p:nvSpPr>
        <p:spPr>
          <a:xfrm>
            <a:off x="4983480" y="3218687"/>
            <a:ext cx="438912" cy="493776"/>
          </a:xfrm>
          <a:prstGeom prst="roundRect">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ctr"/>
            <a:r>
              <a:rPr sz="1200" b="1">
                <a:solidFill>
                  <a:srgbClr val="FFFFFF"/>
                </a:solidFill>
                <a:latin typeface="メイリオ"/>
                <a:ea typeface="メイリオ"/>
              </a:rPr>
              <a:t>Q4</a:t>
            </a:r>
          </a:p>
        </p:txBody>
      </p:sp>
      <p:sp>
        <p:nvSpPr>
          <p:cNvPr id="17" name="Rounded Rectangle 16"/>
          <p:cNvSpPr/>
          <p:nvPr/>
        </p:nvSpPr>
        <p:spPr>
          <a:xfrm>
            <a:off x="5468112" y="3218687"/>
            <a:ext cx="4050791" cy="493776"/>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ctr"/>
          <a:lstStyle/>
          <a:p>
            <a:pPr algn="l"/>
            <a:r>
              <a:rPr sz="1000" b="0">
                <a:solidFill>
                  <a:srgbClr val="1C2233"/>
                </a:solidFill>
                <a:latin typeface="メイリオ"/>
                <a:ea typeface="メイリオ"/>
              </a:rPr>
              <a:t>通えそうな頻度は？</a:t>
            </a:r>
          </a:p>
          <a:p>
            <a:pPr algn="l">
              <a:spcBef>
                <a:spcPts val="0"/>
              </a:spcBef>
            </a:pPr>
            <a:r>
              <a:rPr sz="1000" b="0">
                <a:solidFill>
                  <a:srgbClr val="1C2233"/>
                </a:solidFill>
                <a:latin typeface="メイリオ"/>
                <a:ea typeface="メイリオ"/>
              </a:rPr>
              <a:t>週1回 ／ 週2回 ／ 週3回以上 ／ わからない</a:t>
            </a:r>
          </a:p>
        </p:txBody>
      </p:sp>
      <p:sp>
        <p:nvSpPr>
          <p:cNvPr id="18" name="Rounded Rectangle 17"/>
          <p:cNvSpPr/>
          <p:nvPr/>
        </p:nvSpPr>
        <p:spPr>
          <a:xfrm>
            <a:off x="4983480" y="4088808"/>
            <a:ext cx="4535424" cy="1408176"/>
          </a:xfrm>
          <a:prstGeom prst="roundRect">
            <a:avLst/>
          </a:prstGeom>
          <a:solidFill>
            <a:srgbClr val="E4E9F2"/>
          </a:solidFill>
          <a:ln w="9525">
            <a:solidFill>
              <a:srgbClr val="1F2A5C"/>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000" b="0" dirty="0">
                <a:solidFill>
                  <a:srgbClr val="1C2233"/>
                </a:solidFill>
                <a:latin typeface="メイリオ"/>
                <a:ea typeface="メイリオ"/>
              </a:rPr>
              <a:t>＼</a:t>
            </a:r>
            <a:r>
              <a:rPr sz="1000" b="0" dirty="0" err="1">
                <a:solidFill>
                  <a:srgbClr val="1C2233"/>
                </a:solidFill>
                <a:latin typeface="メイリオ"/>
                <a:ea typeface="メイリオ"/>
              </a:rPr>
              <a:t>あなたは「コツコツ習慣化タイプ</a:t>
            </a:r>
            <a:r>
              <a:rPr sz="1000" b="0" dirty="0">
                <a:solidFill>
                  <a:srgbClr val="1C2233"/>
                </a:solidFill>
                <a:latin typeface="メイリオ"/>
                <a:ea typeface="メイリオ"/>
              </a:rPr>
              <a:t>」／</a:t>
            </a:r>
          </a:p>
          <a:p>
            <a:pPr algn="l">
              <a:spcBef>
                <a:spcPts val="100"/>
              </a:spcBef>
            </a:pPr>
            <a:r>
              <a:rPr sz="1000" b="0" dirty="0">
                <a:solidFill>
                  <a:srgbClr val="1C2233"/>
                </a:solidFill>
                <a:latin typeface="メイリオ"/>
                <a:ea typeface="メイリオ"/>
              </a:rPr>
              <a:t>まったく初めての方が、週2回から始めて結果を出しているパターンです。</a:t>
            </a:r>
          </a:p>
          <a:p>
            <a:pPr algn="l">
              <a:spcBef>
                <a:spcPts val="100"/>
              </a:spcBef>
            </a:pPr>
            <a:r>
              <a:rPr sz="1000" b="0" dirty="0">
                <a:solidFill>
                  <a:srgbClr val="1C2233"/>
                </a:solidFill>
                <a:latin typeface="メイリオ"/>
                <a:ea typeface="メイリオ"/>
              </a:rPr>
              <a:t>最初の1ヶ月はマシン3種類だけでOK🔰</a:t>
            </a:r>
          </a:p>
          <a:p>
            <a:pPr algn="l">
              <a:spcBef>
                <a:spcPts val="100"/>
              </a:spcBef>
            </a:pPr>
            <a:r>
              <a:rPr sz="1000" b="0" dirty="0">
                <a:solidFill>
                  <a:srgbClr val="1C2233"/>
                </a:solidFill>
                <a:latin typeface="メイリオ"/>
                <a:ea typeface="メイリオ"/>
              </a:rPr>
              <a:t>💰 週2回なら 1回あたり約1,000円（月会費8,000円 ÷ 月8回）</a:t>
            </a:r>
          </a:p>
          <a:p>
            <a:pPr algn="l">
              <a:spcBef>
                <a:spcPts val="100"/>
              </a:spcBef>
            </a:pPr>
            <a:r>
              <a:rPr sz="1000" b="0" dirty="0">
                <a:solidFill>
                  <a:srgbClr val="1C2233"/>
                </a:solidFill>
                <a:latin typeface="メイリオ"/>
                <a:ea typeface="メイリオ"/>
              </a:rPr>
              <a:t>▶ </a:t>
            </a:r>
            <a:r>
              <a:rPr sz="1000" b="0" dirty="0" err="1">
                <a:solidFill>
                  <a:srgbClr val="1C2233"/>
                </a:solidFill>
                <a:latin typeface="メイリオ"/>
                <a:ea typeface="メイリオ"/>
              </a:rPr>
              <a:t>見学だけでも大丈夫です／今週の体験枠を見る</a:t>
            </a:r>
            <a:endParaRPr sz="1000" b="0" dirty="0">
              <a:solidFill>
                <a:srgbClr val="1C2233"/>
              </a:solidFill>
              <a:latin typeface="メイリオ"/>
              <a:ea typeface="メイリオ"/>
            </a:endParaRPr>
          </a:p>
        </p:txBody>
      </p:sp>
      <p:sp>
        <p:nvSpPr>
          <p:cNvPr id="19" name="TextBox 18"/>
          <p:cNvSpPr txBox="1"/>
          <p:nvPr/>
        </p:nvSpPr>
        <p:spPr>
          <a:xfrm>
            <a:off x="4873925" y="5641706"/>
            <a:ext cx="6085591" cy="307777"/>
          </a:xfrm>
          <a:prstGeom prst="rect">
            <a:avLst/>
          </a:prstGeom>
          <a:noFill/>
        </p:spPr>
        <p:txBody>
          <a:bodyPr wrap="square" lIns="0" tIns="0" rIns="0" bIns="0">
            <a:spAutoFit/>
          </a:bodyPr>
          <a:lstStyle/>
          <a:p>
            <a:r>
              <a:rPr sz="1000" b="0" dirty="0" err="1">
                <a:solidFill>
                  <a:srgbClr val="1C2233"/>
                </a:solidFill>
                <a:latin typeface="メイリオ"/>
                <a:ea typeface="メイリオ"/>
              </a:rPr>
              <a:t>回答＝配信セグメントのタグ</a:t>
            </a:r>
            <a:r>
              <a:rPr sz="1000" b="0" dirty="0">
                <a:solidFill>
                  <a:srgbClr val="1C2233"/>
                </a:solidFill>
                <a:latin typeface="メイリオ"/>
                <a:ea typeface="メイリオ"/>
              </a:rPr>
              <a:t>。</a:t>
            </a:r>
            <a:endParaRPr lang="en-US" sz="1000" b="0" dirty="0">
              <a:solidFill>
                <a:srgbClr val="1C2233"/>
              </a:solidFill>
              <a:latin typeface="メイリオ"/>
              <a:ea typeface="メイリオ"/>
            </a:endParaRPr>
          </a:p>
          <a:p>
            <a:r>
              <a:rPr sz="1000" b="0" dirty="0">
                <a:solidFill>
                  <a:srgbClr val="1C2233"/>
                </a:solidFill>
                <a:latin typeface="メイリオ"/>
                <a:ea typeface="メイリオ"/>
              </a:rPr>
              <a:t>「月8,000円」より「1回1,000円」のほうが決裁が下りる。</a:t>
            </a:r>
          </a:p>
        </p:txBody>
      </p:sp>
      <p:sp>
        <p:nvSpPr>
          <p:cNvPr id="20" name="TextBox 19"/>
          <p:cNvSpPr txBox="1"/>
          <p:nvPr/>
        </p:nvSpPr>
        <p:spPr>
          <a:xfrm>
            <a:off x="384048" y="6300432"/>
            <a:ext cx="9134856" cy="310896"/>
          </a:xfrm>
          <a:prstGeom prst="rect">
            <a:avLst/>
          </a:prstGeom>
          <a:noFill/>
        </p:spPr>
        <p:txBody>
          <a:bodyPr wrap="square" lIns="0" tIns="0" rIns="0" bIns="0">
            <a:spAutoFit/>
          </a:bodyPr>
          <a:lstStyle/>
          <a:p>
            <a:r>
              <a:rPr sz="900" b="0" dirty="0">
                <a:solidFill>
                  <a:srgbClr val="646C82"/>
                </a:solidFill>
                <a:latin typeface="メイリオ"/>
                <a:ea typeface="メイリオ"/>
              </a:rPr>
              <a:t>※ </a:t>
            </a:r>
            <a:r>
              <a:rPr sz="900" b="0" dirty="0" err="1">
                <a:solidFill>
                  <a:srgbClr val="646C82"/>
                </a:solidFill>
                <a:latin typeface="メイリオ"/>
                <a:ea typeface="メイリオ"/>
              </a:rPr>
              <a:t>文面は貴社トーンに合わせて調整します。診断結果は回答の組み合わせでパターン分岐させます</a:t>
            </a:r>
            <a:r>
              <a:rPr sz="900" b="0" dirty="0">
                <a:solidFill>
                  <a:srgbClr val="646C82"/>
                </a:solidFill>
                <a:latin typeface="メイリオ"/>
                <a:ea typeface="メイリオ"/>
              </a:rPr>
              <a:t>。</a:t>
            </a:r>
          </a:p>
        </p:txBody>
      </p:sp>
      <p:sp>
        <p:nvSpPr>
          <p:cNvPr id="22" name="Rectangle 21"/>
          <p:cNvSpPr/>
          <p:nvPr/>
        </p:nvSpPr>
        <p:spPr>
          <a:xfrm>
            <a:off x="384048" y="4114800"/>
            <a:ext cx="4389120" cy="201168"/>
          </a:xfrm>
          <a:prstGeom prst="rect">
            <a:avLst/>
          </a:prstGeom>
          <a:noFill/>
          <a:ln>
            <a:noFill/>
          </a:ln>
        </p:spPr>
        <p:txBody>
          <a:bodyPr wrap="square" lIns="18288" tIns="0" rIns="0" bIns="0" rtlCol="0" anchor="ctr">
            <a:noAutofit/>
          </a:bodyPr>
          <a:lstStyle/>
          <a:p>
            <a:pPr algn="l">
              <a:buNone/>
            </a:pPr>
            <a:r>
              <a:rPr lang="ja-JP" altLang="en-US" sz="900" b="0" dirty="0">
                <a:solidFill>
                  <a:srgbClr val="646C82"/>
                </a:solidFill>
                <a:latin typeface="メイリオ" panose="020B0604030504040204" pitchFamily="50" charset="-128"/>
                <a:ea typeface="メイリオ" panose="020B0604030504040204" pitchFamily="50" charset="-128"/>
              </a:rPr>
              <a:t>▼ バナー画像（期限・特典は毎月替える）</a:t>
            </a:r>
            <a:endParaRPr lang="ja-JP" altLang="en-US" sz="900" dirty="0"/>
          </a:p>
        </p:txBody>
      </p:sp>
      <p:sp>
        <p:nvSpPr>
          <p:cNvPr id="23" name="Rounded Rectangle 22"/>
          <p:cNvSpPr/>
          <p:nvPr/>
        </p:nvSpPr>
        <p:spPr>
          <a:xfrm>
            <a:off x="384048" y="4325112"/>
            <a:ext cx="4389120" cy="713232"/>
          </a:xfrm>
          <a:prstGeom prst="roundRect">
            <a:avLst>
              <a:gd name="adj" fmla="val 10000"/>
            </a:avLst>
          </a:prstGeom>
          <a:solidFill>
            <a:srgbClr val="1F2A5C"/>
          </a:solidFill>
          <a:ln>
            <a:noFill/>
          </a:ln>
        </p:spPr>
        <p:txBody>
          <a:bodyPr wrap="square" lIns="128016" tIns="36576" rIns="1371600" bIns="36576" rtlCol="0" anchor="ctr">
            <a:noAutofit/>
          </a:bodyPr>
          <a:lstStyle/>
          <a:p>
            <a:pPr algn="l">
              <a:lnSpc>
                <a:spcPct val="105000"/>
              </a:lnSpc>
              <a:buNone/>
            </a:pPr>
            <a:r>
              <a:rPr lang="ja-JP" altLang="en-US" sz="1300" b="1" dirty="0">
                <a:solidFill>
                  <a:srgbClr val="FFFFFF"/>
                </a:solidFill>
                <a:latin typeface="メイリオ" panose="020B0604030504040204" pitchFamily="50" charset="-128"/>
                <a:ea typeface="メイリオ" panose="020B0604030504040204" pitchFamily="50" charset="-128"/>
              </a:rPr>
              <a:t>〇月〇日まで｜無料体験＋入会特典</a:t>
            </a:r>
            <a:endParaRPr lang="ja-JP" altLang="en-US" sz="1200" dirty="0"/>
          </a:p>
          <a:p>
            <a:pPr algn="l">
              <a:lnSpc>
                <a:spcPct val="105000"/>
              </a:lnSpc>
              <a:buNone/>
            </a:pPr>
            <a:r>
              <a:rPr lang="ja-JP" altLang="en-US" sz="1000" b="0" dirty="0">
                <a:solidFill>
                  <a:srgbClr val="FFFFFF"/>
                </a:solidFill>
                <a:latin typeface="メイリオ" panose="020B0604030504040204" pitchFamily="50" charset="-128"/>
                <a:ea typeface="メイリオ" panose="020B0604030504040204" pitchFamily="50" charset="-128"/>
              </a:rPr>
              <a:t>各店先着〇名・見学だけでもOK</a:t>
            </a:r>
            <a:endParaRPr lang="ja-JP" altLang="en-US" sz="1200" dirty="0"/>
          </a:p>
        </p:txBody>
      </p:sp>
      <p:sp>
        <p:nvSpPr>
          <p:cNvPr id="24" name="Rounded Rectangle 23"/>
          <p:cNvSpPr/>
          <p:nvPr/>
        </p:nvSpPr>
        <p:spPr>
          <a:xfrm>
            <a:off x="3456432" y="4498848"/>
            <a:ext cx="1170432" cy="365760"/>
          </a:xfrm>
          <a:prstGeom prst="roundRect">
            <a:avLst>
              <a:gd name="adj" fmla="val 30000"/>
            </a:avLst>
          </a:prstGeom>
          <a:solidFill>
            <a:srgbClr val="FFFFFF"/>
          </a:solidFill>
          <a:ln>
            <a:noFill/>
          </a:ln>
        </p:spPr>
        <p:txBody>
          <a:bodyPr wrap="square" lIns="18288" tIns="0" rIns="18288" bIns="0" rtlCol="0" anchor="ctr">
            <a:noAutofit/>
          </a:bodyPr>
          <a:lstStyle/>
          <a:p>
            <a:pPr algn="ctr">
              <a:buNone/>
            </a:pPr>
            <a:r>
              <a:rPr lang="ja-JP" altLang="en-US" sz="1100" b="1" dirty="0">
                <a:solidFill>
                  <a:srgbClr val="1F2A5C"/>
                </a:solidFill>
                <a:latin typeface="メイリオ" panose="020B0604030504040204" pitchFamily="50" charset="-128"/>
                <a:ea typeface="メイリオ" panose="020B0604030504040204" pitchFamily="50" charset="-128"/>
              </a:rPr>
              <a:t>予約する ▶</a:t>
            </a:r>
            <a:endParaRPr lang="ja-JP" altLang="en-US" sz="1100" dirty="0"/>
          </a:p>
        </p:txBody>
      </p:sp>
    </p:spTree>
    <p:extLst>
      <p:ext uri="{BB962C8B-B14F-4D97-AF65-F5344CB8AC3E}">
        <p14:creationId xmlns:p14="http://schemas.microsoft.com/office/powerpoint/2010/main" val="1889393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あいさつメッセージ｜友だち追加の直後に届く1通目</a:t>
            </a:r>
          </a:p>
        </p:txBody>
      </p:sp>
      <p:sp>
        <p:nvSpPr>
          <p:cNvPr id="3" name="TextBox 2"/>
          <p:cNvSpPr txBox="1"/>
          <p:nvPr/>
        </p:nvSpPr>
        <p:spPr>
          <a:xfrm>
            <a:off x="384048" y="731520"/>
            <a:ext cx="9134856" cy="246221"/>
          </a:xfrm>
          <a:prstGeom prst="rect">
            <a:avLst/>
          </a:prstGeom>
          <a:noFill/>
        </p:spPr>
        <p:txBody>
          <a:bodyPr wrap="square" lIns="0" tIns="0" rIns="0" bIns="0">
            <a:spAutoFit/>
          </a:bodyPr>
          <a:lstStyle/>
          <a:p>
            <a:r>
              <a:rPr sz="1600" b="0">
                <a:solidFill>
                  <a:srgbClr val="646C82"/>
                </a:solidFill>
                <a:latin typeface="メイリオ"/>
                <a:ea typeface="メイリオ"/>
              </a:rPr>
              <a:t>1通目で無料体験と期限を見せる。迷っている人には、30秒診断を用意する。</a:t>
            </a:r>
          </a:p>
        </p:txBody>
      </p:sp>
      <p:sp>
        <p:nvSpPr>
          <p:cNvPr id="19" name="TextBox 18"/>
          <p:cNvSpPr txBox="1"/>
          <p:nvPr/>
        </p:nvSpPr>
        <p:spPr>
          <a:xfrm>
            <a:off x="704088" y="4900000"/>
            <a:ext cx="8503920" cy="430887"/>
          </a:xfrm>
          <a:prstGeom prst="rect">
            <a:avLst/>
          </a:prstGeom>
          <a:noFill/>
        </p:spPr>
        <p:txBody>
          <a:bodyPr wrap="square" lIns="0" tIns="0" rIns="0" bIns="0">
            <a:spAutoFit/>
          </a:bodyPr>
          <a:lstStyle/>
          <a:p>
            <a:r>
              <a:rPr sz="1400" b="0" dirty="0">
                <a:solidFill>
                  <a:srgbClr val="1C2233"/>
                </a:solidFill>
                <a:latin typeface="メイリオ"/>
                <a:ea typeface="メイリオ"/>
              </a:rPr>
              <a:t>この1通で「誰か」「</a:t>
            </a:r>
            <a:r>
              <a:rPr sz="1400" b="0" dirty="0" err="1">
                <a:solidFill>
                  <a:srgbClr val="1C2233"/>
                </a:solidFill>
                <a:latin typeface="メイリオ"/>
                <a:ea typeface="メイリオ"/>
              </a:rPr>
              <a:t>何をくれるか</a:t>
            </a:r>
            <a:r>
              <a:rPr sz="1400" b="0" dirty="0">
                <a:solidFill>
                  <a:srgbClr val="1C2233"/>
                </a:solidFill>
                <a:latin typeface="メイリオ"/>
                <a:ea typeface="メイリオ"/>
              </a:rPr>
              <a:t>」「売り込まないか」の3つに答える。</a:t>
            </a:r>
            <a:endParaRPr lang="en-US" sz="1400" b="0" dirty="0">
              <a:solidFill>
                <a:srgbClr val="1C2233"/>
              </a:solidFill>
              <a:latin typeface="メイリオ"/>
              <a:ea typeface="メイリオ"/>
            </a:endParaRPr>
          </a:p>
          <a:p>
            <a:r>
              <a:rPr sz="1400" b="0" dirty="0" err="1">
                <a:solidFill>
                  <a:srgbClr val="1C2233"/>
                </a:solidFill>
                <a:latin typeface="メイリオ"/>
                <a:ea typeface="メイリオ"/>
              </a:rPr>
              <a:t>ここで離脱すると以降の配信は全部届かない</a:t>
            </a:r>
            <a:r>
              <a:rPr sz="1400" b="0" dirty="0">
                <a:solidFill>
                  <a:srgbClr val="1C2233"/>
                </a:solidFill>
                <a:latin typeface="メイリオ"/>
                <a:ea typeface="メイリオ"/>
              </a:rPr>
              <a:t>。</a:t>
            </a:r>
          </a:p>
        </p:txBody>
      </p:sp>
      <p:sp>
        <p:nvSpPr>
          <p:cNvPr id="20" name="TextBox 19"/>
          <p:cNvSpPr txBox="1"/>
          <p:nvPr/>
        </p:nvSpPr>
        <p:spPr>
          <a:xfrm>
            <a:off x="384048" y="5897880"/>
            <a:ext cx="9134856" cy="310896"/>
          </a:xfrm>
          <a:prstGeom prst="rect">
            <a:avLst/>
          </a:prstGeom>
          <a:noFill/>
        </p:spPr>
        <p:txBody>
          <a:bodyPr wrap="square" lIns="0" tIns="0" rIns="0" bIns="0">
            <a:spAutoFit/>
          </a:bodyPr>
          <a:lstStyle/>
          <a:p>
            <a:r>
              <a:rPr sz="900" b="0">
                <a:solidFill>
                  <a:srgbClr val="646C82"/>
                </a:solidFill>
                <a:latin typeface="メイリオ"/>
                <a:ea typeface="メイリオ"/>
              </a:rPr>
              <a:t>※ 文面・配色・診断の設問は貴社トーンに合わせて調整します。</a:t>
            </a:r>
          </a:p>
        </p:txBody>
      </p:sp>
      <p:sp>
        <p:nvSpPr>
          <p:cNvPr id="22" name="TextBox 21"/>
          <p:cNvSpPr txBox="1"/>
          <p:nvPr/>
        </p:nvSpPr>
        <p:spPr>
          <a:xfrm>
            <a:off x="704088" y="1500000"/>
            <a:ext cx="8503920" cy="769441"/>
          </a:xfrm>
          <a:prstGeom prst="rect">
            <a:avLst/>
          </a:prstGeom>
          <a:noFill/>
        </p:spPr>
        <p:txBody>
          <a:bodyPr wrap="square">
            <a:spAutoFit/>
          </a:bodyPr>
          <a:lstStyle/>
          <a:p>
            <a:r>
              <a:rPr sz="1600" b="1" dirty="0">
                <a:solidFill>
                  <a:srgbClr val="1F2A5C"/>
                </a:solidFill>
                <a:latin typeface="メイリオ"/>
                <a:ea typeface="メイリオ"/>
              </a:rPr>
              <a:t>① 1通目に「営業電話をしない」と書く</a:t>
            </a:r>
          </a:p>
          <a:p>
            <a:r>
              <a:rPr sz="1400" b="0" dirty="0" err="1">
                <a:solidFill>
                  <a:srgbClr val="404040"/>
                </a:solidFill>
                <a:latin typeface="メイリオ"/>
                <a:ea typeface="メイリオ"/>
              </a:rPr>
              <a:t>押し売りへの拒否感が最も強い業界です</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err="1">
                <a:solidFill>
                  <a:srgbClr val="404040"/>
                </a:solidFill>
                <a:latin typeface="メイリオ"/>
                <a:ea typeface="メイリオ"/>
              </a:rPr>
              <a:t>先に明言することで、その後の質問と診断回答のハードルが下がります</a:t>
            </a:r>
            <a:r>
              <a:rPr sz="1400" b="0" dirty="0">
                <a:solidFill>
                  <a:srgbClr val="404040"/>
                </a:solidFill>
                <a:latin typeface="メイリオ"/>
                <a:ea typeface="メイリオ"/>
              </a:rPr>
              <a:t>。</a:t>
            </a:r>
          </a:p>
        </p:txBody>
      </p:sp>
      <p:sp>
        <p:nvSpPr>
          <p:cNvPr id="23" name="TextBox 22"/>
          <p:cNvSpPr txBox="1"/>
          <p:nvPr/>
        </p:nvSpPr>
        <p:spPr>
          <a:xfrm>
            <a:off x="704088" y="2650000"/>
            <a:ext cx="8503920" cy="984885"/>
          </a:xfrm>
          <a:prstGeom prst="rect">
            <a:avLst/>
          </a:prstGeom>
          <a:noFill/>
        </p:spPr>
        <p:txBody>
          <a:bodyPr wrap="square">
            <a:spAutoFit/>
          </a:bodyPr>
          <a:lstStyle/>
          <a:p>
            <a:r>
              <a:rPr sz="1600" b="1" dirty="0">
                <a:solidFill>
                  <a:srgbClr val="1F2A5C"/>
                </a:solidFill>
                <a:latin typeface="メイリオ"/>
                <a:ea typeface="メイリオ"/>
              </a:rPr>
              <a:t>② </a:t>
            </a:r>
            <a:r>
              <a:rPr sz="1600" b="1" dirty="0" err="1">
                <a:solidFill>
                  <a:srgbClr val="1F2A5C"/>
                </a:solidFill>
                <a:latin typeface="メイリオ"/>
                <a:ea typeface="メイリオ"/>
              </a:rPr>
              <a:t>無料体験と期限は、バナーで見せる</a:t>
            </a:r>
            <a:endParaRPr sz="1600" b="1" dirty="0">
              <a:solidFill>
                <a:srgbClr val="1F2A5C"/>
              </a:solidFill>
              <a:latin typeface="メイリオ"/>
              <a:ea typeface="メイリオ"/>
            </a:endParaRPr>
          </a:p>
          <a:p>
            <a:r>
              <a:rPr sz="1400" b="0" dirty="0" err="1">
                <a:solidFill>
                  <a:srgbClr val="404040"/>
                </a:solidFill>
                <a:latin typeface="メイリオ"/>
                <a:ea typeface="メイリオ"/>
              </a:rPr>
              <a:t>今すぐの人は、そのまま体験予約へ</a:t>
            </a:r>
            <a:r>
              <a:rPr sz="1400" b="0" dirty="0">
                <a:solidFill>
                  <a:srgbClr val="404040"/>
                </a:solidFill>
                <a:latin typeface="メイリオ"/>
                <a:ea typeface="メイリオ"/>
              </a:rPr>
              <a:t>。</a:t>
            </a:r>
            <a:endParaRPr lang="en-US" sz="1400" b="0" dirty="0">
              <a:solidFill>
                <a:srgbClr val="404040"/>
              </a:solidFill>
              <a:latin typeface="メイリオ"/>
              <a:ea typeface="メイリオ"/>
            </a:endParaRPr>
          </a:p>
          <a:p>
            <a:r>
              <a:rPr sz="1400" b="0" dirty="0">
                <a:solidFill>
                  <a:srgbClr val="404040"/>
                </a:solidFill>
                <a:latin typeface="メイリオ"/>
                <a:ea typeface="メイリオ"/>
              </a:rPr>
              <a:t>迷っている人には、4問の診断を用意します。</a:t>
            </a:r>
          </a:p>
          <a:p>
            <a:r>
              <a:rPr sz="1400" b="0" dirty="0" err="1">
                <a:solidFill>
                  <a:srgbClr val="404040"/>
                </a:solidFill>
                <a:latin typeface="メイリオ"/>
                <a:ea typeface="メイリオ"/>
              </a:rPr>
              <a:t>回答はそのまま配信セグメントのタグになります</a:t>
            </a:r>
            <a:r>
              <a:rPr sz="1400" b="0" dirty="0">
                <a:solidFill>
                  <a:srgbClr val="404040"/>
                </a:solidFill>
                <a:latin typeface="メイリオ"/>
                <a:ea typeface="メイリオ"/>
              </a:rPr>
              <a:t>。</a:t>
            </a:r>
          </a:p>
        </p:txBody>
      </p:sp>
      <p:sp>
        <p:nvSpPr>
          <p:cNvPr id="24" name="TextBox 23"/>
          <p:cNvSpPr txBox="1"/>
          <p:nvPr/>
        </p:nvSpPr>
        <p:spPr>
          <a:xfrm>
            <a:off x="704088" y="3800000"/>
            <a:ext cx="8503920" cy="769441"/>
          </a:xfrm>
          <a:prstGeom prst="rect">
            <a:avLst/>
          </a:prstGeom>
          <a:noFill/>
        </p:spPr>
        <p:txBody>
          <a:bodyPr wrap="square">
            <a:spAutoFit/>
          </a:bodyPr>
          <a:lstStyle/>
          <a:p>
            <a:r>
              <a:rPr sz="1600" b="1">
                <a:solidFill>
                  <a:srgbClr val="1F2A5C"/>
                </a:solidFill>
                <a:latin typeface="メイリオ"/>
                <a:ea typeface="メイリオ"/>
              </a:rPr>
              <a:t>③ 費用は「1回あたり」で見せる</a:t>
            </a:r>
          </a:p>
          <a:p>
            <a:r>
              <a:rPr sz="1400" b="0">
                <a:solidFill>
                  <a:srgbClr val="404040"/>
                </a:solidFill>
                <a:latin typeface="メイリオ"/>
                <a:ea typeface="メイリオ"/>
              </a:rPr>
              <a:t>月会費8,000円より「週2回なら1回1,000円」のほうが決裁が下ります。</a:t>
            </a:r>
          </a:p>
          <a:p>
            <a:r>
              <a:rPr sz="1400" b="0">
                <a:solidFill>
                  <a:srgbClr val="404040"/>
                </a:solidFill>
                <a:latin typeface="メイリオ"/>
                <a:ea typeface="メイリオ"/>
              </a:rPr>
              <a:t>診断結果の中で自然に提示します。</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b="0" dirty="0" err="1">
                <a:solidFill>
                  <a:srgbClr val="333333"/>
                </a:solidFill>
                <a:latin typeface="メイリオ"/>
                <a:ea typeface="メイリオ"/>
              </a:rPr>
              <a:t>需要の波に合わせた企画配信で、体験予約のピークを創出する</a:t>
            </a:r>
            <a:r>
              <a:rPr b="0" dirty="0">
                <a:solidFill>
                  <a:srgbClr val="333333"/>
                </a:solidFill>
                <a:latin typeface="メイリオ"/>
                <a:ea typeface="メイリオ"/>
              </a:rPr>
              <a:t>。</a:t>
            </a:r>
            <a:endParaRPr lang="en-US" altLang="ja-JP" sz="20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C97A8190-9FEF-BB71-78C1-DBFA9F0F74F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Rounded Rectangle 6"/>
          <p:cNvSpPr/>
          <p:nvPr/>
        </p:nvSpPr>
        <p:spPr>
          <a:xfrm>
            <a:off x="350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12月</a:t>
            </a:r>
          </a:p>
        </p:txBody>
      </p:sp>
      <p:sp>
        <p:nvSpPr>
          <p:cNvPr id="8" name="Rounded Rectangle 7"/>
          <p:cNvSpPr/>
          <p:nvPr/>
        </p:nvSpPr>
        <p:spPr>
          <a:xfrm>
            <a:off x="1116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1月</a:t>
            </a:r>
          </a:p>
        </p:txBody>
      </p:sp>
      <p:sp>
        <p:nvSpPr>
          <p:cNvPr id="9" name="Rounded Rectangle 8"/>
          <p:cNvSpPr/>
          <p:nvPr/>
        </p:nvSpPr>
        <p:spPr>
          <a:xfrm>
            <a:off x="1882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2月</a:t>
            </a:r>
          </a:p>
        </p:txBody>
      </p:sp>
      <p:sp>
        <p:nvSpPr>
          <p:cNvPr id="10" name="Rounded Rectangle 9"/>
          <p:cNvSpPr/>
          <p:nvPr/>
        </p:nvSpPr>
        <p:spPr>
          <a:xfrm>
            <a:off x="2648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3月</a:t>
            </a:r>
          </a:p>
        </p:txBody>
      </p:sp>
      <p:sp>
        <p:nvSpPr>
          <p:cNvPr id="11" name="Rounded Rectangle 10"/>
          <p:cNvSpPr/>
          <p:nvPr/>
        </p:nvSpPr>
        <p:spPr>
          <a:xfrm>
            <a:off x="3414000" y="1703409"/>
            <a:ext cx="752000" cy="471775"/>
          </a:xfrm>
          <a:prstGeom prst="round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4月</a:t>
            </a:r>
          </a:p>
        </p:txBody>
      </p:sp>
      <p:sp>
        <p:nvSpPr>
          <p:cNvPr id="12" name="Rounded Rectangle 11"/>
          <p:cNvSpPr/>
          <p:nvPr/>
        </p:nvSpPr>
        <p:spPr>
          <a:xfrm>
            <a:off x="4180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5月</a:t>
            </a:r>
          </a:p>
        </p:txBody>
      </p:sp>
      <p:sp>
        <p:nvSpPr>
          <p:cNvPr id="13" name="Rounded Rectangle 12"/>
          <p:cNvSpPr/>
          <p:nvPr/>
        </p:nvSpPr>
        <p:spPr>
          <a:xfrm>
            <a:off x="4946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6月</a:t>
            </a:r>
          </a:p>
        </p:txBody>
      </p:sp>
      <p:sp>
        <p:nvSpPr>
          <p:cNvPr id="14" name="Rounded Rectangle 13"/>
          <p:cNvSpPr/>
          <p:nvPr/>
        </p:nvSpPr>
        <p:spPr>
          <a:xfrm>
            <a:off x="5712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7月</a:t>
            </a:r>
          </a:p>
        </p:txBody>
      </p:sp>
      <p:sp>
        <p:nvSpPr>
          <p:cNvPr id="15" name="Rounded Rectangle 14"/>
          <p:cNvSpPr/>
          <p:nvPr/>
        </p:nvSpPr>
        <p:spPr>
          <a:xfrm>
            <a:off x="6478000" y="1703409"/>
            <a:ext cx="752000" cy="471775"/>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8月</a:t>
            </a:r>
          </a:p>
        </p:txBody>
      </p:sp>
      <p:sp>
        <p:nvSpPr>
          <p:cNvPr id="16" name="Rounded Rectangle 15"/>
          <p:cNvSpPr/>
          <p:nvPr/>
        </p:nvSpPr>
        <p:spPr>
          <a:xfrm>
            <a:off x="7244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9月</a:t>
            </a:r>
          </a:p>
        </p:txBody>
      </p:sp>
      <p:sp>
        <p:nvSpPr>
          <p:cNvPr id="17" name="Rounded Rectangle 16"/>
          <p:cNvSpPr/>
          <p:nvPr/>
        </p:nvSpPr>
        <p:spPr>
          <a:xfrm>
            <a:off x="8010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10月</a:t>
            </a:r>
          </a:p>
        </p:txBody>
      </p:sp>
      <p:sp>
        <p:nvSpPr>
          <p:cNvPr id="18" name="Rounded Rectangle 17"/>
          <p:cNvSpPr/>
          <p:nvPr/>
        </p:nvSpPr>
        <p:spPr>
          <a:xfrm>
            <a:off x="8776000" y="1703409"/>
            <a:ext cx="894210" cy="471775"/>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11月</a:t>
            </a:r>
          </a:p>
        </p:txBody>
      </p:sp>
      <p:sp>
        <p:nvSpPr>
          <p:cNvPr id="19" name="Rounded Rectangle 18"/>
          <p:cNvSpPr/>
          <p:nvPr/>
        </p:nvSpPr>
        <p:spPr>
          <a:xfrm>
            <a:off x="350000" y="2203409"/>
            <a:ext cx="3816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1F3A5F"/>
                </a:solidFill>
                <a:latin typeface="メイリオ"/>
                <a:ea typeface="メイリオ"/>
              </a:rPr>
              <a:t>1月　</a:t>
            </a:r>
            <a:r>
              <a:rPr sz="1200" b="1" dirty="0" err="1">
                <a:solidFill>
                  <a:srgbClr val="1F3A5F"/>
                </a:solidFill>
                <a:latin typeface="メイリオ"/>
                <a:ea typeface="メイリオ"/>
              </a:rPr>
              <a:t>最大ピーク（新年の決意</a:t>
            </a:r>
            <a:r>
              <a:rPr sz="1200" b="1" dirty="0">
                <a:solidFill>
                  <a:srgbClr val="1F3A5F"/>
                </a:solidFill>
                <a:latin typeface="メイリオ"/>
                <a:ea typeface="メイリオ"/>
              </a:rPr>
              <a:t>）</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年明けに検索が最も立つ／CPCも最高値</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入会金無料CP／体づくりタイプ診断</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・11〜12月に溜めた友だちへ一斉配信</a:t>
            </a:r>
          </a:p>
        </p:txBody>
      </p:sp>
      <p:sp>
        <p:nvSpPr>
          <p:cNvPr id="20" name="Rounded Rectangle 19"/>
          <p:cNvSpPr/>
          <p:nvPr/>
        </p:nvSpPr>
        <p:spPr>
          <a:xfrm>
            <a:off x="4180000" y="2203409"/>
            <a:ext cx="3050000"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06C755"/>
                </a:solidFill>
                <a:latin typeface="メイリオ"/>
                <a:ea typeface="メイリオ"/>
              </a:rPr>
              <a:t>4〜7月　</a:t>
            </a:r>
            <a:r>
              <a:rPr sz="1200" b="1" dirty="0" err="1">
                <a:solidFill>
                  <a:srgbClr val="06C755"/>
                </a:solidFill>
                <a:latin typeface="メイリオ"/>
                <a:ea typeface="メイリオ"/>
              </a:rPr>
              <a:t>新生活と薄着期</a:t>
            </a:r>
            <a:endParaRPr lang="en-US" sz="1200" b="1" dirty="0">
              <a:solidFill>
                <a:srgbClr val="06C755"/>
              </a:solidFill>
              <a:latin typeface="メイリオ"/>
              <a:ea typeface="メイリオ"/>
            </a:endParaRPr>
          </a:p>
          <a:p>
            <a:pPr algn="l"/>
            <a:endParaRPr sz="800" b="1" dirty="0">
              <a:solidFill>
                <a:srgbClr val="06C755"/>
              </a:solidFill>
              <a:latin typeface="メイリオ"/>
              <a:ea typeface="メイリオ"/>
            </a:endParaRPr>
          </a:p>
          <a:p>
            <a:pPr algn="l"/>
            <a:r>
              <a:rPr sz="1200" b="0" dirty="0">
                <a:solidFill>
                  <a:srgbClr val="333333"/>
                </a:solidFill>
                <a:latin typeface="メイリオ"/>
                <a:ea typeface="メイリオ"/>
              </a:rPr>
              <a:t>・4月＝転居・異動・新社会人</a:t>
            </a:r>
          </a:p>
          <a:p>
            <a:pPr algn="l"/>
            <a:r>
              <a:rPr sz="1200" b="0" dirty="0">
                <a:solidFill>
                  <a:srgbClr val="333333"/>
                </a:solidFill>
                <a:latin typeface="メイリオ"/>
                <a:ea typeface="メイリオ"/>
              </a:rPr>
              <a:t>・5〜7月＝ダイエット目的で確度が高い</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ビフォーアフター実例が最も効く</a:t>
            </a:r>
            <a:endParaRPr sz="1200" b="0" dirty="0">
              <a:solidFill>
                <a:srgbClr val="333333"/>
              </a:solidFill>
              <a:latin typeface="メイリオ"/>
              <a:ea typeface="メイリオ"/>
            </a:endParaRPr>
          </a:p>
        </p:txBody>
      </p:sp>
      <p:sp>
        <p:nvSpPr>
          <p:cNvPr id="21" name="Rounded Rectangle 20"/>
          <p:cNvSpPr/>
          <p:nvPr/>
        </p:nvSpPr>
        <p:spPr>
          <a:xfrm>
            <a:off x="7243999" y="2203409"/>
            <a:ext cx="2426211" cy="1643971"/>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t"/>
          <a:lstStyle/>
          <a:p>
            <a:pPr algn="l"/>
            <a:r>
              <a:rPr sz="1200" b="1" dirty="0">
                <a:solidFill>
                  <a:srgbClr val="24345A"/>
                </a:solidFill>
                <a:latin typeface="メイリオ"/>
                <a:ea typeface="メイリオ"/>
              </a:rPr>
              <a:t>8〜12月　</a:t>
            </a:r>
            <a:r>
              <a:rPr sz="1200" b="1" dirty="0" err="1">
                <a:solidFill>
                  <a:srgbClr val="24345A"/>
                </a:solidFill>
                <a:latin typeface="メイリオ"/>
                <a:ea typeface="メイリオ"/>
              </a:rPr>
              <a:t>閑散期＝仕込み期</a:t>
            </a:r>
            <a:endParaRPr lang="en-US" sz="1200" b="1" dirty="0">
              <a:solidFill>
                <a:srgbClr val="24345A"/>
              </a:solidFill>
              <a:latin typeface="メイリオ"/>
              <a:ea typeface="メイリオ"/>
            </a:endParaRPr>
          </a:p>
          <a:p>
            <a:pPr algn="l"/>
            <a:endParaRPr sz="800" b="1" dirty="0">
              <a:solidFill>
                <a:srgbClr val="24345A"/>
              </a:solidFill>
              <a:latin typeface="メイリオ"/>
              <a:ea typeface="メイリオ"/>
            </a:endParaRPr>
          </a:p>
          <a:p>
            <a:pPr algn="l"/>
            <a:r>
              <a:rPr sz="1200" b="0" dirty="0">
                <a:solidFill>
                  <a:srgbClr val="333333"/>
                </a:solidFill>
                <a:latin typeface="メイリオ"/>
                <a:ea typeface="メイリオ"/>
              </a:rPr>
              <a:t>・8月後半と11〜12月は需要が落ちる</a:t>
            </a:r>
          </a:p>
          <a:p>
            <a:pPr algn="l"/>
            <a:r>
              <a:rPr sz="1200" b="0" dirty="0">
                <a:solidFill>
                  <a:srgbClr val="333333"/>
                </a:solidFill>
                <a:latin typeface="メイリオ"/>
                <a:ea typeface="メイリオ"/>
              </a:rPr>
              <a:t>・</a:t>
            </a:r>
            <a:r>
              <a:rPr sz="1200" b="0" dirty="0" err="1">
                <a:solidFill>
                  <a:srgbClr val="333333"/>
                </a:solidFill>
                <a:latin typeface="メイリオ"/>
                <a:ea typeface="メイリオ"/>
              </a:rPr>
              <a:t>診断・料金シミュレーターで友だちを溜める</a:t>
            </a:r>
            <a:endParaRPr sz="1200" b="0" dirty="0">
              <a:solidFill>
                <a:srgbClr val="333333"/>
              </a:solidFill>
              <a:latin typeface="メイリオ"/>
              <a:ea typeface="メイリオ"/>
            </a:endParaRPr>
          </a:p>
          <a:p>
            <a:pPr algn="l"/>
            <a:r>
              <a:rPr sz="1200" b="0" dirty="0">
                <a:solidFill>
                  <a:srgbClr val="333333"/>
                </a:solidFill>
                <a:latin typeface="メイリオ"/>
                <a:ea typeface="メイリオ"/>
              </a:rPr>
              <a:t>・1月に広告費ゼロで届く相手を作る</a:t>
            </a:r>
          </a:p>
        </p:txBody>
      </p:sp>
      <p:sp>
        <p:nvSpPr>
          <p:cNvPr id="22" name="TextBox 21"/>
          <p:cNvSpPr txBox="1"/>
          <p:nvPr/>
        </p:nvSpPr>
        <p:spPr>
          <a:xfrm>
            <a:off x="350000" y="6282000"/>
            <a:ext cx="9200000" cy="216000"/>
          </a:xfrm>
          <a:prstGeom prst="rect">
            <a:avLst/>
          </a:prstGeom>
          <a:noFill/>
        </p:spPr>
        <p:txBody>
          <a:bodyPr wrap="square">
            <a:spAutoFit/>
          </a:bodyPr>
          <a:lstStyle/>
          <a:p>
            <a:r>
              <a:rPr sz="900">
                <a:solidFill>
                  <a:srgbClr val="555555"/>
                </a:solidFill>
                <a:latin typeface="メイリオ"/>
                <a:ea typeface="メイリオ"/>
              </a:rPr>
              <a:t>※ 季節区分はGoogleトレンド（日本・過去5年・2026/8/17取得）で確認済み：毎年1月に山、10〜12月に谷。</a:t>
            </a:r>
          </a:p>
        </p:txBody>
      </p:sp>
      <p:sp>
        <p:nvSpPr>
          <p:cNvPr id="23" name="TextBox 22"/>
          <p:cNvSpPr txBox="1"/>
          <p:nvPr/>
        </p:nvSpPr>
        <p:spPr>
          <a:xfrm>
            <a:off x="330857" y="4213488"/>
            <a:ext cx="6000000" cy="338554"/>
          </a:xfrm>
          <a:prstGeom prst="rect">
            <a:avLst/>
          </a:prstGeom>
          <a:noFill/>
        </p:spPr>
        <p:txBody>
          <a:bodyPr wrap="square">
            <a:spAutoFit/>
          </a:bodyPr>
          <a:lstStyle/>
          <a:p>
            <a:r>
              <a:rPr sz="1600" b="1">
                <a:solidFill>
                  <a:srgbClr val="1F3A5F"/>
                </a:solidFill>
                <a:latin typeface="メイリオ"/>
                <a:ea typeface="メイリオ"/>
              </a:rPr>
              <a:t>配信運用のリズム（システム化：いつ・何を投稿するか）</a:t>
            </a:r>
          </a:p>
        </p:txBody>
      </p:sp>
      <p:sp>
        <p:nvSpPr>
          <p:cNvPr id="24" name="Rounded Rectangle 23"/>
          <p:cNvSpPr/>
          <p:nvPr/>
        </p:nvSpPr>
        <p:spPr>
          <a:xfrm>
            <a:off x="33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lang="ja-JP" altLang="en-US" sz="1200" b="1" dirty="0">
                <a:solidFill>
                  <a:srgbClr val="1F3A5F"/>
                </a:solidFill>
                <a:latin typeface="メイリオ"/>
                <a:ea typeface="メイリオ"/>
              </a:rPr>
              <a:t>月</a:t>
            </a:r>
            <a:r>
              <a:rPr lang="en-US" altLang="ja-JP" sz="1200" b="1" dirty="0">
                <a:solidFill>
                  <a:srgbClr val="1F3A5F"/>
                </a:solidFill>
                <a:latin typeface="メイリオ"/>
                <a:ea typeface="メイリオ"/>
              </a:rPr>
              <a:t>4</a:t>
            </a:r>
            <a:r>
              <a:rPr sz="1200" b="1" dirty="0">
                <a:solidFill>
                  <a:srgbClr val="1F3A5F"/>
                </a:solidFill>
                <a:latin typeface="メイリオ"/>
                <a:ea typeface="メイリオ"/>
              </a:rPr>
              <a:t>回：定期投稿</a:t>
            </a: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月次プランで「いつ・何を」を事前確定</a:t>
            </a:r>
            <a:endParaRPr lang="en-US" sz="1100" b="0" dirty="0">
              <a:solidFill>
                <a:srgbClr val="333333"/>
              </a:solidFill>
              <a:latin typeface="メイリオ"/>
              <a:ea typeface="メイリオ"/>
            </a:endParaRPr>
          </a:p>
          <a:p>
            <a:pPr algn="l"/>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システム化して運用</a:t>
            </a:r>
            <a:endParaRPr sz="1100" b="0" dirty="0">
              <a:solidFill>
                <a:srgbClr val="333333"/>
              </a:solidFill>
              <a:latin typeface="メイリオ"/>
              <a:ea typeface="メイリオ"/>
            </a:endParaRPr>
          </a:p>
        </p:txBody>
      </p:sp>
      <p:sp>
        <p:nvSpPr>
          <p:cNvPr id="25" name="Rounded Rectangle 24"/>
          <p:cNvSpPr/>
          <p:nvPr/>
        </p:nvSpPr>
        <p:spPr>
          <a:xfrm>
            <a:off x="266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時期・時事の特別配信</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繁忙期CP、相場や時事ニュースに連動した配信を追加</a:t>
            </a:r>
            <a:endParaRPr sz="1100" b="0" dirty="0">
              <a:solidFill>
                <a:srgbClr val="333333"/>
              </a:solidFill>
              <a:latin typeface="メイリオ"/>
              <a:ea typeface="メイリオ"/>
            </a:endParaRPr>
          </a:p>
        </p:txBody>
      </p:sp>
      <p:sp>
        <p:nvSpPr>
          <p:cNvPr id="26" name="Rounded Rectangle 25"/>
          <p:cNvSpPr/>
          <p:nvPr/>
        </p:nvSpPr>
        <p:spPr>
          <a:xfrm>
            <a:off x="499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ステップ配信は全自動</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友だち追加後の育成配信はシナリオで常時稼働</a:t>
            </a:r>
            <a:endParaRPr sz="1100" b="0" dirty="0">
              <a:solidFill>
                <a:srgbClr val="333333"/>
              </a:solidFill>
              <a:latin typeface="メイリオ"/>
              <a:ea typeface="メイリオ"/>
            </a:endParaRPr>
          </a:p>
        </p:txBody>
      </p:sp>
      <p:sp>
        <p:nvSpPr>
          <p:cNvPr id="27" name="Rounded Rectangle 26"/>
          <p:cNvSpPr/>
          <p:nvPr/>
        </p:nvSpPr>
        <p:spPr>
          <a:xfrm>
            <a:off x="7320857" y="4583488"/>
            <a:ext cx="2220000" cy="14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80000" tIns="45000" rIns="70000" bIns="30000" rtlCol="0" anchor="t"/>
          <a:lstStyle/>
          <a:p>
            <a:pPr algn="l"/>
            <a:r>
              <a:rPr sz="1200" b="1" dirty="0" err="1">
                <a:solidFill>
                  <a:srgbClr val="1F3A5F"/>
                </a:solidFill>
                <a:latin typeface="メイリオ"/>
                <a:ea typeface="メイリオ"/>
              </a:rPr>
              <a:t>クリエイティブABテスト</a:t>
            </a:r>
            <a:endParaRPr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100" b="0" dirty="0" err="1">
                <a:solidFill>
                  <a:srgbClr val="333333"/>
                </a:solidFill>
                <a:latin typeface="メイリオ"/>
                <a:ea typeface="メイリオ"/>
              </a:rPr>
              <a:t>訴求×時期×ターゲットでテストし、勝ちパターンを更新</a:t>
            </a:r>
            <a:endParaRPr sz="1100" b="0" dirty="0">
              <a:solidFill>
                <a:srgbClr val="333333"/>
              </a:solidFill>
              <a:latin typeface="メイリオ"/>
              <a:ea typeface="メイリオ"/>
            </a:endParaRPr>
          </a:p>
        </p:txBody>
      </p:sp>
    </p:spTree>
    <p:extLst>
      <p:ext uri="{BB962C8B-B14F-4D97-AF65-F5344CB8AC3E}">
        <p14:creationId xmlns:p14="http://schemas.microsoft.com/office/powerpoint/2010/main" val="32250749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49201" y="692184"/>
            <a:ext cx="9340800"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0" dirty="0" err="1">
                <a:solidFill>
                  <a:srgbClr val="333333"/>
                </a:solidFill>
                <a:latin typeface="メイリオ"/>
                <a:ea typeface="メイリオ"/>
              </a:rPr>
              <a:t>非友だち・保有リストにも接点を作り（通知メッセ</a:t>
            </a:r>
            <a:r>
              <a:rPr sz="1600" b="0" dirty="0">
                <a:solidFill>
                  <a:srgbClr val="333333"/>
                </a:solidFill>
                <a:latin typeface="メイリオ"/>
                <a:ea typeface="メイリオ"/>
              </a:rPr>
              <a:t>）、</a:t>
            </a:r>
            <a:r>
              <a:rPr sz="1600" b="0" dirty="0" err="1">
                <a:solidFill>
                  <a:srgbClr val="333333"/>
                </a:solidFill>
                <a:latin typeface="メイリオ"/>
                <a:ea typeface="メイリオ"/>
              </a:rPr>
              <a:t>参加型の企画で友だちとCVを両取りする</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ABD89CB-4100-C32C-CF98-1D09990839B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具体企画の構成</a:t>
            </a:r>
            <a:endParaRPr sz="1600" b="1" dirty="0">
              <a:solidFill>
                <a:srgbClr val="002060"/>
              </a:solidFill>
              <a:latin typeface="メイリオ"/>
              <a:ea typeface="メイリオ"/>
              <a:cs typeface="Meiryo"/>
              <a:sym typeface="Meiryo"/>
            </a:endParaRPr>
          </a:p>
        </p:txBody>
      </p:sp>
      <p:sp>
        <p:nvSpPr>
          <p:cNvPr id="7" name="TextBox 6"/>
          <p:cNvSpPr txBox="1"/>
          <p:nvPr/>
        </p:nvSpPr>
        <p:spPr>
          <a:xfrm>
            <a:off x="363000" y="1518334"/>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sz="1400" b="1" dirty="0" err="1">
                <a:solidFill>
                  <a:srgbClr val="1F3A5F"/>
                </a:solidFill>
                <a:latin typeface="メイリオ"/>
                <a:ea typeface="メイリオ"/>
              </a:rPr>
              <a:t>通知メッセージ</a:t>
            </a:r>
            <a:r>
              <a:rPr sz="1400" b="1" dirty="0">
                <a:solidFill>
                  <a:srgbClr val="1F3A5F"/>
                </a:solidFill>
                <a:latin typeface="メイリオ"/>
                <a:ea typeface="メイリオ"/>
              </a:rPr>
              <a:t> </a:t>
            </a:r>
            <a:r>
              <a:rPr sz="1400" b="1" dirty="0" err="1">
                <a:solidFill>
                  <a:srgbClr val="1F3A5F"/>
                </a:solidFill>
                <a:latin typeface="メイリオ"/>
                <a:ea typeface="メイリオ"/>
              </a:rPr>
              <a:t>利用シーン</a:t>
            </a:r>
            <a:endParaRPr sz="1400" b="1" dirty="0">
              <a:solidFill>
                <a:srgbClr val="1F3A5F"/>
              </a:solidFill>
              <a:latin typeface="メイリオ"/>
              <a:ea typeface="メイリオ"/>
            </a:endParaRPr>
          </a:p>
        </p:txBody>
      </p:sp>
      <p:sp>
        <p:nvSpPr>
          <p:cNvPr id="8" name="Rounded Rectangle 7"/>
          <p:cNvSpPr/>
          <p:nvPr/>
        </p:nvSpPr>
        <p:spPr>
          <a:xfrm>
            <a:off x="36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体験予約確定のお知らせ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持ち物・アクセス案内</a:t>
            </a:r>
            <a:endParaRPr lang="en-US" sz="1000" b="0" dirty="0">
              <a:solidFill>
                <a:srgbClr val="333333"/>
              </a:solidFill>
              <a:latin typeface="メイリオ"/>
              <a:ea typeface="メイリオ"/>
            </a:endParaRPr>
          </a:p>
          <a:p>
            <a:pPr algn="ctr"/>
            <a:r>
              <a:rPr sz="1000" b="0" dirty="0">
                <a:solidFill>
                  <a:srgbClr val="333333"/>
                </a:solidFill>
                <a:latin typeface="メイリオ"/>
                <a:ea typeface="メイリオ"/>
              </a:rPr>
              <a:t>→</a:t>
            </a:r>
            <a:r>
              <a:rPr sz="1000" b="0" dirty="0" err="1">
                <a:solidFill>
                  <a:srgbClr val="333333"/>
                </a:solidFill>
                <a:latin typeface="メイリオ"/>
                <a:ea typeface="メイリオ"/>
              </a:rPr>
              <a:t>来店</a:t>
            </a:r>
            <a:r>
              <a:rPr sz="1000" b="0" dirty="0">
                <a:solidFill>
                  <a:srgbClr val="333333"/>
                </a:solidFill>
                <a:latin typeface="メイリオ"/>
                <a:ea typeface="メイリオ"/>
              </a:rPr>
              <a:t>(CV②)へ</a:t>
            </a:r>
          </a:p>
        </p:txBody>
      </p:sp>
      <p:sp>
        <p:nvSpPr>
          <p:cNvPr id="9" name="Rounded Rectangle 8"/>
          <p:cNvSpPr/>
          <p:nvPr/>
        </p:nvSpPr>
        <p:spPr>
          <a:xfrm>
            <a:off x="274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dirty="0" err="1">
                <a:solidFill>
                  <a:srgbClr val="1F3A5F"/>
                </a:solidFill>
                <a:latin typeface="メイリオ"/>
                <a:ea typeface="メイリオ"/>
              </a:rPr>
              <a:t>入会手続き完了のお知らせ</a:t>
            </a:r>
            <a:endParaRPr sz="1100" b="1" dirty="0">
              <a:solidFill>
                <a:srgbClr val="1F3A5F"/>
              </a:solidFill>
              <a:latin typeface="メイリオ"/>
              <a:ea typeface="メイリオ"/>
            </a:endParaRPr>
          </a:p>
          <a:p>
            <a:pPr algn="ctr"/>
            <a:endParaRPr sz="1100" b="1" dirty="0">
              <a:solidFill>
                <a:srgbClr val="1F3A5F"/>
              </a:solidFill>
              <a:latin typeface="メイリオ"/>
              <a:ea typeface="メイリオ"/>
            </a:endParaRPr>
          </a:p>
          <a:p>
            <a:pPr algn="ctr"/>
            <a:r>
              <a:rPr sz="1000" b="0" dirty="0" err="1">
                <a:solidFill>
                  <a:srgbClr val="333333"/>
                </a:solidFill>
                <a:latin typeface="メイリオ"/>
                <a:ea typeface="メイリオ"/>
              </a:rPr>
              <a:t>初回来店の予約→継続</a:t>
            </a:r>
            <a:r>
              <a:rPr sz="1000" b="0" dirty="0">
                <a:solidFill>
                  <a:srgbClr val="333333"/>
                </a:solidFill>
                <a:latin typeface="メイリオ"/>
                <a:ea typeface="メイリオ"/>
              </a:rPr>
              <a:t>(CV③)へ</a:t>
            </a:r>
          </a:p>
        </p:txBody>
      </p:sp>
      <p:sp>
        <p:nvSpPr>
          <p:cNvPr id="10" name="Rounded Rectangle 9"/>
          <p:cNvSpPr/>
          <p:nvPr/>
        </p:nvSpPr>
        <p:spPr>
          <a:xfrm>
            <a:off x="512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体験前日リマインド</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当日キャンセル防止</a:t>
            </a:r>
          </a:p>
        </p:txBody>
      </p:sp>
      <p:sp>
        <p:nvSpPr>
          <p:cNvPr id="11" name="Rounded Rectangle 10"/>
          <p:cNvSpPr/>
          <p:nvPr/>
        </p:nvSpPr>
        <p:spPr>
          <a:xfrm>
            <a:off x="7503000" y="1868334"/>
            <a:ext cx="2200000" cy="1000000"/>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100" b="1">
                <a:solidFill>
                  <a:srgbClr val="1F3A5F"/>
                </a:solidFill>
                <a:latin typeface="メイリオ"/>
                <a:ea typeface="メイリオ"/>
              </a:rPr>
              <a:t>入会キャンペーン告知</a:t>
            </a:r>
          </a:p>
          <a:p>
            <a:pPr algn="ctr"/>
            <a:endParaRPr sz="1100" b="1">
              <a:solidFill>
                <a:srgbClr val="1F3A5F"/>
              </a:solidFill>
              <a:latin typeface="メイリオ"/>
              <a:ea typeface="メイリオ"/>
            </a:endParaRPr>
          </a:p>
          <a:p>
            <a:pPr algn="ctr"/>
            <a:r>
              <a:rPr sz="1000" b="0">
                <a:solidFill>
                  <a:srgbClr val="333333"/>
                </a:solidFill>
                <a:latin typeface="メイリオ"/>
                <a:ea typeface="メイリオ"/>
              </a:rPr>
              <a:t>保有リストへ再アプローチ</a:t>
            </a:r>
          </a:p>
        </p:txBody>
      </p:sp>
      <p:sp>
        <p:nvSpPr>
          <p:cNvPr id="12" name="TextBox 11"/>
          <p:cNvSpPr txBox="1"/>
          <p:nvPr/>
        </p:nvSpPr>
        <p:spPr>
          <a:xfrm>
            <a:off x="350001" y="3089667"/>
            <a:ext cx="4400000" cy="307777"/>
          </a:xfrm>
          <a:prstGeom prst="rect">
            <a:avLst/>
          </a:prstGeom>
          <a:noFill/>
        </p:spPr>
        <p:txBody>
          <a:bodyPr wrap="square">
            <a:spAutoFit/>
          </a:bodyPr>
          <a:lstStyle/>
          <a:p>
            <a:pPr algn="l"/>
            <a:r>
              <a:rPr sz="1400" b="1" dirty="0">
                <a:solidFill>
                  <a:srgbClr val="1F3A5F"/>
                </a:solidFill>
                <a:latin typeface="メイリオ"/>
                <a:ea typeface="メイリオ"/>
              </a:rPr>
              <a:t>■ </a:t>
            </a:r>
            <a:r>
              <a:rPr lang="ja-JP" altLang="en-US" sz="1400" b="1" dirty="0">
                <a:solidFill>
                  <a:srgbClr val="1F3A5F"/>
                </a:solidFill>
                <a:latin typeface="メイリオ"/>
                <a:ea typeface="メイリオ"/>
              </a:rPr>
              <a:t>その他特殊動線の利用シーン</a:t>
            </a:r>
            <a:endParaRPr sz="1400" b="1" dirty="0">
              <a:solidFill>
                <a:srgbClr val="1F3A5F"/>
              </a:solidFill>
              <a:latin typeface="メイリオ"/>
              <a:ea typeface="メイリオ"/>
            </a:endParaRPr>
          </a:p>
        </p:txBody>
      </p:sp>
      <p:sp>
        <p:nvSpPr>
          <p:cNvPr id="13" name="Rounded Rectangle 12"/>
          <p:cNvSpPr/>
          <p:nvPr/>
        </p:nvSpPr>
        <p:spPr>
          <a:xfrm>
            <a:off x="35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① 30秒でわかる体づくりタイプ診断</a:t>
            </a:r>
          </a:p>
          <a:p>
            <a:pPr algn="ctr"/>
            <a:endParaRPr sz="1050" b="1" dirty="0">
              <a:solidFill>
                <a:srgbClr val="FFFFFF"/>
              </a:solidFill>
              <a:latin typeface="メイリオ"/>
              <a:ea typeface="メイリオ"/>
            </a:endParaRPr>
          </a:p>
          <a:p>
            <a:pPr algn="ctr"/>
            <a:r>
              <a:rPr sz="1000" b="0" dirty="0" err="1">
                <a:solidFill>
                  <a:srgbClr val="FFFFFF"/>
                </a:solidFill>
                <a:latin typeface="メイリオ"/>
                <a:ea typeface="メイリオ"/>
              </a:rPr>
              <a:t>数タップで完了</a:t>
            </a:r>
            <a:r>
              <a:rPr sz="1000" b="0" dirty="0">
                <a:solidFill>
                  <a:srgbClr val="FFFFFF"/>
                </a:solidFill>
                <a:latin typeface="メイリオ"/>
                <a:ea typeface="メイリオ"/>
              </a:rPr>
              <a:t>。</a:t>
            </a:r>
            <a:endParaRPr lang="en-US" sz="1000" b="0" dirty="0">
              <a:solidFill>
                <a:srgbClr val="FFFFFF"/>
              </a:solidFill>
              <a:latin typeface="メイリオ"/>
              <a:ea typeface="メイリオ"/>
            </a:endParaRPr>
          </a:p>
          <a:p>
            <a:pPr algn="ctr"/>
            <a:r>
              <a:rPr sz="1000" b="0" dirty="0" err="1">
                <a:solidFill>
                  <a:srgbClr val="FFFFFF"/>
                </a:solidFill>
                <a:latin typeface="メイリオ"/>
                <a:ea typeface="メイリオ"/>
              </a:rPr>
              <a:t>体験前の心理ハードルを最小化</a:t>
            </a:r>
            <a:endParaRPr sz="1000" b="0" dirty="0">
              <a:solidFill>
                <a:srgbClr val="FFFFFF"/>
              </a:solidFill>
              <a:latin typeface="メイリオ"/>
              <a:ea typeface="メイリオ"/>
            </a:endParaRPr>
          </a:p>
        </p:txBody>
      </p:sp>
      <p:sp>
        <p:nvSpPr>
          <p:cNvPr id="14" name="Rounded Rectangle 13"/>
          <p:cNvSpPr/>
          <p:nvPr/>
        </p:nvSpPr>
        <p:spPr>
          <a:xfrm>
            <a:off x="273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dirty="0">
                <a:solidFill>
                  <a:srgbClr val="FFFFFF"/>
                </a:solidFill>
                <a:latin typeface="メイリオ"/>
                <a:ea typeface="メイリオ"/>
              </a:rPr>
              <a:t>② </a:t>
            </a:r>
            <a:r>
              <a:rPr sz="1050" b="1" dirty="0" err="1">
                <a:solidFill>
                  <a:srgbClr val="FFFFFF"/>
                </a:solidFill>
                <a:latin typeface="メイリオ"/>
                <a:ea typeface="メイリオ"/>
              </a:rPr>
              <a:t>通う頻度から選ぶ料金診断</a:t>
            </a:r>
            <a:endParaRPr sz="1050" b="1" dirty="0">
              <a:solidFill>
                <a:srgbClr val="FFFFFF"/>
              </a:solidFill>
              <a:latin typeface="メイリオ"/>
              <a:ea typeface="メイリオ"/>
            </a:endParaRPr>
          </a:p>
          <a:p>
            <a:pPr algn="ctr"/>
            <a:endParaRPr sz="1050" b="1" dirty="0">
              <a:solidFill>
                <a:srgbClr val="FFFFFF"/>
              </a:solidFill>
              <a:latin typeface="メイリオ"/>
              <a:ea typeface="メイリオ"/>
            </a:endParaRPr>
          </a:p>
          <a:p>
            <a:pPr algn="ctr"/>
            <a:r>
              <a:rPr sz="1000" b="0" dirty="0">
                <a:solidFill>
                  <a:srgbClr val="FFFFFF"/>
                </a:solidFill>
                <a:latin typeface="メイリオ"/>
                <a:ea typeface="メイリオ"/>
              </a:rPr>
              <a:t>「週2回なら1回◯円」を提示</a:t>
            </a:r>
            <a:endParaRPr lang="en-US" sz="1000" b="0" dirty="0">
              <a:solidFill>
                <a:srgbClr val="FFFFFF"/>
              </a:solidFill>
              <a:latin typeface="メイリオ"/>
              <a:ea typeface="メイリオ"/>
            </a:endParaRPr>
          </a:p>
          <a:p>
            <a:pPr algn="ctr"/>
            <a:r>
              <a:rPr sz="1000" b="0" dirty="0">
                <a:solidFill>
                  <a:srgbClr val="FFFFFF"/>
                </a:solidFill>
                <a:latin typeface="メイリオ"/>
                <a:ea typeface="メイリオ"/>
              </a:rPr>
              <a:t>→</a:t>
            </a:r>
            <a:r>
              <a:rPr sz="1000" b="0" dirty="0" err="1">
                <a:solidFill>
                  <a:srgbClr val="FFFFFF"/>
                </a:solidFill>
                <a:latin typeface="メイリオ"/>
                <a:ea typeface="メイリオ"/>
              </a:rPr>
              <a:t>体験予約へ</a:t>
            </a:r>
            <a:endParaRPr sz="1000" b="0" dirty="0">
              <a:solidFill>
                <a:srgbClr val="FFFFFF"/>
              </a:solidFill>
              <a:latin typeface="メイリオ"/>
              <a:ea typeface="メイリオ"/>
            </a:endParaRPr>
          </a:p>
        </p:txBody>
      </p:sp>
      <p:sp>
        <p:nvSpPr>
          <p:cNvPr id="15" name="Rounded Rectangle 14"/>
          <p:cNvSpPr/>
          <p:nvPr/>
        </p:nvSpPr>
        <p:spPr>
          <a:xfrm>
            <a:off x="511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③ 続けられるかタイプ診断</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「続かない」不安に直撃＋友だち獲得</a:t>
            </a:r>
          </a:p>
        </p:txBody>
      </p:sp>
      <p:sp>
        <p:nvSpPr>
          <p:cNvPr id="16" name="Rounded Rectangle 15"/>
          <p:cNvSpPr/>
          <p:nvPr/>
        </p:nvSpPr>
        <p:spPr>
          <a:xfrm>
            <a:off x="7490001" y="3439667"/>
            <a:ext cx="2200000" cy="1100000"/>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55000" tIns="18000" rIns="55000" bIns="18000" rtlCol="0" anchor="ctr"/>
          <a:lstStyle/>
          <a:p>
            <a:pPr algn="ctr"/>
            <a:r>
              <a:rPr sz="1050" b="1">
                <a:solidFill>
                  <a:srgbClr val="FFFFFF"/>
                </a:solidFill>
                <a:latin typeface="メイリオ"/>
                <a:ea typeface="メイリオ"/>
              </a:rPr>
              <a:t>④ 退会予兆検知（来店が2週間途切れ）</a:t>
            </a:r>
          </a:p>
          <a:p>
            <a:pPr algn="ctr"/>
            <a:endParaRPr sz="1050" b="1">
              <a:solidFill>
                <a:srgbClr val="FFFFFF"/>
              </a:solidFill>
              <a:latin typeface="メイリオ"/>
              <a:ea typeface="メイリオ"/>
            </a:endParaRPr>
          </a:p>
          <a:p>
            <a:pPr algn="ctr"/>
            <a:r>
              <a:rPr sz="1000" b="0">
                <a:solidFill>
                  <a:srgbClr val="FFFFFF"/>
                </a:solidFill>
                <a:latin typeface="メイリオ"/>
                <a:ea typeface="メイリオ"/>
              </a:rPr>
              <a:t>幽霊会員化を、退会される前に止める</a:t>
            </a:r>
          </a:p>
        </p:txBody>
      </p:sp>
      <p:sp>
        <p:nvSpPr>
          <p:cNvPr id="17" name="TextBox 16"/>
          <p:cNvSpPr txBox="1"/>
          <p:nvPr/>
        </p:nvSpPr>
        <p:spPr>
          <a:xfrm>
            <a:off x="349200" y="4824000"/>
            <a:ext cx="5040000" cy="237255"/>
          </a:xfrm>
          <a:prstGeom prst="rect">
            <a:avLst/>
          </a:prstGeom>
          <a:noFill/>
        </p:spPr>
        <p:txBody>
          <a:bodyPr wrap="square" lIns="28800" tIns="10800" rIns="28800" bIns="10800">
            <a:spAutoFit/>
          </a:bodyPr>
          <a:lstStyle/>
          <a:p>
            <a:r>
              <a:rPr sz="1400" b="1">
                <a:solidFill>
                  <a:srgbClr val="1F2A5C"/>
                </a:solidFill>
                <a:latin typeface="メイリオ"/>
                <a:ea typeface="メイリオ"/>
              </a:rPr>
              <a:t>■ 通知メッセージの仕組み（非友だちにも届く公式機能）</a:t>
            </a:r>
          </a:p>
        </p:txBody>
      </p:sp>
      <p:sp>
        <p:nvSpPr>
          <p:cNvPr id="18" name="Rounded Rectangle 17"/>
          <p:cNvSpPr/>
          <p:nvPr/>
        </p:nvSpPr>
        <p:spPr>
          <a:xfrm>
            <a:off x="3492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保有リストの電話番号</a:t>
            </a:r>
            <a:endParaRPr sz="1400" b="1" dirty="0">
              <a:solidFill>
                <a:srgbClr val="1F2A5C"/>
              </a:solidFill>
              <a:latin typeface="メイリオ"/>
            </a:endParaRPr>
          </a:p>
          <a:p>
            <a:pPr algn="ctr"/>
            <a:r>
              <a:rPr sz="1100" b="0" dirty="0" err="1">
                <a:solidFill>
                  <a:srgbClr val="1C2233"/>
                </a:solidFill>
                <a:latin typeface="メイリオ"/>
                <a:ea typeface="メイリオ"/>
              </a:rPr>
              <a:t>過去の体験申込・休眠会員リストを利用</a:t>
            </a:r>
            <a:endParaRPr sz="1100" b="0" dirty="0">
              <a:solidFill>
                <a:srgbClr val="1C2233"/>
              </a:solidFill>
              <a:latin typeface="メイリオ"/>
            </a:endParaRPr>
          </a:p>
        </p:txBody>
      </p:sp>
      <p:sp>
        <p:nvSpPr>
          <p:cNvPr id="19" name="TextBox 18"/>
          <p:cNvSpPr txBox="1"/>
          <p:nvPr/>
        </p:nvSpPr>
        <p:spPr>
          <a:xfrm>
            <a:off x="31140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0" name="Rounded Rectangle 19"/>
          <p:cNvSpPr/>
          <p:nvPr/>
        </p:nvSpPr>
        <p:spPr>
          <a:xfrm>
            <a:off x="34524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LINEの電話番号と照合</a:t>
            </a:r>
            <a:endParaRPr sz="1400" b="1" dirty="0">
              <a:solidFill>
                <a:srgbClr val="1F2A5C"/>
              </a:solidFill>
              <a:latin typeface="メイリオ"/>
            </a:endParaRPr>
          </a:p>
          <a:p>
            <a:pPr algn="ctr"/>
            <a:r>
              <a:rPr sz="1100" b="0" dirty="0" err="1">
                <a:solidFill>
                  <a:srgbClr val="1C2233"/>
                </a:solidFill>
                <a:latin typeface="メイリオ"/>
                <a:ea typeface="メイリオ"/>
              </a:rPr>
              <a:t>LINEヤフー公式機能</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友だち登録が無くても対象化</a:t>
            </a:r>
            <a:endParaRPr sz="1100" b="0" dirty="0">
              <a:solidFill>
                <a:srgbClr val="1C2233"/>
              </a:solidFill>
              <a:latin typeface="メイリオ"/>
            </a:endParaRPr>
          </a:p>
        </p:txBody>
      </p:sp>
      <p:sp>
        <p:nvSpPr>
          <p:cNvPr id="21" name="TextBox 20"/>
          <p:cNvSpPr txBox="1"/>
          <p:nvPr/>
        </p:nvSpPr>
        <p:spPr>
          <a:xfrm>
            <a:off x="6217200" y="5364000"/>
            <a:ext cx="324000" cy="391143"/>
          </a:xfrm>
          <a:prstGeom prst="rect">
            <a:avLst/>
          </a:prstGeom>
          <a:noFill/>
        </p:spPr>
        <p:txBody>
          <a:bodyPr wrap="square" lIns="28800" tIns="10800" rIns="28800" bIns="10800">
            <a:spAutoFit/>
          </a:bodyPr>
          <a:lstStyle/>
          <a:p>
            <a:pPr algn="ctr"/>
            <a:r>
              <a:rPr sz="2400" b="1">
                <a:solidFill>
                  <a:srgbClr val="1F2A5C"/>
                </a:solidFill>
                <a:latin typeface="メイリオ"/>
                <a:ea typeface="メイリオ"/>
              </a:rPr>
              <a:t>▶</a:t>
            </a:r>
          </a:p>
        </p:txBody>
      </p:sp>
      <p:sp>
        <p:nvSpPr>
          <p:cNvPr id="22" name="Rounded Rectangle 21"/>
          <p:cNvSpPr/>
          <p:nvPr/>
        </p:nvSpPr>
        <p:spPr>
          <a:xfrm>
            <a:off x="6555600" y="5148000"/>
            <a:ext cx="2736000" cy="792000"/>
          </a:xfrm>
          <a:prstGeom prst="roundRect">
            <a:avLst/>
          </a:prstGeom>
          <a:solidFill>
            <a:srgbClr val="E8ECF4"/>
          </a:solidFill>
          <a:ln w="12700">
            <a:solidFill>
              <a:srgbClr val="1F2A5C"/>
            </a:solidFill>
          </a:ln>
        </p:spPr>
        <p:style>
          <a:lnRef idx="1">
            <a:schemeClr val="accent1"/>
          </a:lnRef>
          <a:fillRef idx="3">
            <a:schemeClr val="accent1"/>
          </a:fillRef>
          <a:effectRef idx="2">
            <a:schemeClr val="accent1"/>
          </a:effectRef>
          <a:fontRef idx="minor">
            <a:schemeClr val="lt1"/>
          </a:fontRef>
        </p:style>
        <p:txBody>
          <a:bodyPr wrap="square" lIns="54000" rIns="54000" rtlCol="0" anchor="ctr"/>
          <a:lstStyle/>
          <a:p>
            <a:pPr algn="ctr"/>
            <a:r>
              <a:rPr sz="1400" b="1" dirty="0" err="1">
                <a:solidFill>
                  <a:srgbClr val="1F2A5C"/>
                </a:solidFill>
                <a:latin typeface="メイリオ"/>
                <a:ea typeface="メイリオ"/>
              </a:rPr>
              <a:t>LINE上に直接配信</a:t>
            </a:r>
            <a:endParaRPr sz="1400" b="1" dirty="0">
              <a:solidFill>
                <a:srgbClr val="1F2A5C"/>
              </a:solidFill>
              <a:latin typeface="メイリオ"/>
            </a:endParaRPr>
          </a:p>
          <a:p>
            <a:pPr algn="ctr"/>
            <a:r>
              <a:rPr sz="1100" b="0" dirty="0" err="1">
                <a:solidFill>
                  <a:srgbClr val="1C2233"/>
                </a:solidFill>
                <a:latin typeface="メイリオ"/>
                <a:ea typeface="メイリオ"/>
              </a:rPr>
              <a:t>友だち化・再来店へ</a:t>
            </a:r>
            <a:r>
              <a:rPr sz="1100" b="0" dirty="0">
                <a:solidFill>
                  <a:srgbClr val="1C2233"/>
                </a:solidFill>
                <a:latin typeface="メイリオ"/>
                <a:ea typeface="メイリオ"/>
              </a:rPr>
              <a:t>。</a:t>
            </a:r>
            <a:endParaRPr lang="en-US" sz="1100" b="0" dirty="0">
              <a:solidFill>
                <a:srgbClr val="1C2233"/>
              </a:solidFill>
              <a:latin typeface="メイリオ"/>
            </a:endParaRPr>
          </a:p>
          <a:p>
            <a:pPr algn="ctr"/>
            <a:r>
              <a:rPr sz="1100" b="0" dirty="0" err="1">
                <a:solidFill>
                  <a:srgbClr val="1C2233"/>
                </a:solidFill>
                <a:latin typeface="メイリオ"/>
                <a:ea typeface="メイリオ"/>
              </a:rPr>
              <a:t>メール・テレマより接触率の高い接点</a:t>
            </a:r>
            <a:endParaRPr sz="1100" b="0" dirty="0">
              <a:solidFill>
                <a:srgbClr val="1C2233"/>
              </a:solidFill>
              <a:latin typeface="メイリオ"/>
            </a:endParaRPr>
          </a:p>
        </p:txBody>
      </p:sp>
      <p:sp>
        <p:nvSpPr>
          <p:cNvPr id="23" name="TextBox 22"/>
          <p:cNvSpPr txBox="1"/>
          <p:nvPr/>
        </p:nvSpPr>
        <p:spPr>
          <a:xfrm>
            <a:off x="363000" y="6300256"/>
            <a:ext cx="9180000" cy="216000"/>
          </a:xfrm>
          <a:prstGeom prst="rect">
            <a:avLst/>
          </a:prstGeom>
          <a:noFill/>
        </p:spPr>
        <p:txBody>
          <a:bodyPr wrap="square" lIns="28800" tIns="10800" rIns="28800" bIns="10800">
            <a:spAutoFit/>
          </a:bodyPr>
          <a:lstStyle/>
          <a:p>
            <a:r>
              <a:rPr sz="1000" b="0" dirty="0">
                <a:solidFill>
                  <a:srgbClr val="646C82"/>
                </a:solidFill>
                <a:latin typeface="メイリオ"/>
                <a:ea typeface="メイリオ"/>
              </a:rPr>
              <a:t>※ 通知メッセージは別途費用（初期20万円・月額60万円〜／</a:t>
            </a:r>
            <a:r>
              <a:rPr sz="1000" b="0" dirty="0" err="1">
                <a:solidFill>
                  <a:srgbClr val="646C82"/>
                </a:solidFill>
                <a:latin typeface="メイリオ"/>
                <a:ea typeface="メイリオ"/>
              </a:rPr>
              <a:t>社内料金表</a:t>
            </a:r>
            <a:r>
              <a:rPr sz="1000" b="0" dirty="0">
                <a:solidFill>
                  <a:srgbClr val="646C82"/>
                </a:solidFill>
                <a:latin typeface="メイリオ"/>
                <a:ea typeface="メイリオ"/>
              </a:rPr>
              <a:t>）。</a:t>
            </a:r>
            <a:r>
              <a:rPr sz="1000" b="0" dirty="0" err="1">
                <a:solidFill>
                  <a:srgbClr val="646C82"/>
                </a:solidFill>
                <a:latin typeface="メイリオ"/>
                <a:ea typeface="メイリオ"/>
              </a:rPr>
              <a:t>配信できる内容には要件・審査があります</a:t>
            </a:r>
            <a:r>
              <a:rPr sz="1000" b="0" dirty="0">
                <a:solidFill>
                  <a:srgbClr val="646C82"/>
                </a:solidFill>
                <a:latin typeface="メイリオ"/>
                <a:ea typeface="メイリオ"/>
              </a:rPr>
              <a:t>。</a:t>
            </a:r>
          </a:p>
        </p:txBody>
      </p:sp>
    </p:spTree>
    <p:extLst>
      <p:ext uri="{BB962C8B-B14F-4D97-AF65-F5344CB8AC3E}">
        <p14:creationId xmlns:p14="http://schemas.microsoft.com/office/powerpoint/2010/main" val="42248704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① </a:t>
            </a:r>
            <a:r>
              <a:rPr lang="ja-JP" altLang="en-US" sz="1100" b="1" dirty="0">
                <a:solidFill>
                  <a:srgbClr val="FFFFFF"/>
                </a:solidFill>
                <a:latin typeface="メイリオ" panose="020B0604030504040204" pitchFamily="50" charset="-128"/>
                <a:ea typeface="メイリオ" panose="020B0604030504040204" pitchFamily="50" charset="-128"/>
              </a:rPr>
              <a:t>広告</a:t>
            </a:r>
            <a:r>
              <a:rPr lang="ja-JP" altLang="ja-JP" sz="1100" b="1" dirty="0">
                <a:solidFill>
                  <a:srgbClr val="FFFFFF"/>
                </a:solidFill>
                <a:latin typeface="メイリオ" panose="020B0604030504040204" pitchFamily="50" charset="-128"/>
                <a:ea typeface="メイリオ" panose="020B0604030504040204" pitchFamily="50" charset="-128"/>
              </a:rPr>
              <a:t>接触</a:t>
            </a:r>
            <a:r>
              <a:rPr lang="ja-JP" altLang="ja-JP" sz="1050" b="1" dirty="0">
                <a:solidFill>
                  <a:srgbClr val="FFFFFF"/>
                </a:solidFill>
                <a:latin typeface="メイリオ" panose="020B0604030504040204" pitchFamily="50" charset="-128"/>
                <a:ea typeface="メイリオ" panose="020B0604030504040204" pitchFamily="50" charset="-128"/>
              </a:rPr>
              <a:t>（認知・流入）</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② サイト離脱</a:t>
            </a:r>
            <a:r>
              <a:rPr lang="ja-JP" altLang="en-US" sz="1050" b="1" dirty="0">
                <a:solidFill>
                  <a:srgbClr val="FFFFFF"/>
                </a:solidFill>
                <a:latin typeface="メイリオ" panose="020B0604030504040204" pitchFamily="50" charset="-128"/>
                <a:ea typeface="メイリオ" panose="020B0604030504040204" pitchFamily="50" charset="-128"/>
              </a:rPr>
              <a:t>（対策）</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1F2A5C"/>
          </a:solidFill>
          <a:ln>
            <a:noFill/>
          </a:ln>
        </p:spPr>
        <p:txBody>
          <a:bodyPr wrap="square">
            <a:spAutoFit/>
          </a:bodyPr>
          <a:lstStyle/>
          <a:p>
            <a:pPr>
              <a:buNone/>
            </a:pPr>
            <a:r>
              <a:rPr lang="ja-JP" altLang="ja-JP" sz="1100" b="1" dirty="0">
                <a:solidFill>
                  <a:srgbClr val="FFFFFF"/>
                </a:solidFill>
                <a:latin typeface="メイリオ" panose="020B0604030504040204" pitchFamily="50" charset="-128"/>
                <a:ea typeface="メイリオ" panose="020B0604030504040204" pitchFamily="50" charset="-128"/>
              </a:rPr>
              <a:t>③ 育成</a:t>
            </a:r>
            <a:r>
              <a:rPr lang="ja-JP" altLang="ja-JP" sz="1050" b="1" dirty="0">
                <a:solidFill>
                  <a:srgbClr val="FFFFFF"/>
                </a:solidFill>
                <a:latin typeface="メイリオ" panose="020B0604030504040204" pitchFamily="50" charset="-128"/>
                <a:ea typeface="メイリオ" panose="020B0604030504040204" pitchFamily="50" charset="-128"/>
              </a:rPr>
              <a:t>（興味</a:t>
            </a:r>
            <a:r>
              <a:rPr lang="ja-JP" altLang="en-US" sz="1050" b="1" dirty="0">
                <a:solidFill>
                  <a:srgbClr val="FFFFFF"/>
                </a:solidFill>
                <a:latin typeface="メイリオ" panose="020B0604030504040204" pitchFamily="50" charset="-128"/>
                <a:ea typeface="メイリオ" panose="020B0604030504040204" pitchFamily="50" charset="-128"/>
              </a:rPr>
              <a:t>喚起</a:t>
            </a:r>
            <a:r>
              <a:rPr lang="ja-JP" altLang="ja-JP" sz="1050" b="1" dirty="0">
                <a:solidFill>
                  <a:srgbClr val="FFFFFF"/>
                </a:solidFill>
                <a:latin typeface="メイリオ" panose="020B0604030504040204" pitchFamily="50" charset="-128"/>
                <a:ea typeface="メイリオ" panose="020B0604030504040204" pitchFamily="50" charset="-128"/>
              </a:rPr>
              <a:t>）</a:t>
            </a:r>
            <a:endParaRPr lang="en-US" altLang="ja-JP" sz="1100" b="1" dirty="0">
              <a:solidFill>
                <a:srgbClr val="FFFFFF"/>
              </a:solidFill>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1F2A5C"/>
          </a:solidFill>
          <a:ln>
            <a:noFill/>
          </a:ln>
        </p:spPr>
        <p:txBody>
          <a:bodyPr wrap="square">
            <a:spAutoFit/>
          </a:bodyPr>
          <a:lstStyle/>
          <a:p>
            <a:pPr>
              <a:buNone/>
            </a:pPr>
            <a:r>
              <a:rPr lang="ja-JP" altLang="en-US" sz="1100" b="1" dirty="0">
                <a:solidFill>
                  <a:srgbClr val="FFFFFF"/>
                </a:solidFill>
                <a:latin typeface="メイリオ" panose="020B0604030504040204" pitchFamily="50" charset="-128"/>
                <a:ea typeface="メイリオ" panose="020B0604030504040204" pitchFamily="50" charset="-128"/>
              </a:rPr>
              <a:t>④体験予約(WEB)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[LINEで体づくりタイプ診断]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体験予約/見学予約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Web予約の完了率が低い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検討初期の迷い層を逃す</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電話折返しの工数が重い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ea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ea typeface="メイリオ"/>
              </a:rPr>
              <a:t>✓ </a:t>
            </a:r>
            <a:r>
              <a:rPr sz="1200" b="0" dirty="0" err="1">
                <a:solidFill>
                  <a:srgbClr val="1C2233"/>
                </a:solidFill>
                <a:latin typeface="メイリオ"/>
                <a:ea typeface="メイリオ"/>
              </a:rPr>
              <a:t>Web予約は既に回っている</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無断キャンセルが課題</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通知メッセを使いたい</a:t>
            </a:r>
            <a:endParaRPr sz="1200" b="0" dirty="0">
              <a:solidFill>
                <a:srgbClr val="1C2233"/>
              </a:solidFill>
              <a:latin typeface="メイリオ"/>
            </a:endParaRPr>
          </a:p>
          <a:p>
            <a:r>
              <a:rPr sz="1200" b="0" dirty="0">
                <a:solidFill>
                  <a:srgbClr val="1C2233"/>
                </a:solidFill>
                <a:latin typeface="メイリオ"/>
                <a:ea typeface="メイリオ"/>
              </a:rPr>
              <a:t>✓ </a:t>
            </a:r>
            <a:r>
              <a:rPr sz="1200" b="0" dirty="0" err="1">
                <a:solidFill>
                  <a:srgbClr val="1C2233"/>
                </a:solidFill>
                <a:latin typeface="メイリオ"/>
                <a:ea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来店・体験</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⑦ご入会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a:ea typeface="メイリオ"/>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⑧継続・PT/物販・友だち紹介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退会防止・再入会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47">
            <a:extLst>
              <a:ext uri="{FF2B5EF4-FFF2-40B4-BE49-F238E27FC236}">
                <a16:creationId xmlns:a16="http://schemas.microsoft.com/office/drawing/2014/main" id="{919EDD35-79B6-49D7-F02F-0B2AF8906022}"/>
              </a:ext>
            </a:extLst>
          </p:cNvPr>
          <p:cNvSpPr txBox="1">
            <a:spLocks noChangeArrowheads="1"/>
          </p:cNvSpPr>
          <p:nvPr/>
        </p:nvSpPr>
        <p:spPr bwMode="auto">
          <a:xfrm>
            <a:off x="547200"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defRPr>
            </a:lvl2pPr>
            <a:lvl3pPr>
              <a:defRPr kumimoji="1" sz="2400">
                <a:solidFill>
                  <a:schemeClr val="tx1"/>
                </a:solidFill>
                <a:latin typeface="メイリオ" charset="0"/>
                <a:ea typeface="メイリオ" charset="0"/>
              </a:defRPr>
            </a:lvl3pPr>
            <a:lvl4pPr>
              <a:defRPr kumimoji="1" sz="2000">
                <a:solidFill>
                  <a:schemeClr val="tx1"/>
                </a:solidFill>
                <a:latin typeface="メイリオ" charset="0"/>
                <a:ea typeface="メイリオ" charset="0"/>
              </a:defRPr>
            </a:lvl4pPr>
            <a:lvl5pPr>
              <a:defRPr kumimoji="1" sz="2000">
                <a:solidFill>
                  <a:schemeClr val="tx1"/>
                </a:solidFill>
                <a:latin typeface="メイリオ" charset="0"/>
                <a:ea typeface="メイリオ" charset="0"/>
              </a:defRPr>
            </a:lvl5pPr>
            <a:lvl6pPr eaLnBrk="0" fontAlgn="base" hangingPunct="0">
              <a:spcAft>
                <a:spcPct val="0"/>
              </a:spcAft>
              <a:buFont typeface="Arial" charset="0"/>
              <a:buChar char="»"/>
              <a:defRPr kumimoji="1" sz="2000">
                <a:solidFill>
                  <a:schemeClr val="tx1"/>
                </a:solidFill>
                <a:latin typeface="メイリオ" charset="0"/>
                <a:ea typeface="メイリオ" charset="0"/>
              </a:defRPr>
            </a:lvl6pPr>
            <a:lvl7pPr eaLnBrk="0" fontAlgn="base" hangingPunct="0">
              <a:spcAft>
                <a:spcPct val="0"/>
              </a:spcAft>
              <a:buFont typeface="Arial" charset="0"/>
              <a:buChar char="»"/>
              <a:defRPr kumimoji="1" sz="2000">
                <a:solidFill>
                  <a:schemeClr val="tx1"/>
                </a:solidFill>
                <a:latin typeface="メイリオ" charset="0"/>
                <a:ea typeface="メイリオ" charset="0"/>
              </a:defRPr>
            </a:lvl7pPr>
            <a:lvl8pPr eaLnBrk="0" fontAlgn="base" hangingPunct="0">
              <a:spcAft>
                <a:spcPct val="0"/>
              </a:spcAft>
              <a:buFont typeface="Arial" charset="0"/>
              <a:buChar char="»"/>
              <a:defRPr kumimoji="1" sz="2000">
                <a:solidFill>
                  <a:schemeClr val="tx1"/>
                </a:solidFill>
                <a:latin typeface="メイリオ" charset="0"/>
                <a:ea typeface="メイリオ" charset="0"/>
              </a:defRPr>
            </a:lvl8pPr>
            <a:lvl9pPr eaLnBrk="0" fontAlgn="base" hangingPunct="0">
              <a:spcAft>
                <a:spcPct val="0"/>
              </a:spcAft>
              <a:buFont typeface="Arial" charset="0"/>
              <a:buChar char="»"/>
              <a:defRPr kumimoji="1" sz="2000">
                <a:solidFill>
                  <a:schemeClr val="tx1"/>
                </a:solidFill>
                <a:latin typeface="メイリオ" charset="0"/>
                <a:ea typeface="メイリオ" charset="0"/>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rPr>
              <a:t>導入成果シミュレーション（Before / After）</a:t>
            </a:r>
          </a:p>
        </p:txBody>
      </p:sp>
      <p:sp>
        <p:nvSpPr>
          <p:cNvPr id="3" name="TextBox 2"/>
          <p:cNvSpPr txBox="1"/>
          <p:nvPr/>
        </p:nvSpPr>
        <p:spPr>
          <a:xfrm>
            <a:off x="384048" y="713232"/>
            <a:ext cx="9134856" cy="215444"/>
          </a:xfrm>
          <a:prstGeom prst="rect">
            <a:avLst/>
          </a:prstGeom>
          <a:noFill/>
        </p:spPr>
        <p:txBody>
          <a:bodyPr wrap="square" lIns="0" tIns="0" rIns="0" bIns="0">
            <a:spAutoFit/>
          </a:bodyPr>
          <a:lstStyle/>
          <a:p>
            <a:r>
              <a:rPr sz="1400" b="0" dirty="0" err="1">
                <a:solidFill>
                  <a:srgbClr val="646C82"/>
                </a:solidFill>
                <a:latin typeface="メイリオ"/>
                <a:ea typeface="メイリオ"/>
              </a:rPr>
              <a:t>WEB広告</a:t>
            </a:r>
            <a:r>
              <a:rPr sz="1400" b="0" dirty="0">
                <a:solidFill>
                  <a:srgbClr val="646C82"/>
                </a:solidFill>
                <a:latin typeface="メイリオ"/>
                <a:ea typeface="メイリオ"/>
              </a:rPr>
              <a:t> 月100万円は据え置き。追加するのはLINE運用費10万円のみ。（月会費8,000円・平均在籍12ヶ月）</a:t>
            </a:r>
          </a:p>
        </p:txBody>
      </p:sp>
      <p:graphicFrame>
        <p:nvGraphicFramePr>
          <p:cNvPr id="4" name="Table 3"/>
          <p:cNvGraphicFramePr>
            <a:graphicFrameLocks noGrp="1"/>
          </p:cNvGraphicFramePr>
          <p:nvPr>
            <p:extLst>
              <p:ext uri="{D42A27DB-BD31-4B8C-83A1-F6EECF244321}">
                <p14:modId xmlns:p14="http://schemas.microsoft.com/office/powerpoint/2010/main" val="2305978959"/>
              </p:ext>
            </p:extLst>
          </p:nvPr>
        </p:nvGraphicFramePr>
        <p:xfrm>
          <a:off x="384048" y="1170432"/>
          <a:ext cx="9134856" cy="3628209"/>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1956816">
                  <a:extLst>
                    <a:ext uri="{9D8B030D-6E8A-4147-A177-3AD203B41FA5}">
                      <a16:colId xmlns:a16="http://schemas.microsoft.com/office/drawing/2014/main" val="20003"/>
                    </a:ext>
                  </a:extLst>
                </a:gridCol>
              </a:tblGrid>
              <a:tr h="257991">
                <a:tc>
                  <a:txBody>
                    <a:bodyPr/>
                    <a:lstStyle/>
                    <a:p>
                      <a:pPr algn="ctr"/>
                      <a:r>
                        <a:rPr sz="1200" b="1">
                          <a:solidFill>
                            <a:srgbClr val="FFFFFF"/>
                          </a:solidFill>
                          <a:latin typeface="メイリオ"/>
                          <a:ea typeface="メイリオ"/>
                        </a:rPr>
                        <a:t>指標</a:t>
                      </a:r>
                    </a:p>
                  </a:txBody>
                  <a:tcPr>
                    <a:solidFill>
                      <a:srgbClr val="1F2A5C"/>
                    </a:solidFill>
                  </a:tcPr>
                </a:tc>
                <a:tc>
                  <a:txBody>
                    <a:bodyPr/>
                    <a:lstStyle/>
                    <a:p>
                      <a:pPr algn="ctr"/>
                      <a:r>
                        <a:rPr sz="1200" b="1">
                          <a:solidFill>
                            <a:srgbClr val="FFFFFF"/>
                          </a:solidFill>
                          <a:latin typeface="メイリオ"/>
                          <a:ea typeface="メイリオ"/>
                        </a:rPr>
                        <a:t>Before（WEB広告のみ）</a:t>
                      </a:r>
                    </a:p>
                  </a:txBody>
                  <a:tcPr>
                    <a:solidFill>
                      <a:srgbClr val="1F2A5C"/>
                    </a:solidFill>
                  </a:tcPr>
                </a:tc>
                <a:tc>
                  <a:txBody>
                    <a:bodyPr/>
                    <a:lstStyle/>
                    <a:p>
                      <a:pPr algn="ctr"/>
                      <a:r>
                        <a:rPr sz="1200" b="1">
                          <a:solidFill>
                            <a:srgbClr val="FFFFFF"/>
                          </a:solidFill>
                          <a:latin typeface="メイリオ"/>
                          <a:ea typeface="メイリオ"/>
                        </a:rPr>
                        <a:t>After（広告 × LINE OA）</a:t>
                      </a:r>
                    </a:p>
                  </a:txBody>
                  <a:tcPr>
                    <a:solidFill>
                      <a:srgbClr val="1F2A5C"/>
                    </a:solidFill>
                  </a:tcPr>
                </a:tc>
                <a:tc>
                  <a:txBody>
                    <a:bodyPr/>
                    <a:lstStyle/>
                    <a:p>
                      <a:pPr algn="ctr"/>
                      <a:r>
                        <a:rPr sz="1200" b="1">
                          <a:solidFill>
                            <a:srgbClr val="FFFFFF"/>
                          </a:solidFill>
                          <a:latin typeface="メイリオ"/>
                          <a:ea typeface="メイリオ"/>
                        </a:rPr>
                        <a:t>差分</a:t>
                      </a:r>
                    </a:p>
                  </a:txBody>
                  <a:tcPr>
                    <a:solidFill>
                      <a:srgbClr val="1F2A5C"/>
                    </a:solidFill>
                  </a:tcPr>
                </a:tc>
                <a:extLst>
                  <a:ext uri="{0D108BD9-81ED-4DB2-BD59-A6C34878D82A}">
                    <a16:rowId xmlns:a16="http://schemas.microsoft.com/office/drawing/2014/main" val="10000"/>
                  </a:ext>
                </a:extLst>
              </a:tr>
              <a:tr h="257991">
                <a:tc>
                  <a:txBody>
                    <a:bodyPr/>
                    <a:lstStyle/>
                    <a:p>
                      <a:pPr algn="l"/>
                      <a:r>
                        <a:rPr sz="1050" b="0">
                          <a:solidFill>
                            <a:srgbClr val="1C2233"/>
                          </a:solidFill>
                          <a:latin typeface="メイリオ"/>
                          <a:ea typeface="メイリオ"/>
                        </a:rPr>
                        <a:t>投下計（広告費＋LINE運用費）</a:t>
                      </a:r>
                    </a:p>
                  </a:txBody>
                  <a:tcPr>
                    <a:solidFill>
                      <a:srgbClr val="FFFFFF"/>
                    </a:solidFill>
                  </a:tcPr>
                </a:tc>
                <a:tc>
                  <a:txBody>
                    <a:bodyPr/>
                    <a:lstStyle/>
                    <a:p>
                      <a:pPr algn="ctr"/>
                      <a:r>
                        <a:rPr sz="1050" b="0">
                          <a:solidFill>
                            <a:srgbClr val="1C2233"/>
                          </a:solidFill>
                          <a:latin typeface="メイリオ"/>
                          <a:ea typeface="メイリオ"/>
                        </a:rPr>
                        <a:t>100万円</a:t>
                      </a:r>
                    </a:p>
                  </a:txBody>
                  <a:tcPr>
                    <a:solidFill>
                      <a:srgbClr val="FFFFFF"/>
                    </a:solidFill>
                  </a:tcPr>
                </a:tc>
                <a:tc>
                  <a:txBody>
                    <a:bodyPr/>
                    <a:lstStyle/>
                    <a:p>
                      <a:pPr algn="ctr"/>
                      <a:r>
                        <a:rPr sz="1050" b="0">
                          <a:solidFill>
                            <a:srgbClr val="1C2233"/>
                          </a:solidFill>
                          <a:latin typeface="メイリオ"/>
                          <a:ea typeface="メイリオ"/>
                        </a:rPr>
                        <a:t>110万円</a:t>
                      </a:r>
                    </a:p>
                  </a:txBody>
                  <a:tcPr>
                    <a:solidFill>
                      <a:srgbClr val="FFFFFF"/>
                    </a:solidFill>
                  </a:tcPr>
                </a:tc>
                <a:tc>
                  <a:txBody>
                    <a:bodyPr/>
                    <a:lstStyle/>
                    <a:p>
                      <a:pPr algn="ctr"/>
                      <a:r>
                        <a:rPr sz="1050" b="0">
                          <a:solidFill>
                            <a:srgbClr val="1C2233"/>
                          </a:solidFill>
                          <a:latin typeface="メイリオ"/>
                          <a:ea typeface="メイリオ"/>
                        </a:rPr>
                        <a:t>+10%</a:t>
                      </a:r>
                    </a:p>
                  </a:txBody>
                  <a:tcPr>
                    <a:solidFill>
                      <a:srgbClr val="FFFFFF"/>
                    </a:solidFill>
                  </a:tcPr>
                </a:tc>
                <a:extLst>
                  <a:ext uri="{0D108BD9-81ED-4DB2-BD59-A6C34878D82A}">
                    <a16:rowId xmlns:a16="http://schemas.microsoft.com/office/drawing/2014/main" val="10001"/>
                  </a:ext>
                </a:extLst>
              </a:tr>
              <a:tr h="257991">
                <a:tc>
                  <a:txBody>
                    <a:bodyPr/>
                    <a:lstStyle/>
                    <a:p>
                      <a:pPr algn="l"/>
                      <a:r>
                        <a:rPr sz="1050" b="0">
                          <a:solidFill>
                            <a:srgbClr val="1C2233"/>
                          </a:solidFill>
                          <a:latin typeface="メイリオ"/>
                          <a:ea typeface="メイリオ"/>
                        </a:rPr>
                        <a:t>LP流入 × LP CVR</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5,000 × 2.0%</a:t>
                      </a:r>
                    </a:p>
                  </a:txBody>
                  <a:tcPr>
                    <a:solidFill>
                      <a:srgbClr val="EFF1F7"/>
                    </a:solidFill>
                  </a:tcPr>
                </a:tc>
                <a:tc>
                  <a:txBody>
                    <a:bodyPr/>
                    <a:lstStyle/>
                    <a:p>
                      <a:pPr algn="ctr"/>
                      <a:r>
                        <a:rPr sz="1050" b="0">
                          <a:solidFill>
                            <a:srgbClr val="1C2233"/>
                          </a:solidFill>
                          <a:latin typeface="メイリオ"/>
                          <a:ea typeface="メイリオ"/>
                        </a:rPr>
                        <a:t>± 0</a:t>
                      </a:r>
                    </a:p>
                  </a:txBody>
                  <a:tcPr>
                    <a:solidFill>
                      <a:srgbClr val="EFF1F7"/>
                    </a:solidFill>
                  </a:tcPr>
                </a:tc>
                <a:extLst>
                  <a:ext uri="{0D108BD9-81ED-4DB2-BD59-A6C34878D82A}">
                    <a16:rowId xmlns:a16="http://schemas.microsoft.com/office/drawing/2014/main" val="10002"/>
                  </a:ext>
                </a:extLst>
              </a:tr>
              <a:tr h="257991">
                <a:tc>
                  <a:txBody>
                    <a:bodyPr/>
                    <a:lstStyle/>
                    <a:p>
                      <a:pPr algn="l"/>
                      <a:r>
                        <a:rPr sz="1050" b="0">
                          <a:solidFill>
                            <a:srgbClr val="1C2233"/>
                          </a:solidFill>
                          <a:latin typeface="メイリオ"/>
                          <a:ea typeface="メイリオ"/>
                        </a:rPr>
                        <a:t>広告経由の体験予約</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100件</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3"/>
                  </a:ext>
                </a:extLst>
              </a:tr>
              <a:tr h="257991">
                <a:tc>
                  <a:txBody>
                    <a:bodyPr/>
                    <a:lstStyle/>
                    <a:p>
                      <a:pPr algn="l"/>
                      <a:r>
                        <a:rPr sz="1050" b="0">
                          <a:solidFill>
                            <a:srgbClr val="1C2233"/>
                          </a:solidFill>
                          <a:latin typeface="メイリオ"/>
                          <a:ea typeface="メイリオ"/>
                        </a:rPr>
                        <a:t>LINE友だち化（離脱防止）</a:t>
                      </a:r>
                    </a:p>
                  </a:txBody>
                  <a:tcPr>
                    <a:solidFill>
                      <a:srgbClr val="EFF1F7"/>
                    </a:solidFill>
                  </a:tcPr>
                </a:tc>
                <a:tc>
                  <a:txBody>
                    <a:bodyPr/>
                    <a:lstStyle/>
                    <a:p>
                      <a:pPr algn="ctr"/>
                      <a:r>
                        <a:rPr sz="1050" b="0">
                          <a:solidFill>
                            <a:srgbClr val="1C2233"/>
                          </a:solidFill>
                          <a:latin typeface="メイリオ"/>
                          <a:ea typeface="メイリオ"/>
                        </a:rPr>
                        <a:t>―</a:t>
                      </a:r>
                    </a:p>
                  </a:txBody>
                  <a:tcPr>
                    <a:solidFill>
                      <a:srgbClr val="EFF1F7"/>
                    </a:solidFill>
                  </a:tcPr>
                </a:tc>
                <a:tc>
                  <a:txBody>
                    <a:bodyPr/>
                    <a:lstStyle/>
                    <a:p>
                      <a:pPr algn="ctr"/>
                      <a:r>
                        <a:rPr sz="1050" b="0">
                          <a:solidFill>
                            <a:srgbClr val="1C2233"/>
                          </a:solidFill>
                          <a:latin typeface="メイリオ"/>
                          <a:ea typeface="メイリオ"/>
                        </a:rPr>
                        <a:t>150人（流入の3%）</a:t>
                      </a:r>
                    </a:p>
                  </a:txBody>
                  <a:tcPr>
                    <a:solidFill>
                      <a:srgbClr val="EFF1F7"/>
                    </a:solidFill>
                  </a:tcPr>
                </a:tc>
                <a:tc>
                  <a:txBody>
                    <a:bodyPr/>
                    <a:lstStyle/>
                    <a:p>
                      <a:pPr algn="ctr"/>
                      <a:r>
                        <a:rPr sz="1050" b="0">
                          <a:solidFill>
                            <a:srgbClr val="1C2233"/>
                          </a:solidFill>
                          <a:latin typeface="メイリオ"/>
                          <a:ea typeface="メイリオ"/>
                        </a:rPr>
                        <a:t>新規</a:t>
                      </a:r>
                    </a:p>
                  </a:txBody>
                  <a:tcPr>
                    <a:solidFill>
                      <a:srgbClr val="EFF1F7"/>
                    </a:solidFill>
                  </a:tcPr>
                </a:tc>
                <a:extLst>
                  <a:ext uri="{0D108BD9-81ED-4DB2-BD59-A6C34878D82A}">
                    <a16:rowId xmlns:a16="http://schemas.microsoft.com/office/drawing/2014/main" val="10004"/>
                  </a:ext>
                </a:extLst>
              </a:tr>
              <a:tr h="257991">
                <a:tc>
                  <a:txBody>
                    <a:bodyPr/>
                    <a:lstStyle/>
                    <a:p>
                      <a:pPr algn="l"/>
                      <a:r>
                        <a:rPr sz="1050" b="0">
                          <a:solidFill>
                            <a:srgbClr val="1C2233"/>
                          </a:solidFill>
                          <a:latin typeface="メイリオ"/>
                          <a:ea typeface="メイリオ"/>
                        </a:rPr>
                        <a:t>LINE経由の体験予約</a:t>
                      </a:r>
                    </a:p>
                  </a:txBody>
                  <a:tcPr>
                    <a:solidFill>
                      <a:srgbClr val="FFFFFF"/>
                    </a:solidFill>
                  </a:tcPr>
                </a:tc>
                <a:tc>
                  <a:txBody>
                    <a:bodyPr/>
                    <a:lstStyle/>
                    <a:p>
                      <a:pPr algn="ctr"/>
                      <a:r>
                        <a:rPr sz="1050" b="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12件（友だちの8%）</a:t>
                      </a:r>
                    </a:p>
                  </a:txBody>
                  <a:tcPr>
                    <a:solidFill>
                      <a:srgbClr val="FFFFFF"/>
                    </a:solidFill>
                  </a:tcPr>
                </a:tc>
                <a:tc>
                  <a:txBody>
                    <a:bodyPr/>
                    <a:lstStyle/>
                    <a:p>
                      <a:pPr algn="ctr"/>
                      <a:r>
                        <a:rPr sz="1050" b="0">
                          <a:solidFill>
                            <a:srgbClr val="1C2233"/>
                          </a:solidFill>
                          <a:latin typeface="メイリオ"/>
                          <a:ea typeface="メイリオ"/>
                        </a:rPr>
                        <a:t>新規</a:t>
                      </a:r>
                    </a:p>
                  </a:txBody>
                  <a:tcPr>
                    <a:solidFill>
                      <a:srgbClr val="FFFFFF"/>
                    </a:solidFill>
                  </a:tcPr>
                </a:tc>
                <a:extLst>
                  <a:ext uri="{0D108BD9-81ED-4DB2-BD59-A6C34878D82A}">
                    <a16:rowId xmlns:a16="http://schemas.microsoft.com/office/drawing/2014/main" val="10005"/>
                  </a:ext>
                </a:extLst>
              </a:tr>
              <a:tr h="257991">
                <a:tc>
                  <a:txBody>
                    <a:bodyPr/>
                    <a:lstStyle/>
                    <a:p>
                      <a:pPr algn="l"/>
                      <a:r>
                        <a:rPr sz="1050" b="0">
                          <a:solidFill>
                            <a:srgbClr val="1C2233"/>
                          </a:solidFill>
                          <a:latin typeface="メイリオ"/>
                          <a:ea typeface="メイリオ"/>
                        </a:rPr>
                        <a:t>体験予約 合計</a:t>
                      </a:r>
                    </a:p>
                  </a:txBody>
                  <a:tcPr>
                    <a:solidFill>
                      <a:srgbClr val="EFF1F7"/>
                    </a:solidFill>
                  </a:tcPr>
                </a:tc>
                <a:tc>
                  <a:txBody>
                    <a:bodyPr/>
                    <a:lstStyle/>
                    <a:p>
                      <a:pPr algn="ctr"/>
                      <a:r>
                        <a:rPr sz="1050" b="0">
                          <a:solidFill>
                            <a:srgbClr val="1C2233"/>
                          </a:solidFill>
                          <a:latin typeface="メイリオ"/>
                          <a:ea typeface="メイリオ"/>
                        </a:rPr>
                        <a:t>100件</a:t>
                      </a:r>
                    </a:p>
                  </a:txBody>
                  <a:tcPr>
                    <a:solidFill>
                      <a:srgbClr val="EFF1F7"/>
                    </a:solidFill>
                  </a:tcPr>
                </a:tc>
                <a:tc>
                  <a:txBody>
                    <a:bodyPr/>
                    <a:lstStyle/>
                    <a:p>
                      <a:pPr algn="ctr"/>
                      <a:r>
                        <a:rPr sz="1050" b="0">
                          <a:solidFill>
                            <a:srgbClr val="1C2233"/>
                          </a:solidFill>
                          <a:latin typeface="メイリオ"/>
                          <a:ea typeface="メイリオ"/>
                        </a:rPr>
                        <a:t>112件</a:t>
                      </a:r>
                    </a:p>
                  </a:txBody>
                  <a:tcPr>
                    <a:solidFill>
                      <a:srgbClr val="EFF1F7"/>
                    </a:solidFill>
                  </a:tcPr>
                </a:tc>
                <a:tc>
                  <a:txBody>
                    <a:bodyPr/>
                    <a:lstStyle/>
                    <a:p>
                      <a:pPr algn="ctr"/>
                      <a:r>
                        <a:rPr sz="1050" b="0">
                          <a:solidFill>
                            <a:srgbClr val="1C2233"/>
                          </a:solidFill>
                          <a:latin typeface="メイリオ"/>
                          <a:ea typeface="メイリオ"/>
                        </a:rPr>
                        <a:t>+12%</a:t>
                      </a:r>
                    </a:p>
                  </a:txBody>
                  <a:tcPr>
                    <a:solidFill>
                      <a:srgbClr val="EFF1F7"/>
                    </a:solidFill>
                  </a:tcPr>
                </a:tc>
                <a:extLst>
                  <a:ext uri="{0D108BD9-81ED-4DB2-BD59-A6C34878D82A}">
                    <a16:rowId xmlns:a16="http://schemas.microsoft.com/office/drawing/2014/main" val="10006"/>
                  </a:ext>
                </a:extLst>
              </a:tr>
              <a:tr h="257991">
                <a:tc>
                  <a:txBody>
                    <a:bodyPr/>
                    <a:lstStyle/>
                    <a:p>
                      <a:pPr algn="l"/>
                      <a:r>
                        <a:rPr sz="1050" b="0" dirty="0" err="1">
                          <a:solidFill>
                            <a:srgbClr val="1C2233"/>
                          </a:solidFill>
                          <a:latin typeface="メイリオ"/>
                          <a:ea typeface="メイリオ"/>
                        </a:rPr>
                        <a:t>来店率</a:t>
                      </a:r>
                      <a:endParaRPr sz="1050" b="0" dirty="0">
                        <a:solidFill>
                          <a:srgbClr val="1C2233"/>
                        </a:solidFill>
                        <a:latin typeface="メイリオ"/>
                        <a:ea typeface="メイリオ"/>
                      </a:endParaRPr>
                    </a:p>
                  </a:txBody>
                  <a:tcPr>
                    <a:solidFill>
                      <a:srgbClr val="FFFFFF"/>
                    </a:solidFill>
                  </a:tcPr>
                </a:tc>
                <a:tc>
                  <a:txBody>
                    <a:bodyPr/>
                    <a:lstStyle/>
                    <a:p>
                      <a:pPr algn="ctr"/>
                      <a:r>
                        <a:rPr sz="1050" b="0">
                          <a:solidFill>
                            <a:srgbClr val="1C2233"/>
                          </a:solidFill>
                          <a:latin typeface="メイリオ"/>
                          <a:ea typeface="メイリオ"/>
                        </a:rPr>
                        <a:t>60%</a:t>
                      </a:r>
                    </a:p>
                  </a:txBody>
                  <a:tcPr>
                    <a:solidFill>
                      <a:srgbClr val="FFFFFF"/>
                    </a:solidFill>
                  </a:tcPr>
                </a:tc>
                <a:tc>
                  <a:txBody>
                    <a:bodyPr/>
                    <a:lstStyle/>
                    <a:p>
                      <a:pPr algn="ctr"/>
                      <a:r>
                        <a:rPr sz="1050" b="0">
                          <a:solidFill>
                            <a:srgbClr val="1C2233"/>
                          </a:solidFill>
                          <a:latin typeface="メイリオ"/>
                          <a:ea typeface="メイリオ"/>
                        </a:rPr>
                        <a:t>75%</a:t>
                      </a:r>
                    </a:p>
                  </a:txBody>
                  <a:tcPr>
                    <a:solidFill>
                      <a:srgbClr val="FFFFFF"/>
                    </a:solidFill>
                  </a:tcPr>
                </a:tc>
                <a:tc>
                  <a:txBody>
                    <a:bodyPr/>
                    <a:lstStyle/>
                    <a:p>
                      <a:pPr algn="ctr"/>
                      <a:r>
                        <a:rPr sz="1050" b="0">
                          <a:solidFill>
                            <a:srgbClr val="1C2233"/>
                          </a:solidFill>
                          <a:latin typeface="メイリオ"/>
                          <a:ea typeface="メイリオ"/>
                        </a:rPr>
                        <a:t>+15pt</a:t>
                      </a:r>
                    </a:p>
                  </a:txBody>
                  <a:tcPr>
                    <a:solidFill>
                      <a:srgbClr val="FFFFFF"/>
                    </a:solidFill>
                  </a:tcPr>
                </a:tc>
                <a:extLst>
                  <a:ext uri="{0D108BD9-81ED-4DB2-BD59-A6C34878D82A}">
                    <a16:rowId xmlns:a16="http://schemas.microsoft.com/office/drawing/2014/main" val="10007"/>
                  </a:ext>
                </a:extLst>
              </a:tr>
              <a:tr h="257991">
                <a:tc>
                  <a:txBody>
                    <a:bodyPr/>
                    <a:lstStyle/>
                    <a:p>
                      <a:pPr algn="l"/>
                      <a:r>
                        <a:rPr sz="1050" b="0">
                          <a:solidFill>
                            <a:srgbClr val="1C2233"/>
                          </a:solidFill>
                          <a:latin typeface="メイリオ"/>
                          <a:ea typeface="メイリオ"/>
                        </a:rPr>
                        <a:t>来店数</a:t>
                      </a:r>
                    </a:p>
                  </a:txBody>
                  <a:tcPr>
                    <a:solidFill>
                      <a:srgbClr val="EFF1F7"/>
                    </a:solidFill>
                  </a:tcPr>
                </a:tc>
                <a:tc>
                  <a:txBody>
                    <a:bodyPr/>
                    <a:lstStyle/>
                    <a:p>
                      <a:pPr algn="ctr"/>
                      <a:r>
                        <a:rPr sz="1050" b="0">
                          <a:solidFill>
                            <a:srgbClr val="1C2233"/>
                          </a:solidFill>
                          <a:latin typeface="メイリオ"/>
                          <a:ea typeface="メイリオ"/>
                        </a:rPr>
                        <a:t>60.0件</a:t>
                      </a:r>
                    </a:p>
                  </a:txBody>
                  <a:tcPr>
                    <a:solidFill>
                      <a:srgbClr val="EFF1F7"/>
                    </a:solidFill>
                  </a:tcPr>
                </a:tc>
                <a:tc>
                  <a:txBody>
                    <a:bodyPr/>
                    <a:lstStyle/>
                    <a:p>
                      <a:pPr algn="ctr"/>
                      <a:r>
                        <a:rPr sz="1050" b="0">
                          <a:solidFill>
                            <a:srgbClr val="1C2233"/>
                          </a:solidFill>
                          <a:latin typeface="メイリオ"/>
                          <a:ea typeface="メイリオ"/>
                        </a:rPr>
                        <a:t>84.0件</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08"/>
                  </a:ext>
                </a:extLst>
              </a:tr>
              <a:tr h="257991">
                <a:tc>
                  <a:txBody>
                    <a:bodyPr/>
                    <a:lstStyle/>
                    <a:p>
                      <a:pPr algn="l"/>
                      <a:r>
                        <a:rPr sz="1050" b="0">
                          <a:solidFill>
                            <a:srgbClr val="1C2233"/>
                          </a:solidFill>
                          <a:latin typeface="メイリオ"/>
                          <a:ea typeface="メイリオ"/>
                        </a:rPr>
                        <a:t>入会率</a:t>
                      </a:r>
                    </a:p>
                  </a:txBody>
                  <a:tcPr>
                    <a:solidFill>
                      <a:srgbClr val="FFFFFF"/>
                    </a:solidFill>
                  </a:tcPr>
                </a:tc>
                <a:tc>
                  <a:txBody>
                    <a:bodyPr/>
                    <a:lstStyle/>
                    <a:p>
                      <a:pPr algn="ctr"/>
                      <a:r>
                        <a:rPr sz="1050" b="0">
                          <a:solidFill>
                            <a:srgbClr val="1C2233"/>
                          </a:solidFill>
                          <a:latin typeface="メイリオ"/>
                          <a:ea typeface="メイリオ"/>
                        </a:rPr>
                        <a:t>50%</a:t>
                      </a:r>
                    </a:p>
                  </a:txBody>
                  <a:tcPr>
                    <a:solidFill>
                      <a:srgbClr val="FFFFFF"/>
                    </a:solidFill>
                  </a:tcPr>
                </a:tc>
                <a:tc>
                  <a:txBody>
                    <a:bodyPr/>
                    <a:lstStyle/>
                    <a:p>
                      <a:pPr algn="ctr"/>
                      <a:r>
                        <a:rPr sz="1050" b="0">
                          <a:solidFill>
                            <a:srgbClr val="1C2233"/>
                          </a:solidFill>
                          <a:latin typeface="メイリオ"/>
                          <a:ea typeface="メイリオ"/>
                        </a:rPr>
                        <a:t>50%（据え置き）</a:t>
                      </a:r>
                    </a:p>
                  </a:txBody>
                  <a:tcPr>
                    <a:solidFill>
                      <a:srgbClr val="FFFFFF"/>
                    </a:solidFill>
                  </a:tcPr>
                </a:tc>
                <a:tc>
                  <a:txBody>
                    <a:bodyPr/>
                    <a:lstStyle/>
                    <a:p>
                      <a:pPr algn="ctr"/>
                      <a:r>
                        <a:rPr sz="1050" b="0">
                          <a:solidFill>
                            <a:srgbClr val="1C2233"/>
                          </a:solidFill>
                          <a:latin typeface="メイリオ"/>
                          <a:ea typeface="メイリオ"/>
                        </a:rPr>
                        <a:t>± 0</a:t>
                      </a:r>
                    </a:p>
                  </a:txBody>
                  <a:tcPr>
                    <a:solidFill>
                      <a:srgbClr val="FFFFFF"/>
                    </a:solidFill>
                  </a:tcPr>
                </a:tc>
                <a:extLst>
                  <a:ext uri="{0D108BD9-81ED-4DB2-BD59-A6C34878D82A}">
                    <a16:rowId xmlns:a16="http://schemas.microsoft.com/office/drawing/2014/main" val="10009"/>
                  </a:ext>
                </a:extLst>
              </a:tr>
              <a:tr h="257991">
                <a:tc>
                  <a:txBody>
                    <a:bodyPr/>
                    <a:lstStyle/>
                    <a:p>
                      <a:pPr algn="l"/>
                      <a:r>
                        <a:rPr sz="1050" b="0">
                          <a:solidFill>
                            <a:srgbClr val="1C2233"/>
                          </a:solidFill>
                          <a:latin typeface="メイリオ"/>
                          <a:ea typeface="メイリオ"/>
                        </a:rPr>
                        <a:t>入会数</a:t>
                      </a:r>
                    </a:p>
                  </a:txBody>
                  <a:tcPr>
                    <a:solidFill>
                      <a:srgbClr val="EFF1F7"/>
                    </a:solidFill>
                  </a:tcPr>
                </a:tc>
                <a:tc>
                  <a:txBody>
                    <a:bodyPr/>
                    <a:lstStyle/>
                    <a:p>
                      <a:pPr algn="ctr"/>
                      <a:r>
                        <a:rPr sz="1050" b="0">
                          <a:solidFill>
                            <a:srgbClr val="1C2233"/>
                          </a:solidFill>
                          <a:latin typeface="メイリオ"/>
                          <a:ea typeface="メイリオ"/>
                        </a:rPr>
                        <a:t>30.0名</a:t>
                      </a:r>
                    </a:p>
                  </a:txBody>
                  <a:tcPr>
                    <a:solidFill>
                      <a:srgbClr val="EFF1F7"/>
                    </a:solidFill>
                  </a:tcPr>
                </a:tc>
                <a:tc>
                  <a:txBody>
                    <a:bodyPr/>
                    <a:lstStyle/>
                    <a:p>
                      <a:pPr algn="ctr"/>
                      <a:r>
                        <a:rPr sz="1050" b="0">
                          <a:solidFill>
                            <a:srgbClr val="1C2233"/>
                          </a:solidFill>
                          <a:latin typeface="メイリオ"/>
                          <a:ea typeface="メイリオ"/>
                        </a:rPr>
                        <a:t>42.0名</a:t>
                      </a:r>
                    </a:p>
                  </a:txBody>
                  <a:tcPr>
                    <a:solidFill>
                      <a:srgbClr val="EFF1F7"/>
                    </a:solidFill>
                  </a:tcPr>
                </a:tc>
                <a:tc>
                  <a:txBody>
                    <a:bodyPr/>
                    <a:lstStyle/>
                    <a:p>
                      <a:pPr algn="ctr"/>
                      <a:r>
                        <a:rPr sz="1050" b="0">
                          <a:solidFill>
                            <a:srgbClr val="1C2233"/>
                          </a:solidFill>
                          <a:latin typeface="メイリオ"/>
                          <a:ea typeface="メイリオ"/>
                        </a:rPr>
                        <a:t>+40%</a:t>
                      </a:r>
                    </a:p>
                  </a:txBody>
                  <a:tcPr>
                    <a:solidFill>
                      <a:srgbClr val="EFF1F7"/>
                    </a:solidFill>
                  </a:tcPr>
                </a:tc>
                <a:extLst>
                  <a:ext uri="{0D108BD9-81ED-4DB2-BD59-A6C34878D82A}">
                    <a16:rowId xmlns:a16="http://schemas.microsoft.com/office/drawing/2014/main" val="10010"/>
                  </a:ext>
                </a:extLst>
              </a:tr>
              <a:tr h="257991">
                <a:tc>
                  <a:txBody>
                    <a:bodyPr/>
                    <a:lstStyle/>
                    <a:p>
                      <a:pPr algn="l"/>
                      <a:r>
                        <a:rPr sz="1050" b="0">
                          <a:solidFill>
                            <a:srgbClr val="1C2233"/>
                          </a:solidFill>
                          <a:latin typeface="メイリオ"/>
                          <a:ea typeface="メイリオ"/>
                        </a:rPr>
                        <a:t>入会CPA</a:t>
                      </a:r>
                    </a:p>
                  </a:txBody>
                  <a:tcPr>
                    <a:solidFill>
                      <a:srgbClr val="FFFFFF"/>
                    </a:solidFill>
                  </a:tcPr>
                </a:tc>
                <a:tc>
                  <a:txBody>
                    <a:bodyPr/>
                    <a:lstStyle/>
                    <a:p>
                      <a:pPr algn="ctr"/>
                      <a:r>
                        <a:rPr sz="1050" b="0">
                          <a:solidFill>
                            <a:srgbClr val="1C2233"/>
                          </a:solidFill>
                          <a:latin typeface="メイリオ"/>
                          <a:ea typeface="メイリオ"/>
                        </a:rPr>
                        <a:t>33,300円</a:t>
                      </a:r>
                    </a:p>
                  </a:txBody>
                  <a:tcPr>
                    <a:solidFill>
                      <a:srgbClr val="FFFFFF"/>
                    </a:solidFill>
                  </a:tcPr>
                </a:tc>
                <a:tc>
                  <a:txBody>
                    <a:bodyPr/>
                    <a:lstStyle/>
                    <a:p>
                      <a:pPr algn="ctr"/>
                      <a:r>
                        <a:rPr sz="1050" b="0">
                          <a:solidFill>
                            <a:srgbClr val="1C2233"/>
                          </a:solidFill>
                          <a:latin typeface="メイリオ"/>
                          <a:ea typeface="メイリオ"/>
                        </a:rPr>
                        <a:t>26,200円</a:t>
                      </a:r>
                    </a:p>
                  </a:txBody>
                  <a:tcPr>
                    <a:solidFill>
                      <a:srgbClr val="FFFFFF"/>
                    </a:solidFill>
                  </a:tcPr>
                </a:tc>
                <a:tc>
                  <a:txBody>
                    <a:bodyPr/>
                    <a:lstStyle/>
                    <a:p>
                      <a:pPr algn="ctr"/>
                      <a:r>
                        <a:rPr sz="1050" b="0">
                          <a:solidFill>
                            <a:srgbClr val="1C2233"/>
                          </a:solidFill>
                          <a:latin typeface="メイリオ"/>
                          <a:ea typeface="メイリオ"/>
                        </a:rPr>
                        <a:t>▲21%</a:t>
                      </a:r>
                    </a:p>
                  </a:txBody>
                  <a:tcPr>
                    <a:solidFill>
                      <a:srgbClr val="FFFFFF"/>
                    </a:solidFill>
                  </a:tcPr>
                </a:tc>
                <a:extLst>
                  <a:ext uri="{0D108BD9-81ED-4DB2-BD59-A6C34878D82A}">
                    <a16:rowId xmlns:a16="http://schemas.microsoft.com/office/drawing/2014/main" val="10011"/>
                  </a:ext>
                </a:extLst>
              </a:tr>
              <a:tr h="257991">
                <a:tc>
                  <a:txBody>
                    <a:bodyPr/>
                    <a:lstStyle/>
                    <a:p>
                      <a:pPr algn="l"/>
                      <a:r>
                        <a:rPr sz="1050" b="0">
                          <a:solidFill>
                            <a:srgbClr val="1C2233"/>
                          </a:solidFill>
                          <a:latin typeface="メイリオ"/>
                          <a:ea typeface="メイリオ"/>
                        </a:rPr>
                        <a:t>平均在籍月数</a:t>
                      </a:r>
                    </a:p>
                  </a:txBody>
                  <a:tcPr>
                    <a:solidFill>
                      <a:srgbClr val="EFF1F7"/>
                    </a:solidFill>
                  </a:tcPr>
                </a:tc>
                <a:tc>
                  <a:txBody>
                    <a:bodyPr/>
                    <a:lstStyle/>
                    <a:p>
                      <a:pPr algn="ctr"/>
                      <a:r>
                        <a:rPr sz="1050" b="0">
                          <a:solidFill>
                            <a:srgbClr val="1C2233"/>
                          </a:solidFill>
                          <a:latin typeface="メイリオ"/>
                          <a:ea typeface="メイリオ"/>
                        </a:rPr>
                        <a:t>12ヶ月</a:t>
                      </a:r>
                    </a:p>
                  </a:txBody>
                  <a:tcPr>
                    <a:solidFill>
                      <a:srgbClr val="EFF1F7"/>
                    </a:solidFill>
                  </a:tcPr>
                </a:tc>
                <a:tc>
                  <a:txBody>
                    <a:bodyPr/>
                    <a:lstStyle/>
                    <a:p>
                      <a:pPr algn="ctr"/>
                      <a:r>
                        <a:rPr sz="1050" b="0">
                          <a:solidFill>
                            <a:srgbClr val="1C2233"/>
                          </a:solidFill>
                          <a:latin typeface="メイリオ"/>
                          <a:ea typeface="メイリオ"/>
                        </a:rPr>
                        <a:t>14ヶ月</a:t>
                      </a:r>
                    </a:p>
                  </a:txBody>
                  <a:tcPr>
                    <a:solidFill>
                      <a:srgbClr val="EFF1F7"/>
                    </a:solidFill>
                  </a:tcPr>
                </a:tc>
                <a:tc>
                  <a:txBody>
                    <a:bodyPr/>
                    <a:lstStyle/>
                    <a:p>
                      <a:pPr algn="ctr"/>
                      <a:r>
                        <a:rPr sz="1050" b="0">
                          <a:solidFill>
                            <a:srgbClr val="1C2233"/>
                          </a:solidFill>
                          <a:latin typeface="メイリオ"/>
                          <a:ea typeface="メイリオ"/>
                        </a:rPr>
                        <a:t>+2ヶ月</a:t>
                      </a:r>
                    </a:p>
                  </a:txBody>
                  <a:tcPr>
                    <a:solidFill>
                      <a:srgbClr val="EFF1F7"/>
                    </a:solidFill>
                  </a:tcPr>
                </a:tc>
                <a:extLst>
                  <a:ext uri="{0D108BD9-81ED-4DB2-BD59-A6C34878D82A}">
                    <a16:rowId xmlns:a16="http://schemas.microsoft.com/office/drawing/2014/main" val="10012"/>
                  </a:ext>
                </a:extLst>
              </a:tr>
              <a:tr h="257997">
                <a:tc>
                  <a:txBody>
                    <a:bodyPr/>
                    <a:lstStyle/>
                    <a:p>
                      <a:pPr algn="l"/>
                      <a:r>
                        <a:rPr sz="1050" b="0" dirty="0" err="1">
                          <a:solidFill>
                            <a:srgbClr val="1C2233"/>
                          </a:solidFill>
                          <a:latin typeface="メイリオ"/>
                          <a:ea typeface="メイリオ"/>
                        </a:rPr>
                        <a:t>会費売上（LTV基準</a:t>
                      </a:r>
                      <a:r>
                        <a:rPr sz="1050" b="0" dirty="0">
                          <a:solidFill>
                            <a:srgbClr val="1C2233"/>
                          </a:solidFill>
                          <a:latin typeface="メイリオ"/>
                          <a:ea typeface="メイリオ"/>
                        </a:rPr>
                        <a:t>）</a:t>
                      </a:r>
                    </a:p>
                  </a:txBody>
                  <a:tcPr>
                    <a:solidFill>
                      <a:srgbClr val="FFFFFF"/>
                    </a:solidFill>
                  </a:tcPr>
                </a:tc>
                <a:tc>
                  <a:txBody>
                    <a:bodyPr/>
                    <a:lstStyle/>
                    <a:p>
                      <a:pPr algn="ctr"/>
                      <a:r>
                        <a:rPr sz="1050" b="0">
                          <a:solidFill>
                            <a:srgbClr val="1C2233"/>
                          </a:solidFill>
                          <a:latin typeface="メイリオ"/>
                          <a:ea typeface="メイリオ"/>
                        </a:rPr>
                        <a:t>288万円</a:t>
                      </a:r>
                    </a:p>
                  </a:txBody>
                  <a:tcPr>
                    <a:solidFill>
                      <a:srgbClr val="FFFFFF"/>
                    </a:solidFill>
                  </a:tcPr>
                </a:tc>
                <a:tc>
                  <a:txBody>
                    <a:bodyPr/>
                    <a:lstStyle/>
                    <a:p>
                      <a:pPr algn="ctr"/>
                      <a:r>
                        <a:rPr sz="1050" b="1">
                          <a:solidFill>
                            <a:srgbClr val="FFFFFF"/>
                          </a:solidFill>
                          <a:latin typeface="メイリオ"/>
                          <a:ea typeface="メイリオ"/>
                        </a:rPr>
                        <a:t>470万円</a:t>
                      </a:r>
                    </a:p>
                  </a:txBody>
                  <a:tcPr>
                    <a:solidFill>
                      <a:srgbClr val="1F2A5C"/>
                    </a:solidFill>
                  </a:tcPr>
                </a:tc>
                <a:tc>
                  <a:txBody>
                    <a:bodyPr/>
                    <a:lstStyle/>
                    <a:p>
                      <a:pPr algn="ctr"/>
                      <a:r>
                        <a:rPr sz="1050" b="0" dirty="0">
                          <a:solidFill>
                            <a:srgbClr val="1C2233"/>
                          </a:solidFill>
                          <a:latin typeface="メイリオ"/>
                          <a:ea typeface="メイリオ"/>
                        </a:rPr>
                        <a:t>+182万円</a:t>
                      </a:r>
                    </a:p>
                  </a:txBody>
                  <a:tcP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84047"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① LP </a:t>
            </a:r>
            <a:r>
              <a:rPr sz="1200" b="1" dirty="0" err="1">
                <a:solidFill>
                  <a:srgbClr val="1C2233"/>
                </a:solidFill>
                <a:latin typeface="メイリオ"/>
                <a:ea typeface="メイリオ"/>
              </a:rPr>
              <a:t>CVRも入会率も変えていない</a:t>
            </a:r>
            <a:endParaRPr sz="1200" b="1" dirty="0">
              <a:solidFill>
                <a:srgbClr val="1C2233"/>
              </a:solidFill>
              <a:latin typeface="メイリオ"/>
              <a:ea typeface="メイリオ"/>
            </a:endParaRPr>
          </a:p>
          <a:p>
            <a:pPr algn="l">
              <a:spcBef>
                <a:spcPts val="200"/>
              </a:spcBef>
            </a:pPr>
            <a:r>
              <a:rPr sz="1100" b="0" dirty="0" err="1">
                <a:solidFill>
                  <a:srgbClr val="1C2233"/>
                </a:solidFill>
                <a:latin typeface="メイリオ"/>
                <a:ea typeface="メイリオ"/>
              </a:rPr>
              <a:t>触るのは「落ちた後</a:t>
            </a:r>
            <a:r>
              <a:rPr sz="1100" b="0" dirty="0">
                <a:solidFill>
                  <a:srgbClr val="1C2233"/>
                </a:solidFill>
                <a:latin typeface="メイリオ"/>
                <a:ea typeface="メイリオ"/>
              </a:rPr>
              <a:t>」「</a:t>
            </a:r>
            <a:r>
              <a:rPr sz="1100" b="0" dirty="0" err="1">
                <a:solidFill>
                  <a:srgbClr val="1C2233"/>
                </a:solidFill>
                <a:latin typeface="メイリオ"/>
                <a:ea typeface="メイリオ"/>
              </a:rPr>
              <a:t>予約後</a:t>
            </a:r>
            <a:r>
              <a:rPr sz="1100" b="0" dirty="0">
                <a:solidFill>
                  <a:srgbClr val="1C2233"/>
                </a:solidFill>
                <a:latin typeface="メイリオ"/>
                <a:ea typeface="メイリオ"/>
              </a:rPr>
              <a:t>」</a:t>
            </a:r>
            <a:endParaRPr lang="en-US" sz="1100" b="0"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「入会後」の3箇所だけ。</a:t>
            </a:r>
          </a:p>
        </p:txBody>
      </p:sp>
      <p:sp>
        <p:nvSpPr>
          <p:cNvPr id="6" name="Rounded Rectangle 5"/>
          <p:cNvSpPr/>
          <p:nvPr/>
        </p:nvSpPr>
        <p:spPr>
          <a:xfrm>
            <a:off x="3383278"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dirty="0">
                <a:solidFill>
                  <a:srgbClr val="1C2233"/>
                </a:solidFill>
                <a:latin typeface="メイリオ"/>
                <a:ea typeface="メイリオ"/>
              </a:rPr>
              <a:t>② </a:t>
            </a:r>
            <a:r>
              <a:rPr sz="1200" b="1" dirty="0" err="1">
                <a:solidFill>
                  <a:srgbClr val="1C2233"/>
                </a:solidFill>
                <a:latin typeface="メイリオ"/>
                <a:ea typeface="メイリオ"/>
              </a:rPr>
              <a:t>効くのは“率”であって母数ではない</a:t>
            </a:r>
            <a:endParaRPr sz="1200" b="1" dirty="0">
              <a:solidFill>
                <a:srgbClr val="1C2233"/>
              </a:solidFill>
              <a:latin typeface="メイリオ"/>
              <a:ea typeface="メイリオ"/>
            </a:endParaRPr>
          </a:p>
          <a:p>
            <a:pPr algn="l">
              <a:spcBef>
                <a:spcPts val="200"/>
              </a:spcBef>
            </a:pPr>
            <a:r>
              <a:rPr sz="1100" b="0" dirty="0">
                <a:solidFill>
                  <a:srgbClr val="1C2233"/>
                </a:solidFill>
                <a:latin typeface="メイリオ"/>
                <a:ea typeface="メイリオ"/>
              </a:rPr>
              <a:t>予約+12%より、来店率60→75%と在籍+2ヶ月のほうが効く。</a:t>
            </a:r>
          </a:p>
        </p:txBody>
      </p:sp>
      <p:sp>
        <p:nvSpPr>
          <p:cNvPr id="7" name="Rounded Rectangle 6"/>
          <p:cNvSpPr/>
          <p:nvPr/>
        </p:nvSpPr>
        <p:spPr>
          <a:xfrm>
            <a:off x="6382511" y="5120954"/>
            <a:ext cx="2928495" cy="841248"/>
          </a:xfrm>
          <a:prstGeom prst="roundRect">
            <a:avLst/>
          </a:prstGeom>
          <a:solidFill>
            <a:srgbClr val="EFF1F7"/>
          </a:solidFill>
          <a:ln w="9525">
            <a:solidFill>
              <a:srgbClr val="C6CADD"/>
            </a:solidFill>
          </a:ln>
        </p:spPr>
        <p:style>
          <a:lnRef idx="1">
            <a:schemeClr val="accent1"/>
          </a:lnRef>
          <a:fillRef idx="3">
            <a:schemeClr val="accent1"/>
          </a:fillRef>
          <a:effectRef idx="2">
            <a:schemeClr val="accent1"/>
          </a:effectRef>
          <a:fontRef idx="minor">
            <a:schemeClr val="lt1"/>
          </a:fontRef>
        </p:style>
        <p:txBody>
          <a:bodyPr wrap="square" lIns="50800" tIns="38100" rIns="50800" bIns="38100" rtlCol="0" anchor="t"/>
          <a:lstStyle/>
          <a:p>
            <a:pPr algn="l"/>
            <a:r>
              <a:rPr sz="1200" b="1">
                <a:solidFill>
                  <a:srgbClr val="002060"/>
                </a:solidFill>
                <a:latin typeface="メイリオ"/>
                <a:ea typeface="メイリオ"/>
                <a:cs typeface="メイリオ"/>
              </a:rPr>
              <a:t>③ 在籍2ヶ月分が ＋67万円</a:t>
            </a:r>
          </a:p>
          <a:p>
            <a:pPr algn="l"/>
            <a:r>
              <a:rPr sz="1100" b="0">
                <a:solidFill>
                  <a:srgbClr val="1A1A2E"/>
                </a:solidFill>
                <a:latin typeface="メイリオ"/>
                <a:ea typeface="メイリオ"/>
                <a:cs typeface="メイリオ"/>
              </a:rPr>
              <a:t>増分182万円の37%。ただし在籍月数は</a:t>
            </a:r>
          </a:p>
          <a:p>
            <a:pPr algn="l"/>
            <a:r>
              <a:rPr sz="1100" b="0">
                <a:solidFill>
                  <a:srgbClr val="1A1A2E"/>
                </a:solidFill>
                <a:latin typeface="メイリオ"/>
                <a:ea typeface="メイリオ"/>
                <a:cs typeface="メイリオ"/>
              </a:rPr>
              <a:t>LINEでは測れず、会員データで前後比較する。</a:t>
            </a:r>
          </a:p>
        </p:txBody>
      </p:sp>
      <p:sp>
        <p:nvSpPr>
          <p:cNvPr id="8" name="TextBox 7"/>
          <p:cNvSpPr txBox="1"/>
          <p:nvPr/>
        </p:nvSpPr>
        <p:spPr>
          <a:xfrm>
            <a:off x="384048" y="6284516"/>
            <a:ext cx="9134856" cy="310896"/>
          </a:xfrm>
          <a:prstGeom prst="rect">
            <a:avLst/>
          </a:prstGeom>
          <a:noFill/>
        </p:spPr>
        <p:txBody>
          <a:bodyPr wrap="square" lIns="0" tIns="0" rIns="0" bIns="0">
            <a:spAutoFit/>
          </a:bodyPr>
          <a:lstStyle/>
          <a:p>
            <a:r>
              <a:rPr sz="900" b="0">
                <a:solidFill>
                  <a:srgbClr val="646C82"/>
                </a:solidFill>
                <a:latin typeface="メイリオ"/>
                <a:ea typeface="メイリオ"/>
                <a:cs typeface="メイリオ"/>
              </a:rPr>
              <a:t>★前提（すべて社内想定）：友だち化率3%／体験予約転換率8%／平均在籍12→14ヶ月／来店率60→75%。月会費・在籍月数は業界一般値。</a:t>
            </a:r>
          </a:p>
          <a:p>
            <a:r>
              <a:rPr sz="900" b="0">
                <a:solidFill>
                  <a:srgbClr val="646C82"/>
                </a:solidFill>
                <a:latin typeface="メイリオ"/>
                <a:ea typeface="メイリオ"/>
                <a:cs typeface="メイリオ"/>
              </a:rPr>
              <a:t>※ 在籍月数はLINE側では計測できません。導入前後の在籍月数は、貴社の会員管理システムのデータで比較いたします。</a:t>
            </a:r>
          </a:p>
        </p:txBody>
      </p:sp>
    </p:spTree>
    <p:extLst>
      <p:ext uri="{BB962C8B-B14F-4D97-AF65-F5344CB8AC3E}">
        <p14:creationId xmlns:p14="http://schemas.microsoft.com/office/powerpoint/2010/main" val="41122265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a:ea typeface="メイリオ"/>
              </a:rPr>
              <a:t>流入</a:t>
            </a:r>
            <a:r>
              <a:rPr lang="en-US" altLang="ja-JP" sz="900" b="1" dirty="0">
                <a:solidFill>
                  <a:srgbClr val="FDFDFD"/>
                </a:solidFill>
                <a:latin typeface="メイリオ"/>
                <a:ea typeface="メイリオ"/>
              </a:rPr>
              <a:t>/</a:t>
            </a:r>
            <a:r>
              <a:rPr lang="ja-JP" altLang="en-US" sz="900" b="1" dirty="0">
                <a:solidFill>
                  <a:srgbClr val="FDFDFD"/>
                </a:solidFill>
                <a:latin typeface="メイリオ"/>
                <a:ea typeface="メイリオ"/>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a:ea typeface="メイリオ"/>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146286</TotalTime>
  <Words>8092</Words>
  <Application>Microsoft Office PowerPoint</Application>
  <PresentationFormat>A4 210 x 297 mm</PresentationFormat>
  <Paragraphs>1742</Paragraphs>
  <Slides>47</Slides>
  <Notes>9</Notes>
  <HiddenSlides>5</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47</vt:i4>
      </vt:variant>
    </vt:vector>
  </HeadingPairs>
  <TitlesOfParts>
    <vt:vector size="52"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1963</cp:revision>
  <cp:lastPrinted>2022-11-01T11:38:14Z</cp:lastPrinted>
  <dcterms:created xsi:type="dcterms:W3CDTF">2015-09-04T09:21:15Z</dcterms:created>
  <dcterms:modified xsi:type="dcterms:W3CDTF">2026-10-19T08:25:17Z</dcterms:modified>
</cp:coreProperties>
</file>