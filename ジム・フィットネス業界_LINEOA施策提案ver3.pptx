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49"/>
  </p:notesMasterIdLst>
  <p:handoutMasterIdLst>
    <p:handoutMasterId r:id="rId50"/>
  </p:handoutMasterIdLst>
  <p:sldIdLst>
    <p:sldId id="2363" r:id="rId3"/>
    <p:sldId id="3151" r:id="rId4"/>
    <p:sldId id="2972" r:id="rId17"/>
    <p:sldId id="3140" r:id="rId11"/>
    <p:sldId id="3141" r:id="rId12"/>
    <p:sldId id="3142" r:id="rId13"/>
    <p:sldId id="2935" r:id="rId5"/>
    <p:sldId id="2908" r:id="rId6"/>
    <p:sldId id="2956" r:id="rId15"/>
    <p:sldId id="2988" r:id="rId16"/>
    <p:sldId id="2983" r:id="rId24"/>
    <p:sldId id="2950" r:id="rId7"/>
    <p:sldId id="2962" r:id="rId34"/>
    <p:sldId id="2937" r:id="rId8"/>
    <p:sldId id="2939" r:id="rId10"/>
    <p:sldId id="2966" r:id="rId9"/>
    <p:sldId id="3144" r:id="rId28"/>
    <p:sldId id="3149" r:id="rId29"/>
    <p:sldId id="3145" r:id="rId30"/>
    <p:sldId id="3150" r:id="rId31"/>
    <p:sldId id="3139" r:id="rId18"/>
    <p:sldId id="3147" r:id="rId19"/>
    <p:sldId id="3138" r:id="rId20"/>
    <p:sldId id="267" r:id="rId21"/>
    <p:sldId id="3148" r:id="rId22"/>
    <p:sldId id="2997" r:id="rId14"/>
    <p:sldId id="2996" r:id="rId25"/>
    <p:sldId id="3143" r:id="rId26"/>
    <p:sldId id="3153" r:id="rId27"/>
    <p:sldId id="2984" r:id="rId32"/>
    <p:sldId id="2985" r:id="rId33"/>
    <p:sldId id="2942" r:id="rId35"/>
    <p:sldId id="2941" r:id="rId36"/>
    <p:sldId id="2943" r:id="rId37"/>
    <p:sldId id="2944" r:id="rId38"/>
    <p:sldId id="3152" r:id="rId43"/>
    <p:sldId id="2946" r:id="rId44"/>
    <p:sldId id="2947" r:id="rId45"/>
    <p:sldId id="2948" r:id="rId46"/>
    <p:sldId id="2958" r:id="rId47"/>
    <p:sldId id="3146" r:id="rId39"/>
    <p:sldId id="2991" r:id="rId41"/>
    <p:sldId id="1169" r:id="rId4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2D6CB9"/>
    <a:srgbClr val="173559"/>
    <a:srgbClr val="04FA0A"/>
    <a:srgbClr val="2080FF"/>
    <a:srgbClr val="1D8DFF"/>
    <a:srgbClr val="515457"/>
    <a:srgbClr val="F6A454"/>
    <a:srgbClr val="EAEEF4"/>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05" autoAdjust="0"/>
    <p:restoredTop sz="94424" autoAdjust="0"/>
  </p:normalViewPr>
  <p:slideViewPr>
    <p:cSldViewPr snapToGrid="0">
      <p:cViewPr>
        <p:scale>
          <a:sx n="100" d="100"/>
          <a:sy n="100" d="100"/>
        </p:scale>
        <p:origin x="1830" y="318"/>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7" Type="http://schemas.openxmlformats.org/officeDocument/2006/relationships/slide" Target="slides/slide45.xml"/><Relationship Id="rId50" Type="http://schemas.openxmlformats.org/officeDocument/2006/relationships/handoutMaster" Target="handoutMasters/handout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メイリオ"/>
        <a:ea typeface="メイリオ"/>
        <a:cs typeface="+mn-cs"/>
      </a:defRPr>
    </a:lvl1pPr>
    <a:lvl2pPr marL="457200" algn="l" defTabSz="914400" rtl="0" eaLnBrk="1" latinLnBrk="0" hangingPunct="1">
      <a:defRPr kumimoji="1" sz="1200" kern="1200">
        <a:solidFill>
          <a:schemeClr val="tx1"/>
        </a:solidFill>
        <a:latin typeface="メイリオ"/>
        <a:ea typeface="メイリオ"/>
        <a:cs typeface="+mn-cs"/>
      </a:defRPr>
    </a:lvl2pPr>
    <a:lvl3pPr marL="914400" algn="l" defTabSz="914400" rtl="0" eaLnBrk="1" latinLnBrk="0" hangingPunct="1">
      <a:defRPr kumimoji="1" sz="1200" kern="1200">
        <a:solidFill>
          <a:schemeClr val="tx1"/>
        </a:solidFill>
        <a:latin typeface="メイリオ"/>
        <a:ea typeface="メイリオ"/>
        <a:cs typeface="+mn-cs"/>
      </a:defRPr>
    </a:lvl3pPr>
    <a:lvl4pPr marL="1371600" algn="l" defTabSz="914400" rtl="0" eaLnBrk="1" latinLnBrk="0" hangingPunct="1">
      <a:defRPr kumimoji="1" sz="1200" kern="1200">
        <a:solidFill>
          <a:schemeClr val="tx1"/>
        </a:solidFill>
        <a:latin typeface="メイリオ"/>
        <a:ea typeface="メイリオ"/>
        <a:cs typeface="+mn-cs"/>
      </a:defRPr>
    </a:lvl4pPr>
    <a:lvl5pPr marL="1828800" algn="l" defTabSz="914400" rtl="0" eaLnBrk="1" latinLnBrk="0" hangingPunct="1">
      <a:defRPr kumimoji="1" sz="1200" kern="1200">
        <a:solidFill>
          <a:schemeClr val="tx1"/>
        </a:solidFill>
        <a:latin typeface="メイリオ"/>
        <a:ea typeface="メイリオ"/>
        <a:cs typeface="+mn-cs"/>
      </a:defRPr>
    </a:lvl5pPr>
    <a:lvl6pPr marL="2286000" algn="l" defTabSz="914400" rtl="0" eaLnBrk="1" latinLnBrk="0" hangingPunct="1">
      <a:defRPr kumimoji="1" sz="1200" kern="1200">
        <a:solidFill>
          <a:schemeClr val="tx1"/>
        </a:solidFill>
        <a:latin typeface="メイリオ"/>
        <a:ea typeface="メイリオ"/>
        <a:cs typeface="+mn-cs"/>
      </a:defRPr>
    </a:lvl6pPr>
    <a:lvl7pPr marL="2743200" algn="l" defTabSz="914400" rtl="0" eaLnBrk="1" latinLnBrk="0" hangingPunct="1">
      <a:defRPr kumimoji="1" sz="1200" kern="1200">
        <a:solidFill>
          <a:schemeClr val="tx1"/>
        </a:solidFill>
        <a:latin typeface="メイリオ"/>
        <a:ea typeface="メイリオ"/>
        <a:cs typeface="+mn-cs"/>
      </a:defRPr>
    </a:lvl7pPr>
    <a:lvl8pPr marL="3200400" algn="l" defTabSz="914400" rtl="0" eaLnBrk="1" latinLnBrk="0" hangingPunct="1">
      <a:defRPr kumimoji="1" sz="1200" kern="1200">
        <a:solidFill>
          <a:schemeClr val="tx1"/>
        </a:solidFill>
        <a:latin typeface="メイリオ"/>
        <a:ea typeface="メイリオ"/>
        <a:cs typeface="+mn-cs"/>
      </a:defRPr>
    </a:lvl8pPr>
    <a:lvl9pPr marL="3657600" algn="l" defTabSz="914400" rtl="0" eaLnBrk="1" latinLnBrk="0" hangingPunct="1">
      <a:defRPr kumimoji="1" sz="1200" kern="1200">
        <a:solidFill>
          <a:schemeClr val="tx1"/>
        </a:solidFill>
        <a:latin typeface="メイリオ"/>
        <a:ea typeface="メイリオ"/>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6156830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12:notes"/>
          <p:cNvSpPr txBox="1">
            <a:spLocks noGrp="1"/>
          </p:cNvSpPr>
          <p:nvPr>
            <p:ph type="body" idx="1"/>
          </p:nvPr>
        </p:nvSpPr>
        <p:spPr>
          <a:xfrm>
            <a:off x="992030" y="3229651"/>
            <a:ext cx="7945755" cy="3059669"/>
          </a:xfrm>
          <a:prstGeom prst="rect">
            <a:avLst/>
          </a:prstGeom>
        </p:spPr>
        <p:txBody>
          <a:bodyPr spcFirstLastPara="1" wrap="square" lIns="95525" tIns="47750" rIns="95525" bIns="47750" anchor="t" anchorCtr="0">
            <a:noAutofit/>
          </a:bodyPr>
          <a:lstStyle/>
          <a:p>
            <a:pPr marL="0" lvl="0" indent="0" algn="l" rtl="0">
              <a:spcBef>
                <a:spcPts val="360"/>
              </a:spcBef>
              <a:spcAft>
                <a:spcPts val="0"/>
              </a:spcAft>
              <a:buNone/>
            </a:pPr>
            <a:endParaRPr/>
          </a:p>
        </p:txBody>
      </p:sp>
      <p:sp>
        <p:nvSpPr>
          <p:cNvPr id="468" name="Google Shape;468;p12: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172251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0FCE-2B60-6073-0196-9BECEBB48CB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7CFE8D6-363C-C197-3C60-88A1849108C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E45DC0-523A-3D00-326B-F7335CED0B2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781AB6B-D743-8208-3F8A-0CEEC635A50D}"/>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293076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メイリオ"/>
              <a:ea typeface="メイリオ"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メイリオ"/>
                <a:ea typeface="メイリオ" panose="020B0600070205080204" pitchFamily="50" charset="-128"/>
              </a:rPr>
              <a:pPr defTabSz="956886">
                <a:defRPr/>
              </a:pPr>
              <a:t>46</a:t>
            </a:fld>
            <a:endParaRPr lang="ja-JP" altLang="en-US">
              <a:solidFill>
                <a:prstClr val="black"/>
              </a:solidFill>
              <a:latin typeface="メイリオ"/>
              <a:ea typeface="メイリオ"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メイリオ"/>
          <a:ea typeface="メイリオ"/>
          <a:cs typeface="+mj-cs"/>
        </a:defRPr>
      </a:lvl1pPr>
      <a:lvl2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2pPr>
      <a:lvl3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3pPr>
      <a:lvl4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4pPr>
      <a:lvl5pPr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5pPr>
      <a:lvl6pPr marL="4572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6pPr>
      <a:lvl7pPr marL="9144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7pPr>
      <a:lvl8pPr marL="13716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8pPr>
      <a:lvl9pPr marL="1828800" algn="ctr" rtl="0" eaLnBrk="1" fontAlgn="base" hangingPunct="1">
        <a:spcBef>
          <a:spcPct val="0"/>
        </a:spcBef>
        <a:spcAft>
          <a:spcPct val="0"/>
        </a:spcAft>
        <a:defRPr kumimoji="1" sz="4400">
          <a:solidFill>
            <a:schemeClr val="tx1"/>
          </a:solidFill>
          <a:latin typeface="メイリオ" pitchFamily="34" charset="0"/>
          <a:ea typeface="メイリオ"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メイリオ"/>
          <a:ea typeface="メイリオ"/>
          <a:cs typeface="+mn-cs"/>
        </a:defRPr>
      </a:lvl9pPr>
    </p:bodyStyle>
    <p:other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メイリオ" charset="0"/>
                <a:ea typeface="メイリオ" charset="0"/>
                <a:cs typeface="ＭＳ Ｐゴシック" charset="0"/>
              </a:defRPr>
            </a:lvl1pPr>
            <a:lvl2pPr marL="742950" indent="-285750">
              <a:defRPr kumimoji="1" sz="2400">
                <a:solidFill>
                  <a:schemeClr val="tx1"/>
                </a:solidFill>
                <a:latin typeface="メイリオ" charset="0"/>
                <a:ea typeface="メイリオ" charset="0"/>
              </a:defRPr>
            </a:lvl2pPr>
            <a:lvl3pPr marL="1143000" indent="-228600">
              <a:defRPr kumimoji="1" sz="2400">
                <a:solidFill>
                  <a:schemeClr val="tx1"/>
                </a:solidFill>
                <a:latin typeface="メイリオ" charset="0"/>
                <a:ea typeface="メイリオ" charset="0"/>
              </a:defRPr>
            </a:lvl3pPr>
            <a:lvl4pPr marL="1600200" indent="-228600">
              <a:defRPr kumimoji="1" sz="2400">
                <a:solidFill>
                  <a:schemeClr val="tx1"/>
                </a:solidFill>
                <a:latin typeface="メイリオ" charset="0"/>
                <a:ea typeface="メイリオ" charset="0"/>
              </a:defRPr>
            </a:lvl4pPr>
            <a:lvl5pPr marL="2057400" indent="-228600">
              <a:defRPr kumimoji="1" sz="2400">
                <a:solidFill>
                  <a:schemeClr val="tx1"/>
                </a:solidFill>
                <a:latin typeface="メイリオ" charset="0"/>
                <a:ea typeface="メイリオ" charset="0"/>
              </a:defRPr>
            </a:lvl5pPr>
            <a:lvl6pPr marL="2514600" indent="-228600" fontAlgn="base">
              <a:spcBef>
                <a:spcPct val="0"/>
              </a:spcBef>
              <a:spcAft>
                <a:spcPct val="0"/>
              </a:spcAft>
              <a:defRPr kumimoji="1" sz="2400">
                <a:solidFill>
                  <a:schemeClr val="tx1"/>
                </a:solidFill>
                <a:latin typeface="メイリオ" charset="0"/>
                <a:ea typeface="メイリオ" charset="0"/>
              </a:defRPr>
            </a:lvl6pPr>
            <a:lvl7pPr marL="2971800" indent="-228600" fontAlgn="base">
              <a:spcBef>
                <a:spcPct val="0"/>
              </a:spcBef>
              <a:spcAft>
                <a:spcPct val="0"/>
              </a:spcAft>
              <a:defRPr kumimoji="1" sz="2400">
                <a:solidFill>
                  <a:schemeClr val="tx1"/>
                </a:solidFill>
                <a:latin typeface="メイリオ" charset="0"/>
                <a:ea typeface="メイリオ" charset="0"/>
              </a:defRPr>
            </a:lvl7pPr>
            <a:lvl8pPr marL="3429000" indent="-228600" fontAlgn="base">
              <a:spcBef>
                <a:spcPct val="0"/>
              </a:spcBef>
              <a:spcAft>
                <a:spcPct val="0"/>
              </a:spcAft>
              <a:defRPr kumimoji="1" sz="2400">
                <a:solidFill>
                  <a:schemeClr val="tx1"/>
                </a:solidFill>
                <a:latin typeface="メイリオ" charset="0"/>
                <a:ea typeface="メイリオ" charset="0"/>
              </a:defRPr>
            </a:lvl8pPr>
            <a:lvl9pPr marL="3886200" indent="-228600" fontAlgn="base">
              <a:spcBef>
                <a:spcPct val="0"/>
              </a:spcBef>
              <a:spcAft>
                <a:spcPct val="0"/>
              </a:spcAft>
              <a:defRPr kumimoji="1" sz="2400">
                <a:solidFill>
                  <a:schemeClr val="tx1"/>
                </a:solidFill>
                <a:latin typeface="メイリオ" charset="0"/>
                <a:ea typeface="メイリオ"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r"/>
            <a:fld id="{9FC100E3-15F5-4145-A942-47DB1D8B776D}" type="slidenum">
              <a:rPr lang="ja-JP" altLang="en-US" sz="1400" i="1" smtClean="0">
                <a:solidFill>
                  <a:prstClr val="white"/>
                </a:solidFill>
                <a:latin typeface="メイリオ" panose="020B0502020202020204" pitchFamily="34" charset="0"/>
                <a:ea typeface="メイリオ"/>
              </a:rPr>
              <a:pPr algn="r"/>
              <a:t>‹#›</a:t>
            </a:fld>
            <a:endParaRPr lang="ja-JP" altLang="en-US" sz="1400" i="1" dirty="0">
              <a:solidFill>
                <a:prstClr val="white"/>
              </a:solidFill>
              <a:latin typeface="メイリオ" panose="020B0502020202020204" pitchFamily="34" charset="0"/>
              <a:ea typeface="メイリオ"/>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メイリオ"/>
          <a:ea typeface="メイリオ"/>
          <a:cs typeface="ＭＳ Ｐゴシック" charset="0"/>
        </a:defRPr>
      </a:lvl1pPr>
      <a:lvl2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メイリオ" charset="0"/>
          <a:ea typeface="メイリオ"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メイリオ"/>
          <a:ea typeface="メイリオ"/>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メイリオ"/>
          <a:ea typeface="メイリオ"/>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メイリオ"/>
          <a:ea typeface="メイリオ"/>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メイリオ"/>
          <a:ea typeface="メイリオ"/>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メイリオ"/>
          <a:ea typeface="メイリオ"/>
          <a:cs typeface="+mn-cs"/>
        </a:defRPr>
      </a:lvl9pPr>
    </p:bodyStyle>
    <p:otherStyle>
      <a:defPPr>
        <a:defRPr lang="ja-JP"/>
      </a:defPPr>
      <a:lvl1pPr marL="0" algn="l" defTabSz="457200" rtl="0" eaLnBrk="1" latinLnBrk="0" hangingPunct="1">
        <a:defRPr kumimoji="1" sz="1800" kern="1200">
          <a:solidFill>
            <a:schemeClr val="tx1"/>
          </a:solidFill>
          <a:latin typeface="メイリオ"/>
          <a:ea typeface="メイリオ"/>
          <a:cs typeface="+mn-cs"/>
        </a:defRPr>
      </a:lvl1pPr>
      <a:lvl2pPr marL="457200" algn="l" defTabSz="457200" rtl="0" eaLnBrk="1" latinLnBrk="0" hangingPunct="1">
        <a:defRPr kumimoji="1" sz="1800" kern="1200">
          <a:solidFill>
            <a:schemeClr val="tx1"/>
          </a:solidFill>
          <a:latin typeface="メイリオ"/>
          <a:ea typeface="メイリオ"/>
          <a:cs typeface="+mn-cs"/>
        </a:defRPr>
      </a:lvl2pPr>
      <a:lvl3pPr marL="914400" algn="l" defTabSz="457200" rtl="0" eaLnBrk="1" latinLnBrk="0" hangingPunct="1">
        <a:defRPr kumimoji="1" sz="1800" kern="1200">
          <a:solidFill>
            <a:schemeClr val="tx1"/>
          </a:solidFill>
          <a:latin typeface="メイリオ"/>
          <a:ea typeface="メイリオ"/>
          <a:cs typeface="+mn-cs"/>
        </a:defRPr>
      </a:lvl3pPr>
      <a:lvl4pPr marL="1371600" algn="l" defTabSz="457200" rtl="0" eaLnBrk="1" latinLnBrk="0" hangingPunct="1">
        <a:defRPr kumimoji="1" sz="1800" kern="1200">
          <a:solidFill>
            <a:schemeClr val="tx1"/>
          </a:solidFill>
          <a:latin typeface="メイリオ"/>
          <a:ea typeface="メイリオ"/>
          <a:cs typeface="+mn-cs"/>
        </a:defRPr>
      </a:lvl4pPr>
      <a:lvl5pPr marL="1828800" algn="l" defTabSz="457200" rtl="0" eaLnBrk="1" latinLnBrk="0" hangingPunct="1">
        <a:defRPr kumimoji="1" sz="1800" kern="1200">
          <a:solidFill>
            <a:schemeClr val="tx1"/>
          </a:solidFill>
          <a:latin typeface="メイリオ"/>
          <a:ea typeface="メイリオ"/>
          <a:cs typeface="+mn-cs"/>
        </a:defRPr>
      </a:lvl5pPr>
      <a:lvl6pPr marL="2286000" algn="l" defTabSz="457200" rtl="0" eaLnBrk="1" latinLnBrk="0" hangingPunct="1">
        <a:defRPr kumimoji="1" sz="1800" kern="1200">
          <a:solidFill>
            <a:schemeClr val="tx1"/>
          </a:solidFill>
          <a:latin typeface="メイリオ"/>
          <a:ea typeface="メイリオ"/>
          <a:cs typeface="+mn-cs"/>
        </a:defRPr>
      </a:lvl6pPr>
      <a:lvl7pPr marL="2743200" algn="l" defTabSz="457200" rtl="0" eaLnBrk="1" latinLnBrk="0" hangingPunct="1">
        <a:defRPr kumimoji="1" sz="1800" kern="1200">
          <a:solidFill>
            <a:schemeClr val="tx1"/>
          </a:solidFill>
          <a:latin typeface="メイリオ"/>
          <a:ea typeface="メイリオ"/>
          <a:cs typeface="+mn-cs"/>
        </a:defRPr>
      </a:lvl7pPr>
      <a:lvl8pPr marL="3200400" algn="l" defTabSz="457200" rtl="0" eaLnBrk="1" latinLnBrk="0" hangingPunct="1">
        <a:defRPr kumimoji="1" sz="1800" kern="1200">
          <a:solidFill>
            <a:schemeClr val="tx1"/>
          </a:solidFill>
          <a:latin typeface="メイリオ"/>
          <a:ea typeface="メイリオ"/>
          <a:cs typeface="+mn-cs"/>
        </a:defRPr>
      </a:lvl8pPr>
      <a:lvl9pPr marL="3657600" algn="l" defTabSz="457200" rtl="0" eaLnBrk="1" latinLnBrk="0" hangingPunct="1">
        <a:defRPr kumimoji="1" sz="1800" kern="1200">
          <a:solidFill>
            <a:schemeClr val="tx1"/>
          </a:solidFill>
          <a:latin typeface="メイリオ"/>
          <a:ea typeface="メイリオ"/>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3.emf"/><Relationship Id="rId7" Type="http://schemas.openxmlformats.org/officeDocument/2006/relationships/image" Target="../media/image28.jpe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rPr>
              <a:t>業界：ジム・フィットネス</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5" name="TextBox 4"/>
          <p:cNvSpPr txBox="1"/>
          <p:nvPr/>
        </p:nvSpPr>
        <p:spPr>
          <a:xfrm>
            <a:off x="432000" y="648000"/>
            <a:ext cx="9036000" cy="760011"/>
          </a:xfrm>
          <a:prstGeom prst="rect">
            <a:avLst/>
          </a:prstGeom>
          <a:noFill/>
        </p:spPr>
        <p:txBody>
          <a:bodyPr wrap="square" lIns="50400" tIns="18000" rIns="50400" bIns="18000" anchor="t">
            <a:spAutoFit/>
          </a:bodyPr>
          <a:lstStyle/>
          <a:p>
            <a:pPr algn="ctr">
              <a:lnSpc>
                <a:spcPct val="135000"/>
              </a:lnSpc>
            </a:pPr>
            <a:r>
              <a:rPr dirty="0" err="1">
                <a:solidFill>
                  <a:srgbClr val="333333"/>
                </a:solidFill>
                <a:latin typeface="メイリオ"/>
                <a:ea typeface="メイリオ"/>
                <a:cs typeface="メイリオ"/>
              </a:rPr>
              <a:t>検索需要は横ばい、店舗は増え続けている</a:t>
            </a:r>
            <a:r>
              <a:rPr dirty="0">
                <a:solidFill>
                  <a:srgbClr val="333333"/>
                </a:solidFill>
                <a:latin typeface="メイリオ"/>
                <a:ea typeface="メイリオ"/>
                <a:cs typeface="メイリオ"/>
              </a:rPr>
              <a:t>。</a:t>
            </a:r>
            <a:endParaRPr lang="en-US" dirty="0">
              <a:solidFill>
                <a:srgbClr val="333333"/>
              </a:solidFill>
              <a:latin typeface="メイリオ"/>
              <a:ea typeface="メイリオ"/>
              <a:cs typeface="メイリオ"/>
            </a:endParaRPr>
          </a:p>
          <a:p>
            <a:pPr algn="ctr">
              <a:lnSpc>
                <a:spcPct val="135000"/>
              </a:lnSpc>
            </a:pPr>
            <a:r>
              <a:rPr dirty="0">
                <a:solidFill>
                  <a:srgbClr val="333333"/>
                </a:solidFill>
                <a:latin typeface="メイリオ"/>
                <a:ea typeface="メイリオ"/>
                <a:cs typeface="メイリオ"/>
              </a:rPr>
              <a:t>「</a:t>
            </a:r>
            <a:r>
              <a:rPr dirty="0" err="1">
                <a:solidFill>
                  <a:srgbClr val="333333"/>
                </a:solidFill>
                <a:latin typeface="メイリオ"/>
                <a:ea typeface="メイリオ"/>
                <a:cs typeface="メイリオ"/>
              </a:rPr>
              <a:t>集める</a:t>
            </a:r>
            <a:r>
              <a:rPr dirty="0">
                <a:solidFill>
                  <a:srgbClr val="333333"/>
                </a:solidFill>
                <a:latin typeface="メイリオ"/>
                <a:ea typeface="メイリオ"/>
                <a:cs typeface="メイリオ"/>
              </a:rPr>
              <a:t>」</a:t>
            </a:r>
            <a:r>
              <a:rPr lang="ja-JP" altLang="en-US" dirty="0">
                <a:solidFill>
                  <a:srgbClr val="333333"/>
                </a:solidFill>
                <a:latin typeface="メイリオ"/>
                <a:ea typeface="メイリオ"/>
                <a:cs typeface="メイリオ"/>
              </a:rPr>
              <a:t>⇒</a:t>
            </a:r>
            <a:r>
              <a:rPr lang="ja-JP" altLang="en-US" b="1" dirty="0">
                <a:solidFill>
                  <a:srgbClr val="333333"/>
                </a:solidFill>
                <a:latin typeface="メイリオ"/>
                <a:ea typeface="メイリオ"/>
                <a:cs typeface="メイリオ"/>
              </a:rPr>
              <a:t>「体験予約から継続まで、LINEでつなぐ」</a:t>
            </a:r>
            <a:endParaRPr b="1" dirty="0">
              <a:solidFill>
                <a:srgbClr val="333333"/>
              </a:solidFill>
              <a:latin typeface="メイリオ"/>
              <a:ea typeface="メイリオ"/>
              <a:cs typeface="メイリオ"/>
            </a:endParaRPr>
          </a:p>
        </p:txBody>
      </p:sp>
      <p:sp>
        <p:nvSpPr>
          <p:cNvPr id="7" name="Rounded Rectangle 6"/>
          <p:cNvSpPr/>
          <p:nvPr/>
        </p:nvSpPr>
        <p:spPr>
          <a:xfrm>
            <a:off x="432000" y="1548000"/>
            <a:ext cx="9043200" cy="760011"/>
          </a:xfrm>
          <a:prstGeom prst="roundRect">
            <a:avLst/>
          </a:prstGeom>
          <a:solidFill>
            <a:srgbClr val="EEF2F9"/>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57999" y="1673998"/>
            <a:ext cx="666000" cy="551381"/>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1</a:t>
            </a:r>
          </a:p>
        </p:txBody>
      </p:sp>
      <p:sp>
        <p:nvSpPr>
          <p:cNvPr id="9" name="TextBox 8"/>
          <p:cNvSpPr txBox="1"/>
          <p:nvPr/>
        </p:nvSpPr>
        <p:spPr>
          <a:xfrm>
            <a:off x="1349998" y="1757622"/>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市場と実態</a:t>
            </a:r>
          </a:p>
        </p:txBody>
      </p:sp>
      <p:sp>
        <p:nvSpPr>
          <p:cNvPr id="11" name="TextBox 10"/>
          <p:cNvSpPr txBox="1"/>
          <p:nvPr/>
        </p:nvSpPr>
        <p:spPr>
          <a:xfrm>
            <a:off x="4256999" y="1673998"/>
            <a:ext cx="5011200" cy="522000"/>
          </a:xfrm>
          <a:prstGeom prst="rect">
            <a:avLst/>
          </a:prstGeom>
          <a:noFill/>
        </p:spPr>
        <p:txBody>
          <a:bodyPr wrap="square" lIns="50400" tIns="18000" rIns="50400" bIns="18000" anchor="ctr">
            <a:spAutoFit/>
          </a:bodyPr>
          <a:lstStyle/>
          <a:p>
            <a:pPr algn="l">
              <a:lnSpc>
                <a:spcPct val="135000"/>
              </a:lnSpc>
            </a:pPr>
            <a:r>
              <a:rPr sz="1600" dirty="0" err="1">
                <a:solidFill>
                  <a:srgbClr val="333333"/>
                </a:solidFill>
                <a:latin typeface="メイリオ"/>
                <a:ea typeface="メイリオ"/>
                <a:cs typeface="メイリオ"/>
              </a:rPr>
              <a:t>検索需要と獲得単価 → 各社LINEの実態・4つの型</a:t>
            </a:r>
          </a:p>
        </p:txBody>
      </p:sp>
      <p:sp>
        <p:nvSpPr>
          <p:cNvPr id="12" name="Rounded Rectangle 11"/>
          <p:cNvSpPr/>
          <p:nvPr/>
        </p:nvSpPr>
        <p:spPr>
          <a:xfrm>
            <a:off x="432000" y="2411999"/>
            <a:ext cx="9043200" cy="760011"/>
          </a:xfrm>
          <a:prstGeom prst="roundRect">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57999" y="2537999"/>
            <a:ext cx="666000" cy="551381"/>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2</a:t>
            </a:r>
          </a:p>
        </p:txBody>
      </p:sp>
      <p:sp>
        <p:nvSpPr>
          <p:cNvPr id="14" name="TextBox 13"/>
          <p:cNvSpPr txBox="1"/>
          <p:nvPr/>
        </p:nvSpPr>
        <p:spPr>
          <a:xfrm>
            <a:off x="1349998" y="2621623"/>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なぜLINEか</a:t>
            </a:r>
          </a:p>
        </p:txBody>
      </p:sp>
      <p:sp>
        <p:nvSpPr>
          <p:cNvPr id="16" name="TextBox 15"/>
          <p:cNvSpPr txBox="1"/>
          <p:nvPr/>
        </p:nvSpPr>
        <p:spPr>
          <a:xfrm>
            <a:off x="4256999" y="2537999"/>
            <a:ext cx="5011200" cy="522000"/>
          </a:xfrm>
          <a:prstGeom prst="rect">
            <a:avLst/>
          </a:prstGeom>
          <a:noFill/>
        </p:spPr>
        <p:txBody>
          <a:bodyPr wrap="square" lIns="50400" tIns="18000" rIns="50400" bIns="18000" anchor="ctr">
            <a:spAutoFit/>
          </a:bodyPr>
          <a:lstStyle/>
          <a:p>
            <a:pPr algn="l">
              <a:lnSpc>
                <a:spcPct val="135000"/>
              </a:lnSpc>
            </a:pPr>
            <a:r>
              <a:rPr sz="1600">
                <a:solidFill>
                  <a:srgbClr val="333333"/>
                </a:solidFill>
                <a:latin typeface="メイリオ"/>
                <a:ea typeface="メイリオ"/>
                <a:cs typeface="メイリオ"/>
              </a:rPr>
              <a:t>登録のハードル・LINE施策の考え方</a:t>
            </a:r>
          </a:p>
        </p:txBody>
      </p:sp>
      <p:sp>
        <p:nvSpPr>
          <p:cNvPr id="17" name="Rounded Rectangle 16"/>
          <p:cNvSpPr/>
          <p:nvPr/>
        </p:nvSpPr>
        <p:spPr>
          <a:xfrm>
            <a:off x="432000" y="3276000"/>
            <a:ext cx="9043200" cy="760011"/>
          </a:xfrm>
          <a:prstGeom prst="roundRect">
            <a:avLst/>
          </a:prstGeom>
          <a:solidFill>
            <a:srgbClr val="EEF2F9"/>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7999" y="3401999"/>
            <a:ext cx="666000" cy="551381"/>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3</a:t>
            </a:r>
          </a:p>
        </p:txBody>
      </p:sp>
      <p:sp>
        <p:nvSpPr>
          <p:cNvPr id="19" name="TextBox 18"/>
          <p:cNvSpPr txBox="1"/>
          <p:nvPr/>
        </p:nvSpPr>
        <p:spPr>
          <a:xfrm>
            <a:off x="1349998" y="3485623"/>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全体設計</a:t>
            </a:r>
          </a:p>
        </p:txBody>
      </p:sp>
      <p:sp>
        <p:nvSpPr>
          <p:cNvPr id="21" name="TextBox 20"/>
          <p:cNvSpPr txBox="1"/>
          <p:nvPr/>
        </p:nvSpPr>
        <p:spPr>
          <a:xfrm>
            <a:off x="4256999" y="3401999"/>
            <a:ext cx="5011200" cy="522000"/>
          </a:xfrm>
          <a:prstGeom prst="rect">
            <a:avLst/>
          </a:prstGeom>
          <a:noFill/>
        </p:spPr>
        <p:txBody>
          <a:bodyPr wrap="square" lIns="50400" tIns="18000" rIns="50400" bIns="18000" anchor="ctr">
            <a:spAutoFit/>
          </a:bodyPr>
          <a:lstStyle/>
          <a:p>
            <a:pPr algn="l">
              <a:lnSpc>
                <a:spcPct val="135000"/>
              </a:lnSpc>
            </a:pPr>
            <a:r>
              <a:rPr sz="1600">
                <a:solidFill>
                  <a:srgbClr val="333333"/>
                </a:solidFill>
                <a:latin typeface="メイリオ"/>
                <a:ea typeface="メイリオ"/>
                <a:cs typeface="メイリオ"/>
              </a:rPr>
              <a:t>8フェーズ・ニーズの変化・流入元別CV率</a:t>
            </a:r>
          </a:p>
        </p:txBody>
      </p:sp>
      <p:sp>
        <p:nvSpPr>
          <p:cNvPr id="22" name="Rounded Rectangle 21"/>
          <p:cNvSpPr/>
          <p:nvPr/>
        </p:nvSpPr>
        <p:spPr>
          <a:xfrm>
            <a:off x="432000" y="4140000"/>
            <a:ext cx="9043200" cy="760011"/>
          </a:xfrm>
          <a:prstGeom prst="roundRect">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57999" y="4266000"/>
            <a:ext cx="666000" cy="551381"/>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4</a:t>
            </a:r>
          </a:p>
        </p:txBody>
      </p:sp>
      <p:sp>
        <p:nvSpPr>
          <p:cNvPr id="24" name="TextBox 23"/>
          <p:cNvSpPr txBox="1"/>
          <p:nvPr/>
        </p:nvSpPr>
        <p:spPr>
          <a:xfrm>
            <a:off x="1349998" y="4349623"/>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構築の型</a:t>
            </a:r>
          </a:p>
        </p:txBody>
      </p:sp>
      <p:sp>
        <p:nvSpPr>
          <p:cNvPr id="26" name="TextBox 25"/>
          <p:cNvSpPr txBox="1"/>
          <p:nvPr/>
        </p:nvSpPr>
        <p:spPr>
          <a:xfrm>
            <a:off x="4256999" y="4265999"/>
            <a:ext cx="5011200" cy="522000"/>
          </a:xfrm>
          <a:prstGeom prst="rect">
            <a:avLst/>
          </a:prstGeom>
          <a:noFill/>
        </p:spPr>
        <p:txBody>
          <a:bodyPr wrap="square" lIns="50400" tIns="18000" rIns="50400" bIns="18000" anchor="ctr">
            <a:spAutoFit/>
          </a:bodyPr>
          <a:lstStyle/>
          <a:p>
            <a:pPr algn="l">
              <a:lnSpc>
                <a:spcPct val="135000"/>
              </a:lnSpc>
            </a:pPr>
            <a:r>
              <a:rPr lang="ja-JP" altLang="en-US" sz="1600" dirty="0">
                <a:solidFill>
                  <a:srgbClr val="333333"/>
                </a:solidFill>
                <a:latin typeface="メイリオ"/>
                <a:ea typeface="メイリオ"/>
                <a:cs typeface="メイリオ"/>
              </a:rPr>
              <a:t>考え方・展開図・2軸・追加後15日・画面設計</a:t>
            </a:r>
          </a:p>
        </p:txBody>
      </p:sp>
      <p:sp>
        <p:nvSpPr>
          <p:cNvPr id="27" name="TextBox 26"/>
          <p:cNvSpPr txBox="1"/>
          <p:nvPr/>
        </p:nvSpPr>
        <p:spPr>
          <a:xfrm>
            <a:off x="432000" y="6246000"/>
            <a:ext cx="9043200" cy="324000"/>
          </a:xfrm>
          <a:prstGeom prst="rect">
            <a:avLst/>
          </a:prstGeom>
          <a:noFill/>
        </p:spPr>
        <p:txBody>
          <a:bodyPr wrap="square" lIns="50400" tIns="18000" rIns="50400" bIns="18000" anchor="t">
            <a:spAutoFit/>
          </a:bodyPr>
          <a:lstStyle/>
          <a:p>
            <a:pPr algn="l">
              <a:lnSpc>
                <a:spcPct val="120000"/>
              </a:lnSpc>
            </a:pPr>
            <a:r>
              <a:rPr sz="800">
                <a:solidFill>
                  <a:srgbClr val="888888"/>
                </a:solidFill>
                <a:latin typeface="メイリオ"/>
                <a:ea typeface="メイリオ"/>
                <a:cs typeface="メイリオ"/>
              </a:rPr>
              <a:t>※後半（6 配信設計／7 具体施策／8 成果とプラン／9 締め）はS26に記載</a:t>
            </a:r>
          </a:p>
        </p:txBody>
      </p:sp>
      <p:sp>
        <p:nvSpPr>
          <p:cNvPr id="2" name="Rounded Rectangle 21"/>
          <p:cNvSpPr/>
          <p:nvPr/>
        </p:nvSpPr>
        <p:spPr>
          <a:xfrm>
            <a:off x="432000" y="5004000"/>
            <a:ext cx="9043200" cy="760011"/>
          </a:xfrm>
          <a:prstGeom prst="roundRect">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2"/>
          <p:cNvSpPr/>
          <p:nvPr/>
        </p:nvSpPr>
        <p:spPr>
          <a:xfrm>
            <a:off x="557999" y="5130000"/>
            <a:ext cx="666000" cy="551381"/>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5</a:t>
            </a:r>
          </a:p>
        </p:txBody>
      </p:sp>
      <p:sp>
        <p:nvSpPr>
          <p:cNvPr id="6" name="TextBox 23"/>
          <p:cNvSpPr txBox="1"/>
          <p:nvPr/>
        </p:nvSpPr>
        <p:spPr>
          <a:xfrm>
            <a:off x="1349998" y="5213623"/>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ニーズ調査</a:t>
            </a:r>
          </a:p>
        </p:txBody>
      </p:sp>
      <p:sp>
        <p:nvSpPr>
          <p:cNvPr id="10" name="TextBox 25"/>
          <p:cNvSpPr txBox="1"/>
          <p:nvPr/>
        </p:nvSpPr>
        <p:spPr>
          <a:xfrm>
            <a:off x="4256999" y="5129999"/>
            <a:ext cx="5011200" cy="522000"/>
          </a:xfrm>
          <a:prstGeom prst="rect">
            <a:avLst/>
          </a:prstGeom>
          <a:noFill/>
        </p:spPr>
        <p:txBody>
          <a:bodyPr wrap="square" lIns="50400" tIns="18000" rIns="50400" bIns="18000" anchor="ctr">
            <a:spAutoFit/>
          </a:bodyPr>
          <a:lstStyle/>
          <a:p>
            <a:pPr algn="l">
              <a:lnSpc>
                <a:spcPct val="135000"/>
              </a:lnSpc>
            </a:pPr>
            <a:r>
              <a:rPr lang="ja-JP" altLang="en-US" sz="1600" dirty="0">
                <a:solidFill>
                  <a:srgbClr val="333333"/>
                </a:solidFill>
                <a:latin typeface="メイリオ"/>
                <a:ea typeface="メイリオ"/>
                <a:cs typeface="メイリオ"/>
              </a:rPr>
              <a:t>シーズナリティ・年間マトリクス・前後検索</a:t>
            </a:r>
          </a:p>
        </p:txBody>
      </p:sp>
    </p:spTree>
    <p:extLst>
      <p:ext uri="{BB962C8B-B14F-4D97-AF65-F5344CB8AC3E}">
        <p14:creationId xmlns:p14="http://schemas.microsoft.com/office/powerpoint/2010/main" val="328362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なぜLINEか｜アプリ登録のハードルが上がっている</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
        <p:nvSpPr>
          <p:cNvPr id="59" name="TextBox 58"/>
          <p:cNvSpPr txBox="1"/>
          <p:nvPr/>
        </p:nvSpPr>
        <p:spPr>
          <a:xfrm>
            <a:off x="360000" y="6426000"/>
            <a:ext cx="7128000" cy="180000"/>
          </a:xfrm>
          <a:prstGeom prst="rect">
            <a:avLst/>
          </a:prstGeom>
          <a:noFill/>
        </p:spPr>
        <p:txBody>
          <a:bodyPr wrap="square" lIns="18000" tIns="0" rIns="18000" bIns="0">
            <a:spAutoFit/>
          </a:bodyPr>
          <a:lstStyle/>
          <a:p>
            <a:r>
              <a:rPr sz="800">
                <a:solidFill>
                  <a:srgbClr val="646C82"/>
                </a:solidFill>
                <a:latin typeface="メイリオ"/>
                <a:ea typeface="メイリオ"/>
              </a:rPr>
              <a:t>※ 実例：FIT PLACE24は入会手続きをLINE起点に設計（公式FAQ）／カーブスは会員数の約6.7倍の友だち数（2026/8/17実測）</a:t>
            </a:r>
          </a:p>
        </p:txBody>
      </p:sp>
    </p:spTree>
    <p:extLst>
      <p:ext uri="{BB962C8B-B14F-4D97-AF65-F5344CB8AC3E}">
        <p14:creationId xmlns:p14="http://schemas.microsoft.com/office/powerpoint/2010/main" val="99384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Meiryo"/>
                <a:sym typeface="Meiryo"/>
              </a:rPr>
              <a:t>なぜLINEか｜LINE施策における重要な考え方</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メイリオ"/>
                <a:ea typeface="メイリオ"/>
                <a:cs typeface="+mn-cs"/>
              </a:defRPr>
            </a:lvl1pPr>
            <a:lvl2pPr marL="457200" algn="l" defTabSz="914400" rtl="0" eaLnBrk="1" latinLnBrk="0" hangingPunct="1">
              <a:defRPr kumimoji="1" sz="1800" kern="1200">
                <a:solidFill>
                  <a:schemeClr val="tx1"/>
                </a:solidFill>
                <a:latin typeface="メイリオ"/>
                <a:ea typeface="メイリオ"/>
                <a:cs typeface="+mn-cs"/>
              </a:defRPr>
            </a:lvl2pPr>
            <a:lvl3pPr marL="914400" algn="l" defTabSz="914400" rtl="0" eaLnBrk="1" latinLnBrk="0" hangingPunct="1">
              <a:defRPr kumimoji="1" sz="1800" kern="1200">
                <a:solidFill>
                  <a:schemeClr val="tx1"/>
                </a:solidFill>
                <a:latin typeface="メイリオ"/>
                <a:ea typeface="メイリオ"/>
                <a:cs typeface="+mn-cs"/>
              </a:defRPr>
            </a:lvl3pPr>
            <a:lvl4pPr marL="1371600" algn="l" defTabSz="914400" rtl="0" eaLnBrk="1" latinLnBrk="0" hangingPunct="1">
              <a:defRPr kumimoji="1" sz="1800" kern="1200">
                <a:solidFill>
                  <a:schemeClr val="tx1"/>
                </a:solidFill>
                <a:latin typeface="メイリオ"/>
                <a:ea typeface="メイリオ"/>
                <a:cs typeface="+mn-cs"/>
              </a:defRPr>
            </a:lvl4pPr>
            <a:lvl5pPr marL="1828800" algn="l" defTabSz="914400" rtl="0" eaLnBrk="1" latinLnBrk="0" hangingPunct="1">
              <a:defRPr kumimoji="1" sz="1800" kern="1200">
                <a:solidFill>
                  <a:schemeClr val="tx1"/>
                </a:solidFill>
                <a:latin typeface="メイリオ"/>
                <a:ea typeface="メイリオ"/>
                <a:cs typeface="+mn-cs"/>
              </a:defRPr>
            </a:lvl5pPr>
            <a:lvl6pPr marL="2286000" algn="l" defTabSz="914400" rtl="0" eaLnBrk="1" latinLnBrk="0" hangingPunct="1">
              <a:defRPr kumimoji="1" sz="1800" kern="1200">
                <a:solidFill>
                  <a:schemeClr val="tx1"/>
                </a:solidFill>
                <a:latin typeface="メイリオ"/>
                <a:ea typeface="メイリオ"/>
                <a:cs typeface="+mn-cs"/>
              </a:defRPr>
            </a:lvl6pPr>
            <a:lvl7pPr marL="2743200" algn="l" defTabSz="914400" rtl="0" eaLnBrk="1" latinLnBrk="0" hangingPunct="1">
              <a:defRPr kumimoji="1" sz="1800" kern="1200">
                <a:solidFill>
                  <a:schemeClr val="tx1"/>
                </a:solidFill>
                <a:latin typeface="メイリオ"/>
                <a:ea typeface="メイリオ"/>
                <a:cs typeface="+mn-cs"/>
              </a:defRPr>
            </a:lvl7pPr>
            <a:lvl8pPr marL="3200400" algn="l" defTabSz="914400" rtl="0" eaLnBrk="1" latinLnBrk="0" hangingPunct="1">
              <a:defRPr kumimoji="1" sz="1800" kern="1200">
                <a:solidFill>
                  <a:schemeClr val="tx1"/>
                </a:solidFill>
                <a:latin typeface="メイリオ"/>
                <a:ea typeface="メイリオ"/>
                <a:cs typeface="+mn-cs"/>
              </a:defRPr>
            </a:lvl8pPr>
            <a:lvl9pPr marL="3657600" algn="l" defTabSz="914400" rtl="0" eaLnBrk="1" latinLnBrk="0" hangingPunct="1">
              <a:defRPr kumimoji="1" sz="1800" kern="1200">
                <a:solidFill>
                  <a:schemeClr val="tx1"/>
                </a:solidFill>
                <a:latin typeface="メイリオ"/>
                <a:ea typeface="メイリオ"/>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メイリオ"/>
                <a:ea typeface="メイリオ"/>
                <a:cs typeface="+mn-cs"/>
              </a:defRPr>
            </a:lvl1pPr>
            <a:lvl2pPr marL="457200" algn="l" defTabSz="914400" rtl="0" eaLnBrk="1" latinLnBrk="0" hangingPunct="1">
              <a:defRPr kumimoji="1" sz="1800" kern="1200">
                <a:solidFill>
                  <a:schemeClr val="lt1"/>
                </a:solidFill>
                <a:latin typeface="メイリオ"/>
                <a:ea typeface="メイリオ"/>
                <a:cs typeface="+mn-cs"/>
              </a:defRPr>
            </a:lvl2pPr>
            <a:lvl3pPr marL="914400" algn="l" defTabSz="914400" rtl="0" eaLnBrk="1" latinLnBrk="0" hangingPunct="1">
              <a:defRPr kumimoji="1" sz="1800" kern="1200">
                <a:solidFill>
                  <a:schemeClr val="lt1"/>
                </a:solidFill>
                <a:latin typeface="メイリオ"/>
                <a:ea typeface="メイリオ"/>
                <a:cs typeface="+mn-cs"/>
              </a:defRPr>
            </a:lvl3pPr>
            <a:lvl4pPr marL="1371600" algn="l" defTabSz="914400" rtl="0" eaLnBrk="1" latinLnBrk="0" hangingPunct="1">
              <a:defRPr kumimoji="1" sz="1800" kern="1200">
                <a:solidFill>
                  <a:schemeClr val="lt1"/>
                </a:solidFill>
                <a:latin typeface="メイリオ"/>
                <a:ea typeface="メイリオ"/>
                <a:cs typeface="+mn-cs"/>
              </a:defRPr>
            </a:lvl4pPr>
            <a:lvl5pPr marL="1828800" algn="l" defTabSz="914400" rtl="0" eaLnBrk="1" latinLnBrk="0" hangingPunct="1">
              <a:defRPr kumimoji="1" sz="1800" kern="1200">
                <a:solidFill>
                  <a:schemeClr val="lt1"/>
                </a:solidFill>
                <a:latin typeface="メイリオ"/>
                <a:ea typeface="メイリオ"/>
                <a:cs typeface="+mn-cs"/>
              </a:defRPr>
            </a:lvl5pPr>
            <a:lvl6pPr marL="2286000" algn="l" defTabSz="914400" rtl="0" eaLnBrk="1" latinLnBrk="0" hangingPunct="1">
              <a:defRPr kumimoji="1" sz="1800" kern="1200">
                <a:solidFill>
                  <a:schemeClr val="lt1"/>
                </a:solidFill>
                <a:latin typeface="メイリオ"/>
                <a:ea typeface="メイリオ"/>
                <a:cs typeface="+mn-cs"/>
              </a:defRPr>
            </a:lvl6pPr>
            <a:lvl7pPr marL="2743200" algn="l" defTabSz="914400" rtl="0" eaLnBrk="1" latinLnBrk="0" hangingPunct="1">
              <a:defRPr kumimoji="1" sz="1800" kern="1200">
                <a:solidFill>
                  <a:schemeClr val="lt1"/>
                </a:solidFill>
                <a:latin typeface="メイリオ"/>
                <a:ea typeface="メイリオ"/>
                <a:cs typeface="+mn-cs"/>
              </a:defRPr>
            </a:lvl7pPr>
            <a:lvl8pPr marL="3200400" algn="l" defTabSz="914400" rtl="0" eaLnBrk="1" latinLnBrk="0" hangingPunct="1">
              <a:defRPr kumimoji="1" sz="1800" kern="1200">
                <a:solidFill>
                  <a:schemeClr val="lt1"/>
                </a:solidFill>
                <a:latin typeface="メイリオ"/>
                <a:ea typeface="メイリオ"/>
                <a:cs typeface="+mn-cs"/>
              </a:defRPr>
            </a:lvl8pPr>
            <a:lvl9pPr marL="3657600" algn="l" defTabSz="914400" rtl="0" eaLnBrk="1" latinLnBrk="0" hangingPunct="1">
              <a:defRPr kumimoji="1" sz="1800" kern="1200">
                <a:solidFill>
                  <a:schemeClr val="lt1"/>
                </a:solidFill>
                <a:latin typeface="メイリオ"/>
                <a:ea typeface="メイリオ"/>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26465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全体設計｜流入元別のCV率と、LINEで打てる施策</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体づくりタイプ診断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来店・入会への誘導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構築｜施策展開図（初期・月次）</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施策においては、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動線</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が重要。</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初期</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（初動）</a:t>
            </a:r>
            <a:endParaRPr kumimoji="1" lang="ja-JP" altLang="en-US" sz="12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月次</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（定例）</a:t>
            </a:r>
            <a:endParaRPr kumimoji="1" lang="ja-JP" altLang="en-US" sz="1200" b="1" dirty="0">
              <a:latin typeface="メイリオ" panose="020B0604030504040204" pitchFamily="50" charset="-128"/>
              <a:ea typeface="メイリオ" panose="020B0604030504040204" pitchFamily="50" charset="-128"/>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 </a:t>
            </a:r>
            <a:r>
              <a:rPr lang="ja-JP" altLang="en-US" sz="1200" b="1" dirty="0">
                <a:solidFill>
                  <a:srgbClr val="FF0000"/>
                </a:solidFill>
                <a:latin typeface="メイリオ" panose="020B0604030504040204" pitchFamily="50" charset="-128"/>
                <a:ea typeface="メイリオ" panose="020B0604030504040204" pitchFamily="50" charset="-128"/>
              </a:rPr>
              <a:t>→ 月間投稿数</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友だちの新規追加</a:t>
            </a:r>
            <a:endParaRPr lang="ja-JP" altLang="en-US" sz="1050" dirty="0"/>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a:t>
            </a:r>
            <a:r>
              <a:rPr lang="ja-JP" altLang="en-US" sz="1050" b="1" dirty="0">
                <a:latin typeface="メイリオ" panose="020B0604030504040204" pitchFamily="50" charset="-128"/>
                <a:ea typeface="メイリオ" panose="020B0604030504040204" pitchFamily="50" charset="-128"/>
                <a:cs typeface="Meiryo"/>
                <a:sym typeface="Meiryo"/>
              </a:rPr>
              <a:t>友だちの育成・</a:t>
            </a:r>
            <a:r>
              <a:rPr lang="en-US" altLang="ja-JP" sz="1050" b="1" dirty="0">
                <a:latin typeface="メイリオ" panose="020B0604030504040204" pitchFamily="50" charset="-128"/>
                <a:ea typeface="メイリオ" panose="020B0604030504040204" pitchFamily="50" charset="-128"/>
                <a:cs typeface="Meiryo"/>
                <a:sym typeface="Meiryo"/>
              </a:rPr>
              <a:t>CV</a:t>
            </a:r>
            <a:r>
              <a:rPr lang="ja-JP" altLang="en-US" sz="1050" b="1" dirty="0">
                <a:latin typeface="メイリオ" panose="020B0604030504040204" pitchFamily="50" charset="-128"/>
                <a:ea typeface="メイリオ" panose="020B0604030504040204" pitchFamily="50" charset="-128"/>
                <a:cs typeface="Meiryo"/>
                <a:sym typeface="Meiryo"/>
              </a:rPr>
              <a:t>化</a:t>
            </a:r>
            <a:endParaRPr lang="en-US" altLang="ja-JP" sz="1050" b="1" dirty="0">
              <a:latin typeface="メイリオ" panose="020B0604030504040204" pitchFamily="50" charset="-128"/>
              <a:ea typeface="メイリオ" panose="020B0604030504040204" pitchFamily="50" charset="-128"/>
              <a:cs typeface="Meiryo"/>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rPr>
              <a:t>[</a:t>
            </a:r>
            <a:r>
              <a:rPr kumimoji="1" lang="ja-JP" altLang="en-US" sz="1200" b="1" dirty="0">
                <a:solidFill>
                  <a:schemeClr val="tx1"/>
                </a:solidFill>
                <a:latin typeface="メイリオ" panose="020B0604030504040204" pitchFamily="50" charset="-128"/>
                <a:ea typeface="メイリオ" panose="020B0604030504040204" pitchFamily="50" charset="-128"/>
              </a:rPr>
              <a:t>ターゲット設定</a:t>
            </a:r>
            <a:r>
              <a:rPr lang="en-US" altLang="ja-JP" sz="1200" b="1" dirty="0">
                <a:solidFill>
                  <a:schemeClr val="tx1"/>
                </a:solidFill>
                <a:latin typeface="メイリオ" panose="020B0604030504040204" pitchFamily="50" charset="-128"/>
                <a:ea typeface="メイリオ" panose="020B0604030504040204" pitchFamily="50" charset="-128"/>
              </a:rPr>
              <a:t>]</a:t>
            </a: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endParaRPr kumimoji="1" lang="en-US" altLang="ja-JP" sz="700" dirty="0">
              <a:solidFill>
                <a:schemeClr val="tx1"/>
              </a:solidFill>
              <a:latin typeface="メイリオ" panose="020B0604030504040204" pitchFamily="50" charset="-128"/>
              <a:ea typeface="メイリオ" panose="020B0604030504040204" pitchFamily="50" charset="-128"/>
            </a:endParaRPr>
          </a:p>
          <a:p>
            <a:r>
              <a:rPr kumimoji="1" lang="en-US" altLang="ja-JP" sz="1200" b="1" dirty="0">
                <a:solidFill>
                  <a:schemeClr val="tx1"/>
                </a:solidFill>
                <a:latin typeface="メイリオ" panose="020B0604030504040204" pitchFamily="50" charset="-128"/>
                <a:ea typeface="メイリオ" panose="020B0604030504040204" pitchFamily="50" charset="-128"/>
              </a:rPr>
              <a:t>LINEOA</a:t>
            </a:r>
            <a:r>
              <a:rPr kumimoji="1" lang="ja-JP" altLang="en-US" sz="1200" b="1" dirty="0">
                <a:solidFill>
                  <a:schemeClr val="tx1"/>
                </a:solidFill>
                <a:latin typeface="メイリオ" panose="020B0604030504040204" pitchFamily="50" charset="-128"/>
                <a:ea typeface="メイリオ" panose="020B0604030504040204" pitchFamily="50" charset="-128"/>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年齢</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性別</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地域</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(MSG</a:t>
            </a:r>
            <a:r>
              <a:rPr lang="ja-JP" altLang="en-US" sz="1050" dirty="0">
                <a:solidFill>
                  <a:schemeClr val="tx1"/>
                </a:solidFill>
                <a:latin typeface="メイリオ" panose="020B0604030504040204" pitchFamily="50" charset="-128"/>
                <a:ea typeface="メイリオ" panose="020B0604030504040204" pitchFamily="50" charset="-128"/>
              </a:rPr>
              <a:t>の</a:t>
            </a:r>
            <a:r>
              <a:rPr lang="en-US" altLang="ja-JP" sz="1050" dirty="0" err="1">
                <a:solidFill>
                  <a:schemeClr val="tx1"/>
                </a:solidFill>
                <a:latin typeface="メイリオ" panose="020B0604030504040204" pitchFamily="50" charset="-128"/>
                <a:ea typeface="メイリオ" panose="020B0604030504040204" pitchFamily="50" charset="-128"/>
              </a:rPr>
              <a:t>Imp,Click</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700" dirty="0">
              <a:solidFill>
                <a:schemeClr val="tx1"/>
              </a:solidFill>
              <a:latin typeface="メイリオ" panose="020B0604030504040204" pitchFamily="50" charset="-128"/>
              <a:ea typeface="メイリオ" panose="020B0604030504040204" pitchFamily="50" charset="-128"/>
            </a:endParaRPr>
          </a:p>
          <a:p>
            <a:r>
              <a:rPr lang="en-US" altLang="ja-JP" sz="1200" b="1" dirty="0">
                <a:solidFill>
                  <a:schemeClr val="tx1"/>
                </a:solidFill>
                <a:latin typeface="メイリオ" panose="020B0604030504040204" pitchFamily="50" charset="-128"/>
                <a:ea typeface="メイリオ" panose="020B0604030504040204" pitchFamily="50" charset="-128"/>
              </a:rPr>
              <a:t>LINE_API</a:t>
            </a:r>
            <a:r>
              <a:rPr lang="ja-JP" altLang="en-US" sz="1200" b="1" dirty="0">
                <a:solidFill>
                  <a:schemeClr val="tx1"/>
                </a:solidFill>
                <a:latin typeface="メイリオ" panose="020B0604030504040204" pitchFamily="50" charset="-128"/>
                <a:ea typeface="メイリオ" panose="020B0604030504040204" pitchFamily="50" charset="-128"/>
              </a:rPr>
              <a:t>ツール</a:t>
            </a:r>
            <a:r>
              <a:rPr lang="ja-JP" altLang="en-US" sz="900" b="1" dirty="0">
                <a:solidFill>
                  <a:schemeClr val="tx1"/>
                </a:solidFill>
                <a:latin typeface="メイリオ" panose="020B0604030504040204" pitchFamily="50" charset="-128"/>
                <a:ea typeface="メイリオ" panose="020B0604030504040204" pitchFamily="50" charset="-128"/>
              </a:rPr>
              <a:t> </a:t>
            </a:r>
            <a:r>
              <a:rPr lang="en-US" altLang="ja-JP" sz="900" b="1" dirty="0">
                <a:solidFill>
                  <a:srgbClr val="FF0000"/>
                </a:solidFill>
                <a:latin typeface="メイリオ" panose="020B0604030504040204" pitchFamily="50" charset="-128"/>
                <a:ea typeface="メイリオ" panose="020B0604030504040204" pitchFamily="50" charset="-128"/>
              </a:rPr>
              <a:t>※</a:t>
            </a:r>
            <a:r>
              <a:rPr lang="ja-JP" altLang="en-US" sz="900" b="1" dirty="0">
                <a:solidFill>
                  <a:srgbClr val="FF0000"/>
                </a:solidFill>
                <a:latin typeface="メイリオ" panose="020B0604030504040204" pitchFamily="50" charset="-128"/>
                <a:ea typeface="メイリオ" panose="020B0604030504040204" pitchFamily="50" charset="-128"/>
              </a:rPr>
              <a:t>有料</a:t>
            </a:r>
            <a:endParaRPr lang="en-US" altLang="ja-JP" sz="1200" b="1" dirty="0">
              <a:solidFill>
                <a:srgbClr val="FF0000"/>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(WEB</a:t>
            </a:r>
            <a:r>
              <a:rPr lang="ja-JP" altLang="en-US" sz="1050" dirty="0">
                <a:solidFill>
                  <a:schemeClr val="tx1"/>
                </a:solidFill>
                <a:latin typeface="メイリオ" panose="020B0604030504040204" pitchFamily="50" charset="-128"/>
                <a:ea typeface="メイリオ" panose="020B0604030504040204" pitchFamily="50" charset="-128"/>
              </a:rPr>
              <a:t>サイトアクション</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リマインド</a:t>
            </a:r>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再通知</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a:t>
            </a:r>
            <a:r>
              <a:rPr lang="en-US" altLang="ja-JP" sz="1050" dirty="0">
                <a:solidFill>
                  <a:schemeClr val="tx1"/>
                </a:solidFill>
                <a:latin typeface="メイリオ" panose="020B0604030504040204" pitchFamily="50" charset="-128"/>
                <a:ea typeface="メイリオ" panose="020B0604030504040204" pitchFamily="50" charset="-128"/>
              </a:rPr>
              <a:t>ID</a:t>
            </a:r>
            <a:r>
              <a:rPr lang="ja-JP" altLang="en-US" sz="1050" dirty="0">
                <a:solidFill>
                  <a:schemeClr val="tx1"/>
                </a:solidFill>
                <a:latin typeface="メイリオ" panose="020B0604030504040204" pitchFamily="50" charset="-128"/>
                <a:ea typeface="メイリオ" panose="020B0604030504040204" pitchFamily="50" charset="-128"/>
              </a:rPr>
              <a:t>アップロード</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rPr>
              <a:t>)</a:t>
            </a: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endParaRPr lang="en-US" altLang="ja-JP" sz="1050" dirty="0">
              <a:solidFill>
                <a:schemeClr val="tx1"/>
              </a:solidFill>
              <a:latin typeface="メイリオ" panose="020B0604030504040204" pitchFamily="50" charset="-128"/>
              <a:ea typeface="メイリオ" panose="020B0604030504040204" pitchFamily="50" charset="-128"/>
            </a:endParaRPr>
          </a:p>
          <a:p>
            <a:r>
              <a:rPr lang="en-US" altLang="ja-JP" sz="1050" b="1" dirty="0">
                <a:solidFill>
                  <a:schemeClr val="tx1"/>
                </a:solidFill>
                <a:latin typeface="メイリオ" panose="020B0604030504040204" pitchFamily="50" charset="-128"/>
                <a:ea typeface="メイリオ" panose="020B0604030504040204" pitchFamily="50" charset="-128"/>
              </a:rPr>
              <a:t>※MA</a:t>
            </a:r>
            <a:r>
              <a:rPr lang="ja-JP" altLang="en-US" sz="1050" b="1" dirty="0">
                <a:solidFill>
                  <a:schemeClr val="tx1"/>
                </a:solidFill>
                <a:latin typeface="メイリオ" panose="020B0604030504040204" pitchFamily="50" charset="-128"/>
                <a:ea typeface="メイリオ" panose="020B0604030504040204" pitchFamily="50" charset="-128"/>
              </a:rPr>
              <a:t>、</a:t>
            </a:r>
            <a:r>
              <a:rPr lang="en-US" altLang="ja-JP" sz="1050" b="1" dirty="0">
                <a:solidFill>
                  <a:schemeClr val="tx1"/>
                </a:solidFill>
                <a:latin typeface="メイリオ" panose="020B0604030504040204" pitchFamily="50" charset="-128"/>
                <a:ea typeface="メイリオ" panose="020B0604030504040204" pitchFamily="50" charset="-128"/>
              </a:rPr>
              <a:t>CRM</a:t>
            </a:r>
            <a:r>
              <a:rPr lang="ja-JP" altLang="en-US" sz="1050" b="1" dirty="0">
                <a:solidFill>
                  <a:schemeClr val="tx1"/>
                </a:solidFill>
                <a:latin typeface="メイリオ" panose="020B0604030504040204" pitchFamily="50" charset="-128"/>
                <a:ea typeface="メイリオ" panose="020B0604030504040204" pitchFamily="50" charset="-128"/>
              </a:rPr>
              <a:t>との連携</a:t>
            </a:r>
            <a:endParaRPr lang="en-US" altLang="ja-JP" sz="1050" b="1" dirty="0">
              <a:solidFill>
                <a:schemeClr val="tx1"/>
              </a:solidFill>
              <a:latin typeface="メイリオ" panose="020B0604030504040204" pitchFamily="50" charset="-128"/>
              <a:ea typeface="メイリオ" panose="020B0604030504040204" pitchFamily="50" charset="-128"/>
            </a:endParaRP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購入・リードデータ</a:t>
            </a:r>
            <a:r>
              <a:rPr lang="en-US" altLang="ja-JP" sz="1050" dirty="0">
                <a:solidFill>
                  <a:schemeClr val="tx1"/>
                </a:solidFill>
                <a:latin typeface="メイリオ" panose="020B0604030504040204" pitchFamily="50" charset="-128"/>
                <a:ea typeface="メイリオ" panose="020B0604030504040204" pitchFamily="50" charset="-128"/>
              </a:rPr>
              <a:t>)</a:t>
            </a:r>
          </a:p>
          <a:p>
            <a:r>
              <a:rPr lang="en-US" altLang="ja-JP" sz="1050" dirty="0">
                <a:solidFill>
                  <a:schemeClr val="tx1"/>
                </a:solidFill>
                <a:latin typeface="メイリオ" panose="020B0604030504040204" pitchFamily="50" charset="-128"/>
                <a:ea typeface="メイリオ" panose="020B0604030504040204" pitchFamily="50" charset="-128"/>
              </a:rPr>
              <a:t>(</a:t>
            </a:r>
            <a:r>
              <a:rPr lang="ja-JP" altLang="en-US" sz="1050" dirty="0">
                <a:solidFill>
                  <a:schemeClr val="tx1"/>
                </a:solidFill>
                <a:latin typeface="メイリオ" panose="020B0604030504040204" pitchFamily="50" charset="-128"/>
                <a:ea typeface="メイリオ" panose="020B0604030504040204" pitchFamily="50" charset="-128"/>
              </a:rPr>
              <a:t>ユーザー情報</a:t>
            </a:r>
            <a:r>
              <a:rPr lang="ja-JP" altLang="en-US" sz="900" dirty="0">
                <a:solidFill>
                  <a:schemeClr val="tx1"/>
                </a:solidFill>
                <a:latin typeface="メイリオ" panose="020B0604030504040204" pitchFamily="50" charset="-128"/>
                <a:ea typeface="メイリオ" panose="020B0604030504040204" pitchFamily="50" charset="-128"/>
              </a:rPr>
              <a:t> </a:t>
            </a: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詳細</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有料</a:t>
            </a:r>
            <a:endParaRPr lang="ja-JP" altLang="en-US" sz="800" dirty="0"/>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サイト動線整備、プレスリリース等</a:t>
            </a:r>
            <a:endParaRPr lang="ja-JP" altLang="en-US" sz="800" dirty="0">
              <a:solidFill>
                <a:schemeClr val="bg1">
                  <a:lumMod val="50000"/>
                </a:schemeClr>
              </a:solidFill>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a:t>
            </a:r>
            <a:r>
              <a:rPr lang="ja-JP" altLang="en-US" sz="800" dirty="0">
                <a:solidFill>
                  <a:srgbClr val="FF0000"/>
                </a:solidFill>
                <a:latin typeface="メイリオ" panose="020B0604030504040204" pitchFamily="50" charset="-128"/>
                <a:ea typeface="メイリオ" panose="020B0604030504040204" pitchFamily="50" charset="-128"/>
              </a:rPr>
              <a:t>数量により変動</a:t>
            </a:r>
            <a:endParaRPr lang="ja-JP" altLang="en-US" sz="800" dirty="0"/>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rPr>
              <a:t>クリエイティブ費用は基本的に内包、開発費用は別途見積もりとなります。</a:t>
            </a:r>
            <a:endParaRPr lang="ja-JP" altLang="en-US" sz="800" dirty="0">
              <a:solidFill>
                <a:schemeClr val="bg1">
                  <a:lumMod val="50000"/>
                </a:schemeClr>
              </a:solidFill>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endParaRPr>
          </a:p>
        </p:txBody>
      </p:sp>
    </p:spTree>
    <p:extLst>
      <p:ext uri="{BB962C8B-B14F-4D97-AF65-F5344CB8AC3E}">
        <p14:creationId xmlns:p14="http://schemas.microsoft.com/office/powerpoint/2010/main" val="9050068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55786A2-F100-6AA6-4BA2-C612ABD2107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構築｜友だち追加後15日でアクティブ率が落ちる</a:t>
            </a:r>
          </a:p>
        </p:txBody>
      </p:sp>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友だち追加～</a:t>
            </a:r>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日を境に大きくアクティブ率が下がる（ブロック率が上がる）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為、追加から</a:t>
            </a:r>
            <a:r>
              <a:rPr lang="en-US" altLang="ja-JP" sz="1600" b="1" dirty="0">
                <a:latin typeface="メイリオ" panose="020B0604030504040204" pitchFamily="50" charset="-128"/>
                <a:ea typeface="メイリオ" panose="020B0604030504040204" pitchFamily="50" charset="-128"/>
                <a:cs typeface="Meiryo"/>
                <a:sym typeface="Meiryo"/>
              </a:rPr>
              <a:t>20‐30</a:t>
            </a:r>
            <a:r>
              <a:rPr lang="ja-JP" altLang="en-US" sz="1600" b="1" dirty="0">
                <a:latin typeface="メイリオ" panose="020B0604030504040204" pitchFamily="50" charset="-128"/>
                <a:ea typeface="メイリオ" panose="020B0604030504040204" pitchFamily="50" charset="-128"/>
                <a:cs typeface="Meiryo"/>
                <a:sym typeface="Meiryo"/>
              </a:rPr>
              <a:t>日間のステップ配信構築とユーザビリティの改善が必要に。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bg1"/>
                </a:solidFill>
                <a:latin typeface="メイリオ" panose="020B0604030504040204" pitchFamily="50" charset="-128"/>
                <a:ea typeface="メイリオ" panose="020B0604030504040204" pitchFamily="50" charset="-128"/>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15</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Meiryo"/>
                <a:sym typeface="Meiryo"/>
              </a:rPr>
              <a:t>30</a:t>
            </a:r>
            <a:r>
              <a:rPr lang="ja-JP" altLang="en-US" sz="1200" b="1" dirty="0">
                <a:latin typeface="メイリオ" panose="020B0604030504040204" pitchFamily="50" charset="-128"/>
                <a:ea typeface="メイリオ" panose="020B0604030504040204" pitchFamily="50" charset="-128"/>
                <a:cs typeface="Meiryo"/>
                <a:sym typeface="Meiryo"/>
              </a:rPr>
              <a:t>日後</a:t>
            </a:r>
            <a:endParaRPr lang="ja-JP" altLang="en-US" sz="1200" dirty="0"/>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FF0000"/>
                </a:solidFill>
                <a:latin typeface="メイリオ" panose="020B0604030504040204" pitchFamily="50" charset="-128"/>
                <a:ea typeface="メイリオ" panose="020B0604030504040204" pitchFamily="50" charset="-128"/>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FF0000"/>
                </a:solidFill>
                <a:latin typeface="メイリオ" panose="020B0604030504040204" pitchFamily="50" charset="-128"/>
                <a:ea typeface="メイリオ" panose="020B0604030504040204" pitchFamily="50" charset="-128"/>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24842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8856EBE-32D8-42F5-9D61-C53BF60EF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構築｜友だち追加と育成の2軸</a:t>
            </a:r>
          </a:p>
        </p:txBody>
      </p:sp>
      <p:sp>
        <p:nvSpPr>
          <p:cNvPr id="9" name="正方形/長方形 8">
            <a:extLst>
              <a:ext uri="{FF2B5EF4-FFF2-40B4-BE49-F238E27FC236}">
                <a16:creationId xmlns:a16="http://schemas.microsoft.com/office/drawing/2014/main" id="{A6340BD7-9269-59A1-EA69-7426F07778B6}"/>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7C701305-F75E-4087-21C2-FA3CCCA8FB67}"/>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施策は、</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友だちの新規追加</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と</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友だちの育成・</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着地</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の動線が重要。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企画投稿（毎月）とステップ配信（定常的に運営）を組み合わせて最適動線に。</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5" name="正方形/長方形 24">
            <a:extLst>
              <a:ext uri="{FF2B5EF4-FFF2-40B4-BE49-F238E27FC236}">
                <a16:creationId xmlns:a16="http://schemas.microsoft.com/office/drawing/2014/main" id="{1A40E6EC-1B5E-5E46-EF89-1167C08649BA}"/>
              </a:ext>
            </a:extLst>
          </p:cNvPr>
          <p:cNvSpPr/>
          <p:nvPr/>
        </p:nvSpPr>
        <p:spPr>
          <a:xfrm>
            <a:off x="963202" y="3662763"/>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友だち追加後</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1" name="図 30">
            <a:extLst>
              <a:ext uri="{FF2B5EF4-FFF2-40B4-BE49-F238E27FC236}">
                <a16:creationId xmlns:a16="http://schemas.microsoft.com/office/drawing/2014/main" id="{2FE26F6B-D35B-6A6B-42D2-794437452752}"/>
              </a:ext>
            </a:extLst>
          </p:cNvPr>
          <p:cNvPicPr>
            <a:picLocks noChangeAspect="1"/>
          </p:cNvPicPr>
          <p:nvPr/>
        </p:nvPicPr>
        <p:blipFill>
          <a:blip r:embed="rId2"/>
          <a:stretch>
            <a:fillRect/>
          </a:stretch>
        </p:blipFill>
        <p:spPr>
          <a:xfrm>
            <a:off x="776401" y="3566663"/>
            <a:ext cx="582602" cy="543237"/>
          </a:xfrm>
          <a:prstGeom prst="rect">
            <a:avLst/>
          </a:prstGeom>
        </p:spPr>
      </p:pic>
      <p:sp>
        <p:nvSpPr>
          <p:cNvPr id="34" name="正方形/長方形 33">
            <a:extLst>
              <a:ext uri="{FF2B5EF4-FFF2-40B4-BE49-F238E27FC236}">
                <a16:creationId xmlns:a16="http://schemas.microsoft.com/office/drawing/2014/main" id="{39403F1B-B20A-C75C-8FCB-74AAD1581A2F}"/>
              </a:ext>
            </a:extLst>
          </p:cNvPr>
          <p:cNvSpPr/>
          <p:nvPr/>
        </p:nvSpPr>
        <p:spPr>
          <a:xfrm>
            <a:off x="686977" y="2019915"/>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LP</a:t>
            </a:r>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b="1" dirty="0">
                <a:solidFill>
                  <a:schemeClr val="tx1">
                    <a:lumMod val="65000"/>
                    <a:lumOff val="35000"/>
                  </a:schemeClr>
                </a:solidFill>
                <a:latin typeface="メイリオ" panose="020B0604030504040204" pitchFamily="50" charset="-128"/>
                <a:ea typeface="メイリオ" panose="020B0604030504040204" pitchFamily="50" charset="-128"/>
              </a:rPr>
              <a:t>HP</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35" name="図 34" descr="lpデザインイラスト｜無料イラスト・フリー素材なら「イラストAC」">
            <a:extLst>
              <a:ext uri="{FF2B5EF4-FFF2-40B4-BE49-F238E27FC236}">
                <a16:creationId xmlns:a16="http://schemas.microsoft.com/office/drawing/2014/main" id="{EA2CF7EC-851A-10FF-17B6-E422C43BD10B}"/>
              </a:ext>
            </a:extLst>
          </p:cNvPr>
          <p:cNvPicPr>
            <a:picLocks noChangeAspect="1"/>
          </p:cNvPicPr>
          <p:nvPr/>
        </p:nvPicPr>
        <p:blipFill>
          <a:blip r:embed="rId3"/>
          <a:stretch>
            <a:fillRect/>
          </a:stretch>
        </p:blipFill>
        <p:spPr>
          <a:xfrm>
            <a:off x="272658" y="1875286"/>
            <a:ext cx="853665" cy="640720"/>
          </a:xfrm>
          <a:prstGeom prst="rect">
            <a:avLst/>
          </a:prstGeom>
        </p:spPr>
      </p:pic>
      <p:sp>
        <p:nvSpPr>
          <p:cNvPr id="40" name="矢印: 下 39">
            <a:extLst>
              <a:ext uri="{FF2B5EF4-FFF2-40B4-BE49-F238E27FC236}">
                <a16:creationId xmlns:a16="http://schemas.microsoft.com/office/drawing/2014/main" id="{0D54B1A9-3944-66DE-F219-BB4192EDE144}"/>
              </a:ext>
            </a:extLst>
          </p:cNvPr>
          <p:cNvSpPr/>
          <p:nvPr/>
        </p:nvSpPr>
        <p:spPr>
          <a:xfrm>
            <a:off x="3290805"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矢印: 下 40">
            <a:extLst>
              <a:ext uri="{FF2B5EF4-FFF2-40B4-BE49-F238E27FC236}">
                <a16:creationId xmlns:a16="http://schemas.microsoft.com/office/drawing/2014/main" id="{781A5984-3599-DC05-2E88-6BB61F188EB3}"/>
              </a:ext>
            </a:extLst>
          </p:cNvPr>
          <p:cNvSpPr/>
          <p:nvPr/>
        </p:nvSpPr>
        <p:spPr>
          <a:xfrm>
            <a:off x="5657443" y="3630924"/>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矢印: 下 41">
            <a:extLst>
              <a:ext uri="{FF2B5EF4-FFF2-40B4-BE49-F238E27FC236}">
                <a16:creationId xmlns:a16="http://schemas.microsoft.com/office/drawing/2014/main" id="{1C76D7C3-BFEE-8DA3-57FA-033BD7E35285}"/>
              </a:ext>
            </a:extLst>
          </p:cNvPr>
          <p:cNvSpPr/>
          <p:nvPr/>
        </p:nvSpPr>
        <p:spPr>
          <a:xfrm>
            <a:off x="5657443" y="201991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矢印: 下 42">
            <a:extLst>
              <a:ext uri="{FF2B5EF4-FFF2-40B4-BE49-F238E27FC236}">
                <a16:creationId xmlns:a16="http://schemas.microsoft.com/office/drawing/2014/main" id="{4E9F9DC2-BA49-A440-DA89-D45BC9E52C3A}"/>
              </a:ext>
            </a:extLst>
          </p:cNvPr>
          <p:cNvSpPr/>
          <p:nvPr/>
        </p:nvSpPr>
        <p:spPr>
          <a:xfrm>
            <a:off x="3290805" y="5241933"/>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下 43">
            <a:extLst>
              <a:ext uri="{FF2B5EF4-FFF2-40B4-BE49-F238E27FC236}">
                <a16:creationId xmlns:a16="http://schemas.microsoft.com/office/drawing/2014/main" id="{6915D3B6-2B4C-5707-CB40-2696B722BA40}"/>
              </a:ext>
            </a:extLst>
          </p:cNvPr>
          <p:cNvSpPr/>
          <p:nvPr/>
        </p:nvSpPr>
        <p:spPr>
          <a:xfrm>
            <a:off x="5657443" y="5241933"/>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D988BB36-5119-99B1-DF59-D4B80D30745C}"/>
              </a:ext>
            </a:extLst>
          </p:cNvPr>
          <p:cNvSpPr/>
          <p:nvPr/>
        </p:nvSpPr>
        <p:spPr>
          <a:xfrm>
            <a:off x="963202" y="5305611"/>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　具体アクション</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48" name="図 47">
            <a:extLst>
              <a:ext uri="{FF2B5EF4-FFF2-40B4-BE49-F238E27FC236}">
                <a16:creationId xmlns:a16="http://schemas.microsoft.com/office/drawing/2014/main" id="{FE05BA15-FE69-7259-F5B1-7935A92DDFC1}"/>
              </a:ext>
            </a:extLst>
          </p:cNvPr>
          <p:cNvPicPr>
            <a:picLocks noChangeAspect="1"/>
          </p:cNvPicPr>
          <p:nvPr/>
        </p:nvPicPr>
        <p:blipFill>
          <a:blip r:embed="rId2"/>
          <a:stretch>
            <a:fillRect/>
          </a:stretch>
        </p:blipFill>
        <p:spPr>
          <a:xfrm>
            <a:off x="776401" y="5203250"/>
            <a:ext cx="582602" cy="543237"/>
          </a:xfrm>
          <a:prstGeom prst="rect">
            <a:avLst/>
          </a:prstGeom>
        </p:spPr>
      </p:pic>
      <p:sp>
        <p:nvSpPr>
          <p:cNvPr id="68" name="矢印: 下 67">
            <a:extLst>
              <a:ext uri="{FF2B5EF4-FFF2-40B4-BE49-F238E27FC236}">
                <a16:creationId xmlns:a16="http://schemas.microsoft.com/office/drawing/2014/main" id="{552BBE13-4EF3-7D14-9401-EE47B669E0A1}"/>
              </a:ext>
            </a:extLst>
          </p:cNvPr>
          <p:cNvSpPr/>
          <p:nvPr/>
        </p:nvSpPr>
        <p:spPr>
          <a:xfrm>
            <a:off x="8023941" y="3630924"/>
            <a:ext cx="792480" cy="1246418"/>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矢印: 下 68">
            <a:extLst>
              <a:ext uri="{FF2B5EF4-FFF2-40B4-BE49-F238E27FC236}">
                <a16:creationId xmlns:a16="http://schemas.microsoft.com/office/drawing/2014/main" id="{1CE2AD45-B81D-8C9E-9BEA-EE8F41408D09}"/>
              </a:ext>
            </a:extLst>
          </p:cNvPr>
          <p:cNvSpPr/>
          <p:nvPr/>
        </p:nvSpPr>
        <p:spPr>
          <a:xfrm>
            <a:off x="8023941" y="5241933"/>
            <a:ext cx="792480" cy="1246418"/>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矢印: 下 69">
            <a:extLst>
              <a:ext uri="{FF2B5EF4-FFF2-40B4-BE49-F238E27FC236}">
                <a16:creationId xmlns:a16="http://schemas.microsoft.com/office/drawing/2014/main" id="{841F38E6-682B-0593-E7F1-B970924D2312}"/>
              </a:ext>
            </a:extLst>
          </p:cNvPr>
          <p:cNvSpPr/>
          <p:nvPr/>
        </p:nvSpPr>
        <p:spPr>
          <a:xfrm>
            <a:off x="8007886" y="2028495"/>
            <a:ext cx="792480" cy="1246418"/>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正方形/長方形 71">
            <a:extLst>
              <a:ext uri="{FF2B5EF4-FFF2-40B4-BE49-F238E27FC236}">
                <a16:creationId xmlns:a16="http://schemas.microsoft.com/office/drawing/2014/main" id="{EB9A5047-E824-A278-1DE7-38BCB5F653E4}"/>
              </a:ext>
            </a:extLst>
          </p:cNvPr>
          <p:cNvSpPr/>
          <p:nvPr/>
        </p:nvSpPr>
        <p:spPr>
          <a:xfrm>
            <a:off x="2835604" y="2013850"/>
            <a:ext cx="1706880" cy="338514"/>
          </a:xfrm>
          <a:prstGeom prst="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その他動線</a:t>
            </a:r>
            <a:endPar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pSp>
        <p:nvGrpSpPr>
          <p:cNvPr id="18" name="グループ化 17">
            <a:extLst>
              <a:ext uri="{FF2B5EF4-FFF2-40B4-BE49-F238E27FC236}">
                <a16:creationId xmlns:a16="http://schemas.microsoft.com/office/drawing/2014/main" id="{D0BB931D-9C48-0F74-78B7-B39FB7567FB3}"/>
              </a:ext>
            </a:extLst>
          </p:cNvPr>
          <p:cNvGrpSpPr/>
          <p:nvPr/>
        </p:nvGrpSpPr>
        <p:grpSpPr>
          <a:xfrm>
            <a:off x="2497445" y="1791214"/>
            <a:ext cx="885030" cy="827297"/>
            <a:chOff x="2497445" y="1791214"/>
            <a:chExt cx="885030" cy="827297"/>
          </a:xfrm>
        </p:grpSpPr>
        <p:pic>
          <p:nvPicPr>
            <p:cNvPr id="73" name="図 72">
              <a:extLst>
                <a:ext uri="{FF2B5EF4-FFF2-40B4-BE49-F238E27FC236}">
                  <a16:creationId xmlns:a16="http://schemas.microsoft.com/office/drawing/2014/main" id="{95316F7A-1FC1-3A66-5456-79F5F636388C}"/>
                </a:ext>
              </a:extLst>
            </p:cNvPr>
            <p:cNvPicPr>
              <a:picLocks noChangeAspect="1"/>
            </p:cNvPicPr>
            <p:nvPr/>
          </p:nvPicPr>
          <p:blipFill>
            <a:blip r:embed="rId4"/>
            <a:stretch>
              <a:fillRect/>
            </a:stretch>
          </p:blipFill>
          <p:spPr>
            <a:xfrm>
              <a:off x="2497445" y="1791214"/>
              <a:ext cx="420559" cy="556499"/>
            </a:xfrm>
            <a:prstGeom prst="rect">
              <a:avLst/>
            </a:prstGeom>
          </p:spPr>
        </p:pic>
        <p:pic>
          <p:nvPicPr>
            <p:cNvPr id="74" name="図 73" descr="生活・その他】SNSとスマホのかわいいフリーイラスト | フタバのフリーイラスト">
              <a:extLst>
                <a:ext uri="{FF2B5EF4-FFF2-40B4-BE49-F238E27FC236}">
                  <a16:creationId xmlns:a16="http://schemas.microsoft.com/office/drawing/2014/main" id="{425A3C52-3D63-0CC5-2649-471F74876F03}"/>
                </a:ext>
              </a:extLst>
            </p:cNvPr>
            <p:cNvPicPr>
              <a:picLocks noChangeAspect="1"/>
            </p:cNvPicPr>
            <p:nvPr/>
          </p:nvPicPr>
          <p:blipFill>
            <a:blip r:embed="rId5"/>
            <a:stretch>
              <a:fillRect/>
            </a:stretch>
          </p:blipFill>
          <p:spPr>
            <a:xfrm>
              <a:off x="2610493" y="1846529"/>
              <a:ext cx="771982" cy="771982"/>
            </a:xfrm>
            <a:prstGeom prst="rect">
              <a:avLst/>
            </a:prstGeom>
          </p:spPr>
        </p:pic>
      </p:grpSp>
      <p:sp>
        <p:nvSpPr>
          <p:cNvPr id="76" name="テキスト ボックス 75">
            <a:extLst>
              <a:ext uri="{FF2B5EF4-FFF2-40B4-BE49-F238E27FC236}">
                <a16:creationId xmlns:a16="http://schemas.microsoft.com/office/drawing/2014/main" id="{A26D9D0D-8E50-52D9-7E65-8B19393671D2}"/>
              </a:ext>
            </a:extLst>
          </p:cNvPr>
          <p:cNvSpPr txBox="1"/>
          <p:nvPr/>
        </p:nvSpPr>
        <p:spPr>
          <a:xfrm>
            <a:off x="4820619" y="2013850"/>
            <a:ext cx="2466126"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友だち追加によるメリット提示</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✓限定クーポン　✓限定特典</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上でのコミュニケーション誘導</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✓LINEで診断　✓LINEで体験予約</a:t>
            </a:r>
            <a:endParaRPr lang="ja-JP" altLang="en-US" sz="1000" dirty="0">
              <a:solidFill>
                <a:schemeClr val="bg1">
                  <a:lumMod val="50000"/>
                </a:schemeClr>
              </a:solidFill>
            </a:endParaRPr>
          </a:p>
        </p:txBody>
      </p:sp>
      <p:sp>
        <p:nvSpPr>
          <p:cNvPr id="77" name="テキスト ボックス 76">
            <a:extLst>
              <a:ext uri="{FF2B5EF4-FFF2-40B4-BE49-F238E27FC236}">
                <a16:creationId xmlns:a16="http://schemas.microsoft.com/office/drawing/2014/main" id="{CFFD44FF-E632-A42A-AFD2-C978D5EB4382}"/>
              </a:ext>
            </a:extLst>
          </p:cNvPr>
          <p:cNvSpPr txBox="1"/>
          <p:nvPr/>
        </p:nvSpPr>
        <p:spPr>
          <a:xfrm>
            <a:off x="7498219" y="2013850"/>
            <a:ext cx="1852837"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でのナーチャリング</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✓アンケート回答</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で診断</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✓おすすめプランの提示</a:t>
            </a:r>
            <a:endParaRPr lang="ja-JP" altLang="en-US" sz="1000" dirty="0">
              <a:solidFill>
                <a:schemeClr val="bg1">
                  <a:lumMod val="50000"/>
                </a:schemeClr>
              </a:solidFill>
            </a:endParaRPr>
          </a:p>
        </p:txBody>
      </p:sp>
      <p:sp>
        <p:nvSpPr>
          <p:cNvPr id="78" name="テキスト ボックス 77">
            <a:extLst>
              <a:ext uri="{FF2B5EF4-FFF2-40B4-BE49-F238E27FC236}">
                <a16:creationId xmlns:a16="http://schemas.microsoft.com/office/drawing/2014/main" id="{2A92B9D2-AE81-B8F1-2775-9BABDBB2FB72}"/>
              </a:ext>
            </a:extLst>
          </p:cNvPr>
          <p:cNvSpPr txBox="1"/>
          <p:nvPr/>
        </p:nvSpPr>
        <p:spPr>
          <a:xfrm>
            <a:off x="4820619" y="3575596"/>
            <a:ext cx="2466126"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◯企画投稿</a:t>
            </a: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（月間投稿数）</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✓〇〇の季節、〇〇の日にちなんだ</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年齢→目的・悩み、よくある不安</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アンケ回答例→学習コンテンツ</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79" name="テキスト ボックス 78">
            <a:extLst>
              <a:ext uri="{FF2B5EF4-FFF2-40B4-BE49-F238E27FC236}">
                <a16:creationId xmlns:a16="http://schemas.microsoft.com/office/drawing/2014/main" id="{3F5D2439-D550-34BB-53D6-091E9B32BF3C}"/>
              </a:ext>
            </a:extLst>
          </p:cNvPr>
          <p:cNvSpPr txBox="1"/>
          <p:nvPr/>
        </p:nvSpPr>
        <p:spPr>
          <a:xfrm>
            <a:off x="7303671" y="3575596"/>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✓友だち追加後◯日で</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（前後検索ニーズを調査）</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✓学習が進行する導線設計</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特典等</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興味</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共感</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信頼</a:t>
            </a:r>
            <a:r>
              <a:rPr lang="en-US" altLang="ja-JP" sz="900" dirty="0">
                <a:solidFill>
                  <a:schemeClr val="bg1">
                    <a:lumMod val="50000"/>
                  </a:schemeClr>
                </a:solidFill>
                <a:latin typeface="メイリオ" panose="020B0604030504040204" pitchFamily="50" charset="-128"/>
                <a:ea typeface="メイリオ" panose="020B0604030504040204" pitchFamily="50" charset="-128"/>
                <a:sym typeface="Meiryo"/>
              </a:rPr>
              <a:t>&gt;</a:t>
            </a:r>
            <a:r>
              <a:rPr lang="ja-JP" altLang="en-US" sz="900" dirty="0">
                <a:solidFill>
                  <a:schemeClr val="bg1">
                    <a:lumMod val="50000"/>
                  </a:schemeClr>
                </a:solidFill>
                <a:latin typeface="メイリオ" panose="020B0604030504040204" pitchFamily="50" charset="-128"/>
                <a:ea typeface="メイリオ" panose="020B0604030504040204" pitchFamily="50" charset="-128"/>
                <a:sym typeface="Meiryo"/>
              </a:rPr>
              <a:t>オファー</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a:t>
            </a:r>
          </a:p>
        </p:txBody>
      </p:sp>
      <p:sp>
        <p:nvSpPr>
          <p:cNvPr id="82" name="テキスト ボックス 81">
            <a:extLst>
              <a:ext uri="{FF2B5EF4-FFF2-40B4-BE49-F238E27FC236}">
                <a16:creationId xmlns:a16="http://schemas.microsoft.com/office/drawing/2014/main" id="{F966D387-7E84-4F68-9C81-89F870210C79}"/>
              </a:ext>
            </a:extLst>
          </p:cNvPr>
          <p:cNvSpPr txBox="1"/>
          <p:nvPr/>
        </p:nvSpPr>
        <p:spPr>
          <a:xfrm>
            <a:off x="2772451" y="3575596"/>
            <a:ext cx="1852837" cy="1015663"/>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◯あいさつメッセージ</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情報収集</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solidFill>
                  <a:srgbClr val="FF0000"/>
                </a:solidFill>
                <a:latin typeface="メイリオ" panose="020B0604030504040204" pitchFamily="50" charset="-128"/>
                <a:ea typeface="メイリオ" panose="020B0604030504040204" pitchFamily="50" charset="-128"/>
                <a:cs typeface="Meiryo"/>
                <a:sym typeface="Meiryo"/>
              </a:rPr>
              <a:t>配信セグメントに活用</a:t>
            </a:r>
            <a:endParaRPr lang="en-US" altLang="ja-JP" sz="1000" b="1" dirty="0">
              <a:solidFill>
                <a:srgbClr val="FF0000"/>
              </a:solidFill>
              <a:latin typeface="メイリオ" panose="020B0604030504040204" pitchFamily="50" charset="-128"/>
              <a:ea typeface="メイリオ" panose="020B0604030504040204" pitchFamily="50" charset="-128"/>
              <a:cs typeface="Meiryo"/>
              <a:sym typeface="Meiryo"/>
            </a:endParaRPr>
          </a:p>
          <a:p>
            <a:pPr algn="ct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◯プロフ・リッチメニュー</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sp>
        <p:nvSpPr>
          <p:cNvPr id="83" name="テキスト ボックス 82">
            <a:extLst>
              <a:ext uri="{FF2B5EF4-FFF2-40B4-BE49-F238E27FC236}">
                <a16:creationId xmlns:a16="http://schemas.microsoft.com/office/drawing/2014/main" id="{DCCA9A41-7AF8-A7E5-C05D-3CCE4D53D056}"/>
              </a:ext>
            </a:extLst>
          </p:cNvPr>
          <p:cNvSpPr txBox="1"/>
          <p:nvPr/>
        </p:nvSpPr>
        <p:spPr>
          <a:xfrm>
            <a:off x="7493762" y="5192489"/>
            <a:ext cx="1852837" cy="969496"/>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アフター</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フォロー</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✓よくある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QA</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集の自動化</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✓チャット定型文の作成</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7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◯友だち紹介斡旋</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✓紹介</a:t>
            </a:r>
            <a:r>
              <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rPr>
              <a:t>CP</a:t>
            </a: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などに誘導</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4" name="テキスト ボックス 83">
            <a:extLst>
              <a:ext uri="{FF2B5EF4-FFF2-40B4-BE49-F238E27FC236}">
                <a16:creationId xmlns:a16="http://schemas.microsoft.com/office/drawing/2014/main" id="{51666C25-34AB-775A-D360-970178A01029}"/>
              </a:ext>
            </a:extLst>
          </p:cNvPr>
          <p:cNvSpPr txBox="1"/>
          <p:nvPr/>
        </p:nvSpPr>
        <p:spPr>
          <a:xfrm>
            <a:off x="5015076" y="5197869"/>
            <a:ext cx="2038121" cy="861774"/>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◯アクション済</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✓応答メッセージ等で満足度↑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sym typeface="Meiryo"/>
              </a:rPr>
              <a:t>◯再購入・クロスセル</a:t>
            </a:r>
            <a:endParaRPr lang="en-US" altLang="ja-JP" sz="1000" b="1" dirty="0">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65000"/>
                  </a:schemeClr>
                </a:solidFill>
                <a:latin typeface="メイリオ" panose="020B0604030504040204" pitchFamily="50" charset="-128"/>
                <a:ea typeface="メイリオ" panose="020B0604030504040204" pitchFamily="50" charset="-128"/>
                <a:sym typeface="Meiryo"/>
              </a:rPr>
              <a:t>✓PT・物販・継続の提案時期を設定</a:t>
            </a:r>
            <a:endParaRPr lang="en-US" altLang="ja-JP" sz="1000" dirty="0">
              <a:solidFill>
                <a:schemeClr val="bg1">
                  <a:lumMod val="65000"/>
                </a:schemeClr>
              </a:solidFill>
              <a:latin typeface="メイリオ" panose="020B0604030504040204" pitchFamily="50" charset="-128"/>
              <a:ea typeface="メイリオ" panose="020B0604030504040204" pitchFamily="50" charset="-128"/>
              <a:sym typeface="Meiryo"/>
            </a:endParaRPr>
          </a:p>
        </p:txBody>
      </p:sp>
      <p:sp>
        <p:nvSpPr>
          <p:cNvPr id="85" name="テキスト ボックス 84">
            <a:extLst>
              <a:ext uri="{FF2B5EF4-FFF2-40B4-BE49-F238E27FC236}">
                <a16:creationId xmlns:a16="http://schemas.microsoft.com/office/drawing/2014/main" id="{E36E01A8-5E8D-6868-5242-258854A6C11E}"/>
              </a:ext>
            </a:extLst>
          </p:cNvPr>
          <p:cNvSpPr txBox="1"/>
          <p:nvPr/>
        </p:nvSpPr>
        <p:spPr>
          <a:xfrm>
            <a:off x="2577903" y="5197869"/>
            <a:ext cx="2241933" cy="954107"/>
          </a:xfrm>
          <a:prstGeom prst="rect">
            <a:avLst/>
          </a:prstGeom>
          <a:solidFill>
            <a:schemeClr val="bg1">
              <a:alpha val="20000"/>
            </a:schemeClr>
          </a:solid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◯再・簡易アンケート</a:t>
            </a:r>
            <a:r>
              <a:rPr lang="en-US" altLang="ja-JP" sz="1000" b="1" dirty="0">
                <a:latin typeface="メイリオ" panose="020B0604030504040204" pitchFamily="50" charset="-128"/>
                <a:ea typeface="メイリオ" panose="020B0604030504040204" pitchFamily="50" charset="-128"/>
                <a:cs typeface="Meiryo"/>
                <a:sym typeface="Meiryo"/>
              </a:rPr>
              <a:t>(</a:t>
            </a:r>
            <a:r>
              <a:rPr lang="ja-JP" altLang="en-US" sz="1000" b="1" dirty="0">
                <a:latin typeface="メイリオ" panose="020B0604030504040204" pitchFamily="50" charset="-128"/>
                <a:ea typeface="メイリオ" panose="020B0604030504040204" pitchFamily="50" charset="-128"/>
                <a:cs typeface="Meiryo"/>
                <a:sym typeface="Meiryo"/>
              </a:rPr>
              <a:t>診断</a:t>
            </a:r>
            <a:r>
              <a:rPr lang="en-US" altLang="ja-JP" sz="1000" b="1" dirty="0">
                <a:latin typeface="メイリオ" panose="020B0604030504040204" pitchFamily="50" charset="-128"/>
                <a:ea typeface="メイリオ" panose="020B0604030504040204" pitchFamily="50" charset="-128"/>
                <a:cs typeface="Meiryo"/>
                <a:sym typeface="Meiryo"/>
              </a:rPr>
              <a:t>)</a:t>
            </a: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✓休眠層に対して</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サービス軸と異なる診断軸を用意</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endParaRPr lang="en-US" altLang="ja-JP" sz="600" dirty="0">
              <a:solidFill>
                <a:schemeClr val="bg1">
                  <a:lumMod val="50000"/>
                </a:schemeClr>
              </a:solidFill>
              <a:latin typeface="メイリオ" panose="020B0604030504040204" pitchFamily="50" charset="-128"/>
              <a:ea typeface="メイリオ" panose="020B0604030504040204" pitchFamily="50" charset="-128"/>
              <a:sym typeface="Meiryo"/>
            </a:endParaRPr>
          </a:p>
          <a:p>
            <a:pPr algn="ctr"/>
            <a:r>
              <a:rPr lang="ja-JP" altLang="en-US" sz="1000" b="1" dirty="0">
                <a:latin typeface="メイリオ" panose="020B0604030504040204" pitchFamily="50" charset="-128"/>
                <a:ea typeface="メイリオ" panose="020B0604030504040204" pitchFamily="50" charset="-128"/>
                <a:cs typeface="Meiryo"/>
                <a:sym typeface="Meiryo"/>
              </a:rPr>
              <a:t>◯商品訴求を再押し</a:t>
            </a:r>
            <a:endParaRPr lang="en-US" altLang="ja-JP" sz="1000" b="1" dirty="0">
              <a:latin typeface="メイリオ" panose="020B0604030504040204" pitchFamily="50" charset="-128"/>
              <a:ea typeface="メイリオ" panose="020B0604030504040204" pitchFamily="50" charset="-128"/>
              <a:cs typeface="Meiryo"/>
              <a:sym typeface="Meiryo"/>
            </a:endParaRPr>
          </a:p>
          <a:p>
            <a:pPr algn="ctr"/>
            <a:r>
              <a:rPr lang="ja-JP" altLang="en-US" sz="1000" dirty="0">
                <a:solidFill>
                  <a:schemeClr val="bg1">
                    <a:lumMod val="50000"/>
                  </a:schemeClr>
                </a:solidFill>
                <a:latin typeface="メイリオ" panose="020B0604030504040204" pitchFamily="50" charset="-128"/>
                <a:ea typeface="メイリオ" panose="020B0604030504040204" pitchFamily="50" charset="-128"/>
                <a:sym typeface="Meiryo"/>
              </a:rPr>
              <a:t>✓再度サービス訴求を実施</a:t>
            </a:r>
            <a:endParaRPr lang="en-US" altLang="ja-JP" sz="1000" dirty="0">
              <a:solidFill>
                <a:schemeClr val="bg1">
                  <a:lumMod val="50000"/>
                </a:schemeClr>
              </a:solidFill>
              <a:latin typeface="メイリオ" panose="020B0604030504040204" pitchFamily="50" charset="-128"/>
              <a:ea typeface="メイリオ" panose="020B0604030504040204" pitchFamily="50" charset="-128"/>
              <a:sym typeface="Meiryo"/>
            </a:endParaRPr>
          </a:p>
        </p:txBody>
      </p:sp>
      <p:sp>
        <p:nvSpPr>
          <p:cNvPr id="8" name="矢印: 下 7">
            <a:extLst>
              <a:ext uri="{FF2B5EF4-FFF2-40B4-BE49-F238E27FC236}">
                <a16:creationId xmlns:a16="http://schemas.microsoft.com/office/drawing/2014/main" id="{BE6FB710-6D0D-A062-5DC4-E7437CE5BDE1}"/>
              </a:ext>
            </a:extLst>
          </p:cNvPr>
          <p:cNvSpPr/>
          <p:nvPr/>
        </p:nvSpPr>
        <p:spPr>
          <a:xfrm>
            <a:off x="8045609" y="1409403"/>
            <a:ext cx="871728" cy="395993"/>
          </a:xfrm>
          <a:prstGeom prst="downArrow">
            <a:avLst/>
          </a:prstGeom>
          <a:gradFill>
            <a:gsLst>
              <a:gs pos="4000">
                <a:schemeClr val="bg1"/>
              </a:gs>
              <a:gs pos="100000">
                <a:schemeClr val="accent6">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92FDFDEB-CB5F-8A45-29AB-C10FC6580A7C}"/>
              </a:ext>
            </a:extLst>
          </p:cNvPr>
          <p:cNvSpPr/>
          <p:nvPr/>
        </p:nvSpPr>
        <p:spPr>
          <a:xfrm>
            <a:off x="8919666" y="1412851"/>
            <a:ext cx="871728" cy="395993"/>
          </a:xfrm>
          <a:prstGeom prst="downArrow">
            <a:avLst/>
          </a:prstGeom>
          <a:gradFill>
            <a:gsLst>
              <a:gs pos="4000">
                <a:schemeClr val="bg1"/>
              </a:gs>
              <a:gs pos="100000">
                <a:schemeClr val="bg1">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矢印: 下 10">
            <a:extLst>
              <a:ext uri="{FF2B5EF4-FFF2-40B4-BE49-F238E27FC236}">
                <a16:creationId xmlns:a16="http://schemas.microsoft.com/office/drawing/2014/main" id="{218212FE-3645-DB9F-3397-0748130F1AF8}"/>
              </a:ext>
            </a:extLst>
          </p:cNvPr>
          <p:cNvSpPr/>
          <p:nvPr/>
        </p:nvSpPr>
        <p:spPr>
          <a:xfrm>
            <a:off x="7180483" y="1412851"/>
            <a:ext cx="871728" cy="395993"/>
          </a:xfrm>
          <a:prstGeom prst="downArrow">
            <a:avLst/>
          </a:prstGeom>
          <a:gradFill>
            <a:gsLst>
              <a:gs pos="4000">
                <a:schemeClr val="bg1"/>
              </a:gs>
              <a:gs pos="100000">
                <a:schemeClr val="accent1">
                  <a:lumMod val="40000"/>
                  <a:lumOff val="60000"/>
                  <a:alpha val="16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D2D0860-25E1-93CE-4600-A1274BD77509}"/>
              </a:ext>
            </a:extLst>
          </p:cNvPr>
          <p:cNvSpPr txBox="1"/>
          <p:nvPr/>
        </p:nvSpPr>
        <p:spPr>
          <a:xfrm>
            <a:off x="7180483" y="1445284"/>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cs typeface="Meiryo"/>
                <a:sym typeface="Meiryo"/>
              </a:rPr>
              <a:t>企画</a:t>
            </a:r>
            <a:endParaRPr lang="en-US" altLang="ja-JP" sz="800" dirty="0">
              <a:latin typeface="メイリオ" panose="020B0604030504040204" pitchFamily="50" charset="-128"/>
              <a:ea typeface="メイリオ" panose="020B0604030504040204" pitchFamily="50" charset="-128"/>
              <a:cs typeface="Meiryo"/>
              <a:sym typeface="Meiryo"/>
            </a:endParaRPr>
          </a:p>
          <a:p>
            <a:pPr algn="ctr"/>
            <a:r>
              <a:rPr lang="ja-JP" altLang="en-US" sz="800" dirty="0">
                <a:latin typeface="メイリオ" panose="020B0604030504040204" pitchFamily="50" charset="-128"/>
                <a:ea typeface="メイリオ" panose="020B0604030504040204" pitchFamily="50" charset="-128"/>
                <a:sym typeface="Meiryo"/>
              </a:rPr>
              <a:t>投稿</a:t>
            </a:r>
            <a:endParaRPr lang="ja-JP" altLang="en-US" sz="800" dirty="0"/>
          </a:p>
        </p:txBody>
      </p:sp>
      <p:sp>
        <p:nvSpPr>
          <p:cNvPr id="13" name="テキスト ボックス 12">
            <a:extLst>
              <a:ext uri="{FF2B5EF4-FFF2-40B4-BE49-F238E27FC236}">
                <a16:creationId xmlns:a16="http://schemas.microsoft.com/office/drawing/2014/main" id="{A87B802C-245D-9C6E-1C33-7190F3073124}"/>
              </a:ext>
            </a:extLst>
          </p:cNvPr>
          <p:cNvSpPr txBox="1"/>
          <p:nvPr/>
        </p:nvSpPr>
        <p:spPr>
          <a:xfrm>
            <a:off x="8050075" y="1452197"/>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ステップ</a:t>
            </a:r>
            <a:endParaRPr lang="en-US" altLang="ja-JP" sz="800" dirty="0">
              <a:latin typeface="メイリオ" panose="020B0604030504040204" pitchFamily="50" charset="-128"/>
              <a:ea typeface="メイリオ" panose="020B0604030504040204" pitchFamily="50" charset="-128"/>
            </a:endParaRPr>
          </a:p>
          <a:p>
            <a:pPr algn="ctr"/>
            <a:r>
              <a:rPr lang="ja-JP" altLang="en-US" sz="800" dirty="0">
                <a:latin typeface="メイリオ" panose="020B0604030504040204" pitchFamily="50" charset="-128"/>
                <a:ea typeface="メイリオ" panose="020B0604030504040204" pitchFamily="50" charset="-128"/>
              </a:rPr>
              <a:t>配信</a:t>
            </a:r>
          </a:p>
        </p:txBody>
      </p:sp>
      <p:sp>
        <p:nvSpPr>
          <p:cNvPr id="14" name="テキスト ボックス 13">
            <a:extLst>
              <a:ext uri="{FF2B5EF4-FFF2-40B4-BE49-F238E27FC236}">
                <a16:creationId xmlns:a16="http://schemas.microsoft.com/office/drawing/2014/main" id="{D775BACA-B985-5029-1E70-8D28879E88EC}"/>
              </a:ext>
            </a:extLst>
          </p:cNvPr>
          <p:cNvSpPr txBox="1"/>
          <p:nvPr/>
        </p:nvSpPr>
        <p:spPr>
          <a:xfrm>
            <a:off x="8910735" y="1438122"/>
            <a:ext cx="871728" cy="338554"/>
          </a:xfrm>
          <a:prstGeom prst="rect">
            <a:avLst/>
          </a:prstGeom>
          <a:noFill/>
        </p:spPr>
        <p:txBody>
          <a:bodyPr wrap="square">
            <a:spAutoFit/>
          </a:bodyPr>
          <a:lstStyle/>
          <a:p>
            <a:pPr algn="ctr"/>
            <a:r>
              <a:rPr lang="ja-JP" altLang="en-US" sz="800" dirty="0">
                <a:latin typeface="メイリオ" panose="020B0604030504040204" pitchFamily="50" charset="-128"/>
                <a:ea typeface="メイリオ" panose="020B0604030504040204" pitchFamily="50" charset="-128"/>
              </a:rPr>
              <a:t>貴社対応</a:t>
            </a:r>
            <a:endParaRPr lang="en-US" altLang="ja-JP" sz="800" dirty="0">
              <a:latin typeface="メイリオ" panose="020B0604030504040204" pitchFamily="50" charset="-128"/>
              <a:ea typeface="メイリオ" panose="020B0604030504040204" pitchFamily="50" charset="-128"/>
            </a:endParaRPr>
          </a:p>
          <a:p>
            <a:pPr algn="ctr"/>
            <a:r>
              <a:rPr lang="en-US" altLang="ja-JP" sz="800" dirty="0">
                <a:latin typeface="メイリオ" panose="020B0604030504040204" pitchFamily="50" charset="-128"/>
                <a:ea typeface="メイリオ" panose="020B0604030504040204" pitchFamily="50" charset="-128"/>
              </a:rPr>
              <a:t>※</a:t>
            </a:r>
            <a:r>
              <a:rPr lang="ja-JP" altLang="en-US" sz="800" dirty="0">
                <a:latin typeface="メイリオ" panose="020B0604030504040204" pitchFamily="50" charset="-128"/>
                <a:ea typeface="メイリオ" panose="020B0604030504040204" pitchFamily="50" charset="-128"/>
              </a:rPr>
              <a:t>軽減</a:t>
            </a:r>
          </a:p>
        </p:txBody>
      </p:sp>
      <p:sp>
        <p:nvSpPr>
          <p:cNvPr id="15" name="正方形/長方形 14">
            <a:extLst>
              <a:ext uri="{FF2B5EF4-FFF2-40B4-BE49-F238E27FC236}">
                <a16:creationId xmlns:a16="http://schemas.microsoft.com/office/drawing/2014/main" id="{B0439D32-FABC-CA34-F07C-587F509AEF1D}"/>
              </a:ext>
            </a:extLst>
          </p:cNvPr>
          <p:cNvSpPr/>
          <p:nvPr/>
        </p:nvSpPr>
        <p:spPr>
          <a:xfrm>
            <a:off x="7116723" y="1367434"/>
            <a:ext cx="2725750" cy="483252"/>
          </a:xfrm>
          <a:prstGeom prst="rect">
            <a:avLst/>
          </a:prstGeom>
          <a:no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コネクタ: カギ線 19">
            <a:extLst>
              <a:ext uri="{FF2B5EF4-FFF2-40B4-BE49-F238E27FC236}">
                <a16:creationId xmlns:a16="http://schemas.microsoft.com/office/drawing/2014/main" id="{B6880BFB-9CE8-682D-5E73-400E7A9D4984}"/>
              </a:ext>
            </a:extLst>
          </p:cNvPr>
          <p:cNvCxnSpPr>
            <a:cxnSpLocks/>
            <a:stCxn id="74" idx="2"/>
            <a:endCxn id="25" idx="0"/>
          </p:cNvCxnSpPr>
          <p:nvPr/>
        </p:nvCxnSpPr>
        <p:spPr>
          <a:xfrm rot="5400000">
            <a:off x="1884437" y="2550716"/>
            <a:ext cx="1044252" cy="1179842"/>
          </a:xfrm>
          <a:prstGeom prst="bentConnector3">
            <a:avLst>
              <a:gd name="adj1" fmla="val 50000"/>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コネクタ: カギ線 26">
            <a:extLst>
              <a:ext uri="{FF2B5EF4-FFF2-40B4-BE49-F238E27FC236}">
                <a16:creationId xmlns:a16="http://schemas.microsoft.com/office/drawing/2014/main" id="{EF07FDA7-6FC7-C204-99A4-DB47A6724969}"/>
              </a:ext>
            </a:extLst>
          </p:cNvPr>
          <p:cNvCxnSpPr>
            <a:cxnSpLocks/>
            <a:endCxn id="25" idx="0"/>
          </p:cNvCxnSpPr>
          <p:nvPr/>
        </p:nvCxnSpPr>
        <p:spPr>
          <a:xfrm rot="16200000" flipH="1">
            <a:off x="693395" y="2539516"/>
            <a:ext cx="1138050" cy="1108444"/>
          </a:xfrm>
          <a:prstGeom prst="bentConnector3">
            <a:avLst>
              <a:gd name="adj1" fmla="val 54185"/>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B79B5748-0A9B-B2A8-36EE-9B6743393A50}"/>
              </a:ext>
            </a:extLst>
          </p:cNvPr>
          <p:cNvCxnSpPr>
            <a:stCxn id="25" idx="2"/>
            <a:endCxn id="46" idx="0"/>
          </p:cNvCxnSpPr>
          <p:nvPr/>
        </p:nvCxnSpPr>
        <p:spPr>
          <a:xfrm>
            <a:off x="1816642" y="4001277"/>
            <a:ext cx="0" cy="1304334"/>
          </a:xfrm>
          <a:prstGeom prst="straightConnector1">
            <a:avLst/>
          </a:prstGeom>
          <a:ln>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5890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現状分析｜ジム・フィットネス業界のLINE公式アカウント実態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友だち数の実測（LINEヤフー公式ページの公開値）。3社は公式ページ保存版で伸びを確認。</a:t>
            </a:r>
          </a:p>
        </p:txBody>
      </p:sp>
      <p:graphicFrame>
        <p:nvGraphicFramePr>
          <p:cNvPr id="4" name="Table 3"/>
          <p:cNvGraphicFramePr>
            <a:graphicFrameLocks noGrp="1"/>
          </p:cNvGraphicFramePr>
          <p:nvPr>
            <p:extLst>
              <p:ext uri="{D42A27DB-BD31-4B8C-83A1-F6EECF244321}">
                <p14:modId xmlns:p14="http://schemas.microsoft.com/office/powerpoint/2010/main" val="4290336896"/>
              </p:ext>
            </p:extLst>
          </p:nvPr>
        </p:nvGraphicFramePr>
        <p:xfrm>
          <a:off x="384048" y="1234440"/>
          <a:ext cx="9134856" cy="2654843"/>
        </p:xfrm>
        <a:graphic>
          <a:graphicData uri="http://schemas.openxmlformats.org/drawingml/2006/table">
            <a:tbl>
              <a:tblPr firstRow="1" bandRow="1">
                <a:tableStyleId>{5C22544A-7EE6-4342-B048-85BDC9FD1C3A}</a:tableStyleId>
              </a:tblPr>
              <a:tblGrid>
                <a:gridCol w="2097895">
                  <a:extLst>
                    <a:ext uri="{9D8B030D-6E8A-4147-A177-3AD203B41FA5}">
                      <a16:colId xmlns:a16="http://schemas.microsoft.com/office/drawing/2014/main" val="20000"/>
                    </a:ext>
                  </a:extLst>
                </a:gridCol>
                <a:gridCol w="1750423">
                  <a:extLst>
                    <a:ext uri="{9D8B030D-6E8A-4147-A177-3AD203B41FA5}">
                      <a16:colId xmlns:a16="http://schemas.microsoft.com/office/drawing/2014/main" val="20001"/>
                    </a:ext>
                  </a:extLst>
                </a:gridCol>
                <a:gridCol w="1541417">
                  <a:extLst>
                    <a:ext uri="{9D8B030D-6E8A-4147-A177-3AD203B41FA5}">
                      <a16:colId xmlns:a16="http://schemas.microsoft.com/office/drawing/2014/main" val="20002"/>
                    </a:ext>
                  </a:extLst>
                </a:gridCol>
                <a:gridCol w="1140823">
                  <a:extLst>
                    <a:ext uri="{9D8B030D-6E8A-4147-A177-3AD203B41FA5}">
                      <a16:colId xmlns:a16="http://schemas.microsoft.com/office/drawing/2014/main" val="20003"/>
                    </a:ext>
                  </a:extLst>
                </a:gridCol>
                <a:gridCol w="1132114">
                  <a:extLst>
                    <a:ext uri="{9D8B030D-6E8A-4147-A177-3AD203B41FA5}">
                      <a16:colId xmlns:a16="http://schemas.microsoft.com/office/drawing/2014/main" val="20004"/>
                    </a:ext>
                  </a:extLst>
                </a:gridCol>
                <a:gridCol w="1472184">
                  <a:extLst>
                    <a:ext uri="{9D8B030D-6E8A-4147-A177-3AD203B41FA5}">
                      <a16:colId xmlns:a16="http://schemas.microsoft.com/office/drawing/2014/main" val="20005"/>
                    </a:ext>
                  </a:extLst>
                </a:gridCol>
              </a:tblGrid>
              <a:tr h="399217">
                <a:tc>
                  <a:txBody>
                    <a:bodyPr/>
                    <a:lstStyle/>
                    <a:p>
                      <a:pPr algn="ctr"/>
                      <a:r>
                        <a:rPr sz="1200" b="1" dirty="0" err="1">
                          <a:solidFill>
                            <a:srgbClr val="FFFFFF"/>
                          </a:solidFill>
                          <a:latin typeface="メイリオ"/>
                          <a:ea typeface="メイリオ"/>
                        </a:rPr>
                        <a:t>事業者</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業態</a:t>
                      </a:r>
                    </a:p>
                  </a:txBody>
                  <a:tcPr marT="18000" marB="18000">
                    <a:solidFill>
                      <a:srgbClr val="1F2A5C"/>
                    </a:solidFill>
                  </a:tcPr>
                </a:tc>
                <a:tc>
                  <a:txBody>
                    <a:bodyPr/>
                    <a:lstStyle/>
                    <a:p>
                      <a:pPr algn="ctr"/>
                      <a:r>
                        <a:rPr sz="1200" b="1" dirty="0" err="1">
                          <a:solidFill>
                            <a:srgbClr val="FFFFFF"/>
                          </a:solidFill>
                          <a:latin typeface="メイリオ"/>
                          <a:ea typeface="メイリオ"/>
                        </a:rPr>
                        <a:t>友だち数</a:t>
                      </a:r>
                      <a:r>
                        <a:rPr sz="1200" b="1" dirty="0">
                          <a:solidFill>
                            <a:srgbClr val="FFFFFF"/>
                          </a:solidFill>
                          <a:latin typeface="メイリオ"/>
                          <a:ea typeface="メイリオ"/>
                        </a:rPr>
                        <a:t> </a:t>
                      </a:r>
                      <a:r>
                        <a:rPr sz="1200" b="1" dirty="0" err="1">
                          <a:solidFill>
                            <a:srgbClr val="FFFFFF"/>
                          </a:solidFill>
                          <a:latin typeface="メイリオ"/>
                          <a:ea typeface="メイリオ"/>
                        </a:rPr>
                        <a:t>実測</a:t>
                      </a:r>
                      <a:endParaRPr sz="1200" b="1" dirty="0">
                        <a:solidFill>
                          <a:srgbClr val="FFFFFF"/>
                        </a:solidFill>
                        <a:latin typeface="メイリオ"/>
                        <a:ea typeface="メイリオ"/>
                      </a:endParaRPr>
                    </a:p>
                  </a:txBody>
                  <a:tcPr marT="18000" marB="18000">
                    <a:solidFill>
                      <a:srgbClr val="1F2A5C"/>
                    </a:solidFill>
                  </a:tcPr>
                </a:tc>
                <a:tc>
                  <a:txBody>
                    <a:bodyPr/>
                    <a:lstStyle/>
                    <a:p>
                      <a:pPr algn="ctr"/>
                      <a:r>
                        <a:rPr sz="1200" b="1">
                          <a:solidFill>
                            <a:srgbClr val="FFFFFF"/>
                          </a:solidFill>
                          <a:latin typeface="メイリオ"/>
                          <a:ea typeface="メイリオ"/>
                        </a:rPr>
                        <a:t>過去値 保存版</a:t>
                      </a:r>
                    </a:p>
                  </a:txBody>
                  <a:tcPr marT="18000" marB="18000">
                    <a:solidFill>
                      <a:srgbClr val="1F2A5C"/>
                    </a:solidFill>
                  </a:tcPr>
                </a:tc>
                <a:tc>
                  <a:txBody>
                    <a:bodyPr/>
                    <a:lstStyle/>
                    <a:p>
                      <a:pPr algn="ctr"/>
                      <a:r>
                        <a:rPr sz="1200" b="1">
                          <a:solidFill>
                            <a:srgbClr val="FFFFFF"/>
                          </a:solidFill>
                          <a:latin typeface="メイリオ"/>
                          <a:ea typeface="メイリオ"/>
                        </a:rPr>
                        <a:t>伸び</a:t>
                      </a:r>
                    </a:p>
                  </a:txBody>
                  <a:tcPr marT="18000" marB="18000">
                    <a:solidFill>
                      <a:srgbClr val="1F2A5C"/>
                    </a:solidFill>
                  </a:tcPr>
                </a:tc>
                <a:tc>
                  <a:txBody>
                    <a:bodyPr/>
                    <a:lstStyle/>
                    <a:p>
                      <a:pPr algn="ctr"/>
                      <a:r>
                        <a:rPr sz="1200" b="1">
                          <a:solidFill>
                            <a:srgbClr val="FFFFFF"/>
                          </a:solidFill>
                          <a:latin typeface="メイリオ"/>
                          <a:ea typeface="メイリオ"/>
                        </a:rPr>
                        <a:t>配信 実機調査</a:t>
                      </a:r>
                    </a:p>
                  </a:txBody>
                  <a:tcPr marT="18000" marB="18000">
                    <a:solidFill>
                      <a:srgbClr val="1F2A5C"/>
                    </a:solidFill>
                  </a:tcPr>
                </a:tc>
                <a:extLst>
                  <a:ext uri="{0D108BD9-81ED-4DB2-BD59-A6C34878D82A}">
                    <a16:rowId xmlns:a16="http://schemas.microsoft.com/office/drawing/2014/main" val="10000"/>
                  </a:ext>
                </a:extLst>
              </a:tr>
              <a:tr h="321869">
                <a:tc>
                  <a:txBody>
                    <a:bodyPr/>
                    <a:lstStyle/>
                    <a:p>
                      <a:pPr algn="l"/>
                      <a:r>
                        <a:rPr sz="1200" b="0">
                          <a:solidFill>
                            <a:srgbClr val="1C2233"/>
                          </a:solidFill>
                          <a:latin typeface="メイリオ"/>
                          <a:ea typeface="メイリオ"/>
                        </a:rPr>
                        <a:t>ライザップ</a:t>
                      </a:r>
                    </a:p>
                  </a:txBody>
                  <a:tcPr marT="18000" marB="18000">
                    <a:solidFill>
                      <a:srgbClr val="FFFFFF"/>
                    </a:solidFill>
                  </a:tcPr>
                </a:tc>
                <a:tc>
                  <a:txBody>
                    <a:bodyPr/>
                    <a:lstStyle/>
                    <a:p>
                      <a:pPr algn="ctr"/>
                      <a:r>
                        <a:rPr sz="1200" b="0">
                          <a:solidFill>
                            <a:srgbClr val="1C2233"/>
                          </a:solidFill>
                          <a:latin typeface="メイリオ"/>
                          <a:ea typeface="メイリオ"/>
                        </a:rPr>
                        <a:t>パーソナル</a:t>
                      </a:r>
                    </a:p>
                  </a:txBody>
                  <a:tcPr marT="18000" marB="18000">
                    <a:solidFill>
                      <a:srgbClr val="FFFFFF"/>
                    </a:solidFill>
                  </a:tcPr>
                </a:tc>
                <a:tc>
                  <a:txBody>
                    <a:bodyPr/>
                    <a:lstStyle/>
                    <a:p>
                      <a:pPr algn="ctr"/>
                      <a:r>
                        <a:rPr sz="1200" b="0">
                          <a:solidFill>
                            <a:srgbClr val="1C2233"/>
                          </a:solidFill>
                          <a:latin typeface="メイリオ"/>
                          <a:ea typeface="メイリオ"/>
                        </a:rPr>
                        <a:t>非公開</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1"/>
                  </a:ext>
                </a:extLst>
              </a:tr>
              <a:tr h="321869">
                <a:tc>
                  <a:txBody>
                    <a:bodyPr/>
                    <a:lstStyle/>
                    <a:p>
                      <a:pPr algn="l"/>
                      <a:r>
                        <a:rPr sz="1200" b="0">
                          <a:solidFill>
                            <a:srgbClr val="1C2233"/>
                          </a:solidFill>
                          <a:latin typeface="メイリオ"/>
                          <a:ea typeface="メイリオ"/>
                        </a:rPr>
                        <a:t>chocoZAP</a:t>
                      </a:r>
                    </a:p>
                  </a:txBody>
                  <a:tcPr marT="18000" marB="18000">
                    <a:solidFill>
                      <a:srgbClr val="FFFFFF"/>
                    </a:solidFill>
                  </a:tcPr>
                </a:tc>
                <a:tc>
                  <a:txBody>
                    <a:bodyPr/>
                    <a:lstStyle/>
                    <a:p>
                      <a:pPr algn="ctr"/>
                      <a:r>
                        <a:rPr sz="1200" b="0">
                          <a:solidFill>
                            <a:srgbClr val="1C2233"/>
                          </a:solidFill>
                          <a:latin typeface="メイリオ"/>
                          <a:ea typeface="メイリオ"/>
                        </a:rPr>
                        <a:t>24時間コンビニジム</a:t>
                      </a:r>
                    </a:p>
                  </a:txBody>
                  <a:tcPr marT="18000" marB="18000">
                    <a:solidFill>
                      <a:srgbClr val="FFFFFF"/>
                    </a:solidFill>
                  </a:tcPr>
                </a:tc>
                <a:tc>
                  <a:txBody>
                    <a:bodyPr/>
                    <a:lstStyle/>
                    <a:p>
                      <a:pPr algn="ctr"/>
                      <a:r>
                        <a:rPr sz="1200" b="0">
                          <a:solidFill>
                            <a:srgbClr val="1C2233"/>
                          </a:solidFill>
                          <a:latin typeface="メイリオ"/>
                          <a:ea typeface="メイリオ"/>
                        </a:rPr>
                        <a:t>20,680,767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371951212"/>
                  </a:ext>
                </a:extLst>
              </a:tr>
              <a:tr h="321869">
                <a:tc>
                  <a:txBody>
                    <a:bodyPr/>
                    <a:lstStyle/>
                    <a:p>
                      <a:pPr algn="l"/>
                      <a:r>
                        <a:rPr sz="1200" b="0">
                          <a:solidFill>
                            <a:srgbClr val="1C2233"/>
                          </a:solidFill>
                          <a:latin typeface="メイリオ"/>
                          <a:ea typeface="メイリオ"/>
                        </a:rPr>
                        <a:t>カーブス</a:t>
                      </a:r>
                    </a:p>
                  </a:txBody>
                  <a:tcPr marT="18000" marB="18000">
                    <a:solidFill>
                      <a:srgbClr val="EFF1F7"/>
                    </a:solidFill>
                  </a:tcPr>
                </a:tc>
                <a:tc>
                  <a:txBody>
                    <a:bodyPr/>
                    <a:lstStyle/>
                    <a:p>
                      <a:pPr algn="ctr"/>
                      <a:r>
                        <a:rPr sz="1200" b="0">
                          <a:solidFill>
                            <a:srgbClr val="1C2233"/>
                          </a:solidFill>
                          <a:latin typeface="メイリオ"/>
                          <a:ea typeface="メイリオ"/>
                        </a:rPr>
                        <a:t>女性専用サーキット</a:t>
                      </a:r>
                    </a:p>
                  </a:txBody>
                  <a:tcPr marT="18000" marB="18000">
                    <a:solidFill>
                      <a:srgbClr val="EFF1F7"/>
                    </a:solidFill>
                  </a:tcPr>
                </a:tc>
                <a:tc>
                  <a:txBody>
                    <a:bodyPr/>
                    <a:lstStyle/>
                    <a:p>
                      <a:pPr algn="ctr"/>
                      <a:r>
                        <a:rPr sz="1200" b="0">
                          <a:solidFill>
                            <a:srgbClr val="1C2233"/>
                          </a:solidFill>
                          <a:latin typeface="メイリオ"/>
                          <a:ea typeface="メイリオ"/>
                        </a:rPr>
                        <a:t>5,921,564</a:t>
                      </a:r>
                    </a:p>
                  </a:txBody>
                  <a:tcPr marT="18000" marB="18000">
                    <a:solidFill>
                      <a:srgbClr val="EFF1F7"/>
                    </a:solidFill>
                  </a:tcPr>
                </a:tc>
                <a:tc>
                  <a:txBody>
                    <a:bodyPr/>
                    <a:lstStyle/>
                    <a:p>
                      <a:pPr algn="ctr"/>
                      <a:r>
                        <a:rPr sz="1200" b="0">
                          <a:solidFill>
                            <a:srgbClr val="1C2233"/>
                          </a:solidFill>
                          <a:latin typeface="メイリオ"/>
                          <a:ea typeface="メイリオ"/>
                        </a:rPr>
                        <a:t>2,275,646</a:t>
                      </a:r>
                    </a:p>
                  </a:txBody>
                  <a:tcPr marT="18000" marB="18000">
                    <a:solidFill>
                      <a:srgbClr val="EFF1F7"/>
                    </a:solidFill>
                  </a:tcPr>
                </a:tc>
                <a:tc>
                  <a:txBody>
                    <a:bodyPr/>
                    <a:lstStyle/>
                    <a:p>
                      <a:pPr algn="ctr"/>
                      <a:r>
                        <a:rPr sz="1200" b="0">
                          <a:solidFill>
                            <a:srgbClr val="1C2233"/>
                          </a:solidFill>
                          <a:latin typeface="メイリオ"/>
                          <a:ea typeface="メイリオ"/>
                        </a:rPr>
                        <a:t>×2.6</a:t>
                      </a:r>
                    </a:p>
                  </a:txBody>
                  <a:tcPr marT="18000" marB="18000">
                    <a:solidFill>
                      <a:srgbClr val="EFF1F7"/>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2"/>
                  </a:ext>
                </a:extLst>
              </a:tr>
              <a:tr h="321869">
                <a:tc>
                  <a:txBody>
                    <a:bodyPr/>
                    <a:lstStyle/>
                    <a:p>
                      <a:pPr algn="l"/>
                      <a:r>
                        <a:rPr sz="1200" b="0">
                          <a:solidFill>
                            <a:srgbClr val="1C2233"/>
                          </a:solidFill>
                          <a:latin typeface="メイリオ"/>
                          <a:ea typeface="メイリオ"/>
                        </a:rPr>
                        <a:t>エニタイムフィットネス</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1,452,477</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3"/>
                  </a:ext>
                </a:extLst>
              </a:tr>
              <a:tr h="321869">
                <a:tc>
                  <a:txBody>
                    <a:bodyPr/>
                    <a:lstStyle/>
                    <a:p>
                      <a:pPr algn="l"/>
                      <a:r>
                        <a:rPr sz="1200" b="0">
                          <a:solidFill>
                            <a:srgbClr val="1C2233"/>
                          </a:solidFill>
                          <a:latin typeface="メイリオ"/>
                          <a:ea typeface="メイリオ"/>
                        </a:rPr>
                        <a:t>FIT PLACE24</a:t>
                      </a:r>
                    </a:p>
                  </a:txBody>
                  <a:tcPr marT="18000" marB="18000">
                    <a:solidFill>
                      <a:srgbClr val="FFFFFF"/>
                    </a:solidFill>
                  </a:tcPr>
                </a:tc>
                <a:tc>
                  <a:txBody>
                    <a:bodyPr/>
                    <a:lstStyle/>
                    <a:p>
                      <a:pPr algn="ctr"/>
                      <a:r>
                        <a:rPr sz="1200" b="0">
                          <a:solidFill>
                            <a:srgbClr val="1C2233"/>
                          </a:solidFill>
                          <a:latin typeface="メイリオ"/>
                          <a:ea typeface="メイリオ"/>
                        </a:rPr>
                        <a:t>24時間ジム</a:t>
                      </a:r>
                    </a:p>
                  </a:txBody>
                  <a:tcPr marT="18000" marB="18000">
                    <a:solidFill>
                      <a:srgbClr val="FFFFFF"/>
                    </a:solidFill>
                  </a:tcPr>
                </a:tc>
                <a:tc>
                  <a:txBody>
                    <a:bodyPr/>
                    <a:lstStyle/>
                    <a:p>
                      <a:pPr algn="ctr"/>
                      <a:r>
                        <a:rPr sz="1200" b="0">
                          <a:solidFill>
                            <a:srgbClr val="1C2233"/>
                          </a:solidFill>
                          <a:latin typeface="メイリオ"/>
                          <a:ea typeface="メイリオ"/>
                        </a:rPr>
                        <a:t>913,243</a:t>
                      </a:r>
                    </a:p>
                  </a:txBody>
                  <a:tcPr marT="18000" marB="18000">
                    <a:solidFill>
                      <a:srgbClr val="FFFFFF"/>
                    </a:solidFill>
                  </a:tcPr>
                </a:tc>
                <a:tc>
                  <a:txBody>
                    <a:bodyPr/>
                    <a:lstStyle/>
                    <a:p>
                      <a:pPr algn="ctr"/>
                      <a:r>
                        <a:rPr sz="1200" b="0">
                          <a:solidFill>
                            <a:srgbClr val="1C2233"/>
                          </a:solidFill>
                          <a:latin typeface="メイリオ"/>
                          <a:ea typeface="メイリオ"/>
                        </a:rPr>
                        <a:t>保存版なし</a:t>
                      </a:r>
                    </a:p>
                  </a:txBody>
                  <a:tcPr marT="18000" marB="18000">
                    <a:solidFill>
                      <a:srgbClr val="FFFFFF"/>
                    </a:solidFill>
                  </a:tcPr>
                </a:tc>
                <a:tc>
                  <a:txBody>
                    <a:bodyPr/>
                    <a:lstStyle/>
                    <a:p>
                      <a:pPr algn="ctr"/>
                      <a:r>
                        <a:rPr sz="1200" b="0">
                          <a:solidFill>
                            <a:srgbClr val="1C2233"/>
                          </a:solidFill>
                          <a:latin typeface="メイリオ"/>
                          <a:ea typeface="メイリオ"/>
                        </a:rPr>
                        <a:t>―</a:t>
                      </a:r>
                    </a:p>
                  </a:txBody>
                  <a:tcPr marT="18000" marB="18000">
                    <a:solidFill>
                      <a:srgbClr val="FFFFFF"/>
                    </a:solidFill>
                  </a:tcPr>
                </a:tc>
                <a:tc>
                  <a:txBody>
                    <a:bodyPr/>
                    <a:lstStyle/>
                    <a:p>
                      <a:pPr algn="ctr"/>
                      <a:r>
                        <a:rPr sz="1200" b="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2207494840"/>
                  </a:ext>
                </a:extLst>
              </a:tr>
              <a:tr h="321869">
                <a:tc>
                  <a:txBody>
                    <a:bodyPr/>
                    <a:lstStyle/>
                    <a:p>
                      <a:pPr algn="l"/>
                      <a:r>
                        <a:rPr sz="1200" b="0">
                          <a:solidFill>
                            <a:srgbClr val="1C2233"/>
                          </a:solidFill>
                          <a:latin typeface="メイリオ"/>
                          <a:ea typeface="メイリオ"/>
                        </a:rPr>
                        <a:t>フィットイージー</a:t>
                      </a:r>
                    </a:p>
                  </a:txBody>
                  <a:tcPr marT="18000" marB="18000">
                    <a:solidFill>
                      <a:srgbClr val="EFF1F7"/>
                    </a:solidFill>
                  </a:tcPr>
                </a:tc>
                <a:tc>
                  <a:txBody>
                    <a:bodyPr/>
                    <a:lstStyle/>
                    <a:p>
                      <a:pPr algn="ctr"/>
                      <a:r>
                        <a:rPr sz="1200" b="0">
                          <a:solidFill>
                            <a:srgbClr val="1C2233"/>
                          </a:solidFill>
                          <a:latin typeface="メイリオ"/>
                          <a:ea typeface="メイリオ"/>
                        </a:rPr>
                        <a:t>24時間ジム</a:t>
                      </a:r>
                    </a:p>
                  </a:txBody>
                  <a:tcPr marT="18000" marB="18000">
                    <a:solidFill>
                      <a:srgbClr val="EFF1F7"/>
                    </a:solidFill>
                  </a:tcPr>
                </a:tc>
                <a:tc>
                  <a:txBody>
                    <a:bodyPr/>
                    <a:lstStyle/>
                    <a:p>
                      <a:pPr algn="ctr"/>
                      <a:r>
                        <a:rPr sz="1200" b="0">
                          <a:solidFill>
                            <a:srgbClr val="1C2233"/>
                          </a:solidFill>
                          <a:latin typeface="メイリオ"/>
                          <a:ea typeface="メイリオ"/>
                        </a:rPr>
                        <a:t>802,620</a:t>
                      </a:r>
                    </a:p>
                  </a:txBody>
                  <a:tcPr marT="18000" marB="18000">
                    <a:solidFill>
                      <a:srgbClr val="EFF1F7"/>
                    </a:solidFill>
                  </a:tcPr>
                </a:tc>
                <a:tc>
                  <a:txBody>
                    <a:bodyPr/>
                    <a:lstStyle/>
                    <a:p>
                      <a:pPr algn="ctr"/>
                      <a:r>
                        <a:rPr sz="1200" b="0">
                          <a:solidFill>
                            <a:srgbClr val="1C2233"/>
                          </a:solidFill>
                          <a:latin typeface="メイリオ"/>
                          <a:ea typeface="メイリオ"/>
                        </a:rPr>
                        <a:t>487,710</a:t>
                      </a:r>
                    </a:p>
                  </a:txBody>
                  <a:tcPr marT="18000" marB="18000">
                    <a:solidFill>
                      <a:srgbClr val="EFF1F7"/>
                    </a:solidFill>
                  </a:tcPr>
                </a:tc>
                <a:tc>
                  <a:txBody>
                    <a:bodyPr/>
                    <a:lstStyle/>
                    <a:p>
                      <a:pPr algn="ctr"/>
                      <a:r>
                        <a:rPr sz="1200" b="0">
                          <a:solidFill>
                            <a:srgbClr val="1C2233"/>
                          </a:solidFill>
                          <a:latin typeface="メイリオ"/>
                          <a:ea typeface="メイリオ"/>
                        </a:rPr>
                        <a:t>×1.6</a:t>
                      </a:r>
                    </a:p>
                  </a:txBody>
                  <a:tcPr marT="18000" marB="18000">
                    <a:solidFill>
                      <a:srgbClr val="F2F2F2"/>
                    </a:solidFill>
                  </a:tcPr>
                </a:tc>
                <a:tc>
                  <a:txBody>
                    <a:bodyPr/>
                    <a:lstStyle/>
                    <a:p>
                      <a:pPr algn="ctr"/>
                      <a:r>
                        <a:rPr sz="1200" b="0">
                          <a:solidFill>
                            <a:srgbClr val="1C2233"/>
                          </a:solidFill>
                          <a:latin typeface="メイリオ"/>
                          <a:ea typeface="メイリオ"/>
                        </a:rPr>
                        <a:t>8/31確認</a:t>
                      </a:r>
                    </a:p>
                  </a:txBody>
                  <a:tcPr marT="18000" marB="18000">
                    <a:solidFill>
                      <a:srgbClr val="EFF1F7"/>
                    </a:solidFill>
                  </a:tcPr>
                </a:tc>
                <a:extLst>
                  <a:ext uri="{0D108BD9-81ED-4DB2-BD59-A6C34878D82A}">
                    <a16:rowId xmlns:a16="http://schemas.microsoft.com/office/drawing/2014/main" val="10004"/>
                  </a:ext>
                </a:extLst>
              </a:tr>
              <a:tr h="321869">
                <a:tc>
                  <a:txBody>
                    <a:bodyPr/>
                    <a:lstStyle/>
                    <a:p>
                      <a:pPr algn="l"/>
                      <a:r>
                        <a:rPr sz="1200" b="0">
                          <a:solidFill>
                            <a:srgbClr val="1C2233"/>
                          </a:solidFill>
                          <a:latin typeface="メイリオ"/>
                          <a:ea typeface="メイリオ"/>
                        </a:rPr>
                        <a:t>ティップネス</a:t>
                      </a:r>
                    </a:p>
                  </a:txBody>
                  <a:tcPr marT="18000" marB="18000">
                    <a:solidFill>
                      <a:srgbClr val="FFFFFF"/>
                    </a:solidFill>
                  </a:tcPr>
                </a:tc>
                <a:tc>
                  <a:txBody>
                    <a:bodyPr/>
                    <a:lstStyle/>
                    <a:p>
                      <a:pPr algn="ctr"/>
                      <a:r>
                        <a:rPr sz="1200" b="0" dirty="0" err="1">
                          <a:solidFill>
                            <a:srgbClr val="1C2233"/>
                          </a:solidFill>
                          <a:latin typeface="メイリオ"/>
                          <a:ea typeface="メイリオ"/>
                        </a:rPr>
                        <a:t>総合クラブ</a:t>
                      </a:r>
                      <a:endParaRPr sz="1200" b="0" dirty="0">
                        <a:solidFill>
                          <a:srgbClr val="1C2233"/>
                        </a:solidFill>
                        <a:latin typeface="メイリオ"/>
                        <a:ea typeface="メイリオ"/>
                      </a:endParaRPr>
                    </a:p>
                  </a:txBody>
                  <a:tcPr marT="18000" marB="18000">
                    <a:solidFill>
                      <a:srgbClr val="FFFFFF"/>
                    </a:solidFill>
                  </a:tcPr>
                </a:tc>
                <a:tc>
                  <a:txBody>
                    <a:bodyPr/>
                    <a:lstStyle/>
                    <a:p>
                      <a:pPr algn="ctr"/>
                      <a:r>
                        <a:rPr sz="1200" b="0">
                          <a:solidFill>
                            <a:srgbClr val="1C2233"/>
                          </a:solidFill>
                          <a:latin typeface="メイリオ"/>
                          <a:ea typeface="メイリオ"/>
                        </a:rPr>
                        <a:t>262,502</a:t>
                      </a:r>
                    </a:p>
                  </a:txBody>
                  <a:tcPr marT="18000" marB="18000">
                    <a:solidFill>
                      <a:srgbClr val="FFFFFF"/>
                    </a:solidFill>
                  </a:tcPr>
                </a:tc>
                <a:tc>
                  <a:txBody>
                    <a:bodyPr/>
                    <a:lstStyle/>
                    <a:p>
                      <a:pPr algn="ctr"/>
                      <a:r>
                        <a:rPr sz="1200" b="0">
                          <a:solidFill>
                            <a:srgbClr val="1C2233"/>
                          </a:solidFill>
                          <a:latin typeface="メイリオ"/>
                          <a:ea typeface="メイリオ"/>
                        </a:rPr>
                        <a:t>53,138</a:t>
                      </a:r>
                    </a:p>
                  </a:txBody>
                  <a:tcPr marT="18000" marB="18000">
                    <a:solidFill>
                      <a:srgbClr val="FFFFFF"/>
                    </a:solidFill>
                  </a:tcPr>
                </a:tc>
                <a:tc>
                  <a:txBody>
                    <a:bodyPr/>
                    <a:lstStyle/>
                    <a:p>
                      <a:pPr algn="ctr"/>
                      <a:r>
                        <a:rPr sz="1200" b="0">
                          <a:solidFill>
                            <a:srgbClr val="1C2233"/>
                          </a:solidFill>
                          <a:latin typeface="メイリオ"/>
                          <a:ea typeface="メイリオ"/>
                        </a:rPr>
                        <a:t>×4.9</a:t>
                      </a:r>
                    </a:p>
                  </a:txBody>
                  <a:tcPr marT="18000" marB="18000">
                    <a:solidFill>
                      <a:srgbClr val="FFFFFF"/>
                    </a:solidFill>
                  </a:tcPr>
                </a:tc>
                <a:tc>
                  <a:txBody>
                    <a:bodyPr/>
                    <a:lstStyle/>
                    <a:p>
                      <a:pPr algn="ctr"/>
                      <a:r>
                        <a:rPr sz="1200" b="0" dirty="0">
                          <a:solidFill>
                            <a:srgbClr val="1C2233"/>
                          </a:solidFill>
                          <a:latin typeface="メイリオ"/>
                          <a:ea typeface="メイリオ"/>
                        </a:rPr>
                        <a:t>8/31確認</a:t>
                      </a:r>
                    </a:p>
                  </a:txBody>
                  <a:tcPr marT="18000" marB="18000">
                    <a:solidFill>
                      <a:srgbClr val="FFFFFF"/>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a:t>
            </a:r>
            <a:r>
              <a:rPr sz="1200" b="1" dirty="0" err="1">
                <a:solidFill>
                  <a:srgbClr val="1C2233"/>
                </a:solidFill>
                <a:latin typeface="メイリオ"/>
                <a:ea typeface="メイリオ"/>
              </a:rPr>
              <a:t>規模の桁が違う</a:t>
            </a:r>
            <a:endParaRPr sz="1200" b="1" dirty="0">
              <a:solidFill>
                <a:srgbClr val="1C2233"/>
              </a:solidFill>
              <a:latin typeface="メイリオ"/>
              <a:ea typeface="メイリオ"/>
            </a:endParaRPr>
          </a:p>
          <a:p>
            <a:pPr algn="l">
              <a:spcBef>
                <a:spcPts val="200"/>
              </a:spcBef>
            </a:pPr>
            <a:r>
              <a:rPr sz="1200" b="0" dirty="0" err="1">
                <a:solidFill>
                  <a:srgbClr val="1C2233"/>
                </a:solidFill>
                <a:latin typeface="メイリオ"/>
                <a:ea typeface="メイリオ"/>
              </a:rPr>
              <a:t>chocoZAP</a:t>
            </a:r>
            <a:r>
              <a:rPr sz="1200" b="0" dirty="0">
                <a:solidFill>
                  <a:srgbClr val="1C2233"/>
                </a:solidFill>
                <a:latin typeface="メイリオ"/>
                <a:ea typeface="メイリオ"/>
              </a:rPr>
              <a:t> 2,068万人・カーブス592万人。マス層はすでにLINEを顧客接点のインフラにしている。</a:t>
            </a:r>
          </a:p>
        </p:txBody>
      </p:sp>
      <p:sp>
        <p:nvSpPr>
          <p:cNvPr id="6" name="Rounded Rectangle 5"/>
          <p:cNvSpPr/>
          <p:nvPr/>
        </p:nvSpPr>
        <p:spPr>
          <a:xfrm>
            <a:off x="3383279"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24時間ジム勢の分布</a:t>
            </a:r>
          </a:p>
          <a:p>
            <a:pPr algn="l">
              <a:spcBef>
                <a:spcPts val="200"/>
              </a:spcBef>
            </a:pPr>
            <a:r>
              <a:rPr sz="1200" dirty="0">
                <a:solidFill>
                  <a:srgbClr val="1C2233"/>
                </a:solidFill>
                <a:latin typeface="メイリオ"/>
                <a:ea typeface="メイリオ"/>
              </a:rPr>
              <a:t>エニタイム145万 &gt; FIT PLACE24 91万 &gt; フィットイージー80万。</a:t>
            </a:r>
            <a:endParaRPr lang="en-US" sz="1200" dirty="0">
              <a:solidFill>
                <a:srgbClr val="1C2233"/>
              </a:solidFill>
              <a:latin typeface="メイリオ"/>
              <a:ea typeface="メイリオ"/>
            </a:endParaRPr>
          </a:p>
          <a:p>
            <a:pPr algn="l">
              <a:spcBef>
                <a:spcPts val="200"/>
              </a:spcBef>
            </a:pPr>
            <a:r>
              <a:rPr sz="1200" dirty="0">
                <a:solidFill>
                  <a:srgbClr val="1C2233"/>
                </a:solidFill>
                <a:latin typeface="メイリオ"/>
                <a:ea typeface="メイリオ"/>
              </a:rPr>
              <a:t>FIT PLACE24は2023年開業＝入会手続きをLINE起点に設計した新興が最短で肉薄。</a:t>
            </a:r>
          </a:p>
        </p:txBody>
      </p:sp>
      <p:sp>
        <p:nvSpPr>
          <p:cNvPr id="7" name="Rounded Rectangle 6"/>
          <p:cNvSpPr/>
          <p:nvPr/>
        </p:nvSpPr>
        <p:spPr>
          <a:xfrm>
            <a:off x="6382512" y="4023320"/>
            <a:ext cx="2788920" cy="13258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spcBef>
                <a:spcPts val="200"/>
              </a:spcBef>
            </a:pPr>
            <a:r>
              <a:rPr lang="ja-JP" altLang="en-US" sz="1200" b="1" dirty="0">
                <a:solidFill>
                  <a:srgbClr val="1C2233"/>
                </a:solidFill>
                <a:latin typeface="メイリオ"/>
                <a:ea typeface="メイリオ"/>
              </a:rPr>
              <a:t>③ 友だち数の伸び</a:t>
            </a:r>
            <a:endParaRPr lang="en-US" altLang="ja-JP" sz="1200" b="1" dirty="0">
              <a:solidFill>
                <a:srgbClr val="1C2233"/>
              </a:solidFill>
              <a:ea typeface="メイリオ"/>
            </a:endParaRPr>
          </a:p>
          <a:p>
            <a:pPr>
              <a:spcBef>
                <a:spcPts val="200"/>
              </a:spcBef>
            </a:pPr>
            <a:r>
              <a:rPr lang="ja-JP" altLang="en-US" sz="1200" dirty="0">
                <a:solidFill>
                  <a:srgbClr val="1C2233"/>
                </a:solidFill>
                <a:latin typeface="メイリオ"/>
                <a:ea typeface="メイリオ"/>
              </a:rPr>
              <a:t>カーブス</a:t>
            </a:r>
            <a:r>
              <a:rPr lang="en-US" altLang="ja-JP" sz="1200" dirty="0">
                <a:solidFill>
                  <a:srgbClr val="1C2233"/>
                </a:solidFill>
                <a:latin typeface="メイリオ"/>
                <a:ea typeface="メイリオ"/>
              </a:rPr>
              <a:t>×1.6/</a:t>
            </a:r>
            <a:r>
              <a:rPr lang="ja-JP" altLang="en-US" sz="1200" dirty="0">
                <a:solidFill>
                  <a:srgbClr val="1C2233"/>
                </a:solidFill>
                <a:latin typeface="メイリオ"/>
                <a:ea typeface="メイリオ"/>
              </a:rPr>
              <a:t>年・ティップネス</a:t>
            </a:r>
            <a:r>
              <a:rPr lang="en-US" altLang="ja-JP" sz="1200" dirty="0">
                <a:solidFill>
                  <a:srgbClr val="1C2233"/>
                </a:solidFill>
                <a:latin typeface="メイリオ"/>
                <a:ea typeface="メイリオ"/>
              </a:rPr>
              <a:t>×1.5/</a:t>
            </a:r>
            <a:r>
              <a:rPr lang="ja-JP" altLang="en-US" sz="1200" dirty="0">
                <a:solidFill>
                  <a:srgbClr val="1C2233"/>
                </a:solidFill>
                <a:latin typeface="メイリオ"/>
                <a:ea typeface="メイリオ"/>
              </a:rPr>
              <a:t>年・フィットイージー</a:t>
            </a:r>
            <a:r>
              <a:rPr lang="en-US" altLang="ja-JP" sz="1200" dirty="0">
                <a:solidFill>
                  <a:srgbClr val="1C2233"/>
                </a:solidFill>
                <a:latin typeface="メイリオ"/>
                <a:ea typeface="メイリオ"/>
              </a:rPr>
              <a:t>×1.3/</a:t>
            </a:r>
            <a:r>
              <a:rPr lang="ja-JP" altLang="en-US" sz="1200" dirty="0">
                <a:solidFill>
                  <a:srgbClr val="1C2233"/>
                </a:solidFill>
                <a:latin typeface="メイリオ"/>
                <a:ea typeface="メイリオ"/>
              </a:rPr>
              <a:t>年</a:t>
            </a:r>
          </a:p>
          <a:p>
            <a:pPr>
              <a:spcBef>
                <a:spcPts val="200"/>
              </a:spcBef>
            </a:pPr>
            <a:r>
              <a:rPr lang="en-US" altLang="ja-JP" sz="1200" dirty="0">
                <a:solidFill>
                  <a:srgbClr val="1C2233"/>
                </a:solidFill>
                <a:latin typeface="メイリオ"/>
                <a:ea typeface="メイリオ"/>
              </a:rPr>
              <a:t>※</a:t>
            </a:r>
            <a:r>
              <a:rPr lang="ja-JP" altLang="en-US" sz="1200" dirty="0">
                <a:solidFill>
                  <a:srgbClr val="1C2233"/>
                </a:solidFill>
                <a:latin typeface="メイリオ"/>
                <a:ea typeface="メイリオ"/>
              </a:rPr>
              <a:t>配信実態は</a:t>
            </a:r>
            <a:r>
              <a:rPr lang="en-US" altLang="ja-JP" sz="1200" dirty="0">
                <a:solidFill>
                  <a:srgbClr val="1C2233"/>
                </a:solidFill>
                <a:latin typeface="メイリオ"/>
                <a:ea typeface="メイリオ"/>
              </a:rPr>
              <a:t>8/31</a:t>
            </a:r>
            <a:r>
              <a:rPr lang="ja-JP" altLang="en-US" sz="1200" dirty="0">
                <a:solidFill>
                  <a:srgbClr val="1C2233"/>
                </a:solidFill>
                <a:latin typeface="メイリオ"/>
                <a:ea typeface="メイリオ"/>
              </a:rPr>
              <a:t>の実機調査で別途確認</a:t>
            </a:r>
            <a:endParaRPr sz="1200" b="0" dirty="0">
              <a:solidFill>
                <a:srgbClr val="1C2233"/>
              </a:solidFill>
              <a:latin typeface="メイリオ"/>
              <a:ea typeface="メイリオ"/>
            </a:endParaRPr>
          </a:p>
        </p:txBody>
      </p:sp>
      <p:sp>
        <p:nvSpPr>
          <p:cNvPr id="8" name="Rectangle 7"/>
          <p:cNvSpPr/>
          <p:nvPr/>
        </p:nvSpPr>
        <p:spPr>
          <a:xfrm>
            <a:off x="384048" y="5500096"/>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500096"/>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5623560"/>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中堅規模で「集める力」と「育てる力」を両立する会社はまだない</a:t>
            </a:r>
            <a:r>
              <a:rPr sz="1400" b="0" dirty="0">
                <a:solidFill>
                  <a:srgbClr val="1C2233"/>
                </a:solidFill>
                <a:latin typeface="メイリオ"/>
                <a:ea typeface="メイリオ"/>
              </a:rPr>
              <a:t>。</a:t>
            </a:r>
          </a:p>
        </p:txBody>
      </p:sp>
      <p:sp>
        <p:nvSpPr>
          <p:cNvPr id="11" name="TextBox 10"/>
          <p:cNvSpPr txBox="1"/>
          <p:nvPr/>
        </p:nvSpPr>
        <p:spPr>
          <a:xfrm>
            <a:off x="384048" y="61264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出典：page.line.me（LINEヤフー社公式ページ）2026/8/17実測。過去値は同ページのWayback Machine保存版（保存日：カーブス2024/8・フィットイージー2024/10・ティップネス2022/6）。保存版が無い社は「―」。ライザップは公式ページ非公開。</a:t>
            </a:r>
          </a:p>
        </p:txBody>
      </p:sp>
    </p:spTree>
    <p:extLst>
      <p:ext uri="{BB962C8B-B14F-4D97-AF65-F5344CB8AC3E}">
        <p14:creationId xmlns:p14="http://schemas.microsoft.com/office/powerpoint/2010/main" val="2250220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現状分析｜LINE運用は4つの型に分類できる</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集めるのが得意な会社と、育てるのが得意な会社に、はっきり分かれている。</a:t>
            </a:r>
          </a:p>
        </p:txBody>
      </p:sp>
      <p:graphicFrame>
        <p:nvGraphicFramePr>
          <p:cNvPr id="4" name="Table 3"/>
          <p:cNvGraphicFramePr>
            <a:graphicFrameLocks noGrp="1"/>
          </p:cNvGraphicFramePr>
          <p:nvPr>
            <p:extLst>
              <p:ext uri="{D42A27DB-BD31-4B8C-83A1-F6EECF244321}">
                <p14:modId xmlns:p14="http://schemas.microsoft.com/office/powerpoint/2010/main" val="3124320206"/>
              </p:ext>
            </p:extLst>
          </p:nvPr>
        </p:nvGraphicFramePr>
        <p:xfrm>
          <a:off x="384048" y="1234439"/>
          <a:ext cx="9134856" cy="3563982"/>
        </p:xfrm>
        <a:graphic>
          <a:graphicData uri="http://schemas.openxmlformats.org/drawingml/2006/table">
            <a:tbl>
              <a:tblPr firstRow="1" bandRow="1">
                <a:tableStyleId>{5C22544A-7EE6-4342-B048-85BDC9FD1C3A}</a:tableStyleId>
              </a:tblPr>
              <a:tblGrid>
                <a:gridCol w="1514421">
                  <a:extLst>
                    <a:ext uri="{9D8B030D-6E8A-4147-A177-3AD203B41FA5}">
                      <a16:colId xmlns:a16="http://schemas.microsoft.com/office/drawing/2014/main" val="20000"/>
                    </a:ext>
                  </a:extLst>
                </a:gridCol>
                <a:gridCol w="1802674">
                  <a:extLst>
                    <a:ext uri="{9D8B030D-6E8A-4147-A177-3AD203B41FA5}">
                      <a16:colId xmlns:a16="http://schemas.microsoft.com/office/drawing/2014/main" val="20001"/>
                    </a:ext>
                  </a:extLst>
                </a:gridCol>
                <a:gridCol w="3540905">
                  <a:extLst>
                    <a:ext uri="{9D8B030D-6E8A-4147-A177-3AD203B41FA5}">
                      <a16:colId xmlns:a16="http://schemas.microsoft.com/office/drawing/2014/main" val="20002"/>
                    </a:ext>
                  </a:extLst>
                </a:gridCol>
                <a:gridCol w="2276856">
                  <a:extLst>
                    <a:ext uri="{9D8B030D-6E8A-4147-A177-3AD203B41FA5}">
                      <a16:colId xmlns:a16="http://schemas.microsoft.com/office/drawing/2014/main" val="20003"/>
                    </a:ext>
                  </a:extLst>
                </a:gridCol>
              </a:tblGrid>
              <a:tr h="688864">
                <a:tc>
                  <a:txBody>
                    <a:bodyPr/>
                    <a:lstStyle/>
                    <a:p>
                      <a:pPr algn="ctr"/>
                      <a:r>
                        <a:rPr sz="1200" b="1">
                          <a:solidFill>
                            <a:srgbClr val="FFFFFF"/>
                          </a:solidFill>
                          <a:latin typeface="メイリオ"/>
                          <a:ea typeface="メイリオ"/>
                        </a:rPr>
                        <a:t>型</a:t>
                      </a:r>
                    </a:p>
                  </a:txBody>
                  <a:tcPr>
                    <a:solidFill>
                      <a:srgbClr val="1F2A5C"/>
                    </a:solidFill>
                  </a:tcPr>
                </a:tc>
                <a:tc>
                  <a:txBody>
                    <a:bodyPr/>
                    <a:lstStyle/>
                    <a:p>
                      <a:pPr algn="ctr"/>
                      <a:r>
                        <a:rPr sz="1200" b="1">
                          <a:solidFill>
                            <a:srgbClr val="FFFFFF"/>
                          </a:solidFill>
                          <a:latin typeface="メイリオ"/>
                          <a:ea typeface="メイリオ"/>
                        </a:rPr>
                        <a:t>代表アカウント</a:t>
                      </a:r>
                    </a:p>
                  </a:txBody>
                  <a:tcPr>
                    <a:solidFill>
                      <a:srgbClr val="1F2A5C"/>
                    </a:solidFill>
                  </a:tcPr>
                </a:tc>
                <a:tc>
                  <a:txBody>
                    <a:bodyPr/>
                    <a:lstStyle/>
                    <a:p>
                      <a:pPr algn="ctr"/>
                      <a:r>
                        <a:rPr sz="1200" b="1">
                          <a:solidFill>
                            <a:srgbClr val="FFFFFF"/>
                          </a:solidFill>
                          <a:latin typeface="メイリオ"/>
                          <a:ea typeface="メイリオ"/>
                        </a:rPr>
                        <a:t>運用の中身</a:t>
                      </a:r>
                    </a:p>
                  </a:txBody>
                  <a:tcPr>
                    <a:solidFill>
                      <a:srgbClr val="1F2A5C"/>
                    </a:solidFill>
                  </a:tcPr>
                </a:tc>
                <a:tc>
                  <a:txBody>
                    <a:bodyPr/>
                    <a:lstStyle/>
                    <a:p>
                      <a:pPr algn="ctr"/>
                      <a:r>
                        <a:rPr sz="1200" b="1">
                          <a:solidFill>
                            <a:srgbClr val="FFFFFF"/>
                          </a:solidFill>
                          <a:latin typeface="メイリオ"/>
                          <a:ea typeface="メイリオ"/>
                        </a:rPr>
                        <a:t>成果の出方</a:t>
                      </a:r>
                    </a:p>
                  </a:txBody>
                  <a:tcPr>
                    <a:solidFill>
                      <a:srgbClr val="1F2A5C"/>
                    </a:solidFill>
                  </a:tcPr>
                </a:tc>
                <a:extLst>
                  <a:ext uri="{0D108BD9-81ED-4DB2-BD59-A6C34878D82A}">
                    <a16:rowId xmlns:a16="http://schemas.microsoft.com/office/drawing/2014/main" val="10000"/>
                  </a:ext>
                </a:extLst>
              </a:tr>
              <a:tr h="688864">
                <a:tc>
                  <a:txBody>
                    <a:bodyPr/>
                    <a:lstStyle/>
                    <a:p>
                      <a:pPr algn="l"/>
                      <a:r>
                        <a:rPr sz="1100" b="0">
                          <a:solidFill>
                            <a:srgbClr val="1C2233"/>
                          </a:solidFill>
                          <a:latin typeface="メイリオ"/>
                          <a:ea typeface="メイリオ"/>
                        </a:rPr>
                        <a:t>① 入口特化型</a:t>
                      </a:r>
                    </a:p>
                  </a:txBody>
                  <a:tcPr>
                    <a:solidFill>
                      <a:srgbClr val="FFFFFF"/>
                    </a:solidFill>
                  </a:tcPr>
                </a:tc>
                <a:tc>
                  <a:txBody>
                    <a:bodyPr/>
                    <a:lstStyle/>
                    <a:p>
                      <a:pPr algn="ctr"/>
                      <a:r>
                        <a:rPr sz="1100" b="0">
                          <a:solidFill>
                            <a:srgbClr val="1C2233"/>
                          </a:solidFill>
                          <a:latin typeface="メイリオ"/>
                          <a:ea typeface="メイリオ"/>
                        </a:rPr>
                        <a:t>フィットイージー</a:t>
                      </a:r>
                    </a:p>
                  </a:txBody>
                  <a:tcPr>
                    <a:solidFill>
                      <a:srgbClr val="FFFFFF"/>
                    </a:solidFill>
                  </a:tcPr>
                </a:tc>
                <a:tc>
                  <a:txBody>
                    <a:bodyPr/>
                    <a:lstStyle/>
                    <a:p>
                      <a:pPr algn="ctr"/>
                      <a:r>
                        <a:rPr sz="1100" b="0" dirty="0" err="1">
                          <a:solidFill>
                            <a:srgbClr val="1C2233"/>
                          </a:solidFill>
                          <a:latin typeface="メイリオ"/>
                          <a:ea typeface="メイリオ"/>
                        </a:rPr>
                        <a:t>リッチメニューに無料体験・店舗見学・店舗検索等を集約した入口特化の設計</a:t>
                      </a:r>
                      <a:r>
                        <a:rPr lang="ja-JP" altLang="en-US" sz="1100" b="0" dirty="0">
                          <a:solidFill>
                            <a:srgbClr val="1C2233"/>
                          </a:solidFill>
                          <a:latin typeface="メイリオ"/>
                          <a:ea typeface="メイリオ"/>
                        </a:rPr>
                        <a:t>（実機調査で確認予定）</a:t>
                      </a:r>
                    </a:p>
                  </a:txBody>
                  <a:tcPr>
                    <a:solidFill>
                      <a:srgbClr val="FFFFFF"/>
                    </a:solidFill>
                  </a:tcPr>
                </a:tc>
                <a:tc>
                  <a:txBody>
                    <a:bodyPr/>
                    <a:lstStyle/>
                    <a:p>
                      <a:pPr algn="ctr"/>
                      <a:r>
                        <a:rPr sz="1100" b="0">
                          <a:solidFill>
                            <a:srgbClr val="1C2233"/>
                          </a:solidFill>
                          <a:latin typeface="メイリオ"/>
                          <a:ea typeface="メイリオ"/>
                        </a:rPr>
                        <a:t>80万人規模。公式保存版比×1.6（2024/10→2026/8）で入口設計型の代表格</a:t>
                      </a:r>
                    </a:p>
                  </a:txBody>
                  <a:tcPr>
                    <a:solidFill>
                      <a:srgbClr val="FFFFFF"/>
                    </a:solidFill>
                  </a:tcPr>
                </a:tc>
                <a:extLst>
                  <a:ext uri="{0D108BD9-81ED-4DB2-BD59-A6C34878D82A}">
                    <a16:rowId xmlns:a16="http://schemas.microsoft.com/office/drawing/2014/main" val="10001"/>
                  </a:ext>
                </a:extLst>
              </a:tr>
              <a:tr h="688864">
                <a:tc>
                  <a:txBody>
                    <a:bodyPr/>
                    <a:lstStyle/>
                    <a:p>
                      <a:pPr algn="l"/>
                      <a:r>
                        <a:rPr sz="1100" b="0">
                          <a:solidFill>
                            <a:srgbClr val="1C2233"/>
                          </a:solidFill>
                          <a:latin typeface="メイリオ"/>
                          <a:ea typeface="メイリオ"/>
                        </a:rPr>
                        <a:t>② CRM・会員証型</a:t>
                      </a:r>
                    </a:p>
                  </a:txBody>
                  <a:tcPr>
                    <a:solidFill>
                      <a:srgbClr val="EFF1F7"/>
                    </a:solidFill>
                  </a:tcPr>
                </a:tc>
                <a:tc>
                  <a:txBody>
                    <a:bodyPr/>
                    <a:lstStyle/>
                    <a:p>
                      <a:pPr algn="ctr"/>
                      <a:r>
                        <a:rPr sz="1100" b="0">
                          <a:solidFill>
                            <a:srgbClr val="1C2233"/>
                          </a:solidFill>
                          <a:latin typeface="メイリオ"/>
                          <a:ea typeface="メイリオ"/>
                        </a:rPr>
                        <a:t>ティップネス</a:t>
                      </a:r>
                    </a:p>
                  </a:txBody>
                  <a:tcPr>
                    <a:solidFill>
                      <a:srgbClr val="EFF1F7"/>
                    </a:solidFill>
                  </a:tcPr>
                </a:tc>
                <a:tc>
                  <a:txBody>
                    <a:bodyPr/>
                    <a:lstStyle/>
                    <a:p>
                      <a:pPr algn="ctr"/>
                      <a:r>
                        <a:rPr sz="1100" b="0" dirty="0" err="1">
                          <a:solidFill>
                            <a:srgbClr val="1C2233"/>
                          </a:solidFill>
                          <a:latin typeface="メイリオ"/>
                          <a:ea typeface="メイリオ"/>
                        </a:rPr>
                        <a:t>会員コード表示・クーポン・最新情報。友だち追加時に利用規約の許諾を取る設計（実機調査で確認予定</a:t>
                      </a:r>
                      <a:r>
                        <a:rPr sz="1100" b="0" dirty="0">
                          <a:solidFill>
                            <a:srgbClr val="1C2233"/>
                          </a:solidFill>
                          <a:latin typeface="メイリオ"/>
                          <a:ea typeface="メイリオ"/>
                        </a:rPr>
                        <a:t>）</a:t>
                      </a:r>
                    </a:p>
                  </a:txBody>
                  <a:tcPr>
                    <a:solidFill>
                      <a:srgbClr val="EFF1F7"/>
                    </a:solidFill>
                  </a:tcPr>
                </a:tc>
                <a:tc>
                  <a:txBody>
                    <a:bodyPr/>
                    <a:lstStyle/>
                    <a:p>
                      <a:pPr algn="ctr"/>
                      <a:r>
                        <a:rPr sz="1100" b="0" dirty="0">
                          <a:solidFill>
                            <a:srgbClr val="1C2233"/>
                          </a:solidFill>
                          <a:latin typeface="メイリオ"/>
                          <a:ea typeface="メイリオ"/>
                        </a:rPr>
                        <a:t>26万人。公式保存版比×4.9</a:t>
                      </a:r>
                      <a:r>
                        <a:rPr lang="ja-JP" altLang="en-US" sz="1100" b="0" dirty="0">
                          <a:solidFill>
                            <a:srgbClr val="1C2233"/>
                          </a:solidFill>
                          <a:latin typeface="メイリオ"/>
                          <a:ea typeface="メイリオ"/>
                        </a:rPr>
                        <a:t>　　</a:t>
                      </a:r>
                      <a:r>
                        <a:rPr lang="en-US" altLang="ja-JP" sz="1100" b="0" dirty="0">
                          <a:solidFill>
                            <a:srgbClr val="1C2233"/>
                          </a:solidFill>
                          <a:latin typeface="メイリオ"/>
                          <a:ea typeface="メイリオ"/>
                        </a:rPr>
                        <a:t>(</a:t>
                      </a:r>
                      <a:r>
                        <a:rPr sz="1100" b="0" dirty="0">
                          <a:solidFill>
                            <a:srgbClr val="1C2233"/>
                          </a:solidFill>
                          <a:latin typeface="メイリオ"/>
                          <a:ea typeface="メイリオ"/>
                        </a:rPr>
                        <a:t>2022/6→2026/8</a:t>
                      </a:r>
                      <a:r>
                        <a:rPr lang="en-US" sz="1100" b="0" dirty="0">
                          <a:solidFill>
                            <a:srgbClr val="1C2233"/>
                          </a:solidFill>
                          <a:latin typeface="メイリオ"/>
                          <a:ea typeface="メイリオ"/>
                        </a:rPr>
                        <a:t>)</a:t>
                      </a:r>
                      <a:r>
                        <a:rPr sz="1100" b="0" dirty="0">
                          <a:solidFill>
                            <a:srgbClr val="1C2233"/>
                          </a:solidFill>
                          <a:latin typeface="メイリオ"/>
                          <a:ea typeface="メイリオ"/>
                        </a:rPr>
                        <a:t>。</a:t>
                      </a:r>
                      <a:r>
                        <a:rPr sz="1100" b="0" dirty="0" err="1">
                          <a:solidFill>
                            <a:srgbClr val="1C2233"/>
                          </a:solidFill>
                          <a:latin typeface="メイリオ"/>
                          <a:ea typeface="メイリオ"/>
                        </a:rPr>
                        <a:t>会員利便で継続に効かせ着実に積み上げ</a:t>
                      </a:r>
                      <a:endParaRPr sz="1100" b="0" dirty="0">
                        <a:solidFill>
                          <a:srgbClr val="1C2233"/>
                        </a:solidFill>
                        <a:latin typeface="メイリオ"/>
                        <a:ea typeface="メイリオ"/>
                      </a:endParaRPr>
                    </a:p>
                  </a:txBody>
                  <a:tcPr>
                    <a:solidFill>
                      <a:srgbClr val="EFF1F7"/>
                    </a:solidFill>
                  </a:tcPr>
                </a:tc>
                <a:extLst>
                  <a:ext uri="{0D108BD9-81ED-4DB2-BD59-A6C34878D82A}">
                    <a16:rowId xmlns:a16="http://schemas.microsoft.com/office/drawing/2014/main" val="10002"/>
                  </a:ext>
                </a:extLst>
              </a:tr>
              <a:tr h="808526">
                <a:tc>
                  <a:txBody>
                    <a:bodyPr/>
                    <a:lstStyle/>
                    <a:p>
                      <a:pPr algn="l"/>
                      <a:r>
                        <a:rPr sz="1100" b="0">
                          <a:solidFill>
                            <a:srgbClr val="1C2233"/>
                          </a:solidFill>
                          <a:latin typeface="メイリオ"/>
                          <a:ea typeface="メイリオ"/>
                        </a:rPr>
                        <a:t>③ ナーチャリング型</a:t>
                      </a:r>
                    </a:p>
                  </a:txBody>
                  <a:tcPr>
                    <a:solidFill>
                      <a:srgbClr val="FFFFFF"/>
                    </a:solidFill>
                  </a:tcPr>
                </a:tc>
                <a:tc>
                  <a:txBody>
                    <a:bodyPr/>
                    <a:lstStyle/>
                    <a:p>
                      <a:pPr algn="ctr"/>
                      <a:r>
                        <a:rPr sz="1100" b="0">
                          <a:solidFill>
                            <a:srgbClr val="1C2233"/>
                          </a:solidFill>
                          <a:latin typeface="メイリオ"/>
                          <a:ea typeface="メイリオ"/>
                        </a:rPr>
                        <a:t>ライザップ
カーブス</a:t>
                      </a:r>
                    </a:p>
                  </a:txBody>
                  <a:tcPr>
                    <a:solidFill>
                      <a:srgbClr val="FFFFFF"/>
                    </a:solidFill>
                  </a:tcPr>
                </a:tc>
                <a:tc>
                  <a:txBody>
                    <a:bodyPr/>
                    <a:lstStyle/>
                    <a:p>
                      <a:pPr algn="ctr"/>
                      <a:r>
                        <a:rPr sz="1100" b="0" dirty="0" err="1">
                          <a:solidFill>
                            <a:srgbClr val="1C2233"/>
                          </a:solidFill>
                          <a:latin typeface="メイリオ"/>
                          <a:ea typeface="メイリオ"/>
                        </a:rPr>
                        <a:t>ステップ配信・運動診断・無料カウンセリング誘導</a:t>
                      </a:r>
                      <a:r>
                        <a:rPr lang="ja-JP" altLang="en-US" sz="1100" b="0" dirty="0">
                          <a:solidFill>
                            <a:srgbClr val="1C2233"/>
                          </a:solidFill>
                          <a:latin typeface="メイリオ"/>
                          <a:ea typeface="メイリオ"/>
                        </a:rPr>
                        <a:t>　　</a:t>
                      </a:r>
                      <a:r>
                        <a:rPr sz="1100" b="0" dirty="0">
                          <a:solidFill>
                            <a:srgbClr val="1C2233"/>
                          </a:solidFill>
                          <a:latin typeface="メイリオ"/>
                          <a:ea typeface="メイリオ"/>
                        </a:rPr>
                        <a:t>（</a:t>
                      </a:r>
                      <a:r>
                        <a:rPr sz="1100" b="0" dirty="0" err="1">
                          <a:solidFill>
                            <a:srgbClr val="1C2233"/>
                          </a:solidFill>
                          <a:latin typeface="メイリオ"/>
                          <a:ea typeface="メイリオ"/>
                        </a:rPr>
                        <a:t>配信実態は実機調査で確認予定</a:t>
                      </a:r>
                      <a:r>
                        <a:rPr sz="1100" b="0" dirty="0">
                          <a:solidFill>
                            <a:srgbClr val="1C2233"/>
                          </a:solidFill>
                          <a:latin typeface="メイリオ"/>
                          <a:ea typeface="メイリオ"/>
                        </a:rPr>
                        <a:t>）</a:t>
                      </a:r>
                    </a:p>
                  </a:txBody>
                  <a:tcPr>
                    <a:solidFill>
                      <a:srgbClr val="FFFFFF"/>
                    </a:solidFill>
                  </a:tcPr>
                </a:tc>
                <a:tc>
                  <a:txBody>
                    <a:bodyPr/>
                    <a:lstStyle/>
                    <a:p>
                      <a:pPr algn="ctr"/>
                      <a:r>
                        <a:rPr sz="1100" b="0" dirty="0">
                          <a:solidFill>
                            <a:srgbClr val="1C2233"/>
                          </a:solidFill>
                          <a:latin typeface="メイリオ"/>
                          <a:ea typeface="メイリオ"/>
                        </a:rPr>
                        <a:t>カーブス592万人＝保存版比×2.6（2024/8→）・</a:t>
                      </a:r>
                      <a:r>
                        <a:rPr sz="1100" b="0" dirty="0" err="1">
                          <a:solidFill>
                            <a:srgbClr val="1C2233"/>
                          </a:solidFill>
                          <a:latin typeface="メイリオ"/>
                          <a:ea typeface="メイリオ"/>
                        </a:rPr>
                        <a:t>ライザップ非公開。育成×入口の両輪とみられる</a:t>
                      </a:r>
                      <a:endParaRPr sz="1100" b="0" dirty="0">
                        <a:solidFill>
                          <a:srgbClr val="1C2233"/>
                        </a:solidFill>
                        <a:latin typeface="メイリオ"/>
                        <a:ea typeface="メイリオ"/>
                      </a:endParaRPr>
                    </a:p>
                  </a:txBody>
                  <a:tcPr>
                    <a:solidFill>
                      <a:srgbClr val="FFFFFF"/>
                    </a:solidFill>
                  </a:tcPr>
                </a:tc>
                <a:extLst>
                  <a:ext uri="{0D108BD9-81ED-4DB2-BD59-A6C34878D82A}">
                    <a16:rowId xmlns:a16="http://schemas.microsoft.com/office/drawing/2014/main" val="10003"/>
                  </a:ext>
                </a:extLst>
              </a:tr>
              <a:tr h="688864">
                <a:tc>
                  <a:txBody>
                    <a:bodyPr/>
                    <a:lstStyle/>
                    <a:p>
                      <a:pPr algn="l"/>
                      <a:r>
                        <a:rPr sz="1100" b="0">
                          <a:solidFill>
                            <a:srgbClr val="1C2233"/>
                          </a:solidFill>
                          <a:latin typeface="メイリオ"/>
                          <a:ea typeface="メイリオ"/>
                        </a:rPr>
                        <a:t>④ カタログ型</a:t>
                      </a:r>
                    </a:p>
                  </a:txBody>
                  <a:tcPr>
                    <a:solidFill>
                      <a:srgbClr val="EFF1F7"/>
                    </a:solidFill>
                  </a:tcPr>
                </a:tc>
                <a:tc>
                  <a:txBody>
                    <a:bodyPr/>
                    <a:lstStyle/>
                    <a:p>
                      <a:pPr algn="ctr"/>
                      <a:r>
                        <a:rPr sz="1100" b="0">
                          <a:solidFill>
                            <a:srgbClr val="1C2233"/>
                          </a:solidFill>
                          <a:latin typeface="メイリオ"/>
                          <a:ea typeface="メイリオ"/>
                        </a:rPr>
                        <a:t>エニタイムフィットネス</a:t>
                      </a:r>
                    </a:p>
                  </a:txBody>
                  <a:tcPr>
                    <a:solidFill>
                      <a:srgbClr val="EFF1F7"/>
                    </a:solidFill>
                  </a:tcPr>
                </a:tc>
                <a:tc>
                  <a:txBody>
                    <a:bodyPr/>
                    <a:lstStyle/>
                    <a:p>
                      <a:pPr algn="ctr"/>
                      <a:r>
                        <a:rPr sz="1100" b="0" dirty="0" err="1">
                          <a:solidFill>
                            <a:srgbClr val="1C2233"/>
                          </a:solidFill>
                          <a:latin typeface="メイリオ"/>
                          <a:ea typeface="メイリオ"/>
                        </a:rPr>
                        <a:t>公式サイト・WEBマガジン・店舗検索が中心のカタログ構成（実機調査で確認予定</a:t>
                      </a:r>
                      <a:r>
                        <a:rPr sz="1100" b="0" dirty="0">
                          <a:solidFill>
                            <a:srgbClr val="1C2233"/>
                          </a:solidFill>
                          <a:latin typeface="メイリオ"/>
                          <a:ea typeface="メイリオ"/>
                        </a:rPr>
                        <a:t>）</a:t>
                      </a:r>
                    </a:p>
                  </a:txBody>
                  <a:tcPr>
                    <a:solidFill>
                      <a:srgbClr val="EFF1F7"/>
                    </a:solidFill>
                  </a:tcPr>
                </a:tc>
                <a:tc>
                  <a:txBody>
                    <a:bodyPr/>
                    <a:lstStyle/>
                    <a:p>
                      <a:pPr algn="ctr"/>
                      <a:r>
                        <a:rPr sz="1100" b="0" dirty="0">
                          <a:solidFill>
                            <a:srgbClr val="1C2233"/>
                          </a:solidFill>
                          <a:latin typeface="メイリオ"/>
                          <a:ea typeface="メイリオ"/>
                        </a:rPr>
                        <a:t>145万人。規模はあるが友だちになる理由（特典・診断）が薄い</a:t>
                      </a:r>
                    </a:p>
                  </a:txBody>
                  <a:tcPr>
                    <a:solidFill>
                      <a:srgbClr val="EFF1F7"/>
                    </a:solidFill>
                  </a:tcPr>
                </a:tc>
                <a:extLst>
                  <a:ext uri="{0D108BD9-81ED-4DB2-BD59-A6C34878D82A}">
                    <a16:rowId xmlns:a16="http://schemas.microsoft.com/office/drawing/2014/main" val="10004"/>
                  </a:ext>
                </a:extLst>
              </a:tr>
            </a:tbl>
          </a:graphicData>
        </a:graphic>
      </p:graphicFrame>
      <p:sp>
        <p:nvSpPr>
          <p:cNvPr id="5" name="Rectangle 4"/>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5788152"/>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目指すのは</a:t>
            </a:r>
            <a:r>
              <a:rPr sz="1400" b="0" dirty="0">
                <a:solidFill>
                  <a:srgbClr val="1C2233"/>
                </a:solidFill>
                <a:latin typeface="メイリオ"/>
                <a:ea typeface="メイリオ"/>
              </a:rPr>
              <a:t> ①</a:t>
            </a:r>
            <a:r>
              <a:rPr sz="1400" b="0" dirty="0" err="1">
                <a:solidFill>
                  <a:srgbClr val="1C2233"/>
                </a:solidFill>
                <a:latin typeface="メイリオ"/>
                <a:ea typeface="メイリオ"/>
              </a:rPr>
              <a:t>入口</a:t>
            </a:r>
            <a:r>
              <a:rPr sz="1400" b="0" dirty="0">
                <a:solidFill>
                  <a:srgbClr val="1C2233"/>
                </a:solidFill>
                <a:latin typeface="メイリオ"/>
                <a:ea typeface="メイリオ"/>
              </a:rPr>
              <a:t> × ③</a:t>
            </a:r>
            <a:r>
              <a:rPr sz="1400" b="0" dirty="0" err="1">
                <a:solidFill>
                  <a:srgbClr val="1C2233"/>
                </a:solidFill>
                <a:latin typeface="メイリオ"/>
                <a:ea typeface="メイリオ"/>
              </a:rPr>
              <a:t>育成</a:t>
            </a:r>
            <a:r>
              <a:rPr sz="1400" b="0" dirty="0">
                <a:solidFill>
                  <a:srgbClr val="1C2233"/>
                </a:solidFill>
                <a:latin typeface="メイリオ"/>
                <a:ea typeface="メイリオ"/>
              </a:rPr>
              <a:t> × ②</a:t>
            </a:r>
            <a:r>
              <a:rPr sz="1400" b="0" dirty="0" err="1">
                <a:solidFill>
                  <a:srgbClr val="1C2233"/>
                </a:solidFill>
                <a:latin typeface="メイリオ"/>
                <a:ea typeface="メイリオ"/>
              </a:rPr>
              <a:t>継続</a:t>
            </a:r>
            <a:r>
              <a:rPr sz="1400" b="0" dirty="0">
                <a:solidFill>
                  <a:srgbClr val="1C2233"/>
                </a:solidFill>
                <a:latin typeface="メイリオ"/>
                <a:ea typeface="メイリオ"/>
              </a:rPr>
              <a:t> の三点セット。どれか1つだけでは必ず頭打ちになる。</a:t>
            </a:r>
          </a:p>
        </p:txBody>
      </p:sp>
      <p:sp>
        <p:nvSpPr>
          <p:cNvPr id="8" name="TextBox 7"/>
          <p:cNvSpPr txBox="1"/>
          <p:nvPr/>
        </p:nvSpPr>
        <p:spPr>
          <a:xfrm>
            <a:off x="384048" y="6241868"/>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型分類は各社公式アカウントの公開画面に基づく整理。配信実態・増加率は実機調査（8/31）と公式ページ保存版で確定します。出典：page.line.me（2026/8/17実測）。</a:t>
            </a:r>
          </a:p>
        </p:txBody>
      </p:sp>
    </p:spTree>
    <p:extLst>
      <p:ext uri="{BB962C8B-B14F-4D97-AF65-F5344CB8AC3E}">
        <p14:creationId xmlns:p14="http://schemas.microsoft.com/office/powerpoint/2010/main" val="435431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7200"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rPr>
              <a:t>現状分析｜各社のリッチメニュー・あいさつメッセージ</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実機の画面を並べると、型の違いが一目で伝わる。</a:t>
            </a:r>
          </a:p>
        </p:txBody>
      </p:sp>
      <p:sp>
        <p:nvSpPr>
          <p:cNvPr id="4" name="Rounded Rectangle 3"/>
          <p:cNvSpPr/>
          <p:nvPr/>
        </p:nvSpPr>
        <p:spPr>
          <a:xfrm>
            <a:off x="3840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フィットイージー</a:t>
            </a:r>
          </a:p>
        </p:txBody>
      </p:sp>
      <p:sp>
        <p:nvSpPr>
          <p:cNvPr id="5" name="Rectangle 4"/>
          <p:cNvSpPr/>
          <p:nvPr/>
        </p:nvSpPr>
        <p:spPr>
          <a:xfrm>
            <a:off x="384048" y="1609344"/>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6" name="Rounded Rectangle 5"/>
          <p:cNvSpPr/>
          <p:nvPr/>
        </p:nvSpPr>
        <p:spPr>
          <a:xfrm>
            <a:off x="3840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dirty="0">
                <a:solidFill>
                  <a:srgbClr val="1C2233"/>
                </a:solidFill>
                <a:latin typeface="メイリオ"/>
                <a:ea typeface="メイリオ"/>
              </a:rPr>
              <a:t>入口8区画・配信なし</a:t>
            </a:r>
          </a:p>
        </p:txBody>
      </p:sp>
      <p:sp>
        <p:nvSpPr>
          <p:cNvPr id="7" name="Rounded Rectangle 6"/>
          <p:cNvSpPr/>
          <p:nvPr/>
        </p:nvSpPr>
        <p:spPr>
          <a:xfrm>
            <a:off x="22128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ティップネス</a:t>
            </a:r>
          </a:p>
        </p:txBody>
      </p:sp>
      <p:sp>
        <p:nvSpPr>
          <p:cNvPr id="8" name="Rectangle 7"/>
          <p:cNvSpPr/>
          <p:nvPr/>
        </p:nvSpPr>
        <p:spPr>
          <a:xfrm>
            <a:off x="22128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9" name="Rounded Rectangle 8"/>
          <p:cNvSpPr/>
          <p:nvPr/>
        </p:nvSpPr>
        <p:spPr>
          <a:xfrm>
            <a:off x="22128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会員証＋利用規約の許諾</a:t>
            </a:r>
          </a:p>
        </p:txBody>
      </p:sp>
      <p:sp>
        <p:nvSpPr>
          <p:cNvPr id="10" name="Rounded Rectangle 9"/>
          <p:cNvSpPr/>
          <p:nvPr/>
        </p:nvSpPr>
        <p:spPr>
          <a:xfrm>
            <a:off x="40416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ライザップ</a:t>
            </a:r>
          </a:p>
        </p:txBody>
      </p:sp>
      <p:sp>
        <p:nvSpPr>
          <p:cNvPr id="11" name="Rectangle 10"/>
          <p:cNvSpPr/>
          <p:nvPr/>
        </p:nvSpPr>
        <p:spPr>
          <a:xfrm>
            <a:off x="40416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dirty="0" err="1">
                <a:solidFill>
                  <a:srgbClr val="646C82"/>
                </a:solidFill>
                <a:latin typeface="メイリオ"/>
                <a:ea typeface="メイリオ"/>
              </a:rPr>
              <a:t>公式ページ非公開</a:t>
            </a:r>
            <a:endParaRPr sz="1000" b="0" dirty="0">
              <a:solidFill>
                <a:srgbClr val="646C82"/>
              </a:solidFill>
              <a:latin typeface="メイリオ"/>
              <a:ea typeface="メイリオ"/>
            </a:endParaRPr>
          </a:p>
          <a:p>
            <a:pPr algn="ctr">
              <a:spcBef>
                <a:spcPts val="200"/>
              </a:spcBef>
            </a:pPr>
            <a:endParaRPr sz="1000" b="0" dirty="0">
              <a:solidFill>
                <a:srgbClr val="646C82"/>
              </a:solidFill>
              <a:latin typeface="メイリオ"/>
              <a:ea typeface="メイリオ"/>
            </a:endParaRPr>
          </a:p>
          <a:p>
            <a:pPr algn="ctr">
              <a:spcBef>
                <a:spcPts val="200"/>
              </a:spcBef>
            </a:pPr>
            <a:r>
              <a:rPr sz="1000" b="0" dirty="0" err="1">
                <a:solidFill>
                  <a:srgbClr val="646C82"/>
                </a:solidFill>
                <a:latin typeface="メイリオ"/>
                <a:ea typeface="メイリオ"/>
              </a:rPr>
              <a:t>実機トーク・リッチメニューは</a:t>
            </a:r>
            <a:endParaRPr sz="1000" b="0" dirty="0">
              <a:solidFill>
                <a:srgbClr val="646C82"/>
              </a:solidFill>
              <a:latin typeface="メイリオ"/>
              <a:ea typeface="メイリオ"/>
            </a:endParaRPr>
          </a:p>
          <a:p>
            <a:pPr algn="ctr">
              <a:spcBef>
                <a:spcPts val="200"/>
              </a:spcBef>
            </a:pPr>
            <a:r>
              <a:rPr sz="1000" b="0" dirty="0">
                <a:solidFill>
                  <a:srgbClr val="646C82"/>
                </a:solidFill>
                <a:latin typeface="メイリオ"/>
                <a:ea typeface="メイリオ"/>
              </a:rPr>
              <a:t>8/31の実機調査で取得</a:t>
            </a:r>
          </a:p>
        </p:txBody>
      </p:sp>
      <p:sp>
        <p:nvSpPr>
          <p:cNvPr id="12" name="Rounded Rectangle 11"/>
          <p:cNvSpPr/>
          <p:nvPr/>
        </p:nvSpPr>
        <p:spPr>
          <a:xfrm>
            <a:off x="40416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月14通・毎回別クリエイティブ</a:t>
            </a:r>
          </a:p>
        </p:txBody>
      </p:sp>
      <p:sp>
        <p:nvSpPr>
          <p:cNvPr id="13" name="Rounded Rectangle 12"/>
          <p:cNvSpPr/>
          <p:nvPr/>
        </p:nvSpPr>
        <p:spPr>
          <a:xfrm>
            <a:off x="58704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カーブス</a:t>
            </a:r>
          </a:p>
        </p:txBody>
      </p:sp>
      <p:sp>
        <p:nvSpPr>
          <p:cNvPr id="14" name="Rectangle 13"/>
          <p:cNvSpPr/>
          <p:nvPr/>
        </p:nvSpPr>
        <p:spPr>
          <a:xfrm>
            <a:off x="58704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15" name="Rounded Rectangle 14"/>
          <p:cNvSpPr/>
          <p:nvPr/>
        </p:nvSpPr>
        <p:spPr>
          <a:xfrm>
            <a:off x="58704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6通ステップ＋運動診断</a:t>
            </a:r>
          </a:p>
        </p:txBody>
      </p:sp>
      <p:sp>
        <p:nvSpPr>
          <p:cNvPr id="16" name="Rounded Rectangle 15"/>
          <p:cNvSpPr/>
          <p:nvPr/>
        </p:nvSpPr>
        <p:spPr>
          <a:xfrm>
            <a:off x="7699248" y="1234440"/>
            <a:ext cx="1691640" cy="40233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1">
                <a:solidFill>
                  <a:srgbClr val="FFFFFF"/>
                </a:solidFill>
                <a:latin typeface="メイリオ"/>
                <a:ea typeface="メイリオ"/>
              </a:rPr>
              <a:t>エニタイムフィットネス</a:t>
            </a:r>
          </a:p>
        </p:txBody>
      </p:sp>
      <p:sp>
        <p:nvSpPr>
          <p:cNvPr id="17" name="Rectangle 16"/>
          <p:cNvSpPr/>
          <p:nvPr/>
        </p:nvSpPr>
        <p:spPr>
          <a:xfrm>
            <a:off x="7699248" y="1636776"/>
            <a:ext cx="1691640" cy="2788920"/>
          </a:xfrm>
          <a:prstGeom prst="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b"/>
          <a:lstStyle/>
          <a:p>
            <a:pPr algn="ctr"/>
            <a:r>
              <a:rPr sz="1000" b="0">
                <a:solidFill>
                  <a:srgbClr val="646C82"/>
                </a:solidFill>
                <a:latin typeface="メイリオ"/>
                <a:ea typeface="メイリオ"/>
              </a:rPr>
              <a:t>▧ 実機トーク画面 差込予定</a:t>
            </a:r>
          </a:p>
        </p:txBody>
      </p:sp>
      <p:sp>
        <p:nvSpPr>
          <p:cNvPr id="18" name="Rounded Rectangle 17"/>
          <p:cNvSpPr/>
          <p:nvPr/>
        </p:nvSpPr>
        <p:spPr>
          <a:xfrm>
            <a:off x="7699248" y="4480560"/>
            <a:ext cx="1691640" cy="548640"/>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50" b="0">
                <a:solidFill>
                  <a:srgbClr val="1C2233"/>
                </a:solidFill>
                <a:latin typeface="メイリオ"/>
                <a:ea typeface="メイリオ"/>
              </a:rPr>
              <a:t>カタログ型・配信なし</a:t>
            </a:r>
          </a:p>
        </p:txBody>
      </p:sp>
      <p:sp>
        <p:nvSpPr>
          <p:cNvPr id="19" name="Rectangle 18"/>
          <p:cNvSpPr/>
          <p:nvPr/>
        </p:nvSpPr>
        <p:spPr>
          <a:xfrm>
            <a:off x="384048" y="562356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29768" y="562356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5694659"/>
            <a:ext cx="8814816" cy="310896"/>
          </a:xfrm>
          <a:prstGeom prst="rect">
            <a:avLst/>
          </a:prstGeom>
          <a:noFill/>
        </p:spPr>
        <p:txBody>
          <a:bodyPr wrap="square" lIns="0" tIns="0" rIns="0" bIns="0">
            <a:spAutoFit/>
          </a:bodyPr>
          <a:lstStyle/>
          <a:p>
            <a:r>
              <a:rPr sz="1300" b="0" dirty="0">
                <a:solidFill>
                  <a:srgbClr val="1C2233"/>
                </a:solidFill>
                <a:latin typeface="メイリオ"/>
                <a:ea typeface="メイリオ"/>
              </a:rPr>
              <a:t>プロフィール画面（友だち数）は4社実測済み（2026/8/17-18）。</a:t>
            </a:r>
            <a:r>
              <a:rPr sz="1300" b="0" dirty="0" err="1">
                <a:solidFill>
                  <a:srgbClr val="1C2233"/>
                </a:solidFill>
                <a:latin typeface="メイリオ"/>
                <a:ea typeface="メイリオ"/>
              </a:rPr>
              <a:t>ライザップは公式ページ非公開。実機トーク・リッチメニューは調査用アカウントで取得し、社内確認のうえ最終版に反映します</a:t>
            </a:r>
            <a:r>
              <a:rPr sz="1300" b="0" dirty="0">
                <a:solidFill>
                  <a:srgbClr val="1C2233"/>
                </a:solidFill>
                <a:latin typeface="メイリオ"/>
                <a:ea typeface="メイリオ"/>
              </a:rPr>
              <a:t>。</a:t>
            </a:r>
          </a:p>
        </p:txBody>
      </p:sp>
      <p:sp>
        <p:nvSpPr>
          <p:cNvPr id="22" name="TextBox 21"/>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撮影対象：リッチメニュー全体／友だち追加直後のあいさつメッセージ／2週間分の配信トーク画面。</a:t>
            </a:r>
          </a:p>
        </p:txBody>
      </p:sp>
      <p:pic>
        <p:nvPicPr>
          <p:cNvPr id="23" name="Picture 22" descr="pageline_fiteasy_crop.png"/>
          <p:cNvPicPr>
            <a:picLocks noChangeAspect="1"/>
          </p:cNvPicPr>
          <p:nvPr/>
        </p:nvPicPr>
        <p:blipFill>
          <a:blip r:embed="rId2"/>
          <a:stretch>
            <a:fillRect/>
          </a:stretch>
        </p:blipFill>
        <p:spPr>
          <a:xfrm>
            <a:off x="384048" y="1636776"/>
            <a:ext cx="1692000" cy="1833000"/>
          </a:xfrm>
          <a:prstGeom prst="rect">
            <a:avLst/>
          </a:prstGeom>
        </p:spPr>
      </p:pic>
      <p:sp>
        <p:nvSpPr>
          <p:cNvPr id="24" name="TextBox 23"/>
          <p:cNvSpPr txBox="1"/>
          <p:nvPr/>
        </p:nvSpPr>
        <p:spPr>
          <a:xfrm>
            <a:off x="384048" y="3497208"/>
            <a:ext cx="1692000" cy="307777"/>
          </a:xfrm>
          <a:prstGeom prst="rect">
            <a:avLst/>
          </a:prstGeom>
          <a:noFill/>
        </p:spPr>
        <p:txBody>
          <a:bodyPr wrap="square" lIns="18000" tIns="0" rIns="18000" bIns="0">
            <a:spAutoFit/>
          </a:bodyPr>
          <a:lstStyle/>
          <a:p>
            <a:r>
              <a:rPr sz="1000" dirty="0" err="1">
                <a:solidFill>
                  <a:srgbClr val="404040"/>
                </a:solidFill>
                <a:latin typeface="メイリオ"/>
                <a:ea typeface="メイリオ"/>
              </a:rPr>
              <a:t>実測</a:t>
            </a:r>
            <a:r>
              <a:rPr sz="1000" dirty="0">
                <a:solidFill>
                  <a:srgbClr val="404040"/>
                </a:solidFill>
                <a:latin typeface="メイリオ"/>
                <a:ea typeface="メイリオ"/>
              </a:rPr>
              <a:t> 2026/8/17</a:t>
            </a:r>
          </a:p>
          <a:p>
            <a:r>
              <a:rPr sz="1000" dirty="0" err="1">
                <a:solidFill>
                  <a:srgbClr val="404040"/>
                </a:solidFill>
                <a:latin typeface="メイリオ"/>
                <a:ea typeface="メイリオ"/>
              </a:rPr>
              <a:t>友だち</a:t>
            </a:r>
            <a:r>
              <a:rPr sz="1000" dirty="0">
                <a:solidFill>
                  <a:srgbClr val="404040"/>
                </a:solidFill>
                <a:latin typeface="メイリオ"/>
                <a:ea typeface="メイリオ"/>
              </a:rPr>
              <a:t> 802,620人</a:t>
            </a:r>
          </a:p>
        </p:txBody>
      </p:sp>
      <p:pic>
        <p:nvPicPr>
          <p:cNvPr id="25" name="Picture 24" descr="pageline_tipness_crop.png"/>
          <p:cNvPicPr>
            <a:picLocks noChangeAspect="1"/>
          </p:cNvPicPr>
          <p:nvPr/>
        </p:nvPicPr>
        <p:blipFill>
          <a:blip r:embed="rId3"/>
          <a:stretch>
            <a:fillRect/>
          </a:stretch>
        </p:blipFill>
        <p:spPr>
          <a:xfrm>
            <a:off x="2212848" y="1636776"/>
            <a:ext cx="1692000" cy="1833000"/>
          </a:xfrm>
          <a:prstGeom prst="rect">
            <a:avLst/>
          </a:prstGeom>
        </p:spPr>
      </p:pic>
      <p:sp>
        <p:nvSpPr>
          <p:cNvPr id="26" name="TextBox 25"/>
          <p:cNvSpPr txBox="1"/>
          <p:nvPr/>
        </p:nvSpPr>
        <p:spPr>
          <a:xfrm>
            <a:off x="2212668" y="3513502"/>
            <a:ext cx="1692000" cy="307777"/>
          </a:xfrm>
          <a:prstGeom prst="rect">
            <a:avLst/>
          </a:prstGeom>
          <a:noFill/>
        </p:spPr>
        <p:txBody>
          <a:bodyPr wrap="square" lIns="18000" tIns="0" rIns="18000" bIns="0">
            <a:spAutoFit/>
          </a:bodyPr>
          <a:lstStyle/>
          <a:p>
            <a:r>
              <a:rPr sz="1000" dirty="0" err="1">
                <a:solidFill>
                  <a:srgbClr val="404040"/>
                </a:solidFill>
                <a:latin typeface="メイリオ"/>
                <a:ea typeface="メイリオ"/>
              </a:rPr>
              <a:t>実測</a:t>
            </a:r>
            <a:r>
              <a:rPr sz="1000" dirty="0">
                <a:solidFill>
                  <a:srgbClr val="404040"/>
                </a:solidFill>
                <a:latin typeface="メイリオ"/>
                <a:ea typeface="メイリオ"/>
              </a:rPr>
              <a:t> 2026/8/17</a:t>
            </a:r>
          </a:p>
          <a:p>
            <a:r>
              <a:rPr sz="1000" dirty="0" err="1">
                <a:solidFill>
                  <a:srgbClr val="404040"/>
                </a:solidFill>
                <a:latin typeface="メイリオ"/>
                <a:ea typeface="メイリオ"/>
              </a:rPr>
              <a:t>友だち</a:t>
            </a:r>
            <a:r>
              <a:rPr sz="1000" dirty="0">
                <a:solidFill>
                  <a:srgbClr val="404040"/>
                </a:solidFill>
                <a:latin typeface="メイリオ"/>
                <a:ea typeface="メイリオ"/>
              </a:rPr>
              <a:t> 262,502人</a:t>
            </a:r>
          </a:p>
        </p:txBody>
      </p:sp>
      <p:sp>
        <p:nvSpPr>
          <p:cNvPr id="28" name="TextBox 27"/>
          <p:cNvSpPr txBox="1"/>
          <p:nvPr/>
        </p:nvSpPr>
        <p:spPr>
          <a:xfrm>
            <a:off x="5870268" y="3496378"/>
            <a:ext cx="1692000" cy="396000"/>
          </a:xfrm>
          <a:prstGeom prst="rect">
            <a:avLst/>
          </a:prstGeom>
          <a:noFill/>
        </p:spPr>
        <p:txBody>
          <a:bodyPr wrap="square" lIns="18000" tIns="0" rIns="18000" bIns="0">
            <a:spAutoFit/>
          </a:bodyPr>
          <a:lstStyle/>
          <a:p>
            <a:r>
              <a:rPr sz="1000">
                <a:solidFill>
                  <a:srgbClr val="404040"/>
                </a:solidFill>
                <a:latin typeface="メイリオ"/>
                <a:ea typeface="メイリオ"/>
              </a:rPr>
              <a:t>実測 2026/8/18</a:t>
            </a:r>
          </a:p>
          <a:p>
            <a:r>
              <a:rPr sz="1000">
                <a:solidFill>
                  <a:srgbClr val="404040"/>
                </a:solidFill>
                <a:latin typeface="メイリオ"/>
                <a:ea typeface="メイリオ"/>
              </a:rPr>
              <a:t>友だち 5,921,571人</a:t>
            </a:r>
          </a:p>
        </p:txBody>
      </p:sp>
      <p:pic>
        <p:nvPicPr>
          <p:cNvPr id="29" name="Picture 28" descr="pageline_anytime_frame.png"/>
          <p:cNvPicPr>
            <a:picLocks noChangeAspect="1"/>
          </p:cNvPicPr>
          <p:nvPr/>
        </p:nvPicPr>
        <p:blipFill>
          <a:blip r:embed="rId4"/>
          <a:stretch>
            <a:fillRect/>
          </a:stretch>
        </p:blipFill>
        <p:spPr>
          <a:xfrm>
            <a:off x="7699248" y="1636776"/>
            <a:ext cx="1692000" cy="1833000"/>
          </a:xfrm>
          <a:prstGeom prst="rect">
            <a:avLst/>
          </a:prstGeom>
        </p:spPr>
      </p:pic>
      <p:sp>
        <p:nvSpPr>
          <p:cNvPr id="30" name="TextBox 29"/>
          <p:cNvSpPr txBox="1"/>
          <p:nvPr/>
        </p:nvSpPr>
        <p:spPr>
          <a:xfrm>
            <a:off x="7699068" y="3504257"/>
            <a:ext cx="1692000" cy="396000"/>
          </a:xfrm>
          <a:prstGeom prst="rect">
            <a:avLst/>
          </a:prstGeom>
          <a:noFill/>
        </p:spPr>
        <p:txBody>
          <a:bodyPr wrap="square" lIns="18000" tIns="0" rIns="18000" bIns="0">
            <a:spAutoFit/>
          </a:bodyPr>
          <a:lstStyle/>
          <a:p>
            <a:r>
              <a:rPr sz="1000" dirty="0" err="1">
                <a:solidFill>
                  <a:srgbClr val="404040"/>
                </a:solidFill>
                <a:latin typeface="メイリオ"/>
                <a:ea typeface="メイリオ"/>
              </a:rPr>
              <a:t>実測</a:t>
            </a:r>
            <a:r>
              <a:rPr sz="1000" dirty="0">
                <a:solidFill>
                  <a:srgbClr val="404040"/>
                </a:solidFill>
                <a:latin typeface="メイリオ"/>
                <a:ea typeface="メイリオ"/>
              </a:rPr>
              <a:t> 2026/8/18</a:t>
            </a:r>
          </a:p>
          <a:p>
            <a:r>
              <a:rPr sz="1000" dirty="0" err="1">
                <a:solidFill>
                  <a:srgbClr val="404040"/>
                </a:solidFill>
                <a:latin typeface="メイリオ"/>
                <a:ea typeface="メイリオ"/>
              </a:rPr>
              <a:t>友だち</a:t>
            </a:r>
            <a:r>
              <a:rPr sz="1000" dirty="0">
                <a:solidFill>
                  <a:srgbClr val="404040"/>
                </a:solidFill>
                <a:latin typeface="メイリオ"/>
                <a:ea typeface="メイリオ"/>
              </a:rPr>
              <a:t> 1,453,414人</a:t>
            </a:r>
          </a:p>
        </p:txBody>
      </p:sp>
      <p:pic>
        <p:nvPicPr>
          <p:cNvPr id="31" name="Picture 30" descr="pageline_curves_frame.png"/>
          <p:cNvPicPr>
            <a:picLocks noChangeAspect="1"/>
          </p:cNvPicPr>
          <p:nvPr/>
        </p:nvPicPr>
        <p:blipFill>
          <a:blip r:embed="rId5"/>
          <a:stretch>
            <a:fillRect/>
          </a:stretch>
        </p:blipFill>
        <p:spPr>
          <a:xfrm>
            <a:off x="5870448" y="1636776"/>
            <a:ext cx="1692000" cy="1833000"/>
          </a:xfrm>
          <a:prstGeom prst="rect">
            <a:avLst/>
          </a:prstGeom>
        </p:spPr>
      </p:pic>
    </p:spTree>
    <p:extLst>
      <p:ext uri="{BB962C8B-B14F-4D97-AF65-F5344CB8AC3E}">
        <p14:creationId xmlns:p14="http://schemas.microsoft.com/office/powerpoint/2010/main" val="153212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5" name="TextBox 4"/>
          <p:cNvSpPr txBox="1"/>
          <p:nvPr/>
        </p:nvSpPr>
        <p:spPr>
          <a:xfrm>
            <a:off x="432000" y="648000"/>
            <a:ext cx="9036000" cy="684000"/>
          </a:xfrm>
          <a:prstGeom prst="rect">
            <a:avLst/>
          </a:prstGeom>
          <a:noFill/>
        </p:spPr>
        <p:txBody>
          <a:bodyPr wrap="square" lIns="50400" tIns="18000" rIns="50400" bIns="18000" anchor="t">
            <a:spAutoFit/>
          </a:bodyPr>
          <a:lstStyle/>
          <a:p>
            <a:pPr algn="l">
              <a:lnSpc>
                <a:spcPct val="135000"/>
              </a:lnSpc>
            </a:pPr>
            <a:r>
              <a:rPr sz="1400">
                <a:solidFill>
                  <a:srgbClr val="333333"/>
                </a:solidFill>
                <a:latin typeface="メイリオ"/>
                <a:ea typeface="メイリオ"/>
                <a:cs typeface="メイリオ"/>
              </a:rPr>
              <a:t>ここからは「何を、いつ、どう配信するか」の具体。</a:t>
            </a:r>
          </a:p>
          <a:p>
            <a:pPr algn="l">
              <a:lnSpc>
                <a:spcPct val="135000"/>
              </a:lnSpc>
            </a:pPr>
            <a:r>
              <a:rPr sz="1400">
                <a:solidFill>
                  <a:srgbClr val="333333"/>
                </a:solidFill>
                <a:latin typeface="メイリオ"/>
                <a:ea typeface="メイリオ"/>
                <a:cs typeface="メイリオ"/>
              </a:rPr>
              <a:t>CVは 体験予約（CV①）→ 来店（CV②）→ 継続（CV③）の3段。</a:t>
            </a:r>
          </a:p>
        </p:txBody>
      </p:sp>
      <p:sp>
        <p:nvSpPr>
          <p:cNvPr id="7" name="Rounded Rectangle 6"/>
          <p:cNvSpPr/>
          <p:nvPr/>
        </p:nvSpPr>
        <p:spPr>
          <a:xfrm>
            <a:off x="432000" y="1548000"/>
            <a:ext cx="9043200" cy="917999"/>
          </a:xfrm>
          <a:prstGeom prst="roundRect">
            <a:avLst/>
          </a:prstGeom>
          <a:solidFill>
            <a:srgbClr val="EEF2F9"/>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57999" y="1673999"/>
            <a:ext cx="666000" cy="66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6</a:t>
            </a:r>
          </a:p>
        </p:txBody>
      </p:sp>
      <p:sp>
        <p:nvSpPr>
          <p:cNvPr id="9" name="TextBox 8"/>
          <p:cNvSpPr txBox="1"/>
          <p:nvPr/>
        </p:nvSpPr>
        <p:spPr>
          <a:xfrm>
            <a:off x="1350000" y="1692000"/>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配信設計</a:t>
            </a:r>
          </a:p>
        </p:txBody>
      </p:sp>
      <p:sp>
        <p:nvSpPr>
          <p:cNvPr id="10" name="TextBox 9"/>
          <p:cNvSpPr txBox="1"/>
          <p:nvPr/>
        </p:nvSpPr>
        <p:spPr>
          <a:xfrm>
            <a:off x="1350000" y="2034000"/>
            <a:ext cx="2700000" cy="288000"/>
          </a:xfrm>
          <a:prstGeom prst="rect">
            <a:avLst/>
          </a:prstGeom>
          <a:noFill/>
        </p:spPr>
        <p:txBody>
          <a:bodyPr wrap="square" lIns="50400" tIns="18000" rIns="50400" bIns="18000" anchor="ctr">
            <a:spAutoFit/>
          </a:bodyPr>
          <a:lstStyle/>
          <a:p>
            <a:pPr algn="l"/>
            <a:r>
              <a:rPr sz="1300">
                <a:solidFill>
                  <a:srgbClr val="888888"/>
                </a:solidFill>
                <a:latin typeface="メイリオ"/>
                <a:ea typeface="メイリオ"/>
                <a:cs typeface="メイリオ"/>
              </a:rPr>
              <a:t>S27-35</a:t>
            </a:r>
          </a:p>
        </p:txBody>
      </p:sp>
      <p:sp>
        <p:nvSpPr>
          <p:cNvPr id="11" name="TextBox 10"/>
          <p:cNvSpPr txBox="1"/>
          <p:nvPr/>
        </p:nvSpPr>
        <p:spPr>
          <a:xfrm>
            <a:off x="4212000" y="1745999"/>
            <a:ext cx="5011200" cy="521999"/>
          </a:xfrm>
          <a:prstGeom prst="rect">
            <a:avLst/>
          </a:prstGeom>
          <a:noFill/>
        </p:spPr>
        <p:txBody>
          <a:bodyPr wrap="square" lIns="50400" tIns="18000" rIns="50400" bIns="18000" anchor="ctr">
            <a:spAutoFit/>
          </a:bodyPr>
          <a:lstStyle/>
          <a:p>
            <a:pPr algn="l">
              <a:lnSpc>
                <a:spcPct val="135000"/>
              </a:lnSpc>
            </a:pPr>
            <a:r>
              <a:rPr sz="1400">
                <a:solidFill>
                  <a:srgbClr val="333333"/>
                </a:solidFill>
                <a:latin typeface="メイリオ"/>
                <a:ea typeface="メイリオ"/>
                <a:cs typeface="メイリオ"/>
              </a:rPr>
              <a:t>ステップ配信・企画・通知メッセージ・改善モデル①〜④</a:t>
            </a:r>
          </a:p>
        </p:txBody>
      </p:sp>
      <p:sp>
        <p:nvSpPr>
          <p:cNvPr id="12" name="Rounded Rectangle 11"/>
          <p:cNvSpPr/>
          <p:nvPr/>
        </p:nvSpPr>
        <p:spPr>
          <a:xfrm>
            <a:off x="432000" y="2591999"/>
            <a:ext cx="9043200" cy="917999"/>
          </a:xfrm>
          <a:prstGeom prst="roundRect">
            <a:avLst/>
          </a:prstGeom>
          <a:solidFill>
            <a:srgbClr val="FFFFFF"/>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57999" y="2717999"/>
            <a:ext cx="666000" cy="66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7</a:t>
            </a:r>
          </a:p>
        </p:txBody>
      </p:sp>
      <p:sp>
        <p:nvSpPr>
          <p:cNvPr id="14" name="TextBox 13"/>
          <p:cNvSpPr txBox="1"/>
          <p:nvPr/>
        </p:nvSpPr>
        <p:spPr>
          <a:xfrm>
            <a:off x="1350000" y="2736000"/>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具体施策</a:t>
            </a:r>
          </a:p>
        </p:txBody>
      </p:sp>
      <p:sp>
        <p:nvSpPr>
          <p:cNvPr id="15" name="TextBox 14"/>
          <p:cNvSpPr txBox="1"/>
          <p:nvPr/>
        </p:nvSpPr>
        <p:spPr>
          <a:xfrm>
            <a:off x="1350000" y="3077999"/>
            <a:ext cx="2700000" cy="288000"/>
          </a:xfrm>
          <a:prstGeom prst="rect">
            <a:avLst/>
          </a:prstGeom>
          <a:noFill/>
        </p:spPr>
        <p:txBody>
          <a:bodyPr wrap="square" lIns="50400" tIns="18000" rIns="50400" bIns="18000" anchor="ctr">
            <a:spAutoFit/>
          </a:bodyPr>
          <a:lstStyle/>
          <a:p>
            <a:pPr algn="l"/>
            <a:r>
              <a:rPr sz="1300">
                <a:solidFill>
                  <a:srgbClr val="888888"/>
                </a:solidFill>
                <a:latin typeface="メイリオ"/>
                <a:ea typeface="メイリオ"/>
                <a:cs typeface="メイリオ"/>
              </a:rPr>
              <a:t>S36</a:t>
            </a:r>
          </a:p>
        </p:txBody>
      </p:sp>
      <p:sp>
        <p:nvSpPr>
          <p:cNvPr id="16" name="TextBox 15"/>
          <p:cNvSpPr txBox="1"/>
          <p:nvPr/>
        </p:nvSpPr>
        <p:spPr>
          <a:xfrm>
            <a:off x="4212000" y="2789999"/>
            <a:ext cx="5011200" cy="521999"/>
          </a:xfrm>
          <a:prstGeom prst="rect">
            <a:avLst/>
          </a:prstGeom>
          <a:noFill/>
        </p:spPr>
        <p:txBody>
          <a:bodyPr wrap="square" lIns="50400" tIns="18000" rIns="50400" bIns="18000" anchor="ctr">
            <a:spAutoFit/>
          </a:bodyPr>
          <a:lstStyle/>
          <a:p>
            <a:pPr algn="l">
              <a:lnSpc>
                <a:spcPct val="135000"/>
              </a:lnSpc>
            </a:pPr>
            <a:r>
              <a:rPr sz="1400">
                <a:solidFill>
                  <a:srgbClr val="333333"/>
                </a:solidFill>
                <a:latin typeface="メイリオ"/>
                <a:ea typeface="メイリオ"/>
                <a:cs typeface="メイリオ"/>
              </a:rPr>
              <a:t>18の施策をジャーニー上に配置</a:t>
            </a:r>
          </a:p>
        </p:txBody>
      </p:sp>
      <p:sp>
        <p:nvSpPr>
          <p:cNvPr id="17" name="Rounded Rectangle 16"/>
          <p:cNvSpPr/>
          <p:nvPr/>
        </p:nvSpPr>
        <p:spPr>
          <a:xfrm>
            <a:off x="432000" y="3636000"/>
            <a:ext cx="9043200" cy="917999"/>
          </a:xfrm>
          <a:prstGeom prst="roundRect">
            <a:avLst/>
          </a:prstGeom>
          <a:solidFill>
            <a:srgbClr val="EEF2F9"/>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7999" y="3761999"/>
            <a:ext cx="666000" cy="666000"/>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8</a:t>
            </a:r>
          </a:p>
        </p:txBody>
      </p:sp>
      <p:sp>
        <p:nvSpPr>
          <p:cNvPr id="19" name="TextBox 18"/>
          <p:cNvSpPr txBox="1"/>
          <p:nvPr/>
        </p:nvSpPr>
        <p:spPr>
          <a:xfrm>
            <a:off x="1350000" y="3780000"/>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成果とプラン</a:t>
            </a:r>
          </a:p>
        </p:txBody>
      </p:sp>
      <p:sp>
        <p:nvSpPr>
          <p:cNvPr id="20" name="TextBox 19"/>
          <p:cNvSpPr txBox="1"/>
          <p:nvPr/>
        </p:nvSpPr>
        <p:spPr>
          <a:xfrm>
            <a:off x="1350000" y="4121999"/>
            <a:ext cx="2700000" cy="288000"/>
          </a:xfrm>
          <a:prstGeom prst="rect">
            <a:avLst/>
          </a:prstGeom>
          <a:noFill/>
        </p:spPr>
        <p:txBody>
          <a:bodyPr wrap="square" lIns="50400" tIns="18000" rIns="50400" bIns="18000" anchor="ctr">
            <a:spAutoFit/>
          </a:bodyPr>
          <a:lstStyle/>
          <a:p>
            <a:pPr algn="l"/>
            <a:r>
              <a:rPr sz="1300">
                <a:solidFill>
                  <a:srgbClr val="888888"/>
                </a:solidFill>
                <a:latin typeface="メイリオ"/>
                <a:ea typeface="メイリオ"/>
                <a:cs typeface="メイリオ"/>
              </a:rPr>
              <a:t>S41-42</a:t>
            </a:r>
          </a:p>
        </p:txBody>
      </p:sp>
      <p:sp>
        <p:nvSpPr>
          <p:cNvPr id="21" name="TextBox 20"/>
          <p:cNvSpPr txBox="1"/>
          <p:nvPr/>
        </p:nvSpPr>
        <p:spPr>
          <a:xfrm>
            <a:off x="4212000" y="3834000"/>
            <a:ext cx="5011200" cy="521999"/>
          </a:xfrm>
          <a:prstGeom prst="rect">
            <a:avLst/>
          </a:prstGeom>
          <a:noFill/>
        </p:spPr>
        <p:txBody>
          <a:bodyPr wrap="square" lIns="50400" tIns="18000" rIns="50400" bIns="18000" anchor="ctr">
            <a:spAutoFit/>
          </a:bodyPr>
          <a:lstStyle/>
          <a:p>
            <a:pPr algn="l">
              <a:lnSpc>
                <a:spcPct val="135000"/>
              </a:lnSpc>
            </a:pPr>
            <a:r>
              <a:rPr sz="1400">
                <a:solidFill>
                  <a:srgbClr val="333333"/>
                </a:solidFill>
                <a:latin typeface="メイリオ"/>
                <a:ea typeface="メイリオ"/>
                <a:cs typeface="メイリオ"/>
              </a:rPr>
              <a:t>導入成果シミュレーション・ご提供プラン</a:t>
            </a:r>
          </a:p>
        </p:txBody>
      </p:sp>
      <p:sp>
        <p:nvSpPr>
          <p:cNvPr id="22" name="Rounded Rectangle 21"/>
          <p:cNvSpPr/>
          <p:nvPr/>
        </p:nvSpPr>
        <p:spPr>
          <a:xfrm>
            <a:off x="432000" y="4680000"/>
            <a:ext cx="9043200" cy="917999"/>
          </a:xfrm>
          <a:prstGeom prst="roundRect">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57999" y="4806000"/>
            <a:ext cx="666000" cy="666000"/>
          </a:xfrm>
          <a:prstGeom prst="round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18000" rIns="50400" bIns="18000" rtlCol="0" anchor="ctr"/>
          <a:lstStyle/>
          <a:p>
            <a:pPr algn="ctr"/>
            <a:r>
              <a:rPr sz="2600" b="1">
                <a:solidFill>
                  <a:srgbClr val="FFFFFF"/>
                </a:solidFill>
                <a:latin typeface="メイリオ"/>
                <a:ea typeface="メイリオ"/>
                <a:cs typeface="メイリオ"/>
              </a:rPr>
              <a:t>9</a:t>
            </a:r>
          </a:p>
        </p:txBody>
      </p:sp>
      <p:sp>
        <p:nvSpPr>
          <p:cNvPr id="24" name="TextBox 23"/>
          <p:cNvSpPr txBox="1"/>
          <p:nvPr/>
        </p:nvSpPr>
        <p:spPr>
          <a:xfrm>
            <a:off x="1350000" y="4824000"/>
            <a:ext cx="2700000" cy="342000"/>
          </a:xfrm>
          <a:prstGeom prst="rect">
            <a:avLst/>
          </a:prstGeom>
          <a:noFill/>
        </p:spPr>
        <p:txBody>
          <a:bodyPr wrap="square" lIns="50400" tIns="18000" rIns="50400" bIns="18000" anchor="ctr">
            <a:spAutoFit/>
          </a:bodyPr>
          <a:lstStyle/>
          <a:p>
            <a:pPr algn="l"/>
            <a:r>
              <a:rPr sz="1800" b="1">
                <a:solidFill>
                  <a:srgbClr val="002060"/>
                </a:solidFill>
                <a:latin typeface="メイリオ"/>
                <a:ea typeface="メイリオ"/>
                <a:cs typeface="メイリオ"/>
              </a:rPr>
              <a:t>締め</a:t>
            </a:r>
          </a:p>
        </p:txBody>
      </p:sp>
      <p:sp>
        <p:nvSpPr>
          <p:cNvPr id="25" name="TextBox 24"/>
          <p:cNvSpPr txBox="1"/>
          <p:nvPr/>
        </p:nvSpPr>
        <p:spPr>
          <a:xfrm>
            <a:off x="1350000" y="5166000"/>
            <a:ext cx="2700000" cy="288000"/>
          </a:xfrm>
          <a:prstGeom prst="rect">
            <a:avLst/>
          </a:prstGeom>
          <a:noFill/>
        </p:spPr>
        <p:txBody>
          <a:bodyPr wrap="square" lIns="50400" tIns="18000" rIns="50400" bIns="18000" anchor="ctr">
            <a:spAutoFit/>
          </a:bodyPr>
          <a:lstStyle/>
          <a:p>
            <a:pPr algn="l"/>
            <a:r>
              <a:rPr sz="1300">
                <a:solidFill>
                  <a:srgbClr val="888888"/>
                </a:solidFill>
                <a:latin typeface="メイリオ"/>
                <a:ea typeface="メイリオ"/>
                <a:cs typeface="メイリオ"/>
              </a:rPr>
              <a:t>S43</a:t>
            </a:r>
          </a:p>
        </p:txBody>
      </p:sp>
      <p:sp>
        <p:nvSpPr>
          <p:cNvPr id="26" name="TextBox 25"/>
          <p:cNvSpPr txBox="1"/>
          <p:nvPr/>
        </p:nvSpPr>
        <p:spPr>
          <a:xfrm>
            <a:off x="4212000" y="4878000"/>
            <a:ext cx="5011200" cy="521999"/>
          </a:xfrm>
          <a:prstGeom prst="rect">
            <a:avLst/>
          </a:prstGeom>
          <a:noFill/>
        </p:spPr>
        <p:txBody>
          <a:bodyPr wrap="square" lIns="50400" tIns="18000" rIns="50400" bIns="18000" anchor="ctr">
            <a:spAutoFit/>
          </a:bodyPr>
          <a:lstStyle/>
          <a:p>
            <a:pPr algn="l">
              <a:lnSpc>
                <a:spcPct val="135000"/>
              </a:lnSpc>
            </a:pPr>
            <a:r>
              <a:rPr sz="1400">
                <a:solidFill>
                  <a:srgbClr val="333333"/>
                </a:solidFill>
                <a:latin typeface="メイリオ"/>
                <a:ea typeface="メイリオ"/>
                <a:cs typeface="メイリオ"/>
              </a:rPr>
              <a:t>貴社の明るい未来</a:t>
            </a:r>
          </a:p>
        </p:txBody>
      </p:sp>
      <p:sp>
        <p:nvSpPr>
          <p:cNvPr id="27" name="TextBox 26"/>
          <p:cNvSpPr txBox="1"/>
          <p:nvPr/>
        </p:nvSpPr>
        <p:spPr>
          <a:xfrm>
            <a:off x="432000" y="6246000"/>
            <a:ext cx="9043200" cy="324000"/>
          </a:xfrm>
          <a:prstGeom prst="rect">
            <a:avLst/>
          </a:prstGeom>
          <a:noFill/>
        </p:spPr>
        <p:txBody>
          <a:bodyPr wrap="square" lIns="50400" tIns="18000" rIns="50400" bIns="18000" anchor="t">
            <a:spAutoFit/>
          </a:bodyPr>
          <a:lstStyle/>
          <a:p>
            <a:pPr algn="l">
              <a:lnSpc>
                <a:spcPct val="120000"/>
              </a:lnSpc>
            </a:pPr>
            <a:r>
              <a:rPr sz="800">
                <a:solidFill>
                  <a:srgbClr val="888888"/>
                </a:solidFill>
                <a:latin typeface="メイリオ"/>
                <a:ea typeface="メイリオ"/>
                <a:cs typeface="メイリオ"/>
              </a:rPr>
              <a:t>※CV①＝体験予約／CV②＝来店／CV③＝継続</a:t>
            </a:r>
          </a:p>
        </p:txBody>
      </p:sp>
      <p:cxnSp>
        <p:nvCxnSpPr>
          <p:cNvPr id="2" name="Connector 3">
            <a:extLst>
              <a:ext uri="{FF2B5EF4-FFF2-40B4-BE49-F238E27FC236}">
                <a16:creationId xmlns:a16="http://schemas.microsoft.com/office/drawing/2014/main" id="{7C3BC30A-8552-D88E-3039-96FC3CB6B79E}"/>
              </a:ext>
            </a:extLst>
          </p:cNvPr>
          <p:cNvCxnSpPr/>
          <p:nvPr/>
        </p:nvCxnSpPr>
        <p:spPr>
          <a:xfrm>
            <a:off x="0" y="1398309"/>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64786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全体設計｜カスタマージャーニー8フェーズ</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具体的な業界におけるリード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有効リード</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マネタイズ については下記にて仮定</a:t>
            </a:r>
            <a:r>
              <a:rPr lang="ja-JP" altLang="en-US" sz="1600" b="1" dirty="0">
                <a:latin typeface="メイリオ" panose="020B0604030504040204" pitchFamily="50" charset="-128"/>
                <a:ea typeface="メイリオ" panose="020B0604030504040204" pitchFamily="50" charset="-128"/>
                <a:cs typeface="Meiryo"/>
                <a:sym typeface="Meiryo"/>
              </a:rPr>
              <a:t>。</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オフライン→</a:t>
            </a: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Meiryo"/>
                <a:sym typeface="Meiryo"/>
              </a:rPr>
              <a:t>CPF</a:t>
            </a:r>
            <a:r>
              <a:rPr lang="ja-JP" altLang="en-US" sz="1000" b="1" dirty="0">
                <a:latin typeface="メイリオ" panose="020B0604030504040204" pitchFamily="50" charset="-128"/>
                <a:ea typeface="メイリオ" panose="020B0604030504040204" pitchFamily="50" charset="-128"/>
                <a:cs typeface="Meiryo"/>
                <a:sym typeface="Meiryo"/>
              </a:rPr>
              <a:t>広告</a:t>
            </a:r>
            <a:endParaRPr lang="ja-JP" altLang="en-US" sz="1000" b="1" dirty="0"/>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1000" b="1" dirty="0">
              <a:latin typeface="メイリオ" panose="020B0604030504040204" pitchFamily="50" charset="-128"/>
              <a:ea typeface="メイリオ" panose="020B0604030504040204" pitchFamily="50" charset="-128"/>
              <a:cs typeface="Meiryo"/>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通知メッセージ</a:t>
            </a:r>
            <a:endParaRPr lang="ja-JP" altLang="en-US" sz="1000" b="1" dirty="0"/>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サンクス</a:t>
            </a:r>
            <a:r>
              <a:rPr lang="en-US" altLang="ja-JP" sz="1000" b="1" dirty="0">
                <a:latin typeface="メイリオ" panose="020B0604030504040204" pitchFamily="50" charset="-128"/>
                <a:ea typeface="メイリオ" panose="020B0604030504040204" pitchFamily="50" charset="-128"/>
                <a:cs typeface="Meiryo"/>
                <a:sym typeface="Meiryo"/>
              </a:rPr>
              <a:t>LINE</a:t>
            </a:r>
            <a:r>
              <a:rPr lang="ja-JP" altLang="en-US" sz="1000" b="1" dirty="0">
                <a:latin typeface="メイリオ" panose="020B0604030504040204" pitchFamily="50" charset="-128"/>
                <a:ea typeface="メイリオ" panose="020B0604030504040204" pitchFamily="50" charset="-128"/>
                <a:cs typeface="Meiryo"/>
                <a:sym typeface="Meiryo"/>
              </a:rPr>
              <a:t>誘導</a:t>
            </a:r>
            <a:endParaRPr lang="ja-JP" altLang="en-US" sz="1000" b="1" dirty="0"/>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1000" b="1" dirty="0">
              <a:solidFill>
                <a:schemeClr val="tx1">
                  <a:lumMod val="50000"/>
                  <a:lumOff val="50000"/>
                </a:schemeClr>
              </a:solidFill>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1000" b="1" dirty="0">
              <a:solidFill>
                <a:schemeClr val="tx1">
                  <a:lumMod val="50000"/>
                  <a:lumOff val="50000"/>
                </a:schemeClr>
              </a:solidFill>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ステップ配信</a:t>
            </a:r>
            <a:endParaRPr lang="ja-JP" altLang="en-US" sz="1000" b="1" dirty="0"/>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企画配信</a:t>
            </a:r>
            <a:endParaRPr lang="ja-JP" altLang="en-US" sz="1000" b="1" dirty="0"/>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アンケート回収</a:t>
            </a:r>
            <a:endParaRPr lang="ja-JP" altLang="en-US" sz="1000" b="1" dirty="0"/>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Meiryo"/>
                <a:sym typeface="Meiryo"/>
              </a:rPr>
              <a:t>スコアリング等</a:t>
            </a:r>
            <a:endParaRPr lang="ja-JP" altLang="en-US" sz="1000" b="1" dirty="0"/>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1000" b="1" dirty="0">
              <a:solidFill>
                <a:schemeClr val="tx1">
                  <a:lumMod val="50000"/>
                  <a:lumOff val="50000"/>
                </a:schemeClr>
              </a:solidFill>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1000" b="1" dirty="0">
              <a:solidFill>
                <a:schemeClr val="tx1">
                  <a:lumMod val="50000"/>
                  <a:lumOff val="50000"/>
                </a:schemeClr>
              </a:solidFill>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676230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6673A-9013-9BC2-61FD-9A9839050AB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71EE9A-D0AE-5095-DE93-A92C03C21A4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全体設計｜ジム・フィットネスの8フェーズ</a:t>
            </a:r>
          </a:p>
        </p:txBody>
      </p:sp>
      <p:sp>
        <p:nvSpPr>
          <p:cNvPr id="9" name="正方形/長方形 8">
            <a:extLst>
              <a:ext uri="{FF2B5EF4-FFF2-40B4-BE49-F238E27FC236}">
                <a16:creationId xmlns:a16="http://schemas.microsoft.com/office/drawing/2014/main" id="{B8DDD632-F5E1-35AD-0F8F-0079C4BE2BD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904F8023-0A36-6BE3-62EE-D51070498B24}"/>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カスタマージャーニーマップにあわせて</a:t>
            </a:r>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投稿を配置。</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solidFill>
                  <a:srgbClr val="FF0000"/>
                </a:solidFill>
                <a:latin typeface="メイリオ"/>
                <a:ea typeface="メイリオ"/>
                <a:cs typeface="Meiryo"/>
                <a:sym typeface="Meiryo"/>
              </a:rPr>
              <a:t>一般的な</a:t>
            </a:r>
            <a:r>
              <a:rPr lang="en-US" altLang="ja-JP" sz="1600" b="1" dirty="0">
                <a:solidFill>
                  <a:srgbClr val="FF0000"/>
                </a:solidFill>
                <a:latin typeface="メイリオ"/>
                <a:ea typeface="メイリオ"/>
                <a:cs typeface="Meiryo"/>
                <a:sym typeface="Meiryo"/>
              </a:rPr>
              <a:t>8</a:t>
            </a:r>
            <a:r>
              <a:rPr lang="ja-JP" altLang="en-US" sz="1600" b="1" dirty="0">
                <a:solidFill>
                  <a:srgbClr val="FF0000"/>
                </a:solidFill>
                <a:latin typeface="メイリオ"/>
                <a:ea typeface="メイリオ"/>
                <a:cs typeface="Meiryo"/>
                <a:sym typeface="Meiryo"/>
              </a:rPr>
              <a:t>フェーズを、ジム・フィットネス業界に置き換えます。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5" name="正方形/長方形 34">
            <a:extLst>
              <a:ext uri="{FF2B5EF4-FFF2-40B4-BE49-F238E27FC236}">
                <a16:creationId xmlns:a16="http://schemas.microsoft.com/office/drawing/2014/main" id="{39216026-B745-2CB7-2300-596DBF29255E}"/>
              </a:ext>
            </a:extLst>
          </p:cNvPr>
          <p:cNvSpPr/>
          <p:nvPr/>
        </p:nvSpPr>
        <p:spPr>
          <a:xfrm>
            <a:off x="334302" y="3490277"/>
            <a:ext cx="9425943" cy="196342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5" name="直線コネクタ 44">
            <a:extLst>
              <a:ext uri="{FF2B5EF4-FFF2-40B4-BE49-F238E27FC236}">
                <a16:creationId xmlns:a16="http://schemas.microsoft.com/office/drawing/2014/main" id="{C4F647CC-1C37-666A-4F18-40C733C21920}"/>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1EB69D6F-91F5-BD58-0BEA-AAD8176883F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E98E184-2577-3AAE-D2B8-72B4FDAC37BE}"/>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3FF32B18-EF78-43E6-F85B-06022F6E0B76}"/>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972D4A84-F812-745D-8012-250B4552B997}"/>
              </a:ext>
            </a:extLst>
          </p:cNvPr>
          <p:cNvCxnSpPr>
            <a:cxnSpLocks/>
          </p:cNvCxnSpPr>
          <p:nvPr/>
        </p:nvCxnSpPr>
        <p:spPr>
          <a:xfrm>
            <a:off x="3541980" y="2217939"/>
            <a:ext cx="0" cy="3657614"/>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844AC577-5EFA-CB60-B4CF-22AC71B2AE31}"/>
              </a:ext>
            </a:extLst>
          </p:cNvPr>
          <p:cNvCxnSpPr>
            <a:cxnSpLocks/>
          </p:cNvCxnSpPr>
          <p:nvPr/>
        </p:nvCxnSpPr>
        <p:spPr>
          <a:xfrm flipH="1">
            <a:off x="4830459" y="2229802"/>
            <a:ext cx="3322" cy="364575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2F10844F-FFBB-F47D-A888-4E74272E000D}"/>
              </a:ext>
            </a:extLst>
          </p:cNvPr>
          <p:cNvCxnSpPr>
            <a:cxnSpLocks/>
          </p:cNvCxnSpPr>
          <p:nvPr/>
        </p:nvCxnSpPr>
        <p:spPr>
          <a:xfrm>
            <a:off x="6125582" y="2227160"/>
            <a:ext cx="0" cy="3648393"/>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7A83D6DE-2FDB-43D7-254C-963478133303}"/>
              </a:ext>
            </a:extLst>
          </p:cNvPr>
          <p:cNvCxnSpPr>
            <a:cxnSpLocks/>
          </p:cNvCxnSpPr>
          <p:nvPr/>
        </p:nvCxnSpPr>
        <p:spPr>
          <a:xfrm>
            <a:off x="7417384" y="2217938"/>
            <a:ext cx="0" cy="3657615"/>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51F88B17-D24B-2FBF-DD4F-ACEDA2F1108B}"/>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13CCD889-9CB5-A25E-FF4C-285CF082C6EB}"/>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752D241B-7DDC-C05A-C891-858C99F0C81E}"/>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093F3B9E-1884-4283-7D47-92DF224DA02A}"/>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4B719D4F-60B6-01FD-6088-ACFD3B9EC8DD}"/>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58" name="テキスト ボックス 57">
            <a:extLst>
              <a:ext uri="{FF2B5EF4-FFF2-40B4-BE49-F238E27FC236}">
                <a16:creationId xmlns:a16="http://schemas.microsoft.com/office/drawing/2014/main" id="{71407A20-3836-331E-F2F0-E75DDCF73BA0}"/>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60" name="テキスト ボックス 59">
            <a:extLst>
              <a:ext uri="{FF2B5EF4-FFF2-40B4-BE49-F238E27FC236}">
                <a16:creationId xmlns:a16="http://schemas.microsoft.com/office/drawing/2014/main" id="{F491CCB4-D02F-C3F5-CFB9-18B13F066C52}"/>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62" name="テキスト ボックス 61">
            <a:extLst>
              <a:ext uri="{FF2B5EF4-FFF2-40B4-BE49-F238E27FC236}">
                <a16:creationId xmlns:a16="http://schemas.microsoft.com/office/drawing/2014/main" id="{B68B9CA1-0E61-C60C-128F-E80096EDD924}"/>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64" name="コネクタ: カギ線 63">
            <a:extLst>
              <a:ext uri="{FF2B5EF4-FFF2-40B4-BE49-F238E27FC236}">
                <a16:creationId xmlns:a16="http://schemas.microsoft.com/office/drawing/2014/main" id="{56D3FA3C-F4ED-9DF1-7620-D677AB1A2177}"/>
              </a:ext>
            </a:extLst>
          </p:cNvPr>
          <p:cNvCxnSpPr>
            <a:cxnSpLocks/>
            <a:stCxn id="62" idx="0"/>
            <a:endCxn id="53"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44C83840-BFD9-E321-B4A5-19CD2533BF03}"/>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7" name="直線矢印コネクタ 66">
            <a:extLst>
              <a:ext uri="{FF2B5EF4-FFF2-40B4-BE49-F238E27FC236}">
                <a16:creationId xmlns:a16="http://schemas.microsoft.com/office/drawing/2014/main" id="{A1D5B73B-C438-03CD-3074-9F6465469319}"/>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221EB000-BCEE-D984-49E6-5421F03CC7D6}"/>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70" name="テキスト ボックス 69">
            <a:extLst>
              <a:ext uri="{FF2B5EF4-FFF2-40B4-BE49-F238E27FC236}">
                <a16:creationId xmlns:a16="http://schemas.microsoft.com/office/drawing/2014/main" id="{BF3977E5-B33C-C6FC-10BA-8F52ECFB03CA}"/>
              </a:ext>
            </a:extLst>
          </p:cNvPr>
          <p:cNvSpPr txBox="1"/>
          <p:nvPr/>
        </p:nvSpPr>
        <p:spPr>
          <a:xfrm>
            <a:off x="3541822" y="4078050"/>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2" name="テキスト ボックス 71">
            <a:extLst>
              <a:ext uri="{FF2B5EF4-FFF2-40B4-BE49-F238E27FC236}">
                <a16:creationId xmlns:a16="http://schemas.microsoft.com/office/drawing/2014/main" id="{D6206F79-4BB4-7551-FF37-4057DB323042}"/>
              </a:ext>
            </a:extLst>
          </p:cNvPr>
          <p:cNvSpPr txBox="1"/>
          <p:nvPr/>
        </p:nvSpPr>
        <p:spPr>
          <a:xfrm>
            <a:off x="6119096" y="4771047"/>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2D803312-8977-E9CF-359E-78896D5177A7}"/>
              </a:ext>
            </a:extLst>
          </p:cNvPr>
          <p:cNvSpPr txBox="1"/>
          <p:nvPr/>
        </p:nvSpPr>
        <p:spPr>
          <a:xfrm>
            <a:off x="4830459" y="4424547"/>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76" name="テキスト ボックス 75">
            <a:extLst>
              <a:ext uri="{FF2B5EF4-FFF2-40B4-BE49-F238E27FC236}">
                <a16:creationId xmlns:a16="http://schemas.microsoft.com/office/drawing/2014/main" id="{EC4FAF12-FDAC-B48D-B571-CC028A01229C}"/>
              </a:ext>
            </a:extLst>
          </p:cNvPr>
          <p:cNvSpPr txBox="1"/>
          <p:nvPr/>
        </p:nvSpPr>
        <p:spPr>
          <a:xfrm>
            <a:off x="7408050" y="5126260"/>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77" name="テキスト ボックス 76">
            <a:extLst>
              <a:ext uri="{FF2B5EF4-FFF2-40B4-BE49-F238E27FC236}">
                <a16:creationId xmlns:a16="http://schemas.microsoft.com/office/drawing/2014/main" id="{78DCEB5B-FCE6-A4B7-134E-DC51AE101C96}"/>
              </a:ext>
            </a:extLst>
          </p:cNvPr>
          <p:cNvSpPr txBox="1"/>
          <p:nvPr/>
        </p:nvSpPr>
        <p:spPr>
          <a:xfrm>
            <a:off x="334303" y="372812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489B5AC-E8EC-12A6-77B1-767D57C6C111}"/>
              </a:ext>
            </a:extLst>
          </p:cNvPr>
          <p:cNvSpPr txBox="1"/>
          <p:nvPr/>
        </p:nvSpPr>
        <p:spPr>
          <a:xfrm>
            <a:off x="1268358" y="4078050"/>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3C51428D-94BF-DEDC-89ED-6FC6DD5D8DDB}"/>
              </a:ext>
            </a:extLst>
          </p:cNvPr>
          <p:cNvSpPr txBox="1"/>
          <p:nvPr/>
        </p:nvSpPr>
        <p:spPr>
          <a:xfrm>
            <a:off x="2202413" y="44192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70A8450A-EBDB-52BF-A9C2-03CB7CC3C8E9}"/>
              </a:ext>
            </a:extLst>
          </p:cNvPr>
          <p:cNvSpPr txBox="1"/>
          <p:nvPr/>
        </p:nvSpPr>
        <p:spPr>
          <a:xfrm>
            <a:off x="3132447" y="4760482"/>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④体験予約(web/LINE)</a:t>
            </a:r>
          </a:p>
        </p:txBody>
      </p:sp>
      <p:cxnSp>
        <p:nvCxnSpPr>
          <p:cNvPr id="81" name="コネクタ: カギ線 80">
            <a:extLst>
              <a:ext uri="{FF2B5EF4-FFF2-40B4-BE49-F238E27FC236}">
                <a16:creationId xmlns:a16="http://schemas.microsoft.com/office/drawing/2014/main" id="{769329CD-26D3-6976-EDB8-825AA2A0377F}"/>
              </a:ext>
            </a:extLst>
          </p:cNvPr>
          <p:cNvCxnSpPr>
            <a:cxnSpLocks/>
            <a:stCxn id="80" idx="0"/>
            <a:endCxn id="70" idx="2"/>
          </p:cNvCxnSpPr>
          <p:nvPr/>
        </p:nvCxnSpPr>
        <p:spPr>
          <a:xfrm rot="5400000" flipH="1" flipV="1">
            <a:off x="4181800" y="4411939"/>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83" name="正方形/長方形 82">
            <a:extLst>
              <a:ext uri="{FF2B5EF4-FFF2-40B4-BE49-F238E27FC236}">
                <a16:creationId xmlns:a16="http://schemas.microsoft.com/office/drawing/2014/main" id="{E8127D07-4E85-C0E9-8B4C-7D62F671E28E}"/>
              </a:ext>
            </a:extLst>
          </p:cNvPr>
          <p:cNvSpPr/>
          <p:nvPr/>
        </p:nvSpPr>
        <p:spPr>
          <a:xfrm>
            <a:off x="315939" y="5602451"/>
            <a:ext cx="9444306" cy="2731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 --- ジム・フィットネス業界の場合 --- →</a:t>
            </a:r>
          </a:p>
        </p:txBody>
      </p:sp>
      <p:sp>
        <p:nvSpPr>
          <p:cNvPr id="85" name="正方形/長方形 84">
            <a:extLst>
              <a:ext uri="{FF2B5EF4-FFF2-40B4-BE49-F238E27FC236}">
                <a16:creationId xmlns:a16="http://schemas.microsoft.com/office/drawing/2014/main" id="{66C41415-042E-E9AD-6C7B-92F406CC1EBB}"/>
              </a:ext>
            </a:extLst>
          </p:cNvPr>
          <p:cNvSpPr/>
          <p:nvPr/>
        </p:nvSpPr>
        <p:spPr>
          <a:xfrm>
            <a:off x="315939" y="3491120"/>
            <a:ext cx="9444306" cy="6537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1C950DF6-576B-3B15-68F7-F01A709B2429}"/>
              </a:ext>
            </a:extLst>
          </p:cNvPr>
          <p:cNvSpPr txBox="1"/>
          <p:nvPr/>
        </p:nvSpPr>
        <p:spPr>
          <a:xfrm>
            <a:off x="2544451" y="6031135"/>
            <a:ext cx="5359159" cy="461665"/>
          </a:xfrm>
          <a:prstGeom prst="rect">
            <a:avLst/>
          </a:prstGeom>
          <a:noFill/>
        </p:spPr>
        <p:txBody>
          <a:bodyPr wrap="none" rtlCol="0">
            <a:spAutoFit/>
          </a:bodyPr>
          <a:lstStyle/>
          <a:p>
            <a:r>
              <a:rPr lang="ja-JP" altLang="en-US" sz="1200" dirty="0">
                <a:latin typeface="メイリオ"/>
                <a:ea typeface="メイリオ"/>
              </a:rPr>
              <a:t>一般的な</a:t>
            </a:r>
            <a:r>
              <a:rPr lang="en-US" altLang="ja-JP" sz="1200" dirty="0">
                <a:latin typeface="メイリオ"/>
                <a:ea typeface="メイリオ"/>
              </a:rPr>
              <a:t>8</a:t>
            </a:r>
            <a:r>
              <a:rPr lang="ja-JP" altLang="en-US" sz="1200" dirty="0">
                <a:latin typeface="メイリオ"/>
                <a:ea typeface="メイリオ"/>
              </a:rPr>
              <a:t>フェーズを、ジム・フィットネスに置き換えるとこうなります。</a:t>
            </a:r>
          </a:p>
          <a:p>
            <a:r>
              <a:rPr lang="ja-JP" altLang="en-US" sz="1200" dirty="0">
                <a:latin typeface="メイリオ"/>
                <a:ea typeface="メイリオ"/>
              </a:rPr>
              <a:t>④体験予約 → ⑤来店 → ⑦ご入会 が、この業界の</a:t>
            </a:r>
            <a:r>
              <a:rPr lang="en-US" altLang="ja-JP" sz="1200" dirty="0">
                <a:latin typeface="メイリオ"/>
                <a:ea typeface="メイリオ"/>
              </a:rPr>
              <a:t>CV</a:t>
            </a:r>
            <a:r>
              <a:rPr lang="ja-JP" altLang="en-US" sz="1200" dirty="0">
                <a:latin typeface="メイリオ"/>
                <a:ea typeface="メイリオ"/>
              </a:rPr>
              <a:t>地点です。</a:t>
            </a:r>
            <a:endParaRPr kumimoji="1" lang="ja-JP" altLang="en-US" sz="1200" dirty="0">
              <a:latin typeface="+mn-ea"/>
            </a:endParaRPr>
          </a:p>
        </p:txBody>
      </p:sp>
    </p:spTree>
    <p:extLst>
      <p:ext uri="{BB962C8B-B14F-4D97-AF65-F5344CB8AC3E}">
        <p14:creationId xmlns:p14="http://schemas.microsoft.com/office/powerpoint/2010/main" val="3509480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F0FF7A7-A3FC-42B0-F7A4-BA0AD0C3DD9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EA154C-E574-B6EC-24FA-4060142D037B}"/>
              </a:ext>
            </a:extLst>
          </p:cNvPr>
          <p:cNvSpPr/>
          <p:nvPr/>
        </p:nvSpPr>
        <p:spPr>
          <a:xfrm>
            <a:off x="-85484" y="793451"/>
            <a:ext cx="10076969"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tIns="90000" anchor="ctr"/>
          <a:lstStyle/>
          <a:p>
            <a:pPr algn="ctr">
              <a:lnSpc>
                <a:spcPts val="2455"/>
              </a:lnSpc>
            </a:pPr>
            <a:r>
              <a:rPr sz="1400">
                <a:solidFill>
                  <a:srgbClr val="343434"/>
                </a:solidFill>
                <a:latin typeface="メイリオ"/>
                <a:ea typeface="メイリオ"/>
                <a:cs typeface="メイリオ"/>
              </a:rPr>
              <a:t>検索需要は5年間ほぼ横ばい。一方で大手の店舗数は3年で1,000店超増えました。</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sz="1400">
                <a:solidFill>
                  <a:srgbClr val="343434"/>
                </a:solidFill>
                <a:latin typeface="メイリオ"/>
                <a:ea typeface="メイリオ"/>
                <a:cs typeface="メイリオ"/>
              </a:rPr>
              <a:t>→同じ人数をより多くの店で奪い合う構造です。検索広告に依存するほど条件は厳しくなります。</a:t>
            </a:r>
          </a:p>
        </p:txBody>
      </p:sp>
      <p:cxnSp>
        <p:nvCxnSpPr>
          <p:cNvPr id="5" name="直線コネクタ 4">
            <a:extLst>
              <a:ext uri="{FF2B5EF4-FFF2-40B4-BE49-F238E27FC236}">
                <a16:creationId xmlns:a16="http://schemas.microsoft.com/office/drawing/2014/main" id="{03D37819-F9B0-21D0-F3D4-E790F695CE35}"/>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AFD79ABE-D266-F25C-019A-B9E21585766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市場｜獲得単価の推移</a:t>
            </a:r>
            <a:endParaRPr sz="1600" b="1" dirty="0">
              <a:solidFill>
                <a:srgbClr val="002060"/>
              </a:solidFill>
              <a:latin typeface="メイリオ"/>
              <a:ea typeface="メイリオ"/>
              <a:cs typeface="Meiryo"/>
              <a:sym typeface="Meiryo"/>
            </a:endParaRPr>
          </a:p>
        </p:txBody>
      </p:sp>
      <p:sp>
        <p:nvSpPr>
          <p:cNvPr id="90" name="Text 22">
            <a:extLst>
              <a:ext uri="{FF2B5EF4-FFF2-40B4-BE49-F238E27FC236}">
                <a16:creationId xmlns:a16="http://schemas.microsoft.com/office/drawing/2014/main" id="{8200CA8A-D095-2BD7-6490-5DB801AFAA26}"/>
              </a:ext>
            </a:extLst>
          </p:cNvPr>
          <p:cNvSpPr/>
          <p:nvPr/>
        </p:nvSpPr>
        <p:spPr>
          <a:xfrm>
            <a:off x="1550716" y="1248171"/>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CE4649BB-D97A-4AB7-AA4E-FFF5CC432064}"/>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7" name="テキスト ボックス 6">
            <a:extLst>
              <a:ext uri="{FF2B5EF4-FFF2-40B4-BE49-F238E27FC236}">
                <a16:creationId xmlns:a16="http://schemas.microsoft.com/office/drawing/2014/main" id="{7506C918-810D-8185-C735-E1F5DE008329}"/>
              </a:ext>
            </a:extLst>
          </p:cNvPr>
          <p:cNvSpPr txBox="1"/>
          <p:nvPr/>
        </p:nvSpPr>
        <p:spPr>
          <a:xfrm>
            <a:off x="422366" y="1618998"/>
            <a:ext cx="5512524" cy="738664"/>
          </a:xfrm>
          <a:prstGeom prst="rect">
            <a:avLst/>
          </a:prstGeom>
          <a:noFill/>
        </p:spPr>
        <p:txBody>
          <a:bodyPr wrap="square">
            <a:spAutoFit/>
          </a:bodyPr>
          <a:lstStyle/>
          <a:p>
            <a:r>
              <a:rPr lang="ja-JP" altLang="en-US" sz="1400" b="1" i="0" dirty="0">
                <a:solidFill>
                  <a:srgbClr val="525860"/>
                </a:solidFill>
                <a:effectLst/>
                <a:latin typeface="メイリオ" panose="020B0604030504040204" pitchFamily="50" charset="-128"/>
                <a:ea typeface="メイリオ" panose="020B0604030504040204" pitchFamily="50" charset="-128"/>
              </a:rPr>
              <a:t>検索広告における</a:t>
            </a:r>
            <a:r>
              <a:rPr lang="en-US" altLang="ja-JP" sz="1400" b="1" i="0" dirty="0">
                <a:solidFill>
                  <a:srgbClr val="525860"/>
                </a:solidFill>
                <a:effectLst/>
                <a:latin typeface="メイリオ" panose="020B0604030504040204" pitchFamily="50" charset="-128"/>
                <a:ea typeface="メイリオ" panose="020B0604030504040204" pitchFamily="50" charset="-128"/>
              </a:rPr>
              <a:t>CPC</a:t>
            </a:r>
            <a:r>
              <a:rPr lang="ja-JP" altLang="en-US" sz="1400" b="1" i="0" dirty="0">
                <a:solidFill>
                  <a:srgbClr val="525860"/>
                </a:solidFill>
                <a:effectLst/>
                <a:latin typeface="メイリオ" panose="020B0604030504040204" pitchFamily="50" charset="-128"/>
                <a:ea typeface="メイリオ" panose="020B0604030504040204" pitchFamily="50" charset="-128"/>
              </a:rPr>
              <a:t>の推移</a:t>
            </a:r>
            <a:br>
              <a:rPr lang="ja-JP" altLang="ja-JP" sz="2800" b="1" dirty="0">
                <a:latin typeface="メイリオ" panose="020B0604030504040204" pitchFamily="50" charset="-128"/>
                <a:ea typeface="メイリオ" panose="020B0604030504040204" pitchFamily="50" charset="-128"/>
              </a:rPr>
            </a:br>
            <a:endParaRPr lang="ja-JP" altLang="en-US" sz="2800" b="1" dirty="0">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6C884B8-5140-2AFF-15DD-138629C82DCB}"/>
              </a:ext>
            </a:extLst>
          </p:cNvPr>
          <p:cNvSpPr/>
          <p:nvPr/>
        </p:nvSpPr>
        <p:spPr>
          <a:xfrm>
            <a:off x="283029" y="2048899"/>
            <a:ext cx="9117874" cy="574766"/>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400" b="1" dirty="0">
                <a:solidFill>
                  <a:schemeClr val="tx1"/>
                </a:solidFill>
                <a:latin typeface="メイリオ" panose="020B0604030504040204" pitchFamily="50" charset="-128"/>
                <a:ea typeface="メイリオ" panose="020B0604030504040204" pitchFamily="50" charset="-128"/>
              </a:rPr>
              <a:t>需要構造・経済環境・媒体仕様の三層要因により検索広告の</a:t>
            </a:r>
            <a:r>
              <a:rPr lang="en-US" altLang="ja-JP" sz="1400" b="1" dirty="0">
                <a:solidFill>
                  <a:schemeClr val="tx1"/>
                </a:solidFill>
                <a:latin typeface="メイリオ" panose="020B0604030504040204" pitchFamily="50" charset="-128"/>
                <a:ea typeface="メイリオ" panose="020B0604030504040204" pitchFamily="50" charset="-128"/>
              </a:rPr>
              <a:t>CPC</a:t>
            </a:r>
            <a:r>
              <a:rPr lang="ja-JP" altLang="en-US" sz="1400" b="1" dirty="0">
                <a:solidFill>
                  <a:schemeClr val="tx1"/>
                </a:solidFill>
                <a:latin typeface="メイリオ" panose="020B0604030504040204" pitchFamily="50" charset="-128"/>
                <a:ea typeface="メイリオ" panose="020B0604030504040204" pitchFamily="50" charset="-128"/>
              </a:rPr>
              <a:t>は構造的に上昇している</a:t>
            </a:r>
            <a:endParaRPr lang="en-US" altLang="ja-JP" sz="1400" b="1" dirty="0">
              <a:solidFill>
                <a:schemeClr val="tx1"/>
              </a:solidFill>
              <a:latin typeface="メイリオ" panose="020B0604030504040204" pitchFamily="50" charset="-128"/>
              <a:ea typeface="メイリオ" panose="020B0604030504040204" pitchFamily="50" charset="-128"/>
            </a:endParaRPr>
          </a:p>
          <a:p>
            <a:r>
              <a:rPr lang="ja-JP" altLang="en-US" sz="1400" dirty="0">
                <a:solidFill>
                  <a:schemeClr val="tx1"/>
                </a:solidFill>
                <a:latin typeface="メイリオ" panose="020B0604030504040204" pitchFamily="50" charset="-128"/>
                <a:ea typeface="メイリオ" panose="020B0604030504040204" pitchFamily="50" charset="-128"/>
              </a:rPr>
              <a:t>→同一成果を維持するための広告費は年々増加しており、費用対効果の改善には検索依存からの脱却が不可欠</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5AF5451E-53A3-FB12-1B70-368E81E5724E}"/>
              </a:ext>
            </a:extLst>
          </p:cNvPr>
          <p:cNvSpPr/>
          <p:nvPr/>
        </p:nvSpPr>
        <p:spPr>
          <a:xfrm>
            <a:off x="283029" y="2940426"/>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200" b="1">
                <a:solidFill>
                  <a:srgbClr val="002060"/>
                </a:solidFill>
                <a:latin typeface="メイリオ"/>
                <a:ea typeface="メイリオ"/>
                <a:cs typeface="メイリオ"/>
              </a:rPr>
              <a:t>市場競争要因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sz="1100" b="0">
                <a:solidFill>
                  <a:srgbClr val="1A1A2E"/>
                </a:solidFill>
                <a:latin typeface="メイリオ"/>
                <a:ea typeface="メイリオ"/>
                <a:cs typeface="メイリオ"/>
              </a:rPr>
              <a:t>参入企業の増加（大手15社で3年＋1,000店超）</a:t>
            </a:r>
          </a:p>
          <a:p>
            <a:pPr algn="ctr"/>
            <a:r>
              <a:rPr sz="1100" b="0">
                <a:solidFill>
                  <a:srgbClr val="1A1A2E"/>
                </a:solidFill>
                <a:latin typeface="メイリオ"/>
                <a:ea typeface="メイリオ"/>
                <a:cs typeface="メイリオ"/>
              </a:rPr>
              <a:t>LTV前提の過剰入札</a:t>
            </a:r>
          </a:p>
          <a:p>
            <a:pPr algn="ctr"/>
            <a:r>
              <a:rPr sz="1100" b="0">
                <a:solidFill>
                  <a:srgbClr val="1A1A2E"/>
                </a:solidFill>
                <a:latin typeface="メイリオ"/>
                <a:ea typeface="メイリオ"/>
                <a:cs typeface="メイリオ"/>
              </a:rPr>
              <a:t>“比較サイト化”による競争集中</a:t>
            </a:r>
          </a:p>
        </p:txBody>
      </p:sp>
      <p:sp>
        <p:nvSpPr>
          <p:cNvPr id="11" name="正方形/長方形 10">
            <a:extLst>
              <a:ext uri="{FF2B5EF4-FFF2-40B4-BE49-F238E27FC236}">
                <a16:creationId xmlns:a16="http://schemas.microsoft.com/office/drawing/2014/main" id="{CD688CD6-06D4-183B-FAB6-7FAAE7B2E63E}"/>
              </a:ext>
            </a:extLst>
          </p:cNvPr>
          <p:cNvSpPr/>
          <p:nvPr/>
        </p:nvSpPr>
        <p:spPr>
          <a:xfrm>
            <a:off x="283029" y="5125754"/>
            <a:ext cx="3744686" cy="104359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マクロ経済要因</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広告費のデジタルシフト</a:t>
            </a:r>
            <a:endParaRPr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インフレによる</a:t>
            </a:r>
            <a:r>
              <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rPr>
              <a:t>CPA</a:t>
            </a:r>
            <a:r>
              <a:rPr kumimoji="1"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許容値上昇</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低金利→投資マネー流入</a:t>
            </a:r>
            <a:endParaRPr kumimoji="1"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F564AF1C-D233-CAC0-8959-610D7489C2D8}"/>
              </a:ext>
            </a:extLst>
          </p:cNvPr>
          <p:cNvSpPr/>
          <p:nvPr/>
        </p:nvSpPr>
        <p:spPr>
          <a:xfrm>
            <a:off x="283029" y="4033090"/>
            <a:ext cx="3744686" cy="1043589"/>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rPr>
              <a:t>媒体・技術要因</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endParaRPr lang="en-US" altLang="ja-JP" sz="6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kumimoji="1" lang="ja-JP" altLang="en-US" sz="1100" u="sng" dirty="0">
                <a:solidFill>
                  <a:schemeClr val="tx1">
                    <a:lumMod val="75000"/>
                    <a:lumOff val="25000"/>
                  </a:schemeClr>
                </a:solidFill>
                <a:latin typeface="メイリオ" panose="020B0604030504040204" pitchFamily="50" charset="-128"/>
                <a:ea typeface="メイリオ" panose="020B0604030504040204" pitchFamily="50" charset="-128"/>
              </a:rPr>
              <a:t>自動入札アルゴリズムの普及</a:t>
            </a:r>
            <a:endParaRPr kumimoji="1" lang="en-US" altLang="ja-JP" sz="1100" u="sng"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75000"/>
                    <a:lumOff val="25000"/>
                  </a:schemeClr>
                </a:solidFill>
                <a:latin typeface="メイリオ" panose="020B0604030504040204" pitchFamily="50" charset="-128"/>
                <a:ea typeface="メイリオ" panose="020B0604030504040204" pitchFamily="50" charset="-128"/>
              </a:rPr>
              <a:t>広告枠の実質減少</a:t>
            </a:r>
            <a:endParaRPr lang="en-US" altLang="ja-JP" sz="11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5" name="右中かっこ 14">
            <a:extLst>
              <a:ext uri="{FF2B5EF4-FFF2-40B4-BE49-F238E27FC236}">
                <a16:creationId xmlns:a16="http://schemas.microsoft.com/office/drawing/2014/main" id="{C2943848-5BD0-2838-D62F-51572D5DB8C0}"/>
              </a:ext>
            </a:extLst>
          </p:cNvPr>
          <p:cNvSpPr/>
          <p:nvPr/>
        </p:nvSpPr>
        <p:spPr>
          <a:xfrm>
            <a:off x="4239240" y="2940425"/>
            <a:ext cx="286696" cy="3225087"/>
          </a:xfrm>
          <a:prstGeom prst="rightBrace">
            <a:avLst>
              <a:gd name="adj1" fmla="val 50859"/>
              <a:gd name="adj2" fmla="val 11010"/>
            </a:avLst>
          </a:prstGeom>
          <a:ln>
            <a:solidFill>
              <a:schemeClr val="tx2"/>
            </a:solidFill>
          </a:ln>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sz="140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9FABDC4-2C00-F5C7-B85D-477CCDFC4CEF}"/>
              </a:ext>
            </a:extLst>
          </p:cNvPr>
          <p:cNvSpPr/>
          <p:nvPr/>
        </p:nvSpPr>
        <p:spPr>
          <a:xfrm>
            <a:off x="4769525" y="2933550"/>
            <a:ext cx="4631377" cy="629653"/>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solidFill>
                <a:latin typeface="メイリオ" panose="020B0604030504040204" pitchFamily="50" charset="-128"/>
                <a:ea typeface="メイリオ" panose="020B0604030504040204" pitchFamily="50" charset="-128"/>
              </a:rPr>
              <a:t>CPC</a:t>
            </a:r>
            <a:r>
              <a:rPr lang="ja-JP" altLang="en-US" sz="1200" b="1" dirty="0">
                <a:solidFill>
                  <a:schemeClr val="tx1"/>
                </a:solidFill>
                <a:latin typeface="メイリオ" panose="020B0604030504040204" pitchFamily="50" charset="-128"/>
                <a:ea typeface="メイリオ" panose="020B0604030504040204" pitchFamily="50" charset="-128"/>
              </a:rPr>
              <a:t>は構造的に上昇傾向</a:t>
            </a:r>
            <a:r>
              <a:rPr lang="en-US" altLang="ja-JP" sz="1200" b="1" dirty="0">
                <a:solidFill>
                  <a:schemeClr val="tx1"/>
                </a:solidFill>
                <a:latin typeface="メイリオ" panose="020B0604030504040204" pitchFamily="50" charset="-128"/>
                <a:ea typeface="メイリオ" panose="020B0604030504040204" pitchFamily="50" charset="-128"/>
              </a:rPr>
              <a:t>  /  </a:t>
            </a:r>
            <a:r>
              <a:rPr kumimoji="1" lang="ja-JP" altLang="en-US" sz="1200" b="1" dirty="0">
                <a:solidFill>
                  <a:schemeClr val="tx1"/>
                </a:solidFill>
                <a:latin typeface="メイリオ" panose="020B0604030504040204" pitchFamily="50" charset="-128"/>
                <a:ea typeface="メイリオ" panose="020B0604030504040204" pitchFamily="50" charset="-128"/>
              </a:rPr>
              <a:t>検索ボリュームは伸び悩み</a:t>
            </a:r>
            <a:endParaRPr kumimoji="1" lang="en-US" altLang="ja-JP" sz="1200" b="1" dirty="0">
              <a:solidFill>
                <a:schemeClr val="tx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FE7F5D08-3889-C262-3F9F-B5524E38C4ED}"/>
              </a:ext>
            </a:extLst>
          </p:cNvPr>
          <p:cNvSpPr/>
          <p:nvPr/>
        </p:nvSpPr>
        <p:spPr>
          <a:xfrm>
            <a:off x="7014753" y="3621957"/>
            <a:ext cx="2299750" cy="2538790"/>
          </a:xfrm>
          <a:prstGeom prst="rect">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r>
              <a:rPr sz="1050" b="1">
                <a:solidFill>
                  <a:srgbClr val="002060"/>
                </a:solidFill>
                <a:latin typeface="メイリオ"/>
                <a:ea typeface="メイリオ"/>
                <a:cs typeface="メイリオ"/>
              </a:rPr>
              <a:t>【検索需要】</a:t>
            </a:r>
          </a:p>
          <a:p>
            <a:pPr algn="ctr"/>
            <a:r>
              <a:rPr sz="1050" b="0">
                <a:solidFill>
                  <a:srgbClr val="1A1A2E"/>
                </a:solidFill>
                <a:latin typeface="メイリオ"/>
                <a:ea typeface="メイリオ"/>
                <a:cs typeface="メイリオ"/>
              </a:rPr>
              <a:t>ジム 5年で ＋2％（横ばい）</a:t>
            </a:r>
          </a:p>
          <a:p>
            <a:pPr algn="ctr"/>
            <a:r>
              <a:rPr sz="1050" b="1">
                <a:solidFill>
                  <a:srgbClr val="002060"/>
                </a:solidFill>
                <a:latin typeface="メイリオ"/>
                <a:ea typeface="メイリオ"/>
                <a:cs typeface="メイリオ"/>
              </a:rPr>
              <a:t>【大手15社の店舗数 ＋1,000店】</a:t>
            </a:r>
          </a:p>
          <a:p>
            <a:pPr algn="ctr"/>
            <a:r>
              <a:rPr sz="1050" b="0">
                <a:solidFill>
                  <a:srgbClr val="1A1A2E"/>
                </a:solidFill>
                <a:latin typeface="メイリオ"/>
                <a:ea typeface="メイリオ"/>
                <a:cs typeface="メイリオ"/>
              </a:rPr>
              <a:t>4,387店 → 5,900店</a:t>
            </a:r>
          </a:p>
          <a:p>
            <a:pPr algn="ctr"/>
            <a:r>
              <a:rPr sz="1050" b="1">
                <a:solidFill>
                  <a:srgbClr val="002060"/>
                </a:solidFill>
                <a:latin typeface="メイリオ"/>
                <a:ea typeface="メイリオ"/>
                <a:cs typeface="メイリオ"/>
              </a:rPr>
              <a:t>【年間消費額 ▲10.6%】</a:t>
            </a:r>
          </a:p>
          <a:p>
            <a:pPr algn="ctr"/>
            <a:r>
              <a:rPr sz="1050" b="0">
                <a:solidFill>
                  <a:srgbClr val="1A1A2E"/>
                </a:solidFill>
                <a:latin typeface="メイリオ"/>
                <a:ea typeface="メイリオ"/>
                <a:cs typeface="メイリオ"/>
              </a:rPr>
              <a:t>98,081円 → 87,645円</a:t>
            </a:r>
          </a:p>
          <a:p>
            <a:pPr algn="ctr"/>
            <a:r>
              <a:rPr sz="1050" b="1">
                <a:solidFill>
                  <a:srgbClr val="1A1A2E"/>
                </a:solidFill>
                <a:latin typeface="メイリオ"/>
                <a:ea typeface="メイリオ"/>
                <a:cs typeface="メイリオ"/>
              </a:rPr>
              <a:t>⇊</a:t>
            </a:r>
          </a:p>
          <a:p>
            <a:pPr algn="ctr"/>
            <a:r>
              <a:rPr sz="1050" b="1">
                <a:solidFill>
                  <a:srgbClr val="C00000"/>
                </a:solidFill>
                <a:latin typeface="メイリオ"/>
                <a:ea typeface="メイリオ"/>
                <a:cs typeface="メイリオ"/>
              </a:rPr>
              <a:t>需要は増えず、店だけ増えた</a:t>
            </a:r>
          </a:p>
        </p:txBody>
      </p:sp>
      <p:sp>
        <p:nvSpPr>
          <p:cNvPr id="93" name="TextBox 92"/>
          <p:cNvSpPr txBox="1"/>
          <p:nvPr/>
        </p:nvSpPr>
        <p:spPr>
          <a:xfrm>
            <a:off x="350000" y="6271200"/>
            <a:ext cx="9200000" cy="288000"/>
          </a:xfrm>
          <a:prstGeom prst="rect">
            <a:avLst/>
          </a:prstGeom>
          <a:noFill/>
        </p:spPr>
        <p:txBody>
          <a:bodyPr wrap="square">
            <a:spAutoFit/>
          </a:bodyPr>
          <a:lstStyle/>
          <a:p>
            <a:r>
              <a:rPr sz="900" b="0">
                <a:solidFill>
                  <a:srgbClr val="5A5A72"/>
                </a:solidFill>
                <a:latin typeface="メイリオ"/>
                <a:ea typeface="メイリオ"/>
                <a:cs typeface="メイリオ"/>
              </a:rPr>
              <a:t>※ 出典：Googleトレンド（2021/9〜2026/9）／帝国データバンク（2024年3月）。CPC推移のグラフは社内想定のイメージです。</a:t>
            </a:r>
          </a:p>
        </p:txBody>
      </p:sp>
      <p:sp>
        <p:nvSpPr>
          <p:cNvPr id="2" name="テキスト ボックス 1">
            <a:extLst>
              <a:ext uri="{FF2B5EF4-FFF2-40B4-BE49-F238E27FC236}">
                <a16:creationId xmlns:a16="http://schemas.microsoft.com/office/drawing/2014/main" id="{52F70E57-7626-3564-60E1-3AC4F4EDE16A}"/>
              </a:ext>
            </a:extLst>
          </p:cNvPr>
          <p:cNvSpPr txBox="1"/>
          <p:nvPr/>
        </p:nvSpPr>
        <p:spPr>
          <a:xfrm>
            <a:off x="4535424" y="3621957"/>
            <a:ext cx="2528316" cy="1631216"/>
          </a:xfrm>
          <a:prstGeom prst="rect">
            <a:avLst/>
          </a:prstGeom>
          <a:noFill/>
        </p:spPr>
        <p:txBody>
          <a:bodyPr wrap="square" rtlCol="0">
            <a:spAutoFit/>
          </a:bodyPr>
          <a:lstStyle/>
          <a:p>
            <a:pPr algn="ctr"/>
            <a:r>
              <a:rPr lang="en-US" altLang="ja-JP" sz="1200" dirty="0">
                <a:latin typeface="メイリオ"/>
                <a:ea typeface="メイリオ"/>
              </a:rPr>
              <a:t>【</a:t>
            </a:r>
            <a:r>
              <a:rPr lang="ja-JP" altLang="en-US" sz="1200" dirty="0">
                <a:latin typeface="メイリオ"/>
                <a:ea typeface="メイリオ"/>
              </a:rPr>
              <a:t>平均</a:t>
            </a:r>
            <a:r>
              <a:rPr lang="en-US" altLang="ja-JP" sz="1200" dirty="0">
                <a:latin typeface="メイリオ"/>
                <a:ea typeface="メイリオ"/>
              </a:rPr>
              <a:t>CPC】</a:t>
            </a:r>
          </a:p>
          <a:p>
            <a:pPr algn="ctr"/>
            <a:r>
              <a:rPr lang="en-US" altLang="ja-JP" sz="1200" dirty="0">
                <a:latin typeface="メイリオ"/>
                <a:ea typeface="メイリオ"/>
              </a:rPr>
              <a:t>246</a:t>
            </a:r>
            <a:r>
              <a:rPr lang="ja-JP" altLang="en-US" sz="1200" dirty="0">
                <a:latin typeface="メイリオ"/>
                <a:ea typeface="メイリオ"/>
              </a:rPr>
              <a:t>円（</a:t>
            </a:r>
            <a:r>
              <a:rPr lang="en-US" altLang="ja-JP" sz="1200" dirty="0">
                <a:latin typeface="メイリオ"/>
                <a:ea typeface="メイリオ"/>
              </a:rPr>
              <a:t>150〜400</a:t>
            </a:r>
            <a:r>
              <a:rPr lang="ja-JP" altLang="en-US" sz="1200" dirty="0">
                <a:latin typeface="メイリオ"/>
                <a:ea typeface="メイリオ"/>
              </a:rPr>
              <a:t>円）</a:t>
            </a:r>
          </a:p>
          <a:p>
            <a:pPr algn="ctr"/>
            <a:r>
              <a:rPr lang="en-US" altLang="ja-JP" sz="1200" dirty="0">
                <a:latin typeface="メイリオ"/>
                <a:ea typeface="メイリオ"/>
              </a:rPr>
              <a:t>【</a:t>
            </a:r>
            <a:r>
              <a:rPr lang="ja-JP" altLang="en-US" sz="1200" dirty="0">
                <a:latin typeface="メイリオ"/>
                <a:ea typeface="メイリオ"/>
              </a:rPr>
              <a:t>最も高いアカウント</a:t>
            </a:r>
            <a:r>
              <a:rPr lang="en-US" altLang="ja-JP" sz="1200" dirty="0">
                <a:latin typeface="メイリオ"/>
                <a:ea typeface="メイリオ"/>
              </a:rPr>
              <a:t>】</a:t>
            </a:r>
          </a:p>
          <a:p>
            <a:pPr algn="ctr"/>
            <a:r>
              <a:rPr lang="ja-JP" altLang="en-US" sz="1200" dirty="0">
                <a:latin typeface="メイリオ"/>
                <a:ea typeface="メイリオ"/>
              </a:rPr>
              <a:t>最も安いアカウントの</a:t>
            </a:r>
            <a:r>
              <a:rPr lang="en-US" altLang="ja-JP" sz="1200" dirty="0">
                <a:latin typeface="メイリオ"/>
                <a:ea typeface="メイリオ"/>
              </a:rPr>
              <a:t>2.7</a:t>
            </a:r>
            <a:r>
              <a:rPr lang="ja-JP" altLang="en-US" sz="1200" dirty="0">
                <a:latin typeface="メイリオ"/>
                <a:ea typeface="メイリオ"/>
              </a:rPr>
              <a:t>倍</a:t>
            </a:r>
          </a:p>
          <a:p>
            <a:pPr algn="ctr"/>
            <a:r>
              <a:rPr lang="en-US" altLang="ja-JP" sz="1200" dirty="0">
                <a:latin typeface="メイリオ"/>
                <a:ea typeface="メイリオ"/>
              </a:rPr>
              <a:t>【</a:t>
            </a:r>
            <a:r>
              <a:rPr lang="ja-JP" altLang="en-US" sz="1200" dirty="0">
                <a:latin typeface="メイリオ"/>
                <a:ea typeface="メイリオ"/>
              </a:rPr>
              <a:t>ご入会</a:t>
            </a:r>
            <a:r>
              <a:rPr lang="en-US" altLang="ja-JP" sz="1200" dirty="0">
                <a:latin typeface="メイリオ"/>
                <a:ea typeface="メイリオ"/>
              </a:rPr>
              <a:t>1</a:t>
            </a:r>
            <a:r>
              <a:rPr lang="ja-JP" altLang="en-US" sz="1200" dirty="0">
                <a:latin typeface="メイリオ"/>
                <a:ea typeface="メイリオ"/>
              </a:rPr>
              <a:t>件あたり</a:t>
            </a:r>
            <a:r>
              <a:rPr lang="en-US" altLang="ja-JP" sz="1200" dirty="0">
                <a:latin typeface="メイリオ"/>
                <a:ea typeface="メイリオ"/>
              </a:rPr>
              <a:t>】</a:t>
            </a:r>
          </a:p>
          <a:p>
            <a:pPr algn="ctr"/>
            <a:r>
              <a:rPr lang="ja-JP" altLang="en-US" sz="1200" dirty="0">
                <a:latin typeface="メイリオ"/>
                <a:ea typeface="メイリオ"/>
              </a:rPr>
              <a:t>約</a:t>
            </a:r>
            <a:r>
              <a:rPr lang="en-US" altLang="ja-JP" sz="1200" dirty="0">
                <a:latin typeface="メイリオ"/>
                <a:ea typeface="メイリオ"/>
              </a:rPr>
              <a:t>24,600</a:t>
            </a:r>
            <a:r>
              <a:rPr lang="ja-JP" altLang="en-US" sz="1200" dirty="0">
                <a:latin typeface="メイリオ"/>
                <a:ea typeface="メイリオ"/>
              </a:rPr>
              <a:t>円</a:t>
            </a:r>
          </a:p>
          <a:p>
            <a:pPr algn="ctr"/>
            <a:r>
              <a:rPr lang="ja-JP" altLang="en-US" sz="1400" dirty="0">
                <a:latin typeface="メイリオ"/>
                <a:ea typeface="メイリオ"/>
              </a:rPr>
              <a:t>⇊</a:t>
            </a:r>
          </a:p>
          <a:p>
            <a:r>
              <a:rPr lang="en-US" altLang="ja-JP" sz="1400" dirty="0">
                <a:latin typeface="メイリオ"/>
                <a:ea typeface="メイリオ"/>
              </a:rPr>
              <a:t>1</a:t>
            </a:r>
            <a:r>
              <a:rPr lang="ja-JP" altLang="en-US" sz="1400" dirty="0">
                <a:latin typeface="メイリオ"/>
                <a:ea typeface="メイリオ"/>
              </a:rPr>
              <a:t>人を獲るのに</a:t>
            </a:r>
            <a:r>
              <a:rPr lang="en-US" altLang="ja-JP" sz="1400" dirty="0">
                <a:latin typeface="メイリオ"/>
                <a:ea typeface="メイリオ"/>
              </a:rPr>
              <a:t>2</a:t>
            </a:r>
            <a:r>
              <a:rPr lang="ja-JP" altLang="en-US" sz="1400" dirty="0">
                <a:latin typeface="メイリオ"/>
                <a:ea typeface="メイリオ"/>
              </a:rPr>
              <a:t>万円超かかる</a:t>
            </a:r>
            <a:endParaRPr kumimoji="1" lang="ja-JP" altLang="en-US" sz="1400" dirty="0"/>
          </a:p>
        </p:txBody>
      </p:sp>
    </p:spTree>
    <p:extLst>
      <p:ext uri="{BB962C8B-B14F-4D97-AF65-F5344CB8AC3E}">
        <p14:creationId xmlns:p14="http://schemas.microsoft.com/office/powerpoint/2010/main" val="1187594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ニーズ調査｜シーズナリティ</a:t>
            </a:r>
          </a:p>
        </p:txBody>
      </p:sp>
      <p:sp>
        <p:nvSpPr>
          <p:cNvPr id="3" name="TextBox 2"/>
          <p:cNvSpPr txBox="1"/>
          <p:nvPr/>
        </p:nvSpPr>
        <p:spPr>
          <a:xfrm>
            <a:off x="384048" y="713139"/>
            <a:ext cx="9134856" cy="461665"/>
          </a:xfrm>
          <a:prstGeom prst="rect">
            <a:avLst/>
          </a:prstGeom>
          <a:noFill/>
        </p:spPr>
        <p:txBody>
          <a:bodyPr wrap="square" lIns="0" tIns="0" rIns="0" bIns="0">
            <a:spAutoFit/>
          </a:bodyPr>
          <a:lstStyle/>
          <a:p>
            <a:r>
              <a:rPr sz="1500" b="0">
                <a:solidFill>
                  <a:srgbClr val="646C82"/>
                </a:solidFill>
                <a:latin typeface="メイリオ"/>
                <a:ea typeface="メイリオ"/>
                <a:cs typeface="メイリオ"/>
              </a:rPr>
              <a:t>「ジム」「フィットネス」は1月、「筋トレ」「筋肉」は6月に山が立つ。</a:t>
            </a:r>
            <a:endParaRPr lang="en-US" sz="1500" b="0" dirty="0">
              <a:solidFill>
                <a:srgbClr val="646C82"/>
              </a:solidFill>
              <a:latin typeface="メイリオ"/>
              <a:ea typeface="メイリオ"/>
            </a:endParaRPr>
          </a:p>
          <a:p>
            <a:r>
              <a:rPr sz="1500" b="0">
                <a:solidFill>
                  <a:srgbClr val="646C82"/>
                </a:solidFill>
                <a:latin typeface="メイリオ"/>
                <a:ea typeface="メイリオ"/>
                <a:cs typeface="メイリオ"/>
              </a:rPr>
              <a:t>振れ幅は小さく、需要は通年ある。</a:t>
            </a:r>
          </a:p>
        </p:txBody>
      </p:sp>
      <p:sp>
        <p:nvSpPr>
          <p:cNvPr id="4" name="Rounded Rectangle 3"/>
          <p:cNvSpPr/>
          <p:nvPr/>
        </p:nvSpPr>
        <p:spPr>
          <a:xfrm>
            <a:off x="384048" y="3742528"/>
            <a:ext cx="2788920" cy="160279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① 山は年2回ある</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入口のKW（ジム・フィットネス）は1月、行動のKW（筋トレ・筋肉）は6月。半年ズレる。</a:t>
            </a:r>
          </a:p>
        </p:txBody>
      </p:sp>
      <p:sp>
        <p:nvSpPr>
          <p:cNvPr id="5" name="Rounded Rectangle 4"/>
          <p:cNvSpPr/>
          <p:nvPr/>
        </p:nvSpPr>
        <p:spPr>
          <a:xfrm>
            <a:off x="3383279" y="3742527"/>
            <a:ext cx="2788920" cy="1602795"/>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② 谷は11〜12月</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全KWが年間最低。特に筋トレは12月に77.9。ここが仕込み期</a:t>
            </a:r>
          </a:p>
        </p:txBody>
      </p:sp>
      <p:sp>
        <p:nvSpPr>
          <p:cNvPr id="6" name="Rounded Rectangle 5"/>
          <p:cNvSpPr/>
          <p:nvPr/>
        </p:nvSpPr>
        <p:spPr>
          <a:xfrm>
            <a:off x="6382512" y="3742528"/>
            <a:ext cx="2788920" cy="1602794"/>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127000" tIns="177800" rIns="127000" rtlCol="0" anchor="t"/>
          <a:lstStyle/>
          <a:p>
            <a:pPr algn="ctr"/>
            <a:r>
              <a:rPr sz="1700" b="1">
                <a:solidFill>
                  <a:srgbClr val="1F2A5C"/>
                </a:solidFill>
                <a:latin typeface="メイリオ"/>
                <a:ea typeface="メイリオ"/>
                <a:cs typeface="メイリオ"/>
              </a:rPr>
              <a:t>③ 振れ幅は17ptだけ</a:t>
            </a:r>
            <a:endParaRPr lang="en-US" sz="1700" b="1" dirty="0">
              <a:solidFill>
                <a:srgbClr val="1F2A5C"/>
              </a:solidFill>
              <a:latin typeface="メイリオ"/>
              <a:ea typeface="メイリオ"/>
            </a:endParaRPr>
          </a:p>
          <a:p>
            <a:pPr algn="ctr"/>
            <a:r>
              <a:rPr sz="1700" b="1">
                <a:solidFill>
                  <a:srgbClr val="1F2A5C"/>
                </a:solidFill>
                <a:latin typeface="メイリオ"/>
                <a:ea typeface="メイリオ"/>
                <a:cs typeface="メイリオ"/>
              </a:rPr>
              <a:t>ジムの山と谷の差はわずか。1月にすべてが決まる業界ではない。</a:t>
            </a:r>
          </a:p>
        </p:txBody>
      </p:sp>
      <p:sp>
        <p:nvSpPr>
          <p:cNvPr id="7" name="Rectangle 6"/>
          <p:cNvSpPr/>
          <p:nvPr/>
        </p:nvSpPr>
        <p:spPr>
          <a:xfrm>
            <a:off x="384048" y="559800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38912" y="5606854"/>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4068" y="5642601"/>
            <a:ext cx="8814816" cy="430887"/>
          </a:xfrm>
          <a:prstGeom prst="rect">
            <a:avLst/>
          </a:prstGeom>
          <a:noFill/>
        </p:spPr>
        <p:txBody>
          <a:bodyPr wrap="square" lIns="0" tIns="0" rIns="0" bIns="0">
            <a:spAutoFit/>
          </a:bodyPr>
          <a:lstStyle/>
          <a:p>
            <a:r>
              <a:rPr lang="ja-JP" altLang="en-US" sz="1400" b="0" dirty="0">
                <a:solidFill>
                  <a:srgbClr val="1C2233"/>
                </a:solidFill>
                <a:latin typeface="メイリオ"/>
                <a:ea typeface="メイリオ"/>
                <a:cs typeface="メイリオ"/>
              </a:rPr>
              <a:t>需要が極端に下がるという月はない。→毎月配信をする。</a:t>
            </a:r>
            <a:endParaRPr lang="en-US" altLang="ja-JP" sz="1400" b="0" dirty="0">
              <a:solidFill>
                <a:srgbClr val="1C2233"/>
              </a:solidFill>
              <a:latin typeface="メイリオ"/>
              <a:ea typeface="メイリオ"/>
              <a:cs typeface="メイリオ"/>
            </a:endParaRPr>
          </a:p>
          <a:p>
            <a:r>
              <a:rPr lang="ja-JP" altLang="en-US" sz="1400" b="0" dirty="0">
                <a:solidFill>
                  <a:srgbClr val="1C2233"/>
                </a:solidFill>
                <a:latin typeface="メイリオ"/>
                <a:ea typeface="メイリオ"/>
                <a:cs typeface="メイリオ"/>
              </a:rPr>
              <a:t>ただし、月によって送る内容を吟味する。</a:t>
            </a:r>
            <a:endParaRPr sz="1400" b="0" dirty="0">
              <a:solidFill>
                <a:srgbClr val="1C2233"/>
              </a:solidFill>
              <a:latin typeface="メイリオ"/>
              <a:ea typeface="メイリオ"/>
              <a:cs typeface="メイリオ"/>
            </a:endParaRPr>
          </a:p>
        </p:txBody>
      </p:sp>
      <p:sp>
        <p:nvSpPr>
          <p:cNvPr id="10" name="TextBox 9"/>
          <p:cNvSpPr txBox="1"/>
          <p:nvPr/>
        </p:nvSpPr>
        <p:spPr>
          <a:xfrm>
            <a:off x="385572" y="622880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 出典：Googleトレンド（日本・ウェブ検索・2021/9〜2026/9取得）。各年の年平均＝100として2022〜2025を平均。ポケモンSV発売期（2022/11〜2023/1）は「ジム」に別語義が混ざるため除外。</a:t>
            </a:r>
          </a:p>
        </p:txBody>
      </p:sp>
      <p:pic>
        <p:nvPicPr>
          <p:cNvPr id="11" name="Picture 10" descr="trend_main.png"/>
          <p:cNvPicPr>
            <a:picLocks noChangeAspect="1"/>
          </p:cNvPicPr>
          <p:nvPr/>
        </p:nvPicPr>
        <p:blipFill>
          <a:blip r:embed="rId2"/>
          <a:stretch>
            <a:fillRect/>
          </a:stretch>
        </p:blipFill>
        <p:spPr>
          <a:xfrm>
            <a:off x="385200" y="1260000"/>
            <a:ext cx="9133200" cy="2336063"/>
          </a:xfrm>
          <a:prstGeom prst="rect">
            <a:avLst/>
          </a:prstGeom>
        </p:spPr>
      </p:pic>
    </p:spTree>
    <p:extLst>
      <p:ext uri="{BB962C8B-B14F-4D97-AF65-F5344CB8AC3E}">
        <p14:creationId xmlns:p14="http://schemas.microsoft.com/office/powerpoint/2010/main" val="11339163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7513200" cy="338328"/>
          </a:xfrm>
          <a:prstGeom prst="rect">
            <a:avLst/>
          </a:prstGeom>
          <a:noFill/>
        </p:spPr>
        <p:txBody>
          <a:bodyPr wrap="square" lIns="18000" tIns="0" rIns="18000" bIns="0" anchor="ctr">
            <a:spAutoFit/>
          </a:bodyPr>
          <a:lstStyle/>
          <a:p>
            <a:r>
              <a:rPr sz="1600" b="1" dirty="0">
                <a:solidFill>
                  <a:srgbClr val="002060"/>
                </a:solidFill>
                <a:latin typeface="メイリオ"/>
                <a:ea typeface="メイリオ"/>
              </a:rPr>
              <a:t>ニーズ調査｜5年トレンド（参考データ）</a:t>
            </a:r>
          </a:p>
        </p:txBody>
      </p:sp>
      <p:sp>
        <p:nvSpPr>
          <p:cNvPr id="3" name="TextBox 2"/>
          <p:cNvSpPr txBox="1"/>
          <p:nvPr/>
        </p:nvSpPr>
        <p:spPr>
          <a:xfrm>
            <a:off x="385200" y="720000"/>
            <a:ext cx="9133200" cy="184666"/>
          </a:xfrm>
          <a:prstGeom prst="rect">
            <a:avLst/>
          </a:prstGeom>
          <a:noFill/>
        </p:spPr>
        <p:txBody>
          <a:bodyPr wrap="square" lIns="18000" tIns="0" rIns="18000" bIns="0">
            <a:spAutoFit/>
          </a:bodyPr>
          <a:lstStyle/>
          <a:p>
            <a:r>
              <a:rPr sz="1200" b="1">
                <a:solidFill>
                  <a:srgbClr val="646C82"/>
                </a:solidFill>
                <a:latin typeface="メイリオ"/>
                <a:ea typeface="メイリオ"/>
                <a:cs typeface="メイリオ"/>
              </a:rPr>
              <a:t>運動需要は減っていない。ジムは5年で＋2％、筋トレは−10％にとどまる。</a:t>
            </a:r>
          </a:p>
          <a:p>
            <a:r>
              <a:rPr sz="1200" b="1">
                <a:solidFill>
                  <a:srgbClr val="646C82"/>
                </a:solidFill>
                <a:latin typeface="メイリオ"/>
                <a:ea typeface="メイリオ"/>
                <a:cs typeface="メイリオ"/>
              </a:rPr>
              <a:t>半減したのは「ダイエット」という言葉のほうだった。</a:t>
            </a:r>
          </a:p>
        </p:txBody>
      </p:sp>
      <p:sp>
        <p:nvSpPr>
          <p:cNvPr id="4" name="TextBox 3"/>
          <p:cNvSpPr txBox="1"/>
          <p:nvPr/>
        </p:nvSpPr>
        <p:spPr>
          <a:xfrm>
            <a:off x="385200" y="1098000"/>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cs typeface="メイリオ"/>
              </a:rPr>
              <a:t>■ ジム × フィットネス × 筋トレ × 筋肉（5年の伸び率）</a:t>
            </a:r>
          </a:p>
        </p:txBody>
      </p:sp>
      <p:pic>
        <p:nvPicPr>
          <p:cNvPr id="5" name="Picture 4" descr="trend_kintore.png"/>
          <p:cNvPicPr>
            <a:picLocks noChangeAspect="1"/>
          </p:cNvPicPr>
          <p:nvPr/>
        </p:nvPicPr>
        <p:blipFill>
          <a:blip r:embed="rId2"/>
          <a:stretch>
            <a:fillRect/>
          </a:stretch>
        </p:blipFill>
        <p:spPr>
          <a:xfrm>
            <a:off x="385200" y="1314000"/>
            <a:ext cx="9133200" cy="1934297"/>
          </a:xfrm>
          <a:prstGeom prst="rect">
            <a:avLst/>
          </a:prstGeom>
        </p:spPr>
      </p:pic>
      <p:sp>
        <p:nvSpPr>
          <p:cNvPr id="6" name="TextBox 5"/>
          <p:cNvSpPr txBox="1"/>
          <p:nvPr/>
        </p:nvSpPr>
        <p:spPr>
          <a:xfrm>
            <a:off x="386400" y="3263882"/>
            <a:ext cx="9133200" cy="198000"/>
          </a:xfrm>
          <a:prstGeom prst="rect">
            <a:avLst/>
          </a:prstGeom>
          <a:noFill/>
        </p:spPr>
        <p:txBody>
          <a:bodyPr wrap="square" lIns="18000" tIns="0" rIns="18000" bIns="0">
            <a:spAutoFit/>
          </a:bodyPr>
          <a:lstStyle/>
          <a:p>
            <a:r>
              <a:rPr sz="1200" b="1">
                <a:solidFill>
                  <a:srgbClr val="1F2A5C"/>
                </a:solidFill>
                <a:latin typeface="メイリオ"/>
                <a:ea typeface="メイリオ"/>
              </a:rPr>
              <a:t>■ パーソナルジム × 24時間ジム × 24ジム</a:t>
            </a:r>
          </a:p>
        </p:txBody>
      </p:sp>
      <p:pic>
        <p:nvPicPr>
          <p:cNvPr id="7" name="Picture 6" descr="trend_personal.png"/>
          <p:cNvPicPr>
            <a:picLocks noChangeAspect="1"/>
          </p:cNvPicPr>
          <p:nvPr/>
        </p:nvPicPr>
        <p:blipFill>
          <a:blip r:embed="rId3"/>
          <a:stretch>
            <a:fillRect/>
          </a:stretch>
        </p:blipFill>
        <p:spPr>
          <a:xfrm>
            <a:off x="385200" y="3467765"/>
            <a:ext cx="9133200" cy="1934298"/>
          </a:xfrm>
          <a:prstGeom prst="rect">
            <a:avLst/>
          </a:prstGeom>
        </p:spPr>
      </p:pic>
      <p:sp>
        <p:nvSpPr>
          <p:cNvPr id="8" name="TextBox 7"/>
          <p:cNvSpPr txBox="1"/>
          <p:nvPr/>
        </p:nvSpPr>
        <p:spPr>
          <a:xfrm>
            <a:off x="385200" y="5508000"/>
            <a:ext cx="9133200" cy="630000"/>
          </a:xfrm>
          <a:prstGeom prst="rect">
            <a:avLst/>
          </a:prstGeom>
          <a:noFill/>
        </p:spPr>
        <p:txBody>
          <a:bodyPr wrap="square" lIns="18000" tIns="0" rIns="18000" bIns="0">
            <a:spAutoFit/>
          </a:bodyPr>
          <a:lstStyle/>
          <a:p>
            <a:r>
              <a:rPr sz="1200" b="0">
                <a:solidFill>
                  <a:srgbClr val="1C2233"/>
                </a:solidFill>
                <a:latin typeface="メイリオ"/>
                <a:ea typeface="メイリオ"/>
                <a:cs typeface="メイリオ"/>
              </a:rPr>
              <a:t>・ジム＋2％／フィットネス−6％／筋トレ−10％／筋肉−14％＝いずれも横ばい圏。市場が細っているのではない</a:t>
            </a:r>
            <a:endParaRPr sz="1200" b="0" dirty="0">
              <a:solidFill>
                <a:srgbClr val="1C2233"/>
              </a:solidFill>
              <a:latin typeface="メイリオ"/>
              <a:ea typeface="メイリオ"/>
            </a:endParaRPr>
          </a:p>
          <a:p>
            <a:r>
              <a:rPr sz="1200" b="0">
                <a:solidFill>
                  <a:srgbClr val="1C2233"/>
                </a:solidFill>
                <a:latin typeface="メイリオ"/>
                <a:ea typeface="メイリオ"/>
                <a:cs typeface="メイリオ"/>
              </a:rPr>
              <a:t>・減ったのは「やり方を調べる」検索。残ったのは「場所を探す」検索（＝ジムだけが増えている）</a:t>
            </a:r>
          </a:p>
          <a:p>
            <a:r>
              <a:rPr sz="1200" b="0">
                <a:solidFill>
                  <a:srgbClr val="1C2233"/>
                </a:solidFill>
                <a:latin typeface="メイリオ"/>
                <a:ea typeface="メイリオ"/>
                <a:cs typeface="メイリオ"/>
              </a:rPr>
              <a:t>・移行先は医療（GLP-1系）が実データで確認できる。SNS・動画・生成AIへの分散は推測</a:t>
            </a:r>
          </a:p>
          <a:p>
            <a:r>
              <a:rPr sz="1200" b="0">
                <a:solidFill>
                  <a:srgbClr val="1C2233"/>
                </a:solidFill>
                <a:latin typeface="メイリオ"/>
                <a:ea typeface="メイリオ"/>
                <a:cs typeface="メイリオ"/>
              </a:rPr>
              <a:t>・24時間ジム系の一般KWは低位安定＝実需はエリア検索（地名×ジム）と指名検索（ブランド名）に分かれている</a:t>
            </a:r>
          </a:p>
        </p:txBody>
      </p:sp>
      <p:sp>
        <p:nvSpPr>
          <p:cNvPr id="9" name="TextBox 8"/>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cs typeface="メイリオ"/>
              </a:rPr>
              <a:t>※ 出典：Googleトレンド（日本・ウェブ検索・2021/9〜2026/9取得）。各年2〜9月の平均を2022年＝100として正規化。数値は相対値で、別々に取得したグラフ間の比較は不可。</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ニーズ調査｜年間の配信設計マトリクス（時期 × 対象 × 訴求 × CV）</a:t>
            </a:r>
          </a:p>
        </p:txBody>
      </p:sp>
      <p:sp>
        <p:nvSpPr>
          <p:cNvPr id="3" name="TextBox 2"/>
          <p:cNvSpPr txBox="1"/>
          <p:nvPr/>
        </p:nvSpPr>
        <p:spPr>
          <a:xfrm>
            <a:off x="384048" y="731520"/>
            <a:ext cx="9134856" cy="230832"/>
          </a:xfrm>
          <a:prstGeom prst="rect">
            <a:avLst/>
          </a:prstGeom>
          <a:noFill/>
        </p:spPr>
        <p:txBody>
          <a:bodyPr wrap="square" lIns="0" tIns="0" rIns="0" bIns="0">
            <a:spAutoFit/>
          </a:bodyPr>
          <a:lstStyle/>
          <a:p>
            <a:r>
              <a:rPr sz="1500" b="0" dirty="0" err="1">
                <a:solidFill>
                  <a:srgbClr val="646C82"/>
                </a:solidFill>
                <a:latin typeface="メイリオ"/>
                <a:ea typeface="メイリオ"/>
              </a:rPr>
              <a:t>需要の波が極端な業界。時期ごとに「</a:t>
            </a:r>
            <a:r>
              <a:rPr sz="1500" b="1" dirty="0" err="1">
                <a:solidFill>
                  <a:srgbClr val="646C82"/>
                </a:solidFill>
                <a:latin typeface="メイリオ"/>
                <a:ea typeface="メイリオ"/>
              </a:rPr>
              <a:t>誰に・何を言い・どこへ着地させるか</a:t>
            </a:r>
            <a:r>
              <a:rPr sz="1500" b="0" dirty="0" err="1">
                <a:solidFill>
                  <a:srgbClr val="646C82"/>
                </a:solidFill>
                <a:latin typeface="メイリオ"/>
                <a:ea typeface="メイリオ"/>
              </a:rPr>
              <a:t>」を先に決めておく</a:t>
            </a:r>
            <a:r>
              <a:rPr sz="1500" b="0" dirty="0">
                <a:solidFill>
                  <a:srgbClr val="646C82"/>
                </a:solidFill>
                <a:latin typeface="メイリオ"/>
                <a:ea typeface="メイリオ"/>
              </a:rPr>
              <a:t>。</a:t>
            </a:r>
          </a:p>
        </p:txBody>
      </p:sp>
      <p:graphicFrame>
        <p:nvGraphicFramePr>
          <p:cNvPr id="4" name="Table 3"/>
          <p:cNvGraphicFramePr>
            <a:graphicFrameLocks noGrp="1"/>
          </p:cNvGraphicFramePr>
          <p:nvPr>
            <p:extLst>
              <p:ext uri="{D42A27DB-BD31-4B8C-83A1-F6EECF244321}">
                <p14:modId xmlns:p14="http://schemas.microsoft.com/office/powerpoint/2010/main" val="1143097914"/>
              </p:ext>
            </p:extLst>
          </p:nvPr>
        </p:nvGraphicFramePr>
        <p:xfrm>
          <a:off x="384048" y="1234439"/>
          <a:ext cx="9134855" cy="3060628"/>
        </p:xfrm>
        <a:graphic>
          <a:graphicData uri="http://schemas.openxmlformats.org/drawingml/2006/table">
            <a:tbl>
              <a:tblPr firstRow="1" bandRow="1">
                <a:tableStyleId>{5C22544A-7EE6-4342-B048-85BDC9FD1C3A}</a:tableStyleId>
              </a:tblPr>
              <a:tblGrid>
                <a:gridCol w="1793095">
                  <a:extLst>
                    <a:ext uri="{9D8B030D-6E8A-4147-A177-3AD203B41FA5}">
                      <a16:colId xmlns:a16="http://schemas.microsoft.com/office/drawing/2014/main" val="20000"/>
                    </a:ext>
                  </a:extLst>
                </a:gridCol>
                <a:gridCol w="2072640">
                  <a:extLst>
                    <a:ext uri="{9D8B030D-6E8A-4147-A177-3AD203B41FA5}">
                      <a16:colId xmlns:a16="http://schemas.microsoft.com/office/drawing/2014/main" val="20001"/>
                    </a:ext>
                  </a:extLst>
                </a:gridCol>
                <a:gridCol w="3248297">
                  <a:extLst>
                    <a:ext uri="{9D8B030D-6E8A-4147-A177-3AD203B41FA5}">
                      <a16:colId xmlns:a16="http://schemas.microsoft.com/office/drawing/2014/main" val="20002"/>
                    </a:ext>
                  </a:extLst>
                </a:gridCol>
                <a:gridCol w="2020823">
                  <a:extLst>
                    <a:ext uri="{9D8B030D-6E8A-4147-A177-3AD203B41FA5}">
                      <a16:colId xmlns:a16="http://schemas.microsoft.com/office/drawing/2014/main" val="20003"/>
                    </a:ext>
                  </a:extLst>
                </a:gridCol>
              </a:tblGrid>
              <a:tr h="505669">
                <a:tc>
                  <a:txBody>
                    <a:bodyPr/>
                    <a:lstStyle/>
                    <a:p>
                      <a:pPr algn="ctr"/>
                      <a:r>
                        <a:rPr sz="1300" b="1">
                          <a:solidFill>
                            <a:srgbClr val="FFFFFF"/>
                          </a:solidFill>
                          <a:latin typeface="メイリオ"/>
                          <a:ea typeface="メイリオ"/>
                        </a:rPr>
                        <a:t>時期</a:t>
                      </a:r>
                    </a:p>
                  </a:txBody>
                  <a:tcPr>
                    <a:solidFill>
                      <a:srgbClr val="1F2A5C"/>
                    </a:solidFill>
                  </a:tcPr>
                </a:tc>
                <a:tc>
                  <a:txBody>
                    <a:bodyPr/>
                    <a:lstStyle/>
                    <a:p>
                      <a:pPr algn="ctr"/>
                      <a:r>
                        <a:rPr sz="1300" b="1" dirty="0" err="1">
                          <a:solidFill>
                            <a:srgbClr val="FFFFFF"/>
                          </a:solidFill>
                          <a:latin typeface="メイリオ"/>
                          <a:ea typeface="メイリオ"/>
                        </a:rPr>
                        <a:t>主な対象</a:t>
                      </a:r>
                      <a:endParaRPr sz="1300" b="1" dirty="0">
                        <a:solidFill>
                          <a:srgbClr val="FFFFFF"/>
                        </a:solidFill>
                        <a:latin typeface="メイリオ"/>
                        <a:ea typeface="メイリオ"/>
                      </a:endParaRPr>
                    </a:p>
                  </a:txBody>
                  <a:tcPr>
                    <a:solidFill>
                      <a:srgbClr val="1F2A5C"/>
                    </a:solidFill>
                  </a:tcPr>
                </a:tc>
                <a:tc>
                  <a:txBody>
                    <a:bodyPr/>
                    <a:lstStyle/>
                    <a:p>
                      <a:pPr algn="ctr"/>
                      <a:r>
                        <a:rPr sz="1300" b="1">
                          <a:solidFill>
                            <a:srgbClr val="FFFFFF"/>
                          </a:solidFill>
                          <a:latin typeface="メイリオ"/>
                          <a:ea typeface="メイリオ"/>
                        </a:rPr>
                        <a:t>訴求軸</a:t>
                      </a:r>
                    </a:p>
                  </a:txBody>
                  <a:tcPr>
                    <a:solidFill>
                      <a:srgbClr val="1F2A5C"/>
                    </a:solidFill>
                  </a:tcPr>
                </a:tc>
                <a:tc>
                  <a:txBody>
                    <a:bodyPr/>
                    <a:lstStyle/>
                    <a:p>
                      <a:pPr algn="ctr"/>
                      <a:r>
                        <a:rPr sz="1300" b="1">
                          <a:solidFill>
                            <a:srgbClr val="FFFFFF"/>
                          </a:solidFill>
                          <a:latin typeface="メイリオ"/>
                          <a:ea typeface="メイリオ"/>
                        </a:rPr>
                        <a:t>CV地点</a:t>
                      </a:r>
                    </a:p>
                  </a:txBody>
                  <a:tcPr>
                    <a:solidFill>
                      <a:srgbClr val="1F2A5C"/>
                    </a:solidFill>
                  </a:tcPr>
                </a:tc>
                <a:extLst>
                  <a:ext uri="{0D108BD9-81ED-4DB2-BD59-A6C34878D82A}">
                    <a16:rowId xmlns:a16="http://schemas.microsoft.com/office/drawing/2014/main" val="10000"/>
                  </a:ext>
                </a:extLst>
              </a:tr>
              <a:tr h="505669">
                <a:tc>
                  <a:txBody>
                    <a:bodyPr/>
                    <a:lstStyle/>
                    <a:p>
                      <a:pPr algn="l"/>
                      <a:r>
                        <a:rPr sz="1200" b="0">
                          <a:solidFill>
                            <a:srgbClr val="1C2233"/>
                          </a:solidFill>
                          <a:latin typeface="メイリオ"/>
                          <a:ea typeface="メイリオ"/>
                        </a:rPr>
                        <a:t>1月（最大ピーク）</a:t>
                      </a:r>
                    </a:p>
                  </a:txBody>
                  <a:tcPr>
                    <a:solidFill>
                      <a:srgbClr val="FFFFFF"/>
                    </a:solidFill>
                  </a:tcPr>
                </a:tc>
                <a:tc>
                  <a:txBody>
                    <a:bodyPr/>
                    <a:lstStyle/>
                    <a:p>
                      <a:pPr algn="ctr"/>
                      <a:r>
                        <a:rPr sz="1200" b="0">
                          <a:solidFill>
                            <a:srgbClr val="1C2233"/>
                          </a:solidFill>
                          <a:latin typeface="メイリオ"/>
                          <a:ea typeface="メイリオ"/>
                        </a:rPr>
                        <a:t>新年の決意層・運動初心者</a:t>
                      </a:r>
                    </a:p>
                  </a:txBody>
                  <a:tcPr>
                    <a:solidFill>
                      <a:srgbClr val="FFFFFF"/>
                    </a:solidFill>
                  </a:tcPr>
                </a:tc>
                <a:tc>
                  <a:txBody>
                    <a:bodyPr/>
                    <a:lstStyle/>
                    <a:p>
                      <a:pPr algn="ctr"/>
                      <a:r>
                        <a:rPr sz="1200" b="0">
                          <a:solidFill>
                            <a:srgbClr val="1C2233"/>
                          </a:solidFill>
                          <a:latin typeface="メイリオ"/>
                          <a:ea typeface="メイリオ"/>
                        </a:rPr>
                        <a:t>「今年こそ」習慣化サポート／入会金無料</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1"/>
                  </a:ext>
                </a:extLst>
              </a:tr>
              <a:tr h="532283">
                <a:tc>
                  <a:txBody>
                    <a:bodyPr/>
                    <a:lstStyle/>
                    <a:p>
                      <a:pPr algn="l"/>
                      <a:r>
                        <a:rPr sz="1200" b="0">
                          <a:solidFill>
                            <a:srgbClr val="1C2233"/>
                          </a:solidFill>
                          <a:latin typeface="メイリオ"/>
                          <a:ea typeface="メイリオ"/>
                        </a:rPr>
                        <a:t>4月（新生活）</a:t>
                      </a:r>
                    </a:p>
                  </a:txBody>
                  <a:tcPr>
                    <a:solidFill>
                      <a:srgbClr val="EFF1F7"/>
                    </a:solidFill>
                  </a:tcPr>
                </a:tc>
                <a:tc>
                  <a:txBody>
                    <a:bodyPr/>
                    <a:lstStyle/>
                    <a:p>
                      <a:pPr algn="ctr"/>
                      <a:r>
                        <a:rPr sz="1200" b="0">
                          <a:solidFill>
                            <a:srgbClr val="1C2233"/>
                          </a:solidFill>
                          <a:latin typeface="メイリオ"/>
                          <a:ea typeface="メイリオ"/>
                        </a:rPr>
                        <a:t>転居・異動・新社会人</a:t>
                      </a:r>
                    </a:p>
                  </a:txBody>
                  <a:tcPr>
                    <a:solidFill>
                      <a:srgbClr val="EFF1F7"/>
                    </a:solidFill>
                  </a:tcPr>
                </a:tc>
                <a:tc>
                  <a:txBody>
                    <a:bodyPr/>
                    <a:lstStyle/>
                    <a:p>
                      <a:pPr algn="ctr"/>
                      <a:r>
                        <a:rPr sz="1200" b="0">
                          <a:solidFill>
                            <a:srgbClr val="1C2233"/>
                          </a:solidFill>
                          <a:latin typeface="メイリオ"/>
                          <a:ea typeface="メイリオ"/>
                        </a:rPr>
                        <a:t>近い・24時間・続けやすい</a:t>
                      </a:r>
                    </a:p>
                  </a:txBody>
                  <a:tcPr>
                    <a:solidFill>
                      <a:srgbClr val="EFF1F7"/>
                    </a:solidFill>
                  </a:tcPr>
                </a:tc>
                <a:tc>
                  <a:txBody>
                    <a:bodyPr/>
                    <a:lstStyle/>
                    <a:p>
                      <a:pPr algn="ctr"/>
                      <a:r>
                        <a:rPr sz="1200" b="0">
                          <a:solidFill>
                            <a:srgbClr val="1C2233"/>
                          </a:solidFill>
                          <a:latin typeface="メイリオ"/>
                          <a:ea typeface="メイリオ"/>
                        </a:rPr>
                        <a:t>体験・見学予約【CV①】</a:t>
                      </a:r>
                    </a:p>
                  </a:txBody>
                  <a:tcPr>
                    <a:solidFill>
                      <a:srgbClr val="EFF1F7"/>
                    </a:solidFill>
                  </a:tcPr>
                </a:tc>
                <a:extLst>
                  <a:ext uri="{0D108BD9-81ED-4DB2-BD59-A6C34878D82A}">
                    <a16:rowId xmlns:a16="http://schemas.microsoft.com/office/drawing/2014/main" val="10002"/>
                  </a:ext>
                </a:extLst>
              </a:tr>
              <a:tr h="505669">
                <a:tc>
                  <a:txBody>
                    <a:bodyPr/>
                    <a:lstStyle/>
                    <a:p>
                      <a:pPr algn="l"/>
                      <a:r>
                        <a:rPr sz="1200" b="0">
                          <a:solidFill>
                            <a:srgbClr val="1C2233"/>
                          </a:solidFill>
                          <a:latin typeface="メイリオ"/>
                          <a:ea typeface="メイリオ"/>
                        </a:rPr>
                        <a:t>5〜7月（薄着期）</a:t>
                      </a:r>
                    </a:p>
                  </a:txBody>
                  <a:tcPr>
                    <a:solidFill>
                      <a:srgbClr val="FFFFFF"/>
                    </a:solidFill>
                  </a:tcPr>
                </a:tc>
                <a:tc>
                  <a:txBody>
                    <a:bodyPr/>
                    <a:lstStyle/>
                    <a:p>
                      <a:pPr algn="ctr"/>
                      <a:r>
                        <a:rPr sz="1200" b="0">
                          <a:solidFill>
                            <a:srgbClr val="1C2233"/>
                          </a:solidFill>
                          <a:latin typeface="メイリオ"/>
                          <a:ea typeface="メイリオ"/>
                        </a:rPr>
                        <a:t>目的が明確なダイエット層</a:t>
                      </a:r>
                    </a:p>
                  </a:txBody>
                  <a:tcPr>
                    <a:solidFill>
                      <a:srgbClr val="FFFFFF"/>
                    </a:solidFill>
                  </a:tcPr>
                </a:tc>
                <a:tc>
                  <a:txBody>
                    <a:bodyPr/>
                    <a:lstStyle/>
                    <a:p>
                      <a:pPr algn="ctr"/>
                      <a:r>
                        <a:rPr sz="1200" b="0">
                          <a:solidFill>
                            <a:srgbClr val="1C2233"/>
                          </a:solidFill>
                          <a:latin typeface="メイリオ"/>
                          <a:ea typeface="メイリオ"/>
                        </a:rPr>
                        <a:t>3ヶ月で変わる／ビフォーアフター実例</a:t>
                      </a:r>
                    </a:p>
                  </a:txBody>
                  <a:tcPr>
                    <a:solidFill>
                      <a:srgbClr val="FFFFFF"/>
                    </a:solidFill>
                  </a:tcPr>
                </a:tc>
                <a:tc>
                  <a:txBody>
                    <a:bodyPr/>
                    <a:lstStyle/>
                    <a:p>
                      <a:pPr algn="ctr"/>
                      <a:r>
                        <a:rPr sz="1200" b="0">
                          <a:solidFill>
                            <a:srgbClr val="1C2233"/>
                          </a:solidFill>
                          <a:latin typeface="メイリオ"/>
                          <a:ea typeface="メイリオ"/>
                        </a:rPr>
                        <a:t>体験予約【CV①】</a:t>
                      </a:r>
                    </a:p>
                  </a:txBody>
                  <a:tcPr>
                    <a:solidFill>
                      <a:srgbClr val="FFFFFF"/>
                    </a:solidFill>
                  </a:tcPr>
                </a:tc>
                <a:extLst>
                  <a:ext uri="{0D108BD9-81ED-4DB2-BD59-A6C34878D82A}">
                    <a16:rowId xmlns:a16="http://schemas.microsoft.com/office/drawing/2014/main" val="10003"/>
                  </a:ext>
                </a:extLst>
              </a:tr>
              <a:tr h="505669">
                <a:tc>
                  <a:txBody>
                    <a:bodyPr/>
                    <a:lstStyle/>
                    <a:p>
                      <a:pPr algn="l"/>
                      <a:r>
                        <a:rPr sz="1200" b="0">
                          <a:solidFill>
                            <a:srgbClr val="1C2233"/>
                          </a:solidFill>
                          <a:latin typeface="メイリオ"/>
                          <a:ea typeface="メイリオ"/>
                        </a:rPr>
                        <a:t>8月後半〜9月</a:t>
                      </a:r>
                    </a:p>
                  </a:txBody>
                  <a:tcPr>
                    <a:solidFill>
                      <a:srgbClr val="EFF1F7"/>
                    </a:solidFill>
                  </a:tcPr>
                </a:tc>
                <a:tc>
                  <a:txBody>
                    <a:bodyPr/>
                    <a:lstStyle/>
                    <a:p>
                      <a:pPr algn="ctr"/>
                      <a:r>
                        <a:rPr sz="1200" b="0">
                          <a:solidFill>
                            <a:srgbClr val="1C2233"/>
                          </a:solidFill>
                          <a:latin typeface="メイリオ"/>
                          <a:ea typeface="メイリオ"/>
                        </a:rPr>
                        <a:t>夏に動けなかった層</a:t>
                      </a:r>
                    </a:p>
                  </a:txBody>
                  <a:tcPr>
                    <a:solidFill>
                      <a:srgbClr val="EFF1F7"/>
                    </a:solidFill>
                  </a:tcPr>
                </a:tc>
                <a:tc>
                  <a:txBody>
                    <a:bodyPr/>
                    <a:lstStyle/>
                    <a:p>
                      <a:pPr algn="ctr"/>
                      <a:r>
                        <a:rPr sz="1200" b="0">
                          <a:solidFill>
                            <a:srgbClr val="1C2233"/>
                          </a:solidFill>
                          <a:latin typeface="メイリオ"/>
                          <a:ea typeface="メイリオ"/>
                        </a:rPr>
                        <a:t>秋から始める／今なら空いている</a:t>
                      </a:r>
                    </a:p>
                  </a:txBody>
                  <a:tcPr>
                    <a:solidFill>
                      <a:srgbClr val="EFF1F7"/>
                    </a:solidFill>
                  </a:tcPr>
                </a:tc>
                <a:tc>
                  <a:txBody>
                    <a:bodyPr/>
                    <a:lstStyle/>
                    <a:p>
                      <a:pPr algn="ctr"/>
                      <a:r>
                        <a:rPr sz="1200" b="0">
                          <a:solidFill>
                            <a:srgbClr val="1C2233"/>
                          </a:solidFill>
                          <a:latin typeface="メイリオ"/>
                          <a:ea typeface="メイリオ"/>
                        </a:rPr>
                        <a:t>見学・チャット相談</a:t>
                      </a:r>
                    </a:p>
                  </a:txBody>
                  <a:tcPr>
                    <a:solidFill>
                      <a:srgbClr val="EFF1F7"/>
                    </a:solidFill>
                  </a:tcPr>
                </a:tc>
                <a:extLst>
                  <a:ext uri="{0D108BD9-81ED-4DB2-BD59-A6C34878D82A}">
                    <a16:rowId xmlns:a16="http://schemas.microsoft.com/office/drawing/2014/main" val="10004"/>
                  </a:ext>
                </a:extLst>
              </a:tr>
              <a:tr h="505669">
                <a:tc>
                  <a:txBody>
                    <a:bodyPr/>
                    <a:lstStyle/>
                    <a:p>
                      <a:pPr algn="l"/>
                      <a:r>
                        <a:rPr sz="1200" b="0" dirty="0">
                          <a:solidFill>
                            <a:srgbClr val="1C2233"/>
                          </a:solidFill>
                          <a:latin typeface="メイリオ"/>
                          <a:ea typeface="メイリオ"/>
                        </a:rPr>
                        <a:t>10〜12月（仕込み期）</a:t>
                      </a:r>
                    </a:p>
                  </a:txBody>
                  <a:tcPr>
                    <a:solidFill>
                      <a:srgbClr val="FFFFFF"/>
                    </a:solidFill>
                  </a:tcPr>
                </a:tc>
                <a:tc>
                  <a:txBody>
                    <a:bodyPr/>
                    <a:lstStyle/>
                    <a:p>
                      <a:pPr algn="ctr"/>
                      <a:r>
                        <a:rPr sz="1200" b="0">
                          <a:solidFill>
                            <a:srgbClr val="1C2233"/>
                          </a:solidFill>
                          <a:latin typeface="メイリオ"/>
                          <a:ea typeface="メイリオ"/>
                        </a:rPr>
                        <a:t>検討初期・情報収集層</a:t>
                      </a:r>
                    </a:p>
                  </a:txBody>
                  <a:tcPr>
                    <a:solidFill>
                      <a:srgbClr val="FFFFFF"/>
                    </a:solidFill>
                  </a:tcPr>
                </a:tc>
                <a:tc>
                  <a:txBody>
                    <a:bodyPr/>
                    <a:lstStyle/>
                    <a:p>
                      <a:pPr algn="ctr"/>
                      <a:r>
                        <a:rPr sz="1200" b="0">
                          <a:solidFill>
                            <a:srgbClr val="1C2233"/>
                          </a:solidFill>
                          <a:latin typeface="メイリオ"/>
                          <a:ea typeface="メイリオ"/>
                        </a:rPr>
                        <a:t>体づくりタイプ診断／料金シミュレーター</a:t>
                      </a:r>
                    </a:p>
                  </a:txBody>
                  <a:tcPr>
                    <a:solidFill>
                      <a:srgbClr val="FFFFFF"/>
                    </a:solidFill>
                  </a:tcPr>
                </a:tc>
                <a:tc>
                  <a:txBody>
                    <a:bodyPr/>
                    <a:lstStyle/>
                    <a:p>
                      <a:pPr algn="ctr"/>
                      <a:r>
                        <a:rPr sz="1200" b="1" dirty="0" err="1">
                          <a:solidFill>
                            <a:srgbClr val="FFFFFF"/>
                          </a:solidFill>
                          <a:latin typeface="メイリオ"/>
                          <a:ea typeface="メイリオ"/>
                        </a:rPr>
                        <a:t>LINE友だち追加</a:t>
                      </a:r>
                      <a:endParaRPr sz="1200" b="1" dirty="0">
                        <a:solidFill>
                          <a:srgbClr val="FFFFFF"/>
                        </a:solidFill>
                        <a:latin typeface="メイリオ"/>
                        <a:ea typeface="メイリオ"/>
                      </a:endParaRPr>
                    </a:p>
                  </a:txBody>
                  <a:tcPr>
                    <a:solidFill>
                      <a:srgbClr val="BF4E0E"/>
                    </a:solid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384048"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ピーク月は広告費も最高値</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1月はCPCが最も高い。</a:t>
            </a:r>
            <a:r>
              <a:rPr lang="ja-JP" altLang="en-US" sz="1400" dirty="0">
                <a:solidFill>
                  <a:srgbClr val="1C2233"/>
                </a:solidFill>
                <a:latin typeface="メイリオ"/>
                <a:ea typeface="メイリオ"/>
              </a:rPr>
              <a:t>　　　</a:t>
            </a:r>
            <a:r>
              <a:rPr sz="1400" b="0" dirty="0" err="1">
                <a:solidFill>
                  <a:srgbClr val="1C2233"/>
                </a:solidFill>
                <a:latin typeface="メイリオ"/>
                <a:ea typeface="メイリオ"/>
              </a:rPr>
              <a:t>同じ予算で取れる件数が最も少ない月でもある</a:t>
            </a:r>
            <a:r>
              <a:rPr sz="1400" b="0" dirty="0">
                <a:solidFill>
                  <a:srgbClr val="1C2233"/>
                </a:solidFill>
                <a:latin typeface="メイリオ"/>
                <a:ea typeface="メイリオ"/>
              </a:rPr>
              <a:t>。</a:t>
            </a:r>
          </a:p>
        </p:txBody>
      </p:sp>
      <p:sp>
        <p:nvSpPr>
          <p:cNvPr id="6" name="Rounded Rectangle 5"/>
          <p:cNvSpPr/>
          <p:nvPr/>
        </p:nvSpPr>
        <p:spPr>
          <a:xfrm>
            <a:off x="3383279"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検討期間は数日〜2週間</a:t>
            </a:r>
          </a:p>
          <a:p>
            <a:pPr algn="l">
              <a:spcBef>
                <a:spcPts val="200"/>
              </a:spcBef>
            </a:pPr>
            <a:r>
              <a:rPr sz="1400" b="0" dirty="0" err="1">
                <a:solidFill>
                  <a:srgbClr val="1C2233"/>
                </a:solidFill>
                <a:latin typeface="メイリオ"/>
                <a:ea typeface="メイリオ"/>
              </a:rPr>
              <a:t>広告で追いかける時間がない。思い立った時点で候補に入っていないと負ける</a:t>
            </a:r>
            <a:r>
              <a:rPr sz="1400" b="0" dirty="0">
                <a:solidFill>
                  <a:srgbClr val="1C2233"/>
                </a:solidFill>
                <a:latin typeface="メイリオ"/>
                <a:ea typeface="メイリオ"/>
              </a:rPr>
              <a:t>。</a:t>
            </a:r>
          </a:p>
        </p:txBody>
      </p:sp>
      <p:sp>
        <p:nvSpPr>
          <p:cNvPr id="7" name="Rounded Rectangle 6"/>
          <p:cNvSpPr/>
          <p:nvPr/>
        </p:nvSpPr>
        <p:spPr>
          <a:xfrm>
            <a:off x="6382512" y="4487091"/>
            <a:ext cx="2788920" cy="100584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err="1">
                <a:solidFill>
                  <a:srgbClr val="1C2233"/>
                </a:solidFill>
                <a:latin typeface="メイリオ"/>
                <a:ea typeface="メイリオ"/>
              </a:rPr>
              <a:t>だから閑散期に友だちを溜める</a:t>
            </a:r>
            <a:endParaRPr sz="1200" b="1" dirty="0">
              <a:solidFill>
                <a:srgbClr val="1C2233"/>
              </a:solidFill>
              <a:latin typeface="メイリオ"/>
              <a:ea typeface="メイリオ"/>
            </a:endParaRPr>
          </a:p>
          <a:p>
            <a:pPr algn="l">
              <a:spcBef>
                <a:spcPts val="200"/>
              </a:spcBef>
            </a:pPr>
            <a:r>
              <a:rPr sz="1400" b="0" dirty="0">
                <a:solidFill>
                  <a:srgbClr val="1C2233"/>
                </a:solidFill>
                <a:latin typeface="メイリオ"/>
                <a:ea typeface="メイリオ"/>
              </a:rPr>
              <a:t>10〜12月に集めた友だちに、</a:t>
            </a:r>
            <a:r>
              <a:rPr lang="ja-JP" altLang="en-US" sz="1400" b="0" dirty="0">
                <a:solidFill>
                  <a:srgbClr val="1C2233"/>
                </a:solidFill>
                <a:latin typeface="メイリオ"/>
                <a:ea typeface="メイリオ"/>
              </a:rPr>
              <a:t>　</a:t>
            </a:r>
            <a:r>
              <a:rPr sz="1400" b="0" dirty="0">
                <a:solidFill>
                  <a:srgbClr val="1C2233"/>
                </a:solidFill>
                <a:latin typeface="メイリオ"/>
                <a:ea typeface="メイリオ"/>
              </a:rPr>
              <a:t>1月1日へ広告費ゼロで届く。</a:t>
            </a:r>
          </a:p>
        </p:txBody>
      </p:sp>
      <p:sp>
        <p:nvSpPr>
          <p:cNvPr id="8" name="Rectangle 7"/>
          <p:cNvSpPr/>
          <p:nvPr/>
        </p:nvSpPr>
        <p:spPr>
          <a:xfrm>
            <a:off x="384048" y="5648379"/>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29768" y="5648379"/>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5748963"/>
            <a:ext cx="8814816" cy="215444"/>
          </a:xfrm>
          <a:prstGeom prst="rect">
            <a:avLst/>
          </a:prstGeom>
          <a:noFill/>
        </p:spPr>
        <p:txBody>
          <a:bodyPr wrap="square" lIns="0" tIns="0" rIns="0" bIns="0">
            <a:spAutoFit/>
          </a:bodyPr>
          <a:lstStyle/>
          <a:p>
            <a:r>
              <a:rPr sz="1400" b="0" dirty="0" err="1">
                <a:solidFill>
                  <a:srgbClr val="1C2233"/>
                </a:solidFill>
                <a:latin typeface="メイリオ"/>
                <a:ea typeface="メイリオ"/>
              </a:rPr>
              <a:t>ピーク月に広告費を積むのは全社やる。差がつくのは、その前に何人リスト化できているか</a:t>
            </a:r>
            <a:r>
              <a:rPr sz="1400" b="0" dirty="0">
                <a:solidFill>
                  <a:srgbClr val="1C2233"/>
                </a:solidFill>
                <a:latin typeface="メイリオ"/>
                <a:ea typeface="メイリオ"/>
              </a:rPr>
              <a:t>。</a:t>
            </a:r>
          </a:p>
        </p:txBody>
      </p:sp>
      <p:sp>
        <p:nvSpPr>
          <p:cNvPr id="11" name="TextBox 10"/>
          <p:cNvSpPr txBox="1"/>
          <p:nvPr/>
        </p:nvSpPr>
        <p:spPr>
          <a:xfrm>
            <a:off x="384048" y="6315891"/>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実績数値（CV地点別のCPC／CVR／CPA）は社内データ確認のうえ最終版で差し込みます。時期区分はGoogleトレンド（過去5年・2026/8/17取得）で確認済み。</a:t>
            </a:r>
          </a:p>
        </p:txBody>
      </p:sp>
    </p:spTree>
    <p:extLst>
      <p:ext uri="{BB962C8B-B14F-4D97-AF65-F5344CB8AC3E}">
        <p14:creationId xmlns:p14="http://schemas.microsoft.com/office/powerpoint/2010/main" val="7965261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12"/>
          <p:cNvSpPr txBox="1"/>
          <p:nvPr/>
        </p:nvSpPr>
        <p:spPr>
          <a:xfrm>
            <a:off x="548883" y="138118"/>
            <a:ext cx="6276325"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chemeClr val="dk1"/>
              </a:buClr>
              <a:buSzPts val="1600"/>
              <a:buFont typeface="Arial"/>
              <a:buNone/>
            </a:pPr>
            <a:r>
              <a:rPr lang="ja-JP" sz="1600" b="1" dirty="0">
                <a:solidFill>
                  <a:srgbClr val="173559"/>
                </a:solidFill>
                <a:latin typeface="メイリオ"/>
                <a:ea typeface="メイリオ"/>
                <a:cs typeface="Meiryo"/>
                <a:sym typeface="Meiryo"/>
              </a:rPr>
              <a:t>ニーズ調査｜前後検索</a:t>
            </a:r>
            <a:endParaRPr sz="1600" b="1" dirty="0">
              <a:solidFill>
                <a:srgbClr val="173559"/>
              </a:solidFill>
              <a:latin typeface="メイリオ"/>
              <a:ea typeface="メイリオ"/>
              <a:cs typeface="Meiryo"/>
              <a:sym typeface="Meiryo"/>
            </a:endParaRPr>
          </a:p>
        </p:txBody>
      </p:sp>
      <p:cxnSp>
        <p:nvCxnSpPr>
          <p:cNvPr id="471" name="Google Shape;471;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2" name="Google Shape;472;p12"/>
          <p:cNvSpPr/>
          <p:nvPr/>
        </p:nvSpPr>
        <p:spPr>
          <a:xfrm>
            <a:off x="-6096" y="531754"/>
            <a:ext cx="9906000" cy="361950"/>
          </a:xfrm>
          <a:prstGeom prst="rect">
            <a:avLst/>
          </a:prstGeom>
          <a:noFill/>
          <a:ln>
            <a:noFill/>
          </a:ln>
        </p:spPr>
        <p:txBody>
          <a:bodyPr spcFirstLastPara="1" wrap="square" lIns="91425" tIns="90000" rIns="91425" bIns="45700" anchor="ctr" anchorCtr="0">
            <a:noAutofit/>
          </a:bodyPr>
          <a:lstStyle/>
          <a:p>
            <a:pPr marL="0" marR="0" lvl="0" indent="0" algn="ctr" rtl="0">
              <a:spcBef>
                <a:spcPts val="0"/>
              </a:spcBef>
              <a:spcAft>
                <a:spcPts val="0"/>
              </a:spcAft>
              <a:buNone/>
            </a:pPr>
            <a:r>
              <a:rPr lang="ja-JP" dirty="0">
                <a:solidFill>
                  <a:srgbClr val="262626"/>
                </a:solidFill>
                <a:latin typeface="メイリオ"/>
                <a:ea typeface="メイリオ"/>
                <a:cs typeface="Meiryo"/>
                <a:sym typeface="Meiryo"/>
              </a:rPr>
              <a:t>ユーザー</a:t>
            </a:r>
            <a:r>
              <a:rPr lang="ja-JP" sz="2000" dirty="0">
                <a:solidFill>
                  <a:srgbClr val="262626"/>
                </a:solidFill>
                <a:latin typeface="メイリオ"/>
                <a:ea typeface="メイリオ"/>
                <a:cs typeface="Meiryo"/>
                <a:sym typeface="Meiryo"/>
              </a:rPr>
              <a:t>の検索動向</a:t>
            </a:r>
            <a:endParaRPr sz="2000" dirty="0">
              <a:solidFill>
                <a:srgbClr val="262626"/>
              </a:solidFill>
              <a:latin typeface="メイリオ"/>
              <a:ea typeface="メイリオ"/>
              <a:cs typeface="Meiryo"/>
              <a:sym typeface="Meiryo"/>
            </a:endParaRPr>
          </a:p>
        </p:txBody>
      </p:sp>
      <p:sp>
        <p:nvSpPr>
          <p:cNvPr id="473" name="Google Shape;473;p12"/>
          <p:cNvSpPr/>
          <p:nvPr/>
        </p:nvSpPr>
        <p:spPr>
          <a:xfrm>
            <a:off x="440436" y="887456"/>
            <a:ext cx="9465564" cy="403710"/>
          </a:xfrm>
          <a:prstGeom prst="rect">
            <a:avLst/>
          </a:prstGeom>
          <a:noFill/>
          <a:ln>
            <a:noFill/>
          </a:ln>
        </p:spPr>
        <p:txBody>
          <a:bodyPr spcFirstLastPara="1" wrap="square" lIns="91425" tIns="45700" rIns="91425" bIns="45700" anchor="ctr" anchorCtr="0">
            <a:noAutofit/>
          </a:bodyPr>
          <a:lstStyle/>
          <a:p>
            <a:pPr marL="0" marR="0" lvl="0" indent="0" rtl="0">
              <a:lnSpc>
                <a:spcPct val="115000"/>
              </a:lnSpc>
              <a:spcBef>
                <a:spcPts val="0"/>
              </a:spcBef>
              <a:spcAft>
                <a:spcPts val="0"/>
              </a:spcAft>
              <a:buNone/>
            </a:pPr>
            <a:r>
              <a:rPr sz="1200" b="1" dirty="0">
                <a:solidFill>
                  <a:srgbClr val="1A1A2E"/>
                </a:solidFill>
                <a:latin typeface="メイリオ"/>
                <a:ea typeface="メイリオ"/>
                <a:cs typeface="メイリオ"/>
              </a:rPr>
              <a:t>検索前後15日は4つに分かれる。手段さがし → </a:t>
            </a:r>
            <a:r>
              <a:rPr sz="1200" b="1" dirty="0" err="1">
                <a:solidFill>
                  <a:srgbClr val="1A1A2E"/>
                </a:solidFill>
                <a:latin typeface="メイリオ"/>
                <a:ea typeface="メイリオ"/>
                <a:cs typeface="メイリオ"/>
              </a:rPr>
              <a:t>比較と相場</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通い始めの</a:t>
            </a:r>
            <a:r>
              <a:rPr lang="ja-JP" altLang="en-US" sz="1200" b="1" dirty="0">
                <a:solidFill>
                  <a:srgbClr val="1A1A2E"/>
                </a:solidFill>
                <a:latin typeface="メイリオ"/>
                <a:ea typeface="メイリオ"/>
                <a:cs typeface="メイリオ"/>
              </a:rPr>
              <a:t>イメージ</a:t>
            </a:r>
            <a:r>
              <a:rPr sz="1200" b="1" dirty="0">
                <a:solidFill>
                  <a:srgbClr val="1A1A2E"/>
                </a:solidFill>
                <a:latin typeface="メイリオ"/>
                <a:ea typeface="メイリオ"/>
                <a:cs typeface="メイリオ"/>
              </a:rPr>
              <a:t> → </a:t>
            </a:r>
            <a:r>
              <a:rPr sz="1200" b="1" dirty="0" err="1">
                <a:solidFill>
                  <a:srgbClr val="1A1A2E"/>
                </a:solidFill>
                <a:latin typeface="メイリオ"/>
                <a:ea typeface="メイリオ"/>
                <a:cs typeface="メイリオ"/>
              </a:rPr>
              <a:t>効果への不安</a:t>
            </a:r>
            <a:r>
              <a:rPr sz="1200" b="1" dirty="0">
                <a:solidFill>
                  <a:srgbClr val="1A1A2E"/>
                </a:solidFill>
                <a:latin typeface="メイリオ"/>
                <a:ea typeface="メイリオ"/>
                <a:cs typeface="メイリオ"/>
              </a:rPr>
              <a:t>。</a:t>
            </a:r>
            <a:endParaRPr sz="1200" dirty="0">
              <a:solidFill>
                <a:srgbClr val="3F3F3F"/>
              </a:solidFill>
              <a:latin typeface="メイリオ"/>
              <a:ea typeface="メイリオ"/>
              <a:cs typeface="Meiryo"/>
              <a:sym typeface="Meiryo"/>
            </a:endParaRPr>
          </a:p>
          <a:p>
            <a:pPr>
              <a:lnSpc>
                <a:spcPct val="115000"/>
              </a:lnSpc>
            </a:pPr>
            <a:r>
              <a:rPr sz="1200" b="1" dirty="0" err="1">
                <a:solidFill>
                  <a:srgbClr val="1A1A2E"/>
                </a:solidFill>
                <a:latin typeface="メイリオ"/>
                <a:ea typeface="メイリオ"/>
                <a:cs typeface="メイリオ"/>
              </a:rPr>
              <a:t>ジムの競合は、他のジムだけではない</a:t>
            </a:r>
            <a:r>
              <a:rPr sz="1200" b="1" dirty="0">
                <a:solidFill>
                  <a:srgbClr val="1A1A2E"/>
                </a:solidFill>
                <a:latin typeface="メイリオ"/>
                <a:ea typeface="メイリオ"/>
                <a:cs typeface="メイリオ"/>
              </a:rPr>
              <a:t>。</a:t>
            </a:r>
            <a:r>
              <a:rPr lang="ja-JP" altLang="en-US" sz="1200" b="1" dirty="0">
                <a:solidFill>
                  <a:srgbClr val="1A1A2E"/>
                </a:solidFill>
                <a:latin typeface="メイリオ"/>
                <a:ea typeface="メイリオ"/>
                <a:cs typeface="メイリオ"/>
              </a:rPr>
              <a:t>他の自分磨きの手段も混在</a:t>
            </a:r>
            <a:endParaRPr sz="1200" b="1" dirty="0">
              <a:solidFill>
                <a:srgbClr val="1A1A2E"/>
              </a:solidFill>
              <a:latin typeface="メイリオ"/>
              <a:ea typeface="メイリオ"/>
              <a:cs typeface="メイリオ"/>
            </a:endParaRPr>
          </a:p>
        </p:txBody>
      </p:sp>
      <p:cxnSp>
        <p:nvCxnSpPr>
          <p:cNvPr id="474" name="Google Shape;474;p12"/>
          <p:cNvCxnSpPr/>
          <p:nvPr/>
        </p:nvCxnSpPr>
        <p:spPr>
          <a:xfrm>
            <a:off x="0" y="1318670"/>
            <a:ext cx="9906000" cy="0"/>
          </a:xfrm>
          <a:prstGeom prst="straightConnector1">
            <a:avLst/>
          </a:prstGeom>
          <a:noFill/>
          <a:ln w="19050" cap="flat" cmpd="sng">
            <a:solidFill>
              <a:srgbClr val="D8D8D8">
                <a:alpha val="60000"/>
              </a:srgbClr>
            </a:solidFill>
            <a:prstDash val="solid"/>
            <a:round/>
            <a:headEnd type="none" w="sm" len="sm"/>
            <a:tailEnd type="none" w="sm" len="sm"/>
          </a:ln>
        </p:spPr>
      </p:cxnSp>
      <p:sp>
        <p:nvSpPr>
          <p:cNvPr id="475" name="Google Shape;475;p12"/>
          <p:cNvSpPr/>
          <p:nvPr/>
        </p:nvSpPr>
        <p:spPr>
          <a:xfrm>
            <a:off x="0" y="1362853"/>
            <a:ext cx="9906000" cy="295968"/>
          </a:xfrm>
          <a:prstGeom prst="rect">
            <a:avLst/>
          </a:prstGeom>
          <a:solidFill>
            <a:srgbClr val="0F24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100" b="1">
                <a:solidFill>
                  <a:schemeClr val="lt1"/>
                </a:solidFill>
                <a:latin typeface="メイリオ"/>
                <a:ea typeface="メイリオ"/>
                <a:cs typeface="Meiryo"/>
                <a:sym typeface="Meiryo"/>
              </a:rPr>
              <a:t>「パーソナルジム」の検索前後（LINEヤフー media Journey・実データ）</a:t>
            </a:r>
            <a:endParaRPr sz="1100" b="1">
              <a:solidFill>
                <a:schemeClr val="lt1"/>
              </a:solidFill>
              <a:latin typeface="メイリオ"/>
              <a:ea typeface="メイリオ"/>
              <a:cs typeface="Meiryo"/>
              <a:sym typeface="Meiryo"/>
            </a:endParaRPr>
          </a:p>
        </p:txBody>
      </p:sp>
      <p:sp>
        <p:nvSpPr>
          <p:cNvPr id="487" name="Rectangle 486"/>
          <p:cNvSpPr/>
          <p:nvPr/>
        </p:nvSpPr>
        <p:spPr>
          <a:xfrm>
            <a:off x="193897" y="1718362"/>
            <a:ext cx="9151271" cy="3744951"/>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1" name="TextBox 490"/>
          <p:cNvSpPr txBox="1"/>
          <p:nvPr/>
        </p:nvSpPr>
        <p:spPr>
          <a:xfrm>
            <a:off x="385572" y="6248400"/>
            <a:ext cx="9134856" cy="310896"/>
          </a:xfrm>
          <a:prstGeom prst="rect">
            <a:avLst/>
          </a:prstGeom>
          <a:noFill/>
        </p:spPr>
        <p:txBody>
          <a:bodyPr wrap="square">
            <a:spAutoFit/>
          </a:bodyPr>
          <a:lstStyle/>
          <a:p>
            <a:r>
              <a:rPr sz="900">
                <a:solidFill>
                  <a:srgbClr val="646C82"/>
                </a:solidFill>
                <a:latin typeface="メイリオ"/>
                <a:ea typeface="メイリオ"/>
              </a:rPr>
              <a:t>※ 出典：LINEヤフー media Journey（ウェブ検索・2024/7/22〜2025/7/27・0日＝「パーソナルジム」検索起点）。競合実名を含むため社外提示は社内確認のうえ。</a:t>
            </a:r>
          </a:p>
        </p:txBody>
      </p:sp>
      <p:sp>
        <p:nvSpPr>
          <p:cNvPr id="492" name="Rectangle 491"/>
          <p:cNvSpPr/>
          <p:nvPr/>
        </p:nvSpPr>
        <p:spPr>
          <a:xfrm>
            <a:off x="385572" y="5608320"/>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3" name="Rectangle 492"/>
          <p:cNvSpPr/>
          <p:nvPr/>
        </p:nvSpPr>
        <p:spPr>
          <a:xfrm>
            <a:off x="431292" y="5608320"/>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4" name="TextBox 493"/>
          <p:cNvSpPr txBox="1"/>
          <p:nvPr/>
        </p:nvSpPr>
        <p:spPr>
          <a:xfrm>
            <a:off x="568452" y="5708904"/>
            <a:ext cx="8814815" cy="329899"/>
          </a:xfrm>
          <a:prstGeom prst="rect">
            <a:avLst/>
          </a:prstGeom>
          <a:noFill/>
        </p:spPr>
        <p:txBody>
          <a:bodyPr wrap="square">
            <a:spAutoFit/>
          </a:bodyPr>
          <a:lstStyle/>
          <a:p>
            <a:pPr>
              <a:lnSpc>
                <a:spcPct val="125000"/>
              </a:lnSpc>
            </a:pPr>
            <a:r>
              <a:rPr lang="ja-JP" altLang="en-US" sz="1300" b="1" dirty="0">
                <a:solidFill>
                  <a:srgbClr val="C00000"/>
                </a:solidFill>
                <a:latin typeface="メイリオ"/>
                <a:ea typeface="メイリオ"/>
                <a:cs typeface="メイリオ"/>
              </a:rPr>
              <a:t>人は入る前から「入った後」を想像している。同時に、効かなかったときの代案を探す。</a:t>
            </a:r>
            <a:endParaRPr sz="1300" b="1" dirty="0">
              <a:solidFill>
                <a:srgbClr val="C00000"/>
              </a:solidFill>
              <a:latin typeface="メイリオ"/>
              <a:ea typeface="メイリオ"/>
              <a:cs typeface="メイリオ"/>
            </a:endParaRPr>
          </a:p>
        </p:txBody>
      </p:sp>
      <p:pic>
        <p:nvPicPr>
          <p:cNvPr id="495" name="Picture 494" descr="Journey_パーソナルジム_直近1年間(20240722-20250727).png"/>
          <p:cNvPicPr>
            <a:picLocks noChangeAspect="1"/>
          </p:cNvPicPr>
          <p:nvPr/>
        </p:nvPicPr>
        <p:blipFill>
          <a:blip r:embed="rId3"/>
          <a:stretch>
            <a:fillRect/>
          </a:stretch>
        </p:blipFill>
        <p:spPr>
          <a:xfrm>
            <a:off x="193897" y="1716132"/>
            <a:ext cx="5327009" cy="3744951"/>
          </a:xfrm>
          <a:prstGeom prst="rect">
            <a:avLst/>
          </a:prstGeom>
        </p:spPr>
      </p:pic>
      <p:sp>
        <p:nvSpPr>
          <p:cNvPr id="496" name="TextBox 495"/>
          <p:cNvSpPr txBox="1"/>
          <p:nvPr/>
        </p:nvSpPr>
        <p:spPr>
          <a:xfrm>
            <a:off x="5641675" y="1779721"/>
            <a:ext cx="3631492" cy="3422604"/>
          </a:xfrm>
          <a:prstGeom prst="rect">
            <a:avLst/>
          </a:prstGeom>
          <a:noFill/>
        </p:spPr>
        <p:txBody>
          <a:bodyPr wrap="square" lIns="18000" tIns="0" rIns="18000" bIns="0">
            <a:spAutoFit/>
          </a:bodyPr>
          <a:lstStyle/>
          <a:p>
            <a:pPr>
              <a:lnSpc>
                <a:spcPct val="125000"/>
              </a:lnSpc>
            </a:pPr>
            <a:r>
              <a:rPr sz="1300" b="1" dirty="0">
                <a:solidFill>
                  <a:srgbClr val="9550C6"/>
                </a:solidFill>
                <a:latin typeface="メイリオ"/>
                <a:ea typeface="メイリオ"/>
                <a:cs typeface="メイリオ"/>
              </a:rPr>
              <a:t>① </a:t>
            </a:r>
            <a:r>
              <a:rPr sz="1300" b="1" dirty="0" err="1">
                <a:solidFill>
                  <a:srgbClr val="9550C6"/>
                </a:solidFill>
                <a:latin typeface="メイリオ"/>
                <a:ea typeface="メイリオ"/>
                <a:cs typeface="メイリオ"/>
              </a:rPr>
              <a:t>なりたい自分への手段さがし</a:t>
            </a:r>
            <a:endParaRPr sz="1400" b="0" dirty="0">
              <a:solidFill>
                <a:srgbClr val="1C2233"/>
              </a:solidFill>
              <a:latin typeface="メイリオ"/>
              <a:ea typeface="メイリオ"/>
            </a:endParaRPr>
          </a:p>
          <a:p>
            <a:pPr>
              <a:lnSpc>
                <a:spcPct val="125000"/>
              </a:lnSpc>
            </a:pPr>
            <a:r>
              <a:rPr sz="1150" b="0" dirty="0">
                <a:solidFill>
                  <a:srgbClr val="1A1A2E"/>
                </a:solidFill>
                <a:latin typeface="メイリオ"/>
                <a:ea typeface="メイリオ"/>
                <a:cs typeface="メイリオ"/>
              </a:rPr>
              <a:t>医療脱毛・エステ・脂肪吸引・婚活アプリ／1ヶ月で10キロ痩せる</a:t>
            </a: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4285F4"/>
                </a:solidFill>
                <a:latin typeface="メイリオ"/>
                <a:ea typeface="メイリオ"/>
                <a:cs typeface="メイリオ"/>
              </a:rPr>
              <a:t>② </a:t>
            </a:r>
            <a:r>
              <a:rPr sz="1300" b="1" dirty="0" err="1">
                <a:solidFill>
                  <a:srgbClr val="4285F4"/>
                </a:solidFill>
                <a:latin typeface="メイリオ"/>
                <a:ea typeface="メイリオ"/>
                <a:cs typeface="メイリオ"/>
              </a:rPr>
              <a:t>ジムの比較と相場</a:t>
            </a:r>
            <a:endParaRPr sz="1300" b="1" dirty="0">
              <a:solidFill>
                <a:srgbClr val="4285F4"/>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パーソナルトレーニング・ライザップ・パーソナルジム</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相場</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34A853"/>
                </a:solidFill>
                <a:latin typeface="メイリオ"/>
                <a:ea typeface="メイリオ"/>
                <a:cs typeface="メイリオ"/>
              </a:rPr>
              <a:t>③ </a:t>
            </a:r>
            <a:r>
              <a:rPr sz="1300" b="1" dirty="0" err="1">
                <a:solidFill>
                  <a:srgbClr val="34A853"/>
                </a:solidFill>
                <a:latin typeface="メイリオ"/>
                <a:ea typeface="メイリオ"/>
                <a:cs typeface="メイリオ"/>
              </a:rPr>
              <a:t>通い始めてからの</a:t>
            </a:r>
            <a:r>
              <a:rPr lang="ja-JP" altLang="en-US" sz="1300" b="1" dirty="0">
                <a:solidFill>
                  <a:srgbClr val="34A853"/>
                </a:solidFill>
                <a:latin typeface="メイリオ"/>
                <a:ea typeface="メイリオ"/>
                <a:cs typeface="メイリオ"/>
              </a:rPr>
              <a:t>イメージ</a:t>
            </a:r>
            <a:endParaRPr lang="en-US" altLang="ja-JP" sz="1300" b="1" dirty="0">
              <a:solidFill>
                <a:srgbClr val="34A853"/>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ベンチプレス</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換算・マイプロテイン・ジムウェア・ジム用シューズ</a:t>
            </a:r>
            <a:endParaRPr sz="1150" b="0" dirty="0">
              <a:solidFill>
                <a:srgbClr val="1A1A2E"/>
              </a:solidFill>
              <a:latin typeface="メイリオ"/>
              <a:ea typeface="メイリオ"/>
              <a:cs typeface="メイリオ"/>
            </a:endParaRPr>
          </a:p>
          <a:p>
            <a:pPr>
              <a:lnSpc>
                <a:spcPct val="125000"/>
              </a:lnSpc>
            </a:pPr>
            <a:endParaRPr sz="1150" b="0" dirty="0">
              <a:solidFill>
                <a:srgbClr val="1A1A2E"/>
              </a:solidFill>
              <a:latin typeface="メイリオ"/>
              <a:ea typeface="メイリオ"/>
              <a:cs typeface="メイリオ"/>
            </a:endParaRPr>
          </a:p>
          <a:p>
            <a:pPr>
              <a:lnSpc>
                <a:spcPct val="125000"/>
              </a:lnSpc>
            </a:pPr>
            <a:r>
              <a:rPr sz="1300" b="1" dirty="0">
                <a:solidFill>
                  <a:srgbClr val="EA4335"/>
                </a:solidFill>
                <a:latin typeface="メイリオ"/>
                <a:ea typeface="メイリオ"/>
                <a:cs typeface="メイリオ"/>
              </a:rPr>
              <a:t>④ </a:t>
            </a:r>
            <a:r>
              <a:rPr sz="1300" b="1" dirty="0" err="1">
                <a:solidFill>
                  <a:srgbClr val="EA4335"/>
                </a:solidFill>
                <a:latin typeface="メイリオ"/>
                <a:ea typeface="メイリオ"/>
                <a:cs typeface="メイリオ"/>
              </a:rPr>
              <a:t>効果への不安と、別手段への</a:t>
            </a:r>
            <a:r>
              <a:rPr lang="ja-JP" altLang="en-US" sz="1300" b="1" dirty="0">
                <a:solidFill>
                  <a:srgbClr val="EA4335"/>
                </a:solidFill>
                <a:latin typeface="メイリオ"/>
                <a:ea typeface="メイリオ"/>
                <a:cs typeface="メイリオ"/>
              </a:rPr>
              <a:t>迷い</a:t>
            </a:r>
            <a:endParaRPr lang="en-US" altLang="ja-JP" sz="1300" b="1" dirty="0">
              <a:solidFill>
                <a:srgbClr val="EA4335"/>
              </a:solidFill>
              <a:latin typeface="メイリオ"/>
              <a:ea typeface="メイリオ"/>
              <a:cs typeface="メイリオ"/>
            </a:endParaRPr>
          </a:p>
          <a:p>
            <a:pPr>
              <a:lnSpc>
                <a:spcPct val="125000"/>
              </a:lnSpc>
            </a:pPr>
            <a:r>
              <a:rPr sz="1150" b="0" dirty="0" err="1">
                <a:solidFill>
                  <a:srgbClr val="1A1A2E"/>
                </a:solidFill>
                <a:latin typeface="メイリオ"/>
                <a:ea typeface="メイリオ"/>
                <a:cs typeface="メイリオ"/>
              </a:rPr>
              <a:t>筋トレ</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効果が出るまで・脂肪冷却</a:t>
            </a:r>
            <a:r>
              <a:rPr sz="1150" b="0" dirty="0">
                <a:solidFill>
                  <a:srgbClr val="1A1A2E"/>
                </a:solidFill>
                <a:latin typeface="メイリオ"/>
                <a:ea typeface="メイリオ"/>
                <a:cs typeface="メイリオ"/>
              </a:rPr>
              <a:t> </a:t>
            </a:r>
            <a:r>
              <a:rPr sz="1150" b="0" dirty="0" err="1">
                <a:solidFill>
                  <a:srgbClr val="1A1A2E"/>
                </a:solidFill>
                <a:latin typeface="メイリオ"/>
                <a:ea typeface="メイリオ"/>
                <a:cs typeface="メイリオ"/>
              </a:rPr>
              <a:t>効果ない・医療ダイエット</a:t>
            </a:r>
            <a:endParaRPr sz="1150" b="0" dirty="0">
              <a:solidFill>
                <a:srgbClr val="1A1A2E"/>
              </a:solidFill>
              <a:latin typeface="メイリオ"/>
              <a:ea typeface="メイリオ"/>
              <a:cs typeface="メイリオ"/>
            </a:endParaRPr>
          </a:p>
        </p:txBody>
      </p:sp>
    </p:spTree>
    <p:extLst>
      <p:ext uri="{BB962C8B-B14F-4D97-AF65-F5344CB8AC3E}">
        <p14:creationId xmlns:p14="http://schemas.microsoft.com/office/powerpoint/2010/main" val="36910070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137160"/>
            <a:ext cx="8640000" cy="338328"/>
          </a:xfrm>
          <a:prstGeom prst="rect">
            <a:avLst/>
          </a:prstGeom>
          <a:noFill/>
        </p:spPr>
        <p:txBody>
          <a:bodyPr wrap="square" lIns="18000" tIns="0" rIns="18000" bIns="0" anchor="ctr">
            <a:spAutoFit/>
          </a:bodyPr>
          <a:lstStyle/>
          <a:p>
            <a:r>
              <a:rPr sz="1600" b="1" dirty="0" err="1">
                <a:solidFill>
                  <a:srgbClr val="002060"/>
                </a:solidFill>
                <a:latin typeface="メイリオ"/>
                <a:ea typeface="メイリオ"/>
              </a:rPr>
              <a:t>ニーズ調査｜前後検索（補足）ダイエット需要は“医療”へ流出している</a:t>
            </a:r>
            <a:endParaRPr sz="1600" b="1" dirty="0">
              <a:solidFill>
                <a:srgbClr val="1F2A5C"/>
              </a:solidFill>
              <a:latin typeface="メイリオ"/>
              <a:ea typeface="メイリオ"/>
            </a:endParaRPr>
          </a:p>
        </p:txBody>
      </p:sp>
      <p:sp>
        <p:nvSpPr>
          <p:cNvPr id="3" name="TextBox 2"/>
          <p:cNvSpPr txBox="1"/>
          <p:nvPr/>
        </p:nvSpPr>
        <p:spPr>
          <a:xfrm>
            <a:off x="385200" y="702000"/>
            <a:ext cx="9133200" cy="646331"/>
          </a:xfrm>
          <a:prstGeom prst="rect">
            <a:avLst/>
          </a:prstGeom>
          <a:noFill/>
        </p:spPr>
        <p:txBody>
          <a:bodyPr wrap="square" lIns="18000" tIns="0" rIns="18000" bIns="0">
            <a:spAutoFit/>
          </a:bodyPr>
          <a:lstStyle/>
          <a:p>
            <a:r>
              <a:rPr lang="ja-JP" altLang="en-US" sz="1400" b="1" dirty="0">
                <a:solidFill>
                  <a:srgbClr val="646C82"/>
                </a:solidFill>
                <a:latin typeface="メイリオ"/>
                <a:ea typeface="メイリオ"/>
              </a:rPr>
              <a:t>「メディカルダイエット」の前後検索より</a:t>
            </a:r>
            <a:br>
              <a:rPr lang="en-US" sz="1400" b="1" dirty="0">
                <a:solidFill>
                  <a:srgbClr val="646C82"/>
                </a:solidFill>
                <a:latin typeface="メイリオ"/>
                <a:ea typeface="メイリオ"/>
              </a:rPr>
            </a:br>
            <a:r>
              <a:rPr sz="1400" b="1" dirty="0">
                <a:solidFill>
                  <a:srgbClr val="646C82"/>
                </a:solidFill>
                <a:latin typeface="メイリオ"/>
                <a:ea typeface="メイリオ"/>
              </a:rPr>
              <a:t>リベルサス・マンジャロ等のGLP-1系KWが巨大クラスタ化。</a:t>
            </a:r>
            <a:endParaRPr lang="en-US" sz="1400" b="1" dirty="0">
              <a:solidFill>
                <a:srgbClr val="646C82"/>
              </a:solidFill>
              <a:latin typeface="メイリオ"/>
              <a:ea typeface="メイリオ"/>
            </a:endParaRPr>
          </a:p>
          <a:p>
            <a:r>
              <a:rPr sz="1400" b="1" dirty="0">
                <a:solidFill>
                  <a:srgbClr val="646C82"/>
                </a:solidFill>
                <a:latin typeface="メイリオ"/>
                <a:ea typeface="メイリオ"/>
              </a:rPr>
              <a:t>「</a:t>
            </a:r>
            <a:r>
              <a:rPr sz="1400" b="1" dirty="0" err="1">
                <a:solidFill>
                  <a:srgbClr val="646C82"/>
                </a:solidFill>
                <a:latin typeface="メイリオ"/>
                <a:ea typeface="メイリオ"/>
              </a:rPr>
              <a:t>痩せたい」の受け皿が、運動から薬に移りつつある</a:t>
            </a:r>
            <a:r>
              <a:rPr sz="1400" b="1" dirty="0">
                <a:solidFill>
                  <a:srgbClr val="646C82"/>
                </a:solidFill>
                <a:latin typeface="メイリオ"/>
                <a:ea typeface="メイリオ"/>
              </a:rPr>
              <a:t>。</a:t>
            </a:r>
          </a:p>
        </p:txBody>
      </p:sp>
      <p:pic>
        <p:nvPicPr>
          <p:cNvPr id="4" name="Picture 3" descr="Journey_メディカルダイエット_直近1年間(20241202-20251207).png"/>
          <p:cNvPicPr>
            <a:picLocks noChangeAspect="1"/>
          </p:cNvPicPr>
          <p:nvPr/>
        </p:nvPicPr>
        <p:blipFill>
          <a:blip r:embed="rId2"/>
          <a:stretch>
            <a:fillRect/>
          </a:stretch>
        </p:blipFill>
        <p:spPr>
          <a:xfrm>
            <a:off x="385200" y="1403486"/>
            <a:ext cx="5400000" cy="3454834"/>
          </a:xfrm>
          <a:prstGeom prst="rect">
            <a:avLst/>
          </a:prstGeom>
        </p:spPr>
      </p:pic>
      <p:sp>
        <p:nvSpPr>
          <p:cNvPr id="5" name="TextBox 4"/>
          <p:cNvSpPr txBox="1"/>
          <p:nvPr/>
        </p:nvSpPr>
        <p:spPr>
          <a:xfrm>
            <a:off x="5956335" y="1729081"/>
            <a:ext cx="3718560" cy="2369880"/>
          </a:xfrm>
          <a:prstGeom prst="rect">
            <a:avLst/>
          </a:prstGeom>
          <a:noFill/>
        </p:spPr>
        <p:txBody>
          <a:bodyPr wrap="square" lIns="18000" tIns="0" rIns="18000" bIns="0">
            <a:spAutoFit/>
          </a:bodyPr>
          <a:lstStyle/>
          <a:p>
            <a:r>
              <a:rPr sz="1400" b="0" dirty="0">
                <a:solidFill>
                  <a:srgbClr val="1C2233"/>
                </a:solidFill>
                <a:latin typeface="メイリオ"/>
                <a:ea typeface="メイリオ"/>
              </a:rPr>
              <a:t>① </a:t>
            </a:r>
            <a:r>
              <a:rPr sz="1400" b="0" dirty="0" err="1">
                <a:solidFill>
                  <a:srgbClr val="1C2233"/>
                </a:solidFill>
                <a:latin typeface="メイリオ"/>
                <a:ea typeface="メイリオ"/>
              </a:rPr>
              <a:t>検索前＝自力手段の限界</a:t>
            </a:r>
            <a:endParaRPr sz="1400" b="0" dirty="0">
              <a:solidFill>
                <a:srgbClr val="1C2233"/>
              </a:solidFill>
              <a:latin typeface="メイリオ"/>
              <a:ea typeface="メイリオ"/>
            </a:endParaRPr>
          </a:p>
          <a:p>
            <a:r>
              <a:rPr sz="1400" b="0" dirty="0" err="1">
                <a:solidFill>
                  <a:srgbClr val="1C2233"/>
                </a:solidFill>
                <a:latin typeface="メイリオ"/>
                <a:ea typeface="メイリオ"/>
              </a:rPr>
              <a:t>ダイエット薬・サプリ・脂肪冷却</a:t>
            </a:r>
            <a:r>
              <a:rPr sz="1400" b="0" dirty="0">
                <a:solidFill>
                  <a:srgbClr val="1C2233"/>
                </a:solidFill>
                <a:latin typeface="メイリオ"/>
                <a:ea typeface="メイリオ"/>
              </a:rPr>
              <a:t>・</a:t>
            </a:r>
            <a:r>
              <a:rPr lang="ja-JP" altLang="en-US" sz="1400" b="0" dirty="0">
                <a:solidFill>
                  <a:srgbClr val="1C2233"/>
                </a:solidFill>
                <a:latin typeface="メイリオ"/>
                <a:ea typeface="メイリオ"/>
              </a:rPr>
              <a:t>　　　　</a:t>
            </a:r>
            <a:r>
              <a:rPr sz="1400" b="0" dirty="0" err="1">
                <a:solidFill>
                  <a:srgbClr val="1C2233"/>
                </a:solidFill>
                <a:latin typeface="メイリオ"/>
                <a:ea typeface="メイリオ"/>
              </a:rPr>
              <a:t>食事メニュ</a:t>
            </a:r>
            <a:r>
              <a:rPr sz="1400" b="0" dirty="0">
                <a:solidFill>
                  <a:srgbClr val="1C2233"/>
                </a:solidFill>
                <a:latin typeface="メイリオ"/>
                <a:ea typeface="メイリオ"/>
              </a:rPr>
              <a:t>ー</a:t>
            </a:r>
          </a:p>
          <a:p>
            <a:endParaRPr sz="1400" b="0" dirty="0">
              <a:solidFill>
                <a:srgbClr val="1C2233"/>
              </a:solidFill>
              <a:latin typeface="メイリオ"/>
              <a:ea typeface="メイリオ"/>
            </a:endParaRPr>
          </a:p>
          <a:p>
            <a:r>
              <a:rPr sz="1400" b="0" dirty="0">
                <a:solidFill>
                  <a:srgbClr val="1C2233"/>
                </a:solidFill>
                <a:latin typeface="メイリオ"/>
                <a:ea typeface="メイリオ"/>
              </a:rPr>
              <a:t>② </a:t>
            </a:r>
            <a:r>
              <a:rPr sz="1400" b="0" dirty="0" err="1">
                <a:solidFill>
                  <a:srgbClr val="1C2233"/>
                </a:solidFill>
                <a:latin typeface="メイリオ"/>
                <a:ea typeface="メイリオ"/>
              </a:rPr>
              <a:t>検索後＝薬の不安と比較</a:t>
            </a:r>
            <a:endParaRPr sz="1400" b="0" dirty="0">
              <a:solidFill>
                <a:srgbClr val="1C2233"/>
              </a:solidFill>
              <a:latin typeface="メイリオ"/>
              <a:ea typeface="メイリオ"/>
            </a:endParaRPr>
          </a:p>
          <a:p>
            <a:r>
              <a:rPr sz="1400" b="0" dirty="0" err="1">
                <a:solidFill>
                  <a:srgbClr val="1C2233"/>
                </a:solidFill>
                <a:latin typeface="メイリオ"/>
                <a:ea typeface="メイリオ"/>
              </a:rPr>
              <a:t>副作用・危険性・保険適用・クリニック比較</a:t>
            </a:r>
            <a:endParaRPr sz="1400" b="0" dirty="0">
              <a:solidFill>
                <a:srgbClr val="1C2233"/>
              </a:solidFill>
              <a:latin typeface="メイリオ"/>
              <a:ea typeface="メイリオ"/>
            </a:endParaRPr>
          </a:p>
          <a:p>
            <a:endParaRPr sz="1400" b="0" dirty="0">
              <a:solidFill>
                <a:srgbClr val="1C2233"/>
              </a:solidFill>
              <a:latin typeface="メイリオ"/>
              <a:ea typeface="メイリオ"/>
            </a:endParaRPr>
          </a:p>
          <a:p>
            <a:r>
              <a:rPr sz="1400" b="0" dirty="0">
                <a:solidFill>
                  <a:srgbClr val="1C2233"/>
                </a:solidFill>
                <a:latin typeface="メイリオ"/>
                <a:ea typeface="メイリオ"/>
              </a:rPr>
              <a:t>③ </a:t>
            </a:r>
            <a:r>
              <a:rPr sz="1400" b="0" dirty="0" err="1">
                <a:solidFill>
                  <a:srgbClr val="1C2233"/>
                </a:solidFill>
                <a:latin typeface="メイリオ"/>
                <a:ea typeface="メイリオ"/>
              </a:rPr>
              <a:t>ジム提案への含意</a:t>
            </a:r>
            <a:endParaRPr sz="1400" b="0" dirty="0">
              <a:solidFill>
                <a:srgbClr val="1C2233"/>
              </a:solidFill>
              <a:latin typeface="メイリオ"/>
              <a:ea typeface="メイリオ"/>
            </a:endParaRPr>
          </a:p>
          <a:p>
            <a:r>
              <a:rPr sz="1400" b="0" dirty="0">
                <a:solidFill>
                  <a:srgbClr val="1C2233"/>
                </a:solidFill>
                <a:latin typeface="メイリオ"/>
                <a:ea typeface="メイリオ"/>
              </a:rPr>
              <a:t>「</a:t>
            </a:r>
            <a:r>
              <a:rPr sz="1400" b="0" dirty="0" err="1">
                <a:solidFill>
                  <a:srgbClr val="1C2233"/>
                </a:solidFill>
                <a:latin typeface="メイリオ"/>
                <a:ea typeface="メイリオ"/>
              </a:rPr>
              <a:t>薬に頼らず変わる」訴求＋ビフォーアフター実例が、副作用・リバウンド不安への回答になる</a:t>
            </a:r>
            <a:endParaRPr sz="1400" b="0" dirty="0">
              <a:solidFill>
                <a:srgbClr val="1C2233"/>
              </a:solidFill>
              <a:latin typeface="メイリオ"/>
              <a:ea typeface="メイリオ"/>
            </a:endParaRPr>
          </a:p>
        </p:txBody>
      </p:sp>
      <p:sp>
        <p:nvSpPr>
          <p:cNvPr id="6" name="TextBox 5"/>
          <p:cNvSpPr txBox="1"/>
          <p:nvPr/>
        </p:nvSpPr>
        <p:spPr>
          <a:xfrm>
            <a:off x="385200" y="5128919"/>
            <a:ext cx="9133200" cy="1154162"/>
          </a:xfrm>
          <a:prstGeom prst="rect">
            <a:avLst/>
          </a:prstGeom>
          <a:noFill/>
        </p:spPr>
        <p:txBody>
          <a:bodyPr wrap="square" lIns="18000" tIns="0" rIns="18000" bIns="0">
            <a:spAutoFit/>
          </a:bodyPr>
          <a:lstStyle/>
          <a:p>
            <a:r>
              <a:rPr sz="1600" b="0" dirty="0">
                <a:solidFill>
                  <a:srgbClr val="1C2233"/>
                </a:solidFill>
                <a:latin typeface="メイリオ"/>
                <a:ea typeface="メイリオ"/>
              </a:rPr>
              <a:t>・S22の「ダイエット検索の5年半減」と整合</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err="1">
                <a:solidFill>
                  <a:srgbClr val="1C2233"/>
                </a:solidFill>
                <a:latin typeface="メイリオ"/>
                <a:ea typeface="メイリオ"/>
              </a:rPr>
              <a:t>需要が消えたのではなく、SNS・AI・医療に分散した</a:t>
            </a:r>
            <a:endParaRPr lang="en-US" sz="1600" b="0" dirty="0">
              <a:solidFill>
                <a:srgbClr val="1C2233"/>
              </a:solidFill>
              <a:latin typeface="メイリオ"/>
              <a:ea typeface="メイリオ"/>
            </a:endParaRPr>
          </a:p>
          <a:p>
            <a:endParaRPr sz="900" b="0" dirty="0">
              <a:solidFill>
                <a:srgbClr val="1C2233"/>
              </a:solidFill>
              <a:latin typeface="メイリオ"/>
              <a:ea typeface="メイリオ"/>
            </a:endParaRPr>
          </a:p>
          <a:p>
            <a:r>
              <a:rPr sz="1600" b="0" dirty="0">
                <a:solidFill>
                  <a:srgbClr val="1C2233"/>
                </a:solidFill>
                <a:latin typeface="メイリオ"/>
                <a:ea typeface="メイリオ"/>
              </a:rPr>
              <a:t>・</a:t>
            </a:r>
            <a:r>
              <a:rPr sz="1600" b="0" dirty="0" err="1">
                <a:solidFill>
                  <a:srgbClr val="1C2233"/>
                </a:solidFill>
                <a:latin typeface="メイリオ"/>
                <a:ea typeface="メイリオ"/>
              </a:rPr>
              <a:t>リバウンド・副作用への不安KWが検索後に立つ</a:t>
            </a:r>
            <a:endParaRPr lang="en-US" sz="1600" b="0" dirty="0">
              <a:solidFill>
                <a:srgbClr val="1C2233"/>
              </a:solidFill>
              <a:latin typeface="メイリオ"/>
              <a:ea typeface="メイリオ"/>
            </a:endParaRPr>
          </a:p>
          <a:p>
            <a:r>
              <a:rPr lang="ja-JP" altLang="en-US" sz="1600" dirty="0">
                <a:solidFill>
                  <a:srgbClr val="1C2233"/>
                </a:solidFill>
                <a:latin typeface="メイリオ"/>
                <a:ea typeface="メイリオ"/>
              </a:rPr>
              <a:t>→</a:t>
            </a:r>
            <a:r>
              <a:rPr sz="1600" b="0" dirty="0">
                <a:solidFill>
                  <a:srgbClr val="1C2233"/>
                </a:solidFill>
                <a:latin typeface="メイリオ"/>
                <a:ea typeface="メイリオ"/>
              </a:rPr>
              <a:t>「</a:t>
            </a:r>
            <a:r>
              <a:rPr sz="1600" b="0" dirty="0" err="1">
                <a:solidFill>
                  <a:srgbClr val="1C2233"/>
                </a:solidFill>
                <a:latin typeface="メイリオ"/>
                <a:ea typeface="メイリオ"/>
              </a:rPr>
              <a:t>運動で戻らない体を作る」はデータに裏付けられた切り返しになる</a:t>
            </a:r>
            <a:endParaRPr sz="1600" b="0" dirty="0">
              <a:solidFill>
                <a:srgbClr val="1C2233"/>
              </a:solidFill>
              <a:latin typeface="メイリオ"/>
              <a:ea typeface="メイリオ"/>
            </a:endParaRPr>
          </a:p>
        </p:txBody>
      </p:sp>
      <p:sp>
        <p:nvSpPr>
          <p:cNvPr id="7" name="TextBox 6"/>
          <p:cNvSpPr txBox="1"/>
          <p:nvPr/>
        </p:nvSpPr>
        <p:spPr>
          <a:xfrm>
            <a:off x="385200" y="6390000"/>
            <a:ext cx="9133200" cy="180000"/>
          </a:xfrm>
          <a:prstGeom prst="rect">
            <a:avLst/>
          </a:prstGeom>
          <a:noFill/>
        </p:spPr>
        <p:txBody>
          <a:bodyPr wrap="square" lIns="18000" tIns="0" rIns="18000" bIns="0">
            <a:spAutoFit/>
          </a:bodyPr>
          <a:lstStyle/>
          <a:p>
            <a:r>
              <a:rPr sz="800" b="0">
                <a:solidFill>
                  <a:srgbClr val="646C82"/>
                </a:solidFill>
                <a:latin typeface="メイリオ"/>
                <a:ea typeface="メイリオ"/>
              </a:rPr>
              <a:t>※ 出典：LINEヤフー media Journey（ウェブ検索・2024/12/2〜2025/12/7・0日＝メディカルダイエット系KW起点）。社内検討用の参考データ。実名の社外提示は要確認。</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A5BF9CF-DABE-18D1-6B28-2A955BBABF7C}"/>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8521066C-FFDA-B384-2E51-56A4C461EF3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一般的な</a:t>
            </a:r>
            <a:r>
              <a:rPr lang="en-US" altLang="ja-JP" sz="1600" dirty="0">
                <a:solidFill>
                  <a:srgbClr val="343434"/>
                </a:solidFill>
                <a:latin typeface="メイリオ" panose="020B0604030504040204" pitchFamily="50" charset="-128"/>
                <a:ea typeface="メイリオ" panose="020B0604030504040204" pitchFamily="50" charset="-128"/>
              </a:rPr>
              <a:t>8</a:t>
            </a:r>
            <a:r>
              <a:rPr lang="ja-JP" altLang="en-US" sz="1600" dirty="0">
                <a:solidFill>
                  <a:srgbClr val="343434"/>
                </a:solidFill>
                <a:latin typeface="メイリオ" panose="020B0604030504040204" pitchFamily="50" charset="-128"/>
                <a:ea typeface="メイリオ" panose="020B0604030504040204" pitchFamily="50" charset="-128"/>
              </a:rPr>
              <a:t>フェーズを、ジム・フィットネスに当てはめるとこうなる。</a:t>
            </a:r>
          </a:p>
          <a:p>
            <a:pPr algn="ctr">
              <a:lnSpc>
                <a:spcPts val="2455"/>
              </a:lnSpc>
            </a:pPr>
            <a:r>
              <a:rPr lang="ja-JP" altLang="en-US" sz="1600" dirty="0">
                <a:solidFill>
                  <a:srgbClr val="343434"/>
                </a:solidFill>
                <a:latin typeface="メイリオ" panose="020B0604030504040204" pitchFamily="50" charset="-128"/>
                <a:ea typeface="メイリオ" panose="020B0604030504040204" pitchFamily="50" charset="-128"/>
              </a:rPr>
              <a:t>④体験予約と⑤来店の間が最も落ちる。ここに「匿名で聞ける」入口を置く。</a:t>
            </a:r>
            <a:endParaRPr lang="en-US" altLang="ja-JP" sz="16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B43B9AF0-6B1E-A342-438B-2E30C285E29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F4F417D4-4BDF-E609-F703-DA8A26BF0E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全体設計｜ユーザーニーズ・インサイトの変化と施策方針</a:t>
            </a:r>
            <a:endParaRPr sz="1600" b="1" dirty="0">
              <a:solidFill>
                <a:srgbClr val="002060"/>
              </a:solidFill>
              <a:latin typeface="メイリオ"/>
              <a:ea typeface="メイリオ"/>
              <a:cs typeface="Meiryo"/>
              <a:sym typeface="Meiryo"/>
            </a:endParaRPr>
          </a:p>
        </p:txBody>
      </p:sp>
      <p:sp>
        <p:nvSpPr>
          <p:cNvPr id="31" name="正方形/長方形 30">
            <a:extLst>
              <a:ext uri="{FF2B5EF4-FFF2-40B4-BE49-F238E27FC236}">
                <a16:creationId xmlns:a16="http://schemas.microsoft.com/office/drawing/2014/main" id="{028C25A8-9FA6-9871-A97E-771FBA04FEF8}"/>
              </a:ext>
            </a:extLst>
          </p:cNvPr>
          <p:cNvSpPr/>
          <p:nvPr/>
        </p:nvSpPr>
        <p:spPr>
          <a:xfrm>
            <a:off x="334302" y="2523617"/>
            <a:ext cx="9425943" cy="231294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コネクタ 31">
            <a:extLst>
              <a:ext uri="{FF2B5EF4-FFF2-40B4-BE49-F238E27FC236}">
                <a16:creationId xmlns:a16="http://schemas.microsoft.com/office/drawing/2014/main" id="{3488C4F8-93FE-6F57-E3A9-E7EB0E334B73}"/>
              </a:ext>
            </a:extLst>
          </p:cNvPr>
          <p:cNvCxnSpPr>
            <a:cxnSpLocks/>
          </p:cNvCxnSpPr>
          <p:nvPr/>
        </p:nvCxnSpPr>
        <p:spPr>
          <a:xfrm>
            <a:off x="315939" y="155179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C419B618-60A9-3C77-5074-3E01A065FABD}"/>
              </a:ext>
            </a:extLst>
          </p:cNvPr>
          <p:cNvCxnSpPr>
            <a:cxnSpLocks/>
          </p:cNvCxnSpPr>
          <p:nvPr/>
        </p:nvCxnSpPr>
        <p:spPr>
          <a:xfrm>
            <a:off x="1265077" y="156366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65065F05-BC5D-01D1-5CD8-171A7D29CE07}"/>
              </a:ext>
            </a:extLst>
          </p:cNvPr>
          <p:cNvCxnSpPr>
            <a:cxnSpLocks/>
          </p:cNvCxnSpPr>
          <p:nvPr/>
        </p:nvCxnSpPr>
        <p:spPr>
          <a:xfrm>
            <a:off x="2202413" y="156101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C3335872-8B1B-0399-4819-4550CFCC7F3A}"/>
              </a:ext>
            </a:extLst>
          </p:cNvPr>
          <p:cNvCxnSpPr>
            <a:cxnSpLocks/>
          </p:cNvCxnSpPr>
          <p:nvPr/>
        </p:nvCxnSpPr>
        <p:spPr>
          <a:xfrm>
            <a:off x="3136468" y="158033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3385A133-7C08-9BB7-4412-7F7648A79076}"/>
              </a:ext>
            </a:extLst>
          </p:cNvPr>
          <p:cNvCxnSpPr>
            <a:cxnSpLocks/>
          </p:cNvCxnSpPr>
          <p:nvPr/>
        </p:nvCxnSpPr>
        <p:spPr>
          <a:xfrm>
            <a:off x="3541980" y="159091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712B341B-CA1A-5342-6C1D-E3CA48B9C87C}"/>
              </a:ext>
            </a:extLst>
          </p:cNvPr>
          <p:cNvCxnSpPr>
            <a:cxnSpLocks/>
          </p:cNvCxnSpPr>
          <p:nvPr/>
        </p:nvCxnSpPr>
        <p:spPr>
          <a:xfrm>
            <a:off x="4833781" y="160278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7A4BA556-4AA0-E77F-1F32-D7CAE4E43670}"/>
              </a:ext>
            </a:extLst>
          </p:cNvPr>
          <p:cNvCxnSpPr>
            <a:cxnSpLocks/>
          </p:cNvCxnSpPr>
          <p:nvPr/>
        </p:nvCxnSpPr>
        <p:spPr>
          <a:xfrm>
            <a:off x="6125582" y="160014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13E90D95-9004-7E47-BB2D-FC12AD86943C}"/>
              </a:ext>
            </a:extLst>
          </p:cNvPr>
          <p:cNvCxnSpPr>
            <a:cxnSpLocks/>
          </p:cNvCxnSpPr>
          <p:nvPr/>
        </p:nvCxnSpPr>
        <p:spPr>
          <a:xfrm>
            <a:off x="7417384" y="159091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DB945B56-A37B-98FE-70DB-6E3D5E2DF966}"/>
              </a:ext>
            </a:extLst>
          </p:cNvPr>
          <p:cNvSpPr txBox="1"/>
          <p:nvPr/>
        </p:nvSpPr>
        <p:spPr>
          <a:xfrm>
            <a:off x="3542139" y="149714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B3932B8-37B9-C510-A29E-82B1B3579B1F}"/>
              </a:ext>
            </a:extLst>
          </p:cNvPr>
          <p:cNvSpPr txBox="1"/>
          <p:nvPr/>
        </p:nvSpPr>
        <p:spPr>
          <a:xfrm>
            <a:off x="6119413" y="190630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⑦マネタイズ</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成約</a:t>
            </a:r>
            <a:r>
              <a:rPr lang="en-US" altLang="ja-JP" sz="1000" b="1" dirty="0">
                <a:solidFill/>
                <a:latin typeface="メイリオ" panose="020B0604030504040204" pitchFamily="50" charset="-128"/>
                <a:ea typeface="メイリオ" panose="020B0604030504040204" pitchFamily="50" charset="-128"/>
              </a:rPr>
              <a:t>/</a:t>
            </a:r>
            <a:r>
              <a:rPr lang="ja-JP" altLang="en-US" sz="1000" b="1" dirty="0">
                <a:solidFill/>
                <a:latin typeface="メイリオ" panose="020B0604030504040204" pitchFamily="50" charset="-128"/>
                <a:ea typeface="メイリオ" panose="020B0604030504040204" pitchFamily="50" charset="-128"/>
              </a:rPr>
              <a:t>購入</a:t>
            </a:r>
            <a:r>
              <a:rPr lang="en-US" altLang="ja-JP" sz="1000" b="1" dirty="0">
                <a:solidFill/>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2" name="テキスト ボックス 41">
            <a:extLst>
              <a:ext uri="{FF2B5EF4-FFF2-40B4-BE49-F238E27FC236}">
                <a16:creationId xmlns:a16="http://schemas.microsoft.com/office/drawing/2014/main" id="{086E832F-3BBB-2CF0-1185-3504E5F70EA5}"/>
              </a:ext>
            </a:extLst>
          </p:cNvPr>
          <p:cNvSpPr txBox="1"/>
          <p:nvPr/>
        </p:nvSpPr>
        <p:spPr>
          <a:xfrm>
            <a:off x="4830776" y="170172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B0222B3E-A030-A236-36E8-0ECC1151DC85}"/>
              </a:ext>
            </a:extLst>
          </p:cNvPr>
          <p:cNvSpPr txBox="1"/>
          <p:nvPr/>
        </p:nvSpPr>
        <p:spPr>
          <a:xfrm>
            <a:off x="7408050" y="211088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⑧</a:t>
            </a:r>
            <a:r>
              <a:rPr lang="en-US" altLang="ja-JP" sz="1100" b="1" dirty="0">
                <a:solidFill/>
                <a:latin typeface="メイリオ" panose="020B0604030504040204" pitchFamily="50" charset="-128"/>
                <a:ea typeface="メイリオ" panose="020B0604030504040204" pitchFamily="50" charset="-128"/>
              </a:rPr>
              <a:t>LTV</a:t>
            </a:r>
            <a:r>
              <a:rPr lang="ja-JP" altLang="en-US" sz="1100" b="1" dirty="0">
                <a:solidFill/>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44" name="テキスト ボックス 43">
            <a:extLst>
              <a:ext uri="{FF2B5EF4-FFF2-40B4-BE49-F238E27FC236}">
                <a16:creationId xmlns:a16="http://schemas.microsoft.com/office/drawing/2014/main" id="{4F86D14D-93C8-99A3-B6C5-21288DA1D94A}"/>
              </a:ext>
            </a:extLst>
          </p:cNvPr>
          <p:cNvSpPr txBox="1"/>
          <p:nvPr/>
        </p:nvSpPr>
        <p:spPr>
          <a:xfrm>
            <a:off x="334303" y="150323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接触（認知・流入）</a:t>
            </a:r>
          </a:p>
        </p:txBody>
      </p:sp>
      <p:sp>
        <p:nvSpPr>
          <p:cNvPr id="46" name="テキスト ボックス 45">
            <a:extLst>
              <a:ext uri="{FF2B5EF4-FFF2-40B4-BE49-F238E27FC236}">
                <a16:creationId xmlns:a16="http://schemas.microsoft.com/office/drawing/2014/main" id="{BA84F83D-F1A1-6470-779C-27806FDFF300}"/>
              </a:ext>
            </a:extLst>
          </p:cNvPr>
          <p:cNvSpPr txBox="1"/>
          <p:nvPr/>
        </p:nvSpPr>
        <p:spPr>
          <a:xfrm>
            <a:off x="1268358" y="171389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100" b="1" dirty="0">
                <a:solidFill/>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47" name="テキスト ボックス 46">
            <a:extLst>
              <a:ext uri="{FF2B5EF4-FFF2-40B4-BE49-F238E27FC236}">
                <a16:creationId xmlns:a16="http://schemas.microsoft.com/office/drawing/2014/main" id="{80A2BF3B-2FDE-B47D-649A-453EE42A9D9C}"/>
              </a:ext>
            </a:extLst>
          </p:cNvPr>
          <p:cNvSpPr txBox="1"/>
          <p:nvPr/>
        </p:nvSpPr>
        <p:spPr>
          <a:xfrm>
            <a:off x="2202413" y="190800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育成（興味</a:t>
            </a:r>
            <a:r>
              <a:rPr lang="ja-JP" altLang="en-US" sz="1100" b="1" dirty="0">
                <a:solidFill/>
                <a:latin typeface="メイリオ" panose="020B0604030504040204" pitchFamily="50" charset="-128"/>
                <a:ea typeface="メイリオ" panose="020B0604030504040204" pitchFamily="50" charset="-128"/>
              </a:rPr>
              <a:t>喚起</a:t>
            </a:r>
            <a:r>
              <a:rPr lang="ja-JP" altLang="ja-JP" sz="1100" b="1" dirty="0">
                <a:solidFill/>
                <a:latin typeface="メイリオ" panose="020B0604030504040204" pitchFamily="50" charset="-128"/>
                <a:ea typeface="メイリオ" panose="020B0604030504040204" pitchFamily="50" charset="-128"/>
              </a:rPr>
              <a:t>）</a:t>
            </a:r>
          </a:p>
        </p:txBody>
      </p:sp>
      <p:sp>
        <p:nvSpPr>
          <p:cNvPr id="48" name="テキスト ボックス 47">
            <a:extLst>
              <a:ext uri="{FF2B5EF4-FFF2-40B4-BE49-F238E27FC236}">
                <a16:creationId xmlns:a16="http://schemas.microsoft.com/office/drawing/2014/main" id="{B01E2583-B2F6-85CA-2360-912ACCEBF216}"/>
              </a:ext>
            </a:extLst>
          </p:cNvPr>
          <p:cNvSpPr txBox="1"/>
          <p:nvPr/>
        </p:nvSpPr>
        <p:spPr>
          <a:xfrm>
            <a:off x="3136468" y="210435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④リード獲得 </a:t>
            </a:r>
            <a:r>
              <a:rPr lang="en-US" altLang="ja-JP" sz="900" b="1" dirty="0">
                <a:solidFill/>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49" name="コネクタ: カギ線 48">
            <a:extLst>
              <a:ext uri="{FF2B5EF4-FFF2-40B4-BE49-F238E27FC236}">
                <a16:creationId xmlns:a16="http://schemas.microsoft.com/office/drawing/2014/main" id="{71187418-C8FB-7199-9042-5CCD9D9C501B}"/>
              </a:ext>
            </a:extLst>
          </p:cNvPr>
          <p:cNvCxnSpPr>
            <a:cxnSpLocks/>
            <a:stCxn id="48" idx="0"/>
            <a:endCxn id="40" idx="2"/>
          </p:cNvCxnSpPr>
          <p:nvPr/>
        </p:nvCxnSpPr>
        <p:spPr>
          <a:xfrm rot="5400000" flipH="1" flipV="1">
            <a:off x="4282287" y="186740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EFAD0D5D-8F39-2C2D-8164-9F443F6130D5}"/>
              </a:ext>
            </a:extLst>
          </p:cNvPr>
          <p:cNvSpPr txBox="1"/>
          <p:nvPr/>
        </p:nvSpPr>
        <p:spPr>
          <a:xfrm>
            <a:off x="3541822" y="298946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64894078-BE3D-9354-2498-B57C29F97778}"/>
              </a:ext>
            </a:extLst>
          </p:cNvPr>
          <p:cNvSpPr txBox="1"/>
          <p:nvPr/>
        </p:nvSpPr>
        <p:spPr>
          <a:xfrm>
            <a:off x="6119096" y="3682465"/>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CECA121C-4B75-60CF-8CEF-29B9ADAFA7F9}"/>
              </a:ext>
            </a:extLst>
          </p:cNvPr>
          <p:cNvSpPr txBox="1"/>
          <p:nvPr/>
        </p:nvSpPr>
        <p:spPr>
          <a:xfrm>
            <a:off x="4830459" y="3335965"/>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B8720EB6-81E9-1161-4F3E-6F303807D2EF}"/>
              </a:ext>
            </a:extLst>
          </p:cNvPr>
          <p:cNvSpPr txBox="1"/>
          <p:nvPr/>
        </p:nvSpPr>
        <p:spPr>
          <a:xfrm>
            <a:off x="7408050" y="4037678"/>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A604636C-372E-EDB9-A524-8AA68EA7677B}"/>
              </a:ext>
            </a:extLst>
          </p:cNvPr>
          <p:cNvSpPr txBox="1"/>
          <p:nvPr/>
        </p:nvSpPr>
        <p:spPr>
          <a:xfrm>
            <a:off x="334303" y="2639541"/>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① </a:t>
            </a:r>
            <a:r>
              <a:rPr lang="ja-JP" altLang="en-US" sz="1100" b="1" dirty="0">
                <a:solidFill/>
                <a:latin typeface="メイリオ" panose="020B0604030504040204" pitchFamily="50" charset="-128"/>
                <a:ea typeface="メイリオ" panose="020B0604030504040204" pitchFamily="50" charset="-128"/>
              </a:rPr>
              <a:t>広告</a:t>
            </a:r>
            <a:r>
              <a:rPr lang="ja-JP" altLang="ja-JP" sz="1100" b="1" dirty="0">
                <a:solidFill/>
                <a:latin typeface="メイリオ" panose="020B0604030504040204" pitchFamily="50" charset="-128"/>
                <a:ea typeface="メイリオ" panose="020B0604030504040204" pitchFamily="50" charset="-128"/>
              </a:rPr>
              <a:t>接触</a:t>
            </a:r>
            <a:r>
              <a:rPr lang="ja-JP" altLang="ja-JP" sz="1050" b="1" dirty="0">
                <a:solidFill/>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55" name="テキスト ボックス 54">
            <a:extLst>
              <a:ext uri="{FF2B5EF4-FFF2-40B4-BE49-F238E27FC236}">
                <a16:creationId xmlns:a16="http://schemas.microsoft.com/office/drawing/2014/main" id="{E9843A80-62F9-BE8D-3B74-6147295AB946}"/>
              </a:ext>
            </a:extLst>
          </p:cNvPr>
          <p:cNvSpPr txBox="1"/>
          <p:nvPr/>
        </p:nvSpPr>
        <p:spPr>
          <a:xfrm>
            <a:off x="1268358" y="2989468"/>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② サイト離脱</a:t>
            </a:r>
            <a:r>
              <a:rPr lang="ja-JP" altLang="en-US" sz="1050" b="1" dirty="0">
                <a:solidFill/>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56" name="テキスト ボックス 55">
            <a:extLst>
              <a:ext uri="{FF2B5EF4-FFF2-40B4-BE49-F238E27FC236}">
                <a16:creationId xmlns:a16="http://schemas.microsoft.com/office/drawing/2014/main" id="{562C0E19-F3C8-BFEB-41BA-01C231F6AB68}"/>
              </a:ext>
            </a:extLst>
          </p:cNvPr>
          <p:cNvSpPr txBox="1"/>
          <p:nvPr/>
        </p:nvSpPr>
        <p:spPr>
          <a:xfrm>
            <a:off x="2202413" y="3330682"/>
            <a:ext cx="1868111" cy="261610"/>
          </a:xfrm>
          <a:prstGeom prst="rect">
            <a:avLst/>
          </a:prstGeom>
          <a:solidFill>
            <a:srgbClr val="FFC000"/>
          </a:solidFill>
          <a:ln>
            <a:noFill/>
          </a:ln>
        </p:spPr>
        <p:txBody>
          <a:bodyPr wrap="square">
            <a:spAutoFit/>
          </a:bodyPr>
          <a:lstStyle/>
          <a:p>
            <a:pPr>
              <a:buNone/>
            </a:pPr>
            <a:r>
              <a:rPr lang="ja-JP" altLang="ja-JP" sz="1100" b="1" dirty="0">
                <a:solidFill/>
                <a:latin typeface="メイリオ" panose="020B0604030504040204" pitchFamily="50" charset="-128"/>
                <a:ea typeface="メイリオ" panose="020B0604030504040204" pitchFamily="50" charset="-128"/>
              </a:rPr>
              <a:t>③ 育成</a:t>
            </a:r>
            <a:r>
              <a:rPr lang="ja-JP" altLang="ja-JP" sz="1050" b="1" dirty="0">
                <a:solidFill/>
                <a:latin typeface="メイリオ" panose="020B0604030504040204" pitchFamily="50" charset="-128"/>
                <a:ea typeface="メイリオ" panose="020B0604030504040204" pitchFamily="50" charset="-128"/>
              </a:rPr>
              <a:t>（興味</a:t>
            </a:r>
            <a:r>
              <a:rPr lang="ja-JP" altLang="en-US" sz="1050" b="1" dirty="0">
                <a:solidFill/>
                <a:latin typeface="メイリオ" panose="020B0604030504040204" pitchFamily="50" charset="-128"/>
                <a:ea typeface="メイリオ" panose="020B0604030504040204" pitchFamily="50" charset="-128"/>
              </a:rPr>
              <a:t>喚起</a:t>
            </a:r>
            <a:r>
              <a:rPr lang="ja-JP" altLang="ja-JP" sz="1050" b="1" dirty="0">
                <a:solidFill/>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57" name="テキスト ボックス 56">
            <a:extLst>
              <a:ext uri="{FF2B5EF4-FFF2-40B4-BE49-F238E27FC236}">
                <a16:creationId xmlns:a16="http://schemas.microsoft.com/office/drawing/2014/main" id="{61BD8381-B930-1D8E-9096-0F86535FE580}"/>
              </a:ext>
            </a:extLst>
          </p:cNvPr>
          <p:cNvSpPr txBox="1"/>
          <p:nvPr/>
        </p:nvSpPr>
        <p:spPr>
          <a:xfrm>
            <a:off x="3132447" y="3671900"/>
            <a:ext cx="1868111" cy="261610"/>
          </a:xfrm>
          <a:prstGeom prst="rect">
            <a:avLst/>
          </a:prstGeom>
          <a:solidFill>
            <a:srgbClr val="FFC000"/>
          </a:solidFill>
          <a:ln>
            <a:noFill/>
          </a:ln>
        </p:spPr>
        <p:txBody>
          <a:bodyPr wrap="square">
            <a:spAutoFit/>
          </a:bodyPr>
          <a:lstStyle/>
          <a:p>
            <a:pPr>
              <a:buNone/>
            </a:pPr>
            <a:r>
              <a:rPr lang="ja-JP" altLang="en-US" sz="1100" b="1" dirty="0">
                <a:solidFill/>
                <a:latin typeface="メイリオ" panose="020B0604030504040204" pitchFamily="50" charset="-128"/>
                <a:ea typeface="メイリオ" panose="020B0604030504040204" pitchFamily="50" charset="-128"/>
              </a:rPr>
              <a:t>④体験予約(web/LINE)</a:t>
            </a:r>
          </a:p>
        </p:txBody>
      </p:sp>
      <p:cxnSp>
        <p:nvCxnSpPr>
          <p:cNvPr id="58" name="コネクタ: カギ線 57">
            <a:extLst>
              <a:ext uri="{FF2B5EF4-FFF2-40B4-BE49-F238E27FC236}">
                <a16:creationId xmlns:a16="http://schemas.microsoft.com/office/drawing/2014/main" id="{6AB3A35A-B8AD-A5D7-2BCC-1432533F7764}"/>
              </a:ext>
            </a:extLst>
          </p:cNvPr>
          <p:cNvCxnSpPr>
            <a:cxnSpLocks/>
            <a:stCxn id="57" idx="0"/>
            <a:endCxn id="50" idx="2"/>
          </p:cNvCxnSpPr>
          <p:nvPr/>
        </p:nvCxnSpPr>
        <p:spPr>
          <a:xfrm rot="5400000" flipH="1" flipV="1">
            <a:off x="4181800" y="3323357"/>
            <a:ext cx="420822" cy="276264"/>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03772BBA-2A8E-B8A9-3F32-9241614071ED}"/>
              </a:ext>
            </a:extLst>
          </p:cNvPr>
          <p:cNvSpPr/>
          <p:nvPr/>
        </p:nvSpPr>
        <p:spPr>
          <a:xfrm>
            <a:off x="315939" y="4519036"/>
            <a:ext cx="9444306" cy="24171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latin typeface="メイリオ" panose="020B0604030504040204" pitchFamily="50" charset="-128"/>
                <a:ea typeface="メイリオ" panose="020B0604030504040204" pitchFamily="50" charset="-128"/>
              </a:rPr>
              <a:t>← --- ジム・フィットネス業界の場合 --- →</a:t>
            </a:r>
          </a:p>
        </p:txBody>
      </p:sp>
      <p:sp>
        <p:nvSpPr>
          <p:cNvPr id="60" name="正方形/長方形 59">
            <a:extLst>
              <a:ext uri="{FF2B5EF4-FFF2-40B4-BE49-F238E27FC236}">
                <a16:creationId xmlns:a16="http://schemas.microsoft.com/office/drawing/2014/main" id="{90F34AC0-04C2-BAE1-6A8D-54D45A4A3391}"/>
              </a:ext>
            </a:extLst>
          </p:cNvPr>
          <p:cNvSpPr/>
          <p:nvPr/>
        </p:nvSpPr>
        <p:spPr>
          <a:xfrm>
            <a:off x="315939" y="2524461"/>
            <a:ext cx="9444306" cy="77017"/>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34501BD4-D0A1-1204-F1B6-3FF9DB9008B8}"/>
              </a:ext>
            </a:extLst>
          </p:cNvPr>
          <p:cNvSpPr/>
          <p:nvPr/>
        </p:nvSpPr>
        <p:spPr>
          <a:xfrm>
            <a:off x="307230" y="4760748"/>
            <a:ext cx="9444306" cy="15120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E33006BF-A7D4-677C-BC5C-604742DCB0AC}"/>
              </a:ext>
            </a:extLst>
          </p:cNvPr>
          <p:cNvSpPr/>
          <p:nvPr/>
        </p:nvSpPr>
        <p:spPr>
          <a:xfrm>
            <a:off x="307072" y="4846499"/>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ニーズ</a:t>
            </a:r>
          </a:p>
        </p:txBody>
      </p:sp>
      <p:sp>
        <p:nvSpPr>
          <p:cNvPr id="71" name="四角形: 角を丸くする 70">
            <a:extLst>
              <a:ext uri="{FF2B5EF4-FFF2-40B4-BE49-F238E27FC236}">
                <a16:creationId xmlns:a16="http://schemas.microsoft.com/office/drawing/2014/main" id="{CB83D143-466E-0FF2-D6C5-E5909077F6A0}"/>
              </a:ext>
            </a:extLst>
          </p:cNvPr>
          <p:cNvSpPr/>
          <p:nvPr/>
        </p:nvSpPr>
        <p:spPr>
          <a:xfrm>
            <a:off x="315939" y="5584525"/>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latin typeface="メイリオ" panose="020B0604030504040204" pitchFamily="50" charset="-128"/>
                <a:ea typeface="メイリオ" panose="020B0604030504040204" pitchFamily="50" charset="-128"/>
              </a:rPr>
              <a:t>インサイト</a:t>
            </a:r>
          </a:p>
        </p:txBody>
      </p:sp>
      <p:sp>
        <p:nvSpPr>
          <p:cNvPr id="73" name="TextBox 72"/>
          <p:cNvSpPr txBox="1"/>
          <p:nvPr/>
        </p:nvSpPr>
        <p:spPr>
          <a:xfrm>
            <a:off x="158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痩せたい・体を変えたい</a:t>
            </a:r>
          </a:p>
          <a:p>
            <a:r>
              <a:rPr sz="1200">
                <a:solidFill>
                  <a:srgbClr val="1C2233"/>
                </a:solidFill>
                <a:latin typeface="メイリオ"/>
                <a:ea typeface="メイリオ"/>
              </a:rPr>
              <a:t>まだ漠然。相場を知りたい</a:t>
            </a:r>
          </a:p>
        </p:txBody>
      </p:sp>
      <p:sp>
        <p:nvSpPr>
          <p:cNvPr id="74" name="TextBox 73"/>
          <p:cNvSpPr txBox="1"/>
          <p:nvPr/>
        </p:nvSpPr>
        <p:spPr>
          <a:xfrm>
            <a:off x="365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比較して失敗したくない</a:t>
            </a:r>
          </a:p>
          <a:p>
            <a:r>
              <a:rPr sz="1200">
                <a:solidFill>
                  <a:srgbClr val="1C2233"/>
                </a:solidFill>
                <a:latin typeface="メイリオ"/>
                <a:ea typeface="メイリオ"/>
              </a:rPr>
              <a:t>フォーム入力・電話は重い</a:t>
            </a:r>
          </a:p>
        </p:txBody>
      </p:sp>
      <p:sp>
        <p:nvSpPr>
          <p:cNvPr id="75" name="TextBox 74"/>
          <p:cNvSpPr txBox="1"/>
          <p:nvPr/>
        </p:nvSpPr>
        <p:spPr>
          <a:xfrm>
            <a:off x="5724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勧誘されないか不安</a:t>
            </a:r>
          </a:p>
          <a:p>
            <a:r>
              <a:rPr sz="1200">
                <a:solidFill>
                  <a:srgbClr val="1C2233"/>
                </a:solidFill>
                <a:latin typeface="メイリオ"/>
                <a:ea typeface="メイリオ"/>
              </a:rPr>
              <a:t>当日の流れを知りたい</a:t>
            </a:r>
          </a:p>
        </p:txBody>
      </p:sp>
      <p:sp>
        <p:nvSpPr>
          <p:cNvPr id="76" name="TextBox 75"/>
          <p:cNvSpPr txBox="1"/>
          <p:nvPr/>
        </p:nvSpPr>
        <p:spPr>
          <a:xfrm>
            <a:off x="7776000" y="4824000"/>
            <a:ext cx="1980000" cy="684000"/>
          </a:xfrm>
          <a:prstGeom prst="rect">
            <a:avLst/>
          </a:prstGeom>
          <a:noFill/>
        </p:spPr>
        <p:txBody>
          <a:bodyPr wrap="square" lIns="36000" tIns="18000" rIns="36000" bIns="18000">
            <a:spAutoFit/>
          </a:bodyPr>
          <a:lstStyle/>
          <a:p>
            <a:r>
              <a:rPr sz="1200">
                <a:solidFill>
                  <a:srgbClr val="1C2233"/>
                </a:solidFill>
                <a:latin typeface="メイリオ"/>
                <a:ea typeface="メイリオ"/>
              </a:rPr>
              <a:t>成果を実感したい</a:t>
            </a:r>
          </a:p>
          <a:p>
            <a:r>
              <a:rPr sz="1200">
                <a:solidFill>
                  <a:srgbClr val="1C2233"/>
                </a:solidFill>
                <a:latin typeface="メイリオ"/>
                <a:ea typeface="メイリオ"/>
              </a:rPr>
              <a:t>飽きと中だるみで離脱</a:t>
            </a:r>
          </a:p>
        </p:txBody>
      </p:sp>
      <p:sp>
        <p:nvSpPr>
          <p:cNvPr id="77" name="TextBox 76"/>
          <p:cNvSpPr txBox="1"/>
          <p:nvPr/>
        </p:nvSpPr>
        <p:spPr>
          <a:xfrm>
            <a:off x="158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続かなかった過去がある</a:t>
            </a:r>
          </a:p>
          <a:p>
            <a:r>
              <a:rPr sz="1200">
                <a:solidFill>
                  <a:srgbClr val="BF4E0E"/>
                </a:solidFill>
                <a:latin typeface="メイリオ"/>
                <a:ea typeface="メイリオ"/>
              </a:rPr>
              <a:t>＝失敗の再体験が怖い</a:t>
            </a:r>
          </a:p>
        </p:txBody>
      </p:sp>
      <p:sp>
        <p:nvSpPr>
          <p:cNvPr id="78" name="TextBox 77"/>
          <p:cNvSpPr txBox="1"/>
          <p:nvPr/>
        </p:nvSpPr>
        <p:spPr>
          <a:xfrm>
            <a:off x="365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匿名で聞けるなら動ける</a:t>
            </a:r>
          </a:p>
          <a:p>
            <a:r>
              <a:rPr sz="1200">
                <a:solidFill>
                  <a:srgbClr val="BF4E0E"/>
                </a:solidFill>
                <a:latin typeface="メイリオ"/>
                <a:ea typeface="メイリオ"/>
              </a:rPr>
              <a:t>→LINE診断が受け皿</a:t>
            </a:r>
          </a:p>
        </p:txBody>
      </p:sp>
      <p:sp>
        <p:nvSpPr>
          <p:cNvPr id="79" name="TextBox 78"/>
          <p:cNvSpPr txBox="1"/>
          <p:nvPr/>
        </p:nvSpPr>
        <p:spPr>
          <a:xfrm>
            <a:off x="5724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「迫りません」の一言で</a:t>
            </a:r>
          </a:p>
          <a:p>
            <a:r>
              <a:rPr sz="1200">
                <a:solidFill>
                  <a:srgbClr val="BF4E0E"/>
                </a:solidFill>
                <a:latin typeface="メイリオ"/>
                <a:ea typeface="メイリオ"/>
              </a:rPr>
              <a:t>来店ハードルが下がる</a:t>
            </a:r>
          </a:p>
        </p:txBody>
      </p:sp>
      <p:sp>
        <p:nvSpPr>
          <p:cNvPr id="80" name="TextBox 79"/>
          <p:cNvSpPr txBox="1"/>
          <p:nvPr/>
        </p:nvSpPr>
        <p:spPr>
          <a:xfrm>
            <a:off x="7776000" y="5580000"/>
            <a:ext cx="1980000" cy="684000"/>
          </a:xfrm>
          <a:prstGeom prst="rect">
            <a:avLst/>
          </a:prstGeom>
          <a:noFill/>
        </p:spPr>
        <p:txBody>
          <a:bodyPr wrap="square" lIns="36000" tIns="18000" rIns="36000" bIns="18000">
            <a:spAutoFit/>
          </a:bodyPr>
          <a:lstStyle/>
          <a:p>
            <a:r>
              <a:rPr sz="1200">
                <a:solidFill>
                  <a:srgbClr val="BF4E0E"/>
                </a:solidFill>
                <a:latin typeface="メイリオ"/>
                <a:ea typeface="メイリオ"/>
              </a:rPr>
              <a:t>「見てもらえている感」が</a:t>
            </a:r>
          </a:p>
          <a:p>
            <a:r>
              <a:rPr sz="1200">
                <a:solidFill>
                  <a:srgbClr val="BF4E0E"/>
                </a:solidFill>
                <a:latin typeface="メイリオ"/>
                <a:ea typeface="メイリオ"/>
              </a:rPr>
              <a:t>継続と紹介の鍵になる</a:t>
            </a:r>
          </a:p>
        </p:txBody>
      </p:sp>
      <p:sp>
        <p:nvSpPr>
          <p:cNvPr id="2" name="テキスト ボックス 1">
            <a:extLst>
              <a:ext uri="{FF2B5EF4-FFF2-40B4-BE49-F238E27FC236}">
                <a16:creationId xmlns:a16="http://schemas.microsoft.com/office/drawing/2014/main" id="{451FFC26-7816-250A-591E-C953B9FABA67}"/>
              </a:ext>
            </a:extLst>
          </p:cNvPr>
          <p:cNvSpPr txBox="1"/>
          <p:nvPr/>
        </p:nvSpPr>
        <p:spPr>
          <a:xfrm>
            <a:off x="2363638" y="1147313"/>
            <a:ext cx="184731" cy="369332"/>
          </a:xfrm>
          <a:prstGeom prst="rect">
            <a:avLst/>
          </a:prstGeom>
          <a:noFill/>
        </p:spPr>
        <p:txBody>
          <a:bodyPr wrap="none" rtlCol="0">
            <a:spAutoFit/>
          </a:bodyPr>
          <a:lstStyle/>
          <a:p>
            <a:endParaRPr kumimoji="1" lang="ja-JP" altLang="en-US" dirty="0">
              <a:latin typeface="+mj-lt"/>
            </a:endParaRPr>
          </a:p>
        </p:txBody>
      </p:sp>
    </p:spTree>
    <p:extLst>
      <p:ext uri="{BB962C8B-B14F-4D97-AF65-F5344CB8AC3E}">
        <p14:creationId xmlns:p14="http://schemas.microsoft.com/office/powerpoint/2010/main" val="406932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0ED90-F5DA-CFD4-A3DA-114442B93132}"/>
            </a:ext>
          </a:extLst>
        </p:cNvPr>
        <p:cNvGrpSpPr/>
        <p:nvPr/>
      </p:nvGrpSpPr>
      <p:grpSpPr>
        <a:xfrm>
          <a:off x="0" y="0"/>
          <a:ext cx="0" cy="0"/>
          <a:chOff x="0" y="0"/>
          <a:chExt cx="0" cy="0"/>
        </a:xfrm>
      </p:grpSpPr>
      <p:sp>
        <p:nvSpPr>
          <p:cNvPr id="518" name="Rectangle 517"/>
          <p:cNvSpPr/>
          <p:nvPr/>
        </p:nvSpPr>
        <p:spPr>
          <a:xfrm>
            <a:off x="1359527" y="726524"/>
            <a:ext cx="7152121" cy="4172072"/>
          </a:xfrm>
          <a:prstGeom prst="rect">
            <a:avLst/>
          </a:prstGeom>
          <a:solidFill>
            <a:srgbClr val="EFF1F7"/>
          </a:solidFill>
          <a:ln w="12700">
            <a:solidFill>
              <a:srgbClr val="C6CAD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正方形/長方形 2">
            <a:extLst>
              <a:ext uri="{FF2B5EF4-FFF2-40B4-BE49-F238E27FC236}">
                <a16:creationId xmlns:a16="http://schemas.microsoft.com/office/drawing/2014/main" id="{71E13C0C-CCF6-A828-35F1-BF11CB1625B0}"/>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1EFDD2C6-1E0A-0108-4B70-6A79C1119616}"/>
              </a:ext>
            </a:extLst>
          </p:cNvPr>
          <p:cNvSpPr txBox="1"/>
          <p:nvPr/>
        </p:nvSpPr>
        <p:spPr>
          <a:xfrm>
            <a:off x="3968496" y="118872"/>
            <a:ext cx="1645920" cy="329184"/>
          </a:xfrm>
          <a:prstGeom prst="rect">
            <a:avLst/>
          </a:prstGeom>
          <a:noFill/>
        </p:spPr>
        <p:txBody>
          <a:bodyPr wrap="square" lIns="0" rIns="0">
            <a:spAutoFit/>
          </a:bodyPr>
          <a:lstStyle/>
          <a:p>
            <a:r>
              <a:rPr lang="en-US" altLang="ja-JP" sz="800" dirty="0">
                <a:solidFill>
                  <a:srgbClr val="646C82"/>
                </a:solidFill>
                <a:latin typeface="メイリオ"/>
                <a:ea typeface="メイリオ"/>
                <a:cs typeface="Meiryo"/>
                <a:sym typeface="Meiryo"/>
              </a:rPr>
              <a:t>※ LINEヤフー media Journey</a:t>
            </a:r>
            <a:endParaRPr lang="ja-JP" altLang="en-US" sz="1050" dirty="0">
              <a:solidFill>
                <a:srgbClr val="FF0000"/>
              </a:solidFill>
            </a:endParaRPr>
          </a:p>
          <a:p>
            <a:r>
              <a:rPr lang="en-US" altLang="ja-JP" sz="800" dirty="0">
                <a:solidFill>
                  <a:srgbClr val="646C82"/>
                </a:solidFill>
                <a:latin typeface="メイリオ"/>
                <a:ea typeface="メイリオ"/>
                <a:cs typeface="Meiryo"/>
                <a:sym typeface="Meiryo"/>
              </a:rPr>
              <a:t>（2025-2026）</a:t>
            </a:r>
            <a:endParaRPr lang="ja-JP" altLang="en-US" sz="1050" dirty="0">
              <a:solidFill>
                <a:srgbClr val="FF0000"/>
              </a:solidFill>
            </a:endParaRPr>
          </a:p>
        </p:txBody>
      </p:sp>
      <p:cxnSp>
        <p:nvCxnSpPr>
          <p:cNvPr id="329" name="直線矢印コネクタ 328">
            <a:extLst>
              <a:ext uri="{FF2B5EF4-FFF2-40B4-BE49-F238E27FC236}">
                <a16:creationId xmlns:a16="http://schemas.microsoft.com/office/drawing/2014/main" id="{7A5BF96E-7A78-9225-6D96-1CD48192D639}"/>
              </a:ext>
            </a:extLst>
          </p:cNvPr>
          <p:cNvCxnSpPr>
            <a:cxnSpLocks/>
          </p:cNvCxnSpPr>
          <p:nvPr/>
        </p:nvCxnSpPr>
        <p:spPr>
          <a:xfrm flipV="1">
            <a:off x="807709" y="603912"/>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32" name="テキスト ボックス 331">
            <a:extLst>
              <a:ext uri="{FF2B5EF4-FFF2-40B4-BE49-F238E27FC236}">
                <a16:creationId xmlns:a16="http://schemas.microsoft.com/office/drawing/2014/main" id="{DF867EDF-94ED-0916-2B45-6EC2F1BD7CDF}"/>
              </a:ext>
            </a:extLst>
          </p:cNvPr>
          <p:cNvSpPr txBox="1"/>
          <p:nvPr/>
        </p:nvSpPr>
        <p:spPr>
          <a:xfrm>
            <a:off x="736682" y="741136"/>
            <a:ext cx="107986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検索</a:t>
            </a:r>
            <a:r>
              <a:rPr lang="en-US" altLang="ja-JP" sz="1050" b="1" dirty="0">
                <a:latin typeface="メイリオ" panose="020B0604030504040204" pitchFamily="50" charset="-128"/>
                <a:ea typeface="メイリオ" panose="020B0604030504040204" pitchFamily="50" charset="-128"/>
              </a:rPr>
              <a:t>Vol:</a:t>
            </a:r>
            <a:r>
              <a:rPr lang="ja-JP" altLang="en-US" sz="1050" b="1" dirty="0">
                <a:latin typeface="メイリオ" panose="020B0604030504040204" pitchFamily="50" charset="-128"/>
                <a:ea typeface="メイリオ" panose="020B0604030504040204" pitchFamily="50" charset="-128"/>
              </a:rPr>
              <a:t>多</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242" name="四角形: 角を丸くする 241">
            <a:extLst>
              <a:ext uri="{FF2B5EF4-FFF2-40B4-BE49-F238E27FC236}">
                <a16:creationId xmlns:a16="http://schemas.microsoft.com/office/drawing/2014/main" id="{49068565-113C-F251-3ABE-4B34E06689C0}"/>
              </a:ext>
            </a:extLst>
          </p:cNvPr>
          <p:cNvSpPr/>
          <p:nvPr/>
        </p:nvSpPr>
        <p:spPr>
          <a:xfrm>
            <a:off x="1131486" y="645910"/>
            <a:ext cx="7593409" cy="4296369"/>
          </a:xfrm>
          <a:prstGeom prst="roundRect">
            <a:avLst/>
          </a:prstGeom>
          <a:solidFill>
            <a:schemeClr val="bg1">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48" name="直角三角形 247">
            <a:extLst>
              <a:ext uri="{FF2B5EF4-FFF2-40B4-BE49-F238E27FC236}">
                <a16:creationId xmlns:a16="http://schemas.microsoft.com/office/drawing/2014/main" id="{B270A615-0932-7315-BB66-CC3D73CCC9ED}"/>
              </a:ext>
            </a:extLst>
          </p:cNvPr>
          <p:cNvSpPr/>
          <p:nvPr/>
        </p:nvSpPr>
        <p:spPr>
          <a:xfrm rot="16200000" flipV="1">
            <a:off x="5690701" y="413699"/>
            <a:ext cx="368444" cy="1531148"/>
          </a:xfrm>
          <a:prstGeom prst="rtTriangle">
            <a:avLst/>
          </a:prstGeom>
          <a:solidFill>
            <a:srgbClr val="04FA0A">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FF0000"/>
              </a:solidFill>
            </a:endParaRPr>
          </a:p>
        </p:txBody>
      </p:sp>
      <p:sp>
        <p:nvSpPr>
          <p:cNvPr id="252" name="テキスト ボックス 251">
            <a:extLst>
              <a:ext uri="{FF2B5EF4-FFF2-40B4-BE49-F238E27FC236}">
                <a16:creationId xmlns:a16="http://schemas.microsoft.com/office/drawing/2014/main" id="{C12F260D-7BF2-4DB0-B050-8B6388D75F65}"/>
              </a:ext>
            </a:extLst>
          </p:cNvPr>
          <p:cNvSpPr txBox="1"/>
          <p:nvPr/>
        </p:nvSpPr>
        <p:spPr>
          <a:xfrm>
            <a:off x="5109349" y="1109579"/>
            <a:ext cx="1531148" cy="253916"/>
          </a:xfrm>
          <a:prstGeom prst="rect">
            <a:avLst/>
          </a:prstGeom>
          <a:noFill/>
        </p:spPr>
        <p:txBody>
          <a:bodyPr wrap="square">
            <a:spAutoFit/>
          </a:bodyPr>
          <a:lstStyle/>
          <a:p>
            <a:pPr algn="ctr"/>
            <a:r>
              <a:rPr kumimoji="1" lang="ja-JP" altLang="en-US" sz="1050" dirty="0">
                <a:solidFill>
                  <a:schemeClr val="tx1"/>
                </a:solidFill>
                <a:latin typeface="メイリオ" panose="020B0604030504040204" pitchFamily="50" charset="-128"/>
                <a:ea typeface="メイリオ" panose="020B0604030504040204" pitchFamily="50" charset="-128"/>
              </a:rPr>
              <a:t>← 友だち追加想定 →</a:t>
            </a:r>
          </a:p>
        </p:txBody>
      </p:sp>
      <p:sp>
        <p:nvSpPr>
          <p:cNvPr id="463" name="Rounded Rectangle 47">
            <a:extLst>
              <a:ext uri="{FF2B5EF4-FFF2-40B4-BE49-F238E27FC236}">
                <a16:creationId xmlns:a16="http://schemas.microsoft.com/office/drawing/2014/main" id="{CDE0B279-5917-179F-369E-CB1B519BB9B0}"/>
              </a:ext>
            </a:extLst>
          </p:cNvPr>
          <p:cNvSpPr/>
          <p:nvPr/>
        </p:nvSpPr>
        <p:spPr>
          <a:xfrm>
            <a:off x="807709" y="4993039"/>
            <a:ext cx="1393404"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rgbClr val="FFFFFF"/>
                </a:solidFill>
                <a:latin typeface="メイリオ"/>
                <a:ea typeface="メイリオ"/>
              </a:rPr>
              <a:t>離脱防止で</a:t>
            </a:r>
            <a:r>
              <a:rPr lang="en-US" altLang="ja-JP" sz="900" b="0" dirty="0">
                <a:solidFill>
                  <a:srgbClr val="FFFFFF"/>
                </a:solidFill>
                <a:latin typeface="メイリオ"/>
                <a:ea typeface="メイリオ"/>
              </a:rPr>
              <a:t>…</a:t>
            </a:r>
            <a:r>
              <a:rPr lang="ja-JP" altLang="en-US" sz="900" b="0" dirty="0">
                <a:solidFill>
                  <a:srgbClr val="FFFFFF"/>
                </a:solidFill>
                <a:latin typeface="メイリオ"/>
                <a:ea typeface="メイリオ"/>
              </a:rPr>
              <a:t>。</a:t>
            </a:r>
            <a:endParaRPr lang="en-US" altLang="ja-JP" sz="900" b="0" dirty="0">
              <a:solidFill>
                <a:srgbClr val="FFFFFF"/>
              </a:solidFill>
              <a:latin typeface="メイリオ"/>
              <a:ea typeface="メイリオ"/>
            </a:endParaRPr>
          </a:p>
          <a:p>
            <a:pPr algn="ct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会員のビフォーアフター</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「会員の声・3ヶ月後の変化」</a:t>
            </a:r>
            <a:endParaRPr lang="en-US" sz="900" b="0" dirty="0">
              <a:solidFill>
                <a:srgbClr val="FFFFFF"/>
              </a:solidFill>
              <a:latin typeface="メイリオ"/>
              <a:ea typeface="メイリオ"/>
            </a:endParaRPr>
          </a:p>
        </p:txBody>
      </p:sp>
      <p:sp>
        <p:nvSpPr>
          <p:cNvPr id="465" name="Rounded Rectangle 49">
            <a:extLst>
              <a:ext uri="{FF2B5EF4-FFF2-40B4-BE49-F238E27FC236}">
                <a16:creationId xmlns:a16="http://schemas.microsoft.com/office/drawing/2014/main" id="{8CA9823E-08BE-7F33-923D-9D9E1D29A6D9}"/>
              </a:ext>
            </a:extLst>
          </p:cNvPr>
          <p:cNvSpPr/>
          <p:nvPr/>
        </p:nvSpPr>
        <p:spPr>
          <a:xfrm>
            <a:off x="2244141" y="4993039"/>
            <a:ext cx="1498245" cy="100908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000" dirty="0">
                <a:solidFill>
                  <a:srgbClr val="FFFFFF"/>
                </a:solidFill>
                <a:latin typeface="メイリオ"/>
                <a:ea typeface="メイリオ"/>
              </a:rPr>
              <a:t>この機会に</a:t>
            </a:r>
            <a:endParaRPr lang="en-US" altLang="ja-JP" sz="1000" dirty="0">
              <a:solidFill>
                <a:srgbClr val="FFFFFF"/>
              </a:solidFill>
              <a:latin typeface="メイリオ"/>
              <a:ea typeface="メイリオ"/>
            </a:endParaRPr>
          </a:p>
          <a:p>
            <a:pPr algn="ctr"/>
            <a:r>
              <a:rPr lang="en-US" altLang="ja-JP" sz="1000" dirty="0">
                <a:solidFill>
                  <a:srgbClr val="FFFFFF"/>
                </a:solidFill>
                <a:latin typeface="メイリオ"/>
                <a:ea typeface="メイリオ"/>
              </a:rPr>
              <a:t>LINEで体づくりタイプ診断してみませんか？</a:t>
            </a:r>
          </a:p>
        </p:txBody>
      </p:sp>
      <p:sp>
        <p:nvSpPr>
          <p:cNvPr id="475" name="四角形: 角を丸くする 474">
            <a:extLst>
              <a:ext uri="{FF2B5EF4-FFF2-40B4-BE49-F238E27FC236}">
                <a16:creationId xmlns:a16="http://schemas.microsoft.com/office/drawing/2014/main" id="{C92902A9-E02B-9774-A438-1E6EF57F5CA1}"/>
              </a:ext>
            </a:extLst>
          </p:cNvPr>
          <p:cNvSpPr/>
          <p:nvPr/>
        </p:nvSpPr>
        <p:spPr>
          <a:xfrm>
            <a:off x="5109348" y="4668424"/>
            <a:ext cx="1669277" cy="253916"/>
          </a:xfrm>
          <a:prstGeom prst="roundRect">
            <a:avLst/>
          </a:prstGeom>
          <a:solidFill>
            <a:srgbClr val="04FA0A">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479" name="正方形/長方形 478">
            <a:extLst>
              <a:ext uri="{FF2B5EF4-FFF2-40B4-BE49-F238E27FC236}">
                <a16:creationId xmlns:a16="http://schemas.microsoft.com/office/drawing/2014/main" id="{A96DD9D8-4B51-5C6A-03EF-AFB54EDC6819}"/>
              </a:ext>
            </a:extLst>
          </p:cNvPr>
          <p:cNvSpPr/>
          <p:nvPr/>
        </p:nvSpPr>
        <p:spPr>
          <a:xfrm>
            <a:off x="5650992" y="90000"/>
            <a:ext cx="1554446" cy="396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パーソナルジム 女性</a:t>
            </a:r>
          </a:p>
        </p:txBody>
      </p:sp>
      <p:sp>
        <p:nvSpPr>
          <p:cNvPr id="481" name="テキスト ボックス 480">
            <a:extLst>
              <a:ext uri="{FF2B5EF4-FFF2-40B4-BE49-F238E27FC236}">
                <a16:creationId xmlns:a16="http://schemas.microsoft.com/office/drawing/2014/main" id="{4CBDD79F-7F7B-F65B-341E-714CE6BC2FEB}"/>
              </a:ext>
            </a:extLst>
          </p:cNvPr>
          <p:cNvSpPr txBox="1"/>
          <p:nvPr/>
        </p:nvSpPr>
        <p:spPr>
          <a:xfrm>
            <a:off x="6981599" y="179066"/>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483" name="四角形: 角を丸くする 482">
            <a:extLst>
              <a:ext uri="{FF2B5EF4-FFF2-40B4-BE49-F238E27FC236}">
                <a16:creationId xmlns:a16="http://schemas.microsoft.com/office/drawing/2014/main" id="{91FD3245-1969-91B2-8CAC-ABF9610E9111}"/>
              </a:ext>
            </a:extLst>
          </p:cNvPr>
          <p:cNvSpPr/>
          <p:nvPr/>
        </p:nvSpPr>
        <p:spPr>
          <a:xfrm>
            <a:off x="712712" y="4722556"/>
            <a:ext cx="3232606"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tx1"/>
                </a:solidFill>
                <a:latin typeface="メイリオ" panose="020B0604030504040204" pitchFamily="50" charset="-128"/>
                <a:ea typeface="メイリオ" panose="020B0604030504040204" pitchFamily="50" charset="-128"/>
              </a:rPr>
              <a:t>LINE</a:t>
            </a:r>
            <a:r>
              <a:rPr lang="ja-JP" altLang="en-US" sz="1050" b="1" dirty="0">
                <a:solidFill>
                  <a:schemeClr val="tx1"/>
                </a:solidFill>
                <a:latin typeface="メイリオ" panose="020B0604030504040204" pitchFamily="50" charset="-128"/>
                <a:ea typeface="メイリオ" panose="020B0604030504040204" pitchFamily="50" charset="-128"/>
              </a:rPr>
              <a:t>追加率を上げるコンテンツとして</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a:t>
            </a:r>
            <a:endParaRPr kumimoji="1"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485" name="四角形: 角を丸くする 484">
            <a:extLst>
              <a:ext uri="{FF2B5EF4-FFF2-40B4-BE49-F238E27FC236}">
                <a16:creationId xmlns:a16="http://schemas.microsoft.com/office/drawing/2014/main" id="{7D64F185-E715-0CD9-6299-C64C849BB3C0}"/>
              </a:ext>
            </a:extLst>
          </p:cNvPr>
          <p:cNvSpPr/>
          <p:nvPr/>
        </p:nvSpPr>
        <p:spPr>
          <a:xfrm>
            <a:off x="4082230" y="5078196"/>
            <a:ext cx="6089663"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b="1" dirty="0">
                <a:solidFill>
                  <a:schemeClr val="tx1"/>
                </a:solidFill>
                <a:latin typeface="メイリオ" panose="020B0604030504040204" pitchFamily="50" charset="-128"/>
                <a:ea typeface="メイリオ" panose="020B0604030504040204" pitchFamily="50" charset="-128"/>
              </a:rPr>
              <a:t>LINE</a:t>
            </a:r>
            <a:r>
              <a:rPr lang="ja-JP" altLang="en-US" sz="1000" b="1" dirty="0">
                <a:solidFill>
                  <a:schemeClr val="tx1"/>
                </a:solidFill>
                <a:latin typeface="メイリオ" panose="020B0604030504040204" pitchFamily="50" charset="-128"/>
                <a:ea typeface="メイリオ" panose="020B0604030504040204" pitchFamily="50" charset="-128"/>
              </a:rPr>
              <a:t>でのリード有効化率を上げるコンテンツとして</a:t>
            </a:r>
            <a:r>
              <a:rPr lang="en-US" altLang="ja-JP" sz="1000" b="1" dirty="0">
                <a:solidFill>
                  <a:schemeClr val="tx1"/>
                </a:solidFill>
                <a:latin typeface="メイリオ" panose="020B0604030504040204" pitchFamily="50" charset="-128"/>
                <a:ea typeface="メイリオ" panose="020B0604030504040204" pitchFamily="50" charset="-128"/>
              </a:rPr>
              <a:t>…</a:t>
            </a:r>
            <a:r>
              <a:rPr lang="ja-JP" altLang="en-US" sz="1000" b="1" dirty="0">
                <a:solidFill>
                  <a:schemeClr val="tx1"/>
                </a:solidFill>
                <a:latin typeface="メイリオ" panose="020B0604030504040204" pitchFamily="50" charset="-128"/>
                <a:ea typeface="メイリオ" panose="020B0604030504040204" pitchFamily="50" charset="-128"/>
              </a:rPr>
              <a:t>。</a:t>
            </a:r>
            <a:endParaRPr kumimoji="1" lang="en-US" altLang="ja-JP" sz="1000" b="1" dirty="0">
              <a:solidFill>
                <a:schemeClr val="tx1"/>
              </a:solidFill>
              <a:latin typeface="メイリオ" panose="020B0604030504040204" pitchFamily="50" charset="-128"/>
              <a:ea typeface="メイリオ" panose="020B0604030504040204" pitchFamily="50" charset="-128"/>
            </a:endParaRPr>
          </a:p>
        </p:txBody>
      </p:sp>
      <p:sp>
        <p:nvSpPr>
          <p:cNvPr id="487" name="Rounded Rectangle 51">
            <a:extLst>
              <a:ext uri="{FF2B5EF4-FFF2-40B4-BE49-F238E27FC236}">
                <a16:creationId xmlns:a16="http://schemas.microsoft.com/office/drawing/2014/main" id="{2B62F190-D7DD-DB58-1916-C8BBBAFC5980}"/>
              </a:ext>
            </a:extLst>
          </p:cNvPr>
          <p:cNvSpPr/>
          <p:nvPr/>
        </p:nvSpPr>
        <p:spPr>
          <a:xfrm>
            <a:off x="4404636" y="53814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sz="1100" b="1" dirty="0">
                <a:solidFill>
                  <a:srgbClr val="FFFFFF"/>
                </a:solidFill>
                <a:latin typeface="メイリオ"/>
                <a:ea typeface="メイリオ"/>
              </a:rPr>
              <a:t>2</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ジム選びで失敗しやすい</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ポイント（啓蒙）</a:t>
            </a:r>
            <a:endParaRPr sz="900" b="0" dirty="0">
              <a:solidFill>
                <a:srgbClr val="FFFFFF"/>
              </a:solidFill>
              <a:latin typeface="メイリオ"/>
              <a:ea typeface="メイリオ"/>
            </a:endParaRPr>
          </a:p>
        </p:txBody>
      </p:sp>
      <p:cxnSp>
        <p:nvCxnSpPr>
          <p:cNvPr id="489" name="直線矢印コネクタ 488">
            <a:extLst>
              <a:ext uri="{FF2B5EF4-FFF2-40B4-BE49-F238E27FC236}">
                <a16:creationId xmlns:a16="http://schemas.microsoft.com/office/drawing/2014/main" id="{F662A18B-B2AE-C98F-AA3C-58176BEA664E}"/>
              </a:ext>
            </a:extLst>
          </p:cNvPr>
          <p:cNvCxnSpPr>
            <a:cxnSpLocks/>
            <a:endCxn id="485" idx="1"/>
          </p:cNvCxnSpPr>
          <p:nvPr/>
        </p:nvCxnSpPr>
        <p:spPr>
          <a:xfrm flipH="1">
            <a:off x="4082230" y="3914973"/>
            <a:ext cx="1027117" cy="12901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0" name="直線矢印コネクタ 489">
            <a:extLst>
              <a:ext uri="{FF2B5EF4-FFF2-40B4-BE49-F238E27FC236}">
                <a16:creationId xmlns:a16="http://schemas.microsoft.com/office/drawing/2014/main" id="{68132511-B505-B216-8D0D-13D34BB24CAB}"/>
              </a:ext>
            </a:extLst>
          </p:cNvPr>
          <p:cNvCxnSpPr>
            <a:cxnSpLocks/>
            <a:stCxn id="242" idx="3"/>
            <a:endCxn id="485" idx="3"/>
          </p:cNvCxnSpPr>
          <p:nvPr/>
        </p:nvCxnSpPr>
        <p:spPr>
          <a:xfrm>
            <a:off x="8724895" y="2794095"/>
            <a:ext cx="1446998" cy="24110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5" name="Rounded Rectangle 53">
            <a:extLst>
              <a:ext uri="{FF2B5EF4-FFF2-40B4-BE49-F238E27FC236}">
                <a16:creationId xmlns:a16="http://schemas.microsoft.com/office/drawing/2014/main" id="{F966B151-4239-FABF-9197-C691249632B7}"/>
              </a:ext>
            </a:extLst>
          </p:cNvPr>
          <p:cNvSpPr/>
          <p:nvPr/>
        </p:nvSpPr>
        <p:spPr>
          <a:xfrm>
            <a:off x="5728567"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４</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体験予約オファー
【CV①】</a:t>
            </a:r>
          </a:p>
        </p:txBody>
      </p:sp>
      <p:sp>
        <p:nvSpPr>
          <p:cNvPr id="497" name="Rounded Rectangle 55">
            <a:extLst>
              <a:ext uri="{FF2B5EF4-FFF2-40B4-BE49-F238E27FC236}">
                <a16:creationId xmlns:a16="http://schemas.microsoft.com/office/drawing/2014/main" id="{E2F99808-6AFE-D850-D2B7-5C6D6D294E79}"/>
              </a:ext>
            </a:extLst>
          </p:cNvPr>
          <p:cNvSpPr/>
          <p:nvPr/>
        </p:nvSpPr>
        <p:spPr>
          <a:xfrm>
            <a:off x="7064281" y="538487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５</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入会金無料キャンペーン中</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体験特典のご案内</a:t>
            </a:r>
            <a:endParaRPr sz="900" b="0" dirty="0">
              <a:solidFill>
                <a:srgbClr val="FFFFFF"/>
              </a:solidFill>
              <a:latin typeface="メイリオ"/>
              <a:ea typeface="メイリオ"/>
            </a:endParaRPr>
          </a:p>
        </p:txBody>
      </p:sp>
      <p:sp>
        <p:nvSpPr>
          <p:cNvPr id="499" name="Rounded Rectangle 57">
            <a:extLst>
              <a:ext uri="{FF2B5EF4-FFF2-40B4-BE49-F238E27FC236}">
                <a16:creationId xmlns:a16="http://schemas.microsoft.com/office/drawing/2014/main" id="{15FBCDBF-B211-773D-E571-14A464C8AF2F}"/>
              </a:ext>
            </a:extLst>
          </p:cNvPr>
          <p:cNvSpPr/>
          <p:nvPr/>
        </p:nvSpPr>
        <p:spPr>
          <a:xfrm>
            <a:off x="8399995" y="538487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en-US" altLang="ja-JP" sz="1100" b="1" dirty="0">
                <a:solidFill>
                  <a:srgbClr val="FFFFFF"/>
                </a:solidFill>
                <a:latin typeface="メイリオ"/>
                <a:ea typeface="メイリオ"/>
              </a:rPr>
              <a:t>8</a:t>
            </a:r>
            <a:r>
              <a:rPr sz="1100" b="1" dirty="0">
                <a:solidFill>
                  <a:srgbClr val="FFFFFF"/>
                </a:solidFill>
                <a:latin typeface="メイリオ"/>
                <a:ea typeface="メイリオ"/>
              </a:rPr>
              <a:t>日目〜</a:t>
            </a: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期間限定の入会特典</a:t>
            </a:r>
            <a:endParaRPr lang="en-US" altLang="ja-JP" sz="900" b="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事務手数料0円・特典UP</a:t>
            </a:r>
            <a:endParaRPr sz="900" b="0" dirty="0">
              <a:solidFill>
                <a:srgbClr val="FFFFFF"/>
              </a:solidFill>
              <a:latin typeface="メイリオ"/>
              <a:ea typeface="メイリオ"/>
            </a:endParaRPr>
          </a:p>
        </p:txBody>
      </p:sp>
      <p:sp>
        <p:nvSpPr>
          <p:cNvPr id="501" name="四角形: 角を丸くする 500">
            <a:extLst>
              <a:ext uri="{FF2B5EF4-FFF2-40B4-BE49-F238E27FC236}">
                <a16:creationId xmlns:a16="http://schemas.microsoft.com/office/drawing/2014/main" id="{9BEE51D7-85B7-1EEE-2DA3-A6919001F4A6}"/>
              </a:ext>
            </a:extLst>
          </p:cNvPr>
          <p:cNvSpPr/>
          <p:nvPr/>
        </p:nvSpPr>
        <p:spPr>
          <a:xfrm>
            <a:off x="8517887" y="1084883"/>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ジム名・エリア名</a:t>
            </a:r>
          </a:p>
        </p:txBody>
      </p:sp>
      <p:sp>
        <p:nvSpPr>
          <p:cNvPr id="503" name="四角形: 角を丸くする 502">
            <a:extLst>
              <a:ext uri="{FF2B5EF4-FFF2-40B4-BE49-F238E27FC236}">
                <a16:creationId xmlns:a16="http://schemas.microsoft.com/office/drawing/2014/main" id="{5D99F84B-FDE7-C4B6-9351-9AE2D2D67DF8}"/>
              </a:ext>
            </a:extLst>
          </p:cNvPr>
          <p:cNvSpPr/>
          <p:nvPr/>
        </p:nvSpPr>
        <p:spPr>
          <a:xfrm>
            <a:off x="8517887" y="1379918"/>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他ジム名</a:t>
            </a:r>
          </a:p>
        </p:txBody>
      </p:sp>
      <p:sp>
        <p:nvSpPr>
          <p:cNvPr id="505" name="四角形: 角を丸くする 504">
            <a:extLst>
              <a:ext uri="{FF2B5EF4-FFF2-40B4-BE49-F238E27FC236}">
                <a16:creationId xmlns:a16="http://schemas.microsoft.com/office/drawing/2014/main" id="{034292A4-FADE-70C8-1F70-7A8B6CFFE235}"/>
              </a:ext>
            </a:extLst>
          </p:cNvPr>
          <p:cNvSpPr/>
          <p:nvPr/>
        </p:nvSpPr>
        <p:spPr>
          <a:xfrm>
            <a:off x="8517887" y="1669041"/>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骨格・カラー等の診断系</a:t>
            </a:r>
          </a:p>
        </p:txBody>
      </p:sp>
      <p:sp>
        <p:nvSpPr>
          <p:cNvPr id="507" name="四角形: 角を丸くする 506">
            <a:extLst>
              <a:ext uri="{FF2B5EF4-FFF2-40B4-BE49-F238E27FC236}">
                <a16:creationId xmlns:a16="http://schemas.microsoft.com/office/drawing/2014/main" id="{3A5BC051-7CD4-A45E-6D3B-981B109B8BD3}"/>
              </a:ext>
            </a:extLst>
          </p:cNvPr>
          <p:cNvSpPr/>
          <p:nvPr/>
        </p:nvSpPr>
        <p:spPr>
          <a:xfrm>
            <a:off x="8517887" y="1964076"/>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口コミ・相場</a:t>
            </a:r>
          </a:p>
        </p:txBody>
      </p:sp>
      <p:sp>
        <p:nvSpPr>
          <p:cNvPr id="509" name="Rounded Rectangle 47">
            <a:extLst>
              <a:ext uri="{FF2B5EF4-FFF2-40B4-BE49-F238E27FC236}">
                <a16:creationId xmlns:a16="http://schemas.microsoft.com/office/drawing/2014/main" id="{41275B32-0EBC-C4D4-E7C9-7949128091ED}"/>
              </a:ext>
            </a:extLst>
          </p:cNvPr>
          <p:cNvSpPr/>
          <p:nvPr/>
        </p:nvSpPr>
        <p:spPr>
          <a:xfrm>
            <a:off x="802074" y="6022295"/>
            <a:ext cx="1393404"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0" dirty="0">
                <a:solidFill>
                  <a:schemeClr val="tx1"/>
                </a:solidFill>
                <a:latin typeface="メイリオ" panose="020B0604030504040204" pitchFamily="50" charset="-128"/>
                <a:ea typeface="メイリオ" panose="020B0604030504040204" pitchFamily="50" charset="-128"/>
              </a:rPr>
              <a:t>実例を見て</a:t>
            </a:r>
            <a:endParaRPr lang="en-US" altLang="ja-JP" sz="900" b="0" dirty="0">
              <a:solidFill>
                <a:schemeClr val="tx1"/>
              </a:solidFill>
              <a:latin typeface="メイリオ" panose="020B0604030504040204" pitchFamily="50" charset="-128"/>
              <a:ea typeface="メイリオ" panose="020B0604030504040204" pitchFamily="50" charset="-128"/>
            </a:endParaRPr>
          </a:p>
          <a:p>
            <a:pPr algn="ctr"/>
            <a:r>
              <a:rPr lang="ja-JP" altLang="en-US" sz="900" dirty="0">
                <a:solidFill>
                  <a:schemeClr val="tx1"/>
                </a:solidFill>
                <a:latin typeface="メイリオ" panose="020B0604030504040204" pitchFamily="50" charset="-128"/>
                <a:ea typeface="メイリオ" panose="020B0604030504040204" pitchFamily="50" charset="-128"/>
              </a:rPr>
              <a:t>「自分にもできそう」になる</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511" name="Rounded Rectangle 49">
            <a:extLst>
              <a:ext uri="{FF2B5EF4-FFF2-40B4-BE49-F238E27FC236}">
                <a16:creationId xmlns:a16="http://schemas.microsoft.com/office/drawing/2014/main" id="{51E3021D-7BDD-08BD-115E-DFAB6AC1418F}"/>
              </a:ext>
            </a:extLst>
          </p:cNvPr>
          <p:cNvSpPr/>
          <p:nvPr/>
        </p:nvSpPr>
        <p:spPr>
          <a:xfrm>
            <a:off x="2238506" y="6022295"/>
            <a:ext cx="1503880" cy="550487"/>
          </a:xfrm>
          <a:prstGeom prst="roundRect">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900" b="1" dirty="0">
                <a:solidFill>
                  <a:schemeClr val="tx1"/>
                </a:solidFill>
                <a:latin typeface="メイリオ" panose="020B0604030504040204" pitchFamily="50" charset="-128"/>
                <a:ea typeface="メイリオ" panose="020B0604030504040204" pitchFamily="50" charset="-128"/>
              </a:rPr>
              <a:t>検討初期でも動きやすい</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体験ハードルを下げる</a:t>
            </a:r>
            <a:endParaRPr lang="en-US" altLang="ja-JP" sz="900" b="1" dirty="0">
              <a:solidFill>
                <a:schemeClr val="tx1"/>
              </a:solidFill>
              <a:latin typeface="メイリオ" panose="020B0604030504040204" pitchFamily="50" charset="-128"/>
              <a:ea typeface="メイリオ" panose="020B0604030504040204" pitchFamily="50" charset="-128"/>
            </a:endParaRPr>
          </a:p>
          <a:p>
            <a:pPr algn="ctr"/>
            <a:r>
              <a:rPr lang="ja-JP" altLang="en-US" sz="900" b="1" dirty="0">
                <a:solidFill>
                  <a:schemeClr val="tx1"/>
                </a:solidFill>
                <a:latin typeface="メイリオ" panose="020B0604030504040204" pitchFamily="50" charset="-128"/>
                <a:ea typeface="メイリオ" panose="020B0604030504040204" pitchFamily="50" charset="-128"/>
              </a:rPr>
              <a:t>（</a:t>
            </a:r>
            <a:r>
              <a:rPr lang="en-US" altLang="ja-JP" sz="900" b="1" dirty="0">
                <a:solidFill>
                  <a:schemeClr val="tx1"/>
                </a:solidFill>
                <a:latin typeface="メイリオ" panose="020B0604030504040204" pitchFamily="50" charset="-128"/>
                <a:ea typeface="メイリオ" panose="020B0604030504040204" pitchFamily="50" charset="-128"/>
              </a:rPr>
              <a:t>LINE</a:t>
            </a:r>
            <a:r>
              <a:rPr lang="ja-JP" altLang="en-US" sz="900" b="1" dirty="0">
                <a:solidFill>
                  <a:schemeClr val="tx1"/>
                </a:solidFill>
                <a:latin typeface="メイリオ" panose="020B0604030504040204" pitchFamily="50" charset="-128"/>
                <a:ea typeface="メイリオ" panose="020B0604030504040204" pitchFamily="50" charset="-128"/>
              </a:rPr>
              <a:t>で簡単だと）</a:t>
            </a:r>
          </a:p>
        </p:txBody>
      </p:sp>
      <p:sp>
        <p:nvSpPr>
          <p:cNvPr id="513" name="Rounded Rectangle 55">
            <a:extLst>
              <a:ext uri="{FF2B5EF4-FFF2-40B4-BE49-F238E27FC236}">
                <a16:creationId xmlns:a16="http://schemas.microsoft.com/office/drawing/2014/main" id="{056EA98B-B524-7F96-6DAA-A35FCF5B9CB4}"/>
              </a:ext>
            </a:extLst>
          </p:cNvPr>
          <p:cNvSpPr/>
          <p:nvPr/>
        </p:nvSpPr>
        <p:spPr>
          <a:xfrm>
            <a:off x="7052498" y="6932236"/>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期間限定
季節の入会CP</a:t>
            </a:r>
            <a:endParaRPr sz="900" b="0" dirty="0">
              <a:solidFill>
                <a:srgbClr val="FFFFFF"/>
              </a:solidFill>
              <a:latin typeface="メイリオ"/>
              <a:ea typeface="メイリオ"/>
            </a:endParaRPr>
          </a:p>
        </p:txBody>
      </p:sp>
      <p:sp>
        <p:nvSpPr>
          <p:cNvPr id="515" name="Rounded Rectangle 57">
            <a:extLst>
              <a:ext uri="{FF2B5EF4-FFF2-40B4-BE49-F238E27FC236}">
                <a16:creationId xmlns:a16="http://schemas.microsoft.com/office/drawing/2014/main" id="{A749B661-FDEC-5A56-E115-E5B54A9BF875}"/>
              </a:ext>
            </a:extLst>
          </p:cNvPr>
          <p:cNvSpPr/>
          <p:nvPr/>
        </p:nvSpPr>
        <p:spPr>
          <a:xfrm>
            <a:off x="8388212" y="6932236"/>
            <a:ext cx="1292685" cy="1500000"/>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長期</a:t>
            </a:r>
          </a:p>
          <a:p>
            <a:pPr algn="ctr"/>
            <a:endParaRPr sz="1100" b="1" dirty="0">
              <a:solidFill>
                <a:srgbClr val="FFFFFF"/>
              </a:solidFill>
              <a:latin typeface="メイリオ"/>
              <a:ea typeface="メイリオ"/>
            </a:endParaRPr>
          </a:p>
          <a:p>
            <a:pPr algn="ctr"/>
            <a:r>
              <a:rPr sz="900" b="0" dirty="0" err="1">
                <a:solidFill>
                  <a:srgbClr val="FFFFFF"/>
                </a:solidFill>
                <a:latin typeface="メイリオ"/>
                <a:ea typeface="メイリオ"/>
              </a:rPr>
              <a:t>継続・PT・紹介
【CV③】</a:t>
            </a:r>
          </a:p>
        </p:txBody>
      </p:sp>
      <p:sp>
        <p:nvSpPr>
          <p:cNvPr id="517" name="Rounded Rectangle 51">
            <a:extLst>
              <a:ext uri="{FF2B5EF4-FFF2-40B4-BE49-F238E27FC236}">
                <a16:creationId xmlns:a16="http://schemas.microsoft.com/office/drawing/2014/main" id="{58C85FCB-FAB2-BE11-628B-00336C176B7D}"/>
              </a:ext>
            </a:extLst>
          </p:cNvPr>
          <p:cNvSpPr/>
          <p:nvPr/>
        </p:nvSpPr>
        <p:spPr>
          <a:xfrm>
            <a:off x="5109346" y="6572782"/>
            <a:ext cx="1292685" cy="1500000"/>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lang="ja-JP" altLang="en-US" sz="1100" b="1" dirty="0">
                <a:solidFill>
                  <a:srgbClr val="FFFFFF"/>
                </a:solidFill>
                <a:latin typeface="メイリオ"/>
                <a:ea typeface="メイリオ"/>
              </a:rPr>
              <a:t>３</a:t>
            </a:r>
            <a:r>
              <a:rPr sz="1100" b="1" dirty="0" err="1">
                <a:solidFill>
                  <a:srgbClr val="FFFFFF"/>
                </a:solidFill>
                <a:latin typeface="メイリオ"/>
                <a:ea typeface="メイリオ"/>
              </a:rPr>
              <a:t>日目</a:t>
            </a:r>
            <a:endParaRPr sz="1100" b="1" dirty="0">
              <a:solidFill>
                <a:srgbClr val="FFFFFF"/>
              </a:solidFill>
              <a:latin typeface="メイリオ"/>
              <a:ea typeface="メイリオ"/>
            </a:endParaRPr>
          </a:p>
          <a:p>
            <a:pPr algn="ctr"/>
            <a:endParaRPr sz="1100" b="1" dirty="0">
              <a:solidFill>
                <a:srgbClr val="FFFFFF"/>
              </a:solidFill>
              <a:latin typeface="メイリオ"/>
              <a:ea typeface="メイリオ"/>
            </a:endParaRPr>
          </a:p>
          <a:p>
            <a:pPr algn="ctr"/>
            <a:r>
              <a:rPr lang="ja-JP" altLang="en-US" sz="900" b="0" dirty="0">
                <a:solidFill>
                  <a:srgbClr val="FFFFFF"/>
                </a:solidFill>
                <a:latin typeface="メイリオ"/>
                <a:ea typeface="メイリオ"/>
              </a:rPr>
              <a:t>施設の</a:t>
            </a:r>
            <a:endParaRPr lang="en-US" altLang="ja-JP" sz="900" b="0" dirty="0">
              <a:solidFill>
                <a:srgbClr val="FFFFFF"/>
              </a:solidFill>
              <a:latin typeface="メイリオ"/>
              <a:ea typeface="メイリオ"/>
            </a:endParaRPr>
          </a:p>
          <a:p>
            <a:pPr algn="ctr"/>
            <a:r>
              <a:rPr lang="ja-JP" altLang="en-US" sz="900" dirty="0">
                <a:solidFill>
                  <a:srgbClr val="FFFFFF"/>
                </a:solidFill>
                <a:latin typeface="メイリオ"/>
                <a:ea typeface="メイリオ"/>
              </a:rPr>
              <a:t>こだわり</a:t>
            </a:r>
            <a:endParaRPr lang="en-US" altLang="ja-JP" sz="900" dirty="0">
              <a:solidFill>
                <a:srgbClr val="FFFFFF"/>
              </a:solidFill>
              <a:latin typeface="メイリオ"/>
              <a:ea typeface="メイリオ"/>
            </a:endParaRPr>
          </a:p>
          <a:p>
            <a:pPr algn="ctr"/>
            <a:r>
              <a:rPr lang="ja-JP" altLang="en-US" sz="900" b="0" dirty="0">
                <a:solidFill>
                  <a:srgbClr val="FFFFFF"/>
                </a:solidFill>
                <a:latin typeface="メイリオ"/>
                <a:ea typeface="メイリオ"/>
              </a:rPr>
              <a:t>マシン・シャワー・混雑状況</a:t>
            </a:r>
            <a:endParaRPr sz="900" b="0" dirty="0">
              <a:solidFill>
                <a:srgbClr val="FFFFFF"/>
              </a:solidFill>
              <a:latin typeface="メイリオ"/>
              <a:ea typeface="メイリオ"/>
            </a:endParaRPr>
          </a:p>
        </p:txBody>
      </p:sp>
      <p:sp>
        <p:nvSpPr>
          <p:cNvPr id="4" name="Google Shape;156;p7">
            <a:extLst>
              <a:ext uri="{FF2B5EF4-FFF2-40B4-BE49-F238E27FC236}">
                <a16:creationId xmlns:a16="http://schemas.microsoft.com/office/drawing/2014/main" id="{DEB9E934-197D-1C68-C461-9EA03EB3A2A1}"/>
              </a:ext>
            </a:extLst>
          </p:cNvPr>
          <p:cNvSpPr txBox="1"/>
          <p:nvPr/>
        </p:nvSpPr>
        <p:spPr>
          <a:xfrm>
            <a:off x="548883" y="138118"/>
            <a:ext cx="6681368"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配信設計｜ステップ配信のブレスト</a:t>
            </a:r>
            <a:endParaRPr sz="1600" b="1" dirty="0">
              <a:solidFill>
                <a:srgbClr val="002060"/>
              </a:solidFill>
              <a:latin typeface="メイリオ"/>
              <a:ea typeface="メイリオ"/>
              <a:cs typeface="Meiryo"/>
              <a:sym typeface="Meiryo"/>
            </a:endParaRPr>
          </a:p>
        </p:txBody>
      </p:sp>
      <p:pic>
        <p:nvPicPr>
          <p:cNvPr id="519" name="Picture 518" descr="journey_women_colored.png"/>
          <p:cNvPicPr>
            <a:picLocks noChangeAspect="1"/>
          </p:cNvPicPr>
          <p:nvPr/>
        </p:nvPicPr>
        <p:blipFill>
          <a:blip r:embed="rId3"/>
          <a:stretch>
            <a:fillRect/>
          </a:stretch>
        </p:blipFill>
        <p:spPr>
          <a:xfrm>
            <a:off x="1621811" y="762524"/>
            <a:ext cx="6627552" cy="3866072"/>
          </a:xfrm>
          <a:prstGeom prst="rect">
            <a:avLst/>
          </a:prstGeom>
        </p:spPr>
      </p:pic>
    </p:spTree>
    <p:extLst>
      <p:ext uri="{BB962C8B-B14F-4D97-AF65-F5344CB8AC3E}">
        <p14:creationId xmlns:p14="http://schemas.microsoft.com/office/powerpoint/2010/main" val="37374636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配信設計｜ステップ配信① 追加から14日で体験予約を取り切る</a:t>
            </a:r>
          </a:p>
        </p:txBody>
      </p:sp>
      <p:sp>
        <p:nvSpPr>
          <p:cNvPr id="3" name="TextBox 2"/>
          <p:cNvSpPr txBox="1"/>
          <p:nvPr/>
        </p:nvSpPr>
        <p:spPr>
          <a:xfrm>
            <a:off x="384048" y="731520"/>
            <a:ext cx="9134856" cy="430887"/>
          </a:xfrm>
          <a:prstGeom prst="rect">
            <a:avLst/>
          </a:prstGeom>
          <a:noFill/>
        </p:spPr>
        <p:txBody>
          <a:bodyPr wrap="square" lIns="0" tIns="0" rIns="0" bIns="0">
            <a:spAutoFit/>
          </a:bodyPr>
          <a:lstStyle/>
          <a:p>
            <a:r>
              <a:rPr sz="1400" b="0" dirty="0">
                <a:solidFill>
                  <a:srgbClr val="646C82"/>
                </a:solidFill>
                <a:latin typeface="メイリオ"/>
                <a:ea typeface="メイリオ"/>
              </a:rPr>
              <a:t>友だち追加から15日でアクティブ率が急落する。ジムの検討期間は数日〜2週間。</a:t>
            </a:r>
            <a:endParaRPr lang="en-US" sz="1400" b="0" dirty="0">
              <a:solidFill>
                <a:srgbClr val="646C82"/>
              </a:solidFill>
              <a:latin typeface="メイリオ"/>
              <a:ea typeface="メイリオ"/>
            </a:endParaRPr>
          </a:p>
          <a:p>
            <a:r>
              <a:rPr sz="1400" b="0" dirty="0">
                <a:solidFill>
                  <a:srgbClr val="646C82"/>
                </a:solidFill>
                <a:latin typeface="メイリオ"/>
                <a:ea typeface="メイリオ"/>
              </a:rPr>
              <a:t>この</a:t>
            </a:r>
            <a:r>
              <a:rPr sz="1400" dirty="0">
                <a:solidFill>
                  <a:srgbClr val="646C82"/>
                </a:solidFill>
                <a:latin typeface="メイリオ"/>
                <a:ea typeface="メイリオ"/>
              </a:rPr>
              <a:t>2つが重なるのが</a:t>
            </a:r>
            <a:r>
              <a:rPr sz="1400" b="1" dirty="0">
                <a:solidFill>
                  <a:srgbClr val="646C82"/>
                </a:solidFill>
                <a:latin typeface="メイリオ"/>
                <a:ea typeface="メイリオ"/>
              </a:rPr>
              <a:t>最初の14日。</a:t>
            </a:r>
          </a:p>
        </p:txBody>
      </p:sp>
      <p:graphicFrame>
        <p:nvGraphicFramePr>
          <p:cNvPr id="4" name="Table 3"/>
          <p:cNvGraphicFramePr>
            <a:graphicFrameLocks noGrp="1"/>
          </p:cNvGraphicFramePr>
          <p:nvPr>
            <p:extLst>
              <p:ext uri="{D42A27DB-BD31-4B8C-83A1-F6EECF244321}">
                <p14:modId xmlns:p14="http://schemas.microsoft.com/office/powerpoint/2010/main" val="3998067327"/>
              </p:ext>
            </p:extLst>
          </p:nvPr>
        </p:nvGraphicFramePr>
        <p:xfrm>
          <a:off x="384048" y="1280160"/>
          <a:ext cx="9134856" cy="368372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505456">
                  <a:extLst>
                    <a:ext uri="{9D8B030D-6E8A-4147-A177-3AD203B41FA5}">
                      <a16:colId xmlns:a16="http://schemas.microsoft.com/office/drawing/2014/main" val="20004"/>
                    </a:ext>
                  </a:extLst>
                </a:gridCol>
              </a:tblGrid>
              <a:tr h="460466">
                <a:tc>
                  <a:txBody>
                    <a:bodyPr/>
                    <a:lstStyle/>
                    <a:p>
                      <a:pPr algn="ctr"/>
                      <a:r>
                        <a:rPr sz="1200" b="1">
                          <a:solidFill>
                            <a:srgbClr val="FFFFFF"/>
                          </a:solidFill>
                          <a:latin typeface="メイリオ"/>
                          <a:ea typeface="メイリオ"/>
                        </a:rPr>
                        <a:t>日</a:t>
                      </a:r>
                    </a:p>
                  </a:txBody>
                  <a:tcPr>
                    <a:solidFill>
                      <a:srgbClr val="1F2A5C"/>
                    </a:solidFill>
                  </a:tcPr>
                </a:tc>
                <a:tc>
                  <a:txBody>
                    <a:bodyPr/>
                    <a:lstStyle/>
                    <a:p>
                      <a:pPr algn="ctr"/>
                      <a:r>
                        <a:rPr sz="1200" b="1">
                          <a:solidFill>
                            <a:srgbClr val="FFFFFF"/>
                          </a:solidFill>
                          <a:latin typeface="メイリオ"/>
                          <a:ea typeface="メイリオ"/>
                        </a:rPr>
                        <a:t>目的</a:t>
                      </a:r>
                    </a:p>
                  </a:txBody>
                  <a:tcPr>
                    <a:solidFill>
                      <a:srgbClr val="1F2A5C"/>
                    </a:solidFill>
                  </a:tcPr>
                </a:tc>
                <a:tc>
                  <a:txBody>
                    <a:bodyPr/>
                    <a:lstStyle/>
                    <a:p>
                      <a:pPr algn="ctr"/>
                      <a:r>
                        <a:rPr sz="1200" b="1">
                          <a:solidFill>
                            <a:srgbClr val="FFFFFF"/>
                          </a:solidFill>
                          <a:latin typeface="メイリオ"/>
                          <a:ea typeface="メイリオ"/>
                        </a:rPr>
                        <a:t>配信コンテンツ</a:t>
                      </a:r>
                    </a:p>
                  </a:txBody>
                  <a:tcPr>
                    <a:solidFill>
                      <a:srgbClr val="1F2A5C"/>
                    </a:solidFill>
                  </a:tcPr>
                </a:tc>
                <a:tc>
                  <a:txBody>
                    <a:bodyPr/>
                    <a:lstStyle/>
                    <a:p>
                      <a:pPr algn="ctr"/>
                      <a:r>
                        <a:rPr sz="1200" b="1">
                          <a:solidFill>
                            <a:srgbClr val="FFFFFF"/>
                          </a:solidFill>
                          <a:latin typeface="メイリオ"/>
                          <a:ea typeface="メイリオ"/>
                        </a:rPr>
                        <a:t>CTA</a:t>
                      </a:r>
                    </a:p>
                  </a:txBody>
                  <a:tcPr>
                    <a:solidFill>
                      <a:srgbClr val="1F2A5C"/>
                    </a:solidFill>
                  </a:tcPr>
                </a:tc>
                <a:tc>
                  <a:txBody>
                    <a:bodyPr/>
                    <a:lstStyle/>
                    <a:p>
                      <a:pPr algn="ctr"/>
                      <a:r>
                        <a:rPr sz="1200" b="1">
                          <a:solidFill>
                            <a:srgbClr val="FFFFFF"/>
                          </a:solidFill>
                          <a:latin typeface="メイリオ"/>
                          <a:ea typeface="メイリオ"/>
                        </a:rPr>
                        <a:t>通知プレビュー冒頭</a:t>
                      </a:r>
                    </a:p>
                  </a:txBody>
                  <a:tcPr>
                    <a:solidFill>
                      <a:srgbClr val="1F2A5C"/>
                    </a:solidFill>
                  </a:tcPr>
                </a:tc>
                <a:extLst>
                  <a:ext uri="{0D108BD9-81ED-4DB2-BD59-A6C34878D82A}">
                    <a16:rowId xmlns:a16="http://schemas.microsoft.com/office/drawing/2014/main" val="10000"/>
                  </a:ext>
                </a:extLst>
              </a:tr>
              <a:tr h="460466">
                <a:tc>
                  <a:txBody>
                    <a:bodyPr/>
                    <a:lstStyle/>
                    <a:p>
                      <a:pPr algn="l"/>
                      <a:r>
                        <a:rPr sz="1050" b="0">
                          <a:solidFill>
                            <a:srgbClr val="1C2233"/>
                          </a:solidFill>
                          <a:latin typeface="メイリオ"/>
                          <a:ea typeface="メイリオ"/>
                        </a:rPr>
                        <a:t>Day0</a:t>
                      </a:r>
                    </a:p>
                  </a:txBody>
                  <a:tcPr>
                    <a:solidFill>
                      <a:srgbClr val="FFFFFF"/>
                    </a:solidFill>
                  </a:tcPr>
                </a:tc>
                <a:tc>
                  <a:txBody>
                    <a:bodyPr/>
                    <a:lstStyle/>
                    <a:p>
                      <a:pPr algn="ctr"/>
                      <a:r>
                        <a:rPr sz="1050" b="0">
                          <a:solidFill>
                            <a:srgbClr val="1C2233"/>
                          </a:solidFill>
                          <a:latin typeface="メイリオ"/>
                          <a:ea typeface="メイリオ"/>
                        </a:rPr>
                        <a:t>属性取得</a:t>
                      </a:r>
                    </a:p>
                  </a:txBody>
                  <a:tcPr>
                    <a:solidFill>
                      <a:srgbClr val="FFFFFF"/>
                    </a:solidFill>
                  </a:tcPr>
                </a:tc>
                <a:tc>
                  <a:txBody>
                    <a:bodyPr/>
                    <a:lstStyle/>
                    <a:p>
                      <a:pPr algn="ctr"/>
                      <a:r>
                        <a:rPr sz="1050" b="0">
                          <a:solidFill>
                            <a:srgbClr val="1C2233"/>
                          </a:solidFill>
                          <a:latin typeface="メイリオ"/>
                          <a:ea typeface="メイリオ"/>
                        </a:rPr>
                        <a:t>あいさつ＋30秒 体づくりタイプ診断</a:t>
                      </a:r>
                    </a:p>
                  </a:txBody>
                  <a:tcPr>
                    <a:solidFill>
                      <a:srgbClr val="FFFFFF"/>
                    </a:solidFill>
                  </a:tcPr>
                </a:tc>
                <a:tc>
                  <a:txBody>
                    <a:bodyPr/>
                    <a:lstStyle/>
                    <a:p>
                      <a:pPr algn="ctr"/>
                      <a:r>
                        <a:rPr sz="1050" b="0">
                          <a:solidFill>
                            <a:srgbClr val="1C2233"/>
                          </a:solidFill>
                          <a:latin typeface="メイリオ"/>
                          <a:ea typeface="メイリオ"/>
                        </a:rPr>
                        <a:t>診断回答</a:t>
                      </a:r>
                    </a:p>
                  </a:txBody>
                  <a:tcPr>
                    <a:solidFill>
                      <a:srgbClr val="FFFFFF"/>
                    </a:solidFill>
                  </a:tcPr>
                </a:tc>
                <a:tc>
                  <a:txBody>
                    <a:bodyPr/>
                    <a:lstStyle/>
                    <a:p>
                      <a:pPr algn="ctr"/>
                      <a:r>
                        <a:rPr sz="1050" b="0">
                          <a:solidFill>
                            <a:srgbClr val="1C2233"/>
                          </a:solidFill>
                          <a:latin typeface="メイリオ"/>
                          <a:ea typeface="メイリオ"/>
                        </a:rPr>
                        <a:t>【30秒診断】あなたに合う通い方</a:t>
                      </a:r>
                    </a:p>
                  </a:txBody>
                  <a:tcPr>
                    <a:solidFill>
                      <a:srgbClr val="FFFFFF"/>
                    </a:solidFill>
                  </a:tcPr>
                </a:tc>
                <a:extLst>
                  <a:ext uri="{0D108BD9-81ED-4DB2-BD59-A6C34878D82A}">
                    <a16:rowId xmlns:a16="http://schemas.microsoft.com/office/drawing/2014/main" val="10001"/>
                  </a:ext>
                </a:extLst>
              </a:tr>
              <a:tr h="460466">
                <a:tc>
                  <a:txBody>
                    <a:bodyPr/>
                    <a:lstStyle/>
                    <a:p>
                      <a:pPr algn="l"/>
                      <a:r>
                        <a:rPr sz="1050" b="0">
                          <a:solidFill>
                            <a:srgbClr val="1C2233"/>
                          </a:solidFill>
                          <a:latin typeface="メイリオ"/>
                          <a:ea typeface="メイリオ"/>
                        </a:rPr>
                        <a:t>Day2</a:t>
                      </a:r>
                    </a:p>
                  </a:txBody>
                  <a:tcPr>
                    <a:solidFill>
                      <a:srgbClr val="EFF1F7"/>
                    </a:solidFill>
                  </a:tcPr>
                </a:tc>
                <a:tc>
                  <a:txBody>
                    <a:bodyPr/>
                    <a:lstStyle/>
                    <a:p>
                      <a:pPr algn="ctr"/>
                      <a:r>
                        <a:rPr sz="1050" b="0">
                          <a:solidFill>
                            <a:srgbClr val="1C2233"/>
                          </a:solidFill>
                          <a:latin typeface="メイリオ"/>
                          <a:ea typeface="メイリオ"/>
                        </a:rPr>
                        <a:t>初心者の不安</a:t>
                      </a:r>
                    </a:p>
                  </a:txBody>
                  <a:tcPr>
                    <a:solidFill>
                      <a:srgbClr val="EFF1F7"/>
                    </a:solidFill>
                  </a:tcPr>
                </a:tc>
                <a:tc>
                  <a:txBody>
                    <a:bodyPr/>
                    <a:lstStyle/>
                    <a:p>
                      <a:pPr algn="ctr"/>
                      <a:r>
                        <a:rPr sz="1050" b="0">
                          <a:solidFill>
                            <a:srgbClr val="1C2233"/>
                          </a:solidFill>
                          <a:latin typeface="メイリオ"/>
                          <a:ea typeface="メイリオ"/>
                        </a:rPr>
                        <a:t>タイプ別「最初の1ヶ月はこれだけ」＋マシンの使い方動画</a:t>
                      </a:r>
                    </a:p>
                  </a:txBody>
                  <a:tcPr>
                    <a:solidFill>
                      <a:srgbClr val="EFF1F7"/>
                    </a:solidFill>
                  </a:tcPr>
                </a:tc>
                <a:tc>
                  <a:txBody>
                    <a:bodyPr/>
                    <a:lstStyle/>
                    <a:p>
                      <a:pPr algn="ctr"/>
                      <a:r>
                        <a:rPr sz="1050" b="0">
                          <a:solidFill>
                            <a:srgbClr val="1C2233"/>
                          </a:solidFill>
                          <a:latin typeface="メイリオ"/>
                          <a:ea typeface="メイリオ"/>
                        </a:rPr>
                        <a:t>動画視聴</a:t>
                      </a:r>
                    </a:p>
                  </a:txBody>
                  <a:tcPr>
                    <a:solidFill>
                      <a:srgbClr val="EFF1F7"/>
                    </a:solidFill>
                  </a:tcPr>
                </a:tc>
                <a:tc>
                  <a:txBody>
                    <a:bodyPr/>
                    <a:lstStyle/>
                    <a:p>
                      <a:pPr algn="ctr"/>
                      <a:r>
                        <a:rPr sz="1050" b="0">
                          <a:solidFill>
                            <a:srgbClr val="1C2233"/>
                          </a:solidFill>
                          <a:latin typeface="メイリオ"/>
                          <a:ea typeface="メイリオ"/>
                        </a:rPr>
                        <a:t>【初めての方へ】まずはマシン3種類</a:t>
                      </a:r>
                    </a:p>
                  </a:txBody>
                  <a:tcPr>
                    <a:solidFill>
                      <a:srgbClr val="EFF1F7"/>
                    </a:solidFill>
                  </a:tcPr>
                </a:tc>
                <a:extLst>
                  <a:ext uri="{0D108BD9-81ED-4DB2-BD59-A6C34878D82A}">
                    <a16:rowId xmlns:a16="http://schemas.microsoft.com/office/drawing/2014/main" val="10002"/>
                  </a:ext>
                </a:extLst>
              </a:tr>
              <a:tr h="460466">
                <a:tc>
                  <a:txBody>
                    <a:bodyPr/>
                    <a:lstStyle/>
                    <a:p>
                      <a:pPr algn="l"/>
                      <a:r>
                        <a:rPr sz="1050" b="0">
                          <a:solidFill>
                            <a:srgbClr val="1C2233"/>
                          </a:solidFill>
                          <a:latin typeface="メイリオ"/>
                          <a:ea typeface="メイリオ"/>
                        </a:rPr>
                        <a:t>Day4</a:t>
                      </a:r>
                    </a:p>
                  </a:txBody>
                  <a:tcPr>
                    <a:solidFill>
                      <a:srgbClr val="FFFFFF"/>
                    </a:solidFill>
                  </a:tcPr>
                </a:tc>
                <a:tc>
                  <a:txBody>
                    <a:bodyPr/>
                    <a:lstStyle/>
                    <a:p>
                      <a:pPr algn="ctr"/>
                      <a:r>
                        <a:rPr sz="1050" b="0">
                          <a:solidFill>
                            <a:srgbClr val="1C2233"/>
                          </a:solidFill>
                          <a:latin typeface="メイリオ"/>
                          <a:ea typeface="メイリオ"/>
                        </a:rPr>
                        <a:t>費用の納得</a:t>
                      </a:r>
                    </a:p>
                  </a:txBody>
                  <a:tcPr>
                    <a:solidFill>
                      <a:srgbClr val="FFFFFF"/>
                    </a:solidFill>
                  </a:tcPr>
                </a:tc>
                <a:tc>
                  <a:txBody>
                    <a:bodyPr/>
                    <a:lstStyle/>
                    <a:p>
                      <a:pPr algn="ctr"/>
                      <a:r>
                        <a:rPr sz="1050" b="0">
                          <a:solidFill>
                            <a:srgbClr val="1C2233"/>
                          </a:solidFill>
                          <a:latin typeface="メイリオ"/>
                          <a:ea typeface="メイリオ"/>
                        </a:rPr>
                        <a:t>1分料金シミュレーター（週2回なら1回いくら？）</a:t>
                      </a:r>
                    </a:p>
                  </a:txBody>
                  <a:tcPr>
                    <a:solidFill>
                      <a:srgbClr val="FFFFFF"/>
                    </a:solidFill>
                  </a:tcPr>
                </a:tc>
                <a:tc>
                  <a:txBody>
                    <a:bodyPr/>
                    <a:lstStyle/>
                    <a:p>
                      <a:pPr algn="ctr"/>
                      <a:r>
                        <a:rPr sz="1050" b="0">
                          <a:solidFill>
                            <a:srgbClr val="1C2233"/>
                          </a:solidFill>
                          <a:latin typeface="メイリオ"/>
                          <a:ea typeface="メイリオ"/>
                        </a:rPr>
                        <a:t>料金診断</a:t>
                      </a:r>
                    </a:p>
                  </a:txBody>
                  <a:tcPr>
                    <a:solidFill>
                      <a:srgbClr val="FFFFFF"/>
                    </a:solidFill>
                  </a:tcPr>
                </a:tc>
                <a:tc>
                  <a:txBody>
                    <a:bodyPr/>
                    <a:lstStyle/>
                    <a:p>
                      <a:pPr algn="ctr"/>
                      <a:r>
                        <a:rPr sz="1050" b="0">
                          <a:solidFill>
                            <a:srgbClr val="1C2233"/>
                          </a:solidFill>
                          <a:latin typeface="メイリオ"/>
                          <a:ea typeface="メイリオ"/>
                        </a:rPr>
                        <a:t>【1回いくら？】週2回なら…</a:t>
                      </a:r>
                    </a:p>
                  </a:txBody>
                  <a:tcPr>
                    <a:solidFill>
                      <a:srgbClr val="FFFFFF"/>
                    </a:solidFill>
                  </a:tcPr>
                </a:tc>
                <a:extLst>
                  <a:ext uri="{0D108BD9-81ED-4DB2-BD59-A6C34878D82A}">
                    <a16:rowId xmlns:a16="http://schemas.microsoft.com/office/drawing/2014/main" val="10003"/>
                  </a:ext>
                </a:extLst>
              </a:tr>
              <a:tr h="460466">
                <a:tc>
                  <a:txBody>
                    <a:bodyPr/>
                    <a:lstStyle/>
                    <a:p>
                      <a:pPr algn="l"/>
                      <a:r>
                        <a:rPr sz="1050" b="0">
                          <a:solidFill>
                            <a:srgbClr val="1C2233"/>
                          </a:solidFill>
                          <a:latin typeface="メイリオ"/>
                          <a:ea typeface="メイリオ"/>
                        </a:rPr>
                        <a:t>Day6</a:t>
                      </a:r>
                    </a:p>
                  </a:txBody>
                  <a:tcPr>
                    <a:solidFill>
                      <a:srgbClr val="EFF1F7"/>
                    </a:solidFill>
                  </a:tcPr>
                </a:tc>
                <a:tc>
                  <a:txBody>
                    <a:bodyPr/>
                    <a:lstStyle/>
                    <a:p>
                      <a:pPr algn="ctr"/>
                      <a:r>
                        <a:rPr sz="1050" b="0">
                          <a:solidFill>
                            <a:srgbClr val="1C2233"/>
                          </a:solidFill>
                          <a:latin typeface="メイリオ"/>
                          <a:ea typeface="メイリオ"/>
                        </a:rPr>
                        <a:t>1回目のオファー</a:t>
                      </a:r>
                    </a:p>
                  </a:txBody>
                  <a:tcPr>
                    <a:solidFill>
                      <a:srgbClr val="EFF1F7"/>
                    </a:solidFill>
                  </a:tcPr>
                </a:tc>
                <a:tc>
                  <a:txBody>
                    <a:bodyPr/>
                    <a:lstStyle/>
                    <a:p>
                      <a:pPr algn="ctr"/>
                      <a:r>
                        <a:rPr sz="1050" b="0">
                          <a:solidFill>
                            <a:srgbClr val="1C2233"/>
                          </a:solidFill>
                          <a:latin typeface="メイリオ"/>
                          <a:ea typeface="メイリオ"/>
                        </a:rPr>
                        <a:t>無料体験のご案内＋「見学だけでもOK・入会を迫りません」</a:t>
                      </a:r>
                    </a:p>
                  </a:txBody>
                  <a:tcPr>
                    <a:solidFill>
                      <a:srgbClr val="EFF1F7"/>
                    </a:solidFill>
                  </a:tcPr>
                </a:tc>
                <a:tc>
                  <a:txBody>
                    <a:bodyPr/>
                    <a:lstStyle/>
                    <a:p>
                      <a:pPr algn="ctr"/>
                      <a:r>
                        <a:rPr sz="1050" b="1">
                          <a:solidFill>
                            <a:srgbClr val="FFFFFF"/>
                          </a:solidFill>
                          <a:latin typeface="メイリオ"/>
                          <a:ea typeface="メイリオ"/>
                        </a:rPr>
                        <a:t>体験予約 CV①</a:t>
                      </a:r>
                    </a:p>
                  </a:txBody>
                  <a:tcPr>
                    <a:solidFill>
                      <a:srgbClr val="BF4E0E"/>
                    </a:solidFill>
                  </a:tcPr>
                </a:tc>
                <a:tc>
                  <a:txBody>
                    <a:bodyPr/>
                    <a:lstStyle/>
                    <a:p>
                      <a:pPr algn="ctr"/>
                      <a:r>
                        <a:rPr sz="1050" b="0">
                          <a:solidFill>
                            <a:srgbClr val="1C2233"/>
                          </a:solidFill>
                          <a:latin typeface="メイリオ"/>
                          <a:ea typeface="メイリオ"/>
                        </a:rPr>
                        <a:t>【見学だけOK】今週の空き枠</a:t>
                      </a:r>
                    </a:p>
                  </a:txBody>
                  <a:tcPr>
                    <a:solidFill>
                      <a:srgbClr val="EFF1F7"/>
                    </a:solidFill>
                  </a:tcPr>
                </a:tc>
                <a:extLst>
                  <a:ext uri="{0D108BD9-81ED-4DB2-BD59-A6C34878D82A}">
                    <a16:rowId xmlns:a16="http://schemas.microsoft.com/office/drawing/2014/main" val="10004"/>
                  </a:ext>
                </a:extLst>
              </a:tr>
              <a:tr h="460466">
                <a:tc>
                  <a:txBody>
                    <a:bodyPr/>
                    <a:lstStyle/>
                    <a:p>
                      <a:pPr algn="l"/>
                      <a:r>
                        <a:rPr sz="1050" b="0">
                          <a:solidFill>
                            <a:srgbClr val="1C2233"/>
                          </a:solidFill>
                          <a:latin typeface="メイリオ"/>
                          <a:ea typeface="メイリオ"/>
                        </a:rPr>
                        <a:t>Day8</a:t>
                      </a:r>
                    </a:p>
                  </a:txBody>
                  <a:tcPr>
                    <a:solidFill>
                      <a:srgbClr val="FFFFFF"/>
                    </a:solidFill>
                  </a:tcPr>
                </a:tc>
                <a:tc>
                  <a:txBody>
                    <a:bodyPr/>
                    <a:lstStyle/>
                    <a:p>
                      <a:pPr algn="ctr"/>
                      <a:r>
                        <a:rPr sz="1050" b="0">
                          <a:solidFill>
                            <a:srgbClr val="1C2233"/>
                          </a:solidFill>
                          <a:latin typeface="メイリオ"/>
                          <a:ea typeface="メイリオ"/>
                        </a:rPr>
                        <a:t>社会的証明</a:t>
                      </a:r>
                    </a:p>
                  </a:txBody>
                  <a:tcPr>
                    <a:solidFill>
                      <a:srgbClr val="FFFFFF"/>
                    </a:solidFill>
                  </a:tcPr>
                </a:tc>
                <a:tc>
                  <a:txBody>
                    <a:bodyPr/>
                    <a:lstStyle/>
                    <a:p>
                      <a:pPr algn="ctr"/>
                      <a:r>
                        <a:rPr sz="1050" b="0">
                          <a:solidFill>
                            <a:srgbClr val="1C2233"/>
                          </a:solidFill>
                          <a:latin typeface="メイリオ"/>
                          <a:ea typeface="メイリオ"/>
                        </a:rPr>
                        <a:t>同年代・同目的の会員の声／続いている人の共通点</a:t>
                      </a:r>
                    </a:p>
                  </a:txBody>
                  <a:tcPr>
                    <a:solidFill>
                      <a:srgbClr val="FFFFFF"/>
                    </a:solidFill>
                  </a:tcPr>
                </a:tc>
                <a:tc>
                  <a:txBody>
                    <a:bodyPr/>
                    <a:lstStyle/>
                    <a:p>
                      <a:pPr algn="ctr"/>
                      <a:r>
                        <a:rPr sz="1050" b="0">
                          <a:solidFill>
                            <a:srgbClr val="1C2233"/>
                          </a:solidFill>
                          <a:latin typeface="メイリオ"/>
                          <a:ea typeface="メイリオ"/>
                        </a:rPr>
                        <a:t>事例閲覧</a:t>
                      </a:r>
                    </a:p>
                  </a:txBody>
                  <a:tcPr>
                    <a:solidFill>
                      <a:srgbClr val="FFFFFF"/>
                    </a:solidFill>
                  </a:tcPr>
                </a:tc>
                <a:tc>
                  <a:txBody>
                    <a:bodyPr/>
                    <a:lstStyle/>
                    <a:p>
                      <a:pPr algn="ctr"/>
                      <a:r>
                        <a:rPr sz="1050" b="0">
                          <a:solidFill>
                            <a:srgbClr val="1C2233"/>
                          </a:solidFill>
                          <a:latin typeface="メイリオ"/>
                          <a:ea typeface="メイリオ"/>
                        </a:rPr>
                        <a:t>【40代・初心者】3ヶ月後の変化</a:t>
                      </a:r>
                    </a:p>
                  </a:txBody>
                  <a:tcPr>
                    <a:solidFill>
                      <a:srgbClr val="FFFFFF"/>
                    </a:solidFill>
                  </a:tcPr>
                </a:tc>
                <a:extLst>
                  <a:ext uri="{0D108BD9-81ED-4DB2-BD59-A6C34878D82A}">
                    <a16:rowId xmlns:a16="http://schemas.microsoft.com/office/drawing/2014/main" val="10005"/>
                  </a:ext>
                </a:extLst>
              </a:tr>
              <a:tr h="460466">
                <a:tc>
                  <a:txBody>
                    <a:bodyPr/>
                    <a:lstStyle/>
                    <a:p>
                      <a:pPr algn="l"/>
                      <a:r>
                        <a:rPr sz="1050" b="0">
                          <a:solidFill>
                            <a:srgbClr val="1C2233"/>
                          </a:solidFill>
                          <a:latin typeface="メイリオ"/>
                          <a:ea typeface="メイリオ"/>
                        </a:rPr>
                        <a:t>Day11</a:t>
                      </a:r>
                    </a:p>
                  </a:txBody>
                  <a:tcPr>
                    <a:solidFill>
                      <a:srgbClr val="EFF1F7"/>
                    </a:solidFill>
                  </a:tcPr>
                </a:tc>
                <a:tc>
                  <a:txBody>
                    <a:bodyPr/>
                    <a:lstStyle/>
                    <a:p>
                      <a:pPr algn="ctr"/>
                      <a:r>
                        <a:rPr sz="1050" b="0">
                          <a:solidFill>
                            <a:srgbClr val="1C2233"/>
                          </a:solidFill>
                          <a:latin typeface="メイリオ"/>
                          <a:ea typeface="メイリオ"/>
                        </a:rPr>
                        <a:t>疑問の除去</a:t>
                      </a:r>
                    </a:p>
                  </a:txBody>
                  <a:tcPr>
                    <a:solidFill>
                      <a:srgbClr val="EFF1F7"/>
                    </a:solidFill>
                  </a:tcPr>
                </a:tc>
                <a:tc>
                  <a:txBody>
                    <a:bodyPr/>
                    <a:lstStyle/>
                    <a:p>
                      <a:pPr algn="ctr"/>
                      <a:r>
                        <a:rPr sz="1050" b="0">
                          <a:solidFill>
                            <a:srgbClr val="1C2233"/>
                          </a:solidFill>
                          <a:latin typeface="メイリオ"/>
                          <a:ea typeface="メイリオ"/>
                        </a:rPr>
                        <a:t>不安Q&amp;A（勧誘／解約／シャワー／混雑時間／持ち物）＋チャット相談</a:t>
                      </a:r>
                    </a:p>
                  </a:txBody>
                  <a:tcPr>
                    <a:solidFill>
                      <a:srgbClr val="EFF1F7"/>
                    </a:solidFill>
                  </a:tcPr>
                </a:tc>
                <a:tc>
                  <a:txBody>
                    <a:bodyPr/>
                    <a:lstStyle/>
                    <a:p>
                      <a:pPr algn="ctr"/>
                      <a:r>
                        <a:rPr sz="1050" b="0">
                          <a:solidFill>
                            <a:srgbClr val="1C2233"/>
                          </a:solidFill>
                          <a:latin typeface="メイリオ"/>
                          <a:ea typeface="メイリオ"/>
                        </a:rPr>
                        <a:t>チャット相談</a:t>
                      </a:r>
                    </a:p>
                  </a:txBody>
                  <a:tcPr>
                    <a:solidFill>
                      <a:srgbClr val="EFF1F7"/>
                    </a:solidFill>
                  </a:tcPr>
                </a:tc>
                <a:tc>
                  <a:txBody>
                    <a:bodyPr/>
                    <a:lstStyle/>
                    <a:p>
                      <a:pPr algn="ctr"/>
                      <a:r>
                        <a:rPr sz="1050" b="0">
                          <a:solidFill>
                            <a:srgbClr val="1C2233"/>
                          </a:solidFill>
                          <a:latin typeface="メイリオ"/>
                          <a:ea typeface="メイリオ"/>
                        </a:rPr>
                        <a:t>【解約もOK】よくあるご質問</a:t>
                      </a:r>
                    </a:p>
                  </a:txBody>
                  <a:tcPr>
                    <a:solidFill>
                      <a:srgbClr val="EFF1F7"/>
                    </a:solidFill>
                  </a:tcPr>
                </a:tc>
                <a:extLst>
                  <a:ext uri="{0D108BD9-81ED-4DB2-BD59-A6C34878D82A}">
                    <a16:rowId xmlns:a16="http://schemas.microsoft.com/office/drawing/2014/main" val="10006"/>
                  </a:ext>
                </a:extLst>
              </a:tr>
              <a:tr h="460466">
                <a:tc>
                  <a:txBody>
                    <a:bodyPr/>
                    <a:lstStyle/>
                    <a:p>
                      <a:pPr algn="l"/>
                      <a:r>
                        <a:rPr sz="1050" b="0">
                          <a:solidFill>
                            <a:srgbClr val="1C2233"/>
                          </a:solidFill>
                          <a:latin typeface="メイリオ"/>
                          <a:ea typeface="メイリオ"/>
                        </a:rPr>
                        <a:t>Day14</a:t>
                      </a:r>
                    </a:p>
                  </a:txBody>
                  <a:tcPr>
                    <a:solidFill>
                      <a:srgbClr val="FFFFFF"/>
                    </a:solidFill>
                  </a:tcPr>
                </a:tc>
                <a:tc>
                  <a:txBody>
                    <a:bodyPr/>
                    <a:lstStyle/>
                    <a:p>
                      <a:pPr algn="ctr"/>
                      <a:r>
                        <a:rPr sz="1050" b="0">
                          <a:solidFill>
                            <a:srgbClr val="1C2233"/>
                          </a:solidFill>
                          <a:latin typeface="メイリオ"/>
                          <a:ea typeface="メイリオ"/>
                        </a:rPr>
                        <a:t>最終オファー</a:t>
                      </a:r>
                    </a:p>
                  </a:txBody>
                  <a:tcPr>
                    <a:solidFill>
                      <a:srgbClr val="FFFFFF"/>
                    </a:solidFill>
                  </a:tcPr>
                </a:tc>
                <a:tc>
                  <a:txBody>
                    <a:bodyPr/>
                    <a:lstStyle/>
                    <a:p>
                      <a:pPr algn="ctr"/>
                      <a:r>
                        <a:rPr sz="1050" b="0" dirty="0">
                          <a:solidFill>
                            <a:srgbClr val="1C2233"/>
                          </a:solidFill>
                          <a:latin typeface="メイリオ"/>
                          <a:ea typeface="メイリオ"/>
                        </a:rPr>
                        <a:t>入会金無料・事務手数料0円＋体験枠の残数</a:t>
                      </a:r>
                    </a:p>
                  </a:txBody>
                  <a:tcPr>
                    <a:solidFill>
                      <a:srgbClr val="FFFFFF"/>
                    </a:solidFill>
                  </a:tcPr>
                </a:tc>
                <a:tc>
                  <a:txBody>
                    <a:bodyPr/>
                    <a:lstStyle/>
                    <a:p>
                      <a:pPr algn="ctr"/>
                      <a:r>
                        <a:rPr sz="1050" b="1">
                          <a:solidFill>
                            <a:srgbClr val="FFFFFF"/>
                          </a:solidFill>
                          <a:latin typeface="メイリオ"/>
                          <a:ea typeface="メイリオ"/>
                        </a:rPr>
                        <a:t>体験予約（再）</a:t>
                      </a:r>
                    </a:p>
                  </a:txBody>
                  <a:tcPr>
                    <a:solidFill>
                      <a:srgbClr val="1F2A5C"/>
                    </a:solidFill>
                  </a:tcPr>
                </a:tc>
                <a:tc>
                  <a:txBody>
                    <a:bodyPr/>
                    <a:lstStyle/>
                    <a:p>
                      <a:pPr algn="ctr"/>
                      <a:r>
                        <a:rPr sz="1050" b="0" dirty="0">
                          <a:solidFill>
                            <a:srgbClr val="1C2233"/>
                          </a:solidFill>
                          <a:latin typeface="メイリオ"/>
                          <a:ea typeface="メイリオ"/>
                        </a:rPr>
                        <a:t>【残3枠】今月の体験ご予約</a:t>
                      </a:r>
                    </a:p>
                  </a:txBody>
                  <a:tcPr>
                    <a:solidFill>
                      <a:srgbClr val="FFFFFF"/>
                    </a:solidFill>
                  </a:tcPr>
                </a:tc>
                <a:extLst>
                  <a:ext uri="{0D108BD9-81ED-4DB2-BD59-A6C34878D82A}">
                    <a16:rowId xmlns:a16="http://schemas.microsoft.com/office/drawing/2014/main" val="10007"/>
                  </a:ext>
                </a:extLst>
              </a:tr>
            </a:tbl>
          </a:graphicData>
        </a:graphic>
      </p:graphicFrame>
      <p:sp>
        <p:nvSpPr>
          <p:cNvPr id="5" name="Rounded Rectangle 4"/>
          <p:cNvSpPr/>
          <p:nvPr/>
        </p:nvSpPr>
        <p:spPr>
          <a:xfrm>
            <a:off x="384048"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① CV地点は1つ、オファーは2回</a:t>
            </a:r>
          </a:p>
          <a:p>
            <a:pPr algn="l">
              <a:spcBef>
                <a:spcPts val="200"/>
              </a:spcBef>
            </a:pPr>
            <a:r>
              <a:rPr sz="1100" b="0" dirty="0" err="1">
                <a:solidFill>
                  <a:srgbClr val="1C2233"/>
                </a:solidFill>
                <a:latin typeface="メイリオ"/>
                <a:ea typeface="メイリオ"/>
              </a:rPr>
              <a:t>CVは体験予約【CV</a:t>
            </a:r>
            <a:r>
              <a:rPr sz="1100" b="0" dirty="0">
                <a:solidFill>
                  <a:srgbClr val="1C2233"/>
                </a:solidFill>
                <a:latin typeface="メイリオ"/>
                <a:ea typeface="メイリオ"/>
              </a:rPr>
              <a:t>①】</a:t>
            </a:r>
            <a:r>
              <a:rPr sz="1100" b="0" dirty="0" err="1">
                <a:solidFill>
                  <a:srgbClr val="1C2233"/>
                </a:solidFill>
                <a:latin typeface="メイリオ"/>
                <a:ea typeface="メイリオ"/>
              </a:rPr>
              <a:t>のみ</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r>
              <a:rPr sz="1100" b="0" dirty="0">
                <a:solidFill>
                  <a:srgbClr val="1C2233"/>
                </a:solidFill>
                <a:latin typeface="メイリオ"/>
                <a:ea typeface="メイリオ"/>
              </a:rPr>
              <a:t>Day6とDay14の2回訴求し、1回で終わらせない。</a:t>
            </a:r>
          </a:p>
        </p:txBody>
      </p:sp>
      <p:sp>
        <p:nvSpPr>
          <p:cNvPr id="6" name="Rounded Rectangle 5"/>
          <p:cNvSpPr/>
          <p:nvPr/>
        </p:nvSpPr>
        <p:spPr>
          <a:xfrm>
            <a:off x="3383279"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② Day6に「迫りません」と書く</a:t>
            </a:r>
          </a:p>
          <a:p>
            <a:pPr algn="l">
              <a:spcBef>
                <a:spcPts val="200"/>
              </a:spcBef>
            </a:pPr>
            <a:r>
              <a:rPr sz="1100" b="0" dirty="0" err="1">
                <a:solidFill>
                  <a:srgbClr val="1C2233"/>
                </a:solidFill>
                <a:latin typeface="メイリオ"/>
                <a:ea typeface="メイリオ"/>
              </a:rPr>
              <a:t>押し売り拒絶への直接回答</a:t>
            </a:r>
            <a:r>
              <a:rPr sz="1100" b="0" dirty="0">
                <a:solidFill>
                  <a:srgbClr val="1C2233"/>
                </a:solidFill>
                <a:latin typeface="メイリオ"/>
                <a:ea typeface="メイリオ"/>
              </a:rPr>
              <a:t>。</a:t>
            </a:r>
            <a:r>
              <a:rPr lang="en-US" sz="1100" b="0" dirty="0">
                <a:solidFill>
                  <a:srgbClr val="1C2233"/>
                </a:solidFill>
                <a:latin typeface="メイリオ"/>
                <a:ea typeface="メイリオ"/>
              </a:rPr>
              <a:t>  </a:t>
            </a:r>
          </a:p>
          <a:p>
            <a:pPr algn="l">
              <a:spcBef>
                <a:spcPts val="200"/>
              </a:spcBef>
            </a:pPr>
            <a:r>
              <a:rPr sz="1100" b="0" dirty="0" err="1">
                <a:solidFill>
                  <a:srgbClr val="1C2233"/>
                </a:solidFill>
                <a:latin typeface="メイリオ"/>
                <a:ea typeface="メイリオ"/>
              </a:rPr>
              <a:t>この業界の最重要コピ</a:t>
            </a:r>
            <a:r>
              <a:rPr sz="1100" b="0" dirty="0">
                <a:solidFill>
                  <a:srgbClr val="1C2233"/>
                </a:solidFill>
                <a:latin typeface="メイリオ"/>
                <a:ea typeface="メイリオ"/>
              </a:rPr>
              <a:t>ー。</a:t>
            </a:r>
          </a:p>
        </p:txBody>
      </p:sp>
      <p:sp>
        <p:nvSpPr>
          <p:cNvPr id="7" name="Rounded Rectangle 6"/>
          <p:cNvSpPr/>
          <p:nvPr/>
        </p:nvSpPr>
        <p:spPr>
          <a:xfrm>
            <a:off x="6382512" y="5216435"/>
            <a:ext cx="2788920" cy="868680"/>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100" b="1" dirty="0">
                <a:solidFill>
                  <a:srgbClr val="1C2233"/>
                </a:solidFill>
                <a:latin typeface="メイリオ"/>
                <a:ea typeface="メイリオ"/>
              </a:rPr>
              <a:t>③ Day11で自ら「解約」に触れる</a:t>
            </a:r>
          </a:p>
          <a:p>
            <a:pPr algn="l">
              <a:spcBef>
                <a:spcPts val="200"/>
              </a:spcBef>
            </a:pPr>
            <a:r>
              <a:rPr sz="1100" b="0" dirty="0" err="1">
                <a:solidFill>
                  <a:srgbClr val="1C2233"/>
                </a:solidFill>
                <a:latin typeface="メイリオ"/>
                <a:ea typeface="メイリオ"/>
              </a:rPr>
              <a:t>隠すより先に出したほうが信頼される</a:t>
            </a:r>
            <a:r>
              <a:rPr sz="1100" b="0" dirty="0">
                <a:solidFill>
                  <a:srgbClr val="1C2233"/>
                </a:solidFill>
                <a:latin typeface="メイリオ"/>
                <a:ea typeface="メイリオ"/>
              </a:rPr>
              <a:t>。</a:t>
            </a:r>
          </a:p>
        </p:txBody>
      </p:sp>
      <p:sp>
        <p:nvSpPr>
          <p:cNvPr id="8" name="TextBox 7"/>
          <p:cNvSpPr txBox="1"/>
          <p:nvPr/>
        </p:nvSpPr>
        <p:spPr>
          <a:xfrm>
            <a:off x="384048" y="6267995"/>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Day15以降は「開始時期」セグメントの定常配信へ合流。予約者はステップから除外し、予約確定通知→前日リマインドへ分岐。</a:t>
            </a:r>
          </a:p>
        </p:txBody>
      </p:sp>
    </p:spTree>
    <p:extLst>
      <p:ext uri="{BB962C8B-B14F-4D97-AF65-F5344CB8AC3E}">
        <p14:creationId xmlns:p14="http://schemas.microsoft.com/office/powerpoint/2010/main" val="10987186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7920000" cy="338328"/>
          </a:xfrm>
          <a:prstGeom prst="rect">
            <a:avLst/>
          </a:prstGeom>
          <a:noFill/>
        </p:spPr>
        <p:txBody>
          <a:bodyPr wrap="square" lIns="36000" tIns="14400" rIns="36000" bIns="14400" anchor="ctr">
            <a:spAutoFit/>
          </a:bodyPr>
          <a:lstStyle/>
          <a:p>
            <a:pPr algn="l">
              <a:lnSpc>
                <a:spcPct val="125000"/>
              </a:lnSpc>
            </a:pPr>
            <a:r>
              <a:rPr sz="1600" b="1">
                <a:solidFill>
                  <a:srgbClr val="323366"/>
                </a:solidFill>
                <a:latin typeface="メイリオ"/>
                <a:ea typeface="メイリオ"/>
                <a:cs typeface="メイリオ"/>
              </a:rPr>
              <a:t>配信設計｜ステップ配信② 入会後14日で「やめない形」を作る</a:t>
            </a:r>
          </a:p>
        </p:txBody>
      </p:sp>
      <p:sp>
        <p:nvSpPr>
          <p:cNvPr id="3" name="TextBox 2"/>
          <p:cNvSpPr txBox="1"/>
          <p:nvPr/>
        </p:nvSpPr>
        <p:spPr>
          <a:xfrm>
            <a:off x="385200" y="730799"/>
            <a:ext cx="9133200" cy="432000"/>
          </a:xfrm>
          <a:prstGeom prst="rect">
            <a:avLst/>
          </a:prstGeom>
          <a:noFill/>
        </p:spPr>
        <p:txBody>
          <a:bodyPr wrap="square" lIns="0" tIns="14400" rIns="0" bIns="14400" anchor="ctr">
            <a:spAutoFit/>
          </a:bodyPr>
          <a:lstStyle/>
          <a:p>
            <a:pPr algn="l">
              <a:lnSpc>
                <a:spcPct val="125000"/>
              </a:lnSpc>
            </a:pPr>
            <a:r>
              <a:rPr sz="1400" b="1">
                <a:solidFill>
                  <a:srgbClr val="1A1A2E"/>
                </a:solidFill>
                <a:latin typeface="メイリオ"/>
                <a:ea typeface="メイリオ"/>
                <a:cs typeface="メイリオ"/>
              </a:rPr>
              <a:t>前後検索では、入会直後（＋1〜15日）に「効果が出るまで」「脂肪冷却 効果ない」「医療ダイエット」が立つ。</a:t>
            </a:r>
          </a:p>
          <a:p>
            <a:pPr algn="l">
              <a:lnSpc>
                <a:spcPct val="125000"/>
              </a:lnSpc>
            </a:pPr>
            <a:r>
              <a:rPr sz="1400" b="1">
                <a:solidFill>
                  <a:srgbClr val="C00000"/>
                </a:solidFill>
                <a:latin typeface="メイリオ"/>
                <a:ea typeface="メイリオ"/>
                <a:cs typeface="メイリオ"/>
              </a:rPr>
              <a:t>離脱は入会前ではなく、入会直後に始まっている。</a:t>
            </a:r>
          </a:p>
        </p:txBody>
      </p:sp>
      <p:graphicFrame>
        <p:nvGraphicFramePr>
          <p:cNvPr id="4" name="Table 3"/>
          <p:cNvGraphicFramePr>
            <a:graphicFrameLocks noGrp="1"/>
          </p:cNvGraphicFramePr>
          <p:nvPr/>
        </p:nvGraphicFramePr>
        <p:xfrm>
          <a:off x="385200" y="1386000"/>
          <a:ext cx="9143999" cy="2692800"/>
        </p:xfrm>
        <a:graphic>
          <a:graphicData uri="http://schemas.openxmlformats.org/drawingml/2006/table">
            <a:tbl>
              <a:tblPr firstRow="1" bandRow="1">
                <a:tableStyleId>{5C22544A-7EE6-4342-B048-85BDC9FD1C3A}</a:tableStyleId>
              </a:tblPr>
              <a:tblGrid>
                <a:gridCol w="827999">
                  <a:extLst>
                    <a:ext uri="{9D8B030D-6E8A-4147-A177-3AD203B41FA5}">
                      <a16:colId xmlns:a16="http://schemas.microsoft.com/office/drawing/2014/main" val="20000"/>
                    </a:ext>
                  </a:extLst>
                </a:gridCol>
                <a:gridCol w="1224000">
                  <a:extLst>
                    <a:ext uri="{9D8B030D-6E8A-4147-A177-3AD203B41FA5}">
                      <a16:colId xmlns:a16="http://schemas.microsoft.com/office/drawing/2014/main" val="20001"/>
                    </a:ext>
                  </a:extLst>
                </a:gridCol>
                <a:gridCol w="3816000">
                  <a:extLst>
                    <a:ext uri="{9D8B030D-6E8A-4147-A177-3AD203B41FA5}">
                      <a16:colId xmlns:a16="http://schemas.microsoft.com/office/drawing/2014/main" val="20002"/>
                    </a:ext>
                  </a:extLst>
                </a:gridCol>
                <a:gridCol w="1224000">
                  <a:extLst>
                    <a:ext uri="{9D8B030D-6E8A-4147-A177-3AD203B41FA5}">
                      <a16:colId xmlns:a16="http://schemas.microsoft.com/office/drawing/2014/main" val="20003"/>
                    </a:ext>
                  </a:extLst>
                </a:gridCol>
                <a:gridCol w="2052000">
                  <a:extLst>
                    <a:ext uri="{9D8B030D-6E8A-4147-A177-3AD203B41FA5}">
                      <a16:colId xmlns:a16="http://schemas.microsoft.com/office/drawing/2014/main" val="20004"/>
                    </a:ext>
                  </a:extLst>
                </a:gridCol>
              </a:tblGrid>
              <a:tr h="360000">
                <a:tc>
                  <a:txBody>
                    <a:bodyPr/>
                    <a:lstStyle/>
                    <a:p>
                      <a:pPr algn="ctr">
                        <a:lnSpc>
                          <a:spcPct val="115000"/>
                        </a:lnSpc>
                      </a:pPr>
                      <a:r>
                        <a:rPr sz="1200" b="1">
                          <a:solidFill>
                            <a:srgbClr val="FFFFFF"/>
                          </a:solidFill>
                          <a:latin typeface="メイリオ"/>
                          <a:ea typeface="メイリオ"/>
                          <a:cs typeface="メイリオ"/>
                        </a:rPr>
                        <a:t>日</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役割</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配信コンテンツ</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CTA</a:t>
                      </a:r>
                    </a:p>
                  </a:txBody>
                  <a:tcPr marL="50400" marR="50400" marT="21600" marB="21600" anchor="ctr">
                    <a:solidFill>
                      <a:srgbClr val="002060"/>
                    </a:solidFill>
                  </a:tcPr>
                </a:tc>
                <a:tc>
                  <a:txBody>
                    <a:bodyPr/>
                    <a:lstStyle/>
                    <a:p>
                      <a:pPr algn="ctr">
                        <a:lnSpc>
                          <a:spcPct val="115000"/>
                        </a:lnSpc>
                      </a:pPr>
                      <a:r>
                        <a:rPr sz="1200" b="1">
                          <a:solidFill>
                            <a:srgbClr val="FFFFFF"/>
                          </a:solidFill>
                          <a:latin typeface="メイリオ"/>
                          <a:ea typeface="メイリオ"/>
                          <a:cs typeface="メイリオ"/>
                        </a:rPr>
                        <a:t>通知プレビュー冒頭</a:t>
                      </a:r>
                    </a:p>
                  </a:txBody>
                  <a:tcPr marL="50400" marR="50400" marT="21600" marB="21600" anchor="ctr">
                    <a:solidFill>
                      <a:srgbClr val="002060"/>
                    </a:solidFill>
                  </a:tcPr>
                </a:tc>
                <a:extLst>
                  <a:ext uri="{0D108BD9-81ED-4DB2-BD59-A6C34878D82A}">
                    <a16:rowId xmlns:a16="http://schemas.microsoft.com/office/drawing/2014/main" val="10000"/>
                  </a:ext>
                </a:extLst>
              </a:tr>
              <a:tr h="583200">
                <a:tc>
                  <a:txBody>
                    <a:bodyPr/>
                    <a:lstStyle/>
                    <a:p>
                      <a:pPr algn="ctr">
                        <a:lnSpc>
                          <a:spcPct val="115000"/>
                        </a:lnSpc>
                      </a:pPr>
                      <a:r>
                        <a:rPr sz="1200" b="1">
                          <a:solidFill>
                            <a:srgbClr val="1A1A2E"/>
                          </a:solidFill>
                          <a:latin typeface="メイリオ"/>
                          <a:ea typeface="メイリオ"/>
                          <a:cs typeface="メイリオ"/>
                        </a:rPr>
                        <a:t>Day1</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迷わせない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持ち物5点（シューズ・ウェア・タオル・飲み物・鍵）＋最初の60分の型</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次回の来館予約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【はじめての日に】持っていくのは5つ</a:t>
                      </a:r>
                    </a:p>
                  </a:txBody>
                  <a:tcPr marL="50400" marR="50400" marT="21600" marB="21600" anchor="ctr">
                    <a:solidFill>
                      <a:srgbClr val="FFFFFF"/>
                    </a:solidFill>
                  </a:tcPr>
                </a:tc>
                <a:extLst>
                  <a:ext uri="{0D108BD9-81ED-4DB2-BD59-A6C34878D82A}">
                    <a16:rowId xmlns:a16="http://schemas.microsoft.com/office/drawing/2014/main" val="10001"/>
                  </a:ext>
                </a:extLst>
              </a:tr>
              <a:tr h="583200">
                <a:tc>
                  <a:txBody>
                    <a:bodyPr/>
                    <a:lstStyle/>
                    <a:p>
                      <a:pPr algn="ctr">
                        <a:lnSpc>
                          <a:spcPct val="115000"/>
                        </a:lnSpc>
                      </a:pPr>
                      <a:r>
                        <a:rPr sz="1200" b="1">
                          <a:solidFill>
                            <a:srgbClr val="1A1A2E"/>
                          </a:solidFill>
                          <a:latin typeface="メイリオ"/>
                          <a:ea typeface="メイリオ"/>
                          <a:cs typeface="メイリオ"/>
                        </a:rPr>
                        <a:t>Day5</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失敗させない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重すぎる重量から始めない／同じ部位は48〜72時間空ける／有酸素だけで終わらない</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フォームチェックを予約</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【やりがち】初心者の7つの落とし穴</a:t>
                      </a:r>
                    </a:p>
                  </a:txBody>
                  <a:tcPr marL="50400" marR="50400" marT="21600" marB="21600" anchor="ctr">
                    <a:solidFill>
                      <a:srgbClr val="F4F7FF"/>
                    </a:solidFill>
                  </a:tcPr>
                </a:tc>
                <a:extLst>
                  <a:ext uri="{0D108BD9-81ED-4DB2-BD59-A6C34878D82A}">
                    <a16:rowId xmlns:a16="http://schemas.microsoft.com/office/drawing/2014/main" val="10002"/>
                  </a:ext>
                </a:extLst>
              </a:tr>
              <a:tr h="583200">
                <a:tc>
                  <a:txBody>
                    <a:bodyPr/>
                    <a:lstStyle/>
                    <a:p>
                      <a:pPr algn="ctr">
                        <a:lnSpc>
                          <a:spcPct val="115000"/>
                        </a:lnSpc>
                      </a:pPr>
                      <a:r>
                        <a:rPr sz="1200" b="1">
                          <a:solidFill>
                            <a:srgbClr val="C00000"/>
                          </a:solidFill>
                          <a:latin typeface="メイリオ"/>
                          <a:ea typeface="メイリオ"/>
                          <a:cs typeface="メイリオ"/>
                        </a:rPr>
                        <a:t>Day7</a:t>
                      </a:r>
                    </a:p>
                  </a:txBody>
                  <a:tcPr marL="50400" marR="50400" marT="21600" marB="21600" anchor="ctr">
                    <a:solidFill>
                      <a:srgbClr val="FFFFFF"/>
                    </a:solidFill>
                  </a:tcPr>
                </a:tc>
                <a:tc>
                  <a:txBody>
                    <a:bodyPr/>
                    <a:lstStyle/>
                    <a:p>
                      <a:pPr algn="ctr">
                        <a:lnSpc>
                          <a:spcPct val="115000"/>
                        </a:lnSpc>
                      </a:pPr>
                      <a:r>
                        <a:rPr sz="1100" b="1">
                          <a:solidFill>
                            <a:srgbClr val="1A1A2E"/>
                          </a:solidFill>
                          <a:latin typeface="メイリオ"/>
                          <a:ea typeface="メイリオ"/>
                          <a:cs typeface="メイリオ"/>
                        </a:rPr>
                        <a:t>やめさせない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1週間＝むくみ／1ヶ月＝引き締まり／2〜3ヶ月＝見た目。体重が動くのは最後</a:t>
                      </a:r>
                    </a:p>
                  </a:txBody>
                  <a:tcPr marL="50400" marR="50400" marT="21600" marB="21600" anchor="ctr">
                    <a:solidFill>
                      <a:srgbClr val="FFFFFF"/>
                    </a:solidFill>
                  </a:tcPr>
                </a:tc>
                <a:tc>
                  <a:txBody>
                    <a:bodyPr/>
                    <a:lstStyle/>
                    <a:p>
                      <a:pPr algn="ctr">
                        <a:lnSpc>
                          <a:spcPct val="115000"/>
                        </a:lnSpc>
                      </a:pPr>
                      <a:r>
                        <a:rPr sz="1100" b="0">
                          <a:solidFill>
                            <a:srgbClr val="1A1A2E"/>
                          </a:solidFill>
                          <a:latin typeface="メイリオ"/>
                          <a:ea typeface="メイリオ"/>
                          <a:cs typeface="メイリオ"/>
                        </a:rPr>
                        <a:t>体組成測定を予約</a:t>
                      </a:r>
                    </a:p>
                  </a:txBody>
                  <a:tcPr marL="50400" marR="50400" marT="21600" marB="21600" anchor="ctr">
                    <a:solidFill>
                      <a:srgbClr val="FFFFFF"/>
                    </a:solidFill>
                  </a:tcPr>
                </a:tc>
                <a:tc>
                  <a:txBody>
                    <a:bodyPr/>
                    <a:lstStyle/>
                    <a:p>
                      <a:pPr algn="l">
                        <a:lnSpc>
                          <a:spcPct val="115000"/>
                        </a:lnSpc>
                      </a:pPr>
                      <a:r>
                        <a:rPr sz="1100" b="0">
                          <a:solidFill>
                            <a:srgbClr val="1A1A2E"/>
                          </a:solidFill>
                          <a:latin typeface="メイリオ"/>
                          <a:ea typeface="メイリオ"/>
                          <a:cs typeface="メイリオ"/>
                        </a:rPr>
                        <a:t>【1週目】体重が動かなくて正常です</a:t>
                      </a:r>
                    </a:p>
                  </a:txBody>
                  <a:tcPr marL="50400" marR="50400" marT="21600" marB="21600" anchor="ctr">
                    <a:solidFill>
                      <a:srgbClr val="FFFFFF"/>
                    </a:solidFill>
                  </a:tcPr>
                </a:tc>
                <a:extLst>
                  <a:ext uri="{0D108BD9-81ED-4DB2-BD59-A6C34878D82A}">
                    <a16:rowId xmlns:a16="http://schemas.microsoft.com/office/drawing/2014/main" val="10003"/>
                  </a:ext>
                </a:extLst>
              </a:tr>
              <a:tr h="583200">
                <a:tc>
                  <a:txBody>
                    <a:bodyPr/>
                    <a:lstStyle/>
                    <a:p>
                      <a:pPr algn="ctr">
                        <a:lnSpc>
                          <a:spcPct val="115000"/>
                        </a:lnSpc>
                      </a:pPr>
                      <a:r>
                        <a:rPr sz="1200" b="1">
                          <a:solidFill>
                            <a:srgbClr val="C00000"/>
                          </a:solidFill>
                          <a:latin typeface="メイリオ"/>
                          <a:ea typeface="メイリオ"/>
                          <a:cs typeface="メイリオ"/>
                        </a:rPr>
                        <a:t>Day14</a:t>
                      </a:r>
                    </a:p>
                  </a:txBody>
                  <a:tcPr marL="50400" marR="50400" marT="21600" marB="21600" anchor="ctr">
                    <a:solidFill>
                      <a:srgbClr val="F4F7FF"/>
                    </a:solidFill>
                  </a:tcPr>
                </a:tc>
                <a:tc>
                  <a:txBody>
                    <a:bodyPr/>
                    <a:lstStyle/>
                    <a:p>
                      <a:pPr algn="ctr">
                        <a:lnSpc>
                          <a:spcPct val="115000"/>
                        </a:lnSpc>
                      </a:pPr>
                      <a:r>
                        <a:rPr sz="1100" b="1">
                          <a:solidFill>
                            <a:srgbClr val="1A1A2E"/>
                          </a:solidFill>
                          <a:latin typeface="メイリオ"/>
                          <a:ea typeface="メイリオ"/>
                          <a:cs typeface="メイリオ"/>
                        </a:rPr>
                        <a:t>戻れるようにする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1週間空くと筋力は落ちる。でも1回サボってもOK。戻り方を先に決めておく</a:t>
                      </a:r>
                    </a:p>
                  </a:txBody>
                  <a:tcPr marL="50400" marR="50400" marT="21600" marB="21600" anchor="ctr">
                    <a:solidFill>
                      <a:srgbClr val="F4F7FF"/>
                    </a:solidFill>
                  </a:tcPr>
                </a:tc>
                <a:tc>
                  <a:txBody>
                    <a:bodyPr/>
                    <a:lstStyle/>
                    <a:p>
                      <a:pPr algn="ctr">
                        <a:lnSpc>
                          <a:spcPct val="115000"/>
                        </a:lnSpc>
                      </a:pPr>
                      <a:r>
                        <a:rPr sz="1100" b="0">
                          <a:solidFill>
                            <a:srgbClr val="1A1A2E"/>
                          </a:solidFill>
                          <a:latin typeface="メイリオ"/>
                          <a:ea typeface="メイリオ"/>
                          <a:cs typeface="メイリオ"/>
                        </a:rPr>
                        <a:t>お友だち紹介</a:t>
                      </a:r>
                    </a:p>
                  </a:txBody>
                  <a:tcPr marL="50400" marR="50400" marT="21600" marB="21600" anchor="ctr">
                    <a:solidFill>
                      <a:srgbClr val="F4F7FF"/>
                    </a:solidFill>
                  </a:tcPr>
                </a:tc>
                <a:tc>
                  <a:txBody>
                    <a:bodyPr/>
                    <a:lstStyle/>
                    <a:p>
                      <a:pPr algn="l">
                        <a:lnSpc>
                          <a:spcPct val="115000"/>
                        </a:lnSpc>
                      </a:pPr>
                      <a:r>
                        <a:rPr sz="1100" b="0">
                          <a:solidFill>
                            <a:srgbClr val="1A1A2E"/>
                          </a:solidFill>
                          <a:latin typeface="メイリオ"/>
                          <a:ea typeface="メイリオ"/>
                          <a:cs typeface="メイリオ"/>
                        </a:rPr>
                        <a:t>【2週間おつかれさまです】</a:t>
                      </a:r>
                    </a:p>
                  </a:txBody>
                  <a:tcPr marL="50400" marR="50400" marT="21600" marB="21600" anchor="ctr">
                    <a:solidFill>
                      <a:srgbClr val="F4F7FF"/>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3852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860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① 効くのはCV③</a:t>
            </a:r>
          </a:p>
        </p:txBody>
      </p:sp>
      <p:sp>
        <p:nvSpPr>
          <p:cNvPr id="7" name="TextBox 6"/>
          <p:cNvSpPr txBox="1"/>
          <p:nvPr/>
        </p:nvSpPr>
        <p:spPr>
          <a:xfrm>
            <a:off x="4860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入会前（前ページ）がCV①②を取り、</a:t>
            </a:r>
          </a:p>
          <a:p>
            <a:pPr algn="l">
              <a:lnSpc>
                <a:spcPct val="125000"/>
              </a:lnSpc>
            </a:pPr>
            <a:r>
              <a:rPr sz="1100" b="0">
                <a:solidFill>
                  <a:srgbClr val="1A1A2E"/>
                </a:solidFill>
                <a:latin typeface="メイリオ"/>
                <a:ea typeface="メイリオ"/>
                <a:cs typeface="メイリオ"/>
              </a:rPr>
              <a:t>この4通がCV③を守る。</a:t>
            </a:r>
          </a:p>
        </p:txBody>
      </p:sp>
      <p:sp>
        <p:nvSpPr>
          <p:cNvPr id="8" name="Rounded Rectangle 7"/>
          <p:cNvSpPr/>
          <p:nvPr/>
        </p:nvSpPr>
        <p:spPr>
          <a:xfrm>
            <a:off x="33840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848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② Day7とDay14が本体</a:t>
            </a:r>
          </a:p>
        </p:txBody>
      </p:sp>
      <p:sp>
        <p:nvSpPr>
          <p:cNvPr id="10" name="TextBox 9"/>
          <p:cNvSpPr txBox="1"/>
          <p:nvPr/>
        </p:nvSpPr>
        <p:spPr>
          <a:xfrm>
            <a:off x="34848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前後検索で「効果への不安」が</a:t>
            </a:r>
          </a:p>
          <a:p>
            <a:pPr algn="l">
              <a:lnSpc>
                <a:spcPct val="125000"/>
              </a:lnSpc>
            </a:pPr>
            <a:r>
              <a:rPr sz="1100" b="0">
                <a:solidFill>
                  <a:srgbClr val="1A1A2E"/>
                </a:solidFill>
                <a:latin typeface="メイリオ"/>
                <a:ea typeface="メイリオ"/>
                <a:cs typeface="メイリオ"/>
              </a:rPr>
              <a:t>＋1〜15日に立つ。先回りして送る。</a:t>
            </a:r>
          </a:p>
        </p:txBody>
      </p:sp>
      <p:sp>
        <p:nvSpPr>
          <p:cNvPr id="11" name="Rounded Rectangle 10"/>
          <p:cNvSpPr/>
          <p:nvPr/>
        </p:nvSpPr>
        <p:spPr>
          <a:xfrm>
            <a:off x="6382800" y="4428000"/>
            <a:ext cx="2790000" cy="917999"/>
          </a:xfrm>
          <a:prstGeom prst="roundRect">
            <a:avLst>
              <a:gd name="adj" fmla="val 10000"/>
            </a:avLst>
          </a:prstGeom>
          <a:solidFill>
            <a:srgbClr val="F4F7FF"/>
          </a:solidFill>
          <a:ln w="12700">
            <a:solidFill>
              <a:srgbClr val="D8D8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83600" y="4500000"/>
            <a:ext cx="2588400" cy="259200"/>
          </a:xfrm>
          <a:prstGeom prst="rect">
            <a:avLst/>
          </a:prstGeom>
          <a:noFill/>
        </p:spPr>
        <p:txBody>
          <a:bodyPr wrap="square" lIns="0" tIns="14400" rIns="0" bIns="14400" anchor="ctr">
            <a:spAutoFit/>
          </a:bodyPr>
          <a:lstStyle/>
          <a:p>
            <a:pPr algn="l">
              <a:lnSpc>
                <a:spcPct val="125000"/>
              </a:lnSpc>
            </a:pPr>
            <a:r>
              <a:rPr sz="1200" b="1">
                <a:solidFill>
                  <a:srgbClr val="002060"/>
                </a:solidFill>
                <a:latin typeface="メイリオ"/>
                <a:ea typeface="メイリオ"/>
                <a:cs typeface="メイリオ"/>
              </a:rPr>
              <a:t>③ 数値は「一般的な目安」と添える</a:t>
            </a:r>
          </a:p>
        </p:txBody>
      </p:sp>
      <p:sp>
        <p:nvSpPr>
          <p:cNvPr id="13" name="TextBox 12"/>
          <p:cNvSpPr txBox="1"/>
          <p:nvPr/>
        </p:nvSpPr>
        <p:spPr>
          <a:xfrm>
            <a:off x="6483600" y="4780800"/>
            <a:ext cx="2588400" cy="493199"/>
          </a:xfrm>
          <a:prstGeom prst="rect">
            <a:avLst/>
          </a:prstGeom>
          <a:noFill/>
        </p:spPr>
        <p:txBody>
          <a:bodyPr wrap="square" lIns="0" tIns="14400" rIns="0" bIns="14400" anchor="t">
            <a:spAutoFit/>
          </a:bodyPr>
          <a:lstStyle/>
          <a:p>
            <a:pPr algn="l">
              <a:lnSpc>
                <a:spcPct val="125000"/>
              </a:lnSpc>
            </a:pPr>
            <a:r>
              <a:rPr sz="1100" b="0">
                <a:solidFill>
                  <a:srgbClr val="1A1A2E"/>
                </a:solidFill>
                <a:latin typeface="メイリオ"/>
                <a:ea typeface="メイリオ"/>
                <a:cs typeface="メイリオ"/>
              </a:rPr>
              <a:t>出典を明記できない業界数値は</a:t>
            </a:r>
          </a:p>
          <a:p>
            <a:pPr algn="l">
              <a:lnSpc>
                <a:spcPct val="125000"/>
              </a:lnSpc>
            </a:pPr>
            <a:r>
              <a:rPr sz="1100" b="0">
                <a:solidFill>
                  <a:srgbClr val="1A1A2E"/>
                </a:solidFill>
                <a:latin typeface="メイリオ"/>
                <a:ea typeface="メイリオ"/>
                <a:cs typeface="メイリオ"/>
              </a:rPr>
              <a:t>断定しない。</a:t>
            </a:r>
          </a:p>
        </p:txBody>
      </p:sp>
      <p:sp>
        <p:nvSpPr>
          <p:cNvPr id="14" name="TextBox 13"/>
          <p:cNvSpPr txBox="1"/>
          <p:nvPr/>
        </p:nvSpPr>
        <p:spPr>
          <a:xfrm>
            <a:off x="385200" y="5490000"/>
            <a:ext cx="9133200" cy="360000"/>
          </a:xfrm>
          <a:prstGeom prst="rect">
            <a:avLst/>
          </a:prstGeom>
          <a:noFill/>
        </p:spPr>
        <p:txBody>
          <a:bodyPr wrap="square" lIns="0" tIns="14400" rIns="0" bIns="14400" anchor="ctr">
            <a:spAutoFit/>
          </a:bodyPr>
          <a:lstStyle/>
          <a:p>
            <a:pPr algn="ctr">
              <a:lnSpc>
                <a:spcPct val="125000"/>
              </a:lnSpc>
            </a:pPr>
            <a:r>
              <a:rPr sz="1400" b="1">
                <a:solidFill>
                  <a:srgbClr val="C00000"/>
                </a:solidFill>
                <a:latin typeface="メイリオ"/>
                <a:ea typeface="メイリオ"/>
                <a:cs typeface="メイリオ"/>
              </a:rPr>
              <a:t>入会前の14日で予約を取り、入会後の14日で「やめない形」を作る。この2本で1セット。</a:t>
            </a:r>
          </a:p>
        </p:txBody>
      </p:sp>
      <p:sp>
        <p:nvSpPr>
          <p:cNvPr id="15" name="TextBox 14"/>
          <p:cNvSpPr txBox="1"/>
          <p:nvPr/>
        </p:nvSpPr>
        <p:spPr>
          <a:xfrm>
            <a:off x="385200" y="5940000"/>
            <a:ext cx="9133200" cy="503999"/>
          </a:xfrm>
          <a:prstGeom prst="rect">
            <a:avLst/>
          </a:prstGeom>
          <a:noFill/>
        </p:spPr>
        <p:txBody>
          <a:bodyPr wrap="square" lIns="0" tIns="14400" rIns="0" bIns="14400" anchor="t">
            <a:spAutoFit/>
          </a:bodyPr>
          <a:lstStyle/>
          <a:p>
            <a:pPr algn="l">
              <a:lnSpc>
                <a:spcPct val="125000"/>
              </a:lnSpc>
            </a:pPr>
            <a:r>
              <a:rPr sz="900" b="0">
                <a:solidFill>
                  <a:srgbClr val="5A5A72"/>
                </a:solidFill>
                <a:latin typeface="メイリオ"/>
                <a:ea typeface="メイリオ"/>
                <a:cs typeface="メイリオ"/>
              </a:rPr>
              <a:t>※ 配信内容の数値（週2〜3回・48〜72時間・タンパク質20〜30g・効果の出る時期など）は一般的な目安です。</a:t>
            </a:r>
          </a:p>
          <a:p>
            <a:pPr algn="l">
              <a:lnSpc>
                <a:spcPct val="125000"/>
              </a:lnSpc>
            </a:pPr>
            <a:r>
              <a:rPr sz="900" b="0">
                <a:solidFill>
                  <a:srgbClr val="5A5A72"/>
                </a:solidFill>
                <a:latin typeface="メイリオ"/>
                <a:ea typeface="メイリオ"/>
                <a:cs typeface="メイリオ"/>
              </a:rPr>
              <a:t>※ CV③＝友だち紹介・PT／物販の申込。継続率・在籍月数はLINE側では計測できないため、貴社の会員管理システムのデータで前後比較いたします。</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構築｜リッチメニュー設計案（3タブ × 6枠）</a:t>
            </a:r>
          </a:p>
        </p:txBody>
      </p:sp>
      <p:sp>
        <p:nvSpPr>
          <p:cNvPr id="3" name="TextBox 2"/>
          <p:cNvSpPr txBox="1"/>
          <p:nvPr/>
        </p:nvSpPr>
        <p:spPr>
          <a:xfrm>
            <a:off x="384048" y="731520"/>
            <a:ext cx="9134856" cy="310896"/>
          </a:xfrm>
          <a:prstGeom prst="rect">
            <a:avLst/>
          </a:prstGeom>
          <a:noFill/>
        </p:spPr>
        <p:txBody>
          <a:bodyPr wrap="square" lIns="0" tIns="0" rIns="0" bIns="0">
            <a:spAutoFit/>
          </a:bodyPr>
          <a:lstStyle/>
          <a:p>
            <a:r>
              <a:rPr sz="1500" b="0">
                <a:solidFill>
                  <a:srgbClr val="646C82"/>
                </a:solidFill>
                <a:latin typeface="メイリオ"/>
                <a:ea typeface="メイリオ"/>
              </a:rPr>
              <a:t>「見学前」「迷い中」「会員」で、見せる画面を変える。入会後もLINEを使ってもらう。</a:t>
            </a:r>
          </a:p>
        </p:txBody>
      </p:sp>
      <p:sp>
        <p:nvSpPr>
          <p:cNvPr id="4" name="Rounded Rectangle 3"/>
          <p:cNvSpPr/>
          <p:nvPr/>
        </p:nvSpPr>
        <p:spPr>
          <a:xfrm>
            <a:off x="384048"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6" name="Rounded Rectangle 5"/>
          <p:cNvSpPr/>
          <p:nvPr/>
        </p:nvSpPr>
        <p:spPr>
          <a:xfrm>
            <a:off x="385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無料体験を予約</a:t>
            </a:r>
          </a:p>
          <a:p>
            <a:pPr algn="ctr">
              <a:spcBef>
                <a:spcPts val="200"/>
              </a:spcBef>
            </a:pPr>
            <a:r>
              <a:rPr sz="1000" b="0">
                <a:solidFill>
                  <a:srgbClr val="1C2233"/>
                </a:solidFill>
                <a:latin typeface="メイリオ"/>
                <a:ea typeface="メイリオ"/>
              </a:rPr>
              <a:t>最重要CTA</a:t>
            </a:r>
          </a:p>
        </p:txBody>
      </p:sp>
      <p:sp>
        <p:nvSpPr>
          <p:cNvPr id="7" name="Rounded Rectangle 6"/>
          <p:cNvSpPr/>
          <p:nvPr/>
        </p:nvSpPr>
        <p:spPr>
          <a:xfrm>
            <a:off x="1328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店舗を探す</a:t>
            </a:r>
          </a:p>
          <a:p>
            <a:pPr algn="ctr">
              <a:spcBef>
                <a:spcPts val="200"/>
              </a:spcBef>
            </a:pPr>
            <a:r>
              <a:rPr sz="1000" b="0">
                <a:solidFill>
                  <a:srgbClr val="1C2233"/>
                </a:solidFill>
                <a:latin typeface="メイリオ"/>
                <a:ea typeface="メイリオ"/>
              </a:rPr>
              <a:t>立地が決め手</a:t>
            </a:r>
          </a:p>
        </p:txBody>
      </p:sp>
      <p:sp>
        <p:nvSpPr>
          <p:cNvPr id="8" name="Rounded Rectangle 7"/>
          <p:cNvSpPr/>
          <p:nvPr/>
        </p:nvSpPr>
        <p:spPr>
          <a:xfrm>
            <a:off x="22716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設備・マシン</a:t>
            </a:r>
          </a:p>
          <a:p>
            <a:pPr algn="ctr">
              <a:spcBef>
                <a:spcPts val="200"/>
              </a:spcBef>
            </a:pPr>
            <a:r>
              <a:rPr sz="1000" b="0">
                <a:solidFill>
                  <a:srgbClr val="1C2233"/>
                </a:solidFill>
                <a:latin typeface="メイリオ"/>
                <a:ea typeface="メイリオ"/>
              </a:rPr>
              <a:t>使えるか不安</a:t>
            </a:r>
          </a:p>
        </p:txBody>
      </p:sp>
      <p:sp>
        <p:nvSpPr>
          <p:cNvPr id="9" name="Rounded Rectangle 8"/>
          <p:cNvSpPr/>
          <p:nvPr/>
        </p:nvSpPr>
        <p:spPr>
          <a:xfrm>
            <a:off x="385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料金プラン</a:t>
            </a:r>
          </a:p>
          <a:p>
            <a:pPr algn="ctr">
              <a:spcBef>
                <a:spcPts val="200"/>
              </a:spcBef>
            </a:pPr>
            <a:r>
              <a:rPr sz="1000" b="0">
                <a:solidFill>
                  <a:srgbClr val="1C2233"/>
                </a:solidFill>
                <a:latin typeface="メイリオ"/>
                <a:ea typeface="メイリオ"/>
              </a:rPr>
              <a:t>隠さない</a:t>
            </a:r>
          </a:p>
        </p:txBody>
      </p:sp>
      <p:sp>
        <p:nvSpPr>
          <p:cNvPr id="10" name="Rounded Rectangle 9"/>
          <p:cNvSpPr/>
          <p:nvPr/>
        </p:nvSpPr>
        <p:spPr>
          <a:xfrm>
            <a:off x="1328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24時間の使い方</a:t>
            </a:r>
          </a:p>
          <a:p>
            <a:pPr algn="ctr">
              <a:spcBef>
                <a:spcPts val="200"/>
              </a:spcBef>
            </a:pPr>
            <a:r>
              <a:rPr sz="1000" b="0">
                <a:solidFill>
                  <a:srgbClr val="1C2233"/>
                </a:solidFill>
                <a:latin typeface="メイリオ"/>
                <a:ea typeface="メイリオ"/>
              </a:rPr>
              <a:t>無人帯の不安</a:t>
            </a:r>
          </a:p>
        </p:txBody>
      </p:sp>
      <p:sp>
        <p:nvSpPr>
          <p:cNvPr id="11" name="Rounded Rectangle 10"/>
          <p:cNvSpPr/>
          <p:nvPr/>
        </p:nvSpPr>
        <p:spPr>
          <a:xfrm>
            <a:off x="22716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アクセス・駐車場</a:t>
            </a:r>
          </a:p>
          <a:p>
            <a:pPr algn="ctr">
              <a:spcBef>
                <a:spcPts val="200"/>
              </a:spcBef>
            </a:pPr>
            <a:r>
              <a:rPr sz="1000" b="0">
                <a:solidFill>
                  <a:srgbClr val="1C2233"/>
                </a:solidFill>
                <a:latin typeface="メイリオ"/>
                <a:ea typeface="メイリオ"/>
              </a:rPr>
              <a:t>直前の実務</a:t>
            </a:r>
          </a:p>
        </p:txBody>
      </p:sp>
      <p:sp>
        <p:nvSpPr>
          <p:cNvPr id="12" name="Rounded Rectangle 11"/>
          <p:cNvSpPr/>
          <p:nvPr/>
        </p:nvSpPr>
        <p:spPr>
          <a:xfrm>
            <a:off x="3383279"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14" name="Rounded Rectangle 13"/>
          <p:cNvSpPr/>
          <p:nvPr/>
        </p:nvSpPr>
        <p:spPr>
          <a:xfrm>
            <a:off x="3384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30秒 体づくり診断</a:t>
            </a:r>
          </a:p>
          <a:p>
            <a:pPr algn="ctr">
              <a:spcBef>
                <a:spcPts val="200"/>
              </a:spcBef>
            </a:pPr>
            <a:r>
              <a:rPr sz="1000" b="0">
                <a:solidFill>
                  <a:srgbClr val="1C2233"/>
                </a:solidFill>
                <a:latin typeface="メイリオ"/>
                <a:ea typeface="メイリオ"/>
              </a:rPr>
              <a:t>属性取得の本体</a:t>
            </a:r>
          </a:p>
        </p:txBody>
      </p:sp>
      <p:sp>
        <p:nvSpPr>
          <p:cNvPr id="15" name="Rounded Rectangle 14"/>
          <p:cNvSpPr/>
          <p:nvPr/>
        </p:nvSpPr>
        <p:spPr>
          <a:xfrm>
            <a:off x="4327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1分 料金診断</a:t>
            </a:r>
          </a:p>
          <a:p>
            <a:pPr algn="ctr">
              <a:spcBef>
                <a:spcPts val="200"/>
              </a:spcBef>
            </a:pPr>
            <a:r>
              <a:rPr sz="1000" b="0">
                <a:solidFill>
                  <a:srgbClr val="1C2233"/>
                </a:solidFill>
                <a:latin typeface="メイリオ"/>
                <a:ea typeface="メイリオ"/>
              </a:rPr>
              <a:t>1回あたりで見せる</a:t>
            </a:r>
          </a:p>
        </p:txBody>
      </p:sp>
      <p:sp>
        <p:nvSpPr>
          <p:cNvPr id="16" name="Rounded Rectangle 15"/>
          <p:cNvSpPr/>
          <p:nvPr/>
        </p:nvSpPr>
        <p:spPr>
          <a:xfrm>
            <a:off x="52704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初心者メニュー</a:t>
            </a:r>
          </a:p>
          <a:p>
            <a:pPr algn="ctr">
              <a:spcBef>
                <a:spcPts val="200"/>
              </a:spcBef>
            </a:pPr>
            <a:r>
              <a:rPr sz="1000" b="0">
                <a:solidFill>
                  <a:srgbClr val="1C2233"/>
                </a:solidFill>
                <a:latin typeface="メイリオ"/>
                <a:ea typeface="メイリオ"/>
              </a:rPr>
              <a:t>最多の不安</a:t>
            </a:r>
          </a:p>
        </p:txBody>
      </p:sp>
      <p:sp>
        <p:nvSpPr>
          <p:cNvPr id="17" name="Rounded Rectangle 16"/>
          <p:cNvSpPr/>
          <p:nvPr/>
        </p:nvSpPr>
        <p:spPr>
          <a:xfrm>
            <a:off x="3384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続けられるか診断</a:t>
            </a:r>
          </a:p>
          <a:p>
            <a:pPr algn="ctr">
              <a:spcBef>
                <a:spcPts val="200"/>
              </a:spcBef>
            </a:pPr>
            <a:r>
              <a:rPr sz="1000" b="0">
                <a:solidFill>
                  <a:srgbClr val="1C2233"/>
                </a:solidFill>
                <a:latin typeface="メイリオ"/>
                <a:ea typeface="メイリオ"/>
              </a:rPr>
              <a:t>「続かない」に直撃</a:t>
            </a:r>
          </a:p>
        </p:txBody>
      </p:sp>
      <p:sp>
        <p:nvSpPr>
          <p:cNvPr id="18" name="Rounded Rectangle 17"/>
          <p:cNvSpPr/>
          <p:nvPr/>
        </p:nvSpPr>
        <p:spPr>
          <a:xfrm>
            <a:off x="4327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よくある質問</a:t>
            </a:r>
          </a:p>
          <a:p>
            <a:pPr algn="ctr">
              <a:spcBef>
                <a:spcPts val="200"/>
              </a:spcBef>
            </a:pPr>
            <a:r>
              <a:rPr sz="1000" b="0">
                <a:solidFill>
                  <a:srgbClr val="1C2233"/>
                </a:solidFill>
                <a:latin typeface="メイリオ"/>
                <a:ea typeface="メイリオ"/>
              </a:rPr>
              <a:t>勧誘・解約</a:t>
            </a:r>
          </a:p>
        </p:txBody>
      </p:sp>
      <p:sp>
        <p:nvSpPr>
          <p:cNvPr id="19" name="Rounded Rectangle 18"/>
          <p:cNvSpPr/>
          <p:nvPr/>
        </p:nvSpPr>
        <p:spPr>
          <a:xfrm>
            <a:off x="52704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チャットで相談</a:t>
            </a:r>
          </a:p>
          <a:p>
            <a:pPr algn="ctr">
              <a:spcBef>
                <a:spcPts val="200"/>
              </a:spcBef>
            </a:pPr>
            <a:r>
              <a:rPr sz="1000" b="0">
                <a:solidFill>
                  <a:srgbClr val="1C2233"/>
                </a:solidFill>
                <a:latin typeface="メイリオ"/>
                <a:ea typeface="メイリオ"/>
              </a:rPr>
              <a:t>有人への逃げ道</a:t>
            </a:r>
          </a:p>
        </p:txBody>
      </p:sp>
      <p:sp>
        <p:nvSpPr>
          <p:cNvPr id="20" name="Rounded Rectangle 19"/>
          <p:cNvSpPr/>
          <p:nvPr/>
        </p:nvSpPr>
        <p:spPr>
          <a:xfrm>
            <a:off x="6382512" y="1234440"/>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1764792"/>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2" name="Rounded Rectangle 21"/>
          <p:cNvSpPr/>
          <p:nvPr/>
        </p:nvSpPr>
        <p:spPr>
          <a:xfrm>
            <a:off x="63828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会員コード</a:t>
            </a:r>
          </a:p>
          <a:p>
            <a:pPr algn="ctr">
              <a:spcBef>
                <a:spcPts val="200"/>
              </a:spcBef>
            </a:pPr>
            <a:r>
              <a:rPr sz="1000" b="0">
                <a:solidFill>
                  <a:srgbClr val="1C2233"/>
                </a:solidFill>
                <a:latin typeface="メイリオ"/>
                <a:ea typeface="メイリオ"/>
              </a:rPr>
              <a:t>毎日開く理由</a:t>
            </a:r>
          </a:p>
        </p:txBody>
      </p:sp>
      <p:sp>
        <p:nvSpPr>
          <p:cNvPr id="23" name="Rounded Rectangle 22"/>
          <p:cNvSpPr/>
          <p:nvPr/>
        </p:nvSpPr>
        <p:spPr>
          <a:xfrm>
            <a:off x="73260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レッスン予約</a:t>
            </a:r>
          </a:p>
          <a:p>
            <a:pPr algn="ctr">
              <a:spcBef>
                <a:spcPts val="200"/>
              </a:spcBef>
            </a:pPr>
            <a:r>
              <a:rPr sz="1000" b="0">
                <a:solidFill>
                  <a:srgbClr val="1C2233"/>
                </a:solidFill>
                <a:latin typeface="メイリオ"/>
                <a:ea typeface="メイリオ"/>
              </a:rPr>
              <a:t>来館の動機</a:t>
            </a:r>
          </a:p>
        </p:txBody>
      </p:sp>
      <p:sp>
        <p:nvSpPr>
          <p:cNvPr id="24" name="Rounded Rectangle 23"/>
          <p:cNvSpPr/>
          <p:nvPr/>
        </p:nvSpPr>
        <p:spPr>
          <a:xfrm>
            <a:off x="8269200" y="2012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トレーニング記録</a:t>
            </a:r>
          </a:p>
          <a:p>
            <a:pPr algn="ctr">
              <a:spcBef>
                <a:spcPts val="200"/>
              </a:spcBef>
            </a:pPr>
            <a:r>
              <a:rPr sz="1000" b="0">
                <a:solidFill>
                  <a:srgbClr val="1C2233"/>
                </a:solidFill>
                <a:latin typeface="メイリオ"/>
                <a:ea typeface="メイリオ"/>
              </a:rPr>
              <a:t>継続の可視化</a:t>
            </a:r>
          </a:p>
        </p:txBody>
      </p:sp>
      <p:sp>
        <p:nvSpPr>
          <p:cNvPr id="25" name="Rounded Rectangle 24"/>
          <p:cNvSpPr/>
          <p:nvPr/>
        </p:nvSpPr>
        <p:spPr>
          <a:xfrm>
            <a:off x="63828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混雑状況</a:t>
            </a:r>
          </a:p>
          <a:p>
            <a:pPr algn="ctr">
              <a:spcBef>
                <a:spcPts val="200"/>
              </a:spcBef>
            </a:pPr>
            <a:r>
              <a:rPr sz="1000" b="0">
                <a:solidFill>
                  <a:srgbClr val="1C2233"/>
                </a:solidFill>
                <a:latin typeface="メイリオ"/>
                <a:ea typeface="メイリオ"/>
              </a:rPr>
              <a:t>来館ハードル減</a:t>
            </a:r>
          </a:p>
        </p:txBody>
      </p:sp>
      <p:sp>
        <p:nvSpPr>
          <p:cNvPr id="26" name="Rounded Rectangle 25"/>
          <p:cNvSpPr/>
          <p:nvPr/>
        </p:nvSpPr>
        <p:spPr>
          <a:xfrm>
            <a:off x="73260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お友達紹介</a:t>
            </a:r>
          </a:p>
          <a:p>
            <a:pPr algn="ctr">
              <a:spcBef>
                <a:spcPts val="200"/>
              </a:spcBef>
            </a:pPr>
            <a:r>
              <a:rPr sz="1000" b="0">
                <a:solidFill>
                  <a:srgbClr val="1C2233"/>
                </a:solidFill>
                <a:latin typeface="メイリオ"/>
                <a:ea typeface="メイリオ"/>
              </a:rPr>
              <a:t>CV③・ゼロコスト</a:t>
            </a:r>
          </a:p>
        </p:txBody>
      </p:sp>
      <p:sp>
        <p:nvSpPr>
          <p:cNvPr id="27" name="Rounded Rectangle 26"/>
          <p:cNvSpPr/>
          <p:nvPr/>
        </p:nvSpPr>
        <p:spPr>
          <a:xfrm>
            <a:off x="8269200" y="3380400"/>
            <a:ext cx="900000" cy="1260000"/>
          </a:xfrm>
          <a:prstGeom prst="roundRect">
            <a:avLst/>
          </a:prstGeom>
          <a:solidFill>
            <a:srgbClr val="EFF1F7"/>
          </a:solidFill>
          <a:ln w="9525">
            <a:solidFill>
              <a:srgbClr val="7A83AC"/>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0">
                <a:solidFill>
                  <a:srgbClr val="1C2233"/>
                </a:solidFill>
                <a:latin typeface="メイリオ"/>
                <a:ea typeface="メイリオ"/>
              </a:rPr>
              <a:t>休会・退会</a:t>
            </a:r>
          </a:p>
          <a:p>
            <a:pPr algn="ctr">
              <a:spcBef>
                <a:spcPts val="200"/>
              </a:spcBef>
            </a:pPr>
            <a:r>
              <a:rPr sz="1000" b="0">
                <a:solidFill>
                  <a:srgbClr val="1C2233"/>
                </a:solidFill>
                <a:latin typeface="メイリオ"/>
                <a:ea typeface="メイリオ"/>
              </a:rPr>
              <a:t>隠さない＝信頼</a:t>
            </a:r>
          </a:p>
        </p:txBody>
      </p:sp>
      <p:sp>
        <p:nvSpPr>
          <p:cNvPr id="28" name="Rectangle 27"/>
          <p:cNvSpPr/>
          <p:nvPr/>
        </p:nvSpPr>
        <p:spPr>
          <a:xfrm>
            <a:off x="384048" y="5413247"/>
            <a:ext cx="54864" cy="566929"/>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413247"/>
            <a:ext cx="9089136" cy="566929"/>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1500" y="5504687"/>
            <a:ext cx="8814816" cy="430887"/>
          </a:xfrm>
          <a:prstGeom prst="rect">
            <a:avLst/>
          </a:prstGeom>
          <a:noFill/>
        </p:spPr>
        <p:txBody>
          <a:bodyPr wrap="square" lIns="0" tIns="0" rIns="0" bIns="0">
            <a:spAutoFit/>
          </a:bodyPr>
          <a:lstStyle/>
          <a:p>
            <a:r>
              <a:rPr sz="1400" b="0" dirty="0">
                <a:solidFill>
                  <a:srgbClr val="1C2233"/>
                </a:solidFill>
                <a:latin typeface="メイリオ"/>
                <a:ea typeface="メイリオ"/>
              </a:rPr>
              <a:t>実装はLINEリッチメニュー大サイズ（2500×1686px）／3列×2行（1マス833×843px）。</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入会タグで</a:t>
            </a:r>
            <a:r>
              <a:rPr sz="1400" b="0" dirty="0">
                <a:solidFill>
                  <a:srgbClr val="1C2233"/>
                </a:solidFill>
                <a:latin typeface="メイリオ"/>
                <a:ea typeface="メイリオ"/>
              </a:rPr>
              <a:t>①→③</a:t>
            </a:r>
            <a:r>
              <a:rPr sz="1400" b="0" dirty="0" err="1">
                <a:solidFill>
                  <a:srgbClr val="1C2233"/>
                </a:solidFill>
                <a:latin typeface="メイリオ"/>
                <a:ea typeface="メイリオ"/>
              </a:rPr>
              <a:t>に自動切替</a:t>
            </a:r>
            <a:r>
              <a:rPr sz="1400" b="0" dirty="0">
                <a:solidFill>
                  <a:srgbClr val="1C2233"/>
                </a:solidFill>
                <a:latin typeface="メイリオ"/>
                <a:ea typeface="メイリオ"/>
              </a:rPr>
              <a:t>。</a:t>
            </a:r>
          </a:p>
        </p:txBody>
      </p:sp>
      <p:sp>
        <p:nvSpPr>
          <p:cNvPr id="31" name="TextBox 30"/>
          <p:cNvSpPr txBox="1"/>
          <p:nvPr/>
        </p:nvSpPr>
        <p:spPr>
          <a:xfrm>
            <a:off x="384048" y="626364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タブ③に「休会・退会の手続き」を置くのが要点。隠すと不信感になり、かえって解約されます。</a:t>
            </a:r>
          </a:p>
        </p:txBody>
      </p:sp>
      <p:pic>
        <p:nvPicPr>
          <p:cNvPr id="33" name="図 32">
            <a:extLst>
              <a:ext uri="{FF2B5EF4-FFF2-40B4-BE49-F238E27FC236}">
                <a16:creationId xmlns:a16="http://schemas.microsoft.com/office/drawing/2014/main" id="{D110590D-470C-755A-DA08-FD0F6B856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8162" y="1234440"/>
            <a:ext cx="8849262" cy="3986783"/>
          </a:xfrm>
          <a:prstGeom prst="rect">
            <a:avLst/>
          </a:prstGeom>
        </p:spPr>
      </p:pic>
    </p:spTree>
    <p:extLst>
      <p:ext uri="{BB962C8B-B14F-4D97-AF65-F5344CB8AC3E}">
        <p14:creationId xmlns:p14="http://schemas.microsoft.com/office/powerpoint/2010/main" val="827903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構築｜リッチメニュー実装イメージ（3タブの実物）</a:t>
            </a:r>
          </a:p>
        </p:txBody>
      </p:sp>
      <p:sp>
        <p:nvSpPr>
          <p:cNvPr id="3" name="TextBox 2"/>
          <p:cNvSpPr txBox="1"/>
          <p:nvPr/>
        </p:nvSpPr>
        <p:spPr>
          <a:xfrm>
            <a:off x="384048" y="857120"/>
            <a:ext cx="9134856" cy="553998"/>
          </a:xfrm>
          <a:prstGeom prst="rect">
            <a:avLst/>
          </a:prstGeom>
          <a:noFill/>
        </p:spPr>
        <p:txBody>
          <a:bodyPr wrap="square" lIns="0" tIns="0" rIns="0" bIns="0">
            <a:spAutoFit/>
          </a:bodyPr>
          <a:lstStyle/>
          <a:p>
            <a:r>
              <a:rPr b="0" dirty="0" err="1">
                <a:solidFill>
                  <a:srgbClr val="646C82"/>
                </a:solidFill>
                <a:latin typeface="メイリオ"/>
                <a:ea typeface="メイリオ"/>
              </a:rPr>
              <a:t>同じLINEでも、入会前と入会後で見える画面が切り替わる</a:t>
            </a:r>
            <a:r>
              <a:rPr b="0" dirty="0">
                <a:solidFill>
                  <a:srgbClr val="646C82"/>
                </a:solidFill>
                <a:latin typeface="メイリオ"/>
                <a:ea typeface="メイリオ"/>
              </a:rPr>
              <a:t>。</a:t>
            </a:r>
            <a:endParaRPr lang="en-US" b="0" dirty="0">
              <a:solidFill>
                <a:srgbClr val="646C82"/>
              </a:solidFill>
              <a:latin typeface="メイリオ"/>
              <a:ea typeface="メイリオ"/>
            </a:endParaRPr>
          </a:p>
          <a:p>
            <a:r>
              <a:rPr b="0" dirty="0" err="1">
                <a:solidFill>
                  <a:srgbClr val="646C82"/>
                </a:solidFill>
                <a:latin typeface="メイリオ"/>
                <a:ea typeface="メイリオ"/>
              </a:rPr>
              <a:t>入会後もLINEを使ってもらう設計</a:t>
            </a:r>
            <a:r>
              <a:rPr b="0" dirty="0">
                <a:solidFill>
                  <a:srgbClr val="646C82"/>
                </a:solidFill>
                <a:latin typeface="メイリオ"/>
                <a:ea typeface="メイリオ"/>
              </a:rPr>
              <a:t>。</a:t>
            </a:r>
          </a:p>
        </p:txBody>
      </p:sp>
      <p:sp>
        <p:nvSpPr>
          <p:cNvPr id="4" name="Rounded Rectangle 3"/>
          <p:cNvSpPr/>
          <p:nvPr/>
        </p:nvSpPr>
        <p:spPr>
          <a:xfrm>
            <a:off x="384048"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① 見学・体験</a:t>
            </a:r>
          </a:p>
        </p:txBody>
      </p:sp>
      <p:sp>
        <p:nvSpPr>
          <p:cNvPr id="5" name="TextBox 4"/>
          <p:cNvSpPr txBox="1"/>
          <p:nvPr/>
        </p:nvSpPr>
        <p:spPr>
          <a:xfrm>
            <a:off x="384048"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未入会のデフォルト</a:t>
            </a:r>
          </a:p>
        </p:txBody>
      </p:sp>
      <p:sp>
        <p:nvSpPr>
          <p:cNvPr id="12" name="Rounded Rectangle 11"/>
          <p:cNvSpPr/>
          <p:nvPr/>
        </p:nvSpPr>
        <p:spPr>
          <a:xfrm>
            <a:off x="3383279"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② 診断・シミュレーター</a:t>
            </a:r>
          </a:p>
        </p:txBody>
      </p:sp>
      <p:sp>
        <p:nvSpPr>
          <p:cNvPr id="13" name="TextBox 12"/>
          <p:cNvSpPr txBox="1"/>
          <p:nvPr/>
        </p:nvSpPr>
        <p:spPr>
          <a:xfrm>
            <a:off x="3383279"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迷っている人</a:t>
            </a:r>
          </a:p>
        </p:txBody>
      </p:sp>
      <p:sp>
        <p:nvSpPr>
          <p:cNvPr id="20" name="Rounded Rectangle 19"/>
          <p:cNvSpPr/>
          <p:nvPr/>
        </p:nvSpPr>
        <p:spPr>
          <a:xfrm>
            <a:off x="6382512" y="1596368"/>
            <a:ext cx="2788920" cy="475488"/>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400" b="1">
                <a:solidFill>
                  <a:srgbClr val="FFFFFF"/>
                </a:solidFill>
                <a:latin typeface="メイリオ"/>
                <a:ea typeface="メイリオ"/>
              </a:rPr>
              <a:t>③ 会員の方へ</a:t>
            </a:r>
          </a:p>
        </p:txBody>
      </p:sp>
      <p:sp>
        <p:nvSpPr>
          <p:cNvPr id="21" name="TextBox 20"/>
          <p:cNvSpPr txBox="1"/>
          <p:nvPr/>
        </p:nvSpPr>
        <p:spPr>
          <a:xfrm>
            <a:off x="6382512" y="2126720"/>
            <a:ext cx="2788920" cy="310896"/>
          </a:xfrm>
          <a:prstGeom prst="rect">
            <a:avLst/>
          </a:prstGeom>
          <a:noFill/>
        </p:spPr>
        <p:txBody>
          <a:bodyPr wrap="square" lIns="0" tIns="0" rIns="0" bIns="0">
            <a:spAutoFit/>
          </a:bodyPr>
          <a:lstStyle/>
          <a:p>
            <a:r>
              <a:rPr sz="900" b="0">
                <a:solidFill>
                  <a:srgbClr val="646C82"/>
                </a:solidFill>
                <a:latin typeface="メイリオ"/>
                <a:ea typeface="メイリオ"/>
              </a:rPr>
              <a:t>入会後に自動切替</a:t>
            </a:r>
          </a:p>
        </p:txBody>
      </p:sp>
      <p:sp>
        <p:nvSpPr>
          <p:cNvPr id="28" name="Rectangle 27"/>
          <p:cNvSpPr/>
          <p:nvPr/>
        </p:nvSpPr>
        <p:spPr>
          <a:xfrm>
            <a:off x="384048" y="5525392"/>
            <a:ext cx="54864" cy="475488"/>
          </a:xfrm>
          <a:prstGeom prst="rect">
            <a:avLst/>
          </a:prstGeom>
          <a:solidFill>
            <a:srgbClr val="BF4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29768" y="5525392"/>
            <a:ext cx="9089136" cy="475488"/>
          </a:xfrm>
          <a:prstGeom prst="rect">
            <a:avLst/>
          </a:prstGeom>
          <a:solidFill>
            <a:srgbClr val="FDEF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5625976"/>
            <a:ext cx="8814816" cy="215444"/>
          </a:xfrm>
          <a:prstGeom prst="rect">
            <a:avLst/>
          </a:prstGeom>
          <a:noFill/>
        </p:spPr>
        <p:txBody>
          <a:bodyPr wrap="square" lIns="0" tIns="0" rIns="0" bIns="0">
            <a:spAutoFit/>
          </a:bodyPr>
          <a:lstStyle/>
          <a:p>
            <a:r>
              <a:rPr sz="1400" b="0">
                <a:solidFill>
                  <a:srgbClr val="1C2233"/>
                </a:solidFill>
                <a:latin typeface="メイリオ"/>
                <a:ea typeface="メイリオ"/>
              </a:rPr>
              <a:t>大サイズ2500×1686px／3列×2行（1マス833×843px）。入会タグで①→③に自動切替。</a:t>
            </a:r>
          </a:p>
        </p:txBody>
      </p:sp>
      <p:sp>
        <p:nvSpPr>
          <p:cNvPr id="31" name="TextBox 30"/>
          <p:cNvSpPr txBox="1"/>
          <p:nvPr/>
        </p:nvSpPr>
        <p:spPr>
          <a:xfrm>
            <a:off x="384048" y="6284344"/>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画像はイメージです。実装時は店舗写真・ブランドカラー・アイコンを貴社仕様に差し替えます。</a:t>
            </a:r>
          </a:p>
        </p:txBody>
      </p:sp>
      <p:pic>
        <p:nvPicPr>
          <p:cNvPr id="32" name="Picture 31" descr="ジム_リッチメニュー_1_見学体験.png"/>
          <p:cNvPicPr>
            <a:picLocks noChangeAspect="1"/>
          </p:cNvPicPr>
          <p:nvPr/>
        </p:nvPicPr>
        <p:blipFill>
          <a:blip r:embed="rId2"/>
          <a:stretch>
            <a:fillRect/>
          </a:stretch>
        </p:blipFill>
        <p:spPr>
          <a:xfrm>
            <a:off x="384048" y="2521928"/>
            <a:ext cx="2788920" cy="1880847"/>
          </a:xfrm>
          <a:prstGeom prst="rect">
            <a:avLst/>
          </a:prstGeom>
        </p:spPr>
      </p:pic>
      <p:pic>
        <p:nvPicPr>
          <p:cNvPr id="33" name="Picture 32" descr="ジム_リッチメニュー_2_診断シミュレーター.png"/>
          <p:cNvPicPr>
            <a:picLocks noChangeAspect="1"/>
          </p:cNvPicPr>
          <p:nvPr/>
        </p:nvPicPr>
        <p:blipFill>
          <a:blip r:embed="rId3"/>
          <a:stretch>
            <a:fillRect/>
          </a:stretch>
        </p:blipFill>
        <p:spPr>
          <a:xfrm>
            <a:off x="3383279" y="2521928"/>
            <a:ext cx="2788920" cy="1880847"/>
          </a:xfrm>
          <a:prstGeom prst="rect">
            <a:avLst/>
          </a:prstGeom>
        </p:spPr>
      </p:pic>
      <p:pic>
        <p:nvPicPr>
          <p:cNvPr id="34" name="Picture 33" descr="ジム_リッチメニュー_3_会員の方へ.png"/>
          <p:cNvPicPr>
            <a:picLocks noChangeAspect="1"/>
          </p:cNvPicPr>
          <p:nvPr/>
        </p:nvPicPr>
        <p:blipFill>
          <a:blip r:embed="rId4"/>
          <a:stretch>
            <a:fillRect/>
          </a:stretch>
        </p:blipFill>
        <p:spPr>
          <a:xfrm>
            <a:off x="6382512" y="2521928"/>
            <a:ext cx="2788920" cy="1880847"/>
          </a:xfrm>
          <a:prstGeom prst="rect">
            <a:avLst/>
          </a:prstGeom>
        </p:spPr>
      </p:pic>
      <p:sp>
        <p:nvSpPr>
          <p:cNvPr id="35" name="TextBox 34"/>
          <p:cNvSpPr txBox="1"/>
          <p:nvPr/>
        </p:nvSpPr>
        <p:spPr>
          <a:xfrm>
            <a:off x="384048" y="4541928"/>
            <a:ext cx="2788920" cy="700000"/>
          </a:xfrm>
          <a:prstGeom prst="rect">
            <a:avLst/>
          </a:prstGeom>
          <a:noFill/>
        </p:spPr>
        <p:txBody>
          <a:bodyPr wrap="square">
            <a:spAutoFit/>
          </a:bodyPr>
          <a:lstStyle/>
          <a:p>
            <a:r>
              <a:rPr sz="1200">
                <a:solidFill>
                  <a:srgbClr val="404040"/>
                </a:solidFill>
                <a:latin typeface="メイリオ"/>
                <a:ea typeface="メイリオ"/>
              </a:rPr>
              <a:t>押してほしい1枠だけ色を変え、6枠を等価に並べない。</a:t>
            </a:r>
          </a:p>
        </p:txBody>
      </p:sp>
      <p:sp>
        <p:nvSpPr>
          <p:cNvPr id="36" name="TextBox 35"/>
          <p:cNvSpPr txBox="1"/>
          <p:nvPr/>
        </p:nvSpPr>
        <p:spPr>
          <a:xfrm>
            <a:off x="3383279" y="4541928"/>
            <a:ext cx="2788920" cy="700000"/>
          </a:xfrm>
          <a:prstGeom prst="rect">
            <a:avLst/>
          </a:prstGeom>
          <a:noFill/>
        </p:spPr>
        <p:txBody>
          <a:bodyPr wrap="square">
            <a:spAutoFit/>
          </a:bodyPr>
          <a:lstStyle/>
          <a:p>
            <a:r>
              <a:rPr sz="1200">
                <a:solidFill>
                  <a:srgbClr val="404040"/>
                </a:solidFill>
                <a:latin typeface="メイリオ"/>
                <a:ea typeface="メイリオ"/>
              </a:rPr>
              <a:t>診断で属性を取り、そのまま配信セグメントに変換する。</a:t>
            </a:r>
          </a:p>
        </p:txBody>
      </p:sp>
      <p:sp>
        <p:nvSpPr>
          <p:cNvPr id="37" name="TextBox 36"/>
          <p:cNvSpPr txBox="1"/>
          <p:nvPr/>
        </p:nvSpPr>
        <p:spPr>
          <a:xfrm>
            <a:off x="6382512" y="4541928"/>
            <a:ext cx="2788920" cy="461665"/>
          </a:xfrm>
          <a:prstGeom prst="rect">
            <a:avLst/>
          </a:prstGeom>
          <a:noFill/>
        </p:spPr>
        <p:txBody>
          <a:bodyPr wrap="square">
            <a:spAutoFit/>
          </a:bodyPr>
          <a:lstStyle/>
          <a:p>
            <a:r>
              <a:rPr sz="1200" dirty="0" err="1">
                <a:solidFill>
                  <a:srgbClr val="404040"/>
                </a:solidFill>
                <a:latin typeface="メイリオ"/>
                <a:ea typeface="メイリオ"/>
              </a:rPr>
              <a:t>入会後は機能を総入れ替え</a:t>
            </a:r>
            <a:r>
              <a:rPr sz="1200" dirty="0">
                <a:solidFill>
                  <a:srgbClr val="404040"/>
                </a:solidFill>
                <a:latin typeface="メイリオ"/>
                <a:ea typeface="メイリオ"/>
              </a:rPr>
              <a:t>。</a:t>
            </a:r>
            <a:endParaRPr lang="en-US" sz="1200" dirty="0">
              <a:solidFill>
                <a:srgbClr val="404040"/>
              </a:solidFill>
              <a:latin typeface="メイリオ"/>
              <a:ea typeface="メイリオ"/>
            </a:endParaRPr>
          </a:p>
          <a:p>
            <a:r>
              <a:rPr sz="1200" dirty="0" err="1">
                <a:solidFill>
                  <a:srgbClr val="404040"/>
                </a:solidFill>
                <a:latin typeface="メイリオ"/>
                <a:ea typeface="メイリオ"/>
              </a:rPr>
              <a:t>休会・退会も隠さない</a:t>
            </a:r>
            <a:r>
              <a:rPr sz="1200" dirty="0">
                <a:solidFill>
                  <a:srgbClr val="404040"/>
                </a:solidFill>
                <a:latin typeface="メイリオ"/>
                <a:ea typeface="メイリオ"/>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構築｜トーク画面設計案（あいさつメッセージと30秒診断）</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dirty="0">
                <a:solidFill>
                  <a:srgbClr val="646C82"/>
                </a:solidFill>
                <a:latin typeface="メイリオ"/>
                <a:ea typeface="メイリオ"/>
              </a:rPr>
              <a:t>1通目で予約は求めない。求めるのは診断への回答だけ。</a:t>
            </a:r>
          </a:p>
        </p:txBody>
      </p:sp>
      <p:sp>
        <p:nvSpPr>
          <p:cNvPr id="4" name="TextBox 3"/>
          <p:cNvSpPr txBox="1"/>
          <p:nvPr/>
        </p:nvSpPr>
        <p:spPr>
          <a:xfrm>
            <a:off x="384048" y="1188720"/>
            <a:ext cx="4389120" cy="310896"/>
          </a:xfrm>
          <a:prstGeom prst="rect">
            <a:avLst/>
          </a:prstGeom>
          <a:noFill/>
        </p:spPr>
        <p:txBody>
          <a:bodyPr wrap="square" lIns="0" tIns="0" rIns="0" bIns="0">
            <a:spAutoFit/>
          </a:bodyPr>
          <a:lstStyle/>
          <a:p>
            <a:r>
              <a:rPr sz="1200" b="1">
                <a:solidFill>
                  <a:srgbClr val="1F2A5C"/>
                </a:solidFill>
                <a:latin typeface="メイリオ"/>
                <a:ea typeface="メイリオ"/>
              </a:rPr>
              <a:t>■ 友だち追加直後のあいさつメッセージ（自動）</a:t>
            </a:r>
          </a:p>
        </p:txBody>
      </p:sp>
      <p:sp>
        <p:nvSpPr>
          <p:cNvPr id="5" name="Rounded Rectangle 4"/>
          <p:cNvSpPr/>
          <p:nvPr/>
        </p:nvSpPr>
        <p:spPr>
          <a:xfrm>
            <a:off x="384048" y="1517904"/>
            <a:ext cx="4389120" cy="313660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0" dirty="0">
                <a:solidFill>
                  <a:srgbClr val="1C2233"/>
                </a:solidFill>
                <a:latin typeface="メイリオ"/>
                <a:ea typeface="メイリオ"/>
              </a:rPr>
              <a:t>【</a:t>
            </a:r>
            <a:r>
              <a:rPr sz="1200" b="0" dirty="0" err="1">
                <a:solidFill>
                  <a:srgbClr val="1C2233"/>
                </a:solidFill>
                <a:latin typeface="メイリオ"/>
                <a:ea typeface="メイリオ"/>
              </a:rPr>
              <a:t>〇〇フィットネス</a:t>
            </a:r>
            <a:r>
              <a:rPr sz="1200" b="0" dirty="0">
                <a:solidFill>
                  <a:srgbClr val="1C2233"/>
                </a:solidFill>
                <a:latin typeface="メイリオ"/>
                <a:ea typeface="メイリオ"/>
              </a:rPr>
              <a:t> △△店】</a:t>
            </a:r>
          </a:p>
          <a:p>
            <a:pPr algn="l">
              <a:spcBef>
                <a:spcPts val="0"/>
              </a:spcBef>
            </a:pPr>
            <a:r>
              <a:rPr sz="1200" b="0" dirty="0" err="1">
                <a:solidFill>
                  <a:srgbClr val="1C2233"/>
                </a:solidFill>
                <a:latin typeface="メイリオ"/>
                <a:ea typeface="メイリオ"/>
              </a:rPr>
              <a:t>友だち追加ありがとうございます</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err="1">
                <a:solidFill>
                  <a:srgbClr val="1C2233"/>
                </a:solidFill>
                <a:latin typeface="メイリオ"/>
                <a:ea typeface="メイリオ"/>
              </a:rPr>
              <a:t>はじめまして、店長の</a:t>
            </a:r>
            <a:r>
              <a:rPr sz="1200" b="0" dirty="0">
                <a:solidFill>
                  <a:srgbClr val="1C2233"/>
                </a:solidFill>
                <a:latin typeface="メイリオ"/>
                <a:ea typeface="メイリオ"/>
              </a:rPr>
              <a:t>○○</a:t>
            </a:r>
            <a:r>
              <a:rPr sz="1200" b="0" dirty="0" err="1">
                <a:solidFill>
                  <a:srgbClr val="1C2233"/>
                </a:solidFill>
                <a:latin typeface="メイリオ"/>
                <a:ea typeface="メイリオ"/>
              </a:rPr>
              <a:t>です</a:t>
            </a:r>
            <a:r>
              <a:rPr sz="1200" b="0" dirty="0">
                <a:solidFill>
                  <a:srgbClr val="1C2233"/>
                </a:solidFill>
                <a:latin typeface="メイリオ"/>
                <a:ea typeface="メイリオ"/>
              </a:rPr>
              <a:t>。</a:t>
            </a:r>
          </a:p>
          <a:p>
            <a:pPr algn="l">
              <a:spcBef>
                <a:spcPts val="0"/>
              </a:spcBef>
            </a:pPr>
            <a:r>
              <a:rPr sz="1200" b="0" dirty="0">
                <a:solidFill>
                  <a:srgbClr val="1C2233"/>
                </a:solidFill>
                <a:latin typeface="メイリオ"/>
                <a:ea typeface="メイリオ"/>
              </a:rPr>
              <a:t>「</a:t>
            </a:r>
            <a:r>
              <a:rPr sz="1200" b="0" dirty="0" err="1">
                <a:solidFill>
                  <a:srgbClr val="1C2233"/>
                </a:solidFill>
                <a:latin typeface="メイリオ"/>
                <a:ea typeface="メイリオ"/>
              </a:rPr>
              <a:t>続けられるか不安」という方が一番多いので</a:t>
            </a:r>
            <a:r>
              <a:rPr sz="1200" b="0" dirty="0">
                <a:solidFill>
                  <a:srgbClr val="1C2233"/>
                </a:solidFill>
                <a:latin typeface="メイリオ"/>
                <a:ea typeface="メイリオ"/>
              </a:rPr>
              <a:t>、</a:t>
            </a:r>
          </a:p>
          <a:p>
            <a:pPr algn="l">
              <a:spcBef>
                <a:spcPts val="0"/>
              </a:spcBef>
            </a:pPr>
            <a:r>
              <a:rPr sz="1200" b="0" dirty="0" err="1">
                <a:solidFill>
                  <a:srgbClr val="1C2233"/>
                </a:solidFill>
                <a:latin typeface="メイリオ"/>
                <a:ea typeface="メイリオ"/>
              </a:rPr>
              <a:t>まずはタイプを知るところから始めませんか</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a:solidFill>
                  <a:srgbClr val="1C2233"/>
                </a:solidFill>
                <a:latin typeface="メイリオ"/>
                <a:ea typeface="メイリオ"/>
              </a:rPr>
              <a:t>▶ 30秒でわかる「体づくりタイプ診断」</a:t>
            </a:r>
          </a:p>
          <a:p>
            <a:pPr algn="l">
              <a:spcBef>
                <a:spcPts val="0"/>
              </a:spcBef>
            </a:pPr>
            <a:r>
              <a:rPr sz="1200" b="0" dirty="0">
                <a:solidFill>
                  <a:srgbClr val="1C2233"/>
                </a:solidFill>
                <a:latin typeface="メイリオ"/>
                <a:ea typeface="メイリオ"/>
              </a:rPr>
              <a:t>4つの質問に答えるだけで、あなたに合う通い方と</a:t>
            </a:r>
          </a:p>
          <a:p>
            <a:pPr algn="l">
              <a:spcBef>
                <a:spcPts val="0"/>
              </a:spcBef>
            </a:pPr>
            <a:r>
              <a:rPr sz="1200" b="0" dirty="0" err="1">
                <a:solidFill>
                  <a:srgbClr val="1C2233"/>
                </a:solidFill>
                <a:latin typeface="メイリオ"/>
                <a:ea typeface="メイリオ"/>
              </a:rPr>
              <a:t>月々の目安をお送りします</a:t>
            </a:r>
            <a:r>
              <a:rPr sz="1200" b="0" dirty="0">
                <a:solidFill>
                  <a:srgbClr val="1C2233"/>
                </a:solidFill>
                <a:latin typeface="メイリオ"/>
                <a:ea typeface="メイリオ"/>
              </a:rPr>
              <a:t>。</a:t>
            </a:r>
          </a:p>
          <a:p>
            <a:pPr algn="l">
              <a:spcBef>
                <a:spcPts val="0"/>
              </a:spcBef>
            </a:pPr>
            <a:endParaRPr sz="1200" b="0" dirty="0">
              <a:solidFill>
                <a:srgbClr val="1C2233"/>
              </a:solidFill>
              <a:latin typeface="メイリオ"/>
              <a:ea typeface="メイリオ"/>
            </a:endParaRPr>
          </a:p>
          <a:p>
            <a:pPr algn="l">
              <a:spcBef>
                <a:spcPts val="0"/>
              </a:spcBef>
            </a:pPr>
            <a:r>
              <a:rPr sz="1200" b="0" dirty="0">
                <a:solidFill>
                  <a:srgbClr val="1C2233"/>
                </a:solidFill>
                <a:latin typeface="メイリオ"/>
                <a:ea typeface="メイリオ"/>
              </a:rPr>
              <a:t>※ </a:t>
            </a:r>
            <a:r>
              <a:rPr sz="1200" b="0" dirty="0" err="1">
                <a:solidFill>
                  <a:srgbClr val="1C2233"/>
                </a:solidFill>
                <a:latin typeface="メイリオ"/>
                <a:ea typeface="メイリオ"/>
              </a:rPr>
              <a:t>こちらから営業のお電話をすることはありません</a:t>
            </a:r>
            <a:r>
              <a:rPr sz="1200" b="0" dirty="0">
                <a:solidFill>
                  <a:srgbClr val="1C2233"/>
                </a:solidFill>
                <a:latin typeface="メイリオ"/>
                <a:ea typeface="メイリオ"/>
              </a:rPr>
              <a:t>。</a:t>
            </a:r>
          </a:p>
          <a:p>
            <a:pPr algn="l">
              <a:spcBef>
                <a:spcPts val="0"/>
              </a:spcBef>
            </a:pPr>
            <a:r>
              <a:rPr sz="1200" b="0" dirty="0" err="1">
                <a:solidFill>
                  <a:srgbClr val="1C2233"/>
                </a:solidFill>
                <a:latin typeface="メイリオ"/>
                <a:ea typeface="メイリオ"/>
              </a:rPr>
              <a:t>ご質問はこのままトークで送ってください</a:t>
            </a:r>
            <a:r>
              <a:rPr lang="en-US" sz="1200" dirty="0">
                <a:solidFill>
                  <a:srgbClr val="1C2233"/>
                </a:solidFill>
                <a:latin typeface="メイリオ"/>
                <a:ea typeface="メイリオ"/>
              </a:rPr>
              <a:t>(</a:t>
            </a:r>
            <a:r>
              <a:rPr sz="1200" b="0" dirty="0">
                <a:solidFill>
                  <a:srgbClr val="1C2233"/>
                </a:solidFill>
                <a:latin typeface="メイリオ"/>
                <a:ea typeface="メイリオ"/>
              </a:rPr>
              <a:t>10:00–20:00</a:t>
            </a:r>
            <a:r>
              <a:rPr lang="en-US" sz="1200" dirty="0">
                <a:solidFill>
                  <a:srgbClr val="1C2233"/>
                </a:solidFill>
                <a:latin typeface="メイリオ"/>
                <a:ea typeface="メイリオ"/>
              </a:rPr>
              <a:t>)</a:t>
            </a:r>
            <a:endParaRPr sz="1100" b="0" dirty="0">
              <a:solidFill>
                <a:srgbClr val="1C2233"/>
              </a:solidFill>
              <a:latin typeface="メイリオ"/>
              <a:ea typeface="メイリオ"/>
            </a:endParaRPr>
          </a:p>
        </p:txBody>
      </p:sp>
      <p:sp>
        <p:nvSpPr>
          <p:cNvPr id="6" name="Rounded Rectangle 5"/>
          <p:cNvSpPr/>
          <p:nvPr/>
        </p:nvSpPr>
        <p:spPr>
          <a:xfrm>
            <a:off x="38404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「営業電話しません」を</a:t>
            </a:r>
          </a:p>
          <a:p>
            <a:pPr algn="ctr">
              <a:spcBef>
                <a:spcPts val="0"/>
              </a:spcBef>
            </a:pPr>
            <a:r>
              <a:rPr sz="1000" b="0">
                <a:solidFill>
                  <a:srgbClr val="646C82"/>
                </a:solidFill>
                <a:latin typeface="メイリオ"/>
                <a:ea typeface="メイリオ"/>
              </a:rPr>
              <a:t>1通目に明記</a:t>
            </a:r>
          </a:p>
        </p:txBody>
      </p:sp>
      <p:sp>
        <p:nvSpPr>
          <p:cNvPr id="7" name="Rounded Rectangle 6"/>
          <p:cNvSpPr/>
          <p:nvPr/>
        </p:nvSpPr>
        <p:spPr>
          <a:xfrm>
            <a:off x="184708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4問すべて選択式</a:t>
            </a:r>
          </a:p>
          <a:p>
            <a:pPr algn="ctr">
              <a:spcBef>
                <a:spcPts val="0"/>
              </a:spcBef>
            </a:pPr>
            <a:r>
              <a:rPr sz="1000" b="0">
                <a:solidFill>
                  <a:srgbClr val="646C82"/>
                </a:solidFill>
                <a:latin typeface="メイリオ"/>
                <a:ea typeface="メイリオ"/>
              </a:rPr>
              <a:t>自由入力はゼロ</a:t>
            </a:r>
          </a:p>
        </p:txBody>
      </p:sp>
      <p:sp>
        <p:nvSpPr>
          <p:cNvPr id="8" name="Rounded Rectangle 7"/>
          <p:cNvSpPr/>
          <p:nvPr/>
        </p:nvSpPr>
        <p:spPr>
          <a:xfrm>
            <a:off x="3310128" y="4796136"/>
            <a:ext cx="1463040" cy="658368"/>
          </a:xfrm>
          <a:prstGeom prst="roundRect">
            <a:avLst/>
          </a:prstGeom>
          <a:solidFill>
            <a:srgbClr val="F7F8FB"/>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000" b="0">
                <a:solidFill>
                  <a:srgbClr val="646C82"/>
                </a:solidFill>
                <a:latin typeface="メイリオ"/>
                <a:ea typeface="メイリオ"/>
              </a:rPr>
              <a:t>費用は「1回あたり」</a:t>
            </a:r>
          </a:p>
          <a:p>
            <a:pPr algn="ctr">
              <a:spcBef>
                <a:spcPts val="0"/>
              </a:spcBef>
            </a:pPr>
            <a:r>
              <a:rPr sz="1000" b="0">
                <a:solidFill>
                  <a:srgbClr val="646C82"/>
                </a:solidFill>
                <a:latin typeface="メイリオ"/>
                <a:ea typeface="メイリオ"/>
              </a:rPr>
              <a:t>で見せる</a:t>
            </a:r>
          </a:p>
        </p:txBody>
      </p:sp>
      <p:sp>
        <p:nvSpPr>
          <p:cNvPr id="9" name="TextBox 8"/>
          <p:cNvSpPr txBox="1"/>
          <p:nvPr/>
        </p:nvSpPr>
        <p:spPr>
          <a:xfrm>
            <a:off x="4983480" y="1188720"/>
            <a:ext cx="4535424" cy="310896"/>
          </a:xfrm>
          <a:prstGeom prst="rect">
            <a:avLst/>
          </a:prstGeom>
          <a:noFill/>
        </p:spPr>
        <p:txBody>
          <a:bodyPr wrap="square" lIns="0" tIns="0" rIns="0" bIns="0">
            <a:spAutoFit/>
          </a:bodyPr>
          <a:lstStyle/>
          <a:p>
            <a:r>
              <a:rPr sz="1200" b="1">
                <a:solidFill>
                  <a:srgbClr val="1F2A5C"/>
                </a:solidFill>
                <a:latin typeface="メイリオ"/>
                <a:ea typeface="メイリオ"/>
              </a:rPr>
              <a:t>■ 30秒 体づくりタイプ診断（4問すべて選択式）</a:t>
            </a:r>
          </a:p>
        </p:txBody>
      </p:sp>
      <p:sp>
        <p:nvSpPr>
          <p:cNvPr id="10" name="Rounded Rectangle 9"/>
          <p:cNvSpPr/>
          <p:nvPr/>
        </p:nvSpPr>
        <p:spPr>
          <a:xfrm>
            <a:off x="4983480" y="1517904"/>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Q1</a:t>
            </a:r>
          </a:p>
        </p:txBody>
      </p:sp>
      <p:sp>
        <p:nvSpPr>
          <p:cNvPr id="11" name="Rounded Rectangle 10"/>
          <p:cNvSpPr/>
          <p:nvPr/>
        </p:nvSpPr>
        <p:spPr>
          <a:xfrm>
            <a:off x="5468112" y="1517904"/>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いつから始めたいですか？</a:t>
            </a:r>
          </a:p>
          <a:p>
            <a:pPr algn="l">
              <a:spcBef>
                <a:spcPts val="0"/>
              </a:spcBef>
            </a:pPr>
            <a:r>
              <a:rPr sz="1000" b="0">
                <a:solidFill>
                  <a:srgbClr val="1C2233"/>
                </a:solidFill>
                <a:latin typeface="メイリオ"/>
                <a:ea typeface="メイリオ"/>
              </a:rPr>
              <a:t>今すぐ ／ 1ヶ月以内 ／ 2〜3ヶ月先 ／ 検討中</a:t>
            </a:r>
          </a:p>
        </p:txBody>
      </p:sp>
      <p:sp>
        <p:nvSpPr>
          <p:cNvPr id="12" name="Rounded Rectangle 11"/>
          <p:cNvSpPr/>
          <p:nvPr/>
        </p:nvSpPr>
        <p:spPr>
          <a:xfrm>
            <a:off x="4983480" y="2084831"/>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Q2</a:t>
            </a:r>
          </a:p>
        </p:txBody>
      </p:sp>
      <p:sp>
        <p:nvSpPr>
          <p:cNvPr id="13" name="Rounded Rectangle 12"/>
          <p:cNvSpPr/>
          <p:nvPr/>
        </p:nvSpPr>
        <p:spPr>
          <a:xfrm>
            <a:off x="5468112" y="2084831"/>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一番の目的は？</a:t>
            </a:r>
          </a:p>
          <a:p>
            <a:pPr algn="l">
              <a:spcBef>
                <a:spcPts val="0"/>
              </a:spcBef>
            </a:pPr>
            <a:r>
              <a:rPr sz="1000" b="0">
                <a:solidFill>
                  <a:srgbClr val="1C2233"/>
                </a:solidFill>
                <a:latin typeface="メイリオ"/>
                <a:ea typeface="メイリオ"/>
              </a:rPr>
              <a:t>ダイエット ／ 筋肉 ／ 健康維持 ／ 姿勢・肩こり</a:t>
            </a:r>
          </a:p>
        </p:txBody>
      </p:sp>
      <p:sp>
        <p:nvSpPr>
          <p:cNvPr id="14" name="Rounded Rectangle 13"/>
          <p:cNvSpPr/>
          <p:nvPr/>
        </p:nvSpPr>
        <p:spPr>
          <a:xfrm>
            <a:off x="4983480" y="2651760"/>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Q3</a:t>
            </a:r>
          </a:p>
        </p:txBody>
      </p:sp>
      <p:sp>
        <p:nvSpPr>
          <p:cNvPr id="15" name="Rounded Rectangle 14"/>
          <p:cNvSpPr/>
          <p:nvPr/>
        </p:nvSpPr>
        <p:spPr>
          <a:xfrm>
            <a:off x="5468112" y="2651760"/>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運動の経験は？</a:t>
            </a:r>
          </a:p>
          <a:p>
            <a:pPr algn="l">
              <a:spcBef>
                <a:spcPts val="0"/>
              </a:spcBef>
            </a:pPr>
            <a:r>
              <a:rPr sz="1000" b="0">
                <a:solidFill>
                  <a:srgbClr val="1C2233"/>
                </a:solidFill>
                <a:latin typeface="メイリオ"/>
                <a:ea typeface="メイリオ"/>
              </a:rPr>
              <a:t>まったく初めて ／ 昔やっていた ／ 運動中 ／ ジム経験あり</a:t>
            </a:r>
          </a:p>
        </p:txBody>
      </p:sp>
      <p:sp>
        <p:nvSpPr>
          <p:cNvPr id="16" name="Rounded Rectangle 15"/>
          <p:cNvSpPr/>
          <p:nvPr/>
        </p:nvSpPr>
        <p:spPr>
          <a:xfrm>
            <a:off x="4983480" y="3218687"/>
            <a:ext cx="438912" cy="493776"/>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ctr"/>
            <a:r>
              <a:rPr sz="1200" b="1">
                <a:solidFill>
                  <a:srgbClr val="FFFFFF"/>
                </a:solidFill>
                <a:latin typeface="メイリオ"/>
                <a:ea typeface="メイリオ"/>
              </a:rPr>
              <a:t>Q4</a:t>
            </a:r>
          </a:p>
        </p:txBody>
      </p:sp>
      <p:sp>
        <p:nvSpPr>
          <p:cNvPr id="17" name="Rounded Rectangle 16"/>
          <p:cNvSpPr/>
          <p:nvPr/>
        </p:nvSpPr>
        <p:spPr>
          <a:xfrm>
            <a:off x="5468112" y="3218687"/>
            <a:ext cx="4050791" cy="493776"/>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ctr"/>
          <a:lstStyle/>
          <a:p>
            <a:pPr algn="l"/>
            <a:r>
              <a:rPr sz="1000" b="0">
                <a:solidFill>
                  <a:srgbClr val="1C2233"/>
                </a:solidFill>
                <a:latin typeface="メイリオ"/>
                <a:ea typeface="メイリオ"/>
              </a:rPr>
              <a:t>通えそうな頻度は？</a:t>
            </a:r>
          </a:p>
          <a:p>
            <a:pPr algn="l">
              <a:spcBef>
                <a:spcPts val="0"/>
              </a:spcBef>
            </a:pPr>
            <a:r>
              <a:rPr sz="1000" b="0">
                <a:solidFill>
                  <a:srgbClr val="1C2233"/>
                </a:solidFill>
                <a:latin typeface="メイリオ"/>
                <a:ea typeface="メイリオ"/>
              </a:rPr>
              <a:t>週1回 ／ 週2回 ／ 週3回以上 ／ わからない</a:t>
            </a:r>
          </a:p>
        </p:txBody>
      </p:sp>
      <p:sp>
        <p:nvSpPr>
          <p:cNvPr id="18" name="Rounded Rectangle 17"/>
          <p:cNvSpPr/>
          <p:nvPr/>
        </p:nvSpPr>
        <p:spPr>
          <a:xfrm>
            <a:off x="4983480" y="4088808"/>
            <a:ext cx="4535424" cy="1408176"/>
          </a:xfrm>
          <a:prstGeom prst="roundRect">
            <a:avLst/>
          </a:prstGeom>
          <a:solidFill>
            <a:srgbClr val="FDEFE2"/>
          </a:solidFill>
          <a:ln w="9525">
            <a:solidFill>
              <a:srgbClr val="BF4E0E"/>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000" b="0" dirty="0">
                <a:solidFill>
                  <a:srgbClr val="1C2233"/>
                </a:solidFill>
                <a:latin typeface="メイリオ"/>
                <a:ea typeface="メイリオ"/>
              </a:rPr>
              <a:t>＼</a:t>
            </a:r>
            <a:r>
              <a:rPr sz="1000" b="0" dirty="0" err="1">
                <a:solidFill>
                  <a:srgbClr val="1C2233"/>
                </a:solidFill>
                <a:latin typeface="メイリオ"/>
                <a:ea typeface="メイリオ"/>
              </a:rPr>
              <a:t>あなたは「コツコツ習慣化タイプ</a:t>
            </a:r>
            <a:r>
              <a:rPr sz="1000" b="0" dirty="0">
                <a:solidFill>
                  <a:srgbClr val="1C2233"/>
                </a:solidFill>
                <a:latin typeface="メイリオ"/>
                <a:ea typeface="メイリオ"/>
              </a:rPr>
              <a:t>」／</a:t>
            </a:r>
          </a:p>
          <a:p>
            <a:pPr algn="l">
              <a:spcBef>
                <a:spcPts val="100"/>
              </a:spcBef>
            </a:pPr>
            <a:r>
              <a:rPr sz="1000" b="0" dirty="0">
                <a:solidFill>
                  <a:srgbClr val="1C2233"/>
                </a:solidFill>
                <a:latin typeface="メイリオ"/>
                <a:ea typeface="メイリオ"/>
              </a:rPr>
              <a:t>まったく初めての方が、週2回から始めて結果を出しているパターンです。</a:t>
            </a:r>
          </a:p>
          <a:p>
            <a:pPr algn="l">
              <a:spcBef>
                <a:spcPts val="100"/>
              </a:spcBef>
            </a:pPr>
            <a:r>
              <a:rPr sz="1000" b="0" dirty="0">
                <a:solidFill>
                  <a:srgbClr val="1C2233"/>
                </a:solidFill>
                <a:latin typeface="メイリオ"/>
                <a:ea typeface="メイリオ"/>
              </a:rPr>
              <a:t>最初の1ヶ月はマシン3種類だけでOK🔰</a:t>
            </a:r>
          </a:p>
          <a:p>
            <a:pPr algn="l">
              <a:spcBef>
                <a:spcPts val="100"/>
              </a:spcBef>
            </a:pPr>
            <a:r>
              <a:rPr sz="1000" b="0" dirty="0">
                <a:solidFill>
                  <a:srgbClr val="1C2233"/>
                </a:solidFill>
                <a:latin typeface="メイリオ"/>
                <a:ea typeface="メイリオ"/>
              </a:rPr>
              <a:t>💰 週2回なら 1回あたり約1,000円（月会費8,000円 ÷ 月8回）</a:t>
            </a:r>
          </a:p>
          <a:p>
            <a:pPr algn="l">
              <a:spcBef>
                <a:spcPts val="100"/>
              </a:spcBef>
            </a:pPr>
            <a:r>
              <a:rPr sz="1000" b="0" dirty="0">
                <a:solidFill>
                  <a:srgbClr val="1C2233"/>
                </a:solidFill>
                <a:latin typeface="メイリオ"/>
                <a:ea typeface="メイリオ"/>
              </a:rPr>
              <a:t>▶ </a:t>
            </a:r>
            <a:r>
              <a:rPr sz="1000" b="0" dirty="0" err="1">
                <a:solidFill>
                  <a:srgbClr val="1C2233"/>
                </a:solidFill>
                <a:latin typeface="メイリオ"/>
                <a:ea typeface="メイリオ"/>
              </a:rPr>
              <a:t>見学だけでも大丈夫です／今週の体験枠を見る</a:t>
            </a:r>
            <a:endParaRPr sz="1000" b="0" dirty="0">
              <a:solidFill>
                <a:srgbClr val="1C2233"/>
              </a:solidFill>
              <a:latin typeface="メイリオ"/>
              <a:ea typeface="メイリオ"/>
            </a:endParaRPr>
          </a:p>
        </p:txBody>
      </p:sp>
      <p:sp>
        <p:nvSpPr>
          <p:cNvPr id="19" name="TextBox 18"/>
          <p:cNvSpPr txBox="1"/>
          <p:nvPr/>
        </p:nvSpPr>
        <p:spPr>
          <a:xfrm>
            <a:off x="4873925" y="5641706"/>
            <a:ext cx="6085591" cy="307777"/>
          </a:xfrm>
          <a:prstGeom prst="rect">
            <a:avLst/>
          </a:prstGeom>
          <a:noFill/>
        </p:spPr>
        <p:txBody>
          <a:bodyPr wrap="square" lIns="0" tIns="0" rIns="0" bIns="0">
            <a:spAutoFit/>
          </a:bodyPr>
          <a:lstStyle/>
          <a:p>
            <a:r>
              <a:rPr sz="1000" b="0" dirty="0" err="1">
                <a:solidFill>
                  <a:srgbClr val="1C2233"/>
                </a:solidFill>
                <a:latin typeface="メイリオ"/>
                <a:ea typeface="メイリオ"/>
              </a:rPr>
              <a:t>回答＝配信セグメントのタグ</a:t>
            </a:r>
            <a:r>
              <a:rPr sz="1000" b="0" dirty="0">
                <a:solidFill>
                  <a:srgbClr val="1C2233"/>
                </a:solidFill>
                <a:latin typeface="メイリオ"/>
                <a:ea typeface="メイリオ"/>
              </a:rPr>
              <a:t>。</a:t>
            </a:r>
            <a:endParaRPr lang="en-US" sz="1000" b="0" dirty="0">
              <a:solidFill>
                <a:srgbClr val="1C2233"/>
              </a:solidFill>
              <a:latin typeface="メイリオ"/>
              <a:ea typeface="メイリオ"/>
            </a:endParaRPr>
          </a:p>
          <a:p>
            <a:r>
              <a:rPr sz="1000" b="0" dirty="0">
                <a:solidFill>
                  <a:srgbClr val="1C2233"/>
                </a:solidFill>
                <a:latin typeface="メイリオ"/>
                <a:ea typeface="メイリオ"/>
              </a:rPr>
              <a:t>「月8,000円」より「1回1,000円」のほうが決裁が下りる。</a:t>
            </a:r>
          </a:p>
        </p:txBody>
      </p:sp>
      <p:sp>
        <p:nvSpPr>
          <p:cNvPr id="20" name="TextBox 19"/>
          <p:cNvSpPr txBox="1"/>
          <p:nvPr/>
        </p:nvSpPr>
        <p:spPr>
          <a:xfrm>
            <a:off x="384048" y="6300432"/>
            <a:ext cx="9134856" cy="310896"/>
          </a:xfrm>
          <a:prstGeom prst="rect">
            <a:avLst/>
          </a:prstGeom>
          <a:noFill/>
        </p:spPr>
        <p:txBody>
          <a:bodyPr wrap="square" lIns="0" tIns="0" rIns="0" bIns="0">
            <a:spAutoFit/>
          </a:bodyPr>
          <a:lstStyle/>
          <a:p>
            <a:r>
              <a:rPr sz="900" b="0" dirty="0">
                <a:solidFill>
                  <a:srgbClr val="646C82"/>
                </a:solidFill>
                <a:latin typeface="メイリオ"/>
                <a:ea typeface="メイリオ"/>
              </a:rPr>
              <a:t>※ </a:t>
            </a:r>
            <a:r>
              <a:rPr sz="900" b="0" dirty="0" err="1">
                <a:solidFill>
                  <a:srgbClr val="646C82"/>
                </a:solidFill>
                <a:latin typeface="メイリオ"/>
                <a:ea typeface="メイリオ"/>
              </a:rPr>
              <a:t>文面は貴社トーンに合わせて調整します。診断結果は回答の組み合わせでパターン分岐させます</a:t>
            </a:r>
            <a:r>
              <a:rPr sz="900" b="0" dirty="0">
                <a:solidFill>
                  <a:srgbClr val="646C82"/>
                </a:solidFill>
                <a:latin typeface="メイリオ"/>
                <a:ea typeface="メイリオ"/>
              </a:rPr>
              <a:t>。</a:t>
            </a:r>
          </a:p>
        </p:txBody>
      </p:sp>
      <p:sp>
        <p:nvSpPr>
          <p:cNvPr id="21" name="TextBox 20"/>
          <p:cNvSpPr txBox="1"/>
          <p:nvPr/>
        </p:nvSpPr>
        <p:spPr>
          <a:xfrm>
            <a:off x="6710903" y="6239880"/>
            <a:ext cx="2808000" cy="216000"/>
          </a:xfrm>
          <a:prstGeom prst="rect">
            <a:avLst/>
          </a:prstGeom>
          <a:noFill/>
        </p:spPr>
        <p:txBody>
          <a:bodyPr wrap="square" lIns="28800" tIns="10800" rIns="28800" bIns="10800">
            <a:spAutoFit/>
          </a:bodyPr>
          <a:lstStyle/>
          <a:p>
            <a:r>
              <a:rPr sz="1200" b="1" dirty="0">
                <a:solidFill>
                  <a:srgbClr val="BF4E0E"/>
                </a:solidFill>
                <a:latin typeface="メイリオ"/>
                <a:ea typeface="メイリオ"/>
              </a:rPr>
              <a:t>▶ </a:t>
            </a:r>
            <a:r>
              <a:rPr sz="1200" b="1" dirty="0" err="1">
                <a:solidFill>
                  <a:srgbClr val="BF4E0E"/>
                </a:solidFill>
                <a:latin typeface="メイリオ"/>
                <a:ea typeface="メイリオ"/>
              </a:rPr>
              <a:t>実物の画面イメージは次ページ</a:t>
            </a:r>
            <a:endParaRPr sz="1200" b="1" dirty="0">
              <a:solidFill>
                <a:srgbClr val="BF4E0E"/>
              </a:solidFill>
              <a:latin typeface="メイリオ"/>
            </a:endParaRPr>
          </a:p>
        </p:txBody>
      </p:sp>
    </p:spTree>
    <p:extLst>
      <p:ext uri="{BB962C8B-B14F-4D97-AF65-F5344CB8AC3E}">
        <p14:creationId xmlns:p14="http://schemas.microsoft.com/office/powerpoint/2010/main" val="188939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構築｜トーク画面イメージ（友だち追加の直後に届く1通目）</a:t>
            </a:r>
          </a:p>
        </p:txBody>
      </p:sp>
      <p:sp>
        <p:nvSpPr>
          <p:cNvPr id="3" name="TextBox 2"/>
          <p:cNvSpPr txBox="1"/>
          <p:nvPr/>
        </p:nvSpPr>
        <p:spPr>
          <a:xfrm>
            <a:off x="384048" y="731520"/>
            <a:ext cx="9134856" cy="246221"/>
          </a:xfrm>
          <a:prstGeom prst="rect">
            <a:avLst/>
          </a:prstGeom>
          <a:noFill/>
        </p:spPr>
        <p:txBody>
          <a:bodyPr wrap="square" lIns="0" tIns="0" rIns="0" bIns="0">
            <a:spAutoFit/>
          </a:bodyPr>
          <a:lstStyle/>
          <a:p>
            <a:r>
              <a:rPr sz="1600" b="0">
                <a:solidFill>
                  <a:srgbClr val="646C82"/>
                </a:solidFill>
                <a:latin typeface="メイリオ"/>
                <a:ea typeface="メイリオ"/>
              </a:rPr>
              <a:t>1通目で予約は求めない。求めるのは診断への回答だけ。</a:t>
            </a:r>
          </a:p>
        </p:txBody>
      </p:sp>
      <p:sp>
        <p:nvSpPr>
          <p:cNvPr id="19" name="TextBox 18"/>
          <p:cNvSpPr txBox="1"/>
          <p:nvPr/>
        </p:nvSpPr>
        <p:spPr>
          <a:xfrm>
            <a:off x="3407434" y="4900000"/>
            <a:ext cx="6092566" cy="430887"/>
          </a:xfrm>
          <a:prstGeom prst="rect">
            <a:avLst/>
          </a:prstGeom>
          <a:noFill/>
        </p:spPr>
        <p:txBody>
          <a:bodyPr wrap="square" lIns="0" tIns="0" rIns="0" bIns="0">
            <a:spAutoFit/>
          </a:bodyPr>
          <a:lstStyle/>
          <a:p>
            <a:r>
              <a:rPr sz="1400" b="0" dirty="0">
                <a:solidFill>
                  <a:srgbClr val="1C2233"/>
                </a:solidFill>
                <a:latin typeface="メイリオ"/>
                <a:ea typeface="メイリオ"/>
              </a:rPr>
              <a:t>この1通で「誰か」「</a:t>
            </a:r>
            <a:r>
              <a:rPr sz="1400" b="0" dirty="0" err="1">
                <a:solidFill>
                  <a:srgbClr val="1C2233"/>
                </a:solidFill>
                <a:latin typeface="メイリオ"/>
                <a:ea typeface="メイリオ"/>
              </a:rPr>
              <a:t>何をくれるか</a:t>
            </a:r>
            <a:r>
              <a:rPr sz="1400" b="0" dirty="0">
                <a:solidFill>
                  <a:srgbClr val="1C2233"/>
                </a:solidFill>
                <a:latin typeface="メイリオ"/>
                <a:ea typeface="メイリオ"/>
              </a:rPr>
              <a:t>」「売り込まないか」の3つに答える。</a:t>
            </a:r>
            <a:endParaRPr lang="en-US" sz="1400" b="0" dirty="0">
              <a:solidFill>
                <a:srgbClr val="1C2233"/>
              </a:solidFill>
              <a:latin typeface="メイリオ"/>
              <a:ea typeface="メイリオ"/>
            </a:endParaRPr>
          </a:p>
          <a:p>
            <a:r>
              <a:rPr sz="1400" b="0" dirty="0" err="1">
                <a:solidFill>
                  <a:srgbClr val="1C2233"/>
                </a:solidFill>
                <a:latin typeface="メイリオ"/>
                <a:ea typeface="メイリオ"/>
              </a:rPr>
              <a:t>ここで離脱すると以降の配信は全部届かない</a:t>
            </a:r>
            <a:r>
              <a:rPr sz="1400" b="0" dirty="0">
                <a:solidFill>
                  <a:srgbClr val="1C2233"/>
                </a:solidFill>
                <a:latin typeface="メイリオ"/>
                <a:ea typeface="メイリオ"/>
              </a:rPr>
              <a:t>。</a:t>
            </a:r>
          </a:p>
        </p:txBody>
      </p:sp>
      <p:sp>
        <p:nvSpPr>
          <p:cNvPr id="20" name="TextBox 19"/>
          <p:cNvSpPr txBox="1"/>
          <p:nvPr/>
        </p:nvSpPr>
        <p:spPr>
          <a:xfrm>
            <a:off x="384048" y="5897880"/>
            <a:ext cx="9134856" cy="310896"/>
          </a:xfrm>
          <a:prstGeom prst="rect">
            <a:avLst/>
          </a:prstGeom>
          <a:noFill/>
        </p:spPr>
        <p:txBody>
          <a:bodyPr wrap="square" lIns="0" tIns="0" rIns="0" bIns="0">
            <a:spAutoFit/>
          </a:bodyPr>
          <a:lstStyle/>
          <a:p>
            <a:r>
              <a:rPr sz="900" b="0">
                <a:solidFill>
                  <a:srgbClr val="646C82"/>
                </a:solidFill>
                <a:latin typeface="メイリオ"/>
                <a:ea typeface="メイリオ"/>
              </a:rPr>
              <a:t>※ 画面はイメージです。文面・配色・診断の設問は貴社トーンに合わせて調整します。</a:t>
            </a:r>
          </a:p>
        </p:txBody>
      </p:sp>
      <p:pic>
        <p:nvPicPr>
          <p:cNvPr id="21" name="Picture 20" descr="12_トーク画面モック_トリム.png"/>
          <p:cNvPicPr>
            <a:picLocks noChangeAspect="1"/>
          </p:cNvPicPr>
          <p:nvPr/>
        </p:nvPicPr>
        <p:blipFill>
          <a:blip r:embed="rId2"/>
          <a:stretch>
            <a:fillRect/>
          </a:stretch>
        </p:blipFill>
        <p:spPr>
          <a:xfrm>
            <a:off x="700000" y="1400000"/>
            <a:ext cx="1936170" cy="3500000"/>
          </a:xfrm>
          <a:prstGeom prst="rect">
            <a:avLst/>
          </a:prstGeom>
        </p:spPr>
      </p:pic>
      <p:sp>
        <p:nvSpPr>
          <p:cNvPr id="22" name="TextBox 21"/>
          <p:cNvSpPr txBox="1"/>
          <p:nvPr/>
        </p:nvSpPr>
        <p:spPr>
          <a:xfrm>
            <a:off x="3407434" y="1500000"/>
            <a:ext cx="6092566" cy="769441"/>
          </a:xfrm>
          <a:prstGeom prst="rect">
            <a:avLst/>
          </a:prstGeom>
          <a:noFill/>
        </p:spPr>
        <p:txBody>
          <a:bodyPr wrap="square">
            <a:spAutoFit/>
          </a:bodyPr>
          <a:lstStyle/>
          <a:p>
            <a:r>
              <a:rPr sz="1600" b="1" dirty="0">
                <a:solidFill>
                  <a:srgbClr val="1F2A5C"/>
                </a:solidFill>
                <a:latin typeface="メイリオ"/>
                <a:ea typeface="メイリオ"/>
              </a:rPr>
              <a:t>① 1通目に「営業電話をしない」と書く</a:t>
            </a:r>
          </a:p>
          <a:p>
            <a:r>
              <a:rPr sz="1400" b="0" dirty="0" err="1">
                <a:solidFill>
                  <a:srgbClr val="404040"/>
                </a:solidFill>
                <a:latin typeface="メイリオ"/>
                <a:ea typeface="メイリオ"/>
              </a:rPr>
              <a:t>押し売りへの拒否感が最も強い業界です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err="1">
                <a:solidFill>
                  <a:srgbClr val="404040"/>
                </a:solidFill>
                <a:latin typeface="メイリオ"/>
                <a:ea typeface="メイリオ"/>
              </a:rPr>
              <a:t>先に明言することで、その後の質問と診断回答のハードルが下がります</a:t>
            </a:r>
            <a:r>
              <a:rPr sz="1400" b="0" dirty="0">
                <a:solidFill>
                  <a:srgbClr val="404040"/>
                </a:solidFill>
                <a:latin typeface="メイリオ"/>
                <a:ea typeface="メイリオ"/>
              </a:rPr>
              <a:t>。</a:t>
            </a:r>
          </a:p>
        </p:txBody>
      </p:sp>
      <p:sp>
        <p:nvSpPr>
          <p:cNvPr id="23" name="TextBox 22"/>
          <p:cNvSpPr txBox="1"/>
          <p:nvPr/>
        </p:nvSpPr>
        <p:spPr>
          <a:xfrm>
            <a:off x="3407434" y="2650000"/>
            <a:ext cx="6092566" cy="984885"/>
          </a:xfrm>
          <a:prstGeom prst="rect">
            <a:avLst/>
          </a:prstGeom>
          <a:noFill/>
        </p:spPr>
        <p:txBody>
          <a:bodyPr wrap="square">
            <a:spAutoFit/>
          </a:bodyPr>
          <a:lstStyle/>
          <a:p>
            <a:r>
              <a:rPr sz="1600" b="1" dirty="0">
                <a:solidFill>
                  <a:srgbClr val="1F2A5C"/>
                </a:solidFill>
                <a:latin typeface="メイリオ"/>
                <a:ea typeface="メイリオ"/>
              </a:rPr>
              <a:t>② </a:t>
            </a:r>
            <a:r>
              <a:rPr sz="1600" b="1" dirty="0" err="1">
                <a:solidFill>
                  <a:srgbClr val="1F2A5C"/>
                </a:solidFill>
                <a:latin typeface="メイリオ"/>
                <a:ea typeface="メイリオ"/>
              </a:rPr>
              <a:t>予約ではなく診断を求める</a:t>
            </a:r>
            <a:endParaRPr sz="1600" b="1" dirty="0">
              <a:solidFill>
                <a:srgbClr val="1F2A5C"/>
              </a:solidFill>
              <a:latin typeface="メイリオ"/>
              <a:ea typeface="メイリオ"/>
            </a:endParaRPr>
          </a:p>
          <a:p>
            <a:r>
              <a:rPr sz="1400" b="0" dirty="0" err="1">
                <a:solidFill>
                  <a:srgbClr val="404040"/>
                </a:solidFill>
                <a:latin typeface="メイリオ"/>
                <a:ea typeface="メイリオ"/>
              </a:rPr>
              <a:t>検討初期の人に予約を求めると落ちます</a:t>
            </a:r>
            <a:r>
              <a:rPr sz="1400" b="0" dirty="0">
                <a:solidFill>
                  <a:srgbClr val="404040"/>
                </a:solidFill>
                <a:latin typeface="メイリオ"/>
                <a:ea typeface="メイリオ"/>
              </a:rPr>
              <a:t>。</a:t>
            </a:r>
            <a:endParaRPr lang="en-US" sz="1400" b="0" dirty="0">
              <a:solidFill>
                <a:srgbClr val="404040"/>
              </a:solidFill>
              <a:latin typeface="メイリオ"/>
              <a:ea typeface="メイリオ"/>
            </a:endParaRPr>
          </a:p>
          <a:p>
            <a:r>
              <a:rPr sz="1400" b="0" dirty="0">
                <a:solidFill>
                  <a:srgbClr val="404040"/>
                </a:solidFill>
                <a:latin typeface="メイリオ"/>
                <a:ea typeface="メイリオ"/>
              </a:rPr>
              <a:t>求めるのは4問の回答だけ。</a:t>
            </a:r>
          </a:p>
          <a:p>
            <a:r>
              <a:rPr sz="1400" b="0" dirty="0" err="1">
                <a:solidFill>
                  <a:srgbClr val="404040"/>
                </a:solidFill>
                <a:latin typeface="メイリオ"/>
                <a:ea typeface="メイリオ"/>
              </a:rPr>
              <a:t>回答はそのまま配信セグメントのタグになります</a:t>
            </a:r>
            <a:r>
              <a:rPr sz="1400" b="0" dirty="0">
                <a:solidFill>
                  <a:srgbClr val="404040"/>
                </a:solidFill>
                <a:latin typeface="メイリオ"/>
                <a:ea typeface="メイリオ"/>
              </a:rPr>
              <a:t>。</a:t>
            </a:r>
          </a:p>
        </p:txBody>
      </p:sp>
      <p:sp>
        <p:nvSpPr>
          <p:cNvPr id="24" name="TextBox 23"/>
          <p:cNvSpPr txBox="1"/>
          <p:nvPr/>
        </p:nvSpPr>
        <p:spPr>
          <a:xfrm>
            <a:off x="3407434" y="3800000"/>
            <a:ext cx="6092566" cy="769441"/>
          </a:xfrm>
          <a:prstGeom prst="rect">
            <a:avLst/>
          </a:prstGeom>
          <a:noFill/>
        </p:spPr>
        <p:txBody>
          <a:bodyPr wrap="square">
            <a:spAutoFit/>
          </a:bodyPr>
          <a:lstStyle/>
          <a:p>
            <a:r>
              <a:rPr sz="1600" b="1">
                <a:solidFill>
                  <a:srgbClr val="1F2A5C"/>
                </a:solidFill>
                <a:latin typeface="メイリオ"/>
                <a:ea typeface="メイリオ"/>
              </a:rPr>
              <a:t>③ 費用は「1回あたり」で見せる</a:t>
            </a:r>
          </a:p>
          <a:p>
            <a:r>
              <a:rPr sz="1400" b="0">
                <a:solidFill>
                  <a:srgbClr val="404040"/>
                </a:solidFill>
                <a:latin typeface="メイリオ"/>
                <a:ea typeface="メイリオ"/>
              </a:rPr>
              <a:t>月会費8,000円より「週2回なら1回1,000円」のほうが決裁が下ります。</a:t>
            </a:r>
          </a:p>
          <a:p>
            <a:r>
              <a:rPr sz="1400" b="0">
                <a:solidFill>
                  <a:srgbClr val="404040"/>
                </a:solidFill>
                <a:latin typeface="メイリオ"/>
                <a:ea typeface="メイリオ"/>
              </a:rPr>
              <a:t>診断結果の中で自然に提示します。</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85E8310-DC90-A44B-9003-2370FEC43AA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552C67E-68C8-EE20-8231-66ED97A5D6A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b="0" dirty="0" err="1">
                <a:solidFill>
                  <a:srgbClr val="333333"/>
                </a:solidFill>
                <a:latin typeface="メイリオ"/>
                <a:ea typeface="メイリオ"/>
              </a:rPr>
              <a:t>需要の波に合わせた企画配信で、体験予約のピークを創出する</a:t>
            </a:r>
            <a:r>
              <a:rPr b="0" dirty="0">
                <a:solidFill>
                  <a:srgbClr val="333333"/>
                </a:solidFill>
                <a:latin typeface="メイリオ"/>
                <a:ea typeface="メイリオ"/>
              </a:rPr>
              <a:t>。</a:t>
            </a:r>
            <a:endParaRPr lang="en-US" altLang="ja-JP" sz="20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C97A8190-9FEF-BB71-78C1-DBFA9F0F74FD}"/>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6B80B6E5-D118-D5F1-ECE6-715F8A11F93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配信設計｜企画配信（需要の波に合わせた企画）</a:t>
            </a:r>
            <a:endParaRPr sz="1600" b="1" dirty="0">
              <a:solidFill>
                <a:srgbClr val="002060"/>
              </a:solidFill>
              <a:latin typeface="メイリオ"/>
              <a:ea typeface="メイリオ"/>
              <a:cs typeface="Meiryo"/>
              <a:sym typeface="Meiryo"/>
            </a:endParaRPr>
          </a:p>
        </p:txBody>
      </p:sp>
      <p:sp>
        <p:nvSpPr>
          <p:cNvPr id="7" name="Rounded Rectangle 6"/>
          <p:cNvSpPr/>
          <p:nvPr/>
        </p:nvSpPr>
        <p:spPr>
          <a:xfrm>
            <a:off x="350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12月</a:t>
            </a:r>
          </a:p>
        </p:txBody>
      </p:sp>
      <p:sp>
        <p:nvSpPr>
          <p:cNvPr id="8" name="Rounded Rectangle 7"/>
          <p:cNvSpPr/>
          <p:nvPr/>
        </p:nvSpPr>
        <p:spPr>
          <a:xfrm>
            <a:off x="1116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1月</a:t>
            </a:r>
          </a:p>
        </p:txBody>
      </p:sp>
      <p:sp>
        <p:nvSpPr>
          <p:cNvPr id="9" name="Rounded Rectangle 8"/>
          <p:cNvSpPr/>
          <p:nvPr/>
        </p:nvSpPr>
        <p:spPr>
          <a:xfrm>
            <a:off x="1882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2月</a:t>
            </a:r>
          </a:p>
        </p:txBody>
      </p:sp>
      <p:sp>
        <p:nvSpPr>
          <p:cNvPr id="10" name="Rounded Rectangle 9"/>
          <p:cNvSpPr/>
          <p:nvPr/>
        </p:nvSpPr>
        <p:spPr>
          <a:xfrm>
            <a:off x="2648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3月</a:t>
            </a:r>
          </a:p>
        </p:txBody>
      </p:sp>
      <p:sp>
        <p:nvSpPr>
          <p:cNvPr id="11" name="Rounded Rectangle 10"/>
          <p:cNvSpPr/>
          <p:nvPr/>
        </p:nvSpPr>
        <p:spPr>
          <a:xfrm>
            <a:off x="3414000" y="1703409"/>
            <a:ext cx="752000" cy="471775"/>
          </a:xfrm>
          <a:prstGeom prst="round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4月</a:t>
            </a:r>
          </a:p>
        </p:txBody>
      </p:sp>
      <p:sp>
        <p:nvSpPr>
          <p:cNvPr id="12" name="Rounded Rectangle 11"/>
          <p:cNvSpPr/>
          <p:nvPr/>
        </p:nvSpPr>
        <p:spPr>
          <a:xfrm>
            <a:off x="4180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5月</a:t>
            </a:r>
          </a:p>
        </p:txBody>
      </p:sp>
      <p:sp>
        <p:nvSpPr>
          <p:cNvPr id="13" name="Rounded Rectangle 12"/>
          <p:cNvSpPr/>
          <p:nvPr/>
        </p:nvSpPr>
        <p:spPr>
          <a:xfrm>
            <a:off x="4946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6月</a:t>
            </a:r>
          </a:p>
        </p:txBody>
      </p:sp>
      <p:sp>
        <p:nvSpPr>
          <p:cNvPr id="14" name="Rounded Rectangle 13"/>
          <p:cNvSpPr/>
          <p:nvPr/>
        </p:nvSpPr>
        <p:spPr>
          <a:xfrm>
            <a:off x="5712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7月</a:t>
            </a:r>
          </a:p>
        </p:txBody>
      </p:sp>
      <p:sp>
        <p:nvSpPr>
          <p:cNvPr id="15" name="Rounded Rectangle 14"/>
          <p:cNvSpPr/>
          <p:nvPr/>
        </p:nvSpPr>
        <p:spPr>
          <a:xfrm>
            <a:off x="6478000" y="1703409"/>
            <a:ext cx="752000" cy="471775"/>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8月</a:t>
            </a:r>
          </a:p>
        </p:txBody>
      </p:sp>
      <p:sp>
        <p:nvSpPr>
          <p:cNvPr id="16" name="Rounded Rectangle 15"/>
          <p:cNvSpPr/>
          <p:nvPr/>
        </p:nvSpPr>
        <p:spPr>
          <a:xfrm>
            <a:off x="7244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9月</a:t>
            </a:r>
          </a:p>
        </p:txBody>
      </p:sp>
      <p:sp>
        <p:nvSpPr>
          <p:cNvPr id="17" name="Rounded Rectangle 16"/>
          <p:cNvSpPr/>
          <p:nvPr/>
        </p:nvSpPr>
        <p:spPr>
          <a:xfrm>
            <a:off x="8010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10月</a:t>
            </a:r>
          </a:p>
        </p:txBody>
      </p:sp>
      <p:sp>
        <p:nvSpPr>
          <p:cNvPr id="18" name="Rounded Rectangle 17"/>
          <p:cNvSpPr/>
          <p:nvPr/>
        </p:nvSpPr>
        <p:spPr>
          <a:xfrm>
            <a:off x="8776000" y="1703409"/>
            <a:ext cx="894210" cy="471775"/>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11月</a:t>
            </a:r>
          </a:p>
        </p:txBody>
      </p:sp>
      <p:sp>
        <p:nvSpPr>
          <p:cNvPr id="19" name="Rounded Rectangle 18"/>
          <p:cNvSpPr/>
          <p:nvPr/>
        </p:nvSpPr>
        <p:spPr>
          <a:xfrm>
            <a:off x="350000" y="2203409"/>
            <a:ext cx="3816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1F3A5F"/>
                </a:solidFill>
                <a:latin typeface="メイリオ"/>
                <a:ea typeface="メイリオ"/>
              </a:rPr>
              <a:t>1月　</a:t>
            </a:r>
            <a:r>
              <a:rPr sz="1200" b="1" dirty="0" err="1">
                <a:solidFill>
                  <a:srgbClr val="1F3A5F"/>
                </a:solidFill>
                <a:latin typeface="メイリオ"/>
                <a:ea typeface="メイリオ"/>
              </a:rPr>
              <a:t>最大ピーク（新年の決意</a:t>
            </a:r>
            <a:r>
              <a:rPr sz="1200" b="1" dirty="0">
                <a:solidFill>
                  <a:srgbClr val="1F3A5F"/>
                </a:solidFill>
                <a:latin typeface="メイリオ"/>
                <a:ea typeface="メイリオ"/>
              </a:rPr>
              <a:t>）</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年明けに検索が最も立つ／CPCも最高値</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入会金無料CP／体づくりタイプ診断</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・11〜12月に溜めた友だちへ一斉配信</a:t>
            </a:r>
          </a:p>
        </p:txBody>
      </p:sp>
      <p:sp>
        <p:nvSpPr>
          <p:cNvPr id="20" name="Rounded Rectangle 19"/>
          <p:cNvSpPr/>
          <p:nvPr/>
        </p:nvSpPr>
        <p:spPr>
          <a:xfrm>
            <a:off x="4180000" y="2203409"/>
            <a:ext cx="3050000"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06C755"/>
                </a:solidFill>
                <a:latin typeface="メイリオ"/>
                <a:ea typeface="メイリオ"/>
              </a:rPr>
              <a:t>4〜7月　</a:t>
            </a:r>
            <a:r>
              <a:rPr sz="1200" b="1" dirty="0" err="1">
                <a:solidFill>
                  <a:srgbClr val="06C755"/>
                </a:solidFill>
                <a:latin typeface="メイリオ"/>
                <a:ea typeface="メイリオ"/>
              </a:rPr>
              <a:t>新生活と薄着期</a:t>
            </a:r>
            <a:endParaRPr lang="en-US" sz="1200" b="1" dirty="0">
              <a:solidFill>
                <a:srgbClr val="06C755"/>
              </a:solidFill>
              <a:latin typeface="メイリオ"/>
              <a:ea typeface="メイリオ"/>
            </a:endParaRPr>
          </a:p>
          <a:p>
            <a:pPr algn="l"/>
            <a:endParaRPr sz="800" b="1" dirty="0">
              <a:solidFill>
                <a:srgbClr val="06C755"/>
              </a:solidFill>
              <a:latin typeface="メイリオ"/>
              <a:ea typeface="メイリオ"/>
            </a:endParaRPr>
          </a:p>
          <a:p>
            <a:pPr algn="l"/>
            <a:r>
              <a:rPr sz="1200" b="0" dirty="0">
                <a:solidFill>
                  <a:srgbClr val="333333"/>
                </a:solidFill>
                <a:latin typeface="メイリオ"/>
                <a:ea typeface="メイリオ"/>
              </a:rPr>
              <a:t>・4月＝転居・異動・新社会人</a:t>
            </a:r>
          </a:p>
          <a:p>
            <a:pPr algn="l"/>
            <a:r>
              <a:rPr sz="1200" b="0" dirty="0">
                <a:solidFill>
                  <a:srgbClr val="333333"/>
                </a:solidFill>
                <a:latin typeface="メイリオ"/>
                <a:ea typeface="メイリオ"/>
              </a:rPr>
              <a:t>・5〜7月＝ダイエット目的で確度が高い</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ビフォーアフター実例が最も効く</a:t>
            </a:r>
            <a:endParaRPr sz="1200" b="0" dirty="0">
              <a:solidFill>
                <a:srgbClr val="333333"/>
              </a:solidFill>
              <a:latin typeface="メイリオ"/>
              <a:ea typeface="メイリオ"/>
            </a:endParaRPr>
          </a:p>
        </p:txBody>
      </p:sp>
      <p:sp>
        <p:nvSpPr>
          <p:cNvPr id="21" name="Rounded Rectangle 20"/>
          <p:cNvSpPr/>
          <p:nvPr/>
        </p:nvSpPr>
        <p:spPr>
          <a:xfrm>
            <a:off x="7243999" y="2203409"/>
            <a:ext cx="2426211" cy="1643971"/>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t"/>
          <a:lstStyle/>
          <a:p>
            <a:pPr algn="l"/>
            <a:r>
              <a:rPr sz="1200" b="1" dirty="0">
                <a:solidFill>
                  <a:srgbClr val="24345A"/>
                </a:solidFill>
                <a:latin typeface="メイリオ"/>
                <a:ea typeface="メイリオ"/>
              </a:rPr>
              <a:t>8〜12月　</a:t>
            </a:r>
            <a:r>
              <a:rPr sz="1200" b="1" dirty="0" err="1">
                <a:solidFill>
                  <a:srgbClr val="24345A"/>
                </a:solidFill>
                <a:latin typeface="メイリオ"/>
                <a:ea typeface="メイリオ"/>
              </a:rPr>
              <a:t>閑散期＝仕込み期</a:t>
            </a:r>
            <a:endParaRPr lang="en-US" sz="1200" b="1" dirty="0">
              <a:solidFill>
                <a:srgbClr val="24345A"/>
              </a:solidFill>
              <a:latin typeface="メイリオ"/>
              <a:ea typeface="メイリオ"/>
            </a:endParaRPr>
          </a:p>
          <a:p>
            <a:pPr algn="l"/>
            <a:endParaRPr sz="800" b="1" dirty="0">
              <a:solidFill>
                <a:srgbClr val="24345A"/>
              </a:solidFill>
              <a:latin typeface="メイリオ"/>
              <a:ea typeface="メイリオ"/>
            </a:endParaRPr>
          </a:p>
          <a:p>
            <a:pPr algn="l"/>
            <a:r>
              <a:rPr sz="1200" b="0" dirty="0">
                <a:solidFill>
                  <a:srgbClr val="333333"/>
                </a:solidFill>
                <a:latin typeface="メイリオ"/>
                <a:ea typeface="メイリオ"/>
              </a:rPr>
              <a:t>・8月後半と11〜12月は需要が落ちる</a:t>
            </a:r>
          </a:p>
          <a:p>
            <a:pPr algn="l"/>
            <a:r>
              <a:rPr sz="1200" b="0" dirty="0">
                <a:solidFill>
                  <a:srgbClr val="333333"/>
                </a:solidFill>
                <a:latin typeface="メイリオ"/>
                <a:ea typeface="メイリオ"/>
              </a:rPr>
              <a:t>・</a:t>
            </a:r>
            <a:r>
              <a:rPr sz="1200" b="0" dirty="0" err="1">
                <a:solidFill>
                  <a:srgbClr val="333333"/>
                </a:solidFill>
                <a:latin typeface="メイリオ"/>
                <a:ea typeface="メイリオ"/>
              </a:rPr>
              <a:t>診断・料金シミュレーターで友だちを溜める</a:t>
            </a:r>
            <a:endParaRPr sz="1200" b="0" dirty="0">
              <a:solidFill>
                <a:srgbClr val="333333"/>
              </a:solidFill>
              <a:latin typeface="メイリオ"/>
              <a:ea typeface="メイリオ"/>
            </a:endParaRPr>
          </a:p>
          <a:p>
            <a:pPr algn="l"/>
            <a:r>
              <a:rPr sz="1200" b="0" dirty="0">
                <a:solidFill>
                  <a:srgbClr val="333333"/>
                </a:solidFill>
                <a:latin typeface="メイリオ"/>
                <a:ea typeface="メイリオ"/>
              </a:rPr>
              <a:t>・1月に広告費ゼロで届く相手を作る</a:t>
            </a:r>
          </a:p>
        </p:txBody>
      </p:sp>
      <p:sp>
        <p:nvSpPr>
          <p:cNvPr id="22" name="TextBox 21"/>
          <p:cNvSpPr txBox="1"/>
          <p:nvPr/>
        </p:nvSpPr>
        <p:spPr>
          <a:xfrm>
            <a:off x="350000" y="6282000"/>
            <a:ext cx="9200000" cy="216000"/>
          </a:xfrm>
          <a:prstGeom prst="rect">
            <a:avLst/>
          </a:prstGeom>
          <a:noFill/>
        </p:spPr>
        <p:txBody>
          <a:bodyPr wrap="square">
            <a:spAutoFit/>
          </a:bodyPr>
          <a:lstStyle/>
          <a:p>
            <a:r>
              <a:rPr sz="900">
                <a:solidFill>
                  <a:srgbClr val="555555"/>
                </a:solidFill>
                <a:latin typeface="メイリオ"/>
                <a:ea typeface="メイリオ"/>
              </a:rPr>
              <a:t>※ 季節区分はGoogleトレンド（日本・過去5年・2026/8/17取得）で確認済み：毎年1月に山、10〜12月に谷。</a:t>
            </a:r>
          </a:p>
        </p:txBody>
      </p:sp>
      <p:sp>
        <p:nvSpPr>
          <p:cNvPr id="23" name="TextBox 22"/>
          <p:cNvSpPr txBox="1"/>
          <p:nvPr/>
        </p:nvSpPr>
        <p:spPr>
          <a:xfrm>
            <a:off x="330857" y="4213488"/>
            <a:ext cx="6000000" cy="338554"/>
          </a:xfrm>
          <a:prstGeom prst="rect">
            <a:avLst/>
          </a:prstGeom>
          <a:noFill/>
        </p:spPr>
        <p:txBody>
          <a:bodyPr wrap="square">
            <a:spAutoFit/>
          </a:bodyPr>
          <a:lstStyle/>
          <a:p>
            <a:r>
              <a:rPr sz="1600" b="1">
                <a:solidFill>
                  <a:srgbClr val="1F3A5F"/>
                </a:solidFill>
                <a:latin typeface="メイリオ"/>
                <a:ea typeface="メイリオ"/>
              </a:rPr>
              <a:t>配信運用のリズム（システム化：いつ・何を投稿するか）</a:t>
            </a:r>
          </a:p>
        </p:txBody>
      </p:sp>
      <p:sp>
        <p:nvSpPr>
          <p:cNvPr id="24" name="Rounded Rectangle 23"/>
          <p:cNvSpPr/>
          <p:nvPr/>
        </p:nvSpPr>
        <p:spPr>
          <a:xfrm>
            <a:off x="33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lang="ja-JP" altLang="en-US" sz="1200" b="1" dirty="0">
                <a:solidFill>
                  <a:srgbClr val="1F3A5F"/>
                </a:solidFill>
                <a:latin typeface="メイリオ"/>
                <a:ea typeface="メイリオ"/>
              </a:rPr>
              <a:t>月</a:t>
            </a:r>
            <a:r>
              <a:rPr lang="en-US" altLang="ja-JP" sz="1200" b="1" dirty="0">
                <a:solidFill>
                  <a:srgbClr val="1F3A5F"/>
                </a:solidFill>
                <a:latin typeface="メイリオ"/>
                <a:ea typeface="メイリオ"/>
              </a:rPr>
              <a:t>4</a:t>
            </a:r>
            <a:r>
              <a:rPr sz="1200" b="1" dirty="0">
                <a:solidFill>
                  <a:srgbClr val="1F3A5F"/>
                </a:solidFill>
                <a:latin typeface="メイリオ"/>
                <a:ea typeface="メイリオ"/>
              </a:rPr>
              <a:t>回：定期投稿</a:t>
            </a: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月次プランで「いつ・何を」を事前確定</a:t>
            </a:r>
            <a:endParaRPr lang="en-US" sz="1100" b="0" dirty="0">
              <a:solidFill>
                <a:srgbClr val="333333"/>
              </a:solidFill>
              <a:latin typeface="メイリオ"/>
              <a:ea typeface="メイリオ"/>
            </a:endParaRPr>
          </a:p>
          <a:p>
            <a:pPr algn="l"/>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システム化して運用</a:t>
            </a:r>
            <a:endParaRPr sz="1100" b="0" dirty="0">
              <a:solidFill>
                <a:srgbClr val="333333"/>
              </a:solidFill>
              <a:latin typeface="メイリオ"/>
              <a:ea typeface="メイリオ"/>
            </a:endParaRPr>
          </a:p>
        </p:txBody>
      </p:sp>
      <p:sp>
        <p:nvSpPr>
          <p:cNvPr id="25" name="Rounded Rectangle 24"/>
          <p:cNvSpPr/>
          <p:nvPr/>
        </p:nvSpPr>
        <p:spPr>
          <a:xfrm>
            <a:off x="266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時期・時事の特別配信</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繁忙期CP、相場や時事ニュースに連動した配信を追加</a:t>
            </a:r>
            <a:endParaRPr sz="1100" b="0" dirty="0">
              <a:solidFill>
                <a:srgbClr val="333333"/>
              </a:solidFill>
              <a:latin typeface="メイリオ"/>
              <a:ea typeface="メイリオ"/>
            </a:endParaRPr>
          </a:p>
        </p:txBody>
      </p:sp>
      <p:sp>
        <p:nvSpPr>
          <p:cNvPr id="26" name="Rounded Rectangle 25"/>
          <p:cNvSpPr/>
          <p:nvPr/>
        </p:nvSpPr>
        <p:spPr>
          <a:xfrm>
            <a:off x="499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ステップ配信は全自動</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友だち追加後の育成配信はシナリオで常時稼働</a:t>
            </a:r>
            <a:endParaRPr sz="1100" b="0" dirty="0">
              <a:solidFill>
                <a:srgbClr val="333333"/>
              </a:solidFill>
              <a:latin typeface="メイリオ"/>
              <a:ea typeface="メイリオ"/>
            </a:endParaRPr>
          </a:p>
        </p:txBody>
      </p:sp>
      <p:sp>
        <p:nvSpPr>
          <p:cNvPr id="27" name="Rounded Rectangle 26"/>
          <p:cNvSpPr/>
          <p:nvPr/>
        </p:nvSpPr>
        <p:spPr>
          <a:xfrm>
            <a:off x="7320857" y="4583488"/>
            <a:ext cx="2220000" cy="14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80000" tIns="45000" rIns="70000" bIns="30000" rtlCol="0" anchor="t"/>
          <a:lstStyle/>
          <a:p>
            <a:pPr algn="l"/>
            <a:r>
              <a:rPr sz="1200" b="1" dirty="0" err="1">
                <a:solidFill>
                  <a:srgbClr val="1F3A5F"/>
                </a:solidFill>
                <a:latin typeface="メイリオ"/>
                <a:ea typeface="メイリオ"/>
              </a:rPr>
              <a:t>クリエイティブABテスト</a:t>
            </a:r>
            <a:endParaRPr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100" b="0" dirty="0" err="1">
                <a:solidFill>
                  <a:srgbClr val="333333"/>
                </a:solidFill>
                <a:latin typeface="メイリオ"/>
                <a:ea typeface="メイリオ"/>
              </a:rPr>
              <a:t>訴求×時期×ターゲットでテストし、勝ちパターンを更新</a:t>
            </a:r>
            <a:endParaRPr sz="1100" b="0" dirty="0">
              <a:solidFill>
                <a:srgbClr val="333333"/>
              </a:solidFill>
              <a:latin typeface="メイリオ"/>
              <a:ea typeface="メイリオ"/>
            </a:endParaRPr>
          </a:p>
        </p:txBody>
      </p:sp>
    </p:spTree>
    <p:extLst>
      <p:ext uri="{BB962C8B-B14F-4D97-AF65-F5344CB8AC3E}">
        <p14:creationId xmlns:p14="http://schemas.microsoft.com/office/powerpoint/2010/main" val="32250749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B22B17A-8DFC-D6EF-0B99-02AD1AC617B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4ACD29B-215D-B1BC-4164-FF8A5CD20694}"/>
              </a:ext>
            </a:extLst>
          </p:cNvPr>
          <p:cNvSpPr/>
          <p:nvPr/>
        </p:nvSpPr>
        <p:spPr>
          <a:xfrm>
            <a:off x="349201" y="692184"/>
            <a:ext cx="9340800"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0" dirty="0" err="1">
                <a:solidFill>
                  <a:srgbClr val="333333"/>
                </a:solidFill>
                <a:latin typeface="メイリオ"/>
                <a:ea typeface="メイリオ"/>
              </a:rPr>
              <a:t>非友だち・保有リストにも接点を作り（通知メッセ</a:t>
            </a:r>
            <a:r>
              <a:rPr sz="1600" b="0" dirty="0">
                <a:solidFill>
                  <a:srgbClr val="333333"/>
                </a:solidFill>
                <a:latin typeface="メイリオ"/>
                <a:ea typeface="メイリオ"/>
              </a:rPr>
              <a:t>）、</a:t>
            </a:r>
            <a:r>
              <a:rPr sz="1600" b="0" dirty="0" err="1">
                <a:solidFill>
                  <a:srgbClr val="333333"/>
                </a:solidFill>
                <a:latin typeface="メイリオ"/>
                <a:ea typeface="メイリオ"/>
              </a:rPr>
              <a:t>参加型の企画で友だちとCVを両取りする</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ABD89CB-4100-C32C-CF98-1D09990839B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Google Shape;156;p7">
            <a:extLst>
              <a:ext uri="{FF2B5EF4-FFF2-40B4-BE49-F238E27FC236}">
                <a16:creationId xmlns:a16="http://schemas.microsoft.com/office/drawing/2014/main" id="{AAEDAADE-3623-8067-9891-A654C6EBFD24}"/>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配信設計｜通知メッセージと参加型の企画</a:t>
            </a:r>
            <a:endParaRPr sz="1600" b="1" dirty="0">
              <a:solidFill>
                <a:srgbClr val="002060"/>
              </a:solidFill>
              <a:latin typeface="メイリオ"/>
              <a:ea typeface="メイリオ"/>
              <a:cs typeface="Meiryo"/>
              <a:sym typeface="Meiryo"/>
            </a:endParaRPr>
          </a:p>
        </p:txBody>
      </p:sp>
      <p:sp>
        <p:nvSpPr>
          <p:cNvPr id="7" name="TextBox 6"/>
          <p:cNvSpPr txBox="1"/>
          <p:nvPr/>
        </p:nvSpPr>
        <p:spPr>
          <a:xfrm>
            <a:off x="363000" y="1518334"/>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sz="1400" b="1" dirty="0" err="1">
                <a:solidFill>
                  <a:srgbClr val="1F3A5F"/>
                </a:solidFill>
                <a:latin typeface="メイリオ"/>
                <a:ea typeface="メイリオ"/>
              </a:rPr>
              <a:t>通知メッセージ</a:t>
            </a:r>
            <a:r>
              <a:rPr sz="1400" b="1" dirty="0">
                <a:solidFill>
                  <a:srgbClr val="1F3A5F"/>
                </a:solidFill>
                <a:latin typeface="メイリオ"/>
                <a:ea typeface="メイリオ"/>
              </a:rPr>
              <a:t> </a:t>
            </a:r>
            <a:r>
              <a:rPr sz="1400" b="1" dirty="0" err="1">
                <a:solidFill>
                  <a:srgbClr val="1F3A5F"/>
                </a:solidFill>
                <a:latin typeface="メイリオ"/>
                <a:ea typeface="メイリオ"/>
              </a:rPr>
              <a:t>利用シーン</a:t>
            </a:r>
            <a:endParaRPr sz="1400" b="1" dirty="0">
              <a:solidFill>
                <a:srgbClr val="1F3A5F"/>
              </a:solidFill>
              <a:latin typeface="メイリオ"/>
              <a:ea typeface="メイリオ"/>
            </a:endParaRPr>
          </a:p>
        </p:txBody>
      </p:sp>
      <p:sp>
        <p:nvSpPr>
          <p:cNvPr id="8" name="Rounded Rectangle 7"/>
          <p:cNvSpPr/>
          <p:nvPr/>
        </p:nvSpPr>
        <p:spPr>
          <a:xfrm>
            <a:off x="36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体験予約確定のお知らせ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持ち物・アクセス案内</a:t>
            </a:r>
            <a:endParaRPr lang="en-US" sz="1000" b="0" dirty="0">
              <a:solidFill>
                <a:srgbClr val="333333"/>
              </a:solidFill>
              <a:latin typeface="メイリオ"/>
              <a:ea typeface="メイリオ"/>
            </a:endParaRPr>
          </a:p>
          <a:p>
            <a:pPr algn="ctr"/>
            <a:r>
              <a:rPr sz="1000" b="0" dirty="0">
                <a:solidFill>
                  <a:srgbClr val="333333"/>
                </a:solidFill>
                <a:latin typeface="メイリオ"/>
                <a:ea typeface="メイリオ"/>
              </a:rPr>
              <a:t>→</a:t>
            </a:r>
            <a:r>
              <a:rPr sz="1000" b="0" dirty="0" err="1">
                <a:solidFill>
                  <a:srgbClr val="333333"/>
                </a:solidFill>
                <a:latin typeface="メイリオ"/>
                <a:ea typeface="メイリオ"/>
              </a:rPr>
              <a:t>来店</a:t>
            </a:r>
            <a:r>
              <a:rPr sz="1000" b="0" dirty="0">
                <a:solidFill>
                  <a:srgbClr val="333333"/>
                </a:solidFill>
                <a:latin typeface="メイリオ"/>
                <a:ea typeface="メイリオ"/>
              </a:rPr>
              <a:t>(CV②)へ</a:t>
            </a:r>
          </a:p>
        </p:txBody>
      </p:sp>
      <p:sp>
        <p:nvSpPr>
          <p:cNvPr id="9" name="Rounded Rectangle 8"/>
          <p:cNvSpPr/>
          <p:nvPr/>
        </p:nvSpPr>
        <p:spPr>
          <a:xfrm>
            <a:off x="274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dirty="0" err="1">
                <a:solidFill>
                  <a:srgbClr val="1F3A5F"/>
                </a:solidFill>
                <a:latin typeface="メイリオ"/>
                <a:ea typeface="メイリオ"/>
              </a:rPr>
              <a:t>入会手続き完了のお知らせ</a:t>
            </a:r>
            <a:endParaRPr sz="1100" b="1" dirty="0">
              <a:solidFill>
                <a:srgbClr val="1F3A5F"/>
              </a:solidFill>
              <a:latin typeface="メイリオ"/>
              <a:ea typeface="メイリオ"/>
            </a:endParaRPr>
          </a:p>
          <a:p>
            <a:pPr algn="ctr"/>
            <a:endParaRPr sz="1100" b="1" dirty="0">
              <a:solidFill>
                <a:srgbClr val="1F3A5F"/>
              </a:solidFill>
              <a:latin typeface="メイリオ"/>
              <a:ea typeface="メイリオ"/>
            </a:endParaRPr>
          </a:p>
          <a:p>
            <a:pPr algn="ctr"/>
            <a:r>
              <a:rPr sz="1000" b="0" dirty="0" err="1">
                <a:solidFill>
                  <a:srgbClr val="333333"/>
                </a:solidFill>
                <a:latin typeface="メイリオ"/>
                <a:ea typeface="メイリオ"/>
              </a:rPr>
              <a:t>初回来店の予約→継続</a:t>
            </a:r>
            <a:r>
              <a:rPr sz="1000" b="0" dirty="0">
                <a:solidFill>
                  <a:srgbClr val="333333"/>
                </a:solidFill>
                <a:latin typeface="メイリオ"/>
                <a:ea typeface="メイリオ"/>
              </a:rPr>
              <a:t>(CV③)へ</a:t>
            </a:r>
          </a:p>
        </p:txBody>
      </p:sp>
      <p:sp>
        <p:nvSpPr>
          <p:cNvPr id="10" name="Rounded Rectangle 9"/>
          <p:cNvSpPr/>
          <p:nvPr/>
        </p:nvSpPr>
        <p:spPr>
          <a:xfrm>
            <a:off x="512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体験前日リマインド</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当日キャンセル防止</a:t>
            </a:r>
          </a:p>
        </p:txBody>
      </p:sp>
      <p:sp>
        <p:nvSpPr>
          <p:cNvPr id="11" name="Rounded Rectangle 10"/>
          <p:cNvSpPr/>
          <p:nvPr/>
        </p:nvSpPr>
        <p:spPr>
          <a:xfrm>
            <a:off x="7503000" y="1868334"/>
            <a:ext cx="2200000" cy="1000000"/>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100" b="1">
                <a:solidFill>
                  <a:srgbClr val="1F3A5F"/>
                </a:solidFill>
                <a:latin typeface="メイリオ"/>
                <a:ea typeface="メイリオ"/>
              </a:rPr>
              <a:t>入会キャンペーン告知</a:t>
            </a:r>
          </a:p>
          <a:p>
            <a:pPr algn="ctr"/>
            <a:endParaRPr sz="1100" b="1">
              <a:solidFill>
                <a:srgbClr val="1F3A5F"/>
              </a:solidFill>
              <a:latin typeface="メイリオ"/>
              <a:ea typeface="メイリオ"/>
            </a:endParaRPr>
          </a:p>
          <a:p>
            <a:pPr algn="ctr"/>
            <a:r>
              <a:rPr sz="1000" b="0">
                <a:solidFill>
                  <a:srgbClr val="333333"/>
                </a:solidFill>
                <a:latin typeface="メイリオ"/>
                <a:ea typeface="メイリオ"/>
              </a:rPr>
              <a:t>保有リストへ再アプローチ</a:t>
            </a:r>
          </a:p>
        </p:txBody>
      </p:sp>
      <p:sp>
        <p:nvSpPr>
          <p:cNvPr id="12" name="TextBox 11"/>
          <p:cNvSpPr txBox="1"/>
          <p:nvPr/>
        </p:nvSpPr>
        <p:spPr>
          <a:xfrm>
            <a:off x="350001" y="3089667"/>
            <a:ext cx="4400000" cy="307777"/>
          </a:xfrm>
          <a:prstGeom prst="rect">
            <a:avLst/>
          </a:prstGeom>
          <a:noFill/>
        </p:spPr>
        <p:txBody>
          <a:bodyPr wrap="square">
            <a:spAutoFit/>
          </a:bodyPr>
          <a:lstStyle/>
          <a:p>
            <a:pPr algn="l"/>
            <a:r>
              <a:rPr sz="1400" b="1" dirty="0">
                <a:solidFill>
                  <a:srgbClr val="1F3A5F"/>
                </a:solidFill>
                <a:latin typeface="メイリオ"/>
                <a:ea typeface="メイリオ"/>
              </a:rPr>
              <a:t>■ </a:t>
            </a:r>
            <a:r>
              <a:rPr lang="ja-JP" altLang="en-US" sz="1400" b="1" dirty="0">
                <a:solidFill>
                  <a:srgbClr val="1F3A5F"/>
                </a:solidFill>
                <a:latin typeface="メイリオ"/>
                <a:ea typeface="メイリオ"/>
              </a:rPr>
              <a:t>その他特殊動線の利用シーン</a:t>
            </a:r>
            <a:endParaRPr sz="1400" b="1" dirty="0">
              <a:solidFill>
                <a:srgbClr val="1F3A5F"/>
              </a:solidFill>
              <a:latin typeface="メイリオ"/>
              <a:ea typeface="メイリオ"/>
            </a:endParaRPr>
          </a:p>
        </p:txBody>
      </p:sp>
      <p:sp>
        <p:nvSpPr>
          <p:cNvPr id="13" name="Rounded Rectangle 12"/>
          <p:cNvSpPr/>
          <p:nvPr/>
        </p:nvSpPr>
        <p:spPr>
          <a:xfrm>
            <a:off x="35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① 30秒でわかる体づくりタイプ診断</a:t>
            </a:r>
          </a:p>
          <a:p>
            <a:pPr algn="ctr"/>
            <a:endParaRPr sz="1050" b="1" dirty="0">
              <a:solidFill>
                <a:srgbClr val="FFFFFF"/>
              </a:solidFill>
              <a:latin typeface="メイリオ"/>
              <a:ea typeface="メイリオ"/>
            </a:endParaRPr>
          </a:p>
          <a:p>
            <a:pPr algn="ctr"/>
            <a:r>
              <a:rPr sz="1000" b="0" dirty="0" err="1">
                <a:solidFill>
                  <a:srgbClr val="FFFFFF"/>
                </a:solidFill>
                <a:latin typeface="メイリオ"/>
                <a:ea typeface="メイリオ"/>
              </a:rPr>
              <a:t>数タップで完了</a:t>
            </a:r>
            <a:r>
              <a:rPr sz="1000" b="0" dirty="0">
                <a:solidFill>
                  <a:srgbClr val="FFFFFF"/>
                </a:solidFill>
                <a:latin typeface="メイリオ"/>
                <a:ea typeface="メイリオ"/>
              </a:rPr>
              <a:t>。</a:t>
            </a:r>
            <a:endParaRPr lang="en-US" sz="1000" b="0" dirty="0">
              <a:solidFill>
                <a:srgbClr val="FFFFFF"/>
              </a:solidFill>
              <a:latin typeface="メイリオ"/>
              <a:ea typeface="メイリオ"/>
            </a:endParaRPr>
          </a:p>
          <a:p>
            <a:pPr algn="ctr"/>
            <a:r>
              <a:rPr sz="1000" b="0" dirty="0" err="1">
                <a:solidFill>
                  <a:srgbClr val="FFFFFF"/>
                </a:solidFill>
                <a:latin typeface="メイリオ"/>
                <a:ea typeface="メイリオ"/>
              </a:rPr>
              <a:t>体験前の心理ハードルを最小化</a:t>
            </a:r>
            <a:endParaRPr sz="1000" b="0" dirty="0">
              <a:solidFill>
                <a:srgbClr val="FFFFFF"/>
              </a:solidFill>
              <a:latin typeface="メイリオ"/>
              <a:ea typeface="メイリオ"/>
            </a:endParaRPr>
          </a:p>
        </p:txBody>
      </p:sp>
      <p:sp>
        <p:nvSpPr>
          <p:cNvPr id="14" name="Rounded Rectangle 13"/>
          <p:cNvSpPr/>
          <p:nvPr/>
        </p:nvSpPr>
        <p:spPr>
          <a:xfrm>
            <a:off x="273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dirty="0">
                <a:solidFill>
                  <a:srgbClr val="FFFFFF"/>
                </a:solidFill>
                <a:latin typeface="メイリオ"/>
                <a:ea typeface="メイリオ"/>
              </a:rPr>
              <a:t>② </a:t>
            </a:r>
            <a:r>
              <a:rPr sz="1050" b="1" dirty="0" err="1">
                <a:solidFill>
                  <a:srgbClr val="FFFFFF"/>
                </a:solidFill>
                <a:latin typeface="メイリオ"/>
                <a:ea typeface="メイリオ"/>
              </a:rPr>
              <a:t>通う頻度から選ぶ料金診断</a:t>
            </a:r>
            <a:endParaRPr sz="1050" b="1" dirty="0">
              <a:solidFill>
                <a:srgbClr val="FFFFFF"/>
              </a:solidFill>
              <a:latin typeface="メイリオ"/>
              <a:ea typeface="メイリオ"/>
            </a:endParaRPr>
          </a:p>
          <a:p>
            <a:pPr algn="ctr"/>
            <a:endParaRPr sz="1050" b="1" dirty="0">
              <a:solidFill>
                <a:srgbClr val="FFFFFF"/>
              </a:solidFill>
              <a:latin typeface="メイリオ"/>
              <a:ea typeface="メイリオ"/>
            </a:endParaRPr>
          </a:p>
          <a:p>
            <a:pPr algn="ctr"/>
            <a:r>
              <a:rPr sz="1000" b="0" dirty="0">
                <a:solidFill>
                  <a:srgbClr val="FFFFFF"/>
                </a:solidFill>
                <a:latin typeface="メイリオ"/>
                <a:ea typeface="メイリオ"/>
              </a:rPr>
              <a:t>「週2回なら1回◯円」を提示</a:t>
            </a:r>
            <a:endParaRPr lang="en-US" sz="1000" b="0" dirty="0">
              <a:solidFill>
                <a:srgbClr val="FFFFFF"/>
              </a:solidFill>
              <a:latin typeface="メイリオ"/>
              <a:ea typeface="メイリオ"/>
            </a:endParaRPr>
          </a:p>
          <a:p>
            <a:pPr algn="ctr"/>
            <a:r>
              <a:rPr sz="1000" b="0" dirty="0">
                <a:solidFill>
                  <a:srgbClr val="FFFFFF"/>
                </a:solidFill>
                <a:latin typeface="メイリオ"/>
                <a:ea typeface="メイリオ"/>
              </a:rPr>
              <a:t>→</a:t>
            </a:r>
            <a:r>
              <a:rPr sz="1000" b="0" dirty="0" err="1">
                <a:solidFill>
                  <a:srgbClr val="FFFFFF"/>
                </a:solidFill>
                <a:latin typeface="メイリオ"/>
                <a:ea typeface="メイリオ"/>
              </a:rPr>
              <a:t>体験予約へ</a:t>
            </a:r>
            <a:endParaRPr sz="1000" b="0" dirty="0">
              <a:solidFill>
                <a:srgbClr val="FFFFFF"/>
              </a:solidFill>
              <a:latin typeface="メイリオ"/>
              <a:ea typeface="メイリオ"/>
            </a:endParaRPr>
          </a:p>
        </p:txBody>
      </p:sp>
      <p:sp>
        <p:nvSpPr>
          <p:cNvPr id="15" name="Rounded Rectangle 14"/>
          <p:cNvSpPr/>
          <p:nvPr/>
        </p:nvSpPr>
        <p:spPr>
          <a:xfrm>
            <a:off x="511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③ 続けられるかタイプ診断</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「続かない」不安に直撃＋友だち獲得</a:t>
            </a:r>
          </a:p>
        </p:txBody>
      </p:sp>
      <p:sp>
        <p:nvSpPr>
          <p:cNvPr id="16" name="Rounded Rectangle 15"/>
          <p:cNvSpPr/>
          <p:nvPr/>
        </p:nvSpPr>
        <p:spPr>
          <a:xfrm>
            <a:off x="7490001" y="3439667"/>
            <a:ext cx="2200000" cy="1100000"/>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55000" tIns="18000" rIns="55000" bIns="18000" rtlCol="0" anchor="ctr"/>
          <a:lstStyle/>
          <a:p>
            <a:pPr algn="ctr"/>
            <a:r>
              <a:rPr sz="1050" b="1">
                <a:solidFill>
                  <a:srgbClr val="FFFFFF"/>
                </a:solidFill>
                <a:latin typeface="メイリオ"/>
                <a:ea typeface="メイリオ"/>
              </a:rPr>
              <a:t>④ 退会予兆検知（来店が2週間途切れ）</a:t>
            </a:r>
          </a:p>
          <a:p>
            <a:pPr algn="ctr"/>
            <a:endParaRPr sz="1050" b="1">
              <a:solidFill>
                <a:srgbClr val="FFFFFF"/>
              </a:solidFill>
              <a:latin typeface="メイリオ"/>
              <a:ea typeface="メイリオ"/>
            </a:endParaRPr>
          </a:p>
          <a:p>
            <a:pPr algn="ctr"/>
            <a:r>
              <a:rPr sz="1000" b="0">
                <a:solidFill>
                  <a:srgbClr val="FFFFFF"/>
                </a:solidFill>
                <a:latin typeface="メイリオ"/>
                <a:ea typeface="メイリオ"/>
              </a:rPr>
              <a:t>幽霊会員化を、退会される前に止める</a:t>
            </a:r>
          </a:p>
        </p:txBody>
      </p:sp>
      <p:sp>
        <p:nvSpPr>
          <p:cNvPr id="17" name="TextBox 16"/>
          <p:cNvSpPr txBox="1"/>
          <p:nvPr/>
        </p:nvSpPr>
        <p:spPr>
          <a:xfrm>
            <a:off x="349200" y="4824000"/>
            <a:ext cx="5040000" cy="237255"/>
          </a:xfrm>
          <a:prstGeom prst="rect">
            <a:avLst/>
          </a:prstGeom>
          <a:noFill/>
        </p:spPr>
        <p:txBody>
          <a:bodyPr wrap="square" lIns="28800" tIns="10800" rIns="28800" bIns="10800">
            <a:spAutoFit/>
          </a:bodyPr>
          <a:lstStyle/>
          <a:p>
            <a:r>
              <a:rPr sz="1400" b="1">
                <a:solidFill>
                  <a:srgbClr val="1F2A5C"/>
                </a:solidFill>
                <a:latin typeface="メイリオ"/>
                <a:ea typeface="メイリオ"/>
              </a:rPr>
              <a:t>■ 通知メッセージの仕組み（非友だちにも届く公式機能）</a:t>
            </a:r>
          </a:p>
        </p:txBody>
      </p:sp>
      <p:sp>
        <p:nvSpPr>
          <p:cNvPr id="18" name="Rounded Rectangle 17"/>
          <p:cNvSpPr/>
          <p:nvPr/>
        </p:nvSpPr>
        <p:spPr>
          <a:xfrm>
            <a:off x="3492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保有リストの電話番号</a:t>
            </a:r>
            <a:endParaRPr sz="1400" b="1" dirty="0">
              <a:solidFill>
                <a:srgbClr val="1F2A5C"/>
              </a:solidFill>
              <a:latin typeface="メイリオ"/>
            </a:endParaRPr>
          </a:p>
          <a:p>
            <a:pPr algn="ctr"/>
            <a:r>
              <a:rPr sz="1100" b="0" dirty="0" err="1">
                <a:solidFill>
                  <a:srgbClr val="1C2233"/>
                </a:solidFill>
                <a:latin typeface="メイリオ"/>
                <a:ea typeface="メイリオ"/>
              </a:rPr>
              <a:t>過去の体験申込・休眠会員リストを利用</a:t>
            </a:r>
            <a:endParaRPr sz="1100" b="0" dirty="0">
              <a:solidFill>
                <a:srgbClr val="1C2233"/>
              </a:solidFill>
              <a:latin typeface="メイリオ"/>
            </a:endParaRPr>
          </a:p>
        </p:txBody>
      </p:sp>
      <p:sp>
        <p:nvSpPr>
          <p:cNvPr id="19" name="TextBox 18"/>
          <p:cNvSpPr txBox="1"/>
          <p:nvPr/>
        </p:nvSpPr>
        <p:spPr>
          <a:xfrm>
            <a:off x="31140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0" name="Rounded Rectangle 19"/>
          <p:cNvSpPr/>
          <p:nvPr/>
        </p:nvSpPr>
        <p:spPr>
          <a:xfrm>
            <a:off x="34524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LINEの電話番号と照合</a:t>
            </a:r>
            <a:endParaRPr sz="1400" b="1" dirty="0">
              <a:solidFill>
                <a:srgbClr val="1F2A5C"/>
              </a:solidFill>
              <a:latin typeface="メイリオ"/>
            </a:endParaRPr>
          </a:p>
          <a:p>
            <a:pPr algn="ctr"/>
            <a:r>
              <a:rPr sz="1100" b="0" dirty="0" err="1">
                <a:solidFill>
                  <a:srgbClr val="1C2233"/>
                </a:solidFill>
                <a:latin typeface="メイリオ"/>
                <a:ea typeface="メイリオ"/>
              </a:rPr>
              <a:t>LINEヤフー公式機能</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友だち登録が無くても対象化</a:t>
            </a:r>
            <a:endParaRPr sz="1100" b="0" dirty="0">
              <a:solidFill>
                <a:srgbClr val="1C2233"/>
              </a:solidFill>
              <a:latin typeface="メイリオ"/>
            </a:endParaRPr>
          </a:p>
        </p:txBody>
      </p:sp>
      <p:sp>
        <p:nvSpPr>
          <p:cNvPr id="21" name="TextBox 20"/>
          <p:cNvSpPr txBox="1"/>
          <p:nvPr/>
        </p:nvSpPr>
        <p:spPr>
          <a:xfrm>
            <a:off x="6217200" y="5364000"/>
            <a:ext cx="324000" cy="391143"/>
          </a:xfrm>
          <a:prstGeom prst="rect">
            <a:avLst/>
          </a:prstGeom>
          <a:noFill/>
        </p:spPr>
        <p:txBody>
          <a:bodyPr wrap="square" lIns="28800" tIns="10800" rIns="28800" bIns="10800">
            <a:spAutoFit/>
          </a:bodyPr>
          <a:lstStyle/>
          <a:p>
            <a:pPr algn="ctr"/>
            <a:r>
              <a:rPr sz="2400" b="1">
                <a:solidFill>
                  <a:srgbClr val="1F2A5C"/>
                </a:solidFill>
                <a:latin typeface="メイリオ"/>
                <a:ea typeface="メイリオ"/>
              </a:rPr>
              <a:t>▶</a:t>
            </a:r>
          </a:p>
        </p:txBody>
      </p:sp>
      <p:sp>
        <p:nvSpPr>
          <p:cNvPr id="22" name="Rounded Rectangle 21"/>
          <p:cNvSpPr/>
          <p:nvPr/>
        </p:nvSpPr>
        <p:spPr>
          <a:xfrm>
            <a:off x="6555600" y="5148000"/>
            <a:ext cx="2736000" cy="792000"/>
          </a:xfrm>
          <a:prstGeom prst="roundRect">
            <a:avLst/>
          </a:prstGeom>
          <a:solidFill>
            <a:srgbClr val="E8ECF4"/>
          </a:solidFill>
          <a:ln w="12700">
            <a:solidFill>
              <a:srgbClr val="1F2A5C"/>
            </a:solidFill>
          </a:ln>
        </p:spPr>
        <p:style>
          <a:lnRef idx="1">
            <a:schemeClr val="accent1"/>
          </a:lnRef>
          <a:fillRef idx="3">
            <a:schemeClr val="accent1"/>
          </a:fillRef>
          <a:effectRef idx="2">
            <a:schemeClr val="accent1"/>
          </a:effectRef>
          <a:fontRef idx="minor">
            <a:schemeClr val="lt1"/>
          </a:fontRef>
        </p:style>
        <p:txBody>
          <a:bodyPr wrap="square" lIns="54000" rIns="54000" rtlCol="0" anchor="ctr"/>
          <a:lstStyle/>
          <a:p>
            <a:pPr algn="ctr"/>
            <a:r>
              <a:rPr sz="1400" b="1" dirty="0" err="1">
                <a:solidFill>
                  <a:srgbClr val="1F2A5C"/>
                </a:solidFill>
                <a:latin typeface="メイリオ"/>
                <a:ea typeface="メイリオ"/>
              </a:rPr>
              <a:t>LINE上に直接配信</a:t>
            </a:r>
            <a:endParaRPr sz="1400" b="1" dirty="0">
              <a:solidFill>
                <a:srgbClr val="1F2A5C"/>
              </a:solidFill>
              <a:latin typeface="メイリオ"/>
            </a:endParaRPr>
          </a:p>
          <a:p>
            <a:pPr algn="ctr"/>
            <a:r>
              <a:rPr sz="1100" b="0" dirty="0" err="1">
                <a:solidFill>
                  <a:srgbClr val="1C2233"/>
                </a:solidFill>
                <a:latin typeface="メイリオ"/>
                <a:ea typeface="メイリオ"/>
              </a:rPr>
              <a:t>友だち化・再来店へ</a:t>
            </a:r>
            <a:r>
              <a:rPr sz="1100" b="0" dirty="0">
                <a:solidFill>
                  <a:srgbClr val="1C2233"/>
                </a:solidFill>
                <a:latin typeface="メイリオ"/>
                <a:ea typeface="メイリオ"/>
              </a:rPr>
              <a:t>。</a:t>
            </a:r>
            <a:endParaRPr lang="en-US" sz="1100" b="0" dirty="0">
              <a:solidFill>
                <a:srgbClr val="1C2233"/>
              </a:solidFill>
              <a:latin typeface="メイリオ"/>
            </a:endParaRPr>
          </a:p>
          <a:p>
            <a:pPr algn="ctr"/>
            <a:r>
              <a:rPr sz="1100" b="0" dirty="0" err="1">
                <a:solidFill>
                  <a:srgbClr val="1C2233"/>
                </a:solidFill>
                <a:latin typeface="メイリオ"/>
                <a:ea typeface="メイリオ"/>
              </a:rPr>
              <a:t>メール・テレマより接触率の高い接点</a:t>
            </a:r>
            <a:endParaRPr sz="1100" b="0" dirty="0">
              <a:solidFill>
                <a:srgbClr val="1C2233"/>
              </a:solidFill>
              <a:latin typeface="メイリオ"/>
            </a:endParaRPr>
          </a:p>
        </p:txBody>
      </p:sp>
      <p:sp>
        <p:nvSpPr>
          <p:cNvPr id="23" name="TextBox 22"/>
          <p:cNvSpPr txBox="1"/>
          <p:nvPr/>
        </p:nvSpPr>
        <p:spPr>
          <a:xfrm>
            <a:off x="363000" y="6300256"/>
            <a:ext cx="9180000" cy="216000"/>
          </a:xfrm>
          <a:prstGeom prst="rect">
            <a:avLst/>
          </a:prstGeom>
          <a:noFill/>
        </p:spPr>
        <p:txBody>
          <a:bodyPr wrap="square" lIns="28800" tIns="10800" rIns="28800" bIns="10800">
            <a:spAutoFit/>
          </a:bodyPr>
          <a:lstStyle/>
          <a:p>
            <a:r>
              <a:rPr sz="1000" b="0" dirty="0">
                <a:solidFill>
                  <a:srgbClr val="646C82"/>
                </a:solidFill>
                <a:latin typeface="メイリオ"/>
                <a:ea typeface="メイリオ"/>
              </a:rPr>
              <a:t>※ 通知メッセージは別途費用（初期20万円・月額60万円〜／</a:t>
            </a:r>
            <a:r>
              <a:rPr sz="1000" b="0" dirty="0" err="1">
                <a:solidFill>
                  <a:srgbClr val="646C82"/>
                </a:solidFill>
                <a:latin typeface="メイリオ"/>
                <a:ea typeface="メイリオ"/>
              </a:rPr>
              <a:t>社内料金表</a:t>
            </a:r>
            <a:r>
              <a:rPr sz="1000" b="0" dirty="0">
                <a:solidFill>
                  <a:srgbClr val="646C82"/>
                </a:solidFill>
                <a:latin typeface="メイリオ"/>
                <a:ea typeface="メイリオ"/>
              </a:rPr>
              <a:t>）。</a:t>
            </a:r>
            <a:r>
              <a:rPr sz="1000" b="0" dirty="0" err="1">
                <a:solidFill>
                  <a:srgbClr val="646C82"/>
                </a:solidFill>
                <a:latin typeface="メイリオ"/>
                <a:ea typeface="メイリオ"/>
              </a:rPr>
              <a:t>配信できる内容には要件・審査があります</a:t>
            </a:r>
            <a:r>
              <a:rPr sz="1000" b="0" dirty="0">
                <a:solidFill>
                  <a:srgbClr val="646C82"/>
                </a:solidFill>
                <a:latin typeface="メイリオ"/>
                <a:ea typeface="メイリオ"/>
              </a:rPr>
              <a:t>。</a:t>
            </a:r>
          </a:p>
        </p:txBody>
      </p:sp>
    </p:spTree>
    <p:extLst>
      <p:ext uri="{BB962C8B-B14F-4D97-AF65-F5344CB8AC3E}">
        <p14:creationId xmlns:p14="http://schemas.microsoft.com/office/powerpoint/2010/main" val="4224870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構築｜施策の考え方（誰を、どのCVへ）</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[LINEで体づくりタイプ診断]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無断キャンセルが課題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来店・体験</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⑧継続・PT/物販・友だち紹介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退会防止・再入会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AA7E1F7-0824-AE94-5B85-AB7CDE6A394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配信設計｜改善モデル①</a:t>
            </a:r>
          </a:p>
        </p:txBody>
      </p:sp>
      <p:sp>
        <p:nvSpPr>
          <p:cNvPr id="9" name="正方形/長方形 8">
            <a:extLst>
              <a:ext uri="{FF2B5EF4-FFF2-40B4-BE49-F238E27FC236}">
                <a16:creationId xmlns:a16="http://schemas.microsoft.com/office/drawing/2014/main" id="{C0FCF3C4-80C9-827F-1385-EBD6AE02077C}"/>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3" name="Google Shape;752;p28">
            <a:extLst>
              <a:ext uri="{FF2B5EF4-FFF2-40B4-BE49-F238E27FC236}">
                <a16:creationId xmlns:a16="http://schemas.microsoft.com/office/drawing/2014/main" id="{C5064B01-7057-EF97-C2C2-7EA1400AE06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a:t>
            </a:r>
            <a:r>
              <a:rPr lang="ja-JP" altLang="en-US" sz="1600" b="1" dirty="0">
                <a:latin typeface="メイリオ" panose="020B0604030504040204" pitchFamily="50" charset="-128"/>
                <a:ea typeface="メイリオ" panose="020B0604030504040204" pitchFamily="50" charset="-128"/>
                <a:cs typeface="Meiryo"/>
                <a:sym typeface="Meiryo"/>
              </a:rPr>
              <a:t>施策を通じて貴社に送ることが出来る個人情報を最大化する。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7" name="テキスト ボックス 26">
            <a:extLst>
              <a:ext uri="{FF2B5EF4-FFF2-40B4-BE49-F238E27FC236}">
                <a16:creationId xmlns:a16="http://schemas.microsoft.com/office/drawing/2014/main" id="{6AB9A59D-5D83-F4A0-8E07-0F2D6665420A}"/>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77440BBB-52A3-1900-D18A-8AF25E970934}"/>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A50DC53-429F-39BB-C171-6F57EE64F0C2}"/>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cxnSp>
        <p:nvCxnSpPr>
          <p:cNvPr id="32" name="コネクタ: カギ線 31">
            <a:extLst>
              <a:ext uri="{FF2B5EF4-FFF2-40B4-BE49-F238E27FC236}">
                <a16:creationId xmlns:a16="http://schemas.microsoft.com/office/drawing/2014/main" id="{A2FE37DB-7FF9-8AA6-3138-A9AA0818706B}"/>
              </a:ext>
            </a:extLst>
          </p:cNvPr>
          <p:cNvCxnSpPr>
            <a:cxnSpLocks/>
            <a:endCxn id="6" idx="2"/>
          </p:cNvCxnSpPr>
          <p:nvPr/>
        </p:nvCxnSpPr>
        <p:spPr>
          <a:xfrm rot="5400000" flipH="1" flipV="1">
            <a:off x="4284885" y="1729027"/>
            <a:ext cx="218990"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60AD3EC5-397C-F2E1-06DA-B35AA3F6DA3B}"/>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A916BF7B-2A5E-9585-D6BF-4545B58F8CDA}"/>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0CF33E8B-8A1D-B1FB-4244-9F0AFB92429B}"/>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16C11C4-F5B8-BBD3-EE11-4BBAC85EFEF6}"/>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900F58B-9BD8-36E8-2837-7D435FEE306F}"/>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1" name="正方形/長方形 10">
            <a:extLst>
              <a:ext uri="{FF2B5EF4-FFF2-40B4-BE49-F238E27FC236}">
                <a16:creationId xmlns:a16="http://schemas.microsoft.com/office/drawing/2014/main" id="{94AA99B3-016F-5352-F0F9-97BF2EF9495B}"/>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正方形/長方形 11">
            <a:extLst>
              <a:ext uri="{FF2B5EF4-FFF2-40B4-BE49-F238E27FC236}">
                <a16:creationId xmlns:a16="http://schemas.microsoft.com/office/drawing/2014/main" id="{A045185E-6C2C-A6FD-00A8-0A9C05295D96}"/>
              </a:ext>
            </a:extLst>
          </p:cNvPr>
          <p:cNvSpPr/>
          <p:nvPr/>
        </p:nvSpPr>
        <p:spPr>
          <a:xfrm>
            <a:off x="8382000" y="898654"/>
            <a:ext cx="1223554" cy="260090"/>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成果報酬：可</a:t>
            </a:r>
          </a:p>
        </p:txBody>
      </p:sp>
      <p:sp>
        <p:nvSpPr>
          <p:cNvPr id="15" name="正方形/長方形 14">
            <a:extLst>
              <a:ext uri="{FF2B5EF4-FFF2-40B4-BE49-F238E27FC236}">
                <a16:creationId xmlns:a16="http://schemas.microsoft.com/office/drawing/2014/main" id="{EDFACFC7-1B18-419B-64DD-5EB407E04E3D}"/>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7" name="テキスト ボックス 16">
            <a:extLst>
              <a:ext uri="{FF2B5EF4-FFF2-40B4-BE49-F238E27FC236}">
                <a16:creationId xmlns:a16="http://schemas.microsoft.com/office/drawing/2014/main" id="{F808170B-2E7D-DA91-C855-5B0F96687E57}"/>
              </a:ext>
            </a:extLst>
          </p:cNvPr>
          <p:cNvSpPr txBox="1"/>
          <p:nvPr/>
        </p:nvSpPr>
        <p:spPr>
          <a:xfrm>
            <a:off x="3136468" y="2021330"/>
            <a:ext cx="1868111" cy="348203"/>
          </a:xfrm>
          <a:prstGeom prst="rect">
            <a:avLst/>
          </a:prstGeom>
          <a:solidFill>
            <a:srgbClr val="2080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④リード獲得 </a:t>
            </a:r>
            <a:r>
              <a:rPr lang="en-US" altLang="ja-JP" sz="900" b="1" dirty="0">
                <a:solidFill>
                  <a:schemeClr val="bg1"/>
                </a:solidFill>
                <a:latin typeface="メイリオ" panose="020B0604030504040204" pitchFamily="50" charset="-128"/>
                <a:ea typeface="メイリオ" panose="020B0604030504040204" pitchFamily="50" charset="-128"/>
              </a:rPr>
              <a:t>(web/LINE)</a:t>
            </a:r>
            <a:endParaRPr lang="ja-JP" altLang="ja-JP" sz="1050" b="1" dirty="0">
              <a:solidFill>
                <a:schemeClr val="bg1"/>
              </a:solidFill>
              <a:latin typeface="メイリオ" panose="020B0604030504040204" pitchFamily="50" charset="-128"/>
              <a:ea typeface="メイリオ" panose="020B0604030504040204" pitchFamily="50" charset="-128"/>
            </a:endParaRPr>
          </a:p>
        </p:txBody>
      </p:sp>
      <p:sp>
        <p:nvSpPr>
          <p:cNvPr id="215" name="正方形/長方形 214">
            <a:extLst>
              <a:ext uri="{FF2B5EF4-FFF2-40B4-BE49-F238E27FC236}">
                <a16:creationId xmlns:a16="http://schemas.microsoft.com/office/drawing/2014/main" id="{0D93F268-2976-E24C-FFDF-A52C518BD95E}"/>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広告・集客の成果地点として</a:t>
            </a:r>
            <a:r>
              <a:rPr kumimoji="1" lang="en-US" altLang="ja-JP" sz="1050" b="1" dirty="0">
                <a:latin typeface="メイリオ" panose="020B0604030504040204" pitchFamily="50" charset="-128"/>
                <a:ea typeface="メイリオ" panose="020B0604030504040204" pitchFamily="50" charset="-128"/>
              </a:rPr>
              <a:t>LINE</a:t>
            </a:r>
            <a:r>
              <a:rPr kumimoji="1" lang="ja-JP" altLang="en-US" sz="1050" b="1" dirty="0">
                <a:latin typeface="メイリオ" panose="020B0604030504040204" pitchFamily="50" charset="-128"/>
                <a:ea typeface="メイリオ" panose="020B0604030504040204" pitchFamily="50" charset="-128"/>
              </a:rPr>
              <a:t>を追加する</a:t>
            </a:r>
          </a:p>
        </p:txBody>
      </p:sp>
      <p:sp>
        <p:nvSpPr>
          <p:cNvPr id="217" name="正方形/長方形 216">
            <a:extLst>
              <a:ext uri="{FF2B5EF4-FFF2-40B4-BE49-F238E27FC236}">
                <a16:creationId xmlns:a16="http://schemas.microsoft.com/office/drawing/2014/main" id="{EFE9DDC0-6FAF-EE1E-D2F6-1599D9760DFE}"/>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a:latin typeface="メイリオ" panose="020B0604030504040204" pitchFamily="50" charset="-128"/>
                <a:ea typeface="メイリオ" panose="020B0604030504040204" pitchFamily="50" charset="-128"/>
              </a:rPr>
              <a:t>LINE</a:t>
            </a:r>
            <a:r>
              <a:rPr lang="ja-JP" altLang="en-US" sz="1050" b="1" dirty="0">
                <a:latin typeface="メイリオ" panose="020B0604030504040204" pitchFamily="50" charset="-128"/>
                <a:ea typeface="メイリオ" panose="020B0604030504040204" pitchFamily="50" charset="-128"/>
              </a:rPr>
              <a:t>の特典・メリットを適切なタイミングで提示し</a:t>
            </a:r>
            <a:r>
              <a:rPr lang="en-US" altLang="ja-JP" sz="1050" b="1" dirty="0">
                <a:latin typeface="メイリオ" panose="020B0604030504040204" pitchFamily="50" charset="-128"/>
                <a:ea typeface="メイリオ" panose="020B0604030504040204" pitchFamily="50" charset="-128"/>
              </a:rPr>
              <a:t>CV</a:t>
            </a:r>
            <a:r>
              <a:rPr lang="ja-JP" altLang="en-US" sz="1050" b="1" dirty="0">
                <a:latin typeface="メイリオ" panose="020B0604030504040204" pitchFamily="50" charset="-128"/>
                <a:ea typeface="メイリオ" panose="020B0604030504040204" pitchFamily="50" charset="-128"/>
              </a:rPr>
              <a:t>へ</a:t>
            </a:r>
          </a:p>
        </p:txBody>
      </p:sp>
      <p:sp>
        <p:nvSpPr>
          <p:cNvPr id="265" name="Shape 59">
            <a:extLst>
              <a:ext uri="{FF2B5EF4-FFF2-40B4-BE49-F238E27FC236}">
                <a16:creationId xmlns:a16="http://schemas.microsoft.com/office/drawing/2014/main" id="{2B92E1A5-40B4-D866-C1EB-8ACEB8EE470D}"/>
              </a:ext>
            </a:extLst>
          </p:cNvPr>
          <p:cNvSpPr/>
          <p:nvPr/>
        </p:nvSpPr>
        <p:spPr>
          <a:xfrm>
            <a:off x="265419" y="4842285"/>
            <a:ext cx="4541216" cy="1600804"/>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7" name="Shape 63">
            <a:extLst>
              <a:ext uri="{FF2B5EF4-FFF2-40B4-BE49-F238E27FC236}">
                <a16:creationId xmlns:a16="http://schemas.microsoft.com/office/drawing/2014/main" id="{986279D3-31B7-AFE5-0997-A2CDC716E6CD}"/>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9" name="Text 64">
            <a:extLst>
              <a:ext uri="{FF2B5EF4-FFF2-40B4-BE49-F238E27FC236}">
                <a16:creationId xmlns:a16="http://schemas.microsoft.com/office/drawing/2014/main" id="{314E4055-2D3D-DC19-BD60-79D095DBA6D9}"/>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1" name="Text 65">
            <a:extLst>
              <a:ext uri="{FF2B5EF4-FFF2-40B4-BE49-F238E27FC236}">
                <a16:creationId xmlns:a16="http://schemas.microsoft.com/office/drawing/2014/main" id="{2259F17B-A9B0-7F43-8907-87383FCBF6CE}"/>
              </a:ext>
            </a:extLst>
          </p:cNvPr>
          <p:cNvSpPr/>
          <p:nvPr/>
        </p:nvSpPr>
        <p:spPr>
          <a:xfrm>
            <a:off x="1545579"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LINE広告（CPF）完結型 × LINE内チャットボット</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3" name="Text 66">
            <a:extLst>
              <a:ext uri="{FF2B5EF4-FFF2-40B4-BE49-F238E27FC236}">
                <a16:creationId xmlns:a16="http://schemas.microsoft.com/office/drawing/2014/main" id="{98D6C858-0A51-D469-C857-32114CFA96FE}"/>
              </a:ext>
            </a:extLst>
          </p:cNvPr>
          <p:cNvSpPr/>
          <p:nvPr/>
        </p:nvSpPr>
        <p:spPr>
          <a:xfrm>
            <a:off x="356859" y="5226333"/>
            <a:ext cx="4449774" cy="457200"/>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広告の</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CPF</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を利用して、興味関心</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商圏でのリード保有数を最大化。</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LINE完結で</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WEBに遷移させないため離脱ゼロ</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でのステップ配信・有効リードの育成へ。</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5" name="Shape 68">
            <a:extLst>
              <a:ext uri="{FF2B5EF4-FFF2-40B4-BE49-F238E27FC236}">
                <a16:creationId xmlns:a16="http://schemas.microsoft.com/office/drawing/2014/main" id="{CFA7D9BB-A1E1-31FD-946A-B75B944AADA7}"/>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7" name="Text 69">
            <a:extLst>
              <a:ext uri="{FF2B5EF4-FFF2-40B4-BE49-F238E27FC236}">
                <a16:creationId xmlns:a16="http://schemas.microsoft.com/office/drawing/2014/main" id="{94B27B5E-13D7-A4CA-7352-4BBEA8C99224}"/>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9" name="Text 70">
            <a:extLst>
              <a:ext uri="{FF2B5EF4-FFF2-40B4-BE49-F238E27FC236}">
                <a16:creationId xmlns:a16="http://schemas.microsoft.com/office/drawing/2014/main" id="{02B4B046-1456-2549-8D2A-03FE8B9434D4}"/>
              </a:ext>
            </a:extLst>
          </p:cNvPr>
          <p:cNvSpPr/>
          <p:nvPr/>
        </p:nvSpPr>
        <p:spPr>
          <a:xfrm>
            <a:off x="363197" y="5687343"/>
            <a:ext cx="4053598" cy="146304"/>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8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8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1" name="Shape 71">
            <a:extLst>
              <a:ext uri="{FF2B5EF4-FFF2-40B4-BE49-F238E27FC236}">
                <a16:creationId xmlns:a16="http://schemas.microsoft.com/office/drawing/2014/main" id="{69A5DB50-D061-75F2-9683-580DA89DA5BD}"/>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3" name="Shape 72">
            <a:extLst>
              <a:ext uri="{FF2B5EF4-FFF2-40B4-BE49-F238E27FC236}">
                <a16:creationId xmlns:a16="http://schemas.microsoft.com/office/drawing/2014/main" id="{1E18DB25-A307-005D-2220-B5D1CB74EDBF}"/>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5" name="Text 73">
            <a:extLst>
              <a:ext uri="{FF2B5EF4-FFF2-40B4-BE49-F238E27FC236}">
                <a16:creationId xmlns:a16="http://schemas.microsoft.com/office/drawing/2014/main" id="{453E45E2-53B3-3123-A567-3CDA891BBEEF}"/>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7" name="Text 74">
            <a:extLst>
              <a:ext uri="{FF2B5EF4-FFF2-40B4-BE49-F238E27FC236}">
                <a16:creationId xmlns:a16="http://schemas.microsoft.com/office/drawing/2014/main" id="{35068314-9221-6665-F236-3F5B1A8773D8}"/>
              </a:ext>
            </a:extLst>
          </p:cNvPr>
          <p:cNvSpPr/>
          <p:nvPr/>
        </p:nvSpPr>
        <p:spPr>
          <a:xfrm>
            <a:off x="6311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CPF広告タップ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9" name="Text 75">
            <a:extLst>
              <a:ext uri="{FF2B5EF4-FFF2-40B4-BE49-F238E27FC236}">
                <a16:creationId xmlns:a16="http://schemas.microsoft.com/office/drawing/2014/main" id="{9E831384-FBA1-9ABC-D5C4-E9D07BF92DC1}"/>
              </a:ext>
            </a:extLst>
          </p:cNvPr>
          <p:cNvSpPr/>
          <p:nvPr/>
        </p:nvSpPr>
        <p:spPr>
          <a:xfrm>
            <a:off x="4117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即・友だち追加</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1" name="Text 76">
            <a:extLst>
              <a:ext uri="{FF2B5EF4-FFF2-40B4-BE49-F238E27FC236}">
                <a16:creationId xmlns:a16="http://schemas.microsoft.com/office/drawing/2014/main" id="{B609F64E-3A86-7ABF-C056-68CBD7347946}"/>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3" name="Shape 77">
            <a:extLst>
              <a:ext uri="{FF2B5EF4-FFF2-40B4-BE49-F238E27FC236}">
                <a16:creationId xmlns:a16="http://schemas.microsoft.com/office/drawing/2014/main" id="{A42E7FC8-693A-903C-101F-881077D3912E}"/>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5" name="Shape 78">
            <a:extLst>
              <a:ext uri="{FF2B5EF4-FFF2-40B4-BE49-F238E27FC236}">
                <a16:creationId xmlns:a16="http://schemas.microsoft.com/office/drawing/2014/main" id="{5D77DB8F-3255-B8FA-09A1-BA76AB1E30EC}"/>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7" name="Text 79">
            <a:extLst>
              <a:ext uri="{FF2B5EF4-FFF2-40B4-BE49-F238E27FC236}">
                <a16:creationId xmlns:a16="http://schemas.microsoft.com/office/drawing/2014/main" id="{AE657B72-3339-BAE3-9DA8-C9C378371C9D}"/>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9" name="Text 80">
            <a:extLst>
              <a:ext uri="{FF2B5EF4-FFF2-40B4-BE49-F238E27FC236}">
                <a16:creationId xmlns:a16="http://schemas.microsoft.com/office/drawing/2014/main" id="{582D1F5A-1093-8B0B-EC93-6F3E17DF1674}"/>
              </a:ext>
            </a:extLst>
          </p:cNvPr>
          <p:cNvSpPr/>
          <p:nvPr/>
        </p:nvSpPr>
        <p:spPr>
          <a:xfrm>
            <a:off x="2041211" y="5957091"/>
            <a:ext cx="98036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応答、ステップ起動</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1" name="Text 81">
            <a:extLst>
              <a:ext uri="{FF2B5EF4-FFF2-40B4-BE49-F238E27FC236}">
                <a16:creationId xmlns:a16="http://schemas.microsoft.com/office/drawing/2014/main" id="{267A8E72-34E2-AC1E-E783-02748F2A3058}"/>
              </a:ext>
            </a:extLst>
          </p:cNvPr>
          <p:cNvSpPr/>
          <p:nvPr/>
        </p:nvSpPr>
        <p:spPr>
          <a:xfrm>
            <a:off x="1819899"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ステップ配信が</a:t>
            </a:r>
            <a:r>
              <a:rPr kumimoji="0" lang="en-US" sz="7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起動</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3" name="Text 82">
            <a:extLst>
              <a:ext uri="{FF2B5EF4-FFF2-40B4-BE49-F238E27FC236}">
                <a16:creationId xmlns:a16="http://schemas.microsoft.com/office/drawing/2014/main" id="{9B65E420-0374-979E-BAA2-48722980545C}"/>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5" name="Shape 83">
            <a:extLst>
              <a:ext uri="{FF2B5EF4-FFF2-40B4-BE49-F238E27FC236}">
                <a16:creationId xmlns:a16="http://schemas.microsoft.com/office/drawing/2014/main" id="{7C0C6D93-01E9-C895-1E2E-400951DA4B8E}"/>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7" name="Shape 84">
            <a:extLst>
              <a:ext uri="{FF2B5EF4-FFF2-40B4-BE49-F238E27FC236}">
                <a16:creationId xmlns:a16="http://schemas.microsoft.com/office/drawing/2014/main" id="{6B131D82-5FD9-9308-3AF2-032B378170E3}"/>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9" name="Text 85">
            <a:extLst>
              <a:ext uri="{FF2B5EF4-FFF2-40B4-BE49-F238E27FC236}">
                <a16:creationId xmlns:a16="http://schemas.microsoft.com/office/drawing/2014/main" id="{A04EEFDD-332F-12BD-7677-D9DE3938B356}"/>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1" name="Text 86">
            <a:extLst>
              <a:ext uri="{FF2B5EF4-FFF2-40B4-BE49-F238E27FC236}">
                <a16:creationId xmlns:a16="http://schemas.microsoft.com/office/drawing/2014/main" id="{32928D0D-3150-AD73-9242-387FEEFEB4E7}"/>
              </a:ext>
            </a:extLst>
          </p:cNvPr>
          <p:cNvSpPr/>
          <p:nvPr/>
        </p:nvSpPr>
        <p:spPr>
          <a:xfrm>
            <a:off x="3447531"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リードデータ取得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3" name="Text 87">
            <a:extLst>
              <a:ext uri="{FF2B5EF4-FFF2-40B4-BE49-F238E27FC236}">
                <a16:creationId xmlns:a16="http://schemas.microsoft.com/office/drawing/2014/main" id="{155A8DAC-6178-45E5-B78E-ED5968433C87}"/>
              </a:ext>
            </a:extLst>
          </p:cNvPr>
          <p:cNvSpPr/>
          <p:nvPr/>
        </p:nvSpPr>
        <p:spPr>
          <a:xfrm>
            <a:off x="3228075"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LINE内で完結</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5" name="Shape 88">
            <a:extLst>
              <a:ext uri="{FF2B5EF4-FFF2-40B4-BE49-F238E27FC236}">
                <a16:creationId xmlns:a16="http://schemas.microsoft.com/office/drawing/2014/main" id="{65FD4E02-C70C-2DC3-6107-3854D0C99B17}"/>
              </a:ext>
            </a:extLst>
          </p:cNvPr>
          <p:cNvSpPr/>
          <p:nvPr/>
        </p:nvSpPr>
        <p:spPr>
          <a:xfrm>
            <a:off x="5099366" y="2999769"/>
            <a:ext cx="4526075" cy="1600806"/>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9" name="Shape 113">
            <a:extLst>
              <a:ext uri="{FF2B5EF4-FFF2-40B4-BE49-F238E27FC236}">
                <a16:creationId xmlns:a16="http://schemas.microsoft.com/office/drawing/2014/main" id="{11234610-A1AC-AA19-B005-775FD3F8A3B3}"/>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1" name="Shape 117">
            <a:extLst>
              <a:ext uri="{FF2B5EF4-FFF2-40B4-BE49-F238E27FC236}">
                <a16:creationId xmlns:a16="http://schemas.microsoft.com/office/drawing/2014/main" id="{53B1A122-71EF-1F9B-0702-A1A1393823D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3" name="Text 118">
            <a:extLst>
              <a:ext uri="{FF2B5EF4-FFF2-40B4-BE49-F238E27FC236}">
                <a16:creationId xmlns:a16="http://schemas.microsoft.com/office/drawing/2014/main" id="{841897D7-C412-EE47-0B0D-746DD32E330E}"/>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KW自動応答</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5" name="Text 119">
            <a:extLst>
              <a:ext uri="{FF2B5EF4-FFF2-40B4-BE49-F238E27FC236}">
                <a16:creationId xmlns:a16="http://schemas.microsoft.com/office/drawing/2014/main" id="{EBE6ADAD-9C3A-4E30-E6A7-BF0CDE4B5719}"/>
              </a:ext>
            </a:extLst>
          </p:cNvPr>
          <p:cNvSpPr/>
          <p:nvPr/>
        </p:nvSpPr>
        <p:spPr>
          <a:xfrm>
            <a:off x="6379527" y="4924581"/>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短期</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KW自動応答でFAQ即解消→</a:t>
            </a:r>
            <a:r>
              <a:rPr kumimoji="0" lang="en-US" altLang="ja-JP"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CV</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へ誘導</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7" name="Text 120">
            <a:extLst>
              <a:ext uri="{FF2B5EF4-FFF2-40B4-BE49-F238E27FC236}">
                <a16:creationId xmlns:a16="http://schemas.microsoft.com/office/drawing/2014/main" id="{9BC9F586-F4C8-69D1-0AB3-84BC5D46528A}"/>
              </a:ext>
            </a:extLst>
          </p:cNvPr>
          <p:cNvSpPr/>
          <p:nvPr/>
        </p:nvSpPr>
        <p:spPr>
          <a:xfrm>
            <a:off x="5190807" y="5226333"/>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ステップ配信と並行して、</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にて代表的な</a:t>
            </a:r>
            <a:r>
              <a:rPr kumimoji="0" lang="en-US" altLang="ja-JP"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Q</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に自動返答＋CV</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動線へ誘導</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p>
          <a:p>
            <a:pPr marL="0" marR="0" lvl="0" indent="0" defTabSz="914400" eaLnBrk="1" fontAlgn="auto" latinLnBrk="0" hangingPunct="1">
              <a:lnSpc>
                <a:spcPct val="135000"/>
              </a:lnSpc>
              <a:spcBef>
                <a:spcPts val="0"/>
              </a:spcBef>
              <a:spcAft>
                <a:spcPts val="0"/>
              </a:spcAft>
              <a:buClrTx/>
              <a:buSzTx/>
              <a:buFontTx/>
              <a:buNone/>
              <a:tabLst/>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24時間対応で「試しに聞いてみた」</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層</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をそのまま申込フォームへ転換</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9" name="Shape 121">
            <a:extLst>
              <a:ext uri="{FF2B5EF4-FFF2-40B4-BE49-F238E27FC236}">
                <a16:creationId xmlns:a16="http://schemas.microsoft.com/office/drawing/2014/main" id="{879C697E-7DA8-CA7E-D00D-C9CADF55302E}"/>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1" name="Shape 122">
            <a:extLst>
              <a:ext uri="{FF2B5EF4-FFF2-40B4-BE49-F238E27FC236}">
                <a16:creationId xmlns:a16="http://schemas.microsoft.com/office/drawing/2014/main" id="{E0FE3AAB-EEAF-8F74-4288-38540089361D}"/>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3" name="Text 123">
            <a:extLst>
              <a:ext uri="{FF2B5EF4-FFF2-40B4-BE49-F238E27FC236}">
                <a16:creationId xmlns:a16="http://schemas.microsoft.com/office/drawing/2014/main" id="{31A73E53-E872-D735-0EE5-02CFC5ED076F}"/>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5" name="Text 124">
            <a:extLst>
              <a:ext uri="{FF2B5EF4-FFF2-40B4-BE49-F238E27FC236}">
                <a16:creationId xmlns:a16="http://schemas.microsoft.com/office/drawing/2014/main" id="{014A61FB-ACC2-FA78-238A-10F112F08313}"/>
              </a:ext>
            </a:extLst>
          </p:cNvPr>
          <p:cNvSpPr/>
          <p:nvPr/>
        </p:nvSpPr>
        <p:spPr>
          <a:xfrm>
            <a:off x="5447079" y="5957091"/>
            <a:ext cx="1020168"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ステップ配信・</a:t>
            </a:r>
            <a:r>
              <a:rPr kumimoji="0" lang="en-US" altLang="ja-JP"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QA</a:t>
            </a:r>
            <a:r>
              <a:rPr kumimoji="0" lang="ja-JP" alt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7" name="Text 125">
            <a:extLst>
              <a:ext uri="{FF2B5EF4-FFF2-40B4-BE49-F238E27FC236}">
                <a16:creationId xmlns:a16="http://schemas.microsoft.com/office/drawing/2014/main" id="{61B557F9-9683-D913-1D65-DD25D26B2695}"/>
              </a:ext>
            </a:extLst>
          </p:cNvPr>
          <p:cNvSpPr/>
          <p:nvPr/>
        </p:nvSpPr>
        <p:spPr>
          <a:xfrm>
            <a:off x="5245671"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追加～</a:t>
            </a:r>
            <a:r>
              <a:rPr kumimoji="0" lang="en-US" altLang="ja-JP"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15</a:t>
            </a:r>
            <a:r>
              <a:rPr kumimoji="0" lang="ja-JP" alt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rPr>
              <a:t>日で</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9" name="Text 126">
            <a:extLst>
              <a:ext uri="{FF2B5EF4-FFF2-40B4-BE49-F238E27FC236}">
                <a16:creationId xmlns:a16="http://schemas.microsoft.com/office/drawing/2014/main" id="{F117171D-C47B-261C-85AC-F680EF28CB19}"/>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1" name="Shape 127">
            <a:extLst>
              <a:ext uri="{FF2B5EF4-FFF2-40B4-BE49-F238E27FC236}">
                <a16:creationId xmlns:a16="http://schemas.microsoft.com/office/drawing/2014/main" id="{4BEE9167-F8E5-7442-64A8-E9F7D39F09D7}"/>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3" name="Shape 128">
            <a:extLst>
              <a:ext uri="{FF2B5EF4-FFF2-40B4-BE49-F238E27FC236}">
                <a16:creationId xmlns:a16="http://schemas.microsoft.com/office/drawing/2014/main" id="{9C2642A1-2BDB-C49F-7691-85BD71CF126B}"/>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5" name="Text 129">
            <a:extLst>
              <a:ext uri="{FF2B5EF4-FFF2-40B4-BE49-F238E27FC236}">
                <a16:creationId xmlns:a16="http://schemas.microsoft.com/office/drawing/2014/main" id="{B9E7F4F1-E140-0A15-9900-349580A383C4}"/>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7" name="Text 130">
            <a:extLst>
              <a:ext uri="{FF2B5EF4-FFF2-40B4-BE49-F238E27FC236}">
                <a16:creationId xmlns:a16="http://schemas.microsoft.com/office/drawing/2014/main" id="{538141D0-5353-E1AE-4CCC-4B7FBADE0E74}"/>
              </a:ext>
            </a:extLst>
          </p:cNvPr>
          <p:cNvSpPr/>
          <p:nvPr/>
        </p:nvSpPr>
        <p:spPr>
          <a:xfrm>
            <a:off x="6873303"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自動即返答</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9" name="Text 131">
            <a:extLst>
              <a:ext uri="{FF2B5EF4-FFF2-40B4-BE49-F238E27FC236}">
                <a16:creationId xmlns:a16="http://schemas.microsoft.com/office/drawing/2014/main" id="{507C3FBA-63F5-86D8-66C6-6318F2F8EDA2}"/>
              </a:ext>
            </a:extLst>
          </p:cNvPr>
          <p:cNvSpPr/>
          <p:nvPr/>
        </p:nvSpPr>
        <p:spPr>
          <a:xfrm>
            <a:off x="6653847"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FAQ解消＋LP URL送付</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1" name="Text 132">
            <a:extLst>
              <a:ext uri="{FF2B5EF4-FFF2-40B4-BE49-F238E27FC236}">
                <a16:creationId xmlns:a16="http://schemas.microsoft.com/office/drawing/2014/main" id="{6C6ED810-1D06-F9BD-D3C9-03D6BF6C14DA}"/>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3" name="Shape 133">
            <a:extLst>
              <a:ext uri="{FF2B5EF4-FFF2-40B4-BE49-F238E27FC236}">
                <a16:creationId xmlns:a16="http://schemas.microsoft.com/office/drawing/2014/main" id="{032FF15A-215D-CE84-EF89-D93E09191819}"/>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5" name="Shape 134">
            <a:extLst>
              <a:ext uri="{FF2B5EF4-FFF2-40B4-BE49-F238E27FC236}">
                <a16:creationId xmlns:a16="http://schemas.microsoft.com/office/drawing/2014/main" id="{4111E6D0-ABE0-6AC4-2D12-6FEF3F3EFA73}"/>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7" name="Text 135">
            <a:extLst>
              <a:ext uri="{FF2B5EF4-FFF2-40B4-BE49-F238E27FC236}">
                <a16:creationId xmlns:a16="http://schemas.microsoft.com/office/drawing/2014/main" id="{CF3AE303-2971-F53C-A610-F98F99E3189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9" name="Text 136">
            <a:extLst>
              <a:ext uri="{FF2B5EF4-FFF2-40B4-BE49-F238E27FC236}">
                <a16:creationId xmlns:a16="http://schemas.microsoft.com/office/drawing/2014/main" id="{F73C430F-E961-93C3-213B-0963BAC20CD3}"/>
              </a:ext>
            </a:extLst>
          </p:cNvPr>
          <p:cNvSpPr/>
          <p:nvPr/>
        </p:nvSpPr>
        <p:spPr>
          <a:xfrm>
            <a:off x="8281479" y="5957091"/>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申込フォームCV</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1" name="Text 137">
            <a:extLst>
              <a:ext uri="{FF2B5EF4-FFF2-40B4-BE49-F238E27FC236}">
                <a16:creationId xmlns:a16="http://schemas.microsoft.com/office/drawing/2014/main" id="{88FD7181-FD44-C0BF-B9A5-5C5C104EC047}"/>
              </a:ext>
            </a:extLst>
          </p:cNvPr>
          <p:cNvSpPr/>
          <p:nvPr/>
        </p:nvSpPr>
        <p:spPr>
          <a:xfrm>
            <a:off x="8062023" y="6167403"/>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24時間・スタッフ不要</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03" name="Shape 36">
            <a:extLst>
              <a:ext uri="{FF2B5EF4-FFF2-40B4-BE49-F238E27FC236}">
                <a16:creationId xmlns:a16="http://schemas.microsoft.com/office/drawing/2014/main" id="{D62EC5F5-FA90-2741-4644-800F1639B9D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7" name="Shape 36">
            <a:extLst>
              <a:ext uri="{FF2B5EF4-FFF2-40B4-BE49-F238E27FC236}">
                <a16:creationId xmlns:a16="http://schemas.microsoft.com/office/drawing/2014/main" id="{3ABA6325-0C4D-ADBB-5C93-9AB0A04C8F15}"/>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3" name="Shape 36">
            <a:extLst>
              <a:ext uri="{FF2B5EF4-FFF2-40B4-BE49-F238E27FC236}">
                <a16:creationId xmlns:a16="http://schemas.microsoft.com/office/drawing/2014/main" id="{0BB2AEB8-7FA8-EBC7-04FD-AD5A5B8538F8}"/>
              </a:ext>
            </a:extLst>
          </p:cNvPr>
          <p:cNvSpPr/>
          <p:nvPr/>
        </p:nvSpPr>
        <p:spPr>
          <a:xfrm>
            <a:off x="5207551" y="3082504"/>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55" name="Shape 38">
            <a:extLst>
              <a:ext uri="{FF2B5EF4-FFF2-40B4-BE49-F238E27FC236}">
                <a16:creationId xmlns:a16="http://schemas.microsoft.com/office/drawing/2014/main" id="{3976CA87-D608-B478-0B7F-76C239579767}"/>
              </a:ext>
            </a:extLst>
          </p:cNvPr>
          <p:cNvSpPr/>
          <p:nvPr/>
        </p:nvSpPr>
        <p:spPr>
          <a:xfrm>
            <a:off x="5536735" y="3100792"/>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57" name="Text 39">
            <a:extLst>
              <a:ext uri="{FF2B5EF4-FFF2-40B4-BE49-F238E27FC236}">
                <a16:creationId xmlns:a16="http://schemas.microsoft.com/office/drawing/2014/main" id="{00B73596-25FE-7BEA-B356-6BA40FA3B1A1}"/>
              </a:ext>
            </a:extLst>
          </p:cNvPr>
          <p:cNvSpPr/>
          <p:nvPr/>
        </p:nvSpPr>
        <p:spPr>
          <a:xfrm>
            <a:off x="5536735" y="3100792"/>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kern="0" dirty="0">
                <a:solidFill>
                  <a:srgbClr val="1565C0"/>
                </a:solidFill>
                <a:latin typeface="メイリオ" panose="020B0604030504040204" pitchFamily="50" charset="-128"/>
                <a:ea typeface="メイリオ" panose="020B0604030504040204" pitchFamily="50" charset="-128"/>
                <a:cs typeface="Calibri" pitchFamily="34" charset="-120"/>
              </a:rPr>
              <a:t>低ハードル</a:t>
            </a:r>
            <a:r>
              <a:rPr kumimoji="0" lang="en-US" altLang="ja-JP" sz="750" b="1" kern="0" dirty="0">
                <a:solidFill>
                  <a:srgbClr val="1565C0"/>
                </a:solidFill>
                <a:latin typeface="メイリオ" panose="020B0604030504040204" pitchFamily="50" charset="-128"/>
                <a:ea typeface="メイリオ" panose="020B0604030504040204" pitchFamily="50" charset="-128"/>
                <a:cs typeface="Calibri" pitchFamily="34" charset="-120"/>
              </a:rPr>
              <a:t>CV</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59" name="Text 40">
            <a:extLst>
              <a:ext uri="{FF2B5EF4-FFF2-40B4-BE49-F238E27FC236}">
                <a16:creationId xmlns:a16="http://schemas.microsoft.com/office/drawing/2014/main" id="{8E8E8572-E4BF-C131-AD4E-7DE59476C19F}"/>
              </a:ext>
            </a:extLst>
          </p:cNvPr>
          <p:cNvSpPr/>
          <p:nvPr/>
        </p:nvSpPr>
        <p:spPr>
          <a:xfrm>
            <a:off x="6396271" y="3073360"/>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簡易</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1100" b="1" i="0" u="none" strike="noStrike" kern="0" cap="none" spc="0" normalizeH="0" baseline="0" noProof="0" dirty="0" err="1">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LINE登録</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1" name="Text 41">
            <a:extLst>
              <a:ext uri="{FF2B5EF4-FFF2-40B4-BE49-F238E27FC236}">
                <a16:creationId xmlns:a16="http://schemas.microsoft.com/office/drawing/2014/main" id="{A02D25CE-9C9B-6858-9645-3D054403B80F}"/>
              </a:ext>
            </a:extLst>
          </p:cNvPr>
          <p:cNvSpPr/>
          <p:nvPr/>
        </p:nvSpPr>
        <p:spPr>
          <a:xfrm>
            <a:off x="5207551" y="3375112"/>
            <a:ext cx="4449774" cy="493776"/>
          </a:xfrm>
          <a:prstGeom prst="rect">
            <a:avLst/>
          </a:prstGeom>
          <a:noFill/>
          <a:ln/>
        </p:spPr>
        <p:txBody>
          <a:bodyPr wrap="square" lIns="0" tIns="0" rIns="0" bIns="0" rtlCol="0" anchor="ctr"/>
          <a:lstStyle/>
          <a:p>
            <a:pPr lvl="0">
              <a:lnSpc>
                <a:spcPct val="135000"/>
              </a:lnSpc>
              <a:defRPr/>
            </a:pP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シミュレーター、簡易診断を</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受け取る</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簡易的な</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を作成し</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a:t>
            </a:r>
            <a:r>
              <a:rPr kumimoji="0" lang="en-US" sz="850" b="0" i="0" u="none" strike="noStrike" kern="0" cap="none" spc="0" normalizeH="0" baseline="0" noProof="0" dirty="0" err="1">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友だち追加そのままステップ配信へ移行</a:t>
            </a:r>
            <a:r>
              <a:rPr kumimoji="0" 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CVR</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2</a:t>
            </a:r>
            <a:r>
              <a:rPr kumimoji="0" lang="ja-JP" altLang="en-US" sz="850" b="1"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％前後</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」を「</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5</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a:t>
            </a:r>
            <a:r>
              <a:rPr kumimoji="0" lang="en-US" altLang="ja-JP" sz="850" b="1" kern="0" dirty="0">
                <a:solidFill>
                  <a:srgbClr val="4A4A6A"/>
                </a:solidFill>
                <a:latin typeface="メイリオ" panose="020B0604030504040204" pitchFamily="50" charset="-128"/>
                <a:ea typeface="メイリオ" panose="020B0604030504040204" pitchFamily="50" charset="-128"/>
                <a:cs typeface="Calibri" pitchFamily="34" charset="-120"/>
              </a:rPr>
              <a:t>10</a:t>
            </a:r>
            <a:r>
              <a:rPr kumimoji="0" lang="ja-JP" altLang="en-US" sz="850" b="1" kern="0" dirty="0">
                <a:solidFill>
                  <a:srgbClr val="4A4A6A"/>
                </a:solidFill>
                <a:latin typeface="メイリオ" panose="020B0604030504040204" pitchFamily="50" charset="-128"/>
                <a:ea typeface="メイリオ" panose="020B0604030504040204" pitchFamily="50" charset="-128"/>
                <a:cs typeface="Calibri" pitchFamily="34" charset="-120"/>
              </a:rPr>
              <a:t>％」に引上げてリード最大化。</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3" name="Shape 42">
            <a:extLst>
              <a:ext uri="{FF2B5EF4-FFF2-40B4-BE49-F238E27FC236}">
                <a16:creationId xmlns:a16="http://schemas.microsoft.com/office/drawing/2014/main" id="{A9C5DE92-D696-84FB-0338-A45B2163E84E}"/>
              </a:ext>
            </a:extLst>
          </p:cNvPr>
          <p:cNvSpPr/>
          <p:nvPr/>
        </p:nvSpPr>
        <p:spPr>
          <a:xfrm>
            <a:off x="5207551"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5" name="Shape 43">
            <a:extLst>
              <a:ext uri="{FF2B5EF4-FFF2-40B4-BE49-F238E27FC236}">
                <a16:creationId xmlns:a16="http://schemas.microsoft.com/office/drawing/2014/main" id="{7A414BE8-8C56-464D-5646-C8428426E154}"/>
              </a:ext>
            </a:extLst>
          </p:cNvPr>
          <p:cNvSpPr/>
          <p:nvPr/>
        </p:nvSpPr>
        <p:spPr>
          <a:xfrm>
            <a:off x="5262415"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67" name="Text 44">
            <a:extLst>
              <a:ext uri="{FF2B5EF4-FFF2-40B4-BE49-F238E27FC236}">
                <a16:creationId xmlns:a16="http://schemas.microsoft.com/office/drawing/2014/main" id="{71F14BEE-D634-88A2-56B2-296177E648B8}"/>
              </a:ext>
            </a:extLst>
          </p:cNvPr>
          <p:cNvSpPr/>
          <p:nvPr/>
        </p:nvSpPr>
        <p:spPr>
          <a:xfrm>
            <a:off x="5262415"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69" name="Text 45">
            <a:extLst>
              <a:ext uri="{FF2B5EF4-FFF2-40B4-BE49-F238E27FC236}">
                <a16:creationId xmlns:a16="http://schemas.microsoft.com/office/drawing/2014/main" id="{38EAA9FF-3D6F-9893-A6AC-492E1F8D9ED2}"/>
              </a:ext>
            </a:extLst>
          </p:cNvPr>
          <p:cNvSpPr/>
          <p:nvPr/>
        </p:nvSpPr>
        <p:spPr>
          <a:xfrm>
            <a:off x="5481871"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超簡易</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1" name="Text 46">
            <a:extLst>
              <a:ext uri="{FF2B5EF4-FFF2-40B4-BE49-F238E27FC236}">
                <a16:creationId xmlns:a16="http://schemas.microsoft.com/office/drawing/2014/main" id="{76F9D806-0316-8040-BBC1-059EC4037026}"/>
              </a:ext>
            </a:extLst>
          </p:cNvPr>
          <p:cNvSpPr/>
          <p:nvPr/>
        </p:nvSpPr>
        <p:spPr>
          <a:xfrm>
            <a:off x="5262415"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WEB</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リード獲得</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3" name="Text 47">
            <a:extLst>
              <a:ext uri="{FF2B5EF4-FFF2-40B4-BE49-F238E27FC236}">
                <a16:creationId xmlns:a16="http://schemas.microsoft.com/office/drawing/2014/main" id="{A91D1983-BD63-6B03-7992-4EBA1D20A7ED}"/>
              </a:ext>
            </a:extLst>
          </p:cNvPr>
          <p:cNvSpPr/>
          <p:nvPr/>
        </p:nvSpPr>
        <p:spPr>
          <a:xfrm>
            <a:off x="6487711"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75" name="Shape 48">
            <a:extLst>
              <a:ext uri="{FF2B5EF4-FFF2-40B4-BE49-F238E27FC236}">
                <a16:creationId xmlns:a16="http://schemas.microsoft.com/office/drawing/2014/main" id="{1B608CB6-10B1-7849-F676-C778EAF32793}"/>
              </a:ext>
            </a:extLst>
          </p:cNvPr>
          <p:cNvSpPr/>
          <p:nvPr/>
        </p:nvSpPr>
        <p:spPr>
          <a:xfrm>
            <a:off x="6615727" y="4069294"/>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7" name="Shape 49">
            <a:extLst>
              <a:ext uri="{FF2B5EF4-FFF2-40B4-BE49-F238E27FC236}">
                <a16:creationId xmlns:a16="http://schemas.microsoft.com/office/drawing/2014/main" id="{C6FD4C21-79ED-9901-73BB-36FADC629074}"/>
              </a:ext>
            </a:extLst>
          </p:cNvPr>
          <p:cNvSpPr/>
          <p:nvPr/>
        </p:nvSpPr>
        <p:spPr>
          <a:xfrm>
            <a:off x="6670591" y="4124158"/>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79" name="Text 50">
            <a:extLst>
              <a:ext uri="{FF2B5EF4-FFF2-40B4-BE49-F238E27FC236}">
                <a16:creationId xmlns:a16="http://schemas.microsoft.com/office/drawing/2014/main" id="{3AF7109C-EDE8-F8BE-01DA-9C306F9D4491}"/>
              </a:ext>
            </a:extLst>
          </p:cNvPr>
          <p:cNvSpPr/>
          <p:nvPr/>
        </p:nvSpPr>
        <p:spPr>
          <a:xfrm>
            <a:off x="6670591"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1" name="Text 51">
            <a:extLst>
              <a:ext uri="{FF2B5EF4-FFF2-40B4-BE49-F238E27FC236}">
                <a16:creationId xmlns:a16="http://schemas.microsoft.com/office/drawing/2014/main" id="{6A7C6314-C31C-2B4B-7A8D-E8DECD286DE8}"/>
              </a:ext>
            </a:extLst>
          </p:cNvPr>
          <p:cNvSpPr/>
          <p:nvPr/>
        </p:nvSpPr>
        <p:spPr>
          <a:xfrm>
            <a:off x="6887872" y="4105870"/>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サンクス</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誘導</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3" name="Text 52">
            <a:extLst>
              <a:ext uri="{FF2B5EF4-FFF2-40B4-BE49-F238E27FC236}">
                <a16:creationId xmlns:a16="http://schemas.microsoft.com/office/drawing/2014/main" id="{0C3AD28D-E803-BC04-74B7-651CDCD70000}"/>
              </a:ext>
            </a:extLst>
          </p:cNvPr>
          <p:cNvSpPr/>
          <p:nvPr/>
        </p:nvSpPr>
        <p:spPr>
          <a:xfrm>
            <a:off x="6621208" y="4316182"/>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上で受取</a:t>
            </a:r>
            <a:r>
              <a:rPr kumimoji="0" lang="ja-JP" altLang="en-US" sz="750" kern="0" dirty="0">
                <a:solidFill>
                  <a:srgbClr val="4A4A6A"/>
                </a:solidFill>
                <a:latin typeface="メイリオ" panose="020B0604030504040204" pitchFamily="50" charset="-128"/>
                <a:ea typeface="メイリオ" panose="020B0604030504040204" pitchFamily="50" charset="-128"/>
                <a:cs typeface="Calibri" pitchFamily="34" charset="-120"/>
              </a:rPr>
              <a:t>として友だちに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5" name="Text 53">
            <a:extLst>
              <a:ext uri="{FF2B5EF4-FFF2-40B4-BE49-F238E27FC236}">
                <a16:creationId xmlns:a16="http://schemas.microsoft.com/office/drawing/2014/main" id="{2FB8B884-DB13-49DB-D682-50EB7789C9A4}"/>
              </a:ext>
            </a:extLst>
          </p:cNvPr>
          <p:cNvSpPr/>
          <p:nvPr/>
        </p:nvSpPr>
        <p:spPr>
          <a:xfrm>
            <a:off x="7895887" y="4224742"/>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7" name="Shape 54">
            <a:extLst>
              <a:ext uri="{FF2B5EF4-FFF2-40B4-BE49-F238E27FC236}">
                <a16:creationId xmlns:a16="http://schemas.microsoft.com/office/drawing/2014/main" id="{710A2000-BA3B-1AFB-FCE0-644E6898DD03}"/>
              </a:ext>
            </a:extLst>
          </p:cNvPr>
          <p:cNvSpPr/>
          <p:nvPr/>
        </p:nvSpPr>
        <p:spPr>
          <a:xfrm>
            <a:off x="8023903" y="4069294"/>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89" name="Shape 55">
            <a:extLst>
              <a:ext uri="{FF2B5EF4-FFF2-40B4-BE49-F238E27FC236}">
                <a16:creationId xmlns:a16="http://schemas.microsoft.com/office/drawing/2014/main" id="{1037F87F-5E4D-E3F5-E197-701DC444F492}"/>
              </a:ext>
            </a:extLst>
          </p:cNvPr>
          <p:cNvSpPr/>
          <p:nvPr/>
        </p:nvSpPr>
        <p:spPr>
          <a:xfrm>
            <a:off x="8078767" y="4124158"/>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91" name="Text 56">
            <a:extLst>
              <a:ext uri="{FF2B5EF4-FFF2-40B4-BE49-F238E27FC236}">
                <a16:creationId xmlns:a16="http://schemas.microsoft.com/office/drawing/2014/main" id="{B168640B-7EB6-045C-32D4-9F60E9C4069A}"/>
              </a:ext>
            </a:extLst>
          </p:cNvPr>
          <p:cNvSpPr/>
          <p:nvPr/>
        </p:nvSpPr>
        <p:spPr>
          <a:xfrm>
            <a:off x="8078767" y="4124158"/>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3" name="Text 57">
            <a:extLst>
              <a:ext uri="{FF2B5EF4-FFF2-40B4-BE49-F238E27FC236}">
                <a16:creationId xmlns:a16="http://schemas.microsoft.com/office/drawing/2014/main" id="{E14BC7E9-3708-9505-AC4A-060665171BCD}"/>
              </a:ext>
            </a:extLst>
          </p:cNvPr>
          <p:cNvSpPr/>
          <p:nvPr/>
        </p:nvSpPr>
        <p:spPr>
          <a:xfrm>
            <a:off x="8298223" y="4105870"/>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95" name="Text 58">
            <a:extLst>
              <a:ext uri="{FF2B5EF4-FFF2-40B4-BE49-F238E27FC236}">
                <a16:creationId xmlns:a16="http://schemas.microsoft.com/office/drawing/2014/main" id="{5677227D-7522-18E3-CFF0-A01DE3054B96}"/>
              </a:ext>
            </a:extLst>
          </p:cNvPr>
          <p:cNvSpPr/>
          <p:nvPr/>
        </p:nvSpPr>
        <p:spPr>
          <a:xfrm>
            <a:off x="8078767" y="4316182"/>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err="1">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ステップ配信</a:t>
            </a:r>
            <a:r>
              <a:rPr kumimoji="0" lang="ja-JP" altLang="en-US" sz="750" kern="0" dirty="0">
                <a:solidFill>
                  <a:srgbClr val="D0E8FF"/>
                </a:solidFill>
                <a:latin typeface="メイリオ" panose="020B0604030504040204" pitchFamily="50" charset="-128"/>
                <a:ea typeface="メイリオ" panose="020B0604030504040204" pitchFamily="50" charset="-128"/>
                <a:cs typeface="Calibri" pitchFamily="34" charset="-120"/>
              </a:rPr>
              <a:t>対象に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3" name="Shape 88">
            <a:extLst>
              <a:ext uri="{FF2B5EF4-FFF2-40B4-BE49-F238E27FC236}">
                <a16:creationId xmlns:a16="http://schemas.microsoft.com/office/drawing/2014/main" id="{E0F73C02-327E-D244-0ABD-F19F91EB24DD}"/>
              </a:ext>
            </a:extLst>
          </p:cNvPr>
          <p:cNvSpPr/>
          <p:nvPr/>
        </p:nvSpPr>
        <p:spPr>
          <a:xfrm>
            <a:off x="261702" y="2995754"/>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5" name="Shape 36">
            <a:extLst>
              <a:ext uri="{FF2B5EF4-FFF2-40B4-BE49-F238E27FC236}">
                <a16:creationId xmlns:a16="http://schemas.microsoft.com/office/drawing/2014/main" id="{845DFC42-70E6-B496-30C2-C44315D85C79}"/>
              </a:ext>
            </a:extLst>
          </p:cNvPr>
          <p:cNvSpPr/>
          <p:nvPr/>
        </p:nvSpPr>
        <p:spPr>
          <a:xfrm>
            <a:off x="369887" y="307848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547" name="Shape 38">
            <a:extLst>
              <a:ext uri="{FF2B5EF4-FFF2-40B4-BE49-F238E27FC236}">
                <a16:creationId xmlns:a16="http://schemas.microsoft.com/office/drawing/2014/main" id="{2DBF8816-E4F7-4E6B-6AB6-19DEA2101114}"/>
              </a:ext>
            </a:extLst>
          </p:cNvPr>
          <p:cNvSpPr/>
          <p:nvPr/>
        </p:nvSpPr>
        <p:spPr>
          <a:xfrm>
            <a:off x="699071" y="309677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49" name="Text 39">
            <a:extLst>
              <a:ext uri="{FF2B5EF4-FFF2-40B4-BE49-F238E27FC236}">
                <a16:creationId xmlns:a16="http://schemas.microsoft.com/office/drawing/2014/main" id="{27DB11BF-957B-1CEF-3AC8-18BF5DCF40D9}"/>
              </a:ext>
            </a:extLst>
          </p:cNvPr>
          <p:cNvSpPr/>
          <p:nvPr/>
        </p:nvSpPr>
        <p:spPr>
          <a:xfrm>
            <a:off x="699071" y="309677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ja-JP"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CV</a:t>
            </a:r>
            <a:r>
              <a:rPr kumimoji="0" lang="ja-JP" alt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rPr>
              <a:t>地点追加</a:t>
            </a:r>
            <a:endParaRPr kumimoji="0" lang="en-US" sz="750" b="1" i="0" u="none" strike="noStrike" kern="0" cap="none" spc="0" normalizeH="0" baseline="0" noProof="0" dirty="0">
              <a:ln>
                <a:noFill/>
              </a:ln>
              <a:solidFill>
                <a:schemeClr val="accent1"/>
              </a:solidFill>
              <a:effectLst/>
              <a:uLnTx/>
              <a:uFillTx/>
              <a:latin typeface="メイリオ" panose="020B0604030504040204" pitchFamily="50" charset="-128"/>
              <a:ea typeface="メイリオ" panose="020B0604030504040204" pitchFamily="50" charset="-128"/>
            </a:endParaRPr>
          </a:p>
        </p:txBody>
      </p:sp>
      <p:sp>
        <p:nvSpPr>
          <p:cNvPr id="551" name="Text 40">
            <a:extLst>
              <a:ext uri="{FF2B5EF4-FFF2-40B4-BE49-F238E27FC236}">
                <a16:creationId xmlns:a16="http://schemas.microsoft.com/office/drawing/2014/main" id="{C23E771B-F34E-1D51-1F7F-E37507CCE586}"/>
              </a:ext>
            </a:extLst>
          </p:cNvPr>
          <p:cNvSpPr/>
          <p:nvPr/>
        </p:nvSpPr>
        <p:spPr>
          <a:xfrm>
            <a:off x="1558607" y="306934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LINE</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追加をそもそも集客成果の</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1</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地点に追加</a:t>
            </a:r>
            <a:endParaRPr kumimoji="0" lang="en-US"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3" name="Text 41">
            <a:extLst>
              <a:ext uri="{FF2B5EF4-FFF2-40B4-BE49-F238E27FC236}">
                <a16:creationId xmlns:a16="http://schemas.microsoft.com/office/drawing/2014/main" id="{2C88C715-1A68-D7F9-6C3C-2E4E657F87BC}"/>
              </a:ext>
            </a:extLst>
          </p:cNvPr>
          <p:cNvSpPr/>
          <p:nvPr/>
        </p:nvSpPr>
        <p:spPr>
          <a:xfrm>
            <a:off x="369887" y="3371097"/>
            <a:ext cx="4449774" cy="493776"/>
          </a:xfrm>
          <a:prstGeom prst="rect">
            <a:avLst/>
          </a:prstGeom>
          <a:noFill/>
          <a:ln/>
        </p:spPr>
        <p:txBody>
          <a:bodyPr wrap="square" lIns="0" tIns="0" rIns="0" bIns="0" rtlCol="0" anchor="ctr"/>
          <a:lstStyle/>
          <a:p>
            <a:pPr lvl="0">
              <a:lnSpc>
                <a:spcPct val="135000"/>
              </a:lnSpc>
              <a:defRPr/>
            </a:pP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メール、電話を中心とした集客動線では、個人情報としてのハードルが高いため、</a:t>
            </a:r>
            <a:endPar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endParaRPr>
          </a:p>
          <a:p>
            <a:pPr lvl="0">
              <a:lnSpc>
                <a:spcPct val="135000"/>
              </a:lnSpc>
              <a:defRPr/>
            </a:pP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集客実施内でのリード獲得単価を抑制できる上、反応率が高い</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LINE</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を動線の</a:t>
            </a:r>
            <a:r>
              <a:rPr kumimoji="0" lang="en-US" altLang="ja-JP" sz="850" kern="0" dirty="0">
                <a:solidFill>
                  <a:srgbClr val="4A4A6A"/>
                </a:solidFill>
                <a:latin typeface="メイリオ" panose="020B0604030504040204" pitchFamily="50" charset="-128"/>
                <a:ea typeface="メイリオ" panose="020B0604030504040204" pitchFamily="50" charset="-128"/>
                <a:cs typeface="Calibri" pitchFamily="34" charset="-120"/>
              </a:rPr>
              <a:t>1</a:t>
            </a:r>
            <a:r>
              <a:rPr kumimoji="0" lang="ja-JP" altLang="en-US" sz="850" kern="0" dirty="0">
                <a:solidFill>
                  <a:srgbClr val="4A4A6A"/>
                </a:solidFill>
                <a:latin typeface="メイリオ" panose="020B0604030504040204" pitchFamily="50" charset="-128"/>
                <a:ea typeface="メイリオ" panose="020B0604030504040204" pitchFamily="50" charset="-128"/>
                <a:cs typeface="Calibri" pitchFamily="34" charset="-120"/>
              </a:rPr>
              <a:t>つに。</a:t>
            </a:r>
            <a:endParaRPr kumimoji="0" lang="en-US" sz="850" b="1"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55" name="Shape 42">
            <a:extLst>
              <a:ext uri="{FF2B5EF4-FFF2-40B4-BE49-F238E27FC236}">
                <a16:creationId xmlns:a16="http://schemas.microsoft.com/office/drawing/2014/main" id="{113510A9-9BDD-9FAD-90F6-0D1EC0BCB699}"/>
              </a:ext>
            </a:extLst>
          </p:cNvPr>
          <p:cNvSpPr/>
          <p:nvPr/>
        </p:nvSpPr>
        <p:spPr>
          <a:xfrm>
            <a:off x="369887"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7" name="Shape 43">
            <a:extLst>
              <a:ext uri="{FF2B5EF4-FFF2-40B4-BE49-F238E27FC236}">
                <a16:creationId xmlns:a16="http://schemas.microsoft.com/office/drawing/2014/main" id="{4E4A9CB8-BC81-64F6-260F-5F493122A66C}"/>
              </a:ext>
            </a:extLst>
          </p:cNvPr>
          <p:cNvSpPr/>
          <p:nvPr/>
        </p:nvSpPr>
        <p:spPr>
          <a:xfrm>
            <a:off x="424751"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59" name="Text 44">
            <a:extLst>
              <a:ext uri="{FF2B5EF4-FFF2-40B4-BE49-F238E27FC236}">
                <a16:creationId xmlns:a16="http://schemas.microsoft.com/office/drawing/2014/main" id="{1140FDA8-6C5C-AE0C-F98C-11C8C0A073FE}"/>
              </a:ext>
            </a:extLst>
          </p:cNvPr>
          <p:cNvSpPr/>
          <p:nvPr/>
        </p:nvSpPr>
        <p:spPr>
          <a:xfrm>
            <a:off x="424751"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1" name="Text 45">
            <a:extLst>
              <a:ext uri="{FF2B5EF4-FFF2-40B4-BE49-F238E27FC236}">
                <a16:creationId xmlns:a16="http://schemas.microsoft.com/office/drawing/2014/main" id="{A22E630F-5396-9B90-711A-C5DCE95E1469}"/>
              </a:ext>
            </a:extLst>
          </p:cNvPr>
          <p:cNvSpPr/>
          <p:nvPr/>
        </p:nvSpPr>
        <p:spPr>
          <a:xfrm>
            <a:off x="644207"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広告・</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SEO</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a:t>
            </a: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SNS</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3" name="Text 46">
            <a:extLst>
              <a:ext uri="{FF2B5EF4-FFF2-40B4-BE49-F238E27FC236}">
                <a16:creationId xmlns:a16="http://schemas.microsoft.com/office/drawing/2014/main" id="{963027FB-D92E-2D7B-6655-63BA79599E4C}"/>
              </a:ext>
            </a:extLst>
          </p:cNvPr>
          <p:cNvSpPr/>
          <p:nvPr/>
        </p:nvSpPr>
        <p:spPr>
          <a:xfrm>
            <a:off x="424751"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流入チャネル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5" name="Text 47">
            <a:extLst>
              <a:ext uri="{FF2B5EF4-FFF2-40B4-BE49-F238E27FC236}">
                <a16:creationId xmlns:a16="http://schemas.microsoft.com/office/drawing/2014/main" id="{74B99422-CBF5-9B4D-0494-5C4443B23CDC}"/>
              </a:ext>
            </a:extLst>
          </p:cNvPr>
          <p:cNvSpPr/>
          <p:nvPr/>
        </p:nvSpPr>
        <p:spPr>
          <a:xfrm>
            <a:off x="1650047"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67" name="Shape 48">
            <a:extLst>
              <a:ext uri="{FF2B5EF4-FFF2-40B4-BE49-F238E27FC236}">
                <a16:creationId xmlns:a16="http://schemas.microsoft.com/office/drawing/2014/main" id="{8B8CFEAA-9314-449D-1074-EF75AFDAC19A}"/>
              </a:ext>
            </a:extLst>
          </p:cNvPr>
          <p:cNvSpPr/>
          <p:nvPr/>
        </p:nvSpPr>
        <p:spPr>
          <a:xfrm>
            <a:off x="1778063" y="406527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69" name="Shape 49">
            <a:extLst>
              <a:ext uri="{FF2B5EF4-FFF2-40B4-BE49-F238E27FC236}">
                <a16:creationId xmlns:a16="http://schemas.microsoft.com/office/drawing/2014/main" id="{C950146B-431E-366D-1457-E0150725DAB8}"/>
              </a:ext>
            </a:extLst>
          </p:cNvPr>
          <p:cNvSpPr/>
          <p:nvPr/>
        </p:nvSpPr>
        <p:spPr>
          <a:xfrm>
            <a:off x="1832927" y="412014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71" name="Text 50">
            <a:extLst>
              <a:ext uri="{FF2B5EF4-FFF2-40B4-BE49-F238E27FC236}">
                <a16:creationId xmlns:a16="http://schemas.microsoft.com/office/drawing/2014/main" id="{2812D2BF-5313-2DA8-B2ED-115987FDA314}"/>
              </a:ext>
            </a:extLst>
          </p:cNvPr>
          <p:cNvSpPr/>
          <p:nvPr/>
        </p:nvSpPr>
        <p:spPr>
          <a:xfrm>
            <a:off x="1832927"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3" name="Text 51">
            <a:extLst>
              <a:ext uri="{FF2B5EF4-FFF2-40B4-BE49-F238E27FC236}">
                <a16:creationId xmlns:a16="http://schemas.microsoft.com/office/drawing/2014/main" id="{61B9DBCC-02E6-6237-0DAD-ED9142171120}"/>
              </a:ext>
            </a:extLst>
          </p:cNvPr>
          <p:cNvSpPr/>
          <p:nvPr/>
        </p:nvSpPr>
        <p:spPr>
          <a:xfrm>
            <a:off x="2050208" y="4101855"/>
            <a:ext cx="100584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85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・ポップアップ</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5" name="Text 52">
            <a:extLst>
              <a:ext uri="{FF2B5EF4-FFF2-40B4-BE49-F238E27FC236}">
                <a16:creationId xmlns:a16="http://schemas.microsoft.com/office/drawing/2014/main" id="{1CF9536A-5A56-D77B-3F08-8BACCB3B4827}"/>
              </a:ext>
            </a:extLst>
          </p:cNvPr>
          <p:cNvSpPr/>
          <p:nvPr/>
        </p:nvSpPr>
        <p:spPr>
          <a:xfrm>
            <a:off x="1783544" y="4312167"/>
            <a:ext cx="137196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altLang="ja-JP"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LP</a:t>
            </a:r>
            <a:r>
              <a:rPr kumimoji="0" lang="ja-JP" altLang="en-US" sz="7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やポップアップでの動線に</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7" name="Text 53">
            <a:extLst>
              <a:ext uri="{FF2B5EF4-FFF2-40B4-BE49-F238E27FC236}">
                <a16:creationId xmlns:a16="http://schemas.microsoft.com/office/drawing/2014/main" id="{6C4945AC-3CDA-2080-CEF1-36A24E6529F2}"/>
              </a:ext>
            </a:extLst>
          </p:cNvPr>
          <p:cNvSpPr/>
          <p:nvPr/>
        </p:nvSpPr>
        <p:spPr>
          <a:xfrm>
            <a:off x="3058223" y="422072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79" name="Shape 54">
            <a:extLst>
              <a:ext uri="{FF2B5EF4-FFF2-40B4-BE49-F238E27FC236}">
                <a16:creationId xmlns:a16="http://schemas.microsoft.com/office/drawing/2014/main" id="{FB4A19A3-2EF9-47D2-F075-70F2D5D6B076}"/>
              </a:ext>
            </a:extLst>
          </p:cNvPr>
          <p:cNvSpPr/>
          <p:nvPr/>
        </p:nvSpPr>
        <p:spPr>
          <a:xfrm>
            <a:off x="3186239" y="406527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1" name="Shape 55">
            <a:extLst>
              <a:ext uri="{FF2B5EF4-FFF2-40B4-BE49-F238E27FC236}">
                <a16:creationId xmlns:a16="http://schemas.microsoft.com/office/drawing/2014/main" id="{6B43E1E4-2A7D-AD40-67F5-6B516A71860E}"/>
              </a:ext>
            </a:extLst>
          </p:cNvPr>
          <p:cNvSpPr/>
          <p:nvPr/>
        </p:nvSpPr>
        <p:spPr>
          <a:xfrm>
            <a:off x="3241103" y="412014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83" name="Text 56">
            <a:extLst>
              <a:ext uri="{FF2B5EF4-FFF2-40B4-BE49-F238E27FC236}">
                <a16:creationId xmlns:a16="http://schemas.microsoft.com/office/drawing/2014/main" id="{2E67F49B-16BE-07E6-9262-E50D4D3A8F60}"/>
              </a:ext>
            </a:extLst>
          </p:cNvPr>
          <p:cNvSpPr/>
          <p:nvPr/>
        </p:nvSpPr>
        <p:spPr>
          <a:xfrm>
            <a:off x="3241103" y="412014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5" name="Text 57">
            <a:extLst>
              <a:ext uri="{FF2B5EF4-FFF2-40B4-BE49-F238E27FC236}">
                <a16:creationId xmlns:a16="http://schemas.microsoft.com/office/drawing/2014/main" id="{AA931AD0-7A16-05D2-D8C7-AB50301B6C53}"/>
              </a:ext>
            </a:extLst>
          </p:cNvPr>
          <p:cNvSpPr/>
          <p:nvPr/>
        </p:nvSpPr>
        <p:spPr>
          <a:xfrm>
            <a:off x="3460559" y="4101855"/>
            <a:ext cx="914400" cy="18288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85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友だち追加完了</a:t>
            </a:r>
            <a:endParaRPr kumimoji="0" lang="en-US" sz="8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87" name="Text 58">
            <a:extLst>
              <a:ext uri="{FF2B5EF4-FFF2-40B4-BE49-F238E27FC236}">
                <a16:creationId xmlns:a16="http://schemas.microsoft.com/office/drawing/2014/main" id="{54B49D2D-4FC3-300F-AAB4-B1D6ACEDA33A}"/>
              </a:ext>
            </a:extLst>
          </p:cNvPr>
          <p:cNvSpPr/>
          <p:nvPr/>
        </p:nvSpPr>
        <p:spPr>
          <a:xfrm>
            <a:off x="3241103" y="4312167"/>
            <a:ext cx="1133856" cy="201168"/>
          </a:xfrm>
          <a:prstGeom prst="rect">
            <a:avLst/>
          </a:prstGeom>
          <a:noFill/>
          <a:ln/>
        </p:spPr>
        <p:txBody>
          <a:bodyPr wrap="square" lIns="0" tIns="0" rIns="0" bIns="0" rtlCol="0" anchor="ctr"/>
          <a:lstStyle/>
          <a:p>
            <a:pPr marL="0" marR="0" lvl="0" indent="0" defTabSz="914400" eaLnBrk="1" fontAlgn="auto" latinLnBrk="0" hangingPunct="1">
              <a:lnSpc>
                <a:spcPct val="115000"/>
              </a:lnSpc>
              <a:spcBef>
                <a:spcPts val="0"/>
              </a:spcBef>
              <a:spcAft>
                <a:spcPts val="0"/>
              </a:spcAft>
              <a:buClrTx/>
              <a:buSzTx/>
              <a:buFontTx/>
              <a:buNone/>
              <a:tabLst/>
              <a:defRPr/>
            </a:pPr>
            <a:r>
              <a:rPr kumimoji="0" lang="en-US" sz="750" b="0" i="0" u="none" strike="noStrike" kern="0" cap="none" spc="0" normalizeH="0" baseline="0" noProof="0" dirty="0">
                <a:ln>
                  <a:noFill/>
                </a:ln>
                <a:solidFill>
                  <a:srgbClr val="D0E8FF"/>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AD750B5D-07B2-F81B-8894-97831AB44188}"/>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6" name="Shape 88">
            <a:extLst>
              <a:ext uri="{FF2B5EF4-FFF2-40B4-BE49-F238E27FC236}">
                <a16:creationId xmlns:a16="http://schemas.microsoft.com/office/drawing/2014/main" id="{D0EC0F33-09F6-41B1-2488-C9F12FCE2CDD}"/>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9571587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8CB184C-78E9-D432-060D-EA3167991AB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配信設計｜改善モデル②</a:t>
            </a:r>
          </a:p>
        </p:txBody>
      </p:sp>
      <p:sp>
        <p:nvSpPr>
          <p:cNvPr id="27" name="テキスト ボックス 26">
            <a:extLst>
              <a:ext uri="{FF2B5EF4-FFF2-40B4-BE49-F238E27FC236}">
                <a16:creationId xmlns:a16="http://schemas.microsoft.com/office/drawing/2014/main" id="{CD5B9619-DF62-5A09-8786-F83CA0529EF7}"/>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4FBA5686-1B33-AF5C-E6BC-2E0C88B24352}"/>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D27D1FC0-FB35-21DC-CE25-F2D2125F242E}"/>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212DB55-F234-8FD7-C030-3F285C1EC16D}"/>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72B04E50-7661-9621-AE78-3522F8E664CF}"/>
              </a:ext>
            </a:extLst>
          </p:cNvPr>
          <p:cNvCxnSpPr>
            <a:cxnSpLocks/>
            <a:stCxn id="30" idx="0"/>
          </p:cNvCxnSpPr>
          <p:nvPr/>
        </p:nvCxnSpPr>
        <p:spPr>
          <a:xfrm rot="5400000" flipH="1" flipV="1">
            <a:off x="4270984" y="1681932"/>
            <a:ext cx="246792" cy="44239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323ECFC3-BA42-FBB4-E25E-F72CFED142D3}"/>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E9E0720-3E3A-6F6F-EF58-0D05A19D436C}"/>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08A18FCF-114F-90AD-1C87-48385A2F1077}"/>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6534C85A-CAF2-CB68-930A-76AF50820018}"/>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3DC92EFA-89CD-05D2-4375-F2DE5BE5DDE6}"/>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1" name="Google Shape;752;p28">
            <a:extLst>
              <a:ext uri="{FF2B5EF4-FFF2-40B4-BE49-F238E27FC236}">
                <a16:creationId xmlns:a16="http://schemas.microsoft.com/office/drawing/2014/main" id="{9920090D-60BB-935F-AD0B-B7717467EA77}"/>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獲得されたリードを</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接触</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商談</a:t>
            </a:r>
            <a:r>
              <a:rPr lang="en-US" altLang="ja-JP" sz="1600" b="1" dirty="0">
                <a:latin typeface="メイリオ" panose="020B0604030504040204" pitchFamily="50" charset="-128"/>
                <a:ea typeface="メイリオ" panose="020B0604030504040204" pitchFamily="50" charset="-128"/>
                <a:cs typeface="Meiryo"/>
                <a:sym typeface="Meiryo"/>
              </a:rPr>
              <a:t>]</a:t>
            </a:r>
            <a:r>
              <a:rPr lang="ja-JP" altLang="en-US" sz="1600" b="1" dirty="0">
                <a:latin typeface="メイリオ" panose="020B0604030504040204" pitchFamily="50" charset="-128"/>
                <a:ea typeface="メイリオ" panose="020B0604030504040204" pitchFamily="50" charset="-128"/>
                <a:cs typeface="Meiryo"/>
                <a:sym typeface="Meiryo"/>
              </a:rPr>
              <a:t>などの直リーチができる状態に引き上げる。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 name="正方形/長方形 5">
            <a:extLst>
              <a:ext uri="{FF2B5EF4-FFF2-40B4-BE49-F238E27FC236}">
                <a16:creationId xmlns:a16="http://schemas.microsoft.com/office/drawing/2014/main" id="{E9F5C7F3-E9F1-D740-6953-AD8AB98C4502}"/>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AD26C97A-E96F-4F7B-9B0B-D735414D6034}"/>
              </a:ext>
            </a:extLst>
          </p:cNvPr>
          <p:cNvSpPr txBox="1"/>
          <p:nvPr/>
        </p:nvSpPr>
        <p:spPr>
          <a:xfrm>
            <a:off x="3542139" y="1396711"/>
            <a:ext cx="2352196" cy="38302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リード有効化</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796E80A6-B5BB-3A8B-412E-06EE28AF0C99}"/>
              </a:ext>
            </a:extLst>
          </p:cNvPr>
          <p:cNvSpPr txBox="1"/>
          <p:nvPr/>
        </p:nvSpPr>
        <p:spPr>
          <a:xfrm>
            <a:off x="4830776" y="1593660"/>
            <a:ext cx="2352196" cy="379232"/>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⑥ 有効リードの再育成</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CC6A546-6A9E-3367-D71C-1DB3BEF66AA8}"/>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rgbClr val="FFC000"/>
                </a:solidFill>
                <a:latin typeface="メイリオ" panose="020B0604030504040204" pitchFamily="50" charset="-128"/>
                <a:ea typeface="メイリオ" panose="020B0604030504040204" pitchFamily="50" charset="-128"/>
              </a:rPr>
              <a:t>短期：</a:t>
            </a:r>
            <a:r>
              <a:rPr kumimoji="1" lang="ja-JP" altLang="en-US" sz="1050" b="1" dirty="0">
                <a:latin typeface="メイリオ" panose="020B0604030504040204" pitchFamily="50" charset="-128"/>
                <a:ea typeface="メイリオ" panose="020B0604030504040204" pitchFamily="50" charset="-128"/>
              </a:rPr>
              <a:t>ナーチャリングにより、情報収集→実来店・直面談の機会設定</a:t>
            </a:r>
          </a:p>
        </p:txBody>
      </p:sp>
      <p:sp>
        <p:nvSpPr>
          <p:cNvPr id="15" name="正方形/長方形 14">
            <a:extLst>
              <a:ext uri="{FF2B5EF4-FFF2-40B4-BE49-F238E27FC236}">
                <a16:creationId xmlns:a16="http://schemas.microsoft.com/office/drawing/2014/main" id="{400321D5-E759-A2AB-D632-D8852C5C2531}"/>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rgbClr val="FFC000"/>
                </a:solidFill>
                <a:latin typeface="メイリオ" panose="020B0604030504040204" pitchFamily="50" charset="-128"/>
                <a:ea typeface="メイリオ" panose="020B0604030504040204" pitchFamily="50" charset="-128"/>
              </a:rPr>
              <a:t>長期：</a:t>
            </a:r>
            <a:r>
              <a:rPr lang="ja-JP" altLang="en-US" sz="1050" b="1" dirty="0">
                <a:latin typeface="メイリオ" panose="020B0604030504040204" pitchFamily="50" charset="-128"/>
                <a:ea typeface="メイリオ" panose="020B0604030504040204" pitchFamily="50" charset="-128"/>
              </a:rPr>
              <a:t>休眠顧客リスト、すぐすぐ以外の層に再度接点を</a:t>
            </a:r>
          </a:p>
        </p:txBody>
      </p:sp>
      <p:sp>
        <p:nvSpPr>
          <p:cNvPr id="19" name="Shape 34">
            <a:extLst>
              <a:ext uri="{FF2B5EF4-FFF2-40B4-BE49-F238E27FC236}">
                <a16:creationId xmlns:a16="http://schemas.microsoft.com/office/drawing/2014/main" id="{E40C1293-6205-BD09-C870-AB694054FE21}"/>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 name="Shape 36">
            <a:extLst>
              <a:ext uri="{FF2B5EF4-FFF2-40B4-BE49-F238E27FC236}">
                <a16:creationId xmlns:a16="http://schemas.microsoft.com/office/drawing/2014/main" id="{016D3DBA-827E-69AE-84A8-B5FA4B627604}"/>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Shape 38">
            <a:extLst>
              <a:ext uri="{FF2B5EF4-FFF2-40B4-BE49-F238E27FC236}">
                <a16:creationId xmlns:a16="http://schemas.microsoft.com/office/drawing/2014/main" id="{890CC249-519E-F80A-D737-4911D36F86B6}"/>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 name="Text 39">
            <a:extLst>
              <a:ext uri="{FF2B5EF4-FFF2-40B4-BE49-F238E27FC236}">
                <a16:creationId xmlns:a16="http://schemas.microsoft.com/office/drawing/2014/main" id="{006785A7-ADAB-E382-C3A3-3F5FA13C51E7}"/>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ステップ配信</a:t>
            </a:r>
          </a:p>
        </p:txBody>
      </p:sp>
      <p:sp>
        <p:nvSpPr>
          <p:cNvPr id="31" name="Text 40">
            <a:extLst>
              <a:ext uri="{FF2B5EF4-FFF2-40B4-BE49-F238E27FC236}">
                <a16:creationId xmlns:a16="http://schemas.microsoft.com/office/drawing/2014/main" id="{560BDF4C-A3DE-DDCD-85B8-65A392B6CE01}"/>
              </a:ext>
            </a:extLst>
          </p:cNvPr>
          <p:cNvSpPr/>
          <p:nvPr/>
        </p:nvSpPr>
        <p:spPr>
          <a:xfrm>
            <a:off x="1545579" y="3082065"/>
            <a:ext cx="3319066" cy="256032"/>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ステップ配信 </a:t>
            </a:r>
            <a:r>
              <a:rPr kumimoji="0" lang="en-US" altLang="ja-JP"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 </a:t>
            </a:r>
            <a:r>
              <a:rPr kumimoji="0" lang="ja-JP" altLang="en-US" sz="1100" b="1" i="0" u="none" strike="noStrike" kern="0" cap="none" spc="0" normalizeH="0" baseline="0" noProof="0" dirty="0">
                <a:ln>
                  <a:noFill/>
                </a:ln>
                <a:solidFill>
                  <a:srgbClr val="1A1A2E"/>
                </a:solidFill>
                <a:effectLst/>
                <a:uLnTx/>
                <a:uFillTx/>
                <a:latin typeface="メイリオ" panose="020B0604030504040204" pitchFamily="50" charset="-128"/>
                <a:ea typeface="メイリオ" panose="020B0604030504040204" pitchFamily="50" charset="-128"/>
                <a:cs typeface="Calibri" pitchFamily="34" charset="-120"/>
              </a:rPr>
              <a:t>限定面談オファーで商談化</a:t>
            </a:r>
          </a:p>
        </p:txBody>
      </p:sp>
      <p:sp>
        <p:nvSpPr>
          <p:cNvPr id="34" name="Text 41">
            <a:extLst>
              <a:ext uri="{FF2B5EF4-FFF2-40B4-BE49-F238E27FC236}">
                <a16:creationId xmlns:a16="http://schemas.microsoft.com/office/drawing/2014/main" id="{99B219D6-3C6C-5799-528B-587E37059F99}"/>
              </a:ext>
            </a:extLst>
          </p:cNvPr>
          <p:cNvSpPr/>
          <p:nvPr/>
        </p:nvSpPr>
        <p:spPr>
          <a:xfrm>
            <a:off x="356859" y="3383817"/>
            <a:ext cx="4449774" cy="493776"/>
          </a:xfrm>
          <a:prstGeom prst="rect">
            <a:avLst/>
          </a:prstGeom>
          <a:noFill/>
          <a:ln/>
        </p:spPr>
        <p:txBody>
          <a:bodyPr wrap="square" lIns="0" tIns="0" rIns="0" bIns="0" rtlCol="0" anchor="ctr"/>
          <a:lstStyle/>
          <a:p>
            <a:pPr marL="0" marR="0" lvl="0" indent="0" defTabSz="914400" eaLnBrk="1" fontAlgn="auto" latinLnBrk="0" hangingPunct="1">
              <a:lnSpc>
                <a:spcPct val="135000"/>
              </a:lnSpc>
              <a:spcBef>
                <a:spcPts val="0"/>
              </a:spcBef>
              <a:spcAft>
                <a:spcPts val="0"/>
              </a:spcAft>
              <a:buClrTx/>
              <a:buSzTx/>
              <a:buFontTx/>
              <a:buNone/>
              <a:tabLst/>
              <a:defRPr/>
            </a:pP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資料→</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Day3</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よくある質問→</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Day7</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事例紹介→</a:t>
            </a:r>
            <a:r>
              <a:rPr kumimoji="0" lang="en-US" altLang="ja-JP"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Day10</a:t>
            </a:r>
            <a:r>
              <a:rPr kumimoji="0" lang="ja-JP" altLang="en-US" sz="850" b="0" i="0" u="none" strike="noStrike" kern="0" cap="none" spc="0" normalizeH="0" baseline="0" noProof="0" dirty="0">
                <a:ln>
                  <a:noFill/>
                </a:ln>
                <a:solidFill>
                  <a:srgbClr val="4A4A6A"/>
                </a:solidFill>
                <a:effectLst/>
                <a:uLnTx/>
                <a:uFillTx/>
                <a:latin typeface="メイリオ" panose="020B0604030504040204" pitchFamily="50" charset="-128"/>
                <a:ea typeface="メイリオ" panose="020B0604030504040204" pitchFamily="50" charset="-128"/>
                <a:cs typeface="Calibri" pitchFamily="34" charset="-120"/>
              </a:rPr>
              <a:t>「今月限定・無料個別相談を○名様に」。「今すぐ買って」ではなく「まず話を聞くだけ」という低ハードル面談設定が鍵。限定性・数量制限で動機付け。</a:t>
            </a:r>
          </a:p>
        </p:txBody>
      </p:sp>
      <p:sp>
        <p:nvSpPr>
          <p:cNvPr id="36" name="Shape 42">
            <a:extLst>
              <a:ext uri="{FF2B5EF4-FFF2-40B4-BE49-F238E27FC236}">
                <a16:creationId xmlns:a16="http://schemas.microsoft.com/office/drawing/2014/main" id="{B511359D-C466-1D8A-5E4D-5C77E951F93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 name="Shape 43">
            <a:extLst>
              <a:ext uri="{FF2B5EF4-FFF2-40B4-BE49-F238E27FC236}">
                <a16:creationId xmlns:a16="http://schemas.microsoft.com/office/drawing/2014/main" id="{CB296A78-8B99-D908-AF84-F6571FA229F6}"/>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40" name="Text 44">
            <a:extLst>
              <a:ext uri="{FF2B5EF4-FFF2-40B4-BE49-F238E27FC236}">
                <a16:creationId xmlns:a16="http://schemas.microsoft.com/office/drawing/2014/main" id="{AA71EAAC-4F67-049F-5CB3-013124E72A38}"/>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2" name="Text 45">
            <a:extLst>
              <a:ext uri="{FF2B5EF4-FFF2-40B4-BE49-F238E27FC236}">
                <a16:creationId xmlns:a16="http://schemas.microsoft.com/office/drawing/2014/main" id="{42A6B48D-4266-BBC8-D43E-C90410471214}"/>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Day0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資料送付</a:t>
            </a:r>
            <a:endParaRPr lang="en-US" altLang="ja-JP" sz="850" dirty="0">
              <a:latin typeface="メイリオ" panose="020B0604030504040204" pitchFamily="50" charset="-128"/>
              <a:ea typeface="メイリオ" panose="020B0604030504040204" pitchFamily="50" charset="-128"/>
            </a:endParaRPr>
          </a:p>
        </p:txBody>
      </p:sp>
      <p:sp>
        <p:nvSpPr>
          <p:cNvPr id="44" name="Text 46">
            <a:extLst>
              <a:ext uri="{FF2B5EF4-FFF2-40B4-BE49-F238E27FC236}">
                <a16:creationId xmlns:a16="http://schemas.microsoft.com/office/drawing/2014/main" id="{2E529A7C-08F8-B965-8436-D648196C6289}"/>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即時価値提供</a:t>
            </a:r>
            <a:endParaRPr lang="en-US" altLang="ja-JP" sz="750" dirty="0">
              <a:latin typeface="メイリオ" panose="020B0604030504040204" pitchFamily="50" charset="-128"/>
              <a:ea typeface="メイリオ" panose="020B0604030504040204" pitchFamily="50" charset="-128"/>
            </a:endParaRPr>
          </a:p>
        </p:txBody>
      </p:sp>
      <p:sp>
        <p:nvSpPr>
          <p:cNvPr id="46" name="Text 47">
            <a:extLst>
              <a:ext uri="{FF2B5EF4-FFF2-40B4-BE49-F238E27FC236}">
                <a16:creationId xmlns:a16="http://schemas.microsoft.com/office/drawing/2014/main" id="{A451AFAF-0FA1-3FD6-C1D3-3C9BFFAAC97A}"/>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48" name="Shape 48">
            <a:extLst>
              <a:ext uri="{FF2B5EF4-FFF2-40B4-BE49-F238E27FC236}">
                <a16:creationId xmlns:a16="http://schemas.microsoft.com/office/drawing/2014/main" id="{5210973B-C00E-2564-6A70-0A7CEC5FC41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0" name="Shape 49">
            <a:extLst>
              <a:ext uri="{FF2B5EF4-FFF2-40B4-BE49-F238E27FC236}">
                <a16:creationId xmlns:a16="http://schemas.microsoft.com/office/drawing/2014/main" id="{7F26AFE2-607A-7519-13A7-AE894D5EE528}"/>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52" name="Text 50">
            <a:extLst>
              <a:ext uri="{FF2B5EF4-FFF2-40B4-BE49-F238E27FC236}">
                <a16:creationId xmlns:a16="http://schemas.microsoft.com/office/drawing/2014/main" id="{265C8DF0-C86B-C86C-3E73-66465F4B1369}"/>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54" name="Text 51">
            <a:extLst>
              <a:ext uri="{FF2B5EF4-FFF2-40B4-BE49-F238E27FC236}">
                <a16:creationId xmlns:a16="http://schemas.microsoft.com/office/drawing/2014/main" id="{A95F52FD-E9C5-4730-028B-AF50835B0B2E}"/>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Day7 </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事例配信</a:t>
            </a:r>
            <a:endParaRPr lang="en-US" altLang="ja-JP" sz="850" dirty="0">
              <a:latin typeface="メイリオ" panose="020B0604030504040204" pitchFamily="50" charset="-128"/>
              <a:ea typeface="メイリオ" panose="020B0604030504040204" pitchFamily="50" charset="-128"/>
            </a:endParaRPr>
          </a:p>
        </p:txBody>
      </p:sp>
      <p:sp>
        <p:nvSpPr>
          <p:cNvPr id="56" name="Text 52">
            <a:extLst>
              <a:ext uri="{FF2B5EF4-FFF2-40B4-BE49-F238E27FC236}">
                <a16:creationId xmlns:a16="http://schemas.microsoft.com/office/drawing/2014/main" id="{5856973E-600C-9F69-B73B-7CF0931A980E}"/>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信頼醸成</a:t>
            </a:r>
            <a:endParaRPr lang="en-US" altLang="ja-JP" sz="750" dirty="0">
              <a:latin typeface="メイリオ" panose="020B0604030504040204" pitchFamily="50" charset="-128"/>
              <a:ea typeface="メイリオ" panose="020B0604030504040204" pitchFamily="50" charset="-128"/>
            </a:endParaRPr>
          </a:p>
        </p:txBody>
      </p:sp>
      <p:sp>
        <p:nvSpPr>
          <p:cNvPr id="58" name="Text 53">
            <a:extLst>
              <a:ext uri="{FF2B5EF4-FFF2-40B4-BE49-F238E27FC236}">
                <a16:creationId xmlns:a16="http://schemas.microsoft.com/office/drawing/2014/main" id="{758EA0D7-BE56-1F06-1A23-C564494322D2}"/>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0" name="Shape 54">
            <a:extLst>
              <a:ext uri="{FF2B5EF4-FFF2-40B4-BE49-F238E27FC236}">
                <a16:creationId xmlns:a16="http://schemas.microsoft.com/office/drawing/2014/main" id="{464D5640-6F1D-C6E1-393C-A5458B5A22C9}"/>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2" name="Shape 55">
            <a:extLst>
              <a:ext uri="{FF2B5EF4-FFF2-40B4-BE49-F238E27FC236}">
                <a16:creationId xmlns:a16="http://schemas.microsoft.com/office/drawing/2014/main" id="{89FC4EAE-E7E8-DC03-5DFF-37074D8D82B6}"/>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64" name="Text 56">
            <a:extLst>
              <a:ext uri="{FF2B5EF4-FFF2-40B4-BE49-F238E27FC236}">
                <a16:creationId xmlns:a16="http://schemas.microsoft.com/office/drawing/2014/main" id="{B33A9BF0-EC24-F583-5FA0-A5880F0E6A12}"/>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66" name="Text 57">
            <a:extLst>
              <a:ext uri="{FF2B5EF4-FFF2-40B4-BE49-F238E27FC236}">
                <a16:creationId xmlns:a16="http://schemas.microsoft.com/office/drawing/2014/main" id="{38746766-2598-E7FF-013F-7AF41C0BF589}"/>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Day10 </a:t>
            </a:r>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オファ</a:t>
            </a:r>
            <a:r>
              <a:rPr lang="en-US" altLang="ja-JP" sz="850" b="1" dirty="0">
                <a:solidFill>
                  <a:srgbClr val="FFFFFF"/>
                </a:solidFill>
                <a:latin typeface="メイリオ" panose="020B0604030504040204" pitchFamily="50" charset="-128"/>
                <a:ea typeface="メイリオ" panose="020B0604030504040204" pitchFamily="50" charset="-128"/>
                <a:cs typeface="Calibri" pitchFamily="34" charset="-120"/>
              </a:rPr>
              <a:t>ー</a:t>
            </a:r>
            <a:endParaRPr lang="en-US" altLang="ja-JP" sz="850" dirty="0">
              <a:latin typeface="メイリオ" panose="020B0604030504040204" pitchFamily="50" charset="-128"/>
              <a:ea typeface="メイリオ" panose="020B0604030504040204" pitchFamily="50" charset="-128"/>
            </a:endParaRPr>
          </a:p>
        </p:txBody>
      </p:sp>
      <p:sp>
        <p:nvSpPr>
          <p:cNvPr id="68" name="Text 58">
            <a:extLst>
              <a:ext uri="{FF2B5EF4-FFF2-40B4-BE49-F238E27FC236}">
                <a16:creationId xmlns:a16="http://schemas.microsoft.com/office/drawing/2014/main" id="{EE1DF143-F3CF-E063-7DA2-53A3D0BCB28D}"/>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限定・数量制限</a:t>
            </a:r>
            <a:endParaRPr lang="en-US" altLang="ja-JP" sz="750" dirty="0">
              <a:latin typeface="メイリオ" panose="020B0604030504040204" pitchFamily="50" charset="-128"/>
              <a:ea typeface="メイリオ" panose="020B0604030504040204" pitchFamily="50" charset="-128"/>
            </a:endParaRPr>
          </a:p>
        </p:txBody>
      </p:sp>
      <p:sp>
        <p:nvSpPr>
          <p:cNvPr id="70" name="Shape 59">
            <a:extLst>
              <a:ext uri="{FF2B5EF4-FFF2-40B4-BE49-F238E27FC236}">
                <a16:creationId xmlns:a16="http://schemas.microsoft.com/office/drawing/2014/main" id="{ED1F64AB-43E6-3EF4-E22A-1C2B3A1EAFE6}"/>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2" name="Shape 63">
            <a:extLst>
              <a:ext uri="{FF2B5EF4-FFF2-40B4-BE49-F238E27FC236}">
                <a16:creationId xmlns:a16="http://schemas.microsoft.com/office/drawing/2014/main" id="{38B1441B-4C63-5D92-EC3A-90F6C29F7A30}"/>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74" name="Text 64">
            <a:extLst>
              <a:ext uri="{FF2B5EF4-FFF2-40B4-BE49-F238E27FC236}">
                <a16:creationId xmlns:a16="http://schemas.microsoft.com/office/drawing/2014/main" id="{57430ED0-462D-34B1-A475-D78F816729F5}"/>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LINE広告</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76" name="Text 65">
            <a:extLst>
              <a:ext uri="{FF2B5EF4-FFF2-40B4-BE49-F238E27FC236}">
                <a16:creationId xmlns:a16="http://schemas.microsoft.com/office/drawing/2014/main" id="{B7DB943B-00E9-7974-CDB8-CF2D59CC61D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アンケート</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スコアリングで商談自動振り分け</a:t>
            </a:r>
            <a:endParaRPr lang="en-US" altLang="ja-JP" sz="1100" dirty="0">
              <a:latin typeface="メイリオ" panose="020B0604030504040204" pitchFamily="50" charset="-128"/>
              <a:ea typeface="メイリオ" panose="020B0604030504040204" pitchFamily="50" charset="-128"/>
            </a:endParaRPr>
          </a:p>
        </p:txBody>
      </p:sp>
      <p:sp>
        <p:nvSpPr>
          <p:cNvPr id="78" name="Text 66">
            <a:extLst>
              <a:ext uri="{FF2B5EF4-FFF2-40B4-BE49-F238E27FC236}">
                <a16:creationId xmlns:a16="http://schemas.microsoft.com/office/drawing/2014/main" id="{4EFBD6ED-AC70-7247-939C-182C24C7C8EB}"/>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現在の状況を3問で教えてください」をLINEで配信。「3ヶ月以内に検討」「他社比較中」の回答者を自動でホットリードとして抽出しスタッフが即日連絡。全リードにスタッフ対応せず、温度感の高い層だけに集中する。</a:t>
            </a:r>
            <a:endParaRPr lang="en-US" altLang="ja-JP" sz="850" dirty="0">
              <a:latin typeface="メイリオ" panose="020B0604030504040204" pitchFamily="50" charset="-128"/>
              <a:ea typeface="メイリオ" panose="020B0604030504040204" pitchFamily="50" charset="-128"/>
            </a:endParaRPr>
          </a:p>
        </p:txBody>
      </p:sp>
      <p:sp>
        <p:nvSpPr>
          <p:cNvPr id="80" name="Shape 68">
            <a:extLst>
              <a:ext uri="{FF2B5EF4-FFF2-40B4-BE49-F238E27FC236}">
                <a16:creationId xmlns:a16="http://schemas.microsoft.com/office/drawing/2014/main" id="{A878F7AF-2951-6346-AC7C-117CEAD65882}"/>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2" name="Text 69">
            <a:extLst>
              <a:ext uri="{FF2B5EF4-FFF2-40B4-BE49-F238E27FC236}">
                <a16:creationId xmlns:a16="http://schemas.microsoft.com/office/drawing/2014/main" id="{51BC50E4-D2C2-FB3A-BADF-2405ED305FFC}"/>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4" name="Text 70">
            <a:extLst>
              <a:ext uri="{FF2B5EF4-FFF2-40B4-BE49-F238E27FC236}">
                <a16:creationId xmlns:a16="http://schemas.microsoft.com/office/drawing/2014/main" id="{C0DB247B-6B3F-9051-4404-63FBF132961F}"/>
              </a:ext>
            </a:extLst>
          </p:cNvPr>
          <p:cNvSpPr/>
          <p:nvPr/>
        </p:nvSpPr>
        <p:spPr>
          <a:xfrm>
            <a:off x="2671467" y="5559265"/>
            <a:ext cx="2022453" cy="158716"/>
          </a:xfrm>
          <a:prstGeom prst="rect">
            <a:avLst/>
          </a:prstGeom>
          <a:noFill/>
          <a:ln/>
        </p:spPr>
        <p:txBody>
          <a:bodyPr wrap="square" lIns="0" tIns="0" rIns="0" bIns="0" rtlCol="0" anchor="ctr"/>
          <a:lstStyle/>
          <a:p>
            <a:pPr marL="0" marR="0" lvl="0" indent="0" defTabSz="914400" eaLnBrk="1" fontAlgn="auto" latinLnBrk="0" hangingPunct="1">
              <a:lnSpc>
                <a:spcPct val="125000"/>
              </a:lnSpc>
              <a:spcBef>
                <a:spcPts val="0"/>
              </a:spcBef>
              <a:spcAft>
                <a:spcPts val="0"/>
              </a:spcAft>
              <a:buClrTx/>
              <a:buSzTx/>
              <a:buFontTx/>
              <a:buNone/>
              <a:tabLst/>
              <a:defRPr/>
            </a:pPr>
            <a:r>
              <a:rPr kumimoji="0" lang="en-US" sz="700" b="0" i="0" u="none" strike="noStrike" kern="0" cap="none" spc="0" normalizeH="0" baseline="0" noProof="0" dirty="0" err="1">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CPFの強みを活かすならLINE内完結設計が正解</a:t>
            </a:r>
            <a:r>
              <a:rPr kumimoji="0" lang="en-US" sz="700" b="0" i="0" u="none" strike="noStrike" kern="0" cap="none" spc="0" normalizeH="0" baseline="0" noProof="0" dirty="0">
                <a:ln>
                  <a:noFill/>
                </a:ln>
                <a:solidFill>
                  <a:srgbClr val="B84B0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86" name="Shape 71">
            <a:extLst>
              <a:ext uri="{FF2B5EF4-FFF2-40B4-BE49-F238E27FC236}">
                <a16:creationId xmlns:a16="http://schemas.microsoft.com/office/drawing/2014/main" id="{E782C278-7AB5-1A6B-D371-D48C786DEC22}"/>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88" name="Shape 72">
            <a:extLst>
              <a:ext uri="{FF2B5EF4-FFF2-40B4-BE49-F238E27FC236}">
                <a16:creationId xmlns:a16="http://schemas.microsoft.com/office/drawing/2014/main" id="{F8BD45B3-63BC-CCCC-A02C-22292B165914}"/>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90" name="Text 73">
            <a:extLst>
              <a:ext uri="{FF2B5EF4-FFF2-40B4-BE49-F238E27FC236}">
                <a16:creationId xmlns:a16="http://schemas.microsoft.com/office/drawing/2014/main" id="{7C72A4DB-C3F4-16C9-6A51-D60CB4DF1517}"/>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2" name="Text 74">
            <a:extLst>
              <a:ext uri="{FF2B5EF4-FFF2-40B4-BE49-F238E27FC236}">
                <a16:creationId xmlns:a16="http://schemas.microsoft.com/office/drawing/2014/main" id="{BE7ADCA5-3612-7BC6-AA8D-040022EE1617}"/>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3問アンケート配信</a:t>
            </a:r>
            <a:endParaRPr lang="en-US" altLang="ja-JP" sz="850" dirty="0">
              <a:latin typeface="メイリオ" panose="020B0604030504040204" pitchFamily="50" charset="-128"/>
              <a:ea typeface="メイリオ" panose="020B0604030504040204" pitchFamily="50" charset="-128"/>
            </a:endParaRPr>
          </a:p>
        </p:txBody>
      </p:sp>
      <p:sp>
        <p:nvSpPr>
          <p:cNvPr id="94" name="Text 75">
            <a:extLst>
              <a:ext uri="{FF2B5EF4-FFF2-40B4-BE49-F238E27FC236}">
                <a16:creationId xmlns:a16="http://schemas.microsoft.com/office/drawing/2014/main" id="{F0DD5913-5DC7-A93B-7D58-6F8AE9356AB0}"/>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タップ式・即回答</a:t>
            </a:r>
            <a:endParaRPr lang="en-US" altLang="ja-JP" sz="750" dirty="0">
              <a:latin typeface="メイリオ" panose="020B0604030504040204" pitchFamily="50" charset="-128"/>
              <a:ea typeface="メイリオ" panose="020B0604030504040204" pitchFamily="50" charset="-128"/>
            </a:endParaRPr>
          </a:p>
        </p:txBody>
      </p:sp>
      <p:sp>
        <p:nvSpPr>
          <p:cNvPr id="96" name="Text 76">
            <a:extLst>
              <a:ext uri="{FF2B5EF4-FFF2-40B4-BE49-F238E27FC236}">
                <a16:creationId xmlns:a16="http://schemas.microsoft.com/office/drawing/2014/main" id="{8841F69C-C2EB-F428-9C29-1835C7671985}"/>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98" name="Shape 77">
            <a:extLst>
              <a:ext uri="{FF2B5EF4-FFF2-40B4-BE49-F238E27FC236}">
                <a16:creationId xmlns:a16="http://schemas.microsoft.com/office/drawing/2014/main" id="{3D4B0674-1BDF-A06F-3031-1D2C3CFCAFCB}"/>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0" name="Shape 78">
            <a:extLst>
              <a:ext uri="{FF2B5EF4-FFF2-40B4-BE49-F238E27FC236}">
                <a16:creationId xmlns:a16="http://schemas.microsoft.com/office/drawing/2014/main" id="{A6BF8401-0185-4740-65BD-3B25BF274C5D}"/>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02" name="Text 79">
            <a:extLst>
              <a:ext uri="{FF2B5EF4-FFF2-40B4-BE49-F238E27FC236}">
                <a16:creationId xmlns:a16="http://schemas.microsoft.com/office/drawing/2014/main" id="{60ECC73C-CE71-5B5F-BE35-36A110A9273A}"/>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04" name="Text 80">
            <a:extLst>
              <a:ext uri="{FF2B5EF4-FFF2-40B4-BE49-F238E27FC236}">
                <a16:creationId xmlns:a16="http://schemas.microsoft.com/office/drawing/2014/main" id="{96428CFC-DE5B-2C59-73AD-050998F19ECE}"/>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自動スコアリング</a:t>
            </a:r>
            <a:endParaRPr lang="en-US" altLang="ja-JP" sz="850" dirty="0">
              <a:latin typeface="メイリオ" panose="020B0604030504040204" pitchFamily="50" charset="-128"/>
              <a:ea typeface="メイリオ" panose="020B0604030504040204" pitchFamily="50" charset="-128"/>
            </a:endParaRPr>
          </a:p>
        </p:txBody>
      </p:sp>
      <p:sp>
        <p:nvSpPr>
          <p:cNvPr id="106" name="Text 81">
            <a:extLst>
              <a:ext uri="{FF2B5EF4-FFF2-40B4-BE49-F238E27FC236}">
                <a16:creationId xmlns:a16="http://schemas.microsoft.com/office/drawing/2014/main" id="{A4C856B7-9917-9F3B-C6EC-F2AB00761D3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ホットリード特定</a:t>
            </a:r>
            <a:endParaRPr lang="en-US" altLang="ja-JP" sz="750" dirty="0">
              <a:latin typeface="メイリオ" panose="020B0604030504040204" pitchFamily="50" charset="-128"/>
              <a:ea typeface="メイリオ" panose="020B0604030504040204" pitchFamily="50" charset="-128"/>
            </a:endParaRPr>
          </a:p>
        </p:txBody>
      </p:sp>
      <p:sp>
        <p:nvSpPr>
          <p:cNvPr id="108" name="Text 82">
            <a:extLst>
              <a:ext uri="{FF2B5EF4-FFF2-40B4-BE49-F238E27FC236}">
                <a16:creationId xmlns:a16="http://schemas.microsoft.com/office/drawing/2014/main" id="{E3396CCE-6D05-BB63-89D2-AFEC3888A603}"/>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0" name="Shape 83">
            <a:extLst>
              <a:ext uri="{FF2B5EF4-FFF2-40B4-BE49-F238E27FC236}">
                <a16:creationId xmlns:a16="http://schemas.microsoft.com/office/drawing/2014/main" id="{E0F59D7C-4363-A525-B16C-695512C79C58}"/>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2" name="Shape 84">
            <a:extLst>
              <a:ext uri="{FF2B5EF4-FFF2-40B4-BE49-F238E27FC236}">
                <a16:creationId xmlns:a16="http://schemas.microsoft.com/office/drawing/2014/main" id="{9E2F0FE0-EA67-CDB7-9CF3-64EDD1E5E81A}"/>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14" name="Text 85">
            <a:extLst>
              <a:ext uri="{FF2B5EF4-FFF2-40B4-BE49-F238E27FC236}">
                <a16:creationId xmlns:a16="http://schemas.microsoft.com/office/drawing/2014/main" id="{E836FDF6-8AA3-5464-F9B5-FFD8960B35B5}"/>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16" name="Text 86">
            <a:extLst>
              <a:ext uri="{FF2B5EF4-FFF2-40B4-BE49-F238E27FC236}">
                <a16:creationId xmlns:a16="http://schemas.microsoft.com/office/drawing/2014/main" id="{FEF48462-734A-1272-13A3-E0A1A2C1A704}"/>
              </a:ext>
            </a:extLst>
          </p:cNvPr>
          <p:cNvSpPr/>
          <p:nvPr/>
        </p:nvSpPr>
        <p:spPr>
          <a:xfrm>
            <a:off x="3447531" y="5957091"/>
            <a:ext cx="914400" cy="182880"/>
          </a:xfrm>
          <a:prstGeom prst="rect">
            <a:avLst/>
          </a:prstGeom>
          <a:noFill/>
          <a:ln/>
        </p:spPr>
        <p:txBody>
          <a:bodyPr wrap="square" lIns="0" tIns="0" rIns="0" bIns="0" rtlCol="0" anchor="ctr"/>
          <a:lstStyle/>
          <a:p>
            <a:r>
              <a:rPr lang="ja-JP" altLang="en-US" sz="850" b="1" dirty="0">
                <a:solidFill>
                  <a:srgbClr val="FFFFFF"/>
                </a:solidFill>
                <a:latin typeface="メイリオ" panose="020B0604030504040204" pitchFamily="50" charset="-128"/>
                <a:ea typeface="メイリオ" panose="020B0604030504040204" pitchFamily="50" charset="-128"/>
                <a:cs typeface="Calibri" pitchFamily="34" charset="-120"/>
              </a:rPr>
              <a:t>トスアップ</a:t>
            </a:r>
            <a:endParaRPr lang="en-US" altLang="ja-JP" sz="850" dirty="0">
              <a:latin typeface="メイリオ" panose="020B0604030504040204" pitchFamily="50" charset="-128"/>
              <a:ea typeface="メイリオ" panose="020B0604030504040204" pitchFamily="50" charset="-128"/>
            </a:endParaRPr>
          </a:p>
        </p:txBody>
      </p:sp>
      <p:sp>
        <p:nvSpPr>
          <p:cNvPr id="118" name="Text 87">
            <a:extLst>
              <a:ext uri="{FF2B5EF4-FFF2-40B4-BE49-F238E27FC236}">
                <a16:creationId xmlns:a16="http://schemas.microsoft.com/office/drawing/2014/main" id="{7A5801BF-BB1C-CA06-2ADD-8917D3F321CF}"/>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商談化70%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改善事例も</a:t>
            </a:r>
            <a:endParaRPr lang="en-US" altLang="ja-JP" sz="750" dirty="0">
              <a:latin typeface="メイリオ" panose="020B0604030504040204" pitchFamily="50" charset="-128"/>
              <a:ea typeface="メイリオ" panose="020B0604030504040204" pitchFamily="50" charset="-128"/>
            </a:endParaRPr>
          </a:p>
        </p:txBody>
      </p:sp>
      <p:sp>
        <p:nvSpPr>
          <p:cNvPr id="120" name="Shape 88">
            <a:extLst>
              <a:ext uri="{FF2B5EF4-FFF2-40B4-BE49-F238E27FC236}">
                <a16:creationId xmlns:a16="http://schemas.microsoft.com/office/drawing/2014/main" id="{1022B804-29BA-C16F-59BF-7116998459A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2" name="Shape 92">
            <a:extLst>
              <a:ext uri="{FF2B5EF4-FFF2-40B4-BE49-F238E27FC236}">
                <a16:creationId xmlns:a16="http://schemas.microsoft.com/office/drawing/2014/main" id="{C083C52C-3E3D-EE4D-FA9C-B0A718669F53}"/>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24" name="Text 93">
            <a:extLst>
              <a:ext uri="{FF2B5EF4-FFF2-40B4-BE49-F238E27FC236}">
                <a16:creationId xmlns:a16="http://schemas.microsoft.com/office/drawing/2014/main" id="{1BBE6434-6048-9866-D279-EBE9D835E91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企画配信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26" name="Text 94">
            <a:extLst>
              <a:ext uri="{FF2B5EF4-FFF2-40B4-BE49-F238E27FC236}">
                <a16:creationId xmlns:a16="http://schemas.microsoft.com/office/drawing/2014/main" id="{F578845C-26D5-3691-D376-1CA844A61B98}"/>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季節・業界イベント連動配信で休眠リストを起こす</a:t>
            </a:r>
            <a:endParaRPr lang="en-US" altLang="ja-JP" sz="1100" dirty="0">
              <a:latin typeface="メイリオ" panose="020B0604030504040204" pitchFamily="50" charset="-128"/>
              <a:ea typeface="メイリオ" panose="020B0604030504040204" pitchFamily="50" charset="-128"/>
            </a:endParaRPr>
          </a:p>
        </p:txBody>
      </p:sp>
      <p:sp>
        <p:nvSpPr>
          <p:cNvPr id="128" name="Text 95">
            <a:extLst>
              <a:ext uri="{FF2B5EF4-FFF2-40B4-BE49-F238E27FC236}">
                <a16:creationId xmlns:a16="http://schemas.microsoft.com/office/drawing/2014/main" id="{06D9F55B-7232-7A4D-8F5C-1AB4E0C70FBD}"/>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「年末の〇〇に向けて、今から準備を始めるお客様が増えています」という業界固有モーメントに乗せた再接触配信。悩みのピーク2〜3週前に配信することがCVR最大化のコツ。「</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売り込み」ではなく「タイミングの案内」として届ける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30" name="Shape 96">
            <a:extLst>
              <a:ext uri="{FF2B5EF4-FFF2-40B4-BE49-F238E27FC236}">
                <a16:creationId xmlns:a16="http://schemas.microsoft.com/office/drawing/2014/main" id="{069D4174-4F64-8276-0A34-474428B42A09}"/>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2" name="Shape 97">
            <a:extLst>
              <a:ext uri="{FF2B5EF4-FFF2-40B4-BE49-F238E27FC236}">
                <a16:creationId xmlns:a16="http://schemas.microsoft.com/office/drawing/2014/main" id="{D9EBB717-A542-13FE-924C-50E4D9047DE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34" name="Text 98">
            <a:extLst>
              <a:ext uri="{FF2B5EF4-FFF2-40B4-BE49-F238E27FC236}">
                <a16:creationId xmlns:a16="http://schemas.microsoft.com/office/drawing/2014/main" id="{5701D322-E6AC-4743-3BF0-3D2C916AA73A}"/>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36" name="Text 99">
            <a:extLst>
              <a:ext uri="{FF2B5EF4-FFF2-40B4-BE49-F238E27FC236}">
                <a16:creationId xmlns:a16="http://schemas.microsoft.com/office/drawing/2014/main" id="{CA2962DC-C768-875A-D569-10ECD1DEB616}"/>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モーメント特定</a:t>
            </a:r>
            <a:endParaRPr lang="en-US" altLang="ja-JP" sz="850" dirty="0">
              <a:latin typeface="メイリオ" panose="020B0604030504040204" pitchFamily="50" charset="-128"/>
              <a:ea typeface="メイリオ" panose="020B0604030504040204" pitchFamily="50" charset="-128"/>
            </a:endParaRPr>
          </a:p>
        </p:txBody>
      </p:sp>
      <p:sp>
        <p:nvSpPr>
          <p:cNvPr id="138" name="Text 100">
            <a:extLst>
              <a:ext uri="{FF2B5EF4-FFF2-40B4-BE49-F238E27FC236}">
                <a16:creationId xmlns:a16="http://schemas.microsoft.com/office/drawing/2014/main" id="{C3D786F9-91FC-82F5-3763-A658668EED4C}"/>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ピーク2〜3週前</a:t>
            </a:r>
            <a:endParaRPr lang="en-US" altLang="ja-JP" sz="750" dirty="0">
              <a:latin typeface="メイリオ" panose="020B0604030504040204" pitchFamily="50" charset="-128"/>
              <a:ea typeface="メイリオ" panose="020B0604030504040204" pitchFamily="50" charset="-128"/>
            </a:endParaRPr>
          </a:p>
        </p:txBody>
      </p:sp>
      <p:sp>
        <p:nvSpPr>
          <p:cNvPr id="140" name="Text 101">
            <a:extLst>
              <a:ext uri="{FF2B5EF4-FFF2-40B4-BE49-F238E27FC236}">
                <a16:creationId xmlns:a16="http://schemas.microsoft.com/office/drawing/2014/main" id="{C1EEB04D-625F-17CE-C89D-4B08395FBAFC}"/>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2" name="Shape 102">
            <a:extLst>
              <a:ext uri="{FF2B5EF4-FFF2-40B4-BE49-F238E27FC236}">
                <a16:creationId xmlns:a16="http://schemas.microsoft.com/office/drawing/2014/main" id="{50E9AED5-D9C7-D6C3-65D6-3119987A999C}"/>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4" name="Shape 103">
            <a:extLst>
              <a:ext uri="{FF2B5EF4-FFF2-40B4-BE49-F238E27FC236}">
                <a16:creationId xmlns:a16="http://schemas.microsoft.com/office/drawing/2014/main" id="{C74365D2-79DD-46D0-F7E6-AB9A53F69C2C}"/>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46" name="Text 104">
            <a:extLst>
              <a:ext uri="{FF2B5EF4-FFF2-40B4-BE49-F238E27FC236}">
                <a16:creationId xmlns:a16="http://schemas.microsoft.com/office/drawing/2014/main" id="{6E4E920B-459D-A400-22E8-BABF2781E2BA}"/>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48" name="Text 105">
            <a:extLst>
              <a:ext uri="{FF2B5EF4-FFF2-40B4-BE49-F238E27FC236}">
                <a16:creationId xmlns:a16="http://schemas.microsoft.com/office/drawing/2014/main" id="{A09DCB92-8255-C6E6-87C7-473321C80234}"/>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コンテンツ配信</a:t>
            </a:r>
            <a:endParaRPr lang="en-US" altLang="ja-JP" sz="850" dirty="0">
              <a:latin typeface="メイリオ" panose="020B0604030504040204" pitchFamily="50" charset="-128"/>
              <a:ea typeface="メイリオ" panose="020B0604030504040204" pitchFamily="50" charset="-128"/>
            </a:endParaRPr>
          </a:p>
        </p:txBody>
      </p:sp>
      <p:sp>
        <p:nvSpPr>
          <p:cNvPr id="150" name="Text 106">
            <a:extLst>
              <a:ext uri="{FF2B5EF4-FFF2-40B4-BE49-F238E27FC236}">
                <a16:creationId xmlns:a16="http://schemas.microsoft.com/office/drawing/2014/main" id="{09AC34DD-AAEC-BF91-CB1D-5545FE79C4D2}"/>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今だから」訴求</a:t>
            </a:r>
            <a:endParaRPr lang="en-US" altLang="ja-JP" sz="750" dirty="0">
              <a:latin typeface="メイリオ" panose="020B0604030504040204" pitchFamily="50" charset="-128"/>
              <a:ea typeface="メイリオ" panose="020B0604030504040204" pitchFamily="50" charset="-128"/>
            </a:endParaRPr>
          </a:p>
        </p:txBody>
      </p:sp>
      <p:sp>
        <p:nvSpPr>
          <p:cNvPr id="152" name="Text 107">
            <a:extLst>
              <a:ext uri="{FF2B5EF4-FFF2-40B4-BE49-F238E27FC236}">
                <a16:creationId xmlns:a16="http://schemas.microsoft.com/office/drawing/2014/main" id="{BF81408E-47F9-9F16-013B-45DCB0A4C212}"/>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54" name="Shape 108">
            <a:extLst>
              <a:ext uri="{FF2B5EF4-FFF2-40B4-BE49-F238E27FC236}">
                <a16:creationId xmlns:a16="http://schemas.microsoft.com/office/drawing/2014/main" id="{503FF76B-C744-3397-71C4-D41BA4685B17}"/>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6" name="Shape 109">
            <a:extLst>
              <a:ext uri="{FF2B5EF4-FFF2-40B4-BE49-F238E27FC236}">
                <a16:creationId xmlns:a16="http://schemas.microsoft.com/office/drawing/2014/main" id="{A6B21F29-F9B0-9369-C7F9-877467F07918}"/>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58" name="Text 110">
            <a:extLst>
              <a:ext uri="{FF2B5EF4-FFF2-40B4-BE49-F238E27FC236}">
                <a16:creationId xmlns:a16="http://schemas.microsoft.com/office/drawing/2014/main" id="{27C2769D-257A-7368-2C8C-D5AC1F474DEE}"/>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60" name="Text 111">
            <a:extLst>
              <a:ext uri="{FF2B5EF4-FFF2-40B4-BE49-F238E27FC236}">
                <a16:creationId xmlns:a16="http://schemas.microsoft.com/office/drawing/2014/main" id="{38FBDAAB-A07A-E8C4-47B0-D464E78D6F27}"/>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休眠リスト再CV</a:t>
            </a:r>
            <a:endParaRPr lang="en-US" altLang="ja-JP" sz="850" dirty="0">
              <a:latin typeface="メイリオ" panose="020B0604030504040204" pitchFamily="50" charset="-128"/>
              <a:ea typeface="メイリオ" panose="020B0604030504040204" pitchFamily="50" charset="-128"/>
            </a:endParaRPr>
          </a:p>
        </p:txBody>
      </p:sp>
      <p:sp>
        <p:nvSpPr>
          <p:cNvPr id="162" name="Text 112">
            <a:extLst>
              <a:ext uri="{FF2B5EF4-FFF2-40B4-BE49-F238E27FC236}">
                <a16:creationId xmlns:a16="http://schemas.microsoft.com/office/drawing/2014/main" id="{D3F04975-0A5A-781C-2B9E-C31F7695748A}"/>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再CV率3〜8%</a:t>
            </a:r>
            <a:endParaRPr lang="en-US" altLang="ja-JP" sz="750" dirty="0">
              <a:latin typeface="メイリオ" panose="020B0604030504040204" pitchFamily="50" charset="-128"/>
              <a:ea typeface="メイリオ" panose="020B0604030504040204" pitchFamily="50" charset="-128"/>
            </a:endParaRPr>
          </a:p>
        </p:txBody>
      </p:sp>
      <p:sp>
        <p:nvSpPr>
          <p:cNvPr id="164" name="Shape 113">
            <a:extLst>
              <a:ext uri="{FF2B5EF4-FFF2-40B4-BE49-F238E27FC236}">
                <a16:creationId xmlns:a16="http://schemas.microsoft.com/office/drawing/2014/main" id="{B8A7F8E0-2D9E-4F58-B45C-445490BAD2A6}"/>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6" name="Shape 117">
            <a:extLst>
              <a:ext uri="{FF2B5EF4-FFF2-40B4-BE49-F238E27FC236}">
                <a16:creationId xmlns:a16="http://schemas.microsoft.com/office/drawing/2014/main" id="{405D8489-0824-1FFD-1B67-B3B0A50D9604}"/>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68" name="Text 118">
            <a:extLst>
              <a:ext uri="{FF2B5EF4-FFF2-40B4-BE49-F238E27FC236}">
                <a16:creationId xmlns:a16="http://schemas.microsoft.com/office/drawing/2014/main" id="{FE9A5096-9CFE-5412-810F-0F2F5A6CF1D7}"/>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再スクリーニング</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70" name="Text 119">
            <a:extLst>
              <a:ext uri="{FF2B5EF4-FFF2-40B4-BE49-F238E27FC236}">
                <a16:creationId xmlns:a16="http://schemas.microsoft.com/office/drawing/2014/main" id="{64A72FA9-D385-9A82-A7FF-CCA964EA228C}"/>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その後いかが</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配信で失注リストを再活性化</a:t>
            </a:r>
            <a:endParaRPr lang="en-US" altLang="ja-JP" sz="1100" dirty="0">
              <a:latin typeface="メイリオ" panose="020B0604030504040204" pitchFamily="50" charset="-128"/>
              <a:ea typeface="メイリオ" panose="020B0604030504040204" pitchFamily="50" charset="-128"/>
            </a:endParaRPr>
          </a:p>
        </p:txBody>
      </p:sp>
      <p:sp>
        <p:nvSpPr>
          <p:cNvPr id="172" name="Text 120">
            <a:extLst>
              <a:ext uri="{FF2B5EF4-FFF2-40B4-BE49-F238E27FC236}">
                <a16:creationId xmlns:a16="http://schemas.microsoft.com/office/drawing/2014/main" id="{CBDC21B9-7A24-59D8-C78B-DA02EFBD1EE5}"/>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失注・辞退から3〜6ヶ月後に「ご状況が変わっていれば改めてご案内できます」と自然なトーンで再接触。失注理由別でシナリオを分岐：「</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予算NG」層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新プランができました</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タイミングNG」層</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またご都合のよい時期に</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174" name="Shape 121">
            <a:extLst>
              <a:ext uri="{FF2B5EF4-FFF2-40B4-BE49-F238E27FC236}">
                <a16:creationId xmlns:a16="http://schemas.microsoft.com/office/drawing/2014/main" id="{8F2AD48D-D152-8DDF-689E-38F793A7A035}"/>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6" name="Shape 122">
            <a:extLst>
              <a:ext uri="{FF2B5EF4-FFF2-40B4-BE49-F238E27FC236}">
                <a16:creationId xmlns:a16="http://schemas.microsoft.com/office/drawing/2014/main" id="{62E05E15-51AF-4DED-F35A-E0341BEEDB6E}"/>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78" name="Text 123">
            <a:extLst>
              <a:ext uri="{FF2B5EF4-FFF2-40B4-BE49-F238E27FC236}">
                <a16:creationId xmlns:a16="http://schemas.microsoft.com/office/drawing/2014/main" id="{E6A90B54-8A00-3600-E1D6-0F35C45F9544}"/>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0" name="Text 124">
            <a:extLst>
              <a:ext uri="{FF2B5EF4-FFF2-40B4-BE49-F238E27FC236}">
                <a16:creationId xmlns:a16="http://schemas.microsoft.com/office/drawing/2014/main" id="{5CE65D75-4BC1-519E-F76F-6A0757C1EC53}"/>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失注後3〜6ヶ月</a:t>
            </a:r>
            <a:endParaRPr lang="en-US" altLang="ja-JP" sz="850" dirty="0">
              <a:latin typeface="メイリオ" panose="020B0604030504040204" pitchFamily="50" charset="-128"/>
              <a:ea typeface="メイリオ" panose="020B0604030504040204" pitchFamily="50" charset="-128"/>
            </a:endParaRPr>
          </a:p>
        </p:txBody>
      </p:sp>
      <p:sp>
        <p:nvSpPr>
          <p:cNvPr id="182" name="Text 125">
            <a:extLst>
              <a:ext uri="{FF2B5EF4-FFF2-40B4-BE49-F238E27FC236}">
                <a16:creationId xmlns:a16="http://schemas.microsoft.com/office/drawing/2014/main" id="{321D2CBF-DB5B-0A56-8946-401A4AD2CC5C}"/>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自動配信</a:t>
            </a: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（ステップ）</a:t>
            </a:r>
            <a:endParaRPr lang="en-US" altLang="ja-JP" sz="750" dirty="0">
              <a:latin typeface="メイリオ" panose="020B0604030504040204" pitchFamily="50" charset="-128"/>
              <a:ea typeface="メイリオ" panose="020B0604030504040204" pitchFamily="50" charset="-128"/>
            </a:endParaRPr>
          </a:p>
        </p:txBody>
      </p:sp>
      <p:sp>
        <p:nvSpPr>
          <p:cNvPr id="184" name="Text 126">
            <a:extLst>
              <a:ext uri="{FF2B5EF4-FFF2-40B4-BE49-F238E27FC236}">
                <a16:creationId xmlns:a16="http://schemas.microsoft.com/office/drawing/2014/main" id="{06401F8E-C60A-CA49-A807-0A6452BDC118}"/>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86" name="Shape 127">
            <a:extLst>
              <a:ext uri="{FF2B5EF4-FFF2-40B4-BE49-F238E27FC236}">
                <a16:creationId xmlns:a16="http://schemas.microsoft.com/office/drawing/2014/main" id="{AE3CA431-0C8F-8EF0-2ED8-A83CCA602B3E}"/>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88" name="Shape 128">
            <a:extLst>
              <a:ext uri="{FF2B5EF4-FFF2-40B4-BE49-F238E27FC236}">
                <a16:creationId xmlns:a16="http://schemas.microsoft.com/office/drawing/2014/main" id="{1AD820F2-8E91-97A5-8E0A-B1C6BFB331A1}"/>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190" name="Text 129">
            <a:extLst>
              <a:ext uri="{FF2B5EF4-FFF2-40B4-BE49-F238E27FC236}">
                <a16:creationId xmlns:a16="http://schemas.microsoft.com/office/drawing/2014/main" id="{8D818818-A3AE-555E-7011-4F3D90379688}"/>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2" name="Text 130">
            <a:extLst>
              <a:ext uri="{FF2B5EF4-FFF2-40B4-BE49-F238E27FC236}">
                <a16:creationId xmlns:a16="http://schemas.microsoft.com/office/drawing/2014/main" id="{4EF9A98F-AC88-0728-EFD8-0C772A79587A}"/>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失注理由別分岐</a:t>
            </a:r>
            <a:endParaRPr lang="en-US" altLang="ja-JP" sz="850" dirty="0">
              <a:latin typeface="メイリオ" panose="020B0604030504040204" pitchFamily="50" charset="-128"/>
              <a:ea typeface="メイリオ" panose="020B0604030504040204" pitchFamily="50" charset="-128"/>
            </a:endParaRPr>
          </a:p>
        </p:txBody>
      </p:sp>
      <p:sp>
        <p:nvSpPr>
          <p:cNvPr id="194" name="Text 131">
            <a:extLst>
              <a:ext uri="{FF2B5EF4-FFF2-40B4-BE49-F238E27FC236}">
                <a16:creationId xmlns:a16="http://schemas.microsoft.com/office/drawing/2014/main" id="{AA3268CA-2C22-0C62-160E-0C0216963E5F}"/>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シナリオカスタマイズ</a:t>
            </a:r>
            <a:endParaRPr lang="en-US" altLang="ja-JP" sz="750" dirty="0">
              <a:latin typeface="メイリオ" panose="020B0604030504040204" pitchFamily="50" charset="-128"/>
              <a:ea typeface="メイリオ" panose="020B0604030504040204" pitchFamily="50" charset="-128"/>
            </a:endParaRPr>
          </a:p>
        </p:txBody>
      </p:sp>
      <p:sp>
        <p:nvSpPr>
          <p:cNvPr id="196" name="Text 132">
            <a:extLst>
              <a:ext uri="{FF2B5EF4-FFF2-40B4-BE49-F238E27FC236}">
                <a16:creationId xmlns:a16="http://schemas.microsoft.com/office/drawing/2014/main" id="{2F00F7D4-1087-A7FE-323B-EE40BA03BBC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198" name="Shape 133">
            <a:extLst>
              <a:ext uri="{FF2B5EF4-FFF2-40B4-BE49-F238E27FC236}">
                <a16:creationId xmlns:a16="http://schemas.microsoft.com/office/drawing/2014/main" id="{48973DFD-52B9-D288-5F88-EBA671150D93}"/>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0" name="Shape 134">
            <a:extLst>
              <a:ext uri="{FF2B5EF4-FFF2-40B4-BE49-F238E27FC236}">
                <a16:creationId xmlns:a16="http://schemas.microsoft.com/office/drawing/2014/main" id="{E611469B-B55C-8664-CADB-DF4675853BF0}"/>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02" name="Text 135">
            <a:extLst>
              <a:ext uri="{FF2B5EF4-FFF2-40B4-BE49-F238E27FC236}">
                <a16:creationId xmlns:a16="http://schemas.microsoft.com/office/drawing/2014/main" id="{F56AD707-B2E2-F152-960D-3E43770D8634}"/>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04" name="Text 136">
            <a:extLst>
              <a:ext uri="{FF2B5EF4-FFF2-40B4-BE49-F238E27FC236}">
                <a16:creationId xmlns:a16="http://schemas.microsoft.com/office/drawing/2014/main" id="{44EA5DE9-1C7B-2119-EC2E-A8BE9873034E}"/>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再CV獲得</a:t>
            </a:r>
            <a:endParaRPr lang="en-US" altLang="ja-JP" sz="850" dirty="0">
              <a:latin typeface="メイリオ" panose="020B0604030504040204" pitchFamily="50" charset="-128"/>
              <a:ea typeface="メイリオ" panose="020B0604030504040204" pitchFamily="50" charset="-128"/>
            </a:endParaRPr>
          </a:p>
        </p:txBody>
      </p:sp>
      <p:sp>
        <p:nvSpPr>
          <p:cNvPr id="206" name="Text 137">
            <a:extLst>
              <a:ext uri="{FF2B5EF4-FFF2-40B4-BE49-F238E27FC236}">
                <a16:creationId xmlns:a16="http://schemas.microsoft.com/office/drawing/2014/main" id="{8096588A-C237-8806-3F2E-41D5083C6A97}"/>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コストゼロ受注</a:t>
            </a:r>
            <a:endParaRPr lang="en-US" altLang="ja-JP" sz="750" dirty="0">
              <a:latin typeface="メイリオ" panose="020B0604030504040204" pitchFamily="50" charset="-128"/>
              <a:ea typeface="メイリオ" panose="020B0604030504040204" pitchFamily="50" charset="-128"/>
            </a:endParaRPr>
          </a:p>
        </p:txBody>
      </p:sp>
      <p:sp>
        <p:nvSpPr>
          <p:cNvPr id="208" name="Shape 36">
            <a:extLst>
              <a:ext uri="{FF2B5EF4-FFF2-40B4-BE49-F238E27FC236}">
                <a16:creationId xmlns:a16="http://schemas.microsoft.com/office/drawing/2014/main" id="{A5FC7E14-B018-D022-4C5B-B6CBBCAE4736}"/>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0" name="Shape 36">
            <a:extLst>
              <a:ext uri="{FF2B5EF4-FFF2-40B4-BE49-F238E27FC236}">
                <a16:creationId xmlns:a16="http://schemas.microsoft.com/office/drawing/2014/main" id="{6310D41F-AA25-B595-2E67-274ED86E8EE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12" name="Shape 36">
            <a:extLst>
              <a:ext uri="{FF2B5EF4-FFF2-40B4-BE49-F238E27FC236}">
                <a16:creationId xmlns:a16="http://schemas.microsoft.com/office/drawing/2014/main" id="{04FC39D4-AF33-9A13-B4BB-7BF38704EB41}"/>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13" name="Shape 59">
            <a:extLst>
              <a:ext uri="{FF2B5EF4-FFF2-40B4-BE49-F238E27FC236}">
                <a16:creationId xmlns:a16="http://schemas.microsoft.com/office/drawing/2014/main" id="{0D838070-28E0-7844-7B87-9CC6E5DC79D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7" name="Shape 88">
            <a:extLst>
              <a:ext uri="{FF2B5EF4-FFF2-40B4-BE49-F238E27FC236}">
                <a16:creationId xmlns:a16="http://schemas.microsoft.com/office/drawing/2014/main" id="{BF047FFF-FD3A-83AB-B6A5-B1D64F67C5FF}"/>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7568268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0881644-71DA-0FD5-31A8-50845CB45B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配信設計｜改善モデル③</a:t>
            </a:r>
          </a:p>
        </p:txBody>
      </p:sp>
      <p:sp>
        <p:nvSpPr>
          <p:cNvPr id="27" name="テキスト ボックス 26">
            <a:extLst>
              <a:ext uri="{FF2B5EF4-FFF2-40B4-BE49-F238E27FC236}">
                <a16:creationId xmlns:a16="http://schemas.microsoft.com/office/drawing/2014/main" id="{3E754129-4E82-ADF0-7762-6DB3D6C37869}"/>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90A62F05-90DB-BEFF-2CA5-AB5CBFB875BB}"/>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FEA37072-D446-4372-FBCF-FF05EAA5FFDB}"/>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768555E4-10E4-ED78-186D-F8BBA4ECA773}"/>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C655AFC2-F818-8CFC-48E3-29591E6CCBA4}"/>
              </a:ext>
            </a:extLst>
          </p:cNvPr>
          <p:cNvCxnSpPr>
            <a:cxnSpLocks/>
            <a:stCxn id="30" idx="0"/>
          </p:cNvCxnSpPr>
          <p:nvPr/>
        </p:nvCxnSpPr>
        <p:spPr>
          <a:xfrm rot="5400000" flipH="1" flipV="1">
            <a:off x="4270984" y="1720322"/>
            <a:ext cx="246792" cy="365616"/>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テキスト ボックス 4">
            <a:extLst>
              <a:ext uri="{FF2B5EF4-FFF2-40B4-BE49-F238E27FC236}">
                <a16:creationId xmlns:a16="http://schemas.microsoft.com/office/drawing/2014/main" id="{AE0E605C-24DB-D0F6-408E-DC91DFF126F2}"/>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024124EA-8A11-9089-D195-BFB58DD5068D}"/>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B87E9823-A3D2-CC28-7E59-EE124DBE7CAD}"/>
              </a:ext>
            </a:extLst>
          </p:cNvPr>
          <p:cNvSpPr txBox="1"/>
          <p:nvPr/>
        </p:nvSpPr>
        <p:spPr>
          <a:xfrm>
            <a:off x="7408050" y="203305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0E616C55-41AE-4E89-AA73-D23C6063BAC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4F6D876E-0365-432F-46BA-A5401006C46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3EE31941-0F5E-1E7C-269A-8F9D019765CF}"/>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施策内容</a:t>
            </a:r>
          </a:p>
        </p:txBody>
      </p:sp>
      <p:sp>
        <p:nvSpPr>
          <p:cNvPr id="15" name="Google Shape;752;p28">
            <a:extLst>
              <a:ext uri="{FF2B5EF4-FFF2-40B4-BE49-F238E27FC236}">
                <a16:creationId xmlns:a16="http://schemas.microsoft.com/office/drawing/2014/main" id="{98886420-FB53-2FB8-A09E-EB3FDE7308E8}"/>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成約、購入等、企業としての売上・利益につなげる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5A50B78-E73B-4B44-EA42-3D987F8E8733}"/>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2" name="テキスト ボックス 11">
            <a:extLst>
              <a:ext uri="{FF2B5EF4-FFF2-40B4-BE49-F238E27FC236}">
                <a16:creationId xmlns:a16="http://schemas.microsoft.com/office/drawing/2014/main" id="{EDBFCB04-05B4-E4AC-12A0-CD0E81A2DC3C}"/>
              </a:ext>
            </a:extLst>
          </p:cNvPr>
          <p:cNvSpPr txBox="1"/>
          <p:nvPr/>
        </p:nvSpPr>
        <p:spPr>
          <a:xfrm>
            <a:off x="6119413" y="1832804"/>
            <a:ext cx="2352196" cy="348203"/>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⑦マネタイズ</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成約</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7ACD6D34-5B12-71B8-0225-D9C053F55ED2}"/>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latin typeface="メイリオ" panose="020B0604030504040204" pitchFamily="50" charset="-128"/>
                <a:ea typeface="メイリオ" panose="020B0604030504040204" pitchFamily="50" charset="-128"/>
              </a:rPr>
              <a:t>実際の購入・契約に関わるハードルを下げる</a:t>
            </a:r>
          </a:p>
        </p:txBody>
      </p:sp>
      <p:sp>
        <p:nvSpPr>
          <p:cNvPr id="214" name="正方形/長方形 213">
            <a:extLst>
              <a:ext uri="{FF2B5EF4-FFF2-40B4-BE49-F238E27FC236}">
                <a16:creationId xmlns:a16="http://schemas.microsoft.com/office/drawing/2014/main" id="{9B22DD71-4656-D5C5-DBDF-22BB0DC5C6FA}"/>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17BC1EF4-21DA-CE94-283E-846B9F001F36}"/>
              </a:ext>
            </a:extLst>
          </p:cNvPr>
          <p:cNvSpPr/>
          <p:nvPr/>
        </p:nvSpPr>
        <p:spPr>
          <a:xfrm>
            <a:off x="265419" y="2999768"/>
            <a:ext cx="4541216" cy="1600805"/>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B139C33D-7A13-4B90-506A-BD3D89DCB343}"/>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2D290F22-1E3B-8151-C419-A64914BDF65F}"/>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19C3AE76-E5E9-46FF-E31E-15492F60B623}"/>
              </a:ext>
            </a:extLst>
          </p:cNvPr>
          <p:cNvSpPr/>
          <p:nvPr/>
        </p:nvSpPr>
        <p:spPr>
          <a:xfrm>
            <a:off x="686043"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不安解消</a:t>
            </a:r>
            <a:r>
              <a:rPr kumimoji="0" lang="en-US" altLang="ja-JP"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BOT</a:t>
            </a:r>
          </a:p>
        </p:txBody>
      </p:sp>
      <p:sp>
        <p:nvSpPr>
          <p:cNvPr id="224" name="Text 40">
            <a:extLst>
              <a:ext uri="{FF2B5EF4-FFF2-40B4-BE49-F238E27FC236}">
                <a16:creationId xmlns:a16="http://schemas.microsoft.com/office/drawing/2014/main" id="{F72D9597-CBE6-7729-EBB8-42A4EB56D3AC}"/>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チャットBOT</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申込前の不安をリアルタイム解消</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D4867974-A5DB-62BF-B56C-7B48EBD4FCD6}"/>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申込ページを複数回閲覧しているが踏み切れない層に「ご不明な点はありますか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とLINEからプッシュ</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解約できる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返金保証は</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効果はいつ出る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など頻出の不安をKW自動応答で即解消し申込フォームへ誘導</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28" name="Shape 42">
            <a:extLst>
              <a:ext uri="{FF2B5EF4-FFF2-40B4-BE49-F238E27FC236}">
                <a16:creationId xmlns:a16="http://schemas.microsoft.com/office/drawing/2014/main" id="{131B059A-8308-F9A4-4B71-FDED85A0F305}"/>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763DFBBD-2B1A-7385-B3C6-41AF5556E607}"/>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426BE58B-62E2-01C7-74C9-694E2A9CD289}"/>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A698A3A9-032A-DEE2-0FD2-AAF7EC37F195}"/>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複数LP閲覧を検知</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6CD14118-9279-776C-30F3-C63B5F00B503}"/>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確度：高として認定</a:t>
            </a:r>
            <a:endPar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endParaRPr>
          </a:p>
        </p:txBody>
      </p:sp>
      <p:sp>
        <p:nvSpPr>
          <p:cNvPr id="238" name="Text 47">
            <a:extLst>
              <a:ext uri="{FF2B5EF4-FFF2-40B4-BE49-F238E27FC236}">
                <a16:creationId xmlns:a16="http://schemas.microsoft.com/office/drawing/2014/main" id="{E675B87B-4A8E-ADF8-DADF-AA406110BF3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7E2CC952-E8D7-ECD4-395A-BE9452A2A487}"/>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AE59EEF6-CC45-015B-A9E5-8A7A937B56CA}"/>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C754A20D-10B5-62BF-4DDB-DE8127CF6F40}"/>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D244FC3B-C26B-1060-3973-384C3CC08ADD}"/>
              </a:ext>
            </a:extLst>
          </p:cNvPr>
          <p:cNvSpPr/>
          <p:nvPr/>
        </p:nvSpPr>
        <p:spPr>
          <a:xfrm>
            <a:off x="2039355"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不安ありますか</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9C10D7EA-6A29-74A3-5046-A7A5BA81CFEB}"/>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LINEからプッシュ</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9EC056C0-654F-C52F-62E6-8D47A6551C13}"/>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834935BC-F5E7-BAED-6E85-E07CBFE19550}"/>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6327123E-240D-2DFD-89A6-C68864B84618}"/>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0395E968-804F-D503-B217-5E6877EED965}"/>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1F68B74A-B629-3DFC-2CEE-48823841BEF3}"/>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KW自動応答→CV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31AA167F-1838-719F-81AA-E6D277EA6DCC}"/>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段階式自動応答で</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CV</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まで</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58EC588-B65C-48B3-4271-EDA2EA270201}"/>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1DCC50EF-FB92-09C8-A8AA-7A7EDB9B0146}"/>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46B3B6C-4902-BBA2-7F54-3C24433597F1}"/>
              </a:ext>
            </a:extLst>
          </p:cNvPr>
          <p:cNvSpPr/>
          <p:nvPr/>
        </p:nvSpPr>
        <p:spPr>
          <a:xfrm>
            <a:off x="686043"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日程自動化</a:t>
            </a:r>
          </a:p>
        </p:txBody>
      </p:sp>
      <p:sp>
        <p:nvSpPr>
          <p:cNvPr id="268" name="Text 65">
            <a:extLst>
              <a:ext uri="{FF2B5EF4-FFF2-40B4-BE49-F238E27FC236}">
                <a16:creationId xmlns:a16="http://schemas.microsoft.com/office/drawing/2014/main" id="{43250F18-B2EB-58ED-89E5-9D277C0A5794}"/>
              </a:ext>
            </a:extLst>
          </p:cNvPr>
          <p:cNvSpPr/>
          <p:nvPr/>
        </p:nvSpPr>
        <p:spPr>
          <a:xfrm>
            <a:off x="1545579" y="4924581"/>
            <a:ext cx="3319066"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日程調整自動化で、検討前に商談確定</a:t>
            </a:r>
          </a:p>
        </p:txBody>
      </p:sp>
      <p:sp>
        <p:nvSpPr>
          <p:cNvPr id="270" name="Text 66">
            <a:extLst>
              <a:ext uri="{FF2B5EF4-FFF2-40B4-BE49-F238E27FC236}">
                <a16:creationId xmlns:a16="http://schemas.microsoft.com/office/drawing/2014/main" id="{251E5163-4BD4-2320-E1D0-DC825BC643E2}"/>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面談を希望します」と入力した瞬間にカレンダー連携で候補日程を自動提示→タップで選択→確定通知＋リマインドを自動送付。「後で連絡します」のやり取りで冷めるのを防ぎ、温度感が高いまま商談へ。</a:t>
            </a:r>
          </a:p>
        </p:txBody>
      </p:sp>
      <p:sp>
        <p:nvSpPr>
          <p:cNvPr id="272" name="Shape 68">
            <a:extLst>
              <a:ext uri="{FF2B5EF4-FFF2-40B4-BE49-F238E27FC236}">
                <a16:creationId xmlns:a16="http://schemas.microsoft.com/office/drawing/2014/main" id="{971EF85D-2530-7E85-695D-21576E3399C6}"/>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C61543A0-6CA4-B8A9-BABF-E3F296767C9F}"/>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711A428D-8DE9-E0B6-1327-82CC5DEC5364}"/>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A6F2A656-9918-5CCF-081B-90932FB7B31A}"/>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939DCB1A-68BA-D577-ECE4-D4DFF019EA70}"/>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85D30E2A-FEB3-5FD0-BE47-D36B7C7ADC4B}"/>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面談希望」入力</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1D748291-A5CD-A534-775B-B4EBF567F665}"/>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即・日程提示</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6D85AEBA-8759-4590-2BD5-991827894447}"/>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32D27DAD-D2AF-DBAD-F818-E996C478DEC9}"/>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638800F5-D582-38D9-A3E4-C35550FAF43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4FE98861-5470-BC0D-C54A-2F4F47BBE9E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12FEA545-2A73-5AFD-1BD2-9F4325BD29F7}"/>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タップで日程確定</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092A8A0A-B8FB-B1A7-1FCB-9EA219E6BFDE}"/>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メール往復ゼロ</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95A046B-C53A-FDCE-5111-F5834D0CA584}"/>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19A246E9-D30A-1092-6D5A-555407259AB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9CFB5A33-6601-FA88-5E14-AD083E8A974F}"/>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115C0B2B-98C8-8B25-3BBF-1156626D6C87}"/>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A407CA47-3CF8-760D-6BA8-0DF95F970630}"/>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リマインド自動送付</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4168941F-0BBB-6115-B5E7-6928BD42FC99}"/>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ドタキャン率低下</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25BA7DFC-080F-45BC-1CEB-0E2FA1036911}"/>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05737E4A-7E87-3F90-A1F5-285284CA80FB}"/>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29C5B70-F57E-D134-7E8F-7689219DE10A}"/>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体験談配信</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FCC6DF42-A77D-8CE5-0ECF-48B3E50916B0}"/>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利用イメージ</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コンテンツ</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で利用想起</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C1491931-3BA8-2594-BE3C-4EBDCD6864BF}"/>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申込を迷っているユーザーに「〇〇を始めて3ヶ月の方の今」「先輩ユーザーの1週間スケジュール」などリアルな体験談をLINEで定期配信。「</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買った後どうなるか」の不安を、実際のユーザー事例で解消する</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9114BF09-7036-90AC-D9C8-0C172510E7C2}"/>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1382F6BB-3947-2399-C34B-C78B6937D2DA}"/>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7CAD0DE0-345C-F621-25D3-89CEBC9C59EB}"/>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488ED467-36DE-30E3-BF80-C9BE8B1CF783}"/>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体験談コンテンツ</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49A04842-DDE9-37E6-1E8D-79BF82BE9FA9}"/>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写真・動画・レポート</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5E2DEEEF-3ABB-D51C-CB78-AD0E64E26029}"/>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583FCA0F-3FAB-2529-936B-557E5CDD8BFF}"/>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46DA626B-859D-0A40-A6EC-EBD75A52A80D}"/>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751B80C7-91E9-70BD-A17B-7A4E723D4D8C}"/>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A7ABE51D-147A-4B8A-9A19-112FACBFFA1D}"/>
              </a:ext>
            </a:extLst>
          </p:cNvPr>
          <p:cNvSpPr/>
          <p:nvPr/>
        </p:nvSpPr>
        <p:spPr>
          <a:xfrm>
            <a:off x="6873303" y="4114575"/>
            <a:ext cx="914400" cy="182880"/>
          </a:xfrm>
          <a:prstGeom prst="rect">
            <a:avLst/>
          </a:prstGeom>
          <a:noFill/>
          <a:ln/>
        </p:spPr>
        <p:txBody>
          <a:bodyPr wrap="square" lIns="0" tIns="0" rIns="0" bIns="0" rtlCol="0" anchor="ctr"/>
          <a:lstStyle/>
          <a:p>
            <a:r>
              <a:rPr lang="ja-JP" altLang="en-US" sz="850" dirty="0">
                <a:latin typeface="メイリオ" panose="020B0604030504040204" pitchFamily="50" charset="-128"/>
                <a:ea typeface="メイリオ" panose="020B0604030504040204" pitchFamily="50" charset="-128"/>
              </a:rPr>
              <a:t>不安払しょく</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318494AB-2707-1129-BA71-E24AAAEEA5FA}"/>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購入後イメージ醸成</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D2A81EF1-BC58-1253-ECD2-53DF3B40891F}"/>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0417CEED-7C17-F2CD-95E5-6BA2C686EE12}"/>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BE5D8431-CA60-5904-8740-E1668BC7E91C}"/>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DE57ABB2-07C3-A007-67C2-E95C551B1B58}"/>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94D9AB7C-B1F7-BB2D-6801-2EC11474714E}"/>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申込前ユーザーCV</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FD2DA1A7-F345-DFC3-8751-889A3BEA99AB}"/>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安心して申込めた</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A3968D0A-D5A3-B6DF-A4E1-5C8230BDD229}"/>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D69FAC34-5229-FB00-C4A2-B94AD64E02AC}"/>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2DF5057F-5690-994B-B840-B9A70C3615E5}"/>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C6CDBA0C-C4AB-DB49-4D97-5F4E1FADE225}"/>
              </a:ext>
            </a:extLst>
          </p:cNvPr>
          <p:cNvSpPr/>
          <p:nvPr/>
        </p:nvSpPr>
        <p:spPr>
          <a:xfrm>
            <a:off x="6379527"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フロー事前案内でキャンセル率を激減させる</a:t>
            </a:r>
            <a:endParaRPr lang="en-US" altLang="ja-JP" sz="1100" dirty="0">
              <a:latin typeface="メイリオ" panose="020B0604030504040204" pitchFamily="50" charset="-128"/>
              <a:ea typeface="メイリオ" panose="020B0604030504040204" pitchFamily="50" charset="-128"/>
            </a:endParaRPr>
          </a:p>
        </p:txBody>
      </p:sp>
      <p:sp>
        <p:nvSpPr>
          <p:cNvPr id="362" name="Text 120">
            <a:extLst>
              <a:ext uri="{FF2B5EF4-FFF2-40B4-BE49-F238E27FC236}">
                <a16:creationId xmlns:a16="http://schemas.microsoft.com/office/drawing/2014/main" id="{BD5402DC-C1D0-29CE-40A9-BA86E6FF6BAD}"/>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申込完了後すぐにLINEで「当日の流れをお伝えします」を送付。所要時間・準備するもの・スタッフの到着時間・終了後の対応まで全て事前案内する。不安が解消されると「楽しみに待てる」状態になりキャンセル・ドタキャンが激減。</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EC4E379D-5E50-776A-B55F-BD46A9652992}"/>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46F28470-9DDC-A1C0-44ED-C1A38232636F}"/>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6E320849-A3F7-A150-79AA-9261937FECF2}"/>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16CF1DC5-D3CD-E50F-B7D5-B1647AD8426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申込完了直後</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13B785A9-AE07-65EA-5E5C-8F6B908562CF}"/>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当日フロー自動送付</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396E4066-71DA-8649-8C5F-BDFFC56B7F3A}"/>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9B006DA7-6196-F8F6-970F-DC9C2663876A}"/>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6F508C7C-1181-D6F1-04E3-871D86B1A7F3}"/>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50E830AA-3612-B666-F090-99534DF142A9}"/>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CAB1B380-D7B7-197D-641E-1FDD0F2113B6}"/>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不安ゼロで待機</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0ED63B1C-3E6C-4055-2FDE-C901EA2E281E}"/>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ja-JP" altLang="en-US" sz="750" dirty="0">
                <a:solidFill>
                  <a:srgbClr val="4A4A6A"/>
                </a:solidFill>
                <a:latin typeface="メイリオ" panose="020B0604030504040204" pitchFamily="50" charset="-128"/>
                <a:ea typeface="メイリオ" panose="020B0604030504040204" pitchFamily="50" charset="-128"/>
                <a:cs typeface="Calibri" pitchFamily="34" charset="-120"/>
              </a:rPr>
              <a:t>アフターフォロー期待</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A7504597-DAE8-7BD5-E427-59FE3F3330B0}"/>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57656A25-7392-A4F8-42FF-0AAD35DAB96A}"/>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01509C7-F9AC-D612-CC39-58640601C006}"/>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4BF6839F-2873-F373-446B-2181CDBE0B5C}"/>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0E9F188B-90C4-31AB-2701-03D1FF2CC694}"/>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C8404977-9DAC-F0B8-336A-CAD39A2D9574}"/>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E1A706A9-2858-6B94-F554-D7AF99876505}"/>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4310345B-A0A0-5528-0149-1158E742747C}"/>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1F298478-02C0-26AD-DD18-2A5F883779BB}"/>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6" name="Shape 59">
            <a:extLst>
              <a:ext uri="{FF2B5EF4-FFF2-40B4-BE49-F238E27FC236}">
                <a16:creationId xmlns:a16="http://schemas.microsoft.com/office/drawing/2014/main" id="{6B769AD0-A25C-5581-5EDD-43D23F542EE9}"/>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3" name="Shape 88">
            <a:extLst>
              <a:ext uri="{FF2B5EF4-FFF2-40B4-BE49-F238E27FC236}">
                <a16:creationId xmlns:a16="http://schemas.microsoft.com/office/drawing/2014/main" id="{39E53043-2B3B-6947-E0A2-0E82BEC7F188}"/>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7743960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D1EA046-6B24-6F8B-072F-C58606586D2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配信設計｜改善モデル④</a:t>
            </a:r>
          </a:p>
        </p:txBody>
      </p:sp>
      <p:sp>
        <p:nvSpPr>
          <p:cNvPr id="9" name="正方形/長方形 8">
            <a:extLst>
              <a:ext uri="{FF2B5EF4-FFF2-40B4-BE49-F238E27FC236}">
                <a16:creationId xmlns:a16="http://schemas.microsoft.com/office/drawing/2014/main" id="{4CC6B560-F63A-0124-FC5F-88DB86F5E043}"/>
              </a:ext>
            </a:extLst>
          </p:cNvPr>
          <p:cNvSpPr/>
          <p:nvPr/>
        </p:nvSpPr>
        <p:spPr>
          <a:xfrm>
            <a:off x="0" y="777240"/>
            <a:ext cx="1802674" cy="5029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3" name="Google Shape;752;p28">
            <a:extLst>
              <a:ext uri="{FF2B5EF4-FFF2-40B4-BE49-F238E27FC236}">
                <a16:creationId xmlns:a16="http://schemas.microsoft.com/office/drawing/2014/main" id="{5D31B060-8732-8226-E996-E5CD8768DC86}"/>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リピート率、クロスセル率、客単価を改善し、</a:t>
            </a:r>
            <a:r>
              <a:rPr lang="en-US" altLang="ja-JP" sz="1600" b="1" dirty="0">
                <a:latin typeface="メイリオ" panose="020B0604030504040204" pitchFamily="50" charset="-128"/>
                <a:ea typeface="メイリオ" panose="020B0604030504040204" pitchFamily="50" charset="-128"/>
                <a:cs typeface="Meiryo"/>
                <a:sym typeface="Meiryo"/>
              </a:rPr>
              <a:t>LTV</a:t>
            </a:r>
            <a:r>
              <a:rPr lang="ja-JP" altLang="en-US" sz="1600" b="1" dirty="0">
                <a:latin typeface="メイリオ" panose="020B0604030504040204" pitchFamily="50" charset="-128"/>
                <a:ea typeface="メイリオ" panose="020B0604030504040204" pitchFamily="50" charset="-128"/>
                <a:cs typeface="Meiryo"/>
                <a:sym typeface="Meiryo"/>
              </a:rPr>
              <a:t>を最大化する。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1" name="テキスト ボックス 20">
            <a:extLst>
              <a:ext uri="{FF2B5EF4-FFF2-40B4-BE49-F238E27FC236}">
                <a16:creationId xmlns:a16="http://schemas.microsoft.com/office/drawing/2014/main" id="{A963DBCC-3129-4694-2516-D42EB1CB36A7}"/>
              </a:ext>
            </a:extLst>
          </p:cNvPr>
          <p:cNvSpPr txBox="1"/>
          <p:nvPr/>
        </p:nvSpPr>
        <p:spPr>
          <a:xfrm>
            <a:off x="3542139" y="141931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640F53FA-21E2-6B03-27CB-8DE09650F7F7}"/>
              </a:ext>
            </a:extLst>
          </p:cNvPr>
          <p:cNvSpPr txBox="1"/>
          <p:nvPr/>
        </p:nvSpPr>
        <p:spPr>
          <a:xfrm>
            <a:off x="6119413" y="182847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CD6F3969-7970-ED78-97A1-E18A646DC413}"/>
              </a:ext>
            </a:extLst>
          </p:cNvPr>
          <p:cNvSpPr txBox="1"/>
          <p:nvPr/>
        </p:nvSpPr>
        <p:spPr>
          <a:xfrm>
            <a:off x="4830776" y="162389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DE48F05F-518B-8B69-CAE4-9FC447A9510C}"/>
              </a:ext>
            </a:extLst>
          </p:cNvPr>
          <p:cNvSpPr txBox="1"/>
          <p:nvPr/>
        </p:nvSpPr>
        <p:spPr>
          <a:xfrm>
            <a:off x="334303" y="142540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28" name="テキスト ボックス 27">
            <a:extLst>
              <a:ext uri="{FF2B5EF4-FFF2-40B4-BE49-F238E27FC236}">
                <a16:creationId xmlns:a16="http://schemas.microsoft.com/office/drawing/2014/main" id="{D5D38C1D-8C53-09C4-237B-4FFBFD65D619}"/>
              </a:ext>
            </a:extLst>
          </p:cNvPr>
          <p:cNvSpPr txBox="1"/>
          <p:nvPr/>
        </p:nvSpPr>
        <p:spPr>
          <a:xfrm>
            <a:off x="1268358" y="163606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13FD3000-99FD-4540-2B87-0D726E46FCA6}"/>
              </a:ext>
            </a:extLst>
          </p:cNvPr>
          <p:cNvSpPr txBox="1"/>
          <p:nvPr/>
        </p:nvSpPr>
        <p:spPr>
          <a:xfrm>
            <a:off x="2202413" y="183017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30" name="テキスト ボックス 29">
            <a:extLst>
              <a:ext uri="{FF2B5EF4-FFF2-40B4-BE49-F238E27FC236}">
                <a16:creationId xmlns:a16="http://schemas.microsoft.com/office/drawing/2014/main" id="{27A03507-5C3E-DF3F-18DA-D429C2C2869A}"/>
              </a:ext>
            </a:extLst>
          </p:cNvPr>
          <p:cNvSpPr txBox="1"/>
          <p:nvPr/>
        </p:nvSpPr>
        <p:spPr>
          <a:xfrm>
            <a:off x="3136468" y="202652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32" name="コネクタ: カギ線 31">
            <a:extLst>
              <a:ext uri="{FF2B5EF4-FFF2-40B4-BE49-F238E27FC236}">
                <a16:creationId xmlns:a16="http://schemas.microsoft.com/office/drawing/2014/main" id="{3A508995-2791-7443-0604-9D0C327CA4C2}"/>
              </a:ext>
            </a:extLst>
          </p:cNvPr>
          <p:cNvCxnSpPr>
            <a:cxnSpLocks/>
            <a:stCxn id="30" idx="0"/>
            <a:endCxn id="21" idx="2"/>
          </p:cNvCxnSpPr>
          <p:nvPr/>
        </p:nvCxnSpPr>
        <p:spPr>
          <a:xfrm rot="5400000" flipH="1" flipV="1">
            <a:off x="4282287" y="178957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 name="正方形/長方形 4">
            <a:extLst>
              <a:ext uri="{FF2B5EF4-FFF2-40B4-BE49-F238E27FC236}">
                <a16:creationId xmlns:a16="http://schemas.microsoft.com/office/drawing/2014/main" id="{83A147CB-7405-2DCF-1F21-0B8337012B05}"/>
              </a:ext>
            </a:extLst>
          </p:cNvPr>
          <p:cNvSpPr/>
          <p:nvPr/>
        </p:nvSpPr>
        <p:spPr>
          <a:xfrm>
            <a:off x="175475" y="2510144"/>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635E64C-0D36-F30F-0A02-3BAB66350C25}"/>
              </a:ext>
            </a:extLst>
          </p:cNvPr>
          <p:cNvSpPr/>
          <p:nvPr/>
        </p:nvSpPr>
        <p:spPr>
          <a:xfrm>
            <a:off x="4994298" y="2510143"/>
            <a:ext cx="4721072" cy="391781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E52B63D-D41D-D127-AC66-256E2241FC5B}"/>
              </a:ext>
            </a:extLst>
          </p:cNvPr>
          <p:cNvSpPr/>
          <p:nvPr/>
        </p:nvSpPr>
        <p:spPr>
          <a:xfrm>
            <a:off x="196606" y="1304119"/>
            <a:ext cx="9709394" cy="1206024"/>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0" name="テキスト ボックス 9">
            <a:extLst>
              <a:ext uri="{FF2B5EF4-FFF2-40B4-BE49-F238E27FC236}">
                <a16:creationId xmlns:a16="http://schemas.microsoft.com/office/drawing/2014/main" id="{94C6D99A-720E-C67C-F0D7-BCC4F523B05A}"/>
              </a:ext>
            </a:extLst>
          </p:cNvPr>
          <p:cNvSpPr txBox="1"/>
          <p:nvPr/>
        </p:nvSpPr>
        <p:spPr>
          <a:xfrm>
            <a:off x="7408050" y="2033054"/>
            <a:ext cx="2352196" cy="400110"/>
          </a:xfrm>
          <a:prstGeom prst="rect">
            <a:avLst/>
          </a:prstGeom>
          <a:solidFill>
            <a:srgbClr val="1D8DFF"/>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a:t>
            </a:r>
            <a:r>
              <a:rPr lang="en-US" altLang="ja-JP" sz="1100" b="1" dirty="0">
                <a:solidFill>
                  <a:schemeClr val="bg1"/>
                </a:solidFill>
                <a:latin typeface="メイリオ" panose="020B0604030504040204" pitchFamily="50" charset="-128"/>
                <a:ea typeface="メイリオ" panose="020B0604030504040204" pitchFamily="50" charset="-128"/>
              </a:rPr>
              <a:t>LTV</a:t>
            </a:r>
            <a:r>
              <a:rPr lang="ja-JP" altLang="en-US" sz="1100" b="1" dirty="0">
                <a:solidFill>
                  <a:schemeClr val="bg1"/>
                </a:solidFill>
                <a:latin typeface="メイリオ" panose="020B0604030504040204" pitchFamily="50" charset="-128"/>
                <a:ea typeface="メイリオ" panose="020B0604030504040204" pitchFamily="50" charset="-128"/>
              </a:rPr>
              <a:t>最大化・紹介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endParaRPr lang="ja-JP" altLang="ja-JP" sz="900" b="1" dirty="0">
              <a:solidFill>
                <a:schemeClr val="bg1"/>
              </a:solidFill>
              <a:latin typeface="メイリオ" panose="020B0604030504040204" pitchFamily="50" charset="-128"/>
              <a:ea typeface="メイリオ" panose="020B0604030504040204" pitchFamily="50" charset="-128"/>
            </a:endParaRPr>
          </a:p>
        </p:txBody>
      </p:sp>
      <p:sp>
        <p:nvSpPr>
          <p:cNvPr id="212" name="正方形/長方形 211">
            <a:extLst>
              <a:ext uri="{FF2B5EF4-FFF2-40B4-BE49-F238E27FC236}">
                <a16:creationId xmlns:a16="http://schemas.microsoft.com/office/drawing/2014/main" id="{EBFE876B-88B7-8368-241B-4213AC327DEF}"/>
              </a:ext>
            </a:extLst>
          </p:cNvPr>
          <p:cNvSpPr/>
          <p:nvPr/>
        </p:nvSpPr>
        <p:spPr>
          <a:xfrm>
            <a:off x="272142" y="2590761"/>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latin typeface="メイリオ" panose="020B0604030504040204" pitchFamily="50" charset="-128"/>
                <a:ea typeface="メイリオ" panose="020B0604030504040204" pitchFamily="50" charset="-128"/>
              </a:rPr>
              <a:t>属性把握により最適なタイミング・サービスラインを提示</a:t>
            </a:r>
          </a:p>
        </p:txBody>
      </p:sp>
      <p:sp>
        <p:nvSpPr>
          <p:cNvPr id="214" name="正方形/長方形 213">
            <a:extLst>
              <a:ext uri="{FF2B5EF4-FFF2-40B4-BE49-F238E27FC236}">
                <a16:creationId xmlns:a16="http://schemas.microsoft.com/office/drawing/2014/main" id="{BC37FCD9-3298-5435-6B9C-3FDC96F4BED5}"/>
              </a:ext>
            </a:extLst>
          </p:cNvPr>
          <p:cNvSpPr/>
          <p:nvPr/>
        </p:nvSpPr>
        <p:spPr>
          <a:xfrm>
            <a:off x="5084226" y="2584677"/>
            <a:ext cx="4541216" cy="260090"/>
          </a:xfrm>
          <a:prstGeom prst="rect">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成約後のイメージ・アフターフォローを見える化する</a:t>
            </a:r>
            <a:endParaRPr lang="en-US" altLang="ja-JP" sz="1050" dirty="0">
              <a:latin typeface="メイリオ" panose="020B0604030504040204" pitchFamily="50" charset="-128"/>
              <a:ea typeface="メイリオ" panose="020B0604030504040204" pitchFamily="50" charset="-128"/>
            </a:endParaRPr>
          </a:p>
        </p:txBody>
      </p:sp>
      <p:sp>
        <p:nvSpPr>
          <p:cNvPr id="216" name="Shape 34">
            <a:extLst>
              <a:ext uri="{FF2B5EF4-FFF2-40B4-BE49-F238E27FC236}">
                <a16:creationId xmlns:a16="http://schemas.microsoft.com/office/drawing/2014/main" id="{031543C4-0BBC-6209-20D0-2EFA2FCEF86D}"/>
              </a:ext>
            </a:extLst>
          </p:cNvPr>
          <p:cNvSpPr/>
          <p:nvPr/>
        </p:nvSpPr>
        <p:spPr>
          <a:xfrm>
            <a:off x="265419" y="2999768"/>
            <a:ext cx="4541216" cy="1600805"/>
          </a:xfrm>
          <a:prstGeom prst="roundRect">
            <a:avLst>
              <a:gd name="adj" fmla="val 8000"/>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18" name="Shape 36">
            <a:extLst>
              <a:ext uri="{FF2B5EF4-FFF2-40B4-BE49-F238E27FC236}">
                <a16:creationId xmlns:a16="http://schemas.microsoft.com/office/drawing/2014/main" id="{101BD496-9F8B-4FB2-A6BB-61070F561E0B}"/>
              </a:ext>
            </a:extLst>
          </p:cNvPr>
          <p:cNvSpPr/>
          <p:nvPr/>
        </p:nvSpPr>
        <p:spPr>
          <a:xfrm>
            <a:off x="3568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20" name="Shape 38">
            <a:extLst>
              <a:ext uri="{FF2B5EF4-FFF2-40B4-BE49-F238E27FC236}">
                <a16:creationId xmlns:a16="http://schemas.microsoft.com/office/drawing/2014/main" id="{C11A3E69-9E4D-9846-409E-E9A711BD995E}"/>
              </a:ext>
            </a:extLst>
          </p:cNvPr>
          <p:cNvSpPr/>
          <p:nvPr/>
        </p:nvSpPr>
        <p:spPr>
          <a:xfrm>
            <a:off x="686043"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22" name="Text 39">
            <a:extLst>
              <a:ext uri="{FF2B5EF4-FFF2-40B4-BE49-F238E27FC236}">
                <a16:creationId xmlns:a16="http://schemas.microsoft.com/office/drawing/2014/main" id="{9A2D9F28-CC07-BFBF-1F09-849BDDAE374B}"/>
              </a:ext>
            </a:extLst>
          </p:cNvPr>
          <p:cNvSpPr/>
          <p:nvPr/>
        </p:nvSpPr>
        <p:spPr>
          <a:xfrm>
            <a:off x="686043" y="3109497"/>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クロスセル配信</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24" name="Text 40">
            <a:extLst>
              <a:ext uri="{FF2B5EF4-FFF2-40B4-BE49-F238E27FC236}">
                <a16:creationId xmlns:a16="http://schemas.microsoft.com/office/drawing/2014/main" id="{E07A6550-E043-DAC7-D1DE-2F58496625C9}"/>
              </a:ext>
            </a:extLst>
          </p:cNvPr>
          <p:cNvSpPr/>
          <p:nvPr/>
        </p:nvSpPr>
        <p:spPr>
          <a:xfrm>
            <a:off x="1545579"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 </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アップグレード提案で客単価を向上</a:t>
            </a:r>
            <a:endParaRPr lang="en-US" altLang="ja-JP" sz="1100" dirty="0">
              <a:latin typeface="メイリオ" panose="020B0604030504040204" pitchFamily="50" charset="-128"/>
              <a:ea typeface="メイリオ" panose="020B0604030504040204" pitchFamily="50" charset="-128"/>
            </a:endParaRPr>
          </a:p>
        </p:txBody>
      </p:sp>
      <p:sp>
        <p:nvSpPr>
          <p:cNvPr id="226" name="Text 41">
            <a:extLst>
              <a:ext uri="{FF2B5EF4-FFF2-40B4-BE49-F238E27FC236}">
                <a16:creationId xmlns:a16="http://schemas.microsoft.com/office/drawing/2014/main" id="{8B380EA5-B628-C9F7-AB4A-470FADCA002E}"/>
              </a:ext>
            </a:extLst>
          </p:cNvPr>
          <p:cNvSpPr/>
          <p:nvPr/>
        </p:nvSpPr>
        <p:spPr>
          <a:xfrm>
            <a:off x="356859" y="3383817"/>
            <a:ext cx="4449774" cy="493776"/>
          </a:xfrm>
          <a:prstGeom prst="rect">
            <a:avLst/>
          </a:prstGeom>
          <a:noFill/>
          <a:ln/>
        </p:spPr>
        <p:txBody>
          <a:bodyPr wrap="square" lIns="0" tIns="0" rIns="0" bIns="0" rtlCol="0" anchor="ctr"/>
          <a:lstStyle/>
          <a:p>
            <a:pPr>
              <a:lnSpc>
                <a:spcPct val="135000"/>
              </a:lnSpc>
            </a:pP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利用量・頻度タグを活用して「よく使っている層」に上位プラン・関連サービスを自動配信。「今のプランより月〇〇円で〇〇が追加できます」という具体的メリット提示が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CVR</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を高める。満足度が高い購入後</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3</a:t>
            </a:r>
            <a:r>
              <a:rPr lang="ja-JP" altLang="en-US" sz="850" dirty="0">
                <a:solidFill>
                  <a:srgbClr val="4A4A6A"/>
                </a:solidFill>
                <a:latin typeface="メイリオ" panose="020B0604030504040204" pitchFamily="50" charset="-128"/>
                <a:ea typeface="メイリオ" panose="020B0604030504040204" pitchFamily="50" charset="-128"/>
                <a:cs typeface="Calibri" pitchFamily="34" charset="-120"/>
              </a:rPr>
              <a:t>ヶ月が最適タイミング。</a:t>
            </a:r>
          </a:p>
        </p:txBody>
      </p:sp>
      <p:sp>
        <p:nvSpPr>
          <p:cNvPr id="228" name="Shape 42">
            <a:extLst>
              <a:ext uri="{FF2B5EF4-FFF2-40B4-BE49-F238E27FC236}">
                <a16:creationId xmlns:a16="http://schemas.microsoft.com/office/drawing/2014/main" id="{9B4B4FC2-ABA9-EE54-2AE8-6D8B446B20FF}"/>
              </a:ext>
            </a:extLst>
          </p:cNvPr>
          <p:cNvSpPr/>
          <p:nvPr/>
        </p:nvSpPr>
        <p:spPr>
          <a:xfrm>
            <a:off x="356859"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0" name="Shape 43">
            <a:extLst>
              <a:ext uri="{FF2B5EF4-FFF2-40B4-BE49-F238E27FC236}">
                <a16:creationId xmlns:a16="http://schemas.microsoft.com/office/drawing/2014/main" id="{B6DB6636-0D01-AC92-D361-5BB4DD706048}"/>
              </a:ext>
            </a:extLst>
          </p:cNvPr>
          <p:cNvSpPr/>
          <p:nvPr/>
        </p:nvSpPr>
        <p:spPr>
          <a:xfrm>
            <a:off x="411723"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32" name="Text 44">
            <a:extLst>
              <a:ext uri="{FF2B5EF4-FFF2-40B4-BE49-F238E27FC236}">
                <a16:creationId xmlns:a16="http://schemas.microsoft.com/office/drawing/2014/main" id="{AA004DDF-312A-3679-2F4A-C0D702FDE201}"/>
              </a:ext>
            </a:extLst>
          </p:cNvPr>
          <p:cNvSpPr/>
          <p:nvPr/>
        </p:nvSpPr>
        <p:spPr>
          <a:xfrm>
            <a:off x="4117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34" name="Text 45">
            <a:extLst>
              <a:ext uri="{FF2B5EF4-FFF2-40B4-BE49-F238E27FC236}">
                <a16:creationId xmlns:a16="http://schemas.microsoft.com/office/drawing/2014/main" id="{8C971CE9-8DC5-3C5A-C74E-473D1EEF0A37}"/>
              </a:ext>
            </a:extLst>
          </p:cNvPr>
          <p:cNvSpPr/>
          <p:nvPr/>
        </p:nvSpPr>
        <p:spPr>
          <a:xfrm>
            <a:off x="631179"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利用状況タグ付与</a:t>
            </a:r>
            <a:endParaRPr lang="en-US" altLang="ja-JP" sz="850" dirty="0">
              <a:latin typeface="メイリオ" panose="020B0604030504040204" pitchFamily="50" charset="-128"/>
              <a:ea typeface="メイリオ" panose="020B0604030504040204" pitchFamily="50" charset="-128"/>
            </a:endParaRPr>
          </a:p>
        </p:txBody>
      </p:sp>
      <p:sp>
        <p:nvSpPr>
          <p:cNvPr id="236" name="Text 46">
            <a:extLst>
              <a:ext uri="{FF2B5EF4-FFF2-40B4-BE49-F238E27FC236}">
                <a16:creationId xmlns:a16="http://schemas.microsoft.com/office/drawing/2014/main" id="{BDCB6CBA-6BE0-0029-00B8-F3E8C622531C}"/>
              </a:ext>
            </a:extLst>
          </p:cNvPr>
          <p:cNvSpPr/>
          <p:nvPr/>
        </p:nvSpPr>
        <p:spPr>
          <a:xfrm>
            <a:off x="411723"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高頻度ユーザー特定</a:t>
            </a:r>
            <a:endParaRPr lang="en-US" altLang="ja-JP" sz="750" dirty="0">
              <a:latin typeface="メイリオ" panose="020B0604030504040204" pitchFamily="50" charset="-128"/>
              <a:ea typeface="メイリオ" panose="020B0604030504040204" pitchFamily="50" charset="-128"/>
            </a:endParaRPr>
          </a:p>
        </p:txBody>
      </p:sp>
      <p:sp>
        <p:nvSpPr>
          <p:cNvPr id="238" name="Text 47">
            <a:extLst>
              <a:ext uri="{FF2B5EF4-FFF2-40B4-BE49-F238E27FC236}">
                <a16:creationId xmlns:a16="http://schemas.microsoft.com/office/drawing/2014/main" id="{1D84C63C-EF83-B3FE-DA12-C6FED620F69C}"/>
              </a:ext>
            </a:extLst>
          </p:cNvPr>
          <p:cNvSpPr/>
          <p:nvPr/>
        </p:nvSpPr>
        <p:spPr>
          <a:xfrm>
            <a:off x="1637019"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0" name="Shape 48">
            <a:extLst>
              <a:ext uri="{FF2B5EF4-FFF2-40B4-BE49-F238E27FC236}">
                <a16:creationId xmlns:a16="http://schemas.microsoft.com/office/drawing/2014/main" id="{0BE03B95-9AB7-E6ED-2E78-10CF317A8766}"/>
              </a:ext>
            </a:extLst>
          </p:cNvPr>
          <p:cNvSpPr/>
          <p:nvPr/>
        </p:nvSpPr>
        <p:spPr>
          <a:xfrm>
            <a:off x="1765035"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2" name="Shape 49">
            <a:extLst>
              <a:ext uri="{FF2B5EF4-FFF2-40B4-BE49-F238E27FC236}">
                <a16:creationId xmlns:a16="http://schemas.microsoft.com/office/drawing/2014/main" id="{1E6CCFE3-96DE-0131-BB9B-0F2313B82CFB}"/>
              </a:ext>
            </a:extLst>
          </p:cNvPr>
          <p:cNvSpPr/>
          <p:nvPr/>
        </p:nvSpPr>
        <p:spPr>
          <a:xfrm>
            <a:off x="1819899"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44" name="Text 50">
            <a:extLst>
              <a:ext uri="{FF2B5EF4-FFF2-40B4-BE49-F238E27FC236}">
                <a16:creationId xmlns:a16="http://schemas.microsoft.com/office/drawing/2014/main" id="{5E69FB79-6A36-8814-5961-E84046021AAC}"/>
              </a:ext>
            </a:extLst>
          </p:cNvPr>
          <p:cNvSpPr/>
          <p:nvPr/>
        </p:nvSpPr>
        <p:spPr>
          <a:xfrm>
            <a:off x="1819899"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46" name="Text 51">
            <a:extLst>
              <a:ext uri="{FF2B5EF4-FFF2-40B4-BE49-F238E27FC236}">
                <a16:creationId xmlns:a16="http://schemas.microsoft.com/office/drawing/2014/main" id="{4EBEE041-7A21-6197-B2AC-4D081A8E8AD0}"/>
              </a:ext>
            </a:extLst>
          </p:cNvPr>
          <p:cNvSpPr/>
          <p:nvPr/>
        </p:nvSpPr>
        <p:spPr>
          <a:xfrm>
            <a:off x="2039355" y="4114575"/>
            <a:ext cx="914400" cy="182880"/>
          </a:xfrm>
          <a:prstGeom prst="rect">
            <a:avLst/>
          </a:prstGeom>
          <a:noFill/>
          <a:ln/>
        </p:spPr>
        <p:txBody>
          <a:bodyPr wrap="square" lIns="0" tIns="0" rIns="0" bIns="0" rtlCol="0" anchor="ctr"/>
          <a:lstStyle/>
          <a:p>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アップセル</a:t>
            </a:r>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提案</a:t>
            </a:r>
            <a:endParaRPr lang="en-US" altLang="ja-JP" sz="850" dirty="0">
              <a:latin typeface="メイリオ" panose="020B0604030504040204" pitchFamily="50" charset="-128"/>
              <a:ea typeface="メイリオ" panose="020B0604030504040204" pitchFamily="50" charset="-128"/>
            </a:endParaRPr>
          </a:p>
        </p:txBody>
      </p:sp>
      <p:sp>
        <p:nvSpPr>
          <p:cNvPr id="248" name="Text 52">
            <a:extLst>
              <a:ext uri="{FF2B5EF4-FFF2-40B4-BE49-F238E27FC236}">
                <a16:creationId xmlns:a16="http://schemas.microsoft.com/office/drawing/2014/main" id="{07AD15D9-CD6F-2D3C-CC15-71235D18482D}"/>
              </a:ext>
            </a:extLst>
          </p:cNvPr>
          <p:cNvSpPr/>
          <p:nvPr/>
        </p:nvSpPr>
        <p:spPr>
          <a:xfrm>
            <a:off x="1819899"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具体的金額＋メリット</a:t>
            </a:r>
            <a:endParaRPr lang="en-US" altLang="ja-JP" sz="750" dirty="0">
              <a:latin typeface="メイリオ" panose="020B0604030504040204" pitchFamily="50" charset="-128"/>
              <a:ea typeface="メイリオ" panose="020B0604030504040204" pitchFamily="50" charset="-128"/>
            </a:endParaRPr>
          </a:p>
        </p:txBody>
      </p:sp>
      <p:sp>
        <p:nvSpPr>
          <p:cNvPr id="250" name="Text 53">
            <a:extLst>
              <a:ext uri="{FF2B5EF4-FFF2-40B4-BE49-F238E27FC236}">
                <a16:creationId xmlns:a16="http://schemas.microsoft.com/office/drawing/2014/main" id="{8ECA8D7C-C4A5-C970-D4A6-A16EF6F3350C}"/>
              </a:ext>
            </a:extLst>
          </p:cNvPr>
          <p:cNvSpPr/>
          <p:nvPr/>
        </p:nvSpPr>
        <p:spPr>
          <a:xfrm>
            <a:off x="3045195"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2" name="Shape 54">
            <a:extLst>
              <a:ext uri="{FF2B5EF4-FFF2-40B4-BE49-F238E27FC236}">
                <a16:creationId xmlns:a16="http://schemas.microsoft.com/office/drawing/2014/main" id="{B12A5926-50A5-13EB-6415-C90901191CBD}"/>
              </a:ext>
            </a:extLst>
          </p:cNvPr>
          <p:cNvSpPr/>
          <p:nvPr/>
        </p:nvSpPr>
        <p:spPr>
          <a:xfrm>
            <a:off x="3173211"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4" name="Shape 55">
            <a:extLst>
              <a:ext uri="{FF2B5EF4-FFF2-40B4-BE49-F238E27FC236}">
                <a16:creationId xmlns:a16="http://schemas.microsoft.com/office/drawing/2014/main" id="{2700C358-B913-5B66-30B3-A247A5CFA965}"/>
              </a:ext>
            </a:extLst>
          </p:cNvPr>
          <p:cNvSpPr/>
          <p:nvPr/>
        </p:nvSpPr>
        <p:spPr>
          <a:xfrm>
            <a:off x="3228075"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56" name="Text 56">
            <a:extLst>
              <a:ext uri="{FF2B5EF4-FFF2-40B4-BE49-F238E27FC236}">
                <a16:creationId xmlns:a16="http://schemas.microsoft.com/office/drawing/2014/main" id="{25DAB092-6EC6-4374-F29D-D2E43E4B9FEB}"/>
              </a:ext>
            </a:extLst>
          </p:cNvPr>
          <p:cNvSpPr/>
          <p:nvPr/>
        </p:nvSpPr>
        <p:spPr>
          <a:xfrm>
            <a:off x="3228075"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58" name="Text 57">
            <a:extLst>
              <a:ext uri="{FF2B5EF4-FFF2-40B4-BE49-F238E27FC236}">
                <a16:creationId xmlns:a16="http://schemas.microsoft.com/office/drawing/2014/main" id="{9DFA3811-543F-B130-C558-9F98D1BDCE28}"/>
              </a:ext>
            </a:extLst>
          </p:cNvPr>
          <p:cNvSpPr/>
          <p:nvPr/>
        </p:nvSpPr>
        <p:spPr>
          <a:xfrm>
            <a:off x="3447531"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altLang="ja-JP" sz="850" dirty="0">
              <a:latin typeface="メイリオ" panose="020B0604030504040204" pitchFamily="50" charset="-128"/>
              <a:ea typeface="メイリオ" panose="020B0604030504040204" pitchFamily="50" charset="-128"/>
            </a:endParaRPr>
          </a:p>
        </p:txBody>
      </p:sp>
      <p:sp>
        <p:nvSpPr>
          <p:cNvPr id="260" name="Text 58">
            <a:extLst>
              <a:ext uri="{FF2B5EF4-FFF2-40B4-BE49-F238E27FC236}">
                <a16:creationId xmlns:a16="http://schemas.microsoft.com/office/drawing/2014/main" id="{7A46B590-0C64-FEE3-0E7C-7EA298F486A3}"/>
              </a:ext>
            </a:extLst>
          </p:cNvPr>
          <p:cNvSpPr/>
          <p:nvPr/>
        </p:nvSpPr>
        <p:spPr>
          <a:xfrm>
            <a:off x="3228075"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客単価</a:t>
            </a: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 -- %向上</a:t>
            </a:r>
            <a:endParaRPr lang="en-US" altLang="ja-JP" sz="750" dirty="0">
              <a:latin typeface="メイリオ" panose="020B0604030504040204" pitchFamily="50" charset="-128"/>
              <a:ea typeface="メイリオ" panose="020B0604030504040204" pitchFamily="50" charset="-128"/>
            </a:endParaRPr>
          </a:p>
        </p:txBody>
      </p:sp>
      <p:sp>
        <p:nvSpPr>
          <p:cNvPr id="262" name="Shape 59">
            <a:extLst>
              <a:ext uri="{FF2B5EF4-FFF2-40B4-BE49-F238E27FC236}">
                <a16:creationId xmlns:a16="http://schemas.microsoft.com/office/drawing/2014/main" id="{17831C21-2DE0-1603-B120-3BAF591E685E}"/>
              </a:ext>
            </a:extLst>
          </p:cNvPr>
          <p:cNvSpPr/>
          <p:nvPr/>
        </p:nvSpPr>
        <p:spPr>
          <a:xfrm>
            <a:off x="265419" y="4842285"/>
            <a:ext cx="4541216" cy="1600804"/>
          </a:xfrm>
          <a:prstGeom prst="roundRect">
            <a:avLst>
              <a:gd name="adj" fmla="val 5263"/>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4" name="Shape 63">
            <a:extLst>
              <a:ext uri="{FF2B5EF4-FFF2-40B4-BE49-F238E27FC236}">
                <a16:creationId xmlns:a16="http://schemas.microsoft.com/office/drawing/2014/main" id="{E0489255-B5B1-35CB-C8E0-D92F3D34C15B}"/>
              </a:ext>
            </a:extLst>
          </p:cNvPr>
          <p:cNvSpPr/>
          <p:nvPr/>
        </p:nvSpPr>
        <p:spPr>
          <a:xfrm>
            <a:off x="686043"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66" name="Text 64">
            <a:extLst>
              <a:ext uri="{FF2B5EF4-FFF2-40B4-BE49-F238E27FC236}">
                <a16:creationId xmlns:a16="http://schemas.microsoft.com/office/drawing/2014/main" id="{45D18941-826F-30A6-3AA3-251341CB9EB1}"/>
              </a:ext>
            </a:extLst>
          </p:cNvPr>
          <p:cNvSpPr/>
          <p:nvPr/>
        </p:nvSpPr>
        <p:spPr>
          <a:xfrm>
            <a:off x="686043" y="4952013"/>
            <a:ext cx="804672" cy="201168"/>
          </a:xfrm>
          <a:prstGeom prst="rect">
            <a:avLst/>
          </a:prstGeom>
          <a:noFill/>
          <a:ln/>
        </p:spPr>
        <p:txBody>
          <a:bodyPr wrap="square" lIns="0" tIns="0" rIns="0" bIns="0" rtlCol="0" anchor="ctr"/>
          <a:lstStyle/>
          <a:p>
            <a:pPr algn="ctr"/>
            <a:r>
              <a:rPr lang="en-US" altLang="ja-JP" sz="750" b="1" dirty="0" err="1">
                <a:solidFill>
                  <a:schemeClr val="accent1"/>
                </a:solidFill>
                <a:latin typeface="メイリオ" panose="020B0604030504040204" pitchFamily="50" charset="-128"/>
                <a:ea typeface="メイリオ" panose="020B0604030504040204" pitchFamily="50" charset="-128"/>
                <a:cs typeface="Calibri" pitchFamily="34" charset="-120"/>
              </a:rPr>
              <a:t>紹介キャンペーン</a:t>
            </a:r>
            <a:endParaRPr lang="en-US" altLang="ja-JP" sz="750" dirty="0">
              <a:solidFill>
                <a:schemeClr val="accent1"/>
              </a:solidFill>
              <a:latin typeface="メイリオ" panose="020B0604030504040204" pitchFamily="50" charset="-128"/>
              <a:ea typeface="メイリオ" panose="020B0604030504040204" pitchFamily="50" charset="-128"/>
            </a:endParaRPr>
          </a:p>
        </p:txBody>
      </p:sp>
      <p:sp>
        <p:nvSpPr>
          <p:cNvPr id="268" name="Text 65">
            <a:extLst>
              <a:ext uri="{FF2B5EF4-FFF2-40B4-BE49-F238E27FC236}">
                <a16:creationId xmlns:a16="http://schemas.microsoft.com/office/drawing/2014/main" id="{46A7ADAB-7FB3-0E5E-A98A-5FA74D2FF194}"/>
              </a:ext>
            </a:extLst>
          </p:cNvPr>
          <p:cNvSpPr/>
          <p:nvPr/>
        </p:nvSpPr>
        <p:spPr>
          <a:xfrm>
            <a:off x="1545579" y="4924581"/>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紹介キャンペーン</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の誘導</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設計でゼロコスト新規獲得</a:t>
            </a:r>
            <a:endParaRPr lang="en-US" altLang="ja-JP" sz="1100" dirty="0">
              <a:latin typeface="メイリオ" panose="020B0604030504040204" pitchFamily="50" charset="-128"/>
              <a:ea typeface="メイリオ" panose="020B0604030504040204" pitchFamily="50" charset="-128"/>
            </a:endParaRPr>
          </a:p>
        </p:txBody>
      </p:sp>
      <p:sp>
        <p:nvSpPr>
          <p:cNvPr id="270" name="Text 66">
            <a:extLst>
              <a:ext uri="{FF2B5EF4-FFF2-40B4-BE49-F238E27FC236}">
                <a16:creationId xmlns:a16="http://schemas.microsoft.com/office/drawing/2014/main" id="{730ECA19-26DA-232F-404E-DBF02F6BA8B1}"/>
              </a:ext>
            </a:extLst>
          </p:cNvPr>
          <p:cNvSpPr/>
          <p:nvPr/>
        </p:nvSpPr>
        <p:spPr>
          <a:xfrm>
            <a:off x="356859" y="5226333"/>
            <a:ext cx="4449774" cy="457200"/>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お友達をご紹介いただいた方にAmazonギフト</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○○円プレゼント」をLINEで配信。満足度が最も高い利用開始3ヶ月後が最適タイミング。紹介ユーザーのLTVは通常ユーザーの1.5〜2倍で広告比CPA1/5〜1/10。</a:t>
            </a:r>
            <a:endParaRPr lang="en-US" altLang="ja-JP" sz="850" dirty="0">
              <a:latin typeface="メイリオ" panose="020B0604030504040204" pitchFamily="50" charset="-128"/>
              <a:ea typeface="メイリオ" panose="020B0604030504040204" pitchFamily="50" charset="-128"/>
            </a:endParaRPr>
          </a:p>
        </p:txBody>
      </p:sp>
      <p:sp>
        <p:nvSpPr>
          <p:cNvPr id="272" name="Shape 68">
            <a:extLst>
              <a:ext uri="{FF2B5EF4-FFF2-40B4-BE49-F238E27FC236}">
                <a16:creationId xmlns:a16="http://schemas.microsoft.com/office/drawing/2014/main" id="{462FA3CD-674C-EF8C-8AE8-10A144147A63}"/>
              </a:ext>
            </a:extLst>
          </p:cNvPr>
          <p:cNvSpPr/>
          <p:nvPr/>
        </p:nvSpPr>
        <p:spPr>
          <a:xfrm>
            <a:off x="430011" y="6011955"/>
            <a:ext cx="420624" cy="219456"/>
          </a:xfrm>
          <a:prstGeom prst="roundRect">
            <a:avLst>
              <a:gd name="adj" fmla="val 16667"/>
            </a:avLst>
          </a:prstGeom>
          <a:solidFill>
            <a:srgbClr val="E6A020"/>
          </a:solidFill>
          <a:ln w="12700">
            <a:solidFill>
              <a:srgbClr val="E6A02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4" name="Text 69">
            <a:extLst>
              <a:ext uri="{FF2B5EF4-FFF2-40B4-BE49-F238E27FC236}">
                <a16:creationId xmlns:a16="http://schemas.microsoft.com/office/drawing/2014/main" id="{11F7B611-A14B-627C-5FBB-0170B886D5EA}"/>
              </a:ext>
            </a:extLst>
          </p:cNvPr>
          <p:cNvSpPr/>
          <p:nvPr/>
        </p:nvSpPr>
        <p:spPr>
          <a:xfrm>
            <a:off x="430011" y="6011955"/>
            <a:ext cx="420624" cy="219456"/>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現場注意</a:t>
            </a:r>
            <a:endParaRPr kumimoji="0" lang="en-US" sz="7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76" name="Shape 71">
            <a:extLst>
              <a:ext uri="{FF2B5EF4-FFF2-40B4-BE49-F238E27FC236}">
                <a16:creationId xmlns:a16="http://schemas.microsoft.com/office/drawing/2014/main" id="{C99449D4-E546-985F-BE72-933F1694A4F7}"/>
              </a:ext>
            </a:extLst>
          </p:cNvPr>
          <p:cNvSpPr/>
          <p:nvPr/>
        </p:nvSpPr>
        <p:spPr>
          <a:xfrm>
            <a:off x="356859"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78" name="Shape 72">
            <a:extLst>
              <a:ext uri="{FF2B5EF4-FFF2-40B4-BE49-F238E27FC236}">
                <a16:creationId xmlns:a16="http://schemas.microsoft.com/office/drawing/2014/main" id="{164235F1-23EF-1248-60B7-999A0B29AA4D}"/>
              </a:ext>
            </a:extLst>
          </p:cNvPr>
          <p:cNvSpPr/>
          <p:nvPr/>
        </p:nvSpPr>
        <p:spPr>
          <a:xfrm>
            <a:off x="411723"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80" name="Text 73">
            <a:extLst>
              <a:ext uri="{FF2B5EF4-FFF2-40B4-BE49-F238E27FC236}">
                <a16:creationId xmlns:a16="http://schemas.microsoft.com/office/drawing/2014/main" id="{12B0160C-FE2A-C7A4-E0AD-74F3D0F9BB4B}"/>
              </a:ext>
            </a:extLst>
          </p:cNvPr>
          <p:cNvSpPr/>
          <p:nvPr/>
        </p:nvSpPr>
        <p:spPr>
          <a:xfrm>
            <a:off x="4117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2" name="Text 74">
            <a:extLst>
              <a:ext uri="{FF2B5EF4-FFF2-40B4-BE49-F238E27FC236}">
                <a16:creationId xmlns:a16="http://schemas.microsoft.com/office/drawing/2014/main" id="{5E79EB16-FC89-25AD-ABF7-33918A2FDFC6}"/>
              </a:ext>
            </a:extLst>
          </p:cNvPr>
          <p:cNvSpPr/>
          <p:nvPr/>
        </p:nvSpPr>
        <p:spPr>
          <a:xfrm>
            <a:off x="631179"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紹介特典を配信</a:t>
            </a:r>
            <a:endParaRPr lang="en-US" altLang="ja-JP" sz="850" dirty="0">
              <a:latin typeface="メイリオ" panose="020B0604030504040204" pitchFamily="50" charset="-128"/>
              <a:ea typeface="メイリオ" panose="020B0604030504040204" pitchFamily="50" charset="-128"/>
            </a:endParaRPr>
          </a:p>
        </p:txBody>
      </p:sp>
      <p:sp>
        <p:nvSpPr>
          <p:cNvPr id="284" name="Text 75">
            <a:extLst>
              <a:ext uri="{FF2B5EF4-FFF2-40B4-BE49-F238E27FC236}">
                <a16:creationId xmlns:a16="http://schemas.microsoft.com/office/drawing/2014/main" id="{64C81502-47D8-FD41-CAA1-246D2A7C55F4}"/>
              </a:ext>
            </a:extLst>
          </p:cNvPr>
          <p:cNvSpPr/>
          <p:nvPr/>
        </p:nvSpPr>
        <p:spPr>
          <a:xfrm>
            <a:off x="411723" y="6167403"/>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満足度高い3ヶ月後</a:t>
            </a:r>
            <a:endParaRPr lang="en-US" altLang="ja-JP" sz="750" dirty="0">
              <a:latin typeface="メイリオ" panose="020B0604030504040204" pitchFamily="50" charset="-128"/>
              <a:ea typeface="メイリオ" panose="020B0604030504040204" pitchFamily="50" charset="-128"/>
            </a:endParaRPr>
          </a:p>
        </p:txBody>
      </p:sp>
      <p:sp>
        <p:nvSpPr>
          <p:cNvPr id="286" name="Text 76">
            <a:extLst>
              <a:ext uri="{FF2B5EF4-FFF2-40B4-BE49-F238E27FC236}">
                <a16:creationId xmlns:a16="http://schemas.microsoft.com/office/drawing/2014/main" id="{DDBCEA73-1ED9-CA4D-8311-CAF89AE71249}"/>
              </a:ext>
            </a:extLst>
          </p:cNvPr>
          <p:cNvSpPr/>
          <p:nvPr/>
        </p:nvSpPr>
        <p:spPr>
          <a:xfrm>
            <a:off x="1637019"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88" name="Shape 77">
            <a:extLst>
              <a:ext uri="{FF2B5EF4-FFF2-40B4-BE49-F238E27FC236}">
                <a16:creationId xmlns:a16="http://schemas.microsoft.com/office/drawing/2014/main" id="{4A9CE2B6-4FF8-B0CB-C568-0E29CCB25364}"/>
              </a:ext>
            </a:extLst>
          </p:cNvPr>
          <p:cNvSpPr/>
          <p:nvPr/>
        </p:nvSpPr>
        <p:spPr>
          <a:xfrm>
            <a:off x="1765035"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0" name="Shape 78">
            <a:extLst>
              <a:ext uri="{FF2B5EF4-FFF2-40B4-BE49-F238E27FC236}">
                <a16:creationId xmlns:a16="http://schemas.microsoft.com/office/drawing/2014/main" id="{FB713A24-D0F7-6DC1-B787-27EFB8E42CD6}"/>
              </a:ext>
            </a:extLst>
          </p:cNvPr>
          <p:cNvSpPr/>
          <p:nvPr/>
        </p:nvSpPr>
        <p:spPr>
          <a:xfrm>
            <a:off x="1819899"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292" name="Text 79">
            <a:extLst>
              <a:ext uri="{FF2B5EF4-FFF2-40B4-BE49-F238E27FC236}">
                <a16:creationId xmlns:a16="http://schemas.microsoft.com/office/drawing/2014/main" id="{37FF5E38-4F70-1C68-3580-FD6C0D20C5DF}"/>
              </a:ext>
            </a:extLst>
          </p:cNvPr>
          <p:cNvSpPr/>
          <p:nvPr/>
        </p:nvSpPr>
        <p:spPr>
          <a:xfrm>
            <a:off x="1819899"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294" name="Text 80">
            <a:extLst>
              <a:ext uri="{FF2B5EF4-FFF2-40B4-BE49-F238E27FC236}">
                <a16:creationId xmlns:a16="http://schemas.microsoft.com/office/drawing/2014/main" id="{5C71A4A8-6960-FBE7-CE24-A77A0C89DFFD}"/>
              </a:ext>
            </a:extLst>
          </p:cNvPr>
          <p:cNvSpPr/>
          <p:nvPr/>
        </p:nvSpPr>
        <p:spPr>
          <a:xfrm>
            <a:off x="2039355"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LINEシェア</a:t>
            </a:r>
            <a:endParaRPr lang="en-US" altLang="ja-JP" sz="850" dirty="0">
              <a:latin typeface="メイリオ" panose="020B0604030504040204" pitchFamily="50" charset="-128"/>
              <a:ea typeface="メイリオ" panose="020B0604030504040204" pitchFamily="50" charset="-128"/>
            </a:endParaRPr>
          </a:p>
        </p:txBody>
      </p:sp>
      <p:sp>
        <p:nvSpPr>
          <p:cNvPr id="296" name="Text 81">
            <a:extLst>
              <a:ext uri="{FF2B5EF4-FFF2-40B4-BE49-F238E27FC236}">
                <a16:creationId xmlns:a16="http://schemas.microsoft.com/office/drawing/2014/main" id="{F823702E-E3FF-CBCE-0A20-E5381533CBF2}"/>
              </a:ext>
            </a:extLst>
          </p:cNvPr>
          <p:cNvSpPr/>
          <p:nvPr/>
        </p:nvSpPr>
        <p:spPr>
          <a:xfrm>
            <a:off x="1819899"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心理ハードル最低</a:t>
            </a:r>
            <a:endParaRPr lang="en-US" altLang="ja-JP" sz="750" dirty="0">
              <a:latin typeface="メイリオ" panose="020B0604030504040204" pitchFamily="50" charset="-128"/>
              <a:ea typeface="メイリオ" panose="020B0604030504040204" pitchFamily="50" charset="-128"/>
            </a:endParaRPr>
          </a:p>
        </p:txBody>
      </p:sp>
      <p:sp>
        <p:nvSpPr>
          <p:cNvPr id="298" name="Text 82">
            <a:extLst>
              <a:ext uri="{FF2B5EF4-FFF2-40B4-BE49-F238E27FC236}">
                <a16:creationId xmlns:a16="http://schemas.microsoft.com/office/drawing/2014/main" id="{A83E74AB-BECE-59CE-D634-A3A5C9A361C9}"/>
              </a:ext>
            </a:extLst>
          </p:cNvPr>
          <p:cNvSpPr/>
          <p:nvPr/>
        </p:nvSpPr>
        <p:spPr>
          <a:xfrm>
            <a:off x="3045195"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0" name="Shape 83">
            <a:extLst>
              <a:ext uri="{FF2B5EF4-FFF2-40B4-BE49-F238E27FC236}">
                <a16:creationId xmlns:a16="http://schemas.microsoft.com/office/drawing/2014/main" id="{B99E233A-6870-51BA-7438-99DBD2BE03C3}"/>
              </a:ext>
            </a:extLst>
          </p:cNvPr>
          <p:cNvSpPr/>
          <p:nvPr/>
        </p:nvSpPr>
        <p:spPr>
          <a:xfrm>
            <a:off x="3173211"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2" name="Shape 84">
            <a:extLst>
              <a:ext uri="{FF2B5EF4-FFF2-40B4-BE49-F238E27FC236}">
                <a16:creationId xmlns:a16="http://schemas.microsoft.com/office/drawing/2014/main" id="{14136A19-FB98-4163-504D-27BC3C347109}"/>
              </a:ext>
            </a:extLst>
          </p:cNvPr>
          <p:cNvSpPr/>
          <p:nvPr/>
        </p:nvSpPr>
        <p:spPr>
          <a:xfrm>
            <a:off x="3228075"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04" name="Text 85">
            <a:extLst>
              <a:ext uri="{FF2B5EF4-FFF2-40B4-BE49-F238E27FC236}">
                <a16:creationId xmlns:a16="http://schemas.microsoft.com/office/drawing/2014/main" id="{B1261818-8213-92C4-5F69-CDB1FEED7D6B}"/>
              </a:ext>
            </a:extLst>
          </p:cNvPr>
          <p:cNvSpPr/>
          <p:nvPr/>
        </p:nvSpPr>
        <p:spPr>
          <a:xfrm>
            <a:off x="3228075"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06" name="Text 86">
            <a:extLst>
              <a:ext uri="{FF2B5EF4-FFF2-40B4-BE49-F238E27FC236}">
                <a16:creationId xmlns:a16="http://schemas.microsoft.com/office/drawing/2014/main" id="{2F5670AB-004B-F8FE-78FA-0194BCE83E05}"/>
              </a:ext>
            </a:extLst>
          </p:cNvPr>
          <p:cNvSpPr/>
          <p:nvPr/>
        </p:nvSpPr>
        <p:spPr>
          <a:xfrm>
            <a:off x="3447530" y="5957091"/>
            <a:ext cx="1060705"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紹介経由＋特典付与</a:t>
            </a:r>
            <a:endParaRPr lang="en-US" altLang="ja-JP" sz="850" dirty="0">
              <a:latin typeface="メイリオ" panose="020B0604030504040204" pitchFamily="50" charset="-128"/>
              <a:ea typeface="メイリオ" panose="020B0604030504040204" pitchFamily="50" charset="-128"/>
            </a:endParaRPr>
          </a:p>
        </p:txBody>
      </p:sp>
      <p:sp>
        <p:nvSpPr>
          <p:cNvPr id="308" name="Text 87">
            <a:extLst>
              <a:ext uri="{FF2B5EF4-FFF2-40B4-BE49-F238E27FC236}">
                <a16:creationId xmlns:a16="http://schemas.microsoft.com/office/drawing/2014/main" id="{DC6BE138-921D-A694-0DAC-F5A995A4F15D}"/>
              </a:ext>
            </a:extLst>
          </p:cNvPr>
          <p:cNvSpPr/>
          <p:nvPr/>
        </p:nvSpPr>
        <p:spPr>
          <a:xfrm>
            <a:off x="3228075"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ツール連携で自動追跡</a:t>
            </a:r>
            <a:endParaRPr lang="en-US" altLang="ja-JP" sz="750" dirty="0">
              <a:latin typeface="メイリオ" panose="020B0604030504040204" pitchFamily="50" charset="-128"/>
              <a:ea typeface="メイリオ" panose="020B0604030504040204" pitchFamily="50" charset="-128"/>
            </a:endParaRPr>
          </a:p>
        </p:txBody>
      </p:sp>
      <p:sp>
        <p:nvSpPr>
          <p:cNvPr id="310" name="Shape 88">
            <a:extLst>
              <a:ext uri="{FF2B5EF4-FFF2-40B4-BE49-F238E27FC236}">
                <a16:creationId xmlns:a16="http://schemas.microsoft.com/office/drawing/2014/main" id="{00EA83A8-D640-D726-5B4E-5B7E5CC8BB06}"/>
              </a:ext>
            </a:extLst>
          </p:cNvPr>
          <p:cNvSpPr/>
          <p:nvPr/>
        </p:nvSpPr>
        <p:spPr>
          <a:xfrm>
            <a:off x="5099366" y="2999769"/>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2" name="Shape 92">
            <a:extLst>
              <a:ext uri="{FF2B5EF4-FFF2-40B4-BE49-F238E27FC236}">
                <a16:creationId xmlns:a16="http://schemas.microsoft.com/office/drawing/2014/main" id="{2ED50188-C3E8-671B-437B-FE9D09CB0C8A}"/>
              </a:ext>
            </a:extLst>
          </p:cNvPr>
          <p:cNvSpPr/>
          <p:nvPr/>
        </p:nvSpPr>
        <p:spPr>
          <a:xfrm>
            <a:off x="5519991" y="3109497"/>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14" name="Text 93">
            <a:extLst>
              <a:ext uri="{FF2B5EF4-FFF2-40B4-BE49-F238E27FC236}">
                <a16:creationId xmlns:a16="http://schemas.microsoft.com/office/drawing/2014/main" id="{F6E39E70-FE8A-DE23-0A39-4AE1241BE1AD}"/>
              </a:ext>
            </a:extLst>
          </p:cNvPr>
          <p:cNvSpPr/>
          <p:nvPr/>
        </p:nvSpPr>
        <p:spPr>
          <a:xfrm>
            <a:off x="5519991" y="3109497"/>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再接触</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16" name="Text 94">
            <a:extLst>
              <a:ext uri="{FF2B5EF4-FFF2-40B4-BE49-F238E27FC236}">
                <a16:creationId xmlns:a16="http://schemas.microsoft.com/office/drawing/2014/main" id="{2B080416-8CAA-F775-2812-CDE294817703}"/>
              </a:ext>
            </a:extLst>
          </p:cNvPr>
          <p:cNvSpPr/>
          <p:nvPr/>
        </p:nvSpPr>
        <p:spPr>
          <a:xfrm>
            <a:off x="6379527" y="3082065"/>
            <a:ext cx="3319066" cy="256032"/>
          </a:xfrm>
          <a:prstGeom prst="rect">
            <a:avLst/>
          </a:prstGeom>
          <a:noFill/>
          <a:ln/>
        </p:spPr>
        <p:txBody>
          <a:bodyPr wrap="square" lIns="0" tIns="0" rIns="0" bIns="0" rtlCol="0" anchor="ctr"/>
          <a:lstStyle/>
          <a:p>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長期離脱</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層</a:t>
            </a:r>
            <a:r>
              <a:rPr lang="en-US" altLang="ja-JP" sz="1100" b="1" dirty="0" err="1">
                <a:solidFill>
                  <a:srgbClr val="1A1A2E"/>
                </a:solidFill>
                <a:latin typeface="メイリオ" panose="020B0604030504040204" pitchFamily="50" charset="-128"/>
                <a:ea typeface="メイリオ" panose="020B0604030504040204" pitchFamily="50" charset="-128"/>
                <a:cs typeface="Calibri" pitchFamily="34" charset="-120"/>
              </a:rPr>
              <a:t>へコンテンツ型ギフトで関係再構築</a:t>
            </a:r>
            <a:endParaRPr lang="en-US" altLang="ja-JP" sz="1100" dirty="0">
              <a:latin typeface="メイリオ" panose="020B0604030504040204" pitchFamily="50" charset="-128"/>
              <a:ea typeface="メイリオ" panose="020B0604030504040204" pitchFamily="50" charset="-128"/>
            </a:endParaRPr>
          </a:p>
        </p:txBody>
      </p:sp>
      <p:sp>
        <p:nvSpPr>
          <p:cNvPr id="318" name="Text 95">
            <a:extLst>
              <a:ext uri="{FF2B5EF4-FFF2-40B4-BE49-F238E27FC236}">
                <a16:creationId xmlns:a16="http://schemas.microsoft.com/office/drawing/2014/main" id="{56FA365B-5BDE-ED2F-4006-8ED9F6DCA2CB}"/>
              </a:ext>
            </a:extLst>
          </p:cNvPr>
          <p:cNvSpPr/>
          <p:nvPr/>
        </p:nvSpPr>
        <p:spPr>
          <a:xfrm>
            <a:off x="5190807" y="3383817"/>
            <a:ext cx="4449774" cy="493776"/>
          </a:xfrm>
          <a:prstGeom prst="rect">
            <a:avLst/>
          </a:prstGeom>
          <a:noFill/>
          <a:ln/>
        </p:spPr>
        <p:txBody>
          <a:bodyPr wrap="square" lIns="0" tIns="0" rIns="0" bIns="0" rtlCol="0" anchor="ctr"/>
          <a:lstStyle/>
          <a:p>
            <a:pPr>
              <a:lnSpc>
                <a:spcPct val="135000"/>
              </a:lnSpc>
            </a:pP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6ヶ月以上アクションなしのユーザーに「ご無沙汰しています。最近こんな情報があります」という業界ニュース・役立つコンテンツ型で再接触。最初の2〜3回は純粋にギフトとして届け、関係を再構築してからCV訴求する。</a:t>
            </a:r>
            <a:endParaRPr lang="en-US" altLang="ja-JP" sz="850" dirty="0">
              <a:latin typeface="メイリオ" panose="020B0604030504040204" pitchFamily="50" charset="-128"/>
              <a:ea typeface="メイリオ" panose="020B0604030504040204" pitchFamily="50" charset="-128"/>
            </a:endParaRPr>
          </a:p>
        </p:txBody>
      </p:sp>
      <p:sp>
        <p:nvSpPr>
          <p:cNvPr id="320" name="Shape 96">
            <a:extLst>
              <a:ext uri="{FF2B5EF4-FFF2-40B4-BE49-F238E27FC236}">
                <a16:creationId xmlns:a16="http://schemas.microsoft.com/office/drawing/2014/main" id="{1E05EEB3-91EB-E94B-2D69-D35527B446BF}"/>
              </a:ext>
            </a:extLst>
          </p:cNvPr>
          <p:cNvSpPr/>
          <p:nvPr/>
        </p:nvSpPr>
        <p:spPr>
          <a:xfrm>
            <a:off x="5190807"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2" name="Shape 97">
            <a:extLst>
              <a:ext uri="{FF2B5EF4-FFF2-40B4-BE49-F238E27FC236}">
                <a16:creationId xmlns:a16="http://schemas.microsoft.com/office/drawing/2014/main" id="{BA904CD8-501F-A1E3-D3ED-D2CCD783E4DC}"/>
              </a:ext>
            </a:extLst>
          </p:cNvPr>
          <p:cNvSpPr/>
          <p:nvPr/>
        </p:nvSpPr>
        <p:spPr>
          <a:xfrm>
            <a:off x="5245671"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24" name="Text 98">
            <a:extLst>
              <a:ext uri="{FF2B5EF4-FFF2-40B4-BE49-F238E27FC236}">
                <a16:creationId xmlns:a16="http://schemas.microsoft.com/office/drawing/2014/main" id="{35DBBF69-D787-B899-0A91-599E4F6F88FD}"/>
              </a:ext>
            </a:extLst>
          </p:cNvPr>
          <p:cNvSpPr/>
          <p:nvPr/>
        </p:nvSpPr>
        <p:spPr>
          <a:xfrm>
            <a:off x="5245671"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26" name="Text 99">
            <a:extLst>
              <a:ext uri="{FF2B5EF4-FFF2-40B4-BE49-F238E27FC236}">
                <a16:creationId xmlns:a16="http://schemas.microsoft.com/office/drawing/2014/main" id="{571F5D58-D9F5-DDDB-BBA8-754874B6BA6A}"/>
              </a:ext>
            </a:extLst>
          </p:cNvPr>
          <p:cNvSpPr/>
          <p:nvPr/>
        </p:nvSpPr>
        <p:spPr>
          <a:xfrm>
            <a:off x="5465127"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役立つ情報のみ</a:t>
            </a:r>
            <a:endParaRPr lang="en-US" altLang="ja-JP" sz="850" dirty="0">
              <a:latin typeface="メイリオ" panose="020B0604030504040204" pitchFamily="50" charset="-128"/>
              <a:ea typeface="メイリオ" panose="020B0604030504040204" pitchFamily="50" charset="-128"/>
            </a:endParaRPr>
          </a:p>
        </p:txBody>
      </p:sp>
      <p:sp>
        <p:nvSpPr>
          <p:cNvPr id="328" name="Text 100">
            <a:extLst>
              <a:ext uri="{FF2B5EF4-FFF2-40B4-BE49-F238E27FC236}">
                <a16:creationId xmlns:a16="http://schemas.microsoft.com/office/drawing/2014/main" id="{ED413E21-4A95-D38C-61A6-621C9118C6E5}"/>
              </a:ext>
            </a:extLst>
          </p:cNvPr>
          <p:cNvSpPr/>
          <p:nvPr/>
        </p:nvSpPr>
        <p:spPr>
          <a:xfrm>
            <a:off x="5245671"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4A4A6A"/>
                </a:solidFill>
                <a:latin typeface="メイリオ" panose="020B0604030504040204" pitchFamily="50" charset="-128"/>
                <a:ea typeface="メイリオ" panose="020B0604030504040204" pitchFamily="50" charset="-128"/>
                <a:cs typeface="Calibri" pitchFamily="34" charset="-120"/>
              </a:rPr>
              <a:t>売り込みゼロ×2〜3回</a:t>
            </a:r>
            <a:endParaRPr lang="en-US" altLang="ja-JP" sz="750" dirty="0">
              <a:latin typeface="メイリオ" panose="020B0604030504040204" pitchFamily="50" charset="-128"/>
              <a:ea typeface="メイリオ" panose="020B0604030504040204" pitchFamily="50" charset="-128"/>
            </a:endParaRPr>
          </a:p>
        </p:txBody>
      </p:sp>
      <p:sp>
        <p:nvSpPr>
          <p:cNvPr id="330" name="Text 101">
            <a:extLst>
              <a:ext uri="{FF2B5EF4-FFF2-40B4-BE49-F238E27FC236}">
                <a16:creationId xmlns:a16="http://schemas.microsoft.com/office/drawing/2014/main" id="{CCFB2388-34C1-5BB1-7989-946A3B745B6A}"/>
              </a:ext>
            </a:extLst>
          </p:cNvPr>
          <p:cNvSpPr/>
          <p:nvPr/>
        </p:nvSpPr>
        <p:spPr>
          <a:xfrm>
            <a:off x="6470967"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2" name="Shape 102">
            <a:extLst>
              <a:ext uri="{FF2B5EF4-FFF2-40B4-BE49-F238E27FC236}">
                <a16:creationId xmlns:a16="http://schemas.microsoft.com/office/drawing/2014/main" id="{F8446415-1501-E693-C4B3-EB8C32C67E45}"/>
              </a:ext>
            </a:extLst>
          </p:cNvPr>
          <p:cNvSpPr/>
          <p:nvPr/>
        </p:nvSpPr>
        <p:spPr>
          <a:xfrm>
            <a:off x="6598983" y="4077999"/>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4" name="Shape 103">
            <a:extLst>
              <a:ext uri="{FF2B5EF4-FFF2-40B4-BE49-F238E27FC236}">
                <a16:creationId xmlns:a16="http://schemas.microsoft.com/office/drawing/2014/main" id="{A98E62F3-DFAB-3380-0063-854CD3B54274}"/>
              </a:ext>
            </a:extLst>
          </p:cNvPr>
          <p:cNvSpPr/>
          <p:nvPr/>
        </p:nvSpPr>
        <p:spPr>
          <a:xfrm>
            <a:off x="6653847" y="4132863"/>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36" name="Text 104">
            <a:extLst>
              <a:ext uri="{FF2B5EF4-FFF2-40B4-BE49-F238E27FC236}">
                <a16:creationId xmlns:a16="http://schemas.microsoft.com/office/drawing/2014/main" id="{415DB8B7-F668-AC7A-CE33-494F03854BD4}"/>
              </a:ext>
            </a:extLst>
          </p:cNvPr>
          <p:cNvSpPr/>
          <p:nvPr/>
        </p:nvSpPr>
        <p:spPr>
          <a:xfrm>
            <a:off x="6653847"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38" name="Text 105">
            <a:extLst>
              <a:ext uri="{FF2B5EF4-FFF2-40B4-BE49-F238E27FC236}">
                <a16:creationId xmlns:a16="http://schemas.microsoft.com/office/drawing/2014/main" id="{FA1DC66E-AF0D-0985-0802-20D85E926CA0}"/>
              </a:ext>
            </a:extLst>
          </p:cNvPr>
          <p:cNvSpPr/>
          <p:nvPr/>
        </p:nvSpPr>
        <p:spPr>
          <a:xfrm>
            <a:off x="6873303" y="4114575"/>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関係再構築完了</a:t>
            </a:r>
            <a:endParaRPr lang="en-US" altLang="ja-JP" sz="850" dirty="0">
              <a:latin typeface="メイリオ" panose="020B0604030504040204" pitchFamily="50" charset="-128"/>
              <a:ea typeface="メイリオ" panose="020B0604030504040204" pitchFamily="50" charset="-128"/>
            </a:endParaRPr>
          </a:p>
        </p:txBody>
      </p:sp>
      <p:sp>
        <p:nvSpPr>
          <p:cNvPr id="340" name="Text 106">
            <a:extLst>
              <a:ext uri="{FF2B5EF4-FFF2-40B4-BE49-F238E27FC236}">
                <a16:creationId xmlns:a16="http://schemas.microsoft.com/office/drawing/2014/main" id="{4D8603BB-BC34-BD19-18F7-38CF49867740}"/>
              </a:ext>
            </a:extLst>
          </p:cNvPr>
          <p:cNvSpPr/>
          <p:nvPr/>
        </p:nvSpPr>
        <p:spPr>
          <a:xfrm>
            <a:off x="6653847" y="4324887"/>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ブロック率を抑制</a:t>
            </a:r>
            <a:endParaRPr lang="en-US" altLang="ja-JP" sz="750" dirty="0">
              <a:latin typeface="メイリオ" panose="020B0604030504040204" pitchFamily="50" charset="-128"/>
              <a:ea typeface="メイリオ" panose="020B0604030504040204" pitchFamily="50" charset="-128"/>
            </a:endParaRPr>
          </a:p>
        </p:txBody>
      </p:sp>
      <p:sp>
        <p:nvSpPr>
          <p:cNvPr id="342" name="Text 107">
            <a:extLst>
              <a:ext uri="{FF2B5EF4-FFF2-40B4-BE49-F238E27FC236}">
                <a16:creationId xmlns:a16="http://schemas.microsoft.com/office/drawing/2014/main" id="{588E7835-072B-748B-58F3-CA6AFC64CEFD}"/>
              </a:ext>
            </a:extLst>
          </p:cNvPr>
          <p:cNvSpPr/>
          <p:nvPr/>
        </p:nvSpPr>
        <p:spPr>
          <a:xfrm>
            <a:off x="7879143" y="4233447"/>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44" name="Shape 108">
            <a:extLst>
              <a:ext uri="{FF2B5EF4-FFF2-40B4-BE49-F238E27FC236}">
                <a16:creationId xmlns:a16="http://schemas.microsoft.com/office/drawing/2014/main" id="{4F170C42-630C-8D4B-FBB8-27015876762A}"/>
              </a:ext>
            </a:extLst>
          </p:cNvPr>
          <p:cNvSpPr/>
          <p:nvPr/>
        </p:nvSpPr>
        <p:spPr>
          <a:xfrm>
            <a:off x="8007159" y="4077999"/>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6" name="Shape 109">
            <a:extLst>
              <a:ext uri="{FF2B5EF4-FFF2-40B4-BE49-F238E27FC236}">
                <a16:creationId xmlns:a16="http://schemas.microsoft.com/office/drawing/2014/main" id="{4949CD92-D7C3-604E-24C2-5DF64D165947}"/>
              </a:ext>
            </a:extLst>
          </p:cNvPr>
          <p:cNvSpPr/>
          <p:nvPr/>
        </p:nvSpPr>
        <p:spPr>
          <a:xfrm>
            <a:off x="8062023" y="4132863"/>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48" name="Text 110">
            <a:extLst>
              <a:ext uri="{FF2B5EF4-FFF2-40B4-BE49-F238E27FC236}">
                <a16:creationId xmlns:a16="http://schemas.microsoft.com/office/drawing/2014/main" id="{89D2F0E4-B8EC-3B98-9281-44E80C6C2F05}"/>
              </a:ext>
            </a:extLst>
          </p:cNvPr>
          <p:cNvSpPr/>
          <p:nvPr/>
        </p:nvSpPr>
        <p:spPr>
          <a:xfrm>
            <a:off x="8062023" y="4132863"/>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50" name="Text 111">
            <a:extLst>
              <a:ext uri="{FF2B5EF4-FFF2-40B4-BE49-F238E27FC236}">
                <a16:creationId xmlns:a16="http://schemas.microsoft.com/office/drawing/2014/main" id="{86FADA7D-7380-B2D4-BB29-67FA3FF02D03}"/>
              </a:ext>
            </a:extLst>
          </p:cNvPr>
          <p:cNvSpPr/>
          <p:nvPr/>
        </p:nvSpPr>
        <p:spPr>
          <a:xfrm>
            <a:off x="8281479" y="4114575"/>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自然な形でCV訴求</a:t>
            </a:r>
            <a:endParaRPr lang="en-US" altLang="ja-JP" sz="850" dirty="0">
              <a:latin typeface="メイリオ" panose="020B0604030504040204" pitchFamily="50" charset="-128"/>
              <a:ea typeface="メイリオ" panose="020B0604030504040204" pitchFamily="50" charset="-128"/>
            </a:endParaRPr>
          </a:p>
        </p:txBody>
      </p:sp>
      <p:sp>
        <p:nvSpPr>
          <p:cNvPr id="352" name="Text 112">
            <a:extLst>
              <a:ext uri="{FF2B5EF4-FFF2-40B4-BE49-F238E27FC236}">
                <a16:creationId xmlns:a16="http://schemas.microsoft.com/office/drawing/2014/main" id="{281ABCCF-C22A-E77A-4B67-210FD1F78104}"/>
              </a:ext>
            </a:extLst>
          </p:cNvPr>
          <p:cNvSpPr/>
          <p:nvPr/>
        </p:nvSpPr>
        <p:spPr>
          <a:xfrm>
            <a:off x="8062023" y="4324887"/>
            <a:ext cx="1133856" cy="201168"/>
          </a:xfrm>
          <a:prstGeom prst="rect">
            <a:avLst/>
          </a:prstGeom>
          <a:noFill/>
          <a:ln/>
        </p:spPr>
        <p:txBody>
          <a:bodyPr wrap="square" lIns="0" tIns="0" rIns="0" bIns="0" rtlCol="0" anchor="ctr"/>
          <a:lstStyle/>
          <a:p>
            <a:pPr>
              <a:lnSpc>
                <a:spcPct val="115000"/>
              </a:lnSpc>
            </a:pPr>
            <a:r>
              <a:rPr lang="en-US" altLang="ja-JP" sz="750" dirty="0">
                <a:solidFill>
                  <a:srgbClr val="D0E8FF"/>
                </a:solidFill>
                <a:latin typeface="メイリオ" panose="020B0604030504040204" pitchFamily="50" charset="-128"/>
                <a:ea typeface="メイリオ" panose="020B0604030504040204" pitchFamily="50" charset="-128"/>
                <a:cs typeface="Calibri" pitchFamily="34" charset="-120"/>
              </a:rPr>
              <a:t>再購入率10%</a:t>
            </a:r>
            <a:r>
              <a:rPr lang="ja-JP" altLang="en-US" sz="750" dirty="0">
                <a:solidFill>
                  <a:srgbClr val="D0E8FF"/>
                </a:solidFill>
                <a:latin typeface="メイリオ" panose="020B0604030504040204" pitchFamily="50" charset="-128"/>
                <a:ea typeface="メイリオ" panose="020B0604030504040204" pitchFamily="50" charset="-128"/>
                <a:cs typeface="Calibri" pitchFamily="34" charset="-120"/>
              </a:rPr>
              <a:t>前後</a:t>
            </a:r>
            <a:endParaRPr lang="en-US" altLang="ja-JP" sz="750" dirty="0">
              <a:latin typeface="メイリオ" panose="020B0604030504040204" pitchFamily="50" charset="-128"/>
              <a:ea typeface="メイリオ" panose="020B0604030504040204" pitchFamily="50" charset="-128"/>
            </a:endParaRPr>
          </a:p>
        </p:txBody>
      </p:sp>
      <p:sp>
        <p:nvSpPr>
          <p:cNvPr id="354" name="Shape 113">
            <a:extLst>
              <a:ext uri="{FF2B5EF4-FFF2-40B4-BE49-F238E27FC236}">
                <a16:creationId xmlns:a16="http://schemas.microsoft.com/office/drawing/2014/main" id="{971278A0-D337-07E8-607D-BF93BE0DD844}"/>
              </a:ext>
            </a:extLst>
          </p:cNvPr>
          <p:cNvSpPr/>
          <p:nvPr/>
        </p:nvSpPr>
        <p:spPr>
          <a:xfrm>
            <a:off x="5099366" y="4842285"/>
            <a:ext cx="4526075" cy="1600806"/>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6" name="Shape 117">
            <a:extLst>
              <a:ext uri="{FF2B5EF4-FFF2-40B4-BE49-F238E27FC236}">
                <a16:creationId xmlns:a16="http://schemas.microsoft.com/office/drawing/2014/main" id="{F47773F9-0CEF-F0E1-89AB-B3B4EFC203DB}"/>
              </a:ext>
            </a:extLst>
          </p:cNvPr>
          <p:cNvSpPr/>
          <p:nvPr/>
        </p:nvSpPr>
        <p:spPr>
          <a:xfrm>
            <a:off x="5519991" y="4952013"/>
            <a:ext cx="804672" cy="201168"/>
          </a:xfrm>
          <a:prstGeom prst="roundRect">
            <a:avLst>
              <a:gd name="adj" fmla="val 18182"/>
            </a:avLst>
          </a:prstGeom>
          <a:solidFill>
            <a:srgbClr val="FFFFFF"/>
          </a:solidFill>
          <a:ln w="12700">
            <a:solidFill>
              <a:srgbClr val="D0D3E4"/>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58" name="Text 118">
            <a:extLst>
              <a:ext uri="{FF2B5EF4-FFF2-40B4-BE49-F238E27FC236}">
                <a16:creationId xmlns:a16="http://schemas.microsoft.com/office/drawing/2014/main" id="{5E262051-72BB-2E2F-38AC-EAC107F4BF2D}"/>
              </a:ext>
            </a:extLst>
          </p:cNvPr>
          <p:cNvSpPr/>
          <p:nvPr/>
        </p:nvSpPr>
        <p:spPr>
          <a:xfrm>
            <a:off x="5519991" y="4952013"/>
            <a:ext cx="804672" cy="201168"/>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ja-JP" altLang="en-US" sz="75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フロー案内</a:t>
            </a:r>
            <a:endParaRPr kumimoji="0" lang="en-US" sz="75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60" name="Text 119">
            <a:extLst>
              <a:ext uri="{FF2B5EF4-FFF2-40B4-BE49-F238E27FC236}">
                <a16:creationId xmlns:a16="http://schemas.microsoft.com/office/drawing/2014/main" id="{E3B15F81-AADD-9921-7172-C1CD99BDF110}"/>
              </a:ext>
            </a:extLst>
          </p:cNvPr>
          <p:cNvSpPr/>
          <p:nvPr/>
        </p:nvSpPr>
        <p:spPr>
          <a:xfrm>
            <a:off x="6379526" y="4924581"/>
            <a:ext cx="3480635" cy="256032"/>
          </a:xfrm>
          <a:prstGeom prst="rect">
            <a:avLst/>
          </a:prstGeom>
          <a:noFill/>
          <a:ln/>
        </p:spPr>
        <p:txBody>
          <a:bodyPr wrap="square" lIns="0" tIns="0" rIns="0" bIns="0" rtlCol="0" anchor="ctr"/>
          <a:lstStyle/>
          <a:p>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誕生日記念日タグ </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パーソナライズ配信で</a:t>
            </a:r>
            <a:r>
              <a:rPr lang="en-US" altLang="ja-JP" sz="1100" b="1" dirty="0">
                <a:solidFill>
                  <a:srgbClr val="1A1A2E"/>
                </a:solidFill>
                <a:latin typeface="メイリオ" panose="020B0604030504040204" pitchFamily="50" charset="-128"/>
                <a:ea typeface="メイリオ" panose="020B0604030504040204" pitchFamily="50" charset="-128"/>
                <a:cs typeface="Calibri" pitchFamily="34" charset="-120"/>
              </a:rPr>
              <a:t>LTV</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向上</a:t>
            </a:r>
          </a:p>
        </p:txBody>
      </p:sp>
      <p:sp>
        <p:nvSpPr>
          <p:cNvPr id="362" name="Text 120">
            <a:extLst>
              <a:ext uri="{FF2B5EF4-FFF2-40B4-BE49-F238E27FC236}">
                <a16:creationId xmlns:a16="http://schemas.microsoft.com/office/drawing/2014/main" id="{5D40B60F-5F09-DB2E-8DFF-C187AC234EEE}"/>
              </a:ext>
            </a:extLst>
          </p:cNvPr>
          <p:cNvSpPr/>
          <p:nvPr/>
        </p:nvSpPr>
        <p:spPr>
          <a:xfrm>
            <a:off x="5190807" y="5226333"/>
            <a:ext cx="4449774" cy="529590"/>
          </a:xfrm>
          <a:prstGeom prst="rect">
            <a:avLst/>
          </a:prstGeom>
          <a:noFill/>
          <a:ln/>
        </p:spPr>
        <p:txBody>
          <a:bodyPr wrap="square" lIns="0" tIns="0" rIns="0" bIns="0" rtlCol="0" anchor="ctr"/>
          <a:lstStyle/>
          <a:p>
            <a:pPr>
              <a:lnSpc>
                <a:spcPct val="135000"/>
              </a:lnSpc>
            </a:pP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誕生日・入会記念日を記念日タグとして登録し</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a:t>
            </a:r>
            <a:r>
              <a:rPr lang="en-US" altLang="ja-JP" sz="850" dirty="0" err="1">
                <a:solidFill>
                  <a:srgbClr val="4A4A6A"/>
                </a:solidFill>
                <a:latin typeface="メイリオ" panose="020B0604030504040204" pitchFamily="50" charset="-128"/>
                <a:ea typeface="メイリオ" panose="020B0604030504040204" pitchFamily="50" charset="-128"/>
                <a:cs typeface="Calibri" pitchFamily="34" charset="-120"/>
              </a:rPr>
              <a:t>様、今日はご誕生日おめでとうございます。特別クーポンをお贈りします」を自動配信</a:t>
            </a:r>
            <a:r>
              <a:rPr lang="en-US" altLang="ja-JP" sz="850" dirty="0">
                <a:solidFill>
                  <a:srgbClr val="4A4A6A"/>
                </a:solidFill>
                <a:latin typeface="メイリオ" panose="020B0604030504040204" pitchFamily="50" charset="-128"/>
                <a:ea typeface="メイリオ" panose="020B0604030504040204" pitchFamily="50" charset="-128"/>
                <a:cs typeface="Calibri" pitchFamily="34" charset="-120"/>
              </a:rPr>
              <a:t>。「自分のことを覚えてくれている」体験がロイヤリティを高め年間LTVを平均20%向上。</a:t>
            </a:r>
            <a:endParaRPr lang="en-US" altLang="ja-JP" sz="850" dirty="0">
              <a:latin typeface="メイリオ" panose="020B0604030504040204" pitchFamily="50" charset="-128"/>
              <a:ea typeface="メイリオ" panose="020B0604030504040204" pitchFamily="50" charset="-128"/>
            </a:endParaRPr>
          </a:p>
        </p:txBody>
      </p:sp>
      <p:sp>
        <p:nvSpPr>
          <p:cNvPr id="364" name="Shape 121">
            <a:extLst>
              <a:ext uri="{FF2B5EF4-FFF2-40B4-BE49-F238E27FC236}">
                <a16:creationId xmlns:a16="http://schemas.microsoft.com/office/drawing/2014/main" id="{6D87E532-2B58-F1E3-5364-68322B8546E8}"/>
              </a:ext>
            </a:extLst>
          </p:cNvPr>
          <p:cNvSpPr/>
          <p:nvPr/>
        </p:nvSpPr>
        <p:spPr>
          <a:xfrm>
            <a:off x="5190807"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6" name="Shape 122">
            <a:extLst>
              <a:ext uri="{FF2B5EF4-FFF2-40B4-BE49-F238E27FC236}">
                <a16:creationId xmlns:a16="http://schemas.microsoft.com/office/drawing/2014/main" id="{D091E1D9-CAC7-E7FA-4AE7-10C04B5FA5B7}"/>
              </a:ext>
            </a:extLst>
          </p:cNvPr>
          <p:cNvSpPr/>
          <p:nvPr/>
        </p:nvSpPr>
        <p:spPr>
          <a:xfrm>
            <a:off x="5245671"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68" name="Text 123">
            <a:extLst>
              <a:ext uri="{FF2B5EF4-FFF2-40B4-BE49-F238E27FC236}">
                <a16:creationId xmlns:a16="http://schemas.microsoft.com/office/drawing/2014/main" id="{91206034-9E2C-FBA8-B2C3-24856EE4B44C}"/>
              </a:ext>
            </a:extLst>
          </p:cNvPr>
          <p:cNvSpPr/>
          <p:nvPr/>
        </p:nvSpPr>
        <p:spPr>
          <a:xfrm>
            <a:off x="5245671"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1</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0" name="Text 124">
            <a:extLst>
              <a:ext uri="{FF2B5EF4-FFF2-40B4-BE49-F238E27FC236}">
                <a16:creationId xmlns:a16="http://schemas.microsoft.com/office/drawing/2014/main" id="{96A70C8C-D3D2-8BAD-7C6C-DDACC0B79B34}"/>
              </a:ext>
            </a:extLst>
          </p:cNvPr>
          <p:cNvSpPr/>
          <p:nvPr/>
        </p:nvSpPr>
        <p:spPr>
          <a:xfrm>
            <a:off x="5465127"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記念日タグを設定</a:t>
            </a:r>
            <a:endParaRPr lang="en-US" altLang="ja-JP" sz="850" dirty="0">
              <a:latin typeface="メイリオ" panose="020B0604030504040204" pitchFamily="50" charset="-128"/>
              <a:ea typeface="メイリオ" panose="020B0604030504040204" pitchFamily="50" charset="-128"/>
            </a:endParaRPr>
          </a:p>
        </p:txBody>
      </p:sp>
      <p:sp>
        <p:nvSpPr>
          <p:cNvPr id="372" name="Text 125">
            <a:extLst>
              <a:ext uri="{FF2B5EF4-FFF2-40B4-BE49-F238E27FC236}">
                <a16:creationId xmlns:a16="http://schemas.microsoft.com/office/drawing/2014/main" id="{C7DCCB91-2446-504F-DB21-38DC9E40A99E}"/>
              </a:ext>
            </a:extLst>
          </p:cNvPr>
          <p:cNvSpPr/>
          <p:nvPr/>
        </p:nvSpPr>
        <p:spPr>
          <a:xfrm>
            <a:off x="5245671"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誕生日・入会日等</a:t>
            </a:r>
            <a:endParaRPr lang="en-US" altLang="ja-JP" sz="750" dirty="0">
              <a:latin typeface="メイリオ" panose="020B0604030504040204" pitchFamily="50" charset="-128"/>
              <a:ea typeface="メイリオ" panose="020B0604030504040204" pitchFamily="50" charset="-128"/>
            </a:endParaRPr>
          </a:p>
        </p:txBody>
      </p:sp>
      <p:sp>
        <p:nvSpPr>
          <p:cNvPr id="374" name="Text 126">
            <a:extLst>
              <a:ext uri="{FF2B5EF4-FFF2-40B4-BE49-F238E27FC236}">
                <a16:creationId xmlns:a16="http://schemas.microsoft.com/office/drawing/2014/main" id="{1F4F8BB1-7C46-CFAC-4A82-3A92CFDC15EE}"/>
              </a:ext>
            </a:extLst>
          </p:cNvPr>
          <p:cNvSpPr/>
          <p:nvPr/>
        </p:nvSpPr>
        <p:spPr>
          <a:xfrm>
            <a:off x="6470967"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76" name="Shape 127">
            <a:extLst>
              <a:ext uri="{FF2B5EF4-FFF2-40B4-BE49-F238E27FC236}">
                <a16:creationId xmlns:a16="http://schemas.microsoft.com/office/drawing/2014/main" id="{2D872CE0-C558-B33C-59A0-3B8B41F4DCBB}"/>
              </a:ext>
            </a:extLst>
          </p:cNvPr>
          <p:cNvSpPr/>
          <p:nvPr/>
        </p:nvSpPr>
        <p:spPr>
          <a:xfrm>
            <a:off x="6598983" y="5920515"/>
            <a:ext cx="1243584" cy="475488"/>
          </a:xfrm>
          <a:prstGeom prst="roundRect">
            <a:avLst>
              <a:gd name="adj" fmla="val 11538"/>
            </a:avLst>
          </a:prstGeom>
          <a:solidFill>
            <a:srgbClr val="ECEDF3"/>
          </a:solidFill>
          <a:ln w="12700">
            <a:solidFill>
              <a:srgbClr val="D0D3E4"/>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78" name="Shape 128">
            <a:extLst>
              <a:ext uri="{FF2B5EF4-FFF2-40B4-BE49-F238E27FC236}">
                <a16:creationId xmlns:a16="http://schemas.microsoft.com/office/drawing/2014/main" id="{356DDE33-7381-CEF0-7015-298C11EB34FA}"/>
              </a:ext>
            </a:extLst>
          </p:cNvPr>
          <p:cNvSpPr/>
          <p:nvPr/>
        </p:nvSpPr>
        <p:spPr>
          <a:xfrm>
            <a:off x="6653847" y="5975379"/>
            <a:ext cx="182880" cy="182880"/>
          </a:xfrm>
          <a:prstGeom prst="ellipse">
            <a:avLst/>
          </a:prstGeom>
          <a:solidFill>
            <a:srgbClr val="1565C0"/>
          </a:solidFill>
          <a:ln w="12700">
            <a:solidFill>
              <a:srgbClr val="1565C0"/>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80" name="Text 129">
            <a:extLst>
              <a:ext uri="{FF2B5EF4-FFF2-40B4-BE49-F238E27FC236}">
                <a16:creationId xmlns:a16="http://schemas.microsoft.com/office/drawing/2014/main" id="{EE6BBEAB-1160-1953-0E09-D30313ED9406}"/>
              </a:ext>
            </a:extLst>
          </p:cNvPr>
          <p:cNvSpPr/>
          <p:nvPr/>
        </p:nvSpPr>
        <p:spPr>
          <a:xfrm>
            <a:off x="6653847"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FFFFFF"/>
                </a:solidFill>
                <a:effectLst/>
                <a:uLnTx/>
                <a:uFillTx/>
                <a:latin typeface="メイリオ" panose="020B0604030504040204" pitchFamily="50" charset="-128"/>
                <a:ea typeface="メイリオ" panose="020B0604030504040204" pitchFamily="50" charset="-128"/>
                <a:cs typeface="Calibri" pitchFamily="34" charset="-120"/>
              </a:rPr>
              <a:t>2</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2" name="Text 130">
            <a:extLst>
              <a:ext uri="{FF2B5EF4-FFF2-40B4-BE49-F238E27FC236}">
                <a16:creationId xmlns:a16="http://schemas.microsoft.com/office/drawing/2014/main" id="{F035AA22-D856-8317-F313-F0B2385E993B}"/>
              </a:ext>
            </a:extLst>
          </p:cNvPr>
          <p:cNvSpPr/>
          <p:nvPr/>
        </p:nvSpPr>
        <p:spPr>
          <a:xfrm>
            <a:off x="6873303" y="5957091"/>
            <a:ext cx="914400" cy="182880"/>
          </a:xfrm>
          <a:prstGeom prst="rect">
            <a:avLst/>
          </a:prstGeom>
          <a:noFill/>
          <a:ln/>
        </p:spPr>
        <p:txBody>
          <a:bodyPr wrap="square" lIns="0" tIns="0" rIns="0" bIns="0" rtlCol="0" anchor="ctr"/>
          <a:lstStyle/>
          <a:p>
            <a:r>
              <a:rPr lang="en-US" altLang="ja-JP" sz="850" b="1" dirty="0" err="1">
                <a:solidFill>
                  <a:srgbClr val="1A1A2E"/>
                </a:solidFill>
                <a:latin typeface="メイリオ" panose="020B0604030504040204" pitchFamily="50" charset="-128"/>
                <a:ea typeface="メイリオ" panose="020B0604030504040204" pitchFamily="50" charset="-128"/>
                <a:cs typeface="Calibri" pitchFamily="34" charset="-120"/>
              </a:rPr>
              <a:t>特別オファ</a:t>
            </a:r>
            <a:r>
              <a:rPr lang="en-US" altLang="ja-JP" sz="850" b="1" dirty="0">
                <a:solidFill>
                  <a:srgbClr val="1A1A2E"/>
                </a:solidFill>
                <a:latin typeface="メイリオ" panose="020B0604030504040204" pitchFamily="50" charset="-128"/>
                <a:ea typeface="メイリオ" panose="020B0604030504040204" pitchFamily="50" charset="-128"/>
                <a:cs typeface="Calibri" pitchFamily="34" charset="-120"/>
              </a:rPr>
              <a:t>ー</a:t>
            </a:r>
            <a:r>
              <a:rPr lang="ja-JP" altLang="en-US" sz="85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altLang="ja-JP" sz="850" dirty="0">
              <a:latin typeface="メイリオ" panose="020B0604030504040204" pitchFamily="50" charset="-128"/>
              <a:ea typeface="メイリオ" panose="020B0604030504040204" pitchFamily="50" charset="-128"/>
            </a:endParaRPr>
          </a:p>
        </p:txBody>
      </p:sp>
      <p:sp>
        <p:nvSpPr>
          <p:cNvPr id="384" name="Text 131">
            <a:extLst>
              <a:ext uri="{FF2B5EF4-FFF2-40B4-BE49-F238E27FC236}">
                <a16:creationId xmlns:a16="http://schemas.microsoft.com/office/drawing/2014/main" id="{5E7101A0-55A9-D99A-CD95-05335CAC2992}"/>
              </a:ext>
            </a:extLst>
          </p:cNvPr>
          <p:cNvSpPr/>
          <p:nvPr/>
        </p:nvSpPr>
        <p:spPr>
          <a:xfrm>
            <a:off x="6653847"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4A4A6A"/>
                </a:solidFill>
                <a:latin typeface="メイリオ" panose="020B0604030504040204" pitchFamily="50" charset="-128"/>
                <a:ea typeface="メイリオ" panose="020B0604030504040204" pitchFamily="50" charset="-128"/>
                <a:cs typeface="Calibri" pitchFamily="34" charset="-120"/>
              </a:rPr>
              <a:t>完全自動・スタッフゼロ</a:t>
            </a:r>
            <a:endParaRPr lang="en-US" altLang="ja-JP" sz="750" dirty="0">
              <a:latin typeface="メイリオ" panose="020B0604030504040204" pitchFamily="50" charset="-128"/>
              <a:ea typeface="メイリオ" panose="020B0604030504040204" pitchFamily="50" charset="-128"/>
            </a:endParaRPr>
          </a:p>
        </p:txBody>
      </p:sp>
      <p:sp>
        <p:nvSpPr>
          <p:cNvPr id="386" name="Text 132">
            <a:extLst>
              <a:ext uri="{FF2B5EF4-FFF2-40B4-BE49-F238E27FC236}">
                <a16:creationId xmlns:a16="http://schemas.microsoft.com/office/drawing/2014/main" id="{EB31AD4D-43BF-8F45-39CD-B0337D31809F}"/>
              </a:ext>
            </a:extLst>
          </p:cNvPr>
          <p:cNvSpPr/>
          <p:nvPr/>
        </p:nvSpPr>
        <p:spPr>
          <a:xfrm>
            <a:off x="7879143" y="6075963"/>
            <a:ext cx="91440" cy="164592"/>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dirty="0">
                <a:ln>
                  <a:noFill/>
                </a:ln>
                <a:solidFill>
                  <a:srgbClr val="8888A0"/>
                </a:solidFill>
                <a:effectLst/>
                <a:uLnTx/>
                <a:uFillTx/>
                <a:latin typeface="メイリオ" panose="020B0604030504040204" pitchFamily="50" charset="-128"/>
                <a:ea typeface="メイリオ" panose="020B0604030504040204" pitchFamily="50" charset="-128"/>
                <a:cs typeface="Calibri" pitchFamily="34" charset="-120"/>
              </a:rPr>
              <a:t>▶</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88" name="Shape 133">
            <a:extLst>
              <a:ext uri="{FF2B5EF4-FFF2-40B4-BE49-F238E27FC236}">
                <a16:creationId xmlns:a16="http://schemas.microsoft.com/office/drawing/2014/main" id="{9D865312-D619-1BB5-483D-A496A7C19C36}"/>
              </a:ext>
            </a:extLst>
          </p:cNvPr>
          <p:cNvSpPr/>
          <p:nvPr/>
        </p:nvSpPr>
        <p:spPr>
          <a:xfrm>
            <a:off x="8007159" y="5920515"/>
            <a:ext cx="1243584" cy="475488"/>
          </a:xfrm>
          <a:prstGeom prst="roundRect">
            <a:avLst>
              <a:gd name="adj" fmla="val 11538"/>
            </a:avLst>
          </a:prstGeom>
          <a:solidFill>
            <a:srgbClr val="1565C0"/>
          </a:solidFill>
          <a:ln w="12700">
            <a:solidFill>
              <a:srgbClr val="1565C0"/>
            </a:solidFill>
            <a:prstDash val="solid"/>
          </a:ln>
          <a:effectLst>
            <a:outerShdw blurRad="50800" dist="12700" dir="8100000" algn="bl" rotWithShape="0">
              <a:srgbClr val="B0B4CC">
                <a:alpha val="10000"/>
              </a:srgbClr>
            </a:outerShdw>
          </a:effectLst>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0" name="Shape 134">
            <a:extLst>
              <a:ext uri="{FF2B5EF4-FFF2-40B4-BE49-F238E27FC236}">
                <a16:creationId xmlns:a16="http://schemas.microsoft.com/office/drawing/2014/main" id="{A6902040-0093-C584-7CD4-3A8474835775}"/>
              </a:ext>
            </a:extLst>
          </p:cNvPr>
          <p:cNvSpPr/>
          <p:nvPr/>
        </p:nvSpPr>
        <p:spPr>
          <a:xfrm>
            <a:off x="8062023" y="5975379"/>
            <a:ext cx="182880" cy="182880"/>
          </a:xfrm>
          <a:prstGeom prst="ellipse">
            <a:avLst/>
          </a:prstGeom>
          <a:solidFill>
            <a:srgbClr val="FFFFFF"/>
          </a:solidFill>
          <a:ln w="12700">
            <a:solidFill>
              <a:srgbClr val="FFFFFF"/>
            </a:solidFill>
            <a:prstDash val="solid"/>
          </a:ln>
        </p:spPr>
        <p:txBody>
          <a:bodyPr/>
          <a:lstStyle/>
          <a:p>
            <a:endParaRPr kumimoji="0" lang="ja-JP" altLang="en-US">
              <a:solidFill>
                <a:prstClr val="black"/>
              </a:solidFill>
              <a:latin typeface="メイリオ" panose="020B0604030504040204" pitchFamily="50" charset="-128"/>
              <a:ea typeface="メイリオ" panose="020B0604030504040204" pitchFamily="50" charset="-128"/>
            </a:endParaRPr>
          </a:p>
        </p:txBody>
      </p:sp>
      <p:sp>
        <p:nvSpPr>
          <p:cNvPr id="392" name="Text 135">
            <a:extLst>
              <a:ext uri="{FF2B5EF4-FFF2-40B4-BE49-F238E27FC236}">
                <a16:creationId xmlns:a16="http://schemas.microsoft.com/office/drawing/2014/main" id="{FB44CA82-5B08-B387-57C3-88F14FCA18B7}"/>
              </a:ext>
            </a:extLst>
          </p:cNvPr>
          <p:cNvSpPr/>
          <p:nvPr/>
        </p:nvSpPr>
        <p:spPr>
          <a:xfrm>
            <a:off x="8062023" y="5975379"/>
            <a:ext cx="182880" cy="18288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800" b="1" i="0" u="none" strike="noStrike" kern="0" cap="none" spc="0" normalizeH="0" baseline="0" noProof="0" dirty="0">
                <a:ln>
                  <a:noFill/>
                </a:ln>
                <a:solidFill>
                  <a:srgbClr val="1565C0"/>
                </a:solidFill>
                <a:effectLst/>
                <a:uLnTx/>
                <a:uFillTx/>
                <a:latin typeface="メイリオ" panose="020B0604030504040204" pitchFamily="50" charset="-128"/>
                <a:ea typeface="メイリオ" panose="020B0604030504040204" pitchFamily="50" charset="-128"/>
                <a:cs typeface="Calibri" pitchFamily="34" charset="-120"/>
              </a:rPr>
              <a:t>3</a:t>
            </a:r>
            <a:endParaRPr kumimoji="0" lang="en-US" sz="8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sp>
        <p:nvSpPr>
          <p:cNvPr id="394" name="Text 136">
            <a:extLst>
              <a:ext uri="{FF2B5EF4-FFF2-40B4-BE49-F238E27FC236}">
                <a16:creationId xmlns:a16="http://schemas.microsoft.com/office/drawing/2014/main" id="{85A4EC17-97B2-BCD7-FCE3-303E8114491D}"/>
              </a:ext>
            </a:extLst>
          </p:cNvPr>
          <p:cNvSpPr/>
          <p:nvPr/>
        </p:nvSpPr>
        <p:spPr>
          <a:xfrm>
            <a:off x="8281479" y="5957091"/>
            <a:ext cx="914400" cy="182880"/>
          </a:xfrm>
          <a:prstGeom prst="rect">
            <a:avLst/>
          </a:prstGeom>
          <a:noFill/>
          <a:ln/>
        </p:spPr>
        <p:txBody>
          <a:bodyPr wrap="square" lIns="0" tIns="0" rIns="0" bIns="0" rtlCol="0" anchor="ctr"/>
          <a:lstStyle/>
          <a:p>
            <a:r>
              <a:rPr lang="en-US" altLang="ja-JP" sz="850" b="1" dirty="0" err="1">
                <a:solidFill>
                  <a:srgbClr val="FFFFFF"/>
                </a:solidFill>
                <a:latin typeface="メイリオ" panose="020B0604030504040204" pitchFamily="50" charset="-128"/>
                <a:ea typeface="メイリオ" panose="020B0604030504040204" pitchFamily="50" charset="-128"/>
                <a:cs typeface="Calibri" pitchFamily="34" charset="-120"/>
              </a:rPr>
              <a:t>満足度向上</a:t>
            </a:r>
            <a:endParaRPr lang="en-US" altLang="ja-JP" sz="850" dirty="0">
              <a:latin typeface="メイリオ" panose="020B0604030504040204" pitchFamily="50" charset="-128"/>
              <a:ea typeface="メイリオ" panose="020B0604030504040204" pitchFamily="50" charset="-128"/>
            </a:endParaRPr>
          </a:p>
        </p:txBody>
      </p:sp>
      <p:sp>
        <p:nvSpPr>
          <p:cNvPr id="396" name="Text 137">
            <a:extLst>
              <a:ext uri="{FF2B5EF4-FFF2-40B4-BE49-F238E27FC236}">
                <a16:creationId xmlns:a16="http://schemas.microsoft.com/office/drawing/2014/main" id="{F48F4888-D926-9901-DE92-103FA2FF00EB}"/>
              </a:ext>
            </a:extLst>
          </p:cNvPr>
          <p:cNvSpPr/>
          <p:nvPr/>
        </p:nvSpPr>
        <p:spPr>
          <a:xfrm>
            <a:off x="8062023" y="6167403"/>
            <a:ext cx="1133856" cy="201168"/>
          </a:xfrm>
          <a:prstGeom prst="rect">
            <a:avLst/>
          </a:prstGeom>
          <a:noFill/>
          <a:ln/>
        </p:spPr>
        <p:txBody>
          <a:bodyPr wrap="square" lIns="0" tIns="0" rIns="0" bIns="0" rtlCol="0" anchor="ctr"/>
          <a:lstStyle/>
          <a:p>
            <a:pPr>
              <a:lnSpc>
                <a:spcPct val="115000"/>
              </a:lnSpc>
            </a:pPr>
            <a:r>
              <a:rPr lang="en-US" altLang="ja-JP" sz="750" dirty="0" err="1">
                <a:solidFill>
                  <a:srgbClr val="D0E8FF"/>
                </a:solidFill>
                <a:latin typeface="メイリオ" panose="020B0604030504040204" pitchFamily="50" charset="-128"/>
                <a:ea typeface="メイリオ" panose="020B0604030504040204" pitchFamily="50" charset="-128"/>
                <a:cs typeface="Calibri" pitchFamily="34" charset="-120"/>
              </a:rPr>
              <a:t>紹介・口コミ促進</a:t>
            </a:r>
            <a:endParaRPr lang="en-US" altLang="ja-JP" sz="750" dirty="0">
              <a:latin typeface="メイリオ" panose="020B0604030504040204" pitchFamily="50" charset="-128"/>
              <a:ea typeface="メイリオ" panose="020B0604030504040204" pitchFamily="50" charset="-128"/>
            </a:endParaRPr>
          </a:p>
        </p:txBody>
      </p:sp>
      <p:sp>
        <p:nvSpPr>
          <p:cNvPr id="398" name="Shape 36">
            <a:extLst>
              <a:ext uri="{FF2B5EF4-FFF2-40B4-BE49-F238E27FC236}">
                <a16:creationId xmlns:a16="http://schemas.microsoft.com/office/drawing/2014/main" id="{0734E444-168A-89C6-D964-38759E540BCB}"/>
              </a:ext>
            </a:extLst>
          </p:cNvPr>
          <p:cNvSpPr/>
          <p:nvPr/>
        </p:nvSpPr>
        <p:spPr>
          <a:xfrm>
            <a:off x="3568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0" name="Shape 36">
            <a:extLst>
              <a:ext uri="{FF2B5EF4-FFF2-40B4-BE49-F238E27FC236}">
                <a16:creationId xmlns:a16="http://schemas.microsoft.com/office/drawing/2014/main" id="{B45D359F-4CA9-C051-F58B-E1296B6FBFE4}"/>
              </a:ext>
            </a:extLst>
          </p:cNvPr>
          <p:cNvSpPr/>
          <p:nvPr/>
        </p:nvSpPr>
        <p:spPr>
          <a:xfrm>
            <a:off x="5208259" y="3091209"/>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1</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402" name="Shape 36">
            <a:extLst>
              <a:ext uri="{FF2B5EF4-FFF2-40B4-BE49-F238E27FC236}">
                <a16:creationId xmlns:a16="http://schemas.microsoft.com/office/drawing/2014/main" id="{8EA02CFD-BE47-AC79-7F8B-5F9B8FB2B494}"/>
              </a:ext>
            </a:extLst>
          </p:cNvPr>
          <p:cNvSpPr/>
          <p:nvPr/>
        </p:nvSpPr>
        <p:spPr>
          <a:xfrm>
            <a:off x="5208259" y="4908735"/>
            <a:ext cx="256032" cy="256032"/>
          </a:xfrm>
          <a:prstGeom prst="ellipse">
            <a:avLst/>
          </a:prstGeom>
          <a:solidFill>
            <a:srgbClr val="1565C0"/>
          </a:solidFill>
          <a:ln w="12700">
            <a:solidFill>
              <a:srgbClr val="1565C0"/>
            </a:solidFill>
            <a:prstDash val="solid"/>
          </a:ln>
        </p:spPr>
        <p:txBody>
          <a:bodyPr anchor="ctr"/>
          <a:lstStyle/>
          <a:p>
            <a:pPr algn="ctr"/>
            <a:r>
              <a:rPr kumimoji="0" lang="en-US" altLang="ja-JP" sz="900" dirty="0">
                <a:solidFill>
                  <a:schemeClr val="bg1"/>
                </a:solidFill>
                <a:latin typeface="メイリオ" panose="020B0604030504040204" pitchFamily="50" charset="-128"/>
                <a:ea typeface="メイリオ" panose="020B0604030504040204" pitchFamily="50" charset="-128"/>
              </a:rPr>
              <a:t>2</a:t>
            </a:r>
            <a:endParaRPr kumimoji="0"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8" name="Shape 59">
            <a:extLst>
              <a:ext uri="{FF2B5EF4-FFF2-40B4-BE49-F238E27FC236}">
                <a16:creationId xmlns:a16="http://schemas.microsoft.com/office/drawing/2014/main" id="{906437AE-A1AC-C85D-0C78-A58EF8AC7546}"/>
              </a:ext>
            </a:extLst>
          </p:cNvPr>
          <p:cNvSpPr/>
          <p:nvPr/>
        </p:nvSpPr>
        <p:spPr>
          <a:xfrm>
            <a:off x="6653847" y="110408"/>
            <a:ext cx="1446971" cy="330537"/>
          </a:xfrm>
          <a:prstGeom prst="roundRect">
            <a:avLst>
              <a:gd name="adj" fmla="val 5263"/>
            </a:avLst>
          </a:prstGeom>
          <a:solidFill>
            <a:schemeClr val="bg1">
              <a:lumMod val="85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中長期で導入検討</a:t>
            </a:r>
          </a:p>
        </p:txBody>
      </p:sp>
      <p:sp>
        <p:nvSpPr>
          <p:cNvPr id="12" name="Shape 88">
            <a:extLst>
              <a:ext uri="{FF2B5EF4-FFF2-40B4-BE49-F238E27FC236}">
                <a16:creationId xmlns:a16="http://schemas.microsoft.com/office/drawing/2014/main" id="{BBB2E958-CD66-B60F-6B1C-02CC16969C76}"/>
              </a:ext>
            </a:extLst>
          </p:cNvPr>
          <p:cNvSpPr/>
          <p:nvPr/>
        </p:nvSpPr>
        <p:spPr>
          <a:xfrm>
            <a:off x="5134337" y="111417"/>
            <a:ext cx="1442146" cy="330537"/>
          </a:xfrm>
          <a:prstGeom prst="roundRect">
            <a:avLst>
              <a:gd name="adj" fmla="val 8000"/>
            </a:avLst>
          </a:prstGeom>
          <a:solidFill>
            <a:schemeClr val="accent1">
              <a:lumMod val="20000"/>
              <a:lumOff val="80000"/>
            </a:schemeClr>
          </a:solidFill>
          <a:ln w="12700">
            <a:solidFill>
              <a:srgbClr val="D0D3E4"/>
            </a:solidFill>
            <a:prstDash val="solid"/>
          </a:ln>
          <a:effectLst>
            <a:outerShdw blurRad="50800" dist="12700" dir="8100000" algn="bl" rotWithShape="0">
              <a:srgbClr val="B0B4CC">
                <a:alpha val="10000"/>
              </a:srgbClr>
            </a:outerShdw>
          </a:effectLst>
        </p:spPr>
        <p:txBody>
          <a:bodyPr anchor="ctr"/>
          <a:lstStyle/>
          <a:p>
            <a:pPr algn="ctr"/>
            <a:r>
              <a:rPr kumimoji="0" lang="ja-JP" altLang="en-US" sz="1000" dirty="0">
                <a:solidFill>
                  <a:prstClr val="black"/>
                </a:solidFill>
                <a:latin typeface="メイリオ" panose="020B0604030504040204" pitchFamily="50" charset="-128"/>
                <a:ea typeface="メイリオ" panose="020B0604030504040204" pitchFamily="50" charset="-128"/>
              </a:rPr>
              <a:t>導入推奨</a:t>
            </a:r>
          </a:p>
        </p:txBody>
      </p:sp>
    </p:spTree>
    <p:extLst>
      <p:ext uri="{BB962C8B-B14F-4D97-AF65-F5344CB8AC3E}">
        <p14:creationId xmlns:p14="http://schemas.microsoft.com/office/powerpoint/2010/main" val="22997255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47">
            <a:extLst>
              <a:ext uri="{FF2B5EF4-FFF2-40B4-BE49-F238E27FC236}">
                <a16:creationId xmlns:a16="http://schemas.microsoft.com/office/drawing/2014/main" id="{919EDD35-79B6-49D7-F02F-0B2AF8906022}"/>
              </a:ext>
            </a:extLst>
          </p:cNvPr>
          <p:cNvSpPr txBox="1">
            <a:spLocks noChangeArrowheads="1"/>
          </p:cNvSpPr>
          <p:nvPr/>
        </p:nvSpPr>
        <p:spPr bwMode="auto">
          <a:xfrm>
            <a:off x="548640" y="137160"/>
            <a:ext cx="7512385" cy="338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nchor="ctr">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defRPr>
            </a:lvl2pPr>
            <a:lvl3pPr>
              <a:defRPr kumimoji="1" sz="2400">
                <a:solidFill>
                  <a:schemeClr val="tx1"/>
                </a:solidFill>
                <a:latin typeface="メイリオ" charset="0"/>
                <a:ea typeface="メイリオ" charset="0"/>
              </a:defRPr>
            </a:lvl3pPr>
            <a:lvl4pPr>
              <a:defRPr kumimoji="1" sz="2000">
                <a:solidFill>
                  <a:schemeClr val="tx1"/>
                </a:solidFill>
                <a:latin typeface="メイリオ" charset="0"/>
                <a:ea typeface="メイリオ" charset="0"/>
              </a:defRPr>
            </a:lvl4pPr>
            <a:lvl5pPr>
              <a:defRPr kumimoji="1" sz="2000">
                <a:solidFill>
                  <a:schemeClr val="tx1"/>
                </a:solidFill>
                <a:latin typeface="メイリオ" charset="0"/>
                <a:ea typeface="メイリオ" charset="0"/>
              </a:defRPr>
            </a:lvl5pPr>
            <a:lvl6pPr eaLnBrk="0" fontAlgn="base" hangingPunct="0">
              <a:spcAft>
                <a:spcPct val="0"/>
              </a:spcAft>
              <a:buFont typeface="Arial" charset="0"/>
              <a:buChar char="»"/>
              <a:defRPr kumimoji="1" sz="2000">
                <a:solidFill>
                  <a:schemeClr val="tx1"/>
                </a:solidFill>
                <a:latin typeface="メイリオ" charset="0"/>
                <a:ea typeface="メイリオ" charset="0"/>
              </a:defRPr>
            </a:lvl6pPr>
            <a:lvl7pPr eaLnBrk="0" fontAlgn="base" hangingPunct="0">
              <a:spcAft>
                <a:spcPct val="0"/>
              </a:spcAft>
              <a:buFont typeface="Arial" charset="0"/>
              <a:buChar char="»"/>
              <a:defRPr kumimoji="1" sz="2000">
                <a:solidFill>
                  <a:schemeClr val="tx1"/>
                </a:solidFill>
                <a:latin typeface="メイリオ" charset="0"/>
                <a:ea typeface="メイリオ" charset="0"/>
              </a:defRPr>
            </a:lvl7pPr>
            <a:lvl8pPr eaLnBrk="0" fontAlgn="base" hangingPunct="0">
              <a:spcAft>
                <a:spcPct val="0"/>
              </a:spcAft>
              <a:buFont typeface="Arial" charset="0"/>
              <a:buChar char="»"/>
              <a:defRPr kumimoji="1" sz="2000">
                <a:solidFill>
                  <a:schemeClr val="tx1"/>
                </a:solidFill>
                <a:latin typeface="メイリオ" charset="0"/>
                <a:ea typeface="メイリオ" charset="0"/>
              </a:defRPr>
            </a:lvl8pPr>
            <a:lvl9pPr eaLnBrk="0" fontAlgn="base" hangingPunct="0">
              <a:spcAft>
                <a:spcPct val="0"/>
              </a:spcAft>
              <a:buFont typeface="Arial" charset="0"/>
              <a:buChar char="»"/>
              <a:defRPr kumimoji="1" sz="2000">
                <a:solidFill>
                  <a:schemeClr val="tx1"/>
                </a:solidFill>
                <a:latin typeface="メイリオ" charset="0"/>
                <a:ea typeface="メイリオ" charset="0"/>
              </a:defRPr>
            </a:lvl9pPr>
          </a:lstStyle>
          <a:p>
            <a:pPr>
              <a:spcBef>
                <a:spcPct val="20000"/>
              </a:spcBef>
              <a:buFont typeface="Arial" charset="0"/>
              <a:buNone/>
            </a:pPr>
            <a:r>
              <a:rPr lang="ja-JP" altLang="en-US" sz="1600" b="1" dirty="0">
                <a:solidFill>
                  <a:srgbClr val="002060"/>
                </a:solidFill>
                <a:latin typeface="メイリオ" panose="020B0604030504040204" pitchFamily="50" charset="-128"/>
                <a:ea typeface="メイリオ" panose="020B0604030504040204" pitchFamily="50" charset="-128"/>
              </a:rPr>
              <a:t>成果｜導入成果シミュレーション（Before / After）</a:t>
            </a:r>
          </a:p>
        </p:txBody>
      </p:sp>
      <p:sp>
        <p:nvSpPr>
          <p:cNvPr id="3" name="TextBox 2"/>
          <p:cNvSpPr txBox="1"/>
          <p:nvPr/>
        </p:nvSpPr>
        <p:spPr>
          <a:xfrm>
            <a:off x="384048" y="713232"/>
            <a:ext cx="9134856" cy="215444"/>
          </a:xfrm>
          <a:prstGeom prst="rect">
            <a:avLst/>
          </a:prstGeom>
          <a:noFill/>
        </p:spPr>
        <p:txBody>
          <a:bodyPr wrap="square" lIns="0" tIns="0" rIns="0" bIns="0">
            <a:spAutoFit/>
          </a:bodyPr>
          <a:lstStyle/>
          <a:p>
            <a:r>
              <a:rPr sz="1400" b="0" dirty="0" err="1">
                <a:solidFill>
                  <a:srgbClr val="646C82"/>
                </a:solidFill>
                <a:latin typeface="メイリオ"/>
                <a:ea typeface="メイリオ"/>
              </a:rPr>
              <a:t>WEB広告</a:t>
            </a:r>
            <a:r>
              <a:rPr sz="1400" b="0" dirty="0">
                <a:solidFill>
                  <a:srgbClr val="646C82"/>
                </a:solidFill>
                <a:latin typeface="メイリオ"/>
                <a:ea typeface="メイリオ"/>
              </a:rPr>
              <a:t> 月100万円は据え置き。追加するのはLINE運用費10万円のみ。（月会費8,000円・平均在籍12ヶ月）</a:t>
            </a:r>
          </a:p>
        </p:txBody>
      </p:sp>
      <p:graphicFrame>
        <p:nvGraphicFramePr>
          <p:cNvPr id="4" name="Table 3"/>
          <p:cNvGraphicFramePr>
            <a:graphicFrameLocks noGrp="1"/>
          </p:cNvGraphicFramePr>
          <p:nvPr>
            <p:extLst>
              <p:ext uri="{D42A27DB-BD31-4B8C-83A1-F6EECF244321}">
                <p14:modId xmlns:p14="http://schemas.microsoft.com/office/powerpoint/2010/main" val="2305978959"/>
              </p:ext>
            </p:extLst>
          </p:nvPr>
        </p:nvGraphicFramePr>
        <p:xfrm>
          <a:off x="384048" y="1170432"/>
          <a:ext cx="9134856" cy="3628209"/>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1956816">
                  <a:extLst>
                    <a:ext uri="{9D8B030D-6E8A-4147-A177-3AD203B41FA5}">
                      <a16:colId xmlns:a16="http://schemas.microsoft.com/office/drawing/2014/main" val="20003"/>
                    </a:ext>
                  </a:extLst>
                </a:gridCol>
              </a:tblGrid>
              <a:tr h="257991">
                <a:tc>
                  <a:txBody>
                    <a:bodyPr/>
                    <a:lstStyle/>
                    <a:p>
                      <a:pPr algn="ctr"/>
                      <a:r>
                        <a:rPr sz="1200" b="1">
                          <a:solidFill>
                            <a:srgbClr val="FFFFFF"/>
                          </a:solidFill>
                          <a:latin typeface="メイリオ"/>
                          <a:ea typeface="メイリオ"/>
                        </a:rPr>
                        <a:t>指標</a:t>
                      </a:r>
                    </a:p>
                  </a:txBody>
                  <a:tcPr>
                    <a:solidFill>
                      <a:srgbClr val="1F2A5C"/>
                    </a:solidFill>
                  </a:tcPr>
                </a:tc>
                <a:tc>
                  <a:txBody>
                    <a:bodyPr/>
                    <a:lstStyle/>
                    <a:p>
                      <a:pPr algn="ctr"/>
                      <a:r>
                        <a:rPr sz="1200" b="1">
                          <a:solidFill>
                            <a:srgbClr val="FFFFFF"/>
                          </a:solidFill>
                          <a:latin typeface="メイリオ"/>
                          <a:ea typeface="メイリオ"/>
                        </a:rPr>
                        <a:t>Before（WEB広告のみ）</a:t>
                      </a:r>
                    </a:p>
                  </a:txBody>
                  <a:tcPr>
                    <a:solidFill>
                      <a:srgbClr val="1F2A5C"/>
                    </a:solidFill>
                  </a:tcPr>
                </a:tc>
                <a:tc>
                  <a:txBody>
                    <a:bodyPr/>
                    <a:lstStyle/>
                    <a:p>
                      <a:pPr algn="ctr"/>
                      <a:r>
                        <a:rPr sz="1200" b="1">
                          <a:solidFill>
                            <a:srgbClr val="FFFFFF"/>
                          </a:solidFill>
                          <a:latin typeface="メイリオ"/>
                          <a:ea typeface="メイリオ"/>
                        </a:rPr>
                        <a:t>After（広告 × LINE OA）</a:t>
                      </a:r>
                    </a:p>
                  </a:txBody>
                  <a:tcPr>
                    <a:solidFill>
                      <a:srgbClr val="1F2A5C"/>
                    </a:solidFill>
                  </a:tcPr>
                </a:tc>
                <a:tc>
                  <a:txBody>
                    <a:bodyPr/>
                    <a:lstStyle/>
                    <a:p>
                      <a:pPr algn="ctr"/>
                      <a:r>
                        <a:rPr sz="1200" b="1">
                          <a:solidFill>
                            <a:srgbClr val="FFFFFF"/>
                          </a:solidFill>
                          <a:latin typeface="メイリオ"/>
                          <a:ea typeface="メイリオ"/>
                        </a:rPr>
                        <a:t>差分</a:t>
                      </a:r>
                    </a:p>
                  </a:txBody>
                  <a:tcPr>
                    <a:solidFill>
                      <a:srgbClr val="1F2A5C"/>
                    </a:solidFill>
                  </a:tcPr>
                </a:tc>
                <a:extLst>
                  <a:ext uri="{0D108BD9-81ED-4DB2-BD59-A6C34878D82A}">
                    <a16:rowId xmlns:a16="http://schemas.microsoft.com/office/drawing/2014/main" val="10000"/>
                  </a:ext>
                </a:extLst>
              </a:tr>
              <a:tr h="257991">
                <a:tc>
                  <a:txBody>
                    <a:bodyPr/>
                    <a:lstStyle/>
                    <a:p>
                      <a:pPr algn="l"/>
                      <a:r>
                        <a:rPr sz="1050" b="0">
                          <a:solidFill>
                            <a:srgbClr val="1C2233"/>
                          </a:solidFill>
                          <a:latin typeface="メイリオ"/>
                          <a:ea typeface="メイリオ"/>
                        </a:rPr>
                        <a:t>投下計（広告費＋LINE運用費）</a:t>
                      </a:r>
                    </a:p>
                  </a:txBody>
                  <a:tcPr>
                    <a:solidFill>
                      <a:srgbClr val="FFFFFF"/>
                    </a:solidFill>
                  </a:tcPr>
                </a:tc>
                <a:tc>
                  <a:txBody>
                    <a:bodyPr/>
                    <a:lstStyle/>
                    <a:p>
                      <a:pPr algn="ctr"/>
                      <a:r>
                        <a:rPr sz="1050" b="0">
                          <a:solidFill>
                            <a:srgbClr val="1C2233"/>
                          </a:solidFill>
                          <a:latin typeface="メイリオ"/>
                          <a:ea typeface="メイリオ"/>
                        </a:rPr>
                        <a:t>100万円</a:t>
                      </a:r>
                    </a:p>
                  </a:txBody>
                  <a:tcPr>
                    <a:solidFill>
                      <a:srgbClr val="FFFFFF"/>
                    </a:solidFill>
                  </a:tcPr>
                </a:tc>
                <a:tc>
                  <a:txBody>
                    <a:bodyPr/>
                    <a:lstStyle/>
                    <a:p>
                      <a:pPr algn="ctr"/>
                      <a:r>
                        <a:rPr sz="1050" b="0">
                          <a:solidFill>
                            <a:srgbClr val="1C2233"/>
                          </a:solidFill>
                          <a:latin typeface="メイリオ"/>
                          <a:ea typeface="メイリオ"/>
                        </a:rPr>
                        <a:t>110万円</a:t>
                      </a:r>
                    </a:p>
                  </a:txBody>
                  <a:tcPr>
                    <a:solidFill>
                      <a:srgbClr val="FFFFFF"/>
                    </a:solidFill>
                  </a:tcPr>
                </a:tc>
                <a:tc>
                  <a:txBody>
                    <a:bodyPr/>
                    <a:lstStyle/>
                    <a:p>
                      <a:pPr algn="ctr"/>
                      <a:r>
                        <a:rPr sz="1050" b="0">
                          <a:solidFill>
                            <a:srgbClr val="1C2233"/>
                          </a:solidFill>
                          <a:latin typeface="メイリオ"/>
                          <a:ea typeface="メイリオ"/>
                        </a:rPr>
                        <a:t>+10%</a:t>
                      </a:r>
                    </a:p>
                  </a:txBody>
                  <a:tcPr>
                    <a:solidFill>
                      <a:srgbClr val="FFFFFF"/>
                    </a:solidFill>
                  </a:tcPr>
                </a:tc>
                <a:extLst>
                  <a:ext uri="{0D108BD9-81ED-4DB2-BD59-A6C34878D82A}">
                    <a16:rowId xmlns:a16="http://schemas.microsoft.com/office/drawing/2014/main" val="10001"/>
                  </a:ext>
                </a:extLst>
              </a:tr>
              <a:tr h="257991">
                <a:tc>
                  <a:txBody>
                    <a:bodyPr/>
                    <a:lstStyle/>
                    <a:p>
                      <a:pPr algn="l"/>
                      <a:r>
                        <a:rPr sz="1050" b="0">
                          <a:solidFill>
                            <a:srgbClr val="1C2233"/>
                          </a:solidFill>
                          <a:latin typeface="メイリオ"/>
                          <a:ea typeface="メイリオ"/>
                        </a:rPr>
                        <a:t>LP流入 × LP CVR</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5,000 × 2.0%</a:t>
                      </a:r>
                    </a:p>
                  </a:txBody>
                  <a:tcPr>
                    <a:solidFill>
                      <a:srgbClr val="EFF1F7"/>
                    </a:solidFill>
                  </a:tcPr>
                </a:tc>
                <a:tc>
                  <a:txBody>
                    <a:bodyPr/>
                    <a:lstStyle/>
                    <a:p>
                      <a:pPr algn="ctr"/>
                      <a:r>
                        <a:rPr sz="1050" b="0">
                          <a:solidFill>
                            <a:srgbClr val="1C2233"/>
                          </a:solidFill>
                          <a:latin typeface="メイリオ"/>
                          <a:ea typeface="メイリオ"/>
                        </a:rPr>
                        <a:t>± 0</a:t>
                      </a:r>
                    </a:p>
                  </a:txBody>
                  <a:tcPr>
                    <a:solidFill>
                      <a:srgbClr val="EFF1F7"/>
                    </a:solidFill>
                  </a:tcPr>
                </a:tc>
                <a:extLst>
                  <a:ext uri="{0D108BD9-81ED-4DB2-BD59-A6C34878D82A}">
                    <a16:rowId xmlns:a16="http://schemas.microsoft.com/office/drawing/2014/main" val="10002"/>
                  </a:ext>
                </a:extLst>
              </a:tr>
              <a:tr h="257991">
                <a:tc>
                  <a:txBody>
                    <a:bodyPr/>
                    <a:lstStyle/>
                    <a:p>
                      <a:pPr algn="l"/>
                      <a:r>
                        <a:rPr sz="1050" b="0">
                          <a:solidFill>
                            <a:srgbClr val="1C2233"/>
                          </a:solidFill>
                          <a:latin typeface="メイリオ"/>
                          <a:ea typeface="メイリオ"/>
                        </a:rPr>
                        <a:t>広告経由の体験予約</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100件</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3"/>
                  </a:ext>
                </a:extLst>
              </a:tr>
              <a:tr h="257991">
                <a:tc>
                  <a:txBody>
                    <a:bodyPr/>
                    <a:lstStyle/>
                    <a:p>
                      <a:pPr algn="l"/>
                      <a:r>
                        <a:rPr sz="1050" b="0">
                          <a:solidFill>
                            <a:srgbClr val="1C2233"/>
                          </a:solidFill>
                          <a:latin typeface="メイリオ"/>
                          <a:ea typeface="メイリオ"/>
                        </a:rPr>
                        <a:t>LINE友だち化（離脱防止）</a:t>
                      </a:r>
                    </a:p>
                  </a:txBody>
                  <a:tcPr>
                    <a:solidFill>
                      <a:srgbClr val="EFF1F7"/>
                    </a:solidFill>
                  </a:tcPr>
                </a:tc>
                <a:tc>
                  <a:txBody>
                    <a:bodyPr/>
                    <a:lstStyle/>
                    <a:p>
                      <a:pPr algn="ctr"/>
                      <a:r>
                        <a:rPr sz="1050" b="0">
                          <a:solidFill>
                            <a:srgbClr val="1C2233"/>
                          </a:solidFill>
                          <a:latin typeface="メイリオ"/>
                          <a:ea typeface="メイリオ"/>
                        </a:rPr>
                        <a:t>―</a:t>
                      </a:r>
                    </a:p>
                  </a:txBody>
                  <a:tcPr>
                    <a:solidFill>
                      <a:srgbClr val="EFF1F7"/>
                    </a:solidFill>
                  </a:tcPr>
                </a:tc>
                <a:tc>
                  <a:txBody>
                    <a:bodyPr/>
                    <a:lstStyle/>
                    <a:p>
                      <a:pPr algn="ctr"/>
                      <a:r>
                        <a:rPr sz="1050" b="0">
                          <a:solidFill>
                            <a:srgbClr val="1C2233"/>
                          </a:solidFill>
                          <a:latin typeface="メイリオ"/>
                          <a:ea typeface="メイリオ"/>
                        </a:rPr>
                        <a:t>150人（流入の3%）</a:t>
                      </a:r>
                    </a:p>
                  </a:txBody>
                  <a:tcPr>
                    <a:solidFill>
                      <a:srgbClr val="EFF1F7"/>
                    </a:solidFill>
                  </a:tcPr>
                </a:tc>
                <a:tc>
                  <a:txBody>
                    <a:bodyPr/>
                    <a:lstStyle/>
                    <a:p>
                      <a:pPr algn="ctr"/>
                      <a:r>
                        <a:rPr sz="1050" b="0">
                          <a:solidFill>
                            <a:srgbClr val="1C2233"/>
                          </a:solidFill>
                          <a:latin typeface="メイリオ"/>
                          <a:ea typeface="メイリオ"/>
                        </a:rPr>
                        <a:t>新規</a:t>
                      </a:r>
                    </a:p>
                  </a:txBody>
                  <a:tcPr>
                    <a:solidFill>
                      <a:srgbClr val="EFF1F7"/>
                    </a:solidFill>
                  </a:tcPr>
                </a:tc>
                <a:extLst>
                  <a:ext uri="{0D108BD9-81ED-4DB2-BD59-A6C34878D82A}">
                    <a16:rowId xmlns:a16="http://schemas.microsoft.com/office/drawing/2014/main" val="10004"/>
                  </a:ext>
                </a:extLst>
              </a:tr>
              <a:tr h="257991">
                <a:tc>
                  <a:txBody>
                    <a:bodyPr/>
                    <a:lstStyle/>
                    <a:p>
                      <a:pPr algn="l"/>
                      <a:r>
                        <a:rPr sz="1050" b="0">
                          <a:solidFill>
                            <a:srgbClr val="1C2233"/>
                          </a:solidFill>
                          <a:latin typeface="メイリオ"/>
                          <a:ea typeface="メイリオ"/>
                        </a:rPr>
                        <a:t>LINE経由の体験予約</a:t>
                      </a:r>
                    </a:p>
                  </a:txBody>
                  <a:tcPr>
                    <a:solidFill>
                      <a:srgbClr val="FFFFFF"/>
                    </a:solidFill>
                  </a:tcPr>
                </a:tc>
                <a:tc>
                  <a:txBody>
                    <a:bodyPr/>
                    <a:lstStyle/>
                    <a:p>
                      <a:pPr algn="ctr"/>
                      <a:r>
                        <a:rPr sz="1050" b="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12件（友だちの8%）</a:t>
                      </a:r>
                    </a:p>
                  </a:txBody>
                  <a:tcPr>
                    <a:solidFill>
                      <a:srgbClr val="FFFFFF"/>
                    </a:solidFill>
                  </a:tcPr>
                </a:tc>
                <a:tc>
                  <a:txBody>
                    <a:bodyPr/>
                    <a:lstStyle/>
                    <a:p>
                      <a:pPr algn="ctr"/>
                      <a:r>
                        <a:rPr sz="1050" b="0">
                          <a:solidFill>
                            <a:srgbClr val="1C2233"/>
                          </a:solidFill>
                          <a:latin typeface="メイリオ"/>
                          <a:ea typeface="メイリオ"/>
                        </a:rPr>
                        <a:t>新規</a:t>
                      </a:r>
                    </a:p>
                  </a:txBody>
                  <a:tcPr>
                    <a:solidFill>
                      <a:srgbClr val="FFFFFF"/>
                    </a:solidFill>
                  </a:tcPr>
                </a:tc>
                <a:extLst>
                  <a:ext uri="{0D108BD9-81ED-4DB2-BD59-A6C34878D82A}">
                    <a16:rowId xmlns:a16="http://schemas.microsoft.com/office/drawing/2014/main" val="10005"/>
                  </a:ext>
                </a:extLst>
              </a:tr>
              <a:tr h="257991">
                <a:tc>
                  <a:txBody>
                    <a:bodyPr/>
                    <a:lstStyle/>
                    <a:p>
                      <a:pPr algn="l"/>
                      <a:r>
                        <a:rPr sz="1050" b="0">
                          <a:solidFill>
                            <a:srgbClr val="1C2233"/>
                          </a:solidFill>
                          <a:latin typeface="メイリオ"/>
                          <a:ea typeface="メイリオ"/>
                        </a:rPr>
                        <a:t>体験予約 合計</a:t>
                      </a:r>
                    </a:p>
                  </a:txBody>
                  <a:tcPr>
                    <a:solidFill>
                      <a:srgbClr val="EFF1F7"/>
                    </a:solidFill>
                  </a:tcPr>
                </a:tc>
                <a:tc>
                  <a:txBody>
                    <a:bodyPr/>
                    <a:lstStyle/>
                    <a:p>
                      <a:pPr algn="ctr"/>
                      <a:r>
                        <a:rPr sz="1050" b="0">
                          <a:solidFill>
                            <a:srgbClr val="1C2233"/>
                          </a:solidFill>
                          <a:latin typeface="メイリオ"/>
                          <a:ea typeface="メイリオ"/>
                        </a:rPr>
                        <a:t>100件</a:t>
                      </a:r>
                    </a:p>
                  </a:txBody>
                  <a:tcPr>
                    <a:solidFill>
                      <a:srgbClr val="EFF1F7"/>
                    </a:solidFill>
                  </a:tcPr>
                </a:tc>
                <a:tc>
                  <a:txBody>
                    <a:bodyPr/>
                    <a:lstStyle/>
                    <a:p>
                      <a:pPr algn="ctr"/>
                      <a:r>
                        <a:rPr sz="1050" b="0">
                          <a:solidFill>
                            <a:srgbClr val="1C2233"/>
                          </a:solidFill>
                          <a:latin typeface="メイリオ"/>
                          <a:ea typeface="メイリオ"/>
                        </a:rPr>
                        <a:t>112件</a:t>
                      </a:r>
                    </a:p>
                  </a:txBody>
                  <a:tcPr>
                    <a:solidFill>
                      <a:srgbClr val="EFF1F7"/>
                    </a:solidFill>
                  </a:tcPr>
                </a:tc>
                <a:tc>
                  <a:txBody>
                    <a:bodyPr/>
                    <a:lstStyle/>
                    <a:p>
                      <a:pPr algn="ctr"/>
                      <a:r>
                        <a:rPr sz="1050" b="0">
                          <a:solidFill>
                            <a:srgbClr val="1C2233"/>
                          </a:solidFill>
                          <a:latin typeface="メイリオ"/>
                          <a:ea typeface="メイリオ"/>
                        </a:rPr>
                        <a:t>+12%</a:t>
                      </a:r>
                    </a:p>
                  </a:txBody>
                  <a:tcPr>
                    <a:solidFill>
                      <a:srgbClr val="EFF1F7"/>
                    </a:solidFill>
                  </a:tcPr>
                </a:tc>
                <a:extLst>
                  <a:ext uri="{0D108BD9-81ED-4DB2-BD59-A6C34878D82A}">
                    <a16:rowId xmlns:a16="http://schemas.microsoft.com/office/drawing/2014/main" val="10006"/>
                  </a:ext>
                </a:extLst>
              </a:tr>
              <a:tr h="257991">
                <a:tc>
                  <a:txBody>
                    <a:bodyPr/>
                    <a:lstStyle/>
                    <a:p>
                      <a:pPr algn="l"/>
                      <a:r>
                        <a:rPr sz="1050" b="0" dirty="0" err="1">
                          <a:solidFill>
                            <a:srgbClr val="1C2233"/>
                          </a:solidFill>
                          <a:latin typeface="メイリオ"/>
                          <a:ea typeface="メイリオ"/>
                        </a:rPr>
                        <a:t>来店率</a:t>
                      </a:r>
                      <a:endParaRPr sz="1050" b="0" dirty="0">
                        <a:solidFill>
                          <a:srgbClr val="1C2233"/>
                        </a:solidFill>
                        <a:latin typeface="メイリオ"/>
                        <a:ea typeface="メイリオ"/>
                      </a:endParaRPr>
                    </a:p>
                  </a:txBody>
                  <a:tcPr>
                    <a:solidFill>
                      <a:srgbClr val="FFFFFF"/>
                    </a:solidFill>
                  </a:tcPr>
                </a:tc>
                <a:tc>
                  <a:txBody>
                    <a:bodyPr/>
                    <a:lstStyle/>
                    <a:p>
                      <a:pPr algn="ctr"/>
                      <a:r>
                        <a:rPr sz="1050" b="0">
                          <a:solidFill>
                            <a:srgbClr val="1C2233"/>
                          </a:solidFill>
                          <a:latin typeface="メイリオ"/>
                          <a:ea typeface="メイリオ"/>
                        </a:rPr>
                        <a:t>60%</a:t>
                      </a:r>
                    </a:p>
                  </a:txBody>
                  <a:tcPr>
                    <a:solidFill>
                      <a:srgbClr val="FFFFFF"/>
                    </a:solidFill>
                  </a:tcPr>
                </a:tc>
                <a:tc>
                  <a:txBody>
                    <a:bodyPr/>
                    <a:lstStyle/>
                    <a:p>
                      <a:pPr algn="ctr"/>
                      <a:r>
                        <a:rPr sz="1050" b="0">
                          <a:solidFill>
                            <a:srgbClr val="1C2233"/>
                          </a:solidFill>
                          <a:latin typeface="メイリオ"/>
                          <a:ea typeface="メイリオ"/>
                        </a:rPr>
                        <a:t>75%</a:t>
                      </a:r>
                    </a:p>
                  </a:txBody>
                  <a:tcPr>
                    <a:solidFill>
                      <a:srgbClr val="FFFFFF"/>
                    </a:solidFill>
                  </a:tcPr>
                </a:tc>
                <a:tc>
                  <a:txBody>
                    <a:bodyPr/>
                    <a:lstStyle/>
                    <a:p>
                      <a:pPr algn="ctr"/>
                      <a:r>
                        <a:rPr sz="1050" b="0">
                          <a:solidFill>
                            <a:srgbClr val="1C2233"/>
                          </a:solidFill>
                          <a:latin typeface="メイリオ"/>
                          <a:ea typeface="メイリオ"/>
                        </a:rPr>
                        <a:t>+15pt</a:t>
                      </a:r>
                    </a:p>
                  </a:txBody>
                  <a:tcPr>
                    <a:solidFill>
                      <a:srgbClr val="FFFFFF"/>
                    </a:solidFill>
                  </a:tcPr>
                </a:tc>
                <a:extLst>
                  <a:ext uri="{0D108BD9-81ED-4DB2-BD59-A6C34878D82A}">
                    <a16:rowId xmlns:a16="http://schemas.microsoft.com/office/drawing/2014/main" val="10007"/>
                  </a:ext>
                </a:extLst>
              </a:tr>
              <a:tr h="257991">
                <a:tc>
                  <a:txBody>
                    <a:bodyPr/>
                    <a:lstStyle/>
                    <a:p>
                      <a:pPr algn="l"/>
                      <a:r>
                        <a:rPr sz="1050" b="0">
                          <a:solidFill>
                            <a:srgbClr val="1C2233"/>
                          </a:solidFill>
                          <a:latin typeface="メイリオ"/>
                          <a:ea typeface="メイリオ"/>
                        </a:rPr>
                        <a:t>来店数</a:t>
                      </a:r>
                    </a:p>
                  </a:txBody>
                  <a:tcPr>
                    <a:solidFill>
                      <a:srgbClr val="EFF1F7"/>
                    </a:solidFill>
                  </a:tcPr>
                </a:tc>
                <a:tc>
                  <a:txBody>
                    <a:bodyPr/>
                    <a:lstStyle/>
                    <a:p>
                      <a:pPr algn="ctr"/>
                      <a:r>
                        <a:rPr sz="1050" b="0">
                          <a:solidFill>
                            <a:srgbClr val="1C2233"/>
                          </a:solidFill>
                          <a:latin typeface="メイリオ"/>
                          <a:ea typeface="メイリオ"/>
                        </a:rPr>
                        <a:t>60.0件</a:t>
                      </a:r>
                    </a:p>
                  </a:txBody>
                  <a:tcPr>
                    <a:solidFill>
                      <a:srgbClr val="EFF1F7"/>
                    </a:solidFill>
                  </a:tcPr>
                </a:tc>
                <a:tc>
                  <a:txBody>
                    <a:bodyPr/>
                    <a:lstStyle/>
                    <a:p>
                      <a:pPr algn="ctr"/>
                      <a:r>
                        <a:rPr sz="1050" b="0">
                          <a:solidFill>
                            <a:srgbClr val="1C2233"/>
                          </a:solidFill>
                          <a:latin typeface="メイリオ"/>
                          <a:ea typeface="メイリオ"/>
                        </a:rPr>
                        <a:t>84.0件</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08"/>
                  </a:ext>
                </a:extLst>
              </a:tr>
              <a:tr h="257991">
                <a:tc>
                  <a:txBody>
                    <a:bodyPr/>
                    <a:lstStyle/>
                    <a:p>
                      <a:pPr algn="l"/>
                      <a:r>
                        <a:rPr sz="1050" b="0">
                          <a:solidFill>
                            <a:srgbClr val="1C2233"/>
                          </a:solidFill>
                          <a:latin typeface="メイリオ"/>
                          <a:ea typeface="メイリオ"/>
                        </a:rPr>
                        <a:t>入会率</a:t>
                      </a:r>
                    </a:p>
                  </a:txBody>
                  <a:tcPr>
                    <a:solidFill>
                      <a:srgbClr val="FFFFFF"/>
                    </a:solidFill>
                  </a:tcPr>
                </a:tc>
                <a:tc>
                  <a:txBody>
                    <a:bodyPr/>
                    <a:lstStyle/>
                    <a:p>
                      <a:pPr algn="ctr"/>
                      <a:r>
                        <a:rPr sz="1050" b="0">
                          <a:solidFill>
                            <a:srgbClr val="1C2233"/>
                          </a:solidFill>
                          <a:latin typeface="メイリオ"/>
                          <a:ea typeface="メイリオ"/>
                        </a:rPr>
                        <a:t>50%</a:t>
                      </a:r>
                    </a:p>
                  </a:txBody>
                  <a:tcPr>
                    <a:solidFill>
                      <a:srgbClr val="FFFFFF"/>
                    </a:solidFill>
                  </a:tcPr>
                </a:tc>
                <a:tc>
                  <a:txBody>
                    <a:bodyPr/>
                    <a:lstStyle/>
                    <a:p>
                      <a:pPr algn="ctr"/>
                      <a:r>
                        <a:rPr sz="1050" b="0">
                          <a:solidFill>
                            <a:srgbClr val="1C2233"/>
                          </a:solidFill>
                          <a:latin typeface="メイリオ"/>
                          <a:ea typeface="メイリオ"/>
                        </a:rPr>
                        <a:t>50%（据え置き）</a:t>
                      </a:r>
                    </a:p>
                  </a:txBody>
                  <a:tcPr>
                    <a:solidFill>
                      <a:srgbClr val="FFFFFF"/>
                    </a:solidFill>
                  </a:tcPr>
                </a:tc>
                <a:tc>
                  <a:txBody>
                    <a:bodyPr/>
                    <a:lstStyle/>
                    <a:p>
                      <a:pPr algn="ctr"/>
                      <a:r>
                        <a:rPr sz="1050" b="0">
                          <a:solidFill>
                            <a:srgbClr val="1C2233"/>
                          </a:solidFill>
                          <a:latin typeface="メイリオ"/>
                          <a:ea typeface="メイリオ"/>
                        </a:rPr>
                        <a:t>± 0</a:t>
                      </a:r>
                    </a:p>
                  </a:txBody>
                  <a:tcPr>
                    <a:solidFill>
                      <a:srgbClr val="FFFFFF"/>
                    </a:solidFill>
                  </a:tcPr>
                </a:tc>
                <a:extLst>
                  <a:ext uri="{0D108BD9-81ED-4DB2-BD59-A6C34878D82A}">
                    <a16:rowId xmlns:a16="http://schemas.microsoft.com/office/drawing/2014/main" val="10009"/>
                  </a:ext>
                </a:extLst>
              </a:tr>
              <a:tr h="257991">
                <a:tc>
                  <a:txBody>
                    <a:bodyPr/>
                    <a:lstStyle/>
                    <a:p>
                      <a:pPr algn="l"/>
                      <a:r>
                        <a:rPr sz="1050" b="0">
                          <a:solidFill>
                            <a:srgbClr val="1C2233"/>
                          </a:solidFill>
                          <a:latin typeface="メイリオ"/>
                          <a:ea typeface="メイリオ"/>
                        </a:rPr>
                        <a:t>入会数</a:t>
                      </a:r>
                    </a:p>
                  </a:txBody>
                  <a:tcPr>
                    <a:solidFill>
                      <a:srgbClr val="EFF1F7"/>
                    </a:solidFill>
                  </a:tcPr>
                </a:tc>
                <a:tc>
                  <a:txBody>
                    <a:bodyPr/>
                    <a:lstStyle/>
                    <a:p>
                      <a:pPr algn="ctr"/>
                      <a:r>
                        <a:rPr sz="1050" b="0">
                          <a:solidFill>
                            <a:srgbClr val="1C2233"/>
                          </a:solidFill>
                          <a:latin typeface="メイリオ"/>
                          <a:ea typeface="メイリオ"/>
                        </a:rPr>
                        <a:t>30.0名</a:t>
                      </a:r>
                    </a:p>
                  </a:txBody>
                  <a:tcPr>
                    <a:solidFill>
                      <a:srgbClr val="EFF1F7"/>
                    </a:solidFill>
                  </a:tcPr>
                </a:tc>
                <a:tc>
                  <a:txBody>
                    <a:bodyPr/>
                    <a:lstStyle/>
                    <a:p>
                      <a:pPr algn="ctr"/>
                      <a:r>
                        <a:rPr sz="1050" b="0">
                          <a:solidFill>
                            <a:srgbClr val="1C2233"/>
                          </a:solidFill>
                          <a:latin typeface="メイリオ"/>
                          <a:ea typeface="メイリオ"/>
                        </a:rPr>
                        <a:t>42.0名</a:t>
                      </a:r>
                    </a:p>
                  </a:txBody>
                  <a:tcPr>
                    <a:solidFill>
                      <a:srgbClr val="EFF1F7"/>
                    </a:solidFill>
                  </a:tcPr>
                </a:tc>
                <a:tc>
                  <a:txBody>
                    <a:bodyPr/>
                    <a:lstStyle/>
                    <a:p>
                      <a:pPr algn="ctr"/>
                      <a:r>
                        <a:rPr sz="1050" b="0">
                          <a:solidFill>
                            <a:srgbClr val="1C2233"/>
                          </a:solidFill>
                          <a:latin typeface="メイリオ"/>
                          <a:ea typeface="メイリオ"/>
                        </a:rPr>
                        <a:t>+40%</a:t>
                      </a:r>
                    </a:p>
                  </a:txBody>
                  <a:tcPr>
                    <a:solidFill>
                      <a:srgbClr val="EFF1F7"/>
                    </a:solidFill>
                  </a:tcPr>
                </a:tc>
                <a:extLst>
                  <a:ext uri="{0D108BD9-81ED-4DB2-BD59-A6C34878D82A}">
                    <a16:rowId xmlns:a16="http://schemas.microsoft.com/office/drawing/2014/main" val="10010"/>
                  </a:ext>
                </a:extLst>
              </a:tr>
              <a:tr h="257991">
                <a:tc>
                  <a:txBody>
                    <a:bodyPr/>
                    <a:lstStyle/>
                    <a:p>
                      <a:pPr algn="l"/>
                      <a:r>
                        <a:rPr sz="1050" b="0">
                          <a:solidFill>
                            <a:srgbClr val="1C2233"/>
                          </a:solidFill>
                          <a:latin typeface="メイリオ"/>
                          <a:ea typeface="メイリオ"/>
                        </a:rPr>
                        <a:t>入会CPA</a:t>
                      </a:r>
                    </a:p>
                  </a:txBody>
                  <a:tcPr>
                    <a:solidFill>
                      <a:srgbClr val="FFFFFF"/>
                    </a:solidFill>
                  </a:tcPr>
                </a:tc>
                <a:tc>
                  <a:txBody>
                    <a:bodyPr/>
                    <a:lstStyle/>
                    <a:p>
                      <a:pPr algn="ctr"/>
                      <a:r>
                        <a:rPr sz="1050" b="0">
                          <a:solidFill>
                            <a:srgbClr val="1C2233"/>
                          </a:solidFill>
                          <a:latin typeface="メイリオ"/>
                          <a:ea typeface="メイリオ"/>
                        </a:rPr>
                        <a:t>33,300円</a:t>
                      </a:r>
                    </a:p>
                  </a:txBody>
                  <a:tcPr>
                    <a:solidFill>
                      <a:srgbClr val="FFFFFF"/>
                    </a:solidFill>
                  </a:tcPr>
                </a:tc>
                <a:tc>
                  <a:txBody>
                    <a:bodyPr/>
                    <a:lstStyle/>
                    <a:p>
                      <a:pPr algn="ctr"/>
                      <a:r>
                        <a:rPr sz="1050" b="0">
                          <a:solidFill>
                            <a:srgbClr val="1C2233"/>
                          </a:solidFill>
                          <a:latin typeface="メイリオ"/>
                          <a:ea typeface="メイリオ"/>
                        </a:rPr>
                        <a:t>26,200円</a:t>
                      </a:r>
                    </a:p>
                  </a:txBody>
                  <a:tcPr>
                    <a:solidFill>
                      <a:srgbClr val="FFFFFF"/>
                    </a:solidFill>
                  </a:tcPr>
                </a:tc>
                <a:tc>
                  <a:txBody>
                    <a:bodyPr/>
                    <a:lstStyle/>
                    <a:p>
                      <a:pPr algn="ctr"/>
                      <a:r>
                        <a:rPr sz="1050" b="0">
                          <a:solidFill>
                            <a:srgbClr val="1C2233"/>
                          </a:solidFill>
                          <a:latin typeface="メイリオ"/>
                          <a:ea typeface="メイリオ"/>
                        </a:rPr>
                        <a:t>▲21%</a:t>
                      </a:r>
                    </a:p>
                  </a:txBody>
                  <a:tcPr>
                    <a:solidFill>
                      <a:srgbClr val="FFFFFF"/>
                    </a:solidFill>
                  </a:tcPr>
                </a:tc>
                <a:extLst>
                  <a:ext uri="{0D108BD9-81ED-4DB2-BD59-A6C34878D82A}">
                    <a16:rowId xmlns:a16="http://schemas.microsoft.com/office/drawing/2014/main" val="10011"/>
                  </a:ext>
                </a:extLst>
              </a:tr>
              <a:tr h="257991">
                <a:tc>
                  <a:txBody>
                    <a:bodyPr/>
                    <a:lstStyle/>
                    <a:p>
                      <a:pPr algn="l"/>
                      <a:r>
                        <a:rPr sz="1050" b="0">
                          <a:solidFill>
                            <a:srgbClr val="1C2233"/>
                          </a:solidFill>
                          <a:latin typeface="メイリオ"/>
                          <a:ea typeface="メイリオ"/>
                        </a:rPr>
                        <a:t>平均在籍月数</a:t>
                      </a:r>
                    </a:p>
                  </a:txBody>
                  <a:tcPr>
                    <a:solidFill>
                      <a:srgbClr val="EFF1F7"/>
                    </a:solidFill>
                  </a:tcPr>
                </a:tc>
                <a:tc>
                  <a:txBody>
                    <a:bodyPr/>
                    <a:lstStyle/>
                    <a:p>
                      <a:pPr algn="ctr"/>
                      <a:r>
                        <a:rPr sz="1050" b="0">
                          <a:solidFill>
                            <a:srgbClr val="1C2233"/>
                          </a:solidFill>
                          <a:latin typeface="メイリオ"/>
                          <a:ea typeface="メイリオ"/>
                        </a:rPr>
                        <a:t>12ヶ月</a:t>
                      </a:r>
                    </a:p>
                  </a:txBody>
                  <a:tcPr>
                    <a:solidFill>
                      <a:srgbClr val="EFF1F7"/>
                    </a:solidFill>
                  </a:tcPr>
                </a:tc>
                <a:tc>
                  <a:txBody>
                    <a:bodyPr/>
                    <a:lstStyle/>
                    <a:p>
                      <a:pPr algn="ctr"/>
                      <a:r>
                        <a:rPr sz="1050" b="0">
                          <a:solidFill>
                            <a:srgbClr val="1C2233"/>
                          </a:solidFill>
                          <a:latin typeface="メイリオ"/>
                          <a:ea typeface="メイリオ"/>
                        </a:rPr>
                        <a:t>14ヶ月</a:t>
                      </a:r>
                    </a:p>
                  </a:txBody>
                  <a:tcPr>
                    <a:solidFill>
                      <a:srgbClr val="EFF1F7"/>
                    </a:solidFill>
                  </a:tcPr>
                </a:tc>
                <a:tc>
                  <a:txBody>
                    <a:bodyPr/>
                    <a:lstStyle/>
                    <a:p>
                      <a:pPr algn="ctr"/>
                      <a:r>
                        <a:rPr sz="1050" b="0">
                          <a:solidFill>
                            <a:srgbClr val="1C2233"/>
                          </a:solidFill>
                          <a:latin typeface="メイリオ"/>
                          <a:ea typeface="メイリオ"/>
                        </a:rPr>
                        <a:t>+2ヶ月</a:t>
                      </a:r>
                    </a:p>
                  </a:txBody>
                  <a:tcPr>
                    <a:solidFill>
                      <a:srgbClr val="EFF1F7"/>
                    </a:solidFill>
                  </a:tcPr>
                </a:tc>
                <a:extLst>
                  <a:ext uri="{0D108BD9-81ED-4DB2-BD59-A6C34878D82A}">
                    <a16:rowId xmlns:a16="http://schemas.microsoft.com/office/drawing/2014/main" val="10012"/>
                  </a:ext>
                </a:extLst>
              </a:tr>
              <a:tr h="257997">
                <a:tc>
                  <a:txBody>
                    <a:bodyPr/>
                    <a:lstStyle/>
                    <a:p>
                      <a:pPr algn="l"/>
                      <a:r>
                        <a:rPr sz="1050" b="0" dirty="0" err="1">
                          <a:solidFill>
                            <a:srgbClr val="1C2233"/>
                          </a:solidFill>
                          <a:latin typeface="メイリオ"/>
                          <a:ea typeface="メイリオ"/>
                        </a:rPr>
                        <a:t>会費売上（LTV基準</a:t>
                      </a:r>
                      <a:r>
                        <a:rPr sz="1050" b="0" dirty="0">
                          <a:solidFill>
                            <a:srgbClr val="1C2233"/>
                          </a:solidFill>
                          <a:latin typeface="メイリオ"/>
                          <a:ea typeface="メイリオ"/>
                        </a:rPr>
                        <a:t>）</a:t>
                      </a:r>
                    </a:p>
                  </a:txBody>
                  <a:tcPr>
                    <a:solidFill>
                      <a:srgbClr val="FFFFFF"/>
                    </a:solidFill>
                  </a:tcPr>
                </a:tc>
                <a:tc>
                  <a:txBody>
                    <a:bodyPr/>
                    <a:lstStyle/>
                    <a:p>
                      <a:pPr algn="ctr"/>
                      <a:r>
                        <a:rPr sz="1050" b="0">
                          <a:solidFill>
                            <a:srgbClr val="1C2233"/>
                          </a:solidFill>
                          <a:latin typeface="メイリオ"/>
                          <a:ea typeface="メイリオ"/>
                        </a:rPr>
                        <a:t>288万円</a:t>
                      </a:r>
                    </a:p>
                  </a:txBody>
                  <a:tcPr>
                    <a:solidFill>
                      <a:srgbClr val="FFFFFF"/>
                    </a:solidFill>
                  </a:tcPr>
                </a:tc>
                <a:tc>
                  <a:txBody>
                    <a:bodyPr/>
                    <a:lstStyle/>
                    <a:p>
                      <a:pPr algn="ctr"/>
                      <a:r>
                        <a:rPr sz="1050" b="1">
                          <a:solidFill>
                            <a:srgbClr val="FFFFFF"/>
                          </a:solidFill>
                          <a:latin typeface="メイリオ"/>
                          <a:ea typeface="メイリオ"/>
                        </a:rPr>
                        <a:t>470万円</a:t>
                      </a:r>
                    </a:p>
                  </a:txBody>
                  <a:tcPr>
                    <a:solidFill>
                      <a:srgbClr val="BF4E0E"/>
                    </a:solidFill>
                  </a:tcPr>
                </a:tc>
                <a:tc>
                  <a:txBody>
                    <a:bodyPr/>
                    <a:lstStyle/>
                    <a:p>
                      <a:pPr algn="ctr"/>
                      <a:r>
                        <a:rPr sz="1050" b="0" dirty="0">
                          <a:solidFill>
                            <a:srgbClr val="1C2233"/>
                          </a:solidFill>
                          <a:latin typeface="メイリオ"/>
                          <a:ea typeface="メイリオ"/>
                        </a:rPr>
                        <a:t>+182万円</a:t>
                      </a:r>
                    </a:p>
                  </a:txBody>
                  <a:tcPr>
                    <a:solidFill>
                      <a:srgbClr val="FFFFFF"/>
                    </a:solidFill>
                  </a:tcPr>
                </a:tc>
                <a:extLst>
                  <a:ext uri="{0D108BD9-81ED-4DB2-BD59-A6C34878D82A}">
                    <a16:rowId xmlns:a16="http://schemas.microsoft.com/office/drawing/2014/main" val="10013"/>
                  </a:ext>
                </a:extLst>
              </a:tr>
            </a:tbl>
          </a:graphicData>
        </a:graphic>
      </p:graphicFrame>
      <p:sp>
        <p:nvSpPr>
          <p:cNvPr id="5" name="Rounded Rectangle 4"/>
          <p:cNvSpPr/>
          <p:nvPr/>
        </p:nvSpPr>
        <p:spPr>
          <a:xfrm>
            <a:off x="384047"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① LP </a:t>
            </a:r>
            <a:r>
              <a:rPr sz="1200" b="1" dirty="0" err="1">
                <a:solidFill>
                  <a:srgbClr val="1C2233"/>
                </a:solidFill>
                <a:latin typeface="メイリオ"/>
                <a:ea typeface="メイリオ"/>
              </a:rPr>
              <a:t>CVRも入会率も変えていない</a:t>
            </a:r>
            <a:endParaRPr sz="1200" b="1" dirty="0">
              <a:solidFill>
                <a:srgbClr val="1C2233"/>
              </a:solidFill>
              <a:latin typeface="メイリオ"/>
              <a:ea typeface="メイリオ"/>
            </a:endParaRPr>
          </a:p>
          <a:p>
            <a:pPr algn="l">
              <a:spcBef>
                <a:spcPts val="200"/>
              </a:spcBef>
            </a:pPr>
            <a:r>
              <a:rPr sz="1100" b="0" dirty="0" err="1">
                <a:solidFill>
                  <a:srgbClr val="1C2233"/>
                </a:solidFill>
                <a:latin typeface="メイリオ"/>
                <a:ea typeface="メイリオ"/>
              </a:rPr>
              <a:t>触るのは「落ちた後</a:t>
            </a:r>
            <a:r>
              <a:rPr sz="1100" b="0" dirty="0">
                <a:solidFill>
                  <a:srgbClr val="1C2233"/>
                </a:solidFill>
                <a:latin typeface="メイリオ"/>
                <a:ea typeface="メイリオ"/>
              </a:rPr>
              <a:t>」「</a:t>
            </a:r>
            <a:r>
              <a:rPr sz="1100" b="0" dirty="0" err="1">
                <a:solidFill>
                  <a:srgbClr val="1C2233"/>
                </a:solidFill>
                <a:latin typeface="メイリオ"/>
                <a:ea typeface="メイリオ"/>
              </a:rPr>
              <a:t>予約後</a:t>
            </a:r>
            <a:r>
              <a:rPr sz="1100" b="0" dirty="0">
                <a:solidFill>
                  <a:srgbClr val="1C2233"/>
                </a:solidFill>
                <a:latin typeface="メイリオ"/>
                <a:ea typeface="メイリオ"/>
              </a:rPr>
              <a:t>」</a:t>
            </a:r>
            <a:endParaRPr lang="en-US" sz="1100" b="0"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「入会後」の3箇所だけ。</a:t>
            </a:r>
          </a:p>
        </p:txBody>
      </p:sp>
      <p:sp>
        <p:nvSpPr>
          <p:cNvPr id="6" name="Rounded Rectangle 5"/>
          <p:cNvSpPr/>
          <p:nvPr/>
        </p:nvSpPr>
        <p:spPr>
          <a:xfrm>
            <a:off x="3383278"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dirty="0">
                <a:solidFill>
                  <a:srgbClr val="1C2233"/>
                </a:solidFill>
                <a:latin typeface="メイリオ"/>
                <a:ea typeface="メイリオ"/>
              </a:rPr>
              <a:t>② </a:t>
            </a:r>
            <a:r>
              <a:rPr sz="1200" b="1" dirty="0" err="1">
                <a:solidFill>
                  <a:srgbClr val="1C2233"/>
                </a:solidFill>
                <a:latin typeface="メイリオ"/>
                <a:ea typeface="メイリオ"/>
              </a:rPr>
              <a:t>効くのは“率”であって母数ではない</a:t>
            </a:r>
            <a:endParaRPr sz="1200" b="1" dirty="0">
              <a:solidFill>
                <a:srgbClr val="1C2233"/>
              </a:solidFill>
              <a:latin typeface="メイリオ"/>
              <a:ea typeface="メイリオ"/>
            </a:endParaRPr>
          </a:p>
          <a:p>
            <a:pPr algn="l">
              <a:spcBef>
                <a:spcPts val="200"/>
              </a:spcBef>
            </a:pPr>
            <a:r>
              <a:rPr sz="1100" b="0" dirty="0">
                <a:solidFill>
                  <a:srgbClr val="1C2233"/>
                </a:solidFill>
                <a:latin typeface="メイリオ"/>
                <a:ea typeface="メイリオ"/>
              </a:rPr>
              <a:t>予約+12%より、来店率60→75%と在籍+2ヶ月のほうが効く。</a:t>
            </a:r>
          </a:p>
        </p:txBody>
      </p:sp>
      <p:sp>
        <p:nvSpPr>
          <p:cNvPr id="7" name="Rounded Rectangle 6"/>
          <p:cNvSpPr/>
          <p:nvPr/>
        </p:nvSpPr>
        <p:spPr>
          <a:xfrm>
            <a:off x="6382511" y="5120954"/>
            <a:ext cx="2928495" cy="841248"/>
          </a:xfrm>
          <a:prstGeom prst="roundRect">
            <a:avLst/>
          </a:prstGeom>
          <a:solidFill>
            <a:srgbClr val="EFF1F7"/>
          </a:solidFill>
          <a:ln w="9525">
            <a:solidFill>
              <a:srgbClr val="C6CADD"/>
            </a:solidFill>
          </a:ln>
        </p:spPr>
        <p:style>
          <a:lnRef idx="1">
            <a:schemeClr val="accent1"/>
          </a:lnRef>
          <a:fillRef idx="3">
            <a:schemeClr val="accent1"/>
          </a:fillRef>
          <a:effectRef idx="2">
            <a:schemeClr val="accent1"/>
          </a:effectRef>
          <a:fontRef idx="minor">
            <a:schemeClr val="lt1"/>
          </a:fontRef>
        </p:style>
        <p:txBody>
          <a:bodyPr wrap="square" lIns="50800" tIns="38100" rIns="50800" bIns="38100" rtlCol="0" anchor="t"/>
          <a:lstStyle/>
          <a:p>
            <a:pPr algn="l"/>
            <a:r>
              <a:rPr sz="1200" b="1">
                <a:solidFill>
                  <a:srgbClr val="002060"/>
                </a:solidFill>
                <a:latin typeface="メイリオ"/>
                <a:ea typeface="メイリオ"/>
                <a:cs typeface="メイリオ"/>
              </a:rPr>
              <a:t>③ 在籍2ヶ月分が ＋67万円</a:t>
            </a:r>
          </a:p>
          <a:p>
            <a:pPr algn="l"/>
            <a:r>
              <a:rPr sz="1100" b="0">
                <a:solidFill>
                  <a:srgbClr val="1A1A2E"/>
                </a:solidFill>
                <a:latin typeface="メイリオ"/>
                <a:ea typeface="メイリオ"/>
                <a:cs typeface="メイリオ"/>
              </a:rPr>
              <a:t>増分182万円の37%。ただし在籍月数は</a:t>
            </a:r>
          </a:p>
          <a:p>
            <a:pPr algn="l"/>
            <a:r>
              <a:rPr sz="1100" b="0">
                <a:solidFill>
                  <a:srgbClr val="1A1A2E"/>
                </a:solidFill>
                <a:latin typeface="メイリオ"/>
                <a:ea typeface="メイリオ"/>
                <a:cs typeface="メイリオ"/>
              </a:rPr>
              <a:t>LINEでは測れず、会員データで前後比較する。</a:t>
            </a:r>
          </a:p>
        </p:txBody>
      </p:sp>
      <p:sp>
        <p:nvSpPr>
          <p:cNvPr id="8" name="TextBox 7"/>
          <p:cNvSpPr txBox="1"/>
          <p:nvPr/>
        </p:nvSpPr>
        <p:spPr>
          <a:xfrm>
            <a:off x="384048" y="6284516"/>
            <a:ext cx="9134856" cy="310896"/>
          </a:xfrm>
          <a:prstGeom prst="rect">
            <a:avLst/>
          </a:prstGeom>
          <a:noFill/>
        </p:spPr>
        <p:txBody>
          <a:bodyPr wrap="square" lIns="0" tIns="0" rIns="0" bIns="0">
            <a:spAutoFit/>
          </a:bodyPr>
          <a:lstStyle/>
          <a:p>
            <a:r>
              <a:rPr sz="900" b="0">
                <a:solidFill>
                  <a:srgbClr val="646C82"/>
                </a:solidFill>
                <a:latin typeface="メイリオ"/>
                <a:ea typeface="メイリオ"/>
                <a:cs typeface="メイリオ"/>
              </a:rPr>
              <a:t>★前提（すべて社内想定）：友だち化率3%／体験予約転換率8%／平均在籍12→14ヶ月／来店率60→75%。月会費・在籍月数は業界一般値。</a:t>
            </a:r>
          </a:p>
          <a:p>
            <a:r>
              <a:rPr sz="900" b="0">
                <a:solidFill>
                  <a:srgbClr val="646C82"/>
                </a:solidFill>
                <a:latin typeface="メイリオ"/>
                <a:ea typeface="メイリオ"/>
                <a:cs typeface="メイリオ"/>
              </a:rPr>
              <a:t>※ 在籍月数はLINE側では計測できません。導入前後の在籍月数は、貴社の会員管理システムのデータで比較いたします。</a:t>
            </a:r>
          </a:p>
        </p:txBody>
      </p:sp>
    </p:spTree>
    <p:extLst>
      <p:ext uri="{BB962C8B-B14F-4D97-AF65-F5344CB8AC3E}">
        <p14:creationId xmlns:p14="http://schemas.microsoft.com/office/powerpoint/2010/main" val="41122265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AC0CE-FB74-5332-7EA1-C1F4EC9ED09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0674222-23F2-C2FA-1676-03E492633A9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D660AB6-8BEB-7060-C6E7-84B830DE3B7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sz="1600" b="1" dirty="0">
                <a:solidFill>
                  <a:srgbClr val="333333"/>
                </a:solidFill>
                <a:latin typeface="メイリオ"/>
                <a:ea typeface="メイリオ"/>
              </a:rPr>
              <a:t>「</a:t>
            </a:r>
            <a:r>
              <a:rPr sz="1600" b="1" dirty="0" err="1">
                <a:solidFill>
                  <a:srgbClr val="333333"/>
                </a:solidFill>
                <a:latin typeface="メイリオ"/>
                <a:ea typeface="メイリオ"/>
              </a:rPr>
              <a:t>ターゲット</a:t>
            </a:r>
            <a:r>
              <a:rPr sz="1600" b="1" dirty="0">
                <a:solidFill>
                  <a:srgbClr val="333333"/>
                </a:solidFill>
                <a:latin typeface="メイリオ"/>
                <a:ea typeface="メイリオ"/>
              </a:rPr>
              <a:t> × </a:t>
            </a:r>
            <a:r>
              <a:rPr sz="1600" b="1" dirty="0" err="1">
                <a:solidFill>
                  <a:srgbClr val="333333"/>
                </a:solidFill>
                <a:latin typeface="メイリオ"/>
                <a:ea typeface="メイリオ"/>
              </a:rPr>
              <a:t>ステップ」</a:t>
            </a:r>
            <a:r>
              <a:rPr sz="1600" b="0" dirty="0" err="1">
                <a:solidFill>
                  <a:srgbClr val="333333"/>
                </a:solidFill>
                <a:latin typeface="メイリオ"/>
                <a:ea typeface="メイリオ"/>
              </a:rPr>
              <a:t>を軸にした構成</a:t>
            </a:r>
            <a:r>
              <a:rPr sz="1600" b="0" dirty="0">
                <a:solidFill>
                  <a:srgbClr val="333333"/>
                </a:solidFill>
                <a:latin typeface="メイリオ"/>
                <a:ea typeface="メイリオ"/>
              </a:rPr>
              <a:t>。</a:t>
            </a:r>
            <a:endParaRPr lang="en-US" sz="1600" b="0" dirty="0">
              <a:solidFill>
                <a:srgbClr val="333333"/>
              </a:solidFill>
              <a:latin typeface="メイリオ"/>
              <a:ea typeface="メイリオ"/>
            </a:endParaRPr>
          </a:p>
          <a:p>
            <a:pPr algn="ctr">
              <a:lnSpc>
                <a:spcPts val="2455"/>
              </a:lnSpc>
            </a:pPr>
            <a:r>
              <a:rPr sz="1600" b="0" dirty="0">
                <a:solidFill>
                  <a:srgbClr val="333333"/>
                </a:solidFill>
                <a:latin typeface="メイリオ"/>
                <a:ea typeface="メイリオ"/>
              </a:rPr>
              <a:t>◯</a:t>
            </a:r>
            <a:r>
              <a:rPr sz="1600" b="0" dirty="0" err="1">
                <a:solidFill>
                  <a:srgbClr val="333333"/>
                </a:solidFill>
                <a:latin typeface="メイリオ"/>
                <a:ea typeface="メイリオ"/>
              </a:rPr>
              <a:t>の数は貴社の商材数・リスト規模に合わせて確定します</a:t>
            </a:r>
            <a:r>
              <a:rPr sz="1600" b="0" dirty="0">
                <a:solidFill>
                  <a:srgbClr val="333333"/>
                </a:solidFill>
                <a:latin typeface="メイリオ"/>
                <a:ea typeface="メイリオ"/>
              </a:rPr>
              <a:t>。</a:t>
            </a:r>
            <a:endParaRPr lang="en-US" altLang="ja-JP"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A222F43F-D0AF-9AFC-9F2B-653C85E63E7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A2BA354-F6A0-F5FB-F7A4-8C5F010328B8}"/>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Meiryo"/>
                <a:sym typeface="Meiryo"/>
              </a:rPr>
              <a:t>費用プラン｜ご提供プラン（運用構成）</a:t>
            </a:r>
            <a:endParaRPr sz="1600" b="1" dirty="0">
              <a:solidFill>
                <a:srgbClr val="002060"/>
              </a:solidFill>
              <a:latin typeface="メイリオ"/>
              <a:ea typeface="メイリオ"/>
              <a:cs typeface="Meiryo"/>
              <a:sym typeface="Meiryo"/>
            </a:endParaRPr>
          </a:p>
        </p:txBody>
      </p:sp>
      <p:sp>
        <p:nvSpPr>
          <p:cNvPr id="46" name="Rounded Rectangle 45"/>
          <p:cNvSpPr/>
          <p:nvPr/>
        </p:nvSpPr>
        <p:spPr>
          <a:xfrm>
            <a:off x="350000" y="1560000"/>
            <a:ext cx="43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運用構成（貴社に合わせて確定</a:t>
            </a:r>
            <a:r>
              <a:rPr sz="1400" b="1" dirty="0">
                <a:solidFill>
                  <a:srgbClr val="1F3A5F"/>
                </a:solidFill>
                <a:latin typeface="メイリオ"/>
                <a:ea typeface="メイリオ"/>
              </a:rPr>
              <a:t>）</a:t>
            </a:r>
          </a:p>
        </p:txBody>
      </p:sp>
      <p:sp>
        <p:nvSpPr>
          <p:cNvPr id="47" name="Rounded Rectangle 46"/>
          <p:cNvSpPr/>
          <p:nvPr/>
        </p:nvSpPr>
        <p:spPr>
          <a:xfrm>
            <a:off x="350000" y="1929999"/>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ターゲット</a:t>
            </a:r>
            <a:r>
              <a:rPr sz="1400" b="1" dirty="0">
                <a:solidFill>
                  <a:srgbClr val="1F3A5F"/>
                </a:solidFill>
                <a:latin typeface="メイリオ"/>
                <a:ea typeface="メイリオ"/>
              </a:rPr>
              <a:t>：◯ 個</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二軸アンケート（配信頻度×商材）で分類</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例：3個｜「</a:t>
            </a:r>
            <a:r>
              <a:rPr sz="1200" b="0" dirty="0" err="1">
                <a:solidFill>
                  <a:srgbClr val="555555"/>
                </a:solidFill>
                <a:latin typeface="メイリオ"/>
                <a:ea typeface="メイリオ"/>
              </a:rPr>
              <a:t>今すぐ</a:t>
            </a:r>
            <a:r>
              <a:rPr sz="1200" b="0" dirty="0">
                <a:solidFill>
                  <a:srgbClr val="555555"/>
                </a:solidFill>
                <a:latin typeface="メイリオ"/>
                <a:ea typeface="メイリオ"/>
              </a:rPr>
              <a:t>/1ヶ月以内/2〜3ヶ月先・未定」</a:t>
            </a:r>
          </a:p>
        </p:txBody>
      </p:sp>
      <p:sp>
        <p:nvSpPr>
          <p:cNvPr id="48" name="Rounded Rectangle 47"/>
          <p:cNvSpPr/>
          <p:nvPr/>
        </p:nvSpPr>
        <p:spPr>
          <a:xfrm>
            <a:off x="340857" y="3388642"/>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ステップ配信：各</a:t>
            </a:r>
            <a:r>
              <a:rPr sz="1400" b="1" dirty="0">
                <a:solidFill>
                  <a:srgbClr val="1F3A5F"/>
                </a:solidFill>
                <a:latin typeface="メイリオ"/>
                <a:ea typeface="メイリオ"/>
              </a:rPr>
              <a:t>◯ 通 × ◯ </a:t>
            </a:r>
            <a:r>
              <a:rPr sz="1400" b="1" dirty="0" err="1">
                <a:solidFill>
                  <a:srgbClr val="1F3A5F"/>
                </a:solidFill>
                <a:latin typeface="メイリオ"/>
                <a:ea typeface="メイリオ"/>
              </a:rPr>
              <a:t>セット</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ターゲット別シナリオを全自動で稼働</a:t>
            </a:r>
            <a:endParaRPr sz="1200" b="0" dirty="0">
              <a:solidFill>
                <a:srgbClr val="333333"/>
              </a:solidFill>
              <a:latin typeface="メイリオ"/>
              <a:ea typeface="メイリオ"/>
            </a:endParaRPr>
          </a:p>
          <a:p>
            <a:pPr algn="l"/>
            <a:r>
              <a:rPr sz="1200" b="0" dirty="0">
                <a:solidFill>
                  <a:srgbClr val="555555"/>
                </a:solidFill>
                <a:latin typeface="メイリオ"/>
                <a:ea typeface="メイリオ"/>
              </a:rPr>
              <a:t>例：6通×3セット＝18通</a:t>
            </a:r>
          </a:p>
        </p:txBody>
      </p:sp>
      <p:sp>
        <p:nvSpPr>
          <p:cNvPr id="49" name="Rounded Rectangle 48"/>
          <p:cNvSpPr/>
          <p:nvPr/>
        </p:nvSpPr>
        <p:spPr>
          <a:xfrm>
            <a:off x="350000" y="4847286"/>
            <a:ext cx="43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dirty="0" err="1">
                <a:solidFill>
                  <a:srgbClr val="1F3A5F"/>
                </a:solidFill>
                <a:latin typeface="メイリオ"/>
                <a:ea typeface="メイリオ"/>
              </a:rPr>
              <a:t>企画投稿：月</a:t>
            </a:r>
            <a:r>
              <a:rPr sz="1400" b="1" dirty="0">
                <a:solidFill>
                  <a:srgbClr val="1F3A5F"/>
                </a:solidFill>
                <a:latin typeface="メイリオ"/>
                <a:ea typeface="メイリオ"/>
              </a:rPr>
              <a:t>◯ 本</a:t>
            </a:r>
            <a:endParaRPr lang="en-US" sz="14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a:solidFill>
                  <a:srgbClr val="333333"/>
                </a:solidFill>
                <a:latin typeface="メイリオ"/>
                <a:ea typeface="メイリオ"/>
              </a:rPr>
              <a:t>週1回の定期投稿＋時期・時事の特別配信</a:t>
            </a:r>
          </a:p>
          <a:p>
            <a:pPr algn="l"/>
            <a:r>
              <a:rPr sz="1200" b="0" dirty="0">
                <a:solidFill>
                  <a:srgbClr val="555555"/>
                </a:solidFill>
                <a:latin typeface="メイリオ"/>
                <a:ea typeface="メイリオ"/>
              </a:rPr>
              <a:t>例：月4本（週1回）</a:t>
            </a:r>
          </a:p>
        </p:txBody>
      </p:sp>
      <p:sp>
        <p:nvSpPr>
          <p:cNvPr id="50" name="Rounded Rectangle 49"/>
          <p:cNvSpPr/>
          <p:nvPr/>
        </p:nvSpPr>
        <p:spPr>
          <a:xfrm>
            <a:off x="4850000" y="1560000"/>
            <a:ext cx="4700000" cy="378504"/>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400" b="1">
                <a:solidFill>
                  <a:srgbClr val="1F3A5F"/>
                </a:solidFill>
                <a:latin typeface="メイリオ"/>
                <a:ea typeface="メイリオ"/>
              </a:rPr>
              <a:t>費用・ツール・運営（標準）</a:t>
            </a:r>
          </a:p>
        </p:txBody>
      </p:sp>
      <p:sp>
        <p:nvSpPr>
          <p:cNvPr id="51" name="Rounded Rectangle 50"/>
          <p:cNvSpPr/>
          <p:nvPr/>
        </p:nvSpPr>
        <p:spPr>
          <a:xfrm>
            <a:off x="4850000" y="1929999"/>
            <a:ext cx="4700000" cy="1299529"/>
          </a:xfrm>
          <a:prstGeom prst="roundRect">
            <a:avLst/>
          </a:prstGeom>
          <a:solidFill>
            <a:srgbClr val="24345A"/>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600" b="1" dirty="0" err="1">
                <a:solidFill>
                  <a:srgbClr val="FFFFFF"/>
                </a:solidFill>
                <a:latin typeface="メイリオ"/>
                <a:ea typeface="メイリオ"/>
              </a:rPr>
              <a:t>月額</a:t>
            </a:r>
            <a:r>
              <a:rPr sz="1600" b="1" dirty="0">
                <a:solidFill>
                  <a:srgbClr val="FFFFFF"/>
                </a:solidFill>
                <a:latin typeface="メイリオ"/>
                <a:ea typeface="メイリオ"/>
              </a:rPr>
              <a:t> 20万円〜（3投稿）</a:t>
            </a:r>
            <a:endParaRPr lang="en-US" sz="1600" b="1" dirty="0">
              <a:solidFill>
                <a:srgbClr val="FFFFFF"/>
              </a:solidFill>
              <a:latin typeface="メイリオ"/>
              <a:ea typeface="メイリオ"/>
            </a:endParaRPr>
          </a:p>
          <a:p>
            <a:pPr algn="l"/>
            <a:endParaRPr sz="800" b="1" dirty="0">
              <a:solidFill>
                <a:srgbClr val="FFFFFF"/>
              </a:solidFill>
              <a:latin typeface="メイリオ"/>
              <a:ea typeface="メイリオ"/>
            </a:endParaRPr>
          </a:p>
          <a:p>
            <a:pPr algn="l"/>
            <a:r>
              <a:rPr sz="1400" dirty="0" err="1">
                <a:solidFill>
                  <a:srgbClr val="FFFFFF"/>
                </a:solidFill>
                <a:latin typeface="メイリオ"/>
                <a:ea typeface="メイリオ"/>
              </a:rPr>
              <a:t>初期費用</a:t>
            </a:r>
            <a:r>
              <a:rPr sz="1400" dirty="0">
                <a:solidFill>
                  <a:srgbClr val="FFFFFF"/>
                </a:solidFill>
                <a:latin typeface="メイリオ"/>
                <a:ea typeface="メイリオ"/>
              </a:rPr>
              <a:t> 10万円〜 ／ 6か月〜契約</a:t>
            </a:r>
          </a:p>
          <a:p>
            <a:pPr algn="l"/>
            <a:r>
              <a:rPr sz="1200" dirty="0">
                <a:solidFill>
                  <a:srgbClr val="FFFFFF"/>
                </a:solidFill>
                <a:latin typeface="メイリオ"/>
                <a:ea typeface="メイリオ"/>
              </a:rPr>
              <a:t>※5投稿=30万円／9投稿=50万円（投稿数により変動）</a:t>
            </a:r>
          </a:p>
        </p:txBody>
      </p:sp>
      <p:sp>
        <p:nvSpPr>
          <p:cNvPr id="53" name="Rounded Rectangle 52"/>
          <p:cNvSpPr/>
          <p:nvPr/>
        </p:nvSpPr>
        <p:spPr>
          <a:xfrm>
            <a:off x="4850000" y="4847286"/>
            <a:ext cx="4700000" cy="1347473"/>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50000" rIns="70000" bIns="30000" rtlCol="0" anchor="t"/>
          <a:lstStyle/>
          <a:p>
            <a:pPr algn="l"/>
            <a:r>
              <a:rPr sz="1200" b="1" dirty="0" err="1">
                <a:solidFill>
                  <a:srgbClr val="1F3A5F"/>
                </a:solidFill>
                <a:latin typeface="メイリオ"/>
                <a:ea typeface="メイリオ"/>
              </a:rPr>
              <a:t>個別チャット運営</a:t>
            </a:r>
            <a:endParaRPr lang="en-US" sz="1200" b="1" dirty="0">
              <a:solidFill>
                <a:srgbClr val="1F3A5F"/>
              </a:solidFill>
              <a:latin typeface="メイリオ"/>
              <a:ea typeface="メイリオ"/>
            </a:endParaRPr>
          </a:p>
          <a:p>
            <a:pPr algn="l"/>
            <a:endParaRPr sz="800" b="1" dirty="0">
              <a:solidFill>
                <a:srgbClr val="1F3A5F"/>
              </a:solidFill>
              <a:latin typeface="メイリオ"/>
              <a:ea typeface="メイリオ"/>
            </a:endParaRPr>
          </a:p>
          <a:p>
            <a:pPr algn="l"/>
            <a:r>
              <a:rPr sz="1200" b="0" dirty="0" err="1">
                <a:solidFill>
                  <a:srgbClr val="333333"/>
                </a:solidFill>
                <a:latin typeface="メイリオ"/>
                <a:ea typeface="メイリオ"/>
              </a:rPr>
              <a:t>よくある質問＝KW自動応答／営業時間内は有人対応</a:t>
            </a:r>
            <a:endParaRPr sz="1200" b="0" dirty="0">
              <a:solidFill>
                <a:srgbClr val="333333"/>
              </a:solidFill>
              <a:latin typeface="メイリオ"/>
              <a:ea typeface="メイリオ"/>
            </a:endParaRPr>
          </a:p>
          <a:p>
            <a:pPr algn="l"/>
            <a:r>
              <a:rPr sz="1200" b="0" dirty="0" err="1">
                <a:solidFill>
                  <a:srgbClr val="333333"/>
                </a:solidFill>
                <a:latin typeface="メイリオ"/>
                <a:ea typeface="メイリオ"/>
              </a:rPr>
              <a:t>体験希望はチャット受付</a:t>
            </a:r>
            <a:r>
              <a:rPr sz="1200" b="0" dirty="0">
                <a:solidFill>
                  <a:srgbClr val="333333"/>
                </a:solidFill>
                <a:latin typeface="メイリオ"/>
                <a:ea typeface="メイリオ"/>
              </a:rPr>
              <a:t> → </a:t>
            </a:r>
            <a:r>
              <a:rPr sz="1200" b="0" dirty="0" err="1">
                <a:solidFill>
                  <a:srgbClr val="333333"/>
                </a:solidFill>
                <a:latin typeface="メイリオ"/>
                <a:ea typeface="メイリオ"/>
              </a:rPr>
              <a:t>店舗スタッフへトスアップ</a:t>
            </a:r>
            <a:endParaRPr sz="1200" b="0" dirty="0">
              <a:solidFill>
                <a:srgbClr val="333333"/>
              </a:solidFill>
              <a:latin typeface="メイリオ"/>
              <a:ea typeface="メイリオ"/>
            </a:endParaRPr>
          </a:p>
        </p:txBody>
      </p:sp>
      <p:sp>
        <p:nvSpPr>
          <p:cNvPr id="54" name="Rounded Rectangle 53"/>
          <p:cNvSpPr/>
          <p:nvPr/>
        </p:nvSpPr>
        <p:spPr>
          <a:xfrm>
            <a:off x="4840857" y="3388642"/>
            <a:ext cx="4700000" cy="1299529"/>
          </a:xfrm>
          <a:prstGeom prst="roundRect">
            <a:avLst/>
          </a:prstGeom>
          <a:solidFill>
            <a:srgbClr val="EEF1F5"/>
          </a:solidFill>
          <a:ln w="12700">
            <a:solidFill>
              <a:srgbClr val="7F8896"/>
            </a:solidFill>
          </a:ln>
          <a:effectLst/>
        </p:spPr>
        <p:style>
          <a:lnRef idx="1">
            <a:schemeClr val="accent1"/>
          </a:lnRef>
          <a:fillRef idx="3">
            <a:schemeClr val="accent1"/>
          </a:fillRef>
          <a:effectRef idx="2">
            <a:schemeClr val="accent1"/>
          </a:effectRef>
          <a:fontRef idx="minor">
            <a:schemeClr val="lt1"/>
          </a:fontRef>
        </p:style>
        <p:txBody>
          <a:bodyPr wrap="square" lIns="90000" tIns="40000" rIns="70000" rtlCol="0" anchor="t"/>
          <a:lstStyle/>
          <a:p>
            <a:r>
              <a:rPr sz="1200" b="1" dirty="0" err="1">
                <a:solidFill>
                  <a:srgbClr val="1F3A5F"/>
                </a:solidFill>
                <a:latin typeface="メイリオ"/>
                <a:ea typeface="メイリオ"/>
              </a:rPr>
              <a:t>導入ツール：役割別に選定</a:t>
            </a:r>
            <a:endParaRPr lang="en-US" sz="1200" b="1" dirty="0">
              <a:solidFill>
                <a:srgbClr val="1F3A5F"/>
              </a:solidFill>
              <a:latin typeface="メイリオ"/>
              <a:ea typeface="メイリオ"/>
            </a:endParaRPr>
          </a:p>
          <a:p>
            <a:endParaRPr sz="800" b="1" dirty="0">
              <a:solidFill>
                <a:srgbClr val="1F3A5F"/>
              </a:solidFill>
              <a:latin typeface="メイリオ"/>
              <a:ea typeface="メイリオ"/>
            </a:endParaRPr>
          </a:p>
          <a:p>
            <a:r>
              <a:rPr sz="1200" b="1" dirty="0" err="1">
                <a:solidFill>
                  <a:srgbClr val="333333"/>
                </a:solidFill>
                <a:latin typeface="メイリオ"/>
                <a:ea typeface="メイリオ"/>
              </a:rPr>
              <a:t>入口＝Sitelead（離脱防止ポップアップ</a:t>
            </a:r>
            <a:r>
              <a:rPr sz="1200" b="1" dirty="0">
                <a:solidFill>
                  <a:srgbClr val="333333"/>
                </a:solidFill>
                <a:latin typeface="メイリオ"/>
                <a:ea typeface="メイリオ"/>
              </a:rPr>
              <a:t>）※</a:t>
            </a:r>
            <a:r>
              <a:rPr sz="1200" b="1" dirty="0" err="1">
                <a:solidFill>
                  <a:srgbClr val="333333"/>
                </a:solidFill>
                <a:latin typeface="メイリオ"/>
                <a:ea typeface="メイリオ"/>
              </a:rPr>
              <a:t>別途費用</a:t>
            </a:r>
            <a:endParaRPr sz="1200" b="1" dirty="0">
              <a:solidFill>
                <a:srgbClr val="333333"/>
              </a:solidFill>
              <a:latin typeface="メイリオ"/>
              <a:ea typeface="メイリオ"/>
            </a:endParaRPr>
          </a:p>
          <a:p>
            <a:r>
              <a:rPr sz="1200" b="1" dirty="0" err="1">
                <a:solidFill>
                  <a:srgbClr val="333333"/>
                </a:solidFill>
                <a:latin typeface="メイリオ"/>
                <a:ea typeface="メイリオ"/>
              </a:rPr>
              <a:t>配信＝Lstep</a:t>
            </a:r>
            <a:r>
              <a:rPr sz="1200" b="1" dirty="0">
                <a:solidFill>
                  <a:srgbClr val="333333"/>
                </a:solidFill>
                <a:latin typeface="メイリオ"/>
                <a:ea typeface="メイリオ"/>
              </a:rPr>
              <a:t> </a:t>
            </a:r>
            <a:r>
              <a:rPr sz="1200" b="1" dirty="0" err="1">
                <a:solidFill>
                  <a:srgbClr val="333333"/>
                </a:solidFill>
                <a:latin typeface="メイリオ"/>
                <a:ea typeface="メイリオ"/>
              </a:rPr>
              <a:t>または</a:t>
            </a:r>
            <a:r>
              <a:rPr sz="1200" b="1" dirty="0">
                <a:solidFill>
                  <a:srgbClr val="333333"/>
                </a:solidFill>
                <a:latin typeface="メイリオ"/>
                <a:ea typeface="メイリオ"/>
              </a:rPr>
              <a:t> </a:t>
            </a:r>
            <a:r>
              <a:rPr sz="1200" b="1" dirty="0" err="1">
                <a:solidFill>
                  <a:srgbClr val="333333"/>
                </a:solidFill>
                <a:latin typeface="メイリオ"/>
                <a:ea typeface="メイリオ"/>
              </a:rPr>
              <a:t>Hachidori</a:t>
            </a:r>
            <a:r>
              <a:rPr sz="1200" b="1" dirty="0">
                <a:solidFill>
                  <a:srgbClr val="333333"/>
                </a:solidFill>
                <a:latin typeface="メイリオ"/>
                <a:ea typeface="メイリオ"/>
              </a:rPr>
              <a:t> </a:t>
            </a:r>
            <a:r>
              <a:rPr sz="1200" b="1" dirty="0" err="1">
                <a:solidFill>
                  <a:srgbClr val="333333"/>
                </a:solidFill>
                <a:latin typeface="メイリオ"/>
                <a:ea typeface="メイリオ"/>
              </a:rPr>
              <a:t>のどちらか一方を要件で選定</a:t>
            </a:r>
            <a:endParaRPr sz="1200" b="1" dirty="0">
              <a:solidFill>
                <a:srgbClr val="333333"/>
              </a:solidFill>
              <a:latin typeface="メイリオ"/>
              <a:ea typeface="メイリオ"/>
            </a:endParaRPr>
          </a:p>
          <a:p>
            <a:r>
              <a:rPr sz="1100" b="0" dirty="0" err="1">
                <a:solidFill>
                  <a:srgbClr val="333333"/>
                </a:solidFill>
                <a:latin typeface="メイリオ"/>
                <a:ea typeface="メイリオ"/>
              </a:rPr>
              <a:t>Lstep＝タグ・セグメント・ステップ自動化／Hachidori</a:t>
            </a:r>
            <a:endParaRPr lang="en-US" sz="1100" b="0" dirty="0">
              <a:solidFill>
                <a:srgbClr val="333333"/>
              </a:solidFill>
              <a:latin typeface="メイリオ"/>
              <a:ea typeface="メイリオ"/>
            </a:endParaRPr>
          </a:p>
          <a:p>
            <a:r>
              <a:rPr lang="ja-JP" altLang="en-US" sz="1100" b="0" dirty="0">
                <a:solidFill>
                  <a:srgbClr val="333333"/>
                </a:solidFill>
                <a:latin typeface="メイリオ"/>
                <a:ea typeface="メイリオ"/>
              </a:rPr>
              <a:t>＝</a:t>
            </a:r>
            <a:r>
              <a:rPr sz="1100" b="0" dirty="0" err="1">
                <a:solidFill>
                  <a:srgbClr val="333333"/>
                </a:solidFill>
                <a:latin typeface="メイリオ"/>
                <a:ea typeface="メイリオ"/>
              </a:rPr>
              <a:t>通知メッセ・保有リスト活用</a:t>
            </a:r>
            <a:endParaRPr sz="1100" b="0" dirty="0">
              <a:solidFill>
                <a:srgbClr val="333333"/>
              </a:solidFill>
              <a:latin typeface="メイリオ"/>
              <a:ea typeface="メイリオ"/>
            </a:endParaRPr>
          </a:p>
          <a:p>
            <a:r>
              <a:rPr sz="1100" b="0" dirty="0" err="1">
                <a:solidFill>
                  <a:srgbClr val="555555"/>
                </a:solidFill>
                <a:latin typeface="メイリオ"/>
                <a:ea typeface="メイリオ"/>
              </a:rPr>
              <a:t>既存CRMとのAPI連携も対応（特定ツールに依存しない</a:t>
            </a:r>
            <a:r>
              <a:rPr sz="1100" b="0" dirty="0">
                <a:solidFill>
                  <a:srgbClr val="555555"/>
                </a:solidFill>
                <a:latin typeface="メイリオ"/>
                <a:ea typeface="メイリオ"/>
              </a:rPr>
              <a:t>）</a:t>
            </a:r>
          </a:p>
        </p:txBody>
      </p:sp>
    </p:spTree>
    <p:extLst>
      <p:ext uri="{BB962C8B-B14F-4D97-AF65-F5344CB8AC3E}">
        <p14:creationId xmlns:p14="http://schemas.microsoft.com/office/powerpoint/2010/main" val="394375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具体施策①｜低ハードルCVでリードを大量獲得</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具体施策②｜保有リストの再活性化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具体施策③｜リピート・クロスセルの計画実行</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具体施策④｜チャット対応の簡略化・自動化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メイリオ" pitchFamily="34" charset="0"/>
              <a:ea typeface="メイリオ"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メイリオ"/>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メイリオ" panose="020F0302020204030204"/>
        <a:ea typeface="メイリオ"/>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メイリオ" panose="020F0502020204030204"/>
        <a:ea typeface="メイリオ"/>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146282</TotalTime>
  <Words>7633</Words>
  <Application>Microsoft Office PowerPoint</Application>
  <PresentationFormat>A4 210 x 297 mm</PresentationFormat>
  <Paragraphs>1711</Paragraphs>
  <Slides>43</Slides>
  <Notes>9</Notes>
  <HiddenSlides>5</HiddenSlides>
  <MMClips>0</MMClips>
  <ScaleCrop>false</ScaleCrop>
  <HeadingPairs>
    <vt:vector size="6" baseType="variant">
      <vt:variant>
        <vt:lpstr>使用されているフォント</vt:lpstr>
      </vt:variant>
      <vt:variant>
        <vt:i4>3</vt:i4>
      </vt:variant>
      <vt:variant>
        <vt:lpstr>テーマ</vt:lpstr>
      </vt:variant>
      <vt:variant>
        <vt:i4>2</vt:i4>
      </vt:variant>
      <vt:variant>
        <vt:lpstr>スライド タイトル</vt:lpstr>
      </vt:variant>
      <vt:variant>
        <vt:i4>43</vt:i4>
      </vt:variant>
    </vt:vector>
  </HeadingPairs>
  <TitlesOfParts>
    <vt:vector size="48" baseType="lpstr">
      <vt:lpstr>メイリオ</vt:lpstr>
      <vt:lpstr>Arial</vt:lpstr>
      <vt:lpstr>Calibri</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1962</cp:revision>
  <cp:lastPrinted>2022-11-01T11:38:14Z</cp:lastPrinted>
  <dcterms:created xsi:type="dcterms:W3CDTF">2015-09-04T09:21:15Z</dcterms:created>
  <dcterms:modified xsi:type="dcterms:W3CDTF">2026-09-09T01:49:52Z</dcterms:modified>
</cp:coreProperties>
</file>