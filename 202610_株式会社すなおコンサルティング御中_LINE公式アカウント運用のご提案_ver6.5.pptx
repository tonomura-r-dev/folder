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9.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988" r:id="rId4"/>
    <p:sldId id="2972" r:id="rId5"/>
    <p:sldId id="2971" r:id="rId6"/>
    <p:sldId id="2736" r:id="rId7"/>
    <p:sldId id="2976" r:id="rId8"/>
    <p:sldId id="3033" r:id="rId13"/>
    <p:sldId id="3026" r:id="rId9"/>
    <p:sldId id="2986" r:id="rId10"/>
    <p:sldId id="2761" r:id="rId14"/>
    <p:sldId id="3021" r:id="rId15"/>
    <p:sldId id="3008" r:id="rId16"/>
    <p:sldId id="2737" r:id="rId17"/>
    <p:sldId id="2979" r:id="rId18"/>
    <p:sldId id="3006" r:id="rId19"/>
    <p:sldId id="3027" r:id="rId20"/>
    <p:sldId id="2989" r:id="rId21"/>
    <p:sldId id="3015" r:id="rId22"/>
    <p:sldId id="3013" r:id="rId23"/>
    <p:sldId id="2957" r:id="rId24"/>
    <p:sldId id="3022" r:id="rId25"/>
    <p:sldId id="3031" r:id="rId26"/>
    <p:sldId id="3023" r:id="rId27"/>
    <p:sldId id="3024" r:id="rId28"/>
    <p:sldId id="3019" r:id="rId29"/>
    <p:sldId id="3032" r:id="rId30"/>
    <p:sldId id="3028" r:id="rId31"/>
    <p:sldId id="2970" r:id="rId32"/>
    <p:sldId id="2959" r:id="rId33"/>
    <p:sldId id="3025" r:id="rId34"/>
    <p:sldId id="2966" r:id="rId35"/>
    <p:sldId id="3029" r:id="rId36"/>
    <p:sldId id="3011" r:id="rId37"/>
    <p:sldId id="2734" r:id="rId38"/>
    <p:sldId id="2595" r:id="rId39"/>
    <p:sldId id="2566" r:id="rId40"/>
    <p:sldId id="2915" r:id="rId41"/>
    <p:sldId id="3030" r:id="rId42"/>
    <p:sldId id="2619" r:id="rId43"/>
    <p:sldId id="1169" r:id="rId44"/>
    <p:sldId id="2961" r:id="rId45"/>
    <p:sldId id="2908" r:id="rId46"/>
    <p:sldId id="2935" r:id="rId47"/>
    <p:sldId id="2919" r:id="rId48"/>
    <p:sldId id="2519" r:id="rId49"/>
    <p:sldId id="2931" r:id="rId50"/>
    <p:sldId id="2749" r:id="rId51"/>
    <p:sldId id="2950" r:id="rId52"/>
    <p:sldId id="2563" r:id="rId53"/>
    <p:sldId id="2968" r:id="rId54"/>
    <p:sldId id="2969" r:id="rId55"/>
    <p:sldId id="2951" r:id="rId56"/>
    <p:sldId id="2841" r:id="rId57"/>
    <p:sldId id="2849" r:id="rId58"/>
    <p:sldId id="2904" r:id="rId59"/>
    <p:sldId id="2905" r:id="rId60"/>
    <p:sldId id="2906" r:id="rId61"/>
    <p:sldId id="2907" r:id="rId62"/>
    <p:sldId id="2575" r:id="rId63"/>
    <p:sldId id="2910" r:id="rId64"/>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FDFDFD"/>
    <a:srgbClr val="173559"/>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3" Type="http://schemas.openxmlformats.org/officeDocument/2006/relationships/slide" Target="slides/slide60.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2026/10/20</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4272-5DA9-3CCF-23F3-9466DBC1B8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FD5C72-277A-86ED-D54E-FE626540E2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71F2ED-0463-0DB8-0277-A35A864B316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D54FEC3-6CD7-0B2F-7F8F-E9EA265B8458}"/>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35530082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20E-DA68-EF51-102C-8A8F426BC2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F3953B-7C5E-F4EE-4A6B-ED8A375555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937431-13FD-3E05-9A43-DCB7C90B899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2A18B0F-EA65-28D1-0695-DBC0FCD085B9}"/>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5089330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3B6B0-6587-3186-12B6-A952A7A5D12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BB0FD4-EC87-837C-B6C4-420DF35669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D00E3-9072-6B26-2C54-100B09DEBA1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F5CD577-5D30-A22F-CC79-63E4DE657085}"/>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32093741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66AA4-1AC1-0B6A-8DD3-54899EB2E2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4BF6DE-3BFF-29D8-3037-FBBE63C7FD8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3F9493-7009-9A31-DAE6-BB1112CC20A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6E5153-623E-955A-9E75-0EA3C02F1D85}"/>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2027802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192C0-1B1B-AD3F-B0C2-F33DAD8A2D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33AE9E-C7C9-D146-DD36-5849B111FD7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8A3C9A-42D2-B5D7-5F81-0F1CAB8FD4B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1D8EFF-3CFC-7207-CD2B-A2DC20DEDF1D}"/>
              </a:ext>
            </a:extLst>
          </p:cNvPr>
          <p:cNvSpPr>
            <a:spLocks noGrp="1"/>
          </p:cNvSpPr>
          <p:nvPr>
            <p:ph type="sldNum" sz="quarter" idx="10"/>
          </p:nvPr>
        </p:nvSpPr>
        <p:spPr/>
        <p:txBody>
          <a:bodyPr/>
          <a:lstStyle/>
          <a:p>
            <a:fld id="{022E43C0-6795-4B13-B37C-259C826D4B6A}" type="slidenum">
              <a:rPr kumimoji="1" lang="ja-JP" altLang="en-US" smtClean="0"/>
              <a:t>21</a:t>
            </a:fld>
            <a:endParaRPr kumimoji="1" lang="ja-JP" altLang="en-US"/>
          </a:p>
        </p:txBody>
      </p:sp>
    </p:spTree>
    <p:extLst>
      <p:ext uri="{BB962C8B-B14F-4D97-AF65-F5344CB8AC3E}">
        <p14:creationId xmlns:p14="http://schemas.microsoft.com/office/powerpoint/2010/main" val="33123719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87073-46E4-97E2-AA29-34C04E4216C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16C4E1-C336-7022-85BD-D0261416B8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802BD2-A4F7-3ACB-C314-CC3BD50FC0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C9B1FE-F22D-0B70-94D0-AC959C46242D}"/>
              </a:ext>
            </a:extLst>
          </p:cNvPr>
          <p:cNvSpPr>
            <a:spLocks noGrp="1"/>
          </p:cNvSpPr>
          <p:nvPr>
            <p:ph type="sldNum" sz="quarter" idx="10"/>
          </p:nvPr>
        </p:nvSpPr>
        <p:spPr/>
        <p:txBody>
          <a:bodyPr/>
          <a:lstStyle/>
          <a:p>
            <a:fld id="{022E43C0-6795-4B13-B37C-259C826D4B6A}" type="slidenum">
              <a:rPr kumimoji="1" lang="ja-JP" altLang="en-US" smtClean="0"/>
              <a:t>35</a:t>
            </a:fld>
            <a:endParaRPr kumimoji="1" lang="ja-JP" altLang="en-US"/>
          </a:p>
        </p:txBody>
      </p:sp>
    </p:spTree>
    <p:extLst>
      <p:ext uri="{BB962C8B-B14F-4D97-AF65-F5344CB8AC3E}">
        <p14:creationId xmlns:p14="http://schemas.microsoft.com/office/powerpoint/2010/main" val="28889650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42</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50</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jpeg"/><Relationship Id="rId8" Type="http://schemas.openxmlformats.org/officeDocument/2006/relationships/image" Target="../media/image21.jpg"/><Relationship Id="rId9" Type="http://schemas.openxmlformats.org/officeDocument/2006/relationships/image" Target="../media/image22.png"/><Relationship Id="rId10" Type="http://schemas.openxmlformats.org/officeDocument/2006/relationships/image" Target="../media/image23.png"/><Relationship Id="rId11" Type="http://schemas.openxmlformats.org/officeDocument/2006/relationships/hyperlink" Target="https://youtube.com/shorts/0qI4QgrOppQ"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 Id="rId10"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33.png"/><Relationship Id="rId4"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svg"/><Relationship Id="rId8" Type="http://schemas.openxmlformats.org/officeDocument/2006/relationships/image" Target="../media/image4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3.emf"/><Relationship Id="rId4" Type="http://schemas.openxmlformats.org/officeDocument/2006/relationships/image" Target="../media/image41.jpeg"/><Relationship Id="rId5" Type="http://schemas.openxmlformats.org/officeDocument/2006/relationships/image" Target="../media/image42.jpeg"/><Relationship Id="rId6" Type="http://schemas.openxmlformats.org/officeDocument/2006/relationships/image" Target="../media/image43.jpeg"/><Relationship Id="rId7" Type="http://schemas.openxmlformats.org/officeDocument/2006/relationships/image" Target="../media/image44.jpeg"/><Relationship Id="rId8" Type="http://schemas.openxmlformats.org/officeDocument/2006/relationships/image" Target="../media/image45.jpe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46.svg"/><Relationship Id="rId4" Type="http://schemas.openxmlformats.org/officeDocument/2006/relationships/image" Target="../media/image47.svg"/><Relationship Id="rId5" Type="http://schemas.openxmlformats.org/officeDocument/2006/relationships/image" Target="../media/image48.svg"/><Relationship Id="rId6" Type="http://schemas.openxmlformats.org/officeDocument/2006/relationships/image" Target="../media/image49.sv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jpe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image" Target="../media/image6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6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331720"/>
            <a:ext cx="6626632" cy="658368"/>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広告で集めた見込み客をLINEで育成し、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次のセミナー参加・サロン入会へ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A461DC58-6517-316F-E5FE-0F7AB1043C43}"/>
              </a:ext>
            </a:extLst>
          </p:cNvPr>
          <p:cNvSpPr txBox="1"/>
          <p:nvPr/>
        </p:nvSpPr>
        <p:spPr>
          <a:xfrm>
            <a:off x="365759" y="216290"/>
            <a:ext cx="5233851" cy="338554"/>
          </a:xfrm>
          <a:prstGeom prst="rect">
            <a:avLst/>
          </a:prstGeom>
          <a:noFill/>
        </p:spPr>
        <p:txBody>
          <a:bodyPr wrap="square">
            <a:spAutoFit/>
          </a:bodyP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株式会社すなおコンサルティング 御中</a:t>
            </a:r>
            <a:endParaRPr lang="ja-JP" altLang="en-US" sz="1050" dirty="0">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A891A-F874-A527-E24E-39C71E4366C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現状把握・課題</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631432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5" y="2249778"/>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8" name="正方形/長方形 27">
            <a:extLst>
              <a:ext uri="{FF2B5EF4-FFF2-40B4-BE49-F238E27FC236}">
                <a16:creationId xmlns:a16="http://schemas.microsoft.com/office/drawing/2014/main" id="{985D0F3D-E958-2764-0030-33A43FBBB844}"/>
              </a:ext>
            </a:extLst>
          </p:cNvPr>
          <p:cNvSpPr/>
          <p:nvPr/>
        </p:nvSpPr>
        <p:spPr>
          <a:xfrm>
            <a:off x="377495" y="3168907"/>
            <a:ext cx="9425943" cy="12803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386385"/>
            <a:ext cx="1868110"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380906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5" y="3170605"/>
            <a:ext cx="2157994" cy="253916"/>
          </a:xfrm>
          <a:prstGeom prst="rect">
            <a:avLst/>
          </a:prstGeom>
          <a:no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rPr>
              <a:t>&lt;</a:t>
            </a:r>
            <a:r>
              <a:rPr lang="ja-JP" altLang="en-US" sz="1050" b="1" dirty="0">
                <a:latin typeface="メイリオ" panose="020B0604030504040204" pitchFamily="50" charset="-128"/>
                <a:ea typeface="メイリオ" panose="020B0604030504040204" pitchFamily="50" charset="-128"/>
                <a:cs typeface="メイリオ"/>
              </a:rPr>
              <a:t>貴社のユーザー動線イメージ</a:t>
            </a:r>
            <a:r>
              <a:rPr lang="en-US" altLang="ja-JP" sz="1050" b="1" dirty="0">
                <a:latin typeface="メイリオ" panose="020B0604030504040204" pitchFamily="50" charset="-128"/>
                <a:ea typeface="メイリオ" panose="020B0604030504040204" pitchFamily="50" charset="-128"/>
                <a:cs typeface="メイリオ"/>
              </a:rPr>
              <a:t>&gt;</a:t>
            </a:r>
            <a:endParaRPr lang="ja-JP" altLang="en-US" sz="1050" b="1" dirty="0">
              <a:latin typeface="メイリオ" panose="020B0604030504040204" pitchFamily="50" charset="-128"/>
              <a:ea typeface="メイリオ" panose="020B0604030504040204" pitchFamily="50" charset="-128"/>
              <a:cs typeface="メイリオ"/>
            </a:endParaRPr>
          </a:p>
        </p:txBody>
      </p:sp>
      <p:sp>
        <p:nvSpPr>
          <p:cNvPr id="24" name="テキスト ボックス 23">
            <a:extLst>
              <a:ext uri="{FF2B5EF4-FFF2-40B4-BE49-F238E27FC236}">
                <a16:creationId xmlns:a16="http://schemas.microsoft.com/office/drawing/2014/main" id="{86D765FE-5D14-B727-20F8-7C773D684C03}"/>
              </a:ext>
            </a:extLst>
          </p:cNvPr>
          <p:cNvSpPr txBox="1"/>
          <p:nvPr/>
        </p:nvSpPr>
        <p:spPr>
          <a:xfrm>
            <a:off x="3542137" y="367047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54872F58-9C7B-BF3F-8FD6-90758592757B}"/>
              </a:ext>
            </a:extLst>
          </p:cNvPr>
          <p:cNvSpPr txBox="1"/>
          <p:nvPr/>
        </p:nvSpPr>
        <p:spPr>
          <a:xfrm>
            <a:off x="7408050" y="2697616"/>
            <a:ext cx="2352196" cy="4001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71A37862-DC0D-FFB9-A4C0-DFCD839440E7}"/>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23" name="テキスト ボックス 22">
            <a:extLst>
              <a:ext uri="{FF2B5EF4-FFF2-40B4-BE49-F238E27FC236}">
                <a16:creationId xmlns:a16="http://schemas.microsoft.com/office/drawing/2014/main" id="{687CD251-15DA-69B7-5940-0B47AE7838C7}"/>
              </a:ext>
            </a:extLst>
          </p:cNvPr>
          <p:cNvSpPr txBox="1"/>
          <p:nvPr/>
        </p:nvSpPr>
        <p:spPr>
          <a:xfrm>
            <a:off x="1268357" y="2262194"/>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広告で新しい見込み客を集め、LINEで継続的に育成し、</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次回イベント・サロン入会へつなげる動線を、8フェーズで整理する。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10" name="正方形/長方形 9">
            <a:extLst>
              <a:ext uri="{FF2B5EF4-FFF2-40B4-BE49-F238E27FC236}">
                <a16:creationId xmlns:a16="http://schemas.microsoft.com/office/drawing/2014/main" id="{BC3DB233-2109-75A0-E58B-5975C2C6368D}"/>
              </a:ext>
            </a:extLst>
          </p:cNvPr>
          <p:cNvSpPr/>
          <p:nvPr/>
        </p:nvSpPr>
        <p:spPr>
          <a:xfrm>
            <a:off x="377494" y="4594042"/>
            <a:ext cx="9425943" cy="1545908"/>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solidFill>
                  <a:schemeClr val="tx1"/>
                </a:solidFill>
                <a:latin typeface="メイリオ" panose="020B0604030504040204" pitchFamily="50" charset="-128"/>
                <a:ea typeface="メイリオ" panose="020B0604030504040204" pitchFamily="50" charset="-128"/>
                <a:cs typeface="メイリオ"/>
              </a:rPr>
              <a:t>サービス特性として、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kumimoji="1"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ターゲット</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：保険営業の方向けのセミナー・サロンが主軸（一般の方向けのマネーセミナーもあり）</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商材・サービス</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セミナー参加の段階では費用の不安は小さく、金額の判断はサロン入会の段階</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【イベントは年4回】 </a:t>
            </a:r>
            <a:r>
              <a:rPr lang="ja-JP" altLang="en-US" sz="1200" dirty="0">
                <a:solidFill>
                  <a:schemeClr val="tx1"/>
                </a:solidFill>
                <a:latin typeface="メイリオ" panose="020B0604030504040204" pitchFamily="50" charset="-128"/>
                <a:ea typeface="メイリオ" panose="020B0604030504040204" pitchFamily="50" charset="-128"/>
                <a:cs typeface="メイリオ"/>
              </a:rPr>
              <a:t>：イベントの間の時期にも、継続して情報を届けることが重要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en-US" altLang="ja-JP" sz="1200" b="1" dirty="0" err="1">
                <a:solidFill>
                  <a:schemeClr val="tx1"/>
                </a:solidFill>
                <a:latin typeface="メイリオ" panose="020B0604030504040204" pitchFamily="50" charset="-128"/>
                <a:ea typeface="メイリオ" panose="020B0604030504040204" pitchFamily="50" charset="-128"/>
                <a:cs typeface="メイリオ"/>
              </a:rPr>
              <a:t>広告</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a:t>
            </a:r>
            <a:r>
              <a:rPr lang="en-US" altLang="ja-JP" sz="1200" dirty="0">
                <a:solidFill>
                  <a:schemeClr val="tx1"/>
                </a:solidFill>
                <a:latin typeface="メイリオ" panose="020B0604030504040204" pitchFamily="50" charset="-128"/>
                <a:ea typeface="メイリオ" panose="020B0604030504040204" pitchFamily="50" charset="-128"/>
                <a:cs typeface="メイリオ"/>
              </a:rPr>
              <a:t> </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セミナー予約</a:t>
            </a:r>
            <a:r>
              <a:rPr lang="ja-JP" altLang="en-US" sz="1200" dirty="0">
                <a:solidFill>
                  <a:schemeClr val="tx1"/>
                </a:solidFill>
                <a:latin typeface="メイリオ" panose="020B0604030504040204" pitchFamily="50" charset="-128"/>
                <a:ea typeface="メイリオ" panose="020B0604030504040204" pitchFamily="50" charset="-128"/>
                <a:cs typeface="メイリオ"/>
              </a:rPr>
              <a:t>者</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を集めている</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という特性から、</a:t>
            </a:r>
            <a:r>
              <a:rPr lang="ja-JP" altLang="en-US" sz="1200" b="1" dirty="0">
                <a:solidFill>
                  <a:srgbClr val="1F2A5C"/>
                </a:solidFill>
                <a:latin typeface="メイリオ" panose="020B0604030504040204" pitchFamily="50" charset="-128"/>
                <a:ea typeface="メイリオ" panose="020B0604030504040204" pitchFamily="50" charset="-128"/>
                <a:cs typeface="メイリオ"/>
              </a:rPr>
              <a:t>集めた方と、次のイベント・入会まで接点を持ち続けること</a:t>
            </a:r>
            <a:r>
              <a:rPr lang="ja-JP" altLang="en-US" sz="1200" dirty="0">
                <a:solidFill>
                  <a:schemeClr val="tx1"/>
                </a:solidFill>
                <a:latin typeface="メイリオ" panose="020B0604030504040204" pitchFamily="50" charset="-128"/>
                <a:ea typeface="メイリオ" panose="020B0604030504040204" pitchFamily="50" charset="-128"/>
                <a:cs typeface="メイリオ"/>
              </a:rPr>
              <a:t>はメリットにつながる。</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4" y="2496774"/>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p:cNvCxnSpPr>
          <p:nvPr/>
        </p:nvCxnSpPr>
        <p:spPr>
          <a:xfrm rot="5400000" flipH="1" flipV="1">
            <a:off x="4264071" y="2454256"/>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4" y="2498472"/>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714703"/>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1" name="テキスト ボックス 10">
            <a:extLst>
              <a:ext uri="{FF2B5EF4-FFF2-40B4-BE49-F238E27FC236}">
                <a16:creationId xmlns:a16="http://schemas.microsoft.com/office/drawing/2014/main" id="{2393C1D2-496B-1648-5EFD-E8E0242ED7FD}"/>
              </a:ext>
            </a:extLst>
          </p:cNvPr>
          <p:cNvSpPr txBox="1"/>
          <p:nvPr/>
        </p:nvSpPr>
        <p:spPr>
          <a:xfrm>
            <a:off x="7408050" y="4096480"/>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LP（セミナー申込みページ）ステータス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広告でセミナー予約を獲得（1回 約8</a:t>
            </a:r>
            <a:r>
              <a:rPr lang="en-US" altLang="ja-JP" sz="1050" dirty="0">
                <a:latin typeface="メイリオ" panose="020B0604030504040204" pitchFamily="50" charset="-128"/>
                <a:ea typeface="メイリオ" panose="020B0604030504040204" pitchFamily="50" charset="-128"/>
                <a:cs typeface="メイリオ"/>
              </a:rPr>
              <a:t>0</a:t>
            </a:r>
            <a:r>
              <a:rPr lang="ja-JP" altLang="en-US" sz="1050" dirty="0">
                <a:latin typeface="メイリオ" panose="020B0604030504040204" pitchFamily="50" charset="-128"/>
                <a:ea typeface="メイリオ" panose="020B0604030504040204" pitchFamily="50" charset="-128"/>
                <a:cs typeface="メイリオ"/>
              </a:rPr>
              <a:t>件・CPA 約26,0</a:t>
            </a:r>
            <a:r>
              <a:rPr lang="en-US" altLang="ja-JP" sz="1050" dirty="0">
                <a:latin typeface="メイリオ" panose="020B0604030504040204" pitchFamily="50" charset="-128"/>
                <a:ea typeface="メイリオ" panose="020B0604030504040204" pitchFamily="50" charset="-128"/>
                <a:cs typeface="メイリオ"/>
              </a:rPr>
              <a:t>00</a:t>
            </a:r>
            <a:r>
              <a:rPr lang="ja-JP" altLang="en-US" sz="1050" dirty="0">
                <a:latin typeface="メイリオ" panose="020B0604030504040204" pitchFamily="50" charset="-128"/>
                <a:ea typeface="メイリオ" panose="020B0604030504040204" pitchFamily="50" charset="-128"/>
                <a:cs typeface="メイリオ"/>
              </a:rPr>
              <a:t>円）。</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接点を次回イベントまで継続できる仕組みを強化する。</a:t>
            </a:r>
            <a:endParaRPr lang="en-US" altLang="ja-JP" sz="105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LINE公式アカウントを、</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見込み客との継続的な接点として活用できる。</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LP 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4908654"/>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※1回のイベントの数値。LP UUは</a:t>
            </a: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広告のクリック数からの想定数値。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うち広告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17317" y="455097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17317" y="423495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17317" y="391892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イベント開催</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CV数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3,000</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535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約3,000</a:t>
            </a: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約210万円</a:t>
            </a: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11624" y="455639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広告</a:t>
            </a: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11624" y="424037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Facebookグループ</a:t>
            </a: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11624" y="3924345"/>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年4回</a:t>
            </a: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71256"/>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80件</a:t>
            </a: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セミナー予約</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なし</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pic>
        <p:nvPicPr>
          <p:cNvPr id="192" name="Picture 191" descr="sunao_lp_firstview.png"/>
          <p:cNvPicPr>
            <a:picLocks noChangeAspect="1"/>
          </p:cNvPicPr>
          <p:nvPr/>
        </p:nvPicPr>
        <p:blipFill>
          <a:blip r:embed="rId4"/>
          <a:stretch>
            <a:fillRect/>
          </a:stretch>
        </p:blipFill>
        <p:spPr>
          <a:xfrm>
            <a:off x="507335" y="2271233"/>
            <a:ext cx="1557206" cy="2637933"/>
          </a:xfrm>
          <a:prstGeom prst="rect">
            <a:avLst/>
          </a:prstGeom>
        </p:spPr>
      </p:pic>
      <p:sp>
        <p:nvSpPr>
          <p:cNvPr id="2" name="テキスト ボックス 1">
            <a:extLst>
              <a:ext uri="{FF2B5EF4-FFF2-40B4-BE49-F238E27FC236}">
                <a16:creationId xmlns:a16="http://schemas.microsoft.com/office/drawing/2014/main" id="{3F83FE19-1018-A2D8-4032-86D45BF09F48}"/>
              </a:ext>
            </a:extLst>
          </p:cNvPr>
          <p:cNvSpPr txBox="1"/>
          <p:nvPr/>
        </p:nvSpPr>
        <p:spPr>
          <a:xfrm>
            <a:off x="1282764" y="767248"/>
            <a:ext cx="7340471" cy="369332"/>
          </a:xfrm>
          <a:prstGeom prst="rect">
            <a:avLst/>
          </a:prstGeom>
          <a:noFill/>
        </p:spPr>
        <p:txBody>
          <a:bodyPr wrap="none" rtlCol="0">
            <a:spAutoFit/>
          </a:bodyPr>
          <a:lstStyle/>
          <a:p>
            <a:r>
              <a:rPr kumimoji="1" lang="ja-JP" altLang="en-US" b="1" dirty="0">
                <a:latin typeface="メイリオ" panose="020B0604030504040204" pitchFamily="50" charset="-128"/>
                <a:ea typeface="メイリオ" panose="020B0604030504040204" pitchFamily="50" charset="-128"/>
              </a:rPr>
              <a:t>集めた見込み客との接点を次回イベントまで続ける仕組みを強化する</a:t>
            </a:r>
          </a:p>
        </p:txBody>
      </p:sp>
    </p:spTree>
    <p:extLst>
      <p:ext uri="{BB962C8B-B14F-4D97-AF65-F5344CB8AC3E}">
        <p14:creationId xmlns:p14="http://schemas.microsoft.com/office/powerpoint/2010/main" val="23784845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市場・ユーザー・競合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8DBEE-A033-E538-7B67-FCA6549C3DF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研修・学びの市場：営業職の学び直しのニーズが伸びている</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企業の研修への投資も、個人がお金を払って学ぶ市場も伸びている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nvGraphicFramePr>
        <p:xfrm>
          <a:off x="420624" y="1645920"/>
          <a:ext cx="9052560" cy="265684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企業向け研修サービス市場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6,075億円（前年度比3.7%増）。2026年度は6,300億円の予測</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企業の人材育成への投資は増えている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eラーニング市場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3,924億円（前年度比2.7%増）。法人向け 1,294億円（4.7%増）・個人向け 2,630億円（1.7%増）。個人向けは資格関連の伸びで3年ぶりのプラス</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個人がお金を払って学ぶ市場も、再び伸び始めている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オンラインサロン</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最大手のDMMオンラインサロンの流通総額は2024年度 約60億円。シェアは61.9%（2021年度は51.4%）</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有料のオンラインコミュニティで学ぶ形が定着している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保険営業の方の接触回数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コロナ前と比べ、接触回数が「減少した」営業職員が55.5%（2023年調査）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限られた面談で成果を出すやり方を学ぶ必要がある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2" name="示唆"/>
          <p:cNvSpPr/>
          <p:nvPr/>
        </p:nvSpPr>
        <p:spPr>
          <a:xfrm>
            <a:off x="420624" y="446735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学びたい方は増えている。そのため、セミナーで出会った方とLINEでつながり、次のセミナー・サロンの入会まで案内を続けることが重要。</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※企業向け研修サービス市場：矢野経済研究所（2026年8月24日）／eラーニング市場：矢野経済研究所（2026年4月22日。2025年度は見込み）／オンラインサロン：DMM.com発表（2025年11月14日。調査：デロイト トーマツ ミック経済研究所）／接触回数：矢野経済研究所「生命保険の営業職員アンケート調査」（2023年4〜6月、生命保険の営業職員400名）</a:t>
            </a:r>
            <a:endParaRPr lang="ja-JP" altLang="en-US" sz="1200" dirty="0"/>
          </a:p>
        </p:txBody>
      </p:sp>
    </p:spTree>
    <p:extLst>
      <p:ext uri="{BB962C8B-B14F-4D97-AF65-F5344CB8AC3E}">
        <p14:creationId xmlns:p14="http://schemas.microsoft.com/office/powerpoint/2010/main" val="2544728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ターゲット：保険営業の方が主軸。一般の方向けも考慮</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対象によって、関心のある内容と申込先が異なる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ターゲット 49"/>
          <p:cNvGraphicFramePr>
            <a:graphicFrameLocks noGrp="1"/>
          </p:cNvGraphicFramePr>
          <p:nvPr>
            <p:extLst>
              <p:ext uri="{D42A27DB-BD31-4B8C-83A1-F6EECF244321}">
                <p14:modId xmlns:p14="http://schemas.microsoft.com/office/powerpoint/2010/main" val="3482478621"/>
              </p:ext>
            </p:extLst>
          </p:nvPr>
        </p:nvGraphicFramePr>
        <p:xfrm>
          <a:off x="420624" y="1645920"/>
          <a:ext cx="9052559" cy="2633472"/>
        </p:xfrm>
        <a:graphic>
          <a:graphicData uri="http://schemas.openxmlformats.org/drawingml/2006/table">
            <a:tbl>
              <a:tblPr/>
              <a:tblGrid>
                <a:gridCol w="19202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保険営業の方（主軸）</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一般の方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主な関心</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営業力の向上（面談・提案の進め方）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資産形成・お金の知識</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主な申込先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生産性4倍セミナー → オンラインサロン「ハッピーライフ」</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資産形成・マネーセミナー等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LINEで届ける内容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セミナーの見どころ・受講生の声・サロンのご案内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マネーセミナー等のご案内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出し分けの基本</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保険営業の方向けのLPから友だち追加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一般の方向けの申込みページ等から</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bl>
          </a:graphicData>
        </a:graphic>
      </p:graphicFrame>
      <p:sp>
        <p:nvSpPr>
          <p:cNvPr id="51" name="示唆 線"/>
          <p:cNvSpPr/>
          <p:nvPr/>
        </p:nvSpPr>
        <p:spPr>
          <a:xfrm>
            <a:off x="420624" y="4526280"/>
            <a:ext cx="64008" cy="1097280"/>
          </a:xfrm>
          <a:prstGeom prst="rect">
            <a:avLst/>
          </a:prstGeom>
          <a:solidFill>
            <a:srgbClr val="1F2A5C"/>
          </a:solidFill>
          <a:ln>
            <a:noFill/>
          </a:ln>
        </p:spPr>
        <p:txBody>
          <a:bodyPr wrap="square" lIns="73152" tIns="36576" rIns="73152" bIns="36576" rtlCol="0" anchor="ctr">
            <a:noAutofit/>
          </a:bodyPr>
          <a:lstStyle/>
          <a:p>
            <a:pPr algn="l">
              <a:buNone/>
            </a:pPr>
            <a:endParaRPr lang="ja-JP" altLang="en-US" sz="1200" dirty="0">
              <a:latin typeface="メイリオ"/>
              <a:ea typeface="メイリオ"/>
              <a:cs typeface="メイリオ"/>
            </a:endParaRPr>
          </a:p>
        </p:txBody>
      </p:sp>
      <p:sp>
        <p:nvSpPr>
          <p:cNvPr id="52" name="示唆"/>
          <p:cNvSpPr/>
          <p:nvPr/>
        </p:nvSpPr>
        <p:spPr>
          <a:xfrm>
            <a:off x="484632" y="4526280"/>
            <a:ext cx="8988552" cy="109728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示唆</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同じLINE公式アカウントで運用する場合は、友だち追加の流入経路（どのページから追加したか）で出し分ける。</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一般の方向けセミナーの参加者には、保険営業の方向けサロンへの入会を前提にした案内はしない。</a:t>
            </a:r>
            <a:endParaRPr lang="ja-JP" altLang="en-US" sz="1200" dirty="0">
              <a:latin typeface="メイリオ"/>
              <a:ea typeface="メイリオ"/>
              <a:cs typeface="メイリオ"/>
            </a:endParaRPr>
          </a:p>
        </p:txBody>
      </p:sp>
      <p:sp>
        <p:nvSpPr>
          <p:cNvPr id="53" name="注記"/>
          <p:cNvSpPr/>
          <p:nvPr/>
        </p:nvSpPr>
        <p:spPr>
          <a:xfrm>
            <a:off x="420624" y="589788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※流入経路で分けられない方には、どちらにも当てはまる内容（開催のお知らせなど）を基本に配信</a:t>
            </a:r>
            <a:endParaRPr lang="ja-JP" altLang="en-US" sz="1200" dirty="0">
              <a:latin typeface="メイリオ"/>
              <a:ea typeface="メイリオ"/>
              <a:cs typeface="メイリオ"/>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3E23-EB7F-D169-38DE-98B27F305DB6}"/>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C62F92F0-EE46-60C0-E453-43E26B4DBD66}"/>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ニーズ調査（業界</a:t>
            </a:r>
            <a:r>
              <a:rPr lang="en-US" altLang="ja-JP" sz="1600" b="1" dirty="0">
                <a:solidFill>
                  <a:srgbClr val="002060"/>
                </a:solidFill>
                <a:latin typeface="メイリオ"/>
                <a:ea typeface="メイリオ"/>
                <a:cs typeface="メイリオ"/>
                <a:sym typeface="Meiryo"/>
              </a:rPr>
              <a:t>STUDY</a:t>
            </a:r>
            <a:r>
              <a:rPr lang="ja-JP" altLang="en-US" sz="1600" b="1" dirty="0">
                <a:solidFill>
                  <a:srgbClr val="002060"/>
                </a:solidFill>
                <a:latin typeface="メイリオ"/>
                <a:ea typeface="メイリオ"/>
                <a:cs typeface="メイリオ"/>
                <a:sym typeface="Meiryo"/>
              </a:rPr>
              <a:t>）　＞　貴社施策内で検討の訴求軸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保険営業の方向けの他社も、LINEで特典や学びを届けている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他社のLINE 49"/>
          <p:cNvGraphicFramePr>
            <a:graphicFrameLocks noGrp="1"/>
          </p:cNvGraphicFramePr>
          <p:nvPr/>
        </p:nvGraphicFramePr>
        <p:xfrm>
          <a:off x="420624" y="1645920"/>
          <a:ext cx="6492240" cy="2194560"/>
        </p:xfrm>
        <a:graphic>
          <a:graphicData uri="http://schemas.openxmlformats.org/drawingml/2006/table">
            <a:tbl>
              <a:tblPr/>
              <a:tblGrid>
                <a:gridCol w="16002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他社</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サービス</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LINEでしていること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野沢塾</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保険営業の方向けの講座（月2回）</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サイトのボタンから友だち追加。あいさつで特典の動画を届ける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R&amp;C保険営業ラボ</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保険営業の方向けの無料の学習サービス（2026年9月開始）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登録時の5問のアンケートに合わせて、資料・動画を段階的に配信</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bl>
          </a:graphicData>
        </a:graphic>
      </p:graphicFrame>
      <p:sp>
        <p:nvSpPr>
          <p:cNvPr id="51" name="貴社の訴求軸 見出し"/>
          <p:cNvSpPr/>
          <p:nvPr/>
        </p:nvSpPr>
        <p:spPr>
          <a:xfrm>
            <a:off x="420624" y="4160520"/>
            <a:ext cx="182880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貴社の訴求軸</a:t>
            </a:r>
            <a:endParaRPr lang="ja-JP" altLang="en-US" sz="1200" dirty="0"/>
          </a:p>
        </p:txBody>
      </p:sp>
      <p:sp>
        <p:nvSpPr>
          <p:cNvPr id="52" name="貴社の訴求軸"/>
          <p:cNvSpPr/>
          <p:nvPr/>
        </p:nvSpPr>
        <p:spPr>
          <a:xfrm>
            <a:off x="420624" y="4471416"/>
            <a:ext cx="6492240" cy="822960"/>
          </a:xfrm>
          <a:prstGeom prst="rect">
            <a:avLst/>
          </a:prstGeom>
          <a:solidFill>
            <a:srgbClr val="EEF1F8"/>
          </a:solidFill>
          <a:ln w="9525">
            <a:solidFill>
              <a:srgbClr val="1F2A5C"/>
            </a:solidFill>
          </a:ln>
        </p:spPr>
        <p:txBody>
          <a:bodyPr wrap="square" lIns="73152" tIns="36576" rIns="73152" bIns="36576" rtlCol="0" anchor="ctr">
            <a:noAutofit/>
          </a:bodyPr>
          <a:lstStyle/>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イベントの予約・参加に合わせて、案内を変える</a:t>
            </a:r>
            <a:endParaRPr lang="ja-JP" altLang="en-US" sz="1200" dirty="0"/>
          </a:p>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参加後は、サロンの入会へつなげる</a:t>
            </a:r>
            <a:endParaRPr lang="ja-JP" altLang="en-US" sz="1200" dirty="0"/>
          </a:p>
        </p:txBody>
      </p:sp>
      <p:pic>
        <p:nvPicPr>
          <p:cNvPr id="53" name="Picture 52" descr="image.png"/>
          <p:cNvPicPr>
            <a:picLocks noChangeAspect="1"/>
          </p:cNvPicPr>
          <p:nvPr/>
        </p:nvPicPr>
        <p:blipFill>
          <a:blip r:embed="rId3"/>
          <a:stretch>
            <a:fillRect/>
          </a:stretch>
        </p:blipFill>
        <p:spPr>
          <a:xfrm>
            <a:off x="7492936" y="1645920"/>
            <a:ext cx="1583054" cy="3429000"/>
          </a:xfrm>
          <a:prstGeom prst="rect">
            <a:avLst/>
          </a:prstGeom>
        </p:spPr>
      </p:pic>
      <p:sp>
        <p:nvSpPr>
          <p:cNvPr id="54" name="画像の説明"/>
          <p:cNvSpPr/>
          <p:nvPr/>
        </p:nvSpPr>
        <p:spPr>
          <a:xfrm>
            <a:off x="6995160" y="5120640"/>
            <a:ext cx="2560320" cy="228600"/>
          </a:xfrm>
          <a:prstGeom prst="rect">
            <a:avLst/>
          </a:prstGeom>
          <a:noFill/>
          <a:ln>
            <a:noFill/>
          </a:ln>
        </p:spPr>
        <p:txBody>
          <a:bodyPr wrap="square" lIns="0" tIns="0" rIns="0" bIns="0" rtlCol="0" anchor="t">
            <a:noAutofit/>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野沢塾のあいさつ（LINE公式アカウント）</a:t>
            </a:r>
            <a:endParaRPr lang="ja-JP" altLang="en-US" sz="1200" dirty="0"/>
          </a:p>
        </p:txBody>
      </p:sp>
      <p:sp>
        <p:nvSpPr>
          <p:cNvPr id="55"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※野沢塾：LINE公式アカウント（2026年10月19日確認）・公式サイト（2026年10月18日確認）より。画面の名前とパスワードは伏せている</a:t>
            </a:r>
            <a:endParaRPr lang="ja-JP" altLang="en-US" sz="1200" dirty="0"/>
          </a:p>
          <a:p>
            <a:pPr algn="l">
              <a:buNone/>
            </a:pPr>
            <a:r>
              <a:rPr lang="ja-JP" altLang="en-US" sz="900" b="0" dirty="0">
                <a:solidFill>
                  <a:srgbClr val="7F7F7F"/>
                </a:solidFill>
                <a:latin typeface="メイリオ" panose="020B0604030504040204" pitchFamily="50" charset="-128"/>
                <a:ea typeface="メイリオ" panose="020B0604030504040204" pitchFamily="50" charset="-128"/>
              </a:rPr>
              <a:t>※R&amp;C保険営業ラボ：R&amp;C株式会社のプレスリリースより。招待制のため、画面は未掲載</a:t>
            </a:r>
            <a:endParaRPr lang="ja-JP" altLang="en-US" sz="1200" dirty="0"/>
          </a:p>
        </p:txBody>
      </p:sp>
    </p:spTree>
    <p:extLst>
      <p:ext uri="{BB962C8B-B14F-4D97-AF65-F5344CB8AC3E}">
        <p14:creationId xmlns:p14="http://schemas.microsoft.com/office/powerpoint/2010/main" val="18614068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841248" y="3038203"/>
            <a:ext cx="8229600"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なぜLINE公式アカウントなのか</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広告で新規見込み客を集め、LINEで関係を積み上げる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graphicFrame>
        <p:nvGraphicFramePr>
          <p:cNvPr id="5" name="広告とLINEの役割 4"/>
          <p:cNvGraphicFramePr>
            <a:graphicFrameLocks noGrp="1"/>
          </p:cNvGraphicFramePr>
          <p:nvPr/>
        </p:nvGraphicFramePr>
        <p:xfrm>
          <a:off x="502920" y="1508760"/>
          <a:ext cx="8897112" cy="2206752"/>
        </p:xfrm>
        <a:graphic>
          <a:graphicData uri="http://schemas.openxmlformats.org/drawingml/2006/table">
            <a:tbl>
              <a:tblPr/>
              <a:tblGrid>
                <a:gridCol w="182880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gridCol w="3547872">
                  <a:extLst>
                    <a:ext uri="{9D8B030D-6E8A-4147-A177-3AD203B41FA5}">
                      <a16:colId xmlns:a16="http://schemas.microsoft.com/office/drawing/2014/main" val="20002"/>
                    </a:ext>
                  </a:extLst>
                </a:gridCol>
              </a:tblGrid>
              <a:tr h="365760">
                <a:tc>
                  <a:txBody>
                    <a:bodyPr/>
                    <a:lstStyle/>
                    <a:p>
                      <a:pPr algn="l">
                        <a:buNone/>
                      </a:pPr>
                      <a:endParaRPr lang="ja-JP" altLang="en-US" sz="1300" dirty="0">
                        <a:latin typeface="メイリオ"/>
                        <a:ea typeface="メイリオ"/>
                        <a:cs typeface="メイリオ"/>
                      </a:endParaRPr>
                    </a:p>
                  </a:txBody>
                  <a:tcPr marL="109728"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300" dirty="0">
                        <a:latin typeface="メイリオ"/>
                        <a:ea typeface="メイリオ"/>
                        <a:cs typeface="メイリオ"/>
                      </a:endParaRPr>
                    </a:p>
                  </a:txBody>
                  <a:tcPr marL="109728" marT="36576" marB="36576" anchor="ctr">
                    <a:lnL w="9525" cap="flat" cmpd="sng" algn="ctr">
                      <a:solidFill>
                        <a:srgbClr val="FFFFFF"/>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4572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役割</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新しい見込み客との接点を獲得する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一度つながった見込み客に、継続して情報を届ける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主に届く相手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まだつながっていない方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友だち追加した方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届けられる時期</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広告を配信している期間</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イベント期も、イベントのない期間も</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積み上がるもの</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セミナー予約などの反響</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友だち（次回以降も案内できる相手）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bl>
          </a:graphicData>
        </a:graphic>
      </p:graphicFrame>
      <p:sp>
        <p:nvSpPr>
          <p:cNvPr id="6" name="メリット 見出し"/>
          <p:cNvSpPr/>
          <p:nvPr/>
        </p:nvSpPr>
        <p:spPr>
          <a:xfrm>
            <a:off x="502920" y="3886200"/>
            <a:ext cx="310896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LINE公式アカウントのメリット</a:t>
            </a:r>
            <a:endParaRPr lang="ja-JP" altLang="en-US" sz="1200" dirty="0">
              <a:latin typeface="メイリオ"/>
              <a:ea typeface="メイリオ"/>
              <a:cs typeface="メイリオ"/>
            </a:endParaRPr>
          </a:p>
        </p:txBody>
      </p:sp>
      <p:sp>
        <p:nvSpPr>
          <p:cNvPr id="7" name="メリット"/>
          <p:cNvSpPr/>
          <p:nvPr/>
        </p:nvSpPr>
        <p:spPr>
          <a:xfrm>
            <a:off x="502920" y="4197096"/>
            <a:ext cx="8897112" cy="1737360"/>
          </a:xfrm>
          <a:prstGeom prst="rect">
            <a:avLst/>
          </a:prstGeom>
          <a:solidFill>
            <a:srgbClr val="EEF1F8"/>
          </a:solidFill>
          <a:ln w="9525">
            <a:solidFill>
              <a:srgbClr val="1F2A5C"/>
            </a:solidFill>
          </a:ln>
        </p:spPr>
        <p:txBody>
          <a:bodyPr wrap="square" lIns="274320" tIns="54864" rIns="182880" bIns="54864" rtlCol="0" anchor="ctr">
            <a:noAutofit/>
          </a:bodyPr>
          <a:lstStyle/>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・友だち追加した方に、継続して情報を届けられる（次回以降のイベントも案内できる）</a:t>
            </a:r>
            <a:endParaRPr lang="ja-JP" altLang="en-US" sz="1200" dirty="0">
              <a:latin typeface="メイリオ"/>
              <a:ea typeface="メイリオ"/>
              <a:cs typeface="メイリオ"/>
            </a:endParaRPr>
          </a:p>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・イベントのない時期も、見込み客との接点を持てる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・通知を通じて、見込み客との接点をつくれる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・友だちとして、見込み客を蓄積できる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・中長期的に、広告への依存度を下げられる可能性がある</a:t>
            </a:r>
            <a:endParaRPr lang="ja-JP" altLang="en-US" sz="1200" dirty="0">
              <a:latin typeface="メイリオ"/>
              <a:ea typeface="メイリオ"/>
              <a:cs typeface="メイリオ"/>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A527-0EA1-7A75-453D-963C8B528D5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B6D9B23-C685-E912-4659-E23BCCC23FC3}"/>
              </a:ext>
            </a:extLst>
          </p:cNvPr>
          <p:cNvSpPr txBox="1"/>
          <p:nvPr/>
        </p:nvSpPr>
        <p:spPr>
          <a:xfrm>
            <a:off x="548883" y="138137"/>
            <a:ext cx="768096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事例紹介：保険・イベント集客でのLINEの成果</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8"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LINEヤフー for Business に掲載されている、保険・イベント集客の事例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9" name="事例 8"/>
          <p:cNvGraphicFramePr>
            <a:graphicFrameLocks noGrp="1"/>
          </p:cNvGraphicFramePr>
          <p:nvPr/>
        </p:nvGraphicFramePr>
        <p:xfrm>
          <a:off x="420624" y="1783080"/>
          <a:ext cx="9052560" cy="3767328"/>
        </p:xfrm>
        <a:graphic>
          <a:graphicData uri="http://schemas.openxmlformats.org/drawingml/2006/table">
            <a:tbl>
              <a:tblPr/>
              <a:tblGrid>
                <a:gridCol w="1600200"/>
                <a:gridCol w="2377440"/>
                <a:gridCol w="2514600"/>
                <a:gridCol w="2560320"/>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業種</a:t>
                      </a:r>
                      <a:endParaRPr lang="ja-JP" altLang="en-US" sz="1300" dirty="0">
                        <a:latin typeface="メイリオ"/>
                        <a:ea typeface="メイリオ"/>
                        <a:cs typeface="メイリオ"/>
                      </a:endParaRPr>
                    </a:p>
                  </a:txBody>
                  <a:tcPr marL="109728" marR="91440"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LINEでしたこと</a:t>
                      </a:r>
                      <a:endParaRPr lang="ja-JP" altLang="en-US" sz="1300" dirty="0">
                        <a:latin typeface="メイリオ"/>
                        <a:ea typeface="メイリオ"/>
                        <a:cs typeface="メイリオ"/>
                      </a:endParaRPr>
                    </a:p>
                  </a:txBody>
                  <a:tcPr marL="109728" marR="91440"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結果</a:t>
                      </a:r>
                      <a:endParaRPr lang="ja-JP" altLang="en-US" sz="1300" dirty="0">
                        <a:latin typeface="メイリオ"/>
                        <a:ea typeface="メイリオ"/>
                        <a:cs typeface="メイリオ"/>
                      </a:endParaRPr>
                    </a:p>
                  </a:txBody>
                  <a:tcPr marL="109728" marR="91440"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貴社での活かし方</a:t>
                      </a:r>
                      <a:endParaRPr lang="ja-JP" altLang="en-US" sz="1300" dirty="0">
                        <a:latin typeface="メイリオ"/>
                        <a:ea typeface="メイリオ"/>
                        <a:cs typeface="メイリオ"/>
                      </a:endParaRPr>
                    </a:p>
                  </a:txBody>
                  <a:tcPr marL="109728" marR="91440"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同じ内容をメールとLINEで配信</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約8倍</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資料請求のCV率（メール比）</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次回セミナーの案内を、LINEで届ける</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11887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営業職員経由で、お客様にLINEの友だち追加を案内</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5.2%</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営業職員経由の友だちのブロック率（自然に友だちになった方は74.9%）</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接点のある方を友だちにし、配信を届け続ける</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教室・スクール</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見学会（イベント）の案内をLINEで配信</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約7割</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見学会の参加者の入会率</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セミナー参加後に、サロンの入会を案内する</a:t>
                      </a:r>
                      <a:endParaRPr lang="ja-JP" altLang="en-US" sz="1300" dirty="0">
                        <a:latin typeface="メイリオ"/>
                        <a:ea typeface="メイリオ"/>
                        <a:cs typeface="メイリオ"/>
                      </a:endParaRPr>
                    </a:p>
                  </a:txBody>
                  <a:tcPr marL="109728" marR="91440"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10" name="注記"/>
          <p:cNvSpPr/>
          <p:nvPr/>
        </p:nvSpPr>
        <p:spPr>
          <a:xfrm>
            <a:off x="420624" y="585216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※LINEヤフー for Business 掲載の導入事例（数値は各社調べ）。生命保険会社＝2024年4月・2025年2月公開、教室・スクール＝2021年8月公開</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21557982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運用方針・全体導線</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graphicFrame>
        <p:nvGraphicFramePr>
          <p:cNvPr id="46" name="要件定義 45"/>
          <p:cNvGraphicFramePr>
            <a:graphicFrameLocks noGrp="1"/>
          </p:cNvGraphicFramePr>
          <p:nvPr>
            <p:extLst>
              <p:ext uri="{D42A27DB-BD31-4B8C-83A1-F6EECF244321}">
                <p14:modId xmlns:p14="http://schemas.microsoft.com/office/powerpoint/2010/main" val="266280894"/>
              </p:ext>
            </p:extLst>
          </p:nvPr>
        </p:nvGraphicFramePr>
        <p:xfrm>
          <a:off x="420624" y="1082040"/>
          <a:ext cx="9052560" cy="4434840"/>
        </p:xfrm>
        <a:graphic>
          <a:graphicData uri="http://schemas.openxmlformats.org/drawingml/2006/table">
            <a:tbl>
              <a:tblPr/>
              <a:tblGrid>
                <a:gridCol w="201168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73152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プロモーション目的</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広告で獲得した見込み客をLINE公式アカウントに蓄積し、継続的な情報配信で、</a:t>
                      </a:r>
                      <a:endParaRPr lang="en-US" altLang="ja-JP" sz="14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次回セミナーへの参加とオンラインサロンへの入会を増やす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中長期の目的</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入会後の継続利用・紹介にもLINEを活用し、LTVの最大化をめざす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1"/>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契約期間</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6か月（平常期とセミナー開催月で、配信内容と工数が変わる）</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配信目標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友だちを増やし、ブロック率を抑えながら、配信可能な人数を積み上げる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（6か月の想定は、概算お見積りに記載）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3"/>
                  </a:ext>
                </a:extLst>
              </a:tr>
              <a:tr h="128016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手法（ご提案）</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① 離脱防止ポップアップ（導入推奨）で、LPを離れる方を友だちに</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　 予約完了後は、サンクスLINE誘導（追加オプション）または通常のご案内</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② 友だち追加直後・予約した方・参加後の段階ごとに、案内を変える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③ 平常期 月1〜2回、開催月 月4〜5回の企画配信で、つながりを保つ</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9144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＋αの施策</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過去のセミナー予約者・参加者へのご案内（通知メッセージ）</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サロンの申込み完了ページからのLINE誘導（サンクスLINE誘導）</a:t>
                      </a:r>
                      <a:endParaRPr lang="ja-JP" altLang="en-US" sz="1300" dirty="0">
                        <a:latin typeface="メイリオ"/>
                        <a:ea typeface="メイリオ"/>
                        <a:cs typeface="メイリオ"/>
                      </a:endParaRPr>
                    </a:p>
                    <a:p>
                      <a:pPr algn="l">
                        <a:buNone/>
                      </a:pPr>
                      <a:r>
                        <a:rPr lang="ja-JP" altLang="en-US" sz="1100" b="0" dirty="0">
                          <a:solidFill>
                            <a:srgbClr val="7F7F7F"/>
                          </a:solidFill>
                          <a:latin typeface="メイリオ" panose="020B0604030504040204" pitchFamily="50" charset="-128"/>
                          <a:ea typeface="メイリオ" panose="020B0604030504040204" pitchFamily="50" charset="-128"/>
                          <a:cs typeface="メイリオ"/>
                        </a:rPr>
                        <a:t>※通知メッセージは、予約時の電話番号がある場合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66202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BE316-B5A0-8BF0-8055-8F5EB8BA81E4}"/>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D9E611B-4E41-7D55-FDAA-59D5455231E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運用方針</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一度集めた見込み客を蓄積し、継続的にアプローチできる仕組みを強化する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KEY TAKEAWAY 見出し"/>
          <p:cNvSpPr/>
          <p:nvPr/>
        </p:nvSpPr>
        <p:spPr>
          <a:xfrm>
            <a:off x="420624" y="1600200"/>
            <a:ext cx="210312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KEY TAKEAWAY</a:t>
            </a:r>
            <a:endParaRPr lang="ja-JP" altLang="en-US" sz="1200" dirty="0">
              <a:latin typeface="メイリオ"/>
              <a:ea typeface="メイリオ"/>
              <a:cs typeface="メイリオ"/>
            </a:endParaRPr>
          </a:p>
        </p:txBody>
      </p:sp>
      <p:sp>
        <p:nvSpPr>
          <p:cNvPr id="51" name="KEY TAKEAWAY"/>
          <p:cNvSpPr/>
          <p:nvPr/>
        </p:nvSpPr>
        <p:spPr>
          <a:xfrm>
            <a:off x="420624" y="1911095"/>
            <a:ext cx="9120232" cy="731520"/>
          </a:xfrm>
          <a:prstGeom prst="rect">
            <a:avLst/>
          </a:prstGeom>
          <a:solidFill>
            <a:srgbClr val="EEF1F8"/>
          </a:solidFill>
          <a:ln w="9525">
            <a:solidFill>
              <a:srgbClr val="1F2A5C"/>
            </a:solidFill>
          </a:ln>
        </p:spPr>
        <p:txBody>
          <a:bodyPr wrap="square" lIns="73152" tIns="36576" rIns="73152" bIns="36576" rtlCol="0" anchor="ctr">
            <a:noAutofit/>
          </a:bodyPr>
          <a:lstStyle/>
          <a:p>
            <a:pPr algn="ctr">
              <a:buNone/>
            </a:pPr>
            <a:r>
              <a:rPr lang="ja-JP" altLang="en-US" sz="2000" b="1" dirty="0">
                <a:solidFill>
                  <a:srgbClr val="1F2A5C"/>
                </a:solidFill>
                <a:latin typeface="メイリオ" panose="020B0604030504040204" pitchFamily="50" charset="-128"/>
                <a:ea typeface="メイリオ" panose="020B0604030504040204" pitchFamily="50" charset="-128"/>
                <a:cs typeface="メイリオ"/>
              </a:rPr>
              <a:t>イベント開催時だけでなく、平常期にも継続して情報を届ける</a:t>
            </a:r>
            <a:endParaRPr lang="ja-JP" altLang="en-US" sz="1200" dirty="0">
              <a:latin typeface="メイリオ"/>
              <a:ea typeface="メイリオ"/>
              <a:cs typeface="メイリオ"/>
            </a:endParaRPr>
          </a:p>
        </p:txBody>
      </p:sp>
      <p:graphicFrame>
        <p:nvGraphicFramePr>
          <p:cNvPr id="52" name="3つのポイント 51"/>
          <p:cNvGraphicFramePr>
            <a:graphicFrameLocks noGrp="1"/>
          </p:cNvGraphicFramePr>
          <p:nvPr>
            <p:extLst>
              <p:ext uri="{D42A27DB-BD31-4B8C-83A1-F6EECF244321}">
                <p14:modId xmlns:p14="http://schemas.microsoft.com/office/powerpoint/2010/main" val="3666070414"/>
              </p:ext>
            </p:extLst>
          </p:nvPr>
        </p:nvGraphicFramePr>
        <p:xfrm>
          <a:off x="420623" y="2926080"/>
          <a:ext cx="9120233" cy="2834640"/>
        </p:xfrm>
        <a:graphic>
          <a:graphicData uri="http://schemas.openxmlformats.org/drawingml/2006/table">
            <a:tbl>
              <a:tblPr/>
              <a:tblGrid>
                <a:gridCol w="1566101">
                  <a:extLst>
                    <a:ext uri="{9D8B030D-6E8A-4147-A177-3AD203B41FA5}">
                      <a16:colId xmlns:a16="http://schemas.microsoft.com/office/drawing/2014/main" val="20000"/>
                    </a:ext>
                  </a:extLst>
                </a:gridCol>
                <a:gridCol w="2487336">
                  <a:extLst>
                    <a:ext uri="{9D8B030D-6E8A-4147-A177-3AD203B41FA5}">
                      <a16:colId xmlns:a16="http://schemas.microsoft.com/office/drawing/2014/main" val="20001"/>
                    </a:ext>
                  </a:extLst>
                </a:gridCol>
                <a:gridCol w="3869190">
                  <a:extLst>
                    <a:ext uri="{9D8B030D-6E8A-4147-A177-3AD203B41FA5}">
                      <a16:colId xmlns:a16="http://schemas.microsoft.com/office/drawing/2014/main" val="20002"/>
                    </a:ext>
                  </a:extLst>
                </a:gridCol>
                <a:gridCol w="1197606">
                  <a:extLst>
                    <a:ext uri="{9D8B030D-6E8A-4147-A177-3AD203B41FA5}">
                      <a16:colId xmlns:a16="http://schemas.microsoft.com/office/drawing/2014/main" val="20003"/>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強化するポイント</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打ち手</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伸ばす数字</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01 集める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LPを見た方・予約した方と、LINEでつながる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・離脱防止ポップアップで友だちに</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・予約者はサンクスLINE誘導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02 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平常期・開催月それぞれの</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時期に合わせて届ける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・企画配信：平常期 月1〜2回／開催月 月4〜5回</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・予約した方へ、前日・当日のリマインド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予約・参加数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03 つなげる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参加後、関心が高いうちに</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サロンを案内する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・参加後に、振り返りとサロンの内容をご案内</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・受講生の声で、入会の判断材料を届ける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729555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全体導線：広告で集め、LINEで育て、セミナー参加・サロン入会へ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広告による新規集客と、LINEによる継続的な顧客育成を組み合わせる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広告の領域"/>
          <p:cNvSpPr/>
          <p:nvPr/>
        </p:nvSpPr>
        <p:spPr>
          <a:xfrm>
            <a:off x="420624" y="1645920"/>
            <a:ext cx="2871215"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広告（新規集客）</a:t>
            </a:r>
            <a:endParaRPr lang="ja-JP" altLang="en-US" sz="1200" dirty="0">
              <a:latin typeface="メイリオ"/>
              <a:ea typeface="メイリオ"/>
              <a:cs typeface="メイリオ"/>
            </a:endParaRPr>
          </a:p>
        </p:txBody>
      </p:sp>
      <p:sp>
        <p:nvSpPr>
          <p:cNvPr id="51" name="LINEの領域"/>
          <p:cNvSpPr/>
          <p:nvPr/>
        </p:nvSpPr>
        <p:spPr>
          <a:xfrm>
            <a:off x="3511296" y="1645920"/>
            <a:ext cx="5961888" cy="310896"/>
          </a:xfrm>
          <a:prstGeom prst="rect">
            <a:avLst/>
          </a:prstGeom>
          <a:solidFill>
            <a:srgbClr val="06C755"/>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LINE公式アカウント（継続的な顧客育成）</a:t>
            </a:r>
            <a:endParaRPr lang="ja-JP" altLang="en-US" sz="1200" dirty="0">
              <a:latin typeface="メイリオ"/>
              <a:ea typeface="メイリオ"/>
              <a:cs typeface="メイリオ"/>
            </a:endParaRPr>
          </a:p>
        </p:txBody>
      </p:sp>
      <p:sp>
        <p:nvSpPr>
          <p:cNvPr id="52" name="導線 広告"/>
          <p:cNvSpPr/>
          <p:nvPr/>
        </p:nvSpPr>
        <p:spPr>
          <a:xfrm>
            <a:off x="420624"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53" name="導線の説明 広告"/>
          <p:cNvSpPr/>
          <p:nvPr/>
        </p:nvSpPr>
        <p:spPr>
          <a:xfrm>
            <a:off x="42062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Meta広告などで、新しい見込み客と接点をつくる</a:t>
            </a:r>
            <a:endParaRPr lang="ja-JP" altLang="en-US" sz="1200" dirty="0">
              <a:latin typeface="メイリオ"/>
              <a:ea typeface="メイリオ"/>
              <a:cs typeface="メイリオ"/>
            </a:endParaRPr>
          </a:p>
        </p:txBody>
      </p:sp>
      <p:sp>
        <p:nvSpPr>
          <p:cNvPr id="54" name="矢印"/>
          <p:cNvSpPr/>
          <p:nvPr/>
        </p:nvSpPr>
        <p:spPr>
          <a:xfrm>
            <a:off x="1746504"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5" name="導線 セミナーLP"/>
          <p:cNvSpPr/>
          <p:nvPr/>
        </p:nvSpPr>
        <p:spPr>
          <a:xfrm>
            <a:off x="1965960"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セミナーLP</a:t>
            </a:r>
            <a:endParaRPr lang="ja-JP" altLang="en-US" sz="1200" dirty="0">
              <a:latin typeface="メイリオ"/>
              <a:ea typeface="メイリオ"/>
              <a:cs typeface="メイリオ"/>
            </a:endParaRPr>
          </a:p>
        </p:txBody>
      </p:sp>
      <p:sp>
        <p:nvSpPr>
          <p:cNvPr id="56" name="導線の説明 セミナーLP"/>
          <p:cNvSpPr/>
          <p:nvPr/>
        </p:nvSpPr>
        <p:spPr>
          <a:xfrm>
            <a:off x="1965960"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セミナーの内容を知り、予約する</a:t>
            </a:r>
            <a:endParaRPr lang="ja-JP" altLang="en-US" sz="1200" dirty="0">
              <a:latin typeface="メイリオ"/>
              <a:ea typeface="メイリオ"/>
              <a:cs typeface="メイリオ"/>
            </a:endParaRPr>
          </a:p>
        </p:txBody>
      </p:sp>
      <p:sp>
        <p:nvSpPr>
          <p:cNvPr id="57" name="矢印"/>
          <p:cNvSpPr/>
          <p:nvPr/>
        </p:nvSpPr>
        <p:spPr>
          <a:xfrm>
            <a:off x="3291839"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8" name="導線 LINE友だち追加"/>
          <p:cNvSpPr/>
          <p:nvPr/>
        </p:nvSpPr>
        <p:spPr>
          <a:xfrm>
            <a:off x="3511296"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LINE友だち追加</a:t>
            </a:r>
            <a:endParaRPr lang="ja-JP" altLang="en-US" sz="1200" dirty="0">
              <a:latin typeface="メイリオ"/>
              <a:ea typeface="メイリオ"/>
              <a:cs typeface="メイリオ"/>
            </a:endParaRPr>
          </a:p>
        </p:txBody>
      </p:sp>
      <p:sp>
        <p:nvSpPr>
          <p:cNvPr id="59" name="導線の説明 LINE友だち追加"/>
          <p:cNvSpPr/>
          <p:nvPr/>
        </p:nvSpPr>
        <p:spPr>
          <a:xfrm>
            <a:off x="3511296"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予約完了後のご案内（サンクスLINE誘導は追加オプション）</a:t>
            </a:r>
            <a:endParaRPr lang="ja-JP" altLang="en-US" sz="1200" dirty="0">
              <a:latin typeface="メイリオ"/>
              <a:ea typeface="メイリオ"/>
              <a:cs typeface="メイリオ"/>
            </a:endParaRPr>
          </a:p>
        </p:txBody>
      </p:sp>
      <p:sp>
        <p:nvSpPr>
          <p:cNvPr id="60" name="矢印"/>
          <p:cNvSpPr/>
          <p:nvPr/>
        </p:nvSpPr>
        <p:spPr>
          <a:xfrm>
            <a:off x="4837176"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1" name="導線 継続的な情報配信"/>
          <p:cNvSpPr/>
          <p:nvPr/>
        </p:nvSpPr>
        <p:spPr>
          <a:xfrm>
            <a:off x="5056632"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継続的な情報配信</a:t>
            </a:r>
            <a:endParaRPr lang="ja-JP" altLang="en-US" sz="1200" dirty="0">
              <a:latin typeface="メイリオ"/>
              <a:ea typeface="メイリオ"/>
              <a:cs typeface="メイリオ"/>
            </a:endParaRPr>
          </a:p>
        </p:txBody>
      </p:sp>
      <p:sp>
        <p:nvSpPr>
          <p:cNvPr id="62" name="導線の説明 継続的な情報配信"/>
          <p:cNvSpPr/>
          <p:nvPr/>
        </p:nvSpPr>
        <p:spPr>
          <a:xfrm>
            <a:off x="5056632"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あいさつ・見どころ動画・参加特典</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企画配信：平常期 月1〜2回／開催月 月4〜5回</a:t>
            </a:r>
            <a:endParaRPr lang="ja-JP" altLang="en-US" sz="1200" dirty="0">
              <a:latin typeface="メイリオ"/>
              <a:ea typeface="メイリオ"/>
              <a:cs typeface="メイリオ"/>
            </a:endParaRPr>
          </a:p>
        </p:txBody>
      </p:sp>
      <p:sp>
        <p:nvSpPr>
          <p:cNvPr id="63" name="矢印"/>
          <p:cNvSpPr/>
          <p:nvPr/>
        </p:nvSpPr>
        <p:spPr>
          <a:xfrm>
            <a:off x="6382512"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4" name="導線 セミナー予約・参加"/>
          <p:cNvSpPr/>
          <p:nvPr/>
        </p:nvSpPr>
        <p:spPr>
          <a:xfrm>
            <a:off x="6601968"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セミナー予約・参加</a:t>
            </a:r>
            <a:endParaRPr lang="ja-JP" altLang="en-US" sz="1200" dirty="0">
              <a:latin typeface="メイリオ"/>
              <a:ea typeface="メイリオ"/>
              <a:cs typeface="メイリオ"/>
            </a:endParaRPr>
          </a:p>
        </p:txBody>
      </p:sp>
      <p:sp>
        <p:nvSpPr>
          <p:cNvPr id="65" name="導線の説明 セミナー予約・参加"/>
          <p:cNvSpPr/>
          <p:nvPr/>
        </p:nvSpPr>
        <p:spPr>
          <a:xfrm>
            <a:off x="6601968"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p:txBody>
      </p:sp>
      <p:sp>
        <p:nvSpPr>
          <p:cNvPr id="66" name="矢印"/>
          <p:cNvSpPr/>
          <p:nvPr/>
        </p:nvSpPr>
        <p:spPr>
          <a:xfrm>
            <a:off x="7927848"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7" name="導線 オンラインサロン入会"/>
          <p:cNvSpPr/>
          <p:nvPr/>
        </p:nvSpPr>
        <p:spPr>
          <a:xfrm>
            <a:off x="8147304"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オンラインサロン入会</a:t>
            </a:r>
            <a:endParaRPr lang="ja-JP" altLang="en-US" sz="1200" dirty="0">
              <a:latin typeface="メイリオ"/>
              <a:ea typeface="メイリオ"/>
              <a:cs typeface="メイリオ"/>
            </a:endParaRPr>
          </a:p>
        </p:txBody>
      </p:sp>
      <p:sp>
        <p:nvSpPr>
          <p:cNvPr id="68" name="導線の説明 オンラインサロン入会"/>
          <p:cNvSpPr/>
          <p:nvPr/>
        </p:nvSpPr>
        <p:spPr>
          <a:xfrm>
            <a:off x="814730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参加後の振り返り・サロンの内容紹介・入会のご案内</a:t>
            </a:r>
            <a:endParaRPr lang="ja-JP" altLang="en-US" sz="1200" dirty="0">
              <a:latin typeface="メイリオ"/>
              <a:ea typeface="メイリオ"/>
              <a:cs typeface="メイリオ"/>
            </a:endParaRPr>
          </a:p>
        </p:txBody>
      </p:sp>
      <p:sp>
        <p:nvSpPr>
          <p:cNvPr id="69" name="中長期"/>
          <p:cNvSpPr/>
          <p:nvPr/>
        </p:nvSpPr>
        <p:spPr>
          <a:xfrm>
            <a:off x="3511296" y="4754880"/>
            <a:ext cx="5961888" cy="45720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中長期：入会後の継続利用・紹介にも、LINEでの情報配信を活用</a:t>
            </a:r>
            <a:endParaRPr lang="ja-JP" altLang="en-US" sz="1200" dirty="0">
              <a:latin typeface="メイリオ"/>
              <a:ea typeface="メイリオ"/>
              <a:cs typeface="メイリオ"/>
            </a:endParaRPr>
          </a:p>
        </p:txBody>
      </p:sp>
      <p:sp>
        <p:nvSpPr>
          <p:cNvPr id="70" name="注記"/>
          <p:cNvSpPr/>
          <p:nvPr/>
        </p:nvSpPr>
        <p:spPr>
          <a:xfrm>
            <a:off x="420624" y="589788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※一般の方向けセミナーから友だち追加した方は、流入経路で分け、一般の方向けの案内を中心に配信</a:t>
            </a:r>
            <a:endParaRPr lang="ja-JP" altLang="en-US" sz="1200" dirty="0">
              <a:latin typeface="メイリオ"/>
              <a:ea typeface="メイリオ"/>
              <a:cs typeface="メイリオ"/>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42A8-3E67-5B74-44A3-2319A4429A9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graphicFrame>
        <p:nvGraphicFramePr>
          <p:cNvPr id="18" name="Table 2">
            <a:extLst>
              <a:ext uri="{FF2B5EF4-FFF2-40B4-BE49-F238E27FC236}">
                <a16:creationId xmlns:a16="http://schemas.microsoft.com/office/drawing/2014/main" id="{89845608-F0C2-67EC-D03E-3B68C6BD5068}"/>
              </a:ext>
            </a:extLst>
          </p:cNvPr>
          <p:cNvGraphicFramePr>
            <a:graphicFrameLocks noGrp="1"/>
          </p:cNvGraphicFramePr>
          <p:nvPr>
            <p:extLst>
              <p:ext uri="{D42A27DB-BD31-4B8C-83A1-F6EECF244321}">
                <p14:modId xmlns:p14="http://schemas.microsoft.com/office/powerpoint/2010/main" val="3163375250"/>
              </p:ext>
            </p:extLst>
          </p:nvPr>
        </p:nvGraphicFramePr>
        <p:xfrm>
          <a:off x="384048" y="3200400"/>
          <a:ext cx="9381744" cy="2962656"/>
        </p:xfrm>
        <a:graphic>
          <a:graphicData uri="http://schemas.openxmlformats.org/drawingml/2006/table">
            <a:tbl>
              <a:tblPr firstRow="1" bandRow="1">
                <a:tableStyleId>{5C22544A-7EE6-4342-B048-85BDC9FD1C3A}</a:tableStyleId>
              </a:tblPr>
              <a:tblGrid>
                <a:gridCol w="1783080">
                  <a:extLst>
                    <a:ext uri="{9D8B030D-6E8A-4147-A177-3AD203B41FA5}">
                      <a16:colId xmlns:a16="http://schemas.microsoft.com/office/drawing/2014/main" val="20000"/>
                    </a:ext>
                  </a:extLst>
                </a:gridCol>
                <a:gridCol w="2532888">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gridCol w="2532888">
                  <a:extLst>
                    <a:ext uri="{9D8B030D-6E8A-4147-A177-3AD203B41FA5}">
                      <a16:colId xmlns:a16="http://schemas.microsoft.com/office/drawing/2014/main" val="20003"/>
                    </a:ext>
                  </a:extLst>
                </a:gridCol>
              </a:tblGrid>
              <a:tr h="329184">
                <a:tc>
                  <a:txBody>
                    <a:bodyPr/>
                    <a:lstStyle/>
                    <a:p>
                      <a:pPr algn="ctr"/>
                      <a:r>
                        <a:rPr lang="ja-JP" sz="1200" b="1">
                          <a:solidFill>
                            <a:srgbClr val="FFFFFF"/>
                          </a:solidFill>
                          <a:latin typeface="メイリオ"/>
                          <a:ea typeface="メイリオ"/>
                          <a:cs typeface="メイリオ"/>
                        </a:rPr>
                        <a:t>フェーズ</a:t>
                      </a:r>
                    </a:p>
                  </a:txBody>
                  <a:tcPr marR="73152" anchor="ctr">
                    <a:solidFill>
                      <a:srgbClr val="1F2A5C"/>
                    </a:solidFill>
                  </a:tcPr>
                </a:tc>
                <a:tc>
                  <a:txBody>
                    <a:bodyPr/>
                    <a:lstStyle/>
                    <a:p>
                      <a:pPr algn="ctr"/>
                      <a:r>
                        <a:rPr lang="ja-JP" sz="1200" b="1">
                          <a:solidFill>
                            <a:srgbClr val="FFFFFF"/>
                          </a:solidFill>
                          <a:latin typeface="メイリオ"/>
                          <a:ea typeface="メイリオ"/>
                          <a:cs typeface="メイリオ"/>
                        </a:rPr>
                        <a:t>ユーザー状態・心理</a:t>
                      </a:r>
                    </a:p>
                  </a:txBody>
                  <a:tcPr marR="73152" anchor="ctr">
                    <a:solidFill>
                      <a:srgbClr val="1F2A5C"/>
                    </a:solidFill>
                  </a:tcPr>
                </a:tc>
                <a:tc>
                  <a:txBody>
                    <a:bodyPr/>
                    <a:lstStyle/>
                    <a:p>
                      <a:pPr algn="ctr"/>
                      <a:r>
                        <a:rPr lang="ja-JP" sz="1200" b="1">
                          <a:solidFill>
                            <a:srgbClr val="FFFFFF"/>
                          </a:solidFill>
                          <a:latin typeface="メイリオ"/>
                          <a:ea typeface="メイリオ"/>
                          <a:cs typeface="メイリオ"/>
                        </a:rPr>
                        <a:t>離脱・停滞が起きやすい点</a:t>
                      </a:r>
                    </a:p>
                  </a:txBody>
                  <a:tcPr marR="73152" anchor="ctr">
                    <a:solidFill>
                      <a:srgbClr val="1F2A5C"/>
                    </a:solidFill>
                  </a:tcPr>
                </a:tc>
                <a:tc>
                  <a:txBody>
                    <a:bodyPr/>
                    <a:lstStyle/>
                    <a:p>
                      <a:pPr algn="ctr"/>
                      <a:r>
                        <a:rPr lang="ja-JP" sz="1200" b="1">
                          <a:solidFill>
                            <a:srgbClr val="FFFFFF"/>
                          </a:solidFill>
                          <a:latin typeface="メイリオ"/>
                          <a:ea typeface="メイリオ"/>
                          <a:cs typeface="メイリオ"/>
                        </a:rPr>
                        <a:t>LINE OAの役割・施策</a:t>
                      </a:r>
                    </a:p>
                  </a:txBody>
                  <a:tcPr marR="73152" anchor="ctr">
                    <a:solidFill>
                      <a:srgbClr val="1F2A5C"/>
                    </a:solidFill>
                  </a:tcPr>
                </a:tc>
                <a:extLst>
                  <a:ext uri="{0D108BD9-81ED-4DB2-BD59-A6C34878D82A}">
                    <a16:rowId xmlns:a16="http://schemas.microsoft.com/office/drawing/2014/main" val="10000"/>
                  </a:ext>
                </a:extLst>
              </a:tr>
              <a:tr h="329184">
                <a:tc>
                  <a:txBody>
                    <a:bodyPr/>
                    <a:lstStyle/>
                    <a:p>
                      <a:pPr algn="l"/>
                      <a:r>
                        <a:rPr lang="ja-JP" sz="1200" b="1">
                          <a:solidFill>
                            <a:srgbClr val="1F2A5C"/>
                          </a:solidFill>
                          <a:latin typeface="メイリオ"/>
                          <a:ea typeface="メイリオ"/>
                          <a:cs typeface="メイリオ"/>
                        </a:rPr>
                        <a:t>① 接触</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営業力を上げたい・情報収集中</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日程が合わず、申し込まない</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離脱防止ポップアップ（推奨）</a:t>
                      </a:r>
                    </a:p>
                  </a:txBody>
                  <a:tcPr marR="73152" anchor="ctr">
                    <a:solidFill>
                      <a:srgbClr val="FFFFFF"/>
                    </a:solidFill>
                  </a:tcPr>
                </a:tc>
                <a:extLst>
                  <a:ext uri="{0D108BD9-81ED-4DB2-BD59-A6C34878D82A}">
                    <a16:rowId xmlns:a16="http://schemas.microsoft.com/office/drawing/2014/main" val="10001"/>
                  </a:ext>
                </a:extLst>
              </a:tr>
              <a:tr h="329184">
                <a:tc>
                  <a:txBody>
                    <a:bodyPr/>
                    <a:lstStyle/>
                    <a:p>
                      <a:pPr algn="l"/>
                      <a:r>
                        <a:rPr lang="ja-JP" sz="1200" b="1">
                          <a:solidFill>
                            <a:srgbClr val="1F2A5C"/>
                          </a:solidFill>
                          <a:latin typeface="メイリオ"/>
                          <a:ea typeface="メイリオ"/>
                          <a:cs typeface="メイリオ"/>
                        </a:rPr>
                        <a:t>② サイト離脱</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今回は申し込まない</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次の開催まで関心が続きにくい</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ポップアップからLINE友だち化</a:t>
                      </a:r>
                    </a:p>
                  </a:txBody>
                  <a:tcPr marR="73152" anchor="ctr">
                    <a:solidFill>
                      <a:srgbClr val="F5F7FA"/>
                    </a:solidFill>
                  </a:tcPr>
                </a:tc>
                <a:extLst>
                  <a:ext uri="{0D108BD9-81ED-4DB2-BD59-A6C34878D82A}">
                    <a16:rowId xmlns:a16="http://schemas.microsoft.com/office/drawing/2014/main" val="10002"/>
                  </a:ext>
                </a:extLst>
              </a:tr>
              <a:tr h="329184">
                <a:tc>
                  <a:txBody>
                    <a:bodyPr/>
                    <a:lstStyle/>
                    <a:p>
                      <a:pPr algn="l"/>
                      <a:r>
                        <a:rPr lang="ja-JP" sz="1200" b="1">
                          <a:solidFill>
                            <a:srgbClr val="1F2A5C"/>
                          </a:solidFill>
                          <a:latin typeface="メイリオ"/>
                          <a:ea typeface="メイリオ"/>
                          <a:cs typeface="メイリオ"/>
                        </a:rPr>
                        <a:t>③ 育成（追加直後）</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どんなセミナーか分からない</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中身が見えず、予約に進まない</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見どころ・特典をステップ配信</a:t>
                      </a:r>
                    </a:p>
                  </a:txBody>
                  <a:tcPr marR="73152" anchor="ctr">
                    <a:solidFill>
                      <a:srgbClr val="FFFFFF"/>
                    </a:solidFill>
                  </a:tcPr>
                </a:tc>
                <a:extLst>
                  <a:ext uri="{0D108BD9-81ED-4DB2-BD59-A6C34878D82A}">
                    <a16:rowId xmlns:a16="http://schemas.microsoft.com/office/drawing/2014/main" val="10003"/>
                  </a:ext>
                </a:extLst>
              </a:tr>
              <a:tr h="329184">
                <a:tc>
                  <a:txBody>
                    <a:bodyPr/>
                    <a:lstStyle/>
                    <a:p>
                      <a:pPr algn="l"/>
                      <a:r>
                        <a:rPr lang="ja-JP" sz="1200" b="1">
                          <a:solidFill>
                            <a:srgbClr val="1F2A5C"/>
                          </a:solidFill>
                          <a:latin typeface="メイリオ"/>
                          <a:ea typeface="メイリオ"/>
                          <a:cs typeface="メイリオ"/>
                        </a:rPr>
                        <a:t>④ リード獲得</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セミナーを予約した</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日が空き、参加を忘れる</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予約後の友だち追加・前日の案内</a:t>
                      </a:r>
                    </a:p>
                  </a:txBody>
                  <a:tcPr marR="73152" anchor="ctr">
                    <a:solidFill>
                      <a:srgbClr val="F5F7FA"/>
                    </a:solidFill>
                  </a:tcPr>
                </a:tc>
                <a:extLst>
                  <a:ext uri="{0D108BD9-81ED-4DB2-BD59-A6C34878D82A}">
                    <a16:rowId xmlns:a16="http://schemas.microsoft.com/office/drawing/2014/main" val="10004"/>
                  </a:ext>
                </a:extLst>
              </a:tr>
              <a:tr h="329184">
                <a:tc>
                  <a:txBody>
                    <a:bodyPr/>
                    <a:lstStyle/>
                    <a:p>
                      <a:pPr algn="l"/>
                      <a:r>
                        <a:rPr lang="ja-JP" sz="1200" b="1">
                          <a:solidFill>
                            <a:srgbClr val="1F2A5C"/>
                          </a:solidFill>
                          <a:latin typeface="メイリオ"/>
                          <a:ea typeface="メイリオ"/>
                          <a:cs typeface="メイリオ"/>
                        </a:rPr>
                        <a:t>⑤ リード有効化</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参加して関心が高まっている</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入会を迷ったまま時間が経つ</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参加直後にサロンを案内</a:t>
                      </a:r>
                    </a:p>
                  </a:txBody>
                  <a:tcPr marR="73152" anchor="ctr">
                    <a:solidFill>
                      <a:srgbClr val="FFFFFF"/>
                    </a:solidFill>
                  </a:tcPr>
                </a:tc>
                <a:extLst>
                  <a:ext uri="{0D108BD9-81ED-4DB2-BD59-A6C34878D82A}">
                    <a16:rowId xmlns:a16="http://schemas.microsoft.com/office/drawing/2014/main" val="10005"/>
                  </a:ext>
                </a:extLst>
              </a:tr>
              <a:tr h="329184">
                <a:tc>
                  <a:txBody>
                    <a:bodyPr/>
                    <a:lstStyle/>
                    <a:p>
                      <a:pPr algn="l"/>
                      <a:r>
                        <a:rPr lang="ja-JP" sz="1200" b="1">
                          <a:solidFill>
                            <a:srgbClr val="1F2A5C"/>
                          </a:solidFill>
                          <a:latin typeface="メイリオ"/>
                          <a:ea typeface="メイリオ"/>
                          <a:cs typeface="メイリオ"/>
                        </a:rPr>
                        <a:t>⑥ 再育成</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未入会／予約したが不参加</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次のイベントまで期間が空く</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月1〜2回の配信で次回へ</a:t>
                      </a:r>
                    </a:p>
                  </a:txBody>
                  <a:tcPr marR="73152" anchor="ctr">
                    <a:solidFill>
                      <a:srgbClr val="F5F7FA"/>
                    </a:solidFill>
                  </a:tcPr>
                </a:tc>
                <a:extLst>
                  <a:ext uri="{0D108BD9-81ED-4DB2-BD59-A6C34878D82A}">
                    <a16:rowId xmlns:a16="http://schemas.microsoft.com/office/drawing/2014/main" val="10006"/>
                  </a:ext>
                </a:extLst>
              </a:tr>
              <a:tr h="329184">
                <a:tc>
                  <a:txBody>
                    <a:bodyPr/>
                    <a:lstStyle/>
                    <a:p>
                      <a:pPr algn="l"/>
                      <a:r>
                        <a:rPr lang="ja-JP" sz="1200" b="1">
                          <a:solidFill>
                            <a:srgbClr val="1F2A5C"/>
                          </a:solidFill>
                          <a:latin typeface="メイリオ"/>
                          <a:ea typeface="メイリオ"/>
                          <a:cs typeface="メイリオ"/>
                        </a:rPr>
                        <a:t>⑦ マネタイズ</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サロンの入会を検討</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入会後の中身・成果が見えない</a:t>
                      </a:r>
                    </a:p>
                  </a:txBody>
                  <a:tcPr marR="73152" anchor="ctr">
                    <a:solidFill>
                      <a:srgbClr val="FFFFFF"/>
                    </a:solidFill>
                  </a:tcPr>
                </a:tc>
                <a:tc>
                  <a:txBody>
                    <a:bodyPr/>
                    <a:lstStyle/>
                    <a:p>
                      <a:pPr algn="l"/>
                      <a:r>
                        <a:rPr lang="ja-JP" sz="1200" b="0">
                          <a:solidFill>
                            <a:srgbClr val="333333"/>
                          </a:solidFill>
                          <a:latin typeface="メイリオ"/>
                          <a:ea typeface="メイリオ"/>
                          <a:cs typeface="メイリオ"/>
                        </a:rPr>
                        <a:t>入会した方の声を配信</a:t>
                      </a:r>
                    </a:p>
                  </a:txBody>
                  <a:tcPr marR="73152" anchor="ctr">
                    <a:solidFill>
                      <a:srgbClr val="FFFFFF"/>
                    </a:solidFill>
                  </a:tcPr>
                </a:tc>
                <a:extLst>
                  <a:ext uri="{0D108BD9-81ED-4DB2-BD59-A6C34878D82A}">
                    <a16:rowId xmlns:a16="http://schemas.microsoft.com/office/drawing/2014/main" val="10007"/>
                  </a:ext>
                </a:extLst>
              </a:tr>
              <a:tr h="329184">
                <a:tc>
                  <a:txBody>
                    <a:bodyPr/>
                    <a:lstStyle/>
                    <a:p>
                      <a:pPr algn="l"/>
                      <a:r>
                        <a:rPr lang="ja-JP" sz="1200" b="1">
                          <a:solidFill>
                            <a:srgbClr val="1F2A5C"/>
                          </a:solidFill>
                          <a:latin typeface="メイリオ"/>
                          <a:ea typeface="メイリオ"/>
                          <a:cs typeface="メイリオ"/>
                        </a:rPr>
                        <a:t>⑧ ファン化・紹介</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サロンに入会</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継続利用・紹介まで届きにくい</a:t>
                      </a:r>
                    </a:p>
                  </a:txBody>
                  <a:tcPr marR="73152" anchor="ctr">
                    <a:solidFill>
                      <a:srgbClr val="F5F7FA"/>
                    </a:solidFill>
                  </a:tcPr>
                </a:tc>
                <a:tc>
                  <a:txBody>
                    <a:bodyPr/>
                    <a:lstStyle/>
                    <a:p>
                      <a:pPr algn="l"/>
                      <a:r>
                        <a:rPr lang="ja-JP" sz="1200" b="0">
                          <a:solidFill>
                            <a:srgbClr val="333333"/>
                          </a:solidFill>
                          <a:latin typeface="メイリオ"/>
                          <a:ea typeface="メイリオ"/>
                          <a:cs typeface="メイリオ"/>
                        </a:rPr>
                        <a:t>イベント案内・紹介（中長期）</a:t>
                      </a:r>
                    </a:p>
                  </a:txBody>
                  <a:tcPr marR="73152" anchor="ctr">
                    <a:solidFill>
                      <a:srgbClr val="F5F7FA"/>
                    </a:solidFill>
                  </a:tcPr>
                </a:tc>
                <a:extLst>
                  <a:ext uri="{0D108BD9-81ED-4DB2-BD59-A6C34878D82A}">
                    <a16:rowId xmlns:a16="http://schemas.microsoft.com/office/drawing/2014/main" val="10008"/>
                  </a:ext>
                </a:extLst>
              </a:tr>
            </a:tbl>
          </a:graphicData>
        </a:graphic>
      </p:graphicFrame>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8</a:t>
            </a: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フェーズごとのユーザー心理・離脱課題・</a:t>
            </a: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LINE OA</a:t>
            </a:r>
            <a:r>
              <a:rPr lang="ja-JP" altLang="en-US" sz="1400" dirty="0">
                <a:effectLst/>
                <a:latin typeface="メイリオ" panose="02020603050405020304" pitchFamily="18" charset="0"/>
                <a:ea typeface="メイリオ" panose="020B0604030504040204" pitchFamily="50" charset="-128"/>
                <a:cs typeface="メイリオ" panose="020B0604030504040204" pitchFamily="50" charset="-128"/>
              </a:rPr>
              <a:t>の役割を一覧化し、以降の施策設計の土台とする。</a:t>
            </a:r>
            <a:endParaRPr lang="ja-JP" altLang="ja-JP" sz="1100" dirty="0">
              <a:effectLst/>
              <a:latin typeface="メイリオ" panose="02020603050405020304" pitchFamily="18" charset="0"/>
              <a:ea typeface="メイリオ" panose="02020400000000000000" pitchFamily="18" charset="-128"/>
              <a:cs typeface="メイリオ"/>
            </a:endParaRPr>
          </a:p>
        </p:txBody>
      </p:sp>
    </p:spTree>
    <p:extLst>
      <p:ext uri="{BB962C8B-B14F-4D97-AF65-F5344CB8AC3E}">
        <p14:creationId xmlns:p14="http://schemas.microsoft.com/office/powerpoint/2010/main" val="35712723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D3B1F-7F7B-6271-9DE8-D3CECB4AEE7A}"/>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8421BF1B-3828-BADE-4033-28B8258FFCB2}"/>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全体設計</a:t>
            </a:r>
          </a:p>
        </p:txBody>
      </p:sp>
      <p:sp>
        <p:nvSpPr>
          <p:cNvPr id="3" name="テキスト ボックス 2">
            <a:extLst>
              <a:ext uri="{FF2B5EF4-FFF2-40B4-BE49-F238E27FC236}">
                <a16:creationId xmlns:a16="http://schemas.microsoft.com/office/drawing/2014/main" id="{EDD3D979-9EEB-6B18-F888-A17F98CFB00B}"/>
              </a:ext>
            </a:extLst>
          </p:cNvPr>
          <p:cNvSpPr txBox="1"/>
          <p:nvPr/>
        </p:nvSpPr>
        <p:spPr>
          <a:xfrm>
            <a:off x="4630780" y="1385918"/>
            <a:ext cx="1285343"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4" name="テキスト ボックス 3">
            <a:extLst>
              <a:ext uri="{FF2B5EF4-FFF2-40B4-BE49-F238E27FC236}">
                <a16:creationId xmlns:a16="http://schemas.microsoft.com/office/drawing/2014/main" id="{74A29E67-E629-D5BB-0BF0-30595AA3A156}"/>
              </a:ext>
            </a:extLst>
          </p:cNvPr>
          <p:cNvSpPr txBox="1"/>
          <p:nvPr/>
        </p:nvSpPr>
        <p:spPr>
          <a:xfrm>
            <a:off x="726950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 入会</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5" name="テキスト ボックス 4">
            <a:extLst>
              <a:ext uri="{FF2B5EF4-FFF2-40B4-BE49-F238E27FC236}">
                <a16:creationId xmlns:a16="http://schemas.microsoft.com/office/drawing/2014/main" id="{C8FAABE7-2498-0A19-8EFA-AE3DAED1CE38}"/>
              </a:ext>
            </a:extLst>
          </p:cNvPr>
          <p:cNvSpPr txBox="1"/>
          <p:nvPr/>
        </p:nvSpPr>
        <p:spPr>
          <a:xfrm>
            <a:off x="595014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7A77BB20-672A-267B-1278-73B82EFDB35A}"/>
              </a:ext>
            </a:extLst>
          </p:cNvPr>
          <p:cNvSpPr txBox="1"/>
          <p:nvPr/>
        </p:nvSpPr>
        <p:spPr>
          <a:xfrm>
            <a:off x="2435404" y="1385918"/>
            <a:ext cx="1063671" cy="261610"/>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a:t>
            </a:r>
          </a:p>
        </p:txBody>
      </p:sp>
      <p:sp>
        <p:nvSpPr>
          <p:cNvPr id="11" name="テキスト ボックス 10">
            <a:extLst>
              <a:ext uri="{FF2B5EF4-FFF2-40B4-BE49-F238E27FC236}">
                <a16:creationId xmlns:a16="http://schemas.microsoft.com/office/drawing/2014/main" id="{757FA4CB-2B6D-1C58-A1D7-FBC3E968719E}"/>
              </a:ext>
            </a:extLst>
          </p:cNvPr>
          <p:cNvSpPr txBox="1"/>
          <p:nvPr/>
        </p:nvSpPr>
        <p:spPr>
          <a:xfrm>
            <a:off x="3533092" y="1385918"/>
            <a:ext cx="1063671" cy="261610"/>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 リード</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9F1496A9-1AA6-8C00-6027-75BA16E87457}"/>
              </a:ext>
            </a:extLst>
          </p:cNvPr>
          <p:cNvSpPr/>
          <p:nvPr/>
        </p:nvSpPr>
        <p:spPr>
          <a:xfrm>
            <a:off x="240028" y="773977"/>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7" name="直線矢印コネクタ 16">
            <a:extLst>
              <a:ext uri="{FF2B5EF4-FFF2-40B4-BE49-F238E27FC236}">
                <a16:creationId xmlns:a16="http://schemas.microsoft.com/office/drawing/2014/main" id="{0B8C27AC-9240-5C32-389B-1F46C1A17D15}"/>
              </a:ext>
            </a:extLst>
          </p:cNvPr>
          <p:cNvCxnSpPr>
            <a:cxnSpLocks/>
          </p:cNvCxnSpPr>
          <p:nvPr/>
        </p:nvCxnSpPr>
        <p:spPr>
          <a:xfrm>
            <a:off x="323367" y="1003861"/>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BA284C9-F4DC-DB06-4BAF-EC4EB7A246B5}"/>
              </a:ext>
            </a:extLst>
          </p:cNvPr>
          <p:cNvSpPr txBox="1"/>
          <p:nvPr/>
        </p:nvSpPr>
        <p:spPr>
          <a:xfrm>
            <a:off x="3972228" y="875991"/>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5717FF50-BC66-88D1-6E63-63A2832D9840}"/>
              </a:ext>
            </a:extLst>
          </p:cNvPr>
          <p:cNvSpPr txBox="1"/>
          <p:nvPr/>
        </p:nvSpPr>
        <p:spPr>
          <a:xfrm>
            <a:off x="8588858" y="1385918"/>
            <a:ext cx="1339302" cy="2616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 紹介</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46D32A0E-F7DE-9D8C-2548-B53782ECD867}"/>
              </a:ext>
            </a:extLst>
          </p:cNvPr>
          <p:cNvSpPr txBox="1"/>
          <p:nvPr/>
        </p:nvSpPr>
        <p:spPr>
          <a:xfrm>
            <a:off x="240028"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a:t>
            </a:r>
          </a:p>
        </p:txBody>
      </p:sp>
      <p:sp>
        <p:nvSpPr>
          <p:cNvPr id="22" name="テキスト ボックス 21">
            <a:extLst>
              <a:ext uri="{FF2B5EF4-FFF2-40B4-BE49-F238E27FC236}">
                <a16:creationId xmlns:a16="http://schemas.microsoft.com/office/drawing/2014/main" id="{38E909FA-CB5E-B051-BA39-70C6E514BC74}"/>
              </a:ext>
            </a:extLst>
          </p:cNvPr>
          <p:cNvSpPr txBox="1"/>
          <p:nvPr/>
        </p:nvSpPr>
        <p:spPr>
          <a:xfrm>
            <a:off x="1337716"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a:t>
            </a:r>
            <a:r>
              <a:rPr lang="ja-JP" altLang="en-US" sz="1100" dirty="0">
                <a:latin typeface="メイリオ" panose="020B0604030504040204" pitchFamily="50" charset="-128"/>
                <a:ea typeface="メイリオ" panose="020B0604030504040204" pitchFamily="50" charset="-128"/>
                <a:cs typeface="メイリオ"/>
              </a:rPr>
              <a:t>離脱</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0387F7F8-78A2-5984-62D7-5E0BC6139087}"/>
              </a:ext>
            </a:extLst>
          </p:cNvPr>
          <p:cNvSpPr/>
          <p:nvPr/>
        </p:nvSpPr>
        <p:spPr>
          <a:xfrm>
            <a:off x="1587355" y="2875302"/>
            <a:ext cx="697117" cy="7563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離</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脱</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防</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止</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41" name="正方形/長方形 40">
            <a:extLst>
              <a:ext uri="{FF2B5EF4-FFF2-40B4-BE49-F238E27FC236}">
                <a16:creationId xmlns:a16="http://schemas.microsoft.com/office/drawing/2014/main" id="{4EA0C91B-78C6-BBBB-2C69-9BB0F2452933}"/>
              </a:ext>
            </a:extLst>
          </p:cNvPr>
          <p:cNvSpPr/>
          <p:nvPr/>
        </p:nvSpPr>
        <p:spPr>
          <a:xfrm>
            <a:off x="2618680" y="3637979"/>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16F18994-DA2E-D80B-5B66-954D59885119}"/>
              </a:ext>
            </a:extLst>
          </p:cNvPr>
          <p:cNvSpPr/>
          <p:nvPr/>
        </p:nvSpPr>
        <p:spPr>
          <a:xfrm>
            <a:off x="3554602" y="3544936"/>
            <a:ext cx="1020649"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予約完了後の</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友だち追加</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4" name="直線矢印コネクタ 43">
            <a:extLst>
              <a:ext uri="{FF2B5EF4-FFF2-40B4-BE49-F238E27FC236}">
                <a16:creationId xmlns:a16="http://schemas.microsoft.com/office/drawing/2014/main" id="{EB54D42B-999A-C988-8087-353D7313BC5D}"/>
              </a:ext>
            </a:extLst>
          </p:cNvPr>
          <p:cNvCxnSpPr>
            <a:cxnSpLocks/>
          </p:cNvCxnSpPr>
          <p:nvPr/>
        </p:nvCxnSpPr>
        <p:spPr>
          <a:xfrm>
            <a:off x="3332019" y="3790376"/>
            <a:ext cx="198486"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98DC54E6-D786-24C4-0A98-CF27487E94A5}"/>
              </a:ext>
            </a:extLst>
          </p:cNvPr>
          <p:cNvSpPr/>
          <p:nvPr/>
        </p:nvSpPr>
        <p:spPr>
          <a:xfrm>
            <a:off x="2628833" y="4890712"/>
            <a:ext cx="843512"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追加誘導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9" name="直線矢印コネクタ 48">
            <a:extLst>
              <a:ext uri="{FF2B5EF4-FFF2-40B4-BE49-F238E27FC236}">
                <a16:creationId xmlns:a16="http://schemas.microsoft.com/office/drawing/2014/main" id="{D6140142-DD1A-809C-DE27-D2CD7D992B51}"/>
              </a:ext>
            </a:extLst>
          </p:cNvPr>
          <p:cNvCxnSpPr>
            <a:cxnSpLocks/>
          </p:cNvCxnSpPr>
          <p:nvPr/>
        </p:nvCxnSpPr>
        <p:spPr>
          <a:xfrm>
            <a:off x="3572613" y="5136153"/>
            <a:ext cx="1974603"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6" name="左中かっこ 55">
            <a:extLst>
              <a:ext uri="{FF2B5EF4-FFF2-40B4-BE49-F238E27FC236}">
                <a16:creationId xmlns:a16="http://schemas.microsoft.com/office/drawing/2014/main" id="{9F7871CB-0948-ED66-262E-E4668DAEA788}"/>
              </a:ext>
            </a:extLst>
          </p:cNvPr>
          <p:cNvSpPr/>
          <p:nvPr/>
        </p:nvSpPr>
        <p:spPr>
          <a:xfrm>
            <a:off x="3306385" y="5445071"/>
            <a:ext cx="165959" cy="752529"/>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524DFC21-9336-5CCC-A46E-6B03A60F8CD8}"/>
              </a:ext>
            </a:extLst>
          </p:cNvPr>
          <p:cNvSpPr txBox="1"/>
          <p:nvPr/>
        </p:nvSpPr>
        <p:spPr>
          <a:xfrm>
            <a:off x="3472344" y="5451968"/>
            <a:ext cx="1307291"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・見どころ動画</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・参加特典</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・ステップ配信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0" name="左中かっこ 59">
            <a:extLst>
              <a:ext uri="{FF2B5EF4-FFF2-40B4-BE49-F238E27FC236}">
                <a16:creationId xmlns:a16="http://schemas.microsoft.com/office/drawing/2014/main" id="{6D1FBEB7-0DA2-6BD0-D8E5-5287AABE463D}"/>
              </a:ext>
            </a:extLst>
          </p:cNvPr>
          <p:cNvSpPr/>
          <p:nvPr/>
        </p:nvSpPr>
        <p:spPr>
          <a:xfrm>
            <a:off x="4341554" y="4064872"/>
            <a:ext cx="165959" cy="681427"/>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62" name="テキスト ボックス 61">
            <a:extLst>
              <a:ext uri="{FF2B5EF4-FFF2-40B4-BE49-F238E27FC236}">
                <a16:creationId xmlns:a16="http://schemas.microsoft.com/office/drawing/2014/main" id="{23E526DD-37E7-611C-2660-347E6E25E45B}"/>
              </a:ext>
            </a:extLst>
          </p:cNvPr>
          <p:cNvSpPr txBox="1"/>
          <p:nvPr/>
        </p:nvSpPr>
        <p:spPr>
          <a:xfrm>
            <a:off x="4507513" y="4071769"/>
            <a:ext cx="1737360" cy="246221"/>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・前日・当日のリマインド</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65" name="直線矢印コネクタ 64">
            <a:extLst>
              <a:ext uri="{FF2B5EF4-FFF2-40B4-BE49-F238E27FC236}">
                <a16:creationId xmlns:a16="http://schemas.microsoft.com/office/drawing/2014/main" id="{92F8C127-A45A-8F56-9D6E-7D83C0CD059C}"/>
              </a:ext>
            </a:extLst>
          </p:cNvPr>
          <p:cNvCxnSpPr>
            <a:cxnSpLocks/>
          </p:cNvCxnSpPr>
          <p:nvPr/>
        </p:nvCxnSpPr>
        <p:spPr>
          <a:xfrm>
            <a:off x="4702245" y="3762641"/>
            <a:ext cx="761292"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8" name="直線矢印コネクタ 77">
            <a:extLst>
              <a:ext uri="{FF2B5EF4-FFF2-40B4-BE49-F238E27FC236}">
                <a16:creationId xmlns:a16="http://schemas.microsoft.com/office/drawing/2014/main" id="{18BC9B61-1AB1-C280-3AB3-0A3065C47874}"/>
              </a:ext>
            </a:extLst>
          </p:cNvPr>
          <p:cNvCxnSpPr>
            <a:cxnSpLocks/>
          </p:cNvCxnSpPr>
          <p:nvPr/>
        </p:nvCxnSpPr>
        <p:spPr>
          <a:xfrm flipV="1">
            <a:off x="879791" y="2657573"/>
            <a:ext cx="4546592"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a16:creationId xmlns:a16="http://schemas.microsoft.com/office/drawing/2014/main" id="{0C63AA03-27C4-0484-5A97-8C858F657C28}"/>
              </a:ext>
            </a:extLst>
          </p:cNvPr>
          <p:cNvCxnSpPr>
            <a:cxnSpLocks/>
          </p:cNvCxnSpPr>
          <p:nvPr/>
        </p:nvCxnSpPr>
        <p:spPr>
          <a:xfrm flipV="1">
            <a:off x="1120433" y="3147854"/>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テキスト ボックス 86">
            <a:extLst>
              <a:ext uri="{FF2B5EF4-FFF2-40B4-BE49-F238E27FC236}">
                <a16:creationId xmlns:a16="http://schemas.microsoft.com/office/drawing/2014/main" id="{91706F5F-C2C9-CFA6-A6DA-6320D8935BA3}"/>
              </a:ext>
            </a:extLst>
          </p:cNvPr>
          <p:cNvSpPr txBox="1"/>
          <p:nvPr/>
        </p:nvSpPr>
        <p:spPr>
          <a:xfrm>
            <a:off x="968181" y="2932648"/>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88" name="直線矢印コネクタ 87">
            <a:extLst>
              <a:ext uri="{FF2B5EF4-FFF2-40B4-BE49-F238E27FC236}">
                <a16:creationId xmlns:a16="http://schemas.microsoft.com/office/drawing/2014/main" id="{826F5558-E52E-4955-ECF0-22B6B8A29748}"/>
              </a:ext>
            </a:extLst>
          </p:cNvPr>
          <p:cNvCxnSpPr>
            <a:cxnSpLocks/>
          </p:cNvCxnSpPr>
          <p:nvPr/>
        </p:nvCxnSpPr>
        <p:spPr>
          <a:xfrm flipV="1">
            <a:off x="2290047" y="3020133"/>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C87D3212-5CA7-479B-A73E-22643A6E1B0C}"/>
              </a:ext>
            </a:extLst>
          </p:cNvPr>
          <p:cNvSpPr txBox="1"/>
          <p:nvPr/>
        </p:nvSpPr>
        <p:spPr>
          <a:xfrm>
            <a:off x="2137795" y="2804927"/>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91" name="コネクタ: カギ線 90">
            <a:extLst>
              <a:ext uri="{FF2B5EF4-FFF2-40B4-BE49-F238E27FC236}">
                <a16:creationId xmlns:a16="http://schemas.microsoft.com/office/drawing/2014/main" id="{E092BAF5-1123-4B1D-F3A5-6BB3C08065DE}"/>
              </a:ext>
            </a:extLst>
          </p:cNvPr>
          <p:cNvCxnSpPr>
            <a:stCxn id="39" idx="3"/>
            <a:endCxn id="41" idx="1"/>
          </p:cNvCxnSpPr>
          <p:nvPr/>
        </p:nvCxnSpPr>
        <p:spPr>
          <a:xfrm>
            <a:off x="2284472" y="3253466"/>
            <a:ext cx="334208" cy="536912"/>
          </a:xfrm>
          <a:prstGeom prst="bentConnector3">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コネクタ: カギ線 94">
            <a:extLst>
              <a:ext uri="{FF2B5EF4-FFF2-40B4-BE49-F238E27FC236}">
                <a16:creationId xmlns:a16="http://schemas.microsoft.com/office/drawing/2014/main" id="{368BF7F4-176E-2B84-4610-9F916AC5F605}"/>
              </a:ext>
            </a:extLst>
          </p:cNvPr>
          <p:cNvCxnSpPr>
            <a:cxnSpLocks/>
            <a:stCxn id="39" idx="3"/>
            <a:endCxn id="48" idx="1"/>
          </p:cNvCxnSpPr>
          <p:nvPr/>
        </p:nvCxnSpPr>
        <p:spPr>
          <a:xfrm>
            <a:off x="2284472" y="3253466"/>
            <a:ext cx="344361" cy="1882687"/>
          </a:xfrm>
          <a:prstGeom prst="bentConnector3">
            <a:avLst>
              <a:gd name="adj1" fmla="val 50000"/>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線矢印コネクタ 97">
            <a:extLst>
              <a:ext uri="{FF2B5EF4-FFF2-40B4-BE49-F238E27FC236}">
                <a16:creationId xmlns:a16="http://schemas.microsoft.com/office/drawing/2014/main" id="{81E1473F-6265-659C-CC0B-C6FE85BCA3EC}"/>
              </a:ext>
            </a:extLst>
          </p:cNvPr>
          <p:cNvCxnSpPr>
            <a:cxnSpLocks/>
          </p:cNvCxnSpPr>
          <p:nvPr/>
        </p:nvCxnSpPr>
        <p:spPr>
          <a:xfrm>
            <a:off x="1018332" y="2261854"/>
            <a:ext cx="6368884"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a16:creationId xmlns:a16="http://schemas.microsoft.com/office/drawing/2014/main" id="{71342B33-5F5E-5ACC-6866-024BDB2FCF99}"/>
              </a:ext>
            </a:extLst>
          </p:cNvPr>
          <p:cNvSpPr/>
          <p:nvPr/>
        </p:nvSpPr>
        <p:spPr>
          <a:xfrm>
            <a:off x="2618679" y="2095601"/>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1" name="正方形/長方形 100">
            <a:extLst>
              <a:ext uri="{FF2B5EF4-FFF2-40B4-BE49-F238E27FC236}">
                <a16:creationId xmlns:a16="http://schemas.microsoft.com/office/drawing/2014/main" id="{47073071-D09C-A372-757E-07EDFC1B4691}"/>
              </a:ext>
            </a:extLst>
          </p:cNvPr>
          <p:cNvSpPr/>
          <p:nvPr/>
        </p:nvSpPr>
        <p:spPr>
          <a:xfrm>
            <a:off x="7490414" y="2123310"/>
            <a:ext cx="843512" cy="277088"/>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3" name="正方形/長方形 102">
            <a:extLst>
              <a:ext uri="{FF2B5EF4-FFF2-40B4-BE49-F238E27FC236}">
                <a16:creationId xmlns:a16="http://schemas.microsoft.com/office/drawing/2014/main" id="{362FF045-6EC3-A2C7-23A8-F82F6C32CA62}"/>
              </a:ext>
            </a:extLst>
          </p:cNvPr>
          <p:cNvSpPr/>
          <p:nvPr/>
        </p:nvSpPr>
        <p:spPr>
          <a:xfrm>
            <a:off x="5151597" y="2099217"/>
            <a:ext cx="843512" cy="304064"/>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参加</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04" name="直線矢印コネクタ 103">
            <a:extLst>
              <a:ext uri="{FF2B5EF4-FFF2-40B4-BE49-F238E27FC236}">
                <a16:creationId xmlns:a16="http://schemas.microsoft.com/office/drawing/2014/main" id="{B2BEB3B0-AB21-E350-31D0-2459E72A227A}"/>
              </a:ext>
            </a:extLst>
          </p:cNvPr>
          <p:cNvCxnSpPr>
            <a:cxnSpLocks/>
          </p:cNvCxnSpPr>
          <p:nvPr/>
        </p:nvCxnSpPr>
        <p:spPr>
          <a:xfrm rot="16200000">
            <a:off x="4316154" y="3825356"/>
            <a:ext cx="2628196" cy="2483"/>
          </a:xfrm>
          <a:prstGeom prst="straightConnector1">
            <a:avLst/>
          </a:prstGeom>
          <a:ln w="57150">
            <a:solidFill>
              <a:srgbClr val="1F2A5C"/>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a16:creationId xmlns:a16="http://schemas.microsoft.com/office/drawing/2014/main" id="{294E5883-9E5C-CC39-B584-0348ED134790}"/>
              </a:ext>
            </a:extLst>
          </p:cNvPr>
          <p:cNvSpPr/>
          <p:nvPr/>
        </p:nvSpPr>
        <p:spPr>
          <a:xfrm>
            <a:off x="425513" y="1810959"/>
            <a:ext cx="697117" cy="464415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AD</a:t>
            </a: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8" name="正方形/長方形 107">
            <a:extLst>
              <a:ext uri="{FF2B5EF4-FFF2-40B4-BE49-F238E27FC236}">
                <a16:creationId xmlns:a16="http://schemas.microsoft.com/office/drawing/2014/main" id="{BF61B903-1FDC-8BAE-D2B9-3470F4804967}"/>
              </a:ext>
            </a:extLst>
          </p:cNvPr>
          <p:cNvSpPr/>
          <p:nvPr/>
        </p:nvSpPr>
        <p:spPr>
          <a:xfrm>
            <a:off x="5088255" y="5754882"/>
            <a:ext cx="1135687"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ctr">
              <a:buFontTx/>
              <a:buChar char="-"/>
            </a:pPr>
            <a:r>
              <a:rPr lang="ja-JP" altLang="en-US" sz="1000" b="1" dirty="0">
                <a:solidFill>
                  <a:schemeClr val="tx1"/>
                </a:solidFill>
                <a:latin typeface="メイリオ" panose="020B0604030504040204" pitchFamily="50" charset="-128"/>
                <a:ea typeface="メイリオ" panose="020B0604030504040204" pitchFamily="50" charset="-128"/>
                <a:cs typeface="メイリオ"/>
              </a:rPr>
              <a:t>平常期の配信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2" name="直線矢印コネクタ 1">
            <a:extLst>
              <a:ext uri="{FF2B5EF4-FFF2-40B4-BE49-F238E27FC236}">
                <a16:creationId xmlns:a16="http://schemas.microsoft.com/office/drawing/2014/main" id="{BE373B3A-392A-272B-09F4-3EDF2F42A980}"/>
              </a:ext>
            </a:extLst>
          </p:cNvPr>
          <p:cNvCxnSpPr>
            <a:cxnSpLocks/>
          </p:cNvCxnSpPr>
          <p:nvPr/>
        </p:nvCxnSpPr>
        <p:spPr>
          <a:xfrm flipV="1">
            <a:off x="5137316" y="5576055"/>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B9BD1D1-C76F-12F8-B85E-165B4A6C8BFD}"/>
              </a:ext>
            </a:extLst>
          </p:cNvPr>
          <p:cNvSpPr txBox="1"/>
          <p:nvPr/>
        </p:nvSpPr>
        <p:spPr>
          <a:xfrm>
            <a:off x="4985064" y="5360849"/>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452A1327-261D-FFA5-8AB0-FBC92A2407B8}"/>
              </a:ext>
            </a:extLst>
          </p:cNvPr>
          <p:cNvSpPr/>
          <p:nvPr/>
        </p:nvSpPr>
        <p:spPr>
          <a:xfrm>
            <a:off x="5995109" y="2633366"/>
            <a:ext cx="3273814" cy="14024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●イベント直後に、サロンの</a:t>
            </a: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申込みフォームを案内</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（申込みはいつでも可能）</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※個別チャットは貴社で対応（自動応答などの効率化は弊社で設定）</a:t>
            </a:r>
          </a:p>
        </p:txBody>
      </p:sp>
      <p:sp>
        <p:nvSpPr>
          <p:cNvPr id="109" name="予約後の友だち追加の注記"/>
          <p:cNvSpPr/>
          <p:nvPr/>
        </p:nvSpPr>
        <p:spPr>
          <a:xfrm>
            <a:off x="6309360" y="4160520"/>
            <a:ext cx="2962656" cy="548640"/>
          </a:xfrm>
          <a:prstGeom prst="rect">
            <a:avLst/>
          </a:prstGeom>
          <a:noFill/>
          <a:ln>
            <a:noFill/>
          </a:ln>
        </p:spPr>
        <p:txBody>
          <a:bodyPr wrap="square" lIns="4572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※予約完了後の友だち追加は、サンクスLINE誘導（追加オプション）または通常の友だち追加のご案内で実施</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39474872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A337D-17CA-E6E5-D505-2573F42DF1AE}"/>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764D8A5C-7B4A-390C-FB5B-FB3131C930A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EEFB8B0A-6EC5-1DE8-1B6D-A4065AE6AEA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14EC833-F0FA-AEDA-4F48-B979DDE0410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配信の出し分け：予約した方／予約していない方</a:t>
            </a:r>
            <a:endParaRPr sz="1600" b="1" dirty="0">
              <a:solidFill>
                <a:srgbClr val="002060"/>
              </a:solidFill>
              <a:latin typeface="メイリオ"/>
              <a:ea typeface="メイリオ"/>
              <a:cs typeface="メイリオ"/>
              <a:sym typeface="Meiryo"/>
            </a:endParaRPr>
          </a:p>
        </p:txBody>
      </p:sp>
      <p:sp>
        <p:nvSpPr>
          <p:cNvPr id="5" name="Heading">
            <a:extLst>
              <a:ext uri="{FF2B5EF4-FFF2-40B4-BE49-F238E27FC236}">
                <a16:creationId xmlns:a16="http://schemas.microsoft.com/office/drawing/2014/main" id="{C7E6A42B-1136-E29F-50E6-B072A610CB01}"/>
              </a:ext>
            </a:extLst>
          </p:cNvPr>
          <p:cNvSpPr txBox="1"/>
          <p:nvPr/>
        </p:nvSpPr>
        <p:spPr>
          <a:xfrm>
            <a:off x="381000" y="1181608"/>
            <a:ext cx="9144000" cy="279400"/>
          </a:xfrm>
          <a:prstGeom prst="rect">
            <a:avLst/>
          </a:prstGeom>
          <a:noFill/>
          <a:ln>
            <a:noFill/>
          </a:ln>
        </p:spPr>
        <p:txBody>
          <a:bodyPr wrap="square" lIns="101600" tIns="76200" rIns="101600" bIns="76200" anchor="t"/>
          <a:lstStyle/>
          <a:p>
            <a:pPr>
              <a:buClr>
                <a:srgbClr val="000000"/>
              </a:buClr>
              <a:buFont typeface="Arial"/>
              <a:buNone/>
            </a:pPr>
            <a:r>
              <a:rPr kumimoji="0" lang="ja-JP" altLang="en-US" sz="1400" b="1" kern="0" dirty="0">
                <a:solidFill>
                  <a:srgbClr val="1F2A5C"/>
                </a:solidFill>
                <a:latin typeface="メイリオ" panose="020B0604030504040204" pitchFamily="50" charset="-128"/>
                <a:ea typeface="メイリオ" panose="020B0604030504040204" pitchFamily="50" charset="-128"/>
                <a:cs typeface="メイリオ"/>
                <a:sym typeface="Arial"/>
              </a:rPr>
              <a:t>出し分けの考え方</a:t>
            </a:r>
          </a:p>
        </p:txBody>
      </p:sp>
      <p:sp>
        <p:nvSpPr>
          <p:cNvPr id="6" name="LeftHeader">
            <a:extLst>
              <a:ext uri="{FF2B5EF4-FFF2-40B4-BE49-F238E27FC236}">
                <a16:creationId xmlns:a16="http://schemas.microsoft.com/office/drawing/2014/main" id="{88B8ADE6-2320-90DE-4B5D-0E825050A440}"/>
              </a:ext>
            </a:extLst>
          </p:cNvPr>
          <p:cNvSpPr txBox="1"/>
          <p:nvPr/>
        </p:nvSpPr>
        <p:spPr>
          <a:xfrm>
            <a:off x="381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イベント期の層（予約した方）</a:t>
            </a:r>
          </a:p>
        </p:txBody>
      </p:sp>
      <p:sp>
        <p:nvSpPr>
          <p:cNvPr id="7" name="LeftBody">
            <a:extLst>
              <a:ext uri="{FF2B5EF4-FFF2-40B4-BE49-F238E27FC236}">
                <a16:creationId xmlns:a16="http://schemas.microsoft.com/office/drawing/2014/main" id="{04B17781-2CE9-1794-B996-D203F2127177}"/>
              </a:ext>
            </a:extLst>
          </p:cNvPr>
          <p:cNvSpPr txBox="1"/>
          <p:nvPr/>
        </p:nvSpPr>
        <p:spPr>
          <a:xfrm>
            <a:off x="381000" y="1943607"/>
            <a:ext cx="4445000" cy="2423763"/>
          </a:xfrm>
          <a:prstGeom prst="rect">
            <a:avLst/>
          </a:prstGeom>
          <a:solidFill>
            <a:srgbClr val="F5F7FA"/>
          </a:solidFill>
          <a:ln w="6350">
            <a:solidFill>
              <a:srgbClr val="D1D8E0"/>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セミナーを予約済み・参加の意思がある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当日までに日が空く</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日程ごとの前日・当日のお知らせで、当日の参加につなげられる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当日に参加しないと、そのまま離れやすい</a:t>
            </a:r>
          </a:p>
        </p:txBody>
      </p:sp>
      <p:sp>
        <p:nvSpPr>
          <p:cNvPr id="9" name="RightHeader">
            <a:extLst>
              <a:ext uri="{FF2B5EF4-FFF2-40B4-BE49-F238E27FC236}">
                <a16:creationId xmlns:a16="http://schemas.microsoft.com/office/drawing/2014/main" id="{83D7B48F-F108-1D28-80D9-9B07405A3AF3}"/>
              </a:ext>
            </a:extLst>
          </p:cNvPr>
          <p:cNvSpPr txBox="1"/>
          <p:nvPr/>
        </p:nvSpPr>
        <p:spPr>
          <a:xfrm>
            <a:off x="5080000" y="1562607"/>
            <a:ext cx="4445000" cy="380999"/>
          </a:xfrm>
          <a:prstGeom prst="rect">
            <a:avLst/>
          </a:prstGeom>
          <a:solidFill>
            <a:srgbClr val="1F2A5C"/>
          </a:solidFill>
          <a:ln>
            <a:noFill/>
          </a:ln>
        </p:spPr>
        <p:txBody>
          <a:bodyPr wrap="square" lIns="152400" tIns="76200" rIns="152400" bIns="76200" anchor="ctr"/>
          <a:lstStyle/>
          <a:p>
            <a:pPr algn="ctr">
              <a:buClr>
                <a:srgbClr val="000000"/>
              </a:buClr>
              <a:buFont typeface="Arial"/>
              <a:buNone/>
            </a:pPr>
            <a:r>
              <a:rPr kumimoji="0" lang="ja-JP" altLang="en-US" sz="1400" b="1" kern="0" dirty="0">
                <a:solidFill>
                  <a:srgbClr val="FFFFFF"/>
                </a:solidFill>
                <a:latin typeface="メイリオ" panose="020B0604030504040204" pitchFamily="50" charset="-128"/>
                <a:ea typeface="メイリオ" panose="020B0604030504040204" pitchFamily="50" charset="-128"/>
                <a:cs typeface="メイリオ"/>
                <a:sym typeface="Arial"/>
              </a:rPr>
              <a:t>平常期の層（予約していない方）</a:t>
            </a:r>
          </a:p>
        </p:txBody>
      </p:sp>
      <p:sp>
        <p:nvSpPr>
          <p:cNvPr id="11" name="RightBody">
            <a:extLst>
              <a:ext uri="{FF2B5EF4-FFF2-40B4-BE49-F238E27FC236}">
                <a16:creationId xmlns:a16="http://schemas.microsoft.com/office/drawing/2014/main" id="{854968D2-9B97-28FB-49F7-CCBD26E2F10D}"/>
              </a:ext>
            </a:extLst>
          </p:cNvPr>
          <p:cNvSpPr txBox="1"/>
          <p:nvPr/>
        </p:nvSpPr>
        <p:spPr>
          <a:xfrm>
            <a:off x="5080000" y="1943607"/>
            <a:ext cx="4445000" cy="2423763"/>
          </a:xfrm>
          <a:prstGeom prst="rect">
            <a:avLst/>
          </a:prstGeom>
          <a:solidFill>
            <a:srgbClr val="FFFFFF"/>
          </a:solidFill>
          <a:ln w="12700">
            <a:solidFill>
              <a:srgbClr val="1F2A5C"/>
            </a:solidFill>
          </a:ln>
        </p:spPr>
        <p:txBody>
          <a:bodyPr wrap="square" lIns="177800" tIns="152400" rIns="177800" bIns="1524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特徴</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LPを見たが、今回は申し込んでいない</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次のイベントまで間がある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平常期の配信で、次のイベントまでつながりを保てる</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次のイベントの案内を、開催が決まり次第届けられる</a:t>
            </a:r>
          </a:p>
          <a:p>
            <a:pPr>
              <a:spcBef>
                <a:spcPts val="600"/>
              </a:spcBef>
              <a:buClr>
                <a:srgbClr val="000000"/>
              </a:buClr>
              <a:buFont typeface="Arial"/>
              <a:buNone/>
            </a:pPr>
            <a:endParaRPr kumimoji="0" lang="en-US" altLang="ja-JP" sz="1200" b="1" kern="0" dirty="0">
              <a:solidFill>
                <a:srgbClr val="1F2A5C"/>
              </a:solidFill>
              <a:latin typeface="メイリオ" panose="020B0604030504040204" pitchFamily="50" charset="-128"/>
              <a:ea typeface="メイリオ" panose="020B0604030504040204" pitchFamily="50" charset="-128"/>
              <a:cs typeface="メイリオ"/>
              <a:sym typeface="Arial"/>
            </a:endParaRPr>
          </a:p>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デメリット</a:t>
            </a:r>
          </a:p>
          <a:p>
            <a:pPr marL="171450" indent="-171450">
              <a:spcBef>
                <a:spcPts val="200"/>
              </a:spcBef>
              <a:buClr>
                <a:srgbClr val="1F2A5C"/>
              </a:buClr>
              <a:buFont typeface="Arial"/>
              <a:buChar char="•"/>
            </a:pPr>
            <a:r>
              <a:rPr kumimoji="0" lang="ja-JP" altLang="en-US" sz="1200" kern="0" dirty="0">
                <a:solidFill>
                  <a:srgbClr val="333333"/>
                </a:solidFill>
                <a:latin typeface="メイリオ" panose="020B0604030504040204" pitchFamily="50" charset="-128"/>
                <a:ea typeface="メイリオ" panose="020B0604030504040204" pitchFamily="50" charset="-128"/>
                <a:cs typeface="メイリオ"/>
                <a:sym typeface="Arial"/>
              </a:rPr>
              <a:t>予約・入会まで時間がかかる</a:t>
            </a:r>
          </a:p>
        </p:txBody>
      </p:sp>
      <p:sp>
        <p:nvSpPr>
          <p:cNvPr id="13" name="Conclusion">
            <a:extLst>
              <a:ext uri="{FF2B5EF4-FFF2-40B4-BE49-F238E27FC236}">
                <a16:creationId xmlns:a16="http://schemas.microsoft.com/office/drawing/2014/main" id="{C13E0556-1137-A003-99B5-1CC8EE085C44}"/>
              </a:ext>
            </a:extLst>
          </p:cNvPr>
          <p:cNvSpPr txBox="1"/>
          <p:nvPr/>
        </p:nvSpPr>
        <p:spPr>
          <a:xfrm>
            <a:off x="381000" y="4554727"/>
            <a:ext cx="9144000" cy="1234440"/>
          </a:xfrm>
          <a:prstGeom prst="rect">
            <a:avLst/>
          </a:prstGeom>
          <a:solidFill>
            <a:srgbClr val="F0F2F7"/>
          </a:solidFill>
          <a:ln>
            <a:noFill/>
          </a:ln>
        </p:spPr>
        <p:txBody>
          <a:bodyPr wrap="square" lIns="177800" tIns="127000" rIns="177800" bIns="127000" anchor="t"/>
          <a:lstStyle/>
          <a:p>
            <a:pPr>
              <a:buClr>
                <a:srgbClr val="000000"/>
              </a:buClr>
              <a:buFont typeface="Arial"/>
              <a:buNone/>
            </a:pPr>
            <a:r>
              <a:rPr kumimoji="0" lang="ja-JP" altLang="en-US" sz="1200" b="1" kern="0" dirty="0">
                <a:solidFill>
                  <a:srgbClr val="1F2A5C"/>
                </a:solidFill>
                <a:latin typeface="メイリオ" panose="020B0604030504040204" pitchFamily="50" charset="-128"/>
                <a:ea typeface="メイリオ" panose="020B0604030504040204" pitchFamily="50" charset="-128"/>
                <a:cs typeface="メイリオ"/>
                <a:sym typeface="Arial"/>
              </a:rPr>
              <a:t>結論・推奨</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友だち追加の流入経路（離脱防止ポップアップ／予約完了後のご案内）で分け、予約した方は当日の参加へ、</a:t>
            </a:r>
          </a:p>
          <a:p>
            <a:pPr>
              <a:spcBef>
                <a:spcPts val="200"/>
              </a:spcBef>
              <a:buClr>
                <a:srgbClr val="000000"/>
              </a:buClr>
              <a:buFont typeface="Arial"/>
              <a:buNone/>
            </a:pPr>
            <a:r>
              <a:rPr kumimoji="0" lang="en-US" altLang="ja-JP" sz="1200" kern="0" dirty="0">
                <a:solidFill>
                  <a:srgbClr val="333333"/>
                </a:solidFill>
                <a:latin typeface="メイリオ" panose="020B0604030504040204" pitchFamily="50" charset="-128"/>
                <a:ea typeface="メイリオ" panose="020B0604030504040204" pitchFamily="50" charset="-128"/>
                <a:cs typeface="メイリオ"/>
                <a:sym typeface="Arial"/>
              </a:rPr>
              <a:t>予約していない方は平常期の配信で次のイベントへつなげる。流入経路だけでは予約・参加・入会の状況をすべて把握できないため、状況に応じた出し分けは、連携の仕様を確認のうえ設計。</a:t>
            </a:r>
          </a:p>
        </p:txBody>
      </p:sp>
    </p:spTree>
    <p:extLst>
      <p:ext uri="{BB962C8B-B14F-4D97-AF65-F5344CB8AC3E}">
        <p14:creationId xmlns:p14="http://schemas.microsoft.com/office/powerpoint/2010/main" val="3203648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期待成果・費用</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cs typeface="メイリオ"/>
              </a:rPr>
              <a:t>概算お見積り：推奨構成（ポップアップあり）での6か月の運用</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¥145,000〜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開催月 ¥335,000程度</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平常期 ¥135,000〜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cs typeface="メイリオ"/>
              </a:rPr>
              <a:t>6か月後（サンクスLINE誘導あり）</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200" b="0" u="none" strike="noStrike">
                <a:solidFill>
                  <a:schemeClr val="dk1"/>
                </a:solidFill>
                <a:effectLst/>
                <a:uFillTx/>
                <a:latin typeface="メイリオ"/>
                <a:ea typeface="メイリオ"/>
                <a:cs typeface="メイリオ"/>
              </a:rPr>
              <a:t>開催月 4〜5回</a:t>
            </a:r>
            <a:endParaRPr lang="en-US" sz="1300" b="0" u="none" strike="noStrike">
              <a:solidFill>
                <a:srgbClr val="000000"/>
              </a:solidFill>
              <a:effectLst/>
              <a:uFillTx/>
              <a:latin typeface="メイリオ"/>
              <a:ea typeface="メイリオ"/>
              <a:cs typeface="メイリオ"/>
            </a:endParaRPr>
          </a:p>
          <a:p>
            <a:pPr algn="ctr" defTabSz="914400">
              <a:lnSpc>
                <a:spcPct val="100000"/>
              </a:lnSpc>
            </a:pPr>
            <a:r>
              <a:rPr lang="zh-CN" sz="1200" b="0" u="none" strike="noStrike">
                <a:solidFill>
                  <a:schemeClr val="dk1"/>
                </a:solidFill>
                <a:effectLst/>
                <a:uFillTx/>
                <a:latin typeface="メイリオ"/>
                <a:ea typeface="メイリオ"/>
                <a:cs typeface="メイリオ"/>
              </a:rPr>
              <a:t>平常期 1〜2回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dirty="0">
                <a:solidFill>
                  <a:schemeClr val="lt1"/>
                </a:solidFill>
                <a:effectLst/>
                <a:uFillTx/>
                <a:latin typeface="メイリオ"/>
                <a:ea typeface="メイリオ"/>
                <a:cs typeface="メイリオ"/>
              </a:rPr>
              <a:t>前日・当日の</a:t>
            </a:r>
            <a:endParaRPr lang="en-US" sz="1200" b="0" u="none" strike="noStrike" dirty="0">
              <a:solidFill>
                <a:srgbClr val="FFFFFF"/>
              </a:solidFill>
              <a:effectLst/>
              <a:uFillTx/>
              <a:latin typeface="メイリオ"/>
              <a:ea typeface="メイリオ"/>
              <a:cs typeface="メイリオ"/>
            </a:endParaRPr>
          </a:p>
          <a:p>
            <a:pPr algn="ctr" defTabSz="914400">
              <a:lnSpc>
                <a:spcPct val="90000"/>
              </a:lnSpc>
            </a:pPr>
            <a:r>
              <a:rPr lang="ja-JP" sz="1200" b="0" u="none" strike="noStrike" dirty="0">
                <a:solidFill>
                  <a:schemeClr val="lt1"/>
                </a:solidFill>
                <a:effectLst/>
                <a:uFillTx/>
                <a:latin typeface="メイリオ"/>
                <a:ea typeface="メイリオ"/>
                <a:cs typeface="メイリオ"/>
              </a:rPr>
              <a:t>リマインド</a:t>
            </a:r>
            <a:endParaRPr lang="en-US" sz="1200" b="0" u="none" strike="noStrike" dirty="0">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予約ごとに配信</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ステップ配信</a:t>
            </a:r>
            <a:endParaRPr lang="en-US" sz="1300" b="0" u="none" strike="noStrike" dirty="0">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5通の改善</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個別チャット</a:t>
            </a:r>
            <a:endParaRPr lang="en-US" sz="1300" b="0" u="none" strike="noStrike" dirty="0">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貴社で対応</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友だち数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配信可能な人数</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導入（推奨）</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追加オプション</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アカウント開設</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対応</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5通を構築</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8フェーズで設計</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cs typeface="メイリオ"/>
              </a:rPr>
              <a:t>131人</a:t>
            </a:r>
            <a:endParaRPr lang="en-US" sz="1400" b="0" u="none" strike="noStrike">
              <a:solidFill>
                <a:srgbClr val="00000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90人</a:t>
            </a:r>
            <a:endParaRPr lang="en-US" sz="1400" b="0" u="none" strike="noStrike">
              <a:solidFill>
                <a:srgbClr val="00000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11件/6か月</a:t>
            </a:r>
            <a:endParaRPr lang="en-US" sz="1400" b="0" u="none" strike="noStrike">
              <a:solidFill>
                <a:srgbClr val="000000"/>
              </a:solidFill>
              <a:effectLst/>
              <a:uFillTx/>
              <a:latin typeface="メイリオ"/>
              <a:ea typeface="メイリオ"/>
              <a:cs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cs typeface="メイリオ"/>
              </a:rPr>
              <a:t>プラン②｜イベントに合わせた運用で、集めた方を友だちにし、次のセミナー予約・入会へつなげる</a:t>
            </a:r>
            <a:endParaRPr lang="en-US" sz="1400" b="0" u="none" strike="noStrike">
              <a:solidFill>
                <a:srgbClr val="000000"/>
              </a:solidFill>
              <a:effectLst/>
              <a:uFillTx/>
              <a:latin typeface="メイリオ"/>
              <a:ea typeface="メイリオ"/>
              <a:cs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4件/6か月</a:t>
            </a:r>
            <a:endParaRPr lang="en-US" sz="1400" b="0" u="none" strike="noStrike">
              <a:solidFill>
                <a:srgbClr val="000000"/>
              </a:solidFill>
              <a:effectLst/>
              <a:uFillTx/>
              <a:latin typeface="メイリオ"/>
              <a:ea typeface="メイリオ"/>
              <a:cs typeface="メイリオ"/>
            </a:endParaRPr>
          </a:p>
        </p:txBody>
      </p:sp>
      <p:sp>
        <p:nvSpPr>
          <p:cNvPr id="3" name="正方形/長方形 57">
            <a:extLst>
              <a:ext uri="{FF2B5EF4-FFF2-40B4-BE49-F238E27FC236}">
                <a16:creationId xmlns:a16="http://schemas.microsoft.com/office/drawing/2014/main" id="{F866D691-36CB-2858-C7C4-274E9BD31295}"/>
              </a:ext>
            </a:extLst>
          </p:cNvPr>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b="0" u="none" strike="noStrike" dirty="0">
                <a:solidFill>
                  <a:schemeClr val="lt1"/>
                </a:solidFill>
                <a:effectLst/>
                <a:uFillTx/>
                <a:latin typeface="メイリオ"/>
                <a:ea typeface="メイリオ"/>
                <a:cs typeface="メイリオ"/>
              </a:rPr>
              <a:t>月次レポート</a:t>
            </a:r>
            <a:r>
              <a:rPr lang="ja-JP" altLang="en-US" sz="1300" dirty="0">
                <a:solidFill>
                  <a:srgbClr val="FFFFFF"/>
                </a:solidFill>
                <a:latin typeface="メイリオ"/>
                <a:ea typeface="メイリオ"/>
                <a:cs typeface="メイリオ"/>
              </a:rPr>
              <a:t>・</a:t>
            </a:r>
            <a:endParaRPr lang="en-US" altLang="ja-JP" sz="1300" dirty="0">
              <a:solidFill>
                <a:srgbClr val="FFFFFF"/>
              </a:solidFill>
              <a:latin typeface="メイリオ"/>
              <a:ea typeface="メイリオ"/>
              <a:cs typeface="メイリオ"/>
            </a:endParaRPr>
          </a:p>
          <a:p>
            <a:pPr algn="ctr" defTabSz="914400">
              <a:lnSpc>
                <a:spcPct val="100000"/>
              </a:lnSpc>
            </a:pPr>
            <a:r>
              <a:rPr lang="ja-JP" altLang="en-US" sz="1300" b="0" u="none" strike="noStrike" dirty="0">
                <a:solidFill>
                  <a:srgbClr val="FFFFFF"/>
                </a:solidFill>
                <a:effectLst/>
                <a:uFillTx/>
                <a:latin typeface="メイリオ"/>
                <a:ea typeface="メイリオ"/>
                <a:cs typeface="メイリオ"/>
              </a:rPr>
              <a:t>定例会</a:t>
            </a:r>
            <a:endParaRPr lang="en-US" altLang="ja-JP" sz="1300" b="0" u="none" strike="noStrike" dirty="0">
              <a:solidFill>
                <a:schemeClr val="lt1"/>
              </a:solidFill>
              <a:effectLst/>
              <a:uFillTx/>
              <a:latin typeface="メイリオ"/>
              <a:ea typeface="メイリオ"/>
              <a:cs typeface="メイリオ"/>
            </a:endParaRPr>
          </a:p>
        </p:txBody>
      </p:sp>
      <p:sp>
        <p:nvSpPr>
          <p:cNvPr id="5" name="正方形/長方形 61">
            <a:extLst>
              <a:ext uri="{FF2B5EF4-FFF2-40B4-BE49-F238E27FC236}">
                <a16:creationId xmlns:a16="http://schemas.microsoft.com/office/drawing/2014/main" id="{916B9146-7BB6-4276-D5B6-30DF19D48AA1}"/>
              </a:ext>
            </a:extLst>
          </p:cNvPr>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dirty="0">
                <a:solidFill>
                  <a:schemeClr val="dk1"/>
                </a:solidFill>
                <a:latin typeface="メイリオ"/>
                <a:ea typeface="メイリオ"/>
                <a:cs typeface="メイリオ"/>
              </a:rPr>
              <a:t>月１回</a:t>
            </a:r>
            <a:endParaRPr lang="en-US" sz="1300" b="0" u="none" strike="noStrike" dirty="0">
              <a:solidFill>
                <a:srgbClr val="000000"/>
              </a:solidFill>
              <a:effectLst/>
              <a:uFillTx/>
              <a:latin typeface="メイリオ"/>
              <a:ea typeface="メイリオ"/>
              <a:cs typeface="メイリオ"/>
            </a:endParaRPr>
          </a:p>
        </p:txBody>
      </p:sp>
      <p:sp>
        <p:nvSpPr>
          <p:cNvPr id="384" name="想定の注記"/>
          <p:cNvSpPr/>
          <p:nvPr/>
        </p:nvSpPr>
        <p:spPr>
          <a:xfrm>
            <a:off x="6748272" y="3931920"/>
            <a:ext cx="2898648" cy="2286000"/>
          </a:xfrm>
          <a:prstGeom prst="rect">
            <a:avLst/>
          </a:prstGeom>
          <a:noFill/>
          <a:ln>
            <a:noFill/>
          </a:ln>
        </p:spPr>
        <p:txBody>
          <a:bodyPr wrap="square" lIns="45720" tIns="0" rIns="0" bIns="0" rtlCol="0" anchor="t">
            <a:noAutofit/>
          </a:bodyPr>
          <a:lstStyle/>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※SIMによる想定値（実績ではない）。ポップアップ＋サンクスLINE誘導の場合</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※推奨構成（ポップアップのみ）では、予約完了後の友だち追加が減るため、友だち数・配信可能な人数は少なくなる想定</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※セミナー予約・サロン入会は、LINEの配信・リンクからの件数。友だち数ほどの差は見込まないが、同数とは限らない</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※配信可能な人数＝ブロックされずに届く友だちの数</a:t>
            </a:r>
            <a:endParaRPr lang="ja-JP" altLang="en-US" sz="1200" dirty="0">
              <a:latin typeface="メイリオ"/>
              <a:ea typeface="メイリオ"/>
              <a:cs typeface="メイリオ"/>
            </a:endParaRPr>
          </a:p>
        </p:txBody>
      </p:sp>
      <p:sp>
        <p:nvSpPr>
          <p:cNvPr id="385" name="追加オプション"/>
          <p:cNvSpPr/>
          <p:nvPr/>
        </p:nvSpPr>
        <p:spPr>
          <a:xfrm>
            <a:off x="265176" y="6053328"/>
            <a:ext cx="5971032" cy="411480"/>
          </a:xfrm>
          <a:prstGeom prst="rect">
            <a:avLst/>
          </a:prstGeom>
          <a:solidFill>
            <a:srgbClr val="F5F7FA"/>
          </a:solidFill>
          <a:ln w="9525">
            <a:solidFill>
              <a:srgbClr val="1F2A5C"/>
            </a:solidFill>
          </a:ln>
        </p:spPr>
        <p:txBody>
          <a:bodyPr wrap="square" lIns="91440" tIns="18288" rIns="91440" bIns="18288" rtlCol="0" anchor="ctr">
            <a:noAutofit/>
          </a:bodyPr>
          <a:lstStyle/>
          <a:p>
            <a:pPr algn="l">
              <a:buNone/>
            </a:pPr>
            <a:r>
              <a:rPr lang="ja-JP" altLang="en-US" sz="1100" b="1" dirty="0">
                <a:solidFill>
                  <a:srgbClr val="1F2A5C"/>
                </a:solidFill>
                <a:latin typeface="メイリオ" panose="020B0604030504040204" pitchFamily="50" charset="-128"/>
                <a:ea typeface="メイリオ" panose="020B0604030504040204" pitchFamily="50" charset="-128"/>
                <a:cs typeface="メイリオ"/>
              </a:rPr>
              <a:t>追加オプション｜サンクスLINE誘導：初期＋¥150,000・月額＋¥30,000〜</a:t>
            </a:r>
            <a:endParaRPr lang="ja-JP" altLang="en-US" sz="1200" dirty="0">
              <a:latin typeface="メイリオ"/>
              <a:ea typeface="メイリオ"/>
              <a:cs typeface="メイリオ"/>
            </a:endParaRPr>
          </a:p>
          <a:p>
            <a:pPr algn="l">
              <a:buNone/>
            </a:pPr>
            <a:r>
              <a:rPr lang="ja-JP" altLang="en-US" sz="1000" b="0" dirty="0">
                <a:solidFill>
                  <a:srgbClr val="333333"/>
                </a:solidFill>
                <a:latin typeface="メイリオ" panose="020B0604030504040204" pitchFamily="50" charset="-128"/>
                <a:ea typeface="メイリオ" panose="020B0604030504040204" pitchFamily="50" charset="-128"/>
                <a:cs typeface="メイリオ"/>
              </a:rPr>
              <a:t>（追加した場合の合計：初期 ¥295,000〜／開催月 ¥365,000程度／平常期 ¥165,000〜）</a:t>
            </a:r>
            <a:endParaRPr lang="ja-JP" altLang="en-US" sz="1200" dirty="0">
              <a:latin typeface="メイリオ"/>
              <a:ea typeface="メイリオ"/>
              <a:cs typeface="メイリオ"/>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費用の比較：推奨構成と、サンクスLINE誘導を追加する場合</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費用の比較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ポップアップの導入を推奨。サンクスLINE誘導は追加の選択肢</a:t>
            </a:r>
            <a:endParaRPr lang="en-US" sz="1600" b="0" u="none" strike="noStrike" dirty="0">
              <a:solidFill>
                <a:srgbClr val="000000"/>
              </a:solidFill>
              <a:effectLst/>
              <a:uFillTx/>
              <a:latin typeface="メイリオ"/>
              <a:ea typeface="メイリオ"/>
              <a:cs typeface="メイリオ"/>
            </a:endParaRPr>
          </a:p>
        </p:txBody>
      </p:sp>
      <p:graphicFrame>
        <p:nvGraphicFramePr>
          <p:cNvPr id="638" name="費用の比較 637"/>
          <p:cNvGraphicFramePr>
            <a:graphicFrameLocks noGrp="1"/>
          </p:cNvGraphicFramePr>
          <p:nvPr/>
        </p:nvGraphicFramePr>
        <p:xfrm>
          <a:off x="384048" y="1353312"/>
          <a:ext cx="9144000" cy="3264408"/>
        </p:xfrm>
        <a:graphic>
          <a:graphicData uri="http://schemas.openxmlformats.org/drawingml/2006/table">
            <a:tbl>
              <a:tblPr/>
              <a:tblGrid>
                <a:gridCol w="25146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推奨構成：ポップアップあり</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追加構成：＋サンクスLINE誘導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295,000円〜（＋150,000円）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月額費用（平常期）</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135,000円〜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165,000円〜（＋30,000円〜）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335,000円程度</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365,000円程度（＋30,000円〜）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友だちの入口</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離脱防止ポップアップで、LPを離れる方を友だちに。予約完了ページには通常の友だち追加ボタン等を設置（費用・実装条件は仕様確認のうえ）</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上記に加え、予約完了後にLINEへ自動遷移（フォームの入力内容の引き継ぎも可能）</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6400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追加するメリット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予約した方を友だちにしやすくなり、特にセミナー開催時期の友だち追加数の上積みが期待できる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39" name="注記"/>
          <p:cNvSpPr/>
          <p:nvPr/>
        </p:nvSpPr>
        <p:spPr>
          <a:xfrm>
            <a:off x="420624" y="4754880"/>
            <a:ext cx="9052560" cy="96012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※月額費用＝コンサルティング費（平常期 100,000円／セミナー開催月 300,000円程度）＋ツール・LINE関連費（推奨構成 35,000円〜＝ポップアップ 30,000円＋LINE公式アカウント利用料 5,000円〜）</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※初期費用（推奨構成）＝運用設計・構築 100,000円〜＋ポップアップ 15,000円＋LINE公式アカウント開設 30,000円</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※ポップアップ・サンクスLINE誘導はどちらも選択制。ポップアップも導入しない場合の参考：初期 130,000円〜／平常期 105,000円〜／開催月 305,000円程度（別途の実装・制作費等は含まない）</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※サンクスLINE誘導の最低利用期間・停止条件（セミナー開催月だけの利用可否）は、確認のうえご案内</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※契約期間は6か月。広告費は含まない。施策内容・配信本数・連携範囲等により、費用は個別にお見積もりいたします。</a:t>
            </a:r>
            <a:endParaRPr lang="ja-JP" altLang="en-US" sz="1200" dirty="0">
              <a:latin typeface="メイリオ"/>
              <a:ea typeface="メイリオ"/>
              <a:cs typeface="メイリオ"/>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料金プラン：3つのプランの費用</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料金プランの比較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ご予算と運用の体制に合わせて、3つのプランをご用意</a:t>
            </a:r>
            <a:endParaRPr lang="en-US" sz="1600" b="0" u="none" strike="noStrike" dirty="0">
              <a:solidFill>
                <a:srgbClr val="000000"/>
              </a:solidFill>
              <a:effectLst/>
              <a:uFillTx/>
              <a:latin typeface="メイリオ"/>
              <a:ea typeface="メイリオ"/>
              <a:cs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889248"/>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400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初期費用</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300,000円程度</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月額ツール・LINE関連費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（平常期）</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135,000円〜</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235,000円〜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5"/>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335,000円程度</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6"/>
                  </a:ext>
                </a:extLst>
              </a:tr>
            </a:tbl>
          </a:graphicData>
        </a:graphic>
      </p:graphicFrame>
      <p:sp>
        <p:nvSpPr>
          <p:cNvPr id="640" name="注記"/>
          <p:cNvSpPr/>
          <p:nvPr/>
        </p:nvSpPr>
        <p:spPr>
          <a:xfrm>
            <a:off x="384048" y="53035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※初期費用＝運用設計・構築 100,000円〜＋ポップアップ 15,000円＋LINE公式アカウント開設 30,000円</a:t>
            </a:r>
            <a:endParaRPr lang="ja-JP" altLang="en-US" sz="1200" dirty="0">
              <a:latin typeface="メイリオ"/>
              <a:ea typeface="メイリオ"/>
              <a:cs typeface="メイリオ"/>
            </a:endParaRPr>
          </a:p>
        </p:txBody>
      </p:sp>
      <p:sp>
        <p:nvSpPr>
          <p:cNvPr id="641" name="注記"/>
          <p:cNvSpPr/>
          <p:nvPr/>
        </p:nvSpPr>
        <p:spPr>
          <a:xfrm>
            <a:off x="384048" y="55321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※月額ツール・LINE関連費＝ポップアップ 30,000円＋LINE公式アカウント利用料 5,000円〜</a:t>
            </a:r>
            <a:endParaRPr lang="ja-JP" altLang="en-US" sz="1200" dirty="0">
              <a:latin typeface="メイリオ"/>
              <a:ea typeface="メイリオ"/>
              <a:cs typeface="メイリオ"/>
            </a:endParaRPr>
          </a:p>
        </p:txBody>
      </p:sp>
      <p:sp>
        <p:nvSpPr>
          <p:cNvPr id="642" name="注記"/>
          <p:cNvSpPr/>
          <p:nvPr/>
        </p:nvSpPr>
        <p:spPr>
          <a:xfrm>
            <a:off x="384048" y="57607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※ツールは選択制。サンクスLINE誘導を追加する場合は、初期＋150,000円・月額＋30,000円〜（ポップアップを導入しない場合は、初期−15,000円・月額−30,000円）</a:t>
            </a:r>
            <a:endParaRPr lang="ja-JP" altLang="en-US" sz="1200" dirty="0">
              <a:latin typeface="メイリオ"/>
              <a:ea typeface="メイリオ"/>
              <a:cs typeface="メイリオ"/>
            </a:endParaRPr>
          </a:p>
        </p:txBody>
      </p:sp>
      <p:sp>
        <p:nvSpPr>
          <p:cNvPr id="643" name="注記"/>
          <p:cNvSpPr/>
          <p:nvPr/>
        </p:nvSpPr>
        <p:spPr>
          <a:xfrm>
            <a:off x="384048" y="59893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※成果報酬型プラン：初期 145,000円〜／月額 35,000円〜＋成果報酬（セミナー予約 12,000円／件）。ツールの追加は上記と同じ</a:t>
            </a:r>
            <a:endParaRPr lang="ja-JP" altLang="en-US" sz="1200" dirty="0">
              <a:latin typeface="メイリオ"/>
              <a:ea typeface="メイリオ"/>
              <a:cs typeface="メイリオ"/>
            </a:endParaRPr>
          </a:p>
        </p:txBody>
      </p:sp>
      <p:sp>
        <p:nvSpPr>
          <p:cNvPr id="644" name="注記"/>
          <p:cNvSpPr/>
          <p:nvPr/>
        </p:nvSpPr>
        <p:spPr>
          <a:xfrm>
            <a:off x="384048" y="621792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※契約期間は6か月。広告費は含まない。施策内容・配信本数・連携範囲等により、費用は個別にお見積もりいたします。</a:t>
            </a:r>
            <a:endParaRPr lang="ja-JP" altLang="en-US" sz="1200" dirty="0">
              <a:latin typeface="メイリオ"/>
              <a:ea typeface="メイリオ"/>
              <a:cs typeface="メイリオ"/>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運用内容：プランごとの対応範囲</a:t>
            </a:r>
            <a:endParaRPr lang="en-US" sz="1600" b="0" u="none" strike="noStrike">
              <a:solidFill>
                <a:srgbClr val="000000"/>
              </a:solidFill>
              <a:effectLst/>
              <a:uFillTx/>
              <a:latin typeface="メイリオ"/>
              <a:ea typeface="メイリオ"/>
              <a:cs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運用内容の比較</a:t>
            </a:r>
            <a:endParaRPr lang="en-US" sz="1400" b="0" u="none" strike="noStrike">
              <a:solidFill>
                <a:srgbClr val="FFFFFF"/>
              </a:solidFill>
              <a:effectLst/>
              <a:uFillTx/>
              <a:latin typeface="メイリオ"/>
              <a:ea typeface="メイリオ"/>
              <a:cs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3つのプランの運用内容の比較</a:t>
            </a:r>
            <a:endParaRPr lang="en-US" sz="1600" b="0" u="none" strike="noStrike" dirty="0">
              <a:solidFill>
                <a:srgbClr val="000000"/>
              </a:solidFill>
              <a:effectLst/>
              <a:uFillTx/>
              <a:latin typeface="メイリオ"/>
              <a:ea typeface="メイリオ"/>
              <a:cs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2955272464"/>
              </p:ext>
            </p:extLst>
          </p:nvPr>
        </p:nvGraphicFramePr>
        <p:xfrm>
          <a:off x="384048" y="1353312"/>
          <a:ext cx="9144000" cy="3642969"/>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ポップアップ（推奨）・</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サンクスLINE誘導（追加）</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ステップ配信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企画配信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なし（貴社で運用）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月4〜5回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平常期 月1〜2回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平常期 月3回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セミナー前日・当日のリマインド</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結果の分析・改善</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（月次レポート・定例会）</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dirty="0">
                          <a:latin typeface="メイリオ"/>
                          <a:ea typeface="メイリオ"/>
                          <a:cs typeface="メイリオ"/>
                        </a:rPr>
                        <a:t>対応</a:t>
                      </a:r>
                      <a:endParaRPr lang="en-US" altLang="ja-JP"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個別チャット</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注記"/>
          <p:cNvSpPr/>
          <p:nvPr/>
        </p:nvSpPr>
        <p:spPr>
          <a:xfrm>
            <a:off x="420624" y="5120640"/>
            <a:ext cx="9052560" cy="5943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※月額のコンサルティング費には、企画配信の制作に加え、LINEアカウントの運用・導線の管理・ステップ配信の改善・配信結果の分析・次回施策への改善提案を含む</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※平常期の配信は、次のイベントまで関係を保つためのもの（配信の回数を増やすこと自体は目的にしない）</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※前日・当日のリマインドは、企画配信とは別に、予約ごとに配信。契約期間は6か月</a:t>
            </a:r>
            <a:endParaRPr lang="ja-JP" altLang="en-US" sz="1200" dirty="0">
              <a:latin typeface="メイリオ"/>
              <a:ea typeface="メイリオ"/>
              <a:cs typeface="メイリオ"/>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別案：成果件数に応じた費用で、リスクを抑えて運用を始められる</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流入経路ごとにステップ配信を構築し、CV数の増加を図る。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1F2A5C"/>
                </a:solidFill>
                <a:latin typeface="メイリオ" panose="020B0604030504040204" pitchFamily="50" charset="-128"/>
                <a:ea typeface="メイリオ" panose="020B0604030504040204" pitchFamily="50" charset="-128"/>
                <a:cs typeface="メイリオ"/>
              </a:rPr>
              <a:t>GA</a:t>
            </a:r>
            <a:r>
              <a:rPr lang="ja-JP" altLang="en-US" sz="800" dirty="0">
                <a:solidFill>
                  <a:srgbClr val="1F2A5C"/>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1F2A5C"/>
                </a:solidFill>
                <a:latin typeface="メイリオ" panose="020B0604030504040204" pitchFamily="50" charset="-128"/>
                <a:ea typeface="メイリオ" panose="020B0604030504040204" pitchFamily="50" charset="-128"/>
                <a:cs typeface="メイリオ"/>
              </a:rPr>
              <a:t>CPA</a:t>
            </a:r>
            <a:r>
              <a:rPr lang="ja-JP" altLang="en-US" sz="800" dirty="0">
                <a:solidFill>
                  <a:srgbClr val="1F2A5C"/>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今回の成果単価の費用感</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105656">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リピート予約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LINEのリンクからの2回目以降の予約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32" name="注記"/>
          <p:cNvSpPr/>
          <p:nvPr/>
        </p:nvSpPr>
        <p:spPr>
          <a:xfrm>
            <a:off x="420624" y="553212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※成果地点の定義・重複計上の有無・計測方法は、ご契約前に確認のうえ決定</a:t>
            </a:r>
            <a:endParaRPr lang="ja-JP" altLang="en-US" sz="1200" dirty="0">
              <a:latin typeface="メイリオ"/>
              <a:ea typeface="メイリオ"/>
              <a:cs typeface="メイリオ"/>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LINE施策の全体像：6つの段階で、友だち獲得から入会まで案内</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友だち追加の時期と状況に合わせて、届ける内容を変える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LINE施策の全体像 49"/>
          <p:cNvGraphicFramePr>
            <a:graphicFrameLocks noGrp="1"/>
          </p:cNvGraphicFramePr>
          <p:nvPr/>
        </p:nvGraphicFramePr>
        <p:xfrm>
          <a:off x="420624" y="1600200"/>
          <a:ext cx="9052560" cy="3931920"/>
        </p:xfrm>
        <a:graphic>
          <a:graphicData uri="http://schemas.openxmlformats.org/drawingml/2006/table">
            <a:tbl>
              <a:tblPr/>
              <a:tblGrid>
                <a:gridCol w="18288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主な施策</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315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① 友だち獲得</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離脱防止ポップアップ（導入推奨）／予約完了後の友だち追加：サンクスLINE誘導（追加オプション）または通常のご案内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LPを離れる方・予約した方とつながる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② 友だち追加直後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あいさつメッセージ・見どころ動画・参加特典（必要に応じて、簡易的な興味分野の把握）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セミナーの中身を伝え、予約につなげる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③ 予約した方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当日の参加を後押しする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④ 参加後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セミナー内容の振り返り／オンラインサロンの内容紹介・入会のご案内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関心が高いうちに、入会を案内する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⑤ 平常期</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月1〜2回の企画配信／次回イベントのご案内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イベントのない期間もつながりを保つ</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⑥ 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月4〜5回の企画配信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開催に合わせて、予約・参加を後押しする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bl>
          </a:graphicData>
        </a:graphic>
      </p:graphicFrame>
      <p:sp>
        <p:nvSpPr>
          <p:cNvPr id="51" name="注記"/>
          <p:cNvSpPr/>
          <p:nvPr/>
        </p:nvSpPr>
        <p:spPr>
          <a:xfrm>
            <a:off x="420624" y="562356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※③のリマインドは、企画配信の回数とは別に、予約ごとに配信</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※③④は、予約・参加した方を特定できる範囲で実施（予約完了後の友だち追加など）。予約システム等との連携は、可否を確認のうえ設計</a:t>
            </a:r>
            <a:endParaRPr lang="ja-JP" altLang="en-US" sz="1200" dirty="0">
              <a:latin typeface="メイリオ"/>
              <a:ea typeface="メイリオ"/>
              <a:cs typeface="メイリオ"/>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
        <p:nvSpPr>
          <p:cNvPr id="23" name="ツールの位置づけ"/>
          <p:cNvSpPr/>
          <p:nvPr/>
        </p:nvSpPr>
        <p:spPr>
          <a:xfrm>
            <a:off x="3749039" y="1316736"/>
            <a:ext cx="1371600" cy="484632"/>
          </a:xfrm>
          <a:prstGeom prst="rect">
            <a:avLst/>
          </a:prstGeom>
          <a:solidFill>
            <a:srgbClr val="FFFFFF"/>
          </a:solidFill>
          <a:ln w="19050">
            <a:solidFill>
              <a:srgbClr val="1F2A5C"/>
            </a:solidFill>
          </a:ln>
        </p:spPr>
        <p:txBody>
          <a:bodyPr wrap="square" lIns="45720" tIns="18288" rIns="45720"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任意・導入推奨</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2713348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2"/>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3"/>
          <a:stretch>
            <a:fillRect/>
          </a:stretch>
        </p:blipFill>
        <p:spPr>
          <a:xfrm>
            <a:off x="579513" y="1977951"/>
            <a:ext cx="5023065" cy="2231287"/>
          </a:xfrm>
          <a:prstGeom prst="rect">
            <a:avLst/>
          </a:prstGeom>
        </p:spPr>
      </p:pic>
      <p:grpSp>
        <p:nvGrpSpPr>
          <p:cNvPr id="2" name="グループ化 1">
            <a:extLst>
              <a:ext uri="{FF2B5EF4-FFF2-40B4-BE49-F238E27FC236}">
                <a16:creationId xmlns:a16="http://schemas.microsoft.com/office/drawing/2014/main" id="{B58110A5-3249-591F-F0D8-9733B5C19419}"/>
              </a:ext>
            </a:extLst>
          </p:cNvPr>
          <p:cNvGrpSpPr/>
          <p:nvPr/>
        </p:nvGrpSpPr>
        <p:grpSpPr>
          <a:xfrm>
            <a:off x="543398" y="777681"/>
            <a:ext cx="3105325" cy="485102"/>
            <a:chOff x="507969" y="928495"/>
            <a:chExt cx="3105325" cy="485102"/>
          </a:xfrm>
          <a:solidFill>
            <a:schemeClr val="tx2"/>
          </a:solidFill>
        </p:grpSpPr>
        <p:sp>
          <p:nvSpPr>
            <p:cNvPr id="10" name="Google Shape;51;p19">
              <a:extLst>
                <a:ext uri="{FF2B5EF4-FFF2-40B4-BE49-F238E27FC236}">
                  <a16:creationId xmlns:a16="http://schemas.microsoft.com/office/drawing/2014/main" id="{2624D4C3-8EE7-C79A-AD39-F7C125FED5C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8134CCE0-9B09-BEAB-56F6-583858DE4FFA}"/>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18" name="Google Shape;51;p19">
            <a:extLst>
              <a:ext uri="{FF2B5EF4-FFF2-40B4-BE49-F238E27FC236}">
                <a16:creationId xmlns:a16="http://schemas.microsoft.com/office/drawing/2014/main" id="{ABAC4CA8-0C86-B839-6335-8FB2EF8DA230}"/>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20" name="Google Shape;51;p19">
            <a:extLst>
              <a:ext uri="{FF2B5EF4-FFF2-40B4-BE49-F238E27FC236}">
                <a16:creationId xmlns:a16="http://schemas.microsoft.com/office/drawing/2014/main" id="{54BADA25-EAD6-B857-B5DA-8E7366A2D4D6}"/>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26" name="図 25">
            <a:extLst>
              <a:ext uri="{FF2B5EF4-FFF2-40B4-BE49-F238E27FC236}">
                <a16:creationId xmlns:a16="http://schemas.microsoft.com/office/drawing/2014/main" id="{EDC5B771-42F2-76B0-A6E7-50BC96175819}"/>
              </a:ext>
            </a:extLst>
          </p:cNvPr>
          <p:cNvPicPr>
            <a:picLocks noChangeAspect="1"/>
          </p:cNvPicPr>
          <p:nvPr/>
        </p:nvPicPr>
        <p:blipFill>
          <a:blip r:embed="rId4"/>
          <a:stretch>
            <a:fillRect/>
          </a:stretch>
        </p:blipFill>
        <p:spPr>
          <a:xfrm>
            <a:off x="5743237" y="2258734"/>
            <a:ext cx="1190032" cy="2417060"/>
          </a:xfrm>
          <a:prstGeom prst="rect">
            <a:avLst/>
          </a:prstGeom>
        </p:spPr>
      </p:pic>
      <p:pic>
        <p:nvPicPr>
          <p:cNvPr id="46" name="図 45">
            <a:extLst>
              <a:ext uri="{FF2B5EF4-FFF2-40B4-BE49-F238E27FC236}">
                <a16:creationId xmlns:a16="http://schemas.microsoft.com/office/drawing/2014/main" id="{CDFFD994-B78C-9580-A303-CCE3C06EF4D0}"/>
              </a:ext>
            </a:extLst>
          </p:cNvPr>
          <p:cNvPicPr>
            <a:picLocks noChangeAspect="1"/>
          </p:cNvPicPr>
          <p:nvPr/>
        </p:nvPicPr>
        <p:blipFill>
          <a:blip r:embed="rId4"/>
          <a:stretch>
            <a:fillRect/>
          </a:stretch>
        </p:blipFill>
        <p:spPr>
          <a:xfrm>
            <a:off x="7682503" y="2258734"/>
            <a:ext cx="1190032" cy="2417060"/>
          </a:xfrm>
          <a:prstGeom prst="rect">
            <a:avLst/>
          </a:prstGeom>
        </p:spPr>
      </p:pic>
      <p:pic>
        <p:nvPicPr>
          <p:cNvPr id="48" name="図 47">
            <a:extLst>
              <a:ext uri="{FF2B5EF4-FFF2-40B4-BE49-F238E27FC236}">
                <a16:creationId xmlns:a16="http://schemas.microsoft.com/office/drawing/2014/main" id="{2F2D6E3E-D262-6FC3-26DE-F7F8A36D53EB}"/>
              </a:ext>
            </a:extLst>
          </p:cNvPr>
          <p:cNvPicPr>
            <a:picLocks noChangeAspect="1"/>
          </p:cNvPicPr>
          <p:nvPr/>
        </p:nvPicPr>
        <p:blipFill>
          <a:blip r:embed="rId4"/>
          <a:stretch>
            <a:fillRect/>
          </a:stretch>
        </p:blipFill>
        <p:spPr>
          <a:xfrm>
            <a:off x="8367522" y="4081984"/>
            <a:ext cx="1190032" cy="2417060"/>
          </a:xfrm>
          <a:prstGeom prst="rect">
            <a:avLst/>
          </a:prstGeom>
        </p:spPr>
      </p:pic>
      <p:sp>
        <p:nvSpPr>
          <p:cNvPr id="50" name="正方形/長方形 49">
            <a:extLst>
              <a:ext uri="{FF2B5EF4-FFF2-40B4-BE49-F238E27FC236}">
                <a16:creationId xmlns:a16="http://schemas.microsoft.com/office/drawing/2014/main" id="{C15238B5-4395-F723-0A79-2790FCF7C350}"/>
              </a:ext>
            </a:extLst>
          </p:cNvPr>
          <p:cNvSpPr/>
          <p:nvPr/>
        </p:nvSpPr>
        <p:spPr>
          <a:xfrm>
            <a:off x="8404597"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56" name="図 55">
            <a:extLst>
              <a:ext uri="{FF2B5EF4-FFF2-40B4-BE49-F238E27FC236}">
                <a16:creationId xmlns:a16="http://schemas.microsoft.com/office/drawing/2014/main" id="{EF814CDE-D628-AA7F-3C9D-D1DAF2358FE4}"/>
              </a:ext>
            </a:extLst>
          </p:cNvPr>
          <p:cNvPicPr>
            <a:picLocks noChangeAspect="1"/>
          </p:cNvPicPr>
          <p:nvPr/>
        </p:nvPicPr>
        <p:blipFill>
          <a:blip r:embed="rId4"/>
          <a:stretch>
            <a:fillRect/>
          </a:stretch>
        </p:blipFill>
        <p:spPr>
          <a:xfrm>
            <a:off x="6278620" y="4081984"/>
            <a:ext cx="1190032" cy="2417060"/>
          </a:xfrm>
          <a:prstGeom prst="rect">
            <a:avLst/>
          </a:prstGeom>
        </p:spPr>
      </p:pic>
      <p:sp>
        <p:nvSpPr>
          <p:cNvPr id="58" name="正方形/長方形 57">
            <a:extLst>
              <a:ext uri="{FF2B5EF4-FFF2-40B4-BE49-F238E27FC236}">
                <a16:creationId xmlns:a16="http://schemas.microsoft.com/office/drawing/2014/main" id="{8EAB183B-DD91-4D27-96EA-958B1E359EDF}"/>
              </a:ext>
            </a:extLst>
          </p:cNvPr>
          <p:cNvSpPr/>
          <p:nvPr/>
        </p:nvSpPr>
        <p:spPr>
          <a:xfrm>
            <a:off x="6315695"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66" name="図 65">
            <a:extLst>
              <a:ext uri="{FF2B5EF4-FFF2-40B4-BE49-F238E27FC236}">
                <a16:creationId xmlns:a16="http://schemas.microsoft.com/office/drawing/2014/main" id="{C2855CFF-6E8D-0B73-876F-08A7CAF411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64783" y="4682317"/>
            <a:ext cx="999311" cy="999311"/>
          </a:xfrm>
          <a:prstGeom prst="rect">
            <a:avLst/>
          </a:prstGeom>
        </p:spPr>
      </p:pic>
      <p:sp>
        <p:nvSpPr>
          <p:cNvPr id="68" name="テキスト ボックス 67">
            <a:extLst>
              <a:ext uri="{FF2B5EF4-FFF2-40B4-BE49-F238E27FC236}">
                <a16:creationId xmlns:a16="http://schemas.microsoft.com/office/drawing/2014/main" id="{A25E8A43-2530-9596-D092-B486168F2683}"/>
              </a:ext>
            </a:extLst>
          </p:cNvPr>
          <p:cNvSpPr txBox="1"/>
          <p:nvPr/>
        </p:nvSpPr>
        <p:spPr>
          <a:xfrm>
            <a:off x="6161730"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ja-JP" altLang="en-US" sz="1000" b="1" dirty="0">
                <a:solidFill>
                  <a:schemeClr val="bg1"/>
                </a:solidFill>
                <a:latin typeface="メイリオ"/>
                <a:ea typeface="メイリオ"/>
                <a:cs typeface="メイリオ"/>
                <a:sym typeface="Meiryo"/>
              </a:rPr>
              <a:t>セミナーLPへ</a:t>
            </a:r>
            <a:endParaRPr lang="ja-JP" altLang="en-US" sz="1050" b="1" dirty="0">
              <a:solidFill>
                <a:schemeClr val="bg1"/>
              </a:solidFill>
              <a:latin typeface="メイリオ"/>
              <a:ea typeface="メイリオ"/>
              <a:cs typeface="メイリオ"/>
            </a:endParaRPr>
          </a:p>
        </p:txBody>
      </p:sp>
      <p:sp>
        <p:nvSpPr>
          <p:cNvPr id="70" name="テキスト ボックス 69">
            <a:extLst>
              <a:ext uri="{FF2B5EF4-FFF2-40B4-BE49-F238E27FC236}">
                <a16:creationId xmlns:a16="http://schemas.microsoft.com/office/drawing/2014/main" id="{0728AAC8-ACED-DE14-79C2-5D2E1E568CE7}"/>
              </a:ext>
            </a:extLst>
          </p:cNvPr>
          <p:cNvSpPr txBox="1"/>
          <p:nvPr/>
        </p:nvSpPr>
        <p:spPr>
          <a:xfrm>
            <a:off x="8248538"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en-US" altLang="ja-JP" sz="1000" b="1" dirty="0">
                <a:solidFill>
                  <a:schemeClr val="bg1"/>
                </a:solidFill>
                <a:latin typeface="メイリオ"/>
                <a:ea typeface="メイリオ"/>
                <a:cs typeface="メイリオ"/>
                <a:sym typeface="Meiryo"/>
              </a:rPr>
              <a:t>LINE</a:t>
            </a:r>
            <a:r>
              <a:rPr lang="ja-JP" altLang="en-US" sz="1000" b="1" dirty="0">
                <a:solidFill>
                  <a:schemeClr val="bg1"/>
                </a:solidFill>
                <a:latin typeface="メイリオ"/>
                <a:ea typeface="メイリオ"/>
                <a:cs typeface="メイリオ"/>
                <a:sym typeface="Meiryo"/>
              </a:rPr>
              <a:t>追加へ</a:t>
            </a:r>
            <a:endParaRPr lang="ja-JP" altLang="en-US" sz="1050" b="1" dirty="0">
              <a:solidFill>
                <a:schemeClr val="bg1"/>
              </a:solidFill>
              <a:latin typeface="メイリオ"/>
              <a:ea typeface="メイリオ"/>
              <a:cs typeface="メイリオ"/>
            </a:endParaRPr>
          </a:p>
        </p:txBody>
      </p:sp>
      <p:pic>
        <p:nvPicPr>
          <p:cNvPr id="74" name="図 73">
            <a:extLst>
              <a:ext uri="{FF2B5EF4-FFF2-40B4-BE49-F238E27FC236}">
                <a16:creationId xmlns:a16="http://schemas.microsoft.com/office/drawing/2014/main" id="{4C49234A-BFF2-AECE-086F-27D9165ADB4C}"/>
              </a:ext>
            </a:extLst>
          </p:cNvPr>
          <p:cNvPicPr>
            <a:picLocks noChangeAspect="1"/>
          </p:cNvPicPr>
          <p:nvPr/>
        </p:nvPicPr>
        <p:blipFill>
          <a:blip r:embed="rId6"/>
          <a:stretch>
            <a:fillRect/>
          </a:stretch>
        </p:blipFill>
        <p:spPr>
          <a:xfrm>
            <a:off x="8471302" y="4682317"/>
            <a:ext cx="976991" cy="976991"/>
          </a:xfrm>
          <a:prstGeom prst="rect">
            <a:avLst/>
          </a:prstGeom>
        </p:spPr>
      </p:pic>
      <p:sp>
        <p:nvSpPr>
          <p:cNvPr id="75" name="ツールの位置づけ"/>
          <p:cNvSpPr/>
          <p:nvPr/>
        </p:nvSpPr>
        <p:spPr>
          <a:xfrm>
            <a:off x="3749039" y="1316736"/>
            <a:ext cx="1371600" cy="484632"/>
          </a:xfrm>
          <a:prstGeom prst="rect">
            <a:avLst/>
          </a:prstGeom>
          <a:solidFill>
            <a:srgbClr val="FFFFFF"/>
          </a:solidFill>
          <a:ln w="19050">
            <a:solidFill>
              <a:srgbClr val="1F2A5C"/>
            </a:solidFill>
          </a:ln>
        </p:spPr>
        <p:txBody>
          <a:bodyPr wrap="square" lIns="45720" tIns="18288" rIns="45720"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任意・導入推奨</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10589334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cs typeface="メイリオ"/>
                </a:rPr>
                <a:t>サンクス</a:t>
              </a:r>
              <a:r>
                <a:rPr lang="en-US" altLang="ja-JP" sz="1200" b="1" dirty="0">
                  <a:solidFill>
                    <a:schemeClr val="bg1"/>
                  </a:solidFill>
                  <a:latin typeface="メイリオ" panose="020B0604030504040204" pitchFamily="34" charset="-128"/>
                  <a:ea typeface="メイリオ" panose="020B0604030504040204" pitchFamily="34" charset="-128"/>
                  <a:cs typeface="メイリオ"/>
                </a:rPr>
                <a:t>LINE</a:t>
              </a:r>
              <a:r>
                <a:rPr lang="ja-JP" altLang="en-US" sz="12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9" name="正方形/長方形 8">
            <a:extLst>
              <a:ext uri="{FF2B5EF4-FFF2-40B4-BE49-F238E27FC236}">
                <a16:creationId xmlns:a16="http://schemas.microsoft.com/office/drawing/2014/main" id="{DC4FF56C-47EE-47DB-92F1-3F0EF57613D9}"/>
              </a:ext>
            </a:extLst>
          </p:cNvPr>
          <p:cNvSpPr/>
          <p:nvPr/>
        </p:nvSpPr>
        <p:spPr>
          <a:xfrm>
            <a:off x="3931920" y="1371600"/>
            <a:ext cx="4754880" cy="274320"/>
          </a:xfrm>
          <a:prstGeom prst="rect">
            <a:avLst/>
          </a:prstGeom>
        </p:spPr>
        <p:txBody>
          <a:bodyPr wrap="square" lIns="74295" rIns="74295">
            <a:spAutoFit/>
          </a:bodyPr>
          <a:lstStyle/>
          <a:p>
            <a:pPr lvl="0">
              <a:buClr>
                <a:schemeClr val="dk1"/>
              </a:buClr>
              <a:buSzPts val="1500"/>
            </a:pPr>
            <a:r>
              <a:rPr lang="ja-JP" altLang="en-US" sz="1300" dirty="0">
                <a:latin typeface="メイリオ"/>
                <a:ea typeface="メイリオ"/>
                <a:cs typeface="メイリオ"/>
                <a:sym typeface="Meiryo"/>
              </a:rPr>
              <a:t>予約後のLINE誘導を自動化し、開催時期の友だち数を上積み</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3931920" y="1645920"/>
            <a:ext cx="2148840" cy="201168"/>
          </a:xfrm>
          <a:prstGeom prst="rect">
            <a:avLst/>
          </a:prstGeom>
          <a:noFill/>
        </p:spPr>
        <p:txBody>
          <a:bodyPr wrap="square" lIns="74295" rIns="74295">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※既存APIツールとの併用も可能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cs typeface="メイリオ"/>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cs typeface="メイリオ"/>
              </a:rPr>
            </a:br>
            <a:r>
              <a:rPr lang="en-US" altLang="ja-JP" sz="13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300" dirty="0">
                <a:solidFill>
                  <a:schemeClr val="tx1"/>
                </a:solidFill>
                <a:latin typeface="メイリオ" panose="020B0604030504040204" pitchFamily="50" charset="-128"/>
                <a:ea typeface="メイリオ" panose="020B0604030504040204" pitchFamily="50" charset="-128"/>
                <a:cs typeface="メイリオ"/>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完了後約</a:t>
            </a:r>
            <a:r>
              <a:rPr lang="en-US" altLang="ja-JP" sz="1100" dirty="0">
                <a:solidFill>
                  <a:schemeClr val="tx1"/>
                </a:solidFill>
                <a:latin typeface="メイリオ" panose="020B0604030504040204" pitchFamily="50" charset="-128"/>
                <a:ea typeface="メイリオ" panose="020B0604030504040204" pitchFamily="50" charset="-128"/>
                <a:cs typeface="メイリオ"/>
              </a:rPr>
              <a:t>2~3</a:t>
            </a:r>
            <a:r>
              <a:rPr lang="ja-JP" altLang="en-US" sz="1100" dirty="0">
                <a:solidFill>
                  <a:schemeClr val="tx1"/>
                </a:solidFill>
                <a:latin typeface="メイリオ" panose="020B0604030504040204" pitchFamily="50" charset="-128"/>
                <a:ea typeface="メイリオ" panose="020B0604030504040204" pitchFamily="50" charset="-128"/>
                <a:cs typeface="メイリオ"/>
              </a:rPr>
              <a:t>秒で</a:t>
            </a:r>
            <a:br>
              <a:rPr lang="en-US" altLang="ja-JP" sz="1100" dirty="0">
                <a:solidFill>
                  <a:schemeClr val="tx1"/>
                </a:solidFill>
                <a:latin typeface="メイリオ" panose="020B0604030504040204" pitchFamily="50" charset="-128"/>
                <a:ea typeface="メイリオ" panose="020B0604030504040204" pitchFamily="50" charset="-128"/>
                <a:cs typeface="メイリオ"/>
              </a:rPr>
            </a:b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へ自動遷移</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cs typeface="メイリオ"/>
              </a:rPr>
              <a:t>QRコードを読み取って</a:t>
            </a:r>
            <a:endParaRPr lang="en-US" altLang="ja-JP" sz="1050" b="1" dirty="0">
              <a:latin typeface="メイリオ" panose="020B0604030504040204" pitchFamily="50" charset="-128"/>
              <a:ea typeface="メイリオ" panose="020B0604030504040204" pitchFamily="50" charset="-128"/>
              <a:cs typeface="メイリオ"/>
            </a:endParaRPr>
          </a:p>
          <a:p>
            <a:r>
              <a:rPr lang="ja-JP" altLang="ja-JP" sz="1050" b="1" dirty="0">
                <a:latin typeface="メイリオ" panose="020B0604030504040204" pitchFamily="50" charset="-128"/>
                <a:ea typeface="メイリオ" panose="020B0604030504040204" pitchFamily="50" charset="-128"/>
                <a:cs typeface="メイリオ"/>
              </a:rPr>
              <a:t>動画を見る（約22秒）</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cs typeface="メイリオ"/>
              </a:rPr>
              <a:t>クリックして再生</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1053" name="Google Shape;51;p19">
            <a:extLst>
              <a:ext uri="{FF2B5EF4-FFF2-40B4-BE49-F238E27FC236}">
                <a16:creationId xmlns:a16="http://schemas.microsoft.com/office/drawing/2014/main" id="{A4070FDA-7C99-27DE-6A9C-437C1D5DD3B3}"/>
              </a:ext>
            </a:extLst>
          </p:cNvPr>
          <p:cNvSpPr/>
          <p:nvPr/>
        </p:nvSpPr>
        <p:spPr>
          <a:xfrm>
            <a:off x="3931920" y="841248"/>
            <a:ext cx="13258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初期：</a:t>
            </a:r>
            <a:r>
              <a:rPr lang="en-US" altLang="ja-JP" b="1" dirty="0">
                <a:solidFill>
                  <a:schemeClr val="lt1"/>
                </a:solidFill>
                <a:latin typeface="メイリオ"/>
                <a:ea typeface="メイリオ"/>
                <a:cs typeface="メイリオ"/>
                <a:sym typeface="Meiryo"/>
              </a:rPr>
              <a:t>15</a:t>
            </a:r>
            <a:r>
              <a:rPr lang="ja-JP" altLang="en-US" b="1" dirty="0">
                <a:solidFill>
                  <a:schemeClr val="lt1"/>
                </a:solidFill>
                <a:latin typeface="メイリオ"/>
                <a:ea typeface="メイリオ"/>
                <a:cs typeface="メイリオ"/>
                <a:sym typeface="Meiryo"/>
              </a:rPr>
              <a:t>万円</a:t>
            </a:r>
            <a:endParaRPr b="1" dirty="0">
              <a:solidFill>
                <a:schemeClr val="lt1"/>
              </a:solidFill>
              <a:latin typeface="メイリオ"/>
              <a:ea typeface="メイリオ"/>
              <a:cs typeface="メイリオ"/>
              <a:sym typeface="Meiryo"/>
            </a:endParaRPr>
          </a:p>
        </p:txBody>
      </p:sp>
      <p:sp>
        <p:nvSpPr>
          <p:cNvPr id="1054" name="Google Shape;51;p19">
            <a:extLst>
              <a:ext uri="{FF2B5EF4-FFF2-40B4-BE49-F238E27FC236}">
                <a16:creationId xmlns:a16="http://schemas.microsoft.com/office/drawing/2014/main" id="{40C4675F-5DCC-DD57-BE14-B3A7697A02CD}"/>
              </a:ext>
            </a:extLst>
          </p:cNvPr>
          <p:cNvSpPr/>
          <p:nvPr/>
        </p:nvSpPr>
        <p:spPr>
          <a:xfrm>
            <a:off x="5349240" y="841248"/>
            <a:ext cx="17830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月額</a:t>
            </a:r>
            <a:r>
              <a:rPr lang="en-US" altLang="ja-JP" b="1" dirty="0">
                <a:solidFill>
                  <a:schemeClr val="lt1"/>
                </a:solidFill>
                <a:latin typeface="メイリオ"/>
                <a:ea typeface="メイリオ"/>
                <a:cs typeface="メイリオ"/>
                <a:sym typeface="Meiryo"/>
              </a:rPr>
              <a:t>3</a:t>
            </a:r>
            <a:r>
              <a:rPr lang="ja-JP" altLang="en-US" b="1" dirty="0">
                <a:solidFill>
                  <a:schemeClr val="lt1"/>
                </a:solidFill>
                <a:latin typeface="メイリオ"/>
                <a:ea typeface="メイリオ"/>
                <a:cs typeface="メイリオ"/>
                <a:sym typeface="Meiryo"/>
              </a:rPr>
              <a:t>万円～</a:t>
            </a:r>
            <a:endParaRPr lang="en-US" altLang="ja-JP" b="1" dirty="0">
              <a:solidFill>
                <a:schemeClr val="lt1"/>
              </a:solidFill>
              <a:latin typeface="メイリオ"/>
              <a:ea typeface="メイリオ"/>
              <a:cs typeface="メイリオ"/>
              <a:sym typeface="Meiryo"/>
            </a:endParaRPr>
          </a:p>
          <a:p>
            <a:pPr algn="ctr">
              <a:buSzPts val="1400"/>
            </a:pPr>
            <a:r>
              <a:rPr lang="en-US" altLang="ja-JP" sz="850" b="1" dirty="0">
                <a:solidFill>
                  <a:srgbClr val="FFFFFF"/>
                </a:solidFill>
                <a:latin typeface="メイリオ"/>
                <a:ea typeface="メイリオ"/>
                <a:cs typeface="メイリオ"/>
                <a:sym typeface="Meiryo"/>
              </a:rPr>
              <a:t>+</a:t>
            </a:r>
            <a:r>
              <a:rPr lang="ja-JP" altLang="en-US" sz="850" b="1" dirty="0">
                <a:solidFill>
                  <a:srgbClr val="FFFFFF"/>
                </a:solidFill>
                <a:latin typeface="メイリオ"/>
                <a:ea typeface="メイリオ"/>
                <a:cs typeface="メイリオ"/>
                <a:sym typeface="Meiryo"/>
              </a:rPr>
              <a:t>設定地点追加</a:t>
            </a:r>
            <a:endParaRPr sz="850" b="1" dirty="0">
              <a:solidFill>
                <a:srgbClr val="FFFFFF"/>
              </a:solidFill>
              <a:latin typeface="メイリオ"/>
              <a:ea typeface="メイリオ"/>
              <a:cs typeface="メイリオ"/>
              <a:sym typeface="Meiryo"/>
            </a:endParaRPr>
          </a:p>
        </p:txBody>
      </p:sp>
      <p:sp>
        <p:nvSpPr>
          <p:cNvPr id="1055" name="ツールの位置づけ"/>
          <p:cNvSpPr/>
          <p:nvPr/>
        </p:nvSpPr>
        <p:spPr>
          <a:xfrm>
            <a:off x="7269480" y="841248"/>
            <a:ext cx="1463040" cy="484632"/>
          </a:xfrm>
          <a:prstGeom prst="rect">
            <a:avLst/>
          </a:prstGeom>
          <a:solidFill>
            <a:srgbClr val="FFFFFF"/>
          </a:solidFill>
          <a:ln w="19050">
            <a:solidFill>
              <a:srgbClr val="1F2A5C"/>
            </a:solidFill>
          </a:ln>
        </p:spPr>
        <p:txBody>
          <a:bodyPr wrap="square" lIns="45720" tIns="18288" rIns="45720"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追加オプション</a:t>
            </a:r>
            <a:endParaRPr lang="ja-JP" altLang="en-US" sz="1200" dirty="0">
              <a:latin typeface="メイリオ"/>
              <a:ea typeface="メイリオ"/>
              <a:cs typeface="メイリオ"/>
            </a:endParaRPr>
          </a:p>
        </p:txBody>
      </p:sp>
      <p:sp>
        <p:nvSpPr>
          <p:cNvPr id="1056" name="追加オプションの注記"/>
          <p:cNvSpPr/>
          <p:nvPr/>
        </p:nvSpPr>
        <p:spPr>
          <a:xfrm>
            <a:off x="5486400" y="6272784"/>
            <a:ext cx="4023360" cy="201168"/>
          </a:xfrm>
          <a:prstGeom prst="rect">
            <a:avLst/>
          </a:prstGeom>
          <a:noFill/>
          <a:ln>
            <a:noFill/>
          </a:ln>
        </p:spPr>
        <p:txBody>
          <a:bodyPr wrap="square" lIns="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※最低利用期間・停止条件は確認のうえご案内</a:t>
            </a:r>
            <a:endParaRPr lang="ja-JP" altLang="en-US" sz="1200" dirty="0">
              <a:latin typeface="メイリオ"/>
              <a:ea typeface="メイリオ"/>
              <a:cs typeface="メイリオ"/>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LINEOA</a:t>
            </a:r>
            <a:r>
              <a:rPr kumimoji="1" lang="ja-JP" altLang="en-US" sz="1400" dirty="0">
                <a:latin typeface="メイリオ" panose="020B0604030504040204" pitchFamily="50" charset="-128"/>
                <a:ea typeface="メイリオ" panose="020B0604030504040204" pitchFamily="50" charset="-128"/>
                <a:cs typeface="メイリオ"/>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友だち追加から15日ほどで反応が下がり、ブロックも増えやすい。</a:t>
            </a:r>
          </a:p>
          <a:p>
            <a:r>
              <a:rPr lang="ja-JP" altLang="en-US" sz="1600" b="1" dirty="0">
                <a:latin typeface="メイリオ" panose="020B0604030504040204" pitchFamily="50" charset="-128"/>
                <a:ea typeface="メイリオ" panose="020B0604030504040204" pitchFamily="50" charset="-128"/>
                <a:cs typeface="メイリオ"/>
                <a:sym typeface="Meiryo"/>
              </a:rPr>
              <a:t>そのため、段階に合わせて配信を変え、イベントのない時期は回数を絞る。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cs typeface="メイリオ"/>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solidFill>
                  <a:srgbClr val="1F2A5C"/>
                </a:solidFill>
                <a:latin typeface="メイリオ" panose="020B0604030504040204" pitchFamily="50" charset="-128"/>
                <a:ea typeface="メイリオ" panose="020B0604030504040204" pitchFamily="50" charset="-128"/>
                <a:cs typeface="メイリオ"/>
                <a:sym typeface="Meiryo"/>
              </a:rPr>
              <a:t>15</a:t>
            </a:r>
            <a:r>
              <a:rPr lang="ja-JP" altLang="en-US" sz="1200" b="1" dirty="0">
                <a:solidFill>
                  <a:srgbClr val="1F2A5C"/>
                </a:solidFill>
                <a:latin typeface="メイリオ" panose="020B0604030504040204" pitchFamily="50" charset="-128"/>
                <a:ea typeface="メイリオ" panose="020B0604030504040204" pitchFamily="50" charset="-128"/>
                <a:cs typeface="メイリオ"/>
                <a:sym typeface="Meiryo"/>
              </a:rPr>
              <a:t>日後</a:t>
            </a:r>
            <a:endParaRPr lang="ja-JP" altLang="en-US" sz="12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メイリオ"/>
                <a:sym typeface="Meiryo"/>
              </a:rPr>
              <a:t>30</a:t>
            </a:r>
            <a:r>
              <a:rPr lang="ja-JP" altLang="en-US" sz="1200" b="1" dirty="0">
                <a:latin typeface="メイリオ" panose="020B0604030504040204" pitchFamily="50" charset="-128"/>
                <a:ea typeface="メイリオ" panose="020B0604030504040204" pitchFamily="50" charset="-128"/>
                <a:cs typeface="メイリオ"/>
                <a:sym typeface="Meiryo"/>
              </a:rPr>
              <a:t>日後</a:t>
            </a:r>
            <a:endParaRPr lang="ja-JP" altLang="en-US" sz="1200" dirty="0">
              <a:latin typeface="メイリオ"/>
              <a:ea typeface="メイリオ"/>
              <a:cs typeface="メイリオ"/>
            </a:endParaRPr>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 name="Google Shape;752;p28">
            <a:extLst>
              <a:ext uri="{FF2B5EF4-FFF2-40B4-BE49-F238E27FC236}">
                <a16:creationId xmlns:a16="http://schemas.microsoft.com/office/drawing/2014/main" id="{A711D9CD-A0E9-90A0-722C-36249BABF896}"/>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1065560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友だち追加直後のステップ配信（5通・案）</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追加直後の関心が高いうちに、セミナーの中身と参加の判断材料を届ける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ステップ 追加直後"/>
          <p:cNvSpPr/>
          <p:nvPr/>
        </p:nvSpPr>
        <p:spPr>
          <a:xfrm>
            <a:off x="420624" y="1783080"/>
            <a:ext cx="1700784" cy="384048"/>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追加直後</a:t>
            </a:r>
            <a:endParaRPr lang="ja-JP" altLang="en-US" sz="1200" dirty="0">
              <a:latin typeface="メイリオ"/>
              <a:ea typeface="メイリオ"/>
              <a:cs typeface="メイリオ"/>
            </a:endParaRPr>
          </a:p>
        </p:txBody>
      </p:sp>
      <p:sp>
        <p:nvSpPr>
          <p:cNvPr id="51" name="配信 追加直後"/>
          <p:cNvSpPr/>
          <p:nvPr/>
        </p:nvSpPr>
        <p:spPr>
          <a:xfrm>
            <a:off x="420624" y="2240280"/>
            <a:ext cx="1700784" cy="457200"/>
          </a:xfrm>
          <a:prstGeom prst="rect">
            <a:avLst/>
          </a:prstGeom>
          <a:solidFill>
            <a:srgbClr val="EEF1F8"/>
          </a:solidFill>
          <a:ln>
            <a:noFill/>
          </a:ln>
        </p:spPr>
        <p:txBody>
          <a:bodyPr wrap="square" lIns="36576" tIns="18288" rIns="36576"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あいさつ・参加特典</a:t>
            </a:r>
            <a:endParaRPr lang="ja-JP" altLang="en-US" sz="1200" dirty="0">
              <a:latin typeface="メイリオ"/>
              <a:ea typeface="メイリオ"/>
              <a:cs typeface="メイリオ"/>
            </a:endParaRPr>
          </a:p>
        </p:txBody>
      </p:sp>
      <p:sp>
        <p:nvSpPr>
          <p:cNvPr id="52" name="内容 追加直後"/>
          <p:cNvSpPr/>
          <p:nvPr/>
        </p:nvSpPr>
        <p:spPr>
          <a:xfrm>
            <a:off x="420624" y="2770632"/>
            <a:ext cx="1700784" cy="160020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参加特典をご案内。必要に応じて、興味分野を1問で確認（保険営業の方向け／一般の方向け）</a:t>
            </a:r>
            <a:endParaRPr lang="ja-JP" altLang="en-US" sz="1200" dirty="0">
              <a:latin typeface="メイリオ"/>
              <a:ea typeface="メイリオ"/>
              <a:cs typeface="メイリオ"/>
            </a:endParaRPr>
          </a:p>
        </p:txBody>
      </p:sp>
      <p:sp>
        <p:nvSpPr>
          <p:cNvPr id="53" name="ステップ 1〜2日後"/>
          <p:cNvSpPr/>
          <p:nvPr/>
        </p:nvSpPr>
        <p:spPr>
          <a:xfrm>
            <a:off x="2258568" y="1783080"/>
            <a:ext cx="1700784" cy="384048"/>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1〜2日後</a:t>
            </a:r>
            <a:endParaRPr lang="ja-JP" altLang="en-US" sz="1200" dirty="0">
              <a:latin typeface="メイリオ"/>
              <a:ea typeface="メイリオ"/>
              <a:cs typeface="メイリオ"/>
            </a:endParaRPr>
          </a:p>
        </p:txBody>
      </p:sp>
      <p:sp>
        <p:nvSpPr>
          <p:cNvPr id="54" name="配信 1〜2日後"/>
          <p:cNvSpPr/>
          <p:nvPr/>
        </p:nvSpPr>
        <p:spPr>
          <a:xfrm>
            <a:off x="2258568" y="2240280"/>
            <a:ext cx="1700784" cy="457200"/>
          </a:xfrm>
          <a:prstGeom prst="rect">
            <a:avLst/>
          </a:prstGeom>
          <a:solidFill>
            <a:srgbClr val="EEF1F8"/>
          </a:solidFill>
          <a:ln>
            <a:noFill/>
          </a:ln>
        </p:spPr>
        <p:txBody>
          <a:bodyPr wrap="square" lIns="36576" tIns="18288" rIns="36576"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見どころ動画</a:t>
            </a:r>
            <a:endParaRPr lang="ja-JP" altLang="en-US" sz="1200" dirty="0">
              <a:latin typeface="メイリオ"/>
              <a:ea typeface="メイリオ"/>
              <a:cs typeface="メイリオ"/>
            </a:endParaRPr>
          </a:p>
        </p:txBody>
      </p:sp>
      <p:sp>
        <p:nvSpPr>
          <p:cNvPr id="55" name="内容 1〜2日後"/>
          <p:cNvSpPr/>
          <p:nvPr/>
        </p:nvSpPr>
        <p:spPr>
          <a:xfrm>
            <a:off x="2258568" y="2770632"/>
            <a:ext cx="1700784" cy="160020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両想い営業・ライフプランブロックなど、セミナーの見どころを動画で紹介</a:t>
            </a:r>
            <a:endParaRPr lang="ja-JP" altLang="en-US" sz="1200" dirty="0">
              <a:latin typeface="メイリオ"/>
              <a:ea typeface="メイリオ"/>
              <a:cs typeface="メイリオ"/>
            </a:endParaRPr>
          </a:p>
        </p:txBody>
      </p:sp>
      <p:sp>
        <p:nvSpPr>
          <p:cNvPr id="56" name="ステップ 4〜5日後"/>
          <p:cNvSpPr/>
          <p:nvPr/>
        </p:nvSpPr>
        <p:spPr>
          <a:xfrm>
            <a:off x="4096512" y="1783080"/>
            <a:ext cx="1700784" cy="384048"/>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4〜5日後</a:t>
            </a:r>
            <a:endParaRPr lang="ja-JP" altLang="en-US" sz="1200" dirty="0">
              <a:latin typeface="メイリオ"/>
              <a:ea typeface="メイリオ"/>
              <a:cs typeface="メイリオ"/>
            </a:endParaRPr>
          </a:p>
        </p:txBody>
      </p:sp>
      <p:sp>
        <p:nvSpPr>
          <p:cNvPr id="57" name="配信 4〜5日後"/>
          <p:cNvSpPr/>
          <p:nvPr/>
        </p:nvSpPr>
        <p:spPr>
          <a:xfrm>
            <a:off x="4096512" y="2240280"/>
            <a:ext cx="1700784" cy="457200"/>
          </a:xfrm>
          <a:prstGeom prst="rect">
            <a:avLst/>
          </a:prstGeom>
          <a:solidFill>
            <a:srgbClr val="EEF1F8"/>
          </a:solidFill>
          <a:ln>
            <a:noFill/>
          </a:ln>
        </p:spPr>
        <p:txBody>
          <a:bodyPr wrap="square" lIns="36576" tIns="18288" rIns="36576"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p:txBody>
      </p:sp>
      <p:sp>
        <p:nvSpPr>
          <p:cNvPr id="58" name="内容 4〜5日後"/>
          <p:cNvSpPr/>
          <p:nvPr/>
        </p:nvSpPr>
        <p:spPr>
          <a:xfrm>
            <a:off x="4096512" y="2770632"/>
            <a:ext cx="1700784" cy="160020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面談の進め方が変わった受講生の声を紹介</a:t>
            </a:r>
            <a:endParaRPr lang="ja-JP" altLang="en-US" sz="1200" dirty="0">
              <a:latin typeface="メイリオ"/>
              <a:ea typeface="メイリオ"/>
              <a:cs typeface="メイリオ"/>
            </a:endParaRPr>
          </a:p>
        </p:txBody>
      </p:sp>
      <p:sp>
        <p:nvSpPr>
          <p:cNvPr id="59" name="ステップ 8〜9日後"/>
          <p:cNvSpPr/>
          <p:nvPr/>
        </p:nvSpPr>
        <p:spPr>
          <a:xfrm>
            <a:off x="5934456" y="1783080"/>
            <a:ext cx="1700784" cy="384048"/>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8〜9日後</a:t>
            </a:r>
            <a:endParaRPr lang="ja-JP" altLang="en-US" sz="1200" dirty="0">
              <a:latin typeface="メイリオ"/>
              <a:ea typeface="メイリオ"/>
              <a:cs typeface="メイリオ"/>
            </a:endParaRPr>
          </a:p>
        </p:txBody>
      </p:sp>
      <p:sp>
        <p:nvSpPr>
          <p:cNvPr id="60" name="配信 8〜9日後"/>
          <p:cNvSpPr/>
          <p:nvPr/>
        </p:nvSpPr>
        <p:spPr>
          <a:xfrm>
            <a:off x="5934456" y="2240280"/>
            <a:ext cx="1700784" cy="457200"/>
          </a:xfrm>
          <a:prstGeom prst="rect">
            <a:avLst/>
          </a:prstGeom>
          <a:solidFill>
            <a:srgbClr val="EEF1F8"/>
          </a:solidFill>
          <a:ln>
            <a:noFill/>
          </a:ln>
        </p:spPr>
        <p:txBody>
          <a:bodyPr wrap="square" lIns="36576" tIns="18288" rIns="36576"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よくある質問</a:t>
            </a:r>
            <a:endParaRPr lang="ja-JP" altLang="en-US" sz="1200" dirty="0">
              <a:latin typeface="メイリオ"/>
              <a:ea typeface="メイリオ"/>
              <a:cs typeface="メイリオ"/>
            </a:endParaRPr>
          </a:p>
        </p:txBody>
      </p:sp>
      <p:sp>
        <p:nvSpPr>
          <p:cNvPr id="61" name="内容 8〜9日後"/>
          <p:cNvSpPr/>
          <p:nvPr/>
        </p:nvSpPr>
        <p:spPr>
          <a:xfrm>
            <a:off x="5934456" y="2770632"/>
            <a:ext cx="1700784" cy="160020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地方からも参加できる・録画はない・初心者でも分かる・参加は無料</a:t>
            </a:r>
            <a:endParaRPr lang="ja-JP" altLang="en-US" sz="1200" dirty="0">
              <a:latin typeface="メイリオ"/>
              <a:ea typeface="メイリオ"/>
              <a:cs typeface="メイリオ"/>
            </a:endParaRPr>
          </a:p>
        </p:txBody>
      </p:sp>
      <p:sp>
        <p:nvSpPr>
          <p:cNvPr id="62" name="ステップ 12〜15日後"/>
          <p:cNvSpPr/>
          <p:nvPr/>
        </p:nvSpPr>
        <p:spPr>
          <a:xfrm>
            <a:off x="7772400" y="1783080"/>
            <a:ext cx="1700784" cy="384048"/>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12〜15日後</a:t>
            </a:r>
            <a:endParaRPr lang="ja-JP" altLang="en-US" sz="1200" dirty="0">
              <a:latin typeface="メイリオ"/>
              <a:ea typeface="メイリオ"/>
              <a:cs typeface="メイリオ"/>
            </a:endParaRPr>
          </a:p>
        </p:txBody>
      </p:sp>
      <p:sp>
        <p:nvSpPr>
          <p:cNvPr id="63" name="配信 12〜15日後"/>
          <p:cNvSpPr/>
          <p:nvPr/>
        </p:nvSpPr>
        <p:spPr>
          <a:xfrm>
            <a:off x="7772400" y="2240280"/>
            <a:ext cx="1700784" cy="457200"/>
          </a:xfrm>
          <a:prstGeom prst="rect">
            <a:avLst/>
          </a:prstGeom>
          <a:solidFill>
            <a:srgbClr val="EEF1F8"/>
          </a:solidFill>
          <a:ln>
            <a:noFill/>
          </a:ln>
        </p:spPr>
        <p:txBody>
          <a:bodyPr wrap="square" lIns="36576" tIns="18288" rIns="36576" bIns="18288"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次回セミナーのご案内</a:t>
            </a:r>
            <a:endParaRPr lang="ja-JP" altLang="en-US" sz="1200" dirty="0">
              <a:latin typeface="メイリオ"/>
              <a:ea typeface="メイリオ"/>
              <a:cs typeface="メイリオ"/>
            </a:endParaRPr>
          </a:p>
        </p:txBody>
      </p:sp>
      <p:sp>
        <p:nvSpPr>
          <p:cNvPr id="64" name="内容 12〜15日後"/>
          <p:cNvSpPr/>
          <p:nvPr/>
        </p:nvSpPr>
        <p:spPr>
          <a:xfrm>
            <a:off x="7772400" y="2770632"/>
            <a:ext cx="1700784" cy="160020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開催日程と予約ページをご案内（募集期間外は、案内開始時にお届け）</a:t>
            </a:r>
            <a:endParaRPr lang="ja-JP" altLang="en-US" sz="1200" dirty="0">
              <a:latin typeface="メイリオ"/>
              <a:ea typeface="メイリオ"/>
              <a:cs typeface="メイリオ"/>
            </a:endParaRPr>
          </a:p>
        </p:txBody>
      </p:sp>
      <p:sp>
        <p:nvSpPr>
          <p:cNvPr id="65" name="注記"/>
          <p:cNvSpPr/>
          <p:nvPr/>
        </p:nvSpPr>
        <p:spPr>
          <a:xfrm>
            <a:off x="420624" y="4617720"/>
            <a:ext cx="9052560" cy="59436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※配信内容は、貴社LPの「生産性4倍セミナーの特徴」「受講生の声」「よくある質問」をもとにした例</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※一般の方向けを選んだ方には、一般の方向けの案内を中心に配信</a:t>
            </a:r>
            <a:endParaRPr lang="ja-JP" altLang="en-US" sz="1200" dirty="0">
              <a:latin typeface="メイリオ"/>
              <a:ea typeface="メイリオ"/>
              <a:cs typeface="メイリオ"/>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1CC-B1BA-828E-295F-EADD0CDEFAB4}"/>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417026AF-4DDE-BCC5-590F-D8DDBF5664B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参加後のフォローアップ：関心が高いうちに、入会の判断材料を届ける</a:t>
            </a:r>
          </a:p>
        </p:txBody>
      </p:sp>
      <p:sp>
        <p:nvSpPr>
          <p:cNvPr id="5" name="Lead">
            <a:extLst>
              <a:ext uri="{FF2B5EF4-FFF2-40B4-BE49-F238E27FC236}">
                <a16:creationId xmlns:a16="http://schemas.microsoft.com/office/drawing/2014/main" id="{392B90DB-59D9-CA69-BB23-380EC53A1799}"/>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参加直後と参加後30〜60日に、サロンの内容と入会方法をお届けする</a:t>
            </a:r>
          </a:p>
        </p:txBody>
      </p:sp>
      <p:sp>
        <p:nvSpPr>
          <p:cNvPr id="7" name="Body">
            <a:extLst>
              <a:ext uri="{FF2B5EF4-FFF2-40B4-BE49-F238E27FC236}">
                <a16:creationId xmlns:a16="http://schemas.microsoft.com/office/drawing/2014/main" id="{BE3C0D2E-9E33-CCCB-465C-36479CC64146}"/>
              </a:ext>
            </a:extLst>
          </p:cNvPr>
          <p:cNvSpPr txBox="1"/>
          <p:nvPr/>
        </p:nvSpPr>
        <p:spPr>
          <a:xfrm>
            <a:off x="342900" y="3164840"/>
            <a:ext cx="6743700" cy="3810000"/>
          </a:xfrm>
          <a:prstGeom prst="rect">
            <a:avLst/>
          </a:prstGeom>
          <a:noFill/>
        </p:spPr>
        <p:txBody>
          <a:bodyPr wrap="square" lIns="0" tIns="0" rIns="0" bIns="0" anchor="t"/>
          <a:lstStyle/>
          <a:p>
            <a:endParaRPr>
              <a:latin typeface="メイリオ"/>
              <a:ea typeface="メイリオ"/>
              <a:cs typeface="メイリオ"/>
            </a:endParaRPr>
          </a:p>
        </p:txBody>
      </p:sp>
      <p:sp>
        <p:nvSpPr>
          <p:cNvPr id="4" name="TextBox 2006">
            <a:extLst>
              <a:ext uri="{FF2B5EF4-FFF2-40B4-BE49-F238E27FC236}">
                <a16:creationId xmlns:a16="http://schemas.microsoft.com/office/drawing/2014/main" id="{D2F2FC8A-1E7E-57E2-6839-B8D5EF164194}"/>
              </a:ext>
            </a:extLst>
          </p:cNvPr>
          <p:cNvSpPr txBox="1"/>
          <p:nvPr/>
        </p:nvSpPr>
        <p:spPr>
          <a:xfrm>
            <a:off x="456501" y="1091185"/>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配信内容（例）</a:t>
            </a:r>
          </a:p>
        </p:txBody>
      </p:sp>
      <p:sp>
        <p:nvSpPr>
          <p:cNvPr id="8" name="Chevron 2007">
            <a:extLst>
              <a:ext uri="{FF2B5EF4-FFF2-40B4-BE49-F238E27FC236}">
                <a16:creationId xmlns:a16="http://schemas.microsoft.com/office/drawing/2014/main" id="{10212EE1-F4B4-8DDA-CF71-F80F8F6403F8}"/>
              </a:ext>
            </a:extLst>
          </p:cNvPr>
          <p:cNvSpPr/>
          <p:nvPr/>
        </p:nvSpPr>
        <p:spPr>
          <a:xfrm>
            <a:off x="456501"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参加直後</a:t>
            </a:r>
          </a:p>
          <a:p>
            <a:pPr algn="ctr"/>
            <a:r>
              <a:rPr sz="1200">
                <a:solidFill>
                  <a:srgbClr val="FFFFFF"/>
                </a:solidFill>
                <a:latin typeface="メイリオ"/>
                <a:ea typeface="メイリオ"/>
                <a:cs typeface="メイリオ"/>
              </a:rPr>
              <a:t>関心が高いうちに、サロンをご案内</a:t>
            </a:r>
          </a:p>
        </p:txBody>
      </p:sp>
      <p:sp>
        <p:nvSpPr>
          <p:cNvPr id="11" name="Chevron 2008">
            <a:extLst>
              <a:ext uri="{FF2B5EF4-FFF2-40B4-BE49-F238E27FC236}">
                <a16:creationId xmlns:a16="http://schemas.microsoft.com/office/drawing/2014/main" id="{785204DB-5C6A-DF80-2A53-F86C50DB8BFE}"/>
              </a:ext>
            </a:extLst>
          </p:cNvPr>
          <p:cNvSpPr/>
          <p:nvPr/>
        </p:nvSpPr>
        <p:spPr>
          <a:xfrm>
            <a:off x="5037645"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参加後30〜60日</a:t>
            </a:r>
          </a:p>
          <a:p>
            <a:pPr algn="ctr"/>
            <a:r>
              <a:rPr sz="1200">
                <a:solidFill>
                  <a:srgbClr val="FFFFFF"/>
                </a:solidFill>
                <a:latin typeface="メイリオ"/>
                <a:ea typeface="メイリオ"/>
                <a:cs typeface="メイリオ"/>
              </a:rPr>
              <a:t>迷っている方へ、成果と続け方を届ける</a:t>
            </a:r>
          </a:p>
        </p:txBody>
      </p:sp>
      <p:sp>
        <p:nvSpPr>
          <p:cNvPr id="12" name="配信内容"/>
          <p:cNvSpPr/>
          <p:nvPr/>
        </p:nvSpPr>
        <p:spPr>
          <a:xfrm>
            <a:off x="548640"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セミナーの振り返り</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両想い営業・ライフプランブロックの要点をおさらい</a:t>
            </a:r>
            <a:endParaRPr lang="ja-JP" altLang="en-US" sz="1200" dirty="0">
              <a:latin typeface="メイリオ"/>
              <a:ea typeface="メイリオ"/>
              <a:cs typeface="メイリオ"/>
            </a:endParaRPr>
          </a:p>
        </p:txBody>
      </p:sp>
      <p:cxnSp>
        <p:nvCxnSpPr>
          <p:cNvPr id="13" name="Connector 12"/>
          <p:cNvCxnSpPr/>
          <p:nvPr/>
        </p:nvCxnSpPr>
        <p:spPr>
          <a:xfrm>
            <a:off x="548640" y="2993136"/>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配信内容"/>
          <p:cNvSpPr/>
          <p:nvPr/>
        </p:nvSpPr>
        <p:spPr>
          <a:xfrm>
            <a:off x="548640"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「契約で頭がいっぱい」だった方が、個人保険でTOT</a:t>
            </a:r>
            <a:endParaRPr lang="ja-JP" altLang="en-US" sz="1200" dirty="0">
              <a:latin typeface="メイリオ"/>
              <a:ea typeface="メイリオ"/>
              <a:cs typeface="メイリオ"/>
            </a:endParaRPr>
          </a:p>
        </p:txBody>
      </p:sp>
      <p:cxnSp>
        <p:nvCxnSpPr>
          <p:cNvPr id="15" name="Connector 14"/>
          <p:cNvCxnSpPr/>
          <p:nvPr/>
        </p:nvCxnSpPr>
        <p:spPr>
          <a:xfrm>
            <a:off x="548640" y="3669793"/>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配信内容"/>
          <p:cNvSpPr/>
          <p:nvPr/>
        </p:nvSpPr>
        <p:spPr>
          <a:xfrm>
            <a:off x="548640"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ライフプランブロックは、サロンの方だけが使える</a:t>
            </a:r>
            <a:endParaRPr lang="ja-JP" altLang="en-US" sz="1200" dirty="0">
              <a:latin typeface="メイリオ"/>
              <a:ea typeface="メイリオ"/>
              <a:cs typeface="メイリオ"/>
            </a:endParaRPr>
          </a:p>
        </p:txBody>
      </p:sp>
      <p:sp>
        <p:nvSpPr>
          <p:cNvPr id="17" name="配信内容"/>
          <p:cNvSpPr/>
          <p:nvPr/>
        </p:nvSpPr>
        <p:spPr>
          <a:xfrm>
            <a:off x="5129783"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ロープレ動画で面談を振り返り、TOTを達成</a:t>
            </a:r>
            <a:endParaRPr lang="ja-JP" altLang="en-US" sz="1200" dirty="0">
              <a:latin typeface="メイリオ"/>
              <a:ea typeface="メイリオ"/>
              <a:cs typeface="メイリオ"/>
            </a:endParaRPr>
          </a:p>
        </p:txBody>
      </p:sp>
      <p:cxnSp>
        <p:nvCxnSpPr>
          <p:cNvPr id="18" name="Connector 17"/>
          <p:cNvCxnSpPr/>
          <p:nvPr/>
        </p:nvCxnSpPr>
        <p:spPr>
          <a:xfrm>
            <a:off x="5129783" y="2993136"/>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配信内容"/>
          <p:cNvSpPr/>
          <p:nvPr/>
        </p:nvSpPr>
        <p:spPr>
          <a:xfrm>
            <a:off x="5129783"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講師メッセージ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毎日遅くまで働いた頃から、働く時間を半分以下に</a:t>
            </a:r>
            <a:endParaRPr lang="ja-JP" altLang="en-US" sz="1200" dirty="0">
              <a:latin typeface="メイリオ"/>
              <a:ea typeface="メイリオ"/>
              <a:cs typeface="メイリオ"/>
            </a:endParaRPr>
          </a:p>
        </p:txBody>
      </p:sp>
      <p:cxnSp>
        <p:nvCxnSpPr>
          <p:cNvPr id="20" name="Connector 19"/>
          <p:cNvCxnSpPr/>
          <p:nvPr/>
        </p:nvCxnSpPr>
        <p:spPr>
          <a:xfrm>
            <a:off x="5129783" y="3669793"/>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配信内容"/>
          <p:cNvSpPr/>
          <p:nvPr/>
        </p:nvSpPr>
        <p:spPr>
          <a:xfrm>
            <a:off x="5129783"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次のセミナーのご案内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次回の日程と、サロン入会のお申込み方法</a:t>
            </a:r>
            <a:endParaRPr lang="ja-JP" altLang="en-US" sz="1200" dirty="0">
              <a:latin typeface="メイリオ"/>
              <a:ea typeface="メイリオ"/>
              <a:cs typeface="メイリオ"/>
            </a:endParaRPr>
          </a:p>
        </p:txBody>
      </p:sp>
      <p:sp>
        <p:nvSpPr>
          <p:cNvPr id="22" name="注記"/>
          <p:cNvSpPr/>
          <p:nvPr/>
        </p:nvSpPr>
        <p:spPr>
          <a:xfrm>
            <a:off x="457200" y="5916168"/>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※参加した方を判別できる場合に、その情報を活用して配信（自動で判別できるかは、予約システム等との連携の可否による）</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※配信内容は、貴社LPの「受講生の声」「講師メッセージ」「よくある質問」「講師紹介」をもとにした例</a:t>
            </a:r>
            <a:endParaRPr lang="ja-JP" altLang="en-US" sz="1200" dirty="0">
              <a:latin typeface="メイリオ"/>
              <a:ea typeface="メイリオ"/>
              <a:cs typeface="メイリオ"/>
            </a:endParaRPr>
          </a:p>
        </p:txBody>
      </p:sp>
      <p:sp>
        <p:nvSpPr>
          <p:cNvPr id="23" name="ほかの配信案"/>
          <p:cNvSpPr/>
          <p:nvPr/>
        </p:nvSpPr>
        <p:spPr>
          <a:xfrm>
            <a:off x="457200" y="4474463"/>
            <a:ext cx="9052560" cy="292608"/>
          </a:xfrm>
          <a:prstGeom prst="rect">
            <a:avLst/>
          </a:prstGeom>
          <a:noFill/>
          <a:ln>
            <a:noFill/>
          </a:ln>
        </p:spPr>
        <p:txBody>
          <a:bodyPr wrap="square" lIns="91440" tIns="0" rIns="0" bIns="0"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他の案</a:t>
            </a:r>
            <a:endParaRPr lang="ja-JP" altLang="en-US" sz="1200" dirty="0">
              <a:latin typeface="メイリオ"/>
              <a:ea typeface="メイリオ"/>
              <a:cs typeface="メイリオ"/>
            </a:endParaRPr>
          </a:p>
        </p:txBody>
      </p:sp>
      <p:sp>
        <p:nvSpPr>
          <p:cNvPr id="24" name="ほかの配信案 項目"/>
          <p:cNvSpPr/>
          <p:nvPr/>
        </p:nvSpPr>
        <p:spPr>
          <a:xfrm>
            <a:off x="457200" y="4767071"/>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よくある質問</a:t>
            </a:r>
            <a:endParaRPr lang="ja-JP" altLang="en-US" sz="1200" dirty="0">
              <a:latin typeface="メイリオ"/>
              <a:ea typeface="メイリオ"/>
              <a:cs typeface="メイリオ"/>
            </a:endParaRPr>
          </a:p>
        </p:txBody>
      </p:sp>
      <p:sp>
        <p:nvSpPr>
          <p:cNvPr id="25" name="ほかの配信案 内容"/>
          <p:cNvSpPr/>
          <p:nvPr/>
        </p:nvSpPr>
        <p:spPr>
          <a:xfrm>
            <a:off x="2377440" y="4767071"/>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次のセミナーの案内に添える</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地方からも参加できる・録画はない・初心者でも分かる・参加は無料</a:t>
            </a:r>
            <a:endParaRPr lang="ja-JP" altLang="en-US" sz="1200" dirty="0">
              <a:latin typeface="メイリオ"/>
              <a:ea typeface="メイリオ"/>
              <a:cs typeface="メイリオ"/>
            </a:endParaRPr>
          </a:p>
        </p:txBody>
      </p:sp>
      <p:sp>
        <p:nvSpPr>
          <p:cNvPr id="26" name="ほかの配信案 項目"/>
          <p:cNvSpPr/>
          <p:nvPr/>
        </p:nvSpPr>
        <p:spPr>
          <a:xfrm>
            <a:off x="457200" y="5352287"/>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講師紹介</a:t>
            </a:r>
            <a:endParaRPr lang="ja-JP" altLang="en-US" sz="1200" dirty="0">
              <a:latin typeface="メイリオ"/>
              <a:ea typeface="メイリオ"/>
              <a:cs typeface="メイリオ"/>
            </a:endParaRPr>
          </a:p>
        </p:txBody>
      </p:sp>
      <p:sp>
        <p:nvSpPr>
          <p:cNvPr id="27" name="ほかの配信案 内容"/>
          <p:cNvSpPr/>
          <p:nvPr/>
        </p:nvSpPr>
        <p:spPr>
          <a:xfrm>
            <a:off x="2377440" y="5352287"/>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入会を迷っている方へ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谷岡様の経歴：契約件数全国1位で表彰・週2日の営業で毎年TOT</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396800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運用体制・スケジュール</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cs typeface="メイリオ"/>
              </a:rPr>
              <a:t>WEB</a:t>
            </a:r>
            <a:r>
              <a:rPr lang="ja-JP" altLang="en-US" sz="2400" dirty="0">
                <a:solidFill>
                  <a:schemeClr val="bg1"/>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cs typeface="メイリオ"/>
              </a:rPr>
              <a:t>☑</a:t>
            </a:r>
            <a:endParaRPr lang="ja-JP" altLang="en-US" sz="3600" dirty="0">
              <a:latin typeface="メイリオ"/>
              <a:ea typeface="メイリオ"/>
              <a:cs typeface="メイリオ"/>
            </a:endParaRPr>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cs typeface="メイリオ"/>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bg1"/>
                </a:solidFill>
                <a:latin typeface="メイリオ" panose="020B0604030504040204" pitchFamily="50" charset="-128"/>
                <a:ea typeface="メイリオ" panose="020B0604030504040204" pitchFamily="50" charset="-128"/>
                <a:cs typeface="メイリオ"/>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cs typeface="メイリオ"/>
              </a:rPr>
              <a:t>効果計測</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ツールなし</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kumimoji="1" lang="ja-JP" altLang="en-US" sz="1200" b="1" dirty="0">
                <a:latin typeface="メイリオ" panose="020B0604030504040204" pitchFamily="50" charset="-128"/>
                <a:ea typeface="メイリオ" panose="020B0604030504040204" pitchFamily="50" charset="-128"/>
                <a:cs typeface="メイリオ"/>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cs typeface="メイリオ"/>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ツール有無</a:t>
            </a:r>
            <a:endParaRPr lang="en-US" altLang="ja-JP" sz="1200" b="1" dirty="0">
              <a:latin typeface="メイリオ" panose="020B0604030504040204" pitchFamily="50" charset="-128"/>
              <a:ea typeface="メイリオ" panose="020B0604030504040204" pitchFamily="50" charset="-128"/>
              <a:cs typeface="メイリオ"/>
            </a:endParaRPr>
          </a:p>
          <a:p>
            <a:pPr algn="ctr"/>
            <a:r>
              <a:rPr kumimoji="1" lang="ja-JP" altLang="en-US" sz="1200" b="1" dirty="0">
                <a:latin typeface="メイリオ" panose="020B0604030504040204" pitchFamily="50" charset="-128"/>
                <a:ea typeface="メイリオ" panose="020B0604030504040204" pitchFamily="50" charset="-128"/>
                <a:cs typeface="メイリオ"/>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cs typeface="メイリオ"/>
              </a:rPr>
              <a:t>定期投稿、シナリオ、リッチメニュー等に設定の</a:t>
            </a:r>
            <a:endParaRPr lang="en-US" altLang="ja-JP" sz="1400" dirty="0">
              <a:latin typeface="メイリオ" panose="020B0604030504040204" pitchFamily="50" charset="-128"/>
              <a:ea typeface="メイリオ" panose="020B0604030504040204" pitchFamily="50" charset="-128"/>
              <a:cs typeface="メイリオ"/>
            </a:endParaRPr>
          </a:p>
          <a:p>
            <a:r>
              <a:rPr lang="ja-JP" altLang="en-US" sz="1400" dirty="0">
                <a:latin typeface="メイリオ" panose="020B0604030504040204" pitchFamily="50" charset="-128"/>
                <a:ea typeface="メイリオ" panose="020B0604030504040204" pitchFamily="50" charset="-128"/>
                <a:cs typeface="メイリオ"/>
              </a:rPr>
              <a:t>リンクについて、</a:t>
            </a:r>
            <a:r>
              <a:rPr lang="en-US" altLang="ja-JP" sz="1400" dirty="0">
                <a:solidFill>
                  <a:srgbClr val="1F2A5C"/>
                </a:solidFill>
                <a:latin typeface="メイリオ" panose="020B0604030504040204" pitchFamily="50" charset="-128"/>
                <a:ea typeface="メイリオ" panose="020B0604030504040204" pitchFamily="50" charset="-128"/>
                <a:cs typeface="メイリオ"/>
              </a:rPr>
              <a:t>GA</a:t>
            </a:r>
            <a:r>
              <a:rPr lang="ja-JP" altLang="en-US" sz="1400" dirty="0" err="1">
                <a:solidFill>
                  <a:srgbClr val="1F2A5C"/>
                </a:solidFill>
                <a:latin typeface="メイリオ" panose="020B0604030504040204" pitchFamily="50" charset="-128"/>
                <a:ea typeface="メイリオ" panose="020B0604030504040204" pitchFamily="50" charset="-128"/>
                <a:cs typeface="メイリオ"/>
              </a:rPr>
              <a:t>、</a:t>
            </a:r>
            <a:r>
              <a:rPr lang="en-US" altLang="ja-JP" sz="1400" dirty="0">
                <a:solidFill>
                  <a:srgbClr val="1F2A5C"/>
                </a:solidFill>
                <a:latin typeface="メイリオ" panose="020B0604030504040204" pitchFamily="50" charset="-128"/>
                <a:ea typeface="メイリオ" panose="020B0604030504040204" pitchFamily="50" charset="-128"/>
                <a:cs typeface="メイリオ"/>
              </a:rPr>
              <a:t>MA</a:t>
            </a:r>
            <a:r>
              <a:rPr lang="ja-JP" altLang="en-US" sz="1400" dirty="0">
                <a:solidFill>
                  <a:srgbClr val="1F2A5C"/>
                </a:solidFill>
                <a:latin typeface="メイリオ" panose="020B0604030504040204" pitchFamily="50" charset="-128"/>
                <a:ea typeface="メイリオ" panose="020B0604030504040204" pitchFamily="50" charset="-128"/>
                <a:cs typeface="メイリオ"/>
              </a:rPr>
              <a:t>ツールでの計測可能</a:t>
            </a:r>
            <a:r>
              <a:rPr lang="ja-JP" altLang="en-US" sz="1400" dirty="0">
                <a:latin typeface="メイリオ" panose="020B0604030504040204" pitchFamily="50" charset="-128"/>
                <a:ea typeface="メイリオ" panose="020B0604030504040204" pitchFamily="50" charset="-128"/>
                <a:cs typeface="メイリオ"/>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cs typeface="メイリオ"/>
              </a:rPr>
              <a:t>DYM</a:t>
            </a:r>
            <a:endParaRPr lang="ja-JP" altLang="en-US" dirty="0">
              <a:latin typeface="メイリオ" panose="020B0604030504040204" pitchFamily="50" charset="-128"/>
              <a:ea typeface="メイリオ" panose="020B0604030504040204" pitchFamily="50" charset="-128"/>
              <a:cs typeface="メイリオ"/>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レポート（日次）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kumimoji="1"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レポート（月次）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cs typeface="メイリオ"/>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cs typeface="メイリオ"/>
            </a:endParaRPr>
          </a:p>
          <a:p>
            <a:pPr algn="ctr"/>
            <a:r>
              <a:rPr lang="ja-JP" altLang="en-US" sz="1400" dirty="0">
                <a:latin typeface="メイリオ" panose="020B0604030504040204" pitchFamily="50" charset="-128"/>
                <a:ea typeface="メイリオ" panose="020B0604030504040204" pitchFamily="50" charset="-128"/>
                <a:cs typeface="メイリオ"/>
              </a:rPr>
              <a:t>投稿別</a:t>
            </a:r>
            <a:r>
              <a:rPr lang="en-US" altLang="ja-JP" sz="1400" dirty="0">
                <a:latin typeface="メイリオ" panose="020B0604030504040204" pitchFamily="50" charset="-128"/>
                <a:ea typeface="メイリオ" panose="020B0604030504040204" pitchFamily="50" charset="-128"/>
                <a:cs typeface="メイリオ"/>
              </a:rPr>
              <a:t>×</a:t>
            </a:r>
            <a:r>
              <a:rPr lang="ja-JP" altLang="en-US" sz="1400" dirty="0">
                <a:latin typeface="メイリオ" panose="020B0604030504040204" pitchFamily="50" charset="-128"/>
                <a:ea typeface="メイリオ" panose="020B0604030504040204" pitchFamily="50" charset="-128"/>
                <a:cs typeface="メイリオ"/>
              </a:rPr>
              <a:t>セグメント別でデータ化でき、</a:t>
            </a:r>
            <a:r>
              <a:rPr lang="en-US" altLang="ja-JP" sz="1400" dirty="0">
                <a:latin typeface="メイリオ" panose="020B0604030504040204" pitchFamily="50" charset="-128"/>
                <a:ea typeface="メイリオ" panose="020B0604030504040204" pitchFamily="50" charset="-128"/>
                <a:cs typeface="メイリオ"/>
              </a:rPr>
              <a:t>AB</a:t>
            </a:r>
            <a:r>
              <a:rPr lang="ja-JP" altLang="en-US" sz="1400" dirty="0">
                <a:latin typeface="メイリオ" panose="020B0604030504040204" pitchFamily="50" charset="-128"/>
                <a:ea typeface="メイリオ" panose="020B0604030504040204" pitchFamily="50" charset="-128"/>
                <a:cs typeface="メイリオ"/>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弊社体制図</a:t>
            </a:r>
            <a:endParaRPr kumimoji="1" lang="ja-JP" altLang="en-US" sz="1600" b="1" dirty="0">
              <a:latin typeface="メイリオ" panose="020B0604030504040204" pitchFamily="50" charset="-128"/>
              <a:ea typeface="メイリオ" panose="020B0604030504040204" pitchFamily="50" charset="-128"/>
              <a:cs typeface="メイリオ"/>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メイリオ"/>
                <a:ea typeface="メイリオ"/>
                <a:cs typeface="メイリオ"/>
                <a:sym typeface="Meiryo"/>
              </a:rPr>
              <a:t>GA</a:t>
            </a:r>
            <a:r>
              <a:rPr lang="ja-JP" altLang="en-US" sz="1600" b="1" dirty="0">
                <a:solidFill>
                  <a:schemeClr val="tx1">
                    <a:lumMod val="65000"/>
                    <a:lumOff val="35000"/>
                  </a:schemeClr>
                </a:solidFill>
                <a:latin typeface="メイリオ"/>
                <a:ea typeface="メイリオ"/>
                <a:cs typeface="メイリオ"/>
                <a:sym typeface="Meiryo"/>
              </a:rPr>
              <a:t>及び</a:t>
            </a:r>
            <a:r>
              <a:rPr lang="en-US" altLang="ja-JP" sz="1600" b="1" dirty="0">
                <a:solidFill>
                  <a:schemeClr val="tx1">
                    <a:lumMod val="65000"/>
                    <a:lumOff val="35000"/>
                  </a:schemeClr>
                </a:solidFill>
                <a:latin typeface="メイリオ"/>
                <a:ea typeface="メイリオ"/>
                <a:cs typeface="メイリオ"/>
                <a:sym typeface="Meiryo"/>
              </a:rPr>
              <a:t>MA</a:t>
            </a:r>
            <a:r>
              <a:rPr lang="ja-JP" altLang="en-US" sz="1600" b="1" dirty="0">
                <a:solidFill>
                  <a:schemeClr val="tx1">
                    <a:lumMod val="65000"/>
                    <a:lumOff val="35000"/>
                  </a:schemeClr>
                </a:solidFill>
                <a:latin typeface="メイリオ"/>
                <a:ea typeface="メイリオ"/>
                <a:cs typeface="メイリオ"/>
                <a:sym typeface="Meiryo"/>
              </a:rPr>
              <a:t>ツール両面での計測ができるようパラメータ管理。</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公式アカウントの管理画面には出ない、サイト上の結果を紐づけ。</a:t>
            </a:r>
            <a:endParaRPr sz="1600" b="1" dirty="0">
              <a:solidFill>
                <a:schemeClr val="tx1">
                  <a:lumMod val="65000"/>
                  <a:lumOff val="35000"/>
                </a:schemeClr>
              </a:solidFill>
              <a:latin typeface="メイリオ"/>
              <a:ea typeface="メイリオ"/>
              <a:cs typeface="メイリオ"/>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体制図（イメージ）</a:t>
            </a:r>
            <a:endParaRPr sz="1600" b="1" dirty="0">
              <a:solidFill>
                <a:srgbClr val="002060"/>
              </a:solidFill>
              <a:latin typeface="メイリオ"/>
              <a:ea typeface="メイリオ"/>
              <a:cs typeface="メイリオ"/>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広告・SNS運用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入稿作業</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運用サポート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cs typeface="メイリオ"/>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制作</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1F2A5C"/>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LINEOA運用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広告運用統括・コンサル</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　</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latin typeface="メイリオ"/>
              <a:ea typeface="メイリオ"/>
              <a:cs typeface="メイリオ"/>
            </a:endParaRPr>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35440024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導入前に確認させていただきたい事項</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契約前に確認する事項と、運用開始後に調整できる事項を分けて整理する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確認事項 49"/>
          <p:cNvGraphicFramePr>
            <a:graphicFrameLocks noGrp="1"/>
          </p:cNvGraphicFramePr>
          <p:nvPr/>
        </p:nvGraphicFramePr>
        <p:xfrm>
          <a:off x="420624" y="1600200"/>
          <a:ext cx="9052560" cy="3995928"/>
        </p:xfrm>
        <a:graphic>
          <a:graphicData uri="http://schemas.openxmlformats.org/drawingml/2006/table">
            <a:tbl>
              <a:tblPr/>
              <a:tblGrid>
                <a:gridCol w="1371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区分</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確認させていただきたいこと</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66928">
                <a:tc rowSpan="5">
                  <a:txBody>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契約前に確認</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予約・参加情報との紐づけ</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予約システム・フォーム・顧客管理の情報と、LINEの友だちを紐づけられるか（難しい場合は流入経路での出し分け・全体配信が基本）</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サンクスLINE誘導の導入</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導入するかどうか。導入する場合は、最低利用期間・停止条件（セミナー開催月だけの利用可否）</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通常の友だち追加ボタン</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予約完了ページへの設置可否・費用・実装条件</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SIMと成果の計測方法</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セミナー予約・サロン入会を、LINEからの件数とするか、広告からの予約も含めるか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成果報酬型プラン（別案）</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成果地点の定義・重複計上の有無・計測方法（成果報酬単価 12,000円／件）</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rowSpan="3">
                  <a:txBody>
                    <a:bodyPr/>
                    <a:lstStyle/>
                    <a:p>
                      <a:pPr algn="ctr">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運用開始後に調整</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一般の方向けセミナー</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同じLINE公式アカウントでの配信の出し分け（流入経路の分け方・配信内容）</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r h="41148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平常期の配信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月1〜2回の範囲での回数・内容</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7"/>
                  </a:ext>
                </a:extLst>
              </a:tr>
              <a:tr h="411480">
                <a:tc vMerge="1">
                  <a:txBody>
                    <a:bodyPr/>
                    <a:lstStyle/>
                    <a:p>
                      <a:pPr algn="ctr">
                        <a:buNone/>
                      </a:pP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cs typeface="メイリオ"/>
                        </a:rPr>
                        <a:t>興味分野の確認</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友だち追加直後の簡易アンケートを入れるかどうか（必要最小限の1問程度）</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8"/>
                  </a:ext>
                </a:extLst>
              </a:tr>
            </a:tbl>
          </a:graphicData>
        </a:graphic>
      </p:graphicFrame>
      <p:sp>
        <p:nvSpPr>
          <p:cNvPr id="51" name="注記"/>
          <p:cNvSpPr/>
          <p:nvPr/>
        </p:nvSpPr>
        <p:spPr>
          <a:xfrm>
            <a:off x="420624" y="580644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※データ連携が必要な高度な施策は、別途要件定義・お見積りのうえ実施</a:t>
            </a:r>
            <a:endParaRPr lang="ja-JP" altLang="en-US" sz="1200" dirty="0">
              <a:latin typeface="メイリオ"/>
              <a:ea typeface="メイリオ"/>
              <a:cs typeface="メイリオ"/>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ツール導入・連携の設定 / 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3566160" y="5841409"/>
            <a:ext cx="6099048"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※契約期間は6か月。貴社作業・確認にかかる時間により前後する場合がある。</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46" name="正方形/長方形 2"/>
          <p:cNvSpPr/>
          <p:nvPr/>
        </p:nvSpPr>
        <p:spPr>
          <a:xfrm>
            <a:off x="7902506" y="2743200"/>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ツールの選択</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実装条件の確認</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（サンクスLINE誘導の</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契約・停止条件）</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1214348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補足資料・その他サービス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アカウント効果を</a:t>
            </a:r>
            <a:r>
              <a:rPr lang="ja-JP" altLang="en-US" sz="2400" b="1" dirty="0">
                <a:latin typeface="メイリオ" panose="020B0604030504040204" pitchFamily="50" charset="-128"/>
                <a:ea typeface="メイリオ" panose="020B0604030504040204" pitchFamily="50" charset="-128"/>
                <a:cs typeface="メイリオ"/>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離脱防止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友だち追加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で学習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の動線での</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DYM</a:t>
            </a:r>
            <a:r>
              <a:rPr lang="ja-JP" altLang="en-US" sz="1200" dirty="0">
                <a:solidFill>
                  <a:schemeClr val="bg1"/>
                </a:solidFill>
                <a:latin typeface="メイリオ" panose="020B0604030504040204" pitchFamily="50" charset="-128"/>
                <a:ea typeface="メイリオ" panose="020B0604030504040204" pitchFamily="50" charset="-128"/>
                <a:cs typeface="メイリオ"/>
              </a:rPr>
              <a:t>施策</a:t>
            </a:r>
            <a:endParaRPr lang="ja-JP" altLang="en-US" sz="1200" dirty="0">
              <a:solidFill>
                <a:schemeClr val="bg1"/>
              </a:solidFill>
              <a:latin typeface="メイリオ"/>
              <a:ea typeface="メイリオ"/>
              <a:cs typeface="メイリオ"/>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現状施策</a:t>
            </a:r>
            <a:endParaRPr lang="ja-JP" altLang="en-US" sz="1200" dirty="0">
              <a:solidFill>
                <a:schemeClr val="bg1"/>
              </a:solidFill>
              <a:latin typeface="メイリオ"/>
              <a:ea typeface="メイリオ"/>
              <a:cs typeface="メイリオ"/>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※ID</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ミニアプリ・診断 →</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 </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特典</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 </a:t>
            </a:r>
            <a:r>
              <a:rPr kumimoji="1" lang="ja-JP" altLang="en-US" sz="1200" b="1" dirty="0">
                <a:latin typeface="メイリオ" panose="020B0604030504040204" pitchFamily="50" charset="-128"/>
                <a:ea typeface="メイリオ" panose="020B0604030504040204" pitchFamily="50" charset="-128"/>
                <a:cs typeface="メイリオ"/>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自社</a:t>
            </a:r>
            <a:r>
              <a:rPr kumimoji="1" lang="en-US" altLang="ja-JP" sz="1200" b="1" dirty="0">
                <a:latin typeface="メイリオ" panose="020B0604030504040204" pitchFamily="50" charset="-128"/>
                <a:ea typeface="メイリオ" panose="020B0604030504040204" pitchFamily="50" charset="-128"/>
                <a:cs typeface="メイリオ"/>
              </a:rPr>
              <a:t>App/</a:t>
            </a:r>
            <a:r>
              <a:rPr kumimoji="1" lang="ja-JP" altLang="en-US" sz="1200" b="1" dirty="0">
                <a:latin typeface="メイリオ" panose="020B0604030504040204" pitchFamily="50" charset="-128"/>
                <a:ea typeface="メイリオ" panose="020B0604030504040204" pitchFamily="50" charset="-128"/>
                <a:cs typeface="メイリオ"/>
              </a:rPr>
              <a:t>ネットワーク</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a:t>
            </a:r>
            <a:r>
              <a:rPr lang="en-US" altLang="ja-JP" sz="1200" b="1" dirty="0">
                <a:latin typeface="メイリオ" panose="020B0604030504040204" pitchFamily="50" charset="-128"/>
                <a:ea typeface="メイリオ" panose="020B0604030504040204" pitchFamily="50" charset="-128"/>
                <a:cs typeface="メイリオ"/>
              </a:rPr>
              <a:t>ID</a:t>
            </a:r>
            <a:r>
              <a:rPr lang="ja-JP" altLang="en-US" sz="1200" b="1" dirty="0">
                <a:latin typeface="メイリオ" panose="020B0604030504040204" pitchFamily="50" charset="-128"/>
                <a:ea typeface="メイリオ" panose="020B0604030504040204" pitchFamily="50" charset="-128"/>
                <a:cs typeface="メイリオ"/>
              </a:rPr>
              <a:t>連携等の開発）</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cs typeface="メイリオ"/>
              </a:rPr>
              <a:t>LINE</a:t>
            </a:r>
            <a:r>
              <a:rPr lang="ja-JP" altLang="en-US" sz="1200" b="1" dirty="0">
                <a:latin typeface="メイリオ" panose="020B0604030504040204" pitchFamily="50" charset="-128"/>
                <a:ea typeface="メイリオ" panose="020B0604030504040204" pitchFamily="50" charset="-128"/>
                <a:cs typeface="メイリオ"/>
              </a:rPr>
              <a:t>でログイン</a:t>
            </a:r>
          </a:p>
        </p:txBody>
      </p:sp>
    </p:spTree>
    <p:extLst>
      <p:ext uri="{BB962C8B-B14F-4D97-AF65-F5344CB8AC3E}">
        <p14:creationId xmlns:p14="http://schemas.microsoft.com/office/powerpoint/2010/main" val="42651367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法人</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が</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増加傾向</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cs typeface="メイリオ"/>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cs typeface="メイリオ"/>
                </a:rPr>
                <a:t>　　　　</a:t>
              </a:r>
              <a:r>
                <a:rPr lang="en-US" sz="1400" dirty="0" err="1">
                  <a:solidFill>
                    <a:srgbClr val="040606"/>
                  </a:solidFill>
                  <a:latin typeface="メイリオ" panose="020B0604030504040204" pitchFamily="50" charset="-128"/>
                  <a:ea typeface="メイリオ" panose="020B0604030504040204" pitchFamily="50" charset="-128"/>
                  <a:cs typeface="メイリオ"/>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cs typeface="メイリオ"/>
                </a:rPr>
                <a:t>、</a:t>
              </a:r>
              <a:r>
                <a:rPr lang="ja-JP" altLang="en-US" sz="1400" dirty="0">
                  <a:solidFill>
                    <a:srgbClr val="040606"/>
                  </a:solidFill>
                  <a:latin typeface="メイリオ" panose="020B0604030504040204" pitchFamily="50" charset="-128"/>
                  <a:ea typeface="メイリオ" panose="020B0604030504040204" pitchFamily="50" charset="-128"/>
                  <a:cs typeface="メイリオ"/>
                </a:rPr>
                <a:t>テレマーケティング </a:t>
              </a:r>
              <a:r>
                <a:rPr lang="en-US" sz="1400" dirty="0" err="1">
                  <a:solidFill>
                    <a:srgbClr val="040606"/>
                  </a:solidFill>
                  <a:latin typeface="メイリオ" panose="020B0604030504040204" pitchFamily="50" charset="-128"/>
                  <a:ea typeface="メイリオ" panose="020B0604030504040204" pitchFamily="50" charset="-128"/>
                  <a:cs typeface="メイリオ"/>
                </a:rPr>
                <a:t>が主流</a:t>
              </a:r>
              <a:endParaRPr lang="en-US" sz="1400" dirty="0">
                <a:solidFill>
                  <a:srgbClr val="040606"/>
                </a:solidFill>
                <a:latin typeface="メイリオ" panose="020B0604030504040204" pitchFamily="50" charset="-128"/>
                <a:ea typeface="メイリオ" panose="020B0604030504040204" pitchFamily="50" charset="-128"/>
                <a:cs typeface="メイリオ"/>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b="1" dirty="0">
                  <a:solidFill>
                    <a:srgbClr val="00B900"/>
                  </a:solidFill>
                  <a:latin typeface="メイリオ" panose="020B0604030504040204" pitchFamily="50" charset="-128"/>
                  <a:ea typeface="メイリオ" panose="020B0604030504040204" pitchFamily="50" charset="-128"/>
                  <a:cs typeface="メイリオ"/>
                </a:rPr>
                <a:t>LINE</a:t>
              </a:r>
              <a:r>
                <a:rPr lang="ja-JP" altLang="en-US" sz="1400" b="1" dirty="0">
                  <a:solidFill>
                    <a:srgbClr val="00B900"/>
                  </a:solidFill>
                  <a:latin typeface="メイリオ" panose="020B0604030504040204" pitchFamily="50" charset="-128"/>
                  <a:ea typeface="メイリオ" panose="020B0604030504040204" pitchFamily="50" charset="-128"/>
                  <a:cs typeface="メイリオ"/>
                </a:rPr>
                <a:t>公式アカウント</a:t>
              </a:r>
              <a:r>
                <a:rPr 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dirty="0" err="1">
                  <a:solidFill>
                    <a:srgbClr val="00B900"/>
                  </a:solidFill>
                  <a:latin typeface="メイリオ" panose="020B0604030504040204" pitchFamily="50" charset="-128"/>
                  <a:ea typeface="メイリオ" panose="020B0604030504040204" pitchFamily="50" charset="-128"/>
                  <a:cs typeface="メイリオ"/>
                </a:rPr>
                <a:t>が主流</a:t>
              </a:r>
              <a:endParaRPr lang="en-US" sz="1400" dirty="0">
                <a:solidFill>
                  <a:srgbClr val="00B900"/>
                </a:solidFill>
                <a:latin typeface="メイリオ" panose="020B0604030504040204" pitchFamily="50" charset="-128"/>
                <a:ea typeface="メイリオ" panose="020B0604030504040204" pitchFamily="50" charset="-128"/>
                <a:cs typeface="メイリオ"/>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cs typeface="メイリオ"/>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latin typeface="メイリオ"/>
              <a:ea typeface="メイリオ"/>
              <a:cs typeface="メイリオ"/>
            </a:endParaRPr>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cs typeface="メイリオ"/>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今すぐ客」以外の</a:t>
            </a:r>
            <a:r>
              <a:rPr lang="ja-JP" altLang="en-US" sz="1400" dirty="0">
                <a:solidFill>
                  <a:srgbClr val="343434"/>
                </a:solidFill>
                <a:latin typeface="メイリオ" panose="020B0604030504040204" pitchFamily="50" charset="-128"/>
                <a:ea typeface="メイリオ" panose="020B0604030504040204" pitchFamily="50" charset="-128"/>
                <a:cs typeface="メイリオ"/>
              </a:rPr>
              <a:t>約</a:t>
            </a:r>
            <a:r>
              <a:rPr lang="en-US" altLang="ja-JP" sz="1400" dirty="0">
                <a:solidFill>
                  <a:srgbClr val="343434"/>
                </a:solidFill>
                <a:latin typeface="メイリオ" panose="020B0604030504040204" pitchFamily="50" charset="-128"/>
                <a:ea typeface="メイリオ" panose="020B0604030504040204" pitchFamily="50" charset="-128"/>
                <a:cs typeface="メイリオ"/>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結果として</a:t>
            </a:r>
            <a:r>
              <a:rPr lang="ja-JP" altLang="en-US" sz="1400" dirty="0" err="1">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げ</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cs typeface="メイリオ"/>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cs typeface="メイリオ"/>
              </a:rPr>
              <a:t>9-</a:t>
            </a:r>
            <a:r>
              <a:rPr lang="en-US" sz="1554" dirty="0">
                <a:solidFill>
                  <a:srgbClr val="494848"/>
                </a:solidFill>
                <a:latin typeface="メイリオ" panose="020B0604030504040204" pitchFamily="50" charset="-128"/>
                <a:ea typeface="メイリオ" panose="020B0604030504040204" pitchFamily="50" charset="-128"/>
                <a:cs typeface="メイリオ"/>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cs typeface="メイリオ"/>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en-US" sz="1200" b="1" dirty="0" err="1">
                <a:solidFill>
                  <a:srgbClr val="494848"/>
                </a:solidFill>
                <a:latin typeface="メイリオ" panose="020B0604030504040204" pitchFamily="50" charset="-128"/>
                <a:ea typeface="メイリオ" panose="020B0604030504040204" pitchFamily="50" charset="-128"/>
                <a:cs typeface="メイリオ"/>
              </a:rPr>
              <a:t>今すぐ</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cs typeface="メイリオ"/>
              </a:rPr>
              <a:t>のは</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リスクが大きい。</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cs typeface="メイリオ"/>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将来的な顧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客」教育をLINE</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上で構築し</a:t>
            </a:r>
            <a:r>
              <a:rPr lang="en-US" sz="1200" b="1" dirty="0">
                <a:solidFill>
                  <a:srgbClr val="494848"/>
                </a:solidFill>
                <a:latin typeface="メイリオ" panose="020B0604030504040204" pitchFamily="50" charset="-128"/>
                <a:ea typeface="メイリオ" panose="020B0604030504040204" pitchFamily="50" charset="-128"/>
                <a:cs typeface="メイリオ"/>
              </a:rPr>
              <a:t>行</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う。</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cs typeface="メイリオ"/>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メイリオ"/>
                <a:ea typeface="メイリオ"/>
                <a:cs typeface="メイリオ"/>
                <a:sym typeface="Meiryo"/>
              </a:rPr>
              <a:t>WEB</a:t>
            </a:r>
            <a:r>
              <a:rPr lang="ja-JP" altLang="en-US" sz="1400" dirty="0">
                <a:latin typeface="メイリオ"/>
                <a:ea typeface="メイリオ"/>
                <a:cs typeface="メイリオ"/>
                <a:sym typeface="Meiryo"/>
              </a:rPr>
              <a:t>広告における</a:t>
            </a:r>
            <a:r>
              <a:rPr lang="ja-JP" altLang="en-US" sz="1400" b="1" dirty="0">
                <a:latin typeface="メイリオ"/>
                <a:ea typeface="メイリオ"/>
                <a:cs typeface="メイリオ"/>
                <a:sym typeface="Meiryo"/>
              </a:rPr>
              <a:t>競合性が高</a:t>
            </a:r>
            <a:r>
              <a:rPr lang="ja-JP" altLang="en-US" sz="1400" dirty="0">
                <a:latin typeface="メイリオ"/>
                <a:ea typeface="メイリオ"/>
                <a:cs typeface="メイリオ"/>
                <a:sym typeface="Meiryo"/>
              </a:rPr>
              <a:t>くなり</a:t>
            </a:r>
            <a:endParaRPr lang="en-US" altLang="ja-JP" sz="1400" dirty="0">
              <a:latin typeface="メイリオ"/>
              <a:ea typeface="メイリオ"/>
              <a:cs typeface="メイリオ"/>
              <a:sym typeface="Meiryo"/>
            </a:endParaRPr>
          </a:p>
          <a:p>
            <a:pPr algn="ctr"/>
            <a:r>
              <a:rPr lang="ja-JP" altLang="en-US" sz="1400" b="1" dirty="0">
                <a:solidFill>
                  <a:srgbClr val="1F2A5C"/>
                </a:solidFill>
                <a:latin typeface="メイリオ"/>
                <a:ea typeface="メイリオ"/>
                <a:cs typeface="メイリオ"/>
                <a:sym typeface="Meiryo"/>
              </a:rPr>
              <a:t>単価指標（</a:t>
            </a:r>
            <a:r>
              <a:rPr lang="en-US" altLang="ja-JP" sz="1400" b="1" dirty="0">
                <a:solidFill>
                  <a:srgbClr val="1F2A5C"/>
                </a:solidFill>
                <a:latin typeface="メイリオ"/>
                <a:ea typeface="メイリオ"/>
                <a:cs typeface="メイリオ"/>
                <a:sym typeface="Meiryo"/>
              </a:rPr>
              <a:t>CPC</a:t>
            </a:r>
            <a:r>
              <a:rPr lang="ja-JP" altLang="en-US" sz="1400" b="1" dirty="0">
                <a:solidFill>
                  <a:srgbClr val="1F2A5C"/>
                </a:solidFill>
                <a:latin typeface="メイリオ"/>
                <a:ea typeface="メイリオ"/>
                <a:cs typeface="メイリオ"/>
                <a:sym typeface="Meiryo"/>
              </a:rPr>
              <a:t>及び</a:t>
            </a:r>
            <a:r>
              <a:rPr lang="en-US" altLang="ja-JP" sz="1400" b="1" dirty="0">
                <a:solidFill>
                  <a:srgbClr val="1F2A5C"/>
                </a:solidFill>
                <a:latin typeface="メイリオ"/>
                <a:ea typeface="メイリオ"/>
                <a:cs typeface="メイリオ"/>
                <a:sym typeface="Meiryo"/>
              </a:rPr>
              <a:t>CPA</a:t>
            </a:r>
            <a:r>
              <a:rPr lang="ja-JP" altLang="en-US" sz="1400" b="1" dirty="0">
                <a:solidFill>
                  <a:srgbClr val="1F2A5C"/>
                </a:solidFill>
                <a:latin typeface="メイリオ"/>
                <a:ea typeface="メイリオ"/>
                <a:cs typeface="メイリオ"/>
                <a:sym typeface="Meiryo"/>
              </a:rPr>
              <a:t>）が高騰</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メイリオ"/>
                <a:ea typeface="メイリオ"/>
                <a:cs typeface="メイリオ"/>
                <a:sym typeface="Meiryo"/>
              </a:rPr>
              <a:t>集客施策における</a:t>
            </a:r>
            <a:r>
              <a:rPr lang="en-US" altLang="ja-JP" sz="1400" b="1" dirty="0">
                <a:latin typeface="メイリオ"/>
                <a:ea typeface="メイリオ"/>
                <a:cs typeface="メイリオ"/>
                <a:sym typeface="Meiryo"/>
              </a:rPr>
              <a:t>CVR</a:t>
            </a:r>
            <a:r>
              <a:rPr lang="ja-JP" altLang="en-US" sz="1400" b="1" dirty="0">
                <a:latin typeface="メイリオ"/>
                <a:ea typeface="メイリオ"/>
                <a:cs typeface="メイリオ"/>
                <a:sym typeface="Meiryo"/>
              </a:rPr>
              <a:t>は高くても</a:t>
            </a:r>
            <a:r>
              <a:rPr lang="en-US" altLang="ja-JP" sz="1400" b="1" dirty="0">
                <a:latin typeface="メイリオ"/>
                <a:ea typeface="メイリオ"/>
                <a:cs typeface="メイリオ"/>
                <a:sym typeface="Meiryo"/>
              </a:rPr>
              <a:t>2%</a:t>
            </a:r>
            <a:r>
              <a:rPr lang="ja-JP" altLang="en-US" sz="1400" b="1" dirty="0">
                <a:latin typeface="メイリオ"/>
                <a:ea typeface="メイリオ"/>
                <a:cs typeface="メイリオ"/>
                <a:sym typeface="Meiryo"/>
              </a:rPr>
              <a:t>程度</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a:p>
            <a:pPr algn="ctr"/>
            <a:r>
              <a:rPr lang="en-US" altLang="ja-JP" sz="1400" dirty="0">
                <a:solidFill>
                  <a:srgbClr val="1F2A5C"/>
                </a:solidFill>
                <a:latin typeface="メイリオ"/>
                <a:ea typeface="メイリオ"/>
                <a:cs typeface="メイリオ"/>
                <a:sym typeface="Meiryo"/>
              </a:rPr>
              <a:t>CV</a:t>
            </a:r>
            <a:r>
              <a:rPr lang="ja-JP" altLang="en-US" sz="1400" dirty="0">
                <a:solidFill>
                  <a:srgbClr val="1F2A5C"/>
                </a:solidFill>
                <a:latin typeface="メイリオ"/>
                <a:ea typeface="メイリオ"/>
                <a:cs typeface="メイリオ"/>
                <a:sym typeface="Meiryo"/>
              </a:rPr>
              <a:t>に至らず離脱するユーザーが大部分</a:t>
            </a:r>
            <a:r>
              <a:rPr lang="ja-JP" altLang="en-US" sz="1400" dirty="0">
                <a:latin typeface="メイリオ"/>
                <a:ea typeface="メイリオ"/>
                <a:cs typeface="メイリオ"/>
                <a:sym typeface="Meiryo"/>
              </a:rPr>
              <a:t>。</a:t>
            </a:r>
            <a:endParaRPr lang="ja-JP" altLang="en-US" sz="1400" dirty="0">
              <a:latin typeface="メイリオ"/>
              <a:ea typeface="メイリオ"/>
              <a:cs typeface="メイリオ"/>
            </a:endParaRPr>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CVR</a:t>
            </a:r>
            <a:endParaRPr lang="ja-JP" altLang="en-US" b="1" dirty="0">
              <a:latin typeface="メイリオ" panose="020B0604030504040204" pitchFamily="50" charset="-128"/>
              <a:ea typeface="メイリオ" panose="020B0604030504040204" pitchFamily="50" charset="-128"/>
              <a:cs typeface="メイリオ"/>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CPC</a:t>
            </a:r>
            <a:endParaRPr lang="ja-JP" altLang="en-US"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5621484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cs typeface="メイリオ"/>
              </a:rPr>
              <a:t>10-40</a:t>
            </a:r>
            <a:r>
              <a:rPr lang="ja-JP" altLang="en-US" sz="1400" dirty="0">
                <a:solidFill>
                  <a:srgbClr val="343434"/>
                </a:solidFill>
                <a:latin typeface="メイリオ" panose="020B0604030504040204" pitchFamily="50" charset="-128"/>
                <a:ea typeface="メイリオ" panose="020B0604030504040204" pitchFamily="50" charset="-128"/>
                <a:cs typeface="メイリオ"/>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cs typeface="メイリオ"/>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cs typeface="メイリオ"/>
              </a:rPr>
              <a:t>LINEOA</a:t>
            </a:r>
            <a:r>
              <a:rPr lang="ja-JP" altLang="en-US" sz="1400" b="1" dirty="0">
                <a:solidFill>
                  <a:srgbClr val="343434"/>
                </a:solidFill>
                <a:latin typeface="メイリオ" panose="020B0604030504040204" pitchFamily="50" charset="-128"/>
                <a:ea typeface="メイリオ" panose="020B0604030504040204" pitchFamily="50" charset="-128"/>
                <a:cs typeface="メイリオ"/>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される。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cs typeface="メイリオ"/>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cs typeface="メイリオ"/>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LINE</a:t>
            </a:r>
            <a:r>
              <a:rPr lang="ja-JP" altLang="en-US" sz="1400" dirty="0">
                <a:latin typeface="メイリオ" panose="020B0604030504040204" pitchFamily="50" charset="-128"/>
                <a:ea typeface="メイリオ" panose="020B0604030504040204" pitchFamily="50" charset="-128"/>
                <a:cs typeface="メイリオ"/>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メイリオ"/>
                <a:sym typeface="Meiryo"/>
              </a:rPr>
              <a:t>CV</a:t>
            </a:r>
            <a:r>
              <a:rPr lang="ja-JP" altLang="en-US" sz="1400" dirty="0">
                <a:latin typeface="メイリオ" panose="020B0604030504040204" pitchFamily="50" charset="-128"/>
                <a:ea typeface="メイリオ" panose="020B0604030504040204" pitchFamily="50" charset="-128"/>
                <a:cs typeface="メイリオ"/>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メイリオ"/>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1F2A5C"/>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5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1F2A5C"/>
                </a:solidFill>
                <a:latin typeface="メイリオ" panose="020B0604030504040204" pitchFamily="50" charset="-128"/>
                <a:ea typeface="メイリオ" panose="020B0604030504040204" pitchFamily="50" charset="-128"/>
                <a:cs typeface="メイリオ"/>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r>
              <a:rPr kumimoji="1" lang="en-US" altLang="ja-JP" sz="1100" dirty="0">
                <a:solidFill>
                  <a:schemeClr val="tx2"/>
                </a:solidFill>
                <a:latin typeface="メイリオ" panose="020B0604030504040204" pitchFamily="50" charset="-128"/>
                <a:ea typeface="メイリオ" panose="020B0604030504040204" pitchFamily="50" charset="-128"/>
                <a:cs typeface="メイリオ"/>
              </a:rPr>
              <a:t>LINE</a:t>
            </a:r>
            <a:r>
              <a:rPr kumimoji="1" lang="ja-JP" altLang="en-US" sz="1100" dirty="0">
                <a:solidFill>
                  <a:schemeClr val="tx2"/>
                </a:solidFill>
                <a:latin typeface="メイリオ" panose="020B0604030504040204" pitchFamily="50" charset="-128"/>
                <a:ea typeface="メイリオ" panose="020B0604030504040204" pitchFamily="50" charset="-128"/>
                <a:cs typeface="メイリオ"/>
              </a:rPr>
              <a:t>施策内</a:t>
            </a: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endParaRPr kumimoji="1" lang="ja-JP" altLang="en-US" sz="1100" dirty="0">
              <a:solidFill>
                <a:schemeClr val="tx2"/>
              </a:solidFill>
              <a:latin typeface="メイリオ" panose="020B0604030504040204" pitchFamily="50" charset="-128"/>
              <a:ea typeface="メイリオ" panose="020B0604030504040204" pitchFamily="50" charset="-128"/>
              <a:cs typeface="メイリオ"/>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アクティブ数</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kumimoji="1" lang="ja-JP" altLang="en-US" sz="800" dirty="0">
                <a:latin typeface="メイリオ" panose="020B0604030504040204" pitchFamily="50" charset="-128"/>
                <a:ea typeface="メイリオ" panose="020B0604030504040204" pitchFamily="50" charset="-128"/>
                <a:cs typeface="メイリオ"/>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セグメント率</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lang="en-US" altLang="ja-JP" sz="1000" dirty="0">
                <a:latin typeface="メイリオ" panose="020B0604030504040204" pitchFamily="50" charset="-128"/>
                <a:ea typeface="メイリオ" panose="020B0604030504040204" pitchFamily="50" charset="-128"/>
                <a:cs typeface="メイリオ"/>
              </a:rPr>
              <a:t>or</a:t>
            </a:r>
          </a:p>
          <a:p>
            <a:pPr algn="ctr"/>
            <a:r>
              <a:rPr kumimoji="1" lang="ja-JP" altLang="en-US" sz="1000" b="1" dirty="0">
                <a:latin typeface="メイリオ" panose="020B0604030504040204" pitchFamily="50" charset="-128"/>
                <a:ea typeface="メイリオ" panose="020B0604030504040204" pitchFamily="50" charset="-128"/>
                <a:cs typeface="メイリオ"/>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cs typeface="メイリオ"/>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1F2A5C"/>
                </a:solidFill>
                <a:latin typeface="メイリオ" panose="020B0604030504040204" pitchFamily="50" charset="-128"/>
                <a:ea typeface="メイリオ" panose="020B0604030504040204" pitchFamily="50" charset="-128"/>
                <a:cs typeface="メイリオ"/>
              </a:rPr>
              <a:t>85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1F2A5C"/>
                </a:solidFill>
                <a:latin typeface="メイリオ" panose="020B0604030504040204" pitchFamily="50" charset="-128"/>
                <a:ea typeface="メイリオ" panose="020B0604030504040204" pitchFamily="50" charset="-128"/>
                <a:cs typeface="メイリオ"/>
              </a:rPr>
              <a:t>12.5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1F2A5C"/>
                </a:solidFill>
                <a:latin typeface="メイリオ" panose="020B0604030504040204" pitchFamily="50" charset="-128"/>
                <a:ea typeface="メイリオ" panose="020B0604030504040204" pitchFamily="50" charset="-128"/>
                <a:cs typeface="メイリオ"/>
              </a:rPr>
              <a:t>0.5</a:t>
            </a:r>
            <a:r>
              <a:rPr kumimoji="1" lang="en-US" altLang="ja-JP" sz="1400" b="1" dirty="0">
                <a:solidFill>
                  <a:srgbClr val="1F2A5C"/>
                </a:solidFill>
                <a:latin typeface="メイリオ" panose="020B0604030504040204" pitchFamily="50" charset="-128"/>
                <a:ea typeface="メイリオ" panose="020B0604030504040204" pitchFamily="50" charset="-128"/>
                <a:cs typeface="メイリオ"/>
              </a:rPr>
              <a:t> %</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70 %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8.25 %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cs typeface="メイリオ"/>
              </a:rPr>
              <a:t>0.3 %</a:t>
            </a:r>
            <a:endParaRPr kumimoji="1"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cs typeface="メイリオ"/>
              </a:rPr>
              <a:t>DYM</a:t>
            </a:r>
            <a:r>
              <a:rPr kumimoji="1" lang="ja-JP" altLang="en-US" sz="1200" b="1" dirty="0">
                <a:solidFill>
                  <a:srgbClr val="FFFFFF"/>
                </a:solidFill>
                <a:latin typeface="メイリオ" panose="020B0604030504040204" pitchFamily="50" charset="-128"/>
                <a:ea typeface="メイリオ" panose="020B0604030504040204" pitchFamily="50" charset="-128"/>
                <a:cs typeface="メイリオ"/>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業界平均</a:t>
            </a:r>
            <a:endParaRPr lang="en-US" altLang="ja-JP" sz="1200" b="1"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800" b="1" dirty="0">
                <a:solidFill>
                  <a:schemeClr val="bg1"/>
                </a:solidFill>
                <a:latin typeface="メイリオ" panose="020B0604030504040204" pitchFamily="50" charset="-128"/>
                <a:ea typeface="メイリオ" panose="020B0604030504040204" pitchFamily="50" charset="-128"/>
                <a:cs typeface="メイリオ"/>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FFFF"/>
                </a:solidFill>
                <a:latin typeface="メイリオ" panose="020B0604030504040204" pitchFamily="50" charset="-128"/>
                <a:ea typeface="メイリオ" panose="020B0604030504040204" pitchFamily="50" charset="-128"/>
                <a:cs typeface="メイリオ"/>
              </a:rPr>
              <a:t>施策の流れ</a:t>
            </a:r>
          </a:p>
        </p:txBody>
      </p:sp>
    </p:spTree>
    <p:extLst>
      <p:ext uri="{BB962C8B-B14F-4D97-AF65-F5344CB8AC3E}">
        <p14:creationId xmlns:p14="http://schemas.microsoft.com/office/powerpoint/2010/main" val="2421842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業態平均で</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最大３</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のユーザーは有効化</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マネタイズ可能</a:t>
            </a:r>
            <a:r>
              <a:rPr lang="ja-JP" altLang="en-US" sz="1400" dirty="0">
                <a:solidFill>
                  <a:srgbClr val="343434"/>
                </a:solidFill>
                <a:latin typeface="メイリオ" panose="020B0604030504040204" pitchFamily="50" charset="-128"/>
                <a:ea typeface="メイリオ" panose="020B0604030504040204" pitchFamily="50" charset="-128"/>
                <a:cs typeface="メイリオ"/>
              </a:rPr>
              <a:t> とされている。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dirty="0">
                <a:solidFill>
                  <a:srgbClr val="1F2A5C"/>
                </a:solidFill>
                <a:latin typeface="メイリオ" panose="020B0604030504040204" pitchFamily="50" charset="-128"/>
                <a:ea typeface="メイリオ" panose="020B0604030504040204" pitchFamily="50" charset="-128"/>
                <a:cs typeface="メイリオ"/>
              </a:rPr>
              <a:t>平均値</a:t>
            </a:r>
            <a:endParaRPr kumimoji="1" lang="ja-JP" altLang="en-US" sz="10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離脱防止バナー</a:t>
            </a:r>
            <a:endParaRPr lang="en-US" altLang="ja-JP" sz="2000" b="1" dirty="0">
              <a:solidFill>
                <a:srgbClr val="002060"/>
              </a:solidFill>
              <a:latin typeface="メイリオ"/>
              <a:ea typeface="メイリオ"/>
              <a:cs typeface="メイリオ"/>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2000" b="1" dirty="0">
              <a:solidFill>
                <a:srgbClr val="002060"/>
              </a:solidFill>
              <a:latin typeface="メイリオ"/>
              <a:ea typeface="メイリオ"/>
              <a:cs typeface="メイリオ"/>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サンクス</a:t>
            </a: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誘導</a:t>
            </a:r>
            <a:endParaRPr lang="en-US" altLang="ja-JP" sz="2000" b="1" dirty="0">
              <a:solidFill>
                <a:srgbClr val="002060"/>
              </a:solidFill>
              <a:latin typeface="メイリオ"/>
              <a:ea typeface="メイリオ"/>
              <a:cs typeface="メイリオ"/>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事例：車買取</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興味はあるが利用まで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至らなかったユーザーを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友だちとして囲い込む。</a:t>
            </a:r>
            <a:endParaRPr lang="en-US" altLang="ja-JP" sz="1400" dirty="0">
              <a:latin typeface="メイリオ"/>
              <a:ea typeface="メイリオ"/>
              <a:cs typeface="メイリオ"/>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メイリオ"/>
                <a:ea typeface="メイリオ"/>
                <a:cs typeface="メイリオ"/>
                <a:sym typeface="Meiryo"/>
              </a:rPr>
              <a:t>CPF</a:t>
            </a:r>
            <a:r>
              <a:rPr lang="ja-JP" altLang="en-US" sz="1400" dirty="0">
                <a:latin typeface="メイリオ"/>
                <a:ea typeface="メイリオ"/>
                <a:cs typeface="メイリオ"/>
                <a:sym typeface="Meiryo"/>
              </a:rPr>
              <a:t>約</a:t>
            </a:r>
            <a:r>
              <a:rPr lang="en-US" altLang="ja-JP" sz="1400" dirty="0">
                <a:latin typeface="メイリオ"/>
                <a:ea typeface="メイリオ"/>
                <a:cs typeface="メイリオ"/>
                <a:sym typeface="Meiryo"/>
              </a:rPr>
              <a:t>100-200</a:t>
            </a:r>
            <a:r>
              <a:rPr lang="ja-JP" altLang="en-US" sz="1400" dirty="0">
                <a:latin typeface="メイリオ"/>
                <a:ea typeface="メイリオ"/>
                <a:cs typeface="メイリオ"/>
                <a:sym typeface="Meiryo"/>
              </a:rPr>
              <a:t>円台。</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かなり安価かつ成果報酬で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友だちを増やす広告。</a:t>
            </a:r>
            <a:endParaRPr lang="en-US" altLang="ja-JP" sz="1400" dirty="0">
              <a:latin typeface="メイリオ"/>
              <a:ea typeface="メイリオ"/>
              <a:cs typeface="メイリオ"/>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事例：アパレル</a:t>
            </a:r>
            <a:endParaRPr lang="en-US" altLang="ja-JP" sz="1400" dirty="0">
              <a:solidFill>
                <a:schemeClr val="tx1">
                  <a:lumMod val="50000"/>
                  <a:lumOff val="50000"/>
                </a:schemeClr>
              </a:solidFill>
              <a:latin typeface="メイリオ"/>
              <a:ea typeface="メイリオ"/>
              <a:cs typeface="メイリオ"/>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1</a:t>
            </a:r>
            <a:r>
              <a:rPr lang="ja-JP" altLang="en-US" sz="1200" dirty="0">
                <a:solidFill>
                  <a:schemeClr val="tx1">
                    <a:lumMod val="50000"/>
                    <a:lumOff val="50000"/>
                  </a:schemeClr>
                </a:solidFill>
                <a:latin typeface="メイリオ"/>
                <a:ea typeface="メイリオ"/>
                <a:cs typeface="メイリオ"/>
                <a:sym typeface="Meiryo"/>
              </a:rPr>
              <a:t>人あたり</a:t>
            </a:r>
            <a:r>
              <a:rPr lang="en-US" altLang="ja-JP" sz="1200" dirty="0">
                <a:solidFill>
                  <a:schemeClr val="tx1">
                    <a:lumMod val="50000"/>
                    <a:lumOff val="50000"/>
                  </a:schemeClr>
                </a:solidFill>
                <a:latin typeface="メイリオ"/>
                <a:ea typeface="メイリオ"/>
                <a:cs typeface="メイリオ"/>
                <a:sym typeface="Meiryo"/>
              </a:rPr>
              <a:t>50</a:t>
            </a:r>
            <a:r>
              <a:rPr lang="ja-JP" altLang="en-US" sz="1200" dirty="0">
                <a:solidFill>
                  <a:schemeClr val="tx1">
                    <a:lumMod val="50000"/>
                    <a:lumOff val="50000"/>
                  </a:schemeClr>
                </a:solidFill>
                <a:latin typeface="メイリオ"/>
                <a:ea typeface="メイリオ"/>
                <a:cs typeface="メイリオ"/>
                <a:sym typeface="Meiryo"/>
              </a:rPr>
              <a:t>円で友だち獲得</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経由の購入</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サンクスページに到達した</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ユーザーを自動で</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に誘導。</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友だち追加、追客に活用可能。</a:t>
            </a:r>
            <a:endParaRPr lang="en-US" altLang="ja-JP" sz="1400" dirty="0">
              <a:latin typeface="メイリオ"/>
              <a:ea typeface="メイリオ"/>
              <a:cs typeface="メイリオ"/>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事例：美容医療</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LP</a:t>
            </a:r>
            <a:r>
              <a:rPr lang="ja-JP" altLang="en-US" sz="1200" dirty="0">
                <a:solidFill>
                  <a:schemeClr val="tx1">
                    <a:lumMod val="50000"/>
                    <a:lumOff val="50000"/>
                  </a:schemeClr>
                </a:solidFill>
                <a:latin typeface="メイリオ"/>
                <a:ea typeface="メイリオ"/>
                <a:cs typeface="メイリオ"/>
                <a:sym typeface="Meiryo"/>
              </a:rPr>
              <a:t>離脱ユーザーに対して</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誘導を実施。</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追加から</a:t>
            </a:r>
            <a:r>
              <a:rPr lang="en-US" altLang="ja-JP" sz="1200" dirty="0">
                <a:solidFill>
                  <a:schemeClr val="tx1">
                    <a:lumMod val="50000"/>
                    <a:lumOff val="50000"/>
                  </a:schemeClr>
                </a:solidFill>
                <a:latin typeface="メイリオ"/>
                <a:ea typeface="メイリオ"/>
                <a:cs typeface="メイリオ"/>
                <a:sym typeface="Meiryo"/>
              </a:rPr>
              <a:t>20</a:t>
            </a:r>
            <a:r>
              <a:rPr lang="ja-JP" altLang="en-US" sz="1200" dirty="0">
                <a:solidFill>
                  <a:schemeClr val="tx1">
                    <a:lumMod val="50000"/>
                    <a:lumOff val="50000"/>
                  </a:schemeClr>
                </a:solidFill>
                <a:latin typeface="メイリオ"/>
                <a:ea typeface="メイリオ"/>
                <a:cs typeface="メイリオ"/>
                <a:sym typeface="Meiryo"/>
              </a:rPr>
              <a:t>％が</a:t>
            </a:r>
            <a:r>
              <a:rPr lang="en-US" altLang="ja-JP" sz="1200" dirty="0">
                <a:solidFill>
                  <a:schemeClr val="tx1">
                    <a:lumMod val="50000"/>
                    <a:lumOff val="50000"/>
                  </a:schemeClr>
                </a:solidFill>
                <a:latin typeface="メイリオ"/>
                <a:ea typeface="メイリオ"/>
                <a:cs typeface="メイリオ"/>
                <a:sym typeface="Meiryo"/>
              </a:rPr>
              <a:t>CV</a:t>
            </a:r>
          </a:p>
          <a:p>
            <a:pPr lvl="0">
              <a:buClr>
                <a:schemeClr val="dk1"/>
              </a:buClr>
              <a:buSzPts val="1500"/>
            </a:pP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導入後友だち増加数が</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倍に。</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実反響率も</a:t>
            </a:r>
            <a:r>
              <a:rPr lang="en-US" altLang="ja-JP" sz="1200" dirty="0">
                <a:solidFill>
                  <a:schemeClr val="tx1">
                    <a:lumMod val="50000"/>
                    <a:lumOff val="50000"/>
                  </a:schemeClr>
                </a:solidFill>
                <a:latin typeface="メイリオ"/>
                <a:ea typeface="メイリオ"/>
                <a:cs typeface="メイリオ"/>
                <a:sym typeface="Meiryo"/>
              </a:rPr>
              <a:t>40%</a:t>
            </a:r>
            <a:r>
              <a:rPr lang="ja-JP" altLang="en-US" sz="1200" dirty="0">
                <a:solidFill>
                  <a:schemeClr val="tx1">
                    <a:lumMod val="50000"/>
                    <a:lumOff val="50000"/>
                  </a:schemeClr>
                </a:solidFill>
                <a:latin typeface="メイリオ"/>
                <a:ea typeface="メイリオ"/>
                <a:cs typeface="メイリオ"/>
                <a:sym typeface="Meiryo"/>
              </a:rPr>
              <a:t>程度改善。</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通知メッセージ</a:t>
            </a:r>
            <a:endParaRPr lang="en-US" altLang="ja-JP" sz="2000" b="1" dirty="0">
              <a:solidFill>
                <a:srgbClr val="002060"/>
              </a:solidFill>
              <a:latin typeface="メイリオ"/>
              <a:ea typeface="メイリオ"/>
              <a:cs typeface="メイリオ"/>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友だちではないユーザーに</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対して予約完了通知などを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送り友だちを増やす。</a:t>
            </a:r>
            <a:endParaRPr lang="en-US" altLang="ja-JP" sz="1400" dirty="0">
              <a:latin typeface="メイリオ"/>
              <a:ea typeface="メイリオ"/>
              <a:cs typeface="メイリオ"/>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事例：宅配ピザ</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通知メッセージ導入４ヶ月で</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友だち数</a:t>
            </a:r>
            <a:r>
              <a:rPr lang="en-US" altLang="ja-JP" sz="1200" dirty="0">
                <a:solidFill>
                  <a:schemeClr val="tx1">
                    <a:lumMod val="50000"/>
                    <a:lumOff val="50000"/>
                  </a:schemeClr>
                </a:solidFill>
                <a:latin typeface="メイリオ"/>
                <a:ea typeface="メイリオ"/>
                <a:cs typeface="メイリオ"/>
                <a:sym typeface="Meiryo"/>
              </a:rPr>
              <a:t>2</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メイリオ"/>
                <a:ea typeface="メイリオ"/>
                <a:cs typeface="メイリオ"/>
                <a:sym typeface="Meiryo"/>
              </a:rPr>
              <a:t>準顕在（獲得見込みが高い）層の</a:t>
            </a:r>
            <a:r>
              <a:rPr lang="ja-JP" altLang="en-US" sz="1600" b="1" dirty="0">
                <a:latin typeface="メイリオ"/>
                <a:ea typeface="メイリオ"/>
                <a:cs typeface="メイリオ"/>
                <a:sym typeface="Meiryo"/>
              </a:rPr>
              <a:t>独自獲得手法が豊富</a:t>
            </a:r>
            <a:r>
              <a:rPr lang="ja-JP" altLang="en-US" sz="1600" dirty="0">
                <a:latin typeface="メイリオ"/>
                <a:ea typeface="メイリオ"/>
                <a:cs typeface="メイリオ"/>
                <a:sym typeface="Meiryo"/>
              </a:rPr>
              <a:t>で尚且つ</a:t>
            </a:r>
            <a:r>
              <a:rPr lang="ja-JP" altLang="en-US" sz="1600" b="1" dirty="0">
                <a:latin typeface="メイリオ"/>
                <a:ea typeface="メイリオ"/>
                <a:cs typeface="メイリオ"/>
                <a:sym typeface="Meiryo"/>
              </a:rPr>
              <a:t>利用までナーチャリング</a:t>
            </a:r>
            <a:endParaRPr lang="en-US" altLang="ja-JP" sz="1600" b="1" dirty="0">
              <a:latin typeface="メイリオ"/>
              <a:ea typeface="メイリオ"/>
              <a:cs typeface="メイリオ"/>
              <a:sym typeface="Meiryo"/>
            </a:endParaRPr>
          </a:p>
          <a:p>
            <a:pPr lvl="0" algn="ctr">
              <a:buClr>
                <a:schemeClr val="dk1"/>
              </a:buClr>
              <a:buSzPts val="1500"/>
            </a:pPr>
            <a:r>
              <a:rPr lang="en-US" altLang="ja-JP" sz="1100" dirty="0">
                <a:solidFill>
                  <a:srgbClr val="1F2A5C"/>
                </a:solidFill>
                <a:latin typeface="メイリオ"/>
                <a:ea typeface="メイリオ"/>
                <a:cs typeface="メイリオ"/>
                <a:sym typeface="Meiryo"/>
              </a:rPr>
              <a:t>※</a:t>
            </a:r>
            <a:r>
              <a:rPr lang="ja-JP" altLang="en-US" sz="1100" dirty="0">
                <a:solidFill>
                  <a:srgbClr val="1F2A5C"/>
                </a:solidFill>
                <a:latin typeface="メイリオ"/>
                <a:ea typeface="メイリオ"/>
                <a:cs typeface="メイリオ"/>
                <a:sym typeface="Meiryo"/>
              </a:rPr>
              <a:t>実施想定の友だち追加動線について、★を記載しております。</a:t>
            </a:r>
            <a:endParaRPr lang="en-US" altLang="ja-JP" sz="1600" dirty="0">
              <a:solidFill>
                <a:srgbClr val="1F2A5C"/>
              </a:solidFill>
              <a:latin typeface="メイリオ"/>
              <a:ea typeface="メイリオ"/>
              <a:cs typeface="メイリオ"/>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2" name="星: 5 pt 11">
            <a:extLst>
              <a:ext uri="{FF2B5EF4-FFF2-40B4-BE49-F238E27FC236}">
                <a16:creationId xmlns:a16="http://schemas.microsoft.com/office/drawing/2014/main" id="{2C908883-96FE-2C98-5753-AECCC0E66D37}"/>
              </a:ext>
            </a:extLst>
          </p:cNvPr>
          <p:cNvSpPr/>
          <p:nvPr/>
        </p:nvSpPr>
        <p:spPr>
          <a:xfrm>
            <a:off x="9252865"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Tree>
    <p:extLst>
      <p:ext uri="{BB962C8B-B14F-4D97-AF65-F5344CB8AC3E}">
        <p14:creationId xmlns:p14="http://schemas.microsoft.com/office/powerpoint/2010/main" val="300013459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cs typeface="メイリオ"/>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やまや（</a:t>
            </a:r>
            <a:r>
              <a:rPr kumimoji="1" lang="en-US" altLang="ja-JP" sz="1100" dirty="0">
                <a:solidFill>
                  <a:schemeClr val="tx1"/>
                </a:solidFill>
                <a:latin typeface="メイリオ" panose="020B0604030504040204" pitchFamily="50" charset="-128"/>
                <a:ea typeface="メイリオ" panose="020B0604030504040204" pitchFamily="50" charset="-128"/>
                <a:cs typeface="メイリオ"/>
              </a:rPr>
              <a:t>EC</a:t>
            </a: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メイリオ"/>
                <a:ea typeface="メイリオ"/>
                <a:cs typeface="メイリオ"/>
                <a:sym typeface="Meiryo"/>
              </a:rPr>
              <a:t>利用可能なシーン一例</a:t>
            </a:r>
            <a:endParaRPr sz="900" i="0" u="none" strike="noStrike" cap="none" dirty="0">
              <a:solidFill>
                <a:srgbClr val="FFFFFF"/>
              </a:solidFill>
              <a:latin typeface="メイリオ"/>
              <a:ea typeface="メイリオ"/>
              <a:cs typeface="メイリオ"/>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サービス内容</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カスタマージャーニー（8フェーズ）</a:t>
            </a:r>
            <a:endParaRPr lang="en-US" sz="1300" dirty="0">
              <a:latin typeface="メイリオ" panose="020B0604030504040204" pitchFamily="50" charset="-128"/>
              <a:ea typeface="メイリオ" panose="020B0604030504040204" pitchFamily="50" charset="-128"/>
              <a:cs typeface="メイリオ"/>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接触〜リピートまでの動線設計</a:t>
            </a:r>
            <a:endParaRPr lang="en-US" sz="10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02</a:t>
            </a:r>
            <a:endParaRPr lang="en-US" sz="1300" dirty="0">
              <a:latin typeface="メイリオ" panose="020B0604030504040204" pitchFamily="50" charset="-128"/>
              <a:ea typeface="メイリオ" panose="020B0604030504040204" pitchFamily="50" charset="-128"/>
              <a:cs typeface="メイリオ"/>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LINEステップ配信シナリオ（5通）</a:t>
            </a:r>
            <a:endParaRPr lang="en-US" sz="1300" dirty="0">
              <a:latin typeface="メイリオ" panose="020B0604030504040204" pitchFamily="50" charset="-128"/>
              <a:ea typeface="メイリオ" panose="020B0604030504040204" pitchFamily="50" charset="-128"/>
              <a:cs typeface="メイリオ"/>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友だち追加直後〜セミナー予約まで</a:t>
            </a:r>
            <a:endParaRPr lang="en-US" sz="1000" dirty="0">
              <a:latin typeface="メイリオ" panose="020B0604030504040204" pitchFamily="50" charset="-128"/>
              <a:ea typeface="メイリオ" panose="020B0604030504040204" pitchFamily="50" charset="-128"/>
              <a:cs typeface="メイリオ"/>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03</a:t>
            </a:r>
            <a:endParaRPr lang="en-US" sz="1300" dirty="0">
              <a:latin typeface="メイリオ" panose="020B0604030504040204" pitchFamily="50" charset="-128"/>
              <a:ea typeface="メイリオ" panose="020B0604030504040204" pitchFamily="50" charset="-128"/>
              <a:cs typeface="メイリオ"/>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興味分野の把握（簡易アンケート）</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流入経路・興味分野に応じた配信の出し分け</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04</a:t>
            </a:r>
            <a:endParaRPr lang="en-US" sz="1300" dirty="0">
              <a:latin typeface="メイリオ" panose="020B0604030504040204" pitchFamily="50" charset="-128"/>
              <a:ea typeface="メイリオ" panose="020B0604030504040204" pitchFamily="50" charset="-128"/>
              <a:cs typeface="メイリオ"/>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セグメント設定</a:t>
            </a:r>
            <a:endParaRPr lang="en-US" sz="1300" dirty="0">
              <a:latin typeface="メイリオ" panose="020B0604030504040204" pitchFamily="50" charset="-128"/>
              <a:ea typeface="メイリオ" panose="020B0604030504040204" pitchFamily="50" charset="-128"/>
              <a:cs typeface="メイリオ"/>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endParaRPr lang="en-US" sz="1000" dirty="0">
              <a:latin typeface="メイリオ" panose="020B0604030504040204" pitchFamily="50" charset="-128"/>
              <a:ea typeface="メイリオ" panose="020B0604030504040204" pitchFamily="50" charset="-128"/>
              <a:cs typeface="メイリオ"/>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a:latin typeface="メイリオ" panose="020B0604030504040204" pitchFamily="50" charset="-128"/>
                <a:ea typeface="メイリオ" panose="020B0604030504040204" pitchFamily="50" charset="-128"/>
                <a:cs typeface="メイリオ"/>
              </a:rPr>
              <a:t>WEB</a:t>
            </a:r>
            <a:r>
              <a:rPr lang="ja-JP" altLang="en-US" sz="1000" dirty="0">
                <a:latin typeface="メイリオ" panose="020B0604030504040204" pitchFamily="50" charset="-128"/>
                <a:ea typeface="メイリオ" panose="020B0604030504040204" pitchFamily="50" charset="-128"/>
                <a:cs typeface="メイリオ"/>
              </a:rPr>
              <a:t>サイトアクション、</a:t>
            </a:r>
            <a:r>
              <a:rPr lang="en-US" altLang="ja-JP" sz="1000" dirty="0">
                <a:latin typeface="メイリオ" panose="020B0604030504040204" pitchFamily="50" charset="-128"/>
                <a:ea typeface="メイリオ" panose="020B0604030504040204" pitchFamily="50" charset="-128"/>
                <a:cs typeface="メイリオ"/>
              </a:rPr>
              <a:t>LINE</a:t>
            </a:r>
            <a:r>
              <a:rPr lang="ja-JP" altLang="en-US" sz="1000" dirty="0">
                <a:latin typeface="メイリオ" panose="020B0604030504040204" pitchFamily="50" charset="-128"/>
                <a:ea typeface="メイリオ" panose="020B0604030504040204" pitchFamily="50" charset="-128"/>
                <a:cs typeface="メイリオ"/>
              </a:rPr>
              <a:t>上アクションのスコアリング 等を活用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sz="1300" dirty="0">
              <a:latin typeface="メイリオ" panose="020B0604030504040204" pitchFamily="50" charset="-128"/>
              <a:ea typeface="メイリオ" panose="020B0604030504040204" pitchFamily="50" charset="-128"/>
              <a:cs typeface="メイリオ"/>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効果計測・改善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配信ごとの開封・クリック・予約を確認し、次の配信に反映</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06</a:t>
            </a:r>
            <a:endParaRPr lang="en-US" sz="1300" dirty="0">
              <a:latin typeface="メイリオ" panose="020B0604030504040204" pitchFamily="50" charset="-128"/>
              <a:ea typeface="メイリオ" panose="020B0604030504040204" pitchFamily="50" charset="-128"/>
              <a:cs typeface="メイリオ"/>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セミナー開催月・平常期の企画配信</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開催月は月4〜5回、平常期は月1〜2回の配信案</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07</a:t>
            </a:r>
            <a:endParaRPr lang="en-US" sz="1300" dirty="0">
              <a:latin typeface="メイリオ" panose="020B0604030504040204" pitchFamily="50" charset="-128"/>
              <a:ea typeface="メイリオ" panose="020B0604030504040204" pitchFamily="50" charset="-128"/>
              <a:cs typeface="メイリオ"/>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各種設定の更新・改善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000" dirty="0">
                <a:latin typeface="メイリオ" panose="020B0604030504040204" pitchFamily="50" charset="-128"/>
                <a:ea typeface="メイリオ" panose="020B0604030504040204" pitchFamily="50" charset="-128"/>
                <a:cs typeface="メイリオ"/>
              </a:rPr>
              <a:t>あいさつメッセージ、リッチメニュー、</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の改修（</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は別途費用）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初期費用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月額費用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2F2F2"/>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cs typeface="メイリオ"/>
              </a:rPr>
              <a:t>～　　　 の修正・調整も</a:t>
            </a:r>
            <a:endParaRPr lang="en-US" altLang="ja-JP" sz="1400" b="1" dirty="0">
              <a:latin typeface="メイリオ" panose="020B0604030504040204" pitchFamily="50" charset="-128"/>
              <a:ea typeface="メイリオ" panose="020B0604030504040204" pitchFamily="50" charset="-128"/>
              <a:cs typeface="メイリオ"/>
            </a:endParaRPr>
          </a:p>
          <a:p>
            <a:endParaRPr kumimoji="1" lang="en-US" altLang="ja-JP" sz="1400" b="1" dirty="0">
              <a:latin typeface="メイリオ" panose="020B0604030504040204" pitchFamily="50" charset="-128"/>
              <a:ea typeface="メイリオ" panose="020B0604030504040204" pitchFamily="50" charset="-128"/>
              <a:cs typeface="メイリオ"/>
            </a:endParaRPr>
          </a:p>
          <a:p>
            <a:r>
              <a:rPr lang="ja-JP" altLang="en-US" sz="1400" b="1" dirty="0">
                <a:latin typeface="メイリオ" panose="020B0604030504040204" pitchFamily="50" charset="-128"/>
                <a:ea typeface="メイリオ" panose="020B0604030504040204" pitchFamily="50" charset="-128"/>
                <a:cs typeface="メイリオ"/>
              </a:rPr>
              <a:t>月次対応内に含んでおります。</a:t>
            </a:r>
            <a:endParaRPr kumimoji="1" lang="en-US" altLang="ja-JP" sz="140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6935309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cs typeface="メイリオ"/>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の運用業務・</a:t>
            </a:r>
            <a:r>
              <a:rPr lang="en-US" altLang="ja-JP" sz="1600" b="1" dirty="0">
                <a:latin typeface="メイリオ" panose="020B0604030504040204" pitchFamily="50" charset="-128"/>
                <a:ea typeface="メイリオ" panose="020B0604030504040204" pitchFamily="50" charset="-128"/>
                <a:cs typeface="メイリオ"/>
                <a:sym typeface="Meiryo"/>
              </a:rPr>
              <a:t>CR</a:t>
            </a:r>
            <a:r>
              <a:rPr lang="ja-JP" altLang="en-US" sz="1600" b="1" dirty="0">
                <a:latin typeface="メイリオ" panose="020B0604030504040204" pitchFamily="50" charset="-128"/>
                <a:ea typeface="メイリオ" panose="020B0604030504040204" pitchFamily="50" charset="-128"/>
                <a:cs typeface="メイリオ"/>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追加作業における費用感　</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&gt;</a:t>
            </a:r>
            <a:endParaRPr lang="ja-JP" altLang="en-US" sz="1050" dirty="0">
              <a:solidFill>
                <a:schemeClr val="tx1">
                  <a:lumMod val="65000"/>
                  <a:lumOff val="35000"/>
                </a:schemeClr>
              </a:solidFill>
              <a:latin typeface="メイリオ"/>
              <a:ea typeface="メイリオ"/>
              <a:cs typeface="メイリオ"/>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¥200,000~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チャット対応</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 </a:t>
                      </a:r>
                      <a:r>
                        <a:rPr lang="en-US" altLang="ja-JP"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サポートは可能</a:t>
                      </a:r>
                      <a:endParaRPr lang="ja-JP" altLang="en-US" sz="1100" b="0" i="0" u="none" strike="noStrike" dirty="0">
                        <a:solidFill>
                          <a:srgbClr val="1F2A5C"/>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1F2A5C"/>
                </a:solidFill>
                <a:latin typeface="メイリオ" panose="020B0604030504040204" pitchFamily="50" charset="-128"/>
                <a:ea typeface="メイリオ" panose="020B0604030504040204" pitchFamily="50" charset="-128"/>
                <a:cs typeface="メイリオ"/>
                <a:sym typeface="Meiryo"/>
              </a:rPr>
              <a:t>貴社リソースの状況に応じて都度発注でのご依頼も各単価で受けさせていただきます。</a:t>
            </a:r>
            <a:endParaRPr lang="ja-JP" altLang="en-US" sz="1400" dirty="0">
              <a:latin typeface="メイリオ"/>
              <a:ea typeface="メイリオ"/>
              <a:cs typeface="メイリオ"/>
            </a:endParaRPr>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880881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　</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[CRM</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及び</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ツールとの連携</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t>
            </a:r>
            <a:endParaRPr lang="ja-JP" altLang="en-US" sz="1600" b="1" dirty="0">
              <a:solidFill>
                <a:srgbClr val="1F2A5C"/>
              </a:solidFill>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cs typeface="メイリオ"/>
              </a:rPr>
              <a:t>「</a:t>
            </a:r>
            <a:r>
              <a:rPr kumimoji="1" lang="en-US" altLang="ja-JP" sz="1400" dirty="0">
                <a:solidFill>
                  <a:srgbClr val="073763"/>
                </a:solidFill>
                <a:latin typeface="メイリオ" panose="020B0604030504040204" pitchFamily="50" charset="-128"/>
                <a:ea typeface="メイリオ" panose="020B0604030504040204" pitchFamily="50" charset="-128"/>
                <a:cs typeface="メイリオ"/>
              </a:rPr>
              <a:t>CRM</a:t>
            </a:r>
            <a:r>
              <a:rPr kumimoji="1" lang="ja-JP" altLang="en-US" sz="1400" dirty="0">
                <a:solidFill>
                  <a:srgbClr val="073763"/>
                </a:solidFill>
                <a:latin typeface="メイリオ" panose="020B0604030504040204" pitchFamily="50" charset="-128"/>
                <a:ea typeface="メイリオ" panose="020B0604030504040204" pitchFamily="50" charset="-128"/>
                <a:cs typeface="メイリオ"/>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が重要</a:t>
            </a:r>
            <a:br>
              <a:rPr lang="en-US" altLang="ja-JP" sz="1400" dirty="0">
                <a:solidFill>
                  <a:srgbClr val="073763"/>
                </a:solidFill>
                <a:latin typeface="メイリオ" panose="020B0604030504040204" pitchFamily="50" charset="-128"/>
                <a:ea typeface="メイリオ" panose="020B0604030504040204" pitchFamily="50" charset="-128"/>
                <a:cs typeface="メイリオ"/>
              </a:rPr>
            </a:br>
            <a:r>
              <a:rPr lang="ja-JP" altLang="en-US" sz="1400" b="1" dirty="0">
                <a:solidFill>
                  <a:srgbClr val="073763"/>
                </a:solidFill>
                <a:latin typeface="メイリオ" panose="020B0604030504040204" pitchFamily="50" charset="-128"/>
                <a:ea typeface="メイリオ" panose="020B0604030504040204" pitchFamily="50" charset="-128"/>
                <a:cs typeface="メイリオ"/>
              </a:rPr>
              <a:t>要件定義</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cs typeface="メイリオ"/>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a:t>
            </a:r>
            <a:r>
              <a:rPr lang="en-US" altLang="ja-JP" sz="1400" dirty="0">
                <a:latin typeface="メイリオ" panose="020B0604030504040204" pitchFamily="50" charset="-128"/>
                <a:ea typeface="メイリオ" panose="020B0604030504040204" pitchFamily="50" charset="-128"/>
                <a:cs typeface="メイリオ"/>
                <a:sym typeface="Meiryo"/>
              </a:rPr>
              <a:t>API</a:t>
            </a:r>
            <a:r>
              <a:rPr lang="ja-JP" altLang="en-US" sz="1400" dirty="0">
                <a:latin typeface="メイリオ" panose="020B0604030504040204" pitchFamily="50" charset="-128"/>
                <a:ea typeface="メイリオ" panose="020B0604030504040204" pitchFamily="50" charset="-128"/>
                <a:cs typeface="メイリオ"/>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貴社内の顧客管理（</a:t>
            </a: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）ツールとの連携の実施も可能です。</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 </a:t>
            </a:r>
            <a:r>
              <a:rPr lang="en-US" altLang="ja-JP" sz="11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開発は別途費用</a:t>
            </a:r>
            <a:endParaRPr lang="en-US" altLang="ja-JP" sz="1400" dirty="0">
              <a:solidFill>
                <a:srgbClr val="1F2A5C"/>
              </a:solidFill>
              <a:latin typeface="メイリオ" panose="020B0604030504040204" pitchFamily="50" charset="-128"/>
              <a:ea typeface="メイリオ" panose="020B0604030504040204" pitchFamily="50" charset="-128"/>
              <a:cs typeface="メイリオ"/>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メッセ送信</a:t>
            </a:r>
          </a:p>
        </p:txBody>
      </p:sp>
    </p:spTree>
    <p:extLst>
      <p:ext uri="{BB962C8B-B14F-4D97-AF65-F5344CB8AC3E}">
        <p14:creationId xmlns:p14="http://schemas.microsoft.com/office/powerpoint/2010/main" val="98264973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 代表的な活用機能</a:t>
            </a:r>
            <a:endParaRPr sz="1600" b="1" dirty="0">
              <a:solidFill>
                <a:srgbClr val="002060"/>
              </a:solidFill>
              <a:latin typeface="メイリオ"/>
              <a:ea typeface="メイリオ"/>
              <a:cs typeface="メイリオ"/>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ミニアプリ</a:t>
            </a:r>
            <a:endParaRPr lang="en-US" altLang="ja-JP" sz="1600" b="1" dirty="0">
              <a:latin typeface="メイリオ" panose="020B0604030504040204" pitchFamily="50" charset="-128"/>
              <a:ea typeface="メイリオ" panose="020B0604030504040204" pitchFamily="50" charset="-128"/>
              <a:cs typeface="メイリオ"/>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内で活用できるミニアプリでは、ゲームや抽選といった機能を</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アプリ開発よりも大幅に格安な価格帯で利用できるサービス。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チャット</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FAQ</a:t>
            </a:r>
            <a:r>
              <a:rPr lang="ja-JP" altLang="en-US" sz="1600" b="1" dirty="0">
                <a:solidFill>
                  <a:schemeClr val="tx1">
                    <a:lumMod val="65000"/>
                    <a:lumOff val="35000"/>
                  </a:schemeClr>
                </a:solidFill>
                <a:latin typeface="メイリオ"/>
                <a:ea typeface="メイリオ"/>
                <a:cs typeface="メイリオ"/>
                <a:sym typeface="Meiryo"/>
              </a:rPr>
              <a:t>をもとにした</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による自動応答や、</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LINE】Chat</a:t>
            </a:r>
            <a:r>
              <a:rPr lang="en-US" altLang="ja-JP" sz="1600" b="1" dirty="0">
                <a:latin typeface="メイリオ" panose="020B0604030504040204" pitchFamily="50" charset="-128"/>
                <a:ea typeface="メイリオ" panose="020B0604030504040204" pitchFamily="50" charset="-128"/>
                <a:cs typeface="メイリオ"/>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ホームページから気軽にチャットで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問い合わせができるようになり</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資料請求や商品の購入に繋がる。</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公式</a:t>
            </a: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69276659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コール</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公式アカウントの有料オプション機能で、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LINE】Call</a:t>
            </a:r>
            <a:r>
              <a:rPr lang="en-US" altLang="ja-JP" sz="1600" b="1" dirty="0">
                <a:latin typeface="メイリオ" panose="020B0604030504040204" pitchFamily="50" charset="-128"/>
                <a:ea typeface="メイリオ" panose="020B0604030504040204" pitchFamily="50" charset="-128"/>
                <a:cs typeface="メイリオ"/>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さらに「</a:t>
            </a:r>
            <a:r>
              <a:rPr lang="en-US" altLang="ja-JP" sz="1600" b="1" dirty="0">
                <a:solidFill>
                  <a:schemeClr val="tx1">
                    <a:lumMod val="65000"/>
                    <a:lumOff val="35000"/>
                  </a:schemeClr>
                </a:solidFill>
                <a:latin typeface="メイリオ"/>
                <a:ea typeface="メイリオ"/>
                <a:cs typeface="メイリオ"/>
                <a:sym typeface="Meiryo"/>
              </a:rPr>
              <a:t>LINE Ai Call</a:t>
            </a:r>
            <a:r>
              <a:rPr lang="ja-JP" altLang="en-US" sz="1600" b="1" dirty="0">
                <a:solidFill>
                  <a:schemeClr val="tx1">
                    <a:lumMod val="65000"/>
                    <a:lumOff val="35000"/>
                  </a:schemeClr>
                </a:solidFill>
                <a:latin typeface="メイリオ"/>
                <a:ea typeface="メイリオ"/>
                <a:cs typeface="メイリオ"/>
                <a:sym typeface="Meiryo"/>
              </a:rPr>
              <a:t>」を活用するとユーザーの要望に対して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による自然な</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対話応答が可能に。要件に応じて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と有人オペレータの振り分け業務効率化を支援。</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でログイン</a:t>
            </a:r>
            <a:endParaRPr lang="en-US" altLang="ja-JP" sz="1600" b="1" dirty="0">
              <a:latin typeface="メイリオ" panose="020B0604030504040204" pitchFamily="50" charset="-128"/>
              <a:ea typeface="メイリオ" panose="020B0604030504040204" pitchFamily="50" charset="-128"/>
              <a:cs typeface="メイリオ"/>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でログイン」は、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上のユーザー情報を活用して</a:t>
            </a:r>
            <a:r>
              <a:rPr lang="en-US" altLang="ja-JP" sz="1600" b="1" dirty="0">
                <a:solidFill>
                  <a:schemeClr val="tx1">
                    <a:lumMod val="65000"/>
                    <a:lumOff val="35000"/>
                  </a:schemeClr>
                </a:solidFill>
                <a:latin typeface="メイリオ"/>
                <a:ea typeface="メイリオ"/>
                <a:cs typeface="メイリオ"/>
                <a:sym typeface="Meiryo"/>
              </a:rPr>
              <a:t>WEB</a:t>
            </a:r>
            <a:r>
              <a:rPr lang="ja-JP" altLang="en-US" sz="1600" b="1" dirty="0">
                <a:solidFill>
                  <a:schemeClr val="tx1">
                    <a:lumMod val="65000"/>
                    <a:lumOff val="35000"/>
                  </a:schemeClr>
                </a:solidFill>
                <a:latin typeface="メイリオ"/>
                <a:ea typeface="メイリオ"/>
                <a:cs typeface="メイリオ"/>
                <a:sym typeface="Meiryo"/>
              </a:rPr>
              <a:t>サイト登録が出来る仕組み。</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ID</a:t>
            </a:r>
            <a:r>
              <a:rPr lang="ja-JP" altLang="en-US" sz="1600" b="1" dirty="0">
                <a:solidFill>
                  <a:schemeClr val="tx1">
                    <a:lumMod val="65000"/>
                    <a:lumOff val="35000"/>
                  </a:schemeClr>
                </a:solidFill>
                <a:latin typeface="メイリオ"/>
                <a:ea typeface="メイリオ"/>
                <a:cs typeface="メイリオ"/>
                <a:sym typeface="Meiryo"/>
              </a:rPr>
              <a:t>連携を完了することにより、サービス</a:t>
            </a:r>
            <a:r>
              <a:rPr lang="en-US" altLang="ja-JP" sz="1600" b="1" dirty="0">
                <a:solidFill>
                  <a:schemeClr val="tx1">
                    <a:lumMod val="65000"/>
                    <a:lumOff val="35000"/>
                  </a:schemeClr>
                </a:solidFill>
                <a:latin typeface="メイリオ"/>
                <a:ea typeface="メイリオ"/>
                <a:cs typeface="メイリオ"/>
                <a:sym typeface="Meiryo"/>
              </a:rPr>
              <a:t>(WEB) </a:t>
            </a:r>
            <a:r>
              <a:rPr lang="ja-JP" altLang="en-US" sz="1600" b="1" dirty="0">
                <a:solidFill>
                  <a:schemeClr val="tx1">
                    <a:lumMod val="65000"/>
                    <a:lumOff val="35000"/>
                  </a:schemeClr>
                </a:solidFill>
                <a:latin typeface="メイリオ"/>
                <a:ea typeface="メイリオ"/>
                <a:cs typeface="メイリオ"/>
                <a:sym typeface="Meiryo"/>
              </a:rPr>
              <a:t>⇔ </a:t>
            </a:r>
            <a:r>
              <a:rPr lang="en-US" altLang="ja-JP" sz="1600" b="1" dirty="0">
                <a:solidFill>
                  <a:schemeClr val="tx1">
                    <a:lumMod val="65000"/>
                    <a:lumOff val="35000"/>
                  </a:schemeClr>
                </a:solidFill>
                <a:latin typeface="メイリオ"/>
                <a:ea typeface="メイリオ"/>
                <a:cs typeface="メイリオ"/>
                <a:sym typeface="Meiryo"/>
              </a:rPr>
              <a:t>LINE </a:t>
            </a:r>
            <a:r>
              <a:rPr lang="ja-JP" altLang="en-US" sz="1600" b="1" dirty="0">
                <a:solidFill>
                  <a:schemeClr val="tx1">
                    <a:lumMod val="65000"/>
                    <a:lumOff val="35000"/>
                  </a:schemeClr>
                </a:solidFill>
                <a:latin typeface="メイリオ"/>
                <a:ea typeface="メイリオ"/>
                <a:cs typeface="メイリオ"/>
                <a:sym typeface="Meiryo"/>
              </a:rPr>
              <a:t>での効果的なメッセージが可能に。</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オフライン動線</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400" b="1" dirty="0">
                <a:solidFill>
                  <a:srgbClr val="002060"/>
                </a:solidFill>
                <a:latin typeface="メイリオ"/>
                <a:ea typeface="メイリオ"/>
                <a:cs typeface="メイリオ"/>
                <a:sym typeface="Meiryo"/>
              </a:rPr>
              <a:t>ニュースリリース等</a:t>
            </a:r>
            <a:endParaRPr lang="en-US" altLang="ja-JP" sz="1400" b="1" dirty="0">
              <a:solidFill>
                <a:srgbClr val="002060"/>
              </a:solidFill>
              <a:latin typeface="メイリオ"/>
              <a:ea typeface="メイリオ"/>
              <a:cs typeface="メイリオ"/>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WEB</a:t>
            </a:r>
            <a:r>
              <a:rPr lang="ja-JP" altLang="en-US" sz="2000" b="1" dirty="0">
                <a:solidFill>
                  <a:srgbClr val="002060"/>
                </a:solidFill>
                <a:latin typeface="メイリオ"/>
                <a:ea typeface="メイリオ"/>
                <a:cs typeface="メイリオ"/>
                <a:sym typeface="Meiryo"/>
              </a:rPr>
              <a:t>サイト動線整備</a:t>
            </a:r>
            <a:endParaRPr lang="en-US" altLang="ja-JP" sz="2000" b="1" dirty="0">
              <a:solidFill>
                <a:srgbClr val="002060"/>
              </a:solidFill>
              <a:latin typeface="メイリオ"/>
              <a:ea typeface="メイリオ"/>
              <a:cs typeface="メイリオ"/>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友だち紹介</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200" b="1" dirty="0">
                <a:solidFill>
                  <a:srgbClr val="002060"/>
                </a:solidFill>
                <a:latin typeface="メイリオ"/>
                <a:ea typeface="メイリオ"/>
                <a:cs typeface="メイリオ"/>
                <a:sym typeface="Meiryo"/>
              </a:rPr>
              <a:t>（</a:t>
            </a:r>
            <a:r>
              <a:rPr lang="en-US" altLang="ja-JP" sz="1200" b="1" dirty="0">
                <a:solidFill>
                  <a:srgbClr val="002060"/>
                </a:solidFill>
                <a:latin typeface="メイリオ"/>
                <a:ea typeface="メイリオ"/>
                <a:cs typeface="メイリオ"/>
                <a:sym typeface="Meiryo"/>
              </a:rPr>
              <a:t>LINE</a:t>
            </a:r>
            <a:r>
              <a:rPr lang="ja-JP" altLang="en-US" sz="1200" b="1" dirty="0">
                <a:solidFill>
                  <a:srgbClr val="002060"/>
                </a:solidFill>
                <a:latin typeface="メイリオ"/>
                <a:ea typeface="メイリオ"/>
                <a:cs typeface="メイリオ"/>
                <a:sym typeface="Meiryo"/>
              </a:rPr>
              <a:t>ポイントコネクト）</a:t>
            </a:r>
            <a:endParaRPr lang="en-US" altLang="ja-JP" sz="1200" b="1" dirty="0">
              <a:solidFill>
                <a:srgbClr val="002060"/>
              </a:solidFill>
              <a:latin typeface="メイリオ"/>
              <a:ea typeface="メイリオ"/>
              <a:cs typeface="メイリオ"/>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ポイント</a:t>
            </a:r>
            <a:r>
              <a:rPr lang="en-US" altLang="ja-JP" sz="2000" b="1" dirty="0">
                <a:solidFill>
                  <a:srgbClr val="002060"/>
                </a:solidFill>
                <a:latin typeface="メイリオ"/>
                <a:ea typeface="メイリオ"/>
                <a:cs typeface="メイリオ"/>
                <a:sym typeface="Meiryo"/>
              </a:rPr>
              <a:t>Ads</a:t>
            </a:r>
            <a:endParaRPr lang="en-US" altLang="ja-JP" sz="1400" b="1" dirty="0">
              <a:solidFill>
                <a:srgbClr val="002060"/>
              </a:solidFill>
              <a:latin typeface="メイリオ"/>
              <a:ea typeface="メイリオ"/>
              <a:cs typeface="メイリオ"/>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スタンプ施策</a:t>
            </a:r>
            <a:endParaRPr lang="en-US" altLang="ja-JP" sz="2000" b="1" dirty="0">
              <a:solidFill>
                <a:srgbClr val="002060"/>
              </a:solidFill>
              <a:latin typeface="メイリオ"/>
              <a:ea typeface="メイリオ"/>
              <a:cs typeface="メイリオ"/>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1200" b="1" dirty="0">
              <a:solidFill>
                <a:srgbClr val="002060"/>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メイリオ"/>
                <a:ea typeface="メイリオ"/>
                <a:cs typeface="メイリオ"/>
                <a:sym typeface="Meiryo"/>
              </a:rPr>
              <a:t>サービス停止中</a:t>
            </a:r>
            <a:endParaRPr lang="ja-JP" altLang="en-US" b="1" dirty="0">
              <a:solidFill>
                <a:schemeClr val="tx1">
                  <a:lumMod val="50000"/>
                  <a:lumOff val="50000"/>
                </a:schemeClr>
              </a:solidFill>
              <a:latin typeface="メイリオ"/>
              <a:ea typeface="メイリオ"/>
              <a:cs typeface="メイリオ"/>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a:t>
            </a:r>
            <a:r>
              <a:rPr lang="en-US" altLang="ja-JP" sz="1200" dirty="0">
                <a:latin typeface="メイリオ"/>
                <a:ea typeface="メイリオ"/>
                <a:cs typeface="メイリオ"/>
                <a:sym typeface="Meiryo"/>
              </a:rPr>
              <a:t>1</a:t>
            </a:r>
            <a:r>
              <a:rPr lang="ja-JP" altLang="en-US" sz="1200" dirty="0">
                <a:latin typeface="メイリオ"/>
                <a:ea typeface="メイリオ"/>
                <a:cs typeface="メイリオ"/>
                <a:sym typeface="Meiryo"/>
              </a:rPr>
              <a:t>ヶ月</a:t>
            </a:r>
            <a:r>
              <a:rPr lang="en-US" altLang="ja-JP" sz="1200" dirty="0">
                <a:latin typeface="メイリオ"/>
                <a:ea typeface="メイリオ"/>
                <a:cs typeface="メイリオ"/>
                <a:sym typeface="Meiryo"/>
              </a:rPr>
              <a:t>~</a:t>
            </a:r>
            <a:r>
              <a:rPr lang="ja-JP" altLang="en-US" sz="1200" dirty="0">
                <a:latin typeface="メイリオ"/>
                <a:ea typeface="メイリオ"/>
                <a:cs typeface="メイリオ"/>
                <a:sym typeface="Meiryo"/>
              </a:rPr>
              <a:t>）</a:t>
            </a:r>
            <a:endParaRPr lang="ja-JP" altLang="en-US" sz="2000" dirty="0">
              <a:solidFill>
                <a:srgbClr val="1F2A5C"/>
              </a:solidFill>
              <a:latin typeface="メイリオ"/>
              <a:ea typeface="メイリオ"/>
              <a:cs typeface="メイリオ"/>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各拡張施策についても</a:t>
            </a:r>
            <a:r>
              <a:rPr lang="en-US" altLang="ja-JP" sz="1600" b="1" dirty="0">
                <a:solidFill>
                  <a:schemeClr val="tx1">
                    <a:lumMod val="65000"/>
                    <a:lumOff val="35000"/>
                  </a:schemeClr>
                </a:solidFill>
                <a:latin typeface="メイリオ"/>
                <a:ea typeface="メイリオ"/>
                <a:cs typeface="メイリオ"/>
                <a:sym typeface="Meiryo"/>
              </a:rPr>
              <a:t>MIN</a:t>
            </a:r>
            <a:r>
              <a:rPr lang="ja-JP" altLang="en-US" sz="1600" b="1" dirty="0">
                <a:solidFill>
                  <a:schemeClr val="tx1">
                    <a:lumMod val="65000"/>
                    <a:lumOff val="35000"/>
                  </a:schemeClr>
                </a:solidFill>
                <a:latin typeface="メイリオ"/>
                <a:ea typeface="メイリオ"/>
                <a:cs typeface="メイリオ"/>
                <a:sym typeface="Meiryo"/>
              </a:rPr>
              <a:t>金額からの発注、動線設計が可能です。</a:t>
            </a:r>
            <a:endParaRPr lang="en-US" altLang="ja-JP" sz="1600" b="1" dirty="0">
              <a:solidFill>
                <a:schemeClr val="tx1">
                  <a:lumMod val="65000"/>
                  <a:lumOff val="35000"/>
                </a:schemeClr>
              </a:solidFill>
              <a:latin typeface="メイリオ"/>
              <a:ea typeface="メイリオ"/>
              <a:cs typeface="メイリオ"/>
              <a:sym typeface="Meiryo"/>
            </a:endParaRPr>
          </a:p>
          <a:p>
            <a:pPr lvl="0" algn="ctr">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広告</a:t>
            </a:r>
            <a:r>
              <a:rPr lang="ja-JP" altLang="en-US" sz="1200" b="1" dirty="0">
                <a:latin typeface="メイリオ" panose="020B0604030504040204" pitchFamily="50" charset="-128"/>
                <a:ea typeface="メイリオ" panose="020B0604030504040204" pitchFamily="50" charset="-128"/>
                <a:cs typeface="メイリオ"/>
              </a:rPr>
              <a:t>（友だち追加）</a:t>
            </a:r>
            <a:endParaRPr lang="en-US" altLang="ja-JP" sz="1200" b="1" dirty="0">
              <a:latin typeface="メイリオ" panose="020B0604030504040204" pitchFamily="50" charset="-128"/>
              <a:ea typeface="メイリオ" panose="020B0604030504040204" pitchFamily="50" charset="-128"/>
              <a:cs typeface="メイリオ"/>
            </a:endParaRPr>
          </a:p>
          <a:p>
            <a:pPr algn="ctr"/>
            <a:r>
              <a:rPr lang="en-US" altLang="ja-JP" sz="1200" b="1" dirty="0">
                <a:solidFill>
                  <a:srgbClr val="FFFFFF"/>
                </a:solidFill>
                <a:latin typeface="メイリオ" panose="020B0604030504040204" pitchFamily="50" charset="-128"/>
                <a:ea typeface="メイリオ" panose="020B0604030504040204" pitchFamily="50" charset="-128"/>
                <a:cs typeface="メイリオ"/>
              </a:rPr>
              <a:t>※CPF</a:t>
            </a:r>
            <a:r>
              <a:rPr lang="ja-JP" altLang="en-US" sz="1200" b="1" dirty="0">
                <a:solidFill>
                  <a:srgbClr val="FFFFFF"/>
                </a:solidFill>
                <a:latin typeface="メイリオ" panose="020B0604030504040204" pitchFamily="50" charset="-128"/>
                <a:ea typeface="メイリオ" panose="020B0604030504040204" pitchFamily="50" charset="-128"/>
                <a:cs typeface="メイリオ"/>
              </a:rPr>
              <a:t>広告</a:t>
            </a:r>
            <a:r>
              <a:rPr lang="en-US" altLang="ja-JP" sz="12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公式アカウントの友だちを増やすための広告を、</a:t>
            </a:r>
            <a:br>
              <a:rPr lang="en-US" altLang="ja-JP" sz="1600" b="1" dirty="0">
                <a:solidFill>
                  <a:schemeClr val="tx1">
                    <a:lumMod val="65000"/>
                    <a:lumOff val="35000"/>
                  </a:schemeClr>
                </a:solidFill>
                <a:latin typeface="メイリオ"/>
                <a:ea typeface="メイリオ"/>
                <a:cs typeface="メイリオ"/>
                <a:sym typeface="Meiryo"/>
              </a:rPr>
            </a:b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広告の管理画面より</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アプリ内で掲載できる機能。</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en-US" altLang="ja-JP" sz="1200" b="1" dirty="0">
                  <a:solidFill>
                    <a:srgbClr val="0070C0"/>
                  </a:solidFill>
                  <a:latin typeface="メイリオ"/>
                  <a:ea typeface="メイリオ"/>
                  <a:cs typeface="メイリオ"/>
                  <a:sym typeface="Meiryo"/>
                </a:rPr>
                <a:t>LINE</a:t>
              </a:r>
              <a:r>
                <a:rPr lang="ja-JP" altLang="en-US" sz="1200" b="1" dirty="0">
                  <a:solidFill>
                    <a:srgbClr val="0070C0"/>
                  </a:solidFill>
                  <a:latin typeface="メイリオ"/>
                  <a:ea typeface="メイリオ"/>
                  <a:cs typeface="メイリオ"/>
                  <a:sym typeface="Meiryo"/>
                </a:rPr>
                <a:t>公式アカウントまでの導線</a:t>
              </a:r>
              <a:endParaRPr lang="en-US" altLang="ja-JP" sz="1200" b="1" dirty="0">
                <a:solidFill>
                  <a:srgbClr val="0070C0"/>
                </a:solidFill>
                <a:latin typeface="メイリオ"/>
                <a:ea typeface="メイリオ"/>
                <a:cs typeface="メイリオ"/>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200" b="1" dirty="0">
                  <a:solidFill>
                    <a:srgbClr val="0070C0"/>
                  </a:solidFill>
                  <a:latin typeface="メイリオ"/>
                  <a:ea typeface="メイリオ"/>
                  <a:cs typeface="メイリオ"/>
                  <a:sym typeface="Meiryo"/>
                </a:rPr>
                <a:t>「友だち追加広告」との違い</a:t>
              </a:r>
              <a:endParaRPr lang="en-US" altLang="ja-JP" sz="1200" b="1" dirty="0">
                <a:solidFill>
                  <a:srgbClr val="0070C0"/>
                </a:solidFill>
                <a:latin typeface="メイリオ"/>
                <a:ea typeface="メイリオ"/>
                <a:cs typeface="メイリオ"/>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kumimoji="1" lang="en-US" altLang="ja-JP" sz="1200" dirty="0">
                <a:latin typeface="メイリオ" panose="020B0604030504040204" pitchFamily="50" charset="-128"/>
                <a:ea typeface="メイリオ" panose="020B0604030504040204" pitchFamily="50" charset="-128"/>
                <a:cs typeface="メイリオ"/>
              </a:rPr>
              <a:t>LINE</a:t>
            </a:r>
            <a:r>
              <a:rPr kumimoji="1" lang="ja-JP" altLang="en-US" sz="1200" dirty="0">
                <a:latin typeface="メイリオ" panose="020B0604030504040204" pitchFamily="50" charset="-128"/>
                <a:ea typeface="メイリオ" panose="020B0604030504040204" pitchFamily="50" charset="-128"/>
                <a:cs typeface="メイリオ"/>
              </a:rPr>
              <a:t>アプリ内から</a:t>
            </a:r>
            <a:br>
              <a:rPr kumimoji="1" lang="en-US" altLang="ja-JP" sz="1200" dirty="0">
                <a:latin typeface="メイリオ" panose="020B0604030504040204" pitchFamily="50" charset="-128"/>
                <a:ea typeface="メイリオ" panose="020B0604030504040204" pitchFamily="50" charset="-128"/>
                <a:cs typeface="メイリオ"/>
              </a:rPr>
            </a:br>
            <a:r>
              <a:rPr kumimoji="1" lang="ja-JP" altLang="en-US" sz="1200" dirty="0">
                <a:latin typeface="メイリオ" panose="020B0604030504040204" pitchFamily="50" charset="-128"/>
                <a:ea typeface="メイリオ" panose="020B0604030504040204" pitchFamily="50" charset="-128"/>
                <a:cs typeface="メイリオ"/>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600" b="1" dirty="0">
                <a:solidFill>
                  <a:srgbClr val="33CC33"/>
                </a:solidFill>
                <a:latin typeface="メイリオ" panose="020B0604030504040204" pitchFamily="50" charset="-128"/>
                <a:ea typeface="メイリオ" panose="020B0604030504040204" pitchFamily="50" charset="-128"/>
                <a:cs typeface="メイリオ"/>
              </a:rPr>
              <a:t>直接</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200" dirty="0">
                <a:latin typeface="メイリオ" panose="020B0604030504040204" pitchFamily="50" charset="-128"/>
                <a:ea typeface="メイリオ" panose="020B0604030504040204" pitchFamily="50" charset="-128"/>
                <a:cs typeface="メイリオ"/>
              </a:rPr>
              <a:t>誘導</a:t>
            </a:r>
            <a:endParaRPr kumimoji="1" lang="en-US" altLang="ja-JP"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706008177"/>
      </p:ext>
    </p:extLst>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お金への関心は高まる一方で、学ぶ機会は少ない</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資産形成を始める方は増えているのに、金融について学んでいない方が約9割</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nvGraphicFramePr>
        <p:xfrm>
          <a:off x="420624" y="1645920"/>
          <a:ext cx="9052560" cy="285496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NISA口座数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2,125万 → 2024年末 2,559万 → 2025年末 2,821万口座（政府目標：2027年末までに3,400万口座）</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資産形成を始める方は増え続けている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NISAの累計買付額</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35兆円 → 2024年末 53兆円 → 2025年末 71兆円。2027年末の政府目標56兆円をすでに超えた</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実際にお金が動いている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金融経済教育</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「受けたと認識している」方は8.7%。一方で67.5%が「学校で行うべき」と回答</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学ぶ機会は少なく、学びたいニーズは大きい</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知識・計画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金融リテラシーの正答率は53.8%（前回から1.9ポイント低下）。老後の資金計画をたてている方は40.1%、商品性を理解せずに投資信託を買った方は29.3%</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相談に乗れる方が求められている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2" name="示唆"/>
          <p:cNvSpPr/>
          <p:nvPr/>
        </p:nvSpPr>
        <p:spPr>
          <a:xfrm>
            <a:off x="420624" y="466547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お金への関心が高まる一方で、学ぶ機会は少ない。保険営業の方にとって、相談につながるチャンスが増えている。一般の方向けのマネーセミナーも、LINEで次回の案内を続けられる。</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NISA口座数・買付額：金融庁「NISAの利用状況」（2025年12月末時点）／金融経済教育・正答率・資金計画・投資信託：金融経済教育推進機構（J-FLEC）「金融リテラシー調査（2025年）」（2026年3月27日公表、30,000人）</a:t>
            </a:r>
            <a:endParaRPr lang="ja-JP" altLang="en-US" sz="1200" dirty="0"/>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142249</TotalTime>
  <Words>8026</Words>
  <Application>Microsoft Office PowerPoint</Application>
  <PresentationFormat>A4 210 x 297 mm</PresentationFormat>
  <Paragraphs>1350</Paragraphs>
  <Slides>62</Slides>
  <Notes>22</Notes>
  <HiddenSlides>3</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62</vt:i4>
      </vt:variant>
    </vt:vector>
  </HeadingPairs>
  <TitlesOfParts>
    <vt:vector size="68" baseType="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1953</cp:revision>
  <cp:lastPrinted>2022-11-01T11:38:14Z</cp:lastPrinted>
  <dcterms:created xsi:type="dcterms:W3CDTF">2015-09-04T09:21:15Z</dcterms:created>
  <dcterms:modified xsi:type="dcterms:W3CDTF">2026-10-20T09:12:38Z</dcterms:modified>
</cp:coreProperties>
</file>