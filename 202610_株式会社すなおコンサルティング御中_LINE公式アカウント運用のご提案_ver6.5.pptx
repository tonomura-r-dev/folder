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9.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988" r:id="rId4"/>
    <p:sldId id="2972" r:id="rId5"/>
    <p:sldId id="2971" r:id="rId6"/>
    <p:sldId id="2736" r:id="rId7"/>
    <p:sldId id="2976" r:id="rId8"/>
    <p:sldId id="3033" r:id="rId13"/>
    <p:sldId id="3026" r:id="rId9"/>
    <p:sldId id="2986" r:id="rId10"/>
    <p:sldId id="2761" r:id="rId14"/>
    <p:sldId id="3021" r:id="rId15"/>
    <p:sldId id="3008" r:id="rId16"/>
    <p:sldId id="2737" r:id="rId17"/>
    <p:sldId id="2979" r:id="rId18"/>
    <p:sldId id="3006" r:id="rId19"/>
    <p:sldId id="3027" r:id="rId20"/>
    <p:sldId id="2989" r:id="rId21"/>
    <p:sldId id="3015" r:id="rId22"/>
    <p:sldId id="3013" r:id="rId23"/>
    <p:sldId id="2957" r:id="rId24"/>
    <p:sldId id="3022" r:id="rId25"/>
    <p:sldId id="3031" r:id="rId26"/>
    <p:sldId id="3023" r:id="rId27"/>
    <p:sldId id="3024" r:id="rId28"/>
    <p:sldId id="3019" r:id="rId29"/>
    <p:sldId id="3032" r:id="rId30"/>
    <p:sldId id="3028" r:id="rId31"/>
    <p:sldId id="2970" r:id="rId32"/>
    <p:sldId id="2959" r:id="rId33"/>
    <p:sldId id="3025" r:id="rId34"/>
    <p:sldId id="2966" r:id="rId35"/>
    <p:sldId id="3029" r:id="rId36"/>
    <p:sldId id="3011" r:id="rId37"/>
    <p:sldId id="2734" r:id="rId38"/>
    <p:sldId id="2595" r:id="rId39"/>
    <p:sldId id="2566" r:id="rId40"/>
    <p:sldId id="2915" r:id="rId41"/>
    <p:sldId id="3030" r:id="rId42"/>
    <p:sldId id="2619" r:id="rId43"/>
    <p:sldId id="1169" r:id="rId44"/>
    <p:sldId id="2961" r:id="rId45"/>
    <p:sldId id="2908" r:id="rId46"/>
    <p:sldId id="2935" r:id="rId47"/>
    <p:sldId id="2919" r:id="rId48"/>
    <p:sldId id="2519" r:id="rId49"/>
    <p:sldId id="2931" r:id="rId50"/>
    <p:sldId id="2749" r:id="rId51"/>
    <p:sldId id="2950" r:id="rId52"/>
    <p:sldId id="2563" r:id="rId53"/>
    <p:sldId id="2968" r:id="rId54"/>
    <p:sldId id="2969" r:id="rId55"/>
    <p:sldId id="2951" r:id="rId56"/>
    <p:sldId id="2841" r:id="rId57"/>
    <p:sldId id="2849" r:id="rId58"/>
    <p:sldId id="2904" r:id="rId59"/>
    <p:sldId id="2905" r:id="rId60"/>
    <p:sldId id="2906" r:id="rId61"/>
    <p:sldId id="2907" r:id="rId62"/>
    <p:sldId id="2575" r:id="rId63"/>
    <p:sldId id="2910"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3" Type="http://schemas.openxmlformats.org/officeDocument/2006/relationships/slide" Target="slides/slide60.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jpeg"/><Relationship Id="rId8" Type="http://schemas.openxmlformats.org/officeDocument/2006/relationships/image" Target="../media/image21.jp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43.jpeg"/><Relationship Id="rId7" Type="http://schemas.openxmlformats.org/officeDocument/2006/relationships/image" Target="../media/image44.jpeg"/><Relationship Id="rId8" Type="http://schemas.openxmlformats.org/officeDocument/2006/relationships/image" Target="../media/image4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6.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80906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研修・学びの市場：営業職の学び直しのニーズが伸びている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1" name="示唆 線"/>
          <p:cNvSpPr/>
          <p:nvPr/>
        </p:nvSpPr>
        <p:spPr>
          <a:xfrm>
            <a:off x="420624" y="4467352"/>
            <a:ext cx="64008" cy="78867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67352"/>
            <a:ext cx="8988552"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学びたい方は増えている。そのため、セミナーで出会った方とLINEでつながり、次のセミナー・サロンの入会まで案内を続けることが重要。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482478621"/>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LINEヤフー for Business に掲載されている、保険・イベント集客の事例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nvGraphicFramePr>
        <p:xfrm>
          <a:off x="420624" y="1783080"/>
          <a:ext cx="9052560" cy="3767328"/>
        </p:xfrm>
        <a:graphic>
          <a:graphicData uri="http://schemas.openxmlformats.org/drawingml/2006/table">
            <a:tbl>
              <a:tblPr/>
              <a:tblGrid>
                <a:gridCol w="1600200"/>
                <a:gridCol w="2377440"/>
                <a:gridCol w="2514600"/>
                <a:gridCol w="256032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接点のある方を友だちにし、配信を届け続ける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セミナー参加後に、サロンの入会を案内する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266280894"/>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離脱防止ポップアップ（導入推奨）で、LPを離れる方を友だちに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3666070414"/>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※個別チャットは貴社で対応（自動応答などの効率化は弊社で設定）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931920"/>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離脱防止ポップアップ（導入推奨）／予約完了後の友だち追加：サンクスLINE誘導（追加オプション）または通常のご案内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
        <p:nvSpPr>
          <p:cNvPr id="23"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
        <p:nvSpPr>
          <p:cNvPr id="75"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5" name="ツールの位置づけ"/>
          <p:cNvSpPr/>
          <p:nvPr/>
        </p:nvSpPr>
        <p:spPr>
          <a:xfrm>
            <a:off x="7269480" y="841248"/>
            <a:ext cx="146304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追加オプション</a:t>
            </a:r>
            <a:endParaRPr lang="ja-JP" altLang="en-US" sz="1200" dirty="0">
              <a:latin typeface="メイリオ"/>
              <a:ea typeface="メイリオ"/>
              <a:cs typeface="メイリオ"/>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契約前に確認する事項と、運用開始後に調整できる事項を分けて整理する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995928"/>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区分</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rowSpan="5">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契約前に確認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予約・参加情報との紐づけ</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予約システム・フォーム・顧客管理の情報と、LINEの友だちを紐づけられるか（難しい場合は流入経路での出し分け・全体配信が基本）</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サンクスLINE誘導の導入</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導入するかどうか。導入する場合は、最低利用期間・停止条件（セミナー開催月だけの利用可否）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通常の友だち追加ボタン</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予約完了ページへの設置可否・費用・実装条件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SIMと成果の計測方法</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成果地点の定義・重複計上の有無・計測方法（成果報酬単価 12,000円／件）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rowSpan="3">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運用開始後に調整</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同じLINE公式アカウントでの配信の出し分け（流入経路の分け方・配信内容）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月1〜2回の範囲での回数・内容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7"/>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興味分野の確認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友だち追加直後の簡易アンケートを入れるかどうか（必要最小限の1問程度）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51" name="注記"/>
          <p:cNvSpPr/>
          <p:nvPr/>
        </p:nvSpPr>
        <p:spPr>
          <a:xfrm>
            <a:off x="420624" y="580644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6099048"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※契約期間は6か月。貴社作業・確認にかかる時間により前後する場合がある。</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お金への関心は高まる一方で、学ぶ機会は少ない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学ぶ機会は少なく、学びたいニーズは大きい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1" name="示唆 線"/>
          <p:cNvSpPr/>
          <p:nvPr/>
        </p:nvSpPr>
        <p:spPr>
          <a:xfrm>
            <a:off x="420624" y="4665472"/>
            <a:ext cx="64008" cy="78867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665472"/>
            <a:ext cx="8988552"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お金への関心が高まる一方で、学ぶ機会は少ない。保険営業の方にとって、相談につながるチャンスが増えている。一般の方向けのマネーセミナーも、LINEで次回の案内を続けられる。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142249</TotalTime>
  <Words>8026</Words>
  <Application>Microsoft Office PowerPoint</Application>
  <PresentationFormat>A4 210 x 297 mm</PresentationFormat>
  <Paragraphs>1350</Paragraphs>
  <Slides>62</Slides>
  <Notes>22</Notes>
  <HiddenSlides>3</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62</vt:i4>
      </vt:variant>
    </vt:vector>
  </HeadingPairs>
  <TitlesOfParts>
    <vt:vector size="68"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2026-10-20T09:12:38Z</dcterms:modified>
</cp:coreProperties>
</file>