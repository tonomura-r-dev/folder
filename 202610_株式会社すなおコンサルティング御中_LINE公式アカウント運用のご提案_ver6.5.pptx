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9.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988" r:id="rId4"/>
    <p:sldId id="2972" r:id="rId5"/>
    <p:sldId id="2971" r:id="rId6"/>
    <p:sldId id="2736" r:id="rId7"/>
    <p:sldId id="2976" r:id="rId8"/>
    <p:sldId id="3033" r:id="rId13"/>
    <p:sldId id="3026" r:id="rId9"/>
    <p:sldId id="2986" r:id="rId10"/>
    <p:sldId id="2761" r:id="rId14"/>
    <p:sldId id="3021" r:id="rId15"/>
    <p:sldId id="3008" r:id="rId16"/>
    <p:sldId id="2737" r:id="rId17"/>
    <p:sldId id="2979" r:id="rId18"/>
    <p:sldId id="3006" r:id="rId19"/>
    <p:sldId id="3027" r:id="rId20"/>
    <p:sldId id="2989" r:id="rId21"/>
    <p:sldId id="3015" r:id="rId22"/>
    <p:sldId id="3013" r:id="rId23"/>
    <p:sldId id="2957" r:id="rId24"/>
    <p:sldId id="3022" r:id="rId25"/>
    <p:sldId id="3031" r:id="rId26"/>
    <p:sldId id="3023" r:id="rId27"/>
    <p:sldId id="3024" r:id="rId28"/>
    <p:sldId id="3019" r:id="rId29"/>
    <p:sldId id="3032" r:id="rId30"/>
    <p:sldId id="3028" r:id="rId31"/>
    <p:sldId id="2970" r:id="rId32"/>
    <p:sldId id="2959" r:id="rId33"/>
    <p:sldId id="3025" r:id="rId34"/>
    <p:sldId id="2966" r:id="rId35"/>
    <p:sldId id="3029" r:id="rId36"/>
    <p:sldId id="3011" r:id="rId37"/>
    <p:sldId id="2734" r:id="rId38"/>
    <p:sldId id="2595" r:id="rId39"/>
    <p:sldId id="2566" r:id="rId40"/>
    <p:sldId id="2915" r:id="rId41"/>
    <p:sldId id="3030" r:id="rId42"/>
    <p:sldId id="2619" r:id="rId43"/>
    <p:sldId id="1169" r:id="rId44"/>
    <p:sldId id="2961" r:id="rId45"/>
    <p:sldId id="2908" r:id="rId46"/>
    <p:sldId id="2935" r:id="rId47"/>
    <p:sldId id="2919" r:id="rId48"/>
    <p:sldId id="2519" r:id="rId49"/>
    <p:sldId id="2931" r:id="rId50"/>
    <p:sldId id="2749" r:id="rId51"/>
    <p:sldId id="2950" r:id="rId52"/>
    <p:sldId id="2563" r:id="rId53"/>
    <p:sldId id="2968" r:id="rId54"/>
    <p:sldId id="2969" r:id="rId55"/>
    <p:sldId id="2951" r:id="rId56"/>
    <p:sldId id="2841" r:id="rId57"/>
    <p:sldId id="2849" r:id="rId58"/>
    <p:sldId id="2904" r:id="rId59"/>
    <p:sldId id="2905" r:id="rId60"/>
    <p:sldId id="2906" r:id="rId61"/>
    <p:sldId id="2907" r:id="rId62"/>
    <p:sldId id="2575" r:id="rId63"/>
    <p:sldId id="2910" r:id="rId6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3" Type="http://schemas.openxmlformats.org/officeDocument/2006/relationships/slide" Target="slides/slide60.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192C0-1B1B-AD3F-B0C2-F33DAD8A2D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33AE9E-C7C9-D146-DD36-5849B111FD7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8A3C9A-42D2-B5D7-5F81-0F1CAB8FD4B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1D8EFF-3CFC-7207-CD2B-A2DC20DEDF1D}"/>
              </a:ext>
            </a:extLst>
          </p:cNvPr>
          <p:cNvSpPr>
            <a:spLocks noGrp="1"/>
          </p:cNvSpPr>
          <p:nvPr>
            <p:ph type="sldNum" sz="quarter" idx="10"/>
          </p:nvPr>
        </p:nvSpPr>
        <p:spPr/>
        <p:txBody>
          <a:bodyPr/>
          <a:lstStyle/>
          <a:p>
            <a:fld id="{022E43C0-6795-4B13-B37C-259C826D4B6A}" type="slidenum">
              <a:rPr kumimoji="1" lang="ja-JP" altLang="en-US" smtClean="0"/>
              <a:t>21</a:t>
            </a:fld>
            <a:endParaRPr kumimoji="1" lang="ja-JP" altLang="en-US"/>
          </a:p>
        </p:txBody>
      </p:sp>
    </p:spTree>
    <p:extLst>
      <p:ext uri="{BB962C8B-B14F-4D97-AF65-F5344CB8AC3E}">
        <p14:creationId xmlns:p14="http://schemas.microsoft.com/office/powerpoint/2010/main" val="33123719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42</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jpeg"/><Relationship Id="rId8" Type="http://schemas.openxmlformats.org/officeDocument/2006/relationships/image" Target="../media/image21.jp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hyperlink" Target="https://youtube.com/shorts/0qI4QgrOppQ"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 Id="rId10"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33.png"/><Relationship Id="rId4"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svg"/><Relationship Id="rId8" Type="http://schemas.openxmlformats.org/officeDocument/2006/relationships/image" Target="../media/image4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3.emf"/><Relationship Id="rId4" Type="http://schemas.openxmlformats.org/officeDocument/2006/relationships/image" Target="../media/image41.jpeg"/><Relationship Id="rId5" Type="http://schemas.openxmlformats.org/officeDocument/2006/relationships/image" Target="../media/image42.jpeg"/><Relationship Id="rId6" Type="http://schemas.openxmlformats.org/officeDocument/2006/relationships/image" Target="../media/image43.jpeg"/><Relationship Id="rId7" Type="http://schemas.openxmlformats.org/officeDocument/2006/relationships/image" Target="../media/image44.jpeg"/><Relationship Id="rId8" Type="http://schemas.openxmlformats.org/officeDocument/2006/relationships/image" Target="../media/image45.jpe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46.svg"/><Relationship Id="rId4" Type="http://schemas.openxmlformats.org/officeDocument/2006/relationships/image" Target="../media/image47.svg"/><Relationship Id="rId5" Type="http://schemas.openxmlformats.org/officeDocument/2006/relationships/image" Target="../media/image48.svg"/><Relationship Id="rId6" Type="http://schemas.openxmlformats.org/officeDocument/2006/relationships/image" Target="../media/image49.sv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6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6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現状把握・課題</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80906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という特性から、</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集めた方と、次のイベント・入会まで接点を持ち続けること</a:t>
            </a:r>
            <a:r>
              <a:rPr lang="ja-JP" altLang="en-US" sz="1200" dirty="0">
                <a:solidFill>
                  <a:schemeClr val="tx1"/>
                </a:solidFill>
                <a:latin typeface="メイリオ" panose="020B0604030504040204" pitchFamily="50" charset="-128"/>
                <a:ea typeface="メイリオ" panose="020B0604030504040204" pitchFamily="50" charset="-128"/>
                <a:cs typeface="メイリオ"/>
              </a:rPr>
              <a:t>はメリットにつながる。</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見込み客との継続的な接点として活用できる。</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研修・学びの市場：営業職の学び直しのニーズが伸びている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企業の研修への投資も、個人がお金を払って学ぶ市場も伸びている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nvGraphicFramePr>
        <p:xfrm>
          <a:off x="420624" y="1645920"/>
          <a:ext cx="9052560" cy="265684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企業向け研修サービス市場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6,075億円（前年度比3.7%増）。2026年度は6,300億円の予測</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企業の人材育成への投資は増えている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eラーニング市場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3,924億円（前年度比2.7%増）。法人向け 1,294億円（4.7%増）・個人向け 2,630億円（1.7%増）。個人向けは資格関連の伸びで3年ぶりのプラス</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個人がお金を払って学ぶ市場も、再び伸び始めている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オンラインサロン</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最大手のDMMオンラインサロンの流通総額は2024年度 約60億円。シェアは61.9%（2021年度は51.4%）</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有料のオンラインコミュニティで学ぶ形が定着している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保険営業の方の接触回数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限られた面談で成果を出すやり方を学ぶ必要がある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2" name="示唆"/>
          <p:cNvSpPr/>
          <p:nvPr/>
        </p:nvSpPr>
        <p:spPr>
          <a:xfrm>
            <a:off x="420624" y="446735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学びたい方は増えている。そのため、セミナーで出会った方とLINEでつながり、次のセミナー・サロンの入会まで案内を続けることが重要。</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※企業向け研修サービス市場：矢野経済研究所（2026年8月24日）／eラーニング市場：矢野経済研究所（2026年4月22日。2025年度は見込み）／オンラインサロン：DMM.com発表（2025年11月14日。調査：デロイト トーマツ ミック経済研究所）／接触回数：矢野経済研究所「生命保険の営業職員アンケート調査」（2023年4〜6月、生命保険の営業職員400名）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482478621"/>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主な関心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主な申込先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2" name="示唆"/>
          <p:cNvSpPr/>
          <p:nvPr/>
        </p:nvSpPr>
        <p:spPr>
          <a:xfrm>
            <a:off x="420624" y="4526280"/>
            <a:ext cx="9052560"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
        <p:nvSpPr>
          <p:cNvPr id="53" name="注記"/>
          <p:cNvSpPr/>
          <p:nvPr/>
        </p:nvSpPr>
        <p:spPr>
          <a:xfrm>
            <a:off x="420624" y="589788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※流入経路で分けられない方には、どちらにも当てはまる内容（開催のお知らせなど）を基本に配信</a:t>
            </a:r>
            <a:endParaRPr lang="ja-JP" altLang="en-US" sz="1200" dirty="0">
              <a:latin typeface="メイリオ"/>
              <a:ea typeface="メイリオ"/>
              <a:cs typeface="メイリオ"/>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ニーズ調査（業界</a:t>
            </a:r>
            <a:r>
              <a:rPr lang="en-US" altLang="ja-JP" sz="1600" b="1" dirty="0">
                <a:solidFill>
                  <a:srgbClr val="002060"/>
                </a:solidFill>
                <a:latin typeface="メイリオ"/>
                <a:ea typeface="メイリオ"/>
                <a:cs typeface="メイリオ"/>
                <a:sym typeface="Meiryo"/>
              </a:rPr>
              <a:t>STUDY</a:t>
            </a:r>
            <a:r>
              <a:rPr lang="ja-JP" altLang="en-US" sz="1600" b="1" dirty="0">
                <a:solidFill>
                  <a:srgbClr val="002060"/>
                </a:solidFill>
                <a:latin typeface="メイリオ"/>
                <a:ea typeface="メイリオ"/>
                <a:cs typeface="メイリオ"/>
                <a:sym typeface="Meiryo"/>
              </a:rPr>
              <a:t>）　＞　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※R&amp;C保険営業ラボ：R&amp;C株式会社のプレスリリースより。招待制のため、画面は未掲載</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の役割 4"/>
          <p:cNvGraphicFramePr>
            <a:graphicFrameLocks noGrp="1"/>
          </p:cNvGraphicFramePr>
          <p:nvPr/>
        </p:nvGraphicFramePr>
        <p:xfrm>
          <a:off x="502920" y="1508760"/>
          <a:ext cx="8897112" cy="2206752"/>
        </p:xfrm>
        <a:graphic>
          <a:graphicData uri="http://schemas.openxmlformats.org/drawingml/2006/table">
            <a:tbl>
              <a:tblPr/>
              <a:tblGrid>
                <a:gridCol w="182880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3547872">
                  <a:extLst>
                    <a:ext uri="{9D8B030D-6E8A-4147-A177-3AD203B41FA5}">
                      <a16:colId xmlns:a16="http://schemas.microsoft.com/office/drawing/2014/main" val="20002"/>
                    </a:ext>
                  </a:extLst>
                </a:gridCol>
              </a:tblGrid>
              <a:tr h="365760">
                <a:tc>
                  <a:txBody>
                    <a:bodyPr/>
                    <a:lstStyle/>
                    <a:p>
                      <a:pPr algn="l">
                        <a:buNone/>
                      </a:pPr>
                      <a:endParaRPr lang="ja-JP" altLang="en-US" sz="1300" dirty="0">
                        <a:latin typeface="メイリオ"/>
                        <a:ea typeface="メイリオ"/>
                        <a:cs typeface="メイリオ"/>
                      </a:endParaRPr>
                    </a:p>
                  </a:txBody>
                  <a:tcPr marL="109728"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300" dirty="0">
                        <a:latin typeface="メイリオ"/>
                        <a:ea typeface="メイリオ"/>
                        <a:cs typeface="メイリオ"/>
                      </a:endParaRPr>
                    </a:p>
                  </a:txBody>
                  <a:tcPr marL="109728" marT="36576" marB="36576" anchor="ctr">
                    <a:lnL w="9525" cap="flat" cmpd="sng" algn="ctr">
                      <a:solidFill>
                        <a:srgbClr val="FFFFFF"/>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役割</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新しい見込み客との接点を獲得する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一度つながった見込み客に、継続して情報を届ける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主に届く相手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まだつながっていない方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友だち追加した方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届けられる時期</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広告を配信している期間</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イベント期も、イベントのない期間も</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積み上がるもの</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セミナー予約などの反響</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友だち（次回以降も案内できる相手）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768096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事例紹介：保険・イベント集客でのLINEの成果</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8"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LINEヤフー for Business に掲載されている、保険・イベント集客の事例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9" name="事例 8"/>
          <p:cNvGraphicFramePr>
            <a:graphicFrameLocks noGrp="1"/>
          </p:cNvGraphicFramePr>
          <p:nvPr/>
        </p:nvGraphicFramePr>
        <p:xfrm>
          <a:off x="420624" y="1783080"/>
          <a:ext cx="9052560" cy="3767328"/>
        </p:xfrm>
        <a:graphic>
          <a:graphicData uri="http://schemas.openxmlformats.org/drawingml/2006/table">
            <a:tbl>
              <a:tblPr/>
              <a:tblGrid>
                <a:gridCol w="1600200"/>
                <a:gridCol w="2377440"/>
                <a:gridCol w="2514600"/>
                <a:gridCol w="2560320"/>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業種</a:t>
                      </a:r>
                      <a:endParaRPr lang="ja-JP" altLang="en-US" sz="1300" dirty="0">
                        <a:latin typeface="メイリオ"/>
                        <a:ea typeface="メイリオ"/>
                        <a:cs typeface="メイリオ"/>
                      </a:endParaRPr>
                    </a:p>
                  </a:txBody>
                  <a:tcPr marL="109728" marR="91440"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LINEでしたこと</a:t>
                      </a:r>
                      <a:endParaRPr lang="ja-JP" altLang="en-US" sz="1300" dirty="0">
                        <a:latin typeface="メイリオ"/>
                        <a:ea typeface="メイリオ"/>
                        <a:cs typeface="メイリオ"/>
                      </a:endParaRPr>
                    </a:p>
                  </a:txBody>
                  <a:tcPr marL="109728" marR="91440"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結果</a:t>
                      </a:r>
                      <a:endParaRPr lang="ja-JP" altLang="en-US" sz="1300" dirty="0">
                        <a:latin typeface="メイリオ"/>
                        <a:ea typeface="メイリオ"/>
                        <a:cs typeface="メイリオ"/>
                      </a:endParaRPr>
                    </a:p>
                  </a:txBody>
                  <a:tcPr marL="109728" marR="91440"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貴社での活かし方</a:t>
                      </a:r>
                      <a:endParaRPr lang="ja-JP" altLang="en-US" sz="1300" dirty="0">
                        <a:latin typeface="メイリオ"/>
                        <a:ea typeface="メイリオ"/>
                        <a:cs typeface="メイリオ"/>
                      </a:endParaRPr>
                    </a:p>
                  </a:txBody>
                  <a:tcPr marL="109728" marR="91440"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同じ内容をメールとLINEで配信</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約8倍</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資料請求のCV率（メール比）</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次回セミナーの案内を、LINEで届ける</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11887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営業職員経由で、お客様にLINEの友だち追加を案内</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5.2%</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営業職員経由の友だちのブロック率（自然に友だちになった方は74.9%）</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接点のある方を友だちにし、配信を届け続ける</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教室・スクール</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見学会（イベント）の案内をLINEで配信</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約7割</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見学会の参加者の入会率</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セミナー参加後に、サロンの入会を案内する</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10" name="注記"/>
          <p:cNvSpPr/>
          <p:nvPr/>
        </p:nvSpPr>
        <p:spPr>
          <a:xfrm>
            <a:off x="420624" y="585216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※LINEヤフー for Business 掲載の導入事例（数値は各社調べ）。生命保険会社＝2024年4月・2025年2月公開、教室・スクール＝2021年8月公開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1557982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266280894"/>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入会後の継続利用・紹介にもLINEを活用し、LTVの最大化をめざす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6か月（平常期とセミナー開催月で、配信内容と工数が変わる）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友だちを増やし、ブロック率を抑えながら、配信可能な人数を積み上げる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離脱防止ポップアップ（導入推奨）で、LPを離れる方を友だちに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友だち追加直後・予約した方・参加後の段階ごとに、案内を変える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平常期 月1〜2回、開催月 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イベント開催時だけでなく、平常期にも継続して情報を届ける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3666070414"/>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平常期・開催月それぞれの</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時期に合わせて届ける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・企画配信：平常期 月1〜2回／開催月 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Meta広告などで、新しい見込み客と接点をつくる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セミナーの内容を知り、予約する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企画配信：平常期 月1〜2回／開催月 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オンラインサロン入会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
        <p:nvSpPr>
          <p:cNvPr id="70" name="注記"/>
          <p:cNvSpPr/>
          <p:nvPr/>
        </p:nvSpPr>
        <p:spPr>
          <a:xfrm>
            <a:off x="420624" y="589788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※一般の方向けセミナーから友だち追加した方は、流入経路で分け、一般の方向けの案内を中心に配信</a:t>
            </a:r>
            <a:endParaRPr lang="ja-JP" altLang="en-US" sz="1200" dirty="0">
              <a:latin typeface="メイリオ"/>
              <a:ea typeface="メイリオ"/>
              <a:cs typeface="メイリオ"/>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graphicFrame>
        <p:nvGraphicFramePr>
          <p:cNvPr id="18" name="Table 2">
            <a:extLst>
              <a:ext uri="{FF2B5EF4-FFF2-40B4-BE49-F238E27FC236}">
                <a16:creationId xmlns:a16="http://schemas.microsoft.com/office/drawing/2014/main" id="{89845608-F0C2-67EC-D03E-3B68C6BD5068}"/>
              </a:ext>
            </a:extLst>
          </p:cNvPr>
          <p:cNvGraphicFramePr>
            <a:graphicFrameLocks noGrp="1"/>
          </p:cNvGraphicFramePr>
          <p:nvPr>
            <p:extLst>
              <p:ext uri="{D42A27DB-BD31-4B8C-83A1-F6EECF244321}">
                <p14:modId xmlns:p14="http://schemas.microsoft.com/office/powerpoint/2010/main" val="3163375250"/>
              </p:ext>
            </p:extLst>
          </p:nvPr>
        </p:nvGraphicFramePr>
        <p:xfrm>
          <a:off x="384048" y="3200400"/>
          <a:ext cx="9381744" cy="2962656"/>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2532888">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2532888">
                  <a:extLst>
                    <a:ext uri="{9D8B030D-6E8A-4147-A177-3AD203B41FA5}">
                      <a16:colId xmlns:a16="http://schemas.microsoft.com/office/drawing/2014/main" val="20003"/>
                    </a:ext>
                  </a:extLst>
                </a:gridCol>
              </a:tblGrid>
              <a:tr h="329184">
                <a:tc>
                  <a:txBody>
                    <a:bodyPr/>
                    <a:lstStyle/>
                    <a:p>
                      <a:pPr algn="ctr"/>
                      <a:r>
                        <a:rPr lang="ja-JP" sz="1200" b="1">
                          <a:solidFill>
                            <a:srgbClr val="FFFFFF"/>
                          </a:solidFill>
                          <a:latin typeface="メイリオ"/>
                          <a:ea typeface="メイリオ"/>
                          <a:cs typeface="メイリオ"/>
                        </a:rPr>
                        <a:t>フェーズ</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ユーザー状態・心理</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離脱・停滞が起きやすい点</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LINE OAの役割・施策</a:t>
                      </a:r>
                    </a:p>
                  </a:txBody>
                  <a:tcPr marR="73152" anchor="ctr">
                    <a:solidFill>
                      <a:srgbClr val="1F2A5C"/>
                    </a:solidFill>
                  </a:tcPr>
                </a:tc>
                <a:extLst>
                  <a:ext uri="{0D108BD9-81ED-4DB2-BD59-A6C34878D82A}">
                    <a16:rowId xmlns:a16="http://schemas.microsoft.com/office/drawing/2014/main" val="10000"/>
                  </a:ext>
                </a:extLst>
              </a:tr>
              <a:tr h="329184">
                <a:tc>
                  <a:txBody>
                    <a:bodyPr/>
                    <a:lstStyle/>
                    <a:p>
                      <a:pPr algn="l"/>
                      <a:r>
                        <a:rPr lang="ja-JP" sz="1200" b="1">
                          <a:solidFill>
                            <a:srgbClr val="1F2A5C"/>
                          </a:solidFill>
                          <a:latin typeface="メイリオ"/>
                          <a:ea typeface="メイリオ"/>
                          <a:cs typeface="メイリオ"/>
                        </a:rPr>
                        <a:t>① 接触</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営業力を上げたい・情報収集中</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日程が合わず、申し込まない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離脱防止ポップアップ（推奨）</a:t>
                      </a:r>
                    </a:p>
                  </a:txBody>
                  <a:tcPr marR="73152" anchor="ctr">
                    <a:solidFill>
                      <a:srgbClr val="FFFFFF"/>
                    </a:solidFill>
                  </a:tcPr>
                </a:tc>
                <a:extLst>
                  <a:ext uri="{0D108BD9-81ED-4DB2-BD59-A6C34878D82A}">
                    <a16:rowId xmlns:a16="http://schemas.microsoft.com/office/drawing/2014/main" val="10001"/>
                  </a:ext>
                </a:extLst>
              </a:tr>
              <a:tr h="329184">
                <a:tc>
                  <a:txBody>
                    <a:bodyPr/>
                    <a:lstStyle/>
                    <a:p>
                      <a:pPr algn="l"/>
                      <a:r>
                        <a:rPr lang="ja-JP" sz="1200" b="1">
                          <a:solidFill>
                            <a:srgbClr val="1F2A5C"/>
                          </a:solidFill>
                          <a:latin typeface="メイリオ"/>
                          <a:ea typeface="メイリオ"/>
                          <a:cs typeface="メイリオ"/>
                        </a:rPr>
                        <a:t>② サイト離脱</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今回は申し込まない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次の開催まで関心が続きにくい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ポップアップからLINE友だち化</a:t>
                      </a:r>
                    </a:p>
                  </a:txBody>
                  <a:tcPr marR="73152" anchor="ctr">
                    <a:solidFill>
                      <a:srgbClr val="F5F7FA"/>
                    </a:solidFill>
                  </a:tcPr>
                </a:tc>
                <a:extLst>
                  <a:ext uri="{0D108BD9-81ED-4DB2-BD59-A6C34878D82A}">
                    <a16:rowId xmlns:a16="http://schemas.microsoft.com/office/drawing/2014/main" val="10002"/>
                  </a:ext>
                </a:extLst>
              </a:tr>
              <a:tr h="329184">
                <a:tc>
                  <a:txBody>
                    <a:bodyPr/>
                    <a:lstStyle/>
                    <a:p>
                      <a:pPr algn="l"/>
                      <a:r>
                        <a:rPr lang="ja-JP" sz="1200" b="1">
                          <a:solidFill>
                            <a:srgbClr val="1F2A5C"/>
                          </a:solidFill>
                          <a:latin typeface="メイリオ"/>
                          <a:ea typeface="メイリオ"/>
                          <a:cs typeface="メイリオ"/>
                        </a:rPr>
                        <a:t>③ 育成（追加直後）</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どんなセミナーか分からない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中身が見えず、予約に進まない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見どころ・特典をステップ配信</a:t>
                      </a:r>
                    </a:p>
                  </a:txBody>
                  <a:tcPr marR="73152" anchor="ctr">
                    <a:solidFill>
                      <a:srgbClr val="FFFFFF"/>
                    </a:solidFill>
                  </a:tcPr>
                </a:tc>
                <a:extLst>
                  <a:ext uri="{0D108BD9-81ED-4DB2-BD59-A6C34878D82A}">
                    <a16:rowId xmlns:a16="http://schemas.microsoft.com/office/drawing/2014/main" val="10003"/>
                  </a:ext>
                </a:extLst>
              </a:tr>
              <a:tr h="329184">
                <a:tc>
                  <a:txBody>
                    <a:bodyPr/>
                    <a:lstStyle/>
                    <a:p>
                      <a:pPr algn="l"/>
                      <a:r>
                        <a:rPr lang="ja-JP" sz="1200" b="1">
                          <a:solidFill>
                            <a:srgbClr val="1F2A5C"/>
                          </a:solidFill>
                          <a:latin typeface="メイリオ"/>
                          <a:ea typeface="メイリオ"/>
                          <a:cs typeface="メイリオ"/>
                        </a:rPr>
                        <a:t>④ リード獲得</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セミナーを予約した</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日が空き、参加を忘れる</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予約後の友だち追加・前日の案内</a:t>
                      </a:r>
                    </a:p>
                  </a:txBody>
                  <a:tcPr marR="73152" anchor="ctr">
                    <a:solidFill>
                      <a:srgbClr val="F5F7FA"/>
                    </a:solidFill>
                  </a:tcPr>
                </a:tc>
                <a:extLst>
                  <a:ext uri="{0D108BD9-81ED-4DB2-BD59-A6C34878D82A}">
                    <a16:rowId xmlns:a16="http://schemas.microsoft.com/office/drawing/2014/main" val="10004"/>
                  </a:ext>
                </a:extLst>
              </a:tr>
              <a:tr h="329184">
                <a:tc>
                  <a:txBody>
                    <a:bodyPr/>
                    <a:lstStyle/>
                    <a:p>
                      <a:pPr algn="l"/>
                      <a:r>
                        <a:rPr lang="ja-JP" sz="1200" b="1">
                          <a:solidFill>
                            <a:srgbClr val="1F2A5C"/>
                          </a:solidFill>
                          <a:latin typeface="メイリオ"/>
                          <a:ea typeface="メイリオ"/>
                          <a:cs typeface="メイリオ"/>
                        </a:rPr>
                        <a:t>⑤ リード有効化</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参加して関心が高まっている</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入会を迷ったまま時間が経つ</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参加直後にサロンを案内</a:t>
                      </a:r>
                    </a:p>
                  </a:txBody>
                  <a:tcPr marR="73152" anchor="ctr">
                    <a:solidFill>
                      <a:srgbClr val="FFFFFF"/>
                    </a:solidFill>
                  </a:tcPr>
                </a:tc>
                <a:extLst>
                  <a:ext uri="{0D108BD9-81ED-4DB2-BD59-A6C34878D82A}">
                    <a16:rowId xmlns:a16="http://schemas.microsoft.com/office/drawing/2014/main" val="10005"/>
                  </a:ext>
                </a:extLst>
              </a:tr>
              <a:tr h="329184">
                <a:tc>
                  <a:txBody>
                    <a:bodyPr/>
                    <a:lstStyle/>
                    <a:p>
                      <a:pPr algn="l"/>
                      <a:r>
                        <a:rPr lang="ja-JP" sz="1200" b="1">
                          <a:solidFill>
                            <a:srgbClr val="1F2A5C"/>
                          </a:solidFill>
                          <a:latin typeface="メイリオ"/>
                          <a:ea typeface="メイリオ"/>
                          <a:cs typeface="メイリオ"/>
                        </a:rPr>
                        <a:t>⑥ 再育成</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未入会／予約したが不参加</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次のイベントまで期間が空く</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月1〜2回の配信で次回へ</a:t>
                      </a:r>
                    </a:p>
                  </a:txBody>
                  <a:tcPr marR="73152" anchor="ctr">
                    <a:solidFill>
                      <a:srgbClr val="F5F7FA"/>
                    </a:solidFill>
                  </a:tcPr>
                </a:tc>
                <a:extLst>
                  <a:ext uri="{0D108BD9-81ED-4DB2-BD59-A6C34878D82A}">
                    <a16:rowId xmlns:a16="http://schemas.microsoft.com/office/drawing/2014/main" val="10006"/>
                  </a:ext>
                </a:extLst>
              </a:tr>
              <a:tr h="329184">
                <a:tc>
                  <a:txBody>
                    <a:bodyPr/>
                    <a:lstStyle/>
                    <a:p>
                      <a:pPr algn="l"/>
                      <a:r>
                        <a:rPr lang="ja-JP" sz="1200" b="1">
                          <a:solidFill>
                            <a:srgbClr val="1F2A5C"/>
                          </a:solidFill>
                          <a:latin typeface="メイリオ"/>
                          <a:ea typeface="メイリオ"/>
                          <a:cs typeface="メイリオ"/>
                        </a:rPr>
                        <a:t>⑦ マネタイズ</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サロンの入会を検討</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入会後の中身・成果が見えない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入会した方の声を配信</a:t>
                      </a:r>
                    </a:p>
                  </a:txBody>
                  <a:tcPr marR="73152" anchor="ctr">
                    <a:solidFill>
                      <a:srgbClr val="FFFFFF"/>
                    </a:solidFill>
                  </a:tcPr>
                </a:tc>
                <a:extLst>
                  <a:ext uri="{0D108BD9-81ED-4DB2-BD59-A6C34878D82A}">
                    <a16:rowId xmlns:a16="http://schemas.microsoft.com/office/drawing/2014/main" val="10007"/>
                  </a:ext>
                </a:extLst>
              </a:tr>
              <a:tr h="329184">
                <a:tc>
                  <a:txBody>
                    <a:bodyPr/>
                    <a:lstStyle/>
                    <a:p>
                      <a:pPr algn="l"/>
                      <a:r>
                        <a:rPr lang="ja-JP" sz="1200" b="1">
                          <a:solidFill>
                            <a:srgbClr val="1F2A5C"/>
                          </a:solidFill>
                          <a:latin typeface="メイリオ"/>
                          <a:ea typeface="メイリオ"/>
                          <a:cs typeface="メイリオ"/>
                        </a:rPr>
                        <a:t>⑧ ファン化・紹介</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サロンに入会</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継続利用・紹介まで届きにくい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イベント案内・紹介（中長期）</a:t>
                      </a:r>
                    </a:p>
                  </a:txBody>
                  <a:tcPr marR="73152" anchor="ctr">
                    <a:solidFill>
                      <a:srgbClr val="F5F7FA"/>
                    </a:solidFill>
                  </a:tcPr>
                </a:tc>
                <a:extLst>
                  <a:ext uri="{0D108BD9-81ED-4DB2-BD59-A6C34878D82A}">
                    <a16:rowId xmlns:a16="http://schemas.microsoft.com/office/drawing/2014/main" val="10008"/>
                  </a:ext>
                </a:extLst>
              </a:tr>
            </a:tbl>
          </a:graphicData>
        </a:graphic>
      </p:graphicFrame>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8</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フェーズごとのユーザー心理・離脱課題・</a:t>
            </a: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LINE OA</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の役割を一覧化し、以降の施策設計の土台とする。</a:t>
            </a:r>
            <a:endParaRPr lang="ja-JP" altLang="ja-JP" sz="1100" dirty="0">
              <a:effectLst/>
              <a:latin typeface="メイリオ" panose="02020603050405020304" pitchFamily="18" charset="0"/>
              <a:ea typeface="メイリオ" panose="02020400000000000000" pitchFamily="18" charset="-128"/>
              <a:cs typeface="メイリオ"/>
            </a:endParaRPr>
          </a:p>
        </p:txBody>
      </p:sp>
    </p:spTree>
    <p:extLst>
      <p:ext uri="{BB962C8B-B14F-4D97-AF65-F5344CB8AC3E}">
        <p14:creationId xmlns:p14="http://schemas.microsoft.com/office/powerpoint/2010/main" val="35712723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入会</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・見どころ動画</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246221"/>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平常期の配信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※個別チャットは貴社で対応（自動応答などの効率化は弊社で設定）</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A337D-17CA-E6E5-D505-2573F42DF1AE}"/>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764D8A5C-7B4A-390C-FB5B-FB3131C930A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EEFB8B0A-6EC5-1DE8-1B6D-A4065AE6AEA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14EC833-F0FA-AEDA-4F48-B979DDE0410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配信の出し分け：予約した方／予約していない方</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7E6A42B-1136-E29F-50E6-B072A610CB01}"/>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出し分けの考え方</a:t>
            </a:r>
          </a:p>
        </p:txBody>
      </p:sp>
      <p:sp>
        <p:nvSpPr>
          <p:cNvPr id="6" name="LeftHeader">
            <a:extLst>
              <a:ext uri="{FF2B5EF4-FFF2-40B4-BE49-F238E27FC236}">
                <a16:creationId xmlns:a16="http://schemas.microsoft.com/office/drawing/2014/main" id="{88B8ADE6-2320-90DE-4B5D-0E825050A440}"/>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04B17781-2CE9-1794-B996-D203F2127177}"/>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83D7B48F-F108-1D28-80D9-9B07405A3AF3}"/>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854968D2-9B97-28FB-49F7-CCBD26E2F10D}"/>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次のイベントの案内を、開催が決まり次第届けられる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C13E0556-1137-A003-99B5-1CC8EE085C44}"/>
              </a:ext>
            </a:extLst>
          </p:cNvPr>
          <p:cNvSpPr txBox="1"/>
          <p:nvPr/>
        </p:nvSpPr>
        <p:spPr>
          <a:xfrm>
            <a:off x="381000" y="4554727"/>
            <a:ext cx="9144000" cy="123444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友だち追加の流入経路（離脱防止ポップアップ／予約完了後のご案内）で分け、予約した方は当日の参加へ、</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予約していない方は平常期の配信で次のイベントへつなげる。流入経路だけでは予約・参加・入会の状況をすべて把握できないため、状況に応じた出し分けは、連携の仕様を確認のうえ設計。</a:t>
            </a:r>
          </a:p>
        </p:txBody>
      </p:sp>
    </p:spTree>
    <p:extLst>
      <p:ext uri="{BB962C8B-B14F-4D97-AF65-F5344CB8AC3E}">
        <p14:creationId xmlns:p14="http://schemas.microsoft.com/office/powerpoint/2010/main" val="3203648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¥335,000程度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平常期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¥365,000程度／平常期 ¥165,000〜）</a:t>
            </a:r>
            <a:endParaRPr lang="ja-JP" altLang="en-US" sz="1200" dirty="0">
              <a:latin typeface="メイリオ"/>
              <a:ea typeface="メイリオ"/>
              <a:cs typeface="メイリオ"/>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nvGraphicFramePr>
        <p:xfrm>
          <a:off x="384048" y="1353312"/>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月額費用（平常期）</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335,000円程度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365,000円程度（＋30,000円〜）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39" name="注記"/>
          <p:cNvSpPr/>
          <p:nvPr/>
        </p:nvSpPr>
        <p:spPr>
          <a:xfrm>
            <a:off x="420624" y="4754880"/>
            <a:ext cx="9052560" cy="96012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※月額費用＝コンサルティング費（平常期 100,000円／セミナー開催月 300,000円程度）＋ツール・LINE関連費（推奨構成 35,000円〜＝ポップアップ 30,000円＋LINE公式アカウント利用料 5,000円〜）</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※初期費用（推奨構成）＝運用設計・構築 100,000円〜＋ポップアップ 15,000円＋LINE公式アカウント開設 30,000円</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※ポップアップ・サンクスLINE誘導はどちらも選択制。ポップアップも導入しない場合の参考：初期 130,000円〜／平常期 105,000円〜／開催月 305,000円程度（別途の実装・制作費等は含まない）</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※サンクスLINE誘導の最低利用期間・停止条件（セミナー開催月だけの利用可否）は、確認のうえご案内</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※契約期間は6か月。広告費は含まない。施策内容・配信本数・連携範囲等により、費用は個別にお見積もりいたします。</a:t>
            </a:r>
            <a:endParaRPr lang="ja-JP" altLang="en-US" sz="1200" dirty="0">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300,000円程度</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
        <p:nvSpPr>
          <p:cNvPr id="640" name="注記"/>
          <p:cNvSpPr/>
          <p:nvPr/>
        </p:nvSpPr>
        <p:spPr>
          <a:xfrm>
            <a:off x="384048" y="53035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※初期費用＝運用設計・構築 100,000円〜＋ポップアップ 15,000円＋LINE公式アカウント開設 30,000円</a:t>
            </a:r>
            <a:endParaRPr lang="ja-JP" altLang="en-US" sz="1200" dirty="0">
              <a:latin typeface="メイリオ"/>
              <a:ea typeface="メイリオ"/>
              <a:cs typeface="メイリオ"/>
            </a:endParaRPr>
          </a:p>
        </p:txBody>
      </p:sp>
      <p:sp>
        <p:nvSpPr>
          <p:cNvPr id="641" name="注記"/>
          <p:cNvSpPr/>
          <p:nvPr/>
        </p:nvSpPr>
        <p:spPr>
          <a:xfrm>
            <a:off x="384048" y="55321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※月額ツール・LINE関連費＝ポップアップ 30,000円＋LINE公式アカウント利用料 5,000円〜</a:t>
            </a:r>
            <a:endParaRPr lang="ja-JP" altLang="en-US" sz="1200" dirty="0">
              <a:latin typeface="メイリオ"/>
              <a:ea typeface="メイリオ"/>
              <a:cs typeface="メイリオ"/>
            </a:endParaRPr>
          </a:p>
        </p:txBody>
      </p:sp>
      <p:sp>
        <p:nvSpPr>
          <p:cNvPr id="642" name="注記"/>
          <p:cNvSpPr/>
          <p:nvPr/>
        </p:nvSpPr>
        <p:spPr>
          <a:xfrm>
            <a:off x="384048" y="57607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※ツールは選択制。サンクスLINE誘導を追加する場合は、初期＋150,000円・月額＋30,000円〜（ポップアップを導入しない場合は、初期−15,000円・月額−30,000円）</a:t>
            </a:r>
            <a:endParaRPr lang="ja-JP" altLang="en-US" sz="1200" dirty="0">
              <a:latin typeface="メイリオ"/>
              <a:ea typeface="メイリオ"/>
              <a:cs typeface="メイリオ"/>
            </a:endParaRPr>
          </a:p>
        </p:txBody>
      </p:sp>
      <p:sp>
        <p:nvSpPr>
          <p:cNvPr id="643" name="注記"/>
          <p:cNvSpPr/>
          <p:nvPr/>
        </p:nvSpPr>
        <p:spPr>
          <a:xfrm>
            <a:off x="384048" y="59893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※成果報酬型プラン：初期 145,000円〜／月額 35,000円〜＋成果報酬（セミナー予約 12,000円／件）。ツールの追加は上記と同じ</a:t>
            </a:r>
            <a:endParaRPr lang="ja-JP" altLang="en-US" sz="1200" dirty="0">
              <a:latin typeface="メイリオ"/>
              <a:ea typeface="メイリオ"/>
              <a:cs typeface="メイリオ"/>
            </a:endParaRPr>
          </a:p>
        </p:txBody>
      </p:sp>
      <p:sp>
        <p:nvSpPr>
          <p:cNvPr id="644" name="注記"/>
          <p:cNvSpPr/>
          <p:nvPr/>
        </p:nvSpPr>
        <p:spPr>
          <a:xfrm>
            <a:off x="384048" y="62179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※契約期間は6か月。広告費は含まない。施策内容・配信本数・連携範囲等により、費用は個別にお見積もりいたします。</a:t>
            </a:r>
            <a:endParaRPr lang="ja-JP" altLang="en-US" sz="1200" dirty="0">
              <a:latin typeface="メイリオ"/>
              <a:ea typeface="メイリオ"/>
              <a:cs typeface="メイリオ"/>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2955272464"/>
              </p:ext>
            </p:extLst>
          </p:nvPr>
        </p:nvGraphicFramePr>
        <p:xfrm>
          <a:off x="384048" y="1353312"/>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 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 月3回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注記"/>
          <p:cNvSpPr/>
          <p:nvPr/>
        </p:nvSpPr>
        <p:spPr>
          <a:xfrm>
            <a:off x="420624" y="5120640"/>
            <a:ext cx="9052560" cy="5943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※月額のコンサルティング費には、企画配信の制作に加え、LINEアカウントの運用・導線の管理・ステップ配信の改善・配信結果の分析・次回施策への改善提案を含む</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※平常期の配信は、次のイベントまで関係を保つためのもの（配信の回数を増やすこと自体は目的にしない）</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※前日・当日のリマインドは、企画配信とは別に、予約ごとに配信。契約期間は6か月</a:t>
            </a:r>
            <a:endParaRPr lang="ja-JP" altLang="en-US" sz="1200" dirty="0">
              <a:latin typeface="メイリオ"/>
              <a:ea typeface="メイリオ"/>
              <a:cs typeface="メイリオ"/>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流入経路ごとにステップ配信を構築し、CV数の増加を図る。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nvGraphicFramePr>
        <p:xfrm>
          <a:off x="420624" y="1600200"/>
          <a:ext cx="9052560" cy="3931920"/>
        </p:xfrm>
        <a:graphic>
          <a:graphicData uri="http://schemas.openxmlformats.org/drawingml/2006/table">
            <a:tbl>
              <a:tblPr/>
              <a:tblGrid>
                <a:gridCol w="18288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離脱防止ポップアップ（導入推奨）／予約完了後の友だち追加：サンクスLINE誘導（追加オプション）または通常のご案内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あいさつメッセージ・見どころ動画・参加特典（必要に応じて、簡易的な興味分野の把握）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セミナー内容の振り返り／オンラインサロンの内容紹介・入会のご案内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平常期</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
        <p:nvSpPr>
          <p:cNvPr id="23" name="ツールの位置づけ"/>
          <p:cNvSpPr/>
          <p:nvPr/>
        </p:nvSpPr>
        <p:spPr>
          <a:xfrm>
            <a:off x="3749039" y="1316736"/>
            <a:ext cx="1371600" cy="484632"/>
          </a:xfrm>
          <a:prstGeom prst="rect">
            <a:avLst/>
          </a:prstGeom>
          <a:solidFill>
            <a:srgbClr val="FFFFFF"/>
          </a:solidFill>
          <a:ln w="19050">
            <a:solidFill>
              <a:srgbClr val="1F2A5C"/>
            </a:solidFill>
          </a:ln>
        </p:spPr>
        <p:txBody>
          <a:bodyPr wrap="square" lIns="45720" tIns="18288" rIns="45720"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任意・導入推奨</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2713348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セミナーLPへ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
        <p:nvSpPr>
          <p:cNvPr id="75" name="ツールの位置づけ"/>
          <p:cNvSpPr/>
          <p:nvPr/>
        </p:nvSpPr>
        <p:spPr>
          <a:xfrm>
            <a:off x="3749039" y="1316736"/>
            <a:ext cx="1371600" cy="484632"/>
          </a:xfrm>
          <a:prstGeom prst="rect">
            <a:avLst/>
          </a:prstGeom>
          <a:solidFill>
            <a:srgbClr val="FFFFFF"/>
          </a:solidFill>
          <a:ln w="19050">
            <a:solidFill>
              <a:srgbClr val="1F2A5C"/>
            </a:solidFill>
          </a:ln>
        </p:spPr>
        <p:txBody>
          <a:bodyPr wrap="square" lIns="45720" tIns="18288" rIns="45720"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任意・導入推奨</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0589334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5" name="ツールの位置づけ"/>
          <p:cNvSpPr/>
          <p:nvPr/>
        </p:nvSpPr>
        <p:spPr>
          <a:xfrm>
            <a:off x="7269480" y="841248"/>
            <a:ext cx="1463040" cy="484632"/>
          </a:xfrm>
          <a:prstGeom prst="rect">
            <a:avLst/>
          </a:prstGeom>
          <a:solidFill>
            <a:srgbClr val="FFFFFF"/>
          </a:solidFill>
          <a:ln w="19050">
            <a:solidFill>
              <a:srgbClr val="1F2A5C"/>
            </a:solidFill>
          </a:ln>
        </p:spPr>
        <p:txBody>
          <a:bodyPr wrap="square" lIns="45720" tIns="18288" rIns="45720"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追加オプション</a:t>
            </a:r>
            <a:endParaRPr lang="ja-JP" altLang="en-US" sz="1200" dirty="0">
              <a:latin typeface="メイリオ"/>
              <a:ea typeface="メイリオ"/>
              <a:cs typeface="メイリオ"/>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友だち追加から15日ほどで反応が下がり、ブロックも増えやすい。</a:t>
            </a:r>
          </a:p>
          <a:p>
            <a:r>
              <a:rPr lang="ja-JP" altLang="en-US" sz="1600" b="1" dirty="0">
                <a:latin typeface="メイリオ" panose="020B0604030504040204" pitchFamily="50" charset="-128"/>
                <a:ea typeface="メイリオ" panose="020B0604030504040204" pitchFamily="50" charset="-128"/>
                <a:cs typeface="メイリオ"/>
                <a:sym typeface="Meiryo"/>
              </a:rPr>
              <a:t>そのため、段階に合わせて配信を変え、イベントのない時期は回数を絞る。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友だち追加直後のステップ配信（5通・案）</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追加直後の関心が高いうちに、セミナーの中身と参加の判断材料を届ける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ステップ 追加直後"/>
          <p:cNvSpPr/>
          <p:nvPr/>
        </p:nvSpPr>
        <p:spPr>
          <a:xfrm>
            <a:off x="420624"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追加直後</a:t>
            </a:r>
            <a:endParaRPr lang="ja-JP" altLang="en-US" sz="1200" dirty="0">
              <a:latin typeface="メイリオ"/>
              <a:ea typeface="メイリオ"/>
              <a:cs typeface="メイリオ"/>
            </a:endParaRPr>
          </a:p>
        </p:txBody>
      </p:sp>
      <p:sp>
        <p:nvSpPr>
          <p:cNvPr id="51" name="配信 追加直後"/>
          <p:cNvSpPr/>
          <p:nvPr/>
        </p:nvSpPr>
        <p:spPr>
          <a:xfrm>
            <a:off x="420624"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あいさつ・参加特典</a:t>
            </a:r>
            <a:endParaRPr lang="ja-JP" altLang="en-US" sz="1200" dirty="0">
              <a:latin typeface="メイリオ"/>
              <a:ea typeface="メイリオ"/>
              <a:cs typeface="メイリオ"/>
            </a:endParaRPr>
          </a:p>
        </p:txBody>
      </p:sp>
      <p:sp>
        <p:nvSpPr>
          <p:cNvPr id="52" name="内容 追加直後"/>
          <p:cNvSpPr/>
          <p:nvPr/>
        </p:nvSpPr>
        <p:spPr>
          <a:xfrm>
            <a:off x="420624"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参加特典をご案内。必要に応じて、興味分野を1問で確認（保険営業の方向け／一般の方向け）</a:t>
            </a:r>
            <a:endParaRPr lang="ja-JP" altLang="en-US" sz="1200" dirty="0">
              <a:latin typeface="メイリオ"/>
              <a:ea typeface="メイリオ"/>
              <a:cs typeface="メイリオ"/>
            </a:endParaRPr>
          </a:p>
        </p:txBody>
      </p:sp>
      <p:sp>
        <p:nvSpPr>
          <p:cNvPr id="53" name="ステップ 1〜2日後"/>
          <p:cNvSpPr/>
          <p:nvPr/>
        </p:nvSpPr>
        <p:spPr>
          <a:xfrm>
            <a:off x="2258568"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1〜2日後</a:t>
            </a:r>
            <a:endParaRPr lang="ja-JP" altLang="en-US" sz="1200" dirty="0">
              <a:latin typeface="メイリオ"/>
              <a:ea typeface="メイリオ"/>
              <a:cs typeface="メイリオ"/>
            </a:endParaRPr>
          </a:p>
        </p:txBody>
      </p:sp>
      <p:sp>
        <p:nvSpPr>
          <p:cNvPr id="54" name="配信 1〜2日後"/>
          <p:cNvSpPr/>
          <p:nvPr/>
        </p:nvSpPr>
        <p:spPr>
          <a:xfrm>
            <a:off x="2258568"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見どころ動画</a:t>
            </a:r>
            <a:endParaRPr lang="ja-JP" altLang="en-US" sz="1200" dirty="0">
              <a:latin typeface="メイリオ"/>
              <a:ea typeface="メイリオ"/>
              <a:cs typeface="メイリオ"/>
            </a:endParaRPr>
          </a:p>
        </p:txBody>
      </p:sp>
      <p:sp>
        <p:nvSpPr>
          <p:cNvPr id="55" name="内容 1〜2日後"/>
          <p:cNvSpPr/>
          <p:nvPr/>
        </p:nvSpPr>
        <p:spPr>
          <a:xfrm>
            <a:off x="2258568"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両想い営業・ライフプランブロックなど、セミナーの見どころを動画で紹介</a:t>
            </a:r>
            <a:endParaRPr lang="ja-JP" altLang="en-US" sz="1200" dirty="0">
              <a:latin typeface="メイリオ"/>
              <a:ea typeface="メイリオ"/>
              <a:cs typeface="メイリオ"/>
            </a:endParaRPr>
          </a:p>
        </p:txBody>
      </p:sp>
      <p:sp>
        <p:nvSpPr>
          <p:cNvPr id="56" name="ステップ 4〜5日後"/>
          <p:cNvSpPr/>
          <p:nvPr/>
        </p:nvSpPr>
        <p:spPr>
          <a:xfrm>
            <a:off x="4096512"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4〜5日後</a:t>
            </a:r>
            <a:endParaRPr lang="ja-JP" altLang="en-US" sz="1200" dirty="0">
              <a:latin typeface="メイリオ"/>
              <a:ea typeface="メイリオ"/>
              <a:cs typeface="メイリオ"/>
            </a:endParaRPr>
          </a:p>
        </p:txBody>
      </p:sp>
      <p:sp>
        <p:nvSpPr>
          <p:cNvPr id="57" name="配信 4〜5日後"/>
          <p:cNvSpPr/>
          <p:nvPr/>
        </p:nvSpPr>
        <p:spPr>
          <a:xfrm>
            <a:off x="4096512"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p:txBody>
      </p:sp>
      <p:sp>
        <p:nvSpPr>
          <p:cNvPr id="58" name="内容 4〜5日後"/>
          <p:cNvSpPr/>
          <p:nvPr/>
        </p:nvSpPr>
        <p:spPr>
          <a:xfrm>
            <a:off x="4096512"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面談の進め方が変わった受講生の声を紹介</a:t>
            </a:r>
            <a:endParaRPr lang="ja-JP" altLang="en-US" sz="1200" dirty="0">
              <a:latin typeface="メイリオ"/>
              <a:ea typeface="メイリオ"/>
              <a:cs typeface="メイリオ"/>
            </a:endParaRPr>
          </a:p>
        </p:txBody>
      </p:sp>
      <p:sp>
        <p:nvSpPr>
          <p:cNvPr id="59" name="ステップ 8〜9日後"/>
          <p:cNvSpPr/>
          <p:nvPr/>
        </p:nvSpPr>
        <p:spPr>
          <a:xfrm>
            <a:off x="5934456"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8〜9日後</a:t>
            </a:r>
            <a:endParaRPr lang="ja-JP" altLang="en-US" sz="1200" dirty="0">
              <a:latin typeface="メイリオ"/>
              <a:ea typeface="メイリオ"/>
              <a:cs typeface="メイリオ"/>
            </a:endParaRPr>
          </a:p>
        </p:txBody>
      </p:sp>
      <p:sp>
        <p:nvSpPr>
          <p:cNvPr id="60" name="配信 8〜9日後"/>
          <p:cNvSpPr/>
          <p:nvPr/>
        </p:nvSpPr>
        <p:spPr>
          <a:xfrm>
            <a:off x="5934456"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61" name="内容 8〜9日後"/>
          <p:cNvSpPr/>
          <p:nvPr/>
        </p:nvSpPr>
        <p:spPr>
          <a:xfrm>
            <a:off x="5934456"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62" name="ステップ 12〜15日後"/>
          <p:cNvSpPr/>
          <p:nvPr/>
        </p:nvSpPr>
        <p:spPr>
          <a:xfrm>
            <a:off x="7772400"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12〜15日後</a:t>
            </a:r>
            <a:endParaRPr lang="ja-JP" altLang="en-US" sz="1200" dirty="0">
              <a:latin typeface="メイリオ"/>
              <a:ea typeface="メイリオ"/>
              <a:cs typeface="メイリオ"/>
            </a:endParaRPr>
          </a:p>
        </p:txBody>
      </p:sp>
      <p:sp>
        <p:nvSpPr>
          <p:cNvPr id="63" name="配信 12〜15日後"/>
          <p:cNvSpPr/>
          <p:nvPr/>
        </p:nvSpPr>
        <p:spPr>
          <a:xfrm>
            <a:off x="7772400"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次回セミナーのご案内</a:t>
            </a:r>
            <a:endParaRPr lang="ja-JP" altLang="en-US" sz="1200" dirty="0">
              <a:latin typeface="メイリオ"/>
              <a:ea typeface="メイリオ"/>
              <a:cs typeface="メイリオ"/>
            </a:endParaRPr>
          </a:p>
        </p:txBody>
      </p:sp>
      <p:sp>
        <p:nvSpPr>
          <p:cNvPr id="64" name="内容 12〜15日後"/>
          <p:cNvSpPr/>
          <p:nvPr/>
        </p:nvSpPr>
        <p:spPr>
          <a:xfrm>
            <a:off x="7772400"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開催日程と予約ページをご案内（募集期間外は、案内開始時にお届け）</a:t>
            </a:r>
            <a:endParaRPr lang="ja-JP" altLang="en-US" sz="1200" dirty="0">
              <a:latin typeface="メイリオ"/>
              <a:ea typeface="メイリオ"/>
              <a:cs typeface="メイリオ"/>
            </a:endParaRPr>
          </a:p>
        </p:txBody>
      </p:sp>
      <p:sp>
        <p:nvSpPr>
          <p:cNvPr id="65" name="注記"/>
          <p:cNvSpPr/>
          <p:nvPr/>
        </p:nvSpPr>
        <p:spPr>
          <a:xfrm>
            <a:off x="420624" y="4617720"/>
            <a:ext cx="9052560" cy="5943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※配信内容は、貴社LPの「生産性4倍セミナーの特徴」「受講生の声」「よくある質問」をもとにした例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※一般の方向けを選んだ方には、一般の方向けの案内を中心に配信</a:t>
            </a:r>
            <a:endParaRPr lang="ja-JP" altLang="en-US" sz="1200" dirty="0">
              <a:latin typeface="メイリオ"/>
              <a:ea typeface="メイリオ"/>
              <a:cs typeface="メイリオ"/>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関心が高いうちに、サロンをご案内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谷岡様の経歴：契約件数全国1位で表彰・週2日の営業で毎年TOT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導入前に確認させていただきたい事項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契約前に確認する事項と、運用開始後に調整できる事項を分けて整理する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確認事項 49"/>
          <p:cNvGraphicFramePr>
            <a:graphicFrameLocks noGrp="1"/>
          </p:cNvGraphicFramePr>
          <p:nvPr/>
        </p:nvGraphicFramePr>
        <p:xfrm>
          <a:off x="420624" y="1600200"/>
          <a:ext cx="9052560" cy="3995928"/>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区分</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確認させていただきたいこと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rowSpan="5">
                  <a:txBody>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契約前に確認</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予約・参加情報との紐づけ</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予約システム・フォーム・顧客管理の情報と、LINEの友だちを紐づけられるか（難しい場合は流入経路での出し分け・全体配信が基本）</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サンクスLINE誘導の導入</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導入するかどうか。導入する場合は、最低利用期間・停止条件（セミナー開催月だけの利用可否）</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通常の友だち追加ボタン</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予約完了ページへの設置可否・費用・実装条件</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SIMと成果の計測方法</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セミナー予約・サロン入会を、LINEからの件数とするか、広告からの予約も含めるか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成果報酬型プラン（別案）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成果地点の定義・重複計上の有無・計測方法（成果報酬単価 12,000円／件）</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rowSpan="3">
                  <a:txBody>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運用開始後に調整</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一般の方向けセミナー</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同じLINE公式アカウントでの配信の出し分け（流入経路の分け方・配信内容）</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r h="41148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月1〜2回の範囲での回数・内容</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7"/>
                  </a:ext>
                </a:extLst>
              </a:tr>
              <a:tr h="41148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興味分野の確認</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友だち追加直後の簡易アンケートを入れるかどうか（必要最小限の1問程度）</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8"/>
                  </a:ext>
                </a:extLst>
              </a:tr>
            </a:tbl>
          </a:graphicData>
        </a:graphic>
      </p:graphicFrame>
      <p:sp>
        <p:nvSpPr>
          <p:cNvPr id="51" name="注記"/>
          <p:cNvSpPr/>
          <p:nvPr/>
        </p:nvSpPr>
        <p:spPr>
          <a:xfrm>
            <a:off x="420624" y="580644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※データ連携が必要な高度な施策は、別途要件定義・お見積りのうえ実施</a:t>
            </a:r>
            <a:endParaRPr lang="ja-JP" altLang="en-US" sz="1200" dirty="0">
              <a:latin typeface="メイリオ"/>
              <a:ea typeface="メイリオ"/>
              <a:cs typeface="メイリオ"/>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6099048"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※契約期間は6か月。貴社作業・確認にかかる時間により前後する場合がある。</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LINEステップ配信シナリオ（5通）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興味分野の把握（簡易アンケート）</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セミナー開催月・平常期の企画配信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開催月は月4〜5回、平常期は月1〜2回の配信案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お金への関心は高まる一方で、学ぶ機会は少ない</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資産形成を始める方は増えているのに、金融について学んでいない方が約9割</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nvGraphicFramePr>
        <p:xfrm>
          <a:off x="420624" y="1645920"/>
          <a:ext cx="9052560" cy="285496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NISA口座数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2,125万 → 2024年末 2,559万 → 2025年末 2,821万口座（政府目標：2027年末までに3,400万口座）</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資産形成を始める方は増え続けている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NISAの累計買付額</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35兆円 → 2024年末 53兆円 → 2025年末 71兆円。2027年末の政府目標56兆円をすでに超えた</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実際にお金が動いている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金融経済教育</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「受けたと認識している」方は8.7%。一方で67.5%が「学校で行うべき」と回答</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学ぶ機会は少なく、学びたいニーズは大きい</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知識・計画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金融リテラシーの正答率は53.8%（前回から1.9ポイント低下）。老後の資金計画をたてている方は40.1%、商品性を理解せずに投資信託を買った方は29.3%</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相談に乗れる方が求められている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2" name="示唆"/>
          <p:cNvSpPr/>
          <p:nvPr/>
        </p:nvSpPr>
        <p:spPr>
          <a:xfrm>
            <a:off x="420624" y="466547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お金への関心が高まる一方で、学ぶ機会は少ない。保険営業の方にとって、相談につながるチャンスが増えている。一般の方向けのマネーセミナーも、LINEで次回の案内を続けられる。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NISA口座数・買付額：金融庁「NISAの利用状況」（2025年12月末時点）／金融経済教育・正答率・資金計画・投資信託：金融経済教育推進機構（J-FLEC）「金融リテラシー調査（2025年）」（2026年3月27日公表、30,000人）</a:t>
            </a:r>
            <a:endParaRPr lang="ja-JP" altLang="en-US" sz="1200" dirty="0"/>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142249</TotalTime>
  <Words>8026</Words>
  <Application>Microsoft Office PowerPoint</Application>
  <PresentationFormat>A4 210 x 297 mm</PresentationFormat>
  <Paragraphs>1350</Paragraphs>
  <Slides>62</Slides>
  <Notes>22</Notes>
  <HiddenSlides>3</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62</vt:i4>
      </vt:variant>
    </vt:vector>
  </HeadingPairs>
  <TitlesOfParts>
    <vt:vector size="68"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1953</cp:revision>
  <cp:lastPrinted>2022-11-01T11:38:14Z</cp:lastPrinted>
  <dcterms:created xsi:type="dcterms:W3CDTF">2015-09-04T09:21:15Z</dcterms:created>
  <dcterms:modified xsi:type="dcterms:W3CDTF">2026-10-20T09:12:38Z</dcterms:modified>
</cp:coreProperties>
</file>