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media/image44.svg" ContentType="image/svg+xml"/>
  <Override PartName="/ppt/media/image45.svg" ContentType="image/svg+xml"/>
  <Override PartName="/ppt/media/image46.svg" ContentType="image/svg+xml"/>
  <Override PartName="/ppt/media/image47.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7"/>
  </p:notesMasterIdLst>
  <p:sldIdLst>
    <p:sldId id="319" r:id="rId2"/>
    <p:sldId id="2726" r:id="rId3"/>
    <p:sldId id="3150" r:id="rId4"/>
    <p:sldId id="2721" r:id="rId5"/>
    <p:sldId id="2723" r:id="rId6"/>
    <p:sldId id="2724" r:id="rId7"/>
    <p:sldId id="2364" r:id="rId8"/>
    <p:sldId id="2365" r:id="rId9"/>
    <p:sldId id="2725" r:id="rId10"/>
    <p:sldId id="2913" r:id="rId11"/>
    <p:sldId id="311" r:id="rId12"/>
    <p:sldId id="3151" r:id="rId13"/>
    <p:sldId id="305" r:id="rId14"/>
    <p:sldId id="312" r:id="rId15"/>
    <p:sldId id="333" r:id="rId16"/>
    <p:sldId id="334" r:id="rId17"/>
    <p:sldId id="3152" r:id="rId18"/>
    <p:sldId id="306" r:id="rId19"/>
    <p:sldId id="313" r:id="rId20"/>
    <p:sldId id="3153" r:id="rId21"/>
    <p:sldId id="310" r:id="rId22"/>
    <p:sldId id="314" r:id="rId23"/>
    <p:sldId id="335" r:id="rId24"/>
    <p:sldId id="315" r:id="rId25"/>
    <p:sldId id="336" r:id="rId26"/>
    <p:sldId id="337" r:id="rId27"/>
    <p:sldId id="338" r:id="rId28"/>
    <p:sldId id="339" r:id="rId29"/>
    <p:sldId id="3154" r:id="rId30"/>
    <p:sldId id="309" r:id="rId31"/>
    <p:sldId id="318" r:id="rId32"/>
    <p:sldId id="301" r:id="rId33"/>
    <p:sldId id="320" r:id="rId34"/>
    <p:sldId id="321" r:id="rId35"/>
    <p:sldId id="322" r:id="rId36"/>
    <p:sldId id="323" r:id="rId37"/>
    <p:sldId id="324" r:id="rId38"/>
    <p:sldId id="325" r:id="rId39"/>
    <p:sldId id="326" r:id="rId40"/>
    <p:sldId id="327" r:id="rId41"/>
    <p:sldId id="328" r:id="rId42"/>
    <p:sldId id="329" r:id="rId43"/>
    <p:sldId id="330" r:id="rId44"/>
    <p:sldId id="331" r:id="rId45"/>
    <p:sldId id="332" r:id="rId46"/>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4" d="100"/>
          <a:sy n="104" d="100"/>
        </p:scale>
        <p:origin x="1578"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autoTitleDeleted val="1"/>
    <c:plotArea>
      <c:layout/>
      <c:barChart>
        <c:barDir val="col"/>
        <c:grouping val="clustered"/>
        <c:varyColors val="1"/>
        <c:ser>
          <c:idx val="0"/>
          <c:order val="0"/>
          <c:tx>
            <c:strRef>
              <c:f>Sheet1!$B$1</c:f>
              <c:strCache>
                <c:ptCount val="1"/>
                <c:pt idx="0">
                  <c:v>平屋</c:v>
                </c:pt>
              </c:strCache>
            </c:strRef>
          </c:tx>
          <c:invertIfNegative val="1"/>
          <c:dPt>
            <c:idx val="0"/>
            <c:invertIfNegative val="1"/>
            <c:bubble3D val="0"/>
            <c:spPr>
              <a:solidFill>
                <a:srgbClr val="1F285A"/>
              </a:solidFill>
            </c:spPr>
            <c:extLst>
              <c:ext xmlns:c16="http://schemas.microsoft.com/office/drawing/2014/chart" uri="{C3380CC4-5D6E-409C-BE32-E72D297353CC}">
                <c16:uniqueId val="{00000001-E4DC-4448-802D-983EA201CFED}"/>
              </c:ext>
            </c:extLst>
          </c:dPt>
          <c:dPt>
            <c:idx val="1"/>
            <c:invertIfNegative val="1"/>
            <c:bubble3D val="0"/>
            <c:spPr>
              <a:solidFill>
                <a:srgbClr val="1F285A"/>
              </a:solidFill>
            </c:spPr>
            <c:extLst>
              <c:ext xmlns:c16="http://schemas.microsoft.com/office/drawing/2014/chart" uri="{C3380CC4-5D6E-409C-BE32-E72D297353CC}">
                <c16:uniqueId val="{00000003-E4DC-4448-802D-983EA201CFED}"/>
              </c:ext>
            </c:extLst>
          </c:dPt>
          <c:dPt>
            <c:idx val="2"/>
            <c:invertIfNegative val="1"/>
            <c:bubble3D val="0"/>
            <c:spPr>
              <a:solidFill>
                <a:srgbClr val="C9CEDF"/>
              </a:solidFill>
            </c:spPr>
            <c:extLst>
              <c:ext xmlns:c16="http://schemas.microsoft.com/office/drawing/2014/chart" uri="{C3380CC4-5D6E-409C-BE32-E72D297353CC}">
                <c16:uniqueId val="{00000005-E4DC-4448-802D-983EA201CFED}"/>
              </c:ext>
            </c:extLst>
          </c:dPt>
          <c:dPt>
            <c:idx val="3"/>
            <c:invertIfNegative val="1"/>
            <c:bubble3D val="0"/>
            <c:spPr>
              <a:solidFill>
                <a:srgbClr val="C9CEDF"/>
              </a:solidFill>
            </c:spPr>
            <c:extLst>
              <c:ext xmlns:c16="http://schemas.microsoft.com/office/drawing/2014/chart" uri="{C3380CC4-5D6E-409C-BE32-E72D297353CC}">
                <c16:uniqueId val="{00000007-E4DC-4448-802D-983EA201CFED}"/>
              </c:ext>
            </c:extLst>
          </c:dPt>
          <c:dPt>
            <c:idx val="4"/>
            <c:invertIfNegative val="1"/>
            <c:bubble3D val="0"/>
            <c:spPr>
              <a:solidFill>
                <a:srgbClr val="C9CEDF"/>
              </a:solidFill>
            </c:spPr>
            <c:extLst>
              <c:ext xmlns:c16="http://schemas.microsoft.com/office/drawing/2014/chart" uri="{C3380CC4-5D6E-409C-BE32-E72D297353CC}">
                <c16:uniqueId val="{00000009-E4DC-4448-802D-983EA201CFED}"/>
              </c:ext>
            </c:extLst>
          </c:dPt>
          <c:dPt>
            <c:idx val="5"/>
            <c:invertIfNegative val="1"/>
            <c:bubble3D val="0"/>
            <c:spPr>
              <a:solidFill>
                <a:srgbClr val="C9CEDF"/>
              </a:solidFill>
            </c:spPr>
            <c:extLst>
              <c:ext xmlns:c16="http://schemas.microsoft.com/office/drawing/2014/chart" uri="{C3380CC4-5D6E-409C-BE32-E72D297353CC}">
                <c16:uniqueId val="{0000000B-E4DC-4448-802D-983EA201CFED}"/>
              </c:ext>
            </c:extLst>
          </c:dPt>
          <c:dPt>
            <c:idx val="6"/>
            <c:invertIfNegative val="1"/>
            <c:bubble3D val="0"/>
            <c:spPr>
              <a:solidFill>
                <a:srgbClr val="C9CEDF"/>
              </a:solidFill>
            </c:spPr>
            <c:extLst>
              <c:ext xmlns:c16="http://schemas.microsoft.com/office/drawing/2014/chart" uri="{C3380CC4-5D6E-409C-BE32-E72D297353CC}">
                <c16:uniqueId val="{0000000D-E4DC-4448-802D-983EA201CFED}"/>
              </c:ext>
            </c:extLst>
          </c:dPt>
          <c:dPt>
            <c:idx val="7"/>
            <c:invertIfNegative val="1"/>
            <c:bubble3D val="0"/>
            <c:spPr>
              <a:solidFill>
                <a:srgbClr val="C9CEDF"/>
              </a:solidFill>
            </c:spPr>
            <c:extLst>
              <c:ext xmlns:c16="http://schemas.microsoft.com/office/drawing/2014/chart" uri="{C3380CC4-5D6E-409C-BE32-E72D297353CC}">
                <c16:uniqueId val="{0000000F-E4DC-4448-802D-983EA201CFED}"/>
              </c:ext>
            </c:extLst>
          </c:dPt>
          <c:dPt>
            <c:idx val="8"/>
            <c:invertIfNegative val="1"/>
            <c:bubble3D val="0"/>
            <c:spPr>
              <a:solidFill>
                <a:srgbClr val="C9CEDF"/>
              </a:solidFill>
            </c:spPr>
            <c:extLst>
              <c:ext xmlns:c16="http://schemas.microsoft.com/office/drawing/2014/chart" uri="{C3380CC4-5D6E-409C-BE32-E72D297353CC}">
                <c16:uniqueId val="{00000011-E4DC-4448-802D-983EA201CFED}"/>
              </c:ext>
            </c:extLst>
          </c:dPt>
          <c:dPt>
            <c:idx val="9"/>
            <c:invertIfNegative val="1"/>
            <c:bubble3D val="0"/>
            <c:spPr>
              <a:solidFill>
                <a:srgbClr val="C9CEDF"/>
              </a:solidFill>
            </c:spPr>
            <c:extLst>
              <c:ext xmlns:c16="http://schemas.microsoft.com/office/drawing/2014/chart" uri="{C3380CC4-5D6E-409C-BE32-E72D297353CC}">
                <c16:uniqueId val="{00000013-E4DC-4448-802D-983EA201CFED}"/>
              </c:ext>
            </c:extLst>
          </c:dPt>
          <c:dPt>
            <c:idx val="10"/>
            <c:invertIfNegative val="1"/>
            <c:bubble3D val="0"/>
            <c:spPr>
              <a:solidFill>
                <a:srgbClr val="C9CEDF"/>
              </a:solidFill>
            </c:spPr>
            <c:extLst>
              <c:ext xmlns:c16="http://schemas.microsoft.com/office/drawing/2014/chart" uri="{C3380CC4-5D6E-409C-BE32-E72D297353CC}">
                <c16:uniqueId val="{00000015-E4DC-4448-802D-983EA201CFED}"/>
              </c:ext>
            </c:extLst>
          </c:dPt>
          <c:dPt>
            <c:idx val="11"/>
            <c:invertIfNegative val="1"/>
            <c:bubble3D val="0"/>
            <c:spPr>
              <a:solidFill>
                <a:srgbClr val="C9CEDF"/>
              </a:solidFill>
            </c:spPr>
            <c:extLst>
              <c:ext xmlns:c16="http://schemas.microsoft.com/office/drawing/2014/chart" uri="{C3380CC4-5D6E-409C-BE32-E72D297353CC}">
                <c16:uniqueId val="{00000017-E4DC-4448-802D-983EA201CFED}"/>
              </c:ext>
            </c:extLst>
          </c:dPt>
          <c:dLbls>
            <c:numFmt formatCode="0" sourceLinked="0"/>
            <c:spPr>
              <a:noFill/>
              <a:ln>
                <a:noFill/>
              </a:ln>
              <a:effectLst/>
            </c:spPr>
            <c:txPr>
              <a:bodyPr/>
              <a:lstStyle/>
              <a:p>
                <a:pPr>
                  <a:defRPr sz="900">
                    <a:latin typeface="メイリオ"/>
                  </a:defRPr>
                </a:pPr>
                <a:endParaRPr lang="ja-JP"/>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Sheet1!$A$2:$A$13</c:f>
              <c:strCache>
                <c:ptCount val="12"/>
                <c:pt idx="0">
                  <c:v>1月</c:v>
                </c:pt>
                <c:pt idx="1">
                  <c:v>2月</c:v>
                </c:pt>
                <c:pt idx="2">
                  <c:v>3月</c:v>
                </c:pt>
                <c:pt idx="3">
                  <c:v>4月</c:v>
                </c:pt>
                <c:pt idx="4">
                  <c:v>5月</c:v>
                </c:pt>
                <c:pt idx="5">
                  <c:v>6月</c:v>
                </c:pt>
                <c:pt idx="6">
                  <c:v>7月</c:v>
                </c:pt>
                <c:pt idx="7">
                  <c:v>8月</c:v>
                </c:pt>
                <c:pt idx="8">
                  <c:v>9月</c:v>
                </c:pt>
                <c:pt idx="9">
                  <c:v>10月</c:v>
                </c:pt>
                <c:pt idx="10">
                  <c:v>11月</c:v>
                </c:pt>
                <c:pt idx="11">
                  <c:v>12月</c:v>
                </c:pt>
              </c:strCache>
            </c:strRef>
          </c:cat>
          <c:val>
            <c:numRef>
              <c:f>Sheet1!$B$2:$B$13</c:f>
              <c:numCache>
                <c:formatCode>General</c:formatCode>
                <c:ptCount val="12"/>
                <c:pt idx="0">
                  <c:v>80</c:v>
                </c:pt>
                <c:pt idx="1">
                  <c:v>83</c:v>
                </c:pt>
                <c:pt idx="2">
                  <c:v>78</c:v>
                </c:pt>
                <c:pt idx="3">
                  <c:v>70</c:v>
                </c:pt>
                <c:pt idx="4">
                  <c:v>69</c:v>
                </c:pt>
                <c:pt idx="5">
                  <c:v>73</c:v>
                </c:pt>
                <c:pt idx="6">
                  <c:v>58</c:v>
                </c:pt>
                <c:pt idx="7">
                  <c:v>70</c:v>
                </c:pt>
                <c:pt idx="8">
                  <c:v>76</c:v>
                </c:pt>
                <c:pt idx="9">
                  <c:v>78</c:v>
                </c:pt>
                <c:pt idx="10">
                  <c:v>63</c:v>
                </c:pt>
                <c:pt idx="11">
                  <c:v>68</c:v>
                </c:pt>
              </c:numCache>
            </c:numRef>
          </c:val>
          <c:extLst>
            <c:ext xmlns:c16="http://schemas.microsoft.com/office/drawing/2014/chart" uri="{C3380CC4-5D6E-409C-BE32-E72D297353CC}">
              <c16:uniqueId val="{00000018-E4DC-4448-802D-983EA201CFED}"/>
            </c:ext>
          </c:extLst>
        </c:ser>
        <c:dLbls>
          <c:dLblPos val="outEnd"/>
          <c:showLegendKey val="0"/>
          <c:showVal val="1"/>
          <c:showCatName val="0"/>
          <c:showSerName val="0"/>
          <c:showPercent val="0"/>
          <c:showBubbleSize val="0"/>
        </c:dLbls>
        <c:gapWidth val="6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D9D9D9"/>
            </a:solidFill>
          </a:ln>
        </c:spPr>
        <c:txPr>
          <a:bodyPr/>
          <a:lstStyle/>
          <a:p>
            <a:pPr>
              <a:defRPr sz="900"/>
            </a:pPr>
            <a:endParaRPr lang="ja-JP"/>
          </a:p>
        </c:txPr>
        <c:crossAx val="-2113994440"/>
        <c:crosses val="autoZero"/>
        <c:auto val="1"/>
        <c:lblAlgn val="ctr"/>
        <c:lblOffset val="100"/>
        <c:noMultiLvlLbl val="0"/>
      </c:catAx>
      <c:valAx>
        <c:axId val="-2113994440"/>
        <c:scaling>
          <c:orientation val="minMax"/>
          <c:max val="100"/>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900">
          <a:solidFill>
            <a:srgbClr val="333333"/>
          </a:solidFill>
          <a:latin typeface="メイリオ"/>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0" name="PlaceHolder 1"/>
          <p:cNvSpPr>
            <a:spLocks noGrp="1" noRot="1" noChangeAspect="1"/>
          </p:cNvSpPr>
          <p:nvPr>
            <p:ph type="sldImg"/>
          </p:nvPr>
        </p:nvSpPr>
        <p:spPr>
          <a:xfrm>
            <a:off x="0" y="812520"/>
            <a:ext cx="0" cy="0"/>
          </a:xfrm>
          <a:prstGeom prst="rect">
            <a:avLst/>
          </a:prstGeom>
          <a:noFill/>
          <a:ln w="0">
            <a:noFill/>
          </a:ln>
        </p:spPr>
        <p:txBody>
          <a:bodyPr lIns="0" tIns="0" rIns="0" bIns="0" anchor="ctr">
            <a:noAutofit/>
          </a:bodyPr>
          <a:lstStyle/>
          <a:p>
            <a:r>
              <a:rPr lang="en-US" sz="1800" b="0" u="none" strike="noStrike">
                <a:solidFill>
                  <a:schemeClr val="dk1"/>
                </a:solidFill>
                <a:effectLst/>
                <a:uFillTx/>
                <a:latin typeface="Calibri"/>
              </a:rPr>
              <a:t>Click to move the slide</a:t>
            </a:r>
          </a:p>
        </p:txBody>
      </p:sp>
      <p:sp>
        <p:nvSpPr>
          <p:cNvPr id="21"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indent="0">
              <a:buNone/>
            </a:pPr>
            <a:r>
              <a:rPr lang="en-US" sz="2000" b="0" u="none" strike="noStrike">
                <a:solidFill>
                  <a:srgbClr val="000000"/>
                </a:solidFill>
                <a:effectLst/>
                <a:uFillTx/>
                <a:latin typeface="Arial"/>
              </a:rPr>
              <a:t>Click to edit the notes format</a:t>
            </a:r>
          </a:p>
        </p:txBody>
      </p:sp>
      <p:sp>
        <p:nvSpPr>
          <p:cNvPr id="22" name="PlaceHolder 3"/>
          <p:cNvSpPr>
            <a:spLocks noGrp="1"/>
          </p:cNvSpPr>
          <p:nvPr>
            <p:ph type="hdr"/>
          </p:nvPr>
        </p:nvSpPr>
        <p:spPr>
          <a:xfrm>
            <a:off x="0" y="0"/>
            <a:ext cx="3280680" cy="534240"/>
          </a:xfrm>
          <a:prstGeom prst="rect">
            <a:avLst/>
          </a:prstGeom>
          <a:noFill/>
          <a:ln w="0">
            <a:noFill/>
          </a:ln>
        </p:spPr>
        <p:txBody>
          <a:bodyPr lIns="0" tIns="0" rIns="0" bIns="0" anchor="t">
            <a:noAutofit/>
          </a:bodyPr>
          <a:lstStyle/>
          <a:p>
            <a:pPr indent="0">
              <a:buNone/>
            </a:pPr>
            <a:r>
              <a:rPr lang="en-US" sz="1400" b="0" u="none" strike="noStrike">
                <a:solidFill>
                  <a:srgbClr val="000000"/>
                </a:solidFill>
                <a:effectLst/>
                <a:uFillTx/>
                <a:latin typeface="Times New Roman"/>
              </a:rPr>
              <a:t>&lt;header&gt;</a:t>
            </a:r>
          </a:p>
        </p:txBody>
      </p:sp>
      <p:sp>
        <p:nvSpPr>
          <p:cNvPr id="23" name="PlaceHolder 4"/>
          <p:cNvSpPr>
            <a:spLocks noGrp="1"/>
          </p:cNvSpPr>
          <p:nvPr>
            <p:ph type="dt" idx="1"/>
          </p:nvPr>
        </p:nvSpPr>
        <p:spPr>
          <a:xfrm>
            <a:off x="4278960" y="0"/>
            <a:ext cx="3280680" cy="53424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p>
        </p:txBody>
      </p:sp>
      <p:sp>
        <p:nvSpPr>
          <p:cNvPr id="24" name="PlaceHolder 5"/>
          <p:cNvSpPr>
            <a:spLocks noGrp="1"/>
          </p:cNvSpPr>
          <p:nvPr>
            <p:ph type="ftr" idx="2"/>
          </p:nvPr>
        </p:nvSpPr>
        <p:spPr>
          <a:xfrm>
            <a:off x="0" y="10157400"/>
            <a:ext cx="3280680" cy="534240"/>
          </a:xfrm>
          <a:prstGeom prst="rect">
            <a:avLst/>
          </a:prstGeom>
          <a:noFill/>
          <a:ln w="0">
            <a:noFill/>
          </a:ln>
        </p:spPr>
        <p:txBody>
          <a:bodyPr lIns="0" tIns="0" rIns="0" bIns="0" anchor="b">
            <a:noAutofit/>
          </a:bodyPr>
          <a:lstStyle>
            <a:lvl1pPr indent="0">
              <a:buNone/>
              <a:defRPr lang="en-US" sz="1400" b="0" u="none" strike="noStrike">
                <a:solidFill>
                  <a:srgbClr val="000000"/>
                </a:solidFill>
                <a:effectLst/>
                <a:uFillTx/>
                <a:latin typeface="Times New Roman"/>
              </a:defRPr>
            </a:lvl1pPr>
          </a:lstStyle>
          <a:p>
            <a:pPr indent="0">
              <a:buNone/>
            </a:pPr>
            <a:r>
              <a:rPr lang="en-US" sz="1400" b="0" u="none" strike="noStrike">
                <a:solidFill>
                  <a:srgbClr val="000000"/>
                </a:solidFill>
                <a:effectLst/>
                <a:uFillTx/>
                <a:latin typeface="Times New Roman"/>
              </a:rPr>
              <a:t>&lt;footer&gt;</a:t>
            </a:r>
          </a:p>
        </p:txBody>
      </p:sp>
      <p:sp>
        <p:nvSpPr>
          <p:cNvPr id="25" name="PlaceHolder 6"/>
          <p:cNvSpPr>
            <a:spLocks noGrp="1"/>
          </p:cNvSpPr>
          <p:nvPr>
            <p:ph type="sldNum" idx="3"/>
          </p:nvPr>
        </p:nvSpPr>
        <p:spPr>
          <a:xfrm>
            <a:off x="4278960" y="10157400"/>
            <a:ext cx="3280680" cy="53424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9023FD08-B3C3-42F8-A153-9D5527DEAE10}" type="slidenum">
              <a:rPr lang="en-US" sz="1400" b="0" u="none" strike="noStrike">
                <a:solidFill>
                  <a:srgbClr val="000000"/>
                </a:solidFill>
                <a:effectLst/>
                <a:uFillTx/>
                <a:latin typeface="Times New Roman"/>
              </a:rPr>
              <a:t>‹#›</a:t>
            </a:fld>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7" name="PlaceHolder 1"/>
          <p:cNvSpPr>
            <a:spLocks noGrp="1" noRot="1" noChangeAspect="1"/>
          </p:cNvSpPr>
          <p:nvPr>
            <p:ph type="sldImg"/>
          </p:nvPr>
        </p:nvSpPr>
        <p:spPr>
          <a:xfrm>
            <a:off x="981000" y="1243080"/>
            <a:ext cx="4844520" cy="3354120"/>
          </a:xfrm>
          <a:prstGeom prst="rect">
            <a:avLst/>
          </a:prstGeom>
          <a:ln w="0">
            <a:noFill/>
          </a:ln>
        </p:spPr>
      </p:sp>
      <p:sp>
        <p:nvSpPr>
          <p:cNvPr id="1148"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49" name="PlaceHolder 3"/>
          <p:cNvSpPr>
            <a:spLocks noGrp="1"/>
          </p:cNvSpPr>
          <p:nvPr>
            <p:ph type="ftr" idx="24"/>
          </p:nvPr>
        </p:nvSpPr>
        <p:spPr>
          <a:xfrm>
            <a:off x="0" y="9441720"/>
            <a:ext cx="2950200" cy="497160"/>
          </a:xfrm>
          <a:prstGeom prst="rect">
            <a:avLst/>
          </a:prstGeom>
          <a:noFill/>
          <a:ln w="0">
            <a:noFill/>
          </a:ln>
        </p:spPr>
        <p:txBody>
          <a:bodyPr lIns="91440" tIns="45720" rIns="91440" bIns="45720" anchor="b">
            <a:noAutofit/>
          </a:bodyPr>
          <a:lstStyle/>
          <a:p>
            <a:pPr indent="0">
              <a:buNone/>
            </a:pPr>
            <a:endParaRPr lang="en-US" sz="1200" b="0" u="none" strike="noStrike">
              <a:solidFill>
                <a:schemeClr val="dk1"/>
              </a:solidFill>
              <a:effectLst/>
              <a:uFillTx/>
              <a:latin typeface="+mn-lt"/>
              <a:ea typeface="+mn-ea"/>
            </a:endParaRPr>
          </a:p>
        </p:txBody>
      </p:sp>
      <p:sp>
        <p:nvSpPr>
          <p:cNvPr id="1150" name="PlaceHolder 4"/>
          <p:cNvSpPr>
            <a:spLocks noGrp="1"/>
          </p:cNvSpPr>
          <p:nvPr>
            <p:ph type="sldNum" idx="25"/>
          </p:nvPr>
        </p:nvSpPr>
        <p:spPr>
          <a:xfrm>
            <a:off x="3855240" y="9441720"/>
            <a:ext cx="2950200" cy="497160"/>
          </a:xfrm>
          <a:prstGeom prst="rect">
            <a:avLst/>
          </a:prstGeom>
          <a:noFill/>
          <a:ln w="0">
            <a:noFill/>
          </a:ln>
        </p:spPr>
        <p:txBody>
          <a:bodyPr lIns="91440" tIns="45720" rIns="91440" bIns="45720" anchor="b">
            <a:noAutofit/>
          </a:bodyPr>
          <a:lstStyle>
            <a:lvl1pPr indent="0" algn="r" defTabSz="956880">
              <a:lnSpc>
                <a:spcPct val="100000"/>
              </a:lnSpc>
              <a:buNone/>
              <a:defRPr lang="en-US" sz="1200" b="0" u="none" strike="noStrike">
                <a:solidFill>
                  <a:srgbClr val="000000"/>
                </a:solidFill>
                <a:effectLst/>
                <a:uFillTx/>
                <a:latin typeface="Calibri"/>
                <a:ea typeface="ＭＳ Ｐゴシック"/>
              </a:defRPr>
            </a:lvl1pPr>
          </a:lstStyle>
          <a:p>
            <a:pPr indent="0" algn="r" defTabSz="956880">
              <a:lnSpc>
                <a:spcPct val="100000"/>
              </a:lnSpc>
              <a:buNone/>
            </a:pPr>
            <a:fld id="{6BEAC167-1E56-4A89-B6CA-078D5C4214BA}" type="slidenum">
              <a:rPr lang="en-US" sz="1200" b="0" u="none" strike="noStrike">
                <a:solidFill>
                  <a:srgbClr val="000000"/>
                </a:solidFill>
                <a:effectLst/>
                <a:uFillTx/>
                <a:latin typeface="Calibri"/>
                <a:ea typeface="ＭＳ Ｐゴシック"/>
              </a:rPr>
              <a:t>32</a:t>
            </a:fld>
            <a:endParaRPr lang="en-US" sz="1200" b="0" u="none" strike="noStrike">
              <a:solidFill>
                <a:srgbClr val="000000"/>
              </a:solidFill>
              <a:effectLst/>
              <a:uFillTx/>
              <a:latin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2_タイトルとコンテンツ">
    <p:bg>
      <p:bgPr>
        <a:solidFill>
          <a:srgbClr val="FFFFFF"/>
        </a:solidFill>
        <a:effectLst/>
      </p:bgPr>
    </p:bg>
    <p:spTree>
      <p:nvGrpSpPr>
        <p:cNvPr id="1" name=""/>
        <p:cNvGrpSpPr/>
        <p:nvPr/>
      </p:nvGrpSpPr>
      <p:grpSpPr>
        <a:xfrm>
          <a:off x="0" y="0"/>
          <a:ext cx="0" cy="0"/>
          <a:chOff x="0" y="0"/>
          <a:chExt cx="0" cy="0"/>
        </a:xfrm>
      </p:grpSpPr>
      <p:pic>
        <p:nvPicPr>
          <p:cNvPr id="6" name="図 1"/>
          <p:cNvPicPr/>
          <p:nvPr/>
        </p:nvPicPr>
        <p:blipFill>
          <a:blip r:embed="rId2"/>
          <a:stretch/>
        </p:blipFill>
        <p:spPr>
          <a:xfrm>
            <a:off x="8151480" y="72360"/>
            <a:ext cx="1598400" cy="423720"/>
          </a:xfrm>
          <a:prstGeom prst="rect">
            <a:avLst/>
          </a:prstGeom>
          <a:noFill/>
          <a:ln w="0">
            <a:noFill/>
          </a:ln>
        </p:spPr>
      </p:pic>
      <p:pic>
        <p:nvPicPr>
          <p:cNvPr id="7" name="図 4"/>
          <p:cNvPicPr/>
          <p:nvPr/>
        </p:nvPicPr>
        <p:blipFill>
          <a:blip r:embed="rId3"/>
          <a:stretch/>
        </p:blipFill>
        <p:spPr>
          <a:xfrm>
            <a:off x="8151480" y="32400"/>
            <a:ext cx="1652760" cy="635400"/>
          </a:xfrm>
          <a:prstGeom prst="rect">
            <a:avLst/>
          </a:prstGeom>
          <a:noFill/>
          <a:ln w="0">
            <a:noFill/>
          </a:ln>
        </p:spPr>
      </p:pic>
      <p:sp>
        <p:nvSpPr>
          <p:cNvPr id="2" name="正方形/長方形 5"/>
          <p:cNvSpPr/>
          <p:nvPr/>
        </p:nvSpPr>
        <p:spPr>
          <a:xfrm>
            <a:off x="0" y="6552720"/>
            <a:ext cx="9905760" cy="332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3" name="スライド番号プレースホルダ 1"/>
          <p:cNvSpPr/>
          <p:nvPr/>
        </p:nvSpPr>
        <p:spPr>
          <a:xfrm>
            <a:off x="7594560" y="6552720"/>
            <a:ext cx="2311200" cy="364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r" defTabSz="914400">
              <a:lnSpc>
                <a:spcPct val="100000"/>
              </a:lnSpc>
            </a:pPr>
            <a:fld id="{7221DD93-BA6E-44AE-9625-337799002E27}" type="slidenum">
              <a:rPr lang="en-US" sz="1400" b="1" u="none" strike="noStrike">
                <a:solidFill>
                  <a:schemeClr val="lt1"/>
                </a:solidFill>
                <a:effectLst/>
                <a:uFillTx/>
                <a:latin typeface="メイリオ"/>
                <a:ea typeface="メイリオ"/>
              </a:rPr>
              <a:t>‹#›</a:t>
            </a:fld>
            <a:endParaRPr lang="en-US" sz="1400" b="0" u="none" strike="noStrike">
              <a:solidFill>
                <a:srgbClr val="000000"/>
              </a:solidFill>
              <a:effectLst/>
              <a:uFillTx/>
              <a:latin typeface="Arial"/>
            </a:endParaRPr>
          </a:p>
        </p:txBody>
      </p:sp>
      <p:sp>
        <p:nvSpPr>
          <p:cNvPr id="4" name="テキスト ボックス 8"/>
          <p:cNvSpPr/>
          <p:nvPr/>
        </p:nvSpPr>
        <p:spPr>
          <a:xfrm>
            <a:off x="116640" y="6598080"/>
            <a:ext cx="366588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800" b="1" u="none" strike="noStrike">
                <a:solidFill>
                  <a:schemeClr val="lt1"/>
                </a:solidFill>
                <a:effectLst/>
                <a:uFillTx/>
                <a:latin typeface="メイリオ"/>
                <a:ea typeface="メイリオ"/>
              </a:rPr>
              <a:t>Copyright(c) DYM Co., Ltd</a:t>
            </a:r>
            <a:r>
              <a:rPr lang="ja-JP" sz="800" b="1" u="none" strike="noStrike">
                <a:solidFill>
                  <a:schemeClr val="lt1"/>
                </a:solidFill>
                <a:effectLst/>
                <a:uFillTx/>
                <a:latin typeface="メイリオ"/>
                <a:ea typeface="メイリオ"/>
              </a:rPr>
              <a:t>． </a:t>
            </a:r>
            <a:r>
              <a:rPr lang="en-US" sz="800" b="1" u="none" strike="noStrike">
                <a:solidFill>
                  <a:schemeClr val="lt1"/>
                </a:solidFill>
                <a:effectLst/>
                <a:uFillTx/>
                <a:latin typeface="メイリオ"/>
                <a:ea typeface="メイリオ"/>
              </a:rPr>
              <a:t>All Rights Reserved.</a:t>
            </a:r>
            <a:endParaRPr lang="en-US" sz="800" b="0" u="none" strike="noStrike">
              <a:solidFill>
                <a:srgbClr val="000000"/>
              </a:solidFill>
              <a:effectLst/>
              <a:uFillTx/>
              <a:latin typeface="Arial"/>
            </a:endParaRPr>
          </a:p>
        </p:txBody>
      </p:sp>
      <p:sp>
        <p:nvSpPr>
          <p:cNvPr id="5" name="正方形/長方形 1"/>
          <p:cNvSpPr/>
          <p:nvPr/>
        </p:nvSpPr>
        <p:spPr>
          <a:xfrm>
            <a:off x="9398160" y="6591240"/>
            <a:ext cx="418680" cy="2664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4_タイトルとコンテンツ">
    <p:bg>
      <p:bgPr>
        <a:solidFill>
          <a:srgbClr val="FFFFFF"/>
        </a:solidFill>
        <a:effectLst/>
      </p:bgPr>
    </p:bg>
    <p:spTree>
      <p:nvGrpSpPr>
        <p:cNvPr id="1" name=""/>
        <p:cNvGrpSpPr/>
        <p:nvPr/>
      </p:nvGrpSpPr>
      <p:grpSpPr>
        <a:xfrm>
          <a:off x="0" y="0"/>
          <a:ext cx="0" cy="0"/>
          <a:chOff x="0" y="0"/>
          <a:chExt cx="0" cy="0"/>
        </a:xfrm>
      </p:grpSpPr>
      <p:pic>
        <p:nvPicPr>
          <p:cNvPr id="6" name="図 1"/>
          <p:cNvPicPr/>
          <p:nvPr/>
        </p:nvPicPr>
        <p:blipFill>
          <a:blip r:embed="rId2"/>
          <a:stretch/>
        </p:blipFill>
        <p:spPr>
          <a:xfrm>
            <a:off x="8151480" y="72360"/>
            <a:ext cx="1598400" cy="423720"/>
          </a:xfrm>
          <a:prstGeom prst="rect">
            <a:avLst/>
          </a:prstGeom>
          <a:noFill/>
          <a:ln w="0">
            <a:noFill/>
          </a:ln>
        </p:spPr>
      </p:pic>
      <p:pic>
        <p:nvPicPr>
          <p:cNvPr id="7" name="図 4"/>
          <p:cNvPicPr/>
          <p:nvPr/>
        </p:nvPicPr>
        <p:blipFill>
          <a:blip r:embed="rId3"/>
          <a:stretch/>
        </p:blipFill>
        <p:spPr>
          <a:xfrm>
            <a:off x="8151480" y="32400"/>
            <a:ext cx="1652760" cy="635400"/>
          </a:xfrm>
          <a:prstGeom prst="rect">
            <a:avLst/>
          </a:prstGeom>
          <a:noFill/>
          <a:ln w="0">
            <a:noFill/>
          </a:ln>
        </p:spPr>
      </p:pic>
      <p:sp>
        <p:nvSpPr>
          <p:cNvPr id="8" name="正方形/長方形 5"/>
          <p:cNvSpPr/>
          <p:nvPr/>
        </p:nvSpPr>
        <p:spPr>
          <a:xfrm>
            <a:off x="0" y="6552720"/>
            <a:ext cx="9905760" cy="332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9" name="スライド番号プレースホルダ 1"/>
          <p:cNvSpPr/>
          <p:nvPr/>
        </p:nvSpPr>
        <p:spPr>
          <a:xfrm>
            <a:off x="7594560" y="6552720"/>
            <a:ext cx="2311200" cy="364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r" defTabSz="914400">
              <a:lnSpc>
                <a:spcPct val="100000"/>
              </a:lnSpc>
            </a:pPr>
            <a:fld id="{B234BB70-5183-4ABD-92F4-80874DE4EEF5}" type="slidenum">
              <a:rPr lang="en-US" sz="1400" b="1" u="none" strike="noStrike">
                <a:solidFill>
                  <a:schemeClr val="lt1"/>
                </a:solidFill>
                <a:effectLst/>
                <a:uFillTx/>
                <a:latin typeface="メイリオ"/>
                <a:ea typeface="メイリオ"/>
              </a:rPr>
              <a:t>‹#›</a:t>
            </a:fld>
            <a:endParaRPr lang="en-US" sz="1400" b="0" u="none" strike="noStrike">
              <a:solidFill>
                <a:srgbClr val="000000"/>
              </a:solidFill>
              <a:effectLst/>
              <a:uFillTx/>
              <a:latin typeface="Arial"/>
            </a:endParaRPr>
          </a:p>
        </p:txBody>
      </p:sp>
      <p:sp>
        <p:nvSpPr>
          <p:cNvPr id="10" name="テキスト ボックス 8"/>
          <p:cNvSpPr/>
          <p:nvPr/>
        </p:nvSpPr>
        <p:spPr>
          <a:xfrm>
            <a:off x="116640" y="6598080"/>
            <a:ext cx="366588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800" b="1" u="none" strike="noStrike">
                <a:solidFill>
                  <a:schemeClr val="lt1"/>
                </a:solidFill>
                <a:effectLst/>
                <a:uFillTx/>
                <a:latin typeface="メイリオ"/>
                <a:ea typeface="メイリオ"/>
              </a:rPr>
              <a:t>Copyright(c) DYM Co., Ltd</a:t>
            </a:r>
            <a:r>
              <a:rPr lang="ja-JP" sz="800" b="1" u="none" strike="noStrike">
                <a:solidFill>
                  <a:schemeClr val="lt1"/>
                </a:solidFill>
                <a:effectLst/>
                <a:uFillTx/>
                <a:latin typeface="メイリオ"/>
                <a:ea typeface="メイリオ"/>
              </a:rPr>
              <a:t>． </a:t>
            </a:r>
            <a:r>
              <a:rPr lang="en-US" sz="800" b="1" u="none" strike="noStrike">
                <a:solidFill>
                  <a:schemeClr val="lt1"/>
                </a:solidFill>
                <a:effectLst/>
                <a:uFillTx/>
                <a:latin typeface="メイリオ"/>
                <a:ea typeface="メイリオ"/>
              </a:rPr>
              <a:t>All Rights Reserved.</a:t>
            </a:r>
            <a:endParaRPr lang="en-US" sz="800" b="0" u="none" strike="noStrike">
              <a:solidFill>
                <a:srgbClr val="000000"/>
              </a:solidFill>
              <a:effectLst/>
              <a:uFillTx/>
              <a:latin typeface="Arial"/>
            </a:endParaRPr>
          </a:p>
        </p:txBody>
      </p:sp>
      <p:cxnSp>
        <p:nvCxnSpPr>
          <p:cNvPr id="11" name="直線コネクタ 4"/>
          <p:cNvCxnSpPr/>
          <p:nvPr/>
        </p:nvCxnSpPr>
        <p:spPr>
          <a:xfrm>
            <a:off x="0" y="548640"/>
            <a:ext cx="9906120" cy="360"/>
          </a:xfrm>
          <a:prstGeom prst="straightConnector1">
            <a:avLst/>
          </a:prstGeom>
          <a:ln>
            <a:solidFill>
              <a:srgbClr val="191F54"/>
            </a:solidFill>
            <a:round/>
          </a:ln>
        </p:spPr>
      </p:cxnSp>
      <p:sp>
        <p:nvSpPr>
          <p:cNvPr id="12" name="正方形/長方形 6"/>
          <p:cNvSpPr/>
          <p:nvPr/>
        </p:nvSpPr>
        <p:spPr>
          <a:xfrm>
            <a:off x="0" y="0"/>
            <a:ext cx="450720" cy="548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13" name="PlaceHolder 1"/>
          <p:cNvSpPr>
            <a:spLocks noGrp="1"/>
          </p:cNvSpPr>
          <p:nvPr>
            <p:ph type="title"/>
          </p:nvPr>
        </p:nvSpPr>
        <p:spPr>
          <a:xfrm>
            <a:off x="495000" y="273600"/>
            <a:ext cx="8915040" cy="1144800"/>
          </a:xfrm>
          <a:prstGeom prst="rect">
            <a:avLst/>
          </a:prstGeom>
          <a:noFill/>
          <a:ln w="0">
            <a:noFill/>
          </a:ln>
        </p:spPr>
        <p:txBody>
          <a:bodyPr lIns="0" tIns="0" rIns="0" bIns="0" anchor="ctr">
            <a:noAutofit/>
          </a:bodyPr>
          <a:lstStyle/>
          <a:p>
            <a:pPr indent="0">
              <a:buNone/>
            </a:pPr>
            <a:r>
              <a:rPr lang="en-US" sz="1800" b="0" u="none" strike="noStrike">
                <a:solidFill>
                  <a:schemeClr val="dk1"/>
                </a:solidFill>
                <a:effectLst/>
                <a:uFillTx/>
                <a:latin typeface="Calibri"/>
              </a:rPr>
              <a:t>Click to edit the title text format</a:t>
            </a:r>
          </a:p>
        </p:txBody>
      </p:sp>
      <p:sp>
        <p:nvSpPr>
          <p:cNvPr id="14" name="PlaceHolder 2"/>
          <p:cNvSpPr>
            <a:spLocks noGrp="1"/>
          </p:cNvSpPr>
          <p:nvPr>
            <p:ph type="body"/>
          </p:nvPr>
        </p:nvSpPr>
        <p:spPr>
          <a:xfrm>
            <a:off x="495000" y="1604520"/>
            <a:ext cx="89150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3200" b="0" u="none" strike="noStrike">
                <a:solidFill>
                  <a:schemeClr val="dk1"/>
                </a:solidFill>
                <a:effectLst/>
                <a:uFillTx/>
                <a:latin typeface="Calibri"/>
              </a:rPr>
              <a:t>Click to edit the outline text format</a:t>
            </a:r>
          </a:p>
          <a:p>
            <a:pPr marL="864000" lvl="1" indent="-324000">
              <a:spcBef>
                <a:spcPts val="1134"/>
              </a:spcBef>
              <a:buClr>
                <a:srgbClr val="000000"/>
              </a:buClr>
              <a:buSzPct val="75000"/>
              <a:buFont typeface="Symbol" charset="2"/>
              <a:buChar char=""/>
            </a:pPr>
            <a:r>
              <a:rPr lang="en-US" sz="2400" b="0" u="none" strike="noStrike">
                <a:solidFill>
                  <a:schemeClr val="dk1"/>
                </a:solidFill>
                <a:effectLst/>
                <a:uFillTx/>
                <a:latin typeface="Calibri"/>
              </a:rPr>
              <a:t>Second Outline Level</a:t>
            </a:r>
          </a:p>
          <a:p>
            <a:pPr marL="1296000" lvl="2" indent="-288000">
              <a:spcBef>
                <a:spcPts val="850"/>
              </a:spcBef>
              <a:buClr>
                <a:srgbClr val="000000"/>
              </a:buClr>
              <a:buSzPct val="45000"/>
              <a:buFont typeface="Wingdings" charset="2"/>
              <a:buChar char=""/>
            </a:pPr>
            <a:r>
              <a:rPr lang="en-US" sz="2000" b="0" u="none" strike="noStrike">
                <a:solidFill>
                  <a:schemeClr val="dk1"/>
                </a:solidFill>
                <a:effectLst/>
                <a:uFillTx/>
                <a:latin typeface="Calibri"/>
              </a:rPr>
              <a:t>Third Outline Level</a:t>
            </a:r>
          </a:p>
          <a:p>
            <a:pPr marL="1728000" lvl="3" indent="-216000">
              <a:spcBef>
                <a:spcPts val="567"/>
              </a:spcBef>
              <a:buClr>
                <a:srgbClr val="000000"/>
              </a:buClr>
              <a:buSzPct val="75000"/>
              <a:buFont typeface="Symbol" charset="2"/>
              <a:buChar char=""/>
            </a:pPr>
            <a:r>
              <a:rPr lang="en-US" sz="2000" b="0" u="none" strike="noStrike">
                <a:solidFill>
                  <a:schemeClr val="dk1"/>
                </a:solidFill>
                <a:effectLst/>
                <a:uFillTx/>
                <a:latin typeface="Calibri"/>
              </a:rPr>
              <a:t>Fourth Outline Level</a:t>
            </a:r>
          </a:p>
          <a:p>
            <a:pPr marL="2160000" lvl="4" indent="-216000">
              <a:spcBef>
                <a:spcPts val="283"/>
              </a:spcBef>
              <a:buClr>
                <a:srgbClr val="000000"/>
              </a:buClr>
              <a:buSzPct val="45000"/>
              <a:buFont typeface="Wingdings" charset="2"/>
              <a:buChar char=""/>
            </a:pPr>
            <a:r>
              <a:rPr lang="en-US" sz="2000" b="0" u="none" strike="noStrike">
                <a:solidFill>
                  <a:schemeClr val="dk1"/>
                </a:solidFill>
                <a:effectLst/>
                <a:uFillTx/>
                <a:latin typeface="Calibri"/>
              </a:rPr>
              <a:t>Fifth Outline Level</a:t>
            </a:r>
          </a:p>
          <a:p>
            <a:pPr marL="2592000" lvl="5" indent="-216000">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p>
          <a:p>
            <a:pPr marL="3024000" lvl="6" indent="-216000">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1_タイトル スライド">
    <p:bg>
      <p:bgPr>
        <a:solidFill>
          <a:srgbClr val="FFFFFF"/>
        </a:solidFill>
        <a:effectLst/>
      </p:bgPr>
    </p:bg>
    <p:spTree>
      <p:nvGrpSpPr>
        <p:cNvPr id="1" name=""/>
        <p:cNvGrpSpPr/>
        <p:nvPr/>
      </p:nvGrpSpPr>
      <p:grpSpPr>
        <a:xfrm>
          <a:off x="0" y="0"/>
          <a:ext cx="0" cy="0"/>
          <a:chOff x="0" y="0"/>
          <a:chExt cx="0" cy="0"/>
        </a:xfrm>
      </p:grpSpPr>
      <p:pic>
        <p:nvPicPr>
          <p:cNvPr id="15" name="図 1"/>
          <p:cNvPicPr/>
          <p:nvPr/>
        </p:nvPicPr>
        <p:blipFill>
          <a:blip r:embed="rId2"/>
          <a:stretch/>
        </p:blipFill>
        <p:spPr>
          <a:xfrm>
            <a:off x="8151480" y="72360"/>
            <a:ext cx="1598400" cy="423720"/>
          </a:xfrm>
          <a:prstGeom prst="rect">
            <a:avLst/>
          </a:prstGeom>
          <a:noFill/>
          <a:ln w="0">
            <a:noFill/>
          </a:ln>
        </p:spPr>
      </p:pic>
      <p:pic>
        <p:nvPicPr>
          <p:cNvPr id="16" name="図 4"/>
          <p:cNvPicPr/>
          <p:nvPr/>
        </p:nvPicPr>
        <p:blipFill>
          <a:blip r:embed="rId3"/>
          <a:stretch/>
        </p:blipFill>
        <p:spPr>
          <a:xfrm>
            <a:off x="8151480" y="32400"/>
            <a:ext cx="1652760" cy="635400"/>
          </a:xfrm>
          <a:prstGeom prst="rect">
            <a:avLst/>
          </a:prstGeom>
          <a:noFill/>
          <a:ln w="0">
            <a:noFill/>
          </a:ln>
        </p:spPr>
      </p:pic>
      <p:sp>
        <p:nvSpPr>
          <p:cNvPr id="17" name="正方形/長方形 5"/>
          <p:cNvSpPr/>
          <p:nvPr/>
        </p:nvSpPr>
        <p:spPr>
          <a:xfrm>
            <a:off x="0" y="6552720"/>
            <a:ext cx="9905760" cy="332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18" name="スライド番号プレースホルダ 1"/>
          <p:cNvSpPr/>
          <p:nvPr/>
        </p:nvSpPr>
        <p:spPr>
          <a:xfrm>
            <a:off x="7594560" y="6552720"/>
            <a:ext cx="2311200" cy="364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r" defTabSz="914400">
              <a:lnSpc>
                <a:spcPct val="100000"/>
              </a:lnSpc>
            </a:pPr>
            <a:fld id="{077BD008-84D6-4C04-8004-9A059DF72521}" type="slidenum">
              <a:rPr lang="en-US" sz="1400" b="1" u="none" strike="noStrike">
                <a:solidFill>
                  <a:schemeClr val="lt1"/>
                </a:solidFill>
                <a:effectLst/>
                <a:uFillTx/>
                <a:latin typeface="メイリオ"/>
                <a:ea typeface="メイリオ"/>
              </a:rPr>
              <a:t>‹#›</a:t>
            </a:fld>
            <a:endParaRPr lang="en-US" sz="1400" b="0" u="none" strike="noStrike">
              <a:solidFill>
                <a:srgbClr val="000000"/>
              </a:solidFill>
              <a:effectLst/>
              <a:uFillTx/>
              <a:latin typeface="Arial"/>
            </a:endParaRPr>
          </a:p>
        </p:txBody>
      </p:sp>
      <p:sp>
        <p:nvSpPr>
          <p:cNvPr id="19" name="テキスト ボックス 8"/>
          <p:cNvSpPr/>
          <p:nvPr/>
        </p:nvSpPr>
        <p:spPr>
          <a:xfrm>
            <a:off x="116640" y="6598080"/>
            <a:ext cx="366588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800" b="1" u="none" strike="noStrike">
                <a:solidFill>
                  <a:schemeClr val="lt1"/>
                </a:solidFill>
                <a:effectLst/>
                <a:uFillTx/>
                <a:latin typeface="メイリオ"/>
                <a:ea typeface="メイリオ"/>
              </a:rPr>
              <a:t>Copyright(c) DYM Co., Ltd</a:t>
            </a:r>
            <a:r>
              <a:rPr lang="ja-JP" sz="800" b="1" u="none" strike="noStrike">
                <a:solidFill>
                  <a:schemeClr val="lt1"/>
                </a:solidFill>
                <a:effectLst/>
                <a:uFillTx/>
                <a:latin typeface="メイリオ"/>
                <a:ea typeface="メイリオ"/>
              </a:rPr>
              <a:t>． </a:t>
            </a:r>
            <a:r>
              <a:rPr lang="en-US" sz="800" b="1" u="none" strike="noStrike">
                <a:solidFill>
                  <a:schemeClr val="lt1"/>
                </a:solidFill>
                <a:effectLst/>
                <a:uFillTx/>
                <a:latin typeface="メイリオ"/>
                <a:ea typeface="メイリオ"/>
              </a:rPr>
              <a:t>All Rights Reserved.</a:t>
            </a:r>
            <a:endParaRPr lang="en-US" sz="800" b="0" u="none" strike="noStrike">
              <a:solidFill>
                <a:srgbClr val="000000"/>
              </a:solidFill>
              <a:effectLst/>
              <a:uFillTx/>
              <a:latin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7.jpeg"/><Relationship Id="rId4" Type="http://schemas.openxmlformats.org/officeDocument/2006/relationships/image" Target="../media/image8.png"/><Relationship Id="rId5"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16.jpe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17.png"/><Relationship Id="rId5" Type="http://schemas.openxmlformats.org/officeDocument/2006/relationships/image" Target="../media/image1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1.png"/><Relationship Id="rId3" Type="http://schemas.openxmlformats.org/officeDocument/2006/relationships/image" Target="../media/image2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6.png"/><Relationship Id="rId6" Type="http://schemas.openxmlformats.org/officeDocument/2006/relationships/image" Target="../media/image2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9.jpg"/><Relationship Id="rId3" Type="http://schemas.openxmlformats.org/officeDocument/2006/relationships/image" Target="../media/image30.jp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33.png"/><Relationship Id="rId7" Type="http://schemas.openxmlformats.org/officeDocument/2006/relationships/image" Target="../media/image34.jpg"/><Relationship Id="rId8" Type="http://schemas.openxmlformats.org/officeDocument/2006/relationships/image" Target="../media/image35.jpg"/><Relationship Id="rId9" Type="http://schemas.openxmlformats.org/officeDocument/2006/relationships/image" Target="../media/image36.png"/><Relationship Id="rId10" Type="http://schemas.openxmlformats.org/officeDocument/2006/relationships/image" Target="../media/image37.png"/><Relationship Id="rId11" Type="http://schemas.openxmlformats.org/officeDocument/2006/relationships/hyperlink" Target="https://youtube.com/shorts/0qI4QgrOppQ"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image" Target="../media/image38.emf"/><Relationship Id="rId4" Type="http://schemas.openxmlformats.org/officeDocument/2006/relationships/image" Target="../media/image39.jpeg"/><Relationship Id="rId5" Type="http://schemas.openxmlformats.org/officeDocument/2006/relationships/image" Target="../media/image40.jpeg"/><Relationship Id="rId6" Type="http://schemas.openxmlformats.org/officeDocument/2006/relationships/image" Target="../media/image41.jpeg"/><Relationship Id="rId7" Type="http://schemas.openxmlformats.org/officeDocument/2006/relationships/image" Target="../media/image42.jpeg"/><Relationship Id="rId8" Type="http://schemas.openxmlformats.org/officeDocument/2006/relationships/image" Target="../media/image43.jpe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4.svg"/><Relationship Id="rId3" Type="http://schemas.openxmlformats.org/officeDocument/2006/relationships/image" Target="../media/image45.svg"/><Relationship Id="rId4" Type="http://schemas.openxmlformats.org/officeDocument/2006/relationships/image" Target="../media/image46.svg"/><Relationship Id="rId5" Type="http://schemas.openxmlformats.org/officeDocument/2006/relationships/image" Target="../media/image47.sv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8.png"/><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image" Target="../media/image5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4.png"/><Relationship Id="rId3" Type="http://schemas.openxmlformats.org/officeDocument/2006/relationships/image" Target="../media/image55.png"/><Relationship Id="rId4" Type="http://schemas.openxmlformats.org/officeDocument/2006/relationships/image" Target="../media/image5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0.png"/><Relationship Id="rId3" Type="http://schemas.openxmlformats.org/officeDocument/2006/relationships/image" Target="../media/image61.png"/><Relationship Id="rId4" Type="http://schemas.openxmlformats.org/officeDocument/2006/relationships/image" Target="../media/image6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正方形/長方形 1"/>
          <p:cNvSpPr/>
          <p:nvPr/>
        </p:nvSpPr>
        <p:spPr>
          <a:xfrm>
            <a:off x="1665660" y="2937630"/>
            <a:ext cx="657396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3200" b="1" u="none" strike="noStrike" dirty="0">
                <a:solidFill>
                  <a:schemeClr val="dk1">
                    <a:lumMod val="75000"/>
                    <a:lumOff val="25000"/>
                  </a:schemeClr>
                </a:solidFill>
                <a:effectLst/>
                <a:uFillTx/>
                <a:latin typeface="メイリオ"/>
                <a:ea typeface="メイリオ"/>
              </a:rPr>
              <a:t>LINE公式アカウント運用のご提案</a:t>
            </a:r>
            <a:endParaRPr lang="en-US" sz="3200" b="0" u="none" strike="noStrike" dirty="0">
              <a:solidFill>
                <a:srgbClr val="000000"/>
              </a:solidFill>
              <a:effectLst/>
              <a:uFillTx/>
              <a:latin typeface="メイリオ"/>
            </a:endParaRPr>
          </a:p>
        </p:txBody>
      </p:sp>
      <p:sp>
        <p:nvSpPr>
          <p:cNvPr id="27" name="正方形/長方形 5"/>
          <p:cNvSpPr/>
          <p:nvPr/>
        </p:nvSpPr>
        <p:spPr>
          <a:xfrm>
            <a:off x="1336792" y="1922429"/>
            <a:ext cx="7231989" cy="1042415"/>
          </a:xfrm>
          <a:prstGeom prst="rect">
            <a:avLst/>
          </a:prstGeom>
          <a:noFill/>
          <a:ln w="0">
            <a:noFill/>
          </a:ln>
        </p:spPr>
        <p:style>
          <a:lnRef idx="0">
            <a:scrgbClr r="0" g="0" b="0"/>
          </a:lnRef>
          <a:fillRef idx="0">
            <a:scrgbClr r="0" g="0" b="0"/>
          </a:fillRef>
          <a:effectRef idx="0">
            <a:scrgbClr r="0" g="0" b="0"/>
          </a:effectRef>
          <a:fontRef idx="minor"/>
        </p:style>
        <p:txBody>
          <a:bodyPr wrap="square" lIns="91440" tIns="45720" rIns="91440" bIns="45720" anchor="b">
            <a:noAutofit/>
          </a:bodyPr>
          <a:lstStyle/>
          <a:p>
            <a:pPr algn="ctr"/>
            <a:r>
              <a:rPr lang="ja-JP" sz="1600" b="0" u="none" strike="noStrike" dirty="0">
                <a:solidFill>
                  <a:schemeClr val="dk1">
                    <a:lumMod val="50000"/>
                    <a:lumOff val="50000"/>
                  </a:schemeClr>
                </a:solidFill>
                <a:effectLst/>
                <a:uFillTx/>
                <a:latin typeface="メイリオ"/>
                <a:ea typeface="メイリオ"/>
              </a:rPr>
              <a:t>集めた見込み客を逃さずナーチャリングをし、</a:t>
            </a:r>
          </a:p>
          <a:p>
            <a:pPr algn="ctr"/>
            <a:r>
              <a:rPr lang="ja-JP" sz="1600" b="0" u="none" strike="noStrike" dirty="0">
                <a:solidFill>
                  <a:schemeClr val="dk1">
                    <a:lumMod val="50000"/>
                    <a:lumOff val="50000"/>
                  </a:schemeClr>
                </a:solidFill>
                <a:effectLst/>
                <a:uFillTx/>
                <a:latin typeface="メイリオ"/>
                <a:ea typeface="メイリオ"/>
              </a:rPr>
              <a:t>来場・契約へ変えるLINE仕組みの構築</a:t>
            </a:r>
          </a:p>
        </p:txBody>
      </p:sp>
      <p:cxnSp>
        <p:nvCxnSpPr>
          <p:cNvPr id="28" name="直線コネクタ 4"/>
          <p:cNvCxnSpPr/>
          <p:nvPr/>
        </p:nvCxnSpPr>
        <p:spPr>
          <a:xfrm>
            <a:off x="1336980" y="3604491"/>
            <a:ext cx="7232040" cy="0"/>
          </a:xfrm>
          <a:prstGeom prst="straightConnector1">
            <a:avLst/>
          </a:prstGeom>
          <a:ln w="19050">
            <a:solidFill>
              <a:srgbClr val="000000">
                <a:lumMod val="50000"/>
                <a:lumOff val="50000"/>
              </a:srgbClr>
            </a:solidFill>
            <a:round/>
          </a:ln>
        </p:spPr>
      </p:cxnSp>
      <p:pic>
        <p:nvPicPr>
          <p:cNvPr id="29" name="図 8" descr="背景パターン&#10;&#10;AI 生成コンテンツは誤りを含む可能性があります。"/>
          <p:cNvPicPr/>
          <p:nvPr/>
        </p:nvPicPr>
        <p:blipFill>
          <a:blip r:embed="rId2"/>
          <a:stretch/>
        </p:blipFill>
        <p:spPr>
          <a:xfrm>
            <a:off x="0" y="0"/>
            <a:ext cx="8159400" cy="766080"/>
          </a:xfrm>
          <a:prstGeom prst="rect">
            <a:avLst/>
          </a:prstGeom>
          <a:noFill/>
          <a:ln w="0">
            <a:noFill/>
          </a:ln>
        </p:spPr>
      </p:pic>
      <p:pic>
        <p:nvPicPr>
          <p:cNvPr id="30" name="図 9" descr="背景パターン&#10;&#10;AI 生成コンテンツは誤りを含む可能性があります。"/>
          <p:cNvPicPr/>
          <p:nvPr/>
        </p:nvPicPr>
        <p:blipFill>
          <a:blip r:embed="rId2"/>
          <a:stretch/>
        </p:blipFill>
        <p:spPr>
          <a:xfrm>
            <a:off x="7863840" y="494280"/>
            <a:ext cx="2041920" cy="271800"/>
          </a:xfrm>
          <a:prstGeom prst="rect">
            <a:avLst/>
          </a:prstGeom>
          <a:noFill/>
          <a:ln w="0">
            <a:noFill/>
          </a:ln>
        </p:spPr>
      </p:pic>
      <p:sp>
        <p:nvSpPr>
          <p:cNvPr id="31" name="テキスト ボックス 6"/>
          <p:cNvSpPr/>
          <p:nvPr/>
        </p:nvSpPr>
        <p:spPr>
          <a:xfrm>
            <a:off x="291960" y="263520"/>
            <a:ext cx="4965480" cy="338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1600" b="1" u="none" strike="noStrike">
                <a:solidFill>
                  <a:schemeClr val="dk1">
                    <a:lumMod val="50000"/>
                    <a:lumOff val="50000"/>
                  </a:schemeClr>
                </a:solidFill>
                <a:effectLst/>
                <a:uFillTx/>
                <a:latin typeface="メイリオ"/>
                <a:ea typeface="メイリオ"/>
              </a:rPr>
              <a:t>タナカホーム株式会社 御中</a:t>
            </a:r>
            <a:endParaRPr lang="en-US" sz="1600" b="0" u="none" strike="noStrike">
              <a:solidFill>
                <a:srgbClr val="000000"/>
              </a:solidFill>
              <a:effectLst/>
              <a:uFillTx/>
              <a:latin typeface="メイリオ"/>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8E14BD-61D8-2EDF-00C5-CC99878DCBE4}"/>
            </a:ext>
          </a:extLst>
        </p:cNvPr>
        <p:cNvGrpSpPr/>
        <p:nvPr/>
      </p:nvGrpSpPr>
      <p:grpSpPr>
        <a:xfrm>
          <a:off x="0" y="0"/>
          <a:ext cx="0" cy="0"/>
          <a:chOff x="0" y="0"/>
          <a:chExt cx="0" cy="0"/>
        </a:xfrm>
      </p:grpSpPr>
      <p:cxnSp>
        <p:nvCxnSpPr>
          <p:cNvPr id="23" name="直線コネクタ 4"/>
          <p:cNvCxnSpPr/>
          <p:nvPr/>
        </p:nvCxnSpPr>
        <p:spPr>
          <a:xfrm>
            <a:off x="0" y="548640"/>
            <a:ext cx="9906120" cy="360"/>
          </a:xfrm>
          <a:prstGeom prst="straightConnector1">
            <a:avLst/>
          </a:prstGeom>
          <a:ln>
            <a:solidFill>
              <a:srgbClr val="191F54"/>
            </a:solidFill>
            <a:round/>
          </a:ln>
        </p:spPr>
      </p:cxnSp>
      <p:sp>
        <p:nvSpPr>
          <p:cNvPr id="24" name="正方形/長方形 6"/>
          <p:cNvSpPr/>
          <p:nvPr/>
        </p:nvSpPr>
        <p:spPr>
          <a:xfrm>
            <a:off x="0" y="0"/>
            <a:ext cx="450720" cy="548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22" name="Google Shape;752;p28">
            <a:extLst>
              <a:ext uri="{FF2B5EF4-FFF2-40B4-BE49-F238E27FC236}">
                <a16:creationId xmlns:a16="http://schemas.microsoft.com/office/drawing/2014/main" id="{D26128CF-BCED-5375-A761-44A2026897C7}"/>
              </a:ext>
            </a:extLst>
          </p:cNvPr>
          <p:cNvSpPr txBox="1"/>
          <p:nvPr/>
        </p:nvSpPr>
        <p:spPr>
          <a:xfrm>
            <a:off x="549000" y="138240"/>
            <a:ext cx="6276325" cy="338040"/>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弊社紹介</a:t>
            </a:r>
          </a:p>
        </p:txBody>
      </p:sp>
      <p:pic>
        <p:nvPicPr>
          <p:cNvPr id="2" name="図 1">
            <a:extLst>
              <a:ext uri="{FF2B5EF4-FFF2-40B4-BE49-F238E27FC236}">
                <a16:creationId xmlns:a16="http://schemas.microsoft.com/office/drawing/2014/main" id="{EE2AAF13-DB10-C453-237D-21D704CF1C48}"/>
              </a:ext>
            </a:extLst>
          </p:cNvPr>
          <p:cNvPicPr>
            <a:picLocks noChangeAspect="1"/>
          </p:cNvPicPr>
          <p:nvPr/>
        </p:nvPicPr>
        <p:blipFill>
          <a:blip r:embed="rId2"/>
          <a:stretch>
            <a:fillRect/>
          </a:stretch>
        </p:blipFill>
        <p:spPr>
          <a:xfrm>
            <a:off x="97593" y="604446"/>
            <a:ext cx="9710814" cy="5910368"/>
          </a:xfrm>
          <a:prstGeom prst="rect">
            <a:avLst/>
          </a:prstGeom>
        </p:spPr>
      </p:pic>
    </p:spTree>
    <p:extLst>
      <p:ext uri="{BB962C8B-B14F-4D97-AF65-F5344CB8AC3E}">
        <p14:creationId xmlns:p14="http://schemas.microsoft.com/office/powerpoint/2010/main" val="24043713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82B273-7697-D76C-B709-A46B064F5735}"/>
            </a:ext>
          </a:extLst>
        </p:cNvPr>
        <p:cNvGrpSpPr/>
        <p:nvPr/>
      </p:nvGrpSpPr>
      <p:grpSpPr>
        <a:xfrm>
          <a:off x="0" y="0"/>
          <a:ext cx="0" cy="0"/>
          <a:chOff x="0" y="0"/>
          <a:chExt cx="0" cy="0"/>
        </a:xfrm>
      </p:grpSpPr>
      <p:cxnSp>
        <p:nvCxnSpPr>
          <p:cNvPr id="23" name="直線コネクタ 4"/>
          <p:cNvCxnSpPr/>
          <p:nvPr/>
        </p:nvCxnSpPr>
        <p:spPr>
          <a:xfrm>
            <a:off x="0" y="548640"/>
            <a:ext cx="9906120" cy="360"/>
          </a:xfrm>
          <a:prstGeom prst="straightConnector1">
            <a:avLst/>
          </a:prstGeom>
          <a:ln>
            <a:solidFill>
              <a:srgbClr val="191F54"/>
            </a:solidFill>
            <a:round/>
          </a:ln>
        </p:spPr>
      </p:cxnSp>
      <p:sp>
        <p:nvSpPr>
          <p:cNvPr id="24" name="正方形/長方形 6"/>
          <p:cNvSpPr/>
          <p:nvPr/>
        </p:nvSpPr>
        <p:spPr>
          <a:xfrm>
            <a:off x="0" y="0"/>
            <a:ext cx="450720" cy="548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22" name="Google Shape;752;p28">
            <a:extLst>
              <a:ext uri="{FF2B5EF4-FFF2-40B4-BE49-F238E27FC236}">
                <a16:creationId xmlns:a16="http://schemas.microsoft.com/office/drawing/2014/main" id="{E0553DA5-5DE0-BD33-70D4-FC02F33113D3}"/>
              </a:ext>
            </a:extLst>
          </p:cNvPr>
          <p:cNvSpPr txBox="1"/>
          <p:nvPr/>
        </p:nvSpPr>
        <p:spPr>
          <a:xfrm>
            <a:off x="549000" y="138240"/>
            <a:ext cx="6276325" cy="338040"/>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弊社紹介</a:t>
            </a:r>
          </a:p>
        </p:txBody>
      </p:sp>
      <p:pic>
        <p:nvPicPr>
          <p:cNvPr id="6" name="図 5">
            <a:extLst>
              <a:ext uri="{FF2B5EF4-FFF2-40B4-BE49-F238E27FC236}">
                <a16:creationId xmlns:a16="http://schemas.microsoft.com/office/drawing/2014/main" id="{CFA9FEA4-17EA-590D-125E-FAC8C6AD3583}"/>
              </a:ext>
            </a:extLst>
          </p:cNvPr>
          <p:cNvPicPr>
            <a:picLocks noChangeAspect="1"/>
          </p:cNvPicPr>
          <p:nvPr/>
        </p:nvPicPr>
        <p:blipFill>
          <a:blip r:embed="rId2"/>
          <a:srcRect b="947"/>
          <a:stretch>
            <a:fillRect/>
          </a:stretch>
        </p:blipFill>
        <p:spPr>
          <a:xfrm>
            <a:off x="10340" y="821330"/>
            <a:ext cx="9885321" cy="5476601"/>
          </a:xfrm>
          <a:prstGeom prst="rect">
            <a:avLst/>
          </a:prstGeom>
        </p:spPr>
      </p:pic>
    </p:spTree>
    <p:extLst>
      <p:ext uri="{BB962C8B-B14F-4D97-AF65-F5344CB8AC3E}">
        <p14:creationId xmlns:p14="http://schemas.microsoft.com/office/powerpoint/2010/main" val="13029788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89E1EF-F184-F7BC-2DF2-9E9641908D82}"/>
            </a:ext>
          </a:extLst>
        </p:cNvPr>
        <p:cNvGrpSpPr/>
        <p:nvPr/>
      </p:nvGrpSpPr>
      <p:grpSpPr>
        <a:xfrm>
          <a:off x="0" y="0"/>
          <a:ext cx="0" cy="0"/>
          <a:chOff x="0" y="0"/>
          <a:chExt cx="0" cy="0"/>
        </a:xfrm>
      </p:grpSpPr>
      <p:cxnSp>
        <p:nvCxnSpPr>
          <p:cNvPr id="2112" name="直線コネクタ 4"/>
          <p:cNvCxnSpPr/>
          <p:nvPr/>
        </p:nvCxnSpPr>
        <p:spPr>
          <a:xfrm>
            <a:off x="0" y="548640"/>
            <a:ext cx="9906120" cy="360"/>
          </a:xfrm>
          <a:prstGeom prst="straightConnector1">
            <a:avLst/>
          </a:prstGeom>
          <a:ln>
            <a:solidFill>
              <a:srgbClr val="191F54"/>
            </a:solidFill>
            <a:round/>
          </a:ln>
        </p:spPr>
      </p:cxnSp>
      <p:sp>
        <p:nvSpPr>
          <p:cNvPr id="2113" name="正方形/長方形 6"/>
          <p:cNvSpPr/>
          <p:nvPr/>
        </p:nvSpPr>
        <p:spPr>
          <a:xfrm>
            <a:off x="0" y="0"/>
            <a:ext cx="450720" cy="548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pic>
        <p:nvPicPr>
          <p:cNvPr id="58" name="図 57" descr="文字と写真のスクリーンショット&#10;&#10;AI 生成コンテンツは誤りを含む可能性があります。">
            <a:extLst>
              <a:ext uri="{FF2B5EF4-FFF2-40B4-BE49-F238E27FC236}">
                <a16:creationId xmlns:a16="http://schemas.microsoft.com/office/drawing/2014/main" id="{BC098C34-07FA-B015-C970-B8433D9E8BE3}"/>
              </a:ext>
            </a:extLst>
          </p:cNvPr>
          <p:cNvPicPr>
            <a:picLocks noChangeAspect="1"/>
          </p:cNvPicPr>
          <p:nvPr/>
        </p:nvPicPr>
        <p:blipFill>
          <a:blip r:embed="rId2" cstate="print">
            <a:extLst>
              <a:ext uri="{28A0092B-C50C-407E-A947-70E740481C1C}">
                <a14:useLocalDpi xmlns:a14="http://schemas.microsoft.com/office/drawing/2010/main" val="0"/>
              </a:ext>
            </a:extLst>
          </a:blip>
          <a:srcRect l="33846" t="3967" r="34188" b="52442"/>
          <a:stretch>
            <a:fillRect/>
          </a:stretch>
        </p:blipFill>
        <p:spPr>
          <a:xfrm>
            <a:off x="489022" y="5068469"/>
            <a:ext cx="2046003" cy="1464812"/>
          </a:xfrm>
          <a:prstGeom prst="rect">
            <a:avLst/>
          </a:prstGeom>
        </p:spPr>
      </p:pic>
      <p:sp>
        <p:nvSpPr>
          <p:cNvPr id="33" name="正方形/長方形 32">
            <a:extLst>
              <a:ext uri="{FF2B5EF4-FFF2-40B4-BE49-F238E27FC236}">
                <a16:creationId xmlns:a16="http://schemas.microsoft.com/office/drawing/2014/main" id="{1E52F929-5FD7-9413-24A8-2725B04E4908}"/>
              </a:ext>
            </a:extLst>
          </p:cNvPr>
          <p:cNvSpPr/>
          <p:nvPr/>
        </p:nvSpPr>
        <p:spPr>
          <a:xfrm>
            <a:off x="388723" y="1082314"/>
            <a:ext cx="9129600" cy="1005648"/>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2025</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年</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11</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月、株式会社</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ヤフー社が主催する </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ヤフー </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Partner Award 2025” </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に株式会社</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DYM</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が参加。</a:t>
            </a:r>
            <a:b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b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弊社は</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公式アカウントによるビジネス拡大に最も貢献したとして、</a:t>
            </a:r>
            <a:r>
              <a:rPr lang="ja-JP" altLang="en-US" sz="1200" b="1" dirty="0">
                <a:solidFill>
                  <a:srgbClr val="C00000"/>
                </a:solidFill>
                <a:latin typeface="メイリオ" panose="020B0604030504040204" pitchFamily="50" charset="-128"/>
                <a:ea typeface="メイリオ" panose="020B0604030504040204" pitchFamily="50" charset="-128"/>
              </a:rPr>
              <a:t>「</a:t>
            </a:r>
            <a:r>
              <a:rPr lang="en-US" altLang="ja-JP" sz="1200" b="1" dirty="0">
                <a:solidFill>
                  <a:srgbClr val="C00000"/>
                </a:solidFill>
                <a:latin typeface="メイリオ" panose="020B0604030504040204" pitchFamily="50" charset="-128"/>
                <a:ea typeface="メイリオ" panose="020B0604030504040204" pitchFamily="50" charset="-128"/>
              </a:rPr>
              <a:t>Best LINE</a:t>
            </a:r>
            <a:r>
              <a:rPr lang="ja-JP" altLang="en-US" sz="1200" b="1" dirty="0">
                <a:solidFill>
                  <a:srgbClr val="C00000"/>
                </a:solidFill>
                <a:latin typeface="メイリオ" panose="020B0604030504040204" pitchFamily="50" charset="-128"/>
                <a:ea typeface="メイリオ" panose="020B0604030504040204" pitchFamily="50" charset="-128"/>
              </a:rPr>
              <a:t>公式アカウント </a:t>
            </a:r>
            <a:r>
              <a:rPr lang="en-US" altLang="ja-JP" sz="1200" b="1" dirty="0">
                <a:solidFill>
                  <a:srgbClr val="C00000"/>
                </a:solidFill>
                <a:latin typeface="メイリオ" panose="020B0604030504040204" pitchFamily="50" charset="-128"/>
                <a:ea typeface="メイリオ" panose="020B0604030504040204" pitchFamily="50" charset="-128"/>
              </a:rPr>
              <a:t>Growth</a:t>
            </a:r>
            <a:r>
              <a:rPr lang="en-US" altLang="ja-JP" sz="700" b="1" dirty="0">
                <a:solidFill>
                  <a:srgbClr val="C00000"/>
                </a:solidFill>
                <a:latin typeface="メイリオ" panose="020B0604030504040204" pitchFamily="50" charset="-128"/>
                <a:ea typeface="メイリオ" panose="020B0604030504040204" pitchFamily="50" charset="-128"/>
              </a:rPr>
              <a:t>※</a:t>
            </a:r>
            <a:r>
              <a:rPr lang="ja-JP" altLang="en-US" sz="1200" b="1" dirty="0">
                <a:solidFill>
                  <a:srgbClr val="C00000"/>
                </a:solidFill>
                <a:latin typeface="メイリオ" panose="020B0604030504040204" pitchFamily="50" charset="-128"/>
                <a:ea typeface="メイリオ" panose="020B0604030504040204" pitchFamily="50" charset="-128"/>
              </a:rPr>
              <a:t>」</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を受賞。</a:t>
            </a:r>
            <a:b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b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2026</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年現在、</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公式アカウントの</a:t>
            </a:r>
            <a:r>
              <a:rPr lang="ja-JP" altLang="en-US" sz="1200" b="1" dirty="0">
                <a:solidFill>
                  <a:srgbClr val="000000">
                    <a:lumMod val="95000"/>
                    <a:lumOff val="5000"/>
                  </a:srgbClr>
                </a:solidFill>
                <a:latin typeface="メイリオ" panose="020B0604030504040204" pitchFamily="50" charset="-128"/>
                <a:ea typeface="メイリオ" panose="020B0604030504040204" pitchFamily="50" charset="-128"/>
              </a:rPr>
              <a:t>取扱社数は</a:t>
            </a:r>
            <a:r>
              <a:rPr lang="en-US" altLang="ja-JP" sz="1200" b="1" dirty="0">
                <a:solidFill>
                  <a:srgbClr val="000000">
                    <a:lumMod val="95000"/>
                    <a:lumOff val="5000"/>
                  </a:srgbClr>
                </a:solidFill>
                <a:latin typeface="メイリオ" panose="020B0604030504040204" pitchFamily="50" charset="-128"/>
                <a:ea typeface="メイリオ" panose="020B0604030504040204" pitchFamily="50" charset="-128"/>
              </a:rPr>
              <a:t>100</a:t>
            </a:r>
            <a:r>
              <a:rPr lang="ja-JP" altLang="en-US" sz="1200" b="1" dirty="0">
                <a:solidFill>
                  <a:srgbClr val="000000">
                    <a:lumMod val="95000"/>
                    <a:lumOff val="5000"/>
                  </a:srgbClr>
                </a:solidFill>
                <a:latin typeface="メイリオ" panose="020B0604030504040204" pitchFamily="50" charset="-128"/>
                <a:ea typeface="メイリオ" panose="020B0604030504040204" pitchFamily="50" charset="-128"/>
              </a:rPr>
              <a:t>社以上、</a:t>
            </a:r>
            <a:r>
              <a:rPr lang="en-US" altLang="ja-JP" sz="1200" b="1" dirty="0">
                <a:solidFill>
                  <a:srgbClr val="000000">
                    <a:lumMod val="95000"/>
                    <a:lumOff val="5000"/>
                  </a:srgbClr>
                </a:solidFill>
                <a:latin typeface="メイリオ" panose="020B0604030504040204" pitchFamily="50" charset="-128"/>
                <a:ea typeface="メイリオ" panose="020B0604030504040204" pitchFamily="50" charset="-128"/>
              </a:rPr>
              <a:t>400</a:t>
            </a:r>
            <a:r>
              <a:rPr lang="ja-JP" altLang="en-US" sz="1200" b="1" dirty="0">
                <a:solidFill>
                  <a:srgbClr val="000000">
                    <a:lumMod val="95000"/>
                    <a:lumOff val="5000"/>
                  </a:srgbClr>
                </a:solidFill>
                <a:latin typeface="メイリオ" panose="020B0604030504040204" pitchFamily="50" charset="-128"/>
                <a:ea typeface="メイリオ" panose="020B0604030504040204" pitchFamily="50" charset="-128"/>
              </a:rPr>
              <a:t>アカウント以上まで拡大</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しており関連サービスも展開中。</a:t>
            </a:r>
            <a:endPar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endParaRPr>
          </a:p>
          <a:p>
            <a:pPr algn="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 LINE</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公式アカウントを活用し、ビジネス拡大に最も貢献したパートナーに贈られる賞です。</a:t>
            </a:r>
            <a:endPar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2" name="Google Shape;752;p28">
            <a:extLst>
              <a:ext uri="{FF2B5EF4-FFF2-40B4-BE49-F238E27FC236}">
                <a16:creationId xmlns:a16="http://schemas.microsoft.com/office/drawing/2014/main" id="{C34101C7-CA6C-6ED6-33D4-C2B82BDA5473}"/>
              </a:ext>
            </a:extLst>
          </p:cNvPr>
          <p:cNvSpPr txBox="1"/>
          <p:nvPr/>
        </p:nvSpPr>
        <p:spPr>
          <a:xfrm>
            <a:off x="549000" y="138240"/>
            <a:ext cx="6276325" cy="338040"/>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弊社実績</a:t>
            </a:r>
          </a:p>
        </p:txBody>
      </p:sp>
      <p:sp>
        <p:nvSpPr>
          <p:cNvPr id="49" name="正方形/長方形 48">
            <a:extLst>
              <a:ext uri="{FF2B5EF4-FFF2-40B4-BE49-F238E27FC236}">
                <a16:creationId xmlns:a16="http://schemas.microsoft.com/office/drawing/2014/main" id="{9685C0AB-6B7A-94C5-EFA8-756E59EE714E}"/>
              </a:ext>
            </a:extLst>
          </p:cNvPr>
          <p:cNvSpPr/>
          <p:nvPr/>
        </p:nvSpPr>
        <p:spPr>
          <a:xfrm>
            <a:off x="388723" y="2116303"/>
            <a:ext cx="9128554" cy="307777"/>
          </a:xfrm>
          <a:prstGeom prst="rect">
            <a:avLst/>
          </a:prstGeom>
          <a:solidFill>
            <a:schemeClr val="bg1">
              <a:lumMod val="65000"/>
            </a:schemeClr>
          </a:solidFill>
          <a:ln>
            <a:solidFill>
              <a:schemeClr val="bg1">
                <a:lumMod val="65000"/>
              </a:schemeClr>
            </a:solidFill>
          </a:ln>
        </p:spPr>
        <p:txBody>
          <a:bodyPr wrap="square">
            <a:spAutoFit/>
          </a:bodyPr>
          <a:lstStyle/>
          <a:p>
            <a:pPr lvl="0" algn="ctr">
              <a:buClr>
                <a:srgbClr val="002060"/>
              </a:buClr>
              <a:buSzPts val="1600"/>
            </a:pPr>
            <a:r>
              <a:rPr lang="ja-JP" altLang="en-US" sz="1400" b="1">
                <a:solidFill>
                  <a:schemeClr val="bg1"/>
                </a:solidFill>
                <a:latin typeface="Meiryo"/>
                <a:ea typeface="Meiryo"/>
                <a:cs typeface="Meiryo"/>
                <a:sym typeface="Meiryo"/>
              </a:rPr>
              <a:t>弊社受賞遍歴 </a:t>
            </a:r>
            <a:r>
              <a:rPr lang="en-US" altLang="ja-JP" sz="1400" b="1">
                <a:solidFill>
                  <a:schemeClr val="bg1"/>
                </a:solidFill>
                <a:latin typeface="Meiryo"/>
                <a:ea typeface="Meiryo"/>
                <a:cs typeface="Meiryo"/>
                <a:sym typeface="Meiryo"/>
              </a:rPr>
              <a:t>Since.2024</a:t>
            </a:r>
            <a:r>
              <a:rPr lang="ja-JP" altLang="en-US" sz="1400" b="1">
                <a:solidFill>
                  <a:schemeClr val="bg1"/>
                </a:solidFill>
                <a:latin typeface="Meiryo"/>
                <a:ea typeface="Meiryo"/>
                <a:cs typeface="Meiryo"/>
                <a:sym typeface="Meiryo"/>
              </a:rPr>
              <a:t>年</a:t>
            </a:r>
            <a:r>
              <a:rPr lang="en-US" altLang="ja-JP" sz="1400" b="1">
                <a:solidFill>
                  <a:schemeClr val="bg1"/>
                </a:solidFill>
                <a:latin typeface="Meiryo"/>
                <a:ea typeface="Meiryo"/>
                <a:cs typeface="Meiryo"/>
                <a:sym typeface="Meiryo"/>
              </a:rPr>
              <a:t>5</a:t>
            </a:r>
            <a:r>
              <a:rPr lang="ja-JP" altLang="en-US" sz="1400" b="1">
                <a:solidFill>
                  <a:schemeClr val="bg1"/>
                </a:solidFill>
                <a:latin typeface="Meiryo"/>
                <a:ea typeface="Meiryo"/>
                <a:cs typeface="Meiryo"/>
                <a:sym typeface="Meiryo"/>
              </a:rPr>
              <a:t>月～</a:t>
            </a:r>
            <a:endParaRPr lang="en-US" altLang="ja-JP" sz="1400" b="1" dirty="0">
              <a:solidFill>
                <a:schemeClr val="bg1"/>
              </a:solidFill>
              <a:latin typeface="Meiryo"/>
              <a:ea typeface="Meiryo"/>
              <a:cs typeface="Meiryo"/>
              <a:sym typeface="Meiryo"/>
            </a:endParaRPr>
          </a:p>
        </p:txBody>
      </p:sp>
      <p:sp>
        <p:nvSpPr>
          <p:cNvPr id="50" name="テキスト プレースホルダー 2">
            <a:extLst>
              <a:ext uri="{FF2B5EF4-FFF2-40B4-BE49-F238E27FC236}">
                <a16:creationId xmlns:a16="http://schemas.microsoft.com/office/drawing/2014/main" id="{18B78559-32E9-7E98-9E42-625866BF0637}"/>
              </a:ext>
            </a:extLst>
          </p:cNvPr>
          <p:cNvSpPr txBox="1">
            <a:spLocks/>
          </p:cNvSpPr>
          <p:nvPr/>
        </p:nvSpPr>
        <p:spPr>
          <a:xfrm>
            <a:off x="4741655" y="135388"/>
            <a:ext cx="3604551" cy="356140"/>
          </a:xfrm>
          <a:prstGeom prst="rect">
            <a:avLst/>
          </a:prstGeom>
        </p:spPr>
        <p:txBody>
          <a:bodyPr lIns="0" tIns="0" rIns="0" bIns="0" anchor="t"/>
          <a:lstStyle>
            <a:lvl1pPr marL="0" indent="0" algn="l" defTabSz="914400" rtl="0" eaLnBrk="1" latinLnBrk="0" hangingPunct="1">
              <a:lnSpc>
                <a:spcPct val="130000"/>
              </a:lnSpc>
              <a:spcBef>
                <a:spcPts val="0"/>
              </a:spcBef>
              <a:buFont typeface="Arial" panose="020B0604020202020204" pitchFamily="34" charset="0"/>
              <a:buNone/>
              <a:defRPr kumimoji="1" sz="1400" kern="1200">
                <a:solidFill>
                  <a:schemeClr val="tx1">
                    <a:lumMod val="95000"/>
                    <a:lumOff val="5000"/>
                  </a:schemeClr>
                </a:solidFill>
                <a:latin typeface="Meiryo" panose="020B0604030504040204" pitchFamily="34" charset="-128"/>
                <a:ea typeface="Meiryo" panose="020B0604030504040204"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539750" lvl="0" indent="-539750">
              <a:tabLst>
                <a:tab pos="447675" algn="l"/>
              </a:tabLst>
              <a:defRPr/>
            </a:pPr>
            <a:r>
              <a:rPr lang="en-US" altLang="ja-JP" sz="800" dirty="0">
                <a:solidFill>
                  <a:srgbClr val="000000">
                    <a:lumMod val="95000"/>
                    <a:lumOff val="5000"/>
                  </a:srgbClr>
                </a:solidFill>
              </a:rPr>
              <a:t>【</a:t>
            </a:r>
            <a:r>
              <a:rPr lang="ja-JP" altLang="en-US" sz="800" dirty="0">
                <a:solidFill>
                  <a:srgbClr val="000000">
                    <a:lumMod val="95000"/>
                    <a:lumOff val="5000"/>
                  </a:srgbClr>
                </a:solidFill>
              </a:rPr>
              <a:t>参考情報</a:t>
            </a:r>
            <a:r>
              <a:rPr lang="en-US" altLang="ja-JP" sz="800" dirty="0">
                <a:solidFill>
                  <a:srgbClr val="000000">
                    <a:lumMod val="95000"/>
                    <a:lumOff val="5000"/>
                  </a:srgbClr>
                </a:solidFill>
              </a:rPr>
              <a:t>】</a:t>
            </a:r>
          </a:p>
          <a:p>
            <a:pPr marL="88900" lvl="0">
              <a:tabLst>
                <a:tab pos="447675" algn="l"/>
              </a:tabLst>
              <a:defRPr/>
            </a:pPr>
            <a:r>
              <a:rPr lang="en-US" altLang="ja-JP" sz="800" dirty="0">
                <a:solidFill>
                  <a:srgbClr val="000000">
                    <a:lumMod val="95000"/>
                    <a:lumOff val="5000"/>
                  </a:srgbClr>
                </a:solidFill>
              </a:rPr>
              <a:t>https://prtimes.jp/main/html/rd/p/000000412.000027235.html</a:t>
            </a:r>
            <a:endParaRPr lang="en-US" altLang="ja-JP" sz="1100" dirty="0">
              <a:solidFill>
                <a:srgbClr val="000000">
                  <a:lumMod val="95000"/>
                  <a:lumOff val="5000"/>
                </a:srgbClr>
              </a:solidFill>
            </a:endParaRPr>
          </a:p>
        </p:txBody>
      </p:sp>
      <p:sp>
        <p:nvSpPr>
          <p:cNvPr id="45" name="正方形/長方形 44">
            <a:extLst>
              <a:ext uri="{FF2B5EF4-FFF2-40B4-BE49-F238E27FC236}">
                <a16:creationId xmlns:a16="http://schemas.microsoft.com/office/drawing/2014/main" id="{02177995-9B5C-9C4B-3202-5DD03969179E}"/>
              </a:ext>
            </a:extLst>
          </p:cNvPr>
          <p:cNvSpPr/>
          <p:nvPr/>
        </p:nvSpPr>
        <p:spPr>
          <a:xfrm>
            <a:off x="495424" y="4784484"/>
            <a:ext cx="3561143" cy="276999"/>
          </a:xfrm>
          <a:prstGeom prst="rect">
            <a:avLst/>
          </a:prstGeom>
          <a:solidFill>
            <a:schemeClr val="bg1">
              <a:lumMod val="65000"/>
            </a:schemeClr>
          </a:solidFill>
          <a:ln>
            <a:solidFill>
              <a:schemeClr val="bg1">
                <a:lumMod val="65000"/>
              </a:schemeClr>
            </a:solidFill>
          </a:ln>
        </p:spPr>
        <p:txBody>
          <a:bodyPr wrap="square">
            <a:spAutoFit/>
          </a:bodyPr>
          <a:lstStyle/>
          <a:p>
            <a:pPr lvl="0" algn="ctr">
              <a:buClr>
                <a:srgbClr val="002060"/>
              </a:buClr>
              <a:buSzPts val="1600"/>
            </a:pPr>
            <a:r>
              <a:rPr lang="ja-JP" altLang="en-US" sz="1200" b="1" dirty="0">
                <a:solidFill>
                  <a:schemeClr val="bg1"/>
                </a:solidFill>
                <a:latin typeface="Meiryo"/>
                <a:ea typeface="Meiryo"/>
                <a:cs typeface="Meiryo"/>
                <a:sym typeface="Meiryo"/>
              </a:rPr>
              <a:t>最上位となる </a:t>
            </a:r>
            <a:r>
              <a:rPr lang="en-US" altLang="ja-JP" sz="1200" b="1" dirty="0">
                <a:solidFill>
                  <a:schemeClr val="bg1"/>
                </a:solidFill>
                <a:latin typeface="Meiryo"/>
                <a:ea typeface="Meiryo"/>
                <a:cs typeface="Meiryo"/>
                <a:sym typeface="Meiryo"/>
              </a:rPr>
              <a:t>Sales Partner Premier</a:t>
            </a:r>
          </a:p>
        </p:txBody>
      </p:sp>
      <p:sp>
        <p:nvSpPr>
          <p:cNvPr id="55" name="正方形/長方形 54">
            <a:extLst>
              <a:ext uri="{FF2B5EF4-FFF2-40B4-BE49-F238E27FC236}">
                <a16:creationId xmlns:a16="http://schemas.microsoft.com/office/drawing/2014/main" id="{0E12B4F2-0482-55A4-443A-115FC30E22E8}"/>
              </a:ext>
            </a:extLst>
          </p:cNvPr>
          <p:cNvSpPr/>
          <p:nvPr/>
        </p:nvSpPr>
        <p:spPr>
          <a:xfrm>
            <a:off x="4362995" y="4784484"/>
            <a:ext cx="5165666" cy="276999"/>
          </a:xfrm>
          <a:prstGeom prst="rect">
            <a:avLst/>
          </a:prstGeom>
          <a:solidFill>
            <a:schemeClr val="bg1">
              <a:lumMod val="65000"/>
            </a:schemeClr>
          </a:solidFill>
          <a:ln>
            <a:solidFill>
              <a:schemeClr val="bg1">
                <a:lumMod val="65000"/>
              </a:schemeClr>
            </a:solidFill>
          </a:ln>
        </p:spPr>
        <p:txBody>
          <a:bodyPr wrap="square">
            <a:spAutoFit/>
          </a:bodyPr>
          <a:lstStyle/>
          <a:p>
            <a:pPr algn="ctr">
              <a:buClr>
                <a:srgbClr val="002060"/>
              </a:buClr>
              <a:buSzPts val="1600"/>
            </a:pPr>
            <a:r>
              <a:rPr lang="en-US" altLang="ja-JP" sz="1200" b="1" dirty="0">
                <a:solidFill>
                  <a:schemeClr val="bg1"/>
                </a:solidFill>
                <a:latin typeface="Meiryo"/>
                <a:ea typeface="Meiryo"/>
                <a:cs typeface="Meiryo"/>
                <a:sym typeface="Meiryo"/>
              </a:rPr>
              <a:t>Best LINE</a:t>
            </a:r>
            <a:r>
              <a:rPr lang="ja-JP" altLang="en-US" sz="1200" b="1" dirty="0">
                <a:solidFill>
                  <a:schemeClr val="bg1"/>
                </a:solidFill>
                <a:latin typeface="Meiryo"/>
                <a:ea typeface="Meiryo"/>
                <a:cs typeface="Meiryo"/>
                <a:sym typeface="Meiryo"/>
              </a:rPr>
              <a:t>公式アカウント </a:t>
            </a:r>
            <a:r>
              <a:rPr lang="en-US" altLang="ja-JP" sz="1200" b="1" dirty="0">
                <a:solidFill>
                  <a:schemeClr val="bg1"/>
                </a:solidFill>
                <a:latin typeface="Meiryo"/>
                <a:ea typeface="Meiryo"/>
                <a:cs typeface="Meiryo"/>
                <a:sym typeface="Meiryo"/>
              </a:rPr>
              <a:t>Growth </a:t>
            </a:r>
            <a:r>
              <a:rPr lang="ja-JP" altLang="en-US" sz="1200" b="1" dirty="0">
                <a:solidFill>
                  <a:schemeClr val="bg1"/>
                </a:solidFill>
                <a:latin typeface="Meiryo"/>
                <a:ea typeface="Meiryo"/>
                <a:cs typeface="Meiryo"/>
                <a:sym typeface="Meiryo"/>
              </a:rPr>
              <a:t>の受賞を受ける</a:t>
            </a:r>
            <a:endParaRPr lang="en-US" altLang="ja-JP" sz="1200" b="1" dirty="0">
              <a:solidFill>
                <a:schemeClr val="bg1"/>
              </a:solidFill>
              <a:latin typeface="Meiryo"/>
              <a:ea typeface="Meiryo"/>
              <a:cs typeface="Meiryo"/>
              <a:sym typeface="Meiryo"/>
            </a:endParaRPr>
          </a:p>
        </p:txBody>
      </p:sp>
      <p:cxnSp>
        <p:nvCxnSpPr>
          <p:cNvPr id="2082" name="直線コネクタ 2081">
            <a:extLst>
              <a:ext uri="{FF2B5EF4-FFF2-40B4-BE49-F238E27FC236}">
                <a16:creationId xmlns:a16="http://schemas.microsoft.com/office/drawing/2014/main" id="{530411FF-29F9-73B2-C470-CBF0BA20AC73}"/>
              </a:ext>
            </a:extLst>
          </p:cNvPr>
          <p:cNvCxnSpPr>
            <a:cxnSpLocks/>
          </p:cNvCxnSpPr>
          <p:nvPr/>
        </p:nvCxnSpPr>
        <p:spPr>
          <a:xfrm>
            <a:off x="3212877" y="2980676"/>
            <a:ext cx="6240687" cy="0"/>
          </a:xfrm>
          <a:prstGeom prst="line">
            <a:avLst/>
          </a:prstGeom>
          <a:ln w="76200">
            <a:solidFill>
              <a:srgbClr val="10253F"/>
            </a:solidFill>
          </a:ln>
        </p:spPr>
        <p:style>
          <a:lnRef idx="1">
            <a:schemeClr val="accent1"/>
          </a:lnRef>
          <a:fillRef idx="0">
            <a:schemeClr val="accent1"/>
          </a:fillRef>
          <a:effectRef idx="0">
            <a:schemeClr val="accent1"/>
          </a:effectRef>
          <a:fontRef idx="minor">
            <a:schemeClr val="tx1"/>
          </a:fontRef>
        </p:style>
      </p:cxnSp>
      <p:cxnSp>
        <p:nvCxnSpPr>
          <p:cNvPr id="2085" name="直線コネクタ 2084">
            <a:extLst>
              <a:ext uri="{FF2B5EF4-FFF2-40B4-BE49-F238E27FC236}">
                <a16:creationId xmlns:a16="http://schemas.microsoft.com/office/drawing/2014/main" id="{D7948E6E-45A1-2B8A-2983-5CE3031B129A}"/>
              </a:ext>
            </a:extLst>
          </p:cNvPr>
          <p:cNvCxnSpPr>
            <a:cxnSpLocks/>
          </p:cNvCxnSpPr>
          <p:nvPr/>
        </p:nvCxnSpPr>
        <p:spPr>
          <a:xfrm>
            <a:off x="412752" y="3985954"/>
            <a:ext cx="5253034" cy="0"/>
          </a:xfrm>
          <a:prstGeom prst="line">
            <a:avLst/>
          </a:prstGeom>
          <a:ln w="76200">
            <a:solidFill>
              <a:srgbClr val="10253F"/>
            </a:solidFill>
          </a:ln>
        </p:spPr>
        <p:style>
          <a:lnRef idx="1">
            <a:schemeClr val="accent1"/>
          </a:lnRef>
          <a:fillRef idx="0">
            <a:schemeClr val="accent1"/>
          </a:fillRef>
          <a:effectRef idx="0">
            <a:schemeClr val="accent1"/>
          </a:effectRef>
          <a:fontRef idx="minor">
            <a:schemeClr val="tx1"/>
          </a:fontRef>
        </p:style>
      </p:cxnSp>
      <p:sp>
        <p:nvSpPr>
          <p:cNvPr id="2086" name="フローチャート: 結合子 2085">
            <a:extLst>
              <a:ext uri="{FF2B5EF4-FFF2-40B4-BE49-F238E27FC236}">
                <a16:creationId xmlns:a16="http://schemas.microsoft.com/office/drawing/2014/main" id="{19617C5C-724A-7FCE-22E5-5B2ECC96F048}"/>
              </a:ext>
            </a:extLst>
          </p:cNvPr>
          <p:cNvSpPr/>
          <p:nvPr/>
        </p:nvSpPr>
        <p:spPr>
          <a:xfrm>
            <a:off x="3076995"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87" name="フローチャート: 結合子 2086">
            <a:extLst>
              <a:ext uri="{FF2B5EF4-FFF2-40B4-BE49-F238E27FC236}">
                <a16:creationId xmlns:a16="http://schemas.microsoft.com/office/drawing/2014/main" id="{C7AB064F-FD75-D23A-C3F2-7F831805457C}"/>
              </a:ext>
            </a:extLst>
          </p:cNvPr>
          <p:cNvSpPr/>
          <p:nvPr/>
        </p:nvSpPr>
        <p:spPr>
          <a:xfrm>
            <a:off x="970449" y="3759595"/>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89" name="フローチャート: 結合子 2088">
            <a:extLst>
              <a:ext uri="{FF2B5EF4-FFF2-40B4-BE49-F238E27FC236}">
                <a16:creationId xmlns:a16="http://schemas.microsoft.com/office/drawing/2014/main" id="{CE0B51F4-2695-E1D7-F353-BA60386FABE4}"/>
              </a:ext>
            </a:extLst>
          </p:cNvPr>
          <p:cNvSpPr/>
          <p:nvPr/>
        </p:nvSpPr>
        <p:spPr>
          <a:xfrm>
            <a:off x="7801859"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0" name="フローチャート: 結合子 2089">
            <a:extLst>
              <a:ext uri="{FF2B5EF4-FFF2-40B4-BE49-F238E27FC236}">
                <a16:creationId xmlns:a16="http://schemas.microsoft.com/office/drawing/2014/main" id="{6F2861A8-2376-2999-4214-6F268B03A3E1}"/>
              </a:ext>
            </a:extLst>
          </p:cNvPr>
          <p:cNvSpPr/>
          <p:nvPr/>
        </p:nvSpPr>
        <p:spPr>
          <a:xfrm>
            <a:off x="5439427"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2" name="フローチャート: 結合子 2091">
            <a:extLst>
              <a:ext uri="{FF2B5EF4-FFF2-40B4-BE49-F238E27FC236}">
                <a16:creationId xmlns:a16="http://schemas.microsoft.com/office/drawing/2014/main" id="{11455BE0-024C-CCCF-549A-5895CCF6FCA5}"/>
              </a:ext>
            </a:extLst>
          </p:cNvPr>
          <p:cNvSpPr/>
          <p:nvPr/>
        </p:nvSpPr>
        <p:spPr>
          <a:xfrm>
            <a:off x="5454960" y="3739586"/>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3" name="フローチャート: 結合子 2092">
            <a:extLst>
              <a:ext uri="{FF2B5EF4-FFF2-40B4-BE49-F238E27FC236}">
                <a16:creationId xmlns:a16="http://schemas.microsoft.com/office/drawing/2014/main" id="{6A2B7AEE-64D5-5687-4D90-BFEBFB87978F}"/>
              </a:ext>
            </a:extLst>
          </p:cNvPr>
          <p:cNvSpPr/>
          <p:nvPr/>
        </p:nvSpPr>
        <p:spPr>
          <a:xfrm>
            <a:off x="3076995" y="3776603"/>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4" name="テキスト ボックス 2093">
            <a:extLst>
              <a:ext uri="{FF2B5EF4-FFF2-40B4-BE49-F238E27FC236}">
                <a16:creationId xmlns:a16="http://schemas.microsoft.com/office/drawing/2014/main" id="{F181EC8C-1DAE-5AF7-1C4D-4C86090B08E7}"/>
              </a:ext>
            </a:extLst>
          </p:cNvPr>
          <p:cNvSpPr txBox="1"/>
          <p:nvPr/>
        </p:nvSpPr>
        <p:spPr>
          <a:xfrm>
            <a:off x="2824561" y="2498440"/>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2024</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5</a:t>
            </a:r>
            <a:r>
              <a:rPr kumimoji="1" lang="ja-JP" altLang="en-US" sz="1000">
                <a:latin typeface="メイリオ" panose="020B0604030504040204" pitchFamily="50" charset="-128"/>
                <a:ea typeface="メイリオ" panose="020B0604030504040204" pitchFamily="50" charset="-128"/>
              </a:rPr>
              <a:t>月</a:t>
            </a:r>
          </a:p>
        </p:txBody>
      </p:sp>
      <p:sp>
        <p:nvSpPr>
          <p:cNvPr id="2095" name="テキスト ボックス 2094">
            <a:extLst>
              <a:ext uri="{FF2B5EF4-FFF2-40B4-BE49-F238E27FC236}">
                <a16:creationId xmlns:a16="http://schemas.microsoft.com/office/drawing/2014/main" id="{E9F47648-05F6-7064-8968-91D3649440CE}"/>
              </a:ext>
            </a:extLst>
          </p:cNvPr>
          <p:cNvSpPr txBox="1"/>
          <p:nvPr/>
        </p:nvSpPr>
        <p:spPr>
          <a:xfrm>
            <a:off x="5232177" y="2496209"/>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2024</a:t>
            </a:r>
            <a:r>
              <a:rPr kumimoji="1" lang="ja-JP" altLang="en-US" sz="1000">
                <a:latin typeface="メイリオ" panose="020B0604030504040204" pitchFamily="50" charset="-128"/>
                <a:ea typeface="メイリオ" panose="020B0604030504040204" pitchFamily="50" charset="-128"/>
              </a:rPr>
              <a:t>年</a:t>
            </a:r>
            <a:r>
              <a:rPr lang="en-US" altLang="ja-JP" sz="1000">
                <a:latin typeface="メイリオ" panose="020B0604030504040204" pitchFamily="50" charset="-128"/>
                <a:ea typeface="メイリオ" panose="020B0604030504040204" pitchFamily="50" charset="-128"/>
              </a:rPr>
              <a:t>12</a:t>
            </a:r>
            <a:r>
              <a:rPr kumimoji="1" lang="ja-JP" altLang="en-US" sz="1000">
                <a:latin typeface="メイリオ" panose="020B0604030504040204" pitchFamily="50" charset="-128"/>
                <a:ea typeface="メイリオ" panose="020B0604030504040204" pitchFamily="50" charset="-128"/>
              </a:rPr>
              <a:t>月</a:t>
            </a:r>
          </a:p>
        </p:txBody>
      </p:sp>
      <p:sp>
        <p:nvSpPr>
          <p:cNvPr id="2096" name="テキスト ボックス 2095">
            <a:extLst>
              <a:ext uri="{FF2B5EF4-FFF2-40B4-BE49-F238E27FC236}">
                <a16:creationId xmlns:a16="http://schemas.microsoft.com/office/drawing/2014/main" id="{2C8EEABD-6A90-AA4E-FBA6-2819EBF654DE}"/>
              </a:ext>
            </a:extLst>
          </p:cNvPr>
          <p:cNvSpPr txBox="1"/>
          <p:nvPr/>
        </p:nvSpPr>
        <p:spPr>
          <a:xfrm>
            <a:off x="7623567" y="2492162"/>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5</a:t>
            </a:r>
            <a:r>
              <a:rPr kumimoji="1" lang="ja-JP" altLang="en-US" sz="1000">
                <a:latin typeface="メイリオ" panose="020B0604030504040204" pitchFamily="50" charset="-128"/>
                <a:ea typeface="メイリオ" panose="020B0604030504040204" pitchFamily="50" charset="-128"/>
              </a:rPr>
              <a:t>月</a:t>
            </a:r>
          </a:p>
        </p:txBody>
      </p:sp>
      <p:sp>
        <p:nvSpPr>
          <p:cNvPr id="2098" name="テキスト ボックス 2097">
            <a:extLst>
              <a:ext uri="{FF2B5EF4-FFF2-40B4-BE49-F238E27FC236}">
                <a16:creationId xmlns:a16="http://schemas.microsoft.com/office/drawing/2014/main" id="{CE12257A-0E7E-B895-AF8E-D15F7AA1D62A}"/>
              </a:ext>
            </a:extLst>
          </p:cNvPr>
          <p:cNvSpPr txBox="1"/>
          <p:nvPr/>
        </p:nvSpPr>
        <p:spPr>
          <a:xfrm>
            <a:off x="2895696" y="3511221"/>
            <a:ext cx="957586" cy="246221"/>
          </a:xfrm>
          <a:prstGeom prst="rect">
            <a:avLst/>
          </a:prstGeom>
          <a:noFill/>
          <a:ln>
            <a:noFill/>
          </a:ln>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lang="en-US" altLang="ja-JP" sz="1000">
                <a:latin typeface="メイリオ" panose="020B0604030504040204" pitchFamily="50" charset="-128"/>
                <a:ea typeface="メイリオ" panose="020B0604030504040204" pitchFamily="50" charset="-128"/>
              </a:rPr>
              <a:t>10</a:t>
            </a:r>
            <a:r>
              <a:rPr kumimoji="1" lang="ja-JP" altLang="en-US" sz="1000">
                <a:latin typeface="メイリオ" panose="020B0604030504040204" pitchFamily="50" charset="-128"/>
                <a:ea typeface="メイリオ" panose="020B0604030504040204" pitchFamily="50" charset="-128"/>
              </a:rPr>
              <a:t>月</a:t>
            </a:r>
          </a:p>
        </p:txBody>
      </p:sp>
      <p:sp>
        <p:nvSpPr>
          <p:cNvPr id="2099" name="テキスト ボックス 2098">
            <a:extLst>
              <a:ext uri="{FF2B5EF4-FFF2-40B4-BE49-F238E27FC236}">
                <a16:creationId xmlns:a16="http://schemas.microsoft.com/office/drawing/2014/main" id="{82EEA8C2-D18D-B5B9-3D3F-C9BE318BD901}"/>
              </a:ext>
            </a:extLst>
          </p:cNvPr>
          <p:cNvSpPr txBox="1"/>
          <p:nvPr/>
        </p:nvSpPr>
        <p:spPr>
          <a:xfrm>
            <a:off x="589609" y="3475317"/>
            <a:ext cx="957586" cy="246221"/>
          </a:xfrm>
          <a:prstGeom prst="rect">
            <a:avLst/>
          </a:prstGeom>
          <a:noFill/>
          <a:ln>
            <a:noFill/>
          </a:ln>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8</a:t>
            </a:r>
            <a:r>
              <a:rPr kumimoji="1" lang="ja-JP" altLang="en-US" sz="1000">
                <a:latin typeface="メイリオ" panose="020B0604030504040204" pitchFamily="50" charset="-128"/>
                <a:ea typeface="メイリオ" panose="020B0604030504040204" pitchFamily="50" charset="-128"/>
              </a:rPr>
              <a:t>月</a:t>
            </a:r>
          </a:p>
        </p:txBody>
      </p:sp>
      <p:sp>
        <p:nvSpPr>
          <p:cNvPr id="2101" name="テキスト ボックス 2100">
            <a:extLst>
              <a:ext uri="{FF2B5EF4-FFF2-40B4-BE49-F238E27FC236}">
                <a16:creationId xmlns:a16="http://schemas.microsoft.com/office/drawing/2014/main" id="{E6D4C90C-BD24-1939-D716-C6450E2AD8FC}"/>
              </a:ext>
            </a:extLst>
          </p:cNvPr>
          <p:cNvSpPr txBox="1"/>
          <p:nvPr/>
        </p:nvSpPr>
        <p:spPr>
          <a:xfrm>
            <a:off x="309563" y="4310547"/>
            <a:ext cx="1966105" cy="215444"/>
          </a:xfrm>
          <a:prstGeom prst="rect">
            <a:avLst/>
          </a:prstGeom>
          <a:noFill/>
          <a:ln>
            <a:noFill/>
          </a:ln>
        </p:spPr>
        <p:txBody>
          <a:bodyPr wrap="square" rtlCol="0">
            <a:spAutoFit/>
          </a:bodyPr>
          <a:lstStyle/>
          <a:p>
            <a:pPr algn="ctr"/>
            <a:r>
              <a:rPr lang="ja-JP" altLang="en-US" sz="800" b="1">
                <a:solidFill>
                  <a:srgbClr val="C00000"/>
                </a:solidFill>
                <a:latin typeface="メイリオ" panose="020B0604030504040204" pitchFamily="50" charset="-128"/>
                <a:ea typeface="メイリオ" panose="020B0604030504040204" pitchFamily="50" charset="-128"/>
              </a:rPr>
              <a:t>単月</a:t>
            </a:r>
            <a:r>
              <a:rPr lang="en-US" altLang="ja-JP" sz="800" b="1">
                <a:solidFill>
                  <a:srgbClr val="C00000"/>
                </a:solidFill>
                <a:latin typeface="メイリオ" panose="020B0604030504040204" pitchFamily="50" charset="-128"/>
                <a:ea typeface="メイリオ" panose="020B0604030504040204" pitchFamily="50" charset="-128"/>
              </a:rPr>
              <a:t>6000</a:t>
            </a:r>
            <a:r>
              <a:rPr lang="ja-JP" altLang="en-US" sz="800" b="1">
                <a:solidFill>
                  <a:srgbClr val="C00000"/>
                </a:solidFill>
                <a:latin typeface="メイリオ" panose="020B0604030504040204" pitchFamily="50" charset="-128"/>
                <a:ea typeface="メイリオ" panose="020B0604030504040204" pitchFamily="50" charset="-128"/>
              </a:rPr>
              <a:t>万円</a:t>
            </a:r>
            <a:r>
              <a:rPr lang="ja-JP" altLang="en-US" sz="800">
                <a:latin typeface="メイリオ" panose="020B0604030504040204" pitchFamily="50" charset="-128"/>
                <a:ea typeface="メイリオ" panose="020B0604030504040204" pitchFamily="50" charset="-128"/>
              </a:rPr>
              <a:t>の取り扱いを突破。</a:t>
            </a:r>
            <a:endParaRPr kumimoji="1" lang="ja-JP" altLang="en-US" sz="800">
              <a:latin typeface="メイリオ" panose="020B0604030504040204" pitchFamily="50" charset="-128"/>
              <a:ea typeface="メイリオ" panose="020B0604030504040204" pitchFamily="50" charset="-128"/>
            </a:endParaRPr>
          </a:p>
        </p:txBody>
      </p:sp>
      <p:sp>
        <p:nvSpPr>
          <p:cNvPr id="2102" name="テキスト ボックス 2101">
            <a:extLst>
              <a:ext uri="{FF2B5EF4-FFF2-40B4-BE49-F238E27FC236}">
                <a16:creationId xmlns:a16="http://schemas.microsoft.com/office/drawing/2014/main" id="{756F6552-3CAE-3310-D96A-5D847F286859}"/>
              </a:ext>
            </a:extLst>
          </p:cNvPr>
          <p:cNvSpPr txBox="1"/>
          <p:nvPr/>
        </p:nvSpPr>
        <p:spPr>
          <a:xfrm>
            <a:off x="2105787" y="3209363"/>
            <a:ext cx="2612987" cy="338554"/>
          </a:xfrm>
          <a:prstGeom prst="rect">
            <a:avLst/>
          </a:prstGeom>
          <a:noFill/>
          <a:ln>
            <a:noFill/>
          </a:ln>
        </p:spPr>
        <p:txBody>
          <a:bodyPr wrap="square" rtlCol="0">
            <a:spAutoFit/>
          </a:bodyPr>
          <a:lstStyle/>
          <a:p>
            <a:pPr algn="ctr"/>
            <a:r>
              <a:rPr kumimoji="1" lang="en-US" altLang="ja-JP" sz="800" dirty="0">
                <a:latin typeface="メイリオ" panose="020B0604030504040204" pitchFamily="50" charset="-128"/>
                <a:ea typeface="メイリオ" panose="020B0604030504040204" pitchFamily="50" charset="-128"/>
              </a:rPr>
              <a:t>2024</a:t>
            </a:r>
            <a:r>
              <a:rPr kumimoji="1" lang="ja-JP" altLang="en-US" sz="800" dirty="0">
                <a:latin typeface="メイリオ" panose="020B0604030504040204" pitchFamily="50" charset="-128"/>
                <a:ea typeface="メイリオ" panose="020B0604030504040204" pitchFamily="50" charset="-128"/>
              </a:rPr>
              <a:t>年度上半期の</a:t>
            </a:r>
            <a:r>
              <a:rPr kumimoji="1" lang="en-US" altLang="ja-JP" sz="800" dirty="0">
                <a:latin typeface="メイリオ" panose="020B0604030504040204" pitchFamily="50" charset="-128"/>
                <a:ea typeface="メイリオ" panose="020B0604030504040204" pitchFamily="50" charset="-128"/>
              </a:rPr>
              <a:t>Sales Partner</a:t>
            </a:r>
            <a:r>
              <a:rPr kumimoji="1" lang="ja-JP" altLang="en-US" sz="800" dirty="0">
                <a:latin typeface="メイリオ" panose="020B0604030504040204" pitchFamily="50" charset="-128"/>
                <a:ea typeface="メイリオ" panose="020B0604030504040204" pitchFamily="50" charset="-128"/>
              </a:rPr>
              <a:t>「</a:t>
            </a:r>
            <a:r>
              <a:rPr kumimoji="1" lang="en-US" altLang="ja-JP" sz="800" dirty="0">
                <a:latin typeface="メイリオ" panose="020B0604030504040204" pitchFamily="50" charset="-128"/>
                <a:ea typeface="メイリオ" panose="020B0604030504040204" pitchFamily="50" charset="-128"/>
              </a:rPr>
              <a:t>Premier</a:t>
            </a:r>
            <a:r>
              <a:rPr kumimoji="1" lang="ja-JP" altLang="en-US" sz="800" dirty="0">
                <a:latin typeface="メイリオ" panose="020B0604030504040204" pitchFamily="50" charset="-128"/>
                <a:ea typeface="メイリオ" panose="020B0604030504040204" pitchFamily="50" charset="-128"/>
              </a:rPr>
              <a:t>」に認定</a:t>
            </a:r>
            <a:r>
              <a:rPr lang="ja-JP" altLang="en-US" sz="800" dirty="0">
                <a:latin typeface="メイリオ" panose="020B0604030504040204" pitchFamily="50" charset="-128"/>
                <a:ea typeface="メイリオ" panose="020B0604030504040204" pitchFamily="50" charset="-128"/>
              </a:rPr>
              <a:t>。</a:t>
            </a:r>
            <a:endParaRPr lang="en-US" altLang="ja-JP" sz="800" dirty="0">
              <a:latin typeface="メイリオ" panose="020B0604030504040204" pitchFamily="50" charset="-128"/>
              <a:ea typeface="メイリオ" panose="020B0604030504040204" pitchFamily="50" charset="-128"/>
            </a:endParaRPr>
          </a:p>
          <a:p>
            <a:pPr algn="ctr"/>
            <a:r>
              <a:rPr lang="ja-JP" altLang="en-US" sz="800" b="1" dirty="0">
                <a:solidFill>
                  <a:srgbClr val="C00000"/>
                </a:solidFill>
                <a:latin typeface="メイリオ" panose="020B0604030504040204" pitchFamily="50" charset="-128"/>
                <a:ea typeface="メイリオ" panose="020B0604030504040204" pitchFamily="50" charset="-128"/>
              </a:rPr>
              <a:t>上位</a:t>
            </a:r>
            <a:r>
              <a:rPr lang="en-US" altLang="ja-JP" sz="800" b="1" dirty="0">
                <a:solidFill>
                  <a:srgbClr val="C00000"/>
                </a:solidFill>
                <a:latin typeface="メイリオ" panose="020B0604030504040204" pitchFamily="50" charset="-128"/>
                <a:ea typeface="メイリオ" panose="020B0604030504040204" pitchFamily="50" charset="-128"/>
              </a:rPr>
              <a:t>20</a:t>
            </a:r>
            <a:r>
              <a:rPr lang="ja-JP" altLang="en-US" sz="800" b="1" dirty="0">
                <a:solidFill>
                  <a:srgbClr val="C00000"/>
                </a:solidFill>
                <a:latin typeface="メイリオ" panose="020B0604030504040204" pitchFamily="50" charset="-128"/>
                <a:ea typeface="メイリオ" panose="020B0604030504040204" pitchFamily="50" charset="-128"/>
              </a:rPr>
              <a:t>位タイ</a:t>
            </a:r>
            <a:endParaRPr lang="en-US" altLang="ja-JP" sz="800" b="1" dirty="0">
              <a:solidFill>
                <a:srgbClr val="C00000"/>
              </a:solidFill>
              <a:latin typeface="メイリオ" panose="020B0604030504040204" pitchFamily="50" charset="-128"/>
              <a:ea typeface="メイリオ" panose="020B0604030504040204" pitchFamily="50" charset="-128"/>
            </a:endParaRPr>
          </a:p>
        </p:txBody>
      </p:sp>
      <p:sp>
        <p:nvSpPr>
          <p:cNvPr id="2103" name="テキスト ボックス 2102">
            <a:extLst>
              <a:ext uri="{FF2B5EF4-FFF2-40B4-BE49-F238E27FC236}">
                <a16:creationId xmlns:a16="http://schemas.microsoft.com/office/drawing/2014/main" id="{D5793D3E-32A5-A172-B93D-F2E02806685C}"/>
              </a:ext>
            </a:extLst>
          </p:cNvPr>
          <p:cNvSpPr txBox="1"/>
          <p:nvPr/>
        </p:nvSpPr>
        <p:spPr>
          <a:xfrm>
            <a:off x="4837113" y="3209363"/>
            <a:ext cx="1767520" cy="215444"/>
          </a:xfrm>
          <a:prstGeom prst="rect">
            <a:avLst/>
          </a:prstGeom>
          <a:noFill/>
          <a:ln>
            <a:noFill/>
          </a:ln>
        </p:spPr>
        <p:txBody>
          <a:bodyPr wrap="square" rtlCol="0">
            <a:spAutoFit/>
          </a:bodyPr>
          <a:lstStyle/>
          <a:p>
            <a:pPr algn="ctr"/>
            <a:r>
              <a:rPr lang="ja-JP" altLang="en-US" sz="800" b="1">
                <a:solidFill>
                  <a:srgbClr val="C00000"/>
                </a:solidFill>
                <a:latin typeface="メイリオ" panose="020B0604030504040204" pitchFamily="50" charset="-128"/>
                <a:ea typeface="メイリオ" panose="020B0604030504040204" pitchFamily="50" charset="-128"/>
              </a:rPr>
              <a:t>単月</a:t>
            </a:r>
            <a:r>
              <a:rPr lang="en-US" altLang="ja-JP" sz="800" b="1">
                <a:solidFill>
                  <a:srgbClr val="C00000"/>
                </a:solidFill>
                <a:latin typeface="メイリオ" panose="020B0604030504040204" pitchFamily="50" charset="-128"/>
                <a:ea typeface="メイリオ" panose="020B0604030504040204" pitchFamily="50" charset="-128"/>
              </a:rPr>
              <a:t>2000</a:t>
            </a:r>
            <a:r>
              <a:rPr lang="ja-JP" altLang="en-US" sz="800" b="1">
                <a:solidFill>
                  <a:srgbClr val="C00000"/>
                </a:solidFill>
                <a:latin typeface="メイリオ" panose="020B0604030504040204" pitchFamily="50" charset="-128"/>
                <a:ea typeface="メイリオ" panose="020B0604030504040204" pitchFamily="50" charset="-128"/>
              </a:rPr>
              <a:t>万円</a:t>
            </a:r>
            <a:r>
              <a:rPr lang="ja-JP" altLang="en-US" sz="800">
                <a:latin typeface="メイリオ" panose="020B0604030504040204" pitchFamily="50" charset="-128"/>
                <a:ea typeface="メイリオ" panose="020B0604030504040204" pitchFamily="50" charset="-128"/>
              </a:rPr>
              <a:t>の取り扱いを突破。</a:t>
            </a:r>
            <a:endParaRPr lang="en-US" altLang="ja-JP" sz="800">
              <a:latin typeface="メイリオ" panose="020B0604030504040204" pitchFamily="50" charset="-128"/>
              <a:ea typeface="メイリオ" panose="020B0604030504040204" pitchFamily="50" charset="-128"/>
            </a:endParaRPr>
          </a:p>
        </p:txBody>
      </p:sp>
      <p:sp>
        <p:nvSpPr>
          <p:cNvPr id="2104" name="テキスト ボックス 2103">
            <a:extLst>
              <a:ext uri="{FF2B5EF4-FFF2-40B4-BE49-F238E27FC236}">
                <a16:creationId xmlns:a16="http://schemas.microsoft.com/office/drawing/2014/main" id="{89EE1600-592C-F991-FBB3-472A73DB5551}"/>
              </a:ext>
            </a:extLst>
          </p:cNvPr>
          <p:cNvSpPr txBox="1"/>
          <p:nvPr/>
        </p:nvSpPr>
        <p:spPr>
          <a:xfrm>
            <a:off x="1858111" y="4310547"/>
            <a:ext cx="3234807" cy="338554"/>
          </a:xfrm>
          <a:prstGeom prst="rect">
            <a:avLst/>
          </a:prstGeom>
          <a:noFill/>
          <a:ln>
            <a:noFill/>
          </a:ln>
        </p:spPr>
        <p:txBody>
          <a:bodyPr wrap="square" rtlCol="0">
            <a:spAutoFit/>
          </a:bodyPr>
          <a:lstStyle/>
          <a:p>
            <a:pPr algn="ctr"/>
            <a:r>
              <a:rPr kumimoji="1" lang="ja-JP" altLang="en-US" sz="800">
                <a:latin typeface="メイリオ" panose="020B0604030504040204" pitchFamily="50" charset="-128"/>
                <a:ea typeface="メイリオ" panose="020B0604030504040204" pitchFamily="50" charset="-128"/>
              </a:rPr>
              <a:t>前回に続き、最高グレードである</a:t>
            </a:r>
            <a:r>
              <a:rPr lang="ja-JP" altLang="en-US" sz="800">
                <a:latin typeface="メイリオ" panose="020B0604030504040204" pitchFamily="50" charset="-128"/>
                <a:ea typeface="メイリオ" panose="020B0604030504040204" pitchFamily="50" charset="-128"/>
              </a:rPr>
              <a:t>「</a:t>
            </a:r>
            <a:r>
              <a:rPr lang="en-US" altLang="ja-JP" sz="800">
                <a:latin typeface="メイリオ" panose="020B0604030504040204" pitchFamily="50" charset="-128"/>
                <a:ea typeface="メイリオ" panose="020B0604030504040204" pitchFamily="50" charset="-128"/>
              </a:rPr>
              <a:t>Premier</a:t>
            </a:r>
            <a:r>
              <a:rPr lang="ja-JP" altLang="en-US" sz="800">
                <a:latin typeface="メイリオ" panose="020B0604030504040204" pitchFamily="50" charset="-128"/>
                <a:ea typeface="メイリオ" panose="020B0604030504040204" pitchFamily="50" charset="-128"/>
              </a:rPr>
              <a:t>」に認定。</a:t>
            </a:r>
            <a:endParaRPr lang="en-US" altLang="ja-JP" sz="800">
              <a:latin typeface="メイリオ" panose="020B0604030504040204" pitchFamily="50" charset="-128"/>
              <a:ea typeface="メイリオ" panose="020B0604030504040204" pitchFamily="50" charset="-128"/>
            </a:endParaRPr>
          </a:p>
          <a:p>
            <a:pPr algn="ctr"/>
            <a:r>
              <a:rPr kumimoji="1" lang="ja-JP" altLang="en-US" sz="800" b="1">
                <a:solidFill>
                  <a:srgbClr val="C00000"/>
                </a:solidFill>
                <a:latin typeface="メイリオ" panose="020B0604030504040204" pitchFamily="50" charset="-128"/>
                <a:ea typeface="メイリオ" panose="020B0604030504040204" pitchFamily="50" charset="-128"/>
              </a:rPr>
              <a:t>上位</a:t>
            </a:r>
            <a:r>
              <a:rPr kumimoji="1" lang="en-US" altLang="ja-JP" sz="800" b="1">
                <a:solidFill>
                  <a:srgbClr val="C00000"/>
                </a:solidFill>
                <a:latin typeface="メイリオ" panose="020B0604030504040204" pitchFamily="50" charset="-128"/>
                <a:ea typeface="メイリオ" panose="020B0604030504040204" pitchFamily="50" charset="-128"/>
              </a:rPr>
              <a:t>12</a:t>
            </a:r>
            <a:r>
              <a:rPr kumimoji="1" lang="ja-JP" altLang="en-US" sz="800" b="1">
                <a:solidFill>
                  <a:srgbClr val="C00000"/>
                </a:solidFill>
                <a:latin typeface="メイリオ" panose="020B0604030504040204" pitchFamily="50" charset="-128"/>
                <a:ea typeface="メイリオ" panose="020B0604030504040204" pitchFamily="50" charset="-128"/>
              </a:rPr>
              <a:t>位タイ</a:t>
            </a:r>
          </a:p>
        </p:txBody>
      </p:sp>
      <p:sp>
        <p:nvSpPr>
          <p:cNvPr id="2105" name="テキスト ボックス 2104">
            <a:extLst>
              <a:ext uri="{FF2B5EF4-FFF2-40B4-BE49-F238E27FC236}">
                <a16:creationId xmlns:a16="http://schemas.microsoft.com/office/drawing/2014/main" id="{735B8649-944E-38AC-EFE9-3FF466013418}"/>
              </a:ext>
            </a:extLst>
          </p:cNvPr>
          <p:cNvSpPr txBox="1"/>
          <p:nvPr/>
        </p:nvSpPr>
        <p:spPr>
          <a:xfrm>
            <a:off x="6722972" y="3209363"/>
            <a:ext cx="2758776" cy="338554"/>
          </a:xfrm>
          <a:prstGeom prst="rect">
            <a:avLst/>
          </a:prstGeom>
          <a:noFill/>
          <a:ln>
            <a:noFill/>
          </a:ln>
        </p:spPr>
        <p:txBody>
          <a:bodyPr wrap="square" rtlCol="0">
            <a:spAutoFit/>
          </a:bodyPr>
          <a:lstStyle/>
          <a:p>
            <a:pPr algn="ctr"/>
            <a:r>
              <a:rPr lang="ja-JP" altLang="en-US" sz="800">
                <a:latin typeface="メイリオ" panose="020B0604030504040204" pitchFamily="50" charset="-128"/>
                <a:ea typeface="メイリオ" panose="020B0604030504040204" pitchFamily="50" charset="-128"/>
              </a:rPr>
              <a:t>前回に続き、最高グレードである「</a:t>
            </a:r>
            <a:r>
              <a:rPr lang="en-US" altLang="ja-JP" sz="800">
                <a:latin typeface="メイリオ" panose="020B0604030504040204" pitchFamily="50" charset="-128"/>
                <a:ea typeface="メイリオ" panose="020B0604030504040204" pitchFamily="50" charset="-128"/>
              </a:rPr>
              <a:t>Premier</a:t>
            </a:r>
            <a:r>
              <a:rPr lang="ja-JP" altLang="en-US" sz="800">
                <a:latin typeface="メイリオ" panose="020B0604030504040204" pitchFamily="50" charset="-128"/>
                <a:ea typeface="メイリオ" panose="020B0604030504040204" pitchFamily="50" charset="-128"/>
              </a:rPr>
              <a:t>」に認定。</a:t>
            </a:r>
            <a:r>
              <a:rPr lang="ja-JP" altLang="en-US" sz="800" b="1">
                <a:solidFill>
                  <a:srgbClr val="C00000"/>
                </a:solidFill>
                <a:latin typeface="メイリオ" panose="020B0604030504040204" pitchFamily="50" charset="-128"/>
                <a:ea typeface="メイリオ" panose="020B0604030504040204" pitchFamily="50" charset="-128"/>
              </a:rPr>
              <a:t>上位</a:t>
            </a:r>
            <a:r>
              <a:rPr lang="en-US" altLang="ja-JP" sz="800" b="1">
                <a:solidFill>
                  <a:srgbClr val="C00000"/>
                </a:solidFill>
                <a:latin typeface="メイリオ" panose="020B0604030504040204" pitchFamily="50" charset="-128"/>
                <a:ea typeface="メイリオ" panose="020B0604030504040204" pitchFamily="50" charset="-128"/>
              </a:rPr>
              <a:t>15</a:t>
            </a:r>
            <a:r>
              <a:rPr lang="ja-JP" altLang="en-US" sz="800" b="1">
                <a:solidFill>
                  <a:srgbClr val="C00000"/>
                </a:solidFill>
                <a:latin typeface="メイリオ" panose="020B0604030504040204" pitchFamily="50" charset="-128"/>
                <a:ea typeface="メイリオ" panose="020B0604030504040204" pitchFamily="50" charset="-128"/>
              </a:rPr>
              <a:t>位タイ</a:t>
            </a:r>
            <a:endParaRPr lang="en-US" altLang="ja-JP" sz="800" b="1">
              <a:solidFill>
                <a:srgbClr val="C00000"/>
              </a:solidFill>
              <a:latin typeface="メイリオ" panose="020B0604030504040204" pitchFamily="50" charset="-128"/>
              <a:ea typeface="メイリオ" panose="020B0604030504040204" pitchFamily="50" charset="-128"/>
            </a:endParaRPr>
          </a:p>
        </p:txBody>
      </p:sp>
      <p:sp>
        <p:nvSpPr>
          <p:cNvPr id="2110" name="テキスト ボックス 2109">
            <a:extLst>
              <a:ext uri="{FF2B5EF4-FFF2-40B4-BE49-F238E27FC236}">
                <a16:creationId xmlns:a16="http://schemas.microsoft.com/office/drawing/2014/main" id="{9364E84A-3501-3480-3E86-4181D9EDDE0D}"/>
              </a:ext>
            </a:extLst>
          </p:cNvPr>
          <p:cNvSpPr txBox="1"/>
          <p:nvPr/>
        </p:nvSpPr>
        <p:spPr>
          <a:xfrm>
            <a:off x="5204477" y="3512494"/>
            <a:ext cx="957586" cy="246221"/>
          </a:xfrm>
          <a:prstGeom prst="rect">
            <a:avLst/>
          </a:prstGeom>
          <a:noFill/>
          <a:ln>
            <a:noFill/>
          </a:ln>
        </p:spPr>
        <p:txBody>
          <a:bodyPr wrap="square" rtlCol="0">
            <a:spAutoFit/>
          </a:bodyPr>
          <a:lstStyle/>
          <a:p>
            <a:pPr algn="ctr"/>
            <a:r>
              <a:rPr kumimoji="1" lang="ja-JP" altLang="en-US" sz="1000">
                <a:latin typeface="メイリオ" panose="020B0604030504040204" pitchFamily="50" charset="-128"/>
                <a:ea typeface="メイリオ" panose="020B0604030504040204" pitchFamily="50" charset="-128"/>
              </a:rPr>
              <a:t>現在</a:t>
            </a:r>
          </a:p>
        </p:txBody>
      </p:sp>
      <p:sp>
        <p:nvSpPr>
          <p:cNvPr id="2111" name="テキスト ボックス 2110">
            <a:extLst>
              <a:ext uri="{FF2B5EF4-FFF2-40B4-BE49-F238E27FC236}">
                <a16:creationId xmlns:a16="http://schemas.microsoft.com/office/drawing/2014/main" id="{915149AC-7723-29BD-6D17-D471CC831F56}"/>
              </a:ext>
            </a:extLst>
          </p:cNvPr>
          <p:cNvSpPr txBox="1"/>
          <p:nvPr/>
        </p:nvSpPr>
        <p:spPr>
          <a:xfrm>
            <a:off x="4684085" y="4310547"/>
            <a:ext cx="2335280" cy="338554"/>
          </a:xfrm>
          <a:prstGeom prst="rect">
            <a:avLst/>
          </a:prstGeom>
          <a:noFill/>
          <a:ln>
            <a:noFill/>
          </a:ln>
        </p:spPr>
        <p:txBody>
          <a:bodyPr wrap="square" rtlCol="0">
            <a:spAutoFit/>
          </a:bodyPr>
          <a:lstStyle/>
          <a:p>
            <a:pPr algn="ctr"/>
            <a:r>
              <a:rPr lang="ja-JP" altLang="en-US" sz="800" dirty="0">
                <a:latin typeface="メイリオ" panose="020B0604030504040204" pitchFamily="50" charset="-128"/>
                <a:ea typeface="メイリオ" panose="020B0604030504040204" pitchFamily="50" charset="-128"/>
              </a:rPr>
              <a:t>「</a:t>
            </a:r>
            <a:r>
              <a:rPr lang="en-US" altLang="ja-JP" sz="800" dirty="0">
                <a:latin typeface="メイリオ" panose="020B0604030504040204" pitchFamily="50" charset="-128"/>
                <a:ea typeface="メイリオ" panose="020B0604030504040204" pitchFamily="50" charset="-128"/>
              </a:rPr>
              <a:t>Best LINE</a:t>
            </a:r>
            <a:r>
              <a:rPr lang="ja-JP" altLang="en-US" sz="800" dirty="0">
                <a:latin typeface="メイリオ" panose="020B0604030504040204" pitchFamily="50" charset="-128"/>
                <a:ea typeface="メイリオ" panose="020B0604030504040204" pitchFamily="50" charset="-128"/>
              </a:rPr>
              <a:t>公式アカウント </a:t>
            </a:r>
            <a:r>
              <a:rPr lang="en-US" altLang="ja-JP" sz="800" dirty="0">
                <a:latin typeface="メイリオ" panose="020B0604030504040204" pitchFamily="50" charset="-128"/>
                <a:ea typeface="メイリオ" panose="020B0604030504040204" pitchFamily="50" charset="-128"/>
              </a:rPr>
              <a:t>Growth</a:t>
            </a:r>
            <a:r>
              <a:rPr lang="ja-JP" altLang="en-US" sz="800" dirty="0">
                <a:latin typeface="メイリオ" panose="020B0604030504040204" pitchFamily="50" charset="-128"/>
                <a:ea typeface="メイリオ" panose="020B0604030504040204" pitchFamily="50" charset="-128"/>
              </a:rPr>
              <a:t>」部門で</a:t>
            </a:r>
            <a:r>
              <a:rPr lang="en-US" altLang="ja-JP" sz="800" dirty="0">
                <a:latin typeface="メイリオ" panose="020B0604030504040204" pitchFamily="50" charset="-128"/>
                <a:ea typeface="メイリオ" panose="020B0604030504040204" pitchFamily="50" charset="-128"/>
              </a:rPr>
              <a:t>LINE</a:t>
            </a:r>
            <a:r>
              <a:rPr lang="ja-JP" altLang="en-US" sz="800" dirty="0">
                <a:latin typeface="メイリオ" panose="020B0604030504040204" pitchFamily="50" charset="-128"/>
                <a:ea typeface="メイリオ" panose="020B0604030504040204" pitchFamily="50" charset="-128"/>
              </a:rPr>
              <a:t>ヤフー社から表彰をいただきました。</a:t>
            </a:r>
            <a:endParaRPr kumimoji="1" lang="ja-JP" altLang="en-US" sz="800" dirty="0">
              <a:latin typeface="メイリオ" panose="020B0604030504040204" pitchFamily="50" charset="-128"/>
              <a:ea typeface="メイリオ" panose="020B0604030504040204" pitchFamily="50" charset="-128"/>
            </a:endParaRPr>
          </a:p>
        </p:txBody>
      </p:sp>
      <p:sp>
        <p:nvSpPr>
          <p:cNvPr id="8" name="正方形/長方形 7">
            <a:extLst>
              <a:ext uri="{FF2B5EF4-FFF2-40B4-BE49-F238E27FC236}">
                <a16:creationId xmlns:a16="http://schemas.microsoft.com/office/drawing/2014/main" id="{F974FA57-9312-73D0-6461-C65486B6B90A}"/>
              </a:ext>
            </a:extLst>
          </p:cNvPr>
          <p:cNvSpPr/>
          <p:nvPr/>
        </p:nvSpPr>
        <p:spPr>
          <a:xfrm>
            <a:off x="388723" y="675734"/>
            <a:ext cx="9128556" cy="349010"/>
          </a:xfrm>
          <a:prstGeom prst="rect">
            <a:avLst/>
          </a:prstGeom>
          <a:solidFill>
            <a:schemeClr val="bg1">
              <a:lumMod val="65000"/>
            </a:schemeClr>
          </a:solidFill>
          <a:ln>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正方形/長方形 2">
            <a:extLst>
              <a:ext uri="{FF2B5EF4-FFF2-40B4-BE49-F238E27FC236}">
                <a16:creationId xmlns:a16="http://schemas.microsoft.com/office/drawing/2014/main" id="{4661DF32-128A-6B77-5F5D-76D78A1B8378}"/>
              </a:ext>
            </a:extLst>
          </p:cNvPr>
          <p:cNvSpPr/>
          <p:nvPr/>
        </p:nvSpPr>
        <p:spPr>
          <a:xfrm>
            <a:off x="2853632" y="700332"/>
            <a:ext cx="6663645" cy="306000"/>
          </a:xfrm>
          <a:prstGeom prst="rect">
            <a:avLst/>
          </a:prstGeom>
          <a:solidFill>
            <a:srgbClr val="10253F"/>
          </a:solidFill>
        </p:spPr>
        <p:txBody>
          <a:bodyPr wrap="square">
            <a:spAutoFit/>
          </a:bodyPr>
          <a:lstStyle/>
          <a:p>
            <a:pPr lvl="0">
              <a:buClr>
                <a:srgbClr val="002060"/>
              </a:buClr>
              <a:buSzPts val="1600"/>
            </a:pPr>
            <a:r>
              <a:rPr lang="en-US" altLang="ja-JP" sz="1300" b="1">
                <a:solidFill>
                  <a:schemeClr val="bg1"/>
                </a:solidFill>
                <a:latin typeface="Meiryo"/>
                <a:ea typeface="Meiryo"/>
                <a:cs typeface="Meiryo"/>
                <a:sym typeface="Meiryo"/>
              </a:rPr>
              <a:t>LINE</a:t>
            </a:r>
            <a:r>
              <a:rPr lang="ja-JP" altLang="en-US" sz="1300" b="1">
                <a:solidFill>
                  <a:schemeClr val="bg1"/>
                </a:solidFill>
                <a:latin typeface="Meiryo"/>
                <a:ea typeface="Meiryo"/>
                <a:cs typeface="Meiryo"/>
                <a:sym typeface="Meiryo"/>
              </a:rPr>
              <a:t>ヤフー </a:t>
            </a:r>
            <a:r>
              <a:rPr lang="en-US" altLang="ja-JP" sz="1300" b="1">
                <a:solidFill>
                  <a:schemeClr val="bg1"/>
                </a:solidFill>
                <a:latin typeface="Meiryo"/>
                <a:ea typeface="Meiryo"/>
                <a:cs typeface="Meiryo"/>
                <a:sym typeface="Meiryo"/>
              </a:rPr>
              <a:t>Partner Award 2025</a:t>
            </a:r>
            <a:r>
              <a:rPr lang="ja-JP" altLang="en-US" sz="1300" b="1">
                <a:solidFill>
                  <a:schemeClr val="bg1"/>
                </a:solidFill>
                <a:latin typeface="Meiryo"/>
                <a:ea typeface="Meiryo"/>
                <a:cs typeface="Meiryo"/>
                <a:sym typeface="Meiryo"/>
              </a:rPr>
              <a:t>にて「</a:t>
            </a:r>
            <a:r>
              <a:rPr lang="en-US" altLang="ja-JP" sz="1300" b="1">
                <a:solidFill>
                  <a:schemeClr val="bg1"/>
                </a:solidFill>
                <a:latin typeface="Meiryo"/>
                <a:ea typeface="Meiryo"/>
                <a:cs typeface="Meiryo"/>
                <a:sym typeface="Meiryo"/>
              </a:rPr>
              <a:t>Best LINE</a:t>
            </a:r>
            <a:r>
              <a:rPr lang="ja-JP" altLang="en-US" sz="1300" b="1">
                <a:solidFill>
                  <a:schemeClr val="bg1"/>
                </a:solidFill>
                <a:latin typeface="Meiryo"/>
                <a:ea typeface="Meiryo"/>
                <a:cs typeface="Meiryo"/>
                <a:sym typeface="Meiryo"/>
              </a:rPr>
              <a:t>公式アカウント </a:t>
            </a:r>
            <a:r>
              <a:rPr lang="en-US" altLang="ja-JP" sz="1300" b="1">
                <a:solidFill>
                  <a:schemeClr val="bg1"/>
                </a:solidFill>
                <a:latin typeface="Meiryo"/>
                <a:ea typeface="Meiryo"/>
                <a:cs typeface="Meiryo"/>
                <a:sym typeface="Meiryo"/>
              </a:rPr>
              <a:t>Growth</a:t>
            </a:r>
            <a:r>
              <a:rPr lang="ja-JP" altLang="en-US" sz="1300" b="1">
                <a:solidFill>
                  <a:schemeClr val="bg1"/>
                </a:solidFill>
                <a:latin typeface="Meiryo"/>
                <a:ea typeface="Meiryo"/>
                <a:cs typeface="Meiryo"/>
                <a:sym typeface="Meiryo"/>
              </a:rPr>
              <a:t>」受賞</a:t>
            </a:r>
            <a:endParaRPr lang="en-US" altLang="ja-JP" sz="1300" b="1" dirty="0">
              <a:solidFill>
                <a:schemeClr val="bg1"/>
              </a:solidFill>
              <a:latin typeface="Meiryo"/>
              <a:ea typeface="Meiryo"/>
              <a:cs typeface="Meiryo"/>
              <a:sym typeface="Meiryo"/>
            </a:endParaRPr>
          </a:p>
        </p:txBody>
      </p:sp>
      <p:sp>
        <p:nvSpPr>
          <p:cNvPr id="6" name="正方形/長方形 5">
            <a:extLst>
              <a:ext uri="{FF2B5EF4-FFF2-40B4-BE49-F238E27FC236}">
                <a16:creationId xmlns:a16="http://schemas.microsoft.com/office/drawing/2014/main" id="{DEE7F595-5FAC-C5CD-0B26-580B6DF09A53}"/>
              </a:ext>
            </a:extLst>
          </p:cNvPr>
          <p:cNvSpPr/>
          <p:nvPr/>
        </p:nvSpPr>
        <p:spPr>
          <a:xfrm>
            <a:off x="432943" y="700332"/>
            <a:ext cx="2391617" cy="306000"/>
          </a:xfrm>
          <a:prstGeom prst="rect">
            <a:avLst/>
          </a:prstGeom>
          <a:solidFill>
            <a:srgbClr val="10253F"/>
          </a:solidFill>
        </p:spPr>
        <p:txBody>
          <a:bodyPr wrap="square">
            <a:spAutoFit/>
          </a:bodyPr>
          <a:lstStyle/>
          <a:p>
            <a:pPr lvl="0" algn="ctr">
              <a:buClr>
                <a:srgbClr val="002060"/>
              </a:buClr>
              <a:buSzPts val="1600"/>
            </a:pPr>
            <a:r>
              <a:rPr lang="en-US" altLang="ja-JP" sz="1400" b="1">
                <a:solidFill>
                  <a:schemeClr val="bg1"/>
                </a:solidFill>
                <a:latin typeface="Meiryo"/>
                <a:ea typeface="Meiryo"/>
                <a:cs typeface="Meiryo"/>
                <a:sym typeface="Meiryo"/>
              </a:rPr>
              <a:t>DYM × LINEOA</a:t>
            </a:r>
            <a:endParaRPr lang="en-US" altLang="ja-JP" sz="1400" b="1" dirty="0">
              <a:solidFill>
                <a:schemeClr val="bg1"/>
              </a:solidFill>
              <a:latin typeface="Meiryo"/>
              <a:ea typeface="Meiryo"/>
              <a:cs typeface="Meiryo"/>
              <a:sym typeface="Meiryo"/>
            </a:endParaRPr>
          </a:p>
        </p:txBody>
      </p:sp>
      <p:pic>
        <p:nvPicPr>
          <p:cNvPr id="56" name="Picture 2">
            <a:extLst>
              <a:ext uri="{FF2B5EF4-FFF2-40B4-BE49-F238E27FC236}">
                <a16:creationId xmlns:a16="http://schemas.microsoft.com/office/drawing/2014/main" id="{6B503BF7-985B-8770-4643-5E3EB6E5562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69689" y="5150774"/>
            <a:ext cx="1929199" cy="1286131"/>
          </a:xfrm>
          <a:prstGeom prst="rect">
            <a:avLst/>
          </a:prstGeom>
          <a:noFill/>
          <a:extLst>
            <a:ext uri="{909E8E84-426E-40DD-AFC4-6F175D3DCCD1}">
              <a14:hiddenFill xmlns:a14="http://schemas.microsoft.com/office/drawing/2010/main">
                <a:solidFill>
                  <a:srgbClr val="FFFFFF"/>
                </a:solidFill>
              </a14:hiddenFill>
            </a:ext>
          </a:extLst>
        </p:spPr>
      </p:pic>
      <p:sp>
        <p:nvSpPr>
          <p:cNvPr id="2" name="テキスト プレースホルダー 2">
            <a:extLst>
              <a:ext uri="{FF2B5EF4-FFF2-40B4-BE49-F238E27FC236}">
                <a16:creationId xmlns:a16="http://schemas.microsoft.com/office/drawing/2014/main" id="{761ADAB8-B668-8B05-EDE6-B5003466E015}"/>
              </a:ext>
            </a:extLst>
          </p:cNvPr>
          <p:cNvSpPr txBox="1">
            <a:spLocks/>
          </p:cNvSpPr>
          <p:nvPr/>
        </p:nvSpPr>
        <p:spPr>
          <a:xfrm>
            <a:off x="8209814" y="6217102"/>
            <a:ext cx="676273" cy="157797"/>
          </a:xfrm>
          <a:prstGeom prst="rect">
            <a:avLst/>
          </a:prstGeom>
        </p:spPr>
        <p:txBody>
          <a:bodyPr lIns="0" tIns="0" rIns="0" bIns="0" anchor="t"/>
          <a:lstStyle>
            <a:lvl1pPr marL="0" indent="0" algn="l" defTabSz="914400" rtl="0" eaLnBrk="1" latinLnBrk="0" hangingPunct="1">
              <a:lnSpc>
                <a:spcPct val="130000"/>
              </a:lnSpc>
              <a:spcBef>
                <a:spcPts val="0"/>
              </a:spcBef>
              <a:buFont typeface="Arial" panose="020B0604020202020204" pitchFamily="34" charset="0"/>
              <a:buNone/>
              <a:defRPr kumimoji="1" sz="1400" kern="1200">
                <a:solidFill>
                  <a:schemeClr val="tx1">
                    <a:lumMod val="95000"/>
                    <a:lumOff val="5000"/>
                  </a:schemeClr>
                </a:solidFill>
                <a:latin typeface="Meiryo" panose="020B0604030504040204" pitchFamily="34" charset="-128"/>
                <a:ea typeface="Meiryo" panose="020B0604030504040204"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lvl="0">
              <a:defRPr/>
            </a:pPr>
            <a:r>
              <a:rPr lang="en-US" altLang="ja-JP" sz="700">
                <a:solidFill>
                  <a:schemeClr val="bg1"/>
                </a:solidFill>
              </a:rPr>
              <a:t>※</a:t>
            </a:r>
            <a:r>
              <a:rPr lang="ja-JP" altLang="en-US" sz="700">
                <a:solidFill>
                  <a:schemeClr val="bg1"/>
                </a:solidFill>
              </a:rPr>
              <a:t>受賞時の</a:t>
            </a:r>
            <a:r>
              <a:rPr lang="en-US" altLang="ja-JP" sz="700">
                <a:solidFill>
                  <a:schemeClr val="bg1"/>
                </a:solidFill>
              </a:rPr>
              <a:t>1</a:t>
            </a:r>
            <a:r>
              <a:rPr lang="ja-JP" altLang="en-US" sz="700">
                <a:solidFill>
                  <a:schemeClr val="bg1"/>
                </a:solidFill>
              </a:rPr>
              <a:t>枚</a:t>
            </a:r>
            <a:endParaRPr lang="en-US" altLang="ja-JP" sz="700" dirty="0">
              <a:solidFill>
                <a:schemeClr val="bg1"/>
              </a:solidFill>
            </a:endParaRPr>
          </a:p>
        </p:txBody>
      </p:sp>
      <p:pic>
        <p:nvPicPr>
          <p:cNvPr id="7" name="図 6" descr="アイコン が含まれている画像&#10;&#10;AI 生成コンテンツは誤りを含む可能性があります。">
            <a:extLst>
              <a:ext uri="{FF2B5EF4-FFF2-40B4-BE49-F238E27FC236}">
                <a16:creationId xmlns:a16="http://schemas.microsoft.com/office/drawing/2014/main" id="{1FAB445F-372A-C0D2-7552-790613769A3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408069" y="4654614"/>
            <a:ext cx="2886575" cy="2294826"/>
          </a:xfrm>
          <a:prstGeom prst="rect">
            <a:avLst/>
          </a:prstGeom>
        </p:spPr>
      </p:pic>
      <p:sp>
        <p:nvSpPr>
          <p:cNvPr id="10" name="テキスト ボックス 9">
            <a:extLst>
              <a:ext uri="{FF2B5EF4-FFF2-40B4-BE49-F238E27FC236}">
                <a16:creationId xmlns:a16="http://schemas.microsoft.com/office/drawing/2014/main" id="{F7A1F49B-800C-42EE-5308-93E8C2B2E88F}"/>
              </a:ext>
            </a:extLst>
          </p:cNvPr>
          <p:cNvSpPr txBox="1"/>
          <p:nvPr/>
        </p:nvSpPr>
        <p:spPr>
          <a:xfrm>
            <a:off x="2535025" y="5767731"/>
            <a:ext cx="4963884" cy="646331"/>
          </a:xfrm>
          <a:prstGeom prst="rect">
            <a:avLst/>
          </a:prstGeom>
          <a:noFill/>
        </p:spPr>
        <p:txBody>
          <a:bodyPr wrap="square">
            <a:spAutoFit/>
          </a:bodyPr>
          <a:lstStyle/>
          <a:p>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現在</a:t>
            </a:r>
            <a:r>
              <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rPr>
              <a:t>Sales Partner Premier</a:t>
            </a:r>
          </a:p>
          <a:p>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は</a:t>
            </a:r>
            <a:r>
              <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rPr>
              <a:t>DYM</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を合わせて</a:t>
            </a:r>
            <a:r>
              <a:rPr lang="en-US" altLang="ja-JP" sz="900" b="1" dirty="0">
                <a:solidFill>
                  <a:srgbClr val="000000">
                    <a:lumMod val="95000"/>
                    <a:lumOff val="5000"/>
                  </a:srgbClr>
                </a:solidFill>
                <a:latin typeface="メイリオ" panose="020B0604030504040204" pitchFamily="50" charset="-128"/>
                <a:ea typeface="メイリオ" panose="020B0604030504040204" pitchFamily="50" charset="-128"/>
              </a:rPr>
              <a:t>12</a:t>
            </a:r>
            <a:r>
              <a:rPr lang="ja-JP" altLang="en-US" sz="900" b="1" dirty="0">
                <a:solidFill>
                  <a:srgbClr val="000000">
                    <a:lumMod val="95000"/>
                    <a:lumOff val="5000"/>
                  </a:srgbClr>
                </a:solidFill>
                <a:latin typeface="メイリオ" panose="020B0604030504040204" pitchFamily="50" charset="-128"/>
                <a:ea typeface="メイリオ" panose="020B0604030504040204" pitchFamily="50" charset="-128"/>
              </a:rPr>
              <a:t>社が認定</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a:t>
            </a:r>
            <a:endPar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endParaRPr>
          </a:p>
          <a:p>
            <a:endPar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endParaRPr>
          </a:p>
          <a:p>
            <a:r>
              <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rPr>
              <a:t>※</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未上場企業では</a:t>
            </a:r>
            <a:r>
              <a:rPr lang="ja-JP" altLang="en-US" sz="900" b="1" dirty="0">
                <a:solidFill>
                  <a:srgbClr val="000000">
                    <a:lumMod val="95000"/>
                    <a:lumOff val="5000"/>
                  </a:srgbClr>
                </a:solidFill>
                <a:latin typeface="メイリオ" panose="020B0604030504040204" pitchFamily="50" charset="-128"/>
                <a:ea typeface="メイリオ" panose="020B0604030504040204" pitchFamily="50" charset="-128"/>
              </a:rPr>
              <a:t>唯一で最上位</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a:t>
            </a:r>
            <a:endParaRPr lang="ja-JP" altLang="en-US" sz="900" dirty="0"/>
          </a:p>
        </p:txBody>
      </p:sp>
      <p:pic>
        <p:nvPicPr>
          <p:cNvPr id="5" name="図 4">
            <a:extLst>
              <a:ext uri="{FF2B5EF4-FFF2-40B4-BE49-F238E27FC236}">
                <a16:creationId xmlns:a16="http://schemas.microsoft.com/office/drawing/2014/main" id="{1F013E1B-3D36-6118-A1E8-A84BF28EDEC2}"/>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88996" y="4759370"/>
            <a:ext cx="2664636" cy="2074350"/>
          </a:xfrm>
          <a:prstGeom prst="rect">
            <a:avLst/>
          </a:prstGeom>
        </p:spPr>
      </p:pic>
    </p:spTree>
    <p:extLst>
      <p:ext uri="{BB962C8B-B14F-4D97-AF65-F5344CB8AC3E}">
        <p14:creationId xmlns:p14="http://schemas.microsoft.com/office/powerpoint/2010/main" val="332055576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E5861D-E2B1-5330-6864-9B051B1B450A}"/>
            </a:ext>
          </a:extLst>
        </p:cNvPr>
        <p:cNvGrpSpPr/>
        <p:nvPr/>
      </p:nvGrpSpPr>
      <p:grpSpPr>
        <a:xfrm>
          <a:off x="0" y="0"/>
          <a:ext cx="0" cy="0"/>
          <a:chOff x="0" y="0"/>
          <a:chExt cx="0" cy="0"/>
        </a:xfrm>
      </p:grpSpPr>
      <p:cxnSp>
        <p:nvCxnSpPr>
          <p:cNvPr id="1033" name="直線コネクタ 4"/>
          <p:cNvCxnSpPr/>
          <p:nvPr/>
        </p:nvCxnSpPr>
        <p:spPr>
          <a:xfrm>
            <a:off x="0" y="548640"/>
            <a:ext cx="9906120" cy="360"/>
          </a:xfrm>
          <a:prstGeom prst="straightConnector1">
            <a:avLst/>
          </a:prstGeom>
          <a:ln>
            <a:solidFill>
              <a:srgbClr val="191F54"/>
            </a:solidFill>
            <a:round/>
          </a:ln>
        </p:spPr>
      </p:cxnSp>
      <p:sp>
        <p:nvSpPr>
          <p:cNvPr id="1034" name="正方形/長方形 6"/>
          <p:cNvSpPr/>
          <p:nvPr/>
        </p:nvSpPr>
        <p:spPr>
          <a:xfrm>
            <a:off x="0" y="0"/>
            <a:ext cx="450720" cy="548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4" name="Google Shape;752;p28">
            <a:extLst>
              <a:ext uri="{FF2B5EF4-FFF2-40B4-BE49-F238E27FC236}">
                <a16:creationId xmlns:a16="http://schemas.microsoft.com/office/drawing/2014/main" id="{10815731-3923-DF64-2497-E7A37D053AD8}"/>
              </a:ext>
            </a:extLst>
          </p:cNvPr>
          <p:cNvSpPr txBox="1"/>
          <p:nvPr/>
        </p:nvSpPr>
        <p:spPr>
          <a:xfrm>
            <a:off x="549000" y="138240"/>
            <a:ext cx="6276325" cy="338040"/>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弊社ポジショニング</a:t>
            </a:r>
          </a:p>
        </p:txBody>
      </p:sp>
      <p:sp>
        <p:nvSpPr>
          <p:cNvPr id="2" name="正方形/長方形 1">
            <a:extLst>
              <a:ext uri="{FF2B5EF4-FFF2-40B4-BE49-F238E27FC236}">
                <a16:creationId xmlns:a16="http://schemas.microsoft.com/office/drawing/2014/main" id="{6EE73D80-19A8-1B22-3E67-207FD67693A3}"/>
              </a:ext>
            </a:extLst>
          </p:cNvPr>
          <p:cNvSpPr/>
          <p:nvPr/>
        </p:nvSpPr>
        <p:spPr>
          <a:xfrm>
            <a:off x="414745" y="1861522"/>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CD2306FC-4175-2C00-0D17-32F2AAC51C82}"/>
              </a:ext>
            </a:extLst>
          </p:cNvPr>
          <p:cNvSpPr/>
          <p:nvPr/>
        </p:nvSpPr>
        <p:spPr>
          <a:xfrm>
            <a:off x="4892040" y="1861522"/>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9ED6AD3F-541D-3FC5-0062-3F2A923253C9}"/>
              </a:ext>
            </a:extLst>
          </p:cNvPr>
          <p:cNvSpPr/>
          <p:nvPr/>
        </p:nvSpPr>
        <p:spPr>
          <a:xfrm>
            <a:off x="414745" y="4308273"/>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1" name="正方形/長方形 10">
            <a:extLst>
              <a:ext uri="{FF2B5EF4-FFF2-40B4-BE49-F238E27FC236}">
                <a16:creationId xmlns:a16="http://schemas.microsoft.com/office/drawing/2014/main" id="{D4D20F90-DB1A-B6A0-8607-C0C93118158E}"/>
              </a:ext>
            </a:extLst>
          </p:cNvPr>
          <p:cNvSpPr/>
          <p:nvPr/>
        </p:nvSpPr>
        <p:spPr>
          <a:xfrm>
            <a:off x="4892040" y="4308273"/>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94608CEE-4C85-001A-2579-A0A698688995}"/>
              </a:ext>
            </a:extLst>
          </p:cNvPr>
          <p:cNvSpPr/>
          <p:nvPr/>
        </p:nvSpPr>
        <p:spPr>
          <a:xfrm>
            <a:off x="414745" y="1861523"/>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ツール会社　</a:t>
            </a:r>
          </a:p>
        </p:txBody>
      </p:sp>
      <p:sp>
        <p:nvSpPr>
          <p:cNvPr id="13" name="正方形/長方形 12">
            <a:extLst>
              <a:ext uri="{FF2B5EF4-FFF2-40B4-BE49-F238E27FC236}">
                <a16:creationId xmlns:a16="http://schemas.microsoft.com/office/drawing/2014/main" id="{59A99E6E-D460-C2CE-3554-D4177944BCC1}"/>
              </a:ext>
            </a:extLst>
          </p:cNvPr>
          <p:cNvSpPr/>
          <p:nvPr/>
        </p:nvSpPr>
        <p:spPr>
          <a:xfrm>
            <a:off x="4892040" y="1861523"/>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 コンサル会社</a:t>
            </a:r>
          </a:p>
        </p:txBody>
      </p:sp>
      <p:sp>
        <p:nvSpPr>
          <p:cNvPr id="14" name="正方形/長方形 13">
            <a:extLst>
              <a:ext uri="{FF2B5EF4-FFF2-40B4-BE49-F238E27FC236}">
                <a16:creationId xmlns:a16="http://schemas.microsoft.com/office/drawing/2014/main" id="{B9B23A0A-C181-F52D-CE83-83252D57916D}"/>
              </a:ext>
            </a:extLst>
          </p:cNvPr>
          <p:cNvSpPr/>
          <p:nvPr/>
        </p:nvSpPr>
        <p:spPr>
          <a:xfrm>
            <a:off x="414745" y="4295574"/>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広告専業の代理店</a:t>
            </a:r>
          </a:p>
        </p:txBody>
      </p:sp>
      <p:sp>
        <p:nvSpPr>
          <p:cNvPr id="15" name="正方形/長方形 14">
            <a:extLst>
              <a:ext uri="{FF2B5EF4-FFF2-40B4-BE49-F238E27FC236}">
                <a16:creationId xmlns:a16="http://schemas.microsoft.com/office/drawing/2014/main" id="{735511C6-7F11-A23D-F1BA-0FACD703798D}"/>
              </a:ext>
            </a:extLst>
          </p:cNvPr>
          <p:cNvSpPr/>
          <p:nvPr/>
        </p:nvSpPr>
        <p:spPr>
          <a:xfrm>
            <a:off x="4892040" y="4295574"/>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他</a:t>
            </a:r>
            <a:r>
              <a:rPr kumimoji="1" lang="en-US" altLang="ja-JP" sz="1000" dirty="0">
                <a:solidFill>
                  <a:schemeClr val="tx1"/>
                </a:solidFill>
                <a:latin typeface="メイリオ" panose="020B0604030504040204" pitchFamily="50" charset="-128"/>
                <a:ea typeface="メイリオ" panose="020B0604030504040204" pitchFamily="50" charset="-128"/>
              </a:rPr>
              <a:t>CRM</a:t>
            </a:r>
            <a:r>
              <a:rPr kumimoji="1" lang="ja-JP" altLang="en-US" sz="1000" dirty="0">
                <a:solidFill>
                  <a:schemeClr val="tx1"/>
                </a:solidFill>
                <a:latin typeface="メイリオ" panose="020B0604030504040204" pitchFamily="50" charset="-128"/>
                <a:ea typeface="メイリオ" panose="020B0604030504040204" pitchFamily="50" charset="-128"/>
              </a:rPr>
              <a:t>の会社</a:t>
            </a:r>
          </a:p>
        </p:txBody>
      </p:sp>
      <p:pic>
        <p:nvPicPr>
          <p:cNvPr id="21" name="図 20" descr="文字が書かれている&#10;&#10;AI 生成コンテンツは誤りを含む可能性があります。">
            <a:extLst>
              <a:ext uri="{FF2B5EF4-FFF2-40B4-BE49-F238E27FC236}">
                <a16:creationId xmlns:a16="http://schemas.microsoft.com/office/drawing/2014/main" id="{2521257E-D1E1-307C-8244-A7D93D470795}"/>
              </a:ext>
            </a:extLst>
          </p:cNvPr>
          <p:cNvPicPr>
            <a:picLocks noChangeAspect="1"/>
          </p:cNvPicPr>
          <p:nvPr/>
        </p:nvPicPr>
        <p:blipFill>
          <a:blip r:embed="rId2"/>
          <a:stretch>
            <a:fillRect/>
          </a:stretch>
        </p:blipFill>
        <p:spPr>
          <a:xfrm>
            <a:off x="1086533" y="2288778"/>
            <a:ext cx="1323427" cy="315679"/>
          </a:xfrm>
          <a:prstGeom prst="rect">
            <a:avLst/>
          </a:prstGeom>
        </p:spPr>
      </p:pic>
      <p:pic>
        <p:nvPicPr>
          <p:cNvPr id="1026" name="Picture 2" descr="特定商取引法に関する表示 | Lステップ（エルステップ）公式_LINE公式アカウント特化のマーケティングツール">
            <a:extLst>
              <a:ext uri="{FF2B5EF4-FFF2-40B4-BE49-F238E27FC236}">
                <a16:creationId xmlns:a16="http://schemas.microsoft.com/office/drawing/2014/main" id="{E86AB3B4-1E56-4227-88BE-FA673F02334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36417" y="2199280"/>
            <a:ext cx="831168" cy="467532"/>
          </a:xfrm>
          <a:prstGeom prst="rect">
            <a:avLst/>
          </a:prstGeom>
          <a:noFill/>
          <a:extLst>
            <a:ext uri="{909E8E84-426E-40DD-AFC4-6F175D3DCCD1}">
              <a14:hiddenFill xmlns:a14="http://schemas.microsoft.com/office/drawing/2010/main">
                <a:solidFill>
                  <a:srgbClr val="FFFFFF"/>
                </a:solidFill>
              </a14:hiddenFill>
            </a:ext>
          </a:extLst>
        </p:spPr>
      </p:pic>
      <p:sp>
        <p:nvSpPr>
          <p:cNvPr id="26" name="乗算記号 25">
            <a:extLst>
              <a:ext uri="{FF2B5EF4-FFF2-40B4-BE49-F238E27FC236}">
                <a16:creationId xmlns:a16="http://schemas.microsoft.com/office/drawing/2014/main" id="{676235DE-33EB-2E33-33D6-74D321860C39}"/>
              </a:ext>
            </a:extLst>
          </p:cNvPr>
          <p:cNvSpPr/>
          <p:nvPr/>
        </p:nvSpPr>
        <p:spPr>
          <a:xfrm>
            <a:off x="6198323" y="1838911"/>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乗算記号 26">
            <a:extLst>
              <a:ext uri="{FF2B5EF4-FFF2-40B4-BE49-F238E27FC236}">
                <a16:creationId xmlns:a16="http://schemas.microsoft.com/office/drawing/2014/main" id="{7C31A50F-57BD-64E8-DE3F-3A8FB722D839}"/>
              </a:ext>
            </a:extLst>
          </p:cNvPr>
          <p:cNvSpPr/>
          <p:nvPr/>
        </p:nvSpPr>
        <p:spPr>
          <a:xfrm>
            <a:off x="1472312" y="4277918"/>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乗算記号 27">
            <a:extLst>
              <a:ext uri="{FF2B5EF4-FFF2-40B4-BE49-F238E27FC236}">
                <a16:creationId xmlns:a16="http://schemas.microsoft.com/office/drawing/2014/main" id="{9B7C9A4B-096B-D2DD-08B8-D421AB634155}"/>
              </a:ext>
            </a:extLst>
          </p:cNvPr>
          <p:cNvSpPr/>
          <p:nvPr/>
        </p:nvSpPr>
        <p:spPr>
          <a:xfrm>
            <a:off x="1734353" y="1838911"/>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9" name="乗算記号 28">
            <a:extLst>
              <a:ext uri="{FF2B5EF4-FFF2-40B4-BE49-F238E27FC236}">
                <a16:creationId xmlns:a16="http://schemas.microsoft.com/office/drawing/2014/main" id="{E3AD3032-8560-946E-0D20-D2977D17F027}"/>
              </a:ext>
            </a:extLst>
          </p:cNvPr>
          <p:cNvSpPr/>
          <p:nvPr/>
        </p:nvSpPr>
        <p:spPr>
          <a:xfrm>
            <a:off x="6128651" y="4274166"/>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28" name="Picture 4" descr="Salesforceってなに？初心者でも簡単にわかる！導入のメリットと基本機能について | CONCENTO">
            <a:extLst>
              <a:ext uri="{FF2B5EF4-FFF2-40B4-BE49-F238E27FC236}">
                <a16:creationId xmlns:a16="http://schemas.microsoft.com/office/drawing/2014/main" id="{A10BCEF0-052F-BF99-39E9-5BA577F00F74}"/>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l="23384" t="14322" r="25004" b="16405"/>
          <a:stretch>
            <a:fillRect/>
          </a:stretch>
        </p:blipFill>
        <p:spPr bwMode="auto">
          <a:xfrm>
            <a:off x="5388428" y="4704431"/>
            <a:ext cx="441441" cy="311537"/>
          </a:xfrm>
          <a:prstGeom prst="rect">
            <a:avLst/>
          </a:prstGeom>
          <a:ln>
            <a:noFill/>
          </a:ln>
        </p:spPr>
        <p:style>
          <a:lnRef idx="2">
            <a:schemeClr val="dk1"/>
          </a:lnRef>
          <a:fillRef idx="1">
            <a:schemeClr val="lt1"/>
          </a:fillRef>
          <a:effectRef idx="0">
            <a:schemeClr val="dk1"/>
          </a:effectRef>
          <a:fontRef idx="minor">
            <a:schemeClr val="dk1"/>
          </a:fontRef>
        </p:style>
      </p:pic>
      <p:pic>
        <p:nvPicPr>
          <p:cNvPr id="31" name="図 30" descr="挿絵, 抽象 が含まれている画像&#10;&#10;AI 生成コンテンツは誤りを含む可能性があります。">
            <a:extLst>
              <a:ext uri="{FF2B5EF4-FFF2-40B4-BE49-F238E27FC236}">
                <a16:creationId xmlns:a16="http://schemas.microsoft.com/office/drawing/2014/main" id="{172999E0-2479-CF51-1EFC-C4CA794CEC4E}"/>
              </a:ext>
            </a:extLst>
          </p:cNvPr>
          <p:cNvPicPr>
            <a:picLocks noChangeAspect="1"/>
          </p:cNvPicPr>
          <p:nvPr/>
        </p:nvPicPr>
        <p:blipFill>
          <a:blip r:embed="rId5"/>
          <a:stretch>
            <a:fillRect/>
          </a:stretch>
        </p:blipFill>
        <p:spPr>
          <a:xfrm>
            <a:off x="5864283" y="4761290"/>
            <a:ext cx="682242" cy="197819"/>
          </a:xfrm>
          <a:prstGeom prst="rect">
            <a:avLst/>
          </a:prstGeom>
        </p:spPr>
      </p:pic>
      <p:pic>
        <p:nvPicPr>
          <p:cNvPr id="33" name="図 32" descr="黒い背景に白い文字がある&#10;&#10;AI 生成コンテンツは誤りを含む可能性があります。">
            <a:extLst>
              <a:ext uri="{FF2B5EF4-FFF2-40B4-BE49-F238E27FC236}">
                <a16:creationId xmlns:a16="http://schemas.microsoft.com/office/drawing/2014/main" id="{474C051E-B596-1651-549B-F1BDC6EA898F}"/>
              </a:ext>
            </a:extLst>
          </p:cNvPr>
          <p:cNvPicPr>
            <a:picLocks noChangeAspect="1"/>
          </p:cNvPicPr>
          <p:nvPr/>
        </p:nvPicPr>
        <p:blipFill>
          <a:blip r:embed="rId6"/>
          <a:stretch>
            <a:fillRect/>
          </a:stretch>
        </p:blipFill>
        <p:spPr>
          <a:xfrm>
            <a:off x="6580939" y="4739795"/>
            <a:ext cx="1225076" cy="219314"/>
          </a:xfrm>
          <a:prstGeom prst="rect">
            <a:avLst/>
          </a:prstGeom>
        </p:spPr>
      </p:pic>
      <p:sp>
        <p:nvSpPr>
          <p:cNvPr id="35" name="テキスト ボックス 34">
            <a:extLst>
              <a:ext uri="{FF2B5EF4-FFF2-40B4-BE49-F238E27FC236}">
                <a16:creationId xmlns:a16="http://schemas.microsoft.com/office/drawing/2014/main" id="{A53AB6D9-AEB5-ECF4-8C73-A7EFC4F05EF1}"/>
              </a:ext>
            </a:extLst>
          </p:cNvPr>
          <p:cNvSpPr txBox="1"/>
          <p:nvPr/>
        </p:nvSpPr>
        <p:spPr>
          <a:xfrm>
            <a:off x="4866072" y="2288778"/>
            <a:ext cx="4459715" cy="246221"/>
          </a:xfrm>
          <a:prstGeom prst="rect">
            <a:avLst/>
          </a:prstGeom>
          <a:no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rPr>
              <a:t>システム管理会社・ツール運用会社・デザイン会社</a:t>
            </a: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pic>
        <p:nvPicPr>
          <p:cNvPr id="1030" name="Picture 6" descr="お知らせ一覧｜LINEマーケティングや販促・顧客管理ならLiny">
            <a:extLst>
              <a:ext uri="{FF2B5EF4-FFF2-40B4-BE49-F238E27FC236}">
                <a16:creationId xmlns:a16="http://schemas.microsoft.com/office/drawing/2014/main" id="{A11EE7F3-23DE-A03C-6953-9FC6DABEDA85}"/>
              </a:ext>
            </a:extLst>
          </p:cNvPr>
          <p:cNvPicPr>
            <a:picLocks noChangeAspect="1" noChangeArrowheads="1"/>
          </p:cNvPicPr>
          <p:nvPr/>
        </p:nvPicPr>
        <p:blipFill rotWithShape="1">
          <a:blip r:embed="rId7" cstate="print">
            <a:extLst>
              <a:ext uri="{28A0092B-C50C-407E-A947-70E740481C1C}">
                <a14:useLocalDpi xmlns:a14="http://schemas.microsoft.com/office/drawing/2010/main" val="0"/>
              </a:ext>
            </a:extLst>
          </a:blip>
          <a:srcRect l="21448" t="26478" r="21237" b="27778"/>
          <a:stretch>
            <a:fillRect/>
          </a:stretch>
        </p:blipFill>
        <p:spPr bwMode="auto">
          <a:xfrm>
            <a:off x="3335235" y="2294514"/>
            <a:ext cx="571287" cy="304207"/>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Shopify Japan 株式会社のプレスリリース｜PR TIMES">
            <a:extLst>
              <a:ext uri="{FF2B5EF4-FFF2-40B4-BE49-F238E27FC236}">
                <a16:creationId xmlns:a16="http://schemas.microsoft.com/office/drawing/2014/main" id="{1BF2471A-3689-B39E-D841-0A5CEE63B028}"/>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7938796" y="4740053"/>
            <a:ext cx="799200" cy="228571"/>
          </a:xfrm>
          <a:prstGeom prst="rect">
            <a:avLst/>
          </a:prstGeom>
          <a:noFill/>
          <a:extLst>
            <a:ext uri="{909E8E84-426E-40DD-AFC4-6F175D3DCCD1}">
              <a14:hiddenFill xmlns:a14="http://schemas.microsoft.com/office/drawing/2010/main">
                <a:solidFill>
                  <a:srgbClr val="FFFFFF"/>
                </a:solidFill>
              </a14:hiddenFill>
            </a:ext>
          </a:extLst>
        </p:spPr>
      </p:pic>
      <p:sp>
        <p:nvSpPr>
          <p:cNvPr id="36" name="テキスト ボックス 35">
            <a:extLst>
              <a:ext uri="{FF2B5EF4-FFF2-40B4-BE49-F238E27FC236}">
                <a16:creationId xmlns:a16="http://schemas.microsoft.com/office/drawing/2014/main" id="{EB20A091-C336-4BDE-54E9-33ECF6B1EC77}"/>
              </a:ext>
            </a:extLst>
          </p:cNvPr>
          <p:cNvSpPr txBox="1"/>
          <p:nvPr/>
        </p:nvSpPr>
        <p:spPr>
          <a:xfrm>
            <a:off x="362665" y="4754506"/>
            <a:ext cx="4459715" cy="246221"/>
          </a:xfrm>
          <a:prstGeom prst="rect">
            <a:avLst/>
          </a:prstGeom>
          <a:noFill/>
        </p:spPr>
        <p:txBody>
          <a:bodyPr wrap="square">
            <a:spAutoFit/>
          </a:bodyPr>
          <a:lstStyle/>
          <a:p>
            <a:pPr algn="ctr"/>
            <a:r>
              <a:rPr lang="en-US" altLang="ja-JP" sz="1000" b="1" dirty="0">
                <a:latin typeface="メイリオ" panose="020B0604030504040204" pitchFamily="50" charset="-128"/>
                <a:ea typeface="メイリオ" panose="020B0604030504040204" pitchFamily="50" charset="-128"/>
              </a:rPr>
              <a:t>LINE</a:t>
            </a:r>
            <a:r>
              <a:rPr lang="ja-JP" altLang="en-US" sz="1000" b="1" dirty="0">
                <a:latin typeface="メイリオ" panose="020B0604030504040204" pitchFamily="50" charset="-128"/>
                <a:ea typeface="メイリオ" panose="020B0604030504040204" pitchFamily="50" charset="-128"/>
              </a:rPr>
              <a:t>ヤフーのパッケージ商品などの拡販</a:t>
            </a: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sp>
        <p:nvSpPr>
          <p:cNvPr id="6" name="テキスト ボックス 5">
            <a:extLst>
              <a:ext uri="{FF2B5EF4-FFF2-40B4-BE49-F238E27FC236}">
                <a16:creationId xmlns:a16="http://schemas.microsoft.com/office/drawing/2014/main" id="{63CD4067-EE53-3C90-C918-C15397527FBF}"/>
              </a:ext>
            </a:extLst>
          </p:cNvPr>
          <p:cNvSpPr txBox="1"/>
          <p:nvPr/>
        </p:nvSpPr>
        <p:spPr>
          <a:xfrm>
            <a:off x="459470" y="2738645"/>
            <a:ext cx="4311647" cy="553998"/>
          </a:xfrm>
          <a:prstGeom prst="rect">
            <a:avLst/>
          </a:prstGeom>
          <a:noFill/>
        </p:spPr>
        <p:txBody>
          <a:bodyPr wrap="square">
            <a:spAutoFit/>
          </a:bodyPr>
          <a:lstStyle/>
          <a:p>
            <a:pPr algn="ctr"/>
            <a:r>
              <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・ツールによって、適用される機能自体に差分がある。</a:t>
            </a:r>
            <a:endPar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 </a:t>
            </a:r>
            <a:r>
              <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API</a:t>
            </a:r>
            <a:r>
              <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ツールが</a:t>
            </a:r>
            <a:r>
              <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1</a:t>
            </a:r>
            <a:r>
              <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社のみの独占となり、切替えが難しい。</a:t>
            </a:r>
            <a:endPar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・コンサルも依頼の場合に費用が大きくなるリスク。</a:t>
            </a:r>
            <a:endPar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7" name="テキスト ボックス 6">
            <a:extLst>
              <a:ext uri="{FF2B5EF4-FFF2-40B4-BE49-F238E27FC236}">
                <a16:creationId xmlns:a16="http://schemas.microsoft.com/office/drawing/2014/main" id="{EBA4D737-3559-5FE1-B418-3302CBFCB9A9}"/>
              </a:ext>
            </a:extLst>
          </p:cNvPr>
          <p:cNvSpPr txBox="1"/>
          <p:nvPr/>
        </p:nvSpPr>
        <p:spPr>
          <a:xfrm>
            <a:off x="4928055" y="2733229"/>
            <a:ext cx="4311647" cy="553998"/>
          </a:xfrm>
          <a:prstGeom prst="rect">
            <a:avLst/>
          </a:prstGeom>
          <a:noFill/>
        </p:spPr>
        <p:txBody>
          <a:bodyPr wrap="square">
            <a:spAutoFit/>
          </a:bodyPr>
          <a:lstStyle/>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・ツール外注により費用が大きくなる可能性がある。</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運用自体に対する知見が少ない。</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・一部利用できない機能が存在する（</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Option API</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他）。</a:t>
            </a:r>
          </a:p>
        </p:txBody>
      </p:sp>
      <p:sp>
        <p:nvSpPr>
          <p:cNvPr id="8" name="テキスト ボックス 7">
            <a:extLst>
              <a:ext uri="{FF2B5EF4-FFF2-40B4-BE49-F238E27FC236}">
                <a16:creationId xmlns:a16="http://schemas.microsoft.com/office/drawing/2014/main" id="{C16446F7-FB27-00FA-5115-4A5251550BE6}"/>
              </a:ext>
            </a:extLst>
          </p:cNvPr>
          <p:cNvSpPr txBox="1"/>
          <p:nvPr/>
        </p:nvSpPr>
        <p:spPr>
          <a:xfrm>
            <a:off x="461608" y="5199061"/>
            <a:ext cx="4311647" cy="553998"/>
          </a:xfrm>
          <a:prstGeom prst="rect">
            <a:avLst/>
          </a:prstGeom>
          <a:noFill/>
        </p:spPr>
        <p:txBody>
          <a:bodyPr wrap="square">
            <a:spAutoFit/>
          </a:bodyPr>
          <a:lstStyle/>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運用部隊を備えていない可能性がある。</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・パッケージ売りが中心で非アクティブユーザーが増加。</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・コンサルも依頼の場合に費用が大きくなるリスク。</a:t>
            </a:r>
          </a:p>
        </p:txBody>
      </p:sp>
      <p:sp>
        <p:nvSpPr>
          <p:cNvPr id="9" name="テキスト ボックス 8">
            <a:extLst>
              <a:ext uri="{FF2B5EF4-FFF2-40B4-BE49-F238E27FC236}">
                <a16:creationId xmlns:a16="http://schemas.microsoft.com/office/drawing/2014/main" id="{19EE3868-DB7E-927E-8B36-00939FCE4211}"/>
              </a:ext>
            </a:extLst>
          </p:cNvPr>
          <p:cNvSpPr txBox="1"/>
          <p:nvPr/>
        </p:nvSpPr>
        <p:spPr>
          <a:xfrm>
            <a:off x="4930193" y="5316755"/>
            <a:ext cx="4311647" cy="400110"/>
          </a:xfrm>
          <a:prstGeom prst="rect">
            <a:avLst/>
          </a:prstGeom>
          <a:noFill/>
        </p:spPr>
        <p:txBody>
          <a:bodyPr wrap="square" anchor="ctr">
            <a:spAutoFit/>
          </a:bodyPr>
          <a:lstStyle/>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CRM</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側の</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API</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利用時に通常より高単価になりやすい。</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単体での運用知見の乏しさ。</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189FFC9F-CF2D-25AD-00C7-208E47BC4C66}"/>
              </a:ext>
            </a:extLst>
          </p:cNvPr>
          <p:cNvSpPr/>
          <p:nvPr/>
        </p:nvSpPr>
        <p:spPr>
          <a:xfrm>
            <a:off x="3361317" y="1908015"/>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自動化・効率化</a:t>
            </a:r>
          </a:p>
        </p:txBody>
      </p:sp>
      <p:sp>
        <p:nvSpPr>
          <p:cNvPr id="18" name="正方形/長方形 17">
            <a:extLst>
              <a:ext uri="{FF2B5EF4-FFF2-40B4-BE49-F238E27FC236}">
                <a16:creationId xmlns:a16="http://schemas.microsoft.com/office/drawing/2014/main" id="{122AB27F-120A-6587-2E9E-7D2F5F3B4407}"/>
              </a:ext>
            </a:extLst>
          </p:cNvPr>
          <p:cNvSpPr/>
          <p:nvPr/>
        </p:nvSpPr>
        <p:spPr>
          <a:xfrm>
            <a:off x="7854818" y="1902839"/>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リッチ化</a:t>
            </a:r>
          </a:p>
        </p:txBody>
      </p:sp>
      <p:sp>
        <p:nvSpPr>
          <p:cNvPr id="19" name="正方形/長方形 18">
            <a:extLst>
              <a:ext uri="{FF2B5EF4-FFF2-40B4-BE49-F238E27FC236}">
                <a16:creationId xmlns:a16="http://schemas.microsoft.com/office/drawing/2014/main" id="{56DB3229-AC80-A545-1A7F-30968AF568EC}"/>
              </a:ext>
            </a:extLst>
          </p:cNvPr>
          <p:cNvSpPr/>
          <p:nvPr/>
        </p:nvSpPr>
        <p:spPr>
          <a:xfrm>
            <a:off x="3386263" y="4343224"/>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リード母数拡大</a:t>
            </a:r>
          </a:p>
        </p:txBody>
      </p:sp>
      <p:sp>
        <p:nvSpPr>
          <p:cNvPr id="20" name="正方形/長方形 19">
            <a:extLst>
              <a:ext uri="{FF2B5EF4-FFF2-40B4-BE49-F238E27FC236}">
                <a16:creationId xmlns:a16="http://schemas.microsoft.com/office/drawing/2014/main" id="{21D29B7F-EC01-1021-44F2-D37D7A2E27DC}"/>
              </a:ext>
            </a:extLst>
          </p:cNvPr>
          <p:cNvSpPr/>
          <p:nvPr/>
        </p:nvSpPr>
        <p:spPr>
          <a:xfrm>
            <a:off x="7879764" y="4338048"/>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自動化・効率化</a:t>
            </a:r>
          </a:p>
        </p:txBody>
      </p:sp>
      <p:sp>
        <p:nvSpPr>
          <p:cNvPr id="22" name="正方形/長方形 21">
            <a:extLst>
              <a:ext uri="{FF2B5EF4-FFF2-40B4-BE49-F238E27FC236}">
                <a16:creationId xmlns:a16="http://schemas.microsoft.com/office/drawing/2014/main" id="{2B94E779-B2D3-DA1A-5386-88EC8B7F7A2A}"/>
              </a:ext>
            </a:extLst>
          </p:cNvPr>
          <p:cNvSpPr/>
          <p:nvPr/>
        </p:nvSpPr>
        <p:spPr>
          <a:xfrm>
            <a:off x="486784" y="738200"/>
            <a:ext cx="9005456" cy="59385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400" dirty="0">
                <a:solidFill>
                  <a:schemeClr val="tx1"/>
                </a:solidFill>
                <a:latin typeface="メイリオ" panose="020B0604030504040204" pitchFamily="50" charset="-128"/>
                <a:ea typeface="メイリオ" panose="020B0604030504040204" pitchFamily="50" charset="-128"/>
              </a:rPr>
              <a:t>各種パートナー企業との連携から、幅広い</a:t>
            </a:r>
            <a:r>
              <a:rPr lang="en-US" altLang="ja-JP" sz="1400" dirty="0">
                <a:solidFill>
                  <a:schemeClr val="tx1"/>
                </a:solidFill>
                <a:latin typeface="メイリオ" panose="020B0604030504040204" pitchFamily="50" charset="-128"/>
                <a:ea typeface="メイリオ" panose="020B0604030504040204" pitchFamily="50" charset="-128"/>
              </a:rPr>
              <a:t>LINEOA</a:t>
            </a:r>
            <a:r>
              <a:rPr lang="ja-JP" altLang="en-US" sz="1400" dirty="0">
                <a:solidFill>
                  <a:schemeClr val="tx1"/>
                </a:solidFill>
                <a:latin typeface="メイリオ" panose="020B0604030504040204" pitchFamily="50" charset="-128"/>
                <a:ea typeface="メイリオ" panose="020B0604030504040204" pitchFamily="50" charset="-128"/>
              </a:rPr>
              <a:t>業務に対して対応が可能。</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400" dirty="0">
                <a:solidFill>
                  <a:schemeClr val="tx1"/>
                </a:solidFill>
                <a:latin typeface="メイリオ" panose="020B0604030504040204" pitchFamily="50" charset="-128"/>
                <a:ea typeface="メイリオ" panose="020B0604030504040204" pitchFamily="50" charset="-128"/>
              </a:rPr>
              <a:t>貴社社内部隊と連携して、一部委託もご相談いただけます。</a:t>
            </a: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30" name="テキスト ボックス 29">
            <a:extLst>
              <a:ext uri="{FF2B5EF4-FFF2-40B4-BE49-F238E27FC236}">
                <a16:creationId xmlns:a16="http://schemas.microsoft.com/office/drawing/2014/main" id="{DB41465D-5D30-6E80-78F0-EEE5C4A9C571}"/>
              </a:ext>
            </a:extLst>
          </p:cNvPr>
          <p:cNvSpPr txBox="1"/>
          <p:nvPr/>
        </p:nvSpPr>
        <p:spPr>
          <a:xfrm>
            <a:off x="269967" y="3632378"/>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34" name="テキスト ボックス 33">
            <a:extLst>
              <a:ext uri="{FF2B5EF4-FFF2-40B4-BE49-F238E27FC236}">
                <a16:creationId xmlns:a16="http://schemas.microsoft.com/office/drawing/2014/main" id="{0144DC71-37E5-DA34-FDBB-69F2A1BEA8E0}"/>
              </a:ext>
            </a:extLst>
          </p:cNvPr>
          <p:cNvSpPr txBox="1"/>
          <p:nvPr/>
        </p:nvSpPr>
        <p:spPr>
          <a:xfrm>
            <a:off x="4741544" y="3629460"/>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38" name="テキスト ボックス 37">
            <a:extLst>
              <a:ext uri="{FF2B5EF4-FFF2-40B4-BE49-F238E27FC236}">
                <a16:creationId xmlns:a16="http://schemas.microsoft.com/office/drawing/2014/main" id="{AF15CFA9-BA43-360D-D26E-040407A743A9}"/>
              </a:ext>
            </a:extLst>
          </p:cNvPr>
          <p:cNvSpPr txBox="1"/>
          <p:nvPr/>
        </p:nvSpPr>
        <p:spPr>
          <a:xfrm>
            <a:off x="269967" y="6081294"/>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40" name="テキスト ボックス 39">
            <a:extLst>
              <a:ext uri="{FF2B5EF4-FFF2-40B4-BE49-F238E27FC236}">
                <a16:creationId xmlns:a16="http://schemas.microsoft.com/office/drawing/2014/main" id="{240BE338-3054-2BB1-6A31-C90BDCFE06A9}"/>
              </a:ext>
            </a:extLst>
          </p:cNvPr>
          <p:cNvSpPr txBox="1"/>
          <p:nvPr/>
        </p:nvSpPr>
        <p:spPr>
          <a:xfrm>
            <a:off x="4741544" y="6078376"/>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41" name="テキスト ボックス 40">
            <a:extLst>
              <a:ext uri="{FF2B5EF4-FFF2-40B4-BE49-F238E27FC236}">
                <a16:creationId xmlns:a16="http://schemas.microsoft.com/office/drawing/2014/main" id="{C0326F10-43FF-1E4A-8F3D-ED5A80FA014B}"/>
              </a:ext>
            </a:extLst>
          </p:cNvPr>
          <p:cNvSpPr txBox="1"/>
          <p:nvPr/>
        </p:nvSpPr>
        <p:spPr>
          <a:xfrm>
            <a:off x="956972" y="3530330"/>
            <a:ext cx="3842445" cy="461665"/>
          </a:xfrm>
          <a:prstGeom prst="rect">
            <a:avLst/>
          </a:prstGeom>
          <a:noFill/>
        </p:spPr>
        <p:txBody>
          <a:bodyPr wrap="square">
            <a:spAutoFit/>
          </a:bodyPr>
          <a:lstStyle/>
          <a:p>
            <a:pPr algn="ctr"/>
            <a:r>
              <a:rPr lang="ja-JP" altLang="en-US" sz="1200" b="1" dirty="0">
                <a:solidFill>
                  <a:schemeClr val="tx2"/>
                </a:solidFill>
                <a:latin typeface="メイリオ" panose="020B0604030504040204" pitchFamily="50" charset="-128"/>
                <a:ea typeface="メイリオ" panose="020B0604030504040204" pitchFamily="50" charset="-128"/>
              </a:rPr>
              <a:t>各種実績の多いツール企業と連携している為、</a:t>
            </a:r>
            <a:endParaRPr lang="en-US" altLang="ja-JP" sz="1200" b="1">
              <a:solidFill>
                <a:schemeClr val="tx2"/>
              </a:solidFill>
              <a:latin typeface="メイリオ" panose="020B0604030504040204" pitchFamily="50" charset="-128"/>
              <a:ea typeface="メイリオ" panose="020B0604030504040204" pitchFamily="50" charset="-128"/>
            </a:endParaRPr>
          </a:p>
          <a:p>
            <a:pPr algn="ctr"/>
            <a:r>
              <a:rPr kumimoji="1" lang="ja-JP" altLang="en-US" sz="1200" b="1">
                <a:solidFill>
                  <a:schemeClr val="tx2"/>
                </a:solidFill>
                <a:latin typeface="メイリオ" panose="020B0604030504040204" pitchFamily="50" charset="-128"/>
                <a:ea typeface="メイリオ" panose="020B0604030504040204" pitchFamily="50" charset="-128"/>
              </a:rPr>
              <a:t>将来的</a:t>
            </a:r>
            <a:r>
              <a:rPr kumimoji="1" lang="ja-JP" altLang="en-US" sz="1200" b="1" dirty="0">
                <a:solidFill>
                  <a:schemeClr val="tx2"/>
                </a:solidFill>
                <a:latin typeface="メイリオ" panose="020B0604030504040204" pitchFamily="50" charset="-128"/>
                <a:ea typeface="メイリオ" panose="020B0604030504040204" pitchFamily="50" charset="-128"/>
              </a:rPr>
              <a:t>な運用プランに合わせてツール選定をサポート。</a:t>
            </a:r>
          </a:p>
        </p:txBody>
      </p:sp>
      <p:sp>
        <p:nvSpPr>
          <p:cNvPr id="42" name="テキスト ボックス 41">
            <a:extLst>
              <a:ext uri="{FF2B5EF4-FFF2-40B4-BE49-F238E27FC236}">
                <a16:creationId xmlns:a16="http://schemas.microsoft.com/office/drawing/2014/main" id="{D6EF5007-A21E-89B0-31EE-98FC1F7BE5FB}"/>
              </a:ext>
            </a:extLst>
          </p:cNvPr>
          <p:cNvSpPr txBox="1"/>
          <p:nvPr/>
        </p:nvSpPr>
        <p:spPr>
          <a:xfrm>
            <a:off x="5428549" y="3527412"/>
            <a:ext cx="3842445" cy="461665"/>
          </a:xfrm>
          <a:prstGeom prst="rect">
            <a:avLst/>
          </a:prstGeom>
          <a:noFill/>
        </p:spPr>
        <p:txBody>
          <a:bodyPr wrap="square">
            <a:spAutoFit/>
          </a:bodyPr>
          <a:lstStyle/>
          <a:p>
            <a:pPr algn="ctr"/>
            <a:r>
              <a:rPr lang="en-US" altLang="ja-JP" sz="1200" b="1" dirty="0">
                <a:solidFill>
                  <a:schemeClr val="tx2"/>
                </a:solidFill>
                <a:latin typeface="メイリオ" panose="020B0604030504040204" pitchFamily="50" charset="-128"/>
                <a:ea typeface="メイリオ" panose="020B0604030504040204" pitchFamily="50" charset="-128"/>
              </a:rPr>
              <a:t>DYM</a:t>
            </a:r>
            <a:r>
              <a:rPr lang="ja-JP" altLang="en-US" sz="1200" b="1" dirty="0">
                <a:solidFill>
                  <a:schemeClr val="tx2"/>
                </a:solidFill>
                <a:latin typeface="メイリオ" panose="020B0604030504040204" pitchFamily="50" charset="-128"/>
                <a:ea typeface="メイリオ" panose="020B0604030504040204" pitchFamily="50" charset="-128"/>
              </a:rPr>
              <a:t>が商流に入ることにより限定の割引プランや</a:t>
            </a:r>
            <a:endParaRPr lang="en-US" altLang="ja-JP" sz="1200" b="1" dirty="0">
              <a:solidFill>
                <a:schemeClr val="tx2"/>
              </a:solidFill>
              <a:latin typeface="メイリオ" panose="020B0604030504040204" pitchFamily="50" charset="-128"/>
              <a:ea typeface="メイリオ" panose="020B0604030504040204" pitchFamily="50" charset="-128"/>
            </a:endParaRPr>
          </a:p>
          <a:p>
            <a:pPr algn="ctr"/>
            <a:r>
              <a:rPr kumimoji="1" lang="ja-JP" altLang="en-US" sz="1200" b="1" dirty="0">
                <a:solidFill>
                  <a:schemeClr val="tx2"/>
                </a:solidFill>
                <a:latin typeface="メイリオ" panose="020B0604030504040204" pitchFamily="50" charset="-128"/>
                <a:ea typeface="メイリオ" panose="020B0604030504040204" pitchFamily="50" charset="-128"/>
              </a:rPr>
              <a:t>拡張機能（一部</a:t>
            </a:r>
            <a:r>
              <a:rPr kumimoji="1" lang="en-US" altLang="ja-JP" sz="1200" b="1" dirty="0">
                <a:solidFill>
                  <a:schemeClr val="tx2"/>
                </a:solidFill>
                <a:latin typeface="メイリオ" panose="020B0604030504040204" pitchFamily="50" charset="-128"/>
                <a:ea typeface="メイリオ" panose="020B0604030504040204" pitchFamily="50" charset="-128"/>
              </a:rPr>
              <a:t>β</a:t>
            </a:r>
            <a:r>
              <a:rPr lang="ja-JP" altLang="en-US" sz="1200" b="1" dirty="0">
                <a:solidFill>
                  <a:schemeClr val="tx2"/>
                </a:solidFill>
                <a:latin typeface="メイリオ" panose="020B0604030504040204" pitchFamily="50" charset="-128"/>
                <a:ea typeface="メイリオ" panose="020B0604030504040204" pitchFamily="50" charset="-128"/>
              </a:rPr>
              <a:t>版）の展開を可能に。</a:t>
            </a:r>
            <a:endParaRPr kumimoji="1" lang="ja-JP" altLang="en-US" sz="1200" b="1" dirty="0">
              <a:solidFill>
                <a:schemeClr val="tx2"/>
              </a:solidFill>
              <a:latin typeface="メイリオ" panose="020B0604030504040204" pitchFamily="50" charset="-128"/>
              <a:ea typeface="メイリオ" panose="020B0604030504040204" pitchFamily="50" charset="-128"/>
            </a:endParaRPr>
          </a:p>
        </p:txBody>
      </p:sp>
      <p:sp>
        <p:nvSpPr>
          <p:cNvPr id="43" name="テキスト ボックス 42">
            <a:extLst>
              <a:ext uri="{FF2B5EF4-FFF2-40B4-BE49-F238E27FC236}">
                <a16:creationId xmlns:a16="http://schemas.microsoft.com/office/drawing/2014/main" id="{674B7463-4A8E-D0FC-FDB4-5BB44B5E2FB2}"/>
              </a:ext>
            </a:extLst>
          </p:cNvPr>
          <p:cNvSpPr txBox="1"/>
          <p:nvPr/>
        </p:nvSpPr>
        <p:spPr>
          <a:xfrm>
            <a:off x="956972" y="5979246"/>
            <a:ext cx="3842445" cy="461665"/>
          </a:xfrm>
          <a:prstGeom prst="rect">
            <a:avLst/>
          </a:prstGeom>
          <a:noFill/>
        </p:spPr>
        <p:txBody>
          <a:bodyPr wrap="square">
            <a:spAutoFit/>
          </a:bodyPr>
          <a:lstStyle/>
          <a:p>
            <a:pPr algn="ctr"/>
            <a:r>
              <a:rPr lang="ja-JP" altLang="en-US" sz="1200" b="1" dirty="0">
                <a:solidFill>
                  <a:schemeClr val="tx2"/>
                </a:solidFill>
                <a:latin typeface="メイリオ" panose="020B0604030504040204" pitchFamily="50" charset="-128"/>
                <a:ea typeface="メイリオ" panose="020B0604030504040204" pitchFamily="50" charset="-128"/>
              </a:rPr>
              <a:t>運用実務におけるアウトソースとして活用し、</a:t>
            </a:r>
            <a:endParaRPr lang="en-US" altLang="ja-JP" sz="1200" b="1" dirty="0">
              <a:solidFill>
                <a:schemeClr val="tx2"/>
              </a:solidFill>
              <a:latin typeface="メイリオ" panose="020B0604030504040204" pitchFamily="50" charset="-128"/>
              <a:ea typeface="メイリオ" panose="020B0604030504040204" pitchFamily="50" charset="-128"/>
            </a:endParaRPr>
          </a:p>
          <a:p>
            <a:pPr algn="ctr"/>
            <a:r>
              <a:rPr kumimoji="1" lang="ja-JP" altLang="en-US" sz="1200" b="1" dirty="0">
                <a:solidFill>
                  <a:schemeClr val="tx2"/>
                </a:solidFill>
                <a:latin typeface="メイリオ" panose="020B0604030504040204" pitchFamily="50" charset="-128"/>
                <a:ea typeface="メイリオ" panose="020B0604030504040204" pitchFamily="50" charset="-128"/>
              </a:rPr>
              <a:t>既存の運用領域における効率化をサポート。</a:t>
            </a:r>
          </a:p>
        </p:txBody>
      </p:sp>
      <p:sp>
        <p:nvSpPr>
          <p:cNvPr id="44" name="テキスト ボックス 43">
            <a:extLst>
              <a:ext uri="{FF2B5EF4-FFF2-40B4-BE49-F238E27FC236}">
                <a16:creationId xmlns:a16="http://schemas.microsoft.com/office/drawing/2014/main" id="{C373F1E9-22BB-9E8C-628E-A261897C133F}"/>
              </a:ext>
            </a:extLst>
          </p:cNvPr>
          <p:cNvSpPr txBox="1"/>
          <p:nvPr/>
        </p:nvSpPr>
        <p:spPr>
          <a:xfrm>
            <a:off x="5428549" y="5976328"/>
            <a:ext cx="3842445" cy="461665"/>
          </a:xfrm>
          <a:prstGeom prst="rect">
            <a:avLst/>
          </a:prstGeom>
          <a:noFill/>
        </p:spPr>
        <p:txBody>
          <a:bodyPr wrap="square">
            <a:spAutoFit/>
          </a:bodyPr>
          <a:lstStyle/>
          <a:p>
            <a:pPr algn="ctr"/>
            <a:r>
              <a:rPr kumimoji="1" lang="en-US" altLang="ja-JP" sz="1200" b="1" dirty="0">
                <a:solidFill>
                  <a:schemeClr val="tx2"/>
                </a:solidFill>
                <a:latin typeface="メイリオ" panose="020B0604030504040204" pitchFamily="50" charset="-128"/>
                <a:ea typeface="メイリオ" panose="020B0604030504040204" pitchFamily="50" charset="-128"/>
              </a:rPr>
              <a:t>OAM(</a:t>
            </a:r>
            <a:r>
              <a:rPr kumimoji="1" lang="ja-JP" altLang="en-US" sz="1200" b="1" dirty="0">
                <a:solidFill>
                  <a:schemeClr val="tx2"/>
                </a:solidFill>
                <a:latin typeface="メイリオ" panose="020B0604030504040204" pitchFamily="50" charset="-128"/>
                <a:ea typeface="メイリオ" panose="020B0604030504040204" pitchFamily="50" charset="-128"/>
              </a:rPr>
              <a:t>公式管理画面</a:t>
            </a:r>
            <a:r>
              <a:rPr kumimoji="1" lang="en-US" altLang="ja-JP" sz="1200" b="1" dirty="0">
                <a:solidFill>
                  <a:schemeClr val="tx2"/>
                </a:solidFill>
                <a:latin typeface="メイリオ" panose="020B0604030504040204" pitchFamily="50" charset="-128"/>
                <a:ea typeface="メイリオ" panose="020B0604030504040204" pitchFamily="50" charset="-128"/>
              </a:rPr>
              <a:t>)</a:t>
            </a:r>
            <a:r>
              <a:rPr kumimoji="1" lang="ja-JP" altLang="en-US" sz="1200" b="1" dirty="0">
                <a:solidFill>
                  <a:schemeClr val="tx2"/>
                </a:solidFill>
                <a:latin typeface="メイリオ" panose="020B0604030504040204" pitchFamily="50" charset="-128"/>
                <a:ea typeface="メイリオ" panose="020B0604030504040204" pitchFamily="50" charset="-128"/>
              </a:rPr>
              <a:t>と併用しながらコストカット。</a:t>
            </a:r>
            <a:endParaRPr kumimoji="1" lang="en-US" altLang="ja-JP" sz="1200" b="1" dirty="0">
              <a:solidFill>
                <a:schemeClr val="tx2"/>
              </a:solidFill>
              <a:latin typeface="メイリオ" panose="020B0604030504040204" pitchFamily="50" charset="-128"/>
              <a:ea typeface="メイリオ" panose="020B0604030504040204" pitchFamily="50" charset="-128"/>
            </a:endParaRPr>
          </a:p>
          <a:p>
            <a:pPr algn="ctr"/>
            <a:r>
              <a:rPr lang="ja-JP" altLang="en-US" sz="1200" b="1" dirty="0">
                <a:solidFill>
                  <a:schemeClr val="tx2"/>
                </a:solidFill>
                <a:latin typeface="メイリオ" panose="020B0604030504040204" pitchFamily="50" charset="-128"/>
                <a:ea typeface="メイリオ" panose="020B0604030504040204" pitchFamily="50" charset="-128"/>
              </a:rPr>
              <a:t>また複数ステップ配信の組み合わせで効率化も。</a:t>
            </a:r>
            <a:endParaRPr kumimoji="1" lang="ja-JP" altLang="en-US" sz="1200" b="1" dirty="0">
              <a:solidFill>
                <a:schemeClr val="tx2"/>
              </a:solidFill>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09F8FD3D-D156-D73A-268D-4BD2C4EFA147}"/>
              </a:ext>
            </a:extLst>
          </p:cNvPr>
          <p:cNvSpPr txBox="1"/>
          <p:nvPr/>
        </p:nvSpPr>
        <p:spPr>
          <a:xfrm>
            <a:off x="1659517" y="1322455"/>
            <a:ext cx="6603340" cy="260597"/>
          </a:xfrm>
          <a:prstGeom prst="rect">
            <a:avLst/>
          </a:prstGeom>
          <a:noFill/>
        </p:spPr>
        <p:txBody>
          <a:bodyPr wrap="square">
            <a:spAutoFit/>
          </a:bodyPr>
          <a:lstStyle/>
          <a:p>
            <a:pPr algn="ctr"/>
            <a:r>
              <a:rPr lang="en-US" altLang="ja-JP" sz="1050" dirty="0">
                <a:solidFill>
                  <a:srgbClr val="FF0000"/>
                </a:solidFill>
                <a:latin typeface="メイリオ" panose="020B0604030504040204" pitchFamily="50" charset="-128"/>
                <a:ea typeface="メイリオ" panose="020B0604030504040204" pitchFamily="50" charset="-128"/>
              </a:rPr>
              <a:t>※</a:t>
            </a:r>
            <a:r>
              <a:rPr lang="ja-JP" altLang="en-US" sz="1050" dirty="0">
                <a:solidFill>
                  <a:srgbClr val="FF0000"/>
                </a:solidFill>
                <a:latin typeface="メイリオ" panose="020B0604030504040204" pitchFamily="50" charset="-128"/>
                <a:ea typeface="メイリオ" panose="020B0604030504040204" pitchFamily="50" charset="-128"/>
              </a:rPr>
              <a:t>現状運用環境に合わせた成果報酬プランやコストカットの監修なども提示が可能です。</a:t>
            </a:r>
            <a:endParaRPr lang="ja-JP" altLang="en-US" sz="1200" dirty="0">
              <a:solidFill>
                <a:srgbClr val="FF0000"/>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91138102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0D8079-0D33-0F1A-6794-86CD36E2B42B}"/>
            </a:ext>
          </a:extLst>
        </p:cNvPr>
        <p:cNvGrpSpPr/>
        <p:nvPr/>
      </p:nvGrpSpPr>
      <p:grpSpPr>
        <a:xfrm>
          <a:off x="0" y="0"/>
          <a:ext cx="0" cy="0"/>
          <a:chOff x="0" y="0"/>
          <a:chExt cx="0" cy="0"/>
        </a:xfrm>
      </p:grpSpPr>
      <p:sp>
        <p:nvSpPr>
          <p:cNvPr id="14" name="Google Shape;752;p28">
            <a:extLst>
              <a:ext uri="{FF2B5EF4-FFF2-40B4-BE49-F238E27FC236}">
                <a16:creationId xmlns:a16="http://schemas.microsoft.com/office/drawing/2014/main" id="{88CD823C-3E61-5E93-B9FE-BD623737FC13}"/>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01</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403775D4-CF2D-3023-3056-9E596BBE8648}"/>
              </a:ext>
            </a:extLst>
          </p:cNvPr>
          <p:cNvSpPr txBox="1"/>
          <p:nvPr/>
        </p:nvSpPr>
        <p:spPr>
          <a:xfrm>
            <a:off x="1867143" y="1043132"/>
            <a:ext cx="5028957"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施策背景</a:t>
            </a:r>
          </a:p>
        </p:txBody>
      </p:sp>
      <p:cxnSp>
        <p:nvCxnSpPr>
          <p:cNvPr id="17" name="直線コネクタ 16">
            <a:extLst>
              <a:ext uri="{FF2B5EF4-FFF2-40B4-BE49-F238E27FC236}">
                <a16:creationId xmlns:a16="http://schemas.microsoft.com/office/drawing/2014/main" id="{24E0D700-8F0C-AA59-0C53-7B51F6E65BAA}"/>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7642642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A42436-AC50-73E1-6EBE-63A7C5BBF420}"/>
            </a:ext>
          </a:extLst>
        </p:cNvPr>
        <p:cNvGrpSpPr/>
        <p:nvPr/>
      </p:nvGrpSpPr>
      <p:grpSpPr>
        <a:xfrm>
          <a:off x="0" y="0"/>
          <a:ext cx="0" cy="0"/>
          <a:chOff x="0" y="0"/>
          <a:chExt cx="0" cy="0"/>
        </a:xfrm>
      </p:grpSpPr>
      <p:cxnSp>
        <p:nvCxnSpPr>
          <p:cNvPr id="59" name="直線コネクタ 4"/>
          <p:cNvCxnSpPr/>
          <p:nvPr/>
        </p:nvCxnSpPr>
        <p:spPr>
          <a:xfrm>
            <a:off x="0" y="548640"/>
            <a:ext cx="9906120" cy="360"/>
          </a:xfrm>
          <a:prstGeom prst="straightConnector1">
            <a:avLst/>
          </a:prstGeom>
          <a:ln>
            <a:solidFill>
              <a:srgbClr val="191F54"/>
            </a:solidFill>
            <a:round/>
          </a:ln>
        </p:spPr>
      </p:cxnSp>
      <p:sp>
        <p:nvSpPr>
          <p:cNvPr id="60" name="正方形/長方形 6"/>
          <p:cNvSpPr/>
          <p:nvPr/>
        </p:nvSpPr>
        <p:spPr>
          <a:xfrm>
            <a:off x="0" y="0"/>
            <a:ext cx="450720" cy="548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58" name="正方形/長方形 57">
            <a:extLst>
              <a:ext uri="{FF2B5EF4-FFF2-40B4-BE49-F238E27FC236}">
                <a16:creationId xmlns:a16="http://schemas.microsoft.com/office/drawing/2014/main" id="{6C8986CB-406D-05C6-C63F-77B94833C597}"/>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F31CD8C5-8C6B-79E9-DFB1-36686BF9F96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市況の変化</a:t>
            </a:r>
            <a:endParaRPr lang="ja-JP" altLang="en-US" sz="1100" dirty="0"/>
          </a:p>
        </p:txBody>
      </p:sp>
      <p:sp>
        <p:nvSpPr>
          <p:cNvPr id="7" name="テキスト ボックス 6">
            <a:extLst>
              <a:ext uri="{FF2B5EF4-FFF2-40B4-BE49-F238E27FC236}">
                <a16:creationId xmlns:a16="http://schemas.microsoft.com/office/drawing/2014/main" id="{0F9B49E5-148A-C9A5-79D8-759C503842CE}"/>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市況の変化に伴い、リスト保有・マネタイズ・</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LTV</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の重要性は拡大している。</a:t>
            </a:r>
            <a:endParaRPr lang="ja-JP" altLang="en-US" sz="1000" dirty="0"/>
          </a:p>
        </p:txBody>
      </p:sp>
      <p:sp>
        <p:nvSpPr>
          <p:cNvPr id="9" name="テキスト ボックス 8">
            <a:extLst>
              <a:ext uri="{FF2B5EF4-FFF2-40B4-BE49-F238E27FC236}">
                <a16:creationId xmlns:a16="http://schemas.microsoft.com/office/drawing/2014/main" id="{E8BEF693-34F0-FCA3-0D13-025ADA077FA4}"/>
              </a:ext>
            </a:extLst>
          </p:cNvPr>
          <p:cNvSpPr txBox="1"/>
          <p:nvPr/>
        </p:nvSpPr>
        <p:spPr>
          <a:xfrm>
            <a:off x="549000" y="138240"/>
            <a:ext cx="4961186" cy="338040"/>
          </a:xfrm>
          <a:prstGeom prst="rect">
            <a:avLst/>
          </a:prstGeom>
          <a:noFill/>
        </p:spPr>
        <p:txBody>
          <a:bodyPr wrap="square" anchor="ctr">
            <a:spAutoFit/>
          </a:bodyPr>
          <a:lstStyle/>
          <a:p>
            <a:r>
              <a:rPr lang="ja-JP" altLang="en-US" sz="1600" b="1" dirty="0">
                <a:solidFill>
                  <a:srgbClr val="002060"/>
                </a:solidFill>
                <a:latin typeface="メイリオ" panose="020B0604030504040204" pitchFamily="50" charset="-128"/>
                <a:ea typeface="メイリオ" panose="020B0604030504040204" pitchFamily="50" charset="-128"/>
                <a:cs typeface="メイリオ" panose="020B0604030504040204" pitchFamily="50" charset="-128"/>
              </a:rPr>
              <a:t>前提調査</a:t>
            </a:r>
            <a:endParaRPr lang="ja-JP" altLang="en-US" sz="1050" dirty="0">
              <a:solidFill>
                <a:srgbClr val="002060"/>
              </a:solidFill>
            </a:endParaRPr>
          </a:p>
        </p:txBody>
      </p:sp>
      <p:sp>
        <p:nvSpPr>
          <p:cNvPr id="11" name="正方形/長方形 10">
            <a:extLst>
              <a:ext uri="{FF2B5EF4-FFF2-40B4-BE49-F238E27FC236}">
                <a16:creationId xmlns:a16="http://schemas.microsoft.com/office/drawing/2014/main" id="{0F0E6BAB-8E00-CEF9-3F7F-B243C9622CE9}"/>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12" name="Rectangle 3">
            <a:extLst>
              <a:ext uri="{FF2B5EF4-FFF2-40B4-BE49-F238E27FC236}">
                <a16:creationId xmlns:a16="http://schemas.microsoft.com/office/drawing/2014/main" id="{AD99B47E-7A67-A20F-FA23-6FFE48B38289}"/>
              </a:ext>
            </a:extLst>
          </p:cNvPr>
          <p:cNvSpPr/>
          <p:nvPr/>
        </p:nvSpPr>
        <p:spPr>
          <a:xfrm>
            <a:off x="426720" y="1872996"/>
            <a:ext cx="155448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00" b="1">
                <a:solidFill>
                  <a:srgbClr val="1F2A5C"/>
                </a:solidFill>
                <a:latin typeface="メイリオ" panose="020B0604030504040204" pitchFamily="50" charset="-128"/>
                <a:ea typeface="メイリオ" panose="020B0604030504040204" pitchFamily="50" charset="-128"/>
              </a:rPr>
              <a:t>変化</a:t>
            </a:r>
          </a:p>
        </p:txBody>
      </p:sp>
      <p:sp>
        <p:nvSpPr>
          <p:cNvPr id="13" name="Rectangle 4">
            <a:extLst>
              <a:ext uri="{FF2B5EF4-FFF2-40B4-BE49-F238E27FC236}">
                <a16:creationId xmlns:a16="http://schemas.microsoft.com/office/drawing/2014/main" id="{3E0DC48D-92CE-9229-ADC8-397327218608}"/>
              </a:ext>
            </a:extLst>
          </p:cNvPr>
          <p:cNvSpPr/>
          <p:nvPr/>
        </p:nvSpPr>
        <p:spPr>
          <a:xfrm>
            <a:off x="2118360" y="1872996"/>
            <a:ext cx="26517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00" b="1">
                <a:solidFill>
                  <a:srgbClr val="1F2A5C"/>
                </a:solidFill>
                <a:latin typeface="メイリオ" panose="020B0604030504040204" pitchFamily="50" charset="-128"/>
                <a:ea typeface="メイリオ" panose="020B0604030504040204" pitchFamily="50" charset="-128"/>
              </a:rPr>
              <a:t>背景データ</a:t>
            </a:r>
          </a:p>
        </p:txBody>
      </p:sp>
      <p:sp>
        <p:nvSpPr>
          <p:cNvPr id="14" name="Rectangle 5">
            <a:extLst>
              <a:ext uri="{FF2B5EF4-FFF2-40B4-BE49-F238E27FC236}">
                <a16:creationId xmlns:a16="http://schemas.microsoft.com/office/drawing/2014/main" id="{E32730EA-2FDC-122D-34A0-22348B3965AF}"/>
              </a:ext>
            </a:extLst>
          </p:cNvPr>
          <p:cNvSpPr/>
          <p:nvPr/>
        </p:nvSpPr>
        <p:spPr>
          <a:xfrm>
            <a:off x="4907280" y="1872996"/>
            <a:ext cx="20116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lang="ja-JP" altLang="en-US" sz="1100" b="1" dirty="0">
                <a:solidFill>
                  <a:srgbClr val="1F2A5C"/>
                </a:solidFill>
                <a:latin typeface="メイリオ" panose="020B0604030504040204" pitchFamily="50" charset="-128"/>
                <a:ea typeface="メイリオ" panose="020B0604030504040204" pitchFamily="50" charset="-128"/>
              </a:rPr>
              <a:t>マーケティング</a:t>
            </a:r>
            <a:r>
              <a:rPr sz="1100" b="1" dirty="0" err="1">
                <a:solidFill>
                  <a:srgbClr val="1F2A5C"/>
                </a:solidFill>
                <a:latin typeface="メイリオ" panose="020B0604030504040204" pitchFamily="50" charset="-128"/>
                <a:ea typeface="メイリオ" panose="020B0604030504040204" pitchFamily="50" charset="-128"/>
              </a:rPr>
              <a:t>への影響</a:t>
            </a:r>
            <a:endParaRPr sz="1100" b="1" dirty="0">
              <a:solidFill>
                <a:srgbClr val="1F2A5C"/>
              </a:solidFill>
              <a:latin typeface="メイリオ" panose="020B0604030504040204" pitchFamily="50" charset="-128"/>
              <a:ea typeface="メイリオ" panose="020B0604030504040204" pitchFamily="50" charset="-128"/>
            </a:endParaRPr>
          </a:p>
        </p:txBody>
      </p:sp>
      <p:sp>
        <p:nvSpPr>
          <p:cNvPr id="15" name="Rectangle 6">
            <a:extLst>
              <a:ext uri="{FF2B5EF4-FFF2-40B4-BE49-F238E27FC236}">
                <a16:creationId xmlns:a16="http://schemas.microsoft.com/office/drawing/2014/main" id="{E20F6A55-5A9A-17DC-163C-8353499D7D59}"/>
              </a:ext>
            </a:extLst>
          </p:cNvPr>
          <p:cNvSpPr/>
          <p:nvPr/>
        </p:nvSpPr>
        <p:spPr>
          <a:xfrm>
            <a:off x="7056120" y="1872996"/>
            <a:ext cx="24231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00" b="1">
                <a:solidFill>
                  <a:srgbClr val="C8102E"/>
                </a:solidFill>
                <a:latin typeface="メイリオ" panose="020B0604030504040204" pitchFamily="50" charset="-128"/>
                <a:ea typeface="メイリオ" panose="020B0604030504040204" pitchFamily="50" charset="-128"/>
              </a:rPr>
              <a:t>LINE OAでの対応</a:t>
            </a:r>
          </a:p>
        </p:txBody>
      </p:sp>
      <p:sp>
        <p:nvSpPr>
          <p:cNvPr id="16" name="Rectangle 7">
            <a:extLst>
              <a:ext uri="{FF2B5EF4-FFF2-40B4-BE49-F238E27FC236}">
                <a16:creationId xmlns:a16="http://schemas.microsoft.com/office/drawing/2014/main" id="{5C785CCD-8743-8281-EE42-652E7CC6C711}"/>
              </a:ext>
            </a:extLst>
          </p:cNvPr>
          <p:cNvSpPr/>
          <p:nvPr/>
        </p:nvSpPr>
        <p:spPr>
          <a:xfrm>
            <a:off x="381000" y="2193036"/>
            <a:ext cx="1600200" cy="97840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200"/>
              </a:spcAft>
            </a:pPr>
            <a:r>
              <a:rPr sz="1800" b="1">
                <a:solidFill>
                  <a:srgbClr val="FFFFFF"/>
                </a:solidFill>
                <a:latin typeface="メイリオ" panose="020B0604030504040204" pitchFamily="50" charset="-128"/>
                <a:ea typeface="メイリオ" panose="020B0604030504040204" pitchFamily="50" charset="-128"/>
              </a:rPr>
              <a:t>①</a:t>
            </a:r>
          </a:p>
          <a:p>
            <a:pPr algn="l">
              <a:spcAft>
                <a:spcPts val="300"/>
              </a:spcAft>
            </a:pPr>
            <a:r>
              <a:rPr sz="1200" b="1">
                <a:solidFill>
                  <a:srgbClr val="FFFFFF"/>
                </a:solidFill>
                <a:latin typeface="メイリオ" panose="020B0604030504040204" pitchFamily="50" charset="-128"/>
                <a:ea typeface="メイリオ" panose="020B0604030504040204" pitchFamily="50" charset="-128"/>
              </a:rPr>
              <a:t>広告接点の早期化</a:t>
            </a:r>
          </a:p>
        </p:txBody>
      </p:sp>
      <p:sp>
        <p:nvSpPr>
          <p:cNvPr id="17" name="Rectangle 8">
            <a:extLst>
              <a:ext uri="{FF2B5EF4-FFF2-40B4-BE49-F238E27FC236}">
                <a16:creationId xmlns:a16="http://schemas.microsoft.com/office/drawing/2014/main" id="{51B35245-DA01-007C-B2BF-E2F0A67DC3C4}"/>
              </a:ext>
            </a:extLst>
          </p:cNvPr>
          <p:cNvSpPr/>
          <p:nvPr/>
        </p:nvSpPr>
        <p:spPr>
          <a:xfrm>
            <a:off x="2072640" y="2193036"/>
            <a:ext cx="269748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100"/>
              </a:spcAft>
            </a:pPr>
            <a:r>
              <a:rPr sz="1800" b="1" dirty="0">
                <a:solidFill>
                  <a:srgbClr val="1F2A5C"/>
                </a:solidFill>
                <a:latin typeface="メイリオ" panose="020B0604030504040204" pitchFamily="50" charset="-128"/>
                <a:ea typeface="メイリオ" panose="020B0604030504040204" pitchFamily="50" charset="-128"/>
              </a:rPr>
              <a:t>7,249億円</a:t>
            </a:r>
          </a:p>
          <a:p>
            <a:pPr algn="l">
              <a:spcAft>
                <a:spcPts val="300"/>
              </a:spcAft>
            </a:pPr>
            <a:r>
              <a:rPr sz="950" b="0" dirty="0">
                <a:solidFill>
                  <a:srgbClr val="777777"/>
                </a:solidFill>
                <a:latin typeface="メイリオ" panose="020B0604030504040204" pitchFamily="50" charset="-128"/>
                <a:ea typeface="メイリオ" panose="020B0604030504040204" pitchFamily="50" charset="-128"/>
              </a:rPr>
              <a:t>動画広告市場（2024年・前年比115.9%）。</a:t>
            </a:r>
            <a:r>
              <a:rPr sz="950" b="1" dirty="0">
                <a:solidFill>
                  <a:srgbClr val="777777"/>
                </a:solidFill>
                <a:latin typeface="メイリオ" panose="020B0604030504040204" pitchFamily="50" charset="-128"/>
                <a:ea typeface="メイリオ" panose="020B0604030504040204" pitchFamily="50" charset="-128"/>
              </a:rPr>
              <a:t>縦型動画は前年比171.1%</a:t>
            </a:r>
          </a:p>
        </p:txBody>
      </p:sp>
      <p:sp>
        <p:nvSpPr>
          <p:cNvPr id="18" name="Rectangle 9">
            <a:extLst>
              <a:ext uri="{FF2B5EF4-FFF2-40B4-BE49-F238E27FC236}">
                <a16:creationId xmlns:a16="http://schemas.microsoft.com/office/drawing/2014/main" id="{8A01196A-31FA-AA2D-83D7-5C664ABF1B2A}"/>
              </a:ext>
            </a:extLst>
          </p:cNvPr>
          <p:cNvSpPr/>
          <p:nvPr/>
        </p:nvSpPr>
        <p:spPr>
          <a:xfrm>
            <a:off x="4861560" y="2193036"/>
            <a:ext cx="205740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購入前の接触が増え</a:t>
            </a:r>
            <a:r>
              <a:rPr sz="1000" b="0" dirty="0">
                <a:solidFill>
                  <a:srgbClr val="333333"/>
                </a:solidFill>
                <a:latin typeface="メイリオ" panose="020B0604030504040204" pitchFamily="50" charset="-128"/>
                <a:ea typeface="メイリオ" panose="020B0604030504040204" pitchFamily="50" charset="-128"/>
              </a:rPr>
              <a:t>、</a:t>
            </a:r>
            <a:endParaRPr lang="en-US" sz="1000" b="0" dirty="0">
              <a:solidFill>
                <a:srgbClr val="333333"/>
              </a:solidFill>
              <a:latin typeface="メイリオ" panose="020B0604030504040204" pitchFamily="50" charset="-128"/>
              <a:ea typeface="メイリオ" panose="020B0604030504040204" pitchFamily="50" charset="-128"/>
            </a:endParaRPr>
          </a:p>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CVだけで接点の価値が見えない</a:t>
            </a:r>
            <a:endParaRPr sz="1000" b="0" dirty="0">
              <a:solidFill>
                <a:srgbClr val="333333"/>
              </a:solidFill>
              <a:latin typeface="メイリオ" panose="020B0604030504040204" pitchFamily="50" charset="-128"/>
              <a:ea typeface="メイリオ" panose="020B0604030504040204" pitchFamily="50" charset="-128"/>
            </a:endParaRPr>
          </a:p>
        </p:txBody>
      </p:sp>
      <p:sp>
        <p:nvSpPr>
          <p:cNvPr id="19" name="Rectangle 10">
            <a:extLst>
              <a:ext uri="{FF2B5EF4-FFF2-40B4-BE49-F238E27FC236}">
                <a16:creationId xmlns:a16="http://schemas.microsoft.com/office/drawing/2014/main" id="{CA8C05AB-C62C-76A1-00F4-F4DE182A4C8A}"/>
              </a:ext>
            </a:extLst>
          </p:cNvPr>
          <p:cNvSpPr/>
          <p:nvPr/>
        </p:nvSpPr>
        <p:spPr>
          <a:xfrm>
            <a:off x="7010400" y="2193036"/>
            <a:ext cx="2514600" cy="978408"/>
          </a:xfrm>
          <a:prstGeom prst="rect">
            <a:avLst/>
          </a:prstGeom>
          <a:solidFill>
            <a:srgbClr val="E4EAF6"/>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28016" tIns="36576" rIns="128016"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CV前に友だち化し</a:t>
            </a:r>
            <a:r>
              <a:rPr sz="1150" b="1" dirty="0">
                <a:solidFill>
                  <a:srgbClr val="1F2A5C"/>
                </a:solidFill>
                <a:latin typeface="メイリオ" panose="020B0604030504040204" pitchFamily="50" charset="-128"/>
                <a:ea typeface="メイリオ" panose="020B0604030504040204" pitchFamily="50" charset="-128"/>
              </a:rPr>
              <a:t>、</a:t>
            </a:r>
            <a:endParaRPr lang="en-US" sz="1150" b="1" dirty="0">
              <a:solidFill>
                <a:srgbClr val="1F2A5C"/>
              </a:solidFill>
              <a:latin typeface="メイリオ" panose="020B0604030504040204" pitchFamily="50" charset="-128"/>
              <a:ea typeface="メイリオ" panose="020B0604030504040204" pitchFamily="50" charset="-128"/>
            </a:endParaRPr>
          </a:p>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検討中も接点を維持する</a:t>
            </a:r>
            <a:endParaRPr sz="1150" b="1" dirty="0">
              <a:solidFill>
                <a:srgbClr val="1F2A5C"/>
              </a:solidFill>
              <a:latin typeface="メイリオ" panose="020B0604030504040204" pitchFamily="50" charset="-128"/>
              <a:ea typeface="メイリオ" panose="020B0604030504040204" pitchFamily="50" charset="-128"/>
            </a:endParaRPr>
          </a:p>
        </p:txBody>
      </p:sp>
      <p:sp>
        <p:nvSpPr>
          <p:cNvPr id="20" name="Rectangle 11">
            <a:extLst>
              <a:ext uri="{FF2B5EF4-FFF2-40B4-BE49-F238E27FC236}">
                <a16:creationId xmlns:a16="http://schemas.microsoft.com/office/drawing/2014/main" id="{A17D7EF3-1AC3-4FC4-0524-407D9564A31C}"/>
              </a:ext>
            </a:extLst>
          </p:cNvPr>
          <p:cNvSpPr/>
          <p:nvPr/>
        </p:nvSpPr>
        <p:spPr>
          <a:xfrm>
            <a:off x="381000" y="3244596"/>
            <a:ext cx="1600200" cy="97840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200"/>
              </a:spcAft>
            </a:pPr>
            <a:r>
              <a:rPr sz="1800" b="1">
                <a:solidFill>
                  <a:srgbClr val="FFFFFF"/>
                </a:solidFill>
                <a:latin typeface="メイリオ" panose="020B0604030504040204" pitchFamily="50" charset="-128"/>
                <a:ea typeface="メイリオ" panose="020B0604030504040204" pitchFamily="50" charset="-128"/>
              </a:rPr>
              <a:t>②</a:t>
            </a:r>
          </a:p>
          <a:p>
            <a:pPr algn="l">
              <a:spcAft>
                <a:spcPts val="300"/>
              </a:spcAft>
            </a:pPr>
            <a:r>
              <a:rPr sz="1200" b="1">
                <a:solidFill>
                  <a:srgbClr val="FFFFFF"/>
                </a:solidFill>
                <a:latin typeface="メイリオ" panose="020B0604030504040204" pitchFamily="50" charset="-128"/>
                <a:ea typeface="メイリオ" panose="020B0604030504040204" pitchFamily="50" charset="-128"/>
              </a:rPr>
              <a:t>CPCの高騰</a:t>
            </a:r>
          </a:p>
        </p:txBody>
      </p:sp>
      <p:sp>
        <p:nvSpPr>
          <p:cNvPr id="21" name="Rectangle 12">
            <a:extLst>
              <a:ext uri="{FF2B5EF4-FFF2-40B4-BE49-F238E27FC236}">
                <a16:creationId xmlns:a16="http://schemas.microsoft.com/office/drawing/2014/main" id="{9C9A8D6A-35C3-09FD-E00C-AF890038B7F2}"/>
              </a:ext>
            </a:extLst>
          </p:cNvPr>
          <p:cNvSpPr/>
          <p:nvPr/>
        </p:nvSpPr>
        <p:spPr>
          <a:xfrm>
            <a:off x="2072640" y="3244596"/>
            <a:ext cx="269748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100"/>
              </a:spcAft>
            </a:pPr>
            <a:r>
              <a:rPr sz="1800" b="1" dirty="0">
                <a:solidFill>
                  <a:srgbClr val="1F2A5C"/>
                </a:solidFill>
                <a:latin typeface="メイリオ" panose="020B0604030504040204" pitchFamily="50" charset="-128"/>
                <a:ea typeface="メイリオ" panose="020B0604030504040204" pitchFamily="50" charset="-128"/>
              </a:rPr>
              <a:t>1兆1,931億円</a:t>
            </a:r>
          </a:p>
          <a:p>
            <a:pPr algn="l">
              <a:spcAft>
                <a:spcPts val="300"/>
              </a:spcAft>
            </a:pPr>
            <a:r>
              <a:rPr sz="950" b="0" dirty="0">
                <a:solidFill>
                  <a:srgbClr val="777777"/>
                </a:solidFill>
                <a:latin typeface="メイリオ" panose="020B0604030504040204" pitchFamily="50" charset="-128"/>
                <a:ea typeface="メイリオ" panose="020B0604030504040204" pitchFamily="50" charset="-128"/>
              </a:rPr>
              <a:t>検索連動型広告（前年比111.2%）。ネット広告媒体費は2兆9,611億円</a:t>
            </a:r>
          </a:p>
        </p:txBody>
      </p:sp>
      <p:sp>
        <p:nvSpPr>
          <p:cNvPr id="22" name="Rectangle 13">
            <a:extLst>
              <a:ext uri="{FF2B5EF4-FFF2-40B4-BE49-F238E27FC236}">
                <a16:creationId xmlns:a16="http://schemas.microsoft.com/office/drawing/2014/main" id="{45BA9884-66A6-4B9C-6CA2-F04CF341DAAF}"/>
              </a:ext>
            </a:extLst>
          </p:cNvPr>
          <p:cNvSpPr/>
          <p:nvPr/>
        </p:nvSpPr>
        <p:spPr>
          <a:xfrm>
            <a:off x="4861560" y="3244596"/>
            <a:ext cx="205740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入札競争が続き、離脱した</a:t>
            </a:r>
            <a:endParaRPr lang="en-US" sz="1000" b="0" dirty="0">
              <a:solidFill>
                <a:srgbClr val="333333"/>
              </a:solidFill>
              <a:latin typeface="メイリオ" panose="020B0604030504040204" pitchFamily="50" charset="-128"/>
              <a:ea typeface="メイリオ" panose="020B0604030504040204" pitchFamily="50" charset="-128"/>
            </a:endParaRPr>
          </a:p>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流入の広告費が回収できない</a:t>
            </a:r>
            <a:endParaRPr lang="en-US" sz="1000" b="0" dirty="0">
              <a:solidFill>
                <a:srgbClr val="333333"/>
              </a:solidFill>
              <a:latin typeface="メイリオ" panose="020B0604030504040204" pitchFamily="50" charset="-128"/>
              <a:ea typeface="メイリオ" panose="020B0604030504040204" pitchFamily="50" charset="-128"/>
            </a:endParaRPr>
          </a:p>
          <a:p>
            <a:pPr algn="l">
              <a:spcAft>
                <a:spcPts val="300"/>
              </a:spcAft>
            </a:pPr>
            <a:r>
              <a:rPr lang="en-US" altLang="ja-JP" sz="1000" b="1" dirty="0">
                <a:solidFill>
                  <a:srgbClr val="333333"/>
                </a:solidFill>
                <a:latin typeface="メイリオ" panose="020B0604030504040204" pitchFamily="50" charset="-128"/>
                <a:ea typeface="メイリオ" panose="020B0604030504040204" pitchFamily="50" charset="-128"/>
              </a:rPr>
              <a:t>3</a:t>
            </a:r>
            <a:r>
              <a:rPr lang="ja-JP" altLang="en-US" sz="1000" b="1" dirty="0">
                <a:solidFill>
                  <a:srgbClr val="333333"/>
                </a:solidFill>
                <a:latin typeface="メイリオ" panose="020B0604030504040204" pitchFamily="50" charset="-128"/>
                <a:ea typeface="メイリオ" panose="020B0604030504040204" pitchFamily="50" charset="-128"/>
              </a:rPr>
              <a:t>年前比：</a:t>
            </a:r>
            <a:r>
              <a:rPr lang="en-US" altLang="ja-JP" sz="1000" b="1" dirty="0">
                <a:solidFill>
                  <a:srgbClr val="333333"/>
                </a:solidFill>
                <a:latin typeface="メイリオ" panose="020B0604030504040204" pitchFamily="50" charset="-128"/>
                <a:ea typeface="メイリオ" panose="020B0604030504040204" pitchFamily="50" charset="-128"/>
              </a:rPr>
              <a:t>32%</a:t>
            </a:r>
            <a:r>
              <a:rPr lang="ja-JP" altLang="en-US" sz="1000" b="1" dirty="0">
                <a:solidFill>
                  <a:srgbClr val="333333"/>
                </a:solidFill>
                <a:latin typeface="メイリオ" panose="020B0604030504040204" pitchFamily="50" charset="-128"/>
                <a:ea typeface="メイリオ" panose="020B0604030504040204" pitchFamily="50" charset="-128"/>
              </a:rPr>
              <a:t>程度増</a:t>
            </a:r>
            <a:endParaRPr sz="1000" b="1" dirty="0">
              <a:solidFill>
                <a:srgbClr val="333333"/>
              </a:solidFill>
              <a:latin typeface="メイリオ" panose="020B0604030504040204" pitchFamily="50" charset="-128"/>
              <a:ea typeface="メイリオ" panose="020B0604030504040204" pitchFamily="50" charset="-128"/>
            </a:endParaRPr>
          </a:p>
        </p:txBody>
      </p:sp>
      <p:sp>
        <p:nvSpPr>
          <p:cNvPr id="23" name="Rectangle 14">
            <a:extLst>
              <a:ext uri="{FF2B5EF4-FFF2-40B4-BE49-F238E27FC236}">
                <a16:creationId xmlns:a16="http://schemas.microsoft.com/office/drawing/2014/main" id="{0F279B57-A5CD-5ABE-1169-BA1B16859218}"/>
              </a:ext>
            </a:extLst>
          </p:cNvPr>
          <p:cNvSpPr/>
          <p:nvPr/>
        </p:nvSpPr>
        <p:spPr>
          <a:xfrm>
            <a:off x="7010400" y="3244596"/>
            <a:ext cx="2514600" cy="978408"/>
          </a:xfrm>
          <a:prstGeom prst="rect">
            <a:avLst/>
          </a:prstGeom>
          <a:solidFill>
            <a:srgbClr val="E4EAF6"/>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28016" tIns="36576" rIns="128016"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離脱後も友だち化し</a:t>
            </a:r>
            <a:r>
              <a:rPr sz="1150" b="1" dirty="0">
                <a:solidFill>
                  <a:srgbClr val="1F2A5C"/>
                </a:solidFill>
                <a:latin typeface="メイリオ" panose="020B0604030504040204" pitchFamily="50" charset="-128"/>
                <a:ea typeface="メイリオ" panose="020B0604030504040204" pitchFamily="50" charset="-128"/>
              </a:rPr>
              <a:t>、</a:t>
            </a:r>
            <a:endParaRPr lang="en-US" sz="1150" b="1" dirty="0">
              <a:solidFill>
                <a:srgbClr val="1F2A5C"/>
              </a:solidFill>
              <a:latin typeface="メイリオ" panose="020B0604030504040204" pitchFamily="50" charset="-128"/>
              <a:ea typeface="メイリオ" panose="020B0604030504040204" pitchFamily="50" charset="-128"/>
            </a:endParaRPr>
          </a:p>
          <a:p>
            <a:pPr algn="l">
              <a:spcAft>
                <a:spcPts val="300"/>
              </a:spcAft>
            </a:pPr>
            <a:r>
              <a:rPr lang="ja-JP" altLang="en-US" sz="1150" b="1" dirty="0">
                <a:solidFill>
                  <a:srgbClr val="FF0000"/>
                </a:solidFill>
                <a:latin typeface="メイリオ" panose="020B0604030504040204" pitchFamily="50" charset="-128"/>
                <a:ea typeface="メイリオ" panose="020B0604030504040204" pitchFamily="50" charset="-128"/>
              </a:rPr>
              <a:t>セグメント配信</a:t>
            </a:r>
            <a:r>
              <a:rPr lang="ja-JP" altLang="en-US" sz="1150" b="1" dirty="0">
                <a:solidFill>
                  <a:srgbClr val="1F2A5C"/>
                </a:solidFill>
                <a:latin typeface="メイリオ" panose="020B0604030504040204" pitchFamily="50" charset="-128"/>
                <a:ea typeface="メイリオ" panose="020B0604030504040204" pitchFamily="50" charset="-128"/>
              </a:rPr>
              <a:t>で</a:t>
            </a:r>
            <a:r>
              <a:rPr sz="1150" b="1" dirty="0" err="1">
                <a:solidFill>
                  <a:srgbClr val="1F2A5C"/>
                </a:solidFill>
                <a:latin typeface="メイリオ" panose="020B0604030504040204" pitchFamily="50" charset="-128"/>
                <a:ea typeface="メイリオ" panose="020B0604030504040204" pitchFamily="50" charset="-128"/>
              </a:rPr>
              <a:t>CV回収する</a:t>
            </a:r>
            <a:endParaRPr sz="1150" b="1" dirty="0">
              <a:solidFill>
                <a:srgbClr val="1F2A5C"/>
              </a:solidFill>
              <a:latin typeface="メイリオ" panose="020B0604030504040204" pitchFamily="50" charset="-128"/>
              <a:ea typeface="メイリオ" panose="020B0604030504040204" pitchFamily="50" charset="-128"/>
            </a:endParaRPr>
          </a:p>
        </p:txBody>
      </p:sp>
      <p:sp>
        <p:nvSpPr>
          <p:cNvPr id="24" name="Rectangle 15">
            <a:extLst>
              <a:ext uri="{FF2B5EF4-FFF2-40B4-BE49-F238E27FC236}">
                <a16:creationId xmlns:a16="http://schemas.microsoft.com/office/drawing/2014/main" id="{63F6C682-E819-BB1D-789F-194C9870942B}"/>
              </a:ext>
            </a:extLst>
          </p:cNvPr>
          <p:cNvSpPr/>
          <p:nvPr/>
        </p:nvSpPr>
        <p:spPr>
          <a:xfrm>
            <a:off x="381000" y="4296156"/>
            <a:ext cx="1600200" cy="97840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200"/>
              </a:spcAft>
            </a:pPr>
            <a:r>
              <a:rPr sz="1800" b="1">
                <a:solidFill>
                  <a:srgbClr val="FFFFFF"/>
                </a:solidFill>
                <a:latin typeface="メイリオ" panose="020B0604030504040204" pitchFamily="50" charset="-128"/>
                <a:ea typeface="メイリオ" panose="020B0604030504040204" pitchFamily="50" charset="-128"/>
              </a:rPr>
              <a:t>③</a:t>
            </a:r>
          </a:p>
          <a:p>
            <a:pPr algn="l">
              <a:spcAft>
                <a:spcPts val="300"/>
              </a:spcAft>
            </a:pPr>
            <a:r>
              <a:rPr sz="1200" b="1">
                <a:solidFill>
                  <a:srgbClr val="FFFFFF"/>
                </a:solidFill>
                <a:latin typeface="メイリオ" panose="020B0604030504040204" pitchFamily="50" charset="-128"/>
                <a:ea typeface="メイリオ" panose="020B0604030504040204" pitchFamily="50" charset="-128"/>
              </a:rPr>
              <a:t>リマケリストの難化</a:t>
            </a:r>
          </a:p>
        </p:txBody>
      </p:sp>
      <p:sp>
        <p:nvSpPr>
          <p:cNvPr id="25" name="Rectangle 16">
            <a:extLst>
              <a:ext uri="{FF2B5EF4-FFF2-40B4-BE49-F238E27FC236}">
                <a16:creationId xmlns:a16="http://schemas.microsoft.com/office/drawing/2014/main" id="{CE444CC6-8444-A56B-53F6-34549AA5E5D5}"/>
              </a:ext>
            </a:extLst>
          </p:cNvPr>
          <p:cNvSpPr/>
          <p:nvPr/>
        </p:nvSpPr>
        <p:spPr>
          <a:xfrm>
            <a:off x="2072640" y="4296156"/>
            <a:ext cx="269748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100"/>
              </a:spcAft>
            </a:pPr>
            <a:r>
              <a:rPr sz="1800" b="1" dirty="0">
                <a:solidFill>
                  <a:srgbClr val="1F2A5C"/>
                </a:solidFill>
                <a:latin typeface="メイリオ" panose="020B0604030504040204" pitchFamily="50" charset="-128"/>
                <a:ea typeface="メイリオ" panose="020B0604030504040204" pitchFamily="50" charset="-128"/>
              </a:rPr>
              <a:t>7日／24時間</a:t>
            </a:r>
          </a:p>
          <a:p>
            <a:pPr algn="l">
              <a:spcAft>
                <a:spcPts val="300"/>
              </a:spcAft>
            </a:pPr>
            <a:r>
              <a:rPr sz="950" b="0" dirty="0">
                <a:solidFill>
                  <a:srgbClr val="777777"/>
                </a:solidFill>
                <a:latin typeface="メイリオ" panose="020B0604030504040204" pitchFamily="50" charset="-128"/>
                <a:ea typeface="メイリオ" panose="020B0604030504040204" pitchFamily="50" charset="-128"/>
              </a:rPr>
              <a:t>Safariの保持期間上限（2022年秋〜）。2020年に全面ブロック、法改正で同意・通知も必要</a:t>
            </a:r>
          </a:p>
        </p:txBody>
      </p:sp>
      <p:sp>
        <p:nvSpPr>
          <p:cNvPr id="26" name="Rectangle 17">
            <a:extLst>
              <a:ext uri="{FF2B5EF4-FFF2-40B4-BE49-F238E27FC236}">
                <a16:creationId xmlns:a16="http://schemas.microsoft.com/office/drawing/2014/main" id="{A35C0F42-C61B-5793-966E-BE564AA54CFB}"/>
              </a:ext>
            </a:extLst>
          </p:cNvPr>
          <p:cNvSpPr/>
          <p:nvPr/>
        </p:nvSpPr>
        <p:spPr>
          <a:xfrm>
            <a:off x="4861560" y="4296156"/>
            <a:ext cx="205740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000" b="0">
                <a:solidFill>
                  <a:srgbClr val="333333"/>
                </a:solidFill>
                <a:latin typeface="メイリオ" panose="020B0604030504040204" pitchFamily="50" charset="-128"/>
                <a:ea typeface="メイリオ" panose="020B0604030504040204" pitchFamily="50" charset="-128"/>
              </a:rPr>
              <a:t>再訪問者リストを長く持てない</a:t>
            </a:r>
          </a:p>
        </p:txBody>
      </p:sp>
      <p:sp>
        <p:nvSpPr>
          <p:cNvPr id="27" name="Rectangle 18">
            <a:extLst>
              <a:ext uri="{FF2B5EF4-FFF2-40B4-BE49-F238E27FC236}">
                <a16:creationId xmlns:a16="http://schemas.microsoft.com/office/drawing/2014/main" id="{DF93DF39-4FD7-9BA0-BEEB-470FA702AFD7}"/>
              </a:ext>
            </a:extLst>
          </p:cNvPr>
          <p:cNvSpPr/>
          <p:nvPr/>
        </p:nvSpPr>
        <p:spPr>
          <a:xfrm>
            <a:off x="7010400" y="4296156"/>
            <a:ext cx="2514600" cy="978408"/>
          </a:xfrm>
          <a:prstGeom prst="rect">
            <a:avLst/>
          </a:prstGeom>
          <a:solidFill>
            <a:srgbClr val="E4EAF6"/>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28016" tIns="36576" rIns="128016"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許諾済みの自社リストとして</a:t>
            </a:r>
            <a:endParaRPr lang="en-US" sz="1150" b="1" dirty="0">
              <a:solidFill>
                <a:srgbClr val="1F2A5C"/>
              </a:solidFill>
              <a:latin typeface="メイリオ" panose="020B0604030504040204" pitchFamily="50" charset="-128"/>
              <a:ea typeface="メイリオ" panose="020B0604030504040204" pitchFamily="50" charset="-128"/>
            </a:endParaRPr>
          </a:p>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友だちを保持する</a:t>
            </a:r>
            <a:endParaRPr sz="1150" b="1" dirty="0">
              <a:solidFill>
                <a:srgbClr val="1F2A5C"/>
              </a:solidFill>
              <a:latin typeface="メイリオ" panose="020B0604030504040204" pitchFamily="50" charset="-128"/>
              <a:ea typeface="メイリオ" panose="020B0604030504040204" pitchFamily="50" charset="-128"/>
            </a:endParaRPr>
          </a:p>
        </p:txBody>
      </p:sp>
      <p:sp>
        <p:nvSpPr>
          <p:cNvPr id="28" name="Rectangle 19">
            <a:extLst>
              <a:ext uri="{FF2B5EF4-FFF2-40B4-BE49-F238E27FC236}">
                <a16:creationId xmlns:a16="http://schemas.microsoft.com/office/drawing/2014/main" id="{4AD57304-3963-5332-753B-F508A6F0B113}"/>
              </a:ext>
            </a:extLst>
          </p:cNvPr>
          <p:cNvSpPr/>
          <p:nvPr/>
        </p:nvSpPr>
        <p:spPr>
          <a:xfrm>
            <a:off x="381000" y="5347716"/>
            <a:ext cx="1600200" cy="97840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200"/>
              </a:spcAft>
            </a:pPr>
            <a:r>
              <a:rPr sz="1800" b="1" dirty="0">
                <a:solidFill>
                  <a:srgbClr val="FFFFFF"/>
                </a:solidFill>
                <a:latin typeface="メイリオ" panose="020B0604030504040204" pitchFamily="50" charset="-128"/>
                <a:ea typeface="メイリオ" panose="020B0604030504040204" pitchFamily="50" charset="-128"/>
              </a:rPr>
              <a:t>④</a:t>
            </a:r>
          </a:p>
          <a:p>
            <a:pPr algn="l">
              <a:spcAft>
                <a:spcPts val="300"/>
              </a:spcAft>
            </a:pPr>
            <a:r>
              <a:rPr sz="1200" b="1" dirty="0" err="1">
                <a:solidFill>
                  <a:srgbClr val="FFFFFF"/>
                </a:solidFill>
                <a:latin typeface="メイリオ" panose="020B0604030504040204" pitchFamily="50" charset="-128"/>
                <a:ea typeface="メイリオ" panose="020B0604030504040204" pitchFamily="50" charset="-128"/>
              </a:rPr>
              <a:t>選択肢</a:t>
            </a:r>
            <a:r>
              <a:rPr lang="ja-JP" altLang="en-US" sz="1200" b="1" dirty="0">
                <a:solidFill>
                  <a:srgbClr val="FFFFFF"/>
                </a:solidFill>
                <a:latin typeface="メイリオ" panose="020B0604030504040204" pitchFamily="50" charset="-128"/>
                <a:ea typeface="メイリオ" panose="020B0604030504040204" pitchFamily="50" charset="-128"/>
              </a:rPr>
              <a:t>の</a:t>
            </a:r>
            <a:r>
              <a:rPr sz="1200" b="1" dirty="0">
                <a:solidFill>
                  <a:srgbClr val="FFFFFF"/>
                </a:solidFill>
                <a:latin typeface="メイリオ" panose="020B0604030504040204" pitchFamily="50" charset="-128"/>
                <a:ea typeface="メイリオ" panose="020B0604030504040204" pitchFamily="50" charset="-128"/>
              </a:rPr>
              <a:t>増</a:t>
            </a:r>
            <a:r>
              <a:rPr lang="ja-JP" altLang="en-US" sz="1200" b="1" dirty="0">
                <a:solidFill>
                  <a:srgbClr val="FFFFFF"/>
                </a:solidFill>
                <a:latin typeface="メイリオ" panose="020B0604030504040204" pitchFamily="50" charset="-128"/>
                <a:ea typeface="メイリオ" panose="020B0604030504040204" pitchFamily="50" charset="-128"/>
              </a:rPr>
              <a:t>加</a:t>
            </a:r>
            <a:endParaRPr lang="en-US" sz="1200" b="1" dirty="0">
              <a:solidFill>
                <a:srgbClr val="FFFFFF"/>
              </a:solidFill>
              <a:latin typeface="メイリオ" panose="020B0604030504040204" pitchFamily="50" charset="-128"/>
              <a:ea typeface="メイリオ" panose="020B0604030504040204" pitchFamily="50" charset="-128"/>
            </a:endParaRPr>
          </a:p>
          <a:p>
            <a:pPr algn="l">
              <a:spcAft>
                <a:spcPts val="300"/>
              </a:spcAft>
            </a:pPr>
            <a:r>
              <a:rPr sz="1200" b="1" dirty="0" err="1">
                <a:solidFill>
                  <a:srgbClr val="FFFFFF"/>
                </a:solidFill>
                <a:latin typeface="メイリオ" panose="020B0604030504040204" pitchFamily="50" charset="-128"/>
                <a:ea typeface="メイリオ" panose="020B0604030504040204" pitchFamily="50" charset="-128"/>
              </a:rPr>
              <a:t>検討長期化</a:t>
            </a:r>
            <a:endParaRPr sz="1200" b="1" dirty="0">
              <a:solidFill>
                <a:srgbClr val="FFFFFF"/>
              </a:solidFill>
              <a:latin typeface="メイリオ" panose="020B0604030504040204" pitchFamily="50" charset="-128"/>
              <a:ea typeface="メイリオ" panose="020B0604030504040204" pitchFamily="50" charset="-128"/>
            </a:endParaRPr>
          </a:p>
        </p:txBody>
      </p:sp>
      <p:sp>
        <p:nvSpPr>
          <p:cNvPr id="29" name="Rectangle 20">
            <a:extLst>
              <a:ext uri="{FF2B5EF4-FFF2-40B4-BE49-F238E27FC236}">
                <a16:creationId xmlns:a16="http://schemas.microsoft.com/office/drawing/2014/main" id="{4C419739-A588-2E5A-0FCA-992B80A6DB23}"/>
              </a:ext>
            </a:extLst>
          </p:cNvPr>
          <p:cNvSpPr/>
          <p:nvPr/>
        </p:nvSpPr>
        <p:spPr>
          <a:xfrm>
            <a:off x="2072640" y="5347716"/>
            <a:ext cx="269748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100"/>
              </a:spcAft>
            </a:pPr>
            <a:r>
              <a:rPr sz="1800" b="1" dirty="0">
                <a:solidFill>
                  <a:srgbClr val="1F2A5C"/>
                </a:solidFill>
                <a:latin typeface="メイリオ" panose="020B0604030504040204" pitchFamily="50" charset="-128"/>
                <a:ea typeface="メイリオ" panose="020B0604030504040204" pitchFamily="50" charset="-128"/>
              </a:rPr>
              <a:t>9,900万人</a:t>
            </a:r>
          </a:p>
          <a:p>
            <a:pPr algn="l">
              <a:spcAft>
                <a:spcPts val="300"/>
              </a:spcAft>
            </a:pPr>
            <a:r>
              <a:rPr sz="950" b="0" dirty="0">
                <a:solidFill>
                  <a:srgbClr val="777777"/>
                </a:solidFill>
                <a:latin typeface="メイリオ" panose="020B0604030504040204" pitchFamily="50" charset="-128"/>
                <a:ea typeface="メイリオ" panose="020B0604030504040204" pitchFamily="50" charset="-128"/>
              </a:rPr>
              <a:t>LINE月間利用者（2025年6月末）。広告費は前年比110.2%で比較対象が増加</a:t>
            </a:r>
          </a:p>
        </p:txBody>
      </p:sp>
      <p:sp>
        <p:nvSpPr>
          <p:cNvPr id="30" name="Rectangle 21">
            <a:extLst>
              <a:ext uri="{FF2B5EF4-FFF2-40B4-BE49-F238E27FC236}">
                <a16:creationId xmlns:a16="http://schemas.microsoft.com/office/drawing/2014/main" id="{4DBE8D20-D000-63F5-78E8-0E87974E1648}"/>
              </a:ext>
            </a:extLst>
          </p:cNvPr>
          <p:cNvSpPr/>
          <p:nvPr/>
        </p:nvSpPr>
        <p:spPr>
          <a:xfrm>
            <a:off x="4861560" y="5347716"/>
            <a:ext cx="205740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000" b="0" dirty="0">
                <a:solidFill>
                  <a:srgbClr val="333333"/>
                </a:solidFill>
                <a:latin typeface="メイリオ" panose="020B0604030504040204" pitchFamily="50" charset="-128"/>
                <a:ea typeface="メイリオ" panose="020B0604030504040204" pitchFamily="50" charset="-128"/>
              </a:rPr>
              <a:t>1回の接触では決まらず、</a:t>
            </a:r>
            <a:endParaRPr lang="en-US" sz="1000" b="0" dirty="0">
              <a:solidFill>
                <a:srgbClr val="333333"/>
              </a:solidFill>
              <a:latin typeface="メイリオ" panose="020B0604030504040204" pitchFamily="50" charset="-128"/>
              <a:ea typeface="メイリオ" panose="020B0604030504040204" pitchFamily="50" charset="-128"/>
            </a:endParaRPr>
          </a:p>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離脱後の追客が要る</a:t>
            </a:r>
            <a:endParaRPr sz="1000" b="0" dirty="0">
              <a:solidFill>
                <a:srgbClr val="333333"/>
              </a:solidFill>
              <a:latin typeface="メイリオ" panose="020B0604030504040204" pitchFamily="50" charset="-128"/>
              <a:ea typeface="メイリオ" panose="020B0604030504040204" pitchFamily="50" charset="-128"/>
            </a:endParaRPr>
          </a:p>
        </p:txBody>
      </p:sp>
      <p:sp>
        <p:nvSpPr>
          <p:cNvPr id="31" name="Rectangle 22">
            <a:extLst>
              <a:ext uri="{FF2B5EF4-FFF2-40B4-BE49-F238E27FC236}">
                <a16:creationId xmlns:a16="http://schemas.microsoft.com/office/drawing/2014/main" id="{E546F08F-DCDF-7DC5-B4A8-B1568842B1C8}"/>
              </a:ext>
            </a:extLst>
          </p:cNvPr>
          <p:cNvSpPr/>
          <p:nvPr/>
        </p:nvSpPr>
        <p:spPr>
          <a:xfrm>
            <a:off x="7010400" y="5347716"/>
            <a:ext cx="2514600" cy="978408"/>
          </a:xfrm>
          <a:prstGeom prst="rect">
            <a:avLst/>
          </a:prstGeom>
          <a:solidFill>
            <a:srgbClr val="E4EAF6"/>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28016" tIns="36576" rIns="128016"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検討段階に合わせて</a:t>
            </a:r>
            <a:endParaRPr lang="en-US" sz="1150" b="1" dirty="0">
              <a:solidFill>
                <a:srgbClr val="1F2A5C"/>
              </a:solidFill>
              <a:latin typeface="メイリオ" panose="020B0604030504040204" pitchFamily="50" charset="-128"/>
              <a:ea typeface="メイリオ" panose="020B0604030504040204" pitchFamily="50" charset="-128"/>
            </a:endParaRPr>
          </a:p>
          <a:p>
            <a:pPr algn="l">
              <a:spcAft>
                <a:spcPts val="300"/>
              </a:spcAft>
            </a:pPr>
            <a:r>
              <a:rPr sz="1150" b="1" dirty="0" err="1">
                <a:solidFill>
                  <a:srgbClr val="FF0000"/>
                </a:solidFill>
                <a:latin typeface="メイリオ" panose="020B0604030504040204" pitchFamily="50" charset="-128"/>
                <a:ea typeface="メイリオ" panose="020B0604030504040204" pitchFamily="50" charset="-128"/>
              </a:rPr>
              <a:t>ステップ配信</a:t>
            </a:r>
            <a:r>
              <a:rPr sz="1150" b="1" dirty="0" err="1">
                <a:solidFill>
                  <a:srgbClr val="1F2A5C"/>
                </a:solidFill>
                <a:latin typeface="メイリオ" panose="020B0604030504040204" pitchFamily="50" charset="-128"/>
                <a:ea typeface="メイリオ" panose="020B0604030504040204" pitchFamily="50" charset="-128"/>
              </a:rPr>
              <a:t>で接触する</a:t>
            </a:r>
            <a:endParaRPr sz="1150" b="1" dirty="0">
              <a:solidFill>
                <a:srgbClr val="1F2A5C"/>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7693817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6542F3-A366-2F77-BD90-8553126BF310}"/>
            </a:ext>
          </a:extLst>
        </p:cNvPr>
        <p:cNvGrpSpPr/>
        <p:nvPr/>
      </p:nvGrpSpPr>
      <p:grpSpPr>
        <a:xfrm>
          <a:off x="0" y="0"/>
          <a:ext cx="0" cy="0"/>
          <a:chOff x="0" y="0"/>
          <a:chExt cx="0" cy="0"/>
        </a:xfrm>
      </p:grpSpPr>
      <p:cxnSp>
        <p:nvCxnSpPr>
          <p:cNvPr id="59" name="直線コネクタ 4"/>
          <p:cNvCxnSpPr/>
          <p:nvPr/>
        </p:nvCxnSpPr>
        <p:spPr>
          <a:xfrm>
            <a:off x="0" y="548640"/>
            <a:ext cx="9906120" cy="360"/>
          </a:xfrm>
          <a:prstGeom prst="straightConnector1">
            <a:avLst/>
          </a:prstGeom>
          <a:ln>
            <a:solidFill>
              <a:srgbClr val="191F54"/>
            </a:solidFill>
            <a:round/>
          </a:ln>
        </p:spPr>
      </p:cxnSp>
      <p:sp>
        <p:nvSpPr>
          <p:cNvPr id="60" name="正方形/長方形 6"/>
          <p:cNvSpPr/>
          <p:nvPr/>
        </p:nvSpPr>
        <p:spPr>
          <a:xfrm>
            <a:off x="0" y="0"/>
            <a:ext cx="450720" cy="548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58" name="正方形/長方形 57">
            <a:extLst>
              <a:ext uri="{FF2B5EF4-FFF2-40B4-BE49-F238E27FC236}">
                <a16:creationId xmlns:a16="http://schemas.microsoft.com/office/drawing/2014/main" id="{10EB49B5-9FC5-84CA-4DB1-FD1822B1AD4A}"/>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AAE0FF34-E36F-DACD-C81B-257EFD178A28}"/>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ACBE40DF-02FF-09AD-254C-C183AF288F03}"/>
              </a:ext>
            </a:extLst>
          </p:cNvPr>
          <p:cNvSpPr txBox="1"/>
          <p:nvPr/>
        </p:nvSpPr>
        <p:spPr>
          <a:xfrm>
            <a:off x="96788" y="619405"/>
            <a:ext cx="4961186" cy="369332"/>
          </a:xfrm>
          <a:prstGeom prst="rect">
            <a:avLst/>
          </a:prstGeom>
          <a:noFill/>
        </p:spPr>
        <p:txBody>
          <a:bodyPr wrap="square">
            <a:spAutoFit/>
          </a:bodyPr>
          <a:lstStyle/>
          <a:p>
            <a:r>
              <a:rPr lang="en-US" altLang="ja-JP"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LINEOA</a:t>
            </a: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公式基礎</a:t>
            </a:r>
            <a:endParaRPr lang="ja-JP" altLang="en-US" sz="1100" dirty="0"/>
          </a:p>
        </p:txBody>
      </p:sp>
      <p:sp>
        <p:nvSpPr>
          <p:cNvPr id="7" name="テキスト ボックス 6">
            <a:extLst>
              <a:ext uri="{FF2B5EF4-FFF2-40B4-BE49-F238E27FC236}">
                <a16:creationId xmlns:a16="http://schemas.microsoft.com/office/drawing/2014/main" id="{6F82A582-FD96-0975-8BC7-695742F3474E}"/>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市況変化に伴い、</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施策の必要性が増加。反応率の高い</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公式を効率化することでマーケティングを最適化。</a:t>
            </a:r>
            <a:endParaRPr lang="ja-JP" altLang="en-US" sz="1000" dirty="0"/>
          </a:p>
        </p:txBody>
      </p:sp>
      <p:sp>
        <p:nvSpPr>
          <p:cNvPr id="9" name="テキスト ボックス 8">
            <a:extLst>
              <a:ext uri="{FF2B5EF4-FFF2-40B4-BE49-F238E27FC236}">
                <a16:creationId xmlns:a16="http://schemas.microsoft.com/office/drawing/2014/main" id="{AA2B66CF-65F8-FB43-708F-6D49976FCE64}"/>
              </a:ext>
            </a:extLst>
          </p:cNvPr>
          <p:cNvSpPr txBox="1"/>
          <p:nvPr/>
        </p:nvSpPr>
        <p:spPr>
          <a:xfrm>
            <a:off x="549000" y="138240"/>
            <a:ext cx="4961186" cy="338040"/>
          </a:xfrm>
          <a:prstGeom prst="rect">
            <a:avLst/>
          </a:prstGeom>
          <a:noFill/>
        </p:spPr>
        <p:txBody>
          <a:bodyPr wrap="square" anchor="ctr">
            <a:spAutoFit/>
          </a:bodyPr>
          <a:lstStyle/>
          <a:p>
            <a:r>
              <a:rPr lang="ja-JP" altLang="en-US" sz="1600" b="1" dirty="0">
                <a:solidFill>
                  <a:srgbClr val="002060"/>
                </a:solidFill>
                <a:latin typeface="メイリオ" panose="020B0604030504040204" pitchFamily="50" charset="-128"/>
                <a:ea typeface="メイリオ" panose="020B0604030504040204" pitchFamily="50" charset="-128"/>
                <a:cs typeface="メイリオ" panose="020B0604030504040204" pitchFamily="50" charset="-128"/>
              </a:rPr>
              <a:t>前提調査</a:t>
            </a:r>
            <a:endParaRPr lang="ja-JP" altLang="en-US" sz="1050" dirty="0">
              <a:solidFill>
                <a:srgbClr val="002060"/>
              </a:solidFill>
            </a:endParaRPr>
          </a:p>
        </p:txBody>
      </p:sp>
      <p:pic>
        <p:nvPicPr>
          <p:cNvPr id="23" name="図 22">
            <a:extLst>
              <a:ext uri="{FF2B5EF4-FFF2-40B4-BE49-F238E27FC236}">
                <a16:creationId xmlns:a16="http://schemas.microsoft.com/office/drawing/2014/main" id="{A3ED5CD5-2475-1675-D861-6DF0FEF85224}"/>
              </a:ext>
            </a:extLst>
          </p:cNvPr>
          <p:cNvPicPr>
            <a:picLocks noChangeAspect="1"/>
          </p:cNvPicPr>
          <p:nvPr/>
        </p:nvPicPr>
        <p:blipFill>
          <a:blip r:embed="rId2"/>
          <a:stretch>
            <a:fillRect/>
          </a:stretch>
        </p:blipFill>
        <p:spPr>
          <a:xfrm>
            <a:off x="4731535" y="1769209"/>
            <a:ext cx="4865885" cy="2313349"/>
          </a:xfrm>
          <a:prstGeom prst="rect">
            <a:avLst/>
          </a:prstGeom>
        </p:spPr>
      </p:pic>
      <p:pic>
        <p:nvPicPr>
          <p:cNvPr id="55" name="図 54">
            <a:extLst>
              <a:ext uri="{FF2B5EF4-FFF2-40B4-BE49-F238E27FC236}">
                <a16:creationId xmlns:a16="http://schemas.microsoft.com/office/drawing/2014/main" id="{6F101A2A-4E40-54D6-6EFF-FC688C1D2F0B}"/>
              </a:ext>
            </a:extLst>
          </p:cNvPr>
          <p:cNvPicPr>
            <a:picLocks noChangeAspect="1"/>
          </p:cNvPicPr>
          <p:nvPr/>
        </p:nvPicPr>
        <p:blipFill>
          <a:blip r:embed="rId3"/>
          <a:stretch>
            <a:fillRect/>
          </a:stretch>
        </p:blipFill>
        <p:spPr>
          <a:xfrm>
            <a:off x="121721" y="1796423"/>
            <a:ext cx="4547463" cy="2282442"/>
          </a:xfrm>
          <a:prstGeom prst="rect">
            <a:avLst/>
          </a:prstGeom>
        </p:spPr>
      </p:pic>
      <p:pic>
        <p:nvPicPr>
          <p:cNvPr id="4" name="図 3">
            <a:extLst>
              <a:ext uri="{FF2B5EF4-FFF2-40B4-BE49-F238E27FC236}">
                <a16:creationId xmlns:a16="http://schemas.microsoft.com/office/drawing/2014/main" id="{E64EEB20-E6D7-1754-B863-CE02D1637BAF}"/>
              </a:ext>
            </a:extLst>
          </p:cNvPr>
          <p:cNvPicPr>
            <a:picLocks noChangeAspect="1"/>
          </p:cNvPicPr>
          <p:nvPr/>
        </p:nvPicPr>
        <p:blipFill>
          <a:blip r:embed="rId4"/>
          <a:stretch>
            <a:fillRect/>
          </a:stretch>
        </p:blipFill>
        <p:spPr>
          <a:xfrm>
            <a:off x="4743273" y="4163531"/>
            <a:ext cx="5026817" cy="2263604"/>
          </a:xfrm>
          <a:prstGeom prst="rect">
            <a:avLst/>
          </a:prstGeom>
        </p:spPr>
      </p:pic>
      <p:pic>
        <p:nvPicPr>
          <p:cNvPr id="8" name="図 7">
            <a:extLst>
              <a:ext uri="{FF2B5EF4-FFF2-40B4-BE49-F238E27FC236}">
                <a16:creationId xmlns:a16="http://schemas.microsoft.com/office/drawing/2014/main" id="{4155BE30-8F47-BE42-0733-C328ACCE19E0}"/>
              </a:ext>
            </a:extLst>
          </p:cNvPr>
          <p:cNvPicPr>
            <a:picLocks noChangeAspect="1"/>
          </p:cNvPicPr>
          <p:nvPr/>
        </p:nvPicPr>
        <p:blipFill>
          <a:blip r:embed="rId5"/>
          <a:stretch>
            <a:fillRect/>
          </a:stretch>
        </p:blipFill>
        <p:spPr>
          <a:xfrm>
            <a:off x="144233" y="4162283"/>
            <a:ext cx="4502439" cy="2249497"/>
          </a:xfrm>
          <a:prstGeom prst="rect">
            <a:avLst/>
          </a:prstGeom>
        </p:spPr>
      </p:pic>
    </p:spTree>
    <p:extLst>
      <p:ext uri="{BB962C8B-B14F-4D97-AF65-F5344CB8AC3E}">
        <p14:creationId xmlns:p14="http://schemas.microsoft.com/office/powerpoint/2010/main" val="88681943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85F785-21C2-3B5C-6EEA-F1CBBF75AF74}"/>
            </a:ext>
          </a:extLst>
        </p:cNvPr>
        <p:cNvGrpSpPr/>
        <p:nvPr/>
      </p:nvGrpSpPr>
      <p:grpSpPr>
        <a:xfrm>
          <a:off x="0" y="0"/>
          <a:ext cx="0" cy="0"/>
          <a:chOff x="0" y="0"/>
          <a:chExt cx="0" cy="0"/>
        </a:xfrm>
      </p:grpSpPr>
      <p:cxnSp>
        <p:nvCxnSpPr>
          <p:cNvPr id="126" name="直線コネクタ 4"/>
          <p:cNvCxnSpPr/>
          <p:nvPr/>
        </p:nvCxnSpPr>
        <p:spPr>
          <a:xfrm>
            <a:off x="0" y="548640"/>
            <a:ext cx="9906120" cy="360"/>
          </a:xfrm>
          <a:prstGeom prst="straightConnector1">
            <a:avLst/>
          </a:prstGeom>
          <a:ln>
            <a:solidFill>
              <a:srgbClr val="191F54"/>
            </a:solidFill>
            <a:round/>
          </a:ln>
        </p:spPr>
      </p:cxnSp>
      <p:sp>
        <p:nvSpPr>
          <p:cNvPr id="127" name="正方形/長方形 6"/>
          <p:cNvSpPr/>
          <p:nvPr/>
        </p:nvSpPr>
        <p:spPr>
          <a:xfrm>
            <a:off x="0" y="0"/>
            <a:ext cx="450720" cy="548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58" name="正方形/長方形 57">
            <a:extLst>
              <a:ext uri="{FF2B5EF4-FFF2-40B4-BE49-F238E27FC236}">
                <a16:creationId xmlns:a16="http://schemas.microsoft.com/office/drawing/2014/main" id="{0A6CFA27-8734-0256-59C9-95D2B252C115}"/>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3705FD20-7673-B4F7-9F0F-FDAA55CE0655}"/>
              </a:ext>
            </a:extLst>
          </p:cNvPr>
          <p:cNvSpPr txBox="1"/>
          <p:nvPr/>
        </p:nvSpPr>
        <p:spPr>
          <a:xfrm>
            <a:off x="96788" y="619405"/>
            <a:ext cx="4961186" cy="369332"/>
          </a:xfrm>
          <a:prstGeom prst="rect">
            <a:avLst/>
          </a:prstGeom>
          <a:noFill/>
        </p:spPr>
        <p:txBody>
          <a:bodyPr wrap="square">
            <a:spAutoFit/>
          </a:bodyPr>
          <a:lstStyle/>
          <a:p>
            <a:r>
              <a:rPr lang="en-US" altLang="ja-JP"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LINEOA</a:t>
            </a: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公式基礎</a:t>
            </a:r>
            <a:endParaRPr lang="ja-JP" altLang="en-US" sz="1100" dirty="0"/>
          </a:p>
        </p:txBody>
      </p:sp>
      <p:sp>
        <p:nvSpPr>
          <p:cNvPr id="7" name="テキスト ボックス 6">
            <a:extLst>
              <a:ext uri="{FF2B5EF4-FFF2-40B4-BE49-F238E27FC236}">
                <a16:creationId xmlns:a16="http://schemas.microsoft.com/office/drawing/2014/main" id="{4C9CF45E-C71E-D1AB-5CC4-7A1544E4139F}"/>
              </a:ext>
            </a:extLst>
          </p:cNvPr>
          <p:cNvSpPr txBox="1"/>
          <p:nvPr/>
        </p:nvSpPr>
        <p:spPr>
          <a:xfrm>
            <a:off x="96788" y="1202790"/>
            <a:ext cx="4961186"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市況の変化</a:t>
            </a:r>
            <a:endParaRPr lang="ja-JP" altLang="en-US" sz="1000" dirty="0"/>
          </a:p>
        </p:txBody>
      </p:sp>
      <p:sp>
        <p:nvSpPr>
          <p:cNvPr id="9" name="テキスト ボックス 8">
            <a:extLst>
              <a:ext uri="{FF2B5EF4-FFF2-40B4-BE49-F238E27FC236}">
                <a16:creationId xmlns:a16="http://schemas.microsoft.com/office/drawing/2014/main" id="{2466A3D1-79A2-FC11-5F03-CB24F3F95CFB}"/>
              </a:ext>
            </a:extLst>
          </p:cNvPr>
          <p:cNvSpPr txBox="1"/>
          <p:nvPr/>
        </p:nvSpPr>
        <p:spPr>
          <a:xfrm>
            <a:off x="549000" y="138240"/>
            <a:ext cx="4961186" cy="338040"/>
          </a:xfrm>
          <a:prstGeom prst="rect">
            <a:avLst/>
          </a:prstGeom>
          <a:noFill/>
        </p:spPr>
        <p:txBody>
          <a:bodyPr wrap="square" anchor="ctr">
            <a:spAutoFit/>
          </a:bodyPr>
          <a:lstStyle/>
          <a:p>
            <a:r>
              <a:rPr lang="ja-JP" altLang="en-US" sz="1600" b="1" dirty="0">
                <a:solidFill>
                  <a:srgbClr val="002060"/>
                </a:solidFill>
                <a:latin typeface="メイリオ" panose="020B0604030504040204" pitchFamily="50" charset="-128"/>
                <a:ea typeface="メイリオ" panose="020B0604030504040204" pitchFamily="50" charset="-128"/>
                <a:cs typeface="メイリオ" panose="020B0604030504040204" pitchFamily="50" charset="-128"/>
              </a:rPr>
              <a:t>前提調査</a:t>
            </a:r>
            <a:endParaRPr lang="ja-JP" altLang="en-US" sz="1050" dirty="0">
              <a:solidFill>
                <a:srgbClr val="002060"/>
              </a:solidFill>
            </a:endParaRPr>
          </a:p>
        </p:txBody>
      </p:sp>
      <p:pic>
        <p:nvPicPr>
          <p:cNvPr id="70" name="図 69">
            <a:extLst>
              <a:ext uri="{FF2B5EF4-FFF2-40B4-BE49-F238E27FC236}">
                <a16:creationId xmlns:a16="http://schemas.microsoft.com/office/drawing/2014/main" id="{BD57C684-39A2-ED1F-858B-037F82BEC993}"/>
              </a:ext>
            </a:extLst>
          </p:cNvPr>
          <p:cNvPicPr>
            <a:picLocks noChangeAspect="1"/>
          </p:cNvPicPr>
          <p:nvPr/>
        </p:nvPicPr>
        <p:blipFill>
          <a:blip r:embed="rId2"/>
          <a:stretch>
            <a:fillRect/>
          </a:stretch>
        </p:blipFill>
        <p:spPr>
          <a:xfrm>
            <a:off x="4743273" y="4163531"/>
            <a:ext cx="5026817" cy="2263604"/>
          </a:xfrm>
          <a:prstGeom prst="rect">
            <a:avLst/>
          </a:prstGeom>
        </p:spPr>
      </p:pic>
      <p:pic>
        <p:nvPicPr>
          <p:cNvPr id="72" name="図 71">
            <a:extLst>
              <a:ext uri="{FF2B5EF4-FFF2-40B4-BE49-F238E27FC236}">
                <a16:creationId xmlns:a16="http://schemas.microsoft.com/office/drawing/2014/main" id="{CAD0F638-4BB5-8204-757C-602FB0EFC388}"/>
              </a:ext>
            </a:extLst>
          </p:cNvPr>
          <p:cNvPicPr>
            <a:picLocks noChangeAspect="1"/>
          </p:cNvPicPr>
          <p:nvPr/>
        </p:nvPicPr>
        <p:blipFill>
          <a:blip r:embed="rId3"/>
          <a:stretch>
            <a:fillRect/>
          </a:stretch>
        </p:blipFill>
        <p:spPr>
          <a:xfrm>
            <a:off x="144233" y="4162283"/>
            <a:ext cx="4502439" cy="2249497"/>
          </a:xfrm>
          <a:prstGeom prst="rect">
            <a:avLst/>
          </a:prstGeom>
        </p:spPr>
      </p:pic>
      <p:pic>
        <p:nvPicPr>
          <p:cNvPr id="89" name="図 88">
            <a:extLst>
              <a:ext uri="{FF2B5EF4-FFF2-40B4-BE49-F238E27FC236}">
                <a16:creationId xmlns:a16="http://schemas.microsoft.com/office/drawing/2014/main" id="{1E7DD73A-5ACE-57F2-3D84-1CCFDEA9CEE5}"/>
              </a:ext>
            </a:extLst>
          </p:cNvPr>
          <p:cNvPicPr>
            <a:picLocks noChangeAspect="1"/>
          </p:cNvPicPr>
          <p:nvPr/>
        </p:nvPicPr>
        <p:blipFill>
          <a:blip r:embed="rId4"/>
          <a:stretch>
            <a:fillRect/>
          </a:stretch>
        </p:blipFill>
        <p:spPr>
          <a:xfrm>
            <a:off x="4731535" y="1777918"/>
            <a:ext cx="4865885" cy="2313349"/>
          </a:xfrm>
          <a:prstGeom prst="rect">
            <a:avLst/>
          </a:prstGeom>
        </p:spPr>
      </p:pic>
      <p:pic>
        <p:nvPicPr>
          <p:cNvPr id="91" name="図 90">
            <a:extLst>
              <a:ext uri="{FF2B5EF4-FFF2-40B4-BE49-F238E27FC236}">
                <a16:creationId xmlns:a16="http://schemas.microsoft.com/office/drawing/2014/main" id="{FCAF1797-0FF8-82BA-FC52-3C1CCD7A2ED5}"/>
              </a:ext>
            </a:extLst>
          </p:cNvPr>
          <p:cNvPicPr>
            <a:picLocks noChangeAspect="1"/>
          </p:cNvPicPr>
          <p:nvPr/>
        </p:nvPicPr>
        <p:blipFill>
          <a:blip r:embed="rId5"/>
          <a:stretch>
            <a:fillRect/>
          </a:stretch>
        </p:blipFill>
        <p:spPr>
          <a:xfrm>
            <a:off x="121721" y="1805132"/>
            <a:ext cx="4547463" cy="2282442"/>
          </a:xfrm>
          <a:prstGeom prst="rect">
            <a:avLst/>
          </a:prstGeom>
        </p:spPr>
      </p:pic>
      <p:sp>
        <p:nvSpPr>
          <p:cNvPr id="109" name="正方形/長方形 108">
            <a:extLst>
              <a:ext uri="{FF2B5EF4-FFF2-40B4-BE49-F238E27FC236}">
                <a16:creationId xmlns:a16="http://schemas.microsoft.com/office/drawing/2014/main" id="{75E2613C-ECFC-1043-6B48-5CC36CDAEA49}"/>
              </a:ext>
            </a:extLst>
          </p:cNvPr>
          <p:cNvSpPr/>
          <p:nvPr/>
        </p:nvSpPr>
        <p:spPr>
          <a:xfrm>
            <a:off x="79632" y="1705966"/>
            <a:ext cx="9721727" cy="4805339"/>
          </a:xfrm>
          <a:prstGeom prst="rect">
            <a:avLst/>
          </a:prstGeom>
          <a:solidFill>
            <a:schemeClr val="bg1">
              <a:alpha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11" name="正方形/長方形 110">
            <a:extLst>
              <a:ext uri="{FF2B5EF4-FFF2-40B4-BE49-F238E27FC236}">
                <a16:creationId xmlns:a16="http://schemas.microsoft.com/office/drawing/2014/main" id="{99739246-55F4-690F-7FCA-3A6125F81DC0}"/>
              </a:ext>
            </a:extLst>
          </p:cNvPr>
          <p:cNvSpPr/>
          <p:nvPr/>
        </p:nvSpPr>
        <p:spPr>
          <a:xfrm>
            <a:off x="212090" y="1717992"/>
            <a:ext cx="4646483" cy="2328629"/>
          </a:xfrm>
          <a:prstGeom prst="rect">
            <a:avLst/>
          </a:prstGeom>
          <a:solidFill>
            <a:schemeClr val="bg1">
              <a:lumMod val="85000"/>
              <a:alpha val="3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b="1" dirty="0">
                <a:solidFill>
                  <a:schemeClr val="tx1"/>
                </a:solidFill>
                <a:latin typeface="メイリオ" panose="020B0604030504040204" pitchFamily="50" charset="-128"/>
                <a:ea typeface="メイリオ" panose="020B0604030504040204" pitchFamily="50" charset="-128"/>
              </a:rPr>
              <a:t>LINE</a:t>
            </a:r>
            <a:r>
              <a:rPr lang="ja-JP" altLang="en-US" sz="2000" b="1" dirty="0">
                <a:solidFill>
                  <a:schemeClr val="tx1"/>
                </a:solidFill>
                <a:latin typeface="メイリオ" panose="020B0604030504040204" pitchFamily="50" charset="-128"/>
                <a:ea typeface="メイリオ" panose="020B0604030504040204" pitchFamily="50" charset="-128"/>
              </a:rPr>
              <a:t>施策の重要性</a:t>
            </a:r>
            <a:endParaRPr lang="en-US" altLang="ja-JP" sz="2000" b="1" dirty="0">
              <a:solidFill>
                <a:schemeClr val="tx1"/>
              </a:solidFill>
              <a:latin typeface="メイリオ" panose="020B0604030504040204" pitchFamily="50" charset="-128"/>
              <a:ea typeface="メイリオ" panose="020B0604030504040204" pitchFamily="50" charset="-128"/>
            </a:endParaRPr>
          </a:p>
          <a:p>
            <a:pPr algn="ctr"/>
            <a:endParaRPr lang="en-US" altLang="ja-JP" sz="2000" b="1" dirty="0">
              <a:solidFill>
                <a:schemeClr val="tx1"/>
              </a:solidFill>
              <a:latin typeface="メイリオ" panose="020B0604030504040204" pitchFamily="50" charset="-128"/>
              <a:ea typeface="メイリオ" panose="020B0604030504040204" pitchFamily="50" charset="-128"/>
            </a:endParaRPr>
          </a:p>
          <a:p>
            <a:pPr algn="ctr"/>
            <a:endParaRPr lang="en-US" altLang="ja-JP" sz="2000" b="1" dirty="0">
              <a:solidFill>
                <a:schemeClr val="tx1"/>
              </a:solidFill>
              <a:latin typeface="メイリオ" panose="020B0604030504040204" pitchFamily="50" charset="-128"/>
              <a:ea typeface="メイリオ" panose="020B0604030504040204" pitchFamily="50" charset="-128"/>
            </a:endParaRPr>
          </a:p>
        </p:txBody>
      </p:sp>
      <p:sp>
        <p:nvSpPr>
          <p:cNvPr id="113" name="正方形/長方形 112">
            <a:extLst>
              <a:ext uri="{FF2B5EF4-FFF2-40B4-BE49-F238E27FC236}">
                <a16:creationId xmlns:a16="http://schemas.microsoft.com/office/drawing/2014/main" id="{36DF7064-F61C-CF57-16F4-3ED4FE3F0D7A}"/>
              </a:ext>
            </a:extLst>
          </p:cNvPr>
          <p:cNvSpPr/>
          <p:nvPr/>
        </p:nvSpPr>
        <p:spPr>
          <a:xfrm>
            <a:off x="4929998" y="1717020"/>
            <a:ext cx="4646483" cy="2328629"/>
          </a:xfrm>
          <a:prstGeom prst="rect">
            <a:avLst/>
          </a:prstGeom>
          <a:solidFill>
            <a:schemeClr val="bg1">
              <a:lumMod val="85000"/>
              <a:alpha val="3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000" b="1" dirty="0">
                <a:solidFill>
                  <a:schemeClr val="tx1"/>
                </a:solidFill>
                <a:latin typeface="メイリオ" panose="020B0604030504040204" pitchFamily="50" charset="-128"/>
                <a:ea typeface="メイリオ" panose="020B0604030504040204" pitchFamily="50" charset="-128"/>
              </a:rPr>
              <a:t>友だち追加後の最適化</a:t>
            </a:r>
            <a:endParaRPr lang="en-US" altLang="ja-JP" sz="2000" b="1" dirty="0">
              <a:solidFill>
                <a:schemeClr val="tx1"/>
              </a:solidFill>
              <a:latin typeface="メイリオ" panose="020B0604030504040204" pitchFamily="50" charset="-128"/>
              <a:ea typeface="メイリオ" panose="020B0604030504040204" pitchFamily="50" charset="-128"/>
            </a:endParaRPr>
          </a:p>
          <a:p>
            <a:pPr algn="ctr"/>
            <a:endParaRPr lang="en-US" altLang="ja-JP" sz="1400" b="1" dirty="0">
              <a:solidFill>
                <a:schemeClr val="tx1"/>
              </a:solidFill>
              <a:latin typeface="メイリオ" panose="020B0604030504040204" pitchFamily="50" charset="-128"/>
              <a:ea typeface="メイリオ" panose="020B0604030504040204" pitchFamily="50" charset="-128"/>
            </a:endParaRPr>
          </a:p>
          <a:p>
            <a:pPr algn="ctr"/>
            <a:endParaRPr lang="en-US" altLang="ja-JP" sz="1400" b="1" dirty="0">
              <a:solidFill>
                <a:schemeClr val="tx1"/>
              </a:solidFill>
              <a:latin typeface="メイリオ" panose="020B0604030504040204" pitchFamily="50" charset="-128"/>
              <a:ea typeface="メイリオ" panose="020B0604030504040204" pitchFamily="50" charset="-128"/>
            </a:endParaRPr>
          </a:p>
          <a:p>
            <a:pPr algn="ctr"/>
            <a:endParaRPr lang="en-US" altLang="ja-JP" sz="1400" b="1" dirty="0">
              <a:solidFill>
                <a:schemeClr val="tx1"/>
              </a:solidFill>
              <a:latin typeface="メイリオ" panose="020B0604030504040204" pitchFamily="50" charset="-128"/>
              <a:ea typeface="メイリオ" panose="020B0604030504040204" pitchFamily="50" charset="-128"/>
            </a:endParaRPr>
          </a:p>
        </p:txBody>
      </p:sp>
      <p:sp>
        <p:nvSpPr>
          <p:cNvPr id="115" name="正方形/長方形 114">
            <a:extLst>
              <a:ext uri="{FF2B5EF4-FFF2-40B4-BE49-F238E27FC236}">
                <a16:creationId xmlns:a16="http://schemas.microsoft.com/office/drawing/2014/main" id="{B413D49B-5D6C-8C2D-7652-878361DCE9FD}"/>
              </a:ext>
            </a:extLst>
          </p:cNvPr>
          <p:cNvSpPr/>
          <p:nvPr/>
        </p:nvSpPr>
        <p:spPr>
          <a:xfrm>
            <a:off x="212090" y="4103895"/>
            <a:ext cx="4646483" cy="2328629"/>
          </a:xfrm>
          <a:prstGeom prst="rect">
            <a:avLst/>
          </a:prstGeom>
          <a:solidFill>
            <a:schemeClr val="bg1">
              <a:lumMod val="85000"/>
              <a:alpha val="3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b="1" dirty="0">
                <a:solidFill>
                  <a:srgbClr val="FF0000"/>
                </a:solidFill>
                <a:latin typeface="メイリオ" panose="020B0604030504040204" pitchFamily="50" charset="-128"/>
                <a:ea typeface="メイリオ" panose="020B0604030504040204" pitchFamily="50" charset="-128"/>
              </a:rPr>
              <a:t>集客</a:t>
            </a:r>
            <a:r>
              <a:rPr kumimoji="1" lang="en-US" altLang="ja-JP" sz="2000" b="1" dirty="0">
                <a:solidFill>
                  <a:srgbClr val="FF0000"/>
                </a:solidFill>
                <a:latin typeface="メイリオ" panose="020B0604030504040204" pitchFamily="50" charset="-128"/>
                <a:ea typeface="メイリオ" panose="020B0604030504040204" pitchFamily="50" charset="-128"/>
              </a:rPr>
              <a:t>CPA</a:t>
            </a:r>
            <a:r>
              <a:rPr kumimoji="1" lang="ja-JP" altLang="en-US" sz="2000" b="1" dirty="0">
                <a:solidFill>
                  <a:srgbClr val="FF0000"/>
                </a:solidFill>
                <a:latin typeface="メイリオ" panose="020B0604030504040204" pitchFamily="50" charset="-128"/>
                <a:ea typeface="メイリオ" panose="020B0604030504040204" pitchFamily="50" charset="-128"/>
              </a:rPr>
              <a:t>改善の必要性</a:t>
            </a:r>
            <a:endParaRPr kumimoji="1" lang="en-US" altLang="ja-JP" sz="2000" b="1" dirty="0">
              <a:solidFill>
                <a:srgbClr val="FF0000"/>
              </a:solidFill>
              <a:latin typeface="メイリオ" panose="020B0604030504040204" pitchFamily="50" charset="-128"/>
              <a:ea typeface="メイリオ" panose="020B0604030504040204" pitchFamily="50" charset="-128"/>
            </a:endParaRPr>
          </a:p>
          <a:p>
            <a:pPr algn="ctr"/>
            <a:endParaRPr lang="en-US" altLang="ja-JP" sz="1400" b="1" dirty="0">
              <a:solidFill>
                <a:srgbClr val="FF0000"/>
              </a:solidFill>
              <a:latin typeface="メイリオ" panose="020B0604030504040204" pitchFamily="50" charset="-128"/>
              <a:ea typeface="メイリオ" panose="020B0604030504040204" pitchFamily="50" charset="-128"/>
            </a:endParaRPr>
          </a:p>
          <a:p>
            <a:pPr algn="ctr"/>
            <a:endParaRPr lang="en-US" altLang="ja-JP" sz="1400" b="1" dirty="0">
              <a:solidFill>
                <a:srgbClr val="FF0000"/>
              </a:solidFill>
              <a:latin typeface="メイリオ" panose="020B0604030504040204" pitchFamily="50" charset="-128"/>
              <a:ea typeface="メイリオ" panose="020B0604030504040204" pitchFamily="50" charset="-128"/>
            </a:endParaRPr>
          </a:p>
          <a:p>
            <a:pPr algn="ctr"/>
            <a:endParaRPr lang="en-US" altLang="ja-JP" sz="1400" b="1" dirty="0">
              <a:solidFill>
                <a:srgbClr val="FF0000"/>
              </a:solidFill>
              <a:latin typeface="メイリオ" panose="020B0604030504040204" pitchFamily="50" charset="-128"/>
              <a:ea typeface="メイリオ" panose="020B0604030504040204" pitchFamily="50" charset="-128"/>
            </a:endParaRPr>
          </a:p>
        </p:txBody>
      </p:sp>
      <p:sp>
        <p:nvSpPr>
          <p:cNvPr id="119" name="正方形/長方形 118">
            <a:extLst>
              <a:ext uri="{FF2B5EF4-FFF2-40B4-BE49-F238E27FC236}">
                <a16:creationId xmlns:a16="http://schemas.microsoft.com/office/drawing/2014/main" id="{C700F13F-7FE1-285C-0D95-84AA99805426}"/>
              </a:ext>
            </a:extLst>
          </p:cNvPr>
          <p:cNvSpPr/>
          <p:nvPr/>
        </p:nvSpPr>
        <p:spPr>
          <a:xfrm>
            <a:off x="4929998" y="4103895"/>
            <a:ext cx="4646483" cy="2328629"/>
          </a:xfrm>
          <a:prstGeom prst="rect">
            <a:avLst/>
          </a:prstGeom>
          <a:solidFill>
            <a:schemeClr val="bg1">
              <a:lumMod val="85000"/>
              <a:alpha val="3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b="1" dirty="0">
                <a:solidFill>
                  <a:srgbClr val="FF0000"/>
                </a:solidFill>
                <a:latin typeface="メイリオ" panose="020B0604030504040204" pitchFamily="50" charset="-128"/>
                <a:ea typeface="メイリオ" panose="020B0604030504040204" pitchFamily="50" charset="-128"/>
              </a:rPr>
              <a:t>CPO</a:t>
            </a:r>
            <a:r>
              <a:rPr lang="ja-JP" altLang="en-US" sz="2000" b="1" dirty="0">
                <a:solidFill>
                  <a:srgbClr val="FF0000"/>
                </a:solidFill>
                <a:latin typeface="メイリオ" panose="020B0604030504040204" pitchFamily="50" charset="-128"/>
                <a:ea typeface="メイリオ" panose="020B0604030504040204" pitchFamily="50" charset="-128"/>
              </a:rPr>
              <a:t>・</a:t>
            </a:r>
            <a:r>
              <a:rPr lang="en-US" altLang="ja-JP" sz="2000" b="1" dirty="0">
                <a:solidFill>
                  <a:srgbClr val="FF0000"/>
                </a:solidFill>
                <a:latin typeface="メイリオ" panose="020B0604030504040204" pitchFamily="50" charset="-128"/>
                <a:ea typeface="メイリオ" panose="020B0604030504040204" pitchFamily="50" charset="-128"/>
              </a:rPr>
              <a:t>CPA</a:t>
            </a:r>
            <a:r>
              <a:rPr lang="ja-JP" altLang="en-US" sz="2000" b="1" dirty="0">
                <a:solidFill>
                  <a:srgbClr val="FF0000"/>
                </a:solidFill>
                <a:latin typeface="メイリオ" panose="020B0604030504040204" pitchFamily="50" charset="-128"/>
                <a:ea typeface="メイリオ" panose="020B0604030504040204" pitchFamily="50" charset="-128"/>
              </a:rPr>
              <a:t>改善</a:t>
            </a:r>
            <a:endParaRPr lang="en-US" altLang="ja-JP" sz="2000" b="1" dirty="0">
              <a:solidFill>
                <a:srgbClr val="FF0000"/>
              </a:solidFill>
              <a:latin typeface="メイリオ" panose="020B0604030504040204" pitchFamily="50" charset="-128"/>
              <a:ea typeface="メイリオ" panose="020B0604030504040204" pitchFamily="50" charset="-128"/>
            </a:endParaRPr>
          </a:p>
          <a:p>
            <a:pPr algn="ctr"/>
            <a:endParaRPr lang="en-US" altLang="ja-JP" sz="1400" b="1" dirty="0">
              <a:solidFill>
                <a:srgbClr val="FF0000"/>
              </a:solidFill>
              <a:latin typeface="メイリオ" panose="020B0604030504040204" pitchFamily="50" charset="-128"/>
              <a:ea typeface="メイリオ" panose="020B0604030504040204" pitchFamily="50" charset="-128"/>
            </a:endParaRPr>
          </a:p>
          <a:p>
            <a:pPr algn="ctr"/>
            <a:endParaRPr lang="en-US" altLang="ja-JP" sz="1400" b="1" dirty="0">
              <a:solidFill>
                <a:srgbClr val="FF0000"/>
              </a:solidFill>
              <a:latin typeface="メイリオ" panose="020B0604030504040204" pitchFamily="50" charset="-128"/>
              <a:ea typeface="メイリオ" panose="020B0604030504040204" pitchFamily="50" charset="-128"/>
            </a:endParaRPr>
          </a:p>
          <a:p>
            <a:pPr algn="ctr"/>
            <a:endParaRPr lang="en-US" altLang="ja-JP" sz="1400" b="1" dirty="0">
              <a:solidFill>
                <a:srgbClr val="FF0000"/>
              </a:solidFill>
              <a:latin typeface="メイリオ" panose="020B0604030504040204" pitchFamily="50" charset="-128"/>
              <a:ea typeface="メイリオ" panose="020B0604030504040204" pitchFamily="50" charset="-128"/>
            </a:endParaRPr>
          </a:p>
        </p:txBody>
      </p:sp>
      <p:sp>
        <p:nvSpPr>
          <p:cNvPr id="125" name="正方形/長方形 124">
            <a:extLst>
              <a:ext uri="{FF2B5EF4-FFF2-40B4-BE49-F238E27FC236}">
                <a16:creationId xmlns:a16="http://schemas.microsoft.com/office/drawing/2014/main" id="{8AA79FF8-045D-B91F-3862-26BD57F723BA}"/>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テキスト ボックス 2">
            <a:extLst>
              <a:ext uri="{FF2B5EF4-FFF2-40B4-BE49-F238E27FC236}">
                <a16:creationId xmlns:a16="http://schemas.microsoft.com/office/drawing/2014/main" id="{BC1E3528-49FC-2F40-A6E5-CF541F7FF75D}"/>
              </a:ext>
            </a:extLst>
          </p:cNvPr>
          <p:cNvSpPr txBox="1"/>
          <p:nvPr/>
        </p:nvSpPr>
        <p:spPr>
          <a:xfrm>
            <a:off x="5218703" y="2796155"/>
            <a:ext cx="4102384" cy="523220"/>
          </a:xfrm>
          <a:prstGeom prst="rect">
            <a:avLst/>
          </a:prstGeom>
          <a:solidFill>
            <a:schemeClr val="bg1">
              <a:alpha val="60000"/>
            </a:schemeClr>
          </a:solidFill>
        </p:spPr>
        <p:txBody>
          <a:bodyPr wrap="square">
            <a:spAutoFit/>
          </a:bodyPr>
          <a:lstStyle/>
          <a:p>
            <a:pPr algn="ctr"/>
            <a:r>
              <a:rPr lang="en-US" altLang="ja-JP" sz="1400" dirty="0">
                <a:solidFill>
                  <a:schemeClr val="tx1"/>
                </a:solidFill>
                <a:latin typeface="メイリオ" panose="020B0604030504040204" pitchFamily="50" charset="-128"/>
                <a:ea typeface="メイリオ" panose="020B0604030504040204" pitchFamily="50" charset="-128"/>
              </a:rPr>
              <a:t>LINE</a:t>
            </a:r>
            <a:r>
              <a:rPr lang="ja-JP" altLang="en-US" sz="1400" dirty="0">
                <a:solidFill>
                  <a:schemeClr val="tx1"/>
                </a:solidFill>
                <a:latin typeface="メイリオ" panose="020B0604030504040204" pitchFamily="50" charset="-128"/>
                <a:ea typeface="メイリオ" panose="020B0604030504040204" pitchFamily="50" charset="-128"/>
              </a:rPr>
              <a:t>友だち追加後</a:t>
            </a:r>
            <a:r>
              <a:rPr lang="en-US" altLang="ja-JP" sz="1400" dirty="0">
                <a:solidFill>
                  <a:schemeClr val="tx1"/>
                </a:solidFill>
                <a:latin typeface="メイリオ" panose="020B0604030504040204" pitchFamily="50" charset="-128"/>
                <a:ea typeface="メイリオ" panose="020B0604030504040204" pitchFamily="50" charset="-128"/>
              </a:rPr>
              <a:t>30</a:t>
            </a:r>
            <a:r>
              <a:rPr lang="ja-JP" altLang="en-US" sz="1400" dirty="0">
                <a:solidFill>
                  <a:schemeClr val="tx1"/>
                </a:solidFill>
                <a:latin typeface="メイリオ" panose="020B0604030504040204" pitchFamily="50" charset="-128"/>
                <a:ea typeface="メイリオ" panose="020B0604030504040204" pitchFamily="50" charset="-128"/>
              </a:rPr>
              <a:t>日、</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400" b="1" dirty="0">
                <a:solidFill>
                  <a:schemeClr val="tx1"/>
                </a:solidFill>
                <a:latin typeface="メイリオ" panose="020B0604030504040204" pitchFamily="50" charset="-128"/>
                <a:ea typeface="メイリオ" panose="020B0604030504040204" pitchFamily="50" charset="-128"/>
              </a:rPr>
              <a:t>初期誘導の最適化は重要性が高い</a:t>
            </a:r>
            <a:r>
              <a:rPr lang="ja-JP" altLang="en-US" sz="1400" dirty="0">
                <a:solidFill>
                  <a:schemeClr val="tx1"/>
                </a:solidFill>
                <a:latin typeface="メイリオ" panose="020B0604030504040204" pitchFamily="50" charset="-128"/>
                <a:ea typeface="メイリオ" panose="020B0604030504040204" pitchFamily="50" charset="-128"/>
              </a:rPr>
              <a:t>。</a:t>
            </a: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4" name="テキスト ボックス 13">
            <a:extLst>
              <a:ext uri="{FF2B5EF4-FFF2-40B4-BE49-F238E27FC236}">
                <a16:creationId xmlns:a16="http://schemas.microsoft.com/office/drawing/2014/main" id="{9741E7E2-8CD1-5737-D697-09B5D2B75F28}"/>
              </a:ext>
            </a:extLst>
          </p:cNvPr>
          <p:cNvSpPr txBox="1"/>
          <p:nvPr/>
        </p:nvSpPr>
        <p:spPr>
          <a:xfrm>
            <a:off x="463701" y="2801521"/>
            <a:ext cx="4102384" cy="523220"/>
          </a:xfrm>
          <a:prstGeom prst="rect">
            <a:avLst/>
          </a:prstGeom>
          <a:solidFill>
            <a:schemeClr val="bg1">
              <a:alpha val="60000"/>
            </a:schemeClr>
          </a:solidFill>
        </p:spPr>
        <p:txBody>
          <a:bodyPr wrap="square">
            <a:spAutoFit/>
          </a:bodyPr>
          <a:lstStyle/>
          <a:p>
            <a:pPr algn="ctr"/>
            <a:r>
              <a:rPr lang="ja-JP" altLang="en-US" sz="1400" b="1" dirty="0">
                <a:latin typeface="メイリオ" panose="020B0604030504040204" pitchFamily="50" charset="-128"/>
                <a:ea typeface="メイリオ" panose="020B0604030504040204" pitchFamily="50" charset="-128"/>
              </a:rPr>
              <a:t>開封率、開封時間ともに高効率</a:t>
            </a:r>
            <a:r>
              <a:rPr lang="ja-JP" altLang="en-US" sz="1400" dirty="0">
                <a:latin typeface="メイリオ" panose="020B0604030504040204" pitchFamily="50" charset="-128"/>
                <a:ea typeface="メイリオ" panose="020B0604030504040204" pitchFamily="50" charset="-128"/>
              </a:rPr>
              <a:t>。</a:t>
            </a:r>
            <a:endParaRPr lang="en-US" altLang="ja-JP" sz="1400" dirty="0">
              <a:latin typeface="メイリオ" panose="020B0604030504040204" pitchFamily="50" charset="-128"/>
              <a:ea typeface="メイリオ" panose="020B0604030504040204" pitchFamily="50" charset="-128"/>
            </a:endParaRPr>
          </a:p>
          <a:p>
            <a:pPr algn="ctr"/>
            <a:r>
              <a:rPr lang="ja-JP" altLang="en-US" sz="1400" dirty="0">
                <a:latin typeface="メイリオ" panose="020B0604030504040204" pitchFamily="50" charset="-128"/>
                <a:ea typeface="メイリオ" panose="020B0604030504040204" pitchFamily="50" charset="-128"/>
              </a:rPr>
              <a:t>今後のマーケティングに必須のチャネル。</a:t>
            </a:r>
            <a:endParaRPr lang="en-US" altLang="ja-JP" sz="1400" dirty="0">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BD081E68-EA84-585C-A316-D201FAC9649E}"/>
              </a:ext>
            </a:extLst>
          </p:cNvPr>
          <p:cNvSpPr txBox="1"/>
          <p:nvPr/>
        </p:nvSpPr>
        <p:spPr>
          <a:xfrm>
            <a:off x="463701" y="5262659"/>
            <a:ext cx="4102384" cy="523220"/>
          </a:xfrm>
          <a:prstGeom prst="rect">
            <a:avLst/>
          </a:prstGeom>
          <a:solidFill>
            <a:schemeClr val="bg1">
              <a:alpha val="60000"/>
            </a:schemeClr>
          </a:solidFill>
        </p:spPr>
        <p:txBody>
          <a:bodyPr wrap="square">
            <a:spAutoFit/>
          </a:bodyPr>
          <a:lstStyle/>
          <a:p>
            <a:pPr algn="ctr"/>
            <a:r>
              <a:rPr lang="ja-JP" altLang="en-US" sz="1400" dirty="0">
                <a:solidFill>
                  <a:srgbClr val="FF0000"/>
                </a:solidFill>
                <a:latin typeface="メイリオ" panose="020B0604030504040204" pitchFamily="50" charset="-128"/>
                <a:ea typeface="メイリオ" panose="020B0604030504040204" pitchFamily="50" charset="-128"/>
              </a:rPr>
              <a:t>広告離脱の</a:t>
            </a:r>
            <a:r>
              <a:rPr lang="en-US" altLang="ja-JP" sz="1400" dirty="0">
                <a:solidFill>
                  <a:srgbClr val="FF0000"/>
                </a:solidFill>
                <a:latin typeface="メイリオ" panose="020B0604030504040204" pitchFamily="50" charset="-128"/>
                <a:ea typeface="メイリオ" panose="020B0604030504040204" pitchFamily="50" charset="-128"/>
              </a:rPr>
              <a:t>98%</a:t>
            </a:r>
            <a:r>
              <a:rPr lang="ja-JP" altLang="en-US" sz="1400" dirty="0">
                <a:solidFill>
                  <a:srgbClr val="FF0000"/>
                </a:solidFill>
                <a:latin typeface="メイリオ" panose="020B0604030504040204" pitchFamily="50" charset="-128"/>
                <a:ea typeface="メイリオ" panose="020B0604030504040204" pitchFamily="50" charset="-128"/>
              </a:rPr>
              <a:t>は接触が難しい。</a:t>
            </a:r>
            <a:endParaRPr lang="en-US" altLang="ja-JP" sz="1400" dirty="0">
              <a:solidFill>
                <a:srgbClr val="FF0000"/>
              </a:solidFill>
              <a:latin typeface="メイリオ" panose="020B0604030504040204" pitchFamily="50" charset="-128"/>
              <a:ea typeface="メイリオ" panose="020B0604030504040204" pitchFamily="50" charset="-128"/>
            </a:endParaRPr>
          </a:p>
          <a:p>
            <a:pPr algn="ctr"/>
            <a:r>
              <a:rPr lang="ja-JP" altLang="en-US" sz="1400" b="1" dirty="0">
                <a:solidFill>
                  <a:srgbClr val="FF0000"/>
                </a:solidFill>
                <a:latin typeface="メイリオ" panose="020B0604030504040204" pitchFamily="50" charset="-128"/>
                <a:ea typeface="メイリオ" panose="020B0604030504040204" pitchFamily="50" charset="-128"/>
              </a:rPr>
              <a:t>離脱理由を洗い出し再追客へ</a:t>
            </a:r>
            <a:r>
              <a:rPr lang="ja-JP" altLang="en-US" sz="1400" dirty="0">
                <a:solidFill>
                  <a:srgbClr val="FF0000"/>
                </a:solidFill>
                <a:latin typeface="メイリオ" panose="020B0604030504040204" pitchFamily="50" charset="-128"/>
                <a:ea typeface="メイリオ" panose="020B0604030504040204" pitchFamily="50" charset="-128"/>
              </a:rPr>
              <a:t>乗せる。</a:t>
            </a:r>
            <a:endParaRPr lang="en-US" altLang="ja-JP" sz="1400" dirty="0">
              <a:solidFill>
                <a:srgbClr val="FF0000"/>
              </a:solidFill>
              <a:latin typeface="メイリオ" panose="020B0604030504040204" pitchFamily="50" charset="-128"/>
              <a:ea typeface="メイリオ" panose="020B0604030504040204" pitchFamily="50" charset="-128"/>
            </a:endParaRPr>
          </a:p>
        </p:txBody>
      </p:sp>
      <p:sp>
        <p:nvSpPr>
          <p:cNvPr id="18" name="テキスト ボックス 17">
            <a:extLst>
              <a:ext uri="{FF2B5EF4-FFF2-40B4-BE49-F238E27FC236}">
                <a16:creationId xmlns:a16="http://schemas.microsoft.com/office/drawing/2014/main" id="{F98D4197-216C-A3BE-091A-D32F4A6C7A17}"/>
              </a:ext>
            </a:extLst>
          </p:cNvPr>
          <p:cNvSpPr txBox="1"/>
          <p:nvPr/>
        </p:nvSpPr>
        <p:spPr>
          <a:xfrm>
            <a:off x="5218703" y="5262333"/>
            <a:ext cx="4102384" cy="738664"/>
          </a:xfrm>
          <a:prstGeom prst="rect">
            <a:avLst/>
          </a:prstGeom>
          <a:solidFill>
            <a:schemeClr val="bg1">
              <a:alpha val="60000"/>
            </a:schemeClr>
          </a:solidFill>
        </p:spPr>
        <p:txBody>
          <a:bodyPr wrap="square">
            <a:spAutoFit/>
          </a:bodyPr>
          <a:lstStyle/>
          <a:p>
            <a:pPr algn="ctr"/>
            <a:r>
              <a:rPr lang="ja-JP" altLang="en-US" sz="1400" dirty="0">
                <a:solidFill>
                  <a:srgbClr val="FF0000"/>
                </a:solidFill>
                <a:latin typeface="メイリオ" panose="020B0604030504040204" pitchFamily="50" charset="-128"/>
                <a:ea typeface="メイリオ" panose="020B0604030504040204" pitchFamily="50" charset="-128"/>
              </a:rPr>
              <a:t>成果地点、課金地点には、</a:t>
            </a:r>
            <a:endParaRPr lang="en-US" altLang="ja-JP" sz="1400" dirty="0">
              <a:solidFill>
                <a:srgbClr val="FF0000"/>
              </a:solidFill>
              <a:latin typeface="メイリオ" panose="020B0604030504040204" pitchFamily="50" charset="-128"/>
              <a:ea typeface="メイリオ" panose="020B0604030504040204" pitchFamily="50" charset="-128"/>
            </a:endParaRPr>
          </a:p>
          <a:p>
            <a:pPr algn="ctr"/>
            <a:r>
              <a:rPr lang="en-US" altLang="ja-JP" sz="1400" b="1" dirty="0">
                <a:solidFill>
                  <a:srgbClr val="FF0000"/>
                </a:solidFill>
                <a:latin typeface="メイリオ" panose="020B0604030504040204" pitchFamily="50" charset="-128"/>
                <a:ea typeface="メイリオ" panose="020B0604030504040204" pitchFamily="50" charset="-128"/>
              </a:rPr>
              <a:t>LINE</a:t>
            </a:r>
            <a:r>
              <a:rPr lang="ja-JP" altLang="en-US" sz="1400" b="1" dirty="0">
                <a:solidFill>
                  <a:srgbClr val="FF0000"/>
                </a:solidFill>
                <a:latin typeface="メイリオ" panose="020B0604030504040204" pitchFamily="50" charset="-128"/>
                <a:ea typeface="メイリオ" panose="020B0604030504040204" pitchFamily="50" charset="-128"/>
              </a:rPr>
              <a:t>追加から平均</a:t>
            </a:r>
            <a:r>
              <a:rPr lang="en-US" altLang="ja-JP" sz="1400" b="1" dirty="0">
                <a:solidFill>
                  <a:srgbClr val="FF0000"/>
                </a:solidFill>
                <a:latin typeface="メイリオ" panose="020B0604030504040204" pitchFamily="50" charset="-128"/>
                <a:ea typeface="メイリオ" panose="020B0604030504040204" pitchFamily="50" charset="-128"/>
              </a:rPr>
              <a:t>3%</a:t>
            </a:r>
            <a:r>
              <a:rPr lang="ja-JP" altLang="en-US" sz="1400" b="1" dirty="0">
                <a:solidFill>
                  <a:srgbClr val="FF0000"/>
                </a:solidFill>
                <a:latin typeface="メイリオ" panose="020B0604030504040204" pitchFamily="50" charset="-128"/>
                <a:ea typeface="メイリオ" panose="020B0604030504040204" pitchFamily="50" charset="-128"/>
              </a:rPr>
              <a:t>が到達</a:t>
            </a:r>
            <a:r>
              <a:rPr lang="ja-JP" altLang="en-US" sz="1400" dirty="0">
                <a:solidFill>
                  <a:srgbClr val="FF0000"/>
                </a:solidFill>
                <a:latin typeface="メイリオ" panose="020B0604030504040204" pitchFamily="50" charset="-128"/>
                <a:ea typeface="メイリオ" panose="020B0604030504040204" pitchFamily="50" charset="-128"/>
              </a:rPr>
              <a:t>する。</a:t>
            </a:r>
            <a:endParaRPr lang="en-US" altLang="ja-JP" sz="1400" dirty="0">
              <a:solidFill>
                <a:srgbClr val="FF0000"/>
              </a:solidFill>
              <a:latin typeface="メイリオ" panose="020B0604030504040204" pitchFamily="50" charset="-128"/>
              <a:ea typeface="メイリオ" panose="020B0604030504040204" pitchFamily="50" charset="-128"/>
            </a:endParaRPr>
          </a:p>
          <a:p>
            <a:pPr algn="ctr"/>
            <a:endParaRPr lang="en-US" altLang="ja-JP" sz="1400" dirty="0">
              <a:solidFill>
                <a:srgbClr val="FF0000"/>
              </a:solidFill>
              <a:latin typeface="メイリオ" panose="020B0604030504040204" pitchFamily="50" charset="-128"/>
              <a:ea typeface="メイリオ" panose="020B0604030504040204" pitchFamily="50" charset="-128"/>
            </a:endParaRPr>
          </a:p>
        </p:txBody>
      </p:sp>
      <p:sp>
        <p:nvSpPr>
          <p:cNvPr id="20" name="テキスト ボックス 19">
            <a:extLst>
              <a:ext uri="{FF2B5EF4-FFF2-40B4-BE49-F238E27FC236}">
                <a16:creationId xmlns:a16="http://schemas.microsoft.com/office/drawing/2014/main" id="{87DA217C-F98F-2E58-74CA-39B7014CE382}"/>
              </a:ext>
            </a:extLst>
          </p:cNvPr>
          <p:cNvSpPr txBox="1"/>
          <p:nvPr/>
        </p:nvSpPr>
        <p:spPr>
          <a:xfrm>
            <a:off x="5574695" y="5724686"/>
            <a:ext cx="3390400" cy="230832"/>
          </a:xfrm>
          <a:prstGeom prst="rect">
            <a:avLst/>
          </a:prstGeom>
          <a:noFill/>
        </p:spPr>
        <p:txBody>
          <a:bodyPr wrap="square">
            <a:spAutoFit/>
          </a:bodyPr>
          <a:lstStyle/>
          <a:p>
            <a:pPr algn="ctr"/>
            <a:r>
              <a:rPr lang="ja-JP" altLang="en-US" sz="900" dirty="0">
                <a:solidFill>
                  <a:srgbClr val="FF0000"/>
                </a:solidFill>
                <a:latin typeface="メイリオ" panose="020B0604030504040204" pitchFamily="50" charset="-128"/>
                <a:ea typeface="メイリオ" panose="020B0604030504040204" pitchFamily="50" charset="-128"/>
              </a:rPr>
              <a:t>友だち追加動線により変動します。</a:t>
            </a:r>
            <a:endParaRPr lang="ja-JP" altLang="en-US" sz="1050" dirty="0"/>
          </a:p>
        </p:txBody>
      </p:sp>
    </p:spTree>
    <p:extLst>
      <p:ext uri="{BB962C8B-B14F-4D97-AF65-F5344CB8AC3E}">
        <p14:creationId xmlns:p14="http://schemas.microsoft.com/office/powerpoint/2010/main" val="18190597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 name="直線コネクタ 4"/>
          <p:cNvCxnSpPr/>
          <p:nvPr/>
        </p:nvCxnSpPr>
        <p:spPr>
          <a:xfrm>
            <a:off x="0" y="548640"/>
            <a:ext cx="9906120" cy="360"/>
          </a:xfrm>
          <a:prstGeom prst="straightConnector1">
            <a:avLst/>
          </a:prstGeom>
          <a:ln>
            <a:solidFill>
              <a:srgbClr val="191F54"/>
            </a:solidFill>
            <a:round/>
          </a:ln>
        </p:spPr>
      </p:cxnSp>
      <p:sp>
        <p:nvSpPr>
          <p:cNvPr id="6" name="正方形/長方形 6"/>
          <p:cNvSpPr/>
          <p:nvPr/>
        </p:nvSpPr>
        <p:spPr>
          <a:xfrm>
            <a:off x="0" y="0"/>
            <a:ext cx="450720" cy="548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4" name="Google Shape;752;p28">
            <a:extLst>
              <a:ext uri="{FF2B5EF4-FFF2-40B4-BE49-F238E27FC236}">
                <a16:creationId xmlns:a16="http://schemas.microsoft.com/office/drawing/2014/main" id="{E371F4F6-3F93-7830-595E-799AA69EA971}"/>
              </a:ext>
            </a:extLst>
          </p:cNvPr>
          <p:cNvSpPr txBox="1"/>
          <p:nvPr/>
        </p:nvSpPr>
        <p:spPr>
          <a:xfrm>
            <a:off x="549000" y="138240"/>
            <a:ext cx="6276325" cy="338040"/>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実例紹介 </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弊社実績について</a:t>
            </a:r>
          </a:p>
        </p:txBody>
      </p:sp>
      <p:graphicFrame>
        <p:nvGraphicFramePr>
          <p:cNvPr id="3" name="表 2">
            <a:extLst>
              <a:ext uri="{FF2B5EF4-FFF2-40B4-BE49-F238E27FC236}">
                <a16:creationId xmlns:a16="http://schemas.microsoft.com/office/drawing/2014/main" id="{9A6B81D2-7F85-D98D-ED15-FD61A8068EF9}"/>
              </a:ext>
            </a:extLst>
          </p:cNvPr>
          <p:cNvGraphicFramePr>
            <a:graphicFrameLocks noGrp="1"/>
          </p:cNvGraphicFramePr>
          <p:nvPr/>
        </p:nvGraphicFramePr>
        <p:xfrm>
          <a:off x="381000" y="809625"/>
          <a:ext cx="9191625" cy="5485142"/>
        </p:xfrm>
        <a:graphic>
          <a:graphicData uri="http://schemas.openxmlformats.org/drawingml/2006/table">
            <a:tbl>
              <a:tblPr/>
              <a:tblGrid>
                <a:gridCol w="1819275">
                  <a:extLst>
                    <a:ext uri="{9D8B030D-6E8A-4147-A177-3AD203B41FA5}">
                      <a16:colId xmlns:a16="http://schemas.microsoft.com/office/drawing/2014/main" val="1856077232"/>
                    </a:ext>
                  </a:extLst>
                </a:gridCol>
                <a:gridCol w="828675">
                  <a:extLst>
                    <a:ext uri="{9D8B030D-6E8A-4147-A177-3AD203B41FA5}">
                      <a16:colId xmlns:a16="http://schemas.microsoft.com/office/drawing/2014/main" val="2505763101"/>
                    </a:ext>
                  </a:extLst>
                </a:gridCol>
                <a:gridCol w="2856379">
                  <a:extLst>
                    <a:ext uri="{9D8B030D-6E8A-4147-A177-3AD203B41FA5}">
                      <a16:colId xmlns:a16="http://schemas.microsoft.com/office/drawing/2014/main" val="415261329"/>
                    </a:ext>
                  </a:extLst>
                </a:gridCol>
                <a:gridCol w="3687296">
                  <a:extLst>
                    <a:ext uri="{9D8B030D-6E8A-4147-A177-3AD203B41FA5}">
                      <a16:colId xmlns:a16="http://schemas.microsoft.com/office/drawing/2014/main" val="2991975434"/>
                    </a:ext>
                  </a:extLst>
                </a:gridCol>
              </a:tblGrid>
              <a:tr h="371475">
                <a:tc>
                  <a:txBody>
                    <a:bodyPr/>
                    <a:lstStyle/>
                    <a:p>
                      <a:pPr algn="ctr" fontAlgn="ctr">
                        <a:buNone/>
                      </a:pPr>
                      <a:r>
                        <a:rPr lang="ja-JP" altLang="en-US" sz="1400" b="1" i="0" u="none" strike="noStrike" dirty="0">
                          <a:solidFill>
                            <a:schemeClr val="bg1"/>
                          </a:solidFill>
                          <a:effectLst/>
                          <a:latin typeface="メイリオ" panose="020B0604030504040204" pitchFamily="50" charset="-128"/>
                          <a:ea typeface="メイリオ" panose="020B0604030504040204" pitchFamily="50" charset="-128"/>
                        </a:rPr>
                        <a:t>業界</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191F54"/>
                    </a:solidFill>
                  </a:tcPr>
                </a:tc>
                <a:tc>
                  <a:txBody>
                    <a:bodyPr/>
                    <a:lstStyle/>
                    <a:p>
                      <a:pPr algn="ctr" fontAlgn="ctr">
                        <a:buNone/>
                      </a:pPr>
                      <a:r>
                        <a:rPr lang="ja-JP" altLang="en-US" sz="1400" b="1" i="0" u="none" strike="noStrike" dirty="0">
                          <a:solidFill>
                            <a:schemeClr val="bg1"/>
                          </a:solidFill>
                          <a:effectLst/>
                          <a:latin typeface="メイリオ" panose="020B0604030504040204" pitchFamily="50" charset="-128"/>
                          <a:ea typeface="メイリオ" panose="020B0604030504040204" pitchFamily="50" charset="-128"/>
                        </a:rPr>
                        <a:t>運用期間</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191F54"/>
                    </a:solidFill>
                  </a:tcPr>
                </a:tc>
                <a:tc>
                  <a:txBody>
                    <a:bodyPr/>
                    <a:lstStyle/>
                    <a:p>
                      <a:pPr algn="ctr" fontAlgn="ctr">
                        <a:buNone/>
                      </a:pPr>
                      <a:r>
                        <a:rPr lang="ja-JP" altLang="en-US" sz="1400" b="1" i="0" u="none" strike="noStrike" dirty="0">
                          <a:solidFill>
                            <a:schemeClr val="bg1"/>
                          </a:solidFill>
                          <a:effectLst/>
                          <a:latin typeface="メイリオ" panose="020B0604030504040204" pitchFamily="50" charset="-128"/>
                          <a:ea typeface="メイリオ" panose="020B0604030504040204" pitchFamily="50" charset="-128"/>
                        </a:rPr>
                        <a:t>施策インパクト</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191F54"/>
                    </a:solidFill>
                  </a:tcPr>
                </a:tc>
                <a:tc>
                  <a:txBody>
                    <a:bodyPr/>
                    <a:lstStyle/>
                    <a:p>
                      <a:pPr algn="ctr" fontAlgn="ctr">
                        <a:buNone/>
                      </a:pPr>
                      <a:r>
                        <a:rPr lang="ja-JP" altLang="en-US" sz="1400" b="1" i="0" u="none" strike="noStrike" dirty="0">
                          <a:solidFill>
                            <a:schemeClr val="bg1"/>
                          </a:solidFill>
                          <a:effectLst/>
                          <a:latin typeface="メイリオ" panose="020B0604030504040204" pitchFamily="50" charset="-128"/>
                          <a:ea typeface="メイリオ" panose="020B0604030504040204" pitchFamily="50" charset="-128"/>
                        </a:rPr>
                        <a:t>施策内容</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191F54"/>
                    </a:solidFill>
                  </a:tcPr>
                </a:tc>
                <a:extLst>
                  <a:ext uri="{0D108BD9-81ED-4DB2-BD59-A6C34878D82A}">
                    <a16:rowId xmlns:a16="http://schemas.microsoft.com/office/drawing/2014/main" val="369463423"/>
                  </a:ext>
                </a:extLst>
              </a:tr>
              <a:tr h="1028103">
                <a:tc>
                  <a:txBody>
                    <a:bodyPr/>
                    <a:lstStyle/>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人材</a:t>
                      </a:r>
                      <a:endParaRPr lang="en-US" altLang="ja-JP" sz="1200" b="1" i="0" u="none" strike="noStrike" dirty="0">
                        <a:solidFill>
                          <a:srgbClr val="191F54"/>
                        </a:solidFill>
                        <a:effectLst/>
                        <a:latin typeface="メイリオ" panose="020B0604030504040204" pitchFamily="50" charset="-128"/>
                        <a:ea typeface="メイリオ" panose="020B0604030504040204" pitchFamily="50" charset="-128"/>
                      </a:endParaRPr>
                    </a:p>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（資格職・専門職転職）</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lumMod val="20000"/>
                        <a:lumOff val="80000"/>
                      </a:schemeClr>
                    </a:solidFill>
                  </a:tcPr>
                </a:tc>
                <a:tc>
                  <a:txBody>
                    <a:bodyPr/>
                    <a:lstStyle/>
                    <a:p>
                      <a:pPr algn="ctr" fontAlgn="ctr">
                        <a:buNone/>
                      </a:pPr>
                      <a:r>
                        <a:rPr lang="en-US" altLang="ja-JP"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8</a:t>
                      </a:r>
                      <a:r>
                        <a:rPr lang="ja-JP" altLang="en-US"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ヶ月</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lnSpc>
                          <a:spcPct val="100000"/>
                        </a:lnSpc>
                        <a:buNone/>
                      </a:pP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■月間求人応募数</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b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2</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倍</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2</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 4</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a:t>
                      </a:r>
                      <a:br>
                        <a:rPr lang="en-US" altLang="ja-JP" sz="18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CPA</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換算</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30</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％改善</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¥145,000 → ¥102,000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endPar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・アンケートによる</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ユーザーセグメントの取得</a:t>
                      </a:r>
                      <a:br>
                        <a:rPr lang="en-US" altLang="ja-JP" sz="1200" b="1" i="0" u="sng" strike="noStrike" dirty="0">
                          <a:solidFill>
                            <a:srgbClr val="C00000"/>
                          </a:solidFill>
                          <a:effectLst/>
                          <a:latin typeface="メイリオ" panose="020B0604030504040204" pitchFamily="50" charset="-128"/>
                          <a:ea typeface="メイリオ" panose="020B0604030504040204" pitchFamily="50" charset="-128"/>
                        </a:rPr>
                      </a:br>
                      <a:r>
                        <a:rPr lang="ja-JP" altLang="en-US" sz="400" b="1" i="0" u="sng" strike="noStrike" dirty="0">
                          <a:solidFill>
                            <a:srgbClr val="C00000"/>
                          </a:solidFill>
                          <a:effectLst/>
                          <a:latin typeface="メイリオ" panose="020B0604030504040204" pitchFamily="50" charset="-128"/>
                          <a:ea typeface="メイリオ" panose="020B0604030504040204" pitchFamily="50" charset="-128"/>
                        </a:rPr>
                        <a:t>　</a:t>
                      </a:r>
                      <a:b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・セグメント配信による</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パーソナライズされた追客</a:t>
                      </a:r>
                      <a:endParaRPr lang="ja-JP" altLang="en-US" sz="1100" b="1" i="0" u="sng" strike="noStrike" dirty="0">
                        <a:solidFill>
                          <a:srgbClr val="C00000"/>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534378025"/>
                  </a:ext>
                </a:extLst>
              </a:tr>
              <a:tr h="1021391">
                <a:tc>
                  <a:txBody>
                    <a:bodyPr/>
                    <a:lstStyle/>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不動産</a:t>
                      </a:r>
                      <a:endParaRPr lang="en-US" altLang="ja-JP" sz="1200" b="1" i="0" u="none" strike="noStrike" dirty="0">
                        <a:solidFill>
                          <a:srgbClr val="191F54"/>
                        </a:solidFill>
                        <a:effectLst/>
                        <a:latin typeface="メイリオ" panose="020B0604030504040204" pitchFamily="50" charset="-128"/>
                        <a:ea typeface="メイリオ" panose="020B0604030504040204" pitchFamily="50" charset="-128"/>
                      </a:endParaRPr>
                    </a:p>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（住宅メーカー）</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lumMod val="20000"/>
                        <a:lumOff val="80000"/>
                      </a:schemeClr>
                    </a:solidFill>
                  </a:tcPr>
                </a:tc>
                <a:tc>
                  <a:txBody>
                    <a:bodyPr/>
                    <a:lstStyle/>
                    <a:p>
                      <a:pPr algn="ctr" fontAlgn="ctr">
                        <a:buNone/>
                      </a:pPr>
                      <a:r>
                        <a:rPr lang="en-US" altLang="ja-JP"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10</a:t>
                      </a:r>
                      <a:r>
                        <a:rPr lang="ja-JP" altLang="en-US"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ヶ月</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lnSpc>
                          <a:spcPct val="100000"/>
                        </a:lnSpc>
                        <a:buNone/>
                      </a:pP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■月間来場・資料請求件数</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endParaRPr lang="en-US" altLang="ja-JP"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12</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倍</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 → </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60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a:t>
                      </a:r>
                      <a:endPar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CPA</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換算</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92</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％改善</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¥150,000 → ¥12,500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endPar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離脱防止バナー</a:t>
                      </a: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による友だち増加促進</a:t>
                      </a:r>
                      <a:br>
                        <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ペルソナに合わせた動線・クリエイティブ</a:t>
                      </a: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の設計</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409117311"/>
                  </a:ext>
                </a:extLst>
              </a:tr>
              <a:tr h="1021391">
                <a:tc>
                  <a:txBody>
                    <a:bodyPr/>
                    <a:lstStyle/>
                    <a:p>
                      <a:pPr algn="ctr" fontAlgn="ctr">
                        <a:buNone/>
                      </a:pPr>
                      <a:r>
                        <a:rPr lang="en-US" sz="1200" b="1" i="0" u="none" strike="noStrike" dirty="0">
                          <a:solidFill>
                            <a:srgbClr val="191F54"/>
                          </a:solidFill>
                          <a:effectLst/>
                          <a:latin typeface="メイリオ" panose="020B0604030504040204" pitchFamily="50" charset="-128"/>
                          <a:ea typeface="メイリオ" panose="020B0604030504040204" pitchFamily="50" charset="-128"/>
                        </a:rPr>
                        <a:t>EC</a:t>
                      </a:r>
                    </a:p>
                    <a:p>
                      <a:pPr algn="ctr" fontAlgn="ctr">
                        <a:buNone/>
                      </a:pPr>
                      <a:r>
                        <a:rPr lang="en-US" sz="1200" b="1" i="0" u="none" strike="noStrike" dirty="0">
                          <a:solidFill>
                            <a:srgbClr val="191F54"/>
                          </a:solidFill>
                          <a:effectLst/>
                          <a:latin typeface="メイリオ" panose="020B0604030504040204" pitchFamily="50" charset="-128"/>
                          <a:ea typeface="メイリオ" panose="020B0604030504040204" pitchFamily="50" charset="-128"/>
                        </a:rPr>
                        <a:t>（</a:t>
                      </a: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総合</a:t>
                      </a:r>
                      <a:r>
                        <a:rPr lang="en-US" sz="1200" b="1" i="0" u="none" strike="noStrike" dirty="0">
                          <a:solidFill>
                            <a:srgbClr val="191F54"/>
                          </a:solidFill>
                          <a:effectLst/>
                          <a:latin typeface="メイリオ" panose="020B0604030504040204" pitchFamily="50" charset="-128"/>
                          <a:ea typeface="メイリオ" panose="020B0604030504040204" pitchFamily="50" charset="-128"/>
                        </a:rPr>
                        <a:t>EC）</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lumMod val="20000"/>
                        <a:lumOff val="80000"/>
                      </a:schemeClr>
                    </a:solidFill>
                  </a:tcPr>
                </a:tc>
                <a:tc>
                  <a:txBody>
                    <a:bodyPr/>
                    <a:lstStyle/>
                    <a:p>
                      <a:pPr algn="ctr" fontAlgn="ctr">
                        <a:buNone/>
                      </a:pPr>
                      <a:r>
                        <a:rPr lang="en-US" altLang="ja-JP"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a:t>
                      </a:r>
                      <a:r>
                        <a:rPr lang="ja-JP" altLang="en-US"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年</a:t>
                      </a:r>
                      <a:r>
                        <a:rPr lang="en-US" altLang="ja-JP"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8</a:t>
                      </a:r>
                      <a:r>
                        <a:rPr lang="ja-JP" altLang="en-US"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ヶ月</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lnSpc>
                          <a:spcPct val="100000"/>
                        </a:lnSpc>
                        <a:buNone/>
                      </a:pP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■月間</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CV</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件数</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endParaRPr lang="en-US" altLang="ja-JP"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4.3</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倍</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120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 → </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520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a:t>
                      </a:r>
                      <a:endPar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ROAS</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換算</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92</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％改善</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¥150,000 → ¥12,500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endPar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離脱防止バナーと</a:t>
                      </a:r>
                      <a:r>
                        <a:rPr lang="en-US" altLang="ja-JP" sz="1200" b="1" i="0" u="sng" strike="noStrike" dirty="0">
                          <a:solidFill>
                            <a:srgbClr val="C00000"/>
                          </a:solidFill>
                          <a:effectLst/>
                          <a:latin typeface="メイリオ" panose="020B0604030504040204" pitchFamily="50" charset="-128"/>
                          <a:ea typeface="メイリオ" panose="020B0604030504040204" pitchFamily="50" charset="-128"/>
                        </a:rPr>
                        <a:t>CPF</a:t>
                      </a: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を活用した友だち増加</a:t>
                      </a:r>
                      <a:br>
                        <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・アンケートを実施し、</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カゴ落ちユーザーを中心に</a:t>
                      </a:r>
                      <a:b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br>
                      <a:r>
                        <a:rPr lang="ja-JP" altLang="en-US" sz="1200" b="0" i="0" u="none" strike="noStrike" dirty="0">
                          <a:solidFill>
                            <a:srgbClr val="C00000"/>
                          </a:solidFill>
                          <a:effectLst/>
                          <a:latin typeface="メイリオ" panose="020B0604030504040204" pitchFamily="50" charset="-128"/>
                          <a:ea typeface="メイリオ" panose="020B0604030504040204" pitchFamily="50" charset="-128"/>
                        </a:rPr>
                        <a:t>　</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期間限定商品・高単価商品の情報を配信</a:t>
                      </a:r>
                      <a:endParaRPr lang="ja-JP" altLang="en-US" sz="1100" b="1" i="0" u="sng" strike="noStrike" dirty="0">
                        <a:solidFill>
                          <a:srgbClr val="C00000"/>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603009258"/>
                  </a:ext>
                </a:extLst>
              </a:tr>
              <a:tr h="1021391">
                <a:tc>
                  <a:txBody>
                    <a:bodyPr/>
                    <a:lstStyle/>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美容クリニック</a:t>
                      </a:r>
                      <a:endParaRPr lang="en-US" altLang="ja-JP" sz="1200" b="1" i="0" u="none" strike="noStrike" dirty="0">
                        <a:solidFill>
                          <a:srgbClr val="191F54"/>
                        </a:solidFill>
                        <a:effectLst/>
                        <a:latin typeface="メイリオ" panose="020B0604030504040204" pitchFamily="50" charset="-128"/>
                        <a:ea typeface="メイリオ" panose="020B0604030504040204" pitchFamily="50" charset="-128"/>
                      </a:endParaRPr>
                    </a:p>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（美肌治療）</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lumMod val="20000"/>
                        <a:lumOff val="80000"/>
                      </a:schemeClr>
                    </a:solidFill>
                  </a:tcPr>
                </a:tc>
                <a:tc>
                  <a:txBody>
                    <a:bodyPr/>
                    <a:lstStyle/>
                    <a:p>
                      <a:pPr algn="ctr" fontAlgn="ctr">
                        <a:buNone/>
                      </a:pPr>
                      <a:r>
                        <a:rPr lang="en-US" altLang="ja-JP"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a:t>
                      </a:r>
                      <a:r>
                        <a:rPr lang="ja-JP" altLang="en-US" sz="1100" b="1" i="0" u="none" strike="noStrike">
                          <a:solidFill>
                            <a:schemeClr val="tx1">
                              <a:lumMod val="65000"/>
                              <a:lumOff val="35000"/>
                            </a:schemeClr>
                          </a:solidFill>
                          <a:effectLst/>
                          <a:latin typeface="メイリオ" panose="020B0604030504040204" pitchFamily="50" charset="-128"/>
                          <a:ea typeface="メイリオ" panose="020B0604030504040204" pitchFamily="50" charset="-128"/>
                        </a:rPr>
                        <a:t>年</a:t>
                      </a:r>
                      <a:endParaRPr lang="ja-JP" altLang="en-US"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lnSpc>
                          <a:spcPct val="100000"/>
                        </a:lnSpc>
                        <a:buNone/>
                      </a:pP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■月間</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CV</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件数</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endParaRPr lang="en-US" altLang="ja-JP"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4</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倍</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15</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 → </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60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a:t>
                      </a:r>
                      <a:endPar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ROAS</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換算</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63</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％改善</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¥32,000 → ¥12,000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endPar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ビフォーアフターがわかるクリエイティブ</a:t>
                      </a: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を配信</a:t>
                      </a:r>
                      <a:br>
                        <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個別メッセージを利用したユーザー個々への追客</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665115858"/>
                  </a:ext>
                </a:extLst>
              </a:tr>
              <a:tr h="1021391">
                <a:tc>
                  <a:txBody>
                    <a:bodyPr/>
                    <a:lstStyle/>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美容クリニック</a:t>
                      </a:r>
                      <a:endParaRPr lang="en-US" altLang="ja-JP" sz="1200" b="1" i="0" u="none" strike="noStrike" dirty="0">
                        <a:solidFill>
                          <a:srgbClr val="191F54"/>
                        </a:solidFill>
                        <a:effectLst/>
                        <a:latin typeface="メイリオ" panose="020B0604030504040204" pitchFamily="50" charset="-128"/>
                        <a:ea typeface="メイリオ" panose="020B0604030504040204" pitchFamily="50" charset="-128"/>
                      </a:endParaRPr>
                    </a:p>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（痩身）</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lumMod val="20000"/>
                        <a:lumOff val="80000"/>
                      </a:schemeClr>
                    </a:solidFill>
                  </a:tcPr>
                </a:tc>
                <a:tc>
                  <a:txBody>
                    <a:bodyPr/>
                    <a:lstStyle/>
                    <a:p>
                      <a:pPr algn="ctr" fontAlgn="ctr">
                        <a:buNone/>
                      </a:pPr>
                      <a:r>
                        <a:rPr lang="en-US" altLang="ja-JP"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3</a:t>
                      </a:r>
                      <a:r>
                        <a:rPr lang="ja-JP" altLang="en-US"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年</a:t>
                      </a:r>
                      <a:r>
                        <a:rPr lang="en-US" altLang="ja-JP"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4</a:t>
                      </a:r>
                      <a:r>
                        <a:rPr lang="ja-JP" altLang="en-US"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ヶ月</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lnSpc>
                          <a:spcPct val="100000"/>
                        </a:lnSpc>
                        <a:buNone/>
                      </a:pP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■月間</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CV</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件数</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endParaRPr lang="en-US" altLang="ja-JP"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ja-JP" altLang="en-US" sz="1100" b="1" i="0" u="none" strike="noStrike" dirty="0">
                          <a:solidFill>
                            <a:srgbClr val="C00000"/>
                          </a:solidFill>
                          <a:effectLst/>
                          <a:latin typeface="メイリオ" panose="020B0604030504040204" pitchFamily="50" charset="-128"/>
                          <a:ea typeface="メイリオ" panose="020B0604030504040204" pitchFamily="50" charset="-128"/>
                        </a:rPr>
                        <a:t>開設から</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45</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件</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N/A</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 </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45</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a:t>
                      </a:r>
                      <a:endPar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CPA</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換算</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ja-JP" altLang="en-US" sz="1100" b="1" i="0" u="none" strike="noStrike" dirty="0">
                          <a:solidFill>
                            <a:srgbClr val="C00000"/>
                          </a:solidFill>
                          <a:effectLst/>
                          <a:latin typeface="メイリオ" panose="020B0604030504040204" pitchFamily="50" charset="-128"/>
                          <a:ea typeface="メイリオ" panose="020B0604030504040204" pitchFamily="50" charset="-128"/>
                        </a:rPr>
                        <a:t>開設から</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1</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万円台</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N/A → ¥10,700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endPar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ビフォーアフターがわかるクリエイティブ</a:t>
                      </a: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を配信</a:t>
                      </a:r>
                      <a:br>
                        <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・アンケート動線を設定し、</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悩み別のシナリオを用意</a:t>
                      </a:r>
                      <a:endParaRPr lang="ja-JP" altLang="en-US" sz="1100" b="1" i="0" u="sng" strike="noStrike" dirty="0">
                        <a:solidFill>
                          <a:srgbClr val="C00000"/>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147929865"/>
                  </a:ext>
                </a:extLst>
              </a:tr>
            </a:tbl>
          </a:graphicData>
        </a:graphic>
      </p:graphicFrame>
    </p:spTree>
    <p:extLst>
      <p:ext uri="{BB962C8B-B14F-4D97-AF65-F5344CB8AC3E}">
        <p14:creationId xmlns:p14="http://schemas.microsoft.com/office/powerpoint/2010/main" val="162416957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提案の流れ</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資料請求</a:t>
            </a:r>
            <a:r>
              <a:rPr lang="ja-JP" altLang="en-US" sz="1400" b="1" dirty="0">
                <a:latin typeface="メイリオ" panose="020B0604030504040204" pitchFamily="50" charset="-128"/>
                <a:ea typeface="メイリオ" panose="020B0604030504040204" pitchFamily="50" charset="-128"/>
              </a:rPr>
              <a:t>以前</a:t>
            </a:r>
            <a:r>
              <a:rPr lang="ja-JP" sz="1400" b="1" u="none" strike="noStrike" dirty="0">
                <a:effectLst/>
                <a:uFillTx/>
                <a:latin typeface="メイリオ" panose="020B0604030504040204" pitchFamily="50" charset="-128"/>
                <a:ea typeface="メイリオ" panose="020B0604030504040204" pitchFamily="50" charset="-128"/>
              </a:rPr>
              <a:t>からLINEでつながり、来場・契約まで案内する。</a:t>
            </a:r>
            <a:endParaRPr lang="en-US" sz="1400" b="1" u="none" strike="noStrike" dirty="0">
              <a:effectLst/>
              <a:uFillTx/>
              <a:latin typeface="メイリオ"/>
            </a:endParaRPr>
          </a:p>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青森店で確立し、他店舗へ広げることも見据える</a:t>
            </a:r>
            <a:endParaRPr lang="en-US" sz="1400" b="1" u="none" strike="noStrike" dirty="0">
              <a:effectLst/>
              <a:uFillTx/>
              <a:latin typeface="メイリオ"/>
            </a:endParaRPr>
          </a:p>
        </p:txBody>
      </p:sp>
      <p:graphicFrame>
        <p:nvGraphicFramePr>
          <p:cNvPr id="7" name="提案の流れ 6"/>
          <p:cNvGraphicFramePr>
            <a:graphicFrameLocks noGrp="1"/>
          </p:cNvGraphicFramePr>
          <p:nvPr>
            <p:extLst>
              <p:ext uri="{D42A27DB-BD31-4B8C-83A1-F6EECF244321}">
                <p14:modId xmlns:p14="http://schemas.microsoft.com/office/powerpoint/2010/main" val="3956596197"/>
              </p:ext>
            </p:extLst>
          </p:nvPr>
        </p:nvGraphicFramePr>
        <p:xfrm>
          <a:off x="502920" y="1691640"/>
          <a:ext cx="8897112" cy="2852928"/>
        </p:xfrm>
        <a:graphic>
          <a:graphicData uri="http://schemas.openxmlformats.org/drawingml/2006/table">
            <a:tbl>
              <a:tblPr/>
              <a:tblGrid>
                <a:gridCol w="1920240">
                  <a:extLst>
                    <a:ext uri="{9D8B030D-6E8A-4147-A177-3AD203B41FA5}">
                      <a16:colId xmlns:a16="http://schemas.microsoft.com/office/drawing/2014/main" val="20000"/>
                    </a:ext>
                  </a:extLst>
                </a:gridCol>
                <a:gridCol w="6976872">
                  <a:extLst>
                    <a:ext uri="{9D8B030D-6E8A-4147-A177-3AD203B41FA5}">
                      <a16:colId xmlns:a16="http://schemas.microsoft.com/office/drawing/2014/main" val="20001"/>
                    </a:ext>
                  </a:extLst>
                </a:gridCol>
              </a:tblGrid>
              <a:tr h="713232">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1. 現状と打ち手</a:t>
                      </a:r>
                      <a:endParaRPr lang="ja-JP" altLang="en-US" sz="14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rPr>
                        <a:t>来場予約は目標50〜60件に対し35〜40件。広告とSEOで質の高い見込み客を集める。</a:t>
                      </a:r>
                      <a:endParaRPr lang="en-US" altLang="ja-JP" sz="13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300" b="0" dirty="0">
                          <a:solidFill>
                            <a:srgbClr val="333333"/>
                          </a:solidFill>
                          <a:latin typeface="メイリオ" panose="020B0604030504040204" pitchFamily="50" charset="-128"/>
                          <a:ea typeface="メイリオ" panose="020B0604030504040204" pitchFamily="50" charset="-128"/>
                        </a:rPr>
                        <a:t>LINEは来場予約のご案内が中心</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713232">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2. 課題</a:t>
                      </a:r>
                      <a:endParaRPr lang="ja-JP" altLang="en-US" sz="14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rPr>
                        <a:t>来場を決める前の検討中の方と、LINEでつながれていない。</a:t>
                      </a:r>
                      <a:endParaRPr lang="en-US" altLang="ja-JP" sz="13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300" b="0" dirty="0">
                          <a:solidFill>
                            <a:srgbClr val="333333"/>
                          </a:solidFill>
                          <a:latin typeface="メイリオ" panose="020B0604030504040204" pitchFamily="50" charset="-128"/>
                          <a:ea typeface="メイリオ" panose="020B0604030504040204" pitchFamily="50" charset="-128"/>
                        </a:rPr>
                        <a:t>検討期間の約2週間の接点が、来場を左右する</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13232">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3. 解決策</a:t>
                      </a:r>
                      <a:endParaRPr lang="ja-JP" altLang="en-US" sz="14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rPr>
                        <a:t>資料請求以前から来場・契約までを追う。</a:t>
                      </a:r>
                      <a:endParaRPr lang="en-US" altLang="ja-JP" sz="13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300" b="0" dirty="0">
                          <a:solidFill>
                            <a:srgbClr val="333333"/>
                          </a:solidFill>
                          <a:latin typeface="メイリオ" panose="020B0604030504040204" pitchFamily="50" charset="-128"/>
                          <a:ea typeface="メイリオ" panose="020B0604030504040204" pitchFamily="50" charset="-128"/>
                        </a:rPr>
                        <a:t>前後検索に沿って配信し、来場前日のお知らせでキャンセルも減らす</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13232">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4. 今後の展開</a:t>
                      </a:r>
                      <a:endParaRPr lang="ja-JP" altLang="en-US" sz="14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rPr>
                        <a:t>青森店で型をつくり、全店に広げる</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graphicFrame>
        <p:nvGraphicFramePr>
          <p:cNvPr id="8" name="Appendix 7"/>
          <p:cNvGraphicFramePr>
            <a:graphicFrameLocks noGrp="1"/>
          </p:cNvGraphicFramePr>
          <p:nvPr/>
        </p:nvGraphicFramePr>
        <p:xfrm>
          <a:off x="502920" y="4846320"/>
          <a:ext cx="8897112" cy="457200"/>
        </p:xfrm>
        <a:graphic>
          <a:graphicData uri="http://schemas.openxmlformats.org/drawingml/2006/table">
            <a:tbl>
              <a:tblPr/>
              <a:tblGrid>
                <a:gridCol w="1920240">
                  <a:extLst>
                    <a:ext uri="{9D8B030D-6E8A-4147-A177-3AD203B41FA5}">
                      <a16:colId xmlns:a16="http://schemas.microsoft.com/office/drawing/2014/main" val="20000"/>
                    </a:ext>
                  </a:extLst>
                </a:gridCol>
                <a:gridCol w="6976872">
                  <a:extLst>
                    <a:ext uri="{9D8B030D-6E8A-4147-A177-3AD203B41FA5}">
                      <a16:colId xmlns:a16="http://schemas.microsoft.com/office/drawing/2014/main" val="20001"/>
                    </a:ext>
                  </a:extLst>
                </a:gridCol>
              </a:tblGrid>
              <a:tr h="457200">
                <a:tc>
                  <a:txBody>
                    <a:bodyPr/>
                    <a:lstStyle/>
                    <a:p>
                      <a:pPr algn="ctr">
                        <a:buNone/>
                      </a:pPr>
                      <a:r>
                        <a:rPr lang="ja-JP" altLang="en-US" sz="1250" b="1" dirty="0">
                          <a:solidFill>
                            <a:srgbClr val="7F7F7F"/>
                          </a:solidFill>
                          <a:latin typeface="メイリオ" panose="020B0604030504040204" pitchFamily="50" charset="-128"/>
                          <a:ea typeface="メイリオ" panose="020B0604030504040204" pitchFamily="50" charset="-128"/>
                        </a:rPr>
                        <a:t>Appendix</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c>
                  <a:txBody>
                    <a:bodyPr/>
                    <a:lstStyle/>
                    <a:p>
                      <a:pPr algn="l">
                        <a:buNone/>
                      </a:pPr>
                      <a:r>
                        <a:rPr lang="ja-JP" altLang="en-US" sz="1250" b="0" dirty="0">
                          <a:solidFill>
                            <a:srgbClr val="7F7F7F"/>
                          </a:solidFill>
                          <a:latin typeface="メイリオ" panose="020B0604030504040204" pitchFamily="50" charset="-128"/>
                          <a:ea typeface="メイリオ" panose="020B0604030504040204" pitchFamily="50" charset="-128"/>
                        </a:rPr>
                        <a:t>LINE導入の背景／CRM・API連携／その他の活用機能／提供施策／運用プラン</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Google Shape;752;p28">
            <a:extLst>
              <a:ext uri="{FF2B5EF4-FFF2-40B4-BE49-F238E27FC236}">
                <a16:creationId xmlns:a16="http://schemas.microsoft.com/office/drawing/2014/main" id="{88CD823C-3E61-5E93-B9FE-BD623737FC13}"/>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02</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403775D4-CF2D-3023-3056-9E596BBE8648}"/>
              </a:ext>
            </a:extLst>
          </p:cNvPr>
          <p:cNvSpPr txBox="1"/>
          <p:nvPr/>
        </p:nvSpPr>
        <p:spPr>
          <a:xfrm>
            <a:off x="1867143" y="1043132"/>
            <a:ext cx="5028957"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現状と打ち手</a:t>
            </a:r>
          </a:p>
        </p:txBody>
      </p:sp>
      <p:cxnSp>
        <p:nvCxnSpPr>
          <p:cNvPr id="17" name="直線コネクタ 16">
            <a:extLst>
              <a:ext uri="{FF2B5EF4-FFF2-40B4-BE49-F238E27FC236}">
                <a16:creationId xmlns:a16="http://schemas.microsoft.com/office/drawing/2014/main" id="{24E0D700-8F0C-AA59-0C53-7B51F6E65BAA}"/>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現状と打ち手：広告改善とSEOで、質の高い流入を確保する</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青森店の来場</a:t>
            </a:r>
            <a:r>
              <a:rPr lang="ja-JP" altLang="en-US" sz="1400" b="1" u="none" strike="noStrike" dirty="0">
                <a:effectLst/>
                <a:uFillTx/>
                <a:latin typeface="メイリオ" panose="020B0604030504040204" pitchFamily="50" charset="-128"/>
                <a:ea typeface="メイリオ" panose="020B0604030504040204" pitchFamily="50" charset="-128"/>
              </a:rPr>
              <a:t>が</a:t>
            </a:r>
            <a:r>
              <a:rPr lang="ja-JP" sz="1400" b="1" u="none" strike="noStrike" dirty="0">
                <a:effectLst/>
                <a:uFillTx/>
                <a:latin typeface="メイリオ" panose="020B0604030504040204" pitchFamily="50" charset="-128"/>
                <a:ea typeface="メイリオ" panose="020B0604030504040204" pitchFamily="50" charset="-128"/>
              </a:rPr>
              <a:t>目標に届いていない。集客フェーズは、広告の改善とSEOで立て直す</a:t>
            </a:r>
            <a:endParaRPr lang="en-US" altLang="ja-JP" sz="1400" b="1" u="none" strike="noStrike" dirty="0">
              <a:effectLst/>
              <a:uFillTx/>
              <a:latin typeface="メイリオ" panose="020B0604030504040204" pitchFamily="50" charset="-128"/>
              <a:ea typeface="メイリオ" panose="020B0604030504040204" pitchFamily="50" charset="-128"/>
            </a:endParaRPr>
          </a:p>
          <a:p>
            <a:pPr algn="ctr" defTabSz="914400">
              <a:lnSpc>
                <a:spcPct val="100000"/>
              </a:lnSpc>
            </a:pPr>
            <a:r>
              <a:rPr lang="ja-JP" altLang="en-US" sz="1400" b="1" dirty="0">
                <a:latin typeface="メイリオ" panose="020B0604030504040204" pitchFamily="50" charset="-128"/>
                <a:ea typeface="メイリオ" panose="020B0604030504040204" pitchFamily="50" charset="-128"/>
              </a:rPr>
              <a:t>⇒見込み客は</a:t>
            </a:r>
            <a:r>
              <a:rPr lang="en-US" altLang="ja-JP" sz="1400" b="1" dirty="0">
                <a:latin typeface="メイリオ" panose="020B0604030504040204" pitchFamily="50" charset="-128"/>
                <a:ea typeface="メイリオ" panose="020B0604030504040204" pitchFamily="50" charset="-128"/>
              </a:rPr>
              <a:t>LINE</a:t>
            </a:r>
            <a:r>
              <a:rPr lang="ja-JP" altLang="en-US" sz="1400" b="1" dirty="0">
                <a:latin typeface="メイリオ" panose="020B0604030504040204" pitchFamily="50" charset="-128"/>
                <a:ea typeface="メイリオ" panose="020B0604030504040204" pitchFamily="50" charset="-128"/>
              </a:rPr>
              <a:t>でナーチャリングする</a:t>
            </a:r>
            <a:endParaRPr lang="en-US" sz="1400" b="1" u="none" strike="noStrike" dirty="0">
              <a:effectLst/>
              <a:uFillTx/>
              <a:latin typeface="メイリオ"/>
            </a:endParaRPr>
          </a:p>
        </p:txBody>
      </p:sp>
      <p:sp>
        <p:nvSpPr>
          <p:cNvPr id="7" name="見出し 青森店の現在地"/>
          <p:cNvSpPr/>
          <p:nvPr/>
        </p:nvSpPr>
        <p:spPr>
          <a:xfrm>
            <a:off x="435836" y="1857894"/>
            <a:ext cx="4343400"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青森店の現在地</a:t>
            </a:r>
            <a:endParaRPr lang="ja-JP" altLang="en-US" sz="1300" dirty="0"/>
          </a:p>
        </p:txBody>
      </p:sp>
      <p:sp>
        <p:nvSpPr>
          <p:cNvPr id="9" name="見出し 集客フェーズの打ち手"/>
          <p:cNvSpPr/>
          <p:nvPr/>
        </p:nvSpPr>
        <p:spPr>
          <a:xfrm>
            <a:off x="5007836" y="1857894"/>
            <a:ext cx="4325112"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集客フェーズの打ち手</a:t>
            </a:r>
            <a:endParaRPr lang="ja-JP" altLang="en-US" sz="1300" dirty="0"/>
          </a:p>
        </p:txBody>
      </p:sp>
      <p:sp>
        <p:nvSpPr>
          <p:cNvPr id="10" name="打ち手1"/>
          <p:cNvSpPr/>
          <p:nvPr/>
        </p:nvSpPr>
        <p:spPr>
          <a:xfrm>
            <a:off x="5007836" y="2269374"/>
            <a:ext cx="4325112" cy="960120"/>
          </a:xfrm>
          <a:prstGeom prst="rect">
            <a:avLst/>
          </a:prstGeom>
          <a:noFill/>
          <a:ln w="9525">
            <a:solidFill>
              <a:srgbClr val="1F285A"/>
            </a:solidFill>
          </a:ln>
        </p:spPr>
        <p:txBody>
          <a:bodyPr wrap="square" lIns="137160" tIns="54864" rIns="109728" bIns="54864" rtlCol="0" anchor="ctr">
            <a:noAutofit/>
          </a:bodyPr>
          <a:lstStyle/>
          <a:p>
            <a:pPr algn="l">
              <a:lnSpc>
                <a:spcPct val="120000"/>
              </a:lnSpc>
              <a:buNone/>
            </a:pPr>
            <a:r>
              <a:rPr lang="ja-JP" altLang="en-US" sz="1400" b="1" dirty="0">
                <a:solidFill>
                  <a:srgbClr val="1F285A"/>
                </a:solidFill>
                <a:latin typeface="メイリオ" panose="020B0604030504040204" pitchFamily="50" charset="-128"/>
                <a:ea typeface="メイリオ" panose="020B0604030504040204" pitchFamily="50" charset="-128"/>
              </a:rPr>
              <a:t>広告の改善</a:t>
            </a:r>
            <a:endParaRPr lang="ja-JP" altLang="en-US" sz="1300" dirty="0"/>
          </a:p>
          <a:p>
            <a:pPr algn="l">
              <a:lnSpc>
                <a:spcPct val="120000"/>
              </a:lnSpc>
              <a:buNone/>
            </a:pPr>
            <a:r>
              <a:rPr lang="ja-JP" altLang="en-US" sz="1200" b="0" dirty="0">
                <a:solidFill>
                  <a:srgbClr val="333333"/>
                </a:solidFill>
                <a:latin typeface="メイリオ" panose="020B0604030504040204" pitchFamily="50" charset="-128"/>
                <a:ea typeface="メイリオ" panose="020B0604030504040204" pitchFamily="50" charset="-128"/>
              </a:rPr>
              <a:t>青森店の媒体配分とクリエイティブを見直し、来場予約のCPAを下げる</a:t>
            </a:r>
            <a:endParaRPr lang="ja-JP" altLang="en-US" sz="1300" dirty="0"/>
          </a:p>
        </p:txBody>
      </p:sp>
      <p:sp>
        <p:nvSpPr>
          <p:cNvPr id="11" name="打ち手2"/>
          <p:cNvSpPr/>
          <p:nvPr/>
        </p:nvSpPr>
        <p:spPr>
          <a:xfrm>
            <a:off x="5007836" y="3320934"/>
            <a:ext cx="4325112" cy="960120"/>
          </a:xfrm>
          <a:prstGeom prst="rect">
            <a:avLst/>
          </a:prstGeom>
          <a:noFill/>
          <a:ln w="9525">
            <a:solidFill>
              <a:srgbClr val="1F285A"/>
            </a:solidFill>
          </a:ln>
        </p:spPr>
        <p:txBody>
          <a:bodyPr wrap="square" lIns="137160" tIns="54864" rIns="109728" bIns="54864" rtlCol="0" anchor="ctr">
            <a:noAutofit/>
          </a:bodyPr>
          <a:lstStyle/>
          <a:p>
            <a:pPr algn="l">
              <a:lnSpc>
                <a:spcPct val="120000"/>
              </a:lnSpc>
              <a:buNone/>
            </a:pPr>
            <a:r>
              <a:rPr lang="ja-JP" altLang="en-US" sz="1400" b="1" dirty="0">
                <a:solidFill>
                  <a:srgbClr val="1F285A"/>
                </a:solidFill>
                <a:latin typeface="メイリオ" panose="020B0604030504040204" pitchFamily="50" charset="-128"/>
                <a:ea typeface="メイリオ" panose="020B0604030504040204" pitchFamily="50" charset="-128"/>
              </a:rPr>
              <a:t>SEO</a:t>
            </a:r>
            <a:endParaRPr lang="ja-JP" altLang="en-US" sz="1300" dirty="0"/>
          </a:p>
          <a:p>
            <a:pPr algn="l">
              <a:lnSpc>
                <a:spcPct val="120000"/>
              </a:lnSpc>
              <a:buNone/>
            </a:pPr>
            <a:r>
              <a:rPr lang="ja-JP" altLang="en-US" sz="1200" b="0" dirty="0">
                <a:solidFill>
                  <a:srgbClr val="333333"/>
                </a:solidFill>
                <a:latin typeface="メイリオ" panose="020B0604030504040204" pitchFamily="50" charset="-128"/>
                <a:ea typeface="メイリオ" panose="020B0604030504040204" pitchFamily="50" charset="-128"/>
              </a:rPr>
              <a:t>青森・八戸・弘前の地域キーワードと、AI検索への対応で、家づくりを具体的に検討している方の流入を増やす</a:t>
            </a:r>
            <a:endParaRPr lang="ja-JP" altLang="en-US" sz="1300" dirty="0"/>
          </a:p>
        </p:txBody>
      </p:sp>
      <p:sp>
        <p:nvSpPr>
          <p:cNvPr id="12" name="矢印下"/>
          <p:cNvSpPr/>
          <p:nvPr/>
        </p:nvSpPr>
        <p:spPr>
          <a:xfrm>
            <a:off x="6987512" y="4299341"/>
            <a:ext cx="365760" cy="256032"/>
          </a:xfrm>
          <a:prstGeom prst="rect">
            <a:avLst/>
          </a:prstGeom>
          <a:noFill/>
          <a:ln>
            <a:noFill/>
          </a:ln>
        </p:spPr>
        <p:txBody>
          <a:bodyPr wrap="square" lIns="0" tIns="0" rIns="0" bIns="0" rtlCol="0" anchor="ctr">
            <a:noAutofit/>
          </a:bodyPr>
          <a:lstStyle/>
          <a:p>
            <a:pPr algn="ctr">
              <a:buNone/>
            </a:pPr>
            <a:r>
              <a:rPr lang="ja-JP" altLang="en-US" sz="13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13" name="結果"/>
          <p:cNvSpPr/>
          <p:nvPr/>
        </p:nvSpPr>
        <p:spPr>
          <a:xfrm>
            <a:off x="5007836" y="4573662"/>
            <a:ext cx="4325112" cy="566928"/>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質が高く、熱量の高い見込み客の流入が増える</a:t>
            </a:r>
            <a:endParaRPr lang="ja-JP" altLang="en-US" sz="1300" dirty="0"/>
          </a:p>
        </p:txBody>
      </p:sp>
      <p:graphicFrame>
        <p:nvGraphicFramePr>
          <p:cNvPr id="15" name="現在地 14"/>
          <p:cNvGraphicFramePr>
            <a:graphicFrameLocks noGrp="1"/>
          </p:cNvGraphicFramePr>
          <p:nvPr>
            <p:extLst>
              <p:ext uri="{D42A27DB-BD31-4B8C-83A1-F6EECF244321}">
                <p14:modId xmlns:p14="http://schemas.microsoft.com/office/powerpoint/2010/main" val="1648189534"/>
              </p:ext>
            </p:extLst>
          </p:nvPr>
        </p:nvGraphicFramePr>
        <p:xfrm>
          <a:off x="435836" y="2269374"/>
          <a:ext cx="4343400" cy="2904132"/>
        </p:xfrm>
        <a:graphic>
          <a:graphicData uri="http://schemas.openxmlformats.org/drawingml/2006/table">
            <a:tbl>
              <a:tblPr/>
              <a:tblGrid>
                <a:gridCol w="141732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tblGrid>
              <a:tr h="570585">
                <a:tc>
                  <a:txBody>
                    <a:bodyPr/>
                    <a:lstStyle/>
                    <a:p>
                      <a:pPr algn="ctr">
                        <a:buNone/>
                      </a:pPr>
                      <a:r>
                        <a:rPr lang="ja-JP" altLang="en-US" sz="1250" b="1" dirty="0">
                          <a:solidFill>
                            <a:srgbClr val="1F285A"/>
                          </a:solidFill>
                          <a:latin typeface="メイリオ" panose="020B0604030504040204" pitchFamily="50" charset="-128"/>
                          <a:ea typeface="メイリオ" panose="020B0604030504040204" pitchFamily="50" charset="-128"/>
                        </a:rPr>
                        <a:t>来場予約</a:t>
                      </a:r>
                      <a:br>
                        <a:rPr lang="ja-JP" altLang="en-US" sz="1250" b="1" dirty="0">
                          <a:solidFill>
                            <a:srgbClr val="1F285A"/>
                          </a:solidFill>
                          <a:latin typeface="メイリオ" panose="020B0604030504040204" pitchFamily="50" charset="-128"/>
                          <a:ea typeface="メイリオ" panose="020B0604030504040204" pitchFamily="50" charset="-128"/>
                        </a:rPr>
                      </a:br>
                      <a:r>
                        <a:rPr lang="ja-JP" altLang="en-US" sz="1250" b="1" dirty="0">
                          <a:solidFill>
                            <a:srgbClr val="1F285A"/>
                          </a:solidFill>
                          <a:latin typeface="メイリオ" panose="020B0604030504040204" pitchFamily="50" charset="-128"/>
                          <a:ea typeface="メイリオ" panose="020B0604030504040204" pitchFamily="50" charset="-128"/>
                        </a:rPr>
                        <a:t>（4展示場）</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目標 月50〜60件に対し、</a:t>
                      </a:r>
                      <a:endParaRPr lang="en-US" altLang="ja-JP" sz="125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50" b="0" dirty="0">
                          <a:solidFill>
                            <a:srgbClr val="333333"/>
                          </a:solidFill>
                          <a:latin typeface="メイリオ" panose="020B0604030504040204" pitchFamily="50" charset="-128"/>
                          <a:ea typeface="メイリオ" panose="020B0604030504040204" pitchFamily="50" charset="-128"/>
                        </a:rPr>
                        <a:t>現状 月35〜40件</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570585">
                <a:tc>
                  <a:txBody>
                    <a:bodyPr/>
                    <a:lstStyle/>
                    <a:p>
                      <a:pPr algn="ctr">
                        <a:buNone/>
                      </a:pPr>
                      <a:r>
                        <a:rPr lang="ja-JP" altLang="en-US" sz="1250" b="1" dirty="0">
                          <a:solidFill>
                            <a:srgbClr val="1F285A"/>
                          </a:solidFill>
                          <a:latin typeface="メイリオ" panose="020B0604030504040204" pitchFamily="50" charset="-128"/>
                          <a:ea typeface="メイリオ" panose="020B0604030504040204" pitchFamily="50" charset="-128"/>
                        </a:rPr>
                        <a:t>来場予約のCPA</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Web広告で約30,000円</a:t>
                      </a:r>
                      <a:br>
                        <a:rPr lang="ja-JP" altLang="en-US" sz="1200" b="0" dirty="0">
                          <a:solidFill>
                            <a:srgbClr val="333333"/>
                          </a:solidFill>
                          <a:latin typeface="メイリオ" panose="020B0604030504040204" pitchFamily="50" charset="-128"/>
                          <a:ea typeface="メイリオ" panose="020B0604030504040204" pitchFamily="50" charset="-128"/>
                        </a:rPr>
                      </a:br>
                      <a:r>
                        <a:rPr lang="ja-JP" altLang="en-US" sz="1200" b="0" dirty="0">
                          <a:solidFill>
                            <a:srgbClr val="333333"/>
                          </a:solidFill>
                          <a:latin typeface="メイリオ" panose="020B0604030504040204" pitchFamily="50" charset="-128"/>
                          <a:ea typeface="メイリオ" panose="020B0604030504040204" pitchFamily="50" charset="-128"/>
                        </a:rPr>
                        <a:t>（ポータル・特典費を含めると注文住宅 </a:t>
                      </a:r>
                      <a:endParaRPr lang="en-US" altLang="ja-JP" sz="12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rPr>
                        <a:t>約50,000円）</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70585">
                <a:tc>
                  <a:txBody>
                    <a:bodyPr/>
                    <a:lstStyle/>
                    <a:p>
                      <a:pPr algn="ctr">
                        <a:buNone/>
                      </a:pPr>
                      <a:r>
                        <a:rPr lang="ja-JP" altLang="en-US" sz="1250" b="1" dirty="0">
                          <a:solidFill>
                            <a:srgbClr val="1F285A"/>
                          </a:solidFill>
                          <a:latin typeface="メイリオ" panose="020B0604030504040204" pitchFamily="50" charset="-128"/>
                          <a:ea typeface="メイリオ" panose="020B0604030504040204" pitchFamily="50" charset="-128"/>
                        </a:rPr>
                        <a:t>青森店</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予約のキャンセルが2〜3割</a:t>
                      </a:r>
                      <a:br>
                        <a:rPr lang="ja-JP" altLang="en-US" sz="1250" b="0" dirty="0">
                          <a:solidFill>
                            <a:srgbClr val="333333"/>
                          </a:solidFill>
                          <a:latin typeface="メイリオ" panose="020B0604030504040204" pitchFamily="50" charset="-128"/>
                          <a:ea typeface="メイリオ" panose="020B0604030504040204" pitchFamily="50" charset="-128"/>
                        </a:rPr>
                      </a:br>
                      <a:r>
                        <a:rPr lang="ja-JP" altLang="en-US" sz="1250" b="0" dirty="0">
                          <a:solidFill>
                            <a:srgbClr val="333333"/>
                          </a:solidFill>
                          <a:latin typeface="メイリオ" panose="020B0604030504040204" pitchFamily="50" charset="-128"/>
                          <a:ea typeface="メイリオ" panose="020B0604030504040204" pitchFamily="50" charset="-128"/>
                        </a:rPr>
                        <a:t>八戸・おいらせより認知が浅い</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70585">
                <a:tc>
                  <a:txBody>
                    <a:bodyPr/>
                    <a:lstStyle/>
                    <a:p>
                      <a:pPr algn="ctr">
                        <a:buNone/>
                      </a:pPr>
                      <a:r>
                        <a:rPr lang="ja-JP" altLang="en-US" sz="1250" b="1" dirty="0">
                          <a:solidFill>
                            <a:srgbClr val="1F285A"/>
                          </a:solidFill>
                          <a:latin typeface="メイリオ" panose="020B0604030504040204" pitchFamily="50" charset="-128"/>
                          <a:ea typeface="メイリオ" panose="020B0604030504040204" pitchFamily="50" charset="-128"/>
                        </a:rPr>
                        <a:t>自社サイトの</a:t>
                      </a:r>
                      <a:br>
                        <a:rPr lang="ja-JP" altLang="en-US" sz="1250" b="1" dirty="0">
                          <a:solidFill>
                            <a:srgbClr val="1F285A"/>
                          </a:solidFill>
                          <a:latin typeface="メイリオ" panose="020B0604030504040204" pitchFamily="50" charset="-128"/>
                          <a:ea typeface="メイリオ" panose="020B0604030504040204" pitchFamily="50" charset="-128"/>
                        </a:rPr>
                      </a:br>
                      <a:r>
                        <a:rPr lang="ja-JP" altLang="en-US" sz="1250" b="1" dirty="0">
                          <a:solidFill>
                            <a:srgbClr val="1F285A"/>
                          </a:solidFill>
                          <a:latin typeface="メイリオ" panose="020B0604030504040204" pitchFamily="50" charset="-128"/>
                          <a:ea typeface="メイリオ" panose="020B0604030504040204" pitchFamily="50" charset="-128"/>
                        </a:rPr>
                        <a:t>資料請求</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月一桁</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70585">
                <a:tc>
                  <a:txBody>
                    <a:bodyPr/>
                    <a:lstStyle/>
                    <a:p>
                      <a:pPr algn="ctr">
                        <a:buNone/>
                      </a:pPr>
                      <a:r>
                        <a:rPr lang="ja-JP" altLang="en-US" sz="1250" b="1" dirty="0">
                          <a:solidFill>
                            <a:srgbClr val="1F285A"/>
                          </a:solidFill>
                          <a:latin typeface="メイリオ" panose="020B0604030504040204" pitchFamily="50" charset="-128"/>
                          <a:ea typeface="メイリオ" panose="020B0604030504040204" pitchFamily="50" charset="-128"/>
                        </a:rPr>
                        <a:t>検索広告のCPA</a:t>
                      </a:r>
                      <a:br>
                        <a:rPr lang="ja-JP" altLang="en-US" sz="1250" b="1" dirty="0">
                          <a:solidFill>
                            <a:srgbClr val="1F285A"/>
                          </a:solidFill>
                          <a:latin typeface="メイリオ" panose="020B0604030504040204" pitchFamily="50" charset="-128"/>
                          <a:ea typeface="メイリオ" panose="020B0604030504040204" pitchFamily="50" charset="-128"/>
                        </a:rPr>
                      </a:br>
                      <a:r>
                        <a:rPr lang="ja-JP" altLang="en-US" sz="1250" b="1" dirty="0">
                          <a:solidFill>
                            <a:srgbClr val="1F285A"/>
                          </a:solidFill>
                          <a:latin typeface="メイリオ" panose="020B0604030504040204" pitchFamily="50" charset="-128"/>
                          <a:ea typeface="メイリオ" panose="020B0604030504040204" pitchFamily="50" charset="-128"/>
                        </a:rPr>
                        <a:t>（9月）</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14,796円 → 47,500円</a:t>
                      </a:r>
                      <a:endParaRPr lang="en-US" altLang="ja-JP" sz="125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50" b="0" dirty="0">
                          <a:solidFill>
                            <a:srgbClr val="333333"/>
                          </a:solidFill>
                          <a:latin typeface="メイリオ" panose="020B0604030504040204" pitchFamily="50" charset="-128"/>
                          <a:ea typeface="メイリオ" panose="020B0604030504040204" pitchFamily="50" charset="-128"/>
                        </a:rPr>
                        <a:t>（前年同月比）</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LINE公式アカウントの現状：来場を決めた方へのご案内は整っている</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実写真の配信と来場特典のご案内で、来場予約までの流れができている</a:t>
            </a:r>
            <a:endParaRPr lang="en-US" sz="1400" b="1" u="none" strike="noStrike" dirty="0">
              <a:effectLst/>
              <a:uFillTx/>
              <a:latin typeface="メイリオ"/>
            </a:endParaRPr>
          </a:p>
        </p:txBody>
      </p:sp>
      <p:graphicFrame>
        <p:nvGraphicFramePr>
          <p:cNvPr id="7" name="LINEの現状 6"/>
          <p:cNvGraphicFramePr>
            <a:graphicFrameLocks noGrp="1"/>
          </p:cNvGraphicFramePr>
          <p:nvPr>
            <p:extLst>
              <p:ext uri="{D42A27DB-BD31-4B8C-83A1-F6EECF244321}">
                <p14:modId xmlns:p14="http://schemas.microsoft.com/office/powerpoint/2010/main" val="4147098564"/>
              </p:ext>
            </p:extLst>
          </p:nvPr>
        </p:nvGraphicFramePr>
        <p:xfrm>
          <a:off x="379800" y="1691640"/>
          <a:ext cx="5883840" cy="3246119"/>
        </p:xfrm>
        <a:graphic>
          <a:graphicData uri="http://schemas.openxmlformats.org/drawingml/2006/table">
            <a:tbl>
              <a:tblPr/>
              <a:tblGrid>
                <a:gridCol w="1458804">
                  <a:extLst>
                    <a:ext uri="{9D8B030D-6E8A-4147-A177-3AD203B41FA5}">
                      <a16:colId xmlns:a16="http://schemas.microsoft.com/office/drawing/2014/main" val="20000"/>
                    </a:ext>
                  </a:extLst>
                </a:gridCol>
                <a:gridCol w="4425036">
                  <a:extLst>
                    <a:ext uri="{9D8B030D-6E8A-4147-A177-3AD203B41FA5}">
                      <a16:colId xmlns:a16="http://schemas.microsoft.com/office/drawing/2014/main" val="20001"/>
                    </a:ext>
                  </a:extLst>
                </a:gridCol>
              </a:tblGrid>
              <a:tr h="51039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友だち数</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300" b="1" dirty="0">
                          <a:solidFill>
                            <a:srgbClr val="1F285A"/>
                          </a:solidFill>
                          <a:latin typeface="メイリオ" panose="020B0604030504040204" pitchFamily="50" charset="-128"/>
                          <a:ea typeface="メイリオ" panose="020B0604030504040204" pitchFamily="50" charset="-128"/>
                        </a:rPr>
                        <a:t>417人</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796218">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友だちの入口</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サイトのポップアップ「LINEお友だち登録キャンペーン」</a:t>
                      </a:r>
                      <a:endParaRPr lang="ja-JP" altLang="en-US" sz="1250" dirty="0"/>
                    </a:p>
                    <a:p>
                      <a:pPr algn="l">
                        <a:buNone/>
                      </a:pPr>
                      <a:r>
                        <a:rPr lang="ja-JP" altLang="en-US" sz="1250" b="0" dirty="0">
                          <a:solidFill>
                            <a:srgbClr val="333333"/>
                          </a:solidFill>
                          <a:latin typeface="メイリオ" panose="020B0604030504040204" pitchFamily="50" charset="-128"/>
                          <a:ea typeface="メイリオ" panose="020B0604030504040204" pitchFamily="50" charset="-128"/>
                        </a:rPr>
                        <a:t>来場特典 最大7,000円分（予約来場 5,000円分＋友だち登録 2,000円分）</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96218">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配信</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見学会・来場予約のご案内が中心</a:t>
                      </a:r>
                      <a:endParaRPr lang="ja-JP" altLang="en-US" sz="1250" dirty="0"/>
                    </a:p>
                    <a:p>
                      <a:pPr algn="l">
                        <a:buNone/>
                      </a:pPr>
                      <a:r>
                        <a:rPr lang="ja-JP" altLang="en-US" sz="1250" b="0" dirty="0">
                          <a:solidFill>
                            <a:srgbClr val="333333"/>
                          </a:solidFill>
                          <a:latin typeface="メイリオ" panose="020B0604030504040204" pitchFamily="50" charset="-128"/>
                          <a:ea typeface="メイリオ" panose="020B0604030504040204" pitchFamily="50" charset="-128"/>
                        </a:rPr>
                        <a:t>実写真の画像とカルーセルで、見学会の中身が伝わる作り</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1039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リッチメニュー</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予約／ホームページ／公式SNS</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32891">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1:1チャット</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担当者が返信する設定。個別のご相談を受けられる</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pic>
        <p:nvPicPr>
          <p:cNvPr id="8" name="LINEの配信" descr="tanaka_line_talk.png"/>
          <p:cNvPicPr>
            <a:picLocks noChangeAspect="1"/>
          </p:cNvPicPr>
          <p:nvPr/>
        </p:nvPicPr>
        <p:blipFill>
          <a:blip r:embed="rId2"/>
          <a:stretch>
            <a:fillRect/>
          </a:stretch>
        </p:blipFill>
        <p:spPr>
          <a:xfrm>
            <a:off x="6355080" y="1691640"/>
            <a:ext cx="1371600" cy="2971800"/>
          </a:xfrm>
          <a:prstGeom prst="rect">
            <a:avLst/>
          </a:prstGeom>
        </p:spPr>
      </p:pic>
      <p:sp>
        <p:nvSpPr>
          <p:cNvPr id="9" name="画像の説明"/>
          <p:cNvSpPr/>
          <p:nvPr/>
        </p:nvSpPr>
        <p:spPr>
          <a:xfrm>
            <a:off x="6172200" y="4709160"/>
            <a:ext cx="1737360" cy="256032"/>
          </a:xfrm>
          <a:prstGeom prst="rect">
            <a:avLst/>
          </a:prstGeom>
          <a:noFill/>
          <a:ln>
            <a:noFill/>
          </a:ln>
        </p:spPr>
        <p:txBody>
          <a:bodyPr wrap="square" lIns="0" tIns="18288" rIns="0" bIns="0" rtlCol="0" anchor="t">
            <a:noAutofit/>
          </a:bodyPr>
          <a:lstStyle/>
          <a:p>
            <a:pPr algn="ctr">
              <a:buNone/>
            </a:pPr>
            <a:r>
              <a:rPr lang="ja-JP" altLang="en-US" sz="900" b="0" dirty="0">
                <a:solidFill>
                  <a:srgbClr val="7F7F7F"/>
                </a:solidFill>
                <a:latin typeface="メイリオ" panose="020B0604030504040204" pitchFamily="50" charset="-128"/>
                <a:ea typeface="メイリオ" panose="020B0604030504040204" pitchFamily="50" charset="-128"/>
              </a:rPr>
              <a:t>LINEの配信</a:t>
            </a:r>
            <a:endParaRPr lang="ja-JP" altLang="en-US" sz="1200" dirty="0"/>
          </a:p>
        </p:txBody>
      </p:sp>
      <p:pic>
        <p:nvPicPr>
          <p:cNvPr id="10" name="サイトのポップアップ" descr="tanaka_line_popup.png"/>
          <p:cNvPicPr>
            <a:picLocks noChangeAspect="1"/>
          </p:cNvPicPr>
          <p:nvPr/>
        </p:nvPicPr>
        <p:blipFill>
          <a:blip r:embed="rId3"/>
          <a:stretch>
            <a:fillRect/>
          </a:stretch>
        </p:blipFill>
        <p:spPr>
          <a:xfrm>
            <a:off x="7909560" y="1691640"/>
            <a:ext cx="1490472" cy="1545336"/>
          </a:xfrm>
          <a:prstGeom prst="rect">
            <a:avLst/>
          </a:prstGeom>
        </p:spPr>
      </p:pic>
      <p:sp>
        <p:nvSpPr>
          <p:cNvPr id="11" name="画像の説明"/>
          <p:cNvSpPr/>
          <p:nvPr/>
        </p:nvSpPr>
        <p:spPr>
          <a:xfrm>
            <a:off x="7818120" y="3291840"/>
            <a:ext cx="1673352" cy="256032"/>
          </a:xfrm>
          <a:prstGeom prst="rect">
            <a:avLst/>
          </a:prstGeom>
          <a:noFill/>
          <a:ln>
            <a:noFill/>
          </a:ln>
        </p:spPr>
        <p:txBody>
          <a:bodyPr wrap="square" lIns="0" tIns="18288" rIns="0" bIns="0" rtlCol="0" anchor="t">
            <a:noAutofit/>
          </a:bodyPr>
          <a:lstStyle/>
          <a:p>
            <a:pPr algn="ctr">
              <a:buNone/>
            </a:pPr>
            <a:r>
              <a:rPr lang="ja-JP" altLang="en-US" sz="900" b="0" dirty="0">
                <a:solidFill>
                  <a:srgbClr val="7F7F7F"/>
                </a:solidFill>
                <a:latin typeface="メイリオ" panose="020B0604030504040204" pitchFamily="50" charset="-128"/>
                <a:ea typeface="メイリオ" panose="020B0604030504040204" pitchFamily="50" charset="-128"/>
              </a:rPr>
              <a:t>サイトのポップアップ</a:t>
            </a:r>
            <a:endParaRPr lang="ja-JP" altLang="en-US" sz="1200" dirty="0"/>
          </a:p>
        </p:txBody>
      </p:sp>
      <p:sp>
        <p:nvSpPr>
          <p:cNvPr id="12" name="注記"/>
          <p:cNvSpPr/>
          <p:nvPr/>
        </p:nvSpPr>
        <p:spPr>
          <a:xfrm>
            <a:off x="502920" y="5852160"/>
            <a:ext cx="8897112" cy="27432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※2026年10月時点で、貴社のLINE公式アカウントとサイトを弊社で確認</a:t>
            </a:r>
            <a:endParaRPr lang="ja-JP" alt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競合のLINE運用：大進建設は特典で、資料請求から事前審査まで後押しする</a:t>
            </a:r>
            <a:endParaRPr lang="en-US" sz="1600" b="0" u="none" strike="noStrike">
              <a:solidFill>
                <a:srgbClr val="000000"/>
              </a:solidFill>
              <a:effectLst/>
              <a:uFillTx/>
              <a:latin typeface="メイリオ"/>
              <a:ea typeface="メイリオ"/>
              <a:cs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cs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cs typeface="メイリオ"/>
              </a:rPr>
              <a:t>大進建設を中心に、一条工務店・セキスイハイムの友だち追加の入口とあいさつを、実際の画面で見る</a:t>
            </a:r>
            <a:endParaRPr lang="en-US" sz="1400" b="1" u="none" strike="noStrike" dirty="0">
              <a:effectLst/>
              <a:uFillTx/>
              <a:latin typeface="メイリオ"/>
              <a:ea typeface="メイリオ"/>
              <a:cs typeface="メイリオ"/>
            </a:endParaRPr>
          </a:p>
        </p:txBody>
      </p:sp>
      <p:pic>
        <p:nvPicPr>
          <p:cNvPr id="8" name="大進建設のポップアップ" descr="大進建設_LINE登録キャンペーン_20261016.png"/>
          <p:cNvPicPr>
            <a:picLocks noChangeAspect="1"/>
          </p:cNvPicPr>
          <p:nvPr/>
        </p:nvPicPr>
        <p:blipFill>
          <a:blip r:embed="rId2"/>
          <a:stretch>
            <a:fillRect/>
          </a:stretch>
        </p:blipFill>
        <p:spPr>
          <a:xfrm>
            <a:off x="411480" y="2340864"/>
            <a:ext cx="1600200" cy="1600200"/>
          </a:xfrm>
          <a:prstGeom prst="rect">
            <a:avLst/>
          </a:prstGeom>
        </p:spPr>
      </p:pic>
      <p:sp>
        <p:nvSpPr>
          <p:cNvPr id="9" name="会社 大進建設"/>
          <p:cNvSpPr/>
          <p:nvPr/>
        </p:nvSpPr>
        <p:spPr>
          <a:xfrm>
            <a:off x="411480" y="1481328"/>
            <a:ext cx="5577840" cy="329184"/>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大進建設</a:t>
            </a:r>
            <a:endParaRPr lang="ja-JP" altLang="en-US" sz="1200" dirty="0">
              <a:latin typeface="メイリオ"/>
              <a:ea typeface="メイリオ"/>
              <a:cs typeface="メイリオ"/>
            </a:endParaRPr>
          </a:p>
        </p:txBody>
      </p:sp>
      <p:sp>
        <p:nvSpPr>
          <p:cNvPr id="10" name="会社 ほかの大手"/>
          <p:cNvSpPr/>
          <p:nvPr/>
        </p:nvSpPr>
        <p:spPr>
          <a:xfrm>
            <a:off x="6217920" y="1481328"/>
            <a:ext cx="3273552" cy="329184"/>
          </a:xfrm>
          <a:prstGeom prst="rect">
            <a:avLst/>
          </a:prstGeom>
          <a:solidFill>
            <a:srgbClr val="7F7F7F"/>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ほかの大手（参考）</a:t>
            </a:r>
            <a:endParaRPr lang="ja-JP" altLang="en-US" sz="1200" dirty="0">
              <a:latin typeface="メイリオ"/>
              <a:ea typeface="メイリオ"/>
              <a:cs typeface="メイリオ"/>
            </a:endParaRPr>
          </a:p>
        </p:txBody>
      </p:sp>
      <p:sp>
        <p:nvSpPr>
          <p:cNvPr id="11" name="見出し 入口と特典&#10;（サイト）"/>
          <p:cNvSpPr/>
          <p:nvPr/>
        </p:nvSpPr>
        <p:spPr>
          <a:xfrm>
            <a:off x="411480" y="1874519"/>
            <a:ext cx="1600200" cy="420624"/>
          </a:xfrm>
          <a:prstGeom prst="rect">
            <a:avLst/>
          </a:prstGeom>
          <a:noFill/>
          <a:ln>
            <a:noFill/>
          </a:ln>
        </p:spPr>
        <p:txBody>
          <a:bodyPr wrap="square" lIns="0" tIns="0" rIns="0" bIns="18288" rtlCol="0" anchor="b">
            <a:noAutofit/>
          </a:bodyPr>
          <a:lstStyle/>
          <a:p>
            <a:pPr algn="ctr">
              <a:lnSpc>
                <a:spcPct val="100000"/>
              </a:lnSpc>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入口と特典</a:t>
            </a:r>
            <a:endParaRPr lang="ja-JP" altLang="en-US" sz="1200" dirty="0">
              <a:latin typeface="メイリオ"/>
              <a:ea typeface="メイリオ"/>
              <a:cs typeface="メイリオ"/>
            </a:endParaRPr>
          </a:p>
          <a:p>
            <a:pPr algn="ctr">
              <a:lnSpc>
                <a:spcPct val="100000"/>
              </a:lnSpc>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（サイト）</a:t>
            </a:r>
            <a:endParaRPr lang="ja-JP" altLang="en-US" sz="1200" dirty="0">
              <a:latin typeface="メイリオ"/>
              <a:ea typeface="メイリオ"/>
              <a:cs typeface="メイリオ"/>
            </a:endParaRPr>
          </a:p>
        </p:txBody>
      </p:sp>
      <p:sp>
        <p:nvSpPr>
          <p:cNvPr id="12" name="画面の説明"/>
          <p:cNvSpPr/>
          <p:nvPr/>
        </p:nvSpPr>
        <p:spPr>
          <a:xfrm>
            <a:off x="411480" y="4023360"/>
            <a:ext cx="1600200" cy="548640"/>
          </a:xfrm>
          <a:prstGeom prst="rect">
            <a:avLst/>
          </a:prstGeom>
          <a:noFill/>
          <a:ln>
            <a:noFill/>
          </a:ln>
        </p:spPr>
        <p:txBody>
          <a:bodyPr wrap="square" lIns="18288" tIns="18288" rIns="18288" bIns="0"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LINE登録で</a:t>
            </a:r>
            <a:endParaRPr lang="ja-JP" altLang="en-US" sz="1200" dirty="0">
              <a:latin typeface="メイリオ"/>
              <a:ea typeface="メイリオ"/>
              <a:cs typeface="メイリオ"/>
            </a:endParaRPr>
          </a:p>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最大4万円分</a:t>
            </a:r>
            <a:endParaRPr lang="ja-JP" altLang="en-US" sz="1200" dirty="0">
              <a:latin typeface="メイリオ"/>
              <a:ea typeface="メイリオ"/>
              <a:cs typeface="メイリオ"/>
            </a:endParaRPr>
          </a:p>
        </p:txBody>
      </p:sp>
      <p:sp>
        <p:nvSpPr>
          <p:cNvPr id="13" name="見出し あいさつ"/>
          <p:cNvSpPr/>
          <p:nvPr/>
        </p:nvSpPr>
        <p:spPr>
          <a:xfrm>
            <a:off x="2148840" y="1874519"/>
            <a:ext cx="1828800" cy="420624"/>
          </a:xfrm>
          <a:prstGeom prst="rect">
            <a:avLst/>
          </a:prstGeom>
          <a:noFill/>
          <a:ln>
            <a:noFill/>
          </a:ln>
        </p:spPr>
        <p:txBody>
          <a:bodyPr wrap="square" lIns="0" tIns="0" rIns="0" bIns="18288" rtlCol="0" anchor="b">
            <a:noAutofit/>
          </a:bodyPr>
          <a:lstStyle/>
          <a:p>
            <a:pPr algn="ctr">
              <a:lnSpc>
                <a:spcPct val="100000"/>
              </a:lnSpc>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あいさつ</a:t>
            </a:r>
            <a:endParaRPr lang="ja-JP" altLang="en-US" sz="1200" dirty="0">
              <a:latin typeface="メイリオ"/>
              <a:ea typeface="メイリオ"/>
              <a:cs typeface="メイリオ"/>
            </a:endParaRPr>
          </a:p>
        </p:txBody>
      </p:sp>
      <p:pic>
        <p:nvPicPr>
          <p:cNvPr id="14" name="大進建設のあいさつ" descr="tanaka_line_daishin_aisatsu.png"/>
          <p:cNvPicPr>
            <a:picLocks noChangeAspect="1"/>
          </p:cNvPicPr>
          <p:nvPr/>
        </p:nvPicPr>
        <p:blipFill>
          <a:blip r:embed="rId3"/>
          <a:stretch>
            <a:fillRect/>
          </a:stretch>
        </p:blipFill>
        <p:spPr>
          <a:xfrm>
            <a:off x="2400300" y="2340864"/>
            <a:ext cx="1325880" cy="2871216"/>
          </a:xfrm>
          <a:prstGeom prst="rect">
            <a:avLst/>
          </a:prstGeom>
          <a:ln w="9525">
            <a:solidFill>
              <a:srgbClr val="BFBFBF"/>
            </a:solidFill>
          </a:ln>
        </p:spPr>
      </p:pic>
      <p:sp>
        <p:nvSpPr>
          <p:cNvPr id="15" name="画面の説明"/>
          <p:cNvSpPr/>
          <p:nvPr/>
        </p:nvSpPr>
        <p:spPr>
          <a:xfrm>
            <a:off x="2148840" y="5266944"/>
            <a:ext cx="1828800" cy="713232"/>
          </a:xfrm>
          <a:prstGeom prst="rect">
            <a:avLst/>
          </a:prstGeom>
          <a:noFill/>
          <a:ln>
            <a:noFill/>
          </a:ln>
        </p:spPr>
        <p:txBody>
          <a:bodyPr wrap="square" lIns="18288" tIns="18288" rIns="18288" bIns="0"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お名前入りのあいさつと、キャンペーンの案内</a:t>
            </a:r>
            <a:endParaRPr lang="ja-JP" altLang="en-US" sz="1200" dirty="0">
              <a:latin typeface="メイリオ"/>
              <a:ea typeface="メイリオ"/>
              <a:cs typeface="メイリオ"/>
            </a:endParaRPr>
          </a:p>
        </p:txBody>
      </p:sp>
      <p:sp>
        <p:nvSpPr>
          <p:cNvPr id="16" name="見出し リッチメニュー"/>
          <p:cNvSpPr/>
          <p:nvPr/>
        </p:nvSpPr>
        <p:spPr>
          <a:xfrm>
            <a:off x="4114800" y="1874519"/>
            <a:ext cx="1874519" cy="420624"/>
          </a:xfrm>
          <a:prstGeom prst="rect">
            <a:avLst/>
          </a:prstGeom>
          <a:noFill/>
          <a:ln>
            <a:noFill/>
          </a:ln>
        </p:spPr>
        <p:txBody>
          <a:bodyPr wrap="square" lIns="0" tIns="0" rIns="0" bIns="18288" rtlCol="0" anchor="b">
            <a:noAutofit/>
          </a:bodyPr>
          <a:lstStyle/>
          <a:p>
            <a:pPr algn="ctr">
              <a:lnSpc>
                <a:spcPct val="100000"/>
              </a:lnSpc>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リッチメニュー</a:t>
            </a:r>
            <a:endParaRPr lang="ja-JP" altLang="en-US" sz="1200" dirty="0">
              <a:latin typeface="メイリオ"/>
              <a:ea typeface="メイリオ"/>
              <a:cs typeface="メイリオ"/>
            </a:endParaRPr>
          </a:p>
        </p:txBody>
      </p:sp>
      <p:sp>
        <p:nvSpPr>
          <p:cNvPr id="18" name="見出し 一条工務店"/>
          <p:cNvSpPr/>
          <p:nvPr/>
        </p:nvSpPr>
        <p:spPr>
          <a:xfrm>
            <a:off x="6217920" y="1874519"/>
            <a:ext cx="3273552" cy="347472"/>
          </a:xfrm>
          <a:prstGeom prst="rect">
            <a:avLst/>
          </a:prstGeom>
          <a:noFill/>
          <a:ln>
            <a:noFill/>
          </a:ln>
        </p:spPr>
        <p:txBody>
          <a:bodyPr wrap="square" lIns="0" tIns="0" rIns="0" bIns="18288" rtlCol="0" anchor="b">
            <a:noAutofit/>
          </a:bodyPr>
          <a:lstStyle/>
          <a:p>
            <a:pPr algn="ctr">
              <a:lnSpc>
                <a:spcPct val="100000"/>
              </a:lnSpc>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一条工務店</a:t>
            </a:r>
            <a:endParaRPr lang="ja-JP" altLang="en-US" sz="1200" dirty="0">
              <a:latin typeface="メイリオ"/>
              <a:ea typeface="メイリオ"/>
              <a:cs typeface="メイリオ"/>
            </a:endParaRPr>
          </a:p>
        </p:txBody>
      </p:sp>
      <p:pic>
        <p:nvPicPr>
          <p:cNvPr id="19" name="Picture 18" descr="tanaka_line_ichijo_top.png"/>
          <p:cNvPicPr>
            <a:picLocks noChangeAspect="1"/>
          </p:cNvPicPr>
          <p:nvPr/>
        </p:nvPicPr>
        <p:blipFill>
          <a:blip r:embed="rId4"/>
          <a:stretch>
            <a:fillRect/>
          </a:stretch>
        </p:blipFill>
        <p:spPr>
          <a:xfrm>
            <a:off x="6263640" y="2286000"/>
            <a:ext cx="868680" cy="1883664"/>
          </a:xfrm>
          <a:prstGeom prst="rect">
            <a:avLst/>
          </a:prstGeom>
          <a:ln w="9525">
            <a:solidFill>
              <a:srgbClr val="BFBFBF"/>
            </a:solidFill>
          </a:ln>
        </p:spPr>
      </p:pic>
      <p:sp>
        <p:nvSpPr>
          <p:cNvPr id="20" name="画面の説明"/>
          <p:cNvSpPr/>
          <p:nvPr/>
        </p:nvSpPr>
        <p:spPr>
          <a:xfrm>
            <a:off x="8183879" y="2286000"/>
            <a:ext cx="1307592" cy="1883664"/>
          </a:xfrm>
          <a:prstGeom prst="rect">
            <a:avLst/>
          </a:prstGeom>
          <a:noFill/>
          <a:ln>
            <a:noFill/>
          </a:ln>
        </p:spPr>
        <p:txBody>
          <a:bodyPr wrap="square" lIns="18288" tIns="18288" rIns="18288" bIns="0"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1分のアンケートへ案内。メニューに性能・暮らし・実例</a:t>
            </a:r>
            <a:endParaRPr lang="ja-JP" altLang="en-US" sz="1200" dirty="0">
              <a:latin typeface="メイリオ"/>
              <a:ea typeface="メイリオ"/>
              <a:cs typeface="メイリオ"/>
            </a:endParaRPr>
          </a:p>
        </p:txBody>
      </p:sp>
      <p:sp>
        <p:nvSpPr>
          <p:cNvPr id="21" name="見出し セキスイハイム"/>
          <p:cNvSpPr/>
          <p:nvPr/>
        </p:nvSpPr>
        <p:spPr>
          <a:xfrm>
            <a:off x="6217920" y="4343400"/>
            <a:ext cx="3273552" cy="347472"/>
          </a:xfrm>
          <a:prstGeom prst="rect">
            <a:avLst/>
          </a:prstGeom>
          <a:noFill/>
          <a:ln>
            <a:noFill/>
          </a:ln>
        </p:spPr>
        <p:txBody>
          <a:bodyPr wrap="square" lIns="0" tIns="0" rIns="0" bIns="18288" rtlCol="0" anchor="b">
            <a:noAutofit/>
          </a:bodyPr>
          <a:lstStyle/>
          <a:p>
            <a:pPr algn="ctr">
              <a:lnSpc>
                <a:spcPct val="100000"/>
              </a:lnSpc>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セキスイハイム</a:t>
            </a:r>
            <a:endParaRPr lang="ja-JP" altLang="en-US" sz="1200" dirty="0">
              <a:latin typeface="メイリオ"/>
              <a:ea typeface="メイリオ"/>
              <a:cs typeface="メイリオ"/>
            </a:endParaRPr>
          </a:p>
        </p:txBody>
      </p:sp>
      <p:pic>
        <p:nvPicPr>
          <p:cNvPr id="22" name="Picture 21" descr="tanaka_line_ichijo_contents.png"/>
          <p:cNvPicPr>
            <a:picLocks noChangeAspect="1"/>
          </p:cNvPicPr>
          <p:nvPr/>
        </p:nvPicPr>
        <p:blipFill>
          <a:blip r:embed="rId5"/>
          <a:stretch>
            <a:fillRect/>
          </a:stretch>
        </p:blipFill>
        <p:spPr>
          <a:xfrm>
            <a:off x="7223760" y="2286000"/>
            <a:ext cx="868680" cy="1883664"/>
          </a:xfrm>
          <a:prstGeom prst="rect">
            <a:avLst/>
          </a:prstGeom>
          <a:ln w="9525">
            <a:solidFill>
              <a:srgbClr val="BFBFBF"/>
            </a:solidFill>
          </a:ln>
        </p:spPr>
      </p:pic>
      <p:sp>
        <p:nvSpPr>
          <p:cNvPr id="23" name="画面の説明"/>
          <p:cNvSpPr/>
          <p:nvPr/>
        </p:nvSpPr>
        <p:spPr>
          <a:xfrm>
            <a:off x="6217920" y="4754880"/>
            <a:ext cx="3273552" cy="548640"/>
          </a:xfrm>
          <a:prstGeom prst="rect">
            <a:avLst/>
          </a:prstGeom>
          <a:noFill/>
          <a:ln>
            <a:noFill/>
          </a:ln>
        </p:spPr>
        <p:txBody>
          <a:bodyPr wrap="square" lIns="18288" tIns="18288" rIns="18288" bIns="0"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LINEで、カタログ無料診断・無料間取り作成を案内</a:t>
            </a:r>
            <a:endParaRPr lang="ja-JP" altLang="en-US" sz="1200" dirty="0">
              <a:latin typeface="メイリオ"/>
              <a:ea typeface="メイリオ"/>
              <a:cs typeface="メイリオ"/>
            </a:endParaRPr>
          </a:p>
        </p:txBody>
      </p:sp>
      <p:sp>
        <p:nvSpPr>
          <p:cNvPr id="26" name="区切り"/>
          <p:cNvSpPr/>
          <p:nvPr/>
        </p:nvSpPr>
        <p:spPr>
          <a:xfrm>
            <a:off x="6080760" y="1481328"/>
            <a:ext cx="9144" cy="4526280"/>
          </a:xfrm>
          <a:prstGeom prst="rect">
            <a:avLst/>
          </a:prstGeom>
          <a:solidFill>
            <a:srgbClr val="D9D9D9"/>
          </a:solidFill>
          <a:ln>
            <a:noFill/>
          </a:ln>
        </p:spPr>
        <p:txBody>
          <a:bodyPr wrap="square" lIns="73152" tIns="36576" rIns="73152" bIns="36576" rtlCol="0" anchor="ctr">
            <a:noAutofit/>
          </a:bodyPr>
          <a:lstStyle/>
          <a:p>
            <a:pPr algn="l">
              <a:buNone/>
            </a:pPr>
            <a:endParaRPr lang="ja-JP" altLang="en-US" sz="1200" dirty="0">
              <a:latin typeface="メイリオ"/>
              <a:ea typeface="メイリオ"/>
              <a:cs typeface="メイリオ"/>
            </a:endParaRPr>
          </a:p>
        </p:txBody>
      </p:sp>
      <p:sp>
        <p:nvSpPr>
          <p:cNvPr id="27" name="注記"/>
          <p:cNvSpPr/>
          <p:nvPr/>
        </p:nvSpPr>
        <p:spPr>
          <a:xfrm>
            <a:off x="502920" y="6053328"/>
            <a:ext cx="8897112" cy="256032"/>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※各社のLINE公式アカウントより（大進建設 2026年10月21日、一条工務店 2026年10月19日、セキスイハイム 2026年10月16日確認）。サイトのポップアップは大進建設の公式サイトより（2026年10月16日確認）</a:t>
            </a:r>
            <a:endParaRPr lang="ja-JP" altLang="en-US" sz="1200" dirty="0">
              <a:latin typeface="メイリオ"/>
              <a:ea typeface="メイリオ"/>
              <a:cs typeface="メイリオ"/>
            </a:endParaRPr>
          </a:p>
        </p:txBody>
      </p:sp>
      <p:pic>
        <p:nvPicPr>
          <p:cNvPr id="28" name="大進建設のキャンペーンとリッチメニュー" descr="tanaka_line_daishin_aisatsu.png"/>
          <p:cNvPicPr>
            <a:picLocks noChangeAspect="1"/>
          </p:cNvPicPr>
          <p:nvPr/>
        </p:nvPicPr>
        <p:blipFill>
          <a:blip r:embed="rId6"/>
          <a:stretch>
            <a:fillRect/>
          </a:stretch>
        </p:blipFill>
        <p:spPr>
          <a:xfrm>
            <a:off x="4389120" y="2340864"/>
            <a:ext cx="1325880" cy="2871216"/>
          </a:xfrm>
          <a:prstGeom prst="rect">
            <a:avLst/>
          </a:prstGeom>
          <a:ln w="9525">
            <a:solidFill>
              <a:srgbClr val="BFBFBF"/>
            </a:solidFill>
          </a:ln>
        </p:spPr>
      </p:pic>
      <p:sp>
        <p:nvSpPr>
          <p:cNvPr id="29" name="画面の説明"/>
          <p:cNvSpPr/>
          <p:nvPr/>
        </p:nvSpPr>
        <p:spPr>
          <a:xfrm>
            <a:off x="4069080" y="5266944"/>
            <a:ext cx="1965960" cy="713232"/>
          </a:xfrm>
          <a:prstGeom prst="rect">
            <a:avLst/>
          </a:prstGeom>
          <a:noFill/>
          <a:ln>
            <a:noFill/>
          </a:ln>
        </p:spPr>
        <p:txBody>
          <a:bodyPr wrap="square" lIns="18288" tIns="18288" rIns="18288" bIns="0"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資料請求・モデルハウス・</a:t>
            </a:r>
            <a:endParaRPr lang="ja-JP" altLang="en-US" sz="1200" dirty="0">
              <a:latin typeface="メイリオ"/>
              <a:ea typeface="メイリオ"/>
              <a:cs typeface="メイリオ"/>
            </a:endParaRPr>
          </a:p>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イベント・土地情報</a:t>
            </a:r>
            <a:endParaRPr lang="ja-JP" altLang="en-US" sz="1200" dirty="0">
              <a:latin typeface="メイリオ"/>
              <a:ea typeface="メイリオ"/>
              <a:cs typeface="メイリオ"/>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競合の取り組みに対して：LINEで、タナカホームを選ぶ理由を届ける</a:t>
            </a:r>
            <a:endParaRPr lang="en-US" sz="1600" b="0" u="none" strike="noStrike">
              <a:solidFill>
                <a:srgbClr val="000000"/>
              </a:solidFill>
              <a:effectLst/>
              <a:uFillTx/>
              <a:latin typeface="メイリオ"/>
              <a:ea typeface="メイリオ"/>
              <a:cs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cs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cs typeface="メイリオ"/>
              </a:rPr>
              <a:t>特典で事前審査まで後押しする大進建設に対し、資料請求の前から契約まで追う設計で応える</a:t>
            </a:r>
            <a:endParaRPr lang="en-US" sz="1400" b="1" u="none" strike="noStrike" dirty="0">
              <a:effectLst/>
              <a:uFillTx/>
              <a:latin typeface="メイリオ"/>
              <a:ea typeface="メイリオ"/>
              <a:cs typeface="メイリオ"/>
            </a:endParaRPr>
          </a:p>
        </p:txBody>
      </p:sp>
      <p:sp>
        <p:nvSpPr>
          <p:cNvPr id="8" name="示唆"/>
          <p:cNvSpPr/>
          <p:nvPr/>
        </p:nvSpPr>
        <p:spPr>
          <a:xfrm>
            <a:off x="502920" y="5349240"/>
            <a:ext cx="8897112" cy="566928"/>
          </a:xfrm>
          <a:prstGeom prst="rect">
            <a:avLst/>
          </a:prstGeom>
          <a:solidFill>
            <a:srgbClr val="F4F7FF"/>
          </a:solidFill>
          <a:ln>
            <a:noFill/>
          </a:ln>
        </p:spPr>
        <p:txBody>
          <a:bodyPr wrap="square" lIns="73152" tIns="36576" rIns="73152" bIns="36576" rtlCol="0" anchor="ctr">
            <a:noAutofit/>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ポイントは、比べられている間に、</a:t>
            </a:r>
            <a:r>
              <a:rPr lang="ja-JP" altLang="en-US" sz="1300" b="1" dirty="0">
                <a:solidFill>
                  <a:srgbClr val="C00000"/>
                </a:solidFill>
                <a:latin typeface="メイリオ" panose="020B0604030504040204" pitchFamily="50" charset="-128"/>
                <a:ea typeface="メイリオ" panose="020B0604030504040204" pitchFamily="50" charset="-128"/>
                <a:cs typeface="メイリオ"/>
              </a:rPr>
              <a:t>タナカホームを選ぶ理由を届けられること</a:t>
            </a:r>
            <a:endParaRPr lang="ja-JP" altLang="en-US" sz="1200" dirty="0">
              <a:latin typeface="メイリオ"/>
              <a:ea typeface="メイリオ"/>
              <a:cs typeface="メイリオ"/>
            </a:endParaRPr>
          </a:p>
        </p:txBody>
      </p:sp>
      <p:sp>
        <p:nvSpPr>
          <p:cNvPr id="12" name="注記"/>
          <p:cNvSpPr/>
          <p:nvPr/>
        </p:nvSpPr>
        <p:spPr>
          <a:xfrm>
            <a:off x="502920" y="6035040"/>
            <a:ext cx="8897112" cy="256032"/>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※各社のLINE公式アカウントより（大進建設 2026年10月21日、一条工務店 2026年10月19日確認）。入口・ポップアップは各社の公式サイトより（2026年10月16日確認）</a:t>
            </a:r>
            <a:endParaRPr lang="ja-JP" altLang="en-US" sz="1200" dirty="0">
              <a:latin typeface="メイリオ"/>
              <a:ea typeface="メイリオ"/>
              <a:cs typeface="メイリオ"/>
            </a:endParaRPr>
          </a:p>
        </p:txBody>
      </p:sp>
      <p:sp>
        <p:nvSpPr>
          <p:cNvPr id="13" name="会社 大進建設"/>
          <p:cNvSpPr/>
          <p:nvPr/>
        </p:nvSpPr>
        <p:spPr>
          <a:xfrm>
            <a:off x="502920" y="1572768"/>
            <a:ext cx="3401568" cy="329184"/>
          </a:xfrm>
          <a:prstGeom prst="rect">
            <a:avLst/>
          </a:prstGeom>
          <a:solidFill>
            <a:srgbClr val="7F7F7F"/>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大進建設</a:t>
            </a:r>
            <a:endParaRPr lang="ja-JP" altLang="en-US" sz="1200" dirty="0">
              <a:latin typeface="メイリオ"/>
              <a:ea typeface="メイリオ"/>
              <a:cs typeface="メイリオ"/>
            </a:endParaRPr>
          </a:p>
        </p:txBody>
      </p:sp>
      <p:sp>
        <p:nvSpPr>
          <p:cNvPr id="14" name="会社 タナカホーム"/>
          <p:cNvSpPr/>
          <p:nvPr/>
        </p:nvSpPr>
        <p:spPr>
          <a:xfrm>
            <a:off x="5971032" y="1572768"/>
            <a:ext cx="3429000" cy="329184"/>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タナカホーム（弊社の運用でつくる形）</a:t>
            </a:r>
            <a:endParaRPr lang="ja-JP" altLang="en-US" sz="1200" dirty="0">
              <a:latin typeface="メイリオ"/>
              <a:ea typeface="メイリオ"/>
              <a:cs typeface="メイリオ"/>
            </a:endParaRPr>
          </a:p>
        </p:txBody>
      </p:sp>
      <p:sp>
        <p:nvSpPr>
          <p:cNvPr id="15" name="項目 友だちになるきっかけ"/>
          <p:cNvSpPr/>
          <p:nvPr/>
        </p:nvSpPr>
        <p:spPr>
          <a:xfrm>
            <a:off x="4023360" y="2084832"/>
            <a:ext cx="1828800" cy="402335"/>
          </a:xfrm>
          <a:prstGeom prst="rect">
            <a:avLst/>
          </a:prstGeom>
          <a:solidFill>
            <a:srgbClr val="FFFFFF"/>
          </a:solidFill>
          <a:ln w="12700">
            <a:solidFill>
              <a:srgbClr val="1F285A"/>
            </a:solidFill>
          </a:ln>
        </p:spPr>
        <p:txBody>
          <a:bodyPr wrap="square" lIns="73152" tIns="36576" rIns="73152" bIns="36576" rtlCol="0" anchor="ctr">
            <a:noAutofit/>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友だちになるきっかけ</a:t>
            </a:r>
            <a:endParaRPr lang="ja-JP" altLang="en-US" sz="1200" dirty="0">
              <a:latin typeface="メイリオ"/>
              <a:ea typeface="メイリオ"/>
              <a:cs typeface="メイリオ"/>
            </a:endParaRPr>
          </a:p>
        </p:txBody>
      </p:sp>
      <p:sp>
        <p:nvSpPr>
          <p:cNvPr id="16" name="大進建設"/>
          <p:cNvSpPr/>
          <p:nvPr/>
        </p:nvSpPr>
        <p:spPr>
          <a:xfrm>
            <a:off x="502920" y="2011680"/>
            <a:ext cx="3401568" cy="548640"/>
          </a:xfrm>
          <a:prstGeom prst="rect">
            <a:avLst/>
          </a:prstGeom>
          <a:noFill/>
          <a:ln>
            <a:noFill/>
          </a:ln>
        </p:spPr>
        <p:txBody>
          <a:bodyPr wrap="square" lIns="18288" tIns="18288" rIns="18288" bIns="0" rtlCol="0" anchor="ctr">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LINE登録で最大4万円分のギフトカード</a:t>
            </a:r>
            <a:endParaRPr lang="ja-JP" altLang="en-US" sz="1200" dirty="0">
              <a:latin typeface="メイリオ"/>
              <a:ea typeface="メイリオ"/>
              <a:cs typeface="メイリオ"/>
            </a:endParaRPr>
          </a:p>
        </p:txBody>
      </p:sp>
      <p:sp>
        <p:nvSpPr>
          <p:cNvPr id="17" name="タナカホーム"/>
          <p:cNvSpPr/>
          <p:nvPr/>
        </p:nvSpPr>
        <p:spPr>
          <a:xfrm>
            <a:off x="5971032" y="2011680"/>
            <a:ext cx="3429000" cy="548640"/>
          </a:xfrm>
          <a:prstGeom prst="rect">
            <a:avLst/>
          </a:prstGeom>
          <a:noFill/>
          <a:ln>
            <a:noFill/>
          </a:ln>
        </p:spPr>
        <p:txBody>
          <a:bodyPr wrap="square" lIns="18288" tIns="18288" rIns="18288" bIns="0" rtlCol="0" anchor="ctr">
            <a:noAutofit/>
          </a:bodyPr>
          <a:lstStyle/>
          <a:p>
            <a:pPr algn="l">
              <a:lnSpc>
                <a:spcPct val="115000"/>
              </a:lnSpc>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来場特典に加え、</a:t>
            </a:r>
            <a:endParaRPr lang="ja-JP" altLang="en-US" sz="1200" dirty="0">
              <a:latin typeface="メイリオ"/>
              <a:ea typeface="メイリオ"/>
              <a:cs typeface="メイリオ"/>
            </a:endParaRPr>
          </a:p>
          <a:p>
            <a:pPr algn="l">
              <a:lnSpc>
                <a:spcPct val="115000"/>
              </a:lnSpc>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施工事例・ルームツアーなどの情報</a:t>
            </a:r>
            <a:endParaRPr lang="ja-JP" altLang="en-US" sz="1200" dirty="0">
              <a:latin typeface="メイリオ"/>
              <a:ea typeface="メイリオ"/>
              <a:cs typeface="メイリオ"/>
            </a:endParaRPr>
          </a:p>
        </p:txBody>
      </p:sp>
      <p:cxnSp>
        <p:nvCxnSpPr>
          <p:cNvPr id="18" name="項目の区切り"/>
          <p:cNvCxnSpPr/>
          <p:nvPr/>
        </p:nvCxnSpPr>
        <p:spPr>
          <a:xfrm>
            <a:off x="502920" y="2606040"/>
            <a:ext cx="8897112" cy="0"/>
          </a:xfrm>
          <a:prstGeom prst="line">
            <a:avLst/>
          </a:prstGeom>
          <a:ln w="9525">
            <a:solidFill>
              <a:srgbClr val="D9D9D9"/>
            </a:solidFill>
          </a:ln>
        </p:spPr>
        <p:style>
          <a:lnRef idx="2">
            <a:schemeClr val="accent1"/>
          </a:lnRef>
          <a:fillRef idx="0">
            <a:schemeClr val="accent1"/>
          </a:fillRef>
          <a:effectRef idx="1">
            <a:schemeClr val="accent1"/>
          </a:effectRef>
          <a:fontRef idx="minor">
            <a:schemeClr val="tx1"/>
          </a:fontRef>
        </p:style>
      </p:cxnSp>
      <p:sp>
        <p:nvSpPr>
          <p:cNvPr id="19" name="項目 友だちの入口"/>
          <p:cNvSpPr/>
          <p:nvPr/>
        </p:nvSpPr>
        <p:spPr>
          <a:xfrm>
            <a:off x="4023360" y="2724912"/>
            <a:ext cx="1828800" cy="402335"/>
          </a:xfrm>
          <a:prstGeom prst="rect">
            <a:avLst/>
          </a:prstGeom>
          <a:solidFill>
            <a:srgbClr val="FFFFFF"/>
          </a:solidFill>
          <a:ln w="12700">
            <a:solidFill>
              <a:srgbClr val="1F285A"/>
            </a:solidFill>
          </a:ln>
        </p:spPr>
        <p:txBody>
          <a:bodyPr wrap="square" lIns="73152" tIns="36576" rIns="73152" bIns="36576" rtlCol="0" anchor="ctr">
            <a:noAutofit/>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友だちの入口</a:t>
            </a:r>
            <a:endParaRPr lang="ja-JP" altLang="en-US" sz="1200" dirty="0">
              <a:latin typeface="メイリオ"/>
              <a:ea typeface="メイリオ"/>
              <a:cs typeface="メイリオ"/>
            </a:endParaRPr>
          </a:p>
        </p:txBody>
      </p:sp>
      <p:sp>
        <p:nvSpPr>
          <p:cNvPr id="20" name="大進建設"/>
          <p:cNvSpPr/>
          <p:nvPr/>
        </p:nvSpPr>
        <p:spPr>
          <a:xfrm>
            <a:off x="502920" y="2651760"/>
            <a:ext cx="3401568" cy="548640"/>
          </a:xfrm>
          <a:prstGeom prst="rect">
            <a:avLst/>
          </a:prstGeom>
          <a:noFill/>
          <a:ln>
            <a:noFill/>
          </a:ln>
        </p:spPr>
        <p:txBody>
          <a:bodyPr wrap="square" lIns="18288" tIns="18288" rIns="18288" bIns="0" rtlCol="0" anchor="ctr">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サイトのポップアップ</a:t>
            </a:r>
            <a:endParaRPr lang="ja-JP" altLang="en-US" sz="1200" dirty="0">
              <a:latin typeface="メイリオ"/>
              <a:ea typeface="メイリオ"/>
              <a:cs typeface="メイリオ"/>
            </a:endParaRPr>
          </a:p>
        </p:txBody>
      </p:sp>
      <p:sp>
        <p:nvSpPr>
          <p:cNvPr id="21" name="タナカホーム"/>
          <p:cNvSpPr/>
          <p:nvPr/>
        </p:nvSpPr>
        <p:spPr>
          <a:xfrm>
            <a:off x="5971032" y="2651760"/>
            <a:ext cx="3429000" cy="548640"/>
          </a:xfrm>
          <a:prstGeom prst="rect">
            <a:avLst/>
          </a:prstGeom>
          <a:noFill/>
          <a:ln>
            <a:noFill/>
          </a:ln>
        </p:spPr>
        <p:txBody>
          <a:bodyPr wrap="square" lIns="18288" tIns="18288" rIns="18288" bIns="0" rtlCol="0" anchor="ctr">
            <a:noAutofit/>
          </a:bodyPr>
          <a:lstStyle/>
          <a:p>
            <a:pPr algn="l">
              <a:lnSpc>
                <a:spcPct val="115000"/>
              </a:lnSpc>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サイトのポップアップ＋</a:t>
            </a:r>
            <a:endParaRPr lang="ja-JP" altLang="en-US" sz="1200" dirty="0">
              <a:latin typeface="メイリオ"/>
              <a:ea typeface="メイリオ"/>
              <a:cs typeface="メイリオ"/>
            </a:endParaRPr>
          </a:p>
          <a:p>
            <a:pPr algn="l">
              <a:lnSpc>
                <a:spcPct val="115000"/>
              </a:lnSpc>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サイトを閉じるとき・資料請求の完了直後</a:t>
            </a:r>
            <a:endParaRPr lang="ja-JP" altLang="en-US" sz="1200" dirty="0">
              <a:latin typeface="メイリオ"/>
              <a:ea typeface="メイリオ"/>
              <a:cs typeface="メイリオ"/>
            </a:endParaRPr>
          </a:p>
        </p:txBody>
      </p:sp>
      <p:cxnSp>
        <p:nvCxnSpPr>
          <p:cNvPr id="22" name="項目の区切り"/>
          <p:cNvCxnSpPr/>
          <p:nvPr/>
        </p:nvCxnSpPr>
        <p:spPr>
          <a:xfrm>
            <a:off x="502920" y="3246120"/>
            <a:ext cx="8897112" cy="0"/>
          </a:xfrm>
          <a:prstGeom prst="line">
            <a:avLst/>
          </a:prstGeom>
          <a:ln w="9525">
            <a:solidFill>
              <a:srgbClr val="D9D9D9"/>
            </a:solidFill>
          </a:ln>
        </p:spPr>
        <p:style>
          <a:lnRef idx="2">
            <a:schemeClr val="accent1"/>
          </a:lnRef>
          <a:fillRef idx="0">
            <a:schemeClr val="accent1"/>
          </a:fillRef>
          <a:effectRef idx="1">
            <a:schemeClr val="accent1"/>
          </a:effectRef>
          <a:fontRef idx="minor">
            <a:schemeClr val="tx1"/>
          </a:fontRef>
        </p:style>
      </p:cxnSp>
      <p:sp>
        <p:nvSpPr>
          <p:cNvPr id="23" name="項目 あいさつ"/>
          <p:cNvSpPr/>
          <p:nvPr/>
        </p:nvSpPr>
        <p:spPr>
          <a:xfrm>
            <a:off x="4023360" y="3364992"/>
            <a:ext cx="1828800" cy="402335"/>
          </a:xfrm>
          <a:prstGeom prst="rect">
            <a:avLst/>
          </a:prstGeom>
          <a:solidFill>
            <a:srgbClr val="FFFFFF"/>
          </a:solidFill>
          <a:ln w="12700">
            <a:solidFill>
              <a:srgbClr val="1F285A"/>
            </a:solidFill>
          </a:ln>
        </p:spPr>
        <p:txBody>
          <a:bodyPr wrap="square" lIns="73152" tIns="36576" rIns="73152" bIns="36576" rtlCol="0" anchor="ctr">
            <a:noAutofit/>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あいさつ</a:t>
            </a:r>
            <a:endParaRPr lang="ja-JP" altLang="en-US" sz="1200" dirty="0">
              <a:latin typeface="メイリオ"/>
              <a:ea typeface="メイリオ"/>
              <a:cs typeface="メイリオ"/>
            </a:endParaRPr>
          </a:p>
        </p:txBody>
      </p:sp>
      <p:sp>
        <p:nvSpPr>
          <p:cNvPr id="24" name="大進建設"/>
          <p:cNvSpPr/>
          <p:nvPr/>
        </p:nvSpPr>
        <p:spPr>
          <a:xfrm>
            <a:off x="502920" y="3291840"/>
            <a:ext cx="3401568" cy="548640"/>
          </a:xfrm>
          <a:prstGeom prst="rect">
            <a:avLst/>
          </a:prstGeom>
          <a:noFill/>
          <a:ln>
            <a:noFill/>
          </a:ln>
        </p:spPr>
        <p:txBody>
          <a:bodyPr wrap="square" lIns="18288" tIns="18288" rIns="18288" bIns="0" rtlCol="0" anchor="ctr">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お名前入りのあいさつと、キャンペーンの案内。</a:t>
            </a:r>
            <a:endParaRPr lang="ja-JP" altLang="en-US" sz="1200" dirty="0">
              <a:latin typeface="メイリオ"/>
              <a:ea typeface="メイリオ"/>
              <a:cs typeface="メイリオ"/>
            </a:endParaRPr>
          </a:p>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「まずは資料請求から」</a:t>
            </a:r>
            <a:endParaRPr lang="ja-JP" altLang="en-US" sz="1200" dirty="0">
              <a:latin typeface="メイリオ"/>
              <a:ea typeface="メイリオ"/>
              <a:cs typeface="メイリオ"/>
            </a:endParaRPr>
          </a:p>
        </p:txBody>
      </p:sp>
      <p:sp>
        <p:nvSpPr>
          <p:cNvPr id="25" name="タナカホーム"/>
          <p:cNvSpPr/>
          <p:nvPr/>
        </p:nvSpPr>
        <p:spPr>
          <a:xfrm>
            <a:off x="5971032" y="3291840"/>
            <a:ext cx="3429000" cy="548640"/>
          </a:xfrm>
          <a:prstGeom prst="rect">
            <a:avLst/>
          </a:prstGeom>
          <a:noFill/>
          <a:ln>
            <a:noFill/>
          </a:ln>
        </p:spPr>
        <p:txBody>
          <a:bodyPr wrap="square" lIns="18288" tIns="18288" rIns="18288" bIns="0" rtlCol="0" anchor="ctr">
            <a:noAutofit/>
          </a:bodyPr>
          <a:lstStyle/>
          <a:p>
            <a:pPr algn="l">
              <a:lnSpc>
                <a:spcPct val="115000"/>
              </a:lnSpc>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予約の案内に加え、</a:t>
            </a:r>
            <a:endParaRPr lang="ja-JP" altLang="en-US" sz="1200" dirty="0">
              <a:latin typeface="メイリオ"/>
              <a:ea typeface="メイリオ"/>
              <a:cs typeface="メイリオ"/>
            </a:endParaRPr>
          </a:p>
          <a:p>
            <a:pPr algn="l">
              <a:lnSpc>
                <a:spcPct val="115000"/>
              </a:lnSpc>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平屋か2階建てか・予算の簡易診断へ</a:t>
            </a:r>
            <a:endParaRPr lang="ja-JP" altLang="en-US" sz="1200" dirty="0">
              <a:latin typeface="メイリオ"/>
              <a:ea typeface="メイリオ"/>
              <a:cs typeface="メイリオ"/>
            </a:endParaRPr>
          </a:p>
        </p:txBody>
      </p:sp>
      <p:cxnSp>
        <p:nvCxnSpPr>
          <p:cNvPr id="26" name="項目の区切り"/>
          <p:cNvCxnSpPr/>
          <p:nvPr/>
        </p:nvCxnSpPr>
        <p:spPr>
          <a:xfrm>
            <a:off x="502920" y="3886200"/>
            <a:ext cx="8897112" cy="0"/>
          </a:xfrm>
          <a:prstGeom prst="line">
            <a:avLst/>
          </a:prstGeom>
          <a:ln w="9525">
            <a:solidFill>
              <a:srgbClr val="D9D9D9"/>
            </a:solidFill>
          </a:ln>
        </p:spPr>
        <p:style>
          <a:lnRef idx="2">
            <a:schemeClr val="accent1"/>
          </a:lnRef>
          <a:fillRef idx="0">
            <a:schemeClr val="accent1"/>
          </a:fillRef>
          <a:effectRef idx="1">
            <a:schemeClr val="accent1"/>
          </a:effectRef>
          <a:fontRef idx="minor">
            <a:schemeClr val="tx1"/>
          </a:fontRef>
        </p:style>
      </p:cxnSp>
      <p:sp>
        <p:nvSpPr>
          <p:cNvPr id="27" name="項目 リッチメニュー"/>
          <p:cNvSpPr/>
          <p:nvPr/>
        </p:nvSpPr>
        <p:spPr>
          <a:xfrm>
            <a:off x="4023360" y="4005072"/>
            <a:ext cx="1828800" cy="402335"/>
          </a:xfrm>
          <a:prstGeom prst="rect">
            <a:avLst/>
          </a:prstGeom>
          <a:solidFill>
            <a:srgbClr val="FFFFFF"/>
          </a:solidFill>
          <a:ln w="12700">
            <a:solidFill>
              <a:srgbClr val="1F285A"/>
            </a:solidFill>
          </a:ln>
        </p:spPr>
        <p:txBody>
          <a:bodyPr wrap="square" lIns="73152" tIns="36576" rIns="73152" bIns="36576" rtlCol="0" anchor="ctr">
            <a:noAutofit/>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リッチメニュー</a:t>
            </a:r>
            <a:endParaRPr lang="ja-JP" altLang="en-US" sz="1200" dirty="0">
              <a:latin typeface="メイリオ"/>
              <a:ea typeface="メイリオ"/>
              <a:cs typeface="メイリオ"/>
            </a:endParaRPr>
          </a:p>
        </p:txBody>
      </p:sp>
      <p:sp>
        <p:nvSpPr>
          <p:cNvPr id="28" name="大進建設"/>
          <p:cNvSpPr/>
          <p:nvPr/>
        </p:nvSpPr>
        <p:spPr>
          <a:xfrm>
            <a:off x="502920" y="3931920"/>
            <a:ext cx="3401568" cy="548640"/>
          </a:xfrm>
          <a:prstGeom prst="rect">
            <a:avLst/>
          </a:prstGeom>
          <a:noFill/>
          <a:ln>
            <a:noFill/>
          </a:ln>
        </p:spPr>
        <p:txBody>
          <a:bodyPr wrap="square" lIns="18288" tIns="18288" rIns="18288" bIns="0" rtlCol="0" anchor="ctr">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キャンペーン・資料請求・モデルハウス・</a:t>
            </a:r>
            <a:endParaRPr lang="ja-JP" altLang="en-US" sz="1200" dirty="0">
              <a:latin typeface="メイリオ"/>
              <a:ea typeface="メイリオ"/>
              <a:cs typeface="メイリオ"/>
            </a:endParaRPr>
          </a:p>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イベント・土地情報</a:t>
            </a:r>
            <a:endParaRPr lang="ja-JP" altLang="en-US" sz="1200" dirty="0">
              <a:latin typeface="メイリオ"/>
              <a:ea typeface="メイリオ"/>
              <a:cs typeface="メイリオ"/>
            </a:endParaRPr>
          </a:p>
        </p:txBody>
      </p:sp>
      <p:sp>
        <p:nvSpPr>
          <p:cNvPr id="29" name="タナカホーム"/>
          <p:cNvSpPr/>
          <p:nvPr/>
        </p:nvSpPr>
        <p:spPr>
          <a:xfrm>
            <a:off x="5971032" y="3931920"/>
            <a:ext cx="3429000" cy="548640"/>
          </a:xfrm>
          <a:prstGeom prst="rect">
            <a:avLst/>
          </a:prstGeom>
          <a:noFill/>
          <a:ln>
            <a:noFill/>
          </a:ln>
        </p:spPr>
        <p:txBody>
          <a:bodyPr wrap="square" lIns="18288" tIns="18288" rIns="18288" bIns="0" rtlCol="0" anchor="ctr">
            <a:noAutofit/>
          </a:bodyPr>
          <a:lstStyle/>
          <a:p>
            <a:pPr algn="l">
              <a:lnSpc>
                <a:spcPct val="115000"/>
              </a:lnSpc>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今の予約・ホームページ・SNSに、</a:t>
            </a:r>
            <a:endParaRPr lang="ja-JP" altLang="en-US" sz="1200" dirty="0">
              <a:latin typeface="メイリオ"/>
              <a:ea typeface="メイリオ"/>
              <a:cs typeface="メイリオ"/>
            </a:endParaRPr>
          </a:p>
          <a:p>
            <a:pPr algn="l">
              <a:lnSpc>
                <a:spcPct val="115000"/>
              </a:lnSpc>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施工事例・ルームツアー・資金相談を足す</a:t>
            </a:r>
            <a:endParaRPr lang="ja-JP" altLang="en-US" sz="1200" dirty="0">
              <a:latin typeface="メイリオ"/>
              <a:ea typeface="メイリオ"/>
              <a:cs typeface="メイリオ"/>
            </a:endParaRPr>
          </a:p>
        </p:txBody>
      </p:sp>
      <p:cxnSp>
        <p:nvCxnSpPr>
          <p:cNvPr id="30" name="項目の区切り"/>
          <p:cNvCxnSpPr/>
          <p:nvPr/>
        </p:nvCxnSpPr>
        <p:spPr>
          <a:xfrm>
            <a:off x="502920" y="4526280"/>
            <a:ext cx="8897112" cy="0"/>
          </a:xfrm>
          <a:prstGeom prst="line">
            <a:avLst/>
          </a:prstGeom>
          <a:ln w="9525">
            <a:solidFill>
              <a:srgbClr val="D9D9D9"/>
            </a:solidFill>
          </a:ln>
        </p:spPr>
        <p:style>
          <a:lnRef idx="2">
            <a:schemeClr val="accent1"/>
          </a:lnRef>
          <a:fillRef idx="0">
            <a:schemeClr val="accent1"/>
          </a:fillRef>
          <a:effectRef idx="1">
            <a:schemeClr val="accent1"/>
          </a:effectRef>
          <a:fontRef idx="minor">
            <a:schemeClr val="tx1"/>
          </a:fontRef>
        </p:style>
      </p:cxnSp>
      <p:sp>
        <p:nvSpPr>
          <p:cNvPr id="31" name="項目 どこまで追うか"/>
          <p:cNvSpPr/>
          <p:nvPr/>
        </p:nvSpPr>
        <p:spPr>
          <a:xfrm>
            <a:off x="4023360" y="4645152"/>
            <a:ext cx="1828800" cy="402335"/>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cs typeface="メイリオ"/>
              </a:rPr>
              <a:t>どこまで追うか</a:t>
            </a:r>
            <a:endParaRPr lang="ja-JP" altLang="en-US" sz="1200" dirty="0">
              <a:latin typeface="メイリオ"/>
              <a:ea typeface="メイリオ"/>
              <a:cs typeface="メイリオ"/>
            </a:endParaRPr>
          </a:p>
        </p:txBody>
      </p:sp>
      <p:sp>
        <p:nvSpPr>
          <p:cNvPr id="32" name="大進建設"/>
          <p:cNvSpPr/>
          <p:nvPr/>
        </p:nvSpPr>
        <p:spPr>
          <a:xfrm>
            <a:off x="502920" y="4572000"/>
            <a:ext cx="3401568" cy="548640"/>
          </a:xfrm>
          <a:prstGeom prst="rect">
            <a:avLst/>
          </a:prstGeom>
          <a:noFill/>
          <a:ln>
            <a:noFill/>
          </a:ln>
        </p:spPr>
        <p:txBody>
          <a:bodyPr wrap="square" lIns="18288" tIns="18288" rIns="18288" bIns="0" rtlCol="0" anchor="ctr">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特典で、資料請求・予約来場から、</a:t>
            </a:r>
            <a:endParaRPr lang="ja-JP" altLang="en-US" sz="1200" dirty="0">
              <a:latin typeface="メイリオ"/>
              <a:ea typeface="メイリオ"/>
              <a:cs typeface="メイリオ"/>
            </a:endParaRPr>
          </a:p>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来場後の事前審査まで</a:t>
            </a:r>
            <a:endParaRPr lang="ja-JP" altLang="en-US" sz="1200" dirty="0">
              <a:latin typeface="メイリオ"/>
              <a:ea typeface="メイリオ"/>
              <a:cs typeface="メイリオ"/>
            </a:endParaRPr>
          </a:p>
        </p:txBody>
      </p:sp>
      <p:sp>
        <p:nvSpPr>
          <p:cNvPr id="33" name="タナカホーム"/>
          <p:cNvSpPr/>
          <p:nvPr/>
        </p:nvSpPr>
        <p:spPr>
          <a:xfrm>
            <a:off x="5971032" y="4572000"/>
            <a:ext cx="3429000" cy="548640"/>
          </a:xfrm>
          <a:prstGeom prst="rect">
            <a:avLst/>
          </a:prstGeom>
          <a:noFill/>
          <a:ln>
            <a:noFill/>
          </a:ln>
        </p:spPr>
        <p:txBody>
          <a:bodyPr wrap="square" lIns="18288" tIns="18288" rIns="18288" bIns="0" rtlCol="0" anchor="ctr">
            <a:noAutofit/>
          </a:bodyPr>
          <a:lstStyle/>
          <a:p>
            <a:pPr algn="l">
              <a:lnSpc>
                <a:spcPct val="115000"/>
              </a:lnSpc>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弊社が運用を代行して、</a:t>
            </a:r>
            <a:endParaRPr lang="ja-JP" altLang="en-US" sz="1200" dirty="0">
              <a:latin typeface="メイリオ"/>
              <a:ea typeface="メイリオ"/>
              <a:cs typeface="メイリオ"/>
            </a:endParaRPr>
          </a:p>
          <a:p>
            <a:pPr algn="l">
              <a:lnSpc>
                <a:spcPct val="115000"/>
              </a:lnSpc>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資料請求の前から契約まで追う設計にする</a:t>
            </a:r>
            <a:endParaRPr lang="ja-JP" altLang="en-US" sz="1200" dirty="0">
              <a:latin typeface="メイリオ"/>
              <a:ea typeface="メイリオ"/>
              <a:cs typeface="メイリオ"/>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Google Shape;752;p28">
            <a:extLst>
              <a:ext uri="{FF2B5EF4-FFF2-40B4-BE49-F238E27FC236}">
                <a16:creationId xmlns:a16="http://schemas.microsoft.com/office/drawing/2014/main" id="{88CD823C-3E61-5E93-B9FE-BD623737FC13}"/>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03</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403775D4-CF2D-3023-3056-9E596BBE8648}"/>
              </a:ext>
            </a:extLst>
          </p:cNvPr>
          <p:cNvSpPr txBox="1"/>
          <p:nvPr/>
        </p:nvSpPr>
        <p:spPr>
          <a:xfrm>
            <a:off x="1867143" y="1043132"/>
            <a:ext cx="5028957"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課題</a:t>
            </a:r>
          </a:p>
        </p:txBody>
      </p:sp>
      <p:cxnSp>
        <p:nvCxnSpPr>
          <p:cNvPr id="17" name="直線コネクタ 16">
            <a:extLst>
              <a:ext uri="{FF2B5EF4-FFF2-40B4-BE49-F238E27FC236}">
                <a16:creationId xmlns:a16="http://schemas.microsoft.com/office/drawing/2014/main" id="{24E0D700-8F0C-AA59-0C53-7B51F6E65BAA}"/>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課題：来場を決める前の検討中の方と、LINEでつながれていない</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サイトに来た方の多くは、来場予約も資料請求もせずに離れている</a:t>
            </a:r>
            <a:endParaRPr lang="en-US" sz="1400" b="1" u="none" strike="noStrike" dirty="0">
              <a:effectLst/>
              <a:uFillTx/>
              <a:latin typeface="メイリオ"/>
            </a:endParaRPr>
          </a:p>
        </p:txBody>
      </p:sp>
      <p:sp>
        <p:nvSpPr>
          <p:cNvPr id="7" name="流れ1"/>
          <p:cNvSpPr/>
          <p:nvPr/>
        </p:nvSpPr>
        <p:spPr>
          <a:xfrm>
            <a:off x="502920" y="1691640"/>
            <a:ext cx="2004822" cy="658368"/>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250" b="1" dirty="0">
                <a:solidFill>
                  <a:srgbClr val="FFFFFF"/>
                </a:solidFill>
                <a:latin typeface="メイリオ" panose="020B0604030504040204" pitchFamily="50" charset="-128"/>
                <a:ea typeface="メイリオ" panose="020B0604030504040204" pitchFamily="50" charset="-128"/>
              </a:rPr>
              <a:t>流入</a:t>
            </a:r>
            <a:endParaRPr lang="ja-JP" altLang="en-US" sz="1300" dirty="0"/>
          </a:p>
          <a:p>
            <a:pPr algn="ctr">
              <a:lnSpc>
                <a:spcPct val="115000"/>
              </a:lnSpc>
              <a:buNone/>
            </a:pPr>
            <a:r>
              <a:rPr lang="ja-JP" altLang="en-US" sz="1250" b="1" dirty="0">
                <a:solidFill>
                  <a:srgbClr val="FFFFFF"/>
                </a:solidFill>
                <a:latin typeface="メイリオ" panose="020B0604030504040204" pitchFamily="50" charset="-128"/>
                <a:ea typeface="メイリオ" panose="020B0604030504040204" pitchFamily="50" charset="-128"/>
              </a:rPr>
              <a:t>広告・SEO・ポータル</a:t>
            </a:r>
            <a:endParaRPr lang="ja-JP" altLang="en-US" sz="1300" dirty="0"/>
          </a:p>
        </p:txBody>
      </p:sp>
      <p:sp>
        <p:nvSpPr>
          <p:cNvPr id="8" name="矢印"/>
          <p:cNvSpPr/>
          <p:nvPr/>
        </p:nvSpPr>
        <p:spPr>
          <a:xfrm>
            <a:off x="2507741" y="1691640"/>
            <a:ext cx="292608" cy="658368"/>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9" name="流れ2"/>
          <p:cNvSpPr/>
          <p:nvPr/>
        </p:nvSpPr>
        <p:spPr>
          <a:xfrm>
            <a:off x="2800350" y="1691640"/>
            <a:ext cx="2004822" cy="658368"/>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250" b="1" dirty="0">
                <a:solidFill>
                  <a:srgbClr val="FFFFFF"/>
                </a:solidFill>
                <a:latin typeface="メイリオ" panose="020B0604030504040204" pitchFamily="50" charset="-128"/>
                <a:ea typeface="メイリオ" panose="020B0604030504040204" pitchFamily="50" charset="-128"/>
              </a:rPr>
              <a:t>資料請求</a:t>
            </a:r>
            <a:endParaRPr lang="ja-JP" altLang="en-US" sz="1300" dirty="0"/>
          </a:p>
        </p:txBody>
      </p:sp>
      <p:sp>
        <p:nvSpPr>
          <p:cNvPr id="10" name="矢印"/>
          <p:cNvSpPr/>
          <p:nvPr/>
        </p:nvSpPr>
        <p:spPr>
          <a:xfrm>
            <a:off x="4805172" y="1691640"/>
            <a:ext cx="292608" cy="658368"/>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11" name="流れ3"/>
          <p:cNvSpPr/>
          <p:nvPr/>
        </p:nvSpPr>
        <p:spPr>
          <a:xfrm>
            <a:off x="5097779" y="1691640"/>
            <a:ext cx="2004822" cy="658368"/>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250" b="1" dirty="0">
                <a:solidFill>
                  <a:srgbClr val="FFFFFF"/>
                </a:solidFill>
                <a:latin typeface="メイリオ" panose="020B0604030504040204" pitchFamily="50" charset="-128"/>
                <a:ea typeface="メイリオ" panose="020B0604030504040204" pitchFamily="50" charset="-128"/>
              </a:rPr>
              <a:t>来場予約・来場</a:t>
            </a:r>
            <a:endParaRPr lang="ja-JP" altLang="en-US" sz="1300" dirty="0"/>
          </a:p>
        </p:txBody>
      </p:sp>
      <p:sp>
        <p:nvSpPr>
          <p:cNvPr id="12" name="矢印"/>
          <p:cNvSpPr/>
          <p:nvPr/>
        </p:nvSpPr>
        <p:spPr>
          <a:xfrm>
            <a:off x="7102601" y="1691640"/>
            <a:ext cx="292608" cy="658368"/>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13" name="流れ4"/>
          <p:cNvSpPr/>
          <p:nvPr/>
        </p:nvSpPr>
        <p:spPr>
          <a:xfrm>
            <a:off x="7395210" y="1691640"/>
            <a:ext cx="2004822" cy="658368"/>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250" b="1" dirty="0">
                <a:solidFill>
                  <a:srgbClr val="FFFFFF"/>
                </a:solidFill>
                <a:latin typeface="メイリオ" panose="020B0604030504040204" pitchFamily="50" charset="-128"/>
                <a:ea typeface="メイリオ" panose="020B0604030504040204" pitchFamily="50" charset="-128"/>
              </a:rPr>
              <a:t>商談・契約</a:t>
            </a:r>
            <a:endParaRPr lang="ja-JP" altLang="en-US" sz="1300" dirty="0"/>
          </a:p>
        </p:txBody>
      </p:sp>
      <p:sp>
        <p:nvSpPr>
          <p:cNvPr id="14" name="状態1"/>
          <p:cNvSpPr/>
          <p:nvPr/>
        </p:nvSpPr>
        <p:spPr>
          <a:xfrm>
            <a:off x="502920" y="2468880"/>
            <a:ext cx="2004822" cy="1463040"/>
          </a:xfrm>
          <a:prstGeom prst="rect">
            <a:avLst/>
          </a:prstGeom>
          <a:noFill/>
          <a:ln w="9525">
            <a:solidFill>
              <a:srgbClr val="D9D9D9"/>
            </a:solidFill>
          </a:ln>
        </p:spPr>
        <p:txBody>
          <a:bodyPr wrap="square" lIns="91440" tIns="73152" rIns="91440" bIns="54864" rtlCol="0" anchor="t">
            <a:noAutofit/>
          </a:bodyPr>
          <a:lstStyle/>
          <a:p>
            <a:pPr algn="l">
              <a:lnSpc>
                <a:spcPct val="120000"/>
              </a:lnSpc>
              <a:buNone/>
            </a:pPr>
            <a:r>
              <a:rPr lang="ja-JP" altLang="en-US" sz="1250" b="1" dirty="0">
                <a:solidFill>
                  <a:srgbClr val="1F285A"/>
                </a:solidFill>
                <a:latin typeface="メイリオ" panose="020B0604030504040204" pitchFamily="50" charset="-128"/>
                <a:ea typeface="メイリオ" panose="020B0604030504040204" pitchFamily="50" charset="-128"/>
              </a:rPr>
              <a:t>検討の動き</a:t>
            </a:r>
            <a:endParaRPr lang="ja-JP" altLang="en-US" sz="1400" dirty="0"/>
          </a:p>
          <a:p>
            <a:pPr algn="l">
              <a:lnSpc>
                <a:spcPct val="120000"/>
              </a:lnSpc>
              <a:buNone/>
            </a:pPr>
            <a:r>
              <a:rPr lang="ja-JP" altLang="en-US" sz="1250" b="0" dirty="0">
                <a:solidFill>
                  <a:srgbClr val="333333"/>
                </a:solidFill>
                <a:latin typeface="メイリオ" panose="020B0604030504040204" pitchFamily="50" charset="-128"/>
                <a:ea typeface="メイリオ" panose="020B0604030504040204" pitchFamily="50" charset="-128"/>
              </a:rPr>
              <a:t>来場を決めるまでの間、複数の会社を比べ、費用や性能を調べ続ける</a:t>
            </a:r>
            <a:endParaRPr lang="ja-JP" altLang="en-US" sz="1400" dirty="0"/>
          </a:p>
        </p:txBody>
      </p:sp>
      <p:sp>
        <p:nvSpPr>
          <p:cNvPr id="15" name="状態2"/>
          <p:cNvSpPr/>
          <p:nvPr/>
        </p:nvSpPr>
        <p:spPr>
          <a:xfrm>
            <a:off x="2800350" y="2468880"/>
            <a:ext cx="2004822" cy="1463040"/>
          </a:xfrm>
          <a:prstGeom prst="rect">
            <a:avLst/>
          </a:prstGeom>
          <a:noFill/>
          <a:ln w="9525">
            <a:solidFill>
              <a:srgbClr val="D9D9D9"/>
            </a:solidFill>
          </a:ln>
        </p:spPr>
        <p:txBody>
          <a:bodyPr wrap="square" lIns="91440" tIns="73152" rIns="91440" bIns="54864" rtlCol="0" anchor="t">
            <a:noAutofit/>
          </a:bodyPr>
          <a:lstStyle/>
          <a:p>
            <a:pPr algn="l">
              <a:lnSpc>
                <a:spcPct val="120000"/>
              </a:lnSpc>
              <a:buNone/>
            </a:pPr>
            <a:r>
              <a:rPr lang="ja-JP" altLang="en-US" sz="1250" b="1" dirty="0">
                <a:solidFill>
                  <a:srgbClr val="1F285A"/>
                </a:solidFill>
                <a:latin typeface="メイリオ" panose="020B0604030504040204" pitchFamily="50" charset="-128"/>
                <a:ea typeface="メイリオ" panose="020B0604030504040204" pitchFamily="50" charset="-128"/>
              </a:rPr>
              <a:t>資料請求の後</a:t>
            </a:r>
            <a:endParaRPr lang="ja-JP" altLang="en-US" sz="1400" dirty="0"/>
          </a:p>
          <a:p>
            <a:pPr algn="l">
              <a:lnSpc>
                <a:spcPct val="120000"/>
              </a:lnSpc>
              <a:buNone/>
            </a:pPr>
            <a:r>
              <a:rPr lang="ja-JP" altLang="en-US" sz="1250" b="0" dirty="0">
                <a:solidFill>
                  <a:srgbClr val="333333"/>
                </a:solidFill>
                <a:latin typeface="メイリオ" panose="020B0604030504040204" pitchFamily="50" charset="-128"/>
                <a:ea typeface="メイリオ" panose="020B0604030504040204" pitchFamily="50" charset="-128"/>
              </a:rPr>
              <a:t>今の友だち登録のご案内は来場特典とセット。来場を決める前の方には、友だちになる理由がない</a:t>
            </a:r>
            <a:endParaRPr lang="ja-JP" altLang="en-US" sz="1400" dirty="0"/>
          </a:p>
        </p:txBody>
      </p:sp>
      <p:sp>
        <p:nvSpPr>
          <p:cNvPr id="16" name="状態3"/>
          <p:cNvSpPr/>
          <p:nvPr/>
        </p:nvSpPr>
        <p:spPr>
          <a:xfrm>
            <a:off x="5097779" y="2468880"/>
            <a:ext cx="2004822" cy="1463040"/>
          </a:xfrm>
          <a:prstGeom prst="rect">
            <a:avLst/>
          </a:prstGeom>
          <a:noFill/>
          <a:ln w="9525">
            <a:solidFill>
              <a:srgbClr val="D9D9D9"/>
            </a:solidFill>
          </a:ln>
        </p:spPr>
        <p:txBody>
          <a:bodyPr wrap="square" lIns="91440" tIns="73152" rIns="91440" bIns="54864" rtlCol="0" anchor="t">
            <a:noAutofit/>
          </a:bodyPr>
          <a:lstStyle/>
          <a:p>
            <a:pPr algn="l">
              <a:lnSpc>
                <a:spcPct val="120000"/>
              </a:lnSpc>
              <a:buNone/>
            </a:pPr>
            <a:r>
              <a:rPr lang="ja-JP" altLang="en-US" sz="1250" b="1" dirty="0">
                <a:solidFill>
                  <a:srgbClr val="1F285A"/>
                </a:solidFill>
                <a:latin typeface="メイリオ" panose="020B0604030504040204" pitchFamily="50" charset="-128"/>
                <a:ea typeface="メイリオ" panose="020B0604030504040204" pitchFamily="50" charset="-128"/>
              </a:rPr>
              <a:t>来場予約の後</a:t>
            </a:r>
            <a:endParaRPr lang="ja-JP" altLang="en-US" sz="1400" dirty="0"/>
          </a:p>
          <a:p>
            <a:pPr algn="l">
              <a:lnSpc>
                <a:spcPct val="120000"/>
              </a:lnSpc>
              <a:buNone/>
            </a:pPr>
            <a:r>
              <a:rPr lang="ja-JP" altLang="en-US" sz="1250" b="0" dirty="0">
                <a:solidFill>
                  <a:srgbClr val="333333"/>
                </a:solidFill>
                <a:latin typeface="メイリオ" panose="020B0604030504040204" pitchFamily="50" charset="-128"/>
                <a:ea typeface="メイリオ" panose="020B0604030504040204" pitchFamily="50" charset="-128"/>
              </a:rPr>
              <a:t>LINEで見学会・来場予約をご案内できている</a:t>
            </a:r>
            <a:endParaRPr lang="ja-JP" altLang="en-US" sz="1400" dirty="0"/>
          </a:p>
        </p:txBody>
      </p:sp>
      <p:sp>
        <p:nvSpPr>
          <p:cNvPr id="17" name="状態4"/>
          <p:cNvSpPr/>
          <p:nvPr/>
        </p:nvSpPr>
        <p:spPr>
          <a:xfrm>
            <a:off x="7395210" y="2468880"/>
            <a:ext cx="2004822" cy="1463040"/>
          </a:xfrm>
          <a:prstGeom prst="rect">
            <a:avLst/>
          </a:prstGeom>
          <a:noFill/>
          <a:ln w="9525">
            <a:solidFill>
              <a:srgbClr val="D9D9D9"/>
            </a:solidFill>
          </a:ln>
        </p:spPr>
        <p:txBody>
          <a:bodyPr wrap="square" lIns="91440" tIns="73152" rIns="91440" bIns="54864" rtlCol="0" anchor="t">
            <a:noAutofit/>
          </a:bodyPr>
          <a:lstStyle/>
          <a:p>
            <a:pPr algn="l">
              <a:lnSpc>
                <a:spcPct val="120000"/>
              </a:lnSpc>
              <a:buNone/>
            </a:pPr>
            <a:r>
              <a:rPr lang="ja-JP" altLang="en-US" sz="1250" b="1" dirty="0">
                <a:solidFill>
                  <a:srgbClr val="1F285A"/>
                </a:solidFill>
                <a:latin typeface="メイリオ" panose="020B0604030504040204" pitchFamily="50" charset="-128"/>
                <a:ea typeface="メイリオ" panose="020B0604030504040204" pitchFamily="50" charset="-128"/>
              </a:rPr>
              <a:t>来場の後</a:t>
            </a:r>
            <a:endParaRPr lang="ja-JP" altLang="en-US" sz="1400" dirty="0"/>
          </a:p>
          <a:p>
            <a:pPr algn="l">
              <a:lnSpc>
                <a:spcPct val="120000"/>
              </a:lnSpc>
              <a:buNone/>
            </a:pPr>
            <a:r>
              <a:rPr lang="ja-JP" altLang="en-US" sz="1250" b="0" dirty="0">
                <a:solidFill>
                  <a:srgbClr val="333333"/>
                </a:solidFill>
                <a:latin typeface="メイリオ" panose="020B0604030504040204" pitchFamily="50" charset="-128"/>
                <a:ea typeface="メイリオ" panose="020B0604030504040204" pitchFamily="50" charset="-128"/>
              </a:rPr>
              <a:t>競合（一条工務店・大進建設）と比べながら、契約まで検討が続く</a:t>
            </a:r>
            <a:endParaRPr lang="ja-JP" altLang="en-US" sz="1400" dirty="0"/>
          </a:p>
        </p:txBody>
      </p:sp>
      <p:sp>
        <p:nvSpPr>
          <p:cNvPr id="18" name="範囲 これから"/>
          <p:cNvSpPr/>
          <p:nvPr/>
        </p:nvSpPr>
        <p:spPr>
          <a:xfrm>
            <a:off x="502920" y="4069080"/>
            <a:ext cx="4302252" cy="548640"/>
          </a:xfrm>
          <a:prstGeom prst="rect">
            <a:avLst/>
          </a:prstGeom>
          <a:solidFill>
            <a:srgbClr val="F4F7FF"/>
          </a:solidFill>
          <a:ln w="9525">
            <a:solidFill>
              <a:srgbClr val="1F285A"/>
            </a:solidFill>
            <a:prstDash val="dash"/>
          </a:ln>
        </p:spPr>
        <p:txBody>
          <a:bodyPr wrap="square" lIns="73152" tIns="36576" rIns="73152" bIns="36576" rtlCol="0" anchor="ctr">
            <a:noAutofit/>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来場を決める前：LINEでつながる入口がまだない</a:t>
            </a:r>
            <a:endParaRPr lang="ja-JP" altLang="en-US" sz="1400" dirty="0"/>
          </a:p>
        </p:txBody>
      </p:sp>
      <p:sp>
        <p:nvSpPr>
          <p:cNvPr id="19" name="範囲 今"/>
          <p:cNvSpPr/>
          <p:nvPr/>
        </p:nvSpPr>
        <p:spPr>
          <a:xfrm>
            <a:off x="5097780" y="4069080"/>
            <a:ext cx="4302252" cy="54864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来場を決めた後：今のLINEがご案内している範囲</a:t>
            </a:r>
            <a:endParaRPr lang="ja-JP" altLang="en-US" sz="1400" dirty="0"/>
          </a:p>
        </p:txBody>
      </p:sp>
      <p:sp>
        <p:nvSpPr>
          <p:cNvPr id="20" name="示唆"/>
          <p:cNvSpPr/>
          <p:nvPr/>
        </p:nvSpPr>
        <p:spPr>
          <a:xfrm>
            <a:off x="502920" y="5074920"/>
            <a:ext cx="8897112" cy="566928"/>
          </a:xfrm>
          <a:prstGeom prst="rect">
            <a:avLst/>
          </a:prstGeom>
          <a:solidFill>
            <a:srgbClr val="F4F7FF"/>
          </a:solidFill>
          <a:ln>
            <a:noFill/>
          </a:ln>
        </p:spPr>
        <p:txBody>
          <a:bodyPr wrap="square" lIns="73152" tIns="36576" rIns="73152" bIns="36576" rtlCol="0" anchor="ctr">
            <a:noAutofit/>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課題は配信の中身ではなく、</a:t>
            </a:r>
            <a:r>
              <a:rPr lang="ja-JP" altLang="en-US" sz="1400" b="1" dirty="0">
                <a:solidFill>
                  <a:srgbClr val="C00000"/>
                </a:solidFill>
                <a:latin typeface="メイリオ" panose="020B0604030504040204" pitchFamily="50" charset="-128"/>
                <a:ea typeface="メイリオ" panose="020B0604030504040204" pitchFamily="50" charset="-128"/>
              </a:rPr>
              <a:t>LINEでつながっている範囲にある</a:t>
            </a:r>
            <a:endParaRPr lang="ja-JP" altLang="en-US" sz="1400" dirty="0"/>
          </a:p>
        </p:txBody>
      </p:sp>
      <p:sp>
        <p:nvSpPr>
          <p:cNvPr id="21" name="注記"/>
          <p:cNvSpPr/>
          <p:nvPr/>
        </p:nvSpPr>
        <p:spPr>
          <a:xfrm>
            <a:off x="502920" y="5852160"/>
            <a:ext cx="8897112" cy="27432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※検討者の動きは、LINEヤフー社の前後検索データより</a:t>
            </a:r>
            <a:endParaRPr lang="ja-JP" alt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前後検索「注文住宅」：当日に大手を比べ、その後は住宅ローン・性能を調べる</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検討期間の約2週間の接点が、来場を左右する</a:t>
            </a:r>
            <a:endParaRPr lang="en-US" sz="1400" b="1" u="none" strike="noStrike" dirty="0">
              <a:effectLst/>
              <a:uFillTx/>
              <a:latin typeface="メイリオ"/>
            </a:endParaRPr>
          </a:p>
        </p:txBody>
      </p:sp>
      <p:pic>
        <p:nvPicPr>
          <p:cNvPr id="7" name="前後検索 注文住宅（色分け）" descr="tanaka_zengo_chumon_color.png"/>
          <p:cNvPicPr>
            <a:picLocks noChangeAspect="1"/>
          </p:cNvPicPr>
          <p:nvPr/>
        </p:nvPicPr>
        <p:blipFill>
          <a:blip r:embed="rId2"/>
          <a:stretch>
            <a:fillRect/>
          </a:stretch>
        </p:blipFill>
        <p:spPr>
          <a:xfrm>
            <a:off x="502920" y="1600200"/>
            <a:ext cx="5943600" cy="3468090"/>
          </a:xfrm>
          <a:prstGeom prst="rect">
            <a:avLst/>
          </a:prstGeom>
        </p:spPr>
      </p:pic>
      <p:sp>
        <p:nvSpPr>
          <p:cNvPr id="8" name="LINE追加の時期"/>
          <p:cNvSpPr/>
          <p:nvPr/>
        </p:nvSpPr>
        <p:spPr>
          <a:xfrm>
            <a:off x="3554958" y="1644777"/>
            <a:ext cx="692429" cy="3239261"/>
          </a:xfrm>
          <a:prstGeom prst="rect">
            <a:avLst/>
          </a:prstGeom>
          <a:solidFill>
            <a:srgbClr val="06C755">
              <a:alpha val="1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LINE追加 札"/>
          <p:cNvSpPr/>
          <p:nvPr/>
        </p:nvSpPr>
        <p:spPr>
          <a:xfrm>
            <a:off x="3443973" y="5104866"/>
            <a:ext cx="914400" cy="237744"/>
          </a:xfrm>
          <a:prstGeom prst="rect">
            <a:avLst/>
          </a:prstGeom>
          <a:solidFill>
            <a:srgbClr val="C6EFCE"/>
          </a:solidFill>
          <a:ln>
            <a:noFill/>
          </a:ln>
        </p:spPr>
        <p:txBody>
          <a:bodyPr wrap="square" lIns="0" tIns="0" rIns="0" bIns="0" rtlCol="0" anchor="ctr">
            <a:noAutofit/>
          </a:bodyPr>
          <a:lstStyle/>
          <a:p>
            <a:pPr algn="ctr">
              <a:buNone/>
            </a:pPr>
            <a:r>
              <a:rPr lang="ja-JP" altLang="en-US" sz="950" b="1" dirty="0">
                <a:solidFill>
                  <a:srgbClr val="00873C"/>
                </a:solidFill>
                <a:latin typeface="メイリオ" panose="020B0604030504040204" pitchFamily="50" charset="-128"/>
                <a:ea typeface="メイリオ" panose="020B0604030504040204" pitchFamily="50" charset="-128"/>
              </a:rPr>
              <a:t>LINE追加</a:t>
            </a:r>
            <a:endParaRPr lang="ja-JP" altLang="en-US" sz="1200" dirty="0"/>
          </a:p>
        </p:txBody>
      </p:sp>
      <p:sp>
        <p:nvSpPr>
          <p:cNvPr id="10" name="凡例の色"/>
          <p:cNvSpPr/>
          <p:nvPr/>
        </p:nvSpPr>
        <p:spPr>
          <a:xfrm>
            <a:off x="6629400" y="1655064"/>
            <a:ext cx="137160" cy="137160"/>
          </a:xfrm>
          <a:prstGeom prst="rect">
            <a:avLst/>
          </a:prstGeom>
          <a:solidFill>
            <a:srgbClr val="3467B2"/>
          </a:solidFill>
          <a:ln>
            <a:noFill/>
          </a:ln>
        </p:spPr>
        <p:txBody>
          <a:bodyPr wrap="square" lIns="0" tIns="0" rIns="0" bIns="0" rtlCol="0" anchor="ctr">
            <a:noAutofit/>
          </a:bodyPr>
          <a:lstStyle/>
          <a:p>
            <a:pPr algn="l">
              <a:buNone/>
            </a:pPr>
            <a:endParaRPr lang="ja-JP" altLang="en-US" sz="1200" dirty="0"/>
          </a:p>
        </p:txBody>
      </p:sp>
      <p:sp>
        <p:nvSpPr>
          <p:cNvPr id="11" name="凡例"/>
          <p:cNvSpPr/>
          <p:nvPr/>
        </p:nvSpPr>
        <p:spPr>
          <a:xfrm>
            <a:off x="6812280" y="1600200"/>
            <a:ext cx="2587752" cy="246888"/>
          </a:xfrm>
          <a:prstGeom prst="rect">
            <a:avLst/>
          </a:prstGeom>
          <a:noFill/>
          <a:ln>
            <a:noFill/>
          </a:ln>
        </p:spPr>
        <p:txBody>
          <a:bodyPr wrap="square" lIns="0" tIns="0" rIns="0" bIns="0" rtlCol="0" anchor="ctr">
            <a:noAutofit/>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住宅会社を比べる</a:t>
            </a:r>
            <a:endParaRPr lang="ja-JP" altLang="en-US" sz="1200" dirty="0"/>
          </a:p>
        </p:txBody>
      </p:sp>
      <p:sp>
        <p:nvSpPr>
          <p:cNvPr id="12" name="凡例の色"/>
          <p:cNvSpPr/>
          <p:nvPr/>
        </p:nvSpPr>
        <p:spPr>
          <a:xfrm>
            <a:off x="6629400" y="1901952"/>
            <a:ext cx="137160" cy="137160"/>
          </a:xfrm>
          <a:prstGeom prst="rect">
            <a:avLst/>
          </a:prstGeom>
          <a:solidFill>
            <a:srgbClr val="D9661F"/>
          </a:solidFill>
          <a:ln>
            <a:noFill/>
          </a:ln>
        </p:spPr>
        <p:txBody>
          <a:bodyPr wrap="square" lIns="0" tIns="0" rIns="0" bIns="0" rtlCol="0" anchor="ctr">
            <a:noAutofit/>
          </a:bodyPr>
          <a:lstStyle/>
          <a:p>
            <a:pPr algn="l">
              <a:buNone/>
            </a:pPr>
            <a:endParaRPr lang="ja-JP" altLang="en-US" sz="1200" dirty="0"/>
          </a:p>
        </p:txBody>
      </p:sp>
      <p:sp>
        <p:nvSpPr>
          <p:cNvPr id="13" name="凡例"/>
          <p:cNvSpPr/>
          <p:nvPr/>
        </p:nvSpPr>
        <p:spPr>
          <a:xfrm>
            <a:off x="6812280" y="1847088"/>
            <a:ext cx="2587752" cy="246888"/>
          </a:xfrm>
          <a:prstGeom prst="rect">
            <a:avLst/>
          </a:prstGeom>
          <a:noFill/>
          <a:ln>
            <a:noFill/>
          </a:ln>
        </p:spPr>
        <p:txBody>
          <a:bodyPr wrap="square" lIns="0" tIns="0" rIns="0" bIns="0" rtlCol="0" anchor="ctr">
            <a:noAutofit/>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費用・住宅ローンを調べる</a:t>
            </a:r>
            <a:endParaRPr lang="ja-JP" altLang="en-US" sz="1200" dirty="0"/>
          </a:p>
        </p:txBody>
      </p:sp>
      <p:sp>
        <p:nvSpPr>
          <p:cNvPr id="14" name="凡例の色"/>
          <p:cNvSpPr/>
          <p:nvPr/>
        </p:nvSpPr>
        <p:spPr>
          <a:xfrm>
            <a:off x="6629400" y="2148840"/>
            <a:ext cx="137160" cy="137160"/>
          </a:xfrm>
          <a:prstGeom prst="rect">
            <a:avLst/>
          </a:prstGeom>
          <a:solidFill>
            <a:srgbClr val="8E4EC6"/>
          </a:solidFill>
          <a:ln>
            <a:noFill/>
          </a:ln>
        </p:spPr>
        <p:txBody>
          <a:bodyPr wrap="square" lIns="0" tIns="0" rIns="0" bIns="0" rtlCol="0" anchor="ctr">
            <a:noAutofit/>
          </a:bodyPr>
          <a:lstStyle/>
          <a:p>
            <a:pPr algn="l">
              <a:buNone/>
            </a:pPr>
            <a:endParaRPr lang="ja-JP" altLang="en-US" sz="1200" dirty="0"/>
          </a:p>
        </p:txBody>
      </p:sp>
      <p:sp>
        <p:nvSpPr>
          <p:cNvPr id="15" name="凡例"/>
          <p:cNvSpPr/>
          <p:nvPr/>
        </p:nvSpPr>
        <p:spPr>
          <a:xfrm>
            <a:off x="6812280" y="2093976"/>
            <a:ext cx="2587752" cy="246888"/>
          </a:xfrm>
          <a:prstGeom prst="rect">
            <a:avLst/>
          </a:prstGeom>
          <a:noFill/>
          <a:ln>
            <a:noFill/>
          </a:ln>
        </p:spPr>
        <p:txBody>
          <a:bodyPr wrap="square" lIns="0" tIns="0" rIns="0" bIns="0" rtlCol="0" anchor="ctr">
            <a:noAutofit/>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間取り・性能を調べる</a:t>
            </a:r>
            <a:endParaRPr lang="ja-JP" altLang="en-US" sz="1200" dirty="0"/>
          </a:p>
        </p:txBody>
      </p:sp>
      <p:sp>
        <p:nvSpPr>
          <p:cNvPr id="16" name="凡例の色"/>
          <p:cNvSpPr/>
          <p:nvPr/>
        </p:nvSpPr>
        <p:spPr>
          <a:xfrm>
            <a:off x="6629400" y="2395728"/>
            <a:ext cx="137160" cy="137160"/>
          </a:xfrm>
          <a:prstGeom prst="rect">
            <a:avLst/>
          </a:prstGeom>
          <a:solidFill>
            <a:srgbClr val="00897B"/>
          </a:solidFill>
          <a:ln>
            <a:noFill/>
          </a:ln>
        </p:spPr>
        <p:txBody>
          <a:bodyPr wrap="square" lIns="0" tIns="0" rIns="0" bIns="0" rtlCol="0" anchor="ctr">
            <a:noAutofit/>
          </a:bodyPr>
          <a:lstStyle/>
          <a:p>
            <a:pPr algn="l">
              <a:buNone/>
            </a:pPr>
            <a:endParaRPr lang="ja-JP" altLang="en-US" sz="1200" dirty="0"/>
          </a:p>
        </p:txBody>
      </p:sp>
      <p:sp>
        <p:nvSpPr>
          <p:cNvPr id="17" name="凡例"/>
          <p:cNvSpPr/>
          <p:nvPr/>
        </p:nvSpPr>
        <p:spPr>
          <a:xfrm>
            <a:off x="6812280" y="2340864"/>
            <a:ext cx="2587752" cy="246888"/>
          </a:xfrm>
          <a:prstGeom prst="rect">
            <a:avLst/>
          </a:prstGeom>
          <a:noFill/>
          <a:ln>
            <a:noFill/>
          </a:ln>
        </p:spPr>
        <p:txBody>
          <a:bodyPr wrap="square" lIns="0" tIns="0" rIns="0" bIns="0" rtlCol="0" anchor="ctr">
            <a:noAutofit/>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土地を調べる</a:t>
            </a:r>
            <a:endParaRPr lang="ja-JP" altLang="en-US" sz="1200" dirty="0"/>
          </a:p>
        </p:txBody>
      </p:sp>
      <p:sp>
        <p:nvSpPr>
          <p:cNvPr id="18" name="分析 当日"/>
          <p:cNvSpPr/>
          <p:nvPr/>
        </p:nvSpPr>
        <p:spPr>
          <a:xfrm>
            <a:off x="6629400" y="2651760"/>
            <a:ext cx="2770632" cy="27432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当日</a:t>
            </a:r>
            <a:endParaRPr lang="ja-JP" altLang="en-US" sz="1200" dirty="0"/>
          </a:p>
        </p:txBody>
      </p:sp>
      <p:sp>
        <p:nvSpPr>
          <p:cNvPr id="19" name="分析 当日 本文"/>
          <p:cNvSpPr/>
          <p:nvPr/>
        </p:nvSpPr>
        <p:spPr>
          <a:xfrm>
            <a:off x="6629400" y="2926079"/>
            <a:ext cx="2770632" cy="713232"/>
          </a:xfrm>
          <a:prstGeom prst="rect">
            <a:avLst/>
          </a:prstGeom>
          <a:noFill/>
          <a:ln w="9525">
            <a:solidFill>
              <a:srgbClr val="D9D9D9"/>
            </a:solidFill>
          </a:ln>
        </p:spPr>
        <p:txBody>
          <a:bodyPr wrap="square" lIns="73152" tIns="36576" rIns="73152" bIns="27432" rtlCol="0" anchor="t">
            <a:noAutofit/>
          </a:bodyPr>
          <a:lstStyle/>
          <a:p>
            <a:pPr algn="l">
              <a:lnSpc>
                <a:spcPct val="110000"/>
              </a:lnSpc>
              <a:buNone/>
            </a:pPr>
            <a:r>
              <a:rPr lang="ja-JP" altLang="en-US" sz="1200" b="1" dirty="0">
                <a:solidFill>
                  <a:srgbClr val="1F285A"/>
                </a:solidFill>
                <a:latin typeface="メイリオ" panose="020B0604030504040204" pitchFamily="50" charset="-128"/>
                <a:ea typeface="メイリオ" panose="020B0604030504040204" pitchFamily="50" charset="-128"/>
              </a:rPr>
              <a:t>住宅会社名が中心</a:t>
            </a:r>
            <a:endParaRPr lang="ja-JP" altLang="en-US" sz="1200" dirty="0"/>
          </a:p>
          <a:p>
            <a:pPr algn="l">
              <a:lnSpc>
                <a:spcPct val="110000"/>
              </a:lnSpc>
              <a:buNone/>
            </a:pPr>
            <a:r>
              <a:rPr lang="ja-JP" altLang="en-US" sz="1100" b="0" dirty="0">
                <a:solidFill>
                  <a:srgbClr val="333333"/>
                </a:solidFill>
                <a:latin typeface="メイリオ" panose="020B0604030504040204" pitchFamily="50" charset="-128"/>
                <a:ea typeface="メイリオ" panose="020B0604030504040204" pitchFamily="50" charset="-128"/>
              </a:rPr>
              <a:t>一条工務店・積水ハウス・住友林業など。住宅展示場・土地探しも</a:t>
            </a:r>
            <a:endParaRPr lang="ja-JP" altLang="en-US" sz="1200" dirty="0"/>
          </a:p>
        </p:txBody>
      </p:sp>
      <p:sp>
        <p:nvSpPr>
          <p:cNvPr id="20" name="分析 1〜7日後"/>
          <p:cNvSpPr/>
          <p:nvPr/>
        </p:nvSpPr>
        <p:spPr>
          <a:xfrm>
            <a:off x="6629400" y="3694176"/>
            <a:ext cx="2770632" cy="27432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1〜7日後</a:t>
            </a:r>
            <a:endParaRPr lang="ja-JP" altLang="en-US" sz="1200" dirty="0"/>
          </a:p>
        </p:txBody>
      </p:sp>
      <p:sp>
        <p:nvSpPr>
          <p:cNvPr id="21" name="分析 1〜7日後 本文"/>
          <p:cNvSpPr/>
          <p:nvPr/>
        </p:nvSpPr>
        <p:spPr>
          <a:xfrm>
            <a:off x="6629400" y="3968496"/>
            <a:ext cx="2770632" cy="713232"/>
          </a:xfrm>
          <a:prstGeom prst="rect">
            <a:avLst/>
          </a:prstGeom>
          <a:noFill/>
          <a:ln w="9525">
            <a:solidFill>
              <a:srgbClr val="D9D9D9"/>
            </a:solidFill>
          </a:ln>
        </p:spPr>
        <p:txBody>
          <a:bodyPr wrap="square" lIns="73152" tIns="36576" rIns="73152" bIns="27432" rtlCol="0" anchor="t">
            <a:noAutofit/>
          </a:bodyPr>
          <a:lstStyle/>
          <a:p>
            <a:pPr algn="l">
              <a:lnSpc>
                <a:spcPct val="110000"/>
              </a:lnSpc>
              <a:buNone/>
            </a:pPr>
            <a:r>
              <a:rPr lang="ja-JP" altLang="en-US" sz="1200" b="1" dirty="0">
                <a:solidFill>
                  <a:srgbClr val="1F285A"/>
                </a:solidFill>
                <a:latin typeface="メイリオ" panose="020B0604030504040204" pitchFamily="50" charset="-128"/>
                <a:ea typeface="メイリオ" panose="020B0604030504040204" pitchFamily="50" charset="-128"/>
              </a:rPr>
              <a:t>住宅ローンと坪単価が増える</a:t>
            </a:r>
            <a:endParaRPr lang="ja-JP" altLang="en-US" sz="1200" dirty="0"/>
          </a:p>
          <a:p>
            <a:pPr algn="l">
              <a:lnSpc>
                <a:spcPct val="110000"/>
              </a:lnSpc>
              <a:buNone/>
            </a:pPr>
            <a:r>
              <a:rPr lang="ja-JP" altLang="en-US" sz="1100" b="0" dirty="0">
                <a:solidFill>
                  <a:srgbClr val="333333"/>
                </a:solidFill>
                <a:latin typeface="メイリオ" panose="020B0604030504040204" pitchFamily="50" charset="-128"/>
                <a:ea typeface="メイリオ" panose="020B0604030504040204" pitchFamily="50" charset="-128"/>
              </a:rPr>
              <a:t>シミュレーション・審査・控除、坪単価。比べる会社はさらに広がる</a:t>
            </a:r>
            <a:endParaRPr lang="ja-JP" altLang="en-US" sz="1200" dirty="0"/>
          </a:p>
        </p:txBody>
      </p:sp>
      <p:sp>
        <p:nvSpPr>
          <p:cNvPr id="22" name="分析 7〜15日後"/>
          <p:cNvSpPr/>
          <p:nvPr/>
        </p:nvSpPr>
        <p:spPr>
          <a:xfrm>
            <a:off x="6629400" y="4736592"/>
            <a:ext cx="2770632" cy="27432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7〜15日後</a:t>
            </a:r>
            <a:endParaRPr lang="ja-JP" altLang="en-US" sz="1200" dirty="0"/>
          </a:p>
        </p:txBody>
      </p:sp>
      <p:sp>
        <p:nvSpPr>
          <p:cNvPr id="23" name="分析 7〜15日後 本文"/>
          <p:cNvSpPr/>
          <p:nvPr/>
        </p:nvSpPr>
        <p:spPr>
          <a:xfrm>
            <a:off x="6629400" y="5010912"/>
            <a:ext cx="2770632" cy="713232"/>
          </a:xfrm>
          <a:prstGeom prst="rect">
            <a:avLst/>
          </a:prstGeom>
          <a:noFill/>
          <a:ln w="9525">
            <a:solidFill>
              <a:srgbClr val="D9D9D9"/>
            </a:solidFill>
          </a:ln>
        </p:spPr>
        <p:txBody>
          <a:bodyPr wrap="square" lIns="73152" tIns="36576" rIns="73152" bIns="27432" rtlCol="0" anchor="t">
            <a:noAutofit/>
          </a:bodyPr>
          <a:lstStyle/>
          <a:p>
            <a:pPr algn="l">
              <a:lnSpc>
                <a:spcPct val="110000"/>
              </a:lnSpc>
              <a:buNone/>
            </a:pPr>
            <a:r>
              <a:rPr lang="ja-JP" altLang="en-US" sz="1200" b="1" dirty="0">
                <a:solidFill>
                  <a:srgbClr val="1F285A"/>
                </a:solidFill>
                <a:latin typeface="メイリオ" panose="020B0604030504040204" pitchFamily="50" charset="-128"/>
                <a:ea typeface="メイリオ" panose="020B0604030504040204" pitchFamily="50" charset="-128"/>
              </a:rPr>
              <a:t>間取り・性能が中心</a:t>
            </a:r>
            <a:endParaRPr lang="ja-JP" altLang="en-US" sz="1200" dirty="0"/>
          </a:p>
          <a:p>
            <a:pPr algn="l">
              <a:lnSpc>
                <a:spcPct val="110000"/>
              </a:lnSpc>
              <a:buNone/>
            </a:pPr>
            <a:r>
              <a:rPr lang="ja-JP" altLang="en-US" sz="1100" b="0" dirty="0">
                <a:solidFill>
                  <a:srgbClr val="333333"/>
                </a:solidFill>
                <a:latin typeface="メイリオ" panose="020B0604030504040204" pitchFamily="50" charset="-128"/>
                <a:ea typeface="メイリオ" panose="020B0604030504040204" pitchFamily="50" charset="-128"/>
              </a:rPr>
              <a:t>断熱等級・吹き抜け・パントリー・ルームツアー。住宅ローンは金利の比較へ</a:t>
            </a:r>
            <a:endParaRPr lang="ja-JP" altLang="en-US" sz="1200" dirty="0"/>
          </a:p>
        </p:txBody>
      </p:sp>
      <p:sp>
        <p:nvSpPr>
          <p:cNvPr id="24" name="示唆"/>
          <p:cNvSpPr/>
          <p:nvPr/>
        </p:nvSpPr>
        <p:spPr>
          <a:xfrm>
            <a:off x="502920" y="5779008"/>
            <a:ext cx="8897112" cy="411480"/>
          </a:xfrm>
          <a:prstGeom prst="rect">
            <a:avLst/>
          </a:prstGeom>
          <a:solidFill>
            <a:srgbClr val="F4F7FF"/>
          </a:solidFill>
          <a:ln>
            <a:noFill/>
          </a:ln>
        </p:spPr>
        <p:txBody>
          <a:bodyPr wrap="square" lIns="73152" tIns="36576" rIns="73152" bIns="36576" rtlCol="0" anchor="ctr">
            <a:noAutofit/>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会社を比べる → 費用 → 間取り・性能 の順に、</a:t>
            </a:r>
            <a:r>
              <a:rPr lang="ja-JP" altLang="en-US" sz="1400" b="1" dirty="0">
                <a:solidFill>
                  <a:srgbClr val="C00000"/>
                </a:solidFill>
                <a:latin typeface="メイリオ" panose="020B0604030504040204" pitchFamily="50" charset="-128"/>
                <a:ea typeface="メイリオ" panose="020B0604030504040204" pitchFamily="50" charset="-128"/>
              </a:rPr>
              <a:t>約2週間かけて検討が進む</a:t>
            </a:r>
            <a:endParaRPr lang="ja-JP" altLang="en-US" sz="1200" dirty="0"/>
          </a:p>
        </p:txBody>
      </p:sp>
      <p:sp>
        <p:nvSpPr>
          <p:cNvPr id="25" name="注記"/>
          <p:cNvSpPr/>
          <p:nvPr/>
        </p:nvSpPr>
        <p:spPr>
          <a:xfrm>
            <a:off x="502920" y="6236208"/>
            <a:ext cx="8897112" cy="228600"/>
          </a:xfrm>
          <a:prstGeom prst="rect">
            <a:avLst/>
          </a:prstGeom>
          <a:noFill/>
          <a:ln>
            <a:noFill/>
          </a:ln>
        </p:spPr>
        <p:txBody>
          <a:bodyPr wrap="square" lIns="0" tIns="0" rIns="0" bIns="0" rtlCol="0" anchor="t">
            <a:noAutofit/>
          </a:bodyPr>
          <a:lstStyle/>
          <a:p>
            <a:pPr algn="l">
              <a:lnSpc>
                <a:spcPct val="115000"/>
              </a:lnSpc>
              <a:buNone/>
            </a:pPr>
            <a:r>
              <a:rPr lang="ja-JP" altLang="en-US" sz="850" b="0" dirty="0">
                <a:solidFill>
                  <a:srgbClr val="7F7F7F"/>
                </a:solidFill>
                <a:latin typeface="メイリオ" panose="020B0604030504040204" pitchFamily="50" charset="-128"/>
                <a:ea typeface="メイリオ" panose="020B0604030504040204" pitchFamily="50" charset="-128"/>
              </a:rPr>
              <a:t>※LINEヤフー社の前後検索データより。「注文住宅」を検索した方が、前後15日間に検索した言葉（縦軸＝検索した人数）。</a:t>
            </a:r>
            <a:endParaRPr lang="ja-JP" alt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Google Shape;752;p28">
            <a:extLst>
              <a:ext uri="{FF2B5EF4-FFF2-40B4-BE49-F238E27FC236}">
                <a16:creationId xmlns:a16="http://schemas.microsoft.com/office/drawing/2014/main" id="{88CD823C-3E61-5E93-B9FE-BD623737FC13}"/>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04</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403775D4-CF2D-3023-3056-9E596BBE8648}"/>
              </a:ext>
            </a:extLst>
          </p:cNvPr>
          <p:cNvSpPr txBox="1"/>
          <p:nvPr/>
        </p:nvSpPr>
        <p:spPr>
          <a:xfrm>
            <a:off x="1867143" y="1043132"/>
            <a:ext cx="5028957"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ご提案内容</a:t>
            </a:r>
          </a:p>
        </p:txBody>
      </p:sp>
      <p:cxnSp>
        <p:nvCxnSpPr>
          <p:cNvPr id="17" name="直線コネクタ 16">
            <a:extLst>
              <a:ext uri="{FF2B5EF4-FFF2-40B4-BE49-F238E27FC236}">
                <a16:creationId xmlns:a16="http://schemas.microsoft.com/office/drawing/2014/main" id="{24E0D700-8F0C-AA59-0C53-7B51F6E65BAA}"/>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解決策：資料請求以前から、来場・契約までを追う</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altLang="en-US" sz="1400" b="1" dirty="0">
                <a:latin typeface="メイリオ" panose="020B0604030504040204" pitchFamily="50" charset="-128"/>
                <a:ea typeface="メイリオ" panose="020B0604030504040204" pitchFamily="50" charset="-128"/>
              </a:rPr>
              <a:t>契約</a:t>
            </a:r>
            <a:r>
              <a:rPr lang="ja-JP" sz="1400" b="1" u="none" strike="noStrike" dirty="0">
                <a:effectLst/>
                <a:uFillTx/>
                <a:latin typeface="メイリオ" panose="020B0604030504040204" pitchFamily="50" charset="-128"/>
                <a:ea typeface="メイリオ" panose="020B0604030504040204" pitchFamily="50" charset="-128"/>
              </a:rPr>
              <a:t>まで追い続けられることが、LINEの強み。</a:t>
            </a:r>
            <a:endParaRPr lang="en-US" altLang="ja-JP" sz="1400" b="1" u="none" strike="noStrike" dirty="0">
              <a:effectLst/>
              <a:uFillTx/>
              <a:latin typeface="メイリオ" panose="020B0604030504040204" pitchFamily="50" charset="-128"/>
              <a:ea typeface="メイリオ" panose="020B0604030504040204" pitchFamily="50" charset="-128"/>
            </a:endParaRPr>
          </a:p>
        </p:txBody>
      </p:sp>
      <p:sp>
        <p:nvSpPr>
          <p:cNvPr id="7" name="流れ1"/>
          <p:cNvSpPr/>
          <p:nvPr/>
        </p:nvSpPr>
        <p:spPr>
          <a:xfrm>
            <a:off x="502920" y="1691640"/>
            <a:ext cx="1330452" cy="45720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250" b="1" dirty="0">
                <a:solidFill>
                  <a:srgbClr val="FFFFFF"/>
                </a:solidFill>
                <a:latin typeface="メイリオ" panose="020B0604030504040204" pitchFamily="50" charset="-128"/>
                <a:ea typeface="メイリオ" panose="020B0604030504040204" pitchFamily="50" charset="-128"/>
              </a:rPr>
              <a:t>サイトに来る</a:t>
            </a:r>
            <a:endParaRPr lang="ja-JP" altLang="en-US" sz="1300" dirty="0"/>
          </a:p>
        </p:txBody>
      </p:sp>
      <p:sp>
        <p:nvSpPr>
          <p:cNvPr id="8" name="矢印"/>
          <p:cNvSpPr/>
          <p:nvPr/>
        </p:nvSpPr>
        <p:spPr>
          <a:xfrm>
            <a:off x="1833372" y="1691640"/>
            <a:ext cx="182880" cy="45720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9" name="流れ2"/>
          <p:cNvSpPr/>
          <p:nvPr/>
        </p:nvSpPr>
        <p:spPr>
          <a:xfrm>
            <a:off x="2016252" y="1691640"/>
            <a:ext cx="1330452" cy="45720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250" b="1" dirty="0">
                <a:solidFill>
                  <a:srgbClr val="FFFFFF"/>
                </a:solidFill>
                <a:latin typeface="メイリオ" panose="020B0604030504040204" pitchFamily="50" charset="-128"/>
                <a:ea typeface="メイリオ" panose="020B0604030504040204" pitchFamily="50" charset="-128"/>
              </a:rPr>
              <a:t>資料請求</a:t>
            </a:r>
            <a:endParaRPr lang="ja-JP" altLang="en-US" sz="1300" dirty="0"/>
          </a:p>
        </p:txBody>
      </p:sp>
      <p:sp>
        <p:nvSpPr>
          <p:cNvPr id="10" name="矢印"/>
          <p:cNvSpPr/>
          <p:nvPr/>
        </p:nvSpPr>
        <p:spPr>
          <a:xfrm>
            <a:off x="3346704" y="1691640"/>
            <a:ext cx="182880" cy="45720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11" name="流れ3"/>
          <p:cNvSpPr/>
          <p:nvPr/>
        </p:nvSpPr>
        <p:spPr>
          <a:xfrm>
            <a:off x="3529584" y="1691640"/>
            <a:ext cx="1330452" cy="45720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250" b="1" dirty="0">
                <a:solidFill>
                  <a:srgbClr val="FFFFFF"/>
                </a:solidFill>
                <a:latin typeface="メイリオ" panose="020B0604030504040204" pitchFamily="50" charset="-128"/>
                <a:ea typeface="メイリオ" panose="020B0604030504040204" pitchFamily="50" charset="-128"/>
              </a:rPr>
              <a:t>来場予約</a:t>
            </a:r>
            <a:endParaRPr lang="ja-JP" altLang="en-US" sz="1300" dirty="0"/>
          </a:p>
        </p:txBody>
      </p:sp>
      <p:sp>
        <p:nvSpPr>
          <p:cNvPr id="12" name="矢印"/>
          <p:cNvSpPr/>
          <p:nvPr/>
        </p:nvSpPr>
        <p:spPr>
          <a:xfrm>
            <a:off x="4860036" y="1691640"/>
            <a:ext cx="182880" cy="45720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13" name="流れ4"/>
          <p:cNvSpPr/>
          <p:nvPr/>
        </p:nvSpPr>
        <p:spPr>
          <a:xfrm>
            <a:off x="5042916" y="1691640"/>
            <a:ext cx="1330452" cy="45720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250" b="1" dirty="0">
                <a:solidFill>
                  <a:srgbClr val="FFFFFF"/>
                </a:solidFill>
                <a:latin typeface="メイリオ" panose="020B0604030504040204" pitchFamily="50" charset="-128"/>
                <a:ea typeface="メイリオ" panose="020B0604030504040204" pitchFamily="50" charset="-128"/>
              </a:rPr>
              <a:t>来場</a:t>
            </a:r>
            <a:endParaRPr lang="ja-JP" altLang="en-US" sz="1300" dirty="0"/>
          </a:p>
        </p:txBody>
      </p:sp>
      <p:sp>
        <p:nvSpPr>
          <p:cNvPr id="14" name="矢印"/>
          <p:cNvSpPr/>
          <p:nvPr/>
        </p:nvSpPr>
        <p:spPr>
          <a:xfrm>
            <a:off x="6373368" y="1691640"/>
            <a:ext cx="182880" cy="45720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15" name="流れ5"/>
          <p:cNvSpPr/>
          <p:nvPr/>
        </p:nvSpPr>
        <p:spPr>
          <a:xfrm>
            <a:off x="6556248" y="1691640"/>
            <a:ext cx="1330452" cy="45720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250" b="1" dirty="0">
                <a:solidFill>
                  <a:srgbClr val="FFFFFF"/>
                </a:solidFill>
                <a:latin typeface="メイリオ" panose="020B0604030504040204" pitchFamily="50" charset="-128"/>
                <a:ea typeface="メイリオ" panose="020B0604030504040204" pitchFamily="50" charset="-128"/>
              </a:rPr>
              <a:t>商談</a:t>
            </a:r>
            <a:endParaRPr lang="ja-JP" altLang="en-US" sz="1300" dirty="0"/>
          </a:p>
        </p:txBody>
      </p:sp>
      <p:sp>
        <p:nvSpPr>
          <p:cNvPr id="16" name="矢印"/>
          <p:cNvSpPr/>
          <p:nvPr/>
        </p:nvSpPr>
        <p:spPr>
          <a:xfrm>
            <a:off x="7886700" y="1691640"/>
            <a:ext cx="182880" cy="45720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17" name="流れ6"/>
          <p:cNvSpPr/>
          <p:nvPr/>
        </p:nvSpPr>
        <p:spPr>
          <a:xfrm>
            <a:off x="8069580" y="1691640"/>
            <a:ext cx="1330452" cy="45720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250" b="1" dirty="0">
                <a:solidFill>
                  <a:srgbClr val="FFFFFF"/>
                </a:solidFill>
                <a:latin typeface="メイリオ" panose="020B0604030504040204" pitchFamily="50" charset="-128"/>
                <a:ea typeface="メイリオ" panose="020B0604030504040204" pitchFamily="50" charset="-128"/>
              </a:rPr>
              <a:t>契約</a:t>
            </a:r>
            <a:endParaRPr lang="ja-JP" altLang="en-US" sz="1300" dirty="0"/>
          </a:p>
        </p:txBody>
      </p:sp>
      <p:sp>
        <p:nvSpPr>
          <p:cNvPr id="18" name="帯 今のLINE"/>
          <p:cNvSpPr/>
          <p:nvPr/>
        </p:nvSpPr>
        <p:spPr>
          <a:xfrm>
            <a:off x="3529584" y="2331720"/>
            <a:ext cx="2843783" cy="438912"/>
          </a:xfrm>
          <a:prstGeom prst="rect">
            <a:avLst/>
          </a:prstGeom>
          <a:solidFill>
            <a:srgbClr val="F2F2F2"/>
          </a:solidFill>
          <a:ln w="9525">
            <a:solidFill>
              <a:srgbClr val="D9D9D9"/>
            </a:solidFill>
          </a:ln>
        </p:spPr>
        <p:txBody>
          <a:bodyPr wrap="square" lIns="73152" tIns="36576" rIns="73152" bIns="36576" rtlCol="0" anchor="ctr">
            <a:noAutofit/>
          </a:bodyPr>
          <a:lstStyle/>
          <a:p>
            <a:pPr algn="ctr">
              <a:buNone/>
            </a:pPr>
            <a:r>
              <a:rPr lang="ja-JP" altLang="en-US" sz="1200" b="1" dirty="0">
                <a:solidFill>
                  <a:srgbClr val="7F7F7F"/>
                </a:solidFill>
                <a:latin typeface="メイリオ" panose="020B0604030504040204" pitchFamily="50" charset="-128"/>
                <a:ea typeface="メイリオ" panose="020B0604030504040204" pitchFamily="50" charset="-128"/>
              </a:rPr>
              <a:t>今のLINE：来場予約・来場のご案内</a:t>
            </a:r>
            <a:endParaRPr lang="ja-JP" altLang="en-US" sz="1300" dirty="0"/>
          </a:p>
        </p:txBody>
      </p:sp>
      <p:sp>
        <p:nvSpPr>
          <p:cNvPr id="19" name="帯 弊社のご提案"/>
          <p:cNvSpPr/>
          <p:nvPr/>
        </p:nvSpPr>
        <p:spPr>
          <a:xfrm>
            <a:off x="502920" y="2862072"/>
            <a:ext cx="8897112" cy="50292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弊社のご提案：資料請求の前から、契約まで追う</a:t>
            </a:r>
            <a:endParaRPr lang="ja-JP" altLang="en-US" sz="1300" dirty="0"/>
          </a:p>
        </p:txBody>
      </p:sp>
      <p:sp>
        <p:nvSpPr>
          <p:cNvPr id="20" name="見出し これで可能になること"/>
          <p:cNvSpPr/>
          <p:nvPr/>
        </p:nvSpPr>
        <p:spPr>
          <a:xfrm>
            <a:off x="502920" y="3611880"/>
            <a:ext cx="8897112"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これで可能になること</a:t>
            </a:r>
            <a:endParaRPr lang="ja-JP" altLang="en-US" sz="1300" dirty="0"/>
          </a:p>
        </p:txBody>
      </p:sp>
      <p:sp>
        <p:nvSpPr>
          <p:cNvPr id="21" name="可能になること01"/>
          <p:cNvSpPr/>
          <p:nvPr/>
        </p:nvSpPr>
        <p:spPr>
          <a:xfrm>
            <a:off x="502920" y="4069080"/>
            <a:ext cx="2843784" cy="1691640"/>
          </a:xfrm>
          <a:prstGeom prst="rect">
            <a:avLst/>
          </a:prstGeom>
          <a:noFill/>
          <a:ln w="9525">
            <a:solidFill>
              <a:srgbClr val="D9D9D9"/>
            </a:solidFill>
          </a:ln>
        </p:spPr>
        <p:txBody>
          <a:bodyPr wrap="square" lIns="109728" tIns="73152" rIns="109728" bIns="54864" rtlCol="0" anchor="t">
            <a:noAutofit/>
          </a:bodyPr>
          <a:lstStyle/>
          <a:p>
            <a:pPr algn="l">
              <a:lnSpc>
                <a:spcPct val="120000"/>
              </a:lnSpc>
              <a:buNone/>
            </a:pPr>
            <a:r>
              <a:rPr lang="ja-JP" altLang="en-US" sz="1600" b="1" dirty="0">
                <a:solidFill>
                  <a:srgbClr val="C00000"/>
                </a:solidFill>
                <a:latin typeface="メイリオ" panose="020B0604030504040204" pitchFamily="50" charset="-128"/>
                <a:ea typeface="メイリオ" panose="020B0604030504040204" pitchFamily="50" charset="-128"/>
              </a:rPr>
              <a:t>01</a:t>
            </a:r>
            <a:endParaRPr lang="ja-JP" altLang="en-US" sz="1300" dirty="0"/>
          </a:p>
          <a:p>
            <a:pPr algn="l">
              <a:lnSpc>
                <a:spcPct val="120000"/>
              </a:lnSpc>
              <a:buNone/>
            </a:pPr>
            <a:r>
              <a:rPr lang="ja-JP" altLang="en-US" sz="1250" b="1" dirty="0">
                <a:solidFill>
                  <a:srgbClr val="1F285A"/>
                </a:solidFill>
                <a:latin typeface="メイリオ" panose="020B0604030504040204" pitchFamily="50" charset="-128"/>
                <a:ea typeface="メイリオ" panose="020B0604030504040204" pitchFamily="50" charset="-128"/>
              </a:rPr>
              <a:t>来場を決める前の方を取りこぼさない</a:t>
            </a:r>
            <a:endParaRPr lang="ja-JP" altLang="en-US" sz="1300" dirty="0"/>
          </a:p>
          <a:p>
            <a:pPr algn="l">
              <a:lnSpc>
                <a:spcPct val="120000"/>
              </a:lnSpc>
              <a:buNone/>
            </a:pPr>
            <a:r>
              <a:rPr lang="ja-JP" altLang="en-US" sz="1200" b="0" dirty="0">
                <a:solidFill>
                  <a:srgbClr val="333333"/>
                </a:solidFill>
                <a:latin typeface="メイリオ" panose="020B0604030504040204" pitchFamily="50" charset="-128"/>
                <a:ea typeface="メイリオ" panose="020B0604030504040204" pitchFamily="50" charset="-128"/>
              </a:rPr>
              <a:t>サイトに来た方・資料請求をした方が友だちになり、比べている間も情報を届けられる</a:t>
            </a:r>
            <a:endParaRPr lang="ja-JP" altLang="en-US" sz="1300" dirty="0"/>
          </a:p>
        </p:txBody>
      </p:sp>
      <p:sp>
        <p:nvSpPr>
          <p:cNvPr id="22" name="可能になること02"/>
          <p:cNvSpPr/>
          <p:nvPr/>
        </p:nvSpPr>
        <p:spPr>
          <a:xfrm>
            <a:off x="3529584" y="4069080"/>
            <a:ext cx="2843784" cy="1691640"/>
          </a:xfrm>
          <a:prstGeom prst="rect">
            <a:avLst/>
          </a:prstGeom>
          <a:noFill/>
          <a:ln w="9525">
            <a:solidFill>
              <a:srgbClr val="D9D9D9"/>
            </a:solidFill>
          </a:ln>
        </p:spPr>
        <p:txBody>
          <a:bodyPr wrap="square" lIns="109728" tIns="73152" rIns="109728" bIns="54864" rtlCol="0" anchor="t">
            <a:noAutofit/>
          </a:bodyPr>
          <a:lstStyle/>
          <a:p>
            <a:pPr algn="l">
              <a:lnSpc>
                <a:spcPct val="120000"/>
              </a:lnSpc>
              <a:buNone/>
            </a:pPr>
            <a:r>
              <a:rPr lang="ja-JP" altLang="en-US" sz="1600" b="1" dirty="0">
                <a:solidFill>
                  <a:srgbClr val="C00000"/>
                </a:solidFill>
                <a:latin typeface="メイリオ" panose="020B0604030504040204" pitchFamily="50" charset="-128"/>
                <a:ea typeface="メイリオ" panose="020B0604030504040204" pitchFamily="50" charset="-128"/>
              </a:rPr>
              <a:t>02</a:t>
            </a:r>
            <a:endParaRPr lang="ja-JP" altLang="en-US" sz="1300" dirty="0"/>
          </a:p>
          <a:p>
            <a:pPr algn="l">
              <a:lnSpc>
                <a:spcPct val="120000"/>
              </a:lnSpc>
              <a:buNone/>
            </a:pPr>
            <a:r>
              <a:rPr lang="ja-JP" altLang="en-US" sz="1250" b="1" dirty="0">
                <a:solidFill>
                  <a:srgbClr val="1F285A"/>
                </a:solidFill>
                <a:latin typeface="メイリオ" panose="020B0604030504040204" pitchFamily="50" charset="-128"/>
                <a:ea typeface="メイリオ" panose="020B0604030504040204" pitchFamily="50" charset="-128"/>
              </a:rPr>
              <a:t>来場予約のキャンセルを減らす</a:t>
            </a:r>
            <a:endParaRPr lang="ja-JP" altLang="en-US" sz="1300" dirty="0"/>
          </a:p>
          <a:p>
            <a:pPr algn="l">
              <a:lnSpc>
                <a:spcPct val="120000"/>
              </a:lnSpc>
              <a:buNone/>
            </a:pPr>
            <a:r>
              <a:rPr lang="ja-JP" altLang="en-US" sz="1200" b="0" dirty="0">
                <a:solidFill>
                  <a:srgbClr val="333333"/>
                </a:solidFill>
                <a:latin typeface="メイリオ" panose="020B0604030504040204" pitchFamily="50" charset="-128"/>
                <a:ea typeface="メイリオ" panose="020B0604030504040204" pitchFamily="50" charset="-128"/>
              </a:rPr>
              <a:t>予約から来場までをLINEでつなぎ、前日にお知らせする</a:t>
            </a:r>
            <a:endParaRPr lang="ja-JP" altLang="en-US" sz="1300" dirty="0"/>
          </a:p>
        </p:txBody>
      </p:sp>
      <p:sp>
        <p:nvSpPr>
          <p:cNvPr id="23" name="可能になること03"/>
          <p:cNvSpPr/>
          <p:nvPr/>
        </p:nvSpPr>
        <p:spPr>
          <a:xfrm>
            <a:off x="6556248" y="4069080"/>
            <a:ext cx="2843784" cy="1691640"/>
          </a:xfrm>
          <a:prstGeom prst="rect">
            <a:avLst/>
          </a:prstGeom>
          <a:noFill/>
          <a:ln w="9525">
            <a:solidFill>
              <a:srgbClr val="D9D9D9"/>
            </a:solidFill>
          </a:ln>
        </p:spPr>
        <p:txBody>
          <a:bodyPr wrap="square" lIns="109728" tIns="73152" rIns="109728" bIns="54864" rtlCol="0" anchor="t">
            <a:noAutofit/>
          </a:bodyPr>
          <a:lstStyle/>
          <a:p>
            <a:pPr algn="l">
              <a:lnSpc>
                <a:spcPct val="120000"/>
              </a:lnSpc>
              <a:buNone/>
            </a:pPr>
            <a:r>
              <a:rPr lang="ja-JP" altLang="en-US" sz="1600" b="1" dirty="0">
                <a:solidFill>
                  <a:srgbClr val="C00000"/>
                </a:solidFill>
                <a:latin typeface="メイリオ" panose="020B0604030504040204" pitchFamily="50" charset="-128"/>
                <a:ea typeface="メイリオ" panose="020B0604030504040204" pitchFamily="50" charset="-128"/>
              </a:rPr>
              <a:t>03</a:t>
            </a:r>
            <a:endParaRPr lang="ja-JP" altLang="en-US" sz="1300" dirty="0"/>
          </a:p>
          <a:p>
            <a:pPr algn="l">
              <a:lnSpc>
                <a:spcPct val="120000"/>
              </a:lnSpc>
              <a:buNone/>
            </a:pPr>
            <a:r>
              <a:rPr lang="ja-JP" altLang="en-US" sz="1250" b="1" dirty="0">
                <a:solidFill>
                  <a:srgbClr val="1F285A"/>
                </a:solidFill>
                <a:latin typeface="メイリオ" panose="020B0604030504040204" pitchFamily="50" charset="-128"/>
                <a:ea typeface="メイリオ" panose="020B0604030504040204" pitchFamily="50" charset="-128"/>
              </a:rPr>
              <a:t>契約につながる集客が分かる</a:t>
            </a:r>
            <a:endParaRPr lang="ja-JP" altLang="en-US" sz="1300" dirty="0"/>
          </a:p>
          <a:p>
            <a:pPr algn="l">
              <a:lnSpc>
                <a:spcPct val="120000"/>
              </a:lnSpc>
              <a:buNone/>
            </a:pPr>
            <a:r>
              <a:rPr lang="ja-JP" altLang="en-US" sz="1200" b="0" dirty="0">
                <a:solidFill>
                  <a:srgbClr val="333333"/>
                </a:solidFill>
                <a:latin typeface="メイリオ" panose="020B0604030504040204" pitchFamily="50" charset="-128"/>
                <a:ea typeface="メイリオ" panose="020B0604030504040204" pitchFamily="50" charset="-128"/>
              </a:rPr>
              <a:t>契約までの結果を貴社の記録と合わせて確認し、広告の改善に生かす</a:t>
            </a:r>
            <a:endParaRPr lang="ja-JP" alt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友だちの入口：来場特典に加え、家づくりの情報で友だちになっていただく</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サイトを離れる前、資料請求の直後など、検討中の方が友だちになる理由を用意する</a:t>
            </a:r>
            <a:endParaRPr lang="en-US" sz="1400" b="1" u="none" strike="noStrike" dirty="0">
              <a:effectLst/>
              <a:uFillTx/>
              <a:latin typeface="メイリオ"/>
            </a:endParaRPr>
          </a:p>
        </p:txBody>
      </p:sp>
      <p:graphicFrame>
        <p:nvGraphicFramePr>
          <p:cNvPr id="7" name="友だちの入口 6"/>
          <p:cNvGraphicFramePr>
            <a:graphicFrameLocks noGrp="1"/>
          </p:cNvGraphicFramePr>
          <p:nvPr>
            <p:extLst>
              <p:ext uri="{D42A27DB-BD31-4B8C-83A1-F6EECF244321}">
                <p14:modId xmlns:p14="http://schemas.microsoft.com/office/powerpoint/2010/main" val="2964617158"/>
              </p:ext>
            </p:extLst>
          </p:nvPr>
        </p:nvGraphicFramePr>
        <p:xfrm>
          <a:off x="502920" y="1691640"/>
          <a:ext cx="8897111" cy="2331720"/>
        </p:xfrm>
        <a:graphic>
          <a:graphicData uri="http://schemas.openxmlformats.org/drawingml/2006/table">
            <a:tbl>
              <a:tblPr/>
              <a:tblGrid>
                <a:gridCol w="731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331720">
                  <a:extLst>
                    <a:ext uri="{9D8B030D-6E8A-4147-A177-3AD203B41FA5}">
                      <a16:colId xmlns:a16="http://schemas.microsoft.com/office/drawing/2014/main" val="20002"/>
                    </a:ext>
                  </a:extLst>
                </a:gridCol>
                <a:gridCol w="3822191">
                  <a:extLst>
                    <a:ext uri="{9D8B030D-6E8A-4147-A177-3AD203B41FA5}">
                      <a16:colId xmlns:a16="http://schemas.microsoft.com/office/drawing/2014/main" val="20003"/>
                    </a:ext>
                  </a:extLst>
                </a:gridCol>
              </a:tblGrid>
              <a:tr h="365760">
                <a:tc>
                  <a:txBody>
                    <a:bodyPr/>
                    <a:lstStyle/>
                    <a:p>
                      <a:pPr algn="ctr">
                        <a:buNone/>
                      </a:pPr>
                      <a:endParaRPr lang="ja-JP" altLang="en-US" sz="13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入口</a:t>
                      </a:r>
                      <a:endParaRPr lang="ja-JP" altLang="en-US" sz="13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タイミング</a:t>
                      </a:r>
                      <a:endParaRPr lang="ja-JP" altLang="en-US" sz="13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友だちになる理由</a:t>
                      </a:r>
                      <a:endParaRPr lang="ja-JP" altLang="en-US" sz="13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457200">
                <a:tc>
                  <a:txBody>
                    <a:bodyPr/>
                    <a:lstStyle/>
                    <a:p>
                      <a:pPr algn="ctr">
                        <a:buNone/>
                      </a:pPr>
                      <a:r>
                        <a:rPr lang="ja-JP" altLang="en-US" sz="1300" b="1" dirty="0">
                          <a:solidFill>
                            <a:srgbClr val="7F7F7F"/>
                          </a:solidFill>
                          <a:latin typeface="メイリオ" panose="020B0604030504040204" pitchFamily="50" charset="-128"/>
                          <a:ea typeface="メイリオ" panose="020B0604030504040204" pitchFamily="50" charset="-128"/>
                        </a:rPr>
                        <a:t>今</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c>
                  <a:txBody>
                    <a:bodyPr/>
                    <a:lstStyle/>
                    <a:p>
                      <a:pPr algn="l">
                        <a:buNone/>
                      </a:pPr>
                      <a:r>
                        <a:rPr lang="ja-JP" altLang="en-US" sz="1250" b="0" dirty="0">
                          <a:solidFill>
                            <a:srgbClr val="7F7F7F"/>
                          </a:solidFill>
                          <a:latin typeface="メイリオ" panose="020B0604030504040204" pitchFamily="50" charset="-128"/>
                          <a:ea typeface="メイリオ" panose="020B0604030504040204" pitchFamily="50" charset="-128"/>
                        </a:rPr>
                        <a:t>来場特典のキャンペーン</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50" b="0" dirty="0">
                          <a:solidFill>
                            <a:srgbClr val="7F7F7F"/>
                          </a:solidFill>
                          <a:latin typeface="メイリオ" panose="020B0604030504040204" pitchFamily="50" charset="-128"/>
                          <a:ea typeface="メイリオ" panose="020B0604030504040204" pitchFamily="50" charset="-128"/>
                        </a:rPr>
                        <a:t>来場を決めたとき</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50" b="0" dirty="0">
                          <a:solidFill>
                            <a:srgbClr val="7F7F7F"/>
                          </a:solidFill>
                          <a:latin typeface="メイリオ" panose="020B0604030504040204" pitchFamily="50" charset="-128"/>
                          <a:ea typeface="メイリオ" panose="020B0604030504040204" pitchFamily="50" charset="-128"/>
                        </a:rPr>
                        <a:t>来場特典の上乗せ</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追加</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300" b="1" dirty="0">
                          <a:solidFill>
                            <a:srgbClr val="1F285A"/>
                          </a:solidFill>
                          <a:latin typeface="メイリオ" panose="020B0604030504040204" pitchFamily="50" charset="-128"/>
                          <a:ea typeface="メイリオ" panose="020B0604030504040204" pitchFamily="50" charset="-128"/>
                        </a:rPr>
                        <a:t>離脱防止</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サイトを閉じようとしたとき</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家づくりの情報（例：平屋の間取り、費用の目安）をLINEでお届け</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追加</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300" b="1" dirty="0">
                          <a:solidFill>
                            <a:srgbClr val="1F285A"/>
                          </a:solidFill>
                          <a:latin typeface="メイリオ" panose="020B0604030504040204" pitchFamily="50" charset="-128"/>
                          <a:ea typeface="メイリオ" panose="020B0604030504040204" pitchFamily="50" charset="-128"/>
                        </a:rPr>
                        <a:t>サイトのLINEボタン</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施工事例・見学会のページを見ているとき</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見学会や新しい施工事例のお知らせ</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追加</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300" b="1" dirty="0">
                          <a:solidFill>
                            <a:srgbClr val="1F285A"/>
                          </a:solidFill>
                          <a:latin typeface="メイリオ" panose="020B0604030504040204" pitchFamily="50" charset="-128"/>
                          <a:ea typeface="メイリオ" panose="020B0604030504040204" pitchFamily="50" charset="-128"/>
                        </a:rPr>
                        <a:t>サンクスLINE誘導</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資料請求・来場予約が</a:t>
                      </a:r>
                      <a:endParaRPr lang="en-US" altLang="ja-JP" sz="125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50" b="0" dirty="0">
                          <a:solidFill>
                            <a:srgbClr val="333333"/>
                          </a:solidFill>
                          <a:latin typeface="メイリオ" panose="020B0604030504040204" pitchFamily="50" charset="-128"/>
                          <a:ea typeface="メイリオ" panose="020B0604030504040204" pitchFamily="50" charset="-128"/>
                        </a:rPr>
                        <a:t>完了した直後</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資料の続き（ルームツアー・費用・土地）、</a:t>
                      </a:r>
                      <a:endParaRPr lang="en-US" altLang="ja-JP" sz="125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50" b="0" dirty="0">
                          <a:solidFill>
                            <a:srgbClr val="333333"/>
                          </a:solidFill>
                          <a:latin typeface="メイリオ" panose="020B0604030504040204" pitchFamily="50" charset="-128"/>
                          <a:ea typeface="メイリオ" panose="020B0604030504040204" pitchFamily="50" charset="-128"/>
                        </a:rPr>
                        <a:t>来場前のお知らせ</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実績 見出し"/>
          <p:cNvSpPr/>
          <p:nvPr/>
        </p:nvSpPr>
        <p:spPr>
          <a:xfrm>
            <a:off x="502920" y="4160520"/>
            <a:ext cx="1737360" cy="91440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50" b="1" dirty="0">
                <a:solidFill>
                  <a:srgbClr val="FFFFFF"/>
                </a:solidFill>
                <a:latin typeface="メイリオ" panose="020B0604030504040204" pitchFamily="50" charset="-128"/>
                <a:ea typeface="メイリオ" panose="020B0604030504040204" pitchFamily="50" charset="-128"/>
              </a:rPr>
              <a:t>弊社の導入実績</a:t>
            </a:r>
            <a:endParaRPr lang="ja-JP" altLang="en-US" sz="1300" dirty="0"/>
          </a:p>
        </p:txBody>
      </p:sp>
      <p:sp>
        <p:nvSpPr>
          <p:cNvPr id="9" name="実績 施策"/>
          <p:cNvSpPr/>
          <p:nvPr/>
        </p:nvSpPr>
        <p:spPr>
          <a:xfrm>
            <a:off x="2240280" y="4160520"/>
            <a:ext cx="4206240" cy="914400"/>
          </a:xfrm>
          <a:prstGeom prst="rect">
            <a:avLst/>
          </a:prstGeom>
          <a:solidFill>
            <a:srgbClr val="F4F7FF"/>
          </a:solidFill>
          <a:ln>
            <a:noFill/>
          </a:ln>
        </p:spPr>
        <p:txBody>
          <a:bodyPr wrap="square" lIns="137160" tIns="54864" rIns="91440" bIns="54864" rtlCol="0" anchor="ctr">
            <a:noAutofit/>
          </a:bodyPr>
          <a:lstStyle/>
          <a:p>
            <a:pPr algn="l">
              <a:lnSpc>
                <a:spcPct val="120000"/>
              </a:lnSpc>
              <a:buNone/>
            </a:pPr>
            <a:r>
              <a:rPr lang="ja-JP" altLang="en-US" sz="1300" b="1" dirty="0">
                <a:solidFill>
                  <a:srgbClr val="1F285A"/>
                </a:solidFill>
                <a:latin typeface="メイリオ" panose="020B0604030504040204" pitchFamily="50" charset="-128"/>
                <a:ea typeface="メイリオ" panose="020B0604030504040204" pitchFamily="50" charset="-128"/>
              </a:rPr>
              <a:t>人材業界</a:t>
            </a:r>
            <a:endParaRPr lang="ja-JP" altLang="en-US" sz="1400" dirty="0"/>
          </a:p>
          <a:p>
            <a:pPr algn="l">
              <a:lnSpc>
                <a:spcPct val="120000"/>
              </a:lnSpc>
              <a:buNone/>
            </a:pPr>
            <a:r>
              <a:rPr lang="ja-JP" altLang="en-US" sz="1250" b="0" dirty="0">
                <a:solidFill>
                  <a:srgbClr val="333333"/>
                </a:solidFill>
                <a:latin typeface="メイリオ" panose="020B0604030504040204" pitchFamily="50" charset="-128"/>
                <a:ea typeface="メイリオ" panose="020B0604030504040204" pitchFamily="50" charset="-128"/>
              </a:rPr>
              <a:t>サンクスLINE誘導ツールを導入</a:t>
            </a:r>
            <a:endParaRPr lang="ja-JP" altLang="en-US" sz="1400" dirty="0"/>
          </a:p>
          <a:p>
            <a:pPr algn="l">
              <a:lnSpc>
                <a:spcPct val="120000"/>
              </a:lnSpc>
              <a:buNone/>
            </a:pPr>
            <a:r>
              <a:rPr lang="ja-JP" altLang="en-US" sz="1250" b="0" dirty="0">
                <a:solidFill>
                  <a:srgbClr val="333333"/>
                </a:solidFill>
                <a:latin typeface="メイリオ" panose="020B0604030504040204" pitchFamily="50" charset="-128"/>
                <a:ea typeface="メイリオ" panose="020B0604030504040204" pitchFamily="50" charset="-128"/>
              </a:rPr>
              <a:t>友だち増加数（3か月）1,532人 → 2,103人</a:t>
            </a:r>
            <a:endParaRPr lang="ja-JP" altLang="en-US" sz="1400" dirty="0"/>
          </a:p>
        </p:txBody>
      </p:sp>
      <p:sp>
        <p:nvSpPr>
          <p:cNvPr id="10" name="実績 数字"/>
          <p:cNvSpPr/>
          <p:nvPr/>
        </p:nvSpPr>
        <p:spPr>
          <a:xfrm>
            <a:off x="6446520" y="4160520"/>
            <a:ext cx="2953512" cy="914400"/>
          </a:xfrm>
          <a:prstGeom prst="rect">
            <a:avLst/>
          </a:prstGeom>
          <a:solidFill>
            <a:srgbClr val="F4F7FF"/>
          </a:solidFill>
          <a:ln>
            <a:noFill/>
          </a:ln>
        </p:spPr>
        <p:txBody>
          <a:bodyPr wrap="square" lIns="73152" tIns="36576" rIns="73152" bIns="36576" rtlCol="0" anchor="ctr">
            <a:noAutofit/>
          </a:bodyPr>
          <a:lstStyle/>
          <a:p>
            <a:pPr algn="ctr">
              <a:lnSpc>
                <a:spcPct val="100000"/>
              </a:lnSpc>
              <a:buNone/>
            </a:pPr>
            <a:r>
              <a:rPr lang="ja-JP" altLang="en-US" sz="1200" b="1" dirty="0">
                <a:solidFill>
                  <a:srgbClr val="1F285A"/>
                </a:solidFill>
                <a:latin typeface="メイリオ" panose="020B0604030504040204" pitchFamily="50" charset="-128"/>
                <a:ea typeface="メイリオ" panose="020B0604030504040204" pitchFamily="50" charset="-128"/>
              </a:rPr>
              <a:t>友だち増加数</a:t>
            </a:r>
            <a:endParaRPr lang="ja-JP" altLang="en-US" sz="1300" dirty="0"/>
          </a:p>
          <a:p>
            <a:pPr algn="ctr">
              <a:lnSpc>
                <a:spcPct val="100000"/>
              </a:lnSpc>
              <a:buNone/>
            </a:pPr>
            <a:r>
              <a:rPr lang="ja-JP" altLang="en-US" sz="2000" b="1" dirty="0">
                <a:solidFill>
                  <a:srgbClr val="1F285A"/>
                </a:solidFill>
                <a:latin typeface="メイリオ" panose="020B0604030504040204" pitchFamily="50" charset="-128"/>
                <a:ea typeface="メイリオ" panose="020B0604030504040204" pitchFamily="50" charset="-128"/>
              </a:rPr>
              <a:t>導入前比137.3%</a:t>
            </a:r>
            <a:endParaRPr lang="ja-JP" altLang="en-US" sz="1300" dirty="0"/>
          </a:p>
          <a:p>
            <a:pPr algn="ctr">
              <a:lnSpc>
                <a:spcPct val="100000"/>
              </a:lnSpc>
              <a:buNone/>
            </a:pPr>
            <a:r>
              <a:rPr lang="ja-JP" altLang="en-US" sz="1300" b="1" dirty="0">
                <a:solidFill>
                  <a:srgbClr val="1F285A"/>
                </a:solidFill>
                <a:latin typeface="メイリオ" panose="020B0604030504040204" pitchFamily="50" charset="-128"/>
                <a:ea typeface="メイリオ" panose="020B0604030504040204" pitchFamily="50" charset="-128"/>
              </a:rPr>
              <a:t>前年比127.5%</a:t>
            </a:r>
            <a:endParaRPr lang="ja-JP" alt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8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385" name="Google Shape;156;p7"/>
          <p:cNvSpPr/>
          <p:nvPr/>
        </p:nvSpPr>
        <p:spPr>
          <a:xfrm>
            <a:off x="549000" y="138240"/>
            <a:ext cx="76809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メイリオ"/>
                <a:ea typeface="メイリオ"/>
              </a:rPr>
              <a:t>解決策：LINEの配信でナーチャリングを</a:t>
            </a:r>
            <a:endParaRPr lang="en-US" sz="1600" b="0" u="none" strike="noStrike">
              <a:solidFill>
                <a:srgbClr val="000000"/>
              </a:solidFill>
              <a:effectLst/>
              <a:uFillTx/>
              <a:latin typeface="メイリオ"/>
            </a:endParaRPr>
          </a:p>
        </p:txBody>
      </p:sp>
      <p:sp>
        <p:nvSpPr>
          <p:cNvPr id="386" name="TextBox 2"/>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zh-CN" sz="1400" b="0" u="none" strike="noStrike" dirty="0">
                <a:solidFill>
                  <a:srgbClr val="5A6378"/>
                </a:solidFill>
                <a:effectLst/>
                <a:uFillTx/>
                <a:latin typeface="メイリオ"/>
                <a:ea typeface="メイリオ"/>
              </a:rPr>
              <a:t>前後検索で見える検討の順番に合わせた、14日間のステップ配信（全5通）と月4回程度の企画配信で、来場予約を後押し</a:t>
            </a:r>
            <a:br>
              <a:rPr lang="zh-CN" sz="1400" b="0" u="none" strike="noStrike" dirty="0">
                <a:solidFill>
                  <a:srgbClr val="5A6378"/>
                </a:solidFill>
                <a:effectLst/>
                <a:uFillTx/>
                <a:latin typeface="メイリオ"/>
                <a:ea typeface="メイリオ"/>
              </a:rPr>
            </a:br>
            <a:endParaRPr lang="en-US" sz="1400" b="0" u="none" strike="noStrike" dirty="0">
              <a:solidFill>
                <a:srgbClr val="000000"/>
              </a:solidFill>
              <a:effectLst/>
              <a:uFillTx/>
              <a:latin typeface="メイリオ"/>
            </a:endParaRPr>
          </a:p>
        </p:txBody>
      </p:sp>
      <p:sp>
        <p:nvSpPr>
          <p:cNvPr id="387" name="TextBox 3"/>
          <p:cNvSpPr/>
          <p:nvPr/>
        </p:nvSpPr>
        <p:spPr>
          <a:xfrm>
            <a:off x="384120" y="1371600"/>
            <a:ext cx="9125712" cy="292320"/>
          </a:xfrm>
          <a:prstGeom prst="rect">
            <a:avLst/>
          </a:prstGeom>
          <a:noFill/>
          <a:ln w="0">
            <a:noFill/>
          </a:ln>
        </p:spPr>
        <p:style>
          <a:lnRef idx="0">
            <a:scrgbClr r="0" g="0" b="0"/>
          </a:lnRef>
          <a:fillRef idx="0">
            <a:scrgbClr r="0" g="0" b="0"/>
          </a:fillRef>
          <a:effectRef idx="0">
            <a:scrgbClr r="0" g="0" b="0"/>
          </a:effectRef>
          <a:fontRef idx="minor"/>
        </p:style>
        <p:txBody>
          <a:bodyPr lIns="45720" tIns="0" rIns="45720" bIns="0" anchor="ctr">
            <a:noAutofit/>
          </a:bodyPr>
          <a:lstStyle/>
          <a:p>
            <a:pPr defTabSz="914400">
              <a:lnSpc>
                <a:spcPct val="100000"/>
              </a:lnSpc>
              <a:tabLst>
                <a:tab pos="0" algn="l"/>
              </a:tabLst>
            </a:pPr>
            <a:r>
              <a:rPr lang="en-US" sz="1400" b="1" u="none" strike="noStrike">
                <a:solidFill>
                  <a:srgbClr val="1F2A5C"/>
                </a:solidFill>
                <a:effectLst/>
                <a:uFillTx/>
                <a:latin typeface="メイリオ"/>
                <a:ea typeface="メイリオ"/>
              </a:rPr>
              <a:t>[ステップ配信・全5通｜新しい友だちへ追加後に自動配信]</a:t>
            </a:r>
            <a:endParaRPr lang="en-US" sz="1400" b="0" u="none" strike="noStrike">
              <a:solidFill>
                <a:srgbClr val="000000"/>
              </a:solidFill>
              <a:effectLst/>
              <a:uFillTx/>
              <a:latin typeface="メイリオ"/>
            </a:endParaRPr>
          </a:p>
        </p:txBody>
      </p:sp>
      <p:sp>
        <p:nvSpPr>
          <p:cNvPr id="388" name="Rounded Rectangle 4"/>
          <p:cNvSpPr/>
          <p:nvPr/>
        </p:nvSpPr>
        <p:spPr>
          <a:xfrm>
            <a:off x="384048" y="1920240"/>
            <a:ext cx="1737360" cy="48420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0" tIns="18360" rIns="0" bIns="18360" anchor="ctr">
            <a:noAutofit/>
          </a:bodyPr>
          <a:lstStyle/>
          <a:p>
            <a:pPr algn="ctr" defTabSz="914400">
              <a:lnSpc>
                <a:spcPct val="90000"/>
              </a:lnSpc>
              <a:tabLst>
                <a:tab pos="0" algn="l"/>
              </a:tabLst>
            </a:pPr>
            <a:r>
              <a:rPr lang="en-US" sz="1200" b="1" u="none" strike="noStrike">
                <a:solidFill>
                  <a:srgbClr val="FFFFFF"/>
                </a:solidFill>
                <a:effectLst/>
                <a:uFillTx/>
                <a:latin typeface="メイリオ"/>
                <a:ea typeface="メイリオ"/>
              </a:rPr>
              <a:t>当日〜1日後</a:t>
            </a:r>
            <a:endParaRPr lang="en-US" sz="1200" b="0" u="none" strike="noStrike">
              <a:solidFill>
                <a:srgbClr val="FFFFFF"/>
              </a:solidFill>
              <a:effectLst/>
              <a:uFillTx/>
              <a:latin typeface="メイリオ"/>
            </a:endParaRPr>
          </a:p>
        </p:txBody>
      </p:sp>
      <p:sp>
        <p:nvSpPr>
          <p:cNvPr id="390" name="Right Arrow 6"/>
          <p:cNvSpPr/>
          <p:nvPr/>
        </p:nvSpPr>
        <p:spPr>
          <a:xfrm>
            <a:off x="2121408" y="2089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393" name="Rounded Rectangle 9"/>
          <p:cNvSpPr/>
          <p:nvPr/>
        </p:nvSpPr>
        <p:spPr>
          <a:xfrm>
            <a:off x="2359152" y="1920240"/>
            <a:ext cx="2724912"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施工事例・会社の特長</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土地探しのご相談</a:t>
            </a:r>
            <a:endParaRPr lang="en-US" sz="1200" b="0" u="none" strike="noStrike">
              <a:solidFill>
                <a:srgbClr val="000000"/>
              </a:solidFill>
              <a:effectLst/>
              <a:uFillTx/>
              <a:latin typeface="メイリオ"/>
            </a:endParaRPr>
          </a:p>
        </p:txBody>
      </p:sp>
      <p:sp>
        <p:nvSpPr>
          <p:cNvPr id="394" name="Right Arrow 10"/>
          <p:cNvSpPr/>
          <p:nvPr/>
        </p:nvSpPr>
        <p:spPr>
          <a:xfrm>
            <a:off x="5084064" y="2089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395" name="Rounded Rectangle 11"/>
          <p:cNvSpPr/>
          <p:nvPr/>
        </p:nvSpPr>
        <p:spPr>
          <a:xfrm>
            <a:off x="5321808" y="1920240"/>
            <a:ext cx="2487168"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比べる会社の</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候補に入る</a:t>
            </a:r>
            <a:endParaRPr lang="en-US" sz="1200" b="0" u="none" strike="noStrike">
              <a:solidFill>
                <a:srgbClr val="000000"/>
              </a:solidFill>
              <a:effectLst/>
              <a:uFillTx/>
              <a:latin typeface="メイリオ"/>
            </a:endParaRPr>
          </a:p>
        </p:txBody>
      </p:sp>
      <p:sp>
        <p:nvSpPr>
          <p:cNvPr id="396" name="Right Arrow 12"/>
          <p:cNvSpPr/>
          <p:nvPr/>
        </p:nvSpPr>
        <p:spPr>
          <a:xfrm>
            <a:off x="7808975" y="2089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397" name="Rounded Rectangle 13"/>
          <p:cNvSpPr/>
          <p:nvPr/>
        </p:nvSpPr>
        <p:spPr>
          <a:xfrm>
            <a:off x="8046720" y="1920240"/>
            <a:ext cx="146304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資料請求へ</a:t>
            </a:r>
            <a:endParaRPr lang="en-US" sz="1200" b="0" u="none" strike="noStrike">
              <a:solidFill>
                <a:srgbClr val="FFFFFF"/>
              </a:solidFill>
              <a:effectLst/>
              <a:uFillTx/>
              <a:latin typeface="メイリオ"/>
            </a:endParaRPr>
          </a:p>
        </p:txBody>
      </p:sp>
      <p:sp>
        <p:nvSpPr>
          <p:cNvPr id="398" name="Rounded Rectangle 14"/>
          <p:cNvSpPr/>
          <p:nvPr/>
        </p:nvSpPr>
        <p:spPr>
          <a:xfrm>
            <a:off x="384048" y="2468880"/>
            <a:ext cx="1737360" cy="48420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0" tIns="18360" rIns="0" bIns="18360" anchor="ctr">
            <a:noAutofit/>
          </a:bodyPr>
          <a:lstStyle/>
          <a:p>
            <a:pPr algn="ctr" defTabSz="914400">
              <a:lnSpc>
                <a:spcPct val="90000"/>
              </a:lnSpc>
              <a:tabLst>
                <a:tab pos="0" algn="l"/>
              </a:tabLst>
            </a:pPr>
            <a:r>
              <a:rPr lang="en-US" sz="1200" b="1" u="none" strike="noStrike">
                <a:solidFill>
                  <a:srgbClr val="FFFFFF"/>
                </a:solidFill>
                <a:effectLst/>
                <a:uFillTx/>
                <a:latin typeface="メイリオ"/>
                <a:ea typeface="メイリオ"/>
              </a:rPr>
              <a:t>2〜7日後</a:t>
            </a:r>
            <a:endParaRPr lang="en-US" sz="1200" b="0" u="none" strike="noStrike">
              <a:solidFill>
                <a:srgbClr val="FFFFFF"/>
              </a:solidFill>
              <a:effectLst/>
              <a:uFillTx/>
              <a:latin typeface="メイリオ"/>
            </a:endParaRPr>
          </a:p>
        </p:txBody>
      </p:sp>
      <p:sp>
        <p:nvSpPr>
          <p:cNvPr id="400" name="Right Arrow 16"/>
          <p:cNvSpPr/>
          <p:nvPr/>
        </p:nvSpPr>
        <p:spPr>
          <a:xfrm>
            <a:off x="2121408" y="263844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03" name="Rounded Rectangle 19"/>
          <p:cNvSpPr/>
          <p:nvPr/>
        </p:nvSpPr>
        <p:spPr>
          <a:xfrm>
            <a:off x="2359152" y="2468880"/>
            <a:ext cx="2724912"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住宅ローン・坪単価の考え方</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平屋・2階建ての価格の目安</a:t>
            </a:r>
            <a:endParaRPr lang="en-US" sz="1200" b="0" u="none" strike="noStrike">
              <a:solidFill>
                <a:srgbClr val="000000"/>
              </a:solidFill>
              <a:effectLst/>
              <a:uFillTx/>
              <a:latin typeface="メイリオ"/>
            </a:endParaRPr>
          </a:p>
        </p:txBody>
      </p:sp>
      <p:sp>
        <p:nvSpPr>
          <p:cNvPr id="404" name="Right Arrow 20"/>
          <p:cNvSpPr/>
          <p:nvPr/>
        </p:nvSpPr>
        <p:spPr>
          <a:xfrm>
            <a:off x="5084064" y="263844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05" name="Rounded Rectangle 21"/>
          <p:cNvSpPr/>
          <p:nvPr/>
        </p:nvSpPr>
        <p:spPr>
          <a:xfrm>
            <a:off x="5321808" y="2468880"/>
            <a:ext cx="2487168"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費用の不安を解消</a:t>
            </a:r>
            <a:endParaRPr lang="en-US" sz="1200" b="0" u="none" strike="noStrike">
              <a:solidFill>
                <a:srgbClr val="000000"/>
              </a:solidFill>
              <a:effectLst/>
              <a:uFillTx/>
              <a:latin typeface="メイリオ"/>
            </a:endParaRPr>
          </a:p>
        </p:txBody>
      </p:sp>
      <p:sp>
        <p:nvSpPr>
          <p:cNvPr id="406" name="Right Arrow 22"/>
          <p:cNvSpPr/>
          <p:nvPr/>
        </p:nvSpPr>
        <p:spPr>
          <a:xfrm>
            <a:off x="7808975" y="263844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07" name="Rounded Rectangle 23"/>
          <p:cNvSpPr/>
          <p:nvPr/>
        </p:nvSpPr>
        <p:spPr>
          <a:xfrm>
            <a:off x="8046720" y="2468880"/>
            <a:ext cx="146304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来場予約へ</a:t>
            </a:r>
            <a:endParaRPr lang="en-US" sz="1200" b="0" u="none" strike="noStrike">
              <a:solidFill>
                <a:srgbClr val="FFFFFF"/>
              </a:solidFill>
              <a:effectLst/>
              <a:uFillTx/>
              <a:latin typeface="メイリオ"/>
            </a:endParaRPr>
          </a:p>
        </p:txBody>
      </p:sp>
      <p:sp>
        <p:nvSpPr>
          <p:cNvPr id="408" name="Rounded Rectangle 24"/>
          <p:cNvSpPr/>
          <p:nvPr/>
        </p:nvSpPr>
        <p:spPr>
          <a:xfrm>
            <a:off x="384048" y="3017520"/>
            <a:ext cx="1737360" cy="48420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0" tIns="18360" rIns="0" bIns="18360" anchor="ctr">
            <a:noAutofit/>
          </a:bodyPr>
          <a:lstStyle/>
          <a:p>
            <a:pPr algn="ctr" defTabSz="914400">
              <a:lnSpc>
                <a:spcPct val="90000"/>
              </a:lnSpc>
              <a:tabLst>
                <a:tab pos="0" algn="l"/>
              </a:tabLst>
            </a:pPr>
            <a:r>
              <a:rPr lang="en-US" sz="1200" b="1" u="none" strike="noStrike">
                <a:solidFill>
                  <a:srgbClr val="FFFFFF"/>
                </a:solidFill>
                <a:effectLst/>
                <a:uFillTx/>
                <a:latin typeface="メイリオ"/>
                <a:ea typeface="メイリオ"/>
              </a:rPr>
              <a:t>8〜14日後</a:t>
            </a:r>
            <a:endParaRPr lang="en-US" sz="1200" b="0" u="none" strike="noStrike">
              <a:solidFill>
                <a:srgbClr val="FFFFFF"/>
              </a:solidFill>
              <a:effectLst/>
              <a:uFillTx/>
              <a:latin typeface="メイリオ"/>
            </a:endParaRPr>
          </a:p>
        </p:txBody>
      </p:sp>
      <p:sp>
        <p:nvSpPr>
          <p:cNvPr id="410" name="Right Arrow 26"/>
          <p:cNvSpPr/>
          <p:nvPr/>
        </p:nvSpPr>
        <p:spPr>
          <a:xfrm>
            <a:off x="2121408" y="31870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13" name="Rounded Rectangle 29"/>
          <p:cNvSpPr/>
          <p:nvPr/>
        </p:nvSpPr>
        <p:spPr>
          <a:xfrm>
            <a:off x="2359152" y="3017520"/>
            <a:ext cx="2724912"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ja-JP" altLang="en-US" sz="1200" b="0" u="none" strike="noStrike" dirty="0">
                <a:solidFill>
                  <a:srgbClr val="333333"/>
                </a:solidFill>
                <a:effectLst/>
                <a:uFillTx/>
                <a:latin typeface="メイリオ"/>
                <a:ea typeface="メイリオ"/>
              </a:rPr>
              <a:t>青森の冬を快適にする断熱・間取り</a:t>
            </a:r>
            <a:endParaRPr lang="en-US" altLang="ja-JP" sz="1200" b="0" u="none" strike="noStrike" dirty="0">
              <a:solidFill>
                <a:srgbClr val="333333"/>
              </a:solidFill>
              <a:effectLst/>
              <a:uFillTx/>
              <a:latin typeface="メイリオ"/>
              <a:ea typeface="メイリオ"/>
            </a:endParaRPr>
          </a:p>
          <a:p>
            <a:pPr algn="ctr" defTabSz="914400">
              <a:lnSpc>
                <a:spcPct val="90000"/>
              </a:lnSpc>
              <a:tabLst>
                <a:tab pos="0" algn="l"/>
              </a:tabLst>
            </a:pPr>
            <a:r>
              <a:rPr lang="ja-JP" altLang="en-US" sz="1200" b="0" u="none" strike="noStrike" dirty="0">
                <a:solidFill>
                  <a:srgbClr val="333333"/>
                </a:solidFill>
                <a:effectLst/>
                <a:uFillTx/>
                <a:latin typeface="メイリオ"/>
                <a:ea typeface="メイリオ"/>
              </a:rPr>
              <a:t>ルームツアー動画</a:t>
            </a:r>
            <a:endParaRPr lang="en-US" altLang="ja-JP" sz="1200" b="0" u="none" strike="noStrike" dirty="0">
              <a:solidFill>
                <a:srgbClr val="333333"/>
              </a:solidFill>
              <a:effectLst/>
              <a:uFillTx/>
              <a:latin typeface="メイリオ"/>
              <a:ea typeface="メイリオ"/>
            </a:endParaRPr>
          </a:p>
        </p:txBody>
      </p:sp>
      <p:sp>
        <p:nvSpPr>
          <p:cNvPr id="414" name="Right Arrow 30"/>
          <p:cNvSpPr/>
          <p:nvPr/>
        </p:nvSpPr>
        <p:spPr>
          <a:xfrm>
            <a:off x="5084064" y="31870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15" name="Rounded Rectangle 31"/>
          <p:cNvSpPr/>
          <p:nvPr/>
        </p:nvSpPr>
        <p:spPr>
          <a:xfrm>
            <a:off x="5321808" y="3017520"/>
            <a:ext cx="2487168"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ja-JP" altLang="en-US" sz="1200" b="0" u="none" strike="noStrike" dirty="0">
                <a:solidFill>
                  <a:srgbClr val="333333"/>
                </a:solidFill>
                <a:effectLst/>
                <a:uFillTx/>
                <a:latin typeface="メイリオ"/>
                <a:ea typeface="メイリオ"/>
              </a:rPr>
              <a:t>住みたいイメージを</a:t>
            </a:r>
            <a:endParaRPr lang="en-US" altLang="ja-JP" sz="1200" b="0" u="none" strike="noStrike" dirty="0">
              <a:solidFill>
                <a:srgbClr val="333333"/>
              </a:solidFill>
              <a:effectLst/>
              <a:uFillTx/>
              <a:latin typeface="メイリオ"/>
              <a:ea typeface="メイリオ"/>
            </a:endParaRPr>
          </a:p>
          <a:p>
            <a:pPr algn="ctr" defTabSz="914400">
              <a:lnSpc>
                <a:spcPct val="90000"/>
              </a:lnSpc>
              <a:tabLst>
                <a:tab pos="0" algn="l"/>
              </a:tabLst>
            </a:pPr>
            <a:r>
              <a:rPr lang="ja-JP" altLang="en-US" sz="1200" b="0" u="none" strike="noStrike" dirty="0">
                <a:solidFill>
                  <a:srgbClr val="333333"/>
                </a:solidFill>
                <a:effectLst/>
                <a:uFillTx/>
                <a:latin typeface="メイリオ"/>
                <a:ea typeface="メイリオ"/>
              </a:rPr>
              <a:t>育てる</a:t>
            </a:r>
            <a:endParaRPr lang="en-US" altLang="ja-JP" sz="1200" b="0" u="none" strike="noStrike" dirty="0">
              <a:solidFill>
                <a:srgbClr val="333333"/>
              </a:solidFill>
              <a:effectLst/>
              <a:uFillTx/>
              <a:latin typeface="メイリオ"/>
              <a:ea typeface="メイリオ"/>
            </a:endParaRPr>
          </a:p>
        </p:txBody>
      </p:sp>
      <p:sp>
        <p:nvSpPr>
          <p:cNvPr id="416" name="Right Arrow 32"/>
          <p:cNvSpPr/>
          <p:nvPr/>
        </p:nvSpPr>
        <p:spPr>
          <a:xfrm>
            <a:off x="7808975" y="31870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17" name="Rounded Rectangle 33"/>
          <p:cNvSpPr/>
          <p:nvPr/>
        </p:nvSpPr>
        <p:spPr>
          <a:xfrm>
            <a:off x="8046720" y="3017520"/>
            <a:ext cx="146304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来場予約へ</a:t>
            </a:r>
            <a:endParaRPr lang="en-US" sz="1200" b="0" u="none" strike="noStrike">
              <a:solidFill>
                <a:srgbClr val="FFFFFF"/>
              </a:solidFill>
              <a:effectLst/>
              <a:uFillTx/>
              <a:latin typeface="メイリオ"/>
            </a:endParaRPr>
          </a:p>
        </p:txBody>
      </p:sp>
      <p:sp>
        <p:nvSpPr>
          <p:cNvPr id="418" name="TextBox 34"/>
          <p:cNvSpPr/>
          <p:nvPr/>
        </p:nvSpPr>
        <p:spPr>
          <a:xfrm>
            <a:off x="384120" y="3712320"/>
            <a:ext cx="3657240" cy="292320"/>
          </a:xfrm>
          <a:prstGeom prst="rect">
            <a:avLst/>
          </a:prstGeom>
          <a:noFill/>
          <a:ln w="0">
            <a:noFill/>
          </a:ln>
        </p:spPr>
        <p:style>
          <a:lnRef idx="0">
            <a:scrgbClr r="0" g="0" b="0"/>
          </a:lnRef>
          <a:fillRef idx="0">
            <a:scrgbClr r="0" g="0" b="0"/>
          </a:fillRef>
          <a:effectRef idx="0">
            <a:scrgbClr r="0" g="0" b="0"/>
          </a:effectRef>
          <a:fontRef idx="minor"/>
        </p:style>
        <p:txBody>
          <a:bodyPr lIns="45720" tIns="0" rIns="45720" bIns="0" anchor="ctr">
            <a:noAutofit/>
          </a:bodyPr>
          <a:lstStyle/>
          <a:p>
            <a:pPr defTabSz="914400">
              <a:lnSpc>
                <a:spcPct val="100000"/>
              </a:lnSpc>
              <a:tabLst>
                <a:tab pos="0" algn="l"/>
              </a:tabLst>
            </a:pPr>
            <a:r>
              <a:rPr lang="en-US" sz="1400" b="1" u="none" strike="noStrike">
                <a:solidFill>
                  <a:srgbClr val="1F2A5C"/>
                </a:solidFill>
                <a:effectLst/>
                <a:uFillTx/>
                <a:latin typeface="メイリオ"/>
                <a:ea typeface="メイリオ"/>
              </a:rPr>
              <a:t>[</a:t>
            </a:r>
            <a:r>
              <a:rPr lang="zh-CN" sz="1400" b="1" u="none" strike="noStrike">
                <a:solidFill>
                  <a:srgbClr val="1F2A5C"/>
                </a:solidFill>
                <a:effectLst/>
                <a:uFillTx/>
                <a:latin typeface="メイリオ"/>
                <a:ea typeface="メイリオ"/>
              </a:rPr>
              <a:t>企画配信</a:t>
            </a:r>
            <a:r>
              <a:rPr lang="en-US" sz="1400" b="1" u="none" strike="noStrike">
                <a:solidFill>
                  <a:srgbClr val="1F2A5C"/>
                </a:solidFill>
                <a:effectLst/>
                <a:uFillTx/>
                <a:latin typeface="メイリオ"/>
                <a:ea typeface="メイリオ"/>
              </a:rPr>
              <a:t>]</a:t>
            </a:r>
            <a:endParaRPr lang="en-US" sz="1400" b="0" u="none" strike="noStrike">
              <a:solidFill>
                <a:srgbClr val="000000"/>
              </a:solidFill>
              <a:effectLst/>
              <a:uFillTx/>
              <a:latin typeface="メイリオ"/>
            </a:endParaRPr>
          </a:p>
        </p:txBody>
      </p:sp>
      <p:sp>
        <p:nvSpPr>
          <p:cNvPr id="419" name="Rounded Rectangle 35"/>
          <p:cNvSpPr/>
          <p:nvPr/>
        </p:nvSpPr>
        <p:spPr>
          <a:xfrm>
            <a:off x="384120" y="426096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友だち全員</a:t>
            </a:r>
            <a:endParaRPr lang="en-US" sz="1200" b="0" u="none" strike="noStrike">
              <a:solidFill>
                <a:srgbClr val="000000"/>
              </a:solidFill>
              <a:effectLst/>
              <a:uFillTx/>
              <a:latin typeface="メイリオ"/>
            </a:endParaRPr>
          </a:p>
        </p:txBody>
      </p:sp>
      <p:sp>
        <p:nvSpPr>
          <p:cNvPr id="420" name="Right Arrow 36"/>
          <p:cNvSpPr/>
          <p:nvPr/>
        </p:nvSpPr>
        <p:spPr>
          <a:xfrm>
            <a:off x="212148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1" name="Rounded Rectangle 37"/>
          <p:cNvSpPr/>
          <p:nvPr/>
        </p:nvSpPr>
        <p:spPr>
          <a:xfrm>
            <a:off x="2359080" y="426096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絞り込みなし</a:t>
            </a:r>
            <a:endParaRPr lang="en-US" sz="1200" b="0" u="none" strike="noStrike">
              <a:solidFill>
                <a:srgbClr val="000000"/>
              </a:solidFill>
              <a:effectLst/>
              <a:uFillTx/>
              <a:latin typeface="メイリオ"/>
            </a:endParaRPr>
          </a:p>
        </p:txBody>
      </p:sp>
      <p:sp>
        <p:nvSpPr>
          <p:cNvPr id="422" name="Right Arrow 38"/>
          <p:cNvSpPr/>
          <p:nvPr/>
        </p:nvSpPr>
        <p:spPr>
          <a:xfrm>
            <a:off x="409644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3" name="Rounded Rectangle 39"/>
          <p:cNvSpPr/>
          <p:nvPr/>
        </p:nvSpPr>
        <p:spPr>
          <a:xfrm>
            <a:off x="4334400" y="426096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見学会・</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モデルハウス公開</a:t>
            </a:r>
            <a:endParaRPr lang="en-US" sz="1200" b="0" u="none" strike="noStrike">
              <a:solidFill>
                <a:srgbClr val="000000"/>
              </a:solidFill>
              <a:effectLst/>
              <a:uFillTx/>
              <a:latin typeface="メイリオ"/>
            </a:endParaRPr>
          </a:p>
        </p:txBody>
      </p:sp>
      <p:sp>
        <p:nvSpPr>
          <p:cNvPr id="424" name="Right Arrow 40"/>
          <p:cNvSpPr/>
          <p:nvPr/>
        </p:nvSpPr>
        <p:spPr>
          <a:xfrm>
            <a:off x="598032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5" name="Rounded Rectangle 41"/>
          <p:cNvSpPr/>
          <p:nvPr/>
        </p:nvSpPr>
        <p:spPr>
          <a:xfrm>
            <a:off x="6217920" y="426096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見に行く理由を</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つくる</a:t>
            </a:r>
            <a:endParaRPr lang="en-US" sz="1200" b="0" u="none" strike="noStrike">
              <a:solidFill>
                <a:srgbClr val="000000"/>
              </a:solidFill>
              <a:effectLst/>
              <a:uFillTx/>
              <a:latin typeface="メイリオ"/>
            </a:endParaRPr>
          </a:p>
        </p:txBody>
      </p:sp>
      <p:sp>
        <p:nvSpPr>
          <p:cNvPr id="426" name="Right Arrow 42"/>
          <p:cNvSpPr/>
          <p:nvPr/>
        </p:nvSpPr>
        <p:spPr>
          <a:xfrm>
            <a:off x="780912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7" name="Rounded Rectangle 43"/>
          <p:cNvSpPr/>
          <p:nvPr/>
        </p:nvSpPr>
        <p:spPr>
          <a:xfrm>
            <a:off x="8046720" y="426096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来場予約へ</a:t>
            </a:r>
            <a:endParaRPr lang="en-US" sz="1200" b="0" u="none" strike="noStrike">
              <a:solidFill>
                <a:srgbClr val="FFFFFF"/>
              </a:solidFill>
              <a:effectLst/>
              <a:uFillTx/>
              <a:latin typeface="メイリオ"/>
            </a:endParaRPr>
          </a:p>
        </p:txBody>
      </p:sp>
      <p:sp>
        <p:nvSpPr>
          <p:cNvPr id="428" name="Rounded Rectangle 44"/>
          <p:cNvSpPr/>
          <p:nvPr/>
        </p:nvSpPr>
        <p:spPr>
          <a:xfrm>
            <a:off x="384120" y="480960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来場予約前の方</a:t>
            </a:r>
            <a:endParaRPr lang="en-US" sz="1200" b="0" u="none" strike="noStrike">
              <a:solidFill>
                <a:srgbClr val="000000"/>
              </a:solidFill>
              <a:effectLst/>
              <a:uFillTx/>
              <a:latin typeface="メイリオ"/>
            </a:endParaRPr>
          </a:p>
        </p:txBody>
      </p:sp>
      <p:sp>
        <p:nvSpPr>
          <p:cNvPr id="429" name="Right Arrow 45"/>
          <p:cNvSpPr/>
          <p:nvPr/>
        </p:nvSpPr>
        <p:spPr>
          <a:xfrm>
            <a:off x="212148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0" name="Rounded Rectangle 46"/>
          <p:cNvSpPr/>
          <p:nvPr/>
        </p:nvSpPr>
        <p:spPr>
          <a:xfrm>
            <a:off x="2359080" y="480960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来場予約済みを除く</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（チャットタグ）</a:t>
            </a:r>
            <a:endParaRPr lang="en-US" sz="1200" b="0" u="none" strike="noStrike">
              <a:solidFill>
                <a:srgbClr val="000000"/>
              </a:solidFill>
              <a:effectLst/>
              <a:uFillTx/>
              <a:latin typeface="メイリオ"/>
            </a:endParaRPr>
          </a:p>
        </p:txBody>
      </p:sp>
      <p:sp>
        <p:nvSpPr>
          <p:cNvPr id="431" name="Right Arrow 47"/>
          <p:cNvSpPr/>
          <p:nvPr/>
        </p:nvSpPr>
        <p:spPr>
          <a:xfrm>
            <a:off x="409644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2" name="Rounded Rectangle 48"/>
          <p:cNvSpPr/>
          <p:nvPr/>
        </p:nvSpPr>
        <p:spPr>
          <a:xfrm>
            <a:off x="4334400" y="480960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予算の簡易診断</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平屋か2階建てか</a:t>
            </a:r>
            <a:endParaRPr lang="en-US" sz="1200" b="0" u="none" strike="noStrike">
              <a:solidFill>
                <a:srgbClr val="000000"/>
              </a:solidFill>
              <a:effectLst/>
              <a:uFillTx/>
              <a:latin typeface="メイリオ"/>
            </a:endParaRPr>
          </a:p>
        </p:txBody>
      </p:sp>
      <p:sp>
        <p:nvSpPr>
          <p:cNvPr id="433" name="Right Arrow 49"/>
          <p:cNvSpPr/>
          <p:nvPr/>
        </p:nvSpPr>
        <p:spPr>
          <a:xfrm>
            <a:off x="598032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4" name="Rounded Rectangle 50"/>
          <p:cNvSpPr/>
          <p:nvPr/>
        </p:nvSpPr>
        <p:spPr>
          <a:xfrm>
            <a:off x="6217920" y="480960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希望を聞き分ける</a:t>
            </a:r>
            <a:endParaRPr lang="en-US" sz="1200" b="0" u="none" strike="noStrike">
              <a:solidFill>
                <a:srgbClr val="000000"/>
              </a:solidFill>
              <a:effectLst/>
              <a:uFillTx/>
              <a:latin typeface="メイリオ"/>
            </a:endParaRPr>
          </a:p>
        </p:txBody>
      </p:sp>
      <p:sp>
        <p:nvSpPr>
          <p:cNvPr id="435" name="Right Arrow 51"/>
          <p:cNvSpPr/>
          <p:nvPr/>
        </p:nvSpPr>
        <p:spPr>
          <a:xfrm>
            <a:off x="780912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6" name="Rounded Rectangle 52"/>
          <p:cNvSpPr/>
          <p:nvPr/>
        </p:nvSpPr>
        <p:spPr>
          <a:xfrm>
            <a:off x="8046720" y="480960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来場予約へ</a:t>
            </a:r>
            <a:endParaRPr lang="en-US" sz="1200" b="0" u="none" strike="noStrike">
              <a:solidFill>
                <a:srgbClr val="FFFFFF"/>
              </a:solidFill>
              <a:effectLst/>
              <a:uFillTx/>
              <a:latin typeface="メイリオ"/>
            </a:endParaRPr>
          </a:p>
        </p:txBody>
      </p:sp>
      <p:sp>
        <p:nvSpPr>
          <p:cNvPr id="437" name="Rounded Rectangle 53"/>
          <p:cNvSpPr/>
          <p:nvPr/>
        </p:nvSpPr>
        <p:spPr>
          <a:xfrm>
            <a:off x="384120" y="535824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費用に関心がある方</a:t>
            </a:r>
            <a:endParaRPr lang="en-US" sz="1200" b="0" u="none" strike="noStrike">
              <a:solidFill>
                <a:srgbClr val="000000"/>
              </a:solidFill>
              <a:effectLst/>
              <a:uFillTx/>
              <a:latin typeface="メイリオ"/>
            </a:endParaRPr>
          </a:p>
        </p:txBody>
      </p:sp>
      <p:sp>
        <p:nvSpPr>
          <p:cNvPr id="438" name="Right Arrow 54"/>
          <p:cNvSpPr/>
          <p:nvPr/>
        </p:nvSpPr>
        <p:spPr>
          <a:xfrm>
            <a:off x="212148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9" name="Rounded Rectangle 55"/>
          <p:cNvSpPr/>
          <p:nvPr/>
        </p:nvSpPr>
        <p:spPr>
          <a:xfrm>
            <a:off x="2359080" y="535824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住宅ローンの配信を</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クリックした方</a:t>
            </a:r>
            <a:endParaRPr lang="en-US" sz="1200" b="0" u="none" strike="noStrike">
              <a:solidFill>
                <a:srgbClr val="000000"/>
              </a:solidFill>
              <a:effectLst/>
              <a:uFillTx/>
              <a:latin typeface="メイリオ"/>
            </a:endParaRPr>
          </a:p>
        </p:txBody>
      </p:sp>
      <p:sp>
        <p:nvSpPr>
          <p:cNvPr id="440" name="Right Arrow 56"/>
          <p:cNvSpPr/>
          <p:nvPr/>
        </p:nvSpPr>
        <p:spPr>
          <a:xfrm>
            <a:off x="409644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1" name="Rounded Rectangle 57"/>
          <p:cNvSpPr/>
          <p:nvPr/>
        </p:nvSpPr>
        <p:spPr>
          <a:xfrm>
            <a:off x="4334400" y="535824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資金計画の</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個別相談のご案内</a:t>
            </a:r>
            <a:endParaRPr lang="en-US" sz="1200" b="0" u="none" strike="noStrike">
              <a:solidFill>
                <a:srgbClr val="000000"/>
              </a:solidFill>
              <a:effectLst/>
              <a:uFillTx/>
              <a:latin typeface="メイリオ"/>
            </a:endParaRPr>
          </a:p>
        </p:txBody>
      </p:sp>
      <p:sp>
        <p:nvSpPr>
          <p:cNvPr id="442" name="Right Arrow 58"/>
          <p:cNvSpPr/>
          <p:nvPr/>
        </p:nvSpPr>
        <p:spPr>
          <a:xfrm>
            <a:off x="598032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3" name="Rounded Rectangle 59"/>
          <p:cNvSpPr/>
          <p:nvPr/>
        </p:nvSpPr>
        <p:spPr>
          <a:xfrm>
            <a:off x="6217920" y="535824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費用の不安を解消</a:t>
            </a:r>
            <a:endParaRPr lang="en-US" sz="1200" b="0" u="none" strike="noStrike">
              <a:solidFill>
                <a:srgbClr val="000000"/>
              </a:solidFill>
              <a:effectLst/>
              <a:uFillTx/>
              <a:latin typeface="メイリオ"/>
            </a:endParaRPr>
          </a:p>
        </p:txBody>
      </p:sp>
      <p:sp>
        <p:nvSpPr>
          <p:cNvPr id="444" name="Right Arrow 60"/>
          <p:cNvSpPr/>
          <p:nvPr/>
        </p:nvSpPr>
        <p:spPr>
          <a:xfrm>
            <a:off x="780912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5" name="Rounded Rectangle 61"/>
          <p:cNvSpPr/>
          <p:nvPr/>
        </p:nvSpPr>
        <p:spPr>
          <a:xfrm>
            <a:off x="8046720" y="535824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来場予約へ</a:t>
            </a:r>
            <a:endParaRPr lang="en-US" sz="1200" b="0" u="none" strike="noStrike">
              <a:solidFill>
                <a:srgbClr val="FFFFFF"/>
              </a:solidFill>
              <a:effectLst/>
              <a:uFillTx/>
              <a:latin typeface="メイリオ"/>
            </a:endParaRPr>
          </a:p>
        </p:txBody>
      </p:sp>
      <p:sp>
        <p:nvSpPr>
          <p:cNvPr id="446" name="Rounded Rectangle 62"/>
          <p:cNvSpPr/>
          <p:nvPr/>
        </p:nvSpPr>
        <p:spPr>
          <a:xfrm>
            <a:off x="384120" y="590688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来場済み・</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契約前の方</a:t>
            </a:r>
            <a:endParaRPr lang="en-US" sz="1200" b="0" u="none" strike="noStrike">
              <a:solidFill>
                <a:srgbClr val="000000"/>
              </a:solidFill>
              <a:effectLst/>
              <a:uFillTx/>
              <a:latin typeface="メイリオ"/>
            </a:endParaRPr>
          </a:p>
        </p:txBody>
      </p:sp>
      <p:sp>
        <p:nvSpPr>
          <p:cNvPr id="447" name="Right Arrow 63"/>
          <p:cNvSpPr/>
          <p:nvPr/>
        </p:nvSpPr>
        <p:spPr>
          <a:xfrm>
            <a:off x="212148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8" name="Rounded Rectangle 64"/>
          <p:cNvSpPr/>
          <p:nvPr/>
        </p:nvSpPr>
        <p:spPr>
          <a:xfrm>
            <a:off x="2359080" y="590688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来場済みのタグ</a:t>
            </a:r>
            <a:endParaRPr lang="en-US" sz="1200" b="0" u="none" strike="noStrike">
              <a:solidFill>
                <a:srgbClr val="000000"/>
              </a:solidFill>
              <a:effectLst/>
              <a:uFillTx/>
              <a:latin typeface="メイリオ"/>
            </a:endParaRPr>
          </a:p>
        </p:txBody>
      </p:sp>
      <p:sp>
        <p:nvSpPr>
          <p:cNvPr id="449" name="Right Arrow 65"/>
          <p:cNvSpPr/>
          <p:nvPr/>
        </p:nvSpPr>
        <p:spPr>
          <a:xfrm>
            <a:off x="409644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50" name="Rounded Rectangle 66"/>
          <p:cNvSpPr/>
          <p:nvPr/>
        </p:nvSpPr>
        <p:spPr>
          <a:xfrm>
            <a:off x="4334400" y="590688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お客様の声</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構造見学会</a:t>
            </a:r>
            <a:endParaRPr lang="en-US" sz="1200" b="0" u="none" strike="noStrike">
              <a:solidFill>
                <a:srgbClr val="000000"/>
              </a:solidFill>
              <a:effectLst/>
              <a:uFillTx/>
              <a:latin typeface="メイリオ"/>
            </a:endParaRPr>
          </a:p>
        </p:txBody>
      </p:sp>
      <p:sp>
        <p:nvSpPr>
          <p:cNvPr id="451" name="Right Arrow 67"/>
          <p:cNvSpPr/>
          <p:nvPr/>
        </p:nvSpPr>
        <p:spPr>
          <a:xfrm>
            <a:off x="598032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52" name="Rounded Rectangle 68"/>
          <p:cNvSpPr/>
          <p:nvPr/>
        </p:nvSpPr>
        <p:spPr>
          <a:xfrm>
            <a:off x="6217920" y="590688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契約前の後押し</a:t>
            </a:r>
            <a:endParaRPr lang="en-US" sz="1200" b="0" u="none" strike="noStrike">
              <a:solidFill>
                <a:srgbClr val="000000"/>
              </a:solidFill>
              <a:effectLst/>
              <a:uFillTx/>
              <a:latin typeface="メイリオ"/>
            </a:endParaRPr>
          </a:p>
        </p:txBody>
      </p:sp>
      <p:sp>
        <p:nvSpPr>
          <p:cNvPr id="453" name="Right Arrow 69"/>
          <p:cNvSpPr/>
          <p:nvPr/>
        </p:nvSpPr>
        <p:spPr>
          <a:xfrm>
            <a:off x="780912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54" name="Rounded Rectangle 70"/>
          <p:cNvSpPr/>
          <p:nvPr/>
        </p:nvSpPr>
        <p:spPr>
          <a:xfrm>
            <a:off x="8046720" y="590688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商談・契約へ</a:t>
            </a:r>
            <a:endParaRPr lang="en-US" sz="1200" b="0" u="none" strike="noStrike">
              <a:solidFill>
                <a:srgbClr val="FFFFFF"/>
              </a:solidFill>
              <a:effectLst/>
              <a:uFillTx/>
              <a:latin typeface="メイリオ"/>
            </a:endParaRPr>
          </a:p>
        </p:txBody>
      </p:sp>
      <p:sp>
        <p:nvSpPr>
          <p:cNvPr id="457" name="テキスト ボックス 9"/>
          <p:cNvSpPr/>
          <p:nvPr/>
        </p:nvSpPr>
        <p:spPr>
          <a:xfrm>
            <a:off x="2359152" y="1664280"/>
            <a:ext cx="2724912"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配信コンテンツ</a:t>
            </a:r>
            <a:endParaRPr lang="en-US" sz="1200" b="0" u="none" strike="noStrike">
              <a:solidFill>
                <a:srgbClr val="000000"/>
              </a:solidFill>
              <a:effectLst/>
              <a:uFillTx/>
              <a:latin typeface="メイリオ"/>
            </a:endParaRPr>
          </a:p>
        </p:txBody>
      </p:sp>
      <p:sp>
        <p:nvSpPr>
          <p:cNvPr id="458" name="テキスト ボックス 11"/>
          <p:cNvSpPr/>
          <p:nvPr/>
        </p:nvSpPr>
        <p:spPr>
          <a:xfrm>
            <a:off x="5321808" y="1664280"/>
            <a:ext cx="2487168"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FF0000"/>
                </a:solidFill>
                <a:effectLst/>
                <a:uFillTx/>
                <a:latin typeface="メイリオ"/>
                <a:ea typeface="メイリオ"/>
              </a:rPr>
              <a:t>ねらい</a:t>
            </a:r>
            <a:endParaRPr lang="en-US" sz="1200" b="0" u="none" strike="noStrike">
              <a:solidFill>
                <a:srgbClr val="000000"/>
              </a:solidFill>
              <a:effectLst/>
              <a:uFillTx/>
              <a:latin typeface="メイリオ"/>
            </a:endParaRPr>
          </a:p>
        </p:txBody>
      </p:sp>
      <p:sp>
        <p:nvSpPr>
          <p:cNvPr id="459" name="テキスト ボックス 14"/>
          <p:cNvSpPr/>
          <p:nvPr/>
        </p:nvSpPr>
        <p:spPr>
          <a:xfrm>
            <a:off x="384120" y="4005000"/>
            <a:ext cx="173700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ターゲット層</a:t>
            </a:r>
            <a:endParaRPr lang="en-US" sz="1200" b="0" u="none" strike="noStrike">
              <a:solidFill>
                <a:srgbClr val="000000"/>
              </a:solidFill>
              <a:effectLst/>
              <a:uFillTx/>
              <a:latin typeface="メイリオ"/>
            </a:endParaRPr>
          </a:p>
        </p:txBody>
      </p:sp>
      <p:sp>
        <p:nvSpPr>
          <p:cNvPr id="460" name="テキスト ボックス 16"/>
          <p:cNvSpPr/>
          <p:nvPr/>
        </p:nvSpPr>
        <p:spPr>
          <a:xfrm>
            <a:off x="2359080" y="4005000"/>
            <a:ext cx="173700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セグメント方法</a:t>
            </a:r>
            <a:endParaRPr lang="en-US" sz="1200" b="0" u="none" strike="noStrike">
              <a:solidFill>
                <a:srgbClr val="000000"/>
              </a:solidFill>
              <a:effectLst/>
              <a:uFillTx/>
              <a:latin typeface="メイリオ"/>
            </a:endParaRPr>
          </a:p>
        </p:txBody>
      </p:sp>
      <p:sp>
        <p:nvSpPr>
          <p:cNvPr id="461" name="テキスト ボックス 18"/>
          <p:cNvSpPr/>
          <p:nvPr/>
        </p:nvSpPr>
        <p:spPr>
          <a:xfrm>
            <a:off x="4334400" y="4005000"/>
            <a:ext cx="164556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配信コンテンツ</a:t>
            </a:r>
            <a:endParaRPr lang="en-US" sz="1200" b="0" u="none" strike="noStrike">
              <a:solidFill>
                <a:srgbClr val="000000"/>
              </a:solidFill>
              <a:effectLst/>
              <a:uFillTx/>
              <a:latin typeface="メイリオ"/>
            </a:endParaRPr>
          </a:p>
        </p:txBody>
      </p:sp>
      <p:sp>
        <p:nvSpPr>
          <p:cNvPr id="462" name="テキスト ボックス 21"/>
          <p:cNvSpPr/>
          <p:nvPr/>
        </p:nvSpPr>
        <p:spPr>
          <a:xfrm>
            <a:off x="6217920" y="4005000"/>
            <a:ext cx="159084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FF0000"/>
                </a:solidFill>
                <a:effectLst/>
                <a:uFillTx/>
                <a:latin typeface="メイリオ"/>
                <a:ea typeface="メイリオ"/>
              </a:rPr>
              <a:t>ねらい</a:t>
            </a:r>
            <a:endParaRPr lang="en-US" sz="1200" b="0" u="none" strike="noStrike">
              <a:solidFill>
                <a:srgbClr val="000000"/>
              </a:solidFill>
              <a:effectLst/>
              <a:uFillTx/>
              <a:latin typeface="メイリオ"/>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来場前のお知らせ：予約から来場までをLINEでつなぎ、キャンセルを減らす</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日程の変更もLINEのチャットで受け付け、キャンセルではなく変更につなげる</a:t>
            </a:r>
            <a:endParaRPr lang="en-US" sz="1400" b="1" u="none" strike="noStrike" dirty="0">
              <a:effectLst/>
              <a:uFillTx/>
              <a:latin typeface="メイリオ"/>
            </a:endParaRPr>
          </a:p>
        </p:txBody>
      </p:sp>
      <p:sp>
        <p:nvSpPr>
          <p:cNvPr id="7" name="流れ1"/>
          <p:cNvSpPr/>
          <p:nvPr/>
        </p:nvSpPr>
        <p:spPr>
          <a:xfrm>
            <a:off x="502920" y="1691640"/>
            <a:ext cx="1596542" cy="54864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300" b="1" dirty="0">
                <a:solidFill>
                  <a:srgbClr val="FFFFFF"/>
                </a:solidFill>
                <a:latin typeface="メイリオ" panose="020B0604030504040204" pitchFamily="50" charset="-128"/>
                <a:ea typeface="メイリオ" panose="020B0604030504040204" pitchFamily="50" charset="-128"/>
              </a:rPr>
              <a:t>予約の完了</a:t>
            </a:r>
            <a:endParaRPr lang="ja-JP" altLang="en-US" sz="1300" dirty="0"/>
          </a:p>
        </p:txBody>
      </p:sp>
      <p:sp>
        <p:nvSpPr>
          <p:cNvPr id="8" name="矢印"/>
          <p:cNvSpPr/>
          <p:nvPr/>
        </p:nvSpPr>
        <p:spPr>
          <a:xfrm>
            <a:off x="2099462" y="1691640"/>
            <a:ext cx="228600" cy="54864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9" name="流れ2"/>
          <p:cNvSpPr/>
          <p:nvPr/>
        </p:nvSpPr>
        <p:spPr>
          <a:xfrm>
            <a:off x="2328062" y="1691640"/>
            <a:ext cx="1596542" cy="54864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300" b="1" dirty="0">
                <a:solidFill>
                  <a:srgbClr val="FFFFFF"/>
                </a:solidFill>
                <a:latin typeface="メイリオ" panose="020B0604030504040204" pitchFamily="50" charset="-128"/>
                <a:ea typeface="メイリオ" panose="020B0604030504040204" pitchFamily="50" charset="-128"/>
              </a:rPr>
              <a:t>予約の確認</a:t>
            </a:r>
            <a:endParaRPr lang="ja-JP" altLang="en-US" sz="1300" dirty="0"/>
          </a:p>
        </p:txBody>
      </p:sp>
      <p:sp>
        <p:nvSpPr>
          <p:cNvPr id="10" name="矢印"/>
          <p:cNvSpPr/>
          <p:nvPr/>
        </p:nvSpPr>
        <p:spPr>
          <a:xfrm>
            <a:off x="3924604" y="1691640"/>
            <a:ext cx="228600" cy="54864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11" name="流れ3"/>
          <p:cNvSpPr/>
          <p:nvPr/>
        </p:nvSpPr>
        <p:spPr>
          <a:xfrm>
            <a:off x="4153204" y="1691640"/>
            <a:ext cx="1596542" cy="54864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300" b="1" dirty="0">
                <a:solidFill>
                  <a:srgbClr val="FFFFFF"/>
                </a:solidFill>
                <a:latin typeface="メイリオ" panose="020B0604030504040204" pitchFamily="50" charset="-128"/>
                <a:ea typeface="メイリオ" panose="020B0604030504040204" pitchFamily="50" charset="-128"/>
              </a:rPr>
              <a:t>3日前</a:t>
            </a:r>
            <a:endParaRPr lang="ja-JP" altLang="en-US" sz="1300" dirty="0"/>
          </a:p>
        </p:txBody>
      </p:sp>
      <p:sp>
        <p:nvSpPr>
          <p:cNvPr id="12" name="矢印"/>
          <p:cNvSpPr/>
          <p:nvPr/>
        </p:nvSpPr>
        <p:spPr>
          <a:xfrm>
            <a:off x="5749747" y="1691640"/>
            <a:ext cx="228600" cy="54864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13" name="流れ4"/>
          <p:cNvSpPr/>
          <p:nvPr/>
        </p:nvSpPr>
        <p:spPr>
          <a:xfrm>
            <a:off x="5978347" y="1691640"/>
            <a:ext cx="1596542" cy="54864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300" b="1" dirty="0">
                <a:solidFill>
                  <a:srgbClr val="FFFFFF"/>
                </a:solidFill>
                <a:latin typeface="メイリオ" panose="020B0604030504040204" pitchFamily="50" charset="-128"/>
                <a:ea typeface="メイリオ" panose="020B0604030504040204" pitchFamily="50" charset="-128"/>
              </a:rPr>
              <a:t>前日</a:t>
            </a:r>
            <a:endParaRPr lang="ja-JP" altLang="en-US" sz="1300" dirty="0"/>
          </a:p>
        </p:txBody>
      </p:sp>
      <p:sp>
        <p:nvSpPr>
          <p:cNvPr id="14" name="矢印"/>
          <p:cNvSpPr/>
          <p:nvPr/>
        </p:nvSpPr>
        <p:spPr>
          <a:xfrm>
            <a:off x="7574889" y="1691640"/>
            <a:ext cx="228600" cy="54864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15" name="流れ5"/>
          <p:cNvSpPr/>
          <p:nvPr/>
        </p:nvSpPr>
        <p:spPr>
          <a:xfrm>
            <a:off x="7803489" y="1691640"/>
            <a:ext cx="1596542" cy="54864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300" b="1" dirty="0">
                <a:solidFill>
                  <a:srgbClr val="FFFFFF"/>
                </a:solidFill>
                <a:latin typeface="メイリオ" panose="020B0604030504040204" pitchFamily="50" charset="-128"/>
                <a:ea typeface="メイリオ" panose="020B0604030504040204" pitchFamily="50" charset="-128"/>
              </a:rPr>
              <a:t>来場の後</a:t>
            </a:r>
            <a:endParaRPr lang="ja-JP" altLang="en-US" sz="1300" dirty="0"/>
          </a:p>
        </p:txBody>
      </p:sp>
      <p:sp>
        <p:nvSpPr>
          <p:cNvPr id="16" name="お知らせ1"/>
          <p:cNvSpPr/>
          <p:nvPr/>
        </p:nvSpPr>
        <p:spPr>
          <a:xfrm>
            <a:off x="502920" y="2313432"/>
            <a:ext cx="1596542" cy="1188720"/>
          </a:xfrm>
          <a:prstGeom prst="rect">
            <a:avLst/>
          </a:prstGeom>
          <a:noFill/>
          <a:ln w="9525">
            <a:solidFill>
              <a:srgbClr val="D9D9D9"/>
            </a:solidFill>
          </a:ln>
        </p:spPr>
        <p:txBody>
          <a:bodyPr wrap="square" lIns="91440" tIns="91440" rIns="91440" bIns="54864" rtlCol="0" anchor="t">
            <a:noAutofit/>
          </a:bodyPr>
          <a:lstStyle/>
          <a:p>
            <a:pPr algn="l">
              <a:lnSpc>
                <a:spcPct val="125000"/>
              </a:lnSpc>
              <a:buNone/>
            </a:pPr>
            <a:r>
              <a:rPr lang="ja-JP" altLang="en-US" sz="1250" b="0" dirty="0">
                <a:solidFill>
                  <a:srgbClr val="333333"/>
                </a:solidFill>
                <a:latin typeface="メイリオ" panose="020B0604030504040204" pitchFamily="50" charset="-128"/>
                <a:ea typeface="メイリオ" panose="020B0604030504040204" pitchFamily="50" charset="-128"/>
              </a:rPr>
              <a:t>事前アンケートの回答後に、LINEの友だち追加をご案内</a:t>
            </a:r>
            <a:endParaRPr lang="ja-JP" altLang="en-US" sz="1300" dirty="0"/>
          </a:p>
        </p:txBody>
      </p:sp>
      <p:sp>
        <p:nvSpPr>
          <p:cNvPr id="17" name="お知らせ2"/>
          <p:cNvSpPr/>
          <p:nvPr/>
        </p:nvSpPr>
        <p:spPr>
          <a:xfrm>
            <a:off x="2328062" y="2313432"/>
            <a:ext cx="1596542" cy="1188720"/>
          </a:xfrm>
          <a:prstGeom prst="rect">
            <a:avLst/>
          </a:prstGeom>
          <a:noFill/>
          <a:ln w="9525">
            <a:solidFill>
              <a:srgbClr val="D9D9D9"/>
            </a:solidFill>
          </a:ln>
        </p:spPr>
        <p:txBody>
          <a:bodyPr wrap="square" lIns="91440" tIns="91440" rIns="91440" bIns="54864" rtlCol="0" anchor="t">
            <a:noAutofit/>
          </a:bodyPr>
          <a:lstStyle/>
          <a:p>
            <a:pPr algn="l">
              <a:lnSpc>
                <a:spcPct val="125000"/>
              </a:lnSpc>
              <a:buNone/>
            </a:pPr>
            <a:r>
              <a:rPr lang="ja-JP" altLang="en-US" sz="1250" b="0" dirty="0">
                <a:solidFill>
                  <a:srgbClr val="333333"/>
                </a:solidFill>
                <a:latin typeface="メイリオ" panose="020B0604030504040204" pitchFamily="50" charset="-128"/>
                <a:ea typeface="メイリオ" panose="020B0604030504040204" pitchFamily="50" charset="-128"/>
              </a:rPr>
              <a:t>日時・展示場・担当者をLINEでお知らせ</a:t>
            </a:r>
            <a:endParaRPr lang="ja-JP" altLang="en-US" sz="1300" dirty="0"/>
          </a:p>
        </p:txBody>
      </p:sp>
      <p:sp>
        <p:nvSpPr>
          <p:cNvPr id="18" name="お知らせ3"/>
          <p:cNvSpPr/>
          <p:nvPr/>
        </p:nvSpPr>
        <p:spPr>
          <a:xfrm>
            <a:off x="4153204" y="2313432"/>
            <a:ext cx="1596542" cy="1188720"/>
          </a:xfrm>
          <a:prstGeom prst="rect">
            <a:avLst/>
          </a:prstGeom>
          <a:noFill/>
          <a:ln w="9525">
            <a:solidFill>
              <a:srgbClr val="D9D9D9"/>
            </a:solidFill>
          </a:ln>
        </p:spPr>
        <p:txBody>
          <a:bodyPr wrap="square" lIns="91440" tIns="91440" rIns="91440" bIns="54864" rtlCol="0" anchor="t">
            <a:noAutofit/>
          </a:bodyPr>
          <a:lstStyle/>
          <a:p>
            <a:pPr algn="l">
              <a:lnSpc>
                <a:spcPct val="125000"/>
              </a:lnSpc>
              <a:buNone/>
            </a:pPr>
            <a:r>
              <a:rPr lang="ja-JP" altLang="en-US" sz="1250" b="0" dirty="0">
                <a:solidFill>
                  <a:srgbClr val="333333"/>
                </a:solidFill>
                <a:latin typeface="メイリオ" panose="020B0604030504040204" pitchFamily="50" charset="-128"/>
                <a:ea typeface="メイリオ" panose="020B0604030504040204" pitchFamily="50" charset="-128"/>
              </a:rPr>
              <a:t>当日の見どころ・流れ・所要時間をご案内</a:t>
            </a:r>
            <a:endParaRPr lang="ja-JP" altLang="en-US" sz="1300" dirty="0"/>
          </a:p>
        </p:txBody>
      </p:sp>
      <p:sp>
        <p:nvSpPr>
          <p:cNvPr id="19" name="お知らせ4"/>
          <p:cNvSpPr/>
          <p:nvPr/>
        </p:nvSpPr>
        <p:spPr>
          <a:xfrm>
            <a:off x="5978347" y="2313432"/>
            <a:ext cx="1596542" cy="1188720"/>
          </a:xfrm>
          <a:prstGeom prst="rect">
            <a:avLst/>
          </a:prstGeom>
          <a:noFill/>
          <a:ln w="9525">
            <a:solidFill>
              <a:srgbClr val="D9D9D9"/>
            </a:solidFill>
          </a:ln>
        </p:spPr>
        <p:txBody>
          <a:bodyPr wrap="square" lIns="91440" tIns="91440" rIns="91440" bIns="54864" rtlCol="0" anchor="t">
            <a:noAutofit/>
          </a:bodyPr>
          <a:lstStyle/>
          <a:p>
            <a:pPr algn="l">
              <a:lnSpc>
                <a:spcPct val="125000"/>
              </a:lnSpc>
              <a:buNone/>
            </a:pPr>
            <a:r>
              <a:rPr lang="ja-JP" altLang="en-US" sz="1250" b="0" dirty="0">
                <a:solidFill>
                  <a:srgbClr val="333333"/>
                </a:solidFill>
                <a:latin typeface="メイリオ" panose="020B0604030504040204" pitchFamily="50" charset="-128"/>
                <a:ea typeface="メイリオ" panose="020B0604030504040204" pitchFamily="50" charset="-128"/>
              </a:rPr>
              <a:t>日時・場所・地図・駐車場をお知らせ。日程の変更はチャットで受付</a:t>
            </a:r>
            <a:endParaRPr lang="ja-JP" altLang="en-US" sz="1300" dirty="0"/>
          </a:p>
        </p:txBody>
      </p:sp>
      <p:sp>
        <p:nvSpPr>
          <p:cNvPr id="20" name="お知らせ5"/>
          <p:cNvSpPr/>
          <p:nvPr/>
        </p:nvSpPr>
        <p:spPr>
          <a:xfrm>
            <a:off x="7803489" y="2313432"/>
            <a:ext cx="1596542" cy="1188720"/>
          </a:xfrm>
          <a:prstGeom prst="rect">
            <a:avLst/>
          </a:prstGeom>
          <a:noFill/>
          <a:ln w="9525">
            <a:solidFill>
              <a:srgbClr val="D9D9D9"/>
            </a:solidFill>
          </a:ln>
        </p:spPr>
        <p:txBody>
          <a:bodyPr wrap="square" lIns="91440" tIns="91440" rIns="91440" bIns="54864" rtlCol="0" anchor="t">
            <a:noAutofit/>
          </a:bodyPr>
          <a:lstStyle/>
          <a:p>
            <a:pPr algn="l">
              <a:lnSpc>
                <a:spcPct val="125000"/>
              </a:lnSpc>
              <a:buNone/>
            </a:pPr>
            <a:r>
              <a:rPr lang="ja-JP" altLang="en-US" sz="1250" b="0" dirty="0">
                <a:solidFill>
                  <a:srgbClr val="333333"/>
                </a:solidFill>
                <a:latin typeface="メイリオ" panose="020B0604030504040204" pitchFamily="50" charset="-128"/>
                <a:ea typeface="メイリオ" panose="020B0604030504040204" pitchFamily="50" charset="-128"/>
              </a:rPr>
              <a:t>お礼と、次のご相談（商談）のご案内</a:t>
            </a:r>
            <a:endParaRPr lang="ja-JP" altLang="en-US" sz="1300" dirty="0"/>
          </a:p>
        </p:txBody>
      </p:sp>
      <p:sp>
        <p:nvSpPr>
          <p:cNvPr id="21" name="実績 見出し"/>
          <p:cNvSpPr/>
          <p:nvPr/>
        </p:nvSpPr>
        <p:spPr>
          <a:xfrm>
            <a:off x="502920" y="4206240"/>
            <a:ext cx="1737360" cy="91440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50" b="1" dirty="0">
                <a:solidFill>
                  <a:srgbClr val="FFFFFF"/>
                </a:solidFill>
                <a:latin typeface="メイリオ" panose="020B0604030504040204" pitchFamily="50" charset="-128"/>
                <a:ea typeface="メイリオ" panose="020B0604030504040204" pitchFamily="50" charset="-128"/>
              </a:rPr>
              <a:t>弊社運用の実績</a:t>
            </a:r>
            <a:endParaRPr lang="ja-JP" altLang="en-US" sz="1300" dirty="0"/>
          </a:p>
        </p:txBody>
      </p:sp>
      <p:sp>
        <p:nvSpPr>
          <p:cNvPr id="22" name="実績 施策"/>
          <p:cNvSpPr/>
          <p:nvPr/>
        </p:nvSpPr>
        <p:spPr>
          <a:xfrm>
            <a:off x="2240280" y="4206240"/>
            <a:ext cx="4206240" cy="914400"/>
          </a:xfrm>
          <a:prstGeom prst="rect">
            <a:avLst/>
          </a:prstGeom>
          <a:solidFill>
            <a:srgbClr val="F4F7FF"/>
          </a:solidFill>
          <a:ln>
            <a:noFill/>
          </a:ln>
        </p:spPr>
        <p:txBody>
          <a:bodyPr wrap="square" lIns="137160" tIns="54864" rIns="91440" bIns="54864" rtlCol="0" anchor="ctr">
            <a:noAutofit/>
          </a:bodyPr>
          <a:lstStyle/>
          <a:p>
            <a:pPr algn="l">
              <a:lnSpc>
                <a:spcPct val="120000"/>
              </a:lnSpc>
              <a:buNone/>
            </a:pPr>
            <a:r>
              <a:rPr lang="ja-JP" altLang="en-US" sz="1250" b="1" dirty="0">
                <a:solidFill>
                  <a:srgbClr val="1F285A"/>
                </a:solidFill>
                <a:latin typeface="メイリオ" panose="020B0604030504040204" pitchFamily="50" charset="-128"/>
                <a:ea typeface="メイリオ" panose="020B0604030504040204" pitchFamily="50" charset="-128"/>
              </a:rPr>
              <a:t>美容クリニック</a:t>
            </a:r>
            <a:endParaRPr lang="ja-JP" altLang="en-US" sz="1300" dirty="0"/>
          </a:p>
          <a:p>
            <a:pPr algn="l">
              <a:lnSpc>
                <a:spcPct val="120000"/>
              </a:lnSpc>
              <a:buNone/>
            </a:pPr>
            <a:r>
              <a:rPr lang="ja-JP" altLang="en-US" sz="1200" b="0" dirty="0">
                <a:solidFill>
                  <a:srgbClr val="333333"/>
                </a:solidFill>
                <a:latin typeface="メイリオ" panose="020B0604030504040204" pitchFamily="50" charset="-128"/>
                <a:ea typeface="メイリオ" panose="020B0604030504040204" pitchFamily="50" charset="-128"/>
              </a:rPr>
              <a:t>予約の完了後にLINEへご案内し、予約の確認・前日のお知らせを配信</a:t>
            </a:r>
            <a:endParaRPr lang="ja-JP" altLang="en-US" sz="1300" dirty="0"/>
          </a:p>
        </p:txBody>
      </p:sp>
      <p:sp>
        <p:nvSpPr>
          <p:cNvPr id="23" name="実績 数字"/>
          <p:cNvSpPr/>
          <p:nvPr/>
        </p:nvSpPr>
        <p:spPr>
          <a:xfrm>
            <a:off x="6446520" y="4206240"/>
            <a:ext cx="2953512" cy="914400"/>
          </a:xfrm>
          <a:prstGeom prst="rect">
            <a:avLst/>
          </a:prstGeom>
          <a:solidFill>
            <a:srgbClr val="F4F7FF"/>
          </a:solidFill>
          <a:ln>
            <a:noFill/>
          </a:ln>
        </p:spPr>
        <p:txBody>
          <a:bodyPr wrap="square" lIns="73152" tIns="36576" rIns="73152" bIns="36576" rtlCol="0" anchor="ctr">
            <a:noAutofit/>
          </a:bodyPr>
          <a:lstStyle/>
          <a:p>
            <a:pPr algn="ctr">
              <a:lnSpc>
                <a:spcPct val="105000"/>
              </a:lnSpc>
              <a:buNone/>
            </a:pPr>
            <a:r>
              <a:rPr lang="ja-JP" altLang="en-US" sz="1200" b="1" dirty="0">
                <a:solidFill>
                  <a:srgbClr val="1F285A"/>
                </a:solidFill>
                <a:latin typeface="メイリオ" panose="020B0604030504040204" pitchFamily="50" charset="-128"/>
                <a:ea typeface="メイリオ" panose="020B0604030504040204" pitchFamily="50" charset="-128"/>
              </a:rPr>
              <a:t>予約後の来院率</a:t>
            </a:r>
            <a:endParaRPr lang="ja-JP" altLang="en-US" sz="1300" dirty="0"/>
          </a:p>
          <a:p>
            <a:pPr algn="ctr">
              <a:lnSpc>
                <a:spcPct val="105000"/>
              </a:lnSpc>
              <a:buNone/>
            </a:pPr>
            <a:r>
              <a:rPr lang="ja-JP" altLang="en-US" sz="2200" b="1" dirty="0">
                <a:solidFill>
                  <a:srgbClr val="1F285A"/>
                </a:solidFill>
                <a:latin typeface="メイリオ" panose="020B0604030504040204" pitchFamily="50" charset="-128"/>
                <a:ea typeface="メイリオ" panose="020B0604030504040204" pitchFamily="50" charset="-128"/>
              </a:rPr>
              <a:t>40〜50%改善</a:t>
            </a:r>
            <a:endParaRPr lang="ja-JP" altLang="en-US" sz="1300" dirty="0"/>
          </a:p>
        </p:txBody>
      </p:sp>
      <p:sp>
        <p:nvSpPr>
          <p:cNvPr id="24" name="送り方"/>
          <p:cNvSpPr/>
          <p:nvPr/>
        </p:nvSpPr>
        <p:spPr>
          <a:xfrm>
            <a:off x="502920" y="3639312"/>
            <a:ext cx="8897112" cy="384048"/>
          </a:xfrm>
          <a:prstGeom prst="rect">
            <a:avLst/>
          </a:prstGeom>
          <a:noFill/>
          <a:ln w="9525">
            <a:solidFill>
              <a:srgbClr val="D9D9D9"/>
            </a:solidFill>
          </a:ln>
        </p:spPr>
        <p:txBody>
          <a:bodyPr wrap="square" lIns="91440" tIns="91440" rIns="91440" bIns="54864" rtlCol="0" anchor="ctr">
            <a:noAutofit/>
          </a:bodyPr>
          <a:lstStyle/>
          <a:p>
            <a:pPr algn="l">
              <a:lnSpc>
                <a:spcPct val="125000"/>
              </a:lnSpc>
              <a:buNone/>
            </a:pPr>
            <a:r>
              <a:rPr lang="ja-JP" altLang="en-US" sz="1200" b="0" dirty="0">
                <a:solidFill>
                  <a:srgbClr val="333333"/>
                </a:solidFill>
                <a:latin typeface="メイリオ" panose="020B0604030504040204" pitchFamily="50" charset="-128"/>
                <a:ea typeface="メイリオ" panose="020B0604030504040204" pitchFamily="50" charset="-128"/>
              </a:rPr>
              <a:t>送り方｜貴社の事務の方が予約を確認し、LINEでお送りする。文面の型は弊社が用意し、反応を見て直す</a:t>
            </a:r>
            <a:endParaRPr lang="ja-JP" alt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38"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339" name="Google Shape;156;p7"/>
          <p:cNvSpPr/>
          <p:nvPr/>
        </p:nvSpPr>
        <p:spPr>
          <a:xfrm>
            <a:off x="549000" y="138240"/>
            <a:ext cx="76809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a:tabLst>
                <a:tab pos="0" algn="l"/>
              </a:tabLst>
            </a:pPr>
            <a:r>
              <a:rPr lang="ja-JP" sz="1600" b="1" u="none" strike="noStrike" dirty="0">
                <a:solidFill>
                  <a:srgbClr val="002060"/>
                </a:solidFill>
                <a:effectLst/>
                <a:uFillTx/>
                <a:latin typeface="メイリオ"/>
                <a:ea typeface="メイリオ"/>
              </a:rPr>
              <a:t>概算お見積り：月23万円で、6か月目に資料請求 月11件・来場予約 月8件</a:t>
            </a:r>
          </a:p>
        </p:txBody>
      </p:sp>
      <p:cxnSp>
        <p:nvCxnSpPr>
          <p:cNvPr id="340"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341" name="正方形/長方形 4"/>
          <p:cNvSpPr/>
          <p:nvPr/>
        </p:nvSpPr>
        <p:spPr>
          <a:xfrm>
            <a:off x="2613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初期</a:t>
            </a:r>
            <a:endParaRPr lang="en-US" sz="1400" b="0" u="none" strike="noStrike">
              <a:solidFill>
                <a:srgbClr val="FFFFFF"/>
              </a:solidFill>
              <a:effectLst/>
              <a:uFillTx/>
              <a:latin typeface="メイリオ"/>
            </a:endParaRPr>
          </a:p>
        </p:txBody>
      </p:sp>
      <p:sp>
        <p:nvSpPr>
          <p:cNvPr id="342" name="正方形/長方形 6"/>
          <p:cNvSpPr/>
          <p:nvPr/>
        </p:nvSpPr>
        <p:spPr>
          <a:xfrm>
            <a:off x="33375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月次</a:t>
            </a:r>
            <a:endParaRPr lang="en-US" sz="1400" b="0" u="none" strike="noStrike">
              <a:solidFill>
                <a:srgbClr val="FFFFFF"/>
              </a:solidFill>
              <a:effectLst/>
              <a:uFillTx/>
              <a:latin typeface="メイリオ"/>
            </a:endParaRPr>
          </a:p>
        </p:txBody>
      </p:sp>
      <p:sp>
        <p:nvSpPr>
          <p:cNvPr id="343" name="正方形/長方形 7"/>
          <p:cNvSpPr/>
          <p:nvPr/>
        </p:nvSpPr>
        <p:spPr>
          <a:xfrm>
            <a:off x="2613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rPr>
              <a:t>¥165,000〜</a:t>
            </a:r>
            <a:endParaRPr lang="en-US" sz="1600" b="0" u="none" strike="noStrike">
              <a:solidFill>
                <a:srgbClr val="000000"/>
              </a:solidFill>
              <a:effectLst/>
              <a:uFillTx/>
              <a:latin typeface="メイリオ"/>
            </a:endParaRPr>
          </a:p>
        </p:txBody>
      </p:sp>
      <p:sp>
        <p:nvSpPr>
          <p:cNvPr id="344" name="正方形/長方形 9"/>
          <p:cNvSpPr/>
          <p:nvPr/>
        </p:nvSpPr>
        <p:spPr>
          <a:xfrm>
            <a:off x="33375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rPr>
              <a:t>¥230,000〜</a:t>
            </a:r>
            <a:endParaRPr lang="en-US" sz="1600" b="0" u="none" strike="noStrike">
              <a:solidFill>
                <a:srgbClr val="000000"/>
              </a:solidFill>
              <a:effectLst/>
              <a:uFillTx/>
              <a:latin typeface="メイリオ"/>
            </a:endParaRPr>
          </a:p>
        </p:txBody>
      </p:sp>
      <p:sp>
        <p:nvSpPr>
          <p:cNvPr id="345" name="矢印: 右 14"/>
          <p:cNvSpPr/>
          <p:nvPr/>
        </p:nvSpPr>
        <p:spPr>
          <a:xfrm>
            <a:off x="6379200" y="1956960"/>
            <a:ext cx="365400" cy="2797560"/>
          </a:xfrm>
          <a:prstGeom prst="rightArrow">
            <a:avLst>
              <a:gd name="adj1" fmla="val 50000"/>
              <a:gd name="adj2" fmla="val 50000"/>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ndParaRPr>
          </a:p>
        </p:txBody>
      </p:sp>
      <p:sp>
        <p:nvSpPr>
          <p:cNvPr id="346" name="正方形/長方形 16"/>
          <p:cNvSpPr/>
          <p:nvPr/>
        </p:nvSpPr>
        <p:spPr>
          <a:xfrm>
            <a:off x="6744960" y="1517760"/>
            <a:ext cx="2899440" cy="38376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0" u="none" strike="noStrike">
                <a:solidFill>
                  <a:schemeClr val="lt1"/>
                </a:solidFill>
                <a:effectLst/>
                <a:uFillTx/>
                <a:latin typeface="メイリオ"/>
                <a:ea typeface="メイリオ"/>
              </a:rPr>
              <a:t>6</a:t>
            </a:r>
            <a:r>
              <a:rPr lang="ja-JP" sz="1400" b="0" u="none" strike="noStrike">
                <a:solidFill>
                  <a:schemeClr val="lt1"/>
                </a:solidFill>
                <a:effectLst/>
                <a:uFillTx/>
                <a:latin typeface="メイリオ"/>
                <a:ea typeface="メイリオ"/>
              </a:rPr>
              <a:t>か月後</a:t>
            </a:r>
            <a:endParaRPr lang="en-US" sz="1400" b="0" u="none" strike="noStrike">
              <a:solidFill>
                <a:srgbClr val="FFFFFF"/>
              </a:solidFill>
              <a:effectLst/>
              <a:uFillTx/>
              <a:latin typeface="メイリオ"/>
            </a:endParaRPr>
          </a:p>
        </p:txBody>
      </p:sp>
      <p:sp>
        <p:nvSpPr>
          <p:cNvPr id="347" name="テキスト ボックス 18"/>
          <p:cNvSpPr/>
          <p:nvPr/>
        </p:nvSpPr>
        <p:spPr>
          <a:xfrm>
            <a:off x="2613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rPr>
              <a:t>&lt;</a:t>
            </a:r>
            <a:r>
              <a:rPr lang="ja-JP" sz="1400" b="0" u="none" strike="noStrike">
                <a:solidFill>
                  <a:schemeClr val="dk1"/>
                </a:solidFill>
                <a:effectLst/>
                <a:uFillTx/>
                <a:latin typeface="メイリオ"/>
                <a:ea typeface="メイリオ"/>
              </a:rPr>
              <a:t>実施内容</a:t>
            </a:r>
            <a:r>
              <a:rPr lang="en-US" sz="1400" b="0" u="none" strike="noStrike">
                <a:solidFill>
                  <a:schemeClr val="dk1"/>
                </a:solidFill>
                <a:effectLst/>
                <a:uFillTx/>
                <a:latin typeface="メイリオ"/>
                <a:ea typeface="メイリオ"/>
              </a:rPr>
              <a:t>&gt;</a:t>
            </a:r>
            <a:endParaRPr lang="en-US" sz="1400" b="0" u="none" strike="noStrike">
              <a:solidFill>
                <a:srgbClr val="000000"/>
              </a:solidFill>
              <a:effectLst/>
              <a:uFillTx/>
              <a:latin typeface="メイリオ"/>
            </a:endParaRPr>
          </a:p>
        </p:txBody>
      </p:sp>
      <p:sp>
        <p:nvSpPr>
          <p:cNvPr id="348" name="テキスト ボックス 20"/>
          <p:cNvSpPr/>
          <p:nvPr/>
        </p:nvSpPr>
        <p:spPr>
          <a:xfrm>
            <a:off x="33375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rPr>
              <a:t>&lt;</a:t>
            </a:r>
            <a:r>
              <a:rPr lang="ja-JP" sz="1400" b="0" u="none" strike="noStrike">
                <a:solidFill>
                  <a:schemeClr val="dk1"/>
                </a:solidFill>
                <a:effectLst/>
                <a:uFillTx/>
                <a:latin typeface="メイリオ"/>
                <a:ea typeface="メイリオ"/>
              </a:rPr>
              <a:t>実施内容</a:t>
            </a:r>
            <a:r>
              <a:rPr lang="en-US" sz="1400" b="0" u="none" strike="noStrike">
                <a:solidFill>
                  <a:schemeClr val="dk1"/>
                </a:solidFill>
                <a:effectLst/>
                <a:uFillTx/>
                <a:latin typeface="メイリオ"/>
                <a:ea typeface="メイリオ"/>
              </a:rPr>
              <a:t>&gt;</a:t>
            </a:r>
            <a:endParaRPr lang="en-US" sz="1400" b="0" u="none" strike="noStrike">
              <a:solidFill>
                <a:srgbClr val="000000"/>
              </a:solidFill>
              <a:effectLst/>
              <a:uFillTx/>
              <a:latin typeface="メイリオ"/>
            </a:endParaRPr>
          </a:p>
        </p:txBody>
      </p:sp>
      <p:sp>
        <p:nvSpPr>
          <p:cNvPr id="349" name="正方形/長方形 24"/>
          <p:cNvSpPr/>
          <p:nvPr/>
        </p:nvSpPr>
        <p:spPr>
          <a:xfrm>
            <a:off x="33832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企画配信</a:t>
            </a:r>
            <a:endParaRPr lang="en-US" sz="1300" b="0" u="none" strike="noStrike">
              <a:solidFill>
                <a:srgbClr val="FFFFFF"/>
              </a:solidFill>
              <a:effectLst/>
              <a:uFillTx/>
              <a:latin typeface="メイリオ"/>
            </a:endParaRPr>
          </a:p>
        </p:txBody>
      </p:sp>
      <p:sp>
        <p:nvSpPr>
          <p:cNvPr id="350" name="正方形/長方形 28"/>
          <p:cNvSpPr/>
          <p:nvPr/>
        </p:nvSpPr>
        <p:spPr>
          <a:xfrm>
            <a:off x="48463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rPr>
              <a:t>月4回程度</a:t>
            </a:r>
            <a:endParaRPr lang="en-US" sz="1300" b="0" u="none" strike="noStrike">
              <a:solidFill>
                <a:srgbClr val="000000"/>
              </a:solidFill>
              <a:effectLst/>
              <a:uFillTx/>
              <a:latin typeface="メイリオ"/>
            </a:endParaRPr>
          </a:p>
        </p:txBody>
      </p:sp>
      <p:sp>
        <p:nvSpPr>
          <p:cNvPr id="351" name="正方形/長方形 32"/>
          <p:cNvSpPr/>
          <p:nvPr/>
        </p:nvSpPr>
        <p:spPr>
          <a:xfrm>
            <a:off x="3383280" y="3579840"/>
            <a:ext cx="1425960" cy="48420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90000"/>
              </a:lnSpc>
            </a:pPr>
            <a:r>
              <a:rPr lang="ja-JP" sz="1200" b="0" u="none" strike="noStrike">
                <a:solidFill>
                  <a:schemeClr val="lt1"/>
                </a:solidFill>
                <a:effectLst/>
                <a:uFillTx/>
                <a:latin typeface="メイリオ"/>
                <a:ea typeface="メイリオ"/>
              </a:rPr>
              <a:t>来場前のお知らせ</a:t>
            </a:r>
            <a:endParaRPr lang="en-US" sz="1200" b="0" u="none" strike="noStrike">
              <a:solidFill>
                <a:srgbClr val="FFFFFF"/>
              </a:solidFill>
              <a:effectLst/>
              <a:uFillTx/>
              <a:latin typeface="メイリオ"/>
            </a:endParaRPr>
          </a:p>
        </p:txBody>
      </p:sp>
      <p:sp>
        <p:nvSpPr>
          <p:cNvPr id="352" name="正方形/長方形 36"/>
          <p:cNvSpPr/>
          <p:nvPr/>
        </p:nvSpPr>
        <p:spPr>
          <a:xfrm>
            <a:off x="4846320" y="3579840"/>
            <a:ext cx="1343880" cy="48420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100000"/>
              </a:lnSpc>
            </a:pPr>
            <a:r>
              <a:rPr lang="ja-JP" sz="1200" b="0" u="none" strike="noStrike">
                <a:solidFill>
                  <a:schemeClr val="dk1"/>
                </a:solidFill>
                <a:effectLst/>
                <a:uFillTx/>
                <a:latin typeface="メイリオ"/>
                <a:ea typeface="メイリオ"/>
              </a:rPr>
              <a:t>型の改善</a:t>
            </a:r>
            <a:endParaRPr lang="en-US" sz="1200" b="0" u="none" strike="noStrike">
              <a:solidFill>
                <a:srgbClr val="000000"/>
              </a:solidFill>
              <a:effectLst/>
              <a:uFillTx/>
              <a:latin typeface="メイリオ"/>
            </a:endParaRPr>
          </a:p>
        </p:txBody>
      </p:sp>
      <p:sp>
        <p:nvSpPr>
          <p:cNvPr id="353" name="正方形/長方形 40"/>
          <p:cNvSpPr/>
          <p:nvPr/>
        </p:nvSpPr>
        <p:spPr>
          <a:xfrm>
            <a:off x="33832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ステップ配信</a:t>
            </a:r>
            <a:endParaRPr lang="en-US" sz="1300" b="0" u="none" strike="noStrike">
              <a:solidFill>
                <a:srgbClr val="FFFFFF"/>
              </a:solidFill>
              <a:effectLst/>
              <a:uFillTx/>
              <a:latin typeface="メイリオ"/>
            </a:endParaRPr>
          </a:p>
        </p:txBody>
      </p:sp>
      <p:sp>
        <p:nvSpPr>
          <p:cNvPr id="354" name="正方形/長方形 45"/>
          <p:cNvSpPr/>
          <p:nvPr/>
        </p:nvSpPr>
        <p:spPr>
          <a:xfrm>
            <a:off x="48463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5通の改善</a:t>
            </a:r>
            <a:endParaRPr lang="en-US" sz="1300" b="0" u="none" strike="noStrike">
              <a:solidFill>
                <a:srgbClr val="000000"/>
              </a:solidFill>
              <a:effectLst/>
              <a:uFillTx/>
              <a:latin typeface="メイリオ"/>
            </a:endParaRPr>
          </a:p>
        </p:txBody>
      </p:sp>
      <p:sp>
        <p:nvSpPr>
          <p:cNvPr id="355" name="正方形/長方形 49"/>
          <p:cNvSpPr/>
          <p:nvPr/>
        </p:nvSpPr>
        <p:spPr>
          <a:xfrm>
            <a:off x="33832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月次レポート</a:t>
            </a:r>
            <a:endParaRPr lang="en-US" sz="1300" b="0" u="none" strike="noStrike">
              <a:solidFill>
                <a:srgbClr val="FFFFFF"/>
              </a:solidFill>
              <a:effectLst/>
              <a:uFillTx/>
              <a:latin typeface="メイリオ"/>
            </a:endParaRPr>
          </a:p>
        </p:txBody>
      </p:sp>
      <p:sp>
        <p:nvSpPr>
          <p:cNvPr id="356" name="正方形/長方形 53"/>
          <p:cNvSpPr/>
          <p:nvPr/>
        </p:nvSpPr>
        <p:spPr>
          <a:xfrm>
            <a:off x="48463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1回</a:t>
            </a:r>
            <a:endParaRPr lang="en-US" sz="1300" b="0" u="none" strike="noStrike">
              <a:solidFill>
                <a:srgbClr val="000000"/>
              </a:solidFill>
              <a:effectLst/>
              <a:uFillTx/>
              <a:latin typeface="メイリオ"/>
            </a:endParaRPr>
          </a:p>
        </p:txBody>
      </p:sp>
      <p:sp>
        <p:nvSpPr>
          <p:cNvPr id="357" name="正方形/長方形 57"/>
          <p:cNvSpPr/>
          <p:nvPr/>
        </p:nvSpPr>
        <p:spPr>
          <a:xfrm>
            <a:off x="33832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月次定例会</a:t>
            </a:r>
            <a:endParaRPr lang="en-US" sz="1300" b="0" u="none" strike="noStrike">
              <a:solidFill>
                <a:srgbClr val="FFFFFF"/>
              </a:solidFill>
              <a:effectLst/>
              <a:uFillTx/>
              <a:latin typeface="メイリオ"/>
            </a:endParaRPr>
          </a:p>
        </p:txBody>
      </p:sp>
      <p:sp>
        <p:nvSpPr>
          <p:cNvPr id="358" name="正方形/長方形 61"/>
          <p:cNvSpPr/>
          <p:nvPr/>
        </p:nvSpPr>
        <p:spPr>
          <a:xfrm>
            <a:off x="48463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1回</a:t>
            </a:r>
            <a:endParaRPr lang="en-US" sz="1300" b="0" u="none" strike="noStrike">
              <a:solidFill>
                <a:srgbClr val="000000"/>
              </a:solidFill>
              <a:effectLst/>
              <a:uFillTx/>
              <a:latin typeface="メイリオ"/>
            </a:endParaRPr>
          </a:p>
        </p:txBody>
      </p:sp>
      <p:sp>
        <p:nvSpPr>
          <p:cNvPr id="359" name="正方形/長方形 65"/>
          <p:cNvSpPr/>
          <p:nvPr/>
        </p:nvSpPr>
        <p:spPr>
          <a:xfrm>
            <a:off x="3383280" y="55368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友だちの入口</a:t>
            </a:r>
            <a:endParaRPr lang="en-US" sz="1300" b="0" u="none" strike="noStrike">
              <a:solidFill>
                <a:srgbClr val="FFFFFF"/>
              </a:solidFill>
              <a:effectLst/>
              <a:uFillTx/>
              <a:latin typeface="メイリオ"/>
            </a:endParaRPr>
          </a:p>
        </p:txBody>
      </p:sp>
      <p:sp>
        <p:nvSpPr>
          <p:cNvPr id="360" name="正方形/長方形 69"/>
          <p:cNvSpPr/>
          <p:nvPr/>
        </p:nvSpPr>
        <p:spPr>
          <a:xfrm>
            <a:off x="4846320" y="55368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運用</a:t>
            </a:r>
            <a:endParaRPr lang="en-US" sz="1300" b="0" u="none" strike="noStrike">
              <a:solidFill>
                <a:srgbClr val="000000"/>
              </a:solidFill>
              <a:effectLst/>
              <a:uFillTx/>
              <a:latin typeface="メイリオ"/>
            </a:endParaRPr>
          </a:p>
        </p:txBody>
      </p:sp>
      <p:sp>
        <p:nvSpPr>
          <p:cNvPr id="361" name="正方形/長方形 79"/>
          <p:cNvSpPr/>
          <p:nvPr/>
        </p:nvSpPr>
        <p:spPr>
          <a:xfrm>
            <a:off x="6812280" y="19569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rPr>
              <a:t>友だち数</a:t>
            </a:r>
            <a:endParaRPr lang="en-US" sz="1400" b="0" u="none" strike="noStrike">
              <a:solidFill>
                <a:srgbClr val="000000"/>
              </a:solidFill>
              <a:effectLst/>
              <a:uFillTx/>
              <a:latin typeface="メイリオ"/>
            </a:endParaRPr>
          </a:p>
        </p:txBody>
      </p:sp>
      <p:sp>
        <p:nvSpPr>
          <p:cNvPr id="362" name="正方形/長方形 81"/>
          <p:cNvSpPr/>
          <p:nvPr/>
        </p:nvSpPr>
        <p:spPr>
          <a:xfrm>
            <a:off x="6812280" y="24321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rPr>
              <a:t>資料請求</a:t>
            </a:r>
            <a:endParaRPr lang="en-US" sz="1400" b="0" u="none" strike="noStrike">
              <a:solidFill>
                <a:srgbClr val="000000"/>
              </a:solidFill>
              <a:effectLst/>
              <a:uFillTx/>
              <a:latin typeface="メイリオ"/>
            </a:endParaRPr>
          </a:p>
        </p:txBody>
      </p:sp>
      <p:sp>
        <p:nvSpPr>
          <p:cNvPr id="364" name="正方形/長方形 85"/>
          <p:cNvSpPr/>
          <p:nvPr/>
        </p:nvSpPr>
        <p:spPr>
          <a:xfrm>
            <a:off x="6812280" y="2907792"/>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zh-CN" sz="1400" b="1" u="none" strike="noStrike">
                <a:solidFill>
                  <a:schemeClr val="lt1"/>
                </a:solidFill>
                <a:effectLst/>
                <a:uFillTx/>
                <a:latin typeface="メイリオ"/>
                <a:ea typeface="メイリオ"/>
              </a:rPr>
              <a:t>来場予約</a:t>
            </a:r>
            <a:endParaRPr lang="en-US" sz="1400" b="0" u="none" strike="noStrike">
              <a:solidFill>
                <a:srgbClr val="000000"/>
              </a:solidFill>
              <a:effectLst/>
              <a:uFillTx/>
              <a:latin typeface="メイリオ"/>
            </a:endParaRPr>
          </a:p>
        </p:txBody>
      </p:sp>
      <p:sp>
        <p:nvSpPr>
          <p:cNvPr id="365" name="正方形/長方形 11"/>
          <p:cNvSpPr/>
          <p:nvPr/>
        </p:nvSpPr>
        <p:spPr>
          <a:xfrm>
            <a:off x="3070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離脱防止</a:t>
            </a:r>
            <a:endParaRPr lang="en-US" sz="1300" b="0" u="none" strike="noStrike">
              <a:solidFill>
                <a:srgbClr val="FFFFFF"/>
              </a:solidFill>
              <a:effectLst/>
              <a:uFillTx/>
              <a:latin typeface="メイリオ"/>
            </a:endParaRPr>
          </a:p>
        </p:txBody>
      </p:sp>
      <p:sp>
        <p:nvSpPr>
          <p:cNvPr id="366" name="正方形/長方形 13"/>
          <p:cNvSpPr/>
          <p:nvPr/>
        </p:nvSpPr>
        <p:spPr>
          <a:xfrm>
            <a:off x="17701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rPr>
              <a:t>導入</a:t>
            </a:r>
            <a:endParaRPr lang="en-US" sz="1300" b="0" u="none" strike="noStrike">
              <a:solidFill>
                <a:srgbClr val="000000"/>
              </a:solidFill>
              <a:effectLst/>
              <a:uFillTx/>
              <a:latin typeface="メイリオ"/>
            </a:endParaRPr>
          </a:p>
        </p:txBody>
      </p:sp>
      <p:sp>
        <p:nvSpPr>
          <p:cNvPr id="367" name="正方形/長方形 17"/>
          <p:cNvSpPr/>
          <p:nvPr/>
        </p:nvSpPr>
        <p:spPr>
          <a:xfrm>
            <a:off x="307080" y="357984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サンクス</a:t>
            </a:r>
            <a:endParaRPr lang="en-US" sz="1300" b="0" u="none" strike="noStrike">
              <a:solidFill>
                <a:srgbClr val="FFFFFF"/>
              </a:solidFill>
              <a:effectLst/>
              <a:uFillTx/>
              <a:latin typeface="メイリオ"/>
            </a:endParaRPr>
          </a:p>
          <a:p>
            <a:pPr algn="ctr" defTabSz="914400">
              <a:lnSpc>
                <a:spcPct val="100000"/>
              </a:lnSpc>
            </a:pPr>
            <a:r>
              <a:rPr lang="ja-JP" sz="1300" b="0" u="none" strike="noStrike">
                <a:solidFill>
                  <a:schemeClr val="lt1"/>
                </a:solidFill>
                <a:effectLst/>
                <a:uFillTx/>
                <a:latin typeface="メイリオ"/>
                <a:ea typeface="メイリオ"/>
              </a:rPr>
              <a:t>LINE誘導</a:t>
            </a:r>
            <a:endParaRPr lang="en-US" sz="1300" b="0" u="none" strike="noStrike">
              <a:solidFill>
                <a:srgbClr val="FFFFFF"/>
              </a:solidFill>
              <a:effectLst/>
              <a:uFillTx/>
              <a:latin typeface="メイリオ"/>
            </a:endParaRPr>
          </a:p>
        </p:txBody>
      </p:sp>
      <p:sp>
        <p:nvSpPr>
          <p:cNvPr id="368" name="正方形/長方形 21"/>
          <p:cNvSpPr/>
          <p:nvPr/>
        </p:nvSpPr>
        <p:spPr>
          <a:xfrm>
            <a:off x="1770120" y="357984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オプション</a:t>
            </a:r>
            <a:endParaRPr lang="en-US" sz="1300" b="0" u="none" strike="noStrike">
              <a:solidFill>
                <a:srgbClr val="000000"/>
              </a:solidFill>
              <a:effectLst/>
              <a:uFillTx/>
              <a:latin typeface="メイリオ"/>
            </a:endParaRPr>
          </a:p>
        </p:txBody>
      </p:sp>
      <p:sp>
        <p:nvSpPr>
          <p:cNvPr id="371" name="正方形/長方形 33"/>
          <p:cNvSpPr/>
          <p:nvPr/>
        </p:nvSpPr>
        <p:spPr>
          <a:xfrm>
            <a:off x="3070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ステップ配信</a:t>
            </a:r>
            <a:endParaRPr lang="en-US" sz="1300" b="0" u="none" strike="noStrike">
              <a:solidFill>
                <a:srgbClr val="FFFFFF"/>
              </a:solidFill>
              <a:effectLst/>
              <a:uFillTx/>
              <a:latin typeface="メイリオ"/>
            </a:endParaRPr>
          </a:p>
        </p:txBody>
      </p:sp>
      <p:sp>
        <p:nvSpPr>
          <p:cNvPr id="372" name="正方形/長方形 37"/>
          <p:cNvSpPr/>
          <p:nvPr/>
        </p:nvSpPr>
        <p:spPr>
          <a:xfrm>
            <a:off x="17701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5通を構築</a:t>
            </a:r>
            <a:endParaRPr lang="en-US" sz="1300" b="0" u="none" strike="noStrike">
              <a:solidFill>
                <a:srgbClr val="000000"/>
              </a:solidFill>
              <a:effectLst/>
              <a:uFillTx/>
              <a:latin typeface="メイリオ"/>
            </a:endParaRPr>
          </a:p>
        </p:txBody>
      </p:sp>
      <p:sp>
        <p:nvSpPr>
          <p:cNvPr id="373" name="正方形/長方形 41"/>
          <p:cNvSpPr/>
          <p:nvPr/>
        </p:nvSpPr>
        <p:spPr>
          <a:xfrm>
            <a:off x="3070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配信の設計</a:t>
            </a:r>
            <a:endParaRPr lang="en-US" sz="1300" b="0" u="none" strike="noStrike">
              <a:solidFill>
                <a:srgbClr val="FFFFFF"/>
              </a:solidFill>
              <a:effectLst/>
              <a:uFillTx/>
              <a:latin typeface="メイリオ"/>
            </a:endParaRPr>
          </a:p>
        </p:txBody>
      </p:sp>
      <p:sp>
        <p:nvSpPr>
          <p:cNvPr id="374" name="正方形/長方形 46"/>
          <p:cNvSpPr/>
          <p:nvPr/>
        </p:nvSpPr>
        <p:spPr>
          <a:xfrm>
            <a:off x="17701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前後検索をもとに設計</a:t>
            </a:r>
            <a:endParaRPr lang="en-US" sz="1300" b="0" u="none" strike="noStrike">
              <a:solidFill>
                <a:srgbClr val="000000"/>
              </a:solidFill>
              <a:effectLst/>
              <a:uFillTx/>
              <a:latin typeface="メイリオ"/>
            </a:endParaRPr>
          </a:p>
        </p:txBody>
      </p:sp>
      <p:sp>
        <p:nvSpPr>
          <p:cNvPr id="375" name="テキスト ボックス 10"/>
          <p:cNvSpPr/>
          <p:nvPr/>
        </p:nvSpPr>
        <p:spPr>
          <a:xfrm>
            <a:off x="8256960" y="19569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400" b="1" u="none" strike="noStrike">
                <a:solidFill>
                  <a:srgbClr val="1F285A"/>
                </a:solidFill>
                <a:effectLst/>
                <a:uFillTx/>
                <a:latin typeface="メイリオ"/>
                <a:ea typeface="メイリオ"/>
              </a:rPr>
              <a:t>1,453人</a:t>
            </a:r>
            <a:endParaRPr lang="en-US" sz="1400" b="0" u="none" strike="noStrike">
              <a:solidFill>
                <a:srgbClr val="000000"/>
              </a:solidFill>
              <a:effectLst/>
              <a:uFillTx/>
              <a:latin typeface="メイリオ"/>
            </a:endParaRPr>
          </a:p>
        </p:txBody>
      </p:sp>
      <p:sp>
        <p:nvSpPr>
          <p:cNvPr id="376" name="テキスト ボックス 15"/>
          <p:cNvSpPr/>
          <p:nvPr/>
        </p:nvSpPr>
        <p:spPr>
          <a:xfrm>
            <a:off x="8256960" y="24321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1F285A"/>
                </a:solidFill>
                <a:effectLst/>
                <a:uFillTx/>
                <a:latin typeface="メイリオ"/>
                <a:ea typeface="メイリオ"/>
              </a:rPr>
              <a:t>11件/月</a:t>
            </a:r>
            <a:endParaRPr lang="en-US" sz="1400" b="0" u="none" strike="noStrike">
              <a:solidFill>
                <a:srgbClr val="000000"/>
              </a:solidFill>
              <a:effectLst/>
              <a:uFillTx/>
              <a:latin typeface="メイリオ"/>
            </a:endParaRPr>
          </a:p>
        </p:txBody>
      </p:sp>
      <p:sp>
        <p:nvSpPr>
          <p:cNvPr id="378" name="テキスト ボックス 26"/>
          <p:cNvSpPr/>
          <p:nvPr/>
        </p:nvSpPr>
        <p:spPr>
          <a:xfrm>
            <a:off x="8256960" y="2907792"/>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1F285A"/>
                </a:solidFill>
                <a:effectLst/>
                <a:uFillTx/>
                <a:latin typeface="メイリオ"/>
                <a:ea typeface="メイリオ"/>
              </a:rPr>
              <a:t>8件/月</a:t>
            </a:r>
            <a:endParaRPr lang="en-US" sz="1400" b="0" u="none" strike="noStrike">
              <a:solidFill>
                <a:srgbClr val="000000"/>
              </a:solidFill>
              <a:effectLst/>
              <a:uFillTx/>
              <a:latin typeface="メイリオ"/>
            </a:endParaRPr>
          </a:p>
        </p:txBody>
      </p:sp>
      <p:sp>
        <p:nvSpPr>
          <p:cNvPr id="381"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a:solidFill>
                  <a:schemeClr val="dk1">
                    <a:lumMod val="65000"/>
                    <a:lumOff val="35000"/>
                  </a:schemeClr>
                </a:solidFill>
                <a:effectLst/>
                <a:uFillTx/>
                <a:latin typeface="メイリオ"/>
                <a:ea typeface="メイリオ"/>
              </a:rPr>
              <a:t>プラン②｜総合運用で、友だちの入口を増やし、検討の順番に沿った配信で資料請求・来場予約を増やす</a:t>
            </a:r>
            <a:endParaRPr lang="en-US" sz="1400" b="0" u="none" strike="noStrike">
              <a:solidFill>
                <a:srgbClr val="000000"/>
              </a:solidFill>
              <a:effectLst/>
              <a:uFillTx/>
              <a:latin typeface="メイリオ"/>
            </a:endParaRPr>
          </a:p>
        </p:txBody>
      </p:sp>
      <p:sp>
        <p:nvSpPr>
          <p:cNvPr id="382" name="初期 来場前のお知らせ"/>
          <p:cNvSpPr/>
          <p:nvPr/>
        </p:nvSpPr>
        <p:spPr>
          <a:xfrm>
            <a:off x="3070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来場前の</a:t>
            </a:r>
            <a:endParaRPr lang="en-US" sz="1300" b="0" u="none" strike="noStrike">
              <a:solidFill>
                <a:srgbClr val="FFFFFF"/>
              </a:solidFill>
              <a:effectLst/>
              <a:uFillTx/>
              <a:latin typeface="メイリオ"/>
            </a:endParaRPr>
          </a:p>
          <a:p>
            <a:pPr algn="ctr" defTabSz="914400">
              <a:lnSpc>
                <a:spcPct val="100000"/>
              </a:lnSpc>
            </a:pPr>
            <a:r>
              <a:rPr lang="ja-JP" sz="1300" b="0" u="none" strike="noStrike">
                <a:solidFill>
                  <a:schemeClr val="lt1"/>
                </a:solidFill>
                <a:effectLst/>
                <a:uFillTx/>
                <a:latin typeface="メイリオ"/>
                <a:ea typeface="メイリオ"/>
              </a:rPr>
              <a:t>お知らせ</a:t>
            </a:r>
            <a:endParaRPr lang="en-US" sz="1300" b="0" u="none" strike="noStrike">
              <a:solidFill>
                <a:srgbClr val="FFFFFF"/>
              </a:solidFill>
              <a:effectLst/>
              <a:uFillTx/>
              <a:latin typeface="メイリオ"/>
            </a:endParaRPr>
          </a:p>
        </p:txBody>
      </p:sp>
      <p:sp>
        <p:nvSpPr>
          <p:cNvPr id="383" name="初期 型をつくる"/>
          <p:cNvSpPr/>
          <p:nvPr/>
        </p:nvSpPr>
        <p:spPr>
          <a:xfrm>
            <a:off x="17701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型をつくる</a:t>
            </a:r>
            <a:endParaRPr lang="en-US" sz="1300" b="0" u="none" strike="noStrike">
              <a:solidFill>
                <a:srgbClr val="000000"/>
              </a:solidFill>
              <a:effectLst/>
              <a:uFillTx/>
              <a:latin typeface="メイリオ"/>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5"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料金プラン：3つのプランの費用</a:t>
            </a:r>
            <a:endParaRPr lang="en-US" sz="1600" b="0" u="none" strike="noStrike">
              <a:solidFill>
                <a:srgbClr val="000000"/>
              </a:solidFill>
              <a:effectLst/>
              <a:uFillTx/>
              <a:latin typeface="メイリオ"/>
            </a:endParaRPr>
          </a:p>
        </p:txBody>
      </p:sp>
      <p:sp>
        <p:nvSpPr>
          <p:cNvPr id="636"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lt1"/>
                </a:solidFill>
                <a:effectLst/>
                <a:uFillTx/>
                <a:latin typeface="メイリオ"/>
                <a:ea typeface="メイリオ"/>
              </a:rPr>
              <a:t>料金プランの比較</a:t>
            </a:r>
            <a:endParaRPr lang="en-US" sz="1400" b="0" u="none" strike="noStrike" dirty="0">
              <a:solidFill>
                <a:srgbClr val="FFFFFF"/>
              </a:solidFill>
              <a:effectLst/>
              <a:uFillTx/>
              <a:latin typeface="メイリオ"/>
            </a:endParaRPr>
          </a:p>
        </p:txBody>
      </p:sp>
      <p:sp>
        <p:nvSpPr>
          <p:cNvPr id="637"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rPr>
              <a:t>運用範囲に合わせて、3つのプランをご用意</a:t>
            </a:r>
            <a:endParaRPr lang="en-US" sz="1600" b="0" u="none" strike="noStrike" dirty="0">
              <a:solidFill>
                <a:srgbClr val="000000"/>
              </a:solidFill>
              <a:effectLst/>
              <a:uFillTx/>
              <a:latin typeface="メイリオ"/>
            </a:endParaRPr>
          </a:p>
        </p:txBody>
      </p:sp>
      <p:graphicFrame>
        <p:nvGraphicFramePr>
          <p:cNvPr id="639" name="料金プラン比較表 638"/>
          <p:cNvGraphicFramePr>
            <a:graphicFrameLocks noGrp="1"/>
          </p:cNvGraphicFramePr>
          <p:nvPr>
            <p:extLst>
              <p:ext uri="{D42A27DB-BD31-4B8C-83A1-F6EECF244321}">
                <p14:modId xmlns:p14="http://schemas.microsoft.com/office/powerpoint/2010/main" val="2012307853"/>
              </p:ext>
            </p:extLst>
          </p:nvPr>
        </p:nvGraphicFramePr>
        <p:xfrm>
          <a:off x="384048" y="1353312"/>
          <a:ext cx="9144000" cy="3749040"/>
        </p:xfrm>
        <a:graphic>
          <a:graphicData uri="http://schemas.openxmlformats.org/drawingml/2006/table">
            <a:tbl>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77724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項目</a:t>
                      </a:r>
                      <a:endParaRPr lang="ja-JP" altLang="en-US" sz="14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プラン①</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初期導入</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プラン②</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総合運用</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プラン③</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総合運用＋友だち獲得</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64008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初期費用</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115,000円〜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165,000円〜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165,000円〜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008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月額コンサルティング費</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なし</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200,000円〜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200,000円〜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7724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月額ツール・LINE関連費</a:t>
                      </a:r>
                      <a:endParaRPr lang="ja-JP" altLang="en-US" sz="1400" dirty="0"/>
                    </a:p>
                  </a:txBody>
                  <a:tcPr marL="27432" marR="2743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30,000円〜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30,000円〜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30,000円〜</a:t>
                      </a:r>
                      <a:endParaRPr lang="ja-JP" altLang="en-US" sz="1500" dirty="0"/>
                    </a:p>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＋LINE広告</a:t>
                      </a:r>
                      <a:endParaRPr lang="ja-JP" altLang="en-US" sz="1500" dirty="0"/>
                    </a:p>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200,000円〜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91440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月額費用</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F285A"/>
                    </a:solidFill>
                  </a:tcPr>
                </a:tc>
                <a:tc>
                  <a:txBody>
                    <a:bodyPr/>
                    <a:lstStyle/>
                    <a:p>
                      <a:pPr algn="ctr">
                        <a:buNone/>
                      </a:pPr>
                      <a:r>
                        <a:rPr lang="ja-JP" altLang="en-US" sz="2000" b="1" dirty="0">
                          <a:solidFill>
                            <a:srgbClr val="1F285A"/>
                          </a:solidFill>
                          <a:latin typeface="メイリオ" panose="020B0604030504040204" pitchFamily="50" charset="-128"/>
                          <a:ea typeface="メイリオ" panose="020B0604030504040204" pitchFamily="50" charset="-128"/>
                        </a:rPr>
                        <a:t>30,000円〜</a:t>
                      </a:r>
                      <a:endParaRPr lang="ja-JP" altLang="en-US" sz="2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2000" b="1" dirty="0">
                          <a:solidFill>
                            <a:srgbClr val="1F285A"/>
                          </a:solidFill>
                          <a:latin typeface="メイリオ" panose="020B0604030504040204" pitchFamily="50" charset="-128"/>
                          <a:ea typeface="メイリオ" panose="020B0604030504040204" pitchFamily="50" charset="-128"/>
                        </a:rPr>
                        <a:t>230,000円〜</a:t>
                      </a:r>
                      <a:endParaRPr lang="ja-JP" altLang="en-US" sz="2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2000" b="1" dirty="0">
                          <a:solidFill>
                            <a:srgbClr val="1F285A"/>
                          </a:solidFill>
                          <a:latin typeface="メイリオ" panose="020B0604030504040204" pitchFamily="50" charset="-128"/>
                          <a:ea typeface="メイリオ" panose="020B0604030504040204" pitchFamily="50" charset="-128"/>
                        </a:rPr>
                        <a:t>430,000円〜</a:t>
                      </a:r>
                      <a:endParaRPr lang="ja-JP" altLang="en-US" sz="2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extLst>
                  <a:ext uri="{0D108BD9-81ED-4DB2-BD59-A6C34878D82A}">
                    <a16:rowId xmlns:a16="http://schemas.microsoft.com/office/drawing/2014/main" val="10004"/>
                  </a:ext>
                </a:extLst>
              </a:tr>
            </a:tbl>
          </a:graphicData>
        </a:graphic>
      </p:graphicFrame>
      <p:sp>
        <p:nvSpPr>
          <p:cNvPr id="640" name="注記"/>
          <p:cNvSpPr/>
          <p:nvPr/>
        </p:nvSpPr>
        <p:spPr>
          <a:xfrm>
            <a:off x="384048" y="5175504"/>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※初期費用＝運用設計・構築（プラン① 100,000円〜／プラン②・③ 150,000円〜）＋離脱防止 15,000円</a:t>
            </a:r>
            <a:endParaRPr lang="ja-JP" altLang="en-US" sz="1200" dirty="0"/>
          </a:p>
        </p:txBody>
      </p:sp>
      <p:sp>
        <p:nvSpPr>
          <p:cNvPr id="641" name="注記"/>
          <p:cNvSpPr/>
          <p:nvPr/>
        </p:nvSpPr>
        <p:spPr>
          <a:xfrm>
            <a:off x="384048" y="5404104"/>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※月額ツール・LINE関連費＝離脱防止 30,000円。LINE公式アカウント利用料は別（貴社のご契約のまま）</a:t>
            </a:r>
            <a:endParaRPr lang="ja-JP" altLang="en-US" sz="1200" dirty="0"/>
          </a:p>
        </p:txBody>
      </p:sp>
      <p:sp>
        <p:nvSpPr>
          <p:cNvPr id="2" name="注記"/>
          <p:cNvSpPr/>
          <p:nvPr/>
        </p:nvSpPr>
        <p:spPr>
          <a:xfrm>
            <a:off x="384048" y="5632704"/>
            <a:ext cx="9144000" cy="246888"/>
          </a:xfrm>
          <a:prstGeom prst="rect">
            <a:avLst/>
          </a:prstGeom>
          <a:noFill/>
          <a:ln>
            <a:noFill/>
          </a:ln>
        </p:spPr>
        <p:txBody>
          <a:bodyPr wrap="square" lIns="0" tIns="0" rIns="0" bIns="0" rtlCol="0" anchor="t">
            <a:noAutofit/>
          </a:bodyPr>
          <a:lstStyle/>
          <a:p>
            <a:pPr algn="l">
              <a:buNone/>
            </a:pPr>
            <a:r>
              <a:rPr lang="ja-JP" altLang="en-US" sz="900" b="1" dirty="0">
                <a:solidFill>
                  <a:srgbClr val="7F7F7F"/>
                </a:solidFill>
                <a:latin typeface="メイリオ" panose="020B0604030504040204" pitchFamily="50" charset="-128"/>
                <a:ea typeface="メイリオ" panose="020B0604030504040204" pitchFamily="50" charset="-128"/>
              </a:rPr>
              <a:t>※サンクスLINE誘導（オプション）：追加する場合は初期＋150,000円・月額＋30,000円〜。サンクスLINE誘導のみの導入も可能</a:t>
            </a:r>
            <a:endParaRPr lang="ja-JP" altLang="en-US" sz="1200" dirty="0"/>
          </a:p>
        </p:txBody>
      </p:sp>
      <p:sp>
        <p:nvSpPr>
          <p:cNvPr id="642" name="注記"/>
          <p:cNvSpPr/>
          <p:nvPr/>
        </p:nvSpPr>
        <p:spPr>
          <a:xfrm>
            <a:off x="384048" y="5861304"/>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※契約期間は6か月〜。概算お見積りのページはプラン②の場合</a:t>
            </a:r>
            <a:endParaRPr lang="ja-JP" altLang="en-US" sz="1200" dirty="0"/>
          </a:p>
        </p:txBody>
      </p:sp>
      <p:sp>
        <p:nvSpPr>
          <p:cNvPr id="643" name="注記"/>
          <p:cNvSpPr/>
          <p:nvPr/>
        </p:nvSpPr>
        <p:spPr>
          <a:xfrm>
            <a:off x="384048" y="6089904"/>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※施策内容・配信本数・連携範囲等により、費用は個別にお見積もりいたします。</a:t>
            </a:r>
            <a:endParaRPr lang="ja-JP" alt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運用内容：プランごとの対応範囲</a:t>
            </a:r>
            <a:endParaRPr lang="en-US" sz="1600" b="0" u="none" strike="noStrike">
              <a:solidFill>
                <a:srgbClr val="000000"/>
              </a:solidFill>
              <a:effectLst/>
              <a:uFillTx/>
              <a:latin typeface="メイリオ"/>
            </a:endParaRPr>
          </a:p>
        </p:txBody>
      </p:sp>
      <p:sp>
        <p:nvSpPr>
          <p:cNvPr id="4"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運用内容の比較</a:t>
            </a:r>
            <a:endParaRPr lang="en-US" sz="1400" b="0" u="none" strike="noStrike">
              <a:solidFill>
                <a:srgbClr val="FFFFFF"/>
              </a:solidFill>
              <a:effectLst/>
              <a:uFillTx/>
              <a:latin typeface="メイリオ"/>
            </a:endParaRPr>
          </a:p>
        </p:txBody>
      </p:sp>
      <p:sp>
        <p:nvSpPr>
          <p:cNvPr id="5"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rPr>
              <a:t>3つのプランの運用内容</a:t>
            </a:r>
            <a:r>
              <a:rPr lang="ja-JP" altLang="en-US" sz="1600" b="1" u="none" strike="noStrike" dirty="0">
                <a:solidFill>
                  <a:schemeClr val="dk1"/>
                </a:solidFill>
                <a:effectLst/>
                <a:uFillTx/>
                <a:latin typeface="メイリオ"/>
                <a:ea typeface="メイリオ"/>
              </a:rPr>
              <a:t>の</a:t>
            </a:r>
            <a:r>
              <a:rPr lang="ja-JP" sz="1600" b="1" u="none" strike="noStrike" dirty="0">
                <a:solidFill>
                  <a:schemeClr val="dk1"/>
                </a:solidFill>
                <a:effectLst/>
                <a:uFillTx/>
                <a:latin typeface="メイリオ"/>
                <a:ea typeface="メイリオ"/>
              </a:rPr>
              <a:t>比較</a:t>
            </a:r>
            <a:endParaRPr lang="en-US" sz="1600" b="0" u="none" strike="noStrike" dirty="0">
              <a:solidFill>
                <a:srgbClr val="000000"/>
              </a:solidFill>
              <a:effectLst/>
              <a:uFillTx/>
              <a:latin typeface="メイリオ"/>
            </a:endParaRPr>
          </a:p>
        </p:txBody>
      </p:sp>
      <p:graphicFrame>
        <p:nvGraphicFramePr>
          <p:cNvPr id="6" name="運用内容比較表 5"/>
          <p:cNvGraphicFramePr>
            <a:graphicFrameLocks noGrp="1"/>
          </p:cNvGraphicFramePr>
          <p:nvPr>
            <p:extLst>
              <p:ext uri="{D42A27DB-BD31-4B8C-83A1-F6EECF244321}">
                <p14:modId xmlns:p14="http://schemas.microsoft.com/office/powerpoint/2010/main" val="3686588805"/>
              </p:ext>
            </p:extLst>
          </p:nvPr>
        </p:nvGraphicFramePr>
        <p:xfrm>
          <a:off x="384048" y="1353312"/>
          <a:ext cx="9144000" cy="3829506"/>
        </p:xfrm>
        <a:graphic>
          <a:graphicData uri="http://schemas.openxmlformats.org/drawingml/2006/table">
            <a:tbl>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680313">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項目</a:t>
                      </a:r>
                      <a:endParaRPr lang="ja-JP" altLang="en-US" sz="14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プラン①</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初期導入</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プラン②</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総合運用</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プラン③</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総合運用＋友だち獲得</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離脱防止</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導入・運用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導入・運用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導入・運用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ステップ配信</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14日間・5通</a:t>
                      </a:r>
                      <a:endParaRPr lang="ja-JP" altLang="en-US" sz="1300" dirty="0"/>
                    </a:p>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（構築のみ）</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14日間・5通</a:t>
                      </a:r>
                      <a:endParaRPr lang="ja-JP" altLang="en-US" sz="1300" dirty="0"/>
                    </a:p>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（構築・改善）</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14日間・5通</a:t>
                      </a:r>
                      <a:endParaRPr lang="ja-JP" altLang="en-US" sz="1300" dirty="0"/>
                    </a:p>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（構築・改善）</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企画配信</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なし（貴社で運用）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月4回程度</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月4回程度</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来場前のお知らせ</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型の作成のみ</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型の作成・改善</a:t>
                      </a:r>
                      <a:endParaRPr lang="ja-JP" altLang="en-US" sz="1300" dirty="0"/>
                    </a:p>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（送信は貴社）</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型の作成・改善</a:t>
                      </a:r>
                      <a:endParaRPr lang="ja-JP" altLang="en-US" sz="1300" dirty="0"/>
                    </a:p>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（送信は貴社）</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結果の分析・改善</a:t>
                      </a:r>
                      <a:endParaRPr lang="ja-JP" altLang="en-US" sz="1300" dirty="0"/>
                    </a:p>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（月次レポート・定例会）</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680313">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LINE広告</a:t>
                      </a:r>
                      <a:endParaRPr lang="ja-JP" altLang="en-US" sz="1300" dirty="0"/>
                    </a:p>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（友だち追加）</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42" name="注記"/>
          <p:cNvSpPr/>
          <p:nvPr/>
        </p:nvSpPr>
        <p:spPr>
          <a:xfrm>
            <a:off x="384048" y="5292546"/>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※サンクスLINE誘導はオプション（どのプランにも追加可能。サンクスLINE誘導のみの導入も可能）</a:t>
            </a:r>
            <a:endParaRPr lang="ja-JP" alt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Google Shape;752;p28">
            <a:extLst>
              <a:ext uri="{FF2B5EF4-FFF2-40B4-BE49-F238E27FC236}">
                <a16:creationId xmlns:a16="http://schemas.microsoft.com/office/drawing/2014/main" id="{AA80CD04-9456-70DB-2E44-D3EDB1461933}"/>
              </a:ext>
            </a:extLst>
          </p:cNvPr>
          <p:cNvSpPr txBox="1"/>
          <p:nvPr/>
        </p:nvSpPr>
        <p:spPr>
          <a:xfrm>
            <a:off x="549000" y="138240"/>
            <a:ext cx="6516000" cy="338040"/>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新規友だちの追加（サンクスLINE誘導）</a:t>
            </a:r>
            <a:endParaRPr lang="en-US" altLang="ja-JP" sz="1600" b="1" dirty="0">
              <a:solidFill>
                <a:srgbClr val="002060"/>
              </a:solidFill>
              <a:latin typeface="メイリオ"/>
              <a:ea typeface="メイリオ"/>
              <a:cs typeface="メイリオ"/>
              <a:sym typeface="Meiryo"/>
            </a:endParaRPr>
          </a:p>
        </p:txBody>
      </p:sp>
      <p:sp>
        <p:nvSpPr>
          <p:cNvPr id="16" name="正方形/長方形 15">
            <a:extLst>
              <a:ext uri="{FF2B5EF4-FFF2-40B4-BE49-F238E27FC236}">
                <a16:creationId xmlns:a16="http://schemas.microsoft.com/office/drawing/2014/main" id="{32BBF438-B1EF-A61A-EE3D-69CD39766C7E}"/>
              </a:ext>
            </a:extLst>
          </p:cNvPr>
          <p:cNvSpPr/>
          <p:nvPr/>
        </p:nvSpPr>
        <p:spPr>
          <a:xfrm>
            <a:off x="6123840" y="2144236"/>
            <a:ext cx="2487570"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17" name="正方形/長方形 16">
            <a:extLst>
              <a:ext uri="{FF2B5EF4-FFF2-40B4-BE49-F238E27FC236}">
                <a16:creationId xmlns:a16="http://schemas.microsoft.com/office/drawing/2014/main" id="{1A1E4128-77DC-C871-EE20-5BD43326E078}"/>
              </a:ext>
            </a:extLst>
          </p:cNvPr>
          <p:cNvSpPr/>
          <p:nvPr/>
        </p:nvSpPr>
        <p:spPr>
          <a:xfrm>
            <a:off x="6123841" y="4317370"/>
            <a:ext cx="2487569"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20" name="正方形/長方形 19">
            <a:extLst>
              <a:ext uri="{FF2B5EF4-FFF2-40B4-BE49-F238E27FC236}">
                <a16:creationId xmlns:a16="http://schemas.microsoft.com/office/drawing/2014/main" id="{F37BB268-660A-FEE4-BB39-0E338F1DDC23}"/>
              </a:ext>
            </a:extLst>
          </p:cNvPr>
          <p:cNvSpPr/>
          <p:nvPr/>
        </p:nvSpPr>
        <p:spPr>
          <a:xfrm>
            <a:off x="6161261" y="1989652"/>
            <a:ext cx="1315634"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85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850" b="1" dirty="0">
                <a:solidFill>
                  <a:schemeClr val="tx1"/>
                </a:solidFill>
                <a:latin typeface="メイリオ" panose="020B0604030504040204" pitchFamily="50" charset="-128"/>
                <a:ea typeface="メイリオ" panose="020B0604030504040204" pitchFamily="50" charset="-128"/>
                <a:cs typeface="メイリオ"/>
              </a:rPr>
              <a:t>未追加の場合</a:t>
            </a:r>
          </a:p>
        </p:txBody>
      </p:sp>
      <p:sp>
        <p:nvSpPr>
          <p:cNvPr id="21" name="正方形/長方形 20">
            <a:extLst>
              <a:ext uri="{FF2B5EF4-FFF2-40B4-BE49-F238E27FC236}">
                <a16:creationId xmlns:a16="http://schemas.microsoft.com/office/drawing/2014/main" id="{C9FF4626-FD17-CA1C-8064-F46606D0BCCE}"/>
              </a:ext>
            </a:extLst>
          </p:cNvPr>
          <p:cNvSpPr/>
          <p:nvPr/>
        </p:nvSpPr>
        <p:spPr>
          <a:xfrm>
            <a:off x="6161261" y="4195296"/>
            <a:ext cx="1315634"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85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850" b="1" dirty="0">
                <a:solidFill>
                  <a:schemeClr val="tx1"/>
                </a:solidFill>
                <a:latin typeface="メイリオ" panose="020B0604030504040204" pitchFamily="50" charset="-128"/>
                <a:ea typeface="メイリオ" panose="020B0604030504040204" pitchFamily="50" charset="-128"/>
                <a:cs typeface="メイリオ"/>
              </a:rPr>
              <a:t>追加済みの場合</a:t>
            </a:r>
          </a:p>
        </p:txBody>
      </p:sp>
      <p:cxnSp>
        <p:nvCxnSpPr>
          <p:cNvPr id="23" name="直線矢印コネクタ 22">
            <a:extLst>
              <a:ext uri="{FF2B5EF4-FFF2-40B4-BE49-F238E27FC236}">
                <a16:creationId xmlns:a16="http://schemas.microsoft.com/office/drawing/2014/main" id="{8F202453-7FF9-8AE7-D10D-66F74A74A2F4}"/>
              </a:ext>
            </a:extLst>
          </p:cNvPr>
          <p:cNvCxnSpPr>
            <a:cxnSpLocks/>
          </p:cNvCxnSpPr>
          <p:nvPr/>
        </p:nvCxnSpPr>
        <p:spPr>
          <a:xfrm flipV="1">
            <a:off x="5819550" y="2932418"/>
            <a:ext cx="318138" cy="421706"/>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C92F6E28-BBFF-1A56-AC22-CA16D2F1B1EA}"/>
              </a:ext>
            </a:extLst>
          </p:cNvPr>
          <p:cNvCxnSpPr>
            <a:cxnSpLocks/>
          </p:cNvCxnSpPr>
          <p:nvPr/>
        </p:nvCxnSpPr>
        <p:spPr>
          <a:xfrm>
            <a:off x="5819550" y="3354124"/>
            <a:ext cx="280718" cy="1392760"/>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45" name="図 44" descr="グラフィカル ユーザー インターフェイス, アプリケーション, Teams&#10;&#10;AI 生成コンテンツは誤りを含む可能性があります。">
            <a:extLst>
              <a:ext uri="{FF2B5EF4-FFF2-40B4-BE49-F238E27FC236}">
                <a16:creationId xmlns:a16="http://schemas.microsoft.com/office/drawing/2014/main" id="{E91CA7A5-62B3-F1F8-38C3-DDCE33E1CC3D}"/>
              </a:ext>
            </a:extLst>
          </p:cNvPr>
          <p:cNvPicPr>
            <a:picLocks noChangeAspect="1"/>
          </p:cNvPicPr>
          <p:nvPr/>
        </p:nvPicPr>
        <p:blipFill>
          <a:blip r:embed="rId2" cstate="print">
            <a:extLst>
              <a:ext uri="{28A0092B-C50C-407E-A947-70E740481C1C}">
                <a14:useLocalDpi xmlns:a14="http://schemas.microsoft.com/office/drawing/2010/main" val="0"/>
              </a:ext>
            </a:extLst>
          </a:blip>
          <a:srcRect t="4580"/>
          <a:stretch>
            <a:fillRect/>
          </a:stretch>
        </p:blipFill>
        <p:spPr>
          <a:xfrm>
            <a:off x="7518319" y="2173082"/>
            <a:ext cx="1000253" cy="1694141"/>
          </a:xfrm>
          <a:prstGeom prst="rect">
            <a:avLst/>
          </a:prstGeom>
        </p:spPr>
      </p:pic>
      <p:pic>
        <p:nvPicPr>
          <p:cNvPr id="46" name="図 45" descr="電卓の写真のスマートフォンのスクリーンショット&#10;&#10;AI 生成コンテンツは誤りを含む可能性があります。">
            <a:extLst>
              <a:ext uri="{FF2B5EF4-FFF2-40B4-BE49-F238E27FC236}">
                <a16:creationId xmlns:a16="http://schemas.microsoft.com/office/drawing/2014/main" id="{31EEAD2C-3BE8-0210-FD8E-46D52B30A0AE}"/>
              </a:ext>
            </a:extLst>
          </p:cNvPr>
          <p:cNvPicPr>
            <a:picLocks noChangeAspect="1"/>
          </p:cNvPicPr>
          <p:nvPr/>
        </p:nvPicPr>
        <p:blipFill>
          <a:blip r:embed="rId3" cstate="print">
            <a:extLst>
              <a:ext uri="{28A0092B-C50C-407E-A947-70E740481C1C}">
                <a14:useLocalDpi xmlns:a14="http://schemas.microsoft.com/office/drawing/2010/main" val="0"/>
              </a:ext>
            </a:extLst>
          </a:blip>
          <a:srcRect t="4580"/>
          <a:stretch>
            <a:fillRect/>
          </a:stretch>
        </p:blipFill>
        <p:spPr>
          <a:xfrm>
            <a:off x="7527889" y="4316771"/>
            <a:ext cx="1000253" cy="1694142"/>
          </a:xfrm>
          <a:prstGeom prst="rect">
            <a:avLst/>
          </a:prstGeom>
        </p:spPr>
      </p:pic>
      <p:sp>
        <p:nvSpPr>
          <p:cNvPr id="48" name="テキスト ボックス 47">
            <a:extLst>
              <a:ext uri="{FF2B5EF4-FFF2-40B4-BE49-F238E27FC236}">
                <a16:creationId xmlns:a16="http://schemas.microsoft.com/office/drawing/2014/main" id="{E989AEB3-EF0E-8885-B426-8B6A5E01F40A}"/>
              </a:ext>
            </a:extLst>
          </p:cNvPr>
          <p:cNvSpPr txBox="1"/>
          <p:nvPr/>
        </p:nvSpPr>
        <p:spPr>
          <a:xfrm>
            <a:off x="6161261" y="2335961"/>
            <a:ext cx="1227667" cy="400110"/>
          </a:xfrm>
          <a:prstGeom prst="rect">
            <a:avLst/>
          </a:prstGeom>
          <a:noFill/>
        </p:spPr>
        <p:txBody>
          <a:bodyPr wrap="square" lIns="74295" rIns="74295">
            <a:spAutoFit/>
          </a:bodyPr>
          <a:lstStyle/>
          <a:p>
            <a:r>
              <a:rPr lang="ja-JP" altLang="en-US" sz="1000" b="1" dirty="0">
                <a:latin typeface="メイリオ" panose="020B0604030504040204" pitchFamily="50" charset="-128"/>
                <a:ea typeface="メイリオ" panose="020B0604030504040204" pitchFamily="50" charset="-128"/>
                <a:cs typeface="メイリオ"/>
              </a:rPr>
              <a:t>友だち登録ページ</a:t>
            </a:r>
            <a:r>
              <a:rPr lang="ja-JP" altLang="en-US" sz="1000" dirty="0">
                <a:latin typeface="メイリオ" panose="020B0604030504040204" pitchFamily="50" charset="-128"/>
                <a:ea typeface="メイリオ" panose="020B0604030504040204" pitchFamily="50" charset="-128"/>
                <a:cs typeface="メイリオ"/>
              </a:rPr>
              <a:t>へ遷移する。</a:t>
            </a:r>
          </a:p>
        </p:txBody>
      </p:sp>
      <p:sp>
        <p:nvSpPr>
          <p:cNvPr id="49" name="テキスト ボックス 48">
            <a:extLst>
              <a:ext uri="{FF2B5EF4-FFF2-40B4-BE49-F238E27FC236}">
                <a16:creationId xmlns:a16="http://schemas.microsoft.com/office/drawing/2014/main" id="{4E6D08E3-E0B3-1DF4-0533-E4EE67240415}"/>
              </a:ext>
            </a:extLst>
          </p:cNvPr>
          <p:cNvSpPr txBox="1"/>
          <p:nvPr/>
        </p:nvSpPr>
        <p:spPr>
          <a:xfrm>
            <a:off x="6157879" y="4570201"/>
            <a:ext cx="1338278" cy="400110"/>
          </a:xfrm>
          <a:prstGeom prst="rect">
            <a:avLst/>
          </a:prstGeom>
          <a:noFill/>
        </p:spPr>
        <p:txBody>
          <a:bodyPr wrap="square" lIns="74295" rIns="74295">
            <a:spAutoFit/>
          </a:bodyPr>
          <a:lstStyle/>
          <a:p>
            <a:r>
              <a:rPr lang="ja-JP" altLang="en-US" sz="1000" b="1" dirty="0">
                <a:latin typeface="メイリオ" panose="020B0604030504040204" pitchFamily="50" charset="-128"/>
                <a:ea typeface="メイリオ" panose="020B0604030504040204" pitchFamily="50" charset="-128"/>
                <a:cs typeface="メイリオ"/>
              </a:rPr>
              <a:t>トーク画面</a:t>
            </a:r>
            <a:r>
              <a:rPr lang="ja-JP" altLang="en-US" sz="1000" dirty="0">
                <a:latin typeface="メイリオ" panose="020B0604030504040204" pitchFamily="50" charset="-128"/>
                <a:ea typeface="メイリオ" panose="020B0604030504040204" pitchFamily="50" charset="-128"/>
                <a:cs typeface="メイリオ"/>
              </a:rPr>
              <a:t>へ</a:t>
            </a:r>
            <a:endParaRPr lang="en-US" altLang="ja-JP" sz="1000" dirty="0">
              <a:latin typeface="メイリオ" panose="020B0604030504040204" pitchFamily="50" charset="-128"/>
              <a:ea typeface="メイリオ" panose="020B0604030504040204" pitchFamily="50" charset="-128"/>
              <a:cs typeface="メイリオ"/>
            </a:endParaRPr>
          </a:p>
          <a:p>
            <a:r>
              <a:rPr lang="ja-JP" altLang="en-US" sz="1000" dirty="0">
                <a:latin typeface="メイリオ" panose="020B0604030504040204" pitchFamily="50" charset="-128"/>
                <a:ea typeface="メイリオ" panose="020B0604030504040204" pitchFamily="50" charset="-128"/>
                <a:cs typeface="メイリオ"/>
              </a:rPr>
              <a:t>遷移する。</a:t>
            </a:r>
            <a:endParaRPr lang="en-US" altLang="ja-JP" sz="1000" dirty="0">
              <a:latin typeface="メイリオ" panose="020B0604030504040204" pitchFamily="50" charset="-128"/>
              <a:ea typeface="メイリオ" panose="020B0604030504040204" pitchFamily="50" charset="-128"/>
              <a:cs typeface="メイリオ"/>
            </a:endParaRPr>
          </a:p>
        </p:txBody>
      </p:sp>
      <p:pic>
        <p:nvPicPr>
          <p:cNvPr id="56" name="図 55">
            <a:extLst>
              <a:ext uri="{FF2B5EF4-FFF2-40B4-BE49-F238E27FC236}">
                <a16:creationId xmlns:a16="http://schemas.microsoft.com/office/drawing/2014/main" id="{0B7B313D-7D5F-4357-9B38-DFC3DBC5FCF6}"/>
              </a:ext>
            </a:extLst>
          </p:cNvPr>
          <p:cNvPicPr>
            <a:picLocks noChangeAspect="1"/>
          </p:cNvPicPr>
          <p:nvPr/>
        </p:nvPicPr>
        <p:blipFill>
          <a:blip r:embed="rId4"/>
          <a:stretch>
            <a:fillRect/>
          </a:stretch>
        </p:blipFill>
        <p:spPr>
          <a:xfrm>
            <a:off x="7557873" y="2950101"/>
            <a:ext cx="921141" cy="89556"/>
          </a:xfrm>
          <a:prstGeom prst="rect">
            <a:avLst/>
          </a:prstGeom>
        </p:spPr>
      </p:pic>
      <p:pic>
        <p:nvPicPr>
          <p:cNvPr id="57" name="図 56">
            <a:extLst>
              <a:ext uri="{FF2B5EF4-FFF2-40B4-BE49-F238E27FC236}">
                <a16:creationId xmlns:a16="http://schemas.microsoft.com/office/drawing/2014/main" id="{A8EA42C4-338F-850B-B276-B83DC2A73148}"/>
              </a:ext>
            </a:extLst>
          </p:cNvPr>
          <p:cNvPicPr>
            <a:picLocks noChangeAspect="1"/>
          </p:cNvPicPr>
          <p:nvPr/>
        </p:nvPicPr>
        <p:blipFill>
          <a:blip r:embed="rId5"/>
          <a:stretch>
            <a:fillRect/>
          </a:stretch>
        </p:blipFill>
        <p:spPr>
          <a:xfrm>
            <a:off x="7825776" y="2949394"/>
            <a:ext cx="389971" cy="86660"/>
          </a:xfrm>
          <a:prstGeom prst="rect">
            <a:avLst/>
          </a:prstGeom>
        </p:spPr>
      </p:pic>
      <p:pic>
        <p:nvPicPr>
          <p:cNvPr id="58" name="図 57">
            <a:extLst>
              <a:ext uri="{FF2B5EF4-FFF2-40B4-BE49-F238E27FC236}">
                <a16:creationId xmlns:a16="http://schemas.microsoft.com/office/drawing/2014/main" id="{CCB04072-A708-EEE7-1345-D4C9E9FA9C1D}"/>
              </a:ext>
            </a:extLst>
          </p:cNvPr>
          <p:cNvPicPr>
            <a:picLocks noChangeAspect="1"/>
          </p:cNvPicPr>
          <p:nvPr/>
        </p:nvPicPr>
        <p:blipFill>
          <a:blip r:embed="rId5"/>
          <a:stretch>
            <a:fillRect/>
          </a:stretch>
        </p:blipFill>
        <p:spPr>
          <a:xfrm>
            <a:off x="7849883" y="4314411"/>
            <a:ext cx="271710" cy="60381"/>
          </a:xfrm>
          <a:prstGeom prst="rect">
            <a:avLst/>
          </a:prstGeom>
        </p:spPr>
      </p:pic>
      <p:pic>
        <p:nvPicPr>
          <p:cNvPr id="59" name="図 58">
            <a:extLst>
              <a:ext uri="{FF2B5EF4-FFF2-40B4-BE49-F238E27FC236}">
                <a16:creationId xmlns:a16="http://schemas.microsoft.com/office/drawing/2014/main" id="{EDED354B-362F-AAF7-76A6-52D8547EDC91}"/>
              </a:ext>
            </a:extLst>
          </p:cNvPr>
          <p:cNvPicPr>
            <a:picLocks noChangeAspect="1"/>
          </p:cNvPicPr>
          <p:nvPr/>
        </p:nvPicPr>
        <p:blipFill>
          <a:blip r:embed="rId5"/>
          <a:stretch>
            <a:fillRect/>
          </a:stretch>
        </p:blipFill>
        <p:spPr>
          <a:xfrm>
            <a:off x="7973708" y="4438236"/>
            <a:ext cx="271710" cy="60381"/>
          </a:xfrm>
          <a:prstGeom prst="rect">
            <a:avLst/>
          </a:prstGeom>
        </p:spPr>
      </p:pic>
      <p:sp>
        <p:nvSpPr>
          <p:cNvPr id="1030" name="楕円 1029">
            <a:extLst>
              <a:ext uri="{FF2B5EF4-FFF2-40B4-BE49-F238E27FC236}">
                <a16:creationId xmlns:a16="http://schemas.microsoft.com/office/drawing/2014/main" id="{A0934BB8-8F8D-D4F0-8D59-8F32A6A6E03A}"/>
              </a:ext>
            </a:extLst>
          </p:cNvPr>
          <p:cNvSpPr/>
          <p:nvPr/>
        </p:nvSpPr>
        <p:spPr>
          <a:xfrm>
            <a:off x="7855110" y="2591706"/>
            <a:ext cx="321750" cy="321750"/>
          </a:xfrm>
          <a:prstGeom prst="ellipse">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700" dirty="0">
                <a:solidFill>
                  <a:schemeClr val="tx1"/>
                </a:solidFill>
                <a:latin typeface="メイリオ" panose="020B0604030504040204" pitchFamily="50" charset="-128"/>
                <a:ea typeface="メイリオ" panose="020B0604030504040204" pitchFamily="50" charset="-128"/>
                <a:cs typeface="メイリオ"/>
              </a:rPr>
              <a:t>ロゴ</a:t>
            </a:r>
          </a:p>
        </p:txBody>
      </p:sp>
      <p:sp>
        <p:nvSpPr>
          <p:cNvPr id="34" name="正方形/長方形 33">
            <a:extLst>
              <a:ext uri="{FF2B5EF4-FFF2-40B4-BE49-F238E27FC236}">
                <a16:creationId xmlns:a16="http://schemas.microsoft.com/office/drawing/2014/main" id="{A593FC72-954C-48DC-E845-1A5FCE4C9E00}"/>
              </a:ext>
            </a:extLst>
          </p:cNvPr>
          <p:cNvSpPr/>
          <p:nvPr/>
        </p:nvSpPr>
        <p:spPr>
          <a:xfrm>
            <a:off x="693249" y="1644209"/>
            <a:ext cx="1142154" cy="2841034"/>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36" name="二等辺三角形 35">
            <a:extLst>
              <a:ext uri="{FF2B5EF4-FFF2-40B4-BE49-F238E27FC236}">
                <a16:creationId xmlns:a16="http://schemas.microsoft.com/office/drawing/2014/main" id="{626832A8-575E-5E2B-73F4-BE5567514E57}"/>
              </a:ext>
            </a:extLst>
          </p:cNvPr>
          <p:cNvSpPr/>
          <p:nvPr/>
        </p:nvSpPr>
        <p:spPr>
          <a:xfrm rot="5400000">
            <a:off x="1869100" y="2879016"/>
            <a:ext cx="205320" cy="18278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38" name="正方形/長方形 37">
            <a:extLst>
              <a:ext uri="{FF2B5EF4-FFF2-40B4-BE49-F238E27FC236}">
                <a16:creationId xmlns:a16="http://schemas.microsoft.com/office/drawing/2014/main" id="{28671F13-F479-AFF6-9832-C7C00D2D05EE}"/>
              </a:ext>
            </a:extLst>
          </p:cNvPr>
          <p:cNvSpPr/>
          <p:nvPr/>
        </p:nvSpPr>
        <p:spPr>
          <a:xfrm>
            <a:off x="693249" y="4241092"/>
            <a:ext cx="1142154" cy="244151"/>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850" b="1" dirty="0">
                <a:solidFill>
                  <a:schemeClr val="tx1"/>
                </a:solidFill>
                <a:latin typeface="メイリオ" panose="020B0604030504040204" pitchFamily="50" charset="-128"/>
                <a:ea typeface="メイリオ" panose="020B0604030504040204" pitchFamily="50" charset="-128"/>
                <a:cs typeface="メイリオ"/>
              </a:rPr>
              <a:t>フォーム入力</a:t>
            </a:r>
          </a:p>
        </p:txBody>
      </p:sp>
      <p:pic>
        <p:nvPicPr>
          <p:cNvPr id="55" name="図 54">
            <a:extLst>
              <a:ext uri="{FF2B5EF4-FFF2-40B4-BE49-F238E27FC236}">
                <a16:creationId xmlns:a16="http://schemas.microsoft.com/office/drawing/2014/main" id="{8AF12F67-4C9A-867F-4608-8FE9DA811630}"/>
              </a:ext>
            </a:extLst>
          </p:cNvPr>
          <p:cNvPicPr>
            <a:picLocks noChangeAspect="1"/>
          </p:cNvPicPr>
          <p:nvPr/>
        </p:nvPicPr>
        <p:blipFill>
          <a:blip r:embed="rId6"/>
          <a:stretch>
            <a:fillRect/>
          </a:stretch>
        </p:blipFill>
        <p:spPr>
          <a:xfrm>
            <a:off x="760471" y="2042343"/>
            <a:ext cx="1015294" cy="1834505"/>
          </a:xfrm>
          <a:prstGeom prst="rect">
            <a:avLst/>
          </a:prstGeom>
        </p:spPr>
      </p:pic>
      <p:sp>
        <p:nvSpPr>
          <p:cNvPr id="1032" name="正方形/長方形 1031">
            <a:extLst>
              <a:ext uri="{FF2B5EF4-FFF2-40B4-BE49-F238E27FC236}">
                <a16:creationId xmlns:a16="http://schemas.microsoft.com/office/drawing/2014/main" id="{D1D96D42-255C-636E-49E5-2CDA95DD6764}"/>
              </a:ext>
            </a:extLst>
          </p:cNvPr>
          <p:cNvSpPr/>
          <p:nvPr/>
        </p:nvSpPr>
        <p:spPr>
          <a:xfrm>
            <a:off x="2102458" y="1617265"/>
            <a:ext cx="1225682" cy="2841034"/>
          </a:xfrm>
          <a:prstGeom prst="rect">
            <a:avLst/>
          </a:prstGeom>
          <a:solidFill>
            <a:schemeClr val="bg1"/>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1034" name="正方形/長方形 1033">
            <a:extLst>
              <a:ext uri="{FF2B5EF4-FFF2-40B4-BE49-F238E27FC236}">
                <a16:creationId xmlns:a16="http://schemas.microsoft.com/office/drawing/2014/main" id="{8693E451-BCB1-207B-6B73-131F2A8588BF}"/>
              </a:ext>
            </a:extLst>
          </p:cNvPr>
          <p:cNvSpPr/>
          <p:nvPr/>
        </p:nvSpPr>
        <p:spPr>
          <a:xfrm>
            <a:off x="2100228" y="4219785"/>
            <a:ext cx="1225683" cy="244151"/>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850" b="1" dirty="0">
                <a:latin typeface="メイリオ" panose="020B0604030504040204" pitchFamily="50" charset="-128"/>
                <a:ea typeface="メイリオ" panose="020B0604030504040204" pitchFamily="50" charset="-128"/>
                <a:cs typeface="メイリオ"/>
              </a:rPr>
              <a:t>サンクス画面へ</a:t>
            </a:r>
            <a:endParaRPr lang="en-US" altLang="ja-JP" sz="850" b="1" dirty="0">
              <a:latin typeface="メイリオ" panose="020B0604030504040204" pitchFamily="50" charset="-128"/>
              <a:ea typeface="メイリオ" panose="020B0604030504040204" pitchFamily="50" charset="-128"/>
              <a:cs typeface="メイリオ"/>
            </a:endParaRPr>
          </a:p>
        </p:txBody>
      </p:sp>
      <p:pic>
        <p:nvPicPr>
          <p:cNvPr id="1038" name="図 1037" descr="テキスト, 手紙&#10;&#10;AI 生成コンテンツは誤りを含む可能性があります。">
            <a:extLst>
              <a:ext uri="{FF2B5EF4-FFF2-40B4-BE49-F238E27FC236}">
                <a16:creationId xmlns:a16="http://schemas.microsoft.com/office/drawing/2014/main" id="{85260668-6C66-A032-FFE0-0276021F9433}"/>
              </a:ext>
            </a:extLst>
          </p:cNvPr>
          <p:cNvPicPr>
            <a:picLocks noChangeAspect="1"/>
          </p:cNvPicPr>
          <p:nvPr/>
        </p:nvPicPr>
        <p:blipFill>
          <a:blip r:embed="rId7" cstate="print">
            <a:extLst>
              <a:ext uri="{28A0092B-C50C-407E-A947-70E740481C1C}">
                <a14:useLocalDpi xmlns:a14="http://schemas.microsoft.com/office/drawing/2010/main" val="0"/>
              </a:ext>
            </a:extLst>
          </a:blip>
          <a:srcRect t="4580"/>
          <a:stretch>
            <a:fillRect/>
          </a:stretch>
        </p:blipFill>
        <p:spPr>
          <a:xfrm>
            <a:off x="2195552" y="2083381"/>
            <a:ext cx="1066362" cy="1789421"/>
          </a:xfrm>
          <a:prstGeom prst="rect">
            <a:avLst/>
          </a:prstGeom>
        </p:spPr>
      </p:pic>
      <p:pic>
        <p:nvPicPr>
          <p:cNvPr id="1039" name="Picture 2" descr="買い物完了！イラスト｜無料イラスト・フリー素材なら「イラストAC」">
            <a:extLst>
              <a:ext uri="{FF2B5EF4-FFF2-40B4-BE49-F238E27FC236}">
                <a16:creationId xmlns:a16="http://schemas.microsoft.com/office/drawing/2014/main" id="{23D05307-D6FE-6284-27D3-3433EE0122E2}"/>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l="20270" r="23682"/>
          <a:stretch>
            <a:fillRect/>
          </a:stretch>
        </p:blipFill>
        <p:spPr bwMode="auto">
          <a:xfrm>
            <a:off x="3292898" y="1459246"/>
            <a:ext cx="250223" cy="335086"/>
          </a:xfrm>
          <a:prstGeom prst="rect">
            <a:avLst/>
          </a:prstGeom>
          <a:noFill/>
          <a:extLst>
            <a:ext uri="{909E8E84-426E-40DD-AFC4-6F175D3DCCD1}">
              <a14:hiddenFill xmlns:a14="http://schemas.microsoft.com/office/drawing/2010/main">
                <a:solidFill>
                  <a:srgbClr val="FFFFFF"/>
                </a:solidFill>
              </a14:hiddenFill>
            </a:ext>
          </a:extLst>
        </p:spPr>
      </p:pic>
      <p:grpSp>
        <p:nvGrpSpPr>
          <p:cNvPr id="3" name="グループ化 2">
            <a:extLst>
              <a:ext uri="{FF2B5EF4-FFF2-40B4-BE49-F238E27FC236}">
                <a16:creationId xmlns:a16="http://schemas.microsoft.com/office/drawing/2014/main" id="{E76D8F54-2926-2D56-7238-F66ACCBC4F20}"/>
              </a:ext>
            </a:extLst>
          </p:cNvPr>
          <p:cNvGrpSpPr/>
          <p:nvPr/>
        </p:nvGrpSpPr>
        <p:grpSpPr>
          <a:xfrm>
            <a:off x="1261302" y="837894"/>
            <a:ext cx="2523077" cy="485102"/>
            <a:chOff x="507969" y="928495"/>
            <a:chExt cx="3105325" cy="485102"/>
          </a:xfrm>
        </p:grpSpPr>
        <p:sp>
          <p:nvSpPr>
            <p:cNvPr id="4" name="Google Shape;51;p19">
              <a:extLst>
                <a:ext uri="{FF2B5EF4-FFF2-40B4-BE49-F238E27FC236}">
                  <a16:creationId xmlns:a16="http://schemas.microsoft.com/office/drawing/2014/main" id="{98F6BB16-EFC6-9846-2A11-E624E876E64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74282" tIns="45700" rIns="74282"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gn="ctr">
                <a:buSzPts val="1400"/>
              </a:pPr>
              <a:endParaRPr b="1" dirty="0">
                <a:solidFill>
                  <a:schemeClr val="lt1"/>
                </a:solidFill>
                <a:sym typeface="Meiryo"/>
              </a:endParaRPr>
            </a:p>
          </p:txBody>
        </p:sp>
        <p:sp>
          <p:nvSpPr>
            <p:cNvPr id="5" name="テキスト ボックス 4">
              <a:extLst>
                <a:ext uri="{FF2B5EF4-FFF2-40B4-BE49-F238E27FC236}">
                  <a16:creationId xmlns:a16="http://schemas.microsoft.com/office/drawing/2014/main" id="{560EDF30-5F09-B70A-2993-8CD4F9E40EFA}"/>
                </a:ext>
              </a:extLst>
            </p:cNvPr>
            <p:cNvSpPr txBox="1"/>
            <p:nvPr/>
          </p:nvSpPr>
          <p:spPr>
            <a:xfrm>
              <a:off x="1140096" y="988192"/>
              <a:ext cx="1832553" cy="357790"/>
            </a:xfrm>
            <a:prstGeom prst="rect">
              <a:avLst/>
            </a:prstGeom>
            <a:noFill/>
          </p:spPr>
          <p:txBody>
            <a:bodyPr wrap="none" lIns="74295" rIns="74295"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nSpc>
                  <a:spcPct val="120000"/>
                </a:lnSpc>
              </a:pPr>
              <a:r>
                <a:rPr lang="ja-JP" altLang="en-US" sz="1200" b="1" dirty="0">
                  <a:solidFill>
                    <a:schemeClr val="bg1"/>
                  </a:solidFill>
                  <a:latin typeface="メイリオ" panose="020B0604030504040204" pitchFamily="34" charset="-128"/>
                  <a:ea typeface="メイリオ" panose="020B0604030504040204" pitchFamily="34" charset="-128"/>
                </a:rPr>
                <a:t>サンクス</a:t>
              </a:r>
              <a:r>
                <a:rPr lang="en-US" altLang="ja-JP" sz="1200" b="1" dirty="0">
                  <a:solidFill>
                    <a:schemeClr val="bg1"/>
                  </a:solidFill>
                  <a:latin typeface="メイリオ" panose="020B0604030504040204" pitchFamily="34" charset="-128"/>
                  <a:ea typeface="メイリオ" panose="020B0604030504040204" pitchFamily="34" charset="-128"/>
                </a:rPr>
                <a:t>LINE</a:t>
              </a:r>
              <a:r>
                <a:rPr lang="ja-JP" altLang="en-US" sz="1200" b="1" dirty="0">
                  <a:solidFill>
                    <a:schemeClr val="bg1"/>
                  </a:solidFill>
                  <a:latin typeface="メイリオ" panose="020B0604030504040204" pitchFamily="34" charset="-128"/>
                  <a:ea typeface="メイリオ" panose="020B0604030504040204" pitchFamily="34" charset="-128"/>
                </a:rPr>
                <a:t>誘導</a:t>
              </a:r>
            </a:p>
          </p:txBody>
        </p:sp>
      </p:grpSp>
      <p:sp>
        <p:nvSpPr>
          <p:cNvPr id="6" name="正方形/長方形 5">
            <a:extLst>
              <a:ext uri="{FF2B5EF4-FFF2-40B4-BE49-F238E27FC236}">
                <a16:creationId xmlns:a16="http://schemas.microsoft.com/office/drawing/2014/main" id="{8B20BFF3-9D3E-A4D7-FF5A-70927F78FC9D}"/>
              </a:ext>
            </a:extLst>
          </p:cNvPr>
          <p:cNvSpPr/>
          <p:nvPr/>
        </p:nvSpPr>
        <p:spPr>
          <a:xfrm>
            <a:off x="7729169" y="4623314"/>
            <a:ext cx="730843" cy="649672"/>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9" name="正方形/長方形 8">
            <a:extLst>
              <a:ext uri="{FF2B5EF4-FFF2-40B4-BE49-F238E27FC236}">
                <a16:creationId xmlns:a16="http://schemas.microsoft.com/office/drawing/2014/main" id="{DC4FF56C-47EE-47DB-92F1-3F0EF57613D9}"/>
              </a:ext>
            </a:extLst>
          </p:cNvPr>
          <p:cNvSpPr/>
          <p:nvPr/>
        </p:nvSpPr>
        <p:spPr>
          <a:xfrm>
            <a:off x="4178808" y="645487"/>
            <a:ext cx="4575836" cy="523220"/>
          </a:xfrm>
          <a:prstGeom prst="rect">
            <a:avLst/>
          </a:prstGeom>
        </p:spPr>
        <p:txBody>
          <a:bodyPr wrap="square" lIns="74295" rIns="74295">
            <a:spAutoFit/>
          </a:bodyPr>
          <a:lstStyle/>
          <a:p>
            <a:pPr lvl="0">
              <a:buClr>
                <a:schemeClr val="dk1"/>
              </a:buClr>
              <a:buSzPts val="1500"/>
            </a:pPr>
            <a:r>
              <a:rPr lang="ja-JP" altLang="en-US" sz="1400" dirty="0">
                <a:latin typeface="メイリオ"/>
                <a:ea typeface="メイリオ"/>
                <a:cs typeface="メイリオ"/>
                <a:sym typeface="Meiryo"/>
              </a:rPr>
              <a:t>フォーム送信後の</a:t>
            </a:r>
            <a:r>
              <a:rPr lang="en-US" altLang="ja-JP" sz="1400" dirty="0">
                <a:latin typeface="メイリオ"/>
                <a:ea typeface="メイリオ"/>
                <a:cs typeface="メイリオ"/>
                <a:sym typeface="Meiryo"/>
              </a:rPr>
              <a:t>LINE</a:t>
            </a:r>
            <a:r>
              <a:rPr lang="ja-JP" altLang="en-US" sz="1400" dirty="0">
                <a:latin typeface="メイリオ"/>
                <a:ea typeface="メイリオ"/>
                <a:cs typeface="メイリオ"/>
                <a:sym typeface="Meiryo"/>
              </a:rPr>
              <a:t>誘導を自動化するツール</a:t>
            </a:r>
            <a:endParaRPr lang="en-US" altLang="ja-JP" sz="1400" dirty="0">
              <a:latin typeface="メイリオ"/>
              <a:ea typeface="メイリオ"/>
              <a:cs typeface="メイリオ"/>
              <a:sym typeface="Meiryo"/>
            </a:endParaRPr>
          </a:p>
          <a:p>
            <a:pPr lvl="0">
              <a:buClr>
                <a:schemeClr val="dk1"/>
              </a:buClr>
              <a:buSzPts val="1500"/>
            </a:pPr>
            <a:r>
              <a:rPr lang="ja-JP" altLang="en-US" sz="1400" dirty="0">
                <a:latin typeface="メイリオ"/>
                <a:ea typeface="メイリオ"/>
                <a:cs typeface="メイリオ"/>
                <a:sym typeface="Meiryo"/>
              </a:rPr>
              <a:t>サンクス</a:t>
            </a:r>
            <a:r>
              <a:rPr lang="en-US" altLang="ja-JP" sz="1400" dirty="0">
                <a:latin typeface="メイリオ"/>
                <a:ea typeface="メイリオ"/>
                <a:cs typeface="メイリオ"/>
                <a:sym typeface="Meiryo"/>
              </a:rPr>
              <a:t>LINE</a:t>
            </a:r>
            <a:r>
              <a:rPr lang="ja-JP" altLang="en-US" sz="1400" dirty="0">
                <a:latin typeface="メイリオ"/>
                <a:ea typeface="メイリオ"/>
                <a:cs typeface="メイリオ"/>
                <a:sym typeface="Meiryo"/>
              </a:rPr>
              <a:t>誘導のみのご導入も可能</a:t>
            </a:r>
            <a:endParaRPr lang="en-US" altLang="ja-JP" sz="1400" dirty="0">
              <a:latin typeface="メイリオ"/>
              <a:ea typeface="メイリオ"/>
              <a:cs typeface="メイリオ"/>
              <a:sym typeface="Meiryo"/>
            </a:endParaRPr>
          </a:p>
        </p:txBody>
      </p:sp>
      <p:sp>
        <p:nvSpPr>
          <p:cNvPr id="8" name="正方形/長方形 7">
            <a:extLst>
              <a:ext uri="{FF2B5EF4-FFF2-40B4-BE49-F238E27FC236}">
                <a16:creationId xmlns:a16="http://schemas.microsoft.com/office/drawing/2014/main" id="{F5B8C83A-7191-D772-EF88-AE268D007E63}"/>
              </a:ext>
            </a:extLst>
          </p:cNvPr>
          <p:cNvSpPr/>
          <p:nvPr/>
        </p:nvSpPr>
        <p:spPr>
          <a:xfrm>
            <a:off x="6097538" y="1666571"/>
            <a:ext cx="2513872" cy="284744"/>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cs typeface="メイリオ"/>
              </a:rPr>
              <a:t>動作イメージ</a:t>
            </a:r>
          </a:p>
        </p:txBody>
      </p:sp>
      <p:sp>
        <p:nvSpPr>
          <p:cNvPr id="11" name="正方形/長方形 10">
            <a:extLst>
              <a:ext uri="{FF2B5EF4-FFF2-40B4-BE49-F238E27FC236}">
                <a16:creationId xmlns:a16="http://schemas.microsoft.com/office/drawing/2014/main" id="{189A6A4C-E34E-E7CF-D6DD-C175E600A94D}"/>
              </a:ext>
            </a:extLst>
          </p:cNvPr>
          <p:cNvSpPr/>
          <p:nvPr/>
        </p:nvSpPr>
        <p:spPr>
          <a:xfrm>
            <a:off x="1209560" y="1525688"/>
            <a:ext cx="1510467"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95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WEB</a:t>
            </a:r>
            <a:r>
              <a:rPr lang="ja-JP" altLang="en-US" sz="95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サイト</a:t>
            </a:r>
          </a:p>
        </p:txBody>
      </p:sp>
      <p:pic>
        <p:nvPicPr>
          <p:cNvPr id="18" name="図 17">
            <a:extLst>
              <a:ext uri="{FF2B5EF4-FFF2-40B4-BE49-F238E27FC236}">
                <a16:creationId xmlns:a16="http://schemas.microsoft.com/office/drawing/2014/main" id="{122BEACA-AA0E-EFF8-CDF2-B0A5B58840D0}"/>
              </a:ext>
            </a:extLst>
          </p:cNvPr>
          <p:cNvPicPr>
            <a:picLocks noChangeAspect="1"/>
          </p:cNvPicPr>
          <p:nvPr/>
        </p:nvPicPr>
        <p:blipFill>
          <a:blip r:embed="rId9"/>
          <a:stretch>
            <a:fillRect/>
          </a:stretch>
        </p:blipFill>
        <p:spPr>
          <a:xfrm>
            <a:off x="2412518" y="3590272"/>
            <a:ext cx="379108" cy="69986"/>
          </a:xfrm>
          <a:prstGeom prst="rect">
            <a:avLst/>
          </a:prstGeom>
        </p:spPr>
      </p:pic>
      <p:pic>
        <p:nvPicPr>
          <p:cNvPr id="27" name="図 26">
            <a:extLst>
              <a:ext uri="{FF2B5EF4-FFF2-40B4-BE49-F238E27FC236}">
                <a16:creationId xmlns:a16="http://schemas.microsoft.com/office/drawing/2014/main" id="{D971BE53-7CD8-C375-2A00-B224602AC25F}"/>
              </a:ext>
            </a:extLst>
          </p:cNvPr>
          <p:cNvPicPr>
            <a:picLocks noChangeAspect="1"/>
          </p:cNvPicPr>
          <p:nvPr/>
        </p:nvPicPr>
        <p:blipFill>
          <a:blip r:embed="rId9"/>
          <a:stretch>
            <a:fillRect/>
          </a:stretch>
        </p:blipFill>
        <p:spPr>
          <a:xfrm>
            <a:off x="2234699" y="2111288"/>
            <a:ext cx="379108" cy="69986"/>
          </a:xfrm>
          <a:prstGeom prst="rect">
            <a:avLst/>
          </a:prstGeom>
        </p:spPr>
      </p:pic>
      <p:sp>
        <p:nvSpPr>
          <p:cNvPr id="33" name="四角形: 角を丸くする 32">
            <a:extLst>
              <a:ext uri="{FF2B5EF4-FFF2-40B4-BE49-F238E27FC236}">
                <a16:creationId xmlns:a16="http://schemas.microsoft.com/office/drawing/2014/main" id="{B7D71D80-6086-B1B4-3E2C-EE891B12909E}"/>
              </a:ext>
            </a:extLst>
          </p:cNvPr>
          <p:cNvSpPr/>
          <p:nvPr/>
        </p:nvSpPr>
        <p:spPr>
          <a:xfrm>
            <a:off x="1511868" y="4640731"/>
            <a:ext cx="3960179" cy="659955"/>
          </a:xfrm>
          <a:prstGeom prst="roundRect">
            <a:avLst>
              <a:gd name="adj" fmla="val 25327"/>
            </a:avLst>
          </a:prstGeom>
          <a:solidFill>
            <a:srgbClr val="04FA0A">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1300" dirty="0">
                <a:solidFill>
                  <a:schemeClr val="tx1"/>
                </a:solidFill>
                <a:latin typeface="メイリオ" panose="020B0604030504040204" pitchFamily="50" charset="-128"/>
                <a:ea typeface="メイリオ" panose="020B0604030504040204" pitchFamily="50" charset="-128"/>
              </a:rPr>
              <a:t>フォーム入力内容を</a:t>
            </a:r>
            <a:br>
              <a:rPr lang="en-US" altLang="ja-JP" sz="1300" dirty="0">
                <a:solidFill>
                  <a:schemeClr val="tx1"/>
                </a:solidFill>
                <a:latin typeface="メイリオ" panose="020B0604030504040204" pitchFamily="50" charset="-128"/>
                <a:ea typeface="メイリオ" panose="020B0604030504040204" pitchFamily="50" charset="-128"/>
              </a:rPr>
            </a:br>
            <a:r>
              <a:rPr lang="en-US" altLang="ja-JP" sz="1300" dirty="0">
                <a:solidFill>
                  <a:schemeClr val="tx1"/>
                </a:solidFill>
                <a:latin typeface="メイリオ" panose="020B0604030504040204" pitchFamily="50" charset="-128"/>
                <a:ea typeface="メイリオ" panose="020B0604030504040204" pitchFamily="50" charset="-128"/>
              </a:rPr>
              <a:t>LINE</a:t>
            </a:r>
            <a:r>
              <a:rPr lang="ja-JP" altLang="en-US" sz="1300" dirty="0">
                <a:solidFill>
                  <a:schemeClr val="tx1"/>
                </a:solidFill>
                <a:latin typeface="メイリオ" panose="020B0604030504040204" pitchFamily="50" charset="-128"/>
                <a:ea typeface="メイリオ" panose="020B0604030504040204" pitchFamily="50" charset="-128"/>
              </a:rPr>
              <a:t>トーク入力画面へ引き継ぎ可能</a:t>
            </a:r>
          </a:p>
        </p:txBody>
      </p:sp>
      <p:cxnSp>
        <p:nvCxnSpPr>
          <p:cNvPr id="44" name="直線矢印コネクタ 43">
            <a:extLst>
              <a:ext uri="{FF2B5EF4-FFF2-40B4-BE49-F238E27FC236}">
                <a16:creationId xmlns:a16="http://schemas.microsoft.com/office/drawing/2014/main" id="{666CF79B-D322-06BC-F342-DE710BE7473B}"/>
              </a:ext>
            </a:extLst>
          </p:cNvPr>
          <p:cNvCxnSpPr>
            <a:cxnSpLocks/>
          </p:cNvCxnSpPr>
          <p:nvPr/>
        </p:nvCxnSpPr>
        <p:spPr>
          <a:xfrm flipH="1" flipV="1">
            <a:off x="1145256" y="4485242"/>
            <a:ext cx="515326" cy="485466"/>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1D29A9C3-A3E8-0780-A758-0C8E7E376668}"/>
              </a:ext>
            </a:extLst>
          </p:cNvPr>
          <p:cNvSpPr/>
          <p:nvPr/>
        </p:nvSpPr>
        <p:spPr>
          <a:xfrm>
            <a:off x="5284944" y="2415812"/>
            <a:ext cx="530810" cy="1821208"/>
          </a:xfrm>
          <a:prstGeom prst="rect">
            <a:avLst/>
          </a:prstGeom>
          <a:solidFill>
            <a:srgbClr val="04FA0A">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950" b="1" dirty="0">
                <a:solidFill>
                  <a:schemeClr val="tx1"/>
                </a:solidFill>
                <a:latin typeface="メイリオ" panose="020B0604030504040204" pitchFamily="50" charset="-128"/>
                <a:ea typeface="メイリオ" panose="020B0604030504040204" pitchFamily="50" charset="-128"/>
                <a:cs typeface="メイリオ"/>
              </a:rPr>
              <a:t>DYM</a:t>
            </a:r>
          </a:p>
          <a:p>
            <a:pPr algn="ctr"/>
            <a:r>
              <a:rPr lang="ja-JP" altLang="en-US" sz="950" b="1" dirty="0">
                <a:solidFill>
                  <a:schemeClr val="tx1"/>
                </a:solidFill>
                <a:latin typeface="メイリオ" panose="020B0604030504040204" pitchFamily="50" charset="-128"/>
                <a:ea typeface="メイリオ" panose="020B0604030504040204" pitchFamily="50" charset="-128"/>
                <a:cs typeface="メイリオ"/>
              </a:rPr>
              <a:t>開発</a:t>
            </a:r>
            <a:endParaRPr lang="en-US" altLang="ja-JP" sz="950" b="1"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950" b="1" dirty="0">
                <a:solidFill>
                  <a:schemeClr val="tx1"/>
                </a:solidFill>
                <a:latin typeface="メイリオ" panose="020B0604030504040204" pitchFamily="50" charset="-128"/>
                <a:ea typeface="メイリオ" panose="020B0604030504040204" pitchFamily="50" charset="-128"/>
                <a:cs typeface="メイリオ"/>
              </a:rPr>
              <a:t>ツール</a:t>
            </a:r>
            <a:endParaRPr lang="en-US" altLang="ja-JP" sz="95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1048" name="矢印: 右 1047">
            <a:extLst>
              <a:ext uri="{FF2B5EF4-FFF2-40B4-BE49-F238E27FC236}">
                <a16:creationId xmlns:a16="http://schemas.microsoft.com/office/drawing/2014/main" id="{6A5BBE8E-2B42-49E0-686B-A6584B59E72F}"/>
              </a:ext>
            </a:extLst>
          </p:cNvPr>
          <p:cNvSpPr/>
          <p:nvPr/>
        </p:nvSpPr>
        <p:spPr>
          <a:xfrm>
            <a:off x="3398999" y="3203047"/>
            <a:ext cx="1843892" cy="392774"/>
          </a:xfrm>
          <a:prstGeom prst="right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p>
        </p:txBody>
      </p:sp>
      <p:sp>
        <p:nvSpPr>
          <p:cNvPr id="1050" name="吹き出し: 角を丸めた四角形 1049">
            <a:extLst>
              <a:ext uri="{FF2B5EF4-FFF2-40B4-BE49-F238E27FC236}">
                <a16:creationId xmlns:a16="http://schemas.microsoft.com/office/drawing/2014/main" id="{0D7606B7-7AEE-445F-FB97-74913C4A4F60}"/>
              </a:ext>
            </a:extLst>
          </p:cNvPr>
          <p:cNvSpPr/>
          <p:nvPr/>
        </p:nvSpPr>
        <p:spPr>
          <a:xfrm>
            <a:off x="3492025" y="2641849"/>
            <a:ext cx="1624523" cy="476757"/>
          </a:xfrm>
          <a:prstGeom prst="wedgeRoundRectCallout">
            <a:avLst/>
          </a:prstGeom>
          <a:solidFill>
            <a:srgbClr val="FDFDFD"/>
          </a:solidFill>
          <a:ln w="19050">
            <a:solidFill>
              <a:schemeClr val="tx2">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r>
              <a:rPr lang="en-US" altLang="ja-JP" sz="1100" dirty="0">
                <a:solidFill>
                  <a:schemeClr val="tx1"/>
                </a:solidFill>
                <a:latin typeface="メイリオ" panose="020B0604030504040204" pitchFamily="50" charset="-128"/>
                <a:ea typeface="メイリオ" panose="020B0604030504040204" pitchFamily="50" charset="-128"/>
              </a:rPr>
              <a:t>CV</a:t>
            </a:r>
            <a:r>
              <a:rPr lang="ja-JP" altLang="en-US" sz="1100" dirty="0">
                <a:solidFill>
                  <a:schemeClr val="tx1"/>
                </a:solidFill>
                <a:latin typeface="メイリオ" panose="020B0604030504040204" pitchFamily="50" charset="-128"/>
                <a:ea typeface="メイリオ" panose="020B0604030504040204" pitchFamily="50" charset="-128"/>
              </a:rPr>
              <a:t>完了後約</a:t>
            </a:r>
            <a:r>
              <a:rPr lang="en-US" altLang="ja-JP" sz="1100" dirty="0">
                <a:solidFill>
                  <a:schemeClr val="tx1"/>
                </a:solidFill>
                <a:latin typeface="メイリオ" panose="020B0604030504040204" pitchFamily="50" charset="-128"/>
                <a:ea typeface="メイリオ" panose="020B0604030504040204" pitchFamily="50" charset="-128"/>
              </a:rPr>
              <a:t>2~3</a:t>
            </a:r>
            <a:r>
              <a:rPr lang="ja-JP" altLang="en-US" sz="1100" dirty="0">
                <a:solidFill>
                  <a:schemeClr val="tx1"/>
                </a:solidFill>
                <a:latin typeface="メイリオ" panose="020B0604030504040204" pitchFamily="50" charset="-128"/>
                <a:ea typeface="メイリオ" panose="020B0604030504040204" pitchFamily="50" charset="-128"/>
              </a:rPr>
              <a:t>秒で</a:t>
            </a:r>
            <a:br>
              <a:rPr lang="en-US" altLang="ja-JP" sz="1100" dirty="0">
                <a:solidFill>
                  <a:schemeClr val="tx1"/>
                </a:solidFill>
                <a:latin typeface="メイリオ" panose="020B0604030504040204" pitchFamily="50" charset="-128"/>
                <a:ea typeface="メイリオ" panose="020B0604030504040204" pitchFamily="50" charset="-128"/>
              </a:rPr>
            </a:br>
            <a:r>
              <a:rPr lang="en-US" altLang="ja-JP" sz="1100" dirty="0">
                <a:solidFill>
                  <a:schemeClr val="tx1"/>
                </a:solidFill>
                <a:latin typeface="メイリオ" panose="020B0604030504040204" pitchFamily="50" charset="-128"/>
                <a:ea typeface="メイリオ" panose="020B0604030504040204" pitchFamily="50" charset="-128"/>
              </a:rPr>
              <a:t>LINE</a:t>
            </a:r>
            <a:r>
              <a:rPr lang="ja-JP" altLang="en-US" sz="1100" dirty="0">
                <a:solidFill>
                  <a:schemeClr val="tx1"/>
                </a:solidFill>
                <a:latin typeface="メイリオ" panose="020B0604030504040204" pitchFamily="50" charset="-128"/>
                <a:ea typeface="メイリオ" panose="020B0604030504040204" pitchFamily="50" charset="-128"/>
              </a:rPr>
              <a:t>へ自動遷移</a:t>
            </a:r>
            <a:endParaRPr lang="en-US" altLang="ja-JP" sz="1100" dirty="0">
              <a:solidFill>
                <a:schemeClr val="tx1"/>
              </a:solidFill>
              <a:latin typeface="メイリオ" panose="020B0604030504040204" pitchFamily="50" charset="-128"/>
              <a:ea typeface="メイリオ" panose="020B0604030504040204" pitchFamily="50" charset="-128"/>
            </a:endParaRPr>
          </a:p>
        </p:txBody>
      </p:sp>
      <p:cxnSp>
        <p:nvCxnSpPr>
          <p:cNvPr id="1052" name="直線矢印コネクタ 1051">
            <a:extLst>
              <a:ext uri="{FF2B5EF4-FFF2-40B4-BE49-F238E27FC236}">
                <a16:creationId xmlns:a16="http://schemas.microsoft.com/office/drawing/2014/main" id="{5B4E7079-E54A-2282-BDB8-487FFE5E8981}"/>
              </a:ext>
            </a:extLst>
          </p:cNvPr>
          <p:cNvCxnSpPr>
            <a:cxnSpLocks/>
          </p:cNvCxnSpPr>
          <p:nvPr/>
        </p:nvCxnSpPr>
        <p:spPr>
          <a:xfrm>
            <a:off x="5242891" y="4971540"/>
            <a:ext cx="2486278" cy="256434"/>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7" name="矢印: 右 6">
            <a:extLst>
              <a:ext uri="{FF2B5EF4-FFF2-40B4-BE49-F238E27FC236}">
                <a16:creationId xmlns:a16="http://schemas.microsoft.com/office/drawing/2014/main" id="{9EC51A72-DCD0-B1E9-7CCE-6674E65DC641}"/>
              </a:ext>
            </a:extLst>
          </p:cNvPr>
          <p:cNvSpPr/>
          <p:nvPr/>
        </p:nvSpPr>
        <p:spPr>
          <a:xfrm rot="5400000">
            <a:off x="6436767" y="3831408"/>
            <a:ext cx="349205" cy="392774"/>
          </a:xfrm>
          <a:prstGeom prst="right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p>
        </p:txBody>
      </p:sp>
      <p:sp>
        <p:nvSpPr>
          <p:cNvPr id="41" name="四角形: 角を丸くする 40">
            <a:extLst>
              <a:ext uri="{FF2B5EF4-FFF2-40B4-BE49-F238E27FC236}">
                <a16:creationId xmlns:a16="http://schemas.microsoft.com/office/drawing/2014/main" id="{3DEB8AF5-27EB-F2A5-5738-9D4876D62932}"/>
              </a:ext>
            </a:extLst>
          </p:cNvPr>
          <p:cNvSpPr/>
          <p:nvPr/>
        </p:nvSpPr>
        <p:spPr>
          <a:xfrm>
            <a:off x="1331634" y="5386674"/>
            <a:ext cx="3965148" cy="1126724"/>
          </a:xfrm>
          <a:prstGeom prst="roundRect">
            <a:avLst>
              <a:gd name="adj" fmla="val 8129"/>
            </a:avLst>
          </a:prstGeom>
          <a:solidFill>
            <a:schemeClr val="bg1">
              <a:lumMod val="85000"/>
            </a:schemeClr>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3" name="図 42">
            <a:extLst>
              <a:ext uri="{FF2B5EF4-FFF2-40B4-BE49-F238E27FC236}">
                <a16:creationId xmlns:a16="http://schemas.microsoft.com/office/drawing/2014/main" id="{F4AEE4F6-B4F2-3B63-B340-970573C6BC9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407362" y="5422614"/>
            <a:ext cx="1068810" cy="1060107"/>
          </a:xfrm>
          <a:prstGeom prst="rect">
            <a:avLst/>
          </a:prstGeom>
        </p:spPr>
      </p:pic>
      <p:sp>
        <p:nvSpPr>
          <p:cNvPr id="50" name="テキスト ボックス 49">
            <a:extLst>
              <a:ext uri="{FF2B5EF4-FFF2-40B4-BE49-F238E27FC236}">
                <a16:creationId xmlns:a16="http://schemas.microsoft.com/office/drawing/2014/main" id="{9E529396-156F-55A0-24A1-E3F30C8D079F}"/>
              </a:ext>
            </a:extLst>
          </p:cNvPr>
          <p:cNvSpPr txBox="1"/>
          <p:nvPr/>
        </p:nvSpPr>
        <p:spPr>
          <a:xfrm>
            <a:off x="2607260" y="6011736"/>
            <a:ext cx="1740223" cy="430887"/>
          </a:xfrm>
          <a:prstGeom prst="rect">
            <a:avLst/>
          </a:prstGeom>
          <a:noFill/>
        </p:spPr>
        <p:txBody>
          <a:bodyPr wrap="square">
            <a:spAutoFit/>
          </a:bodyPr>
          <a:lstStyle/>
          <a:p>
            <a:r>
              <a:rPr lang="ja-JP" altLang="ja-JP" sz="1050" b="1" dirty="0">
                <a:latin typeface="メイリオ" panose="020B0604030504040204" pitchFamily="50" charset="-128"/>
                <a:ea typeface="メイリオ" panose="020B0604030504040204" pitchFamily="50" charset="-128"/>
              </a:rPr>
              <a:t>QRコードを読み取って</a:t>
            </a:r>
            <a:endParaRPr lang="en-US" altLang="ja-JP" sz="1050" b="1" dirty="0">
              <a:latin typeface="メイリオ" panose="020B0604030504040204" pitchFamily="50" charset="-128"/>
              <a:ea typeface="メイリオ" panose="020B0604030504040204" pitchFamily="50" charset="-128"/>
            </a:endParaRPr>
          </a:p>
          <a:p>
            <a:r>
              <a:rPr lang="ja-JP" altLang="ja-JP" sz="1050" b="1" dirty="0">
                <a:latin typeface="メイリオ" panose="020B0604030504040204" pitchFamily="50" charset="-128"/>
                <a:ea typeface="メイリオ" panose="020B0604030504040204" pitchFamily="50" charset="-128"/>
              </a:rPr>
              <a:t>動画を見る（約22秒）</a:t>
            </a:r>
            <a:endParaRPr lang="en-US" altLang="ja-JP" sz="1050" b="1" dirty="0">
              <a:latin typeface="メイリオ" panose="020B0604030504040204" pitchFamily="50" charset="-128"/>
              <a:ea typeface="メイリオ" panose="020B0604030504040204" pitchFamily="50" charset="-128"/>
            </a:endParaRPr>
          </a:p>
        </p:txBody>
      </p:sp>
      <p:sp>
        <p:nvSpPr>
          <p:cNvPr id="52" name="テキスト ボックス 51">
            <a:extLst>
              <a:ext uri="{FF2B5EF4-FFF2-40B4-BE49-F238E27FC236}">
                <a16:creationId xmlns:a16="http://schemas.microsoft.com/office/drawing/2014/main" id="{FA39FB9E-0354-C79E-71A4-67DB6A28B75A}"/>
              </a:ext>
            </a:extLst>
          </p:cNvPr>
          <p:cNvSpPr txBox="1"/>
          <p:nvPr/>
        </p:nvSpPr>
        <p:spPr>
          <a:xfrm>
            <a:off x="4032248" y="5546685"/>
            <a:ext cx="869321" cy="276999"/>
          </a:xfrm>
          <a:prstGeom prst="rect">
            <a:avLst/>
          </a:prstGeom>
          <a:solidFill>
            <a:schemeClr val="tx2"/>
          </a:solidFill>
        </p:spPr>
        <p:txBody>
          <a:bodyPr wrap="square">
            <a:spAutoFit/>
          </a:bodyPr>
          <a:lstStyle/>
          <a:p>
            <a:r>
              <a:rPr lang="ja-JP" altLang="en-US" sz="1200" dirty="0">
                <a:solidFill>
                  <a:schemeClr val="bg1"/>
                </a:solidFill>
                <a:latin typeface="メイリオ" panose="020B0604030504040204" pitchFamily="50" charset="-128"/>
                <a:ea typeface="メイリオ" panose="020B0604030504040204" pitchFamily="50" charset="-128"/>
                <a:hlinkClick r:id="rId11">
                  <a:extLst>
                    <a:ext uri="{A12FA001-AC4F-418D-AE19-62706E023703}">
                      <ahyp:hlinkClr xmlns:ahyp="http://schemas.microsoft.com/office/drawing/2018/hyperlinkcolor" val="tx"/>
                    </a:ext>
                  </a:extLst>
                </a:hlinkClick>
              </a:rPr>
              <a:t>再生</a:t>
            </a:r>
            <a:r>
              <a:rPr lang="ja-JP" altLang="en-US" sz="1200" dirty="0">
                <a:solidFill>
                  <a:srgbClr val="0000FF"/>
                </a:solidFill>
                <a:latin typeface="メイリオ" panose="020B0604030504040204" pitchFamily="50" charset="-128"/>
                <a:ea typeface="メイリオ" panose="020B0604030504040204" pitchFamily="50" charset="-128"/>
                <a:hlinkClick r:id="rId11">
                  <a:extLst>
                    <a:ext uri="{A12FA001-AC4F-418D-AE19-62706E023703}">
                      <ahyp:hlinkClr xmlns:ahyp="http://schemas.microsoft.com/office/drawing/2018/hyperlinkcolor" val="tx"/>
                    </a:ext>
                  </a:extLst>
                </a:hlinkClick>
              </a:rPr>
              <a:t> </a:t>
            </a:r>
            <a:r>
              <a:rPr lang="en-US" altLang="ja-JP" sz="1200" dirty="0">
                <a:solidFill>
                  <a:schemeClr val="bg1"/>
                </a:solidFill>
                <a:latin typeface="メイリオ" panose="020B0604030504040204" pitchFamily="50" charset="-128"/>
                <a:ea typeface="メイリオ" panose="020B0604030504040204" pitchFamily="50" charset="-128"/>
                <a:hlinkClick r:id="rId11">
                  <a:extLst>
                    <a:ext uri="{A12FA001-AC4F-418D-AE19-62706E023703}">
                      <ahyp:hlinkClr xmlns:ahyp="http://schemas.microsoft.com/office/drawing/2018/hyperlinkcolor" val="tx"/>
                    </a:ext>
                  </a:extLst>
                </a:hlinkClick>
              </a:rPr>
              <a:t>[▷]</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54" name="テキスト ボックス 53">
            <a:extLst>
              <a:ext uri="{FF2B5EF4-FFF2-40B4-BE49-F238E27FC236}">
                <a16:creationId xmlns:a16="http://schemas.microsoft.com/office/drawing/2014/main" id="{C2099EF7-D4DC-D52C-E0A5-F84C559A9E47}"/>
              </a:ext>
            </a:extLst>
          </p:cNvPr>
          <p:cNvSpPr txBox="1"/>
          <p:nvPr/>
        </p:nvSpPr>
        <p:spPr>
          <a:xfrm>
            <a:off x="2648894" y="5570417"/>
            <a:ext cx="1740223" cy="253916"/>
          </a:xfrm>
          <a:prstGeom prst="rect">
            <a:avLst/>
          </a:prstGeom>
          <a:noFill/>
        </p:spPr>
        <p:txBody>
          <a:bodyPr wrap="square">
            <a:spAutoFit/>
          </a:bodyPr>
          <a:lstStyle/>
          <a:p>
            <a:r>
              <a:rPr lang="ja-JP" altLang="en-US" sz="1050" b="1" dirty="0">
                <a:latin typeface="メイリオ" panose="020B0604030504040204" pitchFamily="50" charset="-128"/>
                <a:ea typeface="メイリオ" panose="020B0604030504040204" pitchFamily="50" charset="-128"/>
              </a:rPr>
              <a:t>クリックして再生</a:t>
            </a:r>
            <a:endParaRPr lang="en-US" altLang="ja-JP" sz="1050" b="1" dirty="0">
              <a:latin typeface="メイリオ" panose="020B0604030504040204" pitchFamily="50" charset="-128"/>
              <a:ea typeface="メイリオ" panose="020B0604030504040204" pitchFamily="50" charset="-128"/>
            </a:endParaRPr>
          </a:p>
        </p:txBody>
      </p:sp>
      <p:sp>
        <p:nvSpPr>
          <p:cNvPr id="1053" name="Rectangle 1052"/>
          <p:cNvSpPr/>
          <p:nvPr/>
        </p:nvSpPr>
        <p:spPr>
          <a:xfrm>
            <a:off x="4178808" y="1216152"/>
            <a:ext cx="1143000" cy="256032"/>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18000" tIns="0" rIns="18000" bIns="0" rtlCol="0" anchor="ctr"/>
          <a:lstStyle/>
          <a:p>
            <a:pPr algn="ctr">
              <a:lnSpc>
                <a:spcPct val="110000"/>
              </a:lnSpc>
              <a:spcAft>
                <a:spcPts val="0"/>
              </a:spcAft>
            </a:pPr>
            <a:r>
              <a:rPr sz="1100" b="1">
                <a:solidFill>
                  <a:srgbClr val="FFFFFF"/>
                </a:solidFill>
                <a:latin typeface="メイリオ"/>
                <a:ea typeface="メイリオ"/>
                <a:cs typeface="メイリオ"/>
              </a:rPr>
              <a:t>初期：15万円</a:t>
            </a:r>
          </a:p>
        </p:txBody>
      </p:sp>
      <p:sp>
        <p:nvSpPr>
          <p:cNvPr id="1054" name="Rectangle 1053"/>
          <p:cNvSpPr/>
          <p:nvPr/>
        </p:nvSpPr>
        <p:spPr>
          <a:xfrm>
            <a:off x="5394960" y="1216152"/>
            <a:ext cx="2103120" cy="256032"/>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18000" tIns="0" rIns="18000" bIns="0" rtlCol="0" anchor="ctr"/>
          <a:lstStyle/>
          <a:p>
            <a:pPr algn="ctr">
              <a:lnSpc>
                <a:spcPct val="110000"/>
              </a:lnSpc>
              <a:spcAft>
                <a:spcPts val="0"/>
              </a:spcAft>
            </a:pPr>
            <a:r>
              <a:rPr sz="1100" b="1">
                <a:solidFill>
                  <a:srgbClr val="FFFFFF"/>
                </a:solidFill>
                <a:latin typeface="メイリオ"/>
                <a:ea typeface="メイリオ"/>
                <a:cs typeface="メイリオ"/>
              </a:rPr>
              <a:t>月額3万円〜＋設定地点追加</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Google Shape;752;p28">
            <a:extLst>
              <a:ext uri="{FF2B5EF4-FFF2-40B4-BE49-F238E27FC236}">
                <a16:creationId xmlns:a16="http://schemas.microsoft.com/office/drawing/2014/main" id="{88CD823C-3E61-5E93-B9FE-BD623737FC13}"/>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05</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403775D4-CF2D-3023-3056-9E596BBE8648}"/>
              </a:ext>
            </a:extLst>
          </p:cNvPr>
          <p:cNvSpPr txBox="1"/>
          <p:nvPr/>
        </p:nvSpPr>
        <p:spPr>
          <a:xfrm>
            <a:off x="1867143" y="1043132"/>
            <a:ext cx="5028957"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今後の展開</a:t>
            </a:r>
          </a:p>
        </p:txBody>
      </p:sp>
      <p:cxnSp>
        <p:nvCxnSpPr>
          <p:cNvPr id="17" name="直線コネクタ 16">
            <a:extLst>
              <a:ext uri="{FF2B5EF4-FFF2-40B4-BE49-F238E27FC236}">
                <a16:creationId xmlns:a16="http://schemas.microsoft.com/office/drawing/2014/main" id="{24E0D700-8F0C-AA59-0C53-7B51F6E65BAA}"/>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rgbClr val="323366"/>
                </a:solidFill>
                <a:effectLst/>
                <a:uFillTx/>
                <a:latin typeface="メイリオ"/>
                <a:ea typeface="メイリオ"/>
              </a:rPr>
              <a:t>今後の展開：青森店で型を作り、全店へ横展開する</a:t>
            </a:r>
            <a:endParaRPr lang="en-US" sz="1600" b="0" u="none" strike="noStrike" dirty="0">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配信の仕組みとコンテンツは、他の店舗・別のターゲットにそのまま転用できる</a:t>
            </a:r>
            <a:endParaRPr lang="en-US" sz="1400" b="1" u="none" strike="noStrike" dirty="0">
              <a:effectLst/>
              <a:uFillTx/>
              <a:latin typeface="メイリオ"/>
            </a:endParaRPr>
          </a:p>
        </p:txBody>
      </p:sp>
      <p:sp>
        <p:nvSpPr>
          <p:cNvPr id="7" name="見出し 青森店で確立する型"/>
          <p:cNvSpPr/>
          <p:nvPr/>
        </p:nvSpPr>
        <p:spPr>
          <a:xfrm>
            <a:off x="502920" y="1691640"/>
            <a:ext cx="3383280"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青森店で確立する型</a:t>
            </a:r>
            <a:endParaRPr lang="ja-JP" altLang="en-US" sz="1300" dirty="0"/>
          </a:p>
        </p:txBody>
      </p:sp>
      <p:sp>
        <p:nvSpPr>
          <p:cNvPr id="8" name="型1"/>
          <p:cNvSpPr/>
          <p:nvPr/>
        </p:nvSpPr>
        <p:spPr>
          <a:xfrm>
            <a:off x="502920" y="2103120"/>
            <a:ext cx="3383280" cy="777240"/>
          </a:xfrm>
          <a:prstGeom prst="rect">
            <a:avLst/>
          </a:prstGeom>
          <a:noFill/>
          <a:ln w="9525">
            <a:solidFill>
              <a:srgbClr val="1F285A"/>
            </a:solidFill>
          </a:ln>
        </p:spPr>
        <p:txBody>
          <a:bodyPr wrap="square" lIns="137160" tIns="36576" rIns="91440" bIns="36576" rtlCol="0" anchor="ctr">
            <a:noAutofit/>
          </a:bodyPr>
          <a:lstStyle/>
          <a:p>
            <a:pPr algn="l">
              <a:lnSpc>
                <a:spcPct val="115000"/>
              </a:lnSpc>
              <a:buNone/>
            </a:pPr>
            <a:r>
              <a:rPr lang="ja-JP" altLang="en-US" sz="1300" b="1" dirty="0">
                <a:solidFill>
                  <a:srgbClr val="1F285A"/>
                </a:solidFill>
                <a:latin typeface="メイリオ" panose="020B0604030504040204" pitchFamily="50" charset="-128"/>
                <a:ea typeface="メイリオ" panose="020B0604030504040204" pitchFamily="50" charset="-128"/>
              </a:rPr>
              <a:t>① 入口</a:t>
            </a:r>
            <a:endParaRPr lang="ja-JP" altLang="en-US" sz="1300" dirty="0"/>
          </a:p>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rPr>
              <a:t>資料請求・来場予約・サイトからLINEへ</a:t>
            </a:r>
            <a:endParaRPr lang="ja-JP" altLang="en-US" sz="1300" dirty="0"/>
          </a:p>
        </p:txBody>
      </p:sp>
      <p:sp>
        <p:nvSpPr>
          <p:cNvPr id="9" name="型2"/>
          <p:cNvSpPr/>
          <p:nvPr/>
        </p:nvSpPr>
        <p:spPr>
          <a:xfrm>
            <a:off x="502920" y="2944368"/>
            <a:ext cx="3383280" cy="777240"/>
          </a:xfrm>
          <a:prstGeom prst="rect">
            <a:avLst/>
          </a:prstGeom>
          <a:noFill/>
          <a:ln w="9525">
            <a:solidFill>
              <a:srgbClr val="1F285A"/>
            </a:solidFill>
          </a:ln>
        </p:spPr>
        <p:txBody>
          <a:bodyPr wrap="square" lIns="137160" tIns="36576" rIns="91440" bIns="36576" rtlCol="0" anchor="ctr">
            <a:noAutofit/>
          </a:bodyPr>
          <a:lstStyle/>
          <a:p>
            <a:pPr algn="l">
              <a:lnSpc>
                <a:spcPct val="115000"/>
              </a:lnSpc>
              <a:buNone/>
            </a:pPr>
            <a:r>
              <a:rPr lang="ja-JP" altLang="en-US" sz="1300" b="1" dirty="0">
                <a:solidFill>
                  <a:srgbClr val="1F285A"/>
                </a:solidFill>
                <a:latin typeface="メイリオ" panose="020B0604030504040204" pitchFamily="50" charset="-128"/>
                <a:ea typeface="メイリオ" panose="020B0604030504040204" pitchFamily="50" charset="-128"/>
              </a:rPr>
              <a:t>② 配信</a:t>
            </a:r>
            <a:endParaRPr lang="ja-JP" altLang="en-US" sz="1300" dirty="0"/>
          </a:p>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rPr>
              <a:t>検討の順番に沿ったステップ配信</a:t>
            </a:r>
            <a:endParaRPr lang="ja-JP" altLang="en-US" sz="1300" dirty="0"/>
          </a:p>
        </p:txBody>
      </p:sp>
      <p:sp>
        <p:nvSpPr>
          <p:cNvPr id="10" name="型3"/>
          <p:cNvSpPr/>
          <p:nvPr/>
        </p:nvSpPr>
        <p:spPr>
          <a:xfrm>
            <a:off x="502920" y="3785615"/>
            <a:ext cx="3383280" cy="777240"/>
          </a:xfrm>
          <a:prstGeom prst="rect">
            <a:avLst/>
          </a:prstGeom>
          <a:noFill/>
          <a:ln w="9525">
            <a:solidFill>
              <a:srgbClr val="1F285A"/>
            </a:solidFill>
          </a:ln>
        </p:spPr>
        <p:txBody>
          <a:bodyPr wrap="square" lIns="137160" tIns="36576" rIns="91440" bIns="36576" rtlCol="0" anchor="ctr">
            <a:noAutofit/>
          </a:bodyPr>
          <a:lstStyle/>
          <a:p>
            <a:pPr algn="l">
              <a:lnSpc>
                <a:spcPct val="115000"/>
              </a:lnSpc>
              <a:buNone/>
            </a:pPr>
            <a:r>
              <a:rPr lang="ja-JP" altLang="en-US" sz="1300" b="1" dirty="0">
                <a:solidFill>
                  <a:srgbClr val="1F285A"/>
                </a:solidFill>
                <a:latin typeface="メイリオ" panose="020B0604030504040204" pitchFamily="50" charset="-128"/>
                <a:ea typeface="メイリオ" panose="020B0604030504040204" pitchFamily="50" charset="-128"/>
              </a:rPr>
              <a:t>③ 改善</a:t>
            </a:r>
            <a:endParaRPr lang="ja-JP" altLang="en-US" sz="1300" dirty="0"/>
          </a:p>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rPr>
              <a:t>来場・契約の結果を見て、配信と広告を見直す</a:t>
            </a:r>
            <a:endParaRPr lang="ja-JP" altLang="en-US" sz="1300" dirty="0"/>
          </a:p>
        </p:txBody>
      </p:sp>
      <p:sp>
        <p:nvSpPr>
          <p:cNvPr id="11" name="矢印"/>
          <p:cNvSpPr/>
          <p:nvPr/>
        </p:nvSpPr>
        <p:spPr>
          <a:xfrm>
            <a:off x="3931920" y="2103120"/>
            <a:ext cx="457199" cy="2359152"/>
          </a:xfrm>
          <a:prstGeom prst="rect">
            <a:avLst/>
          </a:prstGeom>
          <a:noFill/>
          <a:ln>
            <a:noFill/>
          </a:ln>
        </p:spPr>
        <p:txBody>
          <a:bodyPr wrap="square" lIns="0" tIns="0" rIns="0" bIns="0" rtlCol="0" anchor="ctr">
            <a:noAutofit/>
          </a:bodyPr>
          <a:lstStyle/>
          <a:p>
            <a:pPr algn="ctr">
              <a:buNone/>
            </a:pPr>
            <a:r>
              <a:rPr lang="ja-JP" altLang="en-US" sz="18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12" name="見出し 横展開"/>
          <p:cNvSpPr/>
          <p:nvPr/>
        </p:nvSpPr>
        <p:spPr>
          <a:xfrm>
            <a:off x="4434840" y="1691640"/>
            <a:ext cx="4965192"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横展開</a:t>
            </a:r>
            <a:endParaRPr lang="ja-JP" altLang="en-US" sz="1300" dirty="0"/>
          </a:p>
        </p:txBody>
      </p:sp>
      <p:graphicFrame>
        <p:nvGraphicFramePr>
          <p:cNvPr id="13" name="横展開 12"/>
          <p:cNvGraphicFramePr>
            <a:graphicFrameLocks noGrp="1"/>
          </p:cNvGraphicFramePr>
          <p:nvPr/>
        </p:nvGraphicFramePr>
        <p:xfrm>
          <a:off x="4434840" y="2103120"/>
          <a:ext cx="4965192" cy="2359152"/>
        </p:xfrm>
        <a:graphic>
          <a:graphicData uri="http://schemas.openxmlformats.org/drawingml/2006/table">
            <a:tbl>
              <a:tblPr/>
              <a:tblGrid>
                <a:gridCol w="868680">
                  <a:extLst>
                    <a:ext uri="{9D8B030D-6E8A-4147-A177-3AD203B41FA5}">
                      <a16:colId xmlns:a16="http://schemas.microsoft.com/office/drawing/2014/main" val="20000"/>
                    </a:ext>
                  </a:extLst>
                </a:gridCol>
                <a:gridCol w="1783080">
                  <a:extLst>
                    <a:ext uri="{9D8B030D-6E8A-4147-A177-3AD203B41FA5}">
                      <a16:colId xmlns:a16="http://schemas.microsoft.com/office/drawing/2014/main" val="20001"/>
                    </a:ext>
                  </a:extLst>
                </a:gridCol>
                <a:gridCol w="2313432">
                  <a:extLst>
                    <a:ext uri="{9D8B030D-6E8A-4147-A177-3AD203B41FA5}">
                      <a16:colId xmlns:a16="http://schemas.microsoft.com/office/drawing/2014/main" val="20002"/>
                    </a:ext>
                  </a:extLst>
                </a:gridCol>
              </a:tblGrid>
              <a:tr h="786384">
                <a:tc>
                  <a:txBody>
                    <a:bodyPr/>
                    <a:lstStyle/>
                    <a:p>
                      <a:pPr algn="ctr">
                        <a:buNone/>
                      </a:pPr>
                      <a:r>
                        <a:rPr lang="ja-JP" altLang="en-US" sz="1250" b="1" dirty="0">
                          <a:solidFill>
                            <a:srgbClr val="1F285A"/>
                          </a:solidFill>
                          <a:latin typeface="メイリオ" panose="020B0604030504040204" pitchFamily="50" charset="-128"/>
                          <a:ea typeface="メイリオ" panose="020B0604030504040204" pitchFamily="50" charset="-128"/>
                        </a:rPr>
                        <a:t>店舗</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八戸・おいらせ・弘前</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店舗ごとのQR・URLで、配信を分ける</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786384">
                <a:tc>
                  <a:txBody>
                    <a:bodyPr/>
                    <a:lstStyle/>
                    <a:p>
                      <a:pPr algn="ctr">
                        <a:buNone/>
                      </a:pPr>
                      <a:r>
                        <a:rPr lang="ja-JP" altLang="en-US" sz="1250" b="1" dirty="0">
                          <a:solidFill>
                            <a:srgbClr val="1F285A"/>
                          </a:solidFill>
                          <a:latin typeface="メイリオ" panose="020B0604030504040204" pitchFamily="50" charset="-128"/>
                          <a:ea typeface="メイリオ" panose="020B0604030504040204" pitchFamily="50" charset="-128"/>
                        </a:rPr>
                        <a:t>商品</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注文住宅・分譲・土地</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希望に合わせた配信</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86384">
                <a:tc>
                  <a:txBody>
                    <a:bodyPr/>
                    <a:lstStyle/>
                    <a:p>
                      <a:pPr algn="ctr">
                        <a:buNone/>
                      </a:pPr>
                      <a:r>
                        <a:rPr lang="ja-JP" altLang="en-US" sz="1250" b="1" dirty="0">
                          <a:solidFill>
                            <a:srgbClr val="1F285A"/>
                          </a:solidFill>
                          <a:latin typeface="メイリオ" panose="020B0604030504040204" pitchFamily="50" charset="-128"/>
                          <a:ea typeface="メイリオ" panose="020B0604030504040204" pitchFamily="50" charset="-128"/>
                        </a:rPr>
                        <a:t>層</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検討中・来場済・OB施主</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段階に合わせた配信（OB施主には紹介・点検の案内）</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bl>
          </a:graphicData>
        </a:graphic>
      </p:graphicFrame>
      <p:sp>
        <p:nvSpPr>
          <p:cNvPr id="14" name="示唆"/>
          <p:cNvSpPr/>
          <p:nvPr/>
        </p:nvSpPr>
        <p:spPr>
          <a:xfrm>
            <a:off x="502920" y="5074920"/>
            <a:ext cx="8897112" cy="566928"/>
          </a:xfrm>
          <a:prstGeom prst="rect">
            <a:avLst/>
          </a:prstGeom>
          <a:solidFill>
            <a:srgbClr val="F4F7FF"/>
          </a:solidFill>
          <a:ln>
            <a:noFill/>
          </a:ln>
        </p:spPr>
        <p:txBody>
          <a:bodyPr wrap="square" lIns="73152" tIns="36576" rIns="73152" bIns="36576" rtlCol="0" anchor="ctr">
            <a:noAutofit/>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集客投資の効果を最大化するために、</a:t>
            </a:r>
            <a:r>
              <a:rPr lang="ja-JP" altLang="en-US" sz="1300" b="1" dirty="0">
                <a:solidFill>
                  <a:srgbClr val="C00000"/>
                </a:solidFill>
                <a:latin typeface="メイリオ" panose="020B0604030504040204" pitchFamily="50" charset="-128"/>
                <a:ea typeface="メイリオ" panose="020B0604030504040204" pitchFamily="50" charset="-128"/>
              </a:rPr>
              <a:t>今、LINEでつながる範囲を広げる</a:t>
            </a:r>
            <a:endParaRPr lang="ja-JP" altLang="en-US" sz="1200" dirty="0"/>
          </a:p>
        </p:txBody>
      </p:sp>
      <p:sp>
        <p:nvSpPr>
          <p:cNvPr id="15" name="注記"/>
          <p:cNvSpPr/>
          <p:nvPr/>
        </p:nvSpPr>
        <p:spPr>
          <a:xfrm>
            <a:off x="502920" y="5852160"/>
            <a:ext cx="8897112" cy="27432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※1つのアカウントで運用し、店舗・商品・層は友だち追加の経路とタグで分ける／既存のLINE公式アカウントを活用</a:t>
            </a:r>
            <a:endParaRPr lang="ja-JP" alt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スケジュール：検索が最も増える年明けまでに、LINEの仕組みを整える</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11月から設計・構築を進め、1月から運用を始める</a:t>
            </a:r>
            <a:endParaRPr lang="en-US" sz="1400" b="1" u="none" strike="noStrike" dirty="0">
              <a:effectLst/>
              <a:uFillTx/>
              <a:latin typeface="メイリオ"/>
            </a:endParaRPr>
          </a:p>
        </p:txBody>
      </p:sp>
      <p:sp>
        <p:nvSpPr>
          <p:cNvPr id="7" name="見出し 「平屋」の検索（青森県・月別）"/>
          <p:cNvSpPr/>
          <p:nvPr/>
        </p:nvSpPr>
        <p:spPr>
          <a:xfrm>
            <a:off x="502920" y="1691640"/>
            <a:ext cx="4069080"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「平屋」の検索（青森県・月別）</a:t>
            </a:r>
            <a:endParaRPr lang="ja-JP" altLang="en-US" sz="1300" dirty="0"/>
          </a:p>
        </p:txBody>
      </p:sp>
      <p:graphicFrame>
        <p:nvGraphicFramePr>
          <p:cNvPr id="8" name="検索の月別"/>
          <p:cNvGraphicFramePr>
            <a:graphicFrameLocks noGrp="1"/>
          </p:cNvGraphicFramePr>
          <p:nvPr/>
        </p:nvGraphicFramePr>
        <p:xfrm>
          <a:off x="502920" y="2103120"/>
          <a:ext cx="4069080" cy="2743200"/>
        </p:xfrm>
        <a:graphic>
          <a:graphicData uri="http://schemas.openxmlformats.org/drawingml/2006/chart">
            <c:chart xmlns:c="http://schemas.openxmlformats.org/drawingml/2006/chart" xmlns:r="http://schemas.openxmlformats.org/officeDocument/2006/relationships" r:id="rId2"/>
          </a:graphicData>
        </a:graphic>
      </p:graphicFrame>
      <p:sp>
        <p:nvSpPr>
          <p:cNvPr id="9" name="見出し 進め方"/>
          <p:cNvSpPr/>
          <p:nvPr/>
        </p:nvSpPr>
        <p:spPr>
          <a:xfrm>
            <a:off x="4800600" y="1691640"/>
            <a:ext cx="4599432"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進め方</a:t>
            </a:r>
            <a:endParaRPr lang="ja-JP" altLang="en-US" sz="1300" dirty="0"/>
          </a:p>
        </p:txBody>
      </p:sp>
      <p:graphicFrame>
        <p:nvGraphicFramePr>
          <p:cNvPr id="10" name="進め方 9"/>
          <p:cNvGraphicFramePr>
            <a:graphicFrameLocks noGrp="1"/>
          </p:cNvGraphicFramePr>
          <p:nvPr/>
        </p:nvGraphicFramePr>
        <p:xfrm>
          <a:off x="4800600" y="2103120"/>
          <a:ext cx="4599432" cy="2743200"/>
        </p:xfrm>
        <a:graphic>
          <a:graphicData uri="http://schemas.openxmlformats.org/drawingml/2006/table">
            <a:tbl>
              <a:tblPr/>
              <a:tblGrid>
                <a:gridCol w="868680">
                  <a:extLst>
                    <a:ext uri="{9D8B030D-6E8A-4147-A177-3AD203B41FA5}">
                      <a16:colId xmlns:a16="http://schemas.microsoft.com/office/drawing/2014/main" val="20000"/>
                    </a:ext>
                  </a:extLst>
                </a:gridCol>
                <a:gridCol w="3730752">
                  <a:extLst>
                    <a:ext uri="{9D8B030D-6E8A-4147-A177-3AD203B41FA5}">
                      <a16:colId xmlns:a16="http://schemas.microsoft.com/office/drawing/2014/main" val="20001"/>
                    </a:ext>
                  </a:extLst>
                </a:gridCol>
              </a:tblGrid>
              <a:tr h="685800">
                <a:tc>
                  <a:txBody>
                    <a:bodyPr/>
                    <a:lstStyle/>
                    <a:p>
                      <a:pPr algn="ctr">
                        <a:buNone/>
                      </a:pPr>
                      <a:r>
                        <a:rPr lang="ja-JP" altLang="en-US" sz="1250" b="1" dirty="0">
                          <a:solidFill>
                            <a:srgbClr val="1F285A"/>
                          </a:solidFill>
                          <a:latin typeface="メイリオ" panose="020B0604030504040204" pitchFamily="50" charset="-128"/>
                          <a:ea typeface="メイリオ" panose="020B0604030504040204" pitchFamily="50" charset="-128"/>
                        </a:rPr>
                        <a:t>11月</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設計：友だちの入口、配信の内容と順番、使う写真・動画の確認</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685800">
                <a:tc>
                  <a:txBody>
                    <a:bodyPr/>
                    <a:lstStyle/>
                    <a:p>
                      <a:pPr algn="ctr">
                        <a:buNone/>
                      </a:pPr>
                      <a:r>
                        <a:rPr lang="ja-JP" altLang="en-US" sz="1250" b="1" dirty="0">
                          <a:solidFill>
                            <a:srgbClr val="1F285A"/>
                          </a:solidFill>
                          <a:latin typeface="メイリオ" panose="020B0604030504040204" pitchFamily="50" charset="-128"/>
                          <a:ea typeface="メイリオ" panose="020B0604030504040204" pitchFamily="50" charset="-128"/>
                        </a:rPr>
                        <a:t>12月</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構築：離脱防止、ステップ配信、来場前のお知らせの型（サンクスLINE誘導はオプション）</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85800">
                <a:tc>
                  <a:txBody>
                    <a:bodyPr/>
                    <a:lstStyle/>
                    <a:p>
                      <a:pPr algn="ctr">
                        <a:buNone/>
                      </a:pPr>
                      <a:r>
                        <a:rPr lang="ja-JP" altLang="en-US" sz="1250" b="1" dirty="0">
                          <a:solidFill>
                            <a:srgbClr val="1F285A"/>
                          </a:solidFill>
                          <a:latin typeface="メイリオ" panose="020B0604030504040204" pitchFamily="50" charset="-128"/>
                          <a:ea typeface="メイリオ" panose="020B0604030504040204" pitchFamily="50" charset="-128"/>
                        </a:rPr>
                        <a:t>1月〜</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1" dirty="0">
                          <a:solidFill>
                            <a:srgbClr val="1F285A"/>
                          </a:solidFill>
                          <a:latin typeface="メイリオ" panose="020B0604030504040204" pitchFamily="50" charset="-128"/>
                          <a:ea typeface="メイリオ" panose="020B0604030504040204" pitchFamily="50" charset="-128"/>
                        </a:rPr>
                        <a:t>運用開始：検索が増える時期に、友だちを集めて配信する</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85800">
                <a:tc>
                  <a:txBody>
                    <a:bodyPr/>
                    <a:lstStyle/>
                    <a:p>
                      <a:pPr algn="ctr">
                        <a:buNone/>
                      </a:pPr>
                      <a:r>
                        <a:rPr lang="ja-JP" altLang="en-US" sz="1250" b="1" dirty="0">
                          <a:solidFill>
                            <a:srgbClr val="1F285A"/>
                          </a:solidFill>
                          <a:latin typeface="メイリオ" panose="020B0604030504040204" pitchFamily="50" charset="-128"/>
                          <a:ea typeface="メイリオ" panose="020B0604030504040204" pitchFamily="50" charset="-128"/>
                        </a:rPr>
                        <a:t>3月〜</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改善：来場・契約の結果を見て、配信と広告を見直す。他店舗への展開を準備</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1" name="注記"/>
          <p:cNvSpPr/>
          <p:nvPr/>
        </p:nvSpPr>
        <p:spPr>
          <a:xfrm>
            <a:off x="502920" y="5029200"/>
            <a:ext cx="8897112" cy="41148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※Googleトレンドより。2016年10月〜2026年9月で最も多い月を100とした値を、直近5年（2021年10月〜2026年9月）の月ごとに平均。全国の「注文住宅」も1〜2月が最も多い</a:t>
            </a:r>
            <a:endParaRPr lang="ja-JP" altLang="en-US" sz="1200" dirty="0"/>
          </a:p>
        </p:txBody>
      </p:sp>
      <p:sp>
        <p:nvSpPr>
          <p:cNvPr id="12" name="注記"/>
          <p:cNvSpPr/>
          <p:nvPr/>
        </p:nvSpPr>
        <p:spPr>
          <a:xfrm>
            <a:off x="502920" y="5468112"/>
            <a:ext cx="8897112" cy="27432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※スケジュールは、ご契約の時期により前後する</a:t>
            </a:r>
            <a:endParaRPr lang="ja-JP" alt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3" name="正方形/長方形 18"/>
          <p:cNvSpPr/>
          <p:nvPr/>
        </p:nvSpPr>
        <p:spPr>
          <a:xfrm>
            <a:off x="1649160" y="5820840"/>
            <a:ext cx="6192360" cy="373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defTabSz="914400">
              <a:lnSpc>
                <a:spcPct val="100000"/>
              </a:lnSpc>
              <a:spcBef>
                <a:spcPts val="167"/>
              </a:spcBef>
            </a:pPr>
            <a:r>
              <a:rPr lang="ja-JP" sz="830" b="1" u="none" strike="noStrike">
                <a:solidFill>
                  <a:srgbClr val="000000"/>
                </a:solidFill>
                <a:effectLst/>
                <a:uFillTx/>
                <a:latin typeface="メイリオ"/>
                <a:ea typeface="メイリオ"/>
              </a:rPr>
              <a:t>株式会社</a:t>
            </a:r>
            <a:r>
              <a:rPr lang="en-US" sz="830" b="1" u="none" strike="noStrike">
                <a:solidFill>
                  <a:srgbClr val="000000"/>
                </a:solidFill>
                <a:effectLst/>
                <a:uFillTx/>
                <a:latin typeface="メイリオ"/>
                <a:ea typeface="メイリオ"/>
              </a:rPr>
              <a:t>DYM</a:t>
            </a:r>
            <a:r>
              <a:rPr lang="ja-JP" sz="830" b="1" u="none" strike="noStrike">
                <a:solidFill>
                  <a:srgbClr val="000000"/>
                </a:solidFill>
                <a:effectLst/>
                <a:uFillTx/>
                <a:latin typeface="メイリオ"/>
                <a:ea typeface="メイリオ"/>
              </a:rPr>
              <a:t>　〒</a:t>
            </a:r>
            <a:r>
              <a:rPr lang="en-US" sz="830" b="1" u="none" strike="noStrike">
                <a:solidFill>
                  <a:srgbClr val="000000"/>
                </a:solidFill>
                <a:effectLst/>
                <a:uFillTx/>
                <a:latin typeface="メイリオ"/>
                <a:ea typeface="メイリオ"/>
              </a:rPr>
              <a:t>141-0032</a:t>
            </a:r>
            <a:r>
              <a:rPr lang="ja-JP" sz="830" b="1" u="none" strike="noStrike">
                <a:solidFill>
                  <a:srgbClr val="000000"/>
                </a:solidFill>
                <a:effectLst/>
                <a:uFillTx/>
                <a:latin typeface="メイリオ"/>
                <a:ea typeface="メイリオ"/>
              </a:rPr>
              <a:t>　東京都品川区大崎</a:t>
            </a:r>
            <a:r>
              <a:rPr lang="en-US" sz="830" b="1" u="none" strike="noStrike">
                <a:solidFill>
                  <a:srgbClr val="000000"/>
                </a:solidFill>
                <a:effectLst/>
                <a:uFillTx/>
                <a:latin typeface="メイリオ"/>
                <a:ea typeface="メイリオ"/>
              </a:rPr>
              <a:t>1-11-2</a:t>
            </a:r>
            <a:r>
              <a:rPr lang="ja-JP" sz="830" b="1" u="none" strike="noStrike">
                <a:solidFill>
                  <a:srgbClr val="000000"/>
                </a:solidFill>
                <a:effectLst/>
                <a:uFillTx/>
                <a:latin typeface="メイリオ"/>
                <a:ea typeface="メイリオ"/>
              </a:rPr>
              <a:t>　ゲートシティ大崎イーストタワー</a:t>
            </a:r>
            <a:r>
              <a:rPr lang="en-US" sz="830" b="1" u="none" strike="noStrike">
                <a:solidFill>
                  <a:srgbClr val="000000"/>
                </a:solidFill>
                <a:effectLst/>
                <a:uFillTx/>
                <a:latin typeface="メイリオ"/>
                <a:ea typeface="メイリオ"/>
              </a:rPr>
              <a:t>10</a:t>
            </a:r>
            <a:r>
              <a:rPr lang="ja-JP" sz="830" b="1" u="none" strike="noStrike">
                <a:solidFill>
                  <a:srgbClr val="000000"/>
                </a:solidFill>
                <a:effectLst/>
                <a:uFillTx/>
                <a:latin typeface="メイリオ"/>
                <a:ea typeface="メイリオ"/>
              </a:rPr>
              <a:t>階</a:t>
            </a:r>
            <a:endParaRPr lang="en-US" sz="830" b="0" u="none" strike="noStrike">
              <a:solidFill>
                <a:srgbClr val="000000"/>
              </a:solidFill>
              <a:effectLst/>
              <a:uFillTx/>
              <a:latin typeface="Arial"/>
            </a:endParaRPr>
          </a:p>
          <a:p>
            <a:pPr defTabSz="914400">
              <a:lnSpc>
                <a:spcPct val="100000"/>
              </a:lnSpc>
              <a:spcBef>
                <a:spcPts val="167"/>
              </a:spcBef>
            </a:pPr>
            <a:r>
              <a:rPr lang="en-US" sz="830" b="1" u="none" strike="noStrike">
                <a:solidFill>
                  <a:srgbClr val="000000"/>
                </a:solidFill>
                <a:effectLst/>
                <a:uFillTx/>
                <a:latin typeface="メイリオ"/>
                <a:ea typeface="メイリオ"/>
              </a:rPr>
              <a:t>TEL: 03-5745-0200</a:t>
            </a:r>
            <a:r>
              <a:rPr lang="ja-JP" sz="830" b="1" u="none" strike="noStrike">
                <a:solidFill>
                  <a:srgbClr val="000000"/>
                </a:solidFill>
                <a:effectLst/>
                <a:uFillTx/>
                <a:latin typeface="メイリオ"/>
                <a:ea typeface="メイリオ"/>
              </a:rPr>
              <a:t>　</a:t>
            </a:r>
            <a:r>
              <a:rPr lang="en-US" sz="830" b="1" u="none" strike="noStrike">
                <a:solidFill>
                  <a:srgbClr val="000000"/>
                </a:solidFill>
                <a:effectLst/>
                <a:uFillTx/>
                <a:latin typeface="メイリオ"/>
                <a:ea typeface="メイリオ"/>
              </a:rPr>
              <a:t>FAX: 03-3779-8720 </a:t>
            </a:r>
            <a:r>
              <a:rPr lang="ja-JP" sz="830" b="1" u="none" strike="noStrike">
                <a:solidFill>
                  <a:srgbClr val="000000"/>
                </a:solidFill>
                <a:effectLst/>
                <a:uFillTx/>
                <a:latin typeface="メイリオ"/>
                <a:ea typeface="メイリオ"/>
              </a:rPr>
              <a:t>　</a:t>
            </a:r>
            <a:r>
              <a:rPr lang="en-US" sz="830" b="1" u="none" strike="noStrike">
                <a:solidFill>
                  <a:srgbClr val="000000"/>
                </a:solidFill>
                <a:effectLst/>
                <a:uFillTx/>
                <a:latin typeface="メイリオ"/>
                <a:ea typeface="メイリオ"/>
              </a:rPr>
              <a:t>http://dym.asia   </a:t>
            </a:r>
            <a:r>
              <a:rPr lang="ja-JP" sz="830" b="1" u="none" strike="noStrike">
                <a:solidFill>
                  <a:srgbClr val="000000"/>
                </a:solidFill>
                <a:effectLst/>
                <a:uFillTx/>
                <a:latin typeface="メイリオ"/>
                <a:ea typeface="メイリオ"/>
              </a:rPr>
              <a:t>代表取締役　水谷佑毅</a:t>
            </a:r>
            <a:endParaRPr lang="en-US" sz="830" b="0" u="none" strike="noStrike">
              <a:solidFill>
                <a:srgbClr val="000000"/>
              </a:solidFill>
              <a:effectLst/>
              <a:uFillTx/>
              <a:latin typeface="Arial"/>
            </a:endParaRPr>
          </a:p>
        </p:txBody>
      </p:sp>
      <p:pic>
        <p:nvPicPr>
          <p:cNvPr id="1074" name="図 1"/>
          <p:cNvPicPr/>
          <p:nvPr/>
        </p:nvPicPr>
        <p:blipFill>
          <a:blip r:embed="rId3"/>
          <a:srcRect l="-1652" r="-11179"/>
          <a:stretch/>
        </p:blipFill>
        <p:spPr>
          <a:xfrm>
            <a:off x="543960" y="5895360"/>
            <a:ext cx="1100520" cy="224640"/>
          </a:xfrm>
          <a:prstGeom prst="rect">
            <a:avLst/>
          </a:prstGeom>
          <a:noFill/>
          <a:ln w="0">
            <a:noFill/>
          </a:ln>
        </p:spPr>
      </p:pic>
      <p:sp>
        <p:nvSpPr>
          <p:cNvPr id="1075" name="テキスト ボックス 2"/>
          <p:cNvSpPr/>
          <p:nvPr/>
        </p:nvSpPr>
        <p:spPr>
          <a:xfrm>
            <a:off x="5070240" y="5597640"/>
            <a:ext cx="184320" cy="3690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endParaRPr lang="en-US" sz="1800" b="0" u="none" strike="noStrike">
              <a:solidFill>
                <a:srgbClr val="000000"/>
              </a:solidFill>
              <a:effectLst/>
              <a:uFillTx/>
              <a:latin typeface="Arial"/>
              <a:ea typeface="ＭＳ Ｐゴシック"/>
            </a:endParaRPr>
          </a:p>
        </p:txBody>
      </p:sp>
      <p:sp>
        <p:nvSpPr>
          <p:cNvPr id="1076" name="正方形/長方形 17"/>
          <p:cNvSpPr/>
          <p:nvPr/>
        </p:nvSpPr>
        <p:spPr>
          <a:xfrm>
            <a:off x="2170080" y="989640"/>
            <a:ext cx="556560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360"/>
              </a:spcBef>
            </a:pPr>
            <a:r>
              <a:rPr lang="ja-JP" sz="1800" b="1" u="none" strike="noStrike">
                <a:solidFill>
                  <a:srgbClr val="000000"/>
                </a:solidFill>
                <a:effectLst/>
                <a:uFillTx/>
                <a:latin typeface="メイリオ"/>
                <a:ea typeface="メイリオ"/>
              </a:rPr>
              <a:t>貴社の明るい未来に必ず貢献致します。</a:t>
            </a:r>
            <a:endParaRPr lang="en-US" sz="1800" b="0" u="none" strike="noStrike">
              <a:solidFill>
                <a:srgbClr val="000000"/>
              </a:solidFill>
              <a:effectLst/>
              <a:uFillTx/>
              <a:latin typeface="Arial"/>
            </a:endParaRPr>
          </a:p>
        </p:txBody>
      </p:sp>
      <p:sp>
        <p:nvSpPr>
          <p:cNvPr id="1077" name="正方形/長方形 13"/>
          <p:cNvSpPr/>
          <p:nvPr/>
        </p:nvSpPr>
        <p:spPr>
          <a:xfrm>
            <a:off x="382680" y="2698200"/>
            <a:ext cx="597960" cy="205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147"/>
              </a:spcBef>
            </a:pPr>
            <a:r>
              <a:rPr lang="ja-JP" sz="740" b="0" u="none" strike="noStrike">
                <a:solidFill>
                  <a:srgbClr val="FFFFFF"/>
                </a:solidFill>
                <a:effectLst/>
                <a:uFillTx/>
                <a:latin typeface="メイリオ"/>
                <a:ea typeface="メイリオ"/>
              </a:rPr>
              <a:t>本社</a:t>
            </a:r>
            <a:endParaRPr lang="en-US" sz="740" b="0" u="none" strike="noStrike">
              <a:solidFill>
                <a:srgbClr val="000000"/>
              </a:solidFill>
              <a:effectLst/>
              <a:uFillTx/>
              <a:latin typeface="Arial"/>
            </a:endParaRPr>
          </a:p>
        </p:txBody>
      </p:sp>
      <p:sp>
        <p:nvSpPr>
          <p:cNvPr id="1078" name="正方形/長方形 14"/>
          <p:cNvSpPr/>
          <p:nvPr/>
        </p:nvSpPr>
        <p:spPr>
          <a:xfrm>
            <a:off x="368280" y="2355120"/>
            <a:ext cx="75636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159"/>
              </a:spcBef>
            </a:pPr>
            <a:r>
              <a:rPr lang="ja-JP" sz="800" b="0" u="none" strike="noStrike">
                <a:solidFill>
                  <a:srgbClr val="FFFFFF"/>
                </a:solidFill>
                <a:effectLst/>
                <a:uFillTx/>
                <a:latin typeface="メイリオ"/>
                <a:ea typeface="メイリオ"/>
              </a:rPr>
              <a:t>本社</a:t>
            </a:r>
            <a:endParaRPr lang="en-US" sz="800" b="0" u="none" strike="noStrike">
              <a:solidFill>
                <a:srgbClr val="000000"/>
              </a:solidFill>
              <a:effectLst/>
              <a:uFillTx/>
              <a:latin typeface="Arial"/>
            </a:endParaRPr>
          </a:p>
        </p:txBody>
      </p:sp>
      <p:grpSp>
        <p:nvGrpSpPr>
          <p:cNvPr id="1079" name="グループ化 21"/>
          <p:cNvGrpSpPr/>
          <p:nvPr/>
        </p:nvGrpSpPr>
        <p:grpSpPr>
          <a:xfrm>
            <a:off x="380880" y="1772640"/>
            <a:ext cx="9143640" cy="3314520"/>
            <a:chOff x="380880" y="1772640"/>
            <a:chExt cx="9143640" cy="3314520"/>
          </a:xfrm>
        </p:grpSpPr>
        <p:pic>
          <p:nvPicPr>
            <p:cNvPr id="1080" name="図 20" descr="ポーズをとる男性グループ&#10;&#10;自動的に生成された説明"/>
            <p:cNvPicPr/>
            <p:nvPr/>
          </p:nvPicPr>
          <p:blipFill>
            <a:blip r:embed="rId4"/>
            <a:srcRect l="3642" r="4070"/>
            <a:stretch/>
          </p:blipFill>
          <p:spPr>
            <a:xfrm>
              <a:off x="7354800" y="3518640"/>
              <a:ext cx="2169720" cy="1567440"/>
            </a:xfrm>
            <a:prstGeom prst="rect">
              <a:avLst/>
            </a:prstGeom>
            <a:noFill/>
            <a:ln w="0">
              <a:noFill/>
            </a:ln>
          </p:spPr>
        </p:pic>
        <p:pic>
          <p:nvPicPr>
            <p:cNvPr id="1081" name="図 15" descr="白いシャツを着ている男性&#10;&#10;中程度の精度で自動的に生成された説明"/>
            <p:cNvPicPr/>
            <p:nvPr/>
          </p:nvPicPr>
          <p:blipFill>
            <a:blip r:embed="rId5"/>
            <a:stretch/>
          </p:blipFill>
          <p:spPr>
            <a:xfrm>
              <a:off x="5364720" y="3519720"/>
              <a:ext cx="1989720" cy="1567440"/>
            </a:xfrm>
            <a:prstGeom prst="rect">
              <a:avLst/>
            </a:prstGeom>
            <a:noFill/>
            <a:ln w="0">
              <a:noFill/>
            </a:ln>
          </p:spPr>
        </p:pic>
        <p:pic>
          <p:nvPicPr>
            <p:cNvPr id="1082" name="図 9" descr="スーツを着た男性たち&#10;&#10;自動的に生成された説明"/>
            <p:cNvPicPr/>
            <p:nvPr/>
          </p:nvPicPr>
          <p:blipFill>
            <a:blip r:embed="rId6"/>
            <a:srcRect l="10699" r="10360"/>
            <a:stretch/>
          </p:blipFill>
          <p:spPr>
            <a:xfrm>
              <a:off x="7680600" y="1774080"/>
              <a:ext cx="1842120" cy="1745640"/>
            </a:xfrm>
            <a:prstGeom prst="rect">
              <a:avLst/>
            </a:prstGeom>
            <a:noFill/>
            <a:ln w="0">
              <a:noFill/>
            </a:ln>
          </p:spPr>
        </p:pic>
        <p:pic>
          <p:nvPicPr>
            <p:cNvPr id="1083" name="図 6" descr="講堂にいる人たち&#10;&#10;中程度の精度で自動的に生成された説明"/>
            <p:cNvPicPr/>
            <p:nvPr/>
          </p:nvPicPr>
          <p:blipFill>
            <a:blip r:embed="rId7"/>
            <a:srcRect l="2513" t="12878" r="2480"/>
            <a:stretch/>
          </p:blipFill>
          <p:spPr>
            <a:xfrm>
              <a:off x="380880" y="1772640"/>
              <a:ext cx="5089320" cy="3314520"/>
            </a:xfrm>
            <a:prstGeom prst="rect">
              <a:avLst/>
            </a:prstGeom>
            <a:noFill/>
            <a:ln w="0">
              <a:noFill/>
            </a:ln>
          </p:spPr>
        </p:pic>
        <p:pic>
          <p:nvPicPr>
            <p:cNvPr id="1084" name="図 10" descr="スーツを着た男性グループの写真&#10;&#10;低い精度で自動的に生成された説明"/>
            <p:cNvPicPr/>
            <p:nvPr/>
          </p:nvPicPr>
          <p:blipFill>
            <a:blip r:embed="rId8"/>
            <a:srcRect l="8592" r="6764"/>
            <a:stretch/>
          </p:blipFill>
          <p:spPr>
            <a:xfrm>
              <a:off x="5470920" y="1773000"/>
              <a:ext cx="2215080" cy="1745640"/>
            </a:xfrm>
            <a:prstGeom prst="rect">
              <a:avLst/>
            </a:prstGeom>
            <a:noFill/>
            <a:ln w="0">
              <a:noFill/>
            </a:ln>
          </p:spPr>
        </p:pic>
      </p:grpSp>
      <p:sp>
        <p:nvSpPr>
          <p:cNvPr id="1085" name="正方形/長方形 5"/>
          <p:cNvSpPr/>
          <p:nvPr/>
        </p:nvSpPr>
        <p:spPr>
          <a:xfrm>
            <a:off x="128160" y="6620400"/>
            <a:ext cx="2852640" cy="237240"/>
          </a:xfrm>
          <a:prstGeom prst="rect">
            <a:avLst/>
          </a:prstGeom>
          <a:solidFill>
            <a:srgbClr val="191F54"/>
          </a:solidFill>
          <a:ln>
            <a:solidFill>
              <a:srgbClr val="10253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86" name="正方形/長方形 1"/>
          <p:cNvSpPr/>
          <p:nvPr/>
        </p:nvSpPr>
        <p:spPr>
          <a:xfrm>
            <a:off x="368280" y="0"/>
            <a:ext cx="9537480" cy="514440"/>
          </a:xfrm>
          <a:prstGeom prst="rect">
            <a:avLst/>
          </a:prstGeom>
          <a:solidFill>
            <a:schemeClr val="bg1"/>
          </a:solidFill>
          <a:ln>
            <a:solidFill>
              <a:srgbClr val="FFFFFF"/>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0"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Appendix</a:t>
            </a:r>
            <a:endParaRPr lang="en-US" sz="1600" b="0" u="none" strike="noStrike">
              <a:solidFill>
                <a:srgbClr val="000000"/>
              </a:solidFill>
              <a:effectLst/>
              <a:uFillTx/>
              <a:latin typeface="メイリオ"/>
            </a:endParaRPr>
          </a:p>
        </p:txBody>
      </p:sp>
      <p:sp>
        <p:nvSpPr>
          <p:cNvPr id="981" name="正方形/長方形 1"/>
          <p:cNvSpPr/>
          <p:nvPr/>
        </p:nvSpPr>
        <p:spPr>
          <a:xfrm>
            <a:off x="2808720" y="3038040"/>
            <a:ext cx="428796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3200" b="1" u="none" strike="noStrike">
                <a:solidFill>
                  <a:schemeClr val="dk1">
                    <a:lumMod val="75000"/>
                    <a:lumOff val="25000"/>
                  </a:schemeClr>
                </a:solidFill>
                <a:effectLst/>
                <a:uFillTx/>
                <a:latin typeface="メイリオ"/>
                <a:ea typeface="メイリオ"/>
              </a:rPr>
              <a:t>参考資料</a:t>
            </a:r>
            <a:endParaRPr lang="en-US" sz="3200" b="0" u="none" strike="noStrike">
              <a:solidFill>
                <a:srgbClr val="000000"/>
              </a:solidFill>
              <a:effectLst/>
              <a:uFillTx/>
              <a:latin typeface="メイリオ"/>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1" name="正方形/長方形 7"/>
          <p:cNvSpPr/>
          <p:nvPr/>
        </p:nvSpPr>
        <p:spPr>
          <a:xfrm>
            <a:off x="789120" y="824760"/>
            <a:ext cx="8327880" cy="381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rPr>
              <a:t>ユーザーコミュニケーションに、</a:t>
            </a:r>
            <a:r>
              <a:rPr lang="en-US" sz="1400" b="0" u="none" strike="noStrike">
                <a:solidFill>
                  <a:srgbClr val="343434"/>
                </a:solidFill>
                <a:effectLst/>
                <a:uFillTx/>
                <a:latin typeface="メイリオ"/>
                <a:ea typeface="メイリオ"/>
              </a:rPr>
              <a:t>LINE</a:t>
            </a:r>
            <a:r>
              <a:rPr lang="ja-JP" sz="1400" b="0" u="none" strike="noStrike">
                <a:solidFill>
                  <a:srgbClr val="343434"/>
                </a:solidFill>
                <a:effectLst/>
                <a:uFillTx/>
                <a:latin typeface="メイリオ"/>
                <a:ea typeface="メイリオ"/>
              </a:rPr>
              <a:t>公式アカウントを導入する法人が増加傾向。</a:t>
            </a:r>
            <a:endParaRPr lang="en-US" sz="1400" b="0" u="none" strike="noStrike">
              <a:solidFill>
                <a:srgbClr val="000000"/>
              </a:solidFill>
              <a:effectLst/>
              <a:uFillTx/>
              <a:latin typeface="Arial"/>
            </a:endParaRPr>
          </a:p>
          <a:p>
            <a:pPr algn="ctr" defTabSz="914400">
              <a:lnSpc>
                <a:spcPts val="2455"/>
              </a:lnSpc>
            </a:pPr>
            <a:r>
              <a:rPr lang="ja-JP" sz="1400" b="1" u="none" strike="noStrike">
                <a:solidFill>
                  <a:srgbClr val="343434"/>
                </a:solidFill>
                <a:effectLst/>
                <a:uFillTx/>
                <a:latin typeface="メイリオ"/>
                <a:ea typeface="メイリオ"/>
              </a:rPr>
              <a:t>開封率に関してはメールマガジンの</a:t>
            </a:r>
            <a:r>
              <a:rPr lang="en-US" sz="1400" b="1" u="none" strike="noStrike">
                <a:solidFill>
                  <a:srgbClr val="343434"/>
                </a:solidFill>
                <a:effectLst/>
                <a:uFillTx/>
                <a:latin typeface="メイリオ"/>
                <a:ea typeface="メイリオ"/>
              </a:rPr>
              <a:t>6</a:t>
            </a:r>
            <a:r>
              <a:rPr lang="ja-JP" sz="1400" b="1" u="none" strike="noStrike">
                <a:solidFill>
                  <a:srgbClr val="343434"/>
                </a:solidFill>
                <a:effectLst/>
                <a:uFillTx/>
                <a:latin typeface="メイリオ"/>
                <a:ea typeface="メイリオ"/>
              </a:rPr>
              <a:t>倍を誇る</a:t>
            </a:r>
            <a:r>
              <a:rPr lang="ja-JP" sz="1400" b="0" u="none" strike="noStrike">
                <a:solidFill>
                  <a:srgbClr val="343434"/>
                </a:solidFill>
                <a:effectLst/>
                <a:uFillTx/>
                <a:latin typeface="メイリオ"/>
                <a:ea typeface="メイリオ"/>
              </a:rPr>
              <a:t>と言われています。</a:t>
            </a:r>
            <a:endParaRPr lang="en-US" sz="1400" b="0" u="none" strike="noStrike">
              <a:solidFill>
                <a:srgbClr val="000000"/>
              </a:solidFill>
              <a:effectLst/>
              <a:uFillTx/>
              <a:latin typeface="Arial"/>
            </a:endParaRPr>
          </a:p>
        </p:txBody>
      </p:sp>
      <p:cxnSp>
        <p:nvCxnSpPr>
          <p:cNvPr id="782" name="直線コネクタ 8"/>
          <p:cNvCxnSpPr/>
          <p:nvPr/>
        </p:nvCxnSpPr>
        <p:spPr>
          <a:xfrm>
            <a:off x="0" y="1390320"/>
            <a:ext cx="9906120" cy="360"/>
          </a:xfrm>
          <a:prstGeom prst="straightConnector1">
            <a:avLst/>
          </a:prstGeom>
          <a:ln w="19050">
            <a:solidFill>
              <a:schemeClr val="lt1">
                <a:lumMod val="85000"/>
                <a:alpha val="60000"/>
              </a:schemeClr>
            </a:solidFill>
            <a:round/>
          </a:ln>
        </p:spPr>
      </p:cxnSp>
      <p:grpSp>
        <p:nvGrpSpPr>
          <p:cNvPr id="783" name="Group 2"/>
          <p:cNvGrpSpPr/>
          <p:nvPr/>
        </p:nvGrpSpPr>
        <p:grpSpPr>
          <a:xfrm>
            <a:off x="789120" y="1526040"/>
            <a:ext cx="8365680" cy="858960"/>
            <a:chOff x="789120" y="1526040"/>
            <a:chExt cx="8365680" cy="858960"/>
          </a:xfrm>
        </p:grpSpPr>
        <p:sp>
          <p:nvSpPr>
            <p:cNvPr id="784" name="Freeform 3"/>
            <p:cNvSpPr/>
            <p:nvPr/>
          </p:nvSpPr>
          <p:spPr>
            <a:xfrm>
              <a:off x="789120" y="1653480"/>
              <a:ext cx="8365680" cy="731520"/>
            </a:xfrm>
            <a:custGeom>
              <a:avLst/>
              <a:gdLst>
                <a:gd name="textAreaLeft" fmla="*/ 0 w 8365680"/>
                <a:gd name="textAreaRight" fmla="*/ 8366040 w 8365680"/>
                <a:gd name="textAreaTop" fmla="*/ 0 h 731520"/>
                <a:gd name="textAreaBottom" fmla="*/ 731880 h 731520"/>
              </a:gdLst>
              <a:ahLst/>
              <a:cxnLst/>
              <a:rect l="textAreaLeft" t="textAreaTop" r="textAreaRight" b="textAreaBottom"/>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endParaRPr>
            </a:p>
          </p:txBody>
        </p:sp>
        <p:sp>
          <p:nvSpPr>
            <p:cNvPr id="785" name="TextBox 4"/>
            <p:cNvSpPr/>
            <p:nvPr/>
          </p:nvSpPr>
          <p:spPr>
            <a:xfrm>
              <a:off x="789120" y="1526040"/>
              <a:ext cx="8365680" cy="85860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455"/>
                </a:lnSpc>
              </a:pPr>
              <a:r>
                <a:rPr lang="ja-JP" sz="1400" b="0" u="none" strike="noStrike">
                  <a:solidFill>
                    <a:srgbClr val="040606"/>
                  </a:solidFill>
                  <a:effectLst/>
                  <a:uFillTx/>
                  <a:latin typeface="メイリオ"/>
                  <a:ea typeface="メイリオ"/>
                </a:rPr>
                <a:t>　　　　メールマガジン、テレマーケティング が主流</a:t>
              </a:r>
              <a:endParaRPr lang="en-US" sz="1400" b="0" u="none" strike="noStrike">
                <a:solidFill>
                  <a:srgbClr val="000000"/>
                </a:solidFill>
                <a:effectLst/>
                <a:uFillTx/>
                <a:latin typeface="Arial"/>
              </a:endParaRPr>
            </a:p>
          </p:txBody>
        </p:sp>
      </p:grpSp>
      <p:sp>
        <p:nvSpPr>
          <p:cNvPr id="786" name="Freeform 5"/>
          <p:cNvSpPr/>
          <p:nvPr/>
        </p:nvSpPr>
        <p:spPr>
          <a:xfrm>
            <a:off x="1045080" y="1864080"/>
            <a:ext cx="586080" cy="415440"/>
          </a:xfrm>
          <a:custGeom>
            <a:avLst/>
            <a:gdLst>
              <a:gd name="textAreaLeft" fmla="*/ 0 w 586080"/>
              <a:gd name="textAreaRight" fmla="*/ 586440 w 586080"/>
              <a:gd name="textAreaTop" fmla="*/ 0 h 415440"/>
              <a:gd name="textAreaBottom" fmla="*/ 415800 h 415440"/>
            </a:gdLst>
            <a:ahLst/>
            <a:cxnLst/>
            <a:rect l="textAreaLeft" t="textAreaTop" r="textAreaRight" b="textAreaBottom"/>
            <a:pathLst>
              <a:path w="586512" h="415690">
                <a:moveTo>
                  <a:pt x="0" y="0"/>
                </a:moveTo>
                <a:lnTo>
                  <a:pt x="586512" y="0"/>
                </a:lnTo>
                <a:lnTo>
                  <a:pt x="586512" y="415691"/>
                </a:lnTo>
                <a:lnTo>
                  <a:pt x="0" y="415691"/>
                </a:lnTo>
                <a:lnTo>
                  <a:pt x="0" y="0"/>
                </a:lnTo>
                <a:close/>
              </a:path>
            </a:pathLst>
          </a:custGeom>
          <a:blipFill rotWithShape="0">
            <a:blip>
              <a:extLst>
                <a:ext uri="{96DAC541-7B7A-43D3-8B79-37D633B846F1}">
                  <asvg:svgBlip xmlns:asvg="http://schemas.microsoft.com/office/drawing/2016/SVG/main" r:embed="rId2"/>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87" name="Freeform 6"/>
          <p:cNvSpPr/>
          <p:nvPr/>
        </p:nvSpPr>
        <p:spPr>
          <a:xfrm>
            <a:off x="1828440" y="1769040"/>
            <a:ext cx="384840" cy="302400"/>
          </a:xfrm>
          <a:custGeom>
            <a:avLst/>
            <a:gdLst>
              <a:gd name="textAreaLeft" fmla="*/ 0 w 384840"/>
              <a:gd name="textAreaRight" fmla="*/ 385200 w 384840"/>
              <a:gd name="textAreaTop" fmla="*/ 0 h 302400"/>
              <a:gd name="textAreaBottom" fmla="*/ 302760 h 302400"/>
            </a:gdLst>
            <a:ahLst/>
            <a:cxnLst/>
            <a:rect l="textAreaLeft" t="textAreaTop" r="textAreaRight" b="textAreaBottom"/>
            <a:pathLst>
              <a:path w="385149" h="302824">
                <a:moveTo>
                  <a:pt x="0" y="0"/>
                </a:moveTo>
                <a:lnTo>
                  <a:pt x="385150" y="0"/>
                </a:lnTo>
                <a:lnTo>
                  <a:pt x="385150" y="302824"/>
                </a:lnTo>
                <a:lnTo>
                  <a:pt x="0" y="302824"/>
                </a:lnTo>
                <a:lnTo>
                  <a:pt x="0" y="0"/>
                </a:lnTo>
                <a:close/>
              </a:path>
            </a:pathLst>
          </a:custGeom>
          <a:blipFill rotWithShape="0">
            <a:blip>
              <a:extLst>
                <a:ext uri="{96DAC541-7B7A-43D3-8B79-37D633B846F1}">
                  <asvg:svgBlip xmlns:asvg="http://schemas.microsoft.com/office/drawing/2016/SVG/main" r:embed="rId3"/>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grpSp>
        <p:nvGrpSpPr>
          <p:cNvPr id="788" name="Group 7"/>
          <p:cNvGrpSpPr/>
          <p:nvPr/>
        </p:nvGrpSpPr>
        <p:grpSpPr>
          <a:xfrm>
            <a:off x="4762440" y="2439720"/>
            <a:ext cx="418320" cy="207720"/>
            <a:chOff x="4762440" y="2439720"/>
            <a:chExt cx="418320" cy="207720"/>
          </a:xfrm>
        </p:grpSpPr>
        <p:sp>
          <p:nvSpPr>
            <p:cNvPr id="789" name="Freeform 8"/>
            <p:cNvSpPr/>
            <p:nvPr/>
          </p:nvSpPr>
          <p:spPr>
            <a:xfrm>
              <a:off x="4762440" y="2450160"/>
              <a:ext cx="418320" cy="197280"/>
            </a:xfrm>
            <a:custGeom>
              <a:avLst/>
              <a:gdLst>
                <a:gd name="textAreaLeft" fmla="*/ 0 w 418320"/>
                <a:gd name="textAreaRight" fmla="*/ 418680 w 418320"/>
                <a:gd name="textAreaTop" fmla="*/ 0 h 197280"/>
                <a:gd name="textAreaBottom" fmla="*/ 197640 h 19728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B44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90" name="TextBox 9"/>
            <p:cNvSpPr/>
            <p:nvPr/>
          </p:nvSpPr>
          <p:spPr>
            <a:xfrm>
              <a:off x="4827960" y="2439720"/>
              <a:ext cx="287640" cy="11592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800" b="0" u="none" strike="noStrike">
                <a:solidFill>
                  <a:schemeClr val="dk1"/>
                </a:solidFill>
                <a:effectLst/>
                <a:uFillTx/>
                <a:latin typeface="メイリオ"/>
                <a:ea typeface="メイリオ"/>
              </a:endParaRPr>
            </a:p>
          </p:txBody>
        </p:sp>
      </p:grpSp>
      <p:grpSp>
        <p:nvGrpSpPr>
          <p:cNvPr id="791" name="Group 10"/>
          <p:cNvGrpSpPr/>
          <p:nvPr/>
        </p:nvGrpSpPr>
        <p:grpSpPr>
          <a:xfrm>
            <a:off x="789120" y="2595240"/>
            <a:ext cx="8365680" cy="858600"/>
            <a:chOff x="789120" y="2595240"/>
            <a:chExt cx="8365680" cy="858600"/>
          </a:xfrm>
        </p:grpSpPr>
        <p:sp>
          <p:nvSpPr>
            <p:cNvPr id="792" name="Freeform 11"/>
            <p:cNvSpPr/>
            <p:nvPr/>
          </p:nvSpPr>
          <p:spPr>
            <a:xfrm>
              <a:off x="789120" y="2722320"/>
              <a:ext cx="8365680" cy="731520"/>
            </a:xfrm>
            <a:custGeom>
              <a:avLst/>
              <a:gdLst>
                <a:gd name="textAreaLeft" fmla="*/ 0 w 8365680"/>
                <a:gd name="textAreaRight" fmla="*/ 8366040 w 8365680"/>
                <a:gd name="textAreaTop" fmla="*/ 0 h 731520"/>
                <a:gd name="textAreaBottom" fmla="*/ 731880 h 731520"/>
              </a:gdLst>
              <a:ahLst/>
              <a:cxnLst/>
              <a:rect l="textAreaLeft" t="textAreaTop" r="textAreaRight" b="textAreaBottom"/>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4F4E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endParaRPr>
            </a:p>
          </p:txBody>
        </p:sp>
        <p:sp>
          <p:nvSpPr>
            <p:cNvPr id="793" name="TextBox 12"/>
            <p:cNvSpPr/>
            <p:nvPr/>
          </p:nvSpPr>
          <p:spPr>
            <a:xfrm>
              <a:off x="789120" y="2595240"/>
              <a:ext cx="8365680" cy="85860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455"/>
                </a:lnSpc>
              </a:pPr>
              <a:r>
                <a:rPr lang="ja-JP" sz="1400" b="1" u="none" strike="noStrike">
                  <a:solidFill>
                    <a:srgbClr val="00B900"/>
                  </a:solidFill>
                  <a:effectLst/>
                  <a:uFillTx/>
                  <a:latin typeface="メイリオ"/>
                  <a:ea typeface="メイリオ"/>
                </a:rPr>
                <a:t>　　　　＋</a:t>
              </a:r>
              <a:r>
                <a:rPr lang="en-US" sz="1400" b="1" u="none" strike="noStrike">
                  <a:solidFill>
                    <a:srgbClr val="00B900"/>
                  </a:solidFill>
                  <a:effectLst/>
                  <a:uFillTx/>
                  <a:latin typeface="メイリオ"/>
                  <a:ea typeface="メイリオ"/>
                </a:rPr>
                <a:t>LINE</a:t>
              </a:r>
              <a:r>
                <a:rPr lang="ja-JP" sz="1400" b="1" u="none" strike="noStrike">
                  <a:solidFill>
                    <a:srgbClr val="00B900"/>
                  </a:solidFill>
                  <a:effectLst/>
                  <a:uFillTx/>
                  <a:latin typeface="メイリオ"/>
                  <a:ea typeface="メイリオ"/>
                </a:rPr>
                <a:t>公式アカウント </a:t>
              </a:r>
              <a:r>
                <a:rPr lang="ja-JP" sz="1400" b="0" u="none" strike="noStrike">
                  <a:solidFill>
                    <a:srgbClr val="00B900"/>
                  </a:solidFill>
                  <a:effectLst/>
                  <a:uFillTx/>
                  <a:latin typeface="メイリオ"/>
                  <a:ea typeface="メイリオ"/>
                </a:rPr>
                <a:t>が主流</a:t>
              </a:r>
              <a:endParaRPr lang="en-US" sz="1400" b="0" u="none" strike="noStrike">
                <a:solidFill>
                  <a:srgbClr val="000000"/>
                </a:solidFill>
                <a:effectLst/>
                <a:uFillTx/>
                <a:latin typeface="Arial"/>
              </a:endParaRPr>
            </a:p>
          </p:txBody>
        </p:sp>
      </p:grpSp>
      <p:sp>
        <p:nvSpPr>
          <p:cNvPr id="794" name="Freeform 13"/>
          <p:cNvSpPr/>
          <p:nvPr/>
        </p:nvSpPr>
        <p:spPr>
          <a:xfrm>
            <a:off x="1184760" y="2810520"/>
            <a:ext cx="306720" cy="555480"/>
          </a:xfrm>
          <a:custGeom>
            <a:avLst/>
            <a:gdLst>
              <a:gd name="textAreaLeft" fmla="*/ 0 w 306720"/>
              <a:gd name="textAreaRight" fmla="*/ 307080 w 306720"/>
              <a:gd name="textAreaTop" fmla="*/ 0 h 555480"/>
              <a:gd name="textAreaBottom" fmla="*/ 555840 h 555480"/>
            </a:gdLst>
            <a:ahLst/>
            <a:cxnLst/>
            <a:rect l="textAreaLeft" t="textAreaTop" r="textAreaRight" b="textAreaBottom"/>
            <a:pathLst>
              <a:path w="307084" h="555808">
                <a:moveTo>
                  <a:pt x="0" y="0"/>
                </a:moveTo>
                <a:lnTo>
                  <a:pt x="307084" y="0"/>
                </a:lnTo>
                <a:lnTo>
                  <a:pt x="307084" y="555808"/>
                </a:lnTo>
                <a:lnTo>
                  <a:pt x="0" y="555808"/>
                </a:lnTo>
                <a:lnTo>
                  <a:pt x="0" y="0"/>
                </a:lnTo>
                <a:close/>
              </a:path>
            </a:pathLst>
          </a:custGeom>
          <a:blipFill rotWithShape="0">
            <a:blip>
              <a:extLst>
                <a:ext uri="{96DAC541-7B7A-43D3-8B79-37D633B846F1}">
                  <asvg:svgBlip xmlns:asvg="http://schemas.microsoft.com/office/drawing/2016/SVG/main" r:embed="rId4"/>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95" name="Freeform 14"/>
          <p:cNvSpPr/>
          <p:nvPr/>
        </p:nvSpPr>
        <p:spPr>
          <a:xfrm>
            <a:off x="1815840" y="2807280"/>
            <a:ext cx="397440" cy="397440"/>
          </a:xfrm>
          <a:custGeom>
            <a:avLst/>
            <a:gdLst>
              <a:gd name="textAreaLeft" fmla="*/ 0 w 397440"/>
              <a:gd name="textAreaRight" fmla="*/ 397800 w 397440"/>
              <a:gd name="textAreaTop" fmla="*/ 0 h 397440"/>
              <a:gd name="textAreaBottom" fmla="*/ 397800 h 397440"/>
            </a:gdLst>
            <a:ahLst/>
            <a:cxnLst/>
            <a:rect l="textAreaLeft" t="textAreaTop" r="textAreaRight" b="textAreaBottom"/>
            <a:pathLst>
              <a:path w="397893" h="397893">
                <a:moveTo>
                  <a:pt x="0" y="0"/>
                </a:moveTo>
                <a:lnTo>
                  <a:pt x="397893" y="0"/>
                </a:lnTo>
                <a:lnTo>
                  <a:pt x="397893" y="397892"/>
                </a:lnTo>
                <a:lnTo>
                  <a:pt x="0" y="397892"/>
                </a:lnTo>
                <a:lnTo>
                  <a:pt x="0" y="0"/>
                </a:lnTo>
                <a:close/>
              </a:path>
            </a:pathLst>
          </a:custGeom>
          <a:blipFill rotWithShape="0">
            <a:blip>
              <a:extLst>
                <a:ext uri="{96DAC541-7B7A-43D3-8B79-37D633B846F1}">
                  <asvg:svgBlip xmlns:asvg="http://schemas.microsoft.com/office/drawing/2016/SVG/main" r:embed="rId5"/>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96" name="TextBox 16"/>
          <p:cNvSpPr/>
          <p:nvPr/>
        </p:nvSpPr>
        <p:spPr>
          <a:xfrm>
            <a:off x="2903760" y="3579480"/>
            <a:ext cx="2520360" cy="30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455"/>
              </a:lnSpc>
            </a:pPr>
            <a:r>
              <a:rPr lang="zh-CN" sz="1400" b="0" u="none" strike="noStrike">
                <a:solidFill>
                  <a:srgbClr val="040606"/>
                </a:solidFill>
                <a:effectLst/>
                <a:uFillTx/>
                <a:latin typeface="メイリオ"/>
                <a:ea typeface="メイリオ"/>
              </a:rPr>
              <a:t>メールマガジン</a:t>
            </a:r>
            <a:endParaRPr lang="en-US" sz="1400" b="0" u="none" strike="noStrike">
              <a:solidFill>
                <a:srgbClr val="000000"/>
              </a:solidFill>
              <a:effectLst/>
              <a:uFillTx/>
              <a:latin typeface="Arial"/>
            </a:endParaRPr>
          </a:p>
        </p:txBody>
      </p:sp>
      <p:grpSp>
        <p:nvGrpSpPr>
          <p:cNvPr id="797" name="Group 18"/>
          <p:cNvGrpSpPr/>
          <p:nvPr/>
        </p:nvGrpSpPr>
        <p:grpSpPr>
          <a:xfrm>
            <a:off x="4026600" y="3965760"/>
            <a:ext cx="274680" cy="136440"/>
            <a:chOff x="4026600" y="3965760"/>
            <a:chExt cx="274680" cy="136440"/>
          </a:xfrm>
        </p:grpSpPr>
        <p:sp>
          <p:nvSpPr>
            <p:cNvPr id="798" name="Freeform 19"/>
            <p:cNvSpPr/>
            <p:nvPr/>
          </p:nvSpPr>
          <p:spPr>
            <a:xfrm>
              <a:off x="4026600" y="3972600"/>
              <a:ext cx="274680" cy="129600"/>
            </a:xfrm>
            <a:custGeom>
              <a:avLst/>
              <a:gdLst>
                <a:gd name="textAreaLeft" fmla="*/ 0 w 274680"/>
                <a:gd name="textAreaRight" fmla="*/ 275040 w 274680"/>
                <a:gd name="textAreaTop" fmla="*/ 0 h 129600"/>
                <a:gd name="textAreaBottom" fmla="*/ 129960 h 12960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endParaRPr>
            </a:p>
          </p:txBody>
        </p:sp>
        <p:sp>
          <p:nvSpPr>
            <p:cNvPr id="799" name="TextBox 20"/>
            <p:cNvSpPr/>
            <p:nvPr/>
          </p:nvSpPr>
          <p:spPr>
            <a:xfrm>
              <a:off x="4069440" y="3965760"/>
              <a:ext cx="188640" cy="7596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400" b="0" u="none" strike="noStrike">
                <a:solidFill>
                  <a:schemeClr val="dk1"/>
                </a:solidFill>
                <a:effectLst/>
                <a:uFillTx/>
                <a:latin typeface="メイリオ"/>
                <a:ea typeface="メイリオ"/>
              </a:endParaRPr>
            </a:p>
          </p:txBody>
        </p:sp>
      </p:grpSp>
      <p:sp>
        <p:nvSpPr>
          <p:cNvPr id="800" name="AutoShape 24"/>
          <p:cNvSpPr/>
          <p:nvPr/>
        </p:nvSpPr>
        <p:spPr>
          <a:xfrm>
            <a:off x="1044720" y="4660200"/>
            <a:ext cx="7854120" cy="684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8160" rIns="90000" bIns="-38160" anchor="t">
            <a:noAutofit/>
          </a:bodyPr>
          <a:lstStyle/>
          <a:p>
            <a:endParaRPr lang="en-US" sz="1400" b="0" u="none" strike="noStrike">
              <a:solidFill>
                <a:schemeClr val="dk1"/>
              </a:solidFill>
              <a:effectLst/>
              <a:uFillTx/>
              <a:latin typeface="メイリオ"/>
              <a:ea typeface="メイリオ"/>
            </a:endParaRPr>
          </a:p>
        </p:txBody>
      </p:sp>
      <p:sp>
        <p:nvSpPr>
          <p:cNvPr id="801" name="TextBox 25"/>
          <p:cNvSpPr/>
          <p:nvPr/>
        </p:nvSpPr>
        <p:spPr>
          <a:xfrm>
            <a:off x="2752200" y="4197240"/>
            <a:ext cx="2936880" cy="30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入力が面倒・間違いが発生</a:t>
            </a:r>
            <a:endParaRPr lang="en-US" sz="1400" b="0" u="none" strike="noStrike">
              <a:solidFill>
                <a:srgbClr val="000000"/>
              </a:solidFill>
              <a:effectLst/>
              <a:uFillTx/>
              <a:latin typeface="Arial"/>
            </a:endParaRPr>
          </a:p>
        </p:txBody>
      </p:sp>
      <p:sp>
        <p:nvSpPr>
          <p:cNvPr id="802" name="AutoShape 26"/>
          <p:cNvSpPr/>
          <p:nvPr/>
        </p:nvSpPr>
        <p:spPr>
          <a:xfrm>
            <a:off x="2751840" y="3966840"/>
            <a:ext cx="2952720" cy="11160"/>
          </a:xfrm>
          <a:prstGeom prst="line">
            <a:avLst/>
          </a:prstGeom>
          <a:ln w="19050">
            <a:solidFill>
              <a:srgbClr val="000000"/>
            </a:solidFill>
            <a:round/>
          </a:ln>
        </p:spPr>
        <p:style>
          <a:lnRef idx="0">
            <a:scrgbClr r="0" g="0" b="0"/>
          </a:lnRef>
          <a:fillRef idx="0">
            <a:scrgbClr r="0" g="0" b="0"/>
          </a:fillRef>
          <a:effectRef idx="0">
            <a:scrgbClr r="0" g="0" b="0"/>
          </a:effectRef>
          <a:fontRef idx="minor"/>
        </p:style>
        <p:txBody>
          <a:bodyPr lIns="90000" tIns="-33840" rIns="90000" bIns="-33840" anchor="t">
            <a:noAutofit/>
          </a:bodyPr>
          <a:lstStyle/>
          <a:p>
            <a:endParaRPr lang="en-US" sz="1400" b="0" u="none" strike="noStrike">
              <a:solidFill>
                <a:schemeClr val="dk1"/>
              </a:solidFill>
              <a:effectLst/>
              <a:uFillTx/>
              <a:latin typeface="メイリオ"/>
              <a:ea typeface="メイリオ"/>
            </a:endParaRPr>
          </a:p>
        </p:txBody>
      </p:sp>
      <p:sp>
        <p:nvSpPr>
          <p:cNvPr id="803" name="TextBox 27"/>
          <p:cNvSpPr/>
          <p:nvPr/>
        </p:nvSpPr>
        <p:spPr>
          <a:xfrm>
            <a:off x="2752200" y="477576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迷惑メールなどに入る</a:t>
            </a:r>
            <a:endParaRPr lang="en-US" sz="1400" b="0" u="none" strike="noStrike">
              <a:solidFill>
                <a:srgbClr val="000000"/>
              </a:solidFill>
              <a:effectLst/>
              <a:uFillTx/>
              <a:latin typeface="Arial"/>
            </a:endParaRPr>
          </a:p>
        </p:txBody>
      </p:sp>
      <p:sp>
        <p:nvSpPr>
          <p:cNvPr id="804" name="TextBox 28"/>
          <p:cNvSpPr/>
          <p:nvPr/>
        </p:nvSpPr>
        <p:spPr>
          <a:xfrm>
            <a:off x="2752200" y="535464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0" u="none" strike="noStrike">
                <a:solidFill>
                  <a:srgbClr val="040606"/>
                </a:solidFill>
                <a:effectLst/>
                <a:uFillTx/>
                <a:latin typeface="メイリオ"/>
                <a:ea typeface="メイリオ"/>
              </a:rPr>
              <a:t>10</a:t>
            </a:r>
            <a:r>
              <a:rPr lang="zh-CN" sz="1400" b="0" u="none" strike="noStrike">
                <a:solidFill>
                  <a:srgbClr val="040606"/>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805" name="TextBox 29"/>
          <p:cNvSpPr/>
          <p:nvPr/>
        </p:nvSpPr>
        <p:spPr>
          <a:xfrm>
            <a:off x="2752200" y="5933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0" u="none" strike="noStrike">
                <a:solidFill>
                  <a:srgbClr val="040606"/>
                </a:solidFill>
                <a:effectLst/>
                <a:uFillTx/>
                <a:latin typeface="メイリオ"/>
                <a:ea typeface="メイリオ"/>
              </a:rPr>
              <a:t>1</a:t>
            </a:r>
            <a:r>
              <a:rPr lang="zh-CN" sz="1400" b="0" u="none" strike="noStrike">
                <a:solidFill>
                  <a:srgbClr val="040606"/>
                </a:solidFill>
                <a:effectLst/>
                <a:uFillTx/>
                <a:latin typeface="メイリオ"/>
                <a:ea typeface="メイリオ"/>
              </a:rPr>
              <a:t>時間</a:t>
            </a:r>
            <a:endParaRPr lang="en-US" sz="1400" b="0" u="none" strike="noStrike">
              <a:solidFill>
                <a:srgbClr val="000000"/>
              </a:solidFill>
              <a:effectLst/>
              <a:uFillTx/>
              <a:latin typeface="Arial"/>
            </a:endParaRPr>
          </a:p>
        </p:txBody>
      </p:sp>
      <p:sp>
        <p:nvSpPr>
          <p:cNvPr id="806" name="AutoShape 30"/>
          <p:cNvSpPr/>
          <p:nvPr/>
        </p:nvSpPr>
        <p:spPr>
          <a:xfrm>
            <a:off x="1044720" y="5247720"/>
            <a:ext cx="7854120" cy="720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7800" rIns="90000" bIns="-37800" anchor="t">
            <a:noAutofit/>
          </a:bodyPr>
          <a:lstStyle/>
          <a:p>
            <a:endParaRPr lang="en-US" sz="1400" b="0" u="none" strike="noStrike">
              <a:solidFill>
                <a:schemeClr val="dk1"/>
              </a:solidFill>
              <a:effectLst/>
              <a:uFillTx/>
              <a:latin typeface="メイリオ"/>
              <a:ea typeface="メイリオ"/>
            </a:endParaRPr>
          </a:p>
        </p:txBody>
      </p:sp>
      <p:sp>
        <p:nvSpPr>
          <p:cNvPr id="807" name="AutoShape 31"/>
          <p:cNvSpPr/>
          <p:nvPr/>
        </p:nvSpPr>
        <p:spPr>
          <a:xfrm>
            <a:off x="1044720" y="5806080"/>
            <a:ext cx="7854120" cy="684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8160" rIns="90000" bIns="-38160" anchor="t">
            <a:noAutofit/>
          </a:bodyPr>
          <a:lstStyle/>
          <a:p>
            <a:endParaRPr lang="en-US" sz="1400" b="0" u="none" strike="noStrike">
              <a:solidFill>
                <a:schemeClr val="dk1"/>
              </a:solidFill>
              <a:effectLst/>
              <a:uFillTx/>
              <a:latin typeface="メイリオ"/>
              <a:ea typeface="メイリオ"/>
            </a:endParaRPr>
          </a:p>
        </p:txBody>
      </p:sp>
      <p:sp>
        <p:nvSpPr>
          <p:cNvPr id="808" name="TextBox 32"/>
          <p:cNvSpPr/>
          <p:nvPr/>
        </p:nvSpPr>
        <p:spPr>
          <a:xfrm>
            <a:off x="1184760" y="477900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到達</a:t>
            </a:r>
            <a:endParaRPr lang="en-US" sz="1400" b="0" u="none" strike="noStrike">
              <a:solidFill>
                <a:srgbClr val="000000"/>
              </a:solidFill>
              <a:effectLst/>
              <a:uFillTx/>
              <a:latin typeface="Arial"/>
            </a:endParaRPr>
          </a:p>
        </p:txBody>
      </p:sp>
      <p:sp>
        <p:nvSpPr>
          <p:cNvPr id="809" name="TextBox 33"/>
          <p:cNvSpPr/>
          <p:nvPr/>
        </p:nvSpPr>
        <p:spPr>
          <a:xfrm>
            <a:off x="1184760" y="535212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開封率</a:t>
            </a:r>
            <a:endParaRPr lang="en-US" sz="1400" b="0" u="none" strike="noStrike">
              <a:solidFill>
                <a:srgbClr val="000000"/>
              </a:solidFill>
              <a:effectLst/>
              <a:uFillTx/>
              <a:latin typeface="Arial"/>
            </a:endParaRPr>
          </a:p>
        </p:txBody>
      </p:sp>
      <p:sp>
        <p:nvSpPr>
          <p:cNvPr id="810" name="TextBox 34"/>
          <p:cNvSpPr/>
          <p:nvPr/>
        </p:nvSpPr>
        <p:spPr>
          <a:xfrm>
            <a:off x="1184760" y="5933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開封まで</a:t>
            </a:r>
            <a:endParaRPr lang="en-US" sz="1400" b="0" u="none" strike="noStrike">
              <a:solidFill>
                <a:srgbClr val="000000"/>
              </a:solidFill>
              <a:effectLst/>
              <a:uFillTx/>
              <a:latin typeface="Arial"/>
            </a:endParaRPr>
          </a:p>
        </p:txBody>
      </p:sp>
      <p:sp>
        <p:nvSpPr>
          <p:cNvPr id="81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sp>
        <p:nvSpPr>
          <p:cNvPr id="812" name="正方形/長方形 1"/>
          <p:cNvSpPr/>
          <p:nvPr/>
        </p:nvSpPr>
        <p:spPr>
          <a:xfrm>
            <a:off x="5784120" y="3545640"/>
            <a:ext cx="3332520" cy="2822040"/>
          </a:xfrm>
          <a:prstGeom prst="rect">
            <a:avLst/>
          </a:pr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600" b="1" u="none" strike="noStrike">
              <a:solidFill>
                <a:schemeClr val="lt1"/>
              </a:solidFill>
              <a:effectLst/>
              <a:uFillTx/>
              <a:latin typeface="Calibri"/>
            </a:endParaRPr>
          </a:p>
        </p:txBody>
      </p:sp>
      <p:sp>
        <p:nvSpPr>
          <p:cNvPr id="813" name="AutoShape 15"/>
          <p:cNvSpPr/>
          <p:nvPr/>
        </p:nvSpPr>
        <p:spPr>
          <a:xfrm>
            <a:off x="5946480" y="3983760"/>
            <a:ext cx="2952360" cy="11160"/>
          </a:xfrm>
          <a:prstGeom prst="line">
            <a:avLst/>
          </a:prstGeom>
          <a:ln w="19050">
            <a:solidFill>
              <a:srgbClr val="00B900"/>
            </a:solidFill>
            <a:round/>
          </a:ln>
        </p:spPr>
        <p:style>
          <a:lnRef idx="0">
            <a:scrgbClr r="0" g="0" b="0"/>
          </a:lnRef>
          <a:fillRef idx="0">
            <a:scrgbClr r="0" g="0" b="0"/>
          </a:fillRef>
          <a:effectRef idx="0">
            <a:scrgbClr r="0" g="0" b="0"/>
          </a:effectRef>
          <a:fontRef idx="minor"/>
        </p:style>
        <p:txBody>
          <a:bodyPr lIns="90000" tIns="-33840" rIns="90000" bIns="-33840" anchor="t">
            <a:noAutofit/>
          </a:bodyPr>
          <a:lstStyle/>
          <a:p>
            <a:endParaRPr lang="en-US" sz="1400" b="1" u="none" strike="noStrike">
              <a:solidFill>
                <a:schemeClr val="dk1"/>
              </a:solidFill>
              <a:effectLst/>
              <a:uFillTx/>
              <a:latin typeface="メイリオ"/>
              <a:ea typeface="メイリオ"/>
            </a:endParaRPr>
          </a:p>
        </p:txBody>
      </p:sp>
      <p:sp>
        <p:nvSpPr>
          <p:cNvPr id="814" name="TextBox 17"/>
          <p:cNvSpPr/>
          <p:nvPr/>
        </p:nvSpPr>
        <p:spPr>
          <a:xfrm>
            <a:off x="6162480" y="3579480"/>
            <a:ext cx="252036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455"/>
              </a:lnSpc>
            </a:pPr>
            <a:r>
              <a:rPr lang="en-US" sz="1400" b="1" u="none" strike="noStrike">
                <a:solidFill>
                  <a:srgbClr val="00B449"/>
                </a:solidFill>
                <a:effectLst/>
                <a:uFillTx/>
                <a:latin typeface="メイリオ"/>
                <a:ea typeface="メイリオ"/>
              </a:rPr>
              <a:t>LINE</a:t>
            </a:r>
            <a:endParaRPr lang="en-US" sz="1400" b="0" u="none" strike="noStrike">
              <a:solidFill>
                <a:srgbClr val="000000"/>
              </a:solidFill>
              <a:effectLst/>
              <a:uFillTx/>
              <a:latin typeface="Arial"/>
            </a:endParaRPr>
          </a:p>
        </p:txBody>
      </p:sp>
      <p:grpSp>
        <p:nvGrpSpPr>
          <p:cNvPr id="815" name="Group 21"/>
          <p:cNvGrpSpPr/>
          <p:nvPr/>
        </p:nvGrpSpPr>
        <p:grpSpPr>
          <a:xfrm>
            <a:off x="7261560" y="3975840"/>
            <a:ext cx="321840" cy="159840"/>
            <a:chOff x="7261560" y="3975840"/>
            <a:chExt cx="321840" cy="159840"/>
          </a:xfrm>
        </p:grpSpPr>
        <p:sp>
          <p:nvSpPr>
            <p:cNvPr id="816" name="Freeform 22"/>
            <p:cNvSpPr/>
            <p:nvPr/>
          </p:nvSpPr>
          <p:spPr>
            <a:xfrm>
              <a:off x="7261560" y="3983760"/>
              <a:ext cx="321840" cy="151920"/>
            </a:xfrm>
            <a:custGeom>
              <a:avLst/>
              <a:gdLst>
                <a:gd name="textAreaLeft" fmla="*/ 0 w 321840"/>
                <a:gd name="textAreaRight" fmla="*/ 322200 w 321840"/>
                <a:gd name="textAreaTop" fmla="*/ 0 h 151920"/>
                <a:gd name="textAreaBottom" fmla="*/ 152280 h 15192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B44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1" u="none" strike="noStrike">
                <a:solidFill>
                  <a:schemeClr val="dk1"/>
                </a:solidFill>
                <a:effectLst/>
                <a:uFillTx/>
                <a:latin typeface="メイリオ"/>
                <a:ea typeface="メイリオ"/>
              </a:endParaRPr>
            </a:p>
          </p:txBody>
        </p:sp>
        <p:sp>
          <p:nvSpPr>
            <p:cNvPr id="817" name="TextBox 23"/>
            <p:cNvSpPr/>
            <p:nvPr/>
          </p:nvSpPr>
          <p:spPr>
            <a:xfrm>
              <a:off x="7311960" y="3975840"/>
              <a:ext cx="221040" cy="8928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400" b="1" u="none" strike="noStrike">
                <a:solidFill>
                  <a:schemeClr val="dk1"/>
                </a:solidFill>
                <a:effectLst/>
                <a:uFillTx/>
                <a:latin typeface="メイリオ"/>
                <a:ea typeface="メイリオ"/>
              </a:endParaRPr>
            </a:p>
          </p:txBody>
        </p:sp>
      </p:grpSp>
      <p:sp>
        <p:nvSpPr>
          <p:cNvPr id="818" name="TextBox 35"/>
          <p:cNvSpPr/>
          <p:nvPr/>
        </p:nvSpPr>
        <p:spPr>
          <a:xfrm>
            <a:off x="5961600" y="4772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1" u="none" strike="noStrike">
                <a:solidFill>
                  <a:srgbClr val="00B449"/>
                </a:solidFill>
                <a:effectLst/>
                <a:uFillTx/>
                <a:latin typeface="メイリオ"/>
                <a:ea typeface="メイリオ"/>
              </a:rPr>
              <a:t>確実に届く</a:t>
            </a:r>
            <a:endParaRPr lang="en-US" sz="1400" b="0" u="none" strike="noStrike">
              <a:solidFill>
                <a:srgbClr val="000000"/>
              </a:solidFill>
              <a:effectLst/>
              <a:uFillTx/>
              <a:latin typeface="Arial"/>
            </a:endParaRPr>
          </a:p>
        </p:txBody>
      </p:sp>
      <p:sp>
        <p:nvSpPr>
          <p:cNvPr id="819" name="TextBox 36"/>
          <p:cNvSpPr/>
          <p:nvPr/>
        </p:nvSpPr>
        <p:spPr>
          <a:xfrm>
            <a:off x="5961600" y="535212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1" u="none" strike="noStrike">
                <a:solidFill>
                  <a:srgbClr val="00B449"/>
                </a:solidFill>
                <a:effectLst/>
                <a:uFillTx/>
                <a:latin typeface="メイリオ"/>
                <a:ea typeface="メイリオ"/>
              </a:rPr>
              <a:t>60</a:t>
            </a:r>
            <a:r>
              <a:rPr lang="zh-CN" sz="1400" b="1" u="none" strike="noStrike">
                <a:solidFill>
                  <a:srgbClr val="00B449"/>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820" name="TextBox 37"/>
          <p:cNvSpPr/>
          <p:nvPr/>
        </p:nvSpPr>
        <p:spPr>
          <a:xfrm>
            <a:off x="5961600" y="593136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1" u="none" strike="noStrike">
                <a:solidFill>
                  <a:srgbClr val="00B449"/>
                </a:solidFill>
                <a:effectLst/>
                <a:uFillTx/>
                <a:latin typeface="メイリオ"/>
                <a:ea typeface="メイリオ"/>
              </a:rPr>
              <a:t>15</a:t>
            </a:r>
            <a:r>
              <a:rPr lang="zh-CN" sz="1400" b="1" u="none" strike="noStrike">
                <a:solidFill>
                  <a:srgbClr val="00B449"/>
                </a:solidFill>
                <a:effectLst/>
                <a:uFillTx/>
                <a:latin typeface="メイリオ"/>
                <a:ea typeface="メイリオ"/>
              </a:rPr>
              <a:t>分</a:t>
            </a:r>
            <a:endParaRPr lang="en-US" sz="1400" b="0" u="none" strike="noStrike">
              <a:solidFill>
                <a:srgbClr val="000000"/>
              </a:solidFill>
              <a:effectLst/>
              <a:uFillTx/>
              <a:latin typeface="Arial"/>
            </a:endParaRPr>
          </a:p>
        </p:txBody>
      </p:sp>
      <p:sp>
        <p:nvSpPr>
          <p:cNvPr id="821" name="TextBox 38"/>
          <p:cNvSpPr/>
          <p:nvPr/>
        </p:nvSpPr>
        <p:spPr>
          <a:xfrm>
            <a:off x="5961600" y="420624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1" u="none" strike="noStrike">
                <a:solidFill>
                  <a:srgbClr val="00B449"/>
                </a:solidFill>
                <a:effectLst/>
                <a:uFillTx/>
                <a:latin typeface="メイリオ"/>
                <a:ea typeface="メイリオ"/>
              </a:rPr>
              <a:t>ワンタップで追加</a:t>
            </a:r>
            <a:endParaRPr lang="en-US" sz="1400" b="0" u="none" strike="noStrike">
              <a:solidFill>
                <a:srgbClr val="000000"/>
              </a:solidFill>
              <a:effectLst/>
              <a:uFillTx/>
              <a:latin typeface="Arial"/>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2"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823" name="正方形/長方形 3"/>
          <p:cNvSpPr/>
          <p:nvPr/>
        </p:nvSpPr>
        <p:spPr>
          <a:xfrm>
            <a:off x="789120" y="793440"/>
            <a:ext cx="8327880" cy="381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zh-CN" sz="1400" b="0" u="none" strike="noStrike">
                <a:solidFill>
                  <a:srgbClr val="343434"/>
                </a:solidFill>
                <a:effectLst/>
                <a:uFillTx/>
                <a:latin typeface="メイリオ"/>
                <a:ea typeface="メイリオ"/>
              </a:rPr>
              <a:t>「今すぐ客」以外の</a:t>
            </a:r>
            <a:r>
              <a:rPr lang="ja-JP" sz="1400" b="0" u="none" strike="noStrike">
                <a:solidFill>
                  <a:srgbClr val="343434"/>
                </a:solidFill>
                <a:effectLst/>
                <a:uFillTx/>
                <a:latin typeface="メイリオ"/>
                <a:ea typeface="メイリオ"/>
              </a:rPr>
              <a:t>約</a:t>
            </a:r>
            <a:r>
              <a:rPr lang="en-US" sz="1400" b="0" u="none" strike="noStrike">
                <a:solidFill>
                  <a:srgbClr val="343434"/>
                </a:solidFill>
                <a:effectLst/>
                <a:uFillTx/>
                <a:latin typeface="メイリオ"/>
                <a:ea typeface="メイリオ"/>
              </a:rPr>
              <a:t>99</a:t>
            </a:r>
            <a:r>
              <a:rPr lang="ja-JP" sz="1400" b="0" u="none" strike="noStrike">
                <a:solidFill>
                  <a:srgbClr val="343434"/>
                </a:solidFill>
                <a:effectLst/>
                <a:uFillTx/>
                <a:latin typeface="メイリオ"/>
                <a:ea typeface="メイリオ"/>
              </a:rPr>
              <a:t>％の層をリストマーケティングで顧客に引き上げることが重要。</a:t>
            </a:r>
            <a:endParaRPr lang="en-US" sz="1400" b="0" u="none" strike="noStrike">
              <a:solidFill>
                <a:srgbClr val="000000"/>
              </a:solidFill>
              <a:effectLst/>
              <a:uFillTx/>
              <a:latin typeface="Arial"/>
            </a:endParaRPr>
          </a:p>
          <a:p>
            <a:pPr algn="ctr" defTabSz="914400">
              <a:lnSpc>
                <a:spcPts val="2455"/>
              </a:lnSpc>
            </a:pPr>
            <a:r>
              <a:rPr lang="ja-JP" sz="1400" b="0" u="none" strike="noStrike">
                <a:solidFill>
                  <a:srgbClr val="343434"/>
                </a:solidFill>
                <a:effectLst/>
                <a:uFillTx/>
                <a:latin typeface="メイリオ"/>
                <a:ea typeface="メイリオ"/>
              </a:rPr>
              <a:t>結果として、リード獲得率向上、リピート率向上、売上向上に繋げる。</a:t>
            </a:r>
            <a:endParaRPr lang="en-US" sz="1400" b="0" u="none" strike="noStrike">
              <a:solidFill>
                <a:srgbClr val="000000"/>
              </a:solidFill>
              <a:effectLst/>
              <a:uFillTx/>
              <a:latin typeface="Arial"/>
            </a:endParaRPr>
          </a:p>
        </p:txBody>
      </p:sp>
      <p:cxnSp>
        <p:nvCxnSpPr>
          <p:cNvPr id="824"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grpSp>
        <p:nvGrpSpPr>
          <p:cNvPr id="825" name="Group 11"/>
          <p:cNvGrpSpPr/>
          <p:nvPr/>
        </p:nvGrpSpPr>
        <p:grpSpPr>
          <a:xfrm>
            <a:off x="3049560" y="2885400"/>
            <a:ext cx="1458720" cy="1003320"/>
            <a:chOff x="3049560" y="2885400"/>
            <a:chExt cx="1458720" cy="1003320"/>
          </a:xfrm>
        </p:grpSpPr>
        <p:sp>
          <p:nvSpPr>
            <p:cNvPr id="826" name="Freeform 12"/>
            <p:cNvSpPr/>
            <p:nvPr/>
          </p:nvSpPr>
          <p:spPr>
            <a:xfrm>
              <a:off x="3049560" y="2975040"/>
              <a:ext cx="1458720" cy="913320"/>
            </a:xfrm>
            <a:custGeom>
              <a:avLst/>
              <a:gdLst>
                <a:gd name="textAreaLeft" fmla="*/ 0 w 1458720"/>
                <a:gd name="textAreaRight" fmla="*/ 1459080 w 1458720"/>
                <a:gd name="textAreaTop" fmla="*/ 0 h 913320"/>
                <a:gd name="textAreaBottom" fmla="*/ 913680 h 91332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27" name="TextBox 13"/>
            <p:cNvSpPr/>
            <p:nvPr/>
          </p:nvSpPr>
          <p:spPr>
            <a:xfrm>
              <a:off x="3049560" y="2885400"/>
              <a:ext cx="1458720" cy="100332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828" name="AutoShape 14"/>
          <p:cNvSpPr/>
          <p:nvPr/>
        </p:nvSpPr>
        <p:spPr>
          <a:xfrm flipV="1">
            <a:off x="637560" y="2862000"/>
            <a:ext cx="360" cy="3496320"/>
          </a:xfrm>
          <a:prstGeom prst="line">
            <a:avLst/>
          </a:prstGeom>
          <a:ln w="19050">
            <a:solidFill>
              <a:srgbClr val="737373"/>
            </a:solidFill>
            <a:round/>
            <a:tailEnd type="arrow" w="med" len="sm"/>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29" name="AutoShape 15"/>
          <p:cNvSpPr/>
          <p:nvPr/>
        </p:nvSpPr>
        <p:spPr>
          <a:xfrm>
            <a:off x="272160" y="6045480"/>
            <a:ext cx="4516920" cy="360"/>
          </a:xfrm>
          <a:prstGeom prst="line">
            <a:avLst/>
          </a:prstGeom>
          <a:ln w="19050">
            <a:solidFill>
              <a:srgbClr val="737373"/>
            </a:solidFill>
            <a:round/>
            <a:tailEnd type="arrow" w="med" len="sm"/>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grpSp>
        <p:nvGrpSpPr>
          <p:cNvPr id="830" name="Group 16"/>
          <p:cNvGrpSpPr/>
          <p:nvPr/>
        </p:nvGrpSpPr>
        <p:grpSpPr>
          <a:xfrm>
            <a:off x="964080" y="2885400"/>
            <a:ext cx="1770480" cy="1003320"/>
            <a:chOff x="964080" y="2885400"/>
            <a:chExt cx="1770480" cy="1003320"/>
          </a:xfrm>
        </p:grpSpPr>
        <p:sp>
          <p:nvSpPr>
            <p:cNvPr id="831" name="Freeform 17"/>
            <p:cNvSpPr/>
            <p:nvPr/>
          </p:nvSpPr>
          <p:spPr>
            <a:xfrm>
              <a:off x="964080" y="2975040"/>
              <a:ext cx="1770480" cy="913320"/>
            </a:xfrm>
            <a:custGeom>
              <a:avLst/>
              <a:gdLst>
                <a:gd name="textAreaLeft" fmla="*/ 0 w 1770480"/>
                <a:gd name="textAreaRight" fmla="*/ 1770840 w 1770480"/>
                <a:gd name="textAreaTop" fmla="*/ 0 h 913320"/>
                <a:gd name="textAreaBottom" fmla="*/ 913680 h 913320"/>
              </a:gdLst>
              <a:ahLst/>
              <a:cxnLst/>
              <a:rect l="textAreaLeft" t="textAreaTop" r="textAreaRight" b="textAreaBottom"/>
              <a:pathLst>
                <a:path w="749990" h="387031">
                  <a:moveTo>
                    <a:pt x="0" y="0"/>
                  </a:moveTo>
                  <a:lnTo>
                    <a:pt x="749990" y="0"/>
                  </a:lnTo>
                  <a:lnTo>
                    <a:pt x="749990" y="387031"/>
                  </a:lnTo>
                  <a:lnTo>
                    <a:pt x="0" y="387031"/>
                  </a:lnTo>
                  <a:close/>
                </a:path>
              </a:pathLst>
            </a:custGeom>
            <a:solidFill>
              <a:srgbClr val="7BD47C"/>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32" name="TextBox 18"/>
            <p:cNvSpPr/>
            <p:nvPr/>
          </p:nvSpPr>
          <p:spPr>
            <a:xfrm>
              <a:off x="964080" y="2885400"/>
              <a:ext cx="1770480" cy="100332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grpSp>
        <p:nvGrpSpPr>
          <p:cNvPr id="833" name="Group 19"/>
          <p:cNvGrpSpPr/>
          <p:nvPr/>
        </p:nvGrpSpPr>
        <p:grpSpPr>
          <a:xfrm>
            <a:off x="964080" y="4113000"/>
            <a:ext cx="1770480" cy="1634040"/>
            <a:chOff x="964080" y="4113000"/>
            <a:chExt cx="1770480" cy="1634040"/>
          </a:xfrm>
        </p:grpSpPr>
        <p:sp>
          <p:nvSpPr>
            <p:cNvPr id="834" name="Freeform 20"/>
            <p:cNvSpPr/>
            <p:nvPr/>
          </p:nvSpPr>
          <p:spPr>
            <a:xfrm>
              <a:off x="964080" y="4203000"/>
              <a:ext cx="1770480" cy="1544040"/>
            </a:xfrm>
            <a:custGeom>
              <a:avLst/>
              <a:gdLst>
                <a:gd name="textAreaLeft" fmla="*/ 0 w 1770480"/>
                <a:gd name="textAreaRight" fmla="*/ 1770840 w 1770480"/>
                <a:gd name="textAreaTop" fmla="*/ 0 h 1544040"/>
                <a:gd name="textAreaBottom" fmla="*/ 1544400 h 1544040"/>
              </a:gdLst>
              <a:ahLst/>
              <a:cxnLst/>
              <a:rect l="textAreaLeft" t="textAreaTop" r="textAreaRight" b="textAreaBottom"/>
              <a:pathLst>
                <a:path w="749990" h="654108">
                  <a:moveTo>
                    <a:pt x="0" y="0"/>
                  </a:moveTo>
                  <a:lnTo>
                    <a:pt x="749990" y="0"/>
                  </a:lnTo>
                  <a:lnTo>
                    <a:pt x="749990" y="654108"/>
                  </a:lnTo>
                  <a:lnTo>
                    <a:pt x="0" y="654108"/>
                  </a:lnTo>
                  <a:close/>
                </a:path>
              </a:pathLst>
            </a:custGeom>
            <a:solidFill>
              <a:srgbClr val="025D27"/>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35" name="TextBox 21"/>
            <p:cNvSpPr/>
            <p:nvPr/>
          </p:nvSpPr>
          <p:spPr>
            <a:xfrm>
              <a:off x="964080" y="4113000"/>
              <a:ext cx="1770480" cy="163404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grpSp>
        <p:nvGrpSpPr>
          <p:cNvPr id="836" name="Group 22"/>
          <p:cNvGrpSpPr/>
          <p:nvPr/>
        </p:nvGrpSpPr>
        <p:grpSpPr>
          <a:xfrm>
            <a:off x="3049560" y="4113000"/>
            <a:ext cx="1458720" cy="1634040"/>
            <a:chOff x="3049560" y="4113000"/>
            <a:chExt cx="1458720" cy="1634040"/>
          </a:xfrm>
        </p:grpSpPr>
        <p:sp>
          <p:nvSpPr>
            <p:cNvPr id="837" name="Freeform 23"/>
            <p:cNvSpPr/>
            <p:nvPr/>
          </p:nvSpPr>
          <p:spPr>
            <a:xfrm>
              <a:off x="3049560" y="4203000"/>
              <a:ext cx="1458720" cy="1544040"/>
            </a:xfrm>
            <a:custGeom>
              <a:avLst/>
              <a:gdLst>
                <a:gd name="textAreaLeft" fmla="*/ 0 w 1458720"/>
                <a:gd name="textAreaRight" fmla="*/ 1459080 w 1458720"/>
                <a:gd name="textAreaTop" fmla="*/ 0 h 1544040"/>
                <a:gd name="textAreaBottom" fmla="*/ 1544400 h 1544040"/>
              </a:gdLst>
              <a:ahLst/>
              <a:cxnLst/>
              <a:rect l="textAreaLeft" t="textAreaTop" r="textAreaRight" b="textAreaBottom"/>
              <a:pathLst>
                <a:path w="617887" h="654108">
                  <a:moveTo>
                    <a:pt x="0" y="0"/>
                  </a:moveTo>
                  <a:lnTo>
                    <a:pt x="617887" y="0"/>
                  </a:lnTo>
                  <a:lnTo>
                    <a:pt x="617887" y="654108"/>
                  </a:lnTo>
                  <a:lnTo>
                    <a:pt x="0" y="654108"/>
                  </a:lnTo>
                  <a:close/>
                </a:path>
              </a:pathLst>
            </a:custGeom>
            <a:solidFill>
              <a:srgbClr val="7BD47C"/>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38" name="TextBox 24"/>
            <p:cNvSpPr/>
            <p:nvPr/>
          </p:nvSpPr>
          <p:spPr>
            <a:xfrm>
              <a:off x="3049560" y="4113000"/>
              <a:ext cx="1458720" cy="163404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grpSp>
        <p:nvGrpSpPr>
          <p:cNvPr id="839" name="Group 25"/>
          <p:cNvGrpSpPr/>
          <p:nvPr/>
        </p:nvGrpSpPr>
        <p:grpSpPr>
          <a:xfrm>
            <a:off x="4996440" y="3281400"/>
            <a:ext cx="600840" cy="300960"/>
            <a:chOff x="4996440" y="3281400"/>
            <a:chExt cx="600840" cy="300960"/>
          </a:xfrm>
        </p:grpSpPr>
        <p:sp>
          <p:nvSpPr>
            <p:cNvPr id="840" name="Freeform 26"/>
            <p:cNvSpPr/>
            <p:nvPr/>
          </p:nvSpPr>
          <p:spPr>
            <a:xfrm rot="5400000">
              <a:off x="5146200" y="313128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41" name="TextBox 27"/>
            <p:cNvSpPr/>
            <p:nvPr/>
          </p:nvSpPr>
          <p:spPr>
            <a:xfrm rot="5400000">
              <a:off x="5087880" y="327996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842" name="TextBox 28"/>
          <p:cNvSpPr/>
          <p:nvPr/>
        </p:nvSpPr>
        <p:spPr>
          <a:xfrm>
            <a:off x="239760" y="4103640"/>
            <a:ext cx="187200" cy="65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740"/>
              </a:lnSpc>
            </a:pPr>
            <a:r>
              <a:rPr lang="zh-CN" sz="1240" b="1" u="none" strike="noStrike">
                <a:solidFill>
                  <a:srgbClr val="494848"/>
                </a:solidFill>
                <a:effectLst/>
                <a:uFillTx/>
                <a:latin typeface="メイリオ"/>
                <a:ea typeface="メイリオ"/>
              </a:rPr>
              <a:t>必要性</a:t>
            </a:r>
            <a:endParaRPr lang="en-US" sz="1240" b="0" u="none" strike="noStrike">
              <a:solidFill>
                <a:srgbClr val="000000"/>
              </a:solidFill>
              <a:effectLst/>
              <a:uFillTx/>
              <a:latin typeface="Arial"/>
            </a:endParaRPr>
          </a:p>
        </p:txBody>
      </p:sp>
      <p:sp>
        <p:nvSpPr>
          <p:cNvPr id="843" name="TextBox 29"/>
          <p:cNvSpPr/>
          <p:nvPr/>
        </p:nvSpPr>
        <p:spPr>
          <a:xfrm>
            <a:off x="2530800" y="6132600"/>
            <a:ext cx="63324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740"/>
              </a:lnSpc>
            </a:pPr>
            <a:r>
              <a:rPr lang="zh-CN" sz="1240" b="1" u="none" strike="noStrike">
                <a:solidFill>
                  <a:srgbClr val="494848"/>
                </a:solidFill>
                <a:effectLst/>
                <a:uFillTx/>
                <a:latin typeface="メイリオ"/>
                <a:ea typeface="メイリオ"/>
              </a:rPr>
              <a:t>緊急性</a:t>
            </a:r>
            <a:endParaRPr lang="en-US" sz="1240" b="0" u="none" strike="noStrike">
              <a:solidFill>
                <a:srgbClr val="000000"/>
              </a:solidFill>
              <a:effectLst/>
              <a:uFillTx/>
              <a:latin typeface="Arial"/>
            </a:endParaRPr>
          </a:p>
        </p:txBody>
      </p:sp>
      <p:sp>
        <p:nvSpPr>
          <p:cNvPr id="844" name="TextBox 30"/>
          <p:cNvSpPr/>
          <p:nvPr/>
        </p:nvSpPr>
        <p:spPr>
          <a:xfrm>
            <a:off x="3462480" y="3120120"/>
            <a:ext cx="63324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rPr>
              <a:t>今すぐ客</a:t>
            </a:r>
            <a:endParaRPr lang="en-US" sz="1240" b="0" u="none" strike="noStrike">
              <a:solidFill>
                <a:srgbClr val="000000"/>
              </a:solidFill>
              <a:effectLst/>
              <a:uFillTx/>
              <a:latin typeface="Arial"/>
            </a:endParaRPr>
          </a:p>
        </p:txBody>
      </p:sp>
      <p:sp>
        <p:nvSpPr>
          <p:cNvPr id="845" name="TextBox 31"/>
          <p:cNvSpPr/>
          <p:nvPr/>
        </p:nvSpPr>
        <p:spPr>
          <a:xfrm>
            <a:off x="1381680" y="311544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rPr>
              <a:t>そのうち客</a:t>
            </a:r>
            <a:endParaRPr lang="en-US" sz="1240" b="0" u="none" strike="noStrike">
              <a:solidFill>
                <a:srgbClr val="000000"/>
              </a:solidFill>
              <a:effectLst/>
              <a:uFillTx/>
              <a:latin typeface="Arial"/>
            </a:endParaRPr>
          </a:p>
        </p:txBody>
      </p:sp>
      <p:sp>
        <p:nvSpPr>
          <p:cNvPr id="846" name="TextBox 32"/>
          <p:cNvSpPr/>
          <p:nvPr/>
        </p:nvSpPr>
        <p:spPr>
          <a:xfrm>
            <a:off x="1415160" y="438480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FFFFFF"/>
                </a:solidFill>
                <a:effectLst/>
                <a:uFillTx/>
                <a:latin typeface="メイリオ"/>
                <a:ea typeface="メイリオ"/>
              </a:rPr>
              <a:t>まだまだ客</a:t>
            </a:r>
            <a:endParaRPr lang="en-US" sz="1240" b="0" u="none" strike="noStrike">
              <a:solidFill>
                <a:srgbClr val="000000"/>
              </a:solidFill>
              <a:effectLst/>
              <a:uFillTx/>
              <a:latin typeface="Arial"/>
            </a:endParaRPr>
          </a:p>
        </p:txBody>
      </p:sp>
      <p:sp>
        <p:nvSpPr>
          <p:cNvPr id="847" name="TextBox 33"/>
          <p:cNvSpPr/>
          <p:nvPr/>
        </p:nvSpPr>
        <p:spPr>
          <a:xfrm>
            <a:off x="3344760" y="438480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rPr>
              <a:t>お悩み客</a:t>
            </a:r>
            <a:endParaRPr lang="en-US" sz="1240" b="0" u="none" strike="noStrike">
              <a:solidFill>
                <a:srgbClr val="000000"/>
              </a:solidFill>
              <a:effectLst/>
              <a:uFillTx/>
              <a:latin typeface="Arial"/>
            </a:endParaRPr>
          </a:p>
        </p:txBody>
      </p:sp>
      <p:sp>
        <p:nvSpPr>
          <p:cNvPr id="848" name="TextBox 34"/>
          <p:cNvSpPr/>
          <p:nvPr/>
        </p:nvSpPr>
        <p:spPr>
          <a:xfrm>
            <a:off x="3462480" y="3384360"/>
            <a:ext cx="633240" cy="281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rPr>
              <a:t>1-2</a:t>
            </a:r>
            <a:r>
              <a:rPr lang="zh-CN" sz="1560" b="0" u="none" strike="noStrike">
                <a:solidFill>
                  <a:srgbClr val="494848"/>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49" name="TextBox 35"/>
          <p:cNvSpPr/>
          <p:nvPr/>
        </p:nvSpPr>
        <p:spPr>
          <a:xfrm>
            <a:off x="1385640" y="3384360"/>
            <a:ext cx="92736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rPr>
              <a:t>9-9.5</a:t>
            </a:r>
            <a:r>
              <a:rPr lang="zh-CN" sz="1560" b="0" u="none" strike="noStrike">
                <a:solidFill>
                  <a:srgbClr val="494848"/>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50" name="TextBox 36"/>
          <p:cNvSpPr/>
          <p:nvPr/>
        </p:nvSpPr>
        <p:spPr>
          <a:xfrm>
            <a:off x="3315240" y="4823280"/>
            <a:ext cx="92736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rPr>
              <a:t>9-9.5</a:t>
            </a:r>
            <a:r>
              <a:rPr lang="zh-CN" sz="1560" b="0" u="none" strike="noStrike">
                <a:solidFill>
                  <a:srgbClr val="494848"/>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51" name="TextBox 37"/>
          <p:cNvSpPr/>
          <p:nvPr/>
        </p:nvSpPr>
        <p:spPr>
          <a:xfrm>
            <a:off x="1532880" y="4823280"/>
            <a:ext cx="633240" cy="281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FFFFFF"/>
                </a:solidFill>
                <a:effectLst/>
                <a:uFillTx/>
                <a:latin typeface="メイリオ"/>
                <a:ea typeface="メイリオ"/>
              </a:rPr>
              <a:t>80</a:t>
            </a:r>
            <a:r>
              <a:rPr lang="zh-CN" sz="1560" b="0" u="none" strike="noStrike">
                <a:solidFill>
                  <a:srgbClr val="FFFFFF"/>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52" name="TextBox 38"/>
          <p:cNvSpPr/>
          <p:nvPr/>
        </p:nvSpPr>
        <p:spPr>
          <a:xfrm>
            <a:off x="5800680" y="3159720"/>
            <a:ext cx="378864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zh-CN" sz="1200" b="1" u="none" strike="noStrike">
                <a:solidFill>
                  <a:srgbClr val="494848"/>
                </a:solidFill>
                <a:effectLst/>
                <a:uFillTx/>
                <a:latin typeface="メイリオ"/>
                <a:ea typeface="メイリオ"/>
              </a:rPr>
              <a:t>「今すぐ</a:t>
            </a:r>
            <a:r>
              <a:rPr lang="ja-JP" sz="1200" b="1" u="none" strike="noStrike">
                <a:solidFill>
                  <a:srgbClr val="494848"/>
                </a:solidFill>
                <a:effectLst/>
                <a:uFillTx/>
                <a:latin typeface="メイリオ"/>
                <a:ea typeface="メイリオ"/>
              </a:rPr>
              <a:t>顧客」を高い広告費を投資して獲得するのはリスクが大きい。</a:t>
            </a:r>
            <a:endParaRPr lang="en-US" sz="1200" b="0" u="none" strike="noStrike">
              <a:solidFill>
                <a:srgbClr val="000000"/>
              </a:solidFill>
              <a:effectLst/>
              <a:uFillTx/>
              <a:latin typeface="Arial"/>
            </a:endParaRPr>
          </a:p>
        </p:txBody>
      </p:sp>
      <p:sp>
        <p:nvSpPr>
          <p:cNvPr id="853" name="Freeform 40"/>
          <p:cNvSpPr/>
          <p:nvPr/>
        </p:nvSpPr>
        <p:spPr>
          <a:xfrm rot="5400000">
            <a:off x="5146200" y="42066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00FF00"/>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54" name="TextBox 42"/>
          <p:cNvSpPr/>
          <p:nvPr/>
        </p:nvSpPr>
        <p:spPr>
          <a:xfrm>
            <a:off x="5800680" y="4237560"/>
            <a:ext cx="388908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zh-CN" sz="1200" b="1" u="none" strike="noStrike">
                <a:solidFill>
                  <a:srgbClr val="494848"/>
                </a:solidFill>
                <a:effectLst/>
                <a:uFillTx/>
                <a:latin typeface="メイリオ"/>
                <a:ea typeface="メイリオ"/>
              </a:rPr>
              <a:t>リストとして獲得するだけでなく</a:t>
            </a:r>
            <a:endParaRPr lang="en-US" sz="1200" b="0" u="none" strike="noStrike">
              <a:solidFill>
                <a:srgbClr val="000000"/>
              </a:solidFill>
              <a:effectLst/>
              <a:uFillTx/>
              <a:latin typeface="Arial"/>
            </a:endParaRPr>
          </a:p>
          <a:p>
            <a:pPr defTabSz="914400">
              <a:lnSpc>
                <a:spcPts val="2177"/>
              </a:lnSpc>
            </a:pPr>
            <a:r>
              <a:rPr lang="zh-CN" sz="1200" b="1" u="none" strike="noStrike">
                <a:solidFill>
                  <a:srgbClr val="494848"/>
                </a:solidFill>
                <a:effectLst/>
                <a:uFillTx/>
                <a:latin typeface="メイリオ"/>
                <a:ea typeface="メイリオ"/>
              </a:rPr>
              <a:t>「</a:t>
            </a:r>
            <a:r>
              <a:rPr lang="ja-JP" sz="1200" b="1" u="none" strike="noStrike">
                <a:solidFill>
                  <a:srgbClr val="494848"/>
                </a:solidFill>
                <a:effectLst/>
                <a:uFillTx/>
                <a:latin typeface="メイリオ"/>
                <a:ea typeface="メイリオ"/>
              </a:rPr>
              <a:t>将来的な顧客」教育を</a:t>
            </a:r>
            <a:r>
              <a:rPr lang="en-US" sz="1200" b="1" u="none" strike="noStrike">
                <a:solidFill>
                  <a:srgbClr val="494848"/>
                </a:solidFill>
                <a:effectLst/>
                <a:uFillTx/>
                <a:latin typeface="メイリオ"/>
                <a:ea typeface="メイリオ"/>
              </a:rPr>
              <a:t>LINE</a:t>
            </a:r>
            <a:r>
              <a:rPr lang="ja-JP" sz="1200" b="1" u="none" strike="noStrike">
                <a:solidFill>
                  <a:srgbClr val="494848"/>
                </a:solidFill>
                <a:effectLst/>
                <a:uFillTx/>
                <a:latin typeface="メイリオ"/>
                <a:ea typeface="メイリオ"/>
              </a:rPr>
              <a:t>上で構築し行う。</a:t>
            </a:r>
            <a:endParaRPr lang="en-US" sz="1200" b="0" u="none" strike="noStrike">
              <a:solidFill>
                <a:srgbClr val="000000"/>
              </a:solidFill>
              <a:effectLst/>
              <a:uFillTx/>
              <a:latin typeface="Arial"/>
            </a:endParaRPr>
          </a:p>
        </p:txBody>
      </p:sp>
      <p:sp>
        <p:nvSpPr>
          <p:cNvPr id="855" name="AutoShape 43"/>
          <p:cNvSpPr/>
          <p:nvPr/>
        </p:nvSpPr>
        <p:spPr>
          <a:xfrm>
            <a:off x="837360" y="2858760"/>
            <a:ext cx="206064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sp>
        <p:nvSpPr>
          <p:cNvPr id="856" name="AutoShape 44"/>
          <p:cNvSpPr/>
          <p:nvPr/>
        </p:nvSpPr>
        <p:spPr>
          <a:xfrm>
            <a:off x="828720" y="5877000"/>
            <a:ext cx="381096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sp>
        <p:nvSpPr>
          <p:cNvPr id="857" name="AutoShape 45"/>
          <p:cNvSpPr/>
          <p:nvPr/>
        </p:nvSpPr>
        <p:spPr>
          <a:xfrm>
            <a:off x="2889360" y="4056480"/>
            <a:ext cx="175032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sp>
        <p:nvSpPr>
          <p:cNvPr id="858" name="AutoShape 46"/>
          <p:cNvSpPr/>
          <p:nvPr/>
        </p:nvSpPr>
        <p:spPr>
          <a:xfrm>
            <a:off x="4639680" y="4062600"/>
            <a:ext cx="360" cy="182592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59" name="AutoShape 47"/>
          <p:cNvSpPr/>
          <p:nvPr/>
        </p:nvSpPr>
        <p:spPr>
          <a:xfrm>
            <a:off x="2901240" y="2853000"/>
            <a:ext cx="360" cy="121788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60" name="AutoShape 48"/>
          <p:cNvSpPr/>
          <p:nvPr/>
        </p:nvSpPr>
        <p:spPr>
          <a:xfrm>
            <a:off x="840600" y="2862000"/>
            <a:ext cx="360" cy="301500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6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grpSp>
        <p:nvGrpSpPr>
          <p:cNvPr id="862" name="Group 25"/>
          <p:cNvGrpSpPr/>
          <p:nvPr/>
        </p:nvGrpSpPr>
        <p:grpSpPr>
          <a:xfrm>
            <a:off x="4996440" y="5467320"/>
            <a:ext cx="600840" cy="300960"/>
            <a:chOff x="4996440" y="5467320"/>
            <a:chExt cx="600840" cy="300960"/>
          </a:xfrm>
        </p:grpSpPr>
        <p:sp>
          <p:nvSpPr>
            <p:cNvPr id="863" name="Freeform 26"/>
            <p:cNvSpPr/>
            <p:nvPr/>
          </p:nvSpPr>
          <p:spPr>
            <a:xfrm rot="5400000">
              <a:off x="5146200" y="53172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64" name="TextBox 27"/>
            <p:cNvSpPr/>
            <p:nvPr/>
          </p:nvSpPr>
          <p:spPr>
            <a:xfrm rot="5400000">
              <a:off x="5087880" y="546588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865" name="TextBox 38"/>
          <p:cNvSpPr/>
          <p:nvPr/>
        </p:nvSpPr>
        <p:spPr>
          <a:xfrm>
            <a:off x="5800680" y="5349240"/>
            <a:ext cx="378864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200" b="1" u="none" strike="noStrike">
                <a:solidFill>
                  <a:srgbClr val="494848"/>
                </a:solidFill>
                <a:effectLst/>
                <a:uFillTx/>
                <a:latin typeface="メイリオ"/>
                <a:ea typeface="メイリオ"/>
              </a:rPr>
              <a:t>広告審査がないうえに、ユーザー接点を早めることで大量かつ高効率での獲得を見込むことが出来る。</a:t>
            </a:r>
            <a:endParaRPr lang="en-US" sz="1200" b="0" u="none" strike="noStrike">
              <a:solidFill>
                <a:srgbClr val="000000"/>
              </a:solidFill>
              <a:effectLst/>
              <a:uFillTx/>
              <a:latin typeface="Arial"/>
            </a:endParaRPr>
          </a:p>
        </p:txBody>
      </p:sp>
      <p:sp>
        <p:nvSpPr>
          <p:cNvPr id="866" name="正方形/長方形 66"/>
          <p:cNvSpPr/>
          <p:nvPr/>
        </p:nvSpPr>
        <p:spPr>
          <a:xfrm>
            <a:off x="0" y="1550160"/>
            <a:ext cx="9905760" cy="9979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67" name="正方形/長方形 68"/>
          <p:cNvSpPr/>
          <p:nvPr/>
        </p:nvSpPr>
        <p:spPr>
          <a:xfrm>
            <a:off x="1415160" y="1777680"/>
            <a:ext cx="313560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1400" b="0" u="none" strike="noStrike">
                <a:solidFill>
                  <a:schemeClr val="dk1"/>
                </a:solidFill>
                <a:effectLst/>
                <a:uFillTx/>
                <a:latin typeface="Meiryo"/>
                <a:ea typeface="Meiryo"/>
              </a:rPr>
              <a:t>WEB</a:t>
            </a:r>
            <a:r>
              <a:rPr lang="ja-JP" sz="1400" b="0" u="none" strike="noStrike">
                <a:solidFill>
                  <a:schemeClr val="dk1"/>
                </a:solidFill>
                <a:effectLst/>
                <a:uFillTx/>
                <a:latin typeface="Meiryo"/>
                <a:ea typeface="Meiryo"/>
              </a:rPr>
              <a:t>広告における</a:t>
            </a:r>
            <a:r>
              <a:rPr lang="ja-JP" sz="1400" b="1" u="none" strike="noStrike">
                <a:solidFill>
                  <a:schemeClr val="dk1"/>
                </a:solidFill>
                <a:effectLst/>
                <a:uFillTx/>
                <a:latin typeface="Meiryo"/>
                <a:ea typeface="Meiryo"/>
              </a:rPr>
              <a:t>競合性が高</a:t>
            </a:r>
            <a:r>
              <a:rPr lang="ja-JP" sz="1400" b="0" u="none" strike="noStrike">
                <a:solidFill>
                  <a:schemeClr val="dk1"/>
                </a:solidFill>
                <a:effectLst/>
                <a:uFillTx/>
                <a:latin typeface="Meiryo"/>
                <a:ea typeface="Meiryo"/>
              </a:rPr>
              <a:t>くなり</a:t>
            </a:r>
            <a:endParaRPr lang="en-US" sz="1400" b="0" u="none" strike="noStrike">
              <a:solidFill>
                <a:srgbClr val="000000"/>
              </a:solidFill>
              <a:effectLst/>
              <a:uFillTx/>
              <a:latin typeface="Arial"/>
            </a:endParaRPr>
          </a:p>
          <a:p>
            <a:pPr algn="ctr" defTabSz="914400">
              <a:lnSpc>
                <a:spcPct val="100000"/>
              </a:lnSpc>
            </a:pPr>
            <a:r>
              <a:rPr lang="ja-JP" sz="1400" b="1" u="none" strike="noStrike">
                <a:solidFill>
                  <a:srgbClr val="FF0000"/>
                </a:solidFill>
                <a:effectLst/>
                <a:uFillTx/>
                <a:latin typeface="Meiryo"/>
                <a:ea typeface="Meiryo"/>
              </a:rPr>
              <a:t>単価指標（</a:t>
            </a:r>
            <a:r>
              <a:rPr lang="en-US" sz="1400" b="1" u="none" strike="noStrike">
                <a:solidFill>
                  <a:srgbClr val="FF0000"/>
                </a:solidFill>
                <a:effectLst/>
                <a:uFillTx/>
                <a:latin typeface="Meiryo"/>
                <a:ea typeface="Meiryo"/>
              </a:rPr>
              <a:t>CPC</a:t>
            </a:r>
            <a:r>
              <a:rPr lang="ja-JP" sz="1400" b="1" u="none" strike="noStrike">
                <a:solidFill>
                  <a:srgbClr val="FF0000"/>
                </a:solidFill>
                <a:effectLst/>
                <a:uFillTx/>
                <a:latin typeface="Meiryo"/>
                <a:ea typeface="Meiryo"/>
              </a:rPr>
              <a:t>及び</a:t>
            </a:r>
            <a:r>
              <a:rPr lang="en-US" sz="1400" b="1" u="none" strike="noStrike">
                <a:solidFill>
                  <a:srgbClr val="FF0000"/>
                </a:solidFill>
                <a:effectLst/>
                <a:uFillTx/>
                <a:latin typeface="Meiryo"/>
                <a:ea typeface="Meiryo"/>
              </a:rPr>
              <a:t>CPA</a:t>
            </a:r>
            <a:r>
              <a:rPr lang="ja-JP" sz="1400" b="1" u="none" strike="noStrike">
                <a:solidFill>
                  <a:srgbClr val="FF0000"/>
                </a:solidFill>
                <a:effectLst/>
                <a:uFillTx/>
                <a:latin typeface="Meiryo"/>
                <a:ea typeface="Meiryo"/>
              </a:rPr>
              <a:t>）が高騰</a:t>
            </a:r>
            <a:r>
              <a:rPr lang="ja-JP" sz="1400" b="0" u="none" strike="noStrike">
                <a:solidFill>
                  <a:schemeClr val="dk1"/>
                </a:solidFill>
                <a:effectLst/>
                <a:uFillTx/>
                <a:latin typeface="Meiryo"/>
                <a:ea typeface="Meiryo"/>
              </a:rPr>
              <a:t>。</a:t>
            </a:r>
            <a:endParaRPr lang="en-US" sz="1400" b="0" u="none" strike="noStrike">
              <a:solidFill>
                <a:srgbClr val="000000"/>
              </a:solidFill>
              <a:effectLst/>
              <a:uFillTx/>
              <a:latin typeface="Arial"/>
            </a:endParaRPr>
          </a:p>
        </p:txBody>
      </p:sp>
      <p:sp>
        <p:nvSpPr>
          <p:cNvPr id="868" name="正方形/長方形 70"/>
          <p:cNvSpPr/>
          <p:nvPr/>
        </p:nvSpPr>
        <p:spPr>
          <a:xfrm>
            <a:off x="5717880" y="1781640"/>
            <a:ext cx="377352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1400" b="0" u="none" strike="noStrike">
                <a:solidFill>
                  <a:schemeClr val="dk1"/>
                </a:solidFill>
                <a:effectLst/>
                <a:uFillTx/>
                <a:latin typeface="Meiryo"/>
                <a:ea typeface="Meiryo"/>
              </a:rPr>
              <a:t>集客施策における</a:t>
            </a:r>
            <a:r>
              <a:rPr lang="en-US" sz="1400" b="1" u="none" strike="noStrike">
                <a:solidFill>
                  <a:schemeClr val="dk1"/>
                </a:solidFill>
                <a:effectLst/>
                <a:uFillTx/>
                <a:latin typeface="Meiryo"/>
                <a:ea typeface="Meiryo"/>
              </a:rPr>
              <a:t>CVR</a:t>
            </a:r>
            <a:r>
              <a:rPr lang="ja-JP" sz="1400" b="1" u="none" strike="noStrike">
                <a:solidFill>
                  <a:schemeClr val="dk1"/>
                </a:solidFill>
                <a:effectLst/>
                <a:uFillTx/>
                <a:latin typeface="Meiryo"/>
                <a:ea typeface="Meiryo"/>
              </a:rPr>
              <a:t>は高くても</a:t>
            </a:r>
            <a:r>
              <a:rPr lang="en-US" sz="1400" b="1" u="none" strike="noStrike">
                <a:solidFill>
                  <a:schemeClr val="dk1"/>
                </a:solidFill>
                <a:effectLst/>
                <a:uFillTx/>
                <a:latin typeface="Meiryo"/>
                <a:ea typeface="Meiryo"/>
              </a:rPr>
              <a:t>2%</a:t>
            </a:r>
            <a:r>
              <a:rPr lang="ja-JP" sz="1400" b="1" u="none" strike="noStrike">
                <a:solidFill>
                  <a:schemeClr val="dk1"/>
                </a:solidFill>
                <a:effectLst/>
                <a:uFillTx/>
                <a:latin typeface="Meiryo"/>
                <a:ea typeface="Meiryo"/>
              </a:rPr>
              <a:t>程度</a:t>
            </a:r>
            <a:r>
              <a:rPr lang="ja-JP" sz="1400" b="0" u="none" strike="noStrike">
                <a:solidFill>
                  <a:schemeClr val="dk1"/>
                </a:solidFill>
                <a:effectLst/>
                <a:uFillTx/>
                <a:latin typeface="Meiryo"/>
                <a:ea typeface="Meiryo"/>
              </a:rPr>
              <a:t>。</a:t>
            </a:r>
            <a:endParaRPr lang="en-US" sz="1400" b="0" u="none" strike="noStrike">
              <a:solidFill>
                <a:srgbClr val="000000"/>
              </a:solidFill>
              <a:effectLst/>
              <a:uFillTx/>
              <a:latin typeface="Arial"/>
            </a:endParaRPr>
          </a:p>
          <a:p>
            <a:pPr algn="ctr" defTabSz="914400">
              <a:lnSpc>
                <a:spcPct val="100000"/>
              </a:lnSpc>
            </a:pPr>
            <a:r>
              <a:rPr lang="en-US" sz="1400" b="0" u="none" strike="noStrike">
                <a:solidFill>
                  <a:srgbClr val="FF0000"/>
                </a:solidFill>
                <a:effectLst/>
                <a:uFillTx/>
                <a:latin typeface="Meiryo"/>
                <a:ea typeface="Meiryo"/>
              </a:rPr>
              <a:t>CV</a:t>
            </a:r>
            <a:r>
              <a:rPr lang="ja-JP" sz="1400" b="0" u="none" strike="noStrike">
                <a:solidFill>
                  <a:srgbClr val="FF0000"/>
                </a:solidFill>
                <a:effectLst/>
                <a:uFillTx/>
                <a:latin typeface="Meiryo"/>
                <a:ea typeface="Meiryo"/>
              </a:rPr>
              <a:t>に至らず離脱するユーザーが大部分</a:t>
            </a:r>
            <a:r>
              <a:rPr lang="ja-JP" sz="1400" b="0" u="none" strike="noStrike">
                <a:solidFill>
                  <a:schemeClr val="dk1"/>
                </a:solidFill>
                <a:effectLst/>
                <a:uFillTx/>
                <a:latin typeface="Meiryo"/>
                <a:ea typeface="Meiryo"/>
              </a:rPr>
              <a:t>。</a:t>
            </a:r>
            <a:endParaRPr lang="en-US" sz="1400" b="0" u="none" strike="noStrike">
              <a:solidFill>
                <a:srgbClr val="000000"/>
              </a:solidFill>
              <a:effectLst/>
              <a:uFillTx/>
              <a:latin typeface="Arial"/>
            </a:endParaRPr>
          </a:p>
        </p:txBody>
      </p:sp>
      <p:sp>
        <p:nvSpPr>
          <p:cNvPr id="869" name="Freeform 12"/>
          <p:cNvSpPr/>
          <p:nvPr/>
        </p:nvSpPr>
        <p:spPr>
          <a:xfrm>
            <a:off x="4853160" y="1823040"/>
            <a:ext cx="823320" cy="425880"/>
          </a:xfrm>
          <a:custGeom>
            <a:avLst/>
            <a:gdLst>
              <a:gd name="textAreaLeft" fmla="*/ 0 w 823320"/>
              <a:gd name="textAreaRight" fmla="*/ 823680 w 823320"/>
              <a:gd name="textAreaTop" fmla="*/ 0 h 425880"/>
              <a:gd name="textAreaBottom" fmla="*/ 426240 h 42588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800" b="1" u="none" strike="noStrike">
                <a:solidFill>
                  <a:schemeClr val="dk1"/>
                </a:solidFill>
                <a:effectLst/>
                <a:uFillTx/>
                <a:latin typeface="メイリオ"/>
                <a:ea typeface="メイリオ"/>
              </a:rPr>
              <a:t>CVR</a:t>
            </a:r>
            <a:endParaRPr lang="en-US" sz="1800" b="0" u="none" strike="noStrike">
              <a:solidFill>
                <a:srgbClr val="000000"/>
              </a:solidFill>
              <a:effectLst/>
              <a:uFillTx/>
              <a:latin typeface="Arial"/>
            </a:endParaRPr>
          </a:p>
        </p:txBody>
      </p:sp>
      <p:sp>
        <p:nvSpPr>
          <p:cNvPr id="870" name="Freeform 12"/>
          <p:cNvSpPr/>
          <p:nvPr/>
        </p:nvSpPr>
        <p:spPr>
          <a:xfrm>
            <a:off x="555120" y="1809000"/>
            <a:ext cx="823320" cy="425880"/>
          </a:xfrm>
          <a:custGeom>
            <a:avLst/>
            <a:gdLst>
              <a:gd name="textAreaLeft" fmla="*/ 0 w 823320"/>
              <a:gd name="textAreaRight" fmla="*/ 823680 w 823320"/>
              <a:gd name="textAreaTop" fmla="*/ 0 h 425880"/>
              <a:gd name="textAreaBottom" fmla="*/ 426240 h 42588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800" b="1" u="none" strike="noStrike">
                <a:solidFill>
                  <a:schemeClr val="dk1"/>
                </a:solidFill>
                <a:effectLst/>
                <a:uFillTx/>
                <a:latin typeface="メイリオ"/>
                <a:ea typeface="メイリオ"/>
              </a:rPr>
              <a:t>CPC</a:t>
            </a:r>
            <a:endParaRPr lang="en-US" sz="1800" b="0" u="none" strike="noStrike">
              <a:solidFill>
                <a:srgbClr val="000000"/>
              </a:solidFill>
              <a:effectLst/>
              <a:uFillTx/>
              <a:latin typeface="Arial"/>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1"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872" name="正方形/長方形 3"/>
          <p:cNvSpPr/>
          <p:nvPr/>
        </p:nvSpPr>
        <p:spPr>
          <a:xfrm>
            <a:off x="796320" y="635040"/>
            <a:ext cx="832788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rPr>
              <a:t>利用年齢層により変動はするものの、</a:t>
            </a:r>
            <a:r>
              <a:rPr lang="en-US" sz="1400" b="0" u="none" strike="noStrike">
                <a:solidFill>
                  <a:srgbClr val="343434"/>
                </a:solidFill>
                <a:effectLst/>
                <a:uFillTx/>
                <a:latin typeface="メイリオ"/>
                <a:ea typeface="メイリオ"/>
              </a:rPr>
              <a:t>10-40</a:t>
            </a:r>
            <a:r>
              <a:rPr lang="ja-JP" sz="1400" b="0" u="none" strike="noStrike">
                <a:solidFill>
                  <a:srgbClr val="343434"/>
                </a:solidFill>
                <a:effectLst/>
                <a:uFillTx/>
                <a:latin typeface="メイリオ"/>
                <a:ea typeface="メイリオ"/>
              </a:rPr>
              <a:t>代を中心に電話、メールを忌避する動きが強まっている。</a:t>
            </a:r>
            <a:endParaRPr lang="en-US" sz="1400" b="0" u="none" strike="noStrike">
              <a:solidFill>
                <a:srgbClr val="000000"/>
              </a:solidFill>
              <a:effectLst/>
              <a:uFillTx/>
              <a:latin typeface="Arial"/>
            </a:endParaRPr>
          </a:p>
          <a:p>
            <a:pPr algn="ctr" defTabSz="914400">
              <a:lnSpc>
                <a:spcPts val="2455"/>
              </a:lnSpc>
            </a:pPr>
            <a:r>
              <a:rPr lang="ja-JP" sz="1400" b="1" u="none" strike="noStrike">
                <a:solidFill>
                  <a:srgbClr val="343434"/>
                </a:solidFill>
                <a:effectLst/>
                <a:uFillTx/>
                <a:latin typeface="メイリオ"/>
                <a:ea typeface="メイリオ"/>
              </a:rPr>
              <a:t>既存ユーザー以外の年齢層の獲得にあたって、利用率の高い</a:t>
            </a:r>
            <a:r>
              <a:rPr lang="en-US" sz="1400" b="1" u="none" strike="noStrike">
                <a:solidFill>
                  <a:srgbClr val="343434"/>
                </a:solidFill>
                <a:effectLst/>
                <a:uFillTx/>
                <a:latin typeface="メイリオ"/>
                <a:ea typeface="メイリオ"/>
              </a:rPr>
              <a:t>LINEOA</a:t>
            </a:r>
            <a:r>
              <a:rPr lang="ja-JP" sz="1400" b="1" u="none" strike="noStrike">
                <a:solidFill>
                  <a:srgbClr val="343434"/>
                </a:solidFill>
                <a:effectLst/>
                <a:uFillTx/>
                <a:latin typeface="メイリオ"/>
                <a:ea typeface="メイリオ"/>
              </a:rPr>
              <a:t>施策が非常に重要と想定</a:t>
            </a:r>
            <a:r>
              <a:rPr lang="ja-JP" sz="1400" b="0" u="none" strike="noStrike">
                <a:solidFill>
                  <a:srgbClr val="343434"/>
                </a:solidFill>
                <a:effectLst/>
                <a:uFillTx/>
                <a:latin typeface="メイリオ"/>
                <a:ea typeface="メイリオ"/>
              </a:rPr>
              <a:t>される。</a:t>
            </a:r>
            <a:endParaRPr lang="en-US" sz="1400" b="0" u="none" strike="noStrike">
              <a:solidFill>
                <a:srgbClr val="000000"/>
              </a:solidFill>
              <a:effectLst/>
              <a:uFillTx/>
              <a:latin typeface="Arial"/>
            </a:endParaRPr>
          </a:p>
        </p:txBody>
      </p:sp>
      <p:cxnSp>
        <p:nvCxnSpPr>
          <p:cNvPr id="873"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sp>
        <p:nvSpPr>
          <p:cNvPr id="874"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graphicFrame>
        <p:nvGraphicFramePr>
          <p:cNvPr id="875" name="表 49"/>
          <p:cNvGraphicFramePr/>
          <p:nvPr/>
        </p:nvGraphicFramePr>
        <p:xfrm>
          <a:off x="367560" y="1662840"/>
          <a:ext cx="9167400" cy="4493880"/>
        </p:xfrm>
        <a:graphic>
          <a:graphicData uri="http://schemas.openxmlformats.org/drawingml/2006/table">
            <a:tbl>
              <a:tblPr/>
              <a:tblGrid>
                <a:gridCol w="1833480">
                  <a:extLst>
                    <a:ext uri="{9D8B030D-6E8A-4147-A177-3AD203B41FA5}">
                      <a16:colId xmlns:a16="http://schemas.microsoft.com/office/drawing/2014/main" val="20000"/>
                    </a:ext>
                  </a:extLst>
                </a:gridCol>
                <a:gridCol w="1833480">
                  <a:extLst>
                    <a:ext uri="{9D8B030D-6E8A-4147-A177-3AD203B41FA5}">
                      <a16:colId xmlns:a16="http://schemas.microsoft.com/office/drawing/2014/main" val="20001"/>
                    </a:ext>
                  </a:extLst>
                </a:gridCol>
                <a:gridCol w="1833480">
                  <a:extLst>
                    <a:ext uri="{9D8B030D-6E8A-4147-A177-3AD203B41FA5}">
                      <a16:colId xmlns:a16="http://schemas.microsoft.com/office/drawing/2014/main" val="20002"/>
                    </a:ext>
                  </a:extLst>
                </a:gridCol>
                <a:gridCol w="1833480">
                  <a:extLst>
                    <a:ext uri="{9D8B030D-6E8A-4147-A177-3AD203B41FA5}">
                      <a16:colId xmlns:a16="http://schemas.microsoft.com/office/drawing/2014/main" val="20003"/>
                    </a:ext>
                  </a:extLst>
                </a:gridCol>
                <a:gridCol w="1833480">
                  <a:extLst>
                    <a:ext uri="{9D8B030D-6E8A-4147-A177-3AD203B41FA5}">
                      <a16:colId xmlns:a16="http://schemas.microsoft.com/office/drawing/2014/main" val="20004"/>
                    </a:ext>
                  </a:extLst>
                </a:gridCol>
              </a:tblGrid>
              <a:tr h="499320">
                <a:tc>
                  <a:txBody>
                    <a:bodyPr/>
                    <a:lstStyle/>
                    <a:p>
                      <a:pPr algn="ctr" defTabSz="914400">
                        <a:lnSpc>
                          <a:spcPct val="100000"/>
                        </a:lnSpc>
                      </a:pPr>
                      <a:r>
                        <a:rPr lang="ja-JP" sz="1050" b="1" u="none" strike="noStrike">
                          <a:solidFill>
                            <a:srgbClr val="000000"/>
                          </a:solidFill>
                          <a:effectLst/>
                          <a:uFillTx/>
                          <a:latin typeface="メイリオ"/>
                          <a:ea typeface="メイリオ"/>
                        </a:rPr>
                        <a:t>年齢層</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LINE</a:t>
                      </a:r>
                      <a:r>
                        <a:rPr lang="ja-JP" sz="1000" b="0" u="none" strike="noStrike">
                          <a:solidFill>
                            <a:srgbClr val="000000"/>
                          </a:solidFill>
                          <a:effectLst/>
                          <a:uFillTx/>
                          <a:latin typeface="メイリオ"/>
                          <a:ea typeface="メイリオ"/>
                        </a:rPr>
                        <a:t>・チャット系</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rPr>
                        <a:t>メール・メルマガ</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rPr>
                        <a:t>電話</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rPr>
                        <a:t>主要な特徴・</a:t>
                      </a:r>
                      <a:r>
                        <a:rPr lang="en-US" sz="1000" b="0" u="none" strike="noStrike">
                          <a:solidFill>
                            <a:srgbClr val="000000"/>
                          </a:solidFill>
                          <a:effectLst/>
                          <a:uFillTx/>
                          <a:latin typeface="メイリオ"/>
                          <a:ea typeface="メイリオ"/>
                        </a:rPr>
                        <a:t>SNS</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extLst>
                  <a:ext uri="{0D108BD9-81ED-4DB2-BD59-A6C34878D82A}">
                    <a16:rowId xmlns:a16="http://schemas.microsoft.com/office/drawing/2014/main" val="10000"/>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rPr>
                        <a:t>　　　</a:t>
                      </a:r>
                      <a:r>
                        <a:rPr lang="en-US" sz="1050" b="1" u="none" strike="noStrike">
                          <a:solidFill>
                            <a:srgbClr val="000000"/>
                          </a:solidFill>
                          <a:effectLst/>
                          <a:uFillTx/>
                          <a:latin typeface="メイリオ"/>
                          <a:ea typeface="メイリオ"/>
                        </a:rPr>
                        <a:t>10</a:t>
                      </a:r>
                      <a:r>
                        <a:rPr lang="ja-JP" sz="1050" b="1" u="none" strike="noStrike">
                          <a:solidFill>
                            <a:srgbClr val="000000"/>
                          </a:solidFill>
                          <a:effectLst/>
                          <a:uFillTx/>
                          <a:latin typeface="メイリオ"/>
                          <a:ea typeface="メイリオ"/>
                        </a:rPr>
                        <a:t>代〜</a:t>
                      </a:r>
                      <a:r>
                        <a:rPr lang="en-US" sz="1050" b="1" u="none" strike="noStrike">
                          <a:solidFill>
                            <a:srgbClr val="000000"/>
                          </a:solidFill>
                          <a:effectLst/>
                          <a:uFillTx/>
                          <a:latin typeface="メイリオ"/>
                          <a:ea typeface="メイリオ"/>
                        </a:rPr>
                        <a:t>20</a:t>
                      </a:r>
                      <a:r>
                        <a:rPr lang="ja-JP" sz="1050" b="1" u="none" strike="noStrike">
                          <a:solidFill>
                            <a:srgbClr val="000000"/>
                          </a:solidFill>
                          <a:effectLst/>
                          <a:uFillTx/>
                          <a:latin typeface="メイリオ"/>
                          <a:ea typeface="メイリオ"/>
                        </a:rPr>
                        <a:t>代　</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90%</a:t>
                      </a:r>
                      <a:r>
                        <a:rPr lang="ja-JP" sz="1000" b="1" u="none" strike="noStrike">
                          <a:solidFill>
                            <a:srgbClr val="000000"/>
                          </a:solidFill>
                          <a:effectLst/>
                          <a:uFillTx/>
                          <a:latin typeface="メイリオ"/>
                          <a:ea typeface="メイリオ"/>
                        </a:rPr>
                        <a:t>以上</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利用率：低</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利用率：極めて低</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rPr>
                        <a:t>Tiktok YouTube</a:t>
                      </a:r>
                      <a:r>
                        <a:rPr lang="ja-JP" sz="800" b="0" u="none" strike="noStrike">
                          <a:solidFill>
                            <a:srgbClr val="000000"/>
                          </a:solidFill>
                          <a:effectLst/>
                          <a:uFillTx/>
                          <a:latin typeface="メイリオ"/>
                          <a:ea typeface="メイリオ"/>
                        </a:rPr>
                        <a:t>が情報収集の起点。</a:t>
                      </a:r>
                      <a:br>
                        <a:rPr sz="800"/>
                      </a:br>
                      <a:r>
                        <a:rPr lang="en-US" sz="800" b="0" u="none" strike="noStrike">
                          <a:solidFill>
                            <a:srgbClr val="000000"/>
                          </a:solidFill>
                          <a:effectLst/>
                          <a:uFillTx/>
                          <a:latin typeface="メイリオ"/>
                          <a:ea typeface="メイリオ"/>
                        </a:rPr>
                        <a:t>Instagram</a:t>
                      </a:r>
                      <a:r>
                        <a:rPr lang="ja-JP" sz="800" b="0" u="none" strike="noStrike">
                          <a:solidFill>
                            <a:srgbClr val="000000"/>
                          </a:solidFill>
                          <a:effectLst/>
                          <a:uFillTx/>
                          <a:latin typeface="メイリオ"/>
                          <a:ea typeface="メイリオ"/>
                        </a:rPr>
                        <a:t>、</a:t>
                      </a:r>
                      <a:r>
                        <a:rPr lang="en-US" sz="800" b="0" u="none" strike="noStrike">
                          <a:solidFill>
                            <a:srgbClr val="000000"/>
                          </a:solidFill>
                          <a:effectLst/>
                          <a:uFillTx/>
                          <a:latin typeface="メイリオ"/>
                          <a:ea typeface="メイリオ"/>
                        </a:rPr>
                        <a:t>X</a:t>
                      </a:r>
                      <a:r>
                        <a:rPr lang="ja-JP" sz="800" b="0" u="none" strike="noStrike">
                          <a:solidFill>
                            <a:srgbClr val="000000"/>
                          </a:solidFill>
                          <a:effectLst/>
                          <a:uFillTx/>
                          <a:latin typeface="メイリオ"/>
                          <a:ea typeface="メイリオ"/>
                        </a:rPr>
                        <a:t>の</a:t>
                      </a:r>
                      <a:r>
                        <a:rPr lang="en-US" sz="800" b="0" u="none" strike="noStrike">
                          <a:solidFill>
                            <a:srgbClr val="000000"/>
                          </a:solidFill>
                          <a:effectLst/>
                          <a:uFillTx/>
                          <a:latin typeface="メイリオ"/>
                          <a:ea typeface="メイリオ"/>
                        </a:rPr>
                        <a:t>DM</a:t>
                      </a:r>
                      <a:r>
                        <a:rPr lang="ja-JP" sz="800" b="0" u="none" strike="noStrike">
                          <a:solidFill>
                            <a:srgbClr val="000000"/>
                          </a:solidFill>
                          <a:effectLst/>
                          <a:uFillTx/>
                          <a:latin typeface="メイリオ"/>
                          <a:ea typeface="メイリオ"/>
                        </a:rPr>
                        <a:t>も</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連絡網として活用。</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1"/>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日常連絡の絶対的インフラ。</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企業や公式からの連絡は</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読まれない傾向。</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「電話恐怖症」を持つ人も。</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2"/>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rPr>
                        <a:t>　　　</a:t>
                      </a:r>
                      <a:r>
                        <a:rPr lang="en-US" sz="1050" b="1" u="none" strike="noStrike">
                          <a:solidFill>
                            <a:srgbClr val="000000"/>
                          </a:solidFill>
                          <a:effectLst/>
                          <a:uFillTx/>
                          <a:latin typeface="メイリオ"/>
                          <a:ea typeface="メイリオ"/>
                        </a:rPr>
                        <a:t>30</a:t>
                      </a:r>
                      <a:r>
                        <a:rPr lang="ja-JP" sz="1050" b="1" u="none" strike="noStrike">
                          <a:solidFill>
                            <a:srgbClr val="000000"/>
                          </a:solidFill>
                          <a:effectLst/>
                          <a:uFillTx/>
                          <a:latin typeface="メイリオ"/>
                          <a:ea typeface="メイリオ"/>
                        </a:rPr>
                        <a:t>代〜</a:t>
                      </a:r>
                      <a:r>
                        <a:rPr lang="en-US" sz="1050" b="1" u="none" strike="noStrike">
                          <a:solidFill>
                            <a:srgbClr val="000000"/>
                          </a:solidFill>
                          <a:effectLst/>
                          <a:uFillTx/>
                          <a:latin typeface="メイリオ"/>
                          <a:ea typeface="メイリオ"/>
                        </a:rPr>
                        <a:t>40</a:t>
                      </a:r>
                      <a:r>
                        <a:rPr lang="ja-JP" sz="1050" b="1" u="none" strike="noStrike">
                          <a:solidFill>
                            <a:srgbClr val="000000"/>
                          </a:solidFill>
                          <a:effectLst/>
                          <a:uFillTx/>
                          <a:latin typeface="メイリオ"/>
                          <a:ea typeface="メイリオ"/>
                        </a:rPr>
                        <a:t>代</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90%</a:t>
                      </a:r>
                      <a:r>
                        <a:rPr lang="ja-JP" sz="1000" b="1" u="none" strike="noStrike">
                          <a:solidFill>
                            <a:srgbClr val="000000"/>
                          </a:solidFill>
                          <a:effectLst/>
                          <a:uFillTx/>
                          <a:latin typeface="メイリオ"/>
                          <a:ea typeface="メイリオ"/>
                        </a:rPr>
                        <a:t>以上</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利用率：中〜高</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利用率：中</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rPr>
                        <a:t>Facebook</a:t>
                      </a:r>
                      <a:r>
                        <a:rPr lang="ja-JP" sz="800" b="0" u="none" strike="noStrike">
                          <a:solidFill>
                            <a:srgbClr val="000000"/>
                          </a:solidFill>
                          <a:effectLst/>
                          <a:uFillTx/>
                          <a:latin typeface="メイリオ"/>
                          <a:ea typeface="メイリオ"/>
                        </a:rPr>
                        <a:t>や</a:t>
                      </a:r>
                      <a:r>
                        <a:rPr lang="en-US" sz="800" b="0" u="none" strike="noStrike">
                          <a:solidFill>
                            <a:srgbClr val="000000"/>
                          </a:solidFill>
                          <a:effectLst/>
                          <a:uFillTx/>
                          <a:latin typeface="メイリオ"/>
                          <a:ea typeface="メイリオ"/>
                        </a:rPr>
                        <a:t>X</a:t>
                      </a:r>
                      <a:r>
                        <a:rPr lang="ja-JP" sz="800" b="0" u="none" strike="noStrike">
                          <a:solidFill>
                            <a:srgbClr val="000000"/>
                          </a:solidFill>
                          <a:effectLst/>
                          <a:uFillTx/>
                          <a:latin typeface="メイリオ"/>
                          <a:ea typeface="メイリオ"/>
                        </a:rPr>
                        <a:t>での情報収集が活発。</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3"/>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プライベートの連絡網。</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仕事や、メルマガでの</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セールス情報に抵抗なし。</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プライベートでは減少傾向も</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仕事では必須。</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4"/>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rPr>
                        <a:t>　　　</a:t>
                      </a:r>
                      <a:r>
                        <a:rPr lang="en-US" sz="1050" b="1" u="none" strike="noStrike">
                          <a:solidFill>
                            <a:srgbClr val="000000"/>
                          </a:solidFill>
                          <a:effectLst/>
                          <a:uFillTx/>
                          <a:latin typeface="メイリオ"/>
                          <a:ea typeface="メイリオ"/>
                        </a:rPr>
                        <a:t>50</a:t>
                      </a:r>
                      <a:r>
                        <a:rPr lang="ja-JP" sz="1050" b="1" u="none" strike="noStrike">
                          <a:solidFill>
                            <a:srgbClr val="000000"/>
                          </a:solidFill>
                          <a:effectLst/>
                          <a:uFillTx/>
                          <a:latin typeface="メイリオ"/>
                          <a:ea typeface="メイリオ"/>
                        </a:rPr>
                        <a:t>代〜</a:t>
                      </a:r>
                      <a:r>
                        <a:rPr lang="en-US" sz="1050" b="1" u="none" strike="noStrike">
                          <a:solidFill>
                            <a:srgbClr val="000000"/>
                          </a:solidFill>
                          <a:effectLst/>
                          <a:uFillTx/>
                          <a:latin typeface="メイリオ"/>
                          <a:ea typeface="メイリオ"/>
                        </a:rPr>
                        <a:t>60</a:t>
                      </a:r>
                      <a:r>
                        <a:rPr lang="ja-JP" sz="1050" b="1" u="none" strike="noStrike">
                          <a:solidFill>
                            <a:srgbClr val="000000"/>
                          </a:solidFill>
                          <a:effectLst/>
                          <a:uFillTx/>
                          <a:latin typeface="メイリオ"/>
                          <a:ea typeface="メイリオ"/>
                        </a:rPr>
                        <a:t>代</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80%</a:t>
                      </a:r>
                      <a:r>
                        <a:rPr lang="ja-JP" sz="1000" b="1" u="none" strike="noStrike">
                          <a:solidFill>
                            <a:srgbClr val="000000"/>
                          </a:solidFill>
                          <a:effectLst/>
                          <a:uFillTx/>
                          <a:latin typeface="メイリオ"/>
                          <a:ea typeface="メイリオ"/>
                        </a:rPr>
                        <a:t>〜</a:t>
                      </a:r>
                      <a:r>
                        <a:rPr lang="en-US" sz="1000" b="1" u="none" strike="noStrike">
                          <a:solidFill>
                            <a:srgbClr val="000000"/>
                          </a:solidFill>
                          <a:effectLst/>
                          <a:uFillTx/>
                          <a:latin typeface="メイリオ"/>
                          <a:ea typeface="メイリオ"/>
                        </a:rPr>
                        <a:t>90%</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利用率：高い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利用率：高い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rPr>
                        <a:t>YouTube</a:t>
                      </a:r>
                      <a:r>
                        <a:rPr lang="ja-JP" sz="800" b="0" u="none" strike="noStrike">
                          <a:solidFill>
                            <a:srgbClr val="000000"/>
                          </a:solidFill>
                          <a:effectLst/>
                          <a:uFillTx/>
                          <a:latin typeface="メイリオ"/>
                          <a:ea typeface="メイリオ"/>
                        </a:rPr>
                        <a:t>での趣味動画視聴も普及。</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5"/>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家族や友人との連絡で定着。</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最も好まれる企業からの</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情報受取ツール。</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予約や急ぎの用件で信頼性が高い。</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6"/>
                  </a:ext>
                </a:extLst>
              </a:tr>
              <a:tr h="499320">
                <a:tc rowSpan="2">
                  <a:txBody>
                    <a:bodyPr/>
                    <a:lstStyle/>
                    <a:p>
                      <a:pPr algn="ctr" defTabSz="914400">
                        <a:lnSpc>
                          <a:spcPct val="100000"/>
                        </a:lnSpc>
                      </a:pPr>
                      <a:r>
                        <a:rPr lang="en-US" sz="1050" b="1" u="none" strike="noStrike">
                          <a:solidFill>
                            <a:srgbClr val="000000"/>
                          </a:solidFill>
                          <a:effectLst/>
                          <a:uFillTx/>
                          <a:latin typeface="メイリオ"/>
                          <a:ea typeface="メイリオ"/>
                        </a:rPr>
                        <a:t>70</a:t>
                      </a:r>
                      <a:r>
                        <a:rPr lang="ja-JP" sz="1050" b="1" u="none" strike="noStrike">
                          <a:solidFill>
                            <a:srgbClr val="000000"/>
                          </a:solidFill>
                          <a:effectLst/>
                          <a:uFillTx/>
                          <a:latin typeface="メイリオ"/>
                          <a:ea typeface="メイリオ"/>
                        </a:rPr>
                        <a:t>代以上</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70%</a:t>
                      </a:r>
                      <a:r>
                        <a:rPr lang="ja-JP" sz="1000" b="1" u="none" strike="noStrike">
                          <a:solidFill>
                            <a:srgbClr val="000000"/>
                          </a:solidFill>
                          <a:effectLst/>
                          <a:uFillTx/>
                          <a:latin typeface="メイリオ"/>
                          <a:ea typeface="メイリオ"/>
                        </a:rPr>
                        <a:t>前後</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利用率：低い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利用率：最も高い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ja-JP" sz="800" b="0" u="none" strike="noStrike">
                          <a:solidFill>
                            <a:srgbClr val="000000"/>
                          </a:solidFill>
                          <a:effectLst/>
                          <a:uFillTx/>
                          <a:latin typeface="メイリオ"/>
                          <a:ea typeface="メイリオ"/>
                        </a:rPr>
                        <a:t>連絡手段としての電話が</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最優先される層。</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7"/>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高齢者層にも普及が進む。</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操作に不慣れで到達率が下がる。</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重要な連絡や問い合わせは</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電話がメイン。</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6"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sp>
        <p:nvSpPr>
          <p:cNvPr id="877" name="Google Shape;752;p28"/>
          <p:cNvSpPr/>
          <p:nvPr/>
        </p:nvSpPr>
        <p:spPr>
          <a:xfrm>
            <a:off x="711360" y="969480"/>
            <a:ext cx="8353440" cy="52272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algn="ctr" defTabSz="914400">
              <a:lnSpc>
                <a:spcPct val="100000"/>
              </a:lnSpc>
            </a:pPr>
            <a:r>
              <a:rPr lang="en-US" sz="1400" b="0" u="none" strike="noStrike">
                <a:solidFill>
                  <a:schemeClr val="dk1"/>
                </a:solidFill>
                <a:effectLst/>
                <a:uFillTx/>
                <a:latin typeface="メイリオ"/>
                <a:ea typeface="メイリオ"/>
              </a:rPr>
              <a:t>LINE</a:t>
            </a:r>
            <a:r>
              <a:rPr lang="ja-JP" sz="1400" b="0" u="none" strike="noStrike">
                <a:solidFill>
                  <a:schemeClr val="dk1"/>
                </a:solidFill>
                <a:effectLst/>
                <a:uFillTx/>
                <a:latin typeface="メイリオ"/>
                <a:ea typeface="メイリオ"/>
              </a:rPr>
              <a:t>公式アカウントの施策内（開封率、クリック率、</a:t>
            </a:r>
            <a:r>
              <a:rPr lang="en-US" sz="1400" b="0" u="none" strike="noStrike">
                <a:solidFill>
                  <a:schemeClr val="dk1"/>
                </a:solidFill>
                <a:effectLst/>
                <a:uFillTx/>
                <a:latin typeface="メイリオ"/>
                <a:ea typeface="メイリオ"/>
              </a:rPr>
              <a:t>CV</a:t>
            </a:r>
            <a:r>
              <a:rPr lang="ja-JP" sz="1400" b="0" u="none" strike="noStrike">
                <a:solidFill>
                  <a:schemeClr val="dk1"/>
                </a:solidFill>
                <a:effectLst/>
                <a:uFillTx/>
                <a:latin typeface="メイリオ"/>
                <a:ea typeface="メイリオ"/>
              </a:rPr>
              <a:t>率）で高い水準の施策をご提供。</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メイリオ"/>
                <a:ea typeface="メイリオ"/>
              </a:rPr>
              <a:t>初期設計のみのご依頼でも、大きく数値改善できるポイントの導入支援が可能です。</a:t>
            </a:r>
            <a:endParaRPr lang="en-US" sz="1400" b="0" u="none" strike="noStrike">
              <a:solidFill>
                <a:srgbClr val="000000"/>
              </a:solidFill>
              <a:effectLst/>
              <a:uFillTx/>
              <a:latin typeface="Arial"/>
            </a:endParaRPr>
          </a:p>
        </p:txBody>
      </p:sp>
      <p:sp>
        <p:nvSpPr>
          <p:cNvPr id="878" name="正方形/長方形 4"/>
          <p:cNvSpPr/>
          <p:nvPr/>
        </p:nvSpPr>
        <p:spPr>
          <a:xfrm>
            <a:off x="7833600" y="2844720"/>
            <a:ext cx="1438200" cy="267840"/>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endParaRPr lang="en-US" sz="1050" b="0" u="none" strike="noStrike">
              <a:solidFill>
                <a:srgbClr val="FFFFFF"/>
              </a:solidFill>
              <a:effectLst/>
              <a:uFillTx/>
              <a:latin typeface="Arial"/>
            </a:endParaRPr>
          </a:p>
        </p:txBody>
      </p:sp>
      <p:sp>
        <p:nvSpPr>
          <p:cNvPr id="879" name="正方形/長方形 5"/>
          <p:cNvSpPr/>
          <p:nvPr/>
        </p:nvSpPr>
        <p:spPr>
          <a:xfrm>
            <a:off x="7833600" y="2532960"/>
            <a:ext cx="1438200" cy="267840"/>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営業トスアップ</a:t>
            </a:r>
            <a:endParaRPr lang="en-US" sz="1050" b="0" u="none" strike="noStrike">
              <a:solidFill>
                <a:srgbClr val="000000"/>
              </a:solidFill>
              <a:effectLst/>
              <a:uFillTx/>
              <a:latin typeface="Arial"/>
            </a:endParaRPr>
          </a:p>
        </p:txBody>
      </p:sp>
      <p:cxnSp>
        <p:nvCxnSpPr>
          <p:cNvPr id="880" name="直線矢印コネクタ 15"/>
          <p:cNvCxnSpPr/>
          <p:nvPr/>
        </p:nvCxnSpPr>
        <p:spPr>
          <a:xfrm>
            <a:off x="387720" y="2801160"/>
            <a:ext cx="7251120" cy="360"/>
          </a:xfrm>
          <a:prstGeom prst="straightConnector1">
            <a:avLst/>
          </a:prstGeom>
          <a:ln w="28575">
            <a:solidFill>
              <a:srgbClr val="1F497D"/>
            </a:solidFill>
            <a:prstDash val="sysDash"/>
            <a:round/>
            <a:tailEnd type="triangle" w="med" len="med"/>
          </a:ln>
        </p:spPr>
      </p:cxnSp>
      <p:sp>
        <p:nvSpPr>
          <p:cNvPr id="881" name="正方形/長方形 20"/>
          <p:cNvSpPr/>
          <p:nvPr/>
        </p:nvSpPr>
        <p:spPr>
          <a:xfrm>
            <a:off x="7663320" y="2057760"/>
            <a:ext cx="1819800" cy="1127880"/>
          </a:xfrm>
          <a:prstGeom prst="rect">
            <a:avLst/>
          </a:prstGeom>
          <a:no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82" name="テキスト ボックス 22"/>
          <p:cNvSpPr/>
          <p:nvPr/>
        </p:nvSpPr>
        <p:spPr>
          <a:xfrm>
            <a:off x="8033040" y="2122560"/>
            <a:ext cx="108000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rgbClr val="FF0000"/>
                </a:solidFill>
                <a:effectLst/>
                <a:uFillTx/>
                <a:latin typeface="メイリオ"/>
                <a:ea typeface="メイリオ"/>
              </a:rPr>
              <a:t>（成果地点）</a:t>
            </a:r>
            <a:endParaRPr lang="en-US" sz="1100" b="0" u="none" strike="noStrike">
              <a:solidFill>
                <a:srgbClr val="000000"/>
              </a:solidFill>
              <a:effectLst/>
              <a:uFillTx/>
              <a:latin typeface="Arial"/>
            </a:endParaRPr>
          </a:p>
        </p:txBody>
      </p:sp>
      <p:sp>
        <p:nvSpPr>
          <p:cNvPr id="883" name="正方形/長方形 45"/>
          <p:cNvSpPr/>
          <p:nvPr/>
        </p:nvSpPr>
        <p:spPr>
          <a:xfrm>
            <a:off x="2496240" y="2062800"/>
            <a:ext cx="4887720" cy="2483280"/>
          </a:xfrm>
          <a:prstGeom prst="rect">
            <a:avLst/>
          </a:prstGeom>
          <a:solidFill>
            <a:schemeClr val="bg1"/>
          </a:solid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84" name="正方形/長方形 46"/>
          <p:cNvSpPr/>
          <p:nvPr/>
        </p:nvSpPr>
        <p:spPr>
          <a:xfrm>
            <a:off x="27277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FFFFFF"/>
              </a:solidFill>
              <a:effectLst/>
              <a:uFillTx/>
              <a:latin typeface="Arial"/>
            </a:endParaRPr>
          </a:p>
        </p:txBody>
      </p:sp>
      <p:sp>
        <p:nvSpPr>
          <p:cNvPr id="885" name="正方形/長方形 47"/>
          <p:cNvSpPr/>
          <p:nvPr/>
        </p:nvSpPr>
        <p:spPr>
          <a:xfrm>
            <a:off x="42361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FFFFFF"/>
              </a:solidFill>
              <a:effectLst/>
              <a:uFillTx/>
              <a:latin typeface="Arial"/>
            </a:endParaRPr>
          </a:p>
        </p:txBody>
      </p:sp>
      <p:sp>
        <p:nvSpPr>
          <p:cNvPr id="886" name="正方形/長方形 48"/>
          <p:cNvSpPr/>
          <p:nvPr/>
        </p:nvSpPr>
        <p:spPr>
          <a:xfrm>
            <a:off x="57445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FFFFFF"/>
              </a:solidFill>
              <a:effectLst/>
              <a:uFillTx/>
              <a:latin typeface="Arial"/>
            </a:endParaRPr>
          </a:p>
        </p:txBody>
      </p:sp>
      <p:sp>
        <p:nvSpPr>
          <p:cNvPr id="887" name="正方形/長方形 49"/>
          <p:cNvSpPr/>
          <p:nvPr/>
        </p:nvSpPr>
        <p:spPr>
          <a:xfrm>
            <a:off x="2635560" y="2541960"/>
            <a:ext cx="4617360" cy="267840"/>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通常メッセージ（企画投稿）</a:t>
            </a:r>
            <a:endParaRPr lang="en-US" sz="1050" b="0" u="none" strike="noStrike">
              <a:solidFill>
                <a:srgbClr val="FFFFFF"/>
              </a:solidFill>
              <a:effectLst/>
              <a:uFillTx/>
              <a:latin typeface="Arial"/>
            </a:endParaRPr>
          </a:p>
        </p:txBody>
      </p:sp>
      <p:sp>
        <p:nvSpPr>
          <p:cNvPr id="888" name="正方形/長方形 50"/>
          <p:cNvSpPr/>
          <p:nvPr/>
        </p:nvSpPr>
        <p:spPr>
          <a:xfrm>
            <a:off x="27277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FFFFFF"/>
              </a:solidFill>
              <a:effectLst/>
              <a:uFillTx/>
              <a:latin typeface="Arial"/>
            </a:endParaRPr>
          </a:p>
        </p:txBody>
      </p:sp>
      <p:sp>
        <p:nvSpPr>
          <p:cNvPr id="889" name="正方形/長方形 51"/>
          <p:cNvSpPr/>
          <p:nvPr/>
        </p:nvSpPr>
        <p:spPr>
          <a:xfrm>
            <a:off x="42361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FFFFFF"/>
              </a:solidFill>
              <a:effectLst/>
              <a:uFillTx/>
              <a:latin typeface="Arial"/>
            </a:endParaRPr>
          </a:p>
        </p:txBody>
      </p:sp>
      <p:sp>
        <p:nvSpPr>
          <p:cNvPr id="890" name="正方形/長方形 52"/>
          <p:cNvSpPr/>
          <p:nvPr/>
        </p:nvSpPr>
        <p:spPr>
          <a:xfrm>
            <a:off x="57445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FFFFFF"/>
              </a:solidFill>
              <a:effectLst/>
              <a:uFillTx/>
              <a:latin typeface="Arial"/>
            </a:endParaRPr>
          </a:p>
        </p:txBody>
      </p:sp>
      <p:sp>
        <p:nvSpPr>
          <p:cNvPr id="891" name="正方形/長方形 53"/>
          <p:cNvSpPr/>
          <p:nvPr/>
        </p:nvSpPr>
        <p:spPr>
          <a:xfrm>
            <a:off x="2635560" y="3211200"/>
            <a:ext cx="4617360" cy="267840"/>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通常メッセージ（ステップ配信投稿）</a:t>
            </a:r>
            <a:endParaRPr lang="en-US" sz="1050" b="0" u="none" strike="noStrike">
              <a:solidFill>
                <a:srgbClr val="FFFFFF"/>
              </a:solidFill>
              <a:effectLst/>
              <a:uFillTx/>
              <a:latin typeface="Arial"/>
            </a:endParaRPr>
          </a:p>
        </p:txBody>
      </p:sp>
      <p:sp>
        <p:nvSpPr>
          <p:cNvPr id="892" name="正方形/長方形 54"/>
          <p:cNvSpPr/>
          <p:nvPr/>
        </p:nvSpPr>
        <p:spPr>
          <a:xfrm>
            <a:off x="27277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FFFFFF"/>
              </a:solidFill>
              <a:effectLst/>
              <a:uFillTx/>
              <a:latin typeface="Arial"/>
            </a:endParaRPr>
          </a:p>
        </p:txBody>
      </p:sp>
      <p:sp>
        <p:nvSpPr>
          <p:cNvPr id="893" name="正方形/長方形 55"/>
          <p:cNvSpPr/>
          <p:nvPr/>
        </p:nvSpPr>
        <p:spPr>
          <a:xfrm>
            <a:off x="42361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FFFFFF"/>
              </a:solidFill>
              <a:effectLst/>
              <a:uFillTx/>
              <a:latin typeface="Arial"/>
            </a:endParaRPr>
          </a:p>
        </p:txBody>
      </p:sp>
      <p:sp>
        <p:nvSpPr>
          <p:cNvPr id="894" name="正方形/長方形 56"/>
          <p:cNvSpPr/>
          <p:nvPr/>
        </p:nvSpPr>
        <p:spPr>
          <a:xfrm>
            <a:off x="57445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FFFFFF"/>
              </a:solidFill>
              <a:effectLst/>
              <a:uFillTx/>
              <a:latin typeface="Arial"/>
            </a:endParaRPr>
          </a:p>
        </p:txBody>
      </p:sp>
      <p:sp>
        <p:nvSpPr>
          <p:cNvPr id="895" name="正方形/長方形 57"/>
          <p:cNvSpPr/>
          <p:nvPr/>
        </p:nvSpPr>
        <p:spPr>
          <a:xfrm>
            <a:off x="2635560" y="3865320"/>
            <a:ext cx="4617360" cy="267840"/>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その他指標（リッチメニュー、プロフ、挨拶メッセ）</a:t>
            </a:r>
            <a:endParaRPr lang="en-US" sz="1050" b="0" u="none" strike="noStrike">
              <a:solidFill>
                <a:srgbClr val="FFFFFF"/>
              </a:solidFill>
              <a:effectLst/>
              <a:uFillTx/>
              <a:latin typeface="Arial"/>
            </a:endParaRPr>
          </a:p>
        </p:txBody>
      </p:sp>
      <p:sp>
        <p:nvSpPr>
          <p:cNvPr id="896" name="テキスト ボックス 58"/>
          <p:cNvSpPr/>
          <p:nvPr/>
        </p:nvSpPr>
        <p:spPr>
          <a:xfrm>
            <a:off x="4152600" y="2126520"/>
            <a:ext cx="15811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chemeClr val="dk2"/>
                </a:solidFill>
                <a:effectLst/>
                <a:uFillTx/>
                <a:latin typeface="メイリオ"/>
                <a:ea typeface="メイリオ"/>
              </a:rPr>
              <a:t>（</a:t>
            </a:r>
            <a:r>
              <a:rPr lang="en-US" sz="1100" b="0" u="none" strike="noStrike">
                <a:solidFill>
                  <a:schemeClr val="dk2"/>
                </a:solidFill>
                <a:effectLst/>
                <a:uFillTx/>
                <a:latin typeface="メイリオ"/>
                <a:ea typeface="メイリオ"/>
              </a:rPr>
              <a:t>LINE</a:t>
            </a:r>
            <a:r>
              <a:rPr lang="ja-JP" sz="1100" b="0" u="none" strike="noStrike">
                <a:solidFill>
                  <a:schemeClr val="dk2"/>
                </a:solidFill>
                <a:effectLst/>
                <a:uFillTx/>
                <a:latin typeface="メイリオ"/>
                <a:ea typeface="メイリオ"/>
              </a:rPr>
              <a:t>施策内）</a:t>
            </a:r>
            <a:endParaRPr lang="en-US" sz="1100" b="0" u="none" strike="noStrike">
              <a:solidFill>
                <a:srgbClr val="000000"/>
              </a:solidFill>
              <a:effectLst/>
              <a:uFillTx/>
              <a:latin typeface="Arial"/>
            </a:endParaRPr>
          </a:p>
        </p:txBody>
      </p:sp>
      <p:sp>
        <p:nvSpPr>
          <p:cNvPr id="897" name="正方形/長方形 64"/>
          <p:cNvSpPr/>
          <p:nvPr/>
        </p:nvSpPr>
        <p:spPr>
          <a:xfrm>
            <a:off x="632160" y="2062800"/>
            <a:ext cx="1581120" cy="2483280"/>
          </a:xfrm>
          <a:prstGeom prst="rect">
            <a:avLst/>
          </a:prstGeom>
          <a:solidFill>
            <a:schemeClr val="bg1"/>
          </a:solid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98" name="正方形/長方形 65"/>
          <p:cNvSpPr/>
          <p:nvPr/>
        </p:nvSpPr>
        <p:spPr>
          <a:xfrm>
            <a:off x="703440" y="2666880"/>
            <a:ext cx="1438200" cy="267840"/>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友だち追加</a:t>
            </a:r>
            <a:endParaRPr lang="en-US" sz="1050" b="0" u="none" strike="noStrike">
              <a:solidFill>
                <a:srgbClr val="FFFFFF"/>
              </a:solidFill>
              <a:effectLst/>
              <a:uFillTx/>
              <a:latin typeface="Arial"/>
            </a:endParaRPr>
          </a:p>
        </p:txBody>
      </p:sp>
      <p:sp>
        <p:nvSpPr>
          <p:cNvPr id="899" name="テキスト ボックス 66"/>
          <p:cNvSpPr/>
          <p:nvPr/>
        </p:nvSpPr>
        <p:spPr>
          <a:xfrm>
            <a:off x="632160" y="3030840"/>
            <a:ext cx="158112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000" b="1" u="none" strike="noStrike">
                <a:solidFill>
                  <a:schemeClr val="dk1"/>
                </a:solidFill>
                <a:effectLst/>
                <a:uFillTx/>
                <a:latin typeface="メイリオ"/>
                <a:ea typeface="メイリオ"/>
              </a:rPr>
              <a:t>アクティブ数</a:t>
            </a:r>
            <a:endParaRPr lang="en-US" sz="1000" b="0" u="none" strike="noStrike">
              <a:solidFill>
                <a:srgbClr val="000000"/>
              </a:solidFill>
              <a:effectLst/>
              <a:uFillTx/>
              <a:latin typeface="Arial"/>
            </a:endParaRPr>
          </a:p>
          <a:p>
            <a:pPr algn="ctr" defTabSz="914400">
              <a:lnSpc>
                <a:spcPct val="100000"/>
              </a:lnSpc>
            </a:pPr>
            <a:r>
              <a:rPr lang="ja-JP" sz="800" b="0" u="none" strike="noStrike">
                <a:solidFill>
                  <a:schemeClr val="dk1"/>
                </a:solidFill>
                <a:effectLst/>
                <a:uFillTx/>
                <a:latin typeface="メイリオ"/>
                <a:ea typeface="メイリオ"/>
              </a:rPr>
              <a:t>（非ブロック率）</a:t>
            </a:r>
            <a:endParaRPr lang="en-US" sz="800" b="0" u="none" strike="noStrike">
              <a:solidFill>
                <a:srgbClr val="000000"/>
              </a:solidFill>
              <a:effectLst/>
              <a:uFillTx/>
              <a:latin typeface="Arial"/>
            </a:endParaRPr>
          </a:p>
        </p:txBody>
      </p:sp>
      <p:sp>
        <p:nvSpPr>
          <p:cNvPr id="900" name="テキスト ボックス 67"/>
          <p:cNvSpPr/>
          <p:nvPr/>
        </p:nvSpPr>
        <p:spPr>
          <a:xfrm>
            <a:off x="632160" y="3492360"/>
            <a:ext cx="1581120" cy="553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000" b="1" u="none" strike="noStrike">
                <a:solidFill>
                  <a:schemeClr val="dk1"/>
                </a:solidFill>
                <a:effectLst/>
                <a:uFillTx/>
                <a:latin typeface="メイリオ"/>
                <a:ea typeface="メイリオ"/>
              </a:rPr>
              <a:t>セグメント率</a:t>
            </a:r>
            <a:endParaRPr lang="en-US" sz="1000" b="0" u="none" strike="noStrike">
              <a:solidFill>
                <a:srgbClr val="000000"/>
              </a:solidFill>
              <a:effectLst/>
              <a:uFillTx/>
              <a:latin typeface="Arial"/>
            </a:endParaRPr>
          </a:p>
          <a:p>
            <a:pPr algn="ctr" defTabSz="914400">
              <a:lnSpc>
                <a:spcPct val="100000"/>
              </a:lnSpc>
            </a:pPr>
            <a:r>
              <a:rPr lang="en-US" sz="1000" b="0" u="none" strike="noStrike">
                <a:solidFill>
                  <a:schemeClr val="dk1"/>
                </a:solidFill>
                <a:effectLst/>
                <a:uFillTx/>
                <a:latin typeface="メイリオ"/>
                <a:ea typeface="メイリオ"/>
              </a:rPr>
              <a:t>or</a:t>
            </a:r>
            <a:endParaRPr lang="en-US" sz="1000" b="0" u="none" strike="noStrike">
              <a:solidFill>
                <a:srgbClr val="000000"/>
              </a:solidFill>
              <a:effectLst/>
              <a:uFillTx/>
              <a:latin typeface="Arial"/>
            </a:endParaRPr>
          </a:p>
          <a:p>
            <a:pPr algn="ctr" defTabSz="914400">
              <a:lnSpc>
                <a:spcPct val="100000"/>
              </a:lnSpc>
            </a:pPr>
            <a:r>
              <a:rPr lang="ja-JP" sz="1000" b="1" u="none" strike="noStrike">
                <a:solidFill>
                  <a:schemeClr val="dk1"/>
                </a:solidFill>
                <a:effectLst/>
                <a:uFillTx/>
                <a:latin typeface="メイリオ"/>
                <a:ea typeface="メイリオ"/>
              </a:rPr>
              <a:t>ステップ配信設定数</a:t>
            </a:r>
            <a:endParaRPr lang="en-US" sz="1000" b="0" u="none" strike="noStrike">
              <a:solidFill>
                <a:srgbClr val="000000"/>
              </a:solidFill>
              <a:effectLst/>
              <a:uFillTx/>
              <a:latin typeface="Arial"/>
            </a:endParaRPr>
          </a:p>
        </p:txBody>
      </p:sp>
      <p:sp>
        <p:nvSpPr>
          <p:cNvPr id="901" name="テキスト ボックス 68"/>
          <p:cNvSpPr/>
          <p:nvPr/>
        </p:nvSpPr>
        <p:spPr>
          <a:xfrm>
            <a:off x="632160" y="2122560"/>
            <a:ext cx="15811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rgbClr val="00B050"/>
                </a:solidFill>
                <a:effectLst/>
                <a:uFillTx/>
                <a:latin typeface="メイリオ"/>
                <a:ea typeface="メイリオ"/>
              </a:rPr>
              <a:t>（ターゲット戦略）</a:t>
            </a:r>
            <a:endParaRPr lang="en-US" sz="1100" b="0" u="none" strike="noStrike">
              <a:solidFill>
                <a:srgbClr val="000000"/>
              </a:solidFill>
              <a:effectLst/>
              <a:uFillTx/>
              <a:latin typeface="Arial"/>
            </a:endParaRPr>
          </a:p>
        </p:txBody>
      </p:sp>
      <p:sp>
        <p:nvSpPr>
          <p:cNvPr id="902" name="正方形/長方形 69"/>
          <p:cNvSpPr/>
          <p:nvPr/>
        </p:nvSpPr>
        <p:spPr>
          <a:xfrm>
            <a:off x="828360" y="4167720"/>
            <a:ext cx="1188720" cy="267840"/>
          </a:xfrm>
          <a:prstGeom prst="rect">
            <a:avLst/>
          </a:prstGeom>
          <a:solidFill>
            <a:srgbClr val="00B050"/>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月間通数</a:t>
            </a:r>
            <a:endParaRPr lang="en-US" sz="1050" b="0" u="none" strike="noStrike">
              <a:solidFill>
                <a:srgbClr val="FFFFFF"/>
              </a:solidFill>
              <a:effectLst/>
              <a:uFillTx/>
              <a:latin typeface="Arial"/>
            </a:endParaRPr>
          </a:p>
        </p:txBody>
      </p:sp>
      <p:sp>
        <p:nvSpPr>
          <p:cNvPr id="903" name="正方形/長方形 2"/>
          <p:cNvSpPr/>
          <p:nvPr/>
        </p:nvSpPr>
        <p:spPr>
          <a:xfrm>
            <a:off x="619560" y="2054880"/>
            <a:ext cx="1613160" cy="2508120"/>
          </a:xfrm>
          <a:prstGeom prst="rect">
            <a:avLst/>
          </a:prstGeom>
          <a:solidFill>
            <a:schemeClr val="lt1">
              <a:alpha val="65000"/>
            </a:schemeClr>
          </a:solidFill>
          <a:ln w="9525">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04" name="吹き出し: 角を丸めた四角形 21"/>
          <p:cNvSpPr/>
          <p:nvPr/>
        </p:nvSpPr>
        <p:spPr>
          <a:xfrm>
            <a:off x="1422720" y="4756680"/>
            <a:ext cx="6797520" cy="1723320"/>
          </a:xfrm>
          <a:prstGeom prst="wedgeRoundRectCallout">
            <a:avLst>
              <a:gd name="adj1" fmla="val -8535"/>
              <a:gd name="adj2" fmla="val -65828"/>
              <a:gd name="adj3" fmla="val 16667"/>
            </a:avLst>
          </a:prstGeom>
          <a:solidFill>
            <a:schemeClr val="bg1">
              <a:lumMod val="95000"/>
            </a:schemeClr>
          </a:solidFill>
          <a:ln w="6350">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05" name="正方形/長方形 23"/>
          <p:cNvSpPr/>
          <p:nvPr/>
        </p:nvSpPr>
        <p:spPr>
          <a:xfrm>
            <a:off x="314496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000000"/>
              </a:solidFill>
              <a:effectLst/>
              <a:uFillTx/>
              <a:latin typeface="Arial"/>
            </a:endParaRPr>
          </a:p>
        </p:txBody>
      </p:sp>
      <p:sp>
        <p:nvSpPr>
          <p:cNvPr id="906" name="正方形/長方形 24"/>
          <p:cNvSpPr/>
          <p:nvPr/>
        </p:nvSpPr>
        <p:spPr>
          <a:xfrm>
            <a:off x="488232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000000"/>
              </a:solidFill>
              <a:effectLst/>
              <a:uFillTx/>
              <a:latin typeface="Arial"/>
            </a:endParaRPr>
          </a:p>
        </p:txBody>
      </p:sp>
      <p:sp>
        <p:nvSpPr>
          <p:cNvPr id="907" name="正方形/長方形 25"/>
          <p:cNvSpPr/>
          <p:nvPr/>
        </p:nvSpPr>
        <p:spPr>
          <a:xfrm>
            <a:off x="659448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000000"/>
              </a:solidFill>
              <a:effectLst/>
              <a:uFillTx/>
              <a:latin typeface="Arial"/>
            </a:endParaRPr>
          </a:p>
        </p:txBody>
      </p:sp>
      <p:sp>
        <p:nvSpPr>
          <p:cNvPr id="908" name="正方形/長方形 26"/>
          <p:cNvSpPr/>
          <p:nvPr/>
        </p:nvSpPr>
        <p:spPr>
          <a:xfrm>
            <a:off x="314496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rgbClr val="FF0000"/>
                </a:solidFill>
                <a:effectLst/>
                <a:uFillTx/>
                <a:latin typeface="メイリオ"/>
                <a:ea typeface="メイリオ"/>
              </a:rPr>
              <a:t>85 </a:t>
            </a:r>
            <a:r>
              <a:rPr lang="en-US" sz="1400" b="1" u="none" strike="noStrike">
                <a:solidFill>
                  <a:srgbClr val="FF0000"/>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909" name="正方形/長方形 27"/>
          <p:cNvSpPr/>
          <p:nvPr/>
        </p:nvSpPr>
        <p:spPr>
          <a:xfrm>
            <a:off x="488232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1" u="none" strike="noStrike">
                <a:solidFill>
                  <a:srgbClr val="FF0000"/>
                </a:solidFill>
                <a:effectLst/>
                <a:uFillTx/>
                <a:latin typeface="メイリオ"/>
                <a:ea typeface="メイリオ"/>
              </a:rPr>
              <a:t>12.5 </a:t>
            </a:r>
            <a:r>
              <a:rPr lang="en-US" sz="1400" b="1" u="none" strike="noStrike">
                <a:solidFill>
                  <a:srgbClr val="FF0000"/>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910" name="正方形/長方形 28"/>
          <p:cNvSpPr/>
          <p:nvPr/>
        </p:nvSpPr>
        <p:spPr>
          <a:xfrm>
            <a:off x="659448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rgbClr val="FF0000"/>
                </a:solidFill>
                <a:effectLst/>
                <a:uFillTx/>
                <a:latin typeface="メイリオ"/>
                <a:ea typeface="メイリオ"/>
              </a:rPr>
              <a:t>0.5</a:t>
            </a:r>
            <a:r>
              <a:rPr lang="en-US" sz="1400" b="1" u="none" strike="noStrike">
                <a:solidFill>
                  <a:srgbClr val="FF0000"/>
                </a:solidFill>
                <a:effectLst/>
                <a:uFillTx/>
                <a:latin typeface="メイリオ"/>
                <a:ea typeface="メイリオ"/>
              </a:rPr>
              <a:t> %</a:t>
            </a:r>
            <a:endParaRPr lang="en-US" sz="1400" b="0" u="none" strike="noStrike">
              <a:solidFill>
                <a:srgbClr val="000000"/>
              </a:solidFill>
              <a:effectLst/>
              <a:uFillTx/>
              <a:latin typeface="Arial"/>
            </a:endParaRPr>
          </a:p>
        </p:txBody>
      </p:sp>
      <p:sp>
        <p:nvSpPr>
          <p:cNvPr id="911" name="正方形/長方形 29"/>
          <p:cNvSpPr/>
          <p:nvPr/>
        </p:nvSpPr>
        <p:spPr>
          <a:xfrm>
            <a:off x="314496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rPr>
              <a:t>70 %</a:t>
            </a:r>
            <a:endParaRPr lang="en-US" sz="1400" b="0" u="none" strike="noStrike">
              <a:solidFill>
                <a:srgbClr val="000000"/>
              </a:solidFill>
              <a:effectLst/>
              <a:uFillTx/>
              <a:latin typeface="Arial"/>
            </a:endParaRPr>
          </a:p>
        </p:txBody>
      </p:sp>
      <p:sp>
        <p:nvSpPr>
          <p:cNvPr id="912" name="正方形/長方形 30"/>
          <p:cNvSpPr/>
          <p:nvPr/>
        </p:nvSpPr>
        <p:spPr>
          <a:xfrm>
            <a:off x="488232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rPr>
              <a:t>8.25 %</a:t>
            </a:r>
            <a:endParaRPr lang="en-US" sz="1400" b="0" u="none" strike="noStrike">
              <a:solidFill>
                <a:srgbClr val="000000"/>
              </a:solidFill>
              <a:effectLst/>
              <a:uFillTx/>
              <a:latin typeface="Arial"/>
            </a:endParaRPr>
          </a:p>
        </p:txBody>
      </p:sp>
      <p:sp>
        <p:nvSpPr>
          <p:cNvPr id="913" name="正方形/長方形 31"/>
          <p:cNvSpPr/>
          <p:nvPr/>
        </p:nvSpPr>
        <p:spPr>
          <a:xfrm>
            <a:off x="659448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rPr>
              <a:t>0.3 %</a:t>
            </a:r>
            <a:endParaRPr lang="en-US" sz="1400" b="0" u="none" strike="noStrike">
              <a:solidFill>
                <a:srgbClr val="000000"/>
              </a:solidFill>
              <a:effectLst/>
              <a:uFillTx/>
              <a:latin typeface="Arial"/>
            </a:endParaRPr>
          </a:p>
        </p:txBody>
      </p:sp>
      <p:sp>
        <p:nvSpPr>
          <p:cNvPr id="914" name="正方形/長方形 32"/>
          <p:cNvSpPr/>
          <p:nvPr/>
        </p:nvSpPr>
        <p:spPr>
          <a:xfrm>
            <a:off x="1569600" y="5226840"/>
            <a:ext cx="1438200" cy="522720"/>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rgbClr val="FFC000"/>
                </a:solidFill>
                <a:effectLst/>
                <a:uFillTx/>
                <a:latin typeface="メイリオ"/>
                <a:ea typeface="メイリオ"/>
              </a:rPr>
              <a:t>DYM</a:t>
            </a:r>
            <a:r>
              <a:rPr lang="ja-JP" sz="1200" b="1" u="none" strike="noStrike">
                <a:solidFill>
                  <a:srgbClr val="FFC000"/>
                </a:solidFill>
                <a:effectLst/>
                <a:uFillTx/>
                <a:latin typeface="メイリオ"/>
                <a:ea typeface="メイリオ"/>
              </a:rPr>
              <a:t>実績</a:t>
            </a:r>
            <a:endParaRPr lang="en-US" sz="1200" b="0" u="none" strike="noStrike">
              <a:solidFill>
                <a:srgbClr val="FFFFFF"/>
              </a:solidFill>
              <a:effectLst/>
              <a:uFillTx/>
              <a:latin typeface="Arial"/>
            </a:endParaRPr>
          </a:p>
        </p:txBody>
      </p:sp>
      <p:sp>
        <p:nvSpPr>
          <p:cNvPr id="915" name="正方形/長方形 33"/>
          <p:cNvSpPr/>
          <p:nvPr/>
        </p:nvSpPr>
        <p:spPr>
          <a:xfrm>
            <a:off x="1569600" y="5808960"/>
            <a:ext cx="1438200" cy="52272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200" b="1" u="none" strike="noStrike">
                <a:solidFill>
                  <a:schemeClr val="lt1"/>
                </a:solidFill>
                <a:effectLst/>
                <a:uFillTx/>
                <a:latin typeface="メイリオ"/>
                <a:ea typeface="メイリオ"/>
              </a:rPr>
              <a:t>業界平均</a:t>
            </a:r>
            <a:endParaRPr lang="en-US" sz="1200" b="0" u="none" strike="noStrike">
              <a:solidFill>
                <a:srgbClr val="FFFFFF"/>
              </a:solidFill>
              <a:effectLst/>
              <a:uFillTx/>
              <a:latin typeface="Arial"/>
            </a:endParaRPr>
          </a:p>
          <a:p>
            <a:pPr algn="ctr" defTabSz="914400">
              <a:lnSpc>
                <a:spcPct val="100000"/>
              </a:lnSpc>
            </a:pPr>
            <a:r>
              <a:rPr lang="en-US" sz="800" b="1" u="none" strike="noStrike">
                <a:solidFill>
                  <a:schemeClr val="lt1"/>
                </a:solidFill>
                <a:effectLst/>
                <a:uFillTx/>
                <a:latin typeface="メイリオ"/>
                <a:ea typeface="メイリオ"/>
              </a:rPr>
              <a:t>(LINE</a:t>
            </a:r>
            <a:r>
              <a:rPr lang="ja-JP" sz="800" b="1" u="none" strike="noStrike">
                <a:solidFill>
                  <a:schemeClr val="lt1"/>
                </a:solidFill>
                <a:effectLst/>
                <a:uFillTx/>
                <a:latin typeface="メイリオ"/>
                <a:ea typeface="メイリオ"/>
              </a:rPr>
              <a:t>ヤフー社より共有）</a:t>
            </a:r>
            <a:endParaRPr lang="en-US" sz="800" b="0" u="none" strike="noStrike">
              <a:solidFill>
                <a:srgbClr val="FFFFFF"/>
              </a:solidFill>
              <a:effectLst/>
              <a:uFillTx/>
              <a:latin typeface="Arial"/>
            </a:endParaRPr>
          </a:p>
        </p:txBody>
      </p:sp>
      <p:sp>
        <p:nvSpPr>
          <p:cNvPr id="916" name="正方形/長方形 34"/>
          <p:cNvSpPr/>
          <p:nvPr/>
        </p:nvSpPr>
        <p:spPr>
          <a:xfrm>
            <a:off x="564120" y="1666800"/>
            <a:ext cx="8988840" cy="327600"/>
          </a:xfrm>
          <a:prstGeom prst="rect">
            <a:avLst/>
          </a:prstGeom>
          <a:solidFill>
            <a:schemeClr val="tx1"/>
          </a:solidFill>
          <a:ln w="9525">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1" u="none" strike="noStrike">
                <a:solidFill>
                  <a:srgbClr val="FFC000"/>
                </a:solidFill>
                <a:effectLst/>
                <a:uFillTx/>
                <a:latin typeface="メイリオ"/>
                <a:ea typeface="メイリオ"/>
              </a:rPr>
              <a:t>施策の流れ</a:t>
            </a:r>
            <a:endParaRPr lang="en-US" sz="1400" b="0" u="none" strike="noStrike">
              <a:solidFill>
                <a:srgbClr val="FFFFFF"/>
              </a:solidFill>
              <a:effectLst/>
              <a:uFillTx/>
              <a:latin typeface="Arial"/>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2"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　</a:t>
            </a:r>
            <a:r>
              <a:rPr lang="en-US" sz="1400" b="1" u="none" strike="noStrike">
                <a:solidFill>
                  <a:srgbClr val="FF0000"/>
                </a:solidFill>
                <a:effectLst/>
                <a:uFillTx/>
                <a:latin typeface="メイリオ"/>
                <a:ea typeface="メイリオ"/>
              </a:rPr>
              <a:t>[CRM</a:t>
            </a:r>
            <a:r>
              <a:rPr lang="ja-JP" sz="1400" b="1" u="none" strike="noStrike">
                <a:solidFill>
                  <a:srgbClr val="FF0000"/>
                </a:solidFill>
                <a:effectLst/>
                <a:uFillTx/>
                <a:latin typeface="メイリオ"/>
                <a:ea typeface="メイリオ"/>
              </a:rPr>
              <a:t>及び</a:t>
            </a:r>
            <a:r>
              <a:rPr lang="en-US" sz="1400" b="1" u="none" strike="noStrike">
                <a:solidFill>
                  <a:srgbClr val="FF0000"/>
                </a:solidFill>
                <a:effectLst/>
                <a:uFillTx/>
                <a:latin typeface="メイリオ"/>
                <a:ea typeface="メイリオ"/>
              </a:rPr>
              <a:t>API</a:t>
            </a:r>
            <a:r>
              <a:rPr lang="ja-JP" sz="1400" b="1" u="none" strike="noStrike">
                <a:solidFill>
                  <a:srgbClr val="FF0000"/>
                </a:solidFill>
                <a:effectLst/>
                <a:uFillTx/>
                <a:latin typeface="メイリオ"/>
                <a:ea typeface="メイリオ"/>
              </a:rPr>
              <a:t>ツールとの連携</a:t>
            </a:r>
            <a:r>
              <a:rPr lang="en-US" sz="1400" b="1" u="none" strike="noStrike">
                <a:solidFill>
                  <a:srgbClr val="FF0000"/>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983" name="正方形/長方形 1"/>
          <p:cNvSpPr/>
          <p:nvPr/>
        </p:nvSpPr>
        <p:spPr>
          <a:xfrm>
            <a:off x="804960" y="5113440"/>
            <a:ext cx="3833640" cy="824760"/>
          </a:xfrm>
          <a:prstGeom prst="rect">
            <a:avLst/>
          </a:prstGeom>
          <a:solidFill>
            <a:schemeClr val="accent1">
              <a:lumMod val="20000"/>
              <a:lumOff val="80000"/>
            </a:schemeClr>
          </a:solid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rgbClr val="073763"/>
                </a:solidFill>
                <a:effectLst/>
                <a:uFillTx/>
                <a:latin typeface="メイリオ"/>
                <a:ea typeface="メイリオ"/>
              </a:rPr>
              <a:t>「</a:t>
            </a:r>
            <a:r>
              <a:rPr lang="en-US" sz="1400" b="0" u="none" strike="noStrike">
                <a:solidFill>
                  <a:srgbClr val="073763"/>
                </a:solidFill>
                <a:effectLst/>
                <a:uFillTx/>
                <a:latin typeface="メイリオ"/>
                <a:ea typeface="メイリオ"/>
              </a:rPr>
              <a:t>CRM</a:t>
            </a:r>
            <a:r>
              <a:rPr lang="ja-JP" sz="1400" b="0" u="none" strike="noStrike">
                <a:solidFill>
                  <a:srgbClr val="073763"/>
                </a:solidFill>
                <a:effectLst/>
                <a:uFillTx/>
                <a:latin typeface="メイリオ"/>
                <a:ea typeface="メイリオ"/>
              </a:rPr>
              <a:t>側でどんな情報を取りたいか」が重要</a:t>
            </a:r>
            <a:br>
              <a:rPr sz="1400"/>
            </a:br>
            <a:r>
              <a:rPr lang="ja-JP" sz="1400" b="1" u="none" strike="noStrike">
                <a:solidFill>
                  <a:srgbClr val="073763"/>
                </a:solidFill>
                <a:effectLst/>
                <a:uFillTx/>
                <a:latin typeface="メイリオ"/>
                <a:ea typeface="メイリオ"/>
              </a:rPr>
              <a:t>要件定義</a:t>
            </a:r>
            <a:r>
              <a:rPr lang="ja-JP" sz="1400" b="0" u="none" strike="noStrike">
                <a:solidFill>
                  <a:srgbClr val="073763"/>
                </a:solidFill>
                <a:effectLst/>
                <a:uFillTx/>
                <a:latin typeface="メイリオ"/>
                <a:ea typeface="メイリオ"/>
              </a:rPr>
              <a:t>を先にする必要がある</a:t>
            </a:r>
            <a:endParaRPr lang="en-US" sz="1400" b="0" u="none" strike="noStrike">
              <a:solidFill>
                <a:srgbClr val="000000"/>
              </a:solidFill>
              <a:effectLst/>
              <a:uFillTx/>
              <a:latin typeface="Arial"/>
            </a:endParaRPr>
          </a:p>
        </p:txBody>
      </p:sp>
      <p:sp>
        <p:nvSpPr>
          <p:cNvPr id="984" name="正方形/長方形 2"/>
          <p:cNvSpPr/>
          <p:nvPr/>
        </p:nvSpPr>
        <p:spPr>
          <a:xfrm>
            <a:off x="549000" y="1746720"/>
            <a:ext cx="28087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rPr>
              <a:t>▼CRM</a:t>
            </a:r>
            <a:r>
              <a:rPr lang="ja-JP" sz="1200" b="0" u="none" strike="noStrike">
                <a:solidFill>
                  <a:schemeClr val="dk1">
                    <a:lumMod val="75000"/>
                    <a:lumOff val="25000"/>
                  </a:schemeClr>
                </a:solidFill>
                <a:effectLst/>
                <a:uFillTx/>
                <a:latin typeface="メイリオ"/>
                <a:ea typeface="メイリオ"/>
              </a:rPr>
              <a:t>によるセグメント配信の違い</a:t>
            </a:r>
            <a:endParaRPr lang="en-US" sz="1200" b="0" u="none" strike="noStrike">
              <a:solidFill>
                <a:srgbClr val="000000"/>
              </a:solidFill>
              <a:effectLst/>
              <a:uFillTx/>
              <a:latin typeface="Arial"/>
            </a:endParaRPr>
          </a:p>
        </p:txBody>
      </p:sp>
      <p:sp>
        <p:nvSpPr>
          <p:cNvPr id="985" name="正方形/長方形 4"/>
          <p:cNvSpPr/>
          <p:nvPr/>
        </p:nvSpPr>
        <p:spPr>
          <a:xfrm>
            <a:off x="4855320" y="1681920"/>
            <a:ext cx="16369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200" b="0" u="none" strike="noStrike">
              <a:solidFill>
                <a:schemeClr val="dk1">
                  <a:lumMod val="75000"/>
                  <a:lumOff val="25000"/>
                </a:schemeClr>
              </a:solidFill>
              <a:effectLst/>
              <a:uFillTx/>
              <a:latin typeface="メイリオ"/>
              <a:ea typeface="メイリオ"/>
            </a:endParaRPr>
          </a:p>
        </p:txBody>
      </p:sp>
      <p:pic>
        <p:nvPicPr>
          <p:cNvPr id="986" name="図 5"/>
          <p:cNvPicPr/>
          <p:nvPr/>
        </p:nvPicPr>
        <p:blipFill>
          <a:blip r:embed="rId2"/>
          <a:stretch/>
        </p:blipFill>
        <p:spPr>
          <a:xfrm>
            <a:off x="767880" y="2097720"/>
            <a:ext cx="1748520" cy="1226520"/>
          </a:xfrm>
          <a:prstGeom prst="rect">
            <a:avLst/>
          </a:prstGeom>
          <a:noFill/>
          <a:ln w="0">
            <a:noFill/>
          </a:ln>
        </p:spPr>
      </p:pic>
      <p:pic>
        <p:nvPicPr>
          <p:cNvPr id="987" name="図 6"/>
          <p:cNvPicPr/>
          <p:nvPr/>
        </p:nvPicPr>
        <p:blipFill>
          <a:blip r:embed="rId3"/>
          <a:stretch/>
        </p:blipFill>
        <p:spPr>
          <a:xfrm>
            <a:off x="2629440" y="2290320"/>
            <a:ext cx="2165760" cy="762120"/>
          </a:xfrm>
          <a:prstGeom prst="rect">
            <a:avLst/>
          </a:prstGeom>
          <a:noFill/>
          <a:ln w="0">
            <a:noFill/>
          </a:ln>
        </p:spPr>
      </p:pic>
      <p:pic>
        <p:nvPicPr>
          <p:cNvPr id="988" name="図 7"/>
          <p:cNvPicPr/>
          <p:nvPr/>
        </p:nvPicPr>
        <p:blipFill>
          <a:blip r:embed="rId4"/>
          <a:stretch/>
        </p:blipFill>
        <p:spPr>
          <a:xfrm>
            <a:off x="732600" y="3382560"/>
            <a:ext cx="1896480" cy="592560"/>
          </a:xfrm>
          <a:prstGeom prst="rect">
            <a:avLst/>
          </a:prstGeom>
          <a:noFill/>
          <a:ln w="0">
            <a:noFill/>
          </a:ln>
        </p:spPr>
      </p:pic>
      <p:pic>
        <p:nvPicPr>
          <p:cNvPr id="989" name="図 9"/>
          <p:cNvPicPr/>
          <p:nvPr/>
        </p:nvPicPr>
        <p:blipFill>
          <a:blip r:embed="rId5"/>
          <a:stretch/>
        </p:blipFill>
        <p:spPr>
          <a:xfrm>
            <a:off x="2774880" y="3271680"/>
            <a:ext cx="1980360" cy="824760"/>
          </a:xfrm>
          <a:prstGeom prst="rect">
            <a:avLst/>
          </a:prstGeom>
          <a:noFill/>
          <a:ln w="0">
            <a:noFill/>
          </a:ln>
        </p:spPr>
      </p:pic>
      <p:sp>
        <p:nvSpPr>
          <p:cNvPr id="990" name="二等辺三角形 10"/>
          <p:cNvSpPr/>
          <p:nvPr/>
        </p:nvSpPr>
        <p:spPr>
          <a:xfrm flipV="1">
            <a:off x="2404440" y="4662000"/>
            <a:ext cx="634680" cy="242640"/>
          </a:xfrm>
          <a:prstGeom prst="triangle">
            <a:avLst>
              <a:gd name="adj" fmla="val 50000"/>
            </a:avLst>
          </a:prstGeom>
          <a:solidFill>
            <a:srgbClr val="4F81BD"/>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91" name="正方形/長方形 11"/>
          <p:cNvSpPr/>
          <p:nvPr/>
        </p:nvSpPr>
        <p:spPr>
          <a:xfrm>
            <a:off x="5088240" y="1746720"/>
            <a:ext cx="28087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rPr>
              <a:t>▼参考：L</a:t>
            </a:r>
            <a:r>
              <a:rPr lang="ja-JP" sz="1200" b="0" u="none" strike="noStrike">
                <a:solidFill>
                  <a:schemeClr val="dk1">
                    <a:lumMod val="75000"/>
                    <a:lumOff val="25000"/>
                  </a:schemeClr>
                </a:solidFill>
                <a:effectLst/>
                <a:uFillTx/>
                <a:latin typeface="メイリオ"/>
                <a:ea typeface="メイリオ"/>
              </a:rPr>
              <a:t>ステップ</a:t>
            </a:r>
            <a:r>
              <a:rPr lang="en-US" sz="1200" b="0" u="none" strike="noStrike">
                <a:solidFill>
                  <a:schemeClr val="dk1">
                    <a:lumMod val="75000"/>
                    <a:lumOff val="25000"/>
                  </a:schemeClr>
                </a:solidFill>
                <a:effectLst/>
                <a:uFillTx/>
                <a:latin typeface="メイリオ"/>
                <a:ea typeface="メイリオ"/>
              </a:rPr>
              <a:t>API</a:t>
            </a:r>
            <a:r>
              <a:rPr lang="ja-JP" sz="1200" b="0" u="none" strike="noStrike">
                <a:solidFill>
                  <a:schemeClr val="dk1">
                    <a:lumMod val="75000"/>
                    <a:lumOff val="25000"/>
                  </a:schemeClr>
                </a:solidFill>
                <a:effectLst/>
                <a:uFillTx/>
                <a:latin typeface="メイリオ"/>
                <a:ea typeface="メイリオ"/>
              </a:rPr>
              <a:t>連携機能</a:t>
            </a:r>
            <a:endParaRPr lang="en-US" sz="1200" b="0" u="none" strike="noStrike">
              <a:solidFill>
                <a:srgbClr val="000000"/>
              </a:solidFill>
              <a:effectLst/>
              <a:uFillTx/>
              <a:latin typeface="Arial"/>
            </a:endParaRPr>
          </a:p>
        </p:txBody>
      </p:sp>
      <p:pic>
        <p:nvPicPr>
          <p:cNvPr id="992" name="図 12"/>
          <p:cNvPicPr/>
          <p:nvPr/>
        </p:nvPicPr>
        <p:blipFill>
          <a:blip r:embed="rId6"/>
          <a:stretch/>
        </p:blipFill>
        <p:spPr>
          <a:xfrm>
            <a:off x="5088240" y="2053800"/>
            <a:ext cx="4493520" cy="4306320"/>
          </a:xfrm>
          <a:prstGeom prst="rect">
            <a:avLst/>
          </a:prstGeom>
          <a:noFill/>
          <a:ln w="0">
            <a:noFill/>
          </a:ln>
        </p:spPr>
      </p:pic>
      <p:sp>
        <p:nvSpPr>
          <p:cNvPr id="993" name="Google Shape;752;p28"/>
          <p:cNvSpPr/>
          <p:nvPr/>
        </p:nvSpPr>
        <p:spPr>
          <a:xfrm>
            <a:off x="776160" y="864360"/>
            <a:ext cx="8353440" cy="52272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algn="ctr" defTabSz="914400">
              <a:lnSpc>
                <a:spcPct val="100000"/>
              </a:lnSpc>
            </a:pPr>
            <a:r>
              <a:rPr lang="en-US" sz="1400" b="0" u="none" strike="noStrike">
                <a:solidFill>
                  <a:schemeClr val="dk1"/>
                </a:solidFill>
                <a:effectLst/>
                <a:uFillTx/>
                <a:latin typeface="メイリオ"/>
                <a:ea typeface="メイリオ"/>
              </a:rPr>
              <a:t>CRM</a:t>
            </a:r>
            <a:r>
              <a:rPr lang="ja-JP" sz="1400" b="0" u="none" strike="noStrike">
                <a:solidFill>
                  <a:schemeClr val="dk1"/>
                </a:solidFill>
                <a:effectLst/>
                <a:uFillTx/>
                <a:latin typeface="メイリオ"/>
                <a:ea typeface="メイリオ"/>
              </a:rPr>
              <a:t>、</a:t>
            </a:r>
            <a:r>
              <a:rPr lang="en-US" sz="1400" b="0" u="none" strike="noStrike">
                <a:solidFill>
                  <a:schemeClr val="dk1"/>
                </a:solidFill>
                <a:effectLst/>
                <a:uFillTx/>
                <a:latin typeface="メイリオ"/>
                <a:ea typeface="メイリオ"/>
              </a:rPr>
              <a:t>API</a:t>
            </a:r>
            <a:r>
              <a:rPr lang="ja-JP" sz="1400" b="0" u="none" strike="noStrike">
                <a:solidFill>
                  <a:schemeClr val="dk1"/>
                </a:solidFill>
                <a:effectLst/>
                <a:uFillTx/>
                <a:latin typeface="メイリオ"/>
                <a:ea typeface="メイリオ"/>
              </a:rPr>
              <a:t>ツールで要件定義を行いつつ、効率化及び詳細なセグメント設計を目的として、</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メイリオ"/>
                <a:ea typeface="メイリオ"/>
              </a:rPr>
              <a:t>貴社内の顧客管理（</a:t>
            </a:r>
            <a:r>
              <a:rPr lang="en-US" sz="1400" b="0" u="none" strike="noStrike">
                <a:solidFill>
                  <a:schemeClr val="dk1"/>
                </a:solidFill>
                <a:effectLst/>
                <a:uFillTx/>
                <a:latin typeface="メイリオ"/>
                <a:ea typeface="メイリオ"/>
              </a:rPr>
              <a:t>CRM</a:t>
            </a:r>
            <a:r>
              <a:rPr lang="ja-JP" sz="1400" b="0" u="none" strike="noStrike">
                <a:solidFill>
                  <a:schemeClr val="dk1"/>
                </a:solidFill>
                <a:effectLst/>
                <a:uFillTx/>
                <a:latin typeface="メイリオ"/>
                <a:ea typeface="メイリオ"/>
              </a:rPr>
              <a:t>）ツールとの連携の実施も可能です。</a:t>
            </a:r>
            <a:r>
              <a:rPr lang="en-US" sz="1100" b="0" u="none" strike="noStrike">
                <a:solidFill>
                  <a:srgbClr val="FF0000"/>
                </a:solidFill>
                <a:effectLst/>
                <a:uFillTx/>
                <a:latin typeface="メイリオ"/>
                <a:ea typeface="メイリオ"/>
              </a:rPr>
              <a:t> ※開発は別途費用</a:t>
            </a:r>
            <a:endParaRPr lang="en-US" sz="1100" b="0" u="none" strike="noStrike">
              <a:solidFill>
                <a:srgbClr val="000000"/>
              </a:solidFill>
              <a:effectLst/>
              <a:uFillTx/>
              <a:latin typeface="Arial"/>
            </a:endParaRPr>
          </a:p>
        </p:txBody>
      </p:sp>
      <p:pic>
        <p:nvPicPr>
          <p:cNvPr id="994" name="図 15"/>
          <p:cNvPicPr/>
          <p:nvPr/>
        </p:nvPicPr>
        <p:blipFill>
          <a:blip r:embed="rId7"/>
          <a:stretch/>
        </p:blipFill>
        <p:spPr>
          <a:xfrm>
            <a:off x="8357040" y="3138840"/>
            <a:ext cx="1224720" cy="371160"/>
          </a:xfrm>
          <a:prstGeom prst="rect">
            <a:avLst/>
          </a:prstGeom>
          <a:noFill/>
          <a:ln w="0">
            <a:noFill/>
          </a:ln>
        </p:spPr>
      </p:pic>
      <p:sp>
        <p:nvSpPr>
          <p:cNvPr id="995" name="正方形/長方形 17"/>
          <p:cNvSpPr/>
          <p:nvPr/>
        </p:nvSpPr>
        <p:spPr>
          <a:xfrm>
            <a:off x="7392960" y="2667960"/>
            <a:ext cx="1404000" cy="70416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rPr>
              <a:t>LINE</a:t>
            </a:r>
            <a:r>
              <a:rPr lang="ja-JP" sz="1200" b="0" u="none" strike="noStrike">
                <a:solidFill>
                  <a:schemeClr val="dk1">
                    <a:lumMod val="75000"/>
                    <a:lumOff val="25000"/>
                  </a:schemeClr>
                </a:solidFill>
                <a:effectLst/>
                <a:uFillTx/>
                <a:latin typeface="メイリオ"/>
                <a:ea typeface="メイリオ"/>
              </a:rPr>
              <a:t>公式と</a:t>
            </a:r>
            <a:r>
              <a:rPr lang="en-US" sz="1200" b="0" u="none" strike="noStrike">
                <a:solidFill>
                  <a:schemeClr val="dk1">
                    <a:lumMod val="75000"/>
                    <a:lumOff val="25000"/>
                  </a:schemeClr>
                </a:solidFill>
                <a:effectLst/>
                <a:uFillTx/>
                <a:latin typeface="メイリオ"/>
                <a:ea typeface="メイリオ"/>
              </a:rPr>
              <a:t>API</a:t>
            </a:r>
            <a:r>
              <a:rPr lang="ja-JP" sz="1200" b="0" u="none" strike="noStrike">
                <a:solidFill>
                  <a:schemeClr val="dk1">
                    <a:lumMod val="75000"/>
                    <a:lumOff val="25000"/>
                  </a:schemeClr>
                </a:solidFill>
                <a:effectLst/>
                <a:uFillTx/>
                <a:latin typeface="メイリオ"/>
                <a:ea typeface="メイリオ"/>
              </a:rPr>
              <a:t>ツール間の</a:t>
            </a:r>
            <a:endParaRPr lang="en-US" sz="1200" b="0" u="none" strike="noStrike">
              <a:solidFill>
                <a:srgbClr val="000000"/>
              </a:solidFill>
              <a:effectLst/>
              <a:uFillTx/>
              <a:latin typeface="Arial"/>
            </a:endParaRPr>
          </a:p>
          <a:p>
            <a:pPr defTabSz="914400">
              <a:lnSpc>
                <a:spcPct val="100000"/>
              </a:lnSpc>
            </a:pPr>
            <a:r>
              <a:rPr lang="ja-JP" sz="1200" b="0" u="none" strike="noStrike">
                <a:solidFill>
                  <a:schemeClr val="dk1">
                    <a:lumMod val="75000"/>
                    <a:lumOff val="25000"/>
                  </a:schemeClr>
                </a:solidFill>
                <a:effectLst/>
                <a:uFillTx/>
                <a:latin typeface="メイリオ"/>
                <a:ea typeface="メイリオ"/>
              </a:rPr>
              <a:t>情報連携</a:t>
            </a:r>
            <a:endParaRPr lang="en-US" sz="1200" b="0" u="none" strike="noStrike">
              <a:solidFill>
                <a:srgbClr val="000000"/>
              </a:solidFill>
              <a:effectLst/>
              <a:uFillTx/>
              <a:latin typeface="Arial"/>
            </a:endParaRPr>
          </a:p>
        </p:txBody>
      </p:sp>
      <p:sp>
        <p:nvSpPr>
          <p:cNvPr id="996" name="正方形/長方形 18"/>
          <p:cNvSpPr/>
          <p:nvPr/>
        </p:nvSpPr>
        <p:spPr>
          <a:xfrm>
            <a:off x="5873760" y="2711520"/>
            <a:ext cx="988920" cy="42336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ja-JP" sz="1200" b="0" u="none" strike="noStrike">
                <a:solidFill>
                  <a:schemeClr val="dk1">
                    <a:lumMod val="75000"/>
                    <a:lumOff val="25000"/>
                  </a:schemeClr>
                </a:solidFill>
                <a:effectLst/>
                <a:uFillTx/>
                <a:latin typeface="メイリオ"/>
                <a:ea typeface="メイリオ"/>
              </a:rPr>
              <a:t>メッセ送信</a:t>
            </a:r>
            <a:endParaRPr lang="en-US" sz="1200" b="0" u="none" strike="noStrike">
              <a:solidFill>
                <a:srgbClr val="000000"/>
              </a:solidFill>
              <a:effectLst/>
              <a:uFillTx/>
              <a:latin typeface="Arial"/>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7"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998" name="正方形/長方形 7"/>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600" b="1" u="none" strike="noStrike">
                <a:solidFill>
                  <a:schemeClr val="lt1"/>
                </a:solidFill>
                <a:effectLst/>
                <a:uFillTx/>
                <a:latin typeface="メイリオ"/>
                <a:ea typeface="メイリオ"/>
              </a:rPr>
              <a:t>ミニアプリ</a:t>
            </a:r>
            <a:endParaRPr lang="en-US" sz="1600" b="0" u="none" strike="noStrike">
              <a:solidFill>
                <a:srgbClr val="FFFFFF"/>
              </a:solidFill>
              <a:effectLst/>
              <a:uFillTx/>
              <a:latin typeface="Arial"/>
            </a:endParaRPr>
          </a:p>
        </p:txBody>
      </p:sp>
      <p:pic>
        <p:nvPicPr>
          <p:cNvPr id="999" name="図 14"/>
          <p:cNvPicPr/>
          <p:nvPr/>
        </p:nvPicPr>
        <p:blipFill>
          <a:blip r:embed="rId2"/>
          <a:stretch/>
        </p:blipFill>
        <p:spPr>
          <a:xfrm>
            <a:off x="394920" y="4223520"/>
            <a:ext cx="4883400" cy="2255040"/>
          </a:xfrm>
          <a:prstGeom prst="rect">
            <a:avLst/>
          </a:prstGeom>
          <a:noFill/>
          <a:ln w="0">
            <a:noFill/>
          </a:ln>
        </p:spPr>
      </p:pic>
      <p:pic>
        <p:nvPicPr>
          <p:cNvPr id="1000" name="図 15"/>
          <p:cNvPicPr/>
          <p:nvPr/>
        </p:nvPicPr>
        <p:blipFill>
          <a:blip r:embed="rId3"/>
          <a:stretch/>
        </p:blipFill>
        <p:spPr>
          <a:xfrm>
            <a:off x="5447520" y="4291920"/>
            <a:ext cx="4377240" cy="1962000"/>
          </a:xfrm>
          <a:prstGeom prst="rect">
            <a:avLst/>
          </a:prstGeom>
          <a:noFill/>
          <a:ln w="0">
            <a:noFill/>
          </a:ln>
        </p:spPr>
      </p:pic>
      <p:pic>
        <p:nvPicPr>
          <p:cNvPr id="1001" name="図 16"/>
          <p:cNvPicPr/>
          <p:nvPr/>
        </p:nvPicPr>
        <p:blipFill>
          <a:blip r:embed="rId4"/>
          <a:stretch/>
        </p:blipFill>
        <p:spPr>
          <a:xfrm>
            <a:off x="295560" y="1824480"/>
            <a:ext cx="5880600" cy="2266560"/>
          </a:xfrm>
          <a:prstGeom prst="rect">
            <a:avLst/>
          </a:prstGeom>
          <a:noFill/>
          <a:ln w="0">
            <a:noFill/>
          </a:ln>
        </p:spPr>
      </p:pic>
      <p:sp>
        <p:nvSpPr>
          <p:cNvPr id="1002" name="正方形/長方形 1"/>
          <p:cNvSpPr/>
          <p:nvPr/>
        </p:nvSpPr>
        <p:spPr>
          <a:xfrm>
            <a:off x="2971080" y="822960"/>
            <a:ext cx="666900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内で活用できるミニアプリでは、ゲームや抽選といった機能を</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アプリ開発よりも大幅に格安な価格帯で利用できるサービス。</a:t>
            </a:r>
            <a:endParaRPr lang="en-US" sz="1600" b="0" u="none" strike="noStrike">
              <a:solidFill>
                <a:srgbClr val="000000"/>
              </a:solidFill>
              <a:effectLst/>
              <a:uFillTx/>
              <a:latin typeface="Arial"/>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3"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1004" name="正方形/長方形 27"/>
          <p:cNvSpPr/>
          <p:nvPr/>
        </p:nvSpPr>
        <p:spPr>
          <a:xfrm>
            <a:off x="209520" y="1455480"/>
            <a:ext cx="716040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チャット</a:t>
            </a:r>
            <a:r>
              <a:rPr lang="en-US" sz="1600" b="1" u="none" strike="noStrike">
                <a:solidFill>
                  <a:schemeClr val="dk1">
                    <a:lumMod val="65000"/>
                    <a:lumOff val="35000"/>
                  </a:schemeClr>
                </a:solidFill>
                <a:effectLst/>
                <a:uFillTx/>
                <a:latin typeface="Meiryo"/>
                <a:ea typeface="Meiryo"/>
              </a:rPr>
              <a:t>Plus</a:t>
            </a:r>
            <a:r>
              <a:rPr lang="ja-JP" sz="1600" b="1" u="none" strike="noStrike">
                <a:solidFill>
                  <a:schemeClr val="dk1">
                    <a:lumMod val="65000"/>
                    <a:lumOff val="35000"/>
                  </a:schemeClr>
                </a:solidFill>
                <a:effectLst/>
                <a:uFillTx/>
                <a:latin typeface="Meiryo"/>
                <a:ea typeface="Meiryo"/>
              </a:rPr>
              <a:t>」は、</a:t>
            </a:r>
            <a:r>
              <a:rPr lang="en-US" sz="1600" b="1" u="none" strike="noStrike">
                <a:solidFill>
                  <a:schemeClr val="dk1">
                    <a:lumMod val="65000"/>
                    <a:lumOff val="35000"/>
                  </a:schemeClr>
                </a:solidFill>
                <a:effectLst/>
                <a:uFillTx/>
                <a:latin typeface="Meiryo"/>
                <a:ea typeface="Meiryo"/>
              </a:rPr>
              <a:t>FAQ</a:t>
            </a:r>
            <a:r>
              <a:rPr lang="ja-JP" sz="1600" b="1" u="none" strike="noStrike">
                <a:solidFill>
                  <a:schemeClr val="dk1">
                    <a:lumMod val="65000"/>
                    <a:lumOff val="35000"/>
                  </a:schemeClr>
                </a:solidFill>
                <a:effectLst/>
                <a:uFillTx/>
                <a:latin typeface="Meiryo"/>
                <a:ea typeface="Meiryo"/>
              </a:rPr>
              <a:t>をもとにした</a:t>
            </a:r>
            <a:r>
              <a:rPr lang="en-US" sz="1600" b="1" u="none" strike="noStrike">
                <a:solidFill>
                  <a:schemeClr val="dk1">
                    <a:lumMod val="65000"/>
                    <a:lumOff val="35000"/>
                  </a:schemeClr>
                </a:solidFill>
                <a:effectLst/>
                <a:uFillTx/>
                <a:latin typeface="Meiryo"/>
                <a:ea typeface="Meiryo"/>
              </a:rPr>
              <a:t>AI</a:t>
            </a:r>
            <a:r>
              <a:rPr lang="ja-JP" sz="1600" b="1" u="none" strike="noStrike">
                <a:solidFill>
                  <a:schemeClr val="dk1">
                    <a:lumMod val="65000"/>
                    <a:lumOff val="35000"/>
                  </a:schemeClr>
                </a:solidFill>
                <a:effectLst/>
                <a:uFillTx/>
                <a:latin typeface="Meiryo"/>
                <a:ea typeface="Meiryo"/>
              </a:rPr>
              <a:t>による自動応答や、</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有人でのチャット対応による細かなサポートを可能にするオプション機能。</a:t>
            </a:r>
            <a:endParaRPr lang="en-US" sz="1600" b="0" u="none" strike="noStrike">
              <a:solidFill>
                <a:srgbClr val="000000"/>
              </a:solidFill>
              <a:effectLst/>
              <a:uFillTx/>
              <a:latin typeface="Arial"/>
            </a:endParaRPr>
          </a:p>
        </p:txBody>
      </p:sp>
      <p:sp>
        <p:nvSpPr>
          <p:cNvPr id="1005" name="正方形/長方形 28"/>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LINE</a:t>
            </a: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Chat Plus</a:t>
            </a:r>
            <a:endParaRPr lang="en-US" sz="1600" b="0" u="none" strike="noStrike">
              <a:solidFill>
                <a:srgbClr val="FFFFFF"/>
              </a:solidFill>
              <a:effectLst/>
              <a:uFillTx/>
              <a:latin typeface="Arial"/>
            </a:endParaRPr>
          </a:p>
        </p:txBody>
      </p:sp>
      <p:sp>
        <p:nvSpPr>
          <p:cNvPr id="1006" name="角丸四角形 29"/>
          <p:cNvSpPr/>
          <p:nvPr/>
        </p:nvSpPr>
        <p:spPr>
          <a:xfrm>
            <a:off x="549000" y="2287440"/>
            <a:ext cx="4031280" cy="419868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pic>
        <p:nvPicPr>
          <p:cNvPr id="1007" name="図 2"/>
          <p:cNvPicPr/>
          <p:nvPr/>
        </p:nvPicPr>
        <p:blipFill>
          <a:blip r:embed="rId2"/>
          <a:srcRect t="34311" b="34333"/>
          <a:stretch/>
        </p:blipFill>
        <p:spPr>
          <a:xfrm>
            <a:off x="683640" y="2611440"/>
            <a:ext cx="3762000" cy="2097000"/>
          </a:xfrm>
          <a:prstGeom prst="rect">
            <a:avLst/>
          </a:prstGeom>
          <a:noFill/>
          <a:ln w="0">
            <a:noFill/>
          </a:ln>
        </p:spPr>
      </p:pic>
      <p:sp>
        <p:nvSpPr>
          <p:cNvPr id="1008" name="正方形/長方形 32"/>
          <p:cNvSpPr/>
          <p:nvPr/>
        </p:nvSpPr>
        <p:spPr>
          <a:xfrm>
            <a:off x="830880" y="5032800"/>
            <a:ext cx="3467160" cy="8305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ホームページから気軽にチャットで</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問い合わせができるようになり</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資料請求や商品の購入に繋がる。</a:t>
            </a:r>
            <a:endParaRPr lang="en-US" sz="1600" b="0" u="none" strike="noStrike">
              <a:solidFill>
                <a:srgbClr val="000000"/>
              </a:solidFill>
              <a:effectLst/>
              <a:uFillTx/>
              <a:latin typeface="Arial"/>
            </a:endParaRPr>
          </a:p>
        </p:txBody>
      </p:sp>
      <p:grpSp>
        <p:nvGrpSpPr>
          <p:cNvPr id="1009" name="Group 25"/>
          <p:cNvGrpSpPr/>
          <p:nvPr/>
        </p:nvGrpSpPr>
        <p:grpSpPr>
          <a:xfrm>
            <a:off x="4971240" y="3147120"/>
            <a:ext cx="600840" cy="300960"/>
            <a:chOff x="4971240" y="3147120"/>
            <a:chExt cx="600840" cy="300960"/>
          </a:xfrm>
        </p:grpSpPr>
        <p:sp>
          <p:nvSpPr>
            <p:cNvPr id="1010" name="Freeform 26"/>
            <p:cNvSpPr/>
            <p:nvPr/>
          </p:nvSpPr>
          <p:spPr>
            <a:xfrm rot="5400000">
              <a:off x="5121000" y="29970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1011" name="TextBox 27"/>
            <p:cNvSpPr/>
            <p:nvPr/>
          </p:nvSpPr>
          <p:spPr>
            <a:xfrm rot="5400000">
              <a:off x="5062680" y="314568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1012" name="TextBox 38"/>
          <p:cNvSpPr/>
          <p:nvPr/>
        </p:nvSpPr>
        <p:spPr>
          <a:xfrm>
            <a:off x="5836680" y="3018960"/>
            <a:ext cx="378864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rPr>
              <a:t>自動応答と有人応答を使い分けることが</a:t>
            </a:r>
            <a:endParaRPr lang="en-US" sz="1560" b="0" u="none" strike="noStrike">
              <a:solidFill>
                <a:srgbClr val="000000"/>
              </a:solidFill>
              <a:effectLst/>
              <a:uFillTx/>
              <a:latin typeface="Arial"/>
            </a:endParaRPr>
          </a:p>
          <a:p>
            <a:pPr defTabSz="914400">
              <a:lnSpc>
                <a:spcPts val="2177"/>
              </a:lnSpc>
            </a:pPr>
            <a:r>
              <a:rPr lang="ja-JP" sz="1560" b="1" u="none" strike="noStrike">
                <a:solidFill>
                  <a:srgbClr val="494848"/>
                </a:solidFill>
                <a:effectLst/>
                <a:uFillTx/>
                <a:latin typeface="メイリオ"/>
                <a:ea typeface="メイリオ"/>
              </a:rPr>
              <a:t>できる</a:t>
            </a:r>
            <a:endParaRPr lang="en-US" sz="1560" b="0" u="none" strike="noStrike">
              <a:solidFill>
                <a:srgbClr val="000000"/>
              </a:solidFill>
              <a:effectLst/>
              <a:uFillTx/>
              <a:latin typeface="Arial"/>
            </a:endParaRPr>
          </a:p>
        </p:txBody>
      </p:sp>
      <p:grpSp>
        <p:nvGrpSpPr>
          <p:cNvPr id="1013" name="Group 25"/>
          <p:cNvGrpSpPr/>
          <p:nvPr/>
        </p:nvGrpSpPr>
        <p:grpSpPr>
          <a:xfrm>
            <a:off x="4971240" y="4145400"/>
            <a:ext cx="600840" cy="300960"/>
            <a:chOff x="4971240" y="4145400"/>
            <a:chExt cx="600840" cy="300960"/>
          </a:xfrm>
        </p:grpSpPr>
        <p:sp>
          <p:nvSpPr>
            <p:cNvPr id="1014" name="Freeform 26"/>
            <p:cNvSpPr/>
            <p:nvPr/>
          </p:nvSpPr>
          <p:spPr>
            <a:xfrm rot="5400000">
              <a:off x="5121000" y="399528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1015" name="TextBox 27"/>
            <p:cNvSpPr/>
            <p:nvPr/>
          </p:nvSpPr>
          <p:spPr>
            <a:xfrm rot="5400000">
              <a:off x="5062680" y="414396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1016" name="TextBox 38"/>
          <p:cNvSpPr/>
          <p:nvPr/>
        </p:nvSpPr>
        <p:spPr>
          <a:xfrm>
            <a:off x="5836680" y="4017240"/>
            <a:ext cx="378864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rPr>
              <a:t>「訪問者管理機能」により、ホームページに訪れたユーザーを一覧で見ることが可能</a:t>
            </a:r>
            <a:endParaRPr lang="en-US" sz="1560" b="0" u="none" strike="noStrike">
              <a:solidFill>
                <a:srgbClr val="000000"/>
              </a:solidFill>
              <a:effectLst/>
              <a:uFillTx/>
              <a:latin typeface="Arial"/>
            </a:endParaRPr>
          </a:p>
        </p:txBody>
      </p:sp>
      <p:grpSp>
        <p:nvGrpSpPr>
          <p:cNvPr id="1017" name="Group 25"/>
          <p:cNvGrpSpPr/>
          <p:nvPr/>
        </p:nvGrpSpPr>
        <p:grpSpPr>
          <a:xfrm>
            <a:off x="4971240" y="5144040"/>
            <a:ext cx="600840" cy="300960"/>
            <a:chOff x="4971240" y="5144040"/>
            <a:chExt cx="600840" cy="300960"/>
          </a:xfrm>
        </p:grpSpPr>
        <p:sp>
          <p:nvSpPr>
            <p:cNvPr id="1018" name="Freeform 26"/>
            <p:cNvSpPr/>
            <p:nvPr/>
          </p:nvSpPr>
          <p:spPr>
            <a:xfrm rot="5400000">
              <a:off x="5121000" y="499392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1019" name="TextBox 27"/>
            <p:cNvSpPr/>
            <p:nvPr/>
          </p:nvSpPr>
          <p:spPr>
            <a:xfrm rot="5400000">
              <a:off x="5062680" y="514260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1020" name="TextBox 38"/>
          <p:cNvSpPr/>
          <p:nvPr/>
        </p:nvSpPr>
        <p:spPr>
          <a:xfrm>
            <a:off x="5836680" y="5015880"/>
            <a:ext cx="3788640" cy="846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rPr>
              <a:t>公式</a:t>
            </a:r>
            <a:r>
              <a:rPr lang="en-US" sz="1560" b="1" u="none" strike="noStrike">
                <a:solidFill>
                  <a:srgbClr val="494848"/>
                </a:solidFill>
                <a:effectLst/>
                <a:uFillTx/>
                <a:latin typeface="メイリオ"/>
                <a:ea typeface="メイリオ"/>
              </a:rPr>
              <a:t>LINE</a:t>
            </a:r>
            <a:r>
              <a:rPr lang="ja-JP" sz="1560" b="1" u="none" strike="noStrike">
                <a:solidFill>
                  <a:srgbClr val="494848"/>
                </a:solidFill>
                <a:effectLst/>
                <a:uFillTx/>
                <a:latin typeface="メイリオ"/>
                <a:ea typeface="メイリオ"/>
              </a:rPr>
              <a:t>とチャットボットを連携し</a:t>
            </a:r>
            <a:endParaRPr lang="en-US" sz="1560" b="0" u="none" strike="noStrike">
              <a:solidFill>
                <a:srgbClr val="000000"/>
              </a:solidFill>
              <a:effectLst/>
              <a:uFillTx/>
              <a:latin typeface="Arial"/>
            </a:endParaRPr>
          </a:p>
          <a:p>
            <a:pPr defTabSz="914400">
              <a:lnSpc>
                <a:spcPts val="2177"/>
              </a:lnSpc>
            </a:pPr>
            <a:r>
              <a:rPr lang="en-US" sz="1560" b="1" u="none" strike="noStrike">
                <a:solidFill>
                  <a:srgbClr val="494848"/>
                </a:solidFill>
                <a:effectLst/>
                <a:uFillTx/>
                <a:latin typeface="メイリオ"/>
                <a:ea typeface="メイリオ"/>
              </a:rPr>
              <a:t>LINE</a:t>
            </a:r>
            <a:r>
              <a:rPr lang="ja-JP" sz="1560" b="1" u="none" strike="noStrike">
                <a:solidFill>
                  <a:srgbClr val="494848"/>
                </a:solidFill>
                <a:effectLst/>
                <a:uFillTx/>
                <a:latin typeface="メイリオ"/>
                <a:ea typeface="メイリオ"/>
              </a:rPr>
              <a:t>上でも同じチャットボットを活用</a:t>
            </a:r>
            <a:endParaRPr lang="en-US" sz="1560" b="0" u="none" strike="noStrike">
              <a:solidFill>
                <a:srgbClr val="000000"/>
              </a:solidFill>
              <a:effectLst/>
              <a:uFillTx/>
              <a:latin typeface="Arial"/>
            </a:endParaRPr>
          </a:p>
          <a:p>
            <a:pPr defTabSz="914400">
              <a:lnSpc>
                <a:spcPts val="2177"/>
              </a:lnSpc>
            </a:pPr>
            <a:r>
              <a:rPr lang="ja-JP" sz="1560" b="1" u="none" strike="noStrike">
                <a:solidFill>
                  <a:srgbClr val="494848"/>
                </a:solidFill>
                <a:effectLst/>
                <a:uFillTx/>
                <a:latin typeface="メイリオ"/>
                <a:ea typeface="メイリオ"/>
              </a:rPr>
              <a:t>できる</a:t>
            </a:r>
            <a:endParaRPr lang="en-US" sz="1560" b="0" u="none" strike="noStrike">
              <a:solidFill>
                <a:srgbClr val="000000"/>
              </a:solidFill>
              <a:effectLst/>
              <a:uFillTx/>
              <a:latin typeface="Arial"/>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1"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1022" name="正方形/長方形 3"/>
          <p:cNvSpPr/>
          <p:nvPr/>
        </p:nvSpPr>
        <p:spPr>
          <a:xfrm>
            <a:off x="209520" y="1455480"/>
            <a:ext cx="768960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コール</a:t>
            </a:r>
            <a:r>
              <a:rPr lang="en-US" sz="1600" b="1" u="none" strike="noStrike">
                <a:solidFill>
                  <a:schemeClr val="dk1">
                    <a:lumMod val="65000"/>
                    <a:lumOff val="35000"/>
                  </a:schemeClr>
                </a:solidFill>
                <a:effectLst/>
                <a:uFillTx/>
                <a:latin typeface="Meiryo"/>
                <a:ea typeface="Meiryo"/>
              </a:rPr>
              <a:t>Plus</a:t>
            </a:r>
            <a:r>
              <a:rPr lang="ja-JP" sz="1600" b="1" u="none" strike="noStrike">
                <a:solidFill>
                  <a:schemeClr val="dk1">
                    <a:lumMod val="65000"/>
                    <a:lumOff val="35000"/>
                  </a:schemeClr>
                </a:solidFill>
                <a:effectLst/>
                <a:uFillTx/>
                <a:latin typeface="Meiryo"/>
                <a:ea typeface="Meiryo"/>
              </a:rPr>
              <a:t>」は、</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公式アカウントの有料オプション機能で、</a:t>
            </a:r>
            <a:endParaRPr lang="en-US" sz="1600" b="0" u="none" strike="noStrike">
              <a:solidFill>
                <a:srgbClr val="000000"/>
              </a:solidFill>
              <a:effectLst/>
              <a:uFillTx/>
              <a:latin typeface="Arial"/>
            </a:endParaRPr>
          </a:p>
          <a:p>
            <a:pP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公式アカウントからユーザーがカスタマーサポートに電話できるサービス。</a:t>
            </a:r>
            <a:endParaRPr lang="en-US" sz="1600" b="0" u="none" strike="noStrike">
              <a:solidFill>
                <a:srgbClr val="000000"/>
              </a:solidFill>
              <a:effectLst/>
              <a:uFillTx/>
              <a:latin typeface="Arial"/>
            </a:endParaRPr>
          </a:p>
        </p:txBody>
      </p:sp>
      <p:sp>
        <p:nvSpPr>
          <p:cNvPr id="1023" name="正方形/長方形 4"/>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LINE</a:t>
            </a: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Call Plus</a:t>
            </a:r>
            <a:endParaRPr lang="en-US" sz="1600" b="0" u="none" strike="noStrike">
              <a:solidFill>
                <a:srgbClr val="FFFFFF"/>
              </a:solidFill>
              <a:effectLst/>
              <a:uFillTx/>
              <a:latin typeface="Arial"/>
            </a:endParaRPr>
          </a:p>
        </p:txBody>
      </p:sp>
      <p:pic>
        <p:nvPicPr>
          <p:cNvPr id="1024" name="図 5"/>
          <p:cNvPicPr/>
          <p:nvPr/>
        </p:nvPicPr>
        <p:blipFill>
          <a:blip r:embed="rId2"/>
          <a:stretch/>
        </p:blipFill>
        <p:spPr>
          <a:xfrm>
            <a:off x="668520" y="2287440"/>
            <a:ext cx="8331480" cy="2953080"/>
          </a:xfrm>
          <a:prstGeom prst="rect">
            <a:avLst/>
          </a:prstGeom>
          <a:noFill/>
          <a:ln w="0">
            <a:noFill/>
          </a:ln>
        </p:spPr>
      </p:pic>
      <p:sp>
        <p:nvSpPr>
          <p:cNvPr id="1025" name="角丸四角形 7"/>
          <p:cNvSpPr/>
          <p:nvPr/>
        </p:nvSpPr>
        <p:spPr>
          <a:xfrm>
            <a:off x="549000" y="5240880"/>
            <a:ext cx="8720640" cy="1245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26" name="正方形/長方形 7"/>
          <p:cNvSpPr/>
          <p:nvPr/>
        </p:nvSpPr>
        <p:spPr>
          <a:xfrm>
            <a:off x="4642560" y="6545520"/>
            <a:ext cx="5046120" cy="2458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000" b="1" u="none" strike="noStrike">
                <a:solidFill>
                  <a:schemeClr val="dk1">
                    <a:lumMod val="65000"/>
                    <a:lumOff val="35000"/>
                  </a:schemeClr>
                </a:solidFill>
                <a:effectLst/>
                <a:uFillTx/>
                <a:latin typeface="Meiryo"/>
                <a:ea typeface="Meiryo"/>
              </a:rPr>
              <a:t>引用：</a:t>
            </a:r>
            <a:r>
              <a:rPr lang="en-US" sz="1000" b="1" u="none" strike="noStrike">
                <a:solidFill>
                  <a:schemeClr val="dk1">
                    <a:lumMod val="65000"/>
                    <a:lumOff val="35000"/>
                  </a:schemeClr>
                </a:solidFill>
                <a:effectLst/>
                <a:uFillTx/>
                <a:latin typeface="Meiryo"/>
                <a:ea typeface="Meiryo"/>
              </a:rPr>
              <a:t>https://prtimes.jp/main/html/rd/p/000003920.000001594.html</a:t>
            </a:r>
            <a:endParaRPr lang="en-US" sz="1000" b="0" u="none" strike="noStrike">
              <a:solidFill>
                <a:srgbClr val="000000"/>
              </a:solidFill>
              <a:effectLst/>
              <a:uFillTx/>
              <a:latin typeface="Arial"/>
            </a:endParaRPr>
          </a:p>
        </p:txBody>
      </p:sp>
      <p:sp>
        <p:nvSpPr>
          <p:cNvPr id="1027" name="正方形/長方形 8"/>
          <p:cNvSpPr/>
          <p:nvPr/>
        </p:nvSpPr>
        <p:spPr>
          <a:xfrm>
            <a:off x="859320" y="5571360"/>
            <a:ext cx="798912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さらに「</a:t>
            </a:r>
            <a:r>
              <a:rPr lang="en-US" sz="1600" b="1" u="none" strike="noStrike">
                <a:solidFill>
                  <a:schemeClr val="dk1">
                    <a:lumMod val="65000"/>
                    <a:lumOff val="35000"/>
                  </a:schemeClr>
                </a:solidFill>
                <a:effectLst/>
                <a:uFillTx/>
                <a:latin typeface="Meiryo"/>
                <a:ea typeface="Meiryo"/>
              </a:rPr>
              <a:t>LINE Ai Call</a:t>
            </a:r>
            <a:r>
              <a:rPr lang="ja-JP" sz="1600" b="1" u="none" strike="noStrike">
                <a:solidFill>
                  <a:schemeClr val="dk1">
                    <a:lumMod val="65000"/>
                    <a:lumOff val="35000"/>
                  </a:schemeClr>
                </a:solidFill>
                <a:effectLst/>
                <a:uFillTx/>
                <a:latin typeface="Meiryo"/>
                <a:ea typeface="Meiryo"/>
              </a:rPr>
              <a:t>」を活用するとユーザーの要望に対して</a:t>
            </a:r>
            <a:r>
              <a:rPr lang="en-US" sz="1600" b="1" u="none" strike="noStrike">
                <a:solidFill>
                  <a:schemeClr val="dk1">
                    <a:lumMod val="65000"/>
                    <a:lumOff val="35000"/>
                  </a:schemeClr>
                </a:solidFill>
                <a:effectLst/>
                <a:uFillTx/>
                <a:latin typeface="Meiryo"/>
                <a:ea typeface="Meiryo"/>
              </a:rPr>
              <a:t>AI</a:t>
            </a:r>
            <a:r>
              <a:rPr lang="ja-JP" sz="1600" b="1" u="none" strike="noStrike">
                <a:solidFill>
                  <a:schemeClr val="dk1">
                    <a:lumMod val="65000"/>
                    <a:lumOff val="35000"/>
                  </a:schemeClr>
                </a:solidFill>
                <a:effectLst/>
                <a:uFillTx/>
                <a:latin typeface="Meiryo"/>
                <a:ea typeface="Meiryo"/>
              </a:rPr>
              <a:t>による自然な</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対話応答が可能に。要件に応じて</a:t>
            </a:r>
            <a:r>
              <a:rPr lang="en-US" sz="1600" b="1" u="none" strike="noStrike">
                <a:solidFill>
                  <a:schemeClr val="dk1">
                    <a:lumMod val="65000"/>
                    <a:lumOff val="35000"/>
                  </a:schemeClr>
                </a:solidFill>
                <a:effectLst/>
                <a:uFillTx/>
                <a:latin typeface="Meiryo"/>
                <a:ea typeface="Meiryo"/>
              </a:rPr>
              <a:t>Ai</a:t>
            </a:r>
            <a:r>
              <a:rPr lang="ja-JP" sz="1600" b="1" u="none" strike="noStrike">
                <a:solidFill>
                  <a:schemeClr val="dk1">
                    <a:lumMod val="65000"/>
                    <a:lumOff val="35000"/>
                  </a:schemeClr>
                </a:solidFill>
                <a:effectLst/>
                <a:uFillTx/>
                <a:latin typeface="Meiryo"/>
                <a:ea typeface="Meiryo"/>
              </a:rPr>
              <a:t>と有人オペレータの振り分け業務効率化を支援。</a:t>
            </a:r>
            <a:endParaRPr lang="en-US" sz="1600" b="0" u="none" strike="noStrike">
              <a:solidFill>
                <a:srgbClr val="000000"/>
              </a:solidFill>
              <a:effectLst/>
              <a:uFillTx/>
              <a:latin typeface="Arial"/>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8"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1029" name="正方形/長方形 4"/>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lt1"/>
                </a:solidFill>
                <a:effectLst/>
                <a:uFillTx/>
                <a:latin typeface="メイリオ"/>
                <a:ea typeface="メイリオ"/>
              </a:rPr>
              <a:t>LINE</a:t>
            </a:r>
            <a:r>
              <a:rPr lang="ja-JP" sz="1600" b="1" u="none" strike="noStrike">
                <a:solidFill>
                  <a:schemeClr val="lt1"/>
                </a:solidFill>
                <a:effectLst/>
                <a:uFillTx/>
                <a:latin typeface="メイリオ"/>
                <a:ea typeface="メイリオ"/>
              </a:rPr>
              <a:t>でログイン</a:t>
            </a:r>
            <a:endParaRPr lang="en-US" sz="1600" b="0" u="none" strike="noStrike">
              <a:solidFill>
                <a:srgbClr val="FFFFFF"/>
              </a:solidFill>
              <a:effectLst/>
              <a:uFillTx/>
              <a:latin typeface="Arial"/>
            </a:endParaRPr>
          </a:p>
        </p:txBody>
      </p:sp>
      <p:sp>
        <p:nvSpPr>
          <p:cNvPr id="1030" name="正方形/長方形 7"/>
          <p:cNvSpPr/>
          <p:nvPr/>
        </p:nvSpPr>
        <p:spPr>
          <a:xfrm>
            <a:off x="4642560" y="6545520"/>
            <a:ext cx="5046120" cy="2458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000" b="1" u="none" strike="noStrike">
                <a:solidFill>
                  <a:schemeClr val="dk1">
                    <a:lumMod val="65000"/>
                    <a:lumOff val="35000"/>
                  </a:schemeClr>
                </a:solidFill>
                <a:effectLst/>
                <a:uFillTx/>
                <a:latin typeface="Meiryo"/>
                <a:ea typeface="Meiryo"/>
              </a:rPr>
              <a:t>引用：</a:t>
            </a:r>
            <a:r>
              <a:rPr lang="en-US" sz="1000" b="1" u="none" strike="noStrike">
                <a:solidFill>
                  <a:schemeClr val="dk1">
                    <a:lumMod val="65000"/>
                    <a:lumOff val="35000"/>
                  </a:schemeClr>
                </a:solidFill>
                <a:effectLst/>
                <a:uFillTx/>
                <a:latin typeface="Meiryo"/>
                <a:ea typeface="Meiryo"/>
              </a:rPr>
              <a:t>https://prtimes.jp/main/html/rd/p/000003920.000001594.html</a:t>
            </a:r>
            <a:endParaRPr lang="en-US" sz="1000" b="0" u="none" strike="noStrike">
              <a:solidFill>
                <a:srgbClr val="000000"/>
              </a:solidFill>
              <a:effectLst/>
              <a:uFillTx/>
              <a:latin typeface="Arial"/>
            </a:endParaRPr>
          </a:p>
        </p:txBody>
      </p:sp>
      <p:pic>
        <p:nvPicPr>
          <p:cNvPr id="1031" name="図 2"/>
          <p:cNvPicPr/>
          <p:nvPr/>
        </p:nvPicPr>
        <p:blipFill>
          <a:blip r:embed="rId2"/>
          <a:stretch/>
        </p:blipFill>
        <p:spPr>
          <a:xfrm>
            <a:off x="414000" y="1995120"/>
            <a:ext cx="9077760" cy="4550040"/>
          </a:xfrm>
          <a:prstGeom prst="rect">
            <a:avLst/>
          </a:prstGeom>
          <a:noFill/>
          <a:ln w="0">
            <a:noFill/>
          </a:ln>
        </p:spPr>
      </p:pic>
      <p:sp>
        <p:nvSpPr>
          <p:cNvPr id="1032" name="正方形/長方形 3"/>
          <p:cNvSpPr/>
          <p:nvPr/>
        </p:nvSpPr>
        <p:spPr>
          <a:xfrm>
            <a:off x="209520" y="1455480"/>
            <a:ext cx="892548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でログイン」は、</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上のユーザー情報を活用して</a:t>
            </a:r>
            <a:r>
              <a:rPr lang="en-US" sz="1600" b="1" u="none" strike="noStrike">
                <a:solidFill>
                  <a:schemeClr val="dk1">
                    <a:lumMod val="65000"/>
                    <a:lumOff val="35000"/>
                  </a:schemeClr>
                </a:solidFill>
                <a:effectLst/>
                <a:uFillTx/>
                <a:latin typeface="Meiryo"/>
                <a:ea typeface="Meiryo"/>
              </a:rPr>
              <a:t>WEB</a:t>
            </a:r>
            <a:r>
              <a:rPr lang="ja-JP" sz="1600" b="1" u="none" strike="noStrike">
                <a:solidFill>
                  <a:schemeClr val="dk1">
                    <a:lumMod val="65000"/>
                    <a:lumOff val="35000"/>
                  </a:schemeClr>
                </a:solidFill>
                <a:effectLst/>
                <a:uFillTx/>
                <a:latin typeface="Meiryo"/>
                <a:ea typeface="Meiryo"/>
              </a:rPr>
              <a:t>サイト登録が出来る仕組み。</a:t>
            </a:r>
            <a:endParaRPr lang="en-US" sz="1600" b="0" u="none" strike="noStrike">
              <a:solidFill>
                <a:srgbClr val="000000"/>
              </a:solidFill>
              <a:effectLst/>
              <a:uFillTx/>
              <a:latin typeface="Arial"/>
            </a:endParaRPr>
          </a:p>
          <a:p>
            <a:pPr defTabSz="914400">
              <a:lnSpc>
                <a:spcPct val="100000"/>
              </a:lnSpc>
            </a:pPr>
            <a:r>
              <a:rPr lang="en-US" sz="1600" b="1" u="none" strike="noStrike">
                <a:solidFill>
                  <a:schemeClr val="dk1">
                    <a:lumMod val="65000"/>
                    <a:lumOff val="35000"/>
                  </a:schemeClr>
                </a:solidFill>
                <a:effectLst/>
                <a:uFillTx/>
                <a:latin typeface="Meiryo"/>
                <a:ea typeface="Meiryo"/>
              </a:rPr>
              <a:t>ID</a:t>
            </a:r>
            <a:r>
              <a:rPr lang="ja-JP" sz="1600" b="1" u="none" strike="noStrike">
                <a:solidFill>
                  <a:schemeClr val="dk1">
                    <a:lumMod val="65000"/>
                    <a:lumOff val="35000"/>
                  </a:schemeClr>
                </a:solidFill>
                <a:effectLst/>
                <a:uFillTx/>
                <a:latin typeface="Meiryo"/>
                <a:ea typeface="Meiryo"/>
              </a:rPr>
              <a:t>連携を完了することにより、サービス</a:t>
            </a:r>
            <a:r>
              <a:rPr lang="en-US" sz="1600" b="1" u="none" strike="noStrike">
                <a:solidFill>
                  <a:schemeClr val="dk1">
                    <a:lumMod val="65000"/>
                    <a:lumOff val="35000"/>
                  </a:schemeClr>
                </a:solidFill>
                <a:effectLst/>
                <a:uFillTx/>
                <a:latin typeface="Meiryo"/>
                <a:ea typeface="Meiryo"/>
              </a:rPr>
              <a:t>(WEB) ⇔ LINE </a:t>
            </a:r>
            <a:r>
              <a:rPr lang="ja-JP" sz="1600" b="1" u="none" strike="noStrike">
                <a:solidFill>
                  <a:schemeClr val="dk1">
                    <a:lumMod val="65000"/>
                    <a:lumOff val="35000"/>
                  </a:schemeClr>
                </a:solidFill>
                <a:effectLst/>
                <a:uFillTx/>
                <a:latin typeface="Meiryo"/>
                <a:ea typeface="Meiryo"/>
              </a:rPr>
              <a:t>での効果的なメッセージが可能に。</a:t>
            </a:r>
            <a:endParaRPr lang="en-US" sz="1600" b="0" u="none" strike="noStrike">
              <a:solidFill>
                <a:srgbClr val="000000"/>
              </a:solidFill>
              <a:effectLst/>
              <a:uFillTx/>
              <a:latin typeface="Arial"/>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3"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a:t>
            </a:r>
            <a:endParaRPr lang="en-US" sz="1600" b="0" u="none" strike="noStrike">
              <a:solidFill>
                <a:srgbClr val="000000"/>
              </a:solidFill>
              <a:effectLst/>
              <a:uFillTx/>
              <a:latin typeface="Arial"/>
            </a:endParaRPr>
          </a:p>
        </p:txBody>
      </p:sp>
      <p:sp>
        <p:nvSpPr>
          <p:cNvPr id="1034" name="角丸四角形 8"/>
          <p:cNvSpPr/>
          <p:nvPr/>
        </p:nvSpPr>
        <p:spPr>
          <a:xfrm>
            <a:off x="6662880" y="40932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35" name="Google Shape;178;p7"/>
          <p:cNvSpPr/>
          <p:nvPr/>
        </p:nvSpPr>
        <p:spPr>
          <a:xfrm>
            <a:off x="6756120" y="4153320"/>
            <a:ext cx="2800080" cy="6750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オフライン動線</a:t>
            </a:r>
            <a:endParaRPr lang="en-US" sz="2000" b="0" u="none" strike="noStrike">
              <a:solidFill>
                <a:srgbClr val="000000"/>
              </a:solidFill>
              <a:effectLst/>
              <a:uFillTx/>
              <a:latin typeface="Arial"/>
            </a:endParaRPr>
          </a:p>
          <a:p>
            <a:pPr algn="ctr" defTabSz="914400">
              <a:lnSpc>
                <a:spcPct val="100000"/>
              </a:lnSpc>
            </a:pPr>
            <a:r>
              <a:rPr lang="ja-JP" sz="1400" b="1" u="none" strike="noStrike">
                <a:solidFill>
                  <a:srgbClr val="002060"/>
                </a:solidFill>
                <a:effectLst/>
                <a:uFillTx/>
                <a:latin typeface="Meiryo"/>
                <a:ea typeface="Meiryo"/>
              </a:rPr>
              <a:t>ニュースリリース等</a:t>
            </a:r>
            <a:endParaRPr lang="en-US" sz="1400" b="0" u="none" strike="noStrike">
              <a:solidFill>
                <a:srgbClr val="000000"/>
              </a:solidFill>
              <a:effectLst/>
              <a:uFillTx/>
              <a:latin typeface="Arial"/>
            </a:endParaRPr>
          </a:p>
        </p:txBody>
      </p:sp>
      <p:sp>
        <p:nvSpPr>
          <p:cNvPr id="1036" name="角丸四角形 7"/>
          <p:cNvSpPr/>
          <p:nvPr/>
        </p:nvSpPr>
        <p:spPr>
          <a:xfrm>
            <a:off x="3462840" y="409032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37" name="Google Shape;178;p7"/>
          <p:cNvSpPr/>
          <p:nvPr/>
        </p:nvSpPr>
        <p:spPr>
          <a:xfrm>
            <a:off x="3562920" y="424548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WEB</a:t>
            </a:r>
            <a:r>
              <a:rPr lang="ja-JP" sz="2000" b="1" u="none" strike="noStrike">
                <a:solidFill>
                  <a:srgbClr val="002060"/>
                </a:solidFill>
                <a:effectLst/>
                <a:uFillTx/>
                <a:latin typeface="Meiryo"/>
                <a:ea typeface="Meiryo"/>
              </a:rPr>
              <a:t>サイト動線整備</a:t>
            </a:r>
            <a:endParaRPr lang="en-US" sz="2000" b="0" u="none" strike="noStrike">
              <a:solidFill>
                <a:srgbClr val="000000"/>
              </a:solidFill>
              <a:effectLst/>
              <a:uFillTx/>
              <a:latin typeface="Arial"/>
            </a:endParaRPr>
          </a:p>
        </p:txBody>
      </p:sp>
      <p:sp>
        <p:nvSpPr>
          <p:cNvPr id="1038" name="角丸四角形 8"/>
          <p:cNvSpPr/>
          <p:nvPr/>
        </p:nvSpPr>
        <p:spPr>
          <a:xfrm>
            <a:off x="262080" y="40932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39" name="Google Shape;178;p7"/>
          <p:cNvSpPr/>
          <p:nvPr/>
        </p:nvSpPr>
        <p:spPr>
          <a:xfrm>
            <a:off x="598320" y="4153320"/>
            <a:ext cx="2314080" cy="6444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友だち紹介</a:t>
            </a:r>
            <a:endParaRPr lang="en-US" sz="2000" b="0" u="none" strike="noStrike">
              <a:solidFill>
                <a:srgbClr val="000000"/>
              </a:solidFill>
              <a:effectLst/>
              <a:uFillTx/>
              <a:latin typeface="Arial"/>
            </a:endParaRPr>
          </a:p>
          <a:p>
            <a:pPr algn="ctr" defTabSz="914400">
              <a:lnSpc>
                <a:spcPct val="100000"/>
              </a:lnSpc>
            </a:pPr>
            <a:r>
              <a:rPr lang="ja-JP" sz="1200" b="1" u="none" strike="noStrike">
                <a:solidFill>
                  <a:srgbClr val="002060"/>
                </a:solidFill>
                <a:effectLst/>
                <a:uFillTx/>
                <a:latin typeface="Meiryo"/>
                <a:ea typeface="Meiryo"/>
              </a:rPr>
              <a:t>（</a:t>
            </a:r>
            <a:r>
              <a:rPr lang="en-US" sz="1200" b="1" u="none" strike="noStrike">
                <a:solidFill>
                  <a:srgbClr val="002060"/>
                </a:solidFill>
                <a:effectLst/>
                <a:uFillTx/>
                <a:latin typeface="Meiryo"/>
                <a:ea typeface="Meiryo"/>
              </a:rPr>
              <a:t>LINE</a:t>
            </a:r>
            <a:r>
              <a:rPr lang="ja-JP" sz="1200" b="1" u="none" strike="noStrike">
                <a:solidFill>
                  <a:srgbClr val="002060"/>
                </a:solidFill>
                <a:effectLst/>
                <a:uFillTx/>
                <a:latin typeface="Meiryo"/>
                <a:ea typeface="Meiryo"/>
              </a:rPr>
              <a:t>ポイントコネクト）</a:t>
            </a:r>
            <a:endParaRPr lang="en-US" sz="1200" b="0" u="none" strike="noStrike">
              <a:solidFill>
                <a:srgbClr val="000000"/>
              </a:solidFill>
              <a:effectLst/>
              <a:uFillTx/>
              <a:latin typeface="Arial"/>
            </a:endParaRPr>
          </a:p>
        </p:txBody>
      </p:sp>
      <p:sp>
        <p:nvSpPr>
          <p:cNvPr id="1040" name="角丸四角形 8"/>
          <p:cNvSpPr/>
          <p:nvPr/>
        </p:nvSpPr>
        <p:spPr>
          <a:xfrm>
            <a:off x="6662880" y="18594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41" name="Google Shape;178;p7"/>
          <p:cNvSpPr/>
          <p:nvPr/>
        </p:nvSpPr>
        <p:spPr>
          <a:xfrm>
            <a:off x="6756120" y="201204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LINE</a:t>
            </a:r>
            <a:r>
              <a:rPr lang="ja-JP" sz="2000" b="1" u="none" strike="noStrike">
                <a:solidFill>
                  <a:srgbClr val="002060"/>
                </a:solidFill>
                <a:effectLst/>
                <a:uFillTx/>
                <a:latin typeface="Meiryo"/>
                <a:ea typeface="Meiryo"/>
              </a:rPr>
              <a:t>ポイント</a:t>
            </a:r>
            <a:r>
              <a:rPr lang="en-US" sz="2000" b="1" u="none" strike="noStrike">
                <a:solidFill>
                  <a:srgbClr val="002060"/>
                </a:solidFill>
                <a:effectLst/>
                <a:uFillTx/>
                <a:latin typeface="Meiryo"/>
                <a:ea typeface="Meiryo"/>
              </a:rPr>
              <a:t>Ads</a:t>
            </a:r>
            <a:endParaRPr lang="en-US" sz="2000" b="0" u="none" strike="noStrike">
              <a:solidFill>
                <a:srgbClr val="000000"/>
              </a:solidFill>
              <a:effectLst/>
              <a:uFillTx/>
              <a:latin typeface="Arial"/>
            </a:endParaRPr>
          </a:p>
        </p:txBody>
      </p:sp>
      <p:sp>
        <p:nvSpPr>
          <p:cNvPr id="1042" name="角丸四角形 7"/>
          <p:cNvSpPr/>
          <p:nvPr/>
        </p:nvSpPr>
        <p:spPr>
          <a:xfrm>
            <a:off x="3462840" y="185652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43" name="Google Shape;178;p7"/>
          <p:cNvSpPr/>
          <p:nvPr/>
        </p:nvSpPr>
        <p:spPr>
          <a:xfrm>
            <a:off x="3562920" y="201204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スタンプ施策</a:t>
            </a:r>
            <a:endParaRPr lang="en-US" sz="2000" b="0" u="none" strike="noStrike">
              <a:solidFill>
                <a:srgbClr val="000000"/>
              </a:solidFill>
              <a:effectLst/>
              <a:uFillTx/>
              <a:latin typeface="Arial"/>
            </a:endParaRPr>
          </a:p>
        </p:txBody>
      </p:sp>
      <p:sp>
        <p:nvSpPr>
          <p:cNvPr id="1044" name="角丸四角形 8"/>
          <p:cNvSpPr/>
          <p:nvPr/>
        </p:nvSpPr>
        <p:spPr>
          <a:xfrm>
            <a:off x="262080" y="18594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45" name="Google Shape;178;p7"/>
          <p:cNvSpPr/>
          <p:nvPr/>
        </p:nvSpPr>
        <p:spPr>
          <a:xfrm>
            <a:off x="598320" y="2012040"/>
            <a:ext cx="2314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CPF</a:t>
            </a:r>
            <a:r>
              <a:rPr lang="ja-JP" sz="2000" b="1" u="none" strike="noStrike">
                <a:solidFill>
                  <a:srgbClr val="002060"/>
                </a:solidFill>
                <a:effectLst/>
                <a:uFillTx/>
                <a:latin typeface="Meiryo"/>
                <a:ea typeface="Meiryo"/>
              </a:rPr>
              <a:t>広告</a:t>
            </a:r>
            <a:endParaRPr lang="en-US" sz="2000" b="0" u="none" strike="noStrike">
              <a:solidFill>
                <a:srgbClr val="000000"/>
              </a:solidFill>
              <a:effectLst/>
              <a:uFillTx/>
              <a:latin typeface="Arial"/>
            </a:endParaRPr>
          </a:p>
        </p:txBody>
      </p:sp>
      <p:sp>
        <p:nvSpPr>
          <p:cNvPr id="1046" name="テキスト ボックス 15"/>
          <p:cNvSpPr/>
          <p:nvPr/>
        </p:nvSpPr>
        <p:spPr>
          <a:xfrm>
            <a:off x="6662880" y="521208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0" u="none" strike="noStrike">
                <a:solidFill>
                  <a:schemeClr val="dk1"/>
                </a:solidFill>
                <a:effectLst/>
                <a:uFillTx/>
                <a:latin typeface="Meiryo"/>
                <a:ea typeface="Meiryo"/>
              </a:rPr>
              <a:t>コンサル発注</a:t>
            </a:r>
            <a:r>
              <a:rPr lang="ja-JP" sz="1200" b="0" u="none" strike="noStrike">
                <a:solidFill>
                  <a:schemeClr val="dk1"/>
                </a:solidFill>
                <a:effectLst/>
                <a:uFillTx/>
                <a:latin typeface="Meiryo"/>
                <a:ea typeface="Meiryo"/>
              </a:rPr>
              <a:t>であれば </a:t>
            </a:r>
            <a:r>
              <a:rPr lang="ja-JP" sz="1800" b="1" u="none" strike="noStrike">
                <a:solidFill>
                  <a:srgbClr val="FF0000"/>
                </a:solidFill>
                <a:effectLst/>
                <a:uFillTx/>
                <a:latin typeface="Meiryo"/>
                <a:ea typeface="Meiryo"/>
              </a:rPr>
              <a:t>無償</a:t>
            </a:r>
            <a:endParaRPr lang="en-US" sz="1800" b="0" u="none" strike="noStrike">
              <a:solidFill>
                <a:srgbClr val="000000"/>
              </a:solidFill>
              <a:effectLst/>
              <a:uFillTx/>
              <a:latin typeface="Arial"/>
            </a:endParaRPr>
          </a:p>
        </p:txBody>
      </p:sp>
      <p:sp>
        <p:nvSpPr>
          <p:cNvPr id="1047" name="正方形/長方形 17"/>
          <p:cNvSpPr/>
          <p:nvPr/>
        </p:nvSpPr>
        <p:spPr>
          <a:xfrm>
            <a:off x="519840" y="4164120"/>
            <a:ext cx="245376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48" name="正方形/長方形 18"/>
          <p:cNvSpPr/>
          <p:nvPr/>
        </p:nvSpPr>
        <p:spPr>
          <a:xfrm>
            <a:off x="3613680" y="416232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49" name="正方形/長方形 19"/>
          <p:cNvSpPr/>
          <p:nvPr/>
        </p:nvSpPr>
        <p:spPr>
          <a:xfrm>
            <a:off x="6825240" y="415332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0" name="正方形/長方形 20"/>
          <p:cNvSpPr/>
          <p:nvPr/>
        </p:nvSpPr>
        <p:spPr>
          <a:xfrm>
            <a:off x="6825240" y="193644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1" name="正方形/長方形 21"/>
          <p:cNvSpPr/>
          <p:nvPr/>
        </p:nvSpPr>
        <p:spPr>
          <a:xfrm>
            <a:off x="405720" y="193896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2" name="正方形/長方形 22"/>
          <p:cNvSpPr/>
          <p:nvPr/>
        </p:nvSpPr>
        <p:spPr>
          <a:xfrm>
            <a:off x="3627720" y="193644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3" name="テキスト ボックス 24"/>
          <p:cNvSpPr/>
          <p:nvPr/>
        </p:nvSpPr>
        <p:spPr>
          <a:xfrm>
            <a:off x="3457080" y="520632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0" u="none" strike="noStrike">
                <a:solidFill>
                  <a:schemeClr val="dk1"/>
                </a:solidFill>
                <a:effectLst/>
                <a:uFillTx/>
                <a:latin typeface="Meiryo"/>
                <a:ea typeface="Meiryo"/>
              </a:rPr>
              <a:t>コンサル発注</a:t>
            </a:r>
            <a:r>
              <a:rPr lang="ja-JP" sz="1200" b="0" u="none" strike="noStrike">
                <a:solidFill>
                  <a:schemeClr val="dk1"/>
                </a:solidFill>
                <a:effectLst/>
                <a:uFillTx/>
                <a:latin typeface="Meiryo"/>
                <a:ea typeface="Meiryo"/>
              </a:rPr>
              <a:t>であれば </a:t>
            </a:r>
            <a:r>
              <a:rPr lang="ja-JP" sz="1800" b="1" u="none" strike="noStrike">
                <a:solidFill>
                  <a:srgbClr val="FF0000"/>
                </a:solidFill>
                <a:effectLst/>
                <a:uFillTx/>
                <a:latin typeface="Meiryo"/>
                <a:ea typeface="Meiryo"/>
              </a:rPr>
              <a:t>無償</a:t>
            </a:r>
            <a:endParaRPr lang="en-US" sz="1800" b="0" u="none" strike="noStrike">
              <a:solidFill>
                <a:srgbClr val="000000"/>
              </a:solidFill>
              <a:effectLst/>
              <a:uFillTx/>
              <a:latin typeface="Arial"/>
            </a:endParaRPr>
          </a:p>
        </p:txBody>
      </p:sp>
      <p:sp>
        <p:nvSpPr>
          <p:cNvPr id="1054" name="テキスト ボックス 26"/>
          <p:cNvSpPr/>
          <p:nvPr/>
        </p:nvSpPr>
        <p:spPr>
          <a:xfrm>
            <a:off x="250920" y="520632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800" b="1" u="none" strike="noStrike">
                <a:solidFill>
                  <a:schemeClr val="dk1">
                    <a:lumMod val="50000"/>
                    <a:lumOff val="50000"/>
                  </a:schemeClr>
                </a:solidFill>
                <a:effectLst/>
                <a:uFillTx/>
                <a:latin typeface="Meiryo"/>
                <a:ea typeface="Meiryo"/>
              </a:rPr>
              <a:t>サービス停止中</a:t>
            </a:r>
            <a:endParaRPr lang="en-US" sz="1800" b="0" u="none" strike="noStrike">
              <a:solidFill>
                <a:srgbClr val="000000"/>
              </a:solidFill>
              <a:effectLst/>
              <a:uFillTx/>
              <a:latin typeface="Arial"/>
            </a:endParaRPr>
          </a:p>
        </p:txBody>
      </p:sp>
      <p:sp>
        <p:nvSpPr>
          <p:cNvPr id="1055" name="テキスト ボックス 27"/>
          <p:cNvSpPr/>
          <p:nvPr/>
        </p:nvSpPr>
        <p:spPr>
          <a:xfrm>
            <a:off x="6680520" y="297828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Meiryo"/>
                <a:ea typeface="Meiryo"/>
              </a:rPr>
              <a:t>200</a:t>
            </a:r>
            <a:r>
              <a:rPr lang="ja-JP" sz="2000" b="1" u="none" strike="noStrike">
                <a:solidFill>
                  <a:srgbClr val="FF0000"/>
                </a:solidFill>
                <a:effectLst/>
                <a:uFillTx/>
                <a:latin typeface="Meiryo"/>
                <a:ea typeface="Meiryo"/>
              </a:rPr>
              <a:t>万円</a:t>
            </a:r>
            <a:r>
              <a:rPr lang="en-US" sz="2000" b="1" u="none" strike="noStrike">
                <a:solidFill>
                  <a:srgbClr val="FF0000"/>
                </a:solidFill>
                <a:effectLst/>
                <a:uFillTx/>
                <a:latin typeface="Meiryo"/>
                <a:ea typeface="Meiryo"/>
              </a:rPr>
              <a:t>~</a:t>
            </a:r>
            <a:r>
              <a:rPr lang="ja-JP" sz="1200" b="0" u="none" strike="noStrike">
                <a:solidFill>
                  <a:schemeClr val="dk1"/>
                </a:solidFill>
                <a:effectLst/>
                <a:uFillTx/>
                <a:latin typeface="Meiryo"/>
                <a:ea typeface="Meiryo"/>
              </a:rPr>
              <a:t>（期間合計）</a:t>
            </a:r>
            <a:endParaRPr lang="en-US" sz="1200" b="0" u="none" strike="noStrike">
              <a:solidFill>
                <a:srgbClr val="000000"/>
              </a:solidFill>
              <a:effectLst/>
              <a:uFillTx/>
              <a:latin typeface="Arial"/>
            </a:endParaRPr>
          </a:p>
        </p:txBody>
      </p:sp>
      <p:sp>
        <p:nvSpPr>
          <p:cNvPr id="1056" name="テキスト ボックス 28"/>
          <p:cNvSpPr/>
          <p:nvPr/>
        </p:nvSpPr>
        <p:spPr>
          <a:xfrm>
            <a:off x="3474720" y="297252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Meiryo"/>
                <a:ea typeface="Meiryo"/>
              </a:rPr>
              <a:t>200</a:t>
            </a:r>
            <a:r>
              <a:rPr lang="ja-JP" sz="2000" b="1" u="none" strike="noStrike">
                <a:solidFill>
                  <a:srgbClr val="FF0000"/>
                </a:solidFill>
                <a:effectLst/>
                <a:uFillTx/>
                <a:latin typeface="Meiryo"/>
                <a:ea typeface="Meiryo"/>
              </a:rPr>
              <a:t>万円</a:t>
            </a:r>
            <a:r>
              <a:rPr lang="en-US" sz="2000" b="1" u="none" strike="noStrike">
                <a:solidFill>
                  <a:srgbClr val="FF0000"/>
                </a:solidFill>
                <a:effectLst/>
                <a:uFillTx/>
                <a:latin typeface="Meiryo"/>
                <a:ea typeface="Meiryo"/>
              </a:rPr>
              <a:t>~</a:t>
            </a:r>
            <a:r>
              <a:rPr lang="ja-JP" sz="1200" b="0" u="none" strike="noStrike">
                <a:solidFill>
                  <a:schemeClr val="dk1"/>
                </a:solidFill>
                <a:effectLst/>
                <a:uFillTx/>
                <a:latin typeface="Meiryo"/>
                <a:ea typeface="Meiryo"/>
              </a:rPr>
              <a:t>（期間合計）</a:t>
            </a:r>
            <a:endParaRPr lang="en-US" sz="1200" b="0" u="none" strike="noStrike">
              <a:solidFill>
                <a:srgbClr val="000000"/>
              </a:solidFill>
              <a:effectLst/>
              <a:uFillTx/>
              <a:latin typeface="Arial"/>
            </a:endParaRPr>
          </a:p>
        </p:txBody>
      </p:sp>
      <p:sp>
        <p:nvSpPr>
          <p:cNvPr id="1057" name="テキスト ボックス 29"/>
          <p:cNvSpPr/>
          <p:nvPr/>
        </p:nvSpPr>
        <p:spPr>
          <a:xfrm>
            <a:off x="268560" y="297252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Meiryo"/>
                <a:ea typeface="Meiryo"/>
              </a:rPr>
              <a:t>20</a:t>
            </a:r>
            <a:r>
              <a:rPr lang="ja-JP" sz="2000" b="1" u="none" strike="noStrike">
                <a:solidFill>
                  <a:srgbClr val="FF0000"/>
                </a:solidFill>
                <a:effectLst/>
                <a:uFillTx/>
                <a:latin typeface="Meiryo"/>
                <a:ea typeface="Meiryo"/>
              </a:rPr>
              <a:t>万円</a:t>
            </a:r>
            <a:r>
              <a:rPr lang="en-US" sz="2000" b="1" u="none" strike="noStrike">
                <a:solidFill>
                  <a:srgbClr val="FF0000"/>
                </a:solidFill>
                <a:effectLst/>
                <a:uFillTx/>
                <a:latin typeface="Meiryo"/>
                <a:ea typeface="Meiryo"/>
              </a:rPr>
              <a:t>~</a:t>
            </a:r>
            <a:r>
              <a:rPr lang="ja-JP" sz="1200" b="0" u="none" strike="noStrike">
                <a:solidFill>
                  <a:schemeClr val="dk1"/>
                </a:solidFill>
                <a:effectLst/>
                <a:uFillTx/>
                <a:latin typeface="Meiryo"/>
                <a:ea typeface="Meiryo"/>
              </a:rPr>
              <a:t>（</a:t>
            </a:r>
            <a:r>
              <a:rPr lang="en-US" sz="1200" b="0" u="none" strike="noStrike">
                <a:solidFill>
                  <a:schemeClr val="dk1"/>
                </a:solidFill>
                <a:effectLst/>
                <a:uFillTx/>
                <a:latin typeface="Meiryo"/>
                <a:ea typeface="Meiryo"/>
              </a:rPr>
              <a:t>1</a:t>
            </a:r>
            <a:r>
              <a:rPr lang="ja-JP" sz="1200" b="0" u="none" strike="noStrike">
                <a:solidFill>
                  <a:schemeClr val="dk1"/>
                </a:solidFill>
                <a:effectLst/>
                <a:uFillTx/>
                <a:latin typeface="Meiryo"/>
                <a:ea typeface="Meiryo"/>
              </a:rPr>
              <a:t>ヶ月</a:t>
            </a:r>
            <a:r>
              <a:rPr lang="en-US" sz="1200" b="0" u="none" strike="noStrike">
                <a:solidFill>
                  <a:schemeClr val="dk1"/>
                </a:solidFill>
                <a:effectLst/>
                <a:uFillTx/>
                <a:latin typeface="Meiryo"/>
                <a:ea typeface="Meiryo"/>
              </a:rPr>
              <a:t>~</a:t>
            </a:r>
            <a:r>
              <a:rPr lang="ja-JP" sz="1200" b="0" u="none" strike="noStrike">
                <a:solidFill>
                  <a:schemeClr val="dk1"/>
                </a:solidFill>
                <a:effectLst/>
                <a:uFillTx/>
                <a:latin typeface="Meiryo"/>
                <a:ea typeface="Meiryo"/>
              </a:rPr>
              <a:t>）</a:t>
            </a:r>
            <a:endParaRPr lang="en-US" sz="1200" b="0" u="none" strike="noStrike">
              <a:solidFill>
                <a:srgbClr val="000000"/>
              </a:solidFill>
              <a:effectLst/>
              <a:uFillTx/>
              <a:latin typeface="Arial"/>
            </a:endParaRPr>
          </a:p>
        </p:txBody>
      </p:sp>
      <p:sp>
        <p:nvSpPr>
          <p:cNvPr id="1058" name="正方形/長方形 30"/>
          <p:cNvSpPr/>
          <p:nvPr/>
        </p:nvSpPr>
        <p:spPr>
          <a:xfrm>
            <a:off x="663480" y="899280"/>
            <a:ext cx="862776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1" u="none" strike="noStrike">
                <a:solidFill>
                  <a:schemeClr val="dk1">
                    <a:lumMod val="65000"/>
                    <a:lumOff val="35000"/>
                  </a:schemeClr>
                </a:solidFill>
                <a:effectLst/>
                <a:uFillTx/>
                <a:latin typeface="Meiryo"/>
                <a:ea typeface="Meiryo"/>
              </a:rPr>
              <a:t>各拡張施策についても</a:t>
            </a:r>
            <a:r>
              <a:rPr lang="en-US" sz="1600" b="1" u="none" strike="noStrike">
                <a:solidFill>
                  <a:schemeClr val="dk1">
                    <a:lumMod val="65000"/>
                    <a:lumOff val="35000"/>
                  </a:schemeClr>
                </a:solidFill>
                <a:effectLst/>
                <a:uFillTx/>
                <a:latin typeface="Meiryo"/>
                <a:ea typeface="Meiryo"/>
              </a:rPr>
              <a:t>MIN</a:t>
            </a:r>
            <a:r>
              <a:rPr lang="ja-JP" sz="1600" b="1" u="none" strike="noStrike">
                <a:solidFill>
                  <a:schemeClr val="dk1">
                    <a:lumMod val="65000"/>
                    <a:lumOff val="35000"/>
                  </a:schemeClr>
                </a:solidFill>
                <a:effectLst/>
                <a:uFillTx/>
                <a:latin typeface="Meiryo"/>
                <a:ea typeface="Meiryo"/>
              </a:rPr>
              <a:t>金額からの発注、動線設計が可能です。</a:t>
            </a:r>
            <a:endParaRPr lang="en-US" sz="1600" b="0" u="none" strike="noStrike">
              <a:solidFill>
                <a:srgbClr val="000000"/>
              </a:solidFill>
              <a:effectLst/>
              <a:uFillTx/>
              <a:latin typeface="Arial"/>
            </a:endParaRPr>
          </a:p>
          <a:p>
            <a:pPr algn="ct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友だち追加後の動線設計（特に友だち追加後すぐ）の検証後の拡大施策として用意。</a:t>
            </a:r>
            <a:endParaRPr lang="en-US" sz="1600" b="0" u="none" strike="noStrike">
              <a:solidFill>
                <a:srgbClr val="000000"/>
              </a:solidFill>
              <a:effectLst/>
              <a:uFillTx/>
              <a:latin typeface="Arial"/>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9"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a:t>
            </a:r>
            <a:endParaRPr lang="en-US" sz="1600" b="0" u="none" strike="noStrike">
              <a:solidFill>
                <a:srgbClr val="000000"/>
              </a:solidFill>
              <a:effectLst/>
              <a:uFillTx/>
              <a:latin typeface="Arial"/>
            </a:endParaRPr>
          </a:p>
        </p:txBody>
      </p:sp>
      <p:pic>
        <p:nvPicPr>
          <p:cNvPr id="1060" name="図 51"/>
          <p:cNvPicPr/>
          <p:nvPr/>
        </p:nvPicPr>
        <p:blipFill>
          <a:blip r:embed="rId2"/>
          <a:stretch/>
        </p:blipFill>
        <p:spPr>
          <a:xfrm>
            <a:off x="554400" y="1857960"/>
            <a:ext cx="4461120" cy="1873440"/>
          </a:xfrm>
          <a:prstGeom prst="rect">
            <a:avLst/>
          </a:prstGeom>
          <a:noFill/>
          <a:ln w="0">
            <a:noFill/>
          </a:ln>
        </p:spPr>
      </p:pic>
      <p:sp>
        <p:nvSpPr>
          <p:cNvPr id="1061" name="正方形/長方形 52"/>
          <p:cNvSpPr/>
          <p:nvPr/>
        </p:nvSpPr>
        <p:spPr>
          <a:xfrm>
            <a:off x="419760" y="732600"/>
            <a:ext cx="2365200" cy="67284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lt1"/>
                </a:solidFill>
                <a:effectLst/>
                <a:uFillTx/>
                <a:latin typeface="メイリオ"/>
                <a:ea typeface="メイリオ"/>
              </a:rPr>
              <a:t>LINE</a:t>
            </a:r>
            <a:r>
              <a:rPr lang="ja-JP" sz="1600" b="1" u="none" strike="noStrike">
                <a:solidFill>
                  <a:schemeClr val="lt1"/>
                </a:solidFill>
                <a:effectLst/>
                <a:uFillTx/>
                <a:latin typeface="メイリオ"/>
                <a:ea typeface="メイリオ"/>
              </a:rPr>
              <a:t>広告</a:t>
            </a:r>
            <a:r>
              <a:rPr lang="ja-JP" sz="1200" b="1" u="none" strike="noStrike">
                <a:solidFill>
                  <a:schemeClr val="lt1"/>
                </a:solidFill>
                <a:effectLst/>
                <a:uFillTx/>
                <a:latin typeface="メイリオ"/>
                <a:ea typeface="メイリオ"/>
              </a:rPr>
              <a:t>（友だち追加）</a:t>
            </a:r>
            <a:endParaRPr lang="en-US" sz="1200" b="0" u="none" strike="noStrike">
              <a:solidFill>
                <a:srgbClr val="FFFFFF"/>
              </a:solidFill>
              <a:effectLst/>
              <a:uFillTx/>
              <a:latin typeface="Arial"/>
            </a:endParaRPr>
          </a:p>
          <a:p>
            <a:pPr algn="ctr" defTabSz="914400">
              <a:lnSpc>
                <a:spcPct val="100000"/>
              </a:lnSpc>
            </a:pPr>
            <a:r>
              <a:rPr lang="en-US" sz="1200" b="1" u="none" strike="noStrike">
                <a:solidFill>
                  <a:srgbClr val="FFFF00"/>
                </a:solidFill>
                <a:effectLst/>
                <a:uFillTx/>
                <a:latin typeface="メイリオ"/>
                <a:ea typeface="メイリオ"/>
              </a:rPr>
              <a:t>※CPF</a:t>
            </a:r>
            <a:r>
              <a:rPr lang="ja-JP" sz="1200" b="1" u="none" strike="noStrike">
                <a:solidFill>
                  <a:srgbClr val="FFFF00"/>
                </a:solidFill>
                <a:effectLst/>
                <a:uFillTx/>
                <a:latin typeface="メイリオ"/>
                <a:ea typeface="メイリオ"/>
              </a:rPr>
              <a:t>広告※</a:t>
            </a:r>
            <a:endParaRPr lang="en-US" sz="1200" b="0" u="none" strike="noStrike">
              <a:solidFill>
                <a:srgbClr val="FFFFFF"/>
              </a:solidFill>
              <a:effectLst/>
              <a:uFillTx/>
              <a:latin typeface="Arial"/>
            </a:endParaRPr>
          </a:p>
        </p:txBody>
      </p:sp>
      <p:sp>
        <p:nvSpPr>
          <p:cNvPr id="1062" name="正方形/長方形 53"/>
          <p:cNvSpPr/>
          <p:nvPr/>
        </p:nvSpPr>
        <p:spPr>
          <a:xfrm>
            <a:off x="2938320" y="776880"/>
            <a:ext cx="648216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公式アカウントの友だちを増やすための広告を、</a:t>
            </a:r>
            <a:br>
              <a:rPr sz="1600"/>
            </a:b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広告の管理画面より</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アプリ内で掲載できる機能。</a:t>
            </a:r>
            <a:endParaRPr lang="en-US" sz="1600" b="0" u="none" strike="noStrike">
              <a:solidFill>
                <a:srgbClr val="000000"/>
              </a:solidFill>
              <a:effectLst/>
              <a:uFillTx/>
              <a:latin typeface="Arial"/>
            </a:endParaRPr>
          </a:p>
        </p:txBody>
      </p:sp>
      <p:grpSp>
        <p:nvGrpSpPr>
          <p:cNvPr id="1063" name="グループ化 54"/>
          <p:cNvGrpSpPr/>
          <p:nvPr/>
        </p:nvGrpSpPr>
        <p:grpSpPr>
          <a:xfrm>
            <a:off x="516240" y="1563480"/>
            <a:ext cx="2696040" cy="311760"/>
            <a:chOff x="516240" y="1563480"/>
            <a:chExt cx="2696040" cy="311760"/>
          </a:xfrm>
        </p:grpSpPr>
        <p:sp>
          <p:nvSpPr>
            <p:cNvPr id="1064" name="四角形: 角を丸くする 55"/>
            <p:cNvSpPr/>
            <p:nvPr/>
          </p:nvSpPr>
          <p:spPr>
            <a:xfrm>
              <a:off x="516240" y="1563480"/>
              <a:ext cx="2696040" cy="302400"/>
            </a:xfrm>
            <a:prstGeom prst="roundRect">
              <a:avLst>
                <a:gd name="adj" fmla="val 16667"/>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sp>
          <p:nvSpPr>
            <p:cNvPr id="1065" name="正方形/長方形 56"/>
            <p:cNvSpPr/>
            <p:nvPr/>
          </p:nvSpPr>
          <p:spPr>
            <a:xfrm>
              <a:off x="516240" y="1598760"/>
              <a:ext cx="269604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1" u="none" strike="noStrike">
                  <a:solidFill>
                    <a:srgbClr val="0070C0"/>
                  </a:solidFill>
                  <a:effectLst/>
                  <a:uFillTx/>
                  <a:latin typeface="Meiryo"/>
                  <a:ea typeface="Meiryo"/>
                </a:rPr>
                <a:t>LINE</a:t>
              </a:r>
              <a:r>
                <a:rPr lang="ja-JP" sz="1200" b="1" u="none" strike="noStrike">
                  <a:solidFill>
                    <a:srgbClr val="0070C0"/>
                  </a:solidFill>
                  <a:effectLst/>
                  <a:uFillTx/>
                  <a:latin typeface="Meiryo"/>
                  <a:ea typeface="Meiryo"/>
                </a:rPr>
                <a:t>公式アカウントまでの導線</a:t>
              </a:r>
              <a:endParaRPr lang="en-US" sz="1200" b="0" u="none" strike="noStrike">
                <a:solidFill>
                  <a:srgbClr val="000000"/>
                </a:solidFill>
                <a:effectLst/>
                <a:uFillTx/>
                <a:latin typeface="Arial"/>
              </a:endParaRPr>
            </a:p>
          </p:txBody>
        </p:sp>
      </p:grpSp>
      <p:grpSp>
        <p:nvGrpSpPr>
          <p:cNvPr id="1066" name="グループ化 57"/>
          <p:cNvGrpSpPr/>
          <p:nvPr/>
        </p:nvGrpSpPr>
        <p:grpSpPr>
          <a:xfrm>
            <a:off x="516240" y="3819600"/>
            <a:ext cx="2696040" cy="311760"/>
            <a:chOff x="516240" y="3819600"/>
            <a:chExt cx="2696040" cy="311760"/>
          </a:xfrm>
        </p:grpSpPr>
        <p:sp>
          <p:nvSpPr>
            <p:cNvPr id="1067" name="四角形: 角を丸くする 58"/>
            <p:cNvSpPr/>
            <p:nvPr/>
          </p:nvSpPr>
          <p:spPr>
            <a:xfrm>
              <a:off x="516240" y="3819600"/>
              <a:ext cx="2696040" cy="302400"/>
            </a:xfrm>
            <a:prstGeom prst="roundRect">
              <a:avLst>
                <a:gd name="adj" fmla="val 16667"/>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sp>
          <p:nvSpPr>
            <p:cNvPr id="1068" name="正方形/長方形 59"/>
            <p:cNvSpPr/>
            <p:nvPr/>
          </p:nvSpPr>
          <p:spPr>
            <a:xfrm>
              <a:off x="516240" y="3854880"/>
              <a:ext cx="269604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rgbClr val="0070C0"/>
                  </a:solidFill>
                  <a:effectLst/>
                  <a:uFillTx/>
                  <a:latin typeface="Meiryo"/>
                  <a:ea typeface="Meiryo"/>
                </a:rPr>
                <a:t>「友だち追加広告」との違い</a:t>
              </a:r>
              <a:endParaRPr lang="en-US" sz="1200" b="0" u="none" strike="noStrike">
                <a:solidFill>
                  <a:srgbClr val="000000"/>
                </a:solidFill>
                <a:effectLst/>
                <a:uFillTx/>
                <a:latin typeface="Arial"/>
              </a:endParaRPr>
            </a:p>
          </p:txBody>
        </p:sp>
      </p:grpSp>
      <p:pic>
        <p:nvPicPr>
          <p:cNvPr id="1069" name="table"/>
          <p:cNvPicPr/>
          <p:nvPr/>
        </p:nvPicPr>
        <p:blipFill>
          <a:blip r:embed="rId3"/>
          <a:stretch/>
        </p:blipFill>
        <p:spPr>
          <a:xfrm>
            <a:off x="787680" y="4201920"/>
            <a:ext cx="8671680" cy="2201760"/>
          </a:xfrm>
          <a:prstGeom prst="rect">
            <a:avLst/>
          </a:prstGeom>
          <a:noFill/>
          <a:ln w="0">
            <a:noFill/>
          </a:ln>
        </p:spPr>
      </p:pic>
      <p:sp>
        <p:nvSpPr>
          <p:cNvPr id="1070" name="矢印: 右 61"/>
          <p:cNvSpPr/>
          <p:nvPr/>
        </p:nvSpPr>
        <p:spPr>
          <a:xfrm>
            <a:off x="5232600" y="2618640"/>
            <a:ext cx="429840" cy="352080"/>
          </a:xfrm>
          <a:prstGeom prst="rightArrow">
            <a:avLst>
              <a:gd name="adj1" fmla="val 50000"/>
              <a:gd name="adj2" fmla="val 50000"/>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pic>
        <p:nvPicPr>
          <p:cNvPr id="1071" name="図 62"/>
          <p:cNvPicPr/>
          <p:nvPr/>
        </p:nvPicPr>
        <p:blipFill>
          <a:blip r:embed="rId4"/>
          <a:srcRect l="35512" r="35510"/>
          <a:stretch/>
        </p:blipFill>
        <p:spPr>
          <a:xfrm>
            <a:off x="6038640" y="1875960"/>
            <a:ext cx="917280" cy="1779120"/>
          </a:xfrm>
          <a:prstGeom prst="rect">
            <a:avLst/>
          </a:prstGeom>
          <a:noFill/>
          <a:ln w="0">
            <a:noFill/>
          </a:ln>
        </p:spPr>
      </p:pic>
      <p:sp>
        <p:nvSpPr>
          <p:cNvPr id="1072" name="テキスト ボックス 34"/>
          <p:cNvSpPr/>
          <p:nvPr/>
        </p:nvSpPr>
        <p:spPr>
          <a:xfrm>
            <a:off x="6868440" y="2618640"/>
            <a:ext cx="270468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0" u="none" strike="noStrike">
                <a:solidFill>
                  <a:srgbClr val="000000"/>
                </a:solidFill>
                <a:effectLst/>
                <a:uFillTx/>
                <a:latin typeface="メイリオ"/>
                <a:ea typeface="メイリオ"/>
              </a:rPr>
              <a:t>LINE</a:t>
            </a:r>
            <a:r>
              <a:rPr lang="ja-JP" sz="1200" b="0" u="none" strike="noStrike">
                <a:solidFill>
                  <a:srgbClr val="000000"/>
                </a:solidFill>
                <a:effectLst/>
                <a:uFillTx/>
                <a:latin typeface="メイリオ"/>
                <a:ea typeface="メイリオ"/>
              </a:rPr>
              <a:t>アプリ内から</a:t>
            </a:r>
            <a:br>
              <a:rPr sz="1200"/>
            </a:br>
            <a:r>
              <a:rPr lang="ja-JP" sz="1200" b="0" u="none" strike="noStrike">
                <a:solidFill>
                  <a:srgbClr val="000000"/>
                </a:solidFill>
                <a:effectLst/>
                <a:uFillTx/>
                <a:latin typeface="メイリオ"/>
                <a:ea typeface="メイリオ"/>
              </a:rPr>
              <a:t>自社アカウントに</a:t>
            </a:r>
            <a:r>
              <a:rPr lang="en-US" sz="1600" b="1" u="none" strike="noStrike">
                <a:solidFill>
                  <a:srgbClr val="33CC33"/>
                </a:solidFill>
                <a:effectLst/>
                <a:uFillTx/>
                <a:latin typeface="メイリオ"/>
                <a:ea typeface="メイリオ"/>
              </a:rPr>
              <a:t>“直接”</a:t>
            </a:r>
            <a:r>
              <a:rPr lang="ja-JP" sz="1200" b="0" u="none" strike="noStrike">
                <a:solidFill>
                  <a:srgbClr val="000000"/>
                </a:solidFill>
                <a:effectLst/>
                <a:uFillTx/>
                <a:latin typeface="メイリオ"/>
                <a:ea typeface="メイリオ"/>
              </a:rPr>
              <a:t>誘導</a:t>
            </a:r>
            <a:endParaRPr lang="en-US" sz="1200" b="0" u="none" strike="noStrike">
              <a:solidFill>
                <a:srgbClr val="000000"/>
              </a:solidFill>
              <a:effectLst/>
              <a:uFillTx/>
              <a:latin typeface="Arial"/>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1"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弊社からご提供できる運用プラン</a:t>
            </a:r>
            <a:endParaRPr lang="en-US" sz="1600" b="0" u="none" strike="noStrike">
              <a:solidFill>
                <a:srgbClr val="000000"/>
              </a:solidFill>
              <a:effectLst/>
              <a:uFillTx/>
              <a:latin typeface="Arial"/>
            </a:endParaRPr>
          </a:p>
        </p:txBody>
      </p:sp>
      <p:sp>
        <p:nvSpPr>
          <p:cNvPr id="642" name="正方形/長方形 8"/>
          <p:cNvSpPr/>
          <p:nvPr/>
        </p:nvSpPr>
        <p:spPr>
          <a:xfrm>
            <a:off x="0" y="77724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都度発注プラン</a:t>
            </a:r>
            <a:endParaRPr lang="en-US" sz="1400" b="0" u="none" strike="noStrike">
              <a:solidFill>
                <a:srgbClr val="FFFFFF"/>
              </a:solidFill>
              <a:effectLst/>
              <a:uFillTx/>
              <a:latin typeface="Arial"/>
            </a:endParaRPr>
          </a:p>
        </p:txBody>
      </p:sp>
      <p:sp>
        <p:nvSpPr>
          <p:cNvPr id="643" name="Google Shape;752;p28"/>
          <p:cNvSpPr/>
          <p:nvPr/>
        </p:nvSpPr>
        <p:spPr>
          <a:xfrm>
            <a:off x="3036600" y="85932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en-US" sz="1600" b="1" u="none" strike="noStrike" dirty="0">
                <a:solidFill>
                  <a:schemeClr val="dk1"/>
                </a:solidFill>
                <a:effectLst/>
                <a:uFillTx/>
                <a:latin typeface="メイリオ"/>
                <a:ea typeface="メイリオ"/>
              </a:rPr>
              <a:t>LINEOA</a:t>
            </a:r>
            <a:r>
              <a:rPr lang="ja-JP" sz="1600" b="1" u="none" strike="noStrike" dirty="0">
                <a:solidFill>
                  <a:schemeClr val="dk1"/>
                </a:solidFill>
                <a:effectLst/>
                <a:uFillTx/>
                <a:latin typeface="メイリオ"/>
                <a:ea typeface="メイリオ"/>
              </a:rPr>
              <a:t>の運用業務・</a:t>
            </a:r>
            <a:r>
              <a:rPr lang="en-US" sz="1600" b="1" u="none" strike="noStrike" dirty="0">
                <a:solidFill>
                  <a:schemeClr val="dk1"/>
                </a:solidFill>
                <a:effectLst/>
                <a:uFillTx/>
                <a:latin typeface="メイリオ"/>
                <a:ea typeface="メイリオ"/>
              </a:rPr>
              <a:t>CR</a:t>
            </a:r>
            <a:r>
              <a:rPr lang="ja-JP" sz="1600" b="1" u="none" strike="noStrike" dirty="0">
                <a:solidFill>
                  <a:schemeClr val="dk1"/>
                </a:solidFill>
                <a:effectLst/>
                <a:uFillTx/>
                <a:latin typeface="メイリオ"/>
                <a:ea typeface="メイリオ"/>
              </a:rPr>
              <a:t>制作業務を一部外出ししてご依頼も。</a:t>
            </a:r>
            <a:endParaRPr lang="en-US" sz="1600" b="0" u="none" strike="noStrike" dirty="0">
              <a:solidFill>
                <a:srgbClr val="000000"/>
              </a:solidFill>
              <a:effectLst/>
              <a:uFillTx/>
              <a:latin typeface="Arial"/>
            </a:endParaRPr>
          </a:p>
        </p:txBody>
      </p:sp>
      <p:sp>
        <p:nvSpPr>
          <p:cNvPr id="644" name="正方形/長方形 11"/>
          <p:cNvSpPr/>
          <p:nvPr/>
        </p:nvSpPr>
        <p:spPr>
          <a:xfrm>
            <a:off x="549000" y="1380240"/>
            <a:ext cx="8859240" cy="50810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050" b="0" u="none" strike="noStrike">
              <a:solidFill>
                <a:schemeClr val="dk1">
                  <a:lumMod val="65000"/>
                  <a:lumOff val="35000"/>
                </a:schemeClr>
              </a:solidFill>
              <a:effectLst/>
              <a:uFillTx/>
              <a:latin typeface="メイリオ"/>
              <a:ea typeface="メイリオ"/>
            </a:endParaRPr>
          </a:p>
        </p:txBody>
      </p:sp>
      <p:sp>
        <p:nvSpPr>
          <p:cNvPr id="645" name="テキスト ボックス 12"/>
          <p:cNvSpPr/>
          <p:nvPr/>
        </p:nvSpPr>
        <p:spPr>
          <a:xfrm>
            <a:off x="706680" y="1569600"/>
            <a:ext cx="4963680" cy="253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050" b="0" u="none" strike="noStrike">
                <a:solidFill>
                  <a:schemeClr val="dk1">
                    <a:lumMod val="65000"/>
                    <a:lumOff val="35000"/>
                  </a:schemeClr>
                </a:solidFill>
                <a:effectLst/>
                <a:uFillTx/>
                <a:latin typeface="メイリオ"/>
                <a:ea typeface="メイリオ"/>
              </a:rPr>
              <a:t>&lt;</a:t>
            </a:r>
            <a:r>
              <a:rPr lang="ja-JP" sz="1050" b="0" u="none" strike="noStrike">
                <a:solidFill>
                  <a:schemeClr val="dk1">
                    <a:lumMod val="65000"/>
                    <a:lumOff val="35000"/>
                  </a:schemeClr>
                </a:solidFill>
                <a:effectLst/>
                <a:uFillTx/>
                <a:latin typeface="メイリオ"/>
                <a:ea typeface="メイリオ"/>
              </a:rPr>
              <a:t>追加作業における費用感　</a:t>
            </a:r>
            <a:r>
              <a:rPr lang="en-US" sz="900" b="0" u="none" strike="noStrike">
                <a:solidFill>
                  <a:srgbClr val="FF0000"/>
                </a:solidFill>
                <a:effectLst/>
                <a:uFillTx/>
                <a:latin typeface="メイリオ"/>
                <a:ea typeface="メイリオ"/>
              </a:rPr>
              <a:t>※作業量により変動する可能性がございます</a:t>
            </a:r>
            <a:r>
              <a:rPr lang="en-US" sz="1050" b="0" u="none" strike="noStrike">
                <a:solidFill>
                  <a:schemeClr val="dk1">
                    <a:lumMod val="65000"/>
                    <a:lumOff val="35000"/>
                  </a:schemeClr>
                </a:solidFill>
                <a:effectLst/>
                <a:uFillTx/>
                <a:latin typeface="メイリオ"/>
                <a:ea typeface="メイリオ"/>
              </a:rPr>
              <a:t>&gt;</a:t>
            </a:r>
            <a:endParaRPr lang="en-US" sz="1050" b="0" u="none" strike="noStrike">
              <a:solidFill>
                <a:srgbClr val="000000"/>
              </a:solidFill>
              <a:effectLst/>
              <a:uFillTx/>
              <a:latin typeface="Arial"/>
            </a:endParaRPr>
          </a:p>
        </p:txBody>
      </p:sp>
      <p:graphicFrame>
        <p:nvGraphicFramePr>
          <p:cNvPr id="646" name="表 13"/>
          <p:cNvGraphicFramePr/>
          <p:nvPr/>
        </p:nvGraphicFramePr>
        <p:xfrm>
          <a:off x="706680" y="1862640"/>
          <a:ext cx="8542080" cy="4067280"/>
        </p:xfrm>
        <a:graphic>
          <a:graphicData uri="http://schemas.openxmlformats.org/drawingml/2006/table">
            <a:tbl>
              <a:tblPr/>
              <a:tblGrid>
                <a:gridCol w="1832400">
                  <a:extLst>
                    <a:ext uri="{9D8B030D-6E8A-4147-A177-3AD203B41FA5}">
                      <a16:colId xmlns:a16="http://schemas.microsoft.com/office/drawing/2014/main" val="20000"/>
                    </a:ext>
                  </a:extLst>
                </a:gridCol>
                <a:gridCol w="1140480">
                  <a:extLst>
                    <a:ext uri="{9D8B030D-6E8A-4147-A177-3AD203B41FA5}">
                      <a16:colId xmlns:a16="http://schemas.microsoft.com/office/drawing/2014/main" val="20001"/>
                    </a:ext>
                  </a:extLst>
                </a:gridCol>
                <a:gridCol w="1140480">
                  <a:extLst>
                    <a:ext uri="{9D8B030D-6E8A-4147-A177-3AD203B41FA5}">
                      <a16:colId xmlns:a16="http://schemas.microsoft.com/office/drawing/2014/main" val="20002"/>
                    </a:ext>
                  </a:extLst>
                </a:gridCol>
                <a:gridCol w="315360">
                  <a:extLst>
                    <a:ext uri="{9D8B030D-6E8A-4147-A177-3AD203B41FA5}">
                      <a16:colId xmlns:a16="http://schemas.microsoft.com/office/drawing/2014/main" val="20003"/>
                    </a:ext>
                  </a:extLst>
                </a:gridCol>
                <a:gridCol w="1832400">
                  <a:extLst>
                    <a:ext uri="{9D8B030D-6E8A-4147-A177-3AD203B41FA5}">
                      <a16:colId xmlns:a16="http://schemas.microsoft.com/office/drawing/2014/main" val="20004"/>
                    </a:ext>
                  </a:extLst>
                </a:gridCol>
                <a:gridCol w="1140480">
                  <a:extLst>
                    <a:ext uri="{9D8B030D-6E8A-4147-A177-3AD203B41FA5}">
                      <a16:colId xmlns:a16="http://schemas.microsoft.com/office/drawing/2014/main" val="20005"/>
                    </a:ext>
                  </a:extLst>
                </a:gridCol>
                <a:gridCol w="1140480">
                  <a:extLst>
                    <a:ext uri="{9D8B030D-6E8A-4147-A177-3AD203B41FA5}">
                      <a16:colId xmlns:a16="http://schemas.microsoft.com/office/drawing/2014/main" val="20006"/>
                    </a:ext>
                  </a:extLst>
                </a:gridCol>
              </a:tblGrid>
              <a:tr h="290520">
                <a:tc>
                  <a:txBody>
                    <a:bodyPr/>
                    <a:lstStyle/>
                    <a:p>
                      <a:pPr algn="ctr" defTabSz="914400">
                        <a:lnSpc>
                          <a:spcPct val="100000"/>
                        </a:lnSpc>
                      </a:pPr>
                      <a:r>
                        <a:rPr lang="ja-JP" sz="1100" b="1" u="none" strike="noStrike">
                          <a:solidFill>
                            <a:srgbClr val="FFFFFF"/>
                          </a:solidFill>
                          <a:effectLst/>
                          <a:uFillTx/>
                          <a:latin typeface="メイリオ"/>
                          <a:ea typeface="メイリオ"/>
                        </a:rPr>
                        <a:t>対応項目</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初期</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内容</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endParaRPr lang="en-US" sz="1100" b="1"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対応項目</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初期</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月額</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extLst>
                  <a:ext uri="{0D108BD9-81ED-4DB2-BD59-A6C34878D82A}">
                    <a16:rowId xmlns:a16="http://schemas.microsoft.com/office/drawing/2014/main" val="10000"/>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アカウント開設</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API</a:t>
                      </a:r>
                      <a:r>
                        <a:rPr lang="ja-JP" sz="1100" b="0" u="none" strike="noStrike">
                          <a:solidFill>
                            <a:srgbClr val="000000"/>
                          </a:solidFill>
                          <a:effectLst/>
                          <a:uFillTx/>
                          <a:latin typeface="メイリオ"/>
                          <a:ea typeface="メイリオ"/>
                        </a:rPr>
                        <a:t>ツール導入</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1"/>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プロフィール</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ID</a:t>
                      </a:r>
                      <a:r>
                        <a:rPr lang="ja-JP" sz="1100" b="0" u="none" strike="noStrike">
                          <a:solidFill>
                            <a:srgbClr val="000000"/>
                          </a:solidFill>
                          <a:effectLst/>
                          <a:uFillTx/>
                          <a:latin typeface="メイリオ"/>
                          <a:ea typeface="メイリオ"/>
                        </a:rPr>
                        <a:t>連携</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50000"/>
                              <a:lumOff val="50000"/>
                            </a:schemeClr>
                          </a:solidFill>
                          <a:effectLst/>
                          <a:uFillTx/>
                          <a:latin typeface="メイリオ"/>
                          <a:ea typeface="メイリオ"/>
                        </a:rPr>
                        <a:t>¥200,000~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2"/>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リッチメニュー</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LINE</a:t>
                      </a:r>
                      <a:r>
                        <a:rPr lang="ja-JP" sz="1100" b="0" u="none" strike="noStrike">
                          <a:solidFill>
                            <a:srgbClr val="000000"/>
                          </a:solidFill>
                          <a:effectLst/>
                          <a:uFillTx/>
                          <a:latin typeface="メイリオ"/>
                          <a:ea typeface="メイリオ"/>
                        </a:rPr>
                        <a:t>ログイン</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50000"/>
                              <a:lumOff val="50000"/>
                            </a:schemeClr>
                          </a:solidFill>
                          <a:effectLst/>
                          <a:uFillTx/>
                          <a:latin typeface="メイリオ"/>
                          <a:ea typeface="メイリオ"/>
                        </a:rPr>
                        <a:t>¥0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3"/>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あいさつメッセージ</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通知メッセージ</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¥200,000~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4"/>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初期アンケート</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¥50,000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チャットボット機能</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5"/>
                  </a:ext>
                </a:extLst>
              </a:tr>
              <a:tr h="290520">
                <a:tc>
                  <a:txBody>
                    <a:bodyPr/>
                    <a:lstStyle/>
                    <a:p>
                      <a:pPr algn="ctr" defTabSz="914400">
                        <a:lnSpc>
                          <a:spcPct val="100000"/>
                        </a:lnSpc>
                      </a:pPr>
                      <a:r>
                        <a:rPr lang="en-US" sz="1100" b="0" u="none" strike="noStrike">
                          <a:solidFill>
                            <a:srgbClr val="000000"/>
                          </a:solidFill>
                          <a:effectLst/>
                          <a:uFillTx/>
                          <a:latin typeface="メイリオ"/>
                          <a:ea typeface="メイリオ"/>
                        </a:rPr>
                        <a:t>KW</a:t>
                      </a:r>
                      <a:r>
                        <a:rPr lang="ja-JP" sz="1100" b="0" u="none" strike="noStrike">
                          <a:solidFill>
                            <a:srgbClr val="000000"/>
                          </a:solidFill>
                          <a:effectLst/>
                          <a:uFillTx/>
                          <a:latin typeface="メイリオ"/>
                          <a:ea typeface="メイリオ"/>
                        </a:rPr>
                        <a:t>の自動応答</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Chat Plus</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¥30,000~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6"/>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ステップ配信</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¥50,000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Call Plus</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¥200,000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7"/>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セグメント配信</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LINE</a:t>
                      </a:r>
                      <a:r>
                        <a:rPr lang="ja-JP" sz="1100" b="0" u="none" strike="noStrike">
                          <a:solidFill>
                            <a:srgbClr val="000000"/>
                          </a:solidFill>
                          <a:effectLst/>
                          <a:uFillTx/>
                          <a:latin typeface="メイリオ"/>
                          <a:ea typeface="メイリオ"/>
                        </a:rPr>
                        <a:t>決済</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8"/>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チャットタグ管理</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予約管理</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¥20,000~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9"/>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チャット対応</a:t>
                      </a:r>
                      <a:r>
                        <a:rPr lang="en-US" sz="700" b="0" u="none" strike="noStrike">
                          <a:solidFill>
                            <a:srgbClr val="FF0000"/>
                          </a:solidFill>
                          <a:effectLst/>
                          <a:uFillTx/>
                          <a:latin typeface="メイリオ"/>
                          <a:ea typeface="メイリオ"/>
                        </a:rPr>
                        <a:t> ※サポートは可能</a:t>
                      </a:r>
                      <a:endParaRPr lang="en-US" sz="7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¥100,000</a:t>
                      </a:r>
                      <a:r>
                        <a:rPr lang="ja-JP" sz="1000" b="0" u="none" strike="noStrike">
                          <a:solidFill>
                            <a:srgbClr val="000000"/>
                          </a:solidFill>
                          <a:effectLst/>
                          <a:uFillTx/>
                          <a:latin typeface="メイリオ"/>
                          <a:ea typeface="メイリオ"/>
                        </a:rPr>
                        <a:t>～</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ja-JP" sz="600" b="0" u="none" strike="noStrike">
                          <a:solidFill>
                            <a:srgbClr val="000000"/>
                          </a:solidFill>
                          <a:effectLst/>
                          <a:uFillTx/>
                          <a:latin typeface="メイリオ"/>
                          <a:ea typeface="メイリオ"/>
                        </a:rPr>
                        <a:t>件数により変動</a:t>
                      </a:r>
                      <a:endParaRPr lang="en-US" sz="6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0"/>
                  </a:ext>
                </a:extLst>
              </a:tr>
              <a:tr h="290520">
                <a:tc>
                  <a:txBody>
                    <a:bodyPr/>
                    <a:lstStyle/>
                    <a:p>
                      <a:pPr algn="ctr" defTabSz="914400">
                        <a:lnSpc>
                          <a:spcPct val="100000"/>
                        </a:lnSpc>
                      </a:pPr>
                      <a:r>
                        <a:rPr lang="en-US" sz="1100" b="0" u="none" strike="noStrike">
                          <a:solidFill>
                            <a:srgbClr val="000000"/>
                          </a:solidFill>
                          <a:effectLst/>
                          <a:uFillTx/>
                          <a:latin typeface="メイリオ"/>
                          <a:ea typeface="メイリオ"/>
                        </a:rPr>
                        <a:t>GA(CRM)</a:t>
                      </a:r>
                      <a:r>
                        <a:rPr lang="ja-JP" sz="1100" b="0" u="none" strike="noStrike">
                          <a:solidFill>
                            <a:srgbClr val="000000"/>
                          </a:solidFill>
                          <a:effectLst/>
                          <a:uFillTx/>
                          <a:latin typeface="メイリオ"/>
                          <a:ea typeface="メイリオ"/>
                        </a:rPr>
                        <a:t>レポート連携</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1"/>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クリエイティブ</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¥15,000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tabLst>
                          <a:tab pos="0" algn="l"/>
                        </a:tabLst>
                      </a:pPr>
                      <a:r>
                        <a:rPr lang="ja-JP" sz="600" b="0" u="none" strike="noStrike">
                          <a:solidFill>
                            <a:srgbClr val="000000"/>
                          </a:solidFill>
                          <a:effectLst/>
                          <a:uFillTx/>
                          <a:latin typeface="メイリオ"/>
                          <a:ea typeface="メイリオ"/>
                        </a:rPr>
                        <a:t>画像</a:t>
                      </a:r>
                      <a:r>
                        <a:rPr lang="en-US" sz="600" b="0" u="none" strike="noStrike">
                          <a:solidFill>
                            <a:srgbClr val="000000"/>
                          </a:solidFill>
                          <a:effectLst/>
                          <a:uFillTx/>
                          <a:latin typeface="メイリオ"/>
                          <a:ea typeface="メイリオ"/>
                        </a:rPr>
                        <a:t>1</a:t>
                      </a:r>
                      <a:r>
                        <a:rPr lang="ja-JP" sz="600" b="0" u="none" strike="noStrike">
                          <a:solidFill>
                            <a:srgbClr val="000000"/>
                          </a:solidFill>
                          <a:effectLst/>
                          <a:uFillTx/>
                          <a:latin typeface="メイリオ"/>
                          <a:ea typeface="メイリオ"/>
                        </a:rPr>
                        <a:t>枚での想定</a:t>
                      </a:r>
                      <a:endParaRPr lang="en-US" sz="600" b="0" u="none" strike="noStrike">
                        <a:solidFill>
                          <a:srgbClr val="000000"/>
                        </a:solidFill>
                        <a:effectLst/>
                        <a:uFillTx/>
                        <a:latin typeface="Arial"/>
                      </a:endParaRPr>
                    </a:p>
                    <a:p>
                      <a:pPr algn="ctr" defTabSz="914400">
                        <a:lnSpc>
                          <a:spcPct val="100000"/>
                        </a:lnSpc>
                        <a:tabLst>
                          <a:tab pos="0" algn="l"/>
                        </a:tabLst>
                      </a:pPr>
                      <a:r>
                        <a:rPr lang="en-US" sz="600" b="0" u="none" strike="noStrike">
                          <a:solidFill>
                            <a:srgbClr val="000000"/>
                          </a:solidFill>
                          <a:effectLst/>
                          <a:uFillTx/>
                          <a:latin typeface="メイリオ"/>
                          <a:ea typeface="メイリオ"/>
                        </a:rPr>
                        <a:t>※バナー、HTML</a:t>
                      </a:r>
                      <a:r>
                        <a:rPr lang="ja-JP" sz="600" b="0" u="none" strike="noStrike">
                          <a:solidFill>
                            <a:srgbClr val="000000"/>
                          </a:solidFill>
                          <a:effectLst/>
                          <a:uFillTx/>
                          <a:latin typeface="メイリオ"/>
                          <a:ea typeface="メイリオ"/>
                        </a:rPr>
                        <a:t>メール等</a:t>
                      </a:r>
                      <a:endParaRPr lang="en-US" sz="6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離脱防止ツール</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¥15,000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¥30,000</a:t>
                      </a:r>
                      <a:endParaRPr lang="en-US" sz="6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2"/>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投稿作成</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サンクス</a:t>
                      </a:r>
                      <a:r>
                        <a:rPr lang="en-US" sz="1100" b="0" u="none" strike="noStrike">
                          <a:solidFill>
                            <a:srgbClr val="000000"/>
                          </a:solidFill>
                          <a:effectLst/>
                          <a:uFillTx/>
                          <a:latin typeface="メイリオ"/>
                          <a:ea typeface="メイリオ"/>
                        </a:rPr>
                        <a:t>LINE</a:t>
                      </a:r>
                      <a:r>
                        <a:rPr lang="ja-JP" sz="1100" b="0" u="none" strike="noStrike">
                          <a:solidFill>
                            <a:srgbClr val="000000"/>
                          </a:solidFill>
                          <a:effectLst/>
                          <a:uFillTx/>
                          <a:latin typeface="メイリオ"/>
                          <a:ea typeface="メイリオ"/>
                        </a:rPr>
                        <a:t>誘導ツール</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¥150,000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¥30,000~</a:t>
                      </a:r>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3"/>
                  </a:ext>
                </a:extLst>
              </a:tr>
            </a:tbl>
          </a:graphicData>
        </a:graphic>
      </p:graphicFrame>
      <p:sp>
        <p:nvSpPr>
          <p:cNvPr id="647" name="テキスト ボックス 4"/>
          <p:cNvSpPr/>
          <p:nvPr/>
        </p:nvSpPr>
        <p:spPr>
          <a:xfrm>
            <a:off x="1344960" y="6045120"/>
            <a:ext cx="726732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400" b="0" u="none" strike="noStrike">
                <a:solidFill>
                  <a:srgbClr val="FF0000"/>
                </a:solidFill>
                <a:effectLst/>
                <a:uFillTx/>
                <a:latin typeface="メイリオ"/>
                <a:ea typeface="メイリオ"/>
              </a:rPr>
              <a:t>貴社リソースの状況に応じて、都度発注でのご依頼も各単価で対応可能</a:t>
            </a:r>
            <a:endParaRPr lang="en-US" sz="1400" b="0" u="none" strike="noStrike">
              <a:solidFill>
                <a:srgbClr val="000000"/>
              </a:solidFill>
              <a:effectLst/>
              <a:uFillTx/>
              <a:latin typeface="Arial"/>
            </a:endParaRPr>
          </a:p>
        </p:txBody>
      </p:sp>
      <p:sp>
        <p:nvSpPr>
          <p:cNvPr id="648" name="正方形/長方形 1"/>
          <p:cNvSpPr/>
          <p:nvPr/>
        </p:nvSpPr>
        <p:spPr>
          <a:xfrm>
            <a:off x="378720" y="1329120"/>
            <a:ext cx="9182880" cy="5219280"/>
          </a:xfrm>
          <a:prstGeom prst="rect">
            <a:avLst/>
          </a:prstGeom>
          <a:solidFill>
            <a:schemeClr val="lt1">
              <a:alpha val="4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メイリオ"/>
              <a:ea typeface="メイリオ"/>
            </a:endParaRPr>
          </a:p>
        </p:txBody>
      </p:sp>
    </p:spTree>
  </p:cSld>
  <p:clrMapOvr>
    <a:masterClrMapping/>
  </p:clrMapOvr>
</p:sld>
</file>

<file path=ppt/theme/theme1.xml><?xml version="1.0" encoding="utf-8"?>
<a:theme xmlns:a="http://schemas.openxmlformats.org/drawingml/2006/main" name="テーマ1">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shade val="51000"/>
              </a:schemeClr>
            </a:gs>
            <a:gs pos="80000">
              <a:schemeClr val="phClr">
                <a:shade val="93000"/>
              </a:schemeClr>
            </a:gs>
            <a:gs pos="100000">
              <a:schemeClr val="phClr">
                <a:shade val="94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Default Theme</Template>
  <TotalTime>143289</TotalTime>
  <Words>5734</Words>
  <Application>Microsoft Office PowerPoint</Application>
  <PresentationFormat>A4 210 x 297 mm</PresentationFormat>
  <Paragraphs>907</Paragraphs>
  <Slides>45</Slides>
  <Notes>1</Notes>
  <HiddenSlides>0</HiddenSlides>
  <MMClips>0</MMClips>
  <ScaleCrop>false</ScaleCrop>
  <HeadingPairs>
    <vt:vector size="6" baseType="variant">
      <vt:variant>
        <vt:lpstr>使用されているフォント</vt:lpstr>
      </vt:variant>
      <vt:variant>
        <vt:i4>7</vt:i4>
      </vt:variant>
      <vt:variant>
        <vt:lpstr>テーマ</vt:lpstr>
      </vt:variant>
      <vt:variant>
        <vt:i4>1</vt:i4>
      </vt:variant>
      <vt:variant>
        <vt:lpstr>スライド タイトル</vt:lpstr>
      </vt:variant>
      <vt:variant>
        <vt:i4>45</vt:i4>
      </vt:variant>
    </vt:vector>
  </HeadingPairs>
  <TitlesOfParts>
    <vt:vector size="53" baseType="lpstr">
      <vt:lpstr>Meiryo</vt:lpstr>
      <vt:lpstr>Meiryo</vt:lpstr>
      <vt:lpstr>Arial</vt:lpstr>
      <vt:lpstr>Calibri</vt:lpstr>
      <vt:lpstr>Symbol</vt:lpstr>
      <vt:lpstr>Times New Roman</vt:lpstr>
      <vt:lpstr>Wingdings</vt:lpstr>
      <vt:lpstr>テーマ1</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subject/>
  <dc:creator>中村 駿</dc:creator>
  <dc:description/>
  <cp:lastModifiedBy>殿村 亮太</cp:lastModifiedBy>
  <cp:revision>1979</cp:revision>
  <cp:lastPrinted>2022-11-01T11:38:14Z</cp:lastPrinted>
  <dcterms:created xsi:type="dcterms:W3CDTF">2015-09-04T09:21:15Z</dcterms:created>
  <dcterms:modified xsi:type="dcterms:W3CDTF">2026-10-28T07:12:42Z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r8>21</vt:r8>
  </property>
  <property fmtid="{D5CDD505-2E9C-101B-9397-08002B2CF9AE}" pid="3" name="PresentationFormat">
    <vt:lpwstr>A4 210 x 297 mm</vt:lpwstr>
  </property>
  <property fmtid="{D5CDD505-2E9C-101B-9397-08002B2CF9AE}" pid="4" name="Slides">
    <vt:r8>46</vt:r8>
  </property>
</Properties>
</file>