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44.svg" ContentType="image/svg+xml"/>
  <Override PartName="/ppt/media/image45.svg" ContentType="image/svg+xml"/>
  <Override PartName="/ppt/media/image46.svg" ContentType="image/svg+xml"/>
  <Override PartName="/ppt/media/image4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319" r:id="rId2"/>
    <p:sldId id="2726" r:id="rId3"/>
    <p:sldId id="3150" r:id="rId4"/>
    <p:sldId id="2721" r:id="rId5"/>
    <p:sldId id="2723" r:id="rId6"/>
    <p:sldId id="2724" r:id="rId7"/>
    <p:sldId id="2364" r:id="rId8"/>
    <p:sldId id="2365" r:id="rId9"/>
    <p:sldId id="2725" r:id="rId10"/>
    <p:sldId id="2913" r:id="rId11"/>
    <p:sldId id="311" r:id="rId12"/>
    <p:sldId id="3151" r:id="rId13"/>
    <p:sldId id="305" r:id="rId14"/>
    <p:sldId id="312" r:id="rId15"/>
    <p:sldId id="333" r:id="rId16"/>
    <p:sldId id="334" r:id="rId17"/>
    <p:sldId id="3152" r:id="rId18"/>
    <p:sldId id="306" r:id="rId19"/>
    <p:sldId id="313" r:id="rId20"/>
    <p:sldId id="3153" r:id="rId21"/>
    <p:sldId id="310" r:id="rId22"/>
    <p:sldId id="314" r:id="rId23"/>
    <p:sldId id="335" r:id="rId24"/>
    <p:sldId id="315" r:id="rId25"/>
    <p:sldId id="336" r:id="rId26"/>
    <p:sldId id="337" r:id="rId27"/>
    <p:sldId id="338" r:id="rId28"/>
    <p:sldId id="339" r:id="rId29"/>
    <p:sldId id="3154" r:id="rId30"/>
    <p:sldId id="309" r:id="rId31"/>
    <p:sldId id="318" r:id="rId32"/>
    <p:sldId id="301"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32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jpg"/><Relationship Id="rId8" Type="http://schemas.openxmlformats.org/officeDocument/2006/relationships/image" Target="../media/image35.jp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hyperlink" Target="https://youtube.com/shorts/0qI4QgrOppQ"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8.emf"/><Relationship Id="rId4" Type="http://schemas.openxmlformats.org/officeDocument/2006/relationships/image" Target="../media/image39.jpeg"/><Relationship Id="rId5" Type="http://schemas.openxmlformats.org/officeDocument/2006/relationships/image" Target="../media/image40.jpeg"/><Relationship Id="rId6" Type="http://schemas.openxmlformats.org/officeDocument/2006/relationships/image" Target="../media/image41.jpeg"/><Relationship Id="rId7" Type="http://schemas.openxmlformats.org/officeDocument/2006/relationships/image" Target="../media/image42.jpeg"/><Relationship Id="rId8" Type="http://schemas.openxmlformats.org/officeDocument/2006/relationships/image" Target="../media/image4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svg"/><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D26128CF-BCED-5375-A761-44A2026897C7}"/>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E0553DA5-5DE0-BD33-70D4-FC02F33113D3}"/>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cxnSp>
        <p:nvCxnSpPr>
          <p:cNvPr id="2112" name="直線コネクタ 4"/>
          <p:cNvCxnSpPr/>
          <p:nvPr/>
        </p:nvCxnSpPr>
        <p:spPr>
          <a:xfrm>
            <a:off x="0" y="548640"/>
            <a:ext cx="9906120" cy="360"/>
          </a:xfrm>
          <a:prstGeom prst="straightConnector1">
            <a:avLst/>
          </a:prstGeom>
          <a:ln>
            <a:solidFill>
              <a:srgbClr val="191F54"/>
            </a:solidFill>
            <a:round/>
          </a:ln>
        </p:spPr>
      </p:cxnSp>
      <p:sp>
        <p:nvSpPr>
          <p:cNvPr id="2113"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a:t>
            </a: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cxnSp>
        <p:nvCxnSpPr>
          <p:cNvPr id="1033" name="直線コネクタ 4"/>
          <p:cNvCxnSpPr/>
          <p:nvPr/>
        </p:nvCxnSpPr>
        <p:spPr>
          <a:xfrm>
            <a:off x="0" y="548640"/>
            <a:ext cx="9906120" cy="360"/>
          </a:xfrm>
          <a:prstGeom prst="straightConnector1">
            <a:avLst/>
          </a:prstGeom>
          <a:ln>
            <a:solidFill>
              <a:srgbClr val="191F54"/>
            </a:solidFill>
            <a:round/>
          </a:ln>
        </p:spPr>
      </p:cxnSp>
      <p:sp>
        <p:nvSpPr>
          <p:cNvPr id="103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10815731-3923-DF64-2497-E7A37D053AD8}"/>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cxnSp>
        <p:nvCxnSpPr>
          <p:cNvPr id="126" name="直線コネクタ 4"/>
          <p:cNvCxnSpPr/>
          <p:nvPr/>
        </p:nvCxnSpPr>
        <p:spPr>
          <a:xfrm>
            <a:off x="0" y="548640"/>
            <a:ext cx="9906120" cy="360"/>
          </a:xfrm>
          <a:prstGeom prst="straightConnector1">
            <a:avLst/>
          </a:prstGeom>
          <a:ln>
            <a:solidFill>
              <a:srgbClr val="191F54"/>
            </a:solidFill>
            <a:round/>
          </a:ln>
        </p:spPr>
      </p:cxnSp>
      <p:sp>
        <p:nvSpPr>
          <p:cNvPr id="127"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BC1E3528-49FC-2F40-A6E5-CF541F7FF75D}"/>
              </a:ext>
            </a:extLst>
          </p:cNvPr>
          <p:cNvSpPr txBox="1"/>
          <p:nvPr/>
        </p:nvSpPr>
        <p:spPr>
          <a:xfrm>
            <a:off x="5218703" y="2796155"/>
            <a:ext cx="4102384" cy="523220"/>
          </a:xfrm>
          <a:prstGeom prst="rect">
            <a:avLst/>
          </a:prstGeom>
          <a:solidFill>
            <a:schemeClr val="bg1">
              <a:alpha val="60000"/>
            </a:schemeClr>
          </a:solidFill>
        </p:spPr>
        <p:txBody>
          <a:bodyPr wrap="square">
            <a:spAutoFit/>
          </a:bodyPr>
          <a:lstStyle/>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9741E7E2-8CD1-5737-D697-09B5D2B75F28}"/>
              </a:ext>
            </a:extLst>
          </p:cNvPr>
          <p:cNvSpPr txBox="1"/>
          <p:nvPr/>
        </p:nvSpPr>
        <p:spPr>
          <a:xfrm>
            <a:off x="463701" y="2801521"/>
            <a:ext cx="4102384" cy="523220"/>
          </a:xfrm>
          <a:prstGeom prst="rect">
            <a:avLst/>
          </a:prstGeom>
          <a:solidFill>
            <a:schemeClr val="bg1">
              <a:alpha val="60000"/>
            </a:schemeClr>
          </a:solidFill>
        </p:spPr>
        <p:txBody>
          <a:bodyPr wrap="square">
            <a:spAutoFit/>
          </a:bodyPr>
          <a:lstStyle/>
          <a:p>
            <a:pPr algn="ctr"/>
            <a:r>
              <a:rPr lang="ja-JP" altLang="en-US" sz="1400" b="1" dirty="0">
                <a:latin typeface="メイリオ" panose="020B0604030504040204" pitchFamily="50" charset="-128"/>
                <a:ea typeface="メイリオ" panose="020B0604030504040204" pitchFamily="50" charset="-128"/>
              </a:rPr>
              <a:t>開封率、開封時間ともに高効率</a:t>
            </a:r>
            <a:r>
              <a:rPr lang="ja-JP" altLang="en-US" sz="1400" dirty="0">
                <a:latin typeface="メイリオ" panose="020B0604030504040204" pitchFamily="50" charset="-128"/>
                <a:ea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今後のマーケティングに必須のチャネル。</a:t>
            </a:r>
            <a:endParaRPr lang="en-US" altLang="ja-JP" sz="1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BD081E68-EA84-585C-A316-D201FAC9649E}"/>
              </a:ext>
            </a:extLst>
          </p:cNvPr>
          <p:cNvSpPr txBox="1"/>
          <p:nvPr/>
        </p:nvSpPr>
        <p:spPr>
          <a:xfrm>
            <a:off x="463701" y="5262659"/>
            <a:ext cx="4102384" cy="523220"/>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広告離脱の</a:t>
            </a:r>
            <a:r>
              <a:rPr lang="en-US" altLang="ja-JP" sz="1400" dirty="0">
                <a:solidFill>
                  <a:srgbClr val="FF0000"/>
                </a:solidFill>
                <a:latin typeface="メイリオ" panose="020B0604030504040204" pitchFamily="50" charset="-128"/>
                <a:ea typeface="メイリオ" panose="020B0604030504040204" pitchFamily="50" charset="-128"/>
              </a:rPr>
              <a:t>98%</a:t>
            </a:r>
            <a:r>
              <a:rPr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F98D4197-216C-A3BE-091A-D32F4A6C7A17}"/>
              </a:ext>
            </a:extLst>
          </p:cNvPr>
          <p:cNvSpPr txBox="1"/>
          <p:nvPr/>
        </p:nvSpPr>
        <p:spPr>
          <a:xfrm>
            <a:off x="5218703" y="5262333"/>
            <a:ext cx="4102384" cy="738664"/>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7DA217C-F98F-2E58-74CA-39B7014CE382}"/>
              </a:ext>
            </a:extLst>
          </p:cNvPr>
          <p:cNvSpPr txBox="1"/>
          <p:nvPr/>
        </p:nvSpPr>
        <p:spPr>
          <a:xfrm>
            <a:off x="5574695" y="5724686"/>
            <a:ext cx="3390400"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p:cNvCxnSpPr/>
          <p:nvPr/>
        </p:nvCxnSpPr>
        <p:spPr>
          <a:xfrm>
            <a:off x="0" y="548640"/>
            <a:ext cx="9906120" cy="360"/>
          </a:xfrm>
          <a:prstGeom prst="straightConnector1">
            <a:avLst/>
          </a:prstGeom>
          <a:ln>
            <a:solidFill>
              <a:srgbClr val="191F54"/>
            </a:solidFill>
            <a:round/>
          </a:ln>
        </p:spPr>
      </p:cxnSp>
      <p:sp>
        <p:nvSpPr>
          <p:cNvPr id="6"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E371F4F6-3F93-7830-595E-799AA69EA971}"/>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現状と打ち手</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3"/>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6"/>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課題</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ご提案内容</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20624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20624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20624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
        <p:nvSpPr>
          <p:cNvPr id="24" name="送り方"/>
          <p:cNvSpPr/>
          <p:nvPr/>
        </p:nvSpPr>
        <p:spPr>
          <a:xfrm>
            <a:off x="502920" y="3639312"/>
            <a:ext cx="8897112" cy="384048"/>
          </a:xfrm>
          <a:prstGeom prst="rect">
            <a:avLst/>
          </a:prstGeom>
          <a:noFill/>
          <a:ln w="9525">
            <a:solidFill>
              <a:srgbClr val="D9D9D9"/>
            </a:solidFill>
          </a:ln>
        </p:spPr>
        <p:txBody>
          <a:bodyPr wrap="square" lIns="91440" tIns="91440" rIns="91440" bIns="54864" rtlCol="0" anchor="ctr">
            <a:noAutofit/>
          </a:bodyPr>
          <a:lstStyle/>
          <a:p>
            <a:pPr algn="l">
              <a:lnSpc>
                <a:spcPct val="125000"/>
              </a:lnSpc>
              <a:buNone/>
            </a:pPr>
            <a:r>
              <a:rPr lang="ja-JP" altLang="en-US" sz="1200" b="0" dirty="0">
                <a:solidFill>
                  <a:srgbClr val="333333"/>
                </a:solidFill>
                <a:latin typeface="メイリオ" panose="020B0604030504040204" pitchFamily="50" charset="-128"/>
                <a:ea typeface="メイリオ" panose="020B0604030504040204" pitchFamily="50" charset="-128"/>
              </a:rPr>
              <a:t>送り方｜貴社の事務の方が予約を確認し、LINEでお送りする。文面の型は弊社が用意し、反応を見て直す</a:t>
            </a:r>
            <a:endParaRPr lang="ja-JP" alt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概算お見積り：月23万円で、6か月目に資料請求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型の改善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オプション</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1,453人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来場前の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お知らせ</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1755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100,000円〜／プラン②・③ 150,000円〜）＋離脱防止 15,000円</a:t>
            </a:r>
            <a:endParaRPr lang="ja-JP" altLang="en-US" sz="1200" dirty="0"/>
          </a:p>
        </p:txBody>
      </p:sp>
      <p:sp>
        <p:nvSpPr>
          <p:cNvPr id="641" name="注記"/>
          <p:cNvSpPr/>
          <p:nvPr/>
        </p:nvSpPr>
        <p:spPr>
          <a:xfrm>
            <a:off x="384048" y="54041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30,000円。LINE公式アカウント利用料は別（貴社のご契約のまま）</a:t>
            </a:r>
            <a:endParaRPr lang="ja-JP" altLang="en-US" sz="1200" dirty="0"/>
          </a:p>
        </p:txBody>
      </p:sp>
      <p:sp>
        <p:nvSpPr>
          <p:cNvPr id="2" name="注記"/>
          <p:cNvSpPr/>
          <p:nvPr/>
        </p:nvSpPr>
        <p:spPr>
          <a:xfrm>
            <a:off x="384048" y="5632704"/>
            <a:ext cx="9144000" cy="246888"/>
          </a:xfrm>
          <a:prstGeom prst="rect">
            <a:avLst/>
          </a:prstGeom>
          <a:noFill/>
          <a:ln>
            <a:noFill/>
          </a:ln>
        </p:spPr>
        <p:txBody>
          <a:bodyPr wrap="square" lIns="0" tIns="0" rIns="0" bIns="0" rtlCol="0" anchor="t">
            <a:noAutofit/>
          </a:bodyPr>
          <a:lstStyle/>
          <a:p>
            <a:pPr algn="l">
              <a:buNone/>
            </a:pPr>
            <a:r>
              <a:rPr lang="ja-JP" altLang="en-US" sz="900" b="1" dirty="0">
                <a:solidFill>
                  <a:srgbClr val="7F7F7F"/>
                </a:solidFill>
                <a:latin typeface="メイリオ" panose="020B0604030504040204" pitchFamily="50" charset="-128"/>
                <a:ea typeface="メイリオ" panose="020B0604030504040204" pitchFamily="50" charset="-128"/>
              </a:rPr>
              <a:t>※サンクスLINE誘導（オプション）：追加する場合は初期＋150,000円・月額＋30,000円〜。サンクスLINE誘導のみの導入も可能</a:t>
            </a:r>
            <a:endParaRPr lang="ja-JP" altLang="en-US" sz="1200" dirty="0"/>
          </a:p>
        </p:txBody>
      </p:sp>
      <p:sp>
        <p:nvSpPr>
          <p:cNvPr id="642" name="注記"/>
          <p:cNvSpPr/>
          <p:nvPr/>
        </p:nvSpPr>
        <p:spPr>
          <a:xfrm>
            <a:off x="384048" y="58613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60899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42" name="注記"/>
          <p:cNvSpPr/>
          <p:nvPr/>
        </p:nvSpPr>
        <p:spPr>
          <a:xfrm>
            <a:off x="384048" y="529254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※サンクスLINE誘導はオプション（どのプランにも追加可能。サンクスLINE誘導のみの導入も可能）</a:t>
            </a:r>
            <a:endParaRPr lang="ja-JP" alt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9000" y="138240"/>
            <a:ext cx="6516000"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78808" y="645487"/>
            <a:ext cx="4575836" cy="5232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a:p>
            <a:pPr lvl="0">
              <a:buClr>
                <a:schemeClr val="dk1"/>
              </a:buClr>
              <a:buSzPts val="1500"/>
            </a:pPr>
            <a:r>
              <a:rPr lang="ja-JP" altLang="en-US" sz="1400" dirty="0">
                <a:latin typeface="メイリオ"/>
                <a:ea typeface="メイリオ"/>
                <a:cs typeface="メイリオ"/>
                <a:sym typeface="Meiryo"/>
              </a:rPr>
              <a:t>サンクス</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誘導のみのご導入も可能</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今後の展開</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11月から設計・構築を進め、1月からの運用開始をご提案（開始時期はご相談可能）</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構築：離脱防止、ステップ配信、来場前のお知らせの型（サンクスLINE誘導はオプション）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※運用開始の時期は、貴社のご都合に合わせてご相談可能。スケジュールは、ご契約の時期により前後する</a:t>
            </a:r>
            <a:endParaRPr lang="ja-JP" alt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143289</TotalTime>
  <Words>5734</Words>
  <Application>Microsoft Office PowerPoint</Application>
  <PresentationFormat>A4 210 x 297 mm</PresentationFormat>
  <Paragraphs>907</Paragraphs>
  <Slides>45</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45</vt:i4>
      </vt:variant>
    </vt:vector>
  </HeadingPairs>
  <TitlesOfParts>
    <vt:vector size="53" baseType="lpstr">
      <vt:lpstr>Meiryo</vt:lpstr>
      <vt:lpstr>Meiryo</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1979</cp:revision>
  <cp:lastPrinted>2022-11-01T11:38:14Z</cp:lastPrinted>
  <dcterms:created xsi:type="dcterms:W3CDTF">2015-09-04T09:21:15Z</dcterms:created>
  <dcterms:modified xsi:type="dcterms:W3CDTF">2026-10-28T07:12:42Z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