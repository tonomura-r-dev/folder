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305" r:id="rId52"/>
    <p:sldId id="306" r:id="rId53"/>
    <p:sldId id="307" r:id="rId54"/>
    <p:sldId id="308" r:id="rId55"/>
    <p:sldId id="309" r:id="rId56"/>
    <p:sldId id="301" r:id="rId2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4" Type="http://schemas.openxmlformats.org/officeDocument/2006/relationships/slide" Target="slides/slide23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23FD08-B3C3-42F8-A153-9D5527DEAE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81000" y="1243080"/>
            <a:ext cx="4844520" cy="33541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0400" y="4782960"/>
            <a:ext cx="5446080" cy="391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ftr" idx="24"/>
          </p:nvPr>
        </p:nvSpPr>
        <p:spPr>
          <a:xfrm>
            <a:off x="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150" name="PlaceHolder 4"/>
          <p:cNvSpPr>
            <a:spLocks noGrp="1"/>
          </p:cNvSpPr>
          <p:nvPr>
            <p:ph type="sldNum" idx="25"/>
          </p:nvPr>
        </p:nvSpPr>
        <p:spPr>
          <a:xfrm>
            <a:off x="385524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568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956880">
              <a:lnSpc>
                <a:spcPct val="100000"/>
              </a:lnSpc>
              <a:buNone/>
            </a:pPr>
            <a:fld id="{6BEAC167-1E56-4A89-B6CA-078D5C4214B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3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7221DD93-BA6E-44AE-9625-337799002E27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正方形/長方形 1"/>
          <p:cNvSpPr/>
          <p:nvPr/>
        </p:nvSpPr>
        <p:spPr>
          <a:xfrm>
            <a:off x="9398160" y="6591240"/>
            <a:ext cx="418680" cy="2664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B234BB70-5183-4ABD-92F4-80874DE4EEF5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" name="直線コネクタ 4"/>
          <p:cNvCxnSpPr/>
          <p:nvPr/>
        </p:nvCxnSpPr>
        <p:spPr>
          <a:xfrm>
            <a:off x="0" y="548640"/>
            <a:ext cx="9906120" cy="360"/>
          </a:xfrm>
          <a:prstGeom prst="straightConnector1">
            <a:avLst/>
          </a:prstGeom>
          <a:ln>
            <a:solidFill>
              <a:srgbClr val="191F54"/>
            </a:solidFill>
            <a:round/>
          </a:ln>
        </p:spPr>
      </p:cxnSp>
      <p:sp>
        <p:nvSpPr>
          <p:cNvPr id="12" name="正方形/長方形 6"/>
          <p:cNvSpPr/>
          <p:nvPr/>
        </p:nvSpPr>
        <p:spPr>
          <a:xfrm>
            <a:off x="0" y="0"/>
            <a:ext cx="450720" cy="548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077BD008-84D6-4C04-8004-9A059DF72521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1"/>
          <p:cNvSpPr/>
          <p:nvPr/>
        </p:nvSpPr>
        <p:spPr>
          <a:xfrm>
            <a:off x="548640" y="2937630"/>
            <a:ext cx="8805672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600" b="1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メイリオ"/>
                <a:ea typeface="メイリオ"/>
              </a:rPr>
              <a:t>青森店 受注最大化に向けたマーケティング戦略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27" name="正方形/長方形 5"/>
          <p:cNvSpPr/>
          <p:nvPr/>
        </p:nvSpPr>
        <p:spPr>
          <a:xfrm>
            <a:off x="1336792" y="1922429"/>
            <a:ext cx="7231989" cy="10424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b">
            <a:noAutofit/>
          </a:bodyPr>
          <a:lstStyle/>
          <a:p>
            <a:pPr algn="ctr"/>
            <a:r>
              <a:rPr lang="ja-JP" sz="1600" b="0" u="none" strike="noStrike" dirty="0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集客強化から「ファン化・成約」へ繋げる</a:t>
            </a:r>
          </a:p>
          <a:p>
            <a:pPr algn="ctr"/>
            <a:r>
              <a:rPr lang="ja-JP" sz="1600" b="0" u="none" strike="noStrike" dirty="0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LINE活用のご提案</a:t>
            </a:r>
          </a:p>
        </p:txBody>
      </p:sp>
      <p:cxnSp>
        <p:nvCxnSpPr>
          <p:cNvPr id="28" name="直線コネクタ 4"/>
          <p:cNvCxnSpPr/>
          <p:nvPr/>
        </p:nvCxnSpPr>
        <p:spPr>
          <a:xfrm>
            <a:off x="1336980" y="3604491"/>
            <a:ext cx="7232040" cy="0"/>
          </a:xfrm>
          <a:prstGeom prst="straightConnector1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29" name="図 8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0" y="0"/>
            <a:ext cx="8159400" cy="76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図 9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7863840" y="494280"/>
            <a:ext cx="204192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タナカホーム株式会社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正方形/長方形 18"/>
          <p:cNvSpPr/>
          <p:nvPr/>
        </p:nvSpPr>
        <p:spPr>
          <a:xfrm>
            <a:off x="1649160" y="5820840"/>
            <a:ext cx="6192360" cy="3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株式会社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DYM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〒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141-0032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東京都品川区大崎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1-11-2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ゲートシティ大崎イーストタワー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階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TEL: 03-5745-0200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FAX: 03-3779-8720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http://dym.asia  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代表取締役　水谷佑毅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4" name="図 1"/>
          <p:cNvPicPr/>
          <p:nvPr/>
        </p:nvPicPr>
        <p:blipFill>
          <a:blip r:embed="rId3"/>
          <a:srcRect l="-1652" r="-11179"/>
          <a:stretch/>
        </p:blipFill>
        <p:spPr>
          <a:xfrm>
            <a:off x="543960" y="5895360"/>
            <a:ext cx="110052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テキスト ボックス 2"/>
          <p:cNvSpPr/>
          <p:nvPr/>
        </p:nvSpPr>
        <p:spPr>
          <a:xfrm>
            <a:off x="5070240" y="5597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076" name="正方形/長方形 17"/>
          <p:cNvSpPr/>
          <p:nvPr/>
        </p:nvSpPr>
        <p:spPr>
          <a:xfrm>
            <a:off x="2170080" y="989640"/>
            <a:ext cx="55656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360"/>
              </a:spcBef>
            </a:pPr>
            <a:r>
              <a:rPr lang="ja-JP" sz="180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貴社の明るい未来に必ず貢献致します。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正方形/長方形 13"/>
          <p:cNvSpPr/>
          <p:nvPr/>
        </p:nvSpPr>
        <p:spPr>
          <a:xfrm>
            <a:off x="382680" y="2698200"/>
            <a:ext cx="597960" cy="20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47"/>
              </a:spcBef>
            </a:pPr>
            <a:r>
              <a:rPr lang="ja-JP" sz="74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正方形/長方形 14"/>
          <p:cNvSpPr/>
          <p:nvPr/>
        </p:nvSpPr>
        <p:spPr>
          <a:xfrm>
            <a:off x="368280" y="2355120"/>
            <a:ext cx="75636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59"/>
              </a:spcBef>
            </a:pPr>
            <a:r>
              <a:rPr lang="ja-JP" sz="80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9" name="グループ化 21"/>
          <p:cNvGrpSpPr/>
          <p:nvPr/>
        </p:nvGrpSpPr>
        <p:grpSpPr>
          <a:xfrm>
            <a:off x="380880" y="1772640"/>
            <a:ext cx="9143640" cy="3314520"/>
            <a:chOff x="380880" y="1772640"/>
            <a:chExt cx="9143640" cy="3314520"/>
          </a:xfrm>
        </p:grpSpPr>
        <p:pic>
          <p:nvPicPr>
            <p:cNvPr id="1080" name="図 20" descr="ポーズをとる男性グループ&#10;&#10;自動的に生成された説明"/>
            <p:cNvPicPr/>
            <p:nvPr/>
          </p:nvPicPr>
          <p:blipFill>
            <a:blip r:embed="rId4"/>
            <a:srcRect l="3642" r="4070"/>
            <a:stretch/>
          </p:blipFill>
          <p:spPr>
            <a:xfrm>
              <a:off x="7354800" y="3518640"/>
              <a:ext cx="216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1" name="図 15" descr="白いシャツを着ている男性&#10;&#10;中程度の精度で自動的に生成された説明"/>
            <p:cNvPicPr/>
            <p:nvPr/>
          </p:nvPicPr>
          <p:blipFill>
            <a:blip r:embed="rId5"/>
            <a:stretch/>
          </p:blipFill>
          <p:spPr>
            <a:xfrm>
              <a:off x="5364720" y="3519720"/>
              <a:ext cx="198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2" name="図 9" descr="スーツを着た男性たち&#10;&#10;自動的に生成された説明"/>
            <p:cNvPicPr/>
            <p:nvPr/>
          </p:nvPicPr>
          <p:blipFill>
            <a:blip r:embed="rId6"/>
            <a:srcRect l="10699" r="10360"/>
            <a:stretch/>
          </p:blipFill>
          <p:spPr>
            <a:xfrm>
              <a:off x="7680600" y="1774080"/>
              <a:ext cx="1842120" cy="174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3" name="図 6" descr="講堂にいる人たち&#10;&#10;中程度の精度で自動的に生成された説明"/>
            <p:cNvPicPr/>
            <p:nvPr/>
          </p:nvPicPr>
          <p:blipFill>
            <a:blip r:embed="rId7"/>
            <a:srcRect l="2513" t="12878" r="2480"/>
            <a:stretch/>
          </p:blipFill>
          <p:spPr>
            <a:xfrm>
              <a:off x="380880" y="1772640"/>
              <a:ext cx="5089320" cy="331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4" name="図 10" descr="スーツを着た男性グループの写真&#10;&#10;低い精度で自動的に生成された説明"/>
            <p:cNvPicPr/>
            <p:nvPr/>
          </p:nvPicPr>
          <p:blipFill>
            <a:blip r:embed="rId8"/>
            <a:srcRect l="8592" r="6764"/>
            <a:stretch/>
          </p:blipFill>
          <p:spPr>
            <a:xfrm>
              <a:off x="5470920" y="1773000"/>
              <a:ext cx="2215080" cy="1745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85" name="正方形/長方形 5"/>
          <p:cNvSpPr/>
          <p:nvPr/>
        </p:nvSpPr>
        <p:spPr>
          <a:xfrm>
            <a:off x="128160" y="6620400"/>
            <a:ext cx="2852640" cy="237240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6" name="正方形/長方形 1"/>
          <p:cNvSpPr/>
          <p:nvPr/>
        </p:nvSpPr>
        <p:spPr>
          <a:xfrm>
            <a:off x="368280" y="0"/>
            <a:ext cx="9537480" cy="5144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現状と打ち手：広告改善とSEOで、質の高い流入を確保する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青森店の来場は目標に届いていない。集客フェーズは、広告の改善と地域特化のSEOで立て直す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見出し 青森店の現在地"/>
          <p:cNvSpPr/>
          <p:nvPr/>
        </p:nvSpPr>
        <p:spPr>
          <a:xfrm>
            <a:off x="502920" y="1691640"/>
            <a:ext cx="4343400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青森店の現在地</a:t>
            </a:r>
            <a:endParaRPr lang="ja-JP" altLang="en-US" sz="1200" dirty="0"/>
          </a:p>
        </p:txBody>
      </p:sp>
      <p:graphicFrame>
        <p:nvGraphicFramePr>
          <p:cNvPr id="8" name="現在地 7"/>
          <p:cNvGraphicFramePr>
            <a:graphicFrameLocks noGrp="1"/>
          </p:cNvGraphicFramePr>
          <p:nvPr/>
        </p:nvGraphicFramePr>
        <p:xfrm>
          <a:off x="502920" y="2103120"/>
          <a:ext cx="4343400" cy="2834640"/>
        </p:xfrm>
        <a:graphic>
          <a:graphicData uri="http://schemas.openxmlformats.org/drawingml/2006/table">
            <a:tbl>
              <a:tblPr/>
              <a:tblGrid>
                <a:gridCol w="141732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（4展示場）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目標 月50〜60件に対し、現状 月35〜40件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来場予約のCPA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Web広告で約30,000円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（ポータル・特典費を含めると注文住宅 約50,000円）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青森店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予約のキャンセルが2〜3割</a:t>
                      </a:r>
                      <a:b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八戸・おいらせより認知が浅い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自社サイトの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月一桁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検索広告のCPA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（9月）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14,796円 → 47,500円（前年同月比）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見出し 集客フェーズの打ち手"/>
          <p:cNvSpPr/>
          <p:nvPr/>
        </p:nvSpPr>
        <p:spPr>
          <a:xfrm>
            <a:off x="5074920" y="1691640"/>
            <a:ext cx="4325112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集客フェーズの打ち手</a:t>
            </a:r>
            <a:endParaRPr lang="ja-JP" altLang="en-US" sz="1200" dirty="0"/>
          </a:p>
        </p:txBody>
      </p:sp>
      <p:sp>
        <p:nvSpPr>
          <p:cNvPr id="10" name="打ち手1"/>
          <p:cNvSpPr/>
          <p:nvPr/>
        </p:nvSpPr>
        <p:spPr>
          <a:xfrm>
            <a:off x="5074920" y="2103120"/>
            <a:ext cx="4325112" cy="960120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54864" rIns="109728" bIns="54864" rtlCol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2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広告の改善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青森店の媒体配分とクリエイティブを見直し、来場予約のCPAを下げる（別紙：集客改善シミュレーション）</a:t>
            </a:r>
            <a:endParaRPr lang="ja-JP" altLang="en-US" sz="1200" dirty="0"/>
          </a:p>
        </p:txBody>
      </p:sp>
      <p:sp>
        <p:nvSpPr>
          <p:cNvPr id="11" name="打ち手2"/>
          <p:cNvSpPr/>
          <p:nvPr/>
        </p:nvSpPr>
        <p:spPr>
          <a:xfrm>
            <a:off x="5074920" y="3154680"/>
            <a:ext cx="4325112" cy="960120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54864" rIns="109728" bIns="54864" rtlCol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2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地域特化のSEO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青森・八戸・弘前の地域キーワードと、AI検索への対応で、家づくりを具体的に検討している方の流入を増やす</a:t>
            </a:r>
            <a:endParaRPr lang="ja-JP" altLang="en-US" sz="1200" dirty="0"/>
          </a:p>
        </p:txBody>
      </p:sp>
      <p:sp>
        <p:nvSpPr>
          <p:cNvPr id="12" name="矢印下"/>
          <p:cNvSpPr/>
          <p:nvPr/>
        </p:nvSpPr>
        <p:spPr>
          <a:xfrm>
            <a:off x="7054596" y="4133087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200" dirty="0"/>
          </a:p>
        </p:txBody>
      </p:sp>
      <p:sp>
        <p:nvSpPr>
          <p:cNvPr id="13" name="結果"/>
          <p:cNvSpPr/>
          <p:nvPr/>
        </p:nvSpPr>
        <p:spPr>
          <a:xfrm>
            <a:off x="5074920" y="4407408"/>
            <a:ext cx="4325112" cy="56692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質が高く、熱量の高い見込み客の流入が増える</a:t>
            </a:r>
            <a:endParaRPr lang="ja-JP" altLang="en-US" sz="1200" dirty="0"/>
          </a:p>
        </p:txBody>
      </p:sp>
      <p:sp>
        <p:nvSpPr>
          <p:cNvPr id="14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※数字は2026年10月15日の打ち合わせで共有いただいた内容。広告・SEOの詳細は別紙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課題：集めた見込み客の「即決しない層」が離脱し、競合に流れる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流入から成約までの各段階で接点が切れる。検討中の方を受け止める仕組みが、今は無い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流れ1"/>
          <p:cNvSpPr/>
          <p:nvPr/>
        </p:nvSpPr>
        <p:spPr>
          <a:xfrm>
            <a:off x="502920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流入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広告・SEO・ポータル</a:t>
            </a:r>
            <a:endParaRPr lang="ja-JP" altLang="en-US" sz="1200" dirty="0"/>
          </a:p>
        </p:txBody>
      </p:sp>
      <p:sp>
        <p:nvSpPr>
          <p:cNvPr id="8" name="矢印"/>
          <p:cNvSpPr/>
          <p:nvPr/>
        </p:nvSpPr>
        <p:spPr>
          <a:xfrm>
            <a:off x="2507741" y="1691640"/>
            <a:ext cx="29260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9" name="流れ2"/>
          <p:cNvSpPr/>
          <p:nvPr/>
        </p:nvSpPr>
        <p:spPr>
          <a:xfrm>
            <a:off x="2800350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資料請求・来場予約 月35〜40件</a:t>
            </a:r>
            <a:endParaRPr lang="ja-JP" altLang="en-US" sz="1200" dirty="0"/>
          </a:p>
        </p:txBody>
      </p:sp>
      <p:sp>
        <p:nvSpPr>
          <p:cNvPr id="10" name="矢印"/>
          <p:cNvSpPr/>
          <p:nvPr/>
        </p:nvSpPr>
        <p:spPr>
          <a:xfrm>
            <a:off x="4805172" y="1691640"/>
            <a:ext cx="29260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1" name="流れ3"/>
          <p:cNvSpPr/>
          <p:nvPr/>
        </p:nvSpPr>
        <p:spPr>
          <a:xfrm>
            <a:off x="5097779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</a:t>
            </a:r>
            <a:endParaRPr lang="ja-JP" altLang="en-US" sz="1200" dirty="0"/>
          </a:p>
        </p:txBody>
      </p:sp>
      <p:sp>
        <p:nvSpPr>
          <p:cNvPr id="12" name="矢印"/>
          <p:cNvSpPr/>
          <p:nvPr/>
        </p:nvSpPr>
        <p:spPr>
          <a:xfrm>
            <a:off x="7102601" y="1691640"/>
            <a:ext cx="29260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3" name="流れ4"/>
          <p:cNvSpPr/>
          <p:nvPr/>
        </p:nvSpPr>
        <p:spPr>
          <a:xfrm>
            <a:off x="7395210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商談・成約</a:t>
            </a:r>
            <a:endParaRPr lang="ja-JP" altLang="en-US" sz="1200" dirty="0"/>
          </a:p>
        </p:txBody>
      </p:sp>
      <p:sp>
        <p:nvSpPr>
          <p:cNvPr id="14" name="壁1"/>
          <p:cNvSpPr/>
          <p:nvPr/>
        </p:nvSpPr>
        <p:spPr>
          <a:xfrm>
            <a:off x="502920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壁1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来訪者の大半はCVせずに離れる。自社サイトの資料請求は月一桁で、検討中の方の受け皿がない</a:t>
            </a:r>
            <a:endParaRPr lang="ja-JP" altLang="en-US" sz="1200" dirty="0"/>
          </a:p>
        </p:txBody>
      </p:sp>
      <p:sp>
        <p:nvSpPr>
          <p:cNvPr id="15" name="壁2"/>
          <p:cNvSpPr/>
          <p:nvPr/>
        </p:nvSpPr>
        <p:spPr>
          <a:xfrm>
            <a:off x="2800350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壁2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予約の後は電話・メールだけ。青森店は予約のキャンセルが2〜3割</a:t>
            </a:r>
            <a:endParaRPr lang="ja-JP" altLang="en-US" sz="1200" dirty="0"/>
          </a:p>
        </p:txBody>
      </p:sp>
      <p:sp>
        <p:nvSpPr>
          <p:cNvPr id="16" name="壁3"/>
          <p:cNvSpPr/>
          <p:nvPr/>
        </p:nvSpPr>
        <p:spPr>
          <a:xfrm>
            <a:off x="5097779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壁3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検討が浅い段階での来場があり、その場では決まらない</a:t>
            </a:r>
            <a:endParaRPr lang="ja-JP" altLang="en-US" sz="1200" dirty="0"/>
          </a:p>
        </p:txBody>
      </p:sp>
      <p:sp>
        <p:nvSpPr>
          <p:cNvPr id="17" name="壁4"/>
          <p:cNvSpPr/>
          <p:nvPr/>
        </p:nvSpPr>
        <p:spPr>
          <a:xfrm>
            <a:off x="7395210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壁4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検討が長い方を追い続ける仕組みがなく、競合（一条工務店・大進建設）に流れる</a:t>
            </a:r>
            <a:endParaRPr lang="ja-JP" altLang="en-US" sz="1200" dirty="0"/>
          </a:p>
        </p:txBody>
      </p:sp>
      <p:sp>
        <p:nvSpPr>
          <p:cNvPr id="18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最大の損失は、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熱量の高い見込み客を集めても「即決しない層」との接点が切れること</a:t>
            </a:r>
            <a:endParaRPr lang="ja-JP" altLang="en-US" sz="1200" dirty="0"/>
          </a:p>
        </p:txBody>
      </p:sp>
      <p:sp>
        <p:nvSpPr>
          <p:cNvPr id="19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※現状の追客は予約後の電話・メール。既存のLINE公式アカウントはイベント告知が中心で、追客には使えていない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解決策：LINEの配信で「この家が好き・タナカホームが好き」を育てる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売り込みではなく「住みたいイメージ」を配信で育て、来場・商談のときの成約率を底上げする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配信 6"/>
          <p:cNvGraphicFramePr>
            <a:graphicFrameLocks noGrp="1"/>
          </p:cNvGraphicFramePr>
          <p:nvPr/>
        </p:nvGraphicFramePr>
        <p:xfrm>
          <a:off x="502920" y="1691640"/>
          <a:ext cx="8897112" cy="256032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  <a:gridCol w="2496312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配信コンテンツ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感じてもらうこと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ルームツアー動画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完成した家の中を歩く動画。間取り・収納・暮らしの動線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この家に住みたい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暮らしの風景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入居後の暮らし・季節ごとの様子・施主の声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この暮らしがいい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街並み・エリアの魅力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八戸・おいらせ・青森・弘前の街並み、土地の情報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この街に住みたい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家づくりの知識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青森の冬を乗り切る性能、費用の考え方、補助金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この会社は信頼できる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流れ1"/>
          <p:cNvSpPr/>
          <p:nvPr/>
        </p:nvSpPr>
        <p:spPr>
          <a:xfrm>
            <a:off x="502920" y="4343400"/>
            <a:ext cx="2004822" cy="658368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サイト・来場予約・展示場</a:t>
            </a:r>
            <a:endParaRPr lang="ja-JP" altLang="en-US" sz="1200" dirty="0"/>
          </a:p>
        </p:txBody>
      </p:sp>
      <p:sp>
        <p:nvSpPr>
          <p:cNvPr id="9" name="矢印"/>
          <p:cNvSpPr/>
          <p:nvPr/>
        </p:nvSpPr>
        <p:spPr>
          <a:xfrm>
            <a:off x="2507741" y="434340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0" name="流れ2"/>
          <p:cNvSpPr/>
          <p:nvPr/>
        </p:nvSpPr>
        <p:spPr>
          <a:xfrm>
            <a:off x="2800350" y="434340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配信でファン化</a:t>
            </a:r>
            <a:endParaRPr lang="ja-JP" altLang="en-US" sz="1200" dirty="0"/>
          </a:p>
        </p:txBody>
      </p:sp>
      <p:sp>
        <p:nvSpPr>
          <p:cNvPr id="11" name="矢印"/>
          <p:cNvSpPr/>
          <p:nvPr/>
        </p:nvSpPr>
        <p:spPr>
          <a:xfrm>
            <a:off x="4805172" y="434340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2" name="流れ3"/>
          <p:cNvSpPr/>
          <p:nvPr/>
        </p:nvSpPr>
        <p:spPr>
          <a:xfrm>
            <a:off x="5097779" y="434340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「取れるとき」に来場</a:t>
            </a:r>
            <a:endParaRPr lang="ja-JP" altLang="en-US" sz="1200" dirty="0"/>
          </a:p>
        </p:txBody>
      </p:sp>
      <p:sp>
        <p:nvSpPr>
          <p:cNvPr id="13" name="矢印"/>
          <p:cNvSpPr/>
          <p:nvPr/>
        </p:nvSpPr>
        <p:spPr>
          <a:xfrm>
            <a:off x="7102601" y="434340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4" name="流れ4"/>
          <p:cNvSpPr/>
          <p:nvPr/>
        </p:nvSpPr>
        <p:spPr>
          <a:xfrm>
            <a:off x="7395210" y="4343400"/>
            <a:ext cx="2004822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商談の成約率を底上げ</a:t>
            </a:r>
            <a:endParaRPr lang="ja-JP" altLang="en-US" sz="1200" dirty="0"/>
          </a:p>
        </p:txBody>
      </p:sp>
      <p:sp>
        <p:nvSpPr>
          <p:cNvPr id="15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※動画・写真はInstagram・Meta広告の素材を流用し、制作の負担を抑える／既存のLINE公式アカウントを活用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現場体制：営業の追客の負担を減らし、事務との連携で数字を追う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営業は関係構築と商談に集中し、事務が配信と顧客リストの状況を管理する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体制 6"/>
          <p:cNvGraphicFramePr>
            <a:graphicFrameLocks noGrp="1"/>
          </p:cNvGraphicFramePr>
          <p:nvPr/>
        </p:nvGraphicFramePr>
        <p:xfrm>
          <a:off x="502920" y="1691640"/>
          <a:ext cx="8897112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5330952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担当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役割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LINEでやること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関係構築と商談に集中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・検討度が上がった方（配信への反応・質問）に個別チャットで対応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・来場・商談へつなげる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事務</a:t>
                      </a:r>
                      <a:b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（数字の管理）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配信の管理と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顧客リストの可視化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・配信の予約と反応（開封・クリック）の確認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・チャットタグで検討状況を管理（検討中・予約済・来場済）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・来場予約の3日前・前日のリマインド配信（キャンセル対策）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弊社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配信の設計・制作・分析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・配信の企画と、文面・画像の制作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・月次で友だち数・反応・来場予約を分析し、配信を改善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属人化しない：</a:t>
            </a: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担当が替わっても、同じ配信・同じ追客が続く仕組み</a:t>
            </a:r>
            <a:endParaRPr lang="ja-JP" altLang="en-US" sz="1200" dirty="0"/>
          </a:p>
        </p:txBody>
      </p:sp>
      <p:sp>
        <p:nvSpPr>
          <p:cNvPr id="9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※来場予約のリマインドは、予約の受け方に合わせて設定（連携の方法は構築時に決定）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今後の展開：青森店で型を作り、全店・全エリアへ横展開する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配信の仕組みとコンテンツは、他の店舗・別のターゲットにそのまま転用できる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見出し 青森店で確立する型"/>
          <p:cNvSpPr/>
          <p:nvPr/>
        </p:nvSpPr>
        <p:spPr>
          <a:xfrm>
            <a:off x="502920" y="1691640"/>
            <a:ext cx="3383280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青森店で確立する型</a:t>
            </a:r>
            <a:endParaRPr lang="ja-JP" altLang="en-US" sz="1200" dirty="0"/>
          </a:p>
        </p:txBody>
      </p:sp>
      <p:sp>
        <p:nvSpPr>
          <p:cNvPr id="8" name="型1"/>
          <p:cNvSpPr/>
          <p:nvPr/>
        </p:nvSpPr>
        <p:spPr>
          <a:xfrm>
            <a:off x="502920" y="2103120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入口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サイト・来場予約・展示場からLINEへ</a:t>
            </a:r>
            <a:endParaRPr lang="ja-JP" altLang="en-US" sz="1200" dirty="0"/>
          </a:p>
        </p:txBody>
      </p:sp>
      <p:sp>
        <p:nvSpPr>
          <p:cNvPr id="9" name="型2"/>
          <p:cNvSpPr/>
          <p:nvPr/>
        </p:nvSpPr>
        <p:spPr>
          <a:xfrm>
            <a:off x="502920" y="2889503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配信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ルームツアー・暮らし・街並みの型</a:t>
            </a:r>
            <a:endParaRPr lang="ja-JP" altLang="en-US" sz="1200" dirty="0"/>
          </a:p>
        </p:txBody>
      </p:sp>
      <p:sp>
        <p:nvSpPr>
          <p:cNvPr id="10" name="型3"/>
          <p:cNvSpPr/>
          <p:nvPr/>
        </p:nvSpPr>
        <p:spPr>
          <a:xfrm>
            <a:off x="502920" y="3675887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体制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営業 × 事務 × 弊社の運用</a:t>
            </a:r>
            <a:endParaRPr lang="ja-JP" altLang="en-US" sz="1200" dirty="0"/>
          </a:p>
        </p:txBody>
      </p:sp>
      <p:sp>
        <p:nvSpPr>
          <p:cNvPr id="11" name="矢印"/>
          <p:cNvSpPr/>
          <p:nvPr/>
        </p:nvSpPr>
        <p:spPr>
          <a:xfrm>
            <a:off x="3931920" y="2103120"/>
            <a:ext cx="457199" cy="2359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8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2" name="見出し 横展開"/>
          <p:cNvSpPr/>
          <p:nvPr/>
        </p:nvSpPr>
        <p:spPr>
          <a:xfrm>
            <a:off x="4434840" y="1691640"/>
            <a:ext cx="4965192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横展開</a:t>
            </a:r>
            <a:endParaRPr lang="ja-JP" altLang="en-US" sz="1200" dirty="0"/>
          </a:p>
        </p:txBody>
      </p:sp>
      <p:graphicFrame>
        <p:nvGraphicFramePr>
          <p:cNvPr id="13" name="横展開 12"/>
          <p:cNvGraphicFramePr>
            <a:graphicFrameLocks noGrp="1"/>
          </p:cNvGraphicFramePr>
          <p:nvPr/>
        </p:nvGraphicFramePr>
        <p:xfrm>
          <a:off x="4434840" y="2103120"/>
          <a:ext cx="4965192" cy="2359152"/>
        </p:xfrm>
        <a:graphic>
          <a:graphicData uri="http://schemas.openxmlformats.org/drawingml/2006/table">
            <a:tbl>
              <a:tblPr/>
              <a:tblGrid>
                <a:gridCol w="868680"/>
                <a:gridCol w="1783080"/>
                <a:gridCol w="2313432"/>
              </a:tblGrid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八戸・おいらせ・弘前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店舗ごとのQR・URLで、配信を分ける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商品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注文住宅・分譲・土地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希望に合わせた配信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層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検討中・来場済・OB施主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段階に合わせた配信（OB施主には紹介・点検の案内）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集客投資の効果を最大化するために、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今、LINE公式アカウントの基盤を構築する</a:t>
            </a:r>
            <a:endParaRPr lang="ja-JP" altLang="en-US" sz="1200" dirty="0"/>
          </a:p>
        </p:txBody>
      </p:sp>
      <p:sp>
        <p:nvSpPr>
          <p:cNvPr id="15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※1つのアカウントで運用し、店舗・商品・層は友だち追加の経路とタグで分ける／既存のLINE公式アカウントを活用</a:t>
            </a:r>
            <a:endParaRPr lang="ja-JP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143256</TotalTime>
  <Words>5897</Words>
  <Application>Microsoft Office PowerPoint</Application>
  <PresentationFormat>A4 210 x 297 mm</PresentationFormat>
  <Paragraphs>1158</Paragraphs>
  <Slides>45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3" baseType="lpstr">
      <vt:lpstr>メイリオ</vt:lpstr>
      <vt:lpstr>メイリオ</vt:lpstr>
      <vt:lpstr>Arial</vt:lpstr>
      <vt:lpstr>Calibri</vt:lpstr>
      <vt:lpstr>Symbol</vt:lpstr>
      <vt:lpstr>Times New Roman</vt:lpstr>
      <vt:lpstr>Wingdings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中村 駿</dc:creator>
  <dc:description/>
  <cp:lastModifiedBy>殿村 亮太</cp:lastModifiedBy>
  <cp:revision>1972</cp:revision>
  <cp:lastPrinted>2022-11-01T11:38:14Z</cp:lastPrinted>
  <dcterms:created xsi:type="dcterms:W3CDTF">2015-09-04T09:21:15Z</dcterms:created>
  <dcterms:modified xsi:type="dcterms:W3CDTF">2026-10-15T09:06:43Z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A4 210 x 297 mm</vt:lpwstr>
  </property>
  <property fmtid="{D5CDD505-2E9C-101B-9397-08002B2CF9AE}" pid="4" name="Slides">
    <vt:r8>46</vt:r8>
  </property>
</Properties>
</file>