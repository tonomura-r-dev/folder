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7" r:id="rId2"/>
  </p:sldMasterIdLst>
  <p:notesMasterIdLst>
    <p:notesMasterId r:id="rId50"/>
  </p:notesMasterIdLst>
  <p:handoutMasterIdLst>
    <p:handoutMasterId r:id="rId51"/>
  </p:handoutMasterIdLst>
  <p:sldIdLst>
    <p:sldId id="2363" r:id="rId3"/>
    <p:sldId id="2993" r:id="rId4"/>
    <p:sldId id="2972" r:id="rId5"/>
    <p:sldId id="2996" r:id="rId6"/>
    <p:sldId id="2994" r:id="rId7"/>
    <p:sldId id="2736" r:id="rId8"/>
    <p:sldId id="2987" r:id="rId9"/>
    <p:sldId id="2973" r:id="rId10"/>
    <p:sldId id="2977" r:id="rId11"/>
    <p:sldId id="2908" r:id="rId12"/>
    <p:sldId id="2988" r:id="rId13"/>
    <p:sldId id="2979" r:id="rId14"/>
    <p:sldId id="2978" r:id="rId15"/>
    <p:sldId id="2990" r:id="rId16"/>
    <p:sldId id="2991" r:id="rId17"/>
    <p:sldId id="2989" r:id="rId19"/>
    <p:sldId id="2563" r:id="rId20"/>
    <p:sldId id="2959" r:id="rId21"/>
    <p:sldId id="2970" r:id="rId22"/>
    <p:sldId id="2968" r:id="rId23"/>
    <p:sldId id="2969" r:id="rId24"/>
    <p:sldId id="2639" r:id="rId25"/>
    <p:sldId id="2957" r:id="rId26"/>
    <p:sldId id="2951" r:id="rId27"/>
    <p:sldId id="2841" r:id="rId28"/>
    <p:sldId id="2734" r:id="rId29"/>
    <p:sldId id="2595" r:id="rId30"/>
    <p:sldId id="2566" r:id="rId31"/>
    <p:sldId id="2915" r:id="rId32"/>
    <p:sldId id="2619" r:id="rId33"/>
    <p:sldId id="2761" r:id="rId34"/>
    <p:sldId id="2935" r:id="rId35"/>
    <p:sldId id="2919" r:id="rId36"/>
    <p:sldId id="2519" r:id="rId37"/>
    <p:sldId id="2931" r:id="rId38"/>
    <p:sldId id="2749" r:id="rId39"/>
    <p:sldId id="2950" r:id="rId40"/>
    <p:sldId id="2961" r:id="rId41"/>
    <p:sldId id="2849" r:id="rId42"/>
    <p:sldId id="2904" r:id="rId43"/>
    <p:sldId id="2905" r:id="rId44"/>
    <p:sldId id="2906" r:id="rId45"/>
    <p:sldId id="2907" r:id="rId46"/>
    <p:sldId id="2575" r:id="rId47"/>
    <p:sldId id="2910" r:id="rId48"/>
    <p:sldId id="1169" r:id="rId49"/>
  </p:sldIdLst>
  <p:sldSz cx="9906000" cy="6858000" type="A4"/>
  <p:notesSz cx="6807200" cy="9939338"/>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58" userDrawn="1">
          <p15:clr>
            <a:srgbClr val="A4A3A4"/>
          </p15:clr>
        </p15:guide>
        <p15:guide id="2" pos="30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4FA0A"/>
    <a:srgbClr val="173559"/>
    <a:srgbClr val="FDFDFD"/>
    <a:srgbClr val="2080FF"/>
    <a:srgbClr val="1D8DFF"/>
    <a:srgbClr val="515457"/>
    <a:srgbClr val="F6A454"/>
    <a:srgbClr val="EAEEF4"/>
    <a:srgbClr val="2D6CB9"/>
    <a:srgbClr val="D1D9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301B821-A1FF-4177-AEE7-76D212191A09}" styleName="中間スタイル 1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157" autoAdjust="0"/>
    <p:restoredTop sz="94424" autoAdjust="0"/>
  </p:normalViewPr>
  <p:slideViewPr>
    <p:cSldViewPr snapToGrid="0">
      <p:cViewPr>
        <p:scale>
          <a:sx n="75" d="100"/>
          <a:sy n="75" d="100"/>
        </p:scale>
        <p:origin x="624" y="24"/>
      </p:cViewPr>
      <p:guideLst>
        <p:guide orient="horz" pos="3158"/>
        <p:guide pos="308"/>
      </p:guideLst>
    </p:cSldViewPr>
  </p:slideViewPr>
  <p:notesTextViewPr>
    <p:cViewPr>
      <p:scale>
        <a:sx n="1" d="1"/>
        <a:sy n="1" d="1"/>
      </p:scale>
      <p:origin x="0" y="0"/>
    </p:cViewPr>
  </p:notesTextViewPr>
  <p:sorterViewPr>
    <p:cViewPr>
      <p:scale>
        <a:sx n="100" d="100"/>
        <a:sy n="100" d="100"/>
      </p:scale>
      <p:origin x="0" y="-3072"/>
    </p:cViewPr>
  </p:sorterViewPr>
  <p:notesViewPr>
    <p:cSldViewPr snapToGrid="0">
      <p:cViewPr varScale="1">
        <p:scale>
          <a:sx n="79" d="100"/>
          <a:sy n="79" d="100"/>
        </p:scale>
        <p:origin x="4014" y="102"/>
      </p:cViewPr>
      <p:guideLst/>
    </p:cSldViewPr>
  </p:notesViewPr>
  <p:gridSpacing cx="1080001" cy="1080001"/>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notesMaster" Target="notesMasters/notesMaster1.xml"/><Relationship Id="rId55"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viewProps" Target="viewProps.xml"/><Relationship Id="rId5" Type="http://schemas.openxmlformats.org/officeDocument/2006/relationships/slide" Target="slides/slide3.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8" Type="http://schemas.openxmlformats.org/officeDocument/2006/relationships/slide" Target="slides/slide6.xml"/><Relationship Id="rId51" Type="http://schemas.openxmlformats.org/officeDocument/2006/relationships/handoutMaster" Target="handoutMasters/handoutMaster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フッター プレースホルダー 3"/>
          <p:cNvSpPr>
            <a:spLocks noGrp="1"/>
          </p:cNvSpPr>
          <p:nvPr>
            <p:ph type="ftr" sz="quarter" idx="2"/>
          </p:nvPr>
        </p:nvSpPr>
        <p:spPr>
          <a:xfrm>
            <a:off x="0" y="9441662"/>
            <a:ext cx="2949420" cy="497676"/>
          </a:xfrm>
          <a:prstGeom prst="rect">
            <a:avLst/>
          </a:prstGeom>
        </p:spPr>
        <p:txBody>
          <a:bodyPr vert="horz" lIns="90561" tIns="45280" rIns="90561" bIns="4528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56210" y="9441662"/>
            <a:ext cx="2949420" cy="497676"/>
          </a:xfrm>
          <a:prstGeom prst="rect">
            <a:avLst/>
          </a:prstGeom>
        </p:spPr>
        <p:txBody>
          <a:bodyPr vert="horz" lIns="90561" tIns="45280" rIns="90561" bIns="45280" rtlCol="0" anchor="b"/>
          <a:lstStyle>
            <a:lvl1pPr algn="r">
              <a:defRPr sz="1200"/>
            </a:lvl1pPr>
          </a:lstStyle>
          <a:p>
            <a:fld id="{7B45B759-5475-4693-BFD4-53BF6401E48A}" type="slidenum">
              <a:rPr kumimoji="1" lang="ja-JP" altLang="en-US" smtClean="0"/>
              <a:t>‹#›</a:t>
            </a:fld>
            <a:endParaRPr kumimoji="1" lang="ja-JP" altLang="en-US"/>
          </a:p>
        </p:txBody>
      </p:sp>
    </p:spTree>
    <p:extLst>
      <p:ext uri="{BB962C8B-B14F-4D97-AF65-F5344CB8AC3E}">
        <p14:creationId xmlns:p14="http://schemas.microsoft.com/office/powerpoint/2010/main" val="32595307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1" y="2"/>
            <a:ext cx="2950528" cy="497524"/>
          </a:xfrm>
          <a:prstGeom prst="rect">
            <a:avLst/>
          </a:prstGeom>
        </p:spPr>
        <p:txBody>
          <a:bodyPr vert="horz" lIns="91529" tIns="45765" rIns="91529" bIns="45765" rtlCol="0"/>
          <a:lstStyle>
            <a:lvl1pPr algn="l">
              <a:defRPr sz="1200"/>
            </a:lvl1pPr>
          </a:lstStyle>
          <a:p>
            <a:endParaRPr kumimoji="1" lang="ja-JP" altLang="en-US"/>
          </a:p>
        </p:txBody>
      </p:sp>
      <p:sp>
        <p:nvSpPr>
          <p:cNvPr id="3" name="日付プレースホルダー 2"/>
          <p:cNvSpPr>
            <a:spLocks noGrp="1"/>
          </p:cNvSpPr>
          <p:nvPr>
            <p:ph type="dt" idx="1"/>
          </p:nvPr>
        </p:nvSpPr>
        <p:spPr>
          <a:xfrm>
            <a:off x="3855082" y="2"/>
            <a:ext cx="2950528" cy="497524"/>
          </a:xfrm>
          <a:prstGeom prst="rect">
            <a:avLst/>
          </a:prstGeom>
        </p:spPr>
        <p:txBody>
          <a:bodyPr vert="horz" lIns="91529" tIns="45765" rIns="91529" bIns="45765" rtlCol="0"/>
          <a:lstStyle>
            <a:lvl1pPr algn="r">
              <a:defRPr sz="1200"/>
            </a:lvl1pPr>
          </a:lstStyle>
          <a:p>
            <a:fld id="{6AF8158D-F6B1-45E0-9831-E70689DC8490}" type="datetimeFigureOut">
              <a:rPr kumimoji="1" lang="ja-JP" altLang="en-US" smtClean="0"/>
              <a:t>2026/10/12</a:t>
            </a:fld>
            <a:endParaRPr kumimoji="1" lang="ja-JP" altLang="en-US"/>
          </a:p>
        </p:txBody>
      </p:sp>
      <p:sp>
        <p:nvSpPr>
          <p:cNvPr id="4" name="スライド イメージ プレースホルダー 3"/>
          <p:cNvSpPr>
            <a:spLocks noGrp="1" noRot="1" noChangeAspect="1"/>
          </p:cNvSpPr>
          <p:nvPr>
            <p:ph type="sldImg" idx="2"/>
          </p:nvPr>
        </p:nvSpPr>
        <p:spPr>
          <a:xfrm>
            <a:off x="981075" y="1243013"/>
            <a:ext cx="4845050" cy="3354387"/>
          </a:xfrm>
          <a:prstGeom prst="rect">
            <a:avLst/>
          </a:prstGeom>
          <a:noFill/>
          <a:ln w="12700">
            <a:solidFill>
              <a:prstClr val="black"/>
            </a:solidFill>
          </a:ln>
        </p:spPr>
        <p:txBody>
          <a:bodyPr vert="horz" lIns="91529" tIns="45765" rIns="91529" bIns="45765" rtlCol="0" anchor="ctr"/>
          <a:lstStyle/>
          <a:p>
            <a:endParaRPr lang="ja-JP" altLang="en-US"/>
          </a:p>
        </p:txBody>
      </p:sp>
      <p:sp>
        <p:nvSpPr>
          <p:cNvPr id="5" name="ノート プレースホルダー 4"/>
          <p:cNvSpPr>
            <a:spLocks noGrp="1"/>
          </p:cNvSpPr>
          <p:nvPr>
            <p:ph type="body" sz="quarter" idx="3"/>
          </p:nvPr>
        </p:nvSpPr>
        <p:spPr>
          <a:xfrm>
            <a:off x="680402" y="4782901"/>
            <a:ext cx="5446396" cy="3913426"/>
          </a:xfrm>
          <a:prstGeom prst="rect">
            <a:avLst/>
          </a:prstGeom>
        </p:spPr>
        <p:txBody>
          <a:bodyPr vert="horz" lIns="91529" tIns="45765" rIns="91529" bIns="45765"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1" y="9441817"/>
            <a:ext cx="2950528" cy="497524"/>
          </a:xfrm>
          <a:prstGeom prst="rect">
            <a:avLst/>
          </a:prstGeom>
        </p:spPr>
        <p:txBody>
          <a:bodyPr vert="horz" lIns="91529" tIns="45765" rIns="91529" bIns="45765"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55082" y="9441817"/>
            <a:ext cx="2950528" cy="497524"/>
          </a:xfrm>
          <a:prstGeom prst="rect">
            <a:avLst/>
          </a:prstGeom>
        </p:spPr>
        <p:txBody>
          <a:bodyPr vert="horz" lIns="91529" tIns="45765" rIns="91529" bIns="45765" rtlCol="0" anchor="b"/>
          <a:lstStyle>
            <a:lvl1pPr algn="r">
              <a:defRPr sz="1200"/>
            </a:lvl1pPr>
          </a:lstStyle>
          <a:p>
            <a:fld id="{022E43C0-6795-4B13-B37C-259C826D4B6A}" type="slidenum">
              <a:rPr kumimoji="1" lang="ja-JP" altLang="en-US" smtClean="0"/>
              <a:t>‹#›</a:t>
            </a:fld>
            <a:endParaRPr kumimoji="1" lang="ja-JP" altLang="en-US"/>
          </a:p>
        </p:txBody>
      </p:sp>
    </p:spTree>
    <p:extLst>
      <p:ext uri="{BB962C8B-B14F-4D97-AF65-F5344CB8AC3E}">
        <p14:creationId xmlns:p14="http://schemas.microsoft.com/office/powerpoint/2010/main" val="640918907"/>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EEE297-1C60-1B47-1371-71E9182BCB3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48E7FAC-7C31-2BF5-99A0-B567314FF81B}"/>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9D9BB1D-280D-F986-C5BD-B8EA9C52BE9B}"/>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0845DE59-8CC7-2B95-A35B-4990F6D674F1}"/>
              </a:ext>
            </a:extLst>
          </p:cNvPr>
          <p:cNvSpPr>
            <a:spLocks noGrp="1"/>
          </p:cNvSpPr>
          <p:nvPr>
            <p:ph type="sldNum" sz="quarter" idx="10"/>
          </p:nvPr>
        </p:nvSpPr>
        <p:spPr/>
        <p:txBody>
          <a:bodyPr/>
          <a:lstStyle/>
          <a:p>
            <a:fld id="{022E43C0-6795-4B13-B37C-259C826D4B6A}" type="slidenum">
              <a:rPr kumimoji="1" lang="ja-JP" altLang="en-US" smtClean="0"/>
              <a:t>2</a:t>
            </a:fld>
            <a:endParaRPr kumimoji="1" lang="ja-JP" altLang="en-US"/>
          </a:p>
        </p:txBody>
      </p:sp>
    </p:spTree>
    <p:extLst>
      <p:ext uri="{BB962C8B-B14F-4D97-AF65-F5344CB8AC3E}">
        <p14:creationId xmlns:p14="http://schemas.microsoft.com/office/powerpoint/2010/main" val="24875882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681540-B398-8C02-E1F2-1F1C4798CC2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A82C74D-328C-FB0E-E710-C92A52BEF4B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75EB1E7-3A4C-2E0A-CA67-686800FA87A8}"/>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2173A52D-F6CC-DC20-5CFE-D4EBA25ECCBC}"/>
              </a:ext>
            </a:extLst>
          </p:cNvPr>
          <p:cNvSpPr>
            <a:spLocks noGrp="1"/>
          </p:cNvSpPr>
          <p:nvPr>
            <p:ph type="sldNum" sz="quarter" idx="10"/>
          </p:nvPr>
        </p:nvSpPr>
        <p:spPr/>
        <p:txBody>
          <a:bodyPr/>
          <a:lstStyle/>
          <a:p>
            <a:fld id="{022E43C0-6795-4B13-B37C-259C826D4B6A}" type="slidenum">
              <a:rPr kumimoji="1" lang="ja-JP" altLang="en-US" smtClean="0"/>
              <a:t>3</a:t>
            </a:fld>
            <a:endParaRPr kumimoji="1" lang="ja-JP" altLang="en-US"/>
          </a:p>
        </p:txBody>
      </p:sp>
    </p:spTree>
    <p:extLst>
      <p:ext uri="{BB962C8B-B14F-4D97-AF65-F5344CB8AC3E}">
        <p14:creationId xmlns:p14="http://schemas.microsoft.com/office/powerpoint/2010/main" val="27379868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0E38FE-6104-025A-CDFE-30FAA389094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58D8639-E90A-9B18-DC6D-71623D31594C}"/>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6E72E54-C9CA-B2DD-C033-09A6FA4C06AB}"/>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8F05396-62B1-69E9-2915-961C6B4E4747}"/>
              </a:ext>
            </a:extLst>
          </p:cNvPr>
          <p:cNvSpPr>
            <a:spLocks noGrp="1"/>
          </p:cNvSpPr>
          <p:nvPr>
            <p:ph type="sldNum" sz="quarter" idx="10"/>
          </p:nvPr>
        </p:nvSpPr>
        <p:spPr/>
        <p:txBody>
          <a:bodyPr/>
          <a:lstStyle/>
          <a:p>
            <a:fld id="{022E43C0-6795-4B13-B37C-259C826D4B6A}" type="slidenum">
              <a:rPr kumimoji="1" lang="ja-JP" altLang="en-US" smtClean="0"/>
              <a:t>4</a:t>
            </a:fld>
            <a:endParaRPr kumimoji="1" lang="ja-JP" altLang="en-US"/>
          </a:p>
        </p:txBody>
      </p:sp>
    </p:spTree>
    <p:extLst>
      <p:ext uri="{BB962C8B-B14F-4D97-AF65-F5344CB8AC3E}">
        <p14:creationId xmlns:p14="http://schemas.microsoft.com/office/powerpoint/2010/main" val="30688154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87BDD3-88EE-99A9-AEE2-C1F41DDABDF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650017B6-5C78-4075-2708-AC5DB83D5C75}"/>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ECFD86C-83D9-B8F9-9012-A14834B2031D}"/>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602F5ACB-1F4C-FA7D-D366-8DCBB1214FD9}"/>
              </a:ext>
            </a:extLst>
          </p:cNvPr>
          <p:cNvSpPr>
            <a:spLocks noGrp="1"/>
          </p:cNvSpPr>
          <p:nvPr>
            <p:ph type="sldNum" sz="quarter" idx="10"/>
          </p:nvPr>
        </p:nvSpPr>
        <p:spPr/>
        <p:txBody>
          <a:bodyPr/>
          <a:lstStyle/>
          <a:p>
            <a:fld id="{022E43C0-6795-4B13-B37C-259C826D4B6A}" type="slidenum">
              <a:rPr kumimoji="1" lang="ja-JP" altLang="en-US" smtClean="0"/>
              <a:t>7</a:t>
            </a:fld>
            <a:endParaRPr kumimoji="1" lang="ja-JP" altLang="en-US"/>
          </a:p>
        </p:txBody>
      </p:sp>
    </p:spTree>
    <p:extLst>
      <p:ext uri="{BB962C8B-B14F-4D97-AF65-F5344CB8AC3E}">
        <p14:creationId xmlns:p14="http://schemas.microsoft.com/office/powerpoint/2010/main" val="36624079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98DFB9-1A0E-AC56-86AB-C554ECA5907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6E74640-8F62-6E74-5A21-E69A7415BF61}"/>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566DD76-369D-9DB0-5CDC-B936C94EBB6D}"/>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AB7A0C4-A336-4C2C-E97A-0E6D7798D43D}"/>
              </a:ext>
            </a:extLst>
          </p:cNvPr>
          <p:cNvSpPr>
            <a:spLocks noGrp="1"/>
          </p:cNvSpPr>
          <p:nvPr>
            <p:ph type="sldNum" sz="quarter" idx="10"/>
          </p:nvPr>
        </p:nvSpPr>
        <p:spPr/>
        <p:txBody>
          <a:bodyPr/>
          <a:lstStyle/>
          <a:p>
            <a:fld id="{022E43C0-6795-4B13-B37C-259C826D4B6A}" type="slidenum">
              <a:rPr kumimoji="1" lang="ja-JP" altLang="en-US" smtClean="0"/>
              <a:t>8</a:t>
            </a:fld>
            <a:endParaRPr kumimoji="1" lang="ja-JP" altLang="en-US"/>
          </a:p>
        </p:txBody>
      </p:sp>
    </p:spTree>
    <p:extLst>
      <p:ext uri="{BB962C8B-B14F-4D97-AF65-F5344CB8AC3E}">
        <p14:creationId xmlns:p14="http://schemas.microsoft.com/office/powerpoint/2010/main" val="35471180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2C3D0E-521D-4421-8E6F-5B072E39273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DA4E99E-E573-FB69-824A-6A64B973F185}"/>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C7418EF-CD86-6501-70F8-B9DD0191527F}"/>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3CB86D95-C452-2BDC-5841-170929F80D7E}"/>
              </a:ext>
            </a:extLst>
          </p:cNvPr>
          <p:cNvSpPr>
            <a:spLocks noGrp="1"/>
          </p:cNvSpPr>
          <p:nvPr>
            <p:ph type="sldNum" sz="quarter" idx="10"/>
          </p:nvPr>
        </p:nvSpPr>
        <p:spPr/>
        <p:txBody>
          <a:bodyPr/>
          <a:lstStyle/>
          <a:p>
            <a:fld id="{022E43C0-6795-4B13-B37C-259C826D4B6A}" type="slidenum">
              <a:rPr kumimoji="1" lang="ja-JP" altLang="en-US" smtClean="0"/>
              <a:t>9</a:t>
            </a:fld>
            <a:endParaRPr kumimoji="1" lang="ja-JP" altLang="en-US"/>
          </a:p>
        </p:txBody>
      </p:sp>
    </p:spTree>
    <p:extLst>
      <p:ext uri="{BB962C8B-B14F-4D97-AF65-F5344CB8AC3E}">
        <p14:creationId xmlns:p14="http://schemas.microsoft.com/office/powerpoint/2010/main" val="9492019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7F372C-6DE5-FF13-3A5F-C9A5DA8D257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22B9EF9-4EBB-274F-A1AD-FF4E683E4A51}"/>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CAC0E09-6858-2196-AFC4-29D0C88AFAED}"/>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4517F6BB-CD63-0BD6-0237-3E95594ABBBB}"/>
              </a:ext>
            </a:extLst>
          </p:cNvPr>
          <p:cNvSpPr>
            <a:spLocks noGrp="1"/>
          </p:cNvSpPr>
          <p:nvPr>
            <p:ph type="sldNum" sz="quarter" idx="10"/>
          </p:nvPr>
        </p:nvSpPr>
        <p:spPr/>
        <p:txBody>
          <a:bodyPr/>
          <a:lstStyle/>
          <a:p>
            <a:fld id="{022E43C0-6795-4B13-B37C-259C826D4B6A}" type="slidenum">
              <a:rPr kumimoji="1" lang="ja-JP" altLang="en-US" smtClean="0"/>
              <a:t>11</a:t>
            </a:fld>
            <a:endParaRPr kumimoji="1" lang="ja-JP" altLang="en-US"/>
          </a:p>
        </p:txBody>
      </p:sp>
    </p:spTree>
    <p:extLst>
      <p:ext uri="{BB962C8B-B14F-4D97-AF65-F5344CB8AC3E}">
        <p14:creationId xmlns:p14="http://schemas.microsoft.com/office/powerpoint/2010/main" val="31870556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11E9D4-0876-C25C-8529-8B74AB559B8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CF43F49-5B7A-3752-251E-82690E66FE6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5863D13-39F9-D392-9C29-D9EAD3D1EA4D}"/>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073CE111-A992-AC9F-119C-E1210F4D3DD7}"/>
              </a:ext>
            </a:extLst>
          </p:cNvPr>
          <p:cNvSpPr>
            <a:spLocks noGrp="1"/>
          </p:cNvSpPr>
          <p:nvPr>
            <p:ph type="sldNum" sz="quarter" idx="10"/>
          </p:nvPr>
        </p:nvSpPr>
        <p:spPr/>
        <p:txBody>
          <a:bodyPr/>
          <a:lstStyle/>
          <a:p>
            <a:fld id="{022E43C0-6795-4B13-B37C-259C826D4B6A}" type="slidenum">
              <a:rPr kumimoji="1" lang="ja-JP" altLang="en-US" smtClean="0"/>
              <a:t>12</a:t>
            </a:fld>
            <a:endParaRPr kumimoji="1" lang="ja-JP" altLang="en-US"/>
          </a:p>
        </p:txBody>
      </p:sp>
    </p:spTree>
    <p:extLst>
      <p:ext uri="{BB962C8B-B14F-4D97-AF65-F5344CB8AC3E}">
        <p14:creationId xmlns:p14="http://schemas.microsoft.com/office/powerpoint/2010/main" val="18865823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7FF2DF-2549-03DE-BF99-3816DBF1427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608DAE1-5EDB-4906-5B89-172988954E2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BAF08AA4-BBDC-950C-3480-F13DD87CF933}"/>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5572BACB-FF67-5073-CAB4-B7DC30D31CAB}"/>
              </a:ext>
            </a:extLst>
          </p:cNvPr>
          <p:cNvSpPr>
            <a:spLocks noGrp="1"/>
          </p:cNvSpPr>
          <p:nvPr>
            <p:ph type="sldNum" sz="quarter" idx="10"/>
          </p:nvPr>
        </p:nvSpPr>
        <p:spPr/>
        <p:txBody>
          <a:bodyPr/>
          <a:lstStyle/>
          <a:p>
            <a:fld id="{022E43C0-6795-4B13-B37C-259C826D4B6A}" type="slidenum">
              <a:rPr kumimoji="1" lang="ja-JP" altLang="en-US" smtClean="0"/>
              <a:t>13</a:t>
            </a:fld>
            <a:endParaRPr kumimoji="1" lang="ja-JP" altLang="en-US"/>
          </a:p>
        </p:txBody>
      </p:sp>
    </p:spTree>
    <p:extLst>
      <p:ext uri="{BB962C8B-B14F-4D97-AF65-F5344CB8AC3E}">
        <p14:creationId xmlns:p14="http://schemas.microsoft.com/office/powerpoint/2010/main" val="281823187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FBE411-4324-1BAD-C78B-91DF91FD9CC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D549732-A76E-5601-F486-7A42B1789DE1}"/>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03275E6F-98B5-9B49-8F3C-8CAF75C8D6E9}"/>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E553E365-D354-3F82-CA83-108FC9376A62}"/>
              </a:ext>
            </a:extLst>
          </p:cNvPr>
          <p:cNvSpPr>
            <a:spLocks noGrp="1"/>
          </p:cNvSpPr>
          <p:nvPr>
            <p:ph type="sldNum" sz="quarter" idx="10"/>
          </p:nvPr>
        </p:nvSpPr>
        <p:spPr/>
        <p:txBody>
          <a:bodyPr/>
          <a:lstStyle/>
          <a:p>
            <a:fld id="{022E43C0-6795-4B13-B37C-259C826D4B6A}" type="slidenum">
              <a:rPr kumimoji="1" lang="ja-JP" altLang="en-US" smtClean="0"/>
              <a:t>14</a:t>
            </a:fld>
            <a:endParaRPr kumimoji="1" lang="ja-JP" altLang="en-US"/>
          </a:p>
        </p:txBody>
      </p:sp>
    </p:spTree>
    <p:extLst>
      <p:ext uri="{BB962C8B-B14F-4D97-AF65-F5344CB8AC3E}">
        <p14:creationId xmlns:p14="http://schemas.microsoft.com/office/powerpoint/2010/main" val="18155914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CDBF5B-1845-D193-7974-D86F6501AAA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241EA19-E230-7BF9-50E1-64D71F07CF8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00FCC320-6462-2E53-372E-51E35D6A4C3A}"/>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91D45867-3EDE-BF64-D973-FA5EA5D84F7E}"/>
              </a:ext>
            </a:extLst>
          </p:cNvPr>
          <p:cNvSpPr>
            <a:spLocks noGrp="1"/>
          </p:cNvSpPr>
          <p:nvPr>
            <p:ph type="sldNum" sz="quarter" idx="10"/>
          </p:nvPr>
        </p:nvSpPr>
        <p:spPr/>
        <p:txBody>
          <a:bodyPr/>
          <a:lstStyle/>
          <a:p>
            <a:fld id="{022E43C0-6795-4B13-B37C-259C826D4B6A}" type="slidenum">
              <a:rPr kumimoji="1" lang="ja-JP" altLang="en-US" smtClean="0"/>
              <a:t>15</a:t>
            </a:fld>
            <a:endParaRPr kumimoji="1" lang="ja-JP" altLang="en-US"/>
          </a:p>
        </p:txBody>
      </p:sp>
    </p:spTree>
    <p:extLst>
      <p:ext uri="{BB962C8B-B14F-4D97-AF65-F5344CB8AC3E}">
        <p14:creationId xmlns:p14="http://schemas.microsoft.com/office/powerpoint/2010/main" val="65149959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solidFill>
                <a:schemeClr val="tx1">
                  <a:lumMod val="65000"/>
                  <a:lumOff val="35000"/>
                </a:schemeClr>
              </a:solidFill>
            </a:endParaRPr>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28</a:t>
            </a:fld>
            <a:endParaRPr kumimoji="1" lang="ja-JP" altLang="en-US"/>
          </a:p>
        </p:txBody>
      </p:sp>
    </p:spTree>
    <p:extLst>
      <p:ext uri="{BB962C8B-B14F-4D97-AF65-F5344CB8AC3E}">
        <p14:creationId xmlns:p14="http://schemas.microsoft.com/office/powerpoint/2010/main" val="152232489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29</a:t>
            </a:fld>
            <a:endParaRPr kumimoji="1" lang="ja-JP" altLang="en-US"/>
          </a:p>
        </p:txBody>
      </p:sp>
    </p:spTree>
    <p:extLst>
      <p:ext uri="{BB962C8B-B14F-4D97-AF65-F5344CB8AC3E}">
        <p14:creationId xmlns:p14="http://schemas.microsoft.com/office/powerpoint/2010/main" val="183506441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DB6ADA-9EE0-91AA-01F0-865797FB336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48D7824-B497-EEC9-3C27-6A309145FC0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893DCE5-B0D5-3EB2-202E-F260807F7109}"/>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F8AE7A32-4756-AD3E-9E41-6DB0BE31AC45}"/>
              </a:ext>
            </a:extLst>
          </p:cNvPr>
          <p:cNvSpPr>
            <a:spLocks noGrp="1"/>
          </p:cNvSpPr>
          <p:nvPr>
            <p:ph type="sldNum" sz="quarter" idx="10"/>
          </p:nvPr>
        </p:nvSpPr>
        <p:spPr/>
        <p:txBody>
          <a:bodyPr/>
          <a:lstStyle/>
          <a:p>
            <a:fld id="{022E43C0-6795-4B13-B37C-259C826D4B6A}" type="slidenum">
              <a:rPr kumimoji="1" lang="ja-JP" altLang="en-US" smtClean="0"/>
              <a:t>30</a:t>
            </a:fld>
            <a:endParaRPr kumimoji="1" lang="ja-JP" altLang="en-US"/>
          </a:p>
        </p:txBody>
      </p:sp>
    </p:spTree>
    <p:extLst>
      <p:ext uri="{BB962C8B-B14F-4D97-AF65-F5344CB8AC3E}">
        <p14:creationId xmlns:p14="http://schemas.microsoft.com/office/powerpoint/2010/main" val="322614683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31</a:t>
            </a:fld>
            <a:endParaRPr kumimoji="1" lang="ja-JP" altLang="en-US"/>
          </a:p>
        </p:txBody>
      </p:sp>
    </p:spTree>
    <p:extLst>
      <p:ext uri="{BB962C8B-B14F-4D97-AF65-F5344CB8AC3E}">
        <p14:creationId xmlns:p14="http://schemas.microsoft.com/office/powerpoint/2010/main" val="371762245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EE855B-5535-79F7-D3A0-C0A506787C8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C6FB8FB-0888-2275-ABE8-A13FDAA10E3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2D71EA6C-9577-A559-064D-4DE5700FB2FB}"/>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1C4F904-4503-6BD1-FC32-6AA038134FF0}"/>
              </a:ext>
            </a:extLst>
          </p:cNvPr>
          <p:cNvSpPr>
            <a:spLocks noGrp="1"/>
          </p:cNvSpPr>
          <p:nvPr>
            <p:ph type="sldNum" sz="quarter" idx="10"/>
          </p:nvPr>
        </p:nvSpPr>
        <p:spPr/>
        <p:txBody>
          <a:bodyPr/>
          <a:lstStyle/>
          <a:p>
            <a:fld id="{022E43C0-6795-4B13-B37C-259C826D4B6A}" type="slidenum">
              <a:rPr kumimoji="1" lang="ja-JP" altLang="en-US" smtClean="0"/>
              <a:t>33</a:t>
            </a:fld>
            <a:endParaRPr kumimoji="1" lang="ja-JP" altLang="en-US"/>
          </a:p>
        </p:txBody>
      </p:sp>
    </p:spTree>
    <p:extLst>
      <p:ext uri="{BB962C8B-B14F-4D97-AF65-F5344CB8AC3E}">
        <p14:creationId xmlns:p14="http://schemas.microsoft.com/office/powerpoint/2010/main" val="24795380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34</a:t>
            </a:fld>
            <a:endParaRPr kumimoji="1" lang="ja-JP" altLang="en-US"/>
          </a:p>
        </p:txBody>
      </p:sp>
    </p:spTree>
    <p:extLst>
      <p:ext uri="{BB962C8B-B14F-4D97-AF65-F5344CB8AC3E}">
        <p14:creationId xmlns:p14="http://schemas.microsoft.com/office/powerpoint/2010/main" val="298542484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35</a:t>
            </a:fld>
            <a:endParaRPr kumimoji="1" lang="ja-JP" altLang="en-US"/>
          </a:p>
        </p:txBody>
      </p:sp>
    </p:spTree>
    <p:extLst>
      <p:ext uri="{BB962C8B-B14F-4D97-AF65-F5344CB8AC3E}">
        <p14:creationId xmlns:p14="http://schemas.microsoft.com/office/powerpoint/2010/main" val="237052644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BED428-D571-14FF-D396-D7175DA0FB5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271AB2A-80AE-D1AA-E70B-86CDF935054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6C0C2926-5D95-6624-6AD9-E45C5528979C}"/>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0B6DFD87-0439-882A-B65E-9CEE51F20332}"/>
              </a:ext>
            </a:extLst>
          </p:cNvPr>
          <p:cNvSpPr>
            <a:spLocks noGrp="1"/>
          </p:cNvSpPr>
          <p:nvPr>
            <p:ph type="sldNum" sz="quarter" idx="10"/>
          </p:nvPr>
        </p:nvSpPr>
        <p:spPr/>
        <p:txBody>
          <a:bodyPr/>
          <a:lstStyle/>
          <a:p>
            <a:fld id="{022E43C0-6795-4B13-B37C-259C826D4B6A}" type="slidenum">
              <a:rPr kumimoji="1" lang="ja-JP" altLang="en-US" smtClean="0"/>
              <a:t>36</a:t>
            </a:fld>
            <a:endParaRPr kumimoji="1" lang="ja-JP" altLang="en-US"/>
          </a:p>
        </p:txBody>
      </p:sp>
    </p:spTree>
    <p:extLst>
      <p:ext uri="{BB962C8B-B14F-4D97-AF65-F5344CB8AC3E}">
        <p14:creationId xmlns:p14="http://schemas.microsoft.com/office/powerpoint/2010/main" val="110140536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7E86F-A6D1-E87A-0CDF-967B15A6E03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EB2A411-33D2-6528-1C93-D186B198494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6218984-9375-B358-47D3-58B36CCF8DAE}"/>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51F039DC-7BEC-8764-B0DE-E4A154E5A1A8}"/>
              </a:ext>
            </a:extLst>
          </p:cNvPr>
          <p:cNvSpPr>
            <a:spLocks noGrp="1"/>
          </p:cNvSpPr>
          <p:nvPr>
            <p:ph type="sldNum" sz="quarter" idx="10"/>
          </p:nvPr>
        </p:nvSpPr>
        <p:spPr/>
        <p:txBody>
          <a:bodyPr/>
          <a:lstStyle/>
          <a:p>
            <a:fld id="{022E43C0-6795-4B13-B37C-259C826D4B6A}" type="slidenum">
              <a:rPr kumimoji="1" lang="ja-JP" altLang="en-US" smtClean="0"/>
              <a:t>38</a:t>
            </a:fld>
            <a:endParaRPr kumimoji="1" lang="ja-JP" altLang="en-US"/>
          </a:p>
        </p:txBody>
      </p:sp>
    </p:spTree>
    <p:extLst>
      <p:ext uri="{BB962C8B-B14F-4D97-AF65-F5344CB8AC3E}">
        <p14:creationId xmlns:p14="http://schemas.microsoft.com/office/powerpoint/2010/main" val="239023445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フッター プレースホルダー 3"/>
          <p:cNvSpPr>
            <a:spLocks noGrp="1"/>
          </p:cNvSpPr>
          <p:nvPr>
            <p:ph type="ftr" sz="quarter" idx="10"/>
          </p:nvPr>
        </p:nvSpPr>
        <p:spPr/>
        <p:txBody>
          <a:bodyPr/>
          <a:lstStyle/>
          <a:p>
            <a:pPr defTabSz="956886">
              <a:defRPr/>
            </a:pPr>
            <a:endParaRPr lang="ja-JP" altLang="en-US">
              <a:solidFill>
                <a:prstClr val="black"/>
              </a:solidFill>
              <a:latin typeface="Calibri"/>
              <a:ea typeface="ＭＳ Ｐゴシック" panose="020B0600070205080204" pitchFamily="50" charset="-128"/>
            </a:endParaRPr>
          </a:p>
        </p:txBody>
      </p:sp>
      <p:sp>
        <p:nvSpPr>
          <p:cNvPr id="5" name="スライド番号プレースホルダー 4"/>
          <p:cNvSpPr>
            <a:spLocks noGrp="1"/>
          </p:cNvSpPr>
          <p:nvPr>
            <p:ph type="sldNum" sz="quarter" idx="11"/>
          </p:nvPr>
        </p:nvSpPr>
        <p:spPr/>
        <p:txBody>
          <a:bodyPr/>
          <a:lstStyle/>
          <a:p>
            <a:pPr defTabSz="956886">
              <a:defRPr/>
            </a:pPr>
            <a:fld id="{929202D6-C1F5-472A-A72F-285F233F82C2}" type="slidenum">
              <a:rPr lang="ja-JP" altLang="en-US">
                <a:solidFill>
                  <a:prstClr val="black"/>
                </a:solidFill>
                <a:latin typeface="Calibri"/>
                <a:ea typeface="ＭＳ Ｐゴシック" panose="020B0600070205080204" pitchFamily="50" charset="-128"/>
              </a:rPr>
              <a:pPr defTabSz="956886">
                <a:defRPr/>
              </a:pPr>
              <a:t>47</a:t>
            </a:fld>
            <a:endParaRPr lang="ja-JP" altLang="en-US">
              <a:solidFill>
                <a:prstClr val="black"/>
              </a:solidFill>
              <a:latin typeface="Calibri"/>
              <a:ea typeface="ＭＳ Ｐゴシック" panose="020B0600070205080204" pitchFamily="50" charset="-128"/>
            </a:endParaRPr>
          </a:p>
        </p:txBody>
      </p:sp>
    </p:spTree>
    <p:extLst>
      <p:ext uri="{BB962C8B-B14F-4D97-AF65-F5344CB8AC3E}">
        <p14:creationId xmlns:p14="http://schemas.microsoft.com/office/powerpoint/2010/main" val="37920873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2_タイトルとコンテンツ">
    <p:spTree>
      <p:nvGrpSpPr>
        <p:cNvPr id="1" name=""/>
        <p:cNvGrpSpPr/>
        <p:nvPr/>
      </p:nvGrpSpPr>
      <p:grpSpPr>
        <a:xfrm>
          <a:off x="0" y="0"/>
          <a:ext cx="0" cy="0"/>
          <a:chOff x="0" y="0"/>
          <a:chExt cx="0" cy="0"/>
        </a:xfrm>
      </p:grpSpPr>
      <p:sp>
        <p:nvSpPr>
          <p:cNvPr id="2" name="正方形/長方形 1"/>
          <p:cNvSpPr/>
          <p:nvPr userDrawn="1"/>
        </p:nvSpPr>
        <p:spPr>
          <a:xfrm>
            <a:off x="9398000" y="6591300"/>
            <a:ext cx="419100" cy="26670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758107768"/>
      </p:ext>
    </p:extLst>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4_タイトルとコンテンツ">
    <p:spTree>
      <p:nvGrpSpPr>
        <p:cNvPr id="1" name=""/>
        <p:cNvGrpSpPr/>
        <p:nvPr/>
      </p:nvGrpSpPr>
      <p:grpSpPr>
        <a:xfrm>
          <a:off x="0" y="0"/>
          <a:ext cx="0" cy="0"/>
          <a:chOff x="0" y="0"/>
          <a:chExt cx="0" cy="0"/>
        </a:xfrm>
      </p:grpSpPr>
      <p:cxnSp>
        <p:nvCxnSpPr>
          <p:cNvPr id="5" name="直線コネクタ 4"/>
          <p:cNvCxnSpPr/>
          <p:nvPr/>
        </p:nvCxnSpPr>
        <p:spPr>
          <a:xfrm>
            <a:off x="0" y="548680"/>
            <a:ext cx="9906000" cy="0"/>
          </a:xfrm>
          <a:prstGeom prst="line">
            <a:avLst/>
          </a:prstGeom>
          <a:ln>
            <a:solidFill>
              <a:srgbClr val="191F54"/>
            </a:solidFill>
          </a:ln>
          <a:effectLst/>
        </p:spPr>
        <p:style>
          <a:lnRef idx="2">
            <a:schemeClr val="accent1"/>
          </a:lnRef>
          <a:fillRef idx="0">
            <a:schemeClr val="accent1"/>
          </a:fillRef>
          <a:effectRef idx="1">
            <a:schemeClr val="accent1"/>
          </a:effectRef>
          <a:fontRef idx="minor">
            <a:schemeClr val="tx1"/>
          </a:fontRef>
        </p:style>
      </p:cxnSp>
      <p:sp>
        <p:nvSpPr>
          <p:cNvPr id="7" name="正方形/長方形 6"/>
          <p:cNvSpPr/>
          <p:nvPr/>
        </p:nvSpPr>
        <p:spPr>
          <a:xfrm>
            <a:off x="0" y="0"/>
            <a:ext cx="451204"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Tree>
    <p:extLst>
      <p:ext uri="{BB962C8B-B14F-4D97-AF65-F5344CB8AC3E}">
        <p14:creationId xmlns:p14="http://schemas.microsoft.com/office/powerpoint/2010/main" val="1958189266"/>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タイトル スライド">
    <p:spTree>
      <p:nvGrpSpPr>
        <p:cNvPr id="1" name=""/>
        <p:cNvGrpSpPr/>
        <p:nvPr/>
      </p:nvGrpSpPr>
      <p:grpSpPr>
        <a:xfrm>
          <a:off x="0" y="0"/>
          <a:ext cx="0" cy="0"/>
          <a:chOff x="0" y="0"/>
          <a:chExt cx="0" cy="0"/>
        </a:xfrm>
      </p:grpSpPr>
    </p:spTree>
    <p:extLst>
      <p:ext uri="{BB962C8B-B14F-4D97-AF65-F5344CB8AC3E}">
        <p14:creationId xmlns:p14="http://schemas.microsoft.com/office/powerpoint/2010/main" val="378521234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図 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151357" y="72255"/>
            <a:ext cx="1598627" cy="424153"/>
          </a:xfrm>
          <a:prstGeom prst="rect">
            <a:avLst/>
          </a:prstGeom>
        </p:spPr>
      </p:pic>
      <p:pic>
        <p:nvPicPr>
          <p:cNvPr id="5" name="図 4"/>
          <p:cNvPicPr>
            <a:picLocks noChangeAspect="1"/>
          </p:cNvPicPr>
          <p:nvPr/>
        </p:nvPicPr>
        <p:blipFill>
          <a:blip r:embed="rId6"/>
          <a:stretch>
            <a:fillRect/>
          </a:stretch>
        </p:blipFill>
        <p:spPr>
          <a:xfrm>
            <a:off x="8151355" y="32333"/>
            <a:ext cx="1653069" cy="635796"/>
          </a:xfrm>
          <a:prstGeom prst="rect">
            <a:avLst/>
          </a:prstGeom>
        </p:spPr>
      </p:pic>
      <p:sp>
        <p:nvSpPr>
          <p:cNvPr id="6" name="正方形/長方形 5"/>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
        <p:nvSpPr>
          <p:cNvPr id="8" name="スライド番号プレースホルダ 1"/>
          <p:cNvSpPr txBox="1">
            <a:spLocks/>
          </p:cNvSpPr>
          <p:nvPr/>
        </p:nvSpPr>
        <p:spPr>
          <a:xfrm>
            <a:off x="7594600" y="6552729"/>
            <a:ext cx="2311400" cy="365125"/>
          </a:xfrm>
          <a:prstGeom prst="rect">
            <a:avLst/>
          </a:prstGeom>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b="1" smtClean="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pPr algn="r"/>
              <a:t>‹#›</a:t>
            </a:fld>
            <a:endParaRPr lang="ja-JP" altLang="en-US" sz="1400"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9" name="テキスト ボックス 8"/>
          <p:cNvSpPr txBox="1">
            <a:spLocks noChangeArrowheads="1"/>
          </p:cNvSpPr>
          <p:nvPr userDrawn="1"/>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schemeClr val="bg1"/>
                </a:solidFill>
                <a:latin typeface="メイリオ"/>
                <a:ea typeface="メイリオ"/>
                <a:cs typeface="メイリオ"/>
              </a:rPr>
              <a:t>Copyright(c) DYM Co., Ltd</a:t>
            </a:r>
            <a:r>
              <a:rPr lang="ja-JP" altLang="en-US" sz="800" b="1" dirty="0" err="1">
                <a:solidFill>
                  <a:schemeClr val="bg1"/>
                </a:solidFill>
                <a:latin typeface="メイリオ"/>
                <a:ea typeface="メイリオ"/>
                <a:cs typeface="メイリオ"/>
              </a:rPr>
              <a:t>．</a:t>
            </a:r>
            <a:r>
              <a:rPr lang="en-US" altLang="ja-JP" sz="800" b="1" dirty="0">
                <a:solidFill>
                  <a:schemeClr val="bg1"/>
                </a:solidFill>
                <a:latin typeface="メイリオ"/>
                <a:ea typeface="メイリオ"/>
                <a:cs typeface="メイリオ"/>
              </a:rPr>
              <a:t> All Rights Reserved.</a:t>
            </a:r>
          </a:p>
        </p:txBody>
      </p:sp>
    </p:spTree>
    <p:extLst>
      <p:ext uri="{BB962C8B-B14F-4D97-AF65-F5344CB8AC3E}">
        <p14:creationId xmlns:p14="http://schemas.microsoft.com/office/powerpoint/2010/main" val="345870335"/>
      </p:ext>
    </p:extLst>
  </p:cSld>
  <p:clrMap bg1="lt1" tx1="dk1" bg2="lt2" tx2="dk2" accent1="accent1" accent2="accent2" accent3="accent3" accent4="accent4" accent5="accent5" accent6="accent6" hlink="hlink" folHlink="folHlink"/>
  <p:sldLayoutIdLst>
    <p:sldLayoutId id="2147483676" r:id="rId1"/>
    <p:sldLayoutId id="2147483683" r:id="rId2"/>
    <p:sldLayoutId id="2147483689" r:id="rId3"/>
  </p:sldLayoutIdLst>
  <p:hf hdr="0" dt="0"/>
  <p:txStyles>
    <p:titleStyle>
      <a:lvl1pPr algn="ctr" rtl="0" eaLnBrk="1" fontAlgn="base" hangingPunct="1">
        <a:spcBef>
          <a:spcPct val="0"/>
        </a:spcBef>
        <a:spcAft>
          <a:spcPct val="0"/>
        </a:spcAft>
        <a:defRPr kumimoji="1" sz="4400" kern="1200">
          <a:solidFill>
            <a:schemeClr val="tx1"/>
          </a:solidFill>
          <a:latin typeface="+mj-lt"/>
          <a:ea typeface="+mj-ea"/>
          <a:cs typeface="+mj-cs"/>
        </a:defRPr>
      </a:lvl1pPr>
      <a:lvl2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2pPr>
      <a:lvl3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3pPr>
      <a:lvl4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4pPr>
      <a:lvl5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5pPr>
      <a:lvl6pPr marL="4572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6pPr>
      <a:lvl7pPr marL="9144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7pPr>
      <a:lvl8pPr marL="13716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8pPr>
      <a:lvl9pPr marL="18288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9pPr>
    </p:titleStyle>
    <p:bodyStyle>
      <a:lvl1pPr marL="342900" indent="-342900" algn="l" rtl="0" eaLnBrk="1" fontAlgn="base" hangingPunct="1">
        <a:spcBef>
          <a:spcPct val="20000"/>
        </a:spcBef>
        <a:spcAft>
          <a:spcPct val="0"/>
        </a:spcAft>
        <a:buFont typeface="Arial" charset="0"/>
        <a:buChar char="•"/>
        <a:defRPr kumimoji="1"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正方形/長方形 4"/>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sp>
        <p:nvSpPr>
          <p:cNvPr id="10" name="テキスト ボックス 9"/>
          <p:cNvSpPr txBox="1">
            <a:spLocks noChangeArrowheads="1"/>
          </p:cNvSpPr>
          <p:nvPr/>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prstClr val="white"/>
                </a:solidFill>
                <a:latin typeface="メイリオ"/>
                <a:ea typeface="メイリオ"/>
                <a:cs typeface="メイリオ"/>
              </a:rPr>
              <a:t>Copyright(c) DYM Co., </a:t>
            </a:r>
            <a:r>
              <a:rPr lang="en-US" altLang="ja-JP" sz="800" b="1" dirty="0" err="1">
                <a:solidFill>
                  <a:prstClr val="white"/>
                </a:solidFill>
                <a:latin typeface="メイリオ"/>
                <a:ea typeface="メイリオ"/>
                <a:cs typeface="メイリオ"/>
              </a:rPr>
              <a:t>Ltd.All</a:t>
            </a:r>
            <a:r>
              <a:rPr lang="en-US" altLang="ja-JP" sz="800" b="1" dirty="0">
                <a:solidFill>
                  <a:prstClr val="white"/>
                </a:solidFill>
                <a:latin typeface="メイリオ"/>
                <a:ea typeface="メイリオ"/>
                <a:cs typeface="メイリオ"/>
              </a:rPr>
              <a:t> Rights Reserved.</a:t>
            </a:r>
          </a:p>
        </p:txBody>
      </p:sp>
      <p:sp>
        <p:nvSpPr>
          <p:cNvPr id="8" name="正方形/長方形 7"/>
          <p:cNvSpPr/>
          <p:nvPr/>
        </p:nvSpPr>
        <p:spPr>
          <a:xfrm>
            <a:off x="0" y="0"/>
            <a:ext cx="416496"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cxnSp>
        <p:nvCxnSpPr>
          <p:cNvPr id="4" name="直線コネクタ 3"/>
          <p:cNvCxnSpPr/>
          <p:nvPr/>
        </p:nvCxnSpPr>
        <p:spPr>
          <a:xfrm>
            <a:off x="0" y="548680"/>
            <a:ext cx="9906000" cy="0"/>
          </a:xfrm>
          <a:prstGeom prst="line">
            <a:avLst/>
          </a:prstGeom>
          <a:ln>
            <a:solidFill>
              <a:srgbClr val="00324B"/>
            </a:solidFill>
          </a:ln>
          <a:effectLst/>
        </p:spPr>
        <p:style>
          <a:lnRef idx="2">
            <a:schemeClr val="accent1"/>
          </a:lnRef>
          <a:fillRef idx="0">
            <a:schemeClr val="accent1"/>
          </a:fillRef>
          <a:effectRef idx="1">
            <a:schemeClr val="accent1"/>
          </a:effectRef>
          <a:fontRef idx="minor">
            <a:schemeClr val="tx1"/>
          </a:fontRef>
        </p:style>
      </p:cxnSp>
      <p:pic>
        <p:nvPicPr>
          <p:cNvPr id="9" name="図 1"/>
          <p:cNvPicPr>
            <a:picLocks/>
          </p:cNvPicPr>
          <p:nvPr userDrawn="1"/>
        </p:nvPicPr>
        <p:blipFill rotWithShape="1">
          <a:blip r:embed="rId2" cstate="hqprint">
            <a:extLst>
              <a:ext uri="{28A0092B-C50C-407E-A947-70E740481C1C}">
                <a14:useLocalDpi xmlns:a14="http://schemas.microsoft.com/office/drawing/2010/main" val="0"/>
              </a:ext>
            </a:extLst>
          </a:blip>
          <a:srcRect l="-1647" r="-11171"/>
          <a:stretch/>
        </p:blipFill>
        <p:spPr bwMode="auto">
          <a:xfrm>
            <a:off x="8619408" y="161057"/>
            <a:ext cx="1192729" cy="2633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スライド番号プレースホルダ 1"/>
          <p:cNvSpPr txBox="1">
            <a:spLocks/>
          </p:cNvSpPr>
          <p:nvPr userDrawn="1"/>
        </p:nvSpPr>
        <p:spPr>
          <a:xfrm>
            <a:off x="7545288" y="6571255"/>
            <a:ext cx="2133600" cy="216000"/>
          </a:xfrm>
          <a:prstGeom prst="rect">
            <a:avLst/>
          </a:prstGeom>
        </p:spPr>
        <p:txBody>
          <a:bodyPr tIns="2520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i="1" smtClean="0">
                <a:solidFill>
                  <a:prstClr val="white"/>
                </a:solidFill>
                <a:latin typeface="Century Gothic" panose="020B0502020202020204" pitchFamily="34" charset="0"/>
              </a:rPr>
              <a:pPr algn="r"/>
              <a:t>‹#›</a:t>
            </a:fld>
            <a:endParaRPr lang="ja-JP" altLang="en-US" sz="1400" i="1" dirty="0">
              <a:solidFill>
                <a:prstClr val="white"/>
              </a:solidFill>
              <a:latin typeface="Century Gothic" panose="020B0502020202020204" pitchFamily="34" charset="0"/>
            </a:endParaRPr>
          </a:p>
        </p:txBody>
      </p:sp>
    </p:spTree>
    <p:extLst>
      <p:ext uri="{BB962C8B-B14F-4D97-AF65-F5344CB8AC3E}">
        <p14:creationId xmlns:p14="http://schemas.microsoft.com/office/powerpoint/2010/main" val="611138245"/>
      </p:ext>
    </p:extLst>
  </p:cSld>
  <p:clrMap bg1="lt1" tx1="dk1" bg2="lt2" tx2="dk2" accent1="accent1" accent2="accent2" accent3="accent3" accent4="accent4" accent5="accent5" accent6="accent6" hlink="hlink" folHlink="folHlink"/>
  <p:hf hdr="0" dt="0"/>
  <p:txStyles>
    <p:titleStyle>
      <a:lvl1pPr algn="ctr" defTabSz="457200" rtl="0" eaLnBrk="1" fontAlgn="base" hangingPunct="1">
        <a:spcBef>
          <a:spcPct val="0"/>
        </a:spcBef>
        <a:spcAft>
          <a:spcPct val="0"/>
        </a:spcAft>
        <a:defRPr kumimoji="1" sz="4400" kern="1200">
          <a:solidFill>
            <a:schemeClr val="tx1"/>
          </a:solidFill>
          <a:latin typeface="+mj-lt"/>
          <a:ea typeface="+mj-ea"/>
          <a:cs typeface="ＭＳ Ｐゴシック" charset="0"/>
        </a:defRPr>
      </a:lvl1pPr>
      <a:lvl2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2pPr>
      <a:lvl3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3pPr>
      <a:lvl4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4pPr>
      <a:lvl5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5pPr>
      <a:lvl6pPr marL="4572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6pPr>
      <a:lvl7pPr marL="9144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7pPr>
      <a:lvl8pPr marL="13716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8pPr>
      <a:lvl9pPr marL="18288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9pPr>
    </p:titleStyle>
    <p:bodyStyle>
      <a:lvl1pPr marL="342900" indent="-342900" algn="l" defTabSz="457200" rtl="0" eaLnBrk="1" fontAlgn="base" hangingPunct="1">
        <a:spcBef>
          <a:spcPct val="20000"/>
        </a:spcBef>
        <a:spcAft>
          <a:spcPct val="0"/>
        </a:spcAft>
        <a:buFont typeface="Arial" charset="0"/>
        <a:buChar char="•"/>
        <a:defRPr kumimoji="1" sz="3200" kern="1200">
          <a:solidFill>
            <a:schemeClr val="tx1"/>
          </a:solidFill>
          <a:latin typeface="+mn-lt"/>
          <a:ea typeface="+mn-ea"/>
          <a:cs typeface="ＭＳ Ｐゴシック" charset="0"/>
        </a:defRPr>
      </a:lvl1pPr>
      <a:lvl2pPr marL="742950" indent="-285750" algn="l" defTabSz="457200"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defTabSz="457200"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9pPr>
    </p:bodyStyle>
    <p:otherStyle>
      <a:defPPr>
        <a:defRPr lang="ja-JP"/>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7.jpe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9.jpeg"/><Relationship Id="rId5" Type="http://schemas.openxmlformats.org/officeDocument/2006/relationships/image" Target="../media/image8.jpeg"/><Relationship Id="rId4" Type="http://schemas.openxmlformats.org/officeDocument/2006/relationships/image" Target="../media/image7.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www.athome.co.jp/corporate/news/data/questionnaire/yondai-news-202512/" TargetMode="External"/><Relationship Id="rId3" Type="http://schemas.openxmlformats.org/officeDocument/2006/relationships/hyperlink" Target="https://www.athome.co.jp/corporate/news/data/questionnaire/online-chintai-202510/" TargetMode="External"/><Relationship Id="rId4" Type="http://schemas.openxmlformats.org/officeDocument/2006/relationships/hyperlink" Target="https://100en.net/"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www.athome.co.jp/corporate/news/data/questionnaire/online-chintai-202510/" TargetMode="External"/><Relationship Id="rId3" Type="http://schemas.openxmlformats.org/officeDocument/2006/relationships/hyperlink" Target="https://tadasumu.com/" TargetMode="External"/><Relationship Id="rId4" Type="http://schemas.openxmlformats.org/officeDocument/2006/relationships/hyperlink" Target="https://tadasumu.com/navi/tadasumu-toha/" TargetMode="External"/><Relationship Id="rId5" Type="http://schemas.openxmlformats.org/officeDocument/2006/relationships/hyperlink" Target="https://100en.net/" TargetMode="Externa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5" Type="http://schemas.openxmlformats.org/officeDocument/2006/relationships/image" Target="../media/image13.jpeg"/><Relationship Id="rId4" Type="http://schemas.openxmlformats.org/officeDocument/2006/relationships/image" Target="../media/image12.png"/></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2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2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26.jpeg"/><Relationship Id="rId7" Type="http://schemas.openxmlformats.org/officeDocument/2006/relationships/image" Target="../media/image30.png"/><Relationship Id="rId2" Type="http://schemas.openxmlformats.org/officeDocument/2006/relationships/image" Target="../media/image25.jpeg"/><Relationship Id="rId1" Type="http://schemas.openxmlformats.org/officeDocument/2006/relationships/slideLayout" Target="../slideLayouts/slideLayout2.xml"/><Relationship Id="rId6" Type="http://schemas.openxmlformats.org/officeDocument/2006/relationships/image" Target="../media/image29.jpeg"/><Relationship Id="rId5" Type="http://schemas.openxmlformats.org/officeDocument/2006/relationships/image" Target="../media/image28.png"/><Relationship Id="rId10" Type="http://schemas.openxmlformats.org/officeDocument/2006/relationships/image" Target="../media/image33.jpeg"/><Relationship Id="rId4" Type="http://schemas.openxmlformats.org/officeDocument/2006/relationships/image" Target="../media/image27.png"/><Relationship Id="rId9" Type="http://schemas.openxmlformats.org/officeDocument/2006/relationships/image" Target="../media/image3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34.png"/><Relationship Id="rId7" Type="http://schemas.openxmlformats.org/officeDocument/2006/relationships/image" Target="../media/image38.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37.png"/><Relationship Id="rId5" Type="http://schemas.openxmlformats.org/officeDocument/2006/relationships/image" Target="../media/image36.png"/><Relationship Id="rId10" Type="http://schemas.openxmlformats.org/officeDocument/2006/relationships/image" Target="../media/image41.png"/><Relationship Id="rId4" Type="http://schemas.openxmlformats.org/officeDocument/2006/relationships/image" Target="../media/image35.png"/><Relationship Id="rId9" Type="http://schemas.openxmlformats.org/officeDocument/2006/relationships/image" Target="../media/image40.png"/></Relationships>
</file>

<file path=ppt/slides/_rels/slide2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43.png"/></Relationships>
</file>

<file path=ppt/slides/_rels/slide30.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4.png"/><Relationship Id="rId7" Type="http://schemas.openxmlformats.org/officeDocument/2006/relationships/image" Target="../media/image48.sv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45.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50.sv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53.svg"/><Relationship Id="rId5" Type="http://schemas.openxmlformats.org/officeDocument/2006/relationships/image" Target="../media/image52.svg"/><Relationship Id="rId4" Type="http://schemas.openxmlformats.org/officeDocument/2006/relationships/image" Target="../media/image51.sv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55.png"/><Relationship Id="rId7" Type="http://schemas.openxmlformats.org/officeDocument/2006/relationships/image" Target="../media/image59.png"/><Relationship Id="rId2" Type="http://schemas.openxmlformats.org/officeDocument/2006/relationships/image" Target="../media/image54.png"/><Relationship Id="rId1" Type="http://schemas.openxmlformats.org/officeDocument/2006/relationships/slideLayout" Target="../slideLayouts/slideLayout2.xml"/><Relationship Id="rId6" Type="http://schemas.openxmlformats.org/officeDocument/2006/relationships/image" Target="../media/image58.png"/><Relationship Id="rId5" Type="http://schemas.openxmlformats.org/officeDocument/2006/relationships/image" Target="../media/image57.png"/><Relationship Id="rId4" Type="http://schemas.openxmlformats.org/officeDocument/2006/relationships/image" Target="../media/image56.png"/></Relationships>
</file>

<file path=ppt/slides/_rels/slide41.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2.xml"/><Relationship Id="rId4" Type="http://schemas.openxmlformats.org/officeDocument/2006/relationships/image" Target="../media/image62.png"/></Relationships>
</file>

<file path=ppt/slides/_rels/slide42.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slideLayout" Target="../slideLayouts/slideLayout2.xml"/><Relationship Id="rId4" Type="http://schemas.openxmlformats.org/officeDocument/2006/relationships/image" Target="../media/image68.png"/></Relationships>
</file>

<file path=ppt/slides/_rels/slide47.xml.rels><?xml version="1.0" encoding="UTF-8" standalone="yes"?>
<Relationships xmlns="http://schemas.openxmlformats.org/package/2006/relationships"><Relationship Id="rId8" Type="http://schemas.openxmlformats.org/officeDocument/2006/relationships/image" Target="../media/image73.jpeg"/><Relationship Id="rId3" Type="http://schemas.openxmlformats.org/officeDocument/2006/relationships/image" Target="../media/image3.emf"/><Relationship Id="rId7" Type="http://schemas.openxmlformats.org/officeDocument/2006/relationships/image" Target="../media/image72.jpeg"/><Relationship Id="rId2" Type="http://schemas.openxmlformats.org/officeDocument/2006/relationships/notesSlide" Target="../notesSlides/notesSlide21.xml"/><Relationship Id="rId1" Type="http://schemas.openxmlformats.org/officeDocument/2006/relationships/slideLayout" Target="../slideLayouts/slideLayout3.xml"/><Relationship Id="rId6" Type="http://schemas.openxmlformats.org/officeDocument/2006/relationships/image" Target="../media/image71.jpeg"/><Relationship Id="rId5" Type="http://schemas.openxmlformats.org/officeDocument/2006/relationships/image" Target="../media/image70.jpeg"/><Relationship Id="rId4" Type="http://schemas.openxmlformats.org/officeDocument/2006/relationships/image" Target="../media/image69.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69A0322D-BA5F-9122-1E12-FB7AC2AF15A5}"/>
              </a:ext>
            </a:extLst>
          </p:cNvPr>
          <p:cNvSpPr/>
          <p:nvPr/>
        </p:nvSpPr>
        <p:spPr>
          <a:xfrm>
            <a:off x="1665887" y="2103120"/>
            <a:ext cx="6574236" cy="584775"/>
          </a:xfrm>
          <a:prstGeom prst="rect">
            <a:avLst/>
          </a:prstGeom>
        </p:spPr>
        <p:txBody>
          <a:bodyPr wrap="none">
            <a:spAutoFit/>
          </a:bodyPr>
          <a:lstStyle/>
          <a:p>
            <a:pPr algn="ctr"/>
            <a:r>
              <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公式アカウント運用のご提案</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6" name="正方形/長方形 5">
            <a:extLst>
              <a:ext uri="{FF2B5EF4-FFF2-40B4-BE49-F238E27FC236}">
                <a16:creationId xmlns:a16="http://schemas.microsoft.com/office/drawing/2014/main" id="{3CC59398-53B4-E01E-A60C-6C13628FCBFB}"/>
              </a:ext>
            </a:extLst>
          </p:cNvPr>
          <p:cNvSpPr/>
          <p:nvPr/>
        </p:nvSpPr>
        <p:spPr>
          <a:xfrm>
            <a:off x="1335024" y="2999232"/>
            <a:ext cx="7232904" cy="1051560"/>
          </a:xfrm>
          <a:prstGeom prst="rect">
            <a:avLst/>
          </a:prstGeom>
          <a:solidFill>
            <a:srgbClr val="F4F7FF"/>
          </a:solidFill>
          <a:ln>
            <a:noFill/>
          </a:ln>
        </p:spPr>
        <p:txBody>
          <a:bodyPr wrap="square" lIns="182880" tIns="91440" rIns="182880" bIns="91440" anchor="ctr">
            <a:noAutofit/>
          </a:bodyPr>
          <a:lstStyle/>
          <a:p>
            <a:pPr algn="ctr"/>
            <a:r>
              <a:rPr lang="ja-JP" altLang="en-US" sz="2200" dirty="0" b="1">
                <a:solidFill>
                  <a:srgbClr val="1F285A"/>
                </a:solidFill>
                <a:latin typeface="Meiryo" panose="020B0604030504040204" pitchFamily="34" charset="-128"/>
                <a:ea typeface="Meiryo" panose="020B0604030504040204" pitchFamily="34" charset="-128"/>
              </a:rPr>
              <a:t>LINEへの流入と友だち追加後の導線を整備し、</a:t>
            </a:r>
          </a:p>
          <a:p>
            <a:pPr algn="ctr"/>
            <a:r>
              <a:rPr lang="ja-JP" altLang="en-US" sz="2200" dirty="0" b="1">
                <a:solidFill>
                  <a:srgbClr val="C00000"/>
                </a:solidFill>
                <a:latin typeface="Meiryo" panose="020B0604030504040204" pitchFamily="34" charset="-128"/>
                <a:ea typeface="Meiryo" panose="020B0604030504040204" pitchFamily="34" charset="-128"/>
              </a:rPr>
              <a:t>物件問い合わせの増加</a:t>
            </a:r>
            <a:r>
              <a:rPr lang="ja-JP" altLang="en-US" sz="2200" dirty="0" b="1">
                <a:solidFill>
                  <a:srgbClr val="1F285A"/>
                </a:solidFill>
                <a:latin typeface="Meiryo" panose="020B0604030504040204" pitchFamily="34" charset="-128"/>
                <a:ea typeface="Meiryo" panose="020B0604030504040204" pitchFamily="34" charset="-128"/>
              </a:rPr>
              <a:t>を実現する</a:t>
            </a:r>
          </a:p>
        </p:txBody>
      </p:sp>
      <p:cxnSp>
        <p:nvCxnSpPr>
          <p:cNvPr id="5" name="直線コネクタ 4">
            <a:extLst>
              <a:ext uri="{FF2B5EF4-FFF2-40B4-BE49-F238E27FC236}">
                <a16:creationId xmlns:a16="http://schemas.microsoft.com/office/drawing/2014/main" id="{B532C1C8-7FE6-8830-B27C-27941421F5F9}"/>
              </a:ext>
            </a:extLst>
          </p:cNvPr>
          <p:cNvCxnSpPr>
            <a:cxnSpLocks/>
          </p:cNvCxnSpPr>
          <p:nvPr/>
        </p:nvCxnSpPr>
        <p:spPr>
          <a:xfrm>
            <a:off x="1337175" y="2770632"/>
            <a:ext cx="7231660" cy="0"/>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9" name="図 8" descr="背景パターン&#10;&#10;AI 生成コンテンツは誤りを含む可能性があります。">
            <a:extLst>
              <a:ext uri="{FF2B5EF4-FFF2-40B4-BE49-F238E27FC236}">
                <a16:creationId xmlns:a16="http://schemas.microsoft.com/office/drawing/2014/main" id="{FFE022E1-8FF6-B4B4-B955-17E7CFA96460}"/>
              </a:ext>
            </a:extLst>
          </p:cNvPr>
          <p:cNvPicPr>
            <a:picLocks noChangeAspect="1"/>
          </p:cNvPicPr>
          <p:nvPr/>
        </p:nvPicPr>
        <p:blipFill>
          <a:blip r:embed="rId2"/>
          <a:stretch>
            <a:fillRect/>
          </a:stretch>
        </p:blipFill>
        <p:spPr>
          <a:xfrm>
            <a:off x="-1" y="0"/>
            <a:ext cx="8159931" cy="766354"/>
          </a:xfrm>
          <a:prstGeom prst="rect">
            <a:avLst/>
          </a:prstGeom>
        </p:spPr>
      </p:pic>
      <p:pic>
        <p:nvPicPr>
          <p:cNvPr id="10" name="図 9" descr="背景パターン&#10;&#10;AI 生成コンテンツは誤りを含む可能性があります。">
            <a:extLst>
              <a:ext uri="{FF2B5EF4-FFF2-40B4-BE49-F238E27FC236}">
                <a16:creationId xmlns:a16="http://schemas.microsoft.com/office/drawing/2014/main" id="{0F2999B3-5873-C495-70F5-12487911C618}"/>
              </a:ext>
            </a:extLst>
          </p:cNvPr>
          <p:cNvPicPr>
            <a:picLocks noChangeAspect="1"/>
          </p:cNvPicPr>
          <p:nvPr/>
        </p:nvPicPr>
        <p:blipFill>
          <a:blip r:embed="rId2"/>
          <a:stretch>
            <a:fillRect/>
          </a:stretch>
        </p:blipFill>
        <p:spPr>
          <a:xfrm>
            <a:off x="7863840" y="494114"/>
            <a:ext cx="2042161" cy="272239"/>
          </a:xfrm>
          <a:prstGeom prst="rect">
            <a:avLst/>
          </a:prstGeom>
        </p:spPr>
      </p:pic>
      <p:sp>
        <p:nvSpPr>
          <p:cNvPr id="7" name="テキスト ボックス 6">
            <a:extLst>
              <a:ext uri="{FF2B5EF4-FFF2-40B4-BE49-F238E27FC236}">
                <a16:creationId xmlns:a16="http://schemas.microsoft.com/office/drawing/2014/main" id="{7170AE42-913D-895E-A1DE-6A899FE53370}"/>
              </a:ext>
            </a:extLst>
          </p:cNvPr>
          <p:cNvSpPr txBox="1"/>
          <p:nvPr/>
        </p:nvSpPr>
        <p:spPr>
          <a:xfrm>
            <a:off x="291974" y="263665"/>
            <a:ext cx="4965824" cy="338554"/>
          </a:xfrm>
          <a:prstGeom prst="rect">
            <a:avLst/>
          </a:prstGeom>
          <a:noFill/>
        </p:spPr>
        <p:txBody>
          <a:bodyPr wrap="square">
            <a:spAutoFit/>
          </a:bodyPr>
          <a:lstStyle/>
          <a:p>
            <a:r>
              <a:rPr lang="ja-JP" altLang="en-US" sz="1600" b="1" dirty="0">
                <a:solidFill>
                  <a:schemeClr val="tx1">
                    <a:lumMod val="50000"/>
                    <a:lumOff val="50000"/>
                  </a:schemeClr>
                </a:solidFill>
                <a:latin typeface="Meiryo" panose="020B0604030504040204" pitchFamily="34" charset="-128"/>
                <a:ea typeface="Meiryo" panose="020B0604030504040204" pitchFamily="34" charset="-128"/>
              </a:rPr>
              <a:t>株式会社あらうち 御中</a:t>
            </a:r>
          </a:p>
        </p:txBody>
      </p:sp>
    </p:spTree>
    <p:extLst>
      <p:ext uri="{BB962C8B-B14F-4D97-AF65-F5344CB8AC3E}">
        <p14:creationId xmlns:p14="http://schemas.microsoft.com/office/powerpoint/2010/main" val="3944598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5850E5-D5A1-CFDF-111D-4022C3ACFF30}"/>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8E31A894-E8DC-C040-E38B-038A8EF528E7}"/>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AD68C335-D806-837C-26CA-E0BD169C64BC}"/>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cxnSp>
        <p:nvCxnSpPr>
          <p:cNvPr id="5" name="直線コネクタ 4">
            <a:extLst>
              <a:ext uri="{FF2B5EF4-FFF2-40B4-BE49-F238E27FC236}">
                <a16:creationId xmlns:a16="http://schemas.microsoft.com/office/drawing/2014/main" id="{9F2C0452-B9E6-F1EE-DD53-83755CCCC880}"/>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0AD2E002-BC79-F49E-26BC-844143DB1CB0}"/>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現状把握</a:t>
            </a:r>
            <a:endParaRPr sz="1600" b="1" dirty="0">
              <a:solidFill>
                <a:srgbClr val="002060"/>
              </a:solidFill>
              <a:latin typeface="Meiryo"/>
              <a:ea typeface="Meiryo"/>
              <a:cs typeface="Meiryo"/>
              <a:sym typeface="Meiryo"/>
            </a:endParaRPr>
          </a:p>
        </p:txBody>
      </p:sp>
      <p:sp>
        <p:nvSpPr>
          <p:cNvPr id="29" name="テキスト ボックス 28">
            <a:extLst>
              <a:ext uri="{FF2B5EF4-FFF2-40B4-BE49-F238E27FC236}">
                <a16:creationId xmlns:a16="http://schemas.microsoft.com/office/drawing/2014/main" id="{6DA3B365-02D9-8B5B-1299-3D8406BB3D5C}"/>
              </a:ext>
            </a:extLst>
          </p:cNvPr>
          <p:cNvSpPr txBox="1"/>
          <p:nvPr/>
        </p:nvSpPr>
        <p:spPr>
          <a:xfrm>
            <a:off x="4983480" y="1499616"/>
            <a:ext cx="4498848" cy="347472"/>
          </a:xfrm>
          <a:prstGeom prst="rect">
            <a:avLst/>
          </a:prstGeom>
          <a:solidFill>
            <a:srgbClr val="04FA0A"/>
          </a:solidFill>
        </p:spPr>
        <p:txBody>
          <a:bodyPr wrap="square" anchor="ctr">
            <a:noAutofit/>
          </a:bodyPr>
          <a:lstStyle/>
          <a:p>
            <a:pPr algn="ctr"/>
            <a:r>
              <a:rPr lang="en-US" altLang="ja-JP" sz="1400" b="1" dirty="0">
                <a:solidFill>
                  <a:schemeClr val="bg1"/>
                </a:solidFill>
                <a:latin typeface="メイリオ" panose="020B0604030504040204" pitchFamily="50" charset="-128"/>
                <a:ea typeface="メイリオ" panose="020B0604030504040204" pitchFamily="50" charset="-128"/>
              </a:rPr>
              <a:t>LINE</a:t>
            </a:r>
            <a:r>
              <a:rPr lang="ja-JP" altLang="en-US" sz="1400" b="1" dirty="0">
                <a:solidFill>
                  <a:schemeClr val="bg1"/>
                </a:solidFill>
                <a:latin typeface="メイリオ" panose="020B0604030504040204" pitchFamily="50" charset="-128"/>
                <a:ea typeface="メイリオ" panose="020B0604030504040204" pitchFamily="50" charset="-128"/>
              </a:rPr>
              <a:t>ステータス</a:t>
            </a:r>
            <a:endParaRPr lang="ja-JP" altLang="en-US" sz="1400" b="1" dirty="0">
              <a:solidFill>
                <a:schemeClr val="bg1"/>
              </a:solidFill>
            </a:endParaRPr>
          </a:p>
        </p:txBody>
      </p:sp>
      <p:sp>
        <p:nvSpPr>
          <p:cNvPr id="31" name="テキスト ボックス 30">
            <a:extLst>
              <a:ext uri="{FF2B5EF4-FFF2-40B4-BE49-F238E27FC236}">
                <a16:creationId xmlns:a16="http://schemas.microsoft.com/office/drawing/2014/main" id="{F8313A60-EA49-F9B7-6C41-949A968F0600}"/>
              </a:ext>
            </a:extLst>
          </p:cNvPr>
          <p:cNvSpPr txBox="1"/>
          <p:nvPr/>
        </p:nvSpPr>
        <p:spPr>
          <a:xfrm>
            <a:off x="365760" y="1499616"/>
            <a:ext cx="4389119" cy="347472"/>
          </a:xfrm>
          <a:prstGeom prst="rect">
            <a:avLst/>
          </a:prstGeom>
          <a:solidFill>
            <a:schemeClr val="tx1"/>
          </a:solidFill>
        </p:spPr>
        <p:txBody>
          <a:bodyPr wrap="square" anchor="ctr">
            <a:noAutofit/>
          </a:bodyPr>
          <a:lstStyle/>
          <a:p>
            <a:pPr algn="ctr"/>
            <a:r>
              <a:rPr lang="en-US" altLang="ja-JP" sz="1400" dirty="0">
                <a:solidFill>
                  <a:schemeClr val="bg1"/>
                </a:solidFill>
                <a:latin typeface="メイリオ" panose="020B0604030504040204" pitchFamily="50" charset="-128"/>
                <a:ea typeface="メイリオ" panose="020B0604030504040204" pitchFamily="50" charset="-128"/>
              </a:rPr>
              <a:t>WEB</a:t>
            </a:r>
            <a:r>
              <a:rPr lang="ja-JP" altLang="en-US" sz="1400" dirty="0">
                <a:solidFill>
                  <a:schemeClr val="bg1"/>
                </a:solidFill>
                <a:latin typeface="メイリオ" panose="020B0604030504040204" pitchFamily="50" charset="-128"/>
                <a:ea typeface="メイリオ" panose="020B0604030504040204" pitchFamily="50" charset="-128"/>
              </a:rPr>
              <a:t>サイトステータス</a:t>
            </a:r>
            <a:endParaRPr lang="ja-JP" altLang="en-US" sz="1400" dirty="0">
              <a:solidFill>
                <a:schemeClr val="bg1"/>
              </a:solidFill>
            </a:endParaRPr>
          </a:p>
        </p:txBody>
      </p:sp>
      <p:sp>
        <p:nvSpPr>
          <p:cNvPr id="43" name="テキスト ボックス 42">
            <a:extLst>
              <a:ext uri="{FF2B5EF4-FFF2-40B4-BE49-F238E27FC236}">
                <a16:creationId xmlns:a16="http://schemas.microsoft.com/office/drawing/2014/main" id="{6B7452FF-3064-3C53-0009-2FF21E2A20E3}"/>
              </a:ext>
            </a:extLst>
          </p:cNvPr>
          <p:cNvSpPr txBox="1"/>
          <p:nvPr/>
        </p:nvSpPr>
        <p:spPr>
          <a:xfrm>
            <a:off x="365760" y="5660136"/>
            <a:ext cx="4389119" cy="548640"/>
          </a:xfrm>
          <a:prstGeom prst="rect">
            <a:avLst/>
          </a:prstGeom>
          <a:solidFill>
            <a:schemeClr val="bg1">
              <a:lumMod val="95000"/>
            </a:schemeClr>
          </a:solidFill>
        </p:spPr>
        <p:txBody>
          <a:bodyPr wrap="square" anchor="ctr" lIns="45720" rIns="45720">
            <a:noAutofit/>
          </a:bodyPr>
          <a:lstStyle/>
          <a:p>
            <a:pPr algn="ctr"/>
            <a:r>
              <a:rPr lang="ja-JP" altLang="en-US" sz="1200" dirty="0">
                <a:latin typeface="メイリオ" panose="020B0604030504040204" pitchFamily="50" charset="-128"/>
                <a:ea typeface="メイリオ" panose="020B0604030504040204" pitchFamily="50" charset="-128"/>
              </a:rPr>
              <a:t>全ページに「LINEでお問い合わせ」ボタンを設置。</a:t>
            </a:r>
            <a:endParaRPr lang="en-US" altLang="ja-JP" sz="1200" dirty="0">
              <a:latin typeface="メイリオ" panose="020B0604030504040204" pitchFamily="50" charset="-128"/>
              <a:ea typeface="メイリオ" panose="020B0604030504040204" pitchFamily="50" charset="-128"/>
            </a:endParaRPr>
          </a:p>
          <a:p>
            <a:pPr algn="ctr"/>
            <a:r>
              <a:rPr lang="ja-JP" altLang="en-US" sz="1200" b="1" dirty="0">
                <a:latin typeface="メイリオ" panose="020B0604030504040204" pitchFamily="50" charset="-128"/>
                <a:ea typeface="メイリオ" panose="020B0604030504040204" pitchFamily="50" charset="-128"/>
              </a:rPr>
              <a:t>100円チェッカー・内見依頼</a:t>
            </a:r>
            <a:r>
              <a:rPr lang="ja-JP" altLang="en-US" sz="1200" b="0" dirty="0">
                <a:latin typeface="メイリオ" panose="020B0604030504040204" pitchFamily="50" charset="-128"/>
                <a:ea typeface="メイリオ" panose="020B0604030504040204" pitchFamily="50" charset="-128"/>
              </a:rPr>
              <a:t>など、問い合わせ入口を整備。</a:t>
            </a:r>
            <a:endParaRPr lang="en-US" altLang="ja-JP" sz="1200" dirty="0">
              <a:latin typeface="メイリオ" panose="020B0604030504040204" pitchFamily="50" charset="-128"/>
              <a:ea typeface="メイリオ" panose="020B0604030504040204" pitchFamily="50" charset="-128"/>
            </a:endParaRPr>
          </a:p>
        </p:txBody>
      </p:sp>
      <p:sp>
        <p:nvSpPr>
          <p:cNvPr id="53" name="テキスト ボックス 52">
            <a:extLst>
              <a:ext uri="{FF2B5EF4-FFF2-40B4-BE49-F238E27FC236}">
                <a16:creationId xmlns:a16="http://schemas.microsoft.com/office/drawing/2014/main" id="{4DE653A3-6A01-144F-1BF8-1590962028E3}"/>
              </a:ext>
            </a:extLst>
          </p:cNvPr>
          <p:cNvSpPr txBox="1"/>
          <p:nvPr/>
        </p:nvSpPr>
        <p:spPr>
          <a:xfrm>
            <a:off x="4983480" y="5660136"/>
            <a:ext cx="4498848" cy="548640"/>
          </a:xfrm>
          <a:prstGeom prst="rect">
            <a:avLst/>
          </a:prstGeom>
          <a:solidFill>
            <a:schemeClr val="bg1">
              <a:lumMod val="95000"/>
            </a:schemeClr>
          </a:solidFill>
        </p:spPr>
        <p:txBody>
          <a:bodyPr wrap="square" anchor="ctr" lIns="45720" rIns="45720">
            <a:noAutofit/>
          </a:bodyPr>
          <a:lstStyle/>
          <a:p>
            <a:pPr algn="ctr"/>
            <a:r>
              <a:rPr lang="ja-JP" altLang="en-US" sz="1200" b="1" dirty="0">
                <a:latin typeface="メイリオ" panose="020B0604030504040204" pitchFamily="50" charset="-128"/>
                <a:ea typeface="メイリオ" panose="020B0604030504040204" pitchFamily="50" charset="-128"/>
              </a:rPr>
              <a:t>リッチメニュー未設置・あいさつにボタンなし。</a:t>
            </a:r>
            <a:br>
              <a:rPr lang="ja-JP" altLang="en-US" sz="1200" b="1" dirty="0">
                <a:latin typeface="メイリオ" panose="020B0604030504040204" pitchFamily="50" charset="-128"/>
                <a:ea typeface="メイリオ" panose="020B0604030504040204" pitchFamily="50" charset="-128"/>
              </a:rPr>
            </a:br>
            <a:r>
              <a:rPr lang="ja-JP" altLang="en-US" sz="1200" b="1" dirty="0">
                <a:latin typeface="メイリオ" panose="020B0604030504040204" pitchFamily="50" charset="-128"/>
                <a:ea typeface="メイリオ" panose="020B0604030504040204" pitchFamily="50" charset="-128"/>
              </a:rPr>
              <a:t>改善の余地あり。</a:t>
            </a:r>
            <a:endParaRPr lang="en-US" altLang="ja-JP" sz="1200" b="1" dirty="0">
              <a:latin typeface="メイリオ" panose="020B0604030504040204" pitchFamily="50" charset="-128"/>
              <a:ea typeface="メイリオ" panose="020B0604030504040204" pitchFamily="50" charset="-128"/>
            </a:endParaRPr>
          </a:p>
        </p:txBody>
      </p:sp>
      <p:pic>
        <p:nvPicPr>
          <p:cNvPr id="55" name="図 54">
            <a:extLst>
              <a:ext uri="{FF2B5EF4-FFF2-40B4-BE49-F238E27FC236}">
                <a16:creationId xmlns:a16="http://schemas.microsoft.com/office/drawing/2014/main" id="{4BC7545E-7F3F-B8DD-FAA4-D802246C1236}"/>
              </a:ext>
            </a:extLst>
          </p:cNvPr>
          <p:cNvPicPr>
            <a:picLocks noChangeAspect="1"/>
          </p:cNvPicPr>
          <p:nvPr/>
        </p:nvPicPr>
        <p:blipFill>
          <a:blip r:embed="rId3"/>
          <a:stretch>
            <a:fillRect/>
          </a:stretch>
        </p:blipFill>
        <p:spPr>
          <a:xfrm>
            <a:off x="4983480" y="1920241"/>
            <a:ext cx="1420803" cy="2885775"/>
          </a:xfrm>
          <a:prstGeom prst="rect">
            <a:avLst/>
          </a:prstGeom>
        </p:spPr>
      </p:pic>
      <p:sp>
        <p:nvSpPr>
          <p:cNvPr id="61" name="テキスト ボックス 60">
            <a:extLst>
              <a:ext uri="{FF2B5EF4-FFF2-40B4-BE49-F238E27FC236}">
                <a16:creationId xmlns:a16="http://schemas.microsoft.com/office/drawing/2014/main" id="{4FD3FA7D-7FF2-4236-7135-48E5D06D806B}"/>
              </a:ext>
            </a:extLst>
          </p:cNvPr>
          <p:cNvSpPr txBox="1"/>
          <p:nvPr/>
        </p:nvSpPr>
        <p:spPr>
          <a:xfrm>
            <a:off x="5057917" y="2134667"/>
            <a:ext cx="1265927" cy="2347104"/>
          </a:xfrm>
          <a:prstGeom prst="rect">
            <a:avLst/>
          </a:prstGeom>
          <a:solidFill>
            <a:schemeClr val="bg1"/>
          </a:solidFill>
        </p:spPr>
        <p:txBody>
          <a:bodyPr wrap="square">
            <a:noAutofit/>
          </a:bodyPr>
          <a:lstStyle/>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p:txBody>
      </p:sp>
      <p:sp>
        <p:nvSpPr>
          <p:cNvPr id="65" name="テキスト ボックス 64">
            <a:extLst>
              <a:ext uri="{FF2B5EF4-FFF2-40B4-BE49-F238E27FC236}">
                <a16:creationId xmlns:a16="http://schemas.microsoft.com/office/drawing/2014/main" id="{CB47911B-0E60-1A54-28E3-4822D0F71546}"/>
              </a:ext>
            </a:extLst>
          </p:cNvPr>
          <p:cNvSpPr txBox="1"/>
          <p:nvPr/>
        </p:nvSpPr>
        <p:spPr>
          <a:xfrm>
            <a:off x="1783080" y="1920240"/>
            <a:ext cx="1280160" cy="292608"/>
          </a:xfrm>
          <a:prstGeom prst="rect">
            <a:avLst/>
          </a:prstGeom>
          <a:solidFill>
            <a:schemeClr val="tx1">
              <a:lumMod val="50000"/>
              <a:lumOff val="50000"/>
            </a:schemeClr>
          </a:solidFill>
        </p:spPr>
        <p:txBody>
          <a:bodyPr wrap="square" anchor="ctr" lIns="45720" rIns="45720">
            <a:noAutofit/>
          </a:bodyPr>
          <a:lstStyle/>
          <a:p>
            <a:pPr algn="ctr"/>
            <a:r>
              <a:rPr lang="ja-JP" altLang="en-US" sz="1200" dirty="0">
                <a:solidFill>
                  <a:schemeClr val="bg1"/>
                </a:solidFill>
                <a:latin typeface="メイリオ" panose="020B0604030504040204" pitchFamily="50" charset="-128"/>
                <a:ea typeface="メイリオ" panose="020B0604030504040204" pitchFamily="50" charset="-128"/>
              </a:rPr>
              <a:t>サイト</a:t>
            </a:r>
            <a:r>
              <a:rPr lang="en-US" altLang="ja-JP" sz="1200" dirty="0">
                <a:solidFill>
                  <a:schemeClr val="bg1"/>
                </a:solidFill>
                <a:latin typeface="メイリオ" panose="020B0604030504040204" pitchFamily="50" charset="-128"/>
                <a:ea typeface="メイリオ" panose="020B0604030504040204" pitchFamily="50" charset="-128"/>
              </a:rPr>
              <a:t>UU</a:t>
            </a:r>
          </a:p>
        </p:txBody>
      </p:sp>
      <p:sp>
        <p:nvSpPr>
          <p:cNvPr id="67" name="テキスト ボックス 66">
            <a:extLst>
              <a:ext uri="{FF2B5EF4-FFF2-40B4-BE49-F238E27FC236}">
                <a16:creationId xmlns:a16="http://schemas.microsoft.com/office/drawing/2014/main" id="{786D7DA7-503E-05B5-F9CB-0A21161B6913}"/>
              </a:ext>
            </a:extLst>
          </p:cNvPr>
          <p:cNvSpPr txBox="1"/>
          <p:nvPr/>
        </p:nvSpPr>
        <p:spPr>
          <a:xfrm>
            <a:off x="1783080" y="5180076"/>
            <a:ext cx="2971800" cy="457200"/>
          </a:xfrm>
          <a:prstGeom prst="rect">
            <a:avLst/>
          </a:prstGeom>
          <a:noFill/>
        </p:spPr>
        <p:txBody>
          <a:bodyPr wrap="square" anchor="t">
            <a:noAutofit/>
          </a:bodyPr>
          <a:lstStyle/>
          <a:p>
            <a:r>
              <a:rPr lang="en-US" altLang="ja-JP" sz="1100" dirty="0">
                <a:solidFill>
                  <a:srgbClr val="595959"/>
                </a:solidFill>
                <a:latin typeface="メイリオ" panose="020B0604030504040204" pitchFamily="50" charset="-128"/>
                <a:ea typeface="メイリオ" panose="020B0604030504040204" pitchFamily="50" charset="-128"/>
              </a:rPr>
              <a:t>※いずれも貴社ヒヤリング、外部計測</a:t>
            </a:r>
          </a:p>
          <a:p>
            <a:r>
              <a:rPr lang="ja-JP" altLang="en-US" sz="1100" dirty="0">
                <a:solidFill>
                  <a:srgbClr val="595959"/>
                </a:solidFill>
                <a:latin typeface="メイリオ" panose="020B0604030504040204" pitchFamily="50" charset="-128"/>
                <a:ea typeface="メイリオ" panose="020B0604030504040204" pitchFamily="50" charset="-128"/>
              </a:rPr>
              <a:t>　をもとにした想定。（仮）は仮置き。</a:t>
            </a:r>
            <a:endParaRPr lang="ja-JP" altLang="en-US" sz="1100" dirty="0">
              <a:solidFill>
                <a:schemeClr val="bg1">
                  <a:lumMod val="65000"/>
                </a:schemeClr>
              </a:solidFill>
            </a:endParaRPr>
          </a:p>
        </p:txBody>
      </p:sp>
      <p:sp>
        <p:nvSpPr>
          <p:cNvPr id="69" name="テキスト ボックス 68">
            <a:extLst>
              <a:ext uri="{FF2B5EF4-FFF2-40B4-BE49-F238E27FC236}">
                <a16:creationId xmlns:a16="http://schemas.microsoft.com/office/drawing/2014/main" id="{EA788168-7029-078F-5BD8-F04485F4755A}"/>
              </a:ext>
            </a:extLst>
          </p:cNvPr>
          <p:cNvSpPr txBox="1"/>
          <p:nvPr/>
        </p:nvSpPr>
        <p:spPr>
          <a:xfrm>
            <a:off x="1783080" y="2244852"/>
            <a:ext cx="1280160" cy="292608"/>
          </a:xfrm>
          <a:prstGeom prst="rect">
            <a:avLst/>
          </a:prstGeom>
          <a:solidFill>
            <a:schemeClr val="tx1">
              <a:lumMod val="50000"/>
              <a:lumOff val="50000"/>
            </a:schemeClr>
          </a:solidFill>
        </p:spPr>
        <p:txBody>
          <a:bodyPr wrap="square" anchor="ctr" lIns="45720" rIns="45720">
            <a:noAutofit/>
          </a:bodyPr>
          <a:lstStyle/>
          <a:p>
            <a:pPr algn="ctr"/>
            <a:r>
              <a:rPr lang="ja-JP" altLang="en-US" sz="1200" dirty="0">
                <a:solidFill>
                  <a:schemeClr val="bg1"/>
                </a:solidFill>
                <a:latin typeface="メイリオ" panose="020B0604030504040204" pitchFamily="50" charset="-128"/>
                <a:ea typeface="メイリオ" panose="020B0604030504040204" pitchFamily="50" charset="-128"/>
              </a:rPr>
              <a:t>広告</a:t>
            </a:r>
            <a:r>
              <a:rPr lang="en-US" altLang="ja-JP" sz="1200" dirty="0">
                <a:solidFill>
                  <a:schemeClr val="bg1"/>
                </a:solidFill>
                <a:latin typeface="メイリオ" panose="020B0604030504040204" pitchFamily="50" charset="-128"/>
                <a:ea typeface="メイリオ" panose="020B0604030504040204" pitchFamily="50" charset="-128"/>
              </a:rPr>
              <a:t>UU</a:t>
            </a:r>
          </a:p>
        </p:txBody>
      </p:sp>
      <p:sp>
        <p:nvSpPr>
          <p:cNvPr id="71" name="テキスト ボックス 70">
            <a:extLst>
              <a:ext uri="{FF2B5EF4-FFF2-40B4-BE49-F238E27FC236}">
                <a16:creationId xmlns:a16="http://schemas.microsoft.com/office/drawing/2014/main" id="{43A76DAB-1A67-A2FA-CB9F-4E749C2AE087}"/>
              </a:ext>
            </a:extLst>
          </p:cNvPr>
          <p:cNvSpPr txBox="1"/>
          <p:nvPr/>
        </p:nvSpPr>
        <p:spPr>
          <a:xfrm>
            <a:off x="1783080" y="2569464"/>
            <a:ext cx="1280160" cy="292608"/>
          </a:xfrm>
          <a:prstGeom prst="rect">
            <a:avLst/>
          </a:prstGeom>
          <a:solidFill>
            <a:schemeClr val="tx1">
              <a:lumMod val="50000"/>
              <a:lumOff val="50000"/>
            </a:schemeClr>
          </a:solidFill>
        </p:spPr>
        <p:txBody>
          <a:bodyPr wrap="square" anchor="ctr" lIns="45720" rIns="45720">
            <a:noAutofit/>
          </a:bodyPr>
          <a:lstStyle/>
          <a:p>
            <a:pPr algn="ctr"/>
            <a:r>
              <a:rPr lang="ja-JP" altLang="en-US" sz="1200" dirty="0">
                <a:solidFill>
                  <a:schemeClr val="bg1"/>
                </a:solidFill>
                <a:latin typeface="メイリオ" panose="020B0604030504040204" pitchFamily="50" charset="-128"/>
                <a:ea typeface="メイリオ" panose="020B0604030504040204" pitchFamily="50" charset="-128"/>
              </a:rPr>
              <a:t>広告費用</a:t>
            </a:r>
            <a:endParaRPr lang="en-US" altLang="ja-JP" sz="1200" dirty="0">
              <a:solidFill>
                <a:schemeClr val="bg1"/>
              </a:solidFill>
              <a:latin typeface="メイリオ" panose="020B0604030504040204" pitchFamily="50" charset="-128"/>
              <a:ea typeface="メイリオ" panose="020B0604030504040204" pitchFamily="50" charset="-128"/>
            </a:endParaRPr>
          </a:p>
        </p:txBody>
      </p:sp>
      <p:sp>
        <p:nvSpPr>
          <p:cNvPr id="73" name="テキスト ボックス 72">
            <a:extLst>
              <a:ext uri="{FF2B5EF4-FFF2-40B4-BE49-F238E27FC236}">
                <a16:creationId xmlns:a16="http://schemas.microsoft.com/office/drawing/2014/main" id="{09C9ADFA-9068-E4AF-1EEA-6AA96D14B0E4}"/>
              </a:ext>
            </a:extLst>
          </p:cNvPr>
          <p:cNvSpPr txBox="1"/>
          <p:nvPr/>
        </p:nvSpPr>
        <p:spPr>
          <a:xfrm>
            <a:off x="1783080" y="4841748"/>
            <a:ext cx="1280160" cy="292608"/>
          </a:xfrm>
          <a:prstGeom prst="rect">
            <a:avLst/>
          </a:prstGeom>
          <a:solidFill>
            <a:schemeClr val="tx1">
              <a:lumMod val="50000"/>
              <a:lumOff val="50000"/>
            </a:schemeClr>
          </a:solidFill>
        </p:spPr>
        <p:txBody>
          <a:bodyPr wrap="square" anchor="ctr" lIns="45720" rIns="45720">
            <a:noAutofit/>
          </a:bodyPr>
          <a:lstStyle/>
          <a:p>
            <a:pPr algn="ctr"/>
            <a:r>
              <a:rPr lang="ja-JP" altLang="en-US" sz="1200" dirty="0">
                <a:solidFill>
                  <a:schemeClr val="bg1"/>
                </a:solidFill>
                <a:latin typeface="メイリオ" panose="020B0604030504040204" pitchFamily="50" charset="-128"/>
                <a:ea typeface="メイリオ" panose="020B0604030504040204" pitchFamily="50" charset="-128"/>
              </a:rPr>
              <a:t>メイン流入元</a:t>
            </a:r>
            <a:endParaRPr lang="en-US" altLang="ja-JP" sz="1200" dirty="0">
              <a:solidFill>
                <a:schemeClr val="bg1"/>
              </a:solidFill>
              <a:latin typeface="メイリオ" panose="020B0604030504040204" pitchFamily="50" charset="-128"/>
              <a:ea typeface="メイリオ" panose="020B0604030504040204" pitchFamily="50" charset="-128"/>
            </a:endParaRPr>
          </a:p>
        </p:txBody>
      </p:sp>
      <p:sp>
        <p:nvSpPr>
          <p:cNvPr id="75" name="テキスト ボックス 74">
            <a:extLst>
              <a:ext uri="{FF2B5EF4-FFF2-40B4-BE49-F238E27FC236}">
                <a16:creationId xmlns:a16="http://schemas.microsoft.com/office/drawing/2014/main" id="{D9941BFF-1B46-CD45-ED5A-61E32CC889F8}"/>
              </a:ext>
            </a:extLst>
          </p:cNvPr>
          <p:cNvSpPr txBox="1"/>
          <p:nvPr/>
        </p:nvSpPr>
        <p:spPr>
          <a:xfrm>
            <a:off x="1783080" y="4517136"/>
            <a:ext cx="1280160" cy="292608"/>
          </a:xfrm>
          <a:prstGeom prst="rect">
            <a:avLst/>
          </a:prstGeom>
          <a:solidFill>
            <a:schemeClr val="tx1">
              <a:lumMod val="50000"/>
              <a:lumOff val="50000"/>
            </a:schemeClr>
          </a:solidFill>
        </p:spPr>
        <p:txBody>
          <a:bodyPr wrap="square" anchor="ctr" lIns="45720" rIns="45720">
            <a:noAutofit/>
          </a:bodyPr>
          <a:lstStyle/>
          <a:p>
            <a:pPr algn="ctr"/>
            <a:r>
              <a:rPr lang="ja-JP" altLang="en-US" sz="1200" dirty="0">
                <a:solidFill>
                  <a:schemeClr val="bg1"/>
                </a:solidFill>
                <a:latin typeface="メイリオ" panose="020B0604030504040204" pitchFamily="50" charset="-128"/>
                <a:ea typeface="メイリオ" panose="020B0604030504040204" pitchFamily="50" charset="-128"/>
              </a:rPr>
              <a:t>他</a:t>
            </a:r>
            <a:r>
              <a:rPr lang="en-US" altLang="ja-JP" sz="1200" dirty="0">
                <a:solidFill>
                  <a:schemeClr val="bg1"/>
                </a:solidFill>
                <a:latin typeface="メイリオ" panose="020B0604030504040204" pitchFamily="50" charset="-128"/>
                <a:ea typeface="メイリオ" panose="020B0604030504040204" pitchFamily="50" charset="-128"/>
              </a:rPr>
              <a:t>SNS</a:t>
            </a:r>
          </a:p>
        </p:txBody>
      </p:sp>
      <p:sp>
        <p:nvSpPr>
          <p:cNvPr id="76" name="テキスト ボックス 75">
            <a:extLst>
              <a:ext uri="{FF2B5EF4-FFF2-40B4-BE49-F238E27FC236}">
                <a16:creationId xmlns:a16="http://schemas.microsoft.com/office/drawing/2014/main" id="{621AF139-DB4F-043A-C841-17CB34ABE979}"/>
              </a:ext>
            </a:extLst>
          </p:cNvPr>
          <p:cNvSpPr txBox="1"/>
          <p:nvPr/>
        </p:nvSpPr>
        <p:spPr>
          <a:xfrm>
            <a:off x="1783080" y="4192524"/>
            <a:ext cx="1280160" cy="292608"/>
          </a:xfrm>
          <a:prstGeom prst="rect">
            <a:avLst/>
          </a:prstGeom>
          <a:solidFill>
            <a:schemeClr val="tx1">
              <a:lumMod val="50000"/>
              <a:lumOff val="50000"/>
            </a:schemeClr>
          </a:solidFill>
        </p:spPr>
        <p:txBody>
          <a:bodyPr wrap="square" anchor="ctr" lIns="45720" rIns="45720">
            <a:noAutofit/>
          </a:bodyPr>
          <a:lstStyle/>
          <a:p>
            <a:pPr algn="ctr"/>
            <a:r>
              <a:rPr lang="ja-JP" altLang="en-US" sz="1200" dirty="0">
                <a:solidFill>
                  <a:schemeClr val="bg1"/>
                </a:solidFill>
                <a:latin typeface="メイリオ" panose="020B0604030504040204" pitchFamily="50" charset="-128"/>
                <a:ea typeface="メイリオ" panose="020B0604030504040204" pitchFamily="50" charset="-128"/>
              </a:rPr>
              <a:t>リード保有数</a:t>
            </a:r>
            <a:endParaRPr lang="en-US" altLang="ja-JP" sz="1200" dirty="0">
              <a:solidFill>
                <a:schemeClr val="bg1"/>
              </a:solidFill>
              <a:latin typeface="メイリオ" panose="020B0604030504040204" pitchFamily="50" charset="-128"/>
              <a:ea typeface="メイリオ" panose="020B0604030504040204" pitchFamily="50" charset="-128"/>
            </a:endParaRPr>
          </a:p>
        </p:txBody>
      </p:sp>
      <p:sp>
        <p:nvSpPr>
          <p:cNvPr id="78" name="テキスト ボックス 77">
            <a:extLst>
              <a:ext uri="{FF2B5EF4-FFF2-40B4-BE49-F238E27FC236}">
                <a16:creationId xmlns:a16="http://schemas.microsoft.com/office/drawing/2014/main" id="{7B5121E5-ADDA-2445-CD99-AF7C9748F0F2}"/>
              </a:ext>
            </a:extLst>
          </p:cNvPr>
          <p:cNvSpPr txBox="1"/>
          <p:nvPr/>
        </p:nvSpPr>
        <p:spPr>
          <a:xfrm>
            <a:off x="1783080" y="2894076"/>
            <a:ext cx="1280160" cy="292608"/>
          </a:xfrm>
          <a:prstGeom prst="rect">
            <a:avLst/>
          </a:prstGeom>
          <a:solidFill>
            <a:schemeClr val="tx1">
              <a:lumMod val="50000"/>
              <a:lumOff val="50000"/>
            </a:schemeClr>
          </a:solidFill>
        </p:spPr>
        <p:txBody>
          <a:bodyPr wrap="square" anchor="ctr" lIns="45720" rIns="45720">
            <a:noAutofit/>
          </a:bodyPr>
          <a:lstStyle/>
          <a:p>
            <a:pPr algn="ctr"/>
            <a:r>
              <a:rPr lang="ja-JP" altLang="en-US" sz="1200" dirty="0">
                <a:solidFill>
                  <a:schemeClr val="bg1"/>
                </a:solidFill>
                <a:latin typeface="メイリオ" panose="020B0604030504040204" pitchFamily="50" charset="-128"/>
                <a:ea typeface="メイリオ" panose="020B0604030504040204" pitchFamily="50" charset="-128"/>
              </a:rPr>
              <a:t>月間</a:t>
            </a:r>
            <a:r>
              <a:rPr lang="en-US" altLang="ja-JP" sz="1200" dirty="0">
                <a:solidFill>
                  <a:schemeClr val="bg1"/>
                </a:solidFill>
                <a:latin typeface="メイリオ" panose="020B0604030504040204" pitchFamily="50" charset="-128"/>
                <a:ea typeface="メイリオ" panose="020B0604030504040204" pitchFamily="50" charset="-128"/>
              </a:rPr>
              <a:t>CV</a:t>
            </a:r>
            <a:r>
              <a:rPr lang="ja-JP" altLang="en-US" sz="1200" dirty="0">
                <a:solidFill>
                  <a:schemeClr val="bg1"/>
                </a:solidFill>
                <a:latin typeface="メイリオ" panose="020B0604030504040204" pitchFamily="50" charset="-128"/>
                <a:ea typeface="メイリオ" panose="020B0604030504040204" pitchFamily="50" charset="-128"/>
              </a:rPr>
              <a:t>数</a:t>
            </a:r>
            <a:endParaRPr lang="en-US" altLang="ja-JP" sz="1200" dirty="0">
              <a:solidFill>
                <a:schemeClr val="bg1"/>
              </a:solidFill>
              <a:latin typeface="メイリオ" panose="020B0604030504040204" pitchFamily="50" charset="-128"/>
              <a:ea typeface="メイリオ" panose="020B0604030504040204" pitchFamily="50" charset="-128"/>
            </a:endParaRPr>
          </a:p>
        </p:txBody>
      </p:sp>
      <p:sp>
        <p:nvSpPr>
          <p:cNvPr id="80" name="テキスト ボックス 79">
            <a:extLst>
              <a:ext uri="{FF2B5EF4-FFF2-40B4-BE49-F238E27FC236}">
                <a16:creationId xmlns:a16="http://schemas.microsoft.com/office/drawing/2014/main" id="{9295423F-6886-C0F9-07E8-99E65DA2F185}"/>
              </a:ext>
            </a:extLst>
          </p:cNvPr>
          <p:cNvSpPr txBox="1"/>
          <p:nvPr/>
        </p:nvSpPr>
        <p:spPr>
          <a:xfrm>
            <a:off x="1783080" y="3218688"/>
            <a:ext cx="1280160" cy="292608"/>
          </a:xfrm>
          <a:prstGeom prst="rect">
            <a:avLst/>
          </a:prstGeom>
          <a:solidFill>
            <a:schemeClr val="tx1">
              <a:lumMod val="50000"/>
              <a:lumOff val="50000"/>
            </a:schemeClr>
          </a:solidFill>
        </p:spPr>
        <p:txBody>
          <a:bodyPr wrap="square" anchor="ctr" lIns="45720" rIns="45720">
            <a:noAutofit/>
          </a:bodyPr>
          <a:lstStyle/>
          <a:p>
            <a:pPr algn="ctr"/>
            <a:r>
              <a:rPr lang="en-US" altLang="ja-JP" sz="1200" dirty="0">
                <a:solidFill>
                  <a:schemeClr val="bg1"/>
                </a:solidFill>
                <a:latin typeface="メイリオ" panose="020B0604030504040204" pitchFamily="50" charset="-128"/>
                <a:ea typeface="メイリオ" panose="020B0604030504040204" pitchFamily="50" charset="-128"/>
              </a:rPr>
              <a:t>CV</a:t>
            </a:r>
            <a:r>
              <a:rPr lang="ja-JP" altLang="en-US" sz="1200" dirty="0">
                <a:solidFill>
                  <a:schemeClr val="bg1"/>
                </a:solidFill>
                <a:latin typeface="メイリオ" panose="020B0604030504040204" pitchFamily="50" charset="-128"/>
                <a:ea typeface="メイリオ" panose="020B0604030504040204" pitchFamily="50" charset="-128"/>
              </a:rPr>
              <a:t>地点</a:t>
            </a:r>
            <a:endParaRPr lang="en-US" altLang="ja-JP" sz="1200" dirty="0">
              <a:solidFill>
                <a:schemeClr val="bg1"/>
              </a:solidFill>
              <a:latin typeface="メイリオ" panose="020B0604030504040204" pitchFamily="50" charset="-128"/>
              <a:ea typeface="メイリオ" panose="020B0604030504040204" pitchFamily="50" charset="-128"/>
            </a:endParaRPr>
          </a:p>
        </p:txBody>
      </p:sp>
      <p:sp>
        <p:nvSpPr>
          <p:cNvPr id="82" name="テキスト ボックス 81">
            <a:extLst>
              <a:ext uri="{FF2B5EF4-FFF2-40B4-BE49-F238E27FC236}">
                <a16:creationId xmlns:a16="http://schemas.microsoft.com/office/drawing/2014/main" id="{BC9F693C-CE4E-77C8-8651-DCFDCF1173A3}"/>
              </a:ext>
            </a:extLst>
          </p:cNvPr>
          <p:cNvSpPr txBox="1"/>
          <p:nvPr/>
        </p:nvSpPr>
        <p:spPr>
          <a:xfrm>
            <a:off x="1783080" y="3543300"/>
            <a:ext cx="1280160" cy="292608"/>
          </a:xfrm>
          <a:prstGeom prst="rect">
            <a:avLst/>
          </a:prstGeom>
          <a:solidFill>
            <a:schemeClr val="tx1">
              <a:lumMod val="50000"/>
              <a:lumOff val="50000"/>
            </a:schemeClr>
          </a:solidFill>
        </p:spPr>
        <p:txBody>
          <a:bodyPr wrap="square" anchor="ctr" lIns="45720" rIns="45720">
            <a:noAutofit/>
          </a:bodyPr>
          <a:lstStyle/>
          <a:p>
            <a:pPr algn="ctr"/>
            <a:r>
              <a:rPr lang="en-US" altLang="ja-JP" sz="1200" dirty="0">
                <a:solidFill>
                  <a:schemeClr val="bg1"/>
                </a:solidFill>
                <a:latin typeface="メイリオ" panose="020B0604030504040204" pitchFamily="50" charset="-128"/>
                <a:ea typeface="メイリオ" panose="020B0604030504040204" pitchFamily="50" charset="-128"/>
              </a:rPr>
              <a:t>LINE</a:t>
            </a:r>
            <a:r>
              <a:rPr lang="ja-JP" altLang="en-US" sz="1200" dirty="0">
                <a:solidFill>
                  <a:schemeClr val="bg1"/>
                </a:solidFill>
                <a:latin typeface="メイリオ" panose="020B0604030504040204" pitchFamily="50" charset="-128"/>
                <a:ea typeface="メイリオ" panose="020B0604030504040204" pitchFamily="50" charset="-128"/>
              </a:rPr>
              <a:t>動線</a:t>
            </a:r>
            <a:endParaRPr lang="en-US" altLang="ja-JP" sz="1200" dirty="0">
              <a:solidFill>
                <a:schemeClr val="bg1"/>
              </a:solidFill>
              <a:latin typeface="メイリオ" panose="020B0604030504040204" pitchFamily="50" charset="-128"/>
              <a:ea typeface="メイリオ" panose="020B0604030504040204" pitchFamily="50" charset="-128"/>
            </a:endParaRPr>
          </a:p>
        </p:txBody>
      </p:sp>
      <p:sp>
        <p:nvSpPr>
          <p:cNvPr id="84" name="テキスト ボックス 83">
            <a:extLst>
              <a:ext uri="{FF2B5EF4-FFF2-40B4-BE49-F238E27FC236}">
                <a16:creationId xmlns:a16="http://schemas.microsoft.com/office/drawing/2014/main" id="{429EF141-B4B6-BD86-F207-AB9F39A6D6CC}"/>
              </a:ext>
            </a:extLst>
          </p:cNvPr>
          <p:cNvSpPr txBox="1"/>
          <p:nvPr/>
        </p:nvSpPr>
        <p:spPr>
          <a:xfrm>
            <a:off x="1783080" y="3867912"/>
            <a:ext cx="1280160" cy="292608"/>
          </a:xfrm>
          <a:prstGeom prst="rect">
            <a:avLst/>
          </a:prstGeom>
          <a:solidFill>
            <a:schemeClr val="tx1">
              <a:lumMod val="50000"/>
              <a:lumOff val="50000"/>
            </a:schemeClr>
          </a:solidFill>
        </p:spPr>
        <p:txBody>
          <a:bodyPr wrap="square" anchor="ctr" lIns="45720" rIns="45720">
            <a:noAutofit/>
          </a:bodyPr>
          <a:lstStyle/>
          <a:p>
            <a:pPr algn="ctr"/>
            <a:r>
              <a:rPr lang="ja-JP" altLang="en-US" sz="1200" dirty="0">
                <a:solidFill>
                  <a:schemeClr val="bg1"/>
                </a:solidFill>
                <a:latin typeface="メイリオ" panose="020B0604030504040204" pitchFamily="50" charset="-128"/>
                <a:ea typeface="メイリオ" panose="020B0604030504040204" pitchFamily="50" charset="-128"/>
              </a:rPr>
              <a:t>広告比率</a:t>
            </a:r>
            <a:endParaRPr lang="en-US" altLang="ja-JP" sz="1200" dirty="0">
              <a:solidFill>
                <a:schemeClr val="bg1"/>
              </a:solidFill>
              <a:latin typeface="メイリオ" panose="020B0604030504040204" pitchFamily="50" charset="-128"/>
              <a:ea typeface="メイリオ" panose="020B0604030504040204" pitchFamily="50" charset="-128"/>
            </a:endParaRPr>
          </a:p>
        </p:txBody>
      </p:sp>
      <p:sp>
        <p:nvSpPr>
          <p:cNvPr id="86" name="テキスト ボックス 85">
            <a:extLst>
              <a:ext uri="{FF2B5EF4-FFF2-40B4-BE49-F238E27FC236}">
                <a16:creationId xmlns:a16="http://schemas.microsoft.com/office/drawing/2014/main" id="{7C5532CE-88A1-7418-788B-354213D6977B}"/>
              </a:ext>
            </a:extLst>
          </p:cNvPr>
          <p:cNvSpPr txBox="1"/>
          <p:nvPr/>
        </p:nvSpPr>
        <p:spPr>
          <a:xfrm>
            <a:off x="6510528" y="1920240"/>
            <a:ext cx="1280160" cy="292608"/>
          </a:xfrm>
          <a:prstGeom prst="rect">
            <a:avLst/>
          </a:prstGeom>
          <a:solidFill>
            <a:schemeClr val="tx1">
              <a:lumMod val="50000"/>
              <a:lumOff val="50000"/>
            </a:schemeClr>
          </a:solidFill>
        </p:spPr>
        <p:txBody>
          <a:bodyPr wrap="square" anchor="ctr" lIns="45720" rIns="45720">
            <a:noAutofit/>
          </a:bodyPr>
          <a:lstStyle/>
          <a:p>
            <a:pPr algn="ctr"/>
            <a:r>
              <a:rPr lang="ja-JP" altLang="en-US" sz="1200" dirty="0">
                <a:solidFill>
                  <a:schemeClr val="bg1"/>
                </a:solidFill>
                <a:latin typeface="メイリオ" panose="020B0604030504040204" pitchFamily="50" charset="-128"/>
                <a:ea typeface="メイリオ" panose="020B0604030504040204" pitchFamily="50" charset="-128"/>
              </a:rPr>
              <a:t>友だち数</a:t>
            </a:r>
            <a:endParaRPr lang="en-US" altLang="ja-JP" sz="1200" dirty="0">
              <a:solidFill>
                <a:schemeClr val="bg1"/>
              </a:solidFill>
              <a:latin typeface="メイリオ" panose="020B0604030504040204" pitchFamily="50" charset="-128"/>
              <a:ea typeface="メイリオ" panose="020B0604030504040204" pitchFamily="50" charset="-128"/>
            </a:endParaRPr>
          </a:p>
        </p:txBody>
      </p:sp>
      <p:sp>
        <p:nvSpPr>
          <p:cNvPr id="88" name="テキスト ボックス 87">
            <a:extLst>
              <a:ext uri="{FF2B5EF4-FFF2-40B4-BE49-F238E27FC236}">
                <a16:creationId xmlns:a16="http://schemas.microsoft.com/office/drawing/2014/main" id="{4E2A999C-E78C-D828-F3B4-8B46E6CFAC5C}"/>
              </a:ext>
            </a:extLst>
          </p:cNvPr>
          <p:cNvSpPr txBox="1"/>
          <p:nvPr/>
        </p:nvSpPr>
        <p:spPr>
          <a:xfrm>
            <a:off x="6510528" y="2244852"/>
            <a:ext cx="1280160" cy="292608"/>
          </a:xfrm>
          <a:prstGeom prst="rect">
            <a:avLst/>
          </a:prstGeom>
          <a:solidFill>
            <a:schemeClr val="tx1">
              <a:lumMod val="50000"/>
              <a:lumOff val="50000"/>
            </a:schemeClr>
          </a:solidFill>
        </p:spPr>
        <p:txBody>
          <a:bodyPr wrap="square" anchor="ctr" lIns="45720" rIns="45720">
            <a:noAutofit/>
          </a:bodyPr>
          <a:lstStyle/>
          <a:p>
            <a:pPr algn="ctr"/>
            <a:r>
              <a:rPr lang="ja-JP" altLang="en-US" sz="1200" dirty="0">
                <a:solidFill>
                  <a:schemeClr val="bg1"/>
                </a:solidFill>
                <a:latin typeface="メイリオ" panose="020B0604030504040204" pitchFamily="50" charset="-128"/>
                <a:ea typeface="メイリオ" panose="020B0604030504040204" pitchFamily="50" charset="-128"/>
              </a:rPr>
              <a:t>アクティブ数</a:t>
            </a:r>
            <a:endParaRPr lang="en-US" altLang="ja-JP" sz="1200" dirty="0">
              <a:solidFill>
                <a:schemeClr val="bg1"/>
              </a:solidFill>
              <a:latin typeface="メイリオ" panose="020B0604030504040204" pitchFamily="50" charset="-128"/>
              <a:ea typeface="メイリオ" panose="020B0604030504040204" pitchFamily="50" charset="-128"/>
            </a:endParaRPr>
          </a:p>
        </p:txBody>
      </p:sp>
      <p:sp>
        <p:nvSpPr>
          <p:cNvPr id="90" name="テキスト ボックス 89">
            <a:extLst>
              <a:ext uri="{FF2B5EF4-FFF2-40B4-BE49-F238E27FC236}">
                <a16:creationId xmlns:a16="http://schemas.microsoft.com/office/drawing/2014/main" id="{50BA19F4-53F1-C97B-0713-EC49522B21E8}"/>
              </a:ext>
            </a:extLst>
          </p:cNvPr>
          <p:cNvSpPr txBox="1"/>
          <p:nvPr/>
        </p:nvSpPr>
        <p:spPr>
          <a:xfrm>
            <a:off x="6510528" y="2569464"/>
            <a:ext cx="1280160" cy="292608"/>
          </a:xfrm>
          <a:prstGeom prst="rect">
            <a:avLst/>
          </a:prstGeom>
          <a:solidFill>
            <a:schemeClr val="tx1">
              <a:lumMod val="50000"/>
              <a:lumOff val="50000"/>
            </a:schemeClr>
          </a:solidFill>
        </p:spPr>
        <p:txBody>
          <a:bodyPr wrap="square" anchor="ctr" lIns="45720" rIns="45720">
            <a:noAutofit/>
          </a:bodyPr>
          <a:lstStyle/>
          <a:p>
            <a:pPr algn="ctr"/>
            <a:r>
              <a:rPr lang="ja-JP" altLang="en-US" sz="1200" dirty="0">
                <a:solidFill>
                  <a:schemeClr val="bg1"/>
                </a:solidFill>
                <a:latin typeface="メイリオ" panose="020B0604030504040204" pitchFamily="50" charset="-128"/>
                <a:ea typeface="メイリオ" panose="020B0604030504040204" pitchFamily="50" charset="-128"/>
              </a:rPr>
              <a:t>ブロック率</a:t>
            </a:r>
            <a:endParaRPr lang="en-US" altLang="ja-JP" sz="1200" dirty="0">
              <a:solidFill>
                <a:schemeClr val="bg1"/>
              </a:solidFill>
              <a:latin typeface="メイリオ" panose="020B0604030504040204" pitchFamily="50" charset="-128"/>
              <a:ea typeface="メイリオ" panose="020B0604030504040204" pitchFamily="50" charset="-128"/>
            </a:endParaRPr>
          </a:p>
        </p:txBody>
      </p:sp>
      <p:sp>
        <p:nvSpPr>
          <p:cNvPr id="92" name="テキスト ボックス 91">
            <a:extLst>
              <a:ext uri="{FF2B5EF4-FFF2-40B4-BE49-F238E27FC236}">
                <a16:creationId xmlns:a16="http://schemas.microsoft.com/office/drawing/2014/main" id="{0D3F17B7-BE54-FFAB-DA5A-705404A9C08A}"/>
              </a:ext>
            </a:extLst>
          </p:cNvPr>
          <p:cNvSpPr txBox="1"/>
          <p:nvPr/>
        </p:nvSpPr>
        <p:spPr>
          <a:xfrm>
            <a:off x="6510528" y="4841748"/>
            <a:ext cx="1280160" cy="292608"/>
          </a:xfrm>
          <a:prstGeom prst="rect">
            <a:avLst/>
          </a:prstGeom>
          <a:solidFill>
            <a:schemeClr val="tx1">
              <a:lumMod val="50000"/>
              <a:lumOff val="50000"/>
            </a:schemeClr>
          </a:solidFill>
        </p:spPr>
        <p:txBody>
          <a:bodyPr wrap="square" lIns="45720" rIns="45720" anchor="ctr">
            <a:noAutofit/>
          </a:bodyPr>
          <a:lstStyle/>
          <a:p>
            <a:pPr algn="ctr"/>
            <a:r>
              <a:rPr lang="en-US" altLang="ja-JP" sz="1200" dirty="0">
                <a:solidFill>
                  <a:schemeClr val="bg1"/>
                </a:solidFill>
                <a:latin typeface="メイリオ" panose="020B0604030504040204" pitchFamily="50" charset="-128"/>
                <a:ea typeface="メイリオ" panose="020B0604030504040204" pitchFamily="50" charset="-128"/>
              </a:rPr>
              <a:t>リッチメニュー</a:t>
            </a:r>
          </a:p>
        </p:txBody>
      </p:sp>
      <p:sp>
        <p:nvSpPr>
          <p:cNvPr id="94" name="テキスト ボックス 93">
            <a:extLst>
              <a:ext uri="{FF2B5EF4-FFF2-40B4-BE49-F238E27FC236}">
                <a16:creationId xmlns:a16="http://schemas.microsoft.com/office/drawing/2014/main" id="{B0DD1EFF-563A-1CD9-9989-968BFFEBCC2C}"/>
              </a:ext>
            </a:extLst>
          </p:cNvPr>
          <p:cNvSpPr txBox="1"/>
          <p:nvPr/>
        </p:nvSpPr>
        <p:spPr>
          <a:xfrm>
            <a:off x="6510528" y="4517136"/>
            <a:ext cx="1280160" cy="292608"/>
          </a:xfrm>
          <a:prstGeom prst="rect">
            <a:avLst/>
          </a:prstGeom>
          <a:solidFill>
            <a:schemeClr val="tx1">
              <a:lumMod val="50000"/>
              <a:lumOff val="50000"/>
            </a:schemeClr>
          </a:solidFill>
        </p:spPr>
        <p:txBody>
          <a:bodyPr wrap="square" anchor="ctr" lIns="45720" rIns="45720">
            <a:noAutofit/>
          </a:bodyPr>
          <a:lstStyle/>
          <a:p>
            <a:pPr algn="ctr"/>
            <a:r>
              <a:rPr lang="ja-JP" altLang="en-US" sz="1200" dirty="0">
                <a:solidFill>
                  <a:schemeClr val="bg1"/>
                </a:solidFill>
                <a:latin typeface="メイリオ" panose="020B0604030504040204" pitchFamily="50" charset="-128"/>
                <a:ea typeface="メイリオ" panose="020B0604030504040204" pitchFamily="50" charset="-128"/>
              </a:rPr>
              <a:t>ツール</a:t>
            </a:r>
            <a:endParaRPr lang="en-US" altLang="ja-JP" sz="1200" dirty="0">
              <a:solidFill>
                <a:schemeClr val="bg1"/>
              </a:solidFill>
              <a:latin typeface="メイリオ" panose="020B0604030504040204" pitchFamily="50" charset="-128"/>
              <a:ea typeface="メイリオ" panose="020B0604030504040204" pitchFamily="50" charset="-128"/>
            </a:endParaRPr>
          </a:p>
        </p:txBody>
      </p:sp>
      <p:sp>
        <p:nvSpPr>
          <p:cNvPr id="96" name="テキスト ボックス 95">
            <a:extLst>
              <a:ext uri="{FF2B5EF4-FFF2-40B4-BE49-F238E27FC236}">
                <a16:creationId xmlns:a16="http://schemas.microsoft.com/office/drawing/2014/main" id="{CDF3ACE8-A29C-0869-5155-3A40D885312A}"/>
              </a:ext>
            </a:extLst>
          </p:cNvPr>
          <p:cNvSpPr txBox="1"/>
          <p:nvPr/>
        </p:nvSpPr>
        <p:spPr>
          <a:xfrm>
            <a:off x="6510528" y="4192524"/>
            <a:ext cx="1280160" cy="292608"/>
          </a:xfrm>
          <a:prstGeom prst="rect">
            <a:avLst/>
          </a:prstGeom>
          <a:solidFill>
            <a:schemeClr val="tx1">
              <a:lumMod val="50000"/>
              <a:lumOff val="50000"/>
            </a:schemeClr>
          </a:solidFill>
        </p:spPr>
        <p:txBody>
          <a:bodyPr wrap="square" anchor="ctr" lIns="45720" rIns="45720">
            <a:noAutofit/>
          </a:bodyPr>
          <a:lstStyle/>
          <a:p>
            <a:pPr algn="ctr"/>
            <a:r>
              <a:rPr lang="ja-JP" altLang="en-US" sz="1200" dirty="0">
                <a:solidFill>
                  <a:schemeClr val="bg1"/>
                </a:solidFill>
                <a:latin typeface="メイリオ" panose="020B0604030504040204" pitchFamily="50" charset="-128"/>
                <a:ea typeface="メイリオ" panose="020B0604030504040204" pitchFamily="50" charset="-128"/>
              </a:rPr>
              <a:t>想定コスト</a:t>
            </a:r>
            <a:endParaRPr lang="en-US" altLang="ja-JP" sz="1200" dirty="0">
              <a:solidFill>
                <a:schemeClr val="bg1"/>
              </a:solidFill>
              <a:latin typeface="メイリオ" panose="020B0604030504040204" pitchFamily="50" charset="-128"/>
              <a:ea typeface="メイリオ" panose="020B0604030504040204" pitchFamily="50" charset="-128"/>
            </a:endParaRPr>
          </a:p>
        </p:txBody>
      </p:sp>
      <p:sp>
        <p:nvSpPr>
          <p:cNvPr id="98" name="テキスト ボックス 97">
            <a:extLst>
              <a:ext uri="{FF2B5EF4-FFF2-40B4-BE49-F238E27FC236}">
                <a16:creationId xmlns:a16="http://schemas.microsoft.com/office/drawing/2014/main" id="{052C94FD-2F48-FE18-F017-6E76C0BDD2F3}"/>
              </a:ext>
            </a:extLst>
          </p:cNvPr>
          <p:cNvSpPr txBox="1"/>
          <p:nvPr/>
        </p:nvSpPr>
        <p:spPr>
          <a:xfrm>
            <a:off x="6510528" y="2894076"/>
            <a:ext cx="1280160" cy="292608"/>
          </a:xfrm>
          <a:prstGeom prst="rect">
            <a:avLst/>
          </a:prstGeom>
          <a:solidFill>
            <a:schemeClr val="tx1">
              <a:lumMod val="50000"/>
              <a:lumOff val="50000"/>
            </a:schemeClr>
          </a:solidFill>
        </p:spPr>
        <p:txBody>
          <a:bodyPr wrap="square" anchor="ctr" lIns="45720" rIns="45720">
            <a:noAutofit/>
          </a:bodyPr>
          <a:lstStyle/>
          <a:p>
            <a:pPr algn="ctr"/>
            <a:r>
              <a:rPr lang="ja-JP" altLang="en-US" sz="1200" dirty="0">
                <a:solidFill>
                  <a:schemeClr val="bg1"/>
                </a:solidFill>
                <a:latin typeface="メイリオ" panose="020B0604030504040204" pitchFamily="50" charset="-128"/>
                <a:ea typeface="メイリオ" panose="020B0604030504040204" pitchFamily="50" charset="-128"/>
              </a:rPr>
              <a:t>月間投稿数</a:t>
            </a:r>
            <a:endParaRPr lang="en-US" altLang="ja-JP" sz="1200" dirty="0">
              <a:solidFill>
                <a:schemeClr val="bg1"/>
              </a:solidFill>
              <a:latin typeface="メイリオ" panose="020B0604030504040204" pitchFamily="50" charset="-128"/>
              <a:ea typeface="メイリオ" panose="020B0604030504040204" pitchFamily="50" charset="-128"/>
            </a:endParaRPr>
          </a:p>
        </p:txBody>
      </p:sp>
      <p:sp>
        <p:nvSpPr>
          <p:cNvPr id="100" name="テキスト ボックス 99">
            <a:extLst>
              <a:ext uri="{FF2B5EF4-FFF2-40B4-BE49-F238E27FC236}">
                <a16:creationId xmlns:a16="http://schemas.microsoft.com/office/drawing/2014/main" id="{FEDAB5C8-D777-7083-1B4C-F755ADE9FC2B}"/>
              </a:ext>
            </a:extLst>
          </p:cNvPr>
          <p:cNvSpPr txBox="1"/>
          <p:nvPr/>
        </p:nvSpPr>
        <p:spPr>
          <a:xfrm>
            <a:off x="6510528" y="3218688"/>
            <a:ext cx="1280160" cy="292608"/>
          </a:xfrm>
          <a:prstGeom prst="rect">
            <a:avLst/>
          </a:prstGeom>
          <a:solidFill>
            <a:schemeClr val="tx1">
              <a:lumMod val="50000"/>
              <a:lumOff val="50000"/>
            </a:schemeClr>
          </a:solidFill>
        </p:spPr>
        <p:txBody>
          <a:bodyPr wrap="square" anchor="ctr" lIns="45720" rIns="45720">
            <a:noAutofit/>
          </a:bodyPr>
          <a:lstStyle/>
          <a:p>
            <a:pPr algn="ctr"/>
            <a:r>
              <a:rPr lang="ja-JP" altLang="en-US" sz="1200" dirty="0">
                <a:solidFill>
                  <a:schemeClr val="bg1"/>
                </a:solidFill>
                <a:latin typeface="メイリオ" panose="020B0604030504040204" pitchFamily="50" charset="-128"/>
                <a:ea typeface="メイリオ" panose="020B0604030504040204" pitchFamily="50" charset="-128"/>
              </a:rPr>
              <a:t>ステップ実施</a:t>
            </a:r>
            <a:endParaRPr lang="en-US" altLang="ja-JP" sz="1200" dirty="0">
              <a:solidFill>
                <a:schemeClr val="bg1"/>
              </a:solidFill>
              <a:latin typeface="メイリオ" panose="020B0604030504040204" pitchFamily="50" charset="-128"/>
              <a:ea typeface="メイリオ" panose="020B0604030504040204" pitchFamily="50" charset="-128"/>
            </a:endParaRPr>
          </a:p>
        </p:txBody>
      </p:sp>
      <p:sp>
        <p:nvSpPr>
          <p:cNvPr id="102" name="テキスト ボックス 101">
            <a:extLst>
              <a:ext uri="{FF2B5EF4-FFF2-40B4-BE49-F238E27FC236}">
                <a16:creationId xmlns:a16="http://schemas.microsoft.com/office/drawing/2014/main" id="{F4164EE0-C2B2-E301-5AC9-2CA1B7015DD6}"/>
              </a:ext>
            </a:extLst>
          </p:cNvPr>
          <p:cNvSpPr txBox="1"/>
          <p:nvPr/>
        </p:nvSpPr>
        <p:spPr>
          <a:xfrm>
            <a:off x="6510528" y="3543300"/>
            <a:ext cx="1280160" cy="292608"/>
          </a:xfrm>
          <a:prstGeom prst="rect">
            <a:avLst/>
          </a:prstGeom>
          <a:solidFill>
            <a:schemeClr val="tx1">
              <a:lumMod val="50000"/>
              <a:lumOff val="50000"/>
            </a:schemeClr>
          </a:solidFill>
        </p:spPr>
        <p:txBody>
          <a:bodyPr wrap="square" anchor="ctr" lIns="45720" rIns="45720">
            <a:noAutofit/>
          </a:bodyPr>
          <a:lstStyle/>
          <a:p>
            <a:pPr algn="ctr"/>
            <a:r>
              <a:rPr lang="ja-JP" altLang="en-US" sz="1200" dirty="0">
                <a:solidFill>
                  <a:schemeClr val="bg1"/>
                </a:solidFill>
                <a:latin typeface="メイリオ" panose="020B0604030504040204" pitchFamily="50" charset="-128"/>
                <a:ea typeface="メイリオ" panose="020B0604030504040204" pitchFamily="50" charset="-128"/>
              </a:rPr>
              <a:t>アンケート実施</a:t>
            </a:r>
            <a:endParaRPr lang="en-US" altLang="ja-JP" sz="1200" dirty="0">
              <a:solidFill>
                <a:schemeClr val="bg1"/>
              </a:solidFill>
              <a:latin typeface="メイリオ" panose="020B0604030504040204" pitchFamily="50" charset="-128"/>
              <a:ea typeface="メイリオ" panose="020B0604030504040204" pitchFamily="50" charset="-128"/>
            </a:endParaRPr>
          </a:p>
        </p:txBody>
      </p:sp>
      <p:sp>
        <p:nvSpPr>
          <p:cNvPr id="104" name="テキスト ボックス 103">
            <a:extLst>
              <a:ext uri="{FF2B5EF4-FFF2-40B4-BE49-F238E27FC236}">
                <a16:creationId xmlns:a16="http://schemas.microsoft.com/office/drawing/2014/main" id="{86F2BB75-D087-3536-A5EC-03D24451492A}"/>
              </a:ext>
            </a:extLst>
          </p:cNvPr>
          <p:cNvSpPr txBox="1"/>
          <p:nvPr/>
        </p:nvSpPr>
        <p:spPr>
          <a:xfrm>
            <a:off x="6510528" y="3867912"/>
            <a:ext cx="1280160" cy="292608"/>
          </a:xfrm>
          <a:prstGeom prst="rect">
            <a:avLst/>
          </a:prstGeom>
          <a:solidFill>
            <a:schemeClr val="tx1">
              <a:lumMod val="50000"/>
              <a:lumOff val="50000"/>
            </a:schemeClr>
          </a:solidFill>
        </p:spPr>
        <p:txBody>
          <a:bodyPr wrap="square" anchor="ctr" lIns="45720" rIns="45720">
            <a:noAutofit/>
          </a:bodyPr>
          <a:lstStyle/>
          <a:p>
            <a:pPr algn="ctr"/>
            <a:r>
              <a:rPr lang="ja-JP" altLang="en-US" sz="1200" dirty="0">
                <a:solidFill>
                  <a:schemeClr val="bg1"/>
                </a:solidFill>
                <a:latin typeface="メイリオ" panose="020B0604030504040204" pitchFamily="50" charset="-128"/>
                <a:ea typeface="メイリオ" panose="020B0604030504040204" pitchFamily="50" charset="-128"/>
              </a:rPr>
              <a:t>プロフ動線</a:t>
            </a:r>
            <a:endParaRPr lang="en-US" altLang="ja-JP" sz="1200" dirty="0">
              <a:solidFill>
                <a:schemeClr val="bg1"/>
              </a:solidFill>
              <a:latin typeface="メイリオ" panose="020B0604030504040204" pitchFamily="50" charset="-128"/>
              <a:ea typeface="メイリオ" panose="020B0604030504040204" pitchFamily="50" charset="-128"/>
            </a:endParaRPr>
          </a:p>
        </p:txBody>
      </p:sp>
      <p:sp>
        <p:nvSpPr>
          <p:cNvPr id="106" name="テキスト ボックス 105">
            <a:extLst>
              <a:ext uri="{FF2B5EF4-FFF2-40B4-BE49-F238E27FC236}">
                <a16:creationId xmlns:a16="http://schemas.microsoft.com/office/drawing/2014/main" id="{B6ADA316-97DB-19DE-5310-2D4AFF7C5555}"/>
              </a:ext>
            </a:extLst>
          </p:cNvPr>
          <p:cNvSpPr txBox="1"/>
          <p:nvPr/>
        </p:nvSpPr>
        <p:spPr>
          <a:xfrm>
            <a:off x="3081527" y="1920240"/>
            <a:ext cx="1673352" cy="292608"/>
          </a:xfrm>
          <a:prstGeom prst="rect">
            <a:avLst/>
          </a:prstGeom>
          <a:solidFill>
            <a:schemeClr val="bg1">
              <a:lumMod val="95000"/>
            </a:schemeClr>
          </a:solidFill>
        </p:spPr>
        <p:txBody>
          <a:bodyPr wrap="square" anchor="ctr" lIns="45720" rIns="45720">
            <a:noAutofit/>
          </a:bodyPr>
          <a:lstStyle/>
          <a:p>
            <a:pPr algn="ctr"/>
            <a:r>
              <a:rPr lang="en-US" altLang="ja-JP" sz="1200" b="1" dirty="0">
                <a:latin typeface="メイリオ" panose="020B0604030504040204" pitchFamily="50" charset="-128"/>
                <a:ea typeface="メイリオ" panose="020B0604030504040204" pitchFamily="50" charset="-128"/>
              </a:rPr>
              <a:t>1,737</a:t>
            </a:r>
          </a:p>
        </p:txBody>
      </p:sp>
      <p:sp>
        <p:nvSpPr>
          <p:cNvPr id="108" name="テキスト ボックス 107">
            <a:extLst>
              <a:ext uri="{FF2B5EF4-FFF2-40B4-BE49-F238E27FC236}">
                <a16:creationId xmlns:a16="http://schemas.microsoft.com/office/drawing/2014/main" id="{47F3F567-C41D-6459-A492-84B20AAA216D}"/>
              </a:ext>
            </a:extLst>
          </p:cNvPr>
          <p:cNvSpPr txBox="1"/>
          <p:nvPr/>
        </p:nvSpPr>
        <p:spPr>
          <a:xfrm>
            <a:off x="3081527" y="2244852"/>
            <a:ext cx="1673352" cy="292608"/>
          </a:xfrm>
          <a:prstGeom prst="rect">
            <a:avLst/>
          </a:prstGeom>
          <a:solidFill>
            <a:schemeClr val="bg1">
              <a:lumMod val="95000"/>
            </a:schemeClr>
          </a:solidFill>
        </p:spPr>
        <p:txBody>
          <a:bodyPr wrap="square" anchor="ctr" lIns="45720" rIns="45720">
            <a:noAutofit/>
          </a:bodyPr>
          <a:lstStyle/>
          <a:p>
            <a:pPr algn="ctr"/>
            <a:r>
              <a:rPr lang="ja-JP" altLang="en-US" sz="1200" b="1" dirty="0">
                <a:latin typeface="メイリオ" panose="020B0604030504040204" pitchFamily="50" charset="-128"/>
                <a:ea typeface="メイリオ" panose="020B0604030504040204" pitchFamily="50" charset="-128"/>
              </a:rPr>
              <a:t>0（広告なし）</a:t>
            </a:r>
            <a:endParaRPr lang="en-US" altLang="ja-JP" sz="1200" b="1" dirty="0">
              <a:latin typeface="メイリオ" panose="020B0604030504040204" pitchFamily="50" charset="-128"/>
              <a:ea typeface="メイリオ" panose="020B0604030504040204" pitchFamily="50" charset="-128"/>
            </a:endParaRPr>
          </a:p>
        </p:txBody>
      </p:sp>
      <p:sp>
        <p:nvSpPr>
          <p:cNvPr id="110" name="テキスト ボックス 109">
            <a:extLst>
              <a:ext uri="{FF2B5EF4-FFF2-40B4-BE49-F238E27FC236}">
                <a16:creationId xmlns:a16="http://schemas.microsoft.com/office/drawing/2014/main" id="{EA12EB97-C2CF-9EF7-68AC-1F725E44C0C6}"/>
              </a:ext>
            </a:extLst>
          </p:cNvPr>
          <p:cNvSpPr txBox="1"/>
          <p:nvPr/>
        </p:nvSpPr>
        <p:spPr>
          <a:xfrm>
            <a:off x="3081527" y="2569464"/>
            <a:ext cx="1673352" cy="292608"/>
          </a:xfrm>
          <a:prstGeom prst="rect">
            <a:avLst/>
          </a:prstGeom>
          <a:solidFill>
            <a:schemeClr val="bg1">
              <a:lumMod val="95000"/>
            </a:schemeClr>
          </a:solidFill>
        </p:spPr>
        <p:txBody>
          <a:bodyPr wrap="square" anchor="ctr" lIns="45720" rIns="45720">
            <a:noAutofit/>
          </a:bodyPr>
          <a:lstStyle/>
          <a:p>
            <a:pPr algn="ctr"/>
            <a:r>
              <a:rPr lang="en-US" altLang="ja-JP" sz="1200" b="1" dirty="0">
                <a:solidFill>
                  <a:schemeClr val="tx1">
                    <a:lumMod val="85000"/>
                    <a:lumOff val="15000"/>
                  </a:schemeClr>
                </a:solidFill>
                <a:latin typeface="メイリオ" panose="020B0604030504040204" pitchFamily="50" charset="-128"/>
                <a:ea typeface="メイリオ" panose="020B0604030504040204" pitchFamily="50" charset="-128"/>
              </a:rPr>
              <a:t>なし</a:t>
            </a:r>
            <a:endParaRPr lang="en-US" altLang="ja-JP" sz="1200" dirty="0">
              <a:solidFill>
                <a:schemeClr val="tx1">
                  <a:lumMod val="85000"/>
                  <a:lumOff val="15000"/>
                </a:schemeClr>
              </a:solidFill>
              <a:latin typeface="メイリオ" panose="020B0604030504040204" pitchFamily="50" charset="-128"/>
              <a:ea typeface="メイリオ" panose="020B0604030504040204" pitchFamily="50" charset="-128"/>
            </a:endParaRPr>
          </a:p>
        </p:txBody>
      </p:sp>
      <p:sp>
        <p:nvSpPr>
          <p:cNvPr id="112" name="テキスト ボックス 111">
            <a:extLst>
              <a:ext uri="{FF2B5EF4-FFF2-40B4-BE49-F238E27FC236}">
                <a16:creationId xmlns:a16="http://schemas.microsoft.com/office/drawing/2014/main" id="{C7BA49E9-9AD1-C8F1-045C-F99303CC534D}"/>
              </a:ext>
            </a:extLst>
          </p:cNvPr>
          <p:cNvSpPr txBox="1"/>
          <p:nvPr/>
        </p:nvSpPr>
        <p:spPr>
          <a:xfrm>
            <a:off x="3081527" y="4841748"/>
            <a:ext cx="1673352" cy="292608"/>
          </a:xfrm>
          <a:prstGeom prst="rect">
            <a:avLst/>
          </a:prstGeom>
          <a:solidFill>
            <a:schemeClr val="bg1">
              <a:lumMod val="95000"/>
            </a:schemeClr>
          </a:solidFill>
        </p:spPr>
        <p:txBody>
          <a:bodyPr wrap="square" anchor="ctr" lIns="45720" rIns="45720">
            <a:noAutofit/>
          </a:bodyPr>
          <a:lstStyle/>
          <a:p>
            <a:pPr algn="ctr"/>
            <a:r>
              <a:rPr lang="ja-JP" altLang="en-US" sz="1200" b="1" dirty="0">
                <a:latin typeface="メイリオ" panose="020B0604030504040204" pitchFamily="50" charset="-128"/>
                <a:ea typeface="メイリオ" panose="020B0604030504040204" pitchFamily="50" charset="-128"/>
              </a:rPr>
              <a:t>不明（広告なし）</a:t>
            </a:r>
          </a:p>
        </p:txBody>
      </p:sp>
      <p:sp>
        <p:nvSpPr>
          <p:cNvPr id="114" name="テキスト ボックス 113">
            <a:extLst>
              <a:ext uri="{FF2B5EF4-FFF2-40B4-BE49-F238E27FC236}">
                <a16:creationId xmlns:a16="http://schemas.microsoft.com/office/drawing/2014/main" id="{7BE2FF98-F2E6-8CBD-5248-49871F114542}"/>
              </a:ext>
            </a:extLst>
          </p:cNvPr>
          <p:cNvSpPr txBox="1"/>
          <p:nvPr/>
        </p:nvSpPr>
        <p:spPr>
          <a:xfrm>
            <a:off x="3081527" y="4517136"/>
            <a:ext cx="1673352" cy="292608"/>
          </a:xfrm>
          <a:prstGeom prst="rect">
            <a:avLst/>
          </a:prstGeom>
          <a:solidFill>
            <a:schemeClr val="bg1">
              <a:lumMod val="95000"/>
            </a:schemeClr>
          </a:solidFill>
        </p:spPr>
        <p:txBody>
          <a:bodyPr wrap="square" anchor="ctr" lIns="45720" rIns="45720">
            <a:noAutofit/>
          </a:bodyPr>
          <a:lstStyle/>
          <a:p>
            <a:pPr algn="ctr"/>
            <a:r>
              <a:rPr lang="en-US" altLang="ja-JP" sz="1200" b="1" dirty="0" err="1">
                <a:latin typeface="メイリオ" panose="020B0604030504040204" pitchFamily="50" charset="-128"/>
                <a:ea typeface="メイリオ" panose="020B0604030504040204" pitchFamily="50" charset="-128"/>
              </a:rPr>
              <a:t>YouTube</a:t>
            </a:r>
            <a:endParaRPr lang="en-US" altLang="ja-JP" sz="1200" b="1" dirty="0">
              <a:latin typeface="メイリオ" panose="020B0604030504040204" pitchFamily="50" charset="-128"/>
              <a:ea typeface="メイリオ" panose="020B0604030504040204" pitchFamily="50" charset="-128"/>
            </a:endParaRPr>
          </a:p>
        </p:txBody>
      </p:sp>
      <p:sp>
        <p:nvSpPr>
          <p:cNvPr id="116" name="テキスト ボックス 115">
            <a:extLst>
              <a:ext uri="{FF2B5EF4-FFF2-40B4-BE49-F238E27FC236}">
                <a16:creationId xmlns:a16="http://schemas.microsoft.com/office/drawing/2014/main" id="{914EF112-00D2-D47D-0B61-A93CBE8BB645}"/>
              </a:ext>
            </a:extLst>
          </p:cNvPr>
          <p:cNvSpPr txBox="1"/>
          <p:nvPr/>
        </p:nvSpPr>
        <p:spPr>
          <a:xfrm>
            <a:off x="3081527" y="4192524"/>
            <a:ext cx="1673352" cy="292608"/>
          </a:xfrm>
          <a:prstGeom prst="rect">
            <a:avLst/>
          </a:prstGeom>
          <a:solidFill>
            <a:schemeClr val="bg1">
              <a:lumMod val="95000"/>
            </a:schemeClr>
          </a:solidFill>
        </p:spPr>
        <p:txBody>
          <a:bodyPr wrap="square" anchor="ctr" lIns="45720" rIns="45720">
            <a:noAutofit/>
          </a:bodyPr>
          <a:lstStyle/>
          <a:p>
            <a:pPr algn="ctr"/>
            <a:r>
              <a:rPr lang="ja-JP" altLang="en-US" sz="1200" b="1" dirty="0">
                <a:latin typeface="メイリオ" panose="020B0604030504040204" pitchFamily="50" charset="-128"/>
                <a:ea typeface="メイリオ" panose="020B0604030504040204" pitchFamily="50" charset="-128"/>
              </a:rPr>
              <a:t>不明</a:t>
            </a:r>
            <a:endParaRPr lang="en-US" altLang="ja-JP" sz="1200" b="1" dirty="0">
              <a:latin typeface="メイリオ" panose="020B0604030504040204" pitchFamily="50" charset="-128"/>
              <a:ea typeface="メイリオ" panose="020B0604030504040204" pitchFamily="50" charset="-128"/>
            </a:endParaRPr>
          </a:p>
        </p:txBody>
      </p:sp>
      <p:sp>
        <p:nvSpPr>
          <p:cNvPr id="118" name="テキスト ボックス 117">
            <a:extLst>
              <a:ext uri="{FF2B5EF4-FFF2-40B4-BE49-F238E27FC236}">
                <a16:creationId xmlns:a16="http://schemas.microsoft.com/office/drawing/2014/main" id="{986694EA-BD3A-DAC6-4DEE-7D91F77FBE22}"/>
              </a:ext>
            </a:extLst>
          </p:cNvPr>
          <p:cNvSpPr txBox="1"/>
          <p:nvPr/>
        </p:nvSpPr>
        <p:spPr>
          <a:xfrm>
            <a:off x="3081527" y="2894076"/>
            <a:ext cx="1673352" cy="292608"/>
          </a:xfrm>
          <a:prstGeom prst="rect">
            <a:avLst/>
          </a:prstGeom>
          <a:solidFill>
            <a:schemeClr val="bg1">
              <a:lumMod val="95000"/>
            </a:schemeClr>
          </a:solidFill>
        </p:spPr>
        <p:txBody>
          <a:bodyPr wrap="square" anchor="ctr" lIns="45720" rIns="45720">
            <a:noAutofit/>
          </a:bodyPr>
          <a:lstStyle/>
          <a:p>
            <a:pPr algn="ctr"/>
            <a:r>
              <a:rPr lang="ja-JP" altLang="en-US" sz="1200" b="1" dirty="0">
                <a:latin typeface="メイリオ" panose="020B0604030504040204" pitchFamily="50" charset="-128"/>
                <a:ea typeface="メイリオ" panose="020B0604030504040204" pitchFamily="50" charset="-128"/>
              </a:rPr>
              <a:t>30件（仮）</a:t>
            </a:r>
            <a:endParaRPr lang="en-US" altLang="ja-JP" sz="1200" b="1" dirty="0">
              <a:latin typeface="メイリオ" panose="020B0604030504040204" pitchFamily="50" charset="-128"/>
              <a:ea typeface="メイリオ" panose="020B0604030504040204" pitchFamily="50" charset="-128"/>
            </a:endParaRPr>
          </a:p>
        </p:txBody>
      </p:sp>
      <p:sp>
        <p:nvSpPr>
          <p:cNvPr id="120" name="テキスト ボックス 119">
            <a:extLst>
              <a:ext uri="{FF2B5EF4-FFF2-40B4-BE49-F238E27FC236}">
                <a16:creationId xmlns:a16="http://schemas.microsoft.com/office/drawing/2014/main" id="{55C2042F-3220-C5D3-61DE-7D9D40613A6E}"/>
              </a:ext>
            </a:extLst>
          </p:cNvPr>
          <p:cNvSpPr txBox="1"/>
          <p:nvPr/>
        </p:nvSpPr>
        <p:spPr>
          <a:xfrm>
            <a:off x="3081527" y="3218688"/>
            <a:ext cx="1673352" cy="292608"/>
          </a:xfrm>
          <a:prstGeom prst="rect">
            <a:avLst/>
          </a:prstGeom>
          <a:solidFill>
            <a:schemeClr val="bg1">
              <a:lumMod val="95000"/>
            </a:schemeClr>
          </a:solidFill>
        </p:spPr>
        <p:txBody>
          <a:bodyPr wrap="square" anchor="ctr" lIns="45720" rIns="45720">
            <a:noAutofit/>
          </a:bodyPr>
          <a:lstStyle/>
          <a:p>
            <a:pPr algn="ctr"/>
            <a:r>
              <a:rPr lang="ja-JP" altLang="en-US" sz="1200" b="1" dirty="0">
                <a:solidFill>
                  <a:srgbClr val="FF0000"/>
                </a:solidFill>
                <a:latin typeface="メイリオ" panose="020B0604030504040204" pitchFamily="50" charset="-128"/>
                <a:ea typeface="メイリオ" panose="020B0604030504040204" pitchFamily="50" charset="-128"/>
              </a:rPr>
              <a:t>問い合わせ</a:t>
            </a:r>
            <a:endParaRPr lang="en-US" altLang="ja-JP" sz="1200" b="1" dirty="0">
              <a:solidFill>
                <a:srgbClr val="FF0000"/>
              </a:solidFill>
              <a:latin typeface="メイリオ" panose="020B0604030504040204" pitchFamily="50" charset="-128"/>
              <a:ea typeface="メイリオ" panose="020B0604030504040204" pitchFamily="50" charset="-128"/>
            </a:endParaRPr>
          </a:p>
        </p:txBody>
      </p:sp>
      <p:sp>
        <p:nvSpPr>
          <p:cNvPr id="122" name="テキスト ボックス 121">
            <a:extLst>
              <a:ext uri="{FF2B5EF4-FFF2-40B4-BE49-F238E27FC236}">
                <a16:creationId xmlns:a16="http://schemas.microsoft.com/office/drawing/2014/main" id="{153D3F2B-14F9-70C0-50BC-B7CB286E2D8F}"/>
              </a:ext>
            </a:extLst>
          </p:cNvPr>
          <p:cNvSpPr txBox="1"/>
          <p:nvPr/>
        </p:nvSpPr>
        <p:spPr>
          <a:xfrm>
            <a:off x="3081527" y="3543300"/>
            <a:ext cx="1673352" cy="292608"/>
          </a:xfrm>
          <a:prstGeom prst="rect">
            <a:avLst/>
          </a:prstGeom>
          <a:solidFill>
            <a:schemeClr val="bg1">
              <a:lumMod val="95000"/>
            </a:schemeClr>
          </a:solidFill>
        </p:spPr>
        <p:txBody>
          <a:bodyPr wrap="square" anchor="ctr" lIns="45720" rIns="45720">
            <a:noAutofit/>
          </a:bodyPr>
          <a:lstStyle/>
          <a:p>
            <a:pPr algn="ctr"/>
            <a:r>
              <a:rPr lang="ja-JP" altLang="en-US" sz="1200" b="1" dirty="0">
                <a:latin typeface="メイリオ" panose="020B0604030504040204" pitchFamily="50" charset="-128"/>
                <a:ea typeface="メイリオ" panose="020B0604030504040204" pitchFamily="50" charset="-128"/>
              </a:rPr>
              <a:t>有</a:t>
            </a:r>
            <a:endParaRPr lang="en-US" altLang="ja-JP" sz="1200" b="1" dirty="0">
              <a:latin typeface="メイリオ" panose="020B0604030504040204" pitchFamily="50" charset="-128"/>
              <a:ea typeface="メイリオ" panose="020B0604030504040204" pitchFamily="50" charset="-128"/>
            </a:endParaRPr>
          </a:p>
        </p:txBody>
      </p:sp>
      <p:sp>
        <p:nvSpPr>
          <p:cNvPr id="124" name="テキスト ボックス 123">
            <a:extLst>
              <a:ext uri="{FF2B5EF4-FFF2-40B4-BE49-F238E27FC236}">
                <a16:creationId xmlns:a16="http://schemas.microsoft.com/office/drawing/2014/main" id="{2263D4CF-8260-F1E1-BCF7-ED72C65AF07F}"/>
              </a:ext>
            </a:extLst>
          </p:cNvPr>
          <p:cNvSpPr txBox="1"/>
          <p:nvPr/>
        </p:nvSpPr>
        <p:spPr>
          <a:xfrm>
            <a:off x="3081527" y="3867912"/>
            <a:ext cx="1673352" cy="292608"/>
          </a:xfrm>
          <a:prstGeom prst="rect">
            <a:avLst/>
          </a:prstGeom>
          <a:solidFill>
            <a:schemeClr val="bg1">
              <a:lumMod val="95000"/>
            </a:schemeClr>
          </a:solidFill>
        </p:spPr>
        <p:txBody>
          <a:bodyPr wrap="square" anchor="ctr" lIns="45720" rIns="45720">
            <a:noAutofit/>
          </a:bodyPr>
          <a:lstStyle/>
          <a:p>
            <a:pPr algn="ctr"/>
            <a:r>
              <a:rPr lang="en-US" altLang="ja-JP" sz="1200" b="1" dirty="0">
                <a:latin typeface="メイリオ" panose="020B0604030504040204" pitchFamily="50" charset="-128"/>
                <a:ea typeface="メイリオ" panose="020B0604030504040204" pitchFamily="50" charset="-128"/>
              </a:rPr>
              <a:t>0％</a:t>
            </a:r>
          </a:p>
        </p:txBody>
      </p:sp>
      <p:sp>
        <p:nvSpPr>
          <p:cNvPr id="169" name="テキスト ボックス 168">
            <a:extLst>
              <a:ext uri="{FF2B5EF4-FFF2-40B4-BE49-F238E27FC236}">
                <a16:creationId xmlns:a16="http://schemas.microsoft.com/office/drawing/2014/main" id="{32CFABB8-ADE8-1D5B-7822-D8BF0BA34FC4}"/>
              </a:ext>
            </a:extLst>
          </p:cNvPr>
          <p:cNvSpPr txBox="1"/>
          <p:nvPr/>
        </p:nvSpPr>
        <p:spPr>
          <a:xfrm>
            <a:off x="6510528" y="5166360"/>
            <a:ext cx="1280160" cy="292608"/>
          </a:xfrm>
          <a:prstGeom prst="rect">
            <a:avLst/>
          </a:prstGeom>
          <a:solidFill>
            <a:schemeClr val="tx1">
              <a:lumMod val="50000"/>
              <a:lumOff val="50000"/>
            </a:schemeClr>
          </a:solidFill>
        </p:spPr>
        <p:txBody>
          <a:bodyPr wrap="square" anchor="ctr" lIns="45720" rIns="45720">
            <a:noAutofit/>
          </a:bodyPr>
          <a:lstStyle/>
          <a:p>
            <a:pPr algn="ctr"/>
            <a:r>
              <a:rPr lang="en-US" altLang="ja-JP" sz="1200" dirty="0">
                <a:solidFill>
                  <a:schemeClr val="bg1"/>
                </a:solidFill>
                <a:latin typeface="メイリオ" panose="020B0604030504040204" pitchFamily="50" charset="-128"/>
                <a:ea typeface="メイリオ" panose="020B0604030504040204" pitchFamily="50" charset="-128"/>
              </a:rPr>
              <a:t>あいさつ</a:t>
            </a:r>
          </a:p>
        </p:txBody>
      </p:sp>
      <p:sp>
        <p:nvSpPr>
          <p:cNvPr id="171" name="テキスト ボックス 170">
            <a:extLst>
              <a:ext uri="{FF2B5EF4-FFF2-40B4-BE49-F238E27FC236}">
                <a16:creationId xmlns:a16="http://schemas.microsoft.com/office/drawing/2014/main" id="{CEE5E6FB-FD31-4BA0-5DD6-0E11BBB49851}"/>
              </a:ext>
            </a:extLst>
          </p:cNvPr>
          <p:cNvSpPr txBox="1"/>
          <p:nvPr/>
        </p:nvSpPr>
        <p:spPr>
          <a:xfrm>
            <a:off x="7808975" y="1920240"/>
            <a:ext cx="1673352" cy="292608"/>
          </a:xfrm>
          <a:prstGeom prst="rect">
            <a:avLst/>
          </a:prstGeom>
          <a:solidFill>
            <a:schemeClr val="bg1">
              <a:lumMod val="95000"/>
            </a:schemeClr>
          </a:solidFill>
        </p:spPr>
        <p:txBody>
          <a:bodyPr wrap="square" anchor="ctr" lIns="45720" rIns="45720">
            <a:noAutofit/>
          </a:bodyPr>
          <a:lstStyle/>
          <a:p>
            <a:pPr algn="ctr"/>
            <a:r>
              <a:rPr lang="en-US" altLang="ja-JP" sz="1200" b="1" dirty="0">
                <a:latin typeface="メイリオ" panose="020B0604030504040204" pitchFamily="50" charset="-128"/>
                <a:ea typeface="メイリオ" panose="020B0604030504040204" pitchFamily="50" charset="-128"/>
              </a:rPr>
              <a:t>1,241</a:t>
            </a:r>
          </a:p>
        </p:txBody>
      </p:sp>
      <p:sp>
        <p:nvSpPr>
          <p:cNvPr id="173" name="テキスト ボックス 172">
            <a:extLst>
              <a:ext uri="{FF2B5EF4-FFF2-40B4-BE49-F238E27FC236}">
                <a16:creationId xmlns:a16="http://schemas.microsoft.com/office/drawing/2014/main" id="{E91D57C9-6375-8F5E-0D71-3230B0BA0AC3}"/>
              </a:ext>
            </a:extLst>
          </p:cNvPr>
          <p:cNvSpPr txBox="1"/>
          <p:nvPr/>
        </p:nvSpPr>
        <p:spPr>
          <a:xfrm>
            <a:off x="7808975" y="2244852"/>
            <a:ext cx="1673352" cy="292608"/>
          </a:xfrm>
          <a:prstGeom prst="rect">
            <a:avLst/>
          </a:prstGeom>
          <a:solidFill>
            <a:schemeClr val="bg1">
              <a:lumMod val="95000"/>
            </a:schemeClr>
          </a:solidFill>
        </p:spPr>
        <p:txBody>
          <a:bodyPr wrap="square" anchor="ctr" lIns="45720" rIns="45720">
            <a:noAutofit/>
          </a:bodyPr>
          <a:lstStyle/>
          <a:p>
            <a:pPr algn="ctr"/>
            <a:r>
              <a:rPr lang="en-US" altLang="ja-JP" sz="1200" b="1" dirty="0">
                <a:latin typeface="メイリオ" panose="020B0604030504040204" pitchFamily="50" charset="-128"/>
                <a:ea typeface="メイリオ" panose="020B0604030504040204" pitchFamily="50" charset="-128"/>
              </a:rPr>
              <a:t>約807（仮）</a:t>
            </a:r>
          </a:p>
        </p:txBody>
      </p:sp>
      <p:sp>
        <p:nvSpPr>
          <p:cNvPr id="175" name="テキスト ボックス 174">
            <a:extLst>
              <a:ext uri="{FF2B5EF4-FFF2-40B4-BE49-F238E27FC236}">
                <a16:creationId xmlns:a16="http://schemas.microsoft.com/office/drawing/2014/main" id="{50103491-D71F-7EB5-8BE0-3BC70A0F52D1}"/>
              </a:ext>
            </a:extLst>
          </p:cNvPr>
          <p:cNvSpPr txBox="1"/>
          <p:nvPr/>
        </p:nvSpPr>
        <p:spPr>
          <a:xfrm>
            <a:off x="7808975" y="2569464"/>
            <a:ext cx="1673352" cy="292608"/>
          </a:xfrm>
          <a:prstGeom prst="rect">
            <a:avLst/>
          </a:prstGeom>
          <a:solidFill>
            <a:schemeClr val="bg1">
              <a:lumMod val="95000"/>
            </a:schemeClr>
          </a:solidFill>
        </p:spPr>
        <p:txBody>
          <a:bodyPr wrap="square" anchor="ctr" lIns="45720" rIns="45720">
            <a:noAutofit/>
          </a:bodyPr>
          <a:lstStyle/>
          <a:p>
            <a:pPr algn="ctr"/>
            <a:r>
              <a:rPr lang="en-US" altLang="ja-JP" sz="1200" b="1" dirty="0">
                <a:latin typeface="メイリオ" panose="020B0604030504040204" pitchFamily="50" charset="-128"/>
                <a:ea typeface="メイリオ" panose="020B0604030504040204" pitchFamily="50" charset="-128"/>
              </a:rPr>
              <a:t>35%（仮）</a:t>
            </a:r>
          </a:p>
        </p:txBody>
      </p:sp>
      <p:sp>
        <p:nvSpPr>
          <p:cNvPr id="177" name="テキスト ボックス 176">
            <a:extLst>
              <a:ext uri="{FF2B5EF4-FFF2-40B4-BE49-F238E27FC236}">
                <a16:creationId xmlns:a16="http://schemas.microsoft.com/office/drawing/2014/main" id="{03486B97-EFB2-9F95-C428-B571949EB1AE}"/>
              </a:ext>
            </a:extLst>
          </p:cNvPr>
          <p:cNvSpPr txBox="1"/>
          <p:nvPr/>
        </p:nvSpPr>
        <p:spPr>
          <a:xfrm>
            <a:off x="7808975" y="4841748"/>
            <a:ext cx="1673352" cy="292608"/>
          </a:xfrm>
          <a:prstGeom prst="rect">
            <a:avLst/>
          </a:prstGeom>
          <a:solidFill>
            <a:schemeClr val="bg1">
              <a:lumMod val="95000"/>
            </a:schemeClr>
          </a:solidFill>
        </p:spPr>
        <p:txBody>
          <a:bodyPr wrap="square" anchor="ctr" lIns="45720" rIns="45720">
            <a:noAutofit/>
          </a:bodyPr>
          <a:lstStyle/>
          <a:p>
            <a:pPr algn="ctr"/>
            <a:r>
              <a:rPr lang="en-US" altLang="ja-JP" sz="1200" b="1" dirty="0">
                <a:latin typeface="メイリオ" panose="020B0604030504040204" pitchFamily="50" charset="-128"/>
                <a:ea typeface="メイリオ" panose="020B0604030504040204" pitchFamily="50" charset="-128"/>
              </a:rPr>
              <a:t>なし</a:t>
            </a:r>
          </a:p>
        </p:txBody>
      </p:sp>
      <p:sp>
        <p:nvSpPr>
          <p:cNvPr id="179" name="テキスト ボックス 178">
            <a:extLst>
              <a:ext uri="{FF2B5EF4-FFF2-40B4-BE49-F238E27FC236}">
                <a16:creationId xmlns:a16="http://schemas.microsoft.com/office/drawing/2014/main" id="{83060EE7-F85C-FEB9-6E07-AD89C879B907}"/>
              </a:ext>
            </a:extLst>
          </p:cNvPr>
          <p:cNvSpPr txBox="1"/>
          <p:nvPr/>
        </p:nvSpPr>
        <p:spPr>
          <a:xfrm>
            <a:off x="7808975" y="4517136"/>
            <a:ext cx="1673352" cy="292608"/>
          </a:xfrm>
          <a:prstGeom prst="rect">
            <a:avLst/>
          </a:prstGeom>
          <a:solidFill>
            <a:schemeClr val="bg1">
              <a:lumMod val="95000"/>
            </a:schemeClr>
          </a:solidFill>
        </p:spPr>
        <p:txBody>
          <a:bodyPr wrap="square" anchor="ctr" lIns="45720" rIns="45720">
            <a:noAutofit/>
          </a:bodyPr>
          <a:lstStyle/>
          <a:p>
            <a:pPr algn="ctr"/>
            <a:r>
              <a:rPr lang="en-US" altLang="ja-JP" sz="1200" b="1" dirty="0" err="1">
                <a:latin typeface="メイリオ" panose="020B0604030504040204" pitchFamily="50" charset="-128"/>
                <a:ea typeface="メイリオ" panose="020B0604030504040204" pitchFamily="50" charset="-128"/>
              </a:rPr>
              <a:t>なし（標準機能）</a:t>
            </a:r>
            <a:endParaRPr lang="en-US" altLang="ja-JP" sz="1200" b="1" dirty="0">
              <a:latin typeface="メイリオ" panose="020B0604030504040204" pitchFamily="50" charset="-128"/>
              <a:ea typeface="メイリオ" panose="020B0604030504040204" pitchFamily="50" charset="-128"/>
            </a:endParaRPr>
          </a:p>
        </p:txBody>
      </p:sp>
      <p:sp>
        <p:nvSpPr>
          <p:cNvPr id="181" name="テキスト ボックス 180">
            <a:extLst>
              <a:ext uri="{FF2B5EF4-FFF2-40B4-BE49-F238E27FC236}">
                <a16:creationId xmlns:a16="http://schemas.microsoft.com/office/drawing/2014/main" id="{6E50A20F-2BFB-3695-700C-44F0937245E4}"/>
              </a:ext>
            </a:extLst>
          </p:cNvPr>
          <p:cNvSpPr txBox="1"/>
          <p:nvPr/>
        </p:nvSpPr>
        <p:spPr>
          <a:xfrm>
            <a:off x="7808975" y="4192524"/>
            <a:ext cx="1673352" cy="292608"/>
          </a:xfrm>
          <a:prstGeom prst="rect">
            <a:avLst/>
          </a:prstGeom>
          <a:solidFill>
            <a:schemeClr val="bg1">
              <a:lumMod val="95000"/>
            </a:schemeClr>
          </a:solidFill>
        </p:spPr>
        <p:txBody>
          <a:bodyPr wrap="square" anchor="ctr" lIns="45720" rIns="45720">
            <a:noAutofit/>
          </a:bodyPr>
          <a:lstStyle/>
          <a:p>
            <a:pPr algn="ctr"/>
            <a:r>
              <a:rPr lang="en-US" altLang="ja-JP" sz="1200" b="1" dirty="0">
                <a:latin typeface="メイリオ" panose="020B0604030504040204" pitchFamily="50" charset="-128"/>
                <a:ea typeface="メイリオ" panose="020B0604030504040204" pitchFamily="50" charset="-128"/>
              </a:rPr>
              <a:t>--</a:t>
            </a:r>
          </a:p>
        </p:txBody>
      </p:sp>
      <p:sp>
        <p:nvSpPr>
          <p:cNvPr id="183" name="テキスト ボックス 182">
            <a:extLst>
              <a:ext uri="{FF2B5EF4-FFF2-40B4-BE49-F238E27FC236}">
                <a16:creationId xmlns:a16="http://schemas.microsoft.com/office/drawing/2014/main" id="{343ADE76-581F-E366-449C-C73F90D92979}"/>
              </a:ext>
            </a:extLst>
          </p:cNvPr>
          <p:cNvSpPr txBox="1"/>
          <p:nvPr/>
        </p:nvSpPr>
        <p:spPr>
          <a:xfrm>
            <a:off x="7808975" y="2894076"/>
            <a:ext cx="1673352" cy="292608"/>
          </a:xfrm>
          <a:prstGeom prst="rect">
            <a:avLst/>
          </a:prstGeom>
          <a:solidFill>
            <a:schemeClr val="bg1">
              <a:lumMod val="95000"/>
            </a:schemeClr>
          </a:solidFill>
        </p:spPr>
        <p:txBody>
          <a:bodyPr wrap="square" anchor="ctr" lIns="45720" rIns="45720">
            <a:noAutofit/>
          </a:bodyPr>
          <a:lstStyle/>
          <a:p>
            <a:pPr algn="ctr"/>
            <a:r>
              <a:rPr lang="en-US" altLang="ja-JP" sz="1200" b="1" dirty="0">
                <a:latin typeface="メイリオ" panose="020B0604030504040204" pitchFamily="50" charset="-128"/>
                <a:ea typeface="メイリオ" panose="020B0604030504040204" pitchFamily="50" charset="-128"/>
              </a:rPr>
              <a:t>--</a:t>
            </a:r>
          </a:p>
        </p:txBody>
      </p:sp>
      <p:sp>
        <p:nvSpPr>
          <p:cNvPr id="185" name="テキスト ボックス 184">
            <a:extLst>
              <a:ext uri="{FF2B5EF4-FFF2-40B4-BE49-F238E27FC236}">
                <a16:creationId xmlns:a16="http://schemas.microsoft.com/office/drawing/2014/main" id="{15C10191-5CA8-D3BE-7847-7FA57C28C1F2}"/>
              </a:ext>
            </a:extLst>
          </p:cNvPr>
          <p:cNvSpPr txBox="1"/>
          <p:nvPr/>
        </p:nvSpPr>
        <p:spPr>
          <a:xfrm>
            <a:off x="7808975" y="3218688"/>
            <a:ext cx="1673352" cy="292608"/>
          </a:xfrm>
          <a:prstGeom prst="rect">
            <a:avLst/>
          </a:prstGeom>
          <a:solidFill>
            <a:schemeClr val="bg1">
              <a:lumMod val="95000"/>
            </a:schemeClr>
          </a:solidFill>
        </p:spPr>
        <p:txBody>
          <a:bodyPr wrap="square" anchor="ctr" lIns="45720" rIns="45720">
            <a:noAutofit/>
          </a:bodyPr>
          <a:lstStyle/>
          <a:p>
            <a:pPr algn="ctr"/>
            <a:r>
              <a:rPr lang="en-US" altLang="ja-JP" sz="1200" b="1" dirty="0">
                <a:latin typeface="メイリオ" panose="020B0604030504040204" pitchFamily="50" charset="-128"/>
                <a:ea typeface="メイリオ" panose="020B0604030504040204" pitchFamily="50" charset="-128"/>
              </a:rPr>
              <a:t>--</a:t>
            </a:r>
          </a:p>
        </p:txBody>
      </p:sp>
      <p:sp>
        <p:nvSpPr>
          <p:cNvPr id="187" name="テキスト ボックス 186">
            <a:extLst>
              <a:ext uri="{FF2B5EF4-FFF2-40B4-BE49-F238E27FC236}">
                <a16:creationId xmlns:a16="http://schemas.microsoft.com/office/drawing/2014/main" id="{51BEBC5F-1121-B8DC-54E2-DC8DC1020DB7}"/>
              </a:ext>
            </a:extLst>
          </p:cNvPr>
          <p:cNvSpPr txBox="1"/>
          <p:nvPr/>
        </p:nvSpPr>
        <p:spPr>
          <a:xfrm>
            <a:off x="7808975" y="3543300"/>
            <a:ext cx="1673352" cy="292608"/>
          </a:xfrm>
          <a:prstGeom prst="rect">
            <a:avLst/>
          </a:prstGeom>
          <a:solidFill>
            <a:schemeClr val="bg1">
              <a:lumMod val="95000"/>
            </a:schemeClr>
          </a:solidFill>
        </p:spPr>
        <p:txBody>
          <a:bodyPr wrap="square" anchor="ctr" lIns="45720" rIns="45720">
            <a:noAutofit/>
          </a:bodyPr>
          <a:lstStyle/>
          <a:p>
            <a:pPr algn="ctr"/>
            <a:r>
              <a:rPr lang="en-US" altLang="ja-JP" sz="1200" b="1" dirty="0">
                <a:latin typeface="メイリオ" panose="020B0604030504040204" pitchFamily="50" charset="-128"/>
                <a:ea typeface="メイリオ" panose="020B0604030504040204" pitchFamily="50" charset="-128"/>
              </a:rPr>
              <a:t>--</a:t>
            </a:r>
          </a:p>
        </p:txBody>
      </p:sp>
      <p:sp>
        <p:nvSpPr>
          <p:cNvPr id="189" name="テキスト ボックス 188">
            <a:extLst>
              <a:ext uri="{FF2B5EF4-FFF2-40B4-BE49-F238E27FC236}">
                <a16:creationId xmlns:a16="http://schemas.microsoft.com/office/drawing/2014/main" id="{73338154-D562-06D1-6113-0A579EACBBE0}"/>
              </a:ext>
            </a:extLst>
          </p:cNvPr>
          <p:cNvSpPr txBox="1"/>
          <p:nvPr/>
        </p:nvSpPr>
        <p:spPr>
          <a:xfrm>
            <a:off x="7808975" y="3867912"/>
            <a:ext cx="1673352" cy="292608"/>
          </a:xfrm>
          <a:prstGeom prst="rect">
            <a:avLst/>
          </a:prstGeom>
          <a:solidFill>
            <a:schemeClr val="bg1">
              <a:lumMod val="95000"/>
            </a:schemeClr>
          </a:solidFill>
        </p:spPr>
        <p:txBody>
          <a:bodyPr wrap="square" anchor="ctr" lIns="45720" rIns="45720">
            <a:noAutofit/>
          </a:bodyPr>
          <a:lstStyle/>
          <a:p>
            <a:pPr algn="ctr"/>
            <a:r>
              <a:rPr lang="en-US" altLang="ja-JP" sz="1200" b="1" dirty="0">
                <a:latin typeface="メイリオ" panose="020B0604030504040204" pitchFamily="50" charset="-128"/>
                <a:ea typeface="メイリオ" panose="020B0604030504040204" pitchFamily="50" charset="-128"/>
              </a:rPr>
              <a:t>有（サイト・動画）</a:t>
            </a:r>
          </a:p>
        </p:txBody>
      </p:sp>
      <p:sp>
        <p:nvSpPr>
          <p:cNvPr id="191" name="テキスト ボックス 190">
            <a:extLst>
              <a:ext uri="{FF2B5EF4-FFF2-40B4-BE49-F238E27FC236}">
                <a16:creationId xmlns:a16="http://schemas.microsoft.com/office/drawing/2014/main" id="{429FE883-F81A-EC4E-0F0F-55845FDE0805}"/>
              </a:ext>
            </a:extLst>
          </p:cNvPr>
          <p:cNvSpPr txBox="1"/>
          <p:nvPr/>
        </p:nvSpPr>
        <p:spPr>
          <a:xfrm>
            <a:off x="7808975" y="5166360"/>
            <a:ext cx="1673352" cy="292608"/>
          </a:xfrm>
          <a:prstGeom prst="rect">
            <a:avLst/>
          </a:prstGeom>
          <a:solidFill>
            <a:schemeClr val="bg1">
              <a:lumMod val="95000"/>
            </a:schemeClr>
          </a:solidFill>
        </p:spPr>
        <p:txBody>
          <a:bodyPr wrap="square" anchor="ctr" lIns="45720" rIns="45720">
            <a:noAutofit/>
          </a:bodyPr>
          <a:lstStyle/>
          <a:p>
            <a:pPr algn="ctr"/>
            <a:r>
              <a:rPr lang="en-US" altLang="ja-JP" sz="1200" b="1" dirty="0">
                <a:latin typeface="メイリオ" panose="020B0604030504040204" pitchFamily="50" charset="-128"/>
                <a:ea typeface="メイリオ" panose="020B0604030504040204" pitchFamily="50" charset="-128"/>
              </a:rPr>
              <a:t>ボタンなし</a:t>
            </a:r>
          </a:p>
        </p:txBody>
      </p:sp>
      <p:sp>
        <p:nvSpPr>
          <p:cNvPr id="23" name="テキスト ボックス 22">
            <a:extLst>
              <a:ext uri="{FF2B5EF4-FFF2-40B4-BE49-F238E27FC236}">
                <a16:creationId xmlns:a16="http://schemas.microsoft.com/office/drawing/2014/main" id="{B40D587B-11A9-2453-DDAB-83F9EE52B8BC}"/>
              </a:ext>
            </a:extLst>
          </p:cNvPr>
          <p:cNvSpPr txBox="1"/>
          <p:nvPr/>
        </p:nvSpPr>
        <p:spPr>
          <a:xfrm>
            <a:off x="8928643" y="451067"/>
            <a:ext cx="977357" cy="3554819"/>
          </a:xfrm>
          <a:prstGeom prst="rect">
            <a:avLst/>
          </a:prstGeom>
          <a:solidFill>
            <a:schemeClr val="bg1">
              <a:alpha val="30000"/>
            </a:schemeClr>
          </a:solidFill>
        </p:spPr>
        <p:txBody>
          <a:bodyPr wrap="square">
            <a:noAutofit/>
          </a:bodyPr>
          <a:lstStyle/>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p:txBody>
      </p:sp>
      <p:pic>
        <p:nvPicPr>
          <p:cNvPr id="9" name="図 8">
            <a:extLst>
              <a:ext uri="{FF2B5EF4-FFF2-40B4-BE49-F238E27FC236}">
                <a16:creationId xmlns:a16="http://schemas.microsoft.com/office/drawing/2014/main" id="{82CF626D-2943-A2F1-3A4D-8BC9EFDFB745}"/>
              </a:ext>
            </a:extLst>
          </p:cNvPr>
          <p:cNvPicPr>
            <a:picLocks noChangeAspect="1"/>
          </p:cNvPicPr>
          <p:nvPr/>
        </p:nvPicPr>
        <p:blipFill>
          <a:blip r:embed="rId4"/>
          <a:stretch>
            <a:fillRect/>
          </a:stretch>
        </p:blipFill>
        <p:spPr>
          <a:xfrm>
            <a:off x="365760" y="1920240"/>
            <a:ext cx="1328298" cy="2697466"/>
          </a:xfrm>
          <a:prstGeom prst="rect">
            <a:avLst/>
          </a:prstGeom>
        </p:spPr>
      </p:pic>
      <p:pic>
        <p:nvPicPr>
          <p:cNvPr id="24" name="図 23">
            <a:extLst>
              <a:ext uri="{FF2B5EF4-FFF2-40B4-BE49-F238E27FC236}">
                <a16:creationId xmlns:a16="http://schemas.microsoft.com/office/drawing/2014/main" id="{92F81D7F-9363-313C-9519-8D698FD92819}"/>
              </a:ext>
            </a:extLst>
          </p:cNvPr>
          <p:cNvPicPr>
            <a:picLocks noChangeAspect="1"/>
          </p:cNvPicPr>
          <p:nvPr/>
        </p:nvPicPr>
        <p:blipFill>
          <a:blip r:embed="rId5" cstate="print">
            <a:extLst>
              <a:ext uri="{28A0092B-C50C-407E-A947-70E740481C1C}">
                <a14:useLocalDpi xmlns:a14="http://schemas.microsoft.com/office/drawing/2010/main" val="0"/>
              </a:ext>
            </a:extLst>
          </a:blip>
          <a:srcRect t="4912" b="4367"/>
          <a:stretch>
            <a:fillRect/>
          </a:stretch>
        </p:blipFill>
        <p:spPr>
          <a:xfrm>
            <a:off x="5064439" y="2088276"/>
            <a:ext cx="1268904" cy="2490919"/>
          </a:xfrm>
          <a:prstGeom prst="rect">
            <a:avLst/>
          </a:prstGeom>
        </p:spPr>
      </p:pic>
      <p:sp>
        <p:nvSpPr>
          <p:cNvPr id="26" name="テキスト ボックス 25">
            <a:extLst>
              <a:ext uri="{FF2B5EF4-FFF2-40B4-BE49-F238E27FC236}">
                <a16:creationId xmlns:a16="http://schemas.microsoft.com/office/drawing/2014/main" id="{91691AF8-B769-8CB6-FE3F-9445764E2031}"/>
              </a:ext>
            </a:extLst>
          </p:cNvPr>
          <p:cNvSpPr txBox="1"/>
          <p:nvPr/>
        </p:nvSpPr>
        <p:spPr>
          <a:xfrm>
            <a:off x="426110" y="635508"/>
            <a:ext cx="9069019" cy="698601"/>
          </a:xfrm>
          <a:prstGeom prst="rect">
            <a:avLst/>
          </a:prstGeom>
          <a:noFill/>
        </p:spPr>
        <p:txBody>
          <a:bodyPr wrap="square" anchor="ctr">
            <a:noAutofit/>
          </a:bodyPr>
          <a:lstStyle/>
          <a:p>
            <a:pPr algn="ctr"/>
            <a:r>
              <a:rPr lang="en-US" altLang="ja-JP" sz="1400" dirty="0" err="1">
                <a:latin typeface="メイリオ" panose="020B0604030504040204" pitchFamily="50" charset="-128"/>
                <a:ea typeface="メイリオ" panose="020B0604030504040204" pitchFamily="50" charset="-128"/>
              </a:rPr>
              <a:t>LINE公式アカウントの標準機能で運用中（Lステップ等のツールなし）。</a:t>
            </a:r>
            <a:endParaRPr lang="en-US" altLang="ja-JP" sz="1400" dirty="0">
              <a:latin typeface="メイリオ" panose="020B0604030504040204" pitchFamily="50" charset="-128"/>
              <a:ea typeface="メイリオ" panose="020B0604030504040204" pitchFamily="50" charset="-128"/>
            </a:endParaRPr>
          </a:p>
          <a:p>
            <a:pPr algn="ctr"/>
            <a:r>
              <a:rPr lang="ja-JP" altLang="en-US" sz="1400" b="1" dirty="0">
                <a:latin typeface="メイリオ" panose="020B0604030504040204" pitchFamily="50" charset="-128"/>
                <a:ea typeface="メイリオ" panose="020B0604030504040204" pitchFamily="50" charset="-128"/>
              </a:rPr>
              <a:t>友だち追加の入口・追加後の動線ともに、改善の余地があると想定。</a:t>
            </a:r>
            <a:endParaRPr lang="en-US" altLang="ja-JP" sz="1400" b="1"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3500546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E5221-666F-DE20-B9E8-FDFC607CC22D}"/>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sp>
        <p:nvSpPr>
          <p:cNvPr id="45" name="Google Shape;156;p7">
            <a:extLst>
              <a:ext uri="{FF2B5EF4-FFF2-40B4-BE49-F238E27FC236}">
                <a16:creationId xmlns:a16="http://schemas.microsoft.com/office/drawing/2014/main" id="{49FC28CD-401F-CB33-EA18-1071AD4C7D12}"/>
              </a:ext>
            </a:extLst>
          </p:cNvPr>
          <p:cNvSpPr txBox="1"/>
          <p:nvPr/>
        </p:nvSpPr>
        <p:spPr>
          <a:xfrm>
            <a:off x="548883" y="138138"/>
            <a:ext cx="6514857" cy="33851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想定動線</a:t>
            </a:r>
            <a:endParaRPr lang="en-US" altLang="ja-JP" sz="1600" b="1" dirty="0">
              <a:solidFill>
                <a:srgbClr val="002060"/>
              </a:solidFill>
              <a:latin typeface="Meiryo"/>
              <a:ea typeface="Meiryo"/>
              <a:cs typeface="Meiryo"/>
              <a:sym typeface="Meiryo"/>
            </a:endParaRPr>
          </a:p>
        </p:txBody>
      </p:sp>
      <p:cxnSp>
        <p:nvCxnSpPr>
          <p:cNvPr id="2"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6" name="テキスト ボックス 5">
            <a:extLst>
              <a:ext uri="{FF2B5EF4-FFF2-40B4-BE49-F238E27FC236}">
                <a16:creationId xmlns:a16="http://schemas.microsoft.com/office/drawing/2014/main" id="{EC0D1AEC-5D54-2359-450D-84430B2857C0}"/>
              </a:ext>
            </a:extLst>
          </p:cNvPr>
          <p:cNvSpPr txBox="1"/>
          <p:nvPr/>
        </p:nvSpPr>
        <p:spPr>
          <a:xfrm>
            <a:off x="3542139" y="1938528"/>
            <a:ext cx="2351836" cy="329184"/>
          </a:xfrm>
          <a:prstGeom prst="rect">
            <a:avLst/>
          </a:prstGeom>
          <a:solidFill>
            <a:srgbClr val="C00000"/>
          </a:solidFill>
        </p:spPr>
        <p:txBody>
          <a:bodyPr wrap="square" anchor="t">
            <a:noAutofit/>
          </a:bodyPr>
          <a:lstStyle/>
          <a:p>
            <a:pPr>
              <a:buNone/>
            </a:pPr>
            <a:r>
              <a:rPr lang="ja-JP" altLang="en-US" sz="1400" b="1" dirty="0">
                <a:solidFill>
                  <a:srgbClr val="FFFFFF"/>
                </a:solidFill>
                <a:latin typeface="メイリオ" panose="020B0604030504040204" pitchFamily="50" charset="-128"/>
                <a:ea typeface="メイリオ" panose="020B0604030504040204" pitchFamily="50" charset="-128"/>
              </a:rPr>
              <a:t>⑤ リード有効化</a:t>
            </a:r>
            <a:endParaRPr lang="ja-JP" altLang="ja-JP" sz="1400" b="1" dirty="0">
              <a:solidFill>
                <a:srgbClr val="FFFFFF"/>
              </a:solidFill>
              <a:latin typeface="メイリオ" panose="020B0604030504040204" pitchFamily="50" charset="-128"/>
              <a:ea typeface="メイリオ" panose="020B0604030504040204" pitchFamily="50" charset="-128"/>
            </a:endParaRPr>
          </a:p>
        </p:txBody>
      </p:sp>
      <p:sp>
        <p:nvSpPr>
          <p:cNvPr id="7" name="テキスト ボックス 6">
            <a:extLst>
              <a:ext uri="{FF2B5EF4-FFF2-40B4-BE49-F238E27FC236}">
                <a16:creationId xmlns:a16="http://schemas.microsoft.com/office/drawing/2014/main" id="{BE746261-2A92-C9B9-6034-451CF233AB9D}"/>
              </a:ext>
            </a:extLst>
          </p:cNvPr>
          <p:cNvSpPr txBox="1"/>
          <p:nvPr/>
        </p:nvSpPr>
        <p:spPr>
          <a:xfrm>
            <a:off x="6119413" y="2468880"/>
            <a:ext cx="2351836" cy="329184"/>
          </a:xfrm>
          <a:prstGeom prst="rect">
            <a:avLst/>
          </a:prstGeom>
          <a:solidFill>
            <a:schemeClr val="tx2">
              <a:lumMod val="40000"/>
              <a:lumOff val="60000"/>
              <a:alpha val="30000"/>
            </a:schemeClr>
          </a:solidFill>
        </p:spPr>
        <p:txBody>
          <a:bodyPr wrap="square" anchor="t">
            <a:noAutofit/>
          </a:bodyPr>
          <a:lstStyle/>
          <a:p>
            <a:pPr>
              <a:buNone/>
            </a:pPr>
            <a:r>
              <a:rPr lang="ja-JP" altLang="en-US" sz="1200" b="1" dirty="0">
                <a:latin typeface="メイリオ" panose="020B0604030504040204" pitchFamily="50" charset="-128"/>
                <a:ea typeface="メイリオ" panose="020B0604030504040204" pitchFamily="50" charset="-128"/>
              </a:rPr>
              <a:t>⑦マネタイズ</a:t>
            </a:r>
            <a:r>
              <a:rPr lang="ja-JP" altLang="en-US" sz="1100" b="1" dirty="0">
                <a:latin typeface="メイリオ" panose="020B0604030504040204" pitchFamily="50" charset="-128"/>
                <a:ea typeface="メイリオ" panose="020B0604030504040204" pitchFamily="50" charset="-128"/>
              </a:rPr>
              <a:t>(成約)</a:t>
            </a:r>
            <a:endParaRPr lang="ja-JP" altLang="ja-JP" sz="1200" b="1" dirty="0">
              <a:latin typeface="メイリオ" panose="020B0604030504040204" pitchFamily="50" charset="-128"/>
              <a:ea typeface="メイリオ" panose="020B0604030504040204" pitchFamily="50" charset="-128"/>
            </a:endParaRPr>
          </a:p>
        </p:txBody>
      </p:sp>
      <p:sp>
        <p:nvSpPr>
          <p:cNvPr id="8" name="テキスト ボックス 7">
            <a:extLst>
              <a:ext uri="{FF2B5EF4-FFF2-40B4-BE49-F238E27FC236}">
                <a16:creationId xmlns:a16="http://schemas.microsoft.com/office/drawing/2014/main" id="{8948BAF3-ECB9-2FF9-8B0D-50EE1A62E7C4}"/>
              </a:ext>
            </a:extLst>
          </p:cNvPr>
          <p:cNvSpPr txBox="1"/>
          <p:nvPr/>
        </p:nvSpPr>
        <p:spPr>
          <a:xfrm>
            <a:off x="4830776" y="2203704"/>
            <a:ext cx="2351836" cy="329184"/>
          </a:xfrm>
          <a:prstGeom prst="rect">
            <a:avLst/>
          </a:prstGeom>
          <a:solidFill>
            <a:schemeClr val="tx2">
              <a:lumMod val="40000"/>
              <a:lumOff val="60000"/>
              <a:alpha val="30000"/>
            </a:schemeClr>
          </a:solidFill>
        </p:spPr>
        <p:txBody>
          <a:bodyPr wrap="square" anchor="t">
            <a:noAutofit/>
          </a:bodyPr>
          <a:lstStyle/>
          <a:p>
            <a:pPr>
              <a:buNone/>
            </a:pPr>
            <a:r>
              <a:rPr lang="ja-JP" altLang="en-US" sz="1200" b="1" dirty="0">
                <a:latin typeface="メイリオ" panose="020B0604030504040204" pitchFamily="50" charset="-128"/>
                <a:ea typeface="メイリオ" panose="020B0604030504040204" pitchFamily="50" charset="-128"/>
              </a:rPr>
              <a:t>⑥ 有効リードの再育成</a:t>
            </a:r>
            <a:endParaRPr lang="ja-JP" altLang="ja-JP" sz="1200" b="1" dirty="0">
              <a:latin typeface="メイリオ" panose="020B0604030504040204" pitchFamily="50" charset="-128"/>
              <a:ea typeface="メイリオ" panose="020B0604030504040204" pitchFamily="50" charset="-128"/>
            </a:endParaRPr>
          </a:p>
        </p:txBody>
      </p:sp>
      <p:sp>
        <p:nvSpPr>
          <p:cNvPr id="9" name="テキスト ボックス 8">
            <a:extLst>
              <a:ext uri="{FF2B5EF4-FFF2-40B4-BE49-F238E27FC236}">
                <a16:creationId xmlns:a16="http://schemas.microsoft.com/office/drawing/2014/main" id="{03689A4E-877A-1305-D91C-502200DDD5CA}"/>
              </a:ext>
            </a:extLst>
          </p:cNvPr>
          <p:cNvSpPr txBox="1"/>
          <p:nvPr/>
        </p:nvSpPr>
        <p:spPr>
          <a:xfrm>
            <a:off x="7408050" y="2734056"/>
            <a:ext cx="2351836" cy="402336"/>
          </a:xfrm>
          <a:prstGeom prst="rect">
            <a:avLst/>
          </a:prstGeom>
          <a:solidFill>
            <a:schemeClr val="tx2">
              <a:lumMod val="40000"/>
              <a:lumOff val="60000"/>
              <a:alpha val="30000"/>
            </a:schemeClr>
          </a:solidFill>
        </p:spPr>
        <p:txBody>
          <a:bodyPr wrap="square" anchor="t">
            <a:noAutofit/>
          </a:bodyPr>
          <a:lstStyle/>
          <a:p>
            <a:pPr>
              <a:buNone/>
            </a:pPr>
            <a:r>
              <a:rPr lang="ja-JP" altLang="en-US" sz="1200" b="1" dirty="0">
                <a:latin typeface="メイリオ" panose="020B0604030504040204" pitchFamily="50" charset="-128"/>
                <a:ea typeface="メイリオ" panose="020B0604030504040204" pitchFamily="50" charset="-128"/>
              </a:rPr>
              <a:t>⑧</a:t>
            </a:r>
            <a:r>
              <a:rPr lang="en-US" altLang="ja-JP" sz="1200" b="1" dirty="0">
                <a:latin typeface="メイリオ" panose="020B0604030504040204" pitchFamily="50" charset="-128"/>
                <a:ea typeface="メイリオ" panose="020B0604030504040204" pitchFamily="50" charset="-128"/>
              </a:rPr>
              <a:t>LTV</a:t>
            </a:r>
            <a:r>
              <a:rPr lang="ja-JP" altLang="en-US" sz="1200" b="1" dirty="0">
                <a:latin typeface="メイリオ" panose="020B0604030504040204" pitchFamily="50" charset="-128"/>
                <a:ea typeface="メイリオ" panose="020B0604030504040204" pitchFamily="50" charset="-128"/>
              </a:rPr>
              <a:t>最大化・紹介</a:t>
            </a:r>
            <a:endParaRPr lang="en-US" altLang="ja-JP" sz="1200" b="1" dirty="0">
              <a:latin typeface="メイリオ" panose="020B0604030504040204" pitchFamily="50" charset="-128"/>
              <a:ea typeface="メイリオ" panose="020B0604030504040204" pitchFamily="50" charset="-128"/>
            </a:endParaRPr>
          </a:p>
          <a:p>
            <a:pPr>
              <a:buNone/>
            </a:pPr>
            <a:endParaRPr lang="ja-JP" altLang="ja-JP" sz="1100" b="1" dirty="0">
              <a:latin typeface="メイリオ" panose="020B0604030504040204" pitchFamily="50" charset="-128"/>
              <a:ea typeface="メイリオ" panose="020B0604030504040204" pitchFamily="50" charset="-128"/>
            </a:endParaRPr>
          </a:p>
        </p:txBody>
      </p:sp>
      <p:sp>
        <p:nvSpPr>
          <p:cNvPr id="10" name="テキスト ボックス 9">
            <a:extLst>
              <a:ext uri="{FF2B5EF4-FFF2-40B4-BE49-F238E27FC236}">
                <a16:creationId xmlns:a16="http://schemas.microsoft.com/office/drawing/2014/main" id="{6B79D75E-D645-6E3E-B433-8F68BE5185B7}"/>
              </a:ext>
            </a:extLst>
          </p:cNvPr>
          <p:cNvSpPr txBox="1"/>
          <p:nvPr/>
        </p:nvSpPr>
        <p:spPr>
          <a:xfrm>
            <a:off x="334303" y="1938528"/>
            <a:ext cx="2103120" cy="329184"/>
          </a:xfrm>
          <a:prstGeom prst="rect">
            <a:avLst/>
          </a:prstGeom>
          <a:solidFill>
            <a:schemeClr val="accent6">
              <a:lumMod val="40000"/>
              <a:lumOff val="60000"/>
              <a:alpha val="30000"/>
            </a:schemeClr>
          </a:solidFill>
        </p:spPr>
        <p:txBody>
          <a:bodyPr wrap="square" anchor="t" lIns="64008" rIns="64008">
            <a:noAutofit/>
          </a:bodyPr>
          <a:lstStyle/>
          <a:p>
            <a:pPr>
              <a:buNone/>
            </a:pPr>
            <a:r>
              <a:rPr lang="ja-JP" altLang="ja-JP" sz="1200" b="1" dirty="0">
                <a:latin typeface="メイリオ" panose="020B0604030504040204" pitchFamily="50" charset="-128"/>
                <a:ea typeface="メイリオ" panose="020B0604030504040204" pitchFamily="50" charset="-128"/>
              </a:rPr>
              <a:t>① 接触（認知・流入）</a:t>
            </a:r>
          </a:p>
        </p:txBody>
      </p:sp>
      <p:sp>
        <p:nvSpPr>
          <p:cNvPr id="11" name="テキスト ボックス 10">
            <a:extLst>
              <a:ext uri="{FF2B5EF4-FFF2-40B4-BE49-F238E27FC236}">
                <a16:creationId xmlns:a16="http://schemas.microsoft.com/office/drawing/2014/main" id="{D26B3D93-E4B8-A140-7F64-AEE99515674C}"/>
              </a:ext>
            </a:extLst>
          </p:cNvPr>
          <p:cNvSpPr txBox="1"/>
          <p:nvPr/>
        </p:nvSpPr>
        <p:spPr>
          <a:xfrm>
            <a:off x="1268358" y="2203704"/>
            <a:ext cx="2103120" cy="329184"/>
          </a:xfrm>
          <a:prstGeom prst="rect">
            <a:avLst/>
          </a:prstGeom>
          <a:solidFill>
            <a:schemeClr val="accent6">
              <a:lumMod val="40000"/>
              <a:lumOff val="60000"/>
              <a:alpha val="30000"/>
            </a:schemeClr>
          </a:solidFill>
        </p:spPr>
        <p:txBody>
          <a:bodyPr wrap="square" anchor="t" lIns="64008" rIns="64008">
            <a:noAutofit/>
          </a:bodyPr>
          <a:lstStyle/>
          <a:p>
            <a:pPr>
              <a:buNone/>
            </a:pPr>
            <a:r>
              <a:rPr lang="ja-JP" altLang="ja-JP" sz="1200" b="1" dirty="0">
                <a:latin typeface="メイリオ" panose="020B0604030504040204" pitchFamily="50" charset="-128"/>
                <a:ea typeface="メイリオ" panose="020B0604030504040204" pitchFamily="50" charset="-128"/>
              </a:rPr>
              <a:t>② サイト離脱</a:t>
            </a:r>
            <a:r>
              <a:rPr lang="ja-JP" altLang="en-US" sz="1200" b="1" dirty="0">
                <a:latin typeface="メイリオ" panose="020B0604030504040204" pitchFamily="50" charset="-128"/>
                <a:ea typeface="メイリオ" panose="020B0604030504040204" pitchFamily="50" charset="-128"/>
              </a:rPr>
              <a:t>（対策）</a:t>
            </a:r>
            <a:endParaRPr lang="ja-JP" altLang="ja-JP" sz="1200" b="1" dirty="0">
              <a:latin typeface="メイリオ" panose="020B0604030504040204" pitchFamily="50" charset="-128"/>
              <a:ea typeface="メイリオ" panose="020B0604030504040204" pitchFamily="50" charset="-128"/>
            </a:endParaRPr>
          </a:p>
        </p:txBody>
      </p:sp>
      <p:sp>
        <p:nvSpPr>
          <p:cNvPr id="12" name="テキスト ボックス 11">
            <a:extLst>
              <a:ext uri="{FF2B5EF4-FFF2-40B4-BE49-F238E27FC236}">
                <a16:creationId xmlns:a16="http://schemas.microsoft.com/office/drawing/2014/main" id="{12C4F8BA-6552-4B16-FBC5-C62D2917BFE8}"/>
              </a:ext>
            </a:extLst>
          </p:cNvPr>
          <p:cNvSpPr txBox="1"/>
          <p:nvPr/>
        </p:nvSpPr>
        <p:spPr>
          <a:xfrm>
            <a:off x="2202413" y="2468880"/>
            <a:ext cx="2103120" cy="329184"/>
          </a:xfrm>
          <a:prstGeom prst="rect">
            <a:avLst/>
          </a:prstGeom>
          <a:solidFill>
            <a:schemeClr val="accent6">
              <a:lumMod val="40000"/>
              <a:lumOff val="60000"/>
              <a:alpha val="30000"/>
            </a:schemeClr>
          </a:solidFill>
        </p:spPr>
        <p:txBody>
          <a:bodyPr wrap="square" anchor="t" lIns="64008" rIns="64008">
            <a:noAutofit/>
          </a:bodyPr>
          <a:lstStyle/>
          <a:p>
            <a:pPr>
              <a:buNone/>
            </a:pPr>
            <a:r>
              <a:rPr lang="ja-JP" altLang="ja-JP" sz="1200" b="1" dirty="0">
                <a:latin typeface="メイリオ" panose="020B0604030504040204" pitchFamily="50" charset="-128"/>
                <a:ea typeface="メイリオ" panose="020B0604030504040204" pitchFamily="50" charset="-128"/>
              </a:rPr>
              <a:t>③ 育成（興味</a:t>
            </a:r>
            <a:r>
              <a:rPr lang="ja-JP" altLang="en-US" sz="1200" b="1" dirty="0">
                <a:latin typeface="メイリオ" panose="020B0604030504040204" pitchFamily="50" charset="-128"/>
                <a:ea typeface="メイリオ" panose="020B0604030504040204" pitchFamily="50" charset="-128"/>
              </a:rPr>
              <a:t>喚起</a:t>
            </a:r>
            <a:r>
              <a:rPr lang="ja-JP" altLang="ja-JP" sz="1200" b="1" dirty="0">
                <a:latin typeface="メイリオ" panose="020B0604030504040204" pitchFamily="50" charset="-128"/>
                <a:ea typeface="メイリオ" panose="020B0604030504040204" pitchFamily="50" charset="-128"/>
              </a:rPr>
              <a:t>）</a:t>
            </a:r>
          </a:p>
        </p:txBody>
      </p:sp>
      <p:sp>
        <p:nvSpPr>
          <p:cNvPr id="13" name="テキスト ボックス 12">
            <a:extLst>
              <a:ext uri="{FF2B5EF4-FFF2-40B4-BE49-F238E27FC236}">
                <a16:creationId xmlns:a16="http://schemas.microsoft.com/office/drawing/2014/main" id="{BD16F021-165B-ADE2-A377-D74CBC854B23}"/>
              </a:ext>
            </a:extLst>
          </p:cNvPr>
          <p:cNvSpPr txBox="1"/>
          <p:nvPr/>
        </p:nvSpPr>
        <p:spPr>
          <a:xfrm>
            <a:off x="3136468" y="2734056"/>
            <a:ext cx="2103120" cy="329184"/>
          </a:xfrm>
          <a:prstGeom prst="rect">
            <a:avLst/>
          </a:prstGeom>
          <a:solidFill>
            <a:schemeClr val="accent6">
              <a:lumMod val="40000"/>
              <a:lumOff val="60000"/>
              <a:alpha val="30000"/>
            </a:schemeClr>
          </a:solidFill>
        </p:spPr>
        <p:txBody>
          <a:bodyPr wrap="square" anchor="t" lIns="64008" rIns="64008">
            <a:noAutofit/>
          </a:bodyPr>
          <a:lstStyle/>
          <a:p>
            <a:pPr>
              <a:buNone/>
            </a:pPr>
            <a:r>
              <a:rPr lang="ja-JP" altLang="en-US" sz="1200" b="1" dirty="0">
                <a:latin typeface="メイリオ" panose="020B0604030504040204" pitchFamily="50" charset="-128"/>
                <a:ea typeface="メイリオ" panose="020B0604030504040204" pitchFamily="50" charset="-128"/>
              </a:rPr>
              <a:t>④リード獲得 </a:t>
            </a:r>
            <a:r>
              <a:rPr lang="en-US" altLang="ja-JP" sz="1100" b="1" dirty="0">
                <a:latin typeface="メイリオ" panose="020B0604030504040204" pitchFamily="50" charset="-128"/>
                <a:ea typeface="メイリオ" panose="020B0604030504040204" pitchFamily="50" charset="-128"/>
              </a:rPr>
              <a:t>(web/LINE)</a:t>
            </a:r>
            <a:endParaRPr lang="ja-JP" altLang="ja-JP" sz="1050" b="1" dirty="0">
              <a:latin typeface="メイリオ" panose="020B0604030504040204" pitchFamily="50" charset="-128"/>
              <a:ea typeface="メイリオ" panose="020B0604030504040204" pitchFamily="50" charset="-128"/>
            </a:endParaRPr>
          </a:p>
        </p:txBody>
      </p:sp>
      <p:cxnSp>
        <p:nvCxnSpPr>
          <p:cNvPr id="14" name="コネクタ: カギ線 13">
            <a:extLst>
              <a:ext uri="{FF2B5EF4-FFF2-40B4-BE49-F238E27FC236}">
                <a16:creationId xmlns:a16="http://schemas.microsoft.com/office/drawing/2014/main" id="{B116237D-8580-3F61-2B2F-766C3CCF8BF6}"/>
              </a:ext>
            </a:extLst>
          </p:cNvPr>
          <p:cNvCxnSpPr>
            <a:cxnSpLocks/>
          </p:cNvCxnSpPr>
          <p:nvPr/>
        </p:nvCxnSpPr>
        <p:spPr>
          <a:xfrm rot="5400000" flipH="1" flipV="1">
            <a:off x="4319771" y="2335769"/>
            <a:ext cx="466344" cy="330228"/>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5" name="正方形/長方形 14">
            <a:extLst>
              <a:ext uri="{FF2B5EF4-FFF2-40B4-BE49-F238E27FC236}">
                <a16:creationId xmlns:a16="http://schemas.microsoft.com/office/drawing/2014/main" id="{55D1671E-E029-A7B0-F0FE-5B3AEA581FA7}"/>
              </a:ext>
            </a:extLst>
          </p:cNvPr>
          <p:cNvSpPr/>
          <p:nvPr/>
        </p:nvSpPr>
        <p:spPr>
          <a:xfrm>
            <a:off x="334303" y="1481328"/>
            <a:ext cx="9425943" cy="40233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6" name="直線矢印コネクタ 15">
            <a:extLst>
              <a:ext uri="{FF2B5EF4-FFF2-40B4-BE49-F238E27FC236}">
                <a16:creationId xmlns:a16="http://schemas.microsoft.com/office/drawing/2014/main" id="{9C9A66C9-6F0C-720F-D33F-5A677E31CE55}"/>
              </a:ext>
            </a:extLst>
          </p:cNvPr>
          <p:cNvCxnSpPr>
            <a:cxnSpLocks/>
          </p:cNvCxnSpPr>
          <p:nvPr/>
        </p:nvCxnSpPr>
        <p:spPr>
          <a:xfrm>
            <a:off x="417642" y="1682496"/>
            <a:ext cx="9240215"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17" name="テキスト ボックス 16">
            <a:extLst>
              <a:ext uri="{FF2B5EF4-FFF2-40B4-BE49-F238E27FC236}">
                <a16:creationId xmlns:a16="http://schemas.microsoft.com/office/drawing/2014/main" id="{E0FFD56C-A8BF-1D7F-B9F0-7A4C2CF517A7}"/>
              </a:ext>
            </a:extLst>
          </p:cNvPr>
          <p:cNvSpPr txBox="1"/>
          <p:nvPr/>
        </p:nvSpPr>
        <p:spPr>
          <a:xfrm>
            <a:off x="3898151" y="1536192"/>
            <a:ext cx="2651760" cy="292608"/>
          </a:xfrm>
          <a:prstGeom prst="rect">
            <a:avLst/>
          </a:prstGeom>
          <a:solidFill>
            <a:schemeClr val="bg1">
              <a:lumMod val="95000"/>
            </a:schemeClr>
          </a:solidFill>
        </p:spPr>
        <p:txBody>
          <a:bodyPr wrap="square" anchor="ctr">
            <a:noAutofit/>
          </a:bodyPr>
          <a:lstStyle/>
          <a:p>
            <a:pPr algn="ctr"/>
            <a:r>
              <a:rPr lang="ja-JP" altLang="en-US" sz="1200" b="1" dirty="0">
                <a:latin typeface="メイリオ" panose="020B0604030504040204" pitchFamily="50" charset="-128"/>
                <a:ea typeface="メイリオ" panose="020B0604030504040204" pitchFamily="50" charset="-128"/>
                <a:cs typeface="Meiryo"/>
                <a:sym typeface="Meiryo"/>
              </a:rPr>
              <a:t>カスタマージャーニーマップ</a:t>
            </a:r>
            <a:endParaRPr lang="ja-JP" altLang="en-US" sz="1200" dirty="0"/>
          </a:p>
        </p:txBody>
      </p:sp>
      <p:sp>
        <p:nvSpPr>
          <p:cNvPr id="28" name="正方形/長方形 27">
            <a:extLst>
              <a:ext uri="{FF2B5EF4-FFF2-40B4-BE49-F238E27FC236}">
                <a16:creationId xmlns:a16="http://schemas.microsoft.com/office/drawing/2014/main" id="{985D0F3D-E958-2764-0030-33A43FBBB844}"/>
              </a:ext>
            </a:extLst>
          </p:cNvPr>
          <p:cNvSpPr/>
          <p:nvPr/>
        </p:nvSpPr>
        <p:spPr>
          <a:xfrm>
            <a:off x="334303" y="3246120"/>
            <a:ext cx="9425943" cy="310896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4" name="テキスト ボックス 33">
            <a:extLst>
              <a:ext uri="{FF2B5EF4-FFF2-40B4-BE49-F238E27FC236}">
                <a16:creationId xmlns:a16="http://schemas.microsoft.com/office/drawing/2014/main" id="{6EF69A8A-6EFE-81B5-27C6-31715CCA0A13}"/>
              </a:ext>
            </a:extLst>
          </p:cNvPr>
          <p:cNvSpPr txBox="1"/>
          <p:nvPr/>
        </p:nvSpPr>
        <p:spPr>
          <a:xfrm>
            <a:off x="3542385" y="4133087"/>
            <a:ext cx="3641140" cy="329184"/>
          </a:xfrm>
          <a:prstGeom prst="rect">
            <a:avLst/>
          </a:prstGeom>
          <a:solidFill>
            <a:srgbClr val="173559"/>
          </a:solidFill>
        </p:spPr>
        <p:txBody>
          <a:bodyPr wrap="square" anchor="ctr">
            <a:noAutofit/>
          </a:bodyPr>
          <a:lstStyle/>
          <a:p>
            <a:pPr algn="ctr"/>
            <a:r>
              <a:rPr lang="ja-JP" altLang="en-US" sz="1300" b="1" dirty="0">
                <a:solidFill>
                  <a:schemeClr val="bg1"/>
                </a:solidFill>
                <a:latin typeface="メイリオ" panose="020B0604030504040204" pitchFamily="50" charset="-128"/>
                <a:ea typeface="メイリオ" panose="020B0604030504040204" pitchFamily="50" charset="-128"/>
              </a:rPr>
              <a:t>問い合わせ（空室確認・内見の手配）</a:t>
            </a:r>
            <a:endParaRPr lang="en-US" altLang="ja-JP" sz="1300" b="1" dirty="0">
              <a:solidFill>
                <a:schemeClr val="bg1"/>
              </a:solidFill>
              <a:latin typeface="メイリオ" panose="020B0604030504040204" pitchFamily="50" charset="-128"/>
              <a:ea typeface="メイリオ" panose="020B0604030504040204" pitchFamily="50" charset="-128"/>
            </a:endParaRPr>
          </a:p>
        </p:txBody>
      </p:sp>
      <p:sp>
        <p:nvSpPr>
          <p:cNvPr id="36" name="テキスト ボックス 35">
            <a:extLst>
              <a:ext uri="{FF2B5EF4-FFF2-40B4-BE49-F238E27FC236}">
                <a16:creationId xmlns:a16="http://schemas.microsoft.com/office/drawing/2014/main" id="{38132008-D8F9-19F3-2653-AEF9F6C09DC2}"/>
              </a:ext>
            </a:extLst>
          </p:cNvPr>
          <p:cNvSpPr txBox="1"/>
          <p:nvPr/>
        </p:nvSpPr>
        <p:spPr>
          <a:xfrm>
            <a:off x="6119164" y="5074920"/>
            <a:ext cx="2351836" cy="329184"/>
          </a:xfrm>
          <a:prstGeom prst="rect">
            <a:avLst/>
          </a:prstGeom>
          <a:solidFill>
            <a:srgbClr val="FF0000"/>
          </a:solidFill>
        </p:spPr>
        <p:txBody>
          <a:bodyPr wrap="square" anchor="ctr">
            <a:noAutofit/>
          </a:bodyPr>
          <a:lstStyle/>
          <a:p>
            <a:pPr algn="ctr"/>
            <a:r>
              <a:rPr lang="ja-JP" altLang="en-US" sz="1300" b="1" dirty="0">
                <a:solidFill>
                  <a:schemeClr val="bg1"/>
                </a:solidFill>
                <a:latin typeface="メイリオ" panose="020B0604030504040204" pitchFamily="50" charset="-128"/>
                <a:ea typeface="メイリオ" panose="020B0604030504040204" pitchFamily="50" charset="-128"/>
              </a:rPr>
              <a:t>ご契約</a:t>
            </a:r>
            <a:endParaRPr lang="en-US" altLang="ja-JP" sz="1300" b="1" dirty="0">
              <a:solidFill>
                <a:schemeClr val="bg1"/>
              </a:solidFill>
              <a:latin typeface="メイリオ" panose="020B0604030504040204" pitchFamily="50" charset="-128"/>
              <a:ea typeface="メイリオ" panose="020B0604030504040204" pitchFamily="50" charset="-128"/>
            </a:endParaRPr>
          </a:p>
        </p:txBody>
      </p:sp>
      <p:sp>
        <p:nvSpPr>
          <p:cNvPr id="38" name="テキスト ボックス 37">
            <a:extLst>
              <a:ext uri="{FF2B5EF4-FFF2-40B4-BE49-F238E27FC236}">
                <a16:creationId xmlns:a16="http://schemas.microsoft.com/office/drawing/2014/main" id="{8423A7FD-A6C6-EFD2-582C-90B8E121BC79}"/>
              </a:ext>
            </a:extLst>
          </p:cNvPr>
          <p:cNvSpPr txBox="1"/>
          <p:nvPr/>
        </p:nvSpPr>
        <p:spPr>
          <a:xfrm>
            <a:off x="329184" y="3310128"/>
            <a:ext cx="2743200" cy="310896"/>
          </a:xfrm>
          <a:prstGeom prst="rect">
            <a:avLst/>
          </a:prstGeom>
          <a:noFill/>
        </p:spPr>
        <p:txBody>
          <a:bodyPr wrap="square" anchor="ctr">
            <a:noAutofit/>
          </a:bodyPr>
          <a:lstStyle/>
          <a:p>
            <a:pPr algn="ctr"/>
            <a:r>
              <a:rPr lang="en-US" altLang="ja-JP" sz="1200" dirty="0">
                <a:latin typeface="メイリオ" panose="020B0604030504040204" pitchFamily="50" charset="-128"/>
                <a:ea typeface="メイリオ" panose="020B0604030504040204" pitchFamily="50" charset="-128"/>
              </a:rPr>
              <a:t>&lt;</a:t>
            </a:r>
            <a:r>
              <a:rPr lang="ja-JP" altLang="en-US" sz="1200" dirty="0">
                <a:latin typeface="メイリオ" panose="020B0604030504040204" pitchFamily="50" charset="-128"/>
                <a:ea typeface="メイリオ" panose="020B0604030504040204" pitchFamily="50" charset="-128"/>
              </a:rPr>
              <a:t>貴社のユーザー動線イメージ</a:t>
            </a:r>
            <a:r>
              <a:rPr lang="en-US" altLang="ja-JP" sz="1200" dirty="0">
                <a:latin typeface="メイリオ" panose="020B0604030504040204" pitchFamily="50" charset="-128"/>
                <a:ea typeface="メイリオ" panose="020B0604030504040204" pitchFamily="50" charset="-128"/>
              </a:rPr>
              <a:t>&gt;</a:t>
            </a:r>
            <a:endParaRPr lang="ja-JP" altLang="en-US" sz="1200" dirty="0">
              <a:latin typeface="メイリオ" panose="020B0604030504040204" pitchFamily="50" charset="-128"/>
              <a:ea typeface="メイリオ" panose="020B0604030504040204" pitchFamily="50" charset="-128"/>
            </a:endParaRPr>
          </a:p>
        </p:txBody>
      </p:sp>
      <p:sp>
        <p:nvSpPr>
          <p:cNvPr id="39" name="テキスト ボックス 38">
            <a:extLst>
              <a:ext uri="{FF2B5EF4-FFF2-40B4-BE49-F238E27FC236}">
                <a16:creationId xmlns:a16="http://schemas.microsoft.com/office/drawing/2014/main" id="{3C1D6754-7C46-5825-A516-18CBAE22FDE9}"/>
              </a:ext>
            </a:extLst>
          </p:cNvPr>
          <p:cNvSpPr txBox="1"/>
          <p:nvPr/>
        </p:nvSpPr>
        <p:spPr>
          <a:xfrm>
            <a:off x="365760" y="3730752"/>
            <a:ext cx="1965960" cy="329184"/>
          </a:xfrm>
          <a:prstGeom prst="rect">
            <a:avLst/>
          </a:prstGeom>
          <a:solidFill>
            <a:schemeClr val="bg1">
              <a:lumMod val="75000"/>
              <a:alpha val="30000"/>
            </a:schemeClr>
          </a:solidFill>
        </p:spPr>
        <p:txBody>
          <a:bodyPr wrap="square" lIns="0" rIns="0" anchor="ctr">
            <a:noAutofit/>
          </a:bodyPr>
          <a:lstStyle/>
          <a:p>
            <a:pPr algn="ctr">
              <a:buNone/>
            </a:pPr>
            <a:r>
              <a:rPr lang="ja-JP" altLang="en-US" sz="1300" b="1" dirty="0">
                <a:latin typeface="メイリオ" panose="020B0604030504040204" pitchFamily="50" charset="-128"/>
                <a:ea typeface="メイリオ" panose="020B0604030504040204" pitchFamily="50" charset="-128"/>
              </a:rPr>
              <a:t>①ポータルで物件検索</a:t>
            </a:r>
            <a:endParaRPr lang="ja-JP" altLang="ja-JP" sz="1300" b="1" dirty="0">
              <a:latin typeface="メイリオ" panose="020B0604030504040204" pitchFamily="50" charset="-128"/>
              <a:ea typeface="メイリオ" panose="020B0604030504040204" pitchFamily="50" charset="-128"/>
            </a:endParaRPr>
          </a:p>
        </p:txBody>
      </p:sp>
      <p:sp>
        <p:nvSpPr>
          <p:cNvPr id="26" name="テキスト ボックス 25">
            <a:extLst>
              <a:ext uri="{FF2B5EF4-FFF2-40B4-BE49-F238E27FC236}">
                <a16:creationId xmlns:a16="http://schemas.microsoft.com/office/drawing/2014/main" id="{D15D32A5-89C7-7801-F56B-48100CAD6CC5}"/>
              </a:ext>
            </a:extLst>
          </p:cNvPr>
          <p:cNvSpPr txBox="1"/>
          <p:nvPr/>
        </p:nvSpPr>
        <p:spPr>
          <a:xfrm>
            <a:off x="365760" y="4133087"/>
            <a:ext cx="1965960" cy="329184"/>
          </a:xfrm>
          <a:prstGeom prst="rect">
            <a:avLst/>
          </a:prstGeom>
          <a:solidFill>
            <a:schemeClr val="bg1">
              <a:lumMod val="75000"/>
              <a:alpha val="30000"/>
            </a:schemeClr>
          </a:solidFill>
        </p:spPr>
        <p:txBody>
          <a:bodyPr wrap="square" lIns="0" rIns="0" anchor="ctr">
            <a:noAutofit/>
          </a:bodyPr>
          <a:lstStyle/>
          <a:p>
            <a:pPr algn="ctr">
              <a:buNone/>
            </a:pPr>
            <a:r>
              <a:rPr lang="ja-JP" altLang="en-US" sz="1300" b="1" dirty="0">
                <a:latin typeface="メイリオ" panose="020B0604030504040204" pitchFamily="50" charset="-128"/>
                <a:ea typeface="メイリオ" panose="020B0604030504040204" pitchFamily="50" charset="-128"/>
              </a:rPr>
              <a:t>②100円賃貸のサイト</a:t>
            </a:r>
            <a:endParaRPr lang="ja-JP" altLang="ja-JP" sz="1300" b="1" dirty="0">
              <a:latin typeface="メイリオ" panose="020B0604030504040204" pitchFamily="50" charset="-128"/>
              <a:ea typeface="メイリオ" panose="020B0604030504040204" pitchFamily="50" charset="-128"/>
            </a:endParaRPr>
          </a:p>
        </p:txBody>
      </p:sp>
      <p:sp>
        <p:nvSpPr>
          <p:cNvPr id="37" name="テキスト ボックス 36">
            <a:extLst>
              <a:ext uri="{FF2B5EF4-FFF2-40B4-BE49-F238E27FC236}">
                <a16:creationId xmlns:a16="http://schemas.microsoft.com/office/drawing/2014/main" id="{BAB083D9-279E-97D0-AE6A-D93C9B88589A}"/>
              </a:ext>
            </a:extLst>
          </p:cNvPr>
          <p:cNvSpPr txBox="1"/>
          <p:nvPr/>
        </p:nvSpPr>
        <p:spPr>
          <a:xfrm>
            <a:off x="365760" y="5394960"/>
            <a:ext cx="1965960" cy="329184"/>
          </a:xfrm>
          <a:prstGeom prst="rect">
            <a:avLst/>
          </a:prstGeom>
          <a:solidFill>
            <a:schemeClr val="bg1">
              <a:lumMod val="75000"/>
              <a:alpha val="30000"/>
            </a:schemeClr>
          </a:solidFill>
        </p:spPr>
        <p:txBody>
          <a:bodyPr wrap="square" lIns="0" rIns="0" anchor="ctr">
            <a:noAutofit/>
          </a:bodyPr>
          <a:lstStyle/>
          <a:p>
            <a:pPr algn="ctr">
              <a:buNone/>
            </a:pPr>
            <a:r>
              <a:rPr lang="ja-JP" altLang="en-US" sz="1300" b="1" dirty="0">
                <a:latin typeface="メイリオ" panose="020B0604030504040204" pitchFamily="50" charset="-128"/>
                <a:ea typeface="メイリオ" panose="020B0604030504040204" pitchFamily="50" charset="-128"/>
              </a:rPr>
              <a:t>③LINEで友だち追加</a:t>
            </a:r>
            <a:endParaRPr lang="ja-JP" altLang="ja-JP" sz="1300" b="1" dirty="0">
              <a:latin typeface="メイリオ" panose="020B0604030504040204" pitchFamily="50" charset="-128"/>
              <a:ea typeface="メイリオ" panose="020B0604030504040204" pitchFamily="50" charset="-128"/>
            </a:endParaRPr>
          </a:p>
        </p:txBody>
      </p:sp>
      <p:sp>
        <p:nvSpPr>
          <p:cNvPr id="46" name="テキスト ボックス 45">
            <a:extLst>
              <a:ext uri="{FF2B5EF4-FFF2-40B4-BE49-F238E27FC236}">
                <a16:creationId xmlns:a16="http://schemas.microsoft.com/office/drawing/2014/main" id="{8CA7E237-5705-C3A2-3BA2-3D5CEA05AC50}"/>
              </a:ext>
            </a:extLst>
          </p:cNvPr>
          <p:cNvSpPr txBox="1"/>
          <p:nvPr/>
        </p:nvSpPr>
        <p:spPr>
          <a:xfrm>
            <a:off x="365760" y="5797296"/>
            <a:ext cx="1965960" cy="329184"/>
          </a:xfrm>
          <a:prstGeom prst="rect">
            <a:avLst/>
          </a:prstGeom>
          <a:solidFill>
            <a:schemeClr val="bg1">
              <a:lumMod val="75000"/>
              <a:alpha val="30000"/>
            </a:schemeClr>
          </a:solidFill>
        </p:spPr>
        <p:txBody>
          <a:bodyPr wrap="square" lIns="0" rIns="0" anchor="ctr">
            <a:noAutofit/>
          </a:bodyPr>
          <a:lstStyle/>
          <a:p>
            <a:pPr algn="ctr">
              <a:buNone/>
            </a:pPr>
            <a:r>
              <a:rPr lang="ja-JP" altLang="en-US" sz="1300" b="1" dirty="0">
                <a:latin typeface="メイリオ" panose="020B0604030504040204" pitchFamily="50" charset="-128"/>
                <a:ea typeface="メイリオ" panose="020B0604030504040204" pitchFamily="50" charset="-128"/>
              </a:rPr>
              <a:t>④物件の情報を送信</a:t>
            </a:r>
            <a:endParaRPr lang="ja-JP" altLang="ja-JP" sz="1300" b="1" dirty="0">
              <a:latin typeface="メイリオ" panose="020B0604030504040204" pitchFamily="50" charset="-128"/>
              <a:ea typeface="メイリオ" panose="020B0604030504040204" pitchFamily="50" charset="-128"/>
            </a:endParaRPr>
          </a:p>
        </p:txBody>
      </p:sp>
      <p:cxnSp>
        <p:nvCxnSpPr>
          <p:cNvPr id="47" name="コネクタ: カギ線 46">
            <a:extLst>
              <a:ext uri="{FF2B5EF4-FFF2-40B4-BE49-F238E27FC236}">
                <a16:creationId xmlns:a16="http://schemas.microsoft.com/office/drawing/2014/main" id="{B9856E8F-73DC-42CA-5603-0929EAEE24B3}"/>
              </a:ext>
            </a:extLst>
          </p:cNvPr>
          <p:cNvCxnSpPr>
            <a:cxnSpLocks/>
            <a:stCxn id="46" idx="3"/>
            <a:endCxn id="34" idx="1"/>
          </p:cNvCxnSpPr>
          <p:nvPr/>
        </p:nvCxnSpPr>
        <p:spPr>
          <a:xfrm flipV="1">
            <a:off x="2331720" y="4297679"/>
            <a:ext cx="1210665" cy="1664208"/>
          </a:xfrm>
          <a:prstGeom prst="bentConnector3">
            <a:avLst>
              <a:gd name="adj1" fmla="val 50000"/>
            </a:avLst>
          </a:prstGeom>
          <a:ln w="12700">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55" name="テキスト ボックス 54">
            <a:extLst>
              <a:ext uri="{FF2B5EF4-FFF2-40B4-BE49-F238E27FC236}">
                <a16:creationId xmlns:a16="http://schemas.microsoft.com/office/drawing/2014/main" id="{596EB3ED-1574-7170-0376-F4EEF28A9DB9}"/>
              </a:ext>
            </a:extLst>
          </p:cNvPr>
          <p:cNvSpPr txBox="1"/>
          <p:nvPr/>
        </p:nvSpPr>
        <p:spPr>
          <a:xfrm>
            <a:off x="2662732" y="5340096"/>
            <a:ext cx="548640" cy="310896"/>
          </a:xfrm>
          <a:prstGeom prst="rect">
            <a:avLst/>
          </a:prstGeom>
          <a:solidFill>
            <a:schemeClr val="accent1">
              <a:lumMod val="40000"/>
              <a:lumOff val="60000"/>
            </a:schemeClr>
          </a:solidFill>
        </p:spPr>
        <p:txBody>
          <a:bodyPr wrap="square" anchor="ctr" lIns="18288" rIns="18288">
            <a:noAutofit/>
          </a:bodyPr>
          <a:lstStyle/>
          <a:p>
            <a:pPr algn="ctr"/>
            <a:r>
              <a:rPr lang="ja-JP" altLang="en-US" sz="1100" dirty="0">
                <a:solidFill>
                  <a:srgbClr val="1F285A"/>
                </a:solidFill>
                <a:latin typeface="メイリオ" panose="020B0604030504040204" pitchFamily="50" charset="-128"/>
                <a:ea typeface="メイリオ" panose="020B0604030504040204" pitchFamily="50" charset="-128"/>
              </a:rPr>
              <a:t>LINE</a:t>
            </a:r>
            <a:endParaRPr lang="en-US" altLang="ja-JP" sz="1100" dirty="0">
              <a:solidFill>
                <a:schemeClr val="bg1"/>
              </a:solidFill>
              <a:latin typeface="メイリオ" panose="020B0604030504040204" pitchFamily="50" charset="-128"/>
              <a:ea typeface="メイリオ" panose="020B0604030504040204" pitchFamily="50" charset="-128"/>
            </a:endParaRPr>
          </a:p>
        </p:txBody>
      </p:sp>
      <p:sp>
        <p:nvSpPr>
          <p:cNvPr id="74" name="テキスト ボックス 73">
            <a:extLst>
              <a:ext uri="{FF2B5EF4-FFF2-40B4-BE49-F238E27FC236}">
                <a16:creationId xmlns:a16="http://schemas.microsoft.com/office/drawing/2014/main" id="{4D7511B7-38C6-2819-BA2E-507529687344}"/>
              </a:ext>
            </a:extLst>
          </p:cNvPr>
          <p:cNvSpPr txBox="1"/>
          <p:nvPr/>
        </p:nvSpPr>
        <p:spPr>
          <a:xfrm>
            <a:off x="7408468" y="5550408"/>
            <a:ext cx="2351836" cy="292608"/>
          </a:xfrm>
          <a:prstGeom prst="rect">
            <a:avLst/>
          </a:prstGeom>
          <a:solidFill>
            <a:schemeClr val="bg1">
              <a:lumMod val="75000"/>
            </a:schemeClr>
          </a:solidFill>
        </p:spPr>
        <p:txBody>
          <a:bodyPr wrap="square" anchor="ctr" lIns="45720" rIns="45720">
            <a:noAutofit/>
          </a:bodyPr>
          <a:lstStyle/>
          <a:p>
            <a:pPr algn="ctr"/>
            <a:r>
              <a:rPr lang="en-US" altLang="ja-JP" sz="1200" dirty="0">
                <a:solidFill>
                  <a:srgbClr val="595959"/>
                </a:solidFill>
                <a:latin typeface="メイリオ" panose="020B0604030504040204" pitchFamily="50" charset="-128"/>
                <a:ea typeface="メイリオ" panose="020B0604030504040204" pitchFamily="50" charset="-128"/>
              </a:rPr>
              <a:t>（鍵のお渡し・お引っ越し）</a:t>
            </a:r>
          </a:p>
        </p:txBody>
      </p:sp>
      <p:cxnSp>
        <p:nvCxnSpPr>
          <p:cNvPr id="22" name="コネクタ: カギ線 21">
            <a:extLst>
              <a:ext uri="{FF2B5EF4-FFF2-40B4-BE49-F238E27FC236}">
                <a16:creationId xmlns:a16="http://schemas.microsoft.com/office/drawing/2014/main" id="{C98FFC8F-E32E-63C2-0769-E61F54F92AA8}"/>
              </a:ext>
            </a:extLst>
          </p:cNvPr>
          <p:cNvCxnSpPr>
            <a:cxnSpLocks/>
          </p:cNvCxnSpPr>
          <p:nvPr/>
        </p:nvCxnSpPr>
        <p:spPr>
          <a:xfrm>
            <a:off x="2331720" y="4297679"/>
            <a:ext cx="1210665" cy="0"/>
          </a:xfrm>
          <a:prstGeom prst="bentConnector3">
            <a:avLst>
              <a:gd name="adj1" fmla="val 50000"/>
            </a:avLst>
          </a:prstGeom>
          <a:ln w="12700">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31" name="テキスト ボックス 30">
            <a:extLst>
              <a:ext uri="{FF2B5EF4-FFF2-40B4-BE49-F238E27FC236}">
                <a16:creationId xmlns:a16="http://schemas.microsoft.com/office/drawing/2014/main" id="{459F6DDB-7C9E-8820-DF35-6AA3914041C2}"/>
              </a:ext>
            </a:extLst>
          </p:cNvPr>
          <p:cNvSpPr txBox="1"/>
          <p:nvPr/>
        </p:nvSpPr>
        <p:spPr>
          <a:xfrm>
            <a:off x="426110" y="598932"/>
            <a:ext cx="9069019" cy="768096"/>
          </a:xfrm>
          <a:prstGeom prst="rect">
            <a:avLst/>
          </a:prstGeom>
          <a:noFill/>
        </p:spPr>
        <p:txBody>
          <a:bodyPr wrap="square" anchor="ctr">
            <a:noAutofit/>
          </a:bodyPr>
          <a:lstStyle/>
          <a:p>
            <a:pPr algn="ctr"/>
            <a:r>
              <a:rPr lang="ja-JP" altLang="en-US" sz="1400" dirty="0">
                <a:solidFill>
                  <a:schemeClr val="tx1">
                    <a:lumMod val="65000"/>
                    <a:lumOff val="35000"/>
                  </a:schemeClr>
                </a:solidFill>
                <a:latin typeface="メイリオ" panose="020B0604030504040204" pitchFamily="50" charset="-128"/>
                <a:ea typeface="メイリオ" panose="020B0604030504040204" pitchFamily="50" charset="-128"/>
              </a:rPr>
              <a:t>ポータルサイトで物件検索 → サイト閲覧 → LINE追加 → </a:t>
            </a:r>
            <a:br>
              <a:rPr lang="ja-JP" altLang="en-US" sz="1400" dirty="0">
                <a:solidFill>
                  <a:schemeClr val="tx1">
                    <a:lumMod val="65000"/>
                    <a:lumOff val="35000"/>
                  </a:schemeClr>
                </a:solidFill>
                <a:latin typeface="メイリオ" panose="020B0604030504040204" pitchFamily="50" charset="-128"/>
                <a:ea typeface="メイリオ" panose="020B0604030504040204" pitchFamily="50" charset="-128"/>
              </a:rPr>
            </a:br>
            <a:r>
              <a:rPr lang="ja-JP" altLang="en-US" sz="1400" dirty="0">
                <a:solidFill>
                  <a:schemeClr val="tx1">
                    <a:lumMod val="65000"/>
                    <a:lumOff val="35000"/>
                  </a:schemeClr>
                </a:solidFill>
                <a:latin typeface="メイリオ" panose="020B0604030504040204" pitchFamily="50" charset="-128"/>
                <a:ea typeface="メイリオ" panose="020B0604030504040204" pitchFamily="50" charset="-128"/>
              </a:rPr>
              <a:t>物件情報の送信 → 問い合わせ、の流れに沿って設計します。</a:t>
            </a:r>
            <a:endParaRPr lang="en-US" altLang="ja-JP" sz="1400" dirty="0">
              <a:solidFill>
                <a:schemeClr val="tx1">
                  <a:lumMod val="65000"/>
                  <a:lumOff val="35000"/>
                </a:schemeClr>
              </a:solidFill>
              <a:latin typeface="メイリオ" panose="020B0604030504040204" pitchFamily="50" charset="-128"/>
              <a:ea typeface="メイリオ" panose="020B0604030504040204" pitchFamily="50" charset="-128"/>
            </a:endParaRPr>
          </a:p>
          <a:p>
            <a:pPr algn="ctr"/>
            <a:r>
              <a:rPr lang="ja-JP" altLang="en-US" sz="1400" b="1" dirty="0">
                <a:solidFill>
                  <a:schemeClr val="tx1">
                    <a:lumMod val="65000"/>
                    <a:lumOff val="35000"/>
                  </a:schemeClr>
                </a:solidFill>
                <a:latin typeface="メイリオ" panose="020B0604030504040204" pitchFamily="50" charset="-128"/>
                <a:ea typeface="メイリオ" panose="020B0604030504040204" pitchFamily="50" charset="-128"/>
              </a:rPr>
              <a:t>最大の改善ポイントは、LINE友だち追加後に物件の問い合わせへつなげる導線の整備</a:t>
            </a:r>
            <a:r>
              <a:rPr lang="ja-JP" altLang="en-US" sz="1400" b="0" dirty="0">
                <a:solidFill>
                  <a:schemeClr val="tx1">
                    <a:lumMod val="65000"/>
                    <a:lumOff val="35000"/>
                  </a:schemeClr>
                </a:solidFill>
                <a:latin typeface="メイリオ" panose="020B0604030504040204" pitchFamily="50" charset="-128"/>
                <a:ea typeface="メイリオ" panose="020B0604030504040204" pitchFamily="50" charset="-128"/>
              </a:rPr>
              <a:t>です。</a:t>
            </a:r>
            <a:endParaRPr lang="en-US" altLang="ja-JP" sz="14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40" name="テキスト ボックス 39">
            <a:extLst>
              <a:ext uri="{FF2B5EF4-FFF2-40B4-BE49-F238E27FC236}">
                <a16:creationId xmlns:a16="http://schemas.microsoft.com/office/drawing/2014/main" id="{85EB9568-4DC5-72DF-DEB2-4CBA53EB5832}"/>
              </a:ext>
            </a:extLst>
          </p:cNvPr>
          <p:cNvSpPr txBox="1"/>
          <p:nvPr/>
        </p:nvSpPr>
        <p:spPr>
          <a:xfrm>
            <a:off x="4830775" y="4553712"/>
            <a:ext cx="2351836" cy="329184"/>
          </a:xfrm>
          <a:prstGeom prst="rect">
            <a:avLst/>
          </a:prstGeom>
          <a:solidFill>
            <a:srgbClr val="173559"/>
          </a:solidFill>
        </p:spPr>
        <p:txBody>
          <a:bodyPr wrap="square" anchor="ctr">
            <a:noAutofit/>
          </a:bodyPr>
          <a:lstStyle/>
          <a:p>
            <a:pPr algn="ctr"/>
            <a:r>
              <a:rPr lang="ja-JP" altLang="en-US" sz="1300" b="1" dirty="0">
                <a:solidFill>
                  <a:schemeClr val="bg1"/>
                </a:solidFill>
                <a:latin typeface="メイリオ" panose="020B0604030504040204" pitchFamily="50" charset="-128"/>
                <a:ea typeface="メイリオ" panose="020B0604030504040204" pitchFamily="50" charset="-128"/>
              </a:rPr>
              <a:t>お申込み</a:t>
            </a:r>
            <a:endParaRPr lang="en-US" altLang="ja-JP" sz="1300" b="1" dirty="0">
              <a:solidFill>
                <a:schemeClr val="bg1"/>
              </a:solidFill>
              <a:latin typeface="メイリオ" panose="020B0604030504040204" pitchFamily="50" charset="-128"/>
              <a:ea typeface="メイリオ" panose="020B0604030504040204" pitchFamily="50" charset="-128"/>
            </a:endParaRPr>
          </a:p>
        </p:txBody>
      </p:sp>
      <p:cxnSp>
        <p:nvCxnSpPr>
          <p:cNvPr id="41" name="コネクタ: カギ線 40">
            <a:extLst>
              <a:ext uri="{FF2B5EF4-FFF2-40B4-BE49-F238E27FC236}">
                <a16:creationId xmlns:a16="http://schemas.microsoft.com/office/drawing/2014/main" id="{63806D73-8539-6547-72CE-B5899B02FCBB}"/>
              </a:ext>
            </a:extLst>
          </p:cNvPr>
          <p:cNvCxnSpPr>
            <a:cxnSpLocks/>
            <a:stCxn id="40" idx="2"/>
            <a:endCxn id="36" idx="0"/>
          </p:cNvCxnSpPr>
          <p:nvPr/>
        </p:nvCxnSpPr>
        <p:spPr>
          <a:xfrm rot="16200000" flipH="1">
            <a:off x="6554876" y="4334713"/>
            <a:ext cx="192023" cy="1288389"/>
          </a:xfrm>
          <a:prstGeom prst="bentConnector3">
            <a:avLst>
              <a:gd name="adj1" fmla="val 36733"/>
            </a:avLst>
          </a:prstGeom>
          <a:ln w="12700">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33" name="テキスト ボックス 32">
            <a:extLst>
              <a:ext uri="{FF2B5EF4-FFF2-40B4-BE49-F238E27FC236}">
                <a16:creationId xmlns:a16="http://schemas.microsoft.com/office/drawing/2014/main" id="{78340F29-D7A4-35EA-E52D-EC31842DDDEB}"/>
              </a:ext>
            </a:extLst>
          </p:cNvPr>
          <p:cNvSpPr txBox="1"/>
          <p:nvPr/>
        </p:nvSpPr>
        <p:spPr>
          <a:xfrm>
            <a:off x="2434132" y="4069079"/>
            <a:ext cx="530352" cy="457200"/>
          </a:xfrm>
          <a:prstGeom prst="rect">
            <a:avLst/>
          </a:prstGeom>
          <a:solidFill>
            <a:schemeClr val="accent1">
              <a:lumMod val="40000"/>
              <a:lumOff val="60000"/>
            </a:schemeClr>
          </a:solidFill>
        </p:spPr>
        <p:txBody>
          <a:bodyPr wrap="square" anchor="ctr" lIns="18288" rIns="18288">
            <a:noAutofit/>
          </a:bodyPr>
          <a:lstStyle/>
          <a:p>
            <a:pPr algn="ctr"/>
            <a:r>
              <a:rPr lang="ja-JP" altLang="en-US" sz="1100" dirty="0">
                <a:solidFill>
                  <a:srgbClr val="1F285A"/>
                </a:solidFill>
                <a:latin typeface="メイリオ" panose="020B0604030504040204" pitchFamily="50" charset="-128"/>
                <a:ea typeface="メイリオ" panose="020B0604030504040204" pitchFamily="50" charset="-128"/>
              </a:rPr>
              <a:t>電話</a:t>
            </a:r>
            <a:endParaRPr lang="en-US" altLang="ja-JP" sz="1100" dirty="0">
              <a:solidFill>
                <a:schemeClr val="bg1"/>
              </a:solidFill>
              <a:latin typeface="メイリオ" panose="020B0604030504040204" pitchFamily="50" charset="-128"/>
              <a:ea typeface="メイリオ" panose="020B0604030504040204" pitchFamily="50" charset="-128"/>
            </a:endParaRPr>
          </a:p>
          <a:p>
            <a:pPr algn="ctr"/>
            <a:r>
              <a:rPr lang="en-US" altLang="ja-JP" sz="1100" dirty="0">
                <a:solidFill>
                  <a:srgbClr val="1F285A"/>
                </a:solidFill>
                <a:latin typeface="メイリオ" panose="020B0604030504040204" pitchFamily="50" charset="-128"/>
                <a:ea typeface="メイリオ" panose="020B0604030504040204" pitchFamily="50" charset="-128"/>
              </a:rPr>
              <a:t>WEB</a:t>
            </a:r>
          </a:p>
        </p:txBody>
      </p:sp>
      <p:cxnSp>
        <p:nvCxnSpPr>
          <p:cNvPr id="75" name="矢印 ②→③"/>
          <p:cNvCxnSpPr>
            <a:cxnSpLocks/>
          </p:cNvCxnSpPr>
          <p:nvPr/>
        </p:nvCxnSpPr>
        <p:spPr>
          <a:xfrm>
            <a:off x="1348740" y="4462272"/>
            <a:ext cx="0" cy="932688"/>
          </a:xfrm>
          <a:prstGeom prst="straightConnector1">
            <a:avLst>
              <a:gd name="adj1" fmla="val 50000"/>
            </a:avLst>
          </a:prstGeom>
          <a:ln w="12700">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76" name="最重要課題チップ"/>
          <p:cNvSpPr/>
          <p:nvPr/>
        </p:nvSpPr>
        <p:spPr>
          <a:xfrm>
            <a:off x="5961888" y="1938528"/>
            <a:ext cx="2103120" cy="274320"/>
          </a:xfrm>
          <a:prstGeom prst="rect">
            <a:avLst/>
          </a:prstGeom>
          <a:noFill/>
          <a:ln>
            <a:noFill/>
          </a:ln>
        </p:spPr>
        <p:txBody>
          <a:bodyPr wrap="square" lIns="36576" tIns="0" rIns="36576" bIns="0" rtlCol="0" anchor="ctr">
            <a:noAutofit/>
          </a:bodyPr>
          <a:lstStyle/>
          <a:p>
            <a:pPr algn="l">
              <a:buNone/>
            </a:pPr>
            <a:r>
              <a:rPr lang="ja-JP" altLang="en-US" sz="1300" b="1" dirty="0">
                <a:solidFill>
                  <a:srgbClr val="C00000"/>
                </a:solidFill>
                <a:latin typeface="メイリオ" panose="020B0604030504040204" pitchFamily="50" charset="-128"/>
                <a:ea typeface="メイリオ" panose="020B0604030504040204" pitchFamily="50" charset="-128"/>
              </a:rPr>
              <a:t>◀ 最重要課題（仮説）</a:t>
            </a:r>
            <a:endParaRPr lang="ja-JP" altLang="en-US" sz="1300" dirty="0"/>
          </a:p>
        </p:txBody>
      </p:sp>
      <p:sp>
        <p:nvSpPr>
          <p:cNvPr id="77" name="⑤の範囲"/>
          <p:cNvSpPr/>
          <p:nvPr/>
        </p:nvSpPr>
        <p:spPr>
          <a:xfrm>
            <a:off x="301752" y="5340096"/>
            <a:ext cx="2121408" cy="859536"/>
          </a:xfrm>
          <a:prstGeom prst="rect">
            <a:avLst/>
          </a:prstGeom>
          <a:noFill/>
          <a:ln w="22225">
            <a:solidFill>
              <a:srgbClr val="C00000"/>
            </a:solidFill>
            <a:prstDash val="dash"/>
          </a:ln>
        </p:spPr>
        <p:txBody>
          <a:bodyPr wrap="square" lIns="73152" tIns="36576" rIns="73152" bIns="36576" rtlCol="0" anchor="ctr">
            <a:noAutofit/>
          </a:bodyPr>
          <a:lstStyle/>
          <a:p>
            <a:pPr algn="l">
              <a:buNone/>
            </a:pPr>
            <a:r>
              <a:rPr lang="ja-JP" altLang="en-US" sz="1100" b="0" dirty="0">
                <a:solidFill>
                  <a:srgbClr val="333333"/>
                </a:solidFill>
                <a:latin typeface="メイリオ" panose="020B0604030504040204" pitchFamily="50" charset="-128"/>
                <a:ea typeface="メイリオ" panose="020B0604030504040204" pitchFamily="50" charset="-128"/>
              </a:rPr>
              <a:t/>
            </a:r>
            <a:endParaRPr lang="ja-JP" altLang="en-US" sz="1100" dirty="0"/>
          </a:p>
        </p:txBody>
      </p:sp>
      <p:sp>
        <p:nvSpPr>
          <p:cNvPr id="78" name="⑤タブ"/>
          <p:cNvSpPr/>
          <p:nvPr/>
        </p:nvSpPr>
        <p:spPr>
          <a:xfrm>
            <a:off x="1426464" y="5212080"/>
            <a:ext cx="996696" cy="237744"/>
          </a:xfrm>
          <a:prstGeom prst="rect">
            <a:avLst/>
          </a:prstGeom>
          <a:solidFill>
            <a:srgbClr val="C00000"/>
          </a:solidFill>
          <a:ln>
            <a:noFill/>
          </a:ln>
        </p:spPr>
        <p:txBody>
          <a:bodyPr wrap="square" lIns="18288" tIns="0" rIns="18288" bIns="0" rtlCol="0" anchor="ctr">
            <a:noAutofit/>
          </a:bodyPr>
          <a:lstStyle/>
          <a:p>
            <a:pPr algn="ctr">
              <a:buNone/>
            </a:pPr>
            <a:r>
              <a:rPr lang="ja-JP" altLang="en-US" sz="1100" b="1" dirty="0">
                <a:solidFill>
                  <a:srgbClr val="FFFFFF"/>
                </a:solidFill>
                <a:latin typeface="メイリオ" panose="020B0604030504040204" pitchFamily="50" charset="-128"/>
                <a:ea typeface="メイリオ" panose="020B0604030504040204" pitchFamily="50" charset="-128"/>
              </a:rPr>
              <a:t>⑤ 最重要課題</a:t>
            </a:r>
            <a:endParaRPr lang="ja-JP" altLang="en-US" sz="1100" dirty="0"/>
          </a:p>
        </p:txBody>
      </p:sp>
    </p:spTree>
    <p:extLst>
      <p:ext uri="{BB962C8B-B14F-4D97-AF65-F5344CB8AC3E}">
        <p14:creationId xmlns:p14="http://schemas.microsoft.com/office/powerpoint/2010/main" val="17159093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4A1C99-7C4C-B3D1-EC94-9144492BA24D}"/>
            </a:ext>
          </a:extLst>
        </p:cNvPr>
        <p:cNvGrpSpPr/>
        <p:nvPr/>
      </p:nvGrpSpPr>
      <p:grpSpPr>
        <a:xfrm>
          <a:off x="0" y="0"/>
          <a:ext cx="0" cy="0"/>
          <a:chOff x="0" y="0"/>
          <a:chExt cx="0" cy="0"/>
        </a:xfrm>
      </p:grpSpPr>
      <p:sp>
        <p:nvSpPr>
          <p:cNvPr id="45" name="Google Shape;156;p7">
            <a:extLst>
              <a:ext uri="{FF2B5EF4-FFF2-40B4-BE49-F238E27FC236}">
                <a16:creationId xmlns:a16="http://schemas.microsoft.com/office/drawing/2014/main" id="{F00B9F75-0688-D750-AFD8-BF8814C9625E}"/>
              </a:ext>
            </a:extLst>
          </p:cNvPr>
          <p:cNvSpPr txBox="1"/>
          <p:nvPr/>
        </p:nvSpPr>
        <p:spPr>
          <a:xfrm>
            <a:off x="548883" y="138138"/>
            <a:ext cx="6514857" cy="33851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LINEアカウントの現状</a:t>
            </a:r>
            <a:endParaRPr lang="en-US" altLang="ja-JP" sz="1600" b="1" dirty="0">
              <a:solidFill>
                <a:srgbClr val="002060"/>
              </a:solidFill>
              <a:latin typeface="Meiryo"/>
              <a:ea typeface="Meiryo"/>
              <a:cs typeface="Meiryo"/>
              <a:sym typeface="Meiryo"/>
            </a:endParaRPr>
          </a:p>
        </p:txBody>
      </p:sp>
      <p:pic>
        <p:nvPicPr>
          <p:cNvPr id="41" name="図 40">
            <a:extLst>
              <a:ext uri="{FF2B5EF4-FFF2-40B4-BE49-F238E27FC236}">
                <a16:creationId xmlns:a16="http://schemas.microsoft.com/office/drawing/2014/main" id="{0494CA84-CE11-4173-2FC7-2892CA9AC721}"/>
              </a:ext>
            </a:extLst>
          </p:cNvPr>
          <p:cNvPicPr>
            <a:picLocks noChangeAspect="1"/>
          </p:cNvPicPr>
          <p:nvPr/>
        </p:nvPicPr>
        <p:blipFill>
          <a:blip r:embed="rId3"/>
          <a:stretch>
            <a:fillRect/>
          </a:stretch>
        </p:blipFill>
        <p:spPr>
          <a:xfrm>
            <a:off x="411481" y="1490472"/>
            <a:ext cx="1732686" cy="3519238"/>
          </a:xfrm>
          <a:prstGeom prst="rect">
            <a:avLst/>
          </a:prstGeom>
        </p:spPr>
      </p:pic>
      <p:sp>
        <p:nvSpPr>
          <p:cNvPr id="46" name="テキスト ボックス 45">
            <a:extLst>
              <a:ext uri="{FF2B5EF4-FFF2-40B4-BE49-F238E27FC236}">
                <a16:creationId xmlns:a16="http://schemas.microsoft.com/office/drawing/2014/main" id="{992E1926-E52E-BC52-CC73-BA1EFC0084E7}"/>
              </a:ext>
            </a:extLst>
          </p:cNvPr>
          <p:cNvSpPr txBox="1"/>
          <p:nvPr/>
        </p:nvSpPr>
        <p:spPr>
          <a:xfrm>
            <a:off x="502258" y="1751967"/>
            <a:ext cx="1543813" cy="2862322"/>
          </a:xfrm>
          <a:prstGeom prst="rect">
            <a:avLst/>
          </a:prstGeom>
          <a:solidFill>
            <a:schemeClr val="bg1"/>
          </a:solidFill>
        </p:spPr>
        <p:txBody>
          <a:bodyPr wrap="square">
            <a:noAutofit/>
          </a:bodyPr>
          <a:lstStyle/>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p:txBody>
      </p:sp>
      <p:pic>
        <p:nvPicPr>
          <p:cNvPr id="7" name="図 6">
            <a:extLst>
              <a:ext uri="{FF2B5EF4-FFF2-40B4-BE49-F238E27FC236}">
                <a16:creationId xmlns:a16="http://schemas.microsoft.com/office/drawing/2014/main" id="{E9DC2323-9B53-FAAC-3A85-BED460CCEDD4}"/>
              </a:ext>
            </a:extLst>
          </p:cNvPr>
          <p:cNvPicPr>
            <a:picLocks noChangeAspect="1"/>
          </p:cNvPicPr>
          <p:nvPr/>
        </p:nvPicPr>
        <p:blipFill>
          <a:blip r:embed="rId4" cstate="print">
            <a:extLst>
              <a:ext uri="{28A0092B-C50C-407E-A947-70E740481C1C}">
                <a14:useLocalDpi xmlns:a14="http://schemas.microsoft.com/office/drawing/2010/main" val="0"/>
              </a:ext>
            </a:extLst>
          </a:blip>
          <a:srcRect t="4912" b="4367"/>
          <a:stretch>
            <a:fillRect/>
          </a:stretch>
        </p:blipFill>
        <p:spPr>
          <a:xfrm>
            <a:off x="510967" y="1733947"/>
            <a:ext cx="1547444" cy="3037706"/>
          </a:xfrm>
          <a:prstGeom prst="rect">
            <a:avLst/>
          </a:prstGeom>
        </p:spPr>
      </p:pic>
      <p:pic>
        <p:nvPicPr>
          <p:cNvPr id="9" name="図 8">
            <a:extLst>
              <a:ext uri="{FF2B5EF4-FFF2-40B4-BE49-F238E27FC236}">
                <a16:creationId xmlns:a16="http://schemas.microsoft.com/office/drawing/2014/main" id="{BDBCD9E7-F68E-48D3-42CB-B66B303BC937}"/>
              </a:ext>
            </a:extLst>
          </p:cNvPr>
          <p:cNvPicPr>
            <a:picLocks noChangeAspect="1"/>
          </p:cNvPicPr>
          <p:nvPr/>
        </p:nvPicPr>
        <p:blipFill>
          <a:blip r:embed="rId3"/>
          <a:stretch>
            <a:fillRect/>
          </a:stretch>
        </p:blipFill>
        <p:spPr>
          <a:xfrm>
            <a:off x="5166360" y="1490472"/>
            <a:ext cx="1615479" cy="3281181"/>
          </a:xfrm>
          <a:prstGeom prst="rect">
            <a:avLst/>
          </a:prstGeom>
        </p:spPr>
      </p:pic>
      <p:pic>
        <p:nvPicPr>
          <p:cNvPr id="11" name="図 10">
            <a:extLst>
              <a:ext uri="{FF2B5EF4-FFF2-40B4-BE49-F238E27FC236}">
                <a16:creationId xmlns:a16="http://schemas.microsoft.com/office/drawing/2014/main" id="{EBE403EF-3C68-CA9F-CC1C-B80F0D13560F}"/>
              </a:ext>
            </a:extLst>
          </p:cNvPr>
          <p:cNvPicPr>
            <a:picLocks noChangeAspect="1"/>
          </p:cNvPicPr>
          <p:nvPr/>
        </p:nvPicPr>
        <p:blipFill>
          <a:blip r:embed="rId3"/>
          <a:stretch>
            <a:fillRect/>
          </a:stretch>
        </p:blipFill>
        <p:spPr>
          <a:xfrm>
            <a:off x="2283644" y="1490472"/>
            <a:ext cx="1732686" cy="3519238"/>
          </a:xfrm>
          <a:prstGeom prst="rect">
            <a:avLst/>
          </a:prstGeom>
        </p:spPr>
      </p:pic>
      <p:pic>
        <p:nvPicPr>
          <p:cNvPr id="13" name="図 12">
            <a:extLst>
              <a:ext uri="{FF2B5EF4-FFF2-40B4-BE49-F238E27FC236}">
                <a16:creationId xmlns:a16="http://schemas.microsoft.com/office/drawing/2014/main" id="{D69012D9-4BBE-7A07-2E00-34BB3E1BB700}"/>
              </a:ext>
            </a:extLst>
          </p:cNvPr>
          <p:cNvPicPr>
            <a:picLocks noChangeAspect="1"/>
          </p:cNvPicPr>
          <p:nvPr/>
        </p:nvPicPr>
        <p:blipFill>
          <a:blip r:embed="rId5" cstate="print">
            <a:extLst>
              <a:ext uri="{28A0092B-C50C-407E-A947-70E740481C1C}">
                <a14:useLocalDpi xmlns:a14="http://schemas.microsoft.com/office/drawing/2010/main" val="0"/>
              </a:ext>
            </a:extLst>
          </a:blip>
          <a:srcRect t="5783" b="2175"/>
          <a:stretch>
            <a:fillRect/>
          </a:stretch>
        </p:blipFill>
        <p:spPr>
          <a:xfrm>
            <a:off x="5265286" y="1710539"/>
            <a:ext cx="1435042" cy="2858089"/>
          </a:xfrm>
          <a:prstGeom prst="rect">
            <a:avLst/>
          </a:prstGeom>
        </p:spPr>
      </p:pic>
      <p:sp>
        <p:nvSpPr>
          <p:cNvPr id="17" name="テキスト ボックス 16">
            <a:extLst>
              <a:ext uri="{FF2B5EF4-FFF2-40B4-BE49-F238E27FC236}">
                <a16:creationId xmlns:a16="http://schemas.microsoft.com/office/drawing/2014/main" id="{609B120E-C0E2-E12F-1F80-8D6AF883DEB0}"/>
              </a:ext>
            </a:extLst>
          </p:cNvPr>
          <p:cNvSpPr txBox="1"/>
          <p:nvPr/>
        </p:nvSpPr>
        <p:spPr>
          <a:xfrm>
            <a:off x="411480" y="5102352"/>
            <a:ext cx="4617720" cy="548640"/>
          </a:xfrm>
          <a:prstGeom prst="rect">
            <a:avLst/>
          </a:prstGeom>
          <a:solidFill>
            <a:schemeClr val="bg1">
              <a:lumMod val="95000"/>
            </a:schemeClr>
          </a:solidFill>
        </p:spPr>
        <p:txBody>
          <a:bodyPr wrap="square" anchor="ctr" lIns="45720" rIns="45720">
            <a:noAutofit/>
          </a:bodyPr>
          <a:lstStyle/>
          <a:p>
            <a:pPr algn="ctr"/>
            <a:r>
              <a:rPr lang="ja-JP" altLang="en-US" sz="1300" dirty="0">
                <a:solidFill>
                  <a:schemeClr val="tx1">
                    <a:lumMod val="65000"/>
                    <a:lumOff val="35000"/>
                  </a:schemeClr>
                </a:solidFill>
                <a:latin typeface="メイリオ" panose="020B0604030504040204" pitchFamily="50" charset="-128"/>
                <a:ea typeface="メイリオ" panose="020B0604030504040204" pitchFamily="50" charset="-128"/>
              </a:rPr>
              <a:t>あいさつで「気になる物件名」と「物件ページのURL」の</a:t>
            </a:r>
            <a:endParaRPr lang="en-US" altLang="ja-JP" sz="1300" dirty="0">
              <a:solidFill>
                <a:schemeClr val="tx1">
                  <a:lumMod val="65000"/>
                  <a:lumOff val="35000"/>
                </a:schemeClr>
              </a:solidFill>
              <a:latin typeface="メイリオ" panose="020B0604030504040204" pitchFamily="50" charset="-128"/>
              <a:ea typeface="メイリオ" panose="020B0604030504040204" pitchFamily="50" charset="-128"/>
            </a:endParaRPr>
          </a:p>
          <a:p>
            <a:pPr algn="ctr"/>
            <a:r>
              <a:rPr lang="ja-JP" altLang="en-US" sz="1300" dirty="0">
                <a:solidFill>
                  <a:schemeClr val="tx1">
                    <a:lumMod val="65000"/>
                    <a:lumOff val="35000"/>
                  </a:schemeClr>
                </a:solidFill>
                <a:latin typeface="メイリオ" panose="020B0604030504040204" pitchFamily="50" charset="-128"/>
                <a:ea typeface="メイリオ" panose="020B0604030504040204" pitchFamily="50" charset="-128"/>
              </a:rPr>
              <a:t>送信をお願いし、やり取りが始まる形。</a:t>
            </a:r>
            <a:endParaRPr lang="en-US" altLang="ja-JP" sz="13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19" name="テキスト ボックス 18">
            <a:extLst>
              <a:ext uri="{FF2B5EF4-FFF2-40B4-BE49-F238E27FC236}">
                <a16:creationId xmlns:a16="http://schemas.microsoft.com/office/drawing/2014/main" id="{24ECA0A3-F246-44A7-250E-E610BF2A2FC0}"/>
              </a:ext>
            </a:extLst>
          </p:cNvPr>
          <p:cNvSpPr txBox="1"/>
          <p:nvPr/>
        </p:nvSpPr>
        <p:spPr>
          <a:xfrm>
            <a:off x="5166360" y="5102352"/>
            <a:ext cx="4480560" cy="768096"/>
          </a:xfrm>
          <a:prstGeom prst="rect">
            <a:avLst/>
          </a:prstGeom>
          <a:solidFill>
            <a:schemeClr val="bg1">
              <a:lumMod val="95000"/>
            </a:schemeClr>
          </a:solidFill>
        </p:spPr>
        <p:txBody>
          <a:bodyPr wrap="square" anchor="ctr" lIns="45720" rIns="45720">
            <a:noAutofit/>
          </a:bodyPr>
          <a:lstStyle/>
          <a:p>
            <a:pPr algn="ctr"/>
            <a:r>
              <a:rPr lang="ja-JP" altLang="en-US" sz="1300" dirty="0">
                <a:solidFill>
                  <a:schemeClr val="tx1">
                    <a:lumMod val="65000"/>
                    <a:lumOff val="35000"/>
                  </a:schemeClr>
                </a:solidFill>
                <a:latin typeface="メイリオ" panose="020B0604030504040204" pitchFamily="50" charset="-128"/>
                <a:ea typeface="メイリオ" panose="020B0604030504040204" pitchFamily="50" charset="-128"/>
              </a:rPr>
              <a:t>プロフィールにサイト・紹介動画へのリンクを掲載。</a:t>
            </a:r>
            <a:endParaRPr lang="en-US" altLang="ja-JP" sz="1300" dirty="0">
              <a:solidFill>
                <a:schemeClr val="tx1">
                  <a:lumMod val="65000"/>
                  <a:lumOff val="35000"/>
                </a:schemeClr>
              </a:solidFill>
              <a:latin typeface="メイリオ" panose="020B0604030504040204" pitchFamily="50" charset="-128"/>
              <a:ea typeface="メイリオ" panose="020B0604030504040204" pitchFamily="50" charset="-128"/>
            </a:endParaRPr>
          </a:p>
          <a:p>
            <a:pPr algn="ctr"/>
            <a:r>
              <a:rPr lang="ja-JP" altLang="en-US" sz="1300" dirty="0">
                <a:solidFill>
                  <a:schemeClr val="tx1">
                    <a:lumMod val="65000"/>
                    <a:lumOff val="35000"/>
                  </a:schemeClr>
                </a:solidFill>
                <a:latin typeface="メイリオ" panose="020B0604030504040204" pitchFamily="50" charset="-128"/>
                <a:ea typeface="メイリオ" panose="020B0604030504040204" pitchFamily="50" charset="-128"/>
              </a:rPr>
              <a:t>リッチメニューは未設置で、</a:t>
            </a:r>
            <a:br>
              <a:rPr lang="ja-JP" altLang="en-US" sz="1300" dirty="0">
                <a:solidFill>
                  <a:schemeClr val="tx1">
                    <a:lumMod val="65000"/>
                    <a:lumOff val="35000"/>
                  </a:schemeClr>
                </a:solidFill>
                <a:latin typeface="メイリオ" panose="020B0604030504040204" pitchFamily="50" charset="-128"/>
                <a:ea typeface="メイリオ" panose="020B0604030504040204" pitchFamily="50" charset="-128"/>
              </a:rPr>
            </a:br>
            <a:r>
              <a:rPr lang="ja-JP" altLang="en-US" sz="1300" dirty="0">
                <a:solidFill>
                  <a:schemeClr val="tx1">
                    <a:lumMod val="65000"/>
                    <a:lumOff val="35000"/>
                  </a:schemeClr>
                </a:solidFill>
                <a:latin typeface="メイリオ" panose="020B0604030504040204" pitchFamily="50" charset="-128"/>
                <a:ea typeface="メイリオ" panose="020B0604030504040204" pitchFamily="50" charset="-128"/>
              </a:rPr>
              <a:t>友だち追加後に次へ進む導線がない。</a:t>
            </a:r>
            <a:endParaRPr lang="en-US" altLang="ja-JP" sz="13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pic>
        <p:nvPicPr>
          <p:cNvPr id="21" name="図 20">
            <a:extLst>
              <a:ext uri="{FF2B5EF4-FFF2-40B4-BE49-F238E27FC236}">
                <a16:creationId xmlns:a16="http://schemas.microsoft.com/office/drawing/2014/main" id="{CB51CD21-C4B4-80F4-49C0-B6B85C78326E}"/>
              </a:ext>
            </a:extLst>
          </p:cNvPr>
          <p:cNvPicPr>
            <a:picLocks noChangeAspect="1"/>
          </p:cNvPicPr>
          <p:nvPr/>
        </p:nvPicPr>
        <p:blipFill>
          <a:blip r:embed="rId6" cstate="print">
            <a:extLst>
              <a:ext uri="{28A0092B-C50C-407E-A947-70E740481C1C}">
                <a14:useLocalDpi xmlns:a14="http://schemas.microsoft.com/office/drawing/2010/main" val="0"/>
              </a:ext>
            </a:extLst>
          </a:blip>
          <a:srcRect t="4505" b="3454"/>
          <a:stretch>
            <a:fillRect/>
          </a:stretch>
        </p:blipFill>
        <p:spPr>
          <a:xfrm>
            <a:off x="2376266" y="1726562"/>
            <a:ext cx="1547443" cy="3081893"/>
          </a:xfrm>
          <a:prstGeom prst="rect">
            <a:avLst/>
          </a:prstGeom>
        </p:spPr>
      </p:pic>
      <p:sp>
        <p:nvSpPr>
          <p:cNvPr id="23" name="テキスト ボックス 22">
            <a:extLst>
              <a:ext uri="{FF2B5EF4-FFF2-40B4-BE49-F238E27FC236}">
                <a16:creationId xmlns:a16="http://schemas.microsoft.com/office/drawing/2014/main" id="{C459C0B8-DD35-D170-781E-F9893F99D37D}"/>
              </a:ext>
            </a:extLst>
          </p:cNvPr>
          <p:cNvSpPr txBox="1"/>
          <p:nvPr/>
        </p:nvSpPr>
        <p:spPr>
          <a:xfrm>
            <a:off x="411480" y="5724144"/>
            <a:ext cx="4617720" cy="548640"/>
          </a:xfrm>
          <a:prstGeom prst="rect">
            <a:avLst/>
          </a:prstGeom>
          <a:solidFill>
            <a:schemeClr val="bg1">
              <a:lumMod val="95000"/>
            </a:schemeClr>
          </a:solidFill>
        </p:spPr>
        <p:txBody>
          <a:bodyPr wrap="square" anchor="ctr" lIns="45720" rIns="45720">
            <a:noAutofit/>
          </a:bodyPr>
          <a:lstStyle/>
          <a:p>
            <a:pPr algn="ctr"/>
            <a:r>
              <a:rPr lang="ja-JP" altLang="en-US" sz="1300" dirty="0">
                <a:solidFill>
                  <a:schemeClr val="tx1">
                    <a:lumMod val="65000"/>
                    <a:lumOff val="35000"/>
                  </a:schemeClr>
                </a:solidFill>
                <a:latin typeface="メイリオ" panose="020B0604030504040204" pitchFamily="50" charset="-128"/>
                <a:ea typeface="メイリオ" panose="020B0604030504040204" pitchFamily="50" charset="-128"/>
              </a:rPr>
              <a:t>あいさつの後にマンガ・動画を送り、</a:t>
            </a:r>
            <a:br>
              <a:rPr lang="ja-JP" altLang="en-US" sz="1300" dirty="0">
                <a:solidFill>
                  <a:schemeClr val="tx1">
                    <a:lumMod val="65000"/>
                    <a:lumOff val="35000"/>
                  </a:schemeClr>
                </a:solidFill>
                <a:latin typeface="メイリオ" panose="020B0604030504040204" pitchFamily="50" charset="-128"/>
                <a:ea typeface="メイリオ" panose="020B0604030504040204" pitchFamily="50" charset="-128"/>
              </a:rPr>
            </a:br>
            <a:r>
              <a:rPr lang="ja-JP" altLang="en-US" sz="1300" dirty="0">
                <a:solidFill>
                  <a:schemeClr val="tx1">
                    <a:lumMod val="65000"/>
                    <a:lumOff val="35000"/>
                  </a:schemeClr>
                </a:solidFill>
                <a:latin typeface="メイリオ" panose="020B0604030504040204" pitchFamily="50" charset="-128"/>
                <a:ea typeface="メイリオ" panose="020B0604030504040204" pitchFamily="50" charset="-128"/>
              </a:rPr>
              <a:t>サービスの理解を促している。</a:t>
            </a:r>
            <a:endParaRPr lang="en-US" altLang="ja-JP" sz="13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cxnSp>
        <p:nvCxnSpPr>
          <p:cNvPr id="25" name="直線コネクタ 24">
            <a:extLst>
              <a:ext uri="{FF2B5EF4-FFF2-40B4-BE49-F238E27FC236}">
                <a16:creationId xmlns:a16="http://schemas.microsoft.com/office/drawing/2014/main" id="{44DF5BBC-64AE-5A6F-8D0B-DF3272A3F176}"/>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28" name="テキスト ボックス 27">
            <a:extLst>
              <a:ext uri="{FF2B5EF4-FFF2-40B4-BE49-F238E27FC236}">
                <a16:creationId xmlns:a16="http://schemas.microsoft.com/office/drawing/2014/main" id="{F15D3943-CE6D-1B24-32DB-6327BC6AAB96}"/>
              </a:ext>
            </a:extLst>
          </p:cNvPr>
          <p:cNvSpPr txBox="1"/>
          <p:nvPr/>
        </p:nvSpPr>
        <p:spPr>
          <a:xfrm>
            <a:off x="426110" y="635508"/>
            <a:ext cx="9069019" cy="698601"/>
          </a:xfrm>
          <a:prstGeom prst="rect">
            <a:avLst/>
          </a:prstGeom>
          <a:noFill/>
        </p:spPr>
        <p:txBody>
          <a:bodyPr wrap="square" anchor="ctr">
            <a:noAutofit/>
          </a:bodyPr>
          <a:lstStyle/>
          <a:p>
            <a:pPr algn="ctr"/>
            <a:r>
              <a:rPr lang="ja-JP" altLang="en-US" sz="1400" dirty="0">
                <a:solidFill>
                  <a:schemeClr val="tx1">
                    <a:lumMod val="65000"/>
                    <a:lumOff val="35000"/>
                  </a:schemeClr>
                </a:solidFill>
                <a:latin typeface="メイリオ" panose="020B0604030504040204" pitchFamily="50" charset="-128"/>
                <a:ea typeface="メイリオ" panose="020B0604030504040204" pitchFamily="50" charset="-128"/>
              </a:rPr>
              <a:t>あいさつで物件名・URLの送信をお願いする形は、100円賃貸の使い方に合っています。</a:t>
            </a:r>
            <a:endParaRPr lang="en-US" altLang="ja-JP" sz="1400" dirty="0">
              <a:solidFill>
                <a:schemeClr val="tx1">
                  <a:lumMod val="65000"/>
                  <a:lumOff val="35000"/>
                </a:schemeClr>
              </a:solidFill>
              <a:latin typeface="メイリオ" panose="020B0604030504040204" pitchFamily="50" charset="-128"/>
              <a:ea typeface="メイリオ" panose="020B0604030504040204" pitchFamily="50" charset="-128"/>
            </a:endParaRPr>
          </a:p>
          <a:p>
            <a:pPr algn="ctr"/>
            <a:r>
              <a:rPr lang="ja-JP" altLang="en-US" sz="1400" b="0" dirty="0">
                <a:solidFill>
                  <a:schemeClr val="tx1">
                    <a:lumMod val="65000"/>
                    <a:lumOff val="35000"/>
                  </a:schemeClr>
                </a:solidFill>
                <a:latin typeface="メイリオ" panose="020B0604030504040204" pitchFamily="50" charset="-128"/>
                <a:ea typeface="メイリオ" panose="020B0604030504040204" pitchFamily="50" charset="-128"/>
              </a:rPr>
              <a:t>一方で、</a:t>
            </a:r>
            <a:r>
              <a:rPr lang="ja-JP" altLang="en-US" sz="1400" b="1" dirty="0">
                <a:solidFill>
                  <a:schemeClr val="tx1">
                    <a:lumMod val="65000"/>
                    <a:lumOff val="35000"/>
                  </a:schemeClr>
                </a:solidFill>
                <a:latin typeface="メイリオ" panose="020B0604030504040204" pitchFamily="50" charset="-128"/>
                <a:ea typeface="メイリオ" panose="020B0604030504040204" pitchFamily="50" charset="-128"/>
              </a:rPr>
              <a:t>あいさつに送るメリット・安心材料やボタンがなく、リッチメニューも未設置</a:t>
            </a:r>
            <a:r>
              <a:rPr lang="ja-JP" altLang="en-US" sz="1400" b="0" dirty="0">
                <a:solidFill>
                  <a:schemeClr val="tx1">
                    <a:lumMod val="65000"/>
                    <a:lumOff val="35000"/>
                  </a:schemeClr>
                </a:solidFill>
                <a:latin typeface="メイリオ" panose="020B0604030504040204" pitchFamily="50" charset="-128"/>
                <a:ea typeface="メイリオ" panose="020B0604030504040204" pitchFamily="50" charset="-128"/>
              </a:rPr>
              <a:t>です。</a:t>
            </a:r>
            <a:endParaRPr lang="en-US" altLang="ja-JP" sz="14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7133190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96375E-1E7D-4890-1258-5DB3117640D2}"/>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EDFBA01A-1ABD-808E-C272-C7AE180BC12F}"/>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市場分析</a:t>
            </a:r>
          </a:p>
        </p:txBody>
      </p:sp>
      <p:sp>
        <p:nvSpPr>
          <p:cNvPr id="5"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6"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cxnSp>
        <p:nvCxnSpPr>
          <p:cNvPr id="7"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32" name="テキスト ボックス 30">
            <a:extLst>
              <a:ext uri="{FF2B5EF4-FFF2-40B4-BE49-F238E27FC236}">
                <a16:creationId xmlns:a16="http://schemas.microsoft.com/office/drawing/2014/main" id="{459F6DDB-7C9E-8820-DF35-6AA3914041C2}"/>
              </a:ext>
            </a:extLst>
          </p:cNvPr>
          <p:cNvSpPr txBox="1"/>
          <p:nvPr/>
        </p:nvSpPr>
        <p:spPr>
          <a:xfrm>
            <a:off x="426110" y="635508"/>
            <a:ext cx="9069019" cy="698601"/>
          </a:xfrm>
          <a:prstGeom prst="rect">
            <a:avLst/>
          </a:prstGeom>
          <a:noFill/>
        </p:spPr>
        <p:txBody>
          <a:bodyPr wrap="square" anchor="ctr">
            <a:noAutofit/>
          </a:bodyPr>
          <a:lstStyle/>
          <a:p>
            <a:pPr algn="ctr"/>
            <a:r>
              <a:rPr lang="ja-JP" altLang="en-US" sz="1400" dirty="0">
                <a:solidFill>
                  <a:schemeClr val="tx1">
                    <a:lumMod val="65000"/>
                    <a:lumOff val="35000"/>
                  </a:schemeClr>
                </a:solidFill>
                <a:latin typeface="メイリオ" panose="020B0604030504040204" pitchFamily="50" charset="-128"/>
                <a:ea typeface="メイリオ" panose="020B0604030504040204" pitchFamily="50" charset="-128"/>
              </a:rPr>
              <a:t>家賃が上がる今、仲介手数料・初期費用への負担感に応えることを、提案の軸にします。</a:t>
            </a:r>
            <a:endParaRPr lang="en-US" altLang="ja-JP" sz="1400" dirty="0">
              <a:solidFill>
                <a:schemeClr val="tx1">
                  <a:lumMod val="65000"/>
                  <a:lumOff val="35000"/>
                </a:schemeClr>
              </a:solidFill>
              <a:latin typeface="メイリオ" panose="020B0604030504040204" pitchFamily="50" charset="-128"/>
              <a:ea typeface="メイリオ" panose="020B0604030504040204" pitchFamily="50" charset="-128"/>
            </a:endParaRPr>
          </a:p>
          <a:p>
            <a:pPr algn="ctr"/>
            <a:r>
              <a:rPr lang="ja-JP" altLang="en-US" sz="1400" b="1" dirty="0">
                <a:solidFill>
                  <a:schemeClr val="tx1">
                    <a:lumMod val="65000"/>
                    <a:lumOff val="35000"/>
                  </a:schemeClr>
                </a:solidFill>
                <a:latin typeface="メイリオ" panose="020B0604030504040204" pitchFamily="50" charset="-128"/>
                <a:ea typeface="メイリオ" panose="020B0604030504040204" pitchFamily="50" charset="-128"/>
              </a:rPr>
              <a:t>物件はポータルサイトで自分で探し、問い合わせ先は別に選ぶ流れが主流</a:t>
            </a:r>
            <a:r>
              <a:rPr lang="ja-JP" altLang="en-US" sz="1400" b="0" dirty="0">
                <a:solidFill>
                  <a:schemeClr val="tx1">
                    <a:lumMod val="65000"/>
                    <a:lumOff val="35000"/>
                  </a:schemeClr>
                </a:solidFill>
                <a:latin typeface="メイリオ" panose="020B0604030504040204" pitchFamily="50" charset="-128"/>
                <a:ea typeface="メイリオ" panose="020B0604030504040204" pitchFamily="50" charset="-128"/>
              </a:rPr>
              <a:t>です。</a:t>
            </a:r>
            <a:endParaRPr lang="en-US" altLang="ja-JP" sz="14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33" name="Card1_Num">
            <a:extLst>
              <a:ext uri="{FF2B5EF4-FFF2-40B4-BE49-F238E27FC236}">
                <a16:creationId xmlns:a16="http://schemas.microsoft.com/office/drawing/2014/main" id="{99100708-28B5-0C64-45B6-17FF3C22A099}"/>
              </a:ext>
            </a:extLst>
          </p:cNvPr>
          <p:cNvSpPr txBox="1"/>
          <p:nvPr/>
        </p:nvSpPr>
        <p:spPr>
          <a:xfrm>
            <a:off x="381000" y="1481328"/>
            <a:ext cx="2921000" cy="512064"/>
          </a:xfrm>
          <a:prstGeom prst="rect">
            <a:avLst/>
          </a:prstGeom>
          <a:solidFill>
            <a:srgbClr val="1F2A5C"/>
          </a:solidFill>
          <a:ln>
            <a:noFill/>
          </a:ln>
        </p:spPr>
        <p:txBody>
          <a:bodyPr wrap="square" lIns="203200" tIns="101600" rIns="203200" bIns="101600" anchor="ctr"/>
          <a:lstStyle/>
          <a:p>
            <a:pPr algn="l">
              <a:buNone/>
            </a:pPr>
            <a:r>
              <a:rPr lang="ja-JP" sz="2400" b="1" dirty="0">
                <a:solidFill>
                  <a:srgbClr val="FFFFFF"/>
                </a:solidFill>
              </a:rPr>
              <a:t>01</a:t>
            </a:r>
          </a:p>
        </p:txBody>
      </p:sp>
      <p:sp>
        <p:nvSpPr>
          <p:cNvPr id="34" name="Card1_Title">
            <a:extLst>
              <a:ext uri="{FF2B5EF4-FFF2-40B4-BE49-F238E27FC236}">
                <a16:creationId xmlns:a16="http://schemas.microsoft.com/office/drawing/2014/main" id="{A00E1BD8-B14A-9E83-AD58-EF16846CB3A4}"/>
              </a:ext>
            </a:extLst>
          </p:cNvPr>
          <p:cNvSpPr txBox="1"/>
          <p:nvPr/>
        </p:nvSpPr>
        <p:spPr>
          <a:xfrm>
            <a:off x="381000" y="1993392"/>
            <a:ext cx="2921000" cy="457200"/>
          </a:xfrm>
          <a:prstGeom prst="rect">
            <a:avLst/>
          </a:prstGeom>
          <a:solidFill>
            <a:srgbClr val="FFFFFF"/>
          </a:solidFill>
          <a:ln w="6350">
            <a:solidFill>
              <a:srgbClr val="1F2A5C"/>
            </a:solidFill>
          </a:ln>
        </p:spPr>
        <p:txBody>
          <a:bodyPr wrap="square" lIns="177800" tIns="101600" rIns="177800" bIns="101600" anchor="ctr"/>
          <a:lstStyle/>
          <a:p>
            <a:pPr>
              <a:buNone/>
            </a:pPr>
            <a:r>
              <a:rPr lang="ja-JP" sz="1400" b="1" dirty="0">
                <a:solidFill>
                  <a:srgbClr val="1F2A5C"/>
                </a:solidFill>
              </a:rPr>
              <a:t>家賃の上昇（市場背景）</a:t>
            </a:r>
          </a:p>
        </p:txBody>
      </p:sp>
      <p:sp>
        <p:nvSpPr>
          <p:cNvPr id="35" name="Card1_Body">
            <a:extLst>
              <a:ext uri="{FF2B5EF4-FFF2-40B4-BE49-F238E27FC236}">
                <a16:creationId xmlns:a16="http://schemas.microsoft.com/office/drawing/2014/main" id="{400EE71C-7EE5-0652-6E8D-BFDA5B8F0AE3}"/>
              </a:ext>
            </a:extLst>
          </p:cNvPr>
          <p:cNvSpPr txBox="1"/>
          <p:nvPr/>
        </p:nvSpPr>
        <p:spPr>
          <a:xfrm>
            <a:off x="381000" y="2450592"/>
            <a:ext cx="2921000" cy="2743200"/>
          </a:xfrm>
          <a:prstGeom prst="rect">
            <a:avLst/>
          </a:prstGeom>
          <a:solidFill>
            <a:srgbClr val="F5F7FA"/>
          </a:solidFill>
          <a:ln w="6350">
            <a:solidFill>
              <a:srgbClr val="D1D8E0"/>
            </a:solidFill>
          </a:ln>
        </p:spPr>
        <p:txBody>
          <a:bodyPr wrap="square" lIns="177800" tIns="152400" rIns="177800" bIns="152400" anchor="t"/>
          <a:lstStyle/>
          <a:p>
            <a:pPr>
              <a:spcBef>
                <a:spcPts val="200"/>
              </a:spcBef>
              <a:spcAft>
                <a:spcPts val="600"/>
              </a:spcAft>
              <a:buClr>
                <a:srgbClr val="1F2A5C"/>
              </a:buClr>
            </a:pPr>
            <a:r>
              <a:rPr lang="ja-JP" sz="1400" dirty="0" b="1">
                <a:solidFill>
                  <a:srgbClr val="333333"/>
                </a:solidFill>
              </a:rPr>
              <a:t>【市場データ】</a:t>
            </a:r>
            <a:r>
              <a:rPr lang="ja-JP" sz="1400" dirty="0" b="0">
                <a:solidFill>
                  <a:srgbClr val="333333"/>
                </a:solidFill>
              </a:rPr>
              <a:t>東京23区のシングル向き（30㎡以下）マンションの平均家賃は、2025年5月に初めて10万円を超えた</a:t>
            </a:r>
          </a:p>
          <a:p>
            <a:pPr>
              <a:spcBef>
                <a:spcPts val="200"/>
              </a:spcBef>
              <a:spcAft>
                <a:spcPts val="600"/>
              </a:spcAft>
              <a:buClr>
                <a:srgbClr val="1F2A5C"/>
              </a:buClr>
            </a:pPr>
            <a:r>
              <a:rPr lang="ja-JP" sz="1400" dirty="0" b="1">
                <a:solidFill>
                  <a:srgbClr val="333333"/>
                </a:solidFill>
              </a:rPr>
              <a:t>【提案上の仮説】</a:t>
            </a:r>
            <a:r>
              <a:rPr lang="ja-JP" sz="1400" dirty="0" b="0">
                <a:solidFill>
                  <a:srgbClr val="333333"/>
                </a:solidFill>
              </a:rPr>
              <a:t>家賃の上昇で、仲介手数料・初期費用への負担感が高まると考えられる</a:t>
            </a:r>
          </a:p>
        </p:txBody>
      </p:sp>
      <p:sp>
        <p:nvSpPr>
          <p:cNvPr id="36" name="Card2_Num">
            <a:extLst>
              <a:ext uri="{FF2B5EF4-FFF2-40B4-BE49-F238E27FC236}">
                <a16:creationId xmlns:a16="http://schemas.microsoft.com/office/drawing/2014/main" id="{1E55EC9A-E347-B84B-262B-EF1A6E14096B}"/>
              </a:ext>
            </a:extLst>
          </p:cNvPr>
          <p:cNvSpPr txBox="1"/>
          <p:nvPr/>
        </p:nvSpPr>
        <p:spPr>
          <a:xfrm>
            <a:off x="3492500" y="1481328"/>
            <a:ext cx="2921000" cy="512064"/>
          </a:xfrm>
          <a:prstGeom prst="rect">
            <a:avLst/>
          </a:prstGeom>
          <a:solidFill>
            <a:srgbClr val="4A6FA5"/>
          </a:solidFill>
          <a:ln>
            <a:noFill/>
          </a:ln>
        </p:spPr>
        <p:txBody>
          <a:bodyPr wrap="square" lIns="203200" tIns="101600" rIns="203200" bIns="101600" anchor="ctr"/>
          <a:lstStyle/>
          <a:p>
            <a:pPr algn="l">
              <a:buNone/>
            </a:pPr>
            <a:r>
              <a:rPr lang="ja-JP" sz="2400" b="1" dirty="0">
                <a:solidFill>
                  <a:srgbClr val="FFFFFF"/>
                </a:solidFill>
              </a:rPr>
              <a:t>02</a:t>
            </a:r>
          </a:p>
        </p:txBody>
      </p:sp>
      <p:sp>
        <p:nvSpPr>
          <p:cNvPr id="37" name="Card2_Title">
            <a:extLst>
              <a:ext uri="{FF2B5EF4-FFF2-40B4-BE49-F238E27FC236}">
                <a16:creationId xmlns:a16="http://schemas.microsoft.com/office/drawing/2014/main" id="{7EA7999B-288A-E255-3A8D-51DA3754E17B}"/>
              </a:ext>
            </a:extLst>
          </p:cNvPr>
          <p:cNvSpPr txBox="1"/>
          <p:nvPr/>
        </p:nvSpPr>
        <p:spPr>
          <a:xfrm>
            <a:off x="3492500" y="1993392"/>
            <a:ext cx="2921000" cy="457200"/>
          </a:xfrm>
          <a:prstGeom prst="rect">
            <a:avLst/>
          </a:prstGeom>
          <a:solidFill>
            <a:srgbClr val="FFFFFF"/>
          </a:solidFill>
          <a:ln w="6350">
            <a:solidFill>
              <a:srgbClr val="4A6FA5"/>
            </a:solidFill>
          </a:ln>
        </p:spPr>
        <p:txBody>
          <a:bodyPr wrap="square" lIns="177800" tIns="101600" rIns="177800" bIns="101600" anchor="ctr"/>
          <a:lstStyle/>
          <a:p>
            <a:pPr>
              <a:buNone/>
            </a:pPr>
            <a:r>
              <a:rPr lang="ja-JP" sz="1400" b="1" dirty="0">
                <a:solidFill>
                  <a:srgbClr val="4A6FA5"/>
                </a:solidFill>
              </a:rPr>
              <a:t>物件はポータルサイトで探す</a:t>
            </a:r>
          </a:p>
        </p:txBody>
      </p:sp>
      <p:sp>
        <p:nvSpPr>
          <p:cNvPr id="38" name="Card2_Body">
            <a:extLst>
              <a:ext uri="{FF2B5EF4-FFF2-40B4-BE49-F238E27FC236}">
                <a16:creationId xmlns:a16="http://schemas.microsoft.com/office/drawing/2014/main" id="{E7A27D28-3DE5-B65B-3078-06258585755F}"/>
              </a:ext>
            </a:extLst>
          </p:cNvPr>
          <p:cNvSpPr txBox="1"/>
          <p:nvPr/>
        </p:nvSpPr>
        <p:spPr>
          <a:xfrm>
            <a:off x="3492500" y="2450592"/>
            <a:ext cx="2921000" cy="2743200"/>
          </a:xfrm>
          <a:prstGeom prst="rect">
            <a:avLst/>
          </a:prstGeom>
          <a:solidFill>
            <a:srgbClr val="F5F7FA"/>
          </a:solidFill>
          <a:ln w="6350">
            <a:solidFill>
              <a:srgbClr val="D1D8E0"/>
            </a:solidFill>
          </a:ln>
        </p:spPr>
        <p:txBody>
          <a:bodyPr wrap="square" lIns="177800" tIns="152400" rIns="177800" bIns="152400" anchor="t"/>
          <a:lstStyle/>
          <a:p>
            <a:pPr>
              <a:spcBef>
                <a:spcPts val="200"/>
              </a:spcBef>
              <a:buClr>
                <a:srgbClr val="4A6FA5"/>
              </a:buClr>
            </a:pPr>
            <a:r>
              <a:rPr lang="ja-JP" sz="1400" dirty="0">
                <a:solidFill>
                  <a:srgbClr val="333333"/>
                </a:solidFill>
              </a:rPr>
              <a:t>・住まいの探し方は「不動産ポータルサイトで検索」がトップ（引越し経験者66.8％・検討者73.2％）</a:t>
            </a:r>
          </a:p>
        </p:txBody>
      </p:sp>
      <p:sp>
        <p:nvSpPr>
          <p:cNvPr id="39" name="Card3_Num">
            <a:extLst>
              <a:ext uri="{FF2B5EF4-FFF2-40B4-BE49-F238E27FC236}">
                <a16:creationId xmlns:a16="http://schemas.microsoft.com/office/drawing/2014/main" id="{70237F12-5482-737F-1B32-66F14BE63393}"/>
              </a:ext>
            </a:extLst>
          </p:cNvPr>
          <p:cNvSpPr txBox="1"/>
          <p:nvPr/>
        </p:nvSpPr>
        <p:spPr>
          <a:xfrm>
            <a:off x="6604000" y="1481328"/>
            <a:ext cx="2921000" cy="512064"/>
          </a:xfrm>
          <a:prstGeom prst="rect">
            <a:avLst/>
          </a:prstGeom>
          <a:solidFill>
            <a:schemeClr val="bg1">
              <a:lumMod val="75000"/>
            </a:schemeClr>
          </a:solidFill>
          <a:ln>
            <a:noFill/>
          </a:ln>
        </p:spPr>
        <p:txBody>
          <a:bodyPr wrap="square" lIns="203200" tIns="101600" rIns="203200" bIns="101600" anchor="ctr"/>
          <a:lstStyle/>
          <a:p>
            <a:pPr algn="l">
              <a:buNone/>
            </a:pPr>
            <a:r>
              <a:rPr lang="ja-JP" sz="2400" b="1" dirty="0">
                <a:solidFill>
                  <a:srgbClr val="FFFFFF"/>
                </a:solidFill>
              </a:rPr>
              <a:t>03</a:t>
            </a:r>
          </a:p>
        </p:txBody>
      </p:sp>
      <p:sp>
        <p:nvSpPr>
          <p:cNvPr id="40" name="Card3_Title">
            <a:extLst>
              <a:ext uri="{FF2B5EF4-FFF2-40B4-BE49-F238E27FC236}">
                <a16:creationId xmlns:a16="http://schemas.microsoft.com/office/drawing/2014/main" id="{E3518035-C567-1D4B-318D-78C25A6B9E43}"/>
              </a:ext>
            </a:extLst>
          </p:cNvPr>
          <p:cNvSpPr txBox="1"/>
          <p:nvPr/>
        </p:nvSpPr>
        <p:spPr>
          <a:xfrm>
            <a:off x="6604000" y="1993392"/>
            <a:ext cx="2921000" cy="457200"/>
          </a:xfrm>
          <a:prstGeom prst="rect">
            <a:avLst/>
          </a:prstGeom>
          <a:solidFill>
            <a:srgbClr val="FFFFFF"/>
          </a:solidFill>
          <a:ln w="6350">
            <a:solidFill>
              <a:schemeClr val="bg1">
                <a:lumMod val="75000"/>
              </a:schemeClr>
            </a:solidFill>
          </a:ln>
        </p:spPr>
        <p:txBody>
          <a:bodyPr wrap="square" lIns="177800" tIns="101600" rIns="177800" bIns="101600" anchor="ctr"/>
          <a:lstStyle/>
          <a:p>
            <a:pPr>
              <a:buNone/>
            </a:pPr>
            <a:r>
              <a:rPr lang="ja-JP" sz="1400" b="1" dirty="0">
                <a:solidFill>
                  <a:schemeClr val="tx1">
                    <a:lumMod val="65000"/>
                    <a:lumOff val="35000"/>
                  </a:schemeClr>
                </a:solidFill>
              </a:rPr>
              <a:t>問い合わせ先は物件数で選ぶ</a:t>
            </a:r>
          </a:p>
        </p:txBody>
      </p:sp>
      <p:sp>
        <p:nvSpPr>
          <p:cNvPr id="41" name="Card3_Body">
            <a:extLst>
              <a:ext uri="{FF2B5EF4-FFF2-40B4-BE49-F238E27FC236}">
                <a16:creationId xmlns:a16="http://schemas.microsoft.com/office/drawing/2014/main" id="{6E2E9F62-4250-ED13-4C52-FC6B502E56E4}"/>
              </a:ext>
            </a:extLst>
          </p:cNvPr>
          <p:cNvSpPr txBox="1"/>
          <p:nvPr/>
        </p:nvSpPr>
        <p:spPr>
          <a:xfrm>
            <a:off x="6604000" y="2450592"/>
            <a:ext cx="2921000" cy="2743200"/>
          </a:xfrm>
          <a:prstGeom prst="rect">
            <a:avLst/>
          </a:prstGeom>
          <a:solidFill>
            <a:srgbClr val="F5F7FA"/>
          </a:solidFill>
          <a:ln w="6350">
            <a:solidFill>
              <a:srgbClr val="D1D8E0"/>
            </a:solidFill>
          </a:ln>
        </p:spPr>
        <p:txBody>
          <a:bodyPr wrap="square" lIns="177800" tIns="152400" rIns="177800" bIns="152400" anchor="t"/>
          <a:lstStyle/>
          <a:p>
            <a:pPr>
              <a:spcBef>
                <a:spcPts val="200"/>
              </a:spcBef>
              <a:spcAft>
                <a:spcPts val="600"/>
              </a:spcAft>
              <a:buClr>
                <a:srgbClr val="C8102E"/>
              </a:buClr>
            </a:pPr>
            <a:r>
              <a:rPr lang="ja-JP" sz="1400" dirty="0" b="0">
                <a:solidFill>
                  <a:srgbClr val="333333"/>
                </a:solidFill>
              </a:rPr>
              <a:t>・問い合わせる不動産会社を選ぶ基準は「取り扱っている物件数が多い」が1位（経験者26.6％・検討者47.7％）</a:t>
            </a:r>
          </a:p>
          <a:p>
            <a:pPr>
              <a:spcBef>
                <a:spcPts val="200"/>
              </a:spcBef>
              <a:spcAft>
                <a:spcPts val="600"/>
              </a:spcAft>
              <a:buClr>
                <a:srgbClr val="C8102E"/>
              </a:buClr>
            </a:pPr>
            <a:r>
              <a:rPr lang="ja-JP" sz="1400" dirty="0" b="0">
                <a:solidFill>
                  <a:srgbClr val="333333"/>
                </a:solidFill>
              </a:rPr>
              <a:t>・100円賃貸は、お客様が見つけた物件の仲介に対応し、仲介手数料を抑えられる（100円賃貸が対応できる物件に限ります）</a:t>
            </a:r>
            <a:endParaRPr lang="en-US" altLang="ja-JP" sz="1400" dirty="0">
              <a:solidFill>
                <a:srgbClr val="333333"/>
              </a:solidFill>
            </a:endParaRPr>
          </a:p>
        </p:txBody>
      </p:sp>
      <p:sp>
        <p:nvSpPr>
          <p:cNvPr id="42" name="Conclusion">
            <a:extLst>
              <a:ext uri="{FF2B5EF4-FFF2-40B4-BE49-F238E27FC236}">
                <a16:creationId xmlns:a16="http://schemas.microsoft.com/office/drawing/2014/main" id="{ED3146E7-9955-F215-581D-DD3180418A87}"/>
              </a:ext>
            </a:extLst>
          </p:cNvPr>
          <p:cNvSpPr txBox="1"/>
          <p:nvPr/>
        </p:nvSpPr>
        <p:spPr>
          <a:xfrm>
            <a:off x="381000" y="5266944"/>
            <a:ext cx="9144000" cy="1170432"/>
          </a:xfrm>
          <a:prstGeom prst="rect">
            <a:avLst/>
          </a:prstGeom>
          <a:solidFill>
            <a:srgbClr val="F0F2F7"/>
          </a:solidFill>
          <a:ln>
            <a:noFill/>
          </a:ln>
        </p:spPr>
        <p:txBody>
          <a:bodyPr wrap="square" lIns="177800" tIns="127000" rIns="177800" bIns="127000" anchor="t"/>
          <a:lstStyle/>
          <a:p>
            <a:pPr algn="l">
              <a:spcAft>
                <a:spcPts val="300"/>
              </a:spcAft>
              <a:buNone/>
            </a:pPr>
            <a:r>
              <a:rPr lang="ja-JP" altLang="en-US" sz="1100" b="1" dirty="0">
                <a:solidFill>
                  <a:srgbClr val="1F285A"/>
                </a:solidFill>
                <a:latin typeface="メイリオ" panose="020B0604030504040204" pitchFamily="50" charset="-128"/>
                <a:ea typeface="メイリオ" panose="020B0604030504040204" pitchFamily="50" charset="-128"/>
              </a:rPr>
              <a:t>出典</a:t>
            </a:r>
            <a:endParaRPr lang="ja-JP" altLang="en-US" sz="1100" dirty="0"/>
          </a:p>
          <a:p>
            <a:pPr algn="l">
              <a:spcAft>
                <a:spcPts val="200"/>
              </a:spcAft>
              <a:buNone/>
            </a:pPr>
            <a:r>
              <a:rPr lang="ja-JP" altLang="en-US" sz="1100" b="0" dirty="0">
                <a:solidFill>
                  <a:srgbClr val="333333"/>
                </a:solidFill>
                <a:latin typeface="メイリオ" panose="020B0604030504040204" pitchFamily="50" charset="-128"/>
                <a:ea typeface="メイリオ" panose="020B0604030504040204" pitchFamily="50" charset="-128"/>
              </a:rPr>
              <a:t>・</a:t>
            </a:r>
            <a:r>
              <a:rPr lang="ja-JP" altLang="en-US" sz="1100" b="0" dirty="0">
                <a:solidFill>
                  <a:srgbClr val="333333"/>
                </a:solidFill>
                <a:latin typeface="メイリオ" panose="020B0604030504040204" pitchFamily="50" charset="-128"/>
                <a:ea typeface="メイリオ" panose="020B0604030504040204" pitchFamily="50" charset="-128"/>
                <a:hlinkClick r:id="rId2"/>
              </a:rPr>
              <a:t>アットホーム「2025年の賃貸市場における4大ニュース」</a:t>
            </a:r>
            <a:endParaRPr lang="ja-JP" altLang="en-US" sz="1100" dirty="0"/>
          </a:p>
          <a:p>
            <a:pPr algn="l">
              <a:spcAft>
                <a:spcPts val="200"/>
              </a:spcAft>
              <a:buNone/>
            </a:pPr>
            <a:r>
              <a:rPr lang="ja-JP" altLang="en-US" sz="1100" b="0" dirty="0">
                <a:solidFill>
                  <a:srgbClr val="333333"/>
                </a:solidFill>
                <a:latin typeface="メイリオ" panose="020B0604030504040204" pitchFamily="50" charset="-128"/>
                <a:ea typeface="メイリオ" panose="020B0604030504040204" pitchFamily="50" charset="-128"/>
              </a:rPr>
              <a:t>・</a:t>
            </a:r>
            <a:r>
              <a:rPr lang="ja-JP" altLang="en-US" sz="1100" b="0" dirty="0">
                <a:solidFill>
                  <a:srgbClr val="333333"/>
                </a:solidFill>
                <a:latin typeface="メイリオ" panose="020B0604030504040204" pitchFamily="50" charset="-128"/>
                <a:ea typeface="メイリオ" panose="020B0604030504040204" pitchFamily="50" charset="-128"/>
                <a:hlinkClick r:id="rId3"/>
              </a:rPr>
              <a:t>アットホーム「オンラインでの住まい探しに関する調査 2025 賃貸編」</a:t>
            </a:r>
            <a:endParaRPr lang="ja-JP" altLang="en-US" sz="1100" dirty="0"/>
          </a:p>
          <a:p>
            <a:pPr algn="l">
              <a:spcAft>
                <a:spcPts val="200"/>
              </a:spcAft>
              <a:buNone/>
            </a:pPr>
            <a:r>
              <a:rPr lang="ja-JP" altLang="en-US" sz="1100" b="0" dirty="0">
                <a:solidFill>
                  <a:srgbClr val="333333"/>
                </a:solidFill>
                <a:latin typeface="メイリオ" panose="020B0604030504040204" pitchFamily="50" charset="-128"/>
                <a:ea typeface="メイリオ" panose="020B0604030504040204" pitchFamily="50" charset="-128"/>
              </a:rPr>
              <a:t>・</a:t>
            </a:r>
            <a:r>
              <a:rPr lang="ja-JP" altLang="en-US" sz="1100" b="0" dirty="0">
                <a:solidFill>
                  <a:srgbClr val="333333"/>
                </a:solidFill>
                <a:latin typeface="メイリオ" panose="020B0604030504040204" pitchFamily="50" charset="-128"/>
                <a:ea typeface="メイリオ" panose="020B0604030504040204" pitchFamily="50" charset="-128"/>
                <a:hlinkClick r:id="rId4"/>
              </a:rPr>
              <a:t>100円賃貸 公式サイト</a:t>
            </a:r>
            <a:endParaRPr lang="ja-JP" altLang="en-US" sz="1100" dirty="0"/>
          </a:p>
        </p:txBody>
      </p:sp>
    </p:spTree>
    <p:extLst>
      <p:ext uri="{BB962C8B-B14F-4D97-AF65-F5344CB8AC3E}">
        <p14:creationId xmlns:p14="http://schemas.microsoft.com/office/powerpoint/2010/main" val="28414866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AD501E-4538-865B-06FF-B4530B24F063}"/>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3D3533E4-0377-76E5-495C-9BA89161C5A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市場分析</a:t>
            </a:r>
          </a:p>
        </p:txBody>
      </p:sp>
      <p:sp>
        <p:nvSpPr>
          <p:cNvPr id="5"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6"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cxnSp>
        <p:nvCxnSpPr>
          <p:cNvPr id="7"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32" name="テキスト ボックス 30">
            <a:extLst>
              <a:ext uri="{FF2B5EF4-FFF2-40B4-BE49-F238E27FC236}">
                <a16:creationId xmlns:a16="http://schemas.microsoft.com/office/drawing/2014/main" id="{459F6DDB-7C9E-8820-DF35-6AA3914041C2}"/>
              </a:ext>
            </a:extLst>
          </p:cNvPr>
          <p:cNvSpPr txBox="1"/>
          <p:nvPr/>
        </p:nvSpPr>
        <p:spPr>
          <a:xfrm>
            <a:off x="426110" y="635508"/>
            <a:ext cx="9069019" cy="698601"/>
          </a:xfrm>
          <a:prstGeom prst="rect">
            <a:avLst/>
          </a:prstGeom>
          <a:noFill/>
        </p:spPr>
        <p:txBody>
          <a:bodyPr wrap="square" anchor="ctr">
            <a:noAutofit/>
          </a:bodyPr>
          <a:lstStyle/>
          <a:p>
            <a:pPr algn="ctr"/>
            <a:r>
              <a:rPr lang="ja-JP" altLang="en-US" sz="1400" dirty="0">
                <a:solidFill>
                  <a:schemeClr val="tx1">
                    <a:lumMod val="65000"/>
                    <a:lumOff val="35000"/>
                  </a:schemeClr>
                </a:solidFill>
                <a:latin typeface="メイリオ" panose="020B0604030504040204" pitchFamily="50" charset="-128"/>
                <a:ea typeface="メイリオ" panose="020B0604030504040204" pitchFamily="50" charset="-128"/>
              </a:rPr>
              <a:t>内見予約のやり取りは、電話よりメール・SMSを希望する方が多くいます。</a:t>
            </a:r>
            <a:endParaRPr lang="en-US" altLang="ja-JP" sz="1400" dirty="0">
              <a:solidFill>
                <a:schemeClr val="tx1">
                  <a:lumMod val="65000"/>
                  <a:lumOff val="35000"/>
                </a:schemeClr>
              </a:solidFill>
              <a:latin typeface="メイリオ" panose="020B0604030504040204" pitchFamily="50" charset="-128"/>
              <a:ea typeface="メイリオ" panose="020B0604030504040204" pitchFamily="50" charset="-128"/>
            </a:endParaRPr>
          </a:p>
          <a:p>
            <a:pPr algn="ctr"/>
            <a:r>
              <a:rPr lang="ja-JP" altLang="en-US" sz="1400" b="1" dirty="0">
                <a:solidFill>
                  <a:schemeClr val="tx1">
                    <a:lumMod val="65000"/>
                    <a:lumOff val="35000"/>
                  </a:schemeClr>
                </a:solidFill>
                <a:latin typeface="メイリオ" panose="020B0604030504040204" pitchFamily="50" charset="-128"/>
                <a:ea typeface="メイリオ" panose="020B0604030504040204" pitchFamily="50" charset="-128"/>
              </a:rPr>
              <a:t>物件のURLをLINEで送るだけで相談できるサービスも出ており、LINEでの受け口が欠かせません</a:t>
            </a:r>
            <a:r>
              <a:rPr lang="ja-JP" altLang="en-US" sz="1400" b="0" dirty="0">
                <a:solidFill>
                  <a:schemeClr val="tx1">
                    <a:lumMod val="65000"/>
                    <a:lumOff val="35000"/>
                  </a:schemeClr>
                </a:solidFill>
                <a:latin typeface="メイリオ" panose="020B0604030504040204" pitchFamily="50" charset="-128"/>
                <a:ea typeface="メイリオ" panose="020B0604030504040204" pitchFamily="50" charset="-128"/>
              </a:rPr>
              <a:t>。</a:t>
            </a:r>
            <a:endParaRPr lang="en-US" altLang="ja-JP" sz="14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33" name="Card1_Num">
            <a:extLst>
              <a:ext uri="{FF2B5EF4-FFF2-40B4-BE49-F238E27FC236}">
                <a16:creationId xmlns:a16="http://schemas.microsoft.com/office/drawing/2014/main" id="{99100708-28B5-0C64-45B6-17FF3C22A099}"/>
              </a:ext>
            </a:extLst>
          </p:cNvPr>
          <p:cNvSpPr txBox="1"/>
          <p:nvPr/>
        </p:nvSpPr>
        <p:spPr>
          <a:xfrm>
            <a:off x="381000" y="1481328"/>
            <a:ext cx="2921000" cy="512064"/>
          </a:xfrm>
          <a:prstGeom prst="rect">
            <a:avLst/>
          </a:prstGeom>
          <a:solidFill>
            <a:srgbClr val="1F2A5C"/>
          </a:solidFill>
          <a:ln>
            <a:noFill/>
          </a:ln>
        </p:spPr>
        <p:txBody>
          <a:bodyPr wrap="square" lIns="203200" tIns="101600" rIns="203200" bIns="101600" anchor="ctr"/>
          <a:lstStyle/>
          <a:p>
            <a:pPr algn="l">
              <a:buNone/>
            </a:pPr>
            <a:r>
              <a:rPr lang="ja-JP" sz="2400" b="1" dirty="0">
                <a:solidFill>
                  <a:srgbClr val="FFFFFF"/>
                </a:solidFill>
              </a:rPr>
              <a:t>01</a:t>
            </a:r>
          </a:p>
        </p:txBody>
      </p:sp>
      <p:sp>
        <p:nvSpPr>
          <p:cNvPr id="34" name="Card1_Title">
            <a:extLst>
              <a:ext uri="{FF2B5EF4-FFF2-40B4-BE49-F238E27FC236}">
                <a16:creationId xmlns:a16="http://schemas.microsoft.com/office/drawing/2014/main" id="{A00E1BD8-B14A-9E83-AD58-EF16846CB3A4}"/>
              </a:ext>
            </a:extLst>
          </p:cNvPr>
          <p:cNvSpPr txBox="1"/>
          <p:nvPr/>
        </p:nvSpPr>
        <p:spPr>
          <a:xfrm>
            <a:off x="381000" y="1993392"/>
            <a:ext cx="2921000" cy="457200"/>
          </a:xfrm>
          <a:prstGeom prst="rect">
            <a:avLst/>
          </a:prstGeom>
          <a:solidFill>
            <a:srgbClr val="FFFFFF"/>
          </a:solidFill>
          <a:ln w="6350">
            <a:solidFill>
              <a:srgbClr val="1F2A5C"/>
            </a:solidFill>
          </a:ln>
        </p:spPr>
        <p:txBody>
          <a:bodyPr wrap="square" lIns="177800" tIns="101600" rIns="177800" bIns="101600" anchor="ctr"/>
          <a:lstStyle/>
          <a:p>
            <a:pPr>
              <a:buNone/>
            </a:pPr>
            <a:r>
              <a:rPr lang="ja-JP" sz="1400" b="1" dirty="0">
                <a:solidFill>
                  <a:srgbClr val="1F2A5C"/>
                </a:solidFill>
              </a:rPr>
              <a:t>電話より、文字でのやり取り</a:t>
            </a:r>
          </a:p>
        </p:txBody>
      </p:sp>
      <p:sp>
        <p:nvSpPr>
          <p:cNvPr id="35" name="Card1_Body">
            <a:extLst>
              <a:ext uri="{FF2B5EF4-FFF2-40B4-BE49-F238E27FC236}">
                <a16:creationId xmlns:a16="http://schemas.microsoft.com/office/drawing/2014/main" id="{400EE71C-7EE5-0652-6E8D-BFDA5B8F0AE3}"/>
              </a:ext>
            </a:extLst>
          </p:cNvPr>
          <p:cNvSpPr txBox="1"/>
          <p:nvPr/>
        </p:nvSpPr>
        <p:spPr>
          <a:xfrm>
            <a:off x="381000" y="2450592"/>
            <a:ext cx="2921000" cy="2743200"/>
          </a:xfrm>
          <a:prstGeom prst="rect">
            <a:avLst/>
          </a:prstGeom>
          <a:solidFill>
            <a:srgbClr val="F5F7FA"/>
          </a:solidFill>
          <a:ln w="6350">
            <a:solidFill>
              <a:srgbClr val="D1D8E0"/>
            </a:solidFill>
          </a:ln>
        </p:spPr>
        <p:txBody>
          <a:bodyPr wrap="square" lIns="177800" tIns="152400" rIns="177800" bIns="152400" anchor="t"/>
          <a:lstStyle/>
          <a:p>
            <a:pPr>
              <a:spcBef>
                <a:spcPts val="200"/>
              </a:spcBef>
              <a:buClr>
                <a:srgbClr val="1F2A5C"/>
              </a:buClr>
            </a:pPr>
            <a:r>
              <a:rPr lang="ja-JP" sz="1400" dirty="0">
                <a:solidFill>
                  <a:srgbClr val="333333"/>
                </a:solidFill>
              </a:rPr>
              <a:t>・内見予約のやり取りの希望は、電話33.4％に対し、メール・SMSが52.6％</a:t>
            </a:r>
          </a:p>
        </p:txBody>
      </p:sp>
      <p:sp>
        <p:nvSpPr>
          <p:cNvPr id="36" name="Card2_Num">
            <a:extLst>
              <a:ext uri="{FF2B5EF4-FFF2-40B4-BE49-F238E27FC236}">
                <a16:creationId xmlns:a16="http://schemas.microsoft.com/office/drawing/2014/main" id="{1E55EC9A-E347-B84B-262B-EF1A6E14096B}"/>
              </a:ext>
            </a:extLst>
          </p:cNvPr>
          <p:cNvSpPr txBox="1"/>
          <p:nvPr/>
        </p:nvSpPr>
        <p:spPr>
          <a:xfrm>
            <a:off x="3492500" y="1481328"/>
            <a:ext cx="2921000" cy="512064"/>
          </a:xfrm>
          <a:prstGeom prst="rect">
            <a:avLst/>
          </a:prstGeom>
          <a:solidFill>
            <a:srgbClr val="4A6FA5"/>
          </a:solidFill>
          <a:ln>
            <a:noFill/>
          </a:ln>
        </p:spPr>
        <p:txBody>
          <a:bodyPr wrap="square" lIns="203200" tIns="101600" rIns="203200" bIns="101600" anchor="ctr"/>
          <a:lstStyle/>
          <a:p>
            <a:pPr algn="l">
              <a:buNone/>
            </a:pPr>
            <a:r>
              <a:rPr lang="ja-JP" sz="2400" b="1" dirty="0">
                <a:solidFill>
                  <a:srgbClr val="FFFFFF"/>
                </a:solidFill>
              </a:rPr>
              <a:t>02</a:t>
            </a:r>
          </a:p>
        </p:txBody>
      </p:sp>
      <p:sp>
        <p:nvSpPr>
          <p:cNvPr id="37" name="Card2_Title">
            <a:extLst>
              <a:ext uri="{FF2B5EF4-FFF2-40B4-BE49-F238E27FC236}">
                <a16:creationId xmlns:a16="http://schemas.microsoft.com/office/drawing/2014/main" id="{7EA7999B-288A-E255-3A8D-51DA3754E17B}"/>
              </a:ext>
            </a:extLst>
          </p:cNvPr>
          <p:cNvSpPr txBox="1"/>
          <p:nvPr/>
        </p:nvSpPr>
        <p:spPr>
          <a:xfrm>
            <a:off x="3492500" y="1993392"/>
            <a:ext cx="2921000" cy="457200"/>
          </a:xfrm>
          <a:prstGeom prst="rect">
            <a:avLst/>
          </a:prstGeom>
          <a:solidFill>
            <a:srgbClr val="FFFFFF"/>
          </a:solidFill>
          <a:ln w="6350">
            <a:solidFill>
              <a:srgbClr val="4A6FA5"/>
            </a:solidFill>
          </a:ln>
        </p:spPr>
        <p:txBody>
          <a:bodyPr wrap="square" lIns="177800" tIns="101600" rIns="177800" bIns="101600" anchor="ctr"/>
          <a:lstStyle/>
          <a:p>
            <a:pPr>
              <a:buNone/>
            </a:pPr>
            <a:r>
              <a:rPr lang="ja-JP" sz="1400" b="1" dirty="0">
                <a:solidFill>
                  <a:srgbClr val="4A6FA5"/>
                </a:solidFill>
              </a:rPr>
              <a:t>手続きもオンラインで</a:t>
            </a:r>
          </a:p>
        </p:txBody>
      </p:sp>
      <p:sp>
        <p:nvSpPr>
          <p:cNvPr id="38" name="Card2_Body">
            <a:extLst>
              <a:ext uri="{FF2B5EF4-FFF2-40B4-BE49-F238E27FC236}">
                <a16:creationId xmlns:a16="http://schemas.microsoft.com/office/drawing/2014/main" id="{E7A27D28-3DE5-B65B-3078-06258585755F}"/>
              </a:ext>
            </a:extLst>
          </p:cNvPr>
          <p:cNvSpPr txBox="1"/>
          <p:nvPr/>
        </p:nvSpPr>
        <p:spPr>
          <a:xfrm>
            <a:off x="3492500" y="2450592"/>
            <a:ext cx="2921000" cy="2743200"/>
          </a:xfrm>
          <a:prstGeom prst="rect">
            <a:avLst/>
          </a:prstGeom>
          <a:solidFill>
            <a:srgbClr val="F5F7FA"/>
          </a:solidFill>
          <a:ln w="6350">
            <a:solidFill>
              <a:srgbClr val="D1D8E0"/>
            </a:solidFill>
          </a:ln>
        </p:spPr>
        <p:txBody>
          <a:bodyPr wrap="square" lIns="177800" tIns="152400" rIns="177800" bIns="152400" anchor="t"/>
          <a:lstStyle/>
          <a:p>
            <a:pPr>
              <a:spcBef>
                <a:spcPts val="200"/>
              </a:spcBef>
              <a:buClr>
                <a:srgbClr val="4A6FA5"/>
              </a:buClr>
            </a:pPr>
            <a:r>
              <a:rPr lang="ja-JP" sz="1400" dirty="0">
                <a:solidFill>
                  <a:srgbClr val="333333"/>
                </a:solidFill>
              </a:rPr>
              <a:t>・オンラインで契約したい検討者は36.4％、オンラインで重要事項説明を受けたい検討者は29.6％</a:t>
            </a:r>
          </a:p>
          <a:p>
            <a:pPr>
              <a:spcBef>
                <a:spcPts val="200"/>
              </a:spcBef>
              <a:buClr>
                <a:srgbClr val="4A6FA5"/>
              </a:buClr>
            </a:pPr>
            <a:r>
              <a:rPr lang="ja-JP" sz="1400" dirty="0">
                <a:solidFill>
                  <a:srgbClr val="333333"/>
                </a:solidFill>
              </a:rPr>
              <a:t>・100円賃貸は、テレビ電話・郵送・ネットでのお申込み・ご契約に対応</a:t>
            </a:r>
            <a:endParaRPr lang="en-US" altLang="ja-JP" sz="1400" dirty="0">
              <a:solidFill>
                <a:srgbClr val="333333"/>
              </a:solidFill>
            </a:endParaRPr>
          </a:p>
        </p:txBody>
      </p:sp>
      <p:sp>
        <p:nvSpPr>
          <p:cNvPr id="39" name="Card3_Num">
            <a:extLst>
              <a:ext uri="{FF2B5EF4-FFF2-40B4-BE49-F238E27FC236}">
                <a16:creationId xmlns:a16="http://schemas.microsoft.com/office/drawing/2014/main" id="{70237F12-5482-737F-1B32-66F14BE63393}"/>
              </a:ext>
            </a:extLst>
          </p:cNvPr>
          <p:cNvSpPr txBox="1"/>
          <p:nvPr/>
        </p:nvSpPr>
        <p:spPr>
          <a:xfrm>
            <a:off x="6604000" y="1481328"/>
            <a:ext cx="2921000" cy="512064"/>
          </a:xfrm>
          <a:prstGeom prst="rect">
            <a:avLst/>
          </a:prstGeom>
          <a:solidFill>
            <a:schemeClr val="bg1">
              <a:lumMod val="75000"/>
            </a:schemeClr>
          </a:solidFill>
          <a:ln>
            <a:noFill/>
          </a:ln>
        </p:spPr>
        <p:txBody>
          <a:bodyPr wrap="square" lIns="203200" tIns="101600" rIns="203200" bIns="101600" anchor="ctr"/>
          <a:lstStyle/>
          <a:p>
            <a:pPr algn="l">
              <a:buNone/>
            </a:pPr>
            <a:r>
              <a:rPr lang="ja-JP" sz="2400" b="1" dirty="0">
                <a:solidFill>
                  <a:srgbClr val="FFFFFF"/>
                </a:solidFill>
              </a:rPr>
              <a:t>03</a:t>
            </a:r>
          </a:p>
        </p:txBody>
      </p:sp>
      <p:sp>
        <p:nvSpPr>
          <p:cNvPr id="40" name="Card3_Title">
            <a:extLst>
              <a:ext uri="{FF2B5EF4-FFF2-40B4-BE49-F238E27FC236}">
                <a16:creationId xmlns:a16="http://schemas.microsoft.com/office/drawing/2014/main" id="{E3518035-C567-1D4B-318D-78C25A6B9E43}"/>
              </a:ext>
            </a:extLst>
          </p:cNvPr>
          <p:cNvSpPr txBox="1"/>
          <p:nvPr/>
        </p:nvSpPr>
        <p:spPr>
          <a:xfrm>
            <a:off x="6604000" y="1993392"/>
            <a:ext cx="2921000" cy="457200"/>
          </a:xfrm>
          <a:prstGeom prst="rect">
            <a:avLst/>
          </a:prstGeom>
          <a:solidFill>
            <a:srgbClr val="FFFFFF"/>
          </a:solidFill>
          <a:ln w="6350">
            <a:solidFill>
              <a:schemeClr val="bg1">
                <a:lumMod val="75000"/>
              </a:schemeClr>
            </a:solidFill>
          </a:ln>
        </p:spPr>
        <p:txBody>
          <a:bodyPr wrap="square" lIns="177800" tIns="101600" rIns="177800" bIns="101600" anchor="ctr"/>
          <a:lstStyle/>
          <a:p>
            <a:pPr>
              <a:buNone/>
            </a:pPr>
            <a:r>
              <a:rPr lang="ja-JP" sz="1400" b="1" dirty="0">
                <a:solidFill>
                  <a:schemeClr val="tx1">
                    <a:lumMod val="65000"/>
                    <a:lumOff val="35000"/>
                  </a:schemeClr>
                </a:solidFill>
              </a:rPr>
              <a:t>URLを送るだけの競合も</a:t>
            </a:r>
          </a:p>
        </p:txBody>
      </p:sp>
      <p:sp>
        <p:nvSpPr>
          <p:cNvPr id="41" name="Card3_Body">
            <a:extLst>
              <a:ext uri="{FF2B5EF4-FFF2-40B4-BE49-F238E27FC236}">
                <a16:creationId xmlns:a16="http://schemas.microsoft.com/office/drawing/2014/main" id="{6E2E9F62-4250-ED13-4C52-FC6B502E56E4}"/>
              </a:ext>
            </a:extLst>
          </p:cNvPr>
          <p:cNvSpPr txBox="1"/>
          <p:nvPr/>
        </p:nvSpPr>
        <p:spPr>
          <a:xfrm>
            <a:off x="6604000" y="2450592"/>
            <a:ext cx="2921000" cy="2743200"/>
          </a:xfrm>
          <a:prstGeom prst="rect">
            <a:avLst/>
          </a:prstGeom>
          <a:solidFill>
            <a:srgbClr val="F5F7FA"/>
          </a:solidFill>
          <a:ln w="6350">
            <a:solidFill>
              <a:srgbClr val="D1D8E0"/>
            </a:solidFill>
          </a:ln>
        </p:spPr>
        <p:txBody>
          <a:bodyPr wrap="square" lIns="177800" tIns="152400" rIns="177800" bIns="152400" anchor="t"/>
          <a:lstStyle/>
          <a:p>
            <a:pPr>
              <a:spcBef>
                <a:spcPts val="200"/>
              </a:spcBef>
              <a:buClr>
                <a:srgbClr val="C8102E"/>
              </a:buClr>
            </a:pPr>
            <a:r>
              <a:rPr lang="ja-JP" sz="1400" dirty="0">
                <a:solidFill>
                  <a:srgbClr val="333333"/>
                </a:solidFill>
              </a:rPr>
              <a:t>・タダスム：見つけた物件のURLをLINEで送ると、空室確認・内見調整。仲介手数料は「0円or最大50%」</a:t>
            </a:r>
          </a:p>
        </p:txBody>
      </p:sp>
      <p:sp>
        <p:nvSpPr>
          <p:cNvPr id="42" name="Conclusion">
            <a:extLst>
              <a:ext uri="{FF2B5EF4-FFF2-40B4-BE49-F238E27FC236}">
                <a16:creationId xmlns:a16="http://schemas.microsoft.com/office/drawing/2014/main" id="{ED3146E7-9955-F215-581D-DD3180418A87}"/>
              </a:ext>
            </a:extLst>
          </p:cNvPr>
          <p:cNvSpPr txBox="1"/>
          <p:nvPr/>
        </p:nvSpPr>
        <p:spPr>
          <a:xfrm>
            <a:off x="381000" y="5266944"/>
            <a:ext cx="9144000" cy="1170432"/>
          </a:xfrm>
          <a:prstGeom prst="rect">
            <a:avLst/>
          </a:prstGeom>
          <a:solidFill>
            <a:srgbClr val="F0F2F7"/>
          </a:solidFill>
          <a:ln>
            <a:noFill/>
          </a:ln>
        </p:spPr>
        <p:txBody>
          <a:bodyPr wrap="square" lIns="177800" tIns="127000" rIns="177800" bIns="127000" anchor="t"/>
          <a:lstStyle/>
          <a:p>
            <a:pPr algn="l">
              <a:spcAft>
                <a:spcPts val="300"/>
              </a:spcAft>
              <a:buNone/>
            </a:pPr>
            <a:r>
              <a:rPr lang="ja-JP" altLang="en-US" sz="1100" b="1" dirty="0">
                <a:solidFill>
                  <a:srgbClr val="1F285A"/>
                </a:solidFill>
                <a:latin typeface="メイリオ" panose="020B0604030504040204" pitchFamily="50" charset="-128"/>
                <a:ea typeface="メイリオ" panose="020B0604030504040204" pitchFamily="50" charset="-128"/>
              </a:rPr>
              <a:t>出典</a:t>
            </a:r>
            <a:endParaRPr lang="ja-JP" altLang="en-US" sz="1100" dirty="0"/>
          </a:p>
          <a:p>
            <a:pPr algn="l">
              <a:spcAft>
                <a:spcPts val="200"/>
              </a:spcAft>
              <a:buNone/>
            </a:pPr>
            <a:r>
              <a:rPr lang="ja-JP" altLang="en-US" sz="1100" b="0" dirty="0">
                <a:solidFill>
                  <a:srgbClr val="333333"/>
                </a:solidFill>
                <a:latin typeface="メイリオ" panose="020B0604030504040204" pitchFamily="50" charset="-128"/>
                <a:ea typeface="メイリオ" panose="020B0604030504040204" pitchFamily="50" charset="-128"/>
              </a:rPr>
              <a:t>・</a:t>
            </a:r>
            <a:r>
              <a:rPr lang="ja-JP" altLang="en-US" sz="1100" b="0" dirty="0">
                <a:solidFill>
                  <a:srgbClr val="333333"/>
                </a:solidFill>
                <a:latin typeface="メイリオ" panose="020B0604030504040204" pitchFamily="50" charset="-128"/>
                <a:ea typeface="メイリオ" panose="020B0604030504040204" pitchFamily="50" charset="-128"/>
                <a:hlinkClick r:id="rId2"/>
              </a:rPr>
              <a:t>アットホーム「オンラインでの住まい探しに関する調査 2025 賃貸編」</a:t>
            </a:r>
            <a:endParaRPr lang="ja-JP" altLang="en-US" sz="1100" dirty="0"/>
          </a:p>
          <a:p>
            <a:pPr algn="l">
              <a:spcAft>
                <a:spcPts val="200"/>
              </a:spcAft>
              <a:buNone/>
            </a:pPr>
            <a:r>
              <a:rPr lang="ja-JP" altLang="en-US" sz="1100" b="0" dirty="0">
                <a:solidFill>
                  <a:srgbClr val="333333"/>
                </a:solidFill>
                <a:latin typeface="メイリオ" panose="020B0604030504040204" pitchFamily="50" charset="-128"/>
                <a:ea typeface="メイリオ" panose="020B0604030504040204" pitchFamily="50" charset="-128"/>
              </a:rPr>
              <a:t>・</a:t>
            </a:r>
            <a:r>
              <a:rPr lang="ja-JP" altLang="en-US" sz="1100" b="0" dirty="0">
                <a:solidFill>
                  <a:srgbClr val="333333"/>
                </a:solidFill>
                <a:latin typeface="メイリオ" panose="020B0604030504040204" pitchFamily="50" charset="-128"/>
                <a:ea typeface="メイリオ" panose="020B0604030504040204" pitchFamily="50" charset="-128"/>
              </a:rPr>
              <a:t>タダスム（</a:t>
            </a:r>
            <a:r>
              <a:rPr lang="ja-JP" altLang="en-US" sz="1100" b="0" dirty="0">
                <a:solidFill>
                  <a:srgbClr val="333333"/>
                </a:solidFill>
                <a:latin typeface="メイリオ" panose="020B0604030504040204" pitchFamily="50" charset="-128"/>
                <a:ea typeface="メイリオ" panose="020B0604030504040204" pitchFamily="50" charset="-128"/>
                <a:hlinkClick r:id="rId3"/>
              </a:rPr>
              <a:t>公式サイト</a:t>
            </a:r>
            <a:r>
              <a:rPr lang="ja-JP" altLang="en-US" sz="1100" b="0" dirty="0">
                <a:solidFill>
                  <a:srgbClr val="333333"/>
                </a:solidFill>
                <a:latin typeface="メイリオ" panose="020B0604030504040204" pitchFamily="50" charset="-128"/>
                <a:ea typeface="メイリオ" panose="020B0604030504040204" pitchFamily="50" charset="-128"/>
              </a:rPr>
              <a:t>／</a:t>
            </a:r>
            <a:r>
              <a:rPr lang="ja-JP" altLang="en-US" sz="1100" b="0" dirty="0">
                <a:solidFill>
                  <a:srgbClr val="333333"/>
                </a:solidFill>
                <a:latin typeface="メイリオ" panose="020B0604030504040204" pitchFamily="50" charset="-128"/>
                <a:ea typeface="メイリオ" panose="020B0604030504040204" pitchFamily="50" charset="-128"/>
                <a:hlinkClick r:id="rId4"/>
              </a:rPr>
              <a:t>サービス紹介</a:t>
            </a:r>
            <a:r>
              <a:rPr lang="ja-JP" altLang="en-US" sz="1100" b="0" dirty="0">
                <a:solidFill>
                  <a:srgbClr val="333333"/>
                </a:solidFill>
                <a:latin typeface="メイリオ" panose="020B0604030504040204" pitchFamily="50" charset="-128"/>
                <a:ea typeface="メイリオ" panose="020B0604030504040204" pitchFamily="50" charset="-128"/>
              </a:rPr>
              <a:t>）</a:t>
            </a:r>
            <a:endParaRPr lang="ja-JP" altLang="en-US" sz="1100" dirty="0"/>
          </a:p>
          <a:p>
            <a:pPr algn="l">
              <a:spcAft>
                <a:spcPts val="200"/>
              </a:spcAft>
              <a:buNone/>
            </a:pPr>
            <a:r>
              <a:rPr lang="ja-JP" altLang="en-US" sz="1100" b="0" dirty="0">
                <a:solidFill>
                  <a:srgbClr val="333333"/>
                </a:solidFill>
                <a:latin typeface="メイリオ" panose="020B0604030504040204" pitchFamily="50" charset="-128"/>
                <a:ea typeface="メイリオ" panose="020B0604030504040204" pitchFamily="50" charset="-128"/>
              </a:rPr>
              <a:t>・</a:t>
            </a:r>
            <a:r>
              <a:rPr lang="ja-JP" altLang="en-US" sz="1100" b="0" dirty="0">
                <a:solidFill>
                  <a:srgbClr val="333333"/>
                </a:solidFill>
                <a:latin typeface="メイリオ" panose="020B0604030504040204" pitchFamily="50" charset="-128"/>
                <a:ea typeface="メイリオ" panose="020B0604030504040204" pitchFamily="50" charset="-128"/>
                <a:hlinkClick r:id="rId5"/>
              </a:rPr>
              <a:t>100円賃貸 公式サイト</a:t>
            </a:r>
            <a:endParaRPr lang="ja-JP" altLang="en-US" sz="1100" dirty="0"/>
          </a:p>
        </p:txBody>
      </p:sp>
    </p:spTree>
    <p:extLst>
      <p:ext uri="{BB962C8B-B14F-4D97-AF65-F5344CB8AC3E}">
        <p14:creationId xmlns:p14="http://schemas.microsoft.com/office/powerpoint/2010/main" val="28591725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B95DA1-C4AC-9E84-EE81-C643FC320A19}"/>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D0A4C04F-D2D9-01C2-E8A6-1461C3D732EF}"/>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E18DA7C5-B4CE-72EF-0BE5-E52C6EDDE855}"/>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sp>
        <p:nvSpPr>
          <p:cNvPr id="45" name="Google Shape;156;p7">
            <a:extLst>
              <a:ext uri="{FF2B5EF4-FFF2-40B4-BE49-F238E27FC236}">
                <a16:creationId xmlns:a16="http://schemas.microsoft.com/office/drawing/2014/main" id="{0D487FC4-7DBC-58FC-7A30-5F63295AAB2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要件定義</a:t>
            </a:r>
            <a:endParaRPr sz="1600" b="1" dirty="0">
              <a:solidFill>
                <a:srgbClr val="002060"/>
              </a:solidFill>
              <a:latin typeface="Meiryo"/>
              <a:ea typeface="Meiryo"/>
              <a:cs typeface="Meiryo"/>
              <a:sym typeface="Meiryo"/>
            </a:endParaRPr>
          </a:p>
        </p:txBody>
      </p:sp>
      <p:sp>
        <p:nvSpPr>
          <p:cNvPr id="5" name="Heading">
            <a:extLst>
              <a:ext uri="{FF2B5EF4-FFF2-40B4-BE49-F238E27FC236}">
                <a16:creationId xmlns:a16="http://schemas.microsoft.com/office/drawing/2014/main" id="{72D111CA-9C32-B454-53E5-199EF4E6ABE1}"/>
              </a:ext>
            </a:extLst>
          </p:cNvPr>
          <p:cNvSpPr txBox="1"/>
          <p:nvPr/>
        </p:nvSpPr>
        <p:spPr>
          <a:xfrm>
            <a:off x="365143" y="835933"/>
            <a:ext cx="9144000" cy="279400"/>
          </a:xfrm>
          <a:prstGeom prst="rect">
            <a:avLst/>
          </a:prstGeom>
          <a:noFill/>
          <a:ln>
            <a:noFill/>
          </a:ln>
        </p:spPr>
        <p:txBody>
          <a:bodyPr wrap="square" lIns="101600" tIns="76200" rIns="101600" bIns="76200" anchor="t"/>
          <a:lstStyle/>
          <a:p>
            <a:pPr>
              <a:buNone/>
            </a:pPr>
            <a:r>
              <a:rPr lang="ja-JP" sz="1400" b="1" dirty="0">
                <a:solidFill>
                  <a:srgbClr val="1F2A5C"/>
                </a:solidFill>
                <a:latin typeface="メイリオ" panose="020B0604030504040204" pitchFamily="50" charset="-128"/>
                <a:ea typeface="メイリオ" panose="020B0604030504040204" pitchFamily="50" charset="-128"/>
              </a:rPr>
              <a:t>LINE運用ツール</a:t>
            </a:r>
            <a:r>
              <a:rPr lang="ja-JP" altLang="en-US" sz="1400" b="1" dirty="0">
                <a:solidFill>
                  <a:srgbClr val="1F2A5C"/>
                </a:solidFill>
                <a:latin typeface="メイリオ" panose="020B0604030504040204" pitchFamily="50" charset="-128"/>
                <a:ea typeface="メイリオ" panose="020B0604030504040204" pitchFamily="50" charset="-128"/>
              </a:rPr>
              <a:t>の選定</a:t>
            </a:r>
            <a:endParaRPr lang="ja-JP" sz="1400" b="1" dirty="0">
              <a:solidFill>
                <a:srgbClr val="1F2A5C"/>
              </a:solidFill>
              <a:latin typeface="メイリオ" panose="020B0604030504040204" pitchFamily="50" charset="-128"/>
              <a:ea typeface="メイリオ" panose="020B0604030504040204" pitchFamily="50" charset="-128"/>
            </a:endParaRPr>
          </a:p>
        </p:txBody>
      </p:sp>
      <p:sp>
        <p:nvSpPr>
          <p:cNvPr id="7" name="LeftHeader">
            <a:extLst>
              <a:ext uri="{FF2B5EF4-FFF2-40B4-BE49-F238E27FC236}">
                <a16:creationId xmlns:a16="http://schemas.microsoft.com/office/drawing/2014/main" id="{CB5A9197-C4B7-57D9-941C-59337584B1D9}"/>
              </a:ext>
            </a:extLst>
          </p:cNvPr>
          <p:cNvSpPr txBox="1"/>
          <p:nvPr/>
        </p:nvSpPr>
        <p:spPr>
          <a:xfrm>
            <a:off x="381000" y="1320738"/>
            <a:ext cx="4445000" cy="420624"/>
          </a:xfrm>
          <a:prstGeom prst="rect">
            <a:avLst/>
          </a:prstGeom>
          <a:solidFill>
            <a:srgbClr val="1F2A5C"/>
          </a:solidFill>
          <a:ln>
            <a:noFill/>
          </a:ln>
        </p:spPr>
        <p:txBody>
          <a:bodyPr wrap="square" lIns="73152" tIns="76200" rIns="73152" bIns="76200" anchor="ct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標準機能で運用</a:t>
            </a:r>
            <a:r>
              <a:rPr lang="ja-JP" altLang="en-US" sz="1400" b="0" dirty="0">
                <a:solidFill>
                  <a:srgbClr val="FFFFFF"/>
                </a:solidFill>
                <a:latin typeface="メイリオ" panose="020B0604030504040204" pitchFamily="50" charset="-128"/>
                <a:ea typeface="メイリオ" panose="020B0604030504040204" pitchFamily="50" charset="-128"/>
              </a:rPr>
              <a:t> </a:t>
            </a:r>
            <a:r>
              <a:rPr lang="ja-JP" altLang="en-US" sz="1200" b="0" dirty="0">
                <a:solidFill>
                  <a:srgbClr val="FFFFFF"/>
                </a:solidFill>
                <a:latin typeface="メイリオ" panose="020B0604030504040204" pitchFamily="50" charset="-128"/>
                <a:ea typeface="メイリオ" panose="020B0604030504040204" pitchFamily="50" charset="-128"/>
              </a:rPr>
              <a:t>※基本施策はこちらで運用</a:t>
            </a:r>
            <a:endParaRPr lang="ja-JP" sz="1400" dirty="0">
              <a:solidFill>
                <a:srgbClr val="FFFFFF"/>
              </a:solidFill>
              <a:latin typeface="メイリオ" panose="020B0604030504040204" pitchFamily="50" charset="-128"/>
              <a:ea typeface="メイリオ" panose="020B0604030504040204" pitchFamily="50" charset="-128"/>
            </a:endParaRPr>
          </a:p>
        </p:txBody>
      </p:sp>
      <p:sp>
        <p:nvSpPr>
          <p:cNvPr id="9" name="LeftBody">
            <a:extLst>
              <a:ext uri="{FF2B5EF4-FFF2-40B4-BE49-F238E27FC236}">
                <a16:creationId xmlns:a16="http://schemas.microsoft.com/office/drawing/2014/main" id="{1F03C4B4-E554-D5BC-620E-6E684192FEBB}"/>
              </a:ext>
            </a:extLst>
          </p:cNvPr>
          <p:cNvSpPr txBox="1"/>
          <p:nvPr/>
        </p:nvSpPr>
        <p:spPr>
          <a:xfrm>
            <a:off x="381000" y="1741017"/>
            <a:ext cx="4445000" cy="3401568"/>
          </a:xfrm>
          <a:prstGeom prst="rect">
            <a:avLst/>
          </a:prstGeom>
          <a:solidFill>
            <a:srgbClr val="F5F7FA"/>
          </a:solidFill>
          <a:ln w="6350">
            <a:solidFill>
              <a:srgbClr val="D1D8E0"/>
            </a:solidFill>
          </a:ln>
        </p:spPr>
        <p:txBody>
          <a:bodyPr wrap="square" lIns="128016" tIns="152400" rIns="128016" bIns="152400" anchor="t"/>
          <a:lstStyle/>
          <a:p>
            <a:pPr>
              <a:buNone/>
            </a:pPr>
            <a:r>
              <a:rPr lang="ja-JP" sz="1400" b="1" dirty="0">
                <a:solidFill>
                  <a:srgbClr val="1F2A5C"/>
                </a:solidFill>
                <a:latin typeface="メイリオ" panose="020B0604030504040204" pitchFamily="50" charset="-128"/>
                <a:ea typeface="メイリオ" panose="020B0604030504040204" pitchFamily="50" charset="-128"/>
              </a:rPr>
              <a:t>特徴</a:t>
            </a:r>
          </a:p>
          <a:p>
            <a:pPr>
              <a:spcBef>
                <a:spcPts val="200"/>
              </a:spcBef>
              <a:buClr>
                <a:srgbClr val="1F2A5C"/>
              </a:buClr>
            </a:pPr>
            <a:r>
              <a:rPr lang="ja-JP" altLang="en-US" sz="1400" b="0" dirty="0">
                <a:solidFill>
                  <a:srgbClr val="333333"/>
                </a:solidFill>
                <a:latin typeface="メイリオ" panose="020B0604030504040204" pitchFamily="50" charset="-128"/>
                <a:ea typeface="メイリオ" panose="020B0604030504040204" pitchFamily="50" charset="-128"/>
              </a:rPr>
              <a:t>ツール費がかからず、LINE公式アカウントの管理画面だけで運用できる</a:t>
            </a:r>
            <a:endParaRPr lang="en-US" altLang="ja-JP" sz="1400" dirty="0">
              <a:solidFill>
                <a:srgbClr val="333333"/>
              </a:solidFill>
              <a:latin typeface="メイリオ" panose="020B0604030504040204" pitchFamily="50" charset="-128"/>
              <a:ea typeface="メイリオ" panose="020B0604030504040204" pitchFamily="50" charset="-128"/>
            </a:endParaRPr>
          </a:p>
          <a:p>
            <a:pPr>
              <a:spcBef>
                <a:spcPts val="600"/>
              </a:spcBef>
              <a:buClr>
                <a:srgbClr val="1F2A5C"/>
              </a:buClr>
            </a:pPr>
            <a:r>
              <a:rPr lang="ja-JP" sz="1400" b="1" dirty="0">
                <a:solidFill>
                  <a:srgbClr val="1F2A5C"/>
                </a:solidFill>
                <a:latin typeface="メイリオ" panose="020B0604030504040204" pitchFamily="50" charset="-128"/>
                <a:ea typeface="メイリオ" panose="020B0604030504040204" pitchFamily="50" charset="-128"/>
              </a:rPr>
              <a:t>メリット</a:t>
            </a:r>
            <a:endParaRPr lang="en-US" altLang="ja-JP" sz="1400" b="1" dirty="0">
              <a:solidFill>
                <a:srgbClr val="333333"/>
              </a:solidFill>
              <a:latin typeface="メイリオ" panose="020B0604030504040204" pitchFamily="50" charset="-128"/>
              <a:ea typeface="メイリオ" panose="020B0604030504040204" pitchFamily="50" charset="-128"/>
            </a:endParaRPr>
          </a:p>
          <a:p>
            <a:pPr>
              <a:spcBef>
                <a:spcPts val="200"/>
              </a:spcBef>
              <a:buClr>
                <a:srgbClr val="1F2A5C"/>
              </a:buClr>
            </a:pPr>
            <a:r>
              <a:rPr lang="ja-JP" sz="1400" b="0" dirty="0">
                <a:solidFill>
                  <a:srgbClr val="333333"/>
                </a:solidFill>
                <a:latin typeface="メイリオ" panose="020B0604030504040204" pitchFamily="50" charset="-128"/>
                <a:ea typeface="メイリオ" panose="020B0604030504040204" pitchFamily="50" charset="-128"/>
              </a:rPr>
              <a:t>ステップ配信・問い合わせ済みの方を除く配信・キーワード応答・チャットタグなど、LINE上の施策はすべて標準機能で実現できる</a:t>
            </a:r>
            <a:endParaRPr lang="en-US" altLang="ja-JP" sz="1400" b="1" dirty="0">
              <a:solidFill>
                <a:srgbClr val="1F2A5C"/>
              </a:solidFill>
              <a:latin typeface="メイリオ" panose="020B0604030504040204" pitchFamily="50" charset="-128"/>
              <a:ea typeface="メイリオ" panose="020B0604030504040204" pitchFamily="50" charset="-128"/>
            </a:endParaRPr>
          </a:p>
          <a:p>
            <a:pPr>
              <a:spcBef>
                <a:spcPts val="600"/>
              </a:spcBef>
              <a:buNone/>
            </a:pPr>
            <a:r>
              <a:rPr lang="ja-JP" sz="1400" b="1" dirty="0">
                <a:solidFill>
                  <a:srgbClr val="1F2A5C"/>
                </a:solidFill>
                <a:latin typeface="メイリオ" panose="020B0604030504040204" pitchFamily="50" charset="-128"/>
                <a:ea typeface="メイリオ" panose="020B0604030504040204" pitchFamily="50" charset="-128"/>
              </a:rPr>
              <a:t>デメリット</a:t>
            </a:r>
          </a:p>
          <a:p>
            <a:pPr>
              <a:spcBef>
                <a:spcPts val="200"/>
              </a:spcBef>
              <a:buClr>
                <a:srgbClr val="1F2A5C"/>
              </a:buClr>
            </a:pPr>
            <a:r>
              <a:rPr lang="ja-JP" sz="1400" b="0" dirty="0">
                <a:solidFill>
                  <a:srgbClr val="333333"/>
                </a:solidFill>
                <a:latin typeface="メイリオ" panose="020B0604030504040204" pitchFamily="50" charset="-128"/>
                <a:ea typeface="メイリオ" panose="020B0604030504040204" pitchFamily="50" charset="-128"/>
              </a:rPr>
              <a:t>離脱防止ポップアップとサイトのボタンなど、同じ友だち追加URLから入った方は、経路で分けて配信できない</a:t>
            </a:r>
          </a:p>
        </p:txBody>
      </p:sp>
      <p:sp>
        <p:nvSpPr>
          <p:cNvPr id="11" name="RightHeader">
            <a:extLst>
              <a:ext uri="{FF2B5EF4-FFF2-40B4-BE49-F238E27FC236}">
                <a16:creationId xmlns:a16="http://schemas.microsoft.com/office/drawing/2014/main" id="{AAFEC56F-C547-3D3E-AA1C-0DCD55A22EF5}"/>
              </a:ext>
            </a:extLst>
          </p:cNvPr>
          <p:cNvSpPr txBox="1"/>
          <p:nvPr/>
        </p:nvSpPr>
        <p:spPr>
          <a:xfrm>
            <a:off x="5080000" y="1320738"/>
            <a:ext cx="4445000" cy="420624"/>
          </a:xfrm>
          <a:prstGeom prst="rect">
            <a:avLst/>
          </a:prstGeom>
          <a:solidFill>
            <a:srgbClr val="00B050"/>
          </a:solidFill>
          <a:ln>
            <a:noFill/>
          </a:ln>
        </p:spPr>
        <p:txBody>
          <a:bodyPr wrap="square" lIns="73152" tIns="76200" rIns="73152" bIns="76200" anchor="ct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外部の運用ツール</a:t>
            </a:r>
            <a:r>
              <a:rPr lang="ja-JP" altLang="en-US" sz="1400" b="0" dirty="0">
                <a:solidFill>
                  <a:srgbClr val="FFFFFF"/>
                </a:solidFill>
                <a:latin typeface="メイリオ" panose="020B0604030504040204" pitchFamily="50" charset="-128"/>
                <a:ea typeface="メイリオ" panose="020B0604030504040204" pitchFamily="50" charset="-128"/>
              </a:rPr>
              <a:t> </a:t>
            </a:r>
            <a:r>
              <a:rPr lang="ja-JP" altLang="en-US" sz="1200" b="0" dirty="0">
                <a:solidFill>
                  <a:srgbClr val="FFFFFF"/>
                </a:solidFill>
                <a:latin typeface="メイリオ" panose="020B0604030504040204" pitchFamily="50" charset="-128"/>
                <a:ea typeface="メイリオ" panose="020B0604030504040204" pitchFamily="50" charset="-128"/>
              </a:rPr>
              <a:t>※基本施策には含まない</a:t>
            </a:r>
            <a:endParaRPr lang="ja-JP" sz="1400" dirty="0">
              <a:solidFill>
                <a:srgbClr val="FFFFFF"/>
              </a:solidFill>
              <a:latin typeface="メイリオ" panose="020B0604030504040204" pitchFamily="50" charset="-128"/>
              <a:ea typeface="メイリオ" panose="020B0604030504040204" pitchFamily="50" charset="-128"/>
            </a:endParaRPr>
          </a:p>
        </p:txBody>
      </p:sp>
      <p:sp>
        <p:nvSpPr>
          <p:cNvPr id="13" name="RightBody">
            <a:extLst>
              <a:ext uri="{FF2B5EF4-FFF2-40B4-BE49-F238E27FC236}">
                <a16:creationId xmlns:a16="http://schemas.microsoft.com/office/drawing/2014/main" id="{1BC513A8-5C8C-B4A4-BC10-AD5348F343F6}"/>
              </a:ext>
            </a:extLst>
          </p:cNvPr>
          <p:cNvSpPr txBox="1"/>
          <p:nvPr/>
        </p:nvSpPr>
        <p:spPr>
          <a:xfrm>
            <a:off x="5080000" y="1741017"/>
            <a:ext cx="4445000" cy="3401568"/>
          </a:xfrm>
          <a:prstGeom prst="rect">
            <a:avLst/>
          </a:prstGeom>
          <a:solidFill>
            <a:srgbClr val="FFFFFF"/>
          </a:solidFill>
          <a:ln w="12700">
            <a:solidFill>
              <a:srgbClr val="00B050"/>
            </a:solidFill>
          </a:ln>
        </p:spPr>
        <p:txBody>
          <a:bodyPr wrap="square" lIns="128016" tIns="152400" rIns="128016" bIns="152400" anchor="t"/>
          <a:lstStyle/>
          <a:p>
            <a:pPr>
              <a:buNone/>
            </a:pPr>
            <a:r>
              <a:rPr lang="ja-JP" sz="1400" b="1" dirty="0">
                <a:solidFill>
                  <a:srgbClr val="00B050"/>
                </a:solidFill>
                <a:latin typeface="メイリオ" panose="020B0604030504040204" pitchFamily="50" charset="-128"/>
                <a:ea typeface="メイリオ" panose="020B0604030504040204" pitchFamily="50" charset="-128"/>
              </a:rPr>
              <a:t>特徴</a:t>
            </a:r>
          </a:p>
          <a:p>
            <a:pPr>
              <a:spcBef>
                <a:spcPts val="200"/>
              </a:spcBef>
              <a:buClr>
                <a:srgbClr val="1F2A5C"/>
              </a:buClr>
            </a:pPr>
            <a:r>
              <a:rPr lang="ja-JP" sz="1400" b="0" dirty="0">
                <a:solidFill>
                  <a:srgbClr val="333333"/>
                </a:solidFill>
                <a:latin typeface="メイリオ" panose="020B0604030504040204" pitchFamily="50" charset="-128"/>
                <a:ea typeface="メイリオ" panose="020B0604030504040204" pitchFamily="50" charset="-128"/>
              </a:rPr>
              <a:t>タグや流入経路を細かく管理でき、外部データ連携に強い（Lステップ等）</a:t>
            </a:r>
          </a:p>
          <a:p>
            <a:pPr>
              <a:spcBef>
                <a:spcPts val="600"/>
              </a:spcBef>
              <a:buClr>
                <a:srgbClr val="1F2A5C"/>
              </a:buClr>
            </a:pPr>
            <a:r>
              <a:rPr lang="ja-JP" sz="1400" b="1" dirty="0">
                <a:solidFill>
                  <a:srgbClr val="00B050"/>
                </a:solidFill>
                <a:latin typeface="メイリオ" panose="020B0604030504040204" pitchFamily="50" charset="-128"/>
                <a:ea typeface="メイリオ" panose="020B0604030504040204" pitchFamily="50" charset="-128"/>
              </a:rPr>
              <a:t>メリット</a:t>
            </a:r>
          </a:p>
          <a:p>
            <a:pPr>
              <a:spcBef>
                <a:spcPts val="200"/>
              </a:spcBef>
              <a:buClr>
                <a:srgbClr val="1F2A5C"/>
              </a:buClr>
            </a:pPr>
            <a:r>
              <a:rPr lang="ja-JP" sz="1400" b="0" dirty="0">
                <a:solidFill>
                  <a:srgbClr val="333333"/>
                </a:solidFill>
                <a:latin typeface="メイリオ" panose="020B0604030504040204" pitchFamily="50" charset="-128"/>
                <a:ea typeface="メイリオ" panose="020B0604030504040204" pitchFamily="50" charset="-128"/>
              </a:rPr>
              <a:t>流入元ごとに、配信を細かく出し分けられる</a:t>
            </a:r>
            <a:endParaRPr lang="en-US" altLang="ja-JP" sz="1400" b="1" dirty="0">
              <a:solidFill>
                <a:srgbClr val="00B050"/>
              </a:solidFill>
              <a:latin typeface="メイリオ" panose="020B0604030504040204" pitchFamily="50" charset="-128"/>
              <a:ea typeface="メイリオ" panose="020B0604030504040204" pitchFamily="50" charset="-128"/>
            </a:endParaRPr>
          </a:p>
          <a:p>
            <a:pPr>
              <a:spcBef>
                <a:spcPts val="600"/>
              </a:spcBef>
              <a:buNone/>
            </a:pPr>
            <a:r>
              <a:rPr lang="ja-JP" sz="1400" b="1" dirty="0">
                <a:solidFill>
                  <a:srgbClr val="00B050"/>
                </a:solidFill>
                <a:latin typeface="メイリオ" panose="020B0604030504040204" pitchFamily="50" charset="-128"/>
                <a:ea typeface="メイリオ" panose="020B0604030504040204" pitchFamily="50" charset="-128"/>
              </a:rPr>
              <a:t>デメリット</a:t>
            </a:r>
            <a:endParaRPr lang="en-US" altLang="ja-JP" sz="1400" dirty="0">
              <a:solidFill>
                <a:srgbClr val="333333"/>
              </a:solidFill>
              <a:latin typeface="メイリオ" panose="020B0604030504040204" pitchFamily="50" charset="-128"/>
              <a:ea typeface="メイリオ" panose="020B0604030504040204" pitchFamily="50" charset="-128"/>
            </a:endParaRPr>
          </a:p>
          <a:p>
            <a:pPr>
              <a:spcBef>
                <a:spcPts val="200"/>
              </a:spcBef>
              <a:buClr>
                <a:srgbClr val="1F2A5C"/>
              </a:buClr>
            </a:pPr>
            <a:r>
              <a:rPr lang="ja-JP" sz="1400" b="0" dirty="0">
                <a:solidFill>
                  <a:srgbClr val="333333"/>
                </a:solidFill>
                <a:latin typeface="メイリオ" panose="020B0604030504040204" pitchFamily="50" charset="-128"/>
                <a:ea typeface="メイリオ" panose="020B0604030504040204" pitchFamily="50" charset="-128"/>
              </a:rPr>
              <a:t>月額のツール費と、初期設定・移行の工数がかかる</a:t>
            </a:r>
          </a:p>
        </p:txBody>
      </p:sp>
      <p:sp>
        <p:nvSpPr>
          <p:cNvPr id="15" name="Conclusion">
            <a:extLst>
              <a:ext uri="{FF2B5EF4-FFF2-40B4-BE49-F238E27FC236}">
                <a16:creationId xmlns:a16="http://schemas.microsoft.com/office/drawing/2014/main" id="{B1500BE8-1C08-1F79-1D96-C1B5F87124E6}"/>
              </a:ext>
            </a:extLst>
          </p:cNvPr>
          <p:cNvSpPr txBox="1"/>
          <p:nvPr/>
        </p:nvSpPr>
        <p:spPr>
          <a:xfrm>
            <a:off x="381000" y="5230368"/>
            <a:ext cx="9144000" cy="1261872"/>
          </a:xfrm>
          <a:prstGeom prst="rect">
            <a:avLst/>
          </a:prstGeom>
          <a:solidFill>
            <a:srgbClr val="F0F2F7"/>
          </a:solidFill>
          <a:ln>
            <a:noFill/>
          </a:ln>
        </p:spPr>
        <p:txBody>
          <a:bodyPr wrap="square" lIns="177800" tIns="127000" rIns="177800" bIns="127000" anchor="t"/>
          <a:lstStyle/>
          <a:p>
            <a:pPr>
              <a:buNone/>
            </a:pPr>
            <a:r>
              <a:rPr lang="ja-JP" sz="1400" b="1" dirty="0">
                <a:solidFill>
                  <a:srgbClr val="1F2A5C"/>
                </a:solidFill>
                <a:latin typeface="メイリオ" panose="020B0604030504040204" pitchFamily="50" charset="-128"/>
                <a:ea typeface="メイリオ" panose="020B0604030504040204" pitchFamily="50" charset="-128"/>
              </a:rPr>
              <a:t>結論</a:t>
            </a:r>
          </a:p>
          <a:p>
            <a:pPr>
              <a:spcBef>
                <a:spcPts val="200"/>
              </a:spcBef>
              <a:buNone/>
            </a:pPr>
            <a:r>
              <a:rPr lang="ja-JP" sz="1400" b="0" dirty="0">
                <a:solidFill>
                  <a:srgbClr val="333333"/>
                </a:solidFill>
                <a:latin typeface="メイリオ" panose="020B0604030504040204" pitchFamily="50" charset="-128"/>
                <a:ea typeface="メイリオ" panose="020B0604030504040204" pitchFamily="50" charset="-128"/>
              </a:rPr>
              <a:t>基本施策は、LINE公式アカウントの標準機能を中心に運用します。</a:t>
            </a:r>
            <a:endParaRPr lang="en-US" altLang="ja-JP" sz="1400" dirty="0">
              <a:solidFill>
                <a:srgbClr val="333333"/>
              </a:solidFill>
              <a:latin typeface="メイリオ" panose="020B0604030504040204" pitchFamily="50" charset="-128"/>
              <a:ea typeface="メイリオ" panose="020B0604030504040204" pitchFamily="50" charset="-128"/>
            </a:endParaRPr>
          </a:p>
          <a:p>
            <a:pPr>
              <a:spcBef>
                <a:spcPts val="200"/>
              </a:spcBef>
              <a:buNone/>
            </a:pPr>
            <a:r>
              <a:rPr lang="ja-JP" altLang="en-US" sz="1400" b="0" dirty="0">
                <a:solidFill>
                  <a:srgbClr val="333333"/>
                </a:solidFill>
                <a:latin typeface="メイリオ" panose="020B0604030504040204" pitchFamily="50" charset="-128"/>
                <a:ea typeface="メイリオ" panose="020B0604030504040204" pitchFamily="50" charset="-128"/>
              </a:rPr>
              <a:t>プラン①では、必要に応じてAPI連携・開発を別途お見積りでご提案します（基本料金に含まず）。</a:t>
            </a:r>
            <a:endParaRPr lang="ja-JP" sz="1400" dirty="0">
              <a:solidFill>
                <a:srgbClr val="333333"/>
              </a:solidFill>
              <a:latin typeface="メイリオ" panose="020B0604030504040204" pitchFamily="50" charset="-128"/>
              <a:ea typeface="メイリオ" panose="020B0604030504040204" pitchFamily="50" charset="-128"/>
            </a:endParaRPr>
          </a:p>
          <a:p>
            <a:pPr>
              <a:spcBef>
                <a:spcPts val="200"/>
              </a:spcBef>
              <a:buNone/>
            </a:pPr>
            <a:r>
              <a:rPr lang="ja-JP" altLang="en-US" sz="1400" b="0" dirty="0">
                <a:solidFill>
                  <a:srgbClr val="333333"/>
                </a:solidFill>
                <a:latin typeface="メイリオ" panose="020B0604030504040204" pitchFamily="50" charset="-128"/>
                <a:ea typeface="メイリオ" panose="020B0604030504040204" pitchFamily="50" charset="-128"/>
              </a:rPr>
              <a:t>※離脱防止ポップアップは、LINE公式アカウントの機能ではなく、サイト側に別途導入する施策です。</a:t>
            </a:r>
            <a:endParaRPr lang="ja-JP" sz="1400" dirty="0">
              <a:solidFill>
                <a:srgbClr val="333333"/>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1783920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64C018-2F1E-8306-707D-71C186D40816}"/>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0CBE7AF1-A707-0419-01A2-C566FDAD2E77}"/>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5" name="Google Shape;156;p7">
            <a:extLst>
              <a:ext uri="{FF2B5EF4-FFF2-40B4-BE49-F238E27FC236}">
                <a16:creationId xmlns:a16="http://schemas.microsoft.com/office/drawing/2014/main" id="{40D60058-2F60-08D5-B4FD-0E0AADF1465F}"/>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想定動線</a:t>
            </a:r>
            <a:endParaRPr sz="1600" b="1" dirty="0">
              <a:solidFill>
                <a:srgbClr val="002060"/>
              </a:solidFill>
              <a:latin typeface="Meiryo"/>
              <a:ea typeface="Meiryo"/>
              <a:cs typeface="Meiryo"/>
              <a:sym typeface="Meiryo"/>
            </a:endParaRPr>
          </a:p>
        </p:txBody>
      </p:sp>
      <p:cxnSp>
        <p:nvCxnSpPr>
          <p:cNvPr id="2" name="直線コネクタ 1">
            <a:extLst>
              <a:ext uri="{FF2B5EF4-FFF2-40B4-BE49-F238E27FC236}">
                <a16:creationId xmlns:a16="http://schemas.microsoft.com/office/drawing/2014/main" id="{D3328ECE-A991-2276-8887-D875DA94A571}"/>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5" name="正方形/長方形 4">
            <a:extLst>
              <a:ext uri="{FF2B5EF4-FFF2-40B4-BE49-F238E27FC236}">
                <a16:creationId xmlns:a16="http://schemas.microsoft.com/office/drawing/2014/main" id="{91D529F5-1969-8F22-8508-5967D82F7783}"/>
              </a:ext>
            </a:extLst>
          </p:cNvPr>
          <p:cNvSpPr/>
          <p:nvPr/>
        </p:nvSpPr>
        <p:spPr>
          <a:xfrm>
            <a:off x="453390" y="1755648"/>
            <a:ext cx="9190811" cy="2432304"/>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sz="1000">
              <a:solidFill>
                <a:schemeClr val="tx1"/>
              </a:solidFill>
              <a:latin typeface="メイリオ" panose="020B0604030504040204" pitchFamily="50" charset="-128"/>
              <a:ea typeface="メイリオ" panose="020B0604030504040204" pitchFamily="50" charset="-128"/>
            </a:endParaRPr>
          </a:p>
        </p:txBody>
      </p:sp>
      <p:sp>
        <p:nvSpPr>
          <p:cNvPr id="6" name="正方形/長方形 5">
            <a:extLst>
              <a:ext uri="{FF2B5EF4-FFF2-40B4-BE49-F238E27FC236}">
                <a16:creationId xmlns:a16="http://schemas.microsoft.com/office/drawing/2014/main" id="{0D32EA92-3996-F5BA-08AE-72B08F79535C}"/>
              </a:ext>
            </a:extLst>
          </p:cNvPr>
          <p:cNvSpPr/>
          <p:nvPr/>
        </p:nvSpPr>
        <p:spPr>
          <a:xfrm>
            <a:off x="453390" y="4544568"/>
            <a:ext cx="9190811" cy="1920240"/>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sz="1000">
              <a:latin typeface="メイリオ" panose="020B0604030504040204" pitchFamily="50" charset="-128"/>
              <a:ea typeface="メイリオ" panose="020B0604030504040204" pitchFamily="50" charset="-128"/>
            </a:endParaRPr>
          </a:p>
        </p:txBody>
      </p:sp>
      <p:sp>
        <p:nvSpPr>
          <p:cNvPr id="7" name="テキスト ボックス 7">
            <a:extLst>
              <a:ext uri="{FF2B5EF4-FFF2-40B4-BE49-F238E27FC236}">
                <a16:creationId xmlns:a16="http://schemas.microsoft.com/office/drawing/2014/main" id="{C7E38EC2-DE76-A5FE-A6B8-3B48F7BD7B46}"/>
              </a:ext>
            </a:extLst>
          </p:cNvPr>
          <p:cNvSpPr txBox="1"/>
          <p:nvPr/>
        </p:nvSpPr>
        <p:spPr>
          <a:xfrm>
            <a:off x="453390" y="1417320"/>
            <a:ext cx="4963884" cy="307777"/>
          </a:xfrm>
          <a:prstGeom prst="rect">
            <a:avLst/>
          </a:prstGeom>
          <a:no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lang="en-US" altLang="ja-JP"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&lt;</a:t>
            </a:r>
            <a:r>
              <a:rPr lang="ja-JP" altLang="en-US"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対新規ユーザー領域</a:t>
            </a:r>
            <a:r>
              <a:rPr lang="en-US" altLang="ja-JP"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&gt;</a:t>
            </a:r>
            <a:endParaRPr lang="ja-JP" altLang="en-US" sz="1400" dirty="0">
              <a:solidFill>
                <a:schemeClr val="tx1">
                  <a:lumMod val="50000"/>
                  <a:lumOff val="50000"/>
                </a:schemeClr>
              </a:solidFill>
            </a:endParaRPr>
          </a:p>
        </p:txBody>
      </p:sp>
      <p:sp>
        <p:nvSpPr>
          <p:cNvPr id="8" name="テキスト ボックス 8">
            <a:extLst>
              <a:ext uri="{FF2B5EF4-FFF2-40B4-BE49-F238E27FC236}">
                <a16:creationId xmlns:a16="http://schemas.microsoft.com/office/drawing/2014/main" id="{315E4FD7-BF96-305B-4DFF-0204D305BAAE}"/>
              </a:ext>
            </a:extLst>
          </p:cNvPr>
          <p:cNvSpPr txBox="1"/>
          <p:nvPr/>
        </p:nvSpPr>
        <p:spPr>
          <a:xfrm>
            <a:off x="453390" y="4215384"/>
            <a:ext cx="4963884" cy="307777"/>
          </a:xfrm>
          <a:prstGeom prst="rect">
            <a:avLst/>
          </a:prstGeom>
          <a:no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lang="en-US" altLang="ja-JP"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&lt;友だち追加後・問い合わせ後の継続配信&gt;</a:t>
            </a:r>
            <a:endParaRPr lang="ja-JP" altLang="en-US" sz="1400" dirty="0">
              <a:solidFill>
                <a:schemeClr val="tx1">
                  <a:lumMod val="50000"/>
                  <a:lumOff val="50000"/>
                </a:schemeClr>
              </a:solidFill>
            </a:endParaRPr>
          </a:p>
        </p:txBody>
      </p:sp>
      <p:sp>
        <p:nvSpPr>
          <p:cNvPr id="9" name="正方形/長方形 8">
            <a:extLst>
              <a:ext uri="{FF2B5EF4-FFF2-40B4-BE49-F238E27FC236}">
                <a16:creationId xmlns:a16="http://schemas.microsoft.com/office/drawing/2014/main" id="{72450FBF-2EA8-4582-869E-9B2A7C4946D7}"/>
              </a:ext>
            </a:extLst>
          </p:cNvPr>
          <p:cNvSpPr/>
          <p:nvPr/>
        </p:nvSpPr>
        <p:spPr>
          <a:xfrm>
            <a:off x="566928" y="1847088"/>
            <a:ext cx="1645920" cy="265176"/>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576" rIns="36576" rtlCol="0" anchor="ctr" tIns="0" bIns="0">
            <a:noAutofit/>
          </a:bodyP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200" b="1" dirty="0">
                <a:solidFill>
                  <a:schemeClr val="bg1"/>
                </a:solidFill>
                <a:latin typeface="メイリオ" panose="020B0604030504040204" pitchFamily="50" charset="-128"/>
                <a:ea typeface="メイリオ" panose="020B0604030504040204" pitchFamily="50" charset="-128"/>
              </a:rPr>
              <a:t>100円賃貸のサイト</a:t>
            </a:r>
            <a:endParaRPr kumimoji="1" lang="ja-JP" altLang="en-US" sz="1200" b="1" dirty="0">
              <a:solidFill>
                <a:schemeClr val="bg1"/>
              </a:solidFill>
              <a:latin typeface="メイリオ" panose="020B0604030504040204" pitchFamily="50" charset="-128"/>
              <a:ea typeface="メイリオ" panose="020B0604030504040204" pitchFamily="50" charset="-128"/>
            </a:endParaRPr>
          </a:p>
        </p:txBody>
      </p:sp>
      <p:sp>
        <p:nvSpPr>
          <p:cNvPr id="14" name="正方形/長方形 13">
            <a:extLst>
              <a:ext uri="{FF2B5EF4-FFF2-40B4-BE49-F238E27FC236}">
                <a16:creationId xmlns:a16="http://schemas.microsoft.com/office/drawing/2014/main" id="{13127993-BF51-568A-20FB-A9FB1DB6C913}"/>
              </a:ext>
            </a:extLst>
          </p:cNvPr>
          <p:cNvSpPr/>
          <p:nvPr/>
        </p:nvSpPr>
        <p:spPr>
          <a:xfrm>
            <a:off x="8211312" y="2171700"/>
            <a:ext cx="1371600" cy="265176"/>
          </a:xfrm>
          <a:prstGeom prst="rect">
            <a:avLst/>
          </a:prstGeom>
          <a:solidFill>
            <a:srgbClr val="FF0000"/>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lIns="18288" tIns="0" rIns="18288" bIns="0">
            <a:noAutofit/>
          </a:bodyP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200" b="1" dirty="0">
                <a:solidFill>
                  <a:schemeClr val="bg1"/>
                </a:solidFill>
                <a:latin typeface="メイリオ" panose="020B0604030504040204" pitchFamily="50" charset="-128"/>
                <a:ea typeface="メイリオ" panose="020B0604030504040204" pitchFamily="50" charset="-128"/>
              </a:rPr>
              <a:t>物件の問い合わせ</a:t>
            </a:r>
            <a:endParaRPr kumimoji="1" lang="ja-JP" altLang="en-US" sz="1200" b="1" dirty="0">
              <a:solidFill>
                <a:schemeClr val="bg1"/>
              </a:solidFill>
              <a:latin typeface="メイリオ" panose="020B0604030504040204" pitchFamily="50" charset="-128"/>
              <a:ea typeface="メイリオ" panose="020B0604030504040204" pitchFamily="50" charset="-128"/>
            </a:endParaRPr>
          </a:p>
        </p:txBody>
      </p:sp>
      <p:sp>
        <p:nvSpPr>
          <p:cNvPr id="15" name="正方形/長方形 14">
            <a:extLst>
              <a:ext uri="{FF2B5EF4-FFF2-40B4-BE49-F238E27FC236}">
                <a16:creationId xmlns:a16="http://schemas.microsoft.com/office/drawing/2014/main" id="{2E81D74A-E79F-C90A-80AF-4F6BDF853777}"/>
              </a:ext>
            </a:extLst>
          </p:cNvPr>
          <p:cNvSpPr/>
          <p:nvPr/>
        </p:nvSpPr>
        <p:spPr>
          <a:xfrm>
            <a:off x="566928" y="2542032"/>
            <a:ext cx="2560320" cy="493776"/>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lIns="27432" tIns="0" rIns="27432" bIns="0">
            <a:noAutofit/>
          </a:bodyP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lnSpc>
                <a:spcPct val="100000"/>
              </a:lnSpc>
            </a:pPr>
            <a:r>
              <a:rPr lang="ja-JP" altLang="en-US" sz="1200" b="1" dirty="0">
                <a:solidFill>
                  <a:srgbClr val="FFFFFF"/>
                </a:solidFill>
                <a:latin typeface="メイリオ" panose="020B0604030504040204" pitchFamily="50" charset="-128"/>
                <a:ea typeface="メイリオ" panose="020B0604030504040204" pitchFamily="50" charset="-128"/>
              </a:rPr>
              <a:t>サイトの</a:t>
            </a:r>
            <a:br>
              <a:rPr lang="ja-JP" altLang="en-US" sz="1200" b="1" dirty="0">
                <a:solidFill>
                  <a:srgbClr val="FFFFFF"/>
                </a:solidFill>
                <a:latin typeface="メイリオ" panose="020B0604030504040204" pitchFamily="50" charset="-128"/>
                <a:ea typeface="メイリオ" panose="020B0604030504040204" pitchFamily="50" charset="-128"/>
              </a:rPr>
            </a:br>
            <a:r>
              <a:rPr lang="ja-JP" altLang="en-US" sz="1200" b="1" dirty="0">
                <a:solidFill>
                  <a:srgbClr val="FFFFFF"/>
                </a:solidFill>
                <a:latin typeface="メイリオ" panose="020B0604030504040204" pitchFamily="50" charset="-128"/>
                <a:ea typeface="メイリオ" panose="020B0604030504040204" pitchFamily="50" charset="-128"/>
              </a:rPr>
              <a:t>「LINEでお問い合わせ」ボタン</a:t>
            </a:r>
            <a:endParaRPr kumimoji="1" lang="ja-JP" altLang="en-US" sz="1200" b="1" dirty="0">
              <a:solidFill>
                <a:schemeClr val="bg1">
                  <a:lumMod val="75000"/>
                </a:schemeClr>
              </a:solidFill>
              <a:latin typeface="メイリオ" panose="020B0604030504040204" pitchFamily="50" charset="-128"/>
              <a:ea typeface="メイリオ" panose="020B0604030504040204" pitchFamily="50" charset="-128"/>
            </a:endParaRPr>
          </a:p>
        </p:txBody>
      </p:sp>
      <p:sp>
        <p:nvSpPr>
          <p:cNvPr id="17" name="正方形/長方形 16">
            <a:extLst>
              <a:ext uri="{FF2B5EF4-FFF2-40B4-BE49-F238E27FC236}">
                <a16:creationId xmlns:a16="http://schemas.microsoft.com/office/drawing/2014/main" id="{85B73343-1515-8075-50D7-828D2C7D0482}"/>
              </a:ext>
            </a:extLst>
          </p:cNvPr>
          <p:cNvSpPr/>
          <p:nvPr/>
        </p:nvSpPr>
        <p:spPr>
          <a:xfrm>
            <a:off x="566928" y="2167128"/>
            <a:ext cx="2560320" cy="292608"/>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lIns="27432" tIns="0" rIns="27432" bIns="0">
            <a:noAutofit/>
          </a:bodyP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en-US" altLang="ja-JP" sz="1200" b="1" dirty="0">
                <a:solidFill>
                  <a:schemeClr val="bg1"/>
                </a:solidFill>
                <a:latin typeface="メイリオ" panose="020B0604030504040204" pitchFamily="50" charset="-128"/>
                <a:ea typeface="メイリオ" panose="020B0604030504040204" pitchFamily="50" charset="-128"/>
              </a:rPr>
              <a:t>離脱防止ポップアップ</a:t>
            </a:r>
            <a:endParaRPr kumimoji="1" lang="ja-JP" altLang="en-US" sz="1200" b="1" dirty="0">
              <a:solidFill>
                <a:schemeClr val="bg1"/>
              </a:solidFill>
              <a:latin typeface="メイリオ" panose="020B0604030504040204" pitchFamily="50" charset="-128"/>
              <a:ea typeface="メイリオ" panose="020B0604030504040204" pitchFamily="50" charset="-128"/>
            </a:endParaRPr>
          </a:p>
        </p:txBody>
      </p:sp>
      <p:sp>
        <p:nvSpPr>
          <p:cNvPr id="19" name="正方形/長方形 18">
            <a:extLst>
              <a:ext uri="{FF2B5EF4-FFF2-40B4-BE49-F238E27FC236}">
                <a16:creationId xmlns:a16="http://schemas.microsoft.com/office/drawing/2014/main" id="{AB39E10C-FA5C-42F3-51FF-A98C96D3A9FE}"/>
              </a:ext>
            </a:extLst>
          </p:cNvPr>
          <p:cNvSpPr/>
          <p:nvPr/>
        </p:nvSpPr>
        <p:spPr>
          <a:xfrm>
            <a:off x="8211312" y="1847088"/>
            <a:ext cx="1371600" cy="265176"/>
          </a:xfrm>
          <a:prstGeom prst="rect">
            <a:avLst/>
          </a:prstGeom>
          <a:solidFill>
            <a:schemeClr val="bg1">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lIns="18288" tIns="0" rIns="18288" bIns="0">
            <a:noAutofit/>
          </a:bodyP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空室確認・内見</a:t>
            </a:r>
          </a:p>
        </p:txBody>
      </p:sp>
      <p:sp>
        <p:nvSpPr>
          <p:cNvPr id="20" name="正方形/長方形 19">
            <a:extLst>
              <a:ext uri="{FF2B5EF4-FFF2-40B4-BE49-F238E27FC236}">
                <a16:creationId xmlns:a16="http://schemas.microsoft.com/office/drawing/2014/main" id="{EF3EB03D-B886-80C5-4DDF-AD318BB1E8CB}"/>
              </a:ext>
            </a:extLst>
          </p:cNvPr>
          <p:cNvSpPr/>
          <p:nvPr/>
        </p:nvSpPr>
        <p:spPr>
          <a:xfrm>
            <a:off x="6675120" y="4978908"/>
            <a:ext cx="2578608" cy="256032"/>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lIns="27432" tIns="0" rIns="27432" bIns="0">
            <a:noAutofit/>
          </a:bodyP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200" dirty="0">
                <a:solidFill>
                  <a:schemeClr val="bg1"/>
                </a:solidFill>
                <a:latin typeface="メイリオ" panose="020B0604030504040204" pitchFamily="50" charset="-128"/>
                <a:ea typeface="メイリオ" panose="020B0604030504040204" pitchFamily="50" charset="-128"/>
              </a:rPr>
              <a:t>アクセス解析での効果測定</a:t>
            </a:r>
          </a:p>
        </p:txBody>
      </p:sp>
      <p:sp>
        <p:nvSpPr>
          <p:cNvPr id="21" name="正方形/長方形 20">
            <a:extLst>
              <a:ext uri="{FF2B5EF4-FFF2-40B4-BE49-F238E27FC236}">
                <a16:creationId xmlns:a16="http://schemas.microsoft.com/office/drawing/2014/main" id="{8185B158-D6FD-FC9A-D842-E0184FC04A2F}"/>
              </a:ext>
            </a:extLst>
          </p:cNvPr>
          <p:cNvSpPr/>
          <p:nvPr/>
        </p:nvSpPr>
        <p:spPr>
          <a:xfrm>
            <a:off x="6675120" y="5266944"/>
            <a:ext cx="2578608" cy="256032"/>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lIns="27432" tIns="0" rIns="27432" bIns="0">
            <a:noAutofit/>
          </a:bodyP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200" dirty="0">
                <a:solidFill>
                  <a:schemeClr val="bg1"/>
                </a:solidFill>
                <a:latin typeface="メイリオ" panose="020B0604030504040204" pitchFamily="50" charset="-128"/>
                <a:ea typeface="メイリオ" panose="020B0604030504040204" pitchFamily="50" charset="-128"/>
              </a:rPr>
              <a:t>投稿スケジュール確認</a:t>
            </a:r>
            <a:endParaRPr kumimoji="1" lang="en-US" altLang="ja-JP" sz="1200" dirty="0">
              <a:solidFill>
                <a:schemeClr val="bg1"/>
              </a:solidFill>
              <a:latin typeface="メイリオ" panose="020B0604030504040204" pitchFamily="50" charset="-128"/>
              <a:ea typeface="メイリオ" panose="020B0604030504040204" pitchFamily="50" charset="-128"/>
            </a:endParaRPr>
          </a:p>
        </p:txBody>
      </p:sp>
      <p:sp>
        <p:nvSpPr>
          <p:cNvPr id="22" name="正方形/長方形 21">
            <a:extLst>
              <a:ext uri="{FF2B5EF4-FFF2-40B4-BE49-F238E27FC236}">
                <a16:creationId xmlns:a16="http://schemas.microsoft.com/office/drawing/2014/main" id="{CAF16DCF-7CE0-97CD-A1FD-09B08149FF7B}"/>
              </a:ext>
            </a:extLst>
          </p:cNvPr>
          <p:cNvSpPr/>
          <p:nvPr/>
        </p:nvSpPr>
        <p:spPr>
          <a:xfrm>
            <a:off x="6675120" y="5843016"/>
            <a:ext cx="2578608" cy="256032"/>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lIns="27432" tIns="0" rIns="27432" bIns="0">
            <a:noAutofit/>
          </a:bodyP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200" dirty="0">
                <a:solidFill>
                  <a:schemeClr val="bg1"/>
                </a:solidFill>
                <a:latin typeface="メイリオ" panose="020B0604030504040204" pitchFamily="50" charset="-128"/>
                <a:ea typeface="メイリオ" panose="020B0604030504040204" pitchFamily="50" charset="-128"/>
              </a:rPr>
              <a:t>受付時間外の自動応答</a:t>
            </a:r>
            <a:endParaRPr kumimoji="1" lang="ja-JP" altLang="en-US" sz="1200" dirty="0">
              <a:solidFill>
                <a:schemeClr val="bg1"/>
              </a:solidFill>
              <a:latin typeface="メイリオ" panose="020B0604030504040204" pitchFamily="50" charset="-128"/>
              <a:ea typeface="メイリオ" panose="020B0604030504040204" pitchFamily="50" charset="-128"/>
            </a:endParaRPr>
          </a:p>
        </p:txBody>
      </p:sp>
      <p:sp>
        <p:nvSpPr>
          <p:cNvPr id="23" name="正方形/長方形 22">
            <a:extLst>
              <a:ext uri="{FF2B5EF4-FFF2-40B4-BE49-F238E27FC236}">
                <a16:creationId xmlns:a16="http://schemas.microsoft.com/office/drawing/2014/main" id="{DE164E19-C9CA-ADE8-FE9B-4A4096DD13BE}"/>
              </a:ext>
            </a:extLst>
          </p:cNvPr>
          <p:cNvSpPr/>
          <p:nvPr/>
        </p:nvSpPr>
        <p:spPr>
          <a:xfrm>
            <a:off x="6675120" y="5554980"/>
            <a:ext cx="2578608" cy="256032"/>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lIns="27432" tIns="0" rIns="27432" bIns="0">
            <a:noAutofit/>
          </a:bodyP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200" dirty="0">
                <a:solidFill>
                  <a:schemeClr val="bg1"/>
                </a:solidFill>
                <a:latin typeface="メイリオ" panose="020B0604030504040204" pitchFamily="50" charset="-128"/>
                <a:ea typeface="メイリオ" panose="020B0604030504040204" pitchFamily="50" charset="-128"/>
              </a:rPr>
              <a:t>キーワード応答の見直し</a:t>
            </a:r>
            <a:endParaRPr kumimoji="1" lang="ja-JP" altLang="en-US" sz="1200" dirty="0">
              <a:solidFill>
                <a:schemeClr val="bg1"/>
              </a:solidFill>
              <a:latin typeface="メイリオ" panose="020B0604030504040204" pitchFamily="50" charset="-128"/>
              <a:ea typeface="メイリオ" panose="020B0604030504040204" pitchFamily="50" charset="-128"/>
            </a:endParaRPr>
          </a:p>
        </p:txBody>
      </p:sp>
      <p:sp>
        <p:nvSpPr>
          <p:cNvPr id="24" name="正方形/長方形 23">
            <a:extLst>
              <a:ext uri="{FF2B5EF4-FFF2-40B4-BE49-F238E27FC236}">
                <a16:creationId xmlns:a16="http://schemas.microsoft.com/office/drawing/2014/main" id="{FF9A810E-B53B-2631-3BD5-00395512E9C0}"/>
              </a:ext>
            </a:extLst>
          </p:cNvPr>
          <p:cNvSpPr/>
          <p:nvPr/>
        </p:nvSpPr>
        <p:spPr>
          <a:xfrm>
            <a:off x="6675120" y="6131052"/>
            <a:ext cx="2578608" cy="256032"/>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lIns="27432" tIns="0" rIns="27432" bIns="0">
            <a:noAutofit/>
          </a:bodyP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200" dirty="0">
                <a:solidFill>
                  <a:schemeClr val="bg1"/>
                </a:solidFill>
                <a:latin typeface="メイリオ" panose="020B0604030504040204" pitchFamily="50" charset="-128"/>
                <a:ea typeface="メイリオ" panose="020B0604030504040204" pitchFamily="50" charset="-128"/>
              </a:rPr>
              <a:t>配信結果の振り返り</a:t>
            </a:r>
          </a:p>
        </p:txBody>
      </p:sp>
      <p:sp>
        <p:nvSpPr>
          <p:cNvPr id="25" name="正方形/長方形 24">
            <a:extLst>
              <a:ext uri="{FF2B5EF4-FFF2-40B4-BE49-F238E27FC236}">
                <a16:creationId xmlns:a16="http://schemas.microsoft.com/office/drawing/2014/main" id="{1DF80BB2-F1C3-A39C-D441-B75E4795CC5B}"/>
              </a:ext>
            </a:extLst>
          </p:cNvPr>
          <p:cNvSpPr/>
          <p:nvPr/>
        </p:nvSpPr>
        <p:spPr>
          <a:xfrm>
            <a:off x="6675120" y="4690872"/>
            <a:ext cx="1920240" cy="256032"/>
          </a:xfrm>
          <a:prstGeom prst="rect">
            <a:avLst/>
          </a:prstGeom>
          <a:solidFill>
            <a:schemeClr val="bg1">
              <a:lumMod val="9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tIns="0" bIns="0" rtlCol="0" anchor="ctr" lIns="27432" rIns="27432">
            <a:noAutofit/>
          </a:bodyP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200" dirty="0">
                <a:solidFill>
                  <a:srgbClr val="595959"/>
                </a:solidFill>
                <a:latin typeface="メイリオ" panose="020B0604030504040204" pitchFamily="50" charset="-128"/>
                <a:ea typeface="メイリオ" panose="020B0604030504040204" pitchFamily="50" charset="-128"/>
              </a:rPr>
              <a:t>定期対応項目</a:t>
            </a:r>
            <a:r>
              <a:rPr kumimoji="1" lang="en-US" altLang="ja-JP" sz="1200" dirty="0">
                <a:solidFill>
                  <a:srgbClr val="595959"/>
                </a:solidFill>
                <a:latin typeface="メイリオ" panose="020B0604030504040204" pitchFamily="50" charset="-128"/>
                <a:ea typeface="メイリオ" panose="020B0604030504040204" pitchFamily="50" charset="-128"/>
              </a:rPr>
              <a:t>(</a:t>
            </a:r>
            <a:r>
              <a:rPr kumimoji="1" lang="ja-JP" altLang="en-US" sz="1200" dirty="0">
                <a:solidFill>
                  <a:srgbClr val="595959"/>
                </a:solidFill>
                <a:latin typeface="メイリオ" panose="020B0604030504040204" pitchFamily="50" charset="-128"/>
                <a:ea typeface="メイリオ" panose="020B0604030504040204" pitchFamily="50" charset="-128"/>
              </a:rPr>
              <a:t>一部抽出</a:t>
            </a:r>
            <a:r>
              <a:rPr kumimoji="1" lang="en-US" altLang="ja-JP" sz="1200" dirty="0">
                <a:solidFill>
                  <a:srgbClr val="595959"/>
                </a:solidFill>
                <a:latin typeface="メイリオ" panose="020B0604030504040204" pitchFamily="50" charset="-128"/>
                <a:ea typeface="メイリオ" panose="020B0604030504040204" pitchFamily="50" charset="-128"/>
              </a:rPr>
              <a:t>)</a:t>
            </a:r>
          </a:p>
        </p:txBody>
      </p:sp>
      <p:sp>
        <p:nvSpPr>
          <p:cNvPr id="26" name="正方形/長方形 25">
            <a:extLst>
              <a:ext uri="{FF2B5EF4-FFF2-40B4-BE49-F238E27FC236}">
                <a16:creationId xmlns:a16="http://schemas.microsoft.com/office/drawing/2014/main" id="{CABD8985-CFB7-BFB4-C5CA-334F6DD3C337}"/>
              </a:ext>
            </a:extLst>
          </p:cNvPr>
          <p:cNvSpPr/>
          <p:nvPr/>
        </p:nvSpPr>
        <p:spPr>
          <a:xfrm>
            <a:off x="3310128" y="1792224"/>
            <a:ext cx="4535424" cy="2322576"/>
          </a:xfrm>
          <a:prstGeom prst="rect">
            <a:avLst/>
          </a:prstGeom>
          <a:solidFill>
            <a:srgbClr val="04FA0A">
              <a:alpha val="8000"/>
            </a:srgb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sz="1000">
              <a:solidFill>
                <a:schemeClr val="tx1"/>
              </a:solidFill>
              <a:latin typeface="メイリオ" panose="020B0604030504040204" pitchFamily="50" charset="-128"/>
              <a:ea typeface="メイリオ" panose="020B0604030504040204" pitchFamily="50" charset="-128"/>
            </a:endParaRPr>
          </a:p>
        </p:txBody>
      </p:sp>
      <p:sp>
        <p:nvSpPr>
          <p:cNvPr id="27" name="正方形/長方形 26">
            <a:extLst>
              <a:ext uri="{FF2B5EF4-FFF2-40B4-BE49-F238E27FC236}">
                <a16:creationId xmlns:a16="http://schemas.microsoft.com/office/drawing/2014/main" id="{498D1E1C-883A-4348-5898-29B2849E59E6}"/>
              </a:ext>
            </a:extLst>
          </p:cNvPr>
          <p:cNvSpPr/>
          <p:nvPr/>
        </p:nvSpPr>
        <p:spPr>
          <a:xfrm>
            <a:off x="3401568" y="1847088"/>
            <a:ext cx="1517904" cy="274320"/>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lIns="27432" tIns="0" rIns="27432" bIns="0">
            <a:noAutofit/>
          </a:bodyP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友だち追加</a:t>
            </a:r>
          </a:p>
        </p:txBody>
      </p:sp>
      <p:cxnSp>
        <p:nvCxnSpPr>
          <p:cNvPr id="28" name="コネクタ: カギ線 27">
            <a:extLst>
              <a:ext uri="{FF2B5EF4-FFF2-40B4-BE49-F238E27FC236}">
                <a16:creationId xmlns:a16="http://schemas.microsoft.com/office/drawing/2014/main" id="{2981AEA5-C263-1A76-AF6F-7D4F94F3AC3F}"/>
              </a:ext>
            </a:extLst>
          </p:cNvPr>
          <p:cNvCxnSpPr>
            <a:cxnSpLocks/>
            <a:stCxn id="15" idx="3"/>
            <a:endCxn id="27" idx="1"/>
          </p:cNvCxnSpPr>
          <p:nvPr/>
        </p:nvCxnSpPr>
        <p:spPr>
          <a:xfrm flipV="1">
            <a:off x="3127248" y="1984248"/>
            <a:ext cx="274320" cy="804671"/>
          </a:xfrm>
          <a:prstGeom prst="bentConnector3">
            <a:avLst>
              <a:gd name="adj1" fmla="val 43333"/>
            </a:avLst>
          </a:prstGeom>
          <a:ln>
            <a:solidFill>
              <a:schemeClr val="tx2"/>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30" name="コネクタ: カギ線 29">
            <a:extLst>
              <a:ext uri="{FF2B5EF4-FFF2-40B4-BE49-F238E27FC236}">
                <a16:creationId xmlns:a16="http://schemas.microsoft.com/office/drawing/2014/main" id="{4194983F-AFC0-FB2F-1207-1AF108AFDA19}"/>
              </a:ext>
            </a:extLst>
          </p:cNvPr>
          <p:cNvCxnSpPr>
            <a:cxnSpLocks/>
            <a:stCxn id="17" idx="3"/>
            <a:endCxn id="27" idx="1"/>
          </p:cNvCxnSpPr>
          <p:nvPr/>
        </p:nvCxnSpPr>
        <p:spPr>
          <a:xfrm flipV="1">
            <a:off x="3127248" y="1984248"/>
            <a:ext cx="274320" cy="329184"/>
          </a:xfrm>
          <a:prstGeom prst="bentConnector3">
            <a:avLst>
              <a:gd name="adj1" fmla="val 43333"/>
            </a:avLst>
          </a:prstGeom>
          <a:ln>
            <a:solidFill>
              <a:schemeClr val="tx2"/>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31" name="正方形/長方形 30">
            <a:extLst>
              <a:ext uri="{FF2B5EF4-FFF2-40B4-BE49-F238E27FC236}">
                <a16:creationId xmlns:a16="http://schemas.microsoft.com/office/drawing/2014/main" id="{B20DB094-045E-2E0D-7026-B0BFFA8F2374}"/>
              </a:ext>
            </a:extLst>
          </p:cNvPr>
          <p:cNvSpPr/>
          <p:nvPr/>
        </p:nvSpPr>
        <p:spPr>
          <a:xfrm>
            <a:off x="5193792" y="1847088"/>
            <a:ext cx="2578608" cy="265176"/>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lIns="27432" tIns="0" rIns="27432" bIns="0">
            <a:noAutofit/>
          </a:bodyP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企画配信（月4本）</a:t>
            </a:r>
          </a:p>
        </p:txBody>
      </p:sp>
      <p:sp>
        <p:nvSpPr>
          <p:cNvPr id="32" name="正方形/長方形 31">
            <a:extLst>
              <a:ext uri="{FF2B5EF4-FFF2-40B4-BE49-F238E27FC236}">
                <a16:creationId xmlns:a16="http://schemas.microsoft.com/office/drawing/2014/main" id="{960DE889-CA21-9C03-FD30-9F8BA1C11BE0}"/>
              </a:ext>
            </a:extLst>
          </p:cNvPr>
          <p:cNvSpPr/>
          <p:nvPr/>
        </p:nvSpPr>
        <p:spPr>
          <a:xfrm>
            <a:off x="5193792" y="2171700"/>
            <a:ext cx="2578608" cy="265176"/>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lIns="27432" tIns="0" rIns="27432" bIns="0">
            <a:noAutofit/>
          </a:bodyP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ステップ配信（全10通・14日）</a:t>
            </a:r>
          </a:p>
        </p:txBody>
      </p:sp>
      <p:sp>
        <p:nvSpPr>
          <p:cNvPr id="33" name="正方形/長方形 32">
            <a:extLst>
              <a:ext uri="{FF2B5EF4-FFF2-40B4-BE49-F238E27FC236}">
                <a16:creationId xmlns:a16="http://schemas.microsoft.com/office/drawing/2014/main" id="{B0198902-7C67-1321-611C-A528F8B056D6}"/>
              </a:ext>
            </a:extLst>
          </p:cNvPr>
          <p:cNvSpPr/>
          <p:nvPr/>
        </p:nvSpPr>
        <p:spPr>
          <a:xfrm>
            <a:off x="5193792" y="2496312"/>
            <a:ext cx="1261872" cy="265176"/>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lIns="27432" tIns="0" rIns="27432" bIns="0">
            <a:noAutofit/>
          </a:bodyP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リサーチ</a:t>
            </a:r>
          </a:p>
        </p:txBody>
      </p:sp>
      <p:sp>
        <p:nvSpPr>
          <p:cNvPr id="34" name="正方形/長方形 33">
            <a:extLst>
              <a:ext uri="{FF2B5EF4-FFF2-40B4-BE49-F238E27FC236}">
                <a16:creationId xmlns:a16="http://schemas.microsoft.com/office/drawing/2014/main" id="{EC9DC48F-C12B-8A2A-8E49-C82DF8C2398F}"/>
              </a:ext>
            </a:extLst>
          </p:cNvPr>
          <p:cNvSpPr/>
          <p:nvPr/>
        </p:nvSpPr>
        <p:spPr>
          <a:xfrm>
            <a:off x="3401568" y="2185416"/>
            <a:ext cx="1517904" cy="237744"/>
          </a:xfrm>
          <a:prstGeom prst="rect">
            <a:avLst/>
          </a:prstGeom>
          <a:solidFill>
            <a:schemeClr val="bg1">
              <a:lumMod val="9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tIns="0" bIns="0" rtlCol="0" anchor="ctr" lIns="27432" rIns="27432">
            <a:noAutofit/>
          </a:bodyP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200" dirty="0">
                <a:solidFill>
                  <a:srgbClr val="595959"/>
                </a:solidFill>
                <a:latin typeface="メイリオ" panose="020B0604030504040204" pitchFamily="50" charset="-128"/>
                <a:ea typeface="メイリオ" panose="020B0604030504040204" pitchFamily="50" charset="-128"/>
              </a:rPr>
              <a:t>初期設計項目↓</a:t>
            </a:r>
          </a:p>
        </p:txBody>
      </p:sp>
      <p:sp>
        <p:nvSpPr>
          <p:cNvPr id="35" name="テキスト ボックス 67">
            <a:extLst>
              <a:ext uri="{FF2B5EF4-FFF2-40B4-BE49-F238E27FC236}">
                <a16:creationId xmlns:a16="http://schemas.microsoft.com/office/drawing/2014/main" id="{7FD4C92A-1BF4-DC29-74E5-5DDCAEC47D74}"/>
              </a:ext>
            </a:extLst>
          </p:cNvPr>
          <p:cNvSpPr txBox="1"/>
          <p:nvPr/>
        </p:nvSpPr>
        <p:spPr>
          <a:xfrm>
            <a:off x="3401568" y="2441448"/>
            <a:ext cx="1572768" cy="1554480"/>
          </a:xfrm>
          <a:prstGeom prst="rect">
            <a:avLst/>
          </a:prstGeom>
          <a:noFill/>
        </p:spPr>
        <p:txBody>
          <a:bodyPr wrap="square" lIns="45720" tIns="18288" rIns="18288" bIns="18288" anchor="t">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ts val="1450"/>
              </a:lnSpc>
            </a:pPr>
            <a:r>
              <a:rPr kumimoji="1" lang="ja-JP" altLang="en-US" sz="1200" dirty="0">
                <a:solidFill>
                  <a:srgbClr val="595959"/>
                </a:solidFill>
                <a:latin typeface="メイリオ" panose="020B0604030504040204" pitchFamily="50" charset="-128"/>
                <a:ea typeface="メイリオ" panose="020B0604030504040204" pitchFamily="50" charset="-128"/>
              </a:rPr>
              <a:t>・プロフィール</a:t>
            </a:r>
            <a:endParaRPr kumimoji="1" lang="en-US" altLang="ja-JP" sz="1200" dirty="0">
              <a:solidFill>
                <a:schemeClr val="tx1">
                  <a:lumMod val="50000"/>
                  <a:lumOff val="50000"/>
                </a:schemeClr>
              </a:solidFill>
              <a:latin typeface="メイリオ" panose="020B0604030504040204" pitchFamily="50" charset="-128"/>
              <a:ea typeface="メイリオ" panose="020B0604030504040204" pitchFamily="50" charset="-128"/>
            </a:endParaRPr>
          </a:p>
          <a:p>
            <a:pPr>
              <a:lnSpc>
                <a:spcPts val="1450"/>
              </a:lnSpc>
            </a:pPr>
            <a:r>
              <a:rPr lang="ja-JP" altLang="en-US" sz="1200" dirty="0">
                <a:solidFill>
                  <a:srgbClr val="595959"/>
                </a:solidFill>
                <a:latin typeface="メイリオ" panose="020B0604030504040204" pitchFamily="50" charset="-128"/>
                <a:ea typeface="メイリオ" panose="020B0604030504040204" pitchFamily="50" charset="-128"/>
              </a:rPr>
              <a:t>・リッチメニュー</a:t>
            </a:r>
            <a:endParaRPr kumimoji="1" lang="en-US" altLang="ja-JP" sz="1200" dirty="0">
              <a:solidFill>
                <a:schemeClr val="tx1">
                  <a:lumMod val="50000"/>
                  <a:lumOff val="50000"/>
                </a:schemeClr>
              </a:solidFill>
              <a:latin typeface="メイリオ" panose="020B0604030504040204" pitchFamily="50" charset="-128"/>
              <a:ea typeface="メイリオ" panose="020B0604030504040204" pitchFamily="50" charset="-128"/>
            </a:endParaRPr>
          </a:p>
          <a:p>
            <a:pPr>
              <a:lnSpc>
                <a:spcPts val="1450"/>
              </a:lnSpc>
            </a:pPr>
            <a:r>
              <a:rPr lang="ja-JP" altLang="en-US" sz="1200" dirty="0">
                <a:solidFill>
                  <a:srgbClr val="595959"/>
                </a:solidFill>
                <a:latin typeface="メイリオ" panose="020B0604030504040204" pitchFamily="50" charset="-128"/>
                <a:ea typeface="メイリオ" panose="020B0604030504040204" pitchFamily="50" charset="-128"/>
              </a:rPr>
              <a:t>・あいさつ</a:t>
            </a:r>
            <a:endParaRPr lang="en-US" altLang="ja-JP" sz="1200" dirty="0">
              <a:solidFill>
                <a:schemeClr val="tx1">
                  <a:lumMod val="50000"/>
                  <a:lumOff val="50000"/>
                </a:schemeClr>
              </a:solidFill>
              <a:latin typeface="メイリオ" panose="020B0604030504040204" pitchFamily="50" charset="-128"/>
              <a:ea typeface="メイリオ" panose="020B0604030504040204" pitchFamily="50" charset="-128"/>
            </a:endParaRPr>
          </a:p>
          <a:p>
            <a:pPr>
              <a:lnSpc>
                <a:spcPts val="1450"/>
              </a:lnSpc>
            </a:pPr>
            <a:r>
              <a:rPr lang="ja-JP" altLang="en-US" sz="1200" dirty="0">
                <a:solidFill>
                  <a:srgbClr val="595959"/>
                </a:solidFill>
                <a:latin typeface="メイリオ" panose="020B0604030504040204" pitchFamily="50" charset="-128"/>
                <a:ea typeface="メイリオ" panose="020B0604030504040204" pitchFamily="50" charset="-128"/>
              </a:rPr>
              <a:t>・応答メッセージ</a:t>
            </a:r>
            <a:endParaRPr lang="en-US" altLang="ja-JP" sz="1200" dirty="0">
              <a:solidFill>
                <a:schemeClr val="tx1">
                  <a:lumMod val="50000"/>
                  <a:lumOff val="50000"/>
                </a:schemeClr>
              </a:solidFill>
              <a:latin typeface="メイリオ" panose="020B0604030504040204" pitchFamily="50" charset="-128"/>
              <a:ea typeface="メイリオ" panose="020B0604030504040204" pitchFamily="50" charset="-128"/>
            </a:endParaRPr>
          </a:p>
          <a:p>
            <a:pPr>
              <a:lnSpc>
                <a:spcPts val="1450"/>
              </a:lnSpc>
            </a:pPr>
            <a:r>
              <a:rPr lang="ja-JP" altLang="en-US" sz="1200" dirty="0">
                <a:solidFill>
                  <a:srgbClr val="595959"/>
                </a:solidFill>
                <a:latin typeface="メイリオ" panose="020B0604030504040204" pitchFamily="50" charset="-128"/>
                <a:ea typeface="メイリオ" panose="020B0604030504040204" pitchFamily="50" charset="-128"/>
              </a:rPr>
              <a:t>・チャットタグ</a:t>
            </a:r>
            <a:endParaRPr lang="en-US" altLang="ja-JP" sz="1200" dirty="0">
              <a:solidFill>
                <a:schemeClr val="tx1">
                  <a:lumMod val="50000"/>
                  <a:lumOff val="50000"/>
                </a:schemeClr>
              </a:solidFill>
              <a:latin typeface="メイリオ" panose="020B0604030504040204" pitchFamily="50" charset="-128"/>
              <a:ea typeface="メイリオ" panose="020B0604030504040204" pitchFamily="50" charset="-128"/>
            </a:endParaRPr>
          </a:p>
          <a:p>
            <a:pPr>
              <a:lnSpc>
                <a:spcPts val="1450"/>
              </a:lnSpc>
            </a:pPr>
            <a:r>
              <a:rPr lang="ja-JP" altLang="en-US" sz="1200" dirty="0">
                <a:solidFill>
                  <a:srgbClr val="595959"/>
                </a:solidFill>
                <a:latin typeface="メイリオ" panose="020B0604030504040204" pitchFamily="50" charset="-128"/>
                <a:ea typeface="メイリオ" panose="020B0604030504040204" pitchFamily="50" charset="-128"/>
              </a:rPr>
              <a:t>・計測タグ</a:t>
            </a:r>
            <a:endParaRPr lang="en-US" altLang="ja-JP" sz="1200" dirty="0">
              <a:solidFill>
                <a:schemeClr val="tx1">
                  <a:lumMod val="50000"/>
                  <a:lumOff val="50000"/>
                </a:schemeClr>
              </a:solidFill>
              <a:latin typeface="メイリオ" panose="020B0604030504040204" pitchFamily="50" charset="-128"/>
              <a:ea typeface="メイリオ" panose="020B0604030504040204" pitchFamily="50" charset="-128"/>
            </a:endParaRPr>
          </a:p>
          <a:p>
            <a:pPr>
              <a:lnSpc>
                <a:spcPts val="1450"/>
              </a:lnSpc>
            </a:pPr>
            <a:r>
              <a:rPr lang="ja-JP" altLang="en-US" sz="1200" dirty="0">
                <a:solidFill>
                  <a:srgbClr val="595959"/>
                </a:solidFill>
                <a:latin typeface="メイリオ" panose="020B0604030504040204" pitchFamily="50" charset="-128"/>
                <a:ea typeface="メイリオ" panose="020B0604030504040204" pitchFamily="50" charset="-128"/>
              </a:rPr>
              <a:t>・離脱防止（別途）</a:t>
            </a:r>
            <a:endParaRPr lang="en-US" altLang="ja-JP" sz="1200" dirty="0">
              <a:solidFill>
                <a:srgbClr val="FF0000"/>
              </a:solidFill>
              <a:latin typeface="メイリオ" panose="020B0604030504040204" pitchFamily="50" charset="-128"/>
              <a:ea typeface="メイリオ" panose="020B0604030504040204" pitchFamily="50" charset="-128"/>
            </a:endParaRPr>
          </a:p>
          <a:p>
            <a:pPr>
              <a:lnSpc>
                <a:spcPts val="1450"/>
              </a:lnSpc>
            </a:pPr>
            <a:r>
              <a:rPr lang="ja-JP" altLang="en-US" sz="1200" dirty="0">
                <a:solidFill>
                  <a:srgbClr val="595959"/>
                </a:solidFill>
                <a:latin typeface="メイリオ" panose="020B0604030504040204" pitchFamily="50" charset="-128"/>
                <a:ea typeface="メイリオ" panose="020B0604030504040204" pitchFamily="50" charset="-128"/>
              </a:rPr>
              <a:t>・サイトのボタン</a:t>
            </a:r>
            <a:endParaRPr lang="en-US" altLang="ja-JP" sz="1200" dirty="0">
              <a:solidFill>
                <a:srgbClr val="FF0000"/>
              </a:solidFill>
              <a:latin typeface="メイリオ" panose="020B0604030504040204" pitchFamily="50" charset="-128"/>
              <a:ea typeface="メイリオ" panose="020B0604030504040204" pitchFamily="50" charset="-128"/>
            </a:endParaRPr>
          </a:p>
        </p:txBody>
      </p:sp>
      <p:sp>
        <p:nvSpPr>
          <p:cNvPr id="36" name="正方形/長方形 35">
            <a:extLst>
              <a:ext uri="{FF2B5EF4-FFF2-40B4-BE49-F238E27FC236}">
                <a16:creationId xmlns:a16="http://schemas.microsoft.com/office/drawing/2014/main" id="{3C7CD555-05D0-53EC-B6D5-ED734EBA27DF}"/>
              </a:ext>
            </a:extLst>
          </p:cNvPr>
          <p:cNvSpPr/>
          <p:nvPr/>
        </p:nvSpPr>
        <p:spPr>
          <a:xfrm>
            <a:off x="5193792" y="2820924"/>
            <a:ext cx="2578608" cy="265176"/>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lIns="27432" tIns="0" rIns="27432" bIns="0">
            <a:noAutofit/>
          </a:bodyP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問い合わせ済みの方を除く配信</a:t>
            </a:r>
          </a:p>
        </p:txBody>
      </p:sp>
      <p:sp>
        <p:nvSpPr>
          <p:cNvPr id="37" name="正方形/長方形 36">
            <a:extLst>
              <a:ext uri="{FF2B5EF4-FFF2-40B4-BE49-F238E27FC236}">
                <a16:creationId xmlns:a16="http://schemas.microsoft.com/office/drawing/2014/main" id="{64296BD6-7E19-AF65-3C1F-3AA68F3DB296}"/>
              </a:ext>
            </a:extLst>
          </p:cNvPr>
          <p:cNvSpPr/>
          <p:nvPr/>
        </p:nvSpPr>
        <p:spPr>
          <a:xfrm>
            <a:off x="5193792" y="3470148"/>
            <a:ext cx="2578608" cy="265176"/>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lIns="27432" tIns="0" rIns="27432" bIns="0">
            <a:noAutofit/>
          </a:bodyP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リッチメニュー（6ボタン）</a:t>
            </a:r>
          </a:p>
        </p:txBody>
      </p:sp>
      <p:sp>
        <p:nvSpPr>
          <p:cNvPr id="38" name="正方形/長方形 37">
            <a:extLst>
              <a:ext uri="{FF2B5EF4-FFF2-40B4-BE49-F238E27FC236}">
                <a16:creationId xmlns:a16="http://schemas.microsoft.com/office/drawing/2014/main" id="{2B391CFB-A763-8F28-0B80-C4699C620787}"/>
              </a:ext>
            </a:extLst>
          </p:cNvPr>
          <p:cNvSpPr/>
          <p:nvPr/>
        </p:nvSpPr>
        <p:spPr>
          <a:xfrm>
            <a:off x="5193792" y="3145536"/>
            <a:ext cx="2578608" cy="265176"/>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lIns="27432" tIns="0" rIns="27432" bIns="0">
            <a:noAutofit/>
          </a:bodyP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en-US" altLang="ja-JP" sz="1200" b="1">
                <a:solidFill>
                  <a:schemeClr val="bg1"/>
                </a:solidFill>
                <a:latin typeface="メイリオ" panose="020B0604030504040204" pitchFamily="50" charset="-128"/>
                <a:ea typeface="メイリオ" panose="020B0604030504040204" pitchFamily="50" charset="-128"/>
              </a:rPr>
              <a:t>よくある質問（キーワード応答）</a:t>
            </a:r>
            <a:endParaRPr lang="ja-JP" altLang="en-US" sz="1200" b="1" dirty="0">
              <a:solidFill>
                <a:schemeClr val="bg1"/>
              </a:solidFill>
              <a:latin typeface="メイリオ" panose="020B0604030504040204" pitchFamily="50" charset="-128"/>
              <a:ea typeface="メイリオ" panose="020B0604030504040204" pitchFamily="50" charset="-128"/>
            </a:endParaRPr>
          </a:p>
        </p:txBody>
      </p:sp>
      <p:sp>
        <p:nvSpPr>
          <p:cNvPr id="39" name="正方形/長方形 38">
            <a:extLst>
              <a:ext uri="{FF2B5EF4-FFF2-40B4-BE49-F238E27FC236}">
                <a16:creationId xmlns:a16="http://schemas.microsoft.com/office/drawing/2014/main" id="{78BE8892-FE50-BF73-B15E-567C1CFD9A8A}"/>
              </a:ext>
            </a:extLst>
          </p:cNvPr>
          <p:cNvSpPr/>
          <p:nvPr/>
        </p:nvSpPr>
        <p:spPr>
          <a:xfrm>
            <a:off x="6510528" y="2496312"/>
            <a:ext cx="1261872" cy="265176"/>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lIns="27432" tIns="0" rIns="27432" bIns="0">
            <a:noAutofit/>
          </a:bodyP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 配信に反映</a:t>
            </a:r>
          </a:p>
        </p:txBody>
      </p:sp>
      <p:sp>
        <p:nvSpPr>
          <p:cNvPr id="40" name="正方形/長方形 39">
            <a:extLst>
              <a:ext uri="{FF2B5EF4-FFF2-40B4-BE49-F238E27FC236}">
                <a16:creationId xmlns:a16="http://schemas.microsoft.com/office/drawing/2014/main" id="{5FB8C9E8-13C6-54AE-CC6C-E66EB44BEE66}"/>
              </a:ext>
            </a:extLst>
          </p:cNvPr>
          <p:cNvSpPr/>
          <p:nvPr/>
        </p:nvSpPr>
        <p:spPr>
          <a:xfrm>
            <a:off x="5193792" y="3794760"/>
            <a:ext cx="2578608" cy="265176"/>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lIns="27432" tIns="0" rIns="27432" bIns="0">
            <a:noAutofit/>
          </a:bodyP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200" b="1" dirty="0">
                <a:solidFill>
                  <a:schemeClr val="bg1"/>
                </a:solidFill>
                <a:latin typeface="メイリオ" panose="020B0604030504040204" pitchFamily="50" charset="-128"/>
                <a:ea typeface="メイリオ" panose="020B0604030504040204" pitchFamily="50" charset="-128"/>
              </a:rPr>
              <a:t>個別チャット（物件の確認）</a:t>
            </a:r>
          </a:p>
        </p:txBody>
      </p:sp>
      <p:cxnSp>
        <p:nvCxnSpPr>
          <p:cNvPr id="41" name="コネクタ: カギ線 40">
            <a:extLst>
              <a:ext uri="{FF2B5EF4-FFF2-40B4-BE49-F238E27FC236}">
                <a16:creationId xmlns:a16="http://schemas.microsoft.com/office/drawing/2014/main" id="{A0B29E3B-5447-4104-E77E-C26EB1CB0F8A}"/>
              </a:ext>
            </a:extLst>
          </p:cNvPr>
          <p:cNvCxnSpPr>
            <a:cxnSpLocks/>
            <a:stCxn id="40" idx="3"/>
          </p:cNvCxnSpPr>
          <p:nvPr/>
        </p:nvCxnSpPr>
        <p:spPr>
          <a:xfrm flipV="1">
            <a:off x="7772400" y="1979676"/>
            <a:ext cx="438912" cy="1947672"/>
          </a:xfrm>
          <a:prstGeom prst="bentConnector3">
            <a:avLst>
              <a:gd name="adj1" fmla="val 62500"/>
            </a:avLst>
          </a:prstGeom>
          <a:ln>
            <a:solidFill>
              <a:schemeClr val="tx2"/>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2" name="コネクタ: カギ線 41">
            <a:extLst>
              <a:ext uri="{FF2B5EF4-FFF2-40B4-BE49-F238E27FC236}">
                <a16:creationId xmlns:a16="http://schemas.microsoft.com/office/drawing/2014/main" id="{6F60DF78-AC16-9662-17BD-3EBCD4677BB3}"/>
              </a:ext>
            </a:extLst>
          </p:cNvPr>
          <p:cNvCxnSpPr>
            <a:cxnSpLocks/>
            <a:stCxn id="37" idx="3"/>
          </p:cNvCxnSpPr>
          <p:nvPr/>
        </p:nvCxnSpPr>
        <p:spPr>
          <a:xfrm flipV="1">
            <a:off x="7772400" y="2304288"/>
            <a:ext cx="438912" cy="1298448"/>
          </a:xfrm>
          <a:prstGeom prst="bentConnector3">
            <a:avLst>
              <a:gd name="adj1" fmla="val 35417"/>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3" name="コネクタ: カギ線 42">
            <a:extLst>
              <a:ext uri="{FF2B5EF4-FFF2-40B4-BE49-F238E27FC236}">
                <a16:creationId xmlns:a16="http://schemas.microsoft.com/office/drawing/2014/main" id="{9ACE7516-910E-229D-8D61-02389EE1209F}"/>
              </a:ext>
            </a:extLst>
          </p:cNvPr>
          <p:cNvCxnSpPr>
            <a:cxnSpLocks/>
            <a:stCxn id="38" idx="3"/>
          </p:cNvCxnSpPr>
          <p:nvPr/>
        </p:nvCxnSpPr>
        <p:spPr>
          <a:xfrm flipV="1">
            <a:off x="7772400" y="2304288"/>
            <a:ext cx="438912" cy="973836"/>
          </a:xfrm>
          <a:prstGeom prst="bentConnector3">
            <a:avLst>
              <a:gd name="adj1" fmla="val 35417"/>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4" name="コネクタ: カギ線 43">
            <a:extLst>
              <a:ext uri="{FF2B5EF4-FFF2-40B4-BE49-F238E27FC236}">
                <a16:creationId xmlns:a16="http://schemas.microsoft.com/office/drawing/2014/main" id="{CFEF0AA5-73C6-3E02-7EDB-57BE374DCDBF}"/>
              </a:ext>
            </a:extLst>
          </p:cNvPr>
          <p:cNvCxnSpPr>
            <a:cxnSpLocks/>
            <a:stCxn id="36" idx="3"/>
          </p:cNvCxnSpPr>
          <p:nvPr/>
        </p:nvCxnSpPr>
        <p:spPr>
          <a:xfrm flipV="1">
            <a:off x="7772400" y="2304288"/>
            <a:ext cx="438912" cy="649224"/>
          </a:xfrm>
          <a:prstGeom prst="bentConnector3">
            <a:avLst>
              <a:gd name="adj1" fmla="val 35417"/>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6" name="コネクタ: カギ線 45">
            <a:extLst>
              <a:ext uri="{FF2B5EF4-FFF2-40B4-BE49-F238E27FC236}">
                <a16:creationId xmlns:a16="http://schemas.microsoft.com/office/drawing/2014/main" id="{994CBAF5-3A55-5F8D-2FE3-7E89A4D5C622}"/>
              </a:ext>
            </a:extLst>
          </p:cNvPr>
          <p:cNvCxnSpPr>
            <a:cxnSpLocks/>
            <a:stCxn id="39" idx="3"/>
          </p:cNvCxnSpPr>
          <p:nvPr/>
        </p:nvCxnSpPr>
        <p:spPr>
          <a:xfrm flipV="1">
            <a:off x="7772400" y="2304288"/>
            <a:ext cx="438912" cy="324612"/>
          </a:xfrm>
          <a:prstGeom prst="bentConnector3">
            <a:avLst>
              <a:gd name="adj1" fmla="val 35417"/>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7" name="コネクタ: カギ線 46">
            <a:extLst>
              <a:ext uri="{FF2B5EF4-FFF2-40B4-BE49-F238E27FC236}">
                <a16:creationId xmlns:a16="http://schemas.microsoft.com/office/drawing/2014/main" id="{95AFF09E-E9EC-B83D-758F-AB3E03B91C26}"/>
              </a:ext>
            </a:extLst>
          </p:cNvPr>
          <p:cNvCxnSpPr>
            <a:cxnSpLocks/>
            <a:stCxn id="32" idx="3"/>
          </p:cNvCxnSpPr>
          <p:nvPr/>
        </p:nvCxnSpPr>
        <p:spPr>
          <a:xfrm>
            <a:off x="7772400" y="2304288"/>
            <a:ext cx="438912" cy="1"/>
          </a:xfrm>
          <a:prstGeom prst="bentConnector3">
            <a:avLst>
              <a:gd name="adj1" fmla="val 35417"/>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8" name="コネクタ: カギ線 47">
            <a:extLst>
              <a:ext uri="{FF2B5EF4-FFF2-40B4-BE49-F238E27FC236}">
                <a16:creationId xmlns:a16="http://schemas.microsoft.com/office/drawing/2014/main" id="{81E043B6-4E27-2700-F284-741B1F2B6E99}"/>
              </a:ext>
            </a:extLst>
          </p:cNvPr>
          <p:cNvCxnSpPr>
            <a:cxnSpLocks/>
            <a:stCxn id="31" idx="3"/>
          </p:cNvCxnSpPr>
          <p:nvPr/>
        </p:nvCxnSpPr>
        <p:spPr>
          <a:xfrm>
            <a:off x="7772400" y="1979676"/>
            <a:ext cx="438912" cy="324612"/>
          </a:xfrm>
          <a:prstGeom prst="bentConnector3">
            <a:avLst>
              <a:gd name="adj1" fmla="val 35417"/>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49" name="左中かっこ 48">
            <a:extLst>
              <a:ext uri="{FF2B5EF4-FFF2-40B4-BE49-F238E27FC236}">
                <a16:creationId xmlns:a16="http://schemas.microsoft.com/office/drawing/2014/main" id="{3EB6A587-08D7-7B0D-8BB4-704F3A9413A8}"/>
              </a:ext>
            </a:extLst>
          </p:cNvPr>
          <p:cNvSpPr/>
          <p:nvPr/>
        </p:nvSpPr>
        <p:spPr>
          <a:xfrm>
            <a:off x="5010912" y="1819656"/>
            <a:ext cx="146304" cy="2267712"/>
          </a:xfrm>
          <a:prstGeom prst="leftBrace">
            <a:avLst>
              <a:gd name="adj1" fmla="val 8333"/>
              <a:gd name="adj2" fmla="val 23194"/>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endParaRPr kumimoji="1" lang="ja-JP" altLang="en-US"/>
          </a:p>
        </p:txBody>
      </p:sp>
      <p:sp>
        <p:nvSpPr>
          <p:cNvPr id="50" name="正方形/長方形 49">
            <a:extLst>
              <a:ext uri="{FF2B5EF4-FFF2-40B4-BE49-F238E27FC236}">
                <a16:creationId xmlns:a16="http://schemas.microsoft.com/office/drawing/2014/main" id="{13F6801A-CC8C-370B-47CD-0E9A8F78DA92}"/>
              </a:ext>
            </a:extLst>
          </p:cNvPr>
          <p:cNvSpPr/>
          <p:nvPr/>
        </p:nvSpPr>
        <p:spPr>
          <a:xfrm>
            <a:off x="530352" y="4636008"/>
            <a:ext cx="5769864" cy="1796795"/>
          </a:xfrm>
          <a:prstGeom prst="rect">
            <a:avLst/>
          </a:prstGeom>
          <a:solidFill>
            <a:srgbClr val="04FA0A">
              <a:alpha val="8000"/>
            </a:srgb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sz="1000">
              <a:solidFill>
                <a:schemeClr val="tx1"/>
              </a:solidFill>
              <a:latin typeface="メイリオ" panose="020B0604030504040204" pitchFamily="50" charset="-128"/>
              <a:ea typeface="メイリオ" panose="020B0604030504040204" pitchFamily="50" charset="-128"/>
            </a:endParaRPr>
          </a:p>
        </p:txBody>
      </p:sp>
      <p:sp>
        <p:nvSpPr>
          <p:cNvPr id="52" name="正方形/長方形 51">
            <a:extLst>
              <a:ext uri="{FF2B5EF4-FFF2-40B4-BE49-F238E27FC236}">
                <a16:creationId xmlns:a16="http://schemas.microsoft.com/office/drawing/2014/main" id="{1A52527A-0CF0-029E-8E86-430BD9DEAAA1}"/>
              </a:ext>
            </a:extLst>
          </p:cNvPr>
          <p:cNvSpPr/>
          <p:nvPr/>
        </p:nvSpPr>
        <p:spPr>
          <a:xfrm>
            <a:off x="640080" y="4690872"/>
            <a:ext cx="960120" cy="256032"/>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tIns="0" bIns="0">
            <a:noAutofit/>
          </a:bodyP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200" b="1" dirty="0">
                <a:solidFill>
                  <a:srgbClr val="595959"/>
                </a:solidFill>
                <a:latin typeface="メイリオ" panose="020B0604030504040204" pitchFamily="50" charset="-128"/>
                <a:ea typeface="メイリオ" panose="020B0604030504040204" pitchFamily="50" charset="-128"/>
              </a:rPr>
              <a:t>問い合わせ</a:t>
            </a:r>
            <a:endParaRPr kumimoji="1" lang="ja-JP" altLang="en-US" sz="1200" b="1" dirty="0">
              <a:solidFill>
                <a:schemeClr val="bg1"/>
              </a:solidFill>
              <a:latin typeface="メイリオ" panose="020B0604030504040204" pitchFamily="50" charset="-128"/>
              <a:ea typeface="メイリオ" panose="020B0604030504040204" pitchFamily="50" charset="-128"/>
            </a:endParaRPr>
          </a:p>
        </p:txBody>
      </p:sp>
      <p:cxnSp>
        <p:nvCxnSpPr>
          <p:cNvPr id="53" name="コネクタ: カギ線 52">
            <a:extLst>
              <a:ext uri="{FF2B5EF4-FFF2-40B4-BE49-F238E27FC236}">
                <a16:creationId xmlns:a16="http://schemas.microsoft.com/office/drawing/2014/main" id="{898B747D-663D-3118-8C11-74EB0324AD5C}"/>
              </a:ext>
            </a:extLst>
          </p:cNvPr>
          <p:cNvCxnSpPr>
            <a:stCxn id="52" idx="0"/>
          </p:cNvCxnSpPr>
          <p:nvPr/>
        </p:nvCxnSpPr>
        <p:spPr>
          <a:xfrm rot="5400000" flipH="1" flipV="1">
            <a:off x="3881628" y="-324612"/>
            <a:ext cx="2253996" cy="7776972"/>
          </a:xfrm>
          <a:prstGeom prst="bentConnector3">
            <a:avLst>
              <a:gd name="adj1" fmla="val 4057"/>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57" name="正方形/長方形 56">
            <a:extLst>
              <a:ext uri="{FF2B5EF4-FFF2-40B4-BE49-F238E27FC236}">
                <a16:creationId xmlns:a16="http://schemas.microsoft.com/office/drawing/2014/main" id="{9927067B-793F-D21C-B90A-7C7E46812D7F}"/>
              </a:ext>
            </a:extLst>
          </p:cNvPr>
          <p:cNvSpPr/>
          <p:nvPr/>
        </p:nvSpPr>
        <p:spPr>
          <a:xfrm>
            <a:off x="3611880" y="4690872"/>
            <a:ext cx="2578608" cy="256032"/>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lIns="27432" tIns="0" rIns="27432" bIns="0">
            <a:noAutofit/>
          </a:bodyP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内見・お申込みの案内</a:t>
            </a:r>
          </a:p>
        </p:txBody>
      </p:sp>
      <p:sp>
        <p:nvSpPr>
          <p:cNvPr id="58" name="正方形/長方形 57">
            <a:extLst>
              <a:ext uri="{FF2B5EF4-FFF2-40B4-BE49-F238E27FC236}">
                <a16:creationId xmlns:a16="http://schemas.microsoft.com/office/drawing/2014/main" id="{BD2E83D5-3372-C439-208D-783F428C9D84}"/>
              </a:ext>
            </a:extLst>
          </p:cNvPr>
          <p:cNvSpPr/>
          <p:nvPr/>
        </p:nvSpPr>
        <p:spPr>
          <a:xfrm>
            <a:off x="3611880" y="4978908"/>
            <a:ext cx="2578608" cy="256032"/>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lIns="27432" tIns="0" rIns="27432" bIns="0">
            <a:noAutofit/>
          </a:bodyP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別の物件URLの受付</a:t>
            </a:r>
          </a:p>
        </p:txBody>
      </p:sp>
      <p:sp>
        <p:nvSpPr>
          <p:cNvPr id="59" name="正方形/長方形 58">
            <a:extLst>
              <a:ext uri="{FF2B5EF4-FFF2-40B4-BE49-F238E27FC236}">
                <a16:creationId xmlns:a16="http://schemas.microsoft.com/office/drawing/2014/main" id="{087D59E0-E0CE-3934-C1B4-0EF4D82E0B2E}"/>
              </a:ext>
            </a:extLst>
          </p:cNvPr>
          <p:cNvSpPr/>
          <p:nvPr/>
        </p:nvSpPr>
        <p:spPr>
          <a:xfrm>
            <a:off x="3611880" y="5266944"/>
            <a:ext cx="1261872" cy="256032"/>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lIns="27432" tIns="0" rIns="27432" bIns="0">
            <a:noAutofit/>
          </a:bodyP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ご成約</a:t>
            </a:r>
          </a:p>
        </p:txBody>
      </p:sp>
      <p:sp>
        <p:nvSpPr>
          <p:cNvPr id="60" name="正方形/長方形 59">
            <a:extLst>
              <a:ext uri="{FF2B5EF4-FFF2-40B4-BE49-F238E27FC236}">
                <a16:creationId xmlns:a16="http://schemas.microsoft.com/office/drawing/2014/main" id="{78BB80E0-2482-846A-E4FE-C1770384E88E}"/>
              </a:ext>
            </a:extLst>
          </p:cNvPr>
          <p:cNvSpPr/>
          <p:nvPr/>
        </p:nvSpPr>
        <p:spPr>
          <a:xfrm>
            <a:off x="3611880" y="5554980"/>
            <a:ext cx="2578608" cy="256032"/>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lIns="27432" tIns="0" rIns="27432" bIns="0">
            <a:noAutofit/>
          </a:bodyP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チャットタグで対応状況を管理</a:t>
            </a:r>
          </a:p>
        </p:txBody>
      </p:sp>
      <p:sp>
        <p:nvSpPr>
          <p:cNvPr id="61" name="正方形/長方形 60">
            <a:extLst>
              <a:ext uri="{FF2B5EF4-FFF2-40B4-BE49-F238E27FC236}">
                <a16:creationId xmlns:a16="http://schemas.microsoft.com/office/drawing/2014/main" id="{C885333E-56CE-B011-72B9-07B332849355}"/>
              </a:ext>
            </a:extLst>
          </p:cNvPr>
          <p:cNvSpPr/>
          <p:nvPr/>
        </p:nvSpPr>
        <p:spPr>
          <a:xfrm>
            <a:off x="4928616" y="5266944"/>
            <a:ext cx="1261872" cy="256032"/>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lIns="27432" tIns="0" rIns="27432" bIns="0">
            <a:noAutofit/>
          </a:bodyP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入居までの案内</a:t>
            </a:r>
          </a:p>
        </p:txBody>
      </p:sp>
      <p:cxnSp>
        <p:nvCxnSpPr>
          <p:cNvPr id="62" name="コネクタ: カギ線 61">
            <a:extLst>
              <a:ext uri="{FF2B5EF4-FFF2-40B4-BE49-F238E27FC236}">
                <a16:creationId xmlns:a16="http://schemas.microsoft.com/office/drawing/2014/main" id="{BDA83037-5C06-C2D0-EF8B-90AE0F4336B5}"/>
              </a:ext>
            </a:extLst>
          </p:cNvPr>
          <p:cNvCxnSpPr>
            <a:cxnSpLocks/>
            <a:stCxn id="52" idx="3"/>
            <a:endCxn id="57" idx="1"/>
          </p:cNvCxnSpPr>
          <p:nvPr/>
        </p:nvCxnSpPr>
        <p:spPr>
          <a:xfrm>
            <a:off x="1600200" y="4818888"/>
            <a:ext cx="2011680" cy="1"/>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63" name="コネクタ: カギ線 62">
            <a:extLst>
              <a:ext uri="{FF2B5EF4-FFF2-40B4-BE49-F238E27FC236}">
                <a16:creationId xmlns:a16="http://schemas.microsoft.com/office/drawing/2014/main" id="{BA23D5BC-C7EC-06D4-215C-2852A68F0F9B}"/>
              </a:ext>
            </a:extLst>
          </p:cNvPr>
          <p:cNvCxnSpPr>
            <a:cxnSpLocks/>
            <a:stCxn id="52" idx="3"/>
            <a:endCxn id="58" idx="1"/>
          </p:cNvCxnSpPr>
          <p:nvPr/>
        </p:nvCxnSpPr>
        <p:spPr>
          <a:xfrm>
            <a:off x="1600200" y="4818888"/>
            <a:ext cx="2011680" cy="288036"/>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64" name="コネクタ: カギ線 63">
            <a:extLst>
              <a:ext uri="{FF2B5EF4-FFF2-40B4-BE49-F238E27FC236}">
                <a16:creationId xmlns:a16="http://schemas.microsoft.com/office/drawing/2014/main" id="{F8AA6994-29BC-2C26-DE5F-C0C21F502236}"/>
              </a:ext>
            </a:extLst>
          </p:cNvPr>
          <p:cNvCxnSpPr>
            <a:cxnSpLocks/>
            <a:stCxn id="52" idx="3"/>
            <a:endCxn id="59" idx="1"/>
          </p:cNvCxnSpPr>
          <p:nvPr/>
        </p:nvCxnSpPr>
        <p:spPr>
          <a:xfrm>
            <a:off x="1600200" y="4818888"/>
            <a:ext cx="2011680" cy="576071"/>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65" name="コネクタ: カギ線 64">
            <a:extLst>
              <a:ext uri="{FF2B5EF4-FFF2-40B4-BE49-F238E27FC236}">
                <a16:creationId xmlns:a16="http://schemas.microsoft.com/office/drawing/2014/main" id="{3AE4A3D0-6C1F-7BCD-3ED2-5F066684CE21}"/>
              </a:ext>
            </a:extLst>
          </p:cNvPr>
          <p:cNvCxnSpPr>
            <a:cxnSpLocks/>
            <a:stCxn id="52" idx="3"/>
            <a:endCxn id="60" idx="1"/>
          </p:cNvCxnSpPr>
          <p:nvPr/>
        </p:nvCxnSpPr>
        <p:spPr>
          <a:xfrm>
            <a:off x="1600200" y="4818888"/>
            <a:ext cx="2011680" cy="864108"/>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66" name="正方形/長方形 65">
            <a:extLst>
              <a:ext uri="{FF2B5EF4-FFF2-40B4-BE49-F238E27FC236}">
                <a16:creationId xmlns:a16="http://schemas.microsoft.com/office/drawing/2014/main" id="{F922E2DE-5C74-6CAA-736C-BAC94D2952DF}"/>
              </a:ext>
            </a:extLst>
          </p:cNvPr>
          <p:cNvSpPr/>
          <p:nvPr/>
        </p:nvSpPr>
        <p:spPr>
          <a:xfrm>
            <a:off x="3611880" y="5843016"/>
            <a:ext cx="2578608" cy="256032"/>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lIns="27432" tIns="0" rIns="27432" bIns="0">
            <a:noAutofit/>
          </a:bodyP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企画配信（月4本）・リサーチ</a:t>
            </a:r>
          </a:p>
        </p:txBody>
      </p:sp>
      <p:sp>
        <p:nvSpPr>
          <p:cNvPr id="67" name="正方形/長方形 66">
            <a:extLst>
              <a:ext uri="{FF2B5EF4-FFF2-40B4-BE49-F238E27FC236}">
                <a16:creationId xmlns:a16="http://schemas.microsoft.com/office/drawing/2014/main" id="{03175683-57AB-6FFA-0F27-7E81645CA47B}"/>
              </a:ext>
            </a:extLst>
          </p:cNvPr>
          <p:cNvSpPr/>
          <p:nvPr/>
        </p:nvSpPr>
        <p:spPr>
          <a:xfrm>
            <a:off x="3611880" y="6131052"/>
            <a:ext cx="2578608" cy="256032"/>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lIns="27432" tIns="0" rIns="27432" bIns="0">
            <a:noAutofit/>
          </a:bodyP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200" b="1" dirty="0">
                <a:solidFill>
                  <a:schemeClr val="bg1"/>
                </a:solidFill>
                <a:latin typeface="メイリオ" panose="020B0604030504040204" pitchFamily="50" charset="-128"/>
                <a:ea typeface="メイリオ" panose="020B0604030504040204" pitchFamily="50" charset="-128"/>
              </a:rPr>
              <a:t>個別チャット</a:t>
            </a:r>
          </a:p>
        </p:txBody>
      </p:sp>
      <p:sp>
        <p:nvSpPr>
          <p:cNvPr id="69" name="正方形/長方形 68">
            <a:extLst>
              <a:ext uri="{FF2B5EF4-FFF2-40B4-BE49-F238E27FC236}">
                <a16:creationId xmlns:a16="http://schemas.microsoft.com/office/drawing/2014/main" id="{5EB01514-8877-C931-E7AA-81B28EB77681}"/>
              </a:ext>
            </a:extLst>
          </p:cNvPr>
          <p:cNvSpPr/>
          <p:nvPr/>
        </p:nvSpPr>
        <p:spPr>
          <a:xfrm>
            <a:off x="6718096" y="1449324"/>
            <a:ext cx="2926080" cy="274320"/>
          </a:xfrm>
          <a:prstGeom prst="rect">
            <a:avLst/>
          </a:prstGeom>
          <a:solidFill>
            <a:srgbClr val="04FA0A">
              <a:alpha val="8000"/>
            </a:srgb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lIns="45720" tIns="0" rIns="45720" bIns="0">
            <a:noAutofit/>
          </a:bodyP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1200" b="1" dirty="0">
                <a:solidFill>
                  <a:srgbClr val="00B050"/>
                </a:solidFill>
                <a:latin typeface="メイリオ" panose="020B0604030504040204" pitchFamily="50" charset="-128"/>
                <a:ea typeface="メイリオ" panose="020B0604030504040204" pitchFamily="50" charset="-128"/>
              </a:rPr>
              <a:t>LINE公式アカウントの標準機能で運用</a:t>
            </a:r>
            <a:endParaRPr kumimoji="1" lang="ja-JP" altLang="en-US" sz="1200" b="1" dirty="0">
              <a:solidFill>
                <a:srgbClr val="00B050"/>
              </a:solidFill>
              <a:latin typeface="メイリオ" panose="020B0604030504040204" pitchFamily="50" charset="-128"/>
              <a:ea typeface="メイリオ" panose="020B0604030504040204" pitchFamily="50" charset="-128"/>
            </a:endParaRPr>
          </a:p>
        </p:txBody>
      </p:sp>
      <p:sp>
        <p:nvSpPr>
          <p:cNvPr id="71" name="テキスト ボックス 70">
            <a:extLst>
              <a:ext uri="{FF2B5EF4-FFF2-40B4-BE49-F238E27FC236}">
                <a16:creationId xmlns:a16="http://schemas.microsoft.com/office/drawing/2014/main" id="{29811250-0A12-BBDB-9A73-5B0FCA43DC62}"/>
              </a:ext>
            </a:extLst>
          </p:cNvPr>
          <p:cNvSpPr txBox="1"/>
          <p:nvPr/>
        </p:nvSpPr>
        <p:spPr>
          <a:xfrm>
            <a:off x="320040" y="630936"/>
            <a:ext cx="9262872" cy="713232"/>
          </a:xfrm>
          <a:prstGeom prst="rect">
            <a:avLst/>
          </a:prstGeom>
          <a:noFill/>
        </p:spPr>
        <p:txBody>
          <a:bodyPr wrap="square" anchor="ctr" lIns="45720" rIns="45720">
            <a:noAutofit/>
          </a:bodyPr>
          <a:lstStyle/>
          <a:p>
            <a:pPr algn="ctr"/>
            <a:r>
              <a:rPr lang="ja-JP" altLang="en-US" sz="1400" dirty="0">
                <a:solidFill>
                  <a:schemeClr val="tx1">
                    <a:lumMod val="65000"/>
                    <a:lumOff val="35000"/>
                  </a:schemeClr>
                </a:solidFill>
                <a:latin typeface="メイリオ" panose="020B0604030504040204" pitchFamily="50" charset="-128"/>
                <a:ea typeface="メイリオ" panose="020B0604030504040204" pitchFamily="50" charset="-128"/>
              </a:rPr>
              <a:t>離脱防止ポップアップとサイトのLINEボタンから友だち追加し、物件の問い合わせと継続配信につなげます。</a:t>
            </a:r>
            <a:endParaRPr lang="en-US" altLang="ja-JP" sz="1400" dirty="0">
              <a:solidFill>
                <a:schemeClr val="tx1">
                  <a:lumMod val="65000"/>
                  <a:lumOff val="35000"/>
                </a:schemeClr>
              </a:solidFill>
              <a:latin typeface="メイリオ" panose="020B0604030504040204" pitchFamily="50" charset="-128"/>
              <a:ea typeface="メイリオ" panose="020B0604030504040204" pitchFamily="50" charset="-128"/>
            </a:endParaRPr>
          </a:p>
          <a:p>
            <a:pPr algn="ctr"/>
            <a:r>
              <a:rPr lang="en-US" altLang="ja-JP" sz="1400" dirty="0">
                <a:solidFill>
                  <a:schemeClr val="tx1">
                    <a:lumMod val="65000"/>
                    <a:lumOff val="35000"/>
                  </a:schemeClr>
                </a:solidFill>
                <a:latin typeface="メイリオ" panose="020B0604030504040204" pitchFamily="50" charset="-128"/>
                <a:ea typeface="メイリオ" panose="020B0604030504040204" pitchFamily="50" charset="-128"/>
              </a:rPr>
              <a:t>LINE公式アカウントの標準機能で運用（離脱防止ポップアップは別途導入）</a:t>
            </a:r>
          </a:p>
        </p:txBody>
      </p:sp>
    </p:spTree>
    <p:extLst>
      <p:ext uri="{BB962C8B-B14F-4D97-AF65-F5344CB8AC3E}">
        <p14:creationId xmlns:p14="http://schemas.microsoft.com/office/powerpoint/2010/main" val="18539075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305794-10C5-A163-5F03-DB8F5144F62B}"/>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06924D46-4ED5-0BE1-9474-C475C9B8B3FD}"/>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5" name="Google Shape;156;p7">
            <a:extLst>
              <a:ext uri="{FF2B5EF4-FFF2-40B4-BE49-F238E27FC236}">
                <a16:creationId xmlns:a16="http://schemas.microsoft.com/office/drawing/2014/main" id="{B52FA9B6-1E96-AE6B-376B-08DEB38C8F2E}"/>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想定セグメント</a:t>
            </a:r>
            <a:r>
              <a:rPr lang="en-US" altLang="ja-JP" sz="1600" b="1" dirty="0">
                <a:solidFill>
                  <a:srgbClr val="002060"/>
                </a:solidFill>
                <a:latin typeface="Meiryo"/>
                <a:ea typeface="Meiryo"/>
                <a:cs typeface="Meiryo"/>
                <a:sym typeface="Meiryo"/>
              </a:rPr>
              <a:t>×</a:t>
            </a:r>
            <a:r>
              <a:rPr lang="ja-JP" altLang="en-US" sz="1600" b="1" dirty="0">
                <a:solidFill>
                  <a:srgbClr val="002060"/>
                </a:solidFill>
                <a:latin typeface="Meiryo"/>
                <a:ea typeface="Meiryo"/>
                <a:cs typeface="Meiryo"/>
                <a:sym typeface="Meiryo"/>
              </a:rPr>
              <a:t>成果</a:t>
            </a:r>
            <a:endParaRPr sz="1600" b="1" dirty="0">
              <a:solidFill>
                <a:srgbClr val="002060"/>
              </a:solidFill>
              <a:latin typeface="Meiryo"/>
              <a:ea typeface="Meiryo"/>
              <a:cs typeface="Meiryo"/>
              <a:sym typeface="Meiryo"/>
            </a:endParaRPr>
          </a:p>
        </p:txBody>
      </p:sp>
      <p:cxnSp>
        <p:nvCxnSpPr>
          <p:cNvPr id="2" name="直線コネクタ 1">
            <a:extLst>
              <a:ext uri="{FF2B5EF4-FFF2-40B4-BE49-F238E27FC236}">
                <a16:creationId xmlns:a16="http://schemas.microsoft.com/office/drawing/2014/main" id="{9466EA77-01E0-CA5D-3176-998FC02FE7DB}"/>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5" name="正方形/長方形 4">
            <a:extLst>
              <a:ext uri="{FF2B5EF4-FFF2-40B4-BE49-F238E27FC236}">
                <a16:creationId xmlns:a16="http://schemas.microsoft.com/office/drawing/2014/main" id="{EEF4BB1D-1E6E-955A-85D2-2DAF3FCF967B}"/>
              </a:ext>
            </a:extLst>
          </p:cNvPr>
          <p:cNvSpPr/>
          <p:nvPr/>
        </p:nvSpPr>
        <p:spPr>
          <a:xfrm>
            <a:off x="388225" y="1594309"/>
            <a:ext cx="1425879" cy="314059"/>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300" b="1" dirty="0">
                <a:latin typeface="メイリオ" panose="020B0604030504040204" pitchFamily="50" charset="-128"/>
                <a:ea typeface="メイリオ" panose="020B0604030504040204" pitchFamily="50" charset="-128"/>
              </a:rPr>
              <a:t>流入元</a:t>
            </a:r>
          </a:p>
        </p:txBody>
      </p:sp>
      <p:sp>
        <p:nvSpPr>
          <p:cNvPr id="6" name="正方形/長方形 5">
            <a:extLst>
              <a:ext uri="{FF2B5EF4-FFF2-40B4-BE49-F238E27FC236}">
                <a16:creationId xmlns:a16="http://schemas.microsoft.com/office/drawing/2014/main" id="{531C33D5-FD17-057E-9ABE-377B289F9790}"/>
              </a:ext>
            </a:extLst>
          </p:cNvPr>
          <p:cNvSpPr/>
          <p:nvPr/>
        </p:nvSpPr>
        <p:spPr>
          <a:xfrm>
            <a:off x="1890454" y="1594308"/>
            <a:ext cx="1425879" cy="314059"/>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300" b="1" dirty="0">
                <a:latin typeface="メイリオ" panose="020B0604030504040204" pitchFamily="50" charset="-128"/>
                <a:ea typeface="メイリオ" panose="020B0604030504040204" pitchFamily="50" charset="-128"/>
              </a:rPr>
              <a:t>LINE</a:t>
            </a:r>
            <a:r>
              <a:rPr kumimoji="1" lang="ja-JP" altLang="en-US" sz="1300" b="1" dirty="0">
                <a:latin typeface="メイリオ" panose="020B0604030504040204" pitchFamily="50" charset="-128"/>
                <a:ea typeface="メイリオ" panose="020B0604030504040204" pitchFamily="50" charset="-128"/>
              </a:rPr>
              <a:t>誘導</a:t>
            </a:r>
          </a:p>
        </p:txBody>
      </p:sp>
      <p:sp>
        <p:nvSpPr>
          <p:cNvPr id="7" name="正方形/長方形 6">
            <a:extLst>
              <a:ext uri="{FF2B5EF4-FFF2-40B4-BE49-F238E27FC236}">
                <a16:creationId xmlns:a16="http://schemas.microsoft.com/office/drawing/2014/main" id="{AFB52975-24F0-82CC-8A36-A65D2F539FA3}"/>
              </a:ext>
            </a:extLst>
          </p:cNvPr>
          <p:cNvSpPr/>
          <p:nvPr/>
        </p:nvSpPr>
        <p:spPr>
          <a:xfrm>
            <a:off x="3392683" y="1594308"/>
            <a:ext cx="4320230" cy="314059"/>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300" dirty="0">
                <a:latin typeface="メイリオ" panose="020B0604030504040204" pitchFamily="50" charset="-128"/>
                <a:ea typeface="メイリオ" panose="020B0604030504040204" pitchFamily="50" charset="-128"/>
              </a:rPr>
              <a:t>具体の施策方針</a:t>
            </a:r>
          </a:p>
        </p:txBody>
      </p:sp>
      <p:sp>
        <p:nvSpPr>
          <p:cNvPr id="8" name="矢印: 右 7">
            <a:extLst>
              <a:ext uri="{FF2B5EF4-FFF2-40B4-BE49-F238E27FC236}">
                <a16:creationId xmlns:a16="http://schemas.microsoft.com/office/drawing/2014/main" id="{173A008B-7B40-3834-688E-168FABDF16B8}"/>
              </a:ext>
            </a:extLst>
          </p:cNvPr>
          <p:cNvSpPr/>
          <p:nvPr/>
        </p:nvSpPr>
        <p:spPr>
          <a:xfrm>
            <a:off x="1031359" y="2268501"/>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a:p>
        </p:txBody>
      </p:sp>
      <p:sp>
        <p:nvSpPr>
          <p:cNvPr id="9" name="正方形/長方形 8">
            <a:extLst>
              <a:ext uri="{FF2B5EF4-FFF2-40B4-BE49-F238E27FC236}">
                <a16:creationId xmlns:a16="http://schemas.microsoft.com/office/drawing/2014/main" id="{FD70E0F9-3A37-9791-A2F1-DB53DFA521CA}"/>
              </a:ext>
            </a:extLst>
          </p:cNvPr>
          <p:cNvSpPr/>
          <p:nvPr/>
        </p:nvSpPr>
        <p:spPr>
          <a:xfrm>
            <a:off x="1890454" y="2002703"/>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lIns="27432" rIns="27432"/>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lnSpc>
                <a:spcPct val="100000"/>
              </a:lnSpc>
            </a:pPr>
            <a:r>
              <a:rPr lang="ja-JP" altLang="en-US" sz="1100">
                <a:solidFill>
                  <a:schemeClr val="tx1">
                    <a:lumMod val="75000"/>
                    <a:lumOff val="25000"/>
                  </a:schemeClr>
                </a:solidFill>
                <a:latin typeface="メイリオ" panose="020B0604030504040204" pitchFamily="50" charset="-128"/>
                <a:ea typeface="メイリオ" panose="020B0604030504040204" pitchFamily="50" charset="-128"/>
              </a:rPr>
              <a:t>離脱防止</a:t>
            </a:r>
            <a:endParaRPr lang="en-US" altLang="ja-JP" sz="1100"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lnSpc>
                <a:spcPct val="100000"/>
              </a:lnSpc>
            </a:pPr>
            <a:r>
              <a:rPr lang="ja-JP" altLang="en-US" sz="1100" dirty="0">
                <a:solidFill>
                  <a:schemeClr val="tx1">
                    <a:lumMod val="75000"/>
                    <a:lumOff val="25000"/>
                  </a:schemeClr>
                </a:solidFill>
                <a:latin typeface="メイリオ" panose="020B0604030504040204" pitchFamily="50" charset="-128"/>
                <a:ea typeface="メイリオ" panose="020B0604030504040204" pitchFamily="50" charset="-128"/>
              </a:rPr>
              <a:t>ポップアップ</a:t>
            </a:r>
          </a:p>
        </p:txBody>
      </p:sp>
      <p:sp>
        <p:nvSpPr>
          <p:cNvPr id="10" name="正方形/長方形 9">
            <a:extLst>
              <a:ext uri="{FF2B5EF4-FFF2-40B4-BE49-F238E27FC236}">
                <a16:creationId xmlns:a16="http://schemas.microsoft.com/office/drawing/2014/main" id="{BC93A6AA-67BF-84C0-0945-45084140FCCE}"/>
              </a:ext>
            </a:extLst>
          </p:cNvPr>
          <p:cNvSpPr/>
          <p:nvPr/>
        </p:nvSpPr>
        <p:spPr>
          <a:xfrm>
            <a:off x="1890454" y="2615889"/>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lIns="27432" rIns="27432"/>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lnSpc>
                <a:spcPct val="100000"/>
              </a:lnSpc>
            </a:pPr>
            <a:r>
              <a:rPr lang="ja-JP" altLang="en-US" sz="1100" dirty="0">
                <a:solidFill>
                  <a:schemeClr val="tx1">
                    <a:lumMod val="75000"/>
                    <a:lumOff val="25000"/>
                  </a:schemeClr>
                </a:solidFill>
                <a:latin typeface="メイリオ" panose="020B0604030504040204" pitchFamily="50" charset="-128"/>
                <a:ea typeface="メイリオ" panose="020B0604030504040204" pitchFamily="50" charset="-128"/>
              </a:rPr>
              <a:t>LINEでお問い合わせ</a:t>
            </a:r>
            <a:endParaRPr lang="en-US" altLang="ja-JP" sz="1100"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lnSpc>
                <a:spcPct val="100000"/>
              </a:lnSpc>
            </a:pPr>
            <a:r>
              <a:rPr lang="ja-JP" altLang="en-US" sz="1100" dirty="0">
                <a:solidFill>
                  <a:schemeClr val="tx1">
                    <a:lumMod val="75000"/>
                    <a:lumOff val="25000"/>
                  </a:schemeClr>
                </a:solidFill>
                <a:latin typeface="メイリオ" panose="020B0604030504040204" pitchFamily="50" charset="-128"/>
                <a:ea typeface="メイリオ" panose="020B0604030504040204" pitchFamily="50" charset="-128"/>
              </a:rPr>
              <a:t>ボタン（全ページ）</a:t>
            </a:r>
          </a:p>
        </p:txBody>
      </p:sp>
      <p:sp>
        <p:nvSpPr>
          <p:cNvPr id="11" name="正方形/長方形 10">
            <a:extLst>
              <a:ext uri="{FF2B5EF4-FFF2-40B4-BE49-F238E27FC236}">
                <a16:creationId xmlns:a16="http://schemas.microsoft.com/office/drawing/2014/main" id="{1B7DB214-408D-A44C-E3F0-2C35AF01311F}"/>
              </a:ext>
            </a:extLst>
          </p:cNvPr>
          <p:cNvSpPr/>
          <p:nvPr/>
        </p:nvSpPr>
        <p:spPr>
          <a:xfrm>
            <a:off x="388225" y="2002703"/>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lIns="27432" rIns="27432"/>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lnSpc>
                <a:spcPct val="100000"/>
              </a:lnSpc>
            </a:pPr>
            <a:r>
              <a:rPr lang="en-US" altLang="ja-JP" sz="1100">
                <a:solidFill>
                  <a:schemeClr val="tx1">
                    <a:lumMod val="75000"/>
                    <a:lumOff val="25000"/>
                  </a:schemeClr>
                </a:solidFill>
                <a:latin typeface="メイリオ" panose="020B0604030504040204" pitchFamily="50" charset="-128"/>
                <a:ea typeface="メイリオ" panose="020B0604030504040204" pitchFamily="50" charset="-128"/>
              </a:rPr>
              <a:t>100円賃貸のサイト</a:t>
            </a:r>
            <a:endParaRPr lang="ja-JP" altLang="en-US" sz="11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12" name="正方形/長方形 11">
            <a:extLst>
              <a:ext uri="{FF2B5EF4-FFF2-40B4-BE49-F238E27FC236}">
                <a16:creationId xmlns:a16="http://schemas.microsoft.com/office/drawing/2014/main" id="{4FF021F0-AD46-9EC1-0810-C474BA8335D8}"/>
              </a:ext>
            </a:extLst>
          </p:cNvPr>
          <p:cNvSpPr/>
          <p:nvPr/>
        </p:nvSpPr>
        <p:spPr>
          <a:xfrm>
            <a:off x="388225" y="2615889"/>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lIns="27432" rIns="27432"/>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lnSpc>
                <a:spcPct val="100000"/>
              </a:lnSpc>
            </a:pPr>
            <a:r>
              <a:rPr lang="ja-JP" altLang="en-US" sz="1100" dirty="0">
                <a:solidFill>
                  <a:schemeClr val="tx1">
                    <a:lumMod val="75000"/>
                    <a:lumOff val="25000"/>
                  </a:schemeClr>
                </a:solidFill>
                <a:latin typeface="メイリオ" panose="020B0604030504040204" pitchFamily="50" charset="-128"/>
                <a:ea typeface="メイリオ" panose="020B0604030504040204" pitchFamily="50" charset="-128"/>
              </a:rPr>
              <a:t>100円賃貸のサイト</a:t>
            </a:r>
          </a:p>
        </p:txBody>
      </p:sp>
      <p:sp>
        <p:nvSpPr>
          <p:cNvPr id="13" name="正方形/長方形 12">
            <a:extLst>
              <a:ext uri="{FF2B5EF4-FFF2-40B4-BE49-F238E27FC236}">
                <a16:creationId xmlns:a16="http://schemas.microsoft.com/office/drawing/2014/main" id="{8A474FF7-4108-C39F-A5EC-7D5691573134}"/>
              </a:ext>
            </a:extLst>
          </p:cNvPr>
          <p:cNvSpPr/>
          <p:nvPr/>
        </p:nvSpPr>
        <p:spPr>
          <a:xfrm>
            <a:off x="3392683" y="1997243"/>
            <a:ext cx="4320230" cy="1177176"/>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14" name="矢印: 右 13">
            <a:extLst>
              <a:ext uri="{FF2B5EF4-FFF2-40B4-BE49-F238E27FC236}">
                <a16:creationId xmlns:a16="http://schemas.microsoft.com/office/drawing/2014/main" id="{7386A58D-9B89-4DB0-7216-4E1CB6B454A9}"/>
              </a:ext>
            </a:extLst>
          </p:cNvPr>
          <p:cNvSpPr/>
          <p:nvPr/>
        </p:nvSpPr>
        <p:spPr>
          <a:xfrm>
            <a:off x="1031361" y="3220341"/>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a:p>
        </p:txBody>
      </p:sp>
      <p:sp>
        <p:nvSpPr>
          <p:cNvPr id="15" name="矢印: 右 14">
            <a:extLst>
              <a:ext uri="{FF2B5EF4-FFF2-40B4-BE49-F238E27FC236}">
                <a16:creationId xmlns:a16="http://schemas.microsoft.com/office/drawing/2014/main" id="{D3CE675D-8A5C-D632-6FDA-1C8A7E291893}"/>
              </a:ext>
            </a:extLst>
          </p:cNvPr>
          <p:cNvSpPr/>
          <p:nvPr/>
        </p:nvSpPr>
        <p:spPr>
          <a:xfrm>
            <a:off x="1031360" y="3921407"/>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a:p>
        </p:txBody>
      </p:sp>
      <p:cxnSp>
        <p:nvCxnSpPr>
          <p:cNvPr id="16" name="直線コネクタ 15">
            <a:extLst>
              <a:ext uri="{FF2B5EF4-FFF2-40B4-BE49-F238E27FC236}">
                <a16:creationId xmlns:a16="http://schemas.microsoft.com/office/drawing/2014/main" id="{8397AEEA-4837-54CF-13BA-F31B80D1393F}"/>
              </a:ext>
            </a:extLst>
          </p:cNvPr>
          <p:cNvCxnSpPr>
            <a:cxnSpLocks/>
          </p:cNvCxnSpPr>
          <p:nvPr/>
        </p:nvCxnSpPr>
        <p:spPr>
          <a:xfrm flipV="1">
            <a:off x="388225" y="3876481"/>
            <a:ext cx="7324688" cy="1"/>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
        <p:nvSpPr>
          <p:cNvPr id="17" name="正方形/長方形 16">
            <a:extLst>
              <a:ext uri="{FF2B5EF4-FFF2-40B4-BE49-F238E27FC236}">
                <a16:creationId xmlns:a16="http://schemas.microsoft.com/office/drawing/2014/main" id="{24D1C472-525A-CFB1-3C6E-3053F2619881}"/>
              </a:ext>
            </a:extLst>
          </p:cNvPr>
          <p:cNvSpPr/>
          <p:nvPr/>
        </p:nvSpPr>
        <p:spPr>
          <a:xfrm>
            <a:off x="388225" y="3229075"/>
            <a:ext cx="2928107"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lIns="27432" rIns="27432"/>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lnSpc>
                <a:spcPct val="100000"/>
              </a:lnSpc>
            </a:pPr>
            <a:r>
              <a:rPr kumimoji="1" lang="en-US" altLang="ja-JP" sz="1100" dirty="0">
                <a:solidFill>
                  <a:schemeClr val="tx1">
                    <a:lumMod val="65000"/>
                    <a:lumOff val="35000"/>
                  </a:schemeClr>
                </a:solidFill>
                <a:latin typeface="メイリオ" panose="020B0604030504040204" pitchFamily="50" charset="-128"/>
                <a:ea typeface="メイリオ" panose="020B0604030504040204" pitchFamily="50" charset="-128"/>
              </a:rPr>
              <a:t>今の友だち（1,241人）</a:t>
            </a:r>
          </a:p>
          <a:p>
            <a:pPr algn="ctr">
              <a:lnSpc>
                <a:spcPct val="100000"/>
              </a:lnSpc>
            </a:pPr>
            <a:r>
              <a:rPr lang="ja-JP" altLang="en-US" sz="1100" dirty="0">
                <a:solidFill>
                  <a:schemeClr val="tx1">
                    <a:lumMod val="65000"/>
                    <a:lumOff val="35000"/>
                  </a:schemeClr>
                </a:solidFill>
                <a:latin typeface="メイリオ" panose="020B0604030504040204" pitchFamily="50" charset="-128"/>
                <a:ea typeface="メイリオ" panose="020B0604030504040204" pitchFamily="50" charset="-128"/>
              </a:rPr>
              <a:t>新しい友だち</a:t>
            </a:r>
            <a:endParaRPr kumimoji="1" lang="ja-JP" altLang="en-US" sz="11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18" name="正方形/長方形 17">
            <a:extLst>
              <a:ext uri="{FF2B5EF4-FFF2-40B4-BE49-F238E27FC236}">
                <a16:creationId xmlns:a16="http://schemas.microsoft.com/office/drawing/2014/main" id="{CBD188BB-0EA8-4510-DCA0-2AEE1B7CD5EB}"/>
              </a:ext>
            </a:extLst>
          </p:cNvPr>
          <p:cNvSpPr/>
          <p:nvPr/>
        </p:nvSpPr>
        <p:spPr>
          <a:xfrm>
            <a:off x="1890454" y="3965357"/>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lIns="27432" rIns="27432"/>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lnSpc>
                <a:spcPct val="100000"/>
              </a:lnSpc>
            </a:pPr>
            <a:r>
              <a:rPr kumimoji="1" lang="ja-JP" altLang="en-US" sz="1100" dirty="0">
                <a:solidFill>
                  <a:schemeClr val="tx1">
                    <a:lumMod val="65000"/>
                    <a:lumOff val="35000"/>
                  </a:schemeClr>
                </a:solidFill>
                <a:latin typeface="メイリオ" panose="020B0604030504040204" pitchFamily="50" charset="-128"/>
                <a:ea typeface="メイリオ" panose="020B0604030504040204" pitchFamily="50" charset="-128"/>
              </a:rPr>
              <a:t>個別チャット</a:t>
            </a:r>
          </a:p>
        </p:txBody>
      </p:sp>
      <p:sp>
        <p:nvSpPr>
          <p:cNvPr id="19" name="正方形/長方形 18">
            <a:extLst>
              <a:ext uri="{FF2B5EF4-FFF2-40B4-BE49-F238E27FC236}">
                <a16:creationId xmlns:a16="http://schemas.microsoft.com/office/drawing/2014/main" id="{29E6B5C9-2FD2-FC57-1789-05FA5F38E1F7}"/>
              </a:ext>
            </a:extLst>
          </p:cNvPr>
          <p:cNvSpPr/>
          <p:nvPr/>
        </p:nvSpPr>
        <p:spPr>
          <a:xfrm>
            <a:off x="388225" y="3965357"/>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lIns="27432" rIns="27432"/>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lnSpc>
                <a:spcPct val="100000"/>
              </a:lnSpc>
            </a:pPr>
            <a:r>
              <a:rPr kumimoji="1" lang="en-US" altLang="ja-JP" sz="1100" dirty="0">
                <a:solidFill>
                  <a:schemeClr val="tx1">
                    <a:lumMod val="65000"/>
                    <a:lumOff val="35000"/>
                  </a:schemeClr>
                </a:solidFill>
                <a:latin typeface="メイリオ" panose="020B0604030504040204" pitchFamily="50" charset="-128"/>
                <a:ea typeface="メイリオ" panose="020B0604030504040204" pitchFamily="50" charset="-128"/>
              </a:rPr>
              <a:t>問い合わせた方</a:t>
            </a:r>
          </a:p>
        </p:txBody>
      </p:sp>
      <p:sp>
        <p:nvSpPr>
          <p:cNvPr id="20" name="正方形/長方形 19">
            <a:extLst>
              <a:ext uri="{FF2B5EF4-FFF2-40B4-BE49-F238E27FC236}">
                <a16:creationId xmlns:a16="http://schemas.microsoft.com/office/drawing/2014/main" id="{533AD0C0-7276-FA17-9FD7-734635201CB2}"/>
              </a:ext>
            </a:extLst>
          </p:cNvPr>
          <p:cNvSpPr/>
          <p:nvPr/>
        </p:nvSpPr>
        <p:spPr>
          <a:xfrm>
            <a:off x="3392682" y="3229075"/>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21" name="正方形/長方形 20">
            <a:extLst>
              <a:ext uri="{FF2B5EF4-FFF2-40B4-BE49-F238E27FC236}">
                <a16:creationId xmlns:a16="http://schemas.microsoft.com/office/drawing/2014/main" id="{415D5861-B108-7E0A-3377-5601EF82149A}"/>
              </a:ext>
            </a:extLst>
          </p:cNvPr>
          <p:cNvSpPr/>
          <p:nvPr/>
        </p:nvSpPr>
        <p:spPr>
          <a:xfrm>
            <a:off x="3392682" y="3965359"/>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22" name="矢印: 右 21">
            <a:extLst>
              <a:ext uri="{FF2B5EF4-FFF2-40B4-BE49-F238E27FC236}">
                <a16:creationId xmlns:a16="http://schemas.microsoft.com/office/drawing/2014/main" id="{94AAFD78-CFCD-8AAC-C5DE-8F785D90C401}"/>
              </a:ext>
            </a:extLst>
          </p:cNvPr>
          <p:cNvSpPr/>
          <p:nvPr/>
        </p:nvSpPr>
        <p:spPr>
          <a:xfrm>
            <a:off x="1031359" y="4568440"/>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a:p>
        </p:txBody>
      </p:sp>
      <p:sp>
        <p:nvSpPr>
          <p:cNvPr id="23" name="矢印: 右 22">
            <a:extLst>
              <a:ext uri="{FF2B5EF4-FFF2-40B4-BE49-F238E27FC236}">
                <a16:creationId xmlns:a16="http://schemas.microsoft.com/office/drawing/2014/main" id="{4D8298BD-6809-4C50-E889-0C5F779DE209}"/>
              </a:ext>
            </a:extLst>
          </p:cNvPr>
          <p:cNvSpPr/>
          <p:nvPr/>
        </p:nvSpPr>
        <p:spPr>
          <a:xfrm>
            <a:off x="1031359" y="5800080"/>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a:p>
        </p:txBody>
      </p:sp>
      <p:sp>
        <p:nvSpPr>
          <p:cNvPr id="24" name="矢印: 右 23">
            <a:extLst>
              <a:ext uri="{FF2B5EF4-FFF2-40B4-BE49-F238E27FC236}">
                <a16:creationId xmlns:a16="http://schemas.microsoft.com/office/drawing/2014/main" id="{01F0D3B8-3119-304D-228E-ED46B6CAB67D}"/>
              </a:ext>
            </a:extLst>
          </p:cNvPr>
          <p:cNvSpPr/>
          <p:nvPr/>
        </p:nvSpPr>
        <p:spPr>
          <a:xfrm>
            <a:off x="1031359" y="5189826"/>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a:p>
        </p:txBody>
      </p:sp>
      <p:sp>
        <p:nvSpPr>
          <p:cNvPr id="25" name="正方形/長方形 24">
            <a:extLst>
              <a:ext uri="{FF2B5EF4-FFF2-40B4-BE49-F238E27FC236}">
                <a16:creationId xmlns:a16="http://schemas.microsoft.com/office/drawing/2014/main" id="{9751A61D-8342-2E71-49E2-6F2A585210CF}"/>
              </a:ext>
            </a:extLst>
          </p:cNvPr>
          <p:cNvSpPr/>
          <p:nvPr/>
        </p:nvSpPr>
        <p:spPr>
          <a:xfrm>
            <a:off x="1890454" y="4584003"/>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lIns="27432" rIns="27432"/>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lnSpc>
                <a:spcPct val="100000"/>
              </a:lnSpc>
            </a:pPr>
            <a:r>
              <a:rPr kumimoji="1" lang="ja-JP" altLang="en-US" sz="1100" dirty="0">
                <a:solidFill>
                  <a:schemeClr val="tx1">
                    <a:lumMod val="65000"/>
                    <a:lumOff val="35000"/>
                  </a:schemeClr>
                </a:solidFill>
                <a:latin typeface="メイリオ" panose="020B0604030504040204" pitchFamily="50" charset="-128"/>
                <a:ea typeface="メイリオ" panose="020B0604030504040204" pitchFamily="50" charset="-128"/>
              </a:rPr>
              <a:t>自動応答</a:t>
            </a:r>
          </a:p>
        </p:txBody>
      </p:sp>
      <p:sp>
        <p:nvSpPr>
          <p:cNvPr id="26" name="正方形/長方形 25">
            <a:extLst>
              <a:ext uri="{FF2B5EF4-FFF2-40B4-BE49-F238E27FC236}">
                <a16:creationId xmlns:a16="http://schemas.microsoft.com/office/drawing/2014/main" id="{069B86FC-7AC9-2579-6747-94409852E6A9}"/>
              </a:ext>
            </a:extLst>
          </p:cNvPr>
          <p:cNvSpPr/>
          <p:nvPr/>
        </p:nvSpPr>
        <p:spPr>
          <a:xfrm>
            <a:off x="388225" y="4584003"/>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lIns="27432" rIns="27432"/>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lnSpc>
                <a:spcPct val="100000"/>
              </a:lnSpc>
            </a:pPr>
            <a:r>
              <a:rPr kumimoji="1" lang="en-US" altLang="ja-JP" sz="1100" dirty="0">
                <a:solidFill>
                  <a:schemeClr val="tx1">
                    <a:lumMod val="65000"/>
                    <a:lumOff val="35000"/>
                  </a:schemeClr>
                </a:solidFill>
                <a:latin typeface="メイリオ" panose="020B0604030504040204" pitchFamily="50" charset="-128"/>
                <a:ea typeface="メイリオ" panose="020B0604030504040204" pitchFamily="50" charset="-128"/>
              </a:rPr>
              <a:t>受付時間外の方</a:t>
            </a:r>
          </a:p>
        </p:txBody>
      </p:sp>
      <p:sp>
        <p:nvSpPr>
          <p:cNvPr id="27" name="正方形/長方形 26">
            <a:extLst>
              <a:ext uri="{FF2B5EF4-FFF2-40B4-BE49-F238E27FC236}">
                <a16:creationId xmlns:a16="http://schemas.microsoft.com/office/drawing/2014/main" id="{259BCB38-DAF2-BC8F-7410-9383C33A3F86}"/>
              </a:ext>
            </a:extLst>
          </p:cNvPr>
          <p:cNvSpPr/>
          <p:nvPr/>
        </p:nvSpPr>
        <p:spPr>
          <a:xfrm>
            <a:off x="388225" y="5202649"/>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lIns="27432" rIns="27432"/>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lnSpc>
                <a:spcPct val="100000"/>
              </a:lnSpc>
            </a:pPr>
            <a:r>
              <a:rPr kumimoji="1" lang="ja-JP" altLang="en-US" sz="1100" dirty="0">
                <a:solidFill>
                  <a:schemeClr val="tx1">
                    <a:lumMod val="65000"/>
                    <a:lumOff val="35000"/>
                  </a:schemeClr>
                </a:solidFill>
                <a:latin typeface="メイリオ" panose="020B0604030504040204" pitchFamily="50" charset="-128"/>
                <a:ea typeface="メイリオ" panose="020B0604030504040204" pitchFamily="50" charset="-128"/>
              </a:rPr>
              <a:t>迷っている方</a:t>
            </a:r>
          </a:p>
        </p:txBody>
      </p:sp>
      <p:sp>
        <p:nvSpPr>
          <p:cNvPr id="28" name="正方形/長方形 27">
            <a:extLst>
              <a:ext uri="{FF2B5EF4-FFF2-40B4-BE49-F238E27FC236}">
                <a16:creationId xmlns:a16="http://schemas.microsoft.com/office/drawing/2014/main" id="{1F924E3D-9CB9-CA80-4FF6-D62C50842AEB}"/>
              </a:ext>
            </a:extLst>
          </p:cNvPr>
          <p:cNvSpPr/>
          <p:nvPr/>
        </p:nvSpPr>
        <p:spPr>
          <a:xfrm>
            <a:off x="388225" y="5821295"/>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lIns="27432" rIns="27432"/>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lnSpc>
                <a:spcPct val="100000"/>
              </a:lnSpc>
            </a:pPr>
            <a:r>
              <a:rPr kumimoji="1" lang="ja-JP" altLang="en-US" sz="1100" dirty="0">
                <a:solidFill>
                  <a:schemeClr val="tx1">
                    <a:lumMod val="65000"/>
                    <a:lumOff val="35000"/>
                  </a:schemeClr>
                </a:solidFill>
                <a:latin typeface="メイリオ" panose="020B0604030504040204" pitchFamily="50" charset="-128"/>
                <a:ea typeface="メイリオ" panose="020B0604030504040204" pitchFamily="50" charset="-128"/>
              </a:rPr>
              <a:t>他社で内見済みの方</a:t>
            </a:r>
          </a:p>
        </p:txBody>
      </p:sp>
      <p:sp>
        <p:nvSpPr>
          <p:cNvPr id="29" name="正方形/長方形 28">
            <a:extLst>
              <a:ext uri="{FF2B5EF4-FFF2-40B4-BE49-F238E27FC236}">
                <a16:creationId xmlns:a16="http://schemas.microsoft.com/office/drawing/2014/main" id="{048444BF-0B54-4CE2-78C3-B78C7FCD001B}"/>
              </a:ext>
            </a:extLst>
          </p:cNvPr>
          <p:cNvSpPr/>
          <p:nvPr/>
        </p:nvSpPr>
        <p:spPr>
          <a:xfrm>
            <a:off x="1890453" y="5202649"/>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lIns="27432" rIns="27432"/>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lnSpc>
                <a:spcPct val="100000"/>
              </a:lnSpc>
            </a:pPr>
            <a:r>
              <a:rPr kumimoji="1" lang="ja-JP" altLang="en-US" sz="1100" dirty="0">
                <a:solidFill>
                  <a:schemeClr val="tx1">
                    <a:lumMod val="65000"/>
                    <a:lumOff val="35000"/>
                  </a:schemeClr>
                </a:solidFill>
                <a:latin typeface="メイリオ" panose="020B0604030504040204" pitchFamily="50" charset="-128"/>
                <a:ea typeface="メイリオ" panose="020B0604030504040204" pitchFamily="50" charset="-128"/>
              </a:rPr>
              <a:t>リッチメニュー</a:t>
            </a:r>
          </a:p>
        </p:txBody>
      </p:sp>
      <p:sp>
        <p:nvSpPr>
          <p:cNvPr id="30" name="正方形/長方形 29">
            <a:extLst>
              <a:ext uri="{FF2B5EF4-FFF2-40B4-BE49-F238E27FC236}">
                <a16:creationId xmlns:a16="http://schemas.microsoft.com/office/drawing/2014/main" id="{AD971EAE-829E-07E1-B15C-D7B9C5538B0F}"/>
              </a:ext>
            </a:extLst>
          </p:cNvPr>
          <p:cNvSpPr/>
          <p:nvPr/>
        </p:nvSpPr>
        <p:spPr>
          <a:xfrm>
            <a:off x="1890453" y="5821295"/>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lIns="27432" rIns="27432"/>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lnSpc>
                <a:spcPct val="100000"/>
              </a:lnSpc>
            </a:pPr>
            <a:r>
              <a:rPr kumimoji="1" lang="ja-JP" altLang="en-US" sz="1100" dirty="0">
                <a:solidFill>
                  <a:schemeClr val="tx1">
                    <a:lumMod val="65000"/>
                    <a:lumOff val="35000"/>
                  </a:schemeClr>
                </a:solidFill>
                <a:latin typeface="メイリオ" panose="020B0604030504040204" pitchFamily="50" charset="-128"/>
                <a:ea typeface="メイリオ" panose="020B0604030504040204" pitchFamily="50" charset="-128"/>
              </a:rPr>
              <a:t>企画配信</a:t>
            </a:r>
            <a:endParaRPr kumimoji="1" lang="en-US" altLang="ja-JP" sz="11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31" name="正方形/長方形 30">
            <a:extLst>
              <a:ext uri="{FF2B5EF4-FFF2-40B4-BE49-F238E27FC236}">
                <a16:creationId xmlns:a16="http://schemas.microsoft.com/office/drawing/2014/main" id="{1D0E3A14-A5E0-6277-4C0A-37271CE6D04A}"/>
              </a:ext>
            </a:extLst>
          </p:cNvPr>
          <p:cNvSpPr/>
          <p:nvPr/>
        </p:nvSpPr>
        <p:spPr>
          <a:xfrm>
            <a:off x="3392682" y="4584005"/>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32" name="正方形/長方形 31">
            <a:extLst>
              <a:ext uri="{FF2B5EF4-FFF2-40B4-BE49-F238E27FC236}">
                <a16:creationId xmlns:a16="http://schemas.microsoft.com/office/drawing/2014/main" id="{0F8EFC74-4358-EB59-16A6-D864C62AC931}"/>
              </a:ext>
            </a:extLst>
          </p:cNvPr>
          <p:cNvSpPr/>
          <p:nvPr/>
        </p:nvSpPr>
        <p:spPr>
          <a:xfrm>
            <a:off x="3392682" y="5202650"/>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33" name="正方形/長方形 32">
            <a:extLst>
              <a:ext uri="{FF2B5EF4-FFF2-40B4-BE49-F238E27FC236}">
                <a16:creationId xmlns:a16="http://schemas.microsoft.com/office/drawing/2014/main" id="{36006927-A8A5-7A4B-A04C-F5D0808A5304}"/>
              </a:ext>
            </a:extLst>
          </p:cNvPr>
          <p:cNvSpPr/>
          <p:nvPr/>
        </p:nvSpPr>
        <p:spPr>
          <a:xfrm>
            <a:off x="3392682" y="5810369"/>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34" name="Shape 17">
            <a:extLst>
              <a:ext uri="{FF2B5EF4-FFF2-40B4-BE49-F238E27FC236}">
                <a16:creationId xmlns:a16="http://schemas.microsoft.com/office/drawing/2014/main" id="{B77E1FF1-F589-36AA-D779-FABB807F9501}"/>
              </a:ext>
            </a:extLst>
          </p:cNvPr>
          <p:cNvSpPr/>
          <p:nvPr/>
        </p:nvSpPr>
        <p:spPr>
          <a:xfrm>
            <a:off x="3586732" y="2068120"/>
            <a:ext cx="1763487" cy="466492"/>
          </a:xfrm>
          <a:prstGeom prst="rect">
            <a:avLst/>
          </a:prstGeom>
          <a:solidFill>
            <a:srgbClr val="F2F2F2"/>
          </a:solidFill>
          <a:ln w="12700">
            <a:solidFill>
              <a:srgbClr val="CCCCCC"/>
            </a:solidFill>
            <a:prstDash val="solid"/>
          </a:ln>
        </p:spPr>
        <p:txBody>
          <a:bodyPr anchor="ctr" lIns="27432" tIns="27432" rIns="27432" bIns="27432"/>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00000"/>
              </a:lnSpc>
            </a:pPr>
            <a:r>
              <a:rPr lang="en-US" altLang="ja-JP" sz="1100" dirty="0" err="1">
                <a:solidFill>
                  <a:srgbClr val="595959"/>
                </a:solidFill>
                <a:latin typeface="メイリオ" panose="020B0604030504040204" pitchFamily="50" charset="-128"/>
                <a:ea typeface="メイリオ" panose="020B0604030504040204" pitchFamily="50" charset="-128"/>
                <a:cs typeface="Calibri" pitchFamily="34" charset="-120"/>
              </a:rPr>
              <a:t>あいさつ</a:t>
            </a:r>
            <a:endParaRPr lang="en-US" altLang="ja-JP" sz="1100" dirty="0">
              <a:solidFill>
                <a:schemeClr val="bg1">
                  <a:lumMod val="65000"/>
                </a:schemeClr>
              </a:solidFill>
              <a:latin typeface="メイリオ" panose="020B0604030504040204" pitchFamily="50" charset="-128"/>
              <a:ea typeface="メイリオ" panose="020B0604030504040204" pitchFamily="50" charset="-128"/>
            </a:endParaRPr>
          </a:p>
          <a:p>
            <a:pPr>
              <a:lnSpc>
                <a:spcPct val="100000"/>
              </a:lnSpc>
            </a:pPr>
            <a:r>
              <a:rPr lang="en-US" altLang="ja-JP" sz="1100" dirty="0" err="1">
                <a:solidFill>
                  <a:srgbClr val="595959"/>
                </a:solidFill>
                <a:latin typeface="メイリオ" panose="020B0604030504040204" pitchFamily="50" charset="-128"/>
                <a:ea typeface="メイリオ" panose="020B0604030504040204" pitchFamily="50" charset="-128"/>
                <a:cs typeface="Calibri" pitchFamily="34" charset="-120"/>
              </a:rPr>
              <a:t>物件の送り方を案内</a:t>
            </a:r>
            <a:endParaRPr lang="en-US" altLang="ja-JP" sz="1100" dirty="0">
              <a:solidFill>
                <a:schemeClr val="bg1">
                  <a:lumMod val="65000"/>
                </a:schemeClr>
              </a:solidFill>
              <a:latin typeface="メイリオ" panose="020B0604030504040204" pitchFamily="50" charset="-128"/>
              <a:ea typeface="メイリオ" panose="020B0604030504040204" pitchFamily="50" charset="-128"/>
            </a:endParaRPr>
          </a:p>
        </p:txBody>
      </p:sp>
      <p:sp>
        <p:nvSpPr>
          <p:cNvPr id="35" name="Shape 18">
            <a:extLst>
              <a:ext uri="{FF2B5EF4-FFF2-40B4-BE49-F238E27FC236}">
                <a16:creationId xmlns:a16="http://schemas.microsoft.com/office/drawing/2014/main" id="{CA0F439F-8568-5F59-980B-81BDBE16E656}"/>
              </a:ext>
            </a:extLst>
          </p:cNvPr>
          <p:cNvSpPr/>
          <p:nvPr/>
        </p:nvSpPr>
        <p:spPr>
          <a:xfrm>
            <a:off x="5635860" y="2068120"/>
            <a:ext cx="1763486" cy="466492"/>
          </a:xfrm>
          <a:prstGeom prst="rect">
            <a:avLst/>
          </a:prstGeom>
          <a:solidFill>
            <a:srgbClr val="F2F2F2"/>
          </a:solidFill>
          <a:ln w="12700">
            <a:solidFill>
              <a:srgbClr val="CCCCCC"/>
            </a:solidFill>
            <a:prstDash val="solid"/>
          </a:ln>
        </p:spPr>
        <p:txBody>
          <a:bodyPr anchor="ctr" lIns="27432" tIns="27432" rIns="27432" bIns="27432"/>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00000"/>
              </a:lnSpc>
            </a:pPr>
            <a:r>
              <a:rPr lang="en-US" altLang="ja-JP" sz="1100">
                <a:solidFill>
                  <a:srgbClr val="595959"/>
                </a:solidFill>
                <a:latin typeface="メイリオ" panose="020B0604030504040204" pitchFamily="50" charset="-128"/>
                <a:ea typeface="メイリオ" panose="020B0604030504040204" pitchFamily="50" charset="-128"/>
                <a:cs typeface="Calibri" pitchFamily="34" charset="-120"/>
              </a:rPr>
              <a:t>ステップ配信（全10通）</a:t>
            </a:r>
            <a:endParaRPr lang="en-US" altLang="ja-JP" sz="1100">
              <a:solidFill>
                <a:schemeClr val="bg1">
                  <a:lumMod val="65000"/>
                </a:schemeClr>
              </a:solidFill>
              <a:latin typeface="メイリオ" panose="020B0604030504040204" pitchFamily="50" charset="-128"/>
              <a:ea typeface="メイリオ" panose="020B0604030504040204" pitchFamily="50" charset="-128"/>
            </a:endParaRPr>
          </a:p>
          <a:p>
            <a:pPr>
              <a:lnSpc>
                <a:spcPct val="100000"/>
              </a:lnSpc>
            </a:pPr>
            <a:r>
              <a:rPr lang="en-US" altLang="ja-JP" sz="1100">
                <a:solidFill>
                  <a:srgbClr val="595959"/>
                </a:solidFill>
                <a:latin typeface="メイリオ" panose="020B0604030504040204" pitchFamily="50" charset="-128"/>
                <a:ea typeface="メイリオ" panose="020B0604030504040204" pitchFamily="50" charset="-128"/>
                <a:cs typeface="Calibri" pitchFamily="34" charset="-120"/>
              </a:rPr>
              <a:t>→ 物件URLの送信</a:t>
            </a:r>
            <a:endParaRPr lang="en-US" altLang="ja-JP" sz="1100" dirty="0">
              <a:solidFill>
                <a:schemeClr val="bg1">
                  <a:lumMod val="65000"/>
                </a:schemeClr>
              </a:solidFill>
              <a:latin typeface="メイリオ" panose="020B0604030504040204" pitchFamily="50" charset="-128"/>
              <a:ea typeface="メイリオ" panose="020B0604030504040204" pitchFamily="50" charset="-128"/>
            </a:endParaRPr>
          </a:p>
        </p:txBody>
      </p:sp>
      <p:cxnSp>
        <p:nvCxnSpPr>
          <p:cNvPr id="36" name="直線矢印コネクタ 35">
            <a:extLst>
              <a:ext uri="{FF2B5EF4-FFF2-40B4-BE49-F238E27FC236}">
                <a16:creationId xmlns:a16="http://schemas.microsoft.com/office/drawing/2014/main" id="{F1667E92-F492-3E12-307D-7E98E48B45D9}"/>
              </a:ext>
            </a:extLst>
          </p:cNvPr>
          <p:cNvCxnSpPr>
            <a:endCxn id="35" idx="1"/>
          </p:cNvCxnSpPr>
          <p:nvPr/>
        </p:nvCxnSpPr>
        <p:spPr>
          <a:xfrm>
            <a:off x="5367201" y="2292370"/>
            <a:ext cx="261258"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37" name="Shape 17">
            <a:extLst>
              <a:ext uri="{FF2B5EF4-FFF2-40B4-BE49-F238E27FC236}">
                <a16:creationId xmlns:a16="http://schemas.microsoft.com/office/drawing/2014/main" id="{9BCE046A-F0B6-BBFD-BFCA-03015B84F033}"/>
              </a:ext>
            </a:extLst>
          </p:cNvPr>
          <p:cNvSpPr/>
          <p:nvPr/>
        </p:nvSpPr>
        <p:spPr>
          <a:xfrm>
            <a:off x="3586732" y="2602307"/>
            <a:ext cx="1763487" cy="466492"/>
          </a:xfrm>
          <a:prstGeom prst="rect">
            <a:avLst/>
          </a:prstGeom>
          <a:solidFill>
            <a:srgbClr val="F2F2F2"/>
          </a:solidFill>
          <a:ln w="12700">
            <a:solidFill>
              <a:srgbClr val="CCCCCC"/>
            </a:solidFill>
            <a:prstDash val="solid"/>
          </a:ln>
        </p:spPr>
        <p:txBody>
          <a:bodyPr anchor="ctr" lIns="27432" tIns="27432" rIns="27432" bIns="27432"/>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00000"/>
              </a:lnSpc>
            </a:pPr>
            <a:r>
              <a:rPr lang="en-US" altLang="ja-JP" sz="1100" dirty="0">
                <a:solidFill>
                  <a:srgbClr val="595959"/>
                </a:solidFill>
                <a:latin typeface="メイリオ" panose="020B0604030504040204" pitchFamily="50" charset="-128"/>
                <a:ea typeface="メイリオ" panose="020B0604030504040204" pitchFamily="50" charset="-128"/>
                <a:cs typeface="Calibri" pitchFamily="34" charset="-120"/>
              </a:rPr>
              <a:t>キーワード応答</a:t>
            </a:r>
          </a:p>
          <a:p>
            <a:pPr>
              <a:lnSpc>
                <a:spcPct val="100000"/>
              </a:lnSpc>
            </a:pPr>
            <a:r>
              <a:rPr lang="ja-JP" altLang="en-US" sz="1100" dirty="0">
                <a:solidFill>
                  <a:srgbClr val="595959"/>
                </a:solidFill>
                <a:latin typeface="メイリオ" panose="020B0604030504040204" pitchFamily="50" charset="-128"/>
                <a:ea typeface="メイリオ" panose="020B0604030504040204" pitchFamily="50" charset="-128"/>
                <a:cs typeface="Calibri" pitchFamily="34" charset="-120"/>
              </a:rPr>
              <a:t>→ よくある質問に返信</a:t>
            </a:r>
          </a:p>
        </p:txBody>
      </p:sp>
      <p:sp>
        <p:nvSpPr>
          <p:cNvPr id="38" name="Shape 18">
            <a:extLst>
              <a:ext uri="{FF2B5EF4-FFF2-40B4-BE49-F238E27FC236}">
                <a16:creationId xmlns:a16="http://schemas.microsoft.com/office/drawing/2014/main" id="{14F2BF34-2AB8-9060-75EF-F5ADF9F01344}"/>
              </a:ext>
            </a:extLst>
          </p:cNvPr>
          <p:cNvSpPr/>
          <p:nvPr/>
        </p:nvSpPr>
        <p:spPr>
          <a:xfrm>
            <a:off x="5635860" y="2602307"/>
            <a:ext cx="1763486" cy="466492"/>
          </a:xfrm>
          <a:prstGeom prst="rect">
            <a:avLst/>
          </a:prstGeom>
          <a:solidFill>
            <a:srgbClr val="F2F2F2"/>
          </a:solidFill>
          <a:ln w="12700">
            <a:solidFill>
              <a:srgbClr val="CCCCCC"/>
            </a:solidFill>
            <a:prstDash val="solid"/>
          </a:ln>
        </p:spPr>
        <p:txBody>
          <a:bodyPr anchor="ctr" lIns="27432" tIns="27432" rIns="27432" bIns="27432"/>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00000"/>
              </a:lnSpc>
            </a:pPr>
            <a:r>
              <a:rPr lang="ja-JP" altLang="en-US" sz="1100" dirty="0">
                <a:solidFill>
                  <a:srgbClr val="595959"/>
                </a:solidFill>
                <a:latin typeface="メイリオ" panose="020B0604030504040204" pitchFamily="50" charset="-128"/>
                <a:ea typeface="メイリオ" panose="020B0604030504040204" pitchFamily="50" charset="-128"/>
                <a:cs typeface="Calibri" pitchFamily="34" charset="-120"/>
              </a:rPr>
              <a:t>個別チャット</a:t>
            </a:r>
          </a:p>
          <a:p>
            <a:pPr>
              <a:lnSpc>
                <a:spcPct val="100000"/>
              </a:lnSpc>
            </a:pPr>
            <a:r>
              <a:rPr lang="ja-JP" altLang="en-US" sz="1100" dirty="0">
                <a:solidFill>
                  <a:srgbClr val="595959"/>
                </a:solidFill>
                <a:latin typeface="メイリオ" panose="020B0604030504040204" pitchFamily="50" charset="-128"/>
                <a:ea typeface="メイリオ" panose="020B0604030504040204" pitchFamily="50" charset="-128"/>
                <a:cs typeface="Calibri" pitchFamily="34" charset="-120"/>
              </a:rPr>
              <a:t>→ 空室確認・内見の手配</a:t>
            </a:r>
          </a:p>
        </p:txBody>
      </p:sp>
      <p:cxnSp>
        <p:nvCxnSpPr>
          <p:cNvPr id="39" name="直線矢印コネクタ 38">
            <a:extLst>
              <a:ext uri="{FF2B5EF4-FFF2-40B4-BE49-F238E27FC236}">
                <a16:creationId xmlns:a16="http://schemas.microsoft.com/office/drawing/2014/main" id="{B31F7370-9528-F602-262C-2CE6C0CA7D95}"/>
              </a:ext>
            </a:extLst>
          </p:cNvPr>
          <p:cNvCxnSpPr>
            <a:cxnSpLocks/>
            <a:stCxn id="37" idx="3"/>
            <a:endCxn id="38" idx="1"/>
          </p:cNvCxnSpPr>
          <p:nvPr/>
        </p:nvCxnSpPr>
        <p:spPr>
          <a:xfrm>
            <a:off x="5350219" y="2835553"/>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40" name="テキスト ボックス 102">
            <a:extLst>
              <a:ext uri="{FF2B5EF4-FFF2-40B4-BE49-F238E27FC236}">
                <a16:creationId xmlns:a16="http://schemas.microsoft.com/office/drawing/2014/main" id="{CB5BD751-9EE2-F77E-B237-6EBEA67F4576}"/>
              </a:ext>
            </a:extLst>
          </p:cNvPr>
          <p:cNvSpPr txBox="1"/>
          <p:nvPr/>
        </p:nvSpPr>
        <p:spPr>
          <a:xfrm>
            <a:off x="7643602" y="1550861"/>
            <a:ext cx="1874173" cy="430887"/>
          </a:xfrm>
          <a:prstGeom prst="rect">
            <a:avLst/>
          </a:prstGeom>
          <a:no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kumimoji="1" lang="en-US" altLang="ja-JP" sz="1200" b="1" dirty="0">
                <a:solidFill>
                  <a:srgbClr val="FF0000"/>
                </a:solidFill>
                <a:latin typeface="メイリオ" panose="020B0604030504040204" pitchFamily="50" charset="-128"/>
                <a:ea typeface="メイリオ" panose="020B0604030504040204" pitchFamily="50" charset="-128"/>
              </a:rPr>
              <a:t>問い合わせ率</a:t>
            </a:r>
          </a:p>
          <a:p>
            <a:pPr algn="ctr"/>
            <a:r>
              <a:rPr lang="en-US" altLang="ja-JP" sz="1200" dirty="0">
                <a:solidFill>
                  <a:srgbClr val="FF0000"/>
                </a:solidFill>
                <a:latin typeface="メイリオ" panose="020B0604030504040204" pitchFamily="50" charset="-128"/>
                <a:ea typeface="メイリオ" panose="020B0604030504040204" pitchFamily="50" charset="-128"/>
              </a:rPr>
              <a:t>※試算の想定</a:t>
            </a:r>
            <a:endParaRPr kumimoji="1" lang="ja-JP" altLang="en-US" sz="1200" dirty="0">
              <a:solidFill>
                <a:srgbClr val="FF0000"/>
              </a:solidFill>
              <a:latin typeface="メイリオ" panose="020B0604030504040204" pitchFamily="50" charset="-128"/>
              <a:ea typeface="メイリオ" panose="020B0604030504040204" pitchFamily="50" charset="-128"/>
            </a:endParaRPr>
          </a:p>
        </p:txBody>
      </p:sp>
      <p:sp>
        <p:nvSpPr>
          <p:cNvPr id="41" name="テキスト ボックス 104">
            <a:extLst>
              <a:ext uri="{FF2B5EF4-FFF2-40B4-BE49-F238E27FC236}">
                <a16:creationId xmlns:a16="http://schemas.microsoft.com/office/drawing/2014/main" id="{55562E1F-54CF-8256-1530-F264D924D0C4}"/>
              </a:ext>
            </a:extLst>
          </p:cNvPr>
          <p:cNvSpPr txBox="1"/>
          <p:nvPr/>
        </p:nvSpPr>
        <p:spPr>
          <a:xfrm>
            <a:off x="7498079" y="2247241"/>
            <a:ext cx="1783080" cy="523220"/>
          </a:xfrm>
          <a:prstGeom prst="rect">
            <a:avLst/>
          </a:prstGeom>
          <a:noFill/>
        </p:spPr>
        <p:txBody>
          <a:bodyPr wrap="square" lIns="0" rIns="0">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r>
              <a:rPr kumimoji="1" lang="ja-JP" altLang="en-US" sz="2000" b="1" dirty="0">
                <a:solidFill>
                  <a:srgbClr val="FF0000"/>
                </a:solidFill>
                <a:latin typeface="メイリオ" panose="020B0604030504040204" pitchFamily="50" charset="-128"/>
                <a:ea typeface="メイリオ" panose="020B0604030504040204" pitchFamily="50" charset="-128"/>
              </a:rPr>
              <a:t>22→57</a:t>
            </a:r>
            <a:r>
              <a:rPr kumimoji="1" lang="ja-JP" altLang="en-US" sz="1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a:p>
            <a:pPr algn="r"/>
            <a:r>
              <a:rPr kumimoji="1" lang="ja-JP" altLang="en-US" sz="1100" b="0" dirty="0">
                <a:solidFill>
                  <a:srgbClr val="FF0000"/>
                </a:solidFill>
                <a:latin typeface="メイリオ" panose="020B0604030504040204" pitchFamily="50" charset="-128"/>
                <a:ea typeface="メイリオ" panose="020B0604030504040204" pitchFamily="50" charset="-128"/>
              </a:rPr>
              <a:t>友だち追加直後に</a:t>
            </a:r>
            <a:endParaRPr lang="ja-JP" altLang="en-US" sz="1100" dirty="0">
              <a:solidFill>
                <a:srgbClr val="FF0000"/>
              </a:solidFill>
            </a:endParaRPr>
          </a:p>
          <a:p>
            <a:pPr algn="r"/>
            <a:r>
              <a:rPr kumimoji="1" lang="ja-JP" altLang="en-US" sz="1100" b="0" dirty="0">
                <a:solidFill>
                  <a:srgbClr val="FF0000"/>
                </a:solidFill>
                <a:latin typeface="メイリオ" panose="020B0604030504040204" pitchFamily="50" charset="-128"/>
                <a:ea typeface="メイリオ" panose="020B0604030504040204" pitchFamily="50" charset="-128"/>
              </a:rPr>
              <a:t>物件を送る方（仮）</a:t>
            </a:r>
            <a:endParaRPr lang="ja-JP" altLang="en-US" sz="1100" dirty="0">
              <a:solidFill>
                <a:srgbClr val="FF0000"/>
              </a:solidFill>
            </a:endParaRPr>
          </a:p>
        </p:txBody>
      </p:sp>
      <p:sp>
        <p:nvSpPr>
          <p:cNvPr id="42" name="テキスト ボックス 106">
            <a:extLst>
              <a:ext uri="{FF2B5EF4-FFF2-40B4-BE49-F238E27FC236}">
                <a16:creationId xmlns:a16="http://schemas.microsoft.com/office/drawing/2014/main" id="{0D6F6472-C1C9-8DD7-5969-2F70988996B7}"/>
              </a:ext>
            </a:extLst>
          </p:cNvPr>
          <p:cNvSpPr txBox="1"/>
          <p:nvPr/>
        </p:nvSpPr>
        <p:spPr>
          <a:xfrm>
            <a:off x="7498079" y="3192162"/>
            <a:ext cx="1783080" cy="523220"/>
          </a:xfrm>
          <a:prstGeom prst="rect">
            <a:avLst/>
          </a:prstGeom>
          <a:noFill/>
        </p:spPr>
        <p:txBody>
          <a:bodyPr wrap="square" lIns="0" rIns="0">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r>
              <a:rPr kumimoji="1" lang="en-US" altLang="ja-JP" sz="2000" b="1" dirty="0">
                <a:solidFill>
                  <a:srgbClr val="FF0000"/>
                </a:solidFill>
                <a:latin typeface="メイリオ" panose="020B0604030504040204" pitchFamily="50" charset="-128"/>
                <a:ea typeface="メイリオ" panose="020B0604030504040204" pitchFamily="50" charset="-128"/>
              </a:rPr>
              <a:t>0.3→2.0</a:t>
            </a:r>
            <a:r>
              <a:rPr kumimoji="1" lang="en-US" altLang="ja-JP" sz="1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a:p>
            <a:pPr algn="r"/>
            <a:r>
              <a:rPr kumimoji="1" lang="en-US" altLang="ja-JP" sz="1100" b="0" dirty="0">
                <a:solidFill>
                  <a:srgbClr val="FF0000"/>
                </a:solidFill>
                <a:latin typeface="メイリオ" panose="020B0604030504040204" pitchFamily="50" charset="-128"/>
                <a:ea typeface="メイリオ" panose="020B0604030504040204" pitchFamily="50" charset="-128"/>
              </a:rPr>
              <a:t>配信クリックからの</a:t>
            </a:r>
            <a:endParaRPr lang="ja-JP" altLang="en-US" sz="1100" dirty="0">
              <a:solidFill>
                <a:srgbClr val="FF0000"/>
              </a:solidFill>
            </a:endParaRPr>
          </a:p>
          <a:p>
            <a:pPr algn="r"/>
            <a:r>
              <a:rPr kumimoji="1" lang="en-US" altLang="ja-JP" sz="1100" b="0" dirty="0">
                <a:solidFill>
                  <a:srgbClr val="FF0000"/>
                </a:solidFill>
                <a:latin typeface="メイリオ" panose="020B0604030504040204" pitchFamily="50" charset="-128"/>
                <a:ea typeface="メイリオ" panose="020B0604030504040204" pitchFamily="50" charset="-128"/>
              </a:rPr>
              <a:t>問い合わせ（CVR）</a:t>
            </a:r>
            <a:endParaRPr lang="ja-JP" altLang="en-US" sz="1100" dirty="0">
              <a:solidFill>
                <a:srgbClr val="FF0000"/>
              </a:solidFill>
            </a:endParaRPr>
          </a:p>
        </p:txBody>
      </p:sp>
      <p:sp>
        <p:nvSpPr>
          <p:cNvPr id="43" name="テキスト ボックス 108">
            <a:extLst>
              <a:ext uri="{FF2B5EF4-FFF2-40B4-BE49-F238E27FC236}">
                <a16:creationId xmlns:a16="http://schemas.microsoft.com/office/drawing/2014/main" id="{3EBEB224-105E-FCC6-752F-0DC0ACDDFEFC}"/>
              </a:ext>
            </a:extLst>
          </p:cNvPr>
          <p:cNvSpPr txBox="1"/>
          <p:nvPr/>
        </p:nvSpPr>
        <p:spPr>
          <a:xfrm>
            <a:off x="7795459" y="3952829"/>
            <a:ext cx="1361106" cy="523220"/>
          </a:xfrm>
          <a:prstGeom prst="rect">
            <a:avLst/>
          </a:prstGeom>
          <a:no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r>
              <a:rPr kumimoji="1" lang="en-US" altLang="ja-JP"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44" name="テキスト ボックス 110">
            <a:extLst>
              <a:ext uri="{FF2B5EF4-FFF2-40B4-BE49-F238E27FC236}">
                <a16:creationId xmlns:a16="http://schemas.microsoft.com/office/drawing/2014/main" id="{F26B0A2E-9DBA-FEE5-637F-02A225C02C23}"/>
              </a:ext>
            </a:extLst>
          </p:cNvPr>
          <p:cNvSpPr txBox="1"/>
          <p:nvPr/>
        </p:nvSpPr>
        <p:spPr>
          <a:xfrm>
            <a:off x="7781455" y="4592965"/>
            <a:ext cx="1361106" cy="523220"/>
          </a:xfrm>
          <a:prstGeom prst="rect">
            <a:avLst/>
          </a:prstGeom>
          <a:no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r>
              <a:rPr kumimoji="1" lang="en-US" altLang="ja-JP"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46" name="テキスト ボックス 112">
            <a:extLst>
              <a:ext uri="{FF2B5EF4-FFF2-40B4-BE49-F238E27FC236}">
                <a16:creationId xmlns:a16="http://schemas.microsoft.com/office/drawing/2014/main" id="{0C0FA132-24D2-97C7-D00F-5A970556EB00}"/>
              </a:ext>
            </a:extLst>
          </p:cNvPr>
          <p:cNvSpPr txBox="1"/>
          <p:nvPr/>
        </p:nvSpPr>
        <p:spPr>
          <a:xfrm>
            <a:off x="7781455" y="5217138"/>
            <a:ext cx="1361106" cy="523220"/>
          </a:xfrm>
          <a:prstGeom prst="rect">
            <a:avLst/>
          </a:prstGeom>
          <a:no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r>
              <a:rPr kumimoji="1" lang="en-US" altLang="ja-JP"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47" name="テキスト ボックス 114">
            <a:extLst>
              <a:ext uri="{FF2B5EF4-FFF2-40B4-BE49-F238E27FC236}">
                <a16:creationId xmlns:a16="http://schemas.microsoft.com/office/drawing/2014/main" id="{FD400E85-93A8-6ADB-337D-4AC8973CAF45}"/>
              </a:ext>
            </a:extLst>
          </p:cNvPr>
          <p:cNvSpPr txBox="1"/>
          <p:nvPr/>
        </p:nvSpPr>
        <p:spPr>
          <a:xfrm>
            <a:off x="7781455" y="5822973"/>
            <a:ext cx="1361106" cy="523220"/>
          </a:xfrm>
          <a:prstGeom prst="rect">
            <a:avLst/>
          </a:prstGeom>
          <a:no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r>
              <a:rPr kumimoji="1" lang="en-US" altLang="ja-JP"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48" name="Shape 17">
            <a:extLst>
              <a:ext uri="{FF2B5EF4-FFF2-40B4-BE49-F238E27FC236}">
                <a16:creationId xmlns:a16="http://schemas.microsoft.com/office/drawing/2014/main" id="{1CA555AB-71AF-EB14-1D64-C35A07A084CC}"/>
              </a:ext>
            </a:extLst>
          </p:cNvPr>
          <p:cNvSpPr/>
          <p:nvPr/>
        </p:nvSpPr>
        <p:spPr>
          <a:xfrm>
            <a:off x="3586732" y="3279991"/>
            <a:ext cx="1763487" cy="466492"/>
          </a:xfrm>
          <a:prstGeom prst="rect">
            <a:avLst/>
          </a:prstGeom>
          <a:solidFill>
            <a:srgbClr val="F2F2F2"/>
          </a:solidFill>
          <a:ln w="12700">
            <a:solidFill>
              <a:srgbClr val="CCCCCC"/>
            </a:solidFill>
            <a:prstDash val="solid"/>
          </a:ln>
        </p:spPr>
        <p:txBody>
          <a:bodyPr anchor="ctr" lIns="27432" tIns="27432" rIns="27432" bIns="27432"/>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00000"/>
              </a:lnSpc>
            </a:pPr>
            <a:r>
              <a:rPr lang="ja-JP" altLang="en-US" sz="1100" dirty="0">
                <a:solidFill>
                  <a:srgbClr val="595959"/>
                </a:solidFill>
                <a:latin typeface="メイリオ" panose="020B0604030504040204" pitchFamily="50" charset="-128"/>
                <a:ea typeface="メイリオ" panose="020B0604030504040204" pitchFamily="50" charset="-128"/>
                <a:cs typeface="Calibri" pitchFamily="34" charset="-120"/>
              </a:rPr>
              <a:t>企画配信（月4本）</a:t>
            </a:r>
          </a:p>
          <a:p>
            <a:pPr>
              <a:lnSpc>
                <a:spcPct val="100000"/>
              </a:lnSpc>
            </a:pPr>
            <a:r>
              <a:rPr lang="ja-JP" altLang="en-US" sz="1100" dirty="0">
                <a:solidFill>
                  <a:srgbClr val="595959"/>
                </a:solidFill>
                <a:latin typeface="メイリオ" panose="020B0604030504040204" pitchFamily="50" charset="-128"/>
                <a:ea typeface="メイリオ" panose="020B0604030504040204" pitchFamily="50" charset="-128"/>
                <a:cs typeface="Calibri" pitchFamily="34" charset="-120"/>
              </a:rPr>
              <a:t>→ 送り方・費用など</a:t>
            </a:r>
          </a:p>
        </p:txBody>
      </p:sp>
      <p:sp>
        <p:nvSpPr>
          <p:cNvPr id="49" name="Shape 18">
            <a:extLst>
              <a:ext uri="{FF2B5EF4-FFF2-40B4-BE49-F238E27FC236}">
                <a16:creationId xmlns:a16="http://schemas.microsoft.com/office/drawing/2014/main" id="{019053B5-0AD3-160E-B42A-8528F025A84E}"/>
              </a:ext>
            </a:extLst>
          </p:cNvPr>
          <p:cNvSpPr/>
          <p:nvPr/>
        </p:nvSpPr>
        <p:spPr>
          <a:xfrm>
            <a:off x="5635860" y="3279991"/>
            <a:ext cx="1763486" cy="466492"/>
          </a:xfrm>
          <a:prstGeom prst="rect">
            <a:avLst/>
          </a:prstGeom>
          <a:solidFill>
            <a:srgbClr val="F2F2F2"/>
          </a:solidFill>
          <a:ln w="12700">
            <a:solidFill>
              <a:srgbClr val="CCCCCC"/>
            </a:solidFill>
            <a:prstDash val="solid"/>
          </a:ln>
        </p:spPr>
        <p:txBody>
          <a:bodyPr anchor="ctr" lIns="27432" tIns="27432" rIns="27432" bIns="27432"/>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00000"/>
              </a:lnSpc>
            </a:pPr>
            <a:r>
              <a:rPr lang="ja-JP" altLang="en-US" sz="1100" dirty="0">
                <a:solidFill>
                  <a:srgbClr val="595959"/>
                </a:solidFill>
                <a:latin typeface="メイリオ" panose="020B0604030504040204" pitchFamily="50" charset="-128"/>
                <a:ea typeface="メイリオ" panose="020B0604030504040204" pitchFamily="50" charset="-128"/>
                <a:cs typeface="Calibri" pitchFamily="34" charset="-120"/>
              </a:rPr>
              <a:t>リッチメニュー</a:t>
            </a:r>
          </a:p>
          <a:p>
            <a:pPr>
              <a:lnSpc>
                <a:spcPct val="100000"/>
              </a:lnSpc>
            </a:pPr>
            <a:r>
              <a:rPr lang="ja-JP" altLang="en-US" sz="1100" dirty="0">
                <a:solidFill>
                  <a:srgbClr val="595959"/>
                </a:solidFill>
                <a:latin typeface="メイリオ" panose="020B0604030504040204" pitchFamily="50" charset="-128"/>
                <a:ea typeface="メイリオ" panose="020B0604030504040204" pitchFamily="50" charset="-128"/>
                <a:cs typeface="Calibri" pitchFamily="34" charset="-120"/>
              </a:rPr>
              <a:t>→ 100円チェッカーなど</a:t>
            </a:r>
          </a:p>
        </p:txBody>
      </p:sp>
      <p:cxnSp>
        <p:nvCxnSpPr>
          <p:cNvPr id="50" name="直線矢印コネクタ 49">
            <a:extLst>
              <a:ext uri="{FF2B5EF4-FFF2-40B4-BE49-F238E27FC236}">
                <a16:creationId xmlns:a16="http://schemas.microsoft.com/office/drawing/2014/main" id="{48AC5144-1E7E-4082-003A-97A6D96D2994}"/>
              </a:ext>
            </a:extLst>
          </p:cNvPr>
          <p:cNvCxnSpPr>
            <a:cxnSpLocks/>
            <a:stCxn id="48" idx="3"/>
            <a:endCxn id="49" idx="1"/>
          </p:cNvCxnSpPr>
          <p:nvPr/>
        </p:nvCxnSpPr>
        <p:spPr>
          <a:xfrm>
            <a:off x="5350219" y="3513237"/>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51" name="Shape 17">
            <a:extLst>
              <a:ext uri="{FF2B5EF4-FFF2-40B4-BE49-F238E27FC236}">
                <a16:creationId xmlns:a16="http://schemas.microsoft.com/office/drawing/2014/main" id="{03AA9053-24E8-182C-23AA-4BEA28F1863B}"/>
              </a:ext>
            </a:extLst>
          </p:cNvPr>
          <p:cNvSpPr/>
          <p:nvPr/>
        </p:nvSpPr>
        <p:spPr>
          <a:xfrm>
            <a:off x="3586732" y="4020849"/>
            <a:ext cx="1763487" cy="466492"/>
          </a:xfrm>
          <a:prstGeom prst="rect">
            <a:avLst/>
          </a:prstGeom>
          <a:solidFill>
            <a:srgbClr val="F2F2F2"/>
          </a:solidFill>
          <a:ln w="12700">
            <a:solidFill>
              <a:srgbClr val="CCCCCC"/>
            </a:solidFill>
            <a:prstDash val="solid"/>
          </a:ln>
        </p:spPr>
        <p:txBody>
          <a:bodyPr anchor="ctr" lIns="27432" tIns="27432" rIns="27432" bIns="27432"/>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00000"/>
              </a:lnSpc>
            </a:pPr>
            <a:r>
              <a:rPr lang="ja-JP" altLang="en-US" sz="1100" dirty="0">
                <a:solidFill>
                  <a:srgbClr val="595959"/>
                </a:solidFill>
                <a:latin typeface="メイリオ" panose="020B0604030504040204" pitchFamily="50" charset="-128"/>
                <a:ea typeface="メイリオ" panose="020B0604030504040204" pitchFamily="50" charset="-128"/>
                <a:cs typeface="Calibri" pitchFamily="34" charset="-120"/>
              </a:rPr>
              <a:t>空室確認・内見の手配</a:t>
            </a:r>
          </a:p>
        </p:txBody>
      </p:sp>
      <p:sp>
        <p:nvSpPr>
          <p:cNvPr id="52" name="Shape 18">
            <a:extLst>
              <a:ext uri="{FF2B5EF4-FFF2-40B4-BE49-F238E27FC236}">
                <a16:creationId xmlns:a16="http://schemas.microsoft.com/office/drawing/2014/main" id="{760C890D-1868-9325-4069-2354337B0399}"/>
              </a:ext>
            </a:extLst>
          </p:cNvPr>
          <p:cNvSpPr/>
          <p:nvPr/>
        </p:nvSpPr>
        <p:spPr>
          <a:xfrm>
            <a:off x="5635860" y="4020849"/>
            <a:ext cx="1763486" cy="466492"/>
          </a:xfrm>
          <a:prstGeom prst="rect">
            <a:avLst/>
          </a:prstGeom>
          <a:solidFill>
            <a:srgbClr val="F2F2F2"/>
          </a:solidFill>
          <a:ln w="12700">
            <a:solidFill>
              <a:srgbClr val="CCCCCC"/>
            </a:solidFill>
            <a:prstDash val="solid"/>
          </a:ln>
        </p:spPr>
        <p:txBody>
          <a:bodyPr anchor="ctr" lIns="27432" tIns="27432" rIns="27432" bIns="27432"/>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00000"/>
              </a:lnSpc>
            </a:pPr>
            <a:r>
              <a:rPr lang="ja-JP" altLang="en-US" sz="1100" dirty="0">
                <a:solidFill>
                  <a:srgbClr val="595959"/>
                </a:solidFill>
                <a:latin typeface="メイリオ" panose="020B0604030504040204" pitchFamily="50" charset="-128"/>
                <a:ea typeface="メイリオ" panose="020B0604030504040204" pitchFamily="50" charset="-128"/>
                <a:cs typeface="Calibri" pitchFamily="34" charset="-120"/>
              </a:rPr>
              <a:t>お申込み・ご契約の案内</a:t>
            </a:r>
          </a:p>
          <a:p>
            <a:pPr>
              <a:lnSpc>
                <a:spcPct val="100000"/>
              </a:lnSpc>
            </a:pPr>
            <a:r>
              <a:rPr lang="ja-JP" altLang="en-US" sz="1100" dirty="0">
                <a:solidFill>
                  <a:srgbClr val="595959"/>
                </a:solidFill>
                <a:latin typeface="メイリオ" panose="020B0604030504040204" pitchFamily="50" charset="-128"/>
                <a:ea typeface="メイリオ" panose="020B0604030504040204" pitchFamily="50" charset="-128"/>
                <a:cs typeface="Calibri" pitchFamily="34" charset="-120"/>
              </a:rPr>
              <a:t>（オンラインでも可）</a:t>
            </a:r>
          </a:p>
        </p:txBody>
      </p:sp>
      <p:cxnSp>
        <p:nvCxnSpPr>
          <p:cNvPr id="53" name="直線矢印コネクタ 52">
            <a:extLst>
              <a:ext uri="{FF2B5EF4-FFF2-40B4-BE49-F238E27FC236}">
                <a16:creationId xmlns:a16="http://schemas.microsoft.com/office/drawing/2014/main" id="{CE344BB3-FFA2-50D7-ADEA-7AA9C56BA1E2}"/>
              </a:ext>
            </a:extLst>
          </p:cNvPr>
          <p:cNvCxnSpPr>
            <a:cxnSpLocks/>
            <a:stCxn id="51" idx="3"/>
            <a:endCxn id="52" idx="1"/>
          </p:cNvCxnSpPr>
          <p:nvPr/>
        </p:nvCxnSpPr>
        <p:spPr>
          <a:xfrm>
            <a:off x="5350219" y="4254095"/>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54" name="Shape 17">
            <a:extLst>
              <a:ext uri="{FF2B5EF4-FFF2-40B4-BE49-F238E27FC236}">
                <a16:creationId xmlns:a16="http://schemas.microsoft.com/office/drawing/2014/main" id="{9439D4FC-6ABA-77F9-BCBC-39518FFF0A4B}"/>
              </a:ext>
            </a:extLst>
          </p:cNvPr>
          <p:cNvSpPr/>
          <p:nvPr/>
        </p:nvSpPr>
        <p:spPr>
          <a:xfrm>
            <a:off x="3586732" y="4627235"/>
            <a:ext cx="1763487" cy="466492"/>
          </a:xfrm>
          <a:prstGeom prst="rect">
            <a:avLst/>
          </a:prstGeom>
          <a:solidFill>
            <a:srgbClr val="F2F2F2"/>
          </a:solidFill>
          <a:ln w="12700">
            <a:solidFill>
              <a:srgbClr val="CCCCCC"/>
            </a:solidFill>
            <a:prstDash val="solid"/>
          </a:ln>
        </p:spPr>
        <p:txBody>
          <a:bodyPr anchor="ctr" lIns="27432" tIns="27432" rIns="27432" bIns="27432"/>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00000"/>
              </a:lnSpc>
            </a:pPr>
            <a:r>
              <a:rPr lang="ja-JP" altLang="en-US" sz="1100" dirty="0">
                <a:solidFill>
                  <a:srgbClr val="595959"/>
                </a:solidFill>
                <a:latin typeface="メイリオ" panose="020B0604030504040204" pitchFamily="50" charset="-128"/>
                <a:ea typeface="メイリオ" panose="020B0604030504040204" pitchFamily="50" charset="-128"/>
                <a:cs typeface="Calibri" pitchFamily="34" charset="-120"/>
              </a:rPr>
              <a:t>受付時間外は</a:t>
            </a:r>
          </a:p>
          <a:p>
            <a:pPr>
              <a:lnSpc>
                <a:spcPct val="100000"/>
              </a:lnSpc>
            </a:pPr>
            <a:r>
              <a:rPr lang="ja-JP" altLang="en-US" sz="1100" dirty="0">
                <a:solidFill>
                  <a:srgbClr val="595959"/>
                </a:solidFill>
                <a:latin typeface="メイリオ" panose="020B0604030504040204" pitchFamily="50" charset="-128"/>
                <a:ea typeface="メイリオ" panose="020B0604030504040204" pitchFamily="50" charset="-128"/>
                <a:cs typeface="Calibri" pitchFamily="34" charset="-120"/>
              </a:rPr>
              <a:t>受け付けた旨を自動で返信</a:t>
            </a:r>
          </a:p>
        </p:txBody>
      </p:sp>
      <p:sp>
        <p:nvSpPr>
          <p:cNvPr id="55" name="Shape 18">
            <a:extLst>
              <a:ext uri="{FF2B5EF4-FFF2-40B4-BE49-F238E27FC236}">
                <a16:creationId xmlns:a16="http://schemas.microsoft.com/office/drawing/2014/main" id="{E23B94EA-C025-B46E-3CFE-6F951848C924}"/>
              </a:ext>
            </a:extLst>
          </p:cNvPr>
          <p:cNvSpPr/>
          <p:nvPr/>
        </p:nvSpPr>
        <p:spPr>
          <a:xfrm>
            <a:off x="5635860" y="4627235"/>
            <a:ext cx="1763486" cy="466492"/>
          </a:xfrm>
          <a:prstGeom prst="rect">
            <a:avLst/>
          </a:prstGeom>
          <a:solidFill>
            <a:srgbClr val="F2F2F2"/>
          </a:solidFill>
          <a:ln w="12700">
            <a:solidFill>
              <a:srgbClr val="CCCCCC"/>
            </a:solidFill>
            <a:prstDash val="solid"/>
          </a:ln>
        </p:spPr>
        <p:txBody>
          <a:bodyPr anchor="ctr" lIns="27432" tIns="27432" rIns="27432" bIns="27432"/>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00000"/>
              </a:lnSpc>
            </a:pPr>
            <a:r>
              <a:rPr lang="ja-JP" altLang="en-US" sz="1100" dirty="0">
                <a:solidFill>
                  <a:srgbClr val="595959"/>
                </a:solidFill>
                <a:latin typeface="メイリオ" panose="020B0604030504040204" pitchFamily="50" charset="-128"/>
                <a:ea typeface="メイリオ" panose="020B0604030504040204" pitchFamily="50" charset="-128"/>
                <a:cs typeface="Calibri" pitchFamily="34" charset="-120"/>
              </a:rPr>
              <a:t>受付時間（11〜18時）</a:t>
            </a:r>
          </a:p>
          <a:p>
            <a:pPr>
              <a:lnSpc>
                <a:spcPct val="100000"/>
              </a:lnSpc>
            </a:pPr>
            <a:r>
              <a:rPr lang="ja-JP" altLang="en-US" sz="1100" dirty="0">
                <a:solidFill>
                  <a:srgbClr val="595959"/>
                </a:solidFill>
                <a:latin typeface="メイリオ" panose="020B0604030504040204" pitchFamily="50" charset="-128"/>
                <a:ea typeface="メイリオ" panose="020B0604030504040204" pitchFamily="50" charset="-128"/>
                <a:cs typeface="Calibri" pitchFamily="34" charset="-120"/>
              </a:rPr>
              <a:t>内に担当者が確認</a:t>
            </a:r>
          </a:p>
        </p:txBody>
      </p:sp>
      <p:cxnSp>
        <p:nvCxnSpPr>
          <p:cNvPr id="56" name="直線矢印コネクタ 55">
            <a:extLst>
              <a:ext uri="{FF2B5EF4-FFF2-40B4-BE49-F238E27FC236}">
                <a16:creationId xmlns:a16="http://schemas.microsoft.com/office/drawing/2014/main" id="{83F28A8E-5BD4-6CFE-A1AB-95F3F23ADFC2}"/>
              </a:ext>
            </a:extLst>
          </p:cNvPr>
          <p:cNvCxnSpPr>
            <a:cxnSpLocks/>
            <a:stCxn id="54" idx="3"/>
            <a:endCxn id="55" idx="1"/>
          </p:cNvCxnSpPr>
          <p:nvPr/>
        </p:nvCxnSpPr>
        <p:spPr>
          <a:xfrm>
            <a:off x="5350219" y="4860481"/>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57" name="Shape 17">
            <a:extLst>
              <a:ext uri="{FF2B5EF4-FFF2-40B4-BE49-F238E27FC236}">
                <a16:creationId xmlns:a16="http://schemas.microsoft.com/office/drawing/2014/main" id="{6D4CD712-1339-1DEA-1A5F-9F51874CCCB1}"/>
              </a:ext>
            </a:extLst>
          </p:cNvPr>
          <p:cNvSpPr/>
          <p:nvPr/>
        </p:nvSpPr>
        <p:spPr>
          <a:xfrm>
            <a:off x="3586732" y="5251006"/>
            <a:ext cx="1763487" cy="466492"/>
          </a:xfrm>
          <a:prstGeom prst="rect">
            <a:avLst/>
          </a:prstGeom>
          <a:solidFill>
            <a:srgbClr val="F2F2F2"/>
          </a:solidFill>
          <a:ln w="12700">
            <a:solidFill>
              <a:srgbClr val="CCCCCC"/>
            </a:solidFill>
            <a:prstDash val="solid"/>
          </a:ln>
        </p:spPr>
        <p:txBody>
          <a:bodyPr anchor="ctr" lIns="27432" tIns="27432" rIns="27432" bIns="27432"/>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00000"/>
              </a:lnSpc>
            </a:pPr>
            <a:r>
              <a:rPr lang="ja-JP" altLang="en-US" sz="1100" dirty="0">
                <a:solidFill>
                  <a:srgbClr val="595959"/>
                </a:solidFill>
                <a:latin typeface="メイリオ" panose="020B0604030504040204" pitchFamily="50" charset="-128"/>
                <a:ea typeface="メイリオ" panose="020B0604030504040204" pitchFamily="50" charset="-128"/>
                <a:cs typeface="Calibri" pitchFamily="34" charset="-120"/>
              </a:rPr>
              <a:t>100円チェッカー</a:t>
            </a:r>
          </a:p>
          <a:p>
            <a:pPr>
              <a:lnSpc>
                <a:spcPct val="100000"/>
              </a:lnSpc>
            </a:pPr>
            <a:r>
              <a:rPr lang="ja-JP" altLang="en-US" sz="1100" dirty="0">
                <a:solidFill>
                  <a:srgbClr val="595959"/>
                </a:solidFill>
                <a:latin typeface="メイリオ" panose="020B0604030504040204" pitchFamily="50" charset="-128"/>
                <a:ea typeface="メイリオ" panose="020B0604030504040204" pitchFamily="50" charset="-128"/>
                <a:cs typeface="Calibri" pitchFamily="34" charset="-120"/>
              </a:rPr>
              <a:t>（名前・電話番号は不要）</a:t>
            </a:r>
          </a:p>
        </p:txBody>
      </p:sp>
      <p:sp>
        <p:nvSpPr>
          <p:cNvPr id="58" name="Shape 18">
            <a:extLst>
              <a:ext uri="{FF2B5EF4-FFF2-40B4-BE49-F238E27FC236}">
                <a16:creationId xmlns:a16="http://schemas.microsoft.com/office/drawing/2014/main" id="{5F976E27-1C09-25DE-2664-7D927081F231}"/>
              </a:ext>
            </a:extLst>
          </p:cNvPr>
          <p:cNvSpPr/>
          <p:nvPr/>
        </p:nvSpPr>
        <p:spPr>
          <a:xfrm>
            <a:off x="5635860" y="5251006"/>
            <a:ext cx="1763486" cy="466492"/>
          </a:xfrm>
          <a:prstGeom prst="rect">
            <a:avLst/>
          </a:prstGeom>
          <a:solidFill>
            <a:srgbClr val="F2F2F2"/>
          </a:solidFill>
          <a:ln w="12700">
            <a:solidFill>
              <a:srgbClr val="CCCCCC"/>
            </a:solidFill>
            <a:prstDash val="solid"/>
          </a:ln>
        </p:spPr>
        <p:txBody>
          <a:bodyPr anchor="ctr" lIns="27432" tIns="27432" rIns="27432" bIns="27432"/>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00000"/>
              </a:lnSpc>
            </a:pPr>
            <a:r>
              <a:rPr lang="ja-JP" altLang="en-US" sz="1100" dirty="0">
                <a:solidFill>
                  <a:srgbClr val="595959"/>
                </a:solidFill>
                <a:latin typeface="メイリオ" panose="020B0604030504040204" pitchFamily="50" charset="-128"/>
                <a:ea typeface="メイリオ" panose="020B0604030504040204" pitchFamily="50" charset="-128"/>
                <a:cs typeface="Calibri" pitchFamily="34" charset="-120"/>
              </a:rPr>
              <a:t>→ 物件の送信</a:t>
            </a:r>
          </a:p>
        </p:txBody>
      </p:sp>
      <p:cxnSp>
        <p:nvCxnSpPr>
          <p:cNvPr id="59" name="直線矢印コネクタ 58">
            <a:extLst>
              <a:ext uri="{FF2B5EF4-FFF2-40B4-BE49-F238E27FC236}">
                <a16:creationId xmlns:a16="http://schemas.microsoft.com/office/drawing/2014/main" id="{82C1A774-7713-D5A5-03F8-DCE7AD58DB1B}"/>
              </a:ext>
            </a:extLst>
          </p:cNvPr>
          <p:cNvCxnSpPr>
            <a:cxnSpLocks/>
            <a:stCxn id="57" idx="3"/>
            <a:endCxn id="58" idx="1"/>
          </p:cNvCxnSpPr>
          <p:nvPr/>
        </p:nvCxnSpPr>
        <p:spPr>
          <a:xfrm>
            <a:off x="5350219" y="5484252"/>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60" name="Shape 17">
            <a:extLst>
              <a:ext uri="{FF2B5EF4-FFF2-40B4-BE49-F238E27FC236}">
                <a16:creationId xmlns:a16="http://schemas.microsoft.com/office/drawing/2014/main" id="{CC857E24-C3F9-53FF-5D44-B2CE0DE30602}"/>
              </a:ext>
            </a:extLst>
          </p:cNvPr>
          <p:cNvSpPr/>
          <p:nvPr/>
        </p:nvSpPr>
        <p:spPr>
          <a:xfrm>
            <a:off x="3586732" y="5859395"/>
            <a:ext cx="1763487" cy="466492"/>
          </a:xfrm>
          <a:prstGeom prst="rect">
            <a:avLst/>
          </a:prstGeom>
          <a:solidFill>
            <a:srgbClr val="F2F2F2"/>
          </a:solidFill>
          <a:ln w="12700">
            <a:solidFill>
              <a:srgbClr val="CCCCCC"/>
            </a:solidFill>
            <a:prstDash val="solid"/>
          </a:ln>
        </p:spPr>
        <p:txBody>
          <a:bodyPr anchor="ctr" lIns="27432" tIns="27432" rIns="27432" bIns="27432"/>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00000"/>
              </a:lnSpc>
            </a:pPr>
            <a:r>
              <a:rPr lang="en-US" altLang="ja-JP" sz="1100" dirty="0">
                <a:solidFill>
                  <a:srgbClr val="595959"/>
                </a:solidFill>
                <a:latin typeface="メイリオ" panose="020B0604030504040204" pitchFamily="50" charset="-128"/>
                <a:ea typeface="メイリオ" panose="020B0604030504040204" pitchFamily="50" charset="-128"/>
                <a:cs typeface="Calibri" pitchFamily="34" charset="-120"/>
              </a:rPr>
              <a:t>内見済みでも相談可</a:t>
            </a:r>
          </a:p>
          <a:p>
            <a:pPr>
              <a:lnSpc>
                <a:spcPct val="100000"/>
              </a:lnSpc>
            </a:pPr>
            <a:r>
              <a:rPr lang="ja-JP" altLang="en-US" sz="1100" dirty="0">
                <a:solidFill>
                  <a:srgbClr val="595959"/>
                </a:solidFill>
                <a:latin typeface="メイリオ" panose="020B0604030504040204" pitchFamily="50" charset="-128"/>
                <a:ea typeface="メイリオ" panose="020B0604030504040204" pitchFamily="50" charset="-128"/>
                <a:cs typeface="Calibri" pitchFamily="34" charset="-120"/>
              </a:rPr>
              <a:t>（お受けできない場合も）</a:t>
            </a:r>
          </a:p>
        </p:txBody>
      </p:sp>
      <p:sp>
        <p:nvSpPr>
          <p:cNvPr id="61" name="Shape 18">
            <a:extLst>
              <a:ext uri="{FF2B5EF4-FFF2-40B4-BE49-F238E27FC236}">
                <a16:creationId xmlns:a16="http://schemas.microsoft.com/office/drawing/2014/main" id="{496CBE75-90FF-44E1-05AA-F85C409960A4}"/>
              </a:ext>
            </a:extLst>
          </p:cNvPr>
          <p:cNvSpPr/>
          <p:nvPr/>
        </p:nvSpPr>
        <p:spPr>
          <a:xfrm>
            <a:off x="5635860" y="5859395"/>
            <a:ext cx="1763486" cy="466492"/>
          </a:xfrm>
          <a:prstGeom prst="rect">
            <a:avLst/>
          </a:prstGeom>
          <a:solidFill>
            <a:srgbClr val="F2F2F2"/>
          </a:solidFill>
          <a:ln w="12700">
            <a:solidFill>
              <a:srgbClr val="CCCCCC"/>
            </a:solidFill>
            <a:prstDash val="solid"/>
          </a:ln>
        </p:spPr>
        <p:txBody>
          <a:bodyPr anchor="ctr" lIns="27432" tIns="27432" rIns="27432" bIns="27432"/>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00000"/>
              </a:lnSpc>
            </a:pPr>
            <a:r>
              <a:rPr lang="en-US" altLang="ja-JP" sz="1100" dirty="0">
                <a:solidFill>
                  <a:srgbClr val="595959"/>
                </a:solidFill>
                <a:latin typeface="メイリオ" panose="020B0604030504040204" pitchFamily="50" charset="-128"/>
                <a:ea typeface="メイリオ" panose="020B0604030504040204" pitchFamily="50" charset="-128"/>
                <a:cs typeface="Calibri" pitchFamily="34" charset="-120"/>
              </a:rPr>
              <a:t>→ 物件の送信</a:t>
            </a:r>
          </a:p>
        </p:txBody>
      </p:sp>
      <p:cxnSp>
        <p:nvCxnSpPr>
          <p:cNvPr id="62" name="直線矢印コネクタ 61">
            <a:extLst>
              <a:ext uri="{FF2B5EF4-FFF2-40B4-BE49-F238E27FC236}">
                <a16:creationId xmlns:a16="http://schemas.microsoft.com/office/drawing/2014/main" id="{D05BCA3B-7E23-AB71-18F0-5A49C04E309D}"/>
              </a:ext>
            </a:extLst>
          </p:cNvPr>
          <p:cNvCxnSpPr>
            <a:cxnSpLocks/>
            <a:stCxn id="60" idx="3"/>
            <a:endCxn id="61" idx="1"/>
          </p:cNvCxnSpPr>
          <p:nvPr/>
        </p:nvCxnSpPr>
        <p:spPr>
          <a:xfrm>
            <a:off x="5350219" y="6092641"/>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68" name="テキスト ボックス 67">
            <a:extLst>
              <a:ext uri="{FF2B5EF4-FFF2-40B4-BE49-F238E27FC236}">
                <a16:creationId xmlns:a16="http://schemas.microsoft.com/office/drawing/2014/main" id="{C11D28DB-EF3F-3A24-C802-7CC621C247C9}"/>
              </a:ext>
            </a:extLst>
          </p:cNvPr>
          <p:cNvSpPr txBox="1"/>
          <p:nvPr/>
        </p:nvSpPr>
        <p:spPr>
          <a:xfrm>
            <a:off x="556089" y="603504"/>
            <a:ext cx="8793822" cy="731520"/>
          </a:xfrm>
          <a:prstGeom prst="rect">
            <a:avLst/>
          </a:prstGeom>
          <a:noFill/>
        </p:spPr>
        <p:txBody>
          <a:bodyPr wrap="square" anchor="ctr">
            <a:noAutofit/>
          </a:bodyPr>
          <a:lstStyle/>
          <a:p>
            <a:pPr algn="ctr"/>
            <a:r>
              <a:rPr lang="ja-JP" altLang="en-US" sz="1300" dirty="0">
                <a:solidFill>
                  <a:schemeClr val="tx1">
                    <a:lumMod val="65000"/>
                    <a:lumOff val="35000"/>
                  </a:schemeClr>
                </a:solidFill>
                <a:latin typeface="メイリオ" panose="020B0604030504040204" pitchFamily="50" charset="-128"/>
                <a:ea typeface="メイリオ" panose="020B0604030504040204" pitchFamily="50" charset="-128"/>
              </a:rPr>
              <a:t>新しい友だちには物件の送り方を、今の友だちには配信とリッチメニューで問い合わせのきっかけを届けます。</a:t>
            </a:r>
            <a:endParaRPr lang="en-US" altLang="ja-JP" sz="1300" dirty="0">
              <a:solidFill>
                <a:schemeClr val="tx1">
                  <a:lumMod val="65000"/>
                  <a:lumOff val="35000"/>
                </a:schemeClr>
              </a:solidFill>
              <a:latin typeface="メイリオ" panose="020B0604030504040204" pitchFamily="50" charset="-128"/>
              <a:ea typeface="メイリオ" panose="020B0604030504040204" pitchFamily="50" charset="-128"/>
            </a:endParaRPr>
          </a:p>
          <a:p>
            <a:pPr algn="ctr"/>
            <a:r>
              <a:rPr lang="ja-JP" altLang="en-US" sz="1300" b="1" dirty="0">
                <a:solidFill>
                  <a:schemeClr val="tx1">
                    <a:lumMod val="65000"/>
                    <a:lumOff val="35000"/>
                  </a:schemeClr>
                </a:solidFill>
                <a:latin typeface="メイリオ" panose="020B0604030504040204" pitchFamily="50" charset="-128"/>
                <a:ea typeface="メイリオ" panose="020B0604030504040204" pitchFamily="50" charset="-128"/>
              </a:rPr>
              <a:t>「どの物件が対象か」が分からないこと</a:t>
            </a:r>
            <a:r>
              <a:rPr lang="ja-JP" altLang="en-US" sz="1300" b="0" dirty="0">
                <a:solidFill>
                  <a:schemeClr val="tx1">
                    <a:lumMod val="65000"/>
                    <a:lumOff val="35000"/>
                  </a:schemeClr>
                </a:solidFill>
                <a:latin typeface="メイリオ" panose="020B0604030504040204" pitchFamily="50" charset="-128"/>
                <a:ea typeface="メイリオ" panose="020B0604030504040204" pitchFamily="50" charset="-128"/>
              </a:rPr>
              <a:t>がハードルになっていると考え、100円チェッカーを前面に出します。</a:t>
            </a:r>
            <a:endParaRPr lang="en-US" altLang="ja-JP" sz="1300" dirty="0">
              <a:solidFill>
                <a:schemeClr val="tx1">
                  <a:lumMod val="65000"/>
                  <a:lumOff val="35000"/>
                </a:schemeClr>
              </a:solidFill>
              <a:latin typeface="メイリオ" panose="020B0604030504040204" pitchFamily="50" charset="-128"/>
              <a:ea typeface="メイリオ" panose="020B0604030504040204" pitchFamily="50" charset="-128"/>
            </a:endParaRPr>
          </a:p>
          <a:p>
            <a:pPr algn="ctr"/>
            <a:r>
              <a:rPr lang="ja-JP" altLang="en-US" sz="1100" b="0" dirty="0">
                <a:solidFill>
                  <a:srgbClr val="595959"/>
                </a:solidFill>
                <a:latin typeface="メイリオ" panose="020B0604030504040204" pitchFamily="50" charset="-128"/>
                <a:ea typeface="メイリオ" panose="020B0604030504040204" pitchFamily="50" charset="-128"/>
              </a:rPr>
              <a:t>※試算の定義：物件を送る方の割合＝問い合わせ①÷新しい友だち／CVR＝問い合わせ②÷配信のクリック数</a:t>
            </a:r>
            <a:endParaRPr lang="en-US" altLang="ja-JP" sz="13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8753797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5A5A4-75AD-516A-9D25-18F8EF002C9C}"/>
            </a:ext>
          </a:extLst>
        </p:cNvPr>
        <p:cNvGrpSpPr/>
        <p:nvPr/>
      </p:nvGrpSpPr>
      <p:grpSpPr>
        <a:xfrm>
          <a:off x="0" y="0"/>
          <a:ext cx="0" cy="0"/>
          <a:chOff x="0" y="0"/>
          <a:chExt cx="0" cy="0"/>
        </a:xfrm>
      </p:grpSpPr>
      <p:sp>
        <p:nvSpPr>
          <p:cNvPr id="6" name="Google Shape;752;p28">
            <a:extLst>
              <a:ext uri="{FF2B5EF4-FFF2-40B4-BE49-F238E27FC236}">
                <a16:creationId xmlns:a16="http://schemas.microsoft.com/office/drawing/2014/main" id="{0308A94D-067F-5D10-BF02-6777DD32E821}"/>
              </a:ext>
            </a:extLst>
          </p:cNvPr>
          <p:cNvSpPr txBox="1"/>
          <p:nvPr/>
        </p:nvSpPr>
        <p:spPr>
          <a:xfrm>
            <a:off x="548883" y="138137"/>
            <a:ext cx="7027574" cy="338514"/>
          </a:xfrm>
          <a:prstGeom prst="rect">
            <a:avLst/>
          </a:prstGeom>
          <a:noFill/>
          <a:ln>
            <a:noFill/>
          </a:ln>
        </p:spPr>
        <p:txBody>
          <a:bodyPr spcFirstLastPara="1" wrap="square" lIns="91425" tIns="45700" rIns="91425" bIns="45700" anchor="ctr" anchorCtr="0">
            <a:spAutoFit/>
          </a:bodyPr>
          <a:lstStyle/>
          <a:p>
            <a:pPr lvl="0"/>
            <a:r>
              <a:rPr lang="en-US" altLang="ja-JP" sz="1600" b="1" dirty="0">
                <a:solidFill>
                  <a:schemeClr val="tx1">
                    <a:lumMod val="50000"/>
                    <a:lumOff val="50000"/>
                  </a:schemeClr>
                </a:solidFill>
                <a:latin typeface="Meiryo"/>
                <a:ea typeface="Meiryo"/>
                <a:cs typeface="Meiryo"/>
                <a:sym typeface="Meiryo"/>
              </a:rPr>
              <a:t>LINE</a:t>
            </a:r>
            <a:r>
              <a:rPr lang="ja-JP" altLang="en-US" sz="1600" b="1" dirty="0">
                <a:solidFill>
                  <a:schemeClr val="tx1">
                    <a:lumMod val="50000"/>
                    <a:lumOff val="50000"/>
                  </a:schemeClr>
                </a:solidFill>
                <a:latin typeface="Meiryo"/>
                <a:ea typeface="Meiryo"/>
                <a:cs typeface="Meiryo"/>
                <a:sym typeface="Meiryo"/>
              </a:rPr>
              <a:t>施策における重要な考え方</a:t>
            </a:r>
            <a:endParaRPr lang="en-US" altLang="ja-JP" sz="1600" b="1" dirty="0">
              <a:solidFill>
                <a:schemeClr val="tx1">
                  <a:lumMod val="50000"/>
                  <a:lumOff val="50000"/>
                </a:schemeClr>
              </a:solidFill>
              <a:latin typeface="Meiryo"/>
              <a:ea typeface="Meiryo"/>
              <a:cs typeface="Meiryo"/>
              <a:sym typeface="Meiryo"/>
            </a:endParaRPr>
          </a:p>
        </p:txBody>
      </p:sp>
      <p:sp>
        <p:nvSpPr>
          <p:cNvPr id="7" name="正方形/長方形 6">
            <a:extLst>
              <a:ext uri="{FF2B5EF4-FFF2-40B4-BE49-F238E27FC236}">
                <a16:creationId xmlns:a16="http://schemas.microsoft.com/office/drawing/2014/main" id="{31489518-639C-6F8B-3CC2-E3A3D82066B2}"/>
              </a:ext>
            </a:extLst>
          </p:cNvPr>
          <p:cNvSpPr/>
          <p:nvPr/>
        </p:nvSpPr>
        <p:spPr>
          <a:xfrm>
            <a:off x="275003" y="1728082"/>
            <a:ext cx="9355994" cy="1391288"/>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rPr>
              <a:t>既存友だち</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のメッセージ配信を拡大＆検証し</a:t>
            </a:r>
            <a:endPar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課金対効果を向上する</a:t>
            </a:r>
          </a:p>
        </p:txBody>
      </p:sp>
      <p:sp>
        <p:nvSpPr>
          <p:cNvPr id="9" name="正方形/長方形 8">
            <a:extLst>
              <a:ext uri="{FF2B5EF4-FFF2-40B4-BE49-F238E27FC236}">
                <a16:creationId xmlns:a16="http://schemas.microsoft.com/office/drawing/2014/main" id="{DD339252-F691-EA9D-983C-6241C7AABA77}"/>
              </a:ext>
            </a:extLst>
          </p:cNvPr>
          <p:cNvSpPr/>
          <p:nvPr/>
        </p:nvSpPr>
        <p:spPr>
          <a:xfrm>
            <a:off x="275003" y="3221875"/>
            <a:ext cx="9355994" cy="1391288"/>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rPr>
              <a:t>新規友だち</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の追加動線を拡大</a:t>
            </a:r>
            <a:r>
              <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rPr>
              <a:t>&amp;</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整備し</a:t>
            </a:r>
            <a:endPar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見込みの高いユーザーのリードを獲得する</a:t>
            </a:r>
          </a:p>
        </p:txBody>
      </p:sp>
      <p:cxnSp>
        <p:nvCxnSpPr>
          <p:cNvPr id="10" name="直線コネクタ 9">
            <a:extLst>
              <a:ext uri="{FF2B5EF4-FFF2-40B4-BE49-F238E27FC236}">
                <a16:creationId xmlns:a16="http://schemas.microsoft.com/office/drawing/2014/main" id="{71A329C6-D6CA-D19E-C8A2-D6D234F2FA53}"/>
              </a:ext>
            </a:extLst>
          </p:cNvPr>
          <p:cNvCxnSpPr/>
          <p:nvPr/>
        </p:nvCxnSpPr>
        <p:spPr>
          <a:xfrm>
            <a:off x="1519747" y="1452035"/>
            <a:ext cx="657899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3" name="楕円 12">
            <a:extLst>
              <a:ext uri="{FF2B5EF4-FFF2-40B4-BE49-F238E27FC236}">
                <a16:creationId xmlns:a16="http://schemas.microsoft.com/office/drawing/2014/main" id="{718487F9-9129-0E91-A220-B2EF077840F3}"/>
              </a:ext>
            </a:extLst>
          </p:cNvPr>
          <p:cNvSpPr/>
          <p:nvPr/>
        </p:nvSpPr>
        <p:spPr>
          <a:xfrm>
            <a:off x="3756183" y="751045"/>
            <a:ext cx="2022158" cy="589765"/>
          </a:xfrm>
          <a:prstGeom prst="ellipse">
            <a:avLst/>
          </a:prstGeom>
          <a:solidFill>
            <a:schemeClr val="accent1">
              <a:lumMod val="40000"/>
              <a:lumOff val="60000"/>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a:solidFill>
                <a:schemeClr val="tx1">
                  <a:lumMod val="50000"/>
                  <a:lumOff val="50000"/>
                </a:schemeClr>
              </a:solidFill>
            </a:endParaRPr>
          </a:p>
        </p:txBody>
      </p:sp>
      <p:sp>
        <p:nvSpPr>
          <p:cNvPr id="14" name="正方形/長方形 13">
            <a:extLst>
              <a:ext uri="{FF2B5EF4-FFF2-40B4-BE49-F238E27FC236}">
                <a16:creationId xmlns:a16="http://schemas.microsoft.com/office/drawing/2014/main" id="{D2F1E1CA-9D65-A02D-917C-CB72A01459A6}"/>
              </a:ext>
            </a:extLst>
          </p:cNvPr>
          <p:cNvSpPr/>
          <p:nvPr/>
        </p:nvSpPr>
        <p:spPr>
          <a:xfrm>
            <a:off x="1502508" y="842812"/>
            <a:ext cx="6647975" cy="461665"/>
          </a:xfrm>
          <a:prstGeom prst="rect">
            <a:avLst/>
          </a:prstGeom>
        </p:spPr>
        <p:txBody>
          <a:bodyPr wrap="non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rPr>
              <a:t>アカウント効果を</a:t>
            </a:r>
            <a:r>
              <a:rPr lang="ja-JP" altLang="en-US" sz="2400" b="1" dirty="0">
                <a:latin typeface="メイリオ" panose="020B0604030504040204" pitchFamily="50" charset="-128"/>
                <a:ea typeface="メイリオ" panose="020B0604030504040204" pitchFamily="50" charset="-128"/>
              </a:rPr>
              <a:t>最大化する</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ためには・・・？</a:t>
            </a:r>
          </a:p>
        </p:txBody>
      </p:sp>
      <p:sp>
        <p:nvSpPr>
          <p:cNvPr id="15" name="下矢印 1">
            <a:extLst>
              <a:ext uri="{FF2B5EF4-FFF2-40B4-BE49-F238E27FC236}">
                <a16:creationId xmlns:a16="http://schemas.microsoft.com/office/drawing/2014/main" id="{453026E5-FC32-AC14-0437-B9F8A5DB717B}"/>
              </a:ext>
            </a:extLst>
          </p:cNvPr>
          <p:cNvSpPr/>
          <p:nvPr/>
        </p:nvSpPr>
        <p:spPr>
          <a:xfrm>
            <a:off x="3379742" y="4715668"/>
            <a:ext cx="3196046" cy="421640"/>
          </a:xfrm>
          <a:prstGeom prst="downArrow">
            <a:avLst>
              <a:gd name="adj1" fmla="val 50000"/>
              <a:gd name="adj2" fmla="val 52758"/>
            </a:avLst>
          </a:prstGeom>
          <a:solidFill>
            <a:schemeClr val="bg1">
              <a:lumMod val="9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a:solidFill>
                <a:schemeClr val="tx1">
                  <a:lumMod val="50000"/>
                  <a:lumOff val="50000"/>
                </a:schemeClr>
              </a:solidFill>
            </a:endParaRPr>
          </a:p>
        </p:txBody>
      </p:sp>
      <p:sp>
        <p:nvSpPr>
          <p:cNvPr id="19" name="正方形/長方形 18">
            <a:extLst>
              <a:ext uri="{FF2B5EF4-FFF2-40B4-BE49-F238E27FC236}">
                <a16:creationId xmlns:a16="http://schemas.microsoft.com/office/drawing/2014/main" id="{ED0D0284-90AC-92C0-335B-D83B919080B0}"/>
              </a:ext>
            </a:extLst>
          </p:cNvPr>
          <p:cNvSpPr/>
          <p:nvPr/>
        </p:nvSpPr>
        <p:spPr>
          <a:xfrm>
            <a:off x="275003" y="5239812"/>
            <a:ext cx="9355994" cy="867143"/>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rPr>
              <a:t>WEB</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サイト上情報と連携させ、配信効果を数値化する</a:t>
            </a:r>
          </a:p>
        </p:txBody>
      </p:sp>
    </p:spTree>
    <p:extLst>
      <p:ext uri="{BB962C8B-B14F-4D97-AF65-F5344CB8AC3E}">
        <p14:creationId xmlns:p14="http://schemas.microsoft.com/office/powerpoint/2010/main" val="32122905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6C66C8-9A67-CF78-E9A3-0EAF925C3F2C}"/>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FDD4BAE5-A1D4-5D4A-9181-EF488E332EEA}"/>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621DD27D-4369-4CAC-482F-78E216F0A304}"/>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sp>
        <p:nvSpPr>
          <p:cNvPr id="45" name="Google Shape;156;p7">
            <a:extLst>
              <a:ext uri="{FF2B5EF4-FFF2-40B4-BE49-F238E27FC236}">
                <a16:creationId xmlns:a16="http://schemas.microsoft.com/office/drawing/2014/main" id="{485FA1D1-CF12-A6BD-7D2D-2D76A99BCFCC}"/>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要件定義</a:t>
            </a:r>
            <a:endParaRPr sz="1600" b="1" dirty="0">
              <a:solidFill>
                <a:srgbClr val="002060"/>
              </a:solidFill>
              <a:latin typeface="Meiryo"/>
              <a:ea typeface="Meiryo"/>
              <a:cs typeface="Meiryo"/>
              <a:sym typeface="Meiryo"/>
            </a:endParaRPr>
          </a:p>
        </p:txBody>
      </p:sp>
      <p:sp>
        <p:nvSpPr>
          <p:cNvPr id="15" name="Conclusion">
            <a:extLst>
              <a:ext uri="{FF2B5EF4-FFF2-40B4-BE49-F238E27FC236}">
                <a16:creationId xmlns:a16="http://schemas.microsoft.com/office/drawing/2014/main" id="{ED3146E7-9955-F215-581D-DD3180418A87}"/>
              </a:ext>
            </a:extLst>
          </p:cNvPr>
          <p:cNvSpPr txBox="1"/>
          <p:nvPr/>
        </p:nvSpPr>
        <p:spPr>
          <a:xfrm>
            <a:off x="381000" y="5248656"/>
            <a:ext cx="9144000" cy="1243584"/>
          </a:xfrm>
          <a:prstGeom prst="rect">
            <a:avLst/>
          </a:prstGeom>
          <a:solidFill>
            <a:srgbClr val="F0F2F7"/>
          </a:solidFill>
          <a:ln>
            <a:noFill/>
          </a:ln>
        </p:spPr>
        <p:txBody>
          <a:bodyPr wrap="square" lIns="177800" tIns="127000" rIns="177800" bIns="127000" anchor="t"/>
          <a:lstStyle/>
          <a:p>
            <a:pPr>
              <a:buNone/>
            </a:pPr>
            <a:r>
              <a:rPr lang="ja-JP" sz="1400" b="1" dirty="0">
                <a:solidFill>
                  <a:srgbClr val="1F2A5C"/>
                </a:solidFill>
                <a:latin typeface="メイリオ" panose="020B0604030504040204" pitchFamily="50" charset="-128"/>
                <a:ea typeface="メイリオ" panose="020B0604030504040204" pitchFamily="50" charset="-128"/>
              </a:rPr>
              <a:t>結論</a:t>
            </a:r>
          </a:p>
          <a:p>
            <a:pPr>
              <a:spcBef>
                <a:spcPts val="200"/>
              </a:spcBef>
              <a:buNone/>
            </a:pPr>
            <a:r>
              <a:rPr lang="ja-JP" sz="1400" b="0" dirty="0">
                <a:solidFill>
                  <a:srgbClr val="333333"/>
                </a:solidFill>
                <a:latin typeface="メイリオ" panose="020B0604030504040204" pitchFamily="50" charset="-128"/>
                <a:ea typeface="メイリオ" panose="020B0604030504040204" pitchFamily="50" charset="-128"/>
              </a:rPr>
              <a:t>最重要課題は、友だち追加後の問い合わせ獲得（⑤リード有効化）です。あいさつ・リッチメニュー・ステップ配信で「物件を送る」まで案内します。</a:t>
            </a:r>
          </a:p>
          <a:p>
            <a:pPr>
              <a:spcBef>
                <a:spcPts val="200"/>
              </a:spcBef>
              <a:buNone/>
            </a:pPr>
            <a:r>
              <a:rPr lang="ja-JP" sz="1400" b="0" dirty="0">
                <a:solidFill>
                  <a:srgbClr val="333333"/>
                </a:solidFill>
                <a:latin typeface="メイリオ" panose="020B0604030504040204" pitchFamily="50" charset="-128"/>
                <a:ea typeface="メイリオ" panose="020B0604030504040204" pitchFamily="50" charset="-128"/>
              </a:rPr>
              <a:t>サイト離脱対策は、離脱防止ポップアップ・LINEボタンで新しい友だちを増やす課題です。</a:t>
            </a:r>
          </a:p>
        </p:txBody>
      </p:sp>
      <p:sp>
        <p:nvSpPr>
          <p:cNvPr id="6" name="Card1_Num">
            <a:extLst>
              <a:ext uri="{FF2B5EF4-FFF2-40B4-BE49-F238E27FC236}">
                <a16:creationId xmlns:a16="http://schemas.microsoft.com/office/drawing/2014/main" id="{99100708-28B5-0C64-45B6-17FF3C22A099}"/>
              </a:ext>
            </a:extLst>
          </p:cNvPr>
          <p:cNvSpPr txBox="1"/>
          <p:nvPr/>
        </p:nvSpPr>
        <p:spPr>
          <a:xfrm>
            <a:off x="381000" y="1115568"/>
            <a:ext cx="2921000" cy="530352"/>
          </a:xfrm>
          <a:prstGeom prst="rect">
            <a:avLst/>
          </a:prstGeom>
          <a:solidFill>
            <a:srgbClr val="1F2A5C"/>
          </a:solidFill>
          <a:ln>
            <a:noFill/>
          </a:ln>
        </p:spPr>
        <p:txBody>
          <a:bodyPr wrap="square" lIns="203200" tIns="101600" rIns="203200" bIns="101600" anchor="ctr"/>
          <a:lstStyle/>
          <a:p>
            <a:pPr algn="l">
              <a:buNone/>
            </a:pPr>
            <a:r>
              <a:rPr lang="ja-JP" sz="2400" b="1" dirty="0">
                <a:solidFill>
                  <a:srgbClr val="FFFFFF"/>
                </a:solidFill>
              </a:rPr>
              <a:t>01</a:t>
            </a:r>
          </a:p>
        </p:txBody>
      </p:sp>
      <p:sp>
        <p:nvSpPr>
          <p:cNvPr id="10" name="Card1_Title">
            <a:extLst>
              <a:ext uri="{FF2B5EF4-FFF2-40B4-BE49-F238E27FC236}">
                <a16:creationId xmlns:a16="http://schemas.microsoft.com/office/drawing/2014/main" id="{A00E1BD8-B14A-9E83-AD58-EF16846CB3A4}"/>
              </a:ext>
            </a:extLst>
          </p:cNvPr>
          <p:cNvSpPr txBox="1"/>
          <p:nvPr/>
        </p:nvSpPr>
        <p:spPr>
          <a:xfrm>
            <a:off x="381000" y="1645920"/>
            <a:ext cx="2921000" cy="438912"/>
          </a:xfrm>
          <a:prstGeom prst="rect">
            <a:avLst/>
          </a:prstGeom>
          <a:solidFill>
            <a:srgbClr val="FFFFFF"/>
          </a:solidFill>
          <a:ln w="6350">
            <a:solidFill>
              <a:srgbClr val="1F2A5C"/>
            </a:solidFill>
          </a:ln>
        </p:spPr>
        <p:txBody>
          <a:bodyPr wrap="square" lIns="177800" tIns="101600" rIns="177800" bIns="101600" anchor="ctr"/>
          <a:lstStyle/>
          <a:p>
            <a:pPr>
              <a:buNone/>
            </a:pPr>
            <a:r>
              <a:rPr lang="ja-JP" sz="1400" b="1" dirty="0">
                <a:solidFill>
                  <a:srgbClr val="1F2A5C"/>
                </a:solidFill>
              </a:rPr>
              <a:t>サイト訪問者の取りこぼし</a:t>
            </a:r>
          </a:p>
        </p:txBody>
      </p:sp>
      <p:sp>
        <p:nvSpPr>
          <p:cNvPr id="14" name="Card1_Body">
            <a:extLst>
              <a:ext uri="{FF2B5EF4-FFF2-40B4-BE49-F238E27FC236}">
                <a16:creationId xmlns:a16="http://schemas.microsoft.com/office/drawing/2014/main" id="{400EE71C-7EE5-0652-6E8D-BFDA5B8F0AE3}"/>
              </a:ext>
            </a:extLst>
          </p:cNvPr>
          <p:cNvSpPr txBox="1"/>
          <p:nvPr/>
        </p:nvSpPr>
        <p:spPr>
          <a:xfrm>
            <a:off x="381000" y="2084831"/>
            <a:ext cx="2921000" cy="3108960"/>
          </a:xfrm>
          <a:prstGeom prst="rect">
            <a:avLst/>
          </a:prstGeom>
          <a:solidFill>
            <a:srgbClr val="F5F7FA"/>
          </a:solidFill>
          <a:ln w="6350">
            <a:solidFill>
              <a:srgbClr val="D1D8E0"/>
            </a:solidFill>
          </a:ln>
        </p:spPr>
        <p:txBody>
          <a:bodyPr wrap="square" lIns="177800" tIns="152400" rIns="177800" bIns="152400" anchor="t"/>
          <a:lstStyle/>
          <a:p>
            <a:pPr>
              <a:spcBef>
                <a:spcPts val="200"/>
              </a:spcBef>
              <a:buClr>
                <a:srgbClr val="1F2A5C"/>
              </a:buClr>
            </a:pPr>
            <a:r>
              <a:rPr lang="ja-JP" sz="1400" dirty="0">
                <a:solidFill>
                  <a:srgbClr val="333333"/>
                </a:solidFill>
              </a:rPr>
              <a:t>・サイトの月間訪問者（UU）は1,737。広告は出しておらず、友だちの入口はサイトの「LINEでお問い合わせ」ボタンだけ</a:t>
            </a:r>
          </a:p>
          <a:p>
            <a:pPr>
              <a:spcBef>
                <a:spcPts val="200"/>
              </a:spcBef>
              <a:buClr>
                <a:srgbClr val="1F2A5C"/>
              </a:buClr>
            </a:pPr>
            <a:r>
              <a:rPr lang="ja-JP" sz="1400" dirty="0">
                <a:solidFill>
                  <a:srgbClr val="333333"/>
                </a:solidFill>
              </a:rPr>
              <a:t>・問い合わせずにサイトを離れる方へ、もう一度案内する手段がない</a:t>
            </a:r>
            <a:endParaRPr lang="en-US" altLang="ja-JP" sz="1400" dirty="0">
              <a:solidFill>
                <a:srgbClr val="333333"/>
              </a:solidFill>
            </a:endParaRPr>
          </a:p>
          <a:p>
            <a:pPr>
              <a:spcBef>
                <a:spcPts val="200"/>
              </a:spcBef>
              <a:buClr>
                <a:srgbClr val="1F2A5C"/>
              </a:buClr>
            </a:pPr>
            <a:r>
              <a:rPr lang="ja-JP" sz="1400" dirty="0">
                <a:solidFill>
                  <a:srgbClr val="333333"/>
                </a:solidFill>
              </a:rPr>
              <a:t>・友だちは1,241人で、増やす仕組みが少ない</a:t>
            </a:r>
          </a:p>
        </p:txBody>
      </p:sp>
      <p:sp>
        <p:nvSpPr>
          <p:cNvPr id="17" name="Card2_Num">
            <a:extLst>
              <a:ext uri="{FF2B5EF4-FFF2-40B4-BE49-F238E27FC236}">
                <a16:creationId xmlns:a16="http://schemas.microsoft.com/office/drawing/2014/main" id="{1E55EC9A-E347-B84B-262B-EF1A6E14096B}"/>
              </a:ext>
            </a:extLst>
          </p:cNvPr>
          <p:cNvSpPr txBox="1"/>
          <p:nvPr/>
        </p:nvSpPr>
        <p:spPr>
          <a:xfrm>
            <a:off x="3492500" y="1115568"/>
            <a:ext cx="2921000" cy="530352"/>
          </a:xfrm>
          <a:prstGeom prst="rect">
            <a:avLst/>
          </a:prstGeom>
          <a:solidFill>
            <a:srgbClr val="4A6FA5"/>
          </a:solidFill>
          <a:ln>
            <a:noFill/>
          </a:ln>
        </p:spPr>
        <p:txBody>
          <a:bodyPr wrap="square" lIns="203200" tIns="101600" rIns="203200" bIns="101600" anchor="ctr"/>
          <a:lstStyle/>
          <a:p>
            <a:pPr algn="l">
              <a:buNone/>
            </a:pPr>
            <a:r>
              <a:rPr lang="ja-JP" sz="2400" b="1" dirty="0">
                <a:solidFill>
                  <a:srgbClr val="FFFFFF"/>
                </a:solidFill>
              </a:rPr>
              <a:t>02</a:t>
            </a:r>
          </a:p>
        </p:txBody>
      </p:sp>
      <p:sp>
        <p:nvSpPr>
          <p:cNvPr id="19" name="Card2_Title">
            <a:extLst>
              <a:ext uri="{FF2B5EF4-FFF2-40B4-BE49-F238E27FC236}">
                <a16:creationId xmlns:a16="http://schemas.microsoft.com/office/drawing/2014/main" id="{7EA7999B-288A-E255-3A8D-51DA3754E17B}"/>
              </a:ext>
            </a:extLst>
          </p:cNvPr>
          <p:cNvSpPr txBox="1"/>
          <p:nvPr/>
        </p:nvSpPr>
        <p:spPr>
          <a:xfrm>
            <a:off x="3492500" y="1645920"/>
            <a:ext cx="2921000" cy="438912"/>
          </a:xfrm>
          <a:prstGeom prst="rect">
            <a:avLst/>
          </a:prstGeom>
          <a:solidFill>
            <a:srgbClr val="FFFFFF"/>
          </a:solidFill>
          <a:ln w="6350">
            <a:solidFill>
              <a:srgbClr val="4A6FA5"/>
            </a:solidFill>
          </a:ln>
        </p:spPr>
        <p:txBody>
          <a:bodyPr wrap="square" lIns="177800" tIns="101600" rIns="177800" bIns="101600" anchor="ctr"/>
          <a:lstStyle/>
          <a:p>
            <a:pPr>
              <a:buNone/>
            </a:pPr>
            <a:r>
              <a:rPr lang="ja-JP" sz="1400" b="1" dirty="0">
                <a:solidFill>
                  <a:srgbClr val="4A6FA5"/>
                </a:solidFill>
              </a:rPr>
              <a:t>問い合わせへの心理的ハードル</a:t>
            </a:r>
          </a:p>
        </p:txBody>
      </p:sp>
      <p:sp>
        <p:nvSpPr>
          <p:cNvPr id="21" name="Card2_Body">
            <a:extLst>
              <a:ext uri="{FF2B5EF4-FFF2-40B4-BE49-F238E27FC236}">
                <a16:creationId xmlns:a16="http://schemas.microsoft.com/office/drawing/2014/main" id="{E7A27D28-3DE5-B65B-3078-06258585755F}"/>
              </a:ext>
            </a:extLst>
          </p:cNvPr>
          <p:cNvSpPr txBox="1"/>
          <p:nvPr/>
        </p:nvSpPr>
        <p:spPr>
          <a:xfrm>
            <a:off x="3492500" y="2084831"/>
            <a:ext cx="2921000" cy="3108960"/>
          </a:xfrm>
          <a:prstGeom prst="rect">
            <a:avLst/>
          </a:prstGeom>
          <a:solidFill>
            <a:srgbClr val="F5F7FA"/>
          </a:solidFill>
          <a:ln w="6350">
            <a:solidFill>
              <a:srgbClr val="D1D8E0"/>
            </a:solidFill>
          </a:ln>
        </p:spPr>
        <p:txBody>
          <a:bodyPr wrap="square" lIns="177800" tIns="152400" rIns="177800" bIns="152400" anchor="t"/>
          <a:lstStyle/>
          <a:p>
            <a:pPr>
              <a:spcBef>
                <a:spcPts val="200"/>
              </a:spcBef>
              <a:buClr>
                <a:srgbClr val="4A6FA5"/>
              </a:buClr>
            </a:pPr>
            <a:r>
              <a:rPr lang="ja-JP" sz="1400" dirty="0">
                <a:solidFill>
                  <a:srgbClr val="333333"/>
                </a:solidFill>
              </a:rPr>
              <a:t>・「どの物件が対象か」「本当に100円になるか」が分からないと、物件を送るのをためらう可能性がある</a:t>
            </a:r>
          </a:p>
          <a:p>
            <a:pPr>
              <a:spcBef>
                <a:spcPts val="200"/>
              </a:spcBef>
              <a:buClr>
                <a:srgbClr val="4A6FA5"/>
              </a:buClr>
            </a:pPr>
            <a:r>
              <a:rPr lang="ja-JP" sz="1400" dirty="0">
                <a:solidFill>
                  <a:srgbClr val="333333"/>
                </a:solidFill>
              </a:rPr>
              <a:t>・内見予約のやり取りは、電話（33.4％）よりメール・SMS（52.6％）を希望する方が多い（出典は6ページ）</a:t>
            </a:r>
            <a:endParaRPr lang="en-US" altLang="ja-JP" sz="1400" dirty="0">
              <a:solidFill>
                <a:srgbClr val="333333"/>
              </a:solidFill>
            </a:endParaRPr>
          </a:p>
        </p:txBody>
      </p:sp>
      <p:sp>
        <p:nvSpPr>
          <p:cNvPr id="23" name="Card3_Num">
            <a:extLst>
              <a:ext uri="{FF2B5EF4-FFF2-40B4-BE49-F238E27FC236}">
                <a16:creationId xmlns:a16="http://schemas.microsoft.com/office/drawing/2014/main" id="{70237F12-5482-737F-1B32-66F14BE63393}"/>
              </a:ext>
            </a:extLst>
          </p:cNvPr>
          <p:cNvSpPr txBox="1"/>
          <p:nvPr/>
        </p:nvSpPr>
        <p:spPr>
          <a:xfrm>
            <a:off x="6604000" y="1115568"/>
            <a:ext cx="2921000" cy="530352"/>
          </a:xfrm>
          <a:prstGeom prst="rect">
            <a:avLst/>
          </a:prstGeom>
          <a:solidFill>
            <a:schemeClr val="bg1">
              <a:lumMod val="75000"/>
            </a:schemeClr>
          </a:solidFill>
          <a:ln>
            <a:noFill/>
          </a:ln>
        </p:spPr>
        <p:txBody>
          <a:bodyPr wrap="square" lIns="203200" tIns="101600" rIns="203200" bIns="101600" anchor="ctr"/>
          <a:lstStyle/>
          <a:p>
            <a:pPr algn="l">
              <a:buNone/>
            </a:pPr>
            <a:r>
              <a:rPr lang="ja-JP" sz="2400" b="1" dirty="0">
                <a:solidFill>
                  <a:srgbClr val="FFFFFF"/>
                </a:solidFill>
              </a:rPr>
              <a:t>03</a:t>
            </a:r>
          </a:p>
        </p:txBody>
      </p:sp>
      <p:sp>
        <p:nvSpPr>
          <p:cNvPr id="25" name="Card3_Title">
            <a:extLst>
              <a:ext uri="{FF2B5EF4-FFF2-40B4-BE49-F238E27FC236}">
                <a16:creationId xmlns:a16="http://schemas.microsoft.com/office/drawing/2014/main" id="{E3518035-C567-1D4B-318D-78C25A6B9E43}"/>
              </a:ext>
            </a:extLst>
          </p:cNvPr>
          <p:cNvSpPr txBox="1"/>
          <p:nvPr/>
        </p:nvSpPr>
        <p:spPr>
          <a:xfrm>
            <a:off x="6604000" y="1645920"/>
            <a:ext cx="2921000" cy="438912"/>
          </a:xfrm>
          <a:prstGeom prst="rect">
            <a:avLst/>
          </a:prstGeom>
          <a:solidFill>
            <a:srgbClr val="FFFFFF"/>
          </a:solidFill>
          <a:ln w="6350">
            <a:solidFill>
              <a:schemeClr val="bg1">
                <a:lumMod val="75000"/>
              </a:schemeClr>
            </a:solidFill>
          </a:ln>
        </p:spPr>
        <p:txBody>
          <a:bodyPr wrap="square" lIns="177800" tIns="101600" rIns="177800" bIns="101600" anchor="ctr"/>
          <a:lstStyle/>
          <a:p>
            <a:pPr>
              <a:buNone/>
            </a:pPr>
            <a:r>
              <a:rPr lang="ja-JP" sz="1400" b="1" dirty="0">
                <a:solidFill>
                  <a:schemeClr val="tx1">
                    <a:lumMod val="65000"/>
                    <a:lumOff val="35000"/>
                  </a:schemeClr>
                </a:solidFill>
              </a:rPr>
              <a:t>友だち追加後の配信・導線不足</a:t>
            </a:r>
          </a:p>
        </p:txBody>
      </p:sp>
      <p:sp>
        <p:nvSpPr>
          <p:cNvPr id="27" name="Card3_Body">
            <a:extLst>
              <a:ext uri="{FF2B5EF4-FFF2-40B4-BE49-F238E27FC236}">
                <a16:creationId xmlns:a16="http://schemas.microsoft.com/office/drawing/2014/main" id="{6E2E9F62-4250-ED13-4C52-FC6B502E56E4}"/>
              </a:ext>
            </a:extLst>
          </p:cNvPr>
          <p:cNvSpPr txBox="1"/>
          <p:nvPr/>
        </p:nvSpPr>
        <p:spPr>
          <a:xfrm>
            <a:off x="6604000" y="2084831"/>
            <a:ext cx="2921000" cy="3108960"/>
          </a:xfrm>
          <a:prstGeom prst="rect">
            <a:avLst/>
          </a:prstGeom>
          <a:solidFill>
            <a:srgbClr val="F5F7FA"/>
          </a:solidFill>
          <a:ln w="6350">
            <a:solidFill>
              <a:srgbClr val="D1D8E0"/>
            </a:solidFill>
          </a:ln>
        </p:spPr>
        <p:txBody>
          <a:bodyPr wrap="square" lIns="177800" tIns="152400" rIns="177800" bIns="152400" anchor="t"/>
          <a:lstStyle/>
          <a:p>
            <a:pPr>
              <a:spcBef>
                <a:spcPts val="200"/>
              </a:spcBef>
              <a:buClr>
                <a:srgbClr val="C8102E"/>
              </a:buClr>
            </a:pPr>
            <a:r>
              <a:rPr lang="ja-JP" sz="1400" dirty="0">
                <a:solidFill>
                  <a:srgbClr val="333333"/>
                </a:solidFill>
              </a:rPr>
              <a:t>・リッチメニューが未設置で、友だち追加後に次の行動へ進むボタンがない</a:t>
            </a:r>
          </a:p>
          <a:p>
            <a:pPr>
              <a:spcBef>
                <a:spcPts val="200"/>
              </a:spcBef>
              <a:buClr>
                <a:srgbClr val="C8102E"/>
              </a:buClr>
            </a:pPr>
            <a:r>
              <a:rPr lang="ja-JP" sz="1400" dirty="0">
                <a:solidFill>
                  <a:srgbClr val="333333"/>
                </a:solidFill>
              </a:rPr>
              <a:t>・あいさつは物件名・URLの送信のお願いが中心で、</a:t>
            </a:r>
            <a:br>
              <a:rPr lang="ja-JP" sz="1400" dirty="0">
                <a:solidFill>
                  <a:srgbClr val="333333"/>
                </a:solidFill>
              </a:rPr>
            </a:br>
            <a:r>
              <a:rPr lang="ja-JP" sz="1400" dirty="0">
                <a:solidFill>
                  <a:srgbClr val="333333"/>
                </a:solidFill>
              </a:rPr>
              <a:t>送るメリットや安心材料が伝わりにくい</a:t>
            </a:r>
            <a:endParaRPr lang="en-US" altLang="ja-JP" sz="1400" dirty="0">
              <a:solidFill>
                <a:srgbClr val="333333"/>
              </a:solidFill>
            </a:endParaRPr>
          </a:p>
          <a:p>
            <a:pPr>
              <a:spcBef>
                <a:spcPts val="200"/>
              </a:spcBef>
              <a:buClr>
                <a:srgbClr val="C8102E"/>
              </a:buClr>
            </a:pPr>
            <a:r>
              <a:rPr lang="ja-JP" sz="1400" dirty="0">
                <a:solidFill>
                  <a:srgbClr val="333333"/>
                </a:solidFill>
              </a:rPr>
              <a:t>・物件を送らなかった方へ、続けて案内する配信の設計が必要</a:t>
            </a:r>
          </a:p>
        </p:txBody>
      </p:sp>
      <p:sp>
        <p:nvSpPr>
          <p:cNvPr id="46" name="課題の区分：新規友だち獲得"/>
          <p:cNvSpPr/>
          <p:nvPr/>
        </p:nvSpPr>
        <p:spPr>
          <a:xfrm>
            <a:off x="384048" y="658368"/>
            <a:ext cx="2916936" cy="384048"/>
          </a:xfrm>
          <a:prstGeom prst="rect">
            <a:avLst/>
          </a:prstGeom>
          <a:solidFill>
            <a:srgbClr val="FFFFFF"/>
          </a:solidFill>
          <a:ln w="15875">
            <a:solidFill>
              <a:srgbClr val="1F285A"/>
            </a:solidFill>
          </a:ln>
        </p:spPr>
        <p:txBody>
          <a:bodyPr wrap="square" lIns="27432" tIns="18288" rIns="27432" bIns="18288" rtlCol="0" anchor="ctr">
            <a:noAutofit/>
          </a:bodyPr>
          <a:lstStyle/>
          <a:p>
            <a:pPr algn="ctr">
              <a:buNone/>
            </a:pPr>
            <a:r>
              <a:rPr lang="ja-JP" altLang="en-US" sz="1200" b="1" dirty="0">
                <a:solidFill>
                  <a:srgbClr val="1F285A"/>
                </a:solidFill>
                <a:latin typeface="メイリオ" panose="020B0604030504040204" pitchFamily="50" charset="-128"/>
                <a:ea typeface="メイリオ" panose="020B0604030504040204" pitchFamily="50" charset="-128"/>
              </a:rPr>
              <a:t>新規友だち獲得（②サイト離脱対策）</a:t>
            </a:r>
            <a:endParaRPr lang="ja-JP" altLang="en-US" sz="1200" dirty="0"/>
          </a:p>
        </p:txBody>
      </p:sp>
      <p:sp>
        <p:nvSpPr>
          <p:cNvPr id="47" name="課題の区分：最重要（リード有効化）"/>
          <p:cNvSpPr/>
          <p:nvPr/>
        </p:nvSpPr>
        <p:spPr>
          <a:xfrm>
            <a:off x="3493008" y="658368"/>
            <a:ext cx="6025896" cy="384048"/>
          </a:xfrm>
          <a:prstGeom prst="rect">
            <a:avLst/>
          </a:prstGeom>
          <a:solidFill>
            <a:srgbClr val="C00000"/>
          </a:solidFill>
          <a:ln>
            <a:noFill/>
          </a:ln>
        </p:spPr>
        <p:txBody>
          <a:bodyPr wrap="square" lIns="45720" tIns="18288" rIns="45720" bIns="18288" rtlCol="0" anchor="ctr">
            <a:noAutofit/>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最重要課題：LINE友だち追加後の問い合わせ転換（⑤リード有効化）</a:t>
            </a:r>
            <a:endParaRPr lang="ja-JP" altLang="en-US" sz="1400" dirty="0"/>
          </a:p>
        </p:txBody>
      </p:sp>
    </p:spTree>
    <p:extLst>
      <p:ext uri="{BB962C8B-B14F-4D97-AF65-F5344CB8AC3E}">
        <p14:creationId xmlns:p14="http://schemas.microsoft.com/office/powerpoint/2010/main" val="35833595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082CEA-3068-C260-29FA-52D10FA7F467}"/>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E11A65C8-17C8-D684-CB75-56D55121F866}"/>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52E0E886-3FF7-1177-80B0-EC2CDD9EFAAC}"/>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sp>
        <p:nvSpPr>
          <p:cNvPr id="45" name="Google Shape;156;p7">
            <a:extLst>
              <a:ext uri="{FF2B5EF4-FFF2-40B4-BE49-F238E27FC236}">
                <a16:creationId xmlns:a16="http://schemas.microsoft.com/office/drawing/2014/main" id="{8B2265A6-2819-27E8-AA87-ACBFF2D49AD0}"/>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要件定義</a:t>
            </a:r>
            <a:endParaRPr sz="1600" b="1" dirty="0">
              <a:solidFill>
                <a:srgbClr val="002060"/>
              </a:solidFill>
              <a:latin typeface="Meiryo"/>
              <a:ea typeface="Meiryo"/>
              <a:cs typeface="Meiryo"/>
              <a:sym typeface="Meiryo"/>
            </a:endParaRPr>
          </a:p>
        </p:txBody>
      </p:sp>
      <p:sp>
        <p:nvSpPr>
          <p:cNvPr id="25" name="二等辺三角形 24">
            <a:extLst>
              <a:ext uri="{FF2B5EF4-FFF2-40B4-BE49-F238E27FC236}">
                <a16:creationId xmlns:a16="http://schemas.microsoft.com/office/drawing/2014/main" id="{3FDFECE2-9923-BB50-13D2-3D4A9E65C558}"/>
              </a:ext>
            </a:extLst>
          </p:cNvPr>
          <p:cNvSpPr/>
          <p:nvPr/>
        </p:nvSpPr>
        <p:spPr>
          <a:xfrm rot="10800000">
            <a:off x="1013700" y="2766784"/>
            <a:ext cx="7965031" cy="486852"/>
          </a:xfrm>
          <a:prstGeom prst="triangle">
            <a:avLst>
              <a:gd name="adj" fmla="val 49365"/>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dirty="0">
              <a:latin typeface="メイリオ" panose="020B0604030504040204" pitchFamily="50" charset="-128"/>
              <a:ea typeface="メイリオ" panose="020B0604030504040204" pitchFamily="50" charset="-128"/>
            </a:endParaRPr>
          </a:p>
        </p:txBody>
      </p:sp>
      <p:sp>
        <p:nvSpPr>
          <p:cNvPr id="26" name="正方形/長方形 25">
            <a:extLst>
              <a:ext uri="{FF2B5EF4-FFF2-40B4-BE49-F238E27FC236}">
                <a16:creationId xmlns:a16="http://schemas.microsoft.com/office/drawing/2014/main" id="{C4E20CB5-EE4A-545E-031C-B0FF76AEE517}"/>
              </a:ext>
            </a:extLst>
          </p:cNvPr>
          <p:cNvSpPr/>
          <p:nvPr/>
        </p:nvSpPr>
        <p:spPr>
          <a:xfrm>
            <a:off x="503966" y="775227"/>
            <a:ext cx="8898070" cy="297590"/>
          </a:xfrm>
          <a:prstGeom prst="rect">
            <a:avLst/>
          </a:prstGeom>
          <a:solidFill>
            <a:schemeClr val="tx2">
              <a:lumMod val="75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tIns="0" rtlCol="0" anchor="ctr" bIns="0"/>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indent="173038"/>
            <a:r>
              <a:rPr lang="ja-JP" altLang="en-US" b="1" dirty="0" sz="1800">
                <a:effectLst/>
                <a:latin typeface="メイリオ" panose="020B0604030504040204" pitchFamily="50" charset="-128"/>
                <a:ea typeface="メイリオ" panose="020B0604030504040204" pitchFamily="50" charset="-128"/>
                <a:cs typeface="メイリオ" panose="020B0604030504040204" pitchFamily="50" charset="-128"/>
              </a:rPr>
              <a:t>プロモーション目的</a:t>
            </a:r>
          </a:p>
        </p:txBody>
      </p:sp>
      <p:sp>
        <p:nvSpPr>
          <p:cNvPr id="27" name="正方形/長方形 26">
            <a:extLst>
              <a:ext uri="{FF2B5EF4-FFF2-40B4-BE49-F238E27FC236}">
                <a16:creationId xmlns:a16="http://schemas.microsoft.com/office/drawing/2014/main" id="{A773DE68-F51A-B2B7-A85F-DDEF158DE1E8}"/>
              </a:ext>
            </a:extLst>
          </p:cNvPr>
          <p:cNvSpPr/>
          <p:nvPr/>
        </p:nvSpPr>
        <p:spPr>
          <a:xfrm>
            <a:off x="503967" y="1090870"/>
            <a:ext cx="8898070" cy="525365"/>
          </a:xfrm>
          <a:prstGeom prst="rect">
            <a:avLst/>
          </a:prstGeom>
          <a:no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en-US" altLang="ja-JP" sz="2400" b="1" dirty="0">
                <a:solidFill>
                  <a:srgbClr val="FF3300"/>
                </a:solidFill>
                <a:latin typeface="メイリオ" panose="020B0604030504040204" pitchFamily="50" charset="-128"/>
                <a:ea typeface="メイリオ" panose="020B0604030504040204" pitchFamily="50" charset="-128"/>
                <a:cs typeface="メイリオ" panose="020B0604030504040204" pitchFamily="50" charset="-128"/>
              </a:rPr>
              <a:t>LINE経由の物件問い合わせを増やす</a:t>
            </a:r>
          </a:p>
        </p:txBody>
      </p:sp>
      <p:sp>
        <p:nvSpPr>
          <p:cNvPr id="28" name="テキスト ボックス 4">
            <a:extLst>
              <a:ext uri="{FF2B5EF4-FFF2-40B4-BE49-F238E27FC236}">
                <a16:creationId xmlns:a16="http://schemas.microsoft.com/office/drawing/2014/main" id="{D82D8E99-CD5B-56FF-33CE-071E3712BDD6}"/>
              </a:ext>
            </a:extLst>
          </p:cNvPr>
          <p:cNvSpPr txBox="1"/>
          <p:nvPr/>
        </p:nvSpPr>
        <p:spPr>
          <a:xfrm>
            <a:off x="3893204" y="2803487"/>
            <a:ext cx="2236946" cy="369332"/>
          </a:xfrm>
          <a:prstGeom prst="rect">
            <a:avLst/>
          </a:prstGeom>
          <a:noFill/>
        </p:spPr>
        <p:txBody>
          <a:bodyPr wrap="square" rtlCol="0">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ja-JP" altLang="en-US" b="1" dirty="0" sz="180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t>弊社からのご提案</a:t>
            </a:r>
            <a:endParaRPr kumimoji="1" lang="ja-JP" altLang="en-US" b="1" dirty="0" sz="1800">
              <a:solidFill>
                <a:schemeClr val="bg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33" name="正方形/長方形 32">
            <a:extLst>
              <a:ext uri="{FF2B5EF4-FFF2-40B4-BE49-F238E27FC236}">
                <a16:creationId xmlns:a16="http://schemas.microsoft.com/office/drawing/2014/main" id="{ADCEEB55-8D79-5D37-18D6-691241A3FC15}"/>
              </a:ext>
            </a:extLst>
          </p:cNvPr>
          <p:cNvSpPr/>
          <p:nvPr/>
        </p:nvSpPr>
        <p:spPr>
          <a:xfrm>
            <a:off x="503965" y="1675570"/>
            <a:ext cx="8898070" cy="386003"/>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tIns="18288" rtlCol="0" anchor="ctr" bIns="18288"/>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indent="173038"/>
            <a:r>
              <a:rPr lang="ja-JP" altLang="en-US" b="1" dirty="0" sz="1800">
                <a:effectLst/>
                <a:latin typeface="メイリオ" panose="020B0604030504040204" pitchFamily="50" charset="-128"/>
                <a:ea typeface="メイリオ" panose="020B0604030504040204" pitchFamily="50" charset="-128"/>
                <a:cs typeface="メイリオ" panose="020B0604030504040204" pitchFamily="50" charset="-128"/>
              </a:rPr>
              <a:t>配信目標</a:t>
            </a:r>
          </a:p>
        </p:txBody>
      </p:sp>
      <p:sp>
        <p:nvSpPr>
          <p:cNvPr id="34" name="正方形/長方形 33">
            <a:extLst>
              <a:ext uri="{FF2B5EF4-FFF2-40B4-BE49-F238E27FC236}">
                <a16:creationId xmlns:a16="http://schemas.microsoft.com/office/drawing/2014/main" id="{36696439-35BA-93A5-530C-51E6DC29272E}"/>
              </a:ext>
            </a:extLst>
          </p:cNvPr>
          <p:cNvSpPr/>
          <p:nvPr/>
        </p:nvSpPr>
        <p:spPr>
          <a:xfrm>
            <a:off x="503965" y="2077536"/>
            <a:ext cx="8898070" cy="626072"/>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2000" b="1" dirty="0">
                <a:solidFill>
                  <a:srgbClr val="FF3300"/>
                </a:solidFill>
                <a:latin typeface="メイリオ" panose="020B0604030504040204" pitchFamily="50" charset="-128"/>
                <a:ea typeface="メイリオ" panose="020B0604030504040204" pitchFamily="50" charset="-128"/>
                <a:cs typeface="メイリオ" panose="020B0604030504040204" pitchFamily="50" charset="-128"/>
              </a:rPr>
              <a:t>LINE経由の問い合わせ 1か月目 月7件→6か月目 月23件（試算）</a:t>
            </a:r>
            <a:endParaRPr lang="en-US" altLang="ja-JP" sz="2000" b="1" dirty="0">
              <a:solidFill>
                <a:srgbClr val="FF3300"/>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2" name="正方形/長方形 1">
            <a:extLst>
              <a:ext uri="{FF2B5EF4-FFF2-40B4-BE49-F238E27FC236}">
                <a16:creationId xmlns:a16="http://schemas.microsoft.com/office/drawing/2014/main" id="{6CB99AAC-0BEA-E7FB-6909-1C7C68EDF323}"/>
              </a:ext>
            </a:extLst>
          </p:cNvPr>
          <p:cNvSpPr/>
          <p:nvPr/>
        </p:nvSpPr>
        <p:spPr>
          <a:xfrm>
            <a:off x="1574596" y="3727094"/>
            <a:ext cx="2697480" cy="603504"/>
          </a:xfrm>
          <a:prstGeom prst="rect">
            <a:avLst/>
          </a:prstGeom>
          <a:noFill/>
          <a:ln w="190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14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離脱防止ポップアップ</a:t>
            </a:r>
            <a:endParaRPr lang="en-US" altLang="ja-JP" sz="14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5" name="正方形/長方形 4">
            <a:extLst>
              <a:ext uri="{FF2B5EF4-FFF2-40B4-BE49-F238E27FC236}">
                <a16:creationId xmlns:a16="http://schemas.microsoft.com/office/drawing/2014/main" id="{28DEF766-24DA-2EE3-9966-E5F26397AF6F}"/>
              </a:ext>
            </a:extLst>
          </p:cNvPr>
          <p:cNvSpPr/>
          <p:nvPr/>
        </p:nvSpPr>
        <p:spPr>
          <a:xfrm>
            <a:off x="1574596" y="4385462"/>
            <a:ext cx="2697480" cy="603504"/>
          </a:xfrm>
          <a:prstGeom prst="rect">
            <a:avLst/>
          </a:prstGeom>
          <a:noFill/>
          <a:ln w="190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14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あいさつメッセージの改善</a:t>
            </a:r>
            <a:endParaRPr lang="en-US" altLang="ja-JP" sz="14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6" name="正方形/長方形 5">
            <a:extLst>
              <a:ext uri="{FF2B5EF4-FFF2-40B4-BE49-F238E27FC236}">
                <a16:creationId xmlns:a16="http://schemas.microsoft.com/office/drawing/2014/main" id="{93EBFD5C-B1C9-4553-7E8F-9C0C9C314CF4}"/>
              </a:ext>
            </a:extLst>
          </p:cNvPr>
          <p:cNvSpPr/>
          <p:nvPr/>
        </p:nvSpPr>
        <p:spPr>
          <a:xfrm>
            <a:off x="1574596" y="5043830"/>
            <a:ext cx="2697480" cy="603504"/>
          </a:xfrm>
          <a:prstGeom prst="rect">
            <a:avLst/>
          </a:prstGeom>
          <a:noFill/>
          <a:ln w="190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14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リッチメニュー・自動応答</a:t>
            </a:r>
            <a:endParaRPr lang="en-US" altLang="ja-JP" sz="14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7" name="正方形/長方形 6">
            <a:extLst>
              <a:ext uri="{FF2B5EF4-FFF2-40B4-BE49-F238E27FC236}">
                <a16:creationId xmlns:a16="http://schemas.microsoft.com/office/drawing/2014/main" id="{D98C923A-1216-14F4-2ED5-A311A85ED8E3}"/>
              </a:ext>
            </a:extLst>
          </p:cNvPr>
          <p:cNvSpPr/>
          <p:nvPr/>
        </p:nvSpPr>
        <p:spPr>
          <a:xfrm>
            <a:off x="1574596" y="5702198"/>
            <a:ext cx="2697480" cy="603504"/>
          </a:xfrm>
          <a:prstGeom prst="rect">
            <a:avLst/>
          </a:prstGeom>
          <a:noFill/>
          <a:ln w="190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14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ステップ配信・企画配信</a:t>
            </a:r>
            <a:endParaRPr lang="en-US" altLang="ja-JP" sz="14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8" name="正方形/長方形 7">
            <a:extLst>
              <a:ext uri="{FF2B5EF4-FFF2-40B4-BE49-F238E27FC236}">
                <a16:creationId xmlns:a16="http://schemas.microsoft.com/office/drawing/2014/main" id="{E5B64E4E-8E78-E3FA-521B-27A28AE8C886}"/>
              </a:ext>
            </a:extLst>
          </p:cNvPr>
          <p:cNvSpPr/>
          <p:nvPr/>
        </p:nvSpPr>
        <p:spPr>
          <a:xfrm>
            <a:off x="4336999" y="3727094"/>
            <a:ext cx="5012740" cy="603504"/>
          </a:xfrm>
          <a:prstGeom prst="rect">
            <a:avLst/>
          </a:prstGeom>
          <a:noFill/>
          <a:ln w="19050">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lIns="91440" tIns="27432" rIns="73152" bIns="27432"/>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r>
              <a:rPr lang="ja-JP" altLang="en-US"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サイトを離れようとした方に、LINEでの物件の問い合わせを案内（LINE公式アカウントとは別に導入）</a:t>
            </a:r>
            <a:endParaRPr lang="en-US" altLang="ja-JP"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9" name="正方形/長方形 8">
            <a:extLst>
              <a:ext uri="{FF2B5EF4-FFF2-40B4-BE49-F238E27FC236}">
                <a16:creationId xmlns:a16="http://schemas.microsoft.com/office/drawing/2014/main" id="{D8F17522-2B4E-7589-5AA4-4B807C76E486}"/>
              </a:ext>
            </a:extLst>
          </p:cNvPr>
          <p:cNvSpPr/>
          <p:nvPr/>
        </p:nvSpPr>
        <p:spPr>
          <a:xfrm>
            <a:off x="4336999" y="4385462"/>
            <a:ext cx="5012740" cy="603504"/>
          </a:xfrm>
          <a:prstGeom prst="rect">
            <a:avLst/>
          </a:prstGeom>
          <a:noFill/>
          <a:ln w="19050">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lIns="91440" tIns="27432" rIns="73152" bIns="27432"/>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r>
              <a:rPr lang="ja-JP" altLang="en-US"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物件の送り方に加え、営業電話なし・確認だけでも可などの送る理由と、ボタンを追加</a:t>
            </a:r>
            <a:endParaRPr lang="en-US" altLang="ja-JP"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10" name="正方形/長方形 9">
            <a:extLst>
              <a:ext uri="{FF2B5EF4-FFF2-40B4-BE49-F238E27FC236}">
                <a16:creationId xmlns:a16="http://schemas.microsoft.com/office/drawing/2014/main" id="{4EA197D1-87E1-A7E0-10DC-A97B3E9CE242}"/>
              </a:ext>
            </a:extLst>
          </p:cNvPr>
          <p:cNvSpPr/>
          <p:nvPr/>
        </p:nvSpPr>
        <p:spPr>
          <a:xfrm>
            <a:off x="4336999" y="5043830"/>
            <a:ext cx="5012740" cy="603504"/>
          </a:xfrm>
          <a:prstGeom prst="rect">
            <a:avLst/>
          </a:prstGeom>
          <a:noFill/>
          <a:ln w="19050">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lIns="91440" tIns="27432" rIns="73152" bIns="27432"/>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r>
              <a:rPr lang="ja-JP" altLang="en-US"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「物件を送る」「100円になるか確認」などを常に表示。よくある質問はキーワード応答で即時に回答</a:t>
            </a:r>
            <a:endParaRPr lang="en-US" altLang="ja-JP"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11" name="正方形/長方形 10">
            <a:extLst>
              <a:ext uri="{FF2B5EF4-FFF2-40B4-BE49-F238E27FC236}">
                <a16:creationId xmlns:a16="http://schemas.microsoft.com/office/drawing/2014/main" id="{F77C2B00-62DD-3F17-C580-88FF79772D67}"/>
              </a:ext>
            </a:extLst>
          </p:cNvPr>
          <p:cNvSpPr/>
          <p:nvPr/>
        </p:nvSpPr>
        <p:spPr>
          <a:xfrm>
            <a:off x="4336999" y="5702198"/>
            <a:ext cx="5012740" cy="603504"/>
          </a:xfrm>
          <a:prstGeom prst="rect">
            <a:avLst/>
          </a:prstGeom>
          <a:noFill/>
          <a:ln w="19050">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lIns="91440" tIns="27432" rIns="73152" bIns="27432"/>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r>
              <a:rPr lang="ja-JP" altLang="en-US"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友だち追加から14日間・全10通で物件の送信を後押しし、月4本の企画配信で今の友だちにも案内</a:t>
            </a:r>
            <a:endParaRPr lang="en-US" altLang="ja-JP"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12" name="正方形/長方形 11">
            <a:extLst>
              <a:ext uri="{FF2B5EF4-FFF2-40B4-BE49-F238E27FC236}">
                <a16:creationId xmlns:a16="http://schemas.microsoft.com/office/drawing/2014/main" id="{43593DC4-44C8-70F2-9B54-7FF41602B0D5}"/>
              </a:ext>
            </a:extLst>
          </p:cNvPr>
          <p:cNvSpPr/>
          <p:nvPr/>
        </p:nvSpPr>
        <p:spPr>
          <a:xfrm>
            <a:off x="595274" y="3727094"/>
            <a:ext cx="914400" cy="1261872"/>
          </a:xfrm>
          <a:prstGeom prst="rect">
            <a:avLst/>
          </a:prstGeom>
          <a:solidFill>
            <a:schemeClr val="accent1">
              <a:lumMod val="20000"/>
              <a:lumOff val="80000"/>
            </a:schemeClr>
          </a:solidFill>
          <a:ln w="190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lIns="27432" rIns="27432"/>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en-US" altLang="ja-JP" sz="14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入口・</a:t>
            </a:r>
          </a:p>
          <a:p>
            <a:pPr algn="ctr"/>
            <a:r>
              <a:rPr lang="ja-JP" altLang="en-US" sz="14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あいさつ</a:t>
            </a:r>
            <a:endParaRPr lang="en-US" altLang="ja-JP" sz="14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13" name="正方形/長方形 12">
            <a:extLst>
              <a:ext uri="{FF2B5EF4-FFF2-40B4-BE49-F238E27FC236}">
                <a16:creationId xmlns:a16="http://schemas.microsoft.com/office/drawing/2014/main" id="{2531A44D-6AD0-F803-BAD2-393C8D512170}"/>
              </a:ext>
            </a:extLst>
          </p:cNvPr>
          <p:cNvSpPr/>
          <p:nvPr/>
        </p:nvSpPr>
        <p:spPr>
          <a:xfrm>
            <a:off x="595274" y="5043830"/>
            <a:ext cx="914400" cy="1261872"/>
          </a:xfrm>
          <a:prstGeom prst="rect">
            <a:avLst/>
          </a:prstGeom>
          <a:solidFill>
            <a:schemeClr val="accent1">
              <a:lumMod val="20000"/>
              <a:lumOff val="80000"/>
            </a:schemeClr>
          </a:solidFill>
          <a:ln w="190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lIns="27432" rIns="27432"/>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en-US" altLang="ja-JP" sz="14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追加後の</a:t>
            </a:r>
          </a:p>
          <a:p>
            <a:pPr algn="ctr"/>
            <a:r>
              <a:rPr lang="ja-JP" altLang="en-US" sz="14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案内</a:t>
            </a:r>
            <a:endParaRPr lang="en-US" altLang="ja-JP" sz="14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17" name="正方形/長方形 16">
            <a:extLst>
              <a:ext uri="{FF2B5EF4-FFF2-40B4-BE49-F238E27FC236}">
                <a16:creationId xmlns:a16="http://schemas.microsoft.com/office/drawing/2014/main" id="{293BFA5E-B3C0-35B6-6EFD-E308F58F4E4D}"/>
              </a:ext>
            </a:extLst>
          </p:cNvPr>
          <p:cNvSpPr/>
          <p:nvPr/>
        </p:nvSpPr>
        <p:spPr>
          <a:xfrm>
            <a:off x="503965" y="3316813"/>
            <a:ext cx="8898070" cy="366112"/>
          </a:xfrm>
          <a:prstGeom prst="rect">
            <a:avLst/>
          </a:prstGeom>
          <a:solidFill>
            <a:schemeClr val="accent1">
              <a:lumMod val="20000"/>
              <a:lumOff val="80000"/>
            </a:schemeClr>
          </a:solidFill>
          <a:ln>
            <a:solidFill>
              <a:schemeClr val="accent1">
                <a:lumMod val="60000"/>
                <a:lumOff val="4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tIns="18288" rtlCol="0" anchor="ctr" bIns="18288"/>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indent="173038"/>
            <a:r>
              <a:rPr lang="ja-JP" altLang="en-US" b="1" dirty="0" sz="1800">
                <a:solidFill>
                  <a:schemeClr val="accent1">
                    <a:lumMod val="75000"/>
                  </a:schemeClr>
                </a:solidFill>
                <a:effectLst/>
                <a:latin typeface="メイリオ" panose="020B0604030504040204" pitchFamily="50" charset="-128"/>
                <a:ea typeface="メイリオ" panose="020B0604030504040204" pitchFamily="50" charset="-128"/>
                <a:cs typeface="メイリオ" panose="020B0604030504040204" pitchFamily="50" charset="-128"/>
              </a:rPr>
              <a:t>手法</a:t>
            </a:r>
          </a:p>
        </p:txBody>
      </p:sp>
    </p:spTree>
    <p:extLst>
      <p:ext uri="{BB962C8B-B14F-4D97-AF65-F5344CB8AC3E}">
        <p14:creationId xmlns:p14="http://schemas.microsoft.com/office/powerpoint/2010/main" val="31366202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55A3DF-C10C-8FE5-7F9E-31ABEE07B259}"/>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90EE3F49-35DE-76F6-E16B-C52951514707}"/>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D5F65FCA-9F11-3F13-D2F2-A6E61F220801}"/>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sp>
        <p:nvSpPr>
          <p:cNvPr id="45" name="Google Shape;156;p7">
            <a:extLst>
              <a:ext uri="{FF2B5EF4-FFF2-40B4-BE49-F238E27FC236}">
                <a16:creationId xmlns:a16="http://schemas.microsoft.com/office/drawing/2014/main" id="{0ED16010-4596-5D53-EEA4-CE60ADBA0ED5}"/>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想定の費用対効果</a:t>
            </a:r>
            <a:endParaRPr sz="1600" b="1" dirty="0">
              <a:solidFill>
                <a:srgbClr val="002060"/>
              </a:solidFill>
              <a:latin typeface="Meiryo"/>
              <a:ea typeface="Meiryo"/>
              <a:cs typeface="Meiryo"/>
              <a:sym typeface="Meiryo"/>
            </a:endParaRPr>
          </a:p>
        </p:txBody>
      </p:sp>
      <p:cxnSp>
        <p:nvCxnSpPr>
          <p:cNvPr id="2" name="直線コネクタ 1">
            <a:extLst>
              <a:ext uri="{FF2B5EF4-FFF2-40B4-BE49-F238E27FC236}">
                <a16:creationId xmlns:a16="http://schemas.microsoft.com/office/drawing/2014/main" id="{FAC7DBDD-AB66-4379-9061-7EE7673C8D36}"/>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5" name="正方形/長方形 4">
            <a:extLst>
              <a:ext uri="{FF2B5EF4-FFF2-40B4-BE49-F238E27FC236}">
                <a16:creationId xmlns:a16="http://schemas.microsoft.com/office/drawing/2014/main" id="{57B12960-F95F-F815-42F4-98678B7CBC86}"/>
              </a:ext>
            </a:extLst>
          </p:cNvPr>
          <p:cNvSpPr/>
          <p:nvPr/>
        </p:nvSpPr>
        <p:spPr>
          <a:xfrm>
            <a:off x="261257" y="1517904"/>
            <a:ext cx="2899954" cy="38404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chemeClr val="bg1"/>
                </a:solidFill>
                <a:latin typeface="メイリオ" panose="020B0604030504040204" pitchFamily="50" charset="-128"/>
                <a:ea typeface="メイリオ" panose="020B0604030504040204" pitchFamily="50" charset="-128"/>
              </a:rPr>
              <a:t>初期</a:t>
            </a:r>
          </a:p>
        </p:txBody>
      </p:sp>
      <p:sp>
        <p:nvSpPr>
          <p:cNvPr id="7" name="正方形/長方形 6">
            <a:extLst>
              <a:ext uri="{FF2B5EF4-FFF2-40B4-BE49-F238E27FC236}">
                <a16:creationId xmlns:a16="http://schemas.microsoft.com/office/drawing/2014/main" id="{2D73F25E-11E1-6B69-BF72-02319EB2875A}"/>
              </a:ext>
            </a:extLst>
          </p:cNvPr>
          <p:cNvSpPr/>
          <p:nvPr/>
        </p:nvSpPr>
        <p:spPr>
          <a:xfrm>
            <a:off x="3337560" y="1517904"/>
            <a:ext cx="2899954" cy="38404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chemeClr val="bg1"/>
                </a:solidFill>
                <a:latin typeface="メイリオ" panose="020B0604030504040204" pitchFamily="50" charset="-128"/>
                <a:ea typeface="メイリオ" panose="020B0604030504040204" pitchFamily="50" charset="-128"/>
              </a:rPr>
              <a:t>月次</a:t>
            </a:r>
          </a:p>
        </p:txBody>
      </p:sp>
      <p:sp>
        <p:nvSpPr>
          <p:cNvPr id="8" name="正方形/長方形 7">
            <a:extLst>
              <a:ext uri="{FF2B5EF4-FFF2-40B4-BE49-F238E27FC236}">
                <a16:creationId xmlns:a16="http://schemas.microsoft.com/office/drawing/2014/main" id="{199847F9-D2D7-C50C-BB87-1E906E928D4B}"/>
              </a:ext>
            </a:extLst>
          </p:cNvPr>
          <p:cNvSpPr/>
          <p:nvPr/>
        </p:nvSpPr>
        <p:spPr>
          <a:xfrm>
            <a:off x="261257" y="1956816"/>
            <a:ext cx="2899954" cy="67665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600" b="1" dirty="0">
                <a:solidFill>
                  <a:schemeClr val="tx1"/>
                </a:solidFill>
                <a:latin typeface="メイリオ" panose="020B0604030504040204" pitchFamily="50" charset="-128"/>
                <a:ea typeface="メイリオ" panose="020B0604030504040204" pitchFamily="50" charset="-128"/>
              </a:rPr>
              <a:t>¥215,000</a:t>
            </a:r>
            <a:endParaRPr kumimoji="1" lang="ja-JP" altLang="en-US" sz="1600" b="1" dirty="0">
              <a:solidFill>
                <a:schemeClr val="tx1"/>
              </a:solidFill>
              <a:latin typeface="メイリオ" panose="020B0604030504040204" pitchFamily="50" charset="-128"/>
              <a:ea typeface="メイリオ" panose="020B0604030504040204" pitchFamily="50" charset="-128"/>
            </a:endParaRPr>
          </a:p>
        </p:txBody>
      </p:sp>
      <p:sp>
        <p:nvSpPr>
          <p:cNvPr id="10" name="正方形/長方形 9">
            <a:extLst>
              <a:ext uri="{FF2B5EF4-FFF2-40B4-BE49-F238E27FC236}">
                <a16:creationId xmlns:a16="http://schemas.microsoft.com/office/drawing/2014/main" id="{63A7B228-99E2-EBCF-6198-F3D1FAD9898F}"/>
              </a:ext>
            </a:extLst>
          </p:cNvPr>
          <p:cNvSpPr/>
          <p:nvPr/>
        </p:nvSpPr>
        <p:spPr>
          <a:xfrm>
            <a:off x="3337560" y="1956816"/>
            <a:ext cx="2899954" cy="67665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600" b="1" dirty="0">
                <a:solidFill>
                  <a:schemeClr val="tx1"/>
                </a:solidFill>
                <a:latin typeface="メイリオ" panose="020B0604030504040204" pitchFamily="50" charset="-128"/>
                <a:ea typeface="メイリオ" panose="020B0604030504040204" pitchFamily="50" charset="-128"/>
              </a:rPr>
              <a:t>¥135,000</a:t>
            </a:r>
            <a:endParaRPr lang="ja-JP" altLang="en-US" sz="1600" b="1" dirty="0">
              <a:solidFill>
                <a:schemeClr val="tx1"/>
              </a:solidFill>
              <a:latin typeface="メイリオ" panose="020B0604030504040204" pitchFamily="50" charset="-128"/>
              <a:ea typeface="メイリオ" panose="020B0604030504040204" pitchFamily="50" charset="-128"/>
            </a:endParaRPr>
          </a:p>
        </p:txBody>
      </p:sp>
      <p:sp>
        <p:nvSpPr>
          <p:cNvPr id="15" name="矢印: 右 14">
            <a:extLst>
              <a:ext uri="{FF2B5EF4-FFF2-40B4-BE49-F238E27FC236}">
                <a16:creationId xmlns:a16="http://schemas.microsoft.com/office/drawing/2014/main" id="{C9D5333B-E781-F21F-8A3E-D6FE2FD21602}"/>
              </a:ext>
            </a:extLst>
          </p:cNvPr>
          <p:cNvSpPr/>
          <p:nvPr/>
        </p:nvSpPr>
        <p:spPr>
          <a:xfrm>
            <a:off x="6379031" y="1956816"/>
            <a:ext cx="365760" cy="2798064"/>
          </a:xfrm>
          <a:prstGeom prst="rightArrow">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正方形/長方形 16">
            <a:extLst>
              <a:ext uri="{FF2B5EF4-FFF2-40B4-BE49-F238E27FC236}">
                <a16:creationId xmlns:a16="http://schemas.microsoft.com/office/drawing/2014/main" id="{EEF41587-0DB5-E870-CE7C-9CC369CE0FEE}"/>
              </a:ext>
            </a:extLst>
          </p:cNvPr>
          <p:cNvSpPr/>
          <p:nvPr/>
        </p:nvSpPr>
        <p:spPr>
          <a:xfrm>
            <a:off x="6744791" y="1517904"/>
            <a:ext cx="2899952" cy="384048"/>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solidFill>
                  <a:schemeClr val="bg1"/>
                </a:solidFill>
                <a:latin typeface="メイリオ" panose="020B0604030504040204" pitchFamily="50" charset="-128"/>
                <a:ea typeface="メイリオ" panose="020B0604030504040204" pitchFamily="50" charset="-128"/>
              </a:rPr>
              <a:t>6</a:t>
            </a:r>
            <a:r>
              <a:rPr kumimoji="1" lang="ja-JP" altLang="en-US" sz="1400" dirty="0">
                <a:solidFill>
                  <a:schemeClr val="bg1"/>
                </a:solidFill>
                <a:latin typeface="メイリオ" panose="020B0604030504040204" pitchFamily="50" charset="-128"/>
                <a:ea typeface="メイリオ" panose="020B0604030504040204" pitchFamily="50" charset="-128"/>
              </a:rPr>
              <a:t>か月後</a:t>
            </a:r>
          </a:p>
        </p:txBody>
      </p:sp>
      <p:sp>
        <p:nvSpPr>
          <p:cNvPr id="19" name="テキスト ボックス 18">
            <a:extLst>
              <a:ext uri="{FF2B5EF4-FFF2-40B4-BE49-F238E27FC236}">
                <a16:creationId xmlns:a16="http://schemas.microsoft.com/office/drawing/2014/main" id="{310A0391-C27F-47EB-C4DA-F30ADEFF5697}"/>
              </a:ext>
            </a:extLst>
          </p:cNvPr>
          <p:cNvSpPr txBox="1"/>
          <p:nvPr/>
        </p:nvSpPr>
        <p:spPr>
          <a:xfrm>
            <a:off x="261518" y="2688336"/>
            <a:ext cx="2899562" cy="347472"/>
          </a:xfrm>
          <a:prstGeom prst="rect">
            <a:avLst/>
          </a:prstGeom>
          <a:noFill/>
        </p:spPr>
        <p:txBody>
          <a:bodyPr wrap="square" anchor="ctr">
            <a:noAutofit/>
          </a:bodyPr>
          <a:lstStyle/>
          <a:p>
            <a:pPr algn="ctr"/>
            <a:r>
              <a:rPr kumimoji="1" lang="en-US" altLang="ja-JP" sz="1400" dirty="0">
                <a:solidFill>
                  <a:schemeClr val="tx1"/>
                </a:solidFill>
                <a:latin typeface="メイリオ" panose="020B0604030504040204" pitchFamily="50" charset="-128"/>
                <a:ea typeface="メイリオ" panose="020B0604030504040204" pitchFamily="50" charset="-128"/>
              </a:rPr>
              <a:t>&lt;</a:t>
            </a:r>
            <a:r>
              <a:rPr kumimoji="1" lang="ja-JP" altLang="en-US" sz="1400" dirty="0">
                <a:solidFill>
                  <a:schemeClr val="tx1"/>
                </a:solidFill>
                <a:latin typeface="メイリオ" panose="020B0604030504040204" pitchFamily="50" charset="-128"/>
                <a:ea typeface="メイリオ" panose="020B0604030504040204" pitchFamily="50" charset="-128"/>
              </a:rPr>
              <a:t>実施内容</a:t>
            </a:r>
            <a:r>
              <a:rPr kumimoji="1" lang="en-US" altLang="ja-JP" sz="1400" dirty="0">
                <a:solidFill>
                  <a:schemeClr val="tx1"/>
                </a:solidFill>
                <a:latin typeface="メイリオ" panose="020B0604030504040204" pitchFamily="50" charset="-128"/>
                <a:ea typeface="メイリオ" panose="020B0604030504040204" pitchFamily="50" charset="-128"/>
              </a:rPr>
              <a:t>&gt;</a:t>
            </a:r>
            <a:endParaRPr kumimoji="1" lang="ja-JP" altLang="en-US" sz="1400" dirty="0">
              <a:solidFill>
                <a:schemeClr val="tx1"/>
              </a:solidFill>
              <a:latin typeface="メイリオ" panose="020B0604030504040204" pitchFamily="50" charset="-128"/>
              <a:ea typeface="メイリオ" panose="020B0604030504040204" pitchFamily="50" charset="-128"/>
            </a:endParaRPr>
          </a:p>
        </p:txBody>
      </p:sp>
      <p:sp>
        <p:nvSpPr>
          <p:cNvPr id="21" name="テキスト ボックス 20">
            <a:extLst>
              <a:ext uri="{FF2B5EF4-FFF2-40B4-BE49-F238E27FC236}">
                <a16:creationId xmlns:a16="http://schemas.microsoft.com/office/drawing/2014/main" id="{A604517E-5D11-7843-773C-E3FD1B8C7C60}"/>
              </a:ext>
            </a:extLst>
          </p:cNvPr>
          <p:cNvSpPr txBox="1"/>
          <p:nvPr/>
        </p:nvSpPr>
        <p:spPr>
          <a:xfrm>
            <a:off x="3337560" y="2688336"/>
            <a:ext cx="2899562" cy="347472"/>
          </a:xfrm>
          <a:prstGeom prst="rect">
            <a:avLst/>
          </a:prstGeom>
          <a:noFill/>
        </p:spPr>
        <p:txBody>
          <a:bodyPr wrap="square" anchor="ctr">
            <a:noAutofit/>
          </a:bodyPr>
          <a:lstStyle/>
          <a:p>
            <a:pPr algn="ctr"/>
            <a:r>
              <a:rPr kumimoji="1" lang="en-US" altLang="ja-JP" sz="1400" dirty="0">
                <a:solidFill>
                  <a:schemeClr val="tx1"/>
                </a:solidFill>
                <a:latin typeface="メイリオ" panose="020B0604030504040204" pitchFamily="50" charset="-128"/>
                <a:ea typeface="メイリオ" panose="020B0604030504040204" pitchFamily="50" charset="-128"/>
              </a:rPr>
              <a:t>&lt;</a:t>
            </a:r>
            <a:r>
              <a:rPr kumimoji="1" lang="ja-JP" altLang="en-US" sz="1400" dirty="0">
                <a:solidFill>
                  <a:schemeClr val="tx1"/>
                </a:solidFill>
                <a:latin typeface="メイリオ" panose="020B0604030504040204" pitchFamily="50" charset="-128"/>
                <a:ea typeface="メイリオ" panose="020B0604030504040204" pitchFamily="50" charset="-128"/>
              </a:rPr>
              <a:t>実施内容</a:t>
            </a:r>
            <a:r>
              <a:rPr kumimoji="1" lang="en-US" altLang="ja-JP" sz="1400" dirty="0">
                <a:solidFill>
                  <a:schemeClr val="tx1"/>
                </a:solidFill>
                <a:latin typeface="メイリオ" panose="020B0604030504040204" pitchFamily="50" charset="-128"/>
                <a:ea typeface="メイリオ" panose="020B0604030504040204" pitchFamily="50" charset="-128"/>
              </a:rPr>
              <a:t>&gt;</a:t>
            </a:r>
            <a:endParaRPr kumimoji="1" lang="ja-JP" altLang="en-US" sz="1400" dirty="0">
              <a:solidFill>
                <a:schemeClr val="tx1"/>
              </a:solidFill>
              <a:latin typeface="メイリオ" panose="020B0604030504040204" pitchFamily="50" charset="-128"/>
              <a:ea typeface="メイリオ" panose="020B0604030504040204" pitchFamily="50" charset="-128"/>
            </a:endParaRPr>
          </a:p>
        </p:txBody>
      </p:sp>
      <p:sp>
        <p:nvSpPr>
          <p:cNvPr id="25" name="正方形/長方形 24">
            <a:extLst>
              <a:ext uri="{FF2B5EF4-FFF2-40B4-BE49-F238E27FC236}">
                <a16:creationId xmlns:a16="http://schemas.microsoft.com/office/drawing/2014/main" id="{873C1A32-DE1E-D85A-180C-1A75241C4F24}"/>
              </a:ext>
            </a:extLst>
          </p:cNvPr>
          <p:cNvSpPr/>
          <p:nvPr/>
        </p:nvSpPr>
        <p:spPr>
          <a:xfrm>
            <a:off x="3383279" y="3090672"/>
            <a:ext cx="1426464" cy="448056"/>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45720" tIns="18288" rIns="45720" bIns="18288"/>
          <a:lstStyle/>
          <a:p>
            <a:pPr algn="ctr"/>
            <a:r>
              <a:rPr kumimoji="1" lang="ja-JP" altLang="en-US" sz="1300" dirty="0">
                <a:solidFill>
                  <a:schemeClr val="bg1"/>
                </a:solidFill>
                <a:latin typeface="メイリオ" panose="020B0604030504040204" pitchFamily="50" charset="-128"/>
                <a:ea typeface="メイリオ" panose="020B0604030504040204" pitchFamily="50" charset="-128"/>
              </a:rPr>
              <a:t>企画配信</a:t>
            </a:r>
          </a:p>
        </p:txBody>
      </p:sp>
      <p:sp>
        <p:nvSpPr>
          <p:cNvPr id="29" name="正方形/長方形 28">
            <a:extLst>
              <a:ext uri="{FF2B5EF4-FFF2-40B4-BE49-F238E27FC236}">
                <a16:creationId xmlns:a16="http://schemas.microsoft.com/office/drawing/2014/main" id="{E77B38CC-6FB3-2601-37C4-A87B4DFC868D}"/>
              </a:ext>
            </a:extLst>
          </p:cNvPr>
          <p:cNvSpPr/>
          <p:nvPr/>
        </p:nvSpPr>
        <p:spPr>
          <a:xfrm>
            <a:off x="4846320" y="3090672"/>
            <a:ext cx="1344168" cy="44805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45720" tIns="18288" rIns="45720" bIns="18288"/>
          <a:lstStyle/>
          <a:p>
            <a:pPr algn="ctr"/>
            <a:r>
              <a:rPr kumimoji="1" lang="en-US" altLang="ja-JP" sz="1300" dirty="0">
                <a:solidFill>
                  <a:schemeClr val="tx1"/>
                </a:solidFill>
                <a:latin typeface="メイリオ" panose="020B0604030504040204" pitchFamily="50" charset="-128"/>
                <a:ea typeface="メイリオ" panose="020B0604030504040204" pitchFamily="50" charset="-128"/>
              </a:rPr>
              <a:t>月4本</a:t>
            </a:r>
          </a:p>
        </p:txBody>
      </p:sp>
      <p:sp>
        <p:nvSpPr>
          <p:cNvPr id="33" name="正方形/長方形 32">
            <a:extLst>
              <a:ext uri="{FF2B5EF4-FFF2-40B4-BE49-F238E27FC236}">
                <a16:creationId xmlns:a16="http://schemas.microsoft.com/office/drawing/2014/main" id="{4B713AEE-1C5C-F6A9-5475-72211BDE4D2B}"/>
              </a:ext>
            </a:extLst>
          </p:cNvPr>
          <p:cNvSpPr/>
          <p:nvPr/>
        </p:nvSpPr>
        <p:spPr>
          <a:xfrm>
            <a:off x="3383279" y="3579876"/>
            <a:ext cx="1426464" cy="484632"/>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45720" tIns="18288" rIns="45720" bIns="18288"/>
          <a:lstStyle/>
          <a:p>
            <a:pPr algn="ctr">
              <a:lnSpc>
                <a:spcPct val="90000"/>
              </a:lnSpc>
            </a:pPr>
            <a:r>
              <a:rPr kumimoji="1" lang="ja-JP" altLang="en-US" sz="1300" dirty="0">
                <a:solidFill>
                  <a:schemeClr val="bg1"/>
                </a:solidFill>
                <a:latin typeface="メイリオ" panose="020B0604030504040204" pitchFamily="50" charset="-128"/>
                <a:ea typeface="メイリオ" panose="020B0604030504040204" pitchFamily="50" charset="-128"/>
              </a:rPr>
              <a:t>リッチメニュー</a:t>
            </a:r>
            <a:endParaRPr kumimoji="1" lang="en-US" altLang="ja-JP" sz="1300" dirty="0">
              <a:solidFill>
                <a:schemeClr val="bg1"/>
              </a:solidFill>
              <a:latin typeface="メイリオ" panose="020B0604030504040204" pitchFamily="50" charset="-128"/>
              <a:ea typeface="メイリオ" panose="020B0604030504040204" pitchFamily="50" charset="-128"/>
            </a:endParaRPr>
          </a:p>
          <a:p>
            <a:pPr algn="ctr">
              <a:lnSpc>
                <a:spcPct val="90000"/>
              </a:lnSpc>
            </a:pPr>
            <a:r>
              <a:rPr lang="ja-JP" altLang="en-US" sz="1300" dirty="0">
                <a:solidFill>
                  <a:schemeClr val="bg1"/>
                </a:solidFill>
                <a:latin typeface="メイリオ" panose="020B0604030504040204" pitchFamily="50" charset="-128"/>
                <a:ea typeface="メイリオ" panose="020B0604030504040204" pitchFamily="50" charset="-128"/>
              </a:rPr>
              <a:t>修正変更</a:t>
            </a:r>
            <a:endParaRPr kumimoji="1" lang="ja-JP" altLang="en-US" sz="1300" dirty="0">
              <a:solidFill>
                <a:schemeClr val="bg1"/>
              </a:solidFill>
              <a:latin typeface="メイリオ" panose="020B0604030504040204" pitchFamily="50" charset="-128"/>
              <a:ea typeface="メイリオ" panose="020B0604030504040204" pitchFamily="50" charset="-128"/>
            </a:endParaRPr>
          </a:p>
        </p:txBody>
      </p:sp>
      <p:sp>
        <p:nvSpPr>
          <p:cNvPr id="37" name="正方形/長方形 36">
            <a:extLst>
              <a:ext uri="{FF2B5EF4-FFF2-40B4-BE49-F238E27FC236}">
                <a16:creationId xmlns:a16="http://schemas.microsoft.com/office/drawing/2014/main" id="{421C035C-EA8F-E32B-4A4F-7F063B546AE6}"/>
              </a:ext>
            </a:extLst>
          </p:cNvPr>
          <p:cNvSpPr/>
          <p:nvPr/>
        </p:nvSpPr>
        <p:spPr>
          <a:xfrm>
            <a:off x="4846320" y="3579876"/>
            <a:ext cx="1344168" cy="484632"/>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36576" tIns="18288" rIns="36576" bIns="18288"/>
          <a:lstStyle/>
          <a:p>
            <a:pPr algn="ctr"/>
            <a:r>
              <a:rPr kumimoji="1" lang="ja-JP" altLang="en-US" sz="1300" dirty="0">
                <a:solidFill>
                  <a:schemeClr val="tx1"/>
                </a:solidFill>
                <a:latin typeface="メイリオ" panose="020B0604030504040204" pitchFamily="50" charset="-128"/>
                <a:ea typeface="メイリオ" panose="020B0604030504040204" pitchFamily="50" charset="-128"/>
              </a:rPr>
              <a:t>月次運用範囲内で適宜調整</a:t>
            </a:r>
          </a:p>
        </p:txBody>
      </p:sp>
      <p:sp>
        <p:nvSpPr>
          <p:cNvPr id="41" name="正方形/長方形 40">
            <a:extLst>
              <a:ext uri="{FF2B5EF4-FFF2-40B4-BE49-F238E27FC236}">
                <a16:creationId xmlns:a16="http://schemas.microsoft.com/office/drawing/2014/main" id="{9BA75733-C506-7AAF-689C-0566D38B8516}"/>
              </a:ext>
            </a:extLst>
          </p:cNvPr>
          <p:cNvSpPr/>
          <p:nvPr/>
        </p:nvSpPr>
        <p:spPr>
          <a:xfrm>
            <a:off x="3383279" y="4069080"/>
            <a:ext cx="1426464" cy="448056"/>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45720" tIns="18288" rIns="45720" bIns="18288"/>
          <a:lstStyle/>
          <a:p>
            <a:pPr algn="ctr"/>
            <a:r>
              <a:rPr kumimoji="1" lang="ja-JP" altLang="en-US" sz="1300" dirty="0">
                <a:solidFill>
                  <a:schemeClr val="bg1"/>
                </a:solidFill>
                <a:latin typeface="メイリオ" panose="020B0604030504040204" pitchFamily="50" charset="-128"/>
                <a:ea typeface="メイリオ" panose="020B0604030504040204" pitchFamily="50" charset="-128"/>
              </a:rPr>
              <a:t>月次レポート</a:t>
            </a:r>
          </a:p>
        </p:txBody>
      </p:sp>
      <p:sp>
        <p:nvSpPr>
          <p:cNvPr id="46" name="正方形/長方形 45">
            <a:extLst>
              <a:ext uri="{FF2B5EF4-FFF2-40B4-BE49-F238E27FC236}">
                <a16:creationId xmlns:a16="http://schemas.microsoft.com/office/drawing/2014/main" id="{5CB780A3-73E3-5BDA-9BFB-9390DF84F0D0}"/>
              </a:ext>
            </a:extLst>
          </p:cNvPr>
          <p:cNvSpPr/>
          <p:nvPr/>
        </p:nvSpPr>
        <p:spPr>
          <a:xfrm>
            <a:off x="4846320" y="4069080"/>
            <a:ext cx="1344168" cy="44805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45720" tIns="18288" rIns="45720" bIns="18288"/>
          <a:lstStyle/>
          <a:p>
            <a:pPr algn="ctr"/>
            <a:r>
              <a:rPr kumimoji="1" lang="en-US" altLang="ja-JP" sz="1300" dirty="0">
                <a:solidFill>
                  <a:schemeClr val="tx1"/>
                </a:solidFill>
                <a:latin typeface="メイリオ" panose="020B0604030504040204" pitchFamily="50" charset="-128"/>
                <a:ea typeface="メイリオ" panose="020B0604030504040204" pitchFamily="50" charset="-128"/>
              </a:rPr>
              <a:t>1</a:t>
            </a:r>
            <a:r>
              <a:rPr kumimoji="1" lang="ja-JP" altLang="en-US" sz="1300" dirty="0">
                <a:solidFill>
                  <a:schemeClr val="tx1"/>
                </a:solidFill>
                <a:latin typeface="メイリオ" panose="020B0604030504040204" pitchFamily="50" charset="-128"/>
                <a:ea typeface="メイリオ" panose="020B0604030504040204" pitchFamily="50" charset="-128"/>
              </a:rPr>
              <a:t>回</a:t>
            </a:r>
          </a:p>
        </p:txBody>
      </p:sp>
      <p:sp>
        <p:nvSpPr>
          <p:cNvPr id="50" name="正方形/長方形 49">
            <a:extLst>
              <a:ext uri="{FF2B5EF4-FFF2-40B4-BE49-F238E27FC236}">
                <a16:creationId xmlns:a16="http://schemas.microsoft.com/office/drawing/2014/main" id="{9A17F9B0-0885-311C-7DC8-7C9FF52B6FF3}"/>
              </a:ext>
            </a:extLst>
          </p:cNvPr>
          <p:cNvSpPr/>
          <p:nvPr/>
        </p:nvSpPr>
        <p:spPr>
          <a:xfrm>
            <a:off x="3383279" y="4558283"/>
            <a:ext cx="1426464" cy="448056"/>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45720" tIns="18288" rIns="45720" bIns="18288"/>
          <a:lstStyle/>
          <a:p>
            <a:pPr algn="ctr"/>
            <a:r>
              <a:rPr lang="ja-JP" altLang="en-US" sz="1300" dirty="0">
                <a:solidFill>
                  <a:schemeClr val="bg1"/>
                </a:solidFill>
                <a:latin typeface="メイリオ" panose="020B0604030504040204" pitchFamily="50" charset="-128"/>
                <a:ea typeface="メイリオ" panose="020B0604030504040204" pitchFamily="50" charset="-128"/>
              </a:rPr>
              <a:t>月次定例会</a:t>
            </a:r>
          </a:p>
        </p:txBody>
      </p:sp>
      <p:sp>
        <p:nvSpPr>
          <p:cNvPr id="54" name="正方形/長方形 53">
            <a:extLst>
              <a:ext uri="{FF2B5EF4-FFF2-40B4-BE49-F238E27FC236}">
                <a16:creationId xmlns:a16="http://schemas.microsoft.com/office/drawing/2014/main" id="{F4669313-6B42-E8D5-C8B6-A97BB8BC94F4}"/>
              </a:ext>
            </a:extLst>
          </p:cNvPr>
          <p:cNvSpPr/>
          <p:nvPr/>
        </p:nvSpPr>
        <p:spPr>
          <a:xfrm>
            <a:off x="4846320" y="4558283"/>
            <a:ext cx="1344168" cy="44805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45720" tIns="18288" rIns="45720" bIns="18288"/>
          <a:lstStyle/>
          <a:p>
            <a:pPr algn="ctr"/>
            <a:r>
              <a:rPr lang="en-US" altLang="ja-JP" sz="1300" dirty="0">
                <a:solidFill>
                  <a:schemeClr val="tx1"/>
                </a:solidFill>
                <a:latin typeface="メイリオ" panose="020B0604030504040204" pitchFamily="50" charset="-128"/>
                <a:ea typeface="メイリオ" panose="020B0604030504040204" pitchFamily="50" charset="-128"/>
              </a:rPr>
              <a:t>1</a:t>
            </a:r>
            <a:r>
              <a:rPr lang="ja-JP" altLang="en-US" sz="1300" dirty="0">
                <a:solidFill>
                  <a:schemeClr val="tx1"/>
                </a:solidFill>
                <a:latin typeface="メイリオ" panose="020B0604030504040204" pitchFamily="50" charset="-128"/>
                <a:ea typeface="メイリオ" panose="020B0604030504040204" pitchFamily="50" charset="-128"/>
              </a:rPr>
              <a:t>回</a:t>
            </a:r>
          </a:p>
        </p:txBody>
      </p:sp>
      <p:sp>
        <p:nvSpPr>
          <p:cNvPr id="58" name="正方形/長方形 57">
            <a:extLst>
              <a:ext uri="{FF2B5EF4-FFF2-40B4-BE49-F238E27FC236}">
                <a16:creationId xmlns:a16="http://schemas.microsoft.com/office/drawing/2014/main" id="{698C9C70-FB31-54F8-9443-6462495BED4A}"/>
              </a:ext>
            </a:extLst>
          </p:cNvPr>
          <p:cNvSpPr/>
          <p:nvPr/>
        </p:nvSpPr>
        <p:spPr>
          <a:xfrm>
            <a:off x="3383279" y="5047488"/>
            <a:ext cx="1426464" cy="448056"/>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45720" tIns="18288" rIns="45720" bIns="18288"/>
          <a:lstStyle/>
          <a:p>
            <a:pPr algn="ctr"/>
            <a:r>
              <a:rPr kumimoji="1" lang="ja-JP" altLang="en-US" sz="1300" dirty="0">
                <a:solidFill>
                  <a:schemeClr val="bg1"/>
                </a:solidFill>
                <a:latin typeface="メイリオ" panose="020B0604030504040204" pitchFamily="50" charset="-128"/>
                <a:ea typeface="メイリオ" panose="020B0604030504040204" pitchFamily="50" charset="-128"/>
              </a:rPr>
              <a:t>離脱防止</a:t>
            </a:r>
          </a:p>
        </p:txBody>
      </p:sp>
      <p:sp>
        <p:nvSpPr>
          <p:cNvPr id="62" name="正方形/長方形 61">
            <a:extLst>
              <a:ext uri="{FF2B5EF4-FFF2-40B4-BE49-F238E27FC236}">
                <a16:creationId xmlns:a16="http://schemas.microsoft.com/office/drawing/2014/main" id="{45C7D931-8FBA-8147-09CA-92E32FE63F69}"/>
              </a:ext>
            </a:extLst>
          </p:cNvPr>
          <p:cNvSpPr/>
          <p:nvPr/>
        </p:nvSpPr>
        <p:spPr>
          <a:xfrm>
            <a:off x="4846320" y="5047488"/>
            <a:ext cx="1344168" cy="44805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45720" tIns="18288" rIns="45720" bIns="18288"/>
          <a:lstStyle/>
          <a:p>
            <a:pPr algn="ctr"/>
            <a:r>
              <a:rPr kumimoji="1" lang="ja-JP" altLang="en-US" sz="1300" dirty="0">
                <a:solidFill>
                  <a:schemeClr val="tx1"/>
                </a:solidFill>
                <a:latin typeface="メイリオ" panose="020B0604030504040204" pitchFamily="50" charset="-128"/>
                <a:ea typeface="メイリオ" panose="020B0604030504040204" pitchFamily="50" charset="-128"/>
              </a:rPr>
              <a:t>運用</a:t>
            </a:r>
          </a:p>
        </p:txBody>
      </p:sp>
      <p:sp>
        <p:nvSpPr>
          <p:cNvPr id="66" name="正方形/長方形 65">
            <a:extLst>
              <a:ext uri="{FF2B5EF4-FFF2-40B4-BE49-F238E27FC236}">
                <a16:creationId xmlns:a16="http://schemas.microsoft.com/office/drawing/2014/main" id="{FE41AB20-AB68-BF5F-43C9-2A5086821C68}"/>
              </a:ext>
            </a:extLst>
          </p:cNvPr>
          <p:cNvSpPr/>
          <p:nvPr/>
        </p:nvSpPr>
        <p:spPr>
          <a:xfrm>
            <a:off x="3383279" y="5536692"/>
            <a:ext cx="1426464" cy="448056"/>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45720" tIns="18288" rIns="45720" bIns="18288"/>
          <a:lstStyle/>
          <a:p>
            <a:pPr algn="ctr"/>
            <a:r>
              <a:rPr kumimoji="1" lang="ja-JP" altLang="en-US" sz="1300" dirty="0">
                <a:solidFill>
                  <a:schemeClr val="bg1"/>
                </a:solidFill>
                <a:latin typeface="メイリオ" panose="020B0604030504040204" pitchFamily="50" charset="-128"/>
                <a:ea typeface="メイリオ" panose="020B0604030504040204" pitchFamily="50" charset="-128"/>
              </a:rPr>
              <a:t>ステップ配信</a:t>
            </a:r>
          </a:p>
        </p:txBody>
      </p:sp>
      <p:sp>
        <p:nvSpPr>
          <p:cNvPr id="70" name="正方形/長方形 69">
            <a:extLst>
              <a:ext uri="{FF2B5EF4-FFF2-40B4-BE49-F238E27FC236}">
                <a16:creationId xmlns:a16="http://schemas.microsoft.com/office/drawing/2014/main" id="{F5281D63-B2A2-FEAB-75B0-2FFB9F84A7A2}"/>
              </a:ext>
            </a:extLst>
          </p:cNvPr>
          <p:cNvSpPr/>
          <p:nvPr/>
        </p:nvSpPr>
        <p:spPr>
          <a:xfrm>
            <a:off x="4846320" y="5536692"/>
            <a:ext cx="1344168" cy="44805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45720" tIns="18288" rIns="45720" bIns="18288"/>
          <a:lstStyle/>
          <a:p>
            <a:pPr algn="ctr"/>
            <a:r>
              <a:rPr kumimoji="1" lang="en-US" altLang="ja-JP" sz="1300" dirty="0">
                <a:solidFill>
                  <a:schemeClr val="tx1"/>
                </a:solidFill>
                <a:latin typeface="メイリオ" panose="020B0604030504040204" pitchFamily="50" charset="-128"/>
                <a:ea typeface="メイリオ" panose="020B0604030504040204" pitchFamily="50" charset="-128"/>
              </a:rPr>
              <a:t>10通の改善</a:t>
            </a:r>
          </a:p>
        </p:txBody>
      </p:sp>
      <p:sp>
        <p:nvSpPr>
          <p:cNvPr id="80" name="正方形/長方形 79">
            <a:extLst>
              <a:ext uri="{FF2B5EF4-FFF2-40B4-BE49-F238E27FC236}">
                <a16:creationId xmlns:a16="http://schemas.microsoft.com/office/drawing/2014/main" id="{86997BA3-366F-8070-9874-EFC0BCA759C0}"/>
              </a:ext>
            </a:extLst>
          </p:cNvPr>
          <p:cNvSpPr/>
          <p:nvPr/>
        </p:nvSpPr>
        <p:spPr>
          <a:xfrm>
            <a:off x="6812280" y="1956816"/>
            <a:ext cx="1426464" cy="402336"/>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45720" rIns="45720"/>
          <a:lstStyle/>
          <a:p>
            <a:pPr algn="ctr"/>
            <a:r>
              <a:rPr lang="ja-JP" altLang="en-US" sz="1400" b="1" dirty="0">
                <a:solidFill>
                  <a:schemeClr val="bg1"/>
                </a:solidFill>
                <a:latin typeface="メイリオ" panose="020B0604030504040204" pitchFamily="50" charset="-128"/>
                <a:ea typeface="メイリオ" panose="020B0604030504040204" pitchFamily="50" charset="-128"/>
              </a:rPr>
              <a:t>友だち数</a:t>
            </a:r>
            <a:endParaRPr kumimoji="1" lang="ja-JP" altLang="en-US" sz="1400" b="1" dirty="0">
              <a:solidFill>
                <a:schemeClr val="bg1"/>
              </a:solidFill>
              <a:latin typeface="メイリオ" panose="020B0604030504040204" pitchFamily="50" charset="-128"/>
              <a:ea typeface="メイリオ" panose="020B0604030504040204" pitchFamily="50" charset="-128"/>
            </a:endParaRPr>
          </a:p>
        </p:txBody>
      </p:sp>
      <p:sp>
        <p:nvSpPr>
          <p:cNvPr id="82" name="正方形/長方形 81">
            <a:extLst>
              <a:ext uri="{FF2B5EF4-FFF2-40B4-BE49-F238E27FC236}">
                <a16:creationId xmlns:a16="http://schemas.microsoft.com/office/drawing/2014/main" id="{C030D946-0A5B-51B8-4D2E-5BECA1C1AE9E}"/>
              </a:ext>
            </a:extLst>
          </p:cNvPr>
          <p:cNvSpPr/>
          <p:nvPr/>
        </p:nvSpPr>
        <p:spPr>
          <a:xfrm>
            <a:off x="6812280" y="2432304"/>
            <a:ext cx="1426464" cy="402336"/>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45720" rIns="45720"/>
          <a:lstStyle/>
          <a:p>
            <a:pPr algn="ctr"/>
            <a:r>
              <a:rPr kumimoji="1" lang="ja-JP" altLang="en-US" sz="1400" b="1" dirty="0">
                <a:solidFill>
                  <a:schemeClr val="bg1"/>
                </a:solidFill>
                <a:latin typeface="メイリオ" panose="020B0604030504040204" pitchFamily="50" charset="-128"/>
                <a:ea typeface="メイリオ" panose="020B0604030504040204" pitchFamily="50" charset="-128"/>
              </a:rPr>
              <a:t>問い合わせ①</a:t>
            </a:r>
          </a:p>
        </p:txBody>
      </p:sp>
      <p:sp>
        <p:nvSpPr>
          <p:cNvPr id="84" name="正方形/長方形 83">
            <a:extLst>
              <a:ext uri="{FF2B5EF4-FFF2-40B4-BE49-F238E27FC236}">
                <a16:creationId xmlns:a16="http://schemas.microsoft.com/office/drawing/2014/main" id="{83345E18-97D5-E0ED-7743-080BEDECAE73}"/>
              </a:ext>
            </a:extLst>
          </p:cNvPr>
          <p:cNvSpPr/>
          <p:nvPr/>
        </p:nvSpPr>
        <p:spPr>
          <a:xfrm>
            <a:off x="6812280" y="2907792"/>
            <a:ext cx="1426464" cy="402336"/>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45720" rIns="45720"/>
          <a:lstStyle/>
          <a:p>
            <a:pPr algn="ctr"/>
            <a:r>
              <a:rPr kumimoji="1" lang="ja-JP" altLang="en-US" sz="1400" b="1" dirty="0">
                <a:solidFill>
                  <a:schemeClr val="bg1"/>
                </a:solidFill>
                <a:latin typeface="メイリオ" panose="020B0604030504040204" pitchFamily="50" charset="-128"/>
                <a:ea typeface="メイリオ" panose="020B0604030504040204" pitchFamily="50" charset="-128"/>
              </a:rPr>
              <a:t>問い合わせ②</a:t>
            </a:r>
          </a:p>
        </p:txBody>
      </p:sp>
      <p:sp>
        <p:nvSpPr>
          <p:cNvPr id="86" name="正方形/長方形 85">
            <a:extLst>
              <a:ext uri="{FF2B5EF4-FFF2-40B4-BE49-F238E27FC236}">
                <a16:creationId xmlns:a16="http://schemas.microsoft.com/office/drawing/2014/main" id="{C8115FEC-D115-724E-119C-CA4DA501F779}"/>
              </a:ext>
            </a:extLst>
          </p:cNvPr>
          <p:cNvSpPr/>
          <p:nvPr/>
        </p:nvSpPr>
        <p:spPr>
          <a:xfrm>
            <a:off x="6812280" y="3383280"/>
            <a:ext cx="1426464" cy="402336"/>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45720" rIns="45720"/>
          <a:lstStyle/>
          <a:p>
            <a:pPr algn="ctr"/>
            <a:r>
              <a:rPr kumimoji="1" lang="en-US" altLang="ja-JP" sz="1400" b="1" dirty="0">
                <a:solidFill>
                  <a:schemeClr val="bg1"/>
                </a:solidFill>
                <a:latin typeface="メイリオ" panose="020B0604030504040204" pitchFamily="50" charset="-128"/>
                <a:ea typeface="メイリオ" panose="020B0604030504040204" pitchFamily="50" charset="-128"/>
              </a:rPr>
              <a:t>合計</a:t>
            </a:r>
            <a:endParaRPr kumimoji="1" lang="ja-JP" altLang="en-US" sz="1400" b="1" dirty="0">
              <a:solidFill>
                <a:schemeClr val="bg1"/>
              </a:solidFill>
              <a:latin typeface="メイリオ" panose="020B0604030504040204" pitchFamily="50" charset="-128"/>
              <a:ea typeface="メイリオ" panose="020B0604030504040204" pitchFamily="50" charset="-128"/>
            </a:endParaRPr>
          </a:p>
        </p:txBody>
      </p:sp>
      <p:sp>
        <p:nvSpPr>
          <p:cNvPr id="12" name="正方形/長方形 11">
            <a:extLst>
              <a:ext uri="{FF2B5EF4-FFF2-40B4-BE49-F238E27FC236}">
                <a16:creationId xmlns:a16="http://schemas.microsoft.com/office/drawing/2014/main" id="{94875C2E-C3E8-B767-914C-D6C0F2DFE0F4}"/>
              </a:ext>
            </a:extLst>
          </p:cNvPr>
          <p:cNvSpPr/>
          <p:nvPr/>
        </p:nvSpPr>
        <p:spPr>
          <a:xfrm>
            <a:off x="307238" y="3090672"/>
            <a:ext cx="1426464" cy="448056"/>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45720" tIns="18288" rIns="45720" bIns="18288"/>
          <a:lstStyle/>
          <a:p>
            <a:pPr algn="ctr"/>
            <a:r>
              <a:rPr kumimoji="1" lang="ja-JP" altLang="en-US" sz="1300" dirty="0">
                <a:solidFill>
                  <a:schemeClr val="bg1"/>
                </a:solidFill>
                <a:latin typeface="メイリオ" panose="020B0604030504040204" pitchFamily="50" charset="-128"/>
                <a:ea typeface="メイリオ" panose="020B0604030504040204" pitchFamily="50" charset="-128"/>
              </a:rPr>
              <a:t>あいさつ</a:t>
            </a:r>
          </a:p>
        </p:txBody>
      </p:sp>
      <p:sp>
        <p:nvSpPr>
          <p:cNvPr id="14" name="正方形/長方形 13">
            <a:extLst>
              <a:ext uri="{FF2B5EF4-FFF2-40B4-BE49-F238E27FC236}">
                <a16:creationId xmlns:a16="http://schemas.microsoft.com/office/drawing/2014/main" id="{6A51F581-11ED-01C9-5756-5F5E0AB144D9}"/>
              </a:ext>
            </a:extLst>
          </p:cNvPr>
          <p:cNvSpPr/>
          <p:nvPr/>
        </p:nvSpPr>
        <p:spPr>
          <a:xfrm>
            <a:off x="1770278" y="3090672"/>
            <a:ext cx="1344168" cy="44805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45720" tIns="18288" rIns="45720" bIns="18288"/>
          <a:lstStyle/>
          <a:p>
            <a:pPr algn="ctr"/>
            <a:r>
              <a:rPr kumimoji="1" lang="en-US" altLang="ja-JP" sz="1300" dirty="0">
                <a:solidFill>
                  <a:schemeClr val="tx1"/>
                </a:solidFill>
                <a:latin typeface="メイリオ" panose="020B0604030504040204" pitchFamily="50" charset="-128"/>
                <a:ea typeface="メイリオ" panose="020B0604030504040204" pitchFamily="50" charset="-128"/>
              </a:rPr>
              <a:t>改善</a:t>
            </a:r>
          </a:p>
        </p:txBody>
      </p:sp>
      <p:sp>
        <p:nvSpPr>
          <p:cNvPr id="18" name="正方形/長方形 17">
            <a:extLst>
              <a:ext uri="{FF2B5EF4-FFF2-40B4-BE49-F238E27FC236}">
                <a16:creationId xmlns:a16="http://schemas.microsoft.com/office/drawing/2014/main" id="{3895398F-633D-A0A2-5E8D-34C4C8E66416}"/>
              </a:ext>
            </a:extLst>
          </p:cNvPr>
          <p:cNvSpPr/>
          <p:nvPr/>
        </p:nvSpPr>
        <p:spPr>
          <a:xfrm>
            <a:off x="307238" y="3579876"/>
            <a:ext cx="1426464" cy="448056"/>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45720" tIns="18288" rIns="45720" bIns="18288"/>
          <a:lstStyle/>
          <a:p>
            <a:pPr algn="ctr"/>
            <a:r>
              <a:rPr kumimoji="1" lang="ja-JP" altLang="en-US" sz="1300" dirty="0">
                <a:solidFill>
                  <a:schemeClr val="bg1"/>
                </a:solidFill>
                <a:latin typeface="メイリオ" panose="020B0604030504040204" pitchFamily="50" charset="-128"/>
                <a:ea typeface="メイリオ" panose="020B0604030504040204" pitchFamily="50" charset="-128"/>
              </a:rPr>
              <a:t>リッチメニュー</a:t>
            </a:r>
            <a:endParaRPr kumimoji="1" lang="en-US" altLang="ja-JP" sz="1300" dirty="0">
              <a:solidFill>
                <a:schemeClr val="bg1"/>
              </a:solidFill>
              <a:latin typeface="メイリオ" panose="020B0604030504040204" pitchFamily="50" charset="-128"/>
              <a:ea typeface="メイリオ" panose="020B0604030504040204" pitchFamily="50" charset="-128"/>
            </a:endParaRPr>
          </a:p>
        </p:txBody>
      </p:sp>
      <p:sp>
        <p:nvSpPr>
          <p:cNvPr id="22" name="正方形/長方形 21">
            <a:extLst>
              <a:ext uri="{FF2B5EF4-FFF2-40B4-BE49-F238E27FC236}">
                <a16:creationId xmlns:a16="http://schemas.microsoft.com/office/drawing/2014/main" id="{AE5F6194-101E-2C0F-EC87-0FF8E59D82C0}"/>
              </a:ext>
            </a:extLst>
          </p:cNvPr>
          <p:cNvSpPr/>
          <p:nvPr/>
        </p:nvSpPr>
        <p:spPr>
          <a:xfrm>
            <a:off x="1770278" y="3579876"/>
            <a:ext cx="1344168" cy="44805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45720" tIns="18288" rIns="45720" bIns="18288"/>
          <a:lstStyle/>
          <a:p>
            <a:pPr algn="ctr"/>
            <a:r>
              <a:rPr kumimoji="1" lang="ja-JP" altLang="en-US" sz="1300" dirty="0">
                <a:solidFill>
                  <a:schemeClr val="tx1"/>
                </a:solidFill>
                <a:latin typeface="メイリオ" panose="020B0604030504040204" pitchFamily="50" charset="-128"/>
                <a:ea typeface="メイリオ" panose="020B0604030504040204" pitchFamily="50" charset="-128"/>
              </a:rPr>
              <a:t>新規作成</a:t>
            </a:r>
          </a:p>
        </p:txBody>
      </p:sp>
      <p:sp>
        <p:nvSpPr>
          <p:cNvPr id="26" name="正方形/長方形 25">
            <a:extLst>
              <a:ext uri="{FF2B5EF4-FFF2-40B4-BE49-F238E27FC236}">
                <a16:creationId xmlns:a16="http://schemas.microsoft.com/office/drawing/2014/main" id="{98DCF835-0DB5-EA3F-AB90-2036AE2C6924}"/>
              </a:ext>
            </a:extLst>
          </p:cNvPr>
          <p:cNvSpPr/>
          <p:nvPr/>
        </p:nvSpPr>
        <p:spPr>
          <a:xfrm>
            <a:off x="307238" y="4069080"/>
            <a:ext cx="1426464" cy="448056"/>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45720" tIns="18288" rIns="45720" bIns="18288"/>
          <a:lstStyle/>
          <a:p>
            <a:pPr algn="ctr"/>
            <a:r>
              <a:rPr kumimoji="1" lang="ja-JP" altLang="en-US" sz="1300" dirty="0">
                <a:solidFill>
                  <a:schemeClr val="bg1"/>
                </a:solidFill>
                <a:latin typeface="メイリオ" panose="020B0604030504040204" pitchFamily="50" charset="-128"/>
                <a:ea typeface="メイリオ" panose="020B0604030504040204" pitchFamily="50" charset="-128"/>
              </a:rPr>
              <a:t>ステップ配信</a:t>
            </a:r>
          </a:p>
        </p:txBody>
      </p:sp>
      <p:sp>
        <p:nvSpPr>
          <p:cNvPr id="30" name="正方形/長方形 29">
            <a:extLst>
              <a:ext uri="{FF2B5EF4-FFF2-40B4-BE49-F238E27FC236}">
                <a16:creationId xmlns:a16="http://schemas.microsoft.com/office/drawing/2014/main" id="{8BC6593C-0EB3-4DA4-0080-AD58D961A0D1}"/>
              </a:ext>
            </a:extLst>
          </p:cNvPr>
          <p:cNvSpPr/>
          <p:nvPr/>
        </p:nvSpPr>
        <p:spPr>
          <a:xfrm>
            <a:off x="1770278" y="4069080"/>
            <a:ext cx="1344168" cy="44805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45720" tIns="18288" rIns="45720" bIns="18288"/>
          <a:lstStyle/>
          <a:p>
            <a:pPr algn="ctr"/>
            <a:r>
              <a:rPr kumimoji="1" lang="ja-JP" altLang="en-US" sz="1300" dirty="0">
                <a:solidFill>
                  <a:schemeClr val="tx1"/>
                </a:solidFill>
                <a:latin typeface="メイリオ" panose="020B0604030504040204" pitchFamily="50" charset="-128"/>
                <a:ea typeface="メイリオ" panose="020B0604030504040204" pitchFamily="50" charset="-128"/>
              </a:rPr>
              <a:t>10通を構築</a:t>
            </a:r>
          </a:p>
        </p:txBody>
      </p:sp>
      <p:sp>
        <p:nvSpPr>
          <p:cNvPr id="34" name="正方形/長方形 33">
            <a:extLst>
              <a:ext uri="{FF2B5EF4-FFF2-40B4-BE49-F238E27FC236}">
                <a16:creationId xmlns:a16="http://schemas.microsoft.com/office/drawing/2014/main" id="{F4623201-6547-9A0F-2297-B2529649C6D3}"/>
              </a:ext>
            </a:extLst>
          </p:cNvPr>
          <p:cNvSpPr/>
          <p:nvPr/>
        </p:nvSpPr>
        <p:spPr>
          <a:xfrm>
            <a:off x="307238" y="4558283"/>
            <a:ext cx="1426464" cy="448056"/>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45720" tIns="18288" rIns="45720" bIns="18288"/>
          <a:lstStyle/>
          <a:p>
            <a:pPr algn="ctr"/>
            <a:r>
              <a:rPr lang="ja-JP" altLang="en-US" sz="1300" dirty="0">
                <a:solidFill>
                  <a:schemeClr val="bg1"/>
                </a:solidFill>
                <a:latin typeface="メイリオ" panose="020B0604030504040204" pitchFamily="50" charset="-128"/>
                <a:ea typeface="メイリオ" panose="020B0604030504040204" pitchFamily="50" charset="-128"/>
              </a:rPr>
              <a:t>自動応答</a:t>
            </a:r>
          </a:p>
        </p:txBody>
      </p:sp>
      <p:sp>
        <p:nvSpPr>
          <p:cNvPr id="38" name="正方形/長方形 37">
            <a:extLst>
              <a:ext uri="{FF2B5EF4-FFF2-40B4-BE49-F238E27FC236}">
                <a16:creationId xmlns:a16="http://schemas.microsoft.com/office/drawing/2014/main" id="{47B9617A-CA0F-EDAF-61F2-07A8AB4FDE89}"/>
              </a:ext>
            </a:extLst>
          </p:cNvPr>
          <p:cNvSpPr/>
          <p:nvPr/>
        </p:nvSpPr>
        <p:spPr>
          <a:xfrm>
            <a:off x="1770278" y="4558283"/>
            <a:ext cx="1344168" cy="44805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45720" tIns="18288" rIns="45720" bIns="18288"/>
          <a:lstStyle/>
          <a:p>
            <a:pPr algn="ctr"/>
            <a:r>
              <a:rPr lang="ja-JP" altLang="en-US" sz="1300" dirty="0">
                <a:solidFill>
                  <a:schemeClr val="tx1"/>
                </a:solidFill>
                <a:latin typeface="メイリオ" panose="020B0604030504040204" pitchFamily="50" charset="-128"/>
                <a:ea typeface="メイリオ" panose="020B0604030504040204" pitchFamily="50" charset="-128"/>
              </a:rPr>
              <a:t>設定</a:t>
            </a:r>
          </a:p>
        </p:txBody>
      </p:sp>
      <p:sp>
        <p:nvSpPr>
          <p:cNvPr id="42" name="正方形/長方形 41">
            <a:extLst>
              <a:ext uri="{FF2B5EF4-FFF2-40B4-BE49-F238E27FC236}">
                <a16:creationId xmlns:a16="http://schemas.microsoft.com/office/drawing/2014/main" id="{26CDC681-1C46-FC47-0F4E-05A36BE26DCB}"/>
              </a:ext>
            </a:extLst>
          </p:cNvPr>
          <p:cNvSpPr/>
          <p:nvPr/>
        </p:nvSpPr>
        <p:spPr>
          <a:xfrm>
            <a:off x="307238" y="5047488"/>
            <a:ext cx="1426464" cy="448056"/>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45720" tIns="18288" rIns="45720" bIns="18288"/>
          <a:lstStyle/>
          <a:p>
            <a:pPr algn="ctr"/>
            <a:r>
              <a:rPr kumimoji="1" lang="ja-JP" altLang="en-US" sz="1300" dirty="0">
                <a:solidFill>
                  <a:schemeClr val="bg1"/>
                </a:solidFill>
                <a:latin typeface="メイリオ" panose="020B0604030504040204" pitchFamily="50" charset="-128"/>
                <a:ea typeface="メイリオ" panose="020B0604030504040204" pitchFamily="50" charset="-128"/>
              </a:rPr>
              <a:t>離脱防止</a:t>
            </a:r>
          </a:p>
        </p:txBody>
      </p:sp>
      <p:sp>
        <p:nvSpPr>
          <p:cNvPr id="47" name="正方形/長方形 46">
            <a:extLst>
              <a:ext uri="{FF2B5EF4-FFF2-40B4-BE49-F238E27FC236}">
                <a16:creationId xmlns:a16="http://schemas.microsoft.com/office/drawing/2014/main" id="{2DCD6556-D3E5-AAB5-6E43-9320FDD6C882}"/>
              </a:ext>
            </a:extLst>
          </p:cNvPr>
          <p:cNvSpPr/>
          <p:nvPr/>
        </p:nvSpPr>
        <p:spPr>
          <a:xfrm>
            <a:off x="1770278" y="5047488"/>
            <a:ext cx="1344168" cy="44805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45720" tIns="18288" rIns="45720" bIns="18288"/>
          <a:lstStyle/>
          <a:p>
            <a:pPr algn="ctr"/>
            <a:r>
              <a:rPr kumimoji="1" lang="ja-JP" altLang="en-US" sz="1300" dirty="0">
                <a:solidFill>
                  <a:schemeClr val="tx1"/>
                </a:solidFill>
                <a:latin typeface="メイリオ" panose="020B0604030504040204" pitchFamily="50" charset="-128"/>
                <a:ea typeface="メイリオ" panose="020B0604030504040204" pitchFamily="50" charset="-128"/>
              </a:rPr>
              <a:t>導入</a:t>
            </a:r>
          </a:p>
        </p:txBody>
      </p:sp>
      <p:sp>
        <p:nvSpPr>
          <p:cNvPr id="11" name="テキスト ボックス 10">
            <a:extLst>
              <a:ext uri="{FF2B5EF4-FFF2-40B4-BE49-F238E27FC236}">
                <a16:creationId xmlns:a16="http://schemas.microsoft.com/office/drawing/2014/main" id="{7C137CDC-5584-B43B-0B2E-4A1DDC4552B2}"/>
              </a:ext>
            </a:extLst>
          </p:cNvPr>
          <p:cNvSpPr txBox="1"/>
          <p:nvPr/>
        </p:nvSpPr>
        <p:spPr>
          <a:xfrm>
            <a:off x="8257031" y="1956816"/>
            <a:ext cx="1325880" cy="402336"/>
          </a:xfrm>
          <a:prstGeom prst="rect">
            <a:avLst/>
          </a:prstGeom>
          <a:noFill/>
        </p:spPr>
        <p:txBody>
          <a:bodyPr wrap="square" anchor="ctr">
            <a:noAutofit/>
          </a:bodyPr>
          <a:lstStyle/>
          <a:p>
            <a:pPr algn="ctr"/>
            <a:r>
              <a:rPr lang="en-US" altLang="ja-JP" sz="1400" b="1" dirty="0">
                <a:solidFill>
                  <a:srgbClr val="FF0000"/>
                </a:solidFill>
                <a:latin typeface="メイリオ" panose="020B0604030504040204" pitchFamily="50" charset="-128"/>
                <a:ea typeface="メイリオ" panose="020B0604030504040204" pitchFamily="50" charset="-128"/>
              </a:rPr>
              <a:t>約1,377人</a:t>
            </a:r>
            <a:endParaRPr kumimoji="1" lang="ja-JP" altLang="en-US" sz="1400" b="1" dirty="0">
              <a:solidFill>
                <a:srgbClr val="FF0000"/>
              </a:solidFill>
              <a:latin typeface="メイリオ" panose="020B0604030504040204" pitchFamily="50" charset="-128"/>
              <a:ea typeface="メイリオ" panose="020B0604030504040204" pitchFamily="50" charset="-128"/>
            </a:endParaRPr>
          </a:p>
        </p:txBody>
      </p:sp>
      <p:sp>
        <p:nvSpPr>
          <p:cNvPr id="16" name="テキスト ボックス 15">
            <a:extLst>
              <a:ext uri="{FF2B5EF4-FFF2-40B4-BE49-F238E27FC236}">
                <a16:creationId xmlns:a16="http://schemas.microsoft.com/office/drawing/2014/main" id="{DA174F3D-0309-7C22-438E-40B5BFC405F6}"/>
              </a:ext>
            </a:extLst>
          </p:cNvPr>
          <p:cNvSpPr txBox="1"/>
          <p:nvPr/>
        </p:nvSpPr>
        <p:spPr>
          <a:xfrm>
            <a:off x="8257031" y="2432304"/>
            <a:ext cx="1325880" cy="402336"/>
          </a:xfrm>
          <a:prstGeom prst="rect">
            <a:avLst/>
          </a:prstGeom>
          <a:noFill/>
        </p:spPr>
        <p:txBody>
          <a:bodyPr wrap="square" anchor="ctr">
            <a:noAutofit/>
          </a:bodyPr>
          <a:lstStyle/>
          <a:p>
            <a:pPr algn="ctr"/>
            <a:r>
              <a:rPr lang="en-US" altLang="ja-JP" sz="1400" b="1" dirty="0">
                <a:solidFill>
                  <a:srgbClr val="FF0000"/>
                </a:solidFill>
                <a:latin typeface="メイリオ" panose="020B0604030504040204" pitchFamily="50" charset="-128"/>
                <a:ea typeface="メイリオ" panose="020B0604030504040204" pitchFamily="50" charset="-128"/>
              </a:rPr>
              <a:t>13件/月</a:t>
            </a:r>
            <a:endParaRPr kumimoji="1" lang="ja-JP" altLang="en-US" sz="1400" b="1" dirty="0">
              <a:solidFill>
                <a:srgbClr val="FF0000"/>
              </a:solidFill>
              <a:latin typeface="メイリオ" panose="020B0604030504040204" pitchFamily="50" charset="-128"/>
              <a:ea typeface="メイリオ" panose="020B0604030504040204" pitchFamily="50" charset="-128"/>
            </a:endParaRPr>
          </a:p>
        </p:txBody>
      </p:sp>
      <p:sp>
        <p:nvSpPr>
          <p:cNvPr id="23" name="テキスト ボックス 22">
            <a:extLst>
              <a:ext uri="{FF2B5EF4-FFF2-40B4-BE49-F238E27FC236}">
                <a16:creationId xmlns:a16="http://schemas.microsoft.com/office/drawing/2014/main" id="{588260A5-44FC-C8E5-549E-7D23A899ABD5}"/>
              </a:ext>
            </a:extLst>
          </p:cNvPr>
          <p:cNvSpPr txBox="1"/>
          <p:nvPr/>
        </p:nvSpPr>
        <p:spPr>
          <a:xfrm>
            <a:off x="8257031" y="2907792"/>
            <a:ext cx="1325880" cy="402336"/>
          </a:xfrm>
          <a:prstGeom prst="rect">
            <a:avLst/>
          </a:prstGeom>
          <a:noFill/>
        </p:spPr>
        <p:txBody>
          <a:bodyPr wrap="square" anchor="ctr">
            <a:noAutofit/>
          </a:bodyPr>
          <a:lstStyle/>
          <a:p>
            <a:pPr algn="ctr"/>
            <a:r>
              <a:rPr lang="en-US" altLang="ja-JP" sz="1400" b="1" dirty="0">
                <a:solidFill>
                  <a:srgbClr val="FF0000"/>
                </a:solidFill>
                <a:latin typeface="メイリオ" panose="020B0604030504040204" pitchFamily="50" charset="-128"/>
                <a:ea typeface="メイリオ" panose="020B0604030504040204" pitchFamily="50" charset="-128"/>
              </a:rPr>
              <a:t>10件/月</a:t>
            </a:r>
            <a:endParaRPr kumimoji="1" lang="ja-JP" altLang="en-US" sz="1400" b="1" dirty="0">
              <a:solidFill>
                <a:srgbClr val="FF0000"/>
              </a:solidFill>
              <a:latin typeface="メイリオ" panose="020B0604030504040204" pitchFamily="50" charset="-128"/>
              <a:ea typeface="メイリオ" panose="020B0604030504040204" pitchFamily="50" charset="-128"/>
            </a:endParaRPr>
          </a:p>
        </p:txBody>
      </p:sp>
      <p:sp>
        <p:nvSpPr>
          <p:cNvPr id="27" name="テキスト ボックス 26">
            <a:extLst>
              <a:ext uri="{FF2B5EF4-FFF2-40B4-BE49-F238E27FC236}">
                <a16:creationId xmlns:a16="http://schemas.microsoft.com/office/drawing/2014/main" id="{9B021CC4-B451-89AD-3F9E-C80556C07471}"/>
              </a:ext>
            </a:extLst>
          </p:cNvPr>
          <p:cNvSpPr txBox="1"/>
          <p:nvPr/>
        </p:nvSpPr>
        <p:spPr>
          <a:xfrm>
            <a:off x="8257031" y="3383280"/>
            <a:ext cx="1325880" cy="402336"/>
          </a:xfrm>
          <a:prstGeom prst="rect">
            <a:avLst/>
          </a:prstGeom>
          <a:noFill/>
        </p:spPr>
        <p:txBody>
          <a:bodyPr wrap="square" anchor="ctr">
            <a:noAutofit/>
          </a:bodyPr>
          <a:lstStyle/>
          <a:p>
            <a:pPr algn="ctr"/>
            <a:r>
              <a:rPr lang="en-US" altLang="ja-JP" sz="1400" b="1" dirty="0">
                <a:solidFill>
                  <a:srgbClr val="FF0000"/>
                </a:solidFill>
                <a:latin typeface="メイリオ" panose="020B0604030504040204" pitchFamily="50" charset="-128"/>
                <a:ea typeface="メイリオ" panose="020B0604030504040204" pitchFamily="50" charset="-128"/>
              </a:rPr>
              <a:t>23件/月</a:t>
            </a:r>
            <a:endParaRPr kumimoji="1" lang="ja-JP" altLang="en-US" sz="1400" b="1" dirty="0">
              <a:solidFill>
                <a:srgbClr val="FF0000"/>
              </a:solidFill>
              <a:latin typeface="メイリオ" panose="020B0604030504040204" pitchFamily="50" charset="-128"/>
              <a:ea typeface="メイリオ" panose="020B0604030504040204" pitchFamily="50" charset="-128"/>
            </a:endParaRPr>
          </a:p>
        </p:txBody>
      </p:sp>
      <p:sp>
        <p:nvSpPr>
          <p:cNvPr id="31" name="テキスト ボックス 30">
            <a:extLst>
              <a:ext uri="{FF2B5EF4-FFF2-40B4-BE49-F238E27FC236}">
                <a16:creationId xmlns:a16="http://schemas.microsoft.com/office/drawing/2014/main" id="{582A1340-F5BE-686F-6CCA-FC4C92159723}"/>
              </a:ext>
            </a:extLst>
          </p:cNvPr>
          <p:cNvSpPr txBox="1"/>
          <p:nvPr/>
        </p:nvSpPr>
        <p:spPr>
          <a:xfrm>
            <a:off x="7959851" y="3858768"/>
            <a:ext cx="1920240" cy="365760"/>
          </a:xfrm>
          <a:prstGeom prst="rect">
            <a:avLst/>
          </a:prstGeom>
          <a:noFill/>
        </p:spPr>
        <p:txBody>
          <a:bodyPr wrap="square" lIns="18288" rIns="18288" anchor="ctr">
            <a:noAutofit/>
          </a:bodyPr>
          <a:lstStyle/>
          <a:p>
            <a:pPr algn="ctr"/>
            <a:r>
              <a:rPr lang="ja-JP" altLang="en-US" sz="1400" b="1" dirty="0">
                <a:latin typeface="メイリオ" panose="020B0604030504040204" pitchFamily="50" charset="-128"/>
                <a:ea typeface="メイリオ" panose="020B0604030504040204" pitchFamily="50" charset="-128"/>
              </a:rPr>
              <a:t>（6か月累計90件）</a:t>
            </a:r>
            <a:endParaRPr kumimoji="1" lang="ja-JP" altLang="en-US" sz="1400" b="1" dirty="0">
              <a:latin typeface="メイリオ" panose="020B0604030504040204" pitchFamily="50" charset="-128"/>
              <a:ea typeface="メイリオ" panose="020B0604030504040204" pitchFamily="50" charset="-128"/>
            </a:endParaRPr>
          </a:p>
        </p:txBody>
      </p:sp>
      <p:sp>
        <p:nvSpPr>
          <p:cNvPr id="87" name="テキスト ボックス 18">
            <a:extLst>
              <a:ext uri="{FF2B5EF4-FFF2-40B4-BE49-F238E27FC236}">
                <a16:creationId xmlns:a16="http://schemas.microsoft.com/office/drawing/2014/main" id="{310A0391-C27F-47EB-C4DA-F30ADEFF5697}"/>
              </a:ext>
            </a:extLst>
          </p:cNvPr>
          <p:cNvSpPr txBox="1"/>
          <p:nvPr/>
        </p:nvSpPr>
        <p:spPr>
          <a:xfrm>
            <a:off x="265176" y="6035040"/>
            <a:ext cx="9418320" cy="438912"/>
          </a:xfrm>
          <a:prstGeom prst="rect">
            <a:avLst/>
          </a:prstGeom>
          <a:noFill/>
        </p:spPr>
        <p:txBody>
          <a:bodyPr wrap="square">
            <a:noAutofit/>
          </a:bodyPr>
          <a:lstStyle/>
          <a:p>
            <a:pPr algn="l"/>
            <a:r>
              <a:rPr kumimoji="1" lang="en-US" altLang="ja-JP" sz="1000" dirty="0">
                <a:solidFill>
                  <a:schemeClr val="tx1"/>
                </a:solidFill>
                <a:latin typeface="メイリオ" panose="020B0604030504040204" pitchFamily="50" charset="-128"/>
                <a:ea typeface="メイリオ" panose="020B0604030504040204" pitchFamily="50" charset="-128"/>
              </a:rPr>
              <a:t>※初期＝コンサル20万円＋離脱防止1.5万円／月額＝コンサル10万円＋離脱防止3万円＋LINE公式アカウント0.5万円</a:t>
            </a:r>
            <a:endParaRPr kumimoji="1" lang="ja-JP" altLang="en-US" sz="1000" dirty="0">
              <a:solidFill>
                <a:schemeClr val="tx1"/>
              </a:solidFill>
              <a:latin typeface="メイリオ" panose="020B0604030504040204" pitchFamily="50" charset="-128"/>
              <a:ea typeface="メイリオ" panose="020B0604030504040204" pitchFamily="50" charset="-128"/>
            </a:endParaRPr>
          </a:p>
          <a:p>
            <a:pPr algn="l"/>
            <a:r>
              <a:rPr kumimoji="1" lang="en-US" altLang="ja-JP" sz="1000" dirty="0">
                <a:solidFill>
                  <a:schemeClr val="tx1"/>
                </a:solidFill>
                <a:latin typeface="メイリオ" panose="020B0604030504040204" pitchFamily="50" charset="-128"/>
                <a:ea typeface="メイリオ" panose="020B0604030504040204" pitchFamily="50" charset="-128"/>
              </a:rPr>
              <a:t>※6か月後は6か月目の月間の試算。問い合わせ①＝友だち追加直後の物件の問い合わせ、②＝ステップ配信・企画配信などからの問い合わせ</a:t>
            </a: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88" name="テキスト ボックス 30">
            <a:extLst>
              <a:ext uri="{FF2B5EF4-FFF2-40B4-BE49-F238E27FC236}">
                <a16:creationId xmlns:a16="http://schemas.microsoft.com/office/drawing/2014/main" id="{459F6DDB-7C9E-8820-DF35-6AA3914041C2}"/>
              </a:ext>
            </a:extLst>
          </p:cNvPr>
          <p:cNvSpPr txBox="1"/>
          <p:nvPr/>
        </p:nvSpPr>
        <p:spPr>
          <a:xfrm>
            <a:off x="426110" y="635508"/>
            <a:ext cx="9069019" cy="698601"/>
          </a:xfrm>
          <a:prstGeom prst="rect">
            <a:avLst/>
          </a:prstGeom>
          <a:noFill/>
        </p:spPr>
        <p:txBody>
          <a:bodyPr wrap="square" anchor="ctr">
            <a:noAutofit/>
          </a:bodyPr>
          <a:lstStyle/>
          <a:p>
            <a:pPr algn="ctr"/>
            <a:r>
              <a:rPr lang="ja-JP" altLang="en-US" sz="1400" dirty="0">
                <a:solidFill>
                  <a:schemeClr val="tx1">
                    <a:lumMod val="65000"/>
                    <a:lumOff val="35000"/>
                  </a:schemeClr>
                </a:solidFill>
                <a:latin typeface="メイリオ" panose="020B0604030504040204" pitchFamily="50" charset="-128"/>
                <a:ea typeface="メイリオ" panose="020B0604030504040204" pitchFamily="50" charset="-128"/>
              </a:rPr>
              <a:t>プラン①｜総合運用：初期21.5万円・月額13.5万円で運用します。</a:t>
            </a:r>
            <a:endParaRPr lang="en-US" altLang="ja-JP" sz="1400" dirty="0">
              <a:solidFill>
                <a:schemeClr val="tx1">
                  <a:lumMod val="65000"/>
                  <a:lumOff val="35000"/>
                </a:schemeClr>
              </a:solidFill>
              <a:latin typeface="メイリオ" panose="020B0604030504040204" pitchFamily="50" charset="-128"/>
              <a:ea typeface="メイリオ" panose="020B0604030504040204" pitchFamily="50" charset="-128"/>
            </a:endParaRPr>
          </a:p>
          <a:p>
            <a:pPr algn="ctr"/>
            <a:r>
              <a:rPr lang="ja-JP" altLang="en-US" sz="1400" b="1" dirty="0">
                <a:solidFill>
                  <a:schemeClr val="tx1">
                    <a:lumMod val="65000"/>
                    <a:lumOff val="35000"/>
                  </a:schemeClr>
                </a:solidFill>
                <a:latin typeface="メイリオ" panose="020B0604030504040204" pitchFamily="50" charset="-128"/>
                <a:ea typeface="メイリオ" panose="020B0604030504040204" pitchFamily="50" charset="-128"/>
              </a:rPr>
              <a:t>6か月目にLINE経由の問い合わせ月23件を見込みます（試算）</a:t>
            </a:r>
            <a:r>
              <a:rPr lang="ja-JP" altLang="en-US" sz="1400" b="0" dirty="0">
                <a:solidFill>
                  <a:schemeClr val="tx1">
                    <a:lumMod val="65000"/>
                    <a:lumOff val="35000"/>
                  </a:schemeClr>
                </a:solidFill>
                <a:latin typeface="メイリオ" panose="020B0604030504040204" pitchFamily="50" charset="-128"/>
                <a:ea typeface="メイリオ" panose="020B0604030504040204" pitchFamily="50" charset="-128"/>
              </a:rPr>
              <a:t>。</a:t>
            </a:r>
            <a:endParaRPr lang="en-US" altLang="ja-JP" sz="14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89" name="試算の前提"/>
          <p:cNvSpPr/>
          <p:nvPr/>
        </p:nvSpPr>
        <p:spPr>
          <a:xfrm>
            <a:off x="6812280" y="4434840"/>
            <a:ext cx="2834640" cy="1508760"/>
          </a:xfrm>
          <a:prstGeom prst="rect">
            <a:avLst/>
          </a:prstGeom>
          <a:solidFill>
            <a:srgbClr val="F4F7FF"/>
          </a:solidFill>
          <a:ln w="9525">
            <a:solidFill>
              <a:srgbClr val="D9D9D9"/>
            </a:solidFill>
          </a:ln>
        </p:spPr>
        <p:txBody>
          <a:bodyPr wrap="square" lIns="109728" tIns="73152" rIns="109728" bIns="54864" rtlCol="0" anchor="t">
            <a:noAutofit/>
          </a:bodyPr>
          <a:lstStyle/>
          <a:p>
            <a:pPr algn="l">
              <a:spcAft>
                <a:spcPts val="300"/>
              </a:spcAft>
              <a:buNone/>
            </a:pPr>
            <a:r>
              <a:rPr lang="ja-JP" altLang="en-US" sz="1200" b="1" dirty="0">
                <a:solidFill>
                  <a:srgbClr val="1F285A"/>
                </a:solidFill>
                <a:latin typeface="メイリオ" panose="020B0604030504040204" pitchFamily="50" charset="-128"/>
                <a:ea typeface="メイリオ" panose="020B0604030504040204" pitchFamily="50" charset="-128"/>
              </a:rPr>
              <a:t>＜試算の前提＞</a:t>
            </a:r>
            <a:endParaRPr lang="ja-JP" altLang="en-US" sz="1200" dirty="0"/>
          </a:p>
          <a:p>
            <a:pPr algn="l">
              <a:spcAft>
                <a:spcPts val="300"/>
              </a:spcAft>
              <a:buNone/>
            </a:pPr>
            <a:r>
              <a:rPr lang="ja-JP" altLang="en-US" sz="1200" b="0" dirty="0">
                <a:solidFill>
                  <a:srgbClr val="333333"/>
                </a:solidFill>
                <a:latin typeface="メイリオ" panose="020B0604030504040204" pitchFamily="50" charset="-128"/>
                <a:ea typeface="メイリオ" panose="020B0604030504040204" pitchFamily="50" charset="-128"/>
              </a:rPr>
              <a:t>プラン①｜総合運用の基本施策を</a:t>
            </a:r>
            <a:br>
              <a:rPr lang="ja-JP" altLang="en-US" sz="1200" b="0" dirty="0">
                <a:solidFill>
                  <a:srgbClr val="333333"/>
                </a:solidFill>
                <a:latin typeface="メイリオ" panose="020B0604030504040204" pitchFamily="50" charset="-128"/>
                <a:ea typeface="メイリオ" panose="020B0604030504040204" pitchFamily="50" charset="-128"/>
              </a:rPr>
            </a:br>
            <a:r>
              <a:rPr lang="ja-JP" altLang="en-US" sz="1200" b="0" dirty="0">
                <a:solidFill>
                  <a:srgbClr val="333333"/>
                </a:solidFill>
                <a:latin typeface="メイリオ" panose="020B0604030504040204" pitchFamily="50" charset="-128"/>
                <a:ea typeface="メイリオ" panose="020B0604030504040204" pitchFamily="50" charset="-128"/>
              </a:rPr>
              <a:t>対象とした試算です。</a:t>
            </a:r>
            <a:endParaRPr lang="ja-JP" altLang="en-US" sz="1200" dirty="0"/>
          </a:p>
          <a:p>
            <a:pPr algn="l">
              <a:spcAft>
                <a:spcPts val="300"/>
              </a:spcAft>
              <a:buNone/>
            </a:pPr>
            <a:r>
              <a:rPr lang="ja-JP" altLang="en-US" sz="1200" b="0" dirty="0">
                <a:solidFill>
                  <a:srgbClr val="333333"/>
                </a:solidFill>
                <a:latin typeface="メイリオ" panose="020B0604030504040204" pitchFamily="50" charset="-128"/>
                <a:ea typeface="メイリオ" panose="020B0604030504040204" pitchFamily="50" charset="-128"/>
              </a:rPr>
              <a:t>API連携・追加開発の効果は</a:t>
            </a:r>
            <a:br>
              <a:rPr lang="ja-JP" altLang="en-US" sz="1200" b="0" dirty="0">
                <a:solidFill>
                  <a:srgbClr val="333333"/>
                </a:solidFill>
                <a:latin typeface="メイリオ" panose="020B0604030504040204" pitchFamily="50" charset="-128"/>
                <a:ea typeface="メイリオ" panose="020B0604030504040204" pitchFamily="50" charset="-128"/>
              </a:rPr>
            </a:br>
            <a:r>
              <a:rPr lang="ja-JP" altLang="en-US" sz="1200" b="0" dirty="0">
                <a:solidFill>
                  <a:srgbClr val="333333"/>
                </a:solidFill>
                <a:latin typeface="メイリオ" panose="020B0604030504040204" pitchFamily="50" charset="-128"/>
                <a:ea typeface="メイリオ" panose="020B0604030504040204" pitchFamily="50" charset="-128"/>
              </a:rPr>
              <a:t>含みません。</a:t>
            </a:r>
            <a:endParaRPr lang="ja-JP" altLang="en-US" sz="1200" dirty="0"/>
          </a:p>
        </p:txBody>
      </p:sp>
    </p:spTree>
    <p:extLst>
      <p:ext uri="{BB962C8B-B14F-4D97-AF65-F5344CB8AC3E}">
        <p14:creationId xmlns:p14="http://schemas.microsoft.com/office/powerpoint/2010/main" val="32972215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682CB4-E2E4-29F5-FA9B-848F31DADC7C}"/>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E4CBB36F-6A78-6E75-241B-56F5E546F316}"/>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DD972FB4-83F9-0440-88DE-3A1A2ED666D1}"/>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sp>
        <p:nvSpPr>
          <p:cNvPr id="45" name="Google Shape;156;p7">
            <a:extLst>
              <a:ext uri="{FF2B5EF4-FFF2-40B4-BE49-F238E27FC236}">
                <a16:creationId xmlns:a16="http://schemas.microsoft.com/office/drawing/2014/main" id="{F192099F-5377-81D7-2989-7E200A0D8A4C}"/>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実施施策</a:t>
            </a:r>
            <a:endParaRPr sz="1600" b="1" dirty="0">
              <a:solidFill>
                <a:srgbClr val="002060"/>
              </a:solidFill>
              <a:latin typeface="Meiryo"/>
              <a:ea typeface="Meiryo"/>
              <a:cs typeface="Meiryo"/>
              <a:sym typeface="Meiryo"/>
            </a:endParaRPr>
          </a:p>
        </p:txBody>
      </p:sp>
      <p:sp>
        <p:nvSpPr>
          <p:cNvPr id="6" name="TextBox 2">
            <a:extLst>
              <a:ext uri="{FF2B5EF4-FFF2-40B4-BE49-F238E27FC236}">
                <a16:creationId xmlns:a16="http://schemas.microsoft.com/office/drawing/2014/main" id="{A90345F6-8F45-3463-0674-D84ECC52E45F}"/>
              </a:ext>
            </a:extLst>
          </p:cNvPr>
          <p:cNvSpPr/>
          <p:nvPr/>
        </p:nvSpPr>
        <p:spPr>
          <a:xfrm>
            <a:off x="426110" y="635508"/>
            <a:ext cx="9069019" cy="698601"/>
          </a:xfrm>
          <a:prstGeom prst="rect">
            <a:avLst/>
          </a:prstGeom>
          <a:noFill/>
          <a:ln w="0">
            <a:noFill/>
          </a:ln>
          <a:effectLst/>
        </p:spPr>
        <p:txBody>
          <a:bodyPr lIns="90000" tIns="45000" rIns="9000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1400" b="0" i="0" u="none" strike="noStrike" kern="1200" cap="none" spc="-1" normalizeH="0" baseline="0" noProof="0">
                <a:ln>
                  <a:noFill/>
                </a:ln>
                <a:solidFill>
                  <a:srgbClr val="5A6378"/>
                </a:solidFill>
                <a:effectLst/>
                <a:uLnTx/>
                <a:uFillTx/>
                <a:latin typeface="メイリオ" panose="020B0604030504040204" pitchFamily="50" charset="-128"/>
                <a:ea typeface="メイリオ" panose="020B0604030504040204" pitchFamily="50" charset="-128"/>
              </a:rPr>
              <a:t>友だち追加から14日間のステップ配信（全10通）と月4本の企画配信で、物件URLの送信を後押しします</a:t>
            </a:r>
            <a:endParaRPr kumimoji="1" lang="en-US" sz="1400" b="0" i="0" u="none" strike="noStrike" kern="1200" cap="none" spc="-1" normalizeH="0" baseline="0" noProof="0">
              <a:ln>
                <a:noFill/>
              </a:ln>
              <a:solidFill>
                <a:srgbClr val="000000"/>
              </a:solidFill>
              <a:effectLst/>
              <a:uLnTx/>
              <a:uFillTx/>
              <a:latin typeface="メイリオ" panose="020B0604030504040204" pitchFamily="50" charset="-128"/>
              <a:ea typeface="メイリオ" panose="020B0604030504040204" pitchFamily="50" charset="-128"/>
            </a:endParaRPr>
          </a:p>
        </p:txBody>
      </p:sp>
      <p:sp>
        <p:nvSpPr>
          <p:cNvPr id="13" name="TextBox 3">
            <a:extLst>
              <a:ext uri="{FF2B5EF4-FFF2-40B4-BE49-F238E27FC236}">
                <a16:creationId xmlns:a16="http://schemas.microsoft.com/office/drawing/2014/main" id="{731799BD-0CDF-B1A8-CC48-DE7F17D3A9C6}"/>
              </a:ext>
            </a:extLst>
          </p:cNvPr>
          <p:cNvSpPr/>
          <p:nvPr/>
        </p:nvSpPr>
        <p:spPr>
          <a:xfrm>
            <a:off x="384048" y="1371600"/>
            <a:ext cx="3657600" cy="292608"/>
          </a:xfrm>
          <a:prstGeom prst="rect">
            <a:avLst/>
          </a:prstGeom>
          <a:noFill/>
          <a:ln w="0">
            <a:noFill/>
          </a:ln>
          <a:effectLst/>
        </p:spPr>
        <p:txBody>
          <a:bodyPr lIns="45720" tIns="0" rIns="45720" bIns="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1400" b="1" i="0" u="none" strike="noStrike" kern="1200" cap="none" spc="-1" normalizeH="0" baseline="0" noProof="0">
                <a:ln>
                  <a:noFill/>
                </a:ln>
                <a:solidFill>
                  <a:srgbClr val="1F2A5C"/>
                </a:solidFill>
                <a:effectLst/>
                <a:uLnTx/>
                <a:uFillTx/>
                <a:latin typeface="メイリオ" panose="020B0604030504040204" pitchFamily="50" charset="-128"/>
                <a:ea typeface="メイリオ" panose="020B0604030504040204" pitchFamily="50" charset="-128"/>
              </a:rPr>
              <a:t>[ステップ配信・全10通]</a:t>
            </a:r>
            <a:endParaRPr kumimoji="1" lang="en-US" sz="1400" b="0" i="0" u="none" strike="noStrike" kern="1200" cap="none" spc="-1" normalizeH="0" baseline="0" noProof="0">
              <a:ln>
                <a:noFill/>
              </a:ln>
              <a:solidFill>
                <a:srgbClr val="000000"/>
              </a:solidFill>
              <a:effectLst/>
              <a:uLnTx/>
              <a:uFillTx/>
              <a:latin typeface="メイリオ" panose="020B0604030504040204" pitchFamily="50" charset="-128"/>
              <a:ea typeface="メイリオ" panose="020B0604030504040204" pitchFamily="50" charset="-128"/>
            </a:endParaRPr>
          </a:p>
        </p:txBody>
      </p:sp>
      <p:sp>
        <p:nvSpPr>
          <p:cNvPr id="20" name="Rounded Rectangle 4">
            <a:extLst>
              <a:ext uri="{FF2B5EF4-FFF2-40B4-BE49-F238E27FC236}">
                <a16:creationId xmlns:a16="http://schemas.microsoft.com/office/drawing/2014/main" id="{B07AFB34-2BBF-5EA7-D265-725DBBDEC073}"/>
              </a:ext>
            </a:extLst>
          </p:cNvPr>
          <p:cNvSpPr/>
          <p:nvPr/>
        </p:nvSpPr>
        <p:spPr>
          <a:xfrm>
            <a:off x="384048" y="1920240"/>
            <a:ext cx="987552" cy="484632"/>
          </a:xfrm>
          <a:prstGeom prst="roundRect">
            <a:avLst>
              <a:gd name="adj" fmla="val 10000"/>
            </a:avLst>
          </a:prstGeom>
          <a:solidFill>
            <a:srgbClr val="5A6378"/>
          </a:solidFill>
          <a:ln w="12700" cap="flat" cmpd="sng" algn="ctr">
            <a:solidFill>
              <a:srgbClr val="5A6378"/>
            </a:solidFill>
            <a:prstDash val="solid"/>
            <a:round/>
          </a:ln>
          <a:effectLst>
            <a:outerShdw blurRad="39960" dist="23040" dir="5400000" rotWithShape="0">
              <a:srgbClr val="000000">
                <a:alpha val="35000"/>
              </a:srgbClr>
            </a:outerShdw>
          </a:effectLst>
        </p:spPr>
        <p:txBody>
          <a:bodyPr lIns="0" tIns="18288" rIns="0" bIns="18288"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1" lang="en-US" sz="1200" b="1"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rPr>
              <a:t>1〜3日後</a:t>
            </a:r>
            <a:endParaRPr kumimoji="1" lang="en-US" sz="1200" b="0"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endParaRPr>
          </a:p>
        </p:txBody>
      </p:sp>
      <p:sp>
        <p:nvSpPr>
          <p:cNvPr id="24" name="Rounded Rectangle 5">
            <a:extLst>
              <a:ext uri="{FF2B5EF4-FFF2-40B4-BE49-F238E27FC236}">
                <a16:creationId xmlns:a16="http://schemas.microsoft.com/office/drawing/2014/main" id="{5198DCAB-7FC4-526C-A3A3-5198706E25EB}"/>
              </a:ext>
            </a:extLst>
          </p:cNvPr>
          <p:cNvSpPr/>
          <p:nvPr/>
        </p:nvSpPr>
        <p:spPr>
          <a:xfrm>
            <a:off x="1426464" y="1920240"/>
            <a:ext cx="1188720" cy="484632"/>
          </a:xfrm>
          <a:prstGeom prst="roundRect">
            <a:avLst>
              <a:gd name="adj" fmla="val 10000"/>
            </a:avLst>
          </a:prstGeom>
          <a:solidFill>
            <a:srgbClr val="F5F7FA"/>
          </a:solidFill>
          <a:ln w="12700" cap="flat" cmpd="sng" algn="ctr">
            <a:solidFill>
              <a:srgbClr val="D1D8E0"/>
            </a:solidFill>
            <a:prstDash val="solid"/>
            <a:round/>
          </a:ln>
          <a:effectLst>
            <a:outerShdw blurRad="39960" dist="23040" dir="5400000" rotWithShape="0">
              <a:srgbClr val="000000">
                <a:alpha val="35000"/>
              </a:srgbClr>
            </a:outerShdw>
          </a:effectLst>
        </p:spPr>
        <p:txBody>
          <a:bodyPr lIns="36576" tIns="18288" rIns="36576" bIns="18288"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1" lang="zh-CN" altLang="en-US" sz="1200" b="0" i="0" u="none" strike="noStrike" kern="1200" cap="none" spc="-1"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新しい友だち</a:t>
            </a:r>
            <a:endParaRPr kumimoji="1" lang="en-US" sz="1200" b="0" i="0" u="none" strike="noStrike" kern="1200" cap="none" spc="-1"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endParaRPr>
          </a:p>
        </p:txBody>
      </p:sp>
      <p:sp>
        <p:nvSpPr>
          <p:cNvPr id="28" name="Right Arrow 6">
            <a:extLst>
              <a:ext uri="{FF2B5EF4-FFF2-40B4-BE49-F238E27FC236}">
                <a16:creationId xmlns:a16="http://schemas.microsoft.com/office/drawing/2014/main" id="{56D5EAC7-41BC-0102-17C5-1A1D29A08452}"/>
              </a:ext>
            </a:extLst>
          </p:cNvPr>
          <p:cNvSpPr/>
          <p:nvPr/>
        </p:nvSpPr>
        <p:spPr>
          <a:xfrm>
            <a:off x="2615184" y="2089861"/>
            <a:ext cx="237744" cy="145389"/>
          </a:xfrm>
          <a:prstGeom prst="rightArrow">
            <a:avLst>
              <a:gd name="adj1" fmla="val 50000"/>
              <a:gd name="adj2" fmla="val 50000"/>
            </a:avLst>
          </a:prstGeom>
          <a:solidFill>
            <a:srgbClr val="9AA1AE"/>
          </a:solidFill>
          <a:ln w="9525" cap="flat" cmpd="sng" algn="ctr">
            <a:noFill/>
            <a:prstDash val="solid"/>
          </a:ln>
          <a:effectLst>
            <a:outerShdw blurRad="39960" dist="23040" dir="5400000" rotWithShape="0">
              <a:srgbClr val="000000">
                <a:alpha val="35000"/>
              </a:srgbClr>
            </a:outerShdw>
          </a:effectLst>
        </p:spPr>
        <p:txBody>
          <a:bodyPr lIns="90000" tIns="28080" rIns="90000" bIns="2808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400" b="0"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endParaRPr>
          </a:p>
        </p:txBody>
      </p:sp>
      <p:sp>
        <p:nvSpPr>
          <p:cNvPr id="32" name="Rounded Rectangle 7">
            <a:extLst>
              <a:ext uri="{FF2B5EF4-FFF2-40B4-BE49-F238E27FC236}">
                <a16:creationId xmlns:a16="http://schemas.microsoft.com/office/drawing/2014/main" id="{3BCB7237-62EF-96DD-1421-6E8CF76DFE5B}"/>
              </a:ext>
            </a:extLst>
          </p:cNvPr>
          <p:cNvSpPr/>
          <p:nvPr/>
        </p:nvSpPr>
        <p:spPr>
          <a:xfrm>
            <a:off x="2852928" y="1920240"/>
            <a:ext cx="1463040" cy="484632"/>
          </a:xfrm>
          <a:prstGeom prst="roundRect">
            <a:avLst>
              <a:gd name="adj" fmla="val 10000"/>
            </a:avLst>
          </a:prstGeom>
          <a:solidFill>
            <a:srgbClr val="F5F7FA"/>
          </a:solidFill>
          <a:ln w="12700" cap="flat" cmpd="sng" algn="ctr">
            <a:solidFill>
              <a:srgbClr val="D1D8E0"/>
            </a:solidFill>
            <a:prstDash val="solid"/>
            <a:round/>
          </a:ln>
          <a:effectLst>
            <a:outerShdw blurRad="39960" dist="23040" dir="5400000" rotWithShape="0">
              <a:srgbClr val="000000">
                <a:alpha val="35000"/>
              </a:srgbClr>
            </a:outerShdw>
          </a:effectLst>
        </p:spPr>
        <p:txBody>
          <a:bodyPr lIns="36576" tIns="18288" rIns="36576" bIns="18288"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1" lang="zh-CN" altLang="en-US" sz="1200" b="0" i="0" u="none" strike="noStrike" kern="1200" cap="none" spc="-1"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追加後に自動配信</a:t>
            </a:r>
            <a:endParaRPr kumimoji="1" lang="en-US" sz="1200" b="0" i="0" u="none" strike="noStrike" kern="1200" cap="none" spc="-1"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endParaRPr>
          </a:p>
        </p:txBody>
      </p:sp>
      <p:sp>
        <p:nvSpPr>
          <p:cNvPr id="35" name="Right Arrow 8">
            <a:extLst>
              <a:ext uri="{FF2B5EF4-FFF2-40B4-BE49-F238E27FC236}">
                <a16:creationId xmlns:a16="http://schemas.microsoft.com/office/drawing/2014/main" id="{008B76BD-548C-0954-C979-339DBDCB8134}"/>
              </a:ext>
            </a:extLst>
          </p:cNvPr>
          <p:cNvSpPr/>
          <p:nvPr/>
        </p:nvSpPr>
        <p:spPr>
          <a:xfrm>
            <a:off x="4315968" y="2089861"/>
            <a:ext cx="237744" cy="145389"/>
          </a:xfrm>
          <a:prstGeom prst="rightArrow">
            <a:avLst>
              <a:gd name="adj1" fmla="val 50000"/>
              <a:gd name="adj2" fmla="val 50000"/>
            </a:avLst>
          </a:prstGeom>
          <a:solidFill>
            <a:srgbClr val="9AA1AE"/>
          </a:solidFill>
          <a:ln w="9525" cap="flat" cmpd="sng" algn="ctr">
            <a:noFill/>
            <a:prstDash val="solid"/>
          </a:ln>
          <a:effectLst>
            <a:outerShdw blurRad="39960" dist="23040" dir="5400000" rotWithShape="0">
              <a:srgbClr val="000000">
                <a:alpha val="35000"/>
              </a:srgbClr>
            </a:outerShdw>
          </a:effectLst>
        </p:spPr>
        <p:txBody>
          <a:bodyPr lIns="90000" tIns="28080" rIns="90000" bIns="2808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400" b="0"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endParaRPr>
          </a:p>
        </p:txBody>
      </p:sp>
      <p:sp>
        <p:nvSpPr>
          <p:cNvPr id="36" name="Rounded Rectangle 9">
            <a:extLst>
              <a:ext uri="{FF2B5EF4-FFF2-40B4-BE49-F238E27FC236}">
                <a16:creationId xmlns:a16="http://schemas.microsoft.com/office/drawing/2014/main" id="{09CEFD02-EB42-0055-DFEF-9D383DFC8903}"/>
              </a:ext>
            </a:extLst>
          </p:cNvPr>
          <p:cNvSpPr/>
          <p:nvPr/>
        </p:nvSpPr>
        <p:spPr>
          <a:xfrm>
            <a:off x="4553712" y="1920240"/>
            <a:ext cx="1591056" cy="484632"/>
          </a:xfrm>
          <a:prstGeom prst="roundRect">
            <a:avLst>
              <a:gd name="adj" fmla="val 10000"/>
            </a:avLst>
          </a:prstGeom>
          <a:solidFill>
            <a:srgbClr val="F5F7FA"/>
          </a:solidFill>
          <a:ln w="12700" cap="flat" cmpd="sng" algn="ctr">
            <a:solidFill>
              <a:srgbClr val="D1D8E0"/>
            </a:solidFill>
            <a:prstDash val="solid"/>
            <a:round/>
          </a:ln>
          <a:effectLst>
            <a:outerShdw blurRad="39960" dist="23040" dir="5400000" rotWithShape="0">
              <a:srgbClr val="000000">
                <a:alpha val="35000"/>
              </a:srgbClr>
            </a:outerShdw>
          </a:effectLst>
        </p:spPr>
        <p:txBody>
          <a:bodyPr lIns="36576" tIns="18288" rIns="36576" bIns="18288"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1" lang="zh-CN" altLang="en-US" sz="1200" b="0" i="0" u="none" strike="noStrike" kern="1200" cap="none" spc="-1"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仲介手数料のしくみ</a:t>
            </a:r>
            <a:endParaRPr kumimoji="1" lang="en-US" sz="1200" b="0" i="0" u="none" strike="noStrike" kern="1200" cap="none" spc="-1"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endParaRPr>
          </a:p>
          <a:p>
            <a:pPr marL="0" marR="0" lvl="0" indent="0" algn="ctr" defTabSz="914400" rtl="0" eaLnBrk="1" fontAlgn="auto" latinLnBrk="0" hangingPunct="1">
              <a:lnSpc>
                <a:spcPct val="90000"/>
              </a:lnSpc>
              <a:spcBef>
                <a:spcPts val="0"/>
              </a:spcBef>
              <a:spcAft>
                <a:spcPts val="0"/>
              </a:spcAft>
              <a:buClrTx/>
              <a:buSzTx/>
              <a:buFontTx/>
              <a:buNone/>
              <a:tabLst/>
              <a:defRPr/>
            </a:pPr>
            <a:r>
              <a:rPr kumimoji="1" lang="zh-CN" altLang="en-US" sz="1200" b="0" i="0" u="none" strike="noStrike" kern="1200" cap="none" spc="-1"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100円チェッカー</a:t>
            </a:r>
            <a:endParaRPr kumimoji="1" lang="en-US" sz="1200" b="0" i="0" u="none" strike="noStrike" kern="1200" cap="none" spc="-1"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endParaRPr>
          </a:p>
        </p:txBody>
      </p:sp>
      <p:sp>
        <p:nvSpPr>
          <p:cNvPr id="39" name="Right Arrow 10">
            <a:extLst>
              <a:ext uri="{FF2B5EF4-FFF2-40B4-BE49-F238E27FC236}">
                <a16:creationId xmlns:a16="http://schemas.microsoft.com/office/drawing/2014/main" id="{FA4EA334-8F09-A106-E6EE-785881684EF3}"/>
              </a:ext>
            </a:extLst>
          </p:cNvPr>
          <p:cNvSpPr/>
          <p:nvPr/>
        </p:nvSpPr>
        <p:spPr>
          <a:xfrm>
            <a:off x="6144768" y="2089861"/>
            <a:ext cx="237744" cy="145389"/>
          </a:xfrm>
          <a:prstGeom prst="rightArrow">
            <a:avLst>
              <a:gd name="adj1" fmla="val 50000"/>
              <a:gd name="adj2" fmla="val 50000"/>
            </a:avLst>
          </a:prstGeom>
          <a:solidFill>
            <a:srgbClr val="9AA1AE"/>
          </a:solidFill>
          <a:ln w="9525" cap="flat" cmpd="sng" algn="ctr">
            <a:noFill/>
            <a:prstDash val="solid"/>
          </a:ln>
          <a:effectLst>
            <a:outerShdw blurRad="39960" dist="23040" dir="5400000" rotWithShape="0">
              <a:srgbClr val="000000">
                <a:alpha val="35000"/>
              </a:srgbClr>
            </a:outerShdw>
          </a:effectLst>
        </p:spPr>
        <p:txBody>
          <a:bodyPr lIns="90000" tIns="28080" rIns="90000" bIns="2808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400" b="0"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endParaRPr>
          </a:p>
        </p:txBody>
      </p:sp>
      <p:sp>
        <p:nvSpPr>
          <p:cNvPr id="40" name="Rounded Rectangle 11">
            <a:extLst>
              <a:ext uri="{FF2B5EF4-FFF2-40B4-BE49-F238E27FC236}">
                <a16:creationId xmlns:a16="http://schemas.microsoft.com/office/drawing/2014/main" id="{73C9C641-49D4-E528-B9D5-73D83C98C60E}"/>
              </a:ext>
            </a:extLst>
          </p:cNvPr>
          <p:cNvSpPr/>
          <p:nvPr/>
        </p:nvSpPr>
        <p:spPr>
          <a:xfrm>
            <a:off x="6382512" y="1920240"/>
            <a:ext cx="1591056" cy="484632"/>
          </a:xfrm>
          <a:prstGeom prst="roundRect">
            <a:avLst>
              <a:gd name="adj" fmla="val 10000"/>
            </a:avLst>
          </a:prstGeom>
          <a:solidFill>
            <a:srgbClr val="F5F7FA"/>
          </a:solidFill>
          <a:ln w="12700" cap="flat" cmpd="sng" algn="ctr">
            <a:solidFill>
              <a:srgbClr val="D1D8E0"/>
            </a:solidFill>
            <a:prstDash val="solid"/>
            <a:round/>
          </a:ln>
          <a:effectLst>
            <a:outerShdw blurRad="39960" dist="23040" dir="5400000" rotWithShape="0">
              <a:srgbClr val="000000">
                <a:alpha val="35000"/>
              </a:srgbClr>
            </a:outerShdw>
          </a:effectLst>
        </p:spPr>
        <p:txBody>
          <a:bodyPr lIns="36576" tIns="18288" rIns="36576" bIns="18288"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1" lang="zh-CN" altLang="en-US" sz="1200" b="0" i="0" u="none" strike="noStrike" kern="1200" cap="none" spc="-1"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物件URLの送信</a:t>
            </a:r>
            <a:endParaRPr kumimoji="1" lang="en-US" sz="1200" b="0" i="0" u="none" strike="noStrike" kern="1200" cap="none" spc="-1" normalizeH="0" baseline="0" noProof="0">
              <a:ln>
                <a:noFill/>
              </a:ln>
              <a:solidFill>
                <a:srgbClr val="000000"/>
              </a:solidFill>
              <a:effectLst/>
              <a:uLnTx/>
              <a:uFillTx/>
              <a:latin typeface="メイリオ" panose="020B0604030504040204" pitchFamily="50" charset="-128"/>
              <a:ea typeface="メイリオ" panose="020B0604030504040204" pitchFamily="50" charset="-128"/>
            </a:endParaRPr>
          </a:p>
        </p:txBody>
      </p:sp>
      <p:sp>
        <p:nvSpPr>
          <p:cNvPr id="43" name="Right Arrow 12">
            <a:extLst>
              <a:ext uri="{FF2B5EF4-FFF2-40B4-BE49-F238E27FC236}">
                <a16:creationId xmlns:a16="http://schemas.microsoft.com/office/drawing/2014/main" id="{23CD0EDC-7CF2-5430-7943-EC5B2618609B}"/>
              </a:ext>
            </a:extLst>
          </p:cNvPr>
          <p:cNvSpPr/>
          <p:nvPr/>
        </p:nvSpPr>
        <p:spPr>
          <a:xfrm>
            <a:off x="7973568" y="2089861"/>
            <a:ext cx="237744" cy="145389"/>
          </a:xfrm>
          <a:prstGeom prst="rightArrow">
            <a:avLst>
              <a:gd name="adj1" fmla="val 50000"/>
              <a:gd name="adj2" fmla="val 50000"/>
            </a:avLst>
          </a:prstGeom>
          <a:solidFill>
            <a:srgbClr val="9AA1AE"/>
          </a:solidFill>
          <a:ln w="9525" cap="flat" cmpd="sng" algn="ctr">
            <a:noFill/>
            <a:prstDash val="solid"/>
          </a:ln>
          <a:effectLst>
            <a:outerShdw blurRad="39960" dist="23040" dir="5400000" rotWithShape="0">
              <a:srgbClr val="000000">
                <a:alpha val="35000"/>
              </a:srgbClr>
            </a:outerShdw>
          </a:effectLst>
        </p:spPr>
        <p:txBody>
          <a:bodyPr lIns="90000" tIns="28080" rIns="90000" bIns="2808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400" b="0"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endParaRPr>
          </a:p>
        </p:txBody>
      </p:sp>
      <p:sp>
        <p:nvSpPr>
          <p:cNvPr id="44" name="Rounded Rectangle 13">
            <a:extLst>
              <a:ext uri="{FF2B5EF4-FFF2-40B4-BE49-F238E27FC236}">
                <a16:creationId xmlns:a16="http://schemas.microsoft.com/office/drawing/2014/main" id="{361BBFC9-4B3C-4E5F-E218-C98B004A0A03}"/>
              </a:ext>
            </a:extLst>
          </p:cNvPr>
          <p:cNvSpPr/>
          <p:nvPr/>
        </p:nvSpPr>
        <p:spPr>
          <a:xfrm>
            <a:off x="8211312" y="1920240"/>
            <a:ext cx="1298448" cy="484632"/>
          </a:xfrm>
          <a:prstGeom prst="roundRect">
            <a:avLst>
              <a:gd name="adj" fmla="val 10000"/>
            </a:avLst>
          </a:prstGeom>
          <a:solidFill>
            <a:srgbClr val="1F2A5C"/>
          </a:solidFill>
          <a:ln w="12700" cap="flat" cmpd="sng" algn="ctr">
            <a:solidFill>
              <a:srgbClr val="1F2A5C"/>
            </a:solidFill>
            <a:prstDash val="solid"/>
            <a:round/>
          </a:ln>
          <a:effectLst>
            <a:outerShdw blurRad="39960" dist="23040" dir="5400000" rotWithShape="0">
              <a:srgbClr val="000000">
                <a:alpha val="35000"/>
              </a:srgbClr>
            </a:outerShdw>
          </a:effectLst>
        </p:spPr>
        <p:txBody>
          <a:bodyPr lIns="36576" tIns="18288" rIns="36576" bIns="18288"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1" lang="en-US" sz="1200" b="1"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rPr>
              <a:t>問い合わせへ</a:t>
            </a:r>
            <a:endParaRPr kumimoji="1" lang="en-US" sz="1200" b="0"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endParaRPr>
          </a:p>
        </p:txBody>
      </p:sp>
      <p:sp>
        <p:nvSpPr>
          <p:cNvPr id="48" name="Rounded Rectangle 14">
            <a:extLst>
              <a:ext uri="{FF2B5EF4-FFF2-40B4-BE49-F238E27FC236}">
                <a16:creationId xmlns:a16="http://schemas.microsoft.com/office/drawing/2014/main" id="{9CB10698-B82C-A164-346B-73E075B02AD4}"/>
              </a:ext>
            </a:extLst>
          </p:cNvPr>
          <p:cNvSpPr/>
          <p:nvPr/>
        </p:nvSpPr>
        <p:spPr>
          <a:xfrm>
            <a:off x="384048" y="2468880"/>
            <a:ext cx="987552" cy="484632"/>
          </a:xfrm>
          <a:prstGeom prst="roundRect">
            <a:avLst>
              <a:gd name="adj" fmla="val 10000"/>
            </a:avLst>
          </a:prstGeom>
          <a:solidFill>
            <a:srgbClr val="5A6378"/>
          </a:solidFill>
          <a:ln w="12700" cap="flat" cmpd="sng" algn="ctr">
            <a:solidFill>
              <a:srgbClr val="5A6378"/>
            </a:solidFill>
            <a:prstDash val="solid"/>
            <a:round/>
          </a:ln>
          <a:effectLst>
            <a:outerShdw blurRad="39960" dist="23040" dir="5400000" rotWithShape="0">
              <a:srgbClr val="000000">
                <a:alpha val="35000"/>
              </a:srgbClr>
            </a:outerShdw>
          </a:effectLst>
        </p:spPr>
        <p:txBody>
          <a:bodyPr lIns="0" tIns="18288" rIns="0" bIns="18288"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1" lang="en-US" sz="1200" b="1"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rPr>
              <a:t>4〜7日後</a:t>
            </a:r>
            <a:endParaRPr kumimoji="1" lang="en-US" sz="1200" b="0"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endParaRPr>
          </a:p>
        </p:txBody>
      </p:sp>
      <p:sp>
        <p:nvSpPr>
          <p:cNvPr id="49" name="Rounded Rectangle 15">
            <a:extLst>
              <a:ext uri="{FF2B5EF4-FFF2-40B4-BE49-F238E27FC236}">
                <a16:creationId xmlns:a16="http://schemas.microsoft.com/office/drawing/2014/main" id="{B8D5CDAE-53E5-B8C0-A243-DFA2FF1E285D}"/>
              </a:ext>
            </a:extLst>
          </p:cNvPr>
          <p:cNvSpPr/>
          <p:nvPr/>
        </p:nvSpPr>
        <p:spPr>
          <a:xfrm>
            <a:off x="1426464" y="2468880"/>
            <a:ext cx="1188720" cy="484632"/>
          </a:xfrm>
          <a:prstGeom prst="roundRect">
            <a:avLst>
              <a:gd name="adj" fmla="val 10000"/>
            </a:avLst>
          </a:prstGeom>
          <a:solidFill>
            <a:srgbClr val="F5F7FA"/>
          </a:solidFill>
          <a:ln w="12700" cap="flat" cmpd="sng" algn="ctr">
            <a:solidFill>
              <a:srgbClr val="D1D8E0"/>
            </a:solidFill>
            <a:prstDash val="solid"/>
            <a:round/>
          </a:ln>
          <a:effectLst>
            <a:outerShdw blurRad="39960" dist="23040" dir="5400000" rotWithShape="0">
              <a:srgbClr val="000000">
                <a:alpha val="35000"/>
              </a:srgbClr>
            </a:outerShdw>
          </a:effectLst>
        </p:spPr>
        <p:txBody>
          <a:bodyPr lIns="36576" tIns="18288" rIns="36576" bIns="18288"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1" lang="zh-CN" altLang="en-US" sz="1200" b="0" i="0" u="none" strike="noStrike" kern="1200" cap="none" spc="-1"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新しい友だち</a:t>
            </a:r>
            <a:endParaRPr kumimoji="1" lang="en-US" sz="1200" b="0" i="0" u="none" strike="noStrike" kern="1200" cap="none" spc="-1"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endParaRPr>
          </a:p>
        </p:txBody>
      </p:sp>
      <p:sp>
        <p:nvSpPr>
          <p:cNvPr id="51" name="Right Arrow 16">
            <a:extLst>
              <a:ext uri="{FF2B5EF4-FFF2-40B4-BE49-F238E27FC236}">
                <a16:creationId xmlns:a16="http://schemas.microsoft.com/office/drawing/2014/main" id="{A9BC8A93-9C1A-ECD2-C6F9-6924AD85B604}"/>
              </a:ext>
            </a:extLst>
          </p:cNvPr>
          <p:cNvSpPr/>
          <p:nvPr/>
        </p:nvSpPr>
        <p:spPr>
          <a:xfrm>
            <a:off x="2615184" y="2638501"/>
            <a:ext cx="237744" cy="145389"/>
          </a:xfrm>
          <a:prstGeom prst="rightArrow">
            <a:avLst>
              <a:gd name="adj1" fmla="val 50000"/>
              <a:gd name="adj2" fmla="val 50000"/>
            </a:avLst>
          </a:prstGeom>
          <a:solidFill>
            <a:srgbClr val="9AA1AE"/>
          </a:solidFill>
          <a:ln w="9525" cap="flat" cmpd="sng" algn="ctr">
            <a:noFill/>
            <a:prstDash val="solid"/>
          </a:ln>
          <a:effectLst>
            <a:outerShdw blurRad="39960" dist="23040" dir="5400000" rotWithShape="0">
              <a:srgbClr val="000000">
                <a:alpha val="35000"/>
              </a:srgbClr>
            </a:outerShdw>
          </a:effectLst>
        </p:spPr>
        <p:txBody>
          <a:bodyPr lIns="90000" tIns="28080" rIns="90000" bIns="2808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400" b="0"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endParaRPr>
          </a:p>
        </p:txBody>
      </p:sp>
      <p:sp>
        <p:nvSpPr>
          <p:cNvPr id="52" name="Rounded Rectangle 17">
            <a:extLst>
              <a:ext uri="{FF2B5EF4-FFF2-40B4-BE49-F238E27FC236}">
                <a16:creationId xmlns:a16="http://schemas.microsoft.com/office/drawing/2014/main" id="{D8B4E446-E275-936B-B44B-6691FD32530B}"/>
              </a:ext>
            </a:extLst>
          </p:cNvPr>
          <p:cNvSpPr/>
          <p:nvPr/>
        </p:nvSpPr>
        <p:spPr>
          <a:xfrm>
            <a:off x="2852928" y="2468880"/>
            <a:ext cx="1463040" cy="484632"/>
          </a:xfrm>
          <a:prstGeom prst="roundRect">
            <a:avLst>
              <a:gd name="adj" fmla="val 10000"/>
            </a:avLst>
          </a:prstGeom>
          <a:solidFill>
            <a:srgbClr val="F5F7FA"/>
          </a:solidFill>
          <a:ln w="12700" cap="flat" cmpd="sng" algn="ctr">
            <a:solidFill>
              <a:srgbClr val="D1D8E0"/>
            </a:solidFill>
            <a:prstDash val="solid"/>
            <a:round/>
          </a:ln>
          <a:effectLst>
            <a:outerShdw blurRad="39960" dist="23040" dir="5400000" rotWithShape="0">
              <a:srgbClr val="000000">
                <a:alpha val="35000"/>
              </a:srgbClr>
            </a:outerShdw>
          </a:effectLst>
        </p:spPr>
        <p:txBody>
          <a:bodyPr lIns="36576" tIns="18288" rIns="36576" bIns="18288"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1" lang="zh-CN" altLang="en-US" sz="1200" b="0" i="0" u="none" strike="noStrike" kern="1200" cap="none" spc="-1"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追加後に自動配信</a:t>
            </a:r>
            <a:endParaRPr kumimoji="1" lang="en-US" sz="1200" b="0" i="0" u="none" strike="noStrike" kern="1200" cap="none" spc="-1"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endParaRPr>
          </a:p>
        </p:txBody>
      </p:sp>
      <p:sp>
        <p:nvSpPr>
          <p:cNvPr id="53" name="Right Arrow 18">
            <a:extLst>
              <a:ext uri="{FF2B5EF4-FFF2-40B4-BE49-F238E27FC236}">
                <a16:creationId xmlns:a16="http://schemas.microsoft.com/office/drawing/2014/main" id="{06716D1B-7F7E-7898-6F00-48097C5F9A38}"/>
              </a:ext>
            </a:extLst>
          </p:cNvPr>
          <p:cNvSpPr/>
          <p:nvPr/>
        </p:nvSpPr>
        <p:spPr>
          <a:xfrm>
            <a:off x="4315968" y="2638501"/>
            <a:ext cx="237744" cy="145389"/>
          </a:xfrm>
          <a:prstGeom prst="rightArrow">
            <a:avLst>
              <a:gd name="adj1" fmla="val 50000"/>
              <a:gd name="adj2" fmla="val 50000"/>
            </a:avLst>
          </a:prstGeom>
          <a:solidFill>
            <a:srgbClr val="9AA1AE"/>
          </a:solidFill>
          <a:ln w="9525" cap="flat" cmpd="sng" algn="ctr">
            <a:noFill/>
            <a:prstDash val="solid"/>
          </a:ln>
          <a:effectLst>
            <a:outerShdw blurRad="39960" dist="23040" dir="5400000" rotWithShape="0">
              <a:srgbClr val="000000">
                <a:alpha val="35000"/>
              </a:srgbClr>
            </a:outerShdw>
          </a:effectLst>
        </p:spPr>
        <p:txBody>
          <a:bodyPr lIns="90000" tIns="28080" rIns="90000" bIns="2808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400" b="0"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endParaRPr>
          </a:p>
        </p:txBody>
      </p:sp>
      <p:sp>
        <p:nvSpPr>
          <p:cNvPr id="55" name="Rounded Rectangle 19">
            <a:extLst>
              <a:ext uri="{FF2B5EF4-FFF2-40B4-BE49-F238E27FC236}">
                <a16:creationId xmlns:a16="http://schemas.microsoft.com/office/drawing/2014/main" id="{D9036C8E-7E1A-B405-4D1F-518E7A672572}"/>
              </a:ext>
            </a:extLst>
          </p:cNvPr>
          <p:cNvSpPr/>
          <p:nvPr/>
        </p:nvSpPr>
        <p:spPr>
          <a:xfrm>
            <a:off x="4553712" y="2468880"/>
            <a:ext cx="1591056" cy="484632"/>
          </a:xfrm>
          <a:prstGeom prst="roundRect">
            <a:avLst>
              <a:gd name="adj" fmla="val 10000"/>
            </a:avLst>
          </a:prstGeom>
          <a:solidFill>
            <a:srgbClr val="F5F7FA"/>
          </a:solidFill>
          <a:ln w="12700" cap="flat" cmpd="sng" algn="ctr">
            <a:solidFill>
              <a:srgbClr val="D1D8E0"/>
            </a:solidFill>
            <a:prstDash val="solid"/>
            <a:round/>
          </a:ln>
          <a:effectLst>
            <a:outerShdw blurRad="39960" dist="23040" dir="5400000" rotWithShape="0">
              <a:srgbClr val="000000">
                <a:alpha val="35000"/>
              </a:srgbClr>
            </a:outerShdw>
          </a:effectLst>
        </p:spPr>
        <p:txBody>
          <a:bodyPr lIns="36576" tIns="18288" rIns="36576" bIns="18288"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1" lang="zh-CN" altLang="en-US" sz="1200" b="0" i="0" u="none" strike="noStrike" kern="1200" cap="none" spc="-1"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ポータルでの探し方</a:t>
            </a:r>
            <a:endParaRPr kumimoji="1" lang="en-US" sz="1200" b="0" i="0" u="none" strike="noStrike" kern="1200" cap="none" spc="-1"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endParaRPr>
          </a:p>
          <a:p>
            <a:pPr marL="0" marR="0" lvl="0" indent="0" algn="ctr" defTabSz="914400" rtl="0" eaLnBrk="1" fontAlgn="auto" latinLnBrk="0" hangingPunct="1">
              <a:lnSpc>
                <a:spcPct val="90000"/>
              </a:lnSpc>
              <a:spcBef>
                <a:spcPts val="0"/>
              </a:spcBef>
              <a:spcAft>
                <a:spcPts val="0"/>
              </a:spcAft>
              <a:buClrTx/>
              <a:buSzTx/>
              <a:buFontTx/>
              <a:buNone/>
              <a:tabLst/>
              <a:defRPr/>
            </a:pPr>
            <a:r>
              <a:rPr kumimoji="1" lang="zh-CN" altLang="en-US" sz="1200" b="0" i="0" u="none" strike="noStrike" kern="1200" cap="none" spc="-1"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内見済みでも相談可</a:t>
            </a:r>
            <a:endParaRPr kumimoji="1" lang="en-US" sz="1200" b="0" i="0" u="none" strike="noStrike" kern="1200" cap="none" spc="-1"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endParaRPr>
          </a:p>
        </p:txBody>
      </p:sp>
      <p:sp>
        <p:nvSpPr>
          <p:cNvPr id="56" name="Right Arrow 20">
            <a:extLst>
              <a:ext uri="{FF2B5EF4-FFF2-40B4-BE49-F238E27FC236}">
                <a16:creationId xmlns:a16="http://schemas.microsoft.com/office/drawing/2014/main" id="{1B03BE52-B246-1655-43EB-2C40BC8F49D6}"/>
              </a:ext>
            </a:extLst>
          </p:cNvPr>
          <p:cNvSpPr/>
          <p:nvPr/>
        </p:nvSpPr>
        <p:spPr>
          <a:xfrm>
            <a:off x="6144768" y="2638501"/>
            <a:ext cx="237744" cy="145389"/>
          </a:xfrm>
          <a:prstGeom prst="rightArrow">
            <a:avLst>
              <a:gd name="adj1" fmla="val 50000"/>
              <a:gd name="adj2" fmla="val 50000"/>
            </a:avLst>
          </a:prstGeom>
          <a:solidFill>
            <a:srgbClr val="9AA1AE"/>
          </a:solidFill>
          <a:ln w="9525" cap="flat" cmpd="sng" algn="ctr">
            <a:noFill/>
            <a:prstDash val="solid"/>
          </a:ln>
          <a:effectLst>
            <a:outerShdw blurRad="39960" dist="23040" dir="5400000" rotWithShape="0">
              <a:srgbClr val="000000">
                <a:alpha val="35000"/>
              </a:srgbClr>
            </a:outerShdw>
          </a:effectLst>
        </p:spPr>
        <p:txBody>
          <a:bodyPr lIns="90000" tIns="28080" rIns="90000" bIns="2808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400" b="0"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endParaRPr>
          </a:p>
        </p:txBody>
      </p:sp>
      <p:sp>
        <p:nvSpPr>
          <p:cNvPr id="57" name="Rounded Rectangle 21">
            <a:extLst>
              <a:ext uri="{FF2B5EF4-FFF2-40B4-BE49-F238E27FC236}">
                <a16:creationId xmlns:a16="http://schemas.microsoft.com/office/drawing/2014/main" id="{A3BCEB8B-56A5-06DD-85B0-C5A0E5F546DF}"/>
              </a:ext>
            </a:extLst>
          </p:cNvPr>
          <p:cNvSpPr/>
          <p:nvPr/>
        </p:nvSpPr>
        <p:spPr>
          <a:xfrm>
            <a:off x="6382512" y="2468880"/>
            <a:ext cx="1591056" cy="484632"/>
          </a:xfrm>
          <a:prstGeom prst="roundRect">
            <a:avLst>
              <a:gd name="adj" fmla="val 10000"/>
            </a:avLst>
          </a:prstGeom>
          <a:solidFill>
            <a:srgbClr val="F5F7FA"/>
          </a:solidFill>
          <a:ln w="12700" cap="flat" cmpd="sng" algn="ctr">
            <a:solidFill>
              <a:srgbClr val="D1D8E0"/>
            </a:solidFill>
            <a:prstDash val="solid"/>
            <a:round/>
          </a:ln>
          <a:effectLst>
            <a:outerShdw blurRad="39960" dist="23040" dir="5400000" rotWithShape="0">
              <a:srgbClr val="000000">
                <a:alpha val="35000"/>
              </a:srgbClr>
            </a:outerShdw>
          </a:effectLst>
        </p:spPr>
        <p:txBody>
          <a:bodyPr lIns="36576" tIns="18288" rIns="36576" bIns="18288"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1" lang="zh-CN" altLang="en-US" sz="1200" b="0" i="0" u="none" strike="noStrike" kern="1200" cap="none" spc="-1"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比較中の方の後押し</a:t>
            </a:r>
            <a:endParaRPr kumimoji="1" lang="en-US" sz="1200" b="0" i="0" u="none" strike="noStrike" kern="1200" cap="none" spc="-1" normalizeH="0" baseline="0" noProof="0">
              <a:ln>
                <a:noFill/>
              </a:ln>
              <a:solidFill>
                <a:srgbClr val="000000"/>
              </a:solidFill>
              <a:effectLst/>
              <a:uLnTx/>
              <a:uFillTx/>
              <a:latin typeface="メイリオ" panose="020B0604030504040204" pitchFamily="50" charset="-128"/>
              <a:ea typeface="メイリオ" panose="020B0604030504040204" pitchFamily="50" charset="-128"/>
            </a:endParaRPr>
          </a:p>
        </p:txBody>
      </p:sp>
      <p:sp>
        <p:nvSpPr>
          <p:cNvPr id="59" name="Right Arrow 22">
            <a:extLst>
              <a:ext uri="{FF2B5EF4-FFF2-40B4-BE49-F238E27FC236}">
                <a16:creationId xmlns:a16="http://schemas.microsoft.com/office/drawing/2014/main" id="{827C345C-6C2F-50EC-99EE-5E2A36FAA495}"/>
              </a:ext>
            </a:extLst>
          </p:cNvPr>
          <p:cNvSpPr/>
          <p:nvPr/>
        </p:nvSpPr>
        <p:spPr>
          <a:xfrm>
            <a:off x="7973568" y="2638501"/>
            <a:ext cx="237744" cy="145389"/>
          </a:xfrm>
          <a:prstGeom prst="rightArrow">
            <a:avLst>
              <a:gd name="adj1" fmla="val 50000"/>
              <a:gd name="adj2" fmla="val 50000"/>
            </a:avLst>
          </a:prstGeom>
          <a:solidFill>
            <a:srgbClr val="9AA1AE"/>
          </a:solidFill>
          <a:ln w="9525" cap="flat" cmpd="sng" algn="ctr">
            <a:noFill/>
            <a:prstDash val="solid"/>
          </a:ln>
          <a:effectLst>
            <a:outerShdw blurRad="39960" dist="23040" dir="5400000" rotWithShape="0">
              <a:srgbClr val="000000">
                <a:alpha val="35000"/>
              </a:srgbClr>
            </a:outerShdw>
          </a:effectLst>
        </p:spPr>
        <p:txBody>
          <a:bodyPr lIns="90000" tIns="28080" rIns="90000" bIns="2808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400" b="0"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endParaRPr>
          </a:p>
        </p:txBody>
      </p:sp>
      <p:sp>
        <p:nvSpPr>
          <p:cNvPr id="60" name="Rounded Rectangle 23">
            <a:extLst>
              <a:ext uri="{FF2B5EF4-FFF2-40B4-BE49-F238E27FC236}">
                <a16:creationId xmlns:a16="http://schemas.microsoft.com/office/drawing/2014/main" id="{6A54A830-3BF0-B09C-1E08-7BE7371AB39F}"/>
              </a:ext>
            </a:extLst>
          </p:cNvPr>
          <p:cNvSpPr/>
          <p:nvPr/>
        </p:nvSpPr>
        <p:spPr>
          <a:xfrm>
            <a:off x="8211312" y="2468880"/>
            <a:ext cx="1298448" cy="484632"/>
          </a:xfrm>
          <a:prstGeom prst="roundRect">
            <a:avLst>
              <a:gd name="adj" fmla="val 10000"/>
            </a:avLst>
          </a:prstGeom>
          <a:solidFill>
            <a:srgbClr val="1F2A5C"/>
          </a:solidFill>
          <a:ln w="12700" cap="flat" cmpd="sng" algn="ctr">
            <a:solidFill>
              <a:srgbClr val="1F2A5C"/>
            </a:solidFill>
            <a:prstDash val="solid"/>
            <a:round/>
          </a:ln>
          <a:effectLst>
            <a:outerShdw blurRad="39960" dist="23040" dir="5400000" rotWithShape="0">
              <a:srgbClr val="000000">
                <a:alpha val="35000"/>
              </a:srgbClr>
            </a:outerShdw>
          </a:effectLst>
        </p:spPr>
        <p:txBody>
          <a:bodyPr lIns="36576" tIns="18288" rIns="36576" bIns="18288"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1" lang="en-US" sz="1200" b="1"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rPr>
              <a:t>問い合わせへ</a:t>
            </a:r>
            <a:endParaRPr kumimoji="1" lang="en-US" sz="1200" b="0"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endParaRPr>
          </a:p>
        </p:txBody>
      </p:sp>
      <p:sp>
        <p:nvSpPr>
          <p:cNvPr id="61" name="Rounded Rectangle 24">
            <a:extLst>
              <a:ext uri="{FF2B5EF4-FFF2-40B4-BE49-F238E27FC236}">
                <a16:creationId xmlns:a16="http://schemas.microsoft.com/office/drawing/2014/main" id="{02EC47B3-BB1D-F1C6-D8FB-AFF6474BEE45}"/>
              </a:ext>
            </a:extLst>
          </p:cNvPr>
          <p:cNvSpPr/>
          <p:nvPr/>
        </p:nvSpPr>
        <p:spPr>
          <a:xfrm>
            <a:off x="384048" y="3017520"/>
            <a:ext cx="987552" cy="484632"/>
          </a:xfrm>
          <a:prstGeom prst="roundRect">
            <a:avLst>
              <a:gd name="adj" fmla="val 10000"/>
            </a:avLst>
          </a:prstGeom>
          <a:solidFill>
            <a:srgbClr val="5A6378"/>
          </a:solidFill>
          <a:ln w="12700" cap="flat" cmpd="sng" algn="ctr">
            <a:solidFill>
              <a:srgbClr val="5A6378"/>
            </a:solidFill>
            <a:prstDash val="solid"/>
            <a:round/>
          </a:ln>
          <a:effectLst>
            <a:outerShdw blurRad="39960" dist="23040" dir="5400000" rotWithShape="0">
              <a:srgbClr val="000000">
                <a:alpha val="35000"/>
              </a:srgbClr>
            </a:outerShdw>
          </a:effectLst>
        </p:spPr>
        <p:txBody>
          <a:bodyPr lIns="0" tIns="18288" rIns="0" bIns="18288"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1" lang="en-US" sz="1200" b="1"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rPr>
              <a:t>9〜14日後</a:t>
            </a:r>
            <a:endParaRPr kumimoji="1" lang="en-US" sz="1200" b="0"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endParaRPr>
          </a:p>
        </p:txBody>
      </p:sp>
      <p:sp>
        <p:nvSpPr>
          <p:cNvPr id="63" name="Rounded Rectangle 25">
            <a:extLst>
              <a:ext uri="{FF2B5EF4-FFF2-40B4-BE49-F238E27FC236}">
                <a16:creationId xmlns:a16="http://schemas.microsoft.com/office/drawing/2014/main" id="{9B380151-0E5F-2493-D534-E10C05966FAF}"/>
              </a:ext>
            </a:extLst>
          </p:cNvPr>
          <p:cNvSpPr/>
          <p:nvPr/>
        </p:nvSpPr>
        <p:spPr>
          <a:xfrm>
            <a:off x="1426464" y="3017520"/>
            <a:ext cx="1188720" cy="484632"/>
          </a:xfrm>
          <a:prstGeom prst="roundRect">
            <a:avLst>
              <a:gd name="adj" fmla="val 10000"/>
            </a:avLst>
          </a:prstGeom>
          <a:solidFill>
            <a:srgbClr val="F5F7FA"/>
          </a:solidFill>
          <a:ln w="12700" cap="flat" cmpd="sng" algn="ctr">
            <a:solidFill>
              <a:srgbClr val="D1D8E0"/>
            </a:solidFill>
            <a:prstDash val="solid"/>
            <a:round/>
          </a:ln>
          <a:effectLst>
            <a:outerShdw blurRad="39960" dist="23040" dir="5400000" rotWithShape="0">
              <a:srgbClr val="000000">
                <a:alpha val="35000"/>
              </a:srgbClr>
            </a:outerShdw>
          </a:effectLst>
        </p:spPr>
        <p:txBody>
          <a:bodyPr lIns="36576" tIns="18288" rIns="36576" bIns="18288"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1" lang="zh-CN" altLang="en-US" sz="1200" b="0" i="0" u="none" strike="noStrike" kern="1200" cap="none" spc="-1"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新しい友だち</a:t>
            </a:r>
            <a:endParaRPr kumimoji="1" lang="en-US" sz="1200" b="0" i="0" u="none" strike="noStrike" kern="1200" cap="none" spc="-1"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endParaRPr>
          </a:p>
        </p:txBody>
      </p:sp>
      <p:sp>
        <p:nvSpPr>
          <p:cNvPr id="64" name="Right Arrow 26">
            <a:extLst>
              <a:ext uri="{FF2B5EF4-FFF2-40B4-BE49-F238E27FC236}">
                <a16:creationId xmlns:a16="http://schemas.microsoft.com/office/drawing/2014/main" id="{3F6D6E42-09C5-022A-2DD9-A7A159007FA2}"/>
              </a:ext>
            </a:extLst>
          </p:cNvPr>
          <p:cNvSpPr/>
          <p:nvPr/>
        </p:nvSpPr>
        <p:spPr>
          <a:xfrm>
            <a:off x="2615184" y="3187141"/>
            <a:ext cx="237744" cy="145389"/>
          </a:xfrm>
          <a:prstGeom prst="rightArrow">
            <a:avLst>
              <a:gd name="adj1" fmla="val 50000"/>
              <a:gd name="adj2" fmla="val 50000"/>
            </a:avLst>
          </a:prstGeom>
          <a:solidFill>
            <a:srgbClr val="9AA1AE"/>
          </a:solidFill>
          <a:ln w="9525" cap="flat" cmpd="sng" algn="ctr">
            <a:noFill/>
            <a:prstDash val="solid"/>
          </a:ln>
          <a:effectLst>
            <a:outerShdw blurRad="39960" dist="23040" dir="5400000" rotWithShape="0">
              <a:srgbClr val="000000">
                <a:alpha val="35000"/>
              </a:srgbClr>
            </a:outerShdw>
          </a:effectLst>
        </p:spPr>
        <p:txBody>
          <a:bodyPr lIns="90000" tIns="28080" rIns="90000" bIns="2808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400" b="0"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endParaRPr>
          </a:p>
        </p:txBody>
      </p:sp>
      <p:sp>
        <p:nvSpPr>
          <p:cNvPr id="65" name="Rounded Rectangle 27">
            <a:extLst>
              <a:ext uri="{FF2B5EF4-FFF2-40B4-BE49-F238E27FC236}">
                <a16:creationId xmlns:a16="http://schemas.microsoft.com/office/drawing/2014/main" id="{19C1CD11-957A-BE24-A382-F4E7C2253757}"/>
              </a:ext>
            </a:extLst>
          </p:cNvPr>
          <p:cNvSpPr/>
          <p:nvPr/>
        </p:nvSpPr>
        <p:spPr>
          <a:xfrm>
            <a:off x="2852928" y="3017520"/>
            <a:ext cx="1463040" cy="484632"/>
          </a:xfrm>
          <a:prstGeom prst="roundRect">
            <a:avLst>
              <a:gd name="adj" fmla="val 10000"/>
            </a:avLst>
          </a:prstGeom>
          <a:solidFill>
            <a:srgbClr val="F5F7FA"/>
          </a:solidFill>
          <a:ln w="12700" cap="flat" cmpd="sng" algn="ctr">
            <a:solidFill>
              <a:srgbClr val="D1D8E0"/>
            </a:solidFill>
            <a:prstDash val="solid"/>
            <a:round/>
          </a:ln>
          <a:effectLst>
            <a:outerShdw blurRad="39960" dist="23040" dir="5400000" rotWithShape="0">
              <a:srgbClr val="000000">
                <a:alpha val="35000"/>
              </a:srgbClr>
            </a:outerShdw>
          </a:effectLst>
        </p:spPr>
        <p:txBody>
          <a:bodyPr lIns="36576" tIns="18288" rIns="36576" bIns="18288"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1" lang="zh-CN" altLang="en-US" sz="1200" b="0" i="0" u="none" strike="noStrike" kern="1200" cap="none" spc="-1"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追加後に自動配信</a:t>
            </a:r>
            <a:endParaRPr kumimoji="1" lang="en-US" sz="1200" b="0" i="0" u="none" strike="noStrike" kern="1200" cap="none" spc="-1"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endParaRPr>
          </a:p>
        </p:txBody>
      </p:sp>
      <p:sp>
        <p:nvSpPr>
          <p:cNvPr id="67" name="Right Arrow 28">
            <a:extLst>
              <a:ext uri="{FF2B5EF4-FFF2-40B4-BE49-F238E27FC236}">
                <a16:creationId xmlns:a16="http://schemas.microsoft.com/office/drawing/2014/main" id="{544558A7-B034-6ECF-A05C-EAAB92FAB11F}"/>
              </a:ext>
            </a:extLst>
          </p:cNvPr>
          <p:cNvSpPr/>
          <p:nvPr/>
        </p:nvSpPr>
        <p:spPr>
          <a:xfrm>
            <a:off x="4315968" y="3187141"/>
            <a:ext cx="237744" cy="145389"/>
          </a:xfrm>
          <a:prstGeom prst="rightArrow">
            <a:avLst>
              <a:gd name="adj1" fmla="val 50000"/>
              <a:gd name="adj2" fmla="val 50000"/>
            </a:avLst>
          </a:prstGeom>
          <a:solidFill>
            <a:srgbClr val="9AA1AE"/>
          </a:solidFill>
          <a:ln w="9525" cap="flat" cmpd="sng" algn="ctr">
            <a:noFill/>
            <a:prstDash val="solid"/>
          </a:ln>
          <a:effectLst>
            <a:outerShdw blurRad="39960" dist="23040" dir="5400000" rotWithShape="0">
              <a:srgbClr val="000000">
                <a:alpha val="35000"/>
              </a:srgbClr>
            </a:outerShdw>
          </a:effectLst>
        </p:spPr>
        <p:txBody>
          <a:bodyPr lIns="90000" tIns="28080" rIns="90000" bIns="2808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400" b="0"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endParaRPr>
          </a:p>
        </p:txBody>
      </p:sp>
      <p:sp>
        <p:nvSpPr>
          <p:cNvPr id="68" name="Rounded Rectangle 29">
            <a:extLst>
              <a:ext uri="{FF2B5EF4-FFF2-40B4-BE49-F238E27FC236}">
                <a16:creationId xmlns:a16="http://schemas.microsoft.com/office/drawing/2014/main" id="{A2F3DEED-0432-5F2C-CBA1-390AA377A2E6}"/>
              </a:ext>
            </a:extLst>
          </p:cNvPr>
          <p:cNvSpPr/>
          <p:nvPr/>
        </p:nvSpPr>
        <p:spPr>
          <a:xfrm>
            <a:off x="4553712" y="3017520"/>
            <a:ext cx="1591056" cy="484632"/>
          </a:xfrm>
          <a:prstGeom prst="roundRect">
            <a:avLst>
              <a:gd name="adj" fmla="val 10000"/>
            </a:avLst>
          </a:prstGeom>
          <a:solidFill>
            <a:srgbClr val="F5F7FA"/>
          </a:solidFill>
          <a:ln w="12700" cap="flat" cmpd="sng" algn="ctr">
            <a:solidFill>
              <a:srgbClr val="D1D8E0"/>
            </a:solidFill>
            <a:prstDash val="solid"/>
            <a:round/>
          </a:ln>
          <a:effectLst>
            <a:outerShdw blurRad="39960" dist="23040" dir="5400000" rotWithShape="0">
              <a:srgbClr val="000000">
                <a:alpha val="35000"/>
              </a:srgbClr>
            </a:outerShdw>
          </a:effectLst>
        </p:spPr>
        <p:txBody>
          <a:bodyPr lIns="36576" tIns="18288" rIns="36576" bIns="18288"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1" lang="zh-CN" altLang="en-US" sz="1200" b="0" i="0" u="none" strike="noStrike" kern="1200" cap="none" spc="-1"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初期費用の交渉</a:t>
            </a:r>
            <a:endParaRPr kumimoji="1" lang="en-US" sz="1200" b="0" i="0" u="none" strike="noStrike" kern="1200" cap="none" spc="-1"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endParaRPr>
          </a:p>
          <a:p>
            <a:pPr marL="0" marR="0" lvl="0" indent="0" algn="ctr" defTabSz="914400" rtl="0" eaLnBrk="1" fontAlgn="auto" latinLnBrk="0" hangingPunct="1">
              <a:lnSpc>
                <a:spcPct val="90000"/>
              </a:lnSpc>
              <a:spcBef>
                <a:spcPts val="0"/>
              </a:spcBef>
              <a:spcAft>
                <a:spcPts val="0"/>
              </a:spcAft>
              <a:buClrTx/>
              <a:buSzTx/>
              <a:buFontTx/>
              <a:buNone/>
              <a:tabLst/>
              <a:defRPr/>
            </a:pPr>
            <a:r>
              <a:rPr kumimoji="1" lang="zh-CN" altLang="en-US" sz="1200" b="0" i="0" u="none" strike="noStrike" kern="1200" cap="none" spc="-1"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入居までの流れ</a:t>
            </a:r>
            <a:endParaRPr kumimoji="1" lang="en-US" sz="1200" b="0" i="0" u="none" strike="noStrike" kern="1200" cap="none" spc="-1"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endParaRPr>
          </a:p>
        </p:txBody>
      </p:sp>
      <p:sp>
        <p:nvSpPr>
          <p:cNvPr id="69" name="Right Arrow 30">
            <a:extLst>
              <a:ext uri="{FF2B5EF4-FFF2-40B4-BE49-F238E27FC236}">
                <a16:creationId xmlns:a16="http://schemas.microsoft.com/office/drawing/2014/main" id="{EBF3599F-C0CE-A27A-B94E-335FBD85F9D6}"/>
              </a:ext>
            </a:extLst>
          </p:cNvPr>
          <p:cNvSpPr/>
          <p:nvPr/>
        </p:nvSpPr>
        <p:spPr>
          <a:xfrm>
            <a:off x="6144768" y="3187141"/>
            <a:ext cx="237744" cy="145389"/>
          </a:xfrm>
          <a:prstGeom prst="rightArrow">
            <a:avLst>
              <a:gd name="adj1" fmla="val 50000"/>
              <a:gd name="adj2" fmla="val 50000"/>
            </a:avLst>
          </a:prstGeom>
          <a:solidFill>
            <a:srgbClr val="9AA1AE"/>
          </a:solidFill>
          <a:ln w="9525" cap="flat" cmpd="sng" algn="ctr">
            <a:noFill/>
            <a:prstDash val="solid"/>
          </a:ln>
          <a:effectLst>
            <a:outerShdw blurRad="39960" dist="23040" dir="5400000" rotWithShape="0">
              <a:srgbClr val="000000">
                <a:alpha val="35000"/>
              </a:srgbClr>
            </a:outerShdw>
          </a:effectLst>
        </p:spPr>
        <p:txBody>
          <a:bodyPr lIns="90000" tIns="28080" rIns="90000" bIns="2808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400" b="0"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endParaRPr>
          </a:p>
        </p:txBody>
      </p:sp>
      <p:sp>
        <p:nvSpPr>
          <p:cNvPr id="71" name="Rounded Rectangle 31">
            <a:extLst>
              <a:ext uri="{FF2B5EF4-FFF2-40B4-BE49-F238E27FC236}">
                <a16:creationId xmlns:a16="http://schemas.microsoft.com/office/drawing/2014/main" id="{078697A3-89B2-A9C1-66E6-41FD49ABD6E3}"/>
              </a:ext>
            </a:extLst>
          </p:cNvPr>
          <p:cNvSpPr/>
          <p:nvPr/>
        </p:nvSpPr>
        <p:spPr>
          <a:xfrm>
            <a:off x="6382512" y="3017520"/>
            <a:ext cx="1591056" cy="484632"/>
          </a:xfrm>
          <a:prstGeom prst="roundRect">
            <a:avLst>
              <a:gd name="adj" fmla="val 10000"/>
            </a:avLst>
          </a:prstGeom>
          <a:solidFill>
            <a:srgbClr val="F5F7FA"/>
          </a:solidFill>
          <a:ln w="12700" cap="flat" cmpd="sng" algn="ctr">
            <a:solidFill>
              <a:srgbClr val="D1D8E0"/>
            </a:solidFill>
            <a:prstDash val="solid"/>
            <a:round/>
          </a:ln>
          <a:effectLst>
            <a:outerShdw blurRad="39960" dist="23040" dir="5400000" rotWithShape="0">
              <a:srgbClr val="000000">
                <a:alpha val="35000"/>
              </a:srgbClr>
            </a:outerShdw>
          </a:effectLst>
        </p:spPr>
        <p:txBody>
          <a:bodyPr lIns="36576" tIns="18288" rIns="36576" bIns="18288"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1" lang="zh-CN" altLang="en-US" sz="1200" b="0" i="0" u="none" strike="noStrike" kern="1200" cap="none" spc="-1"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お申込みの後押し</a:t>
            </a:r>
            <a:endParaRPr kumimoji="1" lang="en-US" sz="1200" b="0" i="0" u="none" strike="noStrike" kern="1200" cap="none" spc="-1" normalizeH="0" baseline="0" noProof="0">
              <a:ln>
                <a:noFill/>
              </a:ln>
              <a:solidFill>
                <a:srgbClr val="000000"/>
              </a:solidFill>
              <a:effectLst/>
              <a:uLnTx/>
              <a:uFillTx/>
              <a:latin typeface="メイリオ" panose="020B0604030504040204" pitchFamily="50" charset="-128"/>
              <a:ea typeface="メイリオ" panose="020B0604030504040204" pitchFamily="50" charset="-128"/>
            </a:endParaRPr>
          </a:p>
        </p:txBody>
      </p:sp>
      <p:sp>
        <p:nvSpPr>
          <p:cNvPr id="72" name="Right Arrow 32">
            <a:extLst>
              <a:ext uri="{FF2B5EF4-FFF2-40B4-BE49-F238E27FC236}">
                <a16:creationId xmlns:a16="http://schemas.microsoft.com/office/drawing/2014/main" id="{BFFDEA0A-D313-0A7B-C4B5-7EAF684EFBB2}"/>
              </a:ext>
            </a:extLst>
          </p:cNvPr>
          <p:cNvSpPr/>
          <p:nvPr/>
        </p:nvSpPr>
        <p:spPr>
          <a:xfrm>
            <a:off x="7973568" y="3187141"/>
            <a:ext cx="237744" cy="145389"/>
          </a:xfrm>
          <a:prstGeom prst="rightArrow">
            <a:avLst>
              <a:gd name="adj1" fmla="val 50000"/>
              <a:gd name="adj2" fmla="val 50000"/>
            </a:avLst>
          </a:prstGeom>
          <a:solidFill>
            <a:srgbClr val="9AA1AE"/>
          </a:solidFill>
          <a:ln w="9525" cap="flat" cmpd="sng" algn="ctr">
            <a:noFill/>
            <a:prstDash val="solid"/>
          </a:ln>
          <a:effectLst>
            <a:outerShdw blurRad="39960" dist="23040" dir="5400000" rotWithShape="0">
              <a:srgbClr val="000000">
                <a:alpha val="35000"/>
              </a:srgbClr>
            </a:outerShdw>
          </a:effectLst>
        </p:spPr>
        <p:txBody>
          <a:bodyPr lIns="90000" tIns="28080" rIns="90000" bIns="2808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400" b="0"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endParaRPr>
          </a:p>
        </p:txBody>
      </p:sp>
      <p:sp>
        <p:nvSpPr>
          <p:cNvPr id="73" name="Rounded Rectangle 33">
            <a:extLst>
              <a:ext uri="{FF2B5EF4-FFF2-40B4-BE49-F238E27FC236}">
                <a16:creationId xmlns:a16="http://schemas.microsoft.com/office/drawing/2014/main" id="{2A867502-9B54-7125-E886-C2C81EC00AF2}"/>
              </a:ext>
            </a:extLst>
          </p:cNvPr>
          <p:cNvSpPr/>
          <p:nvPr/>
        </p:nvSpPr>
        <p:spPr>
          <a:xfrm>
            <a:off x="8211312" y="3017520"/>
            <a:ext cx="1298448" cy="484632"/>
          </a:xfrm>
          <a:prstGeom prst="roundRect">
            <a:avLst>
              <a:gd name="adj" fmla="val 10000"/>
            </a:avLst>
          </a:prstGeom>
          <a:solidFill>
            <a:srgbClr val="1F2A5C"/>
          </a:solidFill>
          <a:ln w="12700" cap="flat" cmpd="sng" algn="ctr">
            <a:solidFill>
              <a:srgbClr val="1F2A5C"/>
            </a:solidFill>
            <a:prstDash val="solid"/>
            <a:round/>
          </a:ln>
          <a:effectLst>
            <a:outerShdw blurRad="39960" dist="23040" dir="5400000" rotWithShape="0">
              <a:srgbClr val="000000">
                <a:alpha val="35000"/>
              </a:srgbClr>
            </a:outerShdw>
          </a:effectLst>
        </p:spPr>
        <p:txBody>
          <a:bodyPr lIns="36576" tIns="18288" rIns="36576" bIns="18288"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1" lang="en-US" sz="1200" b="1"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rPr>
              <a:t>問い合わせへ</a:t>
            </a:r>
            <a:endParaRPr kumimoji="1" lang="en-US" sz="1200" b="0"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endParaRPr>
          </a:p>
        </p:txBody>
      </p:sp>
      <p:sp>
        <p:nvSpPr>
          <p:cNvPr id="74" name="TextBox 34">
            <a:extLst>
              <a:ext uri="{FF2B5EF4-FFF2-40B4-BE49-F238E27FC236}">
                <a16:creationId xmlns:a16="http://schemas.microsoft.com/office/drawing/2014/main" id="{11F9C51C-A808-3BBD-B48C-F0C2707CC2F9}"/>
              </a:ext>
            </a:extLst>
          </p:cNvPr>
          <p:cNvSpPr/>
          <p:nvPr/>
        </p:nvSpPr>
        <p:spPr>
          <a:xfrm>
            <a:off x="384048" y="3712463"/>
            <a:ext cx="3657600" cy="292608"/>
          </a:xfrm>
          <a:prstGeom prst="rect">
            <a:avLst/>
          </a:prstGeom>
          <a:noFill/>
          <a:ln w="0">
            <a:noFill/>
          </a:ln>
          <a:effectLst/>
        </p:spPr>
        <p:txBody>
          <a:bodyPr lIns="45720" tIns="0" rIns="45720" bIns="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1400" b="1" i="0" u="none" strike="noStrike" kern="1200" cap="none" spc="-1" normalizeH="0" baseline="0" noProof="0">
                <a:ln>
                  <a:noFill/>
                </a:ln>
                <a:solidFill>
                  <a:srgbClr val="1F2A5C"/>
                </a:solidFill>
                <a:effectLst/>
                <a:uLnTx/>
                <a:uFillTx/>
                <a:latin typeface="メイリオ" panose="020B0604030504040204" pitchFamily="50" charset="-128"/>
                <a:ea typeface="メイリオ" panose="020B0604030504040204" pitchFamily="50" charset="-128"/>
              </a:rPr>
              <a:t>[</a:t>
            </a:r>
            <a:r>
              <a:rPr kumimoji="1" lang="zh-CN" altLang="en-US" sz="1400" b="1" i="0" u="none" strike="noStrike" kern="1200" cap="none" spc="-1" normalizeH="0" baseline="0" noProof="0">
                <a:ln>
                  <a:noFill/>
                </a:ln>
                <a:solidFill>
                  <a:srgbClr val="1F2A5C"/>
                </a:solidFill>
                <a:effectLst/>
                <a:uLnTx/>
                <a:uFillTx/>
                <a:latin typeface="メイリオ" panose="020B0604030504040204" pitchFamily="50" charset="-128"/>
                <a:ea typeface="メイリオ" panose="020B0604030504040204" pitchFamily="50" charset="-128"/>
              </a:rPr>
              <a:t>企画配信</a:t>
            </a:r>
            <a:r>
              <a:rPr kumimoji="1" lang="en-US" sz="1400" b="1" i="0" u="none" strike="noStrike" kern="1200" cap="none" spc="-1" normalizeH="0" baseline="0" noProof="0">
                <a:ln>
                  <a:noFill/>
                </a:ln>
                <a:solidFill>
                  <a:srgbClr val="1F2A5C"/>
                </a:solidFill>
                <a:effectLst/>
                <a:uLnTx/>
                <a:uFillTx/>
                <a:latin typeface="メイリオ" panose="020B0604030504040204" pitchFamily="50" charset="-128"/>
                <a:ea typeface="メイリオ" panose="020B0604030504040204" pitchFamily="50" charset="-128"/>
              </a:rPr>
              <a:t>]</a:t>
            </a:r>
            <a:endParaRPr kumimoji="1" lang="en-US" sz="1400" b="0" i="0" u="none" strike="noStrike" kern="1200" cap="none" spc="-1" normalizeH="0" baseline="0" noProof="0">
              <a:ln>
                <a:noFill/>
              </a:ln>
              <a:solidFill>
                <a:srgbClr val="000000"/>
              </a:solidFill>
              <a:effectLst/>
              <a:uLnTx/>
              <a:uFillTx/>
              <a:latin typeface="メイリオ" panose="020B0604030504040204" pitchFamily="50" charset="-128"/>
              <a:ea typeface="メイリオ" panose="020B0604030504040204" pitchFamily="50" charset="-128"/>
            </a:endParaRPr>
          </a:p>
        </p:txBody>
      </p:sp>
      <p:sp>
        <p:nvSpPr>
          <p:cNvPr id="75" name="Rounded Rectangle 35">
            <a:extLst>
              <a:ext uri="{FF2B5EF4-FFF2-40B4-BE49-F238E27FC236}">
                <a16:creationId xmlns:a16="http://schemas.microsoft.com/office/drawing/2014/main" id="{6A926E60-66AB-C567-7F58-99FEB19885EE}"/>
              </a:ext>
            </a:extLst>
          </p:cNvPr>
          <p:cNvSpPr/>
          <p:nvPr/>
        </p:nvSpPr>
        <p:spPr>
          <a:xfrm>
            <a:off x="384048" y="4261104"/>
            <a:ext cx="1737360" cy="484632"/>
          </a:xfrm>
          <a:prstGeom prst="roundRect">
            <a:avLst>
              <a:gd name="adj" fmla="val 10000"/>
            </a:avLst>
          </a:prstGeom>
          <a:solidFill>
            <a:srgbClr val="F5F7FA"/>
          </a:solidFill>
          <a:ln w="12700" cap="flat" cmpd="sng" algn="ctr">
            <a:solidFill>
              <a:srgbClr val="D1D8E0"/>
            </a:solidFill>
            <a:prstDash val="solid"/>
            <a:round/>
          </a:ln>
          <a:effectLst>
            <a:outerShdw blurRad="39960" dist="23040" dir="5400000" rotWithShape="0">
              <a:srgbClr val="000000">
                <a:alpha val="35000"/>
              </a:srgbClr>
            </a:outerShdw>
          </a:effectLst>
        </p:spPr>
        <p:txBody>
          <a:bodyPr lIns="36576" tIns="18288" rIns="36576" bIns="18288"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1" lang="zh-CN" altLang="en-US" sz="1200" b="0" i="0" u="none" strike="noStrike" kern="1200" cap="none" spc="-1"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友だち全員</a:t>
            </a:r>
            <a:endParaRPr kumimoji="1" lang="en-US" sz="1200" b="0" i="0" u="none" strike="noStrike" kern="1200" cap="none" spc="-1"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endParaRPr>
          </a:p>
        </p:txBody>
      </p:sp>
      <p:sp>
        <p:nvSpPr>
          <p:cNvPr id="76" name="Right Arrow 36">
            <a:extLst>
              <a:ext uri="{FF2B5EF4-FFF2-40B4-BE49-F238E27FC236}">
                <a16:creationId xmlns:a16="http://schemas.microsoft.com/office/drawing/2014/main" id="{C20201FF-BFEE-846F-C3DD-9E471A23D2FC}"/>
              </a:ext>
            </a:extLst>
          </p:cNvPr>
          <p:cNvSpPr/>
          <p:nvPr/>
        </p:nvSpPr>
        <p:spPr>
          <a:xfrm>
            <a:off x="2121408" y="4430725"/>
            <a:ext cx="237744" cy="145389"/>
          </a:xfrm>
          <a:prstGeom prst="rightArrow">
            <a:avLst>
              <a:gd name="adj1" fmla="val 50000"/>
              <a:gd name="adj2" fmla="val 50000"/>
            </a:avLst>
          </a:prstGeom>
          <a:solidFill>
            <a:srgbClr val="9AA1AE"/>
          </a:solidFill>
          <a:ln w="9525" cap="flat" cmpd="sng" algn="ctr">
            <a:noFill/>
            <a:prstDash val="solid"/>
          </a:ln>
          <a:effectLst>
            <a:outerShdw blurRad="39960" dist="23040" dir="5400000" rotWithShape="0">
              <a:srgbClr val="000000">
                <a:alpha val="35000"/>
              </a:srgbClr>
            </a:outerShdw>
          </a:effectLst>
        </p:spPr>
        <p:txBody>
          <a:bodyPr lIns="90000" tIns="28080" rIns="90000" bIns="2808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400" b="0"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endParaRPr>
          </a:p>
        </p:txBody>
      </p:sp>
      <p:sp>
        <p:nvSpPr>
          <p:cNvPr id="77" name="Rounded Rectangle 37">
            <a:extLst>
              <a:ext uri="{FF2B5EF4-FFF2-40B4-BE49-F238E27FC236}">
                <a16:creationId xmlns:a16="http://schemas.microsoft.com/office/drawing/2014/main" id="{236634AA-C36F-ABE3-F794-84C92819E608}"/>
              </a:ext>
            </a:extLst>
          </p:cNvPr>
          <p:cNvSpPr/>
          <p:nvPr/>
        </p:nvSpPr>
        <p:spPr>
          <a:xfrm>
            <a:off x="2359152" y="4261104"/>
            <a:ext cx="1737360" cy="484632"/>
          </a:xfrm>
          <a:prstGeom prst="roundRect">
            <a:avLst>
              <a:gd name="adj" fmla="val 10000"/>
            </a:avLst>
          </a:prstGeom>
          <a:solidFill>
            <a:srgbClr val="F5F7FA"/>
          </a:solidFill>
          <a:ln w="12700" cap="flat" cmpd="sng" algn="ctr">
            <a:solidFill>
              <a:srgbClr val="D1D8E0"/>
            </a:solidFill>
            <a:prstDash val="solid"/>
            <a:round/>
          </a:ln>
          <a:effectLst>
            <a:outerShdw blurRad="39960" dist="23040" dir="5400000" rotWithShape="0">
              <a:srgbClr val="000000">
                <a:alpha val="35000"/>
              </a:srgbClr>
            </a:outerShdw>
          </a:effectLst>
        </p:spPr>
        <p:txBody>
          <a:bodyPr lIns="36576" tIns="18288" rIns="36576" bIns="18288"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1" lang="zh-CN" altLang="en-US" sz="1200" b="0" i="0" u="none" strike="noStrike" kern="1200" cap="none" spc="-1"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絞り込みなし</a:t>
            </a:r>
            <a:endParaRPr kumimoji="1" lang="en-US" sz="1200" b="0" i="0" u="none" strike="noStrike" kern="1200" cap="none" spc="-1"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endParaRPr>
          </a:p>
        </p:txBody>
      </p:sp>
      <p:sp>
        <p:nvSpPr>
          <p:cNvPr id="78" name="Right Arrow 38">
            <a:extLst>
              <a:ext uri="{FF2B5EF4-FFF2-40B4-BE49-F238E27FC236}">
                <a16:creationId xmlns:a16="http://schemas.microsoft.com/office/drawing/2014/main" id="{170D629B-83EF-9AC6-873A-697FE13DC4A2}"/>
              </a:ext>
            </a:extLst>
          </p:cNvPr>
          <p:cNvSpPr/>
          <p:nvPr/>
        </p:nvSpPr>
        <p:spPr>
          <a:xfrm>
            <a:off x="4096512" y="4430725"/>
            <a:ext cx="237744" cy="145389"/>
          </a:xfrm>
          <a:prstGeom prst="rightArrow">
            <a:avLst>
              <a:gd name="adj1" fmla="val 50000"/>
              <a:gd name="adj2" fmla="val 50000"/>
            </a:avLst>
          </a:prstGeom>
          <a:solidFill>
            <a:srgbClr val="9AA1AE"/>
          </a:solidFill>
          <a:ln w="9525" cap="flat" cmpd="sng" algn="ctr">
            <a:noFill/>
            <a:prstDash val="solid"/>
          </a:ln>
          <a:effectLst>
            <a:outerShdw blurRad="39960" dist="23040" dir="5400000" rotWithShape="0">
              <a:srgbClr val="000000">
                <a:alpha val="35000"/>
              </a:srgbClr>
            </a:outerShdw>
          </a:effectLst>
        </p:spPr>
        <p:txBody>
          <a:bodyPr lIns="90000" tIns="28080" rIns="90000" bIns="2808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400" b="0"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endParaRPr>
          </a:p>
        </p:txBody>
      </p:sp>
      <p:sp>
        <p:nvSpPr>
          <p:cNvPr id="79" name="Rounded Rectangle 39">
            <a:extLst>
              <a:ext uri="{FF2B5EF4-FFF2-40B4-BE49-F238E27FC236}">
                <a16:creationId xmlns:a16="http://schemas.microsoft.com/office/drawing/2014/main" id="{E3796355-9664-5C7F-5671-C39FCC4A6D3C}"/>
              </a:ext>
            </a:extLst>
          </p:cNvPr>
          <p:cNvSpPr/>
          <p:nvPr/>
        </p:nvSpPr>
        <p:spPr>
          <a:xfrm>
            <a:off x="4334256" y="4261104"/>
            <a:ext cx="1645920" cy="484632"/>
          </a:xfrm>
          <a:prstGeom prst="roundRect">
            <a:avLst>
              <a:gd name="adj" fmla="val 10000"/>
            </a:avLst>
          </a:prstGeom>
          <a:solidFill>
            <a:srgbClr val="F5F7FA"/>
          </a:solidFill>
          <a:ln w="12700" cap="flat" cmpd="sng" algn="ctr">
            <a:solidFill>
              <a:srgbClr val="D1D8E0"/>
            </a:solidFill>
            <a:prstDash val="solid"/>
            <a:round/>
          </a:ln>
          <a:effectLst>
            <a:outerShdw blurRad="39960" dist="23040" dir="5400000" rotWithShape="0">
              <a:srgbClr val="000000">
                <a:alpha val="35000"/>
              </a:srgbClr>
            </a:outerShdw>
          </a:effectLst>
        </p:spPr>
        <p:txBody>
          <a:bodyPr lIns="36576" tIns="18288" rIns="36576" bIns="18288"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1" lang="zh-CN" altLang="en-US" sz="1200" b="0" i="0" u="none" strike="noStrike" kern="1200" cap="none" spc="-1"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物件URLの送り方</a:t>
            </a:r>
            <a:endParaRPr kumimoji="1" lang="en-US" sz="1200" b="0" i="0" u="none" strike="noStrike" kern="1200" cap="none" spc="-1"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endParaRPr>
          </a:p>
        </p:txBody>
      </p:sp>
      <p:sp>
        <p:nvSpPr>
          <p:cNvPr id="81" name="Right Arrow 40">
            <a:extLst>
              <a:ext uri="{FF2B5EF4-FFF2-40B4-BE49-F238E27FC236}">
                <a16:creationId xmlns:a16="http://schemas.microsoft.com/office/drawing/2014/main" id="{67427884-FB17-D7E5-1A96-30090962817E}"/>
              </a:ext>
            </a:extLst>
          </p:cNvPr>
          <p:cNvSpPr/>
          <p:nvPr/>
        </p:nvSpPr>
        <p:spPr>
          <a:xfrm>
            <a:off x="5980176" y="4430725"/>
            <a:ext cx="237744" cy="145389"/>
          </a:xfrm>
          <a:prstGeom prst="rightArrow">
            <a:avLst>
              <a:gd name="adj1" fmla="val 50000"/>
              <a:gd name="adj2" fmla="val 50000"/>
            </a:avLst>
          </a:prstGeom>
          <a:solidFill>
            <a:srgbClr val="9AA1AE"/>
          </a:solidFill>
          <a:ln w="9525" cap="flat" cmpd="sng" algn="ctr">
            <a:noFill/>
            <a:prstDash val="solid"/>
          </a:ln>
          <a:effectLst>
            <a:outerShdw blurRad="39960" dist="23040" dir="5400000" rotWithShape="0">
              <a:srgbClr val="000000">
                <a:alpha val="35000"/>
              </a:srgbClr>
            </a:outerShdw>
          </a:effectLst>
        </p:spPr>
        <p:txBody>
          <a:bodyPr lIns="90000" tIns="28080" rIns="90000" bIns="2808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400" b="0"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endParaRPr>
          </a:p>
        </p:txBody>
      </p:sp>
      <p:sp>
        <p:nvSpPr>
          <p:cNvPr id="83" name="Rounded Rectangle 41">
            <a:extLst>
              <a:ext uri="{FF2B5EF4-FFF2-40B4-BE49-F238E27FC236}">
                <a16:creationId xmlns:a16="http://schemas.microsoft.com/office/drawing/2014/main" id="{5DE7101C-6578-4E47-F6CF-55CDB2BC2F88}"/>
              </a:ext>
            </a:extLst>
          </p:cNvPr>
          <p:cNvSpPr/>
          <p:nvPr/>
        </p:nvSpPr>
        <p:spPr>
          <a:xfrm>
            <a:off x="6217920" y="4261104"/>
            <a:ext cx="1591056" cy="484632"/>
          </a:xfrm>
          <a:prstGeom prst="roundRect">
            <a:avLst>
              <a:gd name="adj" fmla="val 10000"/>
            </a:avLst>
          </a:prstGeom>
          <a:solidFill>
            <a:srgbClr val="F5F7FA"/>
          </a:solidFill>
          <a:ln w="12700" cap="flat" cmpd="sng" algn="ctr">
            <a:solidFill>
              <a:srgbClr val="D1D8E0"/>
            </a:solidFill>
            <a:prstDash val="solid"/>
            <a:round/>
          </a:ln>
          <a:effectLst>
            <a:outerShdw blurRad="39960" dist="23040" dir="5400000" rotWithShape="0">
              <a:srgbClr val="000000">
                <a:alpha val="35000"/>
              </a:srgbClr>
            </a:outerShdw>
          </a:effectLst>
        </p:spPr>
        <p:txBody>
          <a:bodyPr lIns="36576" tIns="18288" rIns="36576" bIns="18288"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1" lang="zh-CN" altLang="en-US" sz="1200" b="0" i="0" u="none" strike="noStrike" kern="1200" cap="none" spc="-1"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物件の送信</a:t>
            </a:r>
            <a:endParaRPr kumimoji="1" lang="en-US" sz="1200" b="0" i="0" u="none" strike="noStrike" kern="1200" cap="none" spc="-1" normalizeH="0" baseline="0" noProof="0">
              <a:ln>
                <a:noFill/>
              </a:ln>
              <a:solidFill>
                <a:srgbClr val="000000"/>
              </a:solidFill>
              <a:effectLst/>
              <a:uLnTx/>
              <a:uFillTx/>
              <a:latin typeface="メイリオ" panose="020B0604030504040204" pitchFamily="50" charset="-128"/>
              <a:ea typeface="メイリオ" panose="020B0604030504040204" pitchFamily="50" charset="-128"/>
            </a:endParaRPr>
          </a:p>
        </p:txBody>
      </p:sp>
      <p:sp>
        <p:nvSpPr>
          <p:cNvPr id="85" name="Right Arrow 42">
            <a:extLst>
              <a:ext uri="{FF2B5EF4-FFF2-40B4-BE49-F238E27FC236}">
                <a16:creationId xmlns:a16="http://schemas.microsoft.com/office/drawing/2014/main" id="{85034EAC-53F4-1D17-2A61-DBEF0411F280}"/>
              </a:ext>
            </a:extLst>
          </p:cNvPr>
          <p:cNvSpPr/>
          <p:nvPr/>
        </p:nvSpPr>
        <p:spPr>
          <a:xfrm>
            <a:off x="7808976" y="4430725"/>
            <a:ext cx="237744" cy="145389"/>
          </a:xfrm>
          <a:prstGeom prst="rightArrow">
            <a:avLst>
              <a:gd name="adj1" fmla="val 50000"/>
              <a:gd name="adj2" fmla="val 50000"/>
            </a:avLst>
          </a:prstGeom>
          <a:solidFill>
            <a:srgbClr val="9AA1AE"/>
          </a:solidFill>
          <a:ln w="9525" cap="flat" cmpd="sng" algn="ctr">
            <a:noFill/>
            <a:prstDash val="solid"/>
          </a:ln>
          <a:effectLst>
            <a:outerShdw blurRad="39960" dist="23040" dir="5400000" rotWithShape="0">
              <a:srgbClr val="000000">
                <a:alpha val="35000"/>
              </a:srgbClr>
            </a:outerShdw>
          </a:effectLst>
        </p:spPr>
        <p:txBody>
          <a:bodyPr lIns="90000" tIns="28080" rIns="90000" bIns="2808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400" b="0"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endParaRPr>
          </a:p>
        </p:txBody>
      </p:sp>
      <p:sp>
        <p:nvSpPr>
          <p:cNvPr id="87" name="Rounded Rectangle 43">
            <a:extLst>
              <a:ext uri="{FF2B5EF4-FFF2-40B4-BE49-F238E27FC236}">
                <a16:creationId xmlns:a16="http://schemas.microsoft.com/office/drawing/2014/main" id="{7C36E549-D437-EC3A-6A41-4F8B91A13FAD}"/>
              </a:ext>
            </a:extLst>
          </p:cNvPr>
          <p:cNvSpPr/>
          <p:nvPr/>
        </p:nvSpPr>
        <p:spPr>
          <a:xfrm>
            <a:off x="8046720" y="4261104"/>
            <a:ext cx="1463040" cy="484632"/>
          </a:xfrm>
          <a:prstGeom prst="roundRect">
            <a:avLst>
              <a:gd name="adj" fmla="val 10000"/>
            </a:avLst>
          </a:prstGeom>
          <a:solidFill>
            <a:srgbClr val="1F2A5C"/>
          </a:solidFill>
          <a:ln w="12700" cap="flat" cmpd="sng" algn="ctr">
            <a:solidFill>
              <a:srgbClr val="1F2A5C"/>
            </a:solidFill>
            <a:prstDash val="solid"/>
            <a:round/>
          </a:ln>
          <a:effectLst>
            <a:outerShdw blurRad="39960" dist="23040" dir="5400000" rotWithShape="0">
              <a:srgbClr val="000000">
                <a:alpha val="35000"/>
              </a:srgbClr>
            </a:outerShdw>
          </a:effectLst>
        </p:spPr>
        <p:txBody>
          <a:bodyPr lIns="36576" tIns="18288" rIns="36576" bIns="18288"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1" lang="en-US" sz="1200" b="1"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rPr>
              <a:t>問い合わせへ</a:t>
            </a:r>
            <a:endParaRPr kumimoji="1" lang="en-US" sz="1200" b="0"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endParaRPr>
          </a:p>
        </p:txBody>
      </p:sp>
      <p:sp>
        <p:nvSpPr>
          <p:cNvPr id="88" name="Rounded Rectangle 44">
            <a:extLst>
              <a:ext uri="{FF2B5EF4-FFF2-40B4-BE49-F238E27FC236}">
                <a16:creationId xmlns:a16="http://schemas.microsoft.com/office/drawing/2014/main" id="{3509AA31-8BB4-CD7E-42E1-9F6BB58ADDF2}"/>
              </a:ext>
            </a:extLst>
          </p:cNvPr>
          <p:cNvSpPr/>
          <p:nvPr/>
        </p:nvSpPr>
        <p:spPr>
          <a:xfrm>
            <a:off x="384048" y="4809744"/>
            <a:ext cx="1737360" cy="484632"/>
          </a:xfrm>
          <a:prstGeom prst="roundRect">
            <a:avLst>
              <a:gd name="adj" fmla="val 10000"/>
            </a:avLst>
          </a:prstGeom>
          <a:solidFill>
            <a:srgbClr val="F5F7FA"/>
          </a:solidFill>
          <a:ln w="12700" cap="flat" cmpd="sng" algn="ctr">
            <a:solidFill>
              <a:srgbClr val="D1D8E0"/>
            </a:solidFill>
            <a:prstDash val="solid"/>
            <a:round/>
          </a:ln>
          <a:effectLst>
            <a:outerShdw blurRad="39960" dist="23040" dir="5400000" rotWithShape="0">
              <a:srgbClr val="000000">
                <a:alpha val="35000"/>
              </a:srgbClr>
            </a:outerShdw>
          </a:effectLst>
        </p:spPr>
        <p:txBody>
          <a:bodyPr lIns="36576" tIns="18288" rIns="36576" bIns="18288"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1" lang="zh-CN" altLang="en-US" sz="1200" b="0" i="0" u="none" strike="noStrike" kern="1200" cap="none" spc="-1"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友だち全員</a:t>
            </a:r>
            <a:endParaRPr kumimoji="1" lang="en-US" sz="1200" b="0" i="0" u="none" strike="noStrike" kern="1200" cap="none" spc="-1"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endParaRPr>
          </a:p>
        </p:txBody>
      </p:sp>
      <p:sp>
        <p:nvSpPr>
          <p:cNvPr id="89" name="Right Arrow 45">
            <a:extLst>
              <a:ext uri="{FF2B5EF4-FFF2-40B4-BE49-F238E27FC236}">
                <a16:creationId xmlns:a16="http://schemas.microsoft.com/office/drawing/2014/main" id="{2F08F878-E171-CBAF-5ACE-E97442C7CDAC}"/>
              </a:ext>
            </a:extLst>
          </p:cNvPr>
          <p:cNvSpPr/>
          <p:nvPr/>
        </p:nvSpPr>
        <p:spPr>
          <a:xfrm>
            <a:off x="2121408" y="4979365"/>
            <a:ext cx="237744" cy="145389"/>
          </a:xfrm>
          <a:prstGeom prst="rightArrow">
            <a:avLst>
              <a:gd name="adj1" fmla="val 50000"/>
              <a:gd name="adj2" fmla="val 50000"/>
            </a:avLst>
          </a:prstGeom>
          <a:solidFill>
            <a:srgbClr val="9AA1AE"/>
          </a:solidFill>
          <a:ln w="9525" cap="flat" cmpd="sng" algn="ctr">
            <a:noFill/>
            <a:prstDash val="solid"/>
          </a:ln>
          <a:effectLst>
            <a:outerShdw blurRad="39960" dist="23040" dir="5400000" rotWithShape="0">
              <a:srgbClr val="000000">
                <a:alpha val="35000"/>
              </a:srgbClr>
            </a:outerShdw>
          </a:effectLst>
        </p:spPr>
        <p:txBody>
          <a:bodyPr lIns="90000" tIns="28080" rIns="90000" bIns="2808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400" b="0"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endParaRPr>
          </a:p>
        </p:txBody>
      </p:sp>
      <p:sp>
        <p:nvSpPr>
          <p:cNvPr id="90" name="Rounded Rectangle 46">
            <a:extLst>
              <a:ext uri="{FF2B5EF4-FFF2-40B4-BE49-F238E27FC236}">
                <a16:creationId xmlns:a16="http://schemas.microsoft.com/office/drawing/2014/main" id="{4A9564DA-D72D-BE22-4B36-8B7397654E5B}"/>
              </a:ext>
            </a:extLst>
          </p:cNvPr>
          <p:cNvSpPr/>
          <p:nvPr/>
        </p:nvSpPr>
        <p:spPr>
          <a:xfrm>
            <a:off x="2359152" y="4809744"/>
            <a:ext cx="1737360" cy="484632"/>
          </a:xfrm>
          <a:prstGeom prst="roundRect">
            <a:avLst>
              <a:gd name="adj" fmla="val 10000"/>
            </a:avLst>
          </a:prstGeom>
          <a:solidFill>
            <a:srgbClr val="F5F7FA"/>
          </a:solidFill>
          <a:ln w="12700" cap="flat" cmpd="sng" algn="ctr">
            <a:solidFill>
              <a:srgbClr val="D1D8E0"/>
            </a:solidFill>
            <a:prstDash val="solid"/>
            <a:round/>
          </a:ln>
          <a:effectLst>
            <a:outerShdw blurRad="39960" dist="23040" dir="5400000" rotWithShape="0">
              <a:srgbClr val="000000">
                <a:alpha val="35000"/>
              </a:srgbClr>
            </a:outerShdw>
          </a:effectLst>
        </p:spPr>
        <p:txBody>
          <a:bodyPr lIns="36576" tIns="18288" rIns="36576" bIns="18288"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1" lang="zh-CN" altLang="en-US" sz="1200" b="0" i="0" u="none" strike="noStrike" kern="1200" cap="none" spc="-1"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絞り込みなし</a:t>
            </a:r>
            <a:endParaRPr kumimoji="1" lang="en-US" sz="1200" b="0" i="0" u="none" strike="noStrike" kern="1200" cap="none" spc="-1"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endParaRPr>
          </a:p>
        </p:txBody>
      </p:sp>
      <p:sp>
        <p:nvSpPr>
          <p:cNvPr id="91" name="Right Arrow 47">
            <a:extLst>
              <a:ext uri="{FF2B5EF4-FFF2-40B4-BE49-F238E27FC236}">
                <a16:creationId xmlns:a16="http://schemas.microsoft.com/office/drawing/2014/main" id="{9EE3F565-D1FC-FAA4-FD0C-E10E03557E83}"/>
              </a:ext>
            </a:extLst>
          </p:cNvPr>
          <p:cNvSpPr/>
          <p:nvPr/>
        </p:nvSpPr>
        <p:spPr>
          <a:xfrm>
            <a:off x="4096512" y="4979365"/>
            <a:ext cx="237744" cy="145389"/>
          </a:xfrm>
          <a:prstGeom prst="rightArrow">
            <a:avLst>
              <a:gd name="adj1" fmla="val 50000"/>
              <a:gd name="adj2" fmla="val 50000"/>
            </a:avLst>
          </a:prstGeom>
          <a:solidFill>
            <a:srgbClr val="9AA1AE"/>
          </a:solidFill>
          <a:ln w="9525" cap="flat" cmpd="sng" algn="ctr">
            <a:noFill/>
            <a:prstDash val="solid"/>
          </a:ln>
          <a:effectLst>
            <a:outerShdw blurRad="39960" dist="23040" dir="5400000" rotWithShape="0">
              <a:srgbClr val="000000">
                <a:alpha val="35000"/>
              </a:srgbClr>
            </a:outerShdw>
          </a:effectLst>
        </p:spPr>
        <p:txBody>
          <a:bodyPr lIns="90000" tIns="28080" rIns="90000" bIns="2808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400" b="0"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endParaRPr>
          </a:p>
        </p:txBody>
      </p:sp>
      <p:sp>
        <p:nvSpPr>
          <p:cNvPr id="92" name="Rounded Rectangle 48">
            <a:extLst>
              <a:ext uri="{FF2B5EF4-FFF2-40B4-BE49-F238E27FC236}">
                <a16:creationId xmlns:a16="http://schemas.microsoft.com/office/drawing/2014/main" id="{67D2510F-50F4-0118-37C7-386991E5C2A3}"/>
              </a:ext>
            </a:extLst>
          </p:cNvPr>
          <p:cNvSpPr/>
          <p:nvPr/>
        </p:nvSpPr>
        <p:spPr>
          <a:xfrm>
            <a:off x="4334256" y="4809744"/>
            <a:ext cx="1645920" cy="484632"/>
          </a:xfrm>
          <a:prstGeom prst="roundRect">
            <a:avLst>
              <a:gd name="adj" fmla="val 10000"/>
            </a:avLst>
          </a:prstGeom>
          <a:solidFill>
            <a:srgbClr val="F5F7FA"/>
          </a:solidFill>
          <a:ln w="12700" cap="flat" cmpd="sng" algn="ctr">
            <a:solidFill>
              <a:srgbClr val="D1D8E0"/>
            </a:solidFill>
            <a:prstDash val="solid"/>
            <a:round/>
          </a:ln>
          <a:effectLst>
            <a:outerShdw blurRad="39960" dist="23040" dir="5400000" rotWithShape="0">
              <a:srgbClr val="000000">
                <a:alpha val="35000"/>
              </a:srgbClr>
            </a:outerShdw>
          </a:effectLst>
        </p:spPr>
        <p:txBody>
          <a:bodyPr lIns="36576" tIns="18288" rIns="36576" bIns="18288"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1" lang="zh-CN" altLang="en-US" sz="1200" b="0" i="0" u="none" strike="noStrike" kern="1200" cap="none" spc="-1"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初期費用の内訳</a:t>
            </a:r>
            <a:endParaRPr kumimoji="1" lang="en-US" sz="1200" b="0" i="0" u="none" strike="noStrike" kern="1200" cap="none" spc="-1"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endParaRPr>
          </a:p>
          <a:p>
            <a:pPr marL="0" marR="0" lvl="0" indent="0" algn="ctr" defTabSz="914400" rtl="0" eaLnBrk="1" fontAlgn="auto" latinLnBrk="0" hangingPunct="1">
              <a:lnSpc>
                <a:spcPct val="90000"/>
              </a:lnSpc>
              <a:spcBef>
                <a:spcPts val="0"/>
              </a:spcBef>
              <a:spcAft>
                <a:spcPts val="0"/>
              </a:spcAft>
              <a:buClrTx/>
              <a:buSzTx/>
              <a:buFontTx/>
              <a:buNone/>
              <a:tabLst/>
              <a:defRPr/>
            </a:pPr>
            <a:r>
              <a:rPr kumimoji="1" lang="zh-CN" altLang="en-US" sz="1200" b="0" i="0" u="none" strike="noStrike" kern="1200" cap="none" spc="-1"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（家賃10万円の例）</a:t>
            </a:r>
            <a:endParaRPr kumimoji="1" lang="en-US" sz="1200" b="0" i="0" u="none" strike="noStrike" kern="1200" cap="none" spc="-1"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endParaRPr>
          </a:p>
        </p:txBody>
      </p:sp>
      <p:sp>
        <p:nvSpPr>
          <p:cNvPr id="93" name="Right Arrow 49">
            <a:extLst>
              <a:ext uri="{FF2B5EF4-FFF2-40B4-BE49-F238E27FC236}">
                <a16:creationId xmlns:a16="http://schemas.microsoft.com/office/drawing/2014/main" id="{3373337A-E65C-AE53-F9A5-2F7A6E336571}"/>
              </a:ext>
            </a:extLst>
          </p:cNvPr>
          <p:cNvSpPr/>
          <p:nvPr/>
        </p:nvSpPr>
        <p:spPr>
          <a:xfrm>
            <a:off x="5980176" y="4979365"/>
            <a:ext cx="237744" cy="145389"/>
          </a:xfrm>
          <a:prstGeom prst="rightArrow">
            <a:avLst>
              <a:gd name="adj1" fmla="val 50000"/>
              <a:gd name="adj2" fmla="val 50000"/>
            </a:avLst>
          </a:prstGeom>
          <a:solidFill>
            <a:srgbClr val="9AA1AE"/>
          </a:solidFill>
          <a:ln w="9525" cap="flat" cmpd="sng" algn="ctr">
            <a:noFill/>
            <a:prstDash val="solid"/>
          </a:ln>
          <a:effectLst>
            <a:outerShdw blurRad="39960" dist="23040" dir="5400000" rotWithShape="0">
              <a:srgbClr val="000000">
                <a:alpha val="35000"/>
              </a:srgbClr>
            </a:outerShdw>
          </a:effectLst>
        </p:spPr>
        <p:txBody>
          <a:bodyPr lIns="90000" tIns="28080" rIns="90000" bIns="2808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400" b="0"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endParaRPr>
          </a:p>
        </p:txBody>
      </p:sp>
      <p:sp>
        <p:nvSpPr>
          <p:cNvPr id="94" name="Rounded Rectangle 50">
            <a:extLst>
              <a:ext uri="{FF2B5EF4-FFF2-40B4-BE49-F238E27FC236}">
                <a16:creationId xmlns:a16="http://schemas.microsoft.com/office/drawing/2014/main" id="{7B2D9D92-DC6A-BA17-D3AB-9EEC29847B44}"/>
              </a:ext>
            </a:extLst>
          </p:cNvPr>
          <p:cNvSpPr/>
          <p:nvPr/>
        </p:nvSpPr>
        <p:spPr>
          <a:xfrm>
            <a:off x="6217920" y="4809744"/>
            <a:ext cx="1591056" cy="484632"/>
          </a:xfrm>
          <a:prstGeom prst="roundRect">
            <a:avLst>
              <a:gd name="adj" fmla="val 10000"/>
            </a:avLst>
          </a:prstGeom>
          <a:solidFill>
            <a:srgbClr val="F5F7FA"/>
          </a:solidFill>
          <a:ln w="12700" cap="flat" cmpd="sng" algn="ctr">
            <a:solidFill>
              <a:srgbClr val="D1D8E0"/>
            </a:solidFill>
            <a:prstDash val="solid"/>
            <a:round/>
          </a:ln>
          <a:effectLst>
            <a:outerShdw blurRad="39960" dist="23040" dir="5400000" rotWithShape="0">
              <a:srgbClr val="000000">
                <a:alpha val="35000"/>
              </a:srgbClr>
            </a:outerShdw>
          </a:effectLst>
        </p:spPr>
        <p:txBody>
          <a:bodyPr lIns="36576" tIns="18288" rIns="36576" bIns="18288"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1" lang="zh-CN" altLang="en-US" sz="1200" b="0" i="0" u="none" strike="noStrike" kern="1200" cap="none" spc="-1"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費用の不安を解消</a:t>
            </a:r>
            <a:endParaRPr kumimoji="1" lang="en-US" sz="1200" b="0" i="0" u="none" strike="noStrike" kern="1200" cap="none" spc="-1" normalizeH="0" baseline="0" noProof="0">
              <a:ln>
                <a:noFill/>
              </a:ln>
              <a:solidFill>
                <a:srgbClr val="000000"/>
              </a:solidFill>
              <a:effectLst/>
              <a:uLnTx/>
              <a:uFillTx/>
              <a:latin typeface="メイリオ" panose="020B0604030504040204" pitchFamily="50" charset="-128"/>
              <a:ea typeface="メイリオ" panose="020B0604030504040204" pitchFamily="50" charset="-128"/>
            </a:endParaRPr>
          </a:p>
        </p:txBody>
      </p:sp>
      <p:sp>
        <p:nvSpPr>
          <p:cNvPr id="95" name="Right Arrow 51">
            <a:extLst>
              <a:ext uri="{FF2B5EF4-FFF2-40B4-BE49-F238E27FC236}">
                <a16:creationId xmlns:a16="http://schemas.microsoft.com/office/drawing/2014/main" id="{7B273A5A-6485-DC58-FE9D-66E32064C6BA}"/>
              </a:ext>
            </a:extLst>
          </p:cNvPr>
          <p:cNvSpPr/>
          <p:nvPr/>
        </p:nvSpPr>
        <p:spPr>
          <a:xfrm>
            <a:off x="7808976" y="4979365"/>
            <a:ext cx="237744" cy="145389"/>
          </a:xfrm>
          <a:prstGeom prst="rightArrow">
            <a:avLst>
              <a:gd name="adj1" fmla="val 50000"/>
              <a:gd name="adj2" fmla="val 50000"/>
            </a:avLst>
          </a:prstGeom>
          <a:solidFill>
            <a:srgbClr val="9AA1AE"/>
          </a:solidFill>
          <a:ln w="9525" cap="flat" cmpd="sng" algn="ctr">
            <a:noFill/>
            <a:prstDash val="solid"/>
          </a:ln>
          <a:effectLst>
            <a:outerShdw blurRad="39960" dist="23040" dir="5400000" rotWithShape="0">
              <a:srgbClr val="000000">
                <a:alpha val="35000"/>
              </a:srgbClr>
            </a:outerShdw>
          </a:effectLst>
        </p:spPr>
        <p:txBody>
          <a:bodyPr lIns="90000" tIns="28080" rIns="90000" bIns="2808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400" b="0"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endParaRPr>
          </a:p>
        </p:txBody>
      </p:sp>
      <p:sp>
        <p:nvSpPr>
          <p:cNvPr id="96" name="Rounded Rectangle 52">
            <a:extLst>
              <a:ext uri="{FF2B5EF4-FFF2-40B4-BE49-F238E27FC236}">
                <a16:creationId xmlns:a16="http://schemas.microsoft.com/office/drawing/2014/main" id="{3E174E44-E11C-D8A6-8593-84B4BD852C3C}"/>
              </a:ext>
            </a:extLst>
          </p:cNvPr>
          <p:cNvSpPr/>
          <p:nvPr/>
        </p:nvSpPr>
        <p:spPr>
          <a:xfrm>
            <a:off x="8046720" y="4809744"/>
            <a:ext cx="1463040" cy="484632"/>
          </a:xfrm>
          <a:prstGeom prst="roundRect">
            <a:avLst>
              <a:gd name="adj" fmla="val 10000"/>
            </a:avLst>
          </a:prstGeom>
          <a:solidFill>
            <a:srgbClr val="1F2A5C"/>
          </a:solidFill>
          <a:ln w="12700" cap="flat" cmpd="sng" algn="ctr">
            <a:solidFill>
              <a:srgbClr val="1F2A5C"/>
            </a:solidFill>
            <a:prstDash val="solid"/>
            <a:round/>
          </a:ln>
          <a:effectLst>
            <a:outerShdw blurRad="39960" dist="23040" dir="5400000" rotWithShape="0">
              <a:srgbClr val="000000">
                <a:alpha val="35000"/>
              </a:srgbClr>
            </a:outerShdw>
          </a:effectLst>
        </p:spPr>
        <p:txBody>
          <a:bodyPr lIns="36576" tIns="18288" rIns="36576" bIns="18288"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1" lang="en-US" sz="1200" b="1"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rPr>
              <a:t>問い合わせへ</a:t>
            </a:r>
            <a:endParaRPr kumimoji="1" lang="en-US" sz="1200" b="0"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endParaRPr>
          </a:p>
        </p:txBody>
      </p:sp>
      <p:sp>
        <p:nvSpPr>
          <p:cNvPr id="97" name="Rounded Rectangle 53">
            <a:extLst>
              <a:ext uri="{FF2B5EF4-FFF2-40B4-BE49-F238E27FC236}">
                <a16:creationId xmlns:a16="http://schemas.microsoft.com/office/drawing/2014/main" id="{FE709356-918E-E7F2-F3E1-B4BD115559DF}"/>
              </a:ext>
            </a:extLst>
          </p:cNvPr>
          <p:cNvSpPr/>
          <p:nvPr/>
        </p:nvSpPr>
        <p:spPr>
          <a:xfrm>
            <a:off x="384048" y="5358384"/>
            <a:ext cx="1737360" cy="484632"/>
          </a:xfrm>
          <a:prstGeom prst="roundRect">
            <a:avLst>
              <a:gd name="adj" fmla="val 10000"/>
            </a:avLst>
          </a:prstGeom>
          <a:solidFill>
            <a:srgbClr val="F5F7FA"/>
          </a:solidFill>
          <a:ln w="12700" cap="flat" cmpd="sng" algn="ctr">
            <a:solidFill>
              <a:srgbClr val="D1D8E0"/>
            </a:solidFill>
            <a:prstDash val="solid"/>
            <a:round/>
          </a:ln>
          <a:effectLst>
            <a:outerShdw blurRad="39960" dist="23040" dir="5400000" rotWithShape="0">
              <a:srgbClr val="000000">
                <a:alpha val="35000"/>
              </a:srgbClr>
            </a:outerShdw>
          </a:effectLst>
        </p:spPr>
        <p:txBody>
          <a:bodyPr lIns="36576" tIns="18288" rIns="36576" bIns="18288"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1" lang="zh-CN" altLang="en-US" sz="1200" b="0" i="0" u="none" strike="noStrike" kern="1200" cap="none" spc="-1"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物件を送っていない方</a:t>
            </a:r>
            <a:endParaRPr kumimoji="1" lang="en-US" sz="1200" b="0" i="0" u="none" strike="noStrike" kern="1200" cap="none" spc="-1"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endParaRPr>
          </a:p>
        </p:txBody>
      </p:sp>
      <p:sp>
        <p:nvSpPr>
          <p:cNvPr id="98" name="Right Arrow 54">
            <a:extLst>
              <a:ext uri="{FF2B5EF4-FFF2-40B4-BE49-F238E27FC236}">
                <a16:creationId xmlns:a16="http://schemas.microsoft.com/office/drawing/2014/main" id="{606E10D2-6C3B-CA37-E18B-DB4789958107}"/>
              </a:ext>
            </a:extLst>
          </p:cNvPr>
          <p:cNvSpPr/>
          <p:nvPr/>
        </p:nvSpPr>
        <p:spPr>
          <a:xfrm>
            <a:off x="2121408" y="5528005"/>
            <a:ext cx="237744" cy="145389"/>
          </a:xfrm>
          <a:prstGeom prst="rightArrow">
            <a:avLst>
              <a:gd name="adj1" fmla="val 50000"/>
              <a:gd name="adj2" fmla="val 50000"/>
            </a:avLst>
          </a:prstGeom>
          <a:solidFill>
            <a:srgbClr val="9AA1AE"/>
          </a:solidFill>
          <a:ln w="9525" cap="flat" cmpd="sng" algn="ctr">
            <a:noFill/>
            <a:prstDash val="solid"/>
          </a:ln>
          <a:effectLst>
            <a:outerShdw blurRad="39960" dist="23040" dir="5400000" rotWithShape="0">
              <a:srgbClr val="000000">
                <a:alpha val="35000"/>
              </a:srgbClr>
            </a:outerShdw>
          </a:effectLst>
        </p:spPr>
        <p:txBody>
          <a:bodyPr lIns="90000" tIns="28080" rIns="90000" bIns="2808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400" b="0"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endParaRPr>
          </a:p>
        </p:txBody>
      </p:sp>
      <p:sp>
        <p:nvSpPr>
          <p:cNvPr id="99" name="Rounded Rectangle 55">
            <a:extLst>
              <a:ext uri="{FF2B5EF4-FFF2-40B4-BE49-F238E27FC236}">
                <a16:creationId xmlns:a16="http://schemas.microsoft.com/office/drawing/2014/main" id="{20D02818-4FDF-B0AE-5F99-DD27442A6DD8}"/>
              </a:ext>
            </a:extLst>
          </p:cNvPr>
          <p:cNvSpPr/>
          <p:nvPr/>
        </p:nvSpPr>
        <p:spPr>
          <a:xfrm>
            <a:off x="2359152" y="5358384"/>
            <a:ext cx="1737360" cy="484632"/>
          </a:xfrm>
          <a:prstGeom prst="roundRect">
            <a:avLst>
              <a:gd name="adj" fmla="val 10000"/>
            </a:avLst>
          </a:prstGeom>
          <a:solidFill>
            <a:srgbClr val="F5F7FA"/>
          </a:solidFill>
          <a:ln w="12700" cap="flat" cmpd="sng" algn="ctr">
            <a:solidFill>
              <a:srgbClr val="D1D8E0"/>
            </a:solidFill>
            <a:prstDash val="solid"/>
            <a:round/>
          </a:ln>
          <a:effectLst>
            <a:outerShdw blurRad="39960" dist="23040" dir="5400000" rotWithShape="0">
              <a:srgbClr val="000000">
                <a:alpha val="35000"/>
              </a:srgbClr>
            </a:outerShdw>
          </a:effectLst>
        </p:spPr>
        <p:txBody>
          <a:bodyPr lIns="36576" tIns="18288" rIns="36576" bIns="18288"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1" lang="zh-CN" altLang="en-US" sz="1200" b="0" i="0" u="none" strike="noStrike" kern="1200" cap="none" spc="-1"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問い合わせ済みを除く</a:t>
            </a:r>
            <a:endParaRPr kumimoji="1" lang="en-US" sz="1200" b="0" i="0" u="none" strike="noStrike" kern="1200" cap="none" spc="-1"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endParaRPr>
          </a:p>
          <a:p>
            <a:pPr marL="0" marR="0" lvl="0" indent="0" algn="ctr" defTabSz="914400" rtl="0" eaLnBrk="1" fontAlgn="auto" latinLnBrk="0" hangingPunct="1">
              <a:lnSpc>
                <a:spcPct val="90000"/>
              </a:lnSpc>
              <a:spcBef>
                <a:spcPts val="0"/>
              </a:spcBef>
              <a:spcAft>
                <a:spcPts val="0"/>
              </a:spcAft>
              <a:buClrTx/>
              <a:buSzTx/>
              <a:buFontTx/>
              <a:buNone/>
              <a:tabLst/>
              <a:defRPr/>
            </a:pPr>
            <a:r>
              <a:rPr kumimoji="1" lang="zh-CN" altLang="en-US" sz="1200" b="0" i="0" u="none" strike="noStrike" kern="1200" cap="none" spc="-1"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（チャットタグ）</a:t>
            </a:r>
            <a:endParaRPr kumimoji="1" lang="en-US" sz="1200" b="0" i="0" u="none" strike="noStrike" kern="1200" cap="none" spc="-1"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endParaRPr>
          </a:p>
        </p:txBody>
      </p:sp>
      <p:sp>
        <p:nvSpPr>
          <p:cNvPr id="100" name="Right Arrow 56">
            <a:extLst>
              <a:ext uri="{FF2B5EF4-FFF2-40B4-BE49-F238E27FC236}">
                <a16:creationId xmlns:a16="http://schemas.microsoft.com/office/drawing/2014/main" id="{98FBF640-C93B-3832-D8BC-6F2B63E4E050}"/>
              </a:ext>
            </a:extLst>
          </p:cNvPr>
          <p:cNvSpPr/>
          <p:nvPr/>
        </p:nvSpPr>
        <p:spPr>
          <a:xfrm>
            <a:off x="4096512" y="5528005"/>
            <a:ext cx="237744" cy="145389"/>
          </a:xfrm>
          <a:prstGeom prst="rightArrow">
            <a:avLst>
              <a:gd name="adj1" fmla="val 50000"/>
              <a:gd name="adj2" fmla="val 50000"/>
            </a:avLst>
          </a:prstGeom>
          <a:solidFill>
            <a:srgbClr val="9AA1AE"/>
          </a:solidFill>
          <a:ln w="9525" cap="flat" cmpd="sng" algn="ctr">
            <a:noFill/>
            <a:prstDash val="solid"/>
          </a:ln>
          <a:effectLst>
            <a:outerShdw blurRad="39960" dist="23040" dir="5400000" rotWithShape="0">
              <a:srgbClr val="000000">
                <a:alpha val="35000"/>
              </a:srgbClr>
            </a:outerShdw>
          </a:effectLst>
        </p:spPr>
        <p:txBody>
          <a:bodyPr lIns="90000" tIns="28080" rIns="90000" bIns="2808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400" b="0"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endParaRPr>
          </a:p>
        </p:txBody>
      </p:sp>
      <p:sp>
        <p:nvSpPr>
          <p:cNvPr id="101" name="Rounded Rectangle 57">
            <a:extLst>
              <a:ext uri="{FF2B5EF4-FFF2-40B4-BE49-F238E27FC236}">
                <a16:creationId xmlns:a16="http://schemas.microsoft.com/office/drawing/2014/main" id="{D8F5335A-6069-7376-BC09-FF796F2F08E2}"/>
              </a:ext>
            </a:extLst>
          </p:cNvPr>
          <p:cNvSpPr/>
          <p:nvPr/>
        </p:nvSpPr>
        <p:spPr>
          <a:xfrm>
            <a:off x="4334256" y="5358384"/>
            <a:ext cx="1645920" cy="484632"/>
          </a:xfrm>
          <a:prstGeom prst="roundRect">
            <a:avLst>
              <a:gd name="adj" fmla="val 10000"/>
            </a:avLst>
          </a:prstGeom>
          <a:solidFill>
            <a:srgbClr val="F5F7FA"/>
          </a:solidFill>
          <a:ln w="12700" cap="flat" cmpd="sng" algn="ctr">
            <a:solidFill>
              <a:srgbClr val="D1D8E0"/>
            </a:solidFill>
            <a:prstDash val="solid"/>
            <a:round/>
          </a:ln>
          <a:effectLst>
            <a:outerShdw blurRad="39960" dist="23040" dir="5400000" rotWithShape="0">
              <a:srgbClr val="000000">
                <a:alpha val="35000"/>
              </a:srgbClr>
            </a:outerShdw>
          </a:effectLst>
        </p:spPr>
        <p:txBody>
          <a:bodyPr lIns="36576" tIns="18288" rIns="36576" bIns="18288"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1" lang="zh-CN" altLang="en-US" sz="1200" b="0" i="0" u="none" strike="noStrike" kern="1200" cap="none" spc="-1"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内見済みでも相談可</a:t>
            </a:r>
            <a:endParaRPr kumimoji="1" lang="en-US" sz="1200" b="0" i="0" u="none" strike="noStrike" kern="1200" cap="none" spc="-1"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endParaRPr>
          </a:p>
          <a:p>
            <a:pPr marL="0" marR="0" lvl="0" indent="0" algn="ctr" defTabSz="914400" rtl="0" eaLnBrk="1" fontAlgn="auto" latinLnBrk="0" hangingPunct="1">
              <a:lnSpc>
                <a:spcPct val="90000"/>
              </a:lnSpc>
              <a:spcBef>
                <a:spcPts val="0"/>
              </a:spcBef>
              <a:spcAft>
                <a:spcPts val="0"/>
              </a:spcAft>
              <a:buClrTx/>
              <a:buSzTx/>
              <a:buFontTx/>
              <a:buNone/>
              <a:tabLst/>
              <a:defRPr/>
            </a:pPr>
            <a:r>
              <a:rPr kumimoji="1" lang="zh-CN" altLang="en-US" sz="1200" b="0" i="0" u="none" strike="noStrike" kern="1200" cap="none" spc="-1"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100円チェッカー</a:t>
            </a:r>
            <a:endParaRPr kumimoji="1" lang="en-US" sz="1200" b="0" i="0" u="none" strike="noStrike" kern="1200" cap="none" spc="-1"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endParaRPr>
          </a:p>
        </p:txBody>
      </p:sp>
      <p:sp>
        <p:nvSpPr>
          <p:cNvPr id="102" name="Right Arrow 58">
            <a:extLst>
              <a:ext uri="{FF2B5EF4-FFF2-40B4-BE49-F238E27FC236}">
                <a16:creationId xmlns:a16="http://schemas.microsoft.com/office/drawing/2014/main" id="{6F22DD59-A692-BE78-98F2-2A69DB20C8D8}"/>
              </a:ext>
            </a:extLst>
          </p:cNvPr>
          <p:cNvSpPr/>
          <p:nvPr/>
        </p:nvSpPr>
        <p:spPr>
          <a:xfrm>
            <a:off x="5980176" y="5528005"/>
            <a:ext cx="237744" cy="145389"/>
          </a:xfrm>
          <a:prstGeom prst="rightArrow">
            <a:avLst>
              <a:gd name="adj1" fmla="val 50000"/>
              <a:gd name="adj2" fmla="val 50000"/>
            </a:avLst>
          </a:prstGeom>
          <a:solidFill>
            <a:srgbClr val="9AA1AE"/>
          </a:solidFill>
          <a:ln w="9525" cap="flat" cmpd="sng" algn="ctr">
            <a:noFill/>
            <a:prstDash val="solid"/>
          </a:ln>
          <a:effectLst>
            <a:outerShdw blurRad="39960" dist="23040" dir="5400000" rotWithShape="0">
              <a:srgbClr val="000000">
                <a:alpha val="35000"/>
              </a:srgbClr>
            </a:outerShdw>
          </a:effectLst>
        </p:spPr>
        <p:txBody>
          <a:bodyPr lIns="90000" tIns="28080" rIns="90000" bIns="2808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400" b="0"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endParaRPr>
          </a:p>
        </p:txBody>
      </p:sp>
      <p:sp>
        <p:nvSpPr>
          <p:cNvPr id="103" name="Rounded Rectangle 59">
            <a:extLst>
              <a:ext uri="{FF2B5EF4-FFF2-40B4-BE49-F238E27FC236}">
                <a16:creationId xmlns:a16="http://schemas.microsoft.com/office/drawing/2014/main" id="{332041F0-252C-90C7-821C-A7C25230B63D}"/>
              </a:ext>
            </a:extLst>
          </p:cNvPr>
          <p:cNvSpPr/>
          <p:nvPr/>
        </p:nvSpPr>
        <p:spPr>
          <a:xfrm>
            <a:off x="6217920" y="5358384"/>
            <a:ext cx="1591056" cy="484632"/>
          </a:xfrm>
          <a:prstGeom prst="roundRect">
            <a:avLst>
              <a:gd name="adj" fmla="val 10000"/>
            </a:avLst>
          </a:prstGeom>
          <a:solidFill>
            <a:srgbClr val="F5F7FA"/>
          </a:solidFill>
          <a:ln w="12700" cap="flat" cmpd="sng" algn="ctr">
            <a:solidFill>
              <a:srgbClr val="D1D8E0"/>
            </a:solidFill>
            <a:prstDash val="solid"/>
            <a:round/>
          </a:ln>
          <a:effectLst>
            <a:outerShdw blurRad="39960" dist="23040" dir="5400000" rotWithShape="0">
              <a:srgbClr val="000000">
                <a:alpha val="35000"/>
              </a:srgbClr>
            </a:outerShdw>
          </a:effectLst>
        </p:spPr>
        <p:txBody>
          <a:bodyPr lIns="36576" tIns="18288" rIns="36576" bIns="18288"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1" lang="zh-CN" altLang="en-US" sz="1200" b="0" i="0" u="none" strike="noStrike" kern="1200" cap="none" spc="-1"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物件の送信</a:t>
            </a:r>
            <a:endParaRPr kumimoji="1" lang="en-US" sz="1200" b="0" i="0" u="none" strike="noStrike" kern="1200" cap="none" spc="-1" normalizeH="0" baseline="0" noProof="0">
              <a:ln>
                <a:noFill/>
              </a:ln>
              <a:solidFill>
                <a:srgbClr val="000000"/>
              </a:solidFill>
              <a:effectLst/>
              <a:uLnTx/>
              <a:uFillTx/>
              <a:latin typeface="メイリオ" panose="020B0604030504040204" pitchFamily="50" charset="-128"/>
              <a:ea typeface="メイリオ" panose="020B0604030504040204" pitchFamily="50" charset="-128"/>
            </a:endParaRPr>
          </a:p>
        </p:txBody>
      </p:sp>
      <p:sp>
        <p:nvSpPr>
          <p:cNvPr id="104" name="Right Arrow 60">
            <a:extLst>
              <a:ext uri="{FF2B5EF4-FFF2-40B4-BE49-F238E27FC236}">
                <a16:creationId xmlns:a16="http://schemas.microsoft.com/office/drawing/2014/main" id="{D3B2D85C-2942-5837-41FA-4CDD86C50ADB}"/>
              </a:ext>
            </a:extLst>
          </p:cNvPr>
          <p:cNvSpPr/>
          <p:nvPr/>
        </p:nvSpPr>
        <p:spPr>
          <a:xfrm>
            <a:off x="7808976" y="5528005"/>
            <a:ext cx="237744" cy="145389"/>
          </a:xfrm>
          <a:prstGeom prst="rightArrow">
            <a:avLst>
              <a:gd name="adj1" fmla="val 50000"/>
              <a:gd name="adj2" fmla="val 50000"/>
            </a:avLst>
          </a:prstGeom>
          <a:solidFill>
            <a:srgbClr val="9AA1AE"/>
          </a:solidFill>
          <a:ln w="9525" cap="flat" cmpd="sng" algn="ctr">
            <a:noFill/>
            <a:prstDash val="solid"/>
          </a:ln>
          <a:effectLst>
            <a:outerShdw blurRad="39960" dist="23040" dir="5400000" rotWithShape="0">
              <a:srgbClr val="000000">
                <a:alpha val="35000"/>
              </a:srgbClr>
            </a:outerShdw>
          </a:effectLst>
        </p:spPr>
        <p:txBody>
          <a:bodyPr lIns="90000" tIns="28080" rIns="90000" bIns="2808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400" b="0"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endParaRPr>
          </a:p>
        </p:txBody>
      </p:sp>
      <p:sp>
        <p:nvSpPr>
          <p:cNvPr id="105" name="Rounded Rectangle 61">
            <a:extLst>
              <a:ext uri="{FF2B5EF4-FFF2-40B4-BE49-F238E27FC236}">
                <a16:creationId xmlns:a16="http://schemas.microsoft.com/office/drawing/2014/main" id="{3FE6E2F3-B8DC-0BC9-E506-DAC09607D1F6}"/>
              </a:ext>
            </a:extLst>
          </p:cNvPr>
          <p:cNvSpPr/>
          <p:nvPr/>
        </p:nvSpPr>
        <p:spPr>
          <a:xfrm>
            <a:off x="8046720" y="5358384"/>
            <a:ext cx="1463040" cy="484632"/>
          </a:xfrm>
          <a:prstGeom prst="roundRect">
            <a:avLst>
              <a:gd name="adj" fmla="val 10000"/>
            </a:avLst>
          </a:prstGeom>
          <a:solidFill>
            <a:srgbClr val="1F2A5C"/>
          </a:solidFill>
          <a:ln w="12700" cap="flat" cmpd="sng" algn="ctr">
            <a:solidFill>
              <a:srgbClr val="1F2A5C"/>
            </a:solidFill>
            <a:prstDash val="solid"/>
            <a:round/>
          </a:ln>
          <a:effectLst>
            <a:outerShdw blurRad="39960" dist="23040" dir="5400000" rotWithShape="0">
              <a:srgbClr val="000000">
                <a:alpha val="35000"/>
              </a:srgbClr>
            </a:outerShdw>
          </a:effectLst>
        </p:spPr>
        <p:txBody>
          <a:bodyPr lIns="36576" tIns="18288" rIns="36576" bIns="18288"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1" lang="en-US" sz="1200" b="1"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rPr>
              <a:t>問い合わせへ</a:t>
            </a:r>
            <a:endParaRPr kumimoji="1" lang="en-US" sz="1200" b="0"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endParaRPr>
          </a:p>
        </p:txBody>
      </p:sp>
      <p:sp>
        <p:nvSpPr>
          <p:cNvPr id="106" name="Rounded Rectangle 62">
            <a:extLst>
              <a:ext uri="{FF2B5EF4-FFF2-40B4-BE49-F238E27FC236}">
                <a16:creationId xmlns:a16="http://schemas.microsoft.com/office/drawing/2014/main" id="{31BC816E-863E-27AE-E5EB-DA22ED19D939}"/>
              </a:ext>
            </a:extLst>
          </p:cNvPr>
          <p:cNvSpPr/>
          <p:nvPr/>
        </p:nvSpPr>
        <p:spPr>
          <a:xfrm>
            <a:off x="384048" y="5907024"/>
            <a:ext cx="1737360" cy="484632"/>
          </a:xfrm>
          <a:prstGeom prst="roundRect">
            <a:avLst>
              <a:gd name="adj" fmla="val 10000"/>
            </a:avLst>
          </a:prstGeom>
          <a:solidFill>
            <a:srgbClr val="F5F7FA"/>
          </a:solidFill>
          <a:ln w="12700" cap="flat" cmpd="sng" algn="ctr">
            <a:solidFill>
              <a:srgbClr val="D1D8E0"/>
            </a:solidFill>
            <a:prstDash val="solid"/>
            <a:round/>
          </a:ln>
          <a:effectLst>
            <a:outerShdw blurRad="39960" dist="23040" dir="5400000" rotWithShape="0">
              <a:srgbClr val="000000">
                <a:alpha val="35000"/>
              </a:srgbClr>
            </a:outerShdw>
          </a:effectLst>
        </p:spPr>
        <p:txBody>
          <a:bodyPr lIns="36576" tIns="18288" rIns="36576" bIns="18288"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1" lang="zh-CN" altLang="en-US" sz="1200" b="0" i="0" u="none" strike="noStrike" kern="1200" cap="none" spc="-1"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友だち全員</a:t>
            </a:r>
            <a:endParaRPr kumimoji="1" lang="en-US" sz="1200" b="0" i="0" u="none" strike="noStrike" kern="1200" cap="none" spc="-1"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endParaRPr>
          </a:p>
        </p:txBody>
      </p:sp>
      <p:sp>
        <p:nvSpPr>
          <p:cNvPr id="107" name="Right Arrow 63">
            <a:extLst>
              <a:ext uri="{FF2B5EF4-FFF2-40B4-BE49-F238E27FC236}">
                <a16:creationId xmlns:a16="http://schemas.microsoft.com/office/drawing/2014/main" id="{AAF9729B-F573-AD53-94AA-E5CCE5ED8ED4}"/>
              </a:ext>
            </a:extLst>
          </p:cNvPr>
          <p:cNvSpPr/>
          <p:nvPr/>
        </p:nvSpPr>
        <p:spPr>
          <a:xfrm>
            <a:off x="2121408" y="6076645"/>
            <a:ext cx="237744" cy="145389"/>
          </a:xfrm>
          <a:prstGeom prst="rightArrow">
            <a:avLst>
              <a:gd name="adj1" fmla="val 50000"/>
              <a:gd name="adj2" fmla="val 50000"/>
            </a:avLst>
          </a:prstGeom>
          <a:solidFill>
            <a:srgbClr val="9AA1AE"/>
          </a:solidFill>
          <a:ln w="9525" cap="flat" cmpd="sng" algn="ctr">
            <a:noFill/>
            <a:prstDash val="solid"/>
          </a:ln>
          <a:effectLst>
            <a:outerShdw blurRad="39960" dist="23040" dir="5400000" rotWithShape="0">
              <a:srgbClr val="000000">
                <a:alpha val="35000"/>
              </a:srgbClr>
            </a:outerShdw>
          </a:effectLst>
        </p:spPr>
        <p:txBody>
          <a:bodyPr lIns="90000" tIns="28080" rIns="90000" bIns="2808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400" b="0"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endParaRPr>
          </a:p>
        </p:txBody>
      </p:sp>
      <p:sp>
        <p:nvSpPr>
          <p:cNvPr id="108" name="Rounded Rectangle 64">
            <a:extLst>
              <a:ext uri="{FF2B5EF4-FFF2-40B4-BE49-F238E27FC236}">
                <a16:creationId xmlns:a16="http://schemas.microsoft.com/office/drawing/2014/main" id="{1EA392E1-BB3D-0558-5DF5-133DB92CF9ED}"/>
              </a:ext>
            </a:extLst>
          </p:cNvPr>
          <p:cNvSpPr/>
          <p:nvPr/>
        </p:nvSpPr>
        <p:spPr>
          <a:xfrm>
            <a:off x="2359152" y="5907024"/>
            <a:ext cx="1737360" cy="484632"/>
          </a:xfrm>
          <a:prstGeom prst="roundRect">
            <a:avLst>
              <a:gd name="adj" fmla="val 10000"/>
            </a:avLst>
          </a:prstGeom>
          <a:solidFill>
            <a:srgbClr val="F5F7FA"/>
          </a:solidFill>
          <a:ln w="12700" cap="flat" cmpd="sng" algn="ctr">
            <a:solidFill>
              <a:srgbClr val="D1D8E0"/>
            </a:solidFill>
            <a:prstDash val="solid"/>
            <a:round/>
          </a:ln>
          <a:effectLst>
            <a:outerShdw blurRad="39960" dist="23040" dir="5400000" rotWithShape="0">
              <a:srgbClr val="000000">
                <a:alpha val="35000"/>
              </a:srgbClr>
            </a:outerShdw>
          </a:effectLst>
        </p:spPr>
        <p:txBody>
          <a:bodyPr lIns="36576" tIns="18288" rIns="36576" bIns="18288"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1" lang="zh-CN" altLang="en-US" sz="1200" b="0" i="0" u="none" strike="noStrike" kern="1200" cap="none" spc="-1"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絞り込みなし</a:t>
            </a:r>
            <a:endParaRPr kumimoji="1" lang="en-US" sz="1200" b="0" i="0" u="none" strike="noStrike" kern="1200" cap="none" spc="-1"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endParaRPr>
          </a:p>
        </p:txBody>
      </p:sp>
      <p:sp>
        <p:nvSpPr>
          <p:cNvPr id="109" name="Right Arrow 65">
            <a:extLst>
              <a:ext uri="{FF2B5EF4-FFF2-40B4-BE49-F238E27FC236}">
                <a16:creationId xmlns:a16="http://schemas.microsoft.com/office/drawing/2014/main" id="{22FC96E8-D408-8B2D-C299-8DDA239E000C}"/>
              </a:ext>
            </a:extLst>
          </p:cNvPr>
          <p:cNvSpPr/>
          <p:nvPr/>
        </p:nvSpPr>
        <p:spPr>
          <a:xfrm>
            <a:off x="4096512" y="6076645"/>
            <a:ext cx="237744" cy="145389"/>
          </a:xfrm>
          <a:prstGeom prst="rightArrow">
            <a:avLst>
              <a:gd name="adj1" fmla="val 50000"/>
              <a:gd name="adj2" fmla="val 50000"/>
            </a:avLst>
          </a:prstGeom>
          <a:solidFill>
            <a:srgbClr val="9AA1AE"/>
          </a:solidFill>
          <a:ln w="9525" cap="flat" cmpd="sng" algn="ctr">
            <a:noFill/>
            <a:prstDash val="solid"/>
          </a:ln>
          <a:effectLst>
            <a:outerShdw blurRad="39960" dist="23040" dir="5400000" rotWithShape="0">
              <a:srgbClr val="000000">
                <a:alpha val="35000"/>
              </a:srgbClr>
            </a:outerShdw>
          </a:effectLst>
        </p:spPr>
        <p:txBody>
          <a:bodyPr lIns="90000" tIns="28080" rIns="90000" bIns="2808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400" b="0"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endParaRPr>
          </a:p>
        </p:txBody>
      </p:sp>
      <p:sp>
        <p:nvSpPr>
          <p:cNvPr id="110" name="Rounded Rectangle 66">
            <a:extLst>
              <a:ext uri="{FF2B5EF4-FFF2-40B4-BE49-F238E27FC236}">
                <a16:creationId xmlns:a16="http://schemas.microsoft.com/office/drawing/2014/main" id="{D14896B7-B487-01EB-8E6B-7B72174B76FF}"/>
              </a:ext>
            </a:extLst>
          </p:cNvPr>
          <p:cNvSpPr/>
          <p:nvPr/>
        </p:nvSpPr>
        <p:spPr>
          <a:xfrm>
            <a:off x="4334256" y="5907024"/>
            <a:ext cx="1645920" cy="484632"/>
          </a:xfrm>
          <a:prstGeom prst="roundRect">
            <a:avLst>
              <a:gd name="adj" fmla="val 10000"/>
            </a:avLst>
          </a:prstGeom>
          <a:solidFill>
            <a:srgbClr val="F5F7FA"/>
          </a:solidFill>
          <a:ln w="12700" cap="flat" cmpd="sng" algn="ctr">
            <a:solidFill>
              <a:srgbClr val="D1D8E0"/>
            </a:solidFill>
            <a:prstDash val="solid"/>
            <a:round/>
          </a:ln>
          <a:effectLst>
            <a:outerShdw blurRad="39960" dist="23040" dir="5400000" rotWithShape="0">
              <a:srgbClr val="000000">
                <a:alpha val="35000"/>
              </a:srgbClr>
            </a:outerShdw>
          </a:effectLst>
        </p:spPr>
        <p:txBody>
          <a:bodyPr lIns="36576" tIns="18288" rIns="36576" bIns="18288"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1" lang="zh-CN" altLang="en-US" sz="1200" b="0" i="0" u="none" strike="noStrike" kern="1200" cap="none" spc="-1"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お申込みの準備</a:t>
            </a:r>
            <a:endParaRPr kumimoji="1" lang="en-US" sz="1200" b="0" i="0" u="none" strike="noStrike" kern="1200" cap="none" spc="-1"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endParaRPr>
          </a:p>
          <a:p>
            <a:pPr marL="0" marR="0" lvl="0" indent="0" algn="ctr" defTabSz="914400" rtl="0" eaLnBrk="1" fontAlgn="auto" latinLnBrk="0" hangingPunct="1">
              <a:lnSpc>
                <a:spcPct val="90000"/>
              </a:lnSpc>
              <a:spcBef>
                <a:spcPts val="0"/>
              </a:spcBef>
              <a:spcAft>
                <a:spcPts val="0"/>
              </a:spcAft>
              <a:buClrTx/>
              <a:buSzTx/>
              <a:buFontTx/>
              <a:buNone/>
              <a:tabLst/>
              <a:defRPr/>
            </a:pPr>
            <a:r>
              <a:rPr kumimoji="1" lang="zh-CN" altLang="en-US" sz="1200" b="0" i="0" u="none" strike="noStrike" kern="1200" cap="none" spc="-1"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入居までの流れ</a:t>
            </a:r>
            <a:endParaRPr kumimoji="1" lang="en-US" sz="1200" b="0" i="0" u="none" strike="noStrike" kern="1200" cap="none" spc="-1"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endParaRPr>
          </a:p>
        </p:txBody>
      </p:sp>
      <p:sp>
        <p:nvSpPr>
          <p:cNvPr id="111" name="Right Arrow 67">
            <a:extLst>
              <a:ext uri="{FF2B5EF4-FFF2-40B4-BE49-F238E27FC236}">
                <a16:creationId xmlns:a16="http://schemas.microsoft.com/office/drawing/2014/main" id="{8B1B518E-2F2F-8BE7-1CB9-F1842F99BC56}"/>
              </a:ext>
            </a:extLst>
          </p:cNvPr>
          <p:cNvSpPr/>
          <p:nvPr/>
        </p:nvSpPr>
        <p:spPr>
          <a:xfrm>
            <a:off x="5980176" y="6076645"/>
            <a:ext cx="237744" cy="145389"/>
          </a:xfrm>
          <a:prstGeom prst="rightArrow">
            <a:avLst>
              <a:gd name="adj1" fmla="val 50000"/>
              <a:gd name="adj2" fmla="val 50000"/>
            </a:avLst>
          </a:prstGeom>
          <a:solidFill>
            <a:srgbClr val="9AA1AE"/>
          </a:solidFill>
          <a:ln w="9525" cap="flat" cmpd="sng" algn="ctr">
            <a:noFill/>
            <a:prstDash val="solid"/>
          </a:ln>
          <a:effectLst>
            <a:outerShdw blurRad="39960" dist="23040" dir="5400000" rotWithShape="0">
              <a:srgbClr val="000000">
                <a:alpha val="35000"/>
              </a:srgbClr>
            </a:outerShdw>
          </a:effectLst>
        </p:spPr>
        <p:txBody>
          <a:bodyPr lIns="90000" tIns="28080" rIns="90000" bIns="2808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400" b="0"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endParaRPr>
          </a:p>
        </p:txBody>
      </p:sp>
      <p:sp>
        <p:nvSpPr>
          <p:cNvPr id="112" name="Rounded Rectangle 68">
            <a:extLst>
              <a:ext uri="{FF2B5EF4-FFF2-40B4-BE49-F238E27FC236}">
                <a16:creationId xmlns:a16="http://schemas.microsoft.com/office/drawing/2014/main" id="{B4B9C4DC-7417-5001-BF5A-F0E11BF15352}"/>
              </a:ext>
            </a:extLst>
          </p:cNvPr>
          <p:cNvSpPr/>
          <p:nvPr/>
        </p:nvSpPr>
        <p:spPr>
          <a:xfrm>
            <a:off x="6217920" y="5907024"/>
            <a:ext cx="1591056" cy="484632"/>
          </a:xfrm>
          <a:prstGeom prst="roundRect">
            <a:avLst>
              <a:gd name="adj" fmla="val 10000"/>
            </a:avLst>
          </a:prstGeom>
          <a:solidFill>
            <a:srgbClr val="F5F7FA"/>
          </a:solidFill>
          <a:ln w="12700" cap="flat" cmpd="sng" algn="ctr">
            <a:solidFill>
              <a:srgbClr val="D1D8E0"/>
            </a:solidFill>
            <a:prstDash val="solid"/>
            <a:round/>
          </a:ln>
          <a:effectLst>
            <a:outerShdw blurRad="39960" dist="23040" dir="5400000" rotWithShape="0">
              <a:srgbClr val="000000">
                <a:alpha val="35000"/>
              </a:srgbClr>
            </a:outerShdw>
          </a:effectLst>
        </p:spPr>
        <p:txBody>
          <a:bodyPr lIns="36576" tIns="18288" rIns="36576" bIns="18288"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1" lang="zh-CN" altLang="en-US" sz="1200" b="0" i="0" u="none" strike="noStrike" kern="1200" cap="none" spc="-1"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お申込みの後押し</a:t>
            </a:r>
            <a:endParaRPr kumimoji="1" lang="en-US" sz="1200" b="0" i="0" u="none" strike="noStrike" kern="1200" cap="none" spc="-1" normalizeH="0" baseline="0" noProof="0">
              <a:ln>
                <a:noFill/>
              </a:ln>
              <a:solidFill>
                <a:srgbClr val="000000"/>
              </a:solidFill>
              <a:effectLst/>
              <a:uLnTx/>
              <a:uFillTx/>
              <a:latin typeface="メイリオ" panose="020B0604030504040204" pitchFamily="50" charset="-128"/>
              <a:ea typeface="メイリオ" panose="020B0604030504040204" pitchFamily="50" charset="-128"/>
            </a:endParaRPr>
          </a:p>
        </p:txBody>
      </p:sp>
      <p:sp>
        <p:nvSpPr>
          <p:cNvPr id="113" name="Right Arrow 69">
            <a:extLst>
              <a:ext uri="{FF2B5EF4-FFF2-40B4-BE49-F238E27FC236}">
                <a16:creationId xmlns:a16="http://schemas.microsoft.com/office/drawing/2014/main" id="{D1BC55EB-7607-A91E-7382-CF2D4B9D7783}"/>
              </a:ext>
            </a:extLst>
          </p:cNvPr>
          <p:cNvSpPr/>
          <p:nvPr/>
        </p:nvSpPr>
        <p:spPr>
          <a:xfrm>
            <a:off x="7808976" y="6076645"/>
            <a:ext cx="237744" cy="145389"/>
          </a:xfrm>
          <a:prstGeom prst="rightArrow">
            <a:avLst>
              <a:gd name="adj1" fmla="val 50000"/>
              <a:gd name="adj2" fmla="val 50000"/>
            </a:avLst>
          </a:prstGeom>
          <a:solidFill>
            <a:srgbClr val="9AA1AE"/>
          </a:solidFill>
          <a:ln w="9525" cap="flat" cmpd="sng" algn="ctr">
            <a:noFill/>
            <a:prstDash val="solid"/>
          </a:ln>
          <a:effectLst>
            <a:outerShdw blurRad="39960" dist="23040" dir="5400000" rotWithShape="0">
              <a:srgbClr val="000000">
                <a:alpha val="35000"/>
              </a:srgbClr>
            </a:outerShdw>
          </a:effectLst>
        </p:spPr>
        <p:txBody>
          <a:bodyPr lIns="90000" tIns="28080" rIns="90000" bIns="2808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400" b="0"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endParaRPr>
          </a:p>
        </p:txBody>
      </p:sp>
      <p:sp>
        <p:nvSpPr>
          <p:cNvPr id="114" name="Rounded Rectangle 70">
            <a:extLst>
              <a:ext uri="{FF2B5EF4-FFF2-40B4-BE49-F238E27FC236}">
                <a16:creationId xmlns:a16="http://schemas.microsoft.com/office/drawing/2014/main" id="{74629097-D7F7-19A3-656B-8B02BB3A10F1}"/>
              </a:ext>
            </a:extLst>
          </p:cNvPr>
          <p:cNvSpPr/>
          <p:nvPr/>
        </p:nvSpPr>
        <p:spPr>
          <a:xfrm>
            <a:off x="8046720" y="5907024"/>
            <a:ext cx="1463040" cy="484632"/>
          </a:xfrm>
          <a:prstGeom prst="roundRect">
            <a:avLst>
              <a:gd name="adj" fmla="val 10000"/>
            </a:avLst>
          </a:prstGeom>
          <a:solidFill>
            <a:srgbClr val="1F2A5C"/>
          </a:solidFill>
          <a:ln w="12700" cap="flat" cmpd="sng" algn="ctr">
            <a:solidFill>
              <a:srgbClr val="1F2A5C"/>
            </a:solidFill>
            <a:prstDash val="solid"/>
            <a:round/>
          </a:ln>
          <a:effectLst>
            <a:outerShdw blurRad="39960" dist="23040" dir="5400000" rotWithShape="0">
              <a:srgbClr val="000000">
                <a:alpha val="35000"/>
              </a:srgbClr>
            </a:outerShdw>
          </a:effectLst>
        </p:spPr>
        <p:txBody>
          <a:bodyPr lIns="36576" tIns="18288" rIns="36576" bIns="18288"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1" lang="en-US" sz="1200" b="1"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rPr>
              <a:t>問い合わせへ</a:t>
            </a:r>
            <a:endParaRPr kumimoji="1" lang="en-US" sz="1200" b="0"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32198953-22C2-94BD-F872-5AE92CDDCDF0}"/>
              </a:ext>
            </a:extLst>
          </p:cNvPr>
          <p:cNvSpPr txBox="1"/>
          <p:nvPr/>
        </p:nvSpPr>
        <p:spPr>
          <a:xfrm>
            <a:off x="1426464" y="1664208"/>
            <a:ext cx="1188720" cy="256032"/>
          </a:xfrm>
          <a:prstGeom prst="rect">
            <a:avLst/>
          </a:prstGeom>
          <a:noFill/>
        </p:spPr>
        <p:txBody>
          <a:bodyPr wrap="square" lIns="18288" tIns="0" rIns="18288" bIns="18288" anchor="b">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1" normalizeH="0" baseline="0" noProof="0" dirty="0">
                <a:ln>
                  <a:noFill/>
                </a:ln>
                <a:solidFill>
                  <a:srgbClr val="333333"/>
                </a:solidFill>
                <a:effectLst/>
                <a:uLnTx/>
                <a:uFillTx/>
                <a:latin typeface="メイリオ" panose="020B0604030504040204" pitchFamily="50" charset="-128"/>
                <a:ea typeface="メイリオ" panose="020B0604030504040204" pitchFamily="50" charset="-128"/>
              </a:rPr>
              <a:t>ターゲット層</a:t>
            </a:r>
            <a:endParaRPr kumimoji="1" lang="en-US" altLang="ja-JP" sz="1200" b="0" i="0" u="none" strike="noStrike" kern="1200" cap="none" spc="-1"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endParaRPr>
          </a:p>
        </p:txBody>
      </p:sp>
      <p:sp>
        <p:nvSpPr>
          <p:cNvPr id="8" name="テキスト ボックス 7">
            <a:extLst>
              <a:ext uri="{FF2B5EF4-FFF2-40B4-BE49-F238E27FC236}">
                <a16:creationId xmlns:a16="http://schemas.microsoft.com/office/drawing/2014/main" id="{45872C22-E4CF-8D77-4619-56AE8E363A15}"/>
              </a:ext>
            </a:extLst>
          </p:cNvPr>
          <p:cNvSpPr txBox="1"/>
          <p:nvPr/>
        </p:nvSpPr>
        <p:spPr>
          <a:xfrm>
            <a:off x="2852928" y="1664208"/>
            <a:ext cx="1463040" cy="256032"/>
          </a:xfrm>
          <a:prstGeom prst="rect">
            <a:avLst/>
          </a:prstGeom>
          <a:noFill/>
        </p:spPr>
        <p:txBody>
          <a:bodyPr wrap="square" lIns="18288" tIns="0" rIns="18288" bIns="18288" anchor="b">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1"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セグメント方法</a:t>
            </a:r>
            <a:endParaRPr kumimoji="1" lang="en-US" altLang="ja-JP" sz="1200" b="0" i="0" u="none" strike="noStrike" kern="1200" cap="none" spc="-1"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endParaRPr>
          </a:p>
        </p:txBody>
      </p:sp>
      <p:sp>
        <p:nvSpPr>
          <p:cNvPr id="10" name="テキスト ボックス 9">
            <a:extLst>
              <a:ext uri="{FF2B5EF4-FFF2-40B4-BE49-F238E27FC236}">
                <a16:creationId xmlns:a16="http://schemas.microsoft.com/office/drawing/2014/main" id="{4B495D1F-2E7E-91CE-AA55-67D1AED0FD52}"/>
              </a:ext>
            </a:extLst>
          </p:cNvPr>
          <p:cNvSpPr txBox="1"/>
          <p:nvPr/>
        </p:nvSpPr>
        <p:spPr>
          <a:xfrm>
            <a:off x="4553712" y="1664208"/>
            <a:ext cx="1591056" cy="256032"/>
          </a:xfrm>
          <a:prstGeom prst="rect">
            <a:avLst/>
          </a:prstGeom>
          <a:noFill/>
        </p:spPr>
        <p:txBody>
          <a:bodyPr wrap="square" lIns="18288" tIns="0" rIns="18288" bIns="18288" anchor="b">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1" normalizeH="0" baseline="0" noProof="0" dirty="0">
                <a:ln>
                  <a:noFill/>
                </a:ln>
                <a:solidFill>
                  <a:srgbClr val="333333"/>
                </a:solidFill>
                <a:effectLst/>
                <a:uLnTx/>
                <a:uFillTx/>
                <a:latin typeface="メイリオ" panose="020B0604030504040204" pitchFamily="50" charset="-128"/>
                <a:ea typeface="メイリオ" panose="020B0604030504040204" pitchFamily="50" charset="-128"/>
              </a:rPr>
              <a:t>配信コンテンツ</a:t>
            </a:r>
            <a:endParaRPr kumimoji="1" lang="en-US" altLang="ja-JP" sz="1200" b="0" i="0" u="none" strike="noStrike" kern="1200" cap="none" spc="-1"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endParaRPr>
          </a:p>
        </p:txBody>
      </p:sp>
      <p:sp>
        <p:nvSpPr>
          <p:cNvPr id="12" name="テキスト ボックス 11">
            <a:extLst>
              <a:ext uri="{FF2B5EF4-FFF2-40B4-BE49-F238E27FC236}">
                <a16:creationId xmlns:a16="http://schemas.microsoft.com/office/drawing/2014/main" id="{2CA8F8DC-BFE6-04E9-FE02-BB98C2602D22}"/>
              </a:ext>
            </a:extLst>
          </p:cNvPr>
          <p:cNvSpPr txBox="1"/>
          <p:nvPr/>
        </p:nvSpPr>
        <p:spPr>
          <a:xfrm>
            <a:off x="6382512" y="1664208"/>
            <a:ext cx="1591056" cy="256032"/>
          </a:xfrm>
          <a:prstGeom prst="rect">
            <a:avLst/>
          </a:prstGeom>
          <a:noFill/>
        </p:spPr>
        <p:txBody>
          <a:bodyPr wrap="square" lIns="18288" tIns="0" rIns="18288" bIns="18288" anchor="b">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1" normalizeH="0" baseline="0" noProof="0" dirty="0">
                <a:ln>
                  <a:noFill/>
                </a:ln>
                <a:solidFill>
                  <a:srgbClr val="FF0000"/>
                </a:solidFill>
                <a:effectLst/>
                <a:uLnTx/>
                <a:uFillTx/>
                <a:latin typeface="メイリオ" panose="020B0604030504040204" pitchFamily="50" charset="-128"/>
                <a:ea typeface="メイリオ" panose="020B0604030504040204" pitchFamily="50" charset="-128"/>
              </a:rPr>
              <a:t>ねらい</a:t>
            </a:r>
            <a:endParaRPr kumimoji="1" lang="en-US" altLang="ja-JP" sz="1200" b="0" i="0" u="none" strike="noStrike" kern="1200" cap="none" spc="-1" normalizeH="0" baseline="0" noProof="0" dirty="0">
              <a:ln>
                <a:noFill/>
              </a:ln>
              <a:solidFill>
                <a:srgbClr val="FF0000"/>
              </a:solidFill>
              <a:effectLst/>
              <a:uLnTx/>
              <a:uFillTx/>
              <a:latin typeface="メイリオ" panose="020B0604030504040204" pitchFamily="50" charset="-128"/>
              <a:ea typeface="メイリオ" panose="020B0604030504040204" pitchFamily="50" charset="-128"/>
            </a:endParaRPr>
          </a:p>
        </p:txBody>
      </p:sp>
      <p:sp>
        <p:nvSpPr>
          <p:cNvPr id="15" name="テキスト ボックス 14">
            <a:extLst>
              <a:ext uri="{FF2B5EF4-FFF2-40B4-BE49-F238E27FC236}">
                <a16:creationId xmlns:a16="http://schemas.microsoft.com/office/drawing/2014/main" id="{3AC25444-1EE4-FD71-4FB1-84DD26B16711}"/>
              </a:ext>
            </a:extLst>
          </p:cNvPr>
          <p:cNvSpPr txBox="1"/>
          <p:nvPr/>
        </p:nvSpPr>
        <p:spPr>
          <a:xfrm>
            <a:off x="384047" y="4005072"/>
            <a:ext cx="1737360" cy="256032"/>
          </a:xfrm>
          <a:prstGeom prst="rect">
            <a:avLst/>
          </a:prstGeom>
          <a:noFill/>
        </p:spPr>
        <p:txBody>
          <a:bodyPr wrap="square" lIns="18288" tIns="0" rIns="18288" bIns="18288" anchor="b">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1" normalizeH="0" baseline="0" noProof="0" dirty="0">
                <a:ln>
                  <a:noFill/>
                </a:ln>
                <a:solidFill>
                  <a:srgbClr val="333333"/>
                </a:solidFill>
                <a:effectLst/>
                <a:uLnTx/>
                <a:uFillTx/>
                <a:latin typeface="メイリオ" panose="020B0604030504040204" pitchFamily="50" charset="-128"/>
                <a:ea typeface="メイリオ" panose="020B0604030504040204" pitchFamily="50" charset="-128"/>
              </a:rPr>
              <a:t>ターゲット層</a:t>
            </a:r>
            <a:endParaRPr kumimoji="1" lang="en-US" altLang="ja-JP" sz="1200" b="0" i="0" u="none" strike="noStrike" kern="1200" cap="none" spc="-1"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endParaRPr>
          </a:p>
        </p:txBody>
      </p:sp>
      <p:sp>
        <p:nvSpPr>
          <p:cNvPr id="17" name="テキスト ボックス 16">
            <a:extLst>
              <a:ext uri="{FF2B5EF4-FFF2-40B4-BE49-F238E27FC236}">
                <a16:creationId xmlns:a16="http://schemas.microsoft.com/office/drawing/2014/main" id="{D4227666-88BC-C20C-B62E-C7059CBE8461}"/>
              </a:ext>
            </a:extLst>
          </p:cNvPr>
          <p:cNvSpPr txBox="1"/>
          <p:nvPr/>
        </p:nvSpPr>
        <p:spPr>
          <a:xfrm>
            <a:off x="2359152" y="4005072"/>
            <a:ext cx="1737360" cy="256032"/>
          </a:xfrm>
          <a:prstGeom prst="rect">
            <a:avLst/>
          </a:prstGeom>
          <a:noFill/>
        </p:spPr>
        <p:txBody>
          <a:bodyPr wrap="square" lIns="18288" tIns="0" rIns="18288" bIns="18288" anchor="b">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1"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セグメント方法</a:t>
            </a:r>
            <a:endParaRPr kumimoji="1" lang="en-US" altLang="ja-JP" sz="1200" b="0" i="0" u="none" strike="noStrike" kern="1200" cap="none" spc="-1"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endParaRPr>
          </a:p>
        </p:txBody>
      </p:sp>
      <p:sp>
        <p:nvSpPr>
          <p:cNvPr id="19" name="テキスト ボックス 18">
            <a:extLst>
              <a:ext uri="{FF2B5EF4-FFF2-40B4-BE49-F238E27FC236}">
                <a16:creationId xmlns:a16="http://schemas.microsoft.com/office/drawing/2014/main" id="{869552FF-EFA0-03CB-9D4F-8653B4E42388}"/>
              </a:ext>
            </a:extLst>
          </p:cNvPr>
          <p:cNvSpPr txBox="1"/>
          <p:nvPr/>
        </p:nvSpPr>
        <p:spPr>
          <a:xfrm>
            <a:off x="4334256" y="4005072"/>
            <a:ext cx="1645920" cy="256032"/>
          </a:xfrm>
          <a:prstGeom prst="rect">
            <a:avLst/>
          </a:prstGeom>
          <a:noFill/>
        </p:spPr>
        <p:txBody>
          <a:bodyPr wrap="square" lIns="18288" tIns="0" rIns="18288" bIns="18288" anchor="b">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1" normalizeH="0" baseline="0" noProof="0" dirty="0">
                <a:ln>
                  <a:noFill/>
                </a:ln>
                <a:solidFill>
                  <a:srgbClr val="333333"/>
                </a:solidFill>
                <a:effectLst/>
                <a:uLnTx/>
                <a:uFillTx/>
                <a:latin typeface="メイリオ" panose="020B0604030504040204" pitchFamily="50" charset="-128"/>
                <a:ea typeface="メイリオ" panose="020B0604030504040204" pitchFamily="50" charset="-128"/>
              </a:rPr>
              <a:t>配信コンテンツ</a:t>
            </a:r>
            <a:endParaRPr kumimoji="1" lang="en-US" altLang="ja-JP" sz="1200" b="0" i="0" u="none" strike="noStrike" kern="1200" cap="none" spc="-1"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endParaRPr>
          </a:p>
        </p:txBody>
      </p:sp>
      <p:sp>
        <p:nvSpPr>
          <p:cNvPr id="22" name="テキスト ボックス 21">
            <a:extLst>
              <a:ext uri="{FF2B5EF4-FFF2-40B4-BE49-F238E27FC236}">
                <a16:creationId xmlns:a16="http://schemas.microsoft.com/office/drawing/2014/main" id="{59C40FD9-9474-881D-DA53-5CA81AAC4510}"/>
              </a:ext>
            </a:extLst>
          </p:cNvPr>
          <p:cNvSpPr txBox="1"/>
          <p:nvPr/>
        </p:nvSpPr>
        <p:spPr>
          <a:xfrm>
            <a:off x="6217920" y="4005072"/>
            <a:ext cx="1591056" cy="256032"/>
          </a:xfrm>
          <a:prstGeom prst="rect">
            <a:avLst/>
          </a:prstGeom>
          <a:noFill/>
        </p:spPr>
        <p:txBody>
          <a:bodyPr wrap="square" lIns="18288" tIns="0" rIns="18288" bIns="18288" anchor="b">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1" normalizeH="0" baseline="0" noProof="0" dirty="0">
                <a:ln>
                  <a:noFill/>
                </a:ln>
                <a:solidFill>
                  <a:srgbClr val="FF0000"/>
                </a:solidFill>
                <a:effectLst/>
                <a:uLnTx/>
                <a:uFillTx/>
                <a:latin typeface="メイリオ" panose="020B0604030504040204" pitchFamily="50" charset="-128"/>
                <a:ea typeface="メイリオ" panose="020B0604030504040204" pitchFamily="50" charset="-128"/>
              </a:rPr>
              <a:t>ねらい</a:t>
            </a:r>
            <a:endParaRPr kumimoji="1" lang="en-US" altLang="ja-JP" sz="1200" b="0" i="0" u="none" strike="noStrike" kern="1200" cap="none" spc="-1" normalizeH="0" baseline="0" noProof="0" dirty="0">
              <a:ln>
                <a:noFill/>
              </a:ln>
              <a:solidFill>
                <a:srgbClr val="FF0000"/>
              </a:solidFill>
              <a:effectLst/>
              <a:uLnTx/>
              <a:uFillTx/>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4519451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47C1D4-87AF-B047-12E0-A214281205E2}"/>
            </a:ext>
          </a:extLst>
        </p:cNvPr>
        <p:cNvGrpSpPr/>
        <p:nvPr/>
      </p:nvGrpSpPr>
      <p:grpSpPr>
        <a:xfrm>
          <a:off x="0" y="0"/>
          <a:ext cx="0" cy="0"/>
          <a:chOff x="0" y="0"/>
          <a:chExt cx="0" cy="0"/>
        </a:xfrm>
      </p:grpSpPr>
      <p:sp>
        <p:nvSpPr>
          <p:cNvPr id="45" name="Google Shape;156;p7">
            <a:extLst>
              <a:ext uri="{FF2B5EF4-FFF2-40B4-BE49-F238E27FC236}">
                <a16:creationId xmlns:a16="http://schemas.microsoft.com/office/drawing/2014/main" id="{723771C4-6264-E0B7-0A8B-36CFE432F84D}"/>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LINEによる問い合わせ対応の効率化</a:t>
            </a:r>
            <a:endParaRPr sz="1600" b="1" dirty="0">
              <a:solidFill>
                <a:srgbClr val="002060"/>
              </a:solidFill>
              <a:latin typeface="Meiryo"/>
              <a:ea typeface="Meiryo"/>
              <a:cs typeface="Meiryo"/>
              <a:sym typeface="Meiryo"/>
            </a:endParaRPr>
          </a:p>
        </p:txBody>
      </p:sp>
      <p:sp>
        <p:nvSpPr>
          <p:cNvPr id="2" name="TextBox 2">
            <a:extLst>
              <a:ext uri="{FF2B5EF4-FFF2-40B4-BE49-F238E27FC236}">
                <a16:creationId xmlns:a16="http://schemas.microsoft.com/office/drawing/2014/main" id="{A48C561C-B672-4D7C-E0CB-20192CDA08E0}"/>
              </a:ext>
            </a:extLst>
          </p:cNvPr>
          <p:cNvSpPr/>
          <p:nvPr/>
        </p:nvSpPr>
        <p:spPr>
          <a:xfrm>
            <a:off x="429768" y="896112"/>
            <a:ext cx="9052560" cy="566928"/>
          </a:xfrm>
          <a:prstGeom prst="rect">
            <a:avLst/>
          </a:prstGeom>
          <a:noFill/>
          <a:ln w="0">
            <a:noFill/>
          </a:ln>
          <a:effectLst/>
        </p:spPr>
        <p:txBody>
          <a:bodyPr lIns="90000" tIns="45000" rIns="90000" bIns="45000" anchor="ctr">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1400" b="0" i="0" u="none" strike="noStrike" kern="1200" cap="none" spc="-1" normalizeH="0" baseline="0" noProof="0">
                <a:ln>
                  <a:noFill/>
                </a:ln>
                <a:solidFill>
                  <a:srgbClr val="5A6378"/>
                </a:solidFill>
                <a:effectLst/>
                <a:uLnTx/>
                <a:uFillTx/>
                <a:latin typeface="メイリオ" panose="020B0604030504040204" pitchFamily="50" charset="-128"/>
                <a:ea typeface="メイリオ" panose="020B0604030504040204" pitchFamily="50" charset="-128"/>
              </a:rPr>
              <a:t>LINEの機能で、問い合わせへの一次対応と対応状況の管理を効率化します。</a:t>
            </a:r>
            <a:endParaRPr kumimoji="1" lang="en-US" sz="1400" b="0" i="0" u="none" strike="noStrike" kern="1200" cap="none" spc="-1" normalizeH="0" baseline="0" noProof="0">
              <a:ln>
                <a:noFill/>
              </a:ln>
              <a:solidFill>
                <a:srgbClr val="000000"/>
              </a:solidFill>
              <a:effectLst/>
              <a:uLnTx/>
              <a:uFillTx/>
              <a:latin typeface="メイリオ" panose="020B0604030504040204" pitchFamily="50" charset="-128"/>
              <a:ea typeface="メイリオ"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1400" b="1" i="0" u="none" strike="noStrike" kern="1200" cap="none" spc="-1" normalizeH="0" baseline="0" noProof="0">
                <a:ln>
                  <a:noFill/>
                </a:ln>
                <a:solidFill>
                  <a:srgbClr val="5A6378"/>
                </a:solidFill>
                <a:effectLst/>
                <a:uLnTx/>
                <a:uFillTx/>
                <a:latin typeface="メイリオ" panose="020B0604030504040204" pitchFamily="50" charset="-128"/>
                <a:ea typeface="メイリオ" panose="020B0604030504040204" pitchFamily="50" charset="-128"/>
              </a:rPr>
              <a:t>お客様への個別対応はあらうち様、仕組みづくりと改善支援は当社が担当します。</a:t>
            </a:r>
            <a:endParaRPr kumimoji="1" lang="en-US" sz="1400" b="0" i="0" u="none" strike="noStrike" kern="1200" cap="none" spc="-1" normalizeH="0" baseline="0" noProof="0">
              <a:ln>
                <a:noFill/>
              </a:ln>
              <a:solidFill>
                <a:srgbClr val="000000"/>
              </a:solidFill>
              <a:effectLst/>
              <a:uLnTx/>
              <a:uFillTx/>
              <a:latin typeface="メイリオ" panose="020B0604030504040204" pitchFamily="50" charset="-128"/>
              <a:ea typeface="メイリオ" panose="020B0604030504040204" pitchFamily="50" charset="-128"/>
            </a:endParaRPr>
          </a:p>
        </p:txBody>
      </p:sp>
      <p:sp>
        <p:nvSpPr>
          <p:cNvPr id="5" name="Rounded Rectangle 3">
            <a:extLst>
              <a:ext uri="{FF2B5EF4-FFF2-40B4-BE49-F238E27FC236}">
                <a16:creationId xmlns:a16="http://schemas.microsoft.com/office/drawing/2014/main" id="{48C161C3-997D-031F-FF20-5370159140C1}"/>
              </a:ext>
            </a:extLst>
          </p:cNvPr>
          <p:cNvSpPr/>
          <p:nvPr/>
        </p:nvSpPr>
        <p:spPr>
          <a:xfrm>
            <a:off x="429768" y="1481328"/>
            <a:ext cx="2788920" cy="411480"/>
          </a:xfrm>
          <a:prstGeom prst="roundRect">
            <a:avLst>
              <a:gd name="adj" fmla="val 10000"/>
            </a:avLst>
          </a:prstGeom>
          <a:solidFill>
            <a:srgbClr val="1F2A5C"/>
          </a:solidFill>
          <a:ln w="12700" cap="flat" cmpd="sng" algn="ctr">
            <a:solidFill>
              <a:srgbClr val="1F2A5C"/>
            </a:solidFill>
            <a:prstDash val="solid"/>
            <a:round/>
          </a:ln>
          <a:effectLst>
            <a:outerShdw blurRad="39960" dist="23040" dir="5400000" rotWithShape="0">
              <a:srgbClr val="000000">
                <a:alpha val="35000"/>
              </a:srgbClr>
            </a:outerShdw>
          </a:effectLst>
        </p:spPr>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sz="1600" b="1"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rPr>
              <a:t>① 自動応答</a:t>
            </a:r>
            <a:endParaRPr kumimoji="1" lang="en-US" sz="1600" b="0"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endParaRPr>
          </a:p>
        </p:txBody>
      </p:sp>
      <p:sp>
        <p:nvSpPr>
          <p:cNvPr id="6" name="Rounded Rectangle 4">
            <a:extLst>
              <a:ext uri="{FF2B5EF4-FFF2-40B4-BE49-F238E27FC236}">
                <a16:creationId xmlns:a16="http://schemas.microsoft.com/office/drawing/2014/main" id="{6140F136-C536-8CE1-4ABC-27C53A6C98F3}"/>
              </a:ext>
            </a:extLst>
          </p:cNvPr>
          <p:cNvSpPr/>
          <p:nvPr/>
        </p:nvSpPr>
        <p:spPr>
          <a:xfrm>
            <a:off x="429768" y="1938528"/>
            <a:ext cx="2788920" cy="2761488"/>
          </a:xfrm>
          <a:prstGeom prst="roundRect">
            <a:avLst>
              <a:gd name="adj" fmla="val 10000"/>
            </a:avLst>
          </a:prstGeom>
          <a:solidFill>
            <a:srgbClr val="F5F7FA"/>
          </a:solidFill>
          <a:ln w="12700" cap="flat" cmpd="sng" algn="ctr">
            <a:solidFill>
              <a:srgbClr val="D1D8E0"/>
            </a:solidFill>
            <a:prstDash val="solid"/>
            <a:round/>
          </a:ln>
          <a:effectLst>
            <a:outerShdw blurRad="39960" dist="23040" dir="5400000" rotWithShape="0">
              <a:srgbClr val="000000">
                <a:alpha val="35000"/>
              </a:srgbClr>
            </a:outerShdw>
          </a:effectLst>
        </p:spPr>
        <p:txBody>
          <a:bodyPr wrap="square" lIns="91440" tIns="91440" rIns="73152" bIns="54864" anchor="t">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300"/>
              </a:spcBef>
              <a:spcAft>
                <a:spcPts val="0"/>
              </a:spcAft>
              <a:buClrTx/>
              <a:buSzTx/>
              <a:buFontTx/>
              <a:buNone/>
              <a:tabLst/>
              <a:defRPr/>
            </a:pPr>
            <a:r>
              <a:rPr kumimoji="1" sz="1400" b="1" i="0" u="none" strike="noStrike" kern="1200" cap="none" spc="0" normalizeH="0" baseline="0" noProof="0">
                <a:ln>
                  <a:noFill/>
                </a:ln>
                <a:solidFill>
                  <a:srgbClr val="1F2A5C"/>
                </a:solidFill>
                <a:effectLst/>
                <a:uLnTx/>
                <a:uFillTx/>
                <a:latin typeface="メイリオ" panose="020B0604030504040204" pitchFamily="50" charset="-128"/>
                <a:ea typeface="メイリオ" panose="020B0604030504040204" pitchFamily="50" charset="-128"/>
              </a:rPr>
              <a:t>設定：当社　対応：自動</a:t>
            </a:r>
            <a:endParaRPr kumimoji="1" lang="en-US" sz="1400" b="0" i="0" u="none" strike="noStrike" kern="1200" cap="none" spc="-1" normalizeH="0" baseline="0" noProof="0">
              <a:ln>
                <a:noFill/>
              </a:ln>
              <a:solidFill>
                <a:srgbClr val="000000"/>
              </a:solidFill>
              <a:effectLst/>
              <a:uLnTx/>
              <a:uFillTx/>
              <a:latin typeface="メイリオ" panose="020B0604030504040204" pitchFamily="50" charset="-128"/>
              <a:ea typeface="メイリオ" panose="020B0604030504040204" pitchFamily="50" charset="-128"/>
            </a:endParaRPr>
          </a:p>
          <a:p>
            <a:pPr marL="0" marR="0" lvl="0" indent="0" algn="l" defTabSz="914400" rtl="0" eaLnBrk="1" fontAlgn="auto" latinLnBrk="0" hangingPunct="1">
              <a:lnSpc>
                <a:spcPct val="100000"/>
              </a:lnSpc>
              <a:spcBef>
                <a:spcPts val="300"/>
              </a:spcBef>
              <a:spcAft>
                <a:spcPts val="0"/>
              </a:spcAft>
              <a:buClrTx/>
              <a:buSzTx/>
              <a:buFontTx/>
              <a:buNone/>
              <a:tabLst/>
              <a:defRPr/>
            </a:pPr>
            <a:r>
              <a:rPr kumimoji="1" sz="1400" b="0" i="0" u="none" strike="noStrike" kern="1200" cap="none" spc="0"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・よくある質問（初期費用・お申込みの流れなど）にキーワード応答で自動回答</a:t>
            </a:r>
          </a:p>
          <a:p>
            <a:pPr marL="0" marR="0" lvl="0" indent="0" algn="l" defTabSz="914400" rtl="0" eaLnBrk="1" fontAlgn="auto" latinLnBrk="0" hangingPunct="1">
              <a:lnSpc>
                <a:spcPct val="100000"/>
              </a:lnSpc>
              <a:spcBef>
                <a:spcPts val="300"/>
              </a:spcBef>
              <a:spcAft>
                <a:spcPts val="0"/>
              </a:spcAft>
              <a:buClrTx/>
              <a:buSzTx/>
              <a:buFontTx/>
              <a:buNone/>
              <a:tabLst/>
              <a:defRPr/>
            </a:pPr>
            <a:r>
              <a:rPr kumimoji="1" sz="1400" b="0" i="0" u="none" strike="noStrike" kern="1200" cap="none" spc="0"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・リッチメニューのボタンと同じ言葉で応答を用意</a:t>
            </a:r>
          </a:p>
          <a:p>
            <a:pPr marL="0" marR="0" lvl="0" indent="0" algn="l" defTabSz="914400" rtl="0" eaLnBrk="1" fontAlgn="auto" latinLnBrk="0" hangingPunct="1">
              <a:lnSpc>
                <a:spcPct val="100000"/>
              </a:lnSpc>
              <a:spcBef>
                <a:spcPts val="300"/>
              </a:spcBef>
              <a:spcAft>
                <a:spcPts val="0"/>
              </a:spcAft>
              <a:buClrTx/>
              <a:buSzTx/>
              <a:buFontTx/>
              <a:buNone/>
              <a:tabLst/>
              <a:defRPr/>
            </a:pPr>
            <a:r>
              <a:rPr kumimoji="1" sz="1400" b="0" i="0" u="none" strike="noStrike" kern="1200" cap="none" spc="0"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・受付時間外は、時間を指定して受付の旨を自動で返信</a:t>
            </a:r>
          </a:p>
          <a:p>
            <a:pPr marL="0" marR="0" lvl="0" indent="0" algn="l" defTabSz="914400" rtl="0" eaLnBrk="1" fontAlgn="auto" latinLnBrk="0" hangingPunct="1">
              <a:lnSpc>
                <a:spcPct val="100000"/>
              </a:lnSpc>
              <a:spcBef>
                <a:spcPts val="300"/>
              </a:spcBef>
              <a:spcAft>
                <a:spcPts val="0"/>
              </a:spcAft>
              <a:buClrTx/>
              <a:buSzTx/>
              <a:buFontTx/>
              <a:buNone/>
              <a:tabLst/>
              <a:defRPr/>
            </a:pPr>
            <a:r>
              <a:rPr kumimoji="1" sz="1400" b="0" i="0" u="none" strike="noStrike" kern="1200" cap="none" spc="0"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・リッチメニューから100円チェッカーへ案内</a:t>
            </a:r>
          </a:p>
        </p:txBody>
      </p:sp>
      <p:sp>
        <p:nvSpPr>
          <p:cNvPr id="7" name="Rounded Rectangle 5">
            <a:extLst>
              <a:ext uri="{FF2B5EF4-FFF2-40B4-BE49-F238E27FC236}">
                <a16:creationId xmlns:a16="http://schemas.microsoft.com/office/drawing/2014/main" id="{49ED863B-16D0-2D6F-E267-38B524C3E460}"/>
              </a:ext>
            </a:extLst>
          </p:cNvPr>
          <p:cNvSpPr/>
          <p:nvPr/>
        </p:nvSpPr>
        <p:spPr>
          <a:xfrm>
            <a:off x="3493008" y="1481328"/>
            <a:ext cx="2788920" cy="411480"/>
          </a:xfrm>
          <a:prstGeom prst="roundRect">
            <a:avLst>
              <a:gd name="adj" fmla="val 10000"/>
            </a:avLst>
          </a:prstGeom>
          <a:solidFill>
            <a:srgbClr val="4A6FA5"/>
          </a:solidFill>
          <a:ln w="12700" cap="flat" cmpd="sng" algn="ctr">
            <a:solidFill>
              <a:srgbClr val="4A6FA5"/>
            </a:solidFill>
            <a:prstDash val="solid"/>
            <a:round/>
          </a:ln>
          <a:effectLst>
            <a:outerShdw blurRad="39960" dist="23040" dir="5400000" rotWithShape="0">
              <a:srgbClr val="000000">
                <a:alpha val="35000"/>
              </a:srgbClr>
            </a:outerShdw>
          </a:effectLst>
        </p:spPr>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zh-CN" altLang="en-US" sz="1600" b="1"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rPr>
              <a:t>② 個別チャット</a:t>
            </a:r>
            <a:endParaRPr kumimoji="1" lang="en-US" sz="1600" b="0"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endParaRPr>
          </a:p>
        </p:txBody>
      </p:sp>
      <p:sp>
        <p:nvSpPr>
          <p:cNvPr id="9" name="Rounded Rectangle 6">
            <a:extLst>
              <a:ext uri="{FF2B5EF4-FFF2-40B4-BE49-F238E27FC236}">
                <a16:creationId xmlns:a16="http://schemas.microsoft.com/office/drawing/2014/main" id="{2120D6CC-F8E8-A676-5288-0D7CA7AE5EBB}"/>
              </a:ext>
            </a:extLst>
          </p:cNvPr>
          <p:cNvSpPr/>
          <p:nvPr/>
        </p:nvSpPr>
        <p:spPr>
          <a:xfrm>
            <a:off x="3493008" y="1938528"/>
            <a:ext cx="2788920" cy="2761488"/>
          </a:xfrm>
          <a:prstGeom prst="roundRect">
            <a:avLst>
              <a:gd name="adj" fmla="val 10000"/>
            </a:avLst>
          </a:prstGeom>
          <a:solidFill>
            <a:srgbClr val="F5F7FA"/>
          </a:solidFill>
          <a:ln w="12700" cap="flat" cmpd="sng" algn="ctr">
            <a:solidFill>
              <a:srgbClr val="D1D8E0"/>
            </a:solidFill>
            <a:prstDash val="solid"/>
            <a:round/>
          </a:ln>
          <a:effectLst>
            <a:outerShdw blurRad="39960" dist="23040" dir="5400000" rotWithShape="0">
              <a:srgbClr val="000000">
                <a:alpha val="35000"/>
              </a:srgbClr>
            </a:outerShdw>
          </a:effectLst>
        </p:spPr>
        <p:txBody>
          <a:bodyPr wrap="square" lIns="91440" tIns="91440" rIns="73152" bIns="54864" anchor="t">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300"/>
              </a:spcBef>
              <a:spcAft>
                <a:spcPts val="0"/>
              </a:spcAft>
              <a:buClrTx/>
              <a:buSzTx/>
              <a:buFontTx/>
              <a:buNone/>
              <a:tabLst/>
              <a:defRPr/>
            </a:pPr>
            <a:r>
              <a:rPr kumimoji="1" sz="1400" b="1" i="0" u="none" strike="noStrike" kern="1200" cap="none" spc="0" normalizeH="0" baseline="0" noProof="0">
                <a:ln>
                  <a:noFill/>
                </a:ln>
                <a:solidFill>
                  <a:srgbClr val="4A6FA5"/>
                </a:solidFill>
                <a:effectLst/>
                <a:uLnTx/>
                <a:uFillTx/>
                <a:latin typeface="メイリオ" panose="020B0604030504040204" pitchFamily="50" charset="-128"/>
                <a:ea typeface="メイリオ" panose="020B0604030504040204" pitchFamily="50" charset="-128"/>
              </a:rPr>
              <a:t>対応：あらうち様</a:t>
            </a:r>
            <a:endParaRPr kumimoji="1" lang="en-US" sz="1400" b="0" i="0" u="none" strike="noStrike" kern="1200" cap="none" spc="-1" normalizeH="0" baseline="0" noProof="0">
              <a:ln>
                <a:noFill/>
              </a:ln>
              <a:solidFill>
                <a:srgbClr val="000000"/>
              </a:solidFill>
              <a:effectLst/>
              <a:uLnTx/>
              <a:uFillTx/>
              <a:latin typeface="メイリオ" panose="020B0604030504040204" pitchFamily="50" charset="-128"/>
              <a:ea typeface="メイリオ" panose="020B0604030504040204" pitchFamily="50" charset="-128"/>
            </a:endParaRPr>
          </a:p>
          <a:p>
            <a:pPr marL="0" marR="0" lvl="0" indent="0" algn="l" defTabSz="914400" rtl="0" eaLnBrk="1" fontAlgn="auto" latinLnBrk="0" hangingPunct="1">
              <a:lnSpc>
                <a:spcPct val="100000"/>
              </a:lnSpc>
              <a:spcBef>
                <a:spcPts val="300"/>
              </a:spcBef>
              <a:spcAft>
                <a:spcPts val="0"/>
              </a:spcAft>
              <a:buClrTx/>
              <a:buSzTx/>
              <a:buFontTx/>
              <a:buNone/>
              <a:tabLst/>
              <a:defRPr/>
            </a:pPr>
            <a:r>
              <a:rPr kumimoji="1" sz="1400" b="0" i="0" u="none" strike="noStrike" kern="1200" cap="none" spc="0"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・ご担当者様が、物件に関する相談・問い合わせに対応</a:t>
            </a:r>
          </a:p>
          <a:p>
            <a:pPr marL="0" marR="0" lvl="0" indent="0" algn="l" defTabSz="914400" rtl="0" eaLnBrk="1" fontAlgn="auto" latinLnBrk="0" hangingPunct="1">
              <a:lnSpc>
                <a:spcPct val="100000"/>
              </a:lnSpc>
              <a:spcBef>
                <a:spcPts val="300"/>
              </a:spcBef>
              <a:spcAft>
                <a:spcPts val="0"/>
              </a:spcAft>
              <a:buClrTx/>
              <a:buSzTx/>
              <a:buFontTx/>
              <a:buNone/>
              <a:tabLst/>
              <a:defRPr/>
            </a:pPr>
            <a:r>
              <a:rPr kumimoji="1" sz="1400" b="0" i="0" u="none" strike="noStrike" kern="1200" cap="none" spc="0"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・送られた物件（URL・物件名・画像）の空室確認・内見の手配</a:t>
            </a:r>
          </a:p>
          <a:p>
            <a:pPr marL="0" marR="0" lvl="0" indent="0" algn="l" defTabSz="914400" rtl="0" eaLnBrk="1" fontAlgn="auto" latinLnBrk="0" hangingPunct="1">
              <a:lnSpc>
                <a:spcPct val="100000"/>
              </a:lnSpc>
              <a:spcBef>
                <a:spcPts val="300"/>
              </a:spcBef>
              <a:spcAft>
                <a:spcPts val="0"/>
              </a:spcAft>
              <a:buClrTx/>
              <a:buSzTx/>
              <a:buFontTx/>
              <a:buNone/>
              <a:tabLst/>
              <a:defRPr/>
            </a:pPr>
            <a:r>
              <a:rPr kumimoji="1" sz="1400" b="0" i="0" u="none" strike="noStrike" kern="1200" cap="none" spc="0"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・一次対応は自動応答に任せ、物件の確認に集中</a:t>
            </a:r>
          </a:p>
        </p:txBody>
      </p:sp>
      <p:sp>
        <p:nvSpPr>
          <p:cNvPr id="11" name="Rounded Rectangle 7">
            <a:extLst>
              <a:ext uri="{FF2B5EF4-FFF2-40B4-BE49-F238E27FC236}">
                <a16:creationId xmlns:a16="http://schemas.microsoft.com/office/drawing/2014/main" id="{A110E104-86B5-BECB-43FF-305B6025C5CA}"/>
              </a:ext>
            </a:extLst>
          </p:cNvPr>
          <p:cNvSpPr/>
          <p:nvPr/>
        </p:nvSpPr>
        <p:spPr>
          <a:xfrm>
            <a:off x="6556248" y="1481328"/>
            <a:ext cx="2788920" cy="411480"/>
          </a:xfrm>
          <a:prstGeom prst="roundRect">
            <a:avLst>
              <a:gd name="adj" fmla="val 10000"/>
            </a:avLst>
          </a:prstGeom>
          <a:solidFill>
            <a:srgbClr val="5A6378"/>
          </a:solidFill>
          <a:ln w="12700" cap="flat" cmpd="sng" algn="ctr">
            <a:solidFill>
              <a:srgbClr val="5A6378"/>
            </a:solidFill>
            <a:prstDash val="solid"/>
            <a:round/>
          </a:ln>
          <a:effectLst>
            <a:outerShdw blurRad="39960" dist="23040" dir="5400000" rotWithShape="0">
              <a:srgbClr val="000000">
                <a:alpha val="35000"/>
              </a:srgbClr>
            </a:outerShdw>
          </a:effectLst>
        </p:spPr>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zh-CN" altLang="en-US" sz="1600" b="1"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rPr>
              <a:t>③ チャットタグ</a:t>
            </a:r>
            <a:endParaRPr kumimoji="1" lang="en-US" sz="1600" b="0"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endParaRPr>
          </a:p>
        </p:txBody>
      </p:sp>
      <p:sp>
        <p:nvSpPr>
          <p:cNvPr id="13" name="Rounded Rectangle 8">
            <a:extLst>
              <a:ext uri="{FF2B5EF4-FFF2-40B4-BE49-F238E27FC236}">
                <a16:creationId xmlns:a16="http://schemas.microsoft.com/office/drawing/2014/main" id="{FA298501-38B3-F233-CA41-A026320BA8C3}"/>
              </a:ext>
            </a:extLst>
          </p:cNvPr>
          <p:cNvSpPr/>
          <p:nvPr/>
        </p:nvSpPr>
        <p:spPr>
          <a:xfrm>
            <a:off x="6556248" y="1938528"/>
            <a:ext cx="2788920" cy="2761488"/>
          </a:xfrm>
          <a:prstGeom prst="roundRect">
            <a:avLst>
              <a:gd name="adj" fmla="val 10000"/>
            </a:avLst>
          </a:prstGeom>
          <a:solidFill>
            <a:srgbClr val="F5F7FA"/>
          </a:solidFill>
          <a:ln w="12700" cap="flat" cmpd="sng" algn="ctr">
            <a:solidFill>
              <a:srgbClr val="D1D8E0"/>
            </a:solidFill>
            <a:prstDash val="solid"/>
            <a:round/>
          </a:ln>
          <a:effectLst>
            <a:outerShdw blurRad="39960" dist="23040" dir="5400000" rotWithShape="0">
              <a:srgbClr val="000000">
                <a:alpha val="35000"/>
              </a:srgbClr>
            </a:outerShdw>
          </a:effectLst>
        </p:spPr>
        <p:txBody>
          <a:bodyPr wrap="square" lIns="91440" tIns="91440" rIns="73152" bIns="54864" anchor="t">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300"/>
              </a:spcBef>
              <a:spcAft>
                <a:spcPts val="0"/>
              </a:spcAft>
              <a:buClrTx/>
              <a:buSzTx/>
              <a:buFontTx/>
              <a:buNone/>
              <a:tabLst/>
              <a:defRPr/>
            </a:pPr>
            <a:r>
              <a:rPr kumimoji="1" sz="1400" b="1" i="0" u="none" strike="noStrike" kern="1200" cap="none" spc="0" normalizeH="0" baseline="0" noProof="0">
                <a:ln>
                  <a:noFill/>
                </a:ln>
                <a:solidFill>
                  <a:srgbClr val="5B6478"/>
                </a:solidFill>
                <a:effectLst/>
                <a:uLnTx/>
                <a:uFillTx/>
                <a:latin typeface="メイリオ" panose="020B0604030504040204" pitchFamily="50" charset="-128"/>
                <a:ea typeface="メイリオ" panose="020B0604030504040204" pitchFamily="50" charset="-128"/>
              </a:rPr>
              <a:t>設計・設定：当社</a:t>
            </a:r>
            <a:endParaRPr kumimoji="1" lang="en-US" sz="1400" b="0" i="0" u="none" strike="noStrike" kern="1200" cap="none" spc="-1" normalizeH="0" baseline="0" noProof="0">
              <a:ln>
                <a:noFill/>
              </a:ln>
              <a:solidFill>
                <a:srgbClr val="000000"/>
              </a:solidFill>
              <a:effectLst/>
              <a:uLnTx/>
              <a:uFillTx/>
              <a:latin typeface="メイリオ" panose="020B0604030504040204" pitchFamily="50" charset="-128"/>
              <a:ea typeface="メイリオ" panose="020B0604030504040204" pitchFamily="50" charset="-128"/>
            </a:endParaRPr>
          </a:p>
          <a:p>
            <a:pPr marL="0" marR="0" lvl="0" indent="0" algn="l" defTabSz="914400" rtl="0" eaLnBrk="1" fontAlgn="auto" latinLnBrk="0" hangingPunct="1">
              <a:lnSpc>
                <a:spcPct val="100000"/>
              </a:lnSpc>
              <a:spcBef>
                <a:spcPts val="300"/>
              </a:spcBef>
              <a:spcAft>
                <a:spcPts val="0"/>
              </a:spcAft>
              <a:buClrTx/>
              <a:buSzTx/>
              <a:buFontTx/>
              <a:buNone/>
              <a:tabLst/>
              <a:defRPr/>
            </a:pPr>
            <a:r>
              <a:rPr kumimoji="1" sz="1400" b="0" i="0" u="none" strike="noStrike" kern="1200" cap="none" spc="0"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・問い合わせ状況・対応ステータス（受付・確認中・返信済）を管理</a:t>
            </a:r>
          </a:p>
          <a:p>
            <a:pPr marL="0" marR="0" lvl="0" indent="0" algn="l" defTabSz="914400" rtl="0" eaLnBrk="1" fontAlgn="auto" latinLnBrk="0" hangingPunct="1">
              <a:lnSpc>
                <a:spcPct val="100000"/>
              </a:lnSpc>
              <a:spcBef>
                <a:spcPts val="300"/>
              </a:spcBef>
              <a:spcAft>
                <a:spcPts val="0"/>
              </a:spcAft>
              <a:buClrTx/>
              <a:buSzTx/>
              <a:buFontTx/>
              <a:buNone/>
              <a:tabLst/>
              <a:defRPr/>
            </a:pPr>
            <a:r>
              <a:rPr kumimoji="1" sz="1400" b="0" i="0" u="none" strike="noStrike" kern="1200" cap="none" spc="0"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・タグの付け替えで、確認漏れ・返信漏れを防止</a:t>
            </a:r>
          </a:p>
          <a:p>
            <a:pPr marL="0" marR="0" lvl="0" indent="0" algn="l" defTabSz="914400" rtl="0" eaLnBrk="1" fontAlgn="auto" latinLnBrk="0" hangingPunct="1">
              <a:lnSpc>
                <a:spcPct val="100000"/>
              </a:lnSpc>
              <a:spcBef>
                <a:spcPts val="300"/>
              </a:spcBef>
              <a:spcAft>
                <a:spcPts val="0"/>
              </a:spcAft>
              <a:buClrTx/>
              <a:buSzTx/>
              <a:buFontTx/>
              <a:buNone/>
              <a:tabLst/>
              <a:defRPr/>
            </a:pPr>
            <a:r>
              <a:rPr kumimoji="1" sz="1400" b="0" i="0" u="none" strike="noStrike" kern="1200" cap="none" spc="0"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・問い合わせ済みの方を除いた再案内で、重複配信を防止</a:t>
            </a:r>
          </a:p>
        </p:txBody>
      </p:sp>
      <p:sp>
        <p:nvSpPr>
          <p:cNvPr id="15" name="Google Shape;156;p7">
            <a:extLst>
              <a:ext uri="{FF2B5EF4-FFF2-40B4-BE49-F238E27FC236}">
                <a16:creationId xmlns:a16="http://schemas.microsoft.com/office/drawing/2014/main" id="{DCA83424-AED2-9D0C-15FF-C3A1D7D9F90E}"/>
              </a:ext>
            </a:extLst>
          </p:cNvPr>
          <p:cNvSpPr txBox="1"/>
          <p:nvPr/>
        </p:nvSpPr>
        <p:spPr>
          <a:xfrm>
            <a:off x="429768" y="4727448"/>
            <a:ext cx="8915400" cy="338328"/>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役割分担</a:t>
            </a:r>
            <a:r>
              <a:rPr lang="ja-JP" altLang="en-US" sz="1200" b="0" dirty="0">
                <a:solidFill>
                  <a:srgbClr val="002060"/>
                </a:solidFill>
                <a:latin typeface="Meiryo"/>
                <a:ea typeface="Meiryo"/>
                <a:cs typeface="Meiryo"/>
                <a:sym typeface="Meiryo"/>
              </a:rPr>
              <a:t>　※当社の対応は運用コンサル費用に含みます</a:t>
            </a:r>
            <a:endParaRPr sz="1600" b="1" dirty="0">
              <a:solidFill>
                <a:srgbClr val="002060"/>
              </a:solidFill>
              <a:latin typeface="Meiryo"/>
              <a:ea typeface="Meiryo"/>
              <a:cs typeface="Meiryo"/>
              <a:sym typeface="Meiryo"/>
            </a:endParaRPr>
          </a:p>
        </p:txBody>
      </p:sp>
      <p:sp>
        <p:nvSpPr>
          <p:cNvPr id="17" name="Rounded Rectangle 3">
            <a:extLst>
              <a:ext uri="{FF2B5EF4-FFF2-40B4-BE49-F238E27FC236}">
                <a16:creationId xmlns:a16="http://schemas.microsoft.com/office/drawing/2014/main" id="{13A2205C-193F-C8D0-D9D5-28D75F02D3A1}"/>
              </a:ext>
            </a:extLst>
          </p:cNvPr>
          <p:cNvSpPr/>
          <p:nvPr/>
        </p:nvSpPr>
        <p:spPr>
          <a:xfrm>
            <a:off x="429768" y="5056632"/>
            <a:ext cx="4320540" cy="365760"/>
          </a:xfrm>
          <a:prstGeom prst="roundRect">
            <a:avLst>
              <a:gd name="adj" fmla="val 10000"/>
            </a:avLst>
          </a:prstGeom>
          <a:solidFill>
            <a:srgbClr val="1F2A5C"/>
          </a:solidFill>
          <a:ln w="12700">
            <a:solidFill>
              <a:srgbClr val="1F2A5C"/>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r>
              <a:rPr lang="zh-CN" sz="1400" b="1" strike="noStrike" spc="-1">
                <a:solidFill>
                  <a:srgbClr val="FFFFFF"/>
                </a:solidFill>
                <a:latin typeface="メイリオ" panose="020B0604030504040204" pitchFamily="50" charset="-128"/>
                <a:ea typeface="メイリオ" panose="020B0604030504040204" pitchFamily="50" charset="-128"/>
              </a:rPr>
              <a:t>当社（DYM）｜仕組みづくり・改善支援</a:t>
            </a:r>
            <a:endParaRPr lang="en-US" sz="1400" b="0" strike="noStrike" spc="-1">
              <a:solidFill>
                <a:srgbClr val="FFFFFF"/>
              </a:solidFill>
              <a:latin typeface="メイリオ" panose="020B0604030504040204" pitchFamily="50" charset="-128"/>
              <a:ea typeface="メイリオ" panose="020B0604030504040204" pitchFamily="50" charset="-128"/>
            </a:endParaRPr>
          </a:p>
        </p:txBody>
      </p:sp>
      <p:sp>
        <p:nvSpPr>
          <p:cNvPr id="19" name="Rounded Rectangle 4">
            <a:extLst>
              <a:ext uri="{FF2B5EF4-FFF2-40B4-BE49-F238E27FC236}">
                <a16:creationId xmlns:a16="http://schemas.microsoft.com/office/drawing/2014/main" id="{71004DFF-0445-5182-FDBF-99D37EEA5C3B}"/>
              </a:ext>
            </a:extLst>
          </p:cNvPr>
          <p:cNvSpPr/>
          <p:nvPr/>
        </p:nvSpPr>
        <p:spPr>
          <a:xfrm>
            <a:off x="429768" y="5458968"/>
            <a:ext cx="4320540" cy="100584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wrap="square" lIns="109728" tIns="36576" rIns="73152" bIns="36576"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l">
              <a:lnSpc>
                <a:spcPct val="100000"/>
              </a:lnSpc>
              <a:spcBef>
                <a:spcPts val="0"/>
              </a:spcBef>
              <a:spcAft>
                <a:spcPts val="0"/>
              </a:spcAft>
            </a:pPr>
            <a:r>
              <a:rPr sz="1400">
                <a:solidFill>
                  <a:srgbClr val="333333"/>
                </a:solidFill>
                <a:latin typeface="メイリオ" panose="020B0604030504040204" pitchFamily="50" charset="-128"/>
                <a:ea typeface="メイリオ" panose="020B0604030504040204" pitchFamily="50" charset="-128"/>
              </a:rPr>
              <a:t>・LINE公式アカウントの初期設計</a:t>
            </a:r>
            <a:endParaRPr lang="en-US" sz="1400" b="0" strike="noStrike" spc="-1">
              <a:solidFill>
                <a:srgbClr val="000000"/>
              </a:solidFill>
              <a:latin typeface="メイリオ" panose="020B0604030504040204" pitchFamily="50" charset="-128"/>
              <a:ea typeface="メイリオ" panose="020B0604030504040204" pitchFamily="50" charset="-128"/>
            </a:endParaRPr>
          </a:p>
          <a:p>
            <a:pPr algn="l">
              <a:lnSpc>
                <a:spcPct val="100000"/>
              </a:lnSpc>
              <a:spcBef>
                <a:spcPts val="0"/>
              </a:spcBef>
              <a:spcAft>
                <a:spcPts val="0"/>
              </a:spcAft>
            </a:pPr>
            <a:r>
              <a:rPr sz="1400">
                <a:solidFill>
                  <a:srgbClr val="333333"/>
                </a:solidFill>
                <a:latin typeface="メイリオ" panose="020B0604030504040204" pitchFamily="50" charset="-128"/>
                <a:ea typeface="メイリオ" panose="020B0604030504040204" pitchFamily="50" charset="-128"/>
              </a:rPr>
              <a:t>・自動応答の設定</a:t>
            </a:r>
          </a:p>
          <a:p>
            <a:pPr algn="l">
              <a:lnSpc>
                <a:spcPct val="100000"/>
              </a:lnSpc>
              <a:spcBef>
                <a:spcPts val="0"/>
              </a:spcBef>
              <a:spcAft>
                <a:spcPts val="0"/>
              </a:spcAft>
            </a:pPr>
            <a:r>
              <a:rPr sz="1400">
                <a:solidFill>
                  <a:srgbClr val="333333"/>
                </a:solidFill>
                <a:latin typeface="メイリオ" panose="020B0604030504040204" pitchFamily="50" charset="-128"/>
                <a:ea typeface="メイリオ" panose="020B0604030504040204" pitchFamily="50" charset="-128"/>
              </a:rPr>
              <a:t>・チャットタグの設計・設定</a:t>
            </a:r>
          </a:p>
          <a:p>
            <a:pPr algn="l">
              <a:lnSpc>
                <a:spcPct val="100000"/>
              </a:lnSpc>
              <a:spcBef>
                <a:spcPts val="0"/>
              </a:spcBef>
              <a:spcAft>
                <a:spcPts val="0"/>
              </a:spcAft>
            </a:pPr>
            <a:r>
              <a:rPr sz="1400">
                <a:solidFill>
                  <a:srgbClr val="333333"/>
                </a:solidFill>
                <a:latin typeface="メイリオ" panose="020B0604030504040204" pitchFamily="50" charset="-128"/>
                <a:ea typeface="メイリオ" panose="020B0604030504040204" pitchFamily="50" charset="-128"/>
              </a:rPr>
              <a:t>・配信運用・改善支援</a:t>
            </a:r>
          </a:p>
        </p:txBody>
      </p:sp>
      <p:sp>
        <p:nvSpPr>
          <p:cNvPr id="21" name="Rounded Rectangle 5">
            <a:extLst>
              <a:ext uri="{FF2B5EF4-FFF2-40B4-BE49-F238E27FC236}">
                <a16:creationId xmlns:a16="http://schemas.microsoft.com/office/drawing/2014/main" id="{99616B08-D6A8-4286-A691-E62AF335E000}"/>
              </a:ext>
            </a:extLst>
          </p:cNvPr>
          <p:cNvSpPr/>
          <p:nvPr/>
        </p:nvSpPr>
        <p:spPr>
          <a:xfrm>
            <a:off x="5024628" y="5056632"/>
            <a:ext cx="4320540" cy="365760"/>
          </a:xfrm>
          <a:prstGeom prst="roundRect">
            <a:avLst>
              <a:gd name="adj" fmla="val 10000"/>
            </a:avLst>
          </a:prstGeom>
          <a:solidFill>
            <a:srgbClr val="4A6FA5"/>
          </a:solidFill>
          <a:ln w="12700">
            <a:solidFill>
              <a:srgbClr val="4A6FA5"/>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r>
              <a:rPr lang="zh-CN" sz="1400" b="1" strike="noStrike" spc="-1">
                <a:solidFill>
                  <a:srgbClr val="FFFFFF"/>
                </a:solidFill>
                <a:latin typeface="メイリオ" panose="020B0604030504040204" pitchFamily="50" charset="-128"/>
                <a:ea typeface="メイリオ" panose="020B0604030504040204" pitchFamily="50" charset="-128"/>
              </a:rPr>
              <a:t>あらうち様｜お客様への個別対応</a:t>
            </a:r>
            <a:endParaRPr lang="en-US" sz="1400" b="0" strike="noStrike" spc="-1">
              <a:solidFill>
                <a:srgbClr val="FFFFFF"/>
              </a:solidFill>
              <a:latin typeface="メイリオ" panose="020B0604030504040204" pitchFamily="50" charset="-128"/>
              <a:ea typeface="メイリオ" panose="020B0604030504040204" pitchFamily="50" charset="-128"/>
            </a:endParaRPr>
          </a:p>
        </p:txBody>
      </p:sp>
      <p:sp>
        <p:nvSpPr>
          <p:cNvPr id="23" name="Rounded Rectangle 6">
            <a:extLst>
              <a:ext uri="{FF2B5EF4-FFF2-40B4-BE49-F238E27FC236}">
                <a16:creationId xmlns:a16="http://schemas.microsoft.com/office/drawing/2014/main" id="{C9FC3A12-ACD9-D0EB-C223-270B18E3C1AE}"/>
              </a:ext>
            </a:extLst>
          </p:cNvPr>
          <p:cNvSpPr/>
          <p:nvPr/>
        </p:nvSpPr>
        <p:spPr>
          <a:xfrm>
            <a:off x="5024628" y="5458968"/>
            <a:ext cx="4320540" cy="100584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wrap="square" lIns="109728" tIns="36576" rIns="73152" bIns="36576"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l">
              <a:lnSpc>
                <a:spcPct val="100000"/>
              </a:lnSpc>
              <a:spcBef>
                <a:spcPts val="0"/>
              </a:spcBef>
              <a:spcAft>
                <a:spcPts val="0"/>
              </a:spcAft>
            </a:pPr>
            <a:r>
              <a:rPr sz="1400">
                <a:solidFill>
                  <a:srgbClr val="333333"/>
                </a:solidFill>
                <a:latin typeface="メイリオ" panose="020B0604030504040204" pitchFamily="50" charset="-128"/>
                <a:ea typeface="メイリオ" panose="020B0604030504040204" pitchFamily="50" charset="-128"/>
              </a:rPr>
              <a:t>・個別チャットでの返信</a:t>
            </a:r>
            <a:endParaRPr lang="en-US" sz="1400" b="0" strike="noStrike" spc="-1">
              <a:solidFill>
                <a:srgbClr val="000000"/>
              </a:solidFill>
              <a:latin typeface="メイリオ" panose="020B0604030504040204" pitchFamily="50" charset="-128"/>
              <a:ea typeface="メイリオ" panose="020B0604030504040204" pitchFamily="50" charset="-128"/>
            </a:endParaRPr>
          </a:p>
          <a:p>
            <a:pPr algn="l">
              <a:lnSpc>
                <a:spcPct val="100000"/>
              </a:lnSpc>
              <a:spcBef>
                <a:spcPts val="0"/>
              </a:spcBef>
              <a:spcAft>
                <a:spcPts val="0"/>
              </a:spcAft>
            </a:pPr>
            <a:r>
              <a:rPr sz="1400">
                <a:solidFill>
                  <a:srgbClr val="333333"/>
                </a:solidFill>
                <a:latin typeface="メイリオ" panose="020B0604030504040204" pitchFamily="50" charset="-128"/>
                <a:ea typeface="メイリオ" panose="020B0604030504040204" pitchFamily="50" charset="-128"/>
              </a:rPr>
              <a:t>・物件の空室確認</a:t>
            </a:r>
          </a:p>
          <a:p>
            <a:pPr algn="l">
              <a:lnSpc>
                <a:spcPct val="100000"/>
              </a:lnSpc>
              <a:spcBef>
                <a:spcPts val="0"/>
              </a:spcBef>
              <a:spcAft>
                <a:spcPts val="0"/>
              </a:spcAft>
            </a:pPr>
            <a:r>
              <a:rPr sz="1400">
                <a:solidFill>
                  <a:srgbClr val="333333"/>
                </a:solidFill>
                <a:latin typeface="メイリオ" panose="020B0604030504040204" pitchFamily="50" charset="-128"/>
                <a:ea typeface="メイリオ" panose="020B0604030504040204" pitchFamily="50" charset="-128"/>
              </a:rPr>
              <a:t>・内見の手配</a:t>
            </a:r>
          </a:p>
          <a:p>
            <a:pPr algn="l">
              <a:lnSpc>
                <a:spcPct val="100000"/>
              </a:lnSpc>
              <a:spcBef>
                <a:spcPts val="0"/>
              </a:spcBef>
              <a:spcAft>
                <a:spcPts val="0"/>
              </a:spcAft>
            </a:pPr>
            <a:r>
              <a:rPr sz="1400">
                <a:solidFill>
                  <a:srgbClr val="333333"/>
                </a:solidFill>
                <a:latin typeface="メイリオ" panose="020B0604030504040204" pitchFamily="50" charset="-128"/>
                <a:ea typeface="メイリオ" panose="020B0604030504040204" pitchFamily="50" charset="-128"/>
              </a:rPr>
              <a:t>・お申込み・ご契約の対応</a:t>
            </a:r>
          </a:p>
        </p:txBody>
      </p:sp>
      <p:sp>
        <p:nvSpPr>
          <p:cNvPr id="46" name="Right Arrow 4"/>
          <p:cNvSpPr/>
          <p:nvPr/>
        </p:nvSpPr>
        <p:spPr>
          <a:xfrm>
            <a:off x="3250692" y="3218688"/>
            <a:ext cx="210312" cy="201168"/>
          </a:xfrm>
          <a:prstGeom prst="rightArrow">
            <a:avLst>
              <a:gd name="adj1" fmla="val 50000"/>
              <a:gd name="adj2" fmla="val 50000"/>
            </a:avLst>
          </a:prstGeom>
          <a:solidFill>
            <a:srgbClr val="9AA1A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8080" rIns="90000" bIns="2808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endParaRPr lang="en-US" sz="1600" b="0" strike="noStrike" spc="-1">
              <a:solidFill>
                <a:schemeClr val="lt1"/>
              </a:solidFill>
              <a:latin typeface="メイリオ" panose="020B0604030504040204" pitchFamily="50" charset="-128"/>
              <a:ea typeface="メイリオ" panose="020B0604030504040204" pitchFamily="50" charset="-128"/>
            </a:endParaRPr>
          </a:p>
        </p:txBody>
      </p:sp>
      <p:sp>
        <p:nvSpPr>
          <p:cNvPr id="47" name="Right Arrow 4"/>
          <p:cNvSpPr/>
          <p:nvPr/>
        </p:nvSpPr>
        <p:spPr>
          <a:xfrm>
            <a:off x="6313932" y="3218688"/>
            <a:ext cx="210312" cy="201168"/>
          </a:xfrm>
          <a:prstGeom prst="rightArrow">
            <a:avLst>
              <a:gd name="adj1" fmla="val 50000"/>
              <a:gd name="adj2" fmla="val 50000"/>
            </a:avLst>
          </a:prstGeom>
          <a:solidFill>
            <a:srgbClr val="9AA1A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8080" rIns="90000" bIns="2808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endParaRPr lang="en-US" sz="1600" b="0" strike="noStrike" spc="-1">
              <a:solidFill>
                <a:schemeClr val="lt1"/>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893779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EA8C22-A859-569A-8EEC-58728B6BD665}"/>
            </a:ext>
          </a:extLst>
        </p:cNvPr>
        <p:cNvGrpSpPr/>
        <p:nvPr/>
      </p:nvGrpSpPr>
      <p:grpSpPr>
        <a:xfrm>
          <a:off x="0" y="0"/>
          <a:ext cx="0" cy="0"/>
          <a:chOff x="0" y="0"/>
          <a:chExt cx="0" cy="0"/>
        </a:xfrm>
      </p:grpSpPr>
      <p:sp>
        <p:nvSpPr>
          <p:cNvPr id="3" name="Google Shape;752;p28">
            <a:extLst>
              <a:ext uri="{FF2B5EF4-FFF2-40B4-BE49-F238E27FC236}">
                <a16:creationId xmlns:a16="http://schemas.microsoft.com/office/drawing/2014/main" id="{6C96E678-C87E-58F4-6415-8E923AFE9CA5}"/>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施策詳細｜新規友だちの獲得</a:t>
            </a:r>
          </a:p>
        </p:txBody>
      </p:sp>
      <p:sp>
        <p:nvSpPr>
          <p:cNvPr id="10" name="TextBox 2">
            <a:extLst>
              <a:ext uri="{FF2B5EF4-FFF2-40B4-BE49-F238E27FC236}">
                <a16:creationId xmlns:a16="http://schemas.microsoft.com/office/drawing/2014/main" id="{88F34F17-1222-19B2-703D-3A639F6FB75B}"/>
              </a:ext>
            </a:extLst>
          </p:cNvPr>
          <p:cNvSpPr/>
          <p:nvPr/>
        </p:nvSpPr>
        <p:spPr>
          <a:xfrm>
            <a:off x="429768" y="914400"/>
            <a:ext cx="9052560" cy="411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00000"/>
              </a:lnSpc>
            </a:pPr>
            <a:r>
              <a:rPr lang="zh-CN" sz="1600" b="0" strike="noStrike" spc="-1">
                <a:solidFill>
                  <a:srgbClr val="5A6378"/>
                </a:solidFill>
                <a:latin typeface="メイリオ" panose="020B0604030504040204" pitchFamily="50" charset="-128"/>
                <a:ea typeface="メイリオ" panose="020B0604030504040204" pitchFamily="50" charset="-128"/>
              </a:rPr>
              <a:t>サイトの2つの接点から、LINEの友だち追加へつなげます</a:t>
            </a:r>
            <a:endParaRPr lang="en-US" sz="1600" b="0" strike="noStrike" spc="-1">
              <a:solidFill>
                <a:srgbClr val="000000"/>
              </a:solidFill>
              <a:latin typeface="メイリオ" panose="020B0604030504040204" pitchFamily="50" charset="-128"/>
              <a:ea typeface="メイリオ" panose="020B0604030504040204" pitchFamily="50" charset="-128"/>
            </a:endParaRPr>
          </a:p>
        </p:txBody>
      </p:sp>
      <p:sp>
        <p:nvSpPr>
          <p:cNvPr id="15" name="Rounded Rectangle 3">
            <a:extLst>
              <a:ext uri="{FF2B5EF4-FFF2-40B4-BE49-F238E27FC236}">
                <a16:creationId xmlns:a16="http://schemas.microsoft.com/office/drawing/2014/main" id="{C4925BB9-D79E-FFBF-0C62-AA4DA1B53D1C}"/>
              </a:ext>
            </a:extLst>
          </p:cNvPr>
          <p:cNvSpPr/>
          <p:nvPr/>
        </p:nvSpPr>
        <p:spPr>
          <a:xfrm>
            <a:off x="429768" y="2724912"/>
            <a:ext cx="4389120" cy="804672"/>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r>
              <a:rPr lang="en-US" sz="1500" b="0" strike="noStrike" spc="-1">
                <a:solidFill>
                  <a:srgbClr val="333333"/>
                </a:solidFill>
                <a:latin typeface="メイリオ" panose="020B0604030504040204" pitchFamily="50" charset="-128"/>
                <a:ea typeface="メイリオ" panose="020B0604030504040204" pitchFamily="50" charset="-128"/>
              </a:rPr>
              <a:t>サイトを離れようとした方</a:t>
            </a:r>
            <a:endParaRPr lang="en-US" sz="1500" b="0" strike="noStrike" spc="-1">
              <a:solidFill>
                <a:srgbClr val="000000"/>
              </a:solidFill>
              <a:latin typeface="メイリオ" panose="020B0604030504040204" pitchFamily="50" charset="-128"/>
              <a:ea typeface="メイリオ" panose="020B0604030504040204" pitchFamily="50" charset="-128"/>
            </a:endParaRPr>
          </a:p>
          <a:p>
            <a:pPr algn="ctr">
              <a:lnSpc>
                <a:spcPct val="100000"/>
              </a:lnSpc>
            </a:pPr>
            <a:r>
              <a:rPr lang="en-US" sz="1500" b="0" strike="noStrike" spc="-1">
                <a:solidFill>
                  <a:srgbClr val="333333"/>
                </a:solidFill>
                <a:latin typeface="メイリオ" panose="020B0604030504040204" pitchFamily="50" charset="-128"/>
                <a:ea typeface="メイリオ" panose="020B0604030504040204" pitchFamily="50" charset="-128"/>
              </a:rPr>
              <a:t>（離脱防止ポップアップ）</a:t>
            </a:r>
            <a:endParaRPr lang="en-US" sz="1500" b="0" strike="noStrike" spc="-1">
              <a:solidFill>
                <a:srgbClr val="000000"/>
              </a:solidFill>
              <a:latin typeface="メイリオ" panose="020B0604030504040204" pitchFamily="50" charset="-128"/>
              <a:ea typeface="メイリオ" panose="020B0604030504040204" pitchFamily="50" charset="-128"/>
            </a:endParaRPr>
          </a:p>
        </p:txBody>
      </p:sp>
      <p:sp>
        <p:nvSpPr>
          <p:cNvPr id="18" name="Right Arrow 4">
            <a:extLst>
              <a:ext uri="{FF2B5EF4-FFF2-40B4-BE49-F238E27FC236}">
                <a16:creationId xmlns:a16="http://schemas.microsoft.com/office/drawing/2014/main" id="{88BC1F8F-F7F1-CC07-4381-CFB49926A52D}"/>
              </a:ext>
            </a:extLst>
          </p:cNvPr>
          <p:cNvSpPr/>
          <p:nvPr/>
        </p:nvSpPr>
        <p:spPr>
          <a:xfrm rot="5400000">
            <a:off x="2487168" y="3621024"/>
            <a:ext cx="274320" cy="201168"/>
          </a:xfrm>
          <a:prstGeom prst="rightArrow">
            <a:avLst>
              <a:gd name="adj1" fmla="val 50000"/>
              <a:gd name="adj2" fmla="val 50000"/>
            </a:avLst>
          </a:prstGeom>
          <a:solidFill>
            <a:srgbClr val="9AA1A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8080" rIns="90000" bIns="2808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endParaRPr lang="en-US" sz="1600" b="0" strike="noStrike" spc="-1">
              <a:solidFill>
                <a:schemeClr val="lt1"/>
              </a:solidFill>
              <a:latin typeface="メイリオ" panose="020B0604030504040204" pitchFamily="50" charset="-128"/>
              <a:ea typeface="メイリオ" panose="020B0604030504040204" pitchFamily="50" charset="-128"/>
            </a:endParaRPr>
          </a:p>
        </p:txBody>
      </p:sp>
      <p:sp>
        <p:nvSpPr>
          <p:cNvPr id="26" name="Rounded Rectangle 5">
            <a:extLst>
              <a:ext uri="{FF2B5EF4-FFF2-40B4-BE49-F238E27FC236}">
                <a16:creationId xmlns:a16="http://schemas.microsoft.com/office/drawing/2014/main" id="{43F406FA-C08A-D91A-4E14-2D8412F195E6}"/>
              </a:ext>
            </a:extLst>
          </p:cNvPr>
          <p:cNvSpPr/>
          <p:nvPr/>
        </p:nvSpPr>
        <p:spPr>
          <a:xfrm>
            <a:off x="429768" y="3895344"/>
            <a:ext cx="4389120" cy="804672"/>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r>
              <a:rPr lang="en-US" sz="1500" b="0" strike="noStrike" spc="-1">
                <a:solidFill>
                  <a:srgbClr val="333333"/>
                </a:solidFill>
                <a:latin typeface="メイリオ" panose="020B0604030504040204" pitchFamily="50" charset="-128"/>
                <a:ea typeface="メイリオ" panose="020B0604030504040204" pitchFamily="50" charset="-128"/>
              </a:rPr>
              <a:t>物件のURLを送るだけで仲介手数料100円</a:t>
            </a:r>
            <a:endParaRPr lang="en-US" sz="1500" b="0" strike="noStrike" spc="-1">
              <a:solidFill>
                <a:srgbClr val="000000"/>
              </a:solidFill>
              <a:latin typeface="メイリオ" panose="020B0604030504040204" pitchFamily="50" charset="-128"/>
              <a:ea typeface="メイリオ" panose="020B0604030504040204" pitchFamily="50" charset="-128"/>
            </a:endParaRPr>
          </a:p>
          <a:p>
            <a:pPr algn="ctr">
              <a:lnSpc>
                <a:spcPct val="100000"/>
              </a:lnSpc>
            </a:pPr>
            <a:r>
              <a:rPr lang="en-US" sz="1500" b="0" strike="noStrike" spc="-1">
                <a:solidFill>
                  <a:srgbClr val="333333"/>
                </a:solidFill>
                <a:latin typeface="メイリオ" panose="020B0604030504040204" pitchFamily="50" charset="-128"/>
                <a:ea typeface="メイリオ" panose="020B0604030504040204" pitchFamily="50" charset="-128"/>
              </a:rPr>
              <a:t>（100円賃貸が対応できる物件に限ります）</a:t>
            </a:r>
            <a:endParaRPr lang="en-US" sz="1500" b="0" strike="noStrike" spc="-1">
              <a:solidFill>
                <a:srgbClr val="000000"/>
              </a:solidFill>
              <a:latin typeface="メイリオ" panose="020B0604030504040204" pitchFamily="50" charset="-128"/>
              <a:ea typeface="メイリオ" panose="020B0604030504040204" pitchFamily="50" charset="-128"/>
            </a:endParaRPr>
          </a:p>
        </p:txBody>
      </p:sp>
      <p:sp>
        <p:nvSpPr>
          <p:cNvPr id="27" name="Right Arrow 6">
            <a:extLst>
              <a:ext uri="{FF2B5EF4-FFF2-40B4-BE49-F238E27FC236}">
                <a16:creationId xmlns:a16="http://schemas.microsoft.com/office/drawing/2014/main" id="{7D9F3C04-6BFD-7CFA-B759-ACDA786DAC87}"/>
              </a:ext>
            </a:extLst>
          </p:cNvPr>
          <p:cNvSpPr/>
          <p:nvPr/>
        </p:nvSpPr>
        <p:spPr>
          <a:xfrm rot="5400000">
            <a:off x="2487168" y="4791456"/>
            <a:ext cx="274320" cy="201168"/>
          </a:xfrm>
          <a:prstGeom prst="rightArrow">
            <a:avLst>
              <a:gd name="adj1" fmla="val 50000"/>
              <a:gd name="adj2" fmla="val 50000"/>
            </a:avLst>
          </a:prstGeom>
          <a:solidFill>
            <a:srgbClr val="9AA1A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8080" rIns="90000" bIns="2808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endParaRPr lang="en-US" sz="1600" b="0" strike="noStrike" spc="-1">
              <a:solidFill>
                <a:schemeClr val="lt1"/>
              </a:solidFill>
              <a:latin typeface="メイリオ" panose="020B0604030504040204" pitchFamily="50" charset="-128"/>
              <a:ea typeface="メイリオ" panose="020B0604030504040204" pitchFamily="50" charset="-128"/>
            </a:endParaRPr>
          </a:p>
        </p:txBody>
      </p:sp>
      <p:sp>
        <p:nvSpPr>
          <p:cNvPr id="28" name="Rounded Rectangle 7">
            <a:extLst>
              <a:ext uri="{FF2B5EF4-FFF2-40B4-BE49-F238E27FC236}">
                <a16:creationId xmlns:a16="http://schemas.microsoft.com/office/drawing/2014/main" id="{56BFF9D2-5CEA-F780-1665-E25342AA7BC9}"/>
              </a:ext>
            </a:extLst>
          </p:cNvPr>
          <p:cNvSpPr/>
          <p:nvPr/>
        </p:nvSpPr>
        <p:spPr>
          <a:xfrm>
            <a:off x="978407" y="5065776"/>
            <a:ext cx="3291839" cy="475488"/>
          </a:xfrm>
          <a:prstGeom prst="roundRect">
            <a:avLst>
              <a:gd name="adj" fmla="val 10000"/>
            </a:avLst>
          </a:prstGeom>
          <a:solidFill>
            <a:srgbClr val="1F2A5C"/>
          </a:solidFill>
          <a:ln w="12700">
            <a:solidFill>
              <a:srgbClr val="1F2A5C"/>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r>
              <a:rPr lang="en-US" sz="1500" b="1" strike="noStrike" spc="-1">
                <a:solidFill>
                  <a:srgbClr val="FFFFFF"/>
                </a:solidFill>
                <a:latin typeface="メイリオ" panose="020B0604030504040204" pitchFamily="50" charset="-128"/>
                <a:ea typeface="メイリオ" panose="020B0604030504040204" pitchFamily="50" charset="-128"/>
              </a:rPr>
              <a:t>LINEの友だち追加</a:t>
            </a:r>
            <a:endParaRPr lang="en-US" sz="1500" b="0" strike="noStrike" spc="-1">
              <a:solidFill>
                <a:srgbClr val="FFFFFF"/>
              </a:solidFill>
              <a:latin typeface="メイリオ" panose="020B0604030504040204" pitchFamily="50" charset="-128"/>
              <a:ea typeface="メイリオ" panose="020B0604030504040204" pitchFamily="50" charset="-128"/>
            </a:endParaRPr>
          </a:p>
        </p:txBody>
      </p:sp>
      <p:sp>
        <p:nvSpPr>
          <p:cNvPr id="29" name="Rounded Rectangle 8">
            <a:extLst>
              <a:ext uri="{FF2B5EF4-FFF2-40B4-BE49-F238E27FC236}">
                <a16:creationId xmlns:a16="http://schemas.microsoft.com/office/drawing/2014/main" id="{F2D5D985-2571-C6B2-6BD5-E19E0FEA1435}"/>
              </a:ext>
            </a:extLst>
          </p:cNvPr>
          <p:cNvSpPr/>
          <p:nvPr/>
        </p:nvSpPr>
        <p:spPr>
          <a:xfrm>
            <a:off x="5093208" y="2724912"/>
            <a:ext cx="4389120" cy="804672"/>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r>
              <a:rPr lang="en-US" sz="1500" b="0" strike="noStrike" spc="-1">
                <a:solidFill>
                  <a:srgbClr val="333333"/>
                </a:solidFill>
                <a:latin typeface="メイリオ" panose="020B0604030504040204" pitchFamily="50" charset="-128"/>
                <a:ea typeface="メイリオ" panose="020B0604030504040204" pitchFamily="50" charset="-128"/>
              </a:rPr>
              <a:t>サイト内の「LINEでお問い合わせ」</a:t>
            </a:r>
            <a:endParaRPr lang="en-US" sz="1500" b="0" strike="noStrike" spc="-1">
              <a:solidFill>
                <a:srgbClr val="000000"/>
              </a:solidFill>
              <a:latin typeface="メイリオ" panose="020B0604030504040204" pitchFamily="50" charset="-128"/>
              <a:ea typeface="メイリオ" panose="020B0604030504040204" pitchFamily="50" charset="-128"/>
            </a:endParaRPr>
          </a:p>
          <a:p>
            <a:pPr algn="ctr">
              <a:lnSpc>
                <a:spcPct val="100000"/>
              </a:lnSpc>
            </a:pPr>
            <a:r>
              <a:rPr lang="en-US" sz="1500" b="0" strike="noStrike" spc="-1">
                <a:solidFill>
                  <a:srgbClr val="333333"/>
                </a:solidFill>
                <a:latin typeface="メイリオ" panose="020B0604030504040204" pitchFamily="50" charset="-128"/>
                <a:ea typeface="メイリオ" panose="020B0604030504040204" pitchFamily="50" charset="-128"/>
              </a:rPr>
              <a:t>ボタン（全ページ）</a:t>
            </a:r>
            <a:endParaRPr lang="en-US" sz="1500" b="0" strike="noStrike" spc="-1">
              <a:solidFill>
                <a:srgbClr val="000000"/>
              </a:solidFill>
              <a:latin typeface="メイリオ" panose="020B0604030504040204" pitchFamily="50" charset="-128"/>
              <a:ea typeface="メイリオ" panose="020B0604030504040204" pitchFamily="50" charset="-128"/>
            </a:endParaRPr>
          </a:p>
        </p:txBody>
      </p:sp>
      <p:sp>
        <p:nvSpPr>
          <p:cNvPr id="30" name="Right Arrow 9">
            <a:extLst>
              <a:ext uri="{FF2B5EF4-FFF2-40B4-BE49-F238E27FC236}">
                <a16:creationId xmlns:a16="http://schemas.microsoft.com/office/drawing/2014/main" id="{E511E491-CBEA-6A51-3351-3AB67CE6168D}"/>
              </a:ext>
            </a:extLst>
          </p:cNvPr>
          <p:cNvSpPr/>
          <p:nvPr/>
        </p:nvSpPr>
        <p:spPr>
          <a:xfrm rot="5400000">
            <a:off x="7150608" y="3621024"/>
            <a:ext cx="274320" cy="201168"/>
          </a:xfrm>
          <a:prstGeom prst="rightArrow">
            <a:avLst>
              <a:gd name="adj1" fmla="val 50000"/>
              <a:gd name="adj2" fmla="val 50000"/>
            </a:avLst>
          </a:prstGeom>
          <a:solidFill>
            <a:srgbClr val="9AA1A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8080" rIns="90000" bIns="2808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endParaRPr lang="en-US" sz="1600" b="0" strike="noStrike" spc="-1">
              <a:solidFill>
                <a:schemeClr val="lt1"/>
              </a:solidFill>
              <a:latin typeface="メイリオ" panose="020B0604030504040204" pitchFamily="50" charset="-128"/>
              <a:ea typeface="メイリオ" panose="020B0604030504040204" pitchFamily="50" charset="-128"/>
            </a:endParaRPr>
          </a:p>
        </p:txBody>
      </p:sp>
      <p:sp>
        <p:nvSpPr>
          <p:cNvPr id="31" name="Rounded Rectangle 10">
            <a:extLst>
              <a:ext uri="{FF2B5EF4-FFF2-40B4-BE49-F238E27FC236}">
                <a16:creationId xmlns:a16="http://schemas.microsoft.com/office/drawing/2014/main" id="{BF05E24B-C8E2-ED81-489E-0A7E354F89B3}"/>
              </a:ext>
            </a:extLst>
          </p:cNvPr>
          <p:cNvSpPr/>
          <p:nvPr/>
        </p:nvSpPr>
        <p:spPr>
          <a:xfrm>
            <a:off x="5093208" y="3895344"/>
            <a:ext cx="4389120" cy="804672"/>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r>
              <a:rPr lang="en-US" sz="1500" b="0" strike="noStrike" spc="-1">
                <a:solidFill>
                  <a:srgbClr val="333333"/>
                </a:solidFill>
                <a:latin typeface="メイリオ" panose="020B0604030504040204" pitchFamily="50" charset="-128"/>
                <a:ea typeface="メイリオ" panose="020B0604030504040204" pitchFamily="50" charset="-128"/>
              </a:rPr>
              <a:t>物件のURL・物件名・画像を送るだけで、</a:t>
            </a:r>
            <a:endParaRPr lang="en-US" sz="1500" b="0" strike="noStrike" spc="-1">
              <a:solidFill>
                <a:srgbClr val="000000"/>
              </a:solidFill>
              <a:latin typeface="メイリオ" panose="020B0604030504040204" pitchFamily="50" charset="-128"/>
              <a:ea typeface="メイリオ" panose="020B0604030504040204" pitchFamily="50" charset="-128"/>
            </a:endParaRPr>
          </a:p>
          <a:p>
            <a:pPr algn="ctr">
              <a:lnSpc>
                <a:spcPct val="100000"/>
              </a:lnSpc>
            </a:pPr>
            <a:r>
              <a:rPr lang="en-US" sz="1500" b="0" strike="noStrike" spc="-1">
                <a:solidFill>
                  <a:srgbClr val="333333"/>
                </a:solidFill>
                <a:latin typeface="メイリオ" panose="020B0604030504040204" pitchFamily="50" charset="-128"/>
                <a:ea typeface="メイリオ" panose="020B0604030504040204" pitchFamily="50" charset="-128"/>
              </a:rPr>
              <a:t>空室確認から内見の手配まで</a:t>
            </a:r>
            <a:endParaRPr lang="en-US" sz="1500" b="0" strike="noStrike" spc="-1">
              <a:solidFill>
                <a:srgbClr val="000000"/>
              </a:solidFill>
              <a:latin typeface="メイリオ" panose="020B0604030504040204" pitchFamily="50" charset="-128"/>
              <a:ea typeface="メイリオ" panose="020B0604030504040204" pitchFamily="50" charset="-128"/>
            </a:endParaRPr>
          </a:p>
        </p:txBody>
      </p:sp>
      <p:sp>
        <p:nvSpPr>
          <p:cNvPr id="32" name="Right Arrow 11">
            <a:extLst>
              <a:ext uri="{FF2B5EF4-FFF2-40B4-BE49-F238E27FC236}">
                <a16:creationId xmlns:a16="http://schemas.microsoft.com/office/drawing/2014/main" id="{48B569E4-489C-51C8-663D-44B3897EEAAF}"/>
              </a:ext>
            </a:extLst>
          </p:cNvPr>
          <p:cNvSpPr/>
          <p:nvPr/>
        </p:nvSpPr>
        <p:spPr>
          <a:xfrm rot="5400000">
            <a:off x="7150608" y="4791456"/>
            <a:ext cx="274320" cy="201168"/>
          </a:xfrm>
          <a:prstGeom prst="rightArrow">
            <a:avLst>
              <a:gd name="adj1" fmla="val 50000"/>
              <a:gd name="adj2" fmla="val 50000"/>
            </a:avLst>
          </a:prstGeom>
          <a:solidFill>
            <a:srgbClr val="9AA1A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8080" rIns="90000" bIns="2808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endParaRPr lang="en-US" sz="1600" b="0" strike="noStrike" spc="-1">
              <a:solidFill>
                <a:schemeClr val="lt1"/>
              </a:solidFill>
              <a:latin typeface="メイリオ" panose="020B0604030504040204" pitchFamily="50" charset="-128"/>
              <a:ea typeface="メイリオ" panose="020B0604030504040204" pitchFamily="50" charset="-128"/>
            </a:endParaRPr>
          </a:p>
        </p:txBody>
      </p:sp>
      <p:sp>
        <p:nvSpPr>
          <p:cNvPr id="33" name="Rounded Rectangle 12">
            <a:extLst>
              <a:ext uri="{FF2B5EF4-FFF2-40B4-BE49-F238E27FC236}">
                <a16:creationId xmlns:a16="http://schemas.microsoft.com/office/drawing/2014/main" id="{5FC51B9B-AA21-8F66-E3AB-3462FCD63368}"/>
              </a:ext>
            </a:extLst>
          </p:cNvPr>
          <p:cNvSpPr/>
          <p:nvPr/>
        </p:nvSpPr>
        <p:spPr>
          <a:xfrm>
            <a:off x="5641848" y="5065776"/>
            <a:ext cx="3291839" cy="475488"/>
          </a:xfrm>
          <a:prstGeom prst="roundRect">
            <a:avLst>
              <a:gd name="adj" fmla="val 10000"/>
            </a:avLst>
          </a:prstGeom>
          <a:solidFill>
            <a:srgbClr val="1F2A5C"/>
          </a:solidFill>
          <a:ln w="12700">
            <a:solidFill>
              <a:srgbClr val="1F2A5C"/>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r>
              <a:rPr lang="en-US" sz="1500" b="1" strike="noStrike" spc="-1">
                <a:solidFill>
                  <a:srgbClr val="FFFFFF"/>
                </a:solidFill>
                <a:latin typeface="メイリオ" panose="020B0604030504040204" pitchFamily="50" charset="-128"/>
                <a:ea typeface="メイリオ" panose="020B0604030504040204" pitchFamily="50" charset="-128"/>
              </a:rPr>
              <a:t>LINEの友だち追加</a:t>
            </a:r>
            <a:endParaRPr lang="en-US" sz="1500" b="0" strike="noStrike" spc="-1">
              <a:solidFill>
                <a:srgbClr val="FFFFFF"/>
              </a:solidFill>
              <a:latin typeface="メイリオ" panose="020B0604030504040204" pitchFamily="50" charset="-128"/>
              <a:ea typeface="メイリオ" panose="020B0604030504040204" pitchFamily="50" charset="-128"/>
            </a:endParaRPr>
          </a:p>
        </p:txBody>
      </p:sp>
      <p:sp>
        <p:nvSpPr>
          <p:cNvPr id="45" name="TextBox 18">
            <a:extLst>
              <a:ext uri="{FF2B5EF4-FFF2-40B4-BE49-F238E27FC236}">
                <a16:creationId xmlns:a16="http://schemas.microsoft.com/office/drawing/2014/main" id="{0E624A20-F489-CA81-0820-C9C371152A6C}"/>
              </a:ext>
            </a:extLst>
          </p:cNvPr>
          <p:cNvSpPr/>
          <p:nvPr/>
        </p:nvSpPr>
        <p:spPr>
          <a:xfrm>
            <a:off x="429768" y="5687568"/>
            <a:ext cx="4389120" cy="603504"/>
          </a:xfrm>
          <a:prstGeom prst="rect">
            <a:avLst/>
          </a:prstGeom>
          <a:noFill/>
          <a:ln w="0">
            <a:noFill/>
          </a:ln>
        </p:spPr>
        <p:style>
          <a:lnRef idx="0">
            <a:scrgbClr r="0" g="0" b="0"/>
          </a:lnRef>
          <a:fillRef idx="0">
            <a:scrgbClr r="0" g="0" b="0"/>
          </a:fillRef>
          <a:effectRef idx="0">
            <a:scrgbClr r="0" g="0" b="0"/>
          </a:effectRef>
          <a:fontRef idx="minor"/>
        </p:style>
        <p:txBody>
          <a:bodyPr lIns="45720" tIns="45000" rIns="45720" bIns="45000" anchor="t">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00000"/>
              </a:lnSpc>
            </a:pPr>
            <a:r>
              <a:rPr lang="en-US" sz="1300" b="0" strike="noStrike" spc="-1">
                <a:solidFill>
                  <a:srgbClr val="7F7F7F"/>
                </a:solidFill>
                <a:latin typeface="メイリオ" panose="020B0604030504040204" pitchFamily="50" charset="-128"/>
                <a:ea typeface="メイリオ" panose="020B0604030504040204" pitchFamily="50" charset="-128"/>
              </a:rPr>
              <a:t>※離脱防止ポップアップは、LINE公式アカウントとは別に導入する施策です（初期1.5万円・月3万円）。</a:t>
            </a:r>
            <a:endParaRPr lang="en-US" sz="1300" b="0" strike="noStrike" spc="-1">
              <a:solidFill>
                <a:srgbClr val="000000"/>
              </a:solidFill>
              <a:latin typeface="メイリオ" panose="020B0604030504040204" pitchFamily="50" charset="-128"/>
              <a:ea typeface="メイリオ" panose="020B0604030504040204" pitchFamily="50" charset="-128"/>
            </a:endParaRPr>
          </a:p>
        </p:txBody>
      </p:sp>
      <p:sp>
        <p:nvSpPr>
          <p:cNvPr id="46" name="Rounded Rectangle 7"/>
          <p:cNvSpPr/>
          <p:nvPr/>
        </p:nvSpPr>
        <p:spPr>
          <a:xfrm>
            <a:off x="429768" y="1444752"/>
            <a:ext cx="4389120" cy="475488"/>
          </a:xfrm>
          <a:prstGeom prst="roundRect">
            <a:avLst>
              <a:gd name="adj" fmla="val 10000"/>
            </a:avLst>
          </a:prstGeom>
          <a:solidFill>
            <a:srgbClr val="1F2A5C"/>
          </a:solidFill>
          <a:ln w="12700">
            <a:solidFill>
              <a:srgbClr val="1F2A5C"/>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r>
              <a:rPr lang="en-US" sz="1500" b="1" strike="noStrike" spc="-1">
                <a:solidFill>
                  <a:srgbClr val="FFFFFF"/>
                </a:solidFill>
                <a:latin typeface="メイリオ" panose="020B0604030504040204" pitchFamily="50" charset="-128"/>
                <a:ea typeface="メイリオ" panose="020B0604030504040204" pitchFamily="50" charset="-128"/>
              </a:rPr>
              <a:t>① 離脱防止ポップアップ</a:t>
            </a:r>
            <a:endParaRPr lang="en-US" sz="1500" b="0" strike="noStrike" spc="-1">
              <a:solidFill>
                <a:srgbClr val="FFFFFF"/>
              </a:solidFill>
              <a:latin typeface="メイリオ" panose="020B0604030504040204" pitchFamily="50" charset="-128"/>
              <a:ea typeface="メイリオ" panose="020B0604030504040204" pitchFamily="50" charset="-128"/>
            </a:endParaRPr>
          </a:p>
        </p:txBody>
      </p:sp>
      <p:sp>
        <p:nvSpPr>
          <p:cNvPr id="47" name="Rounded Rectangle 7"/>
          <p:cNvSpPr/>
          <p:nvPr/>
        </p:nvSpPr>
        <p:spPr>
          <a:xfrm>
            <a:off x="5093208" y="1444752"/>
            <a:ext cx="4389120" cy="475488"/>
          </a:xfrm>
          <a:prstGeom prst="roundRect">
            <a:avLst>
              <a:gd name="adj" fmla="val 10000"/>
            </a:avLst>
          </a:prstGeom>
          <a:solidFill>
            <a:srgbClr val="4A6FA5"/>
          </a:solidFill>
          <a:ln w="12700">
            <a:solidFill>
              <a:srgbClr val="4A6FA5"/>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r>
              <a:rPr lang="en-US" sz="1500" b="1" strike="noStrike" spc="-1">
                <a:solidFill>
                  <a:srgbClr val="FFFFFF"/>
                </a:solidFill>
                <a:latin typeface="メイリオ" panose="020B0604030504040204" pitchFamily="50" charset="-128"/>
                <a:ea typeface="メイリオ" panose="020B0604030504040204" pitchFamily="50" charset="-128"/>
              </a:rPr>
              <a:t>② サイト内の「LINEでお問い合わせ」ボタン</a:t>
            </a:r>
            <a:endParaRPr lang="en-US" sz="1500" b="0" strike="noStrike" spc="-1">
              <a:solidFill>
                <a:srgbClr val="FFFFFF"/>
              </a:solidFill>
              <a:latin typeface="メイリオ" panose="020B0604030504040204" pitchFamily="50" charset="-128"/>
              <a:ea typeface="メイリオ" panose="020B0604030504040204" pitchFamily="50" charset="-128"/>
            </a:endParaRPr>
          </a:p>
        </p:txBody>
      </p:sp>
      <p:sp>
        <p:nvSpPr>
          <p:cNvPr id="48" name="TextBox 2"/>
          <p:cNvSpPr/>
          <p:nvPr/>
        </p:nvSpPr>
        <p:spPr>
          <a:xfrm>
            <a:off x="429768" y="1993392"/>
            <a:ext cx="4389120" cy="640080"/>
          </a:xfrm>
          <a:prstGeom prst="rect">
            <a:avLst/>
          </a:prstGeom>
          <a:noFill/>
          <a:ln w="0">
            <a:noFill/>
          </a:ln>
        </p:spPr>
        <p:style>
          <a:lnRef idx="0">
            <a:scrgbClr r="0" g="0" b="0"/>
          </a:lnRef>
          <a:fillRef idx="0">
            <a:scrgbClr r="0" g="0" b="0"/>
          </a:fillRef>
          <a:effectRef idx="0">
            <a:scrgbClr r="0" g="0" b="0"/>
          </a:effectRef>
          <a:fontRef idx="minor"/>
        </p:style>
        <p:txBody>
          <a:bodyPr lIns="45720" tIns="45000" rIns="45720" bIns="45000" anchor="ctr">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00000"/>
              </a:lnSpc>
            </a:pPr>
            <a:r>
              <a:rPr lang="zh-CN" sz="1400" b="1" strike="noStrike" spc="-1">
                <a:solidFill>
                  <a:srgbClr val="5A6378"/>
                </a:solidFill>
                <a:latin typeface="メイリオ" panose="020B0604030504040204" pitchFamily="50" charset="-128"/>
                <a:ea typeface="メイリオ" panose="020B0604030504040204" pitchFamily="50" charset="-128"/>
              </a:rPr>
              <a:t>役割：</a:t>
            </a:r>
            <a:r>
              <a:rPr lang="zh-CN" sz="1400" b="0" strike="noStrike" spc="-1">
                <a:solidFill>
                  <a:srgbClr val="5A6378"/>
                </a:solidFill>
                <a:latin typeface="メイリオ" panose="020B0604030504040204" pitchFamily="50" charset="-128"/>
                <a:ea typeface="メイリオ" panose="020B0604030504040204" pitchFamily="50" charset="-128"/>
              </a:rPr>
              <a:t>サイトを離れようとした方を引き留め、LINEの友だち追加につなげる</a:t>
            </a:r>
            <a:endParaRPr lang="en-US" sz="1400" b="0" strike="noStrike" spc="-1">
              <a:solidFill>
                <a:srgbClr val="000000"/>
              </a:solidFill>
              <a:latin typeface="メイリオ" panose="020B0604030504040204" pitchFamily="50" charset="-128"/>
              <a:ea typeface="メイリオ" panose="020B0604030504040204" pitchFamily="50" charset="-128"/>
            </a:endParaRPr>
          </a:p>
        </p:txBody>
      </p:sp>
      <p:sp>
        <p:nvSpPr>
          <p:cNvPr id="49" name="TextBox 2"/>
          <p:cNvSpPr/>
          <p:nvPr/>
        </p:nvSpPr>
        <p:spPr>
          <a:xfrm>
            <a:off x="5093208" y="1993392"/>
            <a:ext cx="4389120" cy="640080"/>
          </a:xfrm>
          <a:prstGeom prst="rect">
            <a:avLst/>
          </a:prstGeom>
          <a:noFill/>
          <a:ln w="0">
            <a:noFill/>
          </a:ln>
        </p:spPr>
        <p:style>
          <a:lnRef idx="0">
            <a:scrgbClr r="0" g="0" b="0"/>
          </a:lnRef>
          <a:fillRef idx="0">
            <a:scrgbClr r="0" g="0" b="0"/>
          </a:fillRef>
          <a:effectRef idx="0">
            <a:scrgbClr r="0" g="0" b="0"/>
          </a:effectRef>
          <a:fontRef idx="minor"/>
        </p:style>
        <p:txBody>
          <a:bodyPr lIns="45720" tIns="45000" rIns="45720" bIns="45000" anchor="ctr">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00000"/>
              </a:lnSpc>
            </a:pPr>
            <a:r>
              <a:rPr lang="zh-CN" sz="1400" b="1" strike="noStrike" spc="-1">
                <a:solidFill>
                  <a:srgbClr val="5A6378"/>
                </a:solidFill>
                <a:latin typeface="メイリオ" panose="020B0604030504040204" pitchFamily="50" charset="-128"/>
                <a:ea typeface="メイリオ" panose="020B0604030504040204" pitchFamily="50" charset="-128"/>
              </a:rPr>
              <a:t>役割：</a:t>
            </a:r>
            <a:r>
              <a:rPr lang="zh-CN" sz="1400" b="0" strike="noStrike" spc="-1">
                <a:solidFill>
                  <a:srgbClr val="5A6378"/>
                </a:solidFill>
                <a:latin typeface="メイリオ" panose="020B0604030504040204" pitchFamily="50" charset="-128"/>
                <a:ea typeface="メイリオ" panose="020B0604030504040204" pitchFamily="50" charset="-128"/>
              </a:rPr>
              <a:t>問い合わせを考えている方を、LINEの友だち追加につなげる</a:t>
            </a:r>
            <a:endParaRPr lang="en-US" sz="1400" b="0" strike="noStrike" spc="-1">
              <a:solidFill>
                <a:srgbClr val="000000"/>
              </a:solidFill>
              <a:latin typeface="メイリオ" panose="020B0604030504040204" pitchFamily="50" charset="-128"/>
              <a:ea typeface="メイリオ" panose="020B0604030504040204" pitchFamily="50" charset="-128"/>
            </a:endParaRPr>
          </a:p>
        </p:txBody>
      </p:sp>
      <p:sp>
        <p:nvSpPr>
          <p:cNvPr id="50" name="TextBox 18"/>
          <p:cNvSpPr/>
          <p:nvPr/>
        </p:nvSpPr>
        <p:spPr>
          <a:xfrm>
            <a:off x="5093208" y="5687568"/>
            <a:ext cx="4389120" cy="603504"/>
          </a:xfrm>
          <a:prstGeom prst="rect">
            <a:avLst/>
          </a:prstGeom>
          <a:noFill/>
          <a:ln w="0">
            <a:noFill/>
          </a:ln>
        </p:spPr>
        <p:style>
          <a:lnRef idx="0">
            <a:scrgbClr r="0" g="0" b="0"/>
          </a:lnRef>
          <a:fillRef idx="0">
            <a:scrgbClr r="0" g="0" b="0"/>
          </a:fillRef>
          <a:effectRef idx="0">
            <a:scrgbClr r="0" g="0" b="0"/>
          </a:effectRef>
          <a:fontRef idx="minor"/>
        </p:style>
        <p:txBody>
          <a:bodyPr lIns="45720" tIns="45000" rIns="45720" bIns="45000" anchor="t">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00000"/>
              </a:lnSpc>
            </a:pPr>
            <a:r>
              <a:rPr lang="en-US" sz="1300" b="0" strike="noStrike" spc="-1">
                <a:solidFill>
                  <a:srgbClr val="7F7F7F"/>
                </a:solidFill>
                <a:latin typeface="メイリオ" panose="020B0604030504040204" pitchFamily="50" charset="-128"/>
                <a:ea typeface="メイリオ" panose="020B0604030504040204" pitchFamily="50" charset="-128"/>
              </a:rPr>
              <a:t>※サイトのボタンは、リンク先を友だち追加用のURLに変更します。</a:t>
            </a:r>
            <a:endParaRPr lang="en-US" sz="1300" b="0" strike="noStrike" spc="-1">
              <a:solidFill>
                <a:srgbClr val="000000"/>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7346628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角丸四角形 6"/>
          <p:cNvSpPr/>
          <p:nvPr/>
        </p:nvSpPr>
        <p:spPr>
          <a:xfrm>
            <a:off x="3459839" y="1776142"/>
            <a:ext cx="2986322" cy="4471347"/>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8" name="角丸四角形 7"/>
          <p:cNvSpPr/>
          <p:nvPr/>
        </p:nvSpPr>
        <p:spPr>
          <a:xfrm>
            <a:off x="256642" y="1776143"/>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9" name="角丸四角形 8"/>
          <p:cNvSpPr/>
          <p:nvPr/>
        </p:nvSpPr>
        <p:spPr>
          <a:xfrm>
            <a:off x="6663036" y="1776142"/>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11" name="Google Shape;178;p7"/>
          <p:cNvSpPr txBox="1"/>
          <p:nvPr/>
        </p:nvSpPr>
        <p:spPr>
          <a:xfrm>
            <a:off x="592643" y="1940375"/>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離脱防止バナー</a:t>
            </a:r>
            <a:endParaRPr lang="en-US" altLang="ja-JP" sz="2000" b="1" dirty="0">
              <a:solidFill>
                <a:srgbClr val="002060"/>
              </a:solidFill>
              <a:latin typeface="Meiryo"/>
              <a:ea typeface="Meiryo"/>
              <a:cs typeface="Meiryo"/>
              <a:sym typeface="Meiryo"/>
            </a:endParaRPr>
          </a:p>
        </p:txBody>
      </p:sp>
      <p:sp>
        <p:nvSpPr>
          <p:cNvPr id="13" name="Google Shape;178;p7"/>
          <p:cNvSpPr txBox="1"/>
          <p:nvPr/>
        </p:nvSpPr>
        <p:spPr>
          <a:xfrm>
            <a:off x="3795840" y="1940375"/>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Meiryo"/>
                <a:ea typeface="Meiryo"/>
                <a:cs typeface="Meiryo"/>
                <a:sym typeface="Meiryo"/>
              </a:rPr>
              <a:t>CPF</a:t>
            </a:r>
            <a:r>
              <a:rPr lang="ja-JP" altLang="en-US" sz="2000" b="1" dirty="0">
                <a:solidFill>
                  <a:srgbClr val="002060"/>
                </a:solidFill>
                <a:latin typeface="Meiryo"/>
                <a:ea typeface="Meiryo"/>
                <a:cs typeface="Meiryo"/>
                <a:sym typeface="Meiryo"/>
              </a:rPr>
              <a:t>広告</a:t>
            </a:r>
            <a:endParaRPr lang="en-US" altLang="ja-JP" sz="2000" b="1" dirty="0">
              <a:solidFill>
                <a:srgbClr val="002060"/>
              </a:solidFill>
              <a:latin typeface="Meiryo"/>
              <a:ea typeface="Meiryo"/>
              <a:cs typeface="Meiryo"/>
              <a:sym typeface="Meiryo"/>
            </a:endParaRPr>
          </a:p>
        </p:txBody>
      </p:sp>
      <p:sp>
        <p:nvSpPr>
          <p:cNvPr id="14" name="Google Shape;178;p7"/>
          <p:cNvSpPr txBox="1"/>
          <p:nvPr/>
        </p:nvSpPr>
        <p:spPr>
          <a:xfrm>
            <a:off x="6756033" y="1949959"/>
            <a:ext cx="2800326" cy="76772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サンクス</a:t>
            </a:r>
            <a:r>
              <a:rPr lang="en-US" altLang="ja-JP" sz="2000" b="1" dirty="0">
                <a:solidFill>
                  <a:srgbClr val="002060"/>
                </a:solidFill>
                <a:latin typeface="Meiryo"/>
                <a:ea typeface="Meiryo"/>
                <a:cs typeface="Meiryo"/>
                <a:sym typeface="Meiryo"/>
              </a:rPr>
              <a:t>LINE</a:t>
            </a:r>
            <a:r>
              <a:rPr lang="ja-JP" altLang="en-US" sz="2000" b="1" dirty="0">
                <a:solidFill>
                  <a:srgbClr val="002060"/>
                </a:solidFill>
                <a:latin typeface="Meiryo"/>
                <a:ea typeface="Meiryo"/>
                <a:cs typeface="Meiryo"/>
                <a:sym typeface="Meiryo"/>
              </a:rPr>
              <a:t>誘導</a:t>
            </a:r>
            <a:endParaRPr lang="en-US" altLang="ja-JP" sz="2000" b="1" dirty="0">
              <a:solidFill>
                <a:srgbClr val="002060"/>
              </a:solidFill>
              <a:latin typeface="Meiryo"/>
              <a:ea typeface="Meiryo"/>
              <a:cs typeface="Meiryo"/>
              <a:sym typeface="Meiryo"/>
            </a:endParaRPr>
          </a:p>
        </p:txBody>
      </p:sp>
      <p:sp>
        <p:nvSpPr>
          <p:cNvPr id="16" name="Google Shape;178;p7"/>
          <p:cNvSpPr txBox="1"/>
          <p:nvPr/>
        </p:nvSpPr>
        <p:spPr>
          <a:xfrm>
            <a:off x="92849" y="5014843"/>
            <a:ext cx="2067109"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Meiryo"/>
                <a:ea typeface="Meiryo"/>
                <a:cs typeface="Meiryo"/>
                <a:sym typeface="Meiryo"/>
              </a:rPr>
              <a:t>事例：車買取</a:t>
            </a:r>
            <a:endParaRPr lang="en-US" altLang="ja-JP" sz="1400" dirty="0">
              <a:solidFill>
                <a:schemeClr val="tx1">
                  <a:lumMod val="50000"/>
                  <a:lumOff val="50000"/>
                </a:schemeClr>
              </a:solidFill>
              <a:latin typeface="Meiryo"/>
              <a:ea typeface="Meiryo"/>
              <a:cs typeface="Meiryo"/>
              <a:sym typeface="Meiryo"/>
            </a:endParaRPr>
          </a:p>
        </p:txBody>
      </p:sp>
      <p:pic>
        <p:nvPicPr>
          <p:cNvPr id="2" name="図 1"/>
          <p:cNvPicPr>
            <a:picLocks noChangeAspect="1"/>
          </p:cNvPicPr>
          <p:nvPr/>
        </p:nvPicPr>
        <p:blipFill rotWithShape="1">
          <a:blip r:embed="rId2" cstate="print">
            <a:extLst>
              <a:ext uri="{28A0092B-C50C-407E-A947-70E740481C1C}">
                <a14:useLocalDpi xmlns:a14="http://schemas.microsoft.com/office/drawing/2010/main" val="0"/>
              </a:ext>
            </a:extLst>
          </a:blip>
          <a:srcRect t="34585" b="34763"/>
          <a:stretch/>
        </p:blipFill>
        <p:spPr>
          <a:xfrm>
            <a:off x="314053" y="2324099"/>
            <a:ext cx="2871498" cy="1564723"/>
          </a:xfrm>
          <a:prstGeom prst="rect">
            <a:avLst/>
          </a:prstGeom>
        </p:spPr>
      </p:pic>
      <p:sp>
        <p:nvSpPr>
          <p:cNvPr id="17" name="Google Shape;178;p7"/>
          <p:cNvSpPr txBox="1"/>
          <p:nvPr/>
        </p:nvSpPr>
        <p:spPr>
          <a:xfrm>
            <a:off x="-80913" y="4068767"/>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Meiryo"/>
                <a:ea typeface="Meiryo"/>
                <a:cs typeface="Meiryo"/>
                <a:sym typeface="Meiryo"/>
              </a:rPr>
              <a:t>興味はあるが利用まで</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至らなかったユーザーを</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友だちとして囲い込む。</a:t>
            </a:r>
            <a:endParaRPr lang="en-US" altLang="ja-JP" sz="1400" dirty="0">
              <a:latin typeface="Meiryo"/>
              <a:ea typeface="Meiryo"/>
              <a:cs typeface="Meiryo"/>
              <a:sym typeface="Meiryo"/>
            </a:endParaRPr>
          </a:p>
        </p:txBody>
      </p:sp>
      <p:sp>
        <p:nvSpPr>
          <p:cNvPr id="19" name="Google Shape;178;p7"/>
          <p:cNvSpPr txBox="1"/>
          <p:nvPr/>
        </p:nvSpPr>
        <p:spPr>
          <a:xfrm>
            <a:off x="3161410" y="405305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1400" dirty="0">
                <a:latin typeface="Meiryo"/>
                <a:ea typeface="Meiryo"/>
                <a:cs typeface="Meiryo"/>
                <a:sym typeface="Meiryo"/>
              </a:rPr>
              <a:t>CPF</a:t>
            </a:r>
            <a:r>
              <a:rPr lang="ja-JP" altLang="en-US" sz="1400" dirty="0">
                <a:latin typeface="Meiryo"/>
                <a:ea typeface="Meiryo"/>
                <a:cs typeface="Meiryo"/>
                <a:sym typeface="Meiryo"/>
              </a:rPr>
              <a:t>約</a:t>
            </a:r>
            <a:r>
              <a:rPr lang="en-US" altLang="ja-JP" sz="1400" dirty="0">
                <a:latin typeface="Meiryo"/>
                <a:ea typeface="Meiryo"/>
                <a:cs typeface="Meiryo"/>
                <a:sym typeface="Meiryo"/>
              </a:rPr>
              <a:t>100-200</a:t>
            </a:r>
            <a:r>
              <a:rPr lang="ja-JP" altLang="en-US" sz="1400" dirty="0">
                <a:latin typeface="Meiryo"/>
                <a:ea typeface="Meiryo"/>
                <a:cs typeface="Meiryo"/>
                <a:sym typeface="Meiryo"/>
              </a:rPr>
              <a:t>円台。</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かなり安価かつ成果報酬で</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友だちを増やす広告。</a:t>
            </a:r>
            <a:endParaRPr lang="en-US" altLang="ja-JP" sz="1400" dirty="0">
              <a:latin typeface="Meiryo"/>
              <a:ea typeface="Meiryo"/>
              <a:cs typeface="Meiryo"/>
              <a:sym typeface="Meiryo"/>
            </a:endParaRPr>
          </a:p>
        </p:txBody>
      </p:sp>
      <p:sp>
        <p:nvSpPr>
          <p:cNvPr id="20" name="Google Shape;178;p7"/>
          <p:cNvSpPr txBox="1"/>
          <p:nvPr/>
        </p:nvSpPr>
        <p:spPr>
          <a:xfrm>
            <a:off x="3242964"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Meiryo"/>
                <a:ea typeface="Meiryo"/>
                <a:cs typeface="Meiryo"/>
                <a:sym typeface="Meiryo"/>
              </a:rPr>
              <a:t>事例：アパレル</a:t>
            </a:r>
            <a:endParaRPr lang="en-US" altLang="ja-JP" sz="1400" dirty="0">
              <a:solidFill>
                <a:schemeClr val="tx1">
                  <a:lumMod val="50000"/>
                  <a:lumOff val="50000"/>
                </a:schemeClr>
              </a:solidFill>
              <a:latin typeface="Meiryo"/>
              <a:ea typeface="Meiryo"/>
              <a:cs typeface="Meiryo"/>
              <a:sym typeface="Meiryo"/>
            </a:endParaRPr>
          </a:p>
        </p:txBody>
      </p:sp>
      <p:sp>
        <p:nvSpPr>
          <p:cNvPr id="21" name="Google Shape;178;p7"/>
          <p:cNvSpPr txBox="1"/>
          <p:nvPr/>
        </p:nvSpPr>
        <p:spPr>
          <a:xfrm>
            <a:off x="3639325" y="5328640"/>
            <a:ext cx="2795420"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1</a:t>
            </a:r>
            <a:r>
              <a:rPr lang="ja-JP" altLang="en-US" sz="1200" dirty="0">
                <a:solidFill>
                  <a:schemeClr val="tx1">
                    <a:lumMod val="50000"/>
                    <a:lumOff val="50000"/>
                  </a:schemeClr>
                </a:solidFill>
                <a:latin typeface="Meiryo"/>
                <a:ea typeface="Meiryo"/>
                <a:cs typeface="Meiryo"/>
                <a:sym typeface="Meiryo"/>
              </a:rPr>
              <a:t>人あたり</a:t>
            </a:r>
            <a:r>
              <a:rPr lang="en-US" altLang="ja-JP" sz="1200" dirty="0">
                <a:solidFill>
                  <a:schemeClr val="tx1">
                    <a:lumMod val="50000"/>
                    <a:lumOff val="50000"/>
                  </a:schemeClr>
                </a:solidFill>
                <a:latin typeface="Meiryo"/>
                <a:ea typeface="Meiryo"/>
                <a:cs typeface="Meiryo"/>
                <a:sym typeface="Meiryo"/>
              </a:rPr>
              <a:t>50</a:t>
            </a:r>
            <a:r>
              <a:rPr lang="ja-JP" altLang="en-US" sz="1200" dirty="0">
                <a:solidFill>
                  <a:schemeClr val="tx1">
                    <a:lumMod val="50000"/>
                    <a:lumOff val="50000"/>
                  </a:schemeClr>
                </a:solidFill>
                <a:latin typeface="Meiryo"/>
                <a:ea typeface="Meiryo"/>
                <a:cs typeface="Meiryo"/>
                <a:sym typeface="Meiryo"/>
              </a:rPr>
              <a:t>円で友だち獲得</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LINE</a:t>
            </a:r>
            <a:r>
              <a:rPr lang="ja-JP" altLang="en-US" sz="1200" dirty="0">
                <a:solidFill>
                  <a:schemeClr val="tx1">
                    <a:lumMod val="50000"/>
                    <a:lumOff val="50000"/>
                  </a:schemeClr>
                </a:solidFill>
                <a:latin typeface="Meiryo"/>
                <a:ea typeface="Meiryo"/>
                <a:cs typeface="Meiryo"/>
                <a:sym typeface="Meiryo"/>
              </a:rPr>
              <a:t>経由の購入</a:t>
            </a:r>
            <a:r>
              <a:rPr lang="en-US" altLang="ja-JP" sz="1200" dirty="0">
                <a:solidFill>
                  <a:schemeClr val="tx1">
                    <a:lumMod val="50000"/>
                    <a:lumOff val="50000"/>
                  </a:schemeClr>
                </a:solidFill>
                <a:latin typeface="Meiryo"/>
                <a:ea typeface="Meiryo"/>
                <a:cs typeface="Meiryo"/>
                <a:sym typeface="Meiryo"/>
              </a:rPr>
              <a:t>1.5</a:t>
            </a:r>
            <a:r>
              <a:rPr lang="ja-JP" altLang="en-US" sz="1200" dirty="0">
                <a:solidFill>
                  <a:schemeClr val="tx1">
                    <a:lumMod val="50000"/>
                    <a:lumOff val="50000"/>
                  </a:schemeClr>
                </a:solidFill>
                <a:latin typeface="Meiryo"/>
                <a:ea typeface="Meiryo"/>
                <a:cs typeface="Meiryo"/>
                <a:sym typeface="Meiryo"/>
              </a:rPr>
              <a:t>倍</a:t>
            </a:r>
            <a:endParaRPr lang="en-US" altLang="ja-JP" sz="1200" dirty="0">
              <a:solidFill>
                <a:schemeClr val="tx1">
                  <a:lumMod val="50000"/>
                  <a:lumOff val="50000"/>
                </a:schemeClr>
              </a:solidFill>
              <a:latin typeface="Meiryo"/>
              <a:ea typeface="Meiryo"/>
              <a:cs typeface="Meiryo"/>
              <a:sym typeface="Meiryo"/>
            </a:endParaRPr>
          </a:p>
        </p:txBody>
      </p:sp>
      <p:sp>
        <p:nvSpPr>
          <p:cNvPr id="22" name="Google Shape;178;p7"/>
          <p:cNvSpPr txBox="1"/>
          <p:nvPr/>
        </p:nvSpPr>
        <p:spPr>
          <a:xfrm>
            <a:off x="6434745" y="406876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Meiryo"/>
                <a:ea typeface="Meiryo"/>
                <a:cs typeface="Meiryo"/>
                <a:sym typeface="Meiryo"/>
              </a:rPr>
              <a:t>サンクスページに到達した</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ユーザーを自動で</a:t>
            </a:r>
            <a:r>
              <a:rPr lang="en-US" altLang="ja-JP" sz="1400" dirty="0">
                <a:latin typeface="Meiryo"/>
                <a:ea typeface="Meiryo"/>
                <a:cs typeface="Meiryo"/>
                <a:sym typeface="Meiryo"/>
              </a:rPr>
              <a:t>LINE</a:t>
            </a:r>
            <a:r>
              <a:rPr lang="ja-JP" altLang="en-US" sz="1400" dirty="0">
                <a:latin typeface="Meiryo"/>
                <a:ea typeface="Meiryo"/>
                <a:cs typeface="Meiryo"/>
                <a:sym typeface="Meiryo"/>
              </a:rPr>
              <a:t>に誘導。</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友だち追加、追客に活用可能。</a:t>
            </a:r>
            <a:endParaRPr lang="en-US" altLang="ja-JP" sz="1400" dirty="0">
              <a:latin typeface="Meiryo"/>
              <a:ea typeface="Meiryo"/>
              <a:cs typeface="Meiryo"/>
              <a:sym typeface="Meiryo"/>
            </a:endParaRPr>
          </a:p>
        </p:txBody>
      </p:sp>
      <p:sp>
        <p:nvSpPr>
          <p:cNvPr id="23" name="Google Shape;178;p7"/>
          <p:cNvSpPr txBox="1"/>
          <p:nvPr/>
        </p:nvSpPr>
        <p:spPr>
          <a:xfrm>
            <a:off x="6434745"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Meiryo"/>
                <a:ea typeface="Meiryo"/>
                <a:cs typeface="Meiryo"/>
                <a:sym typeface="Meiryo"/>
              </a:rPr>
              <a:t>事例：美容医療</a:t>
            </a:r>
            <a:endParaRPr lang="en-US" altLang="ja-JP" sz="1400" dirty="0">
              <a:solidFill>
                <a:schemeClr val="tx1">
                  <a:lumMod val="50000"/>
                  <a:lumOff val="50000"/>
                </a:schemeClr>
              </a:solidFill>
              <a:latin typeface="Meiryo"/>
              <a:ea typeface="Meiryo"/>
              <a:cs typeface="Meiryo"/>
              <a:sym typeface="Meiryo"/>
            </a:endParaRPr>
          </a:p>
        </p:txBody>
      </p:sp>
      <p:pic>
        <p:nvPicPr>
          <p:cNvPr id="4" name="図 3"/>
          <p:cNvPicPr>
            <a:picLocks noChangeAspect="1"/>
          </p:cNvPicPr>
          <p:nvPr/>
        </p:nvPicPr>
        <p:blipFill>
          <a:blip r:embed="rId3"/>
          <a:stretch>
            <a:fillRect/>
          </a:stretch>
        </p:blipFill>
        <p:spPr>
          <a:xfrm>
            <a:off x="3639325" y="2409907"/>
            <a:ext cx="2627350" cy="1492812"/>
          </a:xfrm>
          <a:prstGeom prst="rect">
            <a:avLst/>
          </a:prstGeom>
        </p:spPr>
      </p:pic>
      <p:sp>
        <p:nvSpPr>
          <p:cNvPr id="24" name="Google Shape;178;p7"/>
          <p:cNvSpPr txBox="1"/>
          <p:nvPr/>
        </p:nvSpPr>
        <p:spPr>
          <a:xfrm>
            <a:off x="440374" y="5328640"/>
            <a:ext cx="2752048" cy="890835"/>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LP</a:t>
            </a:r>
            <a:r>
              <a:rPr lang="ja-JP" altLang="en-US" sz="1200" dirty="0">
                <a:solidFill>
                  <a:schemeClr val="tx1">
                    <a:lumMod val="50000"/>
                    <a:lumOff val="50000"/>
                  </a:schemeClr>
                </a:solidFill>
                <a:latin typeface="Meiryo"/>
                <a:ea typeface="Meiryo"/>
                <a:cs typeface="Meiryo"/>
                <a:sym typeface="Meiryo"/>
              </a:rPr>
              <a:t>離脱ユーザーに対して</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LINE</a:t>
            </a:r>
            <a:r>
              <a:rPr lang="ja-JP" altLang="en-US" sz="1200" dirty="0">
                <a:solidFill>
                  <a:schemeClr val="tx1">
                    <a:lumMod val="50000"/>
                    <a:lumOff val="50000"/>
                  </a:schemeClr>
                </a:solidFill>
                <a:latin typeface="Meiryo"/>
                <a:ea typeface="Meiryo"/>
                <a:cs typeface="Meiryo"/>
                <a:sym typeface="Meiryo"/>
              </a:rPr>
              <a:t>誘導を実施。</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LINE</a:t>
            </a:r>
            <a:r>
              <a:rPr lang="ja-JP" altLang="en-US" sz="1200" dirty="0">
                <a:solidFill>
                  <a:schemeClr val="tx1">
                    <a:lumMod val="50000"/>
                    <a:lumOff val="50000"/>
                  </a:schemeClr>
                </a:solidFill>
                <a:latin typeface="Meiryo"/>
                <a:ea typeface="Meiryo"/>
                <a:cs typeface="Meiryo"/>
                <a:sym typeface="Meiryo"/>
              </a:rPr>
              <a:t>追加から</a:t>
            </a:r>
            <a:r>
              <a:rPr lang="en-US" altLang="ja-JP" sz="1200" dirty="0">
                <a:solidFill>
                  <a:schemeClr val="tx1">
                    <a:lumMod val="50000"/>
                    <a:lumOff val="50000"/>
                  </a:schemeClr>
                </a:solidFill>
                <a:latin typeface="Meiryo"/>
                <a:ea typeface="Meiryo"/>
                <a:cs typeface="Meiryo"/>
                <a:sym typeface="Meiryo"/>
              </a:rPr>
              <a:t>20</a:t>
            </a:r>
            <a:r>
              <a:rPr lang="ja-JP" altLang="en-US" sz="1200" dirty="0">
                <a:solidFill>
                  <a:schemeClr val="tx1">
                    <a:lumMod val="50000"/>
                    <a:lumOff val="50000"/>
                  </a:schemeClr>
                </a:solidFill>
                <a:latin typeface="Meiryo"/>
                <a:ea typeface="Meiryo"/>
                <a:cs typeface="Meiryo"/>
                <a:sym typeface="Meiryo"/>
              </a:rPr>
              <a:t>％が</a:t>
            </a:r>
            <a:r>
              <a:rPr lang="en-US" altLang="ja-JP" sz="1200" dirty="0">
                <a:solidFill>
                  <a:schemeClr val="tx1">
                    <a:lumMod val="50000"/>
                    <a:lumOff val="50000"/>
                  </a:schemeClr>
                </a:solidFill>
                <a:latin typeface="Meiryo"/>
                <a:ea typeface="Meiryo"/>
                <a:cs typeface="Meiryo"/>
                <a:sym typeface="Meiryo"/>
              </a:rPr>
              <a:t>CV</a:t>
            </a:r>
          </a:p>
          <a:p>
            <a:pPr lvl="0">
              <a:buClr>
                <a:schemeClr val="dk1"/>
              </a:buClr>
              <a:buSzPts val="1500"/>
            </a:pPr>
            <a:endParaRPr lang="en-US" altLang="ja-JP" sz="1200" dirty="0">
              <a:solidFill>
                <a:schemeClr val="tx1">
                  <a:lumMod val="50000"/>
                  <a:lumOff val="50000"/>
                </a:schemeClr>
              </a:solidFill>
              <a:latin typeface="Meiryo"/>
              <a:ea typeface="Meiryo"/>
              <a:cs typeface="Meiryo"/>
              <a:sym typeface="Meiryo"/>
            </a:endParaRPr>
          </a:p>
        </p:txBody>
      </p:sp>
      <p:sp>
        <p:nvSpPr>
          <p:cNvPr id="25" name="Google Shape;178;p7"/>
          <p:cNvSpPr txBox="1"/>
          <p:nvPr/>
        </p:nvSpPr>
        <p:spPr>
          <a:xfrm>
            <a:off x="6825208" y="5328640"/>
            <a:ext cx="2851751"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ja-JP" altLang="en-US" sz="1200" dirty="0">
                <a:solidFill>
                  <a:schemeClr val="tx1">
                    <a:lumMod val="50000"/>
                    <a:lumOff val="50000"/>
                  </a:schemeClr>
                </a:solidFill>
                <a:latin typeface="Meiryo"/>
                <a:ea typeface="Meiryo"/>
                <a:cs typeface="Meiryo"/>
                <a:sym typeface="Meiryo"/>
              </a:rPr>
              <a:t>導入後友だち増加数が</a:t>
            </a:r>
            <a:r>
              <a:rPr lang="en-US" altLang="ja-JP" sz="1200" dirty="0">
                <a:solidFill>
                  <a:schemeClr val="tx1">
                    <a:lumMod val="50000"/>
                    <a:lumOff val="50000"/>
                  </a:schemeClr>
                </a:solidFill>
                <a:latin typeface="Meiryo"/>
                <a:ea typeface="Meiryo"/>
                <a:cs typeface="Meiryo"/>
                <a:sym typeface="Meiryo"/>
              </a:rPr>
              <a:t>1.5</a:t>
            </a:r>
            <a:r>
              <a:rPr lang="ja-JP" altLang="en-US" sz="1200" dirty="0">
                <a:solidFill>
                  <a:schemeClr val="tx1">
                    <a:lumMod val="50000"/>
                    <a:lumOff val="50000"/>
                  </a:schemeClr>
                </a:solidFill>
                <a:latin typeface="Meiryo"/>
                <a:ea typeface="Meiryo"/>
                <a:cs typeface="Meiryo"/>
                <a:sym typeface="Meiryo"/>
              </a:rPr>
              <a:t>倍に。</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ja-JP" altLang="en-US" sz="1200" dirty="0">
                <a:solidFill>
                  <a:schemeClr val="tx1">
                    <a:lumMod val="50000"/>
                    <a:lumOff val="50000"/>
                  </a:schemeClr>
                </a:solidFill>
                <a:latin typeface="Meiryo"/>
                <a:ea typeface="Meiryo"/>
                <a:cs typeface="Meiryo"/>
                <a:sym typeface="Meiryo"/>
              </a:rPr>
              <a:t>実反響率も</a:t>
            </a:r>
            <a:r>
              <a:rPr lang="en-US" altLang="ja-JP" sz="1200" dirty="0">
                <a:solidFill>
                  <a:schemeClr val="tx1">
                    <a:lumMod val="50000"/>
                    <a:lumOff val="50000"/>
                  </a:schemeClr>
                </a:solidFill>
                <a:latin typeface="Meiryo"/>
                <a:ea typeface="Meiryo"/>
                <a:cs typeface="Meiryo"/>
                <a:sym typeface="Meiryo"/>
              </a:rPr>
              <a:t>40%</a:t>
            </a:r>
            <a:r>
              <a:rPr lang="ja-JP" altLang="en-US" sz="1200" dirty="0">
                <a:solidFill>
                  <a:schemeClr val="tx1">
                    <a:lumMod val="50000"/>
                    <a:lumOff val="50000"/>
                  </a:schemeClr>
                </a:solidFill>
                <a:latin typeface="Meiryo"/>
                <a:ea typeface="Meiryo"/>
                <a:cs typeface="Meiryo"/>
                <a:sym typeface="Meiryo"/>
              </a:rPr>
              <a:t>程度改善。</a:t>
            </a:r>
            <a:endParaRPr lang="en-US" altLang="ja-JP" sz="1200" dirty="0">
              <a:solidFill>
                <a:schemeClr val="tx1">
                  <a:lumMod val="50000"/>
                  <a:lumOff val="50000"/>
                </a:schemeClr>
              </a:solidFill>
              <a:latin typeface="Meiryo"/>
              <a:ea typeface="Meiryo"/>
              <a:cs typeface="Meiryo"/>
              <a:sym typeface="Meiryo"/>
            </a:endParaRPr>
          </a:p>
        </p:txBody>
      </p:sp>
      <p:sp>
        <p:nvSpPr>
          <p:cNvPr id="37" name="角丸四角形 8">
            <a:extLst>
              <a:ext uri="{FF2B5EF4-FFF2-40B4-BE49-F238E27FC236}">
                <a16:creationId xmlns:a16="http://schemas.microsoft.com/office/drawing/2014/main" id="{C9E1ACA7-99C2-0E6B-91F5-B9518FC16E7C}"/>
              </a:ext>
            </a:extLst>
          </p:cNvPr>
          <p:cNvSpPr/>
          <p:nvPr/>
        </p:nvSpPr>
        <p:spPr>
          <a:xfrm>
            <a:off x="3460688" y="1776142"/>
            <a:ext cx="2986322" cy="4471347"/>
          </a:xfrm>
          <a:prstGeom prst="roundRect">
            <a:avLst>
              <a:gd name="adj" fmla="val 3567"/>
            </a:avLst>
          </a:prstGeom>
          <a:solidFill>
            <a:schemeClr val="bg1">
              <a:lumMod val="95000"/>
            </a:schemeClr>
          </a:solidFill>
          <a:ln w="25400" cap="flat" cmpd="sng" algn="ctr">
            <a:solidFill>
              <a:schemeClr val="tx1">
                <a:lumMod val="50000"/>
                <a:lumOff val="50000"/>
              </a:scheme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38" name="Google Shape;178;p7">
            <a:extLst>
              <a:ext uri="{FF2B5EF4-FFF2-40B4-BE49-F238E27FC236}">
                <a16:creationId xmlns:a16="http://schemas.microsoft.com/office/drawing/2014/main" id="{6F13136C-FF05-A088-CA87-3ACA257BC421}"/>
              </a:ext>
            </a:extLst>
          </p:cNvPr>
          <p:cNvSpPr txBox="1"/>
          <p:nvPr/>
        </p:nvSpPr>
        <p:spPr>
          <a:xfrm>
            <a:off x="3796689" y="1949959"/>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通知メッセージ</a:t>
            </a:r>
            <a:endParaRPr lang="en-US" altLang="ja-JP" sz="2000" b="1" dirty="0">
              <a:solidFill>
                <a:srgbClr val="002060"/>
              </a:solidFill>
              <a:latin typeface="Meiryo"/>
              <a:ea typeface="Meiryo"/>
              <a:cs typeface="Meiryo"/>
              <a:sym typeface="Meiryo"/>
            </a:endParaRPr>
          </a:p>
        </p:txBody>
      </p:sp>
      <p:sp>
        <p:nvSpPr>
          <p:cNvPr id="39" name="Google Shape;178;p7">
            <a:extLst>
              <a:ext uri="{FF2B5EF4-FFF2-40B4-BE49-F238E27FC236}">
                <a16:creationId xmlns:a16="http://schemas.microsoft.com/office/drawing/2014/main" id="{07FD580D-9A27-0246-033B-9F6EAE799E8D}"/>
              </a:ext>
            </a:extLst>
          </p:cNvPr>
          <p:cNvSpPr txBox="1"/>
          <p:nvPr/>
        </p:nvSpPr>
        <p:spPr>
          <a:xfrm>
            <a:off x="3232397" y="406876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Meiryo"/>
                <a:ea typeface="Meiryo"/>
                <a:cs typeface="Meiryo"/>
                <a:sym typeface="Meiryo"/>
              </a:rPr>
              <a:t>友だちではないユーザーに</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対して予約完了通知などを</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送り友だちを増やす。</a:t>
            </a:r>
            <a:endParaRPr lang="en-US" altLang="ja-JP" sz="1400" dirty="0">
              <a:latin typeface="Meiryo"/>
              <a:ea typeface="Meiryo"/>
              <a:cs typeface="Meiryo"/>
              <a:sym typeface="Meiryo"/>
            </a:endParaRPr>
          </a:p>
        </p:txBody>
      </p:sp>
      <p:sp>
        <p:nvSpPr>
          <p:cNvPr id="40" name="Google Shape;178;p7">
            <a:extLst>
              <a:ext uri="{FF2B5EF4-FFF2-40B4-BE49-F238E27FC236}">
                <a16:creationId xmlns:a16="http://schemas.microsoft.com/office/drawing/2014/main" id="{9F664541-9CBE-3991-FFCD-6CC51F91112E}"/>
              </a:ext>
            </a:extLst>
          </p:cNvPr>
          <p:cNvSpPr txBox="1"/>
          <p:nvPr/>
        </p:nvSpPr>
        <p:spPr>
          <a:xfrm>
            <a:off x="3232397"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Meiryo"/>
                <a:ea typeface="Meiryo"/>
                <a:cs typeface="Meiryo"/>
                <a:sym typeface="Meiryo"/>
              </a:rPr>
              <a:t>事例：宅配ピザ</a:t>
            </a:r>
            <a:endParaRPr lang="en-US" altLang="ja-JP" sz="1400" dirty="0">
              <a:solidFill>
                <a:schemeClr val="tx1">
                  <a:lumMod val="50000"/>
                  <a:lumOff val="50000"/>
                </a:schemeClr>
              </a:solidFill>
              <a:latin typeface="Meiryo"/>
              <a:ea typeface="Meiryo"/>
              <a:cs typeface="Meiryo"/>
              <a:sym typeface="Meiryo"/>
            </a:endParaRPr>
          </a:p>
        </p:txBody>
      </p:sp>
      <p:pic>
        <p:nvPicPr>
          <p:cNvPr id="41" name="図 40">
            <a:extLst>
              <a:ext uri="{FF2B5EF4-FFF2-40B4-BE49-F238E27FC236}">
                <a16:creationId xmlns:a16="http://schemas.microsoft.com/office/drawing/2014/main" id="{EBE29AD0-3B27-DC79-2BA9-92067E22722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968283" y="1481069"/>
            <a:ext cx="2029853" cy="3608629"/>
          </a:xfrm>
          <a:prstGeom prst="rect">
            <a:avLst/>
          </a:prstGeom>
        </p:spPr>
      </p:pic>
      <p:sp>
        <p:nvSpPr>
          <p:cNvPr id="42" name="Google Shape;178;p7">
            <a:extLst>
              <a:ext uri="{FF2B5EF4-FFF2-40B4-BE49-F238E27FC236}">
                <a16:creationId xmlns:a16="http://schemas.microsoft.com/office/drawing/2014/main" id="{D998E418-5C84-71C1-1C83-DA02AB529AF7}"/>
              </a:ext>
            </a:extLst>
          </p:cNvPr>
          <p:cNvSpPr txBox="1"/>
          <p:nvPr/>
        </p:nvSpPr>
        <p:spPr>
          <a:xfrm>
            <a:off x="3622860" y="5328640"/>
            <a:ext cx="2851751"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ja-JP" altLang="en-US" sz="1200" dirty="0">
                <a:solidFill>
                  <a:schemeClr val="tx1">
                    <a:lumMod val="50000"/>
                    <a:lumOff val="50000"/>
                  </a:schemeClr>
                </a:solidFill>
                <a:latin typeface="Meiryo"/>
                <a:ea typeface="Meiryo"/>
                <a:cs typeface="Meiryo"/>
                <a:sym typeface="Meiryo"/>
              </a:rPr>
              <a:t>通知メッセージ導入４ヶ月で</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ja-JP" altLang="en-US" sz="1200" dirty="0">
                <a:solidFill>
                  <a:schemeClr val="tx1">
                    <a:lumMod val="50000"/>
                    <a:lumOff val="50000"/>
                  </a:schemeClr>
                </a:solidFill>
                <a:latin typeface="Meiryo"/>
                <a:ea typeface="Meiryo"/>
                <a:cs typeface="Meiryo"/>
                <a:sym typeface="Meiryo"/>
              </a:rPr>
              <a:t>友だち数</a:t>
            </a:r>
            <a:r>
              <a:rPr lang="en-US" altLang="ja-JP" sz="1200" dirty="0">
                <a:solidFill>
                  <a:schemeClr val="tx1">
                    <a:lumMod val="50000"/>
                    <a:lumOff val="50000"/>
                  </a:schemeClr>
                </a:solidFill>
                <a:latin typeface="Meiryo"/>
                <a:ea typeface="Meiryo"/>
                <a:cs typeface="Meiryo"/>
                <a:sym typeface="Meiryo"/>
              </a:rPr>
              <a:t>2</a:t>
            </a:r>
            <a:r>
              <a:rPr lang="ja-JP" altLang="en-US" sz="1200" dirty="0">
                <a:solidFill>
                  <a:schemeClr val="tx1">
                    <a:lumMod val="50000"/>
                    <a:lumOff val="50000"/>
                  </a:schemeClr>
                </a:solidFill>
                <a:latin typeface="Meiryo"/>
                <a:ea typeface="Meiryo"/>
                <a:cs typeface="Meiryo"/>
                <a:sym typeface="Meiryo"/>
              </a:rPr>
              <a:t>倍</a:t>
            </a:r>
            <a:endParaRPr lang="en-US" altLang="ja-JP" sz="1200" dirty="0">
              <a:solidFill>
                <a:schemeClr val="tx1">
                  <a:lumMod val="50000"/>
                  <a:lumOff val="50000"/>
                </a:schemeClr>
              </a:solidFill>
              <a:latin typeface="Meiryo"/>
              <a:ea typeface="Meiryo"/>
              <a:cs typeface="Meiryo"/>
              <a:sym typeface="Meiryo"/>
            </a:endParaRPr>
          </a:p>
        </p:txBody>
      </p:sp>
      <p:pic>
        <p:nvPicPr>
          <p:cNvPr id="1026" name="Picture 2" descr="サンクスページ インスタ無料テンプレートデザイン。イラストや ...">
            <a:extLst>
              <a:ext uri="{FF2B5EF4-FFF2-40B4-BE49-F238E27FC236}">
                <a16:creationId xmlns:a16="http://schemas.microsoft.com/office/drawing/2014/main" id="{EF2FB526-72BA-45FB-7AF8-36501049F967}"/>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t="18239" b="39628"/>
          <a:stretch>
            <a:fillRect/>
          </a:stretch>
        </p:blipFill>
        <p:spPr bwMode="auto">
          <a:xfrm>
            <a:off x="7001437" y="2549254"/>
            <a:ext cx="2326770" cy="1225425"/>
          </a:xfrm>
          <a:prstGeom prst="rect">
            <a:avLst/>
          </a:prstGeom>
          <a:noFill/>
          <a:extLst>
            <a:ext uri="{909E8E84-426E-40DD-AFC4-6F175D3DCCD1}">
              <a14:hiddenFill xmlns:a14="http://schemas.microsoft.com/office/drawing/2010/main">
                <a:solidFill>
                  <a:srgbClr val="FFFFFF"/>
                </a:solidFill>
              </a14:hiddenFill>
            </a:ext>
          </a:extLst>
        </p:spPr>
      </p:pic>
      <p:sp>
        <p:nvSpPr>
          <p:cNvPr id="3" name="Google Shape;752;p28">
            <a:extLst>
              <a:ext uri="{FF2B5EF4-FFF2-40B4-BE49-F238E27FC236}">
                <a16:creationId xmlns:a16="http://schemas.microsoft.com/office/drawing/2014/main" id="{E6ACC822-B6F9-6C30-928D-BAC3D63D473A}"/>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提供施策について</a:t>
            </a:r>
          </a:p>
        </p:txBody>
      </p:sp>
      <p:sp>
        <p:nvSpPr>
          <p:cNvPr id="5" name="Google Shape;178;p7">
            <a:extLst>
              <a:ext uri="{FF2B5EF4-FFF2-40B4-BE49-F238E27FC236}">
                <a16:creationId xmlns:a16="http://schemas.microsoft.com/office/drawing/2014/main" id="{617CCD27-0570-5EC2-D489-ADCA03A0F721}"/>
              </a:ext>
            </a:extLst>
          </p:cNvPr>
          <p:cNvSpPr txBox="1"/>
          <p:nvPr/>
        </p:nvSpPr>
        <p:spPr>
          <a:xfrm>
            <a:off x="77003" y="943920"/>
            <a:ext cx="9751992" cy="53689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Meiryo"/>
                <a:ea typeface="Meiryo"/>
                <a:cs typeface="Meiryo"/>
                <a:sym typeface="Meiryo"/>
              </a:rPr>
              <a:t>準顕在（獲得見込みが高い）層を効率よく取れる動線を用意し運用します。</a:t>
            </a:r>
            <a:endParaRPr lang="en-US" altLang="ja-JP" sz="1400" b="1" dirty="0">
              <a:latin typeface="Meiryo"/>
              <a:ea typeface="Meiryo"/>
              <a:cs typeface="Meiryo"/>
              <a:sym typeface="Meiryo"/>
            </a:endParaRPr>
          </a:p>
          <a:p>
            <a:pPr lvl="0" algn="ctr">
              <a:buClr>
                <a:schemeClr val="dk1"/>
              </a:buClr>
              <a:buSzPts val="1500"/>
            </a:pPr>
            <a:r>
              <a:rPr lang="en-US" altLang="ja-JP" sz="1100" dirty="0">
                <a:solidFill>
                  <a:srgbClr val="FF0000"/>
                </a:solidFill>
                <a:latin typeface="Meiryo"/>
                <a:ea typeface="Meiryo"/>
                <a:cs typeface="Meiryo"/>
                <a:sym typeface="Meiryo"/>
              </a:rPr>
              <a:t>※</a:t>
            </a:r>
            <a:r>
              <a:rPr lang="ja-JP" altLang="en-US" sz="1100" dirty="0">
                <a:solidFill>
                  <a:srgbClr val="FF0000"/>
                </a:solidFill>
                <a:latin typeface="Meiryo"/>
                <a:ea typeface="Meiryo"/>
                <a:cs typeface="Meiryo"/>
                <a:sym typeface="Meiryo"/>
              </a:rPr>
              <a:t>実施想定の友だち追加動線について、★を記載しております。</a:t>
            </a:r>
            <a:endParaRPr lang="en-US" altLang="ja-JP" sz="1600" dirty="0">
              <a:solidFill>
                <a:srgbClr val="FF0000"/>
              </a:solidFill>
              <a:latin typeface="Meiryo"/>
              <a:ea typeface="Meiryo"/>
              <a:cs typeface="Meiryo"/>
              <a:sym typeface="Meiryo"/>
            </a:endParaRPr>
          </a:p>
        </p:txBody>
      </p:sp>
      <p:sp>
        <p:nvSpPr>
          <p:cNvPr id="6" name="星: 5 pt 5">
            <a:extLst>
              <a:ext uri="{FF2B5EF4-FFF2-40B4-BE49-F238E27FC236}">
                <a16:creationId xmlns:a16="http://schemas.microsoft.com/office/drawing/2014/main" id="{73AA3FF7-ED61-B641-763C-E4940D075F39}"/>
              </a:ext>
            </a:extLst>
          </p:cNvPr>
          <p:cNvSpPr/>
          <p:nvPr/>
        </p:nvSpPr>
        <p:spPr>
          <a:xfrm>
            <a:off x="2749464" y="1706924"/>
            <a:ext cx="540000" cy="540000"/>
          </a:xfrm>
          <a:prstGeom prst="star5">
            <a:avLst>
              <a:gd name="adj" fmla="val 32226"/>
              <a:gd name="hf" fmla="val 105146"/>
              <a:gd name="vf" fmla="val 110557"/>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5" name="星: 5 pt 14">
            <a:extLst>
              <a:ext uri="{FF2B5EF4-FFF2-40B4-BE49-F238E27FC236}">
                <a16:creationId xmlns:a16="http://schemas.microsoft.com/office/drawing/2014/main" id="{E7B29608-5299-2165-6DD5-597E992E7B04}"/>
              </a:ext>
            </a:extLst>
          </p:cNvPr>
          <p:cNvSpPr/>
          <p:nvPr/>
        </p:nvSpPr>
        <p:spPr>
          <a:xfrm>
            <a:off x="9252865" y="1672104"/>
            <a:ext cx="540000" cy="540000"/>
          </a:xfrm>
          <a:prstGeom prst="star5">
            <a:avLst>
              <a:gd name="adj" fmla="val 32226"/>
              <a:gd name="hf" fmla="val 105146"/>
              <a:gd name="vf" fmla="val 110557"/>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Tree>
    <p:extLst>
      <p:ext uri="{BB962C8B-B14F-4D97-AF65-F5344CB8AC3E}">
        <p14:creationId xmlns:p14="http://schemas.microsoft.com/office/powerpoint/2010/main" val="30001345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975156-99A2-3647-6F9D-3BD80C596EF5}"/>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AB249BA1-EB38-DDA6-8221-FC109239C49F}"/>
              </a:ext>
            </a:extLst>
          </p:cNvPr>
          <p:cNvSpPr txBox="1"/>
          <p:nvPr/>
        </p:nvSpPr>
        <p:spPr>
          <a:xfrm>
            <a:off x="548883" y="138138"/>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（ポップアップ </a:t>
            </a:r>
            <a:r>
              <a:rPr lang="en-US" altLang="ja-JP" sz="1600" b="1" dirty="0">
                <a:solidFill>
                  <a:srgbClr val="323366"/>
                </a:solidFill>
                <a:latin typeface="メイリオ" panose="020B0604030504040204" pitchFamily="50" charset="-128"/>
                <a:ea typeface="メイリオ" panose="020B0604030504040204" pitchFamily="50" charset="-128"/>
                <a:cs typeface="Meiryo"/>
                <a:sym typeface="Meiryo"/>
              </a:rPr>
              <a:t>/ </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離脱防止）</a:t>
            </a:r>
          </a:p>
        </p:txBody>
      </p:sp>
      <p:grpSp>
        <p:nvGrpSpPr>
          <p:cNvPr id="3" name="グループ化 2">
            <a:extLst>
              <a:ext uri="{FF2B5EF4-FFF2-40B4-BE49-F238E27FC236}">
                <a16:creationId xmlns:a16="http://schemas.microsoft.com/office/drawing/2014/main" id="{EA805D6F-0719-17C7-4E97-2705F1D9A93C}"/>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0895EF17-7734-EE92-7BF3-5B0ADCDC65B8}"/>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23AD98A9-882F-05AA-BB4E-3FB88AAA7C20}"/>
                </a:ext>
              </a:extLst>
            </p:cNvPr>
            <p:cNvSpPr txBox="1"/>
            <p:nvPr/>
          </p:nvSpPr>
          <p:spPr>
            <a:xfrm>
              <a:off x="687498" y="938979"/>
              <a:ext cx="2746265"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ポップアップ</a:t>
              </a:r>
              <a:r>
                <a:rPr kumimoji="1" lang="en-US" altLang="ja-JP" sz="1500" b="1" dirty="0">
                  <a:solidFill>
                    <a:schemeClr val="bg1"/>
                  </a:solidFill>
                  <a:latin typeface="Meiryo" panose="020B0604030504040204" pitchFamily="34" charset="-128"/>
                  <a:ea typeface="Meiryo" panose="020B0604030504040204" pitchFamily="34" charset="-128"/>
                </a:rPr>
                <a:t>(</a:t>
              </a:r>
              <a:r>
                <a:rPr kumimoji="1" lang="ja-JP" altLang="en-US" sz="1500" b="1" dirty="0">
                  <a:solidFill>
                    <a:schemeClr val="bg1"/>
                  </a:solidFill>
                  <a:latin typeface="Meiryo" panose="020B0604030504040204" pitchFamily="34" charset="-128"/>
                  <a:ea typeface="Meiryo" panose="020B0604030504040204" pitchFamily="34" charset="-128"/>
                </a:rPr>
                <a:t>離脱防止 など</a:t>
              </a:r>
              <a:r>
                <a:rPr kumimoji="1" lang="en-US" altLang="ja-JP" sz="1500" b="1" dirty="0">
                  <a:solidFill>
                    <a:schemeClr val="bg1"/>
                  </a:solidFill>
                  <a:latin typeface="Meiryo" panose="020B0604030504040204" pitchFamily="34" charset="-128"/>
                  <a:ea typeface="Meiryo" panose="020B0604030504040204" pitchFamily="34" charset="-128"/>
                </a:rPr>
                <a:t>)</a:t>
              </a:r>
              <a:endParaRPr kumimoji="1" lang="ja-JP" altLang="en-US" sz="1500" b="1" dirty="0">
                <a:solidFill>
                  <a:schemeClr val="bg1"/>
                </a:solidFill>
                <a:latin typeface="Meiryo" panose="020B0604030504040204" pitchFamily="34" charset="-128"/>
                <a:ea typeface="Meiryo" panose="020B0604030504040204" pitchFamily="34" charset="-128"/>
              </a:endParaRPr>
            </a:p>
          </p:txBody>
        </p:sp>
      </p:grpSp>
      <p:sp>
        <p:nvSpPr>
          <p:cNvPr id="8" name="正方形/長方形 7">
            <a:extLst>
              <a:ext uri="{FF2B5EF4-FFF2-40B4-BE49-F238E27FC236}">
                <a16:creationId xmlns:a16="http://schemas.microsoft.com/office/drawing/2014/main" id="{EB668975-CA29-64DD-88DF-17EAAC94AE34}"/>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Meiryo"/>
                <a:ea typeface="Meiryo"/>
                <a:cs typeface="Meiryo"/>
                <a:sym typeface="Meiryo"/>
              </a:rPr>
              <a:t>WEB</a:t>
            </a:r>
            <a:r>
              <a:rPr lang="ja-JP" altLang="en-US" sz="1600" dirty="0">
                <a:latin typeface="Meiryo"/>
                <a:ea typeface="Meiryo"/>
                <a:cs typeface="Meiryo"/>
                <a:sym typeface="Meiryo"/>
              </a:rPr>
              <a:t>サイト上の特定アクションを起こしたユーザーに対して</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ポップアップの形で</a:t>
            </a:r>
            <a:r>
              <a:rPr lang="en-US" altLang="ja-JP" sz="1600" dirty="0">
                <a:latin typeface="Meiryo"/>
                <a:ea typeface="Meiryo"/>
                <a:cs typeface="Meiryo"/>
                <a:sym typeface="Meiryo"/>
              </a:rPr>
              <a:t>LINE</a:t>
            </a:r>
            <a:r>
              <a:rPr lang="ja-JP" altLang="en-US" sz="1600" dirty="0">
                <a:latin typeface="Meiryo"/>
                <a:ea typeface="Meiryo"/>
                <a:cs typeface="Meiryo"/>
                <a:sym typeface="Meiryo"/>
              </a:rPr>
              <a:t>誘導の動線を提示。</a:t>
            </a:r>
          </a:p>
        </p:txBody>
      </p:sp>
      <p:pic>
        <p:nvPicPr>
          <p:cNvPr id="6" name="図 5">
            <a:extLst>
              <a:ext uri="{FF2B5EF4-FFF2-40B4-BE49-F238E27FC236}">
                <a16:creationId xmlns:a16="http://schemas.microsoft.com/office/drawing/2014/main" id="{4BC18E84-0DF3-01E6-D82D-0A9DCD2D5F30}"/>
              </a:ext>
            </a:extLst>
          </p:cNvPr>
          <p:cNvPicPr>
            <a:picLocks noChangeAspect="1"/>
          </p:cNvPicPr>
          <p:nvPr/>
        </p:nvPicPr>
        <p:blipFill>
          <a:blip r:embed="rId2"/>
          <a:stretch>
            <a:fillRect/>
          </a:stretch>
        </p:blipFill>
        <p:spPr>
          <a:xfrm>
            <a:off x="5764329" y="2258734"/>
            <a:ext cx="1524677" cy="3096752"/>
          </a:xfrm>
          <a:prstGeom prst="rect">
            <a:avLst/>
          </a:prstGeom>
        </p:spPr>
      </p:pic>
      <p:sp>
        <p:nvSpPr>
          <p:cNvPr id="9" name="テキスト ボックス 8">
            <a:extLst>
              <a:ext uri="{FF2B5EF4-FFF2-40B4-BE49-F238E27FC236}">
                <a16:creationId xmlns:a16="http://schemas.microsoft.com/office/drawing/2014/main" id="{10FACA28-BE3D-80E4-091C-39F6141694C7}"/>
              </a:ext>
            </a:extLst>
          </p:cNvPr>
          <p:cNvSpPr txBox="1"/>
          <p:nvPr/>
        </p:nvSpPr>
        <p:spPr>
          <a:xfrm>
            <a:off x="5214938" y="1372940"/>
            <a:ext cx="4148137" cy="261610"/>
          </a:xfrm>
          <a:prstGeom prst="rect">
            <a:avLst/>
          </a:prstGeom>
          <a:noFill/>
        </p:spPr>
        <p:txBody>
          <a:bodyPr wrap="square">
            <a:spAutoFit/>
          </a:bodyPr>
          <a:lstStyle/>
          <a:p>
            <a:r>
              <a:rPr lang="en-US" altLang="ja-JP" sz="1050" dirty="0">
                <a:solidFill>
                  <a:srgbClr val="FF0000"/>
                </a:solidFill>
                <a:latin typeface="Meiryo"/>
                <a:ea typeface="Meiryo"/>
                <a:cs typeface="Meiryo"/>
                <a:sym typeface="Meiryo"/>
              </a:rPr>
              <a:t>LINE</a:t>
            </a:r>
            <a:r>
              <a:rPr lang="ja-JP" altLang="en-US" sz="1050" dirty="0">
                <a:solidFill>
                  <a:srgbClr val="FF0000"/>
                </a:solidFill>
                <a:latin typeface="Meiryo"/>
                <a:ea typeface="Meiryo"/>
                <a:cs typeface="Meiryo"/>
                <a:sym typeface="Meiryo"/>
              </a:rPr>
              <a:t>以外の注力動線への誘導も同バナーから実施が可能です。</a:t>
            </a:r>
            <a:endParaRPr lang="ja-JP" altLang="en-US" sz="1050" dirty="0">
              <a:solidFill>
                <a:srgbClr val="FF0000"/>
              </a:solidFill>
            </a:endParaRPr>
          </a:p>
        </p:txBody>
      </p:sp>
      <p:pic>
        <p:nvPicPr>
          <p:cNvPr id="11" name="図 10">
            <a:extLst>
              <a:ext uri="{FF2B5EF4-FFF2-40B4-BE49-F238E27FC236}">
                <a16:creationId xmlns:a16="http://schemas.microsoft.com/office/drawing/2014/main" id="{FC908A63-1EE8-A605-1D4F-460FED9442AA}"/>
              </a:ext>
            </a:extLst>
          </p:cNvPr>
          <p:cNvPicPr>
            <a:picLocks noChangeAspect="1"/>
          </p:cNvPicPr>
          <p:nvPr/>
        </p:nvPicPr>
        <p:blipFill>
          <a:blip r:embed="rId2"/>
          <a:stretch>
            <a:fillRect/>
          </a:stretch>
        </p:blipFill>
        <p:spPr>
          <a:xfrm>
            <a:off x="8032877" y="2846109"/>
            <a:ext cx="1524677" cy="3096752"/>
          </a:xfrm>
          <a:prstGeom prst="rect">
            <a:avLst/>
          </a:prstGeom>
        </p:spPr>
      </p:pic>
      <p:sp>
        <p:nvSpPr>
          <p:cNvPr id="12" name="矢印: 右 11">
            <a:extLst>
              <a:ext uri="{FF2B5EF4-FFF2-40B4-BE49-F238E27FC236}">
                <a16:creationId xmlns:a16="http://schemas.microsoft.com/office/drawing/2014/main" id="{C5B2A6E8-796B-963F-0A04-9B9D1A36ADF0}"/>
              </a:ext>
            </a:extLst>
          </p:cNvPr>
          <p:cNvSpPr/>
          <p:nvPr/>
        </p:nvSpPr>
        <p:spPr>
          <a:xfrm>
            <a:off x="7373222" y="3359435"/>
            <a:ext cx="571500" cy="619125"/>
          </a:xfrm>
          <a:prstGeom prst="rightArrow">
            <a:avLst>
              <a:gd name="adj1" fmla="val 64359"/>
              <a:gd name="adj2" fmla="val 50000"/>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正方形/長方形 12">
            <a:extLst>
              <a:ext uri="{FF2B5EF4-FFF2-40B4-BE49-F238E27FC236}">
                <a16:creationId xmlns:a16="http://schemas.microsoft.com/office/drawing/2014/main" id="{DB49FAB7-0FB8-4D5F-CF13-A19BBA28C8C7}"/>
              </a:ext>
            </a:extLst>
          </p:cNvPr>
          <p:cNvSpPr/>
          <p:nvPr/>
        </p:nvSpPr>
        <p:spPr>
          <a:xfrm>
            <a:off x="8117093" y="3057525"/>
            <a:ext cx="1371145" cy="2585494"/>
          </a:xfrm>
          <a:prstGeom prst="rect">
            <a:avLst/>
          </a:prstGeom>
          <a:solidFill>
            <a:schemeClr val="tx1">
              <a:lumMod val="75000"/>
              <a:lumOff val="25000"/>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Google Shape;51;p19">
            <a:extLst>
              <a:ext uri="{FF2B5EF4-FFF2-40B4-BE49-F238E27FC236}">
                <a16:creationId xmlns:a16="http://schemas.microsoft.com/office/drawing/2014/main" id="{1B34220E-1DA3-AC59-C2DE-15AB3320AC1C}"/>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a:t>
            </a:r>
            <a:r>
              <a:rPr lang="en-US" altLang="ja-JP" sz="1400" b="1" i="0" u="none" strike="noStrike" cap="none" dirty="0">
                <a:solidFill>
                  <a:schemeClr val="lt1"/>
                </a:solidFill>
                <a:latin typeface="Meiryo"/>
                <a:ea typeface="Meiryo"/>
                <a:cs typeface="Meiryo"/>
                <a:sym typeface="Meiryo"/>
              </a:rPr>
              <a:t>1.5</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sp>
        <p:nvSpPr>
          <p:cNvPr id="17" name="Google Shape;51;p19">
            <a:extLst>
              <a:ext uri="{FF2B5EF4-FFF2-40B4-BE49-F238E27FC236}">
                <a16:creationId xmlns:a16="http://schemas.microsoft.com/office/drawing/2014/main" id="{EBA2E7AC-5299-C000-0A43-CCF8CE458AAF}"/>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a:t>
            </a:r>
            <a:r>
              <a:rPr lang="en-US" altLang="ja-JP" sz="1400" b="1" i="0" u="none" strike="noStrike" cap="none" dirty="0">
                <a:solidFill>
                  <a:schemeClr val="lt1"/>
                </a:solidFill>
                <a:latin typeface="Meiryo"/>
                <a:ea typeface="Meiryo"/>
                <a:cs typeface="Meiryo"/>
                <a:sym typeface="Meiryo"/>
              </a:rPr>
              <a:t>3</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pic>
        <p:nvPicPr>
          <p:cNvPr id="19" name="図 18">
            <a:extLst>
              <a:ext uri="{FF2B5EF4-FFF2-40B4-BE49-F238E27FC236}">
                <a16:creationId xmlns:a16="http://schemas.microsoft.com/office/drawing/2014/main" id="{98FF8283-5B2F-5018-9D25-736A384B4D23}"/>
              </a:ext>
            </a:extLst>
          </p:cNvPr>
          <p:cNvPicPr>
            <a:picLocks noChangeAspect="1"/>
          </p:cNvPicPr>
          <p:nvPr/>
        </p:nvPicPr>
        <p:blipFill>
          <a:blip r:embed="rId3"/>
          <a:stretch>
            <a:fillRect/>
          </a:stretch>
        </p:blipFill>
        <p:spPr>
          <a:xfrm>
            <a:off x="8263942" y="3752836"/>
            <a:ext cx="1062545" cy="1115066"/>
          </a:xfrm>
          <a:prstGeom prst="rect">
            <a:avLst/>
          </a:prstGeom>
        </p:spPr>
      </p:pic>
      <p:sp>
        <p:nvSpPr>
          <p:cNvPr id="24" name="正方形/長方形 23">
            <a:extLst>
              <a:ext uri="{FF2B5EF4-FFF2-40B4-BE49-F238E27FC236}">
                <a16:creationId xmlns:a16="http://schemas.microsoft.com/office/drawing/2014/main" id="{E4AE5F6C-0BA5-6768-64B9-9CD156133552}"/>
              </a:ext>
            </a:extLst>
          </p:cNvPr>
          <p:cNvSpPr/>
          <p:nvPr/>
        </p:nvSpPr>
        <p:spPr>
          <a:xfrm>
            <a:off x="5769326" y="1938056"/>
            <a:ext cx="3788228"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endParaRPr>
          </a:p>
        </p:txBody>
      </p:sp>
      <p:pic>
        <p:nvPicPr>
          <p:cNvPr id="7" name="図 6">
            <a:extLst>
              <a:ext uri="{FF2B5EF4-FFF2-40B4-BE49-F238E27FC236}">
                <a16:creationId xmlns:a16="http://schemas.microsoft.com/office/drawing/2014/main" id="{669C67AE-8870-AB99-9BB8-030F3AB8CB3B}"/>
              </a:ext>
            </a:extLst>
          </p:cNvPr>
          <p:cNvPicPr>
            <a:picLocks noChangeAspect="1"/>
          </p:cNvPicPr>
          <p:nvPr/>
        </p:nvPicPr>
        <p:blipFill>
          <a:blip r:embed="rId4"/>
          <a:stretch>
            <a:fillRect/>
          </a:stretch>
        </p:blipFill>
        <p:spPr>
          <a:xfrm>
            <a:off x="543398" y="4259719"/>
            <a:ext cx="5059180" cy="2191534"/>
          </a:xfrm>
          <a:prstGeom prst="rect">
            <a:avLst/>
          </a:prstGeom>
        </p:spPr>
      </p:pic>
      <p:pic>
        <p:nvPicPr>
          <p:cNvPr id="14" name="図 13">
            <a:extLst>
              <a:ext uri="{FF2B5EF4-FFF2-40B4-BE49-F238E27FC236}">
                <a16:creationId xmlns:a16="http://schemas.microsoft.com/office/drawing/2014/main" id="{CFFD213E-DE33-0075-6E07-F24DBD7A9441}"/>
              </a:ext>
            </a:extLst>
          </p:cNvPr>
          <p:cNvPicPr>
            <a:picLocks noChangeAspect="1"/>
          </p:cNvPicPr>
          <p:nvPr/>
        </p:nvPicPr>
        <p:blipFill>
          <a:blip r:embed="rId5"/>
          <a:stretch>
            <a:fillRect/>
          </a:stretch>
        </p:blipFill>
        <p:spPr>
          <a:xfrm>
            <a:off x="579513" y="1977951"/>
            <a:ext cx="5023065" cy="2231287"/>
          </a:xfrm>
          <a:prstGeom prst="rect">
            <a:avLst/>
          </a:prstGeom>
        </p:spPr>
      </p:pic>
    </p:spTree>
    <p:extLst>
      <p:ext uri="{BB962C8B-B14F-4D97-AF65-F5344CB8AC3E}">
        <p14:creationId xmlns:p14="http://schemas.microsoft.com/office/powerpoint/2010/main" val="10589334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C61D1B-00B3-A324-FA45-8227BFE7C87E}"/>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A92EBA17-1F28-FC74-FD04-7BBA4028B4C8}"/>
              </a:ext>
            </a:extLst>
          </p:cNvPr>
          <p:cNvSpPr txBox="1"/>
          <p:nvPr/>
        </p:nvSpPr>
        <p:spPr>
          <a:xfrm>
            <a:off x="548883" y="138138"/>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（ポップアップ </a:t>
            </a:r>
            <a:r>
              <a:rPr lang="en-US" altLang="ja-JP" sz="1600" b="1" dirty="0">
                <a:solidFill>
                  <a:srgbClr val="323366"/>
                </a:solidFill>
                <a:latin typeface="メイリオ" panose="020B0604030504040204" pitchFamily="50" charset="-128"/>
                <a:ea typeface="メイリオ" panose="020B0604030504040204" pitchFamily="50" charset="-128"/>
                <a:cs typeface="Meiryo"/>
                <a:sym typeface="Meiryo"/>
              </a:rPr>
              <a:t>/ </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離脱防止）</a:t>
            </a:r>
          </a:p>
        </p:txBody>
      </p:sp>
      <p:grpSp>
        <p:nvGrpSpPr>
          <p:cNvPr id="3" name="グループ化 2">
            <a:extLst>
              <a:ext uri="{FF2B5EF4-FFF2-40B4-BE49-F238E27FC236}">
                <a16:creationId xmlns:a16="http://schemas.microsoft.com/office/drawing/2014/main" id="{A495E905-6DD4-9945-098D-841CB438C3EE}"/>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460E3190-8E00-961F-6C91-89DE5F3546AF}"/>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214929DF-C4CB-63FB-BAED-F6A1BE2438B2}"/>
                </a:ext>
              </a:extLst>
            </p:cNvPr>
            <p:cNvSpPr txBox="1"/>
            <p:nvPr/>
          </p:nvSpPr>
          <p:spPr>
            <a:xfrm>
              <a:off x="687498" y="938979"/>
              <a:ext cx="2746265"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ポップアップ</a:t>
              </a:r>
              <a:r>
                <a:rPr kumimoji="1" lang="en-US" altLang="ja-JP" sz="1500" b="1" dirty="0">
                  <a:solidFill>
                    <a:schemeClr val="bg1"/>
                  </a:solidFill>
                  <a:latin typeface="Meiryo" panose="020B0604030504040204" pitchFamily="34" charset="-128"/>
                  <a:ea typeface="Meiryo" panose="020B0604030504040204" pitchFamily="34" charset="-128"/>
                </a:rPr>
                <a:t>(</a:t>
              </a:r>
              <a:r>
                <a:rPr kumimoji="1" lang="ja-JP" altLang="en-US" sz="1500" b="1" dirty="0">
                  <a:solidFill>
                    <a:schemeClr val="bg1"/>
                  </a:solidFill>
                  <a:latin typeface="Meiryo" panose="020B0604030504040204" pitchFamily="34" charset="-128"/>
                  <a:ea typeface="Meiryo" panose="020B0604030504040204" pitchFamily="34" charset="-128"/>
                </a:rPr>
                <a:t>離脱防止 など</a:t>
              </a:r>
              <a:r>
                <a:rPr kumimoji="1" lang="en-US" altLang="ja-JP" sz="1500" b="1" dirty="0">
                  <a:solidFill>
                    <a:schemeClr val="bg1"/>
                  </a:solidFill>
                  <a:latin typeface="Meiryo" panose="020B0604030504040204" pitchFamily="34" charset="-128"/>
                  <a:ea typeface="Meiryo" panose="020B0604030504040204" pitchFamily="34" charset="-128"/>
                </a:rPr>
                <a:t>)</a:t>
              </a:r>
              <a:endParaRPr kumimoji="1" lang="ja-JP" altLang="en-US" sz="1500" b="1" dirty="0">
                <a:solidFill>
                  <a:schemeClr val="bg1"/>
                </a:solidFill>
                <a:latin typeface="Meiryo" panose="020B0604030504040204" pitchFamily="34" charset="-128"/>
                <a:ea typeface="Meiryo" panose="020B0604030504040204" pitchFamily="34" charset="-128"/>
              </a:endParaRPr>
            </a:p>
          </p:txBody>
        </p:sp>
      </p:grpSp>
      <p:sp>
        <p:nvSpPr>
          <p:cNvPr id="8" name="正方形/長方形 7">
            <a:extLst>
              <a:ext uri="{FF2B5EF4-FFF2-40B4-BE49-F238E27FC236}">
                <a16:creationId xmlns:a16="http://schemas.microsoft.com/office/drawing/2014/main" id="{200A9277-1702-628D-6325-0D765E09FBE7}"/>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Meiryo"/>
                <a:ea typeface="Meiryo"/>
                <a:cs typeface="Meiryo"/>
                <a:sym typeface="Meiryo"/>
              </a:rPr>
              <a:t>WEB</a:t>
            </a:r>
            <a:r>
              <a:rPr lang="ja-JP" altLang="en-US" sz="1600" dirty="0">
                <a:latin typeface="Meiryo"/>
                <a:ea typeface="Meiryo"/>
                <a:cs typeface="Meiryo"/>
                <a:sym typeface="Meiryo"/>
              </a:rPr>
              <a:t>サイト上の特定アクションを起こしたユーザーに対して</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ポップアップの形で</a:t>
            </a:r>
            <a:r>
              <a:rPr lang="en-US" altLang="ja-JP" sz="1600" dirty="0">
                <a:latin typeface="Meiryo"/>
                <a:ea typeface="Meiryo"/>
                <a:cs typeface="Meiryo"/>
                <a:sym typeface="Meiryo"/>
              </a:rPr>
              <a:t>LINE</a:t>
            </a:r>
            <a:r>
              <a:rPr lang="ja-JP" altLang="en-US" sz="1600" dirty="0">
                <a:latin typeface="Meiryo"/>
                <a:ea typeface="Meiryo"/>
                <a:cs typeface="Meiryo"/>
                <a:sym typeface="Meiryo"/>
              </a:rPr>
              <a:t>誘導の動線を提示。</a:t>
            </a:r>
          </a:p>
        </p:txBody>
      </p:sp>
      <p:sp>
        <p:nvSpPr>
          <p:cNvPr id="9" name="テキスト ボックス 8">
            <a:extLst>
              <a:ext uri="{FF2B5EF4-FFF2-40B4-BE49-F238E27FC236}">
                <a16:creationId xmlns:a16="http://schemas.microsoft.com/office/drawing/2014/main" id="{FC59C8DC-A3F5-6C82-BBB6-1DCA2E2FCA1E}"/>
              </a:ext>
            </a:extLst>
          </p:cNvPr>
          <p:cNvSpPr txBox="1"/>
          <p:nvPr/>
        </p:nvSpPr>
        <p:spPr>
          <a:xfrm>
            <a:off x="5214938" y="1372940"/>
            <a:ext cx="4148137" cy="261610"/>
          </a:xfrm>
          <a:prstGeom prst="rect">
            <a:avLst/>
          </a:prstGeom>
          <a:noFill/>
        </p:spPr>
        <p:txBody>
          <a:bodyPr wrap="square">
            <a:spAutoFit/>
          </a:bodyPr>
          <a:lstStyle/>
          <a:p>
            <a:r>
              <a:rPr lang="en-US" altLang="ja-JP" sz="1050" dirty="0">
                <a:solidFill>
                  <a:srgbClr val="FF0000"/>
                </a:solidFill>
                <a:latin typeface="Meiryo"/>
                <a:ea typeface="Meiryo"/>
                <a:cs typeface="Meiryo"/>
                <a:sym typeface="Meiryo"/>
              </a:rPr>
              <a:t>LINE</a:t>
            </a:r>
            <a:r>
              <a:rPr lang="ja-JP" altLang="en-US" sz="1050" dirty="0">
                <a:solidFill>
                  <a:srgbClr val="FF0000"/>
                </a:solidFill>
                <a:latin typeface="Meiryo"/>
                <a:ea typeface="Meiryo"/>
                <a:cs typeface="Meiryo"/>
                <a:sym typeface="Meiryo"/>
              </a:rPr>
              <a:t>以外の注力動線への誘導も同バナーから実施が可能です。</a:t>
            </a:r>
            <a:endParaRPr lang="ja-JP" altLang="en-US" sz="1050" dirty="0">
              <a:solidFill>
                <a:srgbClr val="FF0000"/>
              </a:solidFill>
            </a:endParaRPr>
          </a:p>
        </p:txBody>
      </p:sp>
      <p:sp>
        <p:nvSpPr>
          <p:cNvPr id="15" name="Google Shape;51;p19">
            <a:extLst>
              <a:ext uri="{FF2B5EF4-FFF2-40B4-BE49-F238E27FC236}">
                <a16:creationId xmlns:a16="http://schemas.microsoft.com/office/drawing/2014/main" id="{ECC096EC-7A42-299D-ADFB-A11583AA36AB}"/>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a:t>
            </a:r>
            <a:r>
              <a:rPr lang="en-US" altLang="ja-JP" sz="1400" b="1" i="0" u="none" strike="noStrike" cap="none" dirty="0">
                <a:solidFill>
                  <a:schemeClr val="lt1"/>
                </a:solidFill>
                <a:latin typeface="Meiryo"/>
                <a:ea typeface="Meiryo"/>
                <a:cs typeface="Meiryo"/>
                <a:sym typeface="Meiryo"/>
              </a:rPr>
              <a:t>1.5</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sp>
        <p:nvSpPr>
          <p:cNvPr id="17" name="Google Shape;51;p19">
            <a:extLst>
              <a:ext uri="{FF2B5EF4-FFF2-40B4-BE49-F238E27FC236}">
                <a16:creationId xmlns:a16="http://schemas.microsoft.com/office/drawing/2014/main" id="{C52155A1-F32D-8503-456F-3138842AD308}"/>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a:t>
            </a:r>
            <a:r>
              <a:rPr lang="en-US" altLang="ja-JP" sz="1400" b="1" i="0" u="none" strike="noStrike" cap="none" dirty="0">
                <a:solidFill>
                  <a:schemeClr val="lt1"/>
                </a:solidFill>
                <a:latin typeface="Meiryo"/>
                <a:ea typeface="Meiryo"/>
                <a:cs typeface="Meiryo"/>
                <a:sym typeface="Meiryo"/>
              </a:rPr>
              <a:t>3</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pic>
        <p:nvPicPr>
          <p:cNvPr id="10" name="図 9">
            <a:extLst>
              <a:ext uri="{FF2B5EF4-FFF2-40B4-BE49-F238E27FC236}">
                <a16:creationId xmlns:a16="http://schemas.microsoft.com/office/drawing/2014/main" id="{3B15DB85-15F3-FF15-AB96-FDFE17717CDB}"/>
              </a:ext>
            </a:extLst>
          </p:cNvPr>
          <p:cNvPicPr>
            <a:picLocks noChangeAspect="1"/>
          </p:cNvPicPr>
          <p:nvPr/>
        </p:nvPicPr>
        <p:blipFill>
          <a:blip r:embed="rId2"/>
          <a:stretch>
            <a:fillRect/>
          </a:stretch>
        </p:blipFill>
        <p:spPr>
          <a:xfrm>
            <a:off x="1172081" y="1882008"/>
            <a:ext cx="7561838" cy="4661631"/>
          </a:xfrm>
          <a:prstGeom prst="rect">
            <a:avLst/>
          </a:prstGeom>
        </p:spPr>
      </p:pic>
    </p:spTree>
    <p:extLst>
      <p:ext uri="{BB962C8B-B14F-4D97-AF65-F5344CB8AC3E}">
        <p14:creationId xmlns:p14="http://schemas.microsoft.com/office/powerpoint/2010/main" val="42713348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E341AF-76F7-F354-A08C-287945F04D7D}"/>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CEDF5177-0A5C-5E57-5AEC-2A3A0A3E97A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（通知メッセージ）</a:t>
            </a:r>
          </a:p>
        </p:txBody>
      </p:sp>
      <p:grpSp>
        <p:nvGrpSpPr>
          <p:cNvPr id="3" name="グループ化 2">
            <a:extLst>
              <a:ext uri="{FF2B5EF4-FFF2-40B4-BE49-F238E27FC236}">
                <a16:creationId xmlns:a16="http://schemas.microsoft.com/office/drawing/2014/main" id="{40037302-E6AA-0829-6AB4-E8C68E0B5350}"/>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596B7C8B-2830-475F-54BD-39885C61FB2A}"/>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5F77E149-8797-8964-2351-34587DDB9A0B}"/>
                </a:ext>
              </a:extLst>
            </p:cNvPr>
            <p:cNvSpPr txBox="1"/>
            <p:nvPr/>
          </p:nvSpPr>
          <p:spPr>
            <a:xfrm>
              <a:off x="1140096" y="988192"/>
              <a:ext cx="1531188"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通知メッセージ</a:t>
              </a:r>
            </a:p>
          </p:txBody>
        </p:sp>
      </p:grpSp>
      <p:sp>
        <p:nvSpPr>
          <p:cNvPr id="9" name="正方形/長方形 8">
            <a:extLst>
              <a:ext uri="{FF2B5EF4-FFF2-40B4-BE49-F238E27FC236}">
                <a16:creationId xmlns:a16="http://schemas.microsoft.com/office/drawing/2014/main" id="{C076E43E-4FBE-86BD-F3B4-70DD95B2A175}"/>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Meiryo"/>
                <a:ea typeface="Meiryo"/>
                <a:cs typeface="Meiryo"/>
                <a:sym typeface="Meiryo"/>
              </a:rPr>
              <a:t>WEB</a:t>
            </a:r>
            <a:r>
              <a:rPr lang="ja-JP" altLang="en-US" sz="1600" dirty="0">
                <a:latin typeface="Meiryo"/>
                <a:ea typeface="Meiryo"/>
                <a:cs typeface="Meiryo"/>
                <a:sym typeface="Meiryo"/>
              </a:rPr>
              <a:t>上のアクションユーザー、貴社保有リスト をターゲット</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に友だち登録、ステータス通知を行うことが出来る機能です。</a:t>
            </a:r>
          </a:p>
        </p:txBody>
      </p:sp>
      <p:sp>
        <p:nvSpPr>
          <p:cNvPr id="75" name="Google Shape;51;p19">
            <a:extLst>
              <a:ext uri="{FF2B5EF4-FFF2-40B4-BE49-F238E27FC236}">
                <a16:creationId xmlns:a16="http://schemas.microsoft.com/office/drawing/2014/main" id="{3BC521D4-BDAA-5741-5164-4E22535838BC}"/>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a:t>
            </a:r>
            <a:r>
              <a:rPr lang="en-US" altLang="ja-JP" sz="1400" b="1" i="0" u="none" strike="noStrike" cap="none" dirty="0">
                <a:solidFill>
                  <a:schemeClr val="lt1"/>
                </a:solidFill>
                <a:latin typeface="Meiryo"/>
                <a:ea typeface="Meiryo"/>
                <a:cs typeface="Meiryo"/>
                <a:sym typeface="Meiryo"/>
              </a:rPr>
              <a:t>10</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sp>
        <p:nvSpPr>
          <p:cNvPr id="77" name="Google Shape;51;p19">
            <a:extLst>
              <a:ext uri="{FF2B5EF4-FFF2-40B4-BE49-F238E27FC236}">
                <a16:creationId xmlns:a16="http://schemas.microsoft.com/office/drawing/2014/main" id="{91E7069A-2F1F-16FB-F2FD-E91D9E716C95}"/>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a:t>
            </a:r>
            <a:r>
              <a:rPr lang="en-US" altLang="ja-JP" sz="1400" b="1" i="0" u="none" strike="noStrike" cap="none" dirty="0">
                <a:solidFill>
                  <a:schemeClr val="lt1"/>
                </a:solidFill>
                <a:latin typeface="Meiryo"/>
                <a:ea typeface="Meiryo"/>
                <a:cs typeface="Meiryo"/>
                <a:sym typeface="Meiryo"/>
              </a:rPr>
              <a:t>8</a:t>
            </a:r>
            <a:r>
              <a:rPr lang="ja-JP" altLang="en-US" sz="1400" b="1" i="0" u="none" strike="noStrike" cap="none" dirty="0">
                <a:solidFill>
                  <a:schemeClr val="lt1"/>
                </a:solidFill>
                <a:latin typeface="Meiryo"/>
                <a:ea typeface="Meiryo"/>
                <a:cs typeface="Meiryo"/>
                <a:sym typeface="Meiryo"/>
              </a:rPr>
              <a:t>万円～</a:t>
            </a:r>
            <a:endParaRPr lang="en-US" altLang="ja-JP" sz="1400" b="1" i="0" u="none" strike="noStrike" cap="none" dirty="0">
              <a:solidFill>
                <a:schemeClr val="lt1"/>
              </a:solidFill>
              <a:latin typeface="Meiryo"/>
              <a:ea typeface="Meiryo"/>
              <a:cs typeface="Meiryo"/>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FFFF00"/>
                </a:solidFill>
                <a:latin typeface="Meiryo"/>
                <a:ea typeface="Meiryo"/>
                <a:cs typeface="Meiryo"/>
                <a:sym typeface="Meiryo"/>
              </a:rPr>
              <a:t>+</a:t>
            </a:r>
            <a:r>
              <a:rPr lang="ja-JP" altLang="en-US" sz="1050" b="1" dirty="0">
                <a:solidFill>
                  <a:srgbClr val="FFFF00"/>
                </a:solidFill>
                <a:latin typeface="Meiryo"/>
                <a:ea typeface="Meiryo"/>
                <a:cs typeface="Meiryo"/>
                <a:sym typeface="Meiryo"/>
              </a:rPr>
              <a:t>通数単価：</a:t>
            </a:r>
            <a:r>
              <a:rPr lang="en-US" altLang="ja-JP" sz="1050" b="1" dirty="0">
                <a:solidFill>
                  <a:srgbClr val="FFFF00"/>
                </a:solidFill>
                <a:latin typeface="Meiryo"/>
                <a:ea typeface="Meiryo"/>
                <a:cs typeface="Meiryo"/>
                <a:sym typeface="Meiryo"/>
              </a:rPr>
              <a:t>7</a:t>
            </a:r>
            <a:r>
              <a:rPr lang="ja-JP" altLang="en-US" sz="1050" b="1" dirty="0">
                <a:solidFill>
                  <a:srgbClr val="FFFF00"/>
                </a:solidFill>
                <a:latin typeface="Meiryo"/>
                <a:ea typeface="Meiryo"/>
                <a:cs typeface="Meiryo"/>
                <a:sym typeface="Meiryo"/>
              </a:rPr>
              <a:t>円</a:t>
            </a:r>
            <a:endParaRPr sz="1050" b="1" i="0" u="none" strike="noStrike" cap="none" dirty="0">
              <a:solidFill>
                <a:srgbClr val="FFFF00"/>
              </a:solidFill>
              <a:latin typeface="Meiryo"/>
              <a:ea typeface="Meiryo"/>
              <a:cs typeface="Meiryo"/>
              <a:sym typeface="Meiryo"/>
            </a:endParaRPr>
          </a:p>
        </p:txBody>
      </p:sp>
      <p:sp>
        <p:nvSpPr>
          <p:cNvPr id="79" name="正方形/長方形 78">
            <a:extLst>
              <a:ext uri="{FF2B5EF4-FFF2-40B4-BE49-F238E27FC236}">
                <a16:creationId xmlns:a16="http://schemas.microsoft.com/office/drawing/2014/main" id="{B31CA3DA-9F8B-560D-3F3E-1B37667D3043}"/>
              </a:ext>
            </a:extLst>
          </p:cNvPr>
          <p:cNvSpPr/>
          <p:nvPr/>
        </p:nvSpPr>
        <p:spPr>
          <a:xfrm>
            <a:off x="5769326" y="1938056"/>
            <a:ext cx="3788228"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endParaRPr>
          </a:p>
        </p:txBody>
      </p:sp>
      <p:pic>
        <p:nvPicPr>
          <p:cNvPr id="82" name="図 81">
            <a:extLst>
              <a:ext uri="{FF2B5EF4-FFF2-40B4-BE49-F238E27FC236}">
                <a16:creationId xmlns:a16="http://schemas.microsoft.com/office/drawing/2014/main" id="{8B5BACB1-E619-75E8-84E9-0C790B13F4E4}"/>
              </a:ext>
            </a:extLst>
          </p:cNvPr>
          <p:cNvPicPr>
            <a:picLocks noChangeAspect="1"/>
          </p:cNvPicPr>
          <p:nvPr/>
        </p:nvPicPr>
        <p:blipFill>
          <a:blip r:embed="rId2"/>
          <a:stretch>
            <a:fillRect/>
          </a:stretch>
        </p:blipFill>
        <p:spPr>
          <a:xfrm>
            <a:off x="532512" y="4787607"/>
            <a:ext cx="3533302" cy="1714690"/>
          </a:xfrm>
          <a:prstGeom prst="rect">
            <a:avLst/>
          </a:prstGeom>
        </p:spPr>
      </p:pic>
      <p:pic>
        <p:nvPicPr>
          <p:cNvPr id="84" name="図 83">
            <a:extLst>
              <a:ext uri="{FF2B5EF4-FFF2-40B4-BE49-F238E27FC236}">
                <a16:creationId xmlns:a16="http://schemas.microsoft.com/office/drawing/2014/main" id="{A2B50304-2B09-7BB6-6FD5-2122ADB3185D}"/>
              </a:ext>
            </a:extLst>
          </p:cNvPr>
          <p:cNvPicPr>
            <a:picLocks noChangeAspect="1"/>
          </p:cNvPicPr>
          <p:nvPr/>
        </p:nvPicPr>
        <p:blipFill>
          <a:blip r:embed="rId3"/>
          <a:stretch>
            <a:fillRect/>
          </a:stretch>
        </p:blipFill>
        <p:spPr>
          <a:xfrm>
            <a:off x="4065814" y="4801141"/>
            <a:ext cx="1586275" cy="1701156"/>
          </a:xfrm>
          <a:prstGeom prst="rect">
            <a:avLst/>
          </a:prstGeom>
        </p:spPr>
      </p:pic>
      <p:pic>
        <p:nvPicPr>
          <p:cNvPr id="86" name="図 85">
            <a:extLst>
              <a:ext uri="{FF2B5EF4-FFF2-40B4-BE49-F238E27FC236}">
                <a16:creationId xmlns:a16="http://schemas.microsoft.com/office/drawing/2014/main" id="{FBAEE1FF-4E25-D523-E0EA-6A3361C12E5A}"/>
              </a:ext>
            </a:extLst>
          </p:cNvPr>
          <p:cNvPicPr>
            <a:picLocks noChangeAspect="1"/>
          </p:cNvPicPr>
          <p:nvPr/>
        </p:nvPicPr>
        <p:blipFill>
          <a:blip r:embed="rId4"/>
          <a:stretch>
            <a:fillRect/>
          </a:stretch>
        </p:blipFill>
        <p:spPr>
          <a:xfrm>
            <a:off x="5988432" y="2468072"/>
            <a:ext cx="3362361" cy="1977297"/>
          </a:xfrm>
          <a:prstGeom prst="rect">
            <a:avLst/>
          </a:prstGeom>
        </p:spPr>
      </p:pic>
      <p:pic>
        <p:nvPicPr>
          <p:cNvPr id="88" name="図 87">
            <a:extLst>
              <a:ext uri="{FF2B5EF4-FFF2-40B4-BE49-F238E27FC236}">
                <a16:creationId xmlns:a16="http://schemas.microsoft.com/office/drawing/2014/main" id="{3517C81E-3BB9-067B-DB2E-F6109D78F069}"/>
              </a:ext>
            </a:extLst>
          </p:cNvPr>
          <p:cNvPicPr>
            <a:picLocks noChangeAspect="1"/>
          </p:cNvPicPr>
          <p:nvPr/>
        </p:nvPicPr>
        <p:blipFill>
          <a:blip r:embed="rId5"/>
          <a:stretch>
            <a:fillRect/>
          </a:stretch>
        </p:blipFill>
        <p:spPr>
          <a:xfrm>
            <a:off x="5927443" y="4787607"/>
            <a:ext cx="3471994" cy="1626185"/>
          </a:xfrm>
          <a:prstGeom prst="rect">
            <a:avLst/>
          </a:prstGeom>
        </p:spPr>
      </p:pic>
      <p:sp>
        <p:nvSpPr>
          <p:cNvPr id="90" name="正方形/長方形 89">
            <a:extLst>
              <a:ext uri="{FF2B5EF4-FFF2-40B4-BE49-F238E27FC236}">
                <a16:creationId xmlns:a16="http://schemas.microsoft.com/office/drawing/2014/main" id="{DAE064A8-FF19-CBAF-1BB4-15234EAFE4C3}"/>
              </a:ext>
            </a:extLst>
          </p:cNvPr>
          <p:cNvSpPr/>
          <p:nvPr/>
        </p:nvSpPr>
        <p:spPr>
          <a:xfrm>
            <a:off x="5941518" y="2223921"/>
            <a:ext cx="3443844" cy="24415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dirty="0">
                <a:solidFill>
                  <a:schemeClr val="tx1"/>
                </a:solidFill>
                <a:latin typeface="メイリオ" panose="020B0604030504040204" pitchFamily="50" charset="-128"/>
                <a:ea typeface="メイリオ" panose="020B0604030504040204" pitchFamily="50" charset="-128"/>
              </a:rPr>
              <a:t>佐川急便</a:t>
            </a:r>
            <a:endParaRPr kumimoji="1" lang="ja-JP" altLang="en-US" sz="1100" dirty="0">
              <a:solidFill>
                <a:schemeClr val="tx1"/>
              </a:solidFill>
              <a:latin typeface="メイリオ" panose="020B0604030504040204" pitchFamily="50" charset="-128"/>
              <a:ea typeface="メイリオ" panose="020B0604030504040204" pitchFamily="50" charset="-128"/>
            </a:endParaRPr>
          </a:p>
        </p:txBody>
      </p:sp>
      <p:sp>
        <p:nvSpPr>
          <p:cNvPr id="92" name="正方形/長方形 91">
            <a:extLst>
              <a:ext uri="{FF2B5EF4-FFF2-40B4-BE49-F238E27FC236}">
                <a16:creationId xmlns:a16="http://schemas.microsoft.com/office/drawing/2014/main" id="{D4794AD6-6F68-15DB-7568-78E492020B13}"/>
              </a:ext>
            </a:extLst>
          </p:cNvPr>
          <p:cNvSpPr/>
          <p:nvPr/>
        </p:nvSpPr>
        <p:spPr>
          <a:xfrm>
            <a:off x="5941518" y="4499415"/>
            <a:ext cx="3443844" cy="24415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tx1"/>
                </a:solidFill>
                <a:latin typeface="メイリオ" panose="020B0604030504040204" pitchFamily="50" charset="-128"/>
                <a:ea typeface="メイリオ" panose="020B0604030504040204" pitchFamily="50" charset="-128"/>
              </a:rPr>
              <a:t>やまや（</a:t>
            </a:r>
            <a:r>
              <a:rPr kumimoji="1" lang="en-US" altLang="ja-JP" sz="1100" dirty="0">
                <a:solidFill>
                  <a:schemeClr val="tx1"/>
                </a:solidFill>
                <a:latin typeface="メイリオ" panose="020B0604030504040204" pitchFamily="50" charset="-128"/>
                <a:ea typeface="メイリオ" panose="020B0604030504040204" pitchFamily="50" charset="-128"/>
              </a:rPr>
              <a:t>EC</a:t>
            </a:r>
            <a:r>
              <a:rPr kumimoji="1" lang="ja-JP" altLang="en-US" sz="1100" dirty="0">
                <a:solidFill>
                  <a:schemeClr val="tx1"/>
                </a:solidFill>
                <a:latin typeface="メイリオ" panose="020B0604030504040204" pitchFamily="50" charset="-128"/>
                <a:ea typeface="メイリオ" panose="020B0604030504040204" pitchFamily="50" charset="-128"/>
              </a:rPr>
              <a:t>）</a:t>
            </a:r>
          </a:p>
        </p:txBody>
      </p:sp>
      <p:sp>
        <p:nvSpPr>
          <p:cNvPr id="94" name="テキスト ボックス 93">
            <a:extLst>
              <a:ext uri="{FF2B5EF4-FFF2-40B4-BE49-F238E27FC236}">
                <a16:creationId xmlns:a16="http://schemas.microsoft.com/office/drawing/2014/main" id="{89F8E75C-F7C6-511B-BA1F-6EB60A9DEADA}"/>
              </a:ext>
            </a:extLst>
          </p:cNvPr>
          <p:cNvSpPr txBox="1"/>
          <p:nvPr/>
        </p:nvSpPr>
        <p:spPr>
          <a:xfrm>
            <a:off x="3904548" y="1368741"/>
            <a:ext cx="4962524" cy="230832"/>
          </a:xfrm>
          <a:prstGeom prst="rect">
            <a:avLst/>
          </a:prstGeom>
          <a:noFill/>
        </p:spPr>
        <p:txBody>
          <a:bodyPr wrap="square">
            <a:spAutoFit/>
          </a:bodyPr>
          <a:lstStyle/>
          <a:p>
            <a:r>
              <a:rPr lang="en-US" altLang="ja-JP" sz="900" dirty="0">
                <a:solidFill>
                  <a:srgbClr val="FF0000"/>
                </a:solidFill>
                <a:latin typeface="メイリオ" panose="020B0604030504040204" pitchFamily="50" charset="-128"/>
                <a:ea typeface="メイリオ" panose="020B0604030504040204" pitchFamily="50" charset="-128"/>
              </a:rPr>
              <a:t>Sales Partner</a:t>
            </a:r>
            <a:r>
              <a:rPr lang="ja-JP" altLang="en-US" sz="900" dirty="0">
                <a:solidFill>
                  <a:srgbClr val="FF0000"/>
                </a:solidFill>
                <a:latin typeface="メイリオ" panose="020B0604030504040204" pitchFamily="50" charset="-128"/>
                <a:ea typeface="メイリオ" panose="020B0604030504040204" pitchFamily="50" charset="-128"/>
              </a:rPr>
              <a:t>、</a:t>
            </a:r>
            <a:r>
              <a:rPr lang="en-US" altLang="ja-JP" sz="900" dirty="0">
                <a:solidFill>
                  <a:srgbClr val="FF0000"/>
                </a:solidFill>
                <a:latin typeface="メイリオ" panose="020B0604030504040204" pitchFamily="50" charset="-128"/>
                <a:ea typeface="メイリオ" panose="020B0604030504040204" pitchFamily="50" charset="-128"/>
              </a:rPr>
              <a:t>Tech Partner</a:t>
            </a:r>
            <a:r>
              <a:rPr lang="ja-JP" altLang="en-US" sz="900" dirty="0">
                <a:solidFill>
                  <a:srgbClr val="FF0000"/>
                </a:solidFill>
                <a:latin typeface="メイリオ" panose="020B0604030504040204" pitchFamily="50" charset="-128"/>
                <a:ea typeface="メイリオ" panose="020B0604030504040204" pitchFamily="50" charset="-128"/>
              </a:rPr>
              <a:t>限定公開の</a:t>
            </a:r>
            <a:r>
              <a:rPr lang="en-US" altLang="ja-JP" sz="900" dirty="0">
                <a:solidFill>
                  <a:srgbClr val="FF0000"/>
                </a:solidFill>
                <a:latin typeface="メイリオ" panose="020B0604030504040204" pitchFamily="50" charset="-128"/>
                <a:ea typeface="メイリオ" panose="020B0604030504040204" pitchFamily="50" charset="-128"/>
              </a:rPr>
              <a:t>API</a:t>
            </a:r>
            <a:r>
              <a:rPr lang="ja-JP" altLang="en-US" sz="900" dirty="0">
                <a:solidFill>
                  <a:srgbClr val="FF0000"/>
                </a:solidFill>
                <a:latin typeface="メイリオ" panose="020B0604030504040204" pitchFamily="50" charset="-128"/>
                <a:ea typeface="メイリオ" panose="020B0604030504040204" pitchFamily="50" charset="-128"/>
              </a:rPr>
              <a:t>を使用した機能です。</a:t>
            </a:r>
          </a:p>
        </p:txBody>
      </p:sp>
      <p:sp>
        <p:nvSpPr>
          <p:cNvPr id="96" name="正方形/長方形 95">
            <a:extLst>
              <a:ext uri="{FF2B5EF4-FFF2-40B4-BE49-F238E27FC236}">
                <a16:creationId xmlns:a16="http://schemas.microsoft.com/office/drawing/2014/main" id="{6569B015-2B51-9A35-9379-E64729B15375}"/>
              </a:ext>
            </a:extLst>
          </p:cNvPr>
          <p:cNvSpPr/>
          <p:nvPr/>
        </p:nvSpPr>
        <p:spPr>
          <a:xfrm>
            <a:off x="543398" y="1938056"/>
            <a:ext cx="4981102" cy="2441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利用可能シーン</a:t>
            </a:r>
          </a:p>
        </p:txBody>
      </p:sp>
      <p:pic>
        <p:nvPicPr>
          <p:cNvPr id="7" name="図 6">
            <a:extLst>
              <a:ext uri="{FF2B5EF4-FFF2-40B4-BE49-F238E27FC236}">
                <a16:creationId xmlns:a16="http://schemas.microsoft.com/office/drawing/2014/main" id="{00862346-A302-637E-2976-3985B23ED00C}"/>
              </a:ext>
            </a:extLst>
          </p:cNvPr>
          <p:cNvPicPr>
            <a:picLocks noChangeAspect="1"/>
          </p:cNvPicPr>
          <p:nvPr/>
        </p:nvPicPr>
        <p:blipFill>
          <a:blip r:embed="rId6"/>
          <a:stretch>
            <a:fillRect/>
          </a:stretch>
        </p:blipFill>
        <p:spPr>
          <a:xfrm>
            <a:off x="381811" y="2197911"/>
            <a:ext cx="5286856" cy="2497015"/>
          </a:xfrm>
          <a:prstGeom prst="rect">
            <a:avLst/>
          </a:prstGeom>
        </p:spPr>
      </p:pic>
      <p:sp>
        <p:nvSpPr>
          <p:cNvPr id="10" name="テキスト ボックス 9">
            <a:extLst>
              <a:ext uri="{FF2B5EF4-FFF2-40B4-BE49-F238E27FC236}">
                <a16:creationId xmlns:a16="http://schemas.microsoft.com/office/drawing/2014/main" id="{63354FD4-3595-E9AA-7603-C702E42E9BD1}"/>
              </a:ext>
            </a:extLst>
          </p:cNvPr>
          <p:cNvSpPr txBox="1"/>
          <p:nvPr/>
        </p:nvSpPr>
        <p:spPr>
          <a:xfrm>
            <a:off x="3904548" y="1558412"/>
            <a:ext cx="4962524" cy="230832"/>
          </a:xfrm>
          <a:prstGeom prst="rect">
            <a:avLst/>
          </a:prstGeom>
          <a:noFill/>
        </p:spPr>
        <p:txBody>
          <a:bodyPr wrap="square">
            <a:spAutoFit/>
          </a:bodyPr>
          <a:lstStyle/>
          <a:p>
            <a:r>
              <a:rPr lang="ja-JP" altLang="en-US" sz="900" dirty="0">
                <a:solidFill>
                  <a:srgbClr val="FF0000"/>
                </a:solidFill>
                <a:latin typeface="メイリオ" panose="020B0604030504040204" pitchFamily="50" charset="-128"/>
                <a:ea typeface="メイリオ" panose="020B0604030504040204" pitchFamily="50" charset="-128"/>
              </a:rPr>
              <a:t>料金プランにより通数単価、利用可能機能が異なります。</a:t>
            </a:r>
          </a:p>
        </p:txBody>
      </p:sp>
    </p:spTree>
    <p:extLst>
      <p:ext uri="{BB962C8B-B14F-4D97-AF65-F5344CB8AC3E}">
        <p14:creationId xmlns:p14="http://schemas.microsoft.com/office/powerpoint/2010/main" val="37310312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0EB58E-2E23-6D6E-492D-03C38E7A1D6F}"/>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B579369E-F53C-FDC8-7374-AB2F5B31CD4F}"/>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（通知メッセージ）</a:t>
            </a:r>
          </a:p>
        </p:txBody>
      </p:sp>
      <p:grpSp>
        <p:nvGrpSpPr>
          <p:cNvPr id="3" name="グループ化 2">
            <a:extLst>
              <a:ext uri="{FF2B5EF4-FFF2-40B4-BE49-F238E27FC236}">
                <a16:creationId xmlns:a16="http://schemas.microsoft.com/office/drawing/2014/main" id="{16CDA247-29F1-37E2-FCEA-D79F4493519C}"/>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BB8D843F-BDAA-6DE1-DFCE-2A6A73C04E2B}"/>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D91D75E4-A706-8EF4-1ECC-1D62C09F934E}"/>
                </a:ext>
              </a:extLst>
            </p:cNvPr>
            <p:cNvSpPr txBox="1"/>
            <p:nvPr/>
          </p:nvSpPr>
          <p:spPr>
            <a:xfrm>
              <a:off x="1140096" y="988192"/>
              <a:ext cx="1531188"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通知メッセージ</a:t>
              </a:r>
            </a:p>
          </p:txBody>
        </p:sp>
      </p:grpSp>
      <p:sp>
        <p:nvSpPr>
          <p:cNvPr id="9" name="正方形/長方形 8">
            <a:extLst>
              <a:ext uri="{FF2B5EF4-FFF2-40B4-BE49-F238E27FC236}">
                <a16:creationId xmlns:a16="http://schemas.microsoft.com/office/drawing/2014/main" id="{F191580C-EA72-3903-0A46-57D229D50274}"/>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Meiryo"/>
                <a:ea typeface="Meiryo"/>
                <a:cs typeface="Meiryo"/>
                <a:sym typeface="Meiryo"/>
              </a:rPr>
              <a:t>WEB</a:t>
            </a:r>
            <a:r>
              <a:rPr lang="ja-JP" altLang="en-US" sz="1600" dirty="0">
                <a:latin typeface="Meiryo"/>
                <a:ea typeface="Meiryo"/>
                <a:cs typeface="Meiryo"/>
                <a:sym typeface="Meiryo"/>
              </a:rPr>
              <a:t>上のアクションユーザー、貴社保有リスト をターゲット</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に友だち登録、ステータス通知を行うことが出来る機能です。</a:t>
            </a:r>
          </a:p>
        </p:txBody>
      </p:sp>
      <p:sp>
        <p:nvSpPr>
          <p:cNvPr id="75" name="Google Shape;51;p19">
            <a:extLst>
              <a:ext uri="{FF2B5EF4-FFF2-40B4-BE49-F238E27FC236}">
                <a16:creationId xmlns:a16="http://schemas.microsoft.com/office/drawing/2014/main" id="{5B83E274-8AAB-1C88-48EF-6D543C0091D3}"/>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a:t>
            </a:r>
            <a:r>
              <a:rPr lang="en-US" altLang="ja-JP" sz="1400" b="1" i="0" u="none" strike="noStrike" cap="none" dirty="0">
                <a:solidFill>
                  <a:schemeClr val="lt1"/>
                </a:solidFill>
                <a:latin typeface="Meiryo"/>
                <a:ea typeface="Meiryo"/>
                <a:cs typeface="Meiryo"/>
                <a:sym typeface="Meiryo"/>
              </a:rPr>
              <a:t>10</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sp>
        <p:nvSpPr>
          <p:cNvPr id="77" name="Google Shape;51;p19">
            <a:extLst>
              <a:ext uri="{FF2B5EF4-FFF2-40B4-BE49-F238E27FC236}">
                <a16:creationId xmlns:a16="http://schemas.microsoft.com/office/drawing/2014/main" id="{1ACE7ABA-DEAD-27A6-7DA0-D29E467F0A0D}"/>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a:t>
            </a:r>
            <a:r>
              <a:rPr lang="en-US" altLang="ja-JP" sz="1400" b="1" i="0" u="none" strike="noStrike" cap="none" dirty="0">
                <a:solidFill>
                  <a:schemeClr val="lt1"/>
                </a:solidFill>
                <a:latin typeface="Meiryo"/>
                <a:ea typeface="Meiryo"/>
                <a:cs typeface="Meiryo"/>
                <a:sym typeface="Meiryo"/>
              </a:rPr>
              <a:t>8</a:t>
            </a:r>
            <a:r>
              <a:rPr lang="ja-JP" altLang="en-US" sz="1400" b="1" i="0" u="none" strike="noStrike" cap="none" dirty="0">
                <a:solidFill>
                  <a:schemeClr val="lt1"/>
                </a:solidFill>
                <a:latin typeface="Meiryo"/>
                <a:ea typeface="Meiryo"/>
                <a:cs typeface="Meiryo"/>
                <a:sym typeface="Meiryo"/>
              </a:rPr>
              <a:t>万円～</a:t>
            </a:r>
            <a:endParaRPr lang="en-US" altLang="ja-JP" sz="1400" b="1" i="0" u="none" strike="noStrike" cap="none" dirty="0">
              <a:solidFill>
                <a:schemeClr val="lt1"/>
              </a:solidFill>
              <a:latin typeface="Meiryo"/>
              <a:ea typeface="Meiryo"/>
              <a:cs typeface="Meiryo"/>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FFFF00"/>
                </a:solidFill>
                <a:latin typeface="Meiryo"/>
                <a:ea typeface="Meiryo"/>
                <a:cs typeface="Meiryo"/>
                <a:sym typeface="Meiryo"/>
              </a:rPr>
              <a:t>+</a:t>
            </a:r>
            <a:r>
              <a:rPr lang="ja-JP" altLang="en-US" sz="1050" b="1" dirty="0">
                <a:solidFill>
                  <a:srgbClr val="FFFF00"/>
                </a:solidFill>
                <a:latin typeface="Meiryo"/>
                <a:ea typeface="Meiryo"/>
                <a:cs typeface="Meiryo"/>
                <a:sym typeface="Meiryo"/>
              </a:rPr>
              <a:t>通数単価：</a:t>
            </a:r>
            <a:r>
              <a:rPr lang="en-US" altLang="ja-JP" sz="1050" b="1" dirty="0">
                <a:solidFill>
                  <a:srgbClr val="FFFF00"/>
                </a:solidFill>
                <a:latin typeface="Meiryo"/>
                <a:ea typeface="Meiryo"/>
                <a:cs typeface="Meiryo"/>
                <a:sym typeface="Meiryo"/>
              </a:rPr>
              <a:t>7</a:t>
            </a:r>
            <a:r>
              <a:rPr lang="ja-JP" altLang="en-US" sz="1050" b="1" dirty="0">
                <a:solidFill>
                  <a:srgbClr val="FFFF00"/>
                </a:solidFill>
                <a:latin typeface="Meiryo"/>
                <a:ea typeface="Meiryo"/>
                <a:cs typeface="Meiryo"/>
                <a:sym typeface="Meiryo"/>
              </a:rPr>
              <a:t>円</a:t>
            </a:r>
            <a:endParaRPr sz="1050" b="1" i="0" u="none" strike="noStrike" cap="none" dirty="0">
              <a:solidFill>
                <a:srgbClr val="FFFF00"/>
              </a:solidFill>
              <a:latin typeface="Meiryo"/>
              <a:ea typeface="Meiryo"/>
              <a:cs typeface="Meiryo"/>
              <a:sym typeface="Meiryo"/>
            </a:endParaRPr>
          </a:p>
        </p:txBody>
      </p:sp>
      <p:sp>
        <p:nvSpPr>
          <p:cNvPr id="94" name="テキスト ボックス 93">
            <a:extLst>
              <a:ext uri="{FF2B5EF4-FFF2-40B4-BE49-F238E27FC236}">
                <a16:creationId xmlns:a16="http://schemas.microsoft.com/office/drawing/2014/main" id="{6BA13AD6-A7FE-E393-39F7-12604E6F2A59}"/>
              </a:ext>
            </a:extLst>
          </p:cNvPr>
          <p:cNvSpPr txBox="1"/>
          <p:nvPr/>
        </p:nvSpPr>
        <p:spPr>
          <a:xfrm>
            <a:off x="3904548" y="1368741"/>
            <a:ext cx="4962524" cy="230832"/>
          </a:xfrm>
          <a:prstGeom prst="rect">
            <a:avLst/>
          </a:prstGeom>
          <a:noFill/>
        </p:spPr>
        <p:txBody>
          <a:bodyPr wrap="square">
            <a:spAutoFit/>
          </a:bodyPr>
          <a:lstStyle/>
          <a:p>
            <a:r>
              <a:rPr lang="en-US" altLang="ja-JP" sz="900" dirty="0">
                <a:solidFill>
                  <a:srgbClr val="FF0000"/>
                </a:solidFill>
                <a:latin typeface="メイリオ" panose="020B0604030504040204" pitchFamily="50" charset="-128"/>
                <a:ea typeface="メイリオ" panose="020B0604030504040204" pitchFamily="50" charset="-128"/>
              </a:rPr>
              <a:t>Sales Partner</a:t>
            </a:r>
            <a:r>
              <a:rPr lang="ja-JP" altLang="en-US" sz="900" dirty="0">
                <a:solidFill>
                  <a:srgbClr val="FF0000"/>
                </a:solidFill>
                <a:latin typeface="メイリオ" panose="020B0604030504040204" pitchFamily="50" charset="-128"/>
                <a:ea typeface="メイリオ" panose="020B0604030504040204" pitchFamily="50" charset="-128"/>
              </a:rPr>
              <a:t>、</a:t>
            </a:r>
            <a:r>
              <a:rPr lang="en-US" altLang="ja-JP" sz="900" dirty="0">
                <a:solidFill>
                  <a:srgbClr val="FF0000"/>
                </a:solidFill>
                <a:latin typeface="メイリオ" panose="020B0604030504040204" pitchFamily="50" charset="-128"/>
                <a:ea typeface="メイリオ" panose="020B0604030504040204" pitchFamily="50" charset="-128"/>
              </a:rPr>
              <a:t>Tech Partner</a:t>
            </a:r>
            <a:r>
              <a:rPr lang="ja-JP" altLang="en-US" sz="900" dirty="0">
                <a:solidFill>
                  <a:srgbClr val="FF0000"/>
                </a:solidFill>
                <a:latin typeface="メイリオ" panose="020B0604030504040204" pitchFamily="50" charset="-128"/>
                <a:ea typeface="メイリオ" panose="020B0604030504040204" pitchFamily="50" charset="-128"/>
              </a:rPr>
              <a:t>限定公開の</a:t>
            </a:r>
            <a:r>
              <a:rPr lang="en-US" altLang="ja-JP" sz="900" dirty="0">
                <a:solidFill>
                  <a:srgbClr val="FF0000"/>
                </a:solidFill>
                <a:latin typeface="メイリオ" panose="020B0604030504040204" pitchFamily="50" charset="-128"/>
                <a:ea typeface="メイリオ" panose="020B0604030504040204" pitchFamily="50" charset="-128"/>
              </a:rPr>
              <a:t>API</a:t>
            </a:r>
            <a:r>
              <a:rPr lang="ja-JP" altLang="en-US" sz="900" dirty="0">
                <a:solidFill>
                  <a:srgbClr val="FF0000"/>
                </a:solidFill>
                <a:latin typeface="メイリオ" panose="020B0604030504040204" pitchFamily="50" charset="-128"/>
                <a:ea typeface="メイリオ" panose="020B0604030504040204" pitchFamily="50" charset="-128"/>
              </a:rPr>
              <a:t>を使用した機能です。</a:t>
            </a:r>
          </a:p>
        </p:txBody>
      </p:sp>
      <p:sp>
        <p:nvSpPr>
          <p:cNvPr id="6" name="テキスト ボックス 5">
            <a:extLst>
              <a:ext uri="{FF2B5EF4-FFF2-40B4-BE49-F238E27FC236}">
                <a16:creationId xmlns:a16="http://schemas.microsoft.com/office/drawing/2014/main" id="{52DBA794-F4DB-834A-6EBA-1F38E3EB8D25}"/>
              </a:ext>
            </a:extLst>
          </p:cNvPr>
          <p:cNvSpPr txBox="1"/>
          <p:nvPr/>
        </p:nvSpPr>
        <p:spPr>
          <a:xfrm>
            <a:off x="3904548" y="1558412"/>
            <a:ext cx="4962524" cy="230832"/>
          </a:xfrm>
          <a:prstGeom prst="rect">
            <a:avLst/>
          </a:prstGeom>
          <a:noFill/>
        </p:spPr>
        <p:txBody>
          <a:bodyPr wrap="square">
            <a:spAutoFit/>
          </a:bodyPr>
          <a:lstStyle/>
          <a:p>
            <a:r>
              <a:rPr lang="ja-JP" altLang="en-US" sz="900" dirty="0">
                <a:solidFill>
                  <a:srgbClr val="FF0000"/>
                </a:solidFill>
                <a:latin typeface="メイリオ" panose="020B0604030504040204" pitchFamily="50" charset="-128"/>
                <a:ea typeface="メイリオ" panose="020B0604030504040204" pitchFamily="50" charset="-128"/>
              </a:rPr>
              <a:t>料金プランにより通数単価、利用可能機能が異なります。</a:t>
            </a:r>
          </a:p>
        </p:txBody>
      </p:sp>
      <p:pic>
        <p:nvPicPr>
          <p:cNvPr id="8" name="図 7">
            <a:extLst>
              <a:ext uri="{FF2B5EF4-FFF2-40B4-BE49-F238E27FC236}">
                <a16:creationId xmlns:a16="http://schemas.microsoft.com/office/drawing/2014/main" id="{6FEAB905-6FFF-5D16-B66E-DAD05A44B7D7}"/>
              </a:ext>
            </a:extLst>
          </p:cNvPr>
          <p:cNvPicPr>
            <a:picLocks noChangeAspect="1"/>
          </p:cNvPicPr>
          <p:nvPr/>
        </p:nvPicPr>
        <p:blipFill>
          <a:blip r:embed="rId2"/>
          <a:stretch>
            <a:fillRect/>
          </a:stretch>
        </p:blipFill>
        <p:spPr>
          <a:xfrm>
            <a:off x="543398" y="1953516"/>
            <a:ext cx="8918385" cy="4389153"/>
          </a:xfrm>
          <a:prstGeom prst="rect">
            <a:avLst/>
          </a:prstGeom>
        </p:spPr>
      </p:pic>
      <p:sp>
        <p:nvSpPr>
          <p:cNvPr id="11" name="Google Shape;51;p19">
            <a:extLst>
              <a:ext uri="{FF2B5EF4-FFF2-40B4-BE49-F238E27FC236}">
                <a16:creationId xmlns:a16="http://schemas.microsoft.com/office/drawing/2014/main" id="{3A8AD54E-DAE5-1F54-4C9C-6EA993DDD1A7}"/>
              </a:ext>
            </a:extLst>
          </p:cNvPr>
          <p:cNvSpPr/>
          <p:nvPr/>
        </p:nvSpPr>
        <p:spPr>
          <a:xfrm>
            <a:off x="6635873" y="5673123"/>
            <a:ext cx="2647463" cy="331332"/>
          </a:xfrm>
          <a:prstGeom prst="roundRect">
            <a:avLst>
              <a:gd name="adj" fmla="val 16667"/>
            </a:avLst>
          </a:prstGeom>
          <a:solidFill>
            <a:schemeClr val="tx1">
              <a:lumMod val="50000"/>
              <a:lumOff val="50000"/>
            </a:schemeClr>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100" i="0" u="none" strike="noStrike" cap="none" dirty="0">
                <a:solidFill>
                  <a:schemeClr val="lt1"/>
                </a:solidFill>
                <a:latin typeface="Meiryo"/>
                <a:ea typeface="Meiryo"/>
                <a:cs typeface="Meiryo"/>
                <a:sym typeface="Meiryo"/>
              </a:rPr>
              <a:t>利用可能なシーン一例</a:t>
            </a:r>
            <a:endParaRPr sz="900" i="0" u="none" strike="noStrike" cap="none" dirty="0">
              <a:solidFill>
                <a:srgbClr val="FFFF00"/>
              </a:solidFill>
              <a:latin typeface="Meiryo"/>
              <a:ea typeface="Meiryo"/>
              <a:cs typeface="Meiryo"/>
              <a:sym typeface="Meiryo"/>
            </a:endParaRPr>
          </a:p>
        </p:txBody>
      </p:sp>
    </p:spTree>
    <p:extLst>
      <p:ext uri="{BB962C8B-B14F-4D97-AF65-F5344CB8AC3E}">
        <p14:creationId xmlns:p14="http://schemas.microsoft.com/office/powerpoint/2010/main" val="17958488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2506C2-B2E5-BEA0-384E-7336F080BD96}"/>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AA80CD04-9456-70DB-2E44-D3EDB146193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（サンクス</a:t>
            </a:r>
            <a:r>
              <a:rPr lang="en-US" altLang="ja-JP" sz="1600" b="1" dirty="0">
                <a:solidFill>
                  <a:srgbClr val="323366"/>
                </a:solidFill>
                <a:latin typeface="メイリオ" panose="020B0604030504040204" pitchFamily="50" charset="-128"/>
                <a:ea typeface="メイリオ" panose="020B0604030504040204" pitchFamily="50" charset="-128"/>
                <a:cs typeface="Meiryo"/>
                <a:sym typeface="Meiryo"/>
              </a:rPr>
              <a:t>LINE</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誘導）</a:t>
            </a:r>
          </a:p>
        </p:txBody>
      </p:sp>
      <p:sp>
        <p:nvSpPr>
          <p:cNvPr id="11" name="正方形/長方形 10">
            <a:extLst>
              <a:ext uri="{FF2B5EF4-FFF2-40B4-BE49-F238E27FC236}">
                <a16:creationId xmlns:a16="http://schemas.microsoft.com/office/drawing/2014/main" id="{189A6A4C-E34E-E7CF-D6DD-C175E600A94D}"/>
              </a:ext>
            </a:extLst>
          </p:cNvPr>
          <p:cNvSpPr/>
          <p:nvPr/>
        </p:nvSpPr>
        <p:spPr>
          <a:xfrm>
            <a:off x="1404798" y="1938056"/>
            <a:ext cx="1859036" cy="2441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100" b="1" dirty="0">
                <a:solidFill>
                  <a:schemeClr val="tx1">
                    <a:lumMod val="50000"/>
                    <a:lumOff val="50000"/>
                  </a:schemeClr>
                </a:solidFill>
                <a:latin typeface="メイリオ" panose="020B0604030504040204" pitchFamily="50" charset="-128"/>
                <a:ea typeface="メイリオ" panose="020B0604030504040204" pitchFamily="50" charset="-128"/>
              </a:rPr>
              <a:t>WEB</a:t>
            </a:r>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サイト</a:t>
            </a:r>
          </a:p>
        </p:txBody>
      </p:sp>
      <p:sp>
        <p:nvSpPr>
          <p:cNvPr id="16" name="正方形/長方形 15">
            <a:extLst>
              <a:ext uri="{FF2B5EF4-FFF2-40B4-BE49-F238E27FC236}">
                <a16:creationId xmlns:a16="http://schemas.microsoft.com/office/drawing/2014/main" id="{32BBF438-B1EF-A61A-EE3D-69CD39766C7E}"/>
              </a:ext>
            </a:extLst>
          </p:cNvPr>
          <p:cNvSpPr/>
          <p:nvPr/>
        </p:nvSpPr>
        <p:spPr>
          <a:xfrm>
            <a:off x="5808682" y="2415743"/>
            <a:ext cx="3748873" cy="1821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正方形/長方形 16">
            <a:extLst>
              <a:ext uri="{FF2B5EF4-FFF2-40B4-BE49-F238E27FC236}">
                <a16:creationId xmlns:a16="http://schemas.microsoft.com/office/drawing/2014/main" id="{1A1E4128-77DC-C871-EE20-5BD43326E078}"/>
              </a:ext>
            </a:extLst>
          </p:cNvPr>
          <p:cNvSpPr/>
          <p:nvPr/>
        </p:nvSpPr>
        <p:spPr>
          <a:xfrm>
            <a:off x="5808681" y="4588963"/>
            <a:ext cx="3748873" cy="1821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正方形/長方形 19">
            <a:extLst>
              <a:ext uri="{FF2B5EF4-FFF2-40B4-BE49-F238E27FC236}">
                <a16:creationId xmlns:a16="http://schemas.microsoft.com/office/drawing/2014/main" id="{F37BB268-660A-FEE4-BB39-0E338F1DDC23}"/>
              </a:ext>
            </a:extLst>
          </p:cNvPr>
          <p:cNvSpPr/>
          <p:nvPr/>
        </p:nvSpPr>
        <p:spPr>
          <a:xfrm>
            <a:off x="5974632" y="2304788"/>
            <a:ext cx="1859036" cy="24415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tx1"/>
                </a:solidFill>
                <a:latin typeface="メイリオ" panose="020B0604030504040204" pitchFamily="50" charset="-128"/>
                <a:ea typeface="メイリオ" panose="020B0604030504040204" pitchFamily="50" charset="-128"/>
              </a:rPr>
              <a:t>非</a:t>
            </a:r>
            <a:r>
              <a:rPr lang="en-US" altLang="ja-JP" sz="1100" b="1" dirty="0">
                <a:solidFill>
                  <a:schemeClr val="tx1"/>
                </a:solidFill>
                <a:latin typeface="メイリオ" panose="020B0604030504040204" pitchFamily="50" charset="-128"/>
                <a:ea typeface="メイリオ" panose="020B0604030504040204" pitchFamily="50" charset="-128"/>
              </a:rPr>
              <a:t>LINE</a:t>
            </a:r>
            <a:r>
              <a:rPr lang="ja-JP" altLang="en-US" sz="1100" b="1" dirty="0">
                <a:solidFill>
                  <a:schemeClr val="tx1"/>
                </a:solidFill>
                <a:latin typeface="メイリオ" panose="020B0604030504040204" pitchFamily="50" charset="-128"/>
                <a:ea typeface="メイリオ" panose="020B0604030504040204" pitchFamily="50" charset="-128"/>
              </a:rPr>
              <a:t>友だちの場合</a:t>
            </a:r>
          </a:p>
        </p:txBody>
      </p:sp>
      <p:sp>
        <p:nvSpPr>
          <p:cNvPr id="21" name="正方形/長方形 20">
            <a:extLst>
              <a:ext uri="{FF2B5EF4-FFF2-40B4-BE49-F238E27FC236}">
                <a16:creationId xmlns:a16="http://schemas.microsoft.com/office/drawing/2014/main" id="{C9FF4626-FD17-CA1C-8064-F46606D0BCCE}"/>
              </a:ext>
            </a:extLst>
          </p:cNvPr>
          <p:cNvSpPr/>
          <p:nvPr/>
        </p:nvSpPr>
        <p:spPr>
          <a:xfrm>
            <a:off x="5974632" y="4466888"/>
            <a:ext cx="1859036" cy="24415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tx1"/>
                </a:solidFill>
                <a:latin typeface="メイリオ" panose="020B0604030504040204" pitchFamily="50" charset="-128"/>
                <a:ea typeface="メイリオ" panose="020B0604030504040204" pitchFamily="50" charset="-128"/>
              </a:rPr>
              <a:t>既存の</a:t>
            </a:r>
            <a:r>
              <a:rPr lang="en-US" altLang="ja-JP" sz="1100" b="1" dirty="0">
                <a:solidFill>
                  <a:schemeClr val="tx1"/>
                </a:solidFill>
                <a:latin typeface="メイリオ" panose="020B0604030504040204" pitchFamily="50" charset="-128"/>
                <a:ea typeface="メイリオ" panose="020B0604030504040204" pitchFamily="50" charset="-128"/>
              </a:rPr>
              <a:t>LINE</a:t>
            </a:r>
            <a:r>
              <a:rPr lang="ja-JP" altLang="en-US" sz="1100" b="1" dirty="0">
                <a:solidFill>
                  <a:schemeClr val="tx1"/>
                </a:solidFill>
                <a:latin typeface="メイリオ" panose="020B0604030504040204" pitchFamily="50" charset="-128"/>
                <a:ea typeface="メイリオ" panose="020B0604030504040204" pitchFamily="50" charset="-128"/>
              </a:rPr>
              <a:t>友だちの場合</a:t>
            </a:r>
          </a:p>
        </p:txBody>
      </p:sp>
      <p:cxnSp>
        <p:nvCxnSpPr>
          <p:cNvPr id="23" name="直線矢印コネクタ 22">
            <a:extLst>
              <a:ext uri="{FF2B5EF4-FFF2-40B4-BE49-F238E27FC236}">
                <a16:creationId xmlns:a16="http://schemas.microsoft.com/office/drawing/2014/main" id="{8F202453-7FF9-8AE7-D10D-66F74A74A2F4}"/>
              </a:ext>
            </a:extLst>
          </p:cNvPr>
          <p:cNvCxnSpPr/>
          <p:nvPr/>
        </p:nvCxnSpPr>
        <p:spPr>
          <a:xfrm>
            <a:off x="4361857" y="3239708"/>
            <a:ext cx="1407469" cy="0"/>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4" name="直線矢印コネクタ 23">
            <a:extLst>
              <a:ext uri="{FF2B5EF4-FFF2-40B4-BE49-F238E27FC236}">
                <a16:creationId xmlns:a16="http://schemas.microsoft.com/office/drawing/2014/main" id="{C92F6E28-BBFF-1A56-AC22-CA16D2F1B1EA}"/>
              </a:ext>
            </a:extLst>
          </p:cNvPr>
          <p:cNvCxnSpPr>
            <a:cxnSpLocks/>
          </p:cNvCxnSpPr>
          <p:nvPr/>
        </p:nvCxnSpPr>
        <p:spPr>
          <a:xfrm>
            <a:off x="4361857" y="3392108"/>
            <a:ext cx="1407469" cy="1358385"/>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9" name="正方形/長方形 28">
            <a:extLst>
              <a:ext uri="{FF2B5EF4-FFF2-40B4-BE49-F238E27FC236}">
                <a16:creationId xmlns:a16="http://schemas.microsoft.com/office/drawing/2014/main" id="{1D29A9C3-A3E8-0780-A758-0C8E7E376668}"/>
              </a:ext>
            </a:extLst>
          </p:cNvPr>
          <p:cNvSpPr/>
          <p:nvPr/>
        </p:nvSpPr>
        <p:spPr>
          <a:xfrm>
            <a:off x="4867227" y="2304788"/>
            <a:ext cx="374449" cy="3205847"/>
          </a:xfrm>
          <a:prstGeom prst="rect">
            <a:avLst/>
          </a:prstGeom>
          <a:solidFill>
            <a:srgbClr val="00FF00">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tx1"/>
                </a:solidFill>
                <a:latin typeface="メイリオ" panose="020B0604030504040204" pitchFamily="50" charset="-128"/>
                <a:ea typeface="メイリオ" panose="020B0604030504040204" pitchFamily="50" charset="-128"/>
              </a:rPr>
              <a:t>｜</a:t>
            </a:r>
            <a:r>
              <a:rPr lang="en-US" altLang="ja-JP" sz="1100" b="1" dirty="0">
                <a:solidFill>
                  <a:schemeClr val="tx1"/>
                </a:solidFill>
                <a:latin typeface="メイリオ" panose="020B0604030504040204" pitchFamily="50" charset="-128"/>
                <a:ea typeface="メイリオ" panose="020B0604030504040204" pitchFamily="50" charset="-128"/>
              </a:rPr>
              <a:t>D</a:t>
            </a:r>
          </a:p>
          <a:p>
            <a:pPr algn="ctr"/>
            <a:r>
              <a:rPr kumimoji="1" lang="en-US" altLang="ja-JP" sz="1100" b="1" dirty="0">
                <a:solidFill>
                  <a:schemeClr val="tx1"/>
                </a:solidFill>
                <a:latin typeface="メイリオ" panose="020B0604030504040204" pitchFamily="50" charset="-128"/>
                <a:ea typeface="メイリオ" panose="020B0604030504040204" pitchFamily="50" charset="-128"/>
              </a:rPr>
              <a:t>Y</a:t>
            </a:r>
          </a:p>
          <a:p>
            <a:pPr algn="ctr"/>
            <a:r>
              <a:rPr lang="en-US" altLang="ja-JP" sz="1100" b="1" dirty="0">
                <a:solidFill>
                  <a:schemeClr val="tx1"/>
                </a:solidFill>
                <a:latin typeface="メイリオ" panose="020B0604030504040204" pitchFamily="50" charset="-128"/>
                <a:ea typeface="メイリオ" panose="020B0604030504040204" pitchFamily="50" charset="-128"/>
              </a:rPr>
              <a:t>M</a:t>
            </a:r>
            <a:r>
              <a:rPr lang="ja-JP" altLang="en-US" sz="1100" b="1" dirty="0">
                <a:solidFill>
                  <a:schemeClr val="tx1"/>
                </a:solidFill>
                <a:latin typeface="メイリオ" panose="020B0604030504040204" pitchFamily="50" charset="-128"/>
                <a:ea typeface="メイリオ" panose="020B0604030504040204" pitchFamily="50" charset="-128"/>
              </a:rPr>
              <a:t>ツ</a:t>
            </a:r>
            <a:endParaRPr lang="en-US" altLang="ja-JP" sz="1100" b="1" dirty="0">
              <a:solidFill>
                <a:schemeClr val="tx1"/>
              </a:solidFill>
              <a:latin typeface="メイリオ" panose="020B0604030504040204" pitchFamily="50" charset="-128"/>
              <a:ea typeface="メイリオ" panose="020B0604030504040204" pitchFamily="50" charset="-128"/>
            </a:endParaRPr>
          </a:p>
          <a:p>
            <a:pPr algn="ctr"/>
            <a:r>
              <a:rPr kumimoji="1" lang="ja-JP" altLang="en-US" sz="1100" b="1" dirty="0">
                <a:solidFill>
                  <a:schemeClr val="tx1"/>
                </a:solidFill>
                <a:latin typeface="メイリオ" panose="020B0604030504040204" pitchFamily="50" charset="-128"/>
                <a:ea typeface="メイリオ" panose="020B0604030504040204" pitchFamily="50" charset="-128"/>
              </a:rPr>
              <a:t>｜ルで</a:t>
            </a:r>
            <a:endParaRPr kumimoji="1" lang="en-US" altLang="ja-JP" sz="1100" b="1" dirty="0">
              <a:solidFill>
                <a:schemeClr val="tx1"/>
              </a:solidFill>
              <a:latin typeface="メイリオ" panose="020B0604030504040204" pitchFamily="50" charset="-128"/>
              <a:ea typeface="メイリオ" panose="020B0604030504040204" pitchFamily="50" charset="-128"/>
            </a:endParaRPr>
          </a:p>
          <a:p>
            <a:pPr algn="ctr"/>
            <a:r>
              <a:rPr kumimoji="1" lang="en-US" altLang="ja-JP" sz="1100" b="1" dirty="0">
                <a:solidFill>
                  <a:schemeClr val="tx1"/>
                </a:solidFill>
                <a:latin typeface="メイリオ" panose="020B0604030504040204" pitchFamily="50" charset="-128"/>
                <a:ea typeface="メイリオ" panose="020B0604030504040204" pitchFamily="50" charset="-128"/>
              </a:rPr>
              <a:t>L</a:t>
            </a:r>
            <a:br>
              <a:rPr kumimoji="1" lang="en-US" altLang="ja-JP" sz="1100" b="1" dirty="0">
                <a:solidFill>
                  <a:schemeClr val="tx1"/>
                </a:solidFill>
                <a:latin typeface="メイリオ" panose="020B0604030504040204" pitchFamily="50" charset="-128"/>
                <a:ea typeface="メイリオ" panose="020B0604030504040204" pitchFamily="50" charset="-128"/>
              </a:rPr>
            </a:br>
            <a:r>
              <a:rPr kumimoji="1" lang="en-US" altLang="ja-JP" sz="1100" b="1" dirty="0">
                <a:solidFill>
                  <a:schemeClr val="tx1"/>
                </a:solidFill>
                <a:latin typeface="メイリオ" panose="020B0604030504040204" pitchFamily="50" charset="-128"/>
                <a:ea typeface="メイリオ" panose="020B0604030504040204" pitchFamily="50" charset="-128"/>
              </a:rPr>
              <a:t>I</a:t>
            </a:r>
          </a:p>
          <a:p>
            <a:pPr algn="ctr"/>
            <a:r>
              <a:rPr lang="en-US" altLang="ja-JP" sz="1100" b="1" dirty="0">
                <a:solidFill>
                  <a:schemeClr val="tx1"/>
                </a:solidFill>
                <a:latin typeface="メイリオ" panose="020B0604030504040204" pitchFamily="50" charset="-128"/>
                <a:ea typeface="メイリオ" panose="020B0604030504040204" pitchFamily="50" charset="-128"/>
              </a:rPr>
              <a:t>N</a:t>
            </a:r>
            <a:br>
              <a:rPr lang="en-US" altLang="ja-JP" sz="1100" b="1" dirty="0">
                <a:solidFill>
                  <a:schemeClr val="tx1"/>
                </a:solidFill>
                <a:latin typeface="メイリオ" panose="020B0604030504040204" pitchFamily="50" charset="-128"/>
                <a:ea typeface="メイリオ" panose="020B0604030504040204" pitchFamily="50" charset="-128"/>
              </a:rPr>
            </a:br>
            <a:r>
              <a:rPr lang="en-US" altLang="ja-JP" sz="1100" b="1" dirty="0">
                <a:solidFill>
                  <a:schemeClr val="tx1"/>
                </a:solidFill>
                <a:latin typeface="メイリオ" panose="020B0604030504040204" pitchFamily="50" charset="-128"/>
                <a:ea typeface="メイリオ" panose="020B0604030504040204" pitchFamily="50" charset="-128"/>
              </a:rPr>
              <a:t>E</a:t>
            </a:r>
          </a:p>
          <a:p>
            <a:pPr algn="ctr"/>
            <a:r>
              <a:rPr kumimoji="1" lang="ja-JP" altLang="en-US" sz="1100" b="1" dirty="0">
                <a:solidFill>
                  <a:schemeClr val="tx1"/>
                </a:solidFill>
                <a:latin typeface="メイリオ" panose="020B0604030504040204" pitchFamily="50" charset="-128"/>
                <a:ea typeface="メイリオ" panose="020B0604030504040204" pitchFamily="50" charset="-128"/>
              </a:rPr>
              <a:t>動線</a:t>
            </a:r>
            <a:endParaRPr kumimoji="1" lang="en-US" altLang="ja-JP" sz="1100" b="1" dirty="0">
              <a:solidFill>
                <a:schemeClr val="tx1"/>
              </a:solidFill>
              <a:latin typeface="メイリオ" panose="020B0604030504040204" pitchFamily="50" charset="-128"/>
              <a:ea typeface="メイリオ" panose="020B0604030504040204" pitchFamily="50" charset="-128"/>
            </a:endParaRPr>
          </a:p>
          <a:p>
            <a:pPr algn="ctr"/>
            <a:r>
              <a:rPr lang="ja-JP" altLang="en-US" sz="1100" b="1" dirty="0">
                <a:solidFill>
                  <a:schemeClr val="tx1"/>
                </a:solidFill>
                <a:latin typeface="メイリオ" panose="020B0604030504040204" pitchFamily="50" charset="-128"/>
                <a:ea typeface="メイリオ" panose="020B0604030504040204" pitchFamily="50" charset="-128"/>
              </a:rPr>
              <a:t>に</a:t>
            </a:r>
            <a:endParaRPr kumimoji="1" lang="en-US" altLang="ja-JP" sz="1100" b="1" dirty="0">
              <a:solidFill>
                <a:schemeClr val="tx1"/>
              </a:solidFill>
              <a:latin typeface="メイリオ" panose="020B0604030504040204" pitchFamily="50" charset="-128"/>
              <a:ea typeface="メイリオ" panose="020B0604030504040204" pitchFamily="50" charset="-128"/>
            </a:endParaRPr>
          </a:p>
          <a:p>
            <a:pPr algn="ctr"/>
            <a:r>
              <a:rPr kumimoji="1" lang="ja-JP" altLang="en-US" sz="1100" b="1" dirty="0">
                <a:solidFill>
                  <a:schemeClr val="tx1"/>
                </a:solidFill>
                <a:latin typeface="メイリオ" panose="020B0604030504040204" pitchFamily="50" charset="-128"/>
                <a:ea typeface="メイリオ" panose="020B0604030504040204" pitchFamily="50" charset="-128"/>
              </a:rPr>
              <a:t>｜</a:t>
            </a:r>
          </a:p>
        </p:txBody>
      </p:sp>
      <p:pic>
        <p:nvPicPr>
          <p:cNvPr id="45" name="図 44" descr="グラフィカル ユーザー インターフェイス, アプリケーション, Teams&#10;&#10;AI 生成コンテンツは誤りを含む可能性があります。">
            <a:extLst>
              <a:ext uri="{FF2B5EF4-FFF2-40B4-BE49-F238E27FC236}">
                <a16:creationId xmlns:a16="http://schemas.microsoft.com/office/drawing/2014/main" id="{E91CA7A5-62B3-F1F8-38C3-DDCE33E1CC3D}"/>
              </a:ext>
            </a:extLst>
          </p:cNvPr>
          <p:cNvPicPr>
            <a:picLocks noChangeAspect="1"/>
          </p:cNvPicPr>
          <p:nvPr/>
        </p:nvPicPr>
        <p:blipFill>
          <a:blip r:embed="rId2" cstate="print">
            <a:extLst>
              <a:ext uri="{28A0092B-C50C-407E-A947-70E740481C1C}">
                <a14:useLocalDpi xmlns:a14="http://schemas.microsoft.com/office/drawing/2010/main" val="0"/>
              </a:ext>
            </a:extLst>
          </a:blip>
          <a:srcRect t="4580"/>
          <a:stretch>
            <a:fillRect/>
          </a:stretch>
        </p:blipFill>
        <p:spPr>
          <a:xfrm>
            <a:off x="7999618" y="2128994"/>
            <a:ext cx="1231081" cy="2085097"/>
          </a:xfrm>
          <a:prstGeom prst="rect">
            <a:avLst/>
          </a:prstGeom>
        </p:spPr>
      </p:pic>
      <p:pic>
        <p:nvPicPr>
          <p:cNvPr id="46" name="図 45" descr="電卓の写真のスマートフォンのスクリーンショット&#10;&#10;AI 生成コンテンツは誤りを含む可能性があります。">
            <a:extLst>
              <a:ext uri="{FF2B5EF4-FFF2-40B4-BE49-F238E27FC236}">
                <a16:creationId xmlns:a16="http://schemas.microsoft.com/office/drawing/2014/main" id="{31EEAD2C-3BE8-0210-FD8E-46D52B30A0AE}"/>
              </a:ext>
            </a:extLst>
          </p:cNvPr>
          <p:cNvPicPr>
            <a:picLocks noChangeAspect="1"/>
          </p:cNvPicPr>
          <p:nvPr/>
        </p:nvPicPr>
        <p:blipFill>
          <a:blip r:embed="rId3" cstate="print">
            <a:extLst>
              <a:ext uri="{28A0092B-C50C-407E-A947-70E740481C1C}">
                <a14:useLocalDpi xmlns:a14="http://schemas.microsoft.com/office/drawing/2010/main" val="0"/>
              </a:ext>
            </a:extLst>
          </a:blip>
          <a:srcRect t="4580"/>
          <a:stretch>
            <a:fillRect/>
          </a:stretch>
        </p:blipFill>
        <p:spPr>
          <a:xfrm>
            <a:off x="7999618" y="4325046"/>
            <a:ext cx="1231081" cy="2085098"/>
          </a:xfrm>
          <a:prstGeom prst="rect">
            <a:avLst/>
          </a:prstGeom>
        </p:spPr>
      </p:pic>
      <p:sp>
        <p:nvSpPr>
          <p:cNvPr id="48" name="テキスト ボックス 47">
            <a:extLst>
              <a:ext uri="{FF2B5EF4-FFF2-40B4-BE49-F238E27FC236}">
                <a16:creationId xmlns:a16="http://schemas.microsoft.com/office/drawing/2014/main" id="{E989AEB3-EF0E-8885-B426-8B6A5E01F40A}"/>
              </a:ext>
            </a:extLst>
          </p:cNvPr>
          <p:cNvSpPr txBox="1"/>
          <p:nvPr/>
        </p:nvSpPr>
        <p:spPr>
          <a:xfrm>
            <a:off x="5974631" y="2701376"/>
            <a:ext cx="1859035" cy="430887"/>
          </a:xfrm>
          <a:prstGeom prst="rect">
            <a:avLst/>
          </a:prstGeom>
          <a:noFill/>
        </p:spPr>
        <p:txBody>
          <a:bodyPr wrap="square">
            <a:spAutoFit/>
          </a:bodyPr>
          <a:lstStyle/>
          <a:p>
            <a:r>
              <a:rPr kumimoji="1" lang="ja-JP" altLang="en-US" sz="1100" b="1" dirty="0">
                <a:latin typeface="メイリオ" panose="020B0604030504040204" pitchFamily="50" charset="-128"/>
                <a:ea typeface="メイリオ" panose="020B0604030504040204" pitchFamily="50" charset="-128"/>
              </a:rPr>
              <a:t>公式アカウントの</a:t>
            </a:r>
            <a:r>
              <a:rPr lang="ja-JP" altLang="en-US" sz="1100" b="1" dirty="0">
                <a:latin typeface="メイリオ" panose="020B0604030504040204" pitchFamily="50" charset="-128"/>
                <a:ea typeface="メイリオ" panose="020B0604030504040204" pitchFamily="50" charset="-128"/>
              </a:rPr>
              <a:t>友だち</a:t>
            </a:r>
            <a:endParaRPr lang="en-US" altLang="ja-JP" sz="1100" b="1" dirty="0">
              <a:latin typeface="メイリオ" panose="020B0604030504040204" pitchFamily="50" charset="-128"/>
              <a:ea typeface="メイリオ" panose="020B0604030504040204" pitchFamily="50" charset="-128"/>
            </a:endParaRPr>
          </a:p>
          <a:p>
            <a:r>
              <a:rPr lang="ja-JP" altLang="en-US" sz="1100" b="1" dirty="0">
                <a:latin typeface="メイリオ" panose="020B0604030504040204" pitchFamily="50" charset="-128"/>
                <a:ea typeface="メイリオ" panose="020B0604030504040204" pitchFamily="50" charset="-128"/>
              </a:rPr>
              <a:t>登録ページ</a:t>
            </a:r>
            <a:r>
              <a:rPr lang="ja-JP" altLang="en-US" sz="1100" dirty="0">
                <a:latin typeface="メイリオ" panose="020B0604030504040204" pitchFamily="50" charset="-128"/>
                <a:ea typeface="メイリオ" panose="020B0604030504040204" pitchFamily="50" charset="-128"/>
              </a:rPr>
              <a:t>へ遷移する。</a:t>
            </a:r>
            <a:endParaRPr kumimoji="1" lang="ja-JP" altLang="en-US" sz="1100" dirty="0">
              <a:latin typeface="メイリオ" panose="020B0604030504040204" pitchFamily="50" charset="-128"/>
              <a:ea typeface="メイリオ" panose="020B0604030504040204" pitchFamily="50" charset="-128"/>
            </a:endParaRPr>
          </a:p>
        </p:txBody>
      </p:sp>
      <p:sp>
        <p:nvSpPr>
          <p:cNvPr id="49" name="テキスト ボックス 48">
            <a:extLst>
              <a:ext uri="{FF2B5EF4-FFF2-40B4-BE49-F238E27FC236}">
                <a16:creationId xmlns:a16="http://schemas.microsoft.com/office/drawing/2014/main" id="{4E6D08E3-E0B3-1DF4-0533-E4EE67240415}"/>
              </a:ext>
            </a:extLst>
          </p:cNvPr>
          <p:cNvSpPr txBox="1"/>
          <p:nvPr/>
        </p:nvSpPr>
        <p:spPr>
          <a:xfrm>
            <a:off x="5971905" y="4914274"/>
            <a:ext cx="1859035" cy="1384995"/>
          </a:xfrm>
          <a:prstGeom prst="rect">
            <a:avLst/>
          </a:prstGeom>
          <a:noFill/>
        </p:spPr>
        <p:txBody>
          <a:bodyPr wrap="square">
            <a:spAutoFit/>
          </a:bodyPr>
          <a:lstStyle/>
          <a:p>
            <a:r>
              <a:rPr kumimoji="1" lang="ja-JP" altLang="en-US" sz="1100" b="1" dirty="0">
                <a:latin typeface="メイリオ" panose="020B0604030504040204" pitchFamily="50" charset="-128"/>
                <a:ea typeface="メイリオ" panose="020B0604030504040204" pitchFamily="50" charset="-128"/>
              </a:rPr>
              <a:t>公式アカウントの</a:t>
            </a:r>
            <a:r>
              <a:rPr lang="ja-JP" altLang="en-US" sz="1100" b="1" dirty="0">
                <a:latin typeface="メイリオ" panose="020B0604030504040204" pitchFamily="50" charset="-128"/>
                <a:ea typeface="メイリオ" panose="020B0604030504040204" pitchFamily="50" charset="-128"/>
              </a:rPr>
              <a:t>トーク</a:t>
            </a:r>
            <a:endParaRPr lang="en-US" altLang="ja-JP" sz="1100" b="1" dirty="0">
              <a:latin typeface="メイリオ" panose="020B0604030504040204" pitchFamily="50" charset="-128"/>
              <a:ea typeface="メイリオ" panose="020B0604030504040204" pitchFamily="50" charset="-128"/>
            </a:endParaRPr>
          </a:p>
          <a:p>
            <a:r>
              <a:rPr lang="ja-JP" altLang="en-US" sz="1100" b="1" dirty="0">
                <a:latin typeface="メイリオ" panose="020B0604030504040204" pitchFamily="50" charset="-128"/>
                <a:ea typeface="メイリオ" panose="020B0604030504040204" pitchFamily="50" charset="-128"/>
              </a:rPr>
              <a:t>画面</a:t>
            </a:r>
            <a:r>
              <a:rPr lang="ja-JP" altLang="en-US" sz="1100" dirty="0">
                <a:latin typeface="メイリオ" panose="020B0604030504040204" pitchFamily="50" charset="-128"/>
                <a:ea typeface="メイリオ" panose="020B0604030504040204" pitchFamily="50" charset="-128"/>
              </a:rPr>
              <a:t>へ遷移する。</a:t>
            </a:r>
            <a:endParaRPr lang="en-US" altLang="ja-JP" sz="1100" dirty="0">
              <a:latin typeface="メイリオ" panose="020B0604030504040204" pitchFamily="50" charset="-128"/>
              <a:ea typeface="メイリオ" panose="020B0604030504040204" pitchFamily="50" charset="-128"/>
            </a:endParaRPr>
          </a:p>
          <a:p>
            <a:r>
              <a:rPr kumimoji="1" lang="en-US" altLang="ja-JP" sz="1000" dirty="0">
                <a:solidFill>
                  <a:srgbClr val="FF0000"/>
                </a:solidFill>
                <a:latin typeface="メイリオ" panose="020B0604030504040204" pitchFamily="50" charset="-128"/>
                <a:ea typeface="メイリオ" panose="020B0604030504040204" pitchFamily="50" charset="-128"/>
              </a:rPr>
              <a:t>※</a:t>
            </a:r>
            <a:r>
              <a:rPr kumimoji="1" lang="ja-JP" altLang="en-US" sz="1000" dirty="0">
                <a:solidFill>
                  <a:srgbClr val="FF0000"/>
                </a:solidFill>
                <a:latin typeface="メイリオ" panose="020B0604030504040204" pitchFamily="50" charset="-128"/>
                <a:ea typeface="メイリオ" panose="020B0604030504040204" pitchFamily="50" charset="-128"/>
              </a:rPr>
              <a:t>設定によりフォーム入力</a:t>
            </a:r>
            <a:endParaRPr kumimoji="1" lang="en-US" altLang="ja-JP" sz="1000" dirty="0">
              <a:solidFill>
                <a:srgbClr val="FF0000"/>
              </a:solidFill>
              <a:latin typeface="メイリオ" panose="020B0604030504040204" pitchFamily="50" charset="-128"/>
              <a:ea typeface="メイリオ" panose="020B0604030504040204" pitchFamily="50" charset="-128"/>
            </a:endParaRPr>
          </a:p>
          <a:p>
            <a:r>
              <a:rPr lang="ja-JP" altLang="en-US" sz="1000" dirty="0">
                <a:solidFill>
                  <a:srgbClr val="FF0000"/>
                </a:solidFill>
                <a:latin typeface="メイリオ" panose="020B0604030504040204" pitchFamily="50" charset="-128"/>
                <a:ea typeface="メイリオ" panose="020B0604030504040204" pitchFamily="50" charset="-128"/>
              </a:rPr>
              <a:t>　内容を踏襲した入力画面</a:t>
            </a:r>
            <a:endParaRPr lang="en-US" altLang="ja-JP" sz="1000" dirty="0">
              <a:solidFill>
                <a:srgbClr val="FF0000"/>
              </a:solidFill>
              <a:latin typeface="メイリオ" panose="020B0604030504040204" pitchFamily="50" charset="-128"/>
              <a:ea typeface="メイリオ" panose="020B0604030504040204" pitchFamily="50" charset="-128"/>
            </a:endParaRPr>
          </a:p>
          <a:p>
            <a:r>
              <a:rPr kumimoji="1" lang="ja-JP" altLang="en-US" sz="1000" dirty="0">
                <a:solidFill>
                  <a:srgbClr val="FF0000"/>
                </a:solidFill>
                <a:latin typeface="メイリオ" panose="020B0604030504040204" pitchFamily="50" charset="-128"/>
                <a:ea typeface="メイリオ" panose="020B0604030504040204" pitchFamily="50" charset="-128"/>
              </a:rPr>
              <a:t>　を表示させることが可能。</a:t>
            </a:r>
            <a:endParaRPr kumimoji="1" lang="en-US" altLang="ja-JP" sz="1000" dirty="0">
              <a:solidFill>
                <a:srgbClr val="FF0000"/>
              </a:solidFill>
              <a:latin typeface="メイリオ" panose="020B0604030504040204" pitchFamily="50" charset="-128"/>
              <a:ea typeface="メイリオ" panose="020B0604030504040204" pitchFamily="50" charset="-128"/>
            </a:endParaRPr>
          </a:p>
          <a:p>
            <a:endParaRPr lang="en-US" altLang="ja-JP" sz="1000" dirty="0">
              <a:solidFill>
                <a:srgbClr val="FF0000"/>
              </a:solidFill>
              <a:latin typeface="メイリオ" panose="020B0604030504040204" pitchFamily="50" charset="-128"/>
              <a:ea typeface="メイリオ" panose="020B0604030504040204" pitchFamily="50" charset="-128"/>
            </a:endParaRPr>
          </a:p>
          <a:p>
            <a:r>
              <a:rPr lang="ja-JP" altLang="en-US" sz="1100" b="1" dirty="0">
                <a:latin typeface="メイリオ" panose="020B0604030504040204" pitchFamily="50" charset="-128"/>
                <a:ea typeface="メイリオ" panose="020B0604030504040204" pitchFamily="50" charset="-128"/>
              </a:rPr>
              <a:t>↓</a:t>
            </a:r>
            <a:endParaRPr lang="en-US" altLang="ja-JP" sz="1100" b="1" dirty="0">
              <a:latin typeface="メイリオ" panose="020B0604030504040204" pitchFamily="50" charset="-128"/>
              <a:ea typeface="メイリオ" panose="020B0604030504040204" pitchFamily="50" charset="-128"/>
            </a:endParaRPr>
          </a:p>
          <a:p>
            <a:r>
              <a:rPr kumimoji="1" lang="ja-JP" altLang="en-US" sz="1100" b="1" dirty="0">
                <a:latin typeface="メイリオ" panose="020B0604030504040204" pitchFamily="50" charset="-128"/>
                <a:ea typeface="メイリオ" panose="020B0604030504040204" pitchFamily="50" charset="-128"/>
              </a:rPr>
              <a:t>配信セグメントに利用可</a:t>
            </a:r>
            <a:endParaRPr kumimoji="1" lang="ja-JP" altLang="en-US" sz="1100" dirty="0">
              <a:latin typeface="メイリオ" panose="020B0604030504040204" pitchFamily="50" charset="-128"/>
              <a:ea typeface="メイリオ" panose="020B0604030504040204" pitchFamily="50" charset="-128"/>
            </a:endParaRPr>
          </a:p>
        </p:txBody>
      </p:sp>
      <p:pic>
        <p:nvPicPr>
          <p:cNvPr id="56" name="図 55">
            <a:extLst>
              <a:ext uri="{FF2B5EF4-FFF2-40B4-BE49-F238E27FC236}">
                <a16:creationId xmlns:a16="http://schemas.microsoft.com/office/drawing/2014/main" id="{0B7B313D-7D5F-4357-9B38-DFC3DBC5FCF6}"/>
              </a:ext>
            </a:extLst>
          </p:cNvPr>
          <p:cNvPicPr>
            <a:picLocks noChangeAspect="1"/>
          </p:cNvPicPr>
          <p:nvPr/>
        </p:nvPicPr>
        <p:blipFill>
          <a:blip r:embed="rId4"/>
          <a:stretch>
            <a:fillRect/>
          </a:stretch>
        </p:blipFill>
        <p:spPr>
          <a:xfrm>
            <a:off x="8048301" y="3085325"/>
            <a:ext cx="1133712" cy="110223"/>
          </a:xfrm>
          <a:prstGeom prst="rect">
            <a:avLst/>
          </a:prstGeom>
        </p:spPr>
      </p:pic>
      <p:pic>
        <p:nvPicPr>
          <p:cNvPr id="57" name="図 56">
            <a:extLst>
              <a:ext uri="{FF2B5EF4-FFF2-40B4-BE49-F238E27FC236}">
                <a16:creationId xmlns:a16="http://schemas.microsoft.com/office/drawing/2014/main" id="{A8EA42C4-338F-850B-B276-B83DC2A73148}"/>
              </a:ext>
            </a:extLst>
          </p:cNvPr>
          <p:cNvPicPr>
            <a:picLocks noChangeAspect="1"/>
          </p:cNvPicPr>
          <p:nvPr/>
        </p:nvPicPr>
        <p:blipFill>
          <a:blip r:embed="rId5"/>
          <a:stretch>
            <a:fillRect/>
          </a:stretch>
        </p:blipFill>
        <p:spPr>
          <a:xfrm>
            <a:off x="8378027" y="3091633"/>
            <a:ext cx="479964" cy="106659"/>
          </a:xfrm>
          <a:prstGeom prst="rect">
            <a:avLst/>
          </a:prstGeom>
        </p:spPr>
      </p:pic>
      <p:pic>
        <p:nvPicPr>
          <p:cNvPr id="58" name="図 57">
            <a:extLst>
              <a:ext uri="{FF2B5EF4-FFF2-40B4-BE49-F238E27FC236}">
                <a16:creationId xmlns:a16="http://schemas.microsoft.com/office/drawing/2014/main" id="{CCB04072-A708-EEE7-1345-D4C9E9FA9C1D}"/>
              </a:ext>
            </a:extLst>
          </p:cNvPr>
          <p:cNvPicPr>
            <a:picLocks noChangeAspect="1"/>
          </p:cNvPicPr>
          <p:nvPr/>
        </p:nvPicPr>
        <p:blipFill>
          <a:blip r:embed="rId5"/>
          <a:stretch>
            <a:fillRect/>
          </a:stretch>
        </p:blipFill>
        <p:spPr>
          <a:xfrm>
            <a:off x="8395919" y="4322141"/>
            <a:ext cx="334412" cy="74315"/>
          </a:xfrm>
          <a:prstGeom prst="rect">
            <a:avLst/>
          </a:prstGeom>
        </p:spPr>
      </p:pic>
      <p:pic>
        <p:nvPicPr>
          <p:cNvPr id="59" name="図 58">
            <a:extLst>
              <a:ext uri="{FF2B5EF4-FFF2-40B4-BE49-F238E27FC236}">
                <a16:creationId xmlns:a16="http://schemas.microsoft.com/office/drawing/2014/main" id="{EDED354B-362F-AAF7-76A6-52D8547EDC91}"/>
              </a:ext>
            </a:extLst>
          </p:cNvPr>
          <p:cNvPicPr>
            <a:picLocks noChangeAspect="1"/>
          </p:cNvPicPr>
          <p:nvPr/>
        </p:nvPicPr>
        <p:blipFill>
          <a:blip r:embed="rId5"/>
          <a:stretch>
            <a:fillRect/>
          </a:stretch>
        </p:blipFill>
        <p:spPr>
          <a:xfrm>
            <a:off x="8548319" y="4474541"/>
            <a:ext cx="334412" cy="74315"/>
          </a:xfrm>
          <a:prstGeom prst="rect">
            <a:avLst/>
          </a:prstGeom>
        </p:spPr>
      </p:pic>
      <p:sp>
        <p:nvSpPr>
          <p:cNvPr id="1030" name="楕円 1029">
            <a:extLst>
              <a:ext uri="{FF2B5EF4-FFF2-40B4-BE49-F238E27FC236}">
                <a16:creationId xmlns:a16="http://schemas.microsoft.com/office/drawing/2014/main" id="{A0934BB8-8F8D-D4F0-8D59-8F32A6A6E03A}"/>
              </a:ext>
            </a:extLst>
          </p:cNvPr>
          <p:cNvSpPr/>
          <p:nvPr/>
        </p:nvSpPr>
        <p:spPr>
          <a:xfrm>
            <a:off x="8414131" y="2644225"/>
            <a:ext cx="396000" cy="396000"/>
          </a:xfrm>
          <a:prstGeom prst="ellipse">
            <a:avLst/>
          </a:prstGeom>
          <a:solidFill>
            <a:schemeClr val="bg1">
              <a:lumMod val="95000"/>
            </a:schemeClr>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600" dirty="0">
                <a:solidFill>
                  <a:schemeClr val="tx1"/>
                </a:solidFill>
                <a:latin typeface="メイリオ" panose="020B0604030504040204" pitchFamily="50" charset="-128"/>
                <a:ea typeface="メイリオ" panose="020B0604030504040204" pitchFamily="50" charset="-128"/>
              </a:rPr>
              <a:t>ロゴ</a:t>
            </a:r>
          </a:p>
        </p:txBody>
      </p:sp>
      <p:sp>
        <p:nvSpPr>
          <p:cNvPr id="34" name="正方形/長方形 33">
            <a:extLst>
              <a:ext uri="{FF2B5EF4-FFF2-40B4-BE49-F238E27FC236}">
                <a16:creationId xmlns:a16="http://schemas.microsoft.com/office/drawing/2014/main" id="{A593FC72-954C-48DC-E845-1A5FCE4C9E00}"/>
              </a:ext>
            </a:extLst>
          </p:cNvPr>
          <p:cNvSpPr/>
          <p:nvPr/>
        </p:nvSpPr>
        <p:spPr>
          <a:xfrm>
            <a:off x="315283" y="2196668"/>
            <a:ext cx="1778402" cy="3994401"/>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5" name="二等辺三角形 34">
            <a:extLst>
              <a:ext uri="{FF2B5EF4-FFF2-40B4-BE49-F238E27FC236}">
                <a16:creationId xmlns:a16="http://schemas.microsoft.com/office/drawing/2014/main" id="{D9FB7255-AF30-7B82-6180-D447A3754744}"/>
              </a:ext>
            </a:extLst>
          </p:cNvPr>
          <p:cNvSpPr/>
          <p:nvPr/>
        </p:nvSpPr>
        <p:spPr>
          <a:xfrm rot="5400000">
            <a:off x="2108593" y="2360745"/>
            <a:ext cx="252701" cy="198744"/>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6" name="二等辺三角形 35">
            <a:extLst>
              <a:ext uri="{FF2B5EF4-FFF2-40B4-BE49-F238E27FC236}">
                <a16:creationId xmlns:a16="http://schemas.microsoft.com/office/drawing/2014/main" id="{626832A8-575E-5E2B-73F4-BE5567514E57}"/>
              </a:ext>
            </a:extLst>
          </p:cNvPr>
          <p:cNvSpPr/>
          <p:nvPr/>
        </p:nvSpPr>
        <p:spPr>
          <a:xfrm rot="5400000">
            <a:off x="2225165" y="2360745"/>
            <a:ext cx="252701" cy="198744"/>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二等辺三角形 36">
            <a:extLst>
              <a:ext uri="{FF2B5EF4-FFF2-40B4-BE49-F238E27FC236}">
                <a16:creationId xmlns:a16="http://schemas.microsoft.com/office/drawing/2014/main" id="{9D8E2C96-1207-00B8-6FC3-23370EFD7A03}"/>
              </a:ext>
            </a:extLst>
          </p:cNvPr>
          <p:cNvSpPr/>
          <p:nvPr/>
        </p:nvSpPr>
        <p:spPr>
          <a:xfrm rot="5400000">
            <a:off x="2341737" y="2360745"/>
            <a:ext cx="252701" cy="198744"/>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8" name="正方形/長方形 37">
            <a:extLst>
              <a:ext uri="{FF2B5EF4-FFF2-40B4-BE49-F238E27FC236}">
                <a16:creationId xmlns:a16="http://schemas.microsoft.com/office/drawing/2014/main" id="{28671F13-F479-AFF6-9832-C7C00D2D05EE}"/>
              </a:ext>
            </a:extLst>
          </p:cNvPr>
          <p:cNvSpPr/>
          <p:nvPr/>
        </p:nvSpPr>
        <p:spPr>
          <a:xfrm>
            <a:off x="614547" y="4198381"/>
            <a:ext cx="1154315" cy="244151"/>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latin typeface="メイリオ" panose="020B0604030504040204" pitchFamily="50" charset="-128"/>
                <a:ea typeface="メイリオ" panose="020B0604030504040204" pitchFamily="50" charset="-128"/>
              </a:rPr>
              <a:t>フォーム</a:t>
            </a:r>
          </a:p>
        </p:txBody>
      </p:sp>
      <p:pic>
        <p:nvPicPr>
          <p:cNvPr id="40" name="図 39" descr="テキスト, 手紙&#10;&#10;AI 生成コンテンツは誤りを含む可能性があります。">
            <a:extLst>
              <a:ext uri="{FF2B5EF4-FFF2-40B4-BE49-F238E27FC236}">
                <a16:creationId xmlns:a16="http://schemas.microsoft.com/office/drawing/2014/main" id="{2B8DDCE0-83B3-5BAA-0FFE-3D329FBE2D94}"/>
              </a:ext>
            </a:extLst>
          </p:cNvPr>
          <p:cNvPicPr>
            <a:picLocks noChangeAspect="1"/>
          </p:cNvPicPr>
          <p:nvPr/>
        </p:nvPicPr>
        <p:blipFill>
          <a:blip r:embed="rId6" cstate="print">
            <a:extLst>
              <a:ext uri="{28A0092B-C50C-407E-A947-70E740481C1C}">
                <a14:useLocalDpi xmlns:a14="http://schemas.microsoft.com/office/drawing/2010/main" val="0"/>
              </a:ext>
            </a:extLst>
          </a:blip>
          <a:srcRect t="4580"/>
          <a:stretch>
            <a:fillRect/>
          </a:stretch>
        </p:blipFill>
        <p:spPr>
          <a:xfrm>
            <a:off x="663353" y="2289246"/>
            <a:ext cx="1048252" cy="1775437"/>
          </a:xfrm>
          <a:prstGeom prst="rect">
            <a:avLst/>
          </a:prstGeom>
        </p:spPr>
      </p:pic>
      <p:pic>
        <p:nvPicPr>
          <p:cNvPr id="41" name="図 40">
            <a:extLst>
              <a:ext uri="{FF2B5EF4-FFF2-40B4-BE49-F238E27FC236}">
                <a16:creationId xmlns:a16="http://schemas.microsoft.com/office/drawing/2014/main" id="{EE7C7FD3-78CB-4D67-F96A-D6F8017FE224}"/>
              </a:ext>
            </a:extLst>
          </p:cNvPr>
          <p:cNvPicPr>
            <a:picLocks noChangeAspect="1"/>
          </p:cNvPicPr>
          <p:nvPr/>
        </p:nvPicPr>
        <p:blipFill>
          <a:blip r:embed="rId7"/>
          <a:stretch>
            <a:fillRect/>
          </a:stretch>
        </p:blipFill>
        <p:spPr>
          <a:xfrm>
            <a:off x="641171" y="2325575"/>
            <a:ext cx="494484" cy="86136"/>
          </a:xfrm>
          <a:prstGeom prst="rect">
            <a:avLst/>
          </a:prstGeom>
        </p:spPr>
      </p:pic>
      <p:pic>
        <p:nvPicPr>
          <p:cNvPr id="42" name="図 41">
            <a:extLst>
              <a:ext uri="{FF2B5EF4-FFF2-40B4-BE49-F238E27FC236}">
                <a16:creationId xmlns:a16="http://schemas.microsoft.com/office/drawing/2014/main" id="{2E6CA8C2-2D04-CD9A-C431-4766768BBF3D}"/>
              </a:ext>
            </a:extLst>
          </p:cNvPr>
          <p:cNvPicPr>
            <a:picLocks noChangeAspect="1"/>
          </p:cNvPicPr>
          <p:nvPr/>
        </p:nvPicPr>
        <p:blipFill>
          <a:blip r:embed="rId7"/>
          <a:stretch>
            <a:fillRect/>
          </a:stretch>
        </p:blipFill>
        <p:spPr>
          <a:xfrm>
            <a:off x="630233" y="2328011"/>
            <a:ext cx="494484" cy="86136"/>
          </a:xfrm>
          <a:prstGeom prst="rect">
            <a:avLst/>
          </a:prstGeom>
        </p:spPr>
      </p:pic>
      <p:pic>
        <p:nvPicPr>
          <p:cNvPr id="47" name="図 46">
            <a:extLst>
              <a:ext uri="{FF2B5EF4-FFF2-40B4-BE49-F238E27FC236}">
                <a16:creationId xmlns:a16="http://schemas.microsoft.com/office/drawing/2014/main" id="{E5BE860E-2799-E5F4-ADCA-4ADBD44E0D0C}"/>
              </a:ext>
            </a:extLst>
          </p:cNvPr>
          <p:cNvPicPr>
            <a:picLocks noChangeAspect="1"/>
          </p:cNvPicPr>
          <p:nvPr/>
        </p:nvPicPr>
        <p:blipFill>
          <a:blip r:embed="rId7"/>
          <a:stretch>
            <a:fillRect/>
          </a:stretch>
        </p:blipFill>
        <p:spPr>
          <a:xfrm>
            <a:off x="810116" y="3773334"/>
            <a:ext cx="494484" cy="86136"/>
          </a:xfrm>
          <a:prstGeom prst="rect">
            <a:avLst/>
          </a:prstGeom>
        </p:spPr>
      </p:pic>
      <p:pic>
        <p:nvPicPr>
          <p:cNvPr id="55" name="図 54">
            <a:extLst>
              <a:ext uri="{FF2B5EF4-FFF2-40B4-BE49-F238E27FC236}">
                <a16:creationId xmlns:a16="http://schemas.microsoft.com/office/drawing/2014/main" id="{8AF12F67-4C9A-867F-4608-8FE9DA811630}"/>
              </a:ext>
            </a:extLst>
          </p:cNvPr>
          <p:cNvPicPr>
            <a:picLocks noChangeAspect="1"/>
          </p:cNvPicPr>
          <p:nvPr/>
        </p:nvPicPr>
        <p:blipFill>
          <a:blip r:embed="rId8"/>
          <a:stretch>
            <a:fillRect/>
          </a:stretch>
        </p:blipFill>
        <p:spPr>
          <a:xfrm>
            <a:off x="647157" y="2445202"/>
            <a:ext cx="1076073" cy="1468487"/>
          </a:xfrm>
          <a:prstGeom prst="rect">
            <a:avLst/>
          </a:prstGeom>
        </p:spPr>
      </p:pic>
      <p:pic>
        <p:nvPicPr>
          <p:cNvPr id="1024" name="図 1023">
            <a:extLst>
              <a:ext uri="{FF2B5EF4-FFF2-40B4-BE49-F238E27FC236}">
                <a16:creationId xmlns:a16="http://schemas.microsoft.com/office/drawing/2014/main" id="{E5E4719A-E6F5-34E0-F2FD-37322E2A76AA}"/>
              </a:ext>
            </a:extLst>
          </p:cNvPr>
          <p:cNvPicPr>
            <a:picLocks noChangeAspect="1"/>
          </p:cNvPicPr>
          <p:nvPr/>
        </p:nvPicPr>
        <p:blipFill>
          <a:blip r:embed="rId9"/>
          <a:stretch>
            <a:fillRect/>
          </a:stretch>
        </p:blipFill>
        <p:spPr>
          <a:xfrm>
            <a:off x="1125324" y="2303179"/>
            <a:ext cx="560995" cy="133465"/>
          </a:xfrm>
          <a:prstGeom prst="rect">
            <a:avLst/>
          </a:prstGeom>
        </p:spPr>
      </p:pic>
      <p:sp>
        <p:nvSpPr>
          <p:cNvPr id="1026" name="テキスト ボックス 1025">
            <a:extLst>
              <a:ext uri="{FF2B5EF4-FFF2-40B4-BE49-F238E27FC236}">
                <a16:creationId xmlns:a16="http://schemas.microsoft.com/office/drawing/2014/main" id="{1B57767B-4EA3-C247-B88C-4D505A95BD20}"/>
              </a:ext>
            </a:extLst>
          </p:cNvPr>
          <p:cNvSpPr txBox="1"/>
          <p:nvPr/>
        </p:nvSpPr>
        <p:spPr>
          <a:xfrm>
            <a:off x="-490844" y="4711039"/>
            <a:ext cx="3405553" cy="400110"/>
          </a:xfrm>
          <a:prstGeom prst="rect">
            <a:avLst/>
          </a:prstGeom>
          <a:noFill/>
        </p:spPr>
        <p:txBody>
          <a:bodyPr wrap="square">
            <a:spAutoFit/>
          </a:bodyPr>
          <a:lstStyle/>
          <a:p>
            <a:pPr algn="ctr"/>
            <a:r>
              <a:rPr lang="en-US" altLang="ja-JP" sz="1000" b="1" dirty="0">
                <a:solidFill>
                  <a:srgbClr val="FF0000"/>
                </a:solidFill>
                <a:latin typeface="メイリオ" panose="020B0604030504040204" pitchFamily="50" charset="-128"/>
                <a:ea typeface="メイリオ" panose="020B0604030504040204" pitchFamily="50" charset="-128"/>
              </a:rPr>
              <a:t>※</a:t>
            </a:r>
            <a:r>
              <a:rPr lang="ja-JP" altLang="en-US" sz="1000" b="1" dirty="0">
                <a:solidFill>
                  <a:srgbClr val="FF0000"/>
                </a:solidFill>
                <a:latin typeface="メイリオ" panose="020B0604030504040204" pitchFamily="50" charset="-128"/>
                <a:ea typeface="メイリオ" panose="020B0604030504040204" pitchFamily="50" charset="-128"/>
              </a:rPr>
              <a:t>入力した内容を</a:t>
            </a:r>
            <a:endParaRPr lang="en-US" altLang="ja-JP" sz="1000" b="1" dirty="0">
              <a:solidFill>
                <a:srgbClr val="FF0000"/>
              </a:solidFill>
              <a:latin typeface="メイリオ" panose="020B0604030504040204" pitchFamily="50" charset="-128"/>
              <a:ea typeface="メイリオ" panose="020B0604030504040204" pitchFamily="50" charset="-128"/>
            </a:endParaRPr>
          </a:p>
          <a:p>
            <a:pPr algn="ctr"/>
            <a:r>
              <a:rPr lang="ja-JP" altLang="en-US" sz="1000" b="1" dirty="0">
                <a:solidFill>
                  <a:srgbClr val="FF0000"/>
                </a:solidFill>
                <a:latin typeface="メイリオ" panose="020B0604030504040204" pitchFamily="50" charset="-128"/>
                <a:ea typeface="メイリオ" panose="020B0604030504040204" pitchFamily="50" charset="-128"/>
              </a:rPr>
              <a:t>トークに反映が可能。</a:t>
            </a:r>
            <a:endParaRPr lang="en-US" altLang="ja-JP" sz="1000" b="1" dirty="0">
              <a:solidFill>
                <a:srgbClr val="FF0000"/>
              </a:solidFill>
              <a:latin typeface="メイリオ" panose="020B0604030504040204" pitchFamily="50" charset="-128"/>
              <a:ea typeface="メイリオ" panose="020B0604030504040204" pitchFamily="50" charset="-128"/>
            </a:endParaRPr>
          </a:p>
        </p:txBody>
      </p:sp>
      <p:sp>
        <p:nvSpPr>
          <p:cNvPr id="1032" name="正方形/長方形 1031">
            <a:extLst>
              <a:ext uri="{FF2B5EF4-FFF2-40B4-BE49-F238E27FC236}">
                <a16:creationId xmlns:a16="http://schemas.microsoft.com/office/drawing/2014/main" id="{D1D96D42-255C-636E-49E5-2CDA95DD6764}"/>
              </a:ext>
            </a:extLst>
          </p:cNvPr>
          <p:cNvSpPr/>
          <p:nvPr/>
        </p:nvSpPr>
        <p:spPr>
          <a:xfrm>
            <a:off x="2584156" y="2196668"/>
            <a:ext cx="1778402" cy="3994401"/>
          </a:xfrm>
          <a:prstGeom prst="rect">
            <a:avLst/>
          </a:prstGeom>
          <a:solidFill>
            <a:schemeClr val="bg1"/>
          </a:solid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34" name="正方形/長方形 1033">
            <a:extLst>
              <a:ext uri="{FF2B5EF4-FFF2-40B4-BE49-F238E27FC236}">
                <a16:creationId xmlns:a16="http://schemas.microsoft.com/office/drawing/2014/main" id="{8693E451-BCB1-207B-6B73-131F2A8588BF}"/>
              </a:ext>
            </a:extLst>
          </p:cNvPr>
          <p:cNvSpPr/>
          <p:nvPr/>
        </p:nvSpPr>
        <p:spPr>
          <a:xfrm>
            <a:off x="2909322" y="4198381"/>
            <a:ext cx="1154315" cy="244151"/>
          </a:xfrm>
          <a:prstGeom prst="rect">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100" b="1" dirty="0">
                <a:latin typeface="メイリオ" panose="020B0604030504040204" pitchFamily="50" charset="-128"/>
                <a:ea typeface="メイリオ" panose="020B0604030504040204" pitchFamily="50" charset="-128"/>
              </a:rPr>
              <a:t>CV</a:t>
            </a:r>
            <a:endParaRPr kumimoji="1" lang="ja-JP" altLang="en-US" sz="1100" b="1" dirty="0">
              <a:latin typeface="メイリオ" panose="020B0604030504040204" pitchFamily="50" charset="-128"/>
              <a:ea typeface="メイリオ" panose="020B0604030504040204" pitchFamily="50" charset="-128"/>
            </a:endParaRPr>
          </a:p>
        </p:txBody>
      </p:sp>
      <p:sp>
        <p:nvSpPr>
          <p:cNvPr id="1036" name="正方形/長方形 1035">
            <a:extLst>
              <a:ext uri="{FF2B5EF4-FFF2-40B4-BE49-F238E27FC236}">
                <a16:creationId xmlns:a16="http://schemas.microsoft.com/office/drawing/2014/main" id="{43EEA9CC-C52C-B219-FF18-6E6EA44E4D24}"/>
              </a:ext>
            </a:extLst>
          </p:cNvPr>
          <p:cNvSpPr/>
          <p:nvPr/>
        </p:nvSpPr>
        <p:spPr>
          <a:xfrm>
            <a:off x="2692868" y="4436119"/>
            <a:ext cx="1396722" cy="10450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・購入完了</a:t>
            </a:r>
            <a:endParaRPr kumimoji="1" lang="en-US" altLang="ja-JP" sz="1100" b="1" dirty="0">
              <a:solidFill>
                <a:schemeClr val="tx1">
                  <a:lumMod val="50000"/>
                  <a:lumOff val="50000"/>
                </a:schemeClr>
              </a:solidFill>
              <a:latin typeface="メイリオ" panose="020B0604030504040204" pitchFamily="50" charset="-128"/>
              <a:ea typeface="メイリオ" panose="020B0604030504040204" pitchFamily="50" charset="-128"/>
            </a:endParaRPr>
          </a:p>
          <a:p>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・セミナー予約</a:t>
            </a:r>
            <a:endParaRPr kumimoji="1" lang="en-US" altLang="ja-JP" sz="1100" b="1" dirty="0">
              <a:solidFill>
                <a:schemeClr val="tx1">
                  <a:lumMod val="50000"/>
                  <a:lumOff val="50000"/>
                </a:schemeClr>
              </a:solidFill>
              <a:latin typeface="メイリオ" panose="020B0604030504040204" pitchFamily="50" charset="-128"/>
              <a:ea typeface="メイリオ" panose="020B0604030504040204" pitchFamily="50" charset="-128"/>
            </a:endParaRPr>
          </a:p>
          <a:p>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・登録完了</a:t>
            </a:r>
            <a:endParaRPr kumimoji="1" lang="en-US" altLang="ja-JP" sz="1100" b="1"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・メルマガ登録</a:t>
            </a:r>
            <a:endParaRPr lang="en-US" altLang="ja-JP" sz="1100" b="1" dirty="0">
              <a:solidFill>
                <a:schemeClr val="tx1">
                  <a:lumMod val="50000"/>
                  <a:lumOff val="50000"/>
                </a:schemeClr>
              </a:solidFill>
              <a:latin typeface="メイリオ" panose="020B0604030504040204" pitchFamily="50" charset="-128"/>
              <a:ea typeface="メイリオ" panose="020B0604030504040204" pitchFamily="50" charset="-128"/>
            </a:endParaRPr>
          </a:p>
          <a:p>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・その他</a:t>
            </a:r>
          </a:p>
        </p:txBody>
      </p:sp>
      <p:pic>
        <p:nvPicPr>
          <p:cNvPr id="1038" name="図 1037" descr="テキスト, 手紙&#10;&#10;AI 生成コンテンツは誤りを含む可能性があります。">
            <a:extLst>
              <a:ext uri="{FF2B5EF4-FFF2-40B4-BE49-F238E27FC236}">
                <a16:creationId xmlns:a16="http://schemas.microsoft.com/office/drawing/2014/main" id="{85260668-6C66-A032-FFE0-0276021F9433}"/>
              </a:ext>
            </a:extLst>
          </p:cNvPr>
          <p:cNvPicPr>
            <a:picLocks noChangeAspect="1"/>
          </p:cNvPicPr>
          <p:nvPr/>
        </p:nvPicPr>
        <p:blipFill>
          <a:blip r:embed="rId6" cstate="print">
            <a:extLst>
              <a:ext uri="{28A0092B-C50C-407E-A947-70E740481C1C}">
                <a14:useLocalDpi xmlns:a14="http://schemas.microsoft.com/office/drawing/2010/main" val="0"/>
              </a:ext>
            </a:extLst>
          </a:blip>
          <a:srcRect t="4580"/>
          <a:stretch>
            <a:fillRect/>
          </a:stretch>
        </p:blipFill>
        <p:spPr>
          <a:xfrm>
            <a:off x="2977448" y="2296209"/>
            <a:ext cx="1048252" cy="1775437"/>
          </a:xfrm>
          <a:prstGeom prst="rect">
            <a:avLst/>
          </a:prstGeom>
        </p:spPr>
      </p:pic>
      <p:pic>
        <p:nvPicPr>
          <p:cNvPr id="1039" name="Picture 2" descr="買い物完了！イラスト｜無料イラスト・フリー素材なら「イラストAC」">
            <a:extLst>
              <a:ext uri="{FF2B5EF4-FFF2-40B4-BE49-F238E27FC236}">
                <a16:creationId xmlns:a16="http://schemas.microsoft.com/office/drawing/2014/main" id="{23D05307-D6FE-6284-27D3-3433EE0122E2}"/>
              </a:ext>
            </a:extLst>
          </p:cNvPr>
          <p:cNvPicPr>
            <a:picLocks noChangeAspect="1" noChangeArrowheads="1"/>
          </p:cNvPicPr>
          <p:nvPr/>
        </p:nvPicPr>
        <p:blipFill rotWithShape="1">
          <a:blip r:embed="rId10" cstate="print">
            <a:extLst>
              <a:ext uri="{28A0092B-C50C-407E-A947-70E740481C1C}">
                <a14:useLocalDpi xmlns:a14="http://schemas.microsoft.com/office/drawing/2010/main" val="0"/>
              </a:ext>
            </a:extLst>
          </a:blip>
          <a:srcRect l="20270" r="23682"/>
          <a:stretch>
            <a:fillRect/>
          </a:stretch>
        </p:blipFill>
        <p:spPr bwMode="auto">
          <a:xfrm>
            <a:off x="3866329" y="4627146"/>
            <a:ext cx="395417" cy="529521"/>
          </a:xfrm>
          <a:prstGeom prst="rect">
            <a:avLst/>
          </a:prstGeom>
          <a:noFill/>
          <a:extLst>
            <a:ext uri="{909E8E84-426E-40DD-AFC4-6F175D3DCCD1}">
              <a14:hiddenFill xmlns:a14="http://schemas.microsoft.com/office/drawing/2010/main">
                <a:solidFill>
                  <a:srgbClr val="FFFFFF"/>
                </a:solidFill>
              </a14:hiddenFill>
            </a:ext>
          </a:extLst>
        </p:spPr>
      </p:pic>
      <p:pic>
        <p:nvPicPr>
          <p:cNvPr id="1040" name="図 1039">
            <a:extLst>
              <a:ext uri="{FF2B5EF4-FFF2-40B4-BE49-F238E27FC236}">
                <a16:creationId xmlns:a16="http://schemas.microsoft.com/office/drawing/2014/main" id="{D40EFC68-F8C8-CACE-392A-C804A102B410}"/>
              </a:ext>
            </a:extLst>
          </p:cNvPr>
          <p:cNvPicPr>
            <a:picLocks noChangeAspect="1"/>
          </p:cNvPicPr>
          <p:nvPr/>
        </p:nvPicPr>
        <p:blipFill>
          <a:blip r:embed="rId7"/>
          <a:stretch>
            <a:fillRect/>
          </a:stretch>
        </p:blipFill>
        <p:spPr>
          <a:xfrm>
            <a:off x="2955266" y="2332538"/>
            <a:ext cx="494484" cy="86136"/>
          </a:xfrm>
          <a:prstGeom prst="rect">
            <a:avLst/>
          </a:prstGeom>
        </p:spPr>
      </p:pic>
      <p:pic>
        <p:nvPicPr>
          <p:cNvPr id="1041" name="図 1040">
            <a:extLst>
              <a:ext uri="{FF2B5EF4-FFF2-40B4-BE49-F238E27FC236}">
                <a16:creationId xmlns:a16="http://schemas.microsoft.com/office/drawing/2014/main" id="{BA9B0596-4197-6BA5-B58D-7E67FD1379B1}"/>
              </a:ext>
            </a:extLst>
          </p:cNvPr>
          <p:cNvPicPr>
            <a:picLocks noChangeAspect="1"/>
          </p:cNvPicPr>
          <p:nvPr/>
        </p:nvPicPr>
        <p:blipFill>
          <a:blip r:embed="rId7"/>
          <a:stretch>
            <a:fillRect/>
          </a:stretch>
        </p:blipFill>
        <p:spPr>
          <a:xfrm>
            <a:off x="2944328" y="2334974"/>
            <a:ext cx="494484" cy="86136"/>
          </a:xfrm>
          <a:prstGeom prst="rect">
            <a:avLst/>
          </a:prstGeom>
        </p:spPr>
      </p:pic>
      <p:pic>
        <p:nvPicPr>
          <p:cNvPr id="1042" name="図 1041">
            <a:extLst>
              <a:ext uri="{FF2B5EF4-FFF2-40B4-BE49-F238E27FC236}">
                <a16:creationId xmlns:a16="http://schemas.microsoft.com/office/drawing/2014/main" id="{A3D5D1CE-703D-3244-20B5-0CBB6C5EB467}"/>
              </a:ext>
            </a:extLst>
          </p:cNvPr>
          <p:cNvPicPr>
            <a:picLocks noChangeAspect="1"/>
          </p:cNvPicPr>
          <p:nvPr/>
        </p:nvPicPr>
        <p:blipFill>
          <a:blip r:embed="rId7"/>
          <a:stretch>
            <a:fillRect/>
          </a:stretch>
        </p:blipFill>
        <p:spPr>
          <a:xfrm>
            <a:off x="3124211" y="3780297"/>
            <a:ext cx="494484" cy="86136"/>
          </a:xfrm>
          <a:prstGeom prst="rect">
            <a:avLst/>
          </a:prstGeom>
        </p:spPr>
      </p:pic>
      <p:sp>
        <p:nvSpPr>
          <p:cNvPr id="1043" name="テキスト ボックス 1042">
            <a:extLst>
              <a:ext uri="{FF2B5EF4-FFF2-40B4-BE49-F238E27FC236}">
                <a16:creationId xmlns:a16="http://schemas.microsoft.com/office/drawing/2014/main" id="{434489DF-76E5-B08D-AB93-7A020A3C23F0}"/>
              </a:ext>
            </a:extLst>
          </p:cNvPr>
          <p:cNvSpPr txBox="1"/>
          <p:nvPr/>
        </p:nvSpPr>
        <p:spPr>
          <a:xfrm>
            <a:off x="1254839" y="5195928"/>
            <a:ext cx="1679395" cy="338554"/>
          </a:xfrm>
          <a:prstGeom prst="rect">
            <a:avLst/>
          </a:prstGeom>
          <a:solidFill>
            <a:schemeClr val="bg1">
              <a:alpha val="56000"/>
            </a:schemeClr>
          </a:solidFill>
        </p:spPr>
        <p:txBody>
          <a:bodyPr wrap="square">
            <a:spAutoFit/>
          </a:bodyPr>
          <a:lstStyle/>
          <a:p>
            <a:pPr algn="ctr"/>
            <a:r>
              <a:rPr lang="en-US" altLang="ja-JP" sz="800" b="1" dirty="0">
                <a:solidFill>
                  <a:schemeClr val="bg1">
                    <a:lumMod val="85000"/>
                  </a:schemeClr>
                </a:solidFill>
                <a:latin typeface="メイリオ" panose="020B0604030504040204" pitchFamily="50" charset="-128"/>
                <a:ea typeface="メイリオ" panose="020B0604030504040204" pitchFamily="50" charset="-128"/>
              </a:rPr>
              <a:t>※</a:t>
            </a:r>
            <a:r>
              <a:rPr lang="ja-JP" altLang="en-US" sz="800" b="1" dirty="0">
                <a:solidFill>
                  <a:schemeClr val="bg1">
                    <a:lumMod val="85000"/>
                  </a:schemeClr>
                </a:solidFill>
                <a:latin typeface="メイリオ" panose="020B0604030504040204" pitchFamily="50" charset="-128"/>
                <a:ea typeface="メイリオ" panose="020B0604030504040204" pitchFamily="50" charset="-128"/>
              </a:rPr>
              <a:t>ユーザーの個人情報収集が</a:t>
            </a:r>
            <a:endParaRPr lang="en-US" altLang="ja-JP" sz="800" b="1" dirty="0">
              <a:solidFill>
                <a:schemeClr val="bg1">
                  <a:lumMod val="85000"/>
                </a:schemeClr>
              </a:solidFill>
              <a:latin typeface="メイリオ" panose="020B0604030504040204" pitchFamily="50" charset="-128"/>
              <a:ea typeface="メイリオ" panose="020B0604030504040204" pitchFamily="50" charset="-128"/>
            </a:endParaRPr>
          </a:p>
          <a:p>
            <a:pPr algn="ctr"/>
            <a:r>
              <a:rPr lang="ja-JP" altLang="en-US" sz="800" b="1" dirty="0">
                <a:solidFill>
                  <a:schemeClr val="bg1">
                    <a:lumMod val="85000"/>
                  </a:schemeClr>
                </a:solidFill>
                <a:latin typeface="メイリオ" panose="020B0604030504040204" pitchFamily="50" charset="-128"/>
                <a:ea typeface="メイリオ" panose="020B0604030504040204" pitchFamily="50" charset="-128"/>
              </a:rPr>
              <a:t>完了したタイミング</a:t>
            </a:r>
            <a:endParaRPr kumimoji="1" lang="ja-JP" altLang="en-US" sz="800" b="1" dirty="0">
              <a:solidFill>
                <a:schemeClr val="bg1">
                  <a:lumMod val="85000"/>
                </a:schemeClr>
              </a:solidFill>
              <a:latin typeface="メイリオ" panose="020B0604030504040204" pitchFamily="50" charset="-128"/>
              <a:ea typeface="メイリオ" panose="020B0604030504040204" pitchFamily="50" charset="-128"/>
            </a:endParaRPr>
          </a:p>
        </p:txBody>
      </p:sp>
      <p:grpSp>
        <p:nvGrpSpPr>
          <p:cNvPr id="3" name="グループ化 2">
            <a:extLst>
              <a:ext uri="{FF2B5EF4-FFF2-40B4-BE49-F238E27FC236}">
                <a16:creationId xmlns:a16="http://schemas.microsoft.com/office/drawing/2014/main" id="{E76D8F54-2926-2D56-7238-F66ACCBC4F20}"/>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98F6BB16-EFC6-9846-2A11-E624E876E64B}"/>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560EDF30-5F09-B70A-2993-8CD4F9E40EFA}"/>
                </a:ext>
              </a:extLst>
            </p:cNvPr>
            <p:cNvSpPr txBox="1"/>
            <p:nvPr/>
          </p:nvSpPr>
          <p:spPr>
            <a:xfrm>
              <a:off x="1140096" y="988192"/>
              <a:ext cx="1832553"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サンクス</a:t>
              </a:r>
              <a:r>
                <a:rPr kumimoji="1" lang="en-US" altLang="ja-JP" sz="1500" b="1" dirty="0">
                  <a:solidFill>
                    <a:schemeClr val="bg1"/>
                  </a:solidFill>
                  <a:latin typeface="Meiryo" panose="020B0604030504040204" pitchFamily="34" charset="-128"/>
                  <a:ea typeface="Meiryo" panose="020B0604030504040204" pitchFamily="34" charset="-128"/>
                </a:rPr>
                <a:t>LINE</a:t>
              </a:r>
              <a:r>
                <a:rPr kumimoji="1" lang="ja-JP" altLang="en-US" sz="1500" b="1" dirty="0">
                  <a:solidFill>
                    <a:schemeClr val="bg1"/>
                  </a:solidFill>
                  <a:latin typeface="Meiryo" panose="020B0604030504040204" pitchFamily="34" charset="-128"/>
                  <a:ea typeface="Meiryo" panose="020B0604030504040204" pitchFamily="34" charset="-128"/>
                </a:rPr>
                <a:t>誘導</a:t>
              </a:r>
            </a:p>
          </p:txBody>
        </p:sp>
      </p:grpSp>
      <p:sp>
        <p:nvSpPr>
          <p:cNvPr id="6" name="正方形/長方形 5">
            <a:extLst>
              <a:ext uri="{FF2B5EF4-FFF2-40B4-BE49-F238E27FC236}">
                <a16:creationId xmlns:a16="http://schemas.microsoft.com/office/drawing/2014/main" id="{8B20BFF3-9D3E-A4D7-FF5A-70927F78FC9D}"/>
              </a:ext>
            </a:extLst>
          </p:cNvPr>
          <p:cNvSpPr/>
          <p:nvPr/>
        </p:nvSpPr>
        <p:spPr>
          <a:xfrm>
            <a:off x="8247347" y="4702330"/>
            <a:ext cx="899499" cy="79959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7" name="コネクタ: カギ線 6">
            <a:extLst>
              <a:ext uri="{FF2B5EF4-FFF2-40B4-BE49-F238E27FC236}">
                <a16:creationId xmlns:a16="http://schemas.microsoft.com/office/drawing/2014/main" id="{C5EB654A-0759-70F8-6BA7-95CA3A0F983F}"/>
              </a:ext>
            </a:extLst>
          </p:cNvPr>
          <p:cNvCxnSpPr>
            <a:cxnSpLocks/>
          </p:cNvCxnSpPr>
          <p:nvPr/>
        </p:nvCxnSpPr>
        <p:spPr>
          <a:xfrm flipV="1">
            <a:off x="7672763" y="5102505"/>
            <a:ext cx="574585" cy="332494"/>
          </a:xfrm>
          <a:prstGeom prst="bentConnector3">
            <a:avLst>
              <a:gd name="adj1" fmla="val 50000"/>
            </a:avLst>
          </a:prstGeom>
          <a:ln w="15875">
            <a:solidFill>
              <a:srgbClr val="FF0000"/>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13" name="直線矢印コネクタ 12">
            <a:extLst>
              <a:ext uri="{FF2B5EF4-FFF2-40B4-BE49-F238E27FC236}">
                <a16:creationId xmlns:a16="http://schemas.microsoft.com/office/drawing/2014/main" id="{218E3FE3-7B20-5966-421F-4ECB81603538}"/>
              </a:ext>
            </a:extLst>
          </p:cNvPr>
          <p:cNvCxnSpPr>
            <a:cxnSpLocks/>
            <a:stCxn id="48" idx="2"/>
            <a:endCxn id="21" idx="0"/>
          </p:cNvCxnSpPr>
          <p:nvPr/>
        </p:nvCxnSpPr>
        <p:spPr>
          <a:xfrm>
            <a:off x="6904149" y="3132263"/>
            <a:ext cx="1" cy="1334625"/>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9" name="テキスト ボックス 18">
            <a:extLst>
              <a:ext uri="{FF2B5EF4-FFF2-40B4-BE49-F238E27FC236}">
                <a16:creationId xmlns:a16="http://schemas.microsoft.com/office/drawing/2014/main" id="{DBDB9444-3A0E-B235-58FC-9F8C81BAEA44}"/>
              </a:ext>
            </a:extLst>
          </p:cNvPr>
          <p:cNvSpPr txBox="1"/>
          <p:nvPr/>
        </p:nvSpPr>
        <p:spPr>
          <a:xfrm>
            <a:off x="6323825" y="3523709"/>
            <a:ext cx="1161782" cy="261610"/>
          </a:xfrm>
          <a:prstGeom prst="rect">
            <a:avLst/>
          </a:prstGeom>
          <a:solidFill>
            <a:schemeClr val="bg1">
              <a:alpha val="70000"/>
            </a:schemeClr>
          </a:solidFill>
        </p:spPr>
        <p:txBody>
          <a:bodyPr wrap="square">
            <a:spAutoFit/>
          </a:bodyPr>
          <a:lstStyle/>
          <a:p>
            <a:pPr algn="ctr"/>
            <a:r>
              <a:rPr kumimoji="1" lang="ja-JP" altLang="en-US" sz="1100" b="1" dirty="0">
                <a:solidFill>
                  <a:srgbClr val="00C057"/>
                </a:solidFill>
                <a:latin typeface="メイリオ" panose="020B0604030504040204" pitchFamily="50" charset="-128"/>
                <a:ea typeface="メイリオ" panose="020B0604030504040204" pitchFamily="50" charset="-128"/>
              </a:rPr>
              <a:t>友だち追加後</a:t>
            </a:r>
            <a:endParaRPr lang="ja-JP" altLang="en-US" sz="1100" dirty="0">
              <a:solidFill>
                <a:srgbClr val="00C057"/>
              </a:solidFill>
            </a:endParaRPr>
          </a:p>
        </p:txBody>
      </p:sp>
      <p:sp>
        <p:nvSpPr>
          <p:cNvPr id="9" name="正方形/長方形 8">
            <a:extLst>
              <a:ext uri="{FF2B5EF4-FFF2-40B4-BE49-F238E27FC236}">
                <a16:creationId xmlns:a16="http://schemas.microsoft.com/office/drawing/2014/main" id="{DC4FF56C-47EE-47DB-92F1-3F0EF57613D9}"/>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ja-JP" altLang="en-US" sz="1600" dirty="0">
                <a:latin typeface="Meiryo"/>
                <a:ea typeface="Meiryo"/>
                <a:cs typeface="Meiryo"/>
                <a:sym typeface="Meiryo"/>
              </a:rPr>
              <a:t>サンクス到達時の</a:t>
            </a:r>
            <a:r>
              <a:rPr lang="en-US" altLang="ja-JP" sz="1600" dirty="0">
                <a:latin typeface="Meiryo"/>
                <a:ea typeface="Meiryo"/>
                <a:cs typeface="Meiryo"/>
                <a:sym typeface="Meiryo"/>
              </a:rPr>
              <a:t>LINE</a:t>
            </a:r>
            <a:r>
              <a:rPr lang="ja-JP" altLang="en-US" sz="1600" dirty="0">
                <a:latin typeface="Meiryo"/>
                <a:ea typeface="Meiryo"/>
                <a:cs typeface="Meiryo"/>
                <a:sym typeface="Meiryo"/>
              </a:rPr>
              <a:t>動線が弊社開発により可能に。</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費用を抑えての導入が可能で、新規反響の質改善に寄与。</a:t>
            </a:r>
          </a:p>
        </p:txBody>
      </p:sp>
      <p:sp>
        <p:nvSpPr>
          <p:cNvPr id="10" name="テキスト ボックス 9">
            <a:extLst>
              <a:ext uri="{FF2B5EF4-FFF2-40B4-BE49-F238E27FC236}">
                <a16:creationId xmlns:a16="http://schemas.microsoft.com/office/drawing/2014/main" id="{3EACBB40-B311-2012-88DC-7E4CD6FCFF28}"/>
              </a:ext>
            </a:extLst>
          </p:cNvPr>
          <p:cNvSpPr txBox="1"/>
          <p:nvPr/>
        </p:nvSpPr>
        <p:spPr>
          <a:xfrm>
            <a:off x="4091506" y="1391612"/>
            <a:ext cx="4718625" cy="230832"/>
          </a:xfrm>
          <a:prstGeom prst="rect">
            <a:avLst/>
          </a:prstGeom>
          <a:noFill/>
        </p:spPr>
        <p:txBody>
          <a:bodyPr wrap="square">
            <a:spAutoFit/>
          </a:bodyPr>
          <a:lstStyle/>
          <a:p>
            <a:r>
              <a:rPr lang="en-US" altLang="ja-JP" sz="900" dirty="0">
                <a:solidFill>
                  <a:srgbClr val="FF0000"/>
                </a:solidFill>
                <a:latin typeface="メイリオ" panose="020B0604030504040204" pitchFamily="50" charset="-128"/>
                <a:ea typeface="メイリオ" panose="020B0604030504040204" pitchFamily="50" charset="-128"/>
                <a:cs typeface="Meiryo"/>
                <a:sym typeface="Meiryo"/>
              </a:rPr>
              <a:t>※</a:t>
            </a:r>
            <a:r>
              <a:rPr lang="ja-JP" altLang="en-US" sz="900" dirty="0">
                <a:solidFill>
                  <a:srgbClr val="FF0000"/>
                </a:solidFill>
                <a:latin typeface="メイリオ" panose="020B0604030504040204" pitchFamily="50" charset="-128"/>
                <a:ea typeface="メイリオ" panose="020B0604030504040204" pitchFamily="50" charset="-128"/>
                <a:cs typeface="Meiryo"/>
                <a:sym typeface="Meiryo"/>
              </a:rPr>
              <a:t>暫定措置として導入済アカウントについては</a:t>
            </a:r>
            <a:r>
              <a:rPr lang="en-US" altLang="ja-JP" sz="900" dirty="0">
                <a:solidFill>
                  <a:srgbClr val="FF0000"/>
                </a:solidFill>
                <a:latin typeface="メイリオ" panose="020B0604030504040204" pitchFamily="50" charset="-128"/>
                <a:ea typeface="メイリオ" panose="020B0604030504040204" pitchFamily="50" charset="-128"/>
                <a:cs typeface="Meiryo"/>
                <a:sym typeface="Meiryo"/>
              </a:rPr>
              <a:t>2026</a:t>
            </a:r>
            <a:r>
              <a:rPr lang="ja-JP" altLang="en-US" sz="900" dirty="0">
                <a:solidFill>
                  <a:srgbClr val="FF0000"/>
                </a:solidFill>
                <a:latin typeface="メイリオ" panose="020B0604030504040204" pitchFamily="50" charset="-128"/>
                <a:ea typeface="メイリオ" panose="020B0604030504040204" pitchFamily="50" charset="-128"/>
                <a:cs typeface="Meiryo"/>
                <a:sym typeface="Meiryo"/>
              </a:rPr>
              <a:t>年</a:t>
            </a:r>
            <a:r>
              <a:rPr lang="en-US" altLang="ja-JP" sz="900" dirty="0">
                <a:solidFill>
                  <a:srgbClr val="FF0000"/>
                </a:solidFill>
                <a:latin typeface="メイリオ" panose="020B0604030504040204" pitchFamily="50" charset="-128"/>
                <a:ea typeface="メイリオ" panose="020B0604030504040204" pitchFamily="50" charset="-128"/>
                <a:cs typeface="Meiryo"/>
                <a:sym typeface="Meiryo"/>
              </a:rPr>
              <a:t>7</a:t>
            </a:r>
            <a:r>
              <a:rPr lang="ja-JP" altLang="en-US" sz="900" dirty="0">
                <a:solidFill>
                  <a:srgbClr val="FF0000"/>
                </a:solidFill>
                <a:latin typeface="メイリオ" panose="020B0604030504040204" pitchFamily="50" charset="-128"/>
                <a:ea typeface="メイリオ" panose="020B0604030504040204" pitchFamily="50" charset="-128"/>
                <a:cs typeface="Meiryo"/>
                <a:sym typeface="Meiryo"/>
              </a:rPr>
              <a:t>月～の価格改定の予定</a:t>
            </a:r>
            <a:endParaRPr lang="ja-JP" altLang="en-US" sz="900" dirty="0">
              <a:solidFill>
                <a:srgbClr val="FF0000"/>
              </a:solidFill>
            </a:endParaRPr>
          </a:p>
        </p:txBody>
      </p:sp>
      <p:sp>
        <p:nvSpPr>
          <p:cNvPr id="14" name="テキスト ボックス 13">
            <a:extLst>
              <a:ext uri="{FF2B5EF4-FFF2-40B4-BE49-F238E27FC236}">
                <a16:creationId xmlns:a16="http://schemas.microsoft.com/office/drawing/2014/main" id="{5ED6F7D2-546D-BF9F-9805-58455D7E2831}"/>
              </a:ext>
            </a:extLst>
          </p:cNvPr>
          <p:cNvSpPr txBox="1"/>
          <p:nvPr/>
        </p:nvSpPr>
        <p:spPr>
          <a:xfrm>
            <a:off x="4091506" y="1549623"/>
            <a:ext cx="4718625" cy="230832"/>
          </a:xfrm>
          <a:prstGeom prst="rect">
            <a:avLst/>
          </a:prstGeom>
          <a:noFill/>
        </p:spPr>
        <p:txBody>
          <a:bodyPr wrap="square">
            <a:spAutoFit/>
          </a:bodyPr>
          <a:lstStyle/>
          <a:p>
            <a:r>
              <a:rPr lang="en-US" altLang="ja-JP" sz="900" dirty="0">
                <a:solidFill>
                  <a:srgbClr val="FF0000"/>
                </a:solidFill>
                <a:latin typeface="メイリオ" panose="020B0604030504040204" pitchFamily="50" charset="-128"/>
                <a:ea typeface="メイリオ" panose="020B0604030504040204" pitchFamily="50" charset="-128"/>
                <a:cs typeface="Meiryo"/>
                <a:sym typeface="Meiryo"/>
              </a:rPr>
              <a:t>※</a:t>
            </a:r>
            <a:r>
              <a:rPr lang="ja-JP" altLang="en-US" sz="900" dirty="0">
                <a:solidFill>
                  <a:srgbClr val="FF0000"/>
                </a:solidFill>
                <a:latin typeface="メイリオ" panose="020B0604030504040204" pitchFamily="50" charset="-128"/>
                <a:ea typeface="メイリオ" panose="020B0604030504040204" pitchFamily="50" charset="-128"/>
                <a:cs typeface="Meiryo"/>
                <a:sym typeface="Meiryo"/>
              </a:rPr>
              <a:t>既存</a:t>
            </a:r>
            <a:r>
              <a:rPr lang="en-US" altLang="ja-JP" sz="900" dirty="0">
                <a:solidFill>
                  <a:srgbClr val="FF0000"/>
                </a:solidFill>
                <a:latin typeface="メイリオ" panose="020B0604030504040204" pitchFamily="50" charset="-128"/>
                <a:ea typeface="メイリオ" panose="020B0604030504040204" pitchFamily="50" charset="-128"/>
                <a:cs typeface="Meiryo"/>
                <a:sym typeface="Meiryo"/>
              </a:rPr>
              <a:t>API</a:t>
            </a:r>
            <a:r>
              <a:rPr lang="ja-JP" altLang="en-US" sz="900" dirty="0">
                <a:solidFill>
                  <a:srgbClr val="FF0000"/>
                </a:solidFill>
                <a:latin typeface="メイリオ" panose="020B0604030504040204" pitchFamily="50" charset="-128"/>
                <a:ea typeface="メイリオ" panose="020B0604030504040204" pitchFamily="50" charset="-128"/>
                <a:cs typeface="Meiryo"/>
                <a:sym typeface="Meiryo"/>
              </a:rPr>
              <a:t>ツールとの併用についても、問題なく稼働が可能。</a:t>
            </a:r>
            <a:endParaRPr lang="ja-JP" altLang="en-US" sz="900" dirty="0">
              <a:solidFill>
                <a:srgbClr val="FF0000"/>
              </a:solidFill>
            </a:endParaRPr>
          </a:p>
        </p:txBody>
      </p:sp>
      <p:sp>
        <p:nvSpPr>
          <p:cNvPr id="8" name="正方形/長方形 7">
            <a:extLst>
              <a:ext uri="{FF2B5EF4-FFF2-40B4-BE49-F238E27FC236}">
                <a16:creationId xmlns:a16="http://schemas.microsoft.com/office/drawing/2014/main" id="{F5B8C83A-7191-D772-EF88-AE268D007E63}"/>
              </a:ext>
            </a:extLst>
          </p:cNvPr>
          <p:cNvSpPr/>
          <p:nvPr/>
        </p:nvSpPr>
        <p:spPr>
          <a:xfrm>
            <a:off x="5769326" y="1938056"/>
            <a:ext cx="3788228"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endParaRPr>
          </a:p>
        </p:txBody>
      </p:sp>
      <p:sp>
        <p:nvSpPr>
          <p:cNvPr id="26" name="Google Shape;51;p19">
            <a:extLst>
              <a:ext uri="{FF2B5EF4-FFF2-40B4-BE49-F238E27FC236}">
                <a16:creationId xmlns:a16="http://schemas.microsoft.com/office/drawing/2014/main" id="{A4070FDA-7C99-27DE-6A9C-437C1D5DD3B3}"/>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a:t>
            </a:r>
            <a:r>
              <a:rPr lang="en-US" altLang="ja-JP" sz="1400" b="1" i="0" u="none" strike="noStrike" cap="none" dirty="0">
                <a:solidFill>
                  <a:schemeClr val="lt1"/>
                </a:solidFill>
                <a:latin typeface="Meiryo"/>
                <a:ea typeface="Meiryo"/>
                <a:cs typeface="Meiryo"/>
                <a:sym typeface="Meiryo"/>
              </a:rPr>
              <a:t>10</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sp>
        <p:nvSpPr>
          <p:cNvPr id="28" name="Google Shape;51;p19">
            <a:extLst>
              <a:ext uri="{FF2B5EF4-FFF2-40B4-BE49-F238E27FC236}">
                <a16:creationId xmlns:a16="http://schemas.microsoft.com/office/drawing/2014/main" id="{40C4675F-5DCC-DD57-BE14-B3A7697A02CD}"/>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a:t>
            </a:r>
            <a:r>
              <a:rPr lang="en-US" altLang="ja-JP" sz="1400" b="1" i="0" u="none" strike="noStrike" cap="none" dirty="0">
                <a:solidFill>
                  <a:schemeClr val="lt1"/>
                </a:solidFill>
                <a:latin typeface="Meiryo"/>
                <a:ea typeface="Meiryo"/>
                <a:cs typeface="Meiryo"/>
                <a:sym typeface="Meiryo"/>
              </a:rPr>
              <a:t>3</a:t>
            </a:r>
            <a:r>
              <a:rPr lang="ja-JP" altLang="en-US" sz="1400" b="1" i="0" u="none" strike="noStrike" cap="none" dirty="0">
                <a:solidFill>
                  <a:schemeClr val="lt1"/>
                </a:solidFill>
                <a:latin typeface="Meiryo"/>
                <a:ea typeface="Meiryo"/>
                <a:cs typeface="Meiryo"/>
                <a:sym typeface="Meiryo"/>
              </a:rPr>
              <a:t>万円～</a:t>
            </a:r>
            <a:endParaRPr lang="en-US" altLang="ja-JP" sz="1400" b="1" i="0" u="none" strike="noStrike" cap="none" dirty="0">
              <a:solidFill>
                <a:schemeClr val="lt1"/>
              </a:solidFill>
              <a:latin typeface="Meiryo"/>
              <a:ea typeface="Meiryo"/>
              <a:cs typeface="Meiryo"/>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FFFF00"/>
                </a:solidFill>
                <a:latin typeface="Meiryo"/>
                <a:ea typeface="Meiryo"/>
                <a:cs typeface="Meiryo"/>
                <a:sym typeface="Meiryo"/>
              </a:rPr>
              <a:t>+</a:t>
            </a:r>
            <a:r>
              <a:rPr lang="ja-JP" altLang="en-US" sz="1050" b="1" dirty="0">
                <a:solidFill>
                  <a:srgbClr val="FFFF00"/>
                </a:solidFill>
                <a:latin typeface="Meiryo"/>
                <a:ea typeface="Meiryo"/>
                <a:cs typeface="Meiryo"/>
                <a:sym typeface="Meiryo"/>
              </a:rPr>
              <a:t>設定地点追加</a:t>
            </a:r>
            <a:endParaRPr sz="1050" b="1" i="0" u="none" strike="noStrike" cap="none" dirty="0">
              <a:solidFill>
                <a:srgbClr val="FFFF00"/>
              </a:solidFill>
              <a:latin typeface="Meiryo"/>
              <a:ea typeface="Meiryo"/>
              <a:cs typeface="Meiryo"/>
              <a:sym typeface="Meiryo"/>
            </a:endParaRPr>
          </a:p>
        </p:txBody>
      </p:sp>
      <p:cxnSp>
        <p:nvCxnSpPr>
          <p:cNvPr id="30" name="コネクタ: カギ線 29">
            <a:extLst>
              <a:ext uri="{FF2B5EF4-FFF2-40B4-BE49-F238E27FC236}">
                <a16:creationId xmlns:a16="http://schemas.microsoft.com/office/drawing/2014/main" id="{D9706AF3-2C8D-6646-76C8-7802A4F734FC}"/>
              </a:ext>
            </a:extLst>
          </p:cNvPr>
          <p:cNvCxnSpPr>
            <a:cxnSpLocks/>
          </p:cNvCxnSpPr>
          <p:nvPr/>
        </p:nvCxnSpPr>
        <p:spPr>
          <a:xfrm rot="16200000" flipH="1">
            <a:off x="3294819" y="3047336"/>
            <a:ext cx="430977" cy="4596748"/>
          </a:xfrm>
          <a:prstGeom prst="bentConnector2">
            <a:avLst/>
          </a:prstGeom>
          <a:ln w="15875">
            <a:solidFill>
              <a:srgbClr val="FF0000"/>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50" name="テキスト ボックス 49">
            <a:extLst>
              <a:ext uri="{FF2B5EF4-FFF2-40B4-BE49-F238E27FC236}">
                <a16:creationId xmlns:a16="http://schemas.microsoft.com/office/drawing/2014/main" id="{97C92C6B-4F06-7ED3-0627-D0C168299913}"/>
              </a:ext>
            </a:extLst>
          </p:cNvPr>
          <p:cNvSpPr txBox="1"/>
          <p:nvPr/>
        </p:nvSpPr>
        <p:spPr>
          <a:xfrm>
            <a:off x="115187" y="5639542"/>
            <a:ext cx="5785781" cy="461665"/>
          </a:xfrm>
          <a:prstGeom prst="rect">
            <a:avLst/>
          </a:prstGeom>
          <a:solidFill>
            <a:schemeClr val="bg1">
              <a:alpha val="62000"/>
            </a:schemeClr>
          </a:solidFill>
        </p:spPr>
        <p:txBody>
          <a:bodyPr wrap="square">
            <a:spAutoFit/>
          </a:bodyPr>
          <a:lstStyle/>
          <a:p>
            <a:pPr algn="ctr"/>
            <a:r>
              <a:rPr lang="ja-JP" altLang="ja-JP" sz="1200" dirty="0">
                <a:latin typeface="メイリオ" panose="020B0604030504040204" pitchFamily="50" charset="-128"/>
                <a:ea typeface="メイリオ" panose="020B0604030504040204" pitchFamily="50" charset="-128"/>
              </a:rPr>
              <a:t>高開封率のLINEに誘導</a:t>
            </a:r>
            <a:r>
              <a:rPr lang="ja-JP" altLang="en-US" sz="1200" dirty="0">
                <a:latin typeface="メイリオ" panose="020B0604030504040204" pitchFamily="50" charset="-128"/>
                <a:ea typeface="メイリオ" panose="020B0604030504040204" pitchFamily="50" charset="-128"/>
              </a:rPr>
              <a:t>して</a:t>
            </a:r>
            <a:r>
              <a:rPr lang="ja-JP" altLang="ja-JP" sz="1200" dirty="0">
                <a:latin typeface="メイリオ" panose="020B0604030504040204" pitchFamily="50" charset="-128"/>
                <a:ea typeface="メイリオ" panose="020B0604030504040204" pitchFamily="50" charset="-128"/>
              </a:rPr>
              <a:t>反響→実売上への引上げ率、リピート率改善。</a:t>
            </a:r>
            <a:endParaRPr lang="en-US" altLang="ja-JP" sz="1200" dirty="0">
              <a:latin typeface="メイリオ" panose="020B0604030504040204" pitchFamily="50" charset="-128"/>
              <a:ea typeface="メイリオ" panose="020B0604030504040204" pitchFamily="50" charset="-128"/>
            </a:endParaRPr>
          </a:p>
          <a:p>
            <a:pPr algn="ctr"/>
            <a:r>
              <a:rPr lang="ja-JP" altLang="ja-JP" sz="1200" dirty="0">
                <a:latin typeface="メイリオ" panose="020B0604030504040204" pitchFamily="50" charset="-128"/>
                <a:ea typeface="メイリオ" panose="020B0604030504040204" pitchFamily="50" charset="-128"/>
              </a:rPr>
              <a:t> </a:t>
            </a:r>
            <a:r>
              <a:rPr lang="ja-JP" altLang="ja-JP" sz="1200" b="1" dirty="0">
                <a:solidFill>
                  <a:srgbClr val="FF0000"/>
                </a:solidFill>
                <a:latin typeface="メイリオ" panose="020B0604030504040204" pitchFamily="50" charset="-128"/>
                <a:ea typeface="メイリオ" panose="020B0604030504040204" pitchFamily="50" charset="-128"/>
              </a:rPr>
              <a:t>弊社運用の美容クリニック様では、予約後来院率にて40-50%程度の改善を実現</a:t>
            </a:r>
            <a:r>
              <a:rPr lang="ja-JP" altLang="ja-JP" sz="1200" dirty="0">
                <a:latin typeface="メイリオ" panose="020B0604030504040204" pitchFamily="50" charset="-128"/>
                <a:ea typeface="メイリオ" panose="020B0604030504040204" pitchFamily="50" charset="-128"/>
              </a:rPr>
              <a:t>。</a:t>
            </a:r>
            <a:endParaRPr lang="ja-JP" altLang="en-US" sz="1200" dirty="0">
              <a:latin typeface="メイリオ" panose="020B0604030504040204" pitchFamily="50" charset="-128"/>
              <a:ea typeface="メイリオ" panose="020B0604030504040204" pitchFamily="50" charset="-128"/>
            </a:endParaRPr>
          </a:p>
        </p:txBody>
      </p:sp>
      <p:sp>
        <p:nvSpPr>
          <p:cNvPr id="18" name="正方形/長方形 17">
            <a:extLst>
              <a:ext uri="{FF2B5EF4-FFF2-40B4-BE49-F238E27FC236}">
                <a16:creationId xmlns:a16="http://schemas.microsoft.com/office/drawing/2014/main" id="{EA70A0F9-54E5-2057-0898-CA95AFFCCD29}"/>
              </a:ext>
            </a:extLst>
          </p:cNvPr>
          <p:cNvSpPr/>
          <p:nvPr/>
        </p:nvSpPr>
        <p:spPr>
          <a:xfrm>
            <a:off x="396674" y="694337"/>
            <a:ext cx="3469656" cy="1189138"/>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9490901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F0D4D3-02EA-A5F1-D13F-557CC4270B13}"/>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4CE82040-EC6A-3624-AB86-12AD7F91F31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AB48BF19-1E81-18F2-64BE-979545FAE824}"/>
              </a:ext>
            </a:extLst>
          </p:cNvPr>
          <p:cNvSpPr/>
          <p:nvPr/>
        </p:nvSpPr>
        <p:spPr>
          <a:xfrm>
            <a:off x="4245125" y="3038203"/>
            <a:ext cx="1415772"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費用感</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261937549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90CDE0-BB10-C7C6-9CB9-785832AABAF6}"/>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F4DA5ED1-E7F2-6353-56C2-FA4628CF19B0}"/>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弊社からご提供できる運用プラン</a:t>
            </a:r>
          </a:p>
        </p:txBody>
      </p:sp>
      <p:sp>
        <p:nvSpPr>
          <p:cNvPr id="9" name="正方形/長方形 8">
            <a:extLst>
              <a:ext uri="{FF2B5EF4-FFF2-40B4-BE49-F238E27FC236}">
                <a16:creationId xmlns:a16="http://schemas.microsoft.com/office/drawing/2014/main" id="{2AEA7C23-DE93-9590-AE94-B792C3122BEF}"/>
              </a:ext>
            </a:extLst>
          </p:cNvPr>
          <p:cNvSpPr/>
          <p:nvPr/>
        </p:nvSpPr>
        <p:spPr>
          <a:xfrm>
            <a:off x="0" y="681570"/>
            <a:ext cx="291465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latin typeface="メイリオ" panose="020B0604030504040204" pitchFamily="50" charset="-128"/>
                <a:ea typeface="メイリオ" panose="020B0604030504040204" pitchFamily="50" charset="-128"/>
              </a:rPr>
              <a:t>プラン比較</a:t>
            </a:r>
            <a:endParaRPr kumimoji="1" lang="ja-JP" altLang="en-US" sz="1400" dirty="0">
              <a:latin typeface="メイリオ" panose="020B0604030504040204" pitchFamily="50" charset="-128"/>
              <a:ea typeface="メイリオ" panose="020B0604030504040204" pitchFamily="50" charset="-128"/>
            </a:endParaRPr>
          </a:p>
        </p:txBody>
      </p:sp>
      <p:sp>
        <p:nvSpPr>
          <p:cNvPr id="5" name="Google Shape;752;p28">
            <a:extLst>
              <a:ext uri="{FF2B5EF4-FFF2-40B4-BE49-F238E27FC236}">
                <a16:creationId xmlns:a16="http://schemas.microsoft.com/office/drawing/2014/main" id="{9D6FEB09-4D8F-8EAE-D257-4C677C23BB92}"/>
              </a:ext>
            </a:extLst>
          </p:cNvPr>
          <p:cNvSpPr txBox="1"/>
          <p:nvPr/>
        </p:nvSpPr>
        <p:spPr>
          <a:xfrm>
            <a:off x="2983774" y="782870"/>
            <a:ext cx="6619875" cy="338514"/>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ご希望の運用範囲に合わせて、3つのプランをご用意しました。</a:t>
            </a:r>
          </a:p>
        </p:txBody>
      </p:sp>
      <p:sp>
        <p:nvSpPr>
          <p:cNvPr id="17" name="正方形/長方形 16">
            <a:extLst>
              <a:ext uri="{FF2B5EF4-FFF2-40B4-BE49-F238E27FC236}">
                <a16:creationId xmlns:a16="http://schemas.microsoft.com/office/drawing/2014/main" id="{64B91377-FDB2-808E-0970-159FDA78ABB9}"/>
              </a:ext>
            </a:extLst>
          </p:cNvPr>
          <p:cNvSpPr/>
          <p:nvPr/>
        </p:nvSpPr>
        <p:spPr>
          <a:xfrm>
            <a:off x="3996942" y="122215"/>
            <a:ext cx="2083719" cy="320757"/>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rPr>
              <a:t>あらうち様向けプラン</a:t>
            </a:r>
          </a:p>
        </p:txBody>
      </p:sp>
      <p:graphicFrame>
        <p:nvGraphicFramePr>
          <p:cNvPr id="18" name="プラン比較表 17"/>
          <p:cNvGraphicFramePr>
            <a:graphicFrameLocks noGrp="1"/>
          </p:cNvGraphicFramePr>
          <p:nvPr/>
        </p:nvGraphicFramePr>
        <p:xfrm>
          <a:off x="384048" y="1353312"/>
          <a:ext cx="9144000" cy="4087368"/>
        </p:xfrm>
        <a:graphic>
          <a:graphicData uri="http://schemas.openxmlformats.org/drawingml/2006/table">
            <a:tbl>
              <a:tblPr/>
              <a:tblGrid>
                <a:gridCol w="2011680"/>
                <a:gridCol w="2377440"/>
                <a:gridCol w="2377440"/>
                <a:gridCol w="2377440"/>
              </a:tblGrid>
              <a:tr h="548640">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項目</a:t>
                      </a:r>
                      <a:endParaRPr lang="ja-JP" altLang="en-US" sz="14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1F285A"/>
                      </a:solidFill>
                      <a:prstDash val="solid"/>
                      <a:round/>
                      <a:headEnd type="none" w="med" len="med"/>
                      <a:tailEnd type="none" w="med" len="med"/>
                    </a:lnT>
                    <a:lnB w="19050" cap="flat" cmpd="sng" algn="ctr">
                      <a:solidFill>
                        <a:srgbClr val="1F285A"/>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プラン①｜総合運用</a:t>
                      </a:r>
                      <a:endParaRPr lang="ja-JP" altLang="en-US" sz="14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1F285A"/>
                      </a:solidFill>
                      <a:prstDash val="solid"/>
                      <a:round/>
                      <a:headEnd type="none" w="med" len="med"/>
                      <a:tailEnd type="none" w="med" len="med"/>
                    </a:lnT>
                    <a:lnB w="19050" cap="flat" cmpd="sng" algn="ctr">
                      <a:solidFill>
                        <a:srgbClr val="1F285A"/>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プラン②｜獲得重視</a:t>
                      </a:r>
                      <a:endParaRPr lang="ja-JP" altLang="en-US" sz="14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1F285A"/>
                      </a:solidFill>
                      <a:prstDash val="solid"/>
                      <a:round/>
                      <a:headEnd type="none" w="med" len="med"/>
                      <a:tailEnd type="none" w="med" len="med"/>
                    </a:lnT>
                    <a:lnB w="19050" cap="flat" cmpd="sng" algn="ctr">
                      <a:solidFill>
                        <a:srgbClr val="1F285A"/>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プラン③｜初期導入</a:t>
                      </a:r>
                      <a:endParaRPr lang="ja-JP" altLang="en-US" sz="14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1F285A"/>
                      </a:solidFill>
                      <a:prstDash val="solid"/>
                      <a:round/>
                      <a:headEnd type="none" w="med" len="med"/>
                      <a:tailEnd type="none" w="med" len="med"/>
                    </a:lnT>
                    <a:lnB w="19050" cap="flat" cmpd="sng" algn="ctr">
                      <a:solidFill>
                        <a:srgbClr val="1F285A"/>
                      </a:solidFill>
                      <a:prstDash val="solid"/>
                      <a:round/>
                      <a:headEnd type="none" w="med" len="med"/>
                      <a:tailEnd type="none" w="med" len="med"/>
                    </a:lnB>
                    <a:solidFill>
                      <a:srgbClr val="1F285A"/>
                    </a:solidFill>
                  </a:tcPr>
                </a:tc>
              </a:tr>
              <a:tr h="393192">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初期費用</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400" b="0" dirty="0">
                          <a:solidFill>
                            <a:srgbClr val="333333"/>
                          </a:solidFill>
                          <a:latin typeface="メイリオ" panose="020B0604030504040204" pitchFamily="50" charset="-128"/>
                          <a:ea typeface="メイリオ" panose="020B0604030504040204" pitchFamily="50" charset="-128"/>
                        </a:rPr>
                        <a:t>21.5万円</a:t>
                      </a:r>
                      <a:endParaRPr lang="ja-JP" altLang="en-US" sz="14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400" b="0" dirty="0">
                          <a:solidFill>
                            <a:srgbClr val="333333"/>
                          </a:solidFill>
                          <a:latin typeface="メイリオ" panose="020B0604030504040204" pitchFamily="50" charset="-128"/>
                          <a:ea typeface="メイリオ" panose="020B0604030504040204" pitchFamily="50" charset="-128"/>
                        </a:rPr>
                        <a:t>21.5万円</a:t>
                      </a:r>
                      <a:endParaRPr lang="ja-JP" altLang="en-US" sz="14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400" b="0" dirty="0">
                          <a:solidFill>
                            <a:srgbClr val="333333"/>
                          </a:solidFill>
                          <a:latin typeface="メイリオ" panose="020B0604030504040204" pitchFamily="50" charset="-128"/>
                          <a:ea typeface="メイリオ" panose="020B0604030504040204" pitchFamily="50" charset="-128"/>
                        </a:rPr>
                        <a:t>21.5万円</a:t>
                      </a:r>
                      <a:endParaRPr lang="ja-JP" altLang="en-US" sz="14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r>
              <a:tr h="393192">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月額コンサル費</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400" b="0" dirty="0">
                          <a:solidFill>
                            <a:srgbClr val="333333"/>
                          </a:solidFill>
                          <a:latin typeface="メイリオ" panose="020B0604030504040204" pitchFamily="50" charset="-128"/>
                          <a:ea typeface="メイリオ" panose="020B0604030504040204" pitchFamily="50" charset="-128"/>
                        </a:rPr>
                        <a:t>10万円</a:t>
                      </a:r>
                      <a:endParaRPr lang="ja-JP" altLang="en-US" sz="14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400" b="0" dirty="0">
                          <a:solidFill>
                            <a:srgbClr val="333333"/>
                          </a:solidFill>
                          <a:latin typeface="メイリオ" panose="020B0604030504040204" pitchFamily="50" charset="-128"/>
                          <a:ea typeface="メイリオ" panose="020B0604030504040204" pitchFamily="50" charset="-128"/>
                        </a:rPr>
                        <a:t>5万円</a:t>
                      </a:r>
                      <a:endParaRPr lang="ja-JP" altLang="en-US" sz="14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400" b="0" dirty="0">
                          <a:solidFill>
                            <a:srgbClr val="333333"/>
                          </a:solidFill>
                          <a:latin typeface="メイリオ" panose="020B0604030504040204" pitchFamily="50" charset="-128"/>
                          <a:ea typeface="メイリオ" panose="020B0604030504040204" pitchFamily="50" charset="-128"/>
                        </a:rPr>
                        <a:t>なし</a:t>
                      </a:r>
                      <a:endParaRPr lang="ja-JP" altLang="en-US" sz="14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r>
              <a:tr h="393192">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月額ツール・LINE費</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400" b="0" dirty="0">
                          <a:solidFill>
                            <a:srgbClr val="333333"/>
                          </a:solidFill>
                          <a:latin typeface="メイリオ" panose="020B0604030504040204" pitchFamily="50" charset="-128"/>
                          <a:ea typeface="メイリオ" panose="020B0604030504040204" pitchFamily="50" charset="-128"/>
                        </a:rPr>
                        <a:t>3.5万円</a:t>
                      </a:r>
                      <a:endParaRPr lang="ja-JP" altLang="en-US" sz="14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400" b="0" dirty="0">
                          <a:solidFill>
                            <a:srgbClr val="333333"/>
                          </a:solidFill>
                          <a:latin typeface="メイリオ" panose="020B0604030504040204" pitchFamily="50" charset="-128"/>
                          <a:ea typeface="メイリオ" panose="020B0604030504040204" pitchFamily="50" charset="-128"/>
                        </a:rPr>
                        <a:t>3.5万円</a:t>
                      </a:r>
                      <a:endParaRPr lang="ja-JP" altLang="en-US" sz="14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400" b="0" dirty="0">
                          <a:solidFill>
                            <a:srgbClr val="333333"/>
                          </a:solidFill>
                          <a:latin typeface="メイリオ" panose="020B0604030504040204" pitchFamily="50" charset="-128"/>
                          <a:ea typeface="メイリオ" panose="020B0604030504040204" pitchFamily="50" charset="-128"/>
                        </a:rPr>
                        <a:t>別途実費</a:t>
                      </a:r>
                      <a:endParaRPr lang="ja-JP" altLang="en-US" sz="14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r>
              <a:tr h="393192">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月額合計</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19050" cap="flat" cmpd="sng" algn="ctr">
                      <a:solidFill>
                        <a:srgbClr val="1F285A"/>
                      </a:solidFill>
                      <a:prstDash val="solid"/>
                      <a:round/>
                      <a:headEnd type="none" w="med" len="med"/>
                      <a:tailEnd type="none" w="med" len="med"/>
                    </a:lnB>
                    <a:solidFill>
                      <a:srgbClr val="1F285A"/>
                    </a:solidFill>
                  </a:tcPr>
                </a:tc>
                <a:tc>
                  <a:txBody>
                    <a:bodyPr/>
                    <a:lstStyle/>
                    <a:p>
                      <a:pPr algn="ctr">
                        <a:buNone/>
                      </a:pPr>
                      <a:r>
                        <a:rPr lang="ja-JP" altLang="en-US" sz="1600" b="1" dirty="0">
                          <a:solidFill>
                            <a:srgbClr val="1F285A"/>
                          </a:solidFill>
                          <a:latin typeface="メイリオ" panose="020B0604030504040204" pitchFamily="50" charset="-128"/>
                          <a:ea typeface="メイリオ" panose="020B0604030504040204" pitchFamily="50" charset="-128"/>
                        </a:rPr>
                        <a:t>13.5万円</a:t>
                      </a:r>
                      <a:endParaRPr lang="ja-JP" altLang="en-US" sz="16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19050" cap="flat" cmpd="sng" algn="ctr">
                      <a:solidFill>
                        <a:srgbClr val="1F285A"/>
                      </a:solidFill>
                      <a:prstDash val="solid"/>
                      <a:round/>
                      <a:headEnd type="none" w="med" len="med"/>
                      <a:tailEnd type="none" w="med" len="med"/>
                    </a:lnB>
                    <a:solidFill>
                      <a:srgbClr val="E8ECF6"/>
                    </a:solidFill>
                  </a:tcPr>
                </a:tc>
                <a:tc>
                  <a:txBody>
                    <a:bodyPr/>
                    <a:lstStyle/>
                    <a:p>
                      <a:pPr algn="ctr">
                        <a:buNone/>
                      </a:pPr>
                      <a:r>
                        <a:rPr lang="ja-JP" altLang="en-US" sz="1600" b="1" dirty="0">
                          <a:solidFill>
                            <a:srgbClr val="1F285A"/>
                          </a:solidFill>
                          <a:latin typeface="メイリオ" panose="020B0604030504040204" pitchFamily="50" charset="-128"/>
                          <a:ea typeface="メイリオ" panose="020B0604030504040204" pitchFamily="50" charset="-128"/>
                        </a:rPr>
                        <a:t>8.5万円</a:t>
                      </a:r>
                      <a:endParaRPr lang="ja-JP" altLang="en-US" sz="16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19050" cap="flat" cmpd="sng" algn="ctr">
                      <a:solidFill>
                        <a:srgbClr val="1F285A"/>
                      </a:solidFill>
                      <a:prstDash val="solid"/>
                      <a:round/>
                      <a:headEnd type="none" w="med" len="med"/>
                      <a:tailEnd type="none" w="med" len="med"/>
                    </a:lnB>
                    <a:solidFill>
                      <a:srgbClr val="E8ECF6"/>
                    </a:solidFill>
                  </a:tcPr>
                </a:tc>
                <a:tc>
                  <a:txBody>
                    <a:bodyPr/>
                    <a:lstStyle/>
                    <a:p>
                      <a:pPr algn="ctr">
                        <a:buNone/>
                      </a:pPr>
                      <a:r>
                        <a:rPr lang="ja-JP" altLang="en-US" sz="1600" b="1" dirty="0">
                          <a:solidFill>
                            <a:srgbClr val="1F285A"/>
                          </a:solidFill>
                          <a:latin typeface="メイリオ" panose="020B0604030504040204" pitchFamily="50" charset="-128"/>
                          <a:ea typeface="メイリオ" panose="020B0604030504040204" pitchFamily="50" charset="-128"/>
                        </a:rPr>
                        <a:t>運用契約なし</a:t>
                      </a:r>
                      <a:endParaRPr lang="ja-JP" altLang="en-US" sz="16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19050" cap="flat" cmpd="sng" algn="ctr">
                      <a:solidFill>
                        <a:srgbClr val="1F285A"/>
                      </a:solidFill>
                      <a:prstDash val="solid"/>
                      <a:round/>
                      <a:headEnd type="none" w="med" len="med"/>
                      <a:tailEnd type="none" w="med" len="med"/>
                    </a:lnB>
                    <a:solidFill>
                      <a:srgbClr val="E8ECF6"/>
                    </a:solidFill>
                  </a:tcPr>
                </a:tc>
              </a:tr>
              <a:tr h="393192">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企画配信</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19050" cap="flat" cmpd="sng" algn="ctr">
                      <a:solidFill>
                        <a:srgbClr val="1F285A"/>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400" b="0" dirty="0">
                          <a:solidFill>
                            <a:srgbClr val="333333"/>
                          </a:solidFill>
                          <a:latin typeface="メイリオ" panose="020B0604030504040204" pitchFamily="50" charset="-128"/>
                          <a:ea typeface="メイリオ" panose="020B0604030504040204" pitchFamily="50" charset="-128"/>
                        </a:rPr>
                        <a:t>月4〜5本</a:t>
                      </a:r>
                      <a:endParaRPr lang="ja-JP" altLang="en-US" sz="14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19050" cap="flat" cmpd="sng" algn="ctr">
                      <a:solidFill>
                        <a:srgbClr val="1F285A"/>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400" b="0" dirty="0">
                          <a:solidFill>
                            <a:srgbClr val="333333"/>
                          </a:solidFill>
                          <a:latin typeface="メイリオ" panose="020B0604030504040204" pitchFamily="50" charset="-128"/>
                          <a:ea typeface="メイリオ" panose="020B0604030504040204" pitchFamily="50" charset="-128"/>
                        </a:rPr>
                        <a:t>月1〜2本</a:t>
                      </a:r>
                      <a:endParaRPr lang="ja-JP" altLang="en-US" sz="14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19050" cap="flat" cmpd="sng" algn="ctr">
                      <a:solidFill>
                        <a:srgbClr val="1F285A"/>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400" b="0" dirty="0">
                          <a:solidFill>
                            <a:srgbClr val="333333"/>
                          </a:solidFill>
                          <a:latin typeface="メイリオ" panose="020B0604030504040204" pitchFamily="50" charset="-128"/>
                          <a:ea typeface="メイリオ" panose="020B0604030504040204" pitchFamily="50" charset="-128"/>
                        </a:rPr>
                        <a:t>なし</a:t>
                      </a:r>
                      <a:endParaRPr lang="ja-JP" altLang="en-US" sz="14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19050" cap="flat" cmpd="sng" algn="ctr">
                      <a:solidFill>
                        <a:srgbClr val="1F285A"/>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r>
              <a:tr h="393192">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ステップ配信</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400" b="0" dirty="0">
                          <a:solidFill>
                            <a:srgbClr val="333333"/>
                          </a:solidFill>
                          <a:latin typeface="メイリオ" panose="020B0604030504040204" pitchFamily="50" charset="-128"/>
                          <a:ea typeface="メイリオ" panose="020B0604030504040204" pitchFamily="50" charset="-128"/>
                        </a:rPr>
                        <a:t>10通</a:t>
                      </a:r>
                      <a:endParaRPr lang="ja-JP" altLang="en-US" sz="14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400" b="0" dirty="0">
                          <a:solidFill>
                            <a:srgbClr val="333333"/>
                          </a:solidFill>
                          <a:latin typeface="メイリオ" panose="020B0604030504040204" pitchFamily="50" charset="-128"/>
                          <a:ea typeface="メイリオ" panose="020B0604030504040204" pitchFamily="50" charset="-128"/>
                        </a:rPr>
                        <a:t>なし</a:t>
                      </a:r>
                      <a:endParaRPr lang="ja-JP" altLang="en-US" sz="14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400" b="0" dirty="0">
                          <a:solidFill>
                            <a:srgbClr val="333333"/>
                          </a:solidFill>
                          <a:latin typeface="メイリオ" panose="020B0604030504040204" pitchFamily="50" charset="-128"/>
                          <a:ea typeface="メイリオ" panose="020B0604030504040204" pitchFamily="50" charset="-128"/>
                        </a:rPr>
                        <a:t>なし</a:t>
                      </a:r>
                      <a:endParaRPr lang="ja-JP" altLang="en-US" sz="14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r>
              <a:tr h="393192">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離脱防止</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400" b="0" dirty="0">
                          <a:solidFill>
                            <a:srgbClr val="333333"/>
                          </a:solidFill>
                          <a:latin typeface="メイリオ" panose="020B0604030504040204" pitchFamily="50" charset="-128"/>
                          <a:ea typeface="メイリオ" panose="020B0604030504040204" pitchFamily="50" charset="-128"/>
                        </a:rPr>
                        <a:t>導入・運用</a:t>
                      </a:r>
                      <a:endParaRPr lang="ja-JP" altLang="en-US" sz="14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400" b="0" dirty="0">
                          <a:solidFill>
                            <a:srgbClr val="333333"/>
                          </a:solidFill>
                          <a:latin typeface="メイリオ" panose="020B0604030504040204" pitchFamily="50" charset="-128"/>
                          <a:ea typeface="メイリオ" panose="020B0604030504040204" pitchFamily="50" charset="-128"/>
                        </a:rPr>
                        <a:t>導入・運用</a:t>
                      </a:r>
                      <a:endParaRPr lang="ja-JP" altLang="en-US" sz="14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400" b="0" dirty="0">
                          <a:solidFill>
                            <a:srgbClr val="333333"/>
                          </a:solidFill>
                          <a:latin typeface="メイリオ" panose="020B0604030504040204" pitchFamily="50" charset="-128"/>
                          <a:ea typeface="メイリオ" panose="020B0604030504040204" pitchFamily="50" charset="-128"/>
                        </a:rPr>
                        <a:t>初期導入支援</a:t>
                      </a:r>
                      <a:endParaRPr lang="ja-JP" altLang="en-US" sz="14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r>
              <a:tr h="393192">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継続改善</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19050" cap="flat" cmpd="sng" algn="ctr">
                      <a:solidFill>
                        <a:srgbClr val="1F285A"/>
                      </a:solidFill>
                      <a:prstDash val="solid"/>
                      <a:round/>
                      <a:headEnd type="none" w="med" len="med"/>
                      <a:tailEnd type="none" w="med" len="med"/>
                    </a:lnB>
                    <a:solidFill>
                      <a:srgbClr val="E8ECF6"/>
                    </a:solidFill>
                  </a:tcPr>
                </a:tc>
                <a:tc>
                  <a:txBody>
                    <a:bodyPr/>
                    <a:lstStyle/>
                    <a:p>
                      <a:pPr algn="ctr">
                        <a:buNone/>
                      </a:pPr>
                      <a:r>
                        <a:rPr lang="ja-JP" altLang="en-US" sz="1400" b="0" dirty="0">
                          <a:solidFill>
                            <a:srgbClr val="333333"/>
                          </a:solidFill>
                          <a:latin typeface="メイリオ" panose="020B0604030504040204" pitchFamily="50" charset="-128"/>
                          <a:ea typeface="メイリオ" panose="020B0604030504040204" pitchFamily="50" charset="-128"/>
                        </a:rPr>
                        <a:t>対応</a:t>
                      </a:r>
                      <a:endParaRPr lang="ja-JP" altLang="en-US" sz="14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19050" cap="flat" cmpd="sng" algn="ctr">
                      <a:solidFill>
                        <a:srgbClr val="1F285A"/>
                      </a:solidFill>
                      <a:prstDash val="solid"/>
                      <a:round/>
                      <a:headEnd type="none" w="med" len="med"/>
                      <a:tailEnd type="none" w="med" len="med"/>
                    </a:lnB>
                    <a:solidFill>
                      <a:srgbClr val="FFFFFF"/>
                    </a:solidFill>
                  </a:tcPr>
                </a:tc>
                <a:tc>
                  <a:txBody>
                    <a:bodyPr/>
                    <a:lstStyle/>
                    <a:p>
                      <a:pPr algn="ctr">
                        <a:buNone/>
                      </a:pPr>
                      <a:r>
                        <a:rPr lang="ja-JP" altLang="en-US" sz="1400" b="0" dirty="0">
                          <a:solidFill>
                            <a:srgbClr val="333333"/>
                          </a:solidFill>
                          <a:latin typeface="メイリオ" panose="020B0604030504040204" pitchFamily="50" charset="-128"/>
                          <a:ea typeface="メイリオ" panose="020B0604030504040204" pitchFamily="50" charset="-128"/>
                        </a:rPr>
                        <a:t>限定的</a:t>
                      </a:r>
                      <a:endParaRPr lang="ja-JP" altLang="en-US" sz="14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19050" cap="flat" cmpd="sng" algn="ctr">
                      <a:solidFill>
                        <a:srgbClr val="1F285A"/>
                      </a:solidFill>
                      <a:prstDash val="solid"/>
                      <a:round/>
                      <a:headEnd type="none" w="med" len="med"/>
                      <a:tailEnd type="none" w="med" len="med"/>
                    </a:lnB>
                    <a:solidFill>
                      <a:srgbClr val="FFFFFF"/>
                    </a:solidFill>
                  </a:tcPr>
                </a:tc>
                <a:tc>
                  <a:txBody>
                    <a:bodyPr/>
                    <a:lstStyle/>
                    <a:p>
                      <a:pPr algn="ctr">
                        <a:buNone/>
                      </a:pPr>
                      <a:r>
                        <a:rPr lang="ja-JP" altLang="en-US" sz="1400" b="0" dirty="0">
                          <a:solidFill>
                            <a:srgbClr val="333333"/>
                          </a:solidFill>
                          <a:latin typeface="メイリオ" panose="020B0604030504040204" pitchFamily="50" charset="-128"/>
                          <a:ea typeface="メイリオ" panose="020B0604030504040204" pitchFamily="50" charset="-128"/>
                        </a:rPr>
                        <a:t>なし</a:t>
                      </a:r>
                      <a:endParaRPr lang="ja-JP" altLang="en-US" sz="14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19050" cap="flat" cmpd="sng" algn="ctr">
                      <a:solidFill>
                        <a:srgbClr val="1F285A"/>
                      </a:solidFill>
                      <a:prstDash val="solid"/>
                      <a:round/>
                      <a:headEnd type="none" w="med" len="med"/>
                      <a:tailEnd type="none" w="med" len="med"/>
                    </a:lnB>
                    <a:solidFill>
                      <a:srgbClr val="FFFFFF"/>
                    </a:solidFill>
                  </a:tcPr>
                </a:tc>
              </a:tr>
              <a:tr h="393192">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API連携・開発</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19050" cap="flat" cmpd="sng" algn="ctr">
                      <a:solidFill>
                        <a:srgbClr val="1F285A"/>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400" b="0" dirty="0">
                          <a:solidFill>
                            <a:srgbClr val="333333"/>
                          </a:solidFill>
                          <a:latin typeface="メイリオ" panose="020B0604030504040204" pitchFamily="50" charset="-128"/>
                          <a:ea typeface="メイリオ" panose="020B0604030504040204" pitchFamily="50" charset="-128"/>
                        </a:rPr>
                        <a:t>必要に応じ別途見積</a:t>
                      </a:r>
                      <a:endParaRPr lang="ja-JP" altLang="en-US" sz="14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19050" cap="flat" cmpd="sng" algn="ctr">
                      <a:solidFill>
                        <a:srgbClr val="1F285A"/>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400" b="0" dirty="0">
                          <a:solidFill>
                            <a:srgbClr val="333333"/>
                          </a:solidFill>
                          <a:latin typeface="メイリオ" panose="020B0604030504040204" pitchFamily="50" charset="-128"/>
                          <a:ea typeface="メイリオ" panose="020B0604030504040204" pitchFamily="50" charset="-128"/>
                        </a:rPr>
                        <a:t>なし</a:t>
                      </a:r>
                      <a:endParaRPr lang="ja-JP" altLang="en-US" sz="14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19050" cap="flat" cmpd="sng" algn="ctr">
                      <a:solidFill>
                        <a:srgbClr val="1F285A"/>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400" b="0" dirty="0">
                          <a:solidFill>
                            <a:srgbClr val="333333"/>
                          </a:solidFill>
                          <a:latin typeface="メイリオ" panose="020B0604030504040204" pitchFamily="50" charset="-128"/>
                          <a:ea typeface="メイリオ" panose="020B0604030504040204" pitchFamily="50" charset="-128"/>
                        </a:rPr>
                        <a:t>なし</a:t>
                      </a:r>
                      <a:endParaRPr lang="ja-JP" altLang="en-US" sz="14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19050" cap="flat" cmpd="sng" algn="ctr">
                      <a:solidFill>
                        <a:srgbClr val="1F285A"/>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r>
            </a:tbl>
          </a:graphicData>
        </a:graphic>
      </p:graphicFrame>
      <p:sp>
        <p:nvSpPr>
          <p:cNvPr id="19" name="注記"/>
          <p:cNvSpPr/>
          <p:nvPr/>
        </p:nvSpPr>
        <p:spPr>
          <a:xfrm>
            <a:off x="384048" y="5504688"/>
            <a:ext cx="9144000" cy="987552"/>
          </a:xfrm>
          <a:prstGeom prst="rect">
            <a:avLst/>
          </a:prstGeom>
          <a:noFill/>
          <a:ln>
            <a:noFill/>
          </a:ln>
        </p:spPr>
        <p:txBody>
          <a:bodyPr wrap="square" lIns="18288" tIns="18288" rIns="18288" bIns="18288" rtlCol="0" anchor="t">
            <a:noAutofit/>
          </a:bodyPr>
          <a:lstStyle/>
          <a:p>
            <a:pPr algn="l">
              <a:spcAft>
                <a:spcPts val="200"/>
              </a:spcAft>
              <a:buNone/>
            </a:pPr>
            <a:r>
              <a:rPr lang="ja-JP" altLang="en-US" sz="1100" b="0" dirty="0">
                <a:solidFill>
                  <a:srgbClr val="444444"/>
                </a:solidFill>
                <a:latin typeface="メイリオ" panose="020B0604030504040204" pitchFamily="50" charset="-128"/>
                <a:ea typeface="メイリオ" panose="020B0604030504040204" pitchFamily="50" charset="-128"/>
              </a:rPr>
              <a:t>※価格はあらうち様向けの個別提案価格です（DYMの標準価格ではありません）。初期費用21.5万円は3プラン共通です。</a:t>
            </a:r>
            <a:endParaRPr lang="ja-JP" altLang="en-US" sz="1100" dirty="0"/>
          </a:p>
          <a:p>
            <a:pPr algn="l">
              <a:spcAft>
                <a:spcPts val="200"/>
              </a:spcAft>
              <a:buNone/>
            </a:pPr>
            <a:r>
              <a:rPr lang="ja-JP" altLang="en-US" sz="1100" b="0" dirty="0">
                <a:solidFill>
                  <a:srgbClr val="444444"/>
                </a:solidFill>
                <a:latin typeface="メイリオ" panose="020B0604030504040204" pitchFamily="50" charset="-128"/>
                <a:ea typeface="メイリオ" panose="020B0604030504040204" pitchFamily="50" charset="-128"/>
              </a:rPr>
              <a:t>※プラン③は月額コンサル契約がありません。ツールを継続して利用する場合の利用料は別途実費です。</a:t>
            </a:r>
            <a:endParaRPr lang="ja-JP" altLang="en-US" sz="1100" dirty="0"/>
          </a:p>
          <a:p>
            <a:pPr algn="l">
              <a:spcAft>
                <a:spcPts val="200"/>
              </a:spcAft>
              <a:buNone/>
            </a:pPr>
            <a:r>
              <a:rPr lang="ja-JP" altLang="en-US" sz="1100" b="0" dirty="0">
                <a:solidFill>
                  <a:srgbClr val="444444"/>
                </a:solidFill>
                <a:latin typeface="メイリオ" panose="020B0604030504040204" pitchFamily="50" charset="-128"/>
                <a:ea typeface="メイリオ" panose="020B0604030504040204" pitchFamily="50" charset="-128"/>
              </a:rPr>
              <a:t>※API連携・開発は基本料金に含まれません。必要に応じて、プラン①で別途お見積りします。</a:t>
            </a:r>
            <a:endParaRPr lang="ja-JP" altLang="en-US" sz="1100" dirty="0"/>
          </a:p>
          <a:p>
            <a:pPr algn="l">
              <a:spcAft>
                <a:spcPts val="200"/>
              </a:spcAft>
              <a:buNone/>
            </a:pPr>
            <a:r>
              <a:rPr lang="ja-JP" altLang="en-US" sz="1100" b="0" dirty="0">
                <a:solidFill>
                  <a:srgbClr val="444444"/>
                </a:solidFill>
                <a:latin typeface="メイリオ" panose="020B0604030504040204" pitchFamily="50" charset="-128"/>
                <a:ea typeface="メイリオ" panose="020B0604030504040204" pitchFamily="50" charset="-128"/>
              </a:rPr>
              <a:t>※13ページの試算（6か月目に月23件）は、プラン①｜総合運用の基本施策を対象としたものです。プラン②・③の成果は含みません。</a:t>
            </a:r>
            <a:endParaRPr lang="ja-JP" altLang="en-US" sz="1100" dirty="0"/>
          </a:p>
        </p:txBody>
      </p:sp>
    </p:spTree>
    <p:extLst>
      <p:ext uri="{BB962C8B-B14F-4D97-AF65-F5344CB8AC3E}">
        <p14:creationId xmlns:p14="http://schemas.microsoft.com/office/powerpoint/2010/main" val="236935309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883023-AF7C-336C-849B-8B85A9ACB9B9}"/>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8445BC53-89DD-A84D-9D16-6634A99161D2}"/>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弊社からご提供できる運用プラン</a:t>
            </a:r>
          </a:p>
        </p:txBody>
      </p:sp>
      <p:sp>
        <p:nvSpPr>
          <p:cNvPr id="9" name="正方形/長方形 8">
            <a:extLst>
              <a:ext uri="{FF2B5EF4-FFF2-40B4-BE49-F238E27FC236}">
                <a16:creationId xmlns:a16="http://schemas.microsoft.com/office/drawing/2014/main" id="{9AB03A73-8782-5833-4EC4-7EE6E67551BB}"/>
              </a:ext>
            </a:extLst>
          </p:cNvPr>
          <p:cNvSpPr/>
          <p:nvPr/>
        </p:nvSpPr>
        <p:spPr>
          <a:xfrm>
            <a:off x="0" y="777240"/>
            <a:ext cx="291465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latin typeface="メイリオ" panose="020B0604030504040204" pitchFamily="50" charset="-128"/>
                <a:ea typeface="メイリオ" panose="020B0604030504040204" pitchFamily="50" charset="-128"/>
              </a:rPr>
              <a:t>都度発注プラン</a:t>
            </a:r>
          </a:p>
        </p:txBody>
      </p:sp>
      <p:sp>
        <p:nvSpPr>
          <p:cNvPr id="3" name="Google Shape;752;p28">
            <a:extLst>
              <a:ext uri="{FF2B5EF4-FFF2-40B4-BE49-F238E27FC236}">
                <a16:creationId xmlns:a16="http://schemas.microsoft.com/office/drawing/2014/main" id="{028B53B5-690E-5899-171E-A9074171D6E9}"/>
              </a:ext>
            </a:extLst>
          </p:cNvPr>
          <p:cNvSpPr txBox="1"/>
          <p:nvPr/>
        </p:nvSpPr>
        <p:spPr>
          <a:xfrm>
            <a:off x="3036570" y="859443"/>
            <a:ext cx="6276325" cy="338514"/>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Meiryo"/>
                <a:sym typeface="Meiryo"/>
              </a:rPr>
              <a:t>LINEOA</a:t>
            </a:r>
            <a:r>
              <a:rPr lang="ja-JP" altLang="en-US" sz="1600" b="1" dirty="0">
                <a:latin typeface="メイリオ" panose="020B0604030504040204" pitchFamily="50" charset="-128"/>
                <a:ea typeface="メイリオ" panose="020B0604030504040204" pitchFamily="50" charset="-128"/>
                <a:cs typeface="Meiryo"/>
                <a:sym typeface="Meiryo"/>
              </a:rPr>
              <a:t>の運用業務・</a:t>
            </a:r>
            <a:r>
              <a:rPr lang="en-US" altLang="ja-JP" sz="1600" b="1" dirty="0">
                <a:latin typeface="メイリオ" panose="020B0604030504040204" pitchFamily="50" charset="-128"/>
                <a:ea typeface="メイリオ" panose="020B0604030504040204" pitchFamily="50" charset="-128"/>
                <a:cs typeface="Meiryo"/>
                <a:sym typeface="Meiryo"/>
              </a:rPr>
              <a:t>CR</a:t>
            </a:r>
            <a:r>
              <a:rPr lang="ja-JP" altLang="en-US" sz="1600" b="1" dirty="0">
                <a:latin typeface="メイリオ" panose="020B0604030504040204" pitchFamily="50" charset="-128"/>
                <a:ea typeface="メイリオ" panose="020B0604030504040204" pitchFamily="50" charset="-128"/>
                <a:cs typeface="Meiryo"/>
                <a:sym typeface="Meiryo"/>
              </a:rPr>
              <a:t>制作業務を一部外出ししてご依頼依頼も。</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12" name="正方形/長方形 11">
            <a:extLst>
              <a:ext uri="{FF2B5EF4-FFF2-40B4-BE49-F238E27FC236}">
                <a16:creationId xmlns:a16="http://schemas.microsoft.com/office/drawing/2014/main" id="{E2BC9744-CCD5-D85B-03E7-5884310FE6EE}"/>
              </a:ext>
            </a:extLst>
          </p:cNvPr>
          <p:cNvSpPr/>
          <p:nvPr/>
        </p:nvSpPr>
        <p:spPr>
          <a:xfrm>
            <a:off x="548883" y="1380214"/>
            <a:ext cx="8859613" cy="508154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13" name="テキスト ボックス 12">
            <a:extLst>
              <a:ext uri="{FF2B5EF4-FFF2-40B4-BE49-F238E27FC236}">
                <a16:creationId xmlns:a16="http://schemas.microsoft.com/office/drawing/2014/main" id="{B88E2B73-305C-9688-214C-1EF768E484BD}"/>
              </a:ext>
            </a:extLst>
          </p:cNvPr>
          <p:cNvSpPr txBox="1"/>
          <p:nvPr/>
        </p:nvSpPr>
        <p:spPr>
          <a:xfrm>
            <a:off x="706726" y="1569462"/>
            <a:ext cx="4963884" cy="253916"/>
          </a:xfrm>
          <a:prstGeom prst="rect">
            <a:avLst/>
          </a:prstGeom>
          <a:noFill/>
        </p:spPr>
        <p:txBody>
          <a:bodyPr wrap="square">
            <a:spAutoFit/>
          </a:bodyPr>
          <a:lstStyle/>
          <a:p>
            <a:r>
              <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sym typeface="Meiryo"/>
              </a:rPr>
              <a:t>&lt;</a:t>
            </a:r>
            <a:r>
              <a:rPr lang="ja-JP" altLang="en-US" sz="1050" dirty="0">
                <a:solidFill>
                  <a:schemeClr val="tx1">
                    <a:lumMod val="65000"/>
                    <a:lumOff val="35000"/>
                  </a:schemeClr>
                </a:solidFill>
                <a:latin typeface="メイリオ" panose="020B0604030504040204" pitchFamily="50" charset="-128"/>
                <a:ea typeface="メイリオ" panose="020B0604030504040204" pitchFamily="50" charset="-128"/>
                <a:sym typeface="Meiryo"/>
              </a:rPr>
              <a:t>追加作業における費用感　</a:t>
            </a:r>
            <a:r>
              <a:rPr lang="en-US" altLang="ja-JP" sz="900" dirty="0">
                <a:solidFill>
                  <a:srgbClr val="FF0000"/>
                </a:solidFill>
                <a:latin typeface="メイリオ" panose="020B0604030504040204" pitchFamily="50" charset="-128"/>
                <a:ea typeface="メイリオ" panose="020B0604030504040204" pitchFamily="50" charset="-128"/>
                <a:sym typeface="Meiryo"/>
              </a:rPr>
              <a:t>※</a:t>
            </a:r>
            <a:r>
              <a:rPr lang="ja-JP" altLang="en-US" sz="900" dirty="0">
                <a:solidFill>
                  <a:srgbClr val="FF0000"/>
                </a:solidFill>
                <a:latin typeface="メイリオ" panose="020B0604030504040204" pitchFamily="50" charset="-128"/>
                <a:ea typeface="メイリオ" panose="020B0604030504040204" pitchFamily="50" charset="-128"/>
                <a:sym typeface="Meiryo"/>
              </a:rPr>
              <a:t>作業量により変動する可能性がございます</a:t>
            </a:r>
            <a:r>
              <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sym typeface="Meiryo"/>
              </a:rPr>
              <a:t>&gt;</a:t>
            </a:r>
            <a:endParaRPr lang="ja-JP" altLang="en-US" sz="1050" dirty="0">
              <a:solidFill>
                <a:schemeClr val="tx1">
                  <a:lumMod val="65000"/>
                  <a:lumOff val="35000"/>
                </a:schemeClr>
              </a:solidFill>
            </a:endParaRPr>
          </a:p>
        </p:txBody>
      </p:sp>
      <p:graphicFrame>
        <p:nvGraphicFramePr>
          <p:cNvPr id="14" name="表 13">
            <a:extLst>
              <a:ext uri="{FF2B5EF4-FFF2-40B4-BE49-F238E27FC236}">
                <a16:creationId xmlns:a16="http://schemas.microsoft.com/office/drawing/2014/main" id="{09C77DA6-2F75-12F7-39C7-7A6997364857}"/>
              </a:ext>
            </a:extLst>
          </p:cNvPr>
          <p:cNvGraphicFramePr>
            <a:graphicFrameLocks noGrp="1"/>
          </p:cNvGraphicFramePr>
          <p:nvPr/>
        </p:nvGraphicFramePr>
        <p:xfrm>
          <a:off x="706726" y="1862534"/>
          <a:ext cx="8543925" cy="4069730"/>
        </p:xfrm>
        <a:graphic>
          <a:graphicData uri="http://schemas.openxmlformats.org/drawingml/2006/table">
            <a:tbl>
              <a:tblPr/>
              <a:tblGrid>
                <a:gridCol w="1832575">
                  <a:extLst>
                    <a:ext uri="{9D8B030D-6E8A-4147-A177-3AD203B41FA5}">
                      <a16:colId xmlns:a16="http://schemas.microsoft.com/office/drawing/2014/main" val="861741390"/>
                    </a:ext>
                  </a:extLst>
                </a:gridCol>
                <a:gridCol w="1140808">
                  <a:extLst>
                    <a:ext uri="{9D8B030D-6E8A-4147-A177-3AD203B41FA5}">
                      <a16:colId xmlns:a16="http://schemas.microsoft.com/office/drawing/2014/main" val="2023292695"/>
                    </a:ext>
                  </a:extLst>
                </a:gridCol>
                <a:gridCol w="1140808">
                  <a:extLst>
                    <a:ext uri="{9D8B030D-6E8A-4147-A177-3AD203B41FA5}">
                      <a16:colId xmlns:a16="http://schemas.microsoft.com/office/drawing/2014/main" val="3807194112"/>
                    </a:ext>
                  </a:extLst>
                </a:gridCol>
                <a:gridCol w="315543">
                  <a:extLst>
                    <a:ext uri="{9D8B030D-6E8A-4147-A177-3AD203B41FA5}">
                      <a16:colId xmlns:a16="http://schemas.microsoft.com/office/drawing/2014/main" val="1897046241"/>
                    </a:ext>
                  </a:extLst>
                </a:gridCol>
                <a:gridCol w="1832575">
                  <a:extLst>
                    <a:ext uri="{9D8B030D-6E8A-4147-A177-3AD203B41FA5}">
                      <a16:colId xmlns:a16="http://schemas.microsoft.com/office/drawing/2014/main" val="286895173"/>
                    </a:ext>
                  </a:extLst>
                </a:gridCol>
                <a:gridCol w="1140808">
                  <a:extLst>
                    <a:ext uri="{9D8B030D-6E8A-4147-A177-3AD203B41FA5}">
                      <a16:colId xmlns:a16="http://schemas.microsoft.com/office/drawing/2014/main" val="241768133"/>
                    </a:ext>
                  </a:extLst>
                </a:gridCol>
                <a:gridCol w="1140808">
                  <a:extLst>
                    <a:ext uri="{9D8B030D-6E8A-4147-A177-3AD203B41FA5}">
                      <a16:colId xmlns:a16="http://schemas.microsoft.com/office/drawing/2014/main" val="3498780203"/>
                    </a:ext>
                  </a:extLst>
                </a:gridCol>
              </a:tblGrid>
              <a:tr h="290695">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rPr>
                        <a:t>対応項目</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a:solidFill>
                            <a:srgbClr val="FFFFFF"/>
                          </a:solidFill>
                          <a:effectLst/>
                          <a:latin typeface="メイリオ" panose="020B0604030504040204" pitchFamily="50" charset="-128"/>
                          <a:ea typeface="メイリオ" panose="020B0604030504040204" pitchFamily="50" charset="-128"/>
                        </a:rPr>
                        <a:t>初期</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rPr>
                        <a:t>内容</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l" fontAlgn="ctr">
                        <a:buNone/>
                      </a:pPr>
                      <a:endParaRPr lang="ja-JP" altLang="en-US" sz="1100" b="1"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1" i="0" u="none" strike="noStrike">
                          <a:solidFill>
                            <a:srgbClr val="FFFFFF"/>
                          </a:solidFill>
                          <a:effectLst/>
                          <a:latin typeface="メイリオ" panose="020B0604030504040204" pitchFamily="50" charset="-128"/>
                          <a:ea typeface="メイリオ" panose="020B0604030504040204" pitchFamily="50" charset="-128"/>
                        </a:rPr>
                        <a:t>対応項目</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rPr>
                        <a:t>初期</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rPr>
                        <a:t>月額</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extLst>
                  <a:ext uri="{0D108BD9-81ED-4DB2-BD59-A6C34878D82A}">
                    <a16:rowId xmlns:a16="http://schemas.microsoft.com/office/drawing/2014/main" val="1564040789"/>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アカウント開設</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dirty="0">
                          <a:solidFill>
                            <a:srgbClr val="000000"/>
                          </a:solidFill>
                          <a:effectLst/>
                          <a:latin typeface="メイリオ" panose="020B0604030504040204" pitchFamily="50" charset="-128"/>
                          <a:ea typeface="メイリオ" panose="020B0604030504040204" pitchFamily="50" charset="-128"/>
                        </a:rPr>
                        <a:t>API</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ツール導入</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420324702"/>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プロフィール</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rPr>
                        <a:t>ID</a:t>
                      </a:r>
                      <a:r>
                        <a:rPr lang="ja-JP" altLang="en-US" sz="1100" b="0" i="0" u="none" strike="noStrike">
                          <a:solidFill>
                            <a:srgbClr val="000000"/>
                          </a:solidFill>
                          <a:effectLst/>
                          <a:latin typeface="メイリオ" panose="020B0604030504040204" pitchFamily="50" charset="-128"/>
                          <a:ea typeface="メイリオ" panose="020B0604030504040204" pitchFamily="50" charset="-128"/>
                        </a:rPr>
                        <a:t>連携</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rtl="0" eaLnBrk="1" fontAlgn="ctr" latinLnBrk="0" hangingPunct="1">
                        <a:buNone/>
                      </a:pPr>
                      <a:r>
                        <a:rPr kumimoji="1" lang="en-US" sz="1050" b="0" i="0" u="none" strike="noStrike" kern="1200" dirty="0">
                          <a:solidFill>
                            <a:schemeClr val="tx1">
                              <a:lumMod val="50000"/>
                              <a:lumOff val="50000"/>
                            </a:schemeClr>
                          </a:solidFill>
                          <a:effectLst/>
                          <a:latin typeface="メイリオ" panose="020B0604030504040204" pitchFamily="50" charset="-128"/>
                          <a:ea typeface="メイリオ" panose="020B0604030504040204" pitchFamily="50" charset="-128"/>
                        </a:rPr>
                        <a:t>¥200,000~</a:t>
                      </a:r>
                      <a:endParaRPr lang="en-US" altLang="ja-JP" sz="2800" b="0" i="0" u="none" strike="noStrike" dirty="0">
                        <a:solidFill>
                          <a:schemeClr val="tx1">
                            <a:lumMod val="50000"/>
                            <a:lumOff val="50000"/>
                          </a:schemeClr>
                        </a:solidFill>
                        <a:effectLst/>
                        <a:latin typeface="Arial" panose="020B0604020202020204" pitchFamily="34" charset="0"/>
                      </a:endParaRPr>
                    </a:p>
                  </a:txBody>
                  <a:tcPr marL="9144" marR="9144" marT="91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272466269"/>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リッチメニュー</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rPr>
                        <a:t>LINE</a:t>
                      </a:r>
                      <a:r>
                        <a:rPr lang="ja-JP" altLang="en-US" sz="1100" b="0" i="0" u="none" strike="noStrike">
                          <a:solidFill>
                            <a:srgbClr val="000000"/>
                          </a:solidFill>
                          <a:effectLst/>
                          <a:latin typeface="メイリオ" panose="020B0604030504040204" pitchFamily="50" charset="-128"/>
                          <a:ea typeface="メイリオ" panose="020B0604030504040204" pitchFamily="50" charset="-128"/>
                        </a:rPr>
                        <a:t>ログイン</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rtl="0" eaLnBrk="1" fontAlgn="ctr" latinLnBrk="0" hangingPunct="1">
                        <a:buNone/>
                      </a:pPr>
                      <a:r>
                        <a:rPr kumimoji="1" lang="en-US" sz="1050" b="0" i="0" u="none" strike="noStrike" kern="1200" dirty="0">
                          <a:solidFill>
                            <a:schemeClr val="tx1">
                              <a:lumMod val="50000"/>
                              <a:lumOff val="50000"/>
                            </a:schemeClr>
                          </a:solidFill>
                          <a:effectLst/>
                          <a:latin typeface="メイリオ" panose="020B0604030504040204" pitchFamily="50" charset="-128"/>
                          <a:ea typeface="メイリオ" panose="020B0604030504040204" pitchFamily="50" charset="-128"/>
                        </a:rPr>
                        <a:t>¥0</a:t>
                      </a:r>
                      <a:endParaRPr lang="en-US" altLang="ja-JP" sz="2800" b="0" i="0" u="none" strike="noStrike" dirty="0">
                        <a:solidFill>
                          <a:schemeClr val="tx1">
                            <a:lumMod val="50000"/>
                            <a:lumOff val="50000"/>
                          </a:schemeClr>
                        </a:solidFill>
                        <a:effectLst/>
                        <a:latin typeface="Arial" panose="020B0604020202020204" pitchFamily="34" charset="0"/>
                      </a:endParaRPr>
                    </a:p>
                  </a:txBody>
                  <a:tcPr marL="9144" marR="9144" marT="91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843180495"/>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あいさつメッセージ</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a:solidFill>
                            <a:srgbClr val="000000"/>
                          </a:solidFill>
                          <a:effectLst/>
                          <a:latin typeface="メイリオ" panose="020B0604030504040204" pitchFamily="50" charset="-128"/>
                          <a:ea typeface="メイリオ" panose="020B0604030504040204" pitchFamily="50" charset="-128"/>
                        </a:rPr>
                        <a:t>通知メッセージ</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¥200,000~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295619942"/>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初期アンケート</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チャットボット機能</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498230469"/>
                  </a:ext>
                </a:extLst>
              </a:tr>
              <a:tr h="290695">
                <a:tc>
                  <a:txBody>
                    <a:bodyPr/>
                    <a:lstStyle/>
                    <a:p>
                      <a:pPr algn="ctr" fontAlgn="ctr">
                        <a:buNone/>
                      </a:pPr>
                      <a:r>
                        <a:rPr lang="en-US" sz="1100" b="0" i="0" u="none" strike="noStrike" dirty="0">
                          <a:solidFill>
                            <a:srgbClr val="000000"/>
                          </a:solidFill>
                          <a:effectLst/>
                          <a:latin typeface="メイリオ" panose="020B0604030504040204" pitchFamily="50" charset="-128"/>
                          <a:ea typeface="メイリオ" panose="020B0604030504040204" pitchFamily="50" charset="-128"/>
                        </a:rPr>
                        <a:t>KW</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の自動応答</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dirty="0">
                          <a:solidFill>
                            <a:srgbClr val="000000"/>
                          </a:solidFill>
                          <a:effectLst/>
                          <a:latin typeface="メイリオ" panose="020B0604030504040204" pitchFamily="50" charset="-128"/>
                          <a:ea typeface="メイリオ" panose="020B0604030504040204" pitchFamily="50" charset="-128"/>
                        </a:rPr>
                        <a:t>Chat Plus</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¥30,000~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41305542"/>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ステップ配信</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rPr>
                        <a:t>Call Plus</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¥200,000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4011135084"/>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セグメント配信</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rPr>
                        <a:t>LINE</a:t>
                      </a:r>
                      <a:r>
                        <a:rPr lang="ja-JP" altLang="en-US" sz="1100" b="0" i="0" u="none" strike="noStrike">
                          <a:solidFill>
                            <a:srgbClr val="000000"/>
                          </a:solidFill>
                          <a:effectLst/>
                          <a:latin typeface="メイリオ" panose="020B0604030504040204" pitchFamily="50" charset="-128"/>
                          <a:ea typeface="メイリオ" panose="020B0604030504040204" pitchFamily="50" charset="-128"/>
                        </a:rPr>
                        <a:t>決済</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989714401"/>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チャットタグ管理</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予約管理</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¥20,000~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160214931"/>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チャット対応</a:t>
                      </a:r>
                      <a:r>
                        <a:rPr lang="ja-JP" altLang="en-US" sz="700" b="0" i="0" u="none" strike="noStrike" dirty="0">
                          <a:solidFill>
                            <a:srgbClr val="FF0000"/>
                          </a:solidFill>
                          <a:effectLst/>
                          <a:latin typeface="メイリオ" panose="020B0604030504040204" pitchFamily="50" charset="-128"/>
                          <a:ea typeface="メイリオ" panose="020B0604030504040204" pitchFamily="50" charset="-128"/>
                        </a:rPr>
                        <a:t> </a:t>
                      </a:r>
                      <a:r>
                        <a:rPr lang="en-US" altLang="ja-JP" sz="700" b="0" i="0" u="none" strike="noStrike" dirty="0">
                          <a:solidFill>
                            <a:srgbClr val="FF0000"/>
                          </a:solidFill>
                          <a:effectLst/>
                          <a:latin typeface="メイリオ" panose="020B0604030504040204" pitchFamily="50" charset="-128"/>
                          <a:ea typeface="メイリオ" panose="020B0604030504040204" pitchFamily="50" charset="-128"/>
                        </a:rPr>
                        <a:t>※</a:t>
                      </a:r>
                      <a:r>
                        <a:rPr lang="ja-JP" altLang="en-US" sz="700" b="0" i="0" u="none" strike="noStrike" dirty="0">
                          <a:solidFill>
                            <a:srgbClr val="FF0000"/>
                          </a:solidFill>
                          <a:effectLst/>
                          <a:latin typeface="メイリオ" panose="020B0604030504040204" pitchFamily="50" charset="-128"/>
                          <a:ea typeface="メイリオ" panose="020B0604030504040204" pitchFamily="50" charset="-128"/>
                        </a:rPr>
                        <a:t>サポートは可能</a:t>
                      </a:r>
                      <a:endParaRPr lang="ja-JP" altLang="en-US" sz="1100" b="0" i="0" u="none" strike="noStrike" dirty="0">
                        <a:solidFill>
                          <a:srgbClr val="FF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¥100,000</a:t>
                      </a: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rPr>
                        <a:t>～</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rPr>
                        <a:t>件数により変動</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919396613"/>
                  </a:ext>
                </a:extLst>
              </a:tr>
              <a:tr h="290695">
                <a:tc>
                  <a:txBody>
                    <a:bodyPr/>
                    <a:lstStyle/>
                    <a:p>
                      <a:pPr algn="ctr" fontAlgn="ctr">
                        <a:buNone/>
                      </a:pP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rPr>
                        <a:t>GA(CRM)</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レポート連携</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802321774"/>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クリエイティブ</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¥15,000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rPr>
                        <a:t>画像</a:t>
                      </a: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rPr>
                        <a:t>1</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rPr>
                        <a:t>枚での想定</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p>
                      <a:pPr marL="0" marR="0" lvl="0" indent="0" algn="ctr" defTabSz="914400" rtl="0" eaLnBrk="1" fontAlgn="ctr" latinLnBrk="0" hangingPunct="1">
                        <a:lnSpc>
                          <a:spcPct val="100000"/>
                        </a:lnSpc>
                        <a:spcBef>
                          <a:spcPts val="0"/>
                        </a:spcBef>
                        <a:spcAft>
                          <a:spcPts val="0"/>
                        </a:spcAft>
                        <a:buClrTx/>
                        <a:buSzTx/>
                        <a:buFontTx/>
                        <a:buNone/>
                        <a:tabLst/>
                        <a:defRPr/>
                      </a:pP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rPr>
                        <a:t>※</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rPr>
                        <a:t>バナー、</a:t>
                      </a: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rPr>
                        <a:t>HTML</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rPr>
                        <a:t>メール等</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離脱防止ツール</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¥15,000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rPr>
                        <a:t>画像</a:t>
                      </a: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rPr>
                        <a:t>1</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rPr>
                        <a:t>枚での想定</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p>
                      <a:pPr marL="0" marR="0" lvl="0" indent="0" algn="ctr" defTabSz="914400" rtl="0" eaLnBrk="1" fontAlgn="ctr" latinLnBrk="0" hangingPunct="1">
                        <a:lnSpc>
                          <a:spcPct val="100000"/>
                        </a:lnSpc>
                        <a:spcBef>
                          <a:spcPts val="0"/>
                        </a:spcBef>
                        <a:spcAft>
                          <a:spcPts val="0"/>
                        </a:spcAft>
                        <a:buClrTx/>
                        <a:buSzTx/>
                        <a:buFontTx/>
                        <a:buNone/>
                        <a:tabLst/>
                        <a:defRPr/>
                      </a:pP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rPr>
                        <a:t>※</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rPr>
                        <a:t>バナー、</a:t>
                      </a: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rPr>
                        <a:t>HTML</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rPr>
                        <a:t>メール等</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298905920"/>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投稿作成</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サンクス</a:t>
                      </a: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rPr>
                        <a:t>LINE</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誘導ツール</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117655704"/>
                  </a:ext>
                </a:extLst>
              </a:tr>
            </a:tbl>
          </a:graphicData>
        </a:graphic>
      </p:graphicFrame>
      <p:sp>
        <p:nvSpPr>
          <p:cNvPr id="5" name="テキスト ボックス 4">
            <a:extLst>
              <a:ext uri="{FF2B5EF4-FFF2-40B4-BE49-F238E27FC236}">
                <a16:creationId xmlns:a16="http://schemas.microsoft.com/office/drawing/2014/main" id="{F7D704DA-4ADC-402A-12BC-1D923B1E3B20}"/>
              </a:ext>
            </a:extLst>
          </p:cNvPr>
          <p:cNvSpPr txBox="1"/>
          <p:nvPr/>
        </p:nvSpPr>
        <p:spPr>
          <a:xfrm>
            <a:off x="1344877" y="6045252"/>
            <a:ext cx="7267622" cy="307777"/>
          </a:xfrm>
          <a:prstGeom prst="rect">
            <a:avLst/>
          </a:prstGeom>
          <a:noFill/>
        </p:spPr>
        <p:txBody>
          <a:bodyPr wrap="square">
            <a:spAutoFit/>
          </a:bodyPr>
          <a:lstStyle/>
          <a:p>
            <a:pPr algn="ctr"/>
            <a:r>
              <a:rPr lang="ja-JP" altLang="en-US" sz="1400" dirty="0">
                <a:solidFill>
                  <a:srgbClr val="FF0000"/>
                </a:solidFill>
                <a:latin typeface="メイリオ" panose="020B0604030504040204" pitchFamily="50" charset="-128"/>
                <a:ea typeface="メイリオ" panose="020B0604030504040204" pitchFamily="50" charset="-128"/>
                <a:sym typeface="Meiryo"/>
              </a:rPr>
              <a:t>貴社リソースの状況に応じて都度発注でのご依頼も各単価で受けさせていただきます。</a:t>
            </a:r>
            <a:endParaRPr lang="ja-JP" altLang="en-US" sz="1400" dirty="0"/>
          </a:p>
        </p:txBody>
      </p:sp>
      <p:sp>
        <p:nvSpPr>
          <p:cNvPr id="2" name="正方形/長方形 1">
            <a:extLst>
              <a:ext uri="{FF2B5EF4-FFF2-40B4-BE49-F238E27FC236}">
                <a16:creationId xmlns:a16="http://schemas.microsoft.com/office/drawing/2014/main" id="{80B84980-B4D9-2F75-F253-D767EB0FFCF5}"/>
              </a:ext>
            </a:extLst>
          </p:cNvPr>
          <p:cNvSpPr/>
          <p:nvPr/>
        </p:nvSpPr>
        <p:spPr>
          <a:xfrm>
            <a:off x="378823" y="1329288"/>
            <a:ext cx="9183188" cy="5219557"/>
          </a:xfrm>
          <a:prstGeom prst="rect">
            <a:avLst/>
          </a:prstGeom>
          <a:solidFill>
            <a:schemeClr val="bg1">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8808819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D17A57-A342-CB38-A7F8-9DB9EF160348}"/>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282D28B4-A2E3-FBF5-60E3-CBDCF57DCEEB}"/>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8262C21F-1F4A-FEF6-A8ED-48C7EC229555}"/>
              </a:ext>
            </a:extLst>
          </p:cNvPr>
          <p:cNvSpPr/>
          <p:nvPr/>
        </p:nvSpPr>
        <p:spPr>
          <a:xfrm>
            <a:off x="3629572" y="3038203"/>
            <a:ext cx="2646878"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サポート体制</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09213406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正方形/長方形 5"/>
          <p:cNvSpPr/>
          <p:nvPr/>
        </p:nvSpPr>
        <p:spPr>
          <a:xfrm>
            <a:off x="300312" y="832762"/>
            <a:ext cx="9355994" cy="867143"/>
          </a:xfrm>
          <a:prstGeom prst="rect">
            <a:avLst/>
          </a:prstGeom>
          <a:solidFill>
            <a:schemeClr val="tx2"/>
          </a:solidFill>
          <a:ln w="2222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400" dirty="0">
                <a:solidFill>
                  <a:schemeClr val="bg1"/>
                </a:solidFill>
                <a:latin typeface="メイリオ" panose="020B0604030504040204" pitchFamily="50" charset="-128"/>
                <a:ea typeface="メイリオ" panose="020B0604030504040204" pitchFamily="50" charset="-128"/>
              </a:rPr>
              <a:t>WEB</a:t>
            </a:r>
            <a:r>
              <a:rPr lang="ja-JP" altLang="en-US" sz="2400" dirty="0">
                <a:solidFill>
                  <a:schemeClr val="bg1"/>
                </a:solidFill>
                <a:latin typeface="メイリオ" panose="020B0604030504040204" pitchFamily="50" charset="-128"/>
                <a:ea typeface="メイリオ" panose="020B0604030504040204" pitchFamily="50" charset="-128"/>
              </a:rPr>
              <a:t>サイト上情報と連携させ、配信効果を数値化する</a:t>
            </a:r>
          </a:p>
        </p:txBody>
      </p:sp>
      <p:pic>
        <p:nvPicPr>
          <p:cNvPr id="7" name="図 6"/>
          <p:cNvPicPr>
            <a:picLocks noChangeAspect="1"/>
          </p:cNvPicPr>
          <p:nvPr/>
        </p:nvPicPr>
        <p:blipFill>
          <a:blip r:embed="rId3"/>
          <a:stretch>
            <a:fillRect/>
          </a:stretch>
        </p:blipFill>
        <p:spPr>
          <a:xfrm>
            <a:off x="1183616" y="2131090"/>
            <a:ext cx="2498573" cy="1744287"/>
          </a:xfrm>
          <a:prstGeom prst="rect">
            <a:avLst/>
          </a:prstGeom>
        </p:spPr>
      </p:pic>
      <p:pic>
        <p:nvPicPr>
          <p:cNvPr id="8" name="図 7"/>
          <p:cNvPicPr>
            <a:picLocks noChangeAspect="1"/>
          </p:cNvPicPr>
          <p:nvPr/>
        </p:nvPicPr>
        <p:blipFill>
          <a:blip r:embed="rId4"/>
          <a:stretch>
            <a:fillRect/>
          </a:stretch>
        </p:blipFill>
        <p:spPr>
          <a:xfrm>
            <a:off x="3456146" y="2402524"/>
            <a:ext cx="2393091" cy="1668595"/>
          </a:xfrm>
          <a:prstGeom prst="rect">
            <a:avLst/>
          </a:prstGeom>
        </p:spPr>
      </p:pic>
      <p:pic>
        <p:nvPicPr>
          <p:cNvPr id="10" name="図 9"/>
          <p:cNvPicPr>
            <a:picLocks noChangeAspect="1"/>
          </p:cNvPicPr>
          <p:nvPr/>
        </p:nvPicPr>
        <p:blipFill>
          <a:blip r:embed="rId5"/>
          <a:stretch>
            <a:fillRect/>
          </a:stretch>
        </p:blipFill>
        <p:spPr>
          <a:xfrm>
            <a:off x="5697714" y="2676687"/>
            <a:ext cx="2432174" cy="1698131"/>
          </a:xfrm>
          <a:prstGeom prst="rect">
            <a:avLst/>
          </a:prstGeom>
        </p:spPr>
      </p:pic>
      <p:pic>
        <p:nvPicPr>
          <p:cNvPr id="14" name="図 13"/>
          <p:cNvPicPr>
            <a:picLocks noChangeAspect="1"/>
          </p:cNvPicPr>
          <p:nvPr/>
        </p:nvPicPr>
        <p:blipFill>
          <a:blip r:embed="rId6"/>
          <a:stretch>
            <a:fillRect/>
          </a:stretch>
        </p:blipFill>
        <p:spPr>
          <a:xfrm>
            <a:off x="1158180" y="4165451"/>
            <a:ext cx="2417022" cy="1682579"/>
          </a:xfrm>
          <a:prstGeom prst="rect">
            <a:avLst/>
          </a:prstGeom>
        </p:spPr>
      </p:pic>
      <p:pic>
        <p:nvPicPr>
          <p:cNvPr id="15" name="図 14"/>
          <p:cNvPicPr>
            <a:picLocks noChangeAspect="1"/>
          </p:cNvPicPr>
          <p:nvPr/>
        </p:nvPicPr>
        <p:blipFill>
          <a:blip r:embed="rId7"/>
          <a:stretch>
            <a:fillRect/>
          </a:stretch>
        </p:blipFill>
        <p:spPr>
          <a:xfrm>
            <a:off x="3434655" y="4410829"/>
            <a:ext cx="2417022" cy="1683209"/>
          </a:xfrm>
          <a:prstGeom prst="rect">
            <a:avLst/>
          </a:prstGeom>
        </p:spPr>
      </p:pic>
      <p:pic>
        <p:nvPicPr>
          <p:cNvPr id="24" name="図 23"/>
          <p:cNvPicPr>
            <a:picLocks noChangeAspect="1"/>
          </p:cNvPicPr>
          <p:nvPr/>
        </p:nvPicPr>
        <p:blipFill>
          <a:blip r:embed="rId8"/>
          <a:stretch>
            <a:fillRect/>
          </a:stretch>
        </p:blipFill>
        <p:spPr>
          <a:xfrm>
            <a:off x="5697714" y="4687135"/>
            <a:ext cx="2427146" cy="1691079"/>
          </a:xfrm>
          <a:prstGeom prst="rect">
            <a:avLst/>
          </a:prstGeom>
        </p:spPr>
      </p:pic>
      <p:pic>
        <p:nvPicPr>
          <p:cNvPr id="26" name="図 25"/>
          <p:cNvPicPr>
            <a:picLocks noChangeAspect="1"/>
          </p:cNvPicPr>
          <p:nvPr/>
        </p:nvPicPr>
        <p:blipFill>
          <a:blip r:embed="rId9"/>
          <a:stretch>
            <a:fillRect/>
          </a:stretch>
        </p:blipFill>
        <p:spPr>
          <a:xfrm>
            <a:off x="8022243" y="1995292"/>
            <a:ext cx="1068645" cy="454221"/>
          </a:xfrm>
          <a:prstGeom prst="rect">
            <a:avLst/>
          </a:prstGeom>
        </p:spPr>
      </p:pic>
      <p:sp>
        <p:nvSpPr>
          <p:cNvPr id="2" name="テキスト ボックス 1">
            <a:extLst>
              <a:ext uri="{FF2B5EF4-FFF2-40B4-BE49-F238E27FC236}">
                <a16:creationId xmlns:a16="http://schemas.microsoft.com/office/drawing/2014/main" id="{D651C636-9CF1-15AA-68DF-A90526709D47}"/>
              </a:ext>
            </a:extLst>
          </p:cNvPr>
          <p:cNvSpPr txBox="1"/>
          <p:nvPr/>
        </p:nvSpPr>
        <p:spPr>
          <a:xfrm>
            <a:off x="482693" y="989115"/>
            <a:ext cx="933809" cy="646331"/>
          </a:xfrm>
          <a:prstGeom prst="rect">
            <a:avLst/>
          </a:prstGeom>
          <a:noFill/>
        </p:spPr>
        <p:txBody>
          <a:bodyPr wrap="square">
            <a:spAutoFit/>
          </a:bodyPr>
          <a:lstStyle/>
          <a:p>
            <a:r>
              <a:rPr lang="ja-JP" altLang="en-US" sz="3600" dirty="0">
                <a:solidFill>
                  <a:schemeClr val="bg1"/>
                </a:solidFill>
                <a:latin typeface="メイリオ" panose="020B0604030504040204" pitchFamily="50" charset="-128"/>
                <a:ea typeface="メイリオ" panose="020B0604030504040204" pitchFamily="50" charset="-128"/>
              </a:rPr>
              <a:t>☑</a:t>
            </a:r>
            <a:endParaRPr lang="ja-JP" altLang="en-US" sz="3600" dirty="0"/>
          </a:p>
        </p:txBody>
      </p:sp>
      <p:pic>
        <p:nvPicPr>
          <p:cNvPr id="3" name="Picture 2" descr="ロゴガイドライン｜LINEヤフー for Business">
            <a:extLst>
              <a:ext uri="{FF2B5EF4-FFF2-40B4-BE49-F238E27FC236}">
                <a16:creationId xmlns:a16="http://schemas.microsoft.com/office/drawing/2014/main" id="{4B935F7B-C5E5-F09A-504B-9182D06611BF}"/>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6485508" y="1787991"/>
            <a:ext cx="2447955" cy="888696"/>
          </a:xfrm>
          <a:prstGeom prst="rect">
            <a:avLst/>
          </a:prstGeom>
          <a:noFill/>
          <a:extLst>
            <a:ext uri="{909E8E84-426E-40DD-AFC4-6F175D3DCCD1}">
              <a14:hiddenFill xmlns:a14="http://schemas.microsoft.com/office/drawing/2010/main">
                <a:solidFill>
                  <a:srgbClr val="FFFFFF"/>
                </a:solidFill>
              </a14:hiddenFill>
            </a:ext>
          </a:extLst>
        </p:spPr>
      </p:pic>
      <p:sp>
        <p:nvSpPr>
          <p:cNvPr id="4" name="Google Shape;156;p7">
            <a:extLst>
              <a:ext uri="{FF2B5EF4-FFF2-40B4-BE49-F238E27FC236}">
                <a16:creationId xmlns:a16="http://schemas.microsoft.com/office/drawing/2014/main" id="{C235E2E0-8EAB-29DE-40C2-6596465C1F0D}"/>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サポート体制（報告</a:t>
            </a:r>
            <a:r>
              <a:rPr lang="en-US" altLang="ja-JP" sz="1600" b="1" dirty="0">
                <a:solidFill>
                  <a:srgbClr val="002060"/>
                </a:solidFill>
                <a:latin typeface="Meiryo"/>
                <a:ea typeface="Meiryo"/>
                <a:cs typeface="Meiryo"/>
                <a:sym typeface="Meiryo"/>
              </a:rPr>
              <a:t>FMT</a:t>
            </a:r>
            <a:r>
              <a:rPr lang="ja-JP" altLang="en-US" sz="1600" b="1" dirty="0">
                <a:solidFill>
                  <a:srgbClr val="002060"/>
                </a:solidFill>
                <a:latin typeface="Meiryo"/>
                <a:ea typeface="Meiryo"/>
                <a:cs typeface="Meiryo"/>
                <a:sym typeface="Meiryo"/>
              </a:rPr>
              <a:t>）</a:t>
            </a:r>
            <a:endParaRPr sz="1600" b="1" dirty="0">
              <a:solidFill>
                <a:srgbClr val="002060"/>
              </a:solidFill>
              <a:latin typeface="Meiryo"/>
              <a:ea typeface="Meiryo"/>
              <a:cs typeface="Meiryo"/>
              <a:sym typeface="Meiryo"/>
            </a:endParaRPr>
          </a:p>
        </p:txBody>
      </p:sp>
      <p:sp>
        <p:nvSpPr>
          <p:cNvPr id="5" name="正方形/長方形 4">
            <a:extLst>
              <a:ext uri="{FF2B5EF4-FFF2-40B4-BE49-F238E27FC236}">
                <a16:creationId xmlns:a16="http://schemas.microsoft.com/office/drawing/2014/main" id="{301FEA49-75A4-DB83-1235-8CE72DDD1DB5}"/>
              </a:ext>
            </a:extLst>
          </p:cNvPr>
          <p:cNvSpPr/>
          <p:nvPr/>
        </p:nvSpPr>
        <p:spPr>
          <a:xfrm>
            <a:off x="166962" y="3583894"/>
            <a:ext cx="9594258" cy="867143"/>
          </a:xfrm>
          <a:prstGeom prst="rect">
            <a:avLst/>
          </a:prstGeom>
          <a:solidFill>
            <a:schemeClr val="tx1">
              <a:lumMod val="65000"/>
              <a:lumOff val="35000"/>
              <a:alpha val="50000"/>
            </a:schemeClr>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2400" b="1" dirty="0">
                <a:solidFill>
                  <a:schemeClr val="bg1"/>
                </a:solidFill>
                <a:latin typeface="メイリオ" panose="020B0604030504040204" pitchFamily="50" charset="-128"/>
                <a:ea typeface="メイリオ" panose="020B0604030504040204" pitchFamily="50" charset="-128"/>
              </a:rPr>
              <a:t>レポートサンプル</a:t>
            </a:r>
            <a:endParaRPr lang="en-US" altLang="ja-JP" sz="2400" b="1" dirty="0">
              <a:solidFill>
                <a:schemeClr val="bg1"/>
              </a:solidFill>
              <a:latin typeface="メイリオ" panose="020B0604030504040204" pitchFamily="50" charset="-128"/>
              <a:ea typeface="メイリオ" panose="020B0604030504040204" pitchFamily="50" charset="-128"/>
            </a:endParaRPr>
          </a:p>
          <a:p>
            <a:pPr algn="ctr"/>
            <a:r>
              <a:rPr lang="ja-JP" altLang="en-US" sz="1400" dirty="0">
                <a:solidFill>
                  <a:schemeClr val="bg1"/>
                </a:solidFill>
                <a:latin typeface="メイリオ" panose="020B0604030504040204" pitchFamily="50" charset="-128"/>
                <a:ea typeface="メイリオ" panose="020B0604030504040204" pitchFamily="50" charset="-128"/>
              </a:rPr>
              <a:t>（貴社要望によりカスタマイズ予定）</a:t>
            </a:r>
          </a:p>
        </p:txBody>
      </p:sp>
    </p:spTree>
    <p:extLst>
      <p:ext uri="{BB962C8B-B14F-4D97-AF65-F5344CB8AC3E}">
        <p14:creationId xmlns:p14="http://schemas.microsoft.com/office/powerpoint/2010/main" val="20268183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p:cNvSpPr/>
          <p:nvPr/>
        </p:nvSpPr>
        <p:spPr>
          <a:xfrm>
            <a:off x="6757851" y="93594"/>
            <a:ext cx="1320961" cy="344039"/>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100" dirty="0">
                <a:latin typeface="メイリオ" panose="020B0604030504040204" pitchFamily="50" charset="-128"/>
                <a:ea typeface="メイリオ" panose="020B0604030504040204" pitchFamily="50" charset="-128"/>
              </a:rPr>
              <a:t>効果計測</a:t>
            </a:r>
            <a:endParaRPr kumimoji="1" lang="ja-JP" altLang="en-US" sz="1100" dirty="0">
              <a:latin typeface="メイリオ" panose="020B0604030504040204" pitchFamily="50" charset="-128"/>
              <a:ea typeface="メイリオ" panose="020B0604030504040204" pitchFamily="50" charset="-128"/>
            </a:endParaRPr>
          </a:p>
        </p:txBody>
      </p:sp>
      <p:sp>
        <p:nvSpPr>
          <p:cNvPr id="14" name="正方形/長方形 13"/>
          <p:cNvSpPr/>
          <p:nvPr/>
        </p:nvSpPr>
        <p:spPr>
          <a:xfrm>
            <a:off x="258794" y="1486023"/>
            <a:ext cx="9230264" cy="170575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a:p>
        </p:txBody>
      </p:sp>
      <p:pic>
        <p:nvPicPr>
          <p:cNvPr id="15" name="図 14"/>
          <p:cNvPicPr>
            <a:picLocks noChangeAspect="1"/>
          </p:cNvPicPr>
          <p:nvPr/>
        </p:nvPicPr>
        <p:blipFill>
          <a:blip r:embed="rId3"/>
          <a:stretch>
            <a:fillRect/>
          </a:stretch>
        </p:blipFill>
        <p:spPr>
          <a:xfrm>
            <a:off x="445640" y="4515592"/>
            <a:ext cx="4393508" cy="1886055"/>
          </a:xfrm>
          <a:prstGeom prst="rect">
            <a:avLst/>
          </a:prstGeom>
        </p:spPr>
      </p:pic>
      <p:sp>
        <p:nvSpPr>
          <p:cNvPr id="16" name="正方形/長方形 15"/>
          <p:cNvSpPr/>
          <p:nvPr/>
        </p:nvSpPr>
        <p:spPr>
          <a:xfrm>
            <a:off x="1728755" y="1724210"/>
            <a:ext cx="1984767"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rPr>
              <a:t>API</a:t>
            </a:r>
            <a:r>
              <a:rPr lang="ja-JP" altLang="en-US" sz="1200" b="1" dirty="0">
                <a:latin typeface="メイリオ" panose="020B0604030504040204" pitchFamily="50" charset="-128"/>
                <a:ea typeface="メイリオ" panose="020B0604030504040204" pitchFamily="50" charset="-128"/>
              </a:rPr>
              <a:t>ツールなし</a:t>
            </a:r>
            <a:endParaRPr kumimoji="1" lang="ja-JP" altLang="en-US" sz="1200" b="1" dirty="0">
              <a:latin typeface="メイリオ" panose="020B0604030504040204" pitchFamily="50" charset="-128"/>
              <a:ea typeface="メイリオ" panose="020B0604030504040204" pitchFamily="50" charset="-128"/>
            </a:endParaRPr>
          </a:p>
        </p:txBody>
      </p:sp>
      <p:sp>
        <p:nvSpPr>
          <p:cNvPr id="17" name="正方形/長方形 16"/>
          <p:cNvSpPr/>
          <p:nvPr/>
        </p:nvSpPr>
        <p:spPr>
          <a:xfrm>
            <a:off x="1728754" y="2464827"/>
            <a:ext cx="1984767"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rPr>
              <a:t>API</a:t>
            </a:r>
            <a:r>
              <a:rPr kumimoji="1" lang="ja-JP" altLang="en-US" sz="1200" b="1" dirty="0">
                <a:latin typeface="メイリオ" panose="020B0604030504040204" pitchFamily="50" charset="-128"/>
                <a:ea typeface="メイリオ" panose="020B0604030504040204" pitchFamily="50" charset="-128"/>
              </a:rPr>
              <a:t>ツールあり</a:t>
            </a:r>
          </a:p>
        </p:txBody>
      </p:sp>
      <p:sp>
        <p:nvSpPr>
          <p:cNvPr id="18" name="正方形/長方形 17"/>
          <p:cNvSpPr/>
          <p:nvPr/>
        </p:nvSpPr>
        <p:spPr>
          <a:xfrm>
            <a:off x="3939661" y="2445682"/>
            <a:ext cx="3312125" cy="523220"/>
          </a:xfrm>
          <a:prstGeom prst="rect">
            <a:avLst/>
          </a:prstGeom>
        </p:spPr>
        <p:txBody>
          <a:bodyPr wrap="none" anchor="ctr">
            <a:spAutoFit/>
          </a:bodyPr>
          <a:lstStyle/>
          <a:p>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API</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ツール管理画面上にて</a:t>
            </a:r>
            <a:endPar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「特定期間に対する</a:t>
            </a:r>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CV</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数算出」が可能</a:t>
            </a:r>
          </a:p>
        </p:txBody>
      </p:sp>
      <p:sp>
        <p:nvSpPr>
          <p:cNvPr id="19" name="正方形/長方形 18"/>
          <p:cNvSpPr/>
          <p:nvPr/>
        </p:nvSpPr>
        <p:spPr>
          <a:xfrm>
            <a:off x="3939661" y="1705487"/>
            <a:ext cx="4273927" cy="523220"/>
          </a:xfrm>
          <a:prstGeom prst="rect">
            <a:avLst/>
          </a:prstGeom>
        </p:spPr>
        <p:txBody>
          <a:bodyPr wrap="none" anchor="ctr">
            <a:spAutoFit/>
          </a:bodyPr>
          <a:lstStyle/>
          <a:p>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CV</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タグの設定に伴い、計測自体は可能だが</a:t>
            </a:r>
            <a:endPar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CV</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数</a:t>
            </a:r>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50</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件以上での数値計測となる（管理画面上）</a:t>
            </a:r>
          </a:p>
        </p:txBody>
      </p:sp>
      <p:sp>
        <p:nvSpPr>
          <p:cNvPr id="20" name="正方形/長方形 19"/>
          <p:cNvSpPr/>
          <p:nvPr/>
        </p:nvSpPr>
        <p:spPr>
          <a:xfrm>
            <a:off x="625827" y="2120216"/>
            <a:ext cx="646331" cy="369332"/>
          </a:xfrm>
          <a:prstGeom prst="rect">
            <a:avLst/>
          </a:prstGeom>
        </p:spPr>
        <p:txBody>
          <a:bodyPr wrap="none">
            <a:spAutoFit/>
          </a:bodyPr>
          <a:lstStyle/>
          <a:p>
            <a:pPr algn="ctr"/>
            <a:r>
              <a:rPr lang="ja-JP" altLang="en-US" dirty="0">
                <a:latin typeface="メイリオ" panose="020B0604030504040204" pitchFamily="50" charset="-128"/>
                <a:ea typeface="メイリオ" panose="020B0604030504040204" pitchFamily="50" charset="-128"/>
              </a:rPr>
              <a:t>通常</a:t>
            </a:r>
          </a:p>
        </p:txBody>
      </p:sp>
      <p:sp>
        <p:nvSpPr>
          <p:cNvPr id="21" name="正方形/長方形 20"/>
          <p:cNvSpPr/>
          <p:nvPr/>
        </p:nvSpPr>
        <p:spPr>
          <a:xfrm>
            <a:off x="258794" y="3337953"/>
            <a:ext cx="9230264" cy="1053074"/>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a:p>
        </p:txBody>
      </p:sp>
      <p:sp>
        <p:nvSpPr>
          <p:cNvPr id="22" name="正方形/長方形 21"/>
          <p:cNvSpPr/>
          <p:nvPr/>
        </p:nvSpPr>
        <p:spPr>
          <a:xfrm>
            <a:off x="1728754" y="3527788"/>
            <a:ext cx="1984767" cy="70485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rPr>
              <a:t>API</a:t>
            </a:r>
            <a:r>
              <a:rPr lang="ja-JP" altLang="en-US" sz="1200" b="1" dirty="0">
                <a:latin typeface="メイリオ" panose="020B0604030504040204" pitchFamily="50" charset="-128"/>
                <a:ea typeface="メイリオ" panose="020B0604030504040204" pitchFamily="50" charset="-128"/>
              </a:rPr>
              <a:t>ツール有無</a:t>
            </a:r>
            <a:endParaRPr lang="en-US" altLang="ja-JP" sz="1200" b="1" dirty="0">
              <a:latin typeface="メイリオ" panose="020B0604030504040204" pitchFamily="50" charset="-128"/>
              <a:ea typeface="メイリオ" panose="020B0604030504040204" pitchFamily="50" charset="-128"/>
            </a:endParaRPr>
          </a:p>
          <a:p>
            <a:pPr algn="ctr"/>
            <a:r>
              <a:rPr kumimoji="1" lang="ja-JP" altLang="en-US" sz="1200" b="1" dirty="0">
                <a:latin typeface="メイリオ" panose="020B0604030504040204" pitchFamily="50" charset="-128"/>
                <a:ea typeface="メイリオ" panose="020B0604030504040204" pitchFamily="50" charset="-128"/>
              </a:rPr>
              <a:t>に関わらず</a:t>
            </a:r>
          </a:p>
        </p:txBody>
      </p:sp>
      <p:sp>
        <p:nvSpPr>
          <p:cNvPr id="23" name="正方形/長方形 22"/>
          <p:cNvSpPr/>
          <p:nvPr/>
        </p:nvSpPr>
        <p:spPr>
          <a:xfrm>
            <a:off x="3939660" y="3618602"/>
            <a:ext cx="4164923" cy="523220"/>
          </a:xfrm>
          <a:prstGeom prst="rect">
            <a:avLst/>
          </a:prstGeom>
        </p:spPr>
        <p:txBody>
          <a:bodyPr wrap="none" anchor="ctr">
            <a:spAutoFit/>
          </a:bodyPr>
          <a:lstStyle/>
          <a:p>
            <a:r>
              <a:rPr lang="ja-JP" altLang="en-US" sz="1400" dirty="0">
                <a:latin typeface="メイリオ" panose="020B0604030504040204" pitchFamily="50" charset="-128"/>
                <a:ea typeface="メイリオ" panose="020B0604030504040204" pitchFamily="50" charset="-128"/>
              </a:rPr>
              <a:t>定期投稿、シナリオ、リッチメニュー等に設定の</a:t>
            </a:r>
            <a:endParaRPr lang="en-US" altLang="ja-JP" sz="1400" dirty="0">
              <a:latin typeface="メイリオ" panose="020B0604030504040204" pitchFamily="50" charset="-128"/>
              <a:ea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rPr>
              <a:t>リンクについて、</a:t>
            </a:r>
            <a:r>
              <a:rPr lang="en-US" altLang="ja-JP" sz="1400" dirty="0">
                <a:solidFill>
                  <a:srgbClr val="FF0000"/>
                </a:solidFill>
                <a:latin typeface="メイリオ" panose="020B0604030504040204" pitchFamily="50" charset="-128"/>
                <a:ea typeface="メイリオ" panose="020B0604030504040204" pitchFamily="50" charset="-128"/>
              </a:rPr>
              <a:t>GA</a:t>
            </a:r>
            <a:r>
              <a:rPr lang="ja-JP" altLang="en-US" sz="1400" dirty="0" err="1">
                <a:solidFill>
                  <a:srgbClr val="FF0000"/>
                </a:solidFill>
                <a:latin typeface="メイリオ" panose="020B0604030504040204" pitchFamily="50" charset="-128"/>
                <a:ea typeface="メイリオ" panose="020B0604030504040204" pitchFamily="50" charset="-128"/>
              </a:rPr>
              <a:t>、</a:t>
            </a:r>
            <a:r>
              <a:rPr lang="en-US" altLang="ja-JP" sz="1400" dirty="0">
                <a:solidFill>
                  <a:srgbClr val="FF0000"/>
                </a:solidFill>
                <a:latin typeface="メイリオ" panose="020B0604030504040204" pitchFamily="50" charset="-128"/>
                <a:ea typeface="メイリオ" panose="020B0604030504040204" pitchFamily="50" charset="-128"/>
              </a:rPr>
              <a:t>MA</a:t>
            </a:r>
            <a:r>
              <a:rPr lang="ja-JP" altLang="en-US" sz="1400" dirty="0">
                <a:solidFill>
                  <a:srgbClr val="FF0000"/>
                </a:solidFill>
                <a:latin typeface="メイリオ" panose="020B0604030504040204" pitchFamily="50" charset="-128"/>
                <a:ea typeface="メイリオ" panose="020B0604030504040204" pitchFamily="50" charset="-128"/>
              </a:rPr>
              <a:t>ツールでの計測可能</a:t>
            </a:r>
            <a:r>
              <a:rPr lang="ja-JP" altLang="en-US" sz="1400" dirty="0">
                <a:latin typeface="メイリオ" panose="020B0604030504040204" pitchFamily="50" charset="-128"/>
                <a:ea typeface="メイリオ" panose="020B0604030504040204" pitchFamily="50" charset="-128"/>
              </a:rPr>
              <a:t>に</a:t>
            </a:r>
          </a:p>
        </p:txBody>
      </p:sp>
      <p:sp>
        <p:nvSpPr>
          <p:cNvPr id="24" name="正方形/長方形 23"/>
          <p:cNvSpPr/>
          <p:nvPr/>
        </p:nvSpPr>
        <p:spPr>
          <a:xfrm>
            <a:off x="571292" y="3649379"/>
            <a:ext cx="693973" cy="369332"/>
          </a:xfrm>
          <a:prstGeom prst="rect">
            <a:avLst/>
          </a:prstGeom>
        </p:spPr>
        <p:txBody>
          <a:bodyPr wrap="none">
            <a:spAutoFit/>
          </a:bodyPr>
          <a:lstStyle/>
          <a:p>
            <a:pPr algn="ctr"/>
            <a:r>
              <a:rPr lang="en-US" altLang="ja-JP" dirty="0">
                <a:latin typeface="メイリオ" panose="020B0604030504040204" pitchFamily="50" charset="-128"/>
                <a:ea typeface="メイリオ" panose="020B0604030504040204" pitchFamily="50" charset="-128"/>
              </a:rPr>
              <a:t>DYM</a:t>
            </a:r>
            <a:endParaRPr lang="ja-JP" altLang="en-US" dirty="0">
              <a:latin typeface="メイリオ" panose="020B0604030504040204" pitchFamily="50" charset="-128"/>
              <a:ea typeface="メイリオ" panose="020B0604030504040204" pitchFamily="50" charset="-128"/>
            </a:endParaRPr>
          </a:p>
        </p:txBody>
      </p:sp>
      <p:pic>
        <p:nvPicPr>
          <p:cNvPr id="27" name="図 26"/>
          <p:cNvPicPr>
            <a:picLocks noChangeAspect="1"/>
          </p:cNvPicPr>
          <p:nvPr/>
        </p:nvPicPr>
        <p:blipFill>
          <a:blip r:embed="rId4"/>
          <a:stretch>
            <a:fillRect/>
          </a:stretch>
        </p:blipFill>
        <p:spPr>
          <a:xfrm>
            <a:off x="5173537" y="4510754"/>
            <a:ext cx="4219164" cy="1912981"/>
          </a:xfrm>
          <a:prstGeom prst="rect">
            <a:avLst/>
          </a:prstGeom>
        </p:spPr>
      </p:pic>
      <p:sp>
        <p:nvSpPr>
          <p:cNvPr id="29" name="正方形/長方形 28"/>
          <p:cNvSpPr/>
          <p:nvPr/>
        </p:nvSpPr>
        <p:spPr>
          <a:xfrm>
            <a:off x="372964" y="4445247"/>
            <a:ext cx="4546440" cy="202301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正方形/長方形 29"/>
          <p:cNvSpPr/>
          <p:nvPr/>
        </p:nvSpPr>
        <p:spPr>
          <a:xfrm>
            <a:off x="5141643" y="4445246"/>
            <a:ext cx="4282952" cy="202301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正方形/長方形 30"/>
          <p:cNvSpPr/>
          <p:nvPr/>
        </p:nvSpPr>
        <p:spPr>
          <a:xfrm>
            <a:off x="788187" y="6081911"/>
            <a:ext cx="3659825" cy="322628"/>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latin typeface="メイリオ" panose="020B0604030504040204" pitchFamily="50" charset="-128"/>
                <a:ea typeface="メイリオ" panose="020B0604030504040204" pitchFamily="50" charset="-128"/>
              </a:rPr>
              <a:t>GA</a:t>
            </a:r>
            <a:r>
              <a:rPr kumimoji="1" lang="ja-JP" altLang="en-US" sz="1400" b="1" dirty="0">
                <a:latin typeface="メイリオ" panose="020B0604030504040204" pitchFamily="50" charset="-128"/>
                <a:ea typeface="メイリオ" panose="020B0604030504040204" pitchFamily="50" charset="-128"/>
              </a:rPr>
              <a:t>レポート（日次）</a:t>
            </a:r>
            <a:r>
              <a:rPr kumimoji="1" lang="ja-JP" altLang="en-US" sz="1100" b="1" dirty="0">
                <a:latin typeface="メイリオ" panose="020B0604030504040204" pitchFamily="50" charset="-128"/>
                <a:ea typeface="メイリオ" panose="020B0604030504040204" pitchFamily="50" charset="-128"/>
              </a:rPr>
              <a:t> </a:t>
            </a:r>
            <a:r>
              <a:rPr kumimoji="1" lang="en-US" altLang="ja-JP" sz="1100" b="1" dirty="0">
                <a:latin typeface="メイリオ" panose="020B0604030504040204" pitchFamily="50" charset="-128"/>
                <a:ea typeface="メイリオ" panose="020B0604030504040204" pitchFamily="50" charset="-128"/>
              </a:rPr>
              <a:t>※</a:t>
            </a:r>
            <a:r>
              <a:rPr kumimoji="1" lang="ja-JP" altLang="en-US" sz="1100" b="1" dirty="0">
                <a:latin typeface="メイリオ" panose="020B0604030504040204" pitchFamily="50" charset="-128"/>
                <a:ea typeface="メイリオ" panose="020B0604030504040204" pitchFamily="50" charset="-128"/>
              </a:rPr>
              <a:t>サンプル</a:t>
            </a:r>
            <a:endParaRPr kumimoji="1" lang="ja-JP" altLang="en-US" sz="1400" b="1" dirty="0">
              <a:latin typeface="メイリオ" panose="020B0604030504040204" pitchFamily="50" charset="-128"/>
              <a:ea typeface="メイリオ" panose="020B0604030504040204" pitchFamily="50" charset="-128"/>
            </a:endParaRPr>
          </a:p>
        </p:txBody>
      </p:sp>
      <p:sp>
        <p:nvSpPr>
          <p:cNvPr id="32" name="正方形/長方形 31"/>
          <p:cNvSpPr/>
          <p:nvPr/>
        </p:nvSpPr>
        <p:spPr>
          <a:xfrm>
            <a:off x="5453208" y="6081911"/>
            <a:ext cx="3659825" cy="322628"/>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latin typeface="メイリオ" panose="020B0604030504040204" pitchFamily="50" charset="-128"/>
                <a:ea typeface="メイリオ" panose="020B0604030504040204" pitchFamily="50" charset="-128"/>
              </a:rPr>
              <a:t>GA</a:t>
            </a:r>
            <a:r>
              <a:rPr kumimoji="1" lang="ja-JP" altLang="en-US" sz="1400" b="1" dirty="0">
                <a:latin typeface="メイリオ" panose="020B0604030504040204" pitchFamily="50" charset="-128"/>
                <a:ea typeface="メイリオ" panose="020B0604030504040204" pitchFamily="50" charset="-128"/>
              </a:rPr>
              <a:t>レポート（月次）</a:t>
            </a:r>
            <a:r>
              <a:rPr kumimoji="1" lang="ja-JP" altLang="en-US" sz="1100" b="1" dirty="0">
                <a:latin typeface="メイリオ" panose="020B0604030504040204" pitchFamily="50" charset="-128"/>
                <a:ea typeface="メイリオ" panose="020B0604030504040204" pitchFamily="50" charset="-128"/>
              </a:rPr>
              <a:t> </a:t>
            </a:r>
            <a:r>
              <a:rPr kumimoji="1" lang="en-US" altLang="ja-JP" sz="1100" b="1" dirty="0">
                <a:latin typeface="メイリオ" panose="020B0604030504040204" pitchFamily="50" charset="-128"/>
                <a:ea typeface="メイリオ" panose="020B0604030504040204" pitchFamily="50" charset="-128"/>
              </a:rPr>
              <a:t>※</a:t>
            </a:r>
            <a:r>
              <a:rPr lang="ja-JP" altLang="en-US" sz="1100" b="1" dirty="0">
                <a:latin typeface="メイリオ" panose="020B0604030504040204" pitchFamily="50" charset="-128"/>
                <a:ea typeface="メイリオ" panose="020B0604030504040204" pitchFamily="50" charset="-128"/>
              </a:rPr>
              <a:t>サンプル</a:t>
            </a:r>
            <a:endParaRPr kumimoji="1" lang="ja-JP" altLang="en-US" sz="1400" b="1" dirty="0">
              <a:latin typeface="メイリオ" panose="020B0604030504040204" pitchFamily="50" charset="-128"/>
              <a:ea typeface="メイリオ" panose="020B0604030504040204" pitchFamily="50" charset="-128"/>
            </a:endParaRPr>
          </a:p>
        </p:txBody>
      </p:sp>
      <p:sp>
        <p:nvSpPr>
          <p:cNvPr id="33" name="正方形/長方形 32"/>
          <p:cNvSpPr/>
          <p:nvPr/>
        </p:nvSpPr>
        <p:spPr>
          <a:xfrm>
            <a:off x="258794" y="776172"/>
            <a:ext cx="9230264" cy="523220"/>
          </a:xfrm>
          <a:prstGeom prst="rect">
            <a:avLst/>
          </a:prstGeom>
        </p:spPr>
        <p:txBody>
          <a:bodyPr wrap="square" anchor="ctr">
            <a:spAutoFit/>
          </a:bodyPr>
          <a:lstStyle/>
          <a:p>
            <a:pPr algn="ctr"/>
            <a:r>
              <a:rPr lang="ja-JP" altLang="en-US" sz="1400" dirty="0">
                <a:latin typeface="メイリオ" panose="020B0604030504040204" pitchFamily="50" charset="-128"/>
                <a:ea typeface="メイリオ" panose="020B0604030504040204" pitchFamily="50" charset="-128"/>
              </a:rPr>
              <a:t>コンサル費用＋アカウント費用に対する効果を可視化し、課題点を都度確認できる体制に。</a:t>
            </a:r>
            <a:endParaRPr lang="en-US" altLang="ja-JP" sz="1400" dirty="0">
              <a:latin typeface="メイリオ" panose="020B0604030504040204" pitchFamily="50" charset="-128"/>
              <a:ea typeface="メイリオ" panose="020B0604030504040204" pitchFamily="50" charset="-128"/>
            </a:endParaRPr>
          </a:p>
          <a:p>
            <a:pPr algn="ctr"/>
            <a:r>
              <a:rPr lang="ja-JP" altLang="en-US" sz="1400" dirty="0">
                <a:latin typeface="メイリオ" panose="020B0604030504040204" pitchFamily="50" charset="-128"/>
                <a:ea typeface="メイリオ" panose="020B0604030504040204" pitchFamily="50" charset="-128"/>
              </a:rPr>
              <a:t>投稿別</a:t>
            </a:r>
            <a:r>
              <a:rPr lang="en-US" altLang="ja-JP" sz="1400" dirty="0">
                <a:latin typeface="メイリオ" panose="020B0604030504040204" pitchFamily="50" charset="-128"/>
                <a:ea typeface="メイリオ" panose="020B0604030504040204" pitchFamily="50" charset="-128"/>
              </a:rPr>
              <a:t>×</a:t>
            </a:r>
            <a:r>
              <a:rPr lang="ja-JP" altLang="en-US" sz="1400" dirty="0">
                <a:latin typeface="メイリオ" panose="020B0604030504040204" pitchFamily="50" charset="-128"/>
                <a:ea typeface="メイリオ" panose="020B0604030504040204" pitchFamily="50" charset="-128"/>
              </a:rPr>
              <a:t>セグメント別でデータ化でき、</a:t>
            </a:r>
            <a:r>
              <a:rPr lang="en-US" altLang="ja-JP" sz="1400" dirty="0">
                <a:latin typeface="メイリオ" panose="020B0604030504040204" pitchFamily="50" charset="-128"/>
                <a:ea typeface="メイリオ" panose="020B0604030504040204" pitchFamily="50" charset="-128"/>
              </a:rPr>
              <a:t>AB</a:t>
            </a:r>
            <a:r>
              <a:rPr lang="ja-JP" altLang="en-US" sz="1400" dirty="0">
                <a:latin typeface="メイリオ" panose="020B0604030504040204" pitchFamily="50" charset="-128"/>
                <a:ea typeface="メイリオ" panose="020B0604030504040204" pitchFamily="50" charset="-128"/>
              </a:rPr>
              <a:t>テストとクリエイティブ検証を細かく実施。</a:t>
            </a:r>
          </a:p>
        </p:txBody>
      </p:sp>
      <p:sp>
        <p:nvSpPr>
          <p:cNvPr id="4" name="Google Shape;156;p7">
            <a:extLst>
              <a:ext uri="{FF2B5EF4-FFF2-40B4-BE49-F238E27FC236}">
                <a16:creationId xmlns:a16="http://schemas.microsoft.com/office/drawing/2014/main" id="{260430EB-E69F-64B3-39EC-6A753FA8A5B0}"/>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サポート体制（報告</a:t>
            </a:r>
            <a:r>
              <a:rPr lang="en-US" altLang="ja-JP" sz="1600" b="1" dirty="0">
                <a:solidFill>
                  <a:srgbClr val="002060"/>
                </a:solidFill>
                <a:latin typeface="Meiryo"/>
                <a:ea typeface="Meiryo"/>
                <a:cs typeface="Meiryo"/>
                <a:sym typeface="Meiryo"/>
              </a:rPr>
              <a:t>FMT</a:t>
            </a:r>
            <a:r>
              <a:rPr lang="ja-JP" altLang="en-US" sz="1600" b="1" dirty="0">
                <a:solidFill>
                  <a:srgbClr val="002060"/>
                </a:solidFill>
                <a:latin typeface="Meiryo"/>
                <a:ea typeface="Meiryo"/>
                <a:cs typeface="Meiryo"/>
                <a:sym typeface="Meiryo"/>
              </a:rPr>
              <a:t>）</a:t>
            </a:r>
            <a:endParaRPr sz="1600" b="1" dirty="0">
              <a:solidFill>
                <a:srgbClr val="002060"/>
              </a:solidFill>
              <a:latin typeface="Meiryo"/>
              <a:ea typeface="Meiryo"/>
              <a:cs typeface="Meiryo"/>
              <a:sym typeface="Meiryo"/>
            </a:endParaRPr>
          </a:p>
        </p:txBody>
      </p:sp>
    </p:spTree>
    <p:extLst>
      <p:ext uri="{BB962C8B-B14F-4D97-AF65-F5344CB8AC3E}">
        <p14:creationId xmlns:p14="http://schemas.microsoft.com/office/powerpoint/2010/main" val="378692469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72F862-6825-0A25-E527-0C644CE20321}"/>
            </a:ext>
          </a:extLst>
        </p:cNvPr>
        <p:cNvGrpSpPr/>
        <p:nvPr/>
      </p:nvGrpSpPr>
      <p:grpSpPr>
        <a:xfrm>
          <a:off x="0" y="0"/>
          <a:ext cx="0" cy="0"/>
          <a:chOff x="0" y="0"/>
          <a:chExt cx="0" cy="0"/>
        </a:xfrm>
      </p:grpSpPr>
      <p:sp>
        <p:nvSpPr>
          <p:cNvPr id="4" name="正方形/長方形 3">
            <a:extLst>
              <a:ext uri="{FF2B5EF4-FFF2-40B4-BE49-F238E27FC236}">
                <a16:creationId xmlns:a16="http://schemas.microsoft.com/office/drawing/2014/main" id="{1B95EDD6-658F-4CEF-BC87-63AE1294A97D}"/>
              </a:ext>
            </a:extLst>
          </p:cNvPr>
          <p:cNvSpPr/>
          <p:nvPr/>
        </p:nvSpPr>
        <p:spPr>
          <a:xfrm>
            <a:off x="253638" y="835690"/>
            <a:ext cx="2541320"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600" b="1" dirty="0">
                <a:latin typeface="メイリオ" panose="020B0604030504040204" pitchFamily="50" charset="-128"/>
                <a:ea typeface="メイリオ" panose="020B0604030504040204" pitchFamily="50" charset="-128"/>
              </a:rPr>
              <a:t>弊社体制図</a:t>
            </a:r>
            <a:endParaRPr kumimoji="1" lang="ja-JP" altLang="en-US" sz="1600" b="1" dirty="0">
              <a:latin typeface="メイリオ" panose="020B0604030504040204" pitchFamily="50" charset="-128"/>
              <a:ea typeface="メイリオ" panose="020B0604030504040204" pitchFamily="50" charset="-128"/>
            </a:endParaRPr>
          </a:p>
        </p:txBody>
      </p:sp>
      <p:sp>
        <p:nvSpPr>
          <p:cNvPr id="6" name="Google Shape;156;p7">
            <a:extLst>
              <a:ext uri="{FF2B5EF4-FFF2-40B4-BE49-F238E27FC236}">
                <a16:creationId xmlns:a16="http://schemas.microsoft.com/office/drawing/2014/main" id="{3BA0E9AE-61D3-01E9-521B-2E5746D00D89}"/>
              </a:ext>
            </a:extLst>
          </p:cNvPr>
          <p:cNvSpPr txBox="1"/>
          <p:nvPr/>
        </p:nvSpPr>
        <p:spPr>
          <a:xfrm>
            <a:off x="2857804" y="786210"/>
            <a:ext cx="7217767" cy="584735"/>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chemeClr val="tx1">
                    <a:lumMod val="65000"/>
                    <a:lumOff val="35000"/>
                  </a:schemeClr>
                </a:solidFill>
                <a:latin typeface="Meiryo"/>
                <a:ea typeface="Meiryo"/>
                <a:cs typeface="Meiryo"/>
                <a:sym typeface="Meiryo"/>
              </a:rPr>
              <a:t>GA</a:t>
            </a:r>
            <a:r>
              <a:rPr lang="ja-JP" altLang="en-US" sz="1600" b="1" dirty="0">
                <a:solidFill>
                  <a:schemeClr val="tx1">
                    <a:lumMod val="65000"/>
                    <a:lumOff val="35000"/>
                  </a:schemeClr>
                </a:solidFill>
                <a:latin typeface="Meiryo"/>
                <a:ea typeface="Meiryo"/>
                <a:cs typeface="Meiryo"/>
                <a:sym typeface="Meiryo"/>
              </a:rPr>
              <a:t>及び</a:t>
            </a:r>
            <a:r>
              <a:rPr lang="en-US" altLang="ja-JP" sz="1600" b="1" dirty="0">
                <a:solidFill>
                  <a:schemeClr val="tx1">
                    <a:lumMod val="65000"/>
                    <a:lumOff val="35000"/>
                  </a:schemeClr>
                </a:solidFill>
                <a:latin typeface="Meiryo"/>
                <a:ea typeface="Meiryo"/>
                <a:cs typeface="Meiryo"/>
                <a:sym typeface="Meiryo"/>
              </a:rPr>
              <a:t>MA</a:t>
            </a:r>
            <a:r>
              <a:rPr lang="ja-JP" altLang="en-US" sz="1600" b="1" dirty="0">
                <a:solidFill>
                  <a:schemeClr val="tx1">
                    <a:lumMod val="65000"/>
                    <a:lumOff val="35000"/>
                  </a:schemeClr>
                </a:solidFill>
                <a:latin typeface="Meiryo"/>
                <a:ea typeface="Meiryo"/>
                <a:cs typeface="Meiryo"/>
                <a:sym typeface="Meiryo"/>
              </a:rPr>
              <a:t>ツール両面での計測ができるようパラメータ管理。</a:t>
            </a:r>
            <a:endParaRPr lang="en-US" altLang="ja-JP" sz="1600" b="1" dirty="0">
              <a:solidFill>
                <a:schemeClr val="tx1">
                  <a:lumMod val="65000"/>
                  <a:lumOff val="35000"/>
                </a:schemeClr>
              </a:solidFill>
              <a:latin typeface="Meiryo"/>
              <a:ea typeface="Meiryo"/>
              <a:cs typeface="Meiryo"/>
              <a:sym typeface="Meiryo"/>
            </a:endParaRPr>
          </a:p>
          <a:p>
            <a:pPr lvl="0">
              <a:buClr>
                <a:srgbClr val="002060"/>
              </a:buClr>
              <a:buSzPts val="1600"/>
            </a:pP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公式アカウントの管理画面には出ない、サイト上の結果を紐づけ。</a:t>
            </a:r>
            <a:endParaRPr sz="1600" b="1" dirty="0">
              <a:solidFill>
                <a:schemeClr val="tx1">
                  <a:lumMod val="65000"/>
                  <a:lumOff val="35000"/>
                </a:schemeClr>
              </a:solidFill>
              <a:latin typeface="Meiryo"/>
              <a:ea typeface="Meiryo"/>
              <a:cs typeface="Meiryo"/>
              <a:sym typeface="Meiryo"/>
            </a:endParaRPr>
          </a:p>
        </p:txBody>
      </p:sp>
      <p:sp>
        <p:nvSpPr>
          <p:cNvPr id="12" name="Google Shape;156;p7">
            <a:extLst>
              <a:ext uri="{FF2B5EF4-FFF2-40B4-BE49-F238E27FC236}">
                <a16:creationId xmlns:a16="http://schemas.microsoft.com/office/drawing/2014/main" id="{C5C4EFC6-EAB9-6A05-AE92-8FF390EDDDE3}"/>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体制図（イメージ）</a:t>
            </a:r>
            <a:endParaRPr sz="1600" b="1" dirty="0">
              <a:solidFill>
                <a:srgbClr val="002060"/>
              </a:solidFill>
              <a:latin typeface="Meiryo"/>
              <a:ea typeface="Meiryo"/>
              <a:cs typeface="Meiryo"/>
              <a:sym typeface="Meiryo"/>
            </a:endParaRPr>
          </a:p>
        </p:txBody>
      </p:sp>
      <p:sp>
        <p:nvSpPr>
          <p:cNvPr id="8" name="Shape 6"/>
          <p:cNvSpPr/>
          <p:nvPr/>
        </p:nvSpPr>
        <p:spPr>
          <a:xfrm>
            <a:off x="621091" y="3084378"/>
            <a:ext cx="4674326" cy="738321"/>
          </a:xfrm>
          <a:prstGeom prst="rect">
            <a:avLst/>
          </a:prstGeom>
          <a:solidFill>
            <a:srgbClr val="FFFFFF"/>
          </a:solidFill>
          <a:ln w="12700">
            <a:solidFill>
              <a:srgbClr val="C0CEDE"/>
            </a:solidFill>
            <a:prstDash val="solid"/>
          </a:ln>
        </p:spPr>
        <p:txBody>
          <a:bodyPr anchor="ctr"/>
          <a:lstStyle/>
          <a:p>
            <a:r>
              <a:rPr lang="ja-JP" altLang="en-US" sz="1200" dirty="0">
                <a:solidFill>
                  <a:srgbClr val="1A1A1A"/>
                </a:solidFill>
                <a:latin typeface="メイリオ" panose="020B0604030504040204" pitchFamily="50" charset="-128"/>
                <a:ea typeface="メイリオ" panose="020B0604030504040204" pitchFamily="50" charset="-128"/>
                <a:cs typeface="MS Gothic" pitchFamily="34" charset="-120"/>
              </a:rPr>
              <a:t>　</a:t>
            </a:r>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本プロモーションの戦略立案</a:t>
            </a:r>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 / </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方針決定</a:t>
            </a:r>
            <a:endParaRPr lang="en-US" altLang="ja-JP" sz="1200" dirty="0">
              <a:latin typeface="メイリオ" panose="020B0604030504040204" pitchFamily="50" charset="-128"/>
              <a:ea typeface="メイリオ" panose="020B0604030504040204" pitchFamily="50" charset="-128"/>
            </a:endParaRPr>
          </a:p>
        </p:txBody>
      </p:sp>
      <p:sp>
        <p:nvSpPr>
          <p:cNvPr id="3" name="Shape 15"/>
          <p:cNvSpPr/>
          <p:nvPr/>
        </p:nvSpPr>
        <p:spPr>
          <a:xfrm>
            <a:off x="660472" y="4383083"/>
            <a:ext cx="2148840" cy="578878"/>
          </a:xfrm>
          <a:prstGeom prst="rect">
            <a:avLst/>
          </a:prstGeom>
          <a:solidFill>
            <a:srgbClr val="FFFFFF"/>
          </a:solidFill>
          <a:ln w="12700">
            <a:solidFill>
              <a:srgbClr val="C0CEDE"/>
            </a:solidFill>
            <a:prstDash val="solid"/>
          </a:ln>
        </p:spPr>
        <p:txBody>
          <a:bodyPr anchor="ctr"/>
          <a:lstStyle/>
          <a:p>
            <a:endParaRPr lang="en-US" altLang="ja-JP" sz="3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MS Gothic" pitchFamily="34" charset="-120"/>
              </a:rPr>
              <a:t>アカウント設計</a:t>
            </a:r>
            <a:endPar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MS Gothic" pitchFamily="34" charset="-120"/>
              </a:rPr>
              <a:t>運用調整</a:t>
            </a:r>
            <a:endParaRPr lang="en-US" altLang="ja-JP" sz="1100" dirty="0">
              <a:latin typeface="メイリオ" panose="020B0604030504040204" pitchFamily="50" charset="-128"/>
              <a:ea typeface="メイリオ" panose="020B0604030504040204" pitchFamily="50" charset="-128"/>
            </a:endParaRPr>
          </a:p>
        </p:txBody>
      </p:sp>
      <p:sp>
        <p:nvSpPr>
          <p:cNvPr id="18" name="Shape 16"/>
          <p:cNvSpPr/>
          <p:nvPr/>
        </p:nvSpPr>
        <p:spPr>
          <a:xfrm>
            <a:off x="645163" y="4065900"/>
            <a:ext cx="2148840" cy="347472"/>
          </a:xfrm>
          <a:prstGeom prst="rect">
            <a:avLst/>
          </a:prstGeom>
          <a:solidFill>
            <a:srgbClr val="1F3864"/>
          </a:solidFill>
          <a:ln w="12700">
            <a:solidFill>
              <a:srgbClr val="1F3864"/>
            </a:solidFill>
            <a:prstDash val="solid"/>
          </a:ln>
        </p:spPr>
        <p:txBody>
          <a:bodyPr anchor="ctr"/>
          <a:lstStyle/>
          <a:p>
            <a:pPr algn="ctr"/>
            <a:r>
              <a:rPr lang="ja-JP" altLang="en-US" sz="1350" b="1" dirty="0">
                <a:solidFill>
                  <a:srgbClr val="FFFFFF"/>
                </a:solidFill>
                <a:latin typeface="メイリオ" panose="020B0604030504040204" pitchFamily="50" charset="-128"/>
                <a:ea typeface="メイリオ" panose="020B0604030504040204" pitchFamily="50" charset="-128"/>
                <a:cs typeface="MS Gothic" pitchFamily="34" charset="-120"/>
              </a:rPr>
              <a:t>リス・</a:t>
            </a:r>
            <a:r>
              <a:rPr lang="en-US" altLang="ja-JP" sz="1350" b="1" dirty="0" err="1">
                <a:solidFill>
                  <a:srgbClr val="FFFFFF"/>
                </a:solidFill>
                <a:latin typeface="メイリオ" panose="020B0604030504040204" pitchFamily="50" charset="-128"/>
                <a:ea typeface="メイリオ" panose="020B0604030504040204" pitchFamily="50" charset="-128"/>
                <a:cs typeface="MS Gothic" pitchFamily="34" charset="-120"/>
              </a:rPr>
              <a:t>SNS運用</a:t>
            </a:r>
            <a:endParaRPr lang="en-US" altLang="ja-JP" sz="1350" dirty="0">
              <a:latin typeface="メイリオ" panose="020B0604030504040204" pitchFamily="50" charset="-128"/>
              <a:ea typeface="メイリオ" panose="020B0604030504040204" pitchFamily="50" charset="-128"/>
            </a:endParaRPr>
          </a:p>
        </p:txBody>
      </p:sp>
      <p:sp>
        <p:nvSpPr>
          <p:cNvPr id="28" name="Shape 26"/>
          <p:cNvSpPr/>
          <p:nvPr/>
        </p:nvSpPr>
        <p:spPr>
          <a:xfrm>
            <a:off x="633127" y="5566878"/>
            <a:ext cx="2140131" cy="626818"/>
          </a:xfrm>
          <a:prstGeom prst="rect">
            <a:avLst/>
          </a:prstGeom>
          <a:solidFill>
            <a:srgbClr val="FFFFFF"/>
          </a:solidFill>
          <a:ln w="12700">
            <a:solidFill>
              <a:srgbClr val="C0CEDE"/>
            </a:solidFill>
            <a:prstDash val="solid"/>
          </a:ln>
        </p:spPr>
        <p:txBody>
          <a:bodyPr anchor="ctr"/>
          <a:lstStyle/>
          <a:p>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  ・</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運用調整</a:t>
            </a:r>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 ・</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入稿作業</a:t>
            </a:r>
            <a:endParaRPr lang="en-US" altLang="ja-JP" sz="1200" dirty="0">
              <a:latin typeface="メイリオ" panose="020B0604030504040204" pitchFamily="50" charset="-128"/>
              <a:ea typeface="メイリオ" panose="020B0604030504040204" pitchFamily="50" charset="-128"/>
            </a:endParaRPr>
          </a:p>
        </p:txBody>
      </p:sp>
      <p:sp>
        <p:nvSpPr>
          <p:cNvPr id="29" name="Shape 27"/>
          <p:cNvSpPr/>
          <p:nvPr/>
        </p:nvSpPr>
        <p:spPr>
          <a:xfrm>
            <a:off x="633127" y="5231331"/>
            <a:ext cx="2140131" cy="347472"/>
          </a:xfrm>
          <a:prstGeom prst="rect">
            <a:avLst/>
          </a:prstGeom>
          <a:solidFill>
            <a:srgbClr val="1F3864"/>
          </a:solidFill>
          <a:ln w="12700">
            <a:solidFill>
              <a:srgbClr val="1F3864"/>
            </a:solidFill>
            <a:prstDash val="solid"/>
          </a:ln>
        </p:spPr>
        <p:txBody>
          <a:bodyPr anchor="ctr"/>
          <a:lstStyle/>
          <a:p>
            <a:pPr algn="ctr"/>
            <a:r>
              <a:rPr lang="en-US" altLang="ja-JP" sz="1200" b="1">
                <a:solidFill>
                  <a:srgbClr val="FFFFFF"/>
                </a:solidFill>
                <a:latin typeface="メイリオ" panose="020B0604030504040204" pitchFamily="50" charset="-128"/>
                <a:ea typeface="メイリオ" panose="020B0604030504040204" pitchFamily="50" charset="-128"/>
                <a:cs typeface="MS Gothic" pitchFamily="34" charset="-120"/>
              </a:rPr>
              <a:t>運用サポート</a:t>
            </a:r>
            <a:endParaRPr lang="en-US" altLang="ja-JP" sz="1200" dirty="0">
              <a:latin typeface="メイリオ" panose="020B0604030504040204" pitchFamily="50" charset="-128"/>
              <a:ea typeface="メイリオ" panose="020B0604030504040204" pitchFamily="50" charset="-128"/>
            </a:endParaRPr>
          </a:p>
        </p:txBody>
      </p:sp>
      <p:sp>
        <p:nvSpPr>
          <p:cNvPr id="30" name="Text 28"/>
          <p:cNvSpPr/>
          <p:nvPr/>
        </p:nvSpPr>
        <p:spPr>
          <a:xfrm>
            <a:off x="633128" y="5231331"/>
            <a:ext cx="2140131" cy="347472"/>
          </a:xfrm>
          <a:prstGeom prst="rect">
            <a:avLst/>
          </a:prstGeom>
          <a:noFill/>
          <a:ln/>
        </p:spPr>
        <p:txBody>
          <a:bodyPr wrap="square" lIns="0" tIns="0" rIns="0" bIns="0" rtlCol="0" anchor="ctr"/>
          <a:lstStyle/>
          <a:p>
            <a:pPr marL="0" indent="0" algn="ctr">
              <a:buNone/>
            </a:pPr>
            <a:endParaRPr lang="en-US" sz="1050" dirty="0">
              <a:latin typeface="メイリオ" panose="020B0604030504040204" pitchFamily="50" charset="-128"/>
              <a:ea typeface="メイリオ" panose="020B0604030504040204" pitchFamily="50" charset="-128"/>
            </a:endParaRPr>
          </a:p>
        </p:txBody>
      </p:sp>
      <p:sp>
        <p:nvSpPr>
          <p:cNvPr id="33" name="Shape 31"/>
          <p:cNvSpPr/>
          <p:nvPr/>
        </p:nvSpPr>
        <p:spPr>
          <a:xfrm>
            <a:off x="2921304" y="5532054"/>
            <a:ext cx="2386149" cy="641636"/>
          </a:xfrm>
          <a:prstGeom prst="rect">
            <a:avLst/>
          </a:prstGeom>
          <a:solidFill>
            <a:srgbClr val="FFFFFF"/>
          </a:solidFill>
          <a:ln w="12700">
            <a:solidFill>
              <a:srgbClr val="C0CEDE"/>
            </a:solidFill>
            <a:prstDash val="solid"/>
          </a:ln>
        </p:spPr>
        <p:txBody>
          <a:bodyPr anchor="ctr"/>
          <a:lstStyle/>
          <a:p>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バナー制作</a:t>
            </a:r>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LP制作</a:t>
            </a:r>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動画制作</a:t>
            </a:r>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p:txBody>
      </p:sp>
      <p:sp>
        <p:nvSpPr>
          <p:cNvPr id="34" name="Shape 32"/>
          <p:cNvSpPr/>
          <p:nvPr/>
        </p:nvSpPr>
        <p:spPr>
          <a:xfrm>
            <a:off x="2921304" y="5221392"/>
            <a:ext cx="2386149" cy="347472"/>
          </a:xfrm>
          <a:prstGeom prst="rect">
            <a:avLst/>
          </a:prstGeom>
          <a:solidFill>
            <a:schemeClr val="bg1">
              <a:lumMod val="65000"/>
            </a:schemeClr>
          </a:solidFill>
          <a:ln w="12700">
            <a:solidFill>
              <a:srgbClr val="1F3864"/>
            </a:solidFill>
            <a:prstDash val="solid"/>
          </a:ln>
        </p:spPr>
        <p:txBody>
          <a:bodyPr anchor="ctr"/>
          <a:lstStyle/>
          <a:p>
            <a:pPr algn="ctr"/>
            <a:r>
              <a:rPr lang="en-US" altLang="ja-JP" sz="1200" b="1">
                <a:solidFill>
                  <a:srgbClr val="FFFFFF"/>
                </a:solidFill>
                <a:latin typeface="メイリオ" panose="020B0604030504040204" pitchFamily="50" charset="-128"/>
                <a:ea typeface="メイリオ" panose="020B0604030504040204" pitchFamily="50" charset="-128"/>
                <a:cs typeface="MS Gothic" pitchFamily="34" charset="-120"/>
              </a:rPr>
              <a:t>制作</a:t>
            </a:r>
            <a:endParaRPr lang="en-US" altLang="ja-JP" sz="1200" dirty="0">
              <a:latin typeface="メイリオ" panose="020B0604030504040204" pitchFamily="50" charset="-128"/>
              <a:ea typeface="メイリオ" panose="020B0604030504040204" pitchFamily="50" charset="-128"/>
            </a:endParaRPr>
          </a:p>
        </p:txBody>
      </p:sp>
      <p:sp>
        <p:nvSpPr>
          <p:cNvPr id="40" name="Shape 38"/>
          <p:cNvSpPr/>
          <p:nvPr/>
        </p:nvSpPr>
        <p:spPr>
          <a:xfrm>
            <a:off x="5740699" y="4097070"/>
            <a:ext cx="3293358" cy="347472"/>
          </a:xfrm>
          <a:prstGeom prst="rect">
            <a:avLst/>
          </a:prstGeom>
          <a:solidFill>
            <a:srgbClr val="8496B8"/>
          </a:solidFill>
          <a:ln w="12700">
            <a:solidFill>
              <a:srgbClr val="8496B8"/>
            </a:solidFill>
            <a:prstDash val="solid"/>
          </a:ln>
        </p:spPr>
        <p:txBody>
          <a:bodyPr anchor="ctr"/>
          <a:lstStyle/>
          <a:p>
            <a:pPr algn="ctr"/>
            <a:r>
              <a:rPr lang="ja-JP" altLang="en-US" sz="1200" dirty="0">
                <a:solidFill>
                  <a:schemeClr val="bg1"/>
                </a:solidFill>
                <a:latin typeface="メイリオ" panose="020B0604030504040204" pitchFamily="50" charset="-128"/>
                <a:ea typeface="メイリオ" panose="020B0604030504040204" pitchFamily="50" charset="-128"/>
              </a:rPr>
              <a:t>媒体担当</a:t>
            </a:r>
          </a:p>
        </p:txBody>
      </p:sp>
      <p:sp>
        <p:nvSpPr>
          <p:cNvPr id="75" name="Shape 20">
            <a:extLst>
              <a:ext uri="{FF2B5EF4-FFF2-40B4-BE49-F238E27FC236}">
                <a16:creationId xmlns:a16="http://schemas.microsoft.com/office/drawing/2014/main" id="{9B35F62E-D565-EC7D-5BED-9E3AD8414C54}"/>
              </a:ext>
            </a:extLst>
          </p:cNvPr>
          <p:cNvSpPr/>
          <p:nvPr/>
        </p:nvSpPr>
        <p:spPr>
          <a:xfrm>
            <a:off x="2930013" y="4391542"/>
            <a:ext cx="2377440" cy="578878"/>
          </a:xfrm>
          <a:prstGeom prst="rect">
            <a:avLst/>
          </a:prstGeom>
          <a:solidFill>
            <a:srgbClr val="FFFFFF"/>
          </a:solidFill>
          <a:ln w="12700">
            <a:solidFill>
              <a:srgbClr val="C0CEDE"/>
            </a:solidFill>
            <a:prstDash val="solid"/>
          </a:ln>
        </p:spPr>
        <p:txBody>
          <a:bodyPr anchor="ctr"/>
          <a:lstStyle/>
          <a:p>
            <a:endPar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endParaRPr>
          </a:p>
          <a:p>
            <a:endPar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MS Gothic" pitchFamily="34" charset="-120"/>
              </a:rPr>
              <a:t>アカウント設計</a:t>
            </a:r>
            <a:r>
              <a:rPr lang="ja-JP" altLang="en-US" sz="11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MS Gothic" pitchFamily="34" charset="-120"/>
              </a:rPr>
              <a:t>運用調整</a:t>
            </a:r>
            <a:endPar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MS Gothic" pitchFamily="34" charset="-120"/>
              </a:rPr>
              <a:t>クリエイティブディレクション</a:t>
            </a:r>
            <a:endParaRPr lang="en-US" altLang="ja-JP" sz="1100" dirty="0">
              <a:latin typeface="メイリオ" panose="020B0604030504040204" pitchFamily="50" charset="-128"/>
              <a:ea typeface="メイリオ" panose="020B0604030504040204" pitchFamily="50" charset="-128"/>
            </a:endParaRPr>
          </a:p>
          <a:p>
            <a:endParaRPr lang="en-US" altLang="ja-JP" sz="1100" dirty="0">
              <a:latin typeface="メイリオ" panose="020B0604030504040204" pitchFamily="50" charset="-128"/>
              <a:ea typeface="メイリオ" panose="020B0604030504040204" pitchFamily="50" charset="-128"/>
            </a:endParaRPr>
          </a:p>
          <a:p>
            <a:endParaRPr lang="en-US" altLang="ja-JP" sz="1100" dirty="0">
              <a:latin typeface="メイリオ" panose="020B0604030504040204" pitchFamily="50" charset="-128"/>
              <a:ea typeface="メイリオ" panose="020B0604030504040204" pitchFamily="50" charset="-128"/>
            </a:endParaRPr>
          </a:p>
        </p:txBody>
      </p:sp>
      <p:sp>
        <p:nvSpPr>
          <p:cNvPr id="76" name="Shape 21">
            <a:extLst>
              <a:ext uri="{FF2B5EF4-FFF2-40B4-BE49-F238E27FC236}">
                <a16:creationId xmlns:a16="http://schemas.microsoft.com/office/drawing/2014/main" id="{0A9AF3DD-64DC-1BF0-8119-2924ECA0B69F}"/>
              </a:ext>
            </a:extLst>
          </p:cNvPr>
          <p:cNvSpPr/>
          <p:nvPr/>
        </p:nvSpPr>
        <p:spPr>
          <a:xfrm>
            <a:off x="2930013" y="4059656"/>
            <a:ext cx="2377440" cy="347472"/>
          </a:xfrm>
          <a:prstGeom prst="rect">
            <a:avLst/>
          </a:prstGeom>
          <a:solidFill>
            <a:srgbClr val="FFC000"/>
          </a:solidFill>
          <a:ln w="12700">
            <a:solidFill>
              <a:srgbClr val="1F3864"/>
            </a:solidFill>
            <a:prstDash val="solid"/>
          </a:ln>
        </p:spPr>
        <p:txBody>
          <a:bodyPr anchor="ctr"/>
          <a:lstStyle/>
          <a:p>
            <a:pPr algn="ctr"/>
            <a:r>
              <a:rPr lang="en-US" altLang="ja-JP" sz="1350" b="1" dirty="0" err="1">
                <a:solidFill>
                  <a:srgbClr val="FFFFFF"/>
                </a:solidFill>
                <a:latin typeface="メイリオ" panose="020B0604030504040204" pitchFamily="50" charset="-128"/>
                <a:ea typeface="メイリオ" panose="020B0604030504040204" pitchFamily="50" charset="-128"/>
                <a:cs typeface="MS Gothic" pitchFamily="34" charset="-120"/>
              </a:rPr>
              <a:t>LINEOA運用</a:t>
            </a:r>
            <a:endParaRPr lang="en-US" altLang="ja-JP" sz="1350" dirty="0">
              <a:latin typeface="メイリオ" panose="020B0604030504040204" pitchFamily="50" charset="-128"/>
              <a:ea typeface="メイリオ" panose="020B0604030504040204" pitchFamily="50" charset="-128"/>
            </a:endParaRPr>
          </a:p>
        </p:txBody>
      </p:sp>
      <p:sp>
        <p:nvSpPr>
          <p:cNvPr id="5" name="Shape 6">
            <a:extLst>
              <a:ext uri="{FF2B5EF4-FFF2-40B4-BE49-F238E27FC236}">
                <a16:creationId xmlns:a16="http://schemas.microsoft.com/office/drawing/2014/main" id="{85CDFD14-B545-2394-79CD-B4BB79EC6A1B}"/>
              </a:ext>
            </a:extLst>
          </p:cNvPr>
          <p:cNvSpPr/>
          <p:nvPr/>
        </p:nvSpPr>
        <p:spPr>
          <a:xfrm>
            <a:off x="5425961" y="3084378"/>
            <a:ext cx="3557928" cy="738321"/>
          </a:xfrm>
          <a:prstGeom prst="rect">
            <a:avLst/>
          </a:prstGeom>
          <a:solidFill>
            <a:srgbClr val="FFFFFF"/>
          </a:solidFill>
          <a:ln w="12700">
            <a:solidFill>
              <a:srgbClr val="C0CEDE"/>
            </a:solidFill>
            <a:prstDash val="solid"/>
          </a:ln>
        </p:spPr>
        <p:txBody>
          <a:bodyPr/>
          <a:lstStyle/>
          <a:p>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貴社担当との連絡やり取り全般</a:t>
            </a:r>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・書</a:t>
            </a:r>
            <a:r>
              <a:rPr lang="ja-JP" altLang="en-US" sz="1200" dirty="0">
                <a:solidFill>
                  <a:srgbClr val="1A1A1A"/>
                </a:solidFill>
                <a:latin typeface="メイリオ" panose="020B0604030504040204" pitchFamily="50" charset="-128"/>
                <a:ea typeface="メイリオ" panose="020B0604030504040204" pitchFamily="50" charset="-128"/>
                <a:cs typeface="MS Gothic" pitchFamily="34" charset="-120"/>
              </a:rPr>
              <a:t>類</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の作成等、事務面までサポート</a:t>
            </a:r>
            <a:endParaRPr lang="en-US" altLang="ja-JP" sz="1200" dirty="0">
              <a:latin typeface="メイリオ" panose="020B0604030504040204" pitchFamily="50" charset="-128"/>
              <a:ea typeface="メイリオ" panose="020B0604030504040204" pitchFamily="50" charset="-128"/>
            </a:endParaRPr>
          </a:p>
        </p:txBody>
      </p:sp>
      <p:sp>
        <p:nvSpPr>
          <p:cNvPr id="7" name="Shape 7">
            <a:extLst>
              <a:ext uri="{FF2B5EF4-FFF2-40B4-BE49-F238E27FC236}">
                <a16:creationId xmlns:a16="http://schemas.microsoft.com/office/drawing/2014/main" id="{DE68CBB6-5454-1932-8D24-8CA86C03FDAF}"/>
              </a:ext>
            </a:extLst>
          </p:cNvPr>
          <p:cNvSpPr/>
          <p:nvPr/>
        </p:nvSpPr>
        <p:spPr>
          <a:xfrm>
            <a:off x="5425961" y="2849521"/>
            <a:ext cx="3557928" cy="347472"/>
          </a:xfrm>
          <a:prstGeom prst="rect">
            <a:avLst/>
          </a:prstGeom>
          <a:solidFill>
            <a:schemeClr val="accent1">
              <a:lumMod val="75000"/>
            </a:schemeClr>
          </a:solidFill>
          <a:ln w="12700">
            <a:solidFill>
              <a:srgbClr val="1F3864"/>
            </a:solidFill>
            <a:prstDash val="solid"/>
          </a:ln>
        </p:spPr>
        <p:txBody>
          <a:bodyPr anchor="ctr"/>
          <a:lstStyle/>
          <a:p>
            <a:pPr algn="ctr"/>
            <a:r>
              <a:rPr lang="en-US" altLang="ja-JP" sz="1350" b="1" dirty="0" err="1">
                <a:solidFill>
                  <a:srgbClr val="FFFFFF"/>
                </a:solidFill>
                <a:latin typeface="メイリオ" panose="020B0604030504040204" pitchFamily="50" charset="-128"/>
                <a:ea typeface="メイリオ" panose="020B0604030504040204" pitchFamily="50" charset="-128"/>
                <a:cs typeface="MS Gothic" pitchFamily="34" charset="-120"/>
              </a:rPr>
              <a:t>営業</a:t>
            </a:r>
            <a:r>
              <a:rPr lang="en-US" altLang="ja-JP" sz="1350" b="1" dirty="0">
                <a:solidFill>
                  <a:srgbClr val="FFFFFF"/>
                </a:solidFill>
                <a:latin typeface="メイリオ" panose="020B0604030504040204" pitchFamily="50" charset="-128"/>
                <a:ea typeface="メイリオ" panose="020B0604030504040204" pitchFamily="50" charset="-128"/>
                <a:cs typeface="MS Gothic" pitchFamily="34" charset="-120"/>
              </a:rPr>
              <a:t> / </a:t>
            </a:r>
            <a:r>
              <a:rPr lang="en-US" altLang="ja-JP" sz="1350" b="1" dirty="0" err="1">
                <a:solidFill>
                  <a:srgbClr val="FFFFFF"/>
                </a:solidFill>
                <a:latin typeface="メイリオ" panose="020B0604030504040204" pitchFamily="50" charset="-128"/>
                <a:ea typeface="メイリオ" panose="020B0604030504040204" pitchFamily="50" charset="-128"/>
                <a:cs typeface="MS Gothic" pitchFamily="34" charset="-120"/>
              </a:rPr>
              <a:t>フロント対応（サブ</a:t>
            </a:r>
            <a:r>
              <a:rPr lang="en-US" altLang="ja-JP" sz="1350" b="1" dirty="0">
                <a:solidFill>
                  <a:srgbClr val="FFFFFF"/>
                </a:solidFill>
                <a:latin typeface="メイリオ" panose="020B0604030504040204" pitchFamily="50" charset="-128"/>
                <a:ea typeface="メイリオ" panose="020B0604030504040204" pitchFamily="50" charset="-128"/>
                <a:cs typeface="MS Gothic" pitchFamily="34" charset="-120"/>
              </a:rPr>
              <a:t>）</a:t>
            </a:r>
            <a:endParaRPr lang="en-US" altLang="ja-JP" sz="1350" dirty="0">
              <a:latin typeface="メイリオ" panose="020B0604030504040204" pitchFamily="50" charset="-128"/>
              <a:ea typeface="メイリオ" panose="020B0604030504040204" pitchFamily="50" charset="-128"/>
            </a:endParaRPr>
          </a:p>
        </p:txBody>
      </p:sp>
      <p:sp>
        <p:nvSpPr>
          <p:cNvPr id="20" name="Shape 7"/>
          <p:cNvSpPr/>
          <p:nvPr/>
        </p:nvSpPr>
        <p:spPr>
          <a:xfrm>
            <a:off x="612383" y="2849521"/>
            <a:ext cx="4683034" cy="347472"/>
          </a:xfrm>
          <a:prstGeom prst="rect">
            <a:avLst/>
          </a:prstGeom>
          <a:solidFill>
            <a:schemeClr val="accent1">
              <a:lumMod val="75000"/>
            </a:schemeClr>
          </a:solidFill>
          <a:ln w="12700">
            <a:solidFill>
              <a:srgbClr val="1F3864"/>
            </a:solidFill>
            <a:prstDash val="solid"/>
          </a:ln>
        </p:spPr>
        <p:txBody>
          <a:bodyPr anchor="ctr"/>
          <a:lstStyle/>
          <a:p>
            <a:pPr algn="ctr"/>
            <a:r>
              <a:rPr lang="ja-JP" altLang="en-US" sz="1350" b="1" dirty="0">
                <a:solidFill>
                  <a:srgbClr val="FFFFFF"/>
                </a:solidFill>
                <a:latin typeface="メイリオ" panose="020B0604030504040204" pitchFamily="50" charset="-128"/>
                <a:ea typeface="メイリオ" panose="020B0604030504040204" pitchFamily="50" charset="-128"/>
                <a:cs typeface="MS Gothic" pitchFamily="34" charset="-120"/>
              </a:rPr>
              <a:t>広告運用統括・コンサル</a:t>
            </a:r>
            <a:endParaRPr lang="en-US" altLang="ja-JP" sz="1350" dirty="0">
              <a:latin typeface="メイリオ" panose="020B0604030504040204" pitchFamily="50" charset="-128"/>
              <a:ea typeface="メイリオ" panose="020B0604030504040204" pitchFamily="50" charset="-128"/>
            </a:endParaRPr>
          </a:p>
        </p:txBody>
      </p:sp>
      <p:sp>
        <p:nvSpPr>
          <p:cNvPr id="31" name="Shape 6">
            <a:extLst>
              <a:ext uri="{FF2B5EF4-FFF2-40B4-BE49-F238E27FC236}">
                <a16:creationId xmlns:a16="http://schemas.microsoft.com/office/drawing/2014/main" id="{40835ECB-DBED-5389-F67F-16368EB09190}"/>
              </a:ext>
            </a:extLst>
          </p:cNvPr>
          <p:cNvSpPr/>
          <p:nvPr/>
        </p:nvSpPr>
        <p:spPr>
          <a:xfrm>
            <a:off x="548883" y="1995744"/>
            <a:ext cx="8545959" cy="615505"/>
          </a:xfrm>
          <a:prstGeom prst="rect">
            <a:avLst/>
          </a:prstGeom>
          <a:solidFill>
            <a:srgbClr val="FFFFFF"/>
          </a:solidFill>
          <a:ln w="12700">
            <a:solidFill>
              <a:srgbClr val="C0CEDE"/>
            </a:solidFill>
            <a:prstDash val="solid"/>
          </a:ln>
        </p:spPr>
        <p:txBody>
          <a:bodyPr/>
          <a:lstStyle/>
          <a:p>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ja-JP" altLang="en-US" sz="1200" dirty="0">
                <a:solidFill>
                  <a:srgbClr val="1A1A1A"/>
                </a:solidFill>
                <a:latin typeface="メイリオ" panose="020B0604030504040204" pitchFamily="50" charset="-128"/>
                <a:ea typeface="メイリオ" panose="020B0604030504040204" pitchFamily="50" charset="-128"/>
                <a:cs typeface="MS Gothic" pitchFamily="34" charset="-120"/>
              </a:rPr>
              <a:t>　</a:t>
            </a:r>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本プロモーションの戦略立案</a:t>
            </a:r>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 / </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方針決定</a:t>
            </a:r>
            <a:r>
              <a:rPr lang="ja-JP" altLang="en-US" sz="1200" dirty="0">
                <a:solidFill>
                  <a:srgbClr val="1A1A1A"/>
                </a:solidFill>
                <a:latin typeface="メイリオ" panose="020B0604030504040204" pitchFamily="50" charset="-128"/>
                <a:ea typeface="メイリオ" panose="020B0604030504040204" pitchFamily="50" charset="-128"/>
                <a:cs typeface="MS Gothic" pitchFamily="34" charset="-120"/>
              </a:rPr>
              <a:t>　　　　・貴社ご担当者様との連絡やり取り全般</a:t>
            </a:r>
            <a:endParaRPr lang="en-US" altLang="ja-JP" sz="1200" dirty="0">
              <a:latin typeface="メイリオ" panose="020B0604030504040204" pitchFamily="50" charset="-128"/>
              <a:ea typeface="メイリオ" panose="020B0604030504040204" pitchFamily="50" charset="-128"/>
            </a:endParaRPr>
          </a:p>
        </p:txBody>
      </p:sp>
      <p:sp>
        <p:nvSpPr>
          <p:cNvPr id="32" name="Shape 7">
            <a:extLst>
              <a:ext uri="{FF2B5EF4-FFF2-40B4-BE49-F238E27FC236}">
                <a16:creationId xmlns:a16="http://schemas.microsoft.com/office/drawing/2014/main" id="{67B490AF-C245-DAC8-B203-E07692B565EF}"/>
              </a:ext>
            </a:extLst>
          </p:cNvPr>
          <p:cNvSpPr/>
          <p:nvPr/>
        </p:nvSpPr>
        <p:spPr>
          <a:xfrm>
            <a:off x="548883" y="1729963"/>
            <a:ext cx="4073917" cy="347472"/>
          </a:xfrm>
          <a:prstGeom prst="rect">
            <a:avLst/>
          </a:prstGeom>
          <a:solidFill>
            <a:schemeClr val="accent1">
              <a:lumMod val="75000"/>
            </a:schemeClr>
          </a:solidFill>
          <a:ln w="12700">
            <a:solidFill>
              <a:srgbClr val="1F3864"/>
            </a:solidFill>
            <a:prstDash val="solid"/>
          </a:ln>
        </p:spPr>
        <p:txBody>
          <a:bodyPr anchor="ctr"/>
          <a:lstStyle/>
          <a:p>
            <a:pPr algn="ctr"/>
            <a:r>
              <a:rPr lang="en-US" altLang="ja-JP" sz="1350" b="1" dirty="0" err="1">
                <a:solidFill>
                  <a:srgbClr val="FFFFFF"/>
                </a:solidFill>
                <a:latin typeface="メイリオ" panose="020B0604030504040204" pitchFamily="50" charset="-128"/>
                <a:ea typeface="メイリオ" panose="020B0604030504040204" pitchFamily="50" charset="-128"/>
                <a:cs typeface="MS Gothic" pitchFamily="34" charset="-120"/>
              </a:rPr>
              <a:t>営業</a:t>
            </a:r>
            <a:r>
              <a:rPr lang="en-US" altLang="ja-JP" sz="1350" b="1" dirty="0">
                <a:solidFill>
                  <a:srgbClr val="FFFFFF"/>
                </a:solidFill>
                <a:latin typeface="メイリオ" panose="020B0604030504040204" pitchFamily="50" charset="-128"/>
                <a:ea typeface="メイリオ" panose="020B0604030504040204" pitchFamily="50" charset="-128"/>
                <a:cs typeface="MS Gothic" pitchFamily="34" charset="-120"/>
              </a:rPr>
              <a:t> / </a:t>
            </a:r>
            <a:r>
              <a:rPr lang="en-US" altLang="ja-JP" sz="1350" b="1" dirty="0" err="1">
                <a:solidFill>
                  <a:srgbClr val="FFFFFF"/>
                </a:solidFill>
                <a:latin typeface="メイリオ" panose="020B0604030504040204" pitchFamily="50" charset="-128"/>
                <a:ea typeface="メイリオ" panose="020B0604030504040204" pitchFamily="50" charset="-128"/>
                <a:cs typeface="MS Gothic" pitchFamily="34" charset="-120"/>
              </a:rPr>
              <a:t>フロント対応</a:t>
            </a:r>
            <a:r>
              <a:rPr lang="en-US" altLang="ja-JP" sz="1350" b="1" dirty="0">
                <a:solidFill>
                  <a:srgbClr val="FFFFFF"/>
                </a:solidFill>
                <a:latin typeface="メイリオ" panose="020B0604030504040204" pitchFamily="50" charset="-128"/>
                <a:ea typeface="メイリオ" panose="020B0604030504040204" pitchFamily="50" charset="-128"/>
                <a:cs typeface="MS Gothic" pitchFamily="34" charset="-120"/>
              </a:rPr>
              <a:t>（</a:t>
            </a:r>
            <a:r>
              <a:rPr lang="ja-JP" altLang="en-US" sz="1350" b="1" dirty="0">
                <a:solidFill>
                  <a:srgbClr val="FFFFFF"/>
                </a:solidFill>
                <a:latin typeface="メイリオ" panose="020B0604030504040204" pitchFamily="50" charset="-128"/>
                <a:ea typeface="メイリオ" panose="020B0604030504040204" pitchFamily="50" charset="-128"/>
                <a:cs typeface="MS Gothic" pitchFamily="34" charset="-120"/>
              </a:rPr>
              <a:t>全体統括</a:t>
            </a:r>
            <a:r>
              <a:rPr lang="en-US" altLang="ja-JP" sz="1350" b="1" dirty="0">
                <a:solidFill>
                  <a:srgbClr val="FFFFFF"/>
                </a:solidFill>
                <a:latin typeface="メイリオ" panose="020B0604030504040204" pitchFamily="50" charset="-128"/>
                <a:ea typeface="メイリオ" panose="020B0604030504040204" pitchFamily="50" charset="-128"/>
                <a:cs typeface="MS Gothic" pitchFamily="34" charset="-120"/>
              </a:rPr>
              <a:t>）</a:t>
            </a:r>
            <a:r>
              <a:rPr lang="ja-JP" altLang="en-US" sz="1350" b="1" dirty="0">
                <a:solidFill>
                  <a:srgbClr val="FFFFFF"/>
                </a:solidFill>
                <a:latin typeface="メイリオ" panose="020B0604030504040204" pitchFamily="50" charset="-128"/>
                <a:ea typeface="メイリオ" panose="020B0604030504040204" pitchFamily="50" charset="-128"/>
                <a:cs typeface="MS Gothic" pitchFamily="34" charset="-120"/>
              </a:rPr>
              <a:t>　</a:t>
            </a:r>
            <a:endParaRPr lang="en-US" altLang="ja-JP" sz="1350" dirty="0">
              <a:latin typeface="メイリオ" panose="020B0604030504040204" pitchFamily="50" charset="-128"/>
              <a:ea typeface="メイリオ" panose="020B0604030504040204" pitchFamily="50" charset="-128"/>
            </a:endParaRPr>
          </a:p>
        </p:txBody>
      </p:sp>
      <p:sp>
        <p:nvSpPr>
          <p:cNvPr id="35" name="Shape 38">
            <a:extLst>
              <a:ext uri="{FF2B5EF4-FFF2-40B4-BE49-F238E27FC236}">
                <a16:creationId xmlns:a16="http://schemas.microsoft.com/office/drawing/2014/main" id="{0C1173B9-EECF-693B-9E7D-0C69C5B122BF}"/>
              </a:ext>
            </a:extLst>
          </p:cNvPr>
          <p:cNvSpPr/>
          <p:nvPr/>
        </p:nvSpPr>
        <p:spPr>
          <a:xfrm>
            <a:off x="5740699" y="4509077"/>
            <a:ext cx="3293358" cy="1146893"/>
          </a:xfrm>
          <a:prstGeom prst="rect">
            <a:avLst/>
          </a:prstGeom>
          <a:solidFill>
            <a:schemeClr val="accent1">
              <a:lumMod val="20000"/>
              <a:lumOff val="80000"/>
            </a:schemeClr>
          </a:solidFill>
          <a:ln w="12700">
            <a:solidFill>
              <a:srgbClr val="8496B8"/>
            </a:solidFill>
            <a:prstDash val="solid"/>
          </a:ln>
        </p:spPr>
        <p:txBody>
          <a:bodyPr anchor="ctr"/>
          <a:lstStyle/>
          <a:p>
            <a:pPr algn="ctr"/>
            <a:endParaRPr lang="ja-JP" altLang="en-US" sz="1200" dirty="0">
              <a:solidFill>
                <a:schemeClr val="bg1"/>
              </a:solidFill>
              <a:latin typeface="メイリオ" panose="020B0604030504040204" pitchFamily="50" charset="-128"/>
              <a:ea typeface="メイリオ" panose="020B0604030504040204" pitchFamily="50" charset="-128"/>
            </a:endParaRPr>
          </a:p>
        </p:txBody>
      </p:sp>
      <p:sp>
        <p:nvSpPr>
          <p:cNvPr id="36" name="矢印: 下 35">
            <a:extLst>
              <a:ext uri="{FF2B5EF4-FFF2-40B4-BE49-F238E27FC236}">
                <a16:creationId xmlns:a16="http://schemas.microsoft.com/office/drawing/2014/main" id="{7CCB5C34-442B-3398-0780-2D0336E6D4ED}"/>
              </a:ext>
            </a:extLst>
          </p:cNvPr>
          <p:cNvSpPr/>
          <p:nvPr/>
        </p:nvSpPr>
        <p:spPr>
          <a:xfrm>
            <a:off x="1528292" y="3735148"/>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矢印: 下 36">
            <a:extLst>
              <a:ext uri="{FF2B5EF4-FFF2-40B4-BE49-F238E27FC236}">
                <a16:creationId xmlns:a16="http://schemas.microsoft.com/office/drawing/2014/main" id="{F4FC4967-B41B-4444-4ADE-4F30B9156CB8}"/>
              </a:ext>
            </a:extLst>
          </p:cNvPr>
          <p:cNvSpPr/>
          <p:nvPr/>
        </p:nvSpPr>
        <p:spPr>
          <a:xfrm>
            <a:off x="3987378" y="3740258"/>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026" name="Picture 2">
            <a:extLst>
              <a:ext uri="{FF2B5EF4-FFF2-40B4-BE49-F238E27FC236}">
                <a16:creationId xmlns:a16="http://schemas.microsoft.com/office/drawing/2014/main" id="{AC3EAB26-5599-F35D-4523-6C68BD69EF6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49980" y="4692784"/>
            <a:ext cx="570053" cy="37623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ロゴガイドライン｜LINEヤフー for Business">
            <a:extLst>
              <a:ext uri="{FF2B5EF4-FFF2-40B4-BE49-F238E27FC236}">
                <a16:creationId xmlns:a16="http://schemas.microsoft.com/office/drawing/2014/main" id="{CEFB2BC3-422C-45B1-E9EF-4EF91F4D9897}"/>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972902" y="4459743"/>
            <a:ext cx="2357368" cy="855810"/>
          </a:xfrm>
          <a:prstGeom prst="rect">
            <a:avLst/>
          </a:prstGeom>
          <a:noFill/>
          <a:extLst>
            <a:ext uri="{909E8E84-426E-40DD-AFC4-6F175D3DCCD1}">
              <a14:hiddenFill xmlns:a14="http://schemas.microsoft.com/office/drawing/2010/main">
                <a:solidFill>
                  <a:srgbClr val="FFFFFF"/>
                </a:solidFill>
              </a14:hiddenFill>
            </a:ext>
          </a:extLst>
        </p:spPr>
      </p:pic>
      <p:pic>
        <p:nvPicPr>
          <p:cNvPr id="49" name="図 48">
            <a:extLst>
              <a:ext uri="{FF2B5EF4-FFF2-40B4-BE49-F238E27FC236}">
                <a16:creationId xmlns:a16="http://schemas.microsoft.com/office/drawing/2014/main" id="{C827C962-E7C6-7341-785B-5CEA2F163BA9}"/>
              </a:ext>
            </a:extLst>
          </p:cNvPr>
          <p:cNvPicPr>
            <a:picLocks noChangeAspect="1"/>
          </p:cNvPicPr>
          <p:nvPr/>
        </p:nvPicPr>
        <p:blipFill>
          <a:blip r:embed="rId5" cstate="print">
            <a:extLst>
              <a:ext uri="{28A0092B-C50C-407E-A947-70E740481C1C}">
                <a14:useLocalDpi xmlns:a14="http://schemas.microsoft.com/office/drawing/2010/main" val="0"/>
              </a:ext>
            </a:extLst>
          </a:blip>
          <a:srcRect l="10032" t="9688" r="9713" b="9686"/>
          <a:stretch>
            <a:fillRect/>
          </a:stretch>
        </p:blipFill>
        <p:spPr>
          <a:xfrm>
            <a:off x="7294243" y="4673418"/>
            <a:ext cx="411545" cy="413459"/>
          </a:xfrm>
          <a:prstGeom prst="rect">
            <a:avLst/>
          </a:prstGeom>
        </p:spPr>
      </p:pic>
      <p:pic>
        <p:nvPicPr>
          <p:cNvPr id="1034" name="Picture 10" descr="Google ロゴ（グーグル） – ICONLAB（アイコンラボ）">
            <a:extLst>
              <a:ext uri="{FF2B5EF4-FFF2-40B4-BE49-F238E27FC236}">
                <a16:creationId xmlns:a16="http://schemas.microsoft.com/office/drawing/2014/main" id="{EF486F86-4362-411E-58E4-AF8FA89FFB1A}"/>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916281" y="5170783"/>
            <a:ext cx="1167467" cy="383075"/>
          </a:xfrm>
          <a:prstGeom prst="rect">
            <a:avLst/>
          </a:prstGeom>
          <a:noFill/>
          <a:extLst>
            <a:ext uri="{909E8E84-426E-40DD-AFC4-6F175D3DCCD1}">
              <a14:hiddenFill xmlns:a14="http://schemas.microsoft.com/office/drawing/2010/main">
                <a:solidFill>
                  <a:srgbClr val="FFFFFF"/>
                </a:solidFill>
              </a14:hiddenFill>
            </a:ext>
          </a:extLst>
        </p:spPr>
      </p:pic>
      <p:sp>
        <p:nvSpPr>
          <p:cNvPr id="52" name="AutoShape 16" descr="TikTok Vector Logo - Download Free SVG Icon | Worldvectorlogo">
            <a:extLst>
              <a:ext uri="{FF2B5EF4-FFF2-40B4-BE49-F238E27FC236}">
                <a16:creationId xmlns:a16="http://schemas.microsoft.com/office/drawing/2014/main" id="{FC9F455A-4712-6D98-BB84-88AB6130694C}"/>
              </a:ext>
            </a:extLst>
          </p:cNvPr>
          <p:cNvSpPr>
            <a:spLocks noChangeAspect="1" noChangeArrowheads="1"/>
          </p:cNvSpPr>
          <p:nvPr/>
        </p:nvSpPr>
        <p:spPr bwMode="auto">
          <a:xfrm>
            <a:off x="4800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ja-JP" altLang="en-US"/>
          </a:p>
        </p:txBody>
      </p:sp>
      <p:pic>
        <p:nvPicPr>
          <p:cNvPr id="55" name="グラフィックス 54">
            <a:extLst>
              <a:ext uri="{FF2B5EF4-FFF2-40B4-BE49-F238E27FC236}">
                <a16:creationId xmlns:a16="http://schemas.microsoft.com/office/drawing/2014/main" id="{236DDCA7-2D38-04D7-5FB4-240CFC7457DF}"/>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915162" y="4592565"/>
            <a:ext cx="431326" cy="494866"/>
          </a:xfrm>
          <a:prstGeom prst="rect">
            <a:avLst/>
          </a:prstGeom>
        </p:spPr>
      </p:pic>
      <p:pic>
        <p:nvPicPr>
          <p:cNvPr id="1042" name="Picture 18" descr="スマートニュースはSNSでも情報を発信しています">
            <a:extLst>
              <a:ext uri="{FF2B5EF4-FFF2-40B4-BE49-F238E27FC236}">
                <a16:creationId xmlns:a16="http://schemas.microsoft.com/office/drawing/2014/main" id="{4F12F3EC-DFC2-4480-39CA-8C4C8AE3C056}"/>
              </a:ext>
            </a:extLst>
          </p:cNvPr>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r="70053"/>
          <a:stretch>
            <a:fillRect/>
          </a:stretch>
        </p:blipFill>
        <p:spPr bwMode="auto">
          <a:xfrm>
            <a:off x="8334066" y="4584625"/>
            <a:ext cx="564335" cy="580417"/>
          </a:xfrm>
          <a:prstGeom prst="rect">
            <a:avLst/>
          </a:prstGeom>
          <a:noFill/>
          <a:extLst>
            <a:ext uri="{909E8E84-426E-40DD-AFC4-6F175D3DCCD1}">
              <a14:hiddenFill xmlns:a14="http://schemas.microsoft.com/office/drawing/2010/main">
                <a:solidFill>
                  <a:srgbClr val="FFFFFF"/>
                </a:solidFill>
              </a14:hiddenFill>
            </a:ext>
          </a:extLst>
        </p:spPr>
      </p:pic>
      <p:sp>
        <p:nvSpPr>
          <p:cNvPr id="56" name="矢印: 下 55">
            <a:extLst>
              <a:ext uri="{FF2B5EF4-FFF2-40B4-BE49-F238E27FC236}">
                <a16:creationId xmlns:a16="http://schemas.microsoft.com/office/drawing/2014/main" id="{E75D1A0F-AE27-48A1-23FB-0EB865F9868F}"/>
              </a:ext>
            </a:extLst>
          </p:cNvPr>
          <p:cNvSpPr/>
          <p:nvPr/>
        </p:nvSpPr>
        <p:spPr>
          <a:xfrm>
            <a:off x="2694214" y="2529121"/>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7" name="矢印: 下 56">
            <a:extLst>
              <a:ext uri="{FF2B5EF4-FFF2-40B4-BE49-F238E27FC236}">
                <a16:creationId xmlns:a16="http://schemas.microsoft.com/office/drawing/2014/main" id="{45EAB25F-C320-6516-2457-A8EC46BA5759}"/>
              </a:ext>
            </a:extLst>
          </p:cNvPr>
          <p:cNvSpPr/>
          <p:nvPr/>
        </p:nvSpPr>
        <p:spPr>
          <a:xfrm>
            <a:off x="7125416" y="2500315"/>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8" name="矢印: 下 57">
            <a:extLst>
              <a:ext uri="{FF2B5EF4-FFF2-40B4-BE49-F238E27FC236}">
                <a16:creationId xmlns:a16="http://schemas.microsoft.com/office/drawing/2014/main" id="{D4C3E4FB-FBBD-F807-4224-633D3437041D}"/>
              </a:ext>
            </a:extLst>
          </p:cNvPr>
          <p:cNvSpPr/>
          <p:nvPr/>
        </p:nvSpPr>
        <p:spPr>
          <a:xfrm>
            <a:off x="7077925" y="3692382"/>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9" name="矢印: 下 58">
            <a:extLst>
              <a:ext uri="{FF2B5EF4-FFF2-40B4-BE49-F238E27FC236}">
                <a16:creationId xmlns:a16="http://schemas.microsoft.com/office/drawing/2014/main" id="{101128B9-99D7-A912-7FA8-A54843D9D245}"/>
              </a:ext>
            </a:extLst>
          </p:cNvPr>
          <p:cNvSpPr/>
          <p:nvPr/>
        </p:nvSpPr>
        <p:spPr>
          <a:xfrm>
            <a:off x="1531548" y="4943191"/>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0" name="矢印: 下 59">
            <a:extLst>
              <a:ext uri="{FF2B5EF4-FFF2-40B4-BE49-F238E27FC236}">
                <a16:creationId xmlns:a16="http://schemas.microsoft.com/office/drawing/2014/main" id="{98D6B609-F1DC-B6C8-DC56-54C22972DE71}"/>
              </a:ext>
            </a:extLst>
          </p:cNvPr>
          <p:cNvSpPr/>
          <p:nvPr/>
        </p:nvSpPr>
        <p:spPr>
          <a:xfrm>
            <a:off x="3985192" y="4946879"/>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1" name="矢印: 下 60">
            <a:extLst>
              <a:ext uri="{FF2B5EF4-FFF2-40B4-BE49-F238E27FC236}">
                <a16:creationId xmlns:a16="http://schemas.microsoft.com/office/drawing/2014/main" id="{CBA9CA06-6F9A-2C27-90F1-49EDB667ED05}"/>
              </a:ext>
            </a:extLst>
          </p:cNvPr>
          <p:cNvSpPr/>
          <p:nvPr/>
        </p:nvSpPr>
        <p:spPr>
          <a:xfrm rot="17888006">
            <a:off x="5384120" y="4622183"/>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2" name="矢印: 下 61">
            <a:extLst>
              <a:ext uri="{FF2B5EF4-FFF2-40B4-BE49-F238E27FC236}">
                <a16:creationId xmlns:a16="http://schemas.microsoft.com/office/drawing/2014/main" id="{50FA0F8D-4B66-B543-827F-E62BB2D7A5C7}"/>
              </a:ext>
            </a:extLst>
          </p:cNvPr>
          <p:cNvSpPr/>
          <p:nvPr/>
        </p:nvSpPr>
        <p:spPr>
          <a:xfrm rot="7261747">
            <a:off x="5310324" y="4360130"/>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54400245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Google Shape;156;p7"/>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運用スケジュール</a:t>
            </a:r>
            <a:endParaRPr sz="1600" b="1" dirty="0">
              <a:solidFill>
                <a:srgbClr val="002060"/>
              </a:solidFill>
              <a:latin typeface="Meiryo"/>
              <a:ea typeface="Meiryo"/>
              <a:cs typeface="Meiryo"/>
              <a:sym typeface="Meiryo"/>
            </a:endParaRPr>
          </a:p>
        </p:txBody>
      </p:sp>
      <p:sp>
        <p:nvSpPr>
          <p:cNvPr id="28" name="角丸四角形 27"/>
          <p:cNvSpPr/>
          <p:nvPr/>
        </p:nvSpPr>
        <p:spPr>
          <a:xfrm>
            <a:off x="910833" y="1994083"/>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rPr>
              <a:t>STEP1</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29" name="角丸四角形 28"/>
          <p:cNvSpPr/>
          <p:nvPr/>
        </p:nvSpPr>
        <p:spPr>
          <a:xfrm>
            <a:off x="910833" y="3537133"/>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rPr>
              <a:t>STEP3</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31" name="角丸四角形 30"/>
          <p:cNvSpPr/>
          <p:nvPr/>
        </p:nvSpPr>
        <p:spPr>
          <a:xfrm>
            <a:off x="910833" y="2765608"/>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rPr>
              <a:t>STEP2</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32" name="角丸四角形 31"/>
          <p:cNvSpPr/>
          <p:nvPr/>
        </p:nvSpPr>
        <p:spPr>
          <a:xfrm>
            <a:off x="910833" y="4308658"/>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rPr>
              <a:t>STEP4</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33" name="角丸四角形 32"/>
          <p:cNvSpPr/>
          <p:nvPr/>
        </p:nvSpPr>
        <p:spPr>
          <a:xfrm>
            <a:off x="910833" y="5080183"/>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rPr>
              <a:t>STEP5</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2" name="正方形/長方形 1"/>
          <p:cNvSpPr/>
          <p:nvPr/>
        </p:nvSpPr>
        <p:spPr>
          <a:xfrm>
            <a:off x="4600923" y="2266950"/>
            <a:ext cx="1638300" cy="391649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0" name="角丸四角形 39"/>
          <p:cNvSpPr/>
          <p:nvPr/>
        </p:nvSpPr>
        <p:spPr>
          <a:xfrm>
            <a:off x="3133924" y="1994083"/>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lumMod val="50000"/>
                  </a:schemeClr>
                </a:solidFill>
                <a:latin typeface="メイリオ" panose="020B0604030504040204" pitchFamily="50" charset="-128"/>
                <a:ea typeface="メイリオ" panose="020B0604030504040204" pitchFamily="50" charset="-128"/>
              </a:rPr>
              <a:t>お申込み（書類締結）</a:t>
            </a:r>
            <a:endParaRPr kumimoji="1" lang="ja-JP" altLang="en-US" dirty="0">
              <a:solidFill>
                <a:schemeClr val="bg1">
                  <a:lumMod val="50000"/>
                </a:schemeClr>
              </a:solidFill>
              <a:latin typeface="メイリオ" panose="020B0604030504040204" pitchFamily="50" charset="-128"/>
              <a:ea typeface="メイリオ" panose="020B0604030504040204" pitchFamily="50" charset="-128"/>
            </a:endParaRPr>
          </a:p>
        </p:txBody>
      </p:sp>
      <p:sp>
        <p:nvSpPr>
          <p:cNvPr id="41" name="角丸四角形 40"/>
          <p:cNvSpPr/>
          <p:nvPr/>
        </p:nvSpPr>
        <p:spPr>
          <a:xfrm>
            <a:off x="3133924" y="3537133"/>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lumMod val="50000"/>
                  </a:schemeClr>
                </a:solidFill>
                <a:latin typeface="メイリオ" panose="020B0604030504040204" pitchFamily="50" charset="-128"/>
                <a:ea typeface="メイリオ" panose="020B0604030504040204" pitchFamily="50" charset="-128"/>
              </a:rPr>
              <a:t>連携の設定 </a:t>
            </a:r>
            <a:r>
              <a:rPr kumimoji="1" lang="en-US" altLang="ja-JP" dirty="0">
                <a:solidFill>
                  <a:schemeClr val="bg1">
                    <a:lumMod val="50000"/>
                  </a:schemeClr>
                </a:solidFill>
                <a:latin typeface="メイリオ" panose="020B0604030504040204" pitchFamily="50" charset="-128"/>
                <a:ea typeface="メイリオ" panose="020B0604030504040204" pitchFamily="50" charset="-128"/>
              </a:rPr>
              <a:t>/ </a:t>
            </a:r>
            <a:r>
              <a:rPr kumimoji="1" lang="ja-JP" altLang="en-US" dirty="0">
                <a:solidFill>
                  <a:schemeClr val="bg1">
                    <a:lumMod val="50000"/>
                  </a:schemeClr>
                </a:solidFill>
                <a:latin typeface="メイリオ" panose="020B0604030504040204" pitchFamily="50" charset="-128"/>
                <a:ea typeface="メイリオ" panose="020B0604030504040204" pitchFamily="50" charset="-128"/>
              </a:rPr>
              <a:t>タグ確認</a:t>
            </a:r>
          </a:p>
        </p:txBody>
      </p:sp>
      <p:sp>
        <p:nvSpPr>
          <p:cNvPr id="42" name="角丸四角形 41"/>
          <p:cNvSpPr/>
          <p:nvPr/>
        </p:nvSpPr>
        <p:spPr>
          <a:xfrm>
            <a:off x="3133924" y="2765608"/>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lumMod val="50000"/>
                  </a:schemeClr>
                </a:solidFill>
                <a:latin typeface="メイリオ" panose="020B0604030504040204" pitchFamily="50" charset="-128"/>
                <a:ea typeface="メイリオ" panose="020B0604030504040204" pitchFamily="50" charset="-128"/>
              </a:rPr>
              <a:t>キックオフ</a:t>
            </a:r>
            <a:r>
              <a:rPr kumimoji="1" lang="en-US" altLang="ja-JP" dirty="0">
                <a:solidFill>
                  <a:schemeClr val="bg1">
                    <a:lumMod val="50000"/>
                  </a:schemeClr>
                </a:solidFill>
                <a:latin typeface="メイリオ" panose="020B0604030504040204" pitchFamily="50" charset="-128"/>
                <a:ea typeface="メイリオ" panose="020B0604030504040204" pitchFamily="50" charset="-128"/>
              </a:rPr>
              <a:t>MTG</a:t>
            </a:r>
            <a:endParaRPr kumimoji="1" lang="ja-JP" altLang="en-US" dirty="0">
              <a:solidFill>
                <a:schemeClr val="bg1">
                  <a:lumMod val="50000"/>
                </a:schemeClr>
              </a:solidFill>
              <a:latin typeface="メイリオ" panose="020B0604030504040204" pitchFamily="50" charset="-128"/>
              <a:ea typeface="メイリオ" panose="020B0604030504040204" pitchFamily="50" charset="-128"/>
            </a:endParaRPr>
          </a:p>
        </p:txBody>
      </p:sp>
      <p:sp>
        <p:nvSpPr>
          <p:cNvPr id="44" name="角丸四角形 43"/>
          <p:cNvSpPr/>
          <p:nvPr/>
        </p:nvSpPr>
        <p:spPr>
          <a:xfrm>
            <a:off x="3133924" y="4308658"/>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lumMod val="50000"/>
                  </a:schemeClr>
                </a:solidFill>
                <a:latin typeface="メイリオ" panose="020B0604030504040204" pitchFamily="50" charset="-128"/>
                <a:ea typeface="メイリオ" panose="020B0604030504040204" pitchFamily="50" charset="-128"/>
              </a:rPr>
              <a:t>初期設計の構築</a:t>
            </a:r>
          </a:p>
        </p:txBody>
      </p:sp>
      <p:sp>
        <p:nvSpPr>
          <p:cNvPr id="45" name="角丸四角形 44"/>
          <p:cNvSpPr/>
          <p:nvPr/>
        </p:nvSpPr>
        <p:spPr>
          <a:xfrm>
            <a:off x="3133924" y="5080183"/>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lumMod val="50000"/>
                  </a:schemeClr>
                </a:solidFill>
                <a:latin typeface="メイリオ" panose="020B0604030504040204" pitchFamily="50" charset="-128"/>
                <a:ea typeface="メイリオ" panose="020B0604030504040204" pitchFamily="50" charset="-128"/>
              </a:rPr>
              <a:t>運用開始</a:t>
            </a:r>
          </a:p>
        </p:txBody>
      </p:sp>
      <p:sp>
        <p:nvSpPr>
          <p:cNvPr id="19" name="正方形/長方形 18"/>
          <p:cNvSpPr/>
          <p:nvPr/>
        </p:nvSpPr>
        <p:spPr>
          <a:xfrm>
            <a:off x="548883" y="1033120"/>
            <a:ext cx="8921032" cy="461665"/>
          </a:xfrm>
          <a:prstGeom prst="rect">
            <a:avLst/>
          </a:prstGeom>
        </p:spPr>
        <p:txBody>
          <a:bodyPr wrap="none">
            <a:spAutoFit/>
          </a:bodyPr>
          <a:lstStyle/>
          <a:p>
            <a:r>
              <a:rPr lang="ja-JP" altLang="en-US" sz="2400" dirty="0">
                <a:latin typeface="メイリオ" panose="020B0604030504040204" pitchFamily="50" charset="-128"/>
                <a:ea typeface="メイリオ" panose="020B0604030504040204" pitchFamily="50" charset="-128"/>
              </a:rPr>
              <a:t>サイト</a:t>
            </a:r>
            <a:r>
              <a:rPr lang="en-US" altLang="ja-JP" sz="2400" dirty="0">
                <a:latin typeface="メイリオ" panose="020B0604030504040204" pitchFamily="50" charset="-128"/>
                <a:ea typeface="メイリオ" panose="020B0604030504040204" pitchFamily="50" charset="-128"/>
              </a:rPr>
              <a:t>/LINE</a:t>
            </a:r>
            <a:r>
              <a:rPr lang="ja-JP" altLang="en-US" sz="2400" dirty="0">
                <a:latin typeface="メイリオ" panose="020B0604030504040204" pitchFamily="50" charset="-128"/>
                <a:ea typeface="メイリオ" panose="020B0604030504040204" pitchFamily="50" charset="-128"/>
              </a:rPr>
              <a:t>上への実装については、約</a:t>
            </a:r>
            <a:r>
              <a:rPr lang="en-US" altLang="ja-JP" sz="2400" dirty="0">
                <a:latin typeface="メイリオ" panose="020B0604030504040204" pitchFamily="50" charset="-128"/>
                <a:ea typeface="メイリオ" panose="020B0604030504040204" pitchFamily="50" charset="-128"/>
              </a:rPr>
              <a:t>1</a:t>
            </a:r>
            <a:r>
              <a:rPr lang="ja-JP" altLang="en-US" sz="2400" dirty="0">
                <a:latin typeface="メイリオ" panose="020B0604030504040204" pitchFamily="50" charset="-128"/>
                <a:ea typeface="メイリオ" panose="020B0604030504040204" pitchFamily="50" charset="-128"/>
              </a:rPr>
              <a:t>か月程度を頂き進行。</a:t>
            </a:r>
            <a:endParaRPr lang="ja-JP" altLang="en-US" sz="2400" dirty="0"/>
          </a:p>
        </p:txBody>
      </p:sp>
      <p:sp>
        <p:nvSpPr>
          <p:cNvPr id="20" name="正方形/長方形 19"/>
          <p:cNvSpPr/>
          <p:nvPr/>
        </p:nvSpPr>
        <p:spPr>
          <a:xfrm>
            <a:off x="4708989" y="5841409"/>
            <a:ext cx="4955203" cy="276999"/>
          </a:xfrm>
          <a:prstGeom prst="rect">
            <a:avLst/>
          </a:prstGeom>
        </p:spPr>
        <p:txBody>
          <a:bodyPr wrap="none">
            <a:spAutoFit/>
          </a:bodyPr>
          <a:lstStyle/>
          <a:p>
            <a:r>
              <a:rPr lang="en-US" altLang="ja-JP" sz="1200" dirty="0">
                <a:solidFill>
                  <a:schemeClr val="tx1">
                    <a:lumMod val="50000"/>
                    <a:lumOff val="50000"/>
                  </a:schemeClr>
                </a:solidFill>
                <a:latin typeface="メイリオ" panose="020B0604030504040204" pitchFamily="50" charset="-128"/>
                <a:ea typeface="メイリオ" panose="020B0604030504040204" pitchFamily="50" charset="-128"/>
              </a:rPr>
              <a:t>※</a:t>
            </a: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貴社作業・確認にかかる時間により前後する可能性がございます。</a:t>
            </a:r>
          </a:p>
        </p:txBody>
      </p:sp>
      <p:cxnSp>
        <p:nvCxnSpPr>
          <p:cNvPr id="21" name="直線矢印コネクタ 20"/>
          <p:cNvCxnSpPr/>
          <p:nvPr/>
        </p:nvCxnSpPr>
        <p:spPr>
          <a:xfrm>
            <a:off x="6985106" y="2256762"/>
            <a:ext cx="0" cy="3086100"/>
          </a:xfrm>
          <a:prstGeom prst="straightConnector1">
            <a:avLst/>
          </a:prstGeom>
          <a:ln w="38100">
            <a:solidFill>
              <a:schemeClr val="tx1">
                <a:lumMod val="75000"/>
                <a:lumOff val="2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22" name="正方形/長方形 21"/>
          <p:cNvSpPr/>
          <p:nvPr/>
        </p:nvSpPr>
        <p:spPr>
          <a:xfrm>
            <a:off x="7042256" y="2130871"/>
            <a:ext cx="742511" cy="276999"/>
          </a:xfrm>
          <a:prstGeom prst="rect">
            <a:avLst/>
          </a:prstGeom>
          <a:solidFill>
            <a:schemeClr val="accent1">
              <a:lumMod val="20000"/>
              <a:lumOff val="80000"/>
            </a:schemeClr>
          </a:solidFill>
        </p:spPr>
        <p:txBody>
          <a:bodyPr wrap="none">
            <a:spAutoFit/>
          </a:bodyPr>
          <a:lstStyle/>
          <a:p>
            <a:r>
              <a:rPr lang="ja-JP" altLang="en-US" sz="1200" dirty="0">
                <a:latin typeface="メイリオ" panose="020B0604030504040204" pitchFamily="50" charset="-128"/>
                <a:ea typeface="メイリオ" panose="020B0604030504040204" pitchFamily="50" charset="-128"/>
              </a:rPr>
              <a:t>約</a:t>
            </a:r>
            <a:r>
              <a:rPr lang="en-US" altLang="ja-JP" sz="1200" dirty="0">
                <a:latin typeface="メイリオ" panose="020B0604030504040204" pitchFamily="50" charset="-128"/>
                <a:ea typeface="メイリオ" panose="020B0604030504040204" pitchFamily="50" charset="-128"/>
              </a:rPr>
              <a:t>1</a:t>
            </a:r>
            <a:r>
              <a:rPr lang="ja-JP" altLang="en-US" sz="1200" dirty="0">
                <a:latin typeface="メイリオ" panose="020B0604030504040204" pitchFamily="50" charset="-128"/>
                <a:ea typeface="メイリオ" panose="020B0604030504040204" pitchFamily="50" charset="-128"/>
              </a:rPr>
              <a:t>か月</a:t>
            </a:r>
            <a:endParaRPr lang="ja-JP" altLang="en-US" sz="1200" dirty="0"/>
          </a:p>
        </p:txBody>
      </p:sp>
      <p:sp>
        <p:nvSpPr>
          <p:cNvPr id="3" name="正方形/長方形 2"/>
          <p:cNvSpPr/>
          <p:nvPr/>
        </p:nvSpPr>
        <p:spPr>
          <a:xfrm>
            <a:off x="7902506" y="3514209"/>
            <a:ext cx="1415772" cy="584775"/>
          </a:xfrm>
          <a:prstGeom prst="rect">
            <a:avLst/>
          </a:prstGeom>
        </p:spPr>
        <p:txBody>
          <a:bodyPr wrap="none">
            <a:spAutoFit/>
          </a:bodyPr>
          <a:lstStyle/>
          <a:p>
            <a:r>
              <a:rPr lang="ja-JP" altLang="en-US" sz="800" dirty="0">
                <a:solidFill>
                  <a:schemeClr val="bg1">
                    <a:lumMod val="50000"/>
                  </a:schemeClr>
                </a:solidFill>
                <a:latin typeface="メイリオ" panose="020B0604030504040204" pitchFamily="50" charset="-128"/>
                <a:ea typeface="メイリオ" panose="020B0604030504040204" pitchFamily="50" charset="-128"/>
              </a:rPr>
              <a:t>オーディエンスリスト作成</a:t>
            </a:r>
            <a:endParaRPr lang="en-US" altLang="ja-JP" sz="800" dirty="0">
              <a:solidFill>
                <a:schemeClr val="bg1">
                  <a:lumMod val="50000"/>
                </a:schemeClr>
              </a:solidFill>
              <a:latin typeface="メイリオ" panose="020B0604030504040204" pitchFamily="50" charset="-128"/>
              <a:ea typeface="メイリオ" panose="020B0604030504040204" pitchFamily="50" charset="-128"/>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rPr>
              <a:t>タグ設定</a:t>
            </a:r>
            <a:endParaRPr lang="en-US" altLang="ja-JP" sz="800" dirty="0">
              <a:solidFill>
                <a:schemeClr val="bg1">
                  <a:lumMod val="50000"/>
                </a:schemeClr>
              </a:solidFill>
              <a:latin typeface="メイリオ" panose="020B0604030504040204" pitchFamily="50" charset="-128"/>
              <a:ea typeface="メイリオ" panose="020B0604030504040204" pitchFamily="50" charset="-128"/>
            </a:endParaRPr>
          </a:p>
          <a:p>
            <a:r>
              <a:rPr lang="en-US" altLang="ja-JP" sz="800" dirty="0">
                <a:solidFill>
                  <a:schemeClr val="bg1">
                    <a:lumMod val="50000"/>
                  </a:schemeClr>
                </a:solidFill>
                <a:latin typeface="メイリオ" panose="020B0604030504040204" pitchFamily="50" charset="-128"/>
                <a:ea typeface="メイリオ" panose="020B0604030504040204" pitchFamily="50" charset="-128"/>
              </a:rPr>
              <a:t>GA</a:t>
            </a:r>
            <a:r>
              <a:rPr lang="ja-JP" altLang="en-US" sz="800" dirty="0">
                <a:solidFill>
                  <a:schemeClr val="bg1">
                    <a:lumMod val="50000"/>
                  </a:schemeClr>
                </a:solidFill>
                <a:latin typeface="メイリオ" panose="020B0604030504040204" pitchFamily="50" charset="-128"/>
                <a:ea typeface="メイリオ" panose="020B0604030504040204" pitchFamily="50" charset="-128"/>
              </a:rPr>
              <a:t>設定</a:t>
            </a:r>
            <a:endParaRPr lang="en-US" altLang="ja-JP" sz="800" dirty="0">
              <a:solidFill>
                <a:schemeClr val="bg1">
                  <a:lumMod val="50000"/>
                </a:schemeClr>
              </a:solidFill>
              <a:latin typeface="メイリオ" panose="020B0604030504040204" pitchFamily="50" charset="-128"/>
              <a:ea typeface="メイリオ" panose="020B0604030504040204" pitchFamily="50" charset="-128"/>
            </a:endParaRPr>
          </a:p>
          <a:p>
            <a:r>
              <a:rPr lang="en-US" altLang="ja-JP" sz="800" dirty="0">
                <a:solidFill>
                  <a:schemeClr val="bg1">
                    <a:lumMod val="50000"/>
                  </a:schemeClr>
                </a:solidFill>
                <a:latin typeface="メイリオ" panose="020B0604030504040204" pitchFamily="50" charset="-128"/>
                <a:ea typeface="メイリオ" panose="020B0604030504040204" pitchFamily="50" charset="-128"/>
              </a:rPr>
              <a:t>etc...</a:t>
            </a:r>
          </a:p>
        </p:txBody>
      </p:sp>
      <p:sp>
        <p:nvSpPr>
          <p:cNvPr id="24" name="正方形/長方形 23"/>
          <p:cNvSpPr/>
          <p:nvPr/>
        </p:nvSpPr>
        <p:spPr>
          <a:xfrm>
            <a:off x="7897281" y="4276528"/>
            <a:ext cx="1107996" cy="584775"/>
          </a:xfrm>
          <a:prstGeom prst="rect">
            <a:avLst/>
          </a:prstGeom>
        </p:spPr>
        <p:txBody>
          <a:bodyPr wrap="none">
            <a:spAutoFit/>
          </a:bodyPr>
          <a:lstStyle/>
          <a:p>
            <a:r>
              <a:rPr lang="ja-JP" altLang="en-US" sz="800" dirty="0">
                <a:solidFill>
                  <a:schemeClr val="bg1">
                    <a:lumMod val="50000"/>
                  </a:schemeClr>
                </a:solidFill>
                <a:latin typeface="メイリオ" panose="020B0604030504040204" pitchFamily="50" charset="-128"/>
                <a:ea typeface="メイリオ" panose="020B0604030504040204" pitchFamily="50" charset="-128"/>
              </a:rPr>
              <a:t>リッチメニュー作成</a:t>
            </a:r>
            <a:endParaRPr lang="en-US" altLang="ja-JP" sz="800" dirty="0">
              <a:solidFill>
                <a:schemeClr val="bg1">
                  <a:lumMod val="50000"/>
                </a:schemeClr>
              </a:solidFill>
              <a:latin typeface="メイリオ" panose="020B0604030504040204" pitchFamily="50" charset="-128"/>
              <a:ea typeface="メイリオ" panose="020B0604030504040204" pitchFamily="50" charset="-128"/>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rPr>
              <a:t>アンケート設計</a:t>
            </a:r>
            <a:endParaRPr lang="en-US" altLang="ja-JP" sz="800" dirty="0">
              <a:solidFill>
                <a:schemeClr val="bg1">
                  <a:lumMod val="50000"/>
                </a:schemeClr>
              </a:solidFill>
              <a:latin typeface="メイリオ" panose="020B0604030504040204" pitchFamily="50" charset="-128"/>
              <a:ea typeface="メイリオ" panose="020B0604030504040204" pitchFamily="50" charset="-128"/>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rPr>
              <a:t>シナリオ設計</a:t>
            </a:r>
            <a:endParaRPr lang="en-US" altLang="ja-JP" sz="800" dirty="0">
              <a:solidFill>
                <a:schemeClr val="bg1">
                  <a:lumMod val="50000"/>
                </a:schemeClr>
              </a:solidFill>
              <a:latin typeface="メイリオ" panose="020B0604030504040204" pitchFamily="50" charset="-128"/>
              <a:ea typeface="メイリオ" panose="020B0604030504040204" pitchFamily="50" charset="-128"/>
            </a:endParaRPr>
          </a:p>
          <a:p>
            <a:r>
              <a:rPr lang="en-US" altLang="ja-JP" sz="800" dirty="0">
                <a:solidFill>
                  <a:schemeClr val="bg1">
                    <a:lumMod val="50000"/>
                  </a:schemeClr>
                </a:solidFill>
                <a:latin typeface="メイリオ" panose="020B0604030504040204" pitchFamily="50" charset="-128"/>
                <a:ea typeface="メイリオ" panose="020B0604030504040204" pitchFamily="50" charset="-128"/>
              </a:rPr>
              <a:t>etc...</a:t>
            </a:r>
          </a:p>
        </p:txBody>
      </p:sp>
    </p:spTree>
    <p:extLst>
      <p:ext uri="{BB962C8B-B14F-4D97-AF65-F5344CB8AC3E}">
        <p14:creationId xmlns:p14="http://schemas.microsoft.com/office/powerpoint/2010/main" val="212143481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1E9651-D02B-F1D5-7974-8EFB42339FA2}"/>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0D14D38F-F567-ACF2-CDEB-76004FDB5B5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636C1E2A-AC35-76CA-EBEE-CAD4F26CF45A}"/>
              </a:ext>
            </a:extLst>
          </p:cNvPr>
          <p:cNvSpPr/>
          <p:nvPr/>
        </p:nvSpPr>
        <p:spPr>
          <a:xfrm>
            <a:off x="1460711" y="3038203"/>
            <a:ext cx="6984604" cy="584775"/>
          </a:xfrm>
          <a:prstGeom prst="rect">
            <a:avLst/>
          </a:prstGeom>
        </p:spPr>
        <p:txBody>
          <a:bodyPr wrap="none">
            <a:spAutoFit/>
          </a:bodyPr>
          <a:lstStyle/>
          <a:p>
            <a:pPr algn="ctr"/>
            <a:r>
              <a:rPr lang="en-US" altLang="ja-JP"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公式アカウント運用のメリット</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70954333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B579F4-FB71-CB84-349D-670C2D29F6A3}"/>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4B1E45AF-D1E3-4DBA-4BB7-0857F699B7A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C6D5128D-AC86-A618-019E-D9FA2B942550}"/>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ファン化・自社アプリ登録に対して、</a:t>
            </a:r>
            <a:r>
              <a:rPr lang="en-US" altLang="ja-JP" sz="1400" dirty="0">
                <a:solidFill>
                  <a:srgbClr val="343434"/>
                </a:solidFill>
                <a:latin typeface="メイリオ" panose="020B0604030504040204" pitchFamily="50" charset="-128"/>
                <a:ea typeface="メイリオ" panose="020B0604030504040204" pitchFamily="50" charset="-128"/>
              </a:rPr>
              <a:t>”</a:t>
            </a:r>
            <a:r>
              <a:rPr lang="ja-JP" altLang="en-US" sz="1400" dirty="0">
                <a:solidFill>
                  <a:srgbClr val="343434"/>
                </a:solidFill>
                <a:latin typeface="メイリオ" panose="020B0604030504040204" pitchFamily="50" charset="-128"/>
                <a:ea typeface="メイリオ" panose="020B0604030504040204" pitchFamily="50" charset="-128"/>
              </a:rPr>
              <a:t>ハードルが高く感じる</a:t>
            </a:r>
            <a:r>
              <a:rPr lang="en-US" altLang="ja-JP" sz="1400" dirty="0">
                <a:solidFill>
                  <a:srgbClr val="343434"/>
                </a:solidFill>
                <a:latin typeface="メイリオ" panose="020B0604030504040204" pitchFamily="50" charset="-128"/>
                <a:ea typeface="メイリオ" panose="020B0604030504040204" pitchFamily="50" charset="-128"/>
              </a:rPr>
              <a:t>”</a:t>
            </a:r>
            <a:r>
              <a:rPr lang="ja-JP" altLang="en-US" sz="1400" dirty="0">
                <a:solidFill>
                  <a:srgbClr val="343434"/>
                </a:solidFill>
                <a:latin typeface="メイリオ" panose="020B0604030504040204" pitchFamily="50" charset="-128"/>
                <a:ea typeface="メイリオ" panose="020B0604030504040204" pitchFamily="50" charset="-128"/>
              </a:rPr>
              <a:t>ユーザーが増えている状況。</a:t>
            </a:r>
            <a:endParaRPr lang="en-US" altLang="ja-JP" sz="1400" dirty="0">
              <a:solidFill>
                <a:srgbClr val="343434"/>
              </a:solidFill>
              <a:latin typeface="メイリオ" panose="020B0604030504040204" pitchFamily="50" charset="-128"/>
              <a:ea typeface="メイリオ" panose="020B0604030504040204" pitchFamily="50" charset="-128"/>
            </a:endParaRPr>
          </a:p>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離脱防止 </a:t>
            </a:r>
            <a:r>
              <a:rPr lang="en-US" altLang="ja-JP" sz="1400" dirty="0">
                <a:solidFill>
                  <a:srgbClr val="343434"/>
                </a:solidFill>
                <a:latin typeface="メイリオ" panose="020B0604030504040204" pitchFamily="50" charset="-128"/>
                <a:ea typeface="メイリオ" panose="020B0604030504040204" pitchFamily="50" charset="-128"/>
              </a:rPr>
              <a:t>&gt;&gt; </a:t>
            </a:r>
            <a:r>
              <a:rPr lang="ja-JP" altLang="en-US" sz="1400" dirty="0">
                <a:solidFill>
                  <a:srgbClr val="343434"/>
                </a:solidFill>
                <a:latin typeface="メイリオ" panose="020B0604030504040204" pitchFamily="50" charset="-128"/>
                <a:ea typeface="メイリオ" panose="020B0604030504040204" pitchFamily="50" charset="-128"/>
              </a:rPr>
              <a:t>友だち追加 </a:t>
            </a:r>
            <a:r>
              <a:rPr lang="en-US" altLang="ja-JP" sz="1400" dirty="0">
                <a:solidFill>
                  <a:srgbClr val="343434"/>
                </a:solidFill>
                <a:latin typeface="メイリオ" panose="020B0604030504040204" pitchFamily="50" charset="-128"/>
                <a:ea typeface="メイリオ" panose="020B0604030504040204" pitchFamily="50" charset="-128"/>
              </a:rPr>
              <a:t>&gt;&gt; LINE</a:t>
            </a:r>
            <a:r>
              <a:rPr lang="ja-JP" altLang="en-US" sz="1400" dirty="0">
                <a:solidFill>
                  <a:srgbClr val="343434"/>
                </a:solidFill>
                <a:latin typeface="メイリオ" panose="020B0604030504040204" pitchFamily="50" charset="-128"/>
                <a:ea typeface="メイリオ" panose="020B0604030504040204" pitchFamily="50" charset="-128"/>
              </a:rPr>
              <a:t>で学習 </a:t>
            </a:r>
            <a:r>
              <a:rPr lang="en-US" altLang="ja-JP" sz="1400" dirty="0">
                <a:solidFill>
                  <a:srgbClr val="343434"/>
                </a:solidFill>
                <a:latin typeface="メイリオ" panose="020B0604030504040204" pitchFamily="50" charset="-128"/>
                <a:ea typeface="メイリオ" panose="020B0604030504040204" pitchFamily="50" charset="-128"/>
              </a:rPr>
              <a:t>&gt;&gt; </a:t>
            </a:r>
            <a:r>
              <a:rPr lang="ja-JP" altLang="en-US" sz="1400" dirty="0">
                <a:solidFill>
                  <a:srgbClr val="343434"/>
                </a:solidFill>
                <a:latin typeface="メイリオ" panose="020B0604030504040204" pitchFamily="50" charset="-128"/>
                <a:ea typeface="メイリオ" panose="020B0604030504040204" pitchFamily="50" charset="-128"/>
              </a:rPr>
              <a:t>リード獲得・利用 の導線設計でハードル抑えつつ運営が可能。</a:t>
            </a:r>
            <a:endParaRPr lang="en-US" altLang="ja-JP" sz="1400" dirty="0">
              <a:solidFill>
                <a:srgbClr val="343434"/>
              </a:solidFill>
              <a:latin typeface="メイリオ" panose="020B0604030504040204" pitchFamily="50" charset="-128"/>
              <a:ea typeface="メイリオ" panose="020B0604030504040204" pitchFamily="50" charset="-128"/>
            </a:endParaRPr>
          </a:p>
        </p:txBody>
      </p:sp>
      <p:cxnSp>
        <p:nvCxnSpPr>
          <p:cNvPr id="5" name="直線コネクタ 4">
            <a:extLst>
              <a:ext uri="{FF2B5EF4-FFF2-40B4-BE49-F238E27FC236}">
                <a16:creationId xmlns:a16="http://schemas.microsoft.com/office/drawing/2014/main" id="{5C1533E1-7172-D6F9-4659-AAF59CE221F1}"/>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5303208C-F2F3-3716-B706-B8EDA63E9750}"/>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Meiryo"/>
                <a:ea typeface="Meiryo"/>
                <a:cs typeface="Meiryo"/>
                <a:sym typeface="Meiryo"/>
              </a:rPr>
              <a:t>LINE</a:t>
            </a:r>
            <a:r>
              <a:rPr lang="ja-JP" altLang="en-US" sz="1600" b="1" dirty="0">
                <a:solidFill>
                  <a:srgbClr val="002060"/>
                </a:solidFill>
                <a:latin typeface="Meiryo"/>
                <a:ea typeface="Meiryo"/>
                <a:cs typeface="Meiryo"/>
                <a:sym typeface="Meiryo"/>
              </a:rPr>
              <a:t>公式アカウントを検討する背景</a:t>
            </a:r>
            <a:endParaRPr sz="1600" b="1" dirty="0">
              <a:solidFill>
                <a:srgbClr val="002060"/>
              </a:solidFill>
              <a:latin typeface="Meiryo"/>
              <a:ea typeface="Meiryo"/>
              <a:cs typeface="Meiryo"/>
              <a:sym typeface="Meiryo"/>
            </a:endParaRPr>
          </a:p>
        </p:txBody>
      </p:sp>
      <p:sp>
        <p:nvSpPr>
          <p:cNvPr id="2" name="台形 1">
            <a:extLst>
              <a:ext uri="{FF2B5EF4-FFF2-40B4-BE49-F238E27FC236}">
                <a16:creationId xmlns:a16="http://schemas.microsoft.com/office/drawing/2014/main" id="{6CEEA445-8026-0C8A-48B1-72329CC0C762}"/>
              </a:ext>
            </a:extLst>
          </p:cNvPr>
          <p:cNvSpPr/>
          <p:nvPr/>
        </p:nvSpPr>
        <p:spPr>
          <a:xfrm rot="10800000">
            <a:off x="548883" y="1844173"/>
            <a:ext cx="3274466" cy="604240"/>
          </a:xfrm>
          <a:prstGeom prst="trapezoid">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台形 5">
            <a:extLst>
              <a:ext uri="{FF2B5EF4-FFF2-40B4-BE49-F238E27FC236}">
                <a16:creationId xmlns:a16="http://schemas.microsoft.com/office/drawing/2014/main" id="{9F2F9E67-FA62-E2F6-550C-31986420B41E}"/>
              </a:ext>
            </a:extLst>
          </p:cNvPr>
          <p:cNvSpPr/>
          <p:nvPr/>
        </p:nvSpPr>
        <p:spPr>
          <a:xfrm rot="10800000">
            <a:off x="752147" y="2517920"/>
            <a:ext cx="2877705" cy="604240"/>
          </a:xfrm>
          <a:prstGeom prst="trapezoid">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台形 6">
            <a:extLst>
              <a:ext uri="{FF2B5EF4-FFF2-40B4-BE49-F238E27FC236}">
                <a16:creationId xmlns:a16="http://schemas.microsoft.com/office/drawing/2014/main" id="{B6E67C0E-450F-9501-7066-6FB44B603ACE}"/>
              </a:ext>
            </a:extLst>
          </p:cNvPr>
          <p:cNvSpPr/>
          <p:nvPr/>
        </p:nvSpPr>
        <p:spPr>
          <a:xfrm rot="10800000">
            <a:off x="963025" y="3191667"/>
            <a:ext cx="2430931" cy="604240"/>
          </a:xfrm>
          <a:prstGeom prst="trapezoid">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台形 7">
            <a:extLst>
              <a:ext uri="{FF2B5EF4-FFF2-40B4-BE49-F238E27FC236}">
                <a16:creationId xmlns:a16="http://schemas.microsoft.com/office/drawing/2014/main" id="{EC332CC3-1BFE-4336-94C4-337A6F76E30F}"/>
              </a:ext>
            </a:extLst>
          </p:cNvPr>
          <p:cNvSpPr/>
          <p:nvPr/>
        </p:nvSpPr>
        <p:spPr>
          <a:xfrm rot="10800000">
            <a:off x="1195275" y="3865414"/>
            <a:ext cx="1981682" cy="604240"/>
          </a:xfrm>
          <a:prstGeom prst="trapezoid">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台形 8">
            <a:extLst>
              <a:ext uri="{FF2B5EF4-FFF2-40B4-BE49-F238E27FC236}">
                <a16:creationId xmlns:a16="http://schemas.microsoft.com/office/drawing/2014/main" id="{9FA0DA39-CA3D-4A32-A88D-5F42671F47B8}"/>
              </a:ext>
            </a:extLst>
          </p:cNvPr>
          <p:cNvSpPr/>
          <p:nvPr/>
        </p:nvSpPr>
        <p:spPr>
          <a:xfrm rot="10800000">
            <a:off x="1422661" y="4539161"/>
            <a:ext cx="1536677" cy="604240"/>
          </a:xfrm>
          <a:prstGeom prst="trapezoid">
            <a:avLst/>
          </a:prstGeom>
          <a:solidFill>
            <a:schemeClr val="tx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台形 9">
            <a:extLst>
              <a:ext uri="{FF2B5EF4-FFF2-40B4-BE49-F238E27FC236}">
                <a16:creationId xmlns:a16="http://schemas.microsoft.com/office/drawing/2014/main" id="{1DAAE755-E19F-83A4-49AB-80FD2B8C6117}"/>
              </a:ext>
            </a:extLst>
          </p:cNvPr>
          <p:cNvSpPr/>
          <p:nvPr/>
        </p:nvSpPr>
        <p:spPr>
          <a:xfrm rot="10800000">
            <a:off x="1611466" y="5212908"/>
            <a:ext cx="1134047" cy="470263"/>
          </a:xfrm>
          <a:prstGeom prst="trapezoid">
            <a:avLst>
              <a:gd name="adj" fmla="val 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1" name="台形 10">
            <a:extLst>
              <a:ext uri="{FF2B5EF4-FFF2-40B4-BE49-F238E27FC236}">
                <a16:creationId xmlns:a16="http://schemas.microsoft.com/office/drawing/2014/main" id="{CE13A148-43A9-FACC-AA40-5B3C6364394E}"/>
              </a:ext>
            </a:extLst>
          </p:cNvPr>
          <p:cNvSpPr/>
          <p:nvPr/>
        </p:nvSpPr>
        <p:spPr>
          <a:xfrm rot="10800000">
            <a:off x="1611465" y="5752675"/>
            <a:ext cx="1134047" cy="470263"/>
          </a:xfrm>
          <a:prstGeom prst="trapezoid">
            <a:avLst>
              <a:gd name="adj" fmla="val 0"/>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3" name="テキスト ボックス 12">
            <a:extLst>
              <a:ext uri="{FF2B5EF4-FFF2-40B4-BE49-F238E27FC236}">
                <a16:creationId xmlns:a16="http://schemas.microsoft.com/office/drawing/2014/main" id="{927CB514-4619-59D1-450A-DDF1B29355E0}"/>
              </a:ext>
            </a:extLst>
          </p:cNvPr>
          <p:cNvSpPr txBox="1"/>
          <p:nvPr/>
        </p:nvSpPr>
        <p:spPr>
          <a:xfrm>
            <a:off x="1459558" y="5315094"/>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既存ユーザー</a:t>
            </a:r>
          </a:p>
        </p:txBody>
      </p:sp>
      <p:sp>
        <p:nvSpPr>
          <p:cNvPr id="14" name="テキスト ボックス 13">
            <a:extLst>
              <a:ext uri="{FF2B5EF4-FFF2-40B4-BE49-F238E27FC236}">
                <a16:creationId xmlns:a16="http://schemas.microsoft.com/office/drawing/2014/main" id="{CB3559A7-D98B-633E-360D-B9755713CB4A}"/>
              </a:ext>
            </a:extLst>
          </p:cNvPr>
          <p:cNvSpPr txBox="1"/>
          <p:nvPr/>
        </p:nvSpPr>
        <p:spPr>
          <a:xfrm>
            <a:off x="1458475" y="5884142"/>
            <a:ext cx="1437861" cy="2308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rPr>
              <a:t>リピート・ファン化</a:t>
            </a:r>
          </a:p>
        </p:txBody>
      </p:sp>
      <p:sp>
        <p:nvSpPr>
          <p:cNvPr id="15" name="テキスト ボックス 14">
            <a:extLst>
              <a:ext uri="{FF2B5EF4-FFF2-40B4-BE49-F238E27FC236}">
                <a16:creationId xmlns:a16="http://schemas.microsoft.com/office/drawing/2014/main" id="{6BF621D8-B54B-3C3E-20B9-51565ADCB9C9}"/>
              </a:ext>
            </a:extLst>
          </p:cNvPr>
          <p:cNvSpPr txBox="1"/>
          <p:nvPr/>
        </p:nvSpPr>
        <p:spPr>
          <a:xfrm>
            <a:off x="1467184" y="4684107"/>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リード獲得層</a:t>
            </a:r>
          </a:p>
        </p:txBody>
      </p:sp>
      <p:sp>
        <p:nvSpPr>
          <p:cNvPr id="16" name="テキスト ボックス 15">
            <a:extLst>
              <a:ext uri="{FF2B5EF4-FFF2-40B4-BE49-F238E27FC236}">
                <a16:creationId xmlns:a16="http://schemas.microsoft.com/office/drawing/2014/main" id="{AE6EDBBE-DC2E-D1B4-D90F-A1213B9D8FB2}"/>
              </a:ext>
            </a:extLst>
          </p:cNvPr>
          <p:cNvSpPr txBox="1"/>
          <p:nvPr/>
        </p:nvSpPr>
        <p:spPr>
          <a:xfrm>
            <a:off x="1467184" y="4054155"/>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顕在層</a:t>
            </a:r>
          </a:p>
        </p:txBody>
      </p:sp>
      <p:sp>
        <p:nvSpPr>
          <p:cNvPr id="17" name="テキスト ボックス 16">
            <a:extLst>
              <a:ext uri="{FF2B5EF4-FFF2-40B4-BE49-F238E27FC236}">
                <a16:creationId xmlns:a16="http://schemas.microsoft.com/office/drawing/2014/main" id="{742EB2DA-CD05-53A4-819B-B3E66F91159A}"/>
              </a:ext>
            </a:extLst>
          </p:cNvPr>
          <p:cNvSpPr txBox="1"/>
          <p:nvPr/>
        </p:nvSpPr>
        <p:spPr>
          <a:xfrm>
            <a:off x="1459558" y="3372927"/>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準顕在層</a:t>
            </a:r>
          </a:p>
        </p:txBody>
      </p:sp>
      <p:sp>
        <p:nvSpPr>
          <p:cNvPr id="18" name="テキスト ボックス 17">
            <a:extLst>
              <a:ext uri="{FF2B5EF4-FFF2-40B4-BE49-F238E27FC236}">
                <a16:creationId xmlns:a16="http://schemas.microsoft.com/office/drawing/2014/main" id="{EFAB44CD-3FC2-FB15-3D61-30AD87D19366}"/>
              </a:ext>
            </a:extLst>
          </p:cNvPr>
          <p:cNvSpPr txBox="1"/>
          <p:nvPr/>
        </p:nvSpPr>
        <p:spPr>
          <a:xfrm>
            <a:off x="1467184" y="2700215"/>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潜在層</a:t>
            </a:r>
          </a:p>
        </p:txBody>
      </p:sp>
      <p:sp>
        <p:nvSpPr>
          <p:cNvPr id="19" name="テキスト ボックス 18">
            <a:extLst>
              <a:ext uri="{FF2B5EF4-FFF2-40B4-BE49-F238E27FC236}">
                <a16:creationId xmlns:a16="http://schemas.microsoft.com/office/drawing/2014/main" id="{1514C466-C0C4-5FB6-74AF-13B6F4947391}"/>
              </a:ext>
            </a:extLst>
          </p:cNvPr>
          <p:cNvSpPr txBox="1"/>
          <p:nvPr/>
        </p:nvSpPr>
        <p:spPr>
          <a:xfrm>
            <a:off x="1478205" y="2007789"/>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興味関心なし 層</a:t>
            </a:r>
          </a:p>
        </p:txBody>
      </p:sp>
      <p:sp>
        <p:nvSpPr>
          <p:cNvPr id="22" name="台形 21">
            <a:extLst>
              <a:ext uri="{FF2B5EF4-FFF2-40B4-BE49-F238E27FC236}">
                <a16:creationId xmlns:a16="http://schemas.microsoft.com/office/drawing/2014/main" id="{9BACDF3F-A4E5-35A7-B870-B83B08A9B3FF}"/>
              </a:ext>
            </a:extLst>
          </p:cNvPr>
          <p:cNvSpPr/>
          <p:nvPr/>
        </p:nvSpPr>
        <p:spPr>
          <a:xfrm rot="10800000">
            <a:off x="7611914" y="4021152"/>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3" name="テキスト ボックス 22">
            <a:extLst>
              <a:ext uri="{FF2B5EF4-FFF2-40B4-BE49-F238E27FC236}">
                <a16:creationId xmlns:a16="http://schemas.microsoft.com/office/drawing/2014/main" id="{35A77394-5E5F-8C4D-28B8-74F4583DF5D0}"/>
              </a:ext>
            </a:extLst>
          </p:cNvPr>
          <p:cNvSpPr txBox="1"/>
          <p:nvPr/>
        </p:nvSpPr>
        <p:spPr>
          <a:xfrm>
            <a:off x="7655205" y="4152765"/>
            <a:ext cx="1739812" cy="230832"/>
          </a:xfrm>
          <a:prstGeom prst="rect">
            <a:avLst/>
          </a:prstGeom>
          <a:noFill/>
        </p:spPr>
        <p:txBody>
          <a:bodyPr wrap="square">
            <a:spAutoFit/>
          </a:bodyPr>
          <a:lstStyle/>
          <a:p>
            <a:pPr algn="ctr"/>
            <a:r>
              <a:rPr kumimoji="1" lang="en-US" altLang="ja-JP" sz="900" b="1" dirty="0">
                <a:solidFill>
                  <a:schemeClr val="bg1"/>
                </a:solidFill>
                <a:latin typeface="メイリオ" panose="020B0604030504040204" pitchFamily="50" charset="-128"/>
                <a:ea typeface="メイリオ" panose="020B0604030504040204" pitchFamily="50" charset="-128"/>
              </a:rPr>
              <a:t>※</a:t>
            </a:r>
            <a:r>
              <a:rPr kumimoji="1" lang="ja-JP" altLang="en-US" sz="900" b="1" dirty="0">
                <a:solidFill>
                  <a:schemeClr val="bg1"/>
                </a:solidFill>
                <a:latin typeface="メイリオ" panose="020B0604030504040204" pitchFamily="50" charset="-128"/>
                <a:ea typeface="メイリオ" panose="020B0604030504040204" pitchFamily="50" charset="-128"/>
              </a:rPr>
              <a:t>過去の顧客データを活用</a:t>
            </a:r>
          </a:p>
        </p:txBody>
      </p:sp>
      <p:sp>
        <p:nvSpPr>
          <p:cNvPr id="24" name="台形 23">
            <a:extLst>
              <a:ext uri="{FF2B5EF4-FFF2-40B4-BE49-F238E27FC236}">
                <a16:creationId xmlns:a16="http://schemas.microsoft.com/office/drawing/2014/main" id="{3B9CC8D9-DD20-6C2F-3BDD-BE9F5B8FFC38}"/>
              </a:ext>
            </a:extLst>
          </p:cNvPr>
          <p:cNvSpPr/>
          <p:nvPr/>
        </p:nvSpPr>
        <p:spPr>
          <a:xfrm rot="10800000">
            <a:off x="7611914" y="332031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5" name="テキスト ボックス 24">
            <a:extLst>
              <a:ext uri="{FF2B5EF4-FFF2-40B4-BE49-F238E27FC236}">
                <a16:creationId xmlns:a16="http://schemas.microsoft.com/office/drawing/2014/main" id="{342DD099-7AA1-F285-5FF9-42B4945A3099}"/>
              </a:ext>
            </a:extLst>
          </p:cNvPr>
          <p:cNvSpPr txBox="1"/>
          <p:nvPr/>
        </p:nvSpPr>
        <p:spPr>
          <a:xfrm>
            <a:off x="7655205" y="3377041"/>
            <a:ext cx="1739812" cy="3693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rPr>
              <a:t>離脱防止バナーにて</a:t>
            </a:r>
            <a:endParaRPr kumimoji="1" lang="en-US" altLang="ja-JP" sz="900" b="1" dirty="0">
              <a:solidFill>
                <a:schemeClr val="bg1"/>
              </a:solidFill>
              <a:latin typeface="メイリオ" panose="020B0604030504040204" pitchFamily="50" charset="-128"/>
              <a:ea typeface="メイリオ" panose="020B0604030504040204" pitchFamily="50" charset="-128"/>
            </a:endParaRPr>
          </a:p>
          <a:p>
            <a:pPr algn="ctr"/>
            <a:r>
              <a:rPr lang="ja-JP" altLang="en-US" sz="900" b="1" dirty="0">
                <a:solidFill>
                  <a:schemeClr val="bg1"/>
                </a:solidFill>
                <a:latin typeface="メイリオ" panose="020B0604030504040204" pitchFamily="50" charset="-128"/>
                <a:ea typeface="メイリオ" panose="020B0604030504040204" pitchFamily="50" charset="-128"/>
              </a:rPr>
              <a:t>検討段階ユーザーを</a:t>
            </a:r>
            <a:r>
              <a:rPr lang="en-US" altLang="ja-JP" sz="900" b="1" dirty="0">
                <a:solidFill>
                  <a:schemeClr val="bg1"/>
                </a:solidFill>
                <a:latin typeface="メイリオ" panose="020B0604030504040204" pitchFamily="50" charset="-128"/>
                <a:ea typeface="メイリオ" panose="020B0604030504040204" pitchFamily="50" charset="-128"/>
              </a:rPr>
              <a:t>LINE</a:t>
            </a:r>
            <a:r>
              <a:rPr lang="ja-JP" altLang="en-US" sz="900" b="1" dirty="0">
                <a:solidFill>
                  <a:schemeClr val="bg1"/>
                </a:solidFill>
                <a:latin typeface="メイリオ" panose="020B0604030504040204" pitchFamily="50" charset="-128"/>
                <a:ea typeface="メイリオ" panose="020B0604030504040204" pitchFamily="50" charset="-128"/>
              </a:rPr>
              <a:t>誘導</a:t>
            </a:r>
            <a:endParaRPr kumimoji="1" lang="ja-JP" altLang="en-US" sz="900" b="1" dirty="0">
              <a:solidFill>
                <a:schemeClr val="bg1"/>
              </a:solidFill>
              <a:latin typeface="メイリオ" panose="020B0604030504040204" pitchFamily="50" charset="-128"/>
              <a:ea typeface="メイリオ" panose="020B0604030504040204" pitchFamily="50" charset="-128"/>
            </a:endParaRPr>
          </a:p>
        </p:txBody>
      </p:sp>
      <p:sp>
        <p:nvSpPr>
          <p:cNvPr id="27" name="台形 26">
            <a:extLst>
              <a:ext uri="{FF2B5EF4-FFF2-40B4-BE49-F238E27FC236}">
                <a16:creationId xmlns:a16="http://schemas.microsoft.com/office/drawing/2014/main" id="{D95457DF-AF4B-4B8E-D6F2-2A10C8E1A4A2}"/>
              </a:ext>
            </a:extLst>
          </p:cNvPr>
          <p:cNvSpPr/>
          <p:nvPr/>
        </p:nvSpPr>
        <p:spPr>
          <a:xfrm rot="10800000">
            <a:off x="7611914" y="225703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2" name="テキスト ボックス 31">
            <a:extLst>
              <a:ext uri="{FF2B5EF4-FFF2-40B4-BE49-F238E27FC236}">
                <a16:creationId xmlns:a16="http://schemas.microsoft.com/office/drawing/2014/main" id="{D94F1D70-CF6B-885E-B41C-C70125B75219}"/>
              </a:ext>
            </a:extLst>
          </p:cNvPr>
          <p:cNvSpPr txBox="1"/>
          <p:nvPr/>
        </p:nvSpPr>
        <p:spPr>
          <a:xfrm>
            <a:off x="7655205" y="2313761"/>
            <a:ext cx="1739812" cy="3693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rPr>
              <a:t>接触、詳細ページ閲覧</a:t>
            </a:r>
            <a:endParaRPr kumimoji="1" lang="en-US" altLang="ja-JP" sz="900" b="1" dirty="0">
              <a:solidFill>
                <a:schemeClr val="bg1"/>
              </a:solidFill>
              <a:latin typeface="メイリオ" panose="020B0604030504040204" pitchFamily="50" charset="-128"/>
              <a:ea typeface="メイリオ" panose="020B0604030504040204" pitchFamily="50" charset="-128"/>
            </a:endParaRPr>
          </a:p>
          <a:p>
            <a:pPr algn="ctr"/>
            <a:r>
              <a:rPr lang="ja-JP" altLang="en-US" sz="900" b="1" dirty="0">
                <a:solidFill>
                  <a:schemeClr val="bg1"/>
                </a:solidFill>
                <a:latin typeface="メイリオ" panose="020B0604030504040204" pitchFamily="50" charset="-128"/>
                <a:ea typeface="メイリオ" panose="020B0604030504040204" pitchFamily="50" charset="-128"/>
              </a:rPr>
              <a:t>の動線での</a:t>
            </a:r>
            <a:r>
              <a:rPr lang="en-US" altLang="ja-JP" sz="900" b="1" dirty="0">
                <a:solidFill>
                  <a:schemeClr val="bg1"/>
                </a:solidFill>
                <a:latin typeface="メイリオ" panose="020B0604030504040204" pitchFamily="50" charset="-128"/>
                <a:ea typeface="メイリオ" panose="020B0604030504040204" pitchFamily="50" charset="-128"/>
              </a:rPr>
              <a:t>LINE</a:t>
            </a:r>
            <a:r>
              <a:rPr lang="ja-JP" altLang="en-US" sz="900" b="1" dirty="0">
                <a:solidFill>
                  <a:schemeClr val="bg1"/>
                </a:solidFill>
                <a:latin typeface="メイリオ" panose="020B0604030504040204" pitchFamily="50" charset="-128"/>
                <a:ea typeface="メイリオ" panose="020B0604030504040204" pitchFamily="50" charset="-128"/>
              </a:rPr>
              <a:t>誘導を整備</a:t>
            </a:r>
            <a:endParaRPr kumimoji="1" lang="ja-JP" altLang="en-US" sz="900" b="1" dirty="0">
              <a:solidFill>
                <a:schemeClr val="bg1"/>
              </a:solidFill>
              <a:latin typeface="メイリオ" panose="020B0604030504040204" pitchFamily="50" charset="-128"/>
              <a:ea typeface="メイリオ" panose="020B0604030504040204" pitchFamily="50" charset="-128"/>
            </a:endParaRPr>
          </a:p>
        </p:txBody>
      </p:sp>
      <p:sp>
        <p:nvSpPr>
          <p:cNvPr id="41" name="テキスト ボックス 40">
            <a:extLst>
              <a:ext uri="{FF2B5EF4-FFF2-40B4-BE49-F238E27FC236}">
                <a16:creationId xmlns:a16="http://schemas.microsoft.com/office/drawing/2014/main" id="{4E163946-1549-509D-4F46-C667EBDCE5EE}"/>
              </a:ext>
            </a:extLst>
          </p:cNvPr>
          <p:cNvSpPr txBox="1"/>
          <p:nvPr/>
        </p:nvSpPr>
        <p:spPr>
          <a:xfrm>
            <a:off x="7462272" y="1725706"/>
            <a:ext cx="2125679" cy="276999"/>
          </a:xfrm>
          <a:prstGeom prst="rect">
            <a:avLst/>
          </a:prstGeom>
          <a:solidFill>
            <a:schemeClr val="tx2"/>
          </a:solidFill>
        </p:spPr>
        <p:txBody>
          <a:bodyPr wrap="square">
            <a:spAutoFit/>
          </a:bodyPr>
          <a:lstStyle/>
          <a:p>
            <a:pPr algn="ctr"/>
            <a:r>
              <a:rPr lang="en-US" altLang="ja-JP" sz="1200" dirty="0">
                <a:solidFill>
                  <a:schemeClr val="bg1"/>
                </a:solidFill>
                <a:latin typeface="メイリオ" panose="020B0604030504040204" pitchFamily="50" charset="-128"/>
                <a:ea typeface="メイリオ" panose="020B0604030504040204" pitchFamily="50" charset="-128"/>
              </a:rPr>
              <a:t>DYM</a:t>
            </a:r>
            <a:r>
              <a:rPr lang="ja-JP" altLang="en-US" sz="1200" dirty="0">
                <a:solidFill>
                  <a:schemeClr val="bg1"/>
                </a:solidFill>
                <a:latin typeface="メイリオ" panose="020B0604030504040204" pitchFamily="50" charset="-128"/>
                <a:ea typeface="メイリオ" panose="020B0604030504040204" pitchFamily="50" charset="-128"/>
              </a:rPr>
              <a:t>施策</a:t>
            </a:r>
            <a:endParaRPr lang="ja-JP" altLang="en-US" sz="1200" dirty="0">
              <a:solidFill>
                <a:schemeClr val="bg1"/>
              </a:solidFill>
            </a:endParaRPr>
          </a:p>
        </p:txBody>
      </p:sp>
      <p:sp>
        <p:nvSpPr>
          <p:cNvPr id="44" name="テキスト ボックス 43">
            <a:extLst>
              <a:ext uri="{FF2B5EF4-FFF2-40B4-BE49-F238E27FC236}">
                <a16:creationId xmlns:a16="http://schemas.microsoft.com/office/drawing/2014/main" id="{CCE5C835-66DF-7ACC-2268-769AE89BC22D}"/>
              </a:ext>
            </a:extLst>
          </p:cNvPr>
          <p:cNvSpPr txBox="1"/>
          <p:nvPr/>
        </p:nvSpPr>
        <p:spPr>
          <a:xfrm>
            <a:off x="5273193" y="1735237"/>
            <a:ext cx="2125679" cy="276999"/>
          </a:xfrm>
          <a:prstGeom prst="rect">
            <a:avLst/>
          </a:prstGeom>
          <a:solidFill>
            <a:schemeClr val="tx1"/>
          </a:solidFill>
        </p:spPr>
        <p:txBody>
          <a:bodyPr wrap="square">
            <a:spAutoFit/>
          </a:bodyPr>
          <a:lstStyle/>
          <a:p>
            <a:pPr algn="ctr"/>
            <a:r>
              <a:rPr lang="ja-JP" altLang="en-US" sz="1200" dirty="0">
                <a:solidFill>
                  <a:schemeClr val="bg1"/>
                </a:solidFill>
                <a:latin typeface="メイリオ" panose="020B0604030504040204" pitchFamily="50" charset="-128"/>
                <a:ea typeface="メイリオ" panose="020B0604030504040204" pitchFamily="50" charset="-128"/>
              </a:rPr>
              <a:t>現状施策</a:t>
            </a:r>
            <a:endParaRPr lang="ja-JP" altLang="en-US" sz="1200" dirty="0">
              <a:solidFill>
                <a:schemeClr val="bg1"/>
              </a:solidFill>
            </a:endParaRPr>
          </a:p>
        </p:txBody>
      </p:sp>
      <p:sp>
        <p:nvSpPr>
          <p:cNvPr id="46" name="台形 45">
            <a:extLst>
              <a:ext uri="{FF2B5EF4-FFF2-40B4-BE49-F238E27FC236}">
                <a16:creationId xmlns:a16="http://schemas.microsoft.com/office/drawing/2014/main" id="{770C8367-24F5-979C-4481-908DE742DF1B}"/>
              </a:ext>
            </a:extLst>
          </p:cNvPr>
          <p:cNvSpPr/>
          <p:nvPr/>
        </p:nvSpPr>
        <p:spPr>
          <a:xfrm rot="10800000">
            <a:off x="7611914" y="572507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47" name="テキスト ボックス 46">
            <a:extLst>
              <a:ext uri="{FF2B5EF4-FFF2-40B4-BE49-F238E27FC236}">
                <a16:creationId xmlns:a16="http://schemas.microsoft.com/office/drawing/2014/main" id="{1353124E-927F-8496-8FC6-E6DD494A8DEA}"/>
              </a:ext>
            </a:extLst>
          </p:cNvPr>
          <p:cNvSpPr txBox="1"/>
          <p:nvPr/>
        </p:nvSpPr>
        <p:spPr>
          <a:xfrm>
            <a:off x="7655205" y="5785358"/>
            <a:ext cx="1739812" cy="3693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rPr>
              <a:t>定期購入・クロスセル</a:t>
            </a:r>
            <a:endParaRPr kumimoji="1" lang="en-US" altLang="ja-JP" sz="900" b="1" dirty="0">
              <a:solidFill>
                <a:schemeClr val="bg1"/>
              </a:solidFill>
              <a:latin typeface="メイリオ" panose="020B0604030504040204" pitchFamily="50" charset="-128"/>
              <a:ea typeface="メイリオ" panose="020B0604030504040204" pitchFamily="50" charset="-128"/>
            </a:endParaRPr>
          </a:p>
          <a:p>
            <a:pPr algn="ctr"/>
            <a:r>
              <a:rPr lang="ja-JP" altLang="en-US" sz="900" b="1" dirty="0">
                <a:solidFill>
                  <a:schemeClr val="bg1"/>
                </a:solidFill>
                <a:latin typeface="メイリオ" panose="020B0604030504040204" pitchFamily="50" charset="-128"/>
                <a:ea typeface="メイリオ" panose="020B0604030504040204" pitchFamily="50" charset="-128"/>
              </a:rPr>
              <a:t>商材への動線設計</a:t>
            </a:r>
            <a:endParaRPr kumimoji="1" lang="ja-JP" altLang="en-US" sz="900" b="1" dirty="0">
              <a:solidFill>
                <a:schemeClr val="bg1"/>
              </a:solidFill>
              <a:latin typeface="メイリオ" panose="020B0604030504040204" pitchFamily="50" charset="-128"/>
              <a:ea typeface="メイリオ" panose="020B0604030504040204" pitchFamily="50" charset="-128"/>
            </a:endParaRPr>
          </a:p>
        </p:txBody>
      </p:sp>
      <p:sp>
        <p:nvSpPr>
          <p:cNvPr id="48" name="台形 47">
            <a:extLst>
              <a:ext uri="{FF2B5EF4-FFF2-40B4-BE49-F238E27FC236}">
                <a16:creationId xmlns:a16="http://schemas.microsoft.com/office/drawing/2014/main" id="{BAFBCC32-B244-9AC5-0A18-C121D3B9BCDA}"/>
              </a:ext>
            </a:extLst>
          </p:cNvPr>
          <p:cNvSpPr/>
          <p:nvPr/>
        </p:nvSpPr>
        <p:spPr>
          <a:xfrm rot="10800000">
            <a:off x="7611914" y="5183481"/>
            <a:ext cx="1826395" cy="470263"/>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49" name="テキスト ボックス 48">
            <a:extLst>
              <a:ext uri="{FF2B5EF4-FFF2-40B4-BE49-F238E27FC236}">
                <a16:creationId xmlns:a16="http://schemas.microsoft.com/office/drawing/2014/main" id="{19BD53B7-C509-F64E-CB4B-C6D3341F3AD5}"/>
              </a:ext>
            </a:extLst>
          </p:cNvPr>
          <p:cNvSpPr txBox="1"/>
          <p:nvPr/>
        </p:nvSpPr>
        <p:spPr>
          <a:xfrm>
            <a:off x="7655205" y="5315094"/>
            <a:ext cx="1739812" cy="230832"/>
          </a:xfrm>
          <a:prstGeom prst="rect">
            <a:avLst/>
          </a:prstGeom>
          <a:noFill/>
        </p:spPr>
        <p:txBody>
          <a:bodyPr wrap="square">
            <a:spAutoFit/>
          </a:bodyPr>
          <a:lstStyle/>
          <a:p>
            <a:pPr algn="ctr"/>
            <a:r>
              <a:rPr kumimoji="1" lang="en-US" altLang="ja-JP" sz="900" b="1" dirty="0">
                <a:solidFill>
                  <a:schemeClr val="bg1"/>
                </a:solidFill>
                <a:latin typeface="メイリオ" panose="020B0604030504040204" pitchFamily="50" charset="-128"/>
                <a:ea typeface="メイリオ" panose="020B0604030504040204" pitchFamily="50" charset="-128"/>
              </a:rPr>
              <a:t>※ID</a:t>
            </a:r>
            <a:r>
              <a:rPr kumimoji="1" lang="ja-JP" altLang="en-US" sz="900" b="1" dirty="0">
                <a:solidFill>
                  <a:schemeClr val="bg1"/>
                </a:solidFill>
                <a:latin typeface="メイリオ" panose="020B0604030504040204" pitchFamily="50" charset="-128"/>
                <a:ea typeface="メイリオ" panose="020B0604030504040204" pitchFamily="50" charset="-128"/>
              </a:rPr>
              <a:t>連携特典等を表示</a:t>
            </a:r>
          </a:p>
        </p:txBody>
      </p:sp>
      <p:sp>
        <p:nvSpPr>
          <p:cNvPr id="50" name="台形 49">
            <a:extLst>
              <a:ext uri="{FF2B5EF4-FFF2-40B4-BE49-F238E27FC236}">
                <a16:creationId xmlns:a16="http://schemas.microsoft.com/office/drawing/2014/main" id="{3941D3AF-378C-FC85-0F44-DC7CE1041E69}"/>
              </a:ext>
            </a:extLst>
          </p:cNvPr>
          <p:cNvSpPr/>
          <p:nvPr/>
        </p:nvSpPr>
        <p:spPr>
          <a:xfrm rot="10800000">
            <a:off x="7611914" y="4683087"/>
            <a:ext cx="1826395" cy="470263"/>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51" name="テキスト ボックス 50">
            <a:extLst>
              <a:ext uri="{FF2B5EF4-FFF2-40B4-BE49-F238E27FC236}">
                <a16:creationId xmlns:a16="http://schemas.microsoft.com/office/drawing/2014/main" id="{04C3D2CB-85C1-FE9F-4777-E7D3AB629F25}"/>
              </a:ext>
            </a:extLst>
          </p:cNvPr>
          <p:cNvSpPr txBox="1"/>
          <p:nvPr/>
        </p:nvSpPr>
        <p:spPr>
          <a:xfrm>
            <a:off x="7655205" y="4814700"/>
            <a:ext cx="1739812" cy="230832"/>
          </a:xfrm>
          <a:prstGeom prst="rect">
            <a:avLst/>
          </a:prstGeom>
          <a:noFill/>
        </p:spPr>
        <p:txBody>
          <a:bodyPr wrap="square">
            <a:spAutoFit/>
          </a:bodyPr>
          <a:lstStyle/>
          <a:p>
            <a:pPr algn="ctr"/>
            <a:r>
              <a:rPr kumimoji="1" lang="en-US" altLang="ja-JP" sz="900" b="1" dirty="0">
                <a:solidFill>
                  <a:schemeClr val="bg1"/>
                </a:solidFill>
                <a:latin typeface="メイリオ" panose="020B0604030504040204" pitchFamily="50" charset="-128"/>
                <a:ea typeface="メイリオ" panose="020B0604030504040204" pitchFamily="50" charset="-128"/>
              </a:rPr>
              <a:t>※</a:t>
            </a:r>
            <a:r>
              <a:rPr kumimoji="1" lang="ja-JP" altLang="en-US" sz="900" b="1" dirty="0">
                <a:solidFill>
                  <a:schemeClr val="bg1"/>
                </a:solidFill>
                <a:latin typeface="メイリオ" panose="020B0604030504040204" pitchFamily="50" charset="-128"/>
                <a:ea typeface="メイリオ" panose="020B0604030504040204" pitchFamily="50" charset="-128"/>
              </a:rPr>
              <a:t>ミニアプリ・診断 →</a:t>
            </a:r>
            <a:r>
              <a:rPr lang="en-US" altLang="ja-JP" sz="900" b="1" dirty="0">
                <a:solidFill>
                  <a:schemeClr val="bg1"/>
                </a:solidFill>
                <a:latin typeface="メイリオ" panose="020B0604030504040204" pitchFamily="50" charset="-128"/>
                <a:ea typeface="メイリオ" panose="020B0604030504040204" pitchFamily="50" charset="-128"/>
              </a:rPr>
              <a:t> </a:t>
            </a:r>
            <a:r>
              <a:rPr lang="ja-JP" altLang="en-US" sz="900" b="1" dirty="0">
                <a:solidFill>
                  <a:schemeClr val="bg1"/>
                </a:solidFill>
                <a:latin typeface="メイリオ" panose="020B0604030504040204" pitchFamily="50" charset="-128"/>
                <a:ea typeface="メイリオ" panose="020B0604030504040204" pitchFamily="50" charset="-128"/>
              </a:rPr>
              <a:t>特典</a:t>
            </a:r>
            <a:endParaRPr kumimoji="1" lang="ja-JP" altLang="en-US" sz="900" b="1" dirty="0">
              <a:solidFill>
                <a:schemeClr val="bg1"/>
              </a:solidFill>
              <a:latin typeface="メイリオ" panose="020B0604030504040204" pitchFamily="50" charset="-128"/>
              <a:ea typeface="メイリオ" panose="020B0604030504040204" pitchFamily="50" charset="-128"/>
            </a:endParaRPr>
          </a:p>
        </p:txBody>
      </p:sp>
      <p:sp>
        <p:nvSpPr>
          <p:cNvPr id="57" name="台形 56">
            <a:extLst>
              <a:ext uri="{FF2B5EF4-FFF2-40B4-BE49-F238E27FC236}">
                <a16:creationId xmlns:a16="http://schemas.microsoft.com/office/drawing/2014/main" id="{B65081E4-37AB-CFC9-6ADB-B4EEA7844473}"/>
              </a:ext>
            </a:extLst>
          </p:cNvPr>
          <p:cNvSpPr/>
          <p:nvPr/>
        </p:nvSpPr>
        <p:spPr>
          <a:xfrm rot="10800000">
            <a:off x="8075757" y="6244548"/>
            <a:ext cx="1826395" cy="265450"/>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58" name="テキスト ボックス 57">
            <a:extLst>
              <a:ext uri="{FF2B5EF4-FFF2-40B4-BE49-F238E27FC236}">
                <a16:creationId xmlns:a16="http://schemas.microsoft.com/office/drawing/2014/main" id="{84FBB3DE-B0A1-98BB-3108-365CAA2451B5}"/>
              </a:ext>
            </a:extLst>
          </p:cNvPr>
          <p:cNvSpPr txBox="1"/>
          <p:nvPr/>
        </p:nvSpPr>
        <p:spPr>
          <a:xfrm>
            <a:off x="8198333" y="6267085"/>
            <a:ext cx="1581242" cy="246221"/>
          </a:xfrm>
          <a:prstGeom prst="rect">
            <a:avLst/>
          </a:prstGeom>
          <a:noFill/>
        </p:spPr>
        <p:txBody>
          <a:bodyPr wrap="square">
            <a:spAutoFit/>
          </a:bodyPr>
          <a:lstStyle/>
          <a:p>
            <a:pPr algn="ctr"/>
            <a:r>
              <a:rPr kumimoji="1" lang="en-US" altLang="ja-JP" sz="1000" dirty="0">
                <a:solidFill>
                  <a:schemeClr val="bg1"/>
                </a:solidFill>
                <a:latin typeface="メイリオ" panose="020B0604030504040204" pitchFamily="50" charset="-128"/>
                <a:ea typeface="メイリオ" panose="020B0604030504040204" pitchFamily="50" charset="-128"/>
              </a:rPr>
              <a:t>※</a:t>
            </a:r>
            <a:r>
              <a:rPr kumimoji="1" lang="ja-JP" altLang="en-US" sz="1000" dirty="0">
                <a:solidFill>
                  <a:schemeClr val="bg1"/>
                </a:solidFill>
                <a:latin typeface="メイリオ" panose="020B0604030504040204" pitchFamily="50" charset="-128"/>
                <a:ea typeface="メイリオ" panose="020B0604030504040204" pitchFamily="50" charset="-128"/>
              </a:rPr>
              <a:t>長期施策として想定</a:t>
            </a:r>
          </a:p>
        </p:txBody>
      </p:sp>
      <p:sp>
        <p:nvSpPr>
          <p:cNvPr id="38" name="台形 37">
            <a:extLst>
              <a:ext uri="{FF2B5EF4-FFF2-40B4-BE49-F238E27FC236}">
                <a16:creationId xmlns:a16="http://schemas.microsoft.com/office/drawing/2014/main" id="{E53AF788-4E7A-2498-3387-439141AF8B85}"/>
              </a:ext>
            </a:extLst>
          </p:cNvPr>
          <p:cNvSpPr/>
          <p:nvPr/>
        </p:nvSpPr>
        <p:spPr>
          <a:xfrm rot="10800000" flipV="1">
            <a:off x="5413000" y="2265395"/>
            <a:ext cx="1826395" cy="3929946"/>
          </a:xfrm>
          <a:prstGeom prst="trapezoid">
            <a:avLst>
              <a:gd name="adj" fmla="val 0"/>
            </a:avLst>
          </a:prstGeom>
          <a:solidFill>
            <a:schemeClr val="bg1">
              <a:lumMod val="95000"/>
              <a:alpha val="67000"/>
            </a:schemeClr>
          </a:solidFill>
          <a:ln w="952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solidFill>
                <a:latin typeface="メイリオ" panose="020B0604030504040204" pitchFamily="50" charset="-128"/>
                <a:ea typeface="メイリオ" panose="020B0604030504040204" pitchFamily="50" charset="-128"/>
              </a:rPr>
              <a:t>ヒアリングの上</a:t>
            </a:r>
            <a:endParaRPr lang="en-US" altLang="ja-JP" sz="1050" b="1" dirty="0">
              <a:solidFill>
                <a:schemeClr val="tx1"/>
              </a:solidFill>
              <a:latin typeface="メイリオ" panose="020B0604030504040204" pitchFamily="50" charset="-128"/>
              <a:ea typeface="メイリオ" panose="020B0604030504040204" pitchFamily="50" charset="-128"/>
            </a:endParaRPr>
          </a:p>
          <a:p>
            <a:pPr algn="ctr"/>
            <a:r>
              <a:rPr kumimoji="1" lang="ja-JP" altLang="en-US" sz="1050" b="1" dirty="0">
                <a:solidFill>
                  <a:schemeClr val="tx1"/>
                </a:solidFill>
                <a:latin typeface="メイリオ" panose="020B0604030504040204" pitchFamily="50" charset="-128"/>
                <a:ea typeface="メイリオ" panose="020B0604030504040204" pitchFamily="50" charset="-128"/>
              </a:rPr>
              <a:t>確定</a:t>
            </a:r>
          </a:p>
        </p:txBody>
      </p:sp>
      <p:sp>
        <p:nvSpPr>
          <p:cNvPr id="12" name="矢印: 下 11">
            <a:extLst>
              <a:ext uri="{FF2B5EF4-FFF2-40B4-BE49-F238E27FC236}">
                <a16:creationId xmlns:a16="http://schemas.microsoft.com/office/drawing/2014/main" id="{06D6460A-91B3-70D3-5D14-11DFAD84B566}"/>
              </a:ext>
            </a:extLst>
          </p:cNvPr>
          <p:cNvSpPr/>
          <p:nvPr/>
        </p:nvSpPr>
        <p:spPr>
          <a:xfrm>
            <a:off x="4075746" y="1862186"/>
            <a:ext cx="1134047" cy="4292485"/>
          </a:xfrm>
          <a:prstGeom prst="downArrow">
            <a:avLst/>
          </a:prstGeom>
          <a:gradFill>
            <a:gsLst>
              <a:gs pos="0">
                <a:srgbClr val="FDFDFD"/>
              </a:gs>
              <a:gs pos="100000">
                <a:schemeClr val="accent3">
                  <a:lumMod val="20000"/>
                  <a:lumOff val="8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テキスト ボックス 19">
            <a:extLst>
              <a:ext uri="{FF2B5EF4-FFF2-40B4-BE49-F238E27FC236}">
                <a16:creationId xmlns:a16="http://schemas.microsoft.com/office/drawing/2014/main" id="{ED28F54A-7862-D06F-CFB5-B49F4F603D20}"/>
              </a:ext>
            </a:extLst>
          </p:cNvPr>
          <p:cNvSpPr txBox="1"/>
          <p:nvPr/>
        </p:nvSpPr>
        <p:spPr>
          <a:xfrm>
            <a:off x="3578823" y="5448078"/>
            <a:ext cx="2127892" cy="276999"/>
          </a:xfrm>
          <a:prstGeom prst="rect">
            <a:avLst/>
          </a:prstGeom>
          <a:noFill/>
        </p:spPr>
        <p:txBody>
          <a:bodyPr wrap="square">
            <a:spAutoFit/>
          </a:bodyPr>
          <a:lstStyle/>
          <a:p>
            <a:pPr algn="ctr"/>
            <a:r>
              <a:rPr kumimoji="1" lang="en-US" altLang="ja-JP" sz="1200" b="1" dirty="0">
                <a:latin typeface="メイリオ" panose="020B0604030504040204" pitchFamily="50" charset="-128"/>
                <a:ea typeface="メイリオ" panose="020B0604030504040204" pitchFamily="50" charset="-128"/>
              </a:rPr>
              <a:t>LINE </a:t>
            </a:r>
            <a:r>
              <a:rPr kumimoji="1" lang="ja-JP" altLang="en-US" sz="1200" b="1" dirty="0">
                <a:latin typeface="メイリオ" panose="020B0604030504040204" pitchFamily="50" charset="-128"/>
                <a:ea typeface="メイリオ" panose="020B0604030504040204" pitchFamily="50" charset="-128"/>
              </a:rPr>
              <a:t>ミニアプリ</a:t>
            </a:r>
          </a:p>
        </p:txBody>
      </p:sp>
      <p:sp>
        <p:nvSpPr>
          <p:cNvPr id="21" name="テキスト ボックス 20">
            <a:extLst>
              <a:ext uri="{FF2B5EF4-FFF2-40B4-BE49-F238E27FC236}">
                <a16:creationId xmlns:a16="http://schemas.microsoft.com/office/drawing/2014/main" id="{56067991-5512-33D9-BAFF-EBE3BE4E55D1}"/>
              </a:ext>
            </a:extLst>
          </p:cNvPr>
          <p:cNvSpPr txBox="1"/>
          <p:nvPr/>
        </p:nvSpPr>
        <p:spPr>
          <a:xfrm>
            <a:off x="3578823" y="3803604"/>
            <a:ext cx="2127892" cy="276999"/>
          </a:xfrm>
          <a:prstGeom prst="rect">
            <a:avLst/>
          </a:prstGeom>
          <a:noFill/>
        </p:spPr>
        <p:txBody>
          <a:bodyPr wrap="square">
            <a:spAutoFit/>
          </a:bodyPr>
          <a:lstStyle/>
          <a:p>
            <a:pPr algn="ctr"/>
            <a:r>
              <a:rPr kumimoji="1" lang="en-US" altLang="ja-JP" sz="1200" b="1" dirty="0">
                <a:latin typeface="メイリオ" panose="020B0604030504040204" pitchFamily="50" charset="-128"/>
                <a:ea typeface="メイリオ" panose="020B0604030504040204" pitchFamily="50" charset="-128"/>
              </a:rPr>
              <a:t>LINE</a:t>
            </a:r>
            <a:r>
              <a:rPr kumimoji="1" lang="ja-JP" altLang="en-US" sz="1200" b="1" dirty="0">
                <a:latin typeface="メイリオ" panose="020B0604030504040204" pitchFamily="50" charset="-128"/>
                <a:ea typeface="メイリオ" panose="020B0604030504040204" pitchFamily="50" charset="-128"/>
              </a:rPr>
              <a:t>友だち</a:t>
            </a:r>
          </a:p>
        </p:txBody>
      </p:sp>
      <p:sp>
        <p:nvSpPr>
          <p:cNvPr id="26" name="テキスト ボックス 25">
            <a:extLst>
              <a:ext uri="{FF2B5EF4-FFF2-40B4-BE49-F238E27FC236}">
                <a16:creationId xmlns:a16="http://schemas.microsoft.com/office/drawing/2014/main" id="{6182F190-E0A8-5EE1-D9A3-5B13AA74C67A}"/>
              </a:ext>
            </a:extLst>
          </p:cNvPr>
          <p:cNvSpPr txBox="1"/>
          <p:nvPr/>
        </p:nvSpPr>
        <p:spPr>
          <a:xfrm>
            <a:off x="3578823" y="3347800"/>
            <a:ext cx="2127892" cy="276999"/>
          </a:xfrm>
          <a:prstGeom prst="rect">
            <a:avLst/>
          </a:prstGeom>
          <a:noFill/>
        </p:spPr>
        <p:txBody>
          <a:bodyPr wrap="square">
            <a:spAutoFit/>
          </a:bodyPr>
          <a:lstStyle/>
          <a:p>
            <a:pPr algn="ctr"/>
            <a:r>
              <a:rPr kumimoji="1" lang="ja-JP" altLang="en-US" sz="1200" b="1" dirty="0">
                <a:latin typeface="メイリオ" panose="020B0604030504040204" pitchFamily="50" charset="-128"/>
                <a:ea typeface="メイリオ" panose="020B0604030504040204" pitchFamily="50" charset="-128"/>
              </a:rPr>
              <a:t>離脱防止バナー</a:t>
            </a:r>
          </a:p>
        </p:txBody>
      </p:sp>
      <p:sp>
        <p:nvSpPr>
          <p:cNvPr id="36" name="テキスト ボックス 35">
            <a:extLst>
              <a:ext uri="{FF2B5EF4-FFF2-40B4-BE49-F238E27FC236}">
                <a16:creationId xmlns:a16="http://schemas.microsoft.com/office/drawing/2014/main" id="{D60AE015-CFAC-BAED-064E-14583E6CD31A}"/>
              </a:ext>
            </a:extLst>
          </p:cNvPr>
          <p:cNvSpPr txBox="1"/>
          <p:nvPr/>
        </p:nvSpPr>
        <p:spPr>
          <a:xfrm>
            <a:off x="3578823" y="1982662"/>
            <a:ext cx="2127892" cy="276999"/>
          </a:xfrm>
          <a:prstGeom prst="rect">
            <a:avLst/>
          </a:prstGeom>
          <a:noFill/>
        </p:spPr>
        <p:txBody>
          <a:bodyPr wrap="square">
            <a:spAutoFit/>
          </a:bodyPr>
          <a:lstStyle/>
          <a:p>
            <a:pPr algn="ctr"/>
            <a:r>
              <a:rPr kumimoji="1" lang="ja-JP" altLang="en-US" sz="1200" b="1" dirty="0">
                <a:solidFill>
                  <a:schemeClr val="bg1">
                    <a:lumMod val="65000"/>
                  </a:schemeClr>
                </a:solidFill>
                <a:latin typeface="メイリオ" panose="020B0604030504040204" pitchFamily="50" charset="-128"/>
                <a:ea typeface="メイリオ" panose="020B0604030504040204" pitchFamily="50" charset="-128"/>
              </a:rPr>
              <a:t>接触</a:t>
            </a:r>
          </a:p>
        </p:txBody>
      </p:sp>
      <p:sp>
        <p:nvSpPr>
          <p:cNvPr id="39" name="テキスト ボックス 38">
            <a:extLst>
              <a:ext uri="{FF2B5EF4-FFF2-40B4-BE49-F238E27FC236}">
                <a16:creationId xmlns:a16="http://schemas.microsoft.com/office/drawing/2014/main" id="{BDD6B11B-082B-2EC1-7CA1-262D7193544D}"/>
              </a:ext>
            </a:extLst>
          </p:cNvPr>
          <p:cNvSpPr txBox="1"/>
          <p:nvPr/>
        </p:nvSpPr>
        <p:spPr>
          <a:xfrm>
            <a:off x="3685871" y="5900751"/>
            <a:ext cx="1913793" cy="461665"/>
          </a:xfrm>
          <a:prstGeom prst="rect">
            <a:avLst/>
          </a:prstGeom>
          <a:noFill/>
        </p:spPr>
        <p:txBody>
          <a:bodyPr wrap="square">
            <a:spAutoFit/>
          </a:bodyPr>
          <a:lstStyle/>
          <a:p>
            <a:pPr algn="ctr"/>
            <a:r>
              <a:rPr kumimoji="1" lang="ja-JP" altLang="en-US" sz="1200" b="1" dirty="0">
                <a:latin typeface="メイリオ" panose="020B0604030504040204" pitchFamily="50" charset="-128"/>
                <a:ea typeface="メイリオ" panose="020B0604030504040204" pitchFamily="50" charset="-128"/>
              </a:rPr>
              <a:t>自社</a:t>
            </a:r>
            <a:r>
              <a:rPr kumimoji="1" lang="en-US" altLang="ja-JP" sz="1200" b="1" dirty="0">
                <a:latin typeface="メイリオ" panose="020B0604030504040204" pitchFamily="50" charset="-128"/>
                <a:ea typeface="メイリオ" panose="020B0604030504040204" pitchFamily="50" charset="-128"/>
              </a:rPr>
              <a:t>App/</a:t>
            </a:r>
            <a:r>
              <a:rPr kumimoji="1" lang="ja-JP" altLang="en-US" sz="1200" b="1" dirty="0">
                <a:latin typeface="メイリオ" panose="020B0604030504040204" pitchFamily="50" charset="-128"/>
                <a:ea typeface="メイリオ" panose="020B0604030504040204" pitchFamily="50" charset="-128"/>
              </a:rPr>
              <a:t>ネットワーク</a:t>
            </a:r>
            <a:endParaRPr kumimoji="1" lang="en-US" altLang="ja-JP" sz="1200" b="1" dirty="0">
              <a:latin typeface="メイリオ" panose="020B0604030504040204" pitchFamily="50" charset="-128"/>
              <a:ea typeface="メイリオ" panose="020B0604030504040204" pitchFamily="50" charset="-128"/>
            </a:endParaRPr>
          </a:p>
          <a:p>
            <a:pPr algn="ctr"/>
            <a:r>
              <a:rPr lang="ja-JP" altLang="en-US" sz="1200" b="1" dirty="0">
                <a:latin typeface="メイリオ" panose="020B0604030504040204" pitchFamily="50" charset="-128"/>
                <a:ea typeface="メイリオ" panose="020B0604030504040204" pitchFamily="50" charset="-128"/>
              </a:rPr>
              <a:t>（</a:t>
            </a:r>
            <a:r>
              <a:rPr lang="en-US" altLang="ja-JP" sz="1200" b="1" dirty="0">
                <a:latin typeface="メイリオ" panose="020B0604030504040204" pitchFamily="50" charset="-128"/>
                <a:ea typeface="メイリオ" panose="020B0604030504040204" pitchFamily="50" charset="-128"/>
              </a:rPr>
              <a:t>ID</a:t>
            </a:r>
            <a:r>
              <a:rPr lang="ja-JP" altLang="en-US" sz="1200" b="1" dirty="0">
                <a:latin typeface="メイリオ" panose="020B0604030504040204" pitchFamily="50" charset="-128"/>
                <a:ea typeface="メイリオ" panose="020B0604030504040204" pitchFamily="50" charset="-128"/>
              </a:rPr>
              <a:t>連携等の開発）</a:t>
            </a:r>
            <a:endParaRPr kumimoji="1" lang="ja-JP" altLang="en-US" sz="1200" b="1" dirty="0">
              <a:latin typeface="メイリオ" panose="020B0604030504040204" pitchFamily="50" charset="-128"/>
              <a:ea typeface="メイリオ" panose="020B0604030504040204" pitchFamily="50" charset="-128"/>
            </a:endParaRPr>
          </a:p>
        </p:txBody>
      </p:sp>
      <p:sp>
        <p:nvSpPr>
          <p:cNvPr id="40" name="テキスト ボックス 39">
            <a:extLst>
              <a:ext uri="{FF2B5EF4-FFF2-40B4-BE49-F238E27FC236}">
                <a16:creationId xmlns:a16="http://schemas.microsoft.com/office/drawing/2014/main" id="{5842F9D0-B398-BB40-E6E0-1806610B3ABF}"/>
              </a:ext>
            </a:extLst>
          </p:cNvPr>
          <p:cNvSpPr txBox="1"/>
          <p:nvPr/>
        </p:nvSpPr>
        <p:spPr>
          <a:xfrm>
            <a:off x="3578823" y="2650866"/>
            <a:ext cx="2127892" cy="276999"/>
          </a:xfrm>
          <a:prstGeom prst="rect">
            <a:avLst/>
          </a:prstGeom>
          <a:noFill/>
        </p:spPr>
        <p:txBody>
          <a:bodyPr wrap="square">
            <a:spAutoFit/>
          </a:bodyPr>
          <a:lstStyle/>
          <a:p>
            <a:pPr algn="ctr"/>
            <a:r>
              <a:rPr kumimoji="1" lang="ja-JP" altLang="en-US" sz="1200" b="1" dirty="0">
                <a:solidFill>
                  <a:schemeClr val="bg1">
                    <a:lumMod val="65000"/>
                  </a:schemeClr>
                </a:solidFill>
                <a:latin typeface="メイリオ" panose="020B0604030504040204" pitchFamily="50" charset="-128"/>
                <a:ea typeface="メイリオ" panose="020B0604030504040204" pitchFamily="50" charset="-128"/>
              </a:rPr>
              <a:t>離脱</a:t>
            </a:r>
          </a:p>
        </p:txBody>
      </p:sp>
      <p:sp>
        <p:nvSpPr>
          <p:cNvPr id="42" name="テキスト ボックス 41">
            <a:extLst>
              <a:ext uri="{FF2B5EF4-FFF2-40B4-BE49-F238E27FC236}">
                <a16:creationId xmlns:a16="http://schemas.microsoft.com/office/drawing/2014/main" id="{65925534-D40D-9B46-2A4B-52FA9BA609A2}"/>
              </a:ext>
            </a:extLst>
          </p:cNvPr>
          <p:cNvSpPr txBox="1"/>
          <p:nvPr/>
        </p:nvSpPr>
        <p:spPr>
          <a:xfrm>
            <a:off x="3578823" y="4271087"/>
            <a:ext cx="2127892" cy="276999"/>
          </a:xfrm>
          <a:prstGeom prst="rect">
            <a:avLst/>
          </a:prstGeom>
          <a:noFill/>
        </p:spPr>
        <p:txBody>
          <a:bodyPr wrap="square">
            <a:spAutoFit/>
          </a:bodyPr>
          <a:lstStyle/>
          <a:p>
            <a:pPr algn="ctr"/>
            <a:r>
              <a:rPr lang="en-US" altLang="ja-JP" sz="1200" b="1" dirty="0">
                <a:latin typeface="メイリオ" panose="020B0604030504040204" pitchFamily="50" charset="-128"/>
                <a:ea typeface="メイリオ" panose="020B0604030504040204" pitchFamily="50" charset="-128"/>
              </a:rPr>
              <a:t>LINE</a:t>
            </a:r>
            <a:r>
              <a:rPr lang="ja-JP" altLang="en-US" sz="1200" b="1" dirty="0">
                <a:latin typeface="メイリオ" panose="020B0604030504040204" pitchFamily="50" charset="-128"/>
                <a:ea typeface="メイリオ" panose="020B0604030504040204" pitchFamily="50" charset="-128"/>
              </a:rPr>
              <a:t>でログイン</a:t>
            </a:r>
          </a:p>
        </p:txBody>
      </p:sp>
    </p:spTree>
    <p:extLst>
      <p:ext uri="{BB962C8B-B14F-4D97-AF65-F5344CB8AC3E}">
        <p14:creationId xmlns:p14="http://schemas.microsoft.com/office/powerpoint/2010/main" val="426513679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BCB9F207-E933-48A8-A62B-47A12C4BFADB}"/>
              </a:ext>
            </a:extLst>
          </p:cNvPr>
          <p:cNvSpPr/>
          <p:nvPr/>
        </p:nvSpPr>
        <p:spPr>
          <a:xfrm>
            <a:off x="788963" y="824934"/>
            <a:ext cx="8328074" cy="3817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ユーザーコミュニケーションに、</a:t>
            </a:r>
            <a:r>
              <a:rPr lang="en-US" altLang="ja-JP" sz="1400" dirty="0" err="1">
                <a:solidFill>
                  <a:srgbClr val="343434"/>
                </a:solidFill>
                <a:latin typeface="メイリオ" panose="020B0604030504040204" pitchFamily="50" charset="-128"/>
                <a:ea typeface="メイリオ" panose="020B0604030504040204" pitchFamily="50" charset="-128"/>
              </a:rPr>
              <a:t>LINE公式アカウントを導入する</a:t>
            </a:r>
            <a:r>
              <a:rPr lang="ja-JP" altLang="en-US" sz="1400" dirty="0">
                <a:solidFill>
                  <a:srgbClr val="343434"/>
                </a:solidFill>
                <a:latin typeface="メイリオ" panose="020B0604030504040204" pitchFamily="50" charset="-128"/>
                <a:ea typeface="メイリオ" panose="020B0604030504040204" pitchFamily="50" charset="-128"/>
              </a:rPr>
              <a:t>法人</a:t>
            </a:r>
            <a:r>
              <a:rPr lang="en-US" altLang="ja-JP" sz="1400" dirty="0">
                <a:solidFill>
                  <a:srgbClr val="343434"/>
                </a:solidFill>
                <a:latin typeface="メイリオ" panose="020B0604030504040204" pitchFamily="50" charset="-128"/>
                <a:ea typeface="メイリオ" panose="020B0604030504040204" pitchFamily="50" charset="-128"/>
              </a:rPr>
              <a:t>が</a:t>
            </a:r>
            <a:r>
              <a:rPr lang="ja-JP" altLang="en-US" sz="1400" dirty="0">
                <a:solidFill>
                  <a:srgbClr val="343434"/>
                </a:solidFill>
                <a:latin typeface="メイリオ" panose="020B0604030504040204" pitchFamily="50" charset="-128"/>
                <a:ea typeface="メイリオ" panose="020B0604030504040204" pitchFamily="50" charset="-128"/>
              </a:rPr>
              <a:t>増加傾向</a:t>
            </a:r>
            <a:r>
              <a:rPr lang="en-US" altLang="ja-JP" sz="1400" dirty="0">
                <a:solidFill>
                  <a:srgbClr val="343434"/>
                </a:solidFill>
                <a:latin typeface="メイリオ" panose="020B0604030504040204" pitchFamily="50" charset="-128"/>
                <a:ea typeface="メイリオ" panose="020B0604030504040204" pitchFamily="50" charset="-128"/>
              </a:rPr>
              <a:t>。</a:t>
            </a:r>
          </a:p>
          <a:p>
            <a:pPr algn="ctr">
              <a:lnSpc>
                <a:spcPts val="2455"/>
              </a:lnSpc>
            </a:pPr>
            <a:r>
              <a:rPr lang="en-US" altLang="ja-JP" sz="1400" b="1" dirty="0">
                <a:solidFill>
                  <a:srgbClr val="343434"/>
                </a:solidFill>
                <a:latin typeface="メイリオ" panose="020B0604030504040204" pitchFamily="50" charset="-128"/>
                <a:ea typeface="メイリオ" panose="020B0604030504040204" pitchFamily="50" charset="-128"/>
              </a:rPr>
              <a:t>開封率に関してはメールマガジンの6倍を誇る</a:t>
            </a:r>
            <a:r>
              <a:rPr lang="en-US" altLang="ja-JP" sz="1400" dirty="0">
                <a:solidFill>
                  <a:srgbClr val="343434"/>
                </a:solidFill>
                <a:latin typeface="メイリオ" panose="020B0604030504040204" pitchFamily="50" charset="-128"/>
                <a:ea typeface="メイリオ" panose="020B0604030504040204" pitchFamily="50" charset="-128"/>
              </a:rPr>
              <a:t>と言われています。</a:t>
            </a:r>
          </a:p>
        </p:txBody>
      </p:sp>
      <p:cxnSp>
        <p:nvCxnSpPr>
          <p:cNvPr id="9" name="直線コネクタ 8">
            <a:extLst>
              <a:ext uri="{FF2B5EF4-FFF2-40B4-BE49-F238E27FC236}">
                <a16:creationId xmlns:a16="http://schemas.microsoft.com/office/drawing/2014/main" id="{CA93CA45-604C-4C3A-A630-6604E0B4FD4A}"/>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grpSp>
        <p:nvGrpSpPr>
          <p:cNvPr id="10" name="Group 2">
            <a:extLst>
              <a:ext uri="{FF2B5EF4-FFF2-40B4-BE49-F238E27FC236}">
                <a16:creationId xmlns:a16="http://schemas.microsoft.com/office/drawing/2014/main" id="{8411FB04-4378-9C1F-7198-DA25276CF8E2}"/>
              </a:ext>
            </a:extLst>
          </p:cNvPr>
          <p:cNvGrpSpPr/>
          <p:nvPr/>
        </p:nvGrpSpPr>
        <p:grpSpPr>
          <a:xfrm>
            <a:off x="788963" y="1653447"/>
            <a:ext cx="8366061" cy="731867"/>
            <a:chOff x="0" y="0"/>
            <a:chExt cx="3130995" cy="273901"/>
          </a:xfrm>
        </p:grpSpPr>
        <p:sp>
          <p:nvSpPr>
            <p:cNvPr id="11" name="Freeform 3">
              <a:extLst>
                <a:ext uri="{FF2B5EF4-FFF2-40B4-BE49-F238E27FC236}">
                  <a16:creationId xmlns:a16="http://schemas.microsoft.com/office/drawing/2014/main" id="{DA30BE06-7392-13FD-69EB-48890255A158}"/>
                </a:ext>
              </a:extLst>
            </p:cNvPr>
            <p:cNvSpPr/>
            <p:nvPr/>
          </p:nvSpPr>
          <p:spPr>
            <a:xfrm>
              <a:off x="0" y="0"/>
              <a:ext cx="3130995" cy="273901"/>
            </a:xfrm>
            <a:custGeom>
              <a:avLst/>
              <a:gdLst/>
              <a:ahLst/>
              <a:cxnLst/>
              <a:rect l="l" t="t" r="r" b="b"/>
              <a:pathLst>
                <a:path w="3130995" h="273901">
                  <a:moveTo>
                    <a:pt x="12956" y="0"/>
                  </a:moveTo>
                  <a:lnTo>
                    <a:pt x="3118039" y="0"/>
                  </a:lnTo>
                  <a:cubicBezTo>
                    <a:pt x="3121475" y="0"/>
                    <a:pt x="3124771" y="1365"/>
                    <a:pt x="3127200" y="3795"/>
                  </a:cubicBezTo>
                  <a:cubicBezTo>
                    <a:pt x="3129630" y="6224"/>
                    <a:pt x="3130995" y="9520"/>
                    <a:pt x="3130995" y="12956"/>
                  </a:cubicBezTo>
                  <a:lnTo>
                    <a:pt x="3130995" y="260946"/>
                  </a:lnTo>
                  <a:cubicBezTo>
                    <a:pt x="3130995" y="264382"/>
                    <a:pt x="3129630" y="267677"/>
                    <a:pt x="3127200" y="270106"/>
                  </a:cubicBezTo>
                  <a:cubicBezTo>
                    <a:pt x="3124771" y="272536"/>
                    <a:pt x="3121475" y="273901"/>
                    <a:pt x="3118039" y="273901"/>
                  </a:cubicBezTo>
                  <a:lnTo>
                    <a:pt x="12956" y="273901"/>
                  </a:lnTo>
                  <a:cubicBezTo>
                    <a:pt x="9520" y="273901"/>
                    <a:pt x="6224" y="272536"/>
                    <a:pt x="3795" y="270106"/>
                  </a:cubicBezTo>
                  <a:cubicBezTo>
                    <a:pt x="1365" y="267677"/>
                    <a:pt x="0" y="264382"/>
                    <a:pt x="0" y="260946"/>
                  </a:cubicBezTo>
                  <a:lnTo>
                    <a:pt x="0" y="12956"/>
                  </a:lnTo>
                  <a:cubicBezTo>
                    <a:pt x="0" y="9520"/>
                    <a:pt x="1365" y="6224"/>
                    <a:pt x="3795" y="3795"/>
                  </a:cubicBezTo>
                  <a:cubicBezTo>
                    <a:pt x="6224" y="1365"/>
                    <a:pt x="9520" y="0"/>
                    <a:pt x="12956" y="0"/>
                  </a:cubicBezTo>
                  <a:close/>
                </a:path>
              </a:pathLst>
            </a:custGeom>
            <a:solidFill>
              <a:srgbClr val="D9D9D9"/>
            </a:solidFill>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12" name="TextBox 4">
              <a:extLst>
                <a:ext uri="{FF2B5EF4-FFF2-40B4-BE49-F238E27FC236}">
                  <a16:creationId xmlns:a16="http://schemas.microsoft.com/office/drawing/2014/main" id="{C283FFE9-487F-ECFB-11D7-47B424A23DE5}"/>
                </a:ext>
              </a:extLst>
            </p:cNvPr>
            <p:cNvSpPr txBox="1"/>
            <p:nvPr/>
          </p:nvSpPr>
          <p:spPr>
            <a:xfrm>
              <a:off x="0" y="-47625"/>
              <a:ext cx="3130995" cy="321526"/>
            </a:xfrm>
            <a:prstGeom prst="rect">
              <a:avLst/>
            </a:prstGeom>
          </p:spPr>
          <p:txBody>
            <a:bodyPr lIns="29700" tIns="29700" rIns="29700" bIns="29700" rtlCol="0" anchor="ctr"/>
            <a:lstStyle/>
            <a:p>
              <a:pPr algn="ctr">
                <a:lnSpc>
                  <a:spcPts val="2455"/>
                </a:lnSpc>
              </a:pPr>
              <a:r>
                <a:rPr lang="ja-JP" altLang="en-US" sz="1400" dirty="0">
                  <a:solidFill>
                    <a:srgbClr val="040606"/>
                  </a:solidFill>
                  <a:latin typeface="メイリオ" panose="020B0604030504040204" pitchFamily="50" charset="-128"/>
                  <a:ea typeface="メイリオ" panose="020B0604030504040204" pitchFamily="50" charset="-128"/>
                </a:rPr>
                <a:t>　　　　</a:t>
              </a:r>
              <a:r>
                <a:rPr lang="en-US" sz="1400" dirty="0" err="1">
                  <a:solidFill>
                    <a:srgbClr val="040606"/>
                  </a:solidFill>
                  <a:latin typeface="メイリオ" panose="020B0604030504040204" pitchFamily="50" charset="-128"/>
                  <a:ea typeface="メイリオ" panose="020B0604030504040204" pitchFamily="50" charset="-128"/>
                </a:rPr>
                <a:t>メールマガジン</a:t>
              </a:r>
              <a:r>
                <a:rPr lang="ja-JP" altLang="en-US" sz="1400" dirty="0" err="1">
                  <a:solidFill>
                    <a:srgbClr val="040606"/>
                  </a:solidFill>
                  <a:latin typeface="メイリオ" panose="020B0604030504040204" pitchFamily="50" charset="-128"/>
                  <a:ea typeface="メイリオ" panose="020B0604030504040204" pitchFamily="50" charset="-128"/>
                </a:rPr>
                <a:t>、</a:t>
              </a:r>
              <a:r>
                <a:rPr lang="ja-JP" altLang="en-US" sz="1400" dirty="0">
                  <a:solidFill>
                    <a:srgbClr val="040606"/>
                  </a:solidFill>
                  <a:latin typeface="メイリオ" panose="020B0604030504040204" pitchFamily="50" charset="-128"/>
                  <a:ea typeface="メイリオ" panose="020B0604030504040204" pitchFamily="50" charset="-128"/>
                </a:rPr>
                <a:t>テレマーケティング </a:t>
              </a:r>
              <a:r>
                <a:rPr lang="en-US" sz="1400" dirty="0" err="1">
                  <a:solidFill>
                    <a:srgbClr val="040606"/>
                  </a:solidFill>
                  <a:latin typeface="メイリオ" panose="020B0604030504040204" pitchFamily="50" charset="-128"/>
                  <a:ea typeface="メイリオ" panose="020B0604030504040204" pitchFamily="50" charset="-128"/>
                </a:rPr>
                <a:t>が主流</a:t>
              </a:r>
              <a:endParaRPr lang="en-US" sz="1400" dirty="0">
                <a:solidFill>
                  <a:srgbClr val="040606"/>
                </a:solidFill>
                <a:latin typeface="メイリオ" panose="020B0604030504040204" pitchFamily="50" charset="-128"/>
                <a:ea typeface="メイリオ" panose="020B0604030504040204" pitchFamily="50" charset="-128"/>
              </a:endParaRPr>
            </a:p>
          </p:txBody>
        </p:sp>
      </p:grpSp>
      <p:sp>
        <p:nvSpPr>
          <p:cNvPr id="13" name="Freeform 5">
            <a:extLst>
              <a:ext uri="{FF2B5EF4-FFF2-40B4-BE49-F238E27FC236}">
                <a16:creationId xmlns:a16="http://schemas.microsoft.com/office/drawing/2014/main" id="{92B274FD-6C4B-BF09-92C7-B918BFE86EBE}"/>
              </a:ext>
            </a:extLst>
          </p:cNvPr>
          <p:cNvSpPr/>
          <p:nvPr/>
        </p:nvSpPr>
        <p:spPr>
          <a:xfrm>
            <a:off x="1044952" y="1864063"/>
            <a:ext cx="586512" cy="415690"/>
          </a:xfrm>
          <a:custGeom>
            <a:avLst/>
            <a:gdLst/>
            <a:ahLst/>
            <a:cxnLst/>
            <a:rect l="l" t="t" r="r" b="b"/>
            <a:pathLst>
              <a:path w="586512" h="415690">
                <a:moveTo>
                  <a:pt x="0" y="0"/>
                </a:moveTo>
                <a:lnTo>
                  <a:pt x="586512" y="0"/>
                </a:lnTo>
                <a:lnTo>
                  <a:pt x="586512" y="415691"/>
                </a:lnTo>
                <a:lnTo>
                  <a:pt x="0" y="41569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endParaRPr>
          </a:p>
        </p:txBody>
      </p:sp>
      <p:sp>
        <p:nvSpPr>
          <p:cNvPr id="14" name="Freeform 6">
            <a:extLst>
              <a:ext uri="{FF2B5EF4-FFF2-40B4-BE49-F238E27FC236}">
                <a16:creationId xmlns:a16="http://schemas.microsoft.com/office/drawing/2014/main" id="{BE4175CE-3408-B9E2-6CB8-BAD8904A8563}"/>
              </a:ext>
            </a:extLst>
          </p:cNvPr>
          <p:cNvSpPr/>
          <p:nvPr/>
        </p:nvSpPr>
        <p:spPr>
          <a:xfrm>
            <a:off x="1828420" y="1769085"/>
            <a:ext cx="385149" cy="302824"/>
          </a:xfrm>
          <a:custGeom>
            <a:avLst/>
            <a:gdLst/>
            <a:ahLst/>
            <a:cxnLst/>
            <a:rect l="l" t="t" r="r" b="b"/>
            <a:pathLst>
              <a:path w="385149" h="302824">
                <a:moveTo>
                  <a:pt x="0" y="0"/>
                </a:moveTo>
                <a:lnTo>
                  <a:pt x="385150" y="0"/>
                </a:lnTo>
                <a:lnTo>
                  <a:pt x="385150" y="302824"/>
                </a:lnTo>
                <a:lnTo>
                  <a:pt x="0" y="30282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endParaRPr>
          </a:p>
        </p:txBody>
      </p:sp>
      <p:grpSp>
        <p:nvGrpSpPr>
          <p:cNvPr id="15" name="Group 7">
            <a:extLst>
              <a:ext uri="{FF2B5EF4-FFF2-40B4-BE49-F238E27FC236}">
                <a16:creationId xmlns:a16="http://schemas.microsoft.com/office/drawing/2014/main" id="{0D673740-D652-7CA2-D522-30AA6E6BB082}"/>
              </a:ext>
            </a:extLst>
          </p:cNvPr>
          <p:cNvGrpSpPr/>
          <p:nvPr/>
        </p:nvGrpSpPr>
        <p:grpSpPr>
          <a:xfrm>
            <a:off x="4762596" y="2450266"/>
            <a:ext cx="418793" cy="197815"/>
            <a:chOff x="0" y="0"/>
            <a:chExt cx="812800" cy="383922"/>
          </a:xfrm>
        </p:grpSpPr>
        <p:sp>
          <p:nvSpPr>
            <p:cNvPr id="16" name="Freeform 8">
              <a:extLst>
                <a:ext uri="{FF2B5EF4-FFF2-40B4-BE49-F238E27FC236}">
                  <a16:creationId xmlns:a16="http://schemas.microsoft.com/office/drawing/2014/main" id="{EC35FB35-F0A3-935B-D05E-B8D1AE53C824}"/>
                </a:ext>
              </a:extLst>
            </p:cNvPr>
            <p:cNvSpPr/>
            <p:nvPr/>
          </p:nvSpPr>
          <p:spPr>
            <a:xfrm>
              <a:off x="0" y="0"/>
              <a:ext cx="812800" cy="383922"/>
            </a:xfrm>
            <a:custGeom>
              <a:avLst/>
              <a:gdLst/>
              <a:ahLst/>
              <a:cxnLst/>
              <a:rect l="l" t="t" r="r" b="b"/>
              <a:pathLst>
                <a:path w="812800" h="383922">
                  <a:moveTo>
                    <a:pt x="406400" y="383922"/>
                  </a:moveTo>
                  <a:lnTo>
                    <a:pt x="812800" y="0"/>
                  </a:lnTo>
                  <a:lnTo>
                    <a:pt x="0" y="0"/>
                  </a:lnTo>
                  <a:lnTo>
                    <a:pt x="406400" y="383922"/>
                  </a:lnTo>
                  <a:close/>
                </a:path>
              </a:pathLst>
            </a:custGeom>
            <a:solidFill>
              <a:srgbClr val="00B449"/>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17" name="TextBox 9">
              <a:extLst>
                <a:ext uri="{FF2B5EF4-FFF2-40B4-BE49-F238E27FC236}">
                  <a16:creationId xmlns:a16="http://schemas.microsoft.com/office/drawing/2014/main" id="{C69E28B5-A3A4-36F5-01DB-CB6A9BEF984F}"/>
                </a:ext>
              </a:extLst>
            </p:cNvPr>
            <p:cNvSpPr txBox="1"/>
            <p:nvPr/>
          </p:nvSpPr>
          <p:spPr>
            <a:xfrm>
              <a:off x="127000" y="-20202"/>
              <a:ext cx="558800" cy="225874"/>
            </a:xfrm>
            <a:prstGeom prst="rect">
              <a:avLst/>
            </a:prstGeom>
          </p:spPr>
          <p:txBody>
            <a:bodyPr lIns="29700" tIns="29700" rIns="29700" bIns="29700" rtlCol="0" anchor="ctr"/>
            <a:lstStyle/>
            <a:p>
              <a:pPr algn="ctr">
                <a:lnSpc>
                  <a:spcPts val="2046"/>
                </a:lnSpc>
              </a:pPr>
              <a:endParaRPr>
                <a:latin typeface="メイリオ" panose="020B0604030504040204" pitchFamily="50" charset="-128"/>
                <a:ea typeface="メイリオ" panose="020B0604030504040204" pitchFamily="50" charset="-128"/>
              </a:endParaRPr>
            </a:p>
          </p:txBody>
        </p:sp>
      </p:grpSp>
      <p:grpSp>
        <p:nvGrpSpPr>
          <p:cNvPr id="18" name="Group 10">
            <a:extLst>
              <a:ext uri="{FF2B5EF4-FFF2-40B4-BE49-F238E27FC236}">
                <a16:creationId xmlns:a16="http://schemas.microsoft.com/office/drawing/2014/main" id="{2D0D8876-267F-8994-0640-F07758F8E631}"/>
              </a:ext>
            </a:extLst>
          </p:cNvPr>
          <p:cNvGrpSpPr/>
          <p:nvPr/>
        </p:nvGrpSpPr>
        <p:grpSpPr>
          <a:xfrm>
            <a:off x="788963" y="2722429"/>
            <a:ext cx="8366061" cy="731867"/>
            <a:chOff x="0" y="0"/>
            <a:chExt cx="3130995" cy="273901"/>
          </a:xfrm>
        </p:grpSpPr>
        <p:sp>
          <p:nvSpPr>
            <p:cNvPr id="19" name="Freeform 11">
              <a:extLst>
                <a:ext uri="{FF2B5EF4-FFF2-40B4-BE49-F238E27FC236}">
                  <a16:creationId xmlns:a16="http://schemas.microsoft.com/office/drawing/2014/main" id="{C5CB9F64-A605-7D94-6D58-E12CBE069A72}"/>
                </a:ext>
              </a:extLst>
            </p:cNvPr>
            <p:cNvSpPr/>
            <p:nvPr/>
          </p:nvSpPr>
          <p:spPr>
            <a:xfrm>
              <a:off x="0" y="0"/>
              <a:ext cx="3130995" cy="273901"/>
            </a:xfrm>
            <a:custGeom>
              <a:avLst/>
              <a:gdLst/>
              <a:ahLst/>
              <a:cxnLst/>
              <a:rect l="l" t="t" r="r" b="b"/>
              <a:pathLst>
                <a:path w="3130995" h="273901">
                  <a:moveTo>
                    <a:pt x="12956" y="0"/>
                  </a:moveTo>
                  <a:lnTo>
                    <a:pt x="3118039" y="0"/>
                  </a:lnTo>
                  <a:cubicBezTo>
                    <a:pt x="3121475" y="0"/>
                    <a:pt x="3124771" y="1365"/>
                    <a:pt x="3127200" y="3795"/>
                  </a:cubicBezTo>
                  <a:cubicBezTo>
                    <a:pt x="3129630" y="6224"/>
                    <a:pt x="3130995" y="9520"/>
                    <a:pt x="3130995" y="12956"/>
                  </a:cubicBezTo>
                  <a:lnTo>
                    <a:pt x="3130995" y="260946"/>
                  </a:lnTo>
                  <a:cubicBezTo>
                    <a:pt x="3130995" y="264382"/>
                    <a:pt x="3129630" y="267677"/>
                    <a:pt x="3127200" y="270106"/>
                  </a:cubicBezTo>
                  <a:cubicBezTo>
                    <a:pt x="3124771" y="272536"/>
                    <a:pt x="3121475" y="273901"/>
                    <a:pt x="3118039" y="273901"/>
                  </a:cubicBezTo>
                  <a:lnTo>
                    <a:pt x="12956" y="273901"/>
                  </a:lnTo>
                  <a:cubicBezTo>
                    <a:pt x="9520" y="273901"/>
                    <a:pt x="6224" y="272536"/>
                    <a:pt x="3795" y="270106"/>
                  </a:cubicBezTo>
                  <a:cubicBezTo>
                    <a:pt x="1365" y="267677"/>
                    <a:pt x="0" y="264382"/>
                    <a:pt x="0" y="260946"/>
                  </a:cubicBezTo>
                  <a:lnTo>
                    <a:pt x="0" y="12956"/>
                  </a:lnTo>
                  <a:cubicBezTo>
                    <a:pt x="0" y="9520"/>
                    <a:pt x="1365" y="6224"/>
                    <a:pt x="3795" y="3795"/>
                  </a:cubicBezTo>
                  <a:cubicBezTo>
                    <a:pt x="6224" y="1365"/>
                    <a:pt x="9520" y="0"/>
                    <a:pt x="12956" y="0"/>
                  </a:cubicBezTo>
                  <a:close/>
                </a:path>
              </a:pathLst>
            </a:custGeom>
            <a:solidFill>
              <a:srgbClr val="D4F4E1"/>
            </a:solidFill>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20" name="TextBox 12">
              <a:extLst>
                <a:ext uri="{FF2B5EF4-FFF2-40B4-BE49-F238E27FC236}">
                  <a16:creationId xmlns:a16="http://schemas.microsoft.com/office/drawing/2014/main" id="{8175F01D-919F-5A71-EF4D-6A5F56166D72}"/>
                </a:ext>
              </a:extLst>
            </p:cNvPr>
            <p:cNvSpPr txBox="1"/>
            <p:nvPr/>
          </p:nvSpPr>
          <p:spPr>
            <a:xfrm>
              <a:off x="0" y="-47625"/>
              <a:ext cx="3130995" cy="321526"/>
            </a:xfrm>
            <a:prstGeom prst="rect">
              <a:avLst/>
            </a:prstGeom>
          </p:spPr>
          <p:txBody>
            <a:bodyPr lIns="29700" tIns="29700" rIns="29700" bIns="29700" rtlCol="0" anchor="ctr"/>
            <a:lstStyle/>
            <a:p>
              <a:pPr algn="ctr">
                <a:lnSpc>
                  <a:spcPts val="2455"/>
                </a:lnSpc>
              </a:pPr>
              <a:r>
                <a:rPr lang="ja-JP" altLang="en-US" sz="1400" b="1" dirty="0">
                  <a:solidFill>
                    <a:srgbClr val="00B900"/>
                  </a:solidFill>
                  <a:latin typeface="メイリオ" panose="020B0604030504040204" pitchFamily="50" charset="-128"/>
                  <a:ea typeface="メイリオ" panose="020B0604030504040204" pitchFamily="50" charset="-128"/>
                </a:rPr>
                <a:t>　　　　＋</a:t>
              </a:r>
              <a:r>
                <a:rPr lang="en-US" sz="1400" b="1" dirty="0">
                  <a:solidFill>
                    <a:srgbClr val="00B900"/>
                  </a:solidFill>
                  <a:latin typeface="メイリオ" panose="020B0604030504040204" pitchFamily="50" charset="-128"/>
                  <a:ea typeface="メイリオ" panose="020B0604030504040204" pitchFamily="50" charset="-128"/>
                </a:rPr>
                <a:t>LINE</a:t>
              </a:r>
              <a:r>
                <a:rPr lang="ja-JP" altLang="en-US" sz="1400" b="1" dirty="0">
                  <a:solidFill>
                    <a:srgbClr val="00B900"/>
                  </a:solidFill>
                  <a:latin typeface="メイリオ" panose="020B0604030504040204" pitchFamily="50" charset="-128"/>
                  <a:ea typeface="メイリオ" panose="020B0604030504040204" pitchFamily="50" charset="-128"/>
                </a:rPr>
                <a:t>公式アカウント</a:t>
              </a:r>
              <a:r>
                <a:rPr lang="en-US" sz="1400" b="1" dirty="0">
                  <a:solidFill>
                    <a:srgbClr val="00B900"/>
                  </a:solidFill>
                  <a:latin typeface="メイリオ" panose="020B0604030504040204" pitchFamily="50" charset="-128"/>
                  <a:ea typeface="メイリオ" panose="020B0604030504040204" pitchFamily="50" charset="-128"/>
                </a:rPr>
                <a:t> </a:t>
              </a:r>
              <a:r>
                <a:rPr lang="en-US" sz="1400" dirty="0" err="1">
                  <a:solidFill>
                    <a:srgbClr val="00B900"/>
                  </a:solidFill>
                  <a:latin typeface="メイリオ" panose="020B0604030504040204" pitchFamily="50" charset="-128"/>
                  <a:ea typeface="メイリオ" panose="020B0604030504040204" pitchFamily="50" charset="-128"/>
                </a:rPr>
                <a:t>が主流</a:t>
              </a:r>
              <a:endParaRPr lang="en-US" sz="1400" dirty="0">
                <a:solidFill>
                  <a:srgbClr val="00B900"/>
                </a:solidFill>
                <a:latin typeface="メイリオ" panose="020B0604030504040204" pitchFamily="50" charset="-128"/>
                <a:ea typeface="メイリオ" panose="020B0604030504040204" pitchFamily="50" charset="-128"/>
              </a:endParaRPr>
            </a:p>
          </p:txBody>
        </p:sp>
      </p:grpSp>
      <p:sp>
        <p:nvSpPr>
          <p:cNvPr id="21" name="Freeform 13">
            <a:extLst>
              <a:ext uri="{FF2B5EF4-FFF2-40B4-BE49-F238E27FC236}">
                <a16:creationId xmlns:a16="http://schemas.microsoft.com/office/drawing/2014/main" id="{6FCF9A47-57C4-D983-7A09-62A1C2DDB6B4}"/>
              </a:ext>
            </a:extLst>
          </p:cNvPr>
          <p:cNvSpPr/>
          <p:nvPr/>
        </p:nvSpPr>
        <p:spPr>
          <a:xfrm>
            <a:off x="1184666" y="2810458"/>
            <a:ext cx="307084" cy="555808"/>
          </a:xfrm>
          <a:custGeom>
            <a:avLst/>
            <a:gdLst/>
            <a:ahLst/>
            <a:cxnLst/>
            <a:rect l="l" t="t" r="r" b="b"/>
            <a:pathLst>
              <a:path w="307084" h="555808">
                <a:moveTo>
                  <a:pt x="0" y="0"/>
                </a:moveTo>
                <a:lnTo>
                  <a:pt x="307084" y="0"/>
                </a:lnTo>
                <a:lnTo>
                  <a:pt x="307084" y="555808"/>
                </a:lnTo>
                <a:lnTo>
                  <a:pt x="0" y="555808"/>
                </a:lnTo>
                <a:lnTo>
                  <a:pt x="0" y="0"/>
                </a:lnTo>
                <a:close/>
              </a:path>
            </a:pathLst>
          </a:custGeom>
          <a:blipFill>
            <a:blip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endParaRPr>
          </a:p>
        </p:txBody>
      </p:sp>
      <p:sp>
        <p:nvSpPr>
          <p:cNvPr id="22" name="Freeform 14">
            <a:extLst>
              <a:ext uri="{FF2B5EF4-FFF2-40B4-BE49-F238E27FC236}">
                <a16:creationId xmlns:a16="http://schemas.microsoft.com/office/drawing/2014/main" id="{EFB8EAC2-A5C6-6450-209B-316F851133C9}"/>
              </a:ext>
            </a:extLst>
          </p:cNvPr>
          <p:cNvSpPr/>
          <p:nvPr/>
        </p:nvSpPr>
        <p:spPr>
          <a:xfrm>
            <a:off x="1815677" y="2807175"/>
            <a:ext cx="397893" cy="397893"/>
          </a:xfrm>
          <a:custGeom>
            <a:avLst/>
            <a:gdLst/>
            <a:ahLst/>
            <a:cxnLst/>
            <a:rect l="l" t="t" r="r" b="b"/>
            <a:pathLst>
              <a:path w="397893" h="397893">
                <a:moveTo>
                  <a:pt x="0" y="0"/>
                </a:moveTo>
                <a:lnTo>
                  <a:pt x="397893" y="0"/>
                </a:lnTo>
                <a:lnTo>
                  <a:pt x="397893" y="397892"/>
                </a:lnTo>
                <a:lnTo>
                  <a:pt x="0" y="397892"/>
                </a:lnTo>
                <a:lnTo>
                  <a:pt x="0" y="0"/>
                </a:lnTo>
                <a:close/>
              </a:path>
            </a:pathLst>
          </a:custGeom>
          <a:blipFill>
            <a:blip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endParaRPr>
          </a:p>
        </p:txBody>
      </p:sp>
      <p:sp>
        <p:nvSpPr>
          <p:cNvPr id="24" name="TextBox 16">
            <a:extLst>
              <a:ext uri="{FF2B5EF4-FFF2-40B4-BE49-F238E27FC236}">
                <a16:creationId xmlns:a16="http://schemas.microsoft.com/office/drawing/2014/main" id="{654B7271-F862-F3D1-E65A-6C75F2F9021C}"/>
              </a:ext>
            </a:extLst>
          </p:cNvPr>
          <p:cNvSpPr txBox="1"/>
          <p:nvPr/>
        </p:nvSpPr>
        <p:spPr>
          <a:xfrm>
            <a:off x="2903784" y="3579302"/>
            <a:ext cx="2520582" cy="302006"/>
          </a:xfrm>
          <a:prstGeom prst="rect">
            <a:avLst/>
          </a:prstGeom>
        </p:spPr>
        <p:txBody>
          <a:bodyPr lIns="0" tIns="0" rIns="0" bIns="0" rtlCol="0" anchor="t">
            <a:spAutoFit/>
          </a:bodyPr>
          <a:lstStyle/>
          <a:p>
            <a:pPr algn="ctr">
              <a:lnSpc>
                <a:spcPts val="2455"/>
              </a:lnSpc>
            </a:pPr>
            <a:r>
              <a:rPr lang="en-US" sz="1400">
                <a:solidFill>
                  <a:srgbClr val="040606"/>
                </a:solidFill>
                <a:latin typeface="メイリオ" panose="020B0604030504040204" pitchFamily="50" charset="-128"/>
                <a:ea typeface="メイリオ" panose="020B0604030504040204" pitchFamily="50" charset="-128"/>
              </a:rPr>
              <a:t>メールマガジン</a:t>
            </a:r>
          </a:p>
        </p:txBody>
      </p:sp>
      <p:grpSp>
        <p:nvGrpSpPr>
          <p:cNvPr id="26" name="Group 18">
            <a:extLst>
              <a:ext uri="{FF2B5EF4-FFF2-40B4-BE49-F238E27FC236}">
                <a16:creationId xmlns:a16="http://schemas.microsoft.com/office/drawing/2014/main" id="{E238BF15-71F6-4126-96D0-3C58C8B7CB25}"/>
              </a:ext>
            </a:extLst>
          </p:cNvPr>
          <p:cNvGrpSpPr/>
          <p:nvPr/>
        </p:nvGrpSpPr>
        <p:grpSpPr>
          <a:xfrm>
            <a:off x="4026555" y="3972737"/>
            <a:ext cx="275039" cy="129913"/>
            <a:chOff x="0" y="0"/>
            <a:chExt cx="812800" cy="383922"/>
          </a:xfrm>
        </p:grpSpPr>
        <p:sp>
          <p:nvSpPr>
            <p:cNvPr id="27" name="Freeform 19">
              <a:extLst>
                <a:ext uri="{FF2B5EF4-FFF2-40B4-BE49-F238E27FC236}">
                  <a16:creationId xmlns:a16="http://schemas.microsoft.com/office/drawing/2014/main" id="{49FE6727-4EE8-5C24-6048-CAC6C3CB48D0}"/>
                </a:ext>
              </a:extLst>
            </p:cNvPr>
            <p:cNvSpPr/>
            <p:nvPr/>
          </p:nvSpPr>
          <p:spPr>
            <a:xfrm>
              <a:off x="0" y="0"/>
              <a:ext cx="812800" cy="383922"/>
            </a:xfrm>
            <a:custGeom>
              <a:avLst/>
              <a:gdLst/>
              <a:ahLst/>
              <a:cxnLst/>
              <a:rect l="l" t="t" r="r" b="b"/>
              <a:pathLst>
                <a:path w="812800" h="383922">
                  <a:moveTo>
                    <a:pt x="406400" y="383922"/>
                  </a:moveTo>
                  <a:lnTo>
                    <a:pt x="812800" y="0"/>
                  </a:lnTo>
                  <a:lnTo>
                    <a:pt x="0" y="0"/>
                  </a:lnTo>
                  <a:lnTo>
                    <a:pt x="406400" y="383922"/>
                  </a:lnTo>
                  <a:close/>
                </a:path>
              </a:pathLst>
            </a:custGeom>
            <a:solidFill>
              <a:srgbClr val="000000"/>
            </a:solidFill>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28" name="TextBox 20">
              <a:extLst>
                <a:ext uri="{FF2B5EF4-FFF2-40B4-BE49-F238E27FC236}">
                  <a16:creationId xmlns:a16="http://schemas.microsoft.com/office/drawing/2014/main" id="{D00B2C25-C04A-579B-6514-18301F922DD2}"/>
                </a:ext>
              </a:extLst>
            </p:cNvPr>
            <p:cNvSpPr txBox="1"/>
            <p:nvPr/>
          </p:nvSpPr>
          <p:spPr>
            <a:xfrm>
              <a:off x="127000" y="-20202"/>
              <a:ext cx="558800" cy="225874"/>
            </a:xfrm>
            <a:prstGeom prst="rect">
              <a:avLst/>
            </a:prstGeom>
          </p:spPr>
          <p:txBody>
            <a:bodyPr lIns="29700" tIns="29700" rIns="29700" bIns="29700" rtlCol="0" anchor="ctr"/>
            <a:lstStyle/>
            <a:p>
              <a:pPr algn="ctr">
                <a:lnSpc>
                  <a:spcPts val="2046"/>
                </a:lnSpc>
              </a:pPr>
              <a:endParaRPr sz="1400">
                <a:latin typeface="メイリオ" panose="020B0604030504040204" pitchFamily="50" charset="-128"/>
                <a:ea typeface="メイリオ" panose="020B0604030504040204" pitchFamily="50" charset="-128"/>
              </a:endParaRPr>
            </a:p>
          </p:txBody>
        </p:sp>
      </p:grpSp>
      <p:sp>
        <p:nvSpPr>
          <p:cNvPr id="32" name="AutoShape 24">
            <a:extLst>
              <a:ext uri="{FF2B5EF4-FFF2-40B4-BE49-F238E27FC236}">
                <a16:creationId xmlns:a16="http://schemas.microsoft.com/office/drawing/2014/main" id="{E12D8DCD-6939-B3D3-8747-7AB267084175}"/>
              </a:ext>
            </a:extLst>
          </p:cNvPr>
          <p:cNvSpPr/>
          <p:nvPr/>
        </p:nvSpPr>
        <p:spPr>
          <a:xfrm>
            <a:off x="1044962" y="4660284"/>
            <a:ext cx="7854082" cy="7039"/>
          </a:xfrm>
          <a:prstGeom prst="line">
            <a:avLst/>
          </a:prstGeom>
          <a:ln w="19050" cap="flat">
            <a:solidFill>
              <a:srgbClr val="000000"/>
            </a:solidFill>
            <a:prstDash val="sysDot"/>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33" name="TextBox 25">
            <a:extLst>
              <a:ext uri="{FF2B5EF4-FFF2-40B4-BE49-F238E27FC236}">
                <a16:creationId xmlns:a16="http://schemas.microsoft.com/office/drawing/2014/main" id="{27ACB4CE-9593-D530-6FC9-45474D0A87C8}"/>
              </a:ext>
            </a:extLst>
          </p:cNvPr>
          <p:cNvSpPr txBox="1"/>
          <p:nvPr/>
        </p:nvSpPr>
        <p:spPr>
          <a:xfrm>
            <a:off x="2752051" y="4197408"/>
            <a:ext cx="2937353" cy="302006"/>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rPr>
              <a:t>入力が面倒・間違いが発生</a:t>
            </a:r>
          </a:p>
        </p:txBody>
      </p:sp>
      <p:sp>
        <p:nvSpPr>
          <p:cNvPr id="34" name="AutoShape 26">
            <a:extLst>
              <a:ext uri="{FF2B5EF4-FFF2-40B4-BE49-F238E27FC236}">
                <a16:creationId xmlns:a16="http://schemas.microsoft.com/office/drawing/2014/main" id="{9DFA3AA3-EC46-59A7-ACD8-CFBFB3E6AC42}"/>
              </a:ext>
            </a:extLst>
          </p:cNvPr>
          <p:cNvSpPr/>
          <p:nvPr/>
        </p:nvSpPr>
        <p:spPr>
          <a:xfrm>
            <a:off x="2752093" y="3967169"/>
            <a:ext cx="2952531" cy="11138"/>
          </a:xfrm>
          <a:prstGeom prst="line">
            <a:avLst/>
          </a:prstGeom>
          <a:ln w="19050" cap="flat">
            <a:solidFill>
              <a:srgbClr val="000000"/>
            </a:solidFill>
            <a:prstDash val="solid"/>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35" name="TextBox 27">
            <a:extLst>
              <a:ext uri="{FF2B5EF4-FFF2-40B4-BE49-F238E27FC236}">
                <a16:creationId xmlns:a16="http://schemas.microsoft.com/office/drawing/2014/main" id="{8CBB54AF-4E8A-1541-1FBC-0122997F4D92}"/>
              </a:ext>
            </a:extLst>
          </p:cNvPr>
          <p:cNvSpPr txBox="1"/>
          <p:nvPr/>
        </p:nvSpPr>
        <p:spPr>
          <a:xfrm>
            <a:off x="2752051" y="4775623"/>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rPr>
              <a:t>迷惑メールなどに入る</a:t>
            </a:r>
          </a:p>
        </p:txBody>
      </p:sp>
      <p:sp>
        <p:nvSpPr>
          <p:cNvPr id="36" name="TextBox 28">
            <a:extLst>
              <a:ext uri="{FF2B5EF4-FFF2-40B4-BE49-F238E27FC236}">
                <a16:creationId xmlns:a16="http://schemas.microsoft.com/office/drawing/2014/main" id="{1890926C-AAF3-81C2-B57E-1FF89EF56E37}"/>
              </a:ext>
            </a:extLst>
          </p:cNvPr>
          <p:cNvSpPr txBox="1"/>
          <p:nvPr/>
        </p:nvSpPr>
        <p:spPr>
          <a:xfrm>
            <a:off x="2752051" y="5354773"/>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rPr>
              <a:t>10％</a:t>
            </a:r>
          </a:p>
        </p:txBody>
      </p:sp>
      <p:sp>
        <p:nvSpPr>
          <p:cNvPr id="37" name="TextBox 29">
            <a:extLst>
              <a:ext uri="{FF2B5EF4-FFF2-40B4-BE49-F238E27FC236}">
                <a16:creationId xmlns:a16="http://schemas.microsoft.com/office/drawing/2014/main" id="{EBE70ABF-86A0-2A2F-6768-A1AE13D1152D}"/>
              </a:ext>
            </a:extLst>
          </p:cNvPr>
          <p:cNvSpPr txBox="1"/>
          <p:nvPr/>
        </p:nvSpPr>
        <p:spPr>
          <a:xfrm>
            <a:off x="2752051" y="5933924"/>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rPr>
              <a:t>1時間</a:t>
            </a:r>
          </a:p>
        </p:txBody>
      </p:sp>
      <p:sp>
        <p:nvSpPr>
          <p:cNvPr id="38" name="AutoShape 30">
            <a:extLst>
              <a:ext uri="{FF2B5EF4-FFF2-40B4-BE49-F238E27FC236}">
                <a16:creationId xmlns:a16="http://schemas.microsoft.com/office/drawing/2014/main" id="{2AEB91F9-20AE-78E3-90FC-95BDACB17800}"/>
              </a:ext>
            </a:extLst>
          </p:cNvPr>
          <p:cNvSpPr/>
          <p:nvPr/>
        </p:nvSpPr>
        <p:spPr>
          <a:xfrm>
            <a:off x="1044994" y="5247985"/>
            <a:ext cx="7854082" cy="7039"/>
          </a:xfrm>
          <a:prstGeom prst="line">
            <a:avLst/>
          </a:prstGeom>
          <a:ln w="19050" cap="flat">
            <a:solidFill>
              <a:srgbClr val="000000"/>
            </a:solidFill>
            <a:prstDash val="sysDot"/>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39" name="AutoShape 31">
            <a:extLst>
              <a:ext uri="{FF2B5EF4-FFF2-40B4-BE49-F238E27FC236}">
                <a16:creationId xmlns:a16="http://schemas.microsoft.com/office/drawing/2014/main" id="{8CA9232F-EFCD-0685-4172-87FA8B803443}"/>
              </a:ext>
            </a:extLst>
          </p:cNvPr>
          <p:cNvSpPr/>
          <p:nvPr/>
        </p:nvSpPr>
        <p:spPr>
          <a:xfrm>
            <a:off x="1044952" y="5806130"/>
            <a:ext cx="7854082" cy="7039"/>
          </a:xfrm>
          <a:prstGeom prst="line">
            <a:avLst/>
          </a:prstGeom>
          <a:ln w="19050" cap="flat">
            <a:solidFill>
              <a:srgbClr val="000000"/>
            </a:solidFill>
            <a:prstDash val="sysDot"/>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40" name="TextBox 32">
            <a:extLst>
              <a:ext uri="{FF2B5EF4-FFF2-40B4-BE49-F238E27FC236}">
                <a16:creationId xmlns:a16="http://schemas.microsoft.com/office/drawing/2014/main" id="{0A70F695-8166-2256-5FDF-4F5178646823}"/>
              </a:ext>
            </a:extLst>
          </p:cNvPr>
          <p:cNvSpPr txBox="1"/>
          <p:nvPr/>
        </p:nvSpPr>
        <p:spPr>
          <a:xfrm>
            <a:off x="1184666" y="4779163"/>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rPr>
              <a:t>到達</a:t>
            </a:r>
          </a:p>
        </p:txBody>
      </p:sp>
      <p:sp>
        <p:nvSpPr>
          <p:cNvPr id="41" name="TextBox 33">
            <a:extLst>
              <a:ext uri="{FF2B5EF4-FFF2-40B4-BE49-F238E27FC236}">
                <a16:creationId xmlns:a16="http://schemas.microsoft.com/office/drawing/2014/main" id="{85D3D6AF-3D79-C393-385D-3C63168F89A4}"/>
              </a:ext>
            </a:extLst>
          </p:cNvPr>
          <p:cNvSpPr txBox="1"/>
          <p:nvPr/>
        </p:nvSpPr>
        <p:spPr>
          <a:xfrm>
            <a:off x="1184666" y="5352087"/>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rPr>
              <a:t>開封率</a:t>
            </a:r>
          </a:p>
        </p:txBody>
      </p:sp>
      <p:sp>
        <p:nvSpPr>
          <p:cNvPr id="42" name="TextBox 34">
            <a:extLst>
              <a:ext uri="{FF2B5EF4-FFF2-40B4-BE49-F238E27FC236}">
                <a16:creationId xmlns:a16="http://schemas.microsoft.com/office/drawing/2014/main" id="{C2F1559D-703E-EACC-8125-BCED5B42B895}"/>
              </a:ext>
            </a:extLst>
          </p:cNvPr>
          <p:cNvSpPr txBox="1"/>
          <p:nvPr/>
        </p:nvSpPr>
        <p:spPr>
          <a:xfrm>
            <a:off x="1184666" y="5933924"/>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rPr>
              <a:t>開封まで</a:t>
            </a:r>
          </a:p>
        </p:txBody>
      </p:sp>
      <p:sp>
        <p:nvSpPr>
          <p:cNvPr id="47" name="Google Shape;156;p7"/>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Meiryo"/>
                <a:ea typeface="Meiryo"/>
                <a:cs typeface="Meiryo"/>
                <a:sym typeface="Meiryo"/>
              </a:rPr>
              <a:t>LINE</a:t>
            </a:r>
            <a:r>
              <a:rPr lang="ja-JP" altLang="en-US" sz="1600" b="1" dirty="0">
                <a:solidFill>
                  <a:srgbClr val="002060"/>
                </a:solidFill>
                <a:latin typeface="Meiryo"/>
                <a:ea typeface="Meiryo"/>
                <a:cs typeface="Meiryo"/>
                <a:sym typeface="Meiryo"/>
              </a:rPr>
              <a:t>公式アカウントを検討する背景</a:t>
            </a:r>
            <a:endParaRPr sz="1600" b="1" dirty="0">
              <a:solidFill>
                <a:srgbClr val="002060"/>
              </a:solidFill>
              <a:latin typeface="Meiryo"/>
              <a:ea typeface="Meiryo"/>
              <a:cs typeface="Meiryo"/>
              <a:sym typeface="Meiryo"/>
            </a:endParaRPr>
          </a:p>
        </p:txBody>
      </p:sp>
      <p:sp>
        <p:nvSpPr>
          <p:cNvPr id="2" name="正方形/長方形 1">
            <a:extLst>
              <a:ext uri="{FF2B5EF4-FFF2-40B4-BE49-F238E27FC236}">
                <a16:creationId xmlns:a16="http://schemas.microsoft.com/office/drawing/2014/main" id="{89DE5776-5C26-CF86-01D7-D84844A782CF}"/>
              </a:ext>
            </a:extLst>
          </p:cNvPr>
          <p:cNvSpPr/>
          <p:nvPr/>
        </p:nvSpPr>
        <p:spPr>
          <a:xfrm>
            <a:off x="5783983" y="3545570"/>
            <a:ext cx="3333054" cy="2822520"/>
          </a:xfrm>
          <a:prstGeom prst="rect">
            <a:avLst/>
          </a:prstGeom>
          <a:solidFill>
            <a:srgbClr val="FF0000">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600" b="1"/>
          </a:p>
        </p:txBody>
      </p:sp>
      <p:sp>
        <p:nvSpPr>
          <p:cNvPr id="3" name="AutoShape 15">
            <a:extLst>
              <a:ext uri="{FF2B5EF4-FFF2-40B4-BE49-F238E27FC236}">
                <a16:creationId xmlns:a16="http://schemas.microsoft.com/office/drawing/2014/main" id="{0D44F6AF-095D-1CA0-2D98-25F7DB03466E}"/>
              </a:ext>
            </a:extLst>
          </p:cNvPr>
          <p:cNvSpPr/>
          <p:nvPr/>
        </p:nvSpPr>
        <p:spPr>
          <a:xfrm>
            <a:off x="5946513" y="3983875"/>
            <a:ext cx="2952531" cy="11137"/>
          </a:xfrm>
          <a:prstGeom prst="line">
            <a:avLst/>
          </a:prstGeom>
          <a:ln w="19050" cap="flat">
            <a:solidFill>
              <a:srgbClr val="00B900"/>
            </a:solidFill>
            <a:prstDash val="solid"/>
            <a:headEnd type="none" w="sm" len="sm"/>
            <a:tailEnd type="none" w="sm" len="sm"/>
          </a:ln>
        </p:spPr>
        <p:txBody>
          <a:bodyPr/>
          <a:lstStyle/>
          <a:p>
            <a:endParaRPr lang="ja-JP" altLang="en-US" sz="1400" b="1">
              <a:latin typeface="メイリオ" panose="020B0604030504040204" pitchFamily="50" charset="-128"/>
              <a:ea typeface="メイリオ" panose="020B0604030504040204" pitchFamily="50" charset="-128"/>
            </a:endParaRPr>
          </a:p>
        </p:txBody>
      </p:sp>
      <p:sp>
        <p:nvSpPr>
          <p:cNvPr id="4" name="TextBox 17">
            <a:extLst>
              <a:ext uri="{FF2B5EF4-FFF2-40B4-BE49-F238E27FC236}">
                <a16:creationId xmlns:a16="http://schemas.microsoft.com/office/drawing/2014/main" id="{53BD49FD-8C06-FB39-06D6-3CC078F782FE}"/>
              </a:ext>
            </a:extLst>
          </p:cNvPr>
          <p:cNvSpPr txBox="1"/>
          <p:nvPr/>
        </p:nvSpPr>
        <p:spPr>
          <a:xfrm>
            <a:off x="6162487" y="3579302"/>
            <a:ext cx="2520582" cy="294311"/>
          </a:xfrm>
          <a:prstGeom prst="rect">
            <a:avLst/>
          </a:prstGeom>
        </p:spPr>
        <p:txBody>
          <a:bodyPr lIns="0" tIns="0" rIns="0" bIns="0" rtlCol="0" anchor="t">
            <a:spAutoFit/>
          </a:bodyPr>
          <a:lstStyle/>
          <a:p>
            <a:pPr algn="ctr">
              <a:lnSpc>
                <a:spcPts val="2455"/>
              </a:lnSpc>
            </a:pPr>
            <a:r>
              <a:rPr lang="en-US" sz="1400" b="1">
                <a:solidFill>
                  <a:srgbClr val="00B449"/>
                </a:solidFill>
                <a:latin typeface="メイリオ" panose="020B0604030504040204" pitchFamily="50" charset="-128"/>
                <a:ea typeface="メイリオ" panose="020B0604030504040204" pitchFamily="50" charset="-128"/>
              </a:rPr>
              <a:t>LINE</a:t>
            </a:r>
          </a:p>
        </p:txBody>
      </p:sp>
      <p:grpSp>
        <p:nvGrpSpPr>
          <p:cNvPr id="5" name="Group 21">
            <a:extLst>
              <a:ext uri="{FF2B5EF4-FFF2-40B4-BE49-F238E27FC236}">
                <a16:creationId xmlns:a16="http://schemas.microsoft.com/office/drawing/2014/main" id="{365678CD-DBE8-11A0-DE97-1E3489051004}"/>
              </a:ext>
            </a:extLst>
          </p:cNvPr>
          <p:cNvGrpSpPr/>
          <p:nvPr/>
        </p:nvGrpSpPr>
        <p:grpSpPr>
          <a:xfrm>
            <a:off x="7261679" y="3983875"/>
            <a:ext cx="322198" cy="152188"/>
            <a:chOff x="0" y="0"/>
            <a:chExt cx="812800" cy="383922"/>
          </a:xfrm>
        </p:grpSpPr>
        <p:sp>
          <p:nvSpPr>
            <p:cNvPr id="6" name="Freeform 22">
              <a:extLst>
                <a:ext uri="{FF2B5EF4-FFF2-40B4-BE49-F238E27FC236}">
                  <a16:creationId xmlns:a16="http://schemas.microsoft.com/office/drawing/2014/main" id="{FF803387-EA72-D3D7-22AE-52C01E0790A8}"/>
                </a:ext>
              </a:extLst>
            </p:cNvPr>
            <p:cNvSpPr/>
            <p:nvPr/>
          </p:nvSpPr>
          <p:spPr>
            <a:xfrm>
              <a:off x="0" y="0"/>
              <a:ext cx="812800" cy="383922"/>
            </a:xfrm>
            <a:custGeom>
              <a:avLst/>
              <a:gdLst/>
              <a:ahLst/>
              <a:cxnLst/>
              <a:rect l="l" t="t" r="r" b="b"/>
              <a:pathLst>
                <a:path w="812800" h="383922">
                  <a:moveTo>
                    <a:pt x="406400" y="383922"/>
                  </a:moveTo>
                  <a:lnTo>
                    <a:pt x="812800" y="0"/>
                  </a:lnTo>
                  <a:lnTo>
                    <a:pt x="0" y="0"/>
                  </a:lnTo>
                  <a:lnTo>
                    <a:pt x="406400" y="383922"/>
                  </a:lnTo>
                  <a:close/>
                </a:path>
              </a:pathLst>
            </a:custGeom>
            <a:solidFill>
              <a:srgbClr val="00B449"/>
            </a:solidFill>
          </p:spPr>
          <p:txBody>
            <a:bodyPr/>
            <a:lstStyle/>
            <a:p>
              <a:endParaRPr lang="ja-JP" altLang="en-US" sz="1400" b="1">
                <a:latin typeface="メイリオ" panose="020B0604030504040204" pitchFamily="50" charset="-128"/>
                <a:ea typeface="メイリオ" panose="020B0604030504040204" pitchFamily="50" charset="-128"/>
              </a:endParaRPr>
            </a:p>
          </p:txBody>
        </p:sp>
        <p:sp>
          <p:nvSpPr>
            <p:cNvPr id="7" name="TextBox 23">
              <a:extLst>
                <a:ext uri="{FF2B5EF4-FFF2-40B4-BE49-F238E27FC236}">
                  <a16:creationId xmlns:a16="http://schemas.microsoft.com/office/drawing/2014/main" id="{268D41FC-63F5-2C69-D721-47F5A47AB26E}"/>
                </a:ext>
              </a:extLst>
            </p:cNvPr>
            <p:cNvSpPr txBox="1"/>
            <p:nvPr/>
          </p:nvSpPr>
          <p:spPr>
            <a:xfrm>
              <a:off x="127000" y="-20202"/>
              <a:ext cx="558800" cy="225874"/>
            </a:xfrm>
            <a:prstGeom prst="rect">
              <a:avLst/>
            </a:prstGeom>
          </p:spPr>
          <p:txBody>
            <a:bodyPr lIns="29700" tIns="29700" rIns="29700" bIns="29700" rtlCol="0" anchor="ctr"/>
            <a:lstStyle/>
            <a:p>
              <a:pPr algn="ctr">
                <a:lnSpc>
                  <a:spcPts val="2046"/>
                </a:lnSpc>
              </a:pPr>
              <a:endParaRPr sz="1400" b="1">
                <a:latin typeface="メイリオ" panose="020B0604030504040204" pitchFamily="50" charset="-128"/>
                <a:ea typeface="メイリオ" panose="020B0604030504040204" pitchFamily="50" charset="-128"/>
              </a:endParaRPr>
            </a:p>
          </p:txBody>
        </p:sp>
      </p:grpSp>
      <p:sp>
        <p:nvSpPr>
          <p:cNvPr id="48" name="TextBox 35">
            <a:extLst>
              <a:ext uri="{FF2B5EF4-FFF2-40B4-BE49-F238E27FC236}">
                <a16:creationId xmlns:a16="http://schemas.microsoft.com/office/drawing/2014/main" id="{EF42718D-116E-9F31-BBCC-5F9118C59FCF}"/>
              </a:ext>
            </a:extLst>
          </p:cNvPr>
          <p:cNvSpPr txBox="1"/>
          <p:nvPr/>
        </p:nvSpPr>
        <p:spPr>
          <a:xfrm>
            <a:off x="5961733" y="4772936"/>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rPr>
              <a:t>確実に届く</a:t>
            </a:r>
          </a:p>
        </p:txBody>
      </p:sp>
      <p:sp>
        <p:nvSpPr>
          <p:cNvPr id="49" name="TextBox 36">
            <a:extLst>
              <a:ext uri="{FF2B5EF4-FFF2-40B4-BE49-F238E27FC236}">
                <a16:creationId xmlns:a16="http://schemas.microsoft.com/office/drawing/2014/main" id="{BE477B33-5D35-D414-030E-C48CB175247D}"/>
              </a:ext>
            </a:extLst>
          </p:cNvPr>
          <p:cNvSpPr txBox="1"/>
          <p:nvPr/>
        </p:nvSpPr>
        <p:spPr>
          <a:xfrm>
            <a:off x="5961733" y="5352087"/>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rPr>
              <a:t>60％</a:t>
            </a:r>
          </a:p>
        </p:txBody>
      </p:sp>
      <p:sp>
        <p:nvSpPr>
          <p:cNvPr id="50" name="TextBox 37">
            <a:extLst>
              <a:ext uri="{FF2B5EF4-FFF2-40B4-BE49-F238E27FC236}">
                <a16:creationId xmlns:a16="http://schemas.microsoft.com/office/drawing/2014/main" id="{0A436778-3336-3714-957B-826DFB9FCDBE}"/>
              </a:ext>
            </a:extLst>
          </p:cNvPr>
          <p:cNvSpPr txBox="1"/>
          <p:nvPr/>
        </p:nvSpPr>
        <p:spPr>
          <a:xfrm>
            <a:off x="5961733" y="5931237"/>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rPr>
              <a:t>15分</a:t>
            </a:r>
          </a:p>
        </p:txBody>
      </p:sp>
      <p:sp>
        <p:nvSpPr>
          <p:cNvPr id="51" name="TextBox 38">
            <a:extLst>
              <a:ext uri="{FF2B5EF4-FFF2-40B4-BE49-F238E27FC236}">
                <a16:creationId xmlns:a16="http://schemas.microsoft.com/office/drawing/2014/main" id="{A5A10008-8C16-4E94-CB60-09FD258B3234}"/>
              </a:ext>
            </a:extLst>
          </p:cNvPr>
          <p:cNvSpPr txBox="1"/>
          <p:nvPr/>
        </p:nvSpPr>
        <p:spPr>
          <a:xfrm>
            <a:off x="5961733" y="4206140"/>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rPr>
              <a:t>ワンタップで追加</a:t>
            </a:r>
          </a:p>
        </p:txBody>
      </p:sp>
    </p:spTree>
    <p:extLst>
      <p:ext uri="{BB962C8B-B14F-4D97-AF65-F5344CB8AC3E}">
        <p14:creationId xmlns:p14="http://schemas.microsoft.com/office/powerpoint/2010/main" val="175429713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0E416A61-B302-4BF8-8730-14A0C8808ABA}"/>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BCB9F207-E933-48A8-A62B-47A12C4BFADB}"/>
              </a:ext>
            </a:extLst>
          </p:cNvPr>
          <p:cNvSpPr/>
          <p:nvPr/>
        </p:nvSpPr>
        <p:spPr>
          <a:xfrm>
            <a:off x="788963" y="793451"/>
            <a:ext cx="8328074" cy="3817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en-US" altLang="ja-JP" sz="1400" dirty="0">
                <a:solidFill>
                  <a:srgbClr val="343434"/>
                </a:solidFill>
                <a:latin typeface="メイリオ" panose="020B0604030504040204" pitchFamily="50" charset="-128"/>
                <a:ea typeface="メイリオ" panose="020B0604030504040204" pitchFamily="50" charset="-128"/>
              </a:rPr>
              <a:t>「</a:t>
            </a:r>
            <a:r>
              <a:rPr lang="en-US" altLang="ja-JP" sz="1400" dirty="0" err="1">
                <a:solidFill>
                  <a:srgbClr val="343434"/>
                </a:solidFill>
                <a:latin typeface="メイリオ" panose="020B0604030504040204" pitchFamily="50" charset="-128"/>
                <a:ea typeface="メイリオ" panose="020B0604030504040204" pitchFamily="50" charset="-128"/>
              </a:rPr>
              <a:t>今すぐ客」以外の</a:t>
            </a:r>
            <a:r>
              <a:rPr lang="ja-JP" altLang="en-US" sz="1400" dirty="0">
                <a:solidFill>
                  <a:srgbClr val="343434"/>
                </a:solidFill>
                <a:latin typeface="メイリオ" panose="020B0604030504040204" pitchFamily="50" charset="-128"/>
                <a:ea typeface="メイリオ" panose="020B0604030504040204" pitchFamily="50" charset="-128"/>
              </a:rPr>
              <a:t>約</a:t>
            </a:r>
            <a:r>
              <a:rPr lang="en-US" altLang="ja-JP" sz="1400" dirty="0">
                <a:solidFill>
                  <a:srgbClr val="343434"/>
                </a:solidFill>
                <a:latin typeface="メイリオ" panose="020B0604030504040204" pitchFamily="50" charset="-128"/>
                <a:ea typeface="メイリオ" panose="020B0604030504040204" pitchFamily="50" charset="-128"/>
              </a:rPr>
              <a:t>99％の層をリストマーケティングで顧客に引き上げることが重要。</a:t>
            </a:r>
          </a:p>
          <a:p>
            <a:pPr algn="ctr">
              <a:lnSpc>
                <a:spcPts val="2455"/>
              </a:lnSpc>
            </a:pPr>
            <a:r>
              <a:rPr lang="en-US" altLang="ja-JP" sz="1400" dirty="0" err="1">
                <a:solidFill>
                  <a:srgbClr val="343434"/>
                </a:solidFill>
                <a:latin typeface="メイリオ" panose="020B0604030504040204" pitchFamily="50" charset="-128"/>
                <a:ea typeface="メイリオ" panose="020B0604030504040204" pitchFamily="50" charset="-128"/>
              </a:rPr>
              <a:t>結果として</a:t>
            </a:r>
            <a:r>
              <a:rPr lang="ja-JP" altLang="en-US" sz="1400" dirty="0" err="1">
                <a:solidFill>
                  <a:srgbClr val="343434"/>
                </a:solidFill>
                <a:latin typeface="メイリオ" panose="020B0604030504040204" pitchFamily="50" charset="-128"/>
                <a:ea typeface="メイリオ" panose="020B0604030504040204" pitchFamily="50" charset="-128"/>
              </a:rPr>
              <a:t>、</a:t>
            </a:r>
            <a:r>
              <a:rPr lang="ja-JP" altLang="en-US" sz="1400" dirty="0">
                <a:solidFill>
                  <a:srgbClr val="343434"/>
                </a:solidFill>
                <a:latin typeface="メイリオ" panose="020B0604030504040204" pitchFamily="50" charset="-128"/>
                <a:ea typeface="メイリオ" panose="020B0604030504040204" pitchFamily="50" charset="-128"/>
              </a:rPr>
              <a:t>リード獲得率向上、</a:t>
            </a:r>
            <a:r>
              <a:rPr lang="en-US" altLang="ja-JP" sz="1400" dirty="0" err="1">
                <a:solidFill>
                  <a:srgbClr val="343434"/>
                </a:solidFill>
                <a:latin typeface="メイリオ" panose="020B0604030504040204" pitchFamily="50" charset="-128"/>
                <a:ea typeface="メイリオ" panose="020B0604030504040204" pitchFamily="50" charset="-128"/>
              </a:rPr>
              <a:t>リピート率向上、売上向上に繋</a:t>
            </a:r>
            <a:r>
              <a:rPr lang="ja-JP" altLang="en-US" sz="1400" dirty="0">
                <a:solidFill>
                  <a:srgbClr val="343434"/>
                </a:solidFill>
                <a:latin typeface="メイリオ" panose="020B0604030504040204" pitchFamily="50" charset="-128"/>
                <a:ea typeface="メイリオ" panose="020B0604030504040204" pitchFamily="50" charset="-128"/>
              </a:rPr>
              <a:t>げ</a:t>
            </a:r>
            <a:r>
              <a:rPr lang="en-US" altLang="ja-JP" sz="1400" dirty="0">
                <a:solidFill>
                  <a:srgbClr val="343434"/>
                </a:solidFill>
                <a:latin typeface="メイリオ" panose="020B0604030504040204" pitchFamily="50" charset="-128"/>
                <a:ea typeface="メイリオ" panose="020B0604030504040204" pitchFamily="50" charset="-128"/>
              </a:rPr>
              <a:t>る。</a:t>
            </a:r>
          </a:p>
        </p:txBody>
      </p:sp>
      <p:cxnSp>
        <p:nvCxnSpPr>
          <p:cNvPr id="5" name="直線コネクタ 4">
            <a:extLst>
              <a:ext uri="{FF2B5EF4-FFF2-40B4-BE49-F238E27FC236}">
                <a16:creationId xmlns:a16="http://schemas.microsoft.com/office/drawing/2014/main" id="{CA93CA45-604C-4C3A-A630-6604E0B4FD4A}"/>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grpSp>
        <p:nvGrpSpPr>
          <p:cNvPr id="6" name="Group 11">
            <a:extLst>
              <a:ext uri="{FF2B5EF4-FFF2-40B4-BE49-F238E27FC236}">
                <a16:creationId xmlns:a16="http://schemas.microsoft.com/office/drawing/2014/main" id="{FD51838A-D34F-466B-3A5A-09652D900BEB}"/>
              </a:ext>
            </a:extLst>
          </p:cNvPr>
          <p:cNvGrpSpPr/>
          <p:nvPr/>
        </p:nvGrpSpPr>
        <p:grpSpPr>
          <a:xfrm>
            <a:off x="3049695" y="2975186"/>
            <a:ext cx="1458934" cy="913844"/>
            <a:chOff x="0" y="0"/>
            <a:chExt cx="617887" cy="387031"/>
          </a:xfrm>
        </p:grpSpPr>
        <p:sp>
          <p:nvSpPr>
            <p:cNvPr id="8" name="Freeform 12">
              <a:extLst>
                <a:ext uri="{FF2B5EF4-FFF2-40B4-BE49-F238E27FC236}">
                  <a16:creationId xmlns:a16="http://schemas.microsoft.com/office/drawing/2014/main" id="{361A24A3-498E-8CCA-072B-BFF0D43720CF}"/>
                </a:ext>
              </a:extLst>
            </p:cNvPr>
            <p:cNvSpPr/>
            <p:nvPr/>
          </p:nvSpPr>
          <p:spPr>
            <a:xfrm>
              <a:off x="0" y="0"/>
              <a:ext cx="617887" cy="387031"/>
            </a:xfrm>
            <a:custGeom>
              <a:avLst/>
              <a:gdLst/>
              <a:ahLst/>
              <a:cxnLst/>
              <a:rect l="l" t="t" r="r" b="b"/>
              <a:pathLst>
                <a:path w="617887" h="387031">
                  <a:moveTo>
                    <a:pt x="0" y="0"/>
                  </a:moveTo>
                  <a:lnTo>
                    <a:pt x="617887" y="0"/>
                  </a:lnTo>
                  <a:lnTo>
                    <a:pt x="617887" y="387031"/>
                  </a:lnTo>
                  <a:lnTo>
                    <a:pt x="0" y="387031"/>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9" name="TextBox 13">
              <a:extLst>
                <a:ext uri="{FF2B5EF4-FFF2-40B4-BE49-F238E27FC236}">
                  <a16:creationId xmlns:a16="http://schemas.microsoft.com/office/drawing/2014/main" id="{2F7982DD-8DDE-BE65-D1C8-38F017EFAA9E}"/>
                </a:ext>
              </a:extLst>
            </p:cNvPr>
            <p:cNvSpPr txBox="1"/>
            <p:nvPr/>
          </p:nvSpPr>
          <p:spPr>
            <a:xfrm>
              <a:off x="0" y="-38100"/>
              <a:ext cx="617887" cy="425131"/>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endParaRPr>
            </a:p>
          </p:txBody>
        </p:sp>
      </p:grpSp>
      <p:sp>
        <p:nvSpPr>
          <p:cNvPr id="10" name="AutoShape 14">
            <a:extLst>
              <a:ext uri="{FF2B5EF4-FFF2-40B4-BE49-F238E27FC236}">
                <a16:creationId xmlns:a16="http://schemas.microsoft.com/office/drawing/2014/main" id="{59178687-7B87-9112-285E-3FE124A7840D}"/>
              </a:ext>
            </a:extLst>
          </p:cNvPr>
          <p:cNvSpPr/>
          <p:nvPr/>
        </p:nvSpPr>
        <p:spPr>
          <a:xfrm flipV="1">
            <a:off x="637708" y="2862215"/>
            <a:ext cx="0" cy="3496153"/>
          </a:xfrm>
          <a:prstGeom prst="line">
            <a:avLst/>
          </a:prstGeom>
          <a:ln w="19050" cap="flat">
            <a:solidFill>
              <a:srgbClr val="737373"/>
            </a:solidFill>
            <a:prstDash val="solid"/>
            <a:headEnd type="none" w="sm" len="sm"/>
            <a:tailEnd type="arrow" w="med" len="sm"/>
          </a:ln>
        </p:spPr>
        <p:txBody>
          <a:bodyPr/>
          <a:lstStyle/>
          <a:p>
            <a:endParaRPr lang="ja-JP" altLang="en-US">
              <a:latin typeface="メイリオ" panose="020B0604030504040204" pitchFamily="50" charset="-128"/>
              <a:ea typeface="メイリオ" panose="020B0604030504040204" pitchFamily="50" charset="-128"/>
            </a:endParaRPr>
          </a:p>
        </p:txBody>
      </p:sp>
      <p:sp>
        <p:nvSpPr>
          <p:cNvPr id="11" name="AutoShape 15">
            <a:extLst>
              <a:ext uri="{FF2B5EF4-FFF2-40B4-BE49-F238E27FC236}">
                <a16:creationId xmlns:a16="http://schemas.microsoft.com/office/drawing/2014/main" id="{2E944E85-C1E7-F939-7840-FEE3895A6217}"/>
              </a:ext>
            </a:extLst>
          </p:cNvPr>
          <p:cNvSpPr/>
          <p:nvPr/>
        </p:nvSpPr>
        <p:spPr>
          <a:xfrm>
            <a:off x="272396" y="6045613"/>
            <a:ext cx="4516804" cy="0"/>
          </a:xfrm>
          <a:prstGeom prst="line">
            <a:avLst/>
          </a:prstGeom>
          <a:ln w="19050" cap="flat">
            <a:solidFill>
              <a:srgbClr val="737373"/>
            </a:solidFill>
            <a:prstDash val="solid"/>
            <a:headEnd type="none" w="sm" len="sm"/>
            <a:tailEnd type="arrow" w="med" len="sm"/>
          </a:ln>
        </p:spPr>
        <p:txBody>
          <a:bodyPr/>
          <a:lstStyle/>
          <a:p>
            <a:endParaRPr lang="ja-JP" altLang="en-US">
              <a:latin typeface="メイリオ" panose="020B0604030504040204" pitchFamily="50" charset="-128"/>
              <a:ea typeface="メイリオ" panose="020B0604030504040204" pitchFamily="50" charset="-128"/>
            </a:endParaRPr>
          </a:p>
        </p:txBody>
      </p:sp>
      <p:grpSp>
        <p:nvGrpSpPr>
          <p:cNvPr id="12" name="Group 16">
            <a:extLst>
              <a:ext uri="{FF2B5EF4-FFF2-40B4-BE49-F238E27FC236}">
                <a16:creationId xmlns:a16="http://schemas.microsoft.com/office/drawing/2014/main" id="{ED4AC5BA-40AB-055B-93BE-A426AB6D2DD1}"/>
              </a:ext>
            </a:extLst>
          </p:cNvPr>
          <p:cNvGrpSpPr/>
          <p:nvPr/>
        </p:nvGrpSpPr>
        <p:grpSpPr>
          <a:xfrm>
            <a:off x="964199" y="2975186"/>
            <a:ext cx="1770851" cy="913844"/>
            <a:chOff x="0" y="0"/>
            <a:chExt cx="749990" cy="387031"/>
          </a:xfrm>
        </p:grpSpPr>
        <p:sp>
          <p:nvSpPr>
            <p:cNvPr id="13" name="Freeform 17">
              <a:extLst>
                <a:ext uri="{FF2B5EF4-FFF2-40B4-BE49-F238E27FC236}">
                  <a16:creationId xmlns:a16="http://schemas.microsoft.com/office/drawing/2014/main" id="{37852D43-B89A-3E8A-340C-86DBCB7EAE2C}"/>
                </a:ext>
              </a:extLst>
            </p:cNvPr>
            <p:cNvSpPr/>
            <p:nvPr/>
          </p:nvSpPr>
          <p:spPr>
            <a:xfrm>
              <a:off x="0" y="0"/>
              <a:ext cx="749990" cy="387031"/>
            </a:xfrm>
            <a:custGeom>
              <a:avLst/>
              <a:gdLst/>
              <a:ahLst/>
              <a:cxnLst/>
              <a:rect l="l" t="t" r="r" b="b"/>
              <a:pathLst>
                <a:path w="749990" h="387031">
                  <a:moveTo>
                    <a:pt x="0" y="0"/>
                  </a:moveTo>
                  <a:lnTo>
                    <a:pt x="749990" y="0"/>
                  </a:lnTo>
                  <a:lnTo>
                    <a:pt x="749990" y="387031"/>
                  </a:lnTo>
                  <a:lnTo>
                    <a:pt x="0" y="387031"/>
                  </a:lnTo>
                  <a:close/>
                </a:path>
              </a:pathLst>
            </a:custGeom>
            <a:solidFill>
              <a:srgbClr val="7BD47C"/>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14" name="TextBox 18">
              <a:extLst>
                <a:ext uri="{FF2B5EF4-FFF2-40B4-BE49-F238E27FC236}">
                  <a16:creationId xmlns:a16="http://schemas.microsoft.com/office/drawing/2014/main" id="{0038C48A-D57E-4C03-47F9-21556A2A60B4}"/>
                </a:ext>
              </a:extLst>
            </p:cNvPr>
            <p:cNvSpPr txBox="1"/>
            <p:nvPr/>
          </p:nvSpPr>
          <p:spPr>
            <a:xfrm>
              <a:off x="0" y="-38100"/>
              <a:ext cx="749990" cy="425131"/>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endParaRPr>
            </a:p>
          </p:txBody>
        </p:sp>
      </p:grpSp>
      <p:grpSp>
        <p:nvGrpSpPr>
          <p:cNvPr id="15" name="Group 19">
            <a:extLst>
              <a:ext uri="{FF2B5EF4-FFF2-40B4-BE49-F238E27FC236}">
                <a16:creationId xmlns:a16="http://schemas.microsoft.com/office/drawing/2014/main" id="{3507EDCA-E3B7-016A-2C53-E70338EE7F9D}"/>
              </a:ext>
            </a:extLst>
          </p:cNvPr>
          <p:cNvGrpSpPr/>
          <p:nvPr/>
        </p:nvGrpSpPr>
        <p:grpSpPr>
          <a:xfrm>
            <a:off x="964199" y="4203123"/>
            <a:ext cx="1770851" cy="1544458"/>
            <a:chOff x="0" y="0"/>
            <a:chExt cx="749990" cy="654108"/>
          </a:xfrm>
        </p:grpSpPr>
        <p:sp>
          <p:nvSpPr>
            <p:cNvPr id="16" name="Freeform 20">
              <a:extLst>
                <a:ext uri="{FF2B5EF4-FFF2-40B4-BE49-F238E27FC236}">
                  <a16:creationId xmlns:a16="http://schemas.microsoft.com/office/drawing/2014/main" id="{EDDE50AF-2F17-77D4-19B1-742225FD70A2}"/>
                </a:ext>
              </a:extLst>
            </p:cNvPr>
            <p:cNvSpPr/>
            <p:nvPr/>
          </p:nvSpPr>
          <p:spPr>
            <a:xfrm>
              <a:off x="0" y="0"/>
              <a:ext cx="749990" cy="654108"/>
            </a:xfrm>
            <a:custGeom>
              <a:avLst/>
              <a:gdLst/>
              <a:ahLst/>
              <a:cxnLst/>
              <a:rect l="l" t="t" r="r" b="b"/>
              <a:pathLst>
                <a:path w="749990" h="654108">
                  <a:moveTo>
                    <a:pt x="0" y="0"/>
                  </a:moveTo>
                  <a:lnTo>
                    <a:pt x="749990" y="0"/>
                  </a:lnTo>
                  <a:lnTo>
                    <a:pt x="749990" y="654108"/>
                  </a:lnTo>
                  <a:lnTo>
                    <a:pt x="0" y="654108"/>
                  </a:lnTo>
                  <a:close/>
                </a:path>
              </a:pathLst>
            </a:custGeom>
            <a:solidFill>
              <a:srgbClr val="025D27"/>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17" name="TextBox 21">
              <a:extLst>
                <a:ext uri="{FF2B5EF4-FFF2-40B4-BE49-F238E27FC236}">
                  <a16:creationId xmlns:a16="http://schemas.microsoft.com/office/drawing/2014/main" id="{7F07540F-73B0-D716-1131-982594039AED}"/>
                </a:ext>
              </a:extLst>
            </p:cNvPr>
            <p:cNvSpPr txBox="1"/>
            <p:nvPr/>
          </p:nvSpPr>
          <p:spPr>
            <a:xfrm>
              <a:off x="0" y="-38100"/>
              <a:ext cx="749990" cy="692208"/>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endParaRPr>
            </a:p>
          </p:txBody>
        </p:sp>
      </p:grpSp>
      <p:grpSp>
        <p:nvGrpSpPr>
          <p:cNvPr id="18" name="Group 22">
            <a:extLst>
              <a:ext uri="{FF2B5EF4-FFF2-40B4-BE49-F238E27FC236}">
                <a16:creationId xmlns:a16="http://schemas.microsoft.com/office/drawing/2014/main" id="{281B028B-385E-F452-024D-8BB94F4D83B8}"/>
              </a:ext>
            </a:extLst>
          </p:cNvPr>
          <p:cNvGrpSpPr/>
          <p:nvPr/>
        </p:nvGrpSpPr>
        <p:grpSpPr>
          <a:xfrm>
            <a:off x="3049695" y="4203123"/>
            <a:ext cx="1458934" cy="1544458"/>
            <a:chOff x="0" y="0"/>
            <a:chExt cx="617887" cy="654108"/>
          </a:xfrm>
        </p:grpSpPr>
        <p:sp>
          <p:nvSpPr>
            <p:cNvPr id="19" name="Freeform 23">
              <a:extLst>
                <a:ext uri="{FF2B5EF4-FFF2-40B4-BE49-F238E27FC236}">
                  <a16:creationId xmlns:a16="http://schemas.microsoft.com/office/drawing/2014/main" id="{22B22B83-BF89-287F-782C-53EFBE5EE2C9}"/>
                </a:ext>
              </a:extLst>
            </p:cNvPr>
            <p:cNvSpPr/>
            <p:nvPr/>
          </p:nvSpPr>
          <p:spPr>
            <a:xfrm>
              <a:off x="0" y="0"/>
              <a:ext cx="617887" cy="654108"/>
            </a:xfrm>
            <a:custGeom>
              <a:avLst/>
              <a:gdLst/>
              <a:ahLst/>
              <a:cxnLst/>
              <a:rect l="l" t="t" r="r" b="b"/>
              <a:pathLst>
                <a:path w="617887" h="654108">
                  <a:moveTo>
                    <a:pt x="0" y="0"/>
                  </a:moveTo>
                  <a:lnTo>
                    <a:pt x="617887" y="0"/>
                  </a:lnTo>
                  <a:lnTo>
                    <a:pt x="617887" y="654108"/>
                  </a:lnTo>
                  <a:lnTo>
                    <a:pt x="0" y="654108"/>
                  </a:lnTo>
                  <a:close/>
                </a:path>
              </a:pathLst>
            </a:custGeom>
            <a:solidFill>
              <a:srgbClr val="7BD47C"/>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20" name="TextBox 24">
              <a:extLst>
                <a:ext uri="{FF2B5EF4-FFF2-40B4-BE49-F238E27FC236}">
                  <a16:creationId xmlns:a16="http://schemas.microsoft.com/office/drawing/2014/main" id="{9342B319-ADE7-C21F-2EC5-DC47280C7AA5}"/>
                </a:ext>
              </a:extLst>
            </p:cNvPr>
            <p:cNvSpPr txBox="1"/>
            <p:nvPr/>
          </p:nvSpPr>
          <p:spPr>
            <a:xfrm>
              <a:off x="0" y="-38100"/>
              <a:ext cx="617887" cy="692208"/>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endParaRPr>
            </a:p>
          </p:txBody>
        </p:sp>
      </p:grpSp>
      <p:grpSp>
        <p:nvGrpSpPr>
          <p:cNvPr id="21" name="Group 25">
            <a:extLst>
              <a:ext uri="{FF2B5EF4-FFF2-40B4-BE49-F238E27FC236}">
                <a16:creationId xmlns:a16="http://schemas.microsoft.com/office/drawing/2014/main" id="{269BA4E8-CBA1-17CF-4B27-5586E44C9042}"/>
              </a:ext>
            </a:extLst>
          </p:cNvPr>
          <p:cNvGrpSpPr/>
          <p:nvPr/>
        </p:nvGrpSpPr>
        <p:grpSpPr>
          <a:xfrm rot="5400000">
            <a:off x="5145798" y="3131429"/>
            <a:ext cx="301414" cy="601358"/>
            <a:chOff x="0" y="0"/>
            <a:chExt cx="452282" cy="902360"/>
          </a:xfrm>
        </p:grpSpPr>
        <p:sp>
          <p:nvSpPr>
            <p:cNvPr id="22"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23"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endParaRPr>
            </a:p>
          </p:txBody>
        </p:sp>
      </p:grpSp>
      <p:sp>
        <p:nvSpPr>
          <p:cNvPr id="24" name="TextBox 28">
            <a:extLst>
              <a:ext uri="{FF2B5EF4-FFF2-40B4-BE49-F238E27FC236}">
                <a16:creationId xmlns:a16="http://schemas.microsoft.com/office/drawing/2014/main" id="{5E157642-2D9B-689A-C2B2-A7717A07260A}"/>
              </a:ext>
            </a:extLst>
          </p:cNvPr>
          <p:cNvSpPr txBox="1"/>
          <p:nvPr/>
        </p:nvSpPr>
        <p:spPr>
          <a:xfrm>
            <a:off x="239660" y="4103553"/>
            <a:ext cx="187572" cy="654025"/>
          </a:xfrm>
          <a:prstGeom prst="rect">
            <a:avLst/>
          </a:prstGeom>
        </p:spPr>
        <p:txBody>
          <a:bodyPr wrap="square" lIns="0" tIns="0" rIns="0" bIns="0" rtlCol="0" anchor="t">
            <a:spAutoFit/>
          </a:bodyPr>
          <a:lstStyle/>
          <a:p>
            <a:pPr>
              <a:lnSpc>
                <a:spcPts val="1741"/>
              </a:lnSpc>
              <a:spcBef>
                <a:spcPct val="0"/>
              </a:spcBef>
            </a:pPr>
            <a:r>
              <a:rPr lang="en-US" sz="1243" b="1">
                <a:solidFill>
                  <a:srgbClr val="494848"/>
                </a:solidFill>
                <a:latin typeface="メイリオ" panose="020B0604030504040204" pitchFamily="50" charset="-128"/>
                <a:ea typeface="メイリオ" panose="020B0604030504040204" pitchFamily="50" charset="-128"/>
              </a:rPr>
              <a:t>必要性</a:t>
            </a:r>
          </a:p>
        </p:txBody>
      </p:sp>
      <p:sp>
        <p:nvSpPr>
          <p:cNvPr id="25" name="TextBox 29">
            <a:extLst>
              <a:ext uri="{FF2B5EF4-FFF2-40B4-BE49-F238E27FC236}">
                <a16:creationId xmlns:a16="http://schemas.microsoft.com/office/drawing/2014/main" id="{E542051B-CCE6-131D-3645-4C3C8932C9AF}"/>
              </a:ext>
            </a:extLst>
          </p:cNvPr>
          <p:cNvSpPr txBox="1"/>
          <p:nvPr/>
        </p:nvSpPr>
        <p:spPr>
          <a:xfrm>
            <a:off x="2530798" y="6132696"/>
            <a:ext cx="633665" cy="218008"/>
          </a:xfrm>
          <a:prstGeom prst="rect">
            <a:avLst/>
          </a:prstGeom>
        </p:spPr>
        <p:txBody>
          <a:bodyPr wrap="square" lIns="0" tIns="0" rIns="0" bIns="0" rtlCol="0" anchor="t">
            <a:spAutoFit/>
          </a:bodyPr>
          <a:lstStyle/>
          <a:p>
            <a:pPr>
              <a:lnSpc>
                <a:spcPts val="1741"/>
              </a:lnSpc>
              <a:spcBef>
                <a:spcPct val="0"/>
              </a:spcBef>
            </a:pPr>
            <a:r>
              <a:rPr lang="en-US" sz="1243" b="1">
                <a:solidFill>
                  <a:srgbClr val="494848"/>
                </a:solidFill>
                <a:latin typeface="メイリオ" panose="020B0604030504040204" pitchFamily="50" charset="-128"/>
                <a:ea typeface="メイリオ" panose="020B0604030504040204" pitchFamily="50" charset="-128"/>
              </a:rPr>
              <a:t>緊急性</a:t>
            </a:r>
          </a:p>
        </p:txBody>
      </p:sp>
      <p:sp>
        <p:nvSpPr>
          <p:cNvPr id="26" name="TextBox 30">
            <a:extLst>
              <a:ext uri="{FF2B5EF4-FFF2-40B4-BE49-F238E27FC236}">
                <a16:creationId xmlns:a16="http://schemas.microsoft.com/office/drawing/2014/main" id="{789AA7FE-BAB1-3DE7-B600-0D2687AE8FEF}"/>
              </a:ext>
            </a:extLst>
          </p:cNvPr>
          <p:cNvSpPr txBox="1"/>
          <p:nvPr/>
        </p:nvSpPr>
        <p:spPr>
          <a:xfrm>
            <a:off x="3462330" y="3120281"/>
            <a:ext cx="633665"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494848"/>
                </a:solidFill>
                <a:latin typeface="メイリオ" panose="020B0604030504040204" pitchFamily="50" charset="-128"/>
                <a:ea typeface="メイリオ" panose="020B0604030504040204" pitchFamily="50" charset="-128"/>
              </a:rPr>
              <a:t>今すぐ客</a:t>
            </a:r>
          </a:p>
        </p:txBody>
      </p:sp>
      <p:sp>
        <p:nvSpPr>
          <p:cNvPr id="27" name="TextBox 31">
            <a:extLst>
              <a:ext uri="{FF2B5EF4-FFF2-40B4-BE49-F238E27FC236}">
                <a16:creationId xmlns:a16="http://schemas.microsoft.com/office/drawing/2014/main" id="{95B912FE-88DA-75EB-2906-07FA329A9879}"/>
              </a:ext>
            </a:extLst>
          </p:cNvPr>
          <p:cNvSpPr txBox="1"/>
          <p:nvPr/>
        </p:nvSpPr>
        <p:spPr>
          <a:xfrm>
            <a:off x="1381753" y="3115300"/>
            <a:ext cx="868938"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494848"/>
                </a:solidFill>
                <a:latin typeface="メイリオ" panose="020B0604030504040204" pitchFamily="50" charset="-128"/>
                <a:ea typeface="メイリオ" panose="020B0604030504040204" pitchFamily="50" charset="-128"/>
              </a:rPr>
              <a:t>そのうち客</a:t>
            </a:r>
          </a:p>
        </p:txBody>
      </p:sp>
      <p:sp>
        <p:nvSpPr>
          <p:cNvPr id="28" name="TextBox 32">
            <a:extLst>
              <a:ext uri="{FF2B5EF4-FFF2-40B4-BE49-F238E27FC236}">
                <a16:creationId xmlns:a16="http://schemas.microsoft.com/office/drawing/2014/main" id="{59D328C3-F2B3-6E79-96BF-D71386F2B39C}"/>
              </a:ext>
            </a:extLst>
          </p:cNvPr>
          <p:cNvSpPr txBox="1"/>
          <p:nvPr/>
        </p:nvSpPr>
        <p:spPr>
          <a:xfrm>
            <a:off x="1415156" y="4384620"/>
            <a:ext cx="868938"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FFFFFF"/>
                </a:solidFill>
                <a:latin typeface="メイリオ" panose="020B0604030504040204" pitchFamily="50" charset="-128"/>
                <a:ea typeface="メイリオ" panose="020B0604030504040204" pitchFamily="50" charset="-128"/>
              </a:rPr>
              <a:t>まだまだ客</a:t>
            </a:r>
          </a:p>
        </p:txBody>
      </p:sp>
      <p:sp>
        <p:nvSpPr>
          <p:cNvPr id="29" name="TextBox 33">
            <a:extLst>
              <a:ext uri="{FF2B5EF4-FFF2-40B4-BE49-F238E27FC236}">
                <a16:creationId xmlns:a16="http://schemas.microsoft.com/office/drawing/2014/main" id="{877B9BED-D0F9-E0E6-43A4-64BB48000261}"/>
              </a:ext>
            </a:extLst>
          </p:cNvPr>
          <p:cNvSpPr txBox="1"/>
          <p:nvPr/>
        </p:nvSpPr>
        <p:spPr>
          <a:xfrm>
            <a:off x="3344694" y="4384620"/>
            <a:ext cx="868938"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494848"/>
                </a:solidFill>
                <a:latin typeface="メイリオ" panose="020B0604030504040204" pitchFamily="50" charset="-128"/>
                <a:ea typeface="メイリオ" panose="020B0604030504040204" pitchFamily="50" charset="-128"/>
              </a:rPr>
              <a:t>お悩み客</a:t>
            </a:r>
          </a:p>
        </p:txBody>
      </p:sp>
      <p:sp>
        <p:nvSpPr>
          <p:cNvPr id="30" name="TextBox 34">
            <a:extLst>
              <a:ext uri="{FF2B5EF4-FFF2-40B4-BE49-F238E27FC236}">
                <a16:creationId xmlns:a16="http://schemas.microsoft.com/office/drawing/2014/main" id="{0401D261-C9B9-D74A-1CE2-30812B0B4154}"/>
              </a:ext>
            </a:extLst>
          </p:cNvPr>
          <p:cNvSpPr txBox="1"/>
          <p:nvPr/>
        </p:nvSpPr>
        <p:spPr>
          <a:xfrm>
            <a:off x="3462330" y="3384483"/>
            <a:ext cx="633665" cy="282129"/>
          </a:xfrm>
          <a:prstGeom prst="rect">
            <a:avLst/>
          </a:prstGeom>
        </p:spPr>
        <p:txBody>
          <a:bodyPr wrap="square" lIns="0" tIns="0" rIns="0" bIns="0" rtlCol="0" anchor="t">
            <a:spAutoFit/>
          </a:bodyPr>
          <a:lstStyle/>
          <a:p>
            <a:pPr algn="ctr">
              <a:lnSpc>
                <a:spcPts val="2176"/>
              </a:lnSpc>
              <a:spcBef>
                <a:spcPct val="0"/>
              </a:spcBef>
            </a:pPr>
            <a:r>
              <a:rPr lang="en-US" sz="1554" dirty="0">
                <a:solidFill>
                  <a:srgbClr val="494848"/>
                </a:solidFill>
                <a:latin typeface="メイリオ" panose="020B0604030504040204" pitchFamily="50" charset="-128"/>
                <a:ea typeface="メイリオ" panose="020B0604030504040204" pitchFamily="50" charset="-128"/>
              </a:rPr>
              <a:t>1-2％</a:t>
            </a:r>
          </a:p>
        </p:txBody>
      </p:sp>
      <p:sp>
        <p:nvSpPr>
          <p:cNvPr id="31" name="TextBox 35">
            <a:extLst>
              <a:ext uri="{FF2B5EF4-FFF2-40B4-BE49-F238E27FC236}">
                <a16:creationId xmlns:a16="http://schemas.microsoft.com/office/drawing/2014/main" id="{D2A4C54E-2F37-07C2-DE48-A2E382EA3FF7}"/>
              </a:ext>
            </a:extLst>
          </p:cNvPr>
          <p:cNvSpPr txBox="1"/>
          <p:nvPr/>
        </p:nvSpPr>
        <p:spPr>
          <a:xfrm>
            <a:off x="1385749" y="3384483"/>
            <a:ext cx="927750" cy="564257"/>
          </a:xfrm>
          <a:prstGeom prst="rect">
            <a:avLst/>
          </a:prstGeom>
        </p:spPr>
        <p:txBody>
          <a:bodyPr wrap="square" lIns="0" tIns="0" rIns="0" bIns="0" rtlCol="0" anchor="t">
            <a:spAutoFit/>
          </a:bodyPr>
          <a:lstStyle/>
          <a:p>
            <a:pPr algn="ctr">
              <a:lnSpc>
                <a:spcPts val="2176"/>
              </a:lnSpc>
              <a:spcBef>
                <a:spcPct val="0"/>
              </a:spcBef>
            </a:pPr>
            <a:r>
              <a:rPr lang="en-US" altLang="ja-JP" sz="1554" dirty="0">
                <a:solidFill>
                  <a:srgbClr val="494848"/>
                </a:solidFill>
                <a:latin typeface="メイリオ" panose="020B0604030504040204" pitchFamily="50" charset="-128"/>
                <a:ea typeface="メイリオ" panose="020B0604030504040204" pitchFamily="50" charset="-128"/>
              </a:rPr>
              <a:t>9-</a:t>
            </a:r>
            <a:r>
              <a:rPr lang="en-US" sz="1554" dirty="0">
                <a:solidFill>
                  <a:srgbClr val="494848"/>
                </a:solidFill>
                <a:latin typeface="メイリオ" panose="020B0604030504040204" pitchFamily="50" charset="-128"/>
                <a:ea typeface="メイリオ" panose="020B0604030504040204" pitchFamily="50" charset="-128"/>
              </a:rPr>
              <a:t>9.5％</a:t>
            </a:r>
          </a:p>
        </p:txBody>
      </p:sp>
      <p:sp>
        <p:nvSpPr>
          <p:cNvPr id="32" name="TextBox 36">
            <a:extLst>
              <a:ext uri="{FF2B5EF4-FFF2-40B4-BE49-F238E27FC236}">
                <a16:creationId xmlns:a16="http://schemas.microsoft.com/office/drawing/2014/main" id="{E5AC4649-00C6-4888-D80C-1A7202D4D61C}"/>
              </a:ext>
            </a:extLst>
          </p:cNvPr>
          <p:cNvSpPr txBox="1"/>
          <p:nvPr/>
        </p:nvSpPr>
        <p:spPr>
          <a:xfrm>
            <a:off x="3315287" y="4823293"/>
            <a:ext cx="927750" cy="564257"/>
          </a:xfrm>
          <a:prstGeom prst="rect">
            <a:avLst/>
          </a:prstGeom>
        </p:spPr>
        <p:txBody>
          <a:bodyPr wrap="square" lIns="0" tIns="0" rIns="0" bIns="0" rtlCol="0" anchor="t">
            <a:spAutoFit/>
          </a:bodyPr>
          <a:lstStyle/>
          <a:p>
            <a:pPr algn="ctr">
              <a:lnSpc>
                <a:spcPts val="2176"/>
              </a:lnSpc>
              <a:spcBef>
                <a:spcPct val="0"/>
              </a:spcBef>
            </a:pPr>
            <a:r>
              <a:rPr lang="en-US" sz="1554" dirty="0">
                <a:solidFill>
                  <a:srgbClr val="494848"/>
                </a:solidFill>
                <a:latin typeface="メイリオ" panose="020B0604030504040204" pitchFamily="50" charset="-128"/>
                <a:ea typeface="メイリオ" panose="020B0604030504040204" pitchFamily="50" charset="-128"/>
              </a:rPr>
              <a:t>9-9.5％</a:t>
            </a:r>
          </a:p>
        </p:txBody>
      </p:sp>
      <p:sp>
        <p:nvSpPr>
          <p:cNvPr id="33" name="TextBox 37">
            <a:extLst>
              <a:ext uri="{FF2B5EF4-FFF2-40B4-BE49-F238E27FC236}">
                <a16:creationId xmlns:a16="http://schemas.microsoft.com/office/drawing/2014/main" id="{F710B60A-9E92-C96A-5B26-805DEEDE4E80}"/>
              </a:ext>
            </a:extLst>
          </p:cNvPr>
          <p:cNvSpPr txBox="1"/>
          <p:nvPr/>
        </p:nvSpPr>
        <p:spPr>
          <a:xfrm>
            <a:off x="1532792" y="4823293"/>
            <a:ext cx="633665" cy="282129"/>
          </a:xfrm>
          <a:prstGeom prst="rect">
            <a:avLst/>
          </a:prstGeom>
        </p:spPr>
        <p:txBody>
          <a:bodyPr wrap="square" lIns="0" tIns="0" rIns="0" bIns="0" rtlCol="0" anchor="t">
            <a:spAutoFit/>
          </a:bodyPr>
          <a:lstStyle/>
          <a:p>
            <a:pPr algn="ctr">
              <a:lnSpc>
                <a:spcPts val="2176"/>
              </a:lnSpc>
              <a:spcBef>
                <a:spcPct val="0"/>
              </a:spcBef>
            </a:pPr>
            <a:r>
              <a:rPr lang="en-US" sz="1554">
                <a:solidFill>
                  <a:srgbClr val="FFFFFF"/>
                </a:solidFill>
                <a:latin typeface="メイリオ" panose="020B0604030504040204" pitchFamily="50" charset="-128"/>
                <a:ea typeface="メイリオ" panose="020B0604030504040204" pitchFamily="50" charset="-128"/>
              </a:rPr>
              <a:t>80％</a:t>
            </a:r>
          </a:p>
        </p:txBody>
      </p:sp>
      <p:sp>
        <p:nvSpPr>
          <p:cNvPr id="34" name="TextBox 38">
            <a:extLst>
              <a:ext uri="{FF2B5EF4-FFF2-40B4-BE49-F238E27FC236}">
                <a16:creationId xmlns:a16="http://schemas.microsoft.com/office/drawing/2014/main" id="{5DBC0D5A-D55C-257A-51E2-CC2A6B58B8CE}"/>
              </a:ext>
            </a:extLst>
          </p:cNvPr>
          <p:cNvSpPr txBox="1"/>
          <p:nvPr/>
        </p:nvSpPr>
        <p:spPr>
          <a:xfrm>
            <a:off x="5800858" y="3159765"/>
            <a:ext cx="3788946" cy="539891"/>
          </a:xfrm>
          <a:prstGeom prst="rect">
            <a:avLst/>
          </a:prstGeom>
        </p:spPr>
        <p:txBody>
          <a:bodyPr wrap="square" lIns="0" tIns="0" rIns="0" bIns="0" rtlCol="0" anchor="t">
            <a:spAutoFit/>
          </a:bodyPr>
          <a:lstStyle/>
          <a:p>
            <a:pPr>
              <a:lnSpc>
                <a:spcPts val="2176"/>
              </a:lnSpc>
            </a:pPr>
            <a:r>
              <a:rPr lang="en-US" sz="1200" b="1" dirty="0">
                <a:solidFill>
                  <a:srgbClr val="494848"/>
                </a:solidFill>
                <a:latin typeface="メイリオ" panose="020B0604030504040204" pitchFamily="50" charset="-128"/>
                <a:ea typeface="メイリオ" panose="020B0604030504040204" pitchFamily="50" charset="-128"/>
              </a:rPr>
              <a:t>「</a:t>
            </a:r>
            <a:r>
              <a:rPr lang="en-US" sz="1200" b="1" dirty="0" err="1">
                <a:solidFill>
                  <a:srgbClr val="494848"/>
                </a:solidFill>
                <a:latin typeface="メイリオ" panose="020B0604030504040204" pitchFamily="50" charset="-128"/>
                <a:ea typeface="メイリオ" panose="020B0604030504040204" pitchFamily="50" charset="-128"/>
              </a:rPr>
              <a:t>今すぐ</a:t>
            </a:r>
            <a:r>
              <a:rPr lang="ja-JP" altLang="en-US" sz="1200" b="1" dirty="0">
                <a:solidFill>
                  <a:srgbClr val="494848"/>
                </a:solidFill>
                <a:latin typeface="メイリオ" panose="020B0604030504040204" pitchFamily="50" charset="-128"/>
                <a:ea typeface="メイリオ" panose="020B0604030504040204" pitchFamily="50" charset="-128"/>
              </a:rPr>
              <a:t>顧</a:t>
            </a:r>
            <a:r>
              <a:rPr lang="en-US" sz="1200" b="1" dirty="0" err="1">
                <a:solidFill>
                  <a:srgbClr val="494848"/>
                </a:solidFill>
                <a:latin typeface="メイリオ" panose="020B0604030504040204" pitchFamily="50" charset="-128"/>
                <a:ea typeface="メイリオ" panose="020B0604030504040204" pitchFamily="50" charset="-128"/>
              </a:rPr>
              <a:t>客」を高い広告費を投資して獲得する</a:t>
            </a:r>
            <a:r>
              <a:rPr lang="ja-JP" altLang="en-US" sz="1200" b="1" dirty="0" err="1">
                <a:solidFill>
                  <a:srgbClr val="494848"/>
                </a:solidFill>
                <a:latin typeface="メイリオ" panose="020B0604030504040204" pitchFamily="50" charset="-128"/>
                <a:ea typeface="メイリオ" panose="020B0604030504040204" pitchFamily="50" charset="-128"/>
              </a:rPr>
              <a:t>のは</a:t>
            </a:r>
            <a:r>
              <a:rPr lang="ja-JP" altLang="en-US" sz="1200" b="1" dirty="0">
                <a:solidFill>
                  <a:srgbClr val="494848"/>
                </a:solidFill>
                <a:latin typeface="メイリオ" panose="020B0604030504040204" pitchFamily="50" charset="-128"/>
                <a:ea typeface="メイリオ" panose="020B0604030504040204" pitchFamily="50" charset="-128"/>
              </a:rPr>
              <a:t>リスクが大きい。</a:t>
            </a:r>
            <a:endParaRPr lang="en-US" sz="1200" b="1" dirty="0">
              <a:solidFill>
                <a:srgbClr val="494848"/>
              </a:solidFill>
              <a:latin typeface="メイリオ" panose="020B0604030504040204" pitchFamily="50" charset="-128"/>
              <a:ea typeface="メイリオ" panose="020B0604030504040204" pitchFamily="50" charset="-128"/>
            </a:endParaRPr>
          </a:p>
        </p:txBody>
      </p:sp>
      <p:sp>
        <p:nvSpPr>
          <p:cNvPr id="36" name="Freeform 40">
            <a:extLst>
              <a:ext uri="{FF2B5EF4-FFF2-40B4-BE49-F238E27FC236}">
                <a16:creationId xmlns:a16="http://schemas.microsoft.com/office/drawing/2014/main" id="{5A77A5D7-0DDE-21C2-51A5-84842B7243A6}"/>
              </a:ext>
            </a:extLst>
          </p:cNvPr>
          <p:cNvSpPr/>
          <p:nvPr/>
        </p:nvSpPr>
        <p:spPr>
          <a:xfrm rot="5400000">
            <a:off x="5145798" y="4206671"/>
            <a:ext cx="301414" cy="601358"/>
          </a:xfrm>
          <a:custGeom>
            <a:avLst/>
            <a:gdLst/>
            <a:ahLst/>
            <a:cxnLst/>
            <a:rect l="l" t="t" r="r" b="b"/>
            <a:pathLst>
              <a:path w="452282" h="902360">
                <a:moveTo>
                  <a:pt x="226141" y="0"/>
                </a:moveTo>
                <a:lnTo>
                  <a:pt x="452282" y="902360"/>
                </a:lnTo>
                <a:lnTo>
                  <a:pt x="0" y="902360"/>
                </a:lnTo>
                <a:lnTo>
                  <a:pt x="226141" y="0"/>
                </a:lnTo>
                <a:close/>
              </a:path>
            </a:pathLst>
          </a:custGeom>
          <a:solidFill>
            <a:srgbClr val="00FF00"/>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38" name="TextBox 42">
            <a:extLst>
              <a:ext uri="{FF2B5EF4-FFF2-40B4-BE49-F238E27FC236}">
                <a16:creationId xmlns:a16="http://schemas.microsoft.com/office/drawing/2014/main" id="{8A119429-976A-2BD7-EDD0-0C402786F523}"/>
              </a:ext>
            </a:extLst>
          </p:cNvPr>
          <p:cNvSpPr txBox="1"/>
          <p:nvPr/>
        </p:nvSpPr>
        <p:spPr>
          <a:xfrm>
            <a:off x="5800858" y="4237404"/>
            <a:ext cx="3889580" cy="539891"/>
          </a:xfrm>
          <a:prstGeom prst="rect">
            <a:avLst/>
          </a:prstGeom>
        </p:spPr>
        <p:txBody>
          <a:bodyPr wrap="square" lIns="0" tIns="0" rIns="0" bIns="0" rtlCol="0" anchor="t">
            <a:spAutoFit/>
          </a:bodyPr>
          <a:lstStyle/>
          <a:p>
            <a:pPr>
              <a:lnSpc>
                <a:spcPts val="2176"/>
              </a:lnSpc>
            </a:pPr>
            <a:r>
              <a:rPr lang="en-US" sz="1200" b="1" dirty="0" err="1">
                <a:solidFill>
                  <a:srgbClr val="494848"/>
                </a:solidFill>
                <a:latin typeface="メイリオ" panose="020B0604030504040204" pitchFamily="50" charset="-128"/>
                <a:ea typeface="メイリオ" panose="020B0604030504040204" pitchFamily="50" charset="-128"/>
              </a:rPr>
              <a:t>リストとして獲得するだけでなく</a:t>
            </a:r>
            <a:endParaRPr lang="en-US" sz="1200" b="1" dirty="0">
              <a:solidFill>
                <a:srgbClr val="494848"/>
              </a:solidFill>
              <a:latin typeface="メイリオ" panose="020B0604030504040204" pitchFamily="50" charset="-128"/>
              <a:ea typeface="メイリオ" panose="020B0604030504040204" pitchFamily="50" charset="-128"/>
            </a:endParaRPr>
          </a:p>
          <a:p>
            <a:pPr>
              <a:lnSpc>
                <a:spcPts val="2176"/>
              </a:lnSpc>
            </a:pPr>
            <a:r>
              <a:rPr lang="en-US" sz="1200" b="1" dirty="0">
                <a:solidFill>
                  <a:srgbClr val="494848"/>
                </a:solidFill>
                <a:latin typeface="メイリオ" panose="020B0604030504040204" pitchFamily="50" charset="-128"/>
                <a:ea typeface="メイリオ" panose="020B0604030504040204" pitchFamily="50" charset="-128"/>
              </a:rPr>
              <a:t>「</a:t>
            </a:r>
            <a:r>
              <a:rPr lang="ja-JP" altLang="en-US" sz="1200" b="1" dirty="0">
                <a:solidFill>
                  <a:srgbClr val="494848"/>
                </a:solidFill>
                <a:latin typeface="メイリオ" panose="020B0604030504040204" pitchFamily="50" charset="-128"/>
                <a:ea typeface="メイリオ" panose="020B0604030504040204" pitchFamily="50" charset="-128"/>
              </a:rPr>
              <a:t>将来的な顧</a:t>
            </a:r>
            <a:r>
              <a:rPr lang="en-US" sz="1200" b="1" dirty="0" err="1">
                <a:solidFill>
                  <a:srgbClr val="494848"/>
                </a:solidFill>
                <a:latin typeface="メイリオ" panose="020B0604030504040204" pitchFamily="50" charset="-128"/>
                <a:ea typeface="メイリオ" panose="020B0604030504040204" pitchFamily="50" charset="-128"/>
              </a:rPr>
              <a:t>客」教育をLINE</a:t>
            </a:r>
            <a:r>
              <a:rPr lang="ja-JP" altLang="en-US" sz="1200" b="1" dirty="0">
                <a:solidFill>
                  <a:srgbClr val="494848"/>
                </a:solidFill>
                <a:latin typeface="メイリオ" panose="020B0604030504040204" pitchFamily="50" charset="-128"/>
                <a:ea typeface="メイリオ" panose="020B0604030504040204" pitchFamily="50" charset="-128"/>
              </a:rPr>
              <a:t>上で構築し</a:t>
            </a:r>
            <a:r>
              <a:rPr lang="en-US" sz="1200" b="1" dirty="0">
                <a:solidFill>
                  <a:srgbClr val="494848"/>
                </a:solidFill>
                <a:latin typeface="メイリオ" panose="020B0604030504040204" pitchFamily="50" charset="-128"/>
                <a:ea typeface="メイリオ" panose="020B0604030504040204" pitchFamily="50" charset="-128"/>
              </a:rPr>
              <a:t>行</a:t>
            </a:r>
            <a:r>
              <a:rPr lang="ja-JP" altLang="en-US" sz="1200" b="1" dirty="0">
                <a:solidFill>
                  <a:srgbClr val="494848"/>
                </a:solidFill>
                <a:latin typeface="メイリオ" panose="020B0604030504040204" pitchFamily="50" charset="-128"/>
                <a:ea typeface="メイリオ" panose="020B0604030504040204" pitchFamily="50" charset="-128"/>
              </a:rPr>
              <a:t>う。</a:t>
            </a:r>
            <a:endParaRPr lang="en-US" sz="1200" b="1" dirty="0">
              <a:solidFill>
                <a:srgbClr val="494848"/>
              </a:solidFill>
              <a:latin typeface="メイリオ" panose="020B0604030504040204" pitchFamily="50" charset="-128"/>
              <a:ea typeface="メイリオ" panose="020B0604030504040204" pitchFamily="50" charset="-128"/>
            </a:endParaRPr>
          </a:p>
        </p:txBody>
      </p:sp>
      <p:sp>
        <p:nvSpPr>
          <p:cNvPr id="39" name="AutoShape 43">
            <a:extLst>
              <a:ext uri="{FF2B5EF4-FFF2-40B4-BE49-F238E27FC236}">
                <a16:creationId xmlns:a16="http://schemas.microsoft.com/office/drawing/2014/main" id="{BAFE21F2-B11C-C6C6-4A68-B44BBEB51A4E}"/>
              </a:ext>
            </a:extLst>
          </p:cNvPr>
          <p:cNvSpPr/>
          <p:nvPr/>
        </p:nvSpPr>
        <p:spPr>
          <a:xfrm>
            <a:off x="837672" y="2859077"/>
            <a:ext cx="2060521" cy="0"/>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endParaRPr>
          </a:p>
        </p:txBody>
      </p:sp>
      <p:sp>
        <p:nvSpPr>
          <p:cNvPr id="40" name="AutoShape 44">
            <a:extLst>
              <a:ext uri="{FF2B5EF4-FFF2-40B4-BE49-F238E27FC236}">
                <a16:creationId xmlns:a16="http://schemas.microsoft.com/office/drawing/2014/main" id="{2CDA6644-C37D-611D-E0EA-EDDC28827BA0}"/>
              </a:ext>
            </a:extLst>
          </p:cNvPr>
          <p:cNvSpPr/>
          <p:nvPr/>
        </p:nvSpPr>
        <p:spPr>
          <a:xfrm>
            <a:off x="828963" y="5877316"/>
            <a:ext cx="3810830" cy="0"/>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endParaRPr>
          </a:p>
        </p:txBody>
      </p:sp>
      <p:sp>
        <p:nvSpPr>
          <p:cNvPr id="41" name="AutoShape 45">
            <a:extLst>
              <a:ext uri="{FF2B5EF4-FFF2-40B4-BE49-F238E27FC236}">
                <a16:creationId xmlns:a16="http://schemas.microsoft.com/office/drawing/2014/main" id="{1127F3C8-7A7B-61A4-7E40-223286E1D74F}"/>
              </a:ext>
            </a:extLst>
          </p:cNvPr>
          <p:cNvSpPr/>
          <p:nvPr/>
        </p:nvSpPr>
        <p:spPr>
          <a:xfrm>
            <a:off x="2889484" y="4056689"/>
            <a:ext cx="1750309" cy="0"/>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endParaRPr>
          </a:p>
        </p:txBody>
      </p:sp>
      <p:sp>
        <p:nvSpPr>
          <p:cNvPr id="42" name="AutoShape 46">
            <a:extLst>
              <a:ext uri="{FF2B5EF4-FFF2-40B4-BE49-F238E27FC236}">
                <a16:creationId xmlns:a16="http://schemas.microsoft.com/office/drawing/2014/main" id="{67E01EC4-C522-4365-750F-36BD973DD207}"/>
              </a:ext>
            </a:extLst>
          </p:cNvPr>
          <p:cNvSpPr/>
          <p:nvPr/>
        </p:nvSpPr>
        <p:spPr>
          <a:xfrm>
            <a:off x="4639793" y="4062682"/>
            <a:ext cx="0" cy="1826059"/>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endParaRPr>
          </a:p>
        </p:txBody>
      </p:sp>
      <p:sp>
        <p:nvSpPr>
          <p:cNvPr id="43" name="AutoShape 47">
            <a:extLst>
              <a:ext uri="{FF2B5EF4-FFF2-40B4-BE49-F238E27FC236}">
                <a16:creationId xmlns:a16="http://schemas.microsoft.com/office/drawing/2014/main" id="{3E4AE2CB-A28C-E78F-2537-02549A8EA7AB}"/>
              </a:ext>
            </a:extLst>
          </p:cNvPr>
          <p:cNvSpPr/>
          <p:nvPr/>
        </p:nvSpPr>
        <p:spPr>
          <a:xfrm>
            <a:off x="2901330" y="2853320"/>
            <a:ext cx="0" cy="1217836"/>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endParaRPr>
          </a:p>
        </p:txBody>
      </p:sp>
      <p:sp>
        <p:nvSpPr>
          <p:cNvPr id="44" name="AutoShape 48">
            <a:extLst>
              <a:ext uri="{FF2B5EF4-FFF2-40B4-BE49-F238E27FC236}">
                <a16:creationId xmlns:a16="http://schemas.microsoft.com/office/drawing/2014/main" id="{BDF7967C-8276-F30B-0E4E-4BFC7A91F312}"/>
              </a:ext>
            </a:extLst>
          </p:cNvPr>
          <p:cNvSpPr/>
          <p:nvPr/>
        </p:nvSpPr>
        <p:spPr>
          <a:xfrm>
            <a:off x="840809" y="2862215"/>
            <a:ext cx="0" cy="3015101"/>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endParaRPr>
          </a:p>
        </p:txBody>
      </p:sp>
      <p:sp>
        <p:nvSpPr>
          <p:cNvPr id="45" name="Google Shape;156;p7"/>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Meiryo"/>
                <a:ea typeface="Meiryo"/>
                <a:cs typeface="Meiryo"/>
                <a:sym typeface="Meiryo"/>
              </a:rPr>
              <a:t>LINE</a:t>
            </a:r>
            <a:r>
              <a:rPr lang="ja-JP" altLang="en-US" sz="1600" b="1" dirty="0">
                <a:solidFill>
                  <a:srgbClr val="002060"/>
                </a:solidFill>
                <a:latin typeface="Meiryo"/>
                <a:ea typeface="Meiryo"/>
                <a:cs typeface="Meiryo"/>
                <a:sym typeface="Meiryo"/>
              </a:rPr>
              <a:t>公式アカウントを検討する背景</a:t>
            </a:r>
            <a:endParaRPr sz="1600" b="1" dirty="0">
              <a:solidFill>
                <a:srgbClr val="002060"/>
              </a:solidFill>
              <a:latin typeface="Meiryo"/>
              <a:ea typeface="Meiryo"/>
              <a:cs typeface="Meiryo"/>
              <a:sym typeface="Meiryo"/>
            </a:endParaRPr>
          </a:p>
        </p:txBody>
      </p:sp>
      <p:grpSp>
        <p:nvGrpSpPr>
          <p:cNvPr id="2" name="Group 25">
            <a:extLst>
              <a:ext uri="{FF2B5EF4-FFF2-40B4-BE49-F238E27FC236}">
                <a16:creationId xmlns:a16="http://schemas.microsoft.com/office/drawing/2014/main" id="{B0E7D26F-11A3-5FBC-5353-A2EB828FFE48}"/>
              </a:ext>
            </a:extLst>
          </p:cNvPr>
          <p:cNvGrpSpPr/>
          <p:nvPr/>
        </p:nvGrpSpPr>
        <p:grpSpPr>
          <a:xfrm rot="5400000">
            <a:off x="5145798" y="5317353"/>
            <a:ext cx="301414" cy="601358"/>
            <a:chOff x="0" y="0"/>
            <a:chExt cx="452282" cy="902360"/>
          </a:xfrm>
        </p:grpSpPr>
        <p:sp>
          <p:nvSpPr>
            <p:cNvPr id="35" name="Freeform 26">
              <a:extLst>
                <a:ext uri="{FF2B5EF4-FFF2-40B4-BE49-F238E27FC236}">
                  <a16:creationId xmlns:a16="http://schemas.microsoft.com/office/drawing/2014/main" id="{CDCF4F9F-A96D-47F0-B2E9-BCCD3E29956A}"/>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37" name="TextBox 27">
              <a:extLst>
                <a:ext uri="{FF2B5EF4-FFF2-40B4-BE49-F238E27FC236}">
                  <a16:creationId xmlns:a16="http://schemas.microsoft.com/office/drawing/2014/main" id="{6966F572-AC3F-D92B-3752-A94BD979EB99}"/>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endParaRPr>
            </a:p>
          </p:txBody>
        </p:sp>
      </p:grpSp>
      <p:sp>
        <p:nvSpPr>
          <p:cNvPr id="46" name="TextBox 38">
            <a:extLst>
              <a:ext uri="{FF2B5EF4-FFF2-40B4-BE49-F238E27FC236}">
                <a16:creationId xmlns:a16="http://schemas.microsoft.com/office/drawing/2014/main" id="{64F1097F-60BC-270D-2F02-2726FEAC05DF}"/>
              </a:ext>
            </a:extLst>
          </p:cNvPr>
          <p:cNvSpPr txBox="1"/>
          <p:nvPr/>
        </p:nvSpPr>
        <p:spPr>
          <a:xfrm>
            <a:off x="5800858" y="5349271"/>
            <a:ext cx="3788946" cy="539891"/>
          </a:xfrm>
          <a:prstGeom prst="rect">
            <a:avLst/>
          </a:prstGeom>
        </p:spPr>
        <p:txBody>
          <a:bodyPr wrap="square" lIns="0" tIns="0" rIns="0" bIns="0" rtlCol="0" anchor="t">
            <a:spAutoFit/>
          </a:bodyPr>
          <a:lstStyle/>
          <a:p>
            <a:pPr>
              <a:lnSpc>
                <a:spcPts val="2176"/>
              </a:lnSpc>
            </a:pPr>
            <a:r>
              <a:rPr lang="ja-JP" altLang="en-US" sz="1200" b="1" dirty="0">
                <a:solidFill>
                  <a:srgbClr val="494848"/>
                </a:solidFill>
                <a:latin typeface="メイリオ" panose="020B0604030504040204" pitchFamily="50" charset="-128"/>
                <a:ea typeface="メイリオ" panose="020B0604030504040204" pitchFamily="50" charset="-128"/>
              </a:rPr>
              <a:t>広告審査がないうえに、ユーザー接点を早めることで大量かつ高効率での獲得を見込むことが出来る。</a:t>
            </a:r>
            <a:endParaRPr lang="en-US" altLang="ja-JP" sz="1200" b="1" dirty="0">
              <a:solidFill>
                <a:srgbClr val="494848"/>
              </a:solidFill>
              <a:latin typeface="メイリオ" panose="020B0604030504040204" pitchFamily="50" charset="-128"/>
              <a:ea typeface="メイリオ" panose="020B0604030504040204" pitchFamily="50" charset="-128"/>
            </a:endParaRPr>
          </a:p>
        </p:txBody>
      </p:sp>
      <p:sp>
        <p:nvSpPr>
          <p:cNvPr id="67" name="正方形/長方形 66">
            <a:extLst>
              <a:ext uri="{FF2B5EF4-FFF2-40B4-BE49-F238E27FC236}">
                <a16:creationId xmlns:a16="http://schemas.microsoft.com/office/drawing/2014/main" id="{77B39B6D-C944-4A06-0278-EC4EB8161426}"/>
              </a:ext>
            </a:extLst>
          </p:cNvPr>
          <p:cNvSpPr/>
          <p:nvPr/>
        </p:nvSpPr>
        <p:spPr>
          <a:xfrm>
            <a:off x="0" y="1550126"/>
            <a:ext cx="9906000" cy="99817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9" name="正方形/長方形 68">
            <a:extLst>
              <a:ext uri="{FF2B5EF4-FFF2-40B4-BE49-F238E27FC236}">
                <a16:creationId xmlns:a16="http://schemas.microsoft.com/office/drawing/2014/main" id="{5E7B95DC-CC66-6E85-612E-16DD030F6207}"/>
              </a:ext>
            </a:extLst>
          </p:cNvPr>
          <p:cNvSpPr/>
          <p:nvPr/>
        </p:nvSpPr>
        <p:spPr>
          <a:xfrm>
            <a:off x="1415156" y="1777768"/>
            <a:ext cx="3135795" cy="523220"/>
          </a:xfrm>
          <a:prstGeom prst="rect">
            <a:avLst/>
          </a:prstGeom>
        </p:spPr>
        <p:txBody>
          <a:bodyPr wrap="none">
            <a:spAutoFit/>
          </a:bodyPr>
          <a:lstStyle/>
          <a:p>
            <a:pPr algn="ctr"/>
            <a:r>
              <a:rPr lang="en-US" altLang="ja-JP" sz="1400" dirty="0">
                <a:latin typeface="Meiryo"/>
                <a:ea typeface="Meiryo"/>
                <a:cs typeface="Meiryo"/>
                <a:sym typeface="Meiryo"/>
              </a:rPr>
              <a:t>WEB</a:t>
            </a:r>
            <a:r>
              <a:rPr lang="ja-JP" altLang="en-US" sz="1400" dirty="0">
                <a:latin typeface="Meiryo"/>
                <a:ea typeface="Meiryo"/>
                <a:cs typeface="Meiryo"/>
                <a:sym typeface="Meiryo"/>
              </a:rPr>
              <a:t>広告における</a:t>
            </a:r>
            <a:r>
              <a:rPr lang="ja-JP" altLang="en-US" sz="1400" b="1" dirty="0">
                <a:latin typeface="Meiryo"/>
                <a:ea typeface="Meiryo"/>
                <a:cs typeface="Meiryo"/>
                <a:sym typeface="Meiryo"/>
              </a:rPr>
              <a:t>競合性が高</a:t>
            </a:r>
            <a:r>
              <a:rPr lang="ja-JP" altLang="en-US" sz="1400" dirty="0">
                <a:latin typeface="Meiryo"/>
                <a:ea typeface="Meiryo"/>
                <a:cs typeface="Meiryo"/>
                <a:sym typeface="Meiryo"/>
              </a:rPr>
              <a:t>くなり</a:t>
            </a:r>
            <a:endParaRPr lang="en-US" altLang="ja-JP" sz="1400" dirty="0">
              <a:latin typeface="Meiryo"/>
              <a:ea typeface="Meiryo"/>
              <a:cs typeface="Meiryo"/>
              <a:sym typeface="Meiryo"/>
            </a:endParaRPr>
          </a:p>
          <a:p>
            <a:pPr algn="ctr"/>
            <a:r>
              <a:rPr lang="ja-JP" altLang="en-US" sz="1400" b="1" dirty="0">
                <a:solidFill>
                  <a:srgbClr val="FF0000"/>
                </a:solidFill>
                <a:latin typeface="Meiryo"/>
                <a:ea typeface="Meiryo"/>
                <a:cs typeface="Meiryo"/>
                <a:sym typeface="Meiryo"/>
              </a:rPr>
              <a:t>単価指標（</a:t>
            </a:r>
            <a:r>
              <a:rPr lang="en-US" altLang="ja-JP" sz="1400" b="1" dirty="0">
                <a:solidFill>
                  <a:srgbClr val="FF0000"/>
                </a:solidFill>
                <a:latin typeface="Meiryo"/>
                <a:ea typeface="Meiryo"/>
                <a:cs typeface="Meiryo"/>
                <a:sym typeface="Meiryo"/>
              </a:rPr>
              <a:t>CPC</a:t>
            </a:r>
            <a:r>
              <a:rPr lang="ja-JP" altLang="en-US" sz="1400" b="1" dirty="0">
                <a:solidFill>
                  <a:srgbClr val="FF0000"/>
                </a:solidFill>
                <a:latin typeface="Meiryo"/>
                <a:ea typeface="Meiryo"/>
                <a:cs typeface="Meiryo"/>
                <a:sym typeface="Meiryo"/>
              </a:rPr>
              <a:t>及び</a:t>
            </a:r>
            <a:r>
              <a:rPr lang="en-US" altLang="ja-JP" sz="1400" b="1" dirty="0">
                <a:solidFill>
                  <a:srgbClr val="FF0000"/>
                </a:solidFill>
                <a:latin typeface="Meiryo"/>
                <a:ea typeface="Meiryo"/>
                <a:cs typeface="Meiryo"/>
                <a:sym typeface="Meiryo"/>
              </a:rPr>
              <a:t>CPA</a:t>
            </a:r>
            <a:r>
              <a:rPr lang="ja-JP" altLang="en-US" sz="1400" b="1" dirty="0">
                <a:solidFill>
                  <a:srgbClr val="FF0000"/>
                </a:solidFill>
                <a:latin typeface="Meiryo"/>
                <a:ea typeface="Meiryo"/>
                <a:cs typeface="Meiryo"/>
                <a:sym typeface="Meiryo"/>
              </a:rPr>
              <a:t>）が高騰</a:t>
            </a:r>
            <a:r>
              <a:rPr lang="ja-JP" altLang="en-US" sz="1400" dirty="0">
                <a:latin typeface="Meiryo"/>
                <a:ea typeface="Meiryo"/>
                <a:cs typeface="Meiryo"/>
                <a:sym typeface="Meiryo"/>
              </a:rPr>
              <a:t>。</a:t>
            </a:r>
            <a:endParaRPr lang="en-US" altLang="ja-JP" sz="1400" dirty="0">
              <a:latin typeface="Meiryo"/>
              <a:ea typeface="Meiryo"/>
              <a:cs typeface="Meiryo"/>
              <a:sym typeface="Meiryo"/>
            </a:endParaRPr>
          </a:p>
        </p:txBody>
      </p:sp>
      <p:sp>
        <p:nvSpPr>
          <p:cNvPr id="71" name="正方形/長方形 70">
            <a:extLst>
              <a:ext uri="{FF2B5EF4-FFF2-40B4-BE49-F238E27FC236}">
                <a16:creationId xmlns:a16="http://schemas.microsoft.com/office/drawing/2014/main" id="{8E05BE0D-9D83-9FD4-8701-8FD707FC6BF5}"/>
              </a:ext>
            </a:extLst>
          </p:cNvPr>
          <p:cNvSpPr/>
          <p:nvPr/>
        </p:nvSpPr>
        <p:spPr>
          <a:xfrm>
            <a:off x="5717891" y="1781471"/>
            <a:ext cx="3773790" cy="523220"/>
          </a:xfrm>
          <a:prstGeom prst="rect">
            <a:avLst/>
          </a:prstGeom>
        </p:spPr>
        <p:txBody>
          <a:bodyPr wrap="none">
            <a:spAutoFit/>
          </a:bodyPr>
          <a:lstStyle/>
          <a:p>
            <a:pPr algn="ctr"/>
            <a:r>
              <a:rPr lang="ja-JP" altLang="en-US" sz="1400" dirty="0">
                <a:latin typeface="Meiryo"/>
                <a:ea typeface="Meiryo"/>
                <a:sym typeface="Meiryo"/>
              </a:rPr>
              <a:t>集客施策における</a:t>
            </a:r>
            <a:r>
              <a:rPr lang="en-US" altLang="ja-JP" sz="1400" b="1" dirty="0">
                <a:latin typeface="Meiryo"/>
                <a:ea typeface="Meiryo"/>
                <a:sym typeface="Meiryo"/>
              </a:rPr>
              <a:t>CVR</a:t>
            </a:r>
            <a:r>
              <a:rPr lang="ja-JP" altLang="en-US" sz="1400" b="1" dirty="0">
                <a:latin typeface="Meiryo"/>
                <a:ea typeface="Meiryo"/>
                <a:sym typeface="Meiryo"/>
              </a:rPr>
              <a:t>は高くても</a:t>
            </a:r>
            <a:r>
              <a:rPr lang="en-US" altLang="ja-JP" sz="1400" b="1" dirty="0">
                <a:latin typeface="Meiryo"/>
                <a:ea typeface="Meiryo"/>
                <a:sym typeface="Meiryo"/>
              </a:rPr>
              <a:t>2%</a:t>
            </a:r>
            <a:r>
              <a:rPr lang="ja-JP" altLang="en-US" sz="1400" b="1" dirty="0">
                <a:latin typeface="Meiryo"/>
                <a:ea typeface="Meiryo"/>
                <a:sym typeface="Meiryo"/>
              </a:rPr>
              <a:t>程度</a:t>
            </a:r>
            <a:r>
              <a:rPr lang="ja-JP" altLang="en-US" sz="1400" dirty="0">
                <a:latin typeface="Meiryo"/>
                <a:ea typeface="Meiryo"/>
                <a:sym typeface="Meiryo"/>
              </a:rPr>
              <a:t>。</a:t>
            </a:r>
            <a:endParaRPr lang="en-US" altLang="ja-JP" sz="1400" dirty="0">
              <a:latin typeface="Meiryo"/>
              <a:ea typeface="Meiryo"/>
              <a:sym typeface="Meiryo"/>
            </a:endParaRPr>
          </a:p>
          <a:p>
            <a:pPr algn="ctr"/>
            <a:r>
              <a:rPr lang="en-US" altLang="ja-JP" sz="1400" dirty="0">
                <a:solidFill>
                  <a:srgbClr val="FF0000"/>
                </a:solidFill>
                <a:latin typeface="Meiryo"/>
                <a:ea typeface="Meiryo"/>
                <a:sym typeface="Meiryo"/>
              </a:rPr>
              <a:t>CV</a:t>
            </a:r>
            <a:r>
              <a:rPr lang="ja-JP" altLang="en-US" sz="1400" dirty="0">
                <a:solidFill>
                  <a:srgbClr val="FF0000"/>
                </a:solidFill>
                <a:latin typeface="Meiryo"/>
                <a:ea typeface="Meiryo"/>
                <a:sym typeface="Meiryo"/>
              </a:rPr>
              <a:t>に至らず離脱するユーザーが大部分</a:t>
            </a:r>
            <a:r>
              <a:rPr lang="ja-JP" altLang="en-US" sz="1400" dirty="0">
                <a:latin typeface="Meiryo"/>
                <a:ea typeface="Meiryo"/>
                <a:sym typeface="Meiryo"/>
              </a:rPr>
              <a:t>。</a:t>
            </a:r>
            <a:endParaRPr lang="ja-JP" altLang="en-US" sz="1400" dirty="0"/>
          </a:p>
        </p:txBody>
      </p:sp>
      <p:sp>
        <p:nvSpPr>
          <p:cNvPr id="73" name="Freeform 12">
            <a:extLst>
              <a:ext uri="{FF2B5EF4-FFF2-40B4-BE49-F238E27FC236}">
                <a16:creationId xmlns:a16="http://schemas.microsoft.com/office/drawing/2014/main" id="{E8D769AF-3EE9-8FD1-96E2-AA6FB90CAF13}"/>
              </a:ext>
            </a:extLst>
          </p:cNvPr>
          <p:cNvSpPr/>
          <p:nvPr/>
        </p:nvSpPr>
        <p:spPr>
          <a:xfrm>
            <a:off x="4853067" y="1823015"/>
            <a:ext cx="823531" cy="426315"/>
          </a:xfrm>
          <a:custGeom>
            <a:avLst/>
            <a:gdLst/>
            <a:ahLst/>
            <a:cxnLst/>
            <a:rect l="l" t="t" r="r" b="b"/>
            <a:pathLst>
              <a:path w="617887" h="387031">
                <a:moveTo>
                  <a:pt x="0" y="0"/>
                </a:moveTo>
                <a:lnTo>
                  <a:pt x="617887" y="0"/>
                </a:lnTo>
                <a:lnTo>
                  <a:pt x="617887" y="387031"/>
                </a:lnTo>
                <a:lnTo>
                  <a:pt x="0" y="387031"/>
                </a:lnTo>
                <a:close/>
              </a:path>
            </a:pathLst>
          </a:custGeom>
          <a:solidFill>
            <a:srgbClr val="D9D9D9"/>
          </a:solidFill>
        </p:spPr>
        <p:txBody>
          <a:bodyPr anchor="ctr"/>
          <a:lstStyle/>
          <a:p>
            <a:pPr algn="ctr"/>
            <a:r>
              <a:rPr lang="en-US" altLang="ja-JP" b="1" dirty="0">
                <a:latin typeface="メイリオ" panose="020B0604030504040204" pitchFamily="50" charset="-128"/>
                <a:ea typeface="メイリオ" panose="020B0604030504040204" pitchFamily="50" charset="-128"/>
              </a:rPr>
              <a:t>CVR</a:t>
            </a:r>
            <a:endParaRPr lang="ja-JP" altLang="en-US" b="1" dirty="0">
              <a:latin typeface="メイリオ" panose="020B0604030504040204" pitchFamily="50" charset="-128"/>
              <a:ea typeface="メイリオ" panose="020B0604030504040204" pitchFamily="50" charset="-128"/>
            </a:endParaRPr>
          </a:p>
        </p:txBody>
      </p:sp>
      <p:sp>
        <p:nvSpPr>
          <p:cNvPr id="75" name="Freeform 12">
            <a:extLst>
              <a:ext uri="{FF2B5EF4-FFF2-40B4-BE49-F238E27FC236}">
                <a16:creationId xmlns:a16="http://schemas.microsoft.com/office/drawing/2014/main" id="{952D530B-C759-C959-90BD-289EC5DBA890}"/>
              </a:ext>
            </a:extLst>
          </p:cNvPr>
          <p:cNvSpPr/>
          <p:nvPr/>
        </p:nvSpPr>
        <p:spPr>
          <a:xfrm>
            <a:off x="555048" y="1808923"/>
            <a:ext cx="823531" cy="426315"/>
          </a:xfrm>
          <a:custGeom>
            <a:avLst/>
            <a:gdLst/>
            <a:ahLst/>
            <a:cxnLst/>
            <a:rect l="l" t="t" r="r" b="b"/>
            <a:pathLst>
              <a:path w="617887" h="387031">
                <a:moveTo>
                  <a:pt x="0" y="0"/>
                </a:moveTo>
                <a:lnTo>
                  <a:pt x="617887" y="0"/>
                </a:lnTo>
                <a:lnTo>
                  <a:pt x="617887" y="387031"/>
                </a:lnTo>
                <a:lnTo>
                  <a:pt x="0" y="387031"/>
                </a:lnTo>
                <a:close/>
              </a:path>
            </a:pathLst>
          </a:custGeom>
          <a:solidFill>
            <a:srgbClr val="D9D9D9"/>
          </a:solidFill>
        </p:spPr>
        <p:txBody>
          <a:bodyPr anchor="ctr"/>
          <a:lstStyle/>
          <a:p>
            <a:pPr algn="ctr"/>
            <a:r>
              <a:rPr lang="en-US" altLang="ja-JP" b="1" dirty="0">
                <a:latin typeface="メイリオ" panose="020B0604030504040204" pitchFamily="50" charset="-128"/>
                <a:ea typeface="メイリオ" panose="020B0604030504040204" pitchFamily="50" charset="-128"/>
              </a:rPr>
              <a:t>CPC</a:t>
            </a:r>
            <a:endParaRPr lang="ja-JP" altLang="en-US" b="1"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56214849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BD88C4-8CFA-2C0E-C230-F47FCA10FFC5}"/>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634DA306-8233-CC88-65A5-36654C66652A}"/>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0CB02FD4-701A-71CE-F43E-33D8F9E44E7B}"/>
              </a:ext>
            </a:extLst>
          </p:cNvPr>
          <p:cNvSpPr/>
          <p:nvPr/>
        </p:nvSpPr>
        <p:spPr>
          <a:xfrm>
            <a:off x="796379" y="635062"/>
            <a:ext cx="8328074"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利用年齢層により変動はするものの、</a:t>
            </a:r>
            <a:r>
              <a:rPr lang="en-US" altLang="ja-JP" sz="1400" dirty="0">
                <a:solidFill>
                  <a:srgbClr val="343434"/>
                </a:solidFill>
                <a:latin typeface="メイリオ" panose="020B0604030504040204" pitchFamily="50" charset="-128"/>
                <a:ea typeface="メイリオ" panose="020B0604030504040204" pitchFamily="50" charset="-128"/>
              </a:rPr>
              <a:t>10-40</a:t>
            </a:r>
            <a:r>
              <a:rPr lang="ja-JP" altLang="en-US" sz="1400" dirty="0">
                <a:solidFill>
                  <a:srgbClr val="343434"/>
                </a:solidFill>
                <a:latin typeface="メイリオ" panose="020B0604030504040204" pitchFamily="50" charset="-128"/>
                <a:ea typeface="メイリオ" panose="020B0604030504040204" pitchFamily="50" charset="-128"/>
              </a:rPr>
              <a:t>代を中心に電話、メールを忌避する動きが強まっている。</a:t>
            </a:r>
            <a:endParaRPr lang="en-US" altLang="ja-JP" sz="1400" dirty="0">
              <a:solidFill>
                <a:srgbClr val="343434"/>
              </a:solidFill>
              <a:latin typeface="メイリオ" panose="020B0604030504040204" pitchFamily="50" charset="-128"/>
              <a:ea typeface="メイリオ" panose="020B0604030504040204" pitchFamily="50" charset="-128"/>
            </a:endParaRPr>
          </a:p>
          <a:p>
            <a:pPr algn="ctr">
              <a:lnSpc>
                <a:spcPts val="2455"/>
              </a:lnSpc>
            </a:pPr>
            <a:r>
              <a:rPr lang="ja-JP" altLang="en-US" sz="1400" b="1" dirty="0">
                <a:solidFill>
                  <a:srgbClr val="343434"/>
                </a:solidFill>
                <a:latin typeface="メイリオ" panose="020B0604030504040204" pitchFamily="50" charset="-128"/>
                <a:ea typeface="メイリオ" panose="020B0604030504040204" pitchFamily="50" charset="-128"/>
              </a:rPr>
              <a:t>既存ユーザー以外の年齢層の獲得にあたって、利用率の高い</a:t>
            </a:r>
            <a:r>
              <a:rPr lang="en-US" altLang="ja-JP" sz="1400" b="1" dirty="0">
                <a:solidFill>
                  <a:srgbClr val="343434"/>
                </a:solidFill>
                <a:latin typeface="メイリオ" panose="020B0604030504040204" pitchFamily="50" charset="-128"/>
                <a:ea typeface="メイリオ" panose="020B0604030504040204" pitchFamily="50" charset="-128"/>
              </a:rPr>
              <a:t>LINEOA</a:t>
            </a:r>
            <a:r>
              <a:rPr lang="ja-JP" altLang="en-US" sz="1400" b="1" dirty="0">
                <a:solidFill>
                  <a:srgbClr val="343434"/>
                </a:solidFill>
                <a:latin typeface="メイリオ" panose="020B0604030504040204" pitchFamily="50" charset="-128"/>
                <a:ea typeface="メイリオ" panose="020B0604030504040204" pitchFamily="50" charset="-128"/>
              </a:rPr>
              <a:t>施策が非常に重要と想定</a:t>
            </a:r>
            <a:r>
              <a:rPr lang="ja-JP" altLang="en-US" sz="1400" dirty="0">
                <a:solidFill>
                  <a:srgbClr val="343434"/>
                </a:solidFill>
                <a:latin typeface="メイリオ" panose="020B0604030504040204" pitchFamily="50" charset="-128"/>
                <a:ea typeface="メイリオ" panose="020B0604030504040204" pitchFamily="50" charset="-128"/>
              </a:rPr>
              <a:t>される。</a:t>
            </a:r>
            <a:endParaRPr lang="en-US" altLang="ja-JP" sz="1400" dirty="0">
              <a:solidFill>
                <a:srgbClr val="343434"/>
              </a:solidFill>
              <a:latin typeface="メイリオ" panose="020B0604030504040204" pitchFamily="50" charset="-128"/>
              <a:ea typeface="メイリオ" panose="020B0604030504040204" pitchFamily="50" charset="-128"/>
            </a:endParaRPr>
          </a:p>
        </p:txBody>
      </p:sp>
      <p:cxnSp>
        <p:nvCxnSpPr>
          <p:cNvPr id="5" name="直線コネクタ 4">
            <a:extLst>
              <a:ext uri="{FF2B5EF4-FFF2-40B4-BE49-F238E27FC236}">
                <a16:creationId xmlns:a16="http://schemas.microsoft.com/office/drawing/2014/main" id="{F214699F-6602-F0D9-7DE6-2A3BDFB29171}"/>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37B7BC17-B92E-ED23-C69B-F5A79154E50F}"/>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Meiryo"/>
                <a:ea typeface="Meiryo"/>
                <a:cs typeface="Meiryo"/>
                <a:sym typeface="Meiryo"/>
              </a:rPr>
              <a:t>LINE</a:t>
            </a:r>
            <a:r>
              <a:rPr lang="ja-JP" altLang="en-US" sz="1600" b="1" dirty="0">
                <a:solidFill>
                  <a:srgbClr val="002060"/>
                </a:solidFill>
                <a:latin typeface="Meiryo"/>
                <a:ea typeface="Meiryo"/>
                <a:cs typeface="Meiryo"/>
                <a:sym typeface="Meiryo"/>
              </a:rPr>
              <a:t>公式アカウントを検討する背景</a:t>
            </a:r>
            <a:endParaRPr sz="1600" b="1" dirty="0">
              <a:solidFill>
                <a:srgbClr val="002060"/>
              </a:solidFill>
              <a:latin typeface="Meiryo"/>
              <a:ea typeface="Meiryo"/>
              <a:cs typeface="Meiryo"/>
              <a:sym typeface="Meiryo"/>
            </a:endParaRPr>
          </a:p>
        </p:txBody>
      </p:sp>
      <p:graphicFrame>
        <p:nvGraphicFramePr>
          <p:cNvPr id="50" name="表 49">
            <a:extLst>
              <a:ext uri="{FF2B5EF4-FFF2-40B4-BE49-F238E27FC236}">
                <a16:creationId xmlns:a16="http://schemas.microsoft.com/office/drawing/2014/main" id="{F4041BC0-327B-67FB-AC18-60C96EAE8809}"/>
              </a:ext>
            </a:extLst>
          </p:cNvPr>
          <p:cNvGraphicFramePr>
            <a:graphicFrameLocks noGrp="1"/>
          </p:cNvGraphicFramePr>
          <p:nvPr/>
        </p:nvGraphicFramePr>
        <p:xfrm>
          <a:off x="367528" y="1662925"/>
          <a:ext cx="9168355" cy="4494024"/>
        </p:xfrm>
        <a:graphic>
          <a:graphicData uri="http://schemas.openxmlformats.org/drawingml/2006/table">
            <a:tbl>
              <a:tblPr/>
              <a:tblGrid>
                <a:gridCol w="1833671">
                  <a:extLst>
                    <a:ext uri="{9D8B030D-6E8A-4147-A177-3AD203B41FA5}">
                      <a16:colId xmlns:a16="http://schemas.microsoft.com/office/drawing/2014/main" val="1559461290"/>
                    </a:ext>
                  </a:extLst>
                </a:gridCol>
                <a:gridCol w="1833671">
                  <a:extLst>
                    <a:ext uri="{9D8B030D-6E8A-4147-A177-3AD203B41FA5}">
                      <a16:colId xmlns:a16="http://schemas.microsoft.com/office/drawing/2014/main" val="4043568489"/>
                    </a:ext>
                  </a:extLst>
                </a:gridCol>
                <a:gridCol w="1833671">
                  <a:extLst>
                    <a:ext uri="{9D8B030D-6E8A-4147-A177-3AD203B41FA5}">
                      <a16:colId xmlns:a16="http://schemas.microsoft.com/office/drawing/2014/main" val="377063127"/>
                    </a:ext>
                  </a:extLst>
                </a:gridCol>
                <a:gridCol w="1833671">
                  <a:extLst>
                    <a:ext uri="{9D8B030D-6E8A-4147-A177-3AD203B41FA5}">
                      <a16:colId xmlns:a16="http://schemas.microsoft.com/office/drawing/2014/main" val="2814255100"/>
                    </a:ext>
                  </a:extLst>
                </a:gridCol>
                <a:gridCol w="1833671">
                  <a:extLst>
                    <a:ext uri="{9D8B030D-6E8A-4147-A177-3AD203B41FA5}">
                      <a16:colId xmlns:a16="http://schemas.microsoft.com/office/drawing/2014/main" val="3083523150"/>
                    </a:ext>
                  </a:extLst>
                </a:gridCol>
              </a:tblGrid>
              <a:tr h="499336">
                <a:tc>
                  <a:txBody>
                    <a:bodyPr/>
                    <a:lstStyle/>
                    <a:p>
                      <a:pPr algn="ctr"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年齢層</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LINE</a:t>
                      </a: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rPr>
                        <a:t>・チャット系</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buNone/>
                      </a:pPr>
                      <a:endParaRPr lang="ja-JP" altLang="en-US" sz="1000" b="0" i="0" u="none" strike="noStrike" dirty="0">
                        <a:solidFill>
                          <a:srgbClr val="000000"/>
                        </a:solidFill>
                        <a:effectLst/>
                        <a:latin typeface="メイリオ" panose="020B0604030504040204" pitchFamily="50" charset="-128"/>
                        <a:ea typeface="メイリオ" panose="020B0604030504040204" pitchFamily="50" charset="-128"/>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rPr>
                        <a:t>メール・メルマガ</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buNone/>
                      </a:pP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rPr>
                        <a:t>電話</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buNone/>
                      </a:pP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rPr>
                        <a:t>主要な特徴・</a:t>
                      </a: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SNS</a:t>
                      </a:r>
                    </a:p>
                    <a:p>
                      <a:pPr algn="ctr" fontAlgn="ctr">
                        <a:buNone/>
                      </a:pP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extLst>
                  <a:ext uri="{0D108BD9-81ED-4DB2-BD59-A6C34878D82A}">
                    <a16:rowId xmlns:a16="http://schemas.microsoft.com/office/drawing/2014/main" val="3477182699"/>
                  </a:ext>
                </a:extLst>
              </a:tr>
              <a:tr h="499336">
                <a:tc rowSpan="2">
                  <a:txBody>
                    <a:bodyPr/>
                    <a:lstStyle/>
                    <a:p>
                      <a:pPr algn="l"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　　　</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rPr>
                        <a:t>10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代</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rPr>
                        <a:t>〜20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代　</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rPr>
                        <a:t>90%</a:t>
                      </a: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以上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FFF99"/>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利用率：低</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利用率：極めて低</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en-US" altLang="ja-JP" sz="800" b="0" i="0" u="none" strike="noStrike" dirty="0" err="1">
                          <a:solidFill>
                            <a:srgbClr val="000000"/>
                          </a:solidFill>
                          <a:effectLst/>
                          <a:latin typeface="メイリオ" panose="020B0604030504040204" pitchFamily="50" charset="-128"/>
                          <a:ea typeface="メイリオ" panose="020B0604030504040204" pitchFamily="50" charset="-128"/>
                        </a:rPr>
                        <a:t>Tiktok</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rPr>
                        <a:t> YouTube</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が情報収集の起点。</a:t>
                      </a:r>
                      <a:b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b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rPr>
                        <a:t>Instagram</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rPr>
                        <a:t>X</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の</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rPr>
                        <a:t>DM</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も</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連絡網として活用。</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5522484"/>
                  </a:ext>
                </a:extLst>
              </a:tr>
              <a:tr h="499336">
                <a:tc vMerge="1">
                  <a:txBody>
                    <a:bodyPr/>
                    <a:lstStyle/>
                    <a:p>
                      <a:endParaRPr kumimoji="1" lang="ja-JP" altLang="en-US"/>
                    </a:p>
                  </a:txBody>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日常連絡の絶対的インフラ。</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FFF99"/>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企業や公式からの連絡は</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読まれない傾向。</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「電話恐怖症」を持つ人も。</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p>
                  </a:txBody>
                  <a:tcPr/>
                </a:tc>
                <a:extLst>
                  <a:ext uri="{0D108BD9-81ED-4DB2-BD59-A6C34878D82A}">
                    <a16:rowId xmlns:a16="http://schemas.microsoft.com/office/drawing/2014/main" val="1705581114"/>
                  </a:ext>
                </a:extLst>
              </a:tr>
              <a:tr h="499336">
                <a:tc rowSpan="2">
                  <a:txBody>
                    <a:bodyPr/>
                    <a:lstStyle/>
                    <a:p>
                      <a:pPr algn="l"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　　　</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rPr>
                        <a:t>30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代</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rPr>
                        <a:t>〜40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代</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rPr>
                        <a:t>90%</a:t>
                      </a: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以上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FFF99"/>
                    </a:solidFill>
                  </a:tcPr>
                </a:tc>
                <a:tc>
                  <a:txBody>
                    <a:bodyPr/>
                    <a:lstStyle/>
                    <a:p>
                      <a:pPr algn="ctr" fontAlgn="ctr">
                        <a:buNone/>
                      </a:pPr>
                      <a:r>
                        <a:rPr lang="ja-JP" altLang="en-US" sz="1000" b="1" i="0" u="none" strike="noStrike">
                          <a:solidFill>
                            <a:srgbClr val="000000"/>
                          </a:solidFill>
                          <a:effectLst/>
                          <a:latin typeface="メイリオ" panose="020B0604030504040204" pitchFamily="50" charset="-128"/>
                          <a:ea typeface="メイリオ" panose="020B0604030504040204" pitchFamily="50" charset="-128"/>
                        </a:rPr>
                        <a:t>利用率：中</a:t>
                      </a:r>
                      <a:r>
                        <a:rPr lang="en-US" altLang="ja-JP" sz="1000" b="1" i="0" u="none" strike="noStrike">
                          <a:solidFill>
                            <a:srgbClr val="000000"/>
                          </a:solidFill>
                          <a:effectLst/>
                          <a:latin typeface="メイリオ" panose="020B0604030504040204" pitchFamily="50" charset="-128"/>
                          <a:ea typeface="メイリオ" panose="020B0604030504040204" pitchFamily="50" charset="-128"/>
                        </a:rPr>
                        <a:t>〜</a:t>
                      </a:r>
                      <a:r>
                        <a:rPr lang="ja-JP" altLang="en-US" sz="1000" b="1" i="0" u="none" strike="noStrike">
                          <a:solidFill>
                            <a:srgbClr val="000000"/>
                          </a:solidFill>
                          <a:effectLst/>
                          <a:latin typeface="メイリオ" panose="020B0604030504040204" pitchFamily="50" charset="-128"/>
                          <a:ea typeface="メイリオ" panose="020B0604030504040204" pitchFamily="50" charset="-128"/>
                        </a:rPr>
                        <a:t>高</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利用率：中</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rPr>
                        <a:t>Facebook</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や</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rPr>
                        <a:t>X</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での情報収集が活発。</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13153412"/>
                  </a:ext>
                </a:extLst>
              </a:tr>
              <a:tr h="499336">
                <a:tc vMerge="1">
                  <a:txBody>
                    <a:bodyPr/>
                    <a:lstStyle/>
                    <a:p>
                      <a:endParaRPr kumimoji="1" lang="ja-JP" altLang="en-US"/>
                    </a:p>
                  </a:txBody>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プライベートの連絡網。</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FFF99"/>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仕事や、メルマガでの</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セールス情報に抵抗なし。</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プライベートでは減少傾向も</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仕事では必須。</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p>
                  </a:txBody>
                  <a:tcPr/>
                </a:tc>
                <a:extLst>
                  <a:ext uri="{0D108BD9-81ED-4DB2-BD59-A6C34878D82A}">
                    <a16:rowId xmlns:a16="http://schemas.microsoft.com/office/drawing/2014/main" val="3489989836"/>
                  </a:ext>
                </a:extLst>
              </a:tr>
              <a:tr h="499336">
                <a:tc rowSpan="2">
                  <a:txBody>
                    <a:bodyPr/>
                    <a:lstStyle/>
                    <a:p>
                      <a:pPr algn="l"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　　　</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rPr>
                        <a:t>50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代</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rPr>
                        <a:t>〜60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代</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rPr>
                        <a:t>80%〜90%</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FFF99"/>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YouTube</a:t>
                      </a:r>
                      <a:r>
                        <a:rPr lang="ja-JP" altLang="en-US" sz="800" b="0" i="0" u="none" strike="noStrike">
                          <a:solidFill>
                            <a:srgbClr val="000000"/>
                          </a:solidFill>
                          <a:effectLst/>
                          <a:latin typeface="メイリオ" panose="020B0604030504040204" pitchFamily="50" charset="-128"/>
                          <a:ea typeface="メイリオ" panose="020B0604030504040204" pitchFamily="50" charset="-128"/>
                        </a:rPr>
                        <a:t>での趣味動画視聴も普及。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76969856"/>
                  </a:ext>
                </a:extLst>
              </a:tr>
              <a:tr h="499336">
                <a:tc vMerge="1">
                  <a:txBody>
                    <a:bodyPr/>
                    <a:lstStyle/>
                    <a:p>
                      <a:endParaRPr kumimoji="1" lang="ja-JP" altLang="en-US"/>
                    </a:p>
                  </a:txBody>
                  <a:tcPr/>
                </a:tc>
                <a:tc>
                  <a:txBody>
                    <a:bodyPr/>
                    <a:lstStyle/>
                    <a:p>
                      <a:pPr algn="ctr" fontAlgn="ctr">
                        <a:buNone/>
                      </a:pPr>
                      <a:r>
                        <a:rPr lang="ja-JP" altLang="en-US" sz="800" b="0" i="0" u="none" strike="noStrike">
                          <a:solidFill>
                            <a:srgbClr val="000000"/>
                          </a:solidFill>
                          <a:effectLst/>
                          <a:latin typeface="メイリオ" panose="020B0604030504040204" pitchFamily="50" charset="-128"/>
                          <a:ea typeface="メイリオ" panose="020B0604030504040204" pitchFamily="50" charset="-128"/>
                        </a:rPr>
                        <a:t>家族や友人との連絡で定着。</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FFF99"/>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最も好まれる企業からの</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情報受取ツール。</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予約や急ぎの用件で信頼性が高い。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p>
                  </a:txBody>
                  <a:tcPr/>
                </a:tc>
                <a:extLst>
                  <a:ext uri="{0D108BD9-81ED-4DB2-BD59-A6C34878D82A}">
                    <a16:rowId xmlns:a16="http://schemas.microsoft.com/office/drawing/2014/main" val="2832446328"/>
                  </a:ext>
                </a:extLst>
              </a:tr>
              <a:tr h="499336">
                <a:tc rowSpan="2">
                  <a:txBody>
                    <a:bodyPr/>
                    <a:lstStyle/>
                    <a:p>
                      <a:pPr algn="ctr" fontAlgn="ctr">
                        <a:buNone/>
                      </a:pP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rPr>
                        <a:t>70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代以上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rPr>
                        <a:t>70%</a:t>
                      </a: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前後</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FFF99"/>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利用率：低い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利用率：最も高い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連絡手段としての電話が</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最優先される層。</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79922214"/>
                  </a:ext>
                </a:extLst>
              </a:tr>
              <a:tr h="499336">
                <a:tc vMerge="1">
                  <a:txBody>
                    <a:bodyPr/>
                    <a:lstStyle/>
                    <a:p>
                      <a:endParaRPr kumimoji="1" lang="ja-JP" altLang="en-US"/>
                    </a:p>
                  </a:txBody>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高齢者層にも普及が進む。</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FFF99"/>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操作に不慣れで到達率が下がる。</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重要な連絡や問い合わせは</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電話がメイン。</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p>
                  </a:txBody>
                  <a:tcPr/>
                </a:tc>
                <a:extLst>
                  <a:ext uri="{0D108BD9-81ED-4DB2-BD59-A6C34878D82A}">
                    <a16:rowId xmlns:a16="http://schemas.microsoft.com/office/drawing/2014/main" val="14424828"/>
                  </a:ext>
                </a:extLst>
              </a:tr>
            </a:tbl>
          </a:graphicData>
        </a:graphic>
      </p:graphicFrame>
    </p:spTree>
    <p:extLst>
      <p:ext uri="{BB962C8B-B14F-4D97-AF65-F5344CB8AC3E}">
        <p14:creationId xmlns:p14="http://schemas.microsoft.com/office/powerpoint/2010/main" val="78327988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60E1BE-EA97-1C99-EC9B-9162DE48D9CD}"/>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F61F3EB4-5BDD-9E9F-8965-BA311951E81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en-US" altLang="ja-JP" sz="1600" b="1" dirty="0">
                <a:solidFill>
                  <a:srgbClr val="002060"/>
                </a:solidFill>
                <a:latin typeface="Meiryo"/>
                <a:ea typeface="Meiryo"/>
                <a:cs typeface="Meiryo"/>
                <a:sym typeface="Meiryo"/>
              </a:rPr>
              <a:t>LINE</a:t>
            </a:r>
            <a:r>
              <a:rPr lang="ja-JP" altLang="en-US" sz="1600" b="1" dirty="0">
                <a:solidFill>
                  <a:srgbClr val="002060"/>
                </a:solidFill>
                <a:latin typeface="Meiryo"/>
                <a:ea typeface="Meiryo"/>
                <a:cs typeface="Meiryo"/>
                <a:sym typeface="Meiryo"/>
              </a:rPr>
              <a:t>公式アカウントを検討する背景</a:t>
            </a:r>
          </a:p>
        </p:txBody>
      </p:sp>
      <p:sp>
        <p:nvSpPr>
          <p:cNvPr id="2" name="Google Shape;752;p28">
            <a:extLst>
              <a:ext uri="{FF2B5EF4-FFF2-40B4-BE49-F238E27FC236}">
                <a16:creationId xmlns:a16="http://schemas.microsoft.com/office/drawing/2014/main" id="{903AB3A7-E543-27E0-6B76-9022EAF2AAFA}"/>
              </a:ext>
            </a:extLst>
          </p:cNvPr>
          <p:cNvSpPr txBox="1"/>
          <p:nvPr/>
        </p:nvSpPr>
        <p:spPr>
          <a:xfrm>
            <a:off x="711353" y="969413"/>
            <a:ext cx="8353789" cy="523180"/>
          </a:xfrm>
          <a:prstGeom prst="rect">
            <a:avLst/>
          </a:prstGeom>
          <a:noFill/>
          <a:ln>
            <a:noFill/>
          </a:ln>
        </p:spPr>
        <p:txBody>
          <a:bodyPr spcFirstLastPara="1" wrap="square" lIns="91425" tIns="45700" rIns="91425" bIns="45700" anchor="ctr" anchorCtr="0">
            <a:spAutoFit/>
          </a:bodyPr>
          <a:lstStyle/>
          <a:p>
            <a:pPr lvl="0" algn="ctr"/>
            <a:r>
              <a:rPr lang="en-US" altLang="ja-JP" sz="1400" dirty="0">
                <a:latin typeface="メイリオ" panose="020B0604030504040204" pitchFamily="50" charset="-128"/>
                <a:ea typeface="メイリオ" panose="020B0604030504040204" pitchFamily="50" charset="-128"/>
                <a:cs typeface="Meiryo"/>
                <a:sym typeface="Meiryo"/>
              </a:rPr>
              <a:t>LINE</a:t>
            </a:r>
            <a:r>
              <a:rPr lang="ja-JP" altLang="en-US" sz="1400" dirty="0">
                <a:latin typeface="メイリオ" panose="020B0604030504040204" pitchFamily="50" charset="-128"/>
                <a:ea typeface="メイリオ" panose="020B0604030504040204" pitchFamily="50" charset="-128"/>
                <a:cs typeface="Meiryo"/>
                <a:sym typeface="Meiryo"/>
              </a:rPr>
              <a:t>公式アカウントの施策内（開封率、クリック率、</a:t>
            </a:r>
            <a:r>
              <a:rPr lang="en-US" altLang="ja-JP" sz="1400" dirty="0">
                <a:latin typeface="メイリオ" panose="020B0604030504040204" pitchFamily="50" charset="-128"/>
                <a:ea typeface="メイリオ" panose="020B0604030504040204" pitchFamily="50" charset="-128"/>
                <a:cs typeface="Meiryo"/>
                <a:sym typeface="Meiryo"/>
              </a:rPr>
              <a:t>CV</a:t>
            </a:r>
            <a:r>
              <a:rPr lang="ja-JP" altLang="en-US" sz="1400" dirty="0">
                <a:latin typeface="メイリオ" panose="020B0604030504040204" pitchFamily="50" charset="-128"/>
                <a:ea typeface="メイリオ" panose="020B0604030504040204" pitchFamily="50" charset="-128"/>
                <a:cs typeface="Meiryo"/>
                <a:sym typeface="Meiryo"/>
              </a:rPr>
              <a:t>率）で高い水準の施策をご提供。</a:t>
            </a:r>
            <a:endParaRPr lang="en-US" altLang="ja-JP" sz="1400" dirty="0">
              <a:latin typeface="メイリオ" panose="020B0604030504040204" pitchFamily="50" charset="-128"/>
              <a:ea typeface="メイリオ" panose="020B0604030504040204" pitchFamily="50" charset="-128"/>
              <a:cs typeface="Meiryo"/>
              <a:sym typeface="Meiryo"/>
            </a:endParaRPr>
          </a:p>
          <a:p>
            <a:pPr lvl="0" algn="ctr"/>
            <a:r>
              <a:rPr lang="ja-JP" altLang="en-US" sz="1400" dirty="0">
                <a:latin typeface="メイリオ" panose="020B0604030504040204" pitchFamily="50" charset="-128"/>
                <a:ea typeface="メイリオ" panose="020B0604030504040204" pitchFamily="50" charset="-128"/>
                <a:cs typeface="Meiryo"/>
                <a:sym typeface="Meiryo"/>
              </a:rPr>
              <a:t>初期設計のみのご依頼でも、大きく数値改善できるポイントの導入支援が可能です。</a:t>
            </a:r>
            <a:endParaRPr lang="en-US" altLang="ja-JP" sz="1400" dirty="0">
              <a:latin typeface="メイリオ" panose="020B0604030504040204" pitchFamily="50" charset="-128"/>
              <a:ea typeface="メイリオ" panose="020B0604030504040204" pitchFamily="50" charset="-128"/>
              <a:cs typeface="Meiryo"/>
              <a:sym typeface="Meiryo"/>
            </a:endParaRPr>
          </a:p>
        </p:txBody>
      </p:sp>
      <p:sp>
        <p:nvSpPr>
          <p:cNvPr id="5" name="正方形/長方形 4">
            <a:extLst>
              <a:ext uri="{FF2B5EF4-FFF2-40B4-BE49-F238E27FC236}">
                <a16:creationId xmlns:a16="http://schemas.microsoft.com/office/drawing/2014/main" id="{C953AFCB-1DF4-3DF6-FD0A-5FA8B9829345}"/>
              </a:ext>
            </a:extLst>
          </p:cNvPr>
          <p:cNvSpPr/>
          <p:nvPr/>
        </p:nvSpPr>
        <p:spPr>
          <a:xfrm>
            <a:off x="7833676" y="2844726"/>
            <a:ext cx="1438656" cy="268338"/>
          </a:xfrm>
          <a:prstGeom prst="rect">
            <a:avLst/>
          </a:prstGeom>
          <a:solidFill>
            <a:srgbClr val="FF0000"/>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rPr>
              <a:t>CV</a:t>
            </a:r>
            <a:endParaRPr kumimoji="1" lang="ja-JP" altLang="en-US" sz="1050" b="1" dirty="0">
              <a:solidFill>
                <a:schemeClr val="bg1"/>
              </a:solidFill>
              <a:latin typeface="メイリオ" panose="020B0604030504040204" pitchFamily="50" charset="-128"/>
              <a:ea typeface="メイリオ" panose="020B0604030504040204" pitchFamily="50" charset="-128"/>
            </a:endParaRPr>
          </a:p>
        </p:txBody>
      </p:sp>
      <p:sp>
        <p:nvSpPr>
          <p:cNvPr id="6" name="正方形/長方形 5">
            <a:extLst>
              <a:ext uri="{FF2B5EF4-FFF2-40B4-BE49-F238E27FC236}">
                <a16:creationId xmlns:a16="http://schemas.microsoft.com/office/drawing/2014/main" id="{AA0FC5BF-544B-2CE7-3D6D-05C5FCBA0558}"/>
              </a:ext>
            </a:extLst>
          </p:cNvPr>
          <p:cNvSpPr/>
          <p:nvPr/>
        </p:nvSpPr>
        <p:spPr>
          <a:xfrm>
            <a:off x="7833676" y="2532843"/>
            <a:ext cx="1438656" cy="268338"/>
          </a:xfrm>
          <a:prstGeom prst="rect">
            <a:avLst/>
          </a:prstGeom>
          <a:solidFill>
            <a:schemeClr val="bg1">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rPr>
              <a:t>営業トスアップ</a:t>
            </a:r>
          </a:p>
        </p:txBody>
      </p:sp>
      <p:cxnSp>
        <p:nvCxnSpPr>
          <p:cNvPr id="16" name="直線矢印コネクタ 15">
            <a:extLst>
              <a:ext uri="{FF2B5EF4-FFF2-40B4-BE49-F238E27FC236}">
                <a16:creationId xmlns:a16="http://schemas.microsoft.com/office/drawing/2014/main" id="{94BB7063-D344-7388-DC5C-AB2163552A18}"/>
              </a:ext>
            </a:extLst>
          </p:cNvPr>
          <p:cNvCxnSpPr>
            <a:cxnSpLocks/>
          </p:cNvCxnSpPr>
          <p:nvPr/>
        </p:nvCxnSpPr>
        <p:spPr>
          <a:xfrm>
            <a:off x="387956" y="2801181"/>
            <a:ext cx="7250805" cy="0"/>
          </a:xfrm>
          <a:prstGeom prst="straightConnector1">
            <a:avLst/>
          </a:prstGeom>
          <a:ln w="28575">
            <a:solidFill>
              <a:schemeClr val="tx2"/>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21" name="正方形/長方形 20">
            <a:extLst>
              <a:ext uri="{FF2B5EF4-FFF2-40B4-BE49-F238E27FC236}">
                <a16:creationId xmlns:a16="http://schemas.microsoft.com/office/drawing/2014/main" id="{49A8005B-FA05-AC0F-4885-3EB9D9E7F271}"/>
              </a:ext>
            </a:extLst>
          </p:cNvPr>
          <p:cNvSpPr/>
          <p:nvPr/>
        </p:nvSpPr>
        <p:spPr>
          <a:xfrm>
            <a:off x="7663263" y="2057611"/>
            <a:ext cx="1820092" cy="1128395"/>
          </a:xfrm>
          <a:prstGeom prst="rect">
            <a:avLst/>
          </a:prstGeom>
          <a:no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テキスト ボックス 22">
            <a:extLst>
              <a:ext uri="{FF2B5EF4-FFF2-40B4-BE49-F238E27FC236}">
                <a16:creationId xmlns:a16="http://schemas.microsoft.com/office/drawing/2014/main" id="{43461C80-3343-B710-9ADB-76DB69B61EAF}"/>
              </a:ext>
            </a:extLst>
          </p:cNvPr>
          <p:cNvSpPr txBox="1"/>
          <p:nvPr/>
        </p:nvSpPr>
        <p:spPr>
          <a:xfrm>
            <a:off x="8033166" y="2122574"/>
            <a:ext cx="1080286" cy="261610"/>
          </a:xfrm>
          <a:prstGeom prst="rect">
            <a:avLst/>
          </a:prstGeom>
          <a:noFill/>
        </p:spPr>
        <p:txBody>
          <a:bodyPr wrap="square">
            <a:spAutoFit/>
          </a:bodyPr>
          <a:lstStyle/>
          <a:p>
            <a:pPr algn="ctr"/>
            <a:r>
              <a:rPr kumimoji="1" lang="ja-JP" altLang="en-US" sz="1100" dirty="0">
                <a:solidFill>
                  <a:srgbClr val="FF0000"/>
                </a:solidFill>
                <a:latin typeface="メイリオ" panose="020B0604030504040204" pitchFamily="50" charset="-128"/>
                <a:ea typeface="メイリオ" panose="020B0604030504040204" pitchFamily="50" charset="-128"/>
              </a:rPr>
              <a:t>（成果地点）</a:t>
            </a:r>
          </a:p>
        </p:txBody>
      </p:sp>
      <p:sp>
        <p:nvSpPr>
          <p:cNvPr id="46" name="正方形/長方形 45">
            <a:extLst>
              <a:ext uri="{FF2B5EF4-FFF2-40B4-BE49-F238E27FC236}">
                <a16:creationId xmlns:a16="http://schemas.microsoft.com/office/drawing/2014/main" id="{68EF36FD-0665-96DB-08B6-92F8F12DC27E}"/>
              </a:ext>
            </a:extLst>
          </p:cNvPr>
          <p:cNvSpPr/>
          <p:nvPr/>
        </p:nvSpPr>
        <p:spPr>
          <a:xfrm>
            <a:off x="2496412" y="2062968"/>
            <a:ext cx="4888178" cy="2483764"/>
          </a:xfrm>
          <a:prstGeom prst="rect">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7" name="正方形/長方形 46">
            <a:extLst>
              <a:ext uri="{FF2B5EF4-FFF2-40B4-BE49-F238E27FC236}">
                <a16:creationId xmlns:a16="http://schemas.microsoft.com/office/drawing/2014/main" id="{1B4C640C-D32C-D834-8B9B-538AEF528437}"/>
              </a:ext>
            </a:extLst>
          </p:cNvPr>
          <p:cNvSpPr/>
          <p:nvPr/>
        </p:nvSpPr>
        <p:spPr>
          <a:xfrm>
            <a:off x="2727621" y="2844178"/>
            <a:ext cx="1438656" cy="268338"/>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rPr>
              <a:t>開封率</a:t>
            </a:r>
          </a:p>
        </p:txBody>
      </p:sp>
      <p:sp>
        <p:nvSpPr>
          <p:cNvPr id="48" name="正方形/長方形 47">
            <a:extLst>
              <a:ext uri="{FF2B5EF4-FFF2-40B4-BE49-F238E27FC236}">
                <a16:creationId xmlns:a16="http://schemas.microsoft.com/office/drawing/2014/main" id="{B779420D-D103-81E4-5973-9C543E915ED9}"/>
              </a:ext>
            </a:extLst>
          </p:cNvPr>
          <p:cNvSpPr/>
          <p:nvPr/>
        </p:nvSpPr>
        <p:spPr>
          <a:xfrm>
            <a:off x="4236068" y="2844178"/>
            <a:ext cx="1438656" cy="268338"/>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rPr>
              <a:t>クリック率</a:t>
            </a:r>
          </a:p>
        </p:txBody>
      </p:sp>
      <p:sp>
        <p:nvSpPr>
          <p:cNvPr id="49" name="正方形/長方形 48">
            <a:extLst>
              <a:ext uri="{FF2B5EF4-FFF2-40B4-BE49-F238E27FC236}">
                <a16:creationId xmlns:a16="http://schemas.microsoft.com/office/drawing/2014/main" id="{79F9C4D6-EE41-0712-7E02-3613A29A0277}"/>
              </a:ext>
            </a:extLst>
          </p:cNvPr>
          <p:cNvSpPr/>
          <p:nvPr/>
        </p:nvSpPr>
        <p:spPr>
          <a:xfrm>
            <a:off x="5744515" y="2844178"/>
            <a:ext cx="1438656" cy="268338"/>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rPr>
              <a:t>CV</a:t>
            </a:r>
            <a:r>
              <a:rPr kumimoji="1" lang="ja-JP" altLang="en-US" sz="1050" b="1" dirty="0">
                <a:solidFill>
                  <a:schemeClr val="bg1"/>
                </a:solidFill>
                <a:latin typeface="メイリオ" panose="020B0604030504040204" pitchFamily="50" charset="-128"/>
                <a:ea typeface="メイリオ" panose="020B0604030504040204" pitchFamily="50" charset="-128"/>
              </a:rPr>
              <a:t>率</a:t>
            </a:r>
          </a:p>
        </p:txBody>
      </p:sp>
      <p:sp>
        <p:nvSpPr>
          <p:cNvPr id="50" name="正方形/長方形 49">
            <a:extLst>
              <a:ext uri="{FF2B5EF4-FFF2-40B4-BE49-F238E27FC236}">
                <a16:creationId xmlns:a16="http://schemas.microsoft.com/office/drawing/2014/main" id="{63D97449-C5FF-7125-1910-BF401BE155D3}"/>
              </a:ext>
            </a:extLst>
          </p:cNvPr>
          <p:cNvSpPr/>
          <p:nvPr/>
        </p:nvSpPr>
        <p:spPr>
          <a:xfrm>
            <a:off x="2635396" y="2541859"/>
            <a:ext cx="4617897" cy="268338"/>
          </a:xfrm>
          <a:prstGeom prst="rect">
            <a:avLst/>
          </a:prstGeom>
          <a:solidFill>
            <a:schemeClr val="tx2">
              <a:lumMod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rPr>
              <a:t>通常メッセージ（企画投稿）</a:t>
            </a:r>
          </a:p>
        </p:txBody>
      </p:sp>
      <p:sp>
        <p:nvSpPr>
          <p:cNvPr id="51" name="正方形/長方形 50">
            <a:extLst>
              <a:ext uri="{FF2B5EF4-FFF2-40B4-BE49-F238E27FC236}">
                <a16:creationId xmlns:a16="http://schemas.microsoft.com/office/drawing/2014/main" id="{0FEAAD04-7412-6C00-12C5-668087B3187D}"/>
              </a:ext>
            </a:extLst>
          </p:cNvPr>
          <p:cNvSpPr/>
          <p:nvPr/>
        </p:nvSpPr>
        <p:spPr>
          <a:xfrm>
            <a:off x="2727621" y="3513580"/>
            <a:ext cx="1438656" cy="268338"/>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rPr>
              <a:t>開封率</a:t>
            </a:r>
          </a:p>
        </p:txBody>
      </p:sp>
      <p:sp>
        <p:nvSpPr>
          <p:cNvPr id="52" name="正方形/長方形 51">
            <a:extLst>
              <a:ext uri="{FF2B5EF4-FFF2-40B4-BE49-F238E27FC236}">
                <a16:creationId xmlns:a16="http://schemas.microsoft.com/office/drawing/2014/main" id="{16300100-5CAE-C822-F497-9A928E7568CE}"/>
              </a:ext>
            </a:extLst>
          </p:cNvPr>
          <p:cNvSpPr/>
          <p:nvPr/>
        </p:nvSpPr>
        <p:spPr>
          <a:xfrm>
            <a:off x="4236068" y="3513580"/>
            <a:ext cx="1438656" cy="268338"/>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rPr>
              <a:t>クリック率</a:t>
            </a:r>
          </a:p>
        </p:txBody>
      </p:sp>
      <p:sp>
        <p:nvSpPr>
          <p:cNvPr id="53" name="正方形/長方形 52">
            <a:extLst>
              <a:ext uri="{FF2B5EF4-FFF2-40B4-BE49-F238E27FC236}">
                <a16:creationId xmlns:a16="http://schemas.microsoft.com/office/drawing/2014/main" id="{BAABA8F7-038F-8934-7296-51B7E190F8F6}"/>
              </a:ext>
            </a:extLst>
          </p:cNvPr>
          <p:cNvSpPr/>
          <p:nvPr/>
        </p:nvSpPr>
        <p:spPr>
          <a:xfrm>
            <a:off x="5744515" y="3513580"/>
            <a:ext cx="1438656" cy="268338"/>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rPr>
              <a:t>CV</a:t>
            </a:r>
            <a:r>
              <a:rPr kumimoji="1" lang="ja-JP" altLang="en-US" sz="1050" b="1" dirty="0">
                <a:solidFill>
                  <a:schemeClr val="bg1"/>
                </a:solidFill>
                <a:latin typeface="メイリオ" panose="020B0604030504040204" pitchFamily="50" charset="-128"/>
                <a:ea typeface="メイリオ" panose="020B0604030504040204" pitchFamily="50" charset="-128"/>
              </a:rPr>
              <a:t>率</a:t>
            </a:r>
          </a:p>
        </p:txBody>
      </p:sp>
      <p:sp>
        <p:nvSpPr>
          <p:cNvPr id="54" name="正方形/長方形 53">
            <a:extLst>
              <a:ext uri="{FF2B5EF4-FFF2-40B4-BE49-F238E27FC236}">
                <a16:creationId xmlns:a16="http://schemas.microsoft.com/office/drawing/2014/main" id="{FFA1928D-294F-EEFC-2C8F-4A612343D93B}"/>
              </a:ext>
            </a:extLst>
          </p:cNvPr>
          <p:cNvSpPr/>
          <p:nvPr/>
        </p:nvSpPr>
        <p:spPr>
          <a:xfrm>
            <a:off x="2635396" y="3211261"/>
            <a:ext cx="4617897" cy="268338"/>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rPr>
              <a:t>通常メッセージ（ステップ配信投稿）</a:t>
            </a:r>
          </a:p>
        </p:txBody>
      </p:sp>
      <p:sp>
        <p:nvSpPr>
          <p:cNvPr id="55" name="正方形/長方形 54">
            <a:extLst>
              <a:ext uri="{FF2B5EF4-FFF2-40B4-BE49-F238E27FC236}">
                <a16:creationId xmlns:a16="http://schemas.microsoft.com/office/drawing/2014/main" id="{C60EF948-7D0E-221F-F7C3-9EA4070D13D5}"/>
              </a:ext>
            </a:extLst>
          </p:cNvPr>
          <p:cNvSpPr/>
          <p:nvPr/>
        </p:nvSpPr>
        <p:spPr>
          <a:xfrm>
            <a:off x="2727621" y="4167605"/>
            <a:ext cx="1438656" cy="268338"/>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rPr>
              <a:t>開封率</a:t>
            </a:r>
          </a:p>
        </p:txBody>
      </p:sp>
      <p:sp>
        <p:nvSpPr>
          <p:cNvPr id="56" name="正方形/長方形 55">
            <a:extLst>
              <a:ext uri="{FF2B5EF4-FFF2-40B4-BE49-F238E27FC236}">
                <a16:creationId xmlns:a16="http://schemas.microsoft.com/office/drawing/2014/main" id="{0A26395C-F3D5-A8C3-4036-5A461E8AEB95}"/>
              </a:ext>
            </a:extLst>
          </p:cNvPr>
          <p:cNvSpPr/>
          <p:nvPr/>
        </p:nvSpPr>
        <p:spPr>
          <a:xfrm>
            <a:off x="4236068" y="4167605"/>
            <a:ext cx="1438656" cy="268338"/>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rPr>
              <a:t>クリック率</a:t>
            </a:r>
          </a:p>
        </p:txBody>
      </p:sp>
      <p:sp>
        <p:nvSpPr>
          <p:cNvPr id="57" name="正方形/長方形 56">
            <a:extLst>
              <a:ext uri="{FF2B5EF4-FFF2-40B4-BE49-F238E27FC236}">
                <a16:creationId xmlns:a16="http://schemas.microsoft.com/office/drawing/2014/main" id="{258779A5-C321-795D-FAE9-C3DA7EDE5D3F}"/>
              </a:ext>
            </a:extLst>
          </p:cNvPr>
          <p:cNvSpPr/>
          <p:nvPr/>
        </p:nvSpPr>
        <p:spPr>
          <a:xfrm>
            <a:off x="5744515" y="4167605"/>
            <a:ext cx="1438656" cy="268338"/>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rPr>
              <a:t>CV</a:t>
            </a:r>
            <a:r>
              <a:rPr kumimoji="1" lang="ja-JP" altLang="en-US" sz="1050" b="1" dirty="0">
                <a:solidFill>
                  <a:schemeClr val="bg1"/>
                </a:solidFill>
                <a:latin typeface="メイリオ" panose="020B0604030504040204" pitchFamily="50" charset="-128"/>
                <a:ea typeface="メイリオ" panose="020B0604030504040204" pitchFamily="50" charset="-128"/>
              </a:rPr>
              <a:t>率</a:t>
            </a:r>
          </a:p>
        </p:txBody>
      </p:sp>
      <p:sp>
        <p:nvSpPr>
          <p:cNvPr id="58" name="正方形/長方形 57">
            <a:extLst>
              <a:ext uri="{FF2B5EF4-FFF2-40B4-BE49-F238E27FC236}">
                <a16:creationId xmlns:a16="http://schemas.microsoft.com/office/drawing/2014/main" id="{10A67980-B163-BD77-6B0F-32FBA0EAD741}"/>
              </a:ext>
            </a:extLst>
          </p:cNvPr>
          <p:cNvSpPr/>
          <p:nvPr/>
        </p:nvSpPr>
        <p:spPr>
          <a:xfrm>
            <a:off x="2635396" y="3865286"/>
            <a:ext cx="4617897" cy="268338"/>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rPr>
              <a:t>その他指標（リッチメニュー、プロフ、挨拶メッセ）</a:t>
            </a:r>
          </a:p>
        </p:txBody>
      </p:sp>
      <p:sp>
        <p:nvSpPr>
          <p:cNvPr id="59" name="テキスト ボックス 58">
            <a:extLst>
              <a:ext uri="{FF2B5EF4-FFF2-40B4-BE49-F238E27FC236}">
                <a16:creationId xmlns:a16="http://schemas.microsoft.com/office/drawing/2014/main" id="{5568B802-79BB-89D9-41B1-B8211A23D3E1}"/>
              </a:ext>
            </a:extLst>
          </p:cNvPr>
          <p:cNvSpPr txBox="1"/>
          <p:nvPr/>
        </p:nvSpPr>
        <p:spPr>
          <a:xfrm>
            <a:off x="4152577" y="2126463"/>
            <a:ext cx="1581648" cy="261610"/>
          </a:xfrm>
          <a:prstGeom prst="rect">
            <a:avLst/>
          </a:prstGeom>
          <a:noFill/>
        </p:spPr>
        <p:txBody>
          <a:bodyPr wrap="square">
            <a:spAutoFit/>
          </a:bodyPr>
          <a:lstStyle/>
          <a:p>
            <a:pPr algn="ctr"/>
            <a:r>
              <a:rPr lang="ja-JP" altLang="en-US" sz="1100" dirty="0">
                <a:solidFill>
                  <a:schemeClr val="tx2"/>
                </a:solidFill>
                <a:latin typeface="メイリオ" panose="020B0604030504040204" pitchFamily="50" charset="-128"/>
                <a:ea typeface="メイリオ" panose="020B0604030504040204" pitchFamily="50" charset="-128"/>
              </a:rPr>
              <a:t>（</a:t>
            </a:r>
            <a:r>
              <a:rPr kumimoji="1" lang="en-US" altLang="ja-JP" sz="1100" dirty="0">
                <a:solidFill>
                  <a:schemeClr val="tx2"/>
                </a:solidFill>
                <a:latin typeface="メイリオ" panose="020B0604030504040204" pitchFamily="50" charset="-128"/>
                <a:ea typeface="メイリオ" panose="020B0604030504040204" pitchFamily="50" charset="-128"/>
              </a:rPr>
              <a:t>LINE</a:t>
            </a:r>
            <a:r>
              <a:rPr kumimoji="1" lang="ja-JP" altLang="en-US" sz="1100" dirty="0">
                <a:solidFill>
                  <a:schemeClr val="tx2"/>
                </a:solidFill>
                <a:latin typeface="メイリオ" panose="020B0604030504040204" pitchFamily="50" charset="-128"/>
                <a:ea typeface="メイリオ" panose="020B0604030504040204" pitchFamily="50" charset="-128"/>
              </a:rPr>
              <a:t>施策内</a:t>
            </a:r>
            <a:r>
              <a:rPr lang="ja-JP" altLang="en-US" sz="1100" dirty="0">
                <a:solidFill>
                  <a:schemeClr val="tx2"/>
                </a:solidFill>
                <a:latin typeface="メイリオ" panose="020B0604030504040204" pitchFamily="50" charset="-128"/>
                <a:ea typeface="メイリオ" panose="020B0604030504040204" pitchFamily="50" charset="-128"/>
              </a:rPr>
              <a:t>）</a:t>
            </a:r>
            <a:endParaRPr kumimoji="1" lang="ja-JP" altLang="en-US" sz="1100" dirty="0">
              <a:solidFill>
                <a:schemeClr val="tx2"/>
              </a:solidFill>
              <a:latin typeface="メイリオ" panose="020B0604030504040204" pitchFamily="50" charset="-128"/>
              <a:ea typeface="メイリオ" panose="020B0604030504040204" pitchFamily="50" charset="-128"/>
            </a:endParaRPr>
          </a:p>
        </p:txBody>
      </p:sp>
      <p:sp>
        <p:nvSpPr>
          <p:cNvPr id="65" name="正方形/長方形 64">
            <a:extLst>
              <a:ext uri="{FF2B5EF4-FFF2-40B4-BE49-F238E27FC236}">
                <a16:creationId xmlns:a16="http://schemas.microsoft.com/office/drawing/2014/main" id="{F955D004-F2E0-9106-46D0-01B91AAAC48C}"/>
              </a:ext>
            </a:extLst>
          </p:cNvPr>
          <p:cNvSpPr/>
          <p:nvPr/>
        </p:nvSpPr>
        <p:spPr>
          <a:xfrm>
            <a:off x="632050" y="2062968"/>
            <a:ext cx="1581647" cy="2483764"/>
          </a:xfrm>
          <a:prstGeom prst="rect">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6" name="正方形/長方形 65">
            <a:extLst>
              <a:ext uri="{FF2B5EF4-FFF2-40B4-BE49-F238E27FC236}">
                <a16:creationId xmlns:a16="http://schemas.microsoft.com/office/drawing/2014/main" id="{39800BBF-7F74-6827-30AB-067A9B79B2FB}"/>
              </a:ext>
            </a:extLst>
          </p:cNvPr>
          <p:cNvSpPr/>
          <p:nvPr/>
        </p:nvSpPr>
        <p:spPr>
          <a:xfrm>
            <a:off x="703546" y="2667012"/>
            <a:ext cx="1438656" cy="268338"/>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rPr>
              <a:t>友だち追加</a:t>
            </a:r>
          </a:p>
        </p:txBody>
      </p:sp>
      <p:sp>
        <p:nvSpPr>
          <p:cNvPr id="67" name="テキスト ボックス 66">
            <a:extLst>
              <a:ext uri="{FF2B5EF4-FFF2-40B4-BE49-F238E27FC236}">
                <a16:creationId xmlns:a16="http://schemas.microsoft.com/office/drawing/2014/main" id="{5C2F9AAE-62F2-1C25-6B2F-275B20FB2668}"/>
              </a:ext>
            </a:extLst>
          </p:cNvPr>
          <p:cNvSpPr txBox="1"/>
          <p:nvPr/>
        </p:nvSpPr>
        <p:spPr>
          <a:xfrm>
            <a:off x="632050" y="3030925"/>
            <a:ext cx="1581647" cy="369332"/>
          </a:xfrm>
          <a:prstGeom prst="rect">
            <a:avLst/>
          </a:prstGeom>
          <a:noFill/>
        </p:spPr>
        <p:txBody>
          <a:bodyPr wrap="square">
            <a:spAutoFit/>
          </a:bodyPr>
          <a:lstStyle/>
          <a:p>
            <a:pPr algn="ctr"/>
            <a:r>
              <a:rPr kumimoji="1" lang="ja-JP" altLang="en-US" sz="1000" b="1" dirty="0">
                <a:latin typeface="メイリオ" panose="020B0604030504040204" pitchFamily="50" charset="-128"/>
                <a:ea typeface="メイリオ" panose="020B0604030504040204" pitchFamily="50" charset="-128"/>
              </a:rPr>
              <a:t>アクティブ数</a:t>
            </a:r>
            <a:endParaRPr kumimoji="1" lang="en-US" altLang="ja-JP" sz="1000" b="1" dirty="0">
              <a:latin typeface="メイリオ" panose="020B0604030504040204" pitchFamily="50" charset="-128"/>
              <a:ea typeface="メイリオ" panose="020B0604030504040204" pitchFamily="50" charset="-128"/>
            </a:endParaRPr>
          </a:p>
          <a:p>
            <a:pPr algn="ctr"/>
            <a:r>
              <a:rPr kumimoji="1" lang="ja-JP" altLang="en-US" sz="800" dirty="0">
                <a:latin typeface="メイリオ" panose="020B0604030504040204" pitchFamily="50" charset="-128"/>
                <a:ea typeface="メイリオ" panose="020B0604030504040204" pitchFamily="50" charset="-128"/>
              </a:rPr>
              <a:t>（非ブロック率）</a:t>
            </a:r>
          </a:p>
        </p:txBody>
      </p:sp>
      <p:sp>
        <p:nvSpPr>
          <p:cNvPr id="68" name="テキスト ボックス 67">
            <a:extLst>
              <a:ext uri="{FF2B5EF4-FFF2-40B4-BE49-F238E27FC236}">
                <a16:creationId xmlns:a16="http://schemas.microsoft.com/office/drawing/2014/main" id="{D723F77C-494C-4598-FEF1-6B884D04A448}"/>
              </a:ext>
            </a:extLst>
          </p:cNvPr>
          <p:cNvSpPr txBox="1"/>
          <p:nvPr/>
        </p:nvSpPr>
        <p:spPr>
          <a:xfrm>
            <a:off x="632050" y="3492489"/>
            <a:ext cx="1581647" cy="553998"/>
          </a:xfrm>
          <a:prstGeom prst="rect">
            <a:avLst/>
          </a:prstGeom>
          <a:noFill/>
        </p:spPr>
        <p:txBody>
          <a:bodyPr wrap="square">
            <a:spAutoFit/>
          </a:bodyPr>
          <a:lstStyle/>
          <a:p>
            <a:pPr algn="ctr"/>
            <a:r>
              <a:rPr kumimoji="1" lang="ja-JP" altLang="en-US" sz="1000" b="1" dirty="0">
                <a:latin typeface="メイリオ" panose="020B0604030504040204" pitchFamily="50" charset="-128"/>
                <a:ea typeface="メイリオ" panose="020B0604030504040204" pitchFamily="50" charset="-128"/>
              </a:rPr>
              <a:t>セグメント率</a:t>
            </a:r>
            <a:endParaRPr kumimoji="1" lang="en-US" altLang="ja-JP" sz="1000" b="1" dirty="0">
              <a:latin typeface="メイリオ" panose="020B0604030504040204" pitchFamily="50" charset="-128"/>
              <a:ea typeface="メイリオ" panose="020B0604030504040204" pitchFamily="50" charset="-128"/>
            </a:endParaRPr>
          </a:p>
          <a:p>
            <a:pPr algn="ctr"/>
            <a:r>
              <a:rPr lang="en-US" altLang="ja-JP" sz="1000" dirty="0">
                <a:latin typeface="メイリオ" panose="020B0604030504040204" pitchFamily="50" charset="-128"/>
                <a:ea typeface="メイリオ" panose="020B0604030504040204" pitchFamily="50" charset="-128"/>
              </a:rPr>
              <a:t>or</a:t>
            </a:r>
          </a:p>
          <a:p>
            <a:pPr algn="ctr"/>
            <a:r>
              <a:rPr kumimoji="1" lang="ja-JP" altLang="en-US" sz="1000" b="1" dirty="0">
                <a:latin typeface="メイリオ" panose="020B0604030504040204" pitchFamily="50" charset="-128"/>
                <a:ea typeface="メイリオ" panose="020B0604030504040204" pitchFamily="50" charset="-128"/>
              </a:rPr>
              <a:t>ステップ配信設定数</a:t>
            </a:r>
          </a:p>
        </p:txBody>
      </p:sp>
      <p:sp>
        <p:nvSpPr>
          <p:cNvPr id="69" name="テキスト ボックス 68">
            <a:extLst>
              <a:ext uri="{FF2B5EF4-FFF2-40B4-BE49-F238E27FC236}">
                <a16:creationId xmlns:a16="http://schemas.microsoft.com/office/drawing/2014/main" id="{83F40BCD-888E-2A85-0E72-CECDC4CEFCE7}"/>
              </a:ext>
            </a:extLst>
          </p:cNvPr>
          <p:cNvSpPr txBox="1"/>
          <p:nvPr/>
        </p:nvSpPr>
        <p:spPr>
          <a:xfrm>
            <a:off x="632049" y="2122574"/>
            <a:ext cx="1581648" cy="261610"/>
          </a:xfrm>
          <a:prstGeom prst="rect">
            <a:avLst/>
          </a:prstGeom>
          <a:noFill/>
        </p:spPr>
        <p:txBody>
          <a:bodyPr wrap="square">
            <a:spAutoFit/>
          </a:bodyPr>
          <a:lstStyle/>
          <a:p>
            <a:pPr algn="ctr"/>
            <a:r>
              <a:rPr lang="ja-JP" altLang="en-US" sz="1100" dirty="0">
                <a:solidFill>
                  <a:srgbClr val="00B050"/>
                </a:solidFill>
                <a:latin typeface="メイリオ" panose="020B0604030504040204" pitchFamily="50" charset="-128"/>
                <a:ea typeface="メイリオ" panose="020B0604030504040204" pitchFamily="50" charset="-128"/>
              </a:rPr>
              <a:t>（ターゲット戦略）</a:t>
            </a:r>
            <a:endParaRPr kumimoji="1" lang="ja-JP" altLang="en-US" sz="1100" dirty="0">
              <a:solidFill>
                <a:srgbClr val="00B050"/>
              </a:solidFill>
              <a:latin typeface="メイリオ" panose="020B0604030504040204" pitchFamily="50" charset="-128"/>
              <a:ea typeface="メイリオ" panose="020B0604030504040204" pitchFamily="50" charset="-128"/>
            </a:endParaRPr>
          </a:p>
        </p:txBody>
      </p:sp>
      <p:sp>
        <p:nvSpPr>
          <p:cNvPr id="70" name="正方形/長方形 69">
            <a:extLst>
              <a:ext uri="{FF2B5EF4-FFF2-40B4-BE49-F238E27FC236}">
                <a16:creationId xmlns:a16="http://schemas.microsoft.com/office/drawing/2014/main" id="{A282801A-6F7E-2812-60DE-D9BD30E96635}"/>
              </a:ext>
            </a:extLst>
          </p:cNvPr>
          <p:cNvSpPr/>
          <p:nvPr/>
        </p:nvSpPr>
        <p:spPr>
          <a:xfrm>
            <a:off x="828387" y="4167605"/>
            <a:ext cx="1188972" cy="268338"/>
          </a:xfrm>
          <a:prstGeom prst="rect">
            <a:avLst/>
          </a:prstGeom>
          <a:solidFill>
            <a:srgbClr val="00B050"/>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rPr>
              <a:t>月間通数</a:t>
            </a:r>
          </a:p>
        </p:txBody>
      </p:sp>
      <p:sp>
        <p:nvSpPr>
          <p:cNvPr id="3" name="正方形/長方形 2">
            <a:extLst>
              <a:ext uri="{FF2B5EF4-FFF2-40B4-BE49-F238E27FC236}">
                <a16:creationId xmlns:a16="http://schemas.microsoft.com/office/drawing/2014/main" id="{DEF078B1-2A45-316B-F6D4-2929C807201E}"/>
              </a:ext>
            </a:extLst>
          </p:cNvPr>
          <p:cNvSpPr/>
          <p:nvPr/>
        </p:nvSpPr>
        <p:spPr>
          <a:xfrm>
            <a:off x="619696" y="2055027"/>
            <a:ext cx="1613438" cy="2508602"/>
          </a:xfrm>
          <a:prstGeom prst="rect">
            <a:avLst/>
          </a:prstGeom>
          <a:solidFill>
            <a:schemeClr val="bg1">
              <a:alpha val="65000"/>
            </a:schemeClr>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吹き出し: 角を丸めた四角形 21">
            <a:extLst>
              <a:ext uri="{FF2B5EF4-FFF2-40B4-BE49-F238E27FC236}">
                <a16:creationId xmlns:a16="http://schemas.microsoft.com/office/drawing/2014/main" id="{72F45E26-7BF4-E2ED-9A7A-1F4668D22973}"/>
              </a:ext>
            </a:extLst>
          </p:cNvPr>
          <p:cNvSpPr/>
          <p:nvPr/>
        </p:nvSpPr>
        <p:spPr>
          <a:xfrm>
            <a:off x="1422873" y="4756716"/>
            <a:ext cx="6798018" cy="1723684"/>
          </a:xfrm>
          <a:prstGeom prst="wedgeRoundRectCallout">
            <a:avLst>
              <a:gd name="adj1" fmla="val -8535"/>
              <a:gd name="adj2" fmla="val -65828"/>
              <a:gd name="adj3" fmla="val 16667"/>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正方形/長方形 23">
            <a:extLst>
              <a:ext uri="{FF2B5EF4-FFF2-40B4-BE49-F238E27FC236}">
                <a16:creationId xmlns:a16="http://schemas.microsoft.com/office/drawing/2014/main" id="{4E48C706-01F7-97BF-6029-19C07E10A157}"/>
              </a:ext>
            </a:extLst>
          </p:cNvPr>
          <p:cNvSpPr/>
          <p:nvPr/>
        </p:nvSpPr>
        <p:spPr>
          <a:xfrm>
            <a:off x="3144988" y="4892530"/>
            <a:ext cx="1438656" cy="268338"/>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rPr>
              <a:t>開封率</a:t>
            </a:r>
          </a:p>
        </p:txBody>
      </p:sp>
      <p:sp>
        <p:nvSpPr>
          <p:cNvPr id="25" name="正方形/長方形 24">
            <a:extLst>
              <a:ext uri="{FF2B5EF4-FFF2-40B4-BE49-F238E27FC236}">
                <a16:creationId xmlns:a16="http://schemas.microsoft.com/office/drawing/2014/main" id="{691F0267-60AB-455D-B6F1-6559EBCD5D65}"/>
              </a:ext>
            </a:extLst>
          </p:cNvPr>
          <p:cNvSpPr/>
          <p:nvPr/>
        </p:nvSpPr>
        <p:spPr>
          <a:xfrm>
            <a:off x="4882248" y="4892530"/>
            <a:ext cx="1438656" cy="268338"/>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rPr>
              <a:t>クリック率</a:t>
            </a:r>
          </a:p>
        </p:txBody>
      </p:sp>
      <p:sp>
        <p:nvSpPr>
          <p:cNvPr id="26" name="正方形/長方形 25">
            <a:extLst>
              <a:ext uri="{FF2B5EF4-FFF2-40B4-BE49-F238E27FC236}">
                <a16:creationId xmlns:a16="http://schemas.microsoft.com/office/drawing/2014/main" id="{D9156083-EC1B-F8D0-1360-7F5BEA5CB663}"/>
              </a:ext>
            </a:extLst>
          </p:cNvPr>
          <p:cNvSpPr/>
          <p:nvPr/>
        </p:nvSpPr>
        <p:spPr>
          <a:xfrm>
            <a:off x="6594510" y="4892530"/>
            <a:ext cx="1438656" cy="268338"/>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rPr>
              <a:t>CV</a:t>
            </a:r>
            <a:r>
              <a:rPr kumimoji="1" lang="ja-JP" altLang="en-US" sz="1050" b="1" dirty="0">
                <a:solidFill>
                  <a:schemeClr val="bg1"/>
                </a:solidFill>
                <a:latin typeface="メイリオ" panose="020B0604030504040204" pitchFamily="50" charset="-128"/>
                <a:ea typeface="メイリオ" panose="020B0604030504040204" pitchFamily="50" charset="-128"/>
              </a:rPr>
              <a:t>率</a:t>
            </a:r>
          </a:p>
        </p:txBody>
      </p:sp>
      <p:sp>
        <p:nvSpPr>
          <p:cNvPr id="27" name="正方形/長方形 26">
            <a:extLst>
              <a:ext uri="{FF2B5EF4-FFF2-40B4-BE49-F238E27FC236}">
                <a16:creationId xmlns:a16="http://schemas.microsoft.com/office/drawing/2014/main" id="{B0EDDD6B-F76F-0F36-49FD-6D63CEA4F456}"/>
              </a:ext>
            </a:extLst>
          </p:cNvPr>
          <p:cNvSpPr/>
          <p:nvPr/>
        </p:nvSpPr>
        <p:spPr>
          <a:xfrm>
            <a:off x="3144988" y="5228913"/>
            <a:ext cx="1438656" cy="522965"/>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600" b="1" dirty="0">
                <a:solidFill>
                  <a:srgbClr val="FF0000"/>
                </a:solidFill>
                <a:latin typeface="メイリオ" panose="020B0604030504040204" pitchFamily="50" charset="-128"/>
                <a:ea typeface="メイリオ" panose="020B0604030504040204" pitchFamily="50" charset="-128"/>
              </a:rPr>
              <a:t>85 </a:t>
            </a:r>
            <a:r>
              <a:rPr lang="en-US" altLang="ja-JP" sz="1400" b="1" dirty="0">
                <a:solidFill>
                  <a:srgbClr val="FF0000"/>
                </a:solidFill>
                <a:latin typeface="メイリオ" panose="020B0604030504040204" pitchFamily="50" charset="-128"/>
                <a:ea typeface="メイリオ" panose="020B0604030504040204" pitchFamily="50" charset="-128"/>
              </a:rPr>
              <a:t>%</a:t>
            </a:r>
            <a:endParaRPr kumimoji="1" lang="ja-JP" altLang="en-US" sz="1400" b="1" dirty="0">
              <a:solidFill>
                <a:srgbClr val="FF0000"/>
              </a:solidFill>
              <a:latin typeface="メイリオ" panose="020B0604030504040204" pitchFamily="50" charset="-128"/>
              <a:ea typeface="メイリオ" panose="020B0604030504040204" pitchFamily="50" charset="-128"/>
            </a:endParaRPr>
          </a:p>
        </p:txBody>
      </p:sp>
      <p:sp>
        <p:nvSpPr>
          <p:cNvPr id="28" name="正方形/長方形 27">
            <a:extLst>
              <a:ext uri="{FF2B5EF4-FFF2-40B4-BE49-F238E27FC236}">
                <a16:creationId xmlns:a16="http://schemas.microsoft.com/office/drawing/2014/main" id="{FD41B1A7-59DC-DE5C-69C2-F913EA082034}"/>
              </a:ext>
            </a:extLst>
          </p:cNvPr>
          <p:cNvSpPr/>
          <p:nvPr/>
        </p:nvSpPr>
        <p:spPr>
          <a:xfrm>
            <a:off x="4882248" y="5228913"/>
            <a:ext cx="1438656" cy="522965"/>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b="1" dirty="0">
                <a:solidFill>
                  <a:srgbClr val="FF0000"/>
                </a:solidFill>
                <a:latin typeface="メイリオ" panose="020B0604030504040204" pitchFamily="50" charset="-128"/>
                <a:ea typeface="メイリオ" panose="020B0604030504040204" pitchFamily="50" charset="-128"/>
              </a:rPr>
              <a:t>12.5 </a:t>
            </a:r>
            <a:r>
              <a:rPr lang="en-US" altLang="ja-JP" sz="1400" b="1" dirty="0">
                <a:solidFill>
                  <a:srgbClr val="FF0000"/>
                </a:solidFill>
                <a:latin typeface="メイリオ" panose="020B0604030504040204" pitchFamily="50" charset="-128"/>
                <a:ea typeface="メイリオ" panose="020B0604030504040204" pitchFamily="50" charset="-128"/>
              </a:rPr>
              <a:t>%</a:t>
            </a:r>
            <a:endParaRPr lang="ja-JP" altLang="en-US" sz="1400" b="1" dirty="0">
              <a:solidFill>
                <a:srgbClr val="FF0000"/>
              </a:solidFill>
              <a:latin typeface="メイリオ" panose="020B0604030504040204" pitchFamily="50" charset="-128"/>
              <a:ea typeface="メイリオ" panose="020B0604030504040204" pitchFamily="50" charset="-128"/>
            </a:endParaRPr>
          </a:p>
        </p:txBody>
      </p:sp>
      <p:sp>
        <p:nvSpPr>
          <p:cNvPr id="29" name="正方形/長方形 28">
            <a:extLst>
              <a:ext uri="{FF2B5EF4-FFF2-40B4-BE49-F238E27FC236}">
                <a16:creationId xmlns:a16="http://schemas.microsoft.com/office/drawing/2014/main" id="{2885A2E9-9449-3650-0E4A-5A9BF2D80E32}"/>
              </a:ext>
            </a:extLst>
          </p:cNvPr>
          <p:cNvSpPr/>
          <p:nvPr/>
        </p:nvSpPr>
        <p:spPr>
          <a:xfrm>
            <a:off x="6594510" y="5228913"/>
            <a:ext cx="1438656" cy="522965"/>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600" b="1" dirty="0">
                <a:solidFill>
                  <a:srgbClr val="FF0000"/>
                </a:solidFill>
                <a:latin typeface="メイリオ" panose="020B0604030504040204" pitchFamily="50" charset="-128"/>
                <a:ea typeface="メイリオ" panose="020B0604030504040204" pitchFamily="50" charset="-128"/>
              </a:rPr>
              <a:t>0.5</a:t>
            </a:r>
            <a:r>
              <a:rPr kumimoji="1" lang="en-US" altLang="ja-JP" sz="1400" b="1" dirty="0">
                <a:solidFill>
                  <a:srgbClr val="FF0000"/>
                </a:solidFill>
                <a:latin typeface="メイリオ" panose="020B0604030504040204" pitchFamily="50" charset="-128"/>
                <a:ea typeface="メイリオ" panose="020B0604030504040204" pitchFamily="50" charset="-128"/>
              </a:rPr>
              <a:t> %</a:t>
            </a:r>
            <a:endParaRPr kumimoji="1" lang="ja-JP" altLang="en-US" sz="1400" b="1" dirty="0">
              <a:solidFill>
                <a:srgbClr val="FF0000"/>
              </a:solidFill>
              <a:latin typeface="メイリオ" panose="020B0604030504040204" pitchFamily="50" charset="-128"/>
              <a:ea typeface="メイリオ" panose="020B0604030504040204" pitchFamily="50" charset="-128"/>
            </a:endParaRPr>
          </a:p>
        </p:txBody>
      </p:sp>
      <p:sp>
        <p:nvSpPr>
          <p:cNvPr id="30" name="正方形/長方形 29">
            <a:extLst>
              <a:ext uri="{FF2B5EF4-FFF2-40B4-BE49-F238E27FC236}">
                <a16:creationId xmlns:a16="http://schemas.microsoft.com/office/drawing/2014/main" id="{317ECBDF-09D3-257E-8F4A-E037F6ADBAAE}"/>
              </a:ext>
            </a:extLst>
          </p:cNvPr>
          <p:cNvSpPr/>
          <p:nvPr/>
        </p:nvSpPr>
        <p:spPr>
          <a:xfrm>
            <a:off x="3144988" y="5811212"/>
            <a:ext cx="1438656" cy="522965"/>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400" b="1" dirty="0">
                <a:solidFill>
                  <a:schemeClr val="tx1"/>
                </a:solidFill>
                <a:latin typeface="メイリオ" panose="020B0604030504040204" pitchFamily="50" charset="-128"/>
                <a:ea typeface="メイリオ" panose="020B0604030504040204" pitchFamily="50" charset="-128"/>
              </a:rPr>
              <a:t>70 %</a:t>
            </a:r>
            <a:endParaRPr lang="ja-JP" altLang="en-US" sz="1400" b="1" dirty="0">
              <a:solidFill>
                <a:schemeClr val="tx1"/>
              </a:solidFill>
              <a:latin typeface="メイリオ" panose="020B0604030504040204" pitchFamily="50" charset="-128"/>
              <a:ea typeface="メイリオ" panose="020B0604030504040204" pitchFamily="50" charset="-128"/>
            </a:endParaRPr>
          </a:p>
        </p:txBody>
      </p:sp>
      <p:sp>
        <p:nvSpPr>
          <p:cNvPr id="31" name="正方形/長方形 30">
            <a:extLst>
              <a:ext uri="{FF2B5EF4-FFF2-40B4-BE49-F238E27FC236}">
                <a16:creationId xmlns:a16="http://schemas.microsoft.com/office/drawing/2014/main" id="{DA54FC15-4562-C68F-C13B-F3AB00F5F82F}"/>
              </a:ext>
            </a:extLst>
          </p:cNvPr>
          <p:cNvSpPr/>
          <p:nvPr/>
        </p:nvSpPr>
        <p:spPr>
          <a:xfrm>
            <a:off x="4882248" y="5811212"/>
            <a:ext cx="1438656" cy="522965"/>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400" b="1" dirty="0">
                <a:solidFill>
                  <a:schemeClr val="tx1"/>
                </a:solidFill>
                <a:latin typeface="メイリオ" panose="020B0604030504040204" pitchFamily="50" charset="-128"/>
                <a:ea typeface="メイリオ" panose="020B0604030504040204" pitchFamily="50" charset="-128"/>
              </a:rPr>
              <a:t>8.25 %</a:t>
            </a:r>
            <a:endParaRPr lang="ja-JP" altLang="en-US" sz="1400" b="1" dirty="0">
              <a:solidFill>
                <a:schemeClr val="tx1"/>
              </a:solidFill>
              <a:latin typeface="メイリオ" panose="020B0604030504040204" pitchFamily="50" charset="-128"/>
              <a:ea typeface="メイリオ" panose="020B0604030504040204" pitchFamily="50" charset="-128"/>
            </a:endParaRPr>
          </a:p>
        </p:txBody>
      </p:sp>
      <p:sp>
        <p:nvSpPr>
          <p:cNvPr id="32" name="正方形/長方形 31">
            <a:extLst>
              <a:ext uri="{FF2B5EF4-FFF2-40B4-BE49-F238E27FC236}">
                <a16:creationId xmlns:a16="http://schemas.microsoft.com/office/drawing/2014/main" id="{382D3CC2-0AA1-6B39-8315-AC41101F88FE}"/>
              </a:ext>
            </a:extLst>
          </p:cNvPr>
          <p:cNvSpPr/>
          <p:nvPr/>
        </p:nvSpPr>
        <p:spPr>
          <a:xfrm>
            <a:off x="6594510" y="5811212"/>
            <a:ext cx="1438656" cy="522965"/>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solidFill>
                  <a:schemeClr val="tx1"/>
                </a:solidFill>
                <a:latin typeface="メイリオ" panose="020B0604030504040204" pitchFamily="50" charset="-128"/>
                <a:ea typeface="メイリオ" panose="020B0604030504040204" pitchFamily="50" charset="-128"/>
              </a:rPr>
              <a:t>0.3 %</a:t>
            </a:r>
            <a:endParaRPr kumimoji="1" lang="ja-JP" altLang="en-US" sz="1400" b="1" dirty="0">
              <a:solidFill>
                <a:schemeClr val="tx1"/>
              </a:solidFill>
              <a:latin typeface="メイリオ" panose="020B0604030504040204" pitchFamily="50" charset="-128"/>
              <a:ea typeface="メイリオ" panose="020B0604030504040204" pitchFamily="50" charset="-128"/>
            </a:endParaRPr>
          </a:p>
        </p:txBody>
      </p:sp>
      <p:sp>
        <p:nvSpPr>
          <p:cNvPr id="33" name="正方形/長方形 32">
            <a:extLst>
              <a:ext uri="{FF2B5EF4-FFF2-40B4-BE49-F238E27FC236}">
                <a16:creationId xmlns:a16="http://schemas.microsoft.com/office/drawing/2014/main" id="{5C344B7F-D598-9707-1687-34DC19B638F6}"/>
              </a:ext>
            </a:extLst>
          </p:cNvPr>
          <p:cNvSpPr/>
          <p:nvPr/>
        </p:nvSpPr>
        <p:spPr>
          <a:xfrm>
            <a:off x="1569529" y="5226753"/>
            <a:ext cx="1438656" cy="522965"/>
          </a:xfrm>
          <a:prstGeom prst="rect">
            <a:avLst/>
          </a:prstGeom>
          <a:solidFill>
            <a:schemeClr val="tx2">
              <a:lumMod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solidFill>
                  <a:srgbClr val="FFC000"/>
                </a:solidFill>
                <a:latin typeface="メイリオ" panose="020B0604030504040204" pitchFamily="50" charset="-128"/>
                <a:ea typeface="メイリオ" panose="020B0604030504040204" pitchFamily="50" charset="-128"/>
              </a:rPr>
              <a:t>DYM</a:t>
            </a:r>
            <a:r>
              <a:rPr kumimoji="1" lang="ja-JP" altLang="en-US" sz="1200" b="1" dirty="0">
                <a:solidFill>
                  <a:srgbClr val="FFC000"/>
                </a:solidFill>
                <a:latin typeface="メイリオ" panose="020B0604030504040204" pitchFamily="50" charset="-128"/>
                <a:ea typeface="メイリオ" panose="020B0604030504040204" pitchFamily="50" charset="-128"/>
              </a:rPr>
              <a:t>実績</a:t>
            </a:r>
          </a:p>
        </p:txBody>
      </p:sp>
      <p:sp>
        <p:nvSpPr>
          <p:cNvPr id="34" name="正方形/長方形 33">
            <a:extLst>
              <a:ext uri="{FF2B5EF4-FFF2-40B4-BE49-F238E27FC236}">
                <a16:creationId xmlns:a16="http://schemas.microsoft.com/office/drawing/2014/main" id="{93D563E7-193E-0293-8E0E-7C2E3C5192BF}"/>
              </a:ext>
            </a:extLst>
          </p:cNvPr>
          <p:cNvSpPr/>
          <p:nvPr/>
        </p:nvSpPr>
        <p:spPr>
          <a:xfrm>
            <a:off x="1569529" y="5809052"/>
            <a:ext cx="1438656" cy="522965"/>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b="1" dirty="0">
                <a:solidFill>
                  <a:schemeClr val="bg1"/>
                </a:solidFill>
                <a:latin typeface="メイリオ" panose="020B0604030504040204" pitchFamily="50" charset="-128"/>
                <a:ea typeface="メイリオ" panose="020B0604030504040204" pitchFamily="50" charset="-128"/>
              </a:rPr>
              <a:t>業界平均</a:t>
            </a:r>
            <a:endParaRPr lang="en-US" altLang="ja-JP" sz="1200" b="1" dirty="0">
              <a:solidFill>
                <a:schemeClr val="bg1"/>
              </a:solidFill>
              <a:latin typeface="メイリオ" panose="020B0604030504040204" pitchFamily="50" charset="-128"/>
              <a:ea typeface="メイリオ" panose="020B0604030504040204" pitchFamily="50" charset="-128"/>
            </a:endParaRPr>
          </a:p>
          <a:p>
            <a:pPr algn="ctr"/>
            <a:r>
              <a:rPr lang="en-US" altLang="ja-JP" sz="800" b="1" dirty="0">
                <a:solidFill>
                  <a:schemeClr val="bg1"/>
                </a:solidFill>
                <a:latin typeface="メイリオ" panose="020B0604030504040204" pitchFamily="50" charset="-128"/>
                <a:ea typeface="メイリオ" panose="020B0604030504040204" pitchFamily="50" charset="-128"/>
              </a:rPr>
              <a:t>(LINE</a:t>
            </a:r>
            <a:r>
              <a:rPr lang="ja-JP" altLang="en-US" sz="800" b="1" dirty="0">
                <a:solidFill>
                  <a:schemeClr val="bg1"/>
                </a:solidFill>
                <a:latin typeface="メイリオ" panose="020B0604030504040204" pitchFamily="50" charset="-128"/>
                <a:ea typeface="メイリオ" panose="020B0604030504040204" pitchFamily="50" charset="-128"/>
              </a:rPr>
              <a:t>ヤフー社より共有）</a:t>
            </a:r>
          </a:p>
        </p:txBody>
      </p:sp>
      <p:sp>
        <p:nvSpPr>
          <p:cNvPr id="35" name="正方形/長方形 34">
            <a:extLst>
              <a:ext uri="{FF2B5EF4-FFF2-40B4-BE49-F238E27FC236}">
                <a16:creationId xmlns:a16="http://schemas.microsoft.com/office/drawing/2014/main" id="{A58F3C16-C1CC-3071-6630-130857C0B7D1}"/>
              </a:ext>
            </a:extLst>
          </p:cNvPr>
          <p:cNvSpPr/>
          <p:nvPr/>
        </p:nvSpPr>
        <p:spPr>
          <a:xfrm>
            <a:off x="564095" y="1666793"/>
            <a:ext cx="8989207" cy="328130"/>
          </a:xfrm>
          <a:prstGeom prst="rect">
            <a:avLst/>
          </a:prstGeom>
          <a:solidFill>
            <a:schemeClr val="tx1"/>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solidFill>
                  <a:srgbClr val="FFC000"/>
                </a:solidFill>
                <a:latin typeface="メイリオ" panose="020B0604030504040204" pitchFamily="50" charset="-128"/>
                <a:ea typeface="メイリオ" panose="020B0604030504040204" pitchFamily="50" charset="-128"/>
              </a:rPr>
              <a:t>施策の流れ</a:t>
            </a:r>
          </a:p>
        </p:txBody>
      </p:sp>
    </p:spTree>
    <p:extLst>
      <p:ext uri="{BB962C8B-B14F-4D97-AF65-F5344CB8AC3E}">
        <p14:creationId xmlns:p14="http://schemas.microsoft.com/office/powerpoint/2010/main" val="242184237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5EBFBA-F50F-49FF-6262-A65BC71D24BA}"/>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54A58725-F6F0-8B49-3CD7-5CBEAA430892}"/>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C83D44E2-DD1A-B705-6239-227268DFCE80}"/>
              </a:ext>
            </a:extLst>
          </p:cNvPr>
          <p:cNvSpPr/>
          <p:nvPr/>
        </p:nvSpPr>
        <p:spPr>
          <a:xfrm>
            <a:off x="788963" y="793451"/>
            <a:ext cx="8328074" cy="3817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業態平均で</a:t>
            </a:r>
            <a:r>
              <a:rPr lang="ja-JP" altLang="en-US" sz="1400" b="1" dirty="0">
                <a:solidFill>
                  <a:srgbClr val="FF0000"/>
                </a:solidFill>
                <a:latin typeface="メイリオ" panose="020B0604030504040204" pitchFamily="50" charset="-128"/>
                <a:ea typeface="メイリオ" panose="020B0604030504040204" pitchFamily="50" charset="-128"/>
              </a:rPr>
              <a:t>最大３</a:t>
            </a:r>
            <a:r>
              <a:rPr lang="en-US" altLang="ja-JP" sz="1400" b="1" dirty="0">
                <a:solidFill>
                  <a:srgbClr val="FF0000"/>
                </a:solidFill>
                <a:latin typeface="メイリオ" panose="020B0604030504040204" pitchFamily="50" charset="-128"/>
                <a:ea typeface="メイリオ" panose="020B0604030504040204" pitchFamily="50" charset="-128"/>
              </a:rPr>
              <a:t>%</a:t>
            </a:r>
            <a:r>
              <a:rPr lang="ja-JP" altLang="en-US" sz="1400" b="1" dirty="0">
                <a:solidFill>
                  <a:srgbClr val="FF0000"/>
                </a:solidFill>
                <a:latin typeface="メイリオ" panose="020B0604030504040204" pitchFamily="50" charset="-128"/>
                <a:ea typeface="メイリオ" panose="020B0604030504040204" pitchFamily="50" charset="-128"/>
              </a:rPr>
              <a:t>のユーザーは有効化</a:t>
            </a:r>
            <a:r>
              <a:rPr lang="en-US" altLang="ja-JP" sz="1400" b="1" dirty="0">
                <a:solidFill>
                  <a:srgbClr val="FF0000"/>
                </a:solidFill>
                <a:latin typeface="メイリオ" panose="020B0604030504040204" pitchFamily="50" charset="-128"/>
                <a:ea typeface="メイリオ" panose="020B0604030504040204" pitchFamily="50" charset="-128"/>
              </a:rPr>
              <a:t>/</a:t>
            </a:r>
            <a:r>
              <a:rPr lang="ja-JP" altLang="en-US" sz="1400" b="1" dirty="0">
                <a:solidFill>
                  <a:srgbClr val="FF0000"/>
                </a:solidFill>
                <a:latin typeface="メイリオ" panose="020B0604030504040204" pitchFamily="50" charset="-128"/>
                <a:ea typeface="メイリオ" panose="020B0604030504040204" pitchFamily="50" charset="-128"/>
              </a:rPr>
              <a:t>マネタイズ可能</a:t>
            </a:r>
            <a:r>
              <a:rPr lang="ja-JP" altLang="en-US" sz="1400" dirty="0">
                <a:solidFill>
                  <a:srgbClr val="343434"/>
                </a:solidFill>
                <a:latin typeface="メイリオ" panose="020B0604030504040204" pitchFamily="50" charset="-128"/>
                <a:ea typeface="メイリオ" panose="020B0604030504040204" pitchFamily="50" charset="-128"/>
              </a:rPr>
              <a:t> とされている。</a:t>
            </a:r>
            <a:endParaRPr lang="en-US" altLang="ja-JP" sz="1400" dirty="0">
              <a:solidFill>
                <a:srgbClr val="343434"/>
              </a:solidFill>
              <a:latin typeface="メイリオ" panose="020B0604030504040204" pitchFamily="50" charset="-128"/>
              <a:ea typeface="メイリオ" panose="020B0604030504040204" pitchFamily="50" charset="-128"/>
            </a:endParaRPr>
          </a:p>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貴社集客課題に合わせて、</a:t>
            </a:r>
            <a:r>
              <a:rPr lang="en-US" altLang="ja-JP" sz="1400" dirty="0">
                <a:solidFill>
                  <a:srgbClr val="343434"/>
                </a:solidFill>
                <a:latin typeface="メイリオ" panose="020B0604030504040204" pitchFamily="50" charset="-128"/>
                <a:ea typeface="メイリオ" panose="020B0604030504040204" pitchFamily="50" charset="-128"/>
              </a:rPr>
              <a:t>LINE</a:t>
            </a:r>
            <a:r>
              <a:rPr lang="ja-JP" altLang="en-US" sz="1400" dirty="0">
                <a:solidFill>
                  <a:srgbClr val="343434"/>
                </a:solidFill>
                <a:latin typeface="メイリオ" panose="020B0604030504040204" pitchFamily="50" charset="-128"/>
                <a:ea typeface="メイリオ" panose="020B0604030504040204" pitchFamily="50" charset="-128"/>
              </a:rPr>
              <a:t>公式アカウントの構築モデルを活用しながら集客効率を改善。</a:t>
            </a:r>
          </a:p>
        </p:txBody>
      </p:sp>
      <p:cxnSp>
        <p:nvCxnSpPr>
          <p:cNvPr id="5" name="直線コネクタ 4">
            <a:extLst>
              <a:ext uri="{FF2B5EF4-FFF2-40B4-BE49-F238E27FC236}">
                <a16:creationId xmlns:a16="http://schemas.microsoft.com/office/drawing/2014/main" id="{73533EC4-DA04-2252-5E95-8206105B300C}"/>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DEFE914D-32AD-C9E0-A47B-60FB84F79955}"/>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Meiryo"/>
                <a:ea typeface="Meiryo"/>
                <a:cs typeface="Meiryo"/>
                <a:sym typeface="Meiryo"/>
              </a:rPr>
              <a:t>LINE</a:t>
            </a:r>
            <a:r>
              <a:rPr lang="ja-JP" altLang="en-US" sz="1600" b="1" dirty="0">
                <a:solidFill>
                  <a:srgbClr val="002060"/>
                </a:solidFill>
                <a:latin typeface="Meiryo"/>
                <a:ea typeface="Meiryo"/>
                <a:cs typeface="Meiryo"/>
                <a:sym typeface="Meiryo"/>
              </a:rPr>
              <a:t>公式アカウントを検討する背景</a:t>
            </a:r>
            <a:endParaRPr sz="1600" b="1" dirty="0">
              <a:solidFill>
                <a:srgbClr val="002060"/>
              </a:solidFill>
              <a:latin typeface="Meiryo"/>
              <a:ea typeface="Meiryo"/>
              <a:cs typeface="Meiryo"/>
              <a:sym typeface="Meiryo"/>
            </a:endParaRPr>
          </a:p>
        </p:txBody>
      </p:sp>
      <p:sp>
        <p:nvSpPr>
          <p:cNvPr id="2" name="正方形/長方形 1">
            <a:extLst>
              <a:ext uri="{FF2B5EF4-FFF2-40B4-BE49-F238E27FC236}">
                <a16:creationId xmlns:a16="http://schemas.microsoft.com/office/drawing/2014/main" id="{EEF4BB1D-1E6E-955A-85D2-2DAF3FCF967B}"/>
              </a:ext>
            </a:extLst>
          </p:cNvPr>
          <p:cNvSpPr/>
          <p:nvPr/>
        </p:nvSpPr>
        <p:spPr>
          <a:xfrm>
            <a:off x="437755" y="1606187"/>
            <a:ext cx="1425879" cy="314059"/>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latin typeface="メイリオ" panose="020B0604030504040204" pitchFamily="50" charset="-128"/>
                <a:ea typeface="メイリオ" panose="020B0604030504040204" pitchFamily="50" charset="-128"/>
              </a:rPr>
              <a:t>流入元</a:t>
            </a:r>
          </a:p>
        </p:txBody>
      </p:sp>
      <p:sp>
        <p:nvSpPr>
          <p:cNvPr id="8" name="正方形/長方形 7">
            <a:extLst>
              <a:ext uri="{FF2B5EF4-FFF2-40B4-BE49-F238E27FC236}">
                <a16:creationId xmlns:a16="http://schemas.microsoft.com/office/drawing/2014/main" id="{531C33D5-FD17-057E-9ABE-377B289F9790}"/>
              </a:ext>
            </a:extLst>
          </p:cNvPr>
          <p:cNvSpPr/>
          <p:nvPr/>
        </p:nvSpPr>
        <p:spPr>
          <a:xfrm>
            <a:off x="1939984" y="1606186"/>
            <a:ext cx="1425879" cy="314059"/>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rPr>
              <a:t>LINE</a:t>
            </a:r>
            <a:r>
              <a:rPr kumimoji="1" lang="ja-JP" altLang="en-US" sz="1200" b="1" dirty="0">
                <a:latin typeface="メイリオ" panose="020B0604030504040204" pitchFamily="50" charset="-128"/>
                <a:ea typeface="メイリオ" panose="020B0604030504040204" pitchFamily="50" charset="-128"/>
              </a:rPr>
              <a:t>誘導</a:t>
            </a:r>
          </a:p>
        </p:txBody>
      </p:sp>
      <p:sp>
        <p:nvSpPr>
          <p:cNvPr id="10" name="正方形/長方形 9">
            <a:extLst>
              <a:ext uri="{FF2B5EF4-FFF2-40B4-BE49-F238E27FC236}">
                <a16:creationId xmlns:a16="http://schemas.microsoft.com/office/drawing/2014/main" id="{AFB52975-24F0-82CC-8A36-A65D2F539FA3}"/>
              </a:ext>
            </a:extLst>
          </p:cNvPr>
          <p:cNvSpPr/>
          <p:nvPr/>
        </p:nvSpPr>
        <p:spPr>
          <a:xfrm>
            <a:off x="3442213" y="1606186"/>
            <a:ext cx="4320230" cy="314059"/>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latin typeface="メイリオ" panose="020B0604030504040204" pitchFamily="50" charset="-128"/>
                <a:ea typeface="メイリオ" panose="020B0604030504040204" pitchFamily="50" charset="-128"/>
              </a:rPr>
              <a:t>具体の施策方針</a:t>
            </a:r>
          </a:p>
        </p:txBody>
      </p:sp>
      <p:sp>
        <p:nvSpPr>
          <p:cNvPr id="34" name="矢印: 右 33">
            <a:extLst>
              <a:ext uri="{FF2B5EF4-FFF2-40B4-BE49-F238E27FC236}">
                <a16:creationId xmlns:a16="http://schemas.microsoft.com/office/drawing/2014/main" id="{173A008B-7B40-3834-688E-168FABDF16B8}"/>
              </a:ext>
            </a:extLst>
          </p:cNvPr>
          <p:cNvSpPr/>
          <p:nvPr/>
        </p:nvSpPr>
        <p:spPr>
          <a:xfrm>
            <a:off x="1080889" y="2280379"/>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正方形/長方形 36">
            <a:extLst>
              <a:ext uri="{FF2B5EF4-FFF2-40B4-BE49-F238E27FC236}">
                <a16:creationId xmlns:a16="http://schemas.microsoft.com/office/drawing/2014/main" id="{FD70E0F9-3A37-9791-A2F1-DB53DFA521CA}"/>
              </a:ext>
            </a:extLst>
          </p:cNvPr>
          <p:cNvSpPr/>
          <p:nvPr/>
        </p:nvSpPr>
        <p:spPr>
          <a:xfrm>
            <a:off x="1939984" y="2014581"/>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900">
                <a:solidFill>
                  <a:schemeClr val="tx1">
                    <a:lumMod val="75000"/>
                    <a:lumOff val="25000"/>
                  </a:schemeClr>
                </a:solidFill>
                <a:latin typeface="メイリオ" panose="020B0604030504040204" pitchFamily="50" charset="-128"/>
                <a:ea typeface="メイリオ" panose="020B0604030504040204" pitchFamily="50" charset="-128"/>
              </a:rPr>
              <a:t>離脱防止</a:t>
            </a:r>
            <a:endParaRPr lang="en-US" altLang="ja-JP" sz="900"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rPr>
              <a:t>サイト上ポップアップ</a:t>
            </a:r>
          </a:p>
        </p:txBody>
      </p:sp>
      <p:sp>
        <p:nvSpPr>
          <p:cNvPr id="39" name="正方形/長方形 38">
            <a:extLst>
              <a:ext uri="{FF2B5EF4-FFF2-40B4-BE49-F238E27FC236}">
                <a16:creationId xmlns:a16="http://schemas.microsoft.com/office/drawing/2014/main" id="{BC93A6AA-67BF-84C0-0945-45084140FCCE}"/>
              </a:ext>
            </a:extLst>
          </p:cNvPr>
          <p:cNvSpPr/>
          <p:nvPr/>
        </p:nvSpPr>
        <p:spPr>
          <a:xfrm>
            <a:off x="1939984" y="2627767"/>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rPr>
              <a:t>離脱防止</a:t>
            </a:r>
            <a:endParaRPr lang="en-US" altLang="ja-JP" sz="900"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rPr>
              <a:t>サイト上ポップアップ</a:t>
            </a:r>
          </a:p>
        </p:txBody>
      </p:sp>
      <p:sp>
        <p:nvSpPr>
          <p:cNvPr id="41" name="正方形/長方形 40">
            <a:extLst>
              <a:ext uri="{FF2B5EF4-FFF2-40B4-BE49-F238E27FC236}">
                <a16:creationId xmlns:a16="http://schemas.microsoft.com/office/drawing/2014/main" id="{1B7DB214-408D-A44C-E3F0-2C35AF01311F}"/>
              </a:ext>
            </a:extLst>
          </p:cNvPr>
          <p:cNvSpPr/>
          <p:nvPr/>
        </p:nvSpPr>
        <p:spPr>
          <a:xfrm>
            <a:off x="437755" y="2014581"/>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00">
                <a:solidFill>
                  <a:schemeClr val="tx1">
                    <a:lumMod val="75000"/>
                    <a:lumOff val="25000"/>
                  </a:schemeClr>
                </a:solidFill>
                <a:latin typeface="メイリオ" panose="020B0604030504040204" pitchFamily="50" charset="-128"/>
                <a:ea typeface="メイリオ" panose="020B0604030504040204" pitchFamily="50" charset="-128"/>
              </a:rPr>
              <a:t>SEO</a:t>
            </a:r>
            <a:r>
              <a:rPr lang="ja-JP" altLang="en-US" sz="1000">
                <a:solidFill>
                  <a:schemeClr val="tx1">
                    <a:lumMod val="75000"/>
                    <a:lumOff val="25000"/>
                  </a:schemeClr>
                </a:solidFill>
                <a:latin typeface="メイリオ" panose="020B0604030504040204" pitchFamily="50" charset="-128"/>
                <a:ea typeface="メイリオ" panose="020B0604030504040204" pitchFamily="50" charset="-128"/>
              </a:rPr>
              <a:t>・</a:t>
            </a:r>
            <a:r>
              <a:rPr lang="en-US" altLang="ja-JP" sz="1000" dirty="0">
                <a:solidFill>
                  <a:schemeClr val="tx1">
                    <a:lumMod val="75000"/>
                    <a:lumOff val="25000"/>
                  </a:schemeClr>
                </a:solidFill>
                <a:latin typeface="メイリオ" panose="020B0604030504040204" pitchFamily="50" charset="-128"/>
                <a:ea typeface="メイリオ" panose="020B0604030504040204" pitchFamily="50" charset="-128"/>
              </a:rPr>
              <a:t>AIO</a:t>
            </a:r>
            <a:endParaRPr lang="ja-JP" altLang="en-US" sz="10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43" name="正方形/長方形 42">
            <a:extLst>
              <a:ext uri="{FF2B5EF4-FFF2-40B4-BE49-F238E27FC236}">
                <a16:creationId xmlns:a16="http://schemas.microsoft.com/office/drawing/2014/main" id="{4FF021F0-AD46-9EC1-0810-C474BA8335D8}"/>
              </a:ext>
            </a:extLst>
          </p:cNvPr>
          <p:cNvSpPr/>
          <p:nvPr/>
        </p:nvSpPr>
        <p:spPr>
          <a:xfrm>
            <a:off x="437755" y="2627767"/>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solidFill>
                  <a:schemeClr val="tx1">
                    <a:lumMod val="75000"/>
                    <a:lumOff val="25000"/>
                  </a:schemeClr>
                </a:solidFill>
                <a:latin typeface="メイリオ" panose="020B0604030504040204" pitchFamily="50" charset="-128"/>
                <a:ea typeface="メイリオ" panose="020B0604030504040204" pitchFamily="50" charset="-128"/>
              </a:rPr>
              <a:t>広告</a:t>
            </a:r>
          </a:p>
        </p:txBody>
      </p:sp>
      <p:sp>
        <p:nvSpPr>
          <p:cNvPr id="46" name="正方形/長方形 45">
            <a:extLst>
              <a:ext uri="{FF2B5EF4-FFF2-40B4-BE49-F238E27FC236}">
                <a16:creationId xmlns:a16="http://schemas.microsoft.com/office/drawing/2014/main" id="{8A474FF7-4108-C39F-A5EC-7D5691573134}"/>
              </a:ext>
            </a:extLst>
          </p:cNvPr>
          <p:cNvSpPr/>
          <p:nvPr/>
        </p:nvSpPr>
        <p:spPr>
          <a:xfrm>
            <a:off x="3442213" y="2009121"/>
            <a:ext cx="4320230" cy="1177176"/>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48" name="矢印: 右 47">
            <a:extLst>
              <a:ext uri="{FF2B5EF4-FFF2-40B4-BE49-F238E27FC236}">
                <a16:creationId xmlns:a16="http://schemas.microsoft.com/office/drawing/2014/main" id="{7386A58D-9B89-4DB0-7216-4E1CB6B454A9}"/>
              </a:ext>
            </a:extLst>
          </p:cNvPr>
          <p:cNvSpPr/>
          <p:nvPr/>
        </p:nvSpPr>
        <p:spPr>
          <a:xfrm>
            <a:off x="1080891" y="3232219"/>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0" name="矢印: 右 49">
            <a:extLst>
              <a:ext uri="{FF2B5EF4-FFF2-40B4-BE49-F238E27FC236}">
                <a16:creationId xmlns:a16="http://schemas.microsoft.com/office/drawing/2014/main" id="{D3CE675D-8A5C-D632-6FDA-1C8A7E291893}"/>
              </a:ext>
            </a:extLst>
          </p:cNvPr>
          <p:cNvSpPr/>
          <p:nvPr/>
        </p:nvSpPr>
        <p:spPr>
          <a:xfrm>
            <a:off x="1080890" y="3933285"/>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51" name="直線コネクタ 50">
            <a:extLst>
              <a:ext uri="{FF2B5EF4-FFF2-40B4-BE49-F238E27FC236}">
                <a16:creationId xmlns:a16="http://schemas.microsoft.com/office/drawing/2014/main" id="{8397AEEA-4837-54CF-13BA-F31B80D1393F}"/>
              </a:ext>
            </a:extLst>
          </p:cNvPr>
          <p:cNvCxnSpPr>
            <a:cxnSpLocks/>
          </p:cNvCxnSpPr>
          <p:nvPr/>
        </p:nvCxnSpPr>
        <p:spPr>
          <a:xfrm flipV="1">
            <a:off x="437755" y="3888359"/>
            <a:ext cx="7324688" cy="1"/>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
        <p:nvSpPr>
          <p:cNvPr id="52" name="正方形/長方形 51">
            <a:extLst>
              <a:ext uri="{FF2B5EF4-FFF2-40B4-BE49-F238E27FC236}">
                <a16:creationId xmlns:a16="http://schemas.microsoft.com/office/drawing/2014/main" id="{24D1C472-525A-CFB1-3C6E-3053F2619881}"/>
              </a:ext>
            </a:extLst>
          </p:cNvPr>
          <p:cNvSpPr/>
          <p:nvPr/>
        </p:nvSpPr>
        <p:spPr>
          <a:xfrm>
            <a:off x="437755" y="3240953"/>
            <a:ext cx="2928107"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LINE</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広告（</a:t>
            </a: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CPF</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配信）</a:t>
            </a:r>
            <a:endPar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サイト上ポップアップ</a:t>
            </a:r>
            <a:endPar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53" name="正方形/長方形 52">
            <a:extLst>
              <a:ext uri="{FF2B5EF4-FFF2-40B4-BE49-F238E27FC236}">
                <a16:creationId xmlns:a16="http://schemas.microsoft.com/office/drawing/2014/main" id="{CBD188BB-0EA8-4510-DCA0-2AEE1B7CD5EB}"/>
              </a:ext>
            </a:extLst>
          </p:cNvPr>
          <p:cNvSpPr/>
          <p:nvPr/>
        </p:nvSpPr>
        <p:spPr>
          <a:xfrm>
            <a:off x="1939984" y="3977235"/>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通知メッセ</a:t>
            </a:r>
          </a:p>
        </p:txBody>
      </p:sp>
      <p:sp>
        <p:nvSpPr>
          <p:cNvPr id="54" name="正方形/長方形 53">
            <a:extLst>
              <a:ext uri="{FF2B5EF4-FFF2-40B4-BE49-F238E27FC236}">
                <a16:creationId xmlns:a16="http://schemas.microsoft.com/office/drawing/2014/main" id="{29E6B5C9-2FD2-FC57-1789-05FA5F38E1F7}"/>
              </a:ext>
            </a:extLst>
          </p:cNvPr>
          <p:cNvSpPr/>
          <p:nvPr/>
        </p:nvSpPr>
        <p:spPr>
          <a:xfrm>
            <a:off x="437755" y="3977235"/>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a:t>
            </a: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mcv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済</a:t>
            </a:r>
          </a:p>
        </p:txBody>
      </p:sp>
      <p:sp>
        <p:nvSpPr>
          <p:cNvPr id="55" name="正方形/長方形 54">
            <a:extLst>
              <a:ext uri="{FF2B5EF4-FFF2-40B4-BE49-F238E27FC236}">
                <a16:creationId xmlns:a16="http://schemas.microsoft.com/office/drawing/2014/main" id="{533AD0C0-7276-FA17-9FD7-734635201CB2}"/>
              </a:ext>
            </a:extLst>
          </p:cNvPr>
          <p:cNvSpPr/>
          <p:nvPr/>
        </p:nvSpPr>
        <p:spPr>
          <a:xfrm>
            <a:off x="3442212" y="3240953"/>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56" name="正方形/長方形 55">
            <a:extLst>
              <a:ext uri="{FF2B5EF4-FFF2-40B4-BE49-F238E27FC236}">
                <a16:creationId xmlns:a16="http://schemas.microsoft.com/office/drawing/2014/main" id="{415D5861-B108-7E0A-3377-5601EF82149A}"/>
              </a:ext>
            </a:extLst>
          </p:cNvPr>
          <p:cNvSpPr/>
          <p:nvPr/>
        </p:nvSpPr>
        <p:spPr>
          <a:xfrm>
            <a:off x="3442212" y="3977237"/>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58" name="矢印: 右 57">
            <a:extLst>
              <a:ext uri="{FF2B5EF4-FFF2-40B4-BE49-F238E27FC236}">
                <a16:creationId xmlns:a16="http://schemas.microsoft.com/office/drawing/2014/main" id="{94AAFD78-CFCD-8AAC-C5DE-8F785D90C401}"/>
              </a:ext>
            </a:extLst>
          </p:cNvPr>
          <p:cNvSpPr/>
          <p:nvPr/>
        </p:nvSpPr>
        <p:spPr>
          <a:xfrm>
            <a:off x="1080889" y="4580318"/>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0" name="矢印: 右 59">
            <a:extLst>
              <a:ext uri="{FF2B5EF4-FFF2-40B4-BE49-F238E27FC236}">
                <a16:creationId xmlns:a16="http://schemas.microsoft.com/office/drawing/2014/main" id="{4D8298BD-6809-4C50-E889-0C5F779DE209}"/>
              </a:ext>
            </a:extLst>
          </p:cNvPr>
          <p:cNvSpPr/>
          <p:nvPr/>
        </p:nvSpPr>
        <p:spPr>
          <a:xfrm>
            <a:off x="1080889" y="5811958"/>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2" name="矢印: 右 61">
            <a:extLst>
              <a:ext uri="{FF2B5EF4-FFF2-40B4-BE49-F238E27FC236}">
                <a16:creationId xmlns:a16="http://schemas.microsoft.com/office/drawing/2014/main" id="{01F0D3B8-3119-304D-228E-ED46B6CAB67D}"/>
              </a:ext>
            </a:extLst>
          </p:cNvPr>
          <p:cNvSpPr/>
          <p:nvPr/>
        </p:nvSpPr>
        <p:spPr>
          <a:xfrm>
            <a:off x="1080889" y="5201704"/>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4" name="正方形/長方形 63">
            <a:extLst>
              <a:ext uri="{FF2B5EF4-FFF2-40B4-BE49-F238E27FC236}">
                <a16:creationId xmlns:a16="http://schemas.microsoft.com/office/drawing/2014/main" id="{9751A61D-8342-2E71-49E2-6F2A585210CF}"/>
              </a:ext>
            </a:extLst>
          </p:cNvPr>
          <p:cNvSpPr/>
          <p:nvPr/>
        </p:nvSpPr>
        <p:spPr>
          <a:xfrm>
            <a:off x="1939984" y="4595881"/>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サンクス</a:t>
            </a:r>
            <a:r>
              <a:rPr kumimoji="1" lang="en-US" altLang="ja-JP" sz="900" dirty="0">
                <a:solidFill>
                  <a:schemeClr val="tx1">
                    <a:lumMod val="65000"/>
                    <a:lumOff val="35000"/>
                  </a:schemeClr>
                </a:solidFill>
                <a:latin typeface="メイリオ" panose="020B0604030504040204" pitchFamily="50" charset="-128"/>
                <a:ea typeface="メイリオ" panose="020B0604030504040204" pitchFamily="50" charset="-128"/>
              </a:rPr>
              <a:t>LINE</a:t>
            </a: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誘導</a:t>
            </a:r>
          </a:p>
        </p:txBody>
      </p:sp>
      <p:sp>
        <p:nvSpPr>
          <p:cNvPr id="66" name="正方形/長方形 65">
            <a:extLst>
              <a:ext uri="{FF2B5EF4-FFF2-40B4-BE49-F238E27FC236}">
                <a16:creationId xmlns:a16="http://schemas.microsoft.com/office/drawing/2014/main" id="{069B86FC-7AC9-2579-6747-94409852E6A9}"/>
              </a:ext>
            </a:extLst>
          </p:cNvPr>
          <p:cNvSpPr/>
          <p:nvPr/>
        </p:nvSpPr>
        <p:spPr>
          <a:xfrm>
            <a:off x="437755" y="4595881"/>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a:t>
            </a: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mcv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済</a:t>
            </a:r>
          </a:p>
        </p:txBody>
      </p:sp>
      <p:sp>
        <p:nvSpPr>
          <p:cNvPr id="68" name="正方形/長方形 67">
            <a:extLst>
              <a:ext uri="{FF2B5EF4-FFF2-40B4-BE49-F238E27FC236}">
                <a16:creationId xmlns:a16="http://schemas.microsoft.com/office/drawing/2014/main" id="{259BCB38-DAF2-BC8F-7410-9383C33A3F86}"/>
              </a:ext>
            </a:extLst>
          </p:cNvPr>
          <p:cNvSpPr/>
          <p:nvPr/>
        </p:nvSpPr>
        <p:spPr>
          <a:xfrm>
            <a:off x="437755" y="5214527"/>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保有リスト</a:t>
            </a:r>
          </a:p>
        </p:txBody>
      </p:sp>
      <p:sp>
        <p:nvSpPr>
          <p:cNvPr id="70" name="正方形/長方形 69">
            <a:extLst>
              <a:ext uri="{FF2B5EF4-FFF2-40B4-BE49-F238E27FC236}">
                <a16:creationId xmlns:a16="http://schemas.microsoft.com/office/drawing/2014/main" id="{1F924E3D-9CB9-CA80-4FF6-D62C50842AEB}"/>
              </a:ext>
            </a:extLst>
          </p:cNvPr>
          <p:cNvSpPr/>
          <p:nvPr/>
        </p:nvSpPr>
        <p:spPr>
          <a:xfrm>
            <a:off x="437755" y="5833173"/>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保有リスト</a:t>
            </a:r>
          </a:p>
        </p:txBody>
      </p:sp>
      <p:sp>
        <p:nvSpPr>
          <p:cNvPr id="72" name="正方形/長方形 71">
            <a:extLst>
              <a:ext uri="{FF2B5EF4-FFF2-40B4-BE49-F238E27FC236}">
                <a16:creationId xmlns:a16="http://schemas.microsoft.com/office/drawing/2014/main" id="{048444BF-0B54-4CE2-78C3-B78C7FCD001B}"/>
              </a:ext>
            </a:extLst>
          </p:cNvPr>
          <p:cNvSpPr/>
          <p:nvPr/>
        </p:nvSpPr>
        <p:spPr>
          <a:xfrm>
            <a:off x="1939983" y="5214527"/>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通知メッセ</a:t>
            </a:r>
          </a:p>
        </p:txBody>
      </p:sp>
      <p:sp>
        <p:nvSpPr>
          <p:cNvPr id="74" name="正方形/長方形 73">
            <a:extLst>
              <a:ext uri="{FF2B5EF4-FFF2-40B4-BE49-F238E27FC236}">
                <a16:creationId xmlns:a16="http://schemas.microsoft.com/office/drawing/2014/main" id="{AD971EAE-829E-07E1-B15C-D7B9C5538B0F}"/>
              </a:ext>
            </a:extLst>
          </p:cNvPr>
          <p:cNvSpPr/>
          <p:nvPr/>
        </p:nvSpPr>
        <p:spPr>
          <a:xfrm>
            <a:off x="1939983" y="5833173"/>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メルマガ・テレマ</a:t>
            </a:r>
            <a:endParaRPr kumimoji="1" lang="en-US" altLang="ja-JP" sz="900" dirty="0">
              <a:solidFill>
                <a:schemeClr val="tx1">
                  <a:lumMod val="65000"/>
                  <a:lumOff val="35000"/>
                </a:schemeClr>
              </a:solidFill>
              <a:latin typeface="メイリオ" panose="020B0604030504040204" pitchFamily="50" charset="-128"/>
              <a:ea typeface="メイリオ" panose="020B0604030504040204" pitchFamily="50" charset="-128"/>
            </a:endParaRPr>
          </a:p>
          <a:p>
            <a:pPr algn="ctr"/>
            <a:r>
              <a:rPr lang="en-US" altLang="ja-JP" sz="900" dirty="0">
                <a:solidFill>
                  <a:schemeClr val="tx1">
                    <a:lumMod val="65000"/>
                    <a:lumOff val="35000"/>
                  </a:schemeClr>
                </a:solidFill>
                <a:latin typeface="メイリオ" panose="020B0604030504040204" pitchFamily="50" charset="-128"/>
                <a:ea typeface="メイリオ" panose="020B0604030504040204" pitchFamily="50" charset="-128"/>
              </a:rPr>
              <a:t>SNS</a:t>
            </a:r>
            <a:r>
              <a:rPr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告知</a:t>
            </a: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76" name="正方形/長方形 75">
            <a:extLst>
              <a:ext uri="{FF2B5EF4-FFF2-40B4-BE49-F238E27FC236}">
                <a16:creationId xmlns:a16="http://schemas.microsoft.com/office/drawing/2014/main" id="{1D0E3A14-A5E0-6277-4C0A-37271CE6D04A}"/>
              </a:ext>
            </a:extLst>
          </p:cNvPr>
          <p:cNvSpPr/>
          <p:nvPr/>
        </p:nvSpPr>
        <p:spPr>
          <a:xfrm>
            <a:off x="3442212" y="4595883"/>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78" name="正方形/長方形 77">
            <a:extLst>
              <a:ext uri="{FF2B5EF4-FFF2-40B4-BE49-F238E27FC236}">
                <a16:creationId xmlns:a16="http://schemas.microsoft.com/office/drawing/2014/main" id="{0F8EFC74-4358-EB59-16A6-D864C62AC931}"/>
              </a:ext>
            </a:extLst>
          </p:cNvPr>
          <p:cNvSpPr/>
          <p:nvPr/>
        </p:nvSpPr>
        <p:spPr>
          <a:xfrm>
            <a:off x="3442212" y="5214528"/>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80" name="正方形/長方形 79">
            <a:extLst>
              <a:ext uri="{FF2B5EF4-FFF2-40B4-BE49-F238E27FC236}">
                <a16:creationId xmlns:a16="http://schemas.microsoft.com/office/drawing/2014/main" id="{36006927-A8A5-7A4B-A04C-F5D0808A5304}"/>
              </a:ext>
            </a:extLst>
          </p:cNvPr>
          <p:cNvSpPr/>
          <p:nvPr/>
        </p:nvSpPr>
        <p:spPr>
          <a:xfrm>
            <a:off x="3442212" y="5822247"/>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86" name="Shape 17">
            <a:extLst>
              <a:ext uri="{FF2B5EF4-FFF2-40B4-BE49-F238E27FC236}">
                <a16:creationId xmlns:a16="http://schemas.microsoft.com/office/drawing/2014/main" id="{B77E1FF1-F589-36AA-D779-FABB807F9501}"/>
              </a:ext>
            </a:extLst>
          </p:cNvPr>
          <p:cNvSpPr/>
          <p:nvPr/>
        </p:nvSpPr>
        <p:spPr>
          <a:xfrm>
            <a:off x="3636262" y="2079998"/>
            <a:ext cx="1763487" cy="466492"/>
          </a:xfrm>
          <a:prstGeom prst="rect">
            <a:avLst/>
          </a:prstGeom>
          <a:solidFill>
            <a:srgbClr val="F2F2F2"/>
          </a:solidFill>
          <a:ln w="12700">
            <a:solidFill>
              <a:srgbClr val="CCCCCC"/>
            </a:solidFill>
            <a:prstDash val="solid"/>
          </a:ln>
        </p:spPr>
        <p:txBody>
          <a:bodyPr/>
          <a:lstStyle/>
          <a:p>
            <a:pPr>
              <a:lnSpc>
                <a:spcPct val="135000"/>
              </a:lnSpc>
            </a:pP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Calibri" pitchFamily="34" charset="-120"/>
              </a:rPr>
              <a:t>あいさつMSG</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endParaRPr lang="en-US" altLang="ja-JP" sz="800" dirty="0">
              <a:solidFill>
                <a:schemeClr val="bg1">
                  <a:lumMod val="65000"/>
                </a:schemeClr>
              </a:solidFill>
              <a:latin typeface="メイリオ" panose="020B0604030504040204" pitchFamily="50" charset="-128"/>
              <a:ea typeface="メイリオ" panose="020B0604030504040204" pitchFamily="50" charset="-128"/>
            </a:endParaRPr>
          </a:p>
          <a:p>
            <a:pPr>
              <a:lnSpc>
                <a:spcPct val="135000"/>
              </a:lnSpc>
            </a:pP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Calibri" pitchFamily="34" charset="-120"/>
              </a:rPr>
              <a:t>登録特典</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Calibri" pitchFamily="34" charset="-120"/>
              </a:rPr>
              <a:t>資料</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Calibri" pitchFamily="34" charset="-120"/>
              </a:rPr>
              <a:t>診断</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Calibri" pitchFamily="34" charset="-120"/>
              </a:rPr>
              <a:t>自動送付</a:t>
            </a:r>
            <a:endParaRPr lang="en-US" altLang="ja-JP" sz="800" dirty="0">
              <a:solidFill>
                <a:schemeClr val="bg1">
                  <a:lumMod val="65000"/>
                </a:schemeClr>
              </a:solidFill>
              <a:latin typeface="メイリオ" panose="020B0604030504040204" pitchFamily="50" charset="-128"/>
              <a:ea typeface="メイリオ" panose="020B0604030504040204" pitchFamily="50" charset="-128"/>
            </a:endParaRPr>
          </a:p>
        </p:txBody>
      </p:sp>
      <p:sp>
        <p:nvSpPr>
          <p:cNvPr id="88" name="Shape 18">
            <a:extLst>
              <a:ext uri="{FF2B5EF4-FFF2-40B4-BE49-F238E27FC236}">
                <a16:creationId xmlns:a16="http://schemas.microsoft.com/office/drawing/2014/main" id="{CA0F439F-8568-5F59-980B-81BDBE16E656}"/>
              </a:ext>
            </a:extLst>
          </p:cNvPr>
          <p:cNvSpPr/>
          <p:nvPr/>
        </p:nvSpPr>
        <p:spPr>
          <a:xfrm>
            <a:off x="5685390" y="2079998"/>
            <a:ext cx="1763486" cy="466492"/>
          </a:xfrm>
          <a:prstGeom prst="rect">
            <a:avLst/>
          </a:prstGeom>
          <a:solidFill>
            <a:srgbClr val="F2F2F2"/>
          </a:solidFill>
          <a:ln w="12700">
            <a:solidFill>
              <a:srgbClr val="CCCCCC"/>
            </a:solidFill>
            <a:prstDash val="solid"/>
          </a:ln>
        </p:spPr>
        <p:txBody>
          <a:bodyPr/>
          <a:lstStyle/>
          <a:p>
            <a:pPr>
              <a:lnSpc>
                <a:spcPct val="135000"/>
              </a:lnSpc>
            </a:pPr>
            <a:r>
              <a:rPr lang="en-US" altLang="ja-JP" sz="800">
                <a:solidFill>
                  <a:schemeClr val="bg1">
                    <a:lumMod val="65000"/>
                  </a:schemeClr>
                </a:solidFill>
                <a:latin typeface="メイリオ" panose="020B0604030504040204" pitchFamily="50" charset="-128"/>
                <a:ea typeface="メイリオ" panose="020B0604030504040204" pitchFamily="50" charset="-128"/>
                <a:cs typeface="Calibri" pitchFamily="34" charset="-120"/>
              </a:rPr>
              <a:t>教育コンテンツ配信</a:t>
            </a:r>
            <a:endParaRPr lang="en-US" altLang="ja-JP" sz="800">
              <a:solidFill>
                <a:schemeClr val="bg1">
                  <a:lumMod val="65000"/>
                </a:schemeClr>
              </a:solidFill>
              <a:latin typeface="メイリオ" panose="020B0604030504040204" pitchFamily="50" charset="-128"/>
              <a:ea typeface="メイリオ" panose="020B0604030504040204" pitchFamily="50" charset="-128"/>
            </a:endParaRPr>
          </a:p>
          <a:p>
            <a:pPr>
              <a:lnSpc>
                <a:spcPct val="135000"/>
              </a:lnSpc>
            </a:pPr>
            <a:r>
              <a:rPr lang="en-US" altLang="ja-JP" sz="800">
                <a:solidFill>
                  <a:schemeClr val="bg1">
                    <a:lumMod val="65000"/>
                  </a:schemeClr>
                </a:solidFill>
                <a:latin typeface="メイリオ" panose="020B0604030504040204" pitchFamily="50" charset="-128"/>
                <a:ea typeface="メイリオ" panose="020B0604030504040204" pitchFamily="50" charset="-128"/>
                <a:cs typeface="Calibri" pitchFamily="34" charset="-120"/>
              </a:rPr>
              <a:t>（週1）→ CV誘導オファー</a:t>
            </a:r>
            <a:endParaRPr lang="en-US" altLang="ja-JP" sz="800" dirty="0">
              <a:solidFill>
                <a:schemeClr val="bg1">
                  <a:lumMod val="65000"/>
                </a:schemeClr>
              </a:solidFill>
              <a:latin typeface="メイリオ" panose="020B0604030504040204" pitchFamily="50" charset="-128"/>
              <a:ea typeface="メイリオ" panose="020B0604030504040204" pitchFamily="50" charset="-128"/>
            </a:endParaRPr>
          </a:p>
        </p:txBody>
      </p:sp>
      <p:sp>
        <p:nvSpPr>
          <p:cNvPr id="90" name="Text 22">
            <a:extLst>
              <a:ext uri="{FF2B5EF4-FFF2-40B4-BE49-F238E27FC236}">
                <a16:creationId xmlns:a16="http://schemas.microsoft.com/office/drawing/2014/main" id="{A38D1B69-A9BE-A8D7-FA06-008BBED1A542}"/>
              </a:ext>
            </a:extLst>
          </p:cNvPr>
          <p:cNvSpPr/>
          <p:nvPr/>
        </p:nvSpPr>
        <p:spPr>
          <a:xfrm>
            <a:off x="-1097280" y="1156254"/>
            <a:ext cx="2359152" cy="585216"/>
          </a:xfrm>
          <a:prstGeom prst="rect">
            <a:avLst/>
          </a:prstGeom>
          <a:noFill/>
          <a:ln/>
        </p:spPr>
        <p:txBody>
          <a:bodyPr wrap="square" lIns="0" tIns="0" rIns="0" bIns="0" rtlCol="0" anchor="ctr"/>
          <a:lstStyle/>
          <a:p>
            <a:pPr marL="0" indent="0">
              <a:lnSpc>
                <a:spcPct val="135000"/>
              </a:lnSpc>
              <a:buNone/>
            </a:pPr>
            <a:endParaRPr lang="en-US" sz="900" dirty="0"/>
          </a:p>
        </p:txBody>
      </p:sp>
      <p:sp>
        <p:nvSpPr>
          <p:cNvPr id="92" name="Text 24">
            <a:extLst>
              <a:ext uri="{FF2B5EF4-FFF2-40B4-BE49-F238E27FC236}">
                <a16:creationId xmlns:a16="http://schemas.microsoft.com/office/drawing/2014/main" id="{56CF8B32-B6D6-0DD2-541C-145309CBBBE1}"/>
              </a:ext>
            </a:extLst>
          </p:cNvPr>
          <p:cNvSpPr/>
          <p:nvPr/>
        </p:nvSpPr>
        <p:spPr>
          <a:xfrm>
            <a:off x="1591056" y="1156254"/>
            <a:ext cx="2944368" cy="585216"/>
          </a:xfrm>
          <a:prstGeom prst="rect">
            <a:avLst/>
          </a:prstGeom>
          <a:noFill/>
          <a:ln/>
        </p:spPr>
        <p:txBody>
          <a:bodyPr wrap="square" lIns="0" tIns="0" rIns="0" bIns="0" rtlCol="0" anchor="ctr"/>
          <a:lstStyle/>
          <a:p>
            <a:pPr marL="0" indent="0">
              <a:lnSpc>
                <a:spcPct val="135000"/>
              </a:lnSpc>
              <a:buNone/>
            </a:pPr>
            <a:endParaRPr lang="en-US" sz="900" dirty="0"/>
          </a:p>
        </p:txBody>
      </p:sp>
      <p:cxnSp>
        <p:nvCxnSpPr>
          <p:cNvPr id="94" name="直線矢印コネクタ 93">
            <a:extLst>
              <a:ext uri="{FF2B5EF4-FFF2-40B4-BE49-F238E27FC236}">
                <a16:creationId xmlns:a16="http://schemas.microsoft.com/office/drawing/2014/main" id="{F1667E92-F492-3E12-307D-7E98E48B45D9}"/>
              </a:ext>
            </a:extLst>
          </p:cNvPr>
          <p:cNvCxnSpPr>
            <a:endCxn id="88" idx="1"/>
          </p:cNvCxnSpPr>
          <p:nvPr/>
        </p:nvCxnSpPr>
        <p:spPr>
          <a:xfrm>
            <a:off x="5416731" y="2304248"/>
            <a:ext cx="261258"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96" name="Shape 17">
            <a:extLst>
              <a:ext uri="{FF2B5EF4-FFF2-40B4-BE49-F238E27FC236}">
                <a16:creationId xmlns:a16="http://schemas.microsoft.com/office/drawing/2014/main" id="{9BCE046A-F0B6-BBFD-BFCA-03015B84F033}"/>
              </a:ext>
            </a:extLst>
          </p:cNvPr>
          <p:cNvSpPr/>
          <p:nvPr/>
        </p:nvSpPr>
        <p:spPr>
          <a:xfrm>
            <a:off x="3636262" y="2614185"/>
            <a:ext cx="1763487" cy="466492"/>
          </a:xfrm>
          <a:prstGeom prst="rect">
            <a:avLst/>
          </a:prstGeom>
          <a:solidFill>
            <a:srgbClr val="F2F2F2"/>
          </a:solidFill>
          <a:ln w="12700">
            <a:solidFill>
              <a:srgbClr val="CCCCCC"/>
            </a:solidFill>
            <a:prstDash val="solid"/>
          </a:ln>
        </p:spPr>
        <p:txBody>
          <a:bodyPr/>
          <a:lstStyle/>
          <a:p>
            <a:pPr>
              <a:lnSpc>
                <a:spcPct val="135000"/>
              </a:lnSpc>
            </a:pP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KW</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自動応答設定</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 ユーザー意図別に即返信</a:t>
            </a:r>
          </a:p>
        </p:txBody>
      </p:sp>
      <p:sp>
        <p:nvSpPr>
          <p:cNvPr id="98" name="Shape 18">
            <a:extLst>
              <a:ext uri="{FF2B5EF4-FFF2-40B4-BE49-F238E27FC236}">
                <a16:creationId xmlns:a16="http://schemas.microsoft.com/office/drawing/2014/main" id="{14F2BF34-2AB8-9060-75EF-F5ADF9F01344}"/>
              </a:ext>
            </a:extLst>
          </p:cNvPr>
          <p:cNvSpPr/>
          <p:nvPr/>
        </p:nvSpPr>
        <p:spPr>
          <a:xfrm>
            <a:off x="5685390" y="2614185"/>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ステップ配信（</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7〜14</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通）</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 商談・申込への誘導</a:t>
            </a:r>
          </a:p>
        </p:txBody>
      </p:sp>
      <p:cxnSp>
        <p:nvCxnSpPr>
          <p:cNvPr id="99" name="直線矢印コネクタ 98">
            <a:extLst>
              <a:ext uri="{FF2B5EF4-FFF2-40B4-BE49-F238E27FC236}">
                <a16:creationId xmlns:a16="http://schemas.microsoft.com/office/drawing/2014/main" id="{B31F7370-9528-F602-262C-2CE6C0CA7D95}"/>
              </a:ext>
            </a:extLst>
          </p:cNvPr>
          <p:cNvCxnSpPr>
            <a:cxnSpLocks/>
            <a:stCxn id="96" idx="3"/>
            <a:endCxn id="98" idx="1"/>
          </p:cNvCxnSpPr>
          <p:nvPr/>
        </p:nvCxnSpPr>
        <p:spPr>
          <a:xfrm>
            <a:off x="5399749" y="2847431"/>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03" name="テキスト ボックス 102">
            <a:extLst>
              <a:ext uri="{FF2B5EF4-FFF2-40B4-BE49-F238E27FC236}">
                <a16:creationId xmlns:a16="http://schemas.microsoft.com/office/drawing/2014/main" id="{CB5BD751-9EE2-F77E-B237-6EBEA67F4576}"/>
              </a:ext>
            </a:extLst>
          </p:cNvPr>
          <p:cNvSpPr txBox="1"/>
          <p:nvPr/>
        </p:nvSpPr>
        <p:spPr>
          <a:xfrm>
            <a:off x="7693132" y="1562739"/>
            <a:ext cx="1874173" cy="430887"/>
          </a:xfrm>
          <a:prstGeom prst="rect">
            <a:avLst/>
          </a:prstGeom>
          <a:noFill/>
        </p:spPr>
        <p:txBody>
          <a:bodyPr wrap="square">
            <a:spAutoFit/>
          </a:bodyPr>
          <a:lstStyle/>
          <a:p>
            <a:pPr algn="ctr"/>
            <a:r>
              <a:rPr kumimoji="1" lang="en-US" altLang="ja-JP" sz="1100" b="1" dirty="0">
                <a:solidFill>
                  <a:srgbClr val="FF0000"/>
                </a:solidFill>
                <a:latin typeface="メイリオ" panose="020B0604030504040204" pitchFamily="50" charset="-128"/>
                <a:ea typeface="メイリオ" panose="020B0604030504040204" pitchFamily="50" charset="-128"/>
              </a:rPr>
              <a:t>CV</a:t>
            </a:r>
            <a:r>
              <a:rPr kumimoji="1" lang="ja-JP" altLang="en-US" sz="1100" b="1" dirty="0">
                <a:solidFill>
                  <a:srgbClr val="FF0000"/>
                </a:solidFill>
                <a:latin typeface="メイリオ" panose="020B0604030504040204" pitchFamily="50" charset="-128"/>
                <a:ea typeface="メイリオ" panose="020B0604030504040204" pitchFamily="50" charset="-128"/>
              </a:rPr>
              <a:t>するユーザー割合</a:t>
            </a:r>
            <a:endParaRPr kumimoji="1" lang="en-US" altLang="ja-JP" sz="1100" b="1" dirty="0">
              <a:solidFill>
                <a:srgbClr val="FF0000"/>
              </a:solidFill>
              <a:latin typeface="メイリオ" panose="020B0604030504040204" pitchFamily="50" charset="-128"/>
              <a:ea typeface="メイリオ" panose="020B0604030504040204" pitchFamily="50" charset="-128"/>
            </a:endParaRPr>
          </a:p>
          <a:p>
            <a:pPr algn="ctr"/>
            <a:r>
              <a:rPr lang="en-US" altLang="ja-JP" sz="1000" dirty="0">
                <a:solidFill>
                  <a:srgbClr val="FF0000"/>
                </a:solidFill>
                <a:latin typeface="メイリオ" panose="020B0604030504040204" pitchFamily="50" charset="-128"/>
                <a:ea typeface="メイリオ" panose="020B0604030504040204" pitchFamily="50" charset="-128"/>
              </a:rPr>
              <a:t>※</a:t>
            </a:r>
            <a:r>
              <a:rPr lang="ja-JP" altLang="en-US" sz="1000" dirty="0">
                <a:solidFill>
                  <a:srgbClr val="FF0000"/>
                </a:solidFill>
                <a:latin typeface="メイリオ" panose="020B0604030504040204" pitchFamily="50" charset="-128"/>
                <a:ea typeface="メイリオ" panose="020B0604030504040204" pitchFamily="50" charset="-128"/>
              </a:rPr>
              <a:t>平均値</a:t>
            </a:r>
            <a:endParaRPr kumimoji="1" lang="ja-JP" altLang="en-US" sz="1000" dirty="0">
              <a:solidFill>
                <a:srgbClr val="FF0000"/>
              </a:solidFill>
              <a:latin typeface="メイリオ" panose="020B0604030504040204" pitchFamily="50" charset="-128"/>
              <a:ea typeface="メイリオ" panose="020B0604030504040204" pitchFamily="50" charset="-128"/>
            </a:endParaRPr>
          </a:p>
        </p:txBody>
      </p:sp>
      <p:sp>
        <p:nvSpPr>
          <p:cNvPr id="105" name="テキスト ボックス 104">
            <a:extLst>
              <a:ext uri="{FF2B5EF4-FFF2-40B4-BE49-F238E27FC236}">
                <a16:creationId xmlns:a16="http://schemas.microsoft.com/office/drawing/2014/main" id="{55562E1F-54CF-8256-1530-F264D924D0C4}"/>
              </a:ext>
            </a:extLst>
          </p:cNvPr>
          <p:cNvSpPr txBox="1"/>
          <p:nvPr/>
        </p:nvSpPr>
        <p:spPr>
          <a:xfrm>
            <a:off x="7844989" y="2313983"/>
            <a:ext cx="1361106" cy="523220"/>
          </a:xfrm>
          <a:prstGeom prst="rect">
            <a:avLst/>
          </a:prstGeom>
          <a:noFill/>
        </p:spPr>
        <p:txBody>
          <a:bodyPr wrap="square">
            <a:spAutoFit/>
          </a:bodyPr>
          <a:lstStyle/>
          <a:p>
            <a:pPr algn="r"/>
            <a:r>
              <a:rPr kumimoji="1" lang="ja-JP" altLang="en-US" sz="2800" b="1" dirty="0">
                <a:solidFill>
                  <a:srgbClr val="FF0000"/>
                </a:solidFill>
                <a:latin typeface="メイリオ" panose="020B0604030504040204" pitchFamily="50" charset="-128"/>
                <a:ea typeface="メイリオ" panose="020B0604030504040204" pitchFamily="50" charset="-128"/>
              </a:rPr>
              <a:t>３</a:t>
            </a:r>
            <a:r>
              <a:rPr kumimoji="1" lang="ja-JP" altLang="en-US"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107" name="テキスト ボックス 106">
            <a:extLst>
              <a:ext uri="{FF2B5EF4-FFF2-40B4-BE49-F238E27FC236}">
                <a16:creationId xmlns:a16="http://schemas.microsoft.com/office/drawing/2014/main" id="{0D6F6472-C1C9-8DD7-5969-2F70988996B7}"/>
              </a:ext>
            </a:extLst>
          </p:cNvPr>
          <p:cNvSpPr txBox="1"/>
          <p:nvPr/>
        </p:nvSpPr>
        <p:spPr>
          <a:xfrm>
            <a:off x="7830986" y="3258904"/>
            <a:ext cx="1361106" cy="523220"/>
          </a:xfrm>
          <a:prstGeom prst="rect">
            <a:avLst/>
          </a:prstGeom>
          <a:noFill/>
        </p:spPr>
        <p:txBody>
          <a:bodyPr wrap="square">
            <a:spAutoFit/>
          </a:bodyPr>
          <a:lstStyle/>
          <a:p>
            <a:pPr algn="r"/>
            <a:r>
              <a:rPr kumimoji="1" lang="en-US" altLang="ja-JP" sz="2800" b="1" dirty="0">
                <a:solidFill>
                  <a:srgbClr val="FF0000"/>
                </a:solidFill>
                <a:latin typeface="メイリオ" panose="020B0604030504040204" pitchFamily="50" charset="-128"/>
                <a:ea typeface="メイリオ" panose="020B0604030504040204" pitchFamily="50" charset="-128"/>
              </a:rPr>
              <a:t>1.5</a:t>
            </a:r>
            <a:r>
              <a:rPr kumimoji="1" lang="ja-JP" altLang="en-US"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109" name="テキスト ボックス 108">
            <a:extLst>
              <a:ext uri="{FF2B5EF4-FFF2-40B4-BE49-F238E27FC236}">
                <a16:creationId xmlns:a16="http://schemas.microsoft.com/office/drawing/2014/main" id="{3EBEB224-105E-FCC6-752F-0DC0ACDDFEFC}"/>
              </a:ext>
            </a:extLst>
          </p:cNvPr>
          <p:cNvSpPr txBox="1"/>
          <p:nvPr/>
        </p:nvSpPr>
        <p:spPr>
          <a:xfrm>
            <a:off x="7844989" y="3964707"/>
            <a:ext cx="1361106" cy="523220"/>
          </a:xfrm>
          <a:prstGeom prst="rect">
            <a:avLst/>
          </a:prstGeom>
          <a:noFill/>
        </p:spPr>
        <p:txBody>
          <a:bodyPr wrap="square">
            <a:spAutoFit/>
          </a:bodyPr>
          <a:lstStyle/>
          <a:p>
            <a:pPr algn="r"/>
            <a:r>
              <a:rPr kumimoji="1" lang="en-US" altLang="ja-JP" sz="2800" b="1" dirty="0">
                <a:solidFill>
                  <a:srgbClr val="FF0000"/>
                </a:solidFill>
                <a:latin typeface="メイリオ" panose="020B0604030504040204" pitchFamily="50" charset="-128"/>
                <a:ea typeface="メイリオ" panose="020B0604030504040204" pitchFamily="50" charset="-128"/>
              </a:rPr>
              <a:t>2.5</a:t>
            </a:r>
            <a:r>
              <a:rPr kumimoji="1" lang="ja-JP" altLang="en-US"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111" name="テキスト ボックス 110">
            <a:extLst>
              <a:ext uri="{FF2B5EF4-FFF2-40B4-BE49-F238E27FC236}">
                <a16:creationId xmlns:a16="http://schemas.microsoft.com/office/drawing/2014/main" id="{F26B0A2E-9DBA-FEE5-637F-02A225C02C23}"/>
              </a:ext>
            </a:extLst>
          </p:cNvPr>
          <p:cNvSpPr txBox="1"/>
          <p:nvPr/>
        </p:nvSpPr>
        <p:spPr>
          <a:xfrm>
            <a:off x="7830985" y="4604843"/>
            <a:ext cx="1361106" cy="523220"/>
          </a:xfrm>
          <a:prstGeom prst="rect">
            <a:avLst/>
          </a:prstGeom>
          <a:noFill/>
        </p:spPr>
        <p:txBody>
          <a:bodyPr wrap="square">
            <a:spAutoFit/>
          </a:bodyPr>
          <a:lstStyle/>
          <a:p>
            <a:pPr algn="r"/>
            <a:r>
              <a:rPr kumimoji="1" lang="en-US" altLang="ja-JP" sz="2800" b="1" dirty="0">
                <a:solidFill>
                  <a:srgbClr val="FF0000"/>
                </a:solidFill>
                <a:latin typeface="メイリオ" panose="020B0604030504040204" pitchFamily="50" charset="-128"/>
                <a:ea typeface="メイリオ" panose="020B0604030504040204" pitchFamily="50" charset="-128"/>
              </a:rPr>
              <a:t>2.5</a:t>
            </a:r>
            <a:r>
              <a:rPr kumimoji="1" lang="ja-JP" altLang="en-US"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113" name="テキスト ボックス 112">
            <a:extLst>
              <a:ext uri="{FF2B5EF4-FFF2-40B4-BE49-F238E27FC236}">
                <a16:creationId xmlns:a16="http://schemas.microsoft.com/office/drawing/2014/main" id="{0C0FA132-24D2-97C7-D00F-5A970556EB00}"/>
              </a:ext>
            </a:extLst>
          </p:cNvPr>
          <p:cNvSpPr txBox="1"/>
          <p:nvPr/>
        </p:nvSpPr>
        <p:spPr>
          <a:xfrm>
            <a:off x="7830985" y="5229016"/>
            <a:ext cx="1361106" cy="523220"/>
          </a:xfrm>
          <a:prstGeom prst="rect">
            <a:avLst/>
          </a:prstGeom>
          <a:noFill/>
        </p:spPr>
        <p:txBody>
          <a:bodyPr wrap="square">
            <a:spAutoFit/>
          </a:bodyPr>
          <a:lstStyle/>
          <a:p>
            <a:pPr algn="r"/>
            <a:r>
              <a:rPr kumimoji="1" lang="en-US" altLang="ja-JP" sz="2800" b="1" dirty="0">
                <a:solidFill>
                  <a:srgbClr val="FF0000"/>
                </a:solidFill>
                <a:latin typeface="メイリオ" panose="020B0604030504040204" pitchFamily="50" charset="-128"/>
                <a:ea typeface="メイリオ" panose="020B0604030504040204" pitchFamily="50" charset="-128"/>
              </a:rPr>
              <a:t>2.5</a:t>
            </a:r>
            <a:r>
              <a:rPr kumimoji="1" lang="ja-JP" altLang="en-US"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115" name="テキスト ボックス 114">
            <a:extLst>
              <a:ext uri="{FF2B5EF4-FFF2-40B4-BE49-F238E27FC236}">
                <a16:creationId xmlns:a16="http://schemas.microsoft.com/office/drawing/2014/main" id="{FD400E85-93A8-6ADB-337D-4AC8973CAF45}"/>
              </a:ext>
            </a:extLst>
          </p:cNvPr>
          <p:cNvSpPr txBox="1"/>
          <p:nvPr/>
        </p:nvSpPr>
        <p:spPr>
          <a:xfrm>
            <a:off x="7830985" y="5834851"/>
            <a:ext cx="1361106" cy="523220"/>
          </a:xfrm>
          <a:prstGeom prst="rect">
            <a:avLst/>
          </a:prstGeom>
          <a:noFill/>
        </p:spPr>
        <p:txBody>
          <a:bodyPr wrap="square">
            <a:spAutoFit/>
          </a:bodyPr>
          <a:lstStyle/>
          <a:p>
            <a:pPr algn="r"/>
            <a:r>
              <a:rPr kumimoji="1" lang="en-US" altLang="ja-JP" sz="2800" b="1" dirty="0">
                <a:solidFill>
                  <a:srgbClr val="FF0000"/>
                </a:solidFill>
                <a:latin typeface="メイリオ" panose="020B0604030504040204" pitchFamily="50" charset="-128"/>
                <a:ea typeface="メイリオ" panose="020B0604030504040204" pitchFamily="50" charset="-128"/>
              </a:rPr>
              <a:t>2</a:t>
            </a:r>
            <a:r>
              <a:rPr kumimoji="1" lang="ja-JP" altLang="en-US"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116" name="Shape 17">
            <a:extLst>
              <a:ext uri="{FF2B5EF4-FFF2-40B4-BE49-F238E27FC236}">
                <a16:creationId xmlns:a16="http://schemas.microsoft.com/office/drawing/2014/main" id="{1CA555AB-71AF-EB14-1D64-C35A07A084CC}"/>
              </a:ext>
            </a:extLst>
          </p:cNvPr>
          <p:cNvSpPr/>
          <p:nvPr/>
        </p:nvSpPr>
        <p:spPr>
          <a:xfrm>
            <a:off x="3636262" y="3291869"/>
            <a:ext cx="1763487"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スクリーニングアンケート</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3</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問）→ セグメント分類</a:t>
            </a:r>
          </a:p>
        </p:txBody>
      </p:sp>
      <p:sp>
        <p:nvSpPr>
          <p:cNvPr id="117" name="Shape 18">
            <a:extLst>
              <a:ext uri="{FF2B5EF4-FFF2-40B4-BE49-F238E27FC236}">
                <a16:creationId xmlns:a16="http://schemas.microsoft.com/office/drawing/2014/main" id="{019053B5-0AD3-160E-B42A-8528F025A84E}"/>
              </a:ext>
            </a:extLst>
          </p:cNvPr>
          <p:cNvSpPr/>
          <p:nvPr/>
        </p:nvSpPr>
        <p:spPr>
          <a:xfrm>
            <a:off x="5685390" y="3291869"/>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セグメント別シナリオ配信</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ホットリード</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即スタッフ対応</a:t>
            </a:r>
          </a:p>
        </p:txBody>
      </p:sp>
      <p:cxnSp>
        <p:nvCxnSpPr>
          <p:cNvPr id="118" name="直線矢印コネクタ 117">
            <a:extLst>
              <a:ext uri="{FF2B5EF4-FFF2-40B4-BE49-F238E27FC236}">
                <a16:creationId xmlns:a16="http://schemas.microsoft.com/office/drawing/2014/main" id="{48AC5144-1E7E-4082-003A-97A6D96D2994}"/>
              </a:ext>
            </a:extLst>
          </p:cNvPr>
          <p:cNvCxnSpPr>
            <a:cxnSpLocks/>
            <a:stCxn id="116" idx="3"/>
            <a:endCxn id="117" idx="1"/>
          </p:cNvCxnSpPr>
          <p:nvPr/>
        </p:nvCxnSpPr>
        <p:spPr>
          <a:xfrm>
            <a:off x="5399749" y="3525115"/>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19" name="Shape 17">
            <a:extLst>
              <a:ext uri="{FF2B5EF4-FFF2-40B4-BE49-F238E27FC236}">
                <a16:creationId xmlns:a16="http://schemas.microsoft.com/office/drawing/2014/main" id="{03AA9053-24E8-182C-23AA-4BEA28F1863B}"/>
              </a:ext>
            </a:extLst>
          </p:cNvPr>
          <p:cNvSpPr/>
          <p:nvPr/>
        </p:nvSpPr>
        <p:spPr>
          <a:xfrm>
            <a:off x="3636262" y="4032727"/>
            <a:ext cx="1763487"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サンクス自動</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MSG</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次のアクション案内</a:t>
            </a:r>
          </a:p>
        </p:txBody>
      </p:sp>
      <p:sp>
        <p:nvSpPr>
          <p:cNvPr id="120" name="Shape 18">
            <a:extLst>
              <a:ext uri="{FF2B5EF4-FFF2-40B4-BE49-F238E27FC236}">
                <a16:creationId xmlns:a16="http://schemas.microsoft.com/office/drawing/2014/main" id="{760C890D-1868-9325-4069-2354337B0399}"/>
              </a:ext>
            </a:extLst>
          </p:cNvPr>
          <p:cNvSpPr/>
          <p:nvPr/>
        </p:nvSpPr>
        <p:spPr>
          <a:xfrm>
            <a:off x="5685390" y="4032727"/>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リマインド配信</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クロスセル・アップセル</a:t>
            </a:r>
          </a:p>
        </p:txBody>
      </p:sp>
      <p:cxnSp>
        <p:nvCxnSpPr>
          <p:cNvPr id="121" name="直線矢印コネクタ 120">
            <a:extLst>
              <a:ext uri="{FF2B5EF4-FFF2-40B4-BE49-F238E27FC236}">
                <a16:creationId xmlns:a16="http://schemas.microsoft.com/office/drawing/2014/main" id="{CE344BB3-FFA2-50D7-ADEA-7AA9C56BA1E2}"/>
              </a:ext>
            </a:extLst>
          </p:cNvPr>
          <p:cNvCxnSpPr>
            <a:cxnSpLocks/>
            <a:stCxn id="119" idx="3"/>
            <a:endCxn id="120" idx="1"/>
          </p:cNvCxnSpPr>
          <p:nvPr/>
        </p:nvCxnSpPr>
        <p:spPr>
          <a:xfrm>
            <a:off x="5399749" y="4265973"/>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2" name="Shape 17">
            <a:extLst>
              <a:ext uri="{FF2B5EF4-FFF2-40B4-BE49-F238E27FC236}">
                <a16:creationId xmlns:a16="http://schemas.microsoft.com/office/drawing/2014/main" id="{9439D4FC-6ABA-77F9-BCBC-39518FFF0A4B}"/>
              </a:ext>
            </a:extLst>
          </p:cNvPr>
          <p:cNvSpPr/>
          <p:nvPr/>
        </p:nvSpPr>
        <p:spPr>
          <a:xfrm>
            <a:off x="3636262" y="4639113"/>
            <a:ext cx="1763487"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スクリーニング（</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3</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問）</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温度感・ニーズ把握</a:t>
            </a:r>
          </a:p>
        </p:txBody>
      </p:sp>
      <p:sp>
        <p:nvSpPr>
          <p:cNvPr id="123" name="Shape 18">
            <a:extLst>
              <a:ext uri="{FF2B5EF4-FFF2-40B4-BE49-F238E27FC236}">
                <a16:creationId xmlns:a16="http://schemas.microsoft.com/office/drawing/2014/main" id="{E23B94EA-C025-B46E-3CFE-6F951848C924}"/>
              </a:ext>
            </a:extLst>
          </p:cNvPr>
          <p:cNvSpPr/>
          <p:nvPr/>
        </p:nvSpPr>
        <p:spPr>
          <a:xfrm>
            <a:off x="5685390" y="4639113"/>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有効リード育成シナリオ</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 商談・再購入誘導</a:t>
            </a:r>
          </a:p>
        </p:txBody>
      </p:sp>
      <p:cxnSp>
        <p:nvCxnSpPr>
          <p:cNvPr id="124" name="直線矢印コネクタ 123">
            <a:extLst>
              <a:ext uri="{FF2B5EF4-FFF2-40B4-BE49-F238E27FC236}">
                <a16:creationId xmlns:a16="http://schemas.microsoft.com/office/drawing/2014/main" id="{83F28A8E-5BD4-6CFE-A1AB-95F3F23ADFC2}"/>
              </a:ext>
            </a:extLst>
          </p:cNvPr>
          <p:cNvCxnSpPr>
            <a:cxnSpLocks/>
            <a:stCxn id="122" idx="3"/>
            <a:endCxn id="123" idx="1"/>
          </p:cNvCxnSpPr>
          <p:nvPr/>
        </p:nvCxnSpPr>
        <p:spPr>
          <a:xfrm>
            <a:off x="5399749" y="4872359"/>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5" name="Shape 17">
            <a:extLst>
              <a:ext uri="{FF2B5EF4-FFF2-40B4-BE49-F238E27FC236}">
                <a16:creationId xmlns:a16="http://schemas.microsoft.com/office/drawing/2014/main" id="{6D4CD712-1339-1DEA-1A5F-9F51874CCCB1}"/>
              </a:ext>
            </a:extLst>
          </p:cNvPr>
          <p:cNvSpPr/>
          <p:nvPr/>
        </p:nvSpPr>
        <p:spPr>
          <a:xfrm>
            <a:off x="3636262" y="5262884"/>
            <a:ext cx="1763487"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一斉配信でリスト活性化</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アンケートで属性把握</a:t>
            </a:r>
          </a:p>
        </p:txBody>
      </p:sp>
      <p:sp>
        <p:nvSpPr>
          <p:cNvPr id="126" name="Shape 18">
            <a:extLst>
              <a:ext uri="{FF2B5EF4-FFF2-40B4-BE49-F238E27FC236}">
                <a16:creationId xmlns:a16="http://schemas.microsoft.com/office/drawing/2014/main" id="{5F976E27-1C09-25DE-2664-7D927081F231}"/>
              </a:ext>
            </a:extLst>
          </p:cNvPr>
          <p:cNvSpPr/>
          <p:nvPr/>
        </p:nvSpPr>
        <p:spPr>
          <a:xfrm>
            <a:off x="5685390" y="5262884"/>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セグメント別ナーチャリング</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季節・タイミング別企画配信</a:t>
            </a:r>
          </a:p>
        </p:txBody>
      </p:sp>
      <p:cxnSp>
        <p:nvCxnSpPr>
          <p:cNvPr id="127" name="直線矢印コネクタ 126">
            <a:extLst>
              <a:ext uri="{FF2B5EF4-FFF2-40B4-BE49-F238E27FC236}">
                <a16:creationId xmlns:a16="http://schemas.microsoft.com/office/drawing/2014/main" id="{82C1A774-7713-D5A5-03F8-DCE7AD58DB1B}"/>
              </a:ext>
            </a:extLst>
          </p:cNvPr>
          <p:cNvCxnSpPr>
            <a:cxnSpLocks/>
            <a:stCxn id="125" idx="3"/>
            <a:endCxn id="126" idx="1"/>
          </p:cNvCxnSpPr>
          <p:nvPr/>
        </p:nvCxnSpPr>
        <p:spPr>
          <a:xfrm>
            <a:off x="5399749" y="5496130"/>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8" name="Shape 17">
            <a:extLst>
              <a:ext uri="{FF2B5EF4-FFF2-40B4-BE49-F238E27FC236}">
                <a16:creationId xmlns:a16="http://schemas.microsoft.com/office/drawing/2014/main" id="{CC857E24-C3F9-53FF-5D44-B2CE0DE30602}"/>
              </a:ext>
            </a:extLst>
          </p:cNvPr>
          <p:cNvSpPr/>
          <p:nvPr/>
        </p:nvSpPr>
        <p:spPr>
          <a:xfrm>
            <a:off x="3636262" y="5871273"/>
            <a:ext cx="1763487" cy="466492"/>
          </a:xfrm>
          <a:prstGeom prst="rect">
            <a:avLst/>
          </a:prstGeom>
          <a:solidFill>
            <a:srgbClr val="F2F2F2"/>
          </a:solidFill>
          <a:ln w="12700">
            <a:solidFill>
              <a:srgbClr val="CCCCCC"/>
            </a:solidFill>
            <a:prstDash val="solid"/>
          </a:ln>
        </p:spPr>
        <p:txBody>
          <a:bodyPr/>
          <a:lstStyle/>
          <a:p>
            <a:pPr>
              <a:lnSpc>
                <a:spcPct val="135000"/>
              </a:lnSpc>
            </a:pP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LINE</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移行キャンペーン</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（特典訴求で友だち追加促進）</a:t>
            </a:r>
          </a:p>
        </p:txBody>
      </p:sp>
      <p:sp>
        <p:nvSpPr>
          <p:cNvPr id="129" name="Shape 18">
            <a:extLst>
              <a:ext uri="{FF2B5EF4-FFF2-40B4-BE49-F238E27FC236}">
                <a16:creationId xmlns:a16="http://schemas.microsoft.com/office/drawing/2014/main" id="{496CBE75-90FF-44E1-05AA-F85C409960A4}"/>
              </a:ext>
            </a:extLst>
          </p:cNvPr>
          <p:cNvSpPr/>
          <p:nvPr/>
        </p:nvSpPr>
        <p:spPr>
          <a:xfrm>
            <a:off x="5685390" y="5871273"/>
            <a:ext cx="1763486" cy="466492"/>
          </a:xfrm>
          <a:prstGeom prst="rect">
            <a:avLst/>
          </a:prstGeom>
          <a:solidFill>
            <a:srgbClr val="F2F2F2"/>
          </a:solidFill>
          <a:ln w="12700">
            <a:solidFill>
              <a:srgbClr val="CCCCCC"/>
            </a:solidFill>
            <a:prstDash val="solid"/>
          </a:ln>
        </p:spPr>
        <p:txBody>
          <a:bodyPr/>
          <a:lstStyle/>
          <a:p>
            <a:pPr>
              <a:lnSpc>
                <a:spcPct val="135000"/>
              </a:lnSpc>
            </a:pP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LINE</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でリピート率向上</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紹介キャンペーン・</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LTV</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最大化</a:t>
            </a:r>
          </a:p>
        </p:txBody>
      </p:sp>
      <p:cxnSp>
        <p:nvCxnSpPr>
          <p:cNvPr id="130" name="直線矢印コネクタ 129">
            <a:extLst>
              <a:ext uri="{FF2B5EF4-FFF2-40B4-BE49-F238E27FC236}">
                <a16:creationId xmlns:a16="http://schemas.microsoft.com/office/drawing/2014/main" id="{D05BCA3B-7E23-AB71-18F0-5A49C04E309D}"/>
              </a:ext>
            </a:extLst>
          </p:cNvPr>
          <p:cNvCxnSpPr>
            <a:cxnSpLocks/>
            <a:stCxn id="128" idx="3"/>
            <a:endCxn id="129" idx="1"/>
          </p:cNvCxnSpPr>
          <p:nvPr/>
        </p:nvCxnSpPr>
        <p:spPr>
          <a:xfrm>
            <a:off x="5399749" y="6104519"/>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6988837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7A8046-1654-094B-8F5D-E4DEE3745960}"/>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70E0618D-3216-35E4-D4C4-66DD232D827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87478A58-B30A-B13E-22E3-8D83CCAF592E}"/>
              </a:ext>
            </a:extLst>
          </p:cNvPr>
          <p:cNvSpPr/>
          <p:nvPr/>
        </p:nvSpPr>
        <p:spPr>
          <a:xfrm>
            <a:off x="2808838" y="3038203"/>
            <a:ext cx="4288353"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中長期施策として</a:t>
            </a:r>
            <a:r>
              <a:rPr lang="en-US" altLang="ja-JP"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a:t>
            </a: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400066798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94FE7-6D4B-4888-997F-23D957A67FBD}"/>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5E998200-CD1E-9377-8F8E-91B67A682AED}"/>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提供施策について　</a:t>
            </a:r>
            <a:r>
              <a:rPr lang="en-US" altLang="ja-JP" sz="1400" b="1" dirty="0">
                <a:solidFill>
                  <a:srgbClr val="FF0000"/>
                </a:solidFill>
                <a:latin typeface="メイリオ" panose="020B0604030504040204" pitchFamily="50" charset="-128"/>
                <a:ea typeface="メイリオ" panose="020B0604030504040204" pitchFamily="50" charset="-128"/>
                <a:cs typeface="Meiryo"/>
                <a:sym typeface="Meiryo"/>
              </a:rPr>
              <a:t>[CRM</a:t>
            </a:r>
            <a:r>
              <a:rPr lang="ja-JP" altLang="en-US" sz="1400" b="1" dirty="0">
                <a:solidFill>
                  <a:srgbClr val="FF0000"/>
                </a:solidFill>
                <a:latin typeface="メイリオ" panose="020B0604030504040204" pitchFamily="50" charset="-128"/>
                <a:ea typeface="メイリオ" panose="020B0604030504040204" pitchFamily="50" charset="-128"/>
                <a:cs typeface="Meiryo"/>
                <a:sym typeface="Meiryo"/>
              </a:rPr>
              <a:t>及び</a:t>
            </a:r>
            <a:r>
              <a:rPr lang="en-US" altLang="ja-JP" sz="1400" b="1" dirty="0">
                <a:solidFill>
                  <a:srgbClr val="FF0000"/>
                </a:solidFill>
                <a:latin typeface="メイリオ" panose="020B0604030504040204" pitchFamily="50" charset="-128"/>
                <a:ea typeface="メイリオ" panose="020B0604030504040204" pitchFamily="50" charset="-128"/>
                <a:cs typeface="Meiryo"/>
                <a:sym typeface="Meiryo"/>
              </a:rPr>
              <a:t>API</a:t>
            </a:r>
            <a:r>
              <a:rPr lang="ja-JP" altLang="en-US" sz="1400" b="1" dirty="0">
                <a:solidFill>
                  <a:srgbClr val="FF0000"/>
                </a:solidFill>
                <a:latin typeface="メイリオ" panose="020B0604030504040204" pitchFamily="50" charset="-128"/>
                <a:ea typeface="メイリオ" panose="020B0604030504040204" pitchFamily="50" charset="-128"/>
                <a:cs typeface="Meiryo"/>
                <a:sym typeface="Meiryo"/>
              </a:rPr>
              <a:t>ツールとの連携</a:t>
            </a:r>
            <a:r>
              <a:rPr lang="en-US" altLang="ja-JP" sz="1400" b="1" dirty="0">
                <a:solidFill>
                  <a:srgbClr val="FF0000"/>
                </a:solidFill>
                <a:latin typeface="メイリオ" panose="020B0604030504040204" pitchFamily="50" charset="-128"/>
                <a:ea typeface="メイリオ" panose="020B0604030504040204" pitchFamily="50" charset="-128"/>
                <a:cs typeface="Meiryo"/>
                <a:sym typeface="Meiryo"/>
              </a:rPr>
              <a:t>]</a:t>
            </a:r>
            <a:endPar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endParaRPr>
          </a:p>
        </p:txBody>
      </p:sp>
      <p:sp>
        <p:nvSpPr>
          <p:cNvPr id="2" name="正方形/長方形 1">
            <a:extLst>
              <a:ext uri="{FF2B5EF4-FFF2-40B4-BE49-F238E27FC236}">
                <a16:creationId xmlns:a16="http://schemas.microsoft.com/office/drawing/2014/main" id="{529B047E-CF1E-2AB0-E618-76435731185A}"/>
              </a:ext>
            </a:extLst>
          </p:cNvPr>
          <p:cNvSpPr/>
          <p:nvPr/>
        </p:nvSpPr>
        <p:spPr>
          <a:xfrm>
            <a:off x="804889" y="5113292"/>
            <a:ext cx="3834166" cy="825268"/>
          </a:xfrm>
          <a:prstGeom prst="rect">
            <a:avLst/>
          </a:prstGeom>
          <a:solidFill>
            <a:schemeClr val="accent1">
              <a:lumMod val="20000"/>
              <a:lumOff val="80000"/>
            </a:schemeClr>
          </a:solid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1400" dirty="0">
                <a:solidFill>
                  <a:srgbClr val="073763"/>
                </a:solidFill>
                <a:latin typeface="メイリオ" panose="020B0604030504040204" pitchFamily="50" charset="-128"/>
                <a:ea typeface="メイリオ" panose="020B0604030504040204" pitchFamily="50" charset="-128"/>
              </a:rPr>
              <a:t>「</a:t>
            </a:r>
            <a:r>
              <a:rPr kumimoji="1" lang="en-US" altLang="ja-JP" sz="1400" dirty="0">
                <a:solidFill>
                  <a:srgbClr val="073763"/>
                </a:solidFill>
                <a:latin typeface="メイリオ" panose="020B0604030504040204" pitchFamily="50" charset="-128"/>
                <a:ea typeface="メイリオ" panose="020B0604030504040204" pitchFamily="50" charset="-128"/>
              </a:rPr>
              <a:t>CRM</a:t>
            </a:r>
            <a:r>
              <a:rPr kumimoji="1" lang="ja-JP" altLang="en-US" sz="1400" dirty="0">
                <a:solidFill>
                  <a:srgbClr val="073763"/>
                </a:solidFill>
                <a:latin typeface="メイリオ" panose="020B0604030504040204" pitchFamily="50" charset="-128"/>
                <a:ea typeface="メイリオ" panose="020B0604030504040204" pitchFamily="50" charset="-128"/>
              </a:rPr>
              <a:t>側でどんな情報を取りたいか」</a:t>
            </a:r>
            <a:r>
              <a:rPr lang="ja-JP" altLang="en-US" sz="1400" dirty="0">
                <a:solidFill>
                  <a:srgbClr val="073763"/>
                </a:solidFill>
                <a:latin typeface="メイリオ" panose="020B0604030504040204" pitchFamily="50" charset="-128"/>
                <a:ea typeface="メイリオ" panose="020B0604030504040204" pitchFamily="50" charset="-128"/>
              </a:rPr>
              <a:t>が重要</a:t>
            </a:r>
            <a:br>
              <a:rPr lang="en-US" altLang="ja-JP" sz="1400" dirty="0">
                <a:solidFill>
                  <a:srgbClr val="073763"/>
                </a:solidFill>
                <a:latin typeface="メイリオ" panose="020B0604030504040204" pitchFamily="50" charset="-128"/>
                <a:ea typeface="メイリオ" panose="020B0604030504040204" pitchFamily="50" charset="-128"/>
              </a:rPr>
            </a:br>
            <a:r>
              <a:rPr lang="ja-JP" altLang="en-US" sz="1400" b="1" dirty="0">
                <a:solidFill>
                  <a:srgbClr val="073763"/>
                </a:solidFill>
                <a:latin typeface="メイリオ" panose="020B0604030504040204" pitchFamily="50" charset="-128"/>
                <a:ea typeface="メイリオ" panose="020B0604030504040204" pitchFamily="50" charset="-128"/>
              </a:rPr>
              <a:t>要件定義</a:t>
            </a:r>
            <a:r>
              <a:rPr lang="ja-JP" altLang="en-US" sz="1400" dirty="0">
                <a:solidFill>
                  <a:srgbClr val="073763"/>
                </a:solidFill>
                <a:latin typeface="メイリオ" panose="020B0604030504040204" pitchFamily="50" charset="-128"/>
                <a:ea typeface="メイリオ" panose="020B0604030504040204" pitchFamily="50" charset="-128"/>
              </a:rPr>
              <a:t>を先にする必要がある</a:t>
            </a:r>
            <a:endParaRPr kumimoji="1" lang="ja-JP" altLang="en-US" sz="1400" dirty="0">
              <a:solidFill>
                <a:srgbClr val="073763"/>
              </a:solidFill>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C7D9704D-BB8D-31FA-D577-9838EADFB52F}"/>
              </a:ext>
            </a:extLst>
          </p:cNvPr>
          <p:cNvSpPr/>
          <p:nvPr/>
        </p:nvSpPr>
        <p:spPr>
          <a:xfrm>
            <a:off x="548883" y="1746891"/>
            <a:ext cx="2809027" cy="25472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rPr>
              <a:t>CR</a:t>
            </a:r>
            <a:r>
              <a:rPr lang="en-US" altLang="ja-JP" sz="1200" dirty="0">
                <a:solidFill>
                  <a:schemeClr val="tx1">
                    <a:lumMod val="75000"/>
                    <a:lumOff val="25000"/>
                  </a:schemeClr>
                </a:solidFill>
                <a:latin typeface="メイリオ" panose="020B0604030504040204" pitchFamily="50" charset="-128"/>
                <a:ea typeface="メイリオ" panose="020B0604030504040204" pitchFamily="50" charset="-128"/>
              </a:rPr>
              <a:t>M</a:t>
            </a:r>
            <a:r>
              <a:rPr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によるセグメント配信の違い</a:t>
            </a:r>
            <a:endPar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5" name="正方形/長方形 4">
            <a:extLst>
              <a:ext uri="{FF2B5EF4-FFF2-40B4-BE49-F238E27FC236}">
                <a16:creationId xmlns:a16="http://schemas.microsoft.com/office/drawing/2014/main" id="{DEDA1867-168F-C6E6-0B48-C791330A0A1C}"/>
              </a:ext>
            </a:extLst>
          </p:cNvPr>
          <p:cNvSpPr/>
          <p:nvPr/>
        </p:nvSpPr>
        <p:spPr>
          <a:xfrm>
            <a:off x="4855489" y="1681759"/>
            <a:ext cx="1637212" cy="25472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pic>
        <p:nvPicPr>
          <p:cNvPr id="6" name="図 5">
            <a:extLst>
              <a:ext uri="{FF2B5EF4-FFF2-40B4-BE49-F238E27FC236}">
                <a16:creationId xmlns:a16="http://schemas.microsoft.com/office/drawing/2014/main" id="{3E9A497F-26C3-7713-AA96-7B5A48F56252}"/>
              </a:ext>
            </a:extLst>
          </p:cNvPr>
          <p:cNvPicPr>
            <a:picLocks noChangeAspect="1"/>
          </p:cNvPicPr>
          <p:nvPr/>
        </p:nvPicPr>
        <p:blipFill>
          <a:blip r:embed="rId2"/>
          <a:stretch>
            <a:fillRect/>
          </a:stretch>
        </p:blipFill>
        <p:spPr>
          <a:xfrm>
            <a:off x="767879" y="2097602"/>
            <a:ext cx="1748922" cy="1226856"/>
          </a:xfrm>
          <a:prstGeom prst="rect">
            <a:avLst/>
          </a:prstGeom>
        </p:spPr>
      </p:pic>
      <p:pic>
        <p:nvPicPr>
          <p:cNvPr id="7" name="図 6">
            <a:extLst>
              <a:ext uri="{FF2B5EF4-FFF2-40B4-BE49-F238E27FC236}">
                <a16:creationId xmlns:a16="http://schemas.microsoft.com/office/drawing/2014/main" id="{AAF48BB3-9A38-696F-FC70-5DEE4C4078CF}"/>
              </a:ext>
            </a:extLst>
          </p:cNvPr>
          <p:cNvPicPr>
            <a:picLocks noChangeAspect="1"/>
          </p:cNvPicPr>
          <p:nvPr/>
        </p:nvPicPr>
        <p:blipFill>
          <a:blip r:embed="rId3"/>
          <a:stretch>
            <a:fillRect/>
          </a:stretch>
        </p:blipFill>
        <p:spPr>
          <a:xfrm>
            <a:off x="2629285" y="2290287"/>
            <a:ext cx="2166018" cy="762483"/>
          </a:xfrm>
          <a:prstGeom prst="rect">
            <a:avLst/>
          </a:prstGeom>
        </p:spPr>
      </p:pic>
      <p:pic>
        <p:nvPicPr>
          <p:cNvPr id="8" name="図 7">
            <a:extLst>
              <a:ext uri="{FF2B5EF4-FFF2-40B4-BE49-F238E27FC236}">
                <a16:creationId xmlns:a16="http://schemas.microsoft.com/office/drawing/2014/main" id="{84D1E44E-92B8-B060-DC73-7A65C3C6173F}"/>
              </a:ext>
            </a:extLst>
          </p:cNvPr>
          <p:cNvPicPr>
            <a:picLocks noChangeAspect="1"/>
          </p:cNvPicPr>
          <p:nvPr/>
        </p:nvPicPr>
        <p:blipFill>
          <a:blip r:embed="rId4"/>
          <a:stretch>
            <a:fillRect/>
          </a:stretch>
        </p:blipFill>
        <p:spPr>
          <a:xfrm>
            <a:off x="732463" y="3382653"/>
            <a:ext cx="1896822" cy="592757"/>
          </a:xfrm>
          <a:prstGeom prst="rect">
            <a:avLst/>
          </a:prstGeom>
        </p:spPr>
      </p:pic>
      <p:pic>
        <p:nvPicPr>
          <p:cNvPr id="10" name="図 9">
            <a:extLst>
              <a:ext uri="{FF2B5EF4-FFF2-40B4-BE49-F238E27FC236}">
                <a16:creationId xmlns:a16="http://schemas.microsoft.com/office/drawing/2014/main" id="{41BDD745-D379-657E-EEF9-DAE4405410CE}"/>
              </a:ext>
            </a:extLst>
          </p:cNvPr>
          <p:cNvPicPr>
            <a:picLocks noChangeAspect="1"/>
          </p:cNvPicPr>
          <p:nvPr/>
        </p:nvPicPr>
        <p:blipFill>
          <a:blip r:embed="rId5"/>
          <a:stretch>
            <a:fillRect/>
          </a:stretch>
        </p:blipFill>
        <p:spPr>
          <a:xfrm>
            <a:off x="2774924" y="3271855"/>
            <a:ext cx="1980643" cy="825268"/>
          </a:xfrm>
          <a:prstGeom prst="rect">
            <a:avLst/>
          </a:prstGeom>
        </p:spPr>
      </p:pic>
      <p:sp>
        <p:nvSpPr>
          <p:cNvPr id="11" name="二等辺三角形 10">
            <a:extLst>
              <a:ext uri="{FF2B5EF4-FFF2-40B4-BE49-F238E27FC236}">
                <a16:creationId xmlns:a16="http://schemas.microsoft.com/office/drawing/2014/main" id="{DE45D7C0-7CD3-BE83-DB56-A8A9A887F251}"/>
              </a:ext>
            </a:extLst>
          </p:cNvPr>
          <p:cNvSpPr/>
          <p:nvPr/>
        </p:nvSpPr>
        <p:spPr>
          <a:xfrm flipV="1">
            <a:off x="2404365" y="4661972"/>
            <a:ext cx="635214" cy="243054"/>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a:p>
        </p:txBody>
      </p:sp>
      <p:sp>
        <p:nvSpPr>
          <p:cNvPr id="12" name="正方形/長方形 11">
            <a:extLst>
              <a:ext uri="{FF2B5EF4-FFF2-40B4-BE49-F238E27FC236}">
                <a16:creationId xmlns:a16="http://schemas.microsoft.com/office/drawing/2014/main" id="{7FB401AD-59C1-FD46-42C1-D7E7B4A5CBEF}"/>
              </a:ext>
            </a:extLst>
          </p:cNvPr>
          <p:cNvSpPr/>
          <p:nvPr/>
        </p:nvSpPr>
        <p:spPr>
          <a:xfrm>
            <a:off x="5088187" y="1746891"/>
            <a:ext cx="2809027" cy="25472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▼参考：</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rPr>
              <a:t>L</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ステップ</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rPr>
              <a:t>API</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連携機能</a:t>
            </a:r>
          </a:p>
        </p:txBody>
      </p:sp>
      <p:pic>
        <p:nvPicPr>
          <p:cNvPr id="13" name="図 12">
            <a:extLst>
              <a:ext uri="{FF2B5EF4-FFF2-40B4-BE49-F238E27FC236}">
                <a16:creationId xmlns:a16="http://schemas.microsoft.com/office/drawing/2014/main" id="{CAF63C84-7FEF-612A-E123-4983B7F28BAA}"/>
              </a:ext>
            </a:extLst>
          </p:cNvPr>
          <p:cNvPicPr>
            <a:picLocks noChangeAspect="1"/>
          </p:cNvPicPr>
          <p:nvPr/>
        </p:nvPicPr>
        <p:blipFill>
          <a:blip r:embed="rId6"/>
          <a:stretch>
            <a:fillRect/>
          </a:stretch>
        </p:blipFill>
        <p:spPr>
          <a:xfrm>
            <a:off x="5088187" y="2053900"/>
            <a:ext cx="4493959" cy="4306708"/>
          </a:xfrm>
          <a:prstGeom prst="rect">
            <a:avLst/>
          </a:prstGeom>
        </p:spPr>
      </p:pic>
      <p:sp>
        <p:nvSpPr>
          <p:cNvPr id="14" name="Google Shape;752;p28">
            <a:extLst>
              <a:ext uri="{FF2B5EF4-FFF2-40B4-BE49-F238E27FC236}">
                <a16:creationId xmlns:a16="http://schemas.microsoft.com/office/drawing/2014/main" id="{87B68C46-3A5D-A74F-1932-7FA2CEB38DBA}"/>
              </a:ext>
            </a:extLst>
          </p:cNvPr>
          <p:cNvSpPr txBox="1"/>
          <p:nvPr/>
        </p:nvSpPr>
        <p:spPr>
          <a:xfrm>
            <a:off x="776105" y="864423"/>
            <a:ext cx="8353789" cy="523180"/>
          </a:xfrm>
          <a:prstGeom prst="rect">
            <a:avLst/>
          </a:prstGeom>
          <a:noFill/>
          <a:ln>
            <a:noFill/>
          </a:ln>
        </p:spPr>
        <p:txBody>
          <a:bodyPr spcFirstLastPara="1" wrap="square" lIns="91425" tIns="45700" rIns="91425" bIns="45700" anchor="ctr" anchorCtr="0">
            <a:spAutoFit/>
          </a:bodyPr>
          <a:lstStyle/>
          <a:p>
            <a:pPr lvl="0" algn="ctr"/>
            <a:r>
              <a:rPr lang="en-US" altLang="ja-JP" sz="1400" dirty="0">
                <a:latin typeface="メイリオ" panose="020B0604030504040204" pitchFamily="50" charset="-128"/>
                <a:ea typeface="メイリオ" panose="020B0604030504040204" pitchFamily="50" charset="-128"/>
                <a:cs typeface="Meiryo"/>
                <a:sym typeface="Meiryo"/>
              </a:rPr>
              <a:t>CRM</a:t>
            </a:r>
            <a:r>
              <a:rPr lang="ja-JP" altLang="en-US" sz="1400" dirty="0">
                <a:latin typeface="メイリオ" panose="020B0604030504040204" pitchFamily="50" charset="-128"/>
                <a:ea typeface="メイリオ" panose="020B0604030504040204" pitchFamily="50" charset="-128"/>
                <a:cs typeface="Meiryo"/>
                <a:sym typeface="Meiryo"/>
              </a:rPr>
              <a:t>、</a:t>
            </a:r>
            <a:r>
              <a:rPr lang="en-US" altLang="ja-JP" sz="1400" dirty="0">
                <a:latin typeface="メイリオ" panose="020B0604030504040204" pitchFamily="50" charset="-128"/>
                <a:ea typeface="メイリオ" panose="020B0604030504040204" pitchFamily="50" charset="-128"/>
                <a:cs typeface="Meiryo"/>
                <a:sym typeface="Meiryo"/>
              </a:rPr>
              <a:t>API</a:t>
            </a:r>
            <a:r>
              <a:rPr lang="ja-JP" altLang="en-US" sz="1400" dirty="0">
                <a:latin typeface="メイリオ" panose="020B0604030504040204" pitchFamily="50" charset="-128"/>
                <a:ea typeface="メイリオ" panose="020B0604030504040204" pitchFamily="50" charset="-128"/>
                <a:cs typeface="Meiryo"/>
                <a:sym typeface="Meiryo"/>
              </a:rPr>
              <a:t>ツールで要件定義を行いつつ、効率化及び詳細なセグメント設計を目的として、</a:t>
            </a:r>
            <a:endParaRPr lang="en-US" altLang="ja-JP" sz="1400" dirty="0">
              <a:latin typeface="メイリオ" panose="020B0604030504040204" pitchFamily="50" charset="-128"/>
              <a:ea typeface="メイリオ" panose="020B0604030504040204" pitchFamily="50" charset="-128"/>
              <a:cs typeface="Meiryo"/>
              <a:sym typeface="Meiryo"/>
            </a:endParaRPr>
          </a:p>
          <a:p>
            <a:pPr lvl="0" algn="ctr"/>
            <a:r>
              <a:rPr lang="ja-JP" altLang="en-US" sz="1400" dirty="0">
                <a:latin typeface="メイリオ" panose="020B0604030504040204" pitchFamily="50" charset="-128"/>
                <a:ea typeface="メイリオ" panose="020B0604030504040204" pitchFamily="50" charset="-128"/>
                <a:cs typeface="Meiryo"/>
                <a:sym typeface="Meiryo"/>
              </a:rPr>
              <a:t>貴社内の顧客管理（</a:t>
            </a:r>
            <a:r>
              <a:rPr lang="en-US" altLang="ja-JP" sz="1400" dirty="0">
                <a:latin typeface="メイリオ" panose="020B0604030504040204" pitchFamily="50" charset="-128"/>
                <a:ea typeface="メイリオ" panose="020B0604030504040204" pitchFamily="50" charset="-128"/>
                <a:cs typeface="Meiryo"/>
                <a:sym typeface="Meiryo"/>
              </a:rPr>
              <a:t>CRM</a:t>
            </a:r>
            <a:r>
              <a:rPr lang="ja-JP" altLang="en-US" sz="1400" dirty="0">
                <a:latin typeface="メイリオ" panose="020B0604030504040204" pitchFamily="50" charset="-128"/>
                <a:ea typeface="メイリオ" panose="020B0604030504040204" pitchFamily="50" charset="-128"/>
                <a:cs typeface="Meiryo"/>
                <a:sym typeface="Meiryo"/>
              </a:rPr>
              <a:t>）ツールとの連携の実施も可能です。</a:t>
            </a:r>
            <a:r>
              <a:rPr lang="ja-JP" altLang="en-US" sz="1100" dirty="0">
                <a:solidFill>
                  <a:srgbClr val="FF0000"/>
                </a:solidFill>
                <a:latin typeface="メイリオ" panose="020B0604030504040204" pitchFamily="50" charset="-128"/>
                <a:ea typeface="メイリオ" panose="020B0604030504040204" pitchFamily="50" charset="-128"/>
                <a:cs typeface="Meiryo"/>
                <a:sym typeface="Meiryo"/>
              </a:rPr>
              <a:t> </a:t>
            </a:r>
            <a:r>
              <a:rPr lang="en-US" altLang="ja-JP" sz="1100" dirty="0">
                <a:solidFill>
                  <a:srgbClr val="FF0000"/>
                </a:solidFill>
                <a:latin typeface="メイリオ" panose="020B0604030504040204" pitchFamily="50" charset="-128"/>
                <a:ea typeface="メイリオ" panose="020B0604030504040204" pitchFamily="50" charset="-128"/>
                <a:cs typeface="Meiryo"/>
                <a:sym typeface="Meiryo"/>
              </a:rPr>
              <a:t>※</a:t>
            </a:r>
            <a:r>
              <a:rPr lang="ja-JP" altLang="en-US" sz="1100" dirty="0">
                <a:solidFill>
                  <a:srgbClr val="FF0000"/>
                </a:solidFill>
                <a:latin typeface="メイリオ" panose="020B0604030504040204" pitchFamily="50" charset="-128"/>
                <a:ea typeface="メイリオ" panose="020B0604030504040204" pitchFamily="50" charset="-128"/>
                <a:cs typeface="Meiryo"/>
                <a:sym typeface="Meiryo"/>
              </a:rPr>
              <a:t>開発は別途費用</a:t>
            </a:r>
            <a:endParaRPr lang="en-US" altLang="ja-JP" sz="1400" dirty="0">
              <a:solidFill>
                <a:srgbClr val="FF0000"/>
              </a:solidFill>
              <a:latin typeface="メイリオ" panose="020B0604030504040204" pitchFamily="50" charset="-128"/>
              <a:ea typeface="メイリオ" panose="020B0604030504040204" pitchFamily="50" charset="-128"/>
              <a:cs typeface="Meiryo"/>
              <a:sym typeface="Meiryo"/>
            </a:endParaRPr>
          </a:p>
        </p:txBody>
      </p:sp>
      <p:pic>
        <p:nvPicPr>
          <p:cNvPr id="16" name="図 15">
            <a:extLst>
              <a:ext uri="{FF2B5EF4-FFF2-40B4-BE49-F238E27FC236}">
                <a16:creationId xmlns:a16="http://schemas.microsoft.com/office/drawing/2014/main" id="{03191DAC-E9A0-5CCA-8AC1-DD7587146EC0}"/>
              </a:ext>
            </a:extLst>
          </p:cNvPr>
          <p:cNvPicPr>
            <a:picLocks noChangeAspect="1"/>
          </p:cNvPicPr>
          <p:nvPr/>
        </p:nvPicPr>
        <p:blipFill>
          <a:blip r:embed="rId7"/>
          <a:stretch>
            <a:fillRect/>
          </a:stretch>
        </p:blipFill>
        <p:spPr>
          <a:xfrm>
            <a:off x="8356962" y="3138694"/>
            <a:ext cx="1225184" cy="371527"/>
          </a:xfrm>
          <a:prstGeom prst="rect">
            <a:avLst/>
          </a:prstGeom>
        </p:spPr>
      </p:pic>
      <p:sp>
        <p:nvSpPr>
          <p:cNvPr id="18" name="正方形/長方形 17">
            <a:extLst>
              <a:ext uri="{FF2B5EF4-FFF2-40B4-BE49-F238E27FC236}">
                <a16:creationId xmlns:a16="http://schemas.microsoft.com/office/drawing/2014/main" id="{6556E7C3-00CD-61AD-290A-ADC705BB4ED2}"/>
              </a:ext>
            </a:extLst>
          </p:cNvPr>
          <p:cNvSpPr/>
          <p:nvPr/>
        </p:nvSpPr>
        <p:spPr>
          <a:xfrm>
            <a:off x="7392816" y="2667912"/>
            <a:ext cx="1404514" cy="70467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rPr>
              <a:t>LINE</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公式と</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rPr>
              <a:t>API</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ツール間の</a:t>
            </a:r>
            <a:endPar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情報連携</a:t>
            </a:r>
            <a:endPar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19" name="正方形/長方形 18">
            <a:extLst>
              <a:ext uri="{FF2B5EF4-FFF2-40B4-BE49-F238E27FC236}">
                <a16:creationId xmlns:a16="http://schemas.microsoft.com/office/drawing/2014/main" id="{ECFC83DD-87A7-DC53-4B5A-DD088FDF4D20}"/>
              </a:ext>
            </a:extLst>
          </p:cNvPr>
          <p:cNvSpPr/>
          <p:nvPr/>
        </p:nvSpPr>
        <p:spPr>
          <a:xfrm>
            <a:off x="5873920" y="2711430"/>
            <a:ext cx="989184" cy="42376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メッセ送信</a:t>
            </a:r>
          </a:p>
        </p:txBody>
      </p:sp>
    </p:spTree>
    <p:extLst>
      <p:ext uri="{BB962C8B-B14F-4D97-AF65-F5344CB8AC3E}">
        <p14:creationId xmlns:p14="http://schemas.microsoft.com/office/powerpoint/2010/main" val="98264973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Google Shape;156;p7"/>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その他 代表的な活用機能</a:t>
            </a:r>
            <a:endParaRPr sz="1600" b="1" dirty="0">
              <a:solidFill>
                <a:srgbClr val="002060"/>
              </a:solidFill>
              <a:latin typeface="Meiryo"/>
              <a:ea typeface="Meiryo"/>
              <a:cs typeface="Meiryo"/>
              <a:sym typeface="Meiryo"/>
            </a:endParaRPr>
          </a:p>
        </p:txBody>
      </p:sp>
      <p:sp>
        <p:nvSpPr>
          <p:cNvPr id="8" name="正方形/長方形 7"/>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600" b="1" dirty="0">
                <a:latin typeface="メイリオ" panose="020B0604030504040204" pitchFamily="50" charset="-128"/>
                <a:ea typeface="メイリオ" panose="020B0604030504040204" pitchFamily="50" charset="-128"/>
              </a:rPr>
              <a:t>ミニアプリ</a:t>
            </a:r>
            <a:endParaRPr lang="en-US" altLang="ja-JP" sz="1600" b="1" dirty="0">
              <a:latin typeface="メイリオ" panose="020B0604030504040204" pitchFamily="50" charset="-128"/>
              <a:ea typeface="メイリオ" panose="020B0604030504040204" pitchFamily="50" charset="-128"/>
            </a:endParaRPr>
          </a:p>
        </p:txBody>
      </p:sp>
      <p:pic>
        <p:nvPicPr>
          <p:cNvPr id="15" name="図 14"/>
          <p:cNvPicPr>
            <a:picLocks noChangeAspect="1"/>
          </p:cNvPicPr>
          <p:nvPr/>
        </p:nvPicPr>
        <p:blipFill>
          <a:blip r:embed="rId2"/>
          <a:stretch>
            <a:fillRect/>
          </a:stretch>
        </p:blipFill>
        <p:spPr>
          <a:xfrm>
            <a:off x="395078" y="4223656"/>
            <a:ext cx="4883652" cy="2255298"/>
          </a:xfrm>
          <a:prstGeom prst="rect">
            <a:avLst/>
          </a:prstGeom>
        </p:spPr>
      </p:pic>
      <p:pic>
        <p:nvPicPr>
          <p:cNvPr id="16" name="図 15"/>
          <p:cNvPicPr>
            <a:picLocks noChangeAspect="1"/>
          </p:cNvPicPr>
          <p:nvPr/>
        </p:nvPicPr>
        <p:blipFill>
          <a:blip r:embed="rId3"/>
          <a:stretch>
            <a:fillRect/>
          </a:stretch>
        </p:blipFill>
        <p:spPr>
          <a:xfrm>
            <a:off x="5447610" y="4291935"/>
            <a:ext cx="4377759" cy="1962444"/>
          </a:xfrm>
          <a:prstGeom prst="rect">
            <a:avLst/>
          </a:prstGeom>
        </p:spPr>
      </p:pic>
      <p:pic>
        <p:nvPicPr>
          <p:cNvPr id="17" name="図 16"/>
          <p:cNvPicPr>
            <a:picLocks noChangeAspect="1"/>
          </p:cNvPicPr>
          <p:nvPr/>
        </p:nvPicPr>
        <p:blipFill>
          <a:blip r:embed="rId4"/>
          <a:stretch>
            <a:fillRect/>
          </a:stretch>
        </p:blipFill>
        <p:spPr>
          <a:xfrm>
            <a:off x="295583" y="1824445"/>
            <a:ext cx="5881033" cy="2266757"/>
          </a:xfrm>
          <a:prstGeom prst="rect">
            <a:avLst/>
          </a:prstGeom>
        </p:spPr>
      </p:pic>
      <p:sp>
        <p:nvSpPr>
          <p:cNvPr id="2" name="正方形/長方形 1"/>
          <p:cNvSpPr/>
          <p:nvPr/>
        </p:nvSpPr>
        <p:spPr>
          <a:xfrm>
            <a:off x="2971109" y="823033"/>
            <a:ext cx="6669279" cy="584775"/>
          </a:xfrm>
          <a:prstGeom prst="rect">
            <a:avLst/>
          </a:prstGeom>
        </p:spPr>
        <p:txBody>
          <a:bodyPr wrap="square">
            <a:spAutoFit/>
          </a:bodyPr>
          <a:lstStyle/>
          <a:p>
            <a:pPr lvl="0">
              <a:buClr>
                <a:srgbClr val="002060"/>
              </a:buClr>
              <a:buSzPts val="1600"/>
            </a:pP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内で活用できるミニアプリでは、ゲームや抽選といった機能を</a:t>
            </a:r>
            <a:endParaRPr lang="en-US" altLang="ja-JP" sz="1600" b="1" dirty="0">
              <a:solidFill>
                <a:schemeClr val="tx1">
                  <a:lumMod val="65000"/>
                  <a:lumOff val="35000"/>
                </a:schemeClr>
              </a:solidFill>
              <a:latin typeface="Meiryo"/>
              <a:ea typeface="Meiryo"/>
              <a:cs typeface="Meiryo"/>
              <a:sym typeface="Meiryo"/>
            </a:endParaRPr>
          </a:p>
          <a:p>
            <a:pPr lvl="0">
              <a:buClr>
                <a:srgbClr val="002060"/>
              </a:buClr>
              <a:buSzPts val="1600"/>
            </a:pPr>
            <a:r>
              <a:rPr lang="ja-JP" altLang="en-US" sz="1600" b="1" dirty="0">
                <a:solidFill>
                  <a:schemeClr val="tx1">
                    <a:lumMod val="65000"/>
                    <a:lumOff val="35000"/>
                  </a:schemeClr>
                </a:solidFill>
                <a:latin typeface="Meiryo"/>
                <a:ea typeface="Meiryo"/>
                <a:cs typeface="Meiryo"/>
                <a:sym typeface="Meiryo"/>
              </a:rPr>
              <a:t>アプリ開発よりも大幅に格安な価格帯で利用できるサービス。</a:t>
            </a:r>
            <a:endParaRPr lang="en-US" altLang="ja-JP" sz="1600" b="1" dirty="0">
              <a:solidFill>
                <a:schemeClr val="tx1">
                  <a:lumMod val="65000"/>
                  <a:lumOff val="35000"/>
                </a:schemeClr>
              </a:solidFill>
              <a:latin typeface="Meiryo"/>
              <a:ea typeface="Meiryo"/>
              <a:cs typeface="Meiryo"/>
              <a:sym typeface="Meiryo"/>
            </a:endParaRPr>
          </a:p>
        </p:txBody>
      </p:sp>
    </p:spTree>
    <p:extLst>
      <p:ext uri="{BB962C8B-B14F-4D97-AF65-F5344CB8AC3E}">
        <p14:creationId xmlns:p14="http://schemas.microsoft.com/office/powerpoint/2010/main" val="393999798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D5022E-E793-10B7-A063-757EDCFFDB08}"/>
            </a:ext>
          </a:extLst>
        </p:cNvPr>
        <p:cNvGrpSpPr/>
        <p:nvPr/>
      </p:nvGrpSpPr>
      <p:grpSpPr>
        <a:xfrm>
          <a:off x="0" y="0"/>
          <a:ext cx="0" cy="0"/>
          <a:chOff x="0" y="0"/>
          <a:chExt cx="0" cy="0"/>
        </a:xfrm>
      </p:grpSpPr>
      <p:sp>
        <p:nvSpPr>
          <p:cNvPr id="43" name="Google Shape;156;p7"/>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Meiryo"/>
                <a:ea typeface="Meiryo"/>
                <a:cs typeface="Meiryo"/>
                <a:sym typeface="Meiryo"/>
              </a:rPr>
              <a:t>その他 代表的な活用機能</a:t>
            </a:r>
          </a:p>
        </p:txBody>
      </p:sp>
      <p:sp>
        <p:nvSpPr>
          <p:cNvPr id="28" name="正方形/長方形 27"/>
          <p:cNvSpPr/>
          <p:nvPr/>
        </p:nvSpPr>
        <p:spPr>
          <a:xfrm>
            <a:off x="209578" y="1455366"/>
            <a:ext cx="7160935"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Meiryo"/>
                <a:ea typeface="Meiryo"/>
                <a:cs typeface="Meiryo"/>
                <a:sym typeface="Meiryo"/>
              </a:rPr>
              <a:t>「</a:t>
            </a: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チャット</a:t>
            </a:r>
            <a:r>
              <a:rPr lang="en-US" altLang="ja-JP" sz="1600" b="1" dirty="0">
                <a:solidFill>
                  <a:schemeClr val="tx1">
                    <a:lumMod val="65000"/>
                    <a:lumOff val="35000"/>
                  </a:schemeClr>
                </a:solidFill>
                <a:latin typeface="Meiryo"/>
                <a:ea typeface="Meiryo"/>
                <a:cs typeface="Meiryo"/>
                <a:sym typeface="Meiryo"/>
              </a:rPr>
              <a:t>Plus</a:t>
            </a:r>
            <a:r>
              <a:rPr lang="ja-JP" altLang="en-US" sz="1600" b="1" dirty="0">
                <a:solidFill>
                  <a:schemeClr val="tx1">
                    <a:lumMod val="65000"/>
                    <a:lumOff val="35000"/>
                  </a:schemeClr>
                </a:solidFill>
                <a:latin typeface="Meiryo"/>
                <a:ea typeface="Meiryo"/>
                <a:cs typeface="Meiryo"/>
                <a:sym typeface="Meiryo"/>
              </a:rPr>
              <a:t>」は、</a:t>
            </a:r>
            <a:r>
              <a:rPr lang="en-US" altLang="ja-JP" sz="1600" b="1" dirty="0">
                <a:solidFill>
                  <a:schemeClr val="tx1">
                    <a:lumMod val="65000"/>
                    <a:lumOff val="35000"/>
                  </a:schemeClr>
                </a:solidFill>
                <a:latin typeface="Meiryo"/>
                <a:ea typeface="Meiryo"/>
                <a:cs typeface="Meiryo"/>
                <a:sym typeface="Meiryo"/>
              </a:rPr>
              <a:t>FAQ</a:t>
            </a:r>
            <a:r>
              <a:rPr lang="ja-JP" altLang="en-US" sz="1600" b="1" dirty="0">
                <a:solidFill>
                  <a:schemeClr val="tx1">
                    <a:lumMod val="65000"/>
                    <a:lumOff val="35000"/>
                  </a:schemeClr>
                </a:solidFill>
                <a:latin typeface="Meiryo"/>
                <a:ea typeface="Meiryo"/>
                <a:cs typeface="Meiryo"/>
                <a:sym typeface="Meiryo"/>
              </a:rPr>
              <a:t>をもとにした</a:t>
            </a:r>
            <a:r>
              <a:rPr lang="en-US" altLang="ja-JP" sz="1600" b="1" dirty="0">
                <a:solidFill>
                  <a:schemeClr val="tx1">
                    <a:lumMod val="65000"/>
                    <a:lumOff val="35000"/>
                  </a:schemeClr>
                </a:solidFill>
                <a:latin typeface="Meiryo"/>
                <a:ea typeface="Meiryo"/>
                <a:cs typeface="Meiryo"/>
                <a:sym typeface="Meiryo"/>
              </a:rPr>
              <a:t>AI</a:t>
            </a:r>
            <a:r>
              <a:rPr lang="ja-JP" altLang="en-US" sz="1600" b="1" dirty="0">
                <a:solidFill>
                  <a:schemeClr val="tx1">
                    <a:lumMod val="65000"/>
                    <a:lumOff val="35000"/>
                  </a:schemeClr>
                </a:solidFill>
                <a:latin typeface="Meiryo"/>
                <a:ea typeface="Meiryo"/>
                <a:cs typeface="Meiryo"/>
                <a:sym typeface="Meiryo"/>
              </a:rPr>
              <a:t>による自動応答や、</a:t>
            </a:r>
            <a:endParaRPr lang="en-US" altLang="ja-JP" sz="1600" b="1" dirty="0">
              <a:solidFill>
                <a:schemeClr val="tx1">
                  <a:lumMod val="65000"/>
                  <a:lumOff val="35000"/>
                </a:schemeClr>
              </a:solidFill>
              <a:latin typeface="Meiryo"/>
              <a:ea typeface="Meiryo"/>
              <a:cs typeface="Meiryo"/>
              <a:sym typeface="Meiryo"/>
            </a:endParaRPr>
          </a:p>
          <a:p>
            <a:pPr lvl="0">
              <a:buClr>
                <a:srgbClr val="002060"/>
              </a:buClr>
              <a:buSzPts val="1600"/>
            </a:pPr>
            <a:r>
              <a:rPr lang="ja-JP" altLang="en-US" sz="1600" b="1" dirty="0">
                <a:solidFill>
                  <a:schemeClr val="tx1">
                    <a:lumMod val="65000"/>
                    <a:lumOff val="35000"/>
                  </a:schemeClr>
                </a:solidFill>
                <a:latin typeface="Meiryo"/>
                <a:ea typeface="Meiryo"/>
                <a:cs typeface="Meiryo"/>
                <a:sym typeface="Meiryo"/>
              </a:rPr>
              <a:t>有人でのチャット対応による細かなサポートを可能にするオプション機能。</a:t>
            </a:r>
            <a:endParaRPr lang="en-US" altLang="ja-JP" sz="1600" b="1" dirty="0">
              <a:solidFill>
                <a:schemeClr val="tx1">
                  <a:lumMod val="65000"/>
                  <a:lumOff val="35000"/>
                </a:schemeClr>
              </a:solidFill>
              <a:latin typeface="Meiryo"/>
              <a:ea typeface="Meiryo"/>
              <a:cs typeface="Meiryo"/>
              <a:sym typeface="Meiryo"/>
            </a:endParaRPr>
          </a:p>
        </p:txBody>
      </p:sp>
      <p:sp>
        <p:nvSpPr>
          <p:cNvPr id="29" name="正方形/長方形 28"/>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b="1" dirty="0">
                <a:latin typeface="メイリオ" panose="020B0604030504040204" pitchFamily="50" charset="-128"/>
                <a:ea typeface="メイリオ" panose="020B0604030504040204" pitchFamily="50" charset="-128"/>
              </a:rPr>
              <a:t>【</a:t>
            </a:r>
            <a:r>
              <a:rPr lang="en-US" altLang="ja-JP" sz="1600" b="1" dirty="0" err="1">
                <a:latin typeface="メイリオ" panose="020B0604030504040204" pitchFamily="50" charset="-128"/>
                <a:ea typeface="メイリオ" panose="020B0604030504040204" pitchFamily="50" charset="-128"/>
              </a:rPr>
              <a:t>LINE】Chat</a:t>
            </a:r>
            <a:r>
              <a:rPr lang="en-US" altLang="ja-JP" sz="1600" b="1" dirty="0">
                <a:latin typeface="メイリオ" panose="020B0604030504040204" pitchFamily="50" charset="-128"/>
                <a:ea typeface="メイリオ" panose="020B0604030504040204" pitchFamily="50" charset="-128"/>
              </a:rPr>
              <a:t> Plus</a:t>
            </a:r>
          </a:p>
        </p:txBody>
      </p:sp>
      <p:sp>
        <p:nvSpPr>
          <p:cNvPr id="30" name="角丸四角形 29"/>
          <p:cNvSpPr/>
          <p:nvPr/>
        </p:nvSpPr>
        <p:spPr>
          <a:xfrm>
            <a:off x="548883" y="2287502"/>
            <a:ext cx="4031506" cy="4199137"/>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pic>
        <p:nvPicPr>
          <p:cNvPr id="3" name="図 2"/>
          <p:cNvPicPr>
            <a:picLocks noChangeAspect="1"/>
          </p:cNvPicPr>
          <p:nvPr/>
        </p:nvPicPr>
        <p:blipFill rotWithShape="1">
          <a:blip r:embed="rId2" cstate="print">
            <a:extLst>
              <a:ext uri="{28A0092B-C50C-407E-A947-70E740481C1C}">
                <a14:useLocalDpi xmlns:a14="http://schemas.microsoft.com/office/drawing/2010/main" val="0"/>
              </a:ext>
            </a:extLst>
          </a:blip>
          <a:srcRect t="34310" b="34334"/>
          <a:stretch/>
        </p:blipFill>
        <p:spPr>
          <a:xfrm>
            <a:off x="683491" y="2611441"/>
            <a:ext cx="3762290" cy="2097249"/>
          </a:xfrm>
          <a:prstGeom prst="rect">
            <a:avLst/>
          </a:prstGeom>
        </p:spPr>
      </p:pic>
      <p:sp>
        <p:nvSpPr>
          <p:cNvPr id="33" name="正方形/長方形 32"/>
          <p:cNvSpPr/>
          <p:nvPr/>
        </p:nvSpPr>
        <p:spPr>
          <a:xfrm>
            <a:off x="830828" y="5032628"/>
            <a:ext cx="3467616" cy="830997"/>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Meiryo"/>
                <a:ea typeface="Meiryo"/>
                <a:cs typeface="Meiryo"/>
                <a:sym typeface="Meiryo"/>
              </a:rPr>
              <a:t>ホームページから気軽にチャットで</a:t>
            </a:r>
            <a:endParaRPr lang="en-US" altLang="ja-JP" sz="1600" b="1" dirty="0">
              <a:solidFill>
                <a:schemeClr val="tx1">
                  <a:lumMod val="65000"/>
                  <a:lumOff val="35000"/>
                </a:schemeClr>
              </a:solidFill>
              <a:latin typeface="Meiryo"/>
              <a:ea typeface="Meiryo"/>
              <a:cs typeface="Meiryo"/>
              <a:sym typeface="Meiryo"/>
            </a:endParaRPr>
          </a:p>
          <a:p>
            <a:pPr lvl="0">
              <a:buClr>
                <a:srgbClr val="002060"/>
              </a:buClr>
              <a:buSzPts val="1600"/>
            </a:pPr>
            <a:r>
              <a:rPr lang="ja-JP" altLang="en-US" sz="1600" b="1" dirty="0">
                <a:solidFill>
                  <a:schemeClr val="tx1">
                    <a:lumMod val="65000"/>
                    <a:lumOff val="35000"/>
                  </a:schemeClr>
                </a:solidFill>
                <a:latin typeface="Meiryo"/>
                <a:ea typeface="Meiryo"/>
                <a:cs typeface="Meiryo"/>
                <a:sym typeface="Meiryo"/>
              </a:rPr>
              <a:t>問い合わせができるようになり</a:t>
            </a:r>
            <a:endParaRPr lang="en-US" altLang="ja-JP" sz="1600" b="1" dirty="0">
              <a:solidFill>
                <a:schemeClr val="tx1">
                  <a:lumMod val="65000"/>
                  <a:lumOff val="35000"/>
                </a:schemeClr>
              </a:solidFill>
              <a:latin typeface="Meiryo"/>
              <a:ea typeface="Meiryo"/>
              <a:cs typeface="Meiryo"/>
              <a:sym typeface="Meiryo"/>
            </a:endParaRPr>
          </a:p>
          <a:p>
            <a:pPr lvl="0">
              <a:buClr>
                <a:srgbClr val="002060"/>
              </a:buClr>
              <a:buSzPts val="1600"/>
            </a:pPr>
            <a:r>
              <a:rPr lang="ja-JP" altLang="en-US" sz="1600" b="1" dirty="0">
                <a:solidFill>
                  <a:schemeClr val="tx1">
                    <a:lumMod val="65000"/>
                    <a:lumOff val="35000"/>
                  </a:schemeClr>
                </a:solidFill>
                <a:latin typeface="Meiryo"/>
                <a:ea typeface="Meiryo"/>
                <a:cs typeface="Meiryo"/>
                <a:sym typeface="Meiryo"/>
              </a:rPr>
              <a:t>資料請求や商品の購入に繋がる。</a:t>
            </a:r>
            <a:endParaRPr lang="en-US" altLang="ja-JP" sz="1600" b="1" dirty="0">
              <a:solidFill>
                <a:schemeClr val="tx1">
                  <a:lumMod val="65000"/>
                  <a:lumOff val="35000"/>
                </a:schemeClr>
              </a:solidFill>
              <a:latin typeface="Meiryo"/>
              <a:ea typeface="Meiryo"/>
              <a:cs typeface="Meiryo"/>
              <a:sym typeface="Meiryo"/>
            </a:endParaRPr>
          </a:p>
        </p:txBody>
      </p:sp>
      <p:grpSp>
        <p:nvGrpSpPr>
          <p:cNvPr id="34" name="Group 25">
            <a:extLst>
              <a:ext uri="{FF2B5EF4-FFF2-40B4-BE49-F238E27FC236}">
                <a16:creationId xmlns:a16="http://schemas.microsoft.com/office/drawing/2014/main" id="{269BA4E8-CBA1-17CF-4B27-5586E44C9042}"/>
              </a:ext>
            </a:extLst>
          </p:cNvPr>
          <p:cNvGrpSpPr/>
          <p:nvPr/>
        </p:nvGrpSpPr>
        <p:grpSpPr>
          <a:xfrm rot="5400000">
            <a:off x="5120631" y="2997089"/>
            <a:ext cx="301414" cy="601358"/>
            <a:chOff x="0" y="0"/>
            <a:chExt cx="452282" cy="902360"/>
          </a:xfrm>
        </p:grpSpPr>
        <p:sp>
          <p:nvSpPr>
            <p:cNvPr id="35"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36"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endParaRPr>
            </a:p>
          </p:txBody>
        </p:sp>
      </p:grpSp>
      <p:sp>
        <p:nvSpPr>
          <p:cNvPr id="37" name="TextBox 38">
            <a:extLst>
              <a:ext uri="{FF2B5EF4-FFF2-40B4-BE49-F238E27FC236}">
                <a16:creationId xmlns:a16="http://schemas.microsoft.com/office/drawing/2014/main" id="{5DBC0D5A-D55C-257A-51E2-CC2A6B58B8CE}"/>
              </a:ext>
            </a:extLst>
          </p:cNvPr>
          <p:cNvSpPr txBox="1"/>
          <p:nvPr/>
        </p:nvSpPr>
        <p:spPr>
          <a:xfrm>
            <a:off x="5836651" y="3018835"/>
            <a:ext cx="3788946" cy="564257"/>
          </a:xfrm>
          <a:prstGeom prst="rect">
            <a:avLst/>
          </a:prstGeom>
        </p:spPr>
        <p:txBody>
          <a:bodyPr wrap="square" lIns="0" tIns="0" rIns="0" bIns="0" rtlCol="0" anchor="t">
            <a:spAutoFit/>
          </a:bodyPr>
          <a:lstStyle/>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rPr>
              <a:t>自動応答と有人応答を使い分けることが</a:t>
            </a:r>
            <a:endParaRPr lang="en-US" altLang="ja-JP" sz="1554" b="1" dirty="0">
              <a:solidFill>
                <a:srgbClr val="494848"/>
              </a:solidFill>
              <a:latin typeface="メイリオ" panose="020B0604030504040204" pitchFamily="50" charset="-128"/>
              <a:ea typeface="メイリオ" panose="020B0604030504040204" pitchFamily="50" charset="-128"/>
            </a:endParaRPr>
          </a:p>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rPr>
              <a:t>できる</a:t>
            </a:r>
            <a:endParaRPr lang="en-US" sz="1554" b="1" dirty="0">
              <a:solidFill>
                <a:srgbClr val="494848"/>
              </a:solidFill>
              <a:latin typeface="メイリオ" panose="020B0604030504040204" pitchFamily="50" charset="-128"/>
              <a:ea typeface="メイリオ" panose="020B0604030504040204" pitchFamily="50" charset="-128"/>
            </a:endParaRPr>
          </a:p>
        </p:txBody>
      </p:sp>
      <p:grpSp>
        <p:nvGrpSpPr>
          <p:cNvPr id="38" name="Group 25">
            <a:extLst>
              <a:ext uri="{FF2B5EF4-FFF2-40B4-BE49-F238E27FC236}">
                <a16:creationId xmlns:a16="http://schemas.microsoft.com/office/drawing/2014/main" id="{269BA4E8-CBA1-17CF-4B27-5586E44C9042}"/>
              </a:ext>
            </a:extLst>
          </p:cNvPr>
          <p:cNvGrpSpPr/>
          <p:nvPr/>
        </p:nvGrpSpPr>
        <p:grpSpPr>
          <a:xfrm rot="5400000">
            <a:off x="5120631" y="3995552"/>
            <a:ext cx="301414" cy="601358"/>
            <a:chOff x="0" y="0"/>
            <a:chExt cx="452282" cy="902360"/>
          </a:xfrm>
        </p:grpSpPr>
        <p:sp>
          <p:nvSpPr>
            <p:cNvPr id="39"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40"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endParaRPr>
            </a:p>
          </p:txBody>
        </p:sp>
      </p:grpSp>
      <p:sp>
        <p:nvSpPr>
          <p:cNvPr id="41" name="TextBox 38">
            <a:extLst>
              <a:ext uri="{FF2B5EF4-FFF2-40B4-BE49-F238E27FC236}">
                <a16:creationId xmlns:a16="http://schemas.microsoft.com/office/drawing/2014/main" id="{5DBC0D5A-D55C-257A-51E2-CC2A6B58B8CE}"/>
              </a:ext>
            </a:extLst>
          </p:cNvPr>
          <p:cNvSpPr txBox="1"/>
          <p:nvPr/>
        </p:nvSpPr>
        <p:spPr>
          <a:xfrm>
            <a:off x="5836651" y="4017298"/>
            <a:ext cx="3788946" cy="564257"/>
          </a:xfrm>
          <a:prstGeom prst="rect">
            <a:avLst/>
          </a:prstGeom>
        </p:spPr>
        <p:txBody>
          <a:bodyPr wrap="square" lIns="0" tIns="0" rIns="0" bIns="0" rtlCol="0" anchor="t">
            <a:spAutoFit/>
          </a:bodyPr>
          <a:lstStyle/>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rPr>
              <a:t>「訪問者管理機能」により、ホームページに訪れたユーザーを一覧で見ることが可能</a:t>
            </a:r>
            <a:endParaRPr lang="en-US" sz="1554" b="1" dirty="0">
              <a:solidFill>
                <a:srgbClr val="494848"/>
              </a:solidFill>
              <a:latin typeface="メイリオ" panose="020B0604030504040204" pitchFamily="50" charset="-128"/>
              <a:ea typeface="メイリオ" panose="020B0604030504040204" pitchFamily="50" charset="-128"/>
            </a:endParaRPr>
          </a:p>
        </p:txBody>
      </p:sp>
      <p:grpSp>
        <p:nvGrpSpPr>
          <p:cNvPr id="42" name="Group 25">
            <a:extLst>
              <a:ext uri="{FF2B5EF4-FFF2-40B4-BE49-F238E27FC236}">
                <a16:creationId xmlns:a16="http://schemas.microsoft.com/office/drawing/2014/main" id="{269BA4E8-CBA1-17CF-4B27-5586E44C9042}"/>
              </a:ext>
            </a:extLst>
          </p:cNvPr>
          <p:cNvGrpSpPr/>
          <p:nvPr/>
        </p:nvGrpSpPr>
        <p:grpSpPr>
          <a:xfrm rot="5400000">
            <a:off x="5120631" y="4994015"/>
            <a:ext cx="301414" cy="601358"/>
            <a:chOff x="0" y="0"/>
            <a:chExt cx="452282" cy="902360"/>
          </a:xfrm>
        </p:grpSpPr>
        <p:sp>
          <p:nvSpPr>
            <p:cNvPr id="44"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45"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endParaRPr>
            </a:p>
          </p:txBody>
        </p:sp>
      </p:grpSp>
      <p:sp>
        <p:nvSpPr>
          <p:cNvPr id="46" name="TextBox 38">
            <a:extLst>
              <a:ext uri="{FF2B5EF4-FFF2-40B4-BE49-F238E27FC236}">
                <a16:creationId xmlns:a16="http://schemas.microsoft.com/office/drawing/2014/main" id="{5DBC0D5A-D55C-257A-51E2-CC2A6B58B8CE}"/>
              </a:ext>
            </a:extLst>
          </p:cNvPr>
          <p:cNvSpPr txBox="1"/>
          <p:nvPr/>
        </p:nvSpPr>
        <p:spPr>
          <a:xfrm>
            <a:off x="5836651" y="5015761"/>
            <a:ext cx="3788946" cy="846386"/>
          </a:xfrm>
          <a:prstGeom prst="rect">
            <a:avLst/>
          </a:prstGeom>
        </p:spPr>
        <p:txBody>
          <a:bodyPr wrap="square" lIns="0" tIns="0" rIns="0" bIns="0" rtlCol="0" anchor="t">
            <a:spAutoFit/>
          </a:bodyPr>
          <a:lstStyle/>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rPr>
              <a:t>公式</a:t>
            </a:r>
            <a:r>
              <a:rPr lang="en-US" altLang="ja-JP" sz="1554" b="1" dirty="0">
                <a:solidFill>
                  <a:srgbClr val="494848"/>
                </a:solidFill>
                <a:latin typeface="メイリオ" panose="020B0604030504040204" pitchFamily="50" charset="-128"/>
                <a:ea typeface="メイリオ" panose="020B0604030504040204" pitchFamily="50" charset="-128"/>
              </a:rPr>
              <a:t>LINE</a:t>
            </a:r>
            <a:r>
              <a:rPr lang="ja-JP" altLang="en-US" sz="1554" b="1" dirty="0">
                <a:solidFill>
                  <a:srgbClr val="494848"/>
                </a:solidFill>
                <a:latin typeface="メイリオ" panose="020B0604030504040204" pitchFamily="50" charset="-128"/>
                <a:ea typeface="メイリオ" panose="020B0604030504040204" pitchFamily="50" charset="-128"/>
              </a:rPr>
              <a:t>とチャットボットを連携し</a:t>
            </a:r>
            <a:endParaRPr lang="en-US" altLang="ja-JP" sz="1554" b="1" dirty="0">
              <a:solidFill>
                <a:srgbClr val="494848"/>
              </a:solidFill>
              <a:latin typeface="メイリオ" panose="020B0604030504040204" pitchFamily="50" charset="-128"/>
              <a:ea typeface="メイリオ" panose="020B0604030504040204" pitchFamily="50" charset="-128"/>
            </a:endParaRPr>
          </a:p>
          <a:p>
            <a:pPr>
              <a:lnSpc>
                <a:spcPts val="2176"/>
              </a:lnSpc>
            </a:pPr>
            <a:r>
              <a:rPr lang="en-US" altLang="ja-JP" sz="1554" b="1" dirty="0">
                <a:solidFill>
                  <a:srgbClr val="494848"/>
                </a:solidFill>
                <a:latin typeface="メイリオ" panose="020B0604030504040204" pitchFamily="50" charset="-128"/>
                <a:ea typeface="メイリオ" panose="020B0604030504040204" pitchFamily="50" charset="-128"/>
              </a:rPr>
              <a:t>LINE</a:t>
            </a:r>
            <a:r>
              <a:rPr lang="ja-JP" altLang="en-US" sz="1554" b="1" dirty="0">
                <a:solidFill>
                  <a:srgbClr val="494848"/>
                </a:solidFill>
                <a:latin typeface="メイリオ" panose="020B0604030504040204" pitchFamily="50" charset="-128"/>
                <a:ea typeface="メイリオ" panose="020B0604030504040204" pitchFamily="50" charset="-128"/>
              </a:rPr>
              <a:t>上でも同じチャットボットを活用</a:t>
            </a:r>
            <a:endParaRPr lang="en-US" altLang="ja-JP" sz="1554" b="1" dirty="0">
              <a:solidFill>
                <a:srgbClr val="494848"/>
              </a:solidFill>
              <a:latin typeface="メイリオ" panose="020B0604030504040204" pitchFamily="50" charset="-128"/>
              <a:ea typeface="メイリオ" panose="020B0604030504040204" pitchFamily="50" charset="-128"/>
            </a:endParaRPr>
          </a:p>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rPr>
              <a:t>できる</a:t>
            </a:r>
            <a:endParaRPr lang="en-US" sz="1554" b="1" dirty="0">
              <a:solidFill>
                <a:srgbClr val="494848"/>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69276659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20026D-0FAA-76C0-699F-5C95EE2044C4}"/>
            </a:ext>
          </a:extLst>
        </p:cNvPr>
        <p:cNvGrpSpPr/>
        <p:nvPr/>
      </p:nvGrpSpPr>
      <p:grpSpPr>
        <a:xfrm>
          <a:off x="0" y="0"/>
          <a:ext cx="0" cy="0"/>
          <a:chOff x="0" y="0"/>
          <a:chExt cx="0" cy="0"/>
        </a:xfrm>
      </p:grpSpPr>
      <p:sp>
        <p:nvSpPr>
          <p:cNvPr id="2" name="Google Shape;156;p7">
            <a:extLst>
              <a:ext uri="{FF2B5EF4-FFF2-40B4-BE49-F238E27FC236}">
                <a16:creationId xmlns:a16="http://schemas.microsoft.com/office/drawing/2014/main" id="{C5E2E585-BC17-9ECA-2598-27E9D406C15A}"/>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Meiryo"/>
                <a:ea typeface="Meiryo"/>
                <a:cs typeface="Meiryo"/>
                <a:sym typeface="Meiryo"/>
              </a:rPr>
              <a:t>その他 代表的な活用機能</a:t>
            </a:r>
          </a:p>
        </p:txBody>
      </p:sp>
      <p:sp>
        <p:nvSpPr>
          <p:cNvPr id="4" name="正方形/長方形 3">
            <a:extLst>
              <a:ext uri="{FF2B5EF4-FFF2-40B4-BE49-F238E27FC236}">
                <a16:creationId xmlns:a16="http://schemas.microsoft.com/office/drawing/2014/main" id="{E05B90A4-AED6-B19A-AEE0-64B5142381A5}"/>
              </a:ext>
            </a:extLst>
          </p:cNvPr>
          <p:cNvSpPr/>
          <p:nvPr/>
        </p:nvSpPr>
        <p:spPr>
          <a:xfrm>
            <a:off x="209578" y="1455366"/>
            <a:ext cx="7689926"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Meiryo"/>
                <a:ea typeface="Meiryo"/>
                <a:cs typeface="Meiryo"/>
                <a:sym typeface="Meiryo"/>
              </a:rPr>
              <a:t>「</a:t>
            </a: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コール</a:t>
            </a:r>
            <a:r>
              <a:rPr lang="en-US" altLang="ja-JP" sz="1600" b="1" dirty="0">
                <a:solidFill>
                  <a:schemeClr val="tx1">
                    <a:lumMod val="65000"/>
                    <a:lumOff val="35000"/>
                  </a:schemeClr>
                </a:solidFill>
                <a:latin typeface="Meiryo"/>
                <a:ea typeface="Meiryo"/>
                <a:cs typeface="Meiryo"/>
                <a:sym typeface="Meiryo"/>
              </a:rPr>
              <a:t>Plus</a:t>
            </a:r>
            <a:r>
              <a:rPr lang="ja-JP" altLang="en-US" sz="1600" b="1" dirty="0">
                <a:solidFill>
                  <a:schemeClr val="tx1">
                    <a:lumMod val="65000"/>
                    <a:lumOff val="35000"/>
                  </a:schemeClr>
                </a:solidFill>
                <a:latin typeface="Meiryo"/>
                <a:ea typeface="Meiryo"/>
                <a:cs typeface="Meiryo"/>
                <a:sym typeface="Meiryo"/>
              </a:rPr>
              <a:t>」は、</a:t>
            </a: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公式アカウントの有料オプション機能で、</a:t>
            </a:r>
            <a:endParaRPr lang="en-US" altLang="ja-JP" sz="1600" b="1" dirty="0">
              <a:solidFill>
                <a:schemeClr val="tx1">
                  <a:lumMod val="65000"/>
                  <a:lumOff val="35000"/>
                </a:schemeClr>
              </a:solidFill>
              <a:latin typeface="Meiryo"/>
              <a:ea typeface="Meiryo"/>
              <a:cs typeface="Meiryo"/>
              <a:sym typeface="Meiryo"/>
            </a:endParaRPr>
          </a:p>
          <a:p>
            <a:pPr lvl="0">
              <a:buClr>
                <a:srgbClr val="002060"/>
              </a:buClr>
              <a:buSzPts val="1600"/>
            </a:pP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公式アカウントからユーザーがカスタマーサポートに電話できるサービス。</a:t>
            </a:r>
            <a:endParaRPr lang="en-US" altLang="ja-JP" sz="1600" b="1" dirty="0">
              <a:solidFill>
                <a:schemeClr val="tx1">
                  <a:lumMod val="65000"/>
                  <a:lumOff val="35000"/>
                </a:schemeClr>
              </a:solidFill>
              <a:latin typeface="Meiryo"/>
              <a:ea typeface="Meiryo"/>
              <a:cs typeface="Meiryo"/>
              <a:sym typeface="Meiryo"/>
            </a:endParaRPr>
          </a:p>
        </p:txBody>
      </p:sp>
      <p:sp>
        <p:nvSpPr>
          <p:cNvPr id="5" name="正方形/長方形 4">
            <a:extLst>
              <a:ext uri="{FF2B5EF4-FFF2-40B4-BE49-F238E27FC236}">
                <a16:creationId xmlns:a16="http://schemas.microsoft.com/office/drawing/2014/main" id="{381E56F1-6DB4-770A-F040-6633F4E7E2B0}"/>
              </a:ext>
            </a:extLst>
          </p:cNvPr>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b="1" dirty="0">
                <a:latin typeface="メイリオ" panose="020B0604030504040204" pitchFamily="50" charset="-128"/>
                <a:ea typeface="メイリオ" panose="020B0604030504040204" pitchFamily="50" charset="-128"/>
              </a:rPr>
              <a:t>【</a:t>
            </a:r>
            <a:r>
              <a:rPr lang="en-US" altLang="ja-JP" sz="1600" b="1" dirty="0" err="1">
                <a:latin typeface="メイリオ" panose="020B0604030504040204" pitchFamily="50" charset="-128"/>
                <a:ea typeface="メイリオ" panose="020B0604030504040204" pitchFamily="50" charset="-128"/>
              </a:rPr>
              <a:t>LINE】Call</a:t>
            </a:r>
            <a:r>
              <a:rPr lang="en-US" altLang="ja-JP" sz="1600" b="1" dirty="0">
                <a:latin typeface="メイリオ" panose="020B0604030504040204" pitchFamily="50" charset="-128"/>
                <a:ea typeface="メイリオ" panose="020B0604030504040204" pitchFamily="50" charset="-128"/>
              </a:rPr>
              <a:t> Plus</a:t>
            </a:r>
          </a:p>
        </p:txBody>
      </p:sp>
      <p:pic>
        <p:nvPicPr>
          <p:cNvPr id="6" name="図 5">
            <a:extLst>
              <a:ext uri="{FF2B5EF4-FFF2-40B4-BE49-F238E27FC236}">
                <a16:creationId xmlns:a16="http://schemas.microsoft.com/office/drawing/2014/main" id="{A4DCE6F0-EC2D-892A-88B0-8516B660CB73}"/>
              </a:ext>
            </a:extLst>
          </p:cNvPr>
          <p:cNvPicPr>
            <a:picLocks noChangeAspect="1"/>
          </p:cNvPicPr>
          <p:nvPr/>
        </p:nvPicPr>
        <p:blipFill>
          <a:blip r:embed="rId2"/>
          <a:stretch>
            <a:fillRect/>
          </a:stretch>
        </p:blipFill>
        <p:spPr>
          <a:xfrm>
            <a:off x="668697" y="2287502"/>
            <a:ext cx="8332001" cy="2953508"/>
          </a:xfrm>
          <a:prstGeom prst="rect">
            <a:avLst/>
          </a:prstGeom>
        </p:spPr>
      </p:pic>
      <p:sp>
        <p:nvSpPr>
          <p:cNvPr id="7" name="角丸四角形 7">
            <a:extLst>
              <a:ext uri="{FF2B5EF4-FFF2-40B4-BE49-F238E27FC236}">
                <a16:creationId xmlns:a16="http://schemas.microsoft.com/office/drawing/2014/main" id="{D9E83488-E9DE-A2BA-7266-DA0D65822773}"/>
              </a:ext>
            </a:extLst>
          </p:cNvPr>
          <p:cNvSpPr/>
          <p:nvPr/>
        </p:nvSpPr>
        <p:spPr>
          <a:xfrm>
            <a:off x="548883" y="5241010"/>
            <a:ext cx="8720952" cy="1245629"/>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8" name="正方形/長方形 7">
            <a:extLst>
              <a:ext uri="{FF2B5EF4-FFF2-40B4-BE49-F238E27FC236}">
                <a16:creationId xmlns:a16="http://schemas.microsoft.com/office/drawing/2014/main" id="{71E1C361-AEEF-C8A2-A1E4-44AF984285D5}"/>
              </a:ext>
            </a:extLst>
          </p:cNvPr>
          <p:cNvSpPr/>
          <p:nvPr/>
        </p:nvSpPr>
        <p:spPr>
          <a:xfrm>
            <a:off x="4642710" y="6545362"/>
            <a:ext cx="5046574" cy="246221"/>
          </a:xfrm>
          <a:prstGeom prst="rect">
            <a:avLst/>
          </a:prstGeom>
        </p:spPr>
        <p:txBody>
          <a:bodyPr wrap="none">
            <a:spAutoFit/>
          </a:bodyPr>
          <a:lstStyle/>
          <a:p>
            <a:pPr lvl="0">
              <a:buClr>
                <a:srgbClr val="002060"/>
              </a:buClr>
              <a:buSzPts val="1600"/>
            </a:pPr>
            <a:r>
              <a:rPr lang="ja-JP" altLang="en-US" sz="1000" b="1" dirty="0">
                <a:solidFill>
                  <a:schemeClr val="tx1">
                    <a:lumMod val="65000"/>
                    <a:lumOff val="35000"/>
                  </a:schemeClr>
                </a:solidFill>
                <a:latin typeface="Meiryo"/>
                <a:ea typeface="Meiryo"/>
                <a:cs typeface="Meiryo"/>
                <a:sym typeface="Meiryo"/>
              </a:rPr>
              <a:t>引用：</a:t>
            </a:r>
            <a:r>
              <a:rPr lang="en-US" altLang="ja-JP" sz="1000" b="1" dirty="0">
                <a:solidFill>
                  <a:schemeClr val="tx1">
                    <a:lumMod val="65000"/>
                    <a:lumOff val="35000"/>
                  </a:schemeClr>
                </a:solidFill>
                <a:latin typeface="Meiryo"/>
                <a:ea typeface="Meiryo"/>
                <a:cs typeface="Meiryo"/>
                <a:sym typeface="Meiryo"/>
              </a:rPr>
              <a:t>https://prtimes.jp/main/html/rd/p/000003920.000001594.html</a:t>
            </a:r>
          </a:p>
        </p:txBody>
      </p:sp>
      <p:sp>
        <p:nvSpPr>
          <p:cNvPr id="9" name="正方形/長方形 8">
            <a:extLst>
              <a:ext uri="{FF2B5EF4-FFF2-40B4-BE49-F238E27FC236}">
                <a16:creationId xmlns:a16="http://schemas.microsoft.com/office/drawing/2014/main" id="{F798F716-4AF6-5FA7-044B-E98F33F1C04B}"/>
              </a:ext>
            </a:extLst>
          </p:cNvPr>
          <p:cNvSpPr/>
          <p:nvPr/>
        </p:nvSpPr>
        <p:spPr>
          <a:xfrm>
            <a:off x="859212" y="5571436"/>
            <a:ext cx="7989495"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Meiryo"/>
                <a:ea typeface="Meiryo"/>
                <a:cs typeface="Meiryo"/>
                <a:sym typeface="Meiryo"/>
              </a:rPr>
              <a:t>さらに「</a:t>
            </a:r>
            <a:r>
              <a:rPr lang="en-US" altLang="ja-JP" sz="1600" b="1" dirty="0">
                <a:solidFill>
                  <a:schemeClr val="tx1">
                    <a:lumMod val="65000"/>
                    <a:lumOff val="35000"/>
                  </a:schemeClr>
                </a:solidFill>
                <a:latin typeface="Meiryo"/>
                <a:ea typeface="Meiryo"/>
                <a:cs typeface="Meiryo"/>
                <a:sym typeface="Meiryo"/>
              </a:rPr>
              <a:t>LINE Ai Call</a:t>
            </a:r>
            <a:r>
              <a:rPr lang="ja-JP" altLang="en-US" sz="1600" b="1" dirty="0">
                <a:solidFill>
                  <a:schemeClr val="tx1">
                    <a:lumMod val="65000"/>
                    <a:lumOff val="35000"/>
                  </a:schemeClr>
                </a:solidFill>
                <a:latin typeface="Meiryo"/>
                <a:ea typeface="Meiryo"/>
                <a:cs typeface="Meiryo"/>
                <a:sym typeface="Meiryo"/>
              </a:rPr>
              <a:t>」を活用するとユーザーの要望に対して</a:t>
            </a:r>
            <a:r>
              <a:rPr lang="en-US" altLang="ja-JP" sz="1600" b="1" dirty="0">
                <a:solidFill>
                  <a:schemeClr val="tx1">
                    <a:lumMod val="65000"/>
                    <a:lumOff val="35000"/>
                  </a:schemeClr>
                </a:solidFill>
                <a:latin typeface="Meiryo"/>
                <a:ea typeface="Meiryo"/>
                <a:cs typeface="Meiryo"/>
                <a:sym typeface="Meiryo"/>
              </a:rPr>
              <a:t>AI</a:t>
            </a:r>
            <a:r>
              <a:rPr lang="ja-JP" altLang="en-US" sz="1600" b="1" dirty="0">
                <a:solidFill>
                  <a:schemeClr val="tx1">
                    <a:lumMod val="65000"/>
                    <a:lumOff val="35000"/>
                  </a:schemeClr>
                </a:solidFill>
                <a:latin typeface="Meiryo"/>
                <a:ea typeface="Meiryo"/>
                <a:cs typeface="Meiryo"/>
                <a:sym typeface="Meiryo"/>
              </a:rPr>
              <a:t>による自然な</a:t>
            </a:r>
            <a:endParaRPr lang="en-US" altLang="ja-JP" sz="1600" b="1" dirty="0">
              <a:solidFill>
                <a:schemeClr val="tx1">
                  <a:lumMod val="65000"/>
                  <a:lumOff val="35000"/>
                </a:schemeClr>
              </a:solidFill>
              <a:latin typeface="Meiryo"/>
              <a:ea typeface="Meiryo"/>
              <a:cs typeface="Meiryo"/>
              <a:sym typeface="Meiryo"/>
            </a:endParaRPr>
          </a:p>
          <a:p>
            <a:pPr lvl="0">
              <a:buClr>
                <a:srgbClr val="002060"/>
              </a:buClr>
              <a:buSzPts val="1600"/>
            </a:pPr>
            <a:r>
              <a:rPr lang="ja-JP" altLang="en-US" sz="1600" b="1" dirty="0">
                <a:solidFill>
                  <a:schemeClr val="tx1">
                    <a:lumMod val="65000"/>
                    <a:lumOff val="35000"/>
                  </a:schemeClr>
                </a:solidFill>
                <a:latin typeface="Meiryo"/>
                <a:ea typeface="Meiryo"/>
                <a:cs typeface="Meiryo"/>
                <a:sym typeface="Meiryo"/>
              </a:rPr>
              <a:t>対話応答が可能に。要件に応じて</a:t>
            </a:r>
            <a:r>
              <a:rPr lang="en-US" altLang="ja-JP" sz="1600" b="1" dirty="0">
                <a:solidFill>
                  <a:schemeClr val="tx1">
                    <a:lumMod val="65000"/>
                    <a:lumOff val="35000"/>
                  </a:schemeClr>
                </a:solidFill>
                <a:latin typeface="Meiryo"/>
                <a:ea typeface="Meiryo"/>
                <a:cs typeface="Meiryo"/>
                <a:sym typeface="Meiryo"/>
              </a:rPr>
              <a:t>Ai</a:t>
            </a:r>
            <a:r>
              <a:rPr lang="ja-JP" altLang="en-US" sz="1600" b="1" dirty="0">
                <a:solidFill>
                  <a:schemeClr val="tx1">
                    <a:lumMod val="65000"/>
                    <a:lumOff val="35000"/>
                  </a:schemeClr>
                </a:solidFill>
                <a:latin typeface="Meiryo"/>
                <a:ea typeface="Meiryo"/>
                <a:cs typeface="Meiryo"/>
                <a:sym typeface="Meiryo"/>
              </a:rPr>
              <a:t>と有人オペレータの振り分け業務効率化を支援。</a:t>
            </a:r>
            <a:endParaRPr lang="en-US" altLang="ja-JP" sz="1600" b="1" dirty="0">
              <a:solidFill>
                <a:schemeClr val="tx1">
                  <a:lumMod val="65000"/>
                  <a:lumOff val="35000"/>
                </a:schemeClr>
              </a:solidFill>
              <a:latin typeface="Meiryo"/>
              <a:ea typeface="Meiryo"/>
              <a:cs typeface="Meiryo"/>
              <a:sym typeface="Meiryo"/>
            </a:endParaRPr>
          </a:p>
        </p:txBody>
      </p:sp>
    </p:spTree>
    <p:extLst>
      <p:ext uri="{BB962C8B-B14F-4D97-AF65-F5344CB8AC3E}">
        <p14:creationId xmlns:p14="http://schemas.microsoft.com/office/powerpoint/2010/main" val="25245541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11520D-5D7C-2BDD-908B-6251C4BD5729}"/>
            </a:ext>
          </a:extLst>
        </p:cNvPr>
        <p:cNvGrpSpPr/>
        <p:nvPr/>
      </p:nvGrpSpPr>
      <p:grpSpPr>
        <a:xfrm>
          <a:off x="0" y="0"/>
          <a:ext cx="0" cy="0"/>
          <a:chOff x="0" y="0"/>
          <a:chExt cx="0" cy="0"/>
        </a:xfrm>
      </p:grpSpPr>
      <p:sp>
        <p:nvSpPr>
          <p:cNvPr id="2" name="Google Shape;156;p7">
            <a:extLst>
              <a:ext uri="{FF2B5EF4-FFF2-40B4-BE49-F238E27FC236}">
                <a16:creationId xmlns:a16="http://schemas.microsoft.com/office/drawing/2014/main" id="{D9975C92-DB69-EFCA-815F-DEDCC99A793F}"/>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Meiryo"/>
                <a:ea typeface="Meiryo"/>
                <a:cs typeface="Meiryo"/>
                <a:sym typeface="Meiryo"/>
              </a:rPr>
              <a:t>その他 代表的な活用機能</a:t>
            </a:r>
          </a:p>
        </p:txBody>
      </p:sp>
      <p:sp>
        <p:nvSpPr>
          <p:cNvPr id="5" name="正方形/長方形 4">
            <a:extLst>
              <a:ext uri="{FF2B5EF4-FFF2-40B4-BE49-F238E27FC236}">
                <a16:creationId xmlns:a16="http://schemas.microsoft.com/office/drawing/2014/main" id="{B925A5A4-A739-9AD7-5D18-2E4781D36898}"/>
              </a:ext>
            </a:extLst>
          </p:cNvPr>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b="1" dirty="0">
                <a:latin typeface="メイリオ" panose="020B0604030504040204" pitchFamily="50" charset="-128"/>
                <a:ea typeface="メイリオ" panose="020B0604030504040204" pitchFamily="50" charset="-128"/>
              </a:rPr>
              <a:t>LINE</a:t>
            </a:r>
            <a:r>
              <a:rPr lang="ja-JP" altLang="en-US" sz="1600" b="1" dirty="0">
                <a:latin typeface="メイリオ" panose="020B0604030504040204" pitchFamily="50" charset="-128"/>
                <a:ea typeface="メイリオ" panose="020B0604030504040204" pitchFamily="50" charset="-128"/>
              </a:rPr>
              <a:t>でログイン</a:t>
            </a:r>
            <a:endParaRPr lang="en-US" altLang="ja-JP" sz="1600" b="1" dirty="0">
              <a:latin typeface="メイリオ" panose="020B0604030504040204" pitchFamily="50" charset="-128"/>
              <a:ea typeface="メイリオ" panose="020B0604030504040204" pitchFamily="50" charset="-128"/>
            </a:endParaRPr>
          </a:p>
        </p:txBody>
      </p:sp>
      <p:sp>
        <p:nvSpPr>
          <p:cNvPr id="8" name="正方形/長方形 7">
            <a:extLst>
              <a:ext uri="{FF2B5EF4-FFF2-40B4-BE49-F238E27FC236}">
                <a16:creationId xmlns:a16="http://schemas.microsoft.com/office/drawing/2014/main" id="{7C64DE5F-370C-8EB5-6D0C-7DDEB12A3E16}"/>
              </a:ext>
            </a:extLst>
          </p:cNvPr>
          <p:cNvSpPr/>
          <p:nvPr/>
        </p:nvSpPr>
        <p:spPr>
          <a:xfrm>
            <a:off x="4642710" y="6545362"/>
            <a:ext cx="5046574" cy="246221"/>
          </a:xfrm>
          <a:prstGeom prst="rect">
            <a:avLst/>
          </a:prstGeom>
        </p:spPr>
        <p:txBody>
          <a:bodyPr wrap="none">
            <a:spAutoFit/>
          </a:bodyPr>
          <a:lstStyle/>
          <a:p>
            <a:pPr lvl="0">
              <a:buClr>
                <a:srgbClr val="002060"/>
              </a:buClr>
              <a:buSzPts val="1600"/>
            </a:pPr>
            <a:r>
              <a:rPr lang="ja-JP" altLang="en-US" sz="1000" b="1" dirty="0">
                <a:solidFill>
                  <a:schemeClr val="tx1">
                    <a:lumMod val="65000"/>
                    <a:lumOff val="35000"/>
                  </a:schemeClr>
                </a:solidFill>
                <a:latin typeface="Meiryo"/>
                <a:ea typeface="Meiryo"/>
                <a:cs typeface="Meiryo"/>
                <a:sym typeface="Meiryo"/>
              </a:rPr>
              <a:t>引用：</a:t>
            </a:r>
            <a:r>
              <a:rPr lang="en-US" altLang="ja-JP" sz="1000" b="1" dirty="0">
                <a:solidFill>
                  <a:schemeClr val="tx1">
                    <a:lumMod val="65000"/>
                    <a:lumOff val="35000"/>
                  </a:schemeClr>
                </a:solidFill>
                <a:latin typeface="Meiryo"/>
                <a:ea typeface="Meiryo"/>
                <a:cs typeface="Meiryo"/>
                <a:sym typeface="Meiryo"/>
              </a:rPr>
              <a:t>https://prtimes.jp/main/html/rd/p/000003920.000001594.html</a:t>
            </a:r>
          </a:p>
        </p:txBody>
      </p:sp>
      <p:pic>
        <p:nvPicPr>
          <p:cNvPr id="3" name="図 2">
            <a:extLst>
              <a:ext uri="{FF2B5EF4-FFF2-40B4-BE49-F238E27FC236}">
                <a16:creationId xmlns:a16="http://schemas.microsoft.com/office/drawing/2014/main" id="{2F4170E7-BAC4-FD12-01C2-903FF75F192F}"/>
              </a:ext>
            </a:extLst>
          </p:cNvPr>
          <p:cNvPicPr>
            <a:picLocks noChangeAspect="1"/>
          </p:cNvPicPr>
          <p:nvPr/>
        </p:nvPicPr>
        <p:blipFill>
          <a:blip r:embed="rId2"/>
          <a:stretch>
            <a:fillRect/>
          </a:stretch>
        </p:blipFill>
        <p:spPr>
          <a:xfrm>
            <a:off x="414007" y="1995020"/>
            <a:ext cx="9077986" cy="4550342"/>
          </a:xfrm>
          <a:prstGeom prst="rect">
            <a:avLst/>
          </a:prstGeom>
        </p:spPr>
      </p:pic>
      <p:sp>
        <p:nvSpPr>
          <p:cNvPr id="4" name="正方形/長方形 3">
            <a:extLst>
              <a:ext uri="{FF2B5EF4-FFF2-40B4-BE49-F238E27FC236}">
                <a16:creationId xmlns:a16="http://schemas.microsoft.com/office/drawing/2014/main" id="{33EC1AF8-7A08-D8F6-3DC4-3EBE18410E78}"/>
              </a:ext>
            </a:extLst>
          </p:cNvPr>
          <p:cNvSpPr/>
          <p:nvPr/>
        </p:nvSpPr>
        <p:spPr>
          <a:xfrm>
            <a:off x="209578" y="1455366"/>
            <a:ext cx="8925841"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Meiryo"/>
                <a:ea typeface="Meiryo"/>
                <a:cs typeface="Meiryo"/>
                <a:sym typeface="Meiryo"/>
              </a:rPr>
              <a:t>「</a:t>
            </a: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でログイン」は、</a:t>
            </a: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上のユーザー情報を活用して</a:t>
            </a:r>
            <a:r>
              <a:rPr lang="en-US" altLang="ja-JP" sz="1600" b="1" dirty="0">
                <a:solidFill>
                  <a:schemeClr val="tx1">
                    <a:lumMod val="65000"/>
                    <a:lumOff val="35000"/>
                  </a:schemeClr>
                </a:solidFill>
                <a:latin typeface="Meiryo"/>
                <a:ea typeface="Meiryo"/>
                <a:cs typeface="Meiryo"/>
                <a:sym typeface="Meiryo"/>
              </a:rPr>
              <a:t>WEB</a:t>
            </a:r>
            <a:r>
              <a:rPr lang="ja-JP" altLang="en-US" sz="1600" b="1" dirty="0">
                <a:solidFill>
                  <a:schemeClr val="tx1">
                    <a:lumMod val="65000"/>
                    <a:lumOff val="35000"/>
                  </a:schemeClr>
                </a:solidFill>
                <a:latin typeface="Meiryo"/>
                <a:ea typeface="Meiryo"/>
                <a:cs typeface="Meiryo"/>
                <a:sym typeface="Meiryo"/>
              </a:rPr>
              <a:t>サイト登録が出来る仕組み。</a:t>
            </a:r>
            <a:endParaRPr lang="en-US" altLang="ja-JP" sz="1600" b="1" dirty="0">
              <a:solidFill>
                <a:schemeClr val="tx1">
                  <a:lumMod val="65000"/>
                  <a:lumOff val="35000"/>
                </a:schemeClr>
              </a:solidFill>
              <a:latin typeface="Meiryo"/>
              <a:ea typeface="Meiryo"/>
              <a:cs typeface="Meiryo"/>
              <a:sym typeface="Meiryo"/>
            </a:endParaRPr>
          </a:p>
          <a:p>
            <a:pPr lvl="0">
              <a:buClr>
                <a:srgbClr val="002060"/>
              </a:buClr>
              <a:buSzPts val="1600"/>
            </a:pPr>
            <a:r>
              <a:rPr lang="en-US" altLang="ja-JP" sz="1600" b="1" dirty="0">
                <a:solidFill>
                  <a:schemeClr val="tx1">
                    <a:lumMod val="65000"/>
                    <a:lumOff val="35000"/>
                  </a:schemeClr>
                </a:solidFill>
                <a:latin typeface="Meiryo"/>
                <a:ea typeface="Meiryo"/>
                <a:cs typeface="Meiryo"/>
                <a:sym typeface="Meiryo"/>
              </a:rPr>
              <a:t>ID</a:t>
            </a:r>
            <a:r>
              <a:rPr lang="ja-JP" altLang="en-US" sz="1600" b="1" dirty="0">
                <a:solidFill>
                  <a:schemeClr val="tx1">
                    <a:lumMod val="65000"/>
                    <a:lumOff val="35000"/>
                  </a:schemeClr>
                </a:solidFill>
                <a:latin typeface="Meiryo"/>
                <a:ea typeface="Meiryo"/>
                <a:cs typeface="Meiryo"/>
                <a:sym typeface="Meiryo"/>
              </a:rPr>
              <a:t>連携を完了することにより、サービス</a:t>
            </a:r>
            <a:r>
              <a:rPr lang="en-US" altLang="ja-JP" sz="1600" b="1" dirty="0">
                <a:solidFill>
                  <a:schemeClr val="tx1">
                    <a:lumMod val="65000"/>
                    <a:lumOff val="35000"/>
                  </a:schemeClr>
                </a:solidFill>
                <a:latin typeface="Meiryo"/>
                <a:ea typeface="Meiryo"/>
                <a:cs typeface="Meiryo"/>
                <a:sym typeface="Meiryo"/>
              </a:rPr>
              <a:t>(WEB) </a:t>
            </a:r>
            <a:r>
              <a:rPr lang="ja-JP" altLang="en-US" sz="1600" b="1" dirty="0">
                <a:solidFill>
                  <a:schemeClr val="tx1">
                    <a:lumMod val="65000"/>
                    <a:lumOff val="35000"/>
                  </a:schemeClr>
                </a:solidFill>
                <a:latin typeface="Meiryo"/>
                <a:ea typeface="Meiryo"/>
                <a:cs typeface="Meiryo"/>
                <a:sym typeface="Meiryo"/>
              </a:rPr>
              <a:t>⇔ </a:t>
            </a:r>
            <a:r>
              <a:rPr lang="en-US" altLang="ja-JP" sz="1600" b="1" dirty="0">
                <a:solidFill>
                  <a:schemeClr val="tx1">
                    <a:lumMod val="65000"/>
                    <a:lumOff val="35000"/>
                  </a:schemeClr>
                </a:solidFill>
                <a:latin typeface="Meiryo"/>
                <a:ea typeface="Meiryo"/>
                <a:cs typeface="Meiryo"/>
                <a:sym typeface="Meiryo"/>
              </a:rPr>
              <a:t>LINE </a:t>
            </a:r>
            <a:r>
              <a:rPr lang="ja-JP" altLang="en-US" sz="1600" b="1" dirty="0">
                <a:solidFill>
                  <a:schemeClr val="tx1">
                    <a:lumMod val="65000"/>
                    <a:lumOff val="35000"/>
                  </a:schemeClr>
                </a:solidFill>
                <a:latin typeface="Meiryo"/>
                <a:ea typeface="Meiryo"/>
                <a:cs typeface="Meiryo"/>
                <a:sym typeface="Meiryo"/>
              </a:rPr>
              <a:t>での効果的なメッセージが可能に。</a:t>
            </a:r>
            <a:endParaRPr lang="en-US" altLang="ja-JP" sz="1600" b="1" dirty="0">
              <a:solidFill>
                <a:schemeClr val="tx1">
                  <a:lumMod val="65000"/>
                  <a:lumOff val="35000"/>
                </a:schemeClr>
              </a:solidFill>
              <a:latin typeface="Meiryo"/>
              <a:ea typeface="Meiryo"/>
              <a:cs typeface="Meiryo"/>
              <a:sym typeface="Meiryo"/>
            </a:endParaRPr>
          </a:p>
        </p:txBody>
      </p:sp>
    </p:spTree>
    <p:extLst>
      <p:ext uri="{BB962C8B-B14F-4D97-AF65-F5344CB8AC3E}">
        <p14:creationId xmlns:p14="http://schemas.microsoft.com/office/powerpoint/2010/main" val="419406833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752;p28">
            <a:extLst>
              <a:ext uri="{FF2B5EF4-FFF2-40B4-BE49-F238E27FC236}">
                <a16:creationId xmlns:a16="http://schemas.microsoft.com/office/drawing/2014/main" id="{E371F4F6-3F93-7830-595E-799AA69EA97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提供施策について</a:t>
            </a:r>
          </a:p>
        </p:txBody>
      </p:sp>
      <p:sp>
        <p:nvSpPr>
          <p:cNvPr id="2" name="角丸四角形 8">
            <a:extLst>
              <a:ext uri="{FF2B5EF4-FFF2-40B4-BE49-F238E27FC236}">
                <a16:creationId xmlns:a16="http://schemas.microsoft.com/office/drawing/2014/main" id="{FD5318E5-8B5E-2D7D-A660-11170C412EF2}"/>
              </a:ext>
            </a:extLst>
          </p:cNvPr>
          <p:cNvSpPr/>
          <p:nvPr/>
        </p:nvSpPr>
        <p:spPr>
          <a:xfrm>
            <a:off x="6663036" y="409302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3" name="Google Shape;178;p7">
            <a:extLst>
              <a:ext uri="{FF2B5EF4-FFF2-40B4-BE49-F238E27FC236}">
                <a16:creationId xmlns:a16="http://schemas.microsoft.com/office/drawing/2014/main" id="{5B7BDCE2-F32C-98D5-860A-09F3912D9718}"/>
              </a:ext>
            </a:extLst>
          </p:cNvPr>
          <p:cNvSpPr txBox="1"/>
          <p:nvPr/>
        </p:nvSpPr>
        <p:spPr>
          <a:xfrm>
            <a:off x="6756034" y="4153224"/>
            <a:ext cx="2800326" cy="67539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オフライン動線</a:t>
            </a:r>
            <a:endParaRPr lang="en-US" altLang="ja-JP" sz="2000" b="1" dirty="0">
              <a:solidFill>
                <a:srgbClr val="002060"/>
              </a:solidFill>
              <a:latin typeface="Meiryo"/>
              <a:ea typeface="Meiryo"/>
              <a:cs typeface="Meiryo"/>
              <a:sym typeface="Meiryo"/>
            </a:endParaRPr>
          </a:p>
          <a:p>
            <a:pPr lvl="0" algn="ctr">
              <a:buClr>
                <a:schemeClr val="dk1"/>
              </a:buClr>
              <a:buSzPts val="1500"/>
            </a:pPr>
            <a:r>
              <a:rPr lang="ja-JP" altLang="en-US" sz="1400" b="1" dirty="0">
                <a:solidFill>
                  <a:srgbClr val="002060"/>
                </a:solidFill>
                <a:latin typeface="Meiryo"/>
                <a:ea typeface="Meiryo"/>
                <a:cs typeface="Meiryo"/>
                <a:sym typeface="Meiryo"/>
              </a:rPr>
              <a:t>ニュースリリース等</a:t>
            </a:r>
            <a:endParaRPr lang="en-US" altLang="ja-JP" sz="1400" b="1" dirty="0">
              <a:solidFill>
                <a:srgbClr val="002060"/>
              </a:solidFill>
              <a:latin typeface="Meiryo"/>
              <a:ea typeface="Meiryo"/>
              <a:cs typeface="Meiryo"/>
              <a:sym typeface="Meiryo"/>
            </a:endParaRPr>
          </a:p>
        </p:txBody>
      </p:sp>
      <p:sp>
        <p:nvSpPr>
          <p:cNvPr id="5" name="角丸四角形 7">
            <a:extLst>
              <a:ext uri="{FF2B5EF4-FFF2-40B4-BE49-F238E27FC236}">
                <a16:creationId xmlns:a16="http://schemas.microsoft.com/office/drawing/2014/main" id="{467076C6-3952-617E-47B1-6B2C5D00137B}"/>
              </a:ext>
            </a:extLst>
          </p:cNvPr>
          <p:cNvSpPr/>
          <p:nvPr/>
        </p:nvSpPr>
        <p:spPr>
          <a:xfrm>
            <a:off x="3462784" y="4090156"/>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6" name="Google Shape;178;p7">
            <a:extLst>
              <a:ext uri="{FF2B5EF4-FFF2-40B4-BE49-F238E27FC236}">
                <a16:creationId xmlns:a16="http://schemas.microsoft.com/office/drawing/2014/main" id="{421A0D53-7019-D33A-B0BD-DBDF4AAB2FEE}"/>
              </a:ext>
            </a:extLst>
          </p:cNvPr>
          <p:cNvSpPr txBox="1"/>
          <p:nvPr/>
        </p:nvSpPr>
        <p:spPr>
          <a:xfrm>
            <a:off x="3563068" y="4245557"/>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Meiryo"/>
                <a:ea typeface="Meiryo"/>
                <a:cs typeface="Meiryo"/>
                <a:sym typeface="Meiryo"/>
              </a:rPr>
              <a:t>WEB</a:t>
            </a:r>
            <a:r>
              <a:rPr lang="ja-JP" altLang="en-US" sz="2000" b="1" dirty="0">
                <a:solidFill>
                  <a:srgbClr val="002060"/>
                </a:solidFill>
                <a:latin typeface="Meiryo"/>
                <a:ea typeface="Meiryo"/>
                <a:cs typeface="Meiryo"/>
                <a:sym typeface="Meiryo"/>
              </a:rPr>
              <a:t>サイト動線整備</a:t>
            </a:r>
            <a:endParaRPr lang="en-US" altLang="ja-JP" sz="2000" b="1" dirty="0">
              <a:solidFill>
                <a:srgbClr val="002060"/>
              </a:solidFill>
              <a:latin typeface="Meiryo"/>
              <a:ea typeface="Meiryo"/>
              <a:cs typeface="Meiryo"/>
              <a:sym typeface="Meiryo"/>
            </a:endParaRPr>
          </a:p>
        </p:txBody>
      </p:sp>
      <p:sp>
        <p:nvSpPr>
          <p:cNvPr id="7" name="角丸四角形 8">
            <a:extLst>
              <a:ext uri="{FF2B5EF4-FFF2-40B4-BE49-F238E27FC236}">
                <a16:creationId xmlns:a16="http://schemas.microsoft.com/office/drawing/2014/main" id="{6248FCF3-6E9E-CB4D-40D9-251911AC2CEF}"/>
              </a:ext>
            </a:extLst>
          </p:cNvPr>
          <p:cNvSpPr/>
          <p:nvPr/>
        </p:nvSpPr>
        <p:spPr>
          <a:xfrm>
            <a:off x="262251" y="409302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8" name="Google Shape;178;p7">
            <a:extLst>
              <a:ext uri="{FF2B5EF4-FFF2-40B4-BE49-F238E27FC236}">
                <a16:creationId xmlns:a16="http://schemas.microsoft.com/office/drawing/2014/main" id="{E5C2AF7A-FA8D-3471-762D-FC84F5818E88}"/>
              </a:ext>
            </a:extLst>
          </p:cNvPr>
          <p:cNvSpPr txBox="1"/>
          <p:nvPr/>
        </p:nvSpPr>
        <p:spPr>
          <a:xfrm>
            <a:off x="598393" y="4153224"/>
            <a:ext cx="2314319" cy="644614"/>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友だち紹介</a:t>
            </a:r>
            <a:endParaRPr lang="en-US" altLang="ja-JP" sz="2000" b="1" dirty="0">
              <a:solidFill>
                <a:srgbClr val="002060"/>
              </a:solidFill>
              <a:latin typeface="Meiryo"/>
              <a:ea typeface="Meiryo"/>
              <a:cs typeface="Meiryo"/>
              <a:sym typeface="Meiryo"/>
            </a:endParaRPr>
          </a:p>
          <a:p>
            <a:pPr lvl="0" algn="ctr">
              <a:buClr>
                <a:schemeClr val="dk1"/>
              </a:buClr>
              <a:buSzPts val="1500"/>
            </a:pPr>
            <a:r>
              <a:rPr lang="ja-JP" altLang="en-US" sz="1200" b="1" dirty="0">
                <a:solidFill>
                  <a:srgbClr val="002060"/>
                </a:solidFill>
                <a:latin typeface="Meiryo"/>
                <a:ea typeface="Meiryo"/>
                <a:cs typeface="Meiryo"/>
                <a:sym typeface="Meiryo"/>
              </a:rPr>
              <a:t>（</a:t>
            </a:r>
            <a:r>
              <a:rPr lang="en-US" altLang="ja-JP" sz="1200" b="1" dirty="0">
                <a:solidFill>
                  <a:srgbClr val="002060"/>
                </a:solidFill>
                <a:latin typeface="Meiryo"/>
                <a:ea typeface="Meiryo"/>
                <a:cs typeface="Meiryo"/>
                <a:sym typeface="Meiryo"/>
              </a:rPr>
              <a:t>LINE</a:t>
            </a:r>
            <a:r>
              <a:rPr lang="ja-JP" altLang="en-US" sz="1200" b="1" dirty="0">
                <a:solidFill>
                  <a:srgbClr val="002060"/>
                </a:solidFill>
                <a:latin typeface="Meiryo"/>
                <a:ea typeface="Meiryo"/>
                <a:cs typeface="Meiryo"/>
                <a:sym typeface="Meiryo"/>
              </a:rPr>
              <a:t>ポイントコネクト）</a:t>
            </a:r>
            <a:endParaRPr lang="en-US" altLang="ja-JP" sz="1200" b="1" dirty="0">
              <a:solidFill>
                <a:srgbClr val="002060"/>
              </a:solidFill>
              <a:latin typeface="Meiryo"/>
              <a:ea typeface="Meiryo"/>
              <a:cs typeface="Meiryo"/>
              <a:sym typeface="Meiryo"/>
            </a:endParaRPr>
          </a:p>
        </p:txBody>
      </p:sp>
      <p:sp>
        <p:nvSpPr>
          <p:cNvPr id="9" name="角丸四角形 8">
            <a:extLst>
              <a:ext uri="{FF2B5EF4-FFF2-40B4-BE49-F238E27FC236}">
                <a16:creationId xmlns:a16="http://schemas.microsoft.com/office/drawing/2014/main" id="{B44E38B3-9697-65AF-1E0A-CE143B30BA15}"/>
              </a:ext>
            </a:extLst>
          </p:cNvPr>
          <p:cNvSpPr/>
          <p:nvPr/>
        </p:nvSpPr>
        <p:spPr>
          <a:xfrm>
            <a:off x="6663036" y="1859432"/>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10" name="Google Shape;178;p7">
            <a:extLst>
              <a:ext uri="{FF2B5EF4-FFF2-40B4-BE49-F238E27FC236}">
                <a16:creationId xmlns:a16="http://schemas.microsoft.com/office/drawing/2014/main" id="{227F189E-B3B2-1E1B-232D-81C3B9F95AF9}"/>
              </a:ext>
            </a:extLst>
          </p:cNvPr>
          <p:cNvSpPr txBox="1"/>
          <p:nvPr/>
        </p:nvSpPr>
        <p:spPr>
          <a:xfrm>
            <a:off x="6756034" y="2011960"/>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Meiryo"/>
                <a:ea typeface="Meiryo"/>
                <a:cs typeface="Meiryo"/>
                <a:sym typeface="Meiryo"/>
              </a:rPr>
              <a:t>LINE</a:t>
            </a:r>
            <a:r>
              <a:rPr lang="ja-JP" altLang="en-US" sz="2000" b="1" dirty="0">
                <a:solidFill>
                  <a:srgbClr val="002060"/>
                </a:solidFill>
                <a:latin typeface="Meiryo"/>
                <a:ea typeface="Meiryo"/>
                <a:cs typeface="Meiryo"/>
                <a:sym typeface="Meiryo"/>
              </a:rPr>
              <a:t>ポイント</a:t>
            </a:r>
            <a:r>
              <a:rPr lang="en-US" altLang="ja-JP" sz="2000" b="1" dirty="0">
                <a:solidFill>
                  <a:srgbClr val="002060"/>
                </a:solidFill>
                <a:latin typeface="Meiryo"/>
                <a:ea typeface="Meiryo"/>
                <a:cs typeface="Meiryo"/>
                <a:sym typeface="Meiryo"/>
              </a:rPr>
              <a:t>Ads</a:t>
            </a:r>
            <a:endParaRPr lang="en-US" altLang="ja-JP" sz="1400" b="1" dirty="0">
              <a:solidFill>
                <a:srgbClr val="002060"/>
              </a:solidFill>
              <a:latin typeface="Meiryo"/>
              <a:ea typeface="Meiryo"/>
              <a:cs typeface="Meiryo"/>
              <a:sym typeface="Meiryo"/>
            </a:endParaRPr>
          </a:p>
        </p:txBody>
      </p:sp>
      <p:sp>
        <p:nvSpPr>
          <p:cNvPr id="11" name="角丸四角形 7">
            <a:extLst>
              <a:ext uri="{FF2B5EF4-FFF2-40B4-BE49-F238E27FC236}">
                <a16:creationId xmlns:a16="http://schemas.microsoft.com/office/drawing/2014/main" id="{246EA7DE-13D3-9A9C-9E03-EF6250D306DC}"/>
              </a:ext>
            </a:extLst>
          </p:cNvPr>
          <p:cNvSpPr/>
          <p:nvPr/>
        </p:nvSpPr>
        <p:spPr>
          <a:xfrm>
            <a:off x="3462784" y="185655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12" name="Google Shape;178;p7">
            <a:extLst>
              <a:ext uri="{FF2B5EF4-FFF2-40B4-BE49-F238E27FC236}">
                <a16:creationId xmlns:a16="http://schemas.microsoft.com/office/drawing/2014/main" id="{5045D5F0-5F86-568D-455F-0F514426CF62}"/>
              </a:ext>
            </a:extLst>
          </p:cNvPr>
          <p:cNvSpPr txBox="1"/>
          <p:nvPr/>
        </p:nvSpPr>
        <p:spPr>
          <a:xfrm>
            <a:off x="3563068" y="2011960"/>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スタンプ施策</a:t>
            </a:r>
            <a:endParaRPr lang="en-US" altLang="ja-JP" sz="2000" b="1" dirty="0">
              <a:solidFill>
                <a:srgbClr val="002060"/>
              </a:solidFill>
              <a:latin typeface="Meiryo"/>
              <a:ea typeface="Meiryo"/>
              <a:cs typeface="Meiryo"/>
              <a:sym typeface="Meiryo"/>
            </a:endParaRPr>
          </a:p>
        </p:txBody>
      </p:sp>
      <p:sp>
        <p:nvSpPr>
          <p:cNvPr id="13" name="角丸四角形 8">
            <a:extLst>
              <a:ext uri="{FF2B5EF4-FFF2-40B4-BE49-F238E27FC236}">
                <a16:creationId xmlns:a16="http://schemas.microsoft.com/office/drawing/2014/main" id="{3600FC78-1A6B-42D9-C939-11449F5EA1D7}"/>
              </a:ext>
            </a:extLst>
          </p:cNvPr>
          <p:cNvSpPr/>
          <p:nvPr/>
        </p:nvSpPr>
        <p:spPr>
          <a:xfrm>
            <a:off x="262251" y="1859432"/>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14" name="Google Shape;178;p7">
            <a:extLst>
              <a:ext uri="{FF2B5EF4-FFF2-40B4-BE49-F238E27FC236}">
                <a16:creationId xmlns:a16="http://schemas.microsoft.com/office/drawing/2014/main" id="{DE80A45D-1C7E-C6F5-E8EB-2D7BDFC995E0}"/>
              </a:ext>
            </a:extLst>
          </p:cNvPr>
          <p:cNvSpPr txBox="1"/>
          <p:nvPr/>
        </p:nvSpPr>
        <p:spPr>
          <a:xfrm>
            <a:off x="598393" y="2011960"/>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Meiryo"/>
                <a:ea typeface="Meiryo"/>
                <a:cs typeface="Meiryo"/>
                <a:sym typeface="Meiryo"/>
              </a:rPr>
              <a:t>CPF</a:t>
            </a:r>
            <a:r>
              <a:rPr lang="ja-JP" altLang="en-US" sz="2000" b="1" dirty="0">
                <a:solidFill>
                  <a:srgbClr val="002060"/>
                </a:solidFill>
                <a:latin typeface="Meiryo"/>
                <a:ea typeface="Meiryo"/>
                <a:cs typeface="Meiryo"/>
                <a:sym typeface="Meiryo"/>
              </a:rPr>
              <a:t>広告</a:t>
            </a:r>
            <a:endParaRPr lang="en-US" altLang="ja-JP" sz="1200" b="1" dirty="0">
              <a:solidFill>
                <a:srgbClr val="002060"/>
              </a:solidFill>
              <a:latin typeface="Meiryo"/>
              <a:ea typeface="Meiryo"/>
              <a:cs typeface="Meiryo"/>
              <a:sym typeface="Meiryo"/>
            </a:endParaRPr>
          </a:p>
        </p:txBody>
      </p:sp>
      <p:sp>
        <p:nvSpPr>
          <p:cNvPr id="16" name="テキスト ボックス 15">
            <a:extLst>
              <a:ext uri="{FF2B5EF4-FFF2-40B4-BE49-F238E27FC236}">
                <a16:creationId xmlns:a16="http://schemas.microsoft.com/office/drawing/2014/main" id="{E2BE065C-FC2C-F8DB-8D4D-6A6CF2961B74}"/>
              </a:ext>
            </a:extLst>
          </p:cNvPr>
          <p:cNvSpPr txBox="1"/>
          <p:nvPr/>
        </p:nvSpPr>
        <p:spPr>
          <a:xfrm>
            <a:off x="6663036" y="5212007"/>
            <a:ext cx="2980713" cy="369332"/>
          </a:xfrm>
          <a:prstGeom prst="rect">
            <a:avLst/>
          </a:prstGeom>
          <a:noFill/>
        </p:spPr>
        <p:txBody>
          <a:bodyPr wrap="square">
            <a:spAutoFit/>
          </a:bodyPr>
          <a:lstStyle/>
          <a:p>
            <a:pPr algn="ctr"/>
            <a:r>
              <a:rPr lang="ja-JP" altLang="en-US" sz="1600" dirty="0">
                <a:latin typeface="Meiryo"/>
                <a:ea typeface="Meiryo"/>
                <a:sym typeface="Meiryo"/>
              </a:rPr>
              <a:t>コンサル発注</a:t>
            </a:r>
            <a:r>
              <a:rPr lang="ja-JP" altLang="en-US" sz="1200" dirty="0">
                <a:latin typeface="Meiryo"/>
                <a:ea typeface="Meiryo"/>
                <a:sym typeface="Meiryo"/>
              </a:rPr>
              <a:t>であれば </a:t>
            </a:r>
            <a:r>
              <a:rPr lang="ja-JP" altLang="en-US" b="1" dirty="0">
                <a:solidFill>
                  <a:srgbClr val="FF0000"/>
                </a:solidFill>
                <a:latin typeface="Meiryo"/>
                <a:ea typeface="Meiryo"/>
                <a:sym typeface="Meiryo"/>
              </a:rPr>
              <a:t>無償</a:t>
            </a:r>
            <a:endParaRPr lang="ja-JP" altLang="en-US" dirty="0">
              <a:solidFill>
                <a:srgbClr val="FF0000"/>
              </a:solidFill>
            </a:endParaRPr>
          </a:p>
        </p:txBody>
      </p:sp>
      <p:sp>
        <p:nvSpPr>
          <p:cNvPr id="18" name="正方形/長方形 17">
            <a:extLst>
              <a:ext uri="{FF2B5EF4-FFF2-40B4-BE49-F238E27FC236}">
                <a16:creationId xmlns:a16="http://schemas.microsoft.com/office/drawing/2014/main" id="{6E06F22F-E0C7-5FD3-4405-6102987BD5DF}"/>
              </a:ext>
            </a:extLst>
          </p:cNvPr>
          <p:cNvSpPr/>
          <p:nvPr/>
        </p:nvSpPr>
        <p:spPr>
          <a:xfrm>
            <a:off x="519852" y="4164059"/>
            <a:ext cx="2453983"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正方形/長方形 18">
            <a:extLst>
              <a:ext uri="{FF2B5EF4-FFF2-40B4-BE49-F238E27FC236}">
                <a16:creationId xmlns:a16="http://schemas.microsoft.com/office/drawing/2014/main" id="{B0050C1C-B390-1662-9BFB-21BE29D83F9A}"/>
              </a:ext>
            </a:extLst>
          </p:cNvPr>
          <p:cNvSpPr/>
          <p:nvPr/>
        </p:nvSpPr>
        <p:spPr>
          <a:xfrm>
            <a:off x="3613540" y="4162491"/>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正方形/長方形 19">
            <a:extLst>
              <a:ext uri="{FF2B5EF4-FFF2-40B4-BE49-F238E27FC236}">
                <a16:creationId xmlns:a16="http://schemas.microsoft.com/office/drawing/2014/main" id="{D5EE4289-C478-AD62-AE99-69AE5A069F77}"/>
              </a:ext>
            </a:extLst>
          </p:cNvPr>
          <p:cNvSpPr/>
          <p:nvPr/>
        </p:nvSpPr>
        <p:spPr>
          <a:xfrm>
            <a:off x="6825208" y="4153224"/>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正方形/長方形 20">
            <a:extLst>
              <a:ext uri="{FF2B5EF4-FFF2-40B4-BE49-F238E27FC236}">
                <a16:creationId xmlns:a16="http://schemas.microsoft.com/office/drawing/2014/main" id="{1396C237-CE79-2CD6-FC3A-C050A56E6C7C}"/>
              </a:ext>
            </a:extLst>
          </p:cNvPr>
          <p:cNvSpPr/>
          <p:nvPr/>
        </p:nvSpPr>
        <p:spPr>
          <a:xfrm>
            <a:off x="6825208" y="1936348"/>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正方形/長方形 21">
            <a:extLst>
              <a:ext uri="{FF2B5EF4-FFF2-40B4-BE49-F238E27FC236}">
                <a16:creationId xmlns:a16="http://schemas.microsoft.com/office/drawing/2014/main" id="{4F441C91-30FF-B254-D31A-0BF09A82F0CC}"/>
              </a:ext>
            </a:extLst>
          </p:cNvPr>
          <p:cNvSpPr/>
          <p:nvPr/>
        </p:nvSpPr>
        <p:spPr>
          <a:xfrm>
            <a:off x="405862" y="1938891"/>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正方形/長方形 22">
            <a:extLst>
              <a:ext uri="{FF2B5EF4-FFF2-40B4-BE49-F238E27FC236}">
                <a16:creationId xmlns:a16="http://schemas.microsoft.com/office/drawing/2014/main" id="{0444B2FB-B600-A32F-FC5C-CA7414D41D09}"/>
              </a:ext>
            </a:extLst>
          </p:cNvPr>
          <p:cNvSpPr/>
          <p:nvPr/>
        </p:nvSpPr>
        <p:spPr>
          <a:xfrm>
            <a:off x="3627794" y="1936348"/>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テキスト ボックス 24">
            <a:extLst>
              <a:ext uri="{FF2B5EF4-FFF2-40B4-BE49-F238E27FC236}">
                <a16:creationId xmlns:a16="http://schemas.microsoft.com/office/drawing/2014/main" id="{0EB1A30C-0F7E-2CA8-AFC7-86F4D2F0F62E}"/>
              </a:ext>
            </a:extLst>
          </p:cNvPr>
          <p:cNvSpPr txBox="1"/>
          <p:nvPr/>
        </p:nvSpPr>
        <p:spPr>
          <a:xfrm>
            <a:off x="3457175" y="5206261"/>
            <a:ext cx="2980713" cy="369332"/>
          </a:xfrm>
          <a:prstGeom prst="rect">
            <a:avLst/>
          </a:prstGeom>
          <a:noFill/>
        </p:spPr>
        <p:txBody>
          <a:bodyPr wrap="square">
            <a:spAutoFit/>
          </a:bodyPr>
          <a:lstStyle/>
          <a:p>
            <a:pPr algn="ctr"/>
            <a:r>
              <a:rPr lang="ja-JP" altLang="en-US" sz="1600" dirty="0">
                <a:latin typeface="Meiryo"/>
                <a:ea typeface="Meiryo"/>
                <a:sym typeface="Meiryo"/>
              </a:rPr>
              <a:t>コンサル発注</a:t>
            </a:r>
            <a:r>
              <a:rPr lang="ja-JP" altLang="en-US" sz="1200" dirty="0">
                <a:latin typeface="Meiryo"/>
                <a:ea typeface="Meiryo"/>
                <a:sym typeface="Meiryo"/>
              </a:rPr>
              <a:t>であれば </a:t>
            </a:r>
            <a:r>
              <a:rPr lang="ja-JP" altLang="en-US" b="1" dirty="0">
                <a:solidFill>
                  <a:srgbClr val="FF0000"/>
                </a:solidFill>
                <a:latin typeface="Meiryo"/>
                <a:ea typeface="Meiryo"/>
                <a:sym typeface="Meiryo"/>
              </a:rPr>
              <a:t>無償</a:t>
            </a:r>
            <a:endParaRPr lang="ja-JP" altLang="en-US" dirty="0">
              <a:solidFill>
                <a:srgbClr val="FF0000"/>
              </a:solidFill>
            </a:endParaRPr>
          </a:p>
        </p:txBody>
      </p:sp>
      <p:sp>
        <p:nvSpPr>
          <p:cNvPr id="27" name="テキスト ボックス 26">
            <a:extLst>
              <a:ext uri="{FF2B5EF4-FFF2-40B4-BE49-F238E27FC236}">
                <a16:creationId xmlns:a16="http://schemas.microsoft.com/office/drawing/2014/main" id="{E132920A-5E9A-4275-387D-200CCBF9F676}"/>
              </a:ext>
            </a:extLst>
          </p:cNvPr>
          <p:cNvSpPr txBox="1"/>
          <p:nvPr/>
        </p:nvSpPr>
        <p:spPr>
          <a:xfrm>
            <a:off x="251033" y="5206261"/>
            <a:ext cx="2980713" cy="369332"/>
          </a:xfrm>
          <a:prstGeom prst="rect">
            <a:avLst/>
          </a:prstGeom>
          <a:noFill/>
        </p:spPr>
        <p:txBody>
          <a:bodyPr wrap="square">
            <a:spAutoFit/>
          </a:bodyPr>
          <a:lstStyle/>
          <a:p>
            <a:pPr algn="ctr"/>
            <a:r>
              <a:rPr lang="ja-JP" altLang="en-US" b="1" dirty="0">
                <a:solidFill>
                  <a:schemeClr val="tx1">
                    <a:lumMod val="50000"/>
                    <a:lumOff val="50000"/>
                  </a:schemeClr>
                </a:solidFill>
                <a:latin typeface="Meiryo"/>
                <a:ea typeface="Meiryo"/>
                <a:sym typeface="Meiryo"/>
              </a:rPr>
              <a:t>サービス停止中</a:t>
            </a:r>
            <a:endParaRPr lang="ja-JP" altLang="en-US" b="1" dirty="0">
              <a:solidFill>
                <a:schemeClr val="tx1">
                  <a:lumMod val="50000"/>
                  <a:lumOff val="50000"/>
                </a:schemeClr>
              </a:solidFill>
            </a:endParaRPr>
          </a:p>
        </p:txBody>
      </p:sp>
      <p:sp>
        <p:nvSpPr>
          <p:cNvPr id="28" name="テキスト ボックス 27">
            <a:extLst>
              <a:ext uri="{FF2B5EF4-FFF2-40B4-BE49-F238E27FC236}">
                <a16:creationId xmlns:a16="http://schemas.microsoft.com/office/drawing/2014/main" id="{F730E614-90C4-E99C-1611-CBB84BD8881C}"/>
              </a:ext>
            </a:extLst>
          </p:cNvPr>
          <p:cNvSpPr txBox="1"/>
          <p:nvPr/>
        </p:nvSpPr>
        <p:spPr>
          <a:xfrm>
            <a:off x="6680454" y="2978410"/>
            <a:ext cx="2980713" cy="400110"/>
          </a:xfrm>
          <a:prstGeom prst="rect">
            <a:avLst/>
          </a:prstGeom>
          <a:noFill/>
        </p:spPr>
        <p:txBody>
          <a:bodyPr wrap="square">
            <a:spAutoFit/>
          </a:bodyPr>
          <a:lstStyle/>
          <a:p>
            <a:pPr algn="ctr"/>
            <a:r>
              <a:rPr lang="en-US" altLang="ja-JP" sz="2000" b="1" dirty="0">
                <a:solidFill>
                  <a:srgbClr val="FF0000"/>
                </a:solidFill>
                <a:latin typeface="Meiryo"/>
                <a:ea typeface="Meiryo"/>
                <a:sym typeface="Meiryo"/>
              </a:rPr>
              <a:t>200</a:t>
            </a:r>
            <a:r>
              <a:rPr lang="ja-JP" altLang="en-US" sz="2000" b="1" dirty="0">
                <a:solidFill>
                  <a:srgbClr val="FF0000"/>
                </a:solidFill>
                <a:latin typeface="Meiryo"/>
                <a:ea typeface="Meiryo"/>
                <a:sym typeface="Meiryo"/>
              </a:rPr>
              <a:t>万円</a:t>
            </a:r>
            <a:r>
              <a:rPr lang="en-US" altLang="ja-JP" sz="2000" b="1" dirty="0">
                <a:solidFill>
                  <a:srgbClr val="FF0000"/>
                </a:solidFill>
                <a:latin typeface="Meiryo"/>
                <a:ea typeface="Meiryo"/>
                <a:sym typeface="Meiryo"/>
              </a:rPr>
              <a:t>~</a:t>
            </a:r>
            <a:r>
              <a:rPr lang="ja-JP" altLang="en-US" sz="1200" dirty="0">
                <a:latin typeface="Meiryo"/>
                <a:ea typeface="Meiryo"/>
                <a:sym typeface="Meiryo"/>
              </a:rPr>
              <a:t>（期間合計）</a:t>
            </a:r>
            <a:endParaRPr lang="ja-JP" altLang="en-US" sz="2000" dirty="0">
              <a:solidFill>
                <a:srgbClr val="FF0000"/>
              </a:solidFill>
            </a:endParaRPr>
          </a:p>
        </p:txBody>
      </p:sp>
      <p:sp>
        <p:nvSpPr>
          <p:cNvPr id="29" name="テキスト ボックス 28">
            <a:extLst>
              <a:ext uri="{FF2B5EF4-FFF2-40B4-BE49-F238E27FC236}">
                <a16:creationId xmlns:a16="http://schemas.microsoft.com/office/drawing/2014/main" id="{BD4CB354-FCE0-FE83-2308-4BB89D24B9EE}"/>
              </a:ext>
            </a:extLst>
          </p:cNvPr>
          <p:cNvSpPr txBox="1"/>
          <p:nvPr/>
        </p:nvSpPr>
        <p:spPr>
          <a:xfrm>
            <a:off x="3474593" y="2972664"/>
            <a:ext cx="2980713" cy="400110"/>
          </a:xfrm>
          <a:prstGeom prst="rect">
            <a:avLst/>
          </a:prstGeom>
          <a:noFill/>
        </p:spPr>
        <p:txBody>
          <a:bodyPr wrap="square">
            <a:spAutoFit/>
          </a:bodyPr>
          <a:lstStyle/>
          <a:p>
            <a:pPr algn="ctr"/>
            <a:r>
              <a:rPr lang="en-US" altLang="ja-JP" sz="2000" b="1" dirty="0">
                <a:solidFill>
                  <a:srgbClr val="FF0000"/>
                </a:solidFill>
                <a:latin typeface="Meiryo"/>
                <a:ea typeface="Meiryo"/>
                <a:sym typeface="Meiryo"/>
              </a:rPr>
              <a:t>200</a:t>
            </a:r>
            <a:r>
              <a:rPr lang="ja-JP" altLang="en-US" sz="2000" b="1" dirty="0">
                <a:solidFill>
                  <a:srgbClr val="FF0000"/>
                </a:solidFill>
                <a:latin typeface="Meiryo"/>
                <a:ea typeface="Meiryo"/>
                <a:sym typeface="Meiryo"/>
              </a:rPr>
              <a:t>万円</a:t>
            </a:r>
            <a:r>
              <a:rPr lang="en-US" altLang="ja-JP" sz="2000" b="1" dirty="0">
                <a:solidFill>
                  <a:srgbClr val="FF0000"/>
                </a:solidFill>
                <a:latin typeface="Meiryo"/>
                <a:ea typeface="Meiryo"/>
                <a:sym typeface="Meiryo"/>
              </a:rPr>
              <a:t>~</a:t>
            </a:r>
            <a:r>
              <a:rPr lang="ja-JP" altLang="en-US" sz="1200" dirty="0">
                <a:latin typeface="Meiryo"/>
                <a:ea typeface="Meiryo"/>
                <a:sym typeface="Meiryo"/>
              </a:rPr>
              <a:t>（期間合計）</a:t>
            </a:r>
            <a:endParaRPr lang="ja-JP" altLang="en-US" sz="2000" dirty="0">
              <a:solidFill>
                <a:srgbClr val="FF0000"/>
              </a:solidFill>
            </a:endParaRPr>
          </a:p>
        </p:txBody>
      </p:sp>
      <p:sp>
        <p:nvSpPr>
          <p:cNvPr id="30" name="テキスト ボックス 29">
            <a:extLst>
              <a:ext uri="{FF2B5EF4-FFF2-40B4-BE49-F238E27FC236}">
                <a16:creationId xmlns:a16="http://schemas.microsoft.com/office/drawing/2014/main" id="{409CCF04-7F2B-649D-F219-27BCA34C2D62}"/>
              </a:ext>
            </a:extLst>
          </p:cNvPr>
          <p:cNvSpPr txBox="1"/>
          <p:nvPr/>
        </p:nvSpPr>
        <p:spPr>
          <a:xfrm>
            <a:off x="268451" y="2972664"/>
            <a:ext cx="2980713" cy="400110"/>
          </a:xfrm>
          <a:prstGeom prst="rect">
            <a:avLst/>
          </a:prstGeom>
          <a:noFill/>
        </p:spPr>
        <p:txBody>
          <a:bodyPr wrap="square">
            <a:spAutoFit/>
          </a:bodyPr>
          <a:lstStyle/>
          <a:p>
            <a:pPr algn="ctr"/>
            <a:r>
              <a:rPr lang="en-US" altLang="ja-JP" sz="2000" b="1" dirty="0">
                <a:solidFill>
                  <a:srgbClr val="FF0000"/>
                </a:solidFill>
                <a:latin typeface="Meiryo"/>
                <a:ea typeface="Meiryo"/>
                <a:sym typeface="Meiryo"/>
              </a:rPr>
              <a:t>20</a:t>
            </a:r>
            <a:r>
              <a:rPr lang="ja-JP" altLang="en-US" sz="2000" b="1" dirty="0">
                <a:solidFill>
                  <a:srgbClr val="FF0000"/>
                </a:solidFill>
                <a:latin typeface="Meiryo"/>
                <a:ea typeface="Meiryo"/>
                <a:sym typeface="Meiryo"/>
              </a:rPr>
              <a:t>万円</a:t>
            </a:r>
            <a:r>
              <a:rPr lang="en-US" altLang="ja-JP" sz="2000" b="1" dirty="0">
                <a:solidFill>
                  <a:srgbClr val="FF0000"/>
                </a:solidFill>
                <a:latin typeface="Meiryo"/>
                <a:ea typeface="Meiryo"/>
                <a:sym typeface="Meiryo"/>
              </a:rPr>
              <a:t>~</a:t>
            </a:r>
            <a:r>
              <a:rPr lang="ja-JP" altLang="en-US" sz="1200" dirty="0">
                <a:latin typeface="Meiryo"/>
                <a:ea typeface="Meiryo"/>
                <a:sym typeface="Meiryo"/>
              </a:rPr>
              <a:t>（</a:t>
            </a:r>
            <a:r>
              <a:rPr lang="en-US" altLang="ja-JP" sz="1200" dirty="0">
                <a:latin typeface="Meiryo"/>
                <a:ea typeface="Meiryo"/>
                <a:sym typeface="Meiryo"/>
              </a:rPr>
              <a:t>1</a:t>
            </a:r>
            <a:r>
              <a:rPr lang="ja-JP" altLang="en-US" sz="1200" dirty="0">
                <a:latin typeface="Meiryo"/>
                <a:ea typeface="Meiryo"/>
                <a:sym typeface="Meiryo"/>
              </a:rPr>
              <a:t>ヶ月</a:t>
            </a:r>
            <a:r>
              <a:rPr lang="en-US" altLang="ja-JP" sz="1200" dirty="0">
                <a:latin typeface="Meiryo"/>
                <a:ea typeface="Meiryo"/>
                <a:sym typeface="Meiryo"/>
              </a:rPr>
              <a:t>~</a:t>
            </a:r>
            <a:r>
              <a:rPr lang="ja-JP" altLang="en-US" sz="1200" dirty="0">
                <a:latin typeface="Meiryo"/>
                <a:ea typeface="Meiryo"/>
                <a:sym typeface="Meiryo"/>
              </a:rPr>
              <a:t>）</a:t>
            </a:r>
            <a:endParaRPr lang="ja-JP" altLang="en-US" sz="2000" dirty="0">
              <a:solidFill>
                <a:srgbClr val="FF0000"/>
              </a:solidFill>
            </a:endParaRPr>
          </a:p>
        </p:txBody>
      </p:sp>
      <p:sp>
        <p:nvSpPr>
          <p:cNvPr id="31" name="正方形/長方形 30">
            <a:extLst>
              <a:ext uri="{FF2B5EF4-FFF2-40B4-BE49-F238E27FC236}">
                <a16:creationId xmlns:a16="http://schemas.microsoft.com/office/drawing/2014/main" id="{48479E1B-BB51-2C74-9251-6EC7A8EFC419}"/>
              </a:ext>
            </a:extLst>
          </p:cNvPr>
          <p:cNvSpPr/>
          <p:nvPr/>
        </p:nvSpPr>
        <p:spPr>
          <a:xfrm>
            <a:off x="663410" y="899253"/>
            <a:ext cx="8628148" cy="584775"/>
          </a:xfrm>
          <a:prstGeom prst="rect">
            <a:avLst/>
          </a:prstGeom>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lgn="ctr">
              <a:buClr>
                <a:srgbClr val="002060"/>
              </a:buClr>
              <a:buSzPts val="1600"/>
            </a:pPr>
            <a:r>
              <a:rPr lang="ja-JP" altLang="en-US" sz="1600" b="1" dirty="0">
                <a:solidFill>
                  <a:schemeClr val="tx1">
                    <a:lumMod val="65000"/>
                    <a:lumOff val="35000"/>
                  </a:schemeClr>
                </a:solidFill>
                <a:latin typeface="Meiryo"/>
                <a:ea typeface="Meiryo"/>
                <a:cs typeface="Meiryo"/>
                <a:sym typeface="Meiryo"/>
              </a:rPr>
              <a:t>各拡張施策についても</a:t>
            </a:r>
            <a:r>
              <a:rPr lang="en-US" altLang="ja-JP" sz="1600" b="1" dirty="0">
                <a:solidFill>
                  <a:schemeClr val="tx1">
                    <a:lumMod val="65000"/>
                    <a:lumOff val="35000"/>
                  </a:schemeClr>
                </a:solidFill>
                <a:latin typeface="Meiryo"/>
                <a:ea typeface="Meiryo"/>
                <a:cs typeface="Meiryo"/>
                <a:sym typeface="Meiryo"/>
              </a:rPr>
              <a:t>MIN</a:t>
            </a:r>
            <a:r>
              <a:rPr lang="ja-JP" altLang="en-US" sz="1600" b="1" dirty="0">
                <a:solidFill>
                  <a:schemeClr val="tx1">
                    <a:lumMod val="65000"/>
                    <a:lumOff val="35000"/>
                  </a:schemeClr>
                </a:solidFill>
                <a:latin typeface="Meiryo"/>
                <a:ea typeface="Meiryo"/>
                <a:cs typeface="Meiryo"/>
                <a:sym typeface="Meiryo"/>
              </a:rPr>
              <a:t>金額からの発注、動線設計が可能です。</a:t>
            </a:r>
            <a:endParaRPr lang="en-US" altLang="ja-JP" sz="1600" b="1" dirty="0">
              <a:solidFill>
                <a:schemeClr val="tx1">
                  <a:lumMod val="65000"/>
                  <a:lumOff val="35000"/>
                </a:schemeClr>
              </a:solidFill>
              <a:latin typeface="Meiryo"/>
              <a:ea typeface="Meiryo"/>
              <a:cs typeface="Meiryo"/>
              <a:sym typeface="Meiryo"/>
            </a:endParaRPr>
          </a:p>
          <a:p>
            <a:pPr lvl="0" algn="ctr">
              <a:buClr>
                <a:srgbClr val="002060"/>
              </a:buClr>
              <a:buSzPts val="1600"/>
            </a:pP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友だち追加後の動線設計（特に友だち追加後すぐ）の検証後の拡大施策として用意。</a:t>
            </a:r>
            <a:endParaRPr lang="en-US" altLang="ja-JP" sz="1600" b="1" dirty="0">
              <a:solidFill>
                <a:schemeClr val="tx1">
                  <a:lumMod val="65000"/>
                  <a:lumOff val="35000"/>
                </a:schemeClr>
              </a:solidFill>
              <a:latin typeface="Meiryo"/>
              <a:ea typeface="Meiryo"/>
              <a:cs typeface="Meiryo"/>
              <a:sym typeface="Meiryo"/>
            </a:endParaRPr>
          </a:p>
        </p:txBody>
      </p:sp>
    </p:spTree>
    <p:extLst>
      <p:ext uri="{BB962C8B-B14F-4D97-AF65-F5344CB8AC3E}">
        <p14:creationId xmlns:p14="http://schemas.microsoft.com/office/powerpoint/2010/main" val="300670347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40CEAE-3814-32E7-D45E-2C4EC8610FFA}"/>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6CD37268-DB4A-D96C-3487-68A9F730193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提供施策について</a:t>
            </a:r>
          </a:p>
        </p:txBody>
      </p:sp>
      <p:pic>
        <p:nvPicPr>
          <p:cNvPr id="52" name="図 51">
            <a:extLst>
              <a:ext uri="{FF2B5EF4-FFF2-40B4-BE49-F238E27FC236}">
                <a16:creationId xmlns:a16="http://schemas.microsoft.com/office/drawing/2014/main" id="{190D62DD-D102-4473-AB6A-16C880141BF8}"/>
              </a:ext>
            </a:extLst>
          </p:cNvPr>
          <p:cNvPicPr>
            <a:picLocks noChangeAspect="1"/>
          </p:cNvPicPr>
          <p:nvPr/>
        </p:nvPicPr>
        <p:blipFill>
          <a:blip r:embed="rId2"/>
          <a:stretch>
            <a:fillRect/>
          </a:stretch>
        </p:blipFill>
        <p:spPr>
          <a:xfrm>
            <a:off x="554449" y="1858069"/>
            <a:ext cx="4461381" cy="1873780"/>
          </a:xfrm>
          <a:prstGeom prst="rect">
            <a:avLst/>
          </a:prstGeom>
        </p:spPr>
      </p:pic>
      <p:sp>
        <p:nvSpPr>
          <p:cNvPr id="53" name="正方形/長方形 52">
            <a:extLst>
              <a:ext uri="{FF2B5EF4-FFF2-40B4-BE49-F238E27FC236}">
                <a16:creationId xmlns:a16="http://schemas.microsoft.com/office/drawing/2014/main" id="{1E454A9D-8A4D-3389-458B-9DC647A79863}"/>
              </a:ext>
            </a:extLst>
          </p:cNvPr>
          <p:cNvSpPr/>
          <p:nvPr/>
        </p:nvSpPr>
        <p:spPr>
          <a:xfrm>
            <a:off x="419696" y="732614"/>
            <a:ext cx="2365444" cy="67326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r>
              <a:rPr lang="en-US" altLang="ja-JP" sz="1600" b="1" dirty="0">
                <a:latin typeface="メイリオ" panose="020B0604030504040204" pitchFamily="50" charset="-128"/>
                <a:ea typeface="メイリオ" panose="020B0604030504040204" pitchFamily="50" charset="-128"/>
              </a:rPr>
              <a:t>LINE</a:t>
            </a:r>
            <a:r>
              <a:rPr lang="ja-JP" altLang="en-US" sz="1600" b="1" dirty="0">
                <a:latin typeface="メイリオ" panose="020B0604030504040204" pitchFamily="50" charset="-128"/>
                <a:ea typeface="メイリオ" panose="020B0604030504040204" pitchFamily="50" charset="-128"/>
              </a:rPr>
              <a:t>広告</a:t>
            </a:r>
            <a:r>
              <a:rPr lang="ja-JP" altLang="en-US" sz="1200" b="1" dirty="0">
                <a:latin typeface="メイリオ" panose="020B0604030504040204" pitchFamily="50" charset="-128"/>
                <a:ea typeface="メイリオ" panose="020B0604030504040204" pitchFamily="50" charset="-128"/>
              </a:rPr>
              <a:t>（友だち追加）</a:t>
            </a:r>
            <a:endParaRPr lang="en-US" altLang="ja-JP" sz="1200" b="1" dirty="0">
              <a:latin typeface="メイリオ" panose="020B0604030504040204" pitchFamily="50" charset="-128"/>
              <a:ea typeface="メイリオ" panose="020B0604030504040204" pitchFamily="50" charset="-128"/>
            </a:endParaRPr>
          </a:p>
          <a:p>
            <a:pPr algn="ctr"/>
            <a:r>
              <a:rPr lang="en-US" altLang="ja-JP" sz="1200" b="1" dirty="0">
                <a:solidFill>
                  <a:srgbClr val="FFFF00"/>
                </a:solidFill>
                <a:latin typeface="メイリオ" panose="020B0604030504040204" pitchFamily="50" charset="-128"/>
                <a:ea typeface="メイリオ" panose="020B0604030504040204" pitchFamily="50" charset="-128"/>
              </a:rPr>
              <a:t>※CPF</a:t>
            </a:r>
            <a:r>
              <a:rPr lang="ja-JP" altLang="en-US" sz="1200" b="1" dirty="0">
                <a:solidFill>
                  <a:srgbClr val="FFFF00"/>
                </a:solidFill>
                <a:latin typeface="メイリオ" panose="020B0604030504040204" pitchFamily="50" charset="-128"/>
                <a:ea typeface="メイリオ" panose="020B0604030504040204" pitchFamily="50" charset="-128"/>
              </a:rPr>
              <a:t>広告</a:t>
            </a:r>
            <a:r>
              <a:rPr lang="en-US" altLang="ja-JP" sz="1200" b="1" dirty="0">
                <a:solidFill>
                  <a:srgbClr val="FFFF00"/>
                </a:solidFill>
                <a:latin typeface="メイリオ" panose="020B0604030504040204" pitchFamily="50" charset="-128"/>
                <a:ea typeface="メイリオ" panose="020B0604030504040204" pitchFamily="50" charset="-128"/>
              </a:rPr>
              <a:t>※</a:t>
            </a:r>
          </a:p>
        </p:txBody>
      </p:sp>
      <p:sp>
        <p:nvSpPr>
          <p:cNvPr id="54" name="正方形/長方形 53">
            <a:extLst>
              <a:ext uri="{FF2B5EF4-FFF2-40B4-BE49-F238E27FC236}">
                <a16:creationId xmlns:a16="http://schemas.microsoft.com/office/drawing/2014/main" id="{CBF7AEFA-2BE6-4972-0C9D-4ED6780F0997}"/>
              </a:ext>
            </a:extLst>
          </p:cNvPr>
          <p:cNvSpPr/>
          <p:nvPr/>
        </p:nvSpPr>
        <p:spPr>
          <a:xfrm>
            <a:off x="2938369" y="776858"/>
            <a:ext cx="6482455" cy="584775"/>
          </a:xfrm>
          <a:prstGeom prst="rect">
            <a:avLst/>
          </a:prstGeom>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buClr>
                <a:srgbClr val="002060"/>
              </a:buClr>
              <a:buSzPts val="1600"/>
            </a:pP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公式アカウントの友だちを増やすための広告を、</a:t>
            </a:r>
            <a:br>
              <a:rPr lang="en-US" altLang="ja-JP" sz="1600" b="1" dirty="0">
                <a:solidFill>
                  <a:schemeClr val="tx1">
                    <a:lumMod val="65000"/>
                    <a:lumOff val="35000"/>
                  </a:schemeClr>
                </a:solidFill>
                <a:latin typeface="Meiryo"/>
                <a:ea typeface="Meiryo"/>
                <a:cs typeface="Meiryo"/>
                <a:sym typeface="Meiryo"/>
              </a:rPr>
            </a:b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広告の管理画面より</a:t>
            </a: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アプリ内で掲載できる機能。</a:t>
            </a:r>
            <a:endParaRPr lang="en-US" altLang="ja-JP" sz="1600" b="1" dirty="0">
              <a:solidFill>
                <a:schemeClr val="tx1">
                  <a:lumMod val="65000"/>
                  <a:lumOff val="35000"/>
                </a:schemeClr>
              </a:solidFill>
              <a:latin typeface="Meiryo"/>
              <a:ea typeface="Meiryo"/>
              <a:cs typeface="Meiryo"/>
              <a:sym typeface="Meiryo"/>
            </a:endParaRPr>
          </a:p>
        </p:txBody>
      </p:sp>
      <p:grpSp>
        <p:nvGrpSpPr>
          <p:cNvPr id="55" name="グループ化 54">
            <a:extLst>
              <a:ext uri="{FF2B5EF4-FFF2-40B4-BE49-F238E27FC236}">
                <a16:creationId xmlns:a16="http://schemas.microsoft.com/office/drawing/2014/main" id="{AA1E2469-A533-1A69-9E3E-DCA5ECAE64F8}"/>
              </a:ext>
            </a:extLst>
          </p:cNvPr>
          <p:cNvGrpSpPr/>
          <p:nvPr/>
        </p:nvGrpSpPr>
        <p:grpSpPr>
          <a:xfrm>
            <a:off x="516143" y="1563631"/>
            <a:ext cx="2696339" cy="312276"/>
            <a:chOff x="548883" y="1619331"/>
            <a:chExt cx="2696339" cy="312276"/>
          </a:xfrm>
        </p:grpSpPr>
        <p:sp>
          <p:nvSpPr>
            <p:cNvPr id="56" name="四角形: 角を丸くする 55">
              <a:extLst>
                <a:ext uri="{FF2B5EF4-FFF2-40B4-BE49-F238E27FC236}">
                  <a16:creationId xmlns:a16="http://schemas.microsoft.com/office/drawing/2014/main" id="{A2BD085E-2BC4-9C8E-5DC8-B72B3DDB8E8D}"/>
                </a:ext>
              </a:extLst>
            </p:cNvPr>
            <p:cNvSpPr/>
            <p:nvPr/>
          </p:nvSpPr>
          <p:spPr>
            <a:xfrm>
              <a:off x="548883" y="1619331"/>
              <a:ext cx="2696339" cy="302592"/>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kumimoji="1" lang="ja-JP" altLang="en-US"/>
            </a:p>
          </p:txBody>
        </p:sp>
        <p:sp>
          <p:nvSpPr>
            <p:cNvPr id="57" name="正方形/長方形 56">
              <a:extLst>
                <a:ext uri="{FF2B5EF4-FFF2-40B4-BE49-F238E27FC236}">
                  <a16:creationId xmlns:a16="http://schemas.microsoft.com/office/drawing/2014/main" id="{560B246B-790F-6D05-28ED-13ABB1AF3BEC}"/>
                </a:ext>
              </a:extLst>
            </p:cNvPr>
            <p:cNvSpPr/>
            <p:nvPr/>
          </p:nvSpPr>
          <p:spPr>
            <a:xfrm>
              <a:off x="548883" y="1654608"/>
              <a:ext cx="2696339" cy="276999"/>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lgn="ctr">
                <a:buClr>
                  <a:srgbClr val="002060"/>
                </a:buClr>
                <a:buSzPts val="1600"/>
              </a:pPr>
              <a:r>
                <a:rPr lang="en-US" altLang="ja-JP" sz="1200" b="1" dirty="0">
                  <a:solidFill>
                    <a:srgbClr val="0070C0"/>
                  </a:solidFill>
                  <a:latin typeface="Meiryo"/>
                  <a:ea typeface="Meiryo"/>
                  <a:cs typeface="Meiryo"/>
                  <a:sym typeface="Meiryo"/>
                </a:rPr>
                <a:t>LINE</a:t>
              </a:r>
              <a:r>
                <a:rPr lang="ja-JP" altLang="en-US" sz="1200" b="1" dirty="0">
                  <a:solidFill>
                    <a:srgbClr val="0070C0"/>
                  </a:solidFill>
                  <a:latin typeface="Meiryo"/>
                  <a:ea typeface="Meiryo"/>
                  <a:cs typeface="Meiryo"/>
                  <a:sym typeface="Meiryo"/>
                </a:rPr>
                <a:t>公式アカウントまでの導線</a:t>
              </a:r>
              <a:endParaRPr lang="en-US" altLang="ja-JP" sz="1200" b="1" dirty="0">
                <a:solidFill>
                  <a:srgbClr val="0070C0"/>
                </a:solidFill>
                <a:latin typeface="Meiryo"/>
                <a:ea typeface="Meiryo"/>
                <a:cs typeface="Meiryo"/>
                <a:sym typeface="Meiryo"/>
              </a:endParaRPr>
            </a:p>
          </p:txBody>
        </p:sp>
      </p:grpSp>
      <p:grpSp>
        <p:nvGrpSpPr>
          <p:cNvPr id="58" name="グループ化 57">
            <a:extLst>
              <a:ext uri="{FF2B5EF4-FFF2-40B4-BE49-F238E27FC236}">
                <a16:creationId xmlns:a16="http://schemas.microsoft.com/office/drawing/2014/main" id="{27EC4882-F1F7-3407-18D9-449D2F776799}"/>
              </a:ext>
            </a:extLst>
          </p:cNvPr>
          <p:cNvGrpSpPr/>
          <p:nvPr/>
        </p:nvGrpSpPr>
        <p:grpSpPr>
          <a:xfrm>
            <a:off x="516142" y="3819645"/>
            <a:ext cx="2696339" cy="312276"/>
            <a:chOff x="548883" y="1619331"/>
            <a:chExt cx="2696339" cy="312276"/>
          </a:xfrm>
        </p:grpSpPr>
        <p:sp>
          <p:nvSpPr>
            <p:cNvPr id="59" name="四角形: 角を丸くする 58">
              <a:extLst>
                <a:ext uri="{FF2B5EF4-FFF2-40B4-BE49-F238E27FC236}">
                  <a16:creationId xmlns:a16="http://schemas.microsoft.com/office/drawing/2014/main" id="{6B1769D7-5324-51AE-1D2D-802E7FFC46C9}"/>
                </a:ext>
              </a:extLst>
            </p:cNvPr>
            <p:cNvSpPr/>
            <p:nvPr/>
          </p:nvSpPr>
          <p:spPr>
            <a:xfrm>
              <a:off x="548883" y="1619331"/>
              <a:ext cx="2696339" cy="302592"/>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kumimoji="1" lang="ja-JP" altLang="en-US"/>
            </a:p>
          </p:txBody>
        </p:sp>
        <p:sp>
          <p:nvSpPr>
            <p:cNvPr id="60" name="正方形/長方形 59">
              <a:extLst>
                <a:ext uri="{FF2B5EF4-FFF2-40B4-BE49-F238E27FC236}">
                  <a16:creationId xmlns:a16="http://schemas.microsoft.com/office/drawing/2014/main" id="{A0FD1FD7-9083-04AC-7FC2-C1EDD68A2FCA}"/>
                </a:ext>
              </a:extLst>
            </p:cNvPr>
            <p:cNvSpPr/>
            <p:nvPr/>
          </p:nvSpPr>
          <p:spPr>
            <a:xfrm>
              <a:off x="548883" y="1654608"/>
              <a:ext cx="2696339" cy="276999"/>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lgn="ctr">
                <a:buClr>
                  <a:srgbClr val="002060"/>
                </a:buClr>
                <a:buSzPts val="1600"/>
              </a:pPr>
              <a:r>
                <a:rPr lang="ja-JP" altLang="en-US" sz="1200" b="1" dirty="0">
                  <a:solidFill>
                    <a:srgbClr val="0070C0"/>
                  </a:solidFill>
                  <a:latin typeface="Meiryo"/>
                  <a:ea typeface="Meiryo"/>
                  <a:cs typeface="Meiryo"/>
                  <a:sym typeface="Meiryo"/>
                </a:rPr>
                <a:t>「友だち追加広告」との違い</a:t>
              </a:r>
              <a:endParaRPr lang="en-US" altLang="ja-JP" sz="1200" b="1" dirty="0">
                <a:solidFill>
                  <a:srgbClr val="0070C0"/>
                </a:solidFill>
                <a:latin typeface="Meiryo"/>
                <a:ea typeface="Meiryo"/>
                <a:cs typeface="Meiryo"/>
                <a:sym typeface="Meiryo"/>
              </a:endParaRPr>
            </a:p>
          </p:txBody>
        </p:sp>
      </p:grpSp>
      <p:pic>
        <p:nvPicPr>
          <p:cNvPr id="61" name="table">
            <a:extLst>
              <a:ext uri="{FF2B5EF4-FFF2-40B4-BE49-F238E27FC236}">
                <a16:creationId xmlns:a16="http://schemas.microsoft.com/office/drawing/2014/main" id="{9AC26B4B-6733-A76D-2762-4EE39F3BE270}"/>
              </a:ext>
            </a:extLst>
          </p:cNvPr>
          <p:cNvPicPr>
            <a:picLocks noChangeAspect="1"/>
          </p:cNvPicPr>
          <p:nvPr/>
        </p:nvPicPr>
        <p:blipFill>
          <a:blip r:embed="rId3"/>
          <a:stretch>
            <a:fillRect/>
          </a:stretch>
        </p:blipFill>
        <p:spPr>
          <a:xfrm>
            <a:off x="787611" y="4201880"/>
            <a:ext cx="8672139" cy="2202180"/>
          </a:xfrm>
          <a:prstGeom prst="rect">
            <a:avLst/>
          </a:prstGeom>
        </p:spPr>
      </p:pic>
      <p:sp>
        <p:nvSpPr>
          <p:cNvPr id="62" name="矢印: 右 61">
            <a:extLst>
              <a:ext uri="{FF2B5EF4-FFF2-40B4-BE49-F238E27FC236}">
                <a16:creationId xmlns:a16="http://schemas.microsoft.com/office/drawing/2014/main" id="{FAA46C63-E291-C5BA-59B1-5AA6EB934DE7}"/>
              </a:ext>
            </a:extLst>
          </p:cNvPr>
          <p:cNvSpPr/>
          <p:nvPr/>
        </p:nvSpPr>
        <p:spPr>
          <a:xfrm>
            <a:off x="5232623" y="2618810"/>
            <a:ext cx="430306" cy="352298"/>
          </a:xfrm>
          <a:prstGeom prst="rightArrow">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kumimoji="1" lang="ja-JP" altLang="en-US"/>
          </a:p>
        </p:txBody>
      </p:sp>
      <p:pic>
        <p:nvPicPr>
          <p:cNvPr id="63" name="図 62">
            <a:extLst>
              <a:ext uri="{FF2B5EF4-FFF2-40B4-BE49-F238E27FC236}">
                <a16:creationId xmlns:a16="http://schemas.microsoft.com/office/drawing/2014/main" id="{15AB3743-9D18-6CD5-EBAE-3179EFAD1455}"/>
              </a:ext>
            </a:extLst>
          </p:cNvPr>
          <p:cNvPicPr>
            <a:picLocks noChangeAspect="1"/>
          </p:cNvPicPr>
          <p:nvPr/>
        </p:nvPicPr>
        <p:blipFill>
          <a:blip r:embed="rId4"/>
          <a:srcRect l="35517" r="35515"/>
          <a:stretch>
            <a:fillRect/>
          </a:stretch>
        </p:blipFill>
        <p:spPr>
          <a:xfrm>
            <a:off x="6038472" y="1875907"/>
            <a:ext cx="917480" cy="1779333"/>
          </a:xfrm>
          <a:prstGeom prst="rect">
            <a:avLst/>
          </a:prstGeom>
        </p:spPr>
      </p:pic>
      <p:sp>
        <p:nvSpPr>
          <p:cNvPr id="64" name="テキスト ボックス 34">
            <a:extLst>
              <a:ext uri="{FF2B5EF4-FFF2-40B4-BE49-F238E27FC236}">
                <a16:creationId xmlns:a16="http://schemas.microsoft.com/office/drawing/2014/main" id="{F684D30B-FB35-7D4D-6BE2-919C8EE56C1F}"/>
              </a:ext>
            </a:extLst>
          </p:cNvPr>
          <p:cNvSpPr txBox="1"/>
          <p:nvPr/>
        </p:nvSpPr>
        <p:spPr>
          <a:xfrm>
            <a:off x="6868291" y="2618810"/>
            <a:ext cx="2705100" cy="523220"/>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kumimoji="1" lang="en-US" altLang="ja-JP" sz="1200" dirty="0">
                <a:latin typeface="メイリオ" panose="020B0604030504040204" pitchFamily="50" charset="-128"/>
                <a:ea typeface="メイリオ" panose="020B0604030504040204" pitchFamily="50" charset="-128"/>
              </a:rPr>
              <a:t>LINE</a:t>
            </a:r>
            <a:r>
              <a:rPr kumimoji="1" lang="ja-JP" altLang="en-US" sz="1200" dirty="0">
                <a:latin typeface="メイリオ" panose="020B0604030504040204" pitchFamily="50" charset="-128"/>
                <a:ea typeface="メイリオ" panose="020B0604030504040204" pitchFamily="50" charset="-128"/>
              </a:rPr>
              <a:t>アプリ内から</a:t>
            </a:r>
            <a:br>
              <a:rPr kumimoji="1" lang="en-US" altLang="ja-JP" sz="1200" dirty="0">
                <a:latin typeface="メイリオ" panose="020B0604030504040204" pitchFamily="50" charset="-128"/>
                <a:ea typeface="メイリオ" panose="020B0604030504040204" pitchFamily="50" charset="-128"/>
              </a:rPr>
            </a:br>
            <a:r>
              <a:rPr kumimoji="1" lang="ja-JP" altLang="en-US" sz="1200" dirty="0">
                <a:latin typeface="メイリオ" panose="020B0604030504040204" pitchFamily="50" charset="-128"/>
                <a:ea typeface="メイリオ" panose="020B0604030504040204" pitchFamily="50" charset="-128"/>
              </a:rPr>
              <a:t>自社アカウントに</a:t>
            </a:r>
            <a:r>
              <a:rPr kumimoji="1" lang="en-US" altLang="ja-JP" sz="1600" b="1" dirty="0">
                <a:solidFill>
                  <a:srgbClr val="33CC33"/>
                </a:solidFill>
                <a:latin typeface="メイリオ" panose="020B0604030504040204" pitchFamily="50" charset="-128"/>
                <a:ea typeface="メイリオ" panose="020B0604030504040204" pitchFamily="50" charset="-128"/>
              </a:rPr>
              <a:t>“</a:t>
            </a:r>
            <a:r>
              <a:rPr kumimoji="1" lang="ja-JP" altLang="en-US" sz="1600" b="1" dirty="0">
                <a:solidFill>
                  <a:srgbClr val="33CC33"/>
                </a:solidFill>
                <a:latin typeface="メイリオ" panose="020B0604030504040204" pitchFamily="50" charset="-128"/>
                <a:ea typeface="メイリオ" panose="020B0604030504040204" pitchFamily="50" charset="-128"/>
              </a:rPr>
              <a:t>直接</a:t>
            </a:r>
            <a:r>
              <a:rPr kumimoji="1" lang="en-US" altLang="ja-JP" sz="1600" b="1" dirty="0">
                <a:solidFill>
                  <a:srgbClr val="33CC33"/>
                </a:solidFill>
                <a:latin typeface="メイリオ" panose="020B0604030504040204" pitchFamily="50" charset="-128"/>
                <a:ea typeface="メイリオ" panose="020B0604030504040204" pitchFamily="50" charset="-128"/>
              </a:rPr>
              <a:t>”</a:t>
            </a:r>
            <a:r>
              <a:rPr kumimoji="1" lang="ja-JP" altLang="en-US" sz="1200" dirty="0">
                <a:latin typeface="メイリオ" panose="020B0604030504040204" pitchFamily="50" charset="-128"/>
                <a:ea typeface="メイリオ" panose="020B0604030504040204" pitchFamily="50" charset="-128"/>
              </a:rPr>
              <a:t>誘導</a:t>
            </a:r>
            <a:endParaRPr kumimoji="1" lang="en-US" altLang="ja-JP" sz="12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70600817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正方形/長方形 18"/>
          <p:cNvSpPr>
            <a:spLocks noChangeArrowheads="1"/>
          </p:cNvSpPr>
          <p:nvPr/>
        </p:nvSpPr>
        <p:spPr bwMode="auto">
          <a:xfrm>
            <a:off x="1649030" y="5820984"/>
            <a:ext cx="6192837" cy="373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marL="0" lvl="1" fontAlgn="base">
              <a:spcBef>
                <a:spcPct val="20000"/>
              </a:spcBef>
              <a:spcAft>
                <a:spcPct val="0"/>
              </a:spcAft>
              <a:defRPr/>
            </a:pPr>
            <a:r>
              <a:rPr lang="ja-JP" altLang="en-US" sz="831" b="1" dirty="0">
                <a:solidFill>
                  <a:prstClr val="black"/>
                </a:solidFill>
                <a:latin typeface="メイリオ"/>
                <a:ea typeface="メイリオ"/>
                <a:cs typeface="メイリオ"/>
              </a:rPr>
              <a:t>株式会社</a:t>
            </a:r>
            <a:r>
              <a:rPr lang="en-US" altLang="ja-JP" sz="831" b="1" dirty="0">
                <a:solidFill>
                  <a:prstClr val="black"/>
                </a:solidFill>
                <a:latin typeface="メイリオ"/>
                <a:ea typeface="メイリオ"/>
                <a:cs typeface="メイリオ"/>
              </a:rPr>
              <a:t>DYM</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141-0032</a:t>
            </a:r>
            <a:r>
              <a:rPr lang="ja-JP" altLang="en-US" sz="831" b="1" dirty="0">
                <a:solidFill>
                  <a:prstClr val="black"/>
                </a:solidFill>
                <a:latin typeface="メイリオ"/>
                <a:ea typeface="メイリオ"/>
                <a:cs typeface="メイリオ"/>
              </a:rPr>
              <a:t>　東京都品川区大崎</a:t>
            </a:r>
            <a:r>
              <a:rPr lang="en-US" altLang="ja-JP" sz="831" b="1" dirty="0">
                <a:solidFill>
                  <a:prstClr val="black"/>
                </a:solidFill>
                <a:latin typeface="メイリオ"/>
                <a:ea typeface="メイリオ"/>
                <a:cs typeface="メイリオ"/>
              </a:rPr>
              <a:t>1-11-2</a:t>
            </a:r>
            <a:r>
              <a:rPr lang="ja-JP" altLang="en-US" sz="831" b="1" dirty="0">
                <a:solidFill>
                  <a:prstClr val="black"/>
                </a:solidFill>
                <a:latin typeface="メイリオ"/>
                <a:ea typeface="メイリオ"/>
                <a:cs typeface="メイリオ"/>
              </a:rPr>
              <a:t>　ゲートシティ大崎イーストタワー</a:t>
            </a:r>
            <a:r>
              <a:rPr lang="en-US" altLang="ja-JP" sz="831" b="1" dirty="0">
                <a:solidFill>
                  <a:prstClr val="black"/>
                </a:solidFill>
                <a:latin typeface="メイリオ"/>
                <a:ea typeface="メイリオ"/>
                <a:cs typeface="メイリオ"/>
              </a:rPr>
              <a:t>10</a:t>
            </a:r>
            <a:r>
              <a:rPr lang="ja-JP" altLang="en-US" sz="831" b="1" dirty="0">
                <a:solidFill>
                  <a:prstClr val="black"/>
                </a:solidFill>
                <a:latin typeface="メイリオ"/>
                <a:ea typeface="メイリオ"/>
                <a:cs typeface="メイリオ"/>
              </a:rPr>
              <a:t>階</a:t>
            </a:r>
            <a:endParaRPr lang="en-US" altLang="ja-JP" sz="831" b="1" dirty="0">
              <a:solidFill>
                <a:prstClr val="black"/>
              </a:solidFill>
              <a:latin typeface="メイリオ"/>
              <a:ea typeface="メイリオ"/>
              <a:cs typeface="メイリオ"/>
            </a:endParaRPr>
          </a:p>
          <a:p>
            <a:pPr marL="0" lvl="1" fontAlgn="base">
              <a:spcBef>
                <a:spcPct val="20000"/>
              </a:spcBef>
              <a:spcAft>
                <a:spcPct val="0"/>
              </a:spcAft>
              <a:defRPr/>
            </a:pPr>
            <a:r>
              <a:rPr lang="en-US" altLang="ja-JP" sz="831" b="1" dirty="0">
                <a:solidFill>
                  <a:prstClr val="black"/>
                </a:solidFill>
                <a:latin typeface="メイリオ"/>
                <a:ea typeface="メイリオ"/>
                <a:cs typeface="メイリオ"/>
              </a:rPr>
              <a:t>TEL: 03-5745-0200</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FAX: 03-3779-8720 </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http://dym.asia   </a:t>
            </a:r>
            <a:r>
              <a:rPr lang="ja-JP" altLang="en-US" sz="831" b="1" dirty="0">
                <a:solidFill>
                  <a:prstClr val="black"/>
                </a:solidFill>
                <a:latin typeface="メイリオ"/>
                <a:ea typeface="メイリオ"/>
                <a:cs typeface="メイリオ"/>
              </a:rPr>
              <a:t>代表取締役　水谷佑毅</a:t>
            </a:r>
          </a:p>
        </p:txBody>
      </p:sp>
      <p:pic>
        <p:nvPicPr>
          <p:cNvPr id="24" name="図 1"/>
          <p:cNvPicPr>
            <a:picLocks noChangeAspect="1"/>
          </p:cNvPicPr>
          <p:nvPr/>
        </p:nvPicPr>
        <p:blipFill rotWithShape="1">
          <a:blip r:embed="rId3" cstate="email">
            <a:extLst>
              <a:ext uri="{28A0092B-C50C-407E-A947-70E740481C1C}">
                <a14:useLocalDpi xmlns:a14="http://schemas.microsoft.com/office/drawing/2010/main"/>
              </a:ext>
            </a:extLst>
          </a:blip>
          <a:srcRect l="-1647" r="-11171"/>
          <a:stretch/>
        </p:blipFill>
        <p:spPr bwMode="auto">
          <a:xfrm>
            <a:off x="543897" y="5895365"/>
            <a:ext cx="1100981" cy="2248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テキスト ボックス 2"/>
          <p:cNvSpPr txBox="1"/>
          <p:nvPr/>
        </p:nvSpPr>
        <p:spPr>
          <a:xfrm>
            <a:off x="5070232" y="5597769"/>
            <a:ext cx="184731" cy="369332"/>
          </a:xfrm>
          <a:prstGeom prst="rect">
            <a:avLst/>
          </a:prstGeom>
          <a:noFill/>
        </p:spPr>
        <p:txBody>
          <a:bodyPr wrap="none" rtlCol="0">
            <a:spAutoFit/>
          </a:bodyPr>
          <a:lstStyle/>
          <a:p>
            <a:pPr fontAlgn="base">
              <a:spcBef>
                <a:spcPct val="0"/>
              </a:spcBef>
              <a:spcAft>
                <a:spcPct val="0"/>
              </a:spcAft>
              <a:defRPr/>
            </a:pPr>
            <a:endParaRPr lang="ja-JP" altLang="en-US">
              <a:solidFill>
                <a:prstClr val="black"/>
              </a:solidFill>
              <a:latin typeface="Arial" pitchFamily="34" charset="0"/>
              <a:ea typeface="ＭＳ Ｐゴシック" pitchFamily="50" charset="-128"/>
            </a:endParaRPr>
          </a:p>
        </p:txBody>
      </p:sp>
      <p:sp>
        <p:nvSpPr>
          <p:cNvPr id="18" name="正方形/長方形 17"/>
          <p:cNvSpPr/>
          <p:nvPr/>
        </p:nvSpPr>
        <p:spPr>
          <a:xfrm>
            <a:off x="2170038" y="989684"/>
            <a:ext cx="5565924" cy="369332"/>
          </a:xfrm>
          <a:prstGeom prst="rect">
            <a:avLst/>
          </a:prstGeom>
        </p:spPr>
        <p:txBody>
          <a:bodyPr wrap="square">
            <a:spAutoFit/>
          </a:bodyPr>
          <a:lstStyle/>
          <a:p>
            <a:pPr algn="ctr" fontAlgn="base">
              <a:spcBef>
                <a:spcPct val="20000"/>
              </a:spcBef>
              <a:spcAft>
                <a:spcPct val="0"/>
              </a:spcAft>
              <a:defRPr/>
            </a:pPr>
            <a:r>
              <a:rPr lang="ja-JP" altLang="en-US" b="1" dirty="0">
                <a:solidFill>
                  <a:prstClr val="black"/>
                </a:solidFill>
                <a:latin typeface="メイリオ" charset="0"/>
                <a:ea typeface="メイリオ" charset="0"/>
                <a:cs typeface="メイリオ" charset="0"/>
              </a:rPr>
              <a:t>貴社の明るい未来に必ず貢献致します。</a:t>
            </a:r>
          </a:p>
        </p:txBody>
      </p:sp>
      <p:sp>
        <p:nvSpPr>
          <p:cNvPr id="14" name="正方形/長方形 13"/>
          <p:cNvSpPr/>
          <p:nvPr/>
        </p:nvSpPr>
        <p:spPr>
          <a:xfrm>
            <a:off x="382695" y="2698377"/>
            <a:ext cx="598220" cy="205890"/>
          </a:xfrm>
          <a:prstGeom prst="rect">
            <a:avLst/>
          </a:prstGeom>
        </p:spPr>
        <p:txBody>
          <a:bodyPr wrap="square">
            <a:spAutoFit/>
          </a:bodyPr>
          <a:lstStyle/>
          <a:p>
            <a:pPr algn="ctr" fontAlgn="base">
              <a:spcBef>
                <a:spcPct val="20000"/>
              </a:spcBef>
              <a:spcAft>
                <a:spcPct val="0"/>
              </a:spcAft>
              <a:defRPr/>
            </a:pPr>
            <a:r>
              <a:rPr lang="ja-JP" altLang="en-US" sz="738">
                <a:solidFill>
                  <a:srgbClr val="FFFFFF"/>
                </a:solidFill>
                <a:latin typeface="メイリオ" charset="0"/>
                <a:ea typeface="メイリオ" charset="0"/>
                <a:cs typeface="メイリオ" charset="0"/>
              </a:rPr>
              <a:t>本社</a:t>
            </a:r>
          </a:p>
        </p:txBody>
      </p:sp>
      <p:sp>
        <p:nvSpPr>
          <p:cNvPr id="15" name="正方形/長方形 14"/>
          <p:cNvSpPr/>
          <p:nvPr/>
        </p:nvSpPr>
        <p:spPr>
          <a:xfrm>
            <a:off x="368300" y="2355213"/>
            <a:ext cx="756684" cy="215444"/>
          </a:xfrm>
          <a:prstGeom prst="rect">
            <a:avLst/>
          </a:prstGeom>
        </p:spPr>
        <p:txBody>
          <a:bodyPr wrap="square">
            <a:spAutoFit/>
          </a:bodyPr>
          <a:lstStyle/>
          <a:p>
            <a:pPr algn="ctr" fontAlgn="base">
              <a:spcBef>
                <a:spcPct val="20000"/>
              </a:spcBef>
              <a:spcAft>
                <a:spcPct val="0"/>
              </a:spcAft>
              <a:defRPr/>
            </a:pPr>
            <a:r>
              <a:rPr lang="ja-JP" altLang="en-US" sz="800" dirty="0">
                <a:solidFill>
                  <a:srgbClr val="FFFFFF"/>
                </a:solidFill>
                <a:latin typeface="メイリオ" charset="0"/>
                <a:ea typeface="メイリオ" charset="0"/>
                <a:cs typeface="メイリオ" charset="0"/>
              </a:rPr>
              <a:t>本社</a:t>
            </a:r>
          </a:p>
        </p:txBody>
      </p:sp>
      <p:grpSp>
        <p:nvGrpSpPr>
          <p:cNvPr id="22" name="グループ化 21">
            <a:extLst>
              <a:ext uri="{FF2B5EF4-FFF2-40B4-BE49-F238E27FC236}">
                <a16:creationId xmlns:a16="http://schemas.microsoft.com/office/drawing/2014/main" id="{05A1AABC-CDB8-5B83-4CFD-649967A361BF}"/>
              </a:ext>
            </a:extLst>
          </p:cNvPr>
          <p:cNvGrpSpPr/>
          <p:nvPr/>
        </p:nvGrpSpPr>
        <p:grpSpPr>
          <a:xfrm>
            <a:off x="381002" y="1772817"/>
            <a:ext cx="9143999" cy="3314853"/>
            <a:chOff x="1" y="1772816"/>
            <a:chExt cx="9143999" cy="3314853"/>
          </a:xfrm>
        </p:grpSpPr>
        <p:pic>
          <p:nvPicPr>
            <p:cNvPr id="21" name="図 20" descr="ポーズをとる男性グループ&#10;&#10;自動的に生成された説明">
              <a:extLst>
                <a:ext uri="{FF2B5EF4-FFF2-40B4-BE49-F238E27FC236}">
                  <a16:creationId xmlns:a16="http://schemas.microsoft.com/office/drawing/2014/main" id="{4927F40E-D146-C638-5583-C9DC2984722E}"/>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3642" r="4076"/>
            <a:stretch/>
          </p:blipFill>
          <p:spPr>
            <a:xfrm>
              <a:off x="6973793" y="3518745"/>
              <a:ext cx="2170207" cy="1567781"/>
            </a:xfrm>
            <a:prstGeom prst="rect">
              <a:avLst/>
            </a:prstGeom>
          </p:spPr>
        </p:pic>
        <p:pic>
          <p:nvPicPr>
            <p:cNvPr id="16" name="図 15" descr="白いシャツを着ている男性&#10;&#10;中程度の精度で自動的に生成された説明">
              <a:extLst>
                <a:ext uri="{FF2B5EF4-FFF2-40B4-BE49-F238E27FC236}">
                  <a16:creationId xmlns:a16="http://schemas.microsoft.com/office/drawing/2014/main" id="{2ECDFCA7-8611-D865-F999-FDCD0EC2126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983808" y="3519888"/>
              <a:ext cx="1989985" cy="1567781"/>
            </a:xfrm>
            <a:prstGeom prst="rect">
              <a:avLst/>
            </a:prstGeom>
          </p:spPr>
        </p:pic>
        <p:pic>
          <p:nvPicPr>
            <p:cNvPr id="10" name="図 9" descr="スーツを着た男性たち&#10;&#10;自動的に生成された説明">
              <a:extLst>
                <a:ext uri="{FF2B5EF4-FFF2-40B4-BE49-F238E27FC236}">
                  <a16:creationId xmlns:a16="http://schemas.microsoft.com/office/drawing/2014/main" id="{9D3AD52A-1514-4350-FFDD-09984B3666E2}"/>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10703" r="10363"/>
            <a:stretch/>
          </p:blipFill>
          <p:spPr>
            <a:xfrm>
              <a:off x="7299681" y="1773979"/>
              <a:ext cx="1842624" cy="1745909"/>
            </a:xfrm>
            <a:prstGeom prst="rect">
              <a:avLst/>
            </a:prstGeom>
          </p:spPr>
        </p:pic>
        <p:pic>
          <p:nvPicPr>
            <p:cNvPr id="7" name="図 6" descr="講堂にいる人たち&#10;&#10;中程度の精度で自動的に生成された説明">
              <a:extLst>
                <a:ext uri="{FF2B5EF4-FFF2-40B4-BE49-F238E27FC236}">
                  <a16:creationId xmlns:a16="http://schemas.microsoft.com/office/drawing/2014/main" id="{B1CA0DFF-0DAF-D5BD-8D9F-8AFB103E2698}"/>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2512" t="12879" r="2477"/>
            <a:stretch/>
          </p:blipFill>
          <p:spPr>
            <a:xfrm>
              <a:off x="1" y="1772816"/>
              <a:ext cx="5089778" cy="3314853"/>
            </a:xfrm>
            <a:prstGeom prst="rect">
              <a:avLst/>
            </a:prstGeom>
          </p:spPr>
        </p:pic>
        <p:pic>
          <p:nvPicPr>
            <p:cNvPr id="11" name="図 10" descr="スーツを着た男性グループの写真&#10;&#10;低い精度で自動的に生成された説明">
              <a:extLst>
                <a:ext uri="{FF2B5EF4-FFF2-40B4-BE49-F238E27FC236}">
                  <a16:creationId xmlns:a16="http://schemas.microsoft.com/office/drawing/2014/main" id="{FEFAFF33-EFBF-C67E-586A-08D93AF295F8}"/>
                </a:ext>
              </a:extLst>
            </p:cNvPr>
            <p:cNvPicPr>
              <a:picLocks noChangeAspect="1"/>
            </p:cNvPicPr>
            <p:nvPr/>
          </p:nvPicPr>
          <p:blipFill rotWithShape="1">
            <a:blip r:embed="rId8" cstate="print">
              <a:extLst>
                <a:ext uri="{28A0092B-C50C-407E-A947-70E740481C1C}">
                  <a14:useLocalDpi xmlns:a14="http://schemas.microsoft.com/office/drawing/2010/main" val="0"/>
                </a:ext>
              </a:extLst>
            </a:blip>
            <a:srcRect l="8595" r="6763"/>
            <a:stretch/>
          </p:blipFill>
          <p:spPr>
            <a:xfrm>
              <a:off x="5089779" y="1772836"/>
              <a:ext cx="2215315" cy="1745909"/>
            </a:xfrm>
            <a:prstGeom prst="rect">
              <a:avLst/>
            </a:prstGeom>
          </p:spPr>
        </p:pic>
      </p:grpSp>
      <p:sp>
        <p:nvSpPr>
          <p:cNvPr id="6" name="正方形/長方形 5">
            <a:extLst>
              <a:ext uri="{FF2B5EF4-FFF2-40B4-BE49-F238E27FC236}">
                <a16:creationId xmlns:a16="http://schemas.microsoft.com/office/drawing/2014/main" id="{238B92EF-519D-929F-4345-5BAC445EF234}"/>
              </a:ext>
            </a:extLst>
          </p:cNvPr>
          <p:cNvSpPr/>
          <p:nvPr/>
        </p:nvSpPr>
        <p:spPr>
          <a:xfrm>
            <a:off x="128016" y="6620256"/>
            <a:ext cx="2852928" cy="237744"/>
          </a:xfrm>
          <a:prstGeom prst="rect">
            <a:avLst/>
          </a:prstGeom>
          <a:solidFill>
            <a:srgbClr val="191F54"/>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正方形/長方形 1">
            <a:extLst>
              <a:ext uri="{FF2B5EF4-FFF2-40B4-BE49-F238E27FC236}">
                <a16:creationId xmlns:a16="http://schemas.microsoft.com/office/drawing/2014/main" id="{A949B271-D24D-666E-90F2-EA616E1EABC2}"/>
              </a:ext>
            </a:extLst>
          </p:cNvPr>
          <p:cNvSpPr/>
          <p:nvPr/>
        </p:nvSpPr>
        <p:spPr>
          <a:xfrm>
            <a:off x="368300" y="0"/>
            <a:ext cx="9537700" cy="514974"/>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4185355464"/>
      </p:ext>
    </p:extLst>
  </p:cSld>
  <p:clrMapOvr>
    <a:masterClrMapping/>
  </p:clrMapOvr>
  <p:transition spd="slow"/>
</p:sld>
</file>

<file path=ppt/theme/theme1.xml><?xml version="1.0" encoding="utf-8"?>
<a:theme xmlns:a="http://schemas.openxmlformats.org/drawingml/2006/main" name="テーマ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テーマ1" id="{8EA1701B-0E00-4167-9612-575199E01EDB}" vid="{8EF6575E-BB77-44AE-AF00-801DE4CAFB82}"/>
    </a:ext>
  </a:extLst>
</a:theme>
</file>

<file path=ppt/theme/theme2.xml><?xml version="1.0" encoding="utf-8"?>
<a:theme xmlns:a="http://schemas.openxmlformats.org/drawingml/2006/main" name="DYMJAPA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Default Theme</Template>
  <TotalTime>143137</TotalTime>
  <Words>5594</Words>
  <Application>Microsoft Office PowerPoint</Application>
  <PresentationFormat>A4 210 x 297 mm</PresentationFormat>
  <Paragraphs>1142</Paragraphs>
  <Slides>46</Slides>
  <Notes>21</Notes>
  <HiddenSlides>0</HiddenSlides>
  <MMClips>0</MMClips>
  <ScaleCrop>false</ScaleCrop>
  <HeadingPairs>
    <vt:vector size="6" baseType="variant">
      <vt:variant>
        <vt:lpstr>使用されているフォント</vt:lpstr>
      </vt:variant>
      <vt:variant>
        <vt:i4>5</vt:i4>
      </vt:variant>
      <vt:variant>
        <vt:lpstr>テーマ</vt:lpstr>
      </vt:variant>
      <vt:variant>
        <vt:i4>2</vt:i4>
      </vt:variant>
      <vt:variant>
        <vt:lpstr>スライド タイトル</vt:lpstr>
      </vt:variant>
      <vt:variant>
        <vt:i4>46</vt:i4>
      </vt:variant>
    </vt:vector>
  </HeadingPairs>
  <TitlesOfParts>
    <vt:vector size="53" baseType="lpstr">
      <vt:lpstr>メイリオ</vt:lpstr>
      <vt:lpstr>メイリオ</vt:lpstr>
      <vt:lpstr>Arial</vt:lpstr>
      <vt:lpstr>Calibri</vt:lpstr>
      <vt:lpstr>Century Gothic</vt:lpstr>
      <vt:lpstr>テーマ1</vt:lpstr>
      <vt:lpstr>DYMJAPAN</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中村 駿</dc:creator>
  <cp:lastModifiedBy>殿村 亮太</cp:lastModifiedBy>
  <cp:revision>1962</cp:revision>
  <cp:lastPrinted>2022-11-01T11:38:14Z</cp:lastPrinted>
  <dcterms:created xsi:type="dcterms:W3CDTF">2015-09-04T09:21:15Z</dcterms:created>
  <dcterms:modified xsi:type="dcterms:W3CDTF">2026-10-12T04:56:31Z</dcterms:modified>
</cp:coreProperties>
</file>