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7" r:id="rId2"/>
  </p:sldMasterIdLst>
  <p:notesMasterIdLst>
    <p:notesMasterId r:id="rId37"/>
  </p:notesMasterIdLst>
  <p:handoutMasterIdLst>
    <p:handoutMasterId r:id="rId38"/>
  </p:handoutMasterIdLst>
  <p:sldIdLst>
    <p:sldId id="2363" r:id="rId3"/>
    <p:sldId id="3021" r:id="rId43"/>
    <p:sldId id="3022" r:id="rId44"/>
    <p:sldId id="3023" r:id="rId45"/>
    <p:sldId id="3024" r:id="rId46"/>
    <p:sldId id="2971" r:id="rId6"/>
    <p:sldId id="2972" r:id="rId7"/>
    <p:sldId id="3025" r:id="rId47"/>
    <p:sldId id="3026" r:id="rId48"/>
    <p:sldId id="2987" r:id="rId10"/>
    <p:sldId id="3027" r:id="rId49"/>
    <p:sldId id="3028" r:id="rId50"/>
    <p:sldId id="3029" r:id="rId51"/>
    <p:sldId id="3030" r:id="rId52"/>
    <p:sldId id="3031" r:id="rId53"/>
    <p:sldId id="3032" r:id="rId54"/>
    <p:sldId id="3033" r:id="rId55"/>
    <p:sldId id="2991" r:id="rId30"/>
    <p:sldId id="2990" r:id="rId27"/>
  </p:sldIdLst>
  <p:sldSz cx="9906000" cy="6858000" type="A4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58" userDrawn="1">
          <p15:clr>
            <a:srgbClr val="A4A3A4"/>
          </p15:clr>
        </p15:guide>
        <p15:guide id="2" pos="3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FA0A"/>
    <a:srgbClr val="173559"/>
    <a:srgbClr val="FDFDFD"/>
    <a:srgbClr val="2080FF"/>
    <a:srgbClr val="1D8DFF"/>
    <a:srgbClr val="515457"/>
    <a:srgbClr val="F6A454"/>
    <a:srgbClr val="EAEEF4"/>
    <a:srgbClr val="2D6CB9"/>
    <a:srgbClr val="D1D9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中間スタイル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157" autoAdjust="0"/>
    <p:restoredTop sz="94424" autoAdjust="0"/>
  </p:normalViewPr>
  <p:slideViewPr>
    <p:cSldViewPr snapToGrid="0">
      <p:cViewPr>
        <p:scale>
          <a:sx n="66" d="100"/>
          <a:sy n="66" d="100"/>
        </p:scale>
        <p:origin x="1024" y="220"/>
      </p:cViewPr>
      <p:guideLst>
        <p:guide orient="horz" pos="3158"/>
        <p:guide pos="30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072"/>
    </p:cViewPr>
  </p:sorterViewPr>
  <p:notesViewPr>
    <p:cSldViewPr snapToGrid="0">
      <p:cViewPr varScale="1">
        <p:scale>
          <a:sx n="79" d="100"/>
          <a:sy n="79" d="100"/>
        </p:scale>
        <p:origin x="4014" y="102"/>
      </p:cViewPr>
      <p:guideLst/>
    </p:cSldViewPr>
  </p:notesViewPr>
  <p:gridSpacing cx="1080001" cy="1080001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10" Type="http://schemas.openxmlformats.org/officeDocument/2006/relationships/slide" Target="slides/slide10.xml"/><Relationship Id="rId27" Type="http://schemas.openxmlformats.org/officeDocument/2006/relationships/slide" Target="slides/slide19.xml"/><Relationship Id="rId30" Type="http://schemas.openxmlformats.org/officeDocument/2006/relationships/slide" Target="slides/slide18.xml"/><Relationship Id="rId37" Type="http://schemas.openxmlformats.org/officeDocument/2006/relationships/notesMaster" Target="notesMasters/notesMaster1.xml"/><Relationship Id="rId38" Type="http://schemas.openxmlformats.org/officeDocument/2006/relationships/handoutMaster" Target="handoutMasters/handout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Relationship Id="rId43" Type="http://schemas.openxmlformats.org/officeDocument/2006/relationships/slide" Target="slides/slide2.xml"/><Relationship Id="rId44" Type="http://schemas.openxmlformats.org/officeDocument/2006/relationships/slide" Target="slides/slide3.xml"/><Relationship Id="rId45" Type="http://schemas.openxmlformats.org/officeDocument/2006/relationships/slide" Target="slides/slide4.xml"/><Relationship Id="rId46" Type="http://schemas.openxmlformats.org/officeDocument/2006/relationships/slide" Target="slides/slide5.xml"/><Relationship Id="rId47" Type="http://schemas.openxmlformats.org/officeDocument/2006/relationships/slide" Target="slides/slide8.xml"/><Relationship Id="rId48" Type="http://schemas.openxmlformats.org/officeDocument/2006/relationships/slide" Target="slides/slide9.xml"/><Relationship Id="rId49" Type="http://schemas.openxmlformats.org/officeDocument/2006/relationships/slide" Target="slides/slide11.xml"/><Relationship Id="rId50" Type="http://schemas.openxmlformats.org/officeDocument/2006/relationships/slide" Target="slides/slide12.xml"/><Relationship Id="rId51" Type="http://schemas.openxmlformats.org/officeDocument/2006/relationships/slide" Target="slides/slide13.xml"/><Relationship Id="rId52" Type="http://schemas.openxmlformats.org/officeDocument/2006/relationships/slide" Target="slides/slide14.xml"/><Relationship Id="rId53" Type="http://schemas.openxmlformats.org/officeDocument/2006/relationships/slide" Target="slides/slide15.xml"/><Relationship Id="rId54" Type="http://schemas.openxmlformats.org/officeDocument/2006/relationships/slide" Target="slides/slide16.xml"/><Relationship Id="rId55" Type="http://schemas.openxmlformats.org/officeDocument/2006/relationships/slide" Target="slides/slide1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友だち（累計）</c:v>
                </c:pt>
              </c:strCache>
            </c:strRef>
          </c:tx>
          <c:spPr>
            <a:solidFill>
              <a:srgbClr val="06C755"/>
            </a:solidFill>
          </c:spPr>
          <c:cat>
            <c:strRef>
              <c:f>Sheet1!$A$2:$A$7</c:f>
              <c:strCache>
                <c:ptCount val="6"/>
                <c:pt idx="0">
                  <c:v>4月</c:v>
                </c:pt>
                <c:pt idx="1">
                  <c:v>5月</c:v>
                </c:pt>
                <c:pt idx="2">
                  <c:v>6月</c:v>
                </c:pt>
                <c:pt idx="3">
                  <c:v>7月</c:v>
                </c:pt>
                <c:pt idx="4">
                  <c:v>8月</c:v>
                </c:pt>
                <c:pt idx="5">
                  <c:v>9月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63</c:v>
                </c:pt>
                <c:pt idx="1">
                  <c:v>143</c:v>
                </c:pt>
                <c:pt idx="2">
                  <c:v>235</c:v>
                </c:pt>
                <c:pt idx="3">
                  <c:v>335</c:v>
                </c:pt>
                <c:pt idx="4">
                  <c:v>436</c:v>
                </c:pt>
                <c:pt idx="5">
                  <c:v>542</c:v>
                </c:pt>
              </c:numCache>
            </c:numRef>
          </c:val>
        </c:ser>
        <c:dLbls>
          <c:numFmt formatCode="#,##0&quot;人&quot;" sourceLinked="0"/>
          <c:txPr>
            <a:bodyPr/>
            <a:lstStyle/>
            <a:p>
              <a:pPr>
                <a:defRPr sz="1300" b="1">
                  <a:solidFill>
                    <a:srgbClr val="1F285A"/>
                  </a:solidFill>
                  <a:latin typeface="メイリオ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1200">
                <a:latin typeface="メイリオ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5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latin typeface="メイリオ"/>
        </a:defRPr>
      </a:pPr>
      <a:endParaRPr lang="en-US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5621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r">
              <a:defRPr sz="1200"/>
            </a:lvl1pPr>
          </a:lstStyle>
          <a:p>
            <a:fld id="{7B45B759-5475-4693-BFD4-53BF6401E4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9530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5082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r">
              <a:defRPr sz="1200"/>
            </a:lvl1pPr>
          </a:lstStyle>
          <a:p>
            <a:fld id="{6AF8158D-F6B1-45E0-9831-E70689DC8490}" type="datetimeFigureOut">
              <a:rPr kumimoji="1" lang="ja-JP" altLang="en-US" smtClean="0"/>
              <a:t>2026/10/2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50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29" tIns="45765" rIns="91529" bIns="45765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0402" y="4782901"/>
            <a:ext cx="5446396" cy="3913426"/>
          </a:xfrm>
          <a:prstGeom prst="rect">
            <a:avLst/>
          </a:prstGeom>
        </p:spPr>
        <p:txBody>
          <a:bodyPr vert="horz" lIns="91529" tIns="45765" rIns="91529" bIns="45765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5082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r">
              <a:defRPr sz="1200"/>
            </a:lvl1pPr>
          </a:lstStyle>
          <a:p>
            <a:fld id="{022E43C0-6795-4B13-B37C-259C826D4B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0918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15D0A-BA72-DE45-32FA-363803F14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7D2F8A3-D4B3-B9E6-A613-A157696B87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33FBD4A-B575-3375-091A-F6A24B5A9B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CAEAEB9-E37C-569F-CBB7-45D65E2A09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38476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81540-B398-8C02-E1F2-1F1C4798C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A82C74D-328C-FB0E-E710-C92A52BEF4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175EB1E7-3A4C-2E0A-CA67-686800FA87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173A52D-F6CC-DC20-5CFE-D4EBA25ECC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79868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7BDD3-88EE-99A9-AEE2-C1F41DDAB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50017B6-5C78-4075-2708-AC5DB83D5C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ECFD86C-83D9-B8F9-9012-A14834B203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02F5ACB-1F4C-FA7D-D366-8DCBB1214F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13352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BE411-4324-1BAD-C78B-91DF91FD9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4D549732-A76E-5601-F486-7A42B1789D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3275E6F-98B5-9B49-8F3C-8CAF75C8D6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553E365-D354-3F82-CA83-108FC9376A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25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155914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DBF5B-1845-D193-7974-D86F6501A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B241EA19-E230-7BF9-50E1-64D71F07CF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0FCC320-6462-2E53-372E-51E35D6A4C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1D45867-3EDE-BF64-D973-FA5EA5D84F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28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49959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 userDrawn="1"/>
        </p:nvSpPr>
        <p:spPr>
          <a:xfrm>
            <a:off x="9398000" y="6591300"/>
            <a:ext cx="419100" cy="266700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8107768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191F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/>
          <p:cNvSpPr/>
          <p:nvPr/>
        </p:nvSpPr>
        <p:spPr>
          <a:xfrm>
            <a:off x="0" y="0"/>
            <a:ext cx="451204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8189266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521234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1357" y="72255"/>
            <a:ext cx="1598627" cy="424153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1355" y="32333"/>
            <a:ext cx="1653069" cy="635796"/>
          </a:xfrm>
          <a:prstGeom prst="rect">
            <a:avLst/>
          </a:prstGeom>
        </p:spPr>
      </p:pic>
      <p:sp>
        <p:nvSpPr>
          <p:cNvPr id="6" name="正方形/長方形 5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  <p:sp>
        <p:nvSpPr>
          <p:cNvPr id="8" name="スライド番号プレースホルダ 1"/>
          <p:cNvSpPr txBox="1">
            <a:spLocks/>
          </p:cNvSpPr>
          <p:nvPr/>
        </p:nvSpPr>
        <p:spPr>
          <a:xfrm>
            <a:off x="7594600" y="6552729"/>
            <a:ext cx="2311400" cy="365125"/>
          </a:xfrm>
          <a:prstGeom prst="rect">
            <a:avLst/>
          </a:prstGeom>
        </p:spPr>
        <p:txBody>
          <a:bodyPr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b="1" smtClean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pPr algn="r"/>
              <a:t>‹#›</a:t>
            </a:fld>
            <a:endParaRPr lang="ja-JP" altLang="en-US" sz="14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>
            <a:spLocks noChangeArrowheads="1"/>
          </p:cNvSpPr>
          <p:nvPr userDrawn="1"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Copyright(c) DYM Co., Ltd</a:t>
            </a:r>
            <a:r>
              <a:rPr lang="ja-JP" altLang="en-US" sz="800" b="1" dirty="0" err="1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．</a:t>
            </a: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5870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83" r:id="rId2"/>
    <p:sldLayoutId id="2147483689" r:id="rId3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sp>
        <p:nvSpPr>
          <p:cNvPr id="10" name="テキスト ボックス 9"/>
          <p:cNvSpPr txBox="1">
            <a:spLocks noChangeArrowheads="1"/>
          </p:cNvSpPr>
          <p:nvPr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Copyright(c) DYM Co., </a:t>
            </a:r>
            <a:r>
              <a:rPr lang="en-US" altLang="ja-JP" sz="800" b="1" dirty="0" err="1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Ltd.All</a:t>
            </a: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 Rights Reserved.</a:t>
            </a:r>
          </a:p>
        </p:txBody>
      </p:sp>
      <p:sp>
        <p:nvSpPr>
          <p:cNvPr id="8" name="正方形/長方形 7"/>
          <p:cNvSpPr/>
          <p:nvPr/>
        </p:nvSpPr>
        <p:spPr>
          <a:xfrm>
            <a:off x="0" y="0"/>
            <a:ext cx="416496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cxnSp>
        <p:nvCxnSpPr>
          <p:cNvPr id="4" name="直線コネクタ 3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0032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図 1"/>
          <p:cNvPicPr>
            <a:picLocks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47" r="-11171"/>
          <a:stretch/>
        </p:blipFill>
        <p:spPr bwMode="auto">
          <a:xfrm>
            <a:off x="8619408" y="161057"/>
            <a:ext cx="1192729" cy="263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スライド番号プレースホルダ 1"/>
          <p:cNvSpPr txBox="1">
            <a:spLocks/>
          </p:cNvSpPr>
          <p:nvPr userDrawn="1"/>
        </p:nvSpPr>
        <p:spPr>
          <a:xfrm>
            <a:off x="7545288" y="6571255"/>
            <a:ext cx="2133600" cy="216000"/>
          </a:xfrm>
          <a:prstGeom prst="rect">
            <a:avLst/>
          </a:prstGeom>
        </p:spPr>
        <p:txBody>
          <a:bodyPr tIns="25200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i="1" smtClean="0">
                <a:solidFill>
                  <a:prstClr val="white"/>
                </a:solidFill>
                <a:latin typeface="Century Gothic" panose="020B0502020202020204" pitchFamily="34" charset="0"/>
              </a:rPr>
              <a:pPr algn="r"/>
              <a:t>‹#›</a:t>
            </a:fld>
            <a:endParaRPr lang="ja-JP" altLang="en-US" sz="1400" i="1" dirty="0">
              <a:solidFill>
                <a:prstClr val="white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138245"/>
      </p:ext>
    </p:extLst>
  </p:cSld>
  <p:clrMap bg1="lt1" tx1="dk1" bg2="lt2" tx2="dk2" accent1="accent1" accent2="accent2" accent3="accent3" accent4="accent4" accent5="accent5" accent6="accent6" hlink="hlink" folHlink="folHlink"/>
  <p:hf hd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png"/><Relationship Id="rId3" Type="http://schemas.openxmlformats.org/officeDocument/2006/relationships/image" Target="../media/image1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1">
            <a:extLst>
              <a:ext uri="{FF2B5EF4-FFF2-40B4-BE49-F238E27FC236}">
                <a16:creationId xmlns:a16="http://schemas.microsoft.com/office/drawing/2014/main" id="{69A0322D-BA5F-9122-1E12-FB7AC2AF15A5}"/>
              </a:ext>
            </a:extLst>
          </p:cNvPr>
          <p:cNvSpPr/>
          <p:nvPr/>
        </p:nvSpPr>
        <p:spPr>
          <a:xfrm>
            <a:off x="972000" y="2160000"/>
            <a:ext cx="7956000" cy="1116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ja-IS" sz="2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Webサイトリニューアルに伴う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lang="en-US" altLang="ja-IS" sz="2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「公式LINE活用・顧客ストック化」のご提案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4" name="正方形/長方形 5">
            <a:extLst>
              <a:ext uri="{FF2B5EF4-FFF2-40B4-BE49-F238E27FC236}">
                <a16:creationId xmlns:a16="http://schemas.microsoft.com/office/drawing/2014/main" id="{3CC59398-53B4-E01E-A60C-6C13628FCBFB}"/>
              </a:ext>
            </a:extLst>
          </p:cNvPr>
          <p:cNvSpPr/>
          <p:nvPr/>
        </p:nvSpPr>
        <p:spPr>
          <a:xfrm>
            <a:off x="972000" y="1800000"/>
            <a:ext cx="79560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ja-JP" altLang="en-US" sz="1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34" charset="-128"/>
                <a:ea typeface="メイリオ" panose="020B0604030504040204" pitchFamily="34" charset="-128"/>
                <a:cs typeface="メイリオ"/>
              </a:rPr>
              <a:t>―新サイトの集客力と応募率を最大化する「同時導入」プラン―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B532C1C8-7FE6-8830-B27C-27941421F5F9}"/>
              </a:ext>
            </a:extLst>
          </p:cNvPr>
          <p:cNvCxnSpPr>
            <a:cxnSpLocks/>
          </p:cNvCxnSpPr>
          <p:nvPr/>
        </p:nvCxnSpPr>
        <p:spPr>
          <a:xfrm>
            <a:off x="1337175" y="3199966"/>
            <a:ext cx="7231660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図 8" descr="背景パターン&#10;&#10;AI 生成コンテンツは誤りを含む可能性があります。">
            <a:extLst>
              <a:ext uri="{FF2B5EF4-FFF2-40B4-BE49-F238E27FC236}">
                <a16:creationId xmlns:a16="http://schemas.microsoft.com/office/drawing/2014/main" id="{FFE022E1-8FF6-B4B4-B955-17E7CFA964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8159931" cy="766354"/>
          </a:xfrm>
          <a:prstGeom prst="rect">
            <a:avLst/>
          </a:prstGeom>
        </p:spPr>
      </p:pic>
      <p:pic>
        <p:nvPicPr>
          <p:cNvPr id="7" name="図 9" descr="背景パターン&#10;&#10;AI 生成コンテンツは誤りを含む可能性があります。">
            <a:extLst>
              <a:ext uri="{FF2B5EF4-FFF2-40B4-BE49-F238E27FC236}">
                <a16:creationId xmlns:a16="http://schemas.microsoft.com/office/drawing/2014/main" id="{0F2999B3-5873-C495-70F5-12487911C6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494114"/>
            <a:ext cx="2042161" cy="272239"/>
          </a:xfrm>
          <a:prstGeom prst="rect">
            <a:avLst/>
          </a:prstGeom>
        </p:spPr>
      </p:pic>
      <p:sp>
        <p:nvSpPr>
          <p:cNvPr id="8" name="テキスト ボックス 6">
            <a:extLst>
              <a:ext uri="{FF2B5EF4-FFF2-40B4-BE49-F238E27FC236}">
                <a16:creationId xmlns:a16="http://schemas.microsoft.com/office/drawing/2014/main" id="{7170AE42-913D-895E-A1DE-6A899FE53370}"/>
              </a:ext>
            </a:extLst>
          </p:cNvPr>
          <p:cNvSpPr txBox="1"/>
          <p:nvPr/>
        </p:nvSpPr>
        <p:spPr>
          <a:xfrm>
            <a:off x="291974" y="263665"/>
            <a:ext cx="49658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34" charset="-128"/>
                <a:ea typeface="メイリオ" panose="020B0604030504040204" pitchFamily="34" charset="-128"/>
                <a:cs typeface="メイリオ"/>
              </a:rPr>
              <a:t>株式会社チェングロウス 御中</a:t>
            </a:r>
          </a:p>
        </p:txBody>
      </p:sp>
      <p:pic>
        <p:nvPicPr>
          <p:cNvPr id="9" name="Picture 10" descr="chengrowt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3000" y="3478502"/>
            <a:ext cx="2880000" cy="337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598036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本日のアジェンダ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Webサイト改善の「先」にある、求職者を逃さないLINE連携の全体像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92000" y="1655999"/>
            <a:ext cx="936000" cy="972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000" tIns="0" rIns="3600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00000" y="1655999"/>
            <a:ext cx="7311600" cy="97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16000" tIns="36000" rIns="144000" bIns="36000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Web改修後の課題とLINEの立ち位置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サイトを新しくしても残る課題と、LINEを同時に入れる理由（3〜5・9〜11ページ）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2000" y="2754000"/>
            <a:ext cx="936000" cy="972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000" tIns="0" rIns="3600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00000" y="2754000"/>
            <a:ext cx="7311600" cy="97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16000" tIns="36000" rIns="144000" bIns="36000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大手（タウンワーク）事例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求人業界でLINEが応募を増やした実例と、自動車求人サイトへの応用（6〜8ページ）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2000" y="3851999"/>
            <a:ext cx="936000" cy="972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000" tIns="0" rIns="3600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00000" y="3851999"/>
            <a:ext cx="7311600" cy="97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16000" tIns="36000" rIns="144000" bIns="36000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導線とユーザー体験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新サイトとLINEをつなぐ導線・画面イメージ・自動応答（12〜15ページ）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2000" y="4949999"/>
            <a:ext cx="936000" cy="972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000" tIns="0" rIns="3600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00000" y="4949999"/>
            <a:ext cx="7311600" cy="97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16000" tIns="36000" rIns="144000" bIns="36000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効果と費用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友だち獲得の試算・費用の考え方・お見積もり・スケジュール（16〜19ページ）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Webサイトリニューアルの「次の課題」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サイトを新しくしても、フォーム入力の途中で離脱する求職者は必ず発生する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サイト改修だけでは届かない「検討層・離脱層」への対策が必要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92000" y="1655999"/>
            <a:ext cx="3960000" cy="360000"/>
          </a:xfrm>
          <a:prstGeom prst="roundRect">
            <a:avLst>
              <a:gd name="adj" fmla="val 6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0" rIns="7200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サイト改修で良くなること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2000" y="2015999"/>
            <a:ext cx="3960000" cy="1548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216000" tIns="144000" rIns="144000" bIns="36000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・見やすさ・使いやすさ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・求人の探しやすさ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・応募フォームの入力しやすさ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→ 応募する方が増える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824000" y="2520000"/>
            <a:ext cx="288000" cy="288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148000" y="1655999"/>
            <a:ext cx="3960000" cy="360000"/>
          </a:xfrm>
          <a:prstGeom prst="roundRect">
            <a:avLst>
              <a:gd name="adj" fmla="val 6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0" rIns="7200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改修しても残ること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48000" y="2015999"/>
            <a:ext cx="3960000" cy="15480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216000" tIns="144000" rIns="144000" bIns="36000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・比較検討中で、まだ応募しない方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・フォームの途中で離れた方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・応募しなかった方との接点が、その後は残らない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000" y="3671999"/>
            <a:ext cx="83160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整備士は、複数の経路を比べながら仕事を探している（仕事を探した経路・複数回答）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2000" y="3996000"/>
            <a:ext cx="2628000" cy="122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転職エージェント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3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35.3%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36000" y="3996000"/>
            <a:ext cx="2628000" cy="122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総合型の求人サイト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3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34.1%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80000" y="3996000"/>
            <a:ext cx="2628000" cy="122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業界特化型の求人サイト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3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33.0%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000" y="5400000"/>
            <a:ext cx="83196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0" rIns="14400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応募に至らなかった方を、後から追える仕組みが必要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000" y="5903999"/>
            <a:ext cx="83196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出典：モビリア総研調査（直近3年に転職した整備士1,249人・Response 2026年9月23日）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解決策｜Web × LINEの同時導入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LINEを同時に導入し、「友だち追加＝会員・見込み客のストック」として獲得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応募まで至らない方を貯めて、後から案内できる仕組みにする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92000" y="1655999"/>
            <a:ext cx="1512000" cy="2376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000" tIns="0" rIns="36000" bIns="0"/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新サイトに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来訪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358000" y="1980000"/>
            <a:ext cx="251999" cy="251999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ight Arrow 7"/>
          <p:cNvSpPr/>
          <p:nvPr/>
        </p:nvSpPr>
        <p:spPr>
          <a:xfrm>
            <a:off x="2358000" y="3456000"/>
            <a:ext cx="251999" cy="251999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664000" y="1655999"/>
            <a:ext cx="1908000" cy="1007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応募する方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64000" y="3024000"/>
            <a:ext cx="1908000" cy="1007999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応募に至らない方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（検討層・離脱層）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626000" y="1980000"/>
            <a:ext cx="251999" cy="251999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4626000" y="3348000"/>
            <a:ext cx="251999" cy="251999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932000" y="1655999"/>
            <a:ext cx="2015999" cy="1007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サイトで応募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（CV②）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32000" y="3024000"/>
            <a:ext cx="2015999" cy="1007999"/>
          </a:xfrm>
          <a:prstGeom prst="roundRect">
            <a:avLst>
              <a:gd name="adj" fmla="val 6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4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LINEで友だち追加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＝ストック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002000" y="3348000"/>
            <a:ext cx="251999" cy="251999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08000" y="3024000"/>
            <a:ext cx="1800000" cy="1007999"/>
          </a:xfrm>
          <a:prstGeom prst="roundRect">
            <a:avLst>
              <a:gd name="adj" fmla="val 6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3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新着求人を配信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→ 応募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2000" y="4284000"/>
            <a:ext cx="2628000" cy="108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44000" tIns="90000" rIns="144000" bIns="54000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① 後から案内できる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友だちに、新着求人や条件に合う求人をいつでも届けられる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36000" y="4284000"/>
            <a:ext cx="2628000" cy="108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44000" tIns="90000" rIns="144000" bIns="54000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② 会員の予備軍が貯まる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今すぐ応募しない方も、転職を検討する方のリストに残る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80000" y="4284000"/>
            <a:ext cx="2628000" cy="108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44000" tIns="90000" rIns="144000" bIns="54000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③ 興味が分かる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配信のクリックで、整備士・営業など興味別に分けられる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2000" y="5544000"/>
            <a:ext cx="83196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0" rIns="14400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応募まで至らない方をストックし、後から応募へつなげる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なぜ4月を待たず、11月頃から初期構築を進めるのか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サイト制作の段階から、LINE連携を組み込む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4月の公開時点で、すぐ本格運用を始められる状態をつくる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92000" y="1655999"/>
            <a:ext cx="2628000" cy="288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44000" tIns="108000" rIns="108000" bIns="72000"/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① 制作の段階からLINE連携を組み込める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公開後にLINEを足すのではなく、制作段階から連携を要件として整理</a:t>
            </a:r>
          </a:p>
          <a:p>
            <a:pPr algn="l" marL="151200" indent="-151200">
              <a:lnSpc>
                <a:spcPct val="108000"/>
              </a:lnSpc>
              <a:spcAft>
                <a:spcPts val="150"/>
              </a:spcAft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 Profile+／「LINEで登録」</a:t>
            </a:r>
          </a:p>
          <a:p>
            <a:pPr algn="l" marL="151200" indent="-151200">
              <a:lnSpc>
                <a:spcPct val="108000"/>
              </a:lnSpc>
              <a:spcAft>
                <a:spcPts val="150"/>
              </a:spcAft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会員情報とLINEの連携</a:t>
            </a:r>
          </a:p>
          <a:p>
            <a:pPr algn="l" marL="151200" indent="-151200">
              <a:lnSpc>
                <a:spcPct val="108000"/>
              </a:lnSpc>
              <a:spcAft>
                <a:spcPts val="150"/>
              </a:spcAft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サンクスLINE誘導</a:t>
            </a:r>
          </a:p>
          <a:p>
            <a:pPr algn="l" marL="151200" indent="-151200">
              <a:lnSpc>
                <a:spcPct val="108000"/>
              </a:lnSpc>
              <a:spcAft>
                <a:spcPts val="150"/>
              </a:spcAft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条件別検索ページとの連携</a:t>
            </a:r>
          </a:p>
          <a:p>
            <a:pPr algn="l" marL="151200" indent="-151200">
              <a:lnSpc>
                <a:spcPct val="108000"/>
              </a:lnSpc>
              <a:spcAft>
                <a:spcPts val="150"/>
              </a:spcAft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計測設計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公開後に大きな改修をするリスクを減らせる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36000" y="1655999"/>
            <a:ext cx="2628000" cy="288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44000" tIns="108000" rIns="108000" bIns="72000"/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② 公開前に申請・設計・実装・検証を終えられる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11月頃から進める内容</a:t>
            </a:r>
          </a:p>
          <a:p>
            <a:pPr algn="l" marL="151200" indent="-151200">
              <a:lnSpc>
                <a:spcPct val="108000"/>
              </a:lnSpc>
              <a:spcAft>
                <a:spcPts val="150"/>
              </a:spcAft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アカウント・リッチメニュー・配信シナリオの設計</a:t>
            </a:r>
          </a:p>
          <a:p>
            <a:pPr algn="l" marL="151200" indent="-151200">
              <a:lnSpc>
                <a:spcPct val="108000"/>
              </a:lnSpc>
              <a:spcAft>
                <a:spcPts val="150"/>
              </a:spcAft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Profile+の申請／会員連携の仕様整理</a:t>
            </a:r>
          </a:p>
          <a:p>
            <a:pPr algn="l" marL="151200" indent="-151200">
              <a:lnSpc>
                <a:spcPct val="108000"/>
              </a:lnSpc>
              <a:spcAft>
                <a:spcPts val="150"/>
              </a:spcAft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サイト制作会社との仕様調整</a:t>
            </a:r>
          </a:p>
          <a:p>
            <a:pPr algn="l" marL="151200" indent="-151200">
              <a:lnSpc>
                <a:spcPct val="108000"/>
              </a:lnSpc>
              <a:spcAft>
                <a:spcPts val="150"/>
              </a:spcAft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実装・動作確認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公開後にゼロから構築せず、公開時点ですぐ動かせる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80000" y="1655999"/>
            <a:ext cx="2628000" cy="288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44000" tIns="108000" rIns="108000" bIns="72000"/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③ 初期構築から本格運用へスムーズに移行できる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初期構築のうちに、運用に必要なことまで設計</a:t>
            </a:r>
          </a:p>
          <a:p>
            <a:pPr algn="l" marL="151200" indent="-151200">
              <a:lnSpc>
                <a:spcPct val="108000"/>
              </a:lnSpc>
              <a:spcAft>
                <a:spcPts val="150"/>
              </a:spcAft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どの導線から友だちを獲得するか</a:t>
            </a:r>
          </a:p>
          <a:p>
            <a:pPr algn="l" marL="151200" indent="-151200">
              <a:lnSpc>
                <a:spcPct val="108000"/>
              </a:lnSpc>
              <a:spcAft>
                <a:spcPts val="150"/>
              </a:spcAft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どの情報を取得するか</a:t>
            </a:r>
          </a:p>
          <a:p>
            <a:pPr algn="l" marL="151200" indent="-151200">
              <a:lnSpc>
                <a:spcPct val="108000"/>
              </a:lnSpc>
              <a:spcAft>
                <a:spcPts val="150"/>
              </a:spcAft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どの条件でユーザーを分けるか</a:t>
            </a:r>
          </a:p>
          <a:p>
            <a:pPr algn="l" marL="151200" indent="-151200">
              <a:lnSpc>
                <a:spcPct val="108000"/>
              </a:lnSpc>
              <a:spcAft>
                <a:spcPts val="150"/>
              </a:spcAft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どのような配信を行うか</a:t>
            </a:r>
          </a:p>
          <a:p>
            <a:pPr algn="l" marL="151200" indent="-151200">
              <a:lnSpc>
                <a:spcPct val="108000"/>
              </a:lnSpc>
              <a:spcAft>
                <a:spcPts val="150"/>
              </a:spcAft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何をKPIとして計測するか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公開後に運用設計をやり直す必要がない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2000" y="4662000"/>
            <a:ext cx="3924000" cy="684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36000" rIns="108000" bIns="36000"/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11月頃〜3月｜初期構築・実装準備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運用を見据え、導線・会員連携・配信・計測まで設計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752000" y="4842000"/>
            <a:ext cx="288000" cy="324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112000" y="4662000"/>
            <a:ext cx="3996000" cy="684000"/>
          </a:xfrm>
          <a:prstGeom prst="roundRect">
            <a:avLst>
              <a:gd name="adj" fmla="val 6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36000" rIns="108000" bIns="36000"/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4月〜｜サイト公開・本格運用・改善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設計した内容を引き継ぎ、配信・分析・改善を継続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2000" y="5472000"/>
            <a:ext cx="8319600" cy="468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8000" tIns="0" rIns="108000" bIns="0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初期構築から運用・改善まで一貫して支援できるため、サイト公開後もスムーズに運用へ移行できます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A8E8E-25CB-4B86-C4F6-E5A702358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【事例】求人業界におけるLINE活用のインパクト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「タウンワーク」は、LINEリッチメニューからの検索強化で、応募数が79%増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総合大手の求人サービスは、数十万〜数百万人規模でLINEを活用している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808640"/>
            <a:ext cx="2616480" cy="1638448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spcAft>
                <a:spcPts val="600"/>
              </a:spcAft>
            </a:pPr>
            <a:r>
              <a:rPr sz="13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応募数</a:t>
            </a:r>
            <a:endParaRPr sz="13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600"/>
              </a:spcAft>
            </a:pPr>
            <a:r>
              <a:rPr sz="4050" b="1" dirty="0">
                <a:solidFill>
                  <a:schemeClr val="tx1"/>
                </a:solidFill>
                <a:latin typeface="メイリオ"/>
                <a:ea typeface="メイリオ"/>
                <a:cs typeface="メイリオ"/>
              </a:rPr>
              <a:t>＋79%</a:t>
            </a:r>
          </a:p>
          <a:p>
            <a:pPr algn="ctr"/>
            <a:r>
              <a:rPr sz="12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LINEからの応募が大きく増加</a:t>
            </a:r>
            <a:endParaRPr sz="12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7" name="Rounded Rectangle 5"/>
          <p:cNvSpPr/>
          <p:nvPr/>
        </p:nvSpPr>
        <p:spPr>
          <a:xfrm>
            <a:off x="3645311" y="1808640"/>
            <a:ext cx="2616480" cy="1638448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spcAft>
                <a:spcPts val="600"/>
              </a:spcAft>
            </a:pPr>
            <a:r>
              <a:rPr sz="13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リッチメニューのタップ数</a:t>
            </a:r>
            <a:endParaRPr sz="13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600"/>
              </a:spcAft>
            </a:pPr>
            <a:r>
              <a:rPr sz="4050" b="1" dirty="0">
                <a:solidFill>
                  <a:schemeClr val="tx1"/>
                </a:solidFill>
                <a:latin typeface="メイリオ"/>
                <a:ea typeface="メイリオ"/>
                <a:cs typeface="メイリオ"/>
              </a:rPr>
              <a:t>＋20%</a:t>
            </a:r>
          </a:p>
          <a:p>
            <a:pPr algn="ctr"/>
            <a:r>
              <a:rPr sz="12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探す入口として使われるように</a:t>
            </a:r>
            <a:endParaRPr sz="12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8" name="Rounded Rectangle 6"/>
          <p:cNvSpPr/>
          <p:nvPr/>
        </p:nvSpPr>
        <p:spPr>
          <a:xfrm>
            <a:off x="6496943" y="1808640"/>
            <a:ext cx="2616480" cy="1638448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spcAft>
                <a:spcPts val="600"/>
              </a:spcAft>
            </a:pPr>
            <a:r>
              <a:rPr sz="13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リッチメニュー経由の応募</a:t>
            </a:r>
            <a:endParaRPr sz="13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600"/>
              </a:spcAft>
            </a:pPr>
            <a:r>
              <a:rPr sz="4050" b="1" dirty="0" err="1">
                <a:solidFill>
                  <a:schemeClr val="tx1"/>
                </a:solidFill>
                <a:latin typeface="メイリオ"/>
                <a:ea typeface="メイリオ"/>
                <a:cs typeface="メイリオ"/>
              </a:rPr>
              <a:t>最多</a:t>
            </a:r>
            <a:endParaRPr sz="4050" b="1" dirty="0">
              <a:solidFill>
                <a:schemeClr val="tx1"/>
              </a:solidFill>
              <a:latin typeface="メイリオ"/>
              <a:ea typeface="メイリオ"/>
              <a:cs typeface="メイリオ"/>
            </a:endParaRPr>
          </a:p>
          <a:p>
            <a:pPr algn="ctr"/>
            <a:r>
              <a:rPr sz="12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LINE経由の中で、配信より多い</a:t>
            </a:r>
            <a:endParaRPr sz="12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TextBox 7"/>
          <p:cNvSpPr txBox="1"/>
          <p:nvPr/>
        </p:nvSpPr>
        <p:spPr>
          <a:xfrm>
            <a:off x="793680" y="3625181"/>
            <a:ext cx="8319744" cy="284947"/>
          </a:xfrm>
          <a:prstGeom prst="rect">
            <a:avLst/>
          </a:prstGeom>
          <a:noFill/>
        </p:spPr>
        <p:txBody>
          <a:bodyPr wrap="square" lIns="0" tIns="19872" rIns="46368" bIns="19872" anchor="t">
            <a:spAutoFit/>
          </a:bodyPr>
          <a:lstStyle/>
          <a:p>
            <a:pPr algn="l"/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取り組みの内容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793680" y="3945747"/>
            <a:ext cx="2616480" cy="138912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25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1　</a:t>
            </a:r>
            <a:r>
              <a:rPr sz="12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リッチメニューに人気の検索条件を並べる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単発・日払い・在宅など、</a:t>
            </a:r>
            <a:endParaRPr lang="en-US" sz="12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よく探される条件をボタンに</a:t>
            </a:r>
            <a:endParaRPr sz="12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1" name="Right Arrow 9"/>
          <p:cNvSpPr/>
          <p:nvPr/>
        </p:nvSpPr>
        <p:spPr>
          <a:xfrm>
            <a:off x="3416783" y="4490018"/>
            <a:ext cx="218592" cy="26496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Rounded Rectangle 10"/>
          <p:cNvSpPr/>
          <p:nvPr/>
        </p:nvSpPr>
        <p:spPr>
          <a:xfrm>
            <a:off x="3645311" y="3945747"/>
            <a:ext cx="2616480" cy="138912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25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2　</a:t>
            </a:r>
            <a:r>
              <a:rPr sz="12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トークで条件を選ぶと</a:t>
            </a:r>
            <a:r>
              <a:rPr sz="125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、</a:t>
            </a:r>
            <a:endParaRPr lang="en-US"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spcAft>
                <a:spcPts val="500"/>
              </a:spcAft>
            </a:pPr>
            <a:r>
              <a:rPr sz="12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求人が表示される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選んだ条件に合う求人がカード形式で並ぶ</a:t>
            </a:r>
            <a:endParaRPr sz="12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3" name="Right Arrow 11"/>
          <p:cNvSpPr/>
          <p:nvPr/>
        </p:nvSpPr>
        <p:spPr>
          <a:xfrm>
            <a:off x="6268416" y="4490018"/>
            <a:ext cx="218592" cy="26496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4" name="Rounded Rectangle 12"/>
          <p:cNvSpPr/>
          <p:nvPr/>
        </p:nvSpPr>
        <p:spPr>
          <a:xfrm>
            <a:off x="6496943" y="3945747"/>
            <a:ext cx="2616480" cy="138912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25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　</a:t>
            </a:r>
            <a:r>
              <a:rPr sz="12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そのまま求人ページへ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条件を入れた状態の検索結果に</a:t>
            </a:r>
            <a:endParaRPr lang="en-US" sz="12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移動</a:t>
            </a:r>
            <a:endParaRPr lang="en-US" sz="12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lang="ja-JP" altLang="en-US" sz="12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</a:t>
            </a:r>
            <a:r>
              <a:rPr sz="12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サイトで応募</a:t>
            </a:r>
            <a:endParaRPr sz="12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5" name="Rounded Rectangle 13"/>
          <p:cNvSpPr/>
          <p:nvPr/>
        </p:nvSpPr>
        <p:spPr>
          <a:xfrm>
            <a:off x="793680" y="5548578"/>
            <a:ext cx="8319744" cy="427421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sz="13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LINEを「求人を探す入口」にしたことが</a:t>
            </a:r>
            <a:r>
              <a:rPr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、</a:t>
            </a:r>
            <a:r>
              <a:rPr lang="ja-JP" altLang="en-US"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応募の増加へ</a:t>
            </a:r>
            <a:endParaRPr sz="13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6" name="TextBox 14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出典：LINEヤフー for Business 導入事例（タウンワーク・2019年公開）／友だち数：page.line.me（公式）2026-09-21実測</a:t>
            </a:r>
          </a:p>
        </p:txBody>
      </p:sp>
    </p:spTree>
    <p:extLst>
      <p:ext uri="{BB962C8B-B14F-4D97-AF65-F5344CB8AC3E}">
        <p14:creationId xmlns:p14="http://schemas.microsoft.com/office/powerpoint/2010/main" val="23784845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E5221-666F-DE20-B9E8-FDFC607CC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タウンワークの勝因｜常設の入口（リッチメニュー）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勝因は、LINE上でワンタップで求人を探せる常設の入口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LINE経由の応募は、配信よりリッチメニュー経由が最多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742400"/>
            <a:ext cx="1622880" cy="26496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　あいさつ</a:t>
            </a:r>
          </a:p>
        </p:txBody>
      </p:sp>
      <p:pic>
        <p:nvPicPr>
          <p:cNvPr id="7" name="Picture 5" descr="1_あいさつ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993" y="2057039"/>
            <a:ext cx="1622252" cy="351072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8" name="TextBox 6"/>
          <p:cNvSpPr txBox="1"/>
          <p:nvPr/>
        </p:nvSpPr>
        <p:spPr>
          <a:xfrm>
            <a:off x="694319" y="5600880"/>
            <a:ext cx="1821600" cy="501797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ctr"/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条件に合う求人を受け取る</a:t>
            </a:r>
            <a:endParaRPr lang="en-US"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ctr"/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ための</a:t>
            </a:r>
            <a:endParaRPr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ctr"/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会員連携を案内</a:t>
            </a:r>
            <a:endParaRPr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Rounded Rectangle 7"/>
          <p:cNvSpPr/>
          <p:nvPr/>
        </p:nvSpPr>
        <p:spPr>
          <a:xfrm>
            <a:off x="3025968" y="1742400"/>
            <a:ext cx="1622880" cy="26496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　リッチメニュー</a:t>
            </a:r>
          </a:p>
        </p:txBody>
      </p:sp>
      <p:pic>
        <p:nvPicPr>
          <p:cNvPr id="10" name="Picture 8" descr="2_リッチメニュー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6281" y="2057039"/>
            <a:ext cx="1622252" cy="351072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11" name="TextBox 9"/>
          <p:cNvSpPr txBox="1"/>
          <p:nvPr/>
        </p:nvSpPr>
        <p:spPr>
          <a:xfrm>
            <a:off x="2926608" y="5600880"/>
            <a:ext cx="1821600" cy="43056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ctr"/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時間帯・学生歓迎などの</a:t>
            </a:r>
          </a:p>
          <a:p>
            <a:pPr algn="ctr"/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条件がワンタップ</a:t>
            </a:r>
          </a:p>
        </p:txBody>
      </p:sp>
      <p:sp>
        <p:nvSpPr>
          <p:cNvPr id="12" name="Rounded Rectangle 10"/>
          <p:cNvSpPr/>
          <p:nvPr/>
        </p:nvSpPr>
        <p:spPr>
          <a:xfrm>
            <a:off x="5258256" y="1742400"/>
            <a:ext cx="1622880" cy="26496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　移動先のサイト</a:t>
            </a:r>
          </a:p>
        </p:txBody>
      </p:sp>
      <p:pic>
        <p:nvPicPr>
          <p:cNvPr id="13" name="Picture 11" descr="3_遷移先サイト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8569" y="2057039"/>
            <a:ext cx="1622252" cy="351072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14" name="TextBox 12"/>
          <p:cNvSpPr txBox="1"/>
          <p:nvPr/>
        </p:nvSpPr>
        <p:spPr>
          <a:xfrm>
            <a:off x="5158896" y="5600880"/>
            <a:ext cx="1821600" cy="43056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ctr"/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条件を入れた状態の</a:t>
            </a:r>
          </a:p>
          <a:p>
            <a:pPr algn="ctr"/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検索結果ページ</a:t>
            </a:r>
          </a:p>
        </p:txBody>
      </p:sp>
      <p:sp>
        <p:nvSpPr>
          <p:cNvPr id="15" name="Rounded Rectangle 13"/>
          <p:cNvSpPr/>
          <p:nvPr/>
        </p:nvSpPr>
        <p:spPr>
          <a:xfrm>
            <a:off x="7490543" y="1742400"/>
            <a:ext cx="1622880" cy="26496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4　会員連携の画面</a:t>
            </a:r>
          </a:p>
        </p:txBody>
      </p:sp>
      <p:pic>
        <p:nvPicPr>
          <p:cNvPr id="16" name="Picture 14" descr="4_連携リンク先_リクルートIDログイン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0857" y="2057039"/>
            <a:ext cx="1622252" cy="351072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17" name="TextBox 15"/>
          <p:cNvSpPr txBox="1"/>
          <p:nvPr/>
        </p:nvSpPr>
        <p:spPr>
          <a:xfrm>
            <a:off x="7391183" y="5600880"/>
            <a:ext cx="1821600" cy="43056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ctr"/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リクルートIDでログイン</a:t>
            </a:r>
          </a:p>
          <a:p>
            <a:pPr algn="ctr"/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（メール＋パスワード）</a:t>
            </a:r>
          </a:p>
        </p:txBody>
      </p:sp>
      <p:sp>
        <p:nvSpPr>
          <p:cNvPr id="18" name="TextBox 16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画面：タウンワーク LINE公式アカウント（2026年9月 弊社確認）</a:t>
            </a:r>
          </a:p>
        </p:txBody>
      </p:sp>
    </p:spTree>
    <p:extLst>
      <p:ext uri="{BB962C8B-B14F-4D97-AF65-F5344CB8AC3E}">
        <p14:creationId xmlns:p14="http://schemas.microsoft.com/office/powerpoint/2010/main" val="1715909323"/>
      </p:ext>
    </p:ext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自動車求人サイトへの応用｜LINEのワンタップ検索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「資格」「職種」「こだわり条件」は、LINEのワンタップ検索と相性が良い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「整備士2級・3級」「未経験OK」「土日休み」など、すぐに条件で引ける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92000" y="1655999"/>
            <a:ext cx="2628000" cy="129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800"/>
              </a:spcAft>
            </a:pPr>
            <a:r>
              <a:rPr sz="1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資格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整備士1級・2級・3級・無資格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36000" y="1655999"/>
            <a:ext cx="2628000" cy="129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800"/>
              </a:spcAft>
            </a:pPr>
            <a:r>
              <a:rPr sz="1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職種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整備士／営業／受付・事務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80000" y="1655999"/>
            <a:ext cx="2628000" cy="129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800"/>
              </a:spcAft>
            </a:pPr>
            <a:r>
              <a:rPr sz="1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こだわり条件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未経験OK・資格取得支援あり・土日休みなど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2000" y="3204000"/>
            <a:ext cx="2376000" cy="864000"/>
          </a:xfrm>
          <a:prstGeom prst="roundRect">
            <a:avLst>
              <a:gd name="adj" fmla="val 6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リッチメニューの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ボタンをタップ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240000" y="3491999"/>
            <a:ext cx="288000" cy="288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64000" y="3204000"/>
            <a:ext cx="2736000" cy="86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条件を入れた状態の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検索結果ページが開く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372000" y="3491999"/>
            <a:ext cx="288000" cy="288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696000" y="3204000"/>
            <a:ext cx="2412000" cy="86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気になる求人で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サイトから応募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2000" y="4320000"/>
            <a:ext cx="8319600" cy="93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51999" tIns="36000" rIns="144000" bIns="36000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掲載中の求人は、全国2,134件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（うち正社員・整備士946件、正社員・営業180件）。LINEから、条件別に探せる形にする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000" y="5436000"/>
            <a:ext cx="83196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0" rIns="14400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資格・職種・条件を、LINEのワンタップで求人へ直結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000" y="5940000"/>
            <a:ext cx="83196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出典：自動車求人Navi 検索画面（2026年9月28日時点の掲載件数）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現状のWebサイトにおけるボトルネック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現行サイトは「その場の応募」のみで、長期的な求職者データベースが残らない構造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会員登録の入力の手間も、登録の壁になっている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92000" y="1655999"/>
            <a:ext cx="1655999" cy="792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サイトに来訪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520000" y="1908000"/>
            <a:ext cx="288000" cy="288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880000" y="1655999"/>
            <a:ext cx="3096000" cy="79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入口は「応募」「転職支援の申込」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048000" y="1908000"/>
            <a:ext cx="288000" cy="288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8000" y="1655999"/>
            <a:ext cx="2700000" cy="79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応募した方だけ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連絡先が残る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2000" y="2700000"/>
            <a:ext cx="1655999" cy="792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応募しなかった方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520000" y="2951999"/>
            <a:ext cx="288000" cy="288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80000" y="2700000"/>
            <a:ext cx="6228000" cy="7920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接点が残らず、後から案内できない（再来訪を待つしかない）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2000" y="3744000"/>
            <a:ext cx="2628000" cy="162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44000" tIns="90000" rIns="144000" bIns="54000"/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① 検討層の受け皿がない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「応募」か「転職支援の申込」しか入口がなく、比較検討中の方と接点を持てない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36000" y="3744000"/>
            <a:ext cx="2628000" cy="162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44000" tIns="90000" rIns="144000" bIns="54000"/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② 登録が使われにくい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氏名・経歴・パスワードの設定など、入力の手間が登録の壁になる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80000" y="3744000"/>
            <a:ext cx="2628000" cy="162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44000" tIns="90000" rIns="144000" bIns="54000"/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③ 名簿が残らない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応募しなかった方の情報が蓄積されず、長期的に育てられない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2000" y="5544000"/>
            <a:ext cx="83196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0" rIns="14400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「その場の応募」の先に、求職者のデータベースを残す必要がある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95DA1-C4AC-9E84-EE81-C643FC320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LINEによるエントリーハードルの低減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「LINEでログイン」とLINE Profile+で、登録の入力は「確認して押すだけ」に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7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ワンタップの友だち追加で、登録の心理的ハードルを大きく下げる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680" y="1946934"/>
            <a:ext cx="5166720" cy="2589818"/>
          </a:xfrm>
          <a:prstGeom prst="rect">
            <a:avLst/>
          </a:prstGeom>
        </p:spPr>
      </p:pic>
      <p:sp>
        <p:nvSpPr>
          <p:cNvPr id="7" name="TextBox 5"/>
          <p:cNvSpPr txBox="1"/>
          <p:nvPr/>
        </p:nvSpPr>
        <p:spPr>
          <a:xfrm>
            <a:off x="793680" y="4745317"/>
            <a:ext cx="5166720" cy="225025"/>
          </a:xfrm>
          <a:prstGeom prst="rect">
            <a:avLst/>
          </a:prstGeom>
          <a:noFill/>
        </p:spPr>
        <p:txBody>
          <a:bodyPr wrap="square" lIns="0" tIns="19872" rIns="46368" bIns="19872" anchor="t">
            <a:spAutoFit/>
          </a:bodyPr>
          <a:lstStyle/>
          <a:p>
            <a:pPr algn="l"/>
            <a:r>
              <a:rPr sz="9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「LINEでログイン」の画面の流れ（イメージ）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6126000" y="1775520"/>
            <a:ext cx="2987424" cy="1650188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LINE Profile+で自動入力できる項目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氏名（カナを含む）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性別・生年月日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電話番号・住所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6126000" y="3500717"/>
            <a:ext cx="2987424" cy="157518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利用の条件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日本の法人のみ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使う項目ごとに申請し、LINEヤフー社の審査がある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ユーザーの同意が必要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793680" y="5525948"/>
            <a:ext cx="8319744" cy="450051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sz="13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入力が「確認して押すだけ</a:t>
            </a:r>
            <a:r>
              <a:rPr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」</a:t>
            </a:r>
            <a:r>
              <a:rPr lang="ja-JP" altLang="en-US"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、</a:t>
            </a:r>
            <a:r>
              <a:rPr sz="13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会員登録のハードル</a:t>
            </a:r>
            <a:r>
              <a:rPr lang="ja-JP" altLang="en-US"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が</a:t>
            </a:r>
            <a:r>
              <a:rPr sz="13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大きく下</a:t>
            </a:r>
            <a:r>
              <a:rPr lang="ja-JP" altLang="en-US"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がる</a:t>
            </a:r>
            <a:r>
              <a:rPr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11" name="TextBox 9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出典：LINE Developers（LINE Profile+・2025年11月更新）／画面の流れの引用：https://prtimes.jp/main/html/rd/p/000003920.000001594.html</a:t>
            </a:r>
          </a:p>
        </p:txBody>
      </p:sp>
    </p:spTree>
    <p:extLst>
      <p:ext uri="{BB962C8B-B14F-4D97-AF65-F5344CB8AC3E}">
        <p14:creationId xmlns:p14="http://schemas.microsoft.com/office/powerpoint/2010/main" val="1985544786"/>
      </p:ext>
    </p:extLst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獲得したストック顧客へのアプローチ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蓄積した友だちに、新着求人や条件に合う求人を、LINEのメッセージで直接届ける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メルマガより反応されやすく、じっくり検討する方を応募へ引き上げる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92000" y="1655999"/>
            <a:ext cx="2520000" cy="1368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44000" tIns="90000" rIns="144000" bIns="54000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① 友だち（ストック）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応募前の方も含めて、LINEで接点が残る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348000" y="2160000"/>
            <a:ext cx="288000" cy="288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71999" y="1655999"/>
            <a:ext cx="2520000" cy="1368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44000" tIns="90000" rIns="144000" bIns="54000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② クリックで自動分類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整備士・営業・未経験OKなど、配信のクリックで自動的に分かれる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227999" y="2160000"/>
            <a:ext cx="288000" cy="288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52000" y="1655999"/>
            <a:ext cx="2520000" cy="1368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44000" tIns="90000" rIns="144000" bIns="54000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③ 興味に合う求人を配信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新着求人・条件に合う求人を届け、応募へ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000" y="3204000"/>
            <a:ext cx="83160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他業種・就職支援での、LINE配信の反応（LINEヤフー公式事例）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2000" y="3528000"/>
            <a:ext cx="2628000" cy="151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バス会社｜メッセージの開封率</a:t>
            </a:r>
          </a:p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3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約70%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LINE通知メッセージの配信後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36000" y="3528000"/>
            <a:ext cx="2628000" cy="151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バス会社｜クリック率</a:t>
            </a:r>
          </a:p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3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約5倍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メルマガのクリック率との比較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80000" y="3528000"/>
            <a:ext cx="2628000" cy="151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就職支援｜LINE問い合わせ後</a:t>
            </a:r>
          </a:p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3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55%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の方が、面談を予約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000" y="5256000"/>
            <a:ext cx="83196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0" rIns="14400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ストックした友だちに、求人を何度でも届けられる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000" y="5760000"/>
            <a:ext cx="83196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出典：LINEヤフー for Business 導入事例（琴平バス・UZUZ）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新サイトとLINEの連動導線（全体フロー）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新サイトのあらゆる接点から、自然にLINEへ誘導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求人詳細・キープ画面・相談窓口などから、行き来しながら応募へ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92000" y="1655999"/>
            <a:ext cx="1944000" cy="57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5875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求人詳細</a:t>
            </a:r>
          </a:p>
        </p:txBody>
      </p:sp>
      <p:sp>
        <p:nvSpPr>
          <p:cNvPr id="7" name="Down Arrow 6"/>
          <p:cNvSpPr/>
          <p:nvPr/>
        </p:nvSpPr>
        <p:spPr>
          <a:xfrm>
            <a:off x="1656000" y="2268000"/>
            <a:ext cx="216000" cy="216000"/>
          </a:xfrm>
          <a:prstGeom prst="down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92000" y="2520000"/>
            <a:ext cx="1944000" cy="864000"/>
          </a:xfrm>
          <a:prstGeom prst="roundRect">
            <a:avLst>
              <a:gd name="adj" fmla="val 6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離脱防止ポップアップ</a:t>
            </a:r>
          </a:p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「LINEで登録」</a:t>
            </a:r>
          </a:p>
        </p:txBody>
      </p:sp>
      <p:sp>
        <p:nvSpPr>
          <p:cNvPr id="9" name="Down Arrow 8"/>
          <p:cNvSpPr/>
          <p:nvPr/>
        </p:nvSpPr>
        <p:spPr>
          <a:xfrm>
            <a:off x="1656000" y="3420000"/>
            <a:ext cx="216000" cy="216000"/>
          </a:xfrm>
          <a:prstGeom prst="down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916000" y="1655999"/>
            <a:ext cx="1944000" cy="57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5875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キープ画面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3780000" y="2268000"/>
            <a:ext cx="216000" cy="216000"/>
          </a:xfrm>
          <a:prstGeom prst="down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916000" y="2520000"/>
            <a:ext cx="1944000" cy="864000"/>
          </a:xfrm>
          <a:prstGeom prst="roundRect">
            <a:avLst>
              <a:gd name="adj" fmla="val 6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「気になる求人を</a:t>
            </a:r>
          </a:p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LINEでキープ」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3780000" y="3420000"/>
            <a:ext cx="216000" cy="216000"/>
          </a:xfrm>
          <a:prstGeom prst="down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40000" y="1655999"/>
            <a:ext cx="1944000" cy="57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5875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相談窓口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5903999" y="2268000"/>
            <a:ext cx="216000" cy="216000"/>
          </a:xfrm>
          <a:prstGeom prst="down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40000" y="2520000"/>
            <a:ext cx="1944000" cy="864000"/>
          </a:xfrm>
          <a:prstGeom prst="roundRect">
            <a:avLst>
              <a:gd name="adj" fmla="val 6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「LINEで適正年収を</a:t>
            </a:r>
          </a:p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相談」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5903999" y="3420000"/>
            <a:ext cx="216000" cy="216000"/>
          </a:xfrm>
          <a:prstGeom prst="down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64000" y="1655999"/>
            <a:ext cx="1944000" cy="57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5875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応募の完了画面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8028000" y="2268000"/>
            <a:ext cx="216000" cy="216000"/>
          </a:xfrm>
          <a:prstGeom prst="down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164000" y="2520000"/>
            <a:ext cx="1944000" cy="864000"/>
          </a:xfrm>
          <a:prstGeom prst="roundRect">
            <a:avLst>
              <a:gd name="adj" fmla="val 6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応募完了後の</a:t>
            </a:r>
          </a:p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LINE誘導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8028000" y="3420000"/>
            <a:ext cx="216000" cy="216000"/>
          </a:xfrm>
          <a:prstGeom prst="down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92000" y="3671999"/>
            <a:ext cx="8319600" cy="503999"/>
          </a:xfrm>
          <a:prstGeom prst="roundRect">
            <a:avLst>
              <a:gd name="adj" fmla="val 10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0" rIns="14400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LINE公式アカウント　友だち追加＝会員・見込み客のストック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4860000" y="4212000"/>
            <a:ext cx="216000" cy="216000"/>
          </a:xfrm>
          <a:prstGeom prst="down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92000" y="4464000"/>
            <a:ext cx="1980000" cy="72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3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あいさつ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会員連携を案内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951999" y="4464000"/>
            <a:ext cx="1980000" cy="72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3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リッチメニュー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条件検索・相談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12000" y="4464000"/>
            <a:ext cx="1980000" cy="72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3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配信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新着求人・条件別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308000" y="4716000"/>
            <a:ext cx="251999" cy="251999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632000" y="4464000"/>
            <a:ext cx="1475999" cy="720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サイトへ戻って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応募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2000" y="5400000"/>
            <a:ext cx="83196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0" rIns="14400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サイトとLINEを行き来しながら、応募へつなげる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2000" y="5903999"/>
            <a:ext cx="83196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※キープ画面・相談窓口は、新サイトに追加する接点の想定。シミュレーションの数字に含めるのは動線00・01のみ（動線02は含めない）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※求人ボックス・Indeed経由については、着地先・応募完了先を確認したうえでLINE導線を設計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ユーザー体験イメージ①｜サイト訪問からLINE保存まで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気軽なポップアップ・ボタンで、サイトからその場でLINEへ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「LINEでキープ」「LINEで相談」など、求人に合わせた訴求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00" y="1655999"/>
            <a:ext cx="4031999" cy="2521906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6000" y="1655999"/>
            <a:ext cx="4031999" cy="252190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2000" y="4248000"/>
            <a:ext cx="4031999" cy="79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離脱防止ポップアップ（動線00）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ページを離れようとした方に、「条件に合う新着求人をLINEでお届け」と案内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76000" y="4248000"/>
            <a:ext cx="4031999" cy="79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「LINEで登録」ボタン（動線01）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LINEの情報が自動で入り、会員登録と友だち追加が同時に完了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000" y="5112000"/>
            <a:ext cx="83160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ポップアップ・ボタンの訴求の例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2000" y="5400000"/>
            <a:ext cx="2628000" cy="468000"/>
          </a:xfrm>
          <a:prstGeom prst="roundRect">
            <a:avLst>
              <a:gd name="adj" fmla="val 20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0" rIns="7200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「気になる求人をLINEでキープ」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36000" y="5400000"/>
            <a:ext cx="2628000" cy="468000"/>
          </a:xfrm>
          <a:prstGeom prst="roundRect">
            <a:avLst>
              <a:gd name="adj" fmla="val 20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0" rIns="7200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「LINEで適正年収を相談」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80000" y="5400000"/>
            <a:ext cx="2628000" cy="468000"/>
          </a:xfrm>
          <a:prstGeom prst="roundRect">
            <a:avLst>
              <a:gd name="adj" fmla="val 20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0" rIns="7200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「新着求人をLINEでお届け」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000" y="5976000"/>
            <a:ext cx="83196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※画面はイメージです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ユーザー体験イメージ②｜LINEトーク画面・リッチメニュー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自動車求人に特化したリッチメニューを常設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希望条件の検索から相談まで、LINEの中で完結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chengrowth_v12_richmen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00" y="1655999"/>
            <a:ext cx="4104000" cy="276825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92000" y="4428000"/>
            <a:ext cx="4104000" cy="93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リッチメニュー（トーク画面の下に常設）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整備士の求人／営業・受付の求人／近くの求人／資格から探す／未経験OK・資格取得支援／新着求人を受け取る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4000" y="1584000"/>
            <a:ext cx="2107120" cy="37440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452000" y="1655999"/>
            <a:ext cx="1655999" cy="3671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44000" tIns="144000" rIns="108000" bIns="36000"/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LINE内で完結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① 希望の職種をタップで選ぶ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② 条件に合う求人が、カードで届く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③ 求人ページへそのまま移動し、サイトで応募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000" y="5472000"/>
            <a:ext cx="83196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※画面はイメージです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自動応答・アンケートシナリオの活用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友だち追加直後の自動アンケートで、「保有資格」「希望時期」を把握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回答に合う求人を、自動でセグメント配信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92000" y="1655999"/>
            <a:ext cx="1440000" cy="864000"/>
          </a:xfrm>
          <a:prstGeom prst="roundRect">
            <a:avLst>
              <a:gd name="adj" fmla="val 6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000" tIns="36000" rIns="54000" bIns="360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友だち追加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260800" y="1980000"/>
            <a:ext cx="223200" cy="2232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512800" y="1655999"/>
            <a:ext cx="1440000" cy="86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000" tIns="36000" rIns="54000" bIns="36000"/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あいさつ（自動）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会員連携を案内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981600" y="1980000"/>
            <a:ext cx="223200" cy="2232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33600" y="1655999"/>
            <a:ext cx="1440000" cy="86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000" tIns="36000" rIns="54000" bIns="36000"/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アンケート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ボタンをタップするだけ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702400" y="1980000"/>
            <a:ext cx="223200" cy="2232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954400" y="1655999"/>
            <a:ext cx="1440000" cy="86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000" tIns="36000" rIns="54000" bIns="36000"/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回答をタグで保存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資格・希望時期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423199" y="1980000"/>
            <a:ext cx="223200" cy="2232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75200" y="1655999"/>
            <a:ext cx="1440000" cy="864000"/>
          </a:xfrm>
          <a:prstGeom prst="roundRect">
            <a:avLst>
              <a:gd name="adj" fmla="val 6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000" tIns="36000" rIns="54000" bIns="360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条件に合う求人を配信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000" y="2772000"/>
            <a:ext cx="3456000" cy="248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44000" tIns="90000" rIns="144000" bIns="54000"/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アンケートの例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保有資格：1級／2級／3級／無資格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希望時期：すぐ／3か月以内／情報収集中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希望の職種：整備士／営業／受付・事務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20000" y="2772000"/>
            <a:ext cx="3456000" cy="248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44000" tIns="90000" rIns="144000" bIns="54000"/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回答に合わせた配信の例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整備士2級・すぐ → 整備士の新着求人を優先して配信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未経験・情報収集中 → 資格取得支援の求人と、働き方の情報を配信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友だち追加から14日間、全10通のステップ配信で応募へ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8000" y="2700000"/>
            <a:ext cx="1458775" cy="259200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792000" y="5472000"/>
            <a:ext cx="83196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0" rIns="14400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追加直後の数十秒で、求める条件が分かり、最適な求人を届けられる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2000" y="5976000"/>
            <a:ext cx="83196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※画面・選択肢はイメージです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友だち登録数・獲得シミュレーション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新サイトの来訪（月約6,100人）に応じて、友だちは半年で542人まで増加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転職を検討する方のリストが、公開直後から積み上がる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92000" y="1548000"/>
          <a:ext cx="8316000" cy="201599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00" name="Table 4"/>
          <p:cNvGraphicFramePr>
            <a:graphicFrameLocks noGrp="1"/>
          </p:cNvGraphicFramePr>
          <p:nvPr/>
        </p:nvGraphicFramePr>
        <p:xfrm>
          <a:off x="793680" y="3671999"/>
          <a:ext cx="8319744" cy="1642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3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0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0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604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93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10688">
                <a:tc>
                  <a:txBody>
                    <a:bodyPr/>
                    <a:lstStyle/>
                    <a:p>
                      <a:pPr algn="ctr"/>
                      <a:endParaRPr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4月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8月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9月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合計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68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友だち（累計）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63人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143人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235人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335人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436人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542人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068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会員登録（CV①）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38件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50件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56件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62件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62件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66件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334件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068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応募（CV②）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8件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10件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12件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13件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52件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01" name="TextBox 900"/>
          <p:cNvSpPr txBox="1"/>
          <p:nvPr/>
        </p:nvSpPr>
        <p:spPr>
          <a:xfrm>
            <a:off x="792000" y="5436000"/>
            <a:ext cx="83196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前提：リニューアル前に貯まる友だちは含めない／サイト来訪 月約6,100人（広告のシミュレーション確定後に差し替え）／LINEで登録＝来訪者の1.0%／会員登録（CV①）・応募（CV②）はLINEでの登録・リッチメニューと配信からの件数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導入費用の考え方｜サイト制作費とは分けて明示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投資対効果を正しく把握するため、サイト制作費とは分ける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LINEの費用を、「LINE独自構築費」として明確化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92000" y="1655999"/>
            <a:ext cx="2628000" cy="468000"/>
          </a:xfrm>
          <a:prstGeom prst="roundRect">
            <a:avLst>
              <a:gd name="adj" fmla="val 6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0" rIns="7200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サイト改修費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2000" y="2124000"/>
            <a:ext cx="2628000" cy="2951999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44000" tIns="90000" rIns="144000" bIns="54000"/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担い手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3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サイト制作会社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役割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新サイトの見た目・使いやすさ・応募フォームを改善する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費用の構造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制作会社のお見積もり（サイトの制作費）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36000" y="1655999"/>
            <a:ext cx="2628000" cy="468000"/>
          </a:xfrm>
          <a:prstGeom prst="roundRect">
            <a:avLst>
              <a:gd name="adj" fmla="val 6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0" rIns="7200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広告費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36000" y="2124000"/>
            <a:ext cx="2628000" cy="2951999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44000" tIns="90000" rIns="144000" bIns="54000"/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担い手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3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各広告媒体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役割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サイトへ来訪する方を増やす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費用の構造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媒体ごとの広告費・運用費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80000" y="1655999"/>
            <a:ext cx="2628000" cy="468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0" rIns="7200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LINE独自構築費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80000" y="2124000"/>
            <a:ext cx="2628000" cy="2951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44000" tIns="90000" rIns="144000" bIns="54000"/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担い手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3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弊社（本提案）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役割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来訪した方を友だち・会員として貯め、応募へつなげる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費用の構造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初期費用（11月頃〜）＋月額費用（4月〜）／LINE公式アカウントの利用料は配信通数で変動（別途）／LINE連携の開発は都度お見積もり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2000" y="5328000"/>
            <a:ext cx="83196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0" rIns="14400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費用を分けることで、LINEの効果（友だち・会員・応募）を単独で把握できる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7C1D4-87AF-B047-12E0-A21428120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概算お見積もり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432000" y="850368"/>
            <a:ext cx="8928000" cy="279264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ja-JP"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初期構築から運用・改善まで、一貫して支援するための費用</a:t>
            </a:r>
          </a:p>
          <a:p>
            <a:pPr>
              <a:lnSpc>
                <a:spcPct val="130000"/>
              </a:lnSpc>
            </a:pPr>
            <a:r>
              <a:rPr lang="en-US" altLang="ja-JP"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初期費用は11月頃からの構築、月額費用は4月以降の運用に対応</a:t>
            </a: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8800596"/>
              </p:ext>
            </p:extLst>
          </p:nvPr>
        </p:nvGraphicFramePr>
        <p:xfrm>
          <a:off x="432000" y="1930482"/>
          <a:ext cx="5256000" cy="27871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24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97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37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0857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項目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初期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月額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857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LINE運用コンサル
（設計・構築・配信・改善）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20万円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20万円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857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離脱防止ポップアップ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1.5万円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857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LINE公式アカウント（開設／利用料）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3万円〜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0.5万円〜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857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合計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24.5万円〜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23.5万円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0857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サンクスLINE誘導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実装内容に応じて別途お見積もり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085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 Profile+／LINE連携の開発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都度お見積もり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5"/>
          <p:cNvSpPr txBox="1"/>
          <p:nvPr/>
        </p:nvSpPr>
        <p:spPr>
          <a:xfrm>
            <a:off x="5903999" y="1584000"/>
            <a:ext cx="3571200" cy="360000"/>
          </a:xfrm>
          <a:prstGeom prst="rect">
            <a:avLst/>
          </a:prstGeom>
          <a:noFill/>
        </p:spPr>
        <p:txBody>
          <a:bodyPr wrap="square" lIns="0" tIns="21600" rIns="50400" bIns="21600" anchor="t">
            <a:spAutoFit/>
          </a:bodyPr>
          <a:lstStyle/>
          <a:p>
            <a:pPr algn="l"/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体制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5903999" y="1989000"/>
            <a:ext cx="3571200" cy="922498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弊社：戦略・設計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アカウント設計、動線・配信の設計、効果の分析と改善のご提案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5903999" y="3001500"/>
            <a:ext cx="3571200" cy="922498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弊社：運用・制作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あいさつ・リッチメニュー・配信の作成と設定、毎月のレポート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5903999" y="4014000"/>
            <a:ext cx="3571200" cy="922498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貴社にお願いすること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求人情報・面談体制の共有、サイト制作会社様との連携</a:t>
            </a:r>
          </a:p>
        </p:txBody>
      </p:sp>
      <p:sp>
        <p:nvSpPr>
          <p:cNvPr id="11" name="Rounded Rectangle 9"/>
          <p:cNvSpPr/>
          <p:nvPr/>
        </p:nvSpPr>
        <p:spPr>
          <a:xfrm>
            <a:off x="432000" y="5886000"/>
            <a:ext cx="9043200" cy="360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35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初期構築から運用・改善まで、会員登録から応募までをLINEでつなげる仕組みを一貫して支援</a:t>
            </a:r>
            <a:endParaRPr sz="135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TextBox 10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※LINE公式アカウントの利用料は配信通数により変動します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000" y="5022000"/>
            <a:ext cx="4464000" cy="79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44000" tIns="90000" rIns="108000" bIns="36000"/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初期費用｜11月頃〜3月（LINE運用コンサル 20万円）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設計・初期構築・実装準備・サイト連携の仕様整理・配信シナリオ設計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04000" y="5022000"/>
            <a:ext cx="4464000" cy="79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44000" tIns="90000" rIns="108000" bIns="36000"/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月額費用｜4月以降（LINE運用コンサル 20万円）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配信・分析・改善・レポーティング・継続的な運用支援</a:t>
            </a:r>
          </a:p>
        </p:txBody>
      </p:sp>
    </p:spTree>
    <p:extLst>
      <p:ext uri="{BB962C8B-B14F-4D97-AF65-F5344CB8AC3E}">
        <p14:creationId xmlns:p14="http://schemas.microsoft.com/office/powerpoint/2010/main" val="1893779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82CB4-E2E4-29F5-FA9B-848F31DAD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スケジュール｜11月頃から初期構築、4月の公開と同時に本格運用へ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850368"/>
            <a:ext cx="8928000" cy="279264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11月頃から初期構築に入り、4月のサイト公開後すぐに本格運用へ移行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92000" y="1584000"/>
            <a:ext cx="3960000" cy="612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36000" rIns="108000" bIns="36000"/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Phase 1｜11月頃〜3月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初期構築・実装準備　運用を見据えて設計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788000" y="1728000"/>
            <a:ext cx="324000" cy="324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148000" y="1584000"/>
            <a:ext cx="3960000" cy="612000"/>
          </a:xfrm>
          <a:prstGeom prst="roundRect">
            <a:avLst>
              <a:gd name="adj" fmla="val 6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36000" rIns="108000" bIns="36000"/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Phase 2｜4月〜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サイト公開・本格運用・改善　実データで継続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2000" y="2268000"/>
            <a:ext cx="3960000" cy="93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44000" tIns="72000" rIns="108000" bIns="36000"/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設計</a:t>
            </a:r>
          </a:p>
          <a:p>
            <a:pPr algn="l" marL="151200" indent="-151200">
              <a:lnSpc>
                <a:spcPct val="108000"/>
              </a:lnSpc>
              <a:spcAft>
                <a:spcPts val="150"/>
              </a:spcAft>
              <a:buFont typeface="Arial"/>
              <a:buChar char="•"/>
            </a:pPr>
            <a:r>
              <a:rPr sz="10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LINE公式アカウントの設計</a:t>
            </a:r>
          </a:p>
          <a:p>
            <a:pPr algn="l" marL="151200" indent="-151200">
              <a:lnSpc>
                <a:spcPct val="108000"/>
              </a:lnSpc>
              <a:spcAft>
                <a:spcPts val="150"/>
              </a:spcAft>
              <a:buFont typeface="Arial"/>
              <a:buChar char="•"/>
            </a:pPr>
            <a:r>
              <a:rPr sz="10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リッチメニュー・あいさつメッセージの設計</a:t>
            </a:r>
          </a:p>
          <a:p>
            <a:pPr algn="l" marL="151200" indent="-151200">
              <a:lnSpc>
                <a:spcPct val="108000"/>
              </a:lnSpc>
              <a:spcAft>
                <a:spcPts val="150"/>
              </a:spcAft>
              <a:buFont typeface="Arial"/>
              <a:buChar char="•"/>
            </a:pPr>
            <a:r>
              <a:rPr sz="10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ステップ配信シナリオ・計測の設計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48000" y="2268000"/>
            <a:ext cx="3960000" cy="936000"/>
          </a:xfrm>
          <a:prstGeom prst="roundRect">
            <a:avLst>
              <a:gd name="adj" fmla="val 6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44000" tIns="72000" rIns="108000" bIns="36000"/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公開・獲得</a:t>
            </a:r>
          </a:p>
          <a:p>
            <a:pPr algn="l" marL="151200" indent="-151200">
              <a:lnSpc>
                <a:spcPct val="108000"/>
              </a:lnSpc>
              <a:spcAft>
                <a:spcPts val="150"/>
              </a:spcAft>
              <a:buFont typeface="Arial"/>
              <a:buChar char="•"/>
            </a:pPr>
            <a:r>
              <a:rPr sz="10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リニューアルサイト公開</a:t>
            </a:r>
          </a:p>
          <a:p>
            <a:pPr algn="l" marL="151200" indent="-151200">
              <a:lnSpc>
                <a:spcPct val="108000"/>
              </a:lnSpc>
              <a:spcAft>
                <a:spcPts val="150"/>
              </a:spcAft>
              <a:buFont typeface="Arial"/>
              <a:buChar char="•"/>
            </a:pPr>
            <a:r>
              <a:rPr sz="10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「LINEで登録」の本稼働</a:t>
            </a:r>
          </a:p>
          <a:p>
            <a:pPr algn="l" marL="151200" indent="-151200">
              <a:lnSpc>
                <a:spcPct val="108000"/>
              </a:lnSpc>
              <a:spcAft>
                <a:spcPts val="150"/>
              </a:spcAft>
              <a:buFont typeface="Arial"/>
              <a:buChar char="•"/>
            </a:pPr>
            <a:r>
              <a:rPr sz="10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友だち・会員の獲得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2000" y="3247200"/>
            <a:ext cx="3960000" cy="129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44000" tIns="72000" rIns="108000" bIns="36000"/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サイト連携の設計</a:t>
            </a:r>
          </a:p>
          <a:p>
            <a:pPr algn="l" marL="151200" indent="-151200">
              <a:lnSpc>
                <a:spcPct val="108000"/>
              </a:lnSpc>
              <a:spcAft>
                <a:spcPts val="150"/>
              </a:spcAft>
              <a:buFont typeface="Arial"/>
              <a:buChar char="•"/>
            </a:pPr>
            <a:r>
              <a:rPr sz="10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 Profile+の申請</a:t>
            </a:r>
          </a:p>
          <a:p>
            <a:pPr algn="l" marL="151200" indent="-151200">
              <a:lnSpc>
                <a:spcPct val="108000"/>
              </a:lnSpc>
              <a:spcAft>
                <a:spcPts val="150"/>
              </a:spcAft>
              <a:buFont typeface="Arial"/>
              <a:buChar char="•"/>
            </a:pPr>
            <a:r>
              <a:rPr sz="10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「LINEで登録」・会員連携の仕様整理</a:t>
            </a:r>
          </a:p>
          <a:p>
            <a:pPr algn="l" marL="151200" indent="-151200">
              <a:lnSpc>
                <a:spcPct val="108000"/>
              </a:lnSpc>
              <a:spcAft>
                <a:spcPts val="150"/>
              </a:spcAft>
              <a:buFont typeface="Arial"/>
              <a:buChar char="•"/>
            </a:pPr>
            <a:r>
              <a:rPr sz="10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サンクスLINE誘導の仕様整理</a:t>
            </a:r>
          </a:p>
          <a:p>
            <a:pPr algn="l" marL="151200" indent="-151200">
              <a:lnSpc>
                <a:spcPct val="108000"/>
              </a:lnSpc>
              <a:spcAft>
                <a:spcPts val="150"/>
              </a:spcAft>
              <a:buFont typeface="Arial"/>
              <a:buChar char="•"/>
            </a:pPr>
            <a:r>
              <a:rPr sz="10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条件別検索ページとの連携設計</a:t>
            </a:r>
          </a:p>
          <a:p>
            <a:pPr algn="l" marL="151200" indent="-151200">
              <a:lnSpc>
                <a:spcPct val="108000"/>
              </a:lnSpc>
              <a:spcAft>
                <a:spcPts val="150"/>
              </a:spcAft>
              <a:buFont typeface="Arial"/>
              <a:buChar char="•"/>
            </a:pPr>
            <a:r>
              <a:rPr sz="10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サイト制作会社との仕様調整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48000" y="3247200"/>
            <a:ext cx="3960000" cy="1296000"/>
          </a:xfrm>
          <a:prstGeom prst="roundRect">
            <a:avLst>
              <a:gd name="adj" fmla="val 6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44000" tIns="72000" rIns="108000" bIns="36000"/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配信・運用</a:t>
            </a:r>
          </a:p>
          <a:p>
            <a:pPr algn="l" marL="151200" indent="-151200">
              <a:lnSpc>
                <a:spcPct val="108000"/>
              </a:lnSpc>
              <a:spcAft>
                <a:spcPts val="150"/>
              </a:spcAft>
              <a:buFont typeface="Arial"/>
              <a:buChar char="•"/>
            </a:pPr>
            <a:r>
              <a:rPr sz="10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ステップ配信・企画配信</a:t>
            </a:r>
          </a:p>
          <a:p>
            <a:pPr algn="l" marL="151200" indent="-151200">
              <a:lnSpc>
                <a:spcPct val="108000"/>
              </a:lnSpc>
              <a:spcAft>
                <a:spcPts val="150"/>
              </a:spcAft>
              <a:buFont typeface="Arial"/>
              <a:buChar char="•"/>
            </a:pPr>
            <a:r>
              <a:rPr sz="10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リッチメニュー運用・条件別配信</a:t>
            </a:r>
          </a:p>
          <a:p>
            <a:pPr algn="l" marL="151200" indent="-151200">
              <a:lnSpc>
                <a:spcPct val="108000"/>
              </a:lnSpc>
              <a:spcAft>
                <a:spcPts val="150"/>
              </a:spcAft>
              <a:buFont typeface="Arial"/>
              <a:buChar char="•"/>
            </a:pPr>
            <a:r>
              <a:rPr sz="10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応募への追客</a:t>
            </a:r>
          </a:p>
          <a:p>
            <a:pPr algn="l" marL="151200" indent="-151200">
              <a:lnSpc>
                <a:spcPct val="108000"/>
              </a:lnSpc>
              <a:spcAft>
                <a:spcPts val="150"/>
              </a:spcAft>
              <a:buFont typeface="Arial"/>
              <a:buChar char="•"/>
            </a:pPr>
            <a:r>
              <a:rPr sz="10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会員登録・応募のKPI計測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2000" y="4586400"/>
            <a:ext cx="3960000" cy="737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44000" tIns="72000" rIns="108000" bIns="36000"/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実装・検証</a:t>
            </a:r>
          </a:p>
          <a:p>
            <a:pPr algn="l" marL="151200" indent="-151200">
              <a:lnSpc>
                <a:spcPct val="108000"/>
              </a:lnSpc>
              <a:spcAft>
                <a:spcPts val="150"/>
              </a:spcAft>
              <a:buFont typeface="Arial"/>
              <a:buChar char="•"/>
            </a:pPr>
            <a:r>
              <a:rPr sz="10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開発・実装・公開前の動作検証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48000" y="4586400"/>
            <a:ext cx="3960000" cy="737999"/>
          </a:xfrm>
          <a:prstGeom prst="roundRect">
            <a:avLst>
              <a:gd name="adj" fmla="val 6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44000" tIns="72000" rIns="108000" bIns="36000"/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分析・改善</a:t>
            </a:r>
          </a:p>
          <a:p>
            <a:pPr algn="l" marL="151200" indent="-151200">
              <a:lnSpc>
                <a:spcPct val="108000"/>
              </a:lnSpc>
              <a:spcAft>
                <a:spcPts val="150"/>
              </a:spcAft>
              <a:buFont typeface="Arial"/>
              <a:buChar char="•"/>
            </a:pPr>
            <a:r>
              <a:rPr sz="10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月次分析・レポーティング</a:t>
            </a:r>
          </a:p>
          <a:p>
            <a:pPr algn="l" marL="151200" indent="-151200">
              <a:lnSpc>
                <a:spcPct val="108000"/>
              </a:lnSpc>
              <a:spcAft>
                <a:spcPts val="150"/>
              </a:spcAft>
              <a:buFont typeface="Arial"/>
              <a:buChar char="•"/>
            </a:pPr>
            <a:r>
              <a:rPr sz="10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導線・配信内容・セグメントの改善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000" y="5403600"/>
            <a:ext cx="8319600" cy="360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0" rIns="144000" bIns="0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初期構築で設計した導線・配信・計測を引き継ぎ、4月から本格運用・改善へスムーズに移行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000" y="5799600"/>
            <a:ext cx="8316000" cy="57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※11月頃〜3月は、定期配信・月次分析・改善運用は原則行わず、設計・構築に集中。必要に応じて一部施策の先行稼働も検討可能（先行稼働分は、シミュレーションに含めない）</a:t>
            </a:r>
          </a:p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※LINE Profile+の審査期間は、申請内容により変わります／実装の時期は、サイト制作の進行に応じて決定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※求人ボックス・Indeed経由については、着地先・応募完了先を確認したうえでLINE導線を設計</a:t>
            </a:r>
          </a:p>
        </p:txBody>
      </p:sp>
    </p:spTree>
    <p:extLst>
      <p:ext uri="{BB962C8B-B14F-4D97-AF65-F5344CB8AC3E}">
        <p14:creationId xmlns:p14="http://schemas.microsoft.com/office/powerpoint/2010/main" val="1451945162"/>
      </p:ext>
    </p:extLst>
  </p:cSld>
  <p:clrMapOvr>
    <a:masterClrMapping/>
  </p:clrMapOvr>
</p:sld>
</file>

<file path=ppt/theme/theme1.xml><?xml version="1.0" encoding="utf-8"?>
<a:theme xmlns:a="http://schemas.openxmlformats.org/drawingml/2006/main" name="テーマ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テーマ1" id="{8EA1701B-0E00-4167-9612-575199E01EDB}" vid="{8EF6575E-BB77-44AE-AF00-801DE4CAFB82}"/>
    </a:ext>
  </a:extLst>
</a:theme>
</file>

<file path=ppt/theme/theme2.xml><?xml version="1.0" encoding="utf-8"?>
<a:theme xmlns:a="http://schemas.openxmlformats.org/drawingml/2006/main" name="DYMJAP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143226</TotalTime>
  <Words>2937</Words>
  <Application>Microsoft Office PowerPoint</Application>
  <PresentationFormat>A4 210 x 297 mm</PresentationFormat>
  <Paragraphs>706</Paragraphs>
  <Slides>34</Slides>
  <Notes>12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34</vt:i4>
      </vt:variant>
    </vt:vector>
  </HeadingPairs>
  <TitlesOfParts>
    <vt:vector size="40" baseType="lpstr">
      <vt:lpstr>メイリオ</vt:lpstr>
      <vt:lpstr>Arial</vt:lpstr>
      <vt:lpstr>Calibri</vt:lpstr>
      <vt:lpstr>Century Gothic</vt:lpstr>
      <vt:lpstr>テーマ1</vt:lpstr>
      <vt:lpstr>DYMJAPAN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中村 駿</dc:creator>
  <cp:lastModifiedBy>殿村 亮太</cp:lastModifiedBy>
  <cp:revision>1964</cp:revision>
  <cp:lastPrinted>2022-11-01T11:38:14Z</cp:lastPrinted>
  <dcterms:created xsi:type="dcterms:W3CDTF">2015-09-04T09:21:15Z</dcterms:created>
  <dcterms:modified xsi:type="dcterms:W3CDTF">2026-10-02T09:30:20Z</dcterms:modified>
</cp:coreProperties>
</file>