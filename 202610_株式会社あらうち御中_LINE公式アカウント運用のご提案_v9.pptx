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a:t>
            </a:r>
            <a:r>
              <a:rPr lang="en-US" sz="1200" b="1" u="none" strike="noStrike">
                <a:solidFill>
                  <a:schemeClr val="dk1"/>
                </a:solidFill>
                <a:effectLst/>
                <a:uFillTx/>
                <a:latin typeface="メイリオ"/>
                <a:ea typeface="メイリオ"/>
              </a:rPr>
              <a:t>807</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友だち追加の入口・追加後の動線ともに、標準機能のまま厚くできると想定。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&lt;参考：CV以降の個別対応（あらうち様）／当社の計測対象外&gt;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1919880"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定期対応項目</a:t>
            </a:r>
            <a:r>
              <a:rPr lang="en-US" sz="1200" b="0" u="none" strike="noStrike">
                <a:solidFill>
                  <a:srgbClr val="595959"/>
                </a:solidFill>
                <a:effectLst/>
                <a:uFillTx/>
                <a:latin typeface="メイリオ"/>
                <a:ea typeface="メイリオ"/>
              </a:rPr>
              <a:t>(</a:t>
            </a:r>
            <a:r>
              <a:rPr lang="ja-JP" sz="1200" b="0" u="none" strike="noStrike">
                <a:solidFill>
                  <a:srgbClr val="595959"/>
                </a:solidFill>
                <a:effectLst/>
                <a:uFillTx/>
                <a:latin typeface="メイリオ"/>
                <a:ea typeface="メイリオ"/>
              </a:rPr>
              <a:t>一部抽出</a:t>
            </a:r>
            <a:r>
              <a:rPr lang="en-US" sz="1200" b="0" u="none" strike="noStrike">
                <a:solidFill>
                  <a:srgbClr val="595959"/>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＋追加後の新しい友だちにも配信</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フォームの送り方を案内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フォームで物件を送信</a:t>
            </a:r>
            <a:r>
              <a:rPr lang="zh-CN" sz="1100" b="0" u="none" strike="noStrike">
                <a:solidFill>
                  <a:srgbClr val="595959"/>
                </a:solidFill>
                <a:effectLst/>
                <a:uFillTx/>
                <a:latin typeface="メイリオ"/>
                <a:ea typeface="メイリオ"/>
              </a:rPr>
              <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247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約13件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新規友だち経由</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（フォーム送信）</a:t>
            </a:r>
            <a:endParaRPr lang="en-US" sz="1100" b="0" u="none" strike="noStrike" dirty="0">
              <a:solidFill>
                <a:srgbClr val="000000"/>
              </a:solidFill>
              <a:effectLst/>
              <a:uFillTx/>
              <a:latin typeface="Arial"/>
            </a:endParaRPr>
          </a:p>
        </p:txBody>
      </p:sp>
      <p:sp>
        <p:nvSpPr>
          <p:cNvPr id="273" name="テキスト ボックス 106"/>
          <p:cNvSpPr/>
          <p:nvPr/>
        </p:nvSpPr>
        <p:spPr>
          <a:xfrm>
            <a:off x="7498080" y="3192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a:solidFill>
                  <a:srgbClr val="FF0000"/>
                </a:solidFill>
                <a:effectLst/>
                <a:uFillTx/>
                <a:latin typeface="メイリオ"/>
                <a:ea typeface="メイリオ"/>
              </a:rPr>
              <a:t>上積み</a:t>
            </a:r>
            <a:endParaRPr lang="en-US" sz="14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既存友だち経由</a:t>
            </a:r>
            <a:endParaRPr lang="en-US" sz="11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（試算には含みません）</a:t>
            </a:r>
            <a:endParaRPr lang="en-US" sz="1100" b="0" u="none" strike="noStrike">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今の友だちは見込み顧客として活用し、上積みの問い合わせや将来の紹介につなげます（試算に含みません）。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※問い合わせ＝フォームでの物件情報の送信（CV）の件数。新規友だち経由の月間の試算</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％）を希望する方が多い（出典は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ページ）</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月5件 → 6か月目 月13件（試算）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フォームでの送り方に加え、営業電話なし・確認だけでも可などの送る理由と、フォームへのボタンを追加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822191" y="1508760"/>
            <a:ext cx="5532121" cy="1170432"/>
            <a:chOff x="3822191" y="1508760"/>
            <a:chExt cx="5532121" cy="1170432"/>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_1か月目"/>
            <p:cNvSpPr/>
            <p:nvPr/>
          </p:nvSpPr>
          <p:spPr>
            <a:xfrm>
              <a:off x="3941063" y="2110857"/>
              <a:ext cx="402336" cy="19343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件数_1か月目"/>
            <p:cNvSpPr/>
            <p:nvPr/>
          </p:nvSpPr>
          <p:spPr>
            <a:xfrm>
              <a:off x="3822191" y="1818249"/>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5件</a:t>
              </a:r>
              <a:endParaRPr lang="ja-JP" altLang="en-US" sz="1400" dirty="0"/>
            </a:p>
          </p:txBody>
        </p:sp>
        <p:sp>
          <p:nvSpPr>
            <p:cNvPr id="340"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1" name="グラフ_問い合わせ_2か月目"/>
            <p:cNvSpPr/>
            <p:nvPr/>
          </p:nvSpPr>
          <p:spPr>
            <a:xfrm>
              <a:off x="4581144" y="2033484"/>
              <a:ext cx="402336" cy="270803"/>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2" name="グラフ_件数_2か月目"/>
            <p:cNvSpPr/>
            <p:nvPr/>
          </p:nvSpPr>
          <p:spPr>
            <a:xfrm>
              <a:off x="4462272" y="1740876"/>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7</a:t>
              </a:r>
              <a:endParaRPr lang="ja-JP" altLang="en-US" sz="1200" dirty="0"/>
            </a:p>
          </p:txBody>
        </p:sp>
        <p:sp>
          <p:nvSpPr>
            <p:cNvPr id="343"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4" name="グラフ_問い合わせ_3か月目"/>
            <p:cNvSpPr/>
            <p:nvPr/>
          </p:nvSpPr>
          <p:spPr>
            <a:xfrm>
              <a:off x="5221224" y="1994798"/>
              <a:ext cx="402336" cy="309489"/>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5" name="グラフ_件数_3か月目"/>
            <p:cNvSpPr/>
            <p:nvPr/>
          </p:nvSpPr>
          <p:spPr>
            <a:xfrm>
              <a:off x="5102352" y="170219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8</a:t>
              </a:r>
              <a:endParaRPr lang="ja-JP" altLang="en-US" sz="1200" dirty="0"/>
            </a:p>
          </p:txBody>
        </p:sp>
        <p:sp>
          <p:nvSpPr>
            <p:cNvPr id="346"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47" name="グラフ_問い合わせ_4か月目"/>
            <p:cNvSpPr/>
            <p:nvPr/>
          </p:nvSpPr>
          <p:spPr>
            <a:xfrm>
              <a:off x="5861303" y="1917426"/>
              <a:ext cx="402336" cy="386861"/>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8" name="グラフ_件数_4か月目"/>
            <p:cNvSpPr/>
            <p:nvPr/>
          </p:nvSpPr>
          <p:spPr>
            <a:xfrm>
              <a:off x="5742431" y="1624818"/>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10</a:t>
              </a:r>
              <a:endParaRPr lang="ja-JP" altLang="en-US" sz="1200" dirty="0"/>
            </a:p>
          </p:txBody>
        </p:sp>
        <p:sp>
          <p:nvSpPr>
            <p:cNvPr id="349"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0" name="グラフ_問い合わせ_5か月目"/>
            <p:cNvSpPr/>
            <p:nvPr/>
          </p:nvSpPr>
          <p:spPr>
            <a:xfrm>
              <a:off x="6501383" y="1840054"/>
              <a:ext cx="402336" cy="464233"/>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1" name="グラフ_件数_5か月目"/>
            <p:cNvSpPr/>
            <p:nvPr/>
          </p:nvSpPr>
          <p:spPr>
            <a:xfrm>
              <a:off x="6382512" y="1547446"/>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12</a:t>
              </a:r>
              <a:endParaRPr lang="ja-JP" altLang="en-US" sz="1200" dirty="0"/>
            </a:p>
          </p:txBody>
        </p:sp>
        <p:sp>
          <p:nvSpPr>
            <p:cNvPr id="352"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53" name="グラフ_問い合わせ_6か月目"/>
            <p:cNvSpPr/>
            <p:nvPr/>
          </p:nvSpPr>
          <p:spPr>
            <a:xfrm>
              <a:off x="7141464" y="1801368"/>
              <a:ext cx="402336" cy="502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件数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13件</a:t>
              </a:r>
              <a:endParaRPr lang="ja-JP" altLang="en-US" sz="1400" dirty="0"/>
            </a:p>
          </p:txBody>
        </p:sp>
        <p:sp>
          <p:nvSpPr>
            <p:cNvPr id="355"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56" name="グラフ_凡例"/>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7" name="グラフ_凡例文字"/>
            <p:cNvSpPr/>
            <p:nvPr/>
          </p:nvSpPr>
          <p:spPr>
            <a:xfrm>
              <a:off x="8028431" y="1554480"/>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問い合わせ</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（フォーム送信）</a:t>
              </a:r>
              <a:endParaRPr lang="ja-JP" altLang="en-US" sz="1100" dirty="0"/>
            </a:p>
          </p:txBody>
        </p:sp>
        <p:sp>
          <p:nvSpPr>
            <p:cNvPr id="358"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55件（試算）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13件/月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55件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友だち追加の増加と導線改善で、6か月目にLINE経由の問い合わせ月13件を見込みます（試算）。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3767328"/>
            <a:ext cx="2834280" cy="192024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既存の友だち経由は上積み（試算外）。</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1696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月額費用が発生</a:t>
                      </a:r>
                      <a:endParaRPr lang="en-US" altLang="ja-JP" sz="1300" b="1" dirty="0">
                        <a:solidFill>
                          <a:srgbClr val="1F285A"/>
                        </a:solidFill>
                        <a:latin typeface="メイリオ" panose="020B0604030504040204" pitchFamily="50" charset="-128"/>
                        <a:ea typeface="メイリオ" panose="020B0604030504040204" pitchFamily="50" charset="-128"/>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（別途お見積り）</a:t>
                      </a:r>
                      <a:endParaRPr lang="en-US" altLang="ja-JP" sz="1300" b="1" dirty="0">
                        <a:solidFill>
                          <a:srgbClr val="1F285A"/>
                        </a:solidFill>
                        <a:latin typeface="メイリオ" panose="020B0604030504040204" pitchFamily="50" charset="-128"/>
                        <a:ea typeface="メイリオ" panose="020B0604030504040204" pitchFamily="50" charset="-128"/>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1"/>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650992"/>
            <a:ext cx="9144000" cy="841247"/>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※13ページの試算（6か月目に月13件）は、プラン①｜総合運用の基本施策を対象としたものです。プラン②・③の成果は含みません。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※プラン③は継続利用するツールに応じて月額費用が発生します。金額は別途お見積りします。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1F2A5C"/>
                </a:solidFill>
                <a:effectLst/>
                <a:uFillTx/>
                <a:latin typeface="メイリオ"/>
                <a:ea typeface="メイリオ"/>
              </a:rPr>
              <a:t>設定：当社　対応：自動</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・よくある質問（初期費用・お申込みの流れなど）にキーワード応答で自動回答</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・リッチメニューのボタンと同じ言葉で応答を用意</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・受付時間外は、時間を指定して受付の旨を自動で返信</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・リッチメニューから</a:t>
            </a:r>
            <a:r>
              <a:rPr lang="en-US" sz="1400" b="0" u="none" strike="noStrike">
                <a:solidFill>
                  <a:srgbClr val="333333"/>
                </a:solidFill>
                <a:effectLst/>
                <a:uFillTx/>
                <a:latin typeface="メイリオ"/>
                <a:ea typeface="メイリオ"/>
              </a:rPr>
              <a:t>100</a:t>
            </a:r>
            <a:r>
              <a:rPr lang="ja-JP" sz="1400" b="0" u="none" strike="noStrike">
                <a:solidFill>
                  <a:srgbClr val="333333"/>
                </a:solidFill>
                <a:effectLst/>
                <a:uFillTx/>
                <a:latin typeface="メイリオ"/>
                <a:ea typeface="メイリオ"/>
              </a:rPr>
              <a:t>円チェッカーへ案内</a:t>
            </a:r>
            <a:endParaRPr lang="en-US" sz="14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4A6FA5"/>
                </a:solidFill>
                <a:effectLst/>
                <a:uFillTx/>
                <a:latin typeface="メイリオ"/>
                <a:ea typeface="メイリオ"/>
              </a:rPr>
              <a:t>対応：あらうち様</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・ご担当者様が、物件に関する相談・問い合わせに対応</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・送られた物件（</a:t>
            </a:r>
            <a:r>
              <a:rPr lang="en-US" sz="1400" b="0" u="none" strike="noStrike">
                <a:solidFill>
                  <a:srgbClr val="333333"/>
                </a:solidFill>
                <a:effectLst/>
                <a:uFillTx/>
                <a:latin typeface="メイリオ"/>
                <a:ea typeface="メイリオ"/>
              </a:rPr>
              <a:t>URL</a:t>
            </a:r>
            <a:r>
              <a:rPr lang="ja-JP" sz="1400" b="0" u="none" strike="noStrike">
                <a:solidFill>
                  <a:srgbClr val="333333"/>
                </a:solidFill>
                <a:effectLst/>
                <a:uFillTx/>
                <a:latin typeface="メイリオ"/>
                <a:ea typeface="メイリオ"/>
              </a:rPr>
              <a:t>・物件名・画像）の空室確認・内見の手配</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・一次対応は自動応答に任せ、物件の確認に集中</a:t>
            </a:r>
            <a:endParaRPr lang="en-US" sz="14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5B6478"/>
                </a:solidFill>
                <a:effectLst/>
                <a:uFillTx/>
                <a:latin typeface="メイリオ"/>
                <a:ea typeface="メイリオ"/>
              </a:rPr>
              <a:t>設計・設定：当社</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・問い合わせ状況・対応ステータス（受付・確認中・返信済）を管理</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・タグの付け替えで、確認漏れ・返信漏れを防止</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・問い合わせ済みの方を除いた再案内で、重複配信を防止</a:t>
            </a:r>
            <a:endParaRPr lang="en-US" sz="14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※当社の対応は運用コンサル費用に含みます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a:t>
            </a:r>
            <a:r>
              <a:rPr lang="en-US" sz="1400" b="0" u="none" strike="noStrike">
                <a:solidFill>
                  <a:srgbClr val="333333"/>
                </a:solidFill>
                <a:effectLst/>
                <a:uFillTx/>
                <a:latin typeface="メイリオ"/>
                <a:ea typeface="メイリオ"/>
              </a:rPr>
              <a:t>LINE</a:t>
            </a:r>
            <a:r>
              <a:rPr lang="ja-JP" sz="1400" b="0" u="none" strike="noStrike">
                <a:solidFill>
                  <a:srgbClr val="333333"/>
                </a:solidFill>
                <a:effectLst/>
                <a:uFillTx/>
                <a:latin typeface="メイリオ"/>
                <a:ea typeface="メイリオ"/>
              </a:rPr>
              <a:t>公式アカウントの初期設計</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・自動応答の設定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・チャットタグの設計・設定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・配信運用・改善支援</a:t>
            </a:r>
            <a:endParaRPr lang="en-US" sz="14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・個別チャットでの返信</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・物件の空室確認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・内見の手配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・その他、お客様ごとの個別対応</a:t>
            </a:r>
            <a:endParaRPr lang="en-US" sz="14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l">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23" name="星: 5 pt 14"/>
          <p:cNvSpPr/>
          <p:nvPr/>
        </p:nvSpPr>
        <p:spPr>
          <a:xfrm>
            <a:off x="9252720" y="167220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143156</TotalTime>
  <Words>6294</Words>
  <Application>Microsoft Office PowerPoint</Application>
  <PresentationFormat>A4 210 x 297 mm</PresentationFormat>
  <Paragraphs>1228</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1965</cp:revision>
  <cp:lastPrinted>2022-11-01T11:38:14Z</cp:lastPrinted>
  <dcterms:created xsi:type="dcterms:W3CDTF">2015-09-04T09:21:15Z</dcterms:created>
  <dcterms:modified xsi:type="dcterms:W3CDTF">2026-10-14T03:58:42Z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