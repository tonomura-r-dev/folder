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2" r:id="rId8"/>
    <p:sldId id="263" r:id="rId9"/>
    <p:sldId id="264" r:id="rId10"/>
    <p:sldId id="266" r:id="rId12"/>
    <p:sldId id="267" r:id="rId13"/>
    <p:sldId id="268" r:id="rId14"/>
    <p:sldId id="278" r:id="rId15"/>
    <p:sldId id="279" r:id="rId16"/>
    <p:sldId id="302" r:id="rId17"/>
    <p:sldId id="269" r:id="rId18"/>
    <p:sldId id="270" r:id="rId19"/>
    <p:sldId id="271" r:id="rId20"/>
    <p:sldId id="272" r:id="rId21"/>
    <p:sldId id="273" r:id="rId22"/>
    <p:sldId id="274" r:id="rId23"/>
    <p:sldId id="275" r:id="rId24"/>
    <p:sldId id="276" r:id="rId25"/>
    <p:sldId id="277"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友だち追加の入口・追加後の動線ともに、標準機能のまま厚くできると想定。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ポータルで物件検索 → サイト閲覧 → LINE追加 → フォームで物件を送信（CV）の流れで設計します。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送るメリット・安心材料やボタン、リッチメニューを足して厚くし、フォームで計測をします。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※試算の想定（月間）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約17件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新規・既存の合計</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（フォーム送信）</a:t>
            </a: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※問い合わせ＝フォームでの物件情報の送信（CV）の件数。新しい友だち・今の友だちの合計の試算</a:t>
            </a:r>
            <a:endParaRPr lang="en-US" sz="1100" b="0" u="none" strike="noStrike" dirty="0">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800" b="1" u="none" strike="noStrike" dirty="0">
                <a:solidFill>
                  <a:srgbClr val="FF3300"/>
                </a:solidFill>
                <a:effectLst/>
                <a:uFillTx/>
                <a:latin typeface="メイリオ"/>
                <a:ea typeface="メイリオ"/>
              </a:rPr>
              <a:t>1か月目 月13件 → 6か月目 月17件（試算）</a:t>
            </a:r>
            <a:endParaRPr lang="en-US" sz="18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サイトを離れようとした方に、LINEでの問い合わせを案内</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送る理由（営業電話なし等）とフォームへのボタンを追加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「物件を送る」を常に表示。よくある質問は自動で回答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14日間・全10通と月4回程度の配信で、送信を後押し</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822191" y="1508760"/>
            <a:ext cx="5532121" cy="1170432"/>
            <a:chOff x="3822191" y="1508760"/>
            <a:chExt cx="5532121" cy="1170432"/>
          </a:xfrm>
        </p:grpSpPr>
        <p:sp>
          <p:nvSpPr>
            <p:cNvPr id="337" name="グラフ_基準線"/>
            <p:cNvSpPr/>
            <p:nvPr/>
          </p:nvSpPr>
          <p:spPr>
            <a:xfrm>
              <a:off x="3822191" y="2304288"/>
              <a:ext cx="3840479"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問い合わせ_1か月目"/>
            <p:cNvSpPr/>
            <p:nvPr/>
          </p:nvSpPr>
          <p:spPr>
            <a:xfrm>
              <a:off x="3941063" y="1919702"/>
              <a:ext cx="402336" cy="384585"/>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件数_1か月目"/>
            <p:cNvSpPr/>
            <p:nvPr/>
          </p:nvSpPr>
          <p:spPr>
            <a:xfrm>
              <a:off x="3822191" y="1627094"/>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13件</a:t>
              </a:r>
              <a:endParaRPr lang="ja-JP" altLang="en-US" sz="1400" dirty="0"/>
            </a:p>
          </p:txBody>
        </p:sp>
        <p:sp>
          <p:nvSpPr>
            <p:cNvPr id="340" name="グラフ_月_1"/>
            <p:cNvSpPr/>
            <p:nvPr/>
          </p:nvSpPr>
          <p:spPr>
            <a:xfrm>
              <a:off x="382219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1" name="グラフ_問い合わせ_2か月目"/>
            <p:cNvSpPr/>
            <p:nvPr/>
          </p:nvSpPr>
          <p:spPr>
            <a:xfrm>
              <a:off x="4581144" y="1890118"/>
              <a:ext cx="402336" cy="414169"/>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2" name="グラフ_件数_2か月目"/>
            <p:cNvSpPr/>
            <p:nvPr/>
          </p:nvSpPr>
          <p:spPr>
            <a:xfrm>
              <a:off x="4462272" y="159751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14</a:t>
              </a:r>
              <a:endParaRPr lang="ja-JP" altLang="en-US" sz="1200" dirty="0"/>
            </a:p>
          </p:txBody>
        </p:sp>
        <p:sp>
          <p:nvSpPr>
            <p:cNvPr id="343" name="グラフ_月_2"/>
            <p:cNvSpPr/>
            <p:nvPr/>
          </p:nvSpPr>
          <p:spPr>
            <a:xfrm>
              <a:off x="446227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4" name="グラフ_問い合わせ_3か月目"/>
            <p:cNvSpPr/>
            <p:nvPr/>
          </p:nvSpPr>
          <p:spPr>
            <a:xfrm>
              <a:off x="5221224" y="1890118"/>
              <a:ext cx="402336" cy="414169"/>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5" name="グラフ_件数_3か月目"/>
            <p:cNvSpPr/>
            <p:nvPr/>
          </p:nvSpPr>
          <p:spPr>
            <a:xfrm>
              <a:off x="5102352" y="159751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14</a:t>
              </a:r>
              <a:endParaRPr lang="ja-JP" altLang="en-US" sz="1200" dirty="0"/>
            </a:p>
          </p:txBody>
        </p:sp>
        <p:sp>
          <p:nvSpPr>
            <p:cNvPr id="346" name="グラフ_月_3"/>
            <p:cNvSpPr/>
            <p:nvPr/>
          </p:nvSpPr>
          <p:spPr>
            <a:xfrm>
              <a:off x="510235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47" name="グラフ_問い合わせ_4か月目"/>
            <p:cNvSpPr/>
            <p:nvPr/>
          </p:nvSpPr>
          <p:spPr>
            <a:xfrm>
              <a:off x="5861303" y="1860535"/>
              <a:ext cx="402336" cy="443752"/>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8" name="グラフ_件数_4か月目"/>
            <p:cNvSpPr/>
            <p:nvPr/>
          </p:nvSpPr>
          <p:spPr>
            <a:xfrm>
              <a:off x="5742431" y="1567927"/>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15</a:t>
              </a:r>
              <a:endParaRPr lang="ja-JP" altLang="en-US" sz="1200" dirty="0"/>
            </a:p>
          </p:txBody>
        </p:sp>
        <p:sp>
          <p:nvSpPr>
            <p:cNvPr id="349" name="グラフ_月_4"/>
            <p:cNvSpPr/>
            <p:nvPr/>
          </p:nvSpPr>
          <p:spPr>
            <a:xfrm>
              <a:off x="574243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0" name="グラフ_問い合わせ_5か月目"/>
            <p:cNvSpPr/>
            <p:nvPr/>
          </p:nvSpPr>
          <p:spPr>
            <a:xfrm>
              <a:off x="6501383" y="1830951"/>
              <a:ext cx="402336" cy="47333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1" name="グラフ_件数_5か月目"/>
            <p:cNvSpPr/>
            <p:nvPr/>
          </p:nvSpPr>
          <p:spPr>
            <a:xfrm>
              <a:off x="6382512" y="1538343"/>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16</a:t>
              </a:r>
              <a:endParaRPr lang="ja-JP" altLang="en-US" sz="1200" dirty="0"/>
            </a:p>
          </p:txBody>
        </p:sp>
        <p:sp>
          <p:nvSpPr>
            <p:cNvPr id="352" name="グラフ_月_5"/>
            <p:cNvSpPr/>
            <p:nvPr/>
          </p:nvSpPr>
          <p:spPr>
            <a:xfrm>
              <a:off x="638251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53" name="グラフ_問い合わせ_6か月目"/>
            <p:cNvSpPr/>
            <p:nvPr/>
          </p:nvSpPr>
          <p:spPr>
            <a:xfrm>
              <a:off x="7141464" y="1801368"/>
              <a:ext cx="402336" cy="5029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件数_6か月目"/>
            <p:cNvSpPr/>
            <p:nvPr/>
          </p:nvSpPr>
          <p:spPr>
            <a:xfrm>
              <a:off x="7022592" y="150876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17件</a:t>
              </a:r>
              <a:endParaRPr lang="ja-JP" altLang="en-US" sz="1400" dirty="0"/>
            </a:p>
          </p:txBody>
        </p:sp>
        <p:sp>
          <p:nvSpPr>
            <p:cNvPr id="355" name="グラフ_月_6"/>
            <p:cNvSpPr/>
            <p:nvPr/>
          </p:nvSpPr>
          <p:spPr>
            <a:xfrm>
              <a:off x="702259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56" name="グラフ_凡例"/>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7" name="グラフ_凡例文字"/>
            <p:cNvSpPr/>
            <p:nvPr/>
          </p:nvSpPr>
          <p:spPr>
            <a:xfrm>
              <a:off x="8028431" y="1554480"/>
              <a:ext cx="1325880" cy="438912"/>
            </a:xfrm>
            <a:prstGeom prst="rect">
              <a:avLst/>
            </a:prstGeom>
            <a:noFill/>
            <a:ln>
              <a:noFill/>
            </a:ln>
          </p:spPr>
          <p:txBody>
            <a:bodyPr wrap="square" lIns="0" tIns="0" rIns="0" bIns="0" rtlCol="0" anchor="t">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問い合わせ</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（フォーム送信）</a:t>
              </a:r>
              <a:endParaRPr lang="ja-JP" altLang="en-US" sz="1100" dirty="0"/>
            </a:p>
          </p:txBody>
        </p:sp>
        <p:sp>
          <p:nvSpPr>
            <p:cNvPr id="358"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89件（試算）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か月目の月間の試算。問い合わせ＝フォームでの物件情報の送信（CV）の件数</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友だち追加の増加と導線改善で、6か月目にLINE経由の問い合わせ月17件を見込みます（試算）。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3767328"/>
            <a:ext cx="2834280" cy="109728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プラン①の基本施策での想定値です。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注記"/>
          <p:cNvSpPr/>
          <p:nvPr/>
        </p:nvSpPr>
        <p:spPr>
          <a:xfrm>
            <a:off x="384048" y="5804610"/>
            <a:ext cx="9144000" cy="365760"/>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※11ページの試算（6か月目に月17件）は、プラン①｜総合運用の基本施策を対象としたものです。プラン②・③の成果は含みません。</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フォームでの物件URLの送信を後押しします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
            </a:r>
            <a:r>
              <a:rPr lang="zh-CN" sz="1400" b="1" u="none" strike="noStrike">
                <a:solidFill>
                  <a:srgbClr val="1F2A5C"/>
                </a:solidFill>
                <a:effectLst/>
                <a:uFillTx/>
                <a:latin typeface="メイリオ"/>
                <a:ea typeface="メイリオ"/>
              </a:rPr>
              <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143166</TotalTime>
  <Words>6247</Words>
  <Application>Microsoft Office PowerPoint</Application>
  <PresentationFormat>A4 210 x 297 mm</PresentationFormat>
  <Paragraphs>1219</Paragraphs>
  <Slides>45</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1966</cp:revision>
  <cp:lastPrinted>2022-11-01T11:38:14Z</cp:lastPrinted>
  <dcterms:created xsi:type="dcterms:W3CDTF">2015-09-04T09:21:15Z</dcterms:created>
  <dcterms:modified xsi:type="dcterms:W3CDTF">2026-10-14T08:12:20Z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