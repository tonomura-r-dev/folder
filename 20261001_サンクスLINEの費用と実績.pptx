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04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実績と費用｜LINEで追うと、来店・面談が伸びる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弊社の運用実績と、LINEヤフー公式の導入事例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8"/>
          <p:cNvSpPr/>
          <p:nvPr/>
        </p:nvSpPr>
        <p:spPr>
          <a:xfrm>
            <a:off x="525600" y="1638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弊社実績｜美容クリニック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600" y="1998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完了画面からLINEへ（サンクスLINE）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来院率 40〜50%改善</a:t>
            </a:r>
          </a:p>
        </p:txBody>
      </p:sp>
      <p:sp>
        <p:nvSpPr>
          <p:cNvPr id="8" name="Rounded Rectangle 4"/>
          <p:cNvSpPr/>
          <p:nvPr/>
        </p:nvSpPr>
        <p:spPr>
          <a:xfrm>
            <a:off x="3524399" y="1638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保険見直し本舗</a:t>
            </a:r>
          </a:p>
        </p:txBody>
      </p:sp>
      <p:sp>
        <p:nvSpPr>
          <p:cNvPr id="9" name="Rounded Rectangle 6"/>
          <p:cNvSpPr/>
          <p:nvPr/>
        </p:nvSpPr>
        <p:spPr>
          <a:xfrm>
            <a:off x="3524399" y="1998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予約日時をLINEでリマインド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面談実施率 ＋5ポイント</a:t>
            </a:r>
          </a:p>
        </p:txBody>
      </p:sp>
      <p:sp>
        <p:nvSpPr>
          <p:cNvPr id="10" name="Rounded Rectangle 4"/>
          <p:cNvSpPr/>
          <p:nvPr/>
        </p:nvSpPr>
        <p:spPr>
          <a:xfrm>
            <a:off x="6523200" y="1638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琴平バス（観光バス）</a:t>
            </a:r>
          </a:p>
        </p:txBody>
      </p:sp>
      <p:sp>
        <p:nvSpPr>
          <p:cNvPr id="11" name="Rounded Rectangle 6"/>
          <p:cNvSpPr/>
          <p:nvPr/>
        </p:nvSpPr>
        <p:spPr>
          <a:xfrm>
            <a:off x="6523200" y="1998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予約の通知をLINEで受け取った方のうち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 約70%</a:t>
            </a:r>
          </a:p>
        </p:txBody>
      </p:sp>
      <p:sp>
        <p:nvSpPr>
          <p:cNvPr id="12" name="Rounded Rectangle 4"/>
          <p:cNvSpPr/>
          <p:nvPr/>
        </p:nvSpPr>
        <p:spPr>
          <a:xfrm>
            <a:off x="525600" y="3024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</a:p>
        </p:txBody>
      </p:sp>
      <p:sp>
        <p:nvSpPr>
          <p:cNvPr id="13" name="Rounded Rectangle 6"/>
          <p:cNvSpPr/>
          <p:nvPr/>
        </p:nvSpPr>
        <p:spPr>
          <a:xfrm>
            <a:off x="525600" y="3384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予約数 約120%</a:t>
            </a:r>
          </a:p>
        </p:txBody>
      </p:sp>
      <p:sp>
        <p:nvSpPr>
          <p:cNvPr id="14" name="Rounded Rectangle 4"/>
          <p:cNvSpPr/>
          <p:nvPr/>
        </p:nvSpPr>
        <p:spPr>
          <a:xfrm>
            <a:off x="3524399" y="3024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UZUZ（就職支援）</a:t>
            </a:r>
          </a:p>
        </p:txBody>
      </p:sp>
      <p:sp>
        <p:nvSpPr>
          <p:cNvPr id="15" name="Rounded Rectangle 6"/>
          <p:cNvSpPr/>
          <p:nvPr/>
        </p:nvSpPr>
        <p:spPr>
          <a:xfrm>
            <a:off x="3524399" y="3384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LINEからの問い合わせ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面談予約率 55%</a:t>
            </a:r>
          </a:p>
        </p:txBody>
      </p:sp>
      <p:sp>
        <p:nvSpPr>
          <p:cNvPr id="16" name="Rounded Rectangle 4"/>
          <p:cNvSpPr/>
          <p:nvPr/>
        </p:nvSpPr>
        <p:spPr>
          <a:xfrm>
            <a:off x="6523200" y="3024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サンマルクカフェ</a:t>
            </a:r>
          </a:p>
        </p:txBody>
      </p:sp>
      <p:sp>
        <p:nvSpPr>
          <p:cNvPr id="17" name="Rounded Rectangle 6"/>
          <p:cNvSpPr/>
          <p:nvPr/>
        </p:nvSpPr>
        <p:spPr>
          <a:xfrm>
            <a:off x="6523200" y="3384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メッセージを開封した方のうち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当日に来店 約40%</a:t>
            </a:r>
          </a:p>
        </p:txBody>
      </p:sp>
      <p:sp>
        <p:nvSpPr>
          <p:cNvPr id="18" name="Rounded Rectangle 4"/>
          <p:cNvSpPr/>
          <p:nvPr/>
        </p:nvSpPr>
        <p:spPr>
          <a:xfrm>
            <a:off x="525600" y="4482000"/>
            <a:ext cx="1080000" cy="468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9" name="Rounded Rectangle 8"/>
          <p:cNvSpPr/>
          <p:nvPr/>
        </p:nvSpPr>
        <p:spPr>
          <a:xfrm>
            <a:off x="1677600" y="4482000"/>
            <a:ext cx="1944000" cy="468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15万円</a:t>
            </a:r>
          </a:p>
        </p:txBody>
      </p:sp>
      <p:sp>
        <p:nvSpPr>
          <p:cNvPr id="20" name="Rounded Rectangle 8"/>
          <p:cNvSpPr/>
          <p:nvPr/>
        </p:nvSpPr>
        <p:spPr>
          <a:xfrm>
            <a:off x="3693600" y="4482000"/>
            <a:ext cx="1944000" cy="468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21" name="TextBox 10"/>
          <p:cNvSpPr txBox="1"/>
          <p:nvPr/>
        </p:nvSpPr>
        <p:spPr>
          <a:xfrm>
            <a:off x="5709600" y="4482000"/>
            <a:ext cx="3668400" cy="468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※APIツール（Lステップ等）と併用可</a:t>
            </a:r>
          </a:p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※完了画面を増やす場合は追加費用</a:t>
            </a:r>
          </a:p>
        </p:txBody>
      </p:sp>
      <p:sp>
        <p:nvSpPr>
          <p:cNvPr id="22" name="Rounded Rectangle 4"/>
          <p:cNvSpPr/>
          <p:nvPr/>
        </p:nvSpPr>
        <p:spPr>
          <a:xfrm>
            <a:off x="525600" y="5076000"/>
            <a:ext cx="8852400" cy="468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広告のご提案とあわせて、LINEへの導線設計からご提案可能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525600" y="5616000"/>
            <a:ext cx="8852400" cy="28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導入事例（保険見直し本舗／琴平バス／アクネクリニック／UZUZ／サンマルクカフェ）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