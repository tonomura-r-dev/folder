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5"/>
  </p:notesMasterIdLst>
  <p:sldIdLst>
    <p:sldId id="256" r:id="rId2"/>
    <p:sldId id="278" r:id="rId3"/>
    <p:sldId id="257" r:id="rId4"/>
    <p:sldId id="259" r:id="rId5"/>
    <p:sldId id="260" r:id="rId6"/>
    <p:sldId id="266" r:id="rId7"/>
    <p:sldId id="281" r:id="rId8"/>
    <p:sldId id="258" r:id="rId9"/>
    <p:sldId id="263" r:id="rId10"/>
    <p:sldId id="264" r:id="rId11"/>
    <p:sldId id="262" r:id="rId12"/>
    <p:sldId id="271" r:id="rId13"/>
    <p:sldId id="269" r:id="rId14"/>
    <p:sldId id="270" r:id="rId15"/>
    <p:sldId id="268" r:id="rId16"/>
    <p:sldId id="279" r:id="rId17"/>
    <p:sldId id="302" r:id="rId18"/>
    <p:sldId id="283" r:id="rId19"/>
    <p:sldId id="284" r:id="rId20"/>
    <p:sldId id="285" r:id="rId21"/>
    <p:sldId id="301" r:id="rId22"/>
    <p:sldId id="293" r:id="rId23"/>
    <p:sldId id="272" r:id="rId24"/>
    <p:sldId id="273" r:id="rId25"/>
    <p:sldId id="274" r:id="rId26"/>
    <p:sldId id="275" r:id="rId27"/>
    <p:sldId id="276" r:id="rId28"/>
    <p:sldId id="277" r:id="rId29"/>
    <p:sldId id="280" r:id="rId30"/>
    <p:sldId id="282" r:id="rId31"/>
    <p:sldId id="287" r:id="rId32"/>
    <p:sldId id="288" r:id="rId33"/>
    <p:sldId id="289" r:id="rId34"/>
    <p:sldId id="290" r:id="rId35"/>
    <p:sldId id="291" r:id="rId36"/>
    <p:sldId id="292" r:id="rId37"/>
    <p:sldId id="294" r:id="rId38"/>
    <p:sldId id="295" r:id="rId39"/>
    <p:sldId id="296" r:id="rId40"/>
    <p:sldId id="297" r:id="rId41"/>
    <p:sldId id="298" r:id="rId42"/>
    <p:sldId id="299" r:id="rId43"/>
    <p:sldId id="300" r:id="rId44"/>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4" d="100"/>
          <a:sy n="104" d="100"/>
        </p:scale>
        <p:origin x="1578"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0" name="PlaceHolder 1"/>
          <p:cNvSpPr>
            <a:spLocks noGrp="1" noRot="1" noChangeAspect="1"/>
          </p:cNvSpPr>
          <p:nvPr>
            <p:ph type="sldImg"/>
          </p:nvPr>
        </p:nvSpPr>
        <p:spPr>
          <a:xfrm>
            <a:off x="0" y="812520"/>
            <a:ext cx="0" cy="0"/>
          </a:xfrm>
          <a:prstGeom prst="rect">
            <a:avLst/>
          </a:prstGeom>
          <a:noFill/>
          <a:ln w="0">
            <a:noFill/>
          </a:ln>
        </p:spPr>
        <p:txBody>
          <a:bodyPr lIns="0" tIns="0" rIns="0" bIns="0" anchor="ctr">
            <a:noAutofit/>
          </a:bodyPr>
          <a:lstStyle/>
          <a:p>
            <a:r>
              <a:rPr lang="en-US" sz="1800" b="0" u="none" strike="noStrike">
                <a:solidFill>
                  <a:schemeClr val="dk1"/>
                </a:solidFill>
                <a:effectLst/>
                <a:uFillTx/>
                <a:latin typeface="Calibri"/>
              </a:rPr>
              <a:t>Click to move the slide</a:t>
            </a:r>
          </a:p>
        </p:txBody>
      </p:sp>
      <p:sp>
        <p:nvSpPr>
          <p:cNvPr id="21"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indent="0">
              <a:buNone/>
            </a:pPr>
            <a:r>
              <a:rPr lang="en-US" sz="2000" b="0" u="none" strike="noStrike">
                <a:solidFill>
                  <a:srgbClr val="000000"/>
                </a:solidFill>
                <a:effectLst/>
                <a:uFillTx/>
                <a:latin typeface="Arial"/>
              </a:rPr>
              <a:t>Click to edit the notes format</a:t>
            </a:r>
          </a:p>
        </p:txBody>
      </p:sp>
      <p:sp>
        <p:nvSpPr>
          <p:cNvPr id="22"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buNone/>
            </a:pPr>
            <a:r>
              <a:rPr lang="en-US" sz="1400" b="0" u="none" strike="noStrike">
                <a:solidFill>
                  <a:srgbClr val="000000"/>
                </a:solidFill>
                <a:effectLst/>
                <a:uFillTx/>
                <a:latin typeface="Times New Roman"/>
              </a:rPr>
              <a:t>&lt;header&gt;</a:t>
            </a:r>
          </a:p>
        </p:txBody>
      </p:sp>
      <p:sp>
        <p:nvSpPr>
          <p:cNvPr id="23" name="PlaceHolder 4"/>
          <p:cNvSpPr>
            <a:spLocks noGrp="1"/>
          </p:cNvSpPr>
          <p:nvPr>
            <p:ph type="dt" idx="1"/>
          </p:nvPr>
        </p:nvSpPr>
        <p:spPr>
          <a:xfrm>
            <a:off x="4278960" y="0"/>
            <a:ext cx="3280680" cy="53424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p>
        </p:txBody>
      </p:sp>
      <p:sp>
        <p:nvSpPr>
          <p:cNvPr id="24" name="PlaceHolder 5"/>
          <p:cNvSpPr>
            <a:spLocks noGrp="1"/>
          </p:cNvSpPr>
          <p:nvPr>
            <p:ph type="ftr" idx="2"/>
          </p:nvPr>
        </p:nvSpPr>
        <p:spPr>
          <a:xfrm>
            <a:off x="0" y="10157400"/>
            <a:ext cx="3280680" cy="534240"/>
          </a:xfrm>
          <a:prstGeom prst="rect">
            <a:avLst/>
          </a:prstGeom>
          <a:noFill/>
          <a:ln w="0">
            <a:noFill/>
          </a:ln>
        </p:spPr>
        <p:txBody>
          <a:bodyPr lIns="0" tIns="0" rIns="0" bIns="0" anchor="b">
            <a:noAutofit/>
          </a:bodyPr>
          <a:lstStyle>
            <a:lvl1pPr indent="0">
              <a:buNone/>
              <a:defRPr lang="en-US" sz="1400" b="0" u="none" strike="noStrike">
                <a:solidFill>
                  <a:srgbClr val="000000"/>
                </a:solidFill>
                <a:effectLst/>
                <a:uFillTx/>
                <a:latin typeface="Times New Roman"/>
              </a:defRPr>
            </a:lvl1pPr>
          </a:lstStyle>
          <a:p>
            <a:pPr indent="0">
              <a:buNone/>
            </a:pPr>
            <a:r>
              <a:rPr lang="en-US" sz="1400" b="0" u="none" strike="noStrike">
                <a:solidFill>
                  <a:srgbClr val="000000"/>
                </a:solidFill>
                <a:effectLst/>
                <a:uFillTx/>
                <a:latin typeface="Times New Roman"/>
              </a:rPr>
              <a:t>&lt;footer&gt;</a:t>
            </a:r>
          </a:p>
        </p:txBody>
      </p:sp>
      <p:sp>
        <p:nvSpPr>
          <p:cNvPr id="25" name="PlaceHolder 6"/>
          <p:cNvSpPr>
            <a:spLocks noGrp="1"/>
          </p:cNvSpPr>
          <p:nvPr>
            <p:ph type="sldNum" idx="3"/>
          </p:nvPr>
        </p:nvSpPr>
        <p:spPr>
          <a:xfrm>
            <a:off x="4278960" y="10157400"/>
            <a:ext cx="3280680" cy="53424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9023FD08-B3C3-42F8-A153-9D5527DEAE10}" type="slidenum">
              <a:rPr lang="en-US" sz="1400" b="0" u="none" strike="noStrike">
                <a:solidFill>
                  <a:srgbClr val="000000"/>
                </a:solidFill>
                <a:effectLst/>
                <a:uFillTx/>
                <a:latin typeface="Times New Roman"/>
              </a:rPr>
              <a:t>‹#›</a:t>
            </a:fld>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7" name="PlaceHolder 1"/>
          <p:cNvSpPr>
            <a:spLocks noGrp="1" noRot="1" noChangeAspect="1"/>
          </p:cNvSpPr>
          <p:nvPr>
            <p:ph type="sldImg"/>
          </p:nvPr>
        </p:nvSpPr>
        <p:spPr>
          <a:xfrm>
            <a:off x="981000" y="1243080"/>
            <a:ext cx="4844520" cy="3354120"/>
          </a:xfrm>
          <a:prstGeom prst="rect">
            <a:avLst/>
          </a:prstGeom>
          <a:ln w="0">
            <a:noFill/>
          </a:ln>
        </p:spPr>
      </p:sp>
      <p:sp>
        <p:nvSpPr>
          <p:cNvPr id="1088"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089" name="PlaceHolder 3"/>
          <p:cNvSpPr>
            <a:spLocks noGrp="1"/>
          </p:cNvSpPr>
          <p:nvPr>
            <p:ph type="sldNum" idx="4"/>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4B938330-FE6F-42FA-888B-54BA75BDCD09}" type="slidenum">
              <a:rPr lang="en-US" sz="1200" b="0" u="none" strike="noStrike">
                <a:solidFill>
                  <a:schemeClr val="dk1"/>
                </a:solidFill>
                <a:effectLst/>
                <a:uFillTx/>
                <a:latin typeface="+mn-lt"/>
                <a:ea typeface="+mn-ea"/>
              </a:rPr>
              <a:t>3</a:t>
            </a:fld>
            <a:endParaRPr lang="en-US" sz="1200" b="0" u="none" strike="noStrike">
              <a:solidFill>
                <a:srgbClr val="000000"/>
              </a:solidFill>
              <a:effectLst/>
              <a:uFillTx/>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3" name="PlaceHolder 1"/>
          <p:cNvSpPr>
            <a:spLocks noGrp="1" noRot="1" noChangeAspect="1"/>
          </p:cNvSpPr>
          <p:nvPr>
            <p:ph type="sldImg"/>
          </p:nvPr>
        </p:nvSpPr>
        <p:spPr>
          <a:xfrm>
            <a:off x="981075" y="1243013"/>
            <a:ext cx="4845050" cy="3354387"/>
          </a:xfrm>
          <a:prstGeom prst="rect">
            <a:avLst/>
          </a:prstGeom>
          <a:ln w="0">
            <a:noFill/>
          </a:ln>
        </p:spPr>
      </p:sp>
      <p:sp>
        <p:nvSpPr>
          <p:cNvPr id="1094"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095" name="PlaceHolder 3"/>
          <p:cNvSpPr>
            <a:spLocks noGrp="1"/>
          </p:cNvSpPr>
          <p:nvPr>
            <p:ph type="sldNum" idx="6"/>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5B8CF54-B312-4BD2-B800-F249C15D9311}" type="slidenum">
              <a:rPr lang="en-US" sz="1200" b="0" u="none" strike="noStrike">
                <a:solidFill>
                  <a:schemeClr val="dk1"/>
                </a:solidFill>
                <a:effectLst/>
                <a:uFillTx/>
                <a:latin typeface="+mn-lt"/>
                <a:ea typeface="+mn-ea"/>
              </a:rPr>
              <a:t>4</a:t>
            </a:fld>
            <a:endParaRPr lang="en-US" sz="1200" b="0" u="none" strike="noStrike">
              <a:solidFill>
                <a:srgbClr val="000000"/>
              </a:solidFill>
              <a:effectLst/>
              <a:uFillTx/>
              <a:latin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5" name="PlaceHolder 1"/>
          <p:cNvSpPr>
            <a:spLocks noGrp="1" noRot="1" noChangeAspect="1"/>
          </p:cNvSpPr>
          <p:nvPr>
            <p:ph type="sldImg"/>
          </p:nvPr>
        </p:nvSpPr>
        <p:spPr>
          <a:xfrm>
            <a:off x="981075" y="1243013"/>
            <a:ext cx="4845050" cy="3354387"/>
          </a:xfrm>
          <a:prstGeom prst="rect">
            <a:avLst/>
          </a:prstGeom>
          <a:ln w="0">
            <a:noFill/>
          </a:ln>
        </p:spPr>
      </p:sp>
      <p:sp>
        <p:nvSpPr>
          <p:cNvPr id="1106"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07" name="PlaceHolder 3"/>
          <p:cNvSpPr>
            <a:spLocks noGrp="1"/>
          </p:cNvSpPr>
          <p:nvPr>
            <p:ph type="sldNum" idx="10"/>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3689BB4-1D02-4AD1-84CD-933C367E541C}" type="slidenum">
              <a:rPr lang="en-US" sz="1200" b="0" u="none" strike="noStrike">
                <a:solidFill>
                  <a:schemeClr val="dk1"/>
                </a:solidFill>
                <a:effectLst/>
                <a:uFillTx/>
                <a:latin typeface="+mn-lt"/>
                <a:ea typeface="+mn-ea"/>
              </a:rPr>
              <a:t>6</a:t>
            </a:fld>
            <a:endParaRPr lang="en-US" sz="1200" b="0" u="none" strike="noStrike">
              <a:solidFill>
                <a:srgbClr val="000000"/>
              </a:solidFill>
              <a:effectLst/>
              <a:uFillTx/>
              <a:latin typeface="Times New Roman"/>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0" name="PlaceHolder 1"/>
          <p:cNvSpPr>
            <a:spLocks noGrp="1" noRot="1" noChangeAspect="1"/>
          </p:cNvSpPr>
          <p:nvPr>
            <p:ph type="sldImg"/>
          </p:nvPr>
        </p:nvSpPr>
        <p:spPr>
          <a:xfrm>
            <a:off x="981075" y="1243013"/>
            <a:ext cx="4845050" cy="3354387"/>
          </a:xfrm>
          <a:prstGeom prst="rect">
            <a:avLst/>
          </a:prstGeom>
          <a:ln w="0">
            <a:noFill/>
          </a:ln>
        </p:spPr>
      </p:sp>
      <p:sp>
        <p:nvSpPr>
          <p:cNvPr id="1091"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092" name="PlaceHolder 3"/>
          <p:cNvSpPr>
            <a:spLocks noGrp="1"/>
          </p:cNvSpPr>
          <p:nvPr>
            <p:ph type="sldNum" idx="5"/>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8C2CECCF-8D73-40E8-8240-AEEE2AEC60DD}" type="slidenum">
              <a:rPr lang="en-US" sz="1200" b="0" u="none" strike="noStrike">
                <a:solidFill>
                  <a:schemeClr val="dk1"/>
                </a:solidFill>
                <a:effectLst/>
                <a:uFillTx/>
                <a:latin typeface="+mn-lt"/>
                <a:ea typeface="+mn-ea"/>
              </a:rPr>
              <a:t>8</a:t>
            </a:fld>
            <a:endParaRPr lang="en-US" sz="1200" b="0" u="none" strike="noStrike">
              <a:solidFill>
                <a:srgbClr val="000000"/>
              </a:solidFill>
              <a:effectLst/>
              <a:uFillTx/>
              <a:latin typeface="Times New Roman"/>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9" name="PlaceHolder 1"/>
          <p:cNvSpPr>
            <a:spLocks noGrp="1" noRot="1" noChangeAspect="1"/>
          </p:cNvSpPr>
          <p:nvPr>
            <p:ph type="sldImg"/>
          </p:nvPr>
        </p:nvSpPr>
        <p:spPr>
          <a:xfrm>
            <a:off x="981075" y="1243013"/>
            <a:ext cx="4845050" cy="3354387"/>
          </a:xfrm>
          <a:prstGeom prst="rect">
            <a:avLst/>
          </a:prstGeom>
          <a:ln w="0">
            <a:noFill/>
          </a:ln>
        </p:spPr>
      </p:sp>
      <p:sp>
        <p:nvSpPr>
          <p:cNvPr id="1100"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01" name="PlaceHolder 3"/>
          <p:cNvSpPr>
            <a:spLocks noGrp="1"/>
          </p:cNvSpPr>
          <p:nvPr>
            <p:ph type="sldNum" idx="8"/>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4D115F2-B34B-42E8-9697-2D9FA63D644A}" type="slidenum">
              <a:rPr lang="en-US" sz="1200" b="0" u="none" strike="noStrike">
                <a:solidFill>
                  <a:schemeClr val="dk1"/>
                </a:solidFill>
                <a:effectLst/>
                <a:uFillTx/>
                <a:latin typeface="+mn-lt"/>
                <a:ea typeface="+mn-ea"/>
              </a:rPr>
              <a:t>9</a:t>
            </a:fld>
            <a:endParaRPr lang="en-US" sz="1200" b="0" u="none" strike="noStrike">
              <a:solidFill>
                <a:srgbClr val="000000"/>
              </a:solidFill>
              <a:effectLst/>
              <a:uFillTx/>
              <a:latin typeface="Times New Roman"/>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2" name="PlaceHolder 1"/>
          <p:cNvSpPr>
            <a:spLocks noGrp="1" noRot="1" noChangeAspect="1"/>
          </p:cNvSpPr>
          <p:nvPr>
            <p:ph type="sldImg"/>
          </p:nvPr>
        </p:nvSpPr>
        <p:spPr>
          <a:xfrm>
            <a:off x="981075" y="1243013"/>
            <a:ext cx="4845050" cy="3354387"/>
          </a:xfrm>
          <a:prstGeom prst="rect">
            <a:avLst/>
          </a:prstGeom>
          <a:ln w="0">
            <a:noFill/>
          </a:ln>
        </p:spPr>
      </p:sp>
      <p:sp>
        <p:nvSpPr>
          <p:cNvPr id="1103"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04" name="PlaceHolder 3"/>
          <p:cNvSpPr>
            <a:spLocks noGrp="1"/>
          </p:cNvSpPr>
          <p:nvPr>
            <p:ph type="sldNum" idx="9"/>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DD9F940E-30FD-4A61-A80D-C863CD0E5A38}" type="slidenum">
              <a:rPr lang="en-US" sz="1200" b="0" u="none" strike="noStrike">
                <a:solidFill>
                  <a:schemeClr val="dk1"/>
                </a:solidFill>
                <a:effectLst/>
                <a:uFillTx/>
                <a:latin typeface="+mn-lt"/>
                <a:ea typeface="+mn-ea"/>
              </a:rPr>
              <a:t>10</a:t>
            </a:fld>
            <a:endParaRPr lang="en-US" sz="1200" b="0" u="none" strike="noStrike">
              <a:solidFill>
                <a:srgbClr val="000000"/>
              </a:solidFill>
              <a:effectLst/>
              <a:uFillTx/>
              <a:latin typeface="Times New Roman"/>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6" name="PlaceHolder 1"/>
          <p:cNvSpPr>
            <a:spLocks noGrp="1" noRot="1" noChangeAspect="1"/>
          </p:cNvSpPr>
          <p:nvPr>
            <p:ph type="sldImg"/>
          </p:nvPr>
        </p:nvSpPr>
        <p:spPr>
          <a:xfrm>
            <a:off x="981075" y="1243013"/>
            <a:ext cx="4845050" cy="3354387"/>
          </a:xfrm>
          <a:prstGeom prst="rect">
            <a:avLst/>
          </a:prstGeom>
          <a:ln w="0">
            <a:noFill/>
          </a:ln>
        </p:spPr>
      </p:sp>
      <p:sp>
        <p:nvSpPr>
          <p:cNvPr id="1097"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098" name="PlaceHolder 3"/>
          <p:cNvSpPr>
            <a:spLocks noGrp="1"/>
          </p:cNvSpPr>
          <p:nvPr>
            <p:ph type="sldNum" idx="7"/>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232F5AC-944B-4DEB-AD69-07423CA7CF4C}" type="slidenum">
              <a:rPr lang="en-US" sz="1200" b="0" u="none" strike="noStrike">
                <a:solidFill>
                  <a:schemeClr val="dk1"/>
                </a:solidFill>
                <a:effectLst/>
                <a:uFillTx/>
                <a:latin typeface="+mn-lt"/>
                <a:ea typeface="+mn-ea"/>
              </a:rPr>
              <a:t>11</a:t>
            </a:fld>
            <a:endParaRPr lang="en-US" sz="1200" b="0" u="none" strike="noStrike">
              <a:solidFill>
                <a:srgbClr val="000000"/>
              </a:solidFill>
              <a:effectLst/>
              <a:uFillTx/>
              <a:latin typeface="Times New Roman"/>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4" name="PlaceHolder 1"/>
          <p:cNvSpPr>
            <a:spLocks noGrp="1" noRot="1" noChangeAspect="1"/>
          </p:cNvSpPr>
          <p:nvPr>
            <p:ph type="sldImg"/>
          </p:nvPr>
        </p:nvSpPr>
        <p:spPr>
          <a:xfrm>
            <a:off x="981075" y="1243013"/>
            <a:ext cx="4845050" cy="3354387"/>
          </a:xfrm>
          <a:prstGeom prst="rect">
            <a:avLst/>
          </a:prstGeom>
          <a:ln w="0">
            <a:noFill/>
          </a:ln>
        </p:spPr>
      </p:sp>
      <p:sp>
        <p:nvSpPr>
          <p:cNvPr id="1115"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16" name="PlaceHolder 3"/>
          <p:cNvSpPr>
            <a:spLocks noGrp="1"/>
          </p:cNvSpPr>
          <p:nvPr>
            <p:ph type="sldNum" idx="13"/>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662333C0-0849-43BA-AADF-C797DCFA3F6E}" type="slidenum">
              <a:rPr lang="en-US" sz="1200" b="0" u="none" strike="noStrike">
                <a:solidFill>
                  <a:schemeClr val="dk1"/>
                </a:solidFill>
                <a:effectLst/>
                <a:uFillTx/>
                <a:latin typeface="+mn-lt"/>
                <a:ea typeface="+mn-ea"/>
              </a:rPr>
              <a:t>13</a:t>
            </a:fld>
            <a:endParaRPr lang="en-US" sz="1200" b="0" u="none" strike="noStrike">
              <a:solidFill>
                <a:srgbClr val="000000"/>
              </a:solidFill>
              <a:effectLst/>
              <a:uFillTx/>
              <a:latin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7" name="PlaceHolder 1"/>
          <p:cNvSpPr>
            <a:spLocks noGrp="1" noRot="1" noChangeAspect="1"/>
          </p:cNvSpPr>
          <p:nvPr>
            <p:ph type="sldImg"/>
          </p:nvPr>
        </p:nvSpPr>
        <p:spPr>
          <a:xfrm>
            <a:off x="981075" y="1243013"/>
            <a:ext cx="4845050" cy="3354387"/>
          </a:xfrm>
          <a:prstGeom prst="rect">
            <a:avLst/>
          </a:prstGeom>
          <a:ln w="0">
            <a:noFill/>
          </a:ln>
        </p:spPr>
      </p:sp>
      <p:sp>
        <p:nvSpPr>
          <p:cNvPr id="1118"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19" name="PlaceHolder 3"/>
          <p:cNvSpPr>
            <a:spLocks noGrp="1"/>
          </p:cNvSpPr>
          <p:nvPr>
            <p:ph type="sldNum" idx="14"/>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FE0B0EE4-FF2D-44E5-B451-33122B239543}" type="slidenum">
              <a:rPr lang="en-US" sz="1200" b="0" u="none" strike="noStrike">
                <a:solidFill>
                  <a:schemeClr val="dk1"/>
                </a:solidFill>
                <a:effectLst/>
                <a:uFillTx/>
                <a:latin typeface="+mn-lt"/>
                <a:ea typeface="+mn-ea"/>
              </a:rPr>
              <a:t>14</a:t>
            </a:fld>
            <a:endParaRPr lang="en-US" sz="1200" b="0" u="none" strike="noStrike">
              <a:solidFill>
                <a:srgbClr val="000000"/>
              </a:solidFill>
              <a:effectLst/>
              <a:uFillTx/>
              <a:latin typeface="Times New Roman"/>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1" name="PlaceHolder 1"/>
          <p:cNvSpPr>
            <a:spLocks noGrp="1" noRot="1" noChangeAspect="1"/>
          </p:cNvSpPr>
          <p:nvPr>
            <p:ph type="sldImg"/>
          </p:nvPr>
        </p:nvSpPr>
        <p:spPr>
          <a:xfrm>
            <a:off x="981075" y="1243013"/>
            <a:ext cx="4845050" cy="3354387"/>
          </a:xfrm>
          <a:prstGeom prst="rect">
            <a:avLst/>
          </a:prstGeom>
          <a:ln w="0">
            <a:noFill/>
          </a:ln>
        </p:spPr>
      </p:sp>
      <p:sp>
        <p:nvSpPr>
          <p:cNvPr id="1112"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13" name="PlaceHolder 3"/>
          <p:cNvSpPr>
            <a:spLocks noGrp="1"/>
          </p:cNvSpPr>
          <p:nvPr>
            <p:ph type="sldNum" idx="12"/>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7DC23C4-4477-4D06-BA81-990A47EB9AE8}" type="slidenum">
              <a:rPr lang="en-US" sz="1200" b="0" u="none" strike="noStrike">
                <a:solidFill>
                  <a:schemeClr val="dk1"/>
                </a:solidFill>
                <a:effectLst/>
                <a:uFillTx/>
                <a:latin typeface="+mn-lt"/>
                <a:ea typeface="+mn-ea"/>
              </a:rPr>
              <a:t>15</a:t>
            </a:fld>
            <a:endParaRPr lang="en-US" sz="1200" b="0" u="none" strike="noStrike">
              <a:solidFill>
                <a:srgbClr val="000000"/>
              </a:solidFill>
              <a:effectLst/>
              <a:uFillTx/>
              <a:latin typeface="Times New Roman"/>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3" name="PlaceHolder 1"/>
          <p:cNvSpPr>
            <a:spLocks noGrp="1" noRot="1" noChangeAspect="1"/>
          </p:cNvSpPr>
          <p:nvPr>
            <p:ph type="sldImg"/>
          </p:nvPr>
        </p:nvSpPr>
        <p:spPr>
          <a:xfrm>
            <a:off x="981000" y="1243080"/>
            <a:ext cx="4844520" cy="3354120"/>
          </a:xfrm>
          <a:prstGeom prst="rect">
            <a:avLst/>
          </a:prstGeom>
          <a:ln w="0">
            <a:noFill/>
          </a:ln>
        </p:spPr>
      </p:sp>
      <p:sp>
        <p:nvSpPr>
          <p:cNvPr id="1124"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25" name="PlaceHolder 3"/>
          <p:cNvSpPr>
            <a:spLocks noGrp="1"/>
          </p:cNvSpPr>
          <p:nvPr>
            <p:ph type="sldNum" idx="16"/>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D53DC02-905B-4247-A366-DADF4CE12DC0}" type="slidenum">
              <a:rPr lang="en-US" sz="1200" b="0" u="none" strike="noStrike">
                <a:solidFill>
                  <a:schemeClr val="dk1"/>
                </a:solidFill>
                <a:effectLst/>
                <a:uFillTx/>
                <a:latin typeface="+mn-lt"/>
                <a:ea typeface="+mn-ea"/>
              </a:rPr>
              <a:t>18</a:t>
            </a:fld>
            <a:endParaRPr lang="en-US" sz="1200" b="0" u="none" strike="noStrike">
              <a:solidFill>
                <a:srgbClr val="000000"/>
              </a:solidFill>
              <a:effectLst/>
              <a:uFillTx/>
              <a:latin typeface="Times New Roman"/>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 name="PlaceHolder 1"/>
          <p:cNvSpPr>
            <a:spLocks noGrp="1" noRot="1" noChangeAspect="1"/>
          </p:cNvSpPr>
          <p:nvPr>
            <p:ph type="sldImg"/>
          </p:nvPr>
        </p:nvSpPr>
        <p:spPr>
          <a:xfrm>
            <a:off x="981000" y="1243080"/>
            <a:ext cx="4844520" cy="3354120"/>
          </a:xfrm>
          <a:prstGeom prst="rect">
            <a:avLst/>
          </a:prstGeom>
          <a:ln w="0">
            <a:noFill/>
          </a:ln>
        </p:spPr>
      </p:sp>
      <p:sp>
        <p:nvSpPr>
          <p:cNvPr id="1127"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28" name="PlaceHolder 3"/>
          <p:cNvSpPr>
            <a:spLocks noGrp="1"/>
          </p:cNvSpPr>
          <p:nvPr>
            <p:ph type="sldNum" idx="17"/>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DDDEF33-39B9-48FA-8D37-8603A0BDD786}" type="slidenum">
              <a:rPr lang="en-US" sz="1200" b="0" u="none" strike="noStrike">
                <a:solidFill>
                  <a:schemeClr val="dk1"/>
                </a:solidFill>
                <a:effectLst/>
                <a:uFillTx/>
                <a:latin typeface="+mn-lt"/>
                <a:ea typeface="+mn-ea"/>
              </a:rPr>
              <a:t>19</a:t>
            </a:fld>
            <a:endParaRPr lang="en-US" sz="1200" b="0" u="none" strike="noStrike">
              <a:solidFill>
                <a:srgbClr val="000000"/>
              </a:solidFill>
              <a:effectLst/>
              <a:uFillTx/>
              <a:latin typeface="Times New Roman"/>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9" name="PlaceHolder 1"/>
          <p:cNvSpPr>
            <a:spLocks noGrp="1" noRot="1" noChangeAspect="1"/>
          </p:cNvSpPr>
          <p:nvPr>
            <p:ph type="sldImg"/>
          </p:nvPr>
        </p:nvSpPr>
        <p:spPr>
          <a:xfrm>
            <a:off x="981000" y="1243080"/>
            <a:ext cx="4844520" cy="3354120"/>
          </a:xfrm>
          <a:prstGeom prst="rect">
            <a:avLst/>
          </a:prstGeom>
          <a:ln w="0">
            <a:noFill/>
          </a:ln>
        </p:spPr>
      </p:sp>
      <p:sp>
        <p:nvSpPr>
          <p:cNvPr id="1130"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31" name="PlaceHolder 3"/>
          <p:cNvSpPr>
            <a:spLocks noGrp="1"/>
          </p:cNvSpPr>
          <p:nvPr>
            <p:ph type="sldNum" idx="18"/>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764E7FB-01D1-4560-BBC6-6095E96E79FC}" type="slidenum">
              <a:rPr lang="en-US" sz="1200" b="0" u="none" strike="noStrike">
                <a:solidFill>
                  <a:schemeClr val="dk1"/>
                </a:solidFill>
                <a:effectLst/>
                <a:uFillTx/>
                <a:latin typeface="+mn-lt"/>
                <a:ea typeface="+mn-ea"/>
              </a:rPr>
              <a:t>20</a:t>
            </a:fld>
            <a:endParaRPr lang="en-US" sz="1200" b="0" u="none" strike="noStrike">
              <a:solidFill>
                <a:srgbClr val="000000"/>
              </a:solidFill>
              <a:effectLst/>
              <a:uFillTx/>
              <a:latin typeface="Times New Roman"/>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7" name="PlaceHolder 1"/>
          <p:cNvSpPr>
            <a:spLocks noGrp="1" noRot="1" noChangeAspect="1"/>
          </p:cNvSpPr>
          <p:nvPr>
            <p:ph type="sldImg"/>
          </p:nvPr>
        </p:nvSpPr>
        <p:spPr>
          <a:xfrm>
            <a:off x="981000" y="1243080"/>
            <a:ext cx="4844520" cy="3354120"/>
          </a:xfrm>
          <a:prstGeom prst="rect">
            <a:avLst/>
          </a:prstGeom>
          <a:ln w="0">
            <a:noFill/>
          </a:ln>
        </p:spPr>
      </p:sp>
      <p:sp>
        <p:nvSpPr>
          <p:cNvPr id="1148"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49" name="PlaceHolder 3"/>
          <p:cNvSpPr>
            <a:spLocks noGrp="1"/>
          </p:cNvSpPr>
          <p:nvPr>
            <p:ph type="ftr" idx="24"/>
          </p:nvPr>
        </p:nvSpPr>
        <p:spPr>
          <a:xfrm>
            <a:off x="0" y="9441720"/>
            <a:ext cx="2950200" cy="497160"/>
          </a:xfrm>
          <a:prstGeom prst="rect">
            <a:avLst/>
          </a:prstGeom>
          <a:noFill/>
          <a:ln w="0">
            <a:noFill/>
          </a:ln>
        </p:spPr>
        <p:txBody>
          <a:bodyPr lIns="91440" tIns="45720" rIns="91440" bIns="45720" anchor="b">
            <a:noAutofit/>
          </a:bodyPr>
          <a:lstStyle/>
          <a:p>
            <a:pPr indent="0">
              <a:buNone/>
            </a:pPr>
            <a:endParaRPr lang="en-US" sz="1200" b="0" u="none" strike="noStrike">
              <a:solidFill>
                <a:schemeClr val="dk1"/>
              </a:solidFill>
              <a:effectLst/>
              <a:uFillTx/>
              <a:latin typeface="+mn-lt"/>
              <a:ea typeface="+mn-ea"/>
            </a:endParaRPr>
          </a:p>
        </p:txBody>
      </p:sp>
      <p:sp>
        <p:nvSpPr>
          <p:cNvPr id="1150" name="PlaceHolder 4"/>
          <p:cNvSpPr>
            <a:spLocks noGrp="1"/>
          </p:cNvSpPr>
          <p:nvPr>
            <p:ph type="sldNum" idx="25"/>
          </p:nvPr>
        </p:nvSpPr>
        <p:spPr>
          <a:xfrm>
            <a:off x="3855240" y="9441720"/>
            <a:ext cx="2950200" cy="497160"/>
          </a:xfrm>
          <a:prstGeom prst="rect">
            <a:avLst/>
          </a:prstGeom>
          <a:noFill/>
          <a:ln w="0">
            <a:noFill/>
          </a:ln>
        </p:spPr>
        <p:txBody>
          <a:bodyPr lIns="91440" tIns="45720" rIns="91440" bIns="45720" anchor="b">
            <a:noAutofit/>
          </a:bodyPr>
          <a:lstStyle>
            <a:lvl1pPr indent="0" algn="r" defTabSz="956880">
              <a:lnSpc>
                <a:spcPct val="100000"/>
              </a:lnSpc>
              <a:buNone/>
              <a:defRPr lang="en-US" sz="1200" b="0" u="none" strike="noStrike">
                <a:solidFill>
                  <a:srgbClr val="000000"/>
                </a:solidFill>
                <a:effectLst/>
                <a:uFillTx/>
                <a:latin typeface="Calibri"/>
                <a:ea typeface="ＭＳ Ｐゴシック"/>
              </a:defRPr>
            </a:lvl1pPr>
          </a:lstStyle>
          <a:p>
            <a:pPr indent="0" algn="r" defTabSz="956880">
              <a:lnSpc>
                <a:spcPct val="100000"/>
              </a:lnSpc>
              <a:buNone/>
            </a:pPr>
            <a:fld id="{6BEAC167-1E56-4A89-B6CA-078D5C4214BA}" type="slidenum">
              <a:rPr lang="en-US" sz="1200" b="0" u="none" strike="noStrike">
                <a:solidFill>
                  <a:srgbClr val="000000"/>
                </a:solidFill>
                <a:effectLst/>
                <a:uFillTx/>
                <a:latin typeface="Calibri"/>
                <a:ea typeface="ＭＳ Ｐゴシック"/>
              </a:rPr>
              <a:t>21</a:t>
            </a:fld>
            <a:endParaRPr lang="en-US" sz="1200" b="0" u="none" strike="noStrike">
              <a:solidFill>
                <a:srgbClr val="000000"/>
              </a:solidFill>
              <a:effectLst/>
              <a:uFillTx/>
              <a:latin typeface="Times New Roman"/>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0" name="PlaceHolder 1"/>
          <p:cNvSpPr>
            <a:spLocks noGrp="1" noRot="1" noChangeAspect="1"/>
          </p:cNvSpPr>
          <p:nvPr>
            <p:ph type="sldImg"/>
          </p:nvPr>
        </p:nvSpPr>
        <p:spPr>
          <a:xfrm>
            <a:off x="981000" y="1243080"/>
            <a:ext cx="4844520" cy="3354120"/>
          </a:xfrm>
          <a:prstGeom prst="rect">
            <a:avLst/>
          </a:prstGeom>
          <a:ln w="0">
            <a:noFill/>
          </a:ln>
        </p:spPr>
      </p:sp>
      <p:sp>
        <p:nvSpPr>
          <p:cNvPr id="1121"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22" name="PlaceHolder 3"/>
          <p:cNvSpPr>
            <a:spLocks noGrp="1"/>
          </p:cNvSpPr>
          <p:nvPr>
            <p:ph type="sldNum" idx="15"/>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B6C55CA5-E2E8-42D3-912A-CF5480C31C26}" type="slidenum">
              <a:rPr lang="en-US" sz="1200" b="0" u="none" strike="noStrike">
                <a:solidFill>
                  <a:schemeClr val="dk1"/>
                </a:solidFill>
                <a:effectLst/>
                <a:uFillTx/>
                <a:latin typeface="+mn-lt"/>
                <a:ea typeface="+mn-ea"/>
              </a:rPr>
              <a:t>30</a:t>
            </a:fld>
            <a:endParaRPr lang="en-US" sz="1200" b="0" u="none" strike="noStrike">
              <a:solidFill>
                <a:srgbClr val="000000"/>
              </a:solidFill>
              <a:effectLst/>
              <a:uFillTx/>
              <a:latin typeface="Times New Roman"/>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2" name="PlaceHolder 1"/>
          <p:cNvSpPr>
            <a:spLocks noGrp="1" noRot="1" noChangeAspect="1"/>
          </p:cNvSpPr>
          <p:nvPr>
            <p:ph type="sldImg"/>
          </p:nvPr>
        </p:nvSpPr>
        <p:spPr>
          <a:xfrm>
            <a:off x="981000" y="1243080"/>
            <a:ext cx="4844520" cy="3354120"/>
          </a:xfrm>
          <a:prstGeom prst="rect">
            <a:avLst/>
          </a:prstGeom>
          <a:ln w="0">
            <a:noFill/>
          </a:ln>
        </p:spPr>
      </p:sp>
      <p:sp>
        <p:nvSpPr>
          <p:cNvPr id="1133"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34" name="PlaceHolder 3"/>
          <p:cNvSpPr>
            <a:spLocks noGrp="1"/>
          </p:cNvSpPr>
          <p:nvPr>
            <p:ph type="sldNum" idx="19"/>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5A0801F-0C43-46B0-A05F-EB5ADB79D6B6}" type="slidenum">
              <a:rPr lang="en-US" sz="1200" b="0" u="none" strike="noStrike">
                <a:solidFill>
                  <a:schemeClr val="dk1"/>
                </a:solidFill>
                <a:effectLst/>
                <a:uFillTx/>
                <a:latin typeface="+mn-lt"/>
                <a:ea typeface="+mn-ea"/>
              </a:rPr>
              <a:t>31</a:t>
            </a:fld>
            <a:endParaRPr lang="en-US" sz="1200" b="0" u="none" strike="noStrike">
              <a:solidFill>
                <a:srgbClr val="000000"/>
              </a:solidFill>
              <a:effectLst/>
              <a:uFillTx/>
              <a:latin typeface="Times New Roman"/>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5" name="PlaceHolder 1"/>
          <p:cNvSpPr>
            <a:spLocks noGrp="1" noRot="1" noChangeAspect="1"/>
          </p:cNvSpPr>
          <p:nvPr>
            <p:ph type="sldImg"/>
          </p:nvPr>
        </p:nvSpPr>
        <p:spPr>
          <a:xfrm>
            <a:off x="981000" y="1243080"/>
            <a:ext cx="4844520" cy="3354120"/>
          </a:xfrm>
          <a:prstGeom prst="rect">
            <a:avLst/>
          </a:prstGeom>
          <a:ln w="0">
            <a:noFill/>
          </a:ln>
        </p:spPr>
      </p:sp>
      <p:sp>
        <p:nvSpPr>
          <p:cNvPr id="1136"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37" name="PlaceHolder 3"/>
          <p:cNvSpPr>
            <a:spLocks noGrp="1"/>
          </p:cNvSpPr>
          <p:nvPr>
            <p:ph type="sldNum" idx="20"/>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6DC7076-5EC0-4FC8-B9B3-24E0D19B2E3E}" type="slidenum">
              <a:rPr lang="en-US" sz="1200" b="0" u="none" strike="noStrike">
                <a:solidFill>
                  <a:schemeClr val="dk1"/>
                </a:solidFill>
                <a:effectLst/>
                <a:uFillTx/>
                <a:latin typeface="+mn-lt"/>
                <a:ea typeface="+mn-ea"/>
              </a:rPr>
              <a:t>32</a:t>
            </a:fld>
            <a:endParaRPr lang="en-US" sz="1200" b="0" u="none" strike="noStrike">
              <a:solidFill>
                <a:srgbClr val="000000"/>
              </a:solidFill>
              <a:effectLst/>
              <a:uFillTx/>
              <a:latin typeface="Times New Roman"/>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8" name="PlaceHolder 1"/>
          <p:cNvSpPr>
            <a:spLocks noGrp="1" noRot="1" noChangeAspect="1"/>
          </p:cNvSpPr>
          <p:nvPr>
            <p:ph type="sldImg"/>
          </p:nvPr>
        </p:nvSpPr>
        <p:spPr>
          <a:xfrm>
            <a:off x="981000" y="1243080"/>
            <a:ext cx="4844520" cy="3354120"/>
          </a:xfrm>
          <a:prstGeom prst="rect">
            <a:avLst/>
          </a:prstGeom>
          <a:ln w="0">
            <a:noFill/>
          </a:ln>
        </p:spPr>
      </p:sp>
      <p:sp>
        <p:nvSpPr>
          <p:cNvPr id="1139"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40" name="PlaceHolder 3"/>
          <p:cNvSpPr>
            <a:spLocks noGrp="1"/>
          </p:cNvSpPr>
          <p:nvPr>
            <p:ph type="sldNum" idx="21"/>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6A252D6-971A-4F45-B2E5-AC163838B5AD}" type="slidenum">
              <a:rPr lang="en-US" sz="1200" b="0" u="none" strike="noStrike">
                <a:solidFill>
                  <a:schemeClr val="dk1"/>
                </a:solidFill>
                <a:effectLst/>
                <a:uFillTx/>
                <a:latin typeface="+mn-lt"/>
                <a:ea typeface="+mn-ea"/>
              </a:rPr>
              <a:t>33</a:t>
            </a:fld>
            <a:endParaRPr lang="en-US" sz="1200" b="0" u="none" strike="noStrike">
              <a:solidFill>
                <a:srgbClr val="000000"/>
              </a:solidFill>
              <a:effectLst/>
              <a:uFillTx/>
              <a:latin typeface="Times New Roman"/>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1" name="PlaceHolder 1"/>
          <p:cNvSpPr>
            <a:spLocks noGrp="1" noRot="1" noChangeAspect="1"/>
          </p:cNvSpPr>
          <p:nvPr>
            <p:ph type="sldImg"/>
          </p:nvPr>
        </p:nvSpPr>
        <p:spPr>
          <a:xfrm>
            <a:off x="981000" y="1243080"/>
            <a:ext cx="4844520" cy="3354120"/>
          </a:xfrm>
          <a:prstGeom prst="rect">
            <a:avLst/>
          </a:prstGeom>
          <a:ln w="0">
            <a:noFill/>
          </a:ln>
        </p:spPr>
      </p:sp>
      <p:sp>
        <p:nvSpPr>
          <p:cNvPr id="1142"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43" name="PlaceHolder 3"/>
          <p:cNvSpPr>
            <a:spLocks noGrp="1"/>
          </p:cNvSpPr>
          <p:nvPr>
            <p:ph type="sldNum" idx="22"/>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262F9013-9F67-4705-AD62-8B4D61EBEBE2}" type="slidenum">
              <a:rPr lang="en-US" sz="1200" b="0" u="none" strike="noStrike">
                <a:solidFill>
                  <a:schemeClr val="dk1"/>
                </a:solidFill>
                <a:effectLst/>
                <a:uFillTx/>
                <a:latin typeface="+mn-lt"/>
                <a:ea typeface="+mn-ea"/>
              </a:rPr>
              <a:t>34</a:t>
            </a:fld>
            <a:endParaRPr lang="en-US" sz="1200" b="0" u="none" strike="noStrike">
              <a:solidFill>
                <a:srgbClr val="000000"/>
              </a:solidFill>
              <a:effectLst/>
              <a:uFillTx/>
              <a:latin typeface="Times New Roman"/>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4" name="PlaceHolder 1"/>
          <p:cNvSpPr>
            <a:spLocks noGrp="1" noRot="1" noChangeAspect="1"/>
          </p:cNvSpPr>
          <p:nvPr>
            <p:ph type="sldImg"/>
          </p:nvPr>
        </p:nvSpPr>
        <p:spPr>
          <a:xfrm>
            <a:off x="981000" y="1243080"/>
            <a:ext cx="4844520" cy="3354120"/>
          </a:xfrm>
          <a:prstGeom prst="rect">
            <a:avLst/>
          </a:prstGeom>
          <a:ln w="0">
            <a:noFill/>
          </a:ln>
        </p:spPr>
      </p:sp>
      <p:sp>
        <p:nvSpPr>
          <p:cNvPr id="1145"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46" name="PlaceHolder 3"/>
          <p:cNvSpPr>
            <a:spLocks noGrp="1"/>
          </p:cNvSpPr>
          <p:nvPr>
            <p:ph type="sldNum" idx="23"/>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E8FB36D4-2F7A-48E6-BFB4-9BF92A34CF28}" type="slidenum">
              <a:rPr lang="en-US" sz="1200" b="0" u="none" strike="noStrike">
                <a:solidFill>
                  <a:schemeClr val="dk1"/>
                </a:solidFill>
                <a:effectLst/>
                <a:uFillTx/>
                <a:latin typeface="+mn-lt"/>
                <a:ea typeface="+mn-ea"/>
              </a:rPr>
              <a:t>36</a:t>
            </a:fld>
            <a:endParaRPr lang="en-US" sz="1200" b="0" u="none" strike="noStrike">
              <a:solidFill>
                <a:srgbClr val="000000"/>
              </a:solidFill>
              <a:effectLst/>
              <a:uFillTx/>
              <a:latin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2_タイトルとコンテンツ">
    <p:bg>
      <p:bgPr>
        <a:solidFill>
          <a:srgbClr val="FFFFFF"/>
        </a:solidFill>
        <a:effectLst/>
      </p:bgPr>
    </p:bg>
    <p:spTree>
      <p:nvGrpSpPr>
        <p:cNvPr id="1" name=""/>
        <p:cNvGrpSpPr/>
        <p:nvPr/>
      </p:nvGrpSpPr>
      <p:grpSpPr>
        <a:xfrm>
          <a:off x="0" y="0"/>
          <a:ext cx="0" cy="0"/>
          <a:chOff x="0" y="0"/>
          <a:chExt cx="0" cy="0"/>
        </a:xfrm>
      </p:grpSpPr>
      <p:pic>
        <p:nvPicPr>
          <p:cNvPr id="6" name="図 1"/>
          <p:cNvPicPr/>
          <p:nvPr/>
        </p:nvPicPr>
        <p:blipFill>
          <a:blip r:embed="rId2"/>
          <a:stretch/>
        </p:blipFill>
        <p:spPr>
          <a:xfrm>
            <a:off x="8151480" y="72360"/>
            <a:ext cx="1598400" cy="423720"/>
          </a:xfrm>
          <a:prstGeom prst="rect">
            <a:avLst/>
          </a:prstGeom>
          <a:noFill/>
          <a:ln w="0">
            <a:noFill/>
          </a:ln>
        </p:spPr>
      </p:pic>
      <p:pic>
        <p:nvPicPr>
          <p:cNvPr id="7" name="図 4"/>
          <p:cNvPicPr/>
          <p:nvPr/>
        </p:nvPicPr>
        <p:blipFill>
          <a:blip r:embed="rId3"/>
          <a:stretch/>
        </p:blipFill>
        <p:spPr>
          <a:xfrm>
            <a:off x="8151480" y="32400"/>
            <a:ext cx="1652760" cy="635400"/>
          </a:xfrm>
          <a:prstGeom prst="rect">
            <a:avLst/>
          </a:prstGeom>
          <a:noFill/>
          <a:ln w="0">
            <a:noFill/>
          </a:ln>
        </p:spPr>
      </p:pic>
      <p:sp>
        <p:nvSpPr>
          <p:cNvPr id="2"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3"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7221DD93-BA6E-44AE-9625-337799002E27}"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4"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sp>
        <p:nvSpPr>
          <p:cNvPr id="5" name="正方形/長方形 1"/>
          <p:cNvSpPr/>
          <p:nvPr/>
        </p:nvSpPr>
        <p:spPr>
          <a:xfrm>
            <a:off x="9398160" y="6591240"/>
            <a:ext cx="418680" cy="2664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4_タイトルとコンテンツ">
    <p:bg>
      <p:bgPr>
        <a:solidFill>
          <a:srgbClr val="FFFFFF"/>
        </a:solidFill>
        <a:effectLst/>
      </p:bgPr>
    </p:bg>
    <p:spTree>
      <p:nvGrpSpPr>
        <p:cNvPr id="1" name=""/>
        <p:cNvGrpSpPr/>
        <p:nvPr/>
      </p:nvGrpSpPr>
      <p:grpSpPr>
        <a:xfrm>
          <a:off x="0" y="0"/>
          <a:ext cx="0" cy="0"/>
          <a:chOff x="0" y="0"/>
          <a:chExt cx="0" cy="0"/>
        </a:xfrm>
      </p:grpSpPr>
      <p:pic>
        <p:nvPicPr>
          <p:cNvPr id="6" name="図 1"/>
          <p:cNvPicPr/>
          <p:nvPr/>
        </p:nvPicPr>
        <p:blipFill>
          <a:blip r:embed="rId2"/>
          <a:stretch/>
        </p:blipFill>
        <p:spPr>
          <a:xfrm>
            <a:off x="8151480" y="72360"/>
            <a:ext cx="1598400" cy="423720"/>
          </a:xfrm>
          <a:prstGeom prst="rect">
            <a:avLst/>
          </a:prstGeom>
          <a:noFill/>
          <a:ln w="0">
            <a:noFill/>
          </a:ln>
        </p:spPr>
      </p:pic>
      <p:pic>
        <p:nvPicPr>
          <p:cNvPr id="7" name="図 4"/>
          <p:cNvPicPr/>
          <p:nvPr/>
        </p:nvPicPr>
        <p:blipFill>
          <a:blip r:embed="rId3"/>
          <a:stretch/>
        </p:blipFill>
        <p:spPr>
          <a:xfrm>
            <a:off x="8151480" y="32400"/>
            <a:ext cx="1652760" cy="635400"/>
          </a:xfrm>
          <a:prstGeom prst="rect">
            <a:avLst/>
          </a:prstGeom>
          <a:noFill/>
          <a:ln w="0">
            <a:noFill/>
          </a:ln>
        </p:spPr>
      </p:pic>
      <p:sp>
        <p:nvSpPr>
          <p:cNvPr id="8"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9"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B234BB70-5183-4ABD-92F4-80874DE4EEF5}"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10"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cxnSp>
        <p:nvCxnSpPr>
          <p:cNvPr id="11" name="直線コネクタ 4"/>
          <p:cNvCxnSpPr/>
          <p:nvPr/>
        </p:nvCxnSpPr>
        <p:spPr>
          <a:xfrm>
            <a:off x="0" y="548640"/>
            <a:ext cx="9906120" cy="360"/>
          </a:xfrm>
          <a:prstGeom prst="straightConnector1">
            <a:avLst/>
          </a:prstGeom>
          <a:ln>
            <a:solidFill>
              <a:srgbClr val="191F54"/>
            </a:solidFill>
            <a:round/>
          </a:ln>
        </p:spPr>
      </p:cxnSp>
      <p:sp>
        <p:nvSpPr>
          <p:cNvPr id="12" name="正方形/長方形 6"/>
          <p:cNvSpPr/>
          <p:nvPr/>
        </p:nvSpPr>
        <p:spPr>
          <a:xfrm>
            <a:off x="0" y="0"/>
            <a:ext cx="450720" cy="548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13" name="PlaceHolder 1"/>
          <p:cNvSpPr>
            <a:spLocks noGrp="1"/>
          </p:cNvSpPr>
          <p:nvPr>
            <p:ph type="title"/>
          </p:nvPr>
        </p:nvSpPr>
        <p:spPr>
          <a:xfrm>
            <a:off x="495000" y="273600"/>
            <a:ext cx="8915040" cy="1144800"/>
          </a:xfrm>
          <a:prstGeom prst="rect">
            <a:avLst/>
          </a:prstGeom>
          <a:noFill/>
          <a:ln w="0">
            <a:noFill/>
          </a:ln>
        </p:spPr>
        <p:txBody>
          <a:bodyPr lIns="0" tIns="0" rIns="0" bIns="0" anchor="ctr">
            <a:noAutofit/>
          </a:bodyPr>
          <a:lstStyle/>
          <a:p>
            <a:pPr indent="0">
              <a:buNone/>
            </a:pPr>
            <a:r>
              <a:rPr lang="en-US" sz="1800" b="0" u="none" strike="noStrike">
                <a:solidFill>
                  <a:schemeClr val="dk1"/>
                </a:solidFill>
                <a:effectLst/>
                <a:uFillTx/>
                <a:latin typeface="Calibri"/>
              </a:rPr>
              <a:t>Click to edit the title text format</a:t>
            </a:r>
          </a:p>
        </p:txBody>
      </p:sp>
      <p:sp>
        <p:nvSpPr>
          <p:cNvPr id="14" name="PlaceHolder 2"/>
          <p:cNvSpPr>
            <a:spLocks noGrp="1"/>
          </p:cNvSpPr>
          <p:nvPr>
            <p:ph type="body"/>
          </p:nvPr>
        </p:nvSpPr>
        <p:spPr>
          <a:xfrm>
            <a:off x="495000" y="1604520"/>
            <a:ext cx="89150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u="none" strike="noStrike">
                <a:solidFill>
                  <a:schemeClr val="dk1"/>
                </a:solidFill>
                <a:effectLst/>
                <a:uFillTx/>
                <a:latin typeface="Calibri"/>
              </a:rPr>
              <a:t>Click to edit the outline text format</a:t>
            </a:r>
          </a:p>
          <a:p>
            <a:pPr marL="864000" lvl="1" indent="-324000">
              <a:spcBef>
                <a:spcPts val="1134"/>
              </a:spcBef>
              <a:buClr>
                <a:srgbClr val="000000"/>
              </a:buClr>
              <a:buSzPct val="75000"/>
              <a:buFont typeface="Symbol" charset="2"/>
              <a:buChar char=""/>
            </a:pPr>
            <a:r>
              <a:rPr lang="en-US" sz="2400" b="0" u="none" strike="noStrike">
                <a:solidFill>
                  <a:schemeClr val="dk1"/>
                </a:solidFill>
                <a:effectLst/>
                <a:uFillTx/>
                <a:latin typeface="Calibri"/>
              </a:rPr>
              <a:t>Second Outline Level</a:t>
            </a:r>
          </a:p>
          <a:p>
            <a:pPr marL="1296000" lvl="2" indent="-288000">
              <a:spcBef>
                <a:spcPts val="850"/>
              </a:spcBef>
              <a:buClr>
                <a:srgbClr val="000000"/>
              </a:buClr>
              <a:buSzPct val="45000"/>
              <a:buFont typeface="Wingdings" charset="2"/>
              <a:buChar char=""/>
            </a:pPr>
            <a:r>
              <a:rPr lang="en-US" sz="2000" b="0" u="none" strike="noStrike">
                <a:solidFill>
                  <a:schemeClr val="dk1"/>
                </a:solidFill>
                <a:effectLst/>
                <a:uFillTx/>
                <a:latin typeface="Calibri"/>
              </a:rPr>
              <a:t>Third Outline Level</a:t>
            </a:r>
          </a:p>
          <a:p>
            <a:pPr marL="1728000" lvl="3" indent="-216000">
              <a:spcBef>
                <a:spcPts val="567"/>
              </a:spcBef>
              <a:buClr>
                <a:srgbClr val="000000"/>
              </a:buClr>
              <a:buSzPct val="75000"/>
              <a:buFont typeface="Symbol" charset="2"/>
              <a:buChar char=""/>
            </a:pPr>
            <a:r>
              <a:rPr lang="en-US" sz="2000" b="0" u="none" strike="noStrike">
                <a:solidFill>
                  <a:schemeClr val="dk1"/>
                </a:solidFill>
                <a:effectLst/>
                <a:uFillTx/>
                <a:latin typeface="Calibri"/>
              </a:rPr>
              <a:t>Fourth Outline Level</a:t>
            </a:r>
          </a:p>
          <a:p>
            <a:pPr marL="2160000" lvl="4"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Fifth Outline Level</a:t>
            </a:r>
          </a:p>
          <a:p>
            <a:pPr marL="2592000" lvl="5"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p>
          <a:p>
            <a:pPr marL="3024000" lvl="6"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1_タイトル スライド">
    <p:bg>
      <p:bgPr>
        <a:solidFill>
          <a:srgbClr val="FFFFFF"/>
        </a:solidFill>
        <a:effectLst/>
      </p:bgPr>
    </p:bg>
    <p:spTree>
      <p:nvGrpSpPr>
        <p:cNvPr id="1" name=""/>
        <p:cNvGrpSpPr/>
        <p:nvPr/>
      </p:nvGrpSpPr>
      <p:grpSpPr>
        <a:xfrm>
          <a:off x="0" y="0"/>
          <a:ext cx="0" cy="0"/>
          <a:chOff x="0" y="0"/>
          <a:chExt cx="0" cy="0"/>
        </a:xfrm>
      </p:grpSpPr>
      <p:pic>
        <p:nvPicPr>
          <p:cNvPr id="15" name="図 1"/>
          <p:cNvPicPr/>
          <p:nvPr/>
        </p:nvPicPr>
        <p:blipFill>
          <a:blip r:embed="rId2"/>
          <a:stretch/>
        </p:blipFill>
        <p:spPr>
          <a:xfrm>
            <a:off x="8151480" y="72360"/>
            <a:ext cx="1598400" cy="423720"/>
          </a:xfrm>
          <a:prstGeom prst="rect">
            <a:avLst/>
          </a:prstGeom>
          <a:noFill/>
          <a:ln w="0">
            <a:noFill/>
          </a:ln>
        </p:spPr>
      </p:pic>
      <p:pic>
        <p:nvPicPr>
          <p:cNvPr id="16" name="図 4"/>
          <p:cNvPicPr/>
          <p:nvPr/>
        </p:nvPicPr>
        <p:blipFill>
          <a:blip r:embed="rId3"/>
          <a:stretch/>
        </p:blipFill>
        <p:spPr>
          <a:xfrm>
            <a:off x="8151480" y="32400"/>
            <a:ext cx="1652760" cy="635400"/>
          </a:xfrm>
          <a:prstGeom prst="rect">
            <a:avLst/>
          </a:prstGeom>
          <a:noFill/>
          <a:ln w="0">
            <a:noFill/>
          </a:ln>
        </p:spPr>
      </p:pic>
      <p:sp>
        <p:nvSpPr>
          <p:cNvPr id="17"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18"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077BD008-84D6-4C04-8004-9A059DF72521}"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19"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6.jpe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8.jpeg"/><Relationship Id="rId5" Type="http://schemas.openxmlformats.org/officeDocument/2006/relationships/image" Target="../media/image7.jpeg"/><Relationship Id="rId4" Type="http://schemas.openxmlformats.org/officeDocument/2006/relationships/image" Target="../media/image6.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9.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11.png"/><Relationship Id="rId7" Type="http://schemas.openxmlformats.org/officeDocument/2006/relationships/image" Target="../media/image15.sv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8" Type="http://schemas.openxmlformats.org/officeDocument/2006/relationships/image" Target="../media/image22.jpeg"/><Relationship Id="rId3" Type="http://schemas.openxmlformats.org/officeDocument/2006/relationships/image" Target="../media/image17.emf"/><Relationship Id="rId7" Type="http://schemas.openxmlformats.org/officeDocument/2006/relationships/image" Target="../media/image21.jpeg"/><Relationship Id="rId2" Type="http://schemas.openxmlformats.org/officeDocument/2006/relationships/notesSlide" Target="../notesSlides/notesSlide14.xml"/><Relationship Id="rId1" Type="http://schemas.openxmlformats.org/officeDocument/2006/relationships/slideLayout" Target="../slideLayouts/slideLayout3.xml"/><Relationship Id="rId6" Type="http://schemas.openxmlformats.org/officeDocument/2006/relationships/image" Target="../media/image20.jpeg"/><Relationship Id="rId5" Type="http://schemas.openxmlformats.org/officeDocument/2006/relationships/image" Target="../media/image19.jpeg"/><Relationship Id="rId4" Type="http://schemas.openxmlformats.org/officeDocument/2006/relationships/image" Target="../media/image18.jpe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 Id="rId5" Type="http://schemas.openxmlformats.org/officeDocument/2006/relationships/image" Target="../media/image26.jpeg"/><Relationship Id="rId4" Type="http://schemas.openxmlformats.org/officeDocument/2006/relationships/image" Target="../media/image25.png"/></Relationships>
</file>

<file path=ppt/slides/_rels/slide2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 Id="rId5" Type="http://schemas.openxmlformats.org/officeDocument/2006/relationships/image" Target="../media/image30.png"/><Relationship Id="rId4" Type="http://schemas.openxmlformats.org/officeDocument/2006/relationships/image" Target="../media/image29.png"/></Relationships>
</file>

<file path=ppt/slides/_rels/slide25.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image" Target="../media/image34.png"/></Relationships>
</file>

<file path=ppt/slides/_rels/slide27.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8" Type="http://schemas.openxmlformats.org/officeDocument/2006/relationships/image" Target="../media/image44.png"/><Relationship Id="rId3" Type="http://schemas.openxmlformats.org/officeDocument/2006/relationships/image" Target="../media/image39.jpeg"/><Relationship Id="rId7" Type="http://schemas.openxmlformats.org/officeDocument/2006/relationships/image" Target="../media/image43.png"/><Relationship Id="rId2" Type="http://schemas.openxmlformats.org/officeDocument/2006/relationships/image" Target="../media/image38.jpeg"/><Relationship Id="rId1" Type="http://schemas.openxmlformats.org/officeDocument/2006/relationships/slideLayout" Target="../slideLayouts/slideLayout2.xml"/><Relationship Id="rId6" Type="http://schemas.openxmlformats.org/officeDocument/2006/relationships/image" Target="../media/image42.jpeg"/><Relationship Id="rId5" Type="http://schemas.openxmlformats.org/officeDocument/2006/relationships/image" Target="../media/image41.png"/><Relationship Id="rId10" Type="http://schemas.openxmlformats.org/officeDocument/2006/relationships/image" Target="../media/image46.jpeg"/><Relationship Id="rId4" Type="http://schemas.openxmlformats.org/officeDocument/2006/relationships/image" Target="../media/image40.png"/><Relationship Id="rId9" Type="http://schemas.openxmlformats.org/officeDocument/2006/relationships/image" Target="../media/image4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8" Type="http://schemas.openxmlformats.org/officeDocument/2006/relationships/image" Target="../media/image52.png"/><Relationship Id="rId3" Type="http://schemas.openxmlformats.org/officeDocument/2006/relationships/image" Target="../media/image47.png"/><Relationship Id="rId7" Type="http://schemas.openxmlformats.org/officeDocument/2006/relationships/image" Target="../media/image51.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0.png"/><Relationship Id="rId5" Type="http://schemas.openxmlformats.org/officeDocument/2006/relationships/image" Target="../media/image49.png"/><Relationship Id="rId10" Type="http://schemas.openxmlformats.org/officeDocument/2006/relationships/image" Target="../media/image54.png"/><Relationship Id="rId4" Type="http://schemas.openxmlformats.org/officeDocument/2006/relationships/image" Target="../media/image48.png"/><Relationship Id="rId9" Type="http://schemas.openxmlformats.org/officeDocument/2006/relationships/image" Target="../media/image53.pn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55.sv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58.svg"/><Relationship Id="rId5" Type="http://schemas.openxmlformats.org/officeDocument/2006/relationships/image" Target="../media/image57.svg"/><Relationship Id="rId4" Type="http://schemas.openxmlformats.org/officeDocument/2006/relationships/image" Target="../media/image56.sv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60.png"/><Relationship Id="rId7" Type="http://schemas.openxmlformats.org/officeDocument/2006/relationships/image" Target="../media/image64.png"/><Relationship Id="rId2" Type="http://schemas.openxmlformats.org/officeDocument/2006/relationships/image" Target="../media/image59.png"/><Relationship Id="rId1" Type="http://schemas.openxmlformats.org/officeDocument/2006/relationships/slideLayout" Target="../slideLayouts/slideLayout2.xml"/><Relationship Id="rId6" Type="http://schemas.openxmlformats.org/officeDocument/2006/relationships/image" Target="../media/image63.png"/><Relationship Id="rId5" Type="http://schemas.openxmlformats.org/officeDocument/2006/relationships/image" Target="../media/image62.png"/><Relationship Id="rId4" Type="http://schemas.openxmlformats.org/officeDocument/2006/relationships/image" Target="../media/image61.png"/></Relationships>
</file>

<file path=ppt/slides/_rels/slide38.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2.xml"/><Relationship Id="rId4" Type="http://schemas.openxmlformats.org/officeDocument/2006/relationships/image" Target="../media/image67.png"/></Relationships>
</file>

<file path=ppt/slides/_rels/slide39.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1.png"/><Relationship Id="rId1" Type="http://schemas.openxmlformats.org/officeDocument/2006/relationships/slideLayout" Target="../slideLayouts/slideLayout2.xml"/><Relationship Id="rId4" Type="http://schemas.openxmlformats.org/officeDocument/2006/relationships/image" Target="../media/image7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正方形/長方形 1"/>
          <p:cNvSpPr/>
          <p:nvPr/>
        </p:nvSpPr>
        <p:spPr>
          <a:xfrm>
            <a:off x="1665660" y="2937630"/>
            <a:ext cx="65739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3200" b="1" u="none" strike="noStrike" dirty="0">
                <a:solidFill>
                  <a:schemeClr val="dk1">
                    <a:lumMod val="75000"/>
                    <a:lumOff val="25000"/>
                  </a:schemeClr>
                </a:solidFill>
                <a:effectLst/>
                <a:uFillTx/>
                <a:latin typeface="メイリオ"/>
                <a:ea typeface="メイリオ"/>
              </a:rPr>
              <a:t>LINE</a:t>
            </a:r>
            <a:r>
              <a:rPr lang="ja-JP" sz="3200" b="1" u="none" strike="noStrike" dirty="0">
                <a:solidFill>
                  <a:schemeClr val="dk1">
                    <a:lumMod val="75000"/>
                    <a:lumOff val="25000"/>
                  </a:schemeClr>
                </a:solidFill>
                <a:effectLst/>
                <a:uFillTx/>
                <a:latin typeface="メイリオ"/>
                <a:ea typeface="メイリオ"/>
              </a:rPr>
              <a:t>公式アカウント運用のご提案</a:t>
            </a:r>
            <a:endParaRPr lang="en-US" sz="3200" b="0" u="none" strike="noStrike" dirty="0">
              <a:solidFill>
                <a:srgbClr val="000000"/>
              </a:solidFill>
              <a:effectLst/>
              <a:uFillTx/>
              <a:latin typeface="Arial"/>
            </a:endParaRPr>
          </a:p>
        </p:txBody>
      </p:sp>
      <p:sp>
        <p:nvSpPr>
          <p:cNvPr id="27" name="正方形/長方形 5"/>
          <p:cNvSpPr/>
          <p:nvPr/>
        </p:nvSpPr>
        <p:spPr>
          <a:xfrm>
            <a:off x="1336792" y="1922429"/>
            <a:ext cx="7231989" cy="1042415"/>
          </a:xfrm>
          <a:prstGeom prst="rect">
            <a:avLst/>
          </a:prstGeom>
          <a:noFill/>
          <a:ln w="0">
            <a:noFill/>
          </a:ln>
        </p:spPr>
        <p:style>
          <a:lnRef idx="0">
            <a:scrgbClr r="0" g="0" b="0"/>
          </a:lnRef>
          <a:fillRef idx="0">
            <a:scrgbClr r="0" g="0" b="0"/>
          </a:fillRef>
          <a:effectRef idx="0">
            <a:scrgbClr r="0" g="0" b="0"/>
          </a:effectRef>
          <a:fontRef idx="minor"/>
        </p:style>
        <p:txBody>
          <a:bodyPr wrap="square" lIns="91440" tIns="45720" rIns="91440" bIns="45720" anchor="b">
            <a:noAutofit/>
          </a:bodyPr>
          <a:lstStyle/>
          <a:p>
            <a:pPr algn="ctr"/>
            <a:r>
              <a:rPr lang="ja-JP" sz="1600" b="0" u="none" strike="noStrike" dirty="0">
                <a:solidFill>
                  <a:schemeClr val="dk1">
                    <a:lumMod val="50000"/>
                    <a:lumOff val="50000"/>
                  </a:schemeClr>
                </a:solidFill>
                <a:effectLst/>
                <a:uFillTx/>
                <a:latin typeface="Meiryo"/>
                <a:ea typeface="Meiryo"/>
              </a:rPr>
              <a:t>LINEへの流入と友だち追加後の導線を整備し、</a:t>
            </a:r>
          </a:p>
          <a:p>
            <a:pPr algn="ctr"/>
            <a:r>
              <a:rPr lang="ja-JP" sz="1600" b="0" u="none" strike="noStrike" dirty="0">
                <a:solidFill>
                  <a:schemeClr val="dk1">
                    <a:lumMod val="50000"/>
                    <a:lumOff val="50000"/>
                  </a:schemeClr>
                </a:solidFill>
                <a:effectLst/>
                <a:uFillTx/>
                <a:latin typeface="Meiryo"/>
                <a:ea typeface="Meiryo"/>
              </a:rPr>
              <a:t>物件問い合わせの増加を実現する</a:t>
            </a:r>
          </a:p>
        </p:txBody>
      </p:sp>
      <p:cxnSp>
        <p:nvCxnSpPr>
          <p:cNvPr id="28" name="直線コネクタ 4"/>
          <p:cNvCxnSpPr/>
          <p:nvPr/>
        </p:nvCxnSpPr>
        <p:spPr>
          <a:xfrm>
            <a:off x="1336980" y="3604491"/>
            <a:ext cx="7232040" cy="0"/>
          </a:xfrm>
          <a:prstGeom prst="straightConnector1">
            <a:avLst/>
          </a:prstGeom>
          <a:ln w="19050">
            <a:solidFill>
              <a:srgbClr val="000000">
                <a:lumMod val="50000"/>
                <a:lumOff val="50000"/>
              </a:srgbClr>
            </a:solidFill>
            <a:round/>
          </a:ln>
        </p:spPr>
      </p:cxnSp>
      <p:pic>
        <p:nvPicPr>
          <p:cNvPr id="29" name="図 8" descr="背景パターン&#10;&#10;AI 生成コンテンツは誤りを含む可能性があります。"/>
          <p:cNvPicPr/>
          <p:nvPr/>
        </p:nvPicPr>
        <p:blipFill>
          <a:blip r:embed="rId2"/>
          <a:stretch/>
        </p:blipFill>
        <p:spPr>
          <a:xfrm>
            <a:off x="0" y="0"/>
            <a:ext cx="8159400" cy="766080"/>
          </a:xfrm>
          <a:prstGeom prst="rect">
            <a:avLst/>
          </a:prstGeom>
          <a:noFill/>
          <a:ln w="0">
            <a:noFill/>
          </a:ln>
        </p:spPr>
      </p:pic>
      <p:pic>
        <p:nvPicPr>
          <p:cNvPr id="30" name="図 9" descr="背景パターン&#10;&#10;AI 生成コンテンツは誤りを含む可能性があります。"/>
          <p:cNvPicPr/>
          <p:nvPr/>
        </p:nvPicPr>
        <p:blipFill>
          <a:blip r:embed="rId2"/>
          <a:stretch/>
        </p:blipFill>
        <p:spPr>
          <a:xfrm>
            <a:off x="7863840" y="494280"/>
            <a:ext cx="2041920" cy="271800"/>
          </a:xfrm>
          <a:prstGeom prst="rect">
            <a:avLst/>
          </a:prstGeom>
          <a:noFill/>
          <a:ln w="0">
            <a:noFill/>
          </a:ln>
        </p:spPr>
      </p:pic>
      <p:sp>
        <p:nvSpPr>
          <p:cNvPr id="31" name="テキスト ボックス 6"/>
          <p:cNvSpPr/>
          <p:nvPr/>
        </p:nvSpPr>
        <p:spPr>
          <a:xfrm>
            <a:off x="291960" y="263520"/>
            <a:ext cx="4965480" cy="338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1600" b="1" u="none" strike="noStrike">
                <a:solidFill>
                  <a:schemeClr val="dk1">
                    <a:lumMod val="50000"/>
                    <a:lumOff val="50000"/>
                  </a:schemeClr>
                </a:solidFill>
                <a:effectLst/>
                <a:uFillTx/>
                <a:latin typeface="Meiryo"/>
                <a:ea typeface="Meiryo"/>
              </a:rPr>
              <a:t>株式会社あらうち 御中</a:t>
            </a:r>
            <a:endParaRPr lang="en-US" sz="1600" b="0" u="none" strike="noStrike">
              <a:solidFill>
                <a:srgbClr val="000000"/>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3"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サマリー</a:t>
            </a:r>
            <a:endParaRPr lang="en-US" sz="1600" b="0" u="none" strike="noStrike">
              <a:solidFill>
                <a:srgbClr val="000000"/>
              </a:solidFill>
              <a:effectLst/>
              <a:uFillTx/>
              <a:latin typeface="メイリオ"/>
            </a:endParaRPr>
          </a:p>
        </p:txBody>
      </p:sp>
      <p:sp>
        <p:nvSpPr>
          <p:cNvPr id="634"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635"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636"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37"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a:solidFill>
                  <a:schemeClr val="dk1">
                    <a:lumMod val="65000"/>
                    <a:lumOff val="35000"/>
                  </a:schemeClr>
                </a:solidFill>
                <a:effectLst/>
                <a:uFillTx/>
                <a:latin typeface="メイリオ"/>
                <a:ea typeface="メイリオ"/>
              </a:rPr>
              <a:t>標準機能のまま、LINEからの物件問い合わせを、フォームで計測しながら増やす</a:t>
            </a:r>
            <a:endParaRPr lang="en-US" sz="1400" b="0" u="none" strike="noStrike">
              <a:solidFill>
                <a:srgbClr val="000000"/>
              </a:solidFill>
              <a:effectLst/>
              <a:uFillTx/>
              <a:latin typeface="Arial"/>
            </a:endParaRPr>
          </a:p>
        </p:txBody>
      </p:sp>
      <p:sp>
        <p:nvSpPr>
          <p:cNvPr id="638" name="KEY TAKEAWAY 見出し"/>
          <p:cNvSpPr/>
          <p:nvPr/>
        </p:nvSpPr>
        <p:spPr>
          <a:xfrm>
            <a:off x="502920" y="1691640"/>
            <a:ext cx="2103120" cy="329184"/>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KEY TAKEAWAY</a:t>
            </a:r>
            <a:endParaRPr lang="ja-JP" altLang="en-US" sz="1200" dirty="0"/>
          </a:p>
        </p:txBody>
      </p:sp>
      <p:sp>
        <p:nvSpPr>
          <p:cNvPr id="639" name="KEY TAKEAWAY"/>
          <p:cNvSpPr/>
          <p:nvPr/>
        </p:nvSpPr>
        <p:spPr>
          <a:xfrm>
            <a:off x="502920" y="2020824"/>
            <a:ext cx="8897112" cy="1325880"/>
          </a:xfrm>
          <a:prstGeom prst="rect">
            <a:avLst/>
          </a:prstGeom>
          <a:solidFill>
            <a:srgbClr val="EEF1F8"/>
          </a:solidFill>
          <a:ln w="9525">
            <a:solidFill>
              <a:srgbClr val="1F285A"/>
            </a:solidFill>
          </a:ln>
        </p:spPr>
        <p:txBody>
          <a:bodyPr wrap="square" lIns="182880" tIns="73152" rIns="182880" bIns="73152" rtlCol="0" anchor="ctr">
            <a:noAutofit/>
          </a:bodyPr>
          <a:lstStyle/>
          <a:p>
            <a:pPr algn="ctr">
              <a:lnSpc>
                <a:spcPct val="125000"/>
              </a:lnSpc>
              <a:buNone/>
            </a:pPr>
            <a:r>
              <a:rPr lang="ja-JP" altLang="en-US" sz="2000" b="1" dirty="0">
                <a:solidFill>
                  <a:srgbClr val="1F285A"/>
                </a:solidFill>
                <a:latin typeface="メイリオ" panose="020B0604030504040204" pitchFamily="50" charset="-128"/>
                <a:ea typeface="メイリオ" panose="020B0604030504040204" pitchFamily="50" charset="-128"/>
              </a:rPr>
              <a:t>「LINEで受けるだけ」から</a:t>
            </a:r>
            <a:endParaRPr lang="ja-JP" altLang="en-US" sz="1200" dirty="0"/>
          </a:p>
          <a:p>
            <a:pPr algn="ctr">
              <a:lnSpc>
                <a:spcPct val="125000"/>
              </a:lnSpc>
              <a:buNone/>
            </a:pPr>
            <a:r>
              <a:rPr lang="ja-JP" altLang="en-US" sz="2000" b="1" dirty="0">
                <a:solidFill>
                  <a:srgbClr val="1F285A"/>
                </a:solidFill>
                <a:latin typeface="メイリオ" panose="020B0604030504040204" pitchFamily="50" charset="-128"/>
                <a:ea typeface="メイリオ" panose="020B0604030504040204" pitchFamily="50" charset="-128"/>
              </a:rPr>
              <a:t>「</a:t>
            </a:r>
            <a:r>
              <a:rPr lang="en-US" altLang="ja-JP" sz="2000" b="1" dirty="0">
                <a:solidFill>
                  <a:srgbClr val="1F285A"/>
                </a:solidFill>
                <a:latin typeface="メイリオ" panose="020B0604030504040204" pitchFamily="50" charset="-128"/>
                <a:ea typeface="メイリオ" panose="020B0604030504040204" pitchFamily="50" charset="-128"/>
              </a:rPr>
              <a:t>LINE</a:t>
            </a:r>
            <a:r>
              <a:rPr lang="ja-JP" altLang="en-US" sz="2000" b="1" dirty="0">
                <a:solidFill>
                  <a:srgbClr val="1F285A"/>
                </a:solidFill>
                <a:latin typeface="メイリオ" panose="020B0604030504040204" pitchFamily="50" charset="-128"/>
                <a:ea typeface="メイリオ" panose="020B0604030504040204" pitchFamily="50" charset="-128"/>
              </a:rPr>
              <a:t>上でフォーム送信まで案内する」へ</a:t>
            </a:r>
            <a:endParaRPr lang="ja-JP" altLang="en-US" sz="1200" dirty="0"/>
          </a:p>
        </p:txBody>
      </p:sp>
      <p:sp>
        <p:nvSpPr>
          <p:cNvPr id="640" name="補足ポイント"/>
          <p:cNvSpPr/>
          <p:nvPr/>
        </p:nvSpPr>
        <p:spPr>
          <a:xfrm>
            <a:off x="502920" y="3703320"/>
            <a:ext cx="3657600" cy="292608"/>
          </a:xfrm>
          <a:prstGeom prst="rect">
            <a:avLst/>
          </a:prstGeom>
          <a:noFill/>
          <a:ln>
            <a:noFill/>
          </a:ln>
        </p:spPr>
        <p:txBody>
          <a:bodyPr wrap="square" lIns="0" tIns="0" rIns="0" bIns="0" rtlCol="0" anchor="ctr">
            <a:noAutofit/>
          </a:bodyPr>
          <a:lstStyle/>
          <a:p>
            <a:pPr algn="l">
              <a:buNone/>
            </a:pPr>
            <a:r>
              <a:rPr lang="ja-JP" altLang="en-US" sz="1300" b="1" dirty="0">
                <a:solidFill>
                  <a:srgbClr val="333333"/>
                </a:solidFill>
                <a:latin typeface="メイリオ" panose="020B0604030504040204" pitchFamily="50" charset="-128"/>
                <a:ea typeface="メイリオ" panose="020B0604030504040204" pitchFamily="50" charset="-128"/>
              </a:rPr>
              <a:t>補足ポイント</a:t>
            </a:r>
            <a:endParaRPr lang="ja-JP" altLang="en-US" sz="1200" dirty="0"/>
          </a:p>
        </p:txBody>
      </p:sp>
      <p:sp>
        <p:nvSpPr>
          <p:cNvPr id="641" name="線1"/>
          <p:cNvSpPr/>
          <p:nvPr/>
        </p:nvSpPr>
        <p:spPr>
          <a:xfrm>
            <a:off x="502920" y="4105656"/>
            <a:ext cx="777240" cy="50292"/>
          </a:xfrm>
          <a:prstGeom prst="rect">
            <a:avLst/>
          </a:prstGeom>
          <a:solidFill>
            <a:srgbClr val="1F285A"/>
          </a:solidFill>
          <a:ln>
            <a:noFill/>
          </a:ln>
        </p:spPr>
        <p:txBody>
          <a:bodyPr wrap="square" lIns="73152" tIns="36576" rIns="73152" bIns="36576" rtlCol="0" anchor="ctr">
            <a:noAutofit/>
          </a:bodyPr>
          <a:lstStyle/>
          <a:p>
            <a:pPr algn="l">
              <a:buNone/>
            </a:pPr>
            <a:endParaRPr lang="ja-JP" altLang="en-US" sz="1200" dirty="0"/>
          </a:p>
        </p:txBody>
      </p:sp>
      <p:sp>
        <p:nvSpPr>
          <p:cNvPr id="642" name="見出し1"/>
          <p:cNvSpPr/>
          <p:nvPr/>
        </p:nvSpPr>
        <p:spPr>
          <a:xfrm>
            <a:off x="502920" y="4206240"/>
            <a:ext cx="2804160" cy="329184"/>
          </a:xfrm>
          <a:prstGeom prst="rect">
            <a:avLst/>
          </a:prstGeom>
          <a:noFill/>
          <a:ln>
            <a:noFill/>
          </a:ln>
        </p:spPr>
        <p:txBody>
          <a:bodyPr wrap="square" lIns="0" tIns="0" rIns="0" bIns="0" rtlCol="0" anchor="ctr">
            <a:noAutofit/>
          </a:bodyPr>
          <a:lstStyle/>
          <a:p>
            <a:pPr algn="l">
              <a:buNone/>
            </a:pPr>
            <a:r>
              <a:rPr lang="ja-JP" altLang="en-US" sz="1300" b="1" dirty="0">
                <a:solidFill>
                  <a:srgbClr val="1F285A"/>
                </a:solidFill>
                <a:latin typeface="メイリオ" panose="020B0604030504040204" pitchFamily="50" charset="-128"/>
                <a:ea typeface="メイリオ" panose="020B0604030504040204" pitchFamily="50" charset="-128"/>
              </a:rPr>
              <a:t>01 現状・課題</a:t>
            </a:r>
            <a:endParaRPr lang="ja-JP" altLang="en-US" sz="1200" dirty="0"/>
          </a:p>
        </p:txBody>
      </p:sp>
      <p:sp>
        <p:nvSpPr>
          <p:cNvPr id="643" name="本文1"/>
          <p:cNvSpPr/>
          <p:nvPr/>
        </p:nvSpPr>
        <p:spPr>
          <a:xfrm>
            <a:off x="502920" y="4572000"/>
            <a:ext cx="2804160" cy="1691640"/>
          </a:xfrm>
          <a:prstGeom prst="rect">
            <a:avLst/>
          </a:prstGeom>
          <a:noFill/>
          <a:ln>
            <a:noFill/>
          </a:ln>
        </p:spPr>
        <p:txBody>
          <a:bodyPr wrap="square" lIns="0" tIns="36576" rIns="45720" bIns="36576" rtlCol="0" anchor="t">
            <a:noAutofit/>
          </a:bodyPr>
          <a:lstStyle/>
          <a:p>
            <a:pPr algn="l">
              <a:lnSpc>
                <a:spcPct val="135000"/>
              </a:lnSpc>
              <a:buNone/>
            </a:pPr>
            <a:r>
              <a:rPr lang="ja-JP" altLang="en-US" sz="1300" b="0" dirty="0">
                <a:solidFill>
                  <a:srgbClr val="333333"/>
                </a:solidFill>
                <a:latin typeface="メイリオ" panose="020B0604030504040204" pitchFamily="50" charset="-128"/>
                <a:ea typeface="メイリオ" panose="020B0604030504040204" pitchFamily="50" charset="-128"/>
              </a:rPr>
              <a:t>全ページにLINEのボタンがあり、問い合わせの入口は整っている。</a:t>
            </a:r>
            <a:endParaRPr lang="en-US" altLang="ja-JP" sz="1300" b="0" dirty="0">
              <a:solidFill>
                <a:srgbClr val="333333"/>
              </a:solidFill>
              <a:latin typeface="メイリオ" panose="020B0604030504040204" pitchFamily="50" charset="-128"/>
              <a:ea typeface="メイリオ" panose="020B0604030504040204" pitchFamily="50" charset="-128"/>
            </a:endParaRPr>
          </a:p>
          <a:p>
            <a:pPr algn="l">
              <a:lnSpc>
                <a:spcPct val="135000"/>
              </a:lnSpc>
              <a:buNone/>
            </a:pPr>
            <a:r>
              <a:rPr lang="ja-JP" altLang="en-US" sz="1300" b="0" dirty="0">
                <a:solidFill>
                  <a:srgbClr val="333333"/>
                </a:solidFill>
                <a:latin typeface="メイリオ" panose="020B0604030504040204" pitchFamily="50" charset="-128"/>
                <a:ea typeface="メイリオ" panose="020B0604030504040204" pitchFamily="50" charset="-128"/>
              </a:rPr>
              <a:t>追加後に物件の送信へ進む案内（リッチメニュー・ボタン）を厚くできる。</a:t>
            </a:r>
            <a:endParaRPr lang="ja-JP" altLang="en-US" sz="1200" dirty="0"/>
          </a:p>
        </p:txBody>
      </p:sp>
      <p:sp>
        <p:nvSpPr>
          <p:cNvPr id="644" name="線2"/>
          <p:cNvSpPr/>
          <p:nvPr/>
        </p:nvSpPr>
        <p:spPr>
          <a:xfrm>
            <a:off x="3549396" y="4105656"/>
            <a:ext cx="777240" cy="50292"/>
          </a:xfrm>
          <a:prstGeom prst="rect">
            <a:avLst/>
          </a:prstGeom>
          <a:solidFill>
            <a:srgbClr val="3E5C99"/>
          </a:solidFill>
          <a:ln>
            <a:noFill/>
          </a:ln>
        </p:spPr>
        <p:txBody>
          <a:bodyPr wrap="square" lIns="73152" tIns="36576" rIns="73152" bIns="36576" rtlCol="0" anchor="ctr">
            <a:noAutofit/>
          </a:bodyPr>
          <a:lstStyle/>
          <a:p>
            <a:pPr algn="l">
              <a:buNone/>
            </a:pPr>
            <a:endParaRPr lang="ja-JP" altLang="en-US" sz="1200" dirty="0"/>
          </a:p>
        </p:txBody>
      </p:sp>
      <p:sp>
        <p:nvSpPr>
          <p:cNvPr id="645" name="見出し2"/>
          <p:cNvSpPr/>
          <p:nvPr/>
        </p:nvSpPr>
        <p:spPr>
          <a:xfrm>
            <a:off x="3549396" y="4206240"/>
            <a:ext cx="2804160" cy="329184"/>
          </a:xfrm>
          <a:prstGeom prst="rect">
            <a:avLst/>
          </a:prstGeom>
          <a:noFill/>
          <a:ln>
            <a:noFill/>
          </a:ln>
        </p:spPr>
        <p:txBody>
          <a:bodyPr wrap="square" lIns="0" tIns="0" rIns="0" bIns="0" rtlCol="0" anchor="ctr">
            <a:noAutofit/>
          </a:bodyPr>
          <a:lstStyle/>
          <a:p>
            <a:pPr algn="l">
              <a:buNone/>
            </a:pPr>
            <a:r>
              <a:rPr lang="ja-JP" altLang="en-US" sz="1300" b="1" dirty="0">
                <a:solidFill>
                  <a:srgbClr val="3E5C99"/>
                </a:solidFill>
                <a:latin typeface="メイリオ" panose="020B0604030504040204" pitchFamily="50" charset="-128"/>
                <a:ea typeface="メイリオ" panose="020B0604030504040204" pitchFamily="50" charset="-128"/>
              </a:rPr>
              <a:t>02 提案</a:t>
            </a:r>
            <a:endParaRPr lang="ja-JP" altLang="en-US" sz="1200" dirty="0"/>
          </a:p>
        </p:txBody>
      </p:sp>
      <p:sp>
        <p:nvSpPr>
          <p:cNvPr id="646" name="本文2"/>
          <p:cNvSpPr/>
          <p:nvPr/>
        </p:nvSpPr>
        <p:spPr>
          <a:xfrm>
            <a:off x="3549396" y="4572000"/>
            <a:ext cx="2804160" cy="1691640"/>
          </a:xfrm>
          <a:prstGeom prst="rect">
            <a:avLst/>
          </a:prstGeom>
          <a:noFill/>
          <a:ln>
            <a:noFill/>
          </a:ln>
        </p:spPr>
        <p:txBody>
          <a:bodyPr wrap="square" lIns="0" tIns="36576" rIns="45720" bIns="36576" rtlCol="0" anchor="t">
            <a:noAutofit/>
          </a:bodyPr>
          <a:lstStyle/>
          <a:p>
            <a:pPr algn="l">
              <a:lnSpc>
                <a:spcPct val="135000"/>
              </a:lnSpc>
              <a:buNone/>
            </a:pPr>
            <a:r>
              <a:rPr lang="ja-JP" altLang="en-US" sz="1300" b="0" dirty="0">
                <a:solidFill>
                  <a:srgbClr val="333333"/>
                </a:solidFill>
                <a:latin typeface="メイリオ" panose="020B0604030504040204" pitchFamily="50" charset="-128"/>
                <a:ea typeface="メイリオ" panose="020B0604030504040204" pitchFamily="50" charset="-128"/>
              </a:rPr>
              <a:t>離脱防止ポップアップで入口を増やし、あいさつ・リッチメニュー・ステップ配信で、フォームでの物件送信まで案内する。</a:t>
            </a:r>
            <a:endParaRPr lang="ja-JP" altLang="en-US" sz="1200" dirty="0"/>
          </a:p>
        </p:txBody>
      </p:sp>
      <p:sp>
        <p:nvSpPr>
          <p:cNvPr id="647" name="線3"/>
          <p:cNvSpPr/>
          <p:nvPr/>
        </p:nvSpPr>
        <p:spPr>
          <a:xfrm>
            <a:off x="6595872" y="4105656"/>
            <a:ext cx="777240" cy="50292"/>
          </a:xfrm>
          <a:prstGeom prst="rect">
            <a:avLst/>
          </a:prstGeom>
          <a:solidFill>
            <a:srgbClr val="C00000"/>
          </a:solidFill>
          <a:ln>
            <a:noFill/>
          </a:ln>
        </p:spPr>
        <p:txBody>
          <a:bodyPr wrap="square" lIns="73152" tIns="36576" rIns="73152" bIns="36576" rtlCol="0" anchor="ctr">
            <a:noAutofit/>
          </a:bodyPr>
          <a:lstStyle/>
          <a:p>
            <a:pPr algn="l">
              <a:buNone/>
            </a:pPr>
            <a:endParaRPr lang="ja-JP" altLang="en-US" sz="1200" dirty="0"/>
          </a:p>
        </p:txBody>
      </p:sp>
      <p:sp>
        <p:nvSpPr>
          <p:cNvPr id="648" name="見出し3"/>
          <p:cNvSpPr/>
          <p:nvPr/>
        </p:nvSpPr>
        <p:spPr>
          <a:xfrm>
            <a:off x="6595872" y="4206240"/>
            <a:ext cx="2804160" cy="329184"/>
          </a:xfrm>
          <a:prstGeom prst="rect">
            <a:avLst/>
          </a:prstGeom>
          <a:noFill/>
          <a:ln>
            <a:noFill/>
          </a:ln>
        </p:spPr>
        <p:txBody>
          <a:bodyPr wrap="square" lIns="0" tIns="0" rIns="0" bIns="0" rtlCol="0" anchor="ctr">
            <a:noAutofit/>
          </a:bodyPr>
          <a:lstStyle/>
          <a:p>
            <a:pPr algn="l">
              <a:buNone/>
            </a:pPr>
            <a:r>
              <a:rPr lang="ja-JP" altLang="en-US" sz="1300" b="1" dirty="0">
                <a:solidFill>
                  <a:srgbClr val="C00000"/>
                </a:solidFill>
                <a:latin typeface="メイリオ" panose="020B0604030504040204" pitchFamily="50" charset="-128"/>
                <a:ea typeface="メイリオ" panose="020B0604030504040204" pitchFamily="50" charset="-128"/>
              </a:rPr>
              <a:t>03 進め方</a:t>
            </a:r>
            <a:endParaRPr lang="ja-JP" altLang="en-US" sz="1200" dirty="0"/>
          </a:p>
        </p:txBody>
      </p:sp>
      <p:sp>
        <p:nvSpPr>
          <p:cNvPr id="649" name="本文3"/>
          <p:cNvSpPr/>
          <p:nvPr/>
        </p:nvSpPr>
        <p:spPr>
          <a:xfrm>
            <a:off x="6595872" y="4572000"/>
            <a:ext cx="2804160" cy="1691640"/>
          </a:xfrm>
          <a:prstGeom prst="rect">
            <a:avLst/>
          </a:prstGeom>
          <a:noFill/>
          <a:ln>
            <a:noFill/>
          </a:ln>
        </p:spPr>
        <p:txBody>
          <a:bodyPr wrap="square" lIns="0" tIns="36576" rIns="45720" bIns="36576" rtlCol="0" anchor="t">
            <a:noAutofit/>
          </a:bodyPr>
          <a:lstStyle/>
          <a:p>
            <a:pPr algn="l">
              <a:lnSpc>
                <a:spcPct val="135000"/>
              </a:lnSpc>
              <a:buNone/>
            </a:pPr>
            <a:r>
              <a:rPr lang="ja-JP" altLang="en-US" sz="1300" b="0" dirty="0">
                <a:solidFill>
                  <a:srgbClr val="333333"/>
                </a:solidFill>
                <a:latin typeface="メイリオ" panose="020B0604030504040204" pitchFamily="50" charset="-128"/>
                <a:ea typeface="メイリオ" panose="020B0604030504040204" pitchFamily="50" charset="-128"/>
              </a:rPr>
              <a:t>約1か月で初期設計を構築し、運用を開始する。月次レポートと定例会で数字を確認し、配信を見直す。</a:t>
            </a:r>
            <a:endParaRPr lang="ja-JP" alt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3"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34"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35"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dirty="0">
                <a:solidFill>
                  <a:srgbClr val="002060"/>
                </a:solidFill>
                <a:effectLst/>
                <a:uFillTx/>
                <a:latin typeface="メイリオ"/>
                <a:ea typeface="メイリオ"/>
              </a:rPr>
              <a:t>現状：標準機能のまま、追加後の導線を厚くできる</a:t>
            </a:r>
            <a:endParaRPr lang="en-US" sz="1600" b="0" u="none" strike="noStrike" dirty="0">
              <a:solidFill>
                <a:srgbClr val="000000"/>
              </a:solidFill>
              <a:effectLst/>
              <a:uFillTx/>
              <a:latin typeface="メイリオ"/>
            </a:endParaRPr>
          </a:p>
        </p:txBody>
      </p:sp>
      <p:sp>
        <p:nvSpPr>
          <p:cNvPr id="36" name="テキスト ボックス 28"/>
          <p:cNvSpPr/>
          <p:nvPr/>
        </p:nvSpPr>
        <p:spPr>
          <a:xfrm>
            <a:off x="4983480" y="1499760"/>
            <a:ext cx="4498560" cy="347040"/>
          </a:xfrm>
          <a:prstGeom prst="rect">
            <a:avLst/>
          </a:prstGeom>
          <a:solidFill>
            <a:srgbClr val="04FA0A"/>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chemeClr val="lt1"/>
                </a:solidFill>
                <a:effectLst/>
                <a:uFillTx/>
                <a:latin typeface="メイリオ"/>
                <a:ea typeface="メイリオ"/>
              </a:rPr>
              <a:t>LINE</a:t>
            </a:r>
            <a:r>
              <a:rPr lang="ja-JP" sz="1400" b="1" u="none" strike="noStrike">
                <a:solidFill>
                  <a:schemeClr val="lt1"/>
                </a:solidFill>
                <a:effectLst/>
                <a:uFillTx/>
                <a:latin typeface="メイリオ"/>
                <a:ea typeface="メイリオ"/>
              </a:rPr>
              <a:t>ステータス</a:t>
            </a:r>
            <a:endParaRPr lang="en-US" sz="1400" b="0" u="none" strike="noStrike">
              <a:solidFill>
                <a:srgbClr val="000000"/>
              </a:solidFill>
              <a:effectLst/>
              <a:uFillTx/>
              <a:latin typeface="Arial"/>
            </a:endParaRPr>
          </a:p>
        </p:txBody>
      </p:sp>
      <p:sp>
        <p:nvSpPr>
          <p:cNvPr id="37" name="テキスト ボックス 30"/>
          <p:cNvSpPr/>
          <p:nvPr/>
        </p:nvSpPr>
        <p:spPr>
          <a:xfrm>
            <a:off x="365760" y="1499760"/>
            <a:ext cx="4388760" cy="347040"/>
          </a:xfrm>
          <a:prstGeom prst="rect">
            <a:avLst/>
          </a:prstGeom>
          <a:solidFill>
            <a:schemeClr val="tx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lt1"/>
                </a:solidFill>
                <a:effectLst/>
                <a:uFillTx/>
                <a:latin typeface="メイリオ"/>
                <a:ea typeface="メイリオ"/>
              </a:rPr>
              <a:t>WEB</a:t>
            </a:r>
            <a:r>
              <a:rPr lang="ja-JP" sz="1400" b="0" u="none" strike="noStrike">
                <a:solidFill>
                  <a:schemeClr val="lt1"/>
                </a:solidFill>
                <a:effectLst/>
                <a:uFillTx/>
                <a:latin typeface="メイリオ"/>
                <a:ea typeface="メイリオ"/>
              </a:rPr>
              <a:t>サイトステータス</a:t>
            </a:r>
            <a:endParaRPr lang="en-US" sz="1400" b="0" u="none" strike="noStrike">
              <a:solidFill>
                <a:srgbClr val="FFFFFF"/>
              </a:solidFill>
              <a:effectLst/>
              <a:uFillTx/>
              <a:latin typeface="Arial"/>
            </a:endParaRPr>
          </a:p>
        </p:txBody>
      </p:sp>
      <p:sp>
        <p:nvSpPr>
          <p:cNvPr id="38" name="テキスト ボックス 42"/>
          <p:cNvSpPr/>
          <p:nvPr/>
        </p:nvSpPr>
        <p:spPr>
          <a:xfrm>
            <a:off x="365760" y="5660280"/>
            <a:ext cx="4388760" cy="54828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dk1"/>
                </a:solidFill>
                <a:effectLst/>
                <a:uFillTx/>
                <a:latin typeface="メイリオ"/>
                <a:ea typeface="メイリオ"/>
              </a:rPr>
              <a:t>全ページに「</a:t>
            </a:r>
            <a:r>
              <a:rPr lang="en-US" sz="1200" b="0" u="none" strike="noStrike">
                <a:solidFill>
                  <a:schemeClr val="dk1"/>
                </a:solidFill>
                <a:effectLst/>
                <a:uFillTx/>
                <a:latin typeface="メイリオ"/>
                <a:ea typeface="メイリオ"/>
              </a:rPr>
              <a:t>LINE</a:t>
            </a:r>
            <a:r>
              <a:rPr lang="ja-JP" sz="1200" b="0" u="none" strike="noStrike">
                <a:solidFill>
                  <a:schemeClr val="dk1"/>
                </a:solidFill>
                <a:effectLst/>
                <a:uFillTx/>
                <a:latin typeface="メイリオ"/>
                <a:ea typeface="メイリオ"/>
              </a:rPr>
              <a:t>でお問い合わせ」ボタンを設置。</a:t>
            </a:r>
            <a:endParaRPr lang="en-US" sz="1200" b="0" u="none" strike="noStrike">
              <a:solidFill>
                <a:srgbClr val="000000"/>
              </a:solidFill>
              <a:effectLst/>
              <a:uFillTx/>
              <a:latin typeface="Arial"/>
            </a:endParaRPr>
          </a:p>
          <a:p>
            <a:pPr algn="ctr" defTabSz="914400">
              <a:lnSpc>
                <a:spcPct val="100000"/>
              </a:lnSpc>
            </a:pPr>
            <a:r>
              <a:rPr lang="en-US" sz="1200" b="1" u="none" strike="noStrike">
                <a:solidFill>
                  <a:schemeClr val="dk1"/>
                </a:solidFill>
                <a:effectLst/>
                <a:uFillTx/>
                <a:latin typeface="メイリオ"/>
                <a:ea typeface="メイリオ"/>
              </a:rPr>
              <a:t>100</a:t>
            </a:r>
            <a:r>
              <a:rPr lang="ja-JP" sz="1200" b="1" u="none" strike="noStrike">
                <a:solidFill>
                  <a:schemeClr val="dk1"/>
                </a:solidFill>
                <a:effectLst/>
                <a:uFillTx/>
                <a:latin typeface="メイリオ"/>
                <a:ea typeface="メイリオ"/>
              </a:rPr>
              <a:t>円チェッカー・内見依頼</a:t>
            </a:r>
            <a:r>
              <a:rPr lang="ja-JP" sz="1200" b="0" u="none" strike="noStrike">
                <a:solidFill>
                  <a:schemeClr val="dk1"/>
                </a:solidFill>
                <a:effectLst/>
                <a:uFillTx/>
                <a:latin typeface="メイリオ"/>
                <a:ea typeface="メイリオ"/>
              </a:rPr>
              <a:t>など、問い合わせ入口を整備。</a:t>
            </a:r>
            <a:endParaRPr lang="en-US" sz="1200" b="0" u="none" strike="noStrike">
              <a:solidFill>
                <a:srgbClr val="000000"/>
              </a:solidFill>
              <a:effectLst/>
              <a:uFillTx/>
              <a:latin typeface="Arial"/>
            </a:endParaRPr>
          </a:p>
        </p:txBody>
      </p:sp>
      <p:sp>
        <p:nvSpPr>
          <p:cNvPr id="39" name="テキスト ボックス 52"/>
          <p:cNvSpPr/>
          <p:nvPr/>
        </p:nvSpPr>
        <p:spPr>
          <a:xfrm>
            <a:off x="4983480" y="5660280"/>
            <a:ext cx="4498560" cy="54828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1" u="none" strike="noStrike">
                <a:solidFill>
                  <a:schemeClr val="dk1"/>
                </a:solidFill>
                <a:effectLst/>
                <a:uFillTx/>
                <a:latin typeface="メイリオ"/>
                <a:ea typeface="メイリオ"/>
              </a:rPr>
              <a:t>リッチメニュー未設置・あいさつにボタンなし。</a:t>
            </a:r>
            <a:br>
              <a:rPr sz="1200"/>
            </a:br>
            <a:r>
              <a:rPr lang="ja-JP" sz="1200" b="1" u="none" strike="noStrike">
                <a:solidFill>
                  <a:schemeClr val="dk1"/>
                </a:solidFill>
                <a:effectLst/>
                <a:uFillTx/>
                <a:latin typeface="メイリオ"/>
                <a:ea typeface="メイリオ"/>
              </a:rPr>
              <a:t>標準機能で厚くできる余地あり。</a:t>
            </a:r>
            <a:endParaRPr lang="en-US" sz="1200" b="0" u="none" strike="noStrike">
              <a:solidFill>
                <a:srgbClr val="000000"/>
              </a:solidFill>
              <a:effectLst/>
              <a:uFillTx/>
              <a:latin typeface="Arial"/>
            </a:endParaRPr>
          </a:p>
        </p:txBody>
      </p:sp>
      <p:pic>
        <p:nvPicPr>
          <p:cNvPr id="40" name="図 54"/>
          <p:cNvPicPr/>
          <p:nvPr/>
        </p:nvPicPr>
        <p:blipFill>
          <a:blip r:embed="rId3"/>
          <a:stretch/>
        </p:blipFill>
        <p:spPr>
          <a:xfrm>
            <a:off x="4983480" y="1920240"/>
            <a:ext cx="1420560" cy="2885400"/>
          </a:xfrm>
          <a:prstGeom prst="rect">
            <a:avLst/>
          </a:prstGeom>
          <a:noFill/>
          <a:ln w="0">
            <a:noFill/>
          </a:ln>
        </p:spPr>
      </p:pic>
      <p:sp>
        <p:nvSpPr>
          <p:cNvPr id="41" name="テキスト ボックス 60"/>
          <p:cNvSpPr/>
          <p:nvPr/>
        </p:nvSpPr>
        <p:spPr>
          <a:xfrm>
            <a:off x="5058000" y="2134800"/>
            <a:ext cx="1265400" cy="2346840"/>
          </a:xfrm>
          <a:prstGeom prst="rect">
            <a:avLst/>
          </a:prstGeom>
          <a:solidFill>
            <a:schemeClr val="bg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p:txBody>
      </p:sp>
      <p:sp>
        <p:nvSpPr>
          <p:cNvPr id="42" name="テキスト ボックス 64"/>
          <p:cNvSpPr/>
          <p:nvPr/>
        </p:nvSpPr>
        <p:spPr>
          <a:xfrm>
            <a:off x="1783080" y="1920240"/>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サイト</a:t>
            </a:r>
            <a:r>
              <a:rPr lang="en-US" sz="1200" b="0" u="none" strike="noStrike">
                <a:solidFill>
                  <a:schemeClr val="lt1"/>
                </a:solidFill>
                <a:effectLst/>
                <a:uFillTx/>
                <a:latin typeface="メイリオ"/>
                <a:ea typeface="メイリオ"/>
              </a:rPr>
              <a:t>UU</a:t>
            </a:r>
            <a:endParaRPr lang="en-US" sz="1200" b="0" u="none" strike="noStrike">
              <a:solidFill>
                <a:srgbClr val="FFFFFF"/>
              </a:solidFill>
              <a:effectLst/>
              <a:uFillTx/>
              <a:latin typeface="Arial"/>
            </a:endParaRPr>
          </a:p>
        </p:txBody>
      </p:sp>
      <p:sp>
        <p:nvSpPr>
          <p:cNvPr id="43" name="テキスト ボックス 66"/>
          <p:cNvSpPr/>
          <p:nvPr/>
        </p:nvSpPr>
        <p:spPr>
          <a:xfrm>
            <a:off x="1783080" y="4901184"/>
            <a:ext cx="2971440" cy="45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100" b="0" u="none" strike="noStrike">
                <a:solidFill>
                  <a:srgbClr val="595959"/>
                </a:solidFill>
                <a:effectLst/>
                <a:uFillTx/>
                <a:latin typeface="メイリオ"/>
                <a:ea typeface="メイリオ"/>
              </a:rPr>
              <a:t>※いずれも貴社ヒヤリング、外部計測</a:t>
            </a:r>
            <a:endParaRPr lang="en-US" sz="1100" b="0" u="none" strike="noStrike">
              <a:solidFill>
                <a:srgbClr val="000000"/>
              </a:solidFill>
              <a:effectLst/>
              <a:uFillTx/>
              <a:latin typeface="Arial"/>
            </a:endParaRPr>
          </a:p>
          <a:p>
            <a:pPr defTabSz="914400">
              <a:lnSpc>
                <a:spcPct val="100000"/>
              </a:lnSpc>
            </a:pPr>
            <a:r>
              <a:rPr lang="ja-JP" sz="1100" b="0" u="none" strike="noStrike">
                <a:solidFill>
                  <a:srgbClr val="595959"/>
                </a:solidFill>
                <a:effectLst/>
                <a:uFillTx/>
                <a:latin typeface="メイリオ"/>
                <a:ea typeface="メイリオ"/>
              </a:rPr>
              <a:t>　をもとにした想定。（仮）は仮置き。</a:t>
            </a:r>
            <a:endParaRPr lang="en-US" sz="1100" b="0" u="none" strike="noStrike">
              <a:solidFill>
                <a:srgbClr val="000000"/>
              </a:solidFill>
              <a:effectLst/>
              <a:uFillTx/>
              <a:latin typeface="Arial"/>
            </a:endParaRPr>
          </a:p>
        </p:txBody>
      </p:sp>
      <p:sp>
        <p:nvSpPr>
          <p:cNvPr id="44" name="テキスト ボックス 68"/>
          <p:cNvSpPr/>
          <p:nvPr/>
        </p:nvSpPr>
        <p:spPr>
          <a:xfrm>
            <a:off x="1783080" y="2340864"/>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広告</a:t>
            </a:r>
            <a:endParaRPr lang="en-US" sz="1200" b="0" u="none" strike="noStrike">
              <a:solidFill>
                <a:srgbClr val="FFFFFF"/>
              </a:solidFill>
              <a:effectLst/>
              <a:uFillTx/>
              <a:latin typeface="Arial"/>
            </a:endParaRPr>
          </a:p>
        </p:txBody>
      </p:sp>
      <p:sp>
        <p:nvSpPr>
          <p:cNvPr id="47" name="テキスト ボックス 74"/>
          <p:cNvSpPr/>
          <p:nvPr/>
        </p:nvSpPr>
        <p:spPr>
          <a:xfrm>
            <a:off x="1783080" y="4443984"/>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他</a:t>
            </a:r>
            <a:r>
              <a:rPr lang="en-US" sz="1200" b="0" u="none" strike="noStrike">
                <a:solidFill>
                  <a:schemeClr val="lt1"/>
                </a:solidFill>
                <a:effectLst/>
                <a:uFillTx/>
                <a:latin typeface="メイリオ"/>
                <a:ea typeface="メイリオ"/>
              </a:rPr>
              <a:t>SNS</a:t>
            </a:r>
            <a:endParaRPr lang="en-US" sz="1200" b="0" u="none" strike="noStrike">
              <a:solidFill>
                <a:srgbClr val="FFFFFF"/>
              </a:solidFill>
              <a:effectLst/>
              <a:uFillTx/>
              <a:latin typeface="Arial"/>
            </a:endParaRPr>
          </a:p>
        </p:txBody>
      </p:sp>
      <p:sp>
        <p:nvSpPr>
          <p:cNvPr id="48" name="テキスト ボックス 75"/>
          <p:cNvSpPr/>
          <p:nvPr/>
        </p:nvSpPr>
        <p:spPr>
          <a:xfrm>
            <a:off x="1783080" y="4023360"/>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リード保有数</a:t>
            </a:r>
            <a:endParaRPr lang="en-US" sz="1200" b="0" u="none" strike="noStrike">
              <a:solidFill>
                <a:srgbClr val="FFFFFF"/>
              </a:solidFill>
              <a:effectLst/>
              <a:uFillTx/>
              <a:latin typeface="Arial"/>
            </a:endParaRPr>
          </a:p>
        </p:txBody>
      </p:sp>
      <p:sp>
        <p:nvSpPr>
          <p:cNvPr id="49" name="テキスト ボックス 77"/>
          <p:cNvSpPr/>
          <p:nvPr/>
        </p:nvSpPr>
        <p:spPr>
          <a:xfrm>
            <a:off x="1783080" y="2761488"/>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月間</a:t>
            </a:r>
            <a:r>
              <a:rPr lang="en-US" sz="1200" b="0" u="none" strike="noStrike">
                <a:solidFill>
                  <a:schemeClr val="lt1"/>
                </a:solidFill>
                <a:effectLst/>
                <a:uFillTx/>
                <a:latin typeface="メイリオ"/>
                <a:ea typeface="メイリオ"/>
              </a:rPr>
              <a:t>CV</a:t>
            </a:r>
            <a:r>
              <a:rPr lang="ja-JP" sz="1200" b="0" u="none" strike="noStrike">
                <a:solidFill>
                  <a:schemeClr val="lt1"/>
                </a:solidFill>
                <a:effectLst/>
                <a:uFillTx/>
                <a:latin typeface="メイリオ"/>
                <a:ea typeface="メイリオ"/>
              </a:rPr>
              <a:t>数</a:t>
            </a:r>
            <a:endParaRPr lang="en-US" sz="1200" b="0" u="none" strike="noStrike">
              <a:solidFill>
                <a:srgbClr val="FFFFFF"/>
              </a:solidFill>
              <a:effectLst/>
              <a:uFillTx/>
              <a:latin typeface="Arial"/>
            </a:endParaRPr>
          </a:p>
        </p:txBody>
      </p:sp>
      <p:sp>
        <p:nvSpPr>
          <p:cNvPr id="50" name="テキスト ボックス 79"/>
          <p:cNvSpPr/>
          <p:nvPr/>
        </p:nvSpPr>
        <p:spPr>
          <a:xfrm>
            <a:off x="1783080" y="3182112"/>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0" u="none" strike="noStrike">
                <a:solidFill>
                  <a:schemeClr val="lt1"/>
                </a:solidFill>
                <a:effectLst/>
                <a:uFillTx/>
                <a:latin typeface="メイリオ"/>
                <a:ea typeface="メイリオ"/>
              </a:rPr>
              <a:t>CV</a:t>
            </a:r>
            <a:r>
              <a:rPr lang="ja-JP" sz="1200" b="0" u="none" strike="noStrike">
                <a:solidFill>
                  <a:schemeClr val="lt1"/>
                </a:solidFill>
                <a:effectLst/>
                <a:uFillTx/>
                <a:latin typeface="メイリオ"/>
                <a:ea typeface="メイリオ"/>
              </a:rPr>
              <a:t>地点</a:t>
            </a:r>
            <a:endParaRPr lang="en-US" sz="1200" b="0" u="none" strike="noStrike">
              <a:solidFill>
                <a:srgbClr val="FFFFFF"/>
              </a:solidFill>
              <a:effectLst/>
              <a:uFillTx/>
              <a:latin typeface="Arial"/>
            </a:endParaRPr>
          </a:p>
        </p:txBody>
      </p:sp>
      <p:sp>
        <p:nvSpPr>
          <p:cNvPr id="51" name="テキスト ボックス 81"/>
          <p:cNvSpPr/>
          <p:nvPr/>
        </p:nvSpPr>
        <p:spPr>
          <a:xfrm>
            <a:off x="1783080" y="3602736"/>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0" u="none" strike="noStrike">
                <a:solidFill>
                  <a:schemeClr val="lt1"/>
                </a:solidFill>
                <a:effectLst/>
                <a:uFillTx/>
                <a:latin typeface="メイリオ"/>
                <a:ea typeface="メイリオ"/>
              </a:rPr>
              <a:t>LINE</a:t>
            </a:r>
            <a:r>
              <a:rPr lang="ja-JP" sz="1200" b="0" u="none" strike="noStrike">
                <a:solidFill>
                  <a:schemeClr val="lt1"/>
                </a:solidFill>
                <a:effectLst/>
                <a:uFillTx/>
                <a:latin typeface="メイリオ"/>
                <a:ea typeface="メイリオ"/>
              </a:rPr>
              <a:t>動線</a:t>
            </a:r>
            <a:endParaRPr lang="en-US" sz="1200" b="0" u="none" strike="noStrike">
              <a:solidFill>
                <a:srgbClr val="FFFFFF"/>
              </a:solidFill>
              <a:effectLst/>
              <a:uFillTx/>
              <a:latin typeface="Arial"/>
            </a:endParaRPr>
          </a:p>
        </p:txBody>
      </p:sp>
      <p:sp>
        <p:nvSpPr>
          <p:cNvPr id="53" name="テキスト ボックス 85"/>
          <p:cNvSpPr/>
          <p:nvPr/>
        </p:nvSpPr>
        <p:spPr>
          <a:xfrm>
            <a:off x="6510600" y="1920240"/>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友だち数</a:t>
            </a:r>
            <a:endParaRPr lang="en-US" sz="1200" b="0" u="none" strike="noStrike">
              <a:solidFill>
                <a:srgbClr val="FFFFFF"/>
              </a:solidFill>
              <a:effectLst/>
              <a:uFillTx/>
              <a:latin typeface="Arial"/>
            </a:endParaRPr>
          </a:p>
        </p:txBody>
      </p:sp>
      <p:sp>
        <p:nvSpPr>
          <p:cNvPr id="54" name="テキスト ボックス 87"/>
          <p:cNvSpPr/>
          <p:nvPr/>
        </p:nvSpPr>
        <p:spPr>
          <a:xfrm>
            <a:off x="6510600" y="2340864"/>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アクティブ数</a:t>
            </a:r>
            <a:endParaRPr lang="en-US" sz="1200" b="0" u="none" strike="noStrike">
              <a:solidFill>
                <a:srgbClr val="FFFFFF"/>
              </a:solidFill>
              <a:effectLst/>
              <a:uFillTx/>
              <a:latin typeface="Arial"/>
            </a:endParaRPr>
          </a:p>
        </p:txBody>
      </p:sp>
      <p:sp>
        <p:nvSpPr>
          <p:cNvPr id="55" name="テキスト ボックス 89"/>
          <p:cNvSpPr/>
          <p:nvPr/>
        </p:nvSpPr>
        <p:spPr>
          <a:xfrm>
            <a:off x="6510600" y="2761488"/>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ブロック率</a:t>
            </a:r>
            <a:endParaRPr lang="en-US" sz="1200" b="0" u="none" strike="noStrike">
              <a:solidFill>
                <a:srgbClr val="FFFFFF"/>
              </a:solidFill>
              <a:effectLst/>
              <a:uFillTx/>
              <a:latin typeface="Arial"/>
            </a:endParaRPr>
          </a:p>
        </p:txBody>
      </p:sp>
      <p:sp>
        <p:nvSpPr>
          <p:cNvPr id="56" name="テキスト ボックス 91"/>
          <p:cNvSpPr/>
          <p:nvPr/>
        </p:nvSpPr>
        <p:spPr>
          <a:xfrm>
            <a:off x="6510600" y="4023360"/>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0" u="none" strike="noStrike">
                <a:solidFill>
                  <a:schemeClr val="lt1"/>
                </a:solidFill>
                <a:effectLst/>
                <a:uFillTx/>
                <a:latin typeface="メイリオ"/>
                <a:ea typeface="メイリオ"/>
              </a:rPr>
              <a:t>リッチメニュー</a:t>
            </a:r>
            <a:endParaRPr lang="en-US" sz="1200" b="0" u="none" strike="noStrike">
              <a:solidFill>
                <a:srgbClr val="FFFFFF"/>
              </a:solidFill>
              <a:effectLst/>
              <a:uFillTx/>
              <a:latin typeface="Arial"/>
            </a:endParaRPr>
          </a:p>
        </p:txBody>
      </p:sp>
      <p:sp>
        <p:nvSpPr>
          <p:cNvPr id="57" name="テキスト ボックス 93"/>
          <p:cNvSpPr/>
          <p:nvPr/>
        </p:nvSpPr>
        <p:spPr>
          <a:xfrm>
            <a:off x="6510600" y="3602736"/>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ツール</a:t>
            </a:r>
            <a:endParaRPr lang="en-US" sz="1200" b="0" u="none" strike="noStrike">
              <a:solidFill>
                <a:srgbClr val="FFFFFF"/>
              </a:solidFill>
              <a:effectLst/>
              <a:uFillTx/>
              <a:latin typeface="Arial"/>
            </a:endParaRPr>
          </a:p>
        </p:txBody>
      </p:sp>
      <p:sp>
        <p:nvSpPr>
          <p:cNvPr id="62" name="テキスト ボックス 103"/>
          <p:cNvSpPr/>
          <p:nvPr/>
        </p:nvSpPr>
        <p:spPr>
          <a:xfrm>
            <a:off x="6510600" y="3182112"/>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プロフ動線</a:t>
            </a:r>
            <a:endParaRPr lang="en-US" sz="1200" b="0" u="none" strike="noStrike">
              <a:solidFill>
                <a:srgbClr val="FFFFFF"/>
              </a:solidFill>
              <a:effectLst/>
              <a:uFillTx/>
              <a:latin typeface="Arial"/>
            </a:endParaRPr>
          </a:p>
        </p:txBody>
      </p:sp>
      <p:sp>
        <p:nvSpPr>
          <p:cNvPr id="63" name="テキスト ボックス 105"/>
          <p:cNvSpPr/>
          <p:nvPr/>
        </p:nvSpPr>
        <p:spPr>
          <a:xfrm>
            <a:off x="3081600" y="1920240"/>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1,737</a:t>
            </a:r>
            <a:endParaRPr lang="en-US" sz="1200" b="0" u="none" strike="noStrike">
              <a:solidFill>
                <a:srgbClr val="000000"/>
              </a:solidFill>
              <a:effectLst/>
              <a:uFillTx/>
              <a:latin typeface="Arial"/>
            </a:endParaRPr>
          </a:p>
        </p:txBody>
      </p:sp>
      <p:sp>
        <p:nvSpPr>
          <p:cNvPr id="64" name="テキスト ボックス 107"/>
          <p:cNvSpPr/>
          <p:nvPr/>
        </p:nvSpPr>
        <p:spPr>
          <a:xfrm>
            <a:off x="3081600" y="2340864"/>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なし</a:t>
            </a:r>
            <a:endParaRPr lang="en-US" sz="1200" b="0" u="none" strike="noStrike">
              <a:solidFill>
                <a:srgbClr val="000000"/>
              </a:solidFill>
              <a:effectLst/>
              <a:uFillTx/>
              <a:latin typeface="Arial"/>
            </a:endParaRPr>
          </a:p>
        </p:txBody>
      </p:sp>
      <p:sp>
        <p:nvSpPr>
          <p:cNvPr id="67" name="テキスト ボックス 113"/>
          <p:cNvSpPr/>
          <p:nvPr/>
        </p:nvSpPr>
        <p:spPr>
          <a:xfrm>
            <a:off x="3081600" y="4443984"/>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YouTube</a:t>
            </a:r>
            <a:endParaRPr lang="en-US" sz="1200" b="0" u="none" strike="noStrike">
              <a:solidFill>
                <a:srgbClr val="000000"/>
              </a:solidFill>
              <a:effectLst/>
              <a:uFillTx/>
              <a:latin typeface="Arial"/>
            </a:endParaRPr>
          </a:p>
        </p:txBody>
      </p:sp>
      <p:sp>
        <p:nvSpPr>
          <p:cNvPr id="68" name="テキスト ボックス 115"/>
          <p:cNvSpPr/>
          <p:nvPr/>
        </p:nvSpPr>
        <p:spPr>
          <a:xfrm>
            <a:off x="3081600" y="4023360"/>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1" u="none" strike="noStrike">
                <a:solidFill>
                  <a:schemeClr val="dk1"/>
                </a:solidFill>
                <a:effectLst/>
                <a:uFillTx/>
                <a:latin typeface="メイリオ"/>
                <a:ea typeface="メイリオ"/>
              </a:rPr>
              <a:t>不明</a:t>
            </a:r>
            <a:endParaRPr lang="en-US" sz="1200" b="0" u="none" strike="noStrike">
              <a:solidFill>
                <a:srgbClr val="000000"/>
              </a:solidFill>
              <a:effectLst/>
              <a:uFillTx/>
              <a:latin typeface="Arial"/>
            </a:endParaRPr>
          </a:p>
        </p:txBody>
      </p:sp>
      <p:sp>
        <p:nvSpPr>
          <p:cNvPr id="69" name="テキスト ボックス 117"/>
          <p:cNvSpPr/>
          <p:nvPr/>
        </p:nvSpPr>
        <p:spPr>
          <a:xfrm>
            <a:off x="3081600" y="2761488"/>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30</a:t>
            </a:r>
            <a:r>
              <a:rPr lang="ja-JP" sz="1200" b="1" u="none" strike="noStrike">
                <a:solidFill>
                  <a:schemeClr val="dk1"/>
                </a:solidFill>
                <a:effectLst/>
                <a:uFillTx/>
                <a:latin typeface="メイリオ"/>
                <a:ea typeface="メイリオ"/>
              </a:rPr>
              <a:t>件（仮）</a:t>
            </a:r>
            <a:endParaRPr lang="en-US" sz="1200" b="0" u="none" strike="noStrike">
              <a:solidFill>
                <a:srgbClr val="000000"/>
              </a:solidFill>
              <a:effectLst/>
              <a:uFillTx/>
              <a:latin typeface="Arial"/>
            </a:endParaRPr>
          </a:p>
        </p:txBody>
      </p:sp>
      <p:sp>
        <p:nvSpPr>
          <p:cNvPr id="70" name="テキスト ボックス 119"/>
          <p:cNvSpPr/>
          <p:nvPr/>
        </p:nvSpPr>
        <p:spPr>
          <a:xfrm>
            <a:off x="3081600" y="3182112"/>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1" u="none" strike="noStrike">
                <a:solidFill>
                  <a:srgbClr val="FF0000"/>
                </a:solidFill>
                <a:effectLst/>
                <a:uFillTx/>
                <a:latin typeface="メイリオ"/>
                <a:ea typeface="メイリオ"/>
              </a:rPr>
              <a:t>問い合わせ</a:t>
            </a:r>
            <a:endParaRPr lang="en-US" sz="1200" b="0" u="none" strike="noStrike">
              <a:solidFill>
                <a:srgbClr val="000000"/>
              </a:solidFill>
              <a:effectLst/>
              <a:uFillTx/>
              <a:latin typeface="Arial"/>
            </a:endParaRPr>
          </a:p>
        </p:txBody>
      </p:sp>
      <p:sp>
        <p:nvSpPr>
          <p:cNvPr id="71" name="テキスト ボックス 121"/>
          <p:cNvSpPr/>
          <p:nvPr/>
        </p:nvSpPr>
        <p:spPr>
          <a:xfrm>
            <a:off x="3081600" y="3602736"/>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1" u="none" strike="noStrike">
                <a:solidFill>
                  <a:schemeClr val="dk1"/>
                </a:solidFill>
                <a:effectLst/>
                <a:uFillTx/>
                <a:latin typeface="メイリオ"/>
                <a:ea typeface="メイリオ"/>
              </a:rPr>
              <a:t>有</a:t>
            </a:r>
            <a:endParaRPr lang="en-US" sz="1200" b="0" u="none" strike="noStrike">
              <a:solidFill>
                <a:srgbClr val="000000"/>
              </a:solidFill>
              <a:effectLst/>
              <a:uFillTx/>
              <a:latin typeface="Arial"/>
            </a:endParaRPr>
          </a:p>
        </p:txBody>
      </p:sp>
      <p:sp>
        <p:nvSpPr>
          <p:cNvPr id="73" name="テキスト ボックス 168"/>
          <p:cNvSpPr/>
          <p:nvPr/>
        </p:nvSpPr>
        <p:spPr>
          <a:xfrm>
            <a:off x="6510600" y="4443984"/>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0" u="none" strike="noStrike">
                <a:solidFill>
                  <a:schemeClr val="lt1"/>
                </a:solidFill>
                <a:effectLst/>
                <a:uFillTx/>
                <a:latin typeface="メイリオ"/>
                <a:ea typeface="メイリオ"/>
              </a:rPr>
              <a:t>あいさつ</a:t>
            </a:r>
            <a:endParaRPr lang="en-US" sz="1200" b="0" u="none" strike="noStrike">
              <a:solidFill>
                <a:srgbClr val="FFFFFF"/>
              </a:solidFill>
              <a:effectLst/>
              <a:uFillTx/>
              <a:latin typeface="Arial"/>
            </a:endParaRPr>
          </a:p>
        </p:txBody>
      </p:sp>
      <p:sp>
        <p:nvSpPr>
          <p:cNvPr id="74" name="テキスト ボックス 170"/>
          <p:cNvSpPr/>
          <p:nvPr/>
        </p:nvSpPr>
        <p:spPr>
          <a:xfrm>
            <a:off x="7809120" y="1920240"/>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1,241</a:t>
            </a:r>
            <a:endParaRPr lang="en-US" sz="1200" b="0" u="none" strike="noStrike">
              <a:solidFill>
                <a:srgbClr val="000000"/>
              </a:solidFill>
              <a:effectLst/>
              <a:uFillTx/>
              <a:latin typeface="Arial"/>
            </a:endParaRPr>
          </a:p>
        </p:txBody>
      </p:sp>
      <p:sp>
        <p:nvSpPr>
          <p:cNvPr id="75" name="テキスト ボックス 172"/>
          <p:cNvSpPr/>
          <p:nvPr/>
        </p:nvSpPr>
        <p:spPr>
          <a:xfrm>
            <a:off x="7809120" y="2340864"/>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solidFill>
                <a:effectLst/>
                <a:uFillTx/>
                <a:latin typeface="メイリオ"/>
                <a:ea typeface="メイリオ"/>
              </a:rPr>
              <a:t>約862（仮）</a:t>
            </a:r>
            <a:endParaRPr lang="en-US" sz="1200" b="0" u="none" strike="noStrike">
              <a:solidFill>
                <a:srgbClr val="000000"/>
              </a:solidFill>
              <a:effectLst/>
              <a:uFillTx/>
              <a:latin typeface="Arial"/>
            </a:endParaRPr>
          </a:p>
        </p:txBody>
      </p:sp>
      <p:sp>
        <p:nvSpPr>
          <p:cNvPr id="76" name="テキスト ボックス 174"/>
          <p:cNvSpPr/>
          <p:nvPr/>
        </p:nvSpPr>
        <p:spPr>
          <a:xfrm>
            <a:off x="7809120" y="2761488"/>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30.5%</a:t>
            </a:r>
            <a:r>
              <a:rPr lang="zh-CN" sz="1200" b="1" u="none" strike="noStrike">
                <a:solidFill>
                  <a:schemeClr val="dk1"/>
                </a:solidFill>
                <a:effectLst/>
                <a:uFillTx/>
                <a:latin typeface="メイリオ"/>
                <a:ea typeface="メイリオ"/>
              </a:rPr>
              <a:t>（仮）</a:t>
            </a:r>
            <a:endParaRPr lang="en-US" sz="1200" b="0" u="none" strike="noStrike">
              <a:solidFill>
                <a:srgbClr val="000000"/>
              </a:solidFill>
              <a:effectLst/>
              <a:uFillTx/>
              <a:latin typeface="Arial"/>
            </a:endParaRPr>
          </a:p>
        </p:txBody>
      </p:sp>
      <p:sp>
        <p:nvSpPr>
          <p:cNvPr id="77" name="テキスト ボックス 176"/>
          <p:cNvSpPr/>
          <p:nvPr/>
        </p:nvSpPr>
        <p:spPr>
          <a:xfrm>
            <a:off x="7809120" y="4023360"/>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solidFill>
                <a:effectLst/>
                <a:uFillTx/>
                <a:latin typeface="メイリオ"/>
                <a:ea typeface="メイリオ"/>
              </a:rPr>
              <a:t>なし</a:t>
            </a:r>
            <a:endParaRPr lang="en-US" sz="1200" b="0" u="none" strike="noStrike">
              <a:solidFill>
                <a:srgbClr val="000000"/>
              </a:solidFill>
              <a:effectLst/>
              <a:uFillTx/>
              <a:latin typeface="Arial"/>
            </a:endParaRPr>
          </a:p>
        </p:txBody>
      </p:sp>
      <p:sp>
        <p:nvSpPr>
          <p:cNvPr id="78" name="テキスト ボックス 178"/>
          <p:cNvSpPr/>
          <p:nvPr/>
        </p:nvSpPr>
        <p:spPr>
          <a:xfrm>
            <a:off x="7809120" y="3602736"/>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solidFill>
                <a:effectLst/>
                <a:uFillTx/>
                <a:latin typeface="メイリオ"/>
                <a:ea typeface="メイリオ"/>
              </a:rPr>
              <a:t>なし（標準機能）</a:t>
            </a:r>
            <a:endParaRPr lang="en-US" sz="1200" b="0" u="none" strike="noStrike">
              <a:solidFill>
                <a:srgbClr val="000000"/>
              </a:solidFill>
              <a:effectLst/>
              <a:uFillTx/>
              <a:latin typeface="Arial"/>
            </a:endParaRPr>
          </a:p>
        </p:txBody>
      </p:sp>
      <p:sp>
        <p:nvSpPr>
          <p:cNvPr id="83" name="テキスト ボックス 188"/>
          <p:cNvSpPr/>
          <p:nvPr/>
        </p:nvSpPr>
        <p:spPr>
          <a:xfrm>
            <a:off x="7809120" y="3182112"/>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solidFill>
                <a:effectLst/>
                <a:uFillTx/>
                <a:latin typeface="メイリオ"/>
                <a:ea typeface="メイリオ"/>
              </a:rPr>
              <a:t>有（サイト・動画）</a:t>
            </a:r>
            <a:endParaRPr lang="en-US" sz="1200" b="0" u="none" strike="noStrike">
              <a:solidFill>
                <a:srgbClr val="000000"/>
              </a:solidFill>
              <a:effectLst/>
              <a:uFillTx/>
              <a:latin typeface="Arial"/>
            </a:endParaRPr>
          </a:p>
        </p:txBody>
      </p:sp>
      <p:sp>
        <p:nvSpPr>
          <p:cNvPr id="84" name="テキスト ボックス 190"/>
          <p:cNvSpPr/>
          <p:nvPr/>
        </p:nvSpPr>
        <p:spPr>
          <a:xfrm>
            <a:off x="7809120" y="4443984"/>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solidFill>
                <a:effectLst/>
                <a:uFillTx/>
                <a:latin typeface="メイリオ"/>
                <a:ea typeface="メイリオ"/>
              </a:rPr>
              <a:t>ボタンなし</a:t>
            </a:r>
            <a:endParaRPr lang="en-US" sz="1200" b="0" u="none" strike="noStrike">
              <a:solidFill>
                <a:srgbClr val="000000"/>
              </a:solidFill>
              <a:effectLst/>
              <a:uFillTx/>
              <a:latin typeface="Arial"/>
            </a:endParaRPr>
          </a:p>
        </p:txBody>
      </p:sp>
      <p:sp>
        <p:nvSpPr>
          <p:cNvPr id="85" name="テキスト ボックス 22"/>
          <p:cNvSpPr/>
          <p:nvPr/>
        </p:nvSpPr>
        <p:spPr>
          <a:xfrm>
            <a:off x="8928720" y="451080"/>
            <a:ext cx="977040" cy="3554280"/>
          </a:xfrm>
          <a:prstGeom prst="rect">
            <a:avLst/>
          </a:prstGeom>
          <a:solidFill>
            <a:schemeClr val="lt1">
              <a:alpha val="3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p:txBody>
      </p:sp>
      <p:pic>
        <p:nvPicPr>
          <p:cNvPr id="86" name="図 8"/>
          <p:cNvPicPr/>
          <p:nvPr/>
        </p:nvPicPr>
        <p:blipFill>
          <a:blip r:embed="rId4"/>
          <a:stretch/>
        </p:blipFill>
        <p:spPr>
          <a:xfrm>
            <a:off x="365760" y="1920240"/>
            <a:ext cx="1328040" cy="2697120"/>
          </a:xfrm>
          <a:prstGeom prst="rect">
            <a:avLst/>
          </a:prstGeom>
          <a:noFill/>
          <a:ln w="0">
            <a:noFill/>
          </a:ln>
        </p:spPr>
      </p:pic>
      <p:pic>
        <p:nvPicPr>
          <p:cNvPr id="87" name="図 23"/>
          <p:cNvPicPr/>
          <p:nvPr/>
        </p:nvPicPr>
        <p:blipFill>
          <a:blip r:embed="rId5"/>
          <a:srcRect t="4916" b="4368"/>
          <a:stretch/>
        </p:blipFill>
        <p:spPr>
          <a:xfrm>
            <a:off x="5064480" y="2088360"/>
            <a:ext cx="1268640" cy="2490480"/>
          </a:xfrm>
          <a:prstGeom prst="rect">
            <a:avLst/>
          </a:prstGeom>
          <a:noFill/>
          <a:ln w="0">
            <a:noFill/>
          </a:ln>
        </p:spPr>
      </p:pic>
      <p:sp>
        <p:nvSpPr>
          <p:cNvPr id="88" name="テキスト ボックス 25"/>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LINE</a:t>
            </a:r>
            <a:r>
              <a:rPr lang="zh-CN" sz="1400" b="0" u="none" strike="noStrike">
                <a:solidFill>
                  <a:schemeClr val="dk1"/>
                </a:solidFill>
                <a:effectLst/>
                <a:uFillTx/>
                <a:latin typeface="メイリオ"/>
                <a:ea typeface="メイリオ"/>
              </a:rPr>
              <a:t>公式アカウントの標準機能で運用中（</a:t>
            </a:r>
            <a:r>
              <a:rPr lang="en-US" sz="1400" b="0" u="none" strike="noStrike">
                <a:solidFill>
                  <a:schemeClr val="dk1"/>
                </a:solidFill>
                <a:effectLst/>
                <a:uFillTx/>
                <a:latin typeface="メイリオ"/>
                <a:ea typeface="メイリオ"/>
              </a:rPr>
              <a:t>L</a:t>
            </a:r>
            <a:r>
              <a:rPr lang="zh-CN" sz="1400" b="0" u="none" strike="noStrike">
                <a:solidFill>
                  <a:schemeClr val="dk1"/>
                </a:solidFill>
                <a:effectLst/>
                <a:uFillTx/>
                <a:latin typeface="メイリオ"/>
                <a:ea typeface="メイリオ"/>
              </a:rPr>
              <a:t>ステップ等のツールなし）。</a:t>
            </a:r>
            <a:endParaRPr lang="en-US" sz="1400" b="0" u="none" strike="noStrike">
              <a:solidFill>
                <a:srgbClr val="000000"/>
              </a:solidFill>
              <a:effectLst/>
              <a:uFillTx/>
              <a:latin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dirty="0" err="1">
                <a:solidFill>
                  <a:srgbClr val="002060"/>
                </a:solidFill>
                <a:effectLst/>
                <a:uFillTx/>
                <a:latin typeface="メイリオ"/>
                <a:ea typeface="メイリオ"/>
              </a:rPr>
              <a:t>LINEの現状：送る形は合っている。案内を足して厚くする</a:t>
            </a:r>
            <a:endParaRPr lang="en-US" sz="1600" b="0" u="none" strike="noStrike" dirty="0">
              <a:solidFill>
                <a:srgbClr val="000000"/>
              </a:solidFill>
              <a:effectLst/>
              <a:uFillTx/>
              <a:latin typeface="メイリオ"/>
            </a:endParaRPr>
          </a:p>
        </p:txBody>
      </p:sp>
      <p:pic>
        <p:nvPicPr>
          <p:cNvPr id="126" name="図 40"/>
          <p:cNvPicPr/>
          <p:nvPr/>
        </p:nvPicPr>
        <p:blipFill>
          <a:blip r:embed="rId3"/>
          <a:stretch/>
        </p:blipFill>
        <p:spPr>
          <a:xfrm>
            <a:off x="891769" y="1490400"/>
            <a:ext cx="1732320" cy="3519000"/>
          </a:xfrm>
          <a:prstGeom prst="rect">
            <a:avLst/>
          </a:prstGeom>
          <a:noFill/>
          <a:ln w="0">
            <a:noFill/>
          </a:ln>
        </p:spPr>
      </p:pic>
      <p:sp>
        <p:nvSpPr>
          <p:cNvPr id="127" name="テキスト ボックス 45"/>
          <p:cNvSpPr/>
          <p:nvPr/>
        </p:nvSpPr>
        <p:spPr>
          <a:xfrm>
            <a:off x="982489" y="1752120"/>
            <a:ext cx="1543320" cy="2862000"/>
          </a:xfrm>
          <a:prstGeom prst="rect">
            <a:avLst/>
          </a:prstGeom>
          <a:solidFill>
            <a:schemeClr val="bg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p:txBody>
      </p:sp>
      <p:pic>
        <p:nvPicPr>
          <p:cNvPr id="128" name="図 6"/>
          <p:cNvPicPr/>
          <p:nvPr/>
        </p:nvPicPr>
        <p:blipFill>
          <a:blip r:embed="rId4"/>
          <a:srcRect t="4916" b="4368"/>
          <a:stretch/>
        </p:blipFill>
        <p:spPr>
          <a:xfrm>
            <a:off x="991129" y="1734120"/>
            <a:ext cx="1546920" cy="3037320"/>
          </a:xfrm>
          <a:prstGeom prst="rect">
            <a:avLst/>
          </a:prstGeom>
          <a:noFill/>
          <a:ln w="0">
            <a:noFill/>
          </a:ln>
        </p:spPr>
      </p:pic>
      <p:pic>
        <p:nvPicPr>
          <p:cNvPr id="129" name="図 8"/>
          <p:cNvPicPr/>
          <p:nvPr/>
        </p:nvPicPr>
        <p:blipFill>
          <a:blip r:embed="rId3"/>
          <a:stretch/>
        </p:blipFill>
        <p:spPr>
          <a:xfrm>
            <a:off x="6440975" y="1490400"/>
            <a:ext cx="1614960" cy="3280680"/>
          </a:xfrm>
          <a:prstGeom prst="rect">
            <a:avLst/>
          </a:prstGeom>
          <a:noFill/>
          <a:ln w="0">
            <a:noFill/>
          </a:ln>
        </p:spPr>
      </p:pic>
      <p:pic>
        <p:nvPicPr>
          <p:cNvPr id="130" name="図 10"/>
          <p:cNvPicPr/>
          <p:nvPr/>
        </p:nvPicPr>
        <p:blipFill>
          <a:blip r:embed="rId3"/>
          <a:stretch/>
        </p:blipFill>
        <p:spPr>
          <a:xfrm>
            <a:off x="2763769" y="1490400"/>
            <a:ext cx="1732320" cy="3519000"/>
          </a:xfrm>
          <a:prstGeom prst="rect">
            <a:avLst/>
          </a:prstGeom>
          <a:noFill/>
          <a:ln w="0">
            <a:noFill/>
          </a:ln>
        </p:spPr>
      </p:pic>
      <p:pic>
        <p:nvPicPr>
          <p:cNvPr id="131" name="図 12"/>
          <p:cNvPicPr/>
          <p:nvPr/>
        </p:nvPicPr>
        <p:blipFill>
          <a:blip r:embed="rId5"/>
          <a:srcRect t="5778" b="2174"/>
          <a:stretch/>
        </p:blipFill>
        <p:spPr>
          <a:xfrm>
            <a:off x="6539975" y="1710360"/>
            <a:ext cx="1434600" cy="2857680"/>
          </a:xfrm>
          <a:prstGeom prst="rect">
            <a:avLst/>
          </a:prstGeom>
          <a:noFill/>
          <a:ln w="0">
            <a:noFill/>
          </a:ln>
        </p:spPr>
      </p:pic>
      <p:sp>
        <p:nvSpPr>
          <p:cNvPr id="132" name="テキスト ボックス 16"/>
          <p:cNvSpPr/>
          <p:nvPr/>
        </p:nvSpPr>
        <p:spPr>
          <a:xfrm>
            <a:off x="411480" y="5102280"/>
            <a:ext cx="4617360" cy="54828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300" b="0" u="none" strike="noStrike">
                <a:solidFill>
                  <a:schemeClr val="dk1">
                    <a:lumMod val="65000"/>
                    <a:lumOff val="35000"/>
                  </a:schemeClr>
                </a:solidFill>
                <a:effectLst/>
                <a:uFillTx/>
                <a:latin typeface="メイリオ"/>
                <a:ea typeface="メイリオ"/>
              </a:rPr>
              <a:t>あいさつで「気になる物件名」と「物件ページの</a:t>
            </a:r>
            <a:r>
              <a:rPr lang="en-US" sz="1300" b="0" u="none" strike="noStrike">
                <a:solidFill>
                  <a:schemeClr val="dk1">
                    <a:lumMod val="65000"/>
                    <a:lumOff val="35000"/>
                  </a:schemeClr>
                </a:solidFill>
                <a:effectLst/>
                <a:uFillTx/>
                <a:latin typeface="メイリオ"/>
                <a:ea typeface="メイリオ"/>
              </a:rPr>
              <a:t>URL</a:t>
            </a:r>
            <a:r>
              <a:rPr lang="ja-JP" sz="1300" b="0" u="none" strike="noStrike">
                <a:solidFill>
                  <a:schemeClr val="dk1">
                    <a:lumMod val="65000"/>
                    <a:lumOff val="35000"/>
                  </a:schemeClr>
                </a:solidFill>
                <a:effectLst/>
                <a:uFillTx/>
                <a:latin typeface="メイリオ"/>
                <a:ea typeface="メイリオ"/>
              </a:rPr>
              <a:t>」の</a:t>
            </a:r>
            <a:endParaRPr lang="en-US" sz="1300" b="0" u="none" strike="noStrike">
              <a:solidFill>
                <a:srgbClr val="000000"/>
              </a:solidFill>
              <a:effectLst/>
              <a:uFillTx/>
              <a:latin typeface="Arial"/>
            </a:endParaRPr>
          </a:p>
          <a:p>
            <a:pPr algn="ctr" defTabSz="914400">
              <a:lnSpc>
                <a:spcPct val="100000"/>
              </a:lnSpc>
            </a:pPr>
            <a:r>
              <a:rPr lang="ja-JP" sz="1300" b="0" u="none" strike="noStrike">
                <a:solidFill>
                  <a:schemeClr val="dk1">
                    <a:lumMod val="65000"/>
                    <a:lumOff val="35000"/>
                  </a:schemeClr>
                </a:solidFill>
                <a:effectLst/>
                <a:uFillTx/>
                <a:latin typeface="メイリオ"/>
                <a:ea typeface="メイリオ"/>
              </a:rPr>
              <a:t>送信をお願いし、やり取りが始まる形。</a:t>
            </a:r>
            <a:endParaRPr lang="en-US" sz="1300" b="0" u="none" strike="noStrike">
              <a:solidFill>
                <a:srgbClr val="000000"/>
              </a:solidFill>
              <a:effectLst/>
              <a:uFillTx/>
              <a:latin typeface="Arial"/>
            </a:endParaRPr>
          </a:p>
        </p:txBody>
      </p:sp>
      <p:sp>
        <p:nvSpPr>
          <p:cNvPr id="133" name="テキスト ボックス 18"/>
          <p:cNvSpPr/>
          <p:nvPr/>
        </p:nvSpPr>
        <p:spPr>
          <a:xfrm>
            <a:off x="5166360" y="5102280"/>
            <a:ext cx="4480200" cy="76788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300" b="0" u="none" strike="noStrike">
                <a:solidFill>
                  <a:schemeClr val="dk1">
                    <a:lumMod val="65000"/>
                    <a:lumOff val="35000"/>
                  </a:schemeClr>
                </a:solidFill>
                <a:effectLst/>
                <a:uFillTx/>
                <a:latin typeface="メイリオ"/>
                <a:ea typeface="メイリオ"/>
              </a:rPr>
              <a:t>プロフィールにサイト・紹介動画へのリンクを掲載。</a:t>
            </a:r>
            <a:endParaRPr lang="en-US" sz="1300" b="0" u="none" strike="noStrike">
              <a:solidFill>
                <a:srgbClr val="000000"/>
              </a:solidFill>
              <a:effectLst/>
              <a:uFillTx/>
              <a:latin typeface="Arial"/>
            </a:endParaRPr>
          </a:p>
          <a:p>
            <a:pPr algn="ctr" defTabSz="914400">
              <a:lnSpc>
                <a:spcPct val="100000"/>
              </a:lnSpc>
            </a:pPr>
            <a:r>
              <a:rPr lang="ja-JP" sz="1300" b="0" u="none" strike="noStrike">
                <a:solidFill>
                  <a:schemeClr val="dk1">
                    <a:lumMod val="65000"/>
                    <a:lumOff val="35000"/>
                  </a:schemeClr>
                </a:solidFill>
                <a:effectLst/>
                <a:uFillTx/>
                <a:latin typeface="メイリオ"/>
                <a:ea typeface="メイリオ"/>
              </a:rPr>
              <a:t>リッチメニューは未設置で、</a:t>
            </a:r>
            <a:br>
              <a:rPr sz="1300"/>
            </a:br>
            <a:r>
              <a:rPr lang="ja-JP" sz="1300" b="0" u="none" strike="noStrike">
                <a:solidFill>
                  <a:schemeClr val="dk1">
                    <a:lumMod val="65000"/>
                    <a:lumOff val="35000"/>
                  </a:schemeClr>
                </a:solidFill>
                <a:effectLst/>
                <a:uFillTx/>
                <a:latin typeface="メイリオ"/>
                <a:ea typeface="メイリオ"/>
              </a:rPr>
              <a:t>友だち追加後に次へ進む導線がない。</a:t>
            </a:r>
            <a:endParaRPr lang="en-US" sz="1300" b="0" u="none" strike="noStrike">
              <a:solidFill>
                <a:srgbClr val="000000"/>
              </a:solidFill>
              <a:effectLst/>
              <a:uFillTx/>
              <a:latin typeface="Arial"/>
            </a:endParaRPr>
          </a:p>
        </p:txBody>
      </p:sp>
      <p:pic>
        <p:nvPicPr>
          <p:cNvPr id="134" name="図 20"/>
          <p:cNvPicPr/>
          <p:nvPr/>
        </p:nvPicPr>
        <p:blipFill>
          <a:blip r:embed="rId6"/>
          <a:srcRect t="4508" b="3456"/>
          <a:stretch/>
        </p:blipFill>
        <p:spPr>
          <a:xfrm>
            <a:off x="2856649" y="1726560"/>
            <a:ext cx="1546920" cy="3081600"/>
          </a:xfrm>
          <a:prstGeom prst="rect">
            <a:avLst/>
          </a:prstGeom>
          <a:noFill/>
          <a:ln w="0">
            <a:noFill/>
          </a:ln>
        </p:spPr>
      </p:pic>
      <p:sp>
        <p:nvSpPr>
          <p:cNvPr id="135" name="テキスト ボックス 22"/>
          <p:cNvSpPr/>
          <p:nvPr/>
        </p:nvSpPr>
        <p:spPr>
          <a:xfrm>
            <a:off x="411480" y="5724000"/>
            <a:ext cx="4617360" cy="54828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300" b="0" u="none" strike="noStrike">
                <a:solidFill>
                  <a:schemeClr val="dk1">
                    <a:lumMod val="65000"/>
                    <a:lumOff val="35000"/>
                  </a:schemeClr>
                </a:solidFill>
                <a:effectLst/>
                <a:uFillTx/>
                <a:latin typeface="メイリオ"/>
                <a:ea typeface="メイリオ"/>
              </a:rPr>
              <a:t>あいさつの後にマンガ・動画を送り、</a:t>
            </a:r>
            <a:br>
              <a:rPr sz="1300"/>
            </a:br>
            <a:r>
              <a:rPr lang="ja-JP" sz="1300" b="0" u="none" strike="noStrike">
                <a:solidFill>
                  <a:schemeClr val="dk1">
                    <a:lumMod val="65000"/>
                    <a:lumOff val="35000"/>
                  </a:schemeClr>
                </a:solidFill>
                <a:effectLst/>
                <a:uFillTx/>
                <a:latin typeface="メイリオ"/>
                <a:ea typeface="メイリオ"/>
              </a:rPr>
              <a:t>サービスの理解を促している。</a:t>
            </a:r>
            <a:endParaRPr lang="en-US" sz="1300" b="0" u="none" strike="noStrike">
              <a:solidFill>
                <a:srgbClr val="000000"/>
              </a:solidFill>
              <a:effectLst/>
              <a:uFillTx/>
              <a:latin typeface="Arial"/>
            </a:endParaRPr>
          </a:p>
        </p:txBody>
      </p:sp>
      <p:cxnSp>
        <p:nvCxnSpPr>
          <p:cNvPr id="136" name="直線コネクタ 24"/>
          <p:cNvCxnSpPr/>
          <p:nvPr/>
        </p:nvCxnSpPr>
        <p:spPr>
          <a:xfrm>
            <a:off x="0" y="1390320"/>
            <a:ext cx="9906120" cy="360"/>
          </a:xfrm>
          <a:prstGeom prst="straightConnector1">
            <a:avLst/>
          </a:prstGeom>
          <a:ln w="19050">
            <a:solidFill>
              <a:schemeClr val="lt1">
                <a:lumMod val="85000"/>
                <a:alpha val="60000"/>
              </a:schemeClr>
            </a:solidFill>
            <a:round/>
          </a:ln>
        </p:spPr>
      </p:cxnSp>
      <p:sp>
        <p:nvSpPr>
          <p:cNvPr id="137" name="テキスト ボックス 27"/>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dk1">
                    <a:lumMod val="65000"/>
                    <a:lumOff val="35000"/>
                  </a:schemeClr>
                </a:solidFill>
                <a:effectLst/>
                <a:uFillTx/>
                <a:latin typeface="メイリオ"/>
                <a:ea typeface="メイリオ"/>
              </a:rPr>
              <a:t>あいさつで物件名・</a:t>
            </a:r>
            <a:r>
              <a:rPr lang="en-US" sz="1400" b="0" u="none" strike="noStrike" dirty="0">
                <a:solidFill>
                  <a:schemeClr val="dk1">
                    <a:lumMod val="65000"/>
                    <a:lumOff val="35000"/>
                  </a:schemeClr>
                </a:solidFill>
                <a:effectLst/>
                <a:uFillTx/>
                <a:latin typeface="メイリオ"/>
                <a:ea typeface="メイリオ"/>
              </a:rPr>
              <a:t>URL</a:t>
            </a:r>
            <a:r>
              <a:rPr lang="ja-JP" sz="1400" b="0" u="none" strike="noStrike" dirty="0">
                <a:solidFill>
                  <a:schemeClr val="dk1">
                    <a:lumMod val="65000"/>
                    <a:lumOff val="35000"/>
                  </a:schemeClr>
                </a:solidFill>
                <a:effectLst/>
                <a:uFillTx/>
                <a:latin typeface="メイリオ"/>
                <a:ea typeface="メイリオ"/>
              </a:rPr>
              <a:t>の送信をお願いする形は、</a:t>
            </a:r>
            <a:r>
              <a:rPr lang="en-US" sz="1400" b="0" u="none" strike="noStrike" dirty="0">
                <a:solidFill>
                  <a:schemeClr val="dk1">
                    <a:lumMod val="65000"/>
                    <a:lumOff val="35000"/>
                  </a:schemeClr>
                </a:solidFill>
                <a:effectLst/>
                <a:uFillTx/>
                <a:latin typeface="メイリオ"/>
                <a:ea typeface="メイリオ"/>
              </a:rPr>
              <a:t>100</a:t>
            </a:r>
            <a:r>
              <a:rPr lang="ja-JP" sz="1400" b="0" u="none" strike="noStrike" dirty="0">
                <a:solidFill>
                  <a:schemeClr val="dk1">
                    <a:lumMod val="65000"/>
                    <a:lumOff val="35000"/>
                  </a:schemeClr>
                </a:solidFill>
                <a:effectLst/>
                <a:uFillTx/>
                <a:latin typeface="メイリオ"/>
                <a:ea typeface="メイリオ"/>
              </a:rPr>
              <a:t>円賃貸の使い方に</a:t>
            </a:r>
            <a:r>
              <a:rPr lang="ja-JP" altLang="en-US" sz="1400" b="0" u="none" strike="noStrike" dirty="0">
                <a:solidFill>
                  <a:schemeClr val="dk1">
                    <a:lumMod val="65000"/>
                    <a:lumOff val="35000"/>
                  </a:schemeClr>
                </a:solidFill>
                <a:effectLst/>
                <a:uFillTx/>
                <a:latin typeface="メイリオ"/>
                <a:ea typeface="メイリオ"/>
              </a:rPr>
              <a:t>最適</a:t>
            </a:r>
            <a:endParaRPr lang="en-US" sz="1400" b="0" u="none" strike="noStrike" dirty="0">
              <a:solidFill>
                <a:srgbClr val="000000"/>
              </a:solidFill>
              <a:effectLst/>
              <a:uFillTx/>
              <a:latin typeface="Arial"/>
            </a:endParaRPr>
          </a:p>
          <a:p>
            <a:pPr algn="ctr" defTabSz="914400">
              <a:lnSpc>
                <a:spcPct val="100000"/>
              </a:lnSpc>
            </a:pPr>
            <a:r>
              <a:rPr lang="ja-JP" sz="1400" b="1" u="none" strike="noStrike" dirty="0">
                <a:solidFill>
                  <a:schemeClr val="dk1">
                    <a:lumMod val="65000"/>
                    <a:lumOff val="35000"/>
                  </a:schemeClr>
                </a:solidFill>
                <a:effectLst/>
                <a:uFillTx/>
                <a:latin typeface="メイリオ"/>
                <a:ea typeface="メイリオ"/>
              </a:rPr>
              <a:t>送るメリット・安心材料やボタン、リッチメニューを足し、フォームで計測を</a:t>
            </a:r>
            <a:r>
              <a:rPr lang="ja-JP" altLang="en-US" sz="1400" b="1" dirty="0">
                <a:solidFill>
                  <a:schemeClr val="dk1">
                    <a:lumMod val="65000"/>
                    <a:lumOff val="35000"/>
                  </a:schemeClr>
                </a:solidFill>
                <a:latin typeface="メイリオ"/>
                <a:ea typeface="メイリオ"/>
              </a:rPr>
              <a:t>実施</a:t>
            </a:r>
            <a:endParaRPr lang="en-US" sz="1400" b="0" u="none" strike="noStrike" dirty="0">
              <a:solidFill>
                <a:srgbClr val="000000"/>
              </a:solidFill>
              <a:effectLst/>
              <a:uFillTx/>
              <a:latin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8"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市場：家賃が上がる今、初期費用の負担感に応える</a:t>
            </a:r>
            <a:endParaRPr lang="en-US" sz="1600" b="0" u="none" strike="noStrike">
              <a:solidFill>
                <a:srgbClr val="000000"/>
              </a:solidFill>
              <a:effectLst/>
              <a:uFillTx/>
              <a:latin typeface="メイリオ"/>
            </a:endParaRPr>
          </a:p>
        </p:txBody>
      </p:sp>
      <p:sp>
        <p:nvSpPr>
          <p:cNvPr id="139"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140"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141"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142"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dk1">
                    <a:lumMod val="65000"/>
                    <a:lumOff val="35000"/>
                  </a:schemeClr>
                </a:solidFill>
                <a:effectLst/>
                <a:uFillTx/>
                <a:latin typeface="メイリオ"/>
                <a:ea typeface="メイリオ"/>
              </a:rPr>
              <a:t>家賃が上がる今、仲介手数料・初期費用への負担感に応えること</a:t>
            </a:r>
            <a:r>
              <a:rPr lang="ja-JP" altLang="en-US" sz="1400" b="0" u="none" strike="noStrike" dirty="0">
                <a:solidFill>
                  <a:schemeClr val="dk1">
                    <a:lumMod val="65000"/>
                    <a:lumOff val="35000"/>
                  </a:schemeClr>
                </a:solidFill>
                <a:effectLst/>
                <a:uFillTx/>
                <a:latin typeface="メイリオ"/>
                <a:ea typeface="メイリオ"/>
              </a:rPr>
              <a:t>が</a:t>
            </a:r>
            <a:r>
              <a:rPr lang="ja-JP" sz="1400" b="0" u="none" strike="noStrike" dirty="0">
                <a:solidFill>
                  <a:schemeClr val="dk1">
                    <a:lumMod val="65000"/>
                    <a:lumOff val="35000"/>
                  </a:schemeClr>
                </a:solidFill>
                <a:effectLst/>
                <a:uFillTx/>
                <a:latin typeface="メイリオ"/>
                <a:ea typeface="メイリオ"/>
              </a:rPr>
              <a:t>、提案の軸</a:t>
            </a:r>
            <a:endParaRPr lang="en-US" sz="1400" b="0" u="none" strike="noStrike" dirty="0">
              <a:solidFill>
                <a:srgbClr val="000000"/>
              </a:solidFill>
              <a:effectLst/>
              <a:uFillTx/>
              <a:latin typeface="Arial"/>
            </a:endParaRPr>
          </a:p>
          <a:p>
            <a:pPr algn="ctr" defTabSz="914400">
              <a:lnSpc>
                <a:spcPct val="100000"/>
              </a:lnSpc>
            </a:pPr>
            <a:r>
              <a:rPr lang="ja-JP" sz="1400" b="1" u="none" strike="noStrike" dirty="0">
                <a:solidFill>
                  <a:schemeClr val="dk1">
                    <a:lumMod val="65000"/>
                    <a:lumOff val="35000"/>
                  </a:schemeClr>
                </a:solidFill>
                <a:effectLst/>
                <a:uFillTx/>
                <a:latin typeface="メイリオ"/>
                <a:ea typeface="メイリオ"/>
              </a:rPr>
              <a:t>物件の</a:t>
            </a:r>
            <a:r>
              <a:rPr lang="en-US" sz="1400" b="1" u="none" strike="noStrike" dirty="0">
                <a:solidFill>
                  <a:schemeClr val="dk1">
                    <a:lumMod val="65000"/>
                    <a:lumOff val="35000"/>
                  </a:schemeClr>
                </a:solidFill>
                <a:effectLst/>
                <a:uFillTx/>
                <a:latin typeface="メイリオ"/>
                <a:ea typeface="メイリオ"/>
              </a:rPr>
              <a:t>URL</a:t>
            </a:r>
            <a:r>
              <a:rPr lang="ja-JP" sz="1400" b="1" u="none" strike="noStrike" dirty="0">
                <a:solidFill>
                  <a:schemeClr val="dk1">
                    <a:lumMod val="65000"/>
                    <a:lumOff val="35000"/>
                  </a:schemeClr>
                </a:solidFill>
                <a:effectLst/>
                <a:uFillTx/>
                <a:latin typeface="メイリオ"/>
                <a:ea typeface="メイリオ"/>
              </a:rPr>
              <a:t>を</a:t>
            </a:r>
            <a:r>
              <a:rPr lang="en-US" sz="1400" b="1" u="none" strike="noStrike" dirty="0">
                <a:solidFill>
                  <a:schemeClr val="dk1">
                    <a:lumMod val="65000"/>
                    <a:lumOff val="35000"/>
                  </a:schemeClr>
                </a:solidFill>
                <a:effectLst/>
                <a:uFillTx/>
                <a:latin typeface="メイリオ"/>
                <a:ea typeface="メイリオ"/>
              </a:rPr>
              <a:t>LINE</a:t>
            </a:r>
            <a:r>
              <a:rPr lang="ja-JP" sz="1400" b="1" u="none" strike="noStrike" dirty="0">
                <a:solidFill>
                  <a:schemeClr val="dk1">
                    <a:lumMod val="65000"/>
                    <a:lumOff val="35000"/>
                  </a:schemeClr>
                </a:solidFill>
                <a:effectLst/>
                <a:uFillTx/>
                <a:latin typeface="メイリオ"/>
                <a:ea typeface="メイリオ"/>
              </a:rPr>
              <a:t>で送るだけで相談できるサービスも出ており、</a:t>
            </a:r>
            <a:r>
              <a:rPr lang="en-US" sz="1400" b="1" u="none" strike="noStrike" dirty="0">
                <a:solidFill>
                  <a:schemeClr val="dk1">
                    <a:lumMod val="65000"/>
                    <a:lumOff val="35000"/>
                  </a:schemeClr>
                </a:solidFill>
                <a:effectLst/>
                <a:uFillTx/>
                <a:latin typeface="メイリオ"/>
                <a:ea typeface="メイリオ"/>
              </a:rPr>
              <a:t>LINE</a:t>
            </a:r>
            <a:r>
              <a:rPr lang="ja-JP" sz="1400" b="1" u="none" strike="noStrike" dirty="0">
                <a:solidFill>
                  <a:schemeClr val="dk1">
                    <a:lumMod val="65000"/>
                    <a:lumOff val="35000"/>
                  </a:schemeClr>
                </a:solidFill>
                <a:effectLst/>
                <a:uFillTx/>
                <a:latin typeface="メイリオ"/>
                <a:ea typeface="メイリオ"/>
              </a:rPr>
              <a:t>での受け口が</a:t>
            </a:r>
            <a:r>
              <a:rPr lang="ja-JP" altLang="en-US" sz="1400" b="1" dirty="0">
                <a:solidFill>
                  <a:schemeClr val="dk1">
                    <a:lumMod val="65000"/>
                    <a:lumOff val="35000"/>
                  </a:schemeClr>
                </a:solidFill>
                <a:latin typeface="メイリオ"/>
                <a:ea typeface="メイリオ"/>
              </a:rPr>
              <a:t>不可欠</a:t>
            </a:r>
            <a:endParaRPr lang="en-US" sz="1400" b="0" u="none" strike="noStrike" dirty="0">
              <a:solidFill>
                <a:srgbClr val="000000"/>
              </a:solidFill>
              <a:effectLst/>
              <a:uFillTx/>
              <a:latin typeface="Arial"/>
            </a:endParaRPr>
          </a:p>
        </p:txBody>
      </p:sp>
      <p:sp>
        <p:nvSpPr>
          <p:cNvPr id="143" name="Card1_Num"/>
          <p:cNvSpPr/>
          <p:nvPr/>
        </p:nvSpPr>
        <p:spPr>
          <a:xfrm>
            <a:off x="384048" y="1481328"/>
            <a:ext cx="2180844" cy="512064"/>
          </a:xfrm>
          <a:prstGeom prst="rect">
            <a:avLst/>
          </a:prstGeom>
          <a:solidFill>
            <a:srgbClr val="1F2A5C"/>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01</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144" name="Card1_Title"/>
          <p:cNvSpPr/>
          <p:nvPr/>
        </p:nvSpPr>
        <p:spPr>
          <a:xfrm>
            <a:off x="384048" y="1993392"/>
            <a:ext cx="2180844" cy="457200"/>
          </a:xfrm>
          <a:prstGeom prst="rect">
            <a:avLst/>
          </a:prstGeom>
          <a:solidFill>
            <a:srgbClr val="FFFFFF"/>
          </a:solidFill>
          <a:ln w="6350">
            <a:solidFill>
              <a:srgbClr val="1F2A5C"/>
            </a:solidFill>
            <a:round/>
          </a:ln>
        </p:spPr>
        <p:style>
          <a:lnRef idx="0">
            <a:scrgbClr r="0" g="0" b="0"/>
          </a:lnRef>
          <a:fillRef idx="0">
            <a:scrgbClr r="0" g="0" b="0"/>
          </a:fillRef>
          <a:effectRef idx="0">
            <a:scrgbClr r="0" g="0" b="0"/>
          </a:effectRef>
          <a:fontRef idx="minor"/>
        </p:style>
        <p:txBody>
          <a:bodyPr lIns="73152" tIns="101520" rIns="73152" bIns="101520" anchor="ctr">
            <a:noAutofit/>
          </a:bodyPr>
          <a:lstStyle/>
          <a:p>
            <a:pPr defTabSz="914400">
              <a:lnSpc>
                <a:spcPct val="100000"/>
              </a:lnSpc>
            </a:pPr>
            <a:r>
              <a:rPr lang="ja-JP" sz="1400" b="1" u="none" strike="noStrike">
                <a:solidFill>
                  <a:srgbClr val="1F2A5C"/>
                </a:solidFill>
                <a:effectLst/>
                <a:uFillTx/>
                <a:latin typeface="メイリオ" panose="020B0604030504040204" pitchFamily="50" charset="-128"/>
                <a:ea typeface="メイリオ" panose="020B0604030504040204" pitchFamily="50" charset="-128"/>
              </a:rPr>
              <a:t>家賃の上昇（市場背景）</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45" name="Card1_Body"/>
          <p:cNvSpPr/>
          <p:nvPr/>
        </p:nvSpPr>
        <p:spPr>
          <a:xfrm>
            <a:off x="384048" y="2450592"/>
            <a:ext cx="2180844" cy="3584448"/>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09728" tIns="152280" rIns="109728" bIns="152280" anchor="t">
            <a:noAutofit/>
          </a:bodyPr>
          <a:lstStyle/>
          <a:p>
            <a:pPr defTabSz="914400">
              <a:lnSpc>
                <a:spcPct val="100000"/>
              </a:lnSpc>
              <a:spcBef>
                <a:spcPts val="201"/>
              </a:spcBef>
              <a:spcAft>
                <a:spcPts val="601"/>
              </a:spcAft>
            </a:pPr>
            <a:r>
              <a:rPr lang="ja-JP" sz="1400" b="1" u="none" strike="noStrike" dirty="0">
                <a:solidFill>
                  <a:srgbClr val="333333"/>
                </a:solidFill>
                <a:effectLst/>
                <a:uFillTx/>
                <a:latin typeface="メイリオ" panose="020B0604030504040204" pitchFamily="50" charset="-128"/>
                <a:ea typeface="メイリオ" panose="020B0604030504040204" pitchFamily="50" charset="-128"/>
              </a:rPr>
              <a:t>【市場データ】</a:t>
            </a:r>
            <a:endParaRPr lang="en-US" altLang="ja-JP" sz="1400" b="1" u="none" strike="noStrike" dirty="0">
              <a:solidFill>
                <a:srgbClr val="333333"/>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spcAft>
                <a:spcPts val="601"/>
              </a:spcAft>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東京</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23</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区のシングル向き（</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30</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㎡以下）マンションの平均家賃は、</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2025</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年</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5</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月に初めて</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10</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万円を超えた</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spcAft>
                <a:spcPts val="601"/>
              </a:spcAft>
            </a:pPr>
            <a:r>
              <a:rPr lang="ja-JP" sz="1400" b="1" u="none" strike="noStrike" dirty="0">
                <a:solidFill>
                  <a:srgbClr val="333333"/>
                </a:solidFill>
                <a:effectLst/>
                <a:uFillTx/>
                <a:latin typeface="メイリオ" panose="020B0604030504040204" pitchFamily="50" charset="-128"/>
                <a:ea typeface="メイリオ" panose="020B0604030504040204" pitchFamily="50" charset="-128"/>
              </a:rPr>
              <a:t>【提案上の仮説】</a:t>
            </a:r>
            <a:endParaRPr lang="en-US" altLang="ja-JP" sz="1400" b="1" u="none" strike="noStrike" dirty="0">
              <a:solidFill>
                <a:srgbClr val="333333"/>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spcAft>
                <a:spcPts val="601"/>
              </a:spcAft>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家賃の上昇で、仲介手数料・初期費用への負担感が高まると考えられる</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p:txBody>
      </p:sp>
      <p:sp>
        <p:nvSpPr>
          <p:cNvPr id="146" name="Card2_Num"/>
          <p:cNvSpPr/>
          <p:nvPr/>
        </p:nvSpPr>
        <p:spPr>
          <a:xfrm>
            <a:off x="2702051" y="1481328"/>
            <a:ext cx="2180844" cy="512064"/>
          </a:xfrm>
          <a:prstGeom prst="rect">
            <a:avLst/>
          </a:prstGeom>
          <a:solidFill>
            <a:srgbClr val="4A6FA5"/>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02</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147" name="Card2_Title"/>
          <p:cNvSpPr/>
          <p:nvPr/>
        </p:nvSpPr>
        <p:spPr>
          <a:xfrm>
            <a:off x="2702051" y="1993392"/>
            <a:ext cx="2180844" cy="457200"/>
          </a:xfrm>
          <a:prstGeom prst="rect">
            <a:avLst/>
          </a:prstGeom>
          <a:solidFill>
            <a:srgbClr val="FFFFFF"/>
          </a:solidFill>
          <a:ln w="6350">
            <a:solidFill>
              <a:srgbClr val="4A6FA5"/>
            </a:solidFill>
            <a:round/>
          </a:ln>
        </p:spPr>
        <p:style>
          <a:lnRef idx="0">
            <a:scrgbClr r="0" g="0" b="0"/>
          </a:lnRef>
          <a:fillRef idx="0">
            <a:scrgbClr r="0" g="0" b="0"/>
          </a:fillRef>
          <a:effectRef idx="0">
            <a:scrgbClr r="0" g="0" b="0"/>
          </a:effectRef>
          <a:fontRef idx="minor"/>
        </p:style>
        <p:txBody>
          <a:bodyPr lIns="73152" tIns="101520" rIns="73152" bIns="101520" anchor="ctr">
            <a:noAutofit/>
          </a:bodyPr>
          <a:lstStyle/>
          <a:p>
            <a:pPr defTabSz="914400">
              <a:lnSpc>
                <a:spcPct val="100000"/>
              </a:lnSpc>
            </a:pPr>
            <a:r>
              <a:rPr lang="ja-JP" sz="1400" b="1" u="none" strike="noStrike">
                <a:solidFill>
                  <a:srgbClr val="4A6FA5"/>
                </a:solidFill>
                <a:effectLst/>
                <a:uFillTx/>
                <a:latin typeface="メイリオ" panose="020B0604030504040204" pitchFamily="50" charset="-128"/>
                <a:ea typeface="メイリオ" panose="020B0604030504040204" pitchFamily="50" charset="-128"/>
              </a:rPr>
              <a:t>ポータルサイトで探す</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48" name="Card2_Body"/>
          <p:cNvSpPr/>
          <p:nvPr/>
        </p:nvSpPr>
        <p:spPr>
          <a:xfrm>
            <a:off x="2702051" y="2450592"/>
            <a:ext cx="2180844" cy="3584448"/>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09728" tIns="152280" rIns="109728"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・住まいの探し方は「不動産ポータルサイトで検索」がトップ（引越し経験者</a:t>
            </a:r>
            <a:r>
              <a:rPr lang="en-US" sz="1400" b="0" u="none" strike="noStrike">
                <a:solidFill>
                  <a:srgbClr val="333333"/>
                </a:solidFill>
                <a:effectLst/>
                <a:uFillTx/>
                <a:latin typeface="メイリオ" panose="020B0604030504040204" pitchFamily="50" charset="-128"/>
                <a:ea typeface="メイリオ" panose="020B0604030504040204" pitchFamily="50" charset="-128"/>
              </a:rPr>
              <a:t>66.8</a:t>
            </a:r>
            <a:r>
              <a:rPr lang="ja-JP" sz="1400" b="0" u="none" strike="noStrike">
                <a:solidFill>
                  <a:srgbClr val="333333"/>
                </a:solidFill>
                <a:effectLst/>
                <a:uFillTx/>
                <a:latin typeface="メイリオ" panose="020B0604030504040204" pitchFamily="50" charset="-128"/>
                <a:ea typeface="メイリオ" panose="020B0604030504040204" pitchFamily="50" charset="-128"/>
              </a:rPr>
              <a:t>％・検討者</a:t>
            </a:r>
            <a:r>
              <a:rPr lang="en-US" sz="1400" b="0" u="none" strike="noStrike">
                <a:solidFill>
                  <a:srgbClr val="333333"/>
                </a:solidFill>
                <a:effectLst/>
                <a:uFillTx/>
                <a:latin typeface="メイリオ" panose="020B0604030504040204" pitchFamily="50" charset="-128"/>
                <a:ea typeface="メイリオ" panose="020B0604030504040204" pitchFamily="50" charset="-128"/>
              </a:rPr>
              <a:t>73.2</a:t>
            </a: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49" name="Card1_Num"/>
          <p:cNvSpPr/>
          <p:nvPr/>
        </p:nvSpPr>
        <p:spPr>
          <a:xfrm>
            <a:off x="5020055" y="1481328"/>
            <a:ext cx="2180844" cy="512064"/>
          </a:xfrm>
          <a:prstGeom prst="rect">
            <a:avLst/>
          </a:prstGeom>
          <a:solidFill>
            <a:srgbClr val="5B7DB1"/>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03</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150" name="Card1_Title"/>
          <p:cNvSpPr/>
          <p:nvPr/>
        </p:nvSpPr>
        <p:spPr>
          <a:xfrm>
            <a:off x="5020055" y="1993392"/>
            <a:ext cx="2180844" cy="457200"/>
          </a:xfrm>
          <a:prstGeom prst="rect">
            <a:avLst/>
          </a:prstGeom>
          <a:solidFill>
            <a:srgbClr val="FFFFFF"/>
          </a:solidFill>
          <a:ln w="6350">
            <a:solidFill>
              <a:srgbClr val="5B7DB1"/>
            </a:solidFill>
            <a:round/>
          </a:ln>
        </p:spPr>
        <p:style>
          <a:lnRef idx="0">
            <a:scrgbClr r="0" g="0" b="0"/>
          </a:lnRef>
          <a:fillRef idx="0">
            <a:scrgbClr r="0" g="0" b="0"/>
          </a:fillRef>
          <a:effectRef idx="0">
            <a:scrgbClr r="0" g="0" b="0"/>
          </a:effectRef>
          <a:fontRef idx="minor"/>
        </p:style>
        <p:txBody>
          <a:bodyPr lIns="73152" tIns="101520" rIns="73152" bIns="101520" anchor="ctr">
            <a:noAutofit/>
          </a:bodyPr>
          <a:lstStyle/>
          <a:p>
            <a:pPr defTabSz="914400">
              <a:lnSpc>
                <a:spcPct val="100000"/>
              </a:lnSpc>
            </a:pPr>
            <a:r>
              <a:rPr lang="ja-JP" sz="1400" b="1" u="none" strike="noStrike">
                <a:solidFill>
                  <a:srgbClr val="5B7DB1"/>
                </a:solidFill>
                <a:effectLst/>
                <a:uFillTx/>
                <a:latin typeface="メイリオ" panose="020B0604030504040204" pitchFamily="50" charset="-128"/>
                <a:ea typeface="メイリオ" panose="020B0604030504040204" pitchFamily="50" charset="-128"/>
              </a:rPr>
              <a:t>文字でのやり取りを希望</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51" name="Card1_Body"/>
          <p:cNvSpPr/>
          <p:nvPr/>
        </p:nvSpPr>
        <p:spPr>
          <a:xfrm>
            <a:off x="5020055" y="2450592"/>
            <a:ext cx="2180844" cy="3584448"/>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09728" tIns="152280" rIns="109728"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・内見予約のやり取りの希望は、電話</a:t>
            </a:r>
            <a:r>
              <a:rPr lang="en-US" sz="1400" b="0" u="none" strike="noStrike">
                <a:solidFill>
                  <a:srgbClr val="333333"/>
                </a:solidFill>
                <a:effectLst/>
                <a:uFillTx/>
                <a:latin typeface="メイリオ" panose="020B0604030504040204" pitchFamily="50" charset="-128"/>
                <a:ea typeface="メイリオ" panose="020B0604030504040204" pitchFamily="50" charset="-128"/>
              </a:rPr>
              <a:t>33.4</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％に対し、メール・</a:t>
            </a:r>
            <a:r>
              <a:rPr lang="en-US" sz="1400" b="0" u="none" strike="noStrike">
                <a:solidFill>
                  <a:srgbClr val="333333"/>
                </a:solidFill>
                <a:effectLst/>
                <a:uFillTx/>
                <a:latin typeface="メイリオ" panose="020B0604030504040204" pitchFamily="50" charset="-128"/>
                <a:ea typeface="メイリオ" panose="020B0604030504040204" pitchFamily="50" charset="-128"/>
              </a:rPr>
              <a:t>SMS</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が</a:t>
            </a:r>
            <a:r>
              <a:rPr lang="en-US" sz="1400" b="0" u="none" strike="noStrike">
                <a:solidFill>
                  <a:srgbClr val="333333"/>
                </a:solidFill>
                <a:effectLst/>
                <a:uFillTx/>
                <a:latin typeface="メイリオ" panose="020B0604030504040204" pitchFamily="50" charset="-128"/>
                <a:ea typeface="メイリオ" panose="020B0604030504040204" pitchFamily="50" charset="-128"/>
              </a:rPr>
              <a:t>52.6</a:t>
            </a: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52" name="Card3_Num"/>
          <p:cNvSpPr/>
          <p:nvPr/>
        </p:nvSpPr>
        <p:spPr>
          <a:xfrm>
            <a:off x="7338059" y="1481328"/>
            <a:ext cx="2180844" cy="512064"/>
          </a:xfrm>
          <a:prstGeom prst="rect">
            <a:avLst/>
          </a:prstGeom>
          <a:solidFill>
            <a:schemeClr val="bg1">
              <a:lumMod val="75000"/>
            </a:schemeClr>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04</a:t>
            </a:r>
            <a:endParaRPr lang="en-US" sz="2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53" name="Card3_Title"/>
          <p:cNvSpPr/>
          <p:nvPr/>
        </p:nvSpPr>
        <p:spPr>
          <a:xfrm>
            <a:off x="7338059" y="1993392"/>
            <a:ext cx="2180844" cy="457200"/>
          </a:xfrm>
          <a:prstGeom prst="rect">
            <a:avLst/>
          </a:prstGeom>
          <a:solidFill>
            <a:srgbClr val="FFFFFF"/>
          </a:solidFill>
          <a:ln w="6350">
            <a:solidFill>
              <a:srgbClr val="FFFFFF">
                <a:lumMod val="75000"/>
              </a:srgbClr>
            </a:solidFill>
            <a:round/>
          </a:ln>
        </p:spPr>
        <p:style>
          <a:lnRef idx="0">
            <a:scrgbClr r="0" g="0" b="0"/>
          </a:lnRef>
          <a:fillRef idx="0">
            <a:scrgbClr r="0" g="0" b="0"/>
          </a:fillRef>
          <a:effectRef idx="0">
            <a:scrgbClr r="0" g="0" b="0"/>
          </a:effectRef>
          <a:fontRef idx="minor"/>
        </p:style>
        <p:txBody>
          <a:bodyPr lIns="73152" tIns="101520" rIns="73152" bIns="101520" anchor="ctr">
            <a:noAutofit/>
          </a:bodyPr>
          <a:lstStyle/>
          <a:p>
            <a:pPr defTabSz="914400">
              <a:lnSpc>
                <a:spcPct val="100000"/>
              </a:lnSpc>
            </a:pPr>
            <a:r>
              <a:rPr lang="en-US" sz="1400" b="1" u="none" strike="noStrike">
                <a:solidFill>
                  <a:schemeClr val="dk1">
                    <a:lumMod val="65000"/>
                    <a:lumOff val="35000"/>
                  </a:schemeClr>
                </a:solidFill>
                <a:effectLst/>
                <a:uFillTx/>
                <a:latin typeface="メイリオ" panose="020B0604030504040204" pitchFamily="50" charset="-128"/>
                <a:ea typeface="メイリオ" panose="020B0604030504040204" pitchFamily="50" charset="-128"/>
              </a:rPr>
              <a:t>URLを送るだけの競合</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54" name="Card3_Body"/>
          <p:cNvSpPr/>
          <p:nvPr/>
        </p:nvSpPr>
        <p:spPr>
          <a:xfrm>
            <a:off x="7338059" y="2450592"/>
            <a:ext cx="2180844" cy="3584448"/>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09728" tIns="152280" rIns="109728"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・タダスム：見つけた物件の</a:t>
            </a:r>
            <a:r>
              <a:rPr lang="en-US" sz="1400" b="0" u="none" strike="noStrike">
                <a:solidFill>
                  <a:srgbClr val="333333"/>
                </a:solidFill>
                <a:effectLst/>
                <a:uFillTx/>
                <a:latin typeface="メイリオ" panose="020B0604030504040204" pitchFamily="50" charset="-128"/>
                <a:ea typeface="メイリオ" panose="020B0604030504040204" pitchFamily="50" charset="-128"/>
              </a:rPr>
              <a:t>URL</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を</a:t>
            </a:r>
            <a:r>
              <a:rPr lang="en-US" sz="1400" b="0" u="none" strike="noStrike">
                <a:solidFill>
                  <a:srgbClr val="333333"/>
                </a:solidFill>
                <a:effectLst/>
                <a:uFillTx/>
                <a:latin typeface="メイリオ" panose="020B0604030504040204" pitchFamily="50" charset="-128"/>
                <a:ea typeface="メイリオ" panose="020B0604030504040204" pitchFamily="50" charset="-128"/>
              </a:rPr>
              <a:t>LINE</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で送ると、空室確認・内見調整。仲介手数料は「</a:t>
            </a:r>
            <a:r>
              <a:rPr lang="en-US" sz="1400" b="0" u="none" strike="noStrike">
                <a:solidFill>
                  <a:srgbClr val="333333"/>
                </a:solidFill>
                <a:effectLst/>
                <a:uFillTx/>
                <a:latin typeface="メイリオ" panose="020B0604030504040204" pitchFamily="50" charset="-128"/>
                <a:ea typeface="メイリオ" panose="020B0604030504040204" pitchFamily="50" charset="-128"/>
              </a:rPr>
              <a:t>0</a:t>
            </a:r>
            <a:r>
              <a:rPr lang="ja-JP" sz="1400" b="0" u="none" strike="noStrike">
                <a:solidFill>
                  <a:srgbClr val="333333"/>
                </a:solidFill>
                <a:effectLst/>
                <a:uFillTx/>
                <a:latin typeface="メイリオ" panose="020B0604030504040204" pitchFamily="50" charset="-128"/>
                <a:ea typeface="メイリオ" panose="020B0604030504040204" pitchFamily="50" charset="-128"/>
              </a:rPr>
              <a:t>円</a:t>
            </a:r>
            <a:r>
              <a:rPr lang="en-US" sz="1400" b="0" u="none" strike="noStrike">
                <a:solidFill>
                  <a:srgbClr val="333333"/>
                </a:solidFill>
                <a:effectLst/>
                <a:uFillTx/>
                <a:latin typeface="メイリオ" panose="020B0604030504040204" pitchFamily="50" charset="-128"/>
                <a:ea typeface="メイリオ" panose="020B0604030504040204" pitchFamily="50" charset="-128"/>
              </a:rPr>
              <a:t>or</a:t>
            </a:r>
            <a:r>
              <a:rPr lang="ja-JP" sz="1400" b="0" u="none" strike="noStrike">
                <a:solidFill>
                  <a:srgbClr val="333333"/>
                </a:solidFill>
                <a:effectLst/>
                <a:uFillTx/>
                <a:latin typeface="メイリオ" panose="020B0604030504040204" pitchFamily="50" charset="-128"/>
                <a:ea typeface="メイリオ" panose="020B0604030504040204" pitchFamily="50" charset="-128"/>
              </a:rPr>
              <a:t>最大</a:t>
            </a:r>
            <a:r>
              <a:rPr lang="en-US" sz="1400" b="0" u="none" strike="noStrike">
                <a:solidFill>
                  <a:srgbClr val="333333"/>
                </a:solidFill>
                <a:effectLst/>
                <a:uFillTx/>
                <a:latin typeface="メイリオ" panose="020B0604030504040204" pitchFamily="50" charset="-128"/>
                <a:ea typeface="メイリオ" panose="020B0604030504040204" pitchFamily="50" charset="-128"/>
              </a:rPr>
              <a:t>50%</a:t>
            </a: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2"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03"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04"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rPr>
              <a:t>課題：サイトの取りこぼし・送る前のためらい・追加後の導線不足</a:t>
            </a:r>
            <a:endParaRPr lang="en-US" sz="1600" b="0" u="none" strike="noStrike">
              <a:solidFill>
                <a:srgbClr val="000000"/>
              </a:solidFill>
              <a:effectLst/>
              <a:uFillTx/>
              <a:latin typeface="メイリオ"/>
            </a:endParaRPr>
          </a:p>
        </p:txBody>
      </p:sp>
      <p:sp>
        <p:nvSpPr>
          <p:cNvPr id="305" name="Conclusion"/>
          <p:cNvSpPr/>
          <p:nvPr/>
        </p:nvSpPr>
        <p:spPr>
          <a:xfrm>
            <a:off x="380880" y="5248800"/>
            <a:ext cx="9143640" cy="1243080"/>
          </a:xfrm>
          <a:prstGeom prst="rect">
            <a:avLst/>
          </a:prstGeom>
          <a:solidFill>
            <a:srgbClr val="F0F2F7"/>
          </a:solidFill>
          <a:ln w="0">
            <a:noFill/>
          </a:ln>
        </p:spPr>
        <p:style>
          <a:lnRef idx="0">
            <a:scrgbClr r="0" g="0" b="0"/>
          </a:lnRef>
          <a:fillRef idx="0">
            <a:scrgbClr r="0" g="0" b="0"/>
          </a:fillRef>
          <a:effectRef idx="0">
            <a:scrgbClr r="0" g="0" b="0"/>
          </a:effectRef>
          <a:fontRef idx="minor"/>
        </p:style>
        <p:txBody>
          <a:bodyPr lIns="177840" tIns="127080" rIns="177840" bIns="127080" anchor="t">
            <a:noAutofit/>
          </a:bodyPr>
          <a:lstStyle/>
          <a:p>
            <a:pPr defTabSz="914400">
              <a:lnSpc>
                <a:spcPct val="100000"/>
              </a:lnSpc>
            </a:pPr>
            <a:r>
              <a:rPr lang="ja-JP" sz="1400" b="1" u="none" strike="noStrike" dirty="0">
                <a:solidFill>
                  <a:srgbClr val="1F2A5C"/>
                </a:solidFill>
                <a:effectLst/>
                <a:uFillTx/>
                <a:latin typeface="メイリオ" panose="020B0604030504040204" pitchFamily="50" charset="-128"/>
                <a:ea typeface="メイリオ" panose="020B0604030504040204" pitchFamily="50" charset="-128"/>
              </a:rPr>
              <a:t>結論</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あいさつ・リッチメニュー・ステップ配信で「フォームで物件を送る」</a:t>
            </a:r>
            <a:r>
              <a:rPr lang="ja-JP" altLang="en-US" sz="1400" b="0" u="none" strike="noStrike" dirty="0">
                <a:solidFill>
                  <a:srgbClr val="333333"/>
                </a:solidFill>
                <a:effectLst/>
                <a:uFillTx/>
                <a:latin typeface="メイリオ" panose="020B0604030504040204" pitchFamily="50" charset="-128"/>
                <a:ea typeface="メイリオ" panose="020B0604030504040204" pitchFamily="50" charset="-128"/>
              </a:rPr>
              <a:t>段階</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まで案内</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サイト離脱対策は、離脱防止ポップアップ・</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LINE</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ボタンで新しい友だちを増やす</a:t>
            </a:r>
            <a:r>
              <a:rPr lang="ja-JP" altLang="en-US" sz="1400" dirty="0">
                <a:solidFill>
                  <a:srgbClr val="333333"/>
                </a:solidFill>
                <a:latin typeface="メイリオ" panose="020B0604030504040204" pitchFamily="50" charset="-128"/>
                <a:ea typeface="メイリオ" panose="020B0604030504040204" pitchFamily="50" charset="-128"/>
              </a:rPr>
              <a:t>ための施策</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p:txBody>
      </p:sp>
      <p:sp>
        <p:nvSpPr>
          <p:cNvPr id="306" name="Card1_Num"/>
          <p:cNvSpPr/>
          <p:nvPr/>
        </p:nvSpPr>
        <p:spPr>
          <a:xfrm>
            <a:off x="380880" y="1115640"/>
            <a:ext cx="2920680" cy="529920"/>
          </a:xfrm>
          <a:prstGeom prst="rect">
            <a:avLst/>
          </a:prstGeom>
          <a:solidFill>
            <a:srgbClr val="1F2A5C"/>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01</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307" name="Card1_Title"/>
          <p:cNvSpPr/>
          <p:nvPr/>
        </p:nvSpPr>
        <p:spPr>
          <a:xfrm>
            <a:off x="380880" y="1645920"/>
            <a:ext cx="2920680" cy="438480"/>
          </a:xfrm>
          <a:prstGeom prst="rect">
            <a:avLst/>
          </a:prstGeom>
          <a:solidFill>
            <a:srgbClr val="FFFFFF"/>
          </a:solidFill>
          <a:ln w="6350">
            <a:solidFill>
              <a:srgbClr val="1F2A5C"/>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rgbClr val="1F2A5C"/>
                </a:solidFill>
                <a:effectLst/>
                <a:uFillTx/>
                <a:latin typeface="メイリオ" panose="020B0604030504040204" pitchFamily="50" charset="-128"/>
                <a:ea typeface="メイリオ" panose="020B0604030504040204" pitchFamily="50" charset="-128"/>
              </a:rPr>
              <a:t>サイト訪問者の取りこぼし</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08" name="Card1_Body"/>
          <p:cNvSpPr/>
          <p:nvPr/>
        </p:nvSpPr>
        <p:spPr>
          <a:xfrm>
            <a:off x="380880" y="2084760"/>
            <a:ext cx="2920680" cy="310860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・サイトの月間訪問者は</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1,737</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。広告は出しておらず、友だちの入口はサイトの「</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LINE</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でお問い合わせ」ボタン</a:t>
            </a:r>
            <a:r>
              <a:rPr lang="ja-JP" altLang="en-US" sz="1400" b="0" u="none" strike="noStrike" dirty="0">
                <a:solidFill>
                  <a:srgbClr val="333333"/>
                </a:solidFill>
                <a:effectLst/>
                <a:uFillTx/>
                <a:latin typeface="メイリオ" panose="020B0604030504040204" pitchFamily="50" charset="-128"/>
                <a:ea typeface="メイリオ" panose="020B0604030504040204" pitchFamily="50" charset="-128"/>
              </a:rPr>
              <a:t>のみ</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・問い合わせずにサイトを離れる方へ、もう一度案内する手段がない</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・友だち</a:t>
            </a:r>
            <a:r>
              <a:rPr lang="ja-JP" altLang="en-US" sz="1400" b="0" u="none" strike="noStrike" dirty="0">
                <a:solidFill>
                  <a:srgbClr val="333333"/>
                </a:solidFill>
                <a:effectLst/>
                <a:uFillTx/>
                <a:latin typeface="メイリオ" panose="020B0604030504040204" pitchFamily="50" charset="-128"/>
                <a:ea typeface="メイリオ" panose="020B0604030504040204" pitchFamily="50" charset="-128"/>
              </a:rPr>
              <a:t>数</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は</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1,241</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人で、増やす仕組みが少ない</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p:txBody>
      </p:sp>
      <p:sp>
        <p:nvSpPr>
          <p:cNvPr id="309" name="Card2_Num"/>
          <p:cNvSpPr/>
          <p:nvPr/>
        </p:nvSpPr>
        <p:spPr>
          <a:xfrm>
            <a:off x="3492360" y="1115640"/>
            <a:ext cx="2920680" cy="529920"/>
          </a:xfrm>
          <a:prstGeom prst="rect">
            <a:avLst/>
          </a:prstGeom>
          <a:solidFill>
            <a:srgbClr val="4A6FA5"/>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02</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310" name="Card2_Title"/>
          <p:cNvSpPr/>
          <p:nvPr/>
        </p:nvSpPr>
        <p:spPr>
          <a:xfrm>
            <a:off x="3492360" y="1645920"/>
            <a:ext cx="2920680" cy="438480"/>
          </a:xfrm>
          <a:prstGeom prst="rect">
            <a:avLst/>
          </a:prstGeom>
          <a:solidFill>
            <a:srgbClr val="FFFFFF"/>
          </a:solidFill>
          <a:ln w="6350">
            <a:solidFill>
              <a:srgbClr val="4A6FA5"/>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rgbClr val="4A6FA5"/>
                </a:solidFill>
                <a:effectLst/>
                <a:uFillTx/>
                <a:latin typeface="メイリオ" panose="020B0604030504040204" pitchFamily="50" charset="-128"/>
                <a:ea typeface="メイリオ" panose="020B0604030504040204" pitchFamily="50" charset="-128"/>
              </a:rPr>
              <a:t>問い合わせへの心理的ハードル</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11" name="Card2_Body"/>
          <p:cNvSpPr/>
          <p:nvPr/>
        </p:nvSpPr>
        <p:spPr>
          <a:xfrm>
            <a:off x="3492360" y="2084760"/>
            <a:ext cx="2920680" cy="310860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・「どの物件が対象か」「本当に</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100</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円になるか」が分からないと、物件を送るのをためらう可能性がある</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p:txBody>
      </p:sp>
      <p:sp>
        <p:nvSpPr>
          <p:cNvPr id="312" name="Card3_Num"/>
          <p:cNvSpPr/>
          <p:nvPr/>
        </p:nvSpPr>
        <p:spPr>
          <a:xfrm>
            <a:off x="6603840" y="1115640"/>
            <a:ext cx="2920680" cy="529920"/>
          </a:xfrm>
          <a:prstGeom prst="rect">
            <a:avLst/>
          </a:prstGeom>
          <a:solidFill>
            <a:schemeClr val="bg1">
              <a:lumMod val="75000"/>
            </a:schemeClr>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03</a:t>
            </a:r>
            <a:endParaRPr lang="en-US" sz="2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13" name="Card3_Title"/>
          <p:cNvSpPr/>
          <p:nvPr/>
        </p:nvSpPr>
        <p:spPr>
          <a:xfrm>
            <a:off x="6603840" y="1645920"/>
            <a:ext cx="2920680" cy="438480"/>
          </a:xfrm>
          <a:prstGeom prst="rect">
            <a:avLst/>
          </a:prstGeom>
          <a:solidFill>
            <a:srgbClr val="FFFFFF"/>
          </a:solidFill>
          <a:ln w="6350">
            <a:solidFill>
              <a:srgbClr val="FFFFFF">
                <a:lumMod val="75000"/>
              </a:srgbClr>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chemeClr val="dk1">
                    <a:lumMod val="65000"/>
                    <a:lumOff val="35000"/>
                  </a:schemeClr>
                </a:solidFill>
                <a:effectLst/>
                <a:uFillTx/>
                <a:latin typeface="メイリオ" panose="020B0604030504040204" pitchFamily="50" charset="-128"/>
                <a:ea typeface="メイリオ" panose="020B0604030504040204" pitchFamily="50" charset="-128"/>
              </a:rPr>
              <a:t>友だち追加後の配信・導線不足</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14" name="Card3_Body"/>
          <p:cNvSpPr/>
          <p:nvPr/>
        </p:nvSpPr>
        <p:spPr>
          <a:xfrm>
            <a:off x="6603840" y="2084760"/>
            <a:ext cx="2920680" cy="310860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・リッチメニューが未設置で、友だち追加後に次の行動へ進むボタンがない</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・あいさつは物件名・</a:t>
            </a:r>
            <a:r>
              <a:rPr lang="en-US" sz="1400" b="0" u="none" strike="noStrike">
                <a:solidFill>
                  <a:srgbClr val="333333"/>
                </a:solidFill>
                <a:effectLst/>
                <a:uFillTx/>
                <a:latin typeface="メイリオ" panose="020B0604030504040204" pitchFamily="50" charset="-128"/>
                <a:ea typeface="メイリオ" panose="020B0604030504040204" pitchFamily="50" charset="-128"/>
              </a:rPr>
              <a:t>URL</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の送信のお願いが中心で、</a:t>
            </a:r>
            <a:br>
              <a:rPr sz="1400">
                <a:latin typeface="メイリオ" panose="020B0604030504040204" pitchFamily="50" charset="-128"/>
                <a:ea typeface="メイリオ" panose="020B0604030504040204" pitchFamily="50" charset="-128"/>
              </a:rPr>
            </a:br>
            <a:r>
              <a:rPr lang="ja-JP" sz="1400" b="0" u="none" strike="noStrike">
                <a:solidFill>
                  <a:srgbClr val="333333"/>
                </a:solidFill>
                <a:effectLst/>
                <a:uFillTx/>
                <a:latin typeface="メイリオ" panose="020B0604030504040204" pitchFamily="50" charset="-128"/>
                <a:ea typeface="メイリオ" panose="020B0604030504040204" pitchFamily="50" charset="-128"/>
              </a:rPr>
              <a:t>送るメリットや安心材料が伝わりにくい</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・物件を送らなかった方へ、続けて案内する配信の設計が必要</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15" name="課題の区分：新規友だち獲得"/>
          <p:cNvSpPr/>
          <p:nvPr/>
        </p:nvSpPr>
        <p:spPr>
          <a:xfrm>
            <a:off x="384120" y="658440"/>
            <a:ext cx="2916720" cy="383760"/>
          </a:xfrm>
          <a:prstGeom prst="rect">
            <a:avLst/>
          </a:prstGeom>
          <a:solidFill>
            <a:srgbClr val="FFFFFF"/>
          </a:solidFill>
          <a:ln w="15875">
            <a:solidFill>
              <a:srgbClr val="1F285A"/>
            </a:solidFill>
            <a:round/>
          </a:ln>
        </p:spPr>
        <p:style>
          <a:lnRef idx="0">
            <a:scrgbClr r="0" g="0" b="0"/>
          </a:lnRef>
          <a:fillRef idx="0">
            <a:scrgbClr r="0" g="0" b="0"/>
          </a:fillRef>
          <a:effectRef idx="0">
            <a:scrgbClr r="0" g="0" b="0"/>
          </a:effectRef>
          <a:fontRef idx="minor"/>
        </p:style>
        <p:txBody>
          <a:bodyPr lIns="27360" tIns="18360" rIns="27360" bIns="18360" anchor="ctr">
            <a:noAutofit/>
          </a:bodyPr>
          <a:lstStyle/>
          <a:p>
            <a:pPr algn="ctr" defTabSz="914400">
              <a:lnSpc>
                <a:spcPct val="100000"/>
              </a:lnSpc>
            </a:pPr>
            <a:r>
              <a:rPr lang="ja-JP" sz="1200" b="1" u="none" strike="noStrike" dirty="0">
                <a:solidFill>
                  <a:srgbClr val="1F285A"/>
                </a:solidFill>
                <a:effectLst/>
                <a:uFillTx/>
                <a:latin typeface="メイリオ"/>
                <a:ea typeface="メイリオ"/>
              </a:rPr>
              <a:t>新規友だち獲得（②サイト離脱対策）</a:t>
            </a:r>
            <a:endParaRPr lang="en-US" sz="1200" b="0" u="none" strike="noStrike" dirty="0">
              <a:solidFill>
                <a:srgbClr val="000000"/>
              </a:solidFill>
              <a:effectLst/>
              <a:uFillTx/>
              <a:latin typeface="Arial"/>
            </a:endParaRPr>
          </a:p>
        </p:txBody>
      </p:sp>
      <p:sp>
        <p:nvSpPr>
          <p:cNvPr id="316" name="課題の区分：最重要（リード有効化）"/>
          <p:cNvSpPr/>
          <p:nvPr/>
        </p:nvSpPr>
        <p:spPr>
          <a:xfrm>
            <a:off x="3493080" y="658440"/>
            <a:ext cx="6025680" cy="383760"/>
          </a:xfrm>
          <a:prstGeom prst="rect">
            <a:avLst/>
          </a:prstGeom>
          <a:solidFill>
            <a:srgbClr val="C00000"/>
          </a:solidFill>
          <a:ln w="0">
            <a:noFill/>
          </a:ln>
        </p:spPr>
        <p:style>
          <a:lnRef idx="0">
            <a:scrgbClr r="0" g="0" b="0"/>
          </a:lnRef>
          <a:fillRef idx="0">
            <a:scrgbClr r="0" g="0" b="0"/>
          </a:fillRef>
          <a:effectRef idx="0">
            <a:scrgbClr r="0" g="0" b="0"/>
          </a:effectRef>
          <a:fontRef idx="minor"/>
        </p:style>
        <p:txBody>
          <a:bodyPr lIns="45720" tIns="18360" rIns="45720" bIns="18360" anchor="ctr">
            <a:noAutofit/>
          </a:bodyPr>
          <a:lstStyle/>
          <a:p>
            <a:pPr algn="ctr" defTabSz="914400">
              <a:lnSpc>
                <a:spcPct val="100000"/>
              </a:lnSpc>
            </a:pPr>
            <a:r>
              <a:rPr lang="ja-JP" sz="1400" b="1" u="none" strike="noStrike">
                <a:solidFill>
                  <a:srgbClr val="FFFFFF"/>
                </a:solidFill>
                <a:effectLst/>
                <a:uFillTx/>
                <a:latin typeface="メイリオ"/>
                <a:ea typeface="メイリオ"/>
              </a:rPr>
              <a:t>最重要課題：</a:t>
            </a:r>
            <a:r>
              <a:rPr lang="en-US" sz="1400" b="1" u="none" strike="noStrike">
                <a:solidFill>
                  <a:srgbClr val="FFFFFF"/>
                </a:solidFill>
                <a:effectLst/>
                <a:uFillTx/>
                <a:latin typeface="メイリオ"/>
                <a:ea typeface="メイリオ"/>
              </a:rPr>
              <a:t>LINE</a:t>
            </a:r>
            <a:r>
              <a:rPr lang="ja-JP" sz="1400" b="1" u="none" strike="noStrike">
                <a:solidFill>
                  <a:srgbClr val="FFFFFF"/>
                </a:solidFill>
                <a:effectLst/>
                <a:uFillTx/>
                <a:latin typeface="メイリオ"/>
                <a:ea typeface="メイリオ"/>
              </a:rPr>
              <a:t>友だち追加後の問い合わせ転換（⑤リード有効化）</a:t>
            </a:r>
            <a:endParaRPr lang="en-US" sz="1400" b="0" u="none" strike="noStrike">
              <a:solidFill>
                <a:srgbClr val="FFFFFF"/>
              </a:solidFill>
              <a:effectLst/>
              <a:uFillTx/>
              <a:latin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9"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本質課題</a:t>
            </a:r>
            <a:endParaRPr lang="en-US" sz="1600" b="0" u="none" strike="noStrike">
              <a:solidFill>
                <a:srgbClr val="000000"/>
              </a:solidFill>
              <a:effectLst/>
              <a:uFillTx/>
              <a:latin typeface="メイリオ"/>
            </a:endParaRPr>
          </a:p>
        </p:txBody>
      </p:sp>
      <p:sp>
        <p:nvSpPr>
          <p:cNvPr id="650"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651"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652"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53"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600" b="0" u="none" strike="noStrike" dirty="0">
                <a:solidFill>
                  <a:schemeClr val="dk1">
                    <a:lumMod val="65000"/>
                    <a:lumOff val="35000"/>
                  </a:schemeClr>
                </a:solidFill>
                <a:effectLst/>
                <a:uFillTx/>
                <a:latin typeface="メイリオ"/>
                <a:ea typeface="メイリオ"/>
              </a:rPr>
              <a:t>3つの課題は、ひとつの課題につながっている</a:t>
            </a:r>
            <a:endParaRPr lang="en-US" sz="1600" b="0" u="none" strike="noStrike" dirty="0">
              <a:solidFill>
                <a:srgbClr val="000000"/>
              </a:solidFill>
              <a:effectLst/>
              <a:uFillTx/>
              <a:latin typeface="Arial"/>
            </a:endParaRPr>
          </a:p>
        </p:txBody>
      </p:sp>
      <p:sp>
        <p:nvSpPr>
          <p:cNvPr id="654" name="KEY TAKEAWAY 見出し"/>
          <p:cNvSpPr/>
          <p:nvPr/>
        </p:nvSpPr>
        <p:spPr>
          <a:xfrm>
            <a:off x="502920" y="1691640"/>
            <a:ext cx="2103120" cy="329184"/>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KEY TAKEAWAY</a:t>
            </a:r>
            <a:endParaRPr lang="ja-JP" altLang="en-US" sz="1200" dirty="0"/>
          </a:p>
        </p:txBody>
      </p:sp>
      <p:sp>
        <p:nvSpPr>
          <p:cNvPr id="655" name="KEY TAKEAWAY"/>
          <p:cNvSpPr/>
          <p:nvPr/>
        </p:nvSpPr>
        <p:spPr>
          <a:xfrm>
            <a:off x="502920" y="2020824"/>
            <a:ext cx="8897112" cy="1325880"/>
          </a:xfrm>
          <a:prstGeom prst="rect">
            <a:avLst/>
          </a:prstGeom>
          <a:solidFill>
            <a:srgbClr val="EEF1F8"/>
          </a:solidFill>
          <a:ln w="9525">
            <a:solidFill>
              <a:srgbClr val="1F285A"/>
            </a:solidFill>
          </a:ln>
        </p:spPr>
        <p:txBody>
          <a:bodyPr wrap="square" lIns="182880" tIns="73152" rIns="182880" bIns="73152" rtlCol="0" anchor="ctr">
            <a:noAutofit/>
          </a:bodyPr>
          <a:lstStyle/>
          <a:p>
            <a:pPr algn="ctr">
              <a:lnSpc>
                <a:spcPct val="125000"/>
              </a:lnSpc>
              <a:buNone/>
            </a:pPr>
            <a:r>
              <a:rPr lang="ja-JP" altLang="en-US" sz="2000" b="1" dirty="0">
                <a:solidFill>
                  <a:srgbClr val="1F285A"/>
                </a:solidFill>
                <a:latin typeface="メイリオ" panose="020B0604030504040204" pitchFamily="50" charset="-128"/>
                <a:ea typeface="メイリオ" panose="020B0604030504040204" pitchFamily="50" charset="-128"/>
              </a:rPr>
              <a:t>受付はできるが、追える仕組みがない</a:t>
            </a:r>
            <a:endParaRPr lang="ja-JP" altLang="en-US" sz="1200" dirty="0"/>
          </a:p>
          <a:p>
            <a:pPr algn="ctr">
              <a:lnSpc>
                <a:spcPct val="125000"/>
              </a:lnSpc>
              <a:buNone/>
            </a:pPr>
            <a:r>
              <a:rPr lang="ja-JP" altLang="en-US" sz="1400" b="0" dirty="0">
                <a:solidFill>
                  <a:srgbClr val="1F285A"/>
                </a:solidFill>
                <a:latin typeface="メイリオ" panose="020B0604030504040204" pitchFamily="50" charset="-128"/>
                <a:ea typeface="メイリオ" panose="020B0604030504040204" pitchFamily="50" charset="-128"/>
              </a:rPr>
              <a:t>その受付も分かりづらく、何を送ればいいか・送った後どうなるか・対象の物件かが伝わっていない</a:t>
            </a:r>
            <a:endParaRPr lang="ja-JP" altLang="en-US" sz="1400" dirty="0"/>
          </a:p>
        </p:txBody>
      </p:sp>
      <p:sp>
        <p:nvSpPr>
          <p:cNvPr id="656" name="補足ポイント"/>
          <p:cNvSpPr/>
          <p:nvPr/>
        </p:nvSpPr>
        <p:spPr>
          <a:xfrm>
            <a:off x="502920" y="3703320"/>
            <a:ext cx="3657600" cy="292608"/>
          </a:xfrm>
          <a:prstGeom prst="rect">
            <a:avLst/>
          </a:prstGeom>
          <a:noFill/>
          <a:ln>
            <a:noFill/>
          </a:ln>
        </p:spPr>
        <p:txBody>
          <a:bodyPr wrap="square" lIns="0" tIns="0" rIns="0" bIns="0" rtlCol="0" anchor="ctr">
            <a:noAutofit/>
          </a:bodyPr>
          <a:lstStyle/>
          <a:p>
            <a:pPr algn="l">
              <a:buNone/>
            </a:pPr>
            <a:r>
              <a:rPr lang="ja-JP" altLang="en-US" sz="1300" b="1" dirty="0">
                <a:solidFill>
                  <a:srgbClr val="333333"/>
                </a:solidFill>
                <a:latin typeface="メイリオ" panose="020B0604030504040204" pitchFamily="50" charset="-128"/>
                <a:ea typeface="メイリオ" panose="020B0604030504040204" pitchFamily="50" charset="-128"/>
              </a:rPr>
              <a:t>3つの課題と打ち手</a:t>
            </a:r>
            <a:endParaRPr lang="ja-JP" altLang="en-US" sz="1200" dirty="0"/>
          </a:p>
        </p:txBody>
      </p:sp>
      <p:sp>
        <p:nvSpPr>
          <p:cNvPr id="657" name="線1"/>
          <p:cNvSpPr/>
          <p:nvPr/>
        </p:nvSpPr>
        <p:spPr>
          <a:xfrm>
            <a:off x="502920" y="4105656"/>
            <a:ext cx="777240" cy="50292"/>
          </a:xfrm>
          <a:prstGeom prst="rect">
            <a:avLst/>
          </a:prstGeom>
          <a:solidFill>
            <a:srgbClr val="1F285A"/>
          </a:solidFill>
          <a:ln>
            <a:noFill/>
          </a:ln>
        </p:spPr>
        <p:txBody>
          <a:bodyPr wrap="square" lIns="73152" tIns="36576" rIns="73152" bIns="36576" rtlCol="0" anchor="ctr">
            <a:noAutofit/>
          </a:bodyPr>
          <a:lstStyle/>
          <a:p>
            <a:pPr algn="l">
              <a:buNone/>
            </a:pPr>
            <a:endParaRPr lang="ja-JP" altLang="en-US" sz="1200" dirty="0"/>
          </a:p>
        </p:txBody>
      </p:sp>
      <p:sp>
        <p:nvSpPr>
          <p:cNvPr id="658" name="見出し1"/>
          <p:cNvSpPr/>
          <p:nvPr/>
        </p:nvSpPr>
        <p:spPr>
          <a:xfrm>
            <a:off x="502920" y="4206240"/>
            <a:ext cx="2804160" cy="329184"/>
          </a:xfrm>
          <a:prstGeom prst="rect">
            <a:avLst/>
          </a:prstGeom>
          <a:noFill/>
          <a:ln>
            <a:noFill/>
          </a:ln>
        </p:spPr>
        <p:txBody>
          <a:bodyPr wrap="square" lIns="0" tIns="0" rIns="0" bIns="0" rtlCol="0" anchor="ctr">
            <a:noAutofit/>
          </a:bodyPr>
          <a:lstStyle/>
          <a:p>
            <a:pPr algn="l">
              <a:buNone/>
            </a:pPr>
            <a:r>
              <a:rPr lang="ja-JP" altLang="en-US" sz="1300" b="1" dirty="0">
                <a:solidFill>
                  <a:srgbClr val="1F285A"/>
                </a:solidFill>
                <a:latin typeface="メイリオ" panose="020B0604030504040204" pitchFamily="50" charset="-128"/>
                <a:ea typeface="メイリオ" panose="020B0604030504040204" pitchFamily="50" charset="-128"/>
              </a:rPr>
              <a:t>01 集める</a:t>
            </a:r>
            <a:endParaRPr lang="ja-JP" altLang="en-US" sz="1200" dirty="0"/>
          </a:p>
        </p:txBody>
      </p:sp>
      <p:sp>
        <p:nvSpPr>
          <p:cNvPr id="659" name="本文1"/>
          <p:cNvSpPr/>
          <p:nvPr/>
        </p:nvSpPr>
        <p:spPr>
          <a:xfrm>
            <a:off x="502920" y="4572000"/>
            <a:ext cx="2804160" cy="1051560"/>
          </a:xfrm>
          <a:prstGeom prst="rect">
            <a:avLst/>
          </a:prstGeom>
          <a:noFill/>
          <a:ln>
            <a:noFill/>
          </a:ln>
        </p:spPr>
        <p:txBody>
          <a:bodyPr wrap="square" lIns="0" tIns="36576" rIns="45720" bIns="36576" rtlCol="0" anchor="t">
            <a:noAutofit/>
          </a:bodyPr>
          <a:lstStyle/>
          <a:p>
            <a:pPr algn="l">
              <a:lnSpc>
                <a:spcPct val="135000"/>
              </a:lnSpc>
              <a:buNone/>
            </a:pPr>
            <a:r>
              <a:rPr lang="ja-JP" altLang="en-US" sz="1300" b="0" dirty="0">
                <a:solidFill>
                  <a:srgbClr val="333333"/>
                </a:solidFill>
                <a:latin typeface="メイリオ" panose="020B0604030504040204" pitchFamily="50" charset="-128"/>
                <a:ea typeface="メイリオ" panose="020B0604030504040204" pitchFamily="50" charset="-128"/>
              </a:rPr>
              <a:t>サイトを離れる方に、</a:t>
            </a:r>
            <a:endParaRPr lang="en-US" altLang="ja-JP" sz="1300" dirty="0">
              <a:solidFill>
                <a:srgbClr val="333333"/>
              </a:solidFill>
              <a:latin typeface="メイリオ" panose="020B0604030504040204" pitchFamily="50" charset="-128"/>
              <a:ea typeface="メイリオ" panose="020B0604030504040204" pitchFamily="50" charset="-128"/>
            </a:endParaRPr>
          </a:p>
          <a:p>
            <a:pPr algn="l">
              <a:lnSpc>
                <a:spcPct val="135000"/>
              </a:lnSpc>
              <a:buNone/>
            </a:pPr>
            <a:r>
              <a:rPr lang="ja-JP" altLang="en-US" sz="1300" b="0" dirty="0">
                <a:solidFill>
                  <a:srgbClr val="333333"/>
                </a:solidFill>
                <a:latin typeface="メイリオ" panose="020B0604030504040204" pitchFamily="50" charset="-128"/>
                <a:ea typeface="メイリオ" panose="020B0604030504040204" pitchFamily="50" charset="-128"/>
              </a:rPr>
              <a:t>LINEを案内する手段がない</a:t>
            </a:r>
            <a:endParaRPr lang="ja-JP" altLang="en-US" sz="1200" dirty="0"/>
          </a:p>
        </p:txBody>
      </p:sp>
      <p:sp>
        <p:nvSpPr>
          <p:cNvPr id="660" name="打ち手1"/>
          <p:cNvSpPr/>
          <p:nvPr/>
        </p:nvSpPr>
        <p:spPr>
          <a:xfrm>
            <a:off x="502920" y="5696712"/>
            <a:ext cx="2804160" cy="457200"/>
          </a:xfrm>
          <a:prstGeom prst="rect">
            <a:avLst/>
          </a:prstGeom>
          <a:solidFill>
            <a:srgbClr val="F4F7FF"/>
          </a:solidFill>
          <a:ln w="9525">
            <a:solidFill>
              <a:srgbClr val="D9D9D9"/>
            </a:solidFill>
          </a:ln>
        </p:spPr>
        <p:txBody>
          <a:bodyPr wrap="square" lIns="91440" tIns="36576" rIns="73152" bIns="36576" rtlCol="0" anchor="ctr">
            <a:noAutofit/>
          </a:bodyPr>
          <a:lstStyle/>
          <a:p>
            <a:pPr algn="l">
              <a:buNone/>
            </a:pPr>
            <a:r>
              <a:rPr lang="ja-JP" altLang="en-US" sz="1100" b="1" dirty="0">
                <a:solidFill>
                  <a:srgbClr val="1F285A"/>
                </a:solidFill>
                <a:latin typeface="メイリオ" panose="020B0604030504040204" pitchFamily="50" charset="-128"/>
                <a:ea typeface="メイリオ" panose="020B0604030504040204" pitchFamily="50" charset="-128"/>
              </a:rPr>
              <a:t>→ 離脱防止ポップアップ</a:t>
            </a:r>
            <a:endParaRPr lang="ja-JP" altLang="en-US" sz="1200" dirty="0"/>
          </a:p>
        </p:txBody>
      </p:sp>
      <p:sp>
        <p:nvSpPr>
          <p:cNvPr id="661" name="線2"/>
          <p:cNvSpPr/>
          <p:nvPr/>
        </p:nvSpPr>
        <p:spPr>
          <a:xfrm>
            <a:off x="3549396" y="4105656"/>
            <a:ext cx="777240" cy="50292"/>
          </a:xfrm>
          <a:prstGeom prst="rect">
            <a:avLst/>
          </a:prstGeom>
          <a:solidFill>
            <a:srgbClr val="3E5C99"/>
          </a:solidFill>
          <a:ln>
            <a:noFill/>
          </a:ln>
        </p:spPr>
        <p:txBody>
          <a:bodyPr wrap="square" lIns="73152" tIns="36576" rIns="73152" bIns="36576" rtlCol="0" anchor="ctr">
            <a:noAutofit/>
          </a:bodyPr>
          <a:lstStyle/>
          <a:p>
            <a:pPr algn="l">
              <a:buNone/>
            </a:pPr>
            <a:endParaRPr lang="ja-JP" altLang="en-US" sz="1200" dirty="0"/>
          </a:p>
        </p:txBody>
      </p:sp>
      <p:sp>
        <p:nvSpPr>
          <p:cNvPr id="662" name="見出し2"/>
          <p:cNvSpPr/>
          <p:nvPr/>
        </p:nvSpPr>
        <p:spPr>
          <a:xfrm>
            <a:off x="3549396" y="4206240"/>
            <a:ext cx="2804160" cy="329184"/>
          </a:xfrm>
          <a:prstGeom prst="rect">
            <a:avLst/>
          </a:prstGeom>
          <a:noFill/>
          <a:ln>
            <a:noFill/>
          </a:ln>
        </p:spPr>
        <p:txBody>
          <a:bodyPr wrap="square" lIns="0" tIns="0" rIns="0" bIns="0" rtlCol="0" anchor="ctr">
            <a:noAutofit/>
          </a:bodyPr>
          <a:lstStyle/>
          <a:p>
            <a:pPr algn="l">
              <a:buNone/>
            </a:pPr>
            <a:r>
              <a:rPr lang="ja-JP" altLang="en-US" sz="1300" b="1" dirty="0">
                <a:solidFill>
                  <a:srgbClr val="3E5C99"/>
                </a:solidFill>
                <a:latin typeface="メイリオ" panose="020B0604030504040204" pitchFamily="50" charset="-128"/>
                <a:ea typeface="メイリオ" panose="020B0604030504040204" pitchFamily="50" charset="-128"/>
              </a:rPr>
              <a:t>02 伝える</a:t>
            </a:r>
            <a:endParaRPr lang="ja-JP" altLang="en-US" sz="1200" dirty="0"/>
          </a:p>
        </p:txBody>
      </p:sp>
      <p:sp>
        <p:nvSpPr>
          <p:cNvPr id="663" name="本文2"/>
          <p:cNvSpPr/>
          <p:nvPr/>
        </p:nvSpPr>
        <p:spPr>
          <a:xfrm>
            <a:off x="3549396" y="4572000"/>
            <a:ext cx="2804160" cy="1051560"/>
          </a:xfrm>
          <a:prstGeom prst="rect">
            <a:avLst/>
          </a:prstGeom>
          <a:noFill/>
          <a:ln>
            <a:noFill/>
          </a:ln>
        </p:spPr>
        <p:txBody>
          <a:bodyPr wrap="square" lIns="0" tIns="36576" rIns="45720" bIns="36576" rtlCol="0" anchor="t">
            <a:noAutofit/>
          </a:bodyPr>
          <a:lstStyle/>
          <a:p>
            <a:pPr algn="l">
              <a:lnSpc>
                <a:spcPct val="135000"/>
              </a:lnSpc>
              <a:buNone/>
            </a:pPr>
            <a:r>
              <a:rPr lang="ja-JP" altLang="en-US" sz="1300" b="0" dirty="0">
                <a:solidFill>
                  <a:srgbClr val="333333"/>
                </a:solidFill>
                <a:latin typeface="メイリオ" panose="020B0604030504040204" pitchFamily="50" charset="-128"/>
                <a:ea typeface="メイリオ" panose="020B0604030504040204" pitchFamily="50" charset="-128"/>
              </a:rPr>
              <a:t>何を送るか・送った後の流れ・対象の物件かが、送る前に分からない</a:t>
            </a:r>
            <a:endParaRPr lang="ja-JP" altLang="en-US" sz="1200" dirty="0"/>
          </a:p>
        </p:txBody>
      </p:sp>
      <p:sp>
        <p:nvSpPr>
          <p:cNvPr id="664" name="打ち手2"/>
          <p:cNvSpPr/>
          <p:nvPr/>
        </p:nvSpPr>
        <p:spPr>
          <a:xfrm>
            <a:off x="3549396" y="5696712"/>
            <a:ext cx="2804160" cy="457200"/>
          </a:xfrm>
          <a:prstGeom prst="rect">
            <a:avLst/>
          </a:prstGeom>
          <a:solidFill>
            <a:srgbClr val="F4F7FF"/>
          </a:solidFill>
          <a:ln w="9525">
            <a:solidFill>
              <a:srgbClr val="D9D9D9"/>
            </a:solidFill>
          </a:ln>
        </p:spPr>
        <p:txBody>
          <a:bodyPr wrap="square" lIns="91440" tIns="36576" rIns="73152" bIns="36576" rtlCol="0" anchor="ctr">
            <a:noAutofit/>
          </a:bodyPr>
          <a:lstStyle/>
          <a:p>
            <a:pPr algn="l">
              <a:buNone/>
            </a:pPr>
            <a:r>
              <a:rPr lang="ja-JP" altLang="en-US" sz="1100" b="1" dirty="0">
                <a:solidFill>
                  <a:srgbClr val="1F285A"/>
                </a:solidFill>
                <a:latin typeface="メイリオ" panose="020B0604030504040204" pitchFamily="50" charset="-128"/>
                <a:ea typeface="メイリオ" panose="020B0604030504040204" pitchFamily="50" charset="-128"/>
              </a:rPr>
              <a:t>→ あいさつ・リッチメニュー・自動応答</a:t>
            </a:r>
            <a:endParaRPr lang="ja-JP" altLang="en-US" sz="1200" dirty="0"/>
          </a:p>
        </p:txBody>
      </p:sp>
      <p:sp>
        <p:nvSpPr>
          <p:cNvPr id="665" name="線3"/>
          <p:cNvSpPr/>
          <p:nvPr/>
        </p:nvSpPr>
        <p:spPr>
          <a:xfrm>
            <a:off x="6595872" y="4105656"/>
            <a:ext cx="777240" cy="50292"/>
          </a:xfrm>
          <a:prstGeom prst="rect">
            <a:avLst/>
          </a:prstGeom>
          <a:solidFill>
            <a:srgbClr val="C00000"/>
          </a:solidFill>
          <a:ln>
            <a:noFill/>
          </a:ln>
        </p:spPr>
        <p:txBody>
          <a:bodyPr wrap="square" lIns="73152" tIns="36576" rIns="73152" bIns="36576" rtlCol="0" anchor="ctr">
            <a:noAutofit/>
          </a:bodyPr>
          <a:lstStyle/>
          <a:p>
            <a:pPr algn="l">
              <a:buNone/>
            </a:pPr>
            <a:endParaRPr lang="ja-JP" altLang="en-US" sz="1200" dirty="0"/>
          </a:p>
        </p:txBody>
      </p:sp>
      <p:sp>
        <p:nvSpPr>
          <p:cNvPr id="666" name="見出し3"/>
          <p:cNvSpPr/>
          <p:nvPr/>
        </p:nvSpPr>
        <p:spPr>
          <a:xfrm>
            <a:off x="6595872" y="4206240"/>
            <a:ext cx="2804160" cy="329184"/>
          </a:xfrm>
          <a:prstGeom prst="rect">
            <a:avLst/>
          </a:prstGeom>
          <a:noFill/>
          <a:ln>
            <a:noFill/>
          </a:ln>
        </p:spPr>
        <p:txBody>
          <a:bodyPr wrap="square" lIns="0" tIns="0" rIns="0" bIns="0" rtlCol="0" anchor="ctr">
            <a:noAutofit/>
          </a:bodyPr>
          <a:lstStyle/>
          <a:p>
            <a:pPr algn="l">
              <a:buNone/>
            </a:pPr>
            <a:r>
              <a:rPr lang="ja-JP" altLang="en-US" sz="1300" b="1" dirty="0">
                <a:solidFill>
                  <a:srgbClr val="C00000"/>
                </a:solidFill>
                <a:latin typeface="メイリオ" panose="020B0604030504040204" pitchFamily="50" charset="-128"/>
                <a:ea typeface="メイリオ" panose="020B0604030504040204" pitchFamily="50" charset="-128"/>
              </a:rPr>
              <a:t>03 追う</a:t>
            </a:r>
            <a:endParaRPr lang="ja-JP" altLang="en-US" sz="1200" dirty="0"/>
          </a:p>
        </p:txBody>
      </p:sp>
      <p:sp>
        <p:nvSpPr>
          <p:cNvPr id="667" name="本文3"/>
          <p:cNvSpPr/>
          <p:nvPr/>
        </p:nvSpPr>
        <p:spPr>
          <a:xfrm>
            <a:off x="6595872" y="4572000"/>
            <a:ext cx="2804160" cy="1051560"/>
          </a:xfrm>
          <a:prstGeom prst="rect">
            <a:avLst/>
          </a:prstGeom>
          <a:noFill/>
          <a:ln>
            <a:noFill/>
          </a:ln>
        </p:spPr>
        <p:txBody>
          <a:bodyPr wrap="square" lIns="0" tIns="36576" rIns="45720" bIns="36576" rtlCol="0" anchor="t">
            <a:noAutofit/>
          </a:bodyPr>
          <a:lstStyle/>
          <a:p>
            <a:pPr algn="l">
              <a:lnSpc>
                <a:spcPct val="135000"/>
              </a:lnSpc>
              <a:buNone/>
            </a:pPr>
            <a:r>
              <a:rPr lang="ja-JP" altLang="en-US" sz="1300" b="0" dirty="0">
                <a:solidFill>
                  <a:srgbClr val="333333"/>
                </a:solidFill>
                <a:latin typeface="メイリオ" panose="020B0604030504040204" pitchFamily="50" charset="-128"/>
                <a:ea typeface="メイリオ" panose="020B0604030504040204" pitchFamily="50" charset="-128"/>
              </a:rPr>
              <a:t>物件を送らなかった方へ、</a:t>
            </a:r>
            <a:endParaRPr lang="en-US" altLang="ja-JP" sz="1300" b="0" dirty="0">
              <a:solidFill>
                <a:srgbClr val="333333"/>
              </a:solidFill>
              <a:latin typeface="メイリオ" panose="020B0604030504040204" pitchFamily="50" charset="-128"/>
              <a:ea typeface="メイリオ" panose="020B0604030504040204" pitchFamily="50" charset="-128"/>
            </a:endParaRPr>
          </a:p>
          <a:p>
            <a:pPr algn="l">
              <a:lnSpc>
                <a:spcPct val="135000"/>
              </a:lnSpc>
              <a:buNone/>
            </a:pPr>
            <a:r>
              <a:rPr lang="ja-JP" altLang="en-US" sz="1300" dirty="0">
                <a:solidFill>
                  <a:srgbClr val="333333"/>
                </a:solidFill>
                <a:latin typeface="メイリオ" panose="020B0604030504040204" pitchFamily="50" charset="-128"/>
                <a:ea typeface="メイリオ" panose="020B0604030504040204" pitchFamily="50" charset="-128"/>
              </a:rPr>
              <a:t>再度</a:t>
            </a:r>
            <a:r>
              <a:rPr lang="ja-JP" altLang="en-US" sz="1300" b="0" dirty="0">
                <a:solidFill>
                  <a:srgbClr val="333333"/>
                </a:solidFill>
                <a:latin typeface="メイリオ" panose="020B0604030504040204" pitchFamily="50" charset="-128"/>
                <a:ea typeface="メイリオ" panose="020B0604030504040204" pitchFamily="50" charset="-128"/>
              </a:rPr>
              <a:t>案内する配信がない</a:t>
            </a:r>
            <a:endParaRPr lang="ja-JP" altLang="en-US" sz="1200" dirty="0"/>
          </a:p>
        </p:txBody>
      </p:sp>
      <p:sp>
        <p:nvSpPr>
          <p:cNvPr id="668" name="打ち手3"/>
          <p:cNvSpPr/>
          <p:nvPr/>
        </p:nvSpPr>
        <p:spPr>
          <a:xfrm>
            <a:off x="6595872" y="5696712"/>
            <a:ext cx="2804160" cy="457200"/>
          </a:xfrm>
          <a:prstGeom prst="rect">
            <a:avLst/>
          </a:prstGeom>
          <a:solidFill>
            <a:srgbClr val="F4F7FF"/>
          </a:solidFill>
          <a:ln w="9525">
            <a:solidFill>
              <a:srgbClr val="D9D9D9"/>
            </a:solidFill>
          </a:ln>
        </p:spPr>
        <p:txBody>
          <a:bodyPr wrap="square" lIns="91440" tIns="36576" rIns="73152" bIns="36576" rtlCol="0" anchor="ctr">
            <a:noAutofit/>
          </a:bodyPr>
          <a:lstStyle/>
          <a:p>
            <a:pPr algn="l">
              <a:buNone/>
            </a:pPr>
            <a:r>
              <a:rPr lang="ja-JP" altLang="en-US" sz="1100" b="1" dirty="0">
                <a:solidFill>
                  <a:srgbClr val="1F285A"/>
                </a:solidFill>
                <a:latin typeface="メイリオ" panose="020B0604030504040204" pitchFamily="50" charset="-128"/>
                <a:ea typeface="メイリオ" panose="020B0604030504040204" pitchFamily="50" charset="-128"/>
              </a:rPr>
              <a:t>→ ステップ配信・企画配信</a:t>
            </a:r>
            <a:endParaRPr lang="ja-JP" alt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90"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91"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rPr>
              <a:t>お客様の動線：LINE追加後の物件送信が最重要</a:t>
            </a:r>
            <a:endParaRPr lang="en-US" sz="1600" b="0" u="none" strike="noStrike">
              <a:solidFill>
                <a:srgbClr val="000000"/>
              </a:solidFill>
              <a:effectLst/>
              <a:uFillTx/>
              <a:latin typeface="メイリオ"/>
            </a:endParaRPr>
          </a:p>
        </p:txBody>
      </p:sp>
      <p:cxnSp>
        <p:nvCxnSpPr>
          <p:cNvPr id="92"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93" name="テキスト ボックス 5"/>
          <p:cNvSpPr/>
          <p:nvPr/>
        </p:nvSpPr>
        <p:spPr>
          <a:xfrm>
            <a:off x="3542040" y="1938600"/>
            <a:ext cx="2351520" cy="328680"/>
          </a:xfrm>
          <a:prstGeom prst="rect">
            <a:avLst/>
          </a:prstGeom>
          <a:solidFill>
            <a:schemeClr val="accent6">
              <a:lumMod val="40000"/>
              <a:lumOff val="60000"/>
              <a:alpha val="3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200" b="1" u="none" strike="noStrike">
                <a:solidFill>
                  <a:schemeClr val="dk1"/>
                </a:solidFill>
                <a:effectLst/>
                <a:uFillTx/>
                <a:latin typeface="メイリオ"/>
                <a:ea typeface="メイリオ"/>
              </a:rPr>
              <a:t>⑤ リード有効化（CV）</a:t>
            </a:r>
            <a:endParaRPr lang="en-US" sz="1400" b="0" u="none" strike="noStrike">
              <a:solidFill>
                <a:srgbClr val="FFFFFF"/>
              </a:solidFill>
              <a:effectLst/>
              <a:uFillTx/>
              <a:latin typeface="Arial"/>
            </a:endParaRPr>
          </a:p>
        </p:txBody>
      </p:sp>
      <p:sp>
        <p:nvSpPr>
          <p:cNvPr id="94" name="テキスト ボックス 6"/>
          <p:cNvSpPr/>
          <p:nvPr/>
        </p:nvSpPr>
        <p:spPr>
          <a:xfrm>
            <a:off x="6119280" y="2468880"/>
            <a:ext cx="2351520" cy="328680"/>
          </a:xfrm>
          <a:prstGeom prst="rect">
            <a:avLst/>
          </a:prstGeom>
          <a:solidFill>
            <a:srgbClr val="BFBFBF">
              <a:alpha val="30000"/>
            </a:srgb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200" b="1" u="none" strike="noStrike">
                <a:solidFill>
                  <a:srgbClr val="595959"/>
                </a:solidFill>
                <a:effectLst/>
                <a:uFillTx/>
                <a:latin typeface="メイリオ"/>
                <a:ea typeface="メイリオ"/>
              </a:rPr>
              <a:t>⑦マネタイズ</a:t>
            </a:r>
            <a:r>
              <a:rPr lang="en-US" sz="1100" b="1" u="none" strike="noStrike">
                <a:solidFill>
                  <a:srgbClr val="595959"/>
                </a:solidFill>
                <a:effectLst/>
                <a:uFillTx/>
                <a:latin typeface="メイリオ"/>
                <a:ea typeface="メイリオ"/>
              </a:rPr>
              <a:t>(</a:t>
            </a:r>
            <a:r>
              <a:rPr lang="ja-JP" sz="1100" b="1" u="none" strike="noStrike">
                <a:solidFill>
                  <a:srgbClr val="595959"/>
                </a:solidFill>
                <a:effectLst/>
                <a:uFillTx/>
                <a:latin typeface="メイリオ"/>
                <a:ea typeface="メイリオ"/>
              </a:rPr>
              <a:t>成約</a:t>
            </a:r>
            <a:r>
              <a:rPr lang="en-US" sz="1100" b="1" u="none" strike="noStrike">
                <a:solidFill>
                  <a:srgbClr val="595959"/>
                </a:solidFill>
                <a:effectLst/>
                <a:uFillTx/>
                <a:latin typeface="メイリオ"/>
                <a:ea typeface="メイリオ"/>
              </a:rPr>
              <a:t>)</a:t>
            </a:r>
            <a:endParaRPr lang="en-US" sz="1100" b="0" u="none" strike="noStrike">
              <a:solidFill>
                <a:srgbClr val="595959"/>
              </a:solidFill>
              <a:effectLst/>
              <a:uFillTx/>
              <a:latin typeface="Arial"/>
            </a:endParaRPr>
          </a:p>
        </p:txBody>
      </p:sp>
      <p:sp>
        <p:nvSpPr>
          <p:cNvPr id="95" name="テキスト ボックス 7"/>
          <p:cNvSpPr/>
          <p:nvPr/>
        </p:nvSpPr>
        <p:spPr>
          <a:xfrm>
            <a:off x="4830840" y="2203560"/>
            <a:ext cx="2351520" cy="328680"/>
          </a:xfrm>
          <a:prstGeom prst="rect">
            <a:avLst/>
          </a:prstGeom>
          <a:solidFill>
            <a:srgbClr val="BFBFBF">
              <a:alpha val="30000"/>
            </a:srgb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200" b="1" u="none" strike="noStrike">
                <a:solidFill>
                  <a:srgbClr val="595959"/>
                </a:solidFill>
                <a:effectLst/>
                <a:uFillTx/>
                <a:latin typeface="メイリオ"/>
                <a:ea typeface="メイリオ"/>
              </a:rPr>
              <a:t>⑥ 有効リードの再育成</a:t>
            </a:r>
            <a:endParaRPr lang="en-US" sz="1200" b="0" u="none" strike="noStrike">
              <a:solidFill>
                <a:srgbClr val="595959"/>
              </a:solidFill>
              <a:effectLst/>
              <a:uFillTx/>
              <a:latin typeface="Arial"/>
            </a:endParaRPr>
          </a:p>
        </p:txBody>
      </p:sp>
      <p:sp>
        <p:nvSpPr>
          <p:cNvPr id="96" name="テキスト ボックス 8"/>
          <p:cNvSpPr/>
          <p:nvPr/>
        </p:nvSpPr>
        <p:spPr>
          <a:xfrm>
            <a:off x="7408080" y="2734200"/>
            <a:ext cx="2351520" cy="402120"/>
          </a:xfrm>
          <a:prstGeom prst="rect">
            <a:avLst/>
          </a:prstGeom>
          <a:solidFill>
            <a:srgbClr val="BFBFBF">
              <a:alpha val="30000"/>
            </a:srgb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200" b="1" u="none" strike="noStrike">
                <a:solidFill>
                  <a:srgbClr val="595959"/>
                </a:solidFill>
                <a:effectLst/>
                <a:uFillTx/>
                <a:latin typeface="メイリオ"/>
                <a:ea typeface="メイリオ"/>
              </a:rPr>
              <a:t>⑧LTV</a:t>
            </a:r>
            <a:r>
              <a:rPr lang="ja-JP" sz="1200" b="1" u="none" strike="noStrike">
                <a:solidFill>
                  <a:srgbClr val="595959"/>
                </a:solidFill>
                <a:effectLst/>
                <a:uFillTx/>
                <a:latin typeface="メイリオ"/>
                <a:ea typeface="メイリオ"/>
              </a:rPr>
              <a:t>最大化・紹介</a:t>
            </a:r>
            <a:endParaRPr lang="en-US" sz="1200" b="0" u="none" strike="noStrike">
              <a:solidFill>
                <a:srgbClr val="595959"/>
              </a:solidFill>
              <a:effectLst/>
              <a:uFillTx/>
              <a:latin typeface="Arial"/>
            </a:endParaRPr>
          </a:p>
          <a:p>
            <a:pPr defTabSz="914400">
              <a:lnSpc>
                <a:spcPct val="100000"/>
              </a:lnSpc>
            </a:pPr>
            <a:endParaRPr lang="en-US" sz="1100" b="0" u="none" strike="noStrike">
              <a:solidFill>
                <a:srgbClr val="595959"/>
              </a:solidFill>
              <a:effectLst/>
              <a:uFillTx/>
              <a:latin typeface="Arial"/>
            </a:endParaRPr>
          </a:p>
        </p:txBody>
      </p:sp>
      <p:sp>
        <p:nvSpPr>
          <p:cNvPr id="97" name="テキスト ボックス 9"/>
          <p:cNvSpPr/>
          <p:nvPr/>
        </p:nvSpPr>
        <p:spPr>
          <a:xfrm>
            <a:off x="334440" y="1938600"/>
            <a:ext cx="2102760" cy="328680"/>
          </a:xfrm>
          <a:prstGeom prst="rect">
            <a:avLst/>
          </a:prstGeom>
          <a:solidFill>
            <a:schemeClr val="accent6">
              <a:lumMod val="40000"/>
              <a:lumOff val="60000"/>
              <a:alpha val="30000"/>
            </a:schemeClr>
          </a:solidFill>
          <a:ln w="0">
            <a:noFill/>
          </a:ln>
        </p:spPr>
        <p:style>
          <a:lnRef idx="0">
            <a:scrgbClr r="0" g="0" b="0"/>
          </a:lnRef>
          <a:fillRef idx="0">
            <a:scrgbClr r="0" g="0" b="0"/>
          </a:fillRef>
          <a:effectRef idx="0">
            <a:scrgbClr r="0" g="0" b="0"/>
          </a:effectRef>
          <a:fontRef idx="minor"/>
        </p:style>
        <p:txBody>
          <a:bodyPr lIns="64080" tIns="45000" rIns="64080" bIns="45000" anchor="t">
            <a:noAutofit/>
          </a:bodyPr>
          <a:lstStyle/>
          <a:p>
            <a:pPr defTabSz="914400">
              <a:lnSpc>
                <a:spcPct val="100000"/>
              </a:lnSpc>
            </a:pPr>
            <a:r>
              <a:rPr lang="en-US" sz="1200" b="1" u="none" strike="noStrike">
                <a:solidFill>
                  <a:schemeClr val="dk1"/>
                </a:solidFill>
                <a:effectLst/>
                <a:uFillTx/>
                <a:latin typeface="メイリオ"/>
                <a:ea typeface="メイリオ"/>
              </a:rPr>
              <a:t>① 接触（認知・流入）</a:t>
            </a:r>
            <a:endParaRPr lang="en-US" sz="1200" b="0" u="none" strike="noStrike">
              <a:solidFill>
                <a:srgbClr val="000000"/>
              </a:solidFill>
              <a:effectLst/>
              <a:uFillTx/>
              <a:latin typeface="Arial"/>
            </a:endParaRPr>
          </a:p>
        </p:txBody>
      </p:sp>
      <p:sp>
        <p:nvSpPr>
          <p:cNvPr id="98" name="テキスト ボックス 10"/>
          <p:cNvSpPr/>
          <p:nvPr/>
        </p:nvSpPr>
        <p:spPr>
          <a:xfrm>
            <a:off x="1268280" y="2203560"/>
            <a:ext cx="2102760" cy="328680"/>
          </a:xfrm>
          <a:prstGeom prst="rect">
            <a:avLst/>
          </a:prstGeom>
          <a:solidFill>
            <a:schemeClr val="accent6">
              <a:lumMod val="40000"/>
              <a:lumOff val="60000"/>
              <a:alpha val="30000"/>
            </a:schemeClr>
          </a:solidFill>
          <a:ln w="0">
            <a:noFill/>
          </a:ln>
        </p:spPr>
        <p:style>
          <a:lnRef idx="0">
            <a:scrgbClr r="0" g="0" b="0"/>
          </a:lnRef>
          <a:fillRef idx="0">
            <a:scrgbClr r="0" g="0" b="0"/>
          </a:fillRef>
          <a:effectRef idx="0">
            <a:scrgbClr r="0" g="0" b="0"/>
          </a:effectRef>
          <a:fontRef idx="minor"/>
        </p:style>
        <p:txBody>
          <a:bodyPr lIns="64080" tIns="45000" rIns="64080" bIns="45000" anchor="t">
            <a:noAutofit/>
          </a:bodyPr>
          <a:lstStyle/>
          <a:p>
            <a:pPr defTabSz="914400">
              <a:lnSpc>
                <a:spcPct val="100000"/>
              </a:lnSpc>
            </a:pPr>
            <a:r>
              <a:rPr lang="en-US" sz="1200" b="1" u="none" strike="noStrike">
                <a:solidFill>
                  <a:schemeClr val="dk1"/>
                </a:solidFill>
                <a:effectLst/>
                <a:uFillTx/>
                <a:latin typeface="メイリオ"/>
                <a:ea typeface="メイリオ"/>
              </a:rPr>
              <a:t>② サイト離脱（対策）</a:t>
            </a:r>
            <a:endParaRPr lang="en-US" sz="1200" b="0" u="none" strike="noStrike">
              <a:solidFill>
                <a:srgbClr val="000000"/>
              </a:solidFill>
              <a:effectLst/>
              <a:uFillTx/>
              <a:latin typeface="Arial"/>
            </a:endParaRPr>
          </a:p>
        </p:txBody>
      </p:sp>
      <p:sp>
        <p:nvSpPr>
          <p:cNvPr id="99" name="テキスト ボックス 11"/>
          <p:cNvSpPr/>
          <p:nvPr/>
        </p:nvSpPr>
        <p:spPr>
          <a:xfrm>
            <a:off x="2202480" y="2468880"/>
            <a:ext cx="2102760" cy="328680"/>
          </a:xfrm>
          <a:prstGeom prst="rect">
            <a:avLst/>
          </a:prstGeom>
          <a:solidFill>
            <a:schemeClr val="accent6">
              <a:lumMod val="40000"/>
              <a:lumOff val="60000"/>
              <a:alpha val="30000"/>
            </a:schemeClr>
          </a:solidFill>
          <a:ln w="0">
            <a:noFill/>
          </a:ln>
        </p:spPr>
        <p:style>
          <a:lnRef idx="0">
            <a:scrgbClr r="0" g="0" b="0"/>
          </a:lnRef>
          <a:fillRef idx="0">
            <a:scrgbClr r="0" g="0" b="0"/>
          </a:fillRef>
          <a:effectRef idx="0">
            <a:scrgbClr r="0" g="0" b="0"/>
          </a:effectRef>
          <a:fontRef idx="minor"/>
        </p:style>
        <p:txBody>
          <a:bodyPr lIns="64080" tIns="45000" rIns="64080" bIns="45000" anchor="t">
            <a:noAutofit/>
          </a:bodyPr>
          <a:lstStyle/>
          <a:p>
            <a:pPr defTabSz="914400">
              <a:lnSpc>
                <a:spcPct val="100000"/>
              </a:lnSpc>
            </a:pPr>
            <a:r>
              <a:rPr lang="en-US" sz="1200" b="1" u="none" strike="noStrike">
                <a:solidFill>
                  <a:schemeClr val="dk1"/>
                </a:solidFill>
                <a:effectLst/>
                <a:uFillTx/>
                <a:latin typeface="メイリオ"/>
                <a:ea typeface="メイリオ"/>
              </a:rPr>
              <a:t>③ 育成（興味喚起）</a:t>
            </a:r>
            <a:endParaRPr lang="en-US" sz="1200" b="0" u="none" strike="noStrike">
              <a:solidFill>
                <a:srgbClr val="000000"/>
              </a:solidFill>
              <a:effectLst/>
              <a:uFillTx/>
              <a:latin typeface="Arial"/>
            </a:endParaRPr>
          </a:p>
        </p:txBody>
      </p:sp>
      <p:sp>
        <p:nvSpPr>
          <p:cNvPr id="100" name="テキスト ボックス 12"/>
          <p:cNvSpPr/>
          <p:nvPr/>
        </p:nvSpPr>
        <p:spPr>
          <a:xfrm>
            <a:off x="3136320" y="2734200"/>
            <a:ext cx="2102760" cy="328680"/>
          </a:xfrm>
          <a:prstGeom prst="rect">
            <a:avLst/>
          </a:prstGeom>
          <a:solidFill>
            <a:schemeClr val="accent6">
              <a:lumMod val="40000"/>
              <a:lumOff val="60000"/>
              <a:alpha val="30000"/>
            </a:schemeClr>
          </a:solidFill>
          <a:ln w="0">
            <a:noFill/>
          </a:ln>
        </p:spPr>
        <p:style>
          <a:lnRef idx="0">
            <a:scrgbClr r="0" g="0" b="0"/>
          </a:lnRef>
          <a:fillRef idx="0">
            <a:scrgbClr r="0" g="0" b="0"/>
          </a:fillRef>
          <a:effectRef idx="0">
            <a:scrgbClr r="0" g="0" b="0"/>
          </a:effectRef>
          <a:fontRef idx="minor"/>
        </p:style>
        <p:txBody>
          <a:bodyPr lIns="64080" tIns="45000" rIns="64080" bIns="45000" anchor="t">
            <a:noAutofit/>
          </a:bodyPr>
          <a:lstStyle/>
          <a:p>
            <a:pPr defTabSz="914400">
              <a:lnSpc>
                <a:spcPct val="100000"/>
              </a:lnSpc>
            </a:pPr>
            <a:r>
              <a:rPr lang="en-US" sz="1200" b="1" u="none" strike="noStrike">
                <a:solidFill>
                  <a:schemeClr val="dk1"/>
                </a:solidFill>
                <a:effectLst/>
                <a:uFillTx/>
                <a:latin typeface="メイリオ"/>
                <a:ea typeface="メイリオ"/>
              </a:rPr>
              <a:t>④リード獲得 </a:t>
            </a:r>
            <a:r>
              <a:rPr lang="en-US" sz="1100" b="1" u="none" strike="noStrike">
                <a:solidFill>
                  <a:schemeClr val="dk1"/>
                </a:solidFill>
                <a:effectLst/>
                <a:uFillTx/>
                <a:latin typeface="メイリオ"/>
                <a:ea typeface="メイリオ"/>
              </a:rPr>
              <a:t>(web/LINE)</a:t>
            </a:r>
            <a:endParaRPr lang="en-US" sz="1100" b="0" u="none" strike="noStrike">
              <a:solidFill>
                <a:srgbClr val="000000"/>
              </a:solidFill>
              <a:effectLst/>
              <a:uFillTx/>
              <a:latin typeface="Arial"/>
            </a:endParaRPr>
          </a:p>
        </p:txBody>
      </p:sp>
      <p:cxnSp>
        <p:nvCxnSpPr>
          <p:cNvPr id="101" name="コネクタ: カギ線 13"/>
          <p:cNvCxnSpPr/>
          <p:nvPr/>
        </p:nvCxnSpPr>
        <p:spPr>
          <a:xfrm rot="5400000" flipH="1" flipV="1">
            <a:off x="4319280" y="2335680"/>
            <a:ext cx="466560" cy="330480"/>
          </a:xfrm>
          <a:prstGeom prst="bentConnector3">
            <a:avLst>
              <a:gd name="adj1" fmla="val 49961"/>
            </a:avLst>
          </a:prstGeom>
          <a:ln w="19050">
            <a:solidFill>
              <a:srgbClr val="000000"/>
            </a:solidFill>
            <a:prstDash val="sysDot"/>
            <a:round/>
            <a:tailEnd type="triangle" w="med" len="med"/>
          </a:ln>
        </p:spPr>
      </p:cxnSp>
      <p:sp>
        <p:nvSpPr>
          <p:cNvPr id="102" name="正方形/長方形 14"/>
          <p:cNvSpPr/>
          <p:nvPr/>
        </p:nvSpPr>
        <p:spPr>
          <a:xfrm>
            <a:off x="334440" y="1481400"/>
            <a:ext cx="9425520" cy="4021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cxnSp>
        <p:nvCxnSpPr>
          <p:cNvPr id="103" name="直線矢印コネクタ 15"/>
          <p:cNvCxnSpPr/>
          <p:nvPr/>
        </p:nvCxnSpPr>
        <p:spPr>
          <a:xfrm>
            <a:off x="417600" y="1682280"/>
            <a:ext cx="9240480" cy="360"/>
          </a:xfrm>
          <a:prstGeom prst="straightConnector1">
            <a:avLst/>
          </a:prstGeom>
          <a:ln w="28575">
            <a:solidFill>
              <a:srgbClr val="000000"/>
            </a:solidFill>
            <a:prstDash val="sysDash"/>
            <a:round/>
            <a:headEnd type="triangle" w="med" len="med"/>
            <a:tailEnd type="triangle" w="med" len="med"/>
          </a:ln>
        </p:spPr>
      </p:cxnSp>
      <p:sp>
        <p:nvSpPr>
          <p:cNvPr id="104" name="テキスト ボックス 16"/>
          <p:cNvSpPr/>
          <p:nvPr/>
        </p:nvSpPr>
        <p:spPr>
          <a:xfrm>
            <a:off x="3898080" y="1536120"/>
            <a:ext cx="265140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200" b="1" u="none" strike="noStrike">
                <a:solidFill>
                  <a:schemeClr val="dk1"/>
                </a:solidFill>
                <a:effectLst/>
                <a:uFillTx/>
                <a:latin typeface="メイリオ"/>
                <a:ea typeface="メイリオ"/>
              </a:rPr>
              <a:t>カスタマージャーニーマップ</a:t>
            </a:r>
            <a:endParaRPr lang="en-US" sz="1200" b="0" u="none" strike="noStrike">
              <a:solidFill>
                <a:srgbClr val="000000"/>
              </a:solidFill>
              <a:effectLst/>
              <a:uFillTx/>
              <a:latin typeface="Arial"/>
            </a:endParaRPr>
          </a:p>
        </p:txBody>
      </p:sp>
      <p:sp>
        <p:nvSpPr>
          <p:cNvPr id="105" name="正方形/長方形 27"/>
          <p:cNvSpPr/>
          <p:nvPr/>
        </p:nvSpPr>
        <p:spPr>
          <a:xfrm>
            <a:off x="334440" y="3246120"/>
            <a:ext cx="9425520" cy="31086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6" name="テキスト ボックス 33"/>
          <p:cNvSpPr/>
          <p:nvPr/>
        </p:nvSpPr>
        <p:spPr>
          <a:xfrm>
            <a:off x="3542385" y="3931920"/>
            <a:ext cx="6035040" cy="731520"/>
          </a:xfrm>
          <a:prstGeom prst="rect">
            <a:avLst/>
          </a:prstGeom>
          <a:solidFill>
            <a:srgbClr val="FFFFFF"/>
          </a:solidFill>
          <a:ln w="12700">
            <a:solidFill>
              <a:srgbClr val="A6A6A6"/>
            </a:solidFill>
            <a:prstDash val="dash"/>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a:solidFill>
                  <a:srgbClr val="595959"/>
                </a:solidFill>
                <a:effectLst/>
                <a:uFillTx/>
                <a:latin typeface="メイリオ"/>
                <a:ea typeface="メイリオ"/>
              </a:rPr>
              <a:t>あらうち様による個別対応（参考・計測対象外）</a:t>
            </a:r>
            <a:endParaRPr lang="en-US" sz="1400" b="0" u="none" strike="noStrike">
              <a:solidFill>
                <a:srgbClr val="595959"/>
              </a:solidFill>
              <a:effectLst/>
              <a:uFillTx/>
              <a:latin typeface="Arial"/>
            </a:endParaRPr>
          </a:p>
          <a:p>
            <a:pPr algn="ctr" defTabSz="914400">
              <a:lnSpc>
                <a:spcPct val="100000"/>
              </a:lnSpc>
            </a:pPr>
            <a:r>
              <a:rPr lang="ja-JP" sz="1200" b="0" u="none" strike="noStrike">
                <a:solidFill>
                  <a:srgbClr val="595959"/>
                </a:solidFill>
                <a:effectLst/>
                <a:uFillTx/>
                <a:latin typeface="メイリオ"/>
                <a:ea typeface="メイリオ"/>
              </a:rPr>
              <a:t>空室確認・内見の手配／お申込み／ご契約／鍵のお渡し・お引っ越し など</a:t>
            </a:r>
            <a:endParaRPr lang="en-US" sz="1200" b="0" u="none" strike="noStrike">
              <a:solidFill>
                <a:srgbClr val="595959"/>
              </a:solidFill>
              <a:effectLst/>
              <a:uFillTx/>
              <a:latin typeface="Arial"/>
            </a:endParaRPr>
          </a:p>
        </p:txBody>
      </p:sp>
      <p:sp>
        <p:nvSpPr>
          <p:cNvPr id="108" name="テキスト ボックス 37"/>
          <p:cNvSpPr/>
          <p:nvPr/>
        </p:nvSpPr>
        <p:spPr>
          <a:xfrm>
            <a:off x="329040" y="3310200"/>
            <a:ext cx="2742840" cy="310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200" b="0" u="none" strike="noStrike">
                <a:solidFill>
                  <a:schemeClr val="dk1"/>
                </a:solidFill>
                <a:effectLst/>
                <a:uFillTx/>
                <a:latin typeface="メイリオ"/>
                <a:ea typeface="メイリオ"/>
              </a:rPr>
              <a:t>&lt;</a:t>
            </a:r>
            <a:r>
              <a:rPr lang="ja-JP" sz="1200" b="0" u="none" strike="noStrike">
                <a:solidFill>
                  <a:schemeClr val="dk1"/>
                </a:solidFill>
                <a:effectLst/>
                <a:uFillTx/>
                <a:latin typeface="メイリオ"/>
                <a:ea typeface="メイリオ"/>
              </a:rPr>
              <a:t>貴社のユーザー動線イメージ</a:t>
            </a:r>
            <a:r>
              <a:rPr lang="en-US" sz="1200" b="0" u="none" strike="noStrike">
                <a:solidFill>
                  <a:schemeClr val="dk1"/>
                </a:solidFill>
                <a:effectLst/>
                <a:uFillTx/>
                <a:latin typeface="メイリオ"/>
                <a:ea typeface="メイリオ"/>
              </a:rPr>
              <a:t>&gt;</a:t>
            </a:r>
            <a:endParaRPr lang="en-US" sz="1200" b="0" u="none" strike="noStrike">
              <a:solidFill>
                <a:srgbClr val="000000"/>
              </a:solidFill>
              <a:effectLst/>
              <a:uFillTx/>
              <a:latin typeface="Arial"/>
            </a:endParaRPr>
          </a:p>
        </p:txBody>
      </p:sp>
      <p:sp>
        <p:nvSpPr>
          <p:cNvPr id="109" name="テキスト ボックス 38"/>
          <p:cNvSpPr/>
          <p:nvPr/>
        </p:nvSpPr>
        <p:spPr>
          <a:xfrm>
            <a:off x="365760" y="3730680"/>
            <a:ext cx="1965600" cy="328680"/>
          </a:xfrm>
          <a:prstGeom prst="rect">
            <a:avLst/>
          </a:prstGeom>
          <a:solidFill>
            <a:schemeClr val="lt1">
              <a:lumMod val="75000"/>
              <a:alpha val="30000"/>
            </a:schemeClr>
          </a:solidFill>
          <a:ln w="0">
            <a:noFill/>
          </a:ln>
        </p:spPr>
        <p:style>
          <a:lnRef idx="0">
            <a:scrgbClr r="0" g="0" b="0"/>
          </a:lnRef>
          <a:fillRef idx="0">
            <a:scrgbClr r="0" g="0" b="0"/>
          </a:fillRef>
          <a:effectRef idx="0">
            <a:scrgbClr r="0" g="0" b="0"/>
          </a:effectRef>
          <a:fontRef idx="minor"/>
        </p:style>
        <p:txBody>
          <a:bodyPr lIns="0" tIns="45000" rIns="0" bIns="45000" anchor="ctr">
            <a:noAutofit/>
          </a:bodyPr>
          <a:lstStyle/>
          <a:p>
            <a:pPr algn="ctr" defTabSz="914400">
              <a:lnSpc>
                <a:spcPct val="100000"/>
              </a:lnSpc>
            </a:pPr>
            <a:r>
              <a:rPr lang="en-US" sz="1300" b="1" u="none" strike="noStrike">
                <a:solidFill>
                  <a:schemeClr val="dk1"/>
                </a:solidFill>
                <a:effectLst/>
                <a:uFillTx/>
                <a:latin typeface="メイリオ"/>
                <a:ea typeface="メイリオ"/>
              </a:rPr>
              <a:t>①ポータルで物件検索</a:t>
            </a:r>
            <a:endParaRPr lang="en-US" sz="1300" b="0" u="none" strike="noStrike">
              <a:solidFill>
                <a:srgbClr val="000000"/>
              </a:solidFill>
              <a:effectLst/>
              <a:uFillTx/>
              <a:latin typeface="Arial"/>
            </a:endParaRPr>
          </a:p>
        </p:txBody>
      </p:sp>
      <p:sp>
        <p:nvSpPr>
          <p:cNvPr id="110" name="テキスト ボックス 25"/>
          <p:cNvSpPr/>
          <p:nvPr/>
        </p:nvSpPr>
        <p:spPr>
          <a:xfrm>
            <a:off x="365760" y="4133160"/>
            <a:ext cx="1965600" cy="328680"/>
          </a:xfrm>
          <a:prstGeom prst="rect">
            <a:avLst/>
          </a:prstGeom>
          <a:solidFill>
            <a:schemeClr val="lt1">
              <a:lumMod val="75000"/>
              <a:alpha val="30000"/>
            </a:schemeClr>
          </a:solidFill>
          <a:ln w="0">
            <a:noFill/>
          </a:ln>
        </p:spPr>
        <p:style>
          <a:lnRef idx="0">
            <a:scrgbClr r="0" g="0" b="0"/>
          </a:lnRef>
          <a:fillRef idx="0">
            <a:scrgbClr r="0" g="0" b="0"/>
          </a:fillRef>
          <a:effectRef idx="0">
            <a:scrgbClr r="0" g="0" b="0"/>
          </a:effectRef>
          <a:fontRef idx="minor"/>
        </p:style>
        <p:txBody>
          <a:bodyPr lIns="0" tIns="45000" rIns="0" bIns="45000" anchor="ctr">
            <a:noAutofit/>
          </a:bodyPr>
          <a:lstStyle/>
          <a:p>
            <a:pPr algn="ctr" defTabSz="914400">
              <a:lnSpc>
                <a:spcPct val="100000"/>
              </a:lnSpc>
            </a:pPr>
            <a:r>
              <a:rPr lang="en-US" sz="1300" b="1" u="none" strike="noStrike">
                <a:solidFill>
                  <a:schemeClr val="dk1"/>
                </a:solidFill>
                <a:effectLst/>
                <a:uFillTx/>
                <a:latin typeface="メイリオ"/>
                <a:ea typeface="メイリオ"/>
              </a:rPr>
              <a:t>②100</a:t>
            </a:r>
            <a:r>
              <a:rPr lang="ja-JP" sz="1300" b="1" u="none" strike="noStrike">
                <a:solidFill>
                  <a:schemeClr val="dk1"/>
                </a:solidFill>
                <a:effectLst/>
                <a:uFillTx/>
                <a:latin typeface="メイリオ"/>
                <a:ea typeface="メイリオ"/>
              </a:rPr>
              <a:t>円賃貸のサイト</a:t>
            </a:r>
            <a:endParaRPr lang="en-US" sz="1300" b="0" u="none" strike="noStrike">
              <a:solidFill>
                <a:srgbClr val="000000"/>
              </a:solidFill>
              <a:effectLst/>
              <a:uFillTx/>
              <a:latin typeface="Arial"/>
            </a:endParaRPr>
          </a:p>
        </p:txBody>
      </p:sp>
      <p:sp>
        <p:nvSpPr>
          <p:cNvPr id="111" name="テキスト ボックス 36"/>
          <p:cNvSpPr/>
          <p:nvPr/>
        </p:nvSpPr>
        <p:spPr>
          <a:xfrm>
            <a:off x="365760" y="5394960"/>
            <a:ext cx="1965600" cy="328680"/>
          </a:xfrm>
          <a:prstGeom prst="rect">
            <a:avLst/>
          </a:prstGeom>
          <a:solidFill>
            <a:schemeClr val="lt1">
              <a:lumMod val="75000"/>
              <a:alpha val="30000"/>
            </a:schemeClr>
          </a:solidFill>
          <a:ln w="0">
            <a:noFill/>
          </a:ln>
        </p:spPr>
        <p:style>
          <a:lnRef idx="0">
            <a:scrgbClr r="0" g="0" b="0"/>
          </a:lnRef>
          <a:fillRef idx="0">
            <a:scrgbClr r="0" g="0" b="0"/>
          </a:fillRef>
          <a:effectRef idx="0">
            <a:scrgbClr r="0" g="0" b="0"/>
          </a:effectRef>
          <a:fontRef idx="minor"/>
        </p:style>
        <p:txBody>
          <a:bodyPr lIns="0" tIns="45000" rIns="0" bIns="45000" anchor="ctr">
            <a:noAutofit/>
          </a:bodyPr>
          <a:lstStyle/>
          <a:p>
            <a:pPr algn="ctr" defTabSz="914400">
              <a:lnSpc>
                <a:spcPct val="100000"/>
              </a:lnSpc>
            </a:pPr>
            <a:r>
              <a:rPr lang="en-US" sz="1300" b="1" u="none" strike="noStrike">
                <a:solidFill>
                  <a:schemeClr val="dk1"/>
                </a:solidFill>
                <a:effectLst/>
                <a:uFillTx/>
                <a:latin typeface="メイリオ"/>
                <a:ea typeface="メイリオ"/>
              </a:rPr>
              <a:t>③LINE</a:t>
            </a:r>
            <a:r>
              <a:rPr lang="ja-JP" sz="1300" b="1" u="none" strike="noStrike">
                <a:solidFill>
                  <a:schemeClr val="dk1"/>
                </a:solidFill>
                <a:effectLst/>
                <a:uFillTx/>
                <a:latin typeface="メイリオ"/>
                <a:ea typeface="メイリオ"/>
              </a:rPr>
              <a:t>で友だち追加</a:t>
            </a:r>
            <a:endParaRPr lang="en-US" sz="1300" b="0" u="none" strike="noStrike">
              <a:solidFill>
                <a:srgbClr val="000000"/>
              </a:solidFill>
              <a:effectLst/>
              <a:uFillTx/>
              <a:latin typeface="Arial"/>
            </a:endParaRPr>
          </a:p>
        </p:txBody>
      </p:sp>
      <p:sp>
        <p:nvSpPr>
          <p:cNvPr id="112" name="テキスト ボックス 45"/>
          <p:cNvSpPr/>
          <p:nvPr/>
        </p:nvSpPr>
        <p:spPr>
          <a:xfrm>
            <a:off x="365760" y="5797440"/>
            <a:ext cx="1965600" cy="328680"/>
          </a:xfrm>
          <a:prstGeom prst="rect">
            <a:avLst/>
          </a:prstGeom>
          <a:solidFill>
            <a:srgbClr val="C00000"/>
          </a:solidFill>
          <a:ln w="0">
            <a:noFill/>
          </a:ln>
        </p:spPr>
        <p:style>
          <a:lnRef idx="0">
            <a:scrgbClr r="0" g="0" b="0"/>
          </a:lnRef>
          <a:fillRef idx="0">
            <a:scrgbClr r="0" g="0" b="0"/>
          </a:fillRef>
          <a:effectRef idx="0">
            <a:scrgbClr r="0" g="0" b="0"/>
          </a:effectRef>
          <a:fontRef idx="minor"/>
        </p:style>
        <p:txBody>
          <a:bodyPr lIns="0" tIns="45000" rIns="0" bIns="45000" anchor="ctr">
            <a:noAutofit/>
          </a:bodyPr>
          <a:lstStyle/>
          <a:p>
            <a:pPr algn="ctr" defTabSz="914400">
              <a:lnSpc>
                <a:spcPct val="100000"/>
              </a:lnSpc>
            </a:pPr>
            <a:r>
              <a:rPr lang="en-US" sz="1200" b="1" u="none" strike="noStrike">
                <a:solidFill>
                  <a:srgbClr val="FFFFFF"/>
                </a:solidFill>
                <a:effectLst/>
                <a:uFillTx/>
                <a:latin typeface="メイリオ"/>
                <a:ea typeface="メイリオ"/>
              </a:rPr>
              <a:t>④物件情報の送信（CV）</a:t>
            </a:r>
            <a:endParaRPr lang="en-US" sz="1200" b="0" u="none" strike="noStrike">
              <a:solidFill>
                <a:srgbClr val="FFFFFF"/>
              </a:solidFill>
              <a:effectLst/>
              <a:uFillTx/>
              <a:latin typeface="Arial"/>
            </a:endParaRPr>
          </a:p>
        </p:txBody>
      </p:sp>
      <p:cxnSp>
        <p:nvCxnSpPr>
          <p:cNvPr id="113" name="コネクタ: カギ線 46"/>
          <p:cNvCxnSpPr>
            <a:stCxn id="112" idx="3"/>
            <a:endCxn id="106" idx="1"/>
          </p:cNvCxnSpPr>
          <p:nvPr/>
        </p:nvCxnSpPr>
        <p:spPr>
          <a:xfrm flipV="1">
            <a:off x="2331360" y="4297320"/>
            <a:ext cx="1211400" cy="1664640"/>
          </a:xfrm>
          <a:prstGeom prst="bentConnector3">
            <a:avLst>
              <a:gd name="adj1" fmla="val 50000"/>
            </a:avLst>
          </a:prstGeom>
          <a:ln w="12700">
            <a:solidFill>
              <a:srgbClr val="000000"/>
            </a:solidFill>
            <a:prstDash val="sysDash"/>
            <a:round/>
            <a:tailEnd type="triangle" w="med" len="med"/>
          </a:ln>
        </p:spPr>
      </p:cxnSp>
      <p:sp>
        <p:nvSpPr>
          <p:cNvPr id="114" name="テキスト ボックス 54"/>
          <p:cNvSpPr/>
          <p:nvPr/>
        </p:nvSpPr>
        <p:spPr>
          <a:xfrm>
            <a:off x="2662560" y="5340240"/>
            <a:ext cx="548280" cy="310680"/>
          </a:xfrm>
          <a:prstGeom prst="rect">
            <a:avLst/>
          </a:prstGeom>
          <a:solidFill>
            <a:schemeClr val="accent1">
              <a:lumMod val="40000"/>
              <a:lumOff val="60000"/>
            </a:schemeClr>
          </a:solidFill>
          <a:ln w="0">
            <a:noFill/>
          </a:ln>
        </p:spPr>
        <p:style>
          <a:lnRef idx="0">
            <a:scrgbClr r="0" g="0" b="0"/>
          </a:lnRef>
          <a:fillRef idx="0">
            <a:scrgbClr r="0" g="0" b="0"/>
          </a:fillRef>
          <a:effectRef idx="0">
            <a:scrgbClr r="0" g="0" b="0"/>
          </a:effectRef>
          <a:fontRef idx="minor"/>
        </p:style>
        <p:txBody>
          <a:bodyPr lIns="18360" tIns="45000" rIns="18360" bIns="45000" anchor="ctr">
            <a:noAutofit/>
          </a:bodyPr>
          <a:lstStyle/>
          <a:p>
            <a:pPr algn="ctr" defTabSz="914400">
              <a:lnSpc>
                <a:spcPct val="100000"/>
              </a:lnSpc>
            </a:pPr>
            <a:r>
              <a:rPr lang="en-US" sz="1100" b="0" u="none" strike="noStrike">
                <a:solidFill>
                  <a:srgbClr val="1F285A"/>
                </a:solidFill>
                <a:effectLst/>
                <a:uFillTx/>
                <a:latin typeface="メイリオ"/>
                <a:ea typeface="メイリオ"/>
              </a:rPr>
              <a:t>LINE</a:t>
            </a:r>
            <a:endParaRPr lang="en-US" sz="1100" b="0" u="none" strike="noStrike">
              <a:solidFill>
                <a:srgbClr val="000000"/>
              </a:solidFill>
              <a:effectLst/>
              <a:uFillTx/>
              <a:latin typeface="Arial"/>
            </a:endParaRPr>
          </a:p>
        </p:txBody>
      </p:sp>
      <p:cxnSp>
        <p:nvCxnSpPr>
          <p:cNvPr id="116" name="コネクタ: カギ線 21"/>
          <p:cNvCxnSpPr/>
          <p:nvPr/>
        </p:nvCxnSpPr>
        <p:spPr>
          <a:xfrm>
            <a:off x="2331720" y="4297320"/>
            <a:ext cx="1210680" cy="360"/>
          </a:xfrm>
          <a:prstGeom prst="bentConnector2">
            <a:avLst/>
          </a:prstGeom>
          <a:ln w="12700">
            <a:solidFill>
              <a:srgbClr val="000000"/>
            </a:solidFill>
            <a:prstDash val="sysDash"/>
            <a:round/>
            <a:tailEnd type="triangle" w="med" len="med"/>
          </a:ln>
        </p:spPr>
      </p:cxnSp>
      <p:sp>
        <p:nvSpPr>
          <p:cNvPr id="117" name="テキスト ボックス 30"/>
          <p:cNvSpPr/>
          <p:nvPr/>
        </p:nvSpPr>
        <p:spPr>
          <a:xfrm>
            <a:off x="426240" y="599040"/>
            <a:ext cx="9068760" cy="767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dk1">
                    <a:lumMod val="65000"/>
                    <a:lumOff val="35000"/>
                  </a:schemeClr>
                </a:solidFill>
                <a:effectLst/>
                <a:uFillTx/>
                <a:latin typeface="メイリオ"/>
                <a:ea typeface="メイリオ"/>
              </a:rPr>
              <a:t>ポータルで物件検索 → サイト閲覧 → LINE追加 → フォームで物件を送信（CV）の流れ</a:t>
            </a:r>
            <a:endParaRPr lang="en-US" sz="1400" b="0" u="none" strike="noStrike" dirty="0">
              <a:solidFill>
                <a:srgbClr val="000000"/>
              </a:solidFill>
              <a:effectLst/>
              <a:uFillTx/>
              <a:latin typeface="Arial"/>
            </a:endParaRPr>
          </a:p>
          <a:p>
            <a:pPr algn="ctr" defTabSz="914400">
              <a:lnSpc>
                <a:spcPct val="100000"/>
              </a:lnSpc>
            </a:pPr>
            <a:r>
              <a:rPr lang="ja-JP" sz="1400" b="1" u="none" strike="noStrike" dirty="0">
                <a:solidFill>
                  <a:schemeClr val="dk1">
                    <a:lumMod val="65000"/>
                    <a:lumOff val="35000"/>
                  </a:schemeClr>
                </a:solidFill>
                <a:effectLst/>
                <a:uFillTx/>
                <a:latin typeface="メイリオ"/>
                <a:ea typeface="メイリオ"/>
              </a:rPr>
              <a:t>最大の改善ポイントは、LINE友だち追加後に物件情報の送信へつなげる導線整備</a:t>
            </a:r>
            <a:endParaRPr lang="en-US" sz="1400" b="0" u="none" strike="noStrike" dirty="0">
              <a:solidFill>
                <a:srgbClr val="000000"/>
              </a:solidFill>
              <a:effectLst/>
              <a:uFillTx/>
              <a:latin typeface="Arial"/>
            </a:endParaRPr>
          </a:p>
        </p:txBody>
      </p:sp>
      <p:sp>
        <p:nvSpPr>
          <p:cNvPr id="120" name="テキスト ボックス 32"/>
          <p:cNvSpPr/>
          <p:nvPr/>
        </p:nvSpPr>
        <p:spPr>
          <a:xfrm>
            <a:off x="2433960" y="4069080"/>
            <a:ext cx="529920" cy="456840"/>
          </a:xfrm>
          <a:prstGeom prst="rect">
            <a:avLst/>
          </a:prstGeom>
          <a:solidFill>
            <a:schemeClr val="accent1">
              <a:lumMod val="40000"/>
              <a:lumOff val="60000"/>
            </a:schemeClr>
          </a:solidFill>
          <a:ln w="0">
            <a:noFill/>
          </a:ln>
        </p:spPr>
        <p:style>
          <a:lnRef idx="0">
            <a:scrgbClr r="0" g="0" b="0"/>
          </a:lnRef>
          <a:fillRef idx="0">
            <a:scrgbClr r="0" g="0" b="0"/>
          </a:fillRef>
          <a:effectRef idx="0">
            <a:scrgbClr r="0" g="0" b="0"/>
          </a:effectRef>
          <a:fontRef idx="minor"/>
        </p:style>
        <p:txBody>
          <a:bodyPr lIns="18360" tIns="45000" rIns="18360" bIns="45000" anchor="ctr">
            <a:noAutofit/>
          </a:bodyPr>
          <a:lstStyle/>
          <a:p>
            <a:pPr algn="ctr" defTabSz="914400">
              <a:lnSpc>
                <a:spcPct val="100000"/>
              </a:lnSpc>
            </a:pPr>
            <a:r>
              <a:rPr lang="ja-JP" sz="1100" b="0" u="none" strike="noStrike">
                <a:solidFill>
                  <a:srgbClr val="1F285A"/>
                </a:solidFill>
                <a:effectLst/>
                <a:uFillTx/>
                <a:latin typeface="メイリオ"/>
                <a:ea typeface="メイリオ"/>
              </a:rPr>
              <a:t>電話</a:t>
            </a:r>
            <a:endParaRPr lang="en-US" sz="1100" b="0" u="none" strike="noStrike">
              <a:solidFill>
                <a:srgbClr val="000000"/>
              </a:solidFill>
              <a:effectLst/>
              <a:uFillTx/>
              <a:latin typeface="Arial"/>
            </a:endParaRPr>
          </a:p>
          <a:p>
            <a:pPr algn="ctr" defTabSz="914400">
              <a:lnSpc>
                <a:spcPct val="100000"/>
              </a:lnSpc>
            </a:pPr>
            <a:r>
              <a:rPr lang="en-US" sz="1100" b="0" u="none" strike="noStrike">
                <a:solidFill>
                  <a:srgbClr val="1F285A"/>
                </a:solidFill>
                <a:effectLst/>
                <a:uFillTx/>
                <a:latin typeface="メイリオ"/>
                <a:ea typeface="メイリオ"/>
              </a:rPr>
              <a:t>WEB</a:t>
            </a:r>
            <a:endParaRPr lang="en-US" sz="1100" b="0" u="none" strike="noStrike">
              <a:solidFill>
                <a:srgbClr val="000000"/>
              </a:solidFill>
              <a:effectLst/>
              <a:uFillTx/>
              <a:latin typeface="Arial"/>
            </a:endParaRPr>
          </a:p>
        </p:txBody>
      </p:sp>
      <p:cxnSp>
        <p:nvCxnSpPr>
          <p:cNvPr id="121" name="矢印 ②→③"/>
          <p:cNvCxnSpPr/>
          <p:nvPr/>
        </p:nvCxnSpPr>
        <p:spPr>
          <a:xfrm>
            <a:off x="1348560" y="4462200"/>
            <a:ext cx="360" cy="933120"/>
          </a:xfrm>
          <a:prstGeom prst="straightConnector1">
            <a:avLst/>
          </a:prstGeom>
          <a:ln w="12700">
            <a:solidFill>
              <a:srgbClr val="000000"/>
            </a:solidFill>
            <a:prstDash val="sysDash"/>
            <a:round/>
            <a:tailEnd type="triangle" w="med" len="med"/>
          </a:ln>
        </p:spPr>
      </p:cxnSp>
      <p:sp>
        <p:nvSpPr>
          <p:cNvPr id="123" name="⑤の範囲"/>
          <p:cNvSpPr/>
          <p:nvPr/>
        </p:nvSpPr>
        <p:spPr>
          <a:xfrm>
            <a:off x="301680" y="5340240"/>
            <a:ext cx="2121120" cy="859320"/>
          </a:xfrm>
          <a:prstGeom prst="rect">
            <a:avLst/>
          </a:prstGeom>
          <a:noFill/>
          <a:ln w="22225">
            <a:solidFill>
              <a:srgbClr val="C00000"/>
            </a:solidFill>
            <a:prstDash val="dash"/>
            <a:round/>
          </a:ln>
        </p:spPr>
        <p:style>
          <a:lnRef idx="0">
            <a:scrgbClr r="0" g="0" b="0"/>
          </a:lnRef>
          <a:fillRef idx="0">
            <a:scrgbClr r="0" g="0" b="0"/>
          </a:fillRef>
          <a:effectRef idx="0">
            <a:scrgbClr r="0" g="0" b="0"/>
          </a:effectRef>
          <a:fontRef idx="minor"/>
        </p:style>
        <p:txBody>
          <a:bodyPr lIns="73080" tIns="36720" rIns="73080" bIns="36720" anchor="ctr">
            <a:noAutofit/>
          </a:bodyPr>
          <a:lstStyle/>
          <a:p>
            <a:pPr defTabSz="914400">
              <a:lnSpc>
                <a:spcPct val="100000"/>
              </a:lnSpc>
            </a:pPr>
            <a:endParaRPr lang="en-US" sz="1800" b="0" u="none" strike="noStrike">
              <a:solidFill>
                <a:srgbClr val="000000"/>
              </a:solidFill>
              <a:effectLst/>
              <a:uFillTx/>
              <a:latin typeface="Arial"/>
            </a:endParaRPr>
          </a:p>
        </p:txBody>
      </p:sp>
      <p:sp>
        <p:nvSpPr>
          <p:cNvPr id="124" name="⑤タブ"/>
          <p:cNvSpPr/>
          <p:nvPr/>
        </p:nvSpPr>
        <p:spPr>
          <a:xfrm>
            <a:off x="1426320" y="5212080"/>
            <a:ext cx="996480" cy="237240"/>
          </a:xfrm>
          <a:prstGeom prst="rect">
            <a:avLst/>
          </a:prstGeom>
          <a:solidFill>
            <a:srgbClr val="C00000"/>
          </a:solidFill>
          <a:ln w="0">
            <a:noFill/>
          </a:ln>
        </p:spPr>
        <p:style>
          <a:lnRef idx="0">
            <a:scrgbClr r="0" g="0" b="0"/>
          </a:lnRef>
          <a:fillRef idx="0">
            <a:scrgbClr r="0" g="0" b="0"/>
          </a:fillRef>
          <a:effectRef idx="0">
            <a:scrgbClr r="0" g="0" b="0"/>
          </a:effectRef>
          <a:fontRef idx="minor"/>
        </p:style>
        <p:txBody>
          <a:bodyPr lIns="18360" tIns="0" rIns="18360" bIns="0" anchor="ctr">
            <a:noAutofit/>
          </a:bodyPr>
          <a:lstStyle/>
          <a:p>
            <a:pPr algn="ctr" defTabSz="914400">
              <a:lnSpc>
                <a:spcPct val="100000"/>
              </a:lnSpc>
            </a:pPr>
            <a:r>
              <a:rPr lang="en-US" sz="1100" b="1" u="none" strike="noStrike">
                <a:solidFill>
                  <a:srgbClr val="FFFFFF"/>
                </a:solidFill>
                <a:effectLst/>
                <a:uFillTx/>
                <a:latin typeface="メイリオ"/>
                <a:ea typeface="メイリオ"/>
              </a:rPr>
              <a:t>⑤ 最重要課題</a:t>
            </a:r>
            <a:endParaRPr lang="en-US" sz="1100" b="0" u="none" strike="noStrike">
              <a:solidFill>
                <a:srgbClr val="FFFFFF"/>
              </a:solidFill>
              <a:effectLst/>
              <a:uFillTx/>
              <a:latin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178"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rPr>
              <a:t>全体像：サイト → LINE追加 → フォーム送信を標準機能でつなぐ</a:t>
            </a:r>
            <a:endParaRPr lang="en-US" sz="1600" b="0" u="none" strike="noStrike">
              <a:solidFill>
                <a:srgbClr val="000000"/>
              </a:solidFill>
              <a:effectLst/>
              <a:uFillTx/>
              <a:latin typeface="メイリオ"/>
            </a:endParaRPr>
          </a:p>
        </p:txBody>
      </p:sp>
      <p:cxnSp>
        <p:nvCxnSpPr>
          <p:cNvPr id="179"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180" name="正方形/長方形 4"/>
          <p:cNvSpPr/>
          <p:nvPr/>
        </p:nvSpPr>
        <p:spPr>
          <a:xfrm>
            <a:off x="453240" y="1755742"/>
            <a:ext cx="9190440" cy="3181452"/>
          </a:xfrm>
          <a:prstGeom prst="rect">
            <a:avLst/>
          </a:prstGeom>
          <a:noFill/>
          <a:ln w="6350">
            <a:solidFill>
              <a:srgbClr val="FFFFFF">
                <a:lumMod val="8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00" b="0" u="none" strike="noStrike">
              <a:solidFill>
                <a:schemeClr val="dk1"/>
              </a:solidFill>
              <a:effectLst/>
              <a:uFillTx/>
              <a:latin typeface="メイリオ"/>
              <a:ea typeface="メイリオ"/>
            </a:endParaRPr>
          </a:p>
        </p:txBody>
      </p:sp>
      <p:sp>
        <p:nvSpPr>
          <p:cNvPr id="181" name="正方形/長方形 5"/>
          <p:cNvSpPr/>
          <p:nvPr/>
        </p:nvSpPr>
        <p:spPr>
          <a:xfrm>
            <a:off x="453240" y="5340096"/>
            <a:ext cx="9190440" cy="1060704"/>
          </a:xfrm>
          <a:prstGeom prst="rect">
            <a:avLst/>
          </a:prstGeom>
          <a:noFill/>
          <a:ln w="6350">
            <a:solidFill>
              <a:srgbClr val="FFFFFF">
                <a:lumMod val="8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00" b="0" u="none" strike="noStrike">
              <a:solidFill>
                <a:schemeClr val="lt1"/>
              </a:solidFill>
              <a:effectLst/>
              <a:uFillTx/>
              <a:latin typeface="メイリオ"/>
              <a:ea typeface="メイリオ"/>
            </a:endParaRPr>
          </a:p>
        </p:txBody>
      </p:sp>
      <p:sp>
        <p:nvSpPr>
          <p:cNvPr id="182" name="テキスト ボックス 7"/>
          <p:cNvSpPr/>
          <p:nvPr/>
        </p:nvSpPr>
        <p:spPr>
          <a:xfrm>
            <a:off x="453240" y="1417320"/>
            <a:ext cx="496368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400" b="1" u="none" strike="noStrike">
                <a:solidFill>
                  <a:schemeClr val="dk1">
                    <a:lumMod val="50000"/>
                    <a:lumOff val="50000"/>
                  </a:schemeClr>
                </a:solidFill>
                <a:effectLst/>
                <a:uFillTx/>
                <a:latin typeface="メイリオ"/>
                <a:ea typeface="メイリオ"/>
              </a:rPr>
              <a:t>&lt;</a:t>
            </a:r>
            <a:r>
              <a:rPr lang="ja-JP" sz="1400" b="1" u="none" strike="noStrike">
                <a:solidFill>
                  <a:schemeClr val="dk1">
                    <a:lumMod val="50000"/>
                    <a:lumOff val="50000"/>
                  </a:schemeClr>
                </a:solidFill>
                <a:effectLst/>
                <a:uFillTx/>
                <a:latin typeface="メイリオ"/>
                <a:ea typeface="メイリオ"/>
              </a:rPr>
              <a:t>対新規ユーザー領域</a:t>
            </a:r>
            <a:r>
              <a:rPr lang="en-US" sz="1400" b="1" u="none" strike="noStrike">
                <a:solidFill>
                  <a:schemeClr val="dk1">
                    <a:lumMod val="50000"/>
                    <a:lumOff val="50000"/>
                  </a:schemeClr>
                </a:solidFill>
                <a:effectLst/>
                <a:uFillTx/>
                <a:latin typeface="メイリオ"/>
                <a:ea typeface="メイリオ"/>
              </a:rPr>
              <a:t>&gt;</a:t>
            </a:r>
            <a:endParaRPr lang="en-US" sz="1400" b="0" u="none" strike="noStrike">
              <a:solidFill>
                <a:srgbClr val="000000"/>
              </a:solidFill>
              <a:effectLst/>
              <a:uFillTx/>
              <a:latin typeface="Arial"/>
            </a:endParaRPr>
          </a:p>
        </p:txBody>
      </p:sp>
      <p:sp>
        <p:nvSpPr>
          <p:cNvPr id="183" name="テキスト ボックス 8"/>
          <p:cNvSpPr/>
          <p:nvPr/>
        </p:nvSpPr>
        <p:spPr>
          <a:xfrm>
            <a:off x="453240" y="5010912"/>
            <a:ext cx="621792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400" b="1" u="none" strike="noStrike">
                <a:solidFill>
                  <a:schemeClr val="dk1">
                    <a:lumMod val="50000"/>
                    <a:lumOff val="50000"/>
                  </a:schemeClr>
                </a:solidFill>
                <a:effectLst/>
                <a:uFillTx/>
                <a:latin typeface="メイリオ"/>
                <a:ea typeface="メイリオ"/>
              </a:rPr>
              <a:t>&lt;定期対応項目（一部抽出）&gt;</a:t>
            </a:r>
            <a:endParaRPr lang="en-US" sz="1400" b="0" u="none" strike="noStrike">
              <a:solidFill>
                <a:srgbClr val="000000"/>
              </a:solidFill>
              <a:effectLst/>
              <a:uFillTx/>
              <a:latin typeface="Arial"/>
            </a:endParaRPr>
          </a:p>
        </p:txBody>
      </p:sp>
      <p:sp>
        <p:nvSpPr>
          <p:cNvPr id="184" name="正方形/長方形 8"/>
          <p:cNvSpPr/>
          <p:nvPr/>
        </p:nvSpPr>
        <p:spPr>
          <a:xfrm>
            <a:off x="567000" y="1875370"/>
            <a:ext cx="1645560" cy="346639"/>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36720" tIns="0" rIns="36720" bIns="0" anchor="ctr">
            <a:noAutofit/>
          </a:bodyPr>
          <a:lstStyle/>
          <a:p>
            <a:pPr algn="ctr" defTabSz="914400">
              <a:lnSpc>
                <a:spcPct val="100000"/>
              </a:lnSpc>
            </a:pPr>
            <a:r>
              <a:rPr lang="en-US" sz="1200" b="1" u="none" strike="noStrike">
                <a:solidFill>
                  <a:schemeClr val="lt1"/>
                </a:solidFill>
                <a:effectLst/>
                <a:uFillTx/>
                <a:latin typeface="メイリオ"/>
                <a:ea typeface="メイリオ"/>
              </a:rPr>
              <a:t>100</a:t>
            </a:r>
            <a:r>
              <a:rPr lang="zh-CN" sz="1200" b="1" u="none" strike="noStrike">
                <a:solidFill>
                  <a:schemeClr val="lt1"/>
                </a:solidFill>
                <a:effectLst/>
                <a:uFillTx/>
                <a:latin typeface="メイリオ"/>
                <a:ea typeface="メイリオ"/>
              </a:rPr>
              <a:t>円賃貸のサイト</a:t>
            </a:r>
            <a:endParaRPr lang="en-US" sz="1200" b="0" u="none" strike="noStrike">
              <a:solidFill>
                <a:srgbClr val="000000"/>
              </a:solidFill>
              <a:effectLst/>
              <a:uFillTx/>
              <a:latin typeface="Arial"/>
            </a:endParaRPr>
          </a:p>
        </p:txBody>
      </p:sp>
      <p:sp>
        <p:nvSpPr>
          <p:cNvPr id="185" name="正方形/長方形 13"/>
          <p:cNvSpPr/>
          <p:nvPr/>
        </p:nvSpPr>
        <p:spPr>
          <a:xfrm>
            <a:off x="8211240" y="2138458"/>
            <a:ext cx="1371240" cy="669918"/>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p:style>
        <p:txBody>
          <a:bodyPr lIns="18360" tIns="0" rIns="18360" bIns="0" anchor="ctr">
            <a:noAutofit/>
          </a:bodyPr>
          <a:lstStyle/>
          <a:p>
            <a:pPr algn="ctr" defTabSz="914400">
              <a:lnSpc>
                <a:spcPct val="100000"/>
              </a:lnSpc>
            </a:pPr>
            <a:r>
              <a:rPr lang="zh-CN" sz="1200" b="1" u="none" strike="noStrike">
                <a:solidFill>
                  <a:schemeClr val="lt1"/>
                </a:solidFill>
                <a:effectLst/>
                <a:uFillTx/>
                <a:latin typeface="メイリオ"/>
                <a:ea typeface="メイリオ"/>
              </a:rPr>
              <a:t>フォームで送信</a:t>
            </a:r>
            <a:endParaRPr lang="en-US" sz="1200" b="0" u="none" strike="noStrike">
              <a:solidFill>
                <a:srgbClr val="FFFFFF"/>
              </a:solidFill>
              <a:effectLst/>
              <a:uFillTx/>
              <a:latin typeface="Arial"/>
            </a:endParaRPr>
          </a:p>
          <a:p>
            <a:pPr algn="ctr" defTabSz="914400">
              <a:lnSpc>
                <a:spcPct val="100000"/>
              </a:lnSpc>
            </a:pPr>
            <a:r>
              <a:rPr lang="zh-CN" sz="1200" b="1" u="none" strike="noStrike">
                <a:solidFill>
                  <a:schemeClr val="lt1"/>
                </a:solidFill>
                <a:effectLst/>
                <a:uFillTx/>
                <a:latin typeface="メイリオ"/>
                <a:ea typeface="メイリオ"/>
              </a:rPr>
              <a:t>（CV）</a:t>
            </a:r>
            <a:endParaRPr lang="en-US" sz="1200" b="0" u="none" strike="noStrike">
              <a:solidFill>
                <a:srgbClr val="FFFFFF"/>
              </a:solidFill>
              <a:effectLst/>
              <a:uFillTx/>
              <a:latin typeface="Arial"/>
            </a:endParaRPr>
          </a:p>
        </p:txBody>
      </p:sp>
      <p:sp>
        <p:nvSpPr>
          <p:cNvPr id="186" name="正方形/長方形 14"/>
          <p:cNvSpPr/>
          <p:nvPr/>
        </p:nvSpPr>
        <p:spPr>
          <a:xfrm>
            <a:off x="567000" y="2784356"/>
            <a:ext cx="2559960" cy="645710"/>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dirty="0">
                <a:solidFill>
                  <a:srgbClr val="FFFFFF"/>
                </a:solidFill>
                <a:effectLst/>
                <a:uFillTx/>
                <a:latin typeface="メイリオ"/>
                <a:ea typeface="メイリオ"/>
              </a:rPr>
              <a:t>サイトの</a:t>
            </a:r>
            <a:br>
              <a:rPr sz="1200" dirty="0"/>
            </a:br>
            <a:r>
              <a:rPr lang="ja-JP" sz="1200" b="1" u="none" strike="noStrike" dirty="0">
                <a:solidFill>
                  <a:srgbClr val="FFFFFF"/>
                </a:solidFill>
                <a:effectLst/>
                <a:uFillTx/>
                <a:latin typeface="メイリオ"/>
                <a:ea typeface="メイリオ"/>
              </a:rPr>
              <a:t>「</a:t>
            </a:r>
            <a:r>
              <a:rPr lang="en-US" sz="1200" b="1" u="none" strike="noStrike" dirty="0">
                <a:solidFill>
                  <a:srgbClr val="FFFFFF"/>
                </a:solidFill>
                <a:effectLst/>
                <a:uFillTx/>
                <a:latin typeface="メイリオ"/>
                <a:ea typeface="メイリオ"/>
              </a:rPr>
              <a:t>LINE</a:t>
            </a:r>
            <a:r>
              <a:rPr lang="ja-JP" sz="1200" b="1" u="none" strike="noStrike" dirty="0">
                <a:solidFill>
                  <a:srgbClr val="FFFFFF"/>
                </a:solidFill>
                <a:effectLst/>
                <a:uFillTx/>
                <a:latin typeface="メイリオ"/>
                <a:ea typeface="メイリオ"/>
              </a:rPr>
              <a:t>でお問い合わせ」ボタン</a:t>
            </a:r>
            <a:endParaRPr lang="en-US" sz="1200" b="0" u="none" strike="noStrike" dirty="0">
              <a:solidFill>
                <a:srgbClr val="FFFFFF"/>
              </a:solidFill>
              <a:effectLst/>
              <a:uFillTx/>
              <a:latin typeface="Arial"/>
            </a:endParaRPr>
          </a:p>
        </p:txBody>
      </p:sp>
      <p:sp>
        <p:nvSpPr>
          <p:cNvPr id="187" name="正方形/長方形 16"/>
          <p:cNvSpPr/>
          <p:nvPr/>
        </p:nvSpPr>
        <p:spPr>
          <a:xfrm>
            <a:off x="567000" y="2294069"/>
            <a:ext cx="2559960" cy="382433"/>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1" u="none" strike="noStrike">
                <a:solidFill>
                  <a:schemeClr val="lt1"/>
                </a:solidFill>
                <a:effectLst/>
                <a:uFillTx/>
                <a:latin typeface="メイリオ"/>
                <a:ea typeface="メイリオ"/>
              </a:rPr>
              <a:t>離脱防止ポップアップ</a:t>
            </a:r>
            <a:endParaRPr lang="en-US" sz="1200" b="0" u="none" strike="noStrike">
              <a:solidFill>
                <a:srgbClr val="FFFFFF"/>
              </a:solidFill>
              <a:effectLst/>
              <a:uFillTx/>
              <a:latin typeface="Arial"/>
            </a:endParaRPr>
          </a:p>
        </p:txBody>
      </p:sp>
      <p:sp>
        <p:nvSpPr>
          <p:cNvPr id="188" name="正方形/長方形 18"/>
          <p:cNvSpPr/>
          <p:nvPr/>
        </p:nvSpPr>
        <p:spPr>
          <a:xfrm>
            <a:off x="8211240" y="3430443"/>
            <a:ext cx="1371240" cy="1076654"/>
          </a:xfrm>
          <a:prstGeom prst="rect">
            <a:avLst/>
          </a:prstGeom>
          <a:solidFill>
            <a:srgbClr val="F2F2F2"/>
          </a:solidFill>
          <a:ln w="12700">
            <a:solidFill>
              <a:srgbClr val="A6A6A6"/>
            </a:solidFill>
            <a:prstDash val="dash"/>
          </a:ln>
        </p:spPr>
        <p:style>
          <a:lnRef idx="2">
            <a:schemeClr val="accent1">
              <a:shade val="15000"/>
            </a:schemeClr>
          </a:lnRef>
          <a:fillRef idx="1">
            <a:schemeClr val="accent1"/>
          </a:fillRef>
          <a:effectRef idx="0">
            <a:schemeClr val="accent1"/>
          </a:effectRef>
          <a:fontRef idx="minor"/>
        </p:style>
        <p:txBody>
          <a:bodyPr lIns="18360" tIns="0" rIns="18360" bIns="0" anchor="ctr">
            <a:noAutofit/>
          </a:bodyPr>
          <a:lstStyle/>
          <a:p>
            <a:pPr algn="ctr" defTabSz="914400">
              <a:lnSpc>
                <a:spcPct val="100000"/>
              </a:lnSpc>
            </a:pPr>
            <a:r>
              <a:rPr lang="ja-JP" sz="1200" b="1" u="none" strike="noStrike" dirty="0">
                <a:solidFill>
                  <a:srgbClr val="595959"/>
                </a:solidFill>
                <a:effectLst/>
                <a:uFillTx/>
                <a:latin typeface="メイリオ"/>
                <a:ea typeface="メイリオ"/>
              </a:rPr>
              <a:t>空室確認・内見</a:t>
            </a:r>
            <a:endParaRPr lang="en-US" sz="1200" b="0" u="none" strike="noStrike" dirty="0">
              <a:solidFill>
                <a:srgbClr val="595959"/>
              </a:solidFill>
              <a:effectLst/>
              <a:uFillTx/>
              <a:latin typeface="Arial"/>
            </a:endParaRPr>
          </a:p>
          <a:p>
            <a:pPr algn="ctr" defTabSz="914400">
              <a:lnSpc>
                <a:spcPct val="100000"/>
              </a:lnSpc>
            </a:pPr>
            <a:r>
              <a:rPr lang="ja-JP" sz="1200" b="0" u="none" strike="noStrike" dirty="0">
                <a:solidFill>
                  <a:srgbClr val="595959"/>
                </a:solidFill>
                <a:effectLst/>
                <a:uFillTx/>
                <a:latin typeface="メイリオ"/>
                <a:ea typeface="メイリオ"/>
              </a:rPr>
              <a:t>あらうち様による</a:t>
            </a:r>
            <a:endParaRPr lang="en-US" sz="1200" b="0" u="none" strike="noStrike" dirty="0">
              <a:solidFill>
                <a:srgbClr val="595959"/>
              </a:solidFill>
              <a:effectLst/>
              <a:uFillTx/>
              <a:latin typeface="Arial"/>
            </a:endParaRPr>
          </a:p>
          <a:p>
            <a:pPr algn="ctr" defTabSz="914400">
              <a:lnSpc>
                <a:spcPct val="100000"/>
              </a:lnSpc>
            </a:pPr>
            <a:r>
              <a:rPr lang="ja-JP" sz="1200" b="0" u="none" strike="noStrike" dirty="0">
                <a:solidFill>
                  <a:srgbClr val="595959"/>
                </a:solidFill>
                <a:effectLst/>
                <a:uFillTx/>
                <a:latin typeface="メイリオ"/>
                <a:ea typeface="メイリオ"/>
              </a:rPr>
              <a:t>個別対応</a:t>
            </a:r>
            <a:endParaRPr lang="en-US" sz="1200" b="0" u="none" strike="noStrike" dirty="0">
              <a:solidFill>
                <a:srgbClr val="595959"/>
              </a:solidFill>
              <a:effectLst/>
              <a:uFillTx/>
              <a:latin typeface="Arial"/>
            </a:endParaRPr>
          </a:p>
        </p:txBody>
      </p:sp>
      <p:sp>
        <p:nvSpPr>
          <p:cNvPr id="189" name="正方形/長方形 19"/>
          <p:cNvSpPr/>
          <p:nvPr/>
        </p:nvSpPr>
        <p:spPr>
          <a:xfrm>
            <a:off x="955548" y="5495544"/>
            <a:ext cx="2578608" cy="32918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0" u="none" strike="noStrike">
                <a:solidFill>
                  <a:schemeClr val="lt1"/>
                </a:solidFill>
                <a:effectLst/>
                <a:uFillTx/>
                <a:latin typeface="メイリオ"/>
                <a:ea typeface="メイリオ"/>
              </a:rPr>
              <a:t>アクセス解析での効果測定</a:t>
            </a:r>
            <a:endParaRPr lang="en-US" sz="1200" b="0" u="none" strike="noStrike">
              <a:solidFill>
                <a:srgbClr val="FFFFFF"/>
              </a:solidFill>
              <a:effectLst/>
              <a:uFillTx/>
              <a:latin typeface="Arial"/>
            </a:endParaRPr>
          </a:p>
        </p:txBody>
      </p:sp>
      <p:sp>
        <p:nvSpPr>
          <p:cNvPr id="190" name="正方形/長方形 20"/>
          <p:cNvSpPr/>
          <p:nvPr/>
        </p:nvSpPr>
        <p:spPr>
          <a:xfrm>
            <a:off x="3762756" y="5495544"/>
            <a:ext cx="2578608" cy="32918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0" u="none" strike="noStrike">
                <a:solidFill>
                  <a:schemeClr val="lt1"/>
                </a:solidFill>
                <a:effectLst/>
                <a:uFillTx/>
                <a:latin typeface="メイリオ"/>
                <a:ea typeface="メイリオ"/>
              </a:rPr>
              <a:t>投稿スケジュール確認</a:t>
            </a:r>
            <a:endParaRPr lang="en-US" sz="1200" b="0" u="none" strike="noStrike">
              <a:solidFill>
                <a:srgbClr val="FFFFFF"/>
              </a:solidFill>
              <a:effectLst/>
              <a:uFillTx/>
              <a:latin typeface="Arial"/>
            </a:endParaRPr>
          </a:p>
        </p:txBody>
      </p:sp>
      <p:sp>
        <p:nvSpPr>
          <p:cNvPr id="191" name="正方形/長方形 21"/>
          <p:cNvSpPr/>
          <p:nvPr/>
        </p:nvSpPr>
        <p:spPr>
          <a:xfrm>
            <a:off x="955548" y="5916168"/>
            <a:ext cx="2578608" cy="32918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0" u="none" strike="noStrike">
                <a:solidFill>
                  <a:schemeClr val="lt1"/>
                </a:solidFill>
                <a:effectLst/>
                <a:uFillTx/>
                <a:latin typeface="メイリオ"/>
                <a:ea typeface="メイリオ"/>
              </a:rPr>
              <a:t>受付時間外の自動応答</a:t>
            </a:r>
            <a:endParaRPr lang="en-US" sz="1200" b="0" u="none" strike="noStrike">
              <a:solidFill>
                <a:srgbClr val="FFFFFF"/>
              </a:solidFill>
              <a:effectLst/>
              <a:uFillTx/>
              <a:latin typeface="Arial"/>
            </a:endParaRPr>
          </a:p>
        </p:txBody>
      </p:sp>
      <p:sp>
        <p:nvSpPr>
          <p:cNvPr id="192" name="正方形/長方形 22"/>
          <p:cNvSpPr/>
          <p:nvPr/>
        </p:nvSpPr>
        <p:spPr>
          <a:xfrm>
            <a:off x="6569964" y="5495544"/>
            <a:ext cx="2578608" cy="32918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0" u="none" strike="noStrike" dirty="0">
                <a:solidFill>
                  <a:schemeClr val="lt1"/>
                </a:solidFill>
                <a:effectLst/>
                <a:uFillTx/>
                <a:latin typeface="メイリオ"/>
                <a:ea typeface="メイリオ"/>
              </a:rPr>
              <a:t>キーワード応答の見直し</a:t>
            </a:r>
            <a:endParaRPr lang="en-US" sz="1200" b="0" u="none" strike="noStrike" dirty="0">
              <a:solidFill>
                <a:srgbClr val="FFFFFF"/>
              </a:solidFill>
              <a:effectLst/>
              <a:uFillTx/>
              <a:latin typeface="Arial"/>
            </a:endParaRPr>
          </a:p>
        </p:txBody>
      </p:sp>
      <p:sp>
        <p:nvSpPr>
          <p:cNvPr id="193" name="正方形/長方形 23"/>
          <p:cNvSpPr/>
          <p:nvPr/>
        </p:nvSpPr>
        <p:spPr>
          <a:xfrm>
            <a:off x="3762756" y="5916168"/>
            <a:ext cx="2578608" cy="32918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0" u="none" strike="noStrike">
                <a:solidFill>
                  <a:schemeClr val="lt1"/>
                </a:solidFill>
                <a:effectLst/>
                <a:uFillTx/>
                <a:latin typeface="メイリオ"/>
                <a:ea typeface="メイリオ"/>
              </a:rPr>
              <a:t>配信結果の振り返り</a:t>
            </a:r>
            <a:endParaRPr lang="en-US" sz="1200" b="0" u="none" strike="noStrike">
              <a:solidFill>
                <a:srgbClr val="FFFFFF"/>
              </a:solidFill>
              <a:effectLst/>
              <a:uFillTx/>
              <a:latin typeface="Arial"/>
            </a:endParaRPr>
          </a:p>
        </p:txBody>
      </p:sp>
      <p:sp>
        <p:nvSpPr>
          <p:cNvPr id="195" name="正方形/長方形 25"/>
          <p:cNvSpPr/>
          <p:nvPr/>
        </p:nvSpPr>
        <p:spPr>
          <a:xfrm>
            <a:off x="3310200" y="1803310"/>
            <a:ext cx="4534920" cy="3038275"/>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00" b="0" u="none" strike="noStrike">
              <a:solidFill>
                <a:schemeClr val="dk1"/>
              </a:solidFill>
              <a:effectLst/>
              <a:uFillTx/>
              <a:latin typeface="メイリオ"/>
              <a:ea typeface="メイリオ"/>
            </a:endParaRPr>
          </a:p>
        </p:txBody>
      </p:sp>
      <p:sp>
        <p:nvSpPr>
          <p:cNvPr id="196" name="正方形/長方形 26"/>
          <p:cNvSpPr/>
          <p:nvPr/>
        </p:nvSpPr>
        <p:spPr>
          <a:xfrm>
            <a:off x="3401640" y="1875370"/>
            <a:ext cx="1517400" cy="358413"/>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友だち追加</a:t>
            </a:r>
            <a:endParaRPr lang="en-US" sz="1200" b="0" u="none" strike="noStrike">
              <a:solidFill>
                <a:srgbClr val="FFFFFF"/>
              </a:solidFill>
              <a:effectLst/>
              <a:uFillTx/>
              <a:latin typeface="Arial"/>
            </a:endParaRPr>
          </a:p>
        </p:txBody>
      </p:sp>
      <p:cxnSp>
        <p:nvCxnSpPr>
          <p:cNvPr id="197" name="コネクタ: カギ線 27"/>
          <p:cNvCxnSpPr>
            <a:stCxn id="186" idx="3"/>
            <a:endCxn id="196" idx="1"/>
          </p:cNvCxnSpPr>
          <p:nvPr/>
        </p:nvCxnSpPr>
        <p:spPr>
          <a:xfrm flipV="1">
            <a:off x="3126960" y="2054341"/>
            <a:ext cx="275040" cy="1053105"/>
          </a:xfrm>
          <a:prstGeom prst="bentConnector3">
            <a:avLst>
              <a:gd name="adj1" fmla="val 50065"/>
            </a:avLst>
          </a:prstGeom>
          <a:ln>
            <a:solidFill>
              <a:srgbClr val="1F497D"/>
            </a:solidFill>
            <a:prstDash val="sysDash"/>
            <a:round/>
            <a:tailEnd type="triangle" w="med" len="med"/>
          </a:ln>
        </p:spPr>
      </p:cxnSp>
      <p:cxnSp>
        <p:nvCxnSpPr>
          <p:cNvPr id="198" name="コネクタ: カギ線 29"/>
          <p:cNvCxnSpPr>
            <a:stCxn id="187" idx="3"/>
            <a:endCxn id="196" idx="1"/>
          </p:cNvCxnSpPr>
          <p:nvPr/>
        </p:nvCxnSpPr>
        <p:spPr>
          <a:xfrm flipV="1">
            <a:off x="3126960" y="2054341"/>
            <a:ext cx="275040" cy="431415"/>
          </a:xfrm>
          <a:prstGeom prst="bentConnector3">
            <a:avLst>
              <a:gd name="adj1" fmla="val 50065"/>
            </a:avLst>
          </a:prstGeom>
          <a:ln>
            <a:solidFill>
              <a:srgbClr val="1F497D"/>
            </a:solidFill>
            <a:prstDash val="sysDash"/>
            <a:round/>
            <a:tailEnd type="triangle" w="med" len="med"/>
          </a:ln>
        </p:spPr>
      </p:cxnSp>
      <p:sp>
        <p:nvSpPr>
          <p:cNvPr id="199" name="正方形/長方形 30"/>
          <p:cNvSpPr/>
          <p:nvPr/>
        </p:nvSpPr>
        <p:spPr>
          <a:xfrm>
            <a:off x="5193720" y="1875370"/>
            <a:ext cx="2578320" cy="346639"/>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企画配信（月4回程度）</a:t>
            </a:r>
            <a:endParaRPr lang="en-US" sz="1200" b="0" u="none" strike="noStrike">
              <a:solidFill>
                <a:srgbClr val="FFFFFF"/>
              </a:solidFill>
              <a:effectLst/>
              <a:uFillTx/>
              <a:latin typeface="Arial"/>
            </a:endParaRPr>
          </a:p>
        </p:txBody>
      </p:sp>
      <p:sp>
        <p:nvSpPr>
          <p:cNvPr id="200" name="正方形/長方形 31"/>
          <p:cNvSpPr/>
          <p:nvPr/>
        </p:nvSpPr>
        <p:spPr>
          <a:xfrm>
            <a:off x="5193720" y="2300192"/>
            <a:ext cx="2578320" cy="346639"/>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ステップ配信（全</a:t>
            </a:r>
            <a:r>
              <a:rPr lang="en-US" sz="1200" b="1" u="none" strike="noStrike">
                <a:solidFill>
                  <a:schemeClr val="lt1"/>
                </a:solidFill>
                <a:effectLst/>
                <a:uFillTx/>
                <a:latin typeface="メイリオ"/>
                <a:ea typeface="メイリオ"/>
              </a:rPr>
              <a:t>10</a:t>
            </a:r>
            <a:r>
              <a:rPr lang="ja-JP" sz="1200" b="1" u="none" strike="noStrike">
                <a:solidFill>
                  <a:schemeClr val="lt1"/>
                </a:solidFill>
                <a:effectLst/>
                <a:uFillTx/>
                <a:latin typeface="メイリオ"/>
                <a:ea typeface="メイリオ"/>
              </a:rPr>
              <a:t>通・</a:t>
            </a:r>
            <a:r>
              <a:rPr lang="en-US" sz="1200" b="1" u="none" strike="noStrike">
                <a:solidFill>
                  <a:schemeClr val="lt1"/>
                </a:solidFill>
                <a:effectLst/>
                <a:uFillTx/>
                <a:latin typeface="メイリオ"/>
                <a:ea typeface="メイリオ"/>
              </a:rPr>
              <a:t>14</a:t>
            </a:r>
            <a:r>
              <a:rPr lang="ja-JP" sz="1200" b="1" u="none" strike="noStrike">
                <a:solidFill>
                  <a:schemeClr val="lt1"/>
                </a:solidFill>
                <a:effectLst/>
                <a:uFillTx/>
                <a:latin typeface="メイリオ"/>
                <a:ea typeface="メイリオ"/>
              </a:rPr>
              <a:t>日）</a:t>
            </a:r>
            <a:endParaRPr lang="en-US" sz="1200" b="0" u="none" strike="noStrike">
              <a:solidFill>
                <a:srgbClr val="FFFFFF"/>
              </a:solidFill>
              <a:effectLst/>
              <a:uFillTx/>
              <a:latin typeface="Arial"/>
            </a:endParaRPr>
          </a:p>
        </p:txBody>
      </p:sp>
      <p:sp>
        <p:nvSpPr>
          <p:cNvPr id="201" name="正方形/長方形 32"/>
          <p:cNvSpPr/>
          <p:nvPr/>
        </p:nvSpPr>
        <p:spPr>
          <a:xfrm>
            <a:off x="5193720" y="2724542"/>
            <a:ext cx="1261440" cy="346639"/>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リサーチ</a:t>
            </a:r>
            <a:endParaRPr lang="en-US" sz="1200" b="0" u="none" strike="noStrike">
              <a:solidFill>
                <a:srgbClr val="FFFFFF"/>
              </a:solidFill>
              <a:effectLst/>
              <a:uFillTx/>
              <a:latin typeface="Arial"/>
            </a:endParaRPr>
          </a:p>
        </p:txBody>
      </p:sp>
      <p:sp>
        <p:nvSpPr>
          <p:cNvPr id="202" name="正方形/長方形 33"/>
          <p:cNvSpPr/>
          <p:nvPr/>
        </p:nvSpPr>
        <p:spPr>
          <a:xfrm>
            <a:off x="3401640" y="2318089"/>
            <a:ext cx="1517400" cy="310374"/>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0" u="none" strike="noStrike">
                <a:solidFill>
                  <a:srgbClr val="595959"/>
                </a:solidFill>
                <a:effectLst/>
                <a:uFillTx/>
                <a:latin typeface="メイリオ"/>
                <a:ea typeface="メイリオ"/>
              </a:rPr>
              <a:t>初期設計項目↓</a:t>
            </a:r>
            <a:endParaRPr lang="en-US" sz="1200" b="0" u="none" strike="noStrike">
              <a:solidFill>
                <a:srgbClr val="000000"/>
              </a:solidFill>
              <a:effectLst/>
              <a:uFillTx/>
              <a:latin typeface="Arial"/>
            </a:endParaRPr>
          </a:p>
        </p:txBody>
      </p:sp>
      <p:sp>
        <p:nvSpPr>
          <p:cNvPr id="203" name="テキスト ボックス 67"/>
          <p:cNvSpPr/>
          <p:nvPr/>
        </p:nvSpPr>
        <p:spPr>
          <a:xfrm>
            <a:off x="3401640" y="2652954"/>
            <a:ext cx="1572480" cy="2033209"/>
          </a:xfrm>
          <a:prstGeom prst="rect">
            <a:avLst/>
          </a:prstGeom>
          <a:noFill/>
          <a:ln w="0">
            <a:noFill/>
          </a:ln>
        </p:spPr>
        <p:style>
          <a:lnRef idx="0">
            <a:scrgbClr r="0" g="0" b="0"/>
          </a:lnRef>
          <a:fillRef idx="0">
            <a:scrgbClr r="0" g="0" b="0"/>
          </a:fillRef>
          <a:effectRef idx="0">
            <a:scrgbClr r="0" g="0" b="0"/>
          </a:effectRef>
          <a:fontRef idx="minor"/>
        </p:style>
        <p:txBody>
          <a:bodyPr lIns="45720" tIns="18360" rIns="18360" bIns="18360" anchor="t">
            <a:noAutofit/>
          </a:bodyPr>
          <a:lstStyle/>
          <a:p>
            <a:pPr defTabSz="914400">
              <a:lnSpc>
                <a:spcPts val="1451"/>
              </a:lnSpc>
            </a:pPr>
            <a:r>
              <a:rPr lang="ja-JP" sz="1200" b="0" u="none" strike="noStrike" dirty="0">
                <a:solidFill>
                  <a:srgbClr val="595959"/>
                </a:solidFill>
                <a:effectLst/>
                <a:uFillTx/>
                <a:latin typeface="メイリオ"/>
                <a:ea typeface="メイリオ"/>
              </a:rPr>
              <a:t>・プロフィール</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・リッチメニュー</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・あいさつ</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・応答メッセージ</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・チャットタグ</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・計測タグ</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・離脱防止（別途）</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・サイトのボタン</a:t>
            </a:r>
            <a:endParaRPr lang="en-US" sz="1200" b="0" u="none" strike="noStrike" dirty="0">
              <a:solidFill>
                <a:srgbClr val="000000"/>
              </a:solidFill>
              <a:effectLst/>
              <a:uFillTx/>
              <a:latin typeface="Arial"/>
            </a:endParaRPr>
          </a:p>
        </p:txBody>
      </p:sp>
      <p:sp>
        <p:nvSpPr>
          <p:cNvPr id="204" name="正方形/長方形 35"/>
          <p:cNvSpPr/>
          <p:nvPr/>
        </p:nvSpPr>
        <p:spPr>
          <a:xfrm>
            <a:off x="5193720" y="3149364"/>
            <a:ext cx="2578320" cy="346639"/>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問い合わせ済みの方を除く配信</a:t>
            </a:r>
            <a:endParaRPr lang="en-US" sz="1200" b="0" u="none" strike="noStrike">
              <a:solidFill>
                <a:srgbClr val="FFFFFF"/>
              </a:solidFill>
              <a:effectLst/>
              <a:uFillTx/>
              <a:latin typeface="Arial"/>
            </a:endParaRPr>
          </a:p>
        </p:txBody>
      </p:sp>
      <p:sp>
        <p:nvSpPr>
          <p:cNvPr id="205" name="正方形/長方形 36"/>
          <p:cNvSpPr/>
          <p:nvPr/>
        </p:nvSpPr>
        <p:spPr>
          <a:xfrm>
            <a:off x="5193720" y="3998536"/>
            <a:ext cx="2578320" cy="346639"/>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リッチメニュー（</a:t>
            </a:r>
            <a:r>
              <a:rPr lang="en-US" sz="1200" b="1" u="none" strike="noStrike">
                <a:solidFill>
                  <a:schemeClr val="lt1"/>
                </a:solidFill>
                <a:effectLst/>
                <a:uFillTx/>
                <a:latin typeface="メイリオ"/>
                <a:ea typeface="メイリオ"/>
              </a:rPr>
              <a:t>6</a:t>
            </a:r>
            <a:r>
              <a:rPr lang="ja-JP" sz="1200" b="1" u="none" strike="noStrike">
                <a:solidFill>
                  <a:schemeClr val="lt1"/>
                </a:solidFill>
                <a:effectLst/>
                <a:uFillTx/>
                <a:latin typeface="メイリオ"/>
                <a:ea typeface="メイリオ"/>
              </a:rPr>
              <a:t>ボタン）</a:t>
            </a:r>
            <a:endParaRPr lang="en-US" sz="1200" b="0" u="none" strike="noStrike">
              <a:solidFill>
                <a:srgbClr val="000000"/>
              </a:solidFill>
              <a:effectLst/>
              <a:uFillTx/>
              <a:latin typeface="Arial"/>
            </a:endParaRPr>
          </a:p>
        </p:txBody>
      </p:sp>
      <p:sp>
        <p:nvSpPr>
          <p:cNvPr id="206" name="正方形/長方形 37"/>
          <p:cNvSpPr/>
          <p:nvPr/>
        </p:nvSpPr>
        <p:spPr>
          <a:xfrm>
            <a:off x="5193720" y="3574186"/>
            <a:ext cx="2578320" cy="346639"/>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1" u="none" strike="noStrike">
                <a:solidFill>
                  <a:schemeClr val="lt1"/>
                </a:solidFill>
                <a:effectLst/>
                <a:uFillTx/>
                <a:latin typeface="メイリオ"/>
                <a:ea typeface="メイリオ"/>
              </a:rPr>
              <a:t>よくある質問（キーワード応答）</a:t>
            </a:r>
            <a:endParaRPr lang="en-US" sz="1200" b="0" u="none" strike="noStrike">
              <a:solidFill>
                <a:srgbClr val="FFFFFF"/>
              </a:solidFill>
              <a:effectLst/>
              <a:uFillTx/>
              <a:latin typeface="Arial"/>
            </a:endParaRPr>
          </a:p>
        </p:txBody>
      </p:sp>
      <p:sp>
        <p:nvSpPr>
          <p:cNvPr id="207" name="正方形/長方形 38"/>
          <p:cNvSpPr/>
          <p:nvPr/>
        </p:nvSpPr>
        <p:spPr>
          <a:xfrm>
            <a:off x="6510600" y="2724542"/>
            <a:ext cx="1261440" cy="346639"/>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en-US" sz="1200" b="1" u="none" strike="noStrike">
                <a:solidFill>
                  <a:schemeClr val="lt1"/>
                </a:solidFill>
                <a:effectLst/>
                <a:uFillTx/>
                <a:latin typeface="メイリオ"/>
                <a:ea typeface="メイリオ"/>
              </a:rPr>
              <a:t>→ 配信に反映</a:t>
            </a:r>
            <a:endParaRPr lang="en-US" sz="1200" b="0" u="none" strike="noStrike">
              <a:solidFill>
                <a:srgbClr val="FFFFFF"/>
              </a:solidFill>
              <a:effectLst/>
              <a:uFillTx/>
              <a:latin typeface="Arial"/>
            </a:endParaRPr>
          </a:p>
        </p:txBody>
      </p:sp>
      <p:sp>
        <p:nvSpPr>
          <p:cNvPr id="208" name="正方形/長方形 39"/>
          <p:cNvSpPr/>
          <p:nvPr/>
        </p:nvSpPr>
        <p:spPr>
          <a:xfrm>
            <a:off x="5193720" y="4423358"/>
            <a:ext cx="2578320" cy="346639"/>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1" u="none" strike="noStrike">
                <a:solidFill>
                  <a:schemeClr val="lt1"/>
                </a:solidFill>
                <a:effectLst/>
                <a:uFillTx/>
                <a:latin typeface="メイリオ"/>
                <a:ea typeface="メイリオ"/>
              </a:rPr>
              <a:t>個別チャット（物件の確認）</a:t>
            </a:r>
            <a:endParaRPr lang="en-US" sz="1200" b="0" u="none" strike="noStrike">
              <a:solidFill>
                <a:srgbClr val="000000"/>
              </a:solidFill>
              <a:effectLst/>
              <a:uFillTx/>
              <a:latin typeface="Arial"/>
            </a:endParaRPr>
          </a:p>
        </p:txBody>
      </p:sp>
      <p:cxnSp>
        <p:nvCxnSpPr>
          <p:cNvPr id="209" name="コネクタ: カギ線 40"/>
          <p:cNvCxnSpPr>
            <a:stCxn id="208" idx="3"/>
          </p:cNvCxnSpPr>
          <p:nvPr/>
        </p:nvCxnSpPr>
        <p:spPr>
          <a:xfrm flipV="1">
            <a:off x="7772040" y="3968771"/>
            <a:ext cx="439560" cy="628378"/>
          </a:xfrm>
          <a:prstGeom prst="bentConnector3">
            <a:avLst>
              <a:gd name="adj1" fmla="val 50000"/>
            </a:avLst>
          </a:prstGeom>
          <a:ln>
            <a:solidFill>
              <a:srgbClr val="1F497D"/>
            </a:solidFill>
            <a:prstDash val="sysDash"/>
            <a:round/>
            <a:tailEnd type="triangle" w="med" len="med"/>
          </a:ln>
        </p:spPr>
      </p:cxnSp>
      <p:cxnSp>
        <p:nvCxnSpPr>
          <p:cNvPr id="210" name="コネクタ: カギ線 41"/>
          <p:cNvCxnSpPr>
            <a:stCxn id="205" idx="3"/>
          </p:cNvCxnSpPr>
          <p:nvPr/>
        </p:nvCxnSpPr>
        <p:spPr>
          <a:xfrm flipV="1">
            <a:off x="7772040" y="2473040"/>
            <a:ext cx="439560" cy="1699286"/>
          </a:xfrm>
          <a:prstGeom prst="bentConnector3">
            <a:avLst>
              <a:gd name="adj1" fmla="val 50000"/>
            </a:avLst>
          </a:prstGeom>
          <a:ln>
            <a:solidFill>
              <a:srgbClr val="000000"/>
            </a:solidFill>
            <a:prstDash val="sysDash"/>
            <a:round/>
            <a:tailEnd type="triangle" w="med" len="med"/>
          </a:ln>
        </p:spPr>
      </p:cxnSp>
      <p:cxnSp>
        <p:nvCxnSpPr>
          <p:cNvPr id="211" name="コネクタ: カギ線 42"/>
          <p:cNvCxnSpPr>
            <a:stCxn id="206" idx="3"/>
          </p:cNvCxnSpPr>
          <p:nvPr/>
        </p:nvCxnSpPr>
        <p:spPr>
          <a:xfrm flipV="1">
            <a:off x="7772040" y="2473040"/>
            <a:ext cx="439560" cy="1274935"/>
          </a:xfrm>
          <a:prstGeom prst="bentConnector3">
            <a:avLst>
              <a:gd name="adj1" fmla="val 50000"/>
            </a:avLst>
          </a:prstGeom>
          <a:ln>
            <a:solidFill>
              <a:srgbClr val="000000"/>
            </a:solidFill>
            <a:prstDash val="sysDash"/>
            <a:round/>
            <a:tailEnd type="triangle" w="med" len="med"/>
          </a:ln>
        </p:spPr>
      </p:cxnSp>
      <p:cxnSp>
        <p:nvCxnSpPr>
          <p:cNvPr id="212" name="コネクタ: カギ線 43"/>
          <p:cNvCxnSpPr>
            <a:stCxn id="204" idx="3"/>
          </p:cNvCxnSpPr>
          <p:nvPr/>
        </p:nvCxnSpPr>
        <p:spPr>
          <a:xfrm flipV="1">
            <a:off x="7772040" y="2473040"/>
            <a:ext cx="439560" cy="850114"/>
          </a:xfrm>
          <a:prstGeom prst="bentConnector3">
            <a:avLst>
              <a:gd name="adj1" fmla="val 50000"/>
            </a:avLst>
          </a:prstGeom>
          <a:ln>
            <a:solidFill>
              <a:srgbClr val="000000"/>
            </a:solidFill>
            <a:prstDash val="sysDash"/>
            <a:round/>
            <a:tailEnd type="triangle" w="med" len="med"/>
          </a:ln>
        </p:spPr>
      </p:cxnSp>
      <p:cxnSp>
        <p:nvCxnSpPr>
          <p:cNvPr id="213" name="コネクタ: カギ線 45"/>
          <p:cNvCxnSpPr>
            <a:stCxn id="207" idx="3"/>
          </p:cNvCxnSpPr>
          <p:nvPr/>
        </p:nvCxnSpPr>
        <p:spPr>
          <a:xfrm flipV="1">
            <a:off x="7772040" y="2473040"/>
            <a:ext cx="439560" cy="425292"/>
          </a:xfrm>
          <a:prstGeom prst="bentConnector3">
            <a:avLst>
              <a:gd name="adj1" fmla="val 50000"/>
            </a:avLst>
          </a:prstGeom>
          <a:ln>
            <a:solidFill>
              <a:srgbClr val="000000"/>
            </a:solidFill>
            <a:prstDash val="sysDash"/>
            <a:round/>
            <a:tailEnd type="triangle" w="med" len="med"/>
          </a:ln>
        </p:spPr>
      </p:cxnSp>
      <p:cxnSp>
        <p:nvCxnSpPr>
          <p:cNvPr id="214" name="コネクタ: カギ線 46"/>
          <p:cNvCxnSpPr>
            <a:stCxn id="200" idx="3"/>
          </p:cNvCxnSpPr>
          <p:nvPr/>
        </p:nvCxnSpPr>
        <p:spPr>
          <a:xfrm flipV="1">
            <a:off x="7772040" y="2473040"/>
            <a:ext cx="439560" cy="941"/>
          </a:xfrm>
          <a:prstGeom prst="bentConnector3">
            <a:avLst>
              <a:gd name="adj1" fmla="val 50000"/>
            </a:avLst>
          </a:prstGeom>
          <a:ln>
            <a:solidFill>
              <a:srgbClr val="000000"/>
            </a:solidFill>
            <a:prstDash val="sysDash"/>
            <a:round/>
            <a:tailEnd type="triangle" w="med" len="med"/>
          </a:ln>
        </p:spPr>
      </p:cxnSp>
      <p:cxnSp>
        <p:nvCxnSpPr>
          <p:cNvPr id="215" name="コネクタ: カギ線 47"/>
          <p:cNvCxnSpPr>
            <a:stCxn id="199" idx="3"/>
          </p:cNvCxnSpPr>
          <p:nvPr/>
        </p:nvCxnSpPr>
        <p:spPr>
          <a:xfrm>
            <a:off x="7772040" y="2048690"/>
            <a:ext cx="439560" cy="424821"/>
          </a:xfrm>
          <a:prstGeom prst="bentConnector3">
            <a:avLst>
              <a:gd name="adj1" fmla="val 50000"/>
            </a:avLst>
          </a:prstGeom>
          <a:ln>
            <a:solidFill>
              <a:srgbClr val="000000"/>
            </a:solidFill>
            <a:prstDash val="sysDash"/>
            <a:round/>
            <a:tailEnd type="triangle" w="med" len="med"/>
          </a:ln>
        </p:spPr>
      </p:cxnSp>
      <p:sp>
        <p:nvSpPr>
          <p:cNvPr id="216" name="左中かっこ 48"/>
          <p:cNvSpPr/>
          <p:nvPr/>
        </p:nvSpPr>
        <p:spPr>
          <a:xfrm>
            <a:off x="5010840" y="1839576"/>
            <a:ext cx="145800" cy="2966215"/>
          </a:xfrm>
          <a:prstGeom prst="leftBrace">
            <a:avLst>
              <a:gd name="adj1" fmla="val 8333"/>
              <a:gd name="adj2" fmla="val 23194"/>
            </a:avLst>
          </a:prstGeom>
          <a:noFill/>
          <a:ln>
            <a:solidFill>
              <a:srgbClr val="000000"/>
            </a:solidFill>
            <a:round/>
          </a:ln>
        </p:spPr>
        <p:style>
          <a:lnRef idx="1">
            <a:schemeClr val="accent1"/>
          </a:lnRef>
          <a:fillRef idx="0">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dk1"/>
              </a:solidFill>
              <a:effectLst/>
              <a:uFillTx/>
              <a:latin typeface="Calibri"/>
            </a:endParaRPr>
          </a:p>
        </p:txBody>
      </p:sp>
      <p:sp>
        <p:nvSpPr>
          <p:cNvPr id="231" name="正方形/長方形 68"/>
          <p:cNvSpPr/>
          <p:nvPr/>
        </p:nvSpPr>
        <p:spPr>
          <a:xfrm>
            <a:off x="6717960" y="1449360"/>
            <a:ext cx="2925720" cy="273960"/>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p:style>
        <p:txBody>
          <a:bodyPr lIns="45720" tIns="0" rIns="45720" bIns="0" anchor="ctr">
            <a:noAutofit/>
          </a:bodyPr>
          <a:lstStyle/>
          <a:p>
            <a:pPr algn="ctr" defTabSz="914400">
              <a:lnSpc>
                <a:spcPct val="100000"/>
              </a:lnSpc>
            </a:pPr>
            <a:r>
              <a:rPr lang="en-US" sz="1200" b="1" u="none" strike="noStrike">
                <a:solidFill>
                  <a:srgbClr val="00B050"/>
                </a:solidFill>
                <a:effectLst/>
                <a:uFillTx/>
                <a:latin typeface="メイリオ"/>
                <a:ea typeface="メイリオ"/>
              </a:rPr>
              <a:t>LINE</a:t>
            </a:r>
            <a:r>
              <a:rPr lang="ja-JP" sz="1200" b="1" u="none" strike="noStrike">
                <a:solidFill>
                  <a:srgbClr val="00B050"/>
                </a:solidFill>
                <a:effectLst/>
                <a:uFillTx/>
                <a:latin typeface="メイリオ"/>
                <a:ea typeface="メイリオ"/>
              </a:rPr>
              <a:t>公式アカウントの標準機能で運用</a:t>
            </a:r>
            <a:endParaRPr lang="en-US" sz="1200" b="0" u="none" strike="noStrike">
              <a:solidFill>
                <a:srgbClr val="000000"/>
              </a:solidFill>
              <a:effectLst/>
              <a:uFillTx/>
              <a:latin typeface="Arial"/>
            </a:endParaRPr>
          </a:p>
        </p:txBody>
      </p:sp>
      <p:sp>
        <p:nvSpPr>
          <p:cNvPr id="232" name="テキスト ボックス 70"/>
          <p:cNvSpPr/>
          <p:nvPr/>
        </p:nvSpPr>
        <p:spPr>
          <a:xfrm>
            <a:off x="320040" y="631080"/>
            <a:ext cx="9262440" cy="712800"/>
          </a:xfrm>
          <a:prstGeom prst="rect">
            <a:avLst/>
          </a:prstGeom>
          <a:no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400" b="0" u="none" strike="noStrike" dirty="0">
                <a:solidFill>
                  <a:schemeClr val="dk1">
                    <a:lumMod val="65000"/>
                    <a:lumOff val="35000"/>
                  </a:schemeClr>
                </a:solidFill>
                <a:effectLst/>
                <a:uFillTx/>
                <a:latin typeface="メイリオ"/>
                <a:ea typeface="メイリオ"/>
              </a:rPr>
              <a:t>離脱防止ポップアップとサイトのLINEボタンから友だち追加し、フォーム送信</a:t>
            </a:r>
            <a:r>
              <a:rPr lang="ja-JP" altLang="en-US" sz="1400" b="0" u="none" strike="noStrike" dirty="0">
                <a:solidFill>
                  <a:schemeClr val="dk1">
                    <a:lumMod val="65000"/>
                    <a:lumOff val="35000"/>
                  </a:schemeClr>
                </a:solidFill>
                <a:effectLst/>
                <a:uFillTx/>
                <a:latin typeface="メイリオ"/>
                <a:ea typeface="メイリオ"/>
              </a:rPr>
              <a:t>へ</a:t>
            </a:r>
            <a:endParaRPr lang="en-US" sz="1400" b="0" u="none" strike="noStrike" dirty="0">
              <a:solidFill>
                <a:srgbClr val="000000"/>
              </a:solidFill>
              <a:effectLst/>
              <a:uFillTx/>
              <a:latin typeface="Arial"/>
            </a:endParaRPr>
          </a:p>
          <a:p>
            <a:pPr algn="ctr" defTabSz="914400">
              <a:lnSpc>
                <a:spcPct val="100000"/>
              </a:lnSpc>
            </a:pPr>
            <a:r>
              <a:rPr lang="en-US" sz="1400" b="0" u="none" strike="noStrike" dirty="0" err="1">
                <a:solidFill>
                  <a:schemeClr val="dk1">
                    <a:lumMod val="65000"/>
                    <a:lumOff val="35000"/>
                  </a:schemeClr>
                </a:solidFill>
                <a:effectLst/>
                <a:uFillTx/>
                <a:latin typeface="メイリオ"/>
                <a:ea typeface="メイリオ"/>
              </a:rPr>
              <a:t>LINE公式アカウントの標準機能で運用（離脱防止ポップアップは別途導入</a:t>
            </a:r>
            <a:r>
              <a:rPr lang="en-US" sz="1400" b="0" u="none" strike="noStrike" dirty="0">
                <a:solidFill>
                  <a:schemeClr val="dk1">
                    <a:lumMod val="65000"/>
                    <a:lumOff val="35000"/>
                  </a:schemeClr>
                </a:solidFill>
                <a:effectLst/>
                <a:uFillTx/>
                <a:latin typeface="メイリオ"/>
                <a:ea typeface="メイリオ"/>
              </a:rPr>
              <a:t>）</a:t>
            </a:r>
            <a:endParaRPr lang="en-US" sz="1400" b="0" u="none" strike="noStrike" dirty="0">
              <a:solidFill>
                <a:srgbClr val="000000"/>
              </a:solidFill>
              <a:effectLst/>
              <a:uFillTx/>
              <a:latin typeface="Arial"/>
            </a:endParaRPr>
          </a:p>
        </p:txBody>
      </p:sp>
      <p:sp>
        <p:nvSpPr>
          <p:cNvPr id="233" name="CVの注記"/>
          <p:cNvSpPr/>
          <p:nvPr/>
        </p:nvSpPr>
        <p:spPr>
          <a:xfrm>
            <a:off x="8119872" y="2844265"/>
            <a:ext cx="1554480" cy="526364"/>
          </a:xfrm>
          <a:prstGeom prst="rect">
            <a:avLst/>
          </a:prstGeom>
          <a:noFill/>
          <a:ln>
            <a:noFill/>
          </a:ln>
        </p:spPr>
        <p:txBody>
          <a:bodyPr wrap="square" lIns="0" tIns="0" rIns="0" bIns="0" rtlCol="0" anchor="ctr">
            <a:noAutofit/>
          </a:bodyPr>
          <a:lstStyle/>
          <a:p>
            <a:pPr algn="ctr">
              <a:buNone/>
            </a:pPr>
            <a:r>
              <a:rPr lang="ja-JP" altLang="en-US" sz="1100" b="1" dirty="0">
                <a:solidFill>
                  <a:srgbClr val="C00000"/>
                </a:solidFill>
                <a:latin typeface="メイリオ" panose="020B0604030504040204" pitchFamily="50" charset="-128"/>
                <a:ea typeface="メイリオ" panose="020B0604030504040204" pitchFamily="50" charset="-128"/>
              </a:rPr>
              <a:t>運用フローの終点</a:t>
            </a:r>
            <a:endParaRPr lang="ja-JP" altLang="en-US" sz="1100" dirty="0"/>
          </a:p>
          <a:p>
            <a:pPr algn="ctr">
              <a:buNone/>
            </a:pPr>
            <a:r>
              <a:rPr lang="ja-JP" altLang="en-US" sz="1100" b="1" dirty="0">
                <a:solidFill>
                  <a:srgbClr val="C00000"/>
                </a:solidFill>
                <a:latin typeface="メイリオ" panose="020B0604030504040204" pitchFamily="50" charset="-128"/>
                <a:ea typeface="メイリオ" panose="020B0604030504040204" pitchFamily="50" charset="-128"/>
              </a:rPr>
              <a:t>当社の計測対象</a:t>
            </a:r>
            <a:endParaRPr lang="ja-JP" alt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234"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rPr>
              <a:t>施策：新しい友だちと今の友だちの両方に届ける</a:t>
            </a:r>
            <a:endParaRPr lang="en-US" sz="1600" b="0" u="none" strike="noStrike">
              <a:solidFill>
                <a:srgbClr val="000000"/>
              </a:solidFill>
              <a:effectLst/>
              <a:uFillTx/>
              <a:latin typeface="メイリオ"/>
            </a:endParaRPr>
          </a:p>
        </p:txBody>
      </p:sp>
      <p:cxnSp>
        <p:nvCxnSpPr>
          <p:cNvPr id="23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236" name="正方形/長方形 4"/>
          <p:cNvSpPr/>
          <p:nvPr/>
        </p:nvSpPr>
        <p:spPr>
          <a:xfrm>
            <a:off x="388080" y="1594440"/>
            <a:ext cx="1425600" cy="313560"/>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300" b="1" u="none" strike="noStrike">
                <a:solidFill>
                  <a:schemeClr val="lt1"/>
                </a:solidFill>
                <a:effectLst/>
                <a:uFillTx/>
                <a:latin typeface="メイリオ"/>
                <a:ea typeface="メイリオ"/>
              </a:rPr>
              <a:t>対象</a:t>
            </a:r>
            <a:endParaRPr lang="en-US" sz="1300" b="0" u="none" strike="noStrike">
              <a:solidFill>
                <a:srgbClr val="FFFFFF"/>
              </a:solidFill>
              <a:effectLst/>
              <a:uFillTx/>
              <a:latin typeface="Arial"/>
            </a:endParaRPr>
          </a:p>
        </p:txBody>
      </p:sp>
      <p:sp>
        <p:nvSpPr>
          <p:cNvPr id="237" name="正方形/長方形 5"/>
          <p:cNvSpPr/>
          <p:nvPr/>
        </p:nvSpPr>
        <p:spPr>
          <a:xfrm>
            <a:off x="1890360" y="1594440"/>
            <a:ext cx="1425600" cy="31356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300" b="1" u="none" strike="noStrike">
                <a:solidFill>
                  <a:schemeClr val="lt1"/>
                </a:solidFill>
                <a:effectLst/>
                <a:uFillTx/>
                <a:latin typeface="メイリオ"/>
                <a:ea typeface="メイリオ"/>
              </a:rPr>
              <a:t>LINE</a:t>
            </a:r>
            <a:r>
              <a:rPr lang="ja-JP" sz="1300" b="1" u="none" strike="noStrike">
                <a:solidFill>
                  <a:schemeClr val="lt1"/>
                </a:solidFill>
                <a:effectLst/>
                <a:uFillTx/>
                <a:latin typeface="メイリオ"/>
                <a:ea typeface="メイリオ"/>
              </a:rPr>
              <a:t>誘導</a:t>
            </a:r>
            <a:endParaRPr lang="en-US" sz="1300" b="0" u="none" strike="noStrike">
              <a:solidFill>
                <a:srgbClr val="000000"/>
              </a:solidFill>
              <a:effectLst/>
              <a:uFillTx/>
              <a:latin typeface="Arial"/>
            </a:endParaRPr>
          </a:p>
        </p:txBody>
      </p:sp>
      <p:sp>
        <p:nvSpPr>
          <p:cNvPr id="238" name="正方形/長方形 6"/>
          <p:cNvSpPr/>
          <p:nvPr/>
        </p:nvSpPr>
        <p:spPr>
          <a:xfrm>
            <a:off x="3392640" y="1594440"/>
            <a:ext cx="4320000" cy="313560"/>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300" b="0" u="none" strike="noStrike">
                <a:solidFill>
                  <a:schemeClr val="lt1"/>
                </a:solidFill>
                <a:effectLst/>
                <a:uFillTx/>
                <a:latin typeface="メイリオ"/>
                <a:ea typeface="メイリオ"/>
              </a:rPr>
              <a:t>具体の施策方針</a:t>
            </a:r>
            <a:endParaRPr lang="en-US" sz="1300" b="0" u="none" strike="noStrike">
              <a:solidFill>
                <a:srgbClr val="FFFFFF"/>
              </a:solidFill>
              <a:effectLst/>
              <a:uFillTx/>
              <a:latin typeface="Arial"/>
            </a:endParaRPr>
          </a:p>
        </p:txBody>
      </p:sp>
      <p:sp>
        <p:nvSpPr>
          <p:cNvPr id="239" name="矢印: 右 7"/>
          <p:cNvSpPr/>
          <p:nvPr/>
        </p:nvSpPr>
        <p:spPr>
          <a:xfrm>
            <a:off x="1031400" y="2625818"/>
            <a:ext cx="7743960" cy="1348812"/>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240" name="正方形/長方形 8"/>
          <p:cNvSpPr/>
          <p:nvPr/>
        </p:nvSpPr>
        <p:spPr>
          <a:xfrm>
            <a:off x="1890360" y="2014754"/>
            <a:ext cx="1425600" cy="12834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ja-JP" sz="1100" b="0" u="none" strike="noStrike">
                <a:solidFill>
                  <a:schemeClr val="dk1">
                    <a:lumMod val="75000"/>
                    <a:lumOff val="25000"/>
                  </a:schemeClr>
                </a:solidFill>
                <a:effectLst/>
                <a:uFillTx/>
                <a:latin typeface="メイリオ"/>
                <a:ea typeface="メイリオ"/>
              </a:rPr>
              <a:t>離脱防止</a:t>
            </a:r>
            <a:endParaRPr lang="en-US" sz="1100" b="0" u="none" strike="noStrike">
              <a:solidFill>
                <a:srgbClr val="000000"/>
              </a:solidFill>
              <a:effectLst/>
              <a:uFillTx/>
              <a:latin typeface="Arial"/>
            </a:endParaRPr>
          </a:p>
          <a:p>
            <a:pPr algn="ctr" defTabSz="914400">
              <a:lnSpc>
                <a:spcPct val="100000"/>
              </a:lnSpc>
            </a:pPr>
            <a:r>
              <a:rPr lang="ja-JP" sz="1100" b="0" u="none" strike="noStrike">
                <a:solidFill>
                  <a:schemeClr val="dk1">
                    <a:lumMod val="75000"/>
                    <a:lumOff val="25000"/>
                  </a:schemeClr>
                </a:solidFill>
                <a:effectLst/>
                <a:uFillTx/>
                <a:latin typeface="メイリオ"/>
                <a:ea typeface="メイリオ"/>
              </a:rPr>
              <a:t>ポップアップ</a:t>
            </a:r>
            <a:endParaRPr lang="en-US" sz="1100" b="0" u="none" strike="noStrike">
              <a:solidFill>
                <a:srgbClr val="000000"/>
              </a:solidFill>
              <a:effectLst/>
              <a:uFillTx/>
              <a:latin typeface="Arial"/>
            </a:endParaRPr>
          </a:p>
        </p:txBody>
      </p:sp>
      <p:sp>
        <p:nvSpPr>
          <p:cNvPr id="241" name="正方形/長方形 9"/>
          <p:cNvSpPr/>
          <p:nvPr/>
        </p:nvSpPr>
        <p:spPr>
          <a:xfrm>
            <a:off x="1890360" y="3424838"/>
            <a:ext cx="1425600" cy="12834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en-US" sz="1100" b="0" u="none" strike="noStrike">
                <a:solidFill>
                  <a:schemeClr val="dk1">
                    <a:lumMod val="75000"/>
                    <a:lumOff val="25000"/>
                  </a:schemeClr>
                </a:solidFill>
                <a:effectLst/>
                <a:uFillTx/>
                <a:latin typeface="メイリオ"/>
                <a:ea typeface="メイリオ"/>
              </a:rPr>
              <a:t>LINE</a:t>
            </a:r>
            <a:r>
              <a:rPr lang="ja-JP" sz="1100" b="0" u="none" strike="noStrike">
                <a:solidFill>
                  <a:schemeClr val="dk1">
                    <a:lumMod val="75000"/>
                    <a:lumOff val="25000"/>
                  </a:schemeClr>
                </a:solidFill>
                <a:effectLst/>
                <a:uFillTx/>
                <a:latin typeface="メイリオ"/>
                <a:ea typeface="メイリオ"/>
              </a:rPr>
              <a:t>でお問い合わせ</a:t>
            </a:r>
            <a:endParaRPr lang="en-US" sz="1100" b="0" u="none" strike="noStrike">
              <a:solidFill>
                <a:srgbClr val="000000"/>
              </a:solidFill>
              <a:effectLst/>
              <a:uFillTx/>
              <a:latin typeface="Arial"/>
            </a:endParaRPr>
          </a:p>
          <a:p>
            <a:pPr algn="ctr" defTabSz="914400">
              <a:lnSpc>
                <a:spcPct val="100000"/>
              </a:lnSpc>
            </a:pPr>
            <a:r>
              <a:rPr lang="ja-JP" sz="1100" b="0" u="none" strike="noStrike">
                <a:solidFill>
                  <a:schemeClr val="dk1">
                    <a:lumMod val="75000"/>
                    <a:lumOff val="25000"/>
                  </a:schemeClr>
                </a:solidFill>
                <a:effectLst/>
                <a:uFillTx/>
                <a:latin typeface="メイリオ"/>
                <a:ea typeface="メイリオ"/>
              </a:rPr>
              <a:t>ボタン（全ページ）</a:t>
            </a:r>
            <a:endParaRPr lang="en-US" sz="1100" b="0" u="none" strike="noStrike">
              <a:solidFill>
                <a:srgbClr val="000000"/>
              </a:solidFill>
              <a:effectLst/>
              <a:uFillTx/>
              <a:latin typeface="Arial"/>
            </a:endParaRPr>
          </a:p>
        </p:txBody>
      </p:sp>
      <p:sp>
        <p:nvSpPr>
          <p:cNvPr id="242" name="正方形/長方形 10"/>
          <p:cNvSpPr/>
          <p:nvPr/>
        </p:nvSpPr>
        <p:spPr>
          <a:xfrm>
            <a:off x="388080" y="2014423"/>
            <a:ext cx="1425600" cy="2691993"/>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en-US" sz="1200" b="1" u="none" strike="noStrike" dirty="0">
                <a:solidFill>
                  <a:schemeClr val="dk1">
                    <a:lumMod val="75000"/>
                    <a:lumOff val="25000"/>
                  </a:schemeClr>
                </a:solidFill>
                <a:effectLst/>
                <a:uFillTx/>
                <a:latin typeface="メイリオ"/>
                <a:ea typeface="メイリオ"/>
              </a:rPr>
              <a:t>新規友だち</a:t>
            </a:r>
            <a:endParaRPr lang="en-US" sz="1200" b="0" u="none" strike="noStrike" dirty="0">
              <a:solidFill>
                <a:srgbClr val="000000"/>
              </a:solidFill>
              <a:effectLst/>
              <a:uFillTx/>
              <a:latin typeface="Arial"/>
            </a:endParaRPr>
          </a:p>
          <a:p>
            <a:pPr algn="ctr" defTabSz="914400">
              <a:lnSpc>
                <a:spcPct val="100000"/>
              </a:lnSpc>
            </a:pPr>
            <a:r>
              <a:rPr lang="en-US" sz="1200" b="0" u="none" strike="noStrike" dirty="0">
                <a:solidFill>
                  <a:schemeClr val="dk1">
                    <a:lumMod val="75000"/>
                    <a:lumOff val="25000"/>
                  </a:schemeClr>
                </a:solidFill>
                <a:effectLst/>
                <a:uFillTx/>
                <a:latin typeface="メイリオ"/>
                <a:ea typeface="メイリオ"/>
              </a:rPr>
              <a:t>（100円賃貸の</a:t>
            </a:r>
            <a:endParaRPr lang="en-US" sz="1200" b="0" u="none" strike="noStrike" dirty="0">
              <a:solidFill>
                <a:srgbClr val="000000"/>
              </a:solidFill>
              <a:effectLst/>
              <a:uFillTx/>
              <a:latin typeface="Arial"/>
            </a:endParaRPr>
          </a:p>
          <a:p>
            <a:pPr algn="ctr" defTabSz="914400">
              <a:lnSpc>
                <a:spcPct val="100000"/>
              </a:lnSpc>
            </a:pPr>
            <a:r>
              <a:rPr lang="en-US" sz="1200" b="0" u="none" strike="noStrike" dirty="0">
                <a:solidFill>
                  <a:schemeClr val="dk1">
                    <a:lumMod val="75000"/>
                    <a:lumOff val="25000"/>
                  </a:schemeClr>
                </a:solidFill>
                <a:effectLst/>
                <a:uFillTx/>
                <a:latin typeface="メイリオ"/>
                <a:ea typeface="メイリオ"/>
              </a:rPr>
              <a:t>サイトから）</a:t>
            </a:r>
            <a:endParaRPr lang="en-US" sz="1200" b="0" u="none" strike="noStrike" dirty="0">
              <a:solidFill>
                <a:srgbClr val="000000"/>
              </a:solidFill>
              <a:effectLst/>
              <a:uFillTx/>
              <a:latin typeface="Arial"/>
            </a:endParaRPr>
          </a:p>
        </p:txBody>
      </p:sp>
      <p:sp>
        <p:nvSpPr>
          <p:cNvPr id="244" name="正方形/長方形 12"/>
          <p:cNvSpPr/>
          <p:nvPr/>
        </p:nvSpPr>
        <p:spPr>
          <a:xfrm>
            <a:off x="3392640" y="2002334"/>
            <a:ext cx="4320000" cy="2706731"/>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75000"/>
                  <a:lumOff val="25000"/>
                </a:schemeClr>
              </a:solidFill>
              <a:effectLst/>
              <a:uFillTx/>
              <a:latin typeface="メイリオ"/>
              <a:ea typeface="メイリオ"/>
            </a:endParaRPr>
          </a:p>
        </p:txBody>
      </p:sp>
      <p:sp>
        <p:nvSpPr>
          <p:cNvPr id="245" name="矢印: 右 13"/>
          <p:cNvSpPr/>
          <p:nvPr/>
        </p:nvSpPr>
        <p:spPr>
          <a:xfrm>
            <a:off x="1031400" y="4815050"/>
            <a:ext cx="7743960" cy="1348812"/>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248" name="正方形/長方形 16"/>
          <p:cNvSpPr/>
          <p:nvPr/>
        </p:nvSpPr>
        <p:spPr>
          <a:xfrm>
            <a:off x="388080" y="4835750"/>
            <a:ext cx="2927880" cy="12834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zh-CN" sz="1200" b="1" u="none" strike="noStrike">
                <a:solidFill>
                  <a:schemeClr val="dk1">
                    <a:lumMod val="65000"/>
                    <a:lumOff val="35000"/>
                  </a:schemeClr>
                </a:solidFill>
                <a:effectLst/>
                <a:uFillTx/>
                <a:latin typeface="メイリオ"/>
                <a:ea typeface="メイリオ"/>
              </a:rPr>
              <a:t>既存友だち（今の友だち 1,241人）</a:t>
            </a:r>
            <a:endParaRPr lang="en-US" sz="1200" b="0" u="none" strike="noStrike">
              <a:solidFill>
                <a:srgbClr val="000000"/>
              </a:solidFill>
              <a:effectLst/>
              <a:uFillTx/>
              <a:latin typeface="Arial"/>
            </a:endParaRPr>
          </a:p>
          <a:p>
            <a:pPr algn="ctr" defTabSz="914400">
              <a:lnSpc>
                <a:spcPct val="100000"/>
              </a:lnSpc>
            </a:pPr>
            <a:r>
              <a:rPr lang="ja-JP" sz="1200" b="0" u="none" strike="noStrike">
                <a:solidFill>
                  <a:schemeClr val="dk1">
                    <a:lumMod val="65000"/>
                    <a:lumOff val="35000"/>
                  </a:schemeClr>
                </a:solidFill>
                <a:effectLst/>
                <a:uFillTx/>
                <a:latin typeface="メイリオ"/>
                <a:ea typeface="メイリオ"/>
              </a:rPr>
              <a:t>＋追加後の新しい友だちにも配信</a:t>
            </a:r>
            <a:endParaRPr lang="en-US" sz="1200" b="0" u="none" strike="noStrike">
              <a:solidFill>
                <a:srgbClr val="000000"/>
              </a:solidFill>
              <a:effectLst/>
              <a:uFillTx/>
              <a:latin typeface="Arial"/>
            </a:endParaRPr>
          </a:p>
        </p:txBody>
      </p:sp>
      <p:sp>
        <p:nvSpPr>
          <p:cNvPr id="251" name="正方形/長方形 19"/>
          <p:cNvSpPr/>
          <p:nvPr/>
        </p:nvSpPr>
        <p:spPr>
          <a:xfrm>
            <a:off x="3392640" y="4835750"/>
            <a:ext cx="4320000" cy="12834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265" name="Shape 17"/>
          <p:cNvSpPr/>
          <p:nvPr/>
        </p:nvSpPr>
        <p:spPr>
          <a:xfrm>
            <a:off x="3474720" y="2328620"/>
            <a:ext cx="1874519" cy="74592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zh-CN" sz="1200" b="0" u="none" strike="noStrike">
                <a:solidFill>
                  <a:srgbClr val="595959"/>
                </a:solidFill>
                <a:effectLst/>
                <a:uFillTx/>
                <a:latin typeface="メイリオ"/>
                <a:ea typeface="メイリオ"/>
              </a:rPr>
              <a:t>あいさつ</a:t>
            </a: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595959"/>
                </a:solidFill>
                <a:effectLst/>
                <a:uFillTx/>
                <a:latin typeface="メイリオ"/>
                <a:ea typeface="メイリオ"/>
              </a:rPr>
              <a:t>フォームの送り方を案内</a:t>
            </a:r>
            <a:endParaRPr lang="en-US" sz="1200" b="0" u="none" strike="noStrike">
              <a:solidFill>
                <a:srgbClr val="000000"/>
              </a:solidFill>
              <a:effectLst/>
              <a:uFillTx/>
              <a:latin typeface="Arial"/>
            </a:endParaRPr>
          </a:p>
        </p:txBody>
      </p:sp>
      <p:sp>
        <p:nvSpPr>
          <p:cNvPr id="266" name="Shape 18"/>
          <p:cNvSpPr/>
          <p:nvPr/>
        </p:nvSpPr>
        <p:spPr>
          <a:xfrm>
            <a:off x="5623560" y="2328620"/>
            <a:ext cx="1965960" cy="74592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zh-CN" sz="1200" b="0" u="none" strike="noStrike">
                <a:solidFill>
                  <a:srgbClr val="595959"/>
                </a:solidFill>
                <a:effectLst/>
                <a:uFillTx/>
                <a:latin typeface="メイリオ"/>
                <a:ea typeface="メイリオ"/>
              </a:rPr>
              <a:t>ステップ配信（全</a:t>
            </a:r>
            <a:r>
              <a:rPr lang="en-US" sz="1200" b="0" u="none" strike="noStrike">
                <a:solidFill>
                  <a:srgbClr val="595959"/>
                </a:solidFill>
                <a:effectLst/>
                <a:uFillTx/>
                <a:latin typeface="メイリオ"/>
                <a:ea typeface="メイリオ"/>
              </a:rPr>
              <a:t>10</a:t>
            </a:r>
            <a:r>
              <a:rPr lang="zh-CN" sz="1200" b="0" u="none" strike="noStrike">
                <a:solidFill>
                  <a:srgbClr val="595959"/>
                </a:solidFill>
                <a:effectLst/>
                <a:uFillTx/>
                <a:latin typeface="メイリオ"/>
                <a:ea typeface="メイリオ"/>
              </a:rPr>
              <a:t>通）</a:t>
            </a:r>
            <a:endParaRPr lang="en-US" sz="1200" b="0" u="none" strike="noStrike">
              <a:solidFill>
                <a:srgbClr val="000000"/>
              </a:solidFill>
              <a:effectLst/>
              <a:uFillTx/>
              <a:latin typeface="Arial"/>
            </a:endParaRPr>
          </a:p>
          <a:p>
            <a:pPr defTabSz="914400">
              <a:lnSpc>
                <a:spcPct val="100000"/>
              </a:lnSpc>
            </a:pPr>
            <a:r>
              <a:rPr lang="en-US" sz="1200" b="0" u="none" strike="noStrike">
                <a:solidFill>
                  <a:srgbClr val="595959"/>
                </a:solidFill>
                <a:effectLst/>
                <a:uFillTx/>
                <a:latin typeface="メイリオ"/>
                <a:ea typeface="メイリオ"/>
              </a:rPr>
              <a:t>→ フォームで物件を送信</a:t>
            </a:r>
            <a:endParaRPr lang="en-US" sz="1200" b="0" u="none" strike="noStrike">
              <a:solidFill>
                <a:srgbClr val="000000"/>
              </a:solidFill>
              <a:effectLst/>
              <a:uFillTx/>
              <a:latin typeface="Arial"/>
            </a:endParaRPr>
          </a:p>
        </p:txBody>
      </p:sp>
      <p:cxnSp>
        <p:nvCxnSpPr>
          <p:cNvPr id="267" name="直線矢印コネクタ 35"/>
          <p:cNvCxnSpPr>
            <a:endCxn id="266" idx="1"/>
          </p:cNvCxnSpPr>
          <p:nvPr/>
        </p:nvCxnSpPr>
        <p:spPr>
          <a:xfrm>
            <a:off x="5349240" y="2686550"/>
            <a:ext cx="274320" cy="9360"/>
          </a:xfrm>
          <a:prstGeom prst="straightConnector1">
            <a:avLst/>
          </a:prstGeom>
          <a:ln>
            <a:solidFill>
              <a:srgbClr val="000000"/>
            </a:solidFill>
            <a:prstDash val="sysDot"/>
            <a:round/>
            <a:tailEnd type="triangle" w="med" len="med"/>
          </a:ln>
        </p:spPr>
      </p:cxnSp>
      <p:sp>
        <p:nvSpPr>
          <p:cNvPr id="268" name="Shape 17"/>
          <p:cNvSpPr/>
          <p:nvPr/>
        </p:nvSpPr>
        <p:spPr>
          <a:xfrm>
            <a:off x="3474720" y="3557372"/>
            <a:ext cx="1874519" cy="74592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zh-CN" sz="1200" b="0" u="none" strike="noStrike">
                <a:solidFill>
                  <a:srgbClr val="595959"/>
                </a:solidFill>
                <a:effectLst/>
                <a:uFillTx/>
                <a:latin typeface="メイリオ"/>
                <a:ea typeface="メイリオ"/>
              </a:rPr>
              <a:t>キーワード応答</a:t>
            </a:r>
            <a:endParaRPr lang="en-US" sz="1200" b="0" u="none" strike="noStrike">
              <a:solidFill>
                <a:srgbClr val="000000"/>
              </a:solidFill>
              <a:effectLst/>
              <a:uFillTx/>
              <a:latin typeface="Arial"/>
            </a:endParaRPr>
          </a:p>
          <a:p>
            <a:pPr defTabSz="914400">
              <a:lnSpc>
                <a:spcPct val="100000"/>
              </a:lnSpc>
            </a:pPr>
            <a:r>
              <a:rPr lang="en-US" sz="1200" b="0" u="none" strike="noStrike">
                <a:solidFill>
                  <a:srgbClr val="595959"/>
                </a:solidFill>
                <a:effectLst/>
                <a:uFillTx/>
                <a:latin typeface="メイリオ"/>
                <a:ea typeface="メイリオ"/>
              </a:rPr>
              <a:t>→ よくある質問に返信</a:t>
            </a:r>
            <a:endParaRPr lang="en-US" sz="1200" b="0" u="none" strike="noStrike">
              <a:solidFill>
                <a:srgbClr val="000000"/>
              </a:solidFill>
              <a:effectLst/>
              <a:uFillTx/>
              <a:latin typeface="Arial"/>
            </a:endParaRPr>
          </a:p>
        </p:txBody>
      </p:sp>
      <p:sp>
        <p:nvSpPr>
          <p:cNvPr id="269" name="Shape 18"/>
          <p:cNvSpPr/>
          <p:nvPr/>
        </p:nvSpPr>
        <p:spPr>
          <a:xfrm>
            <a:off x="5623560" y="3557372"/>
            <a:ext cx="1965960" cy="74592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ja-JP" sz="1200" b="0" u="none" strike="noStrike">
                <a:solidFill>
                  <a:srgbClr val="595959"/>
                </a:solidFill>
                <a:effectLst/>
                <a:uFillTx/>
                <a:latin typeface="メイリオ"/>
                <a:ea typeface="メイリオ"/>
              </a:rPr>
              <a:t>個別チャット</a:t>
            </a:r>
            <a:endParaRPr lang="en-US" sz="1200" b="0" u="none" strike="noStrike">
              <a:solidFill>
                <a:srgbClr val="000000"/>
              </a:solidFill>
              <a:effectLst/>
              <a:uFillTx/>
              <a:latin typeface="Arial"/>
            </a:endParaRPr>
          </a:p>
          <a:p>
            <a:pPr defTabSz="914400">
              <a:lnSpc>
                <a:spcPct val="100000"/>
              </a:lnSpc>
            </a:pPr>
            <a:r>
              <a:rPr lang="en-US" sz="1200" b="0" u="none" strike="noStrike">
                <a:solidFill>
                  <a:srgbClr val="595959"/>
                </a:solidFill>
                <a:effectLst/>
                <a:uFillTx/>
                <a:latin typeface="メイリオ"/>
                <a:ea typeface="メイリオ"/>
              </a:rPr>
              <a:t>→ 空室確認・内見の手配</a:t>
            </a:r>
            <a:endParaRPr lang="en-US" sz="1200" b="0" u="none" strike="noStrike">
              <a:solidFill>
                <a:srgbClr val="000000"/>
              </a:solidFill>
              <a:effectLst/>
              <a:uFillTx/>
              <a:latin typeface="Arial"/>
            </a:endParaRPr>
          </a:p>
        </p:txBody>
      </p:sp>
      <p:cxnSp>
        <p:nvCxnSpPr>
          <p:cNvPr id="270" name="直線矢印コネクタ 38"/>
          <p:cNvCxnSpPr>
            <a:stCxn id="268" idx="3"/>
            <a:endCxn id="269" idx="1"/>
          </p:cNvCxnSpPr>
          <p:nvPr/>
        </p:nvCxnSpPr>
        <p:spPr>
          <a:xfrm>
            <a:off x="5349240" y="3930152"/>
            <a:ext cx="274320" cy="360"/>
          </a:xfrm>
          <a:prstGeom prst="straightConnector1">
            <a:avLst/>
          </a:prstGeom>
          <a:ln>
            <a:solidFill>
              <a:srgbClr val="000000"/>
            </a:solidFill>
            <a:prstDash val="sysDot"/>
            <a:round/>
            <a:tailEnd type="triangle" w="med" len="med"/>
          </a:ln>
        </p:spPr>
      </p:cxnSp>
      <p:sp>
        <p:nvSpPr>
          <p:cNvPr id="271" name="テキスト ボックス 102"/>
          <p:cNvSpPr/>
          <p:nvPr/>
        </p:nvSpPr>
        <p:spPr>
          <a:xfrm>
            <a:off x="7643520" y="1550880"/>
            <a:ext cx="1873800" cy="430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zh-CN" sz="1200" b="1" u="none" strike="noStrike">
                <a:solidFill>
                  <a:srgbClr val="FF0000"/>
                </a:solidFill>
                <a:effectLst/>
                <a:uFillTx/>
                <a:latin typeface="メイリオ"/>
                <a:ea typeface="メイリオ"/>
              </a:rPr>
              <a:t>ゴール</a:t>
            </a:r>
            <a:endParaRPr lang="en-US" sz="1200" b="0" u="none" strike="noStrike">
              <a:solidFill>
                <a:srgbClr val="000000"/>
              </a:solidFill>
              <a:effectLst/>
              <a:uFillTx/>
              <a:latin typeface="Arial"/>
            </a:endParaRPr>
          </a:p>
        </p:txBody>
      </p:sp>
      <p:sp>
        <p:nvSpPr>
          <p:cNvPr id="272" name="テキスト ボックス 104"/>
          <p:cNvSpPr/>
          <p:nvPr/>
        </p:nvSpPr>
        <p:spPr>
          <a:xfrm>
            <a:off x="7498080" y="3805344"/>
            <a:ext cx="1782720" cy="567933"/>
          </a:xfrm>
          <a:prstGeom prst="rect">
            <a:avLst/>
          </a:prstGeom>
          <a:noFill/>
          <a:ln w="0">
            <a:noFill/>
          </a:ln>
        </p:spPr>
        <p:style>
          <a:lnRef idx="0">
            <a:scrgbClr r="0" g="0" b="0"/>
          </a:lnRef>
          <a:fillRef idx="0">
            <a:scrgbClr r="0" g="0" b="0"/>
          </a:fillRef>
          <a:effectRef idx="0">
            <a:scrgbClr r="0" g="0" b="0"/>
          </a:effectRef>
          <a:fontRef idx="minor"/>
        </p:style>
        <p:txBody>
          <a:bodyPr lIns="0" tIns="45000" rIns="0" bIns="45000" anchor="t">
            <a:spAutoFit/>
          </a:bodyPr>
          <a:lstStyle/>
          <a:p>
            <a:pPr algn="r" defTabSz="914400">
              <a:lnSpc>
                <a:spcPct val="100000"/>
              </a:lnSpc>
            </a:pPr>
            <a:r>
              <a:rPr lang="en-US" sz="2000" b="1" u="none" strike="noStrike" dirty="0">
                <a:solidFill>
                  <a:srgbClr val="FF0000"/>
                </a:solidFill>
                <a:effectLst/>
                <a:uFillTx/>
                <a:latin typeface="メイリオ"/>
                <a:ea typeface="メイリオ"/>
              </a:rPr>
              <a:t>フォーム送信</a:t>
            </a:r>
            <a:endParaRPr lang="en-US" sz="1400" b="0" u="none" strike="noStrike" dirty="0">
              <a:solidFill>
                <a:srgbClr val="000000"/>
              </a:solidFill>
              <a:effectLst/>
              <a:uFillTx/>
              <a:latin typeface="Arial"/>
            </a:endParaRPr>
          </a:p>
          <a:p>
            <a:pPr algn="r" defTabSz="914400">
              <a:lnSpc>
                <a:spcPct val="100000"/>
              </a:lnSpc>
            </a:pPr>
            <a:endParaRPr lang="en-US" sz="1100" b="0" u="none" strike="noStrike" dirty="0">
              <a:solidFill>
                <a:srgbClr val="000000"/>
              </a:solidFill>
              <a:effectLst/>
              <a:uFillTx/>
              <a:latin typeface="Arial"/>
            </a:endParaRPr>
          </a:p>
        </p:txBody>
      </p:sp>
      <p:sp>
        <p:nvSpPr>
          <p:cNvPr id="278" name="Shape 17"/>
          <p:cNvSpPr/>
          <p:nvPr/>
        </p:nvSpPr>
        <p:spPr>
          <a:xfrm>
            <a:off x="3474720" y="5115668"/>
            <a:ext cx="1874519" cy="74592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ja-JP" sz="1200" b="0" u="none" strike="noStrike">
                <a:solidFill>
                  <a:srgbClr val="595959"/>
                </a:solidFill>
                <a:effectLst/>
                <a:uFillTx/>
                <a:latin typeface="メイリオ"/>
                <a:ea typeface="メイリオ"/>
              </a:rPr>
              <a:t>企画配信（月4回程度）</a:t>
            </a:r>
            <a:endParaRPr lang="en-US" sz="1200" b="0" u="none" strike="noStrike">
              <a:solidFill>
                <a:srgbClr val="000000"/>
              </a:solidFill>
              <a:effectLst/>
              <a:uFillTx/>
              <a:latin typeface="Arial"/>
            </a:endParaRPr>
          </a:p>
          <a:p>
            <a:pPr defTabSz="914400">
              <a:lnSpc>
                <a:spcPct val="100000"/>
              </a:lnSpc>
            </a:pPr>
            <a:r>
              <a:rPr lang="en-US" sz="1200" b="0" u="none" strike="noStrike">
                <a:solidFill>
                  <a:srgbClr val="595959"/>
                </a:solidFill>
                <a:effectLst/>
                <a:uFillTx/>
                <a:latin typeface="メイリオ"/>
                <a:ea typeface="メイリオ"/>
              </a:rPr>
              <a:t>→ 送り方・費用など</a:t>
            </a:r>
            <a:endParaRPr lang="en-US" sz="1200" b="0" u="none" strike="noStrike">
              <a:solidFill>
                <a:srgbClr val="000000"/>
              </a:solidFill>
              <a:effectLst/>
              <a:uFillTx/>
              <a:latin typeface="Arial"/>
            </a:endParaRPr>
          </a:p>
        </p:txBody>
      </p:sp>
      <p:sp>
        <p:nvSpPr>
          <p:cNvPr id="279" name="Shape 18"/>
          <p:cNvSpPr/>
          <p:nvPr/>
        </p:nvSpPr>
        <p:spPr>
          <a:xfrm>
            <a:off x="5623560" y="5115668"/>
            <a:ext cx="1965960" cy="74592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ja-JP" sz="1200" b="0" u="none" strike="noStrike">
                <a:solidFill>
                  <a:srgbClr val="595959"/>
                </a:solidFill>
                <a:effectLst/>
                <a:uFillTx/>
                <a:latin typeface="メイリオ"/>
                <a:ea typeface="メイリオ"/>
              </a:rPr>
              <a:t>リッチメニュー</a:t>
            </a:r>
            <a:endParaRPr lang="en-US" sz="1200" b="0" u="none" strike="noStrike">
              <a:solidFill>
                <a:srgbClr val="000000"/>
              </a:solidFill>
              <a:effectLst/>
              <a:uFillTx/>
              <a:latin typeface="Arial"/>
            </a:endParaRPr>
          </a:p>
          <a:p>
            <a:pPr defTabSz="914400">
              <a:lnSpc>
                <a:spcPct val="100000"/>
              </a:lnSpc>
            </a:pPr>
            <a:r>
              <a:rPr lang="en-US" sz="1200" b="0" u="none" strike="noStrike">
                <a:solidFill>
                  <a:srgbClr val="595959"/>
                </a:solidFill>
                <a:effectLst/>
                <a:uFillTx/>
                <a:latin typeface="メイリオ"/>
                <a:ea typeface="メイリオ"/>
              </a:rPr>
              <a:t>→ フォーム送信（CV）</a:t>
            </a:r>
            <a:endParaRPr lang="en-US" sz="1200" b="0" u="none" strike="noStrike">
              <a:solidFill>
                <a:srgbClr val="000000"/>
              </a:solidFill>
              <a:effectLst/>
              <a:uFillTx/>
              <a:latin typeface="Arial"/>
            </a:endParaRPr>
          </a:p>
        </p:txBody>
      </p:sp>
      <p:cxnSp>
        <p:nvCxnSpPr>
          <p:cNvPr id="280" name="直線矢印コネクタ 49"/>
          <p:cNvCxnSpPr>
            <a:stCxn id="278" idx="3"/>
            <a:endCxn id="279" idx="1"/>
          </p:cNvCxnSpPr>
          <p:nvPr/>
        </p:nvCxnSpPr>
        <p:spPr>
          <a:xfrm>
            <a:off x="5349240" y="5488448"/>
            <a:ext cx="274320" cy="360"/>
          </a:xfrm>
          <a:prstGeom prst="straightConnector1">
            <a:avLst/>
          </a:prstGeom>
          <a:ln>
            <a:solidFill>
              <a:srgbClr val="000000"/>
            </a:solidFill>
            <a:prstDash val="sysDot"/>
            <a:round/>
            <a:tailEnd type="triangle" w="med" len="med"/>
          </a:ln>
        </p:spPr>
      </p:cxnSp>
      <p:sp>
        <p:nvSpPr>
          <p:cNvPr id="293" name="テキスト ボックス 67"/>
          <p:cNvSpPr/>
          <p:nvPr/>
        </p:nvSpPr>
        <p:spPr>
          <a:xfrm>
            <a:off x="556200" y="603360"/>
            <a:ext cx="8793360" cy="7311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300" b="0" u="none" strike="noStrike" dirty="0">
                <a:solidFill>
                  <a:schemeClr val="dk1">
                    <a:lumMod val="65000"/>
                    <a:lumOff val="35000"/>
                  </a:schemeClr>
                </a:solidFill>
                <a:effectLst/>
                <a:uFillTx/>
                <a:latin typeface="メイリオ"/>
                <a:ea typeface="メイリオ"/>
              </a:rPr>
              <a:t>新しい友だちには物件の送り方を、今の友だちには配信とリッチメニューで問い合わせのきっかけを</a:t>
            </a:r>
            <a:endParaRPr lang="en-US" sz="1300" b="0" u="none" strike="noStrike" dirty="0">
              <a:solidFill>
                <a:srgbClr val="000000"/>
              </a:solidFill>
              <a:effectLst/>
              <a:uFillTx/>
              <a:latin typeface="Arial"/>
            </a:endParaRPr>
          </a:p>
          <a:p>
            <a:pPr algn="ctr" defTabSz="914400">
              <a:lnSpc>
                <a:spcPct val="100000"/>
              </a:lnSpc>
            </a:pPr>
            <a:r>
              <a:rPr lang="ja-JP" sz="1300" b="1" u="none" strike="noStrike" dirty="0">
                <a:solidFill>
                  <a:schemeClr val="dk1">
                    <a:lumMod val="65000"/>
                    <a:lumOff val="35000"/>
                  </a:schemeClr>
                </a:solidFill>
                <a:effectLst/>
                <a:uFillTx/>
                <a:latin typeface="メイリオ"/>
                <a:ea typeface="メイリオ"/>
              </a:rPr>
              <a:t>今の友だちは見込み顧客として活用し、将来的な紹介</a:t>
            </a:r>
            <a:r>
              <a:rPr lang="ja-JP" altLang="en-US" sz="1300" b="1" dirty="0">
                <a:solidFill>
                  <a:schemeClr val="dk1">
                    <a:lumMod val="65000"/>
                    <a:lumOff val="35000"/>
                  </a:schemeClr>
                </a:solidFill>
                <a:latin typeface="メイリオ"/>
                <a:ea typeface="メイリオ"/>
              </a:rPr>
              <a:t>の</a:t>
            </a:r>
            <a:endParaRPr lang="en-US" sz="1300" b="0" u="none" strike="noStrike" dirty="0">
              <a:solidFill>
                <a:srgbClr val="000000"/>
              </a:solidFill>
              <a:effectLst/>
              <a:uFillTx/>
              <a:latin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8"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169"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170"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rPr>
              <a:t>運用ツール：標準機能で運用する</a:t>
            </a:r>
            <a:endParaRPr lang="en-US" sz="1600" b="0" u="none" strike="noStrike">
              <a:solidFill>
                <a:srgbClr val="000000"/>
              </a:solidFill>
              <a:effectLst/>
              <a:uFillTx/>
              <a:latin typeface="メイリオ"/>
            </a:endParaRPr>
          </a:p>
        </p:txBody>
      </p:sp>
      <p:sp>
        <p:nvSpPr>
          <p:cNvPr id="171" name="Heading"/>
          <p:cNvSpPr/>
          <p:nvPr/>
        </p:nvSpPr>
        <p:spPr>
          <a:xfrm>
            <a:off x="365040" y="835920"/>
            <a:ext cx="9143640" cy="279000"/>
          </a:xfrm>
          <a:prstGeom prst="rect">
            <a:avLst/>
          </a:prstGeom>
          <a:noFill/>
          <a:ln w="0">
            <a:noFill/>
          </a:ln>
        </p:spPr>
        <p:style>
          <a:lnRef idx="0">
            <a:scrgbClr r="0" g="0" b="0"/>
          </a:lnRef>
          <a:fillRef idx="0">
            <a:scrgbClr r="0" g="0" b="0"/>
          </a:fillRef>
          <a:effectRef idx="0">
            <a:scrgbClr r="0" g="0" b="0"/>
          </a:effectRef>
          <a:fontRef idx="minor"/>
        </p:style>
        <p:txBody>
          <a:bodyPr lIns="101520" tIns="76320" rIns="101520" bIns="76320" anchor="t">
            <a:noAutofit/>
          </a:bodyPr>
          <a:lstStyle/>
          <a:p>
            <a:pPr defTabSz="914400">
              <a:lnSpc>
                <a:spcPct val="100000"/>
              </a:lnSpc>
            </a:pPr>
            <a:r>
              <a:rPr lang="en-US" sz="1400" b="1" u="none" strike="noStrike">
                <a:solidFill>
                  <a:srgbClr val="1F2A5C"/>
                </a:solidFill>
                <a:effectLst/>
                <a:uFillTx/>
                <a:latin typeface="メイリオ"/>
                <a:ea typeface="メイリオ"/>
              </a:rPr>
              <a:t>LINE</a:t>
            </a:r>
            <a:r>
              <a:rPr lang="ja-JP" sz="1400" b="1" u="none" strike="noStrike">
                <a:solidFill>
                  <a:srgbClr val="1F2A5C"/>
                </a:solidFill>
                <a:effectLst/>
                <a:uFillTx/>
                <a:latin typeface="メイリオ"/>
                <a:ea typeface="メイリオ"/>
              </a:rPr>
              <a:t>運用ツールの選定</a:t>
            </a:r>
            <a:endParaRPr lang="en-US" sz="1400" b="0" u="none" strike="noStrike">
              <a:solidFill>
                <a:srgbClr val="000000"/>
              </a:solidFill>
              <a:effectLst/>
              <a:uFillTx/>
              <a:latin typeface="Arial"/>
            </a:endParaRPr>
          </a:p>
        </p:txBody>
      </p:sp>
      <p:sp>
        <p:nvSpPr>
          <p:cNvPr id="172" name="LeftHeader"/>
          <p:cNvSpPr/>
          <p:nvPr/>
        </p:nvSpPr>
        <p:spPr>
          <a:xfrm>
            <a:off x="380880" y="1320840"/>
            <a:ext cx="4444560" cy="420120"/>
          </a:xfrm>
          <a:prstGeom prst="rect">
            <a:avLst/>
          </a:prstGeom>
          <a:solidFill>
            <a:srgbClr val="1F2A5C"/>
          </a:solidFill>
          <a:ln w="0">
            <a:noFill/>
          </a:ln>
        </p:spPr>
        <p:style>
          <a:lnRef idx="0">
            <a:scrgbClr r="0" g="0" b="0"/>
          </a:lnRef>
          <a:fillRef idx="0">
            <a:scrgbClr r="0" g="0" b="0"/>
          </a:fillRef>
          <a:effectRef idx="0">
            <a:scrgbClr r="0" g="0" b="0"/>
          </a:effectRef>
          <a:fontRef idx="minor"/>
        </p:style>
        <p:txBody>
          <a:bodyPr lIns="73080" tIns="76320" rIns="73080" bIns="76320" anchor="ctr">
            <a:noAutofit/>
          </a:bodyPr>
          <a:lstStyle/>
          <a:p>
            <a:pPr algn="ctr" defTabSz="914400">
              <a:lnSpc>
                <a:spcPct val="100000"/>
              </a:lnSpc>
            </a:pPr>
            <a:r>
              <a:rPr lang="ja-JP" sz="1400" b="1" u="none" strike="noStrike" dirty="0">
                <a:solidFill>
                  <a:srgbClr val="FFFFFF"/>
                </a:solidFill>
                <a:effectLst/>
                <a:uFillTx/>
                <a:latin typeface="メイリオ" panose="020B0604030504040204" pitchFamily="50" charset="-128"/>
                <a:ea typeface="メイリオ" panose="020B0604030504040204" pitchFamily="50" charset="-128"/>
              </a:rPr>
              <a:t>標準機能で運用</a:t>
            </a:r>
            <a:r>
              <a:rPr lang="en-US" sz="1400" b="0" u="none" strike="noStrike" dirty="0">
                <a:solidFill>
                  <a:srgbClr val="FFFFFF"/>
                </a:solidFill>
                <a:effectLst/>
                <a:uFillTx/>
                <a:latin typeface="メイリオ" panose="020B0604030504040204" pitchFamily="50" charset="-128"/>
                <a:ea typeface="メイリオ" panose="020B0604030504040204" pitchFamily="50" charset="-128"/>
              </a:rPr>
              <a:t> </a:t>
            </a:r>
            <a:r>
              <a:rPr lang="en-US" sz="1200" b="0" u="none" strike="noStrike" dirty="0">
                <a:solidFill>
                  <a:srgbClr val="FFFFFF"/>
                </a:solidFill>
                <a:effectLst/>
                <a:uFillTx/>
                <a:latin typeface="メイリオ" panose="020B0604030504040204" pitchFamily="50" charset="-128"/>
                <a:ea typeface="メイリオ" panose="020B0604030504040204" pitchFamily="50" charset="-128"/>
              </a:rPr>
              <a:t>※</a:t>
            </a:r>
            <a:r>
              <a:rPr lang="en-US" sz="1200" b="0" u="none" strike="noStrike" dirty="0" err="1">
                <a:solidFill>
                  <a:srgbClr val="FFFFFF"/>
                </a:solidFill>
                <a:effectLst/>
                <a:uFillTx/>
                <a:latin typeface="メイリオ" panose="020B0604030504040204" pitchFamily="50" charset="-128"/>
                <a:ea typeface="メイリオ" panose="020B0604030504040204" pitchFamily="50" charset="-128"/>
              </a:rPr>
              <a:t>基本施策はこちらで運用</a:t>
            </a:r>
            <a:endParaRPr lang="en-US" sz="1200" b="0" u="none" strike="noStrike" dirty="0">
              <a:solidFill>
                <a:srgbClr val="FFFFFF"/>
              </a:solidFill>
              <a:effectLst/>
              <a:uFillTx/>
              <a:latin typeface="メイリオ" panose="020B0604030504040204" pitchFamily="50" charset="-128"/>
              <a:ea typeface="メイリオ" panose="020B0604030504040204" pitchFamily="50" charset="-128"/>
            </a:endParaRPr>
          </a:p>
        </p:txBody>
      </p:sp>
      <p:sp>
        <p:nvSpPr>
          <p:cNvPr id="173" name="LeftBody"/>
          <p:cNvSpPr/>
          <p:nvPr/>
        </p:nvSpPr>
        <p:spPr>
          <a:xfrm>
            <a:off x="380880" y="1740960"/>
            <a:ext cx="4444560" cy="340128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28160" tIns="152280" rIns="128160" bIns="152280" anchor="t">
            <a:noAutofit/>
          </a:bodyPr>
          <a:lstStyle/>
          <a:p>
            <a:pPr defTabSz="914400">
              <a:lnSpc>
                <a:spcPct val="100000"/>
              </a:lnSpc>
            </a:pPr>
            <a:r>
              <a:rPr lang="ja-JP" sz="1400" b="1" u="none" strike="noStrike" dirty="0">
                <a:solidFill>
                  <a:srgbClr val="1F2A5C"/>
                </a:solidFill>
                <a:effectLst/>
                <a:uFillTx/>
                <a:latin typeface="メイリオ" panose="020B0604030504040204" pitchFamily="50" charset="-128"/>
                <a:ea typeface="メイリオ" panose="020B0604030504040204" pitchFamily="50" charset="-128"/>
              </a:rPr>
              <a:t>特徴</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ツール費がかからず、</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LINE</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公式アカウントの管理画面だけで運用できる</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601"/>
              </a:spcBef>
            </a:pPr>
            <a:r>
              <a:rPr lang="ja-JP" sz="1400" b="1" u="none" strike="noStrike" dirty="0">
                <a:solidFill>
                  <a:srgbClr val="1F2A5C"/>
                </a:solidFill>
                <a:effectLst/>
                <a:uFillTx/>
                <a:latin typeface="メイリオ" panose="020B0604030504040204" pitchFamily="50" charset="-128"/>
                <a:ea typeface="メイリオ" panose="020B0604030504040204" pitchFamily="50" charset="-128"/>
              </a:rPr>
              <a:t>メリット</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ステップ配信・問い合わせ済みの方を除く配信・キーワード応答・チャットタグなど、</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LINE</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上の施策はすべて標準機能で実現できる</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601"/>
              </a:spcBef>
            </a:pPr>
            <a:r>
              <a:rPr lang="ja-JP" sz="1400" b="1" u="none" strike="noStrike" dirty="0">
                <a:solidFill>
                  <a:srgbClr val="1F2A5C"/>
                </a:solidFill>
                <a:effectLst/>
                <a:uFillTx/>
                <a:latin typeface="メイリオ" panose="020B0604030504040204" pitchFamily="50" charset="-128"/>
                <a:ea typeface="メイリオ" panose="020B0604030504040204" pitchFamily="50" charset="-128"/>
              </a:rPr>
              <a:t>デメリット</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離脱防止ポップアップとサイトのボタンなど、同じ友だち追加</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URL</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から入った方は、経路で分けて配信できない</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p:txBody>
      </p:sp>
      <p:sp>
        <p:nvSpPr>
          <p:cNvPr id="174" name="RightHeader"/>
          <p:cNvSpPr/>
          <p:nvPr/>
        </p:nvSpPr>
        <p:spPr>
          <a:xfrm>
            <a:off x="5079960" y="1320840"/>
            <a:ext cx="4444560" cy="420120"/>
          </a:xfrm>
          <a:prstGeom prst="rect">
            <a:avLst/>
          </a:prstGeom>
          <a:solidFill>
            <a:srgbClr val="00B050"/>
          </a:solidFill>
          <a:ln w="0">
            <a:noFill/>
          </a:ln>
        </p:spPr>
        <p:style>
          <a:lnRef idx="0">
            <a:scrgbClr r="0" g="0" b="0"/>
          </a:lnRef>
          <a:fillRef idx="0">
            <a:scrgbClr r="0" g="0" b="0"/>
          </a:fillRef>
          <a:effectRef idx="0">
            <a:scrgbClr r="0" g="0" b="0"/>
          </a:effectRef>
          <a:fontRef idx="minor"/>
        </p:style>
        <p:txBody>
          <a:bodyPr lIns="73080" tIns="76320" rIns="73080" bIns="76320" anchor="ctr">
            <a:noAutofit/>
          </a:bodyPr>
          <a:lstStyle/>
          <a:p>
            <a:pPr algn="ctr" defTabSz="914400">
              <a:lnSpc>
                <a:spcPct val="100000"/>
              </a:lnSpc>
            </a:pPr>
            <a:r>
              <a:rPr lang="ja-JP" sz="1400" b="1" u="none" strike="noStrike">
                <a:solidFill>
                  <a:srgbClr val="FFFFFF"/>
                </a:solidFill>
                <a:effectLst/>
                <a:uFillTx/>
                <a:latin typeface="メイリオ" panose="020B0604030504040204" pitchFamily="50" charset="-128"/>
                <a:ea typeface="メイリオ" panose="020B0604030504040204" pitchFamily="50" charset="-128"/>
              </a:rPr>
              <a:t>外部の運用ツール</a:t>
            </a:r>
            <a:r>
              <a:rPr lang="en-US" sz="1400" b="0" u="none" strike="noStrike">
                <a:solidFill>
                  <a:srgbClr val="FFFFFF"/>
                </a:solidFill>
                <a:effectLst/>
                <a:uFillTx/>
                <a:latin typeface="メイリオ" panose="020B0604030504040204" pitchFamily="50" charset="-128"/>
                <a:ea typeface="メイリオ" panose="020B0604030504040204" pitchFamily="50" charset="-128"/>
              </a:rPr>
              <a:t> </a:t>
            </a:r>
            <a:r>
              <a:rPr lang="en-US" sz="1200" b="0" u="none" strike="noStrike">
                <a:solidFill>
                  <a:srgbClr val="FFFFFF"/>
                </a:solidFill>
                <a:effectLst/>
                <a:uFillTx/>
                <a:latin typeface="メイリオ" panose="020B0604030504040204" pitchFamily="50" charset="-128"/>
                <a:ea typeface="メイリオ" panose="020B0604030504040204" pitchFamily="50" charset="-128"/>
              </a:rPr>
              <a:t>※基本施策には含まない</a:t>
            </a:r>
          </a:p>
        </p:txBody>
      </p:sp>
      <p:sp>
        <p:nvSpPr>
          <p:cNvPr id="175" name="RightBody"/>
          <p:cNvSpPr/>
          <p:nvPr/>
        </p:nvSpPr>
        <p:spPr>
          <a:xfrm>
            <a:off x="5079960" y="1740960"/>
            <a:ext cx="4444560" cy="3401280"/>
          </a:xfrm>
          <a:prstGeom prst="rect">
            <a:avLst/>
          </a:prstGeom>
          <a:solidFill>
            <a:srgbClr val="FFFFFF"/>
          </a:solidFill>
          <a:ln w="12700">
            <a:solidFill>
              <a:srgbClr val="00B050"/>
            </a:solidFill>
            <a:round/>
          </a:ln>
        </p:spPr>
        <p:style>
          <a:lnRef idx="0">
            <a:scrgbClr r="0" g="0" b="0"/>
          </a:lnRef>
          <a:fillRef idx="0">
            <a:scrgbClr r="0" g="0" b="0"/>
          </a:fillRef>
          <a:effectRef idx="0">
            <a:scrgbClr r="0" g="0" b="0"/>
          </a:effectRef>
          <a:fontRef idx="minor"/>
        </p:style>
        <p:txBody>
          <a:bodyPr lIns="128160" tIns="152280" rIns="128160" bIns="152280" anchor="t">
            <a:noAutofit/>
          </a:bodyPr>
          <a:lstStyle/>
          <a:p>
            <a:pPr defTabSz="914400">
              <a:lnSpc>
                <a:spcPct val="100000"/>
              </a:lnSpc>
            </a:pPr>
            <a:r>
              <a:rPr lang="ja-JP" sz="1400" b="1" u="none" strike="noStrike" dirty="0">
                <a:solidFill>
                  <a:srgbClr val="00B050"/>
                </a:solidFill>
                <a:effectLst/>
                <a:uFillTx/>
                <a:latin typeface="メイリオ" panose="020B0604030504040204" pitchFamily="50" charset="-128"/>
                <a:ea typeface="メイリオ" panose="020B0604030504040204" pitchFamily="50" charset="-128"/>
              </a:rPr>
              <a:t>特徴</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タグや流入経路を細かく管理でき、外部データ連携に強い（</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L</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ステップ等）</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601"/>
              </a:spcBef>
            </a:pPr>
            <a:r>
              <a:rPr lang="ja-JP" sz="1400" b="1" u="none" strike="noStrike" dirty="0">
                <a:solidFill>
                  <a:srgbClr val="00B050"/>
                </a:solidFill>
                <a:effectLst/>
                <a:uFillTx/>
                <a:latin typeface="メイリオ" panose="020B0604030504040204" pitchFamily="50" charset="-128"/>
                <a:ea typeface="メイリオ" panose="020B0604030504040204" pitchFamily="50" charset="-128"/>
              </a:rPr>
              <a:t>メリット</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流入元ごとに、配信を細かく出し分けられる</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601"/>
              </a:spcBef>
            </a:pPr>
            <a:r>
              <a:rPr lang="ja-JP" sz="1400" b="1" u="none" strike="noStrike" dirty="0">
                <a:solidFill>
                  <a:srgbClr val="00B050"/>
                </a:solidFill>
                <a:effectLst/>
                <a:uFillTx/>
                <a:latin typeface="メイリオ" panose="020B0604030504040204" pitchFamily="50" charset="-128"/>
                <a:ea typeface="メイリオ" panose="020B0604030504040204" pitchFamily="50" charset="-128"/>
              </a:rPr>
              <a:t>デメリット</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月額のツール費と、初期設定・移行の工数がかかる</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p:txBody>
      </p:sp>
      <p:sp>
        <p:nvSpPr>
          <p:cNvPr id="176" name="Conclusion"/>
          <p:cNvSpPr/>
          <p:nvPr/>
        </p:nvSpPr>
        <p:spPr>
          <a:xfrm>
            <a:off x="380880" y="5230440"/>
            <a:ext cx="9143640" cy="777240"/>
          </a:xfrm>
          <a:prstGeom prst="rect">
            <a:avLst/>
          </a:prstGeom>
          <a:solidFill>
            <a:srgbClr val="F0F2F7"/>
          </a:solidFill>
          <a:ln w="0">
            <a:noFill/>
          </a:ln>
        </p:spPr>
        <p:style>
          <a:lnRef idx="0">
            <a:scrgbClr r="0" g="0" b="0"/>
          </a:lnRef>
          <a:fillRef idx="0">
            <a:scrgbClr r="0" g="0" b="0"/>
          </a:fillRef>
          <a:effectRef idx="0">
            <a:scrgbClr r="0" g="0" b="0"/>
          </a:effectRef>
          <a:fontRef idx="minor"/>
        </p:style>
        <p:txBody>
          <a:bodyPr lIns="177840" tIns="127080" rIns="177840" bIns="127080" anchor="t">
            <a:noAutofit/>
          </a:bodyPr>
          <a:lstStyle/>
          <a:p>
            <a:pPr defTabSz="914400">
              <a:lnSpc>
                <a:spcPct val="100000"/>
              </a:lnSpc>
            </a:pPr>
            <a:r>
              <a:rPr lang="ja-JP" sz="1400" b="1" u="none" strike="noStrike" dirty="0">
                <a:solidFill>
                  <a:srgbClr val="1F2A5C"/>
                </a:solidFill>
                <a:effectLst/>
                <a:uFillTx/>
                <a:latin typeface="メイリオ"/>
                <a:ea typeface="メイリオ"/>
              </a:rPr>
              <a:t>結論</a:t>
            </a:r>
            <a:endParaRPr lang="en-US" sz="1400" b="0" u="none" strike="noStrike" dirty="0">
              <a:solidFill>
                <a:srgbClr val="000000"/>
              </a:solidFill>
              <a:effectLst/>
              <a:uFillTx/>
              <a:latin typeface="Arial"/>
            </a:endParaRPr>
          </a:p>
          <a:p>
            <a:pPr defTabSz="914400">
              <a:lnSpc>
                <a:spcPct val="100000"/>
              </a:lnSpc>
              <a:spcBef>
                <a:spcPts val="201"/>
              </a:spcBef>
            </a:pPr>
            <a:r>
              <a:rPr lang="ja-JP" sz="1400" b="0" u="none" strike="noStrike" dirty="0">
                <a:solidFill>
                  <a:srgbClr val="333333"/>
                </a:solidFill>
                <a:effectLst/>
                <a:uFillTx/>
                <a:latin typeface="メイリオ"/>
                <a:ea typeface="メイリオ"/>
              </a:rPr>
              <a:t>基本施策は、</a:t>
            </a:r>
            <a:r>
              <a:rPr lang="en-US" sz="1400" b="0" u="none" strike="noStrike" dirty="0">
                <a:solidFill>
                  <a:srgbClr val="333333"/>
                </a:solidFill>
                <a:effectLst/>
                <a:uFillTx/>
                <a:latin typeface="メイリオ"/>
                <a:ea typeface="メイリオ"/>
              </a:rPr>
              <a:t>LINE</a:t>
            </a:r>
            <a:r>
              <a:rPr lang="ja-JP" sz="1400" b="0" u="none" strike="noStrike" dirty="0">
                <a:solidFill>
                  <a:srgbClr val="333333"/>
                </a:solidFill>
                <a:effectLst/>
                <a:uFillTx/>
                <a:latin typeface="メイリオ"/>
                <a:ea typeface="メイリオ"/>
              </a:rPr>
              <a:t>公式アカウントの標準機能を中心に運用</a:t>
            </a:r>
            <a:endParaRPr lang="en-US" sz="1400" b="0" u="none" strike="noStrike" dirty="0">
              <a:solidFill>
                <a:srgbClr val="000000"/>
              </a:solidFill>
              <a:effectLst/>
              <a:uFillTx/>
              <a:latin typeface="Arial"/>
            </a:endParaRPr>
          </a:p>
        </p:txBody>
      </p:sp>
      <p:cxnSp>
        <p:nvCxnSpPr>
          <p:cNvPr id="2" name="直線コネクタ 1">
            <a:extLst>
              <a:ext uri="{FF2B5EF4-FFF2-40B4-BE49-F238E27FC236}">
                <a16:creationId xmlns:a16="http://schemas.microsoft.com/office/drawing/2014/main" id="{391B0154-08C7-8117-7C0F-8DA32A6C44D7}"/>
              </a:ext>
            </a:extLst>
          </p:cNvPr>
          <p:cNvCxnSpPr/>
          <p:nvPr/>
        </p:nvCxnSpPr>
        <p:spPr>
          <a:xfrm>
            <a:off x="0" y="1203120"/>
            <a:ext cx="9906120" cy="360"/>
          </a:xfrm>
          <a:prstGeom prst="straightConnector1">
            <a:avLst/>
          </a:prstGeom>
          <a:ln w="19050">
            <a:solidFill>
              <a:schemeClr val="lt1">
                <a:lumMod val="85000"/>
                <a:alpha val="60000"/>
              </a:schemeClr>
            </a:solidFill>
            <a:round/>
          </a:ln>
        </p:spPr>
      </p:cxn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8"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新規友だち：離脱防止ポップアップとサイトのボタンで増やす</a:t>
            </a:r>
            <a:endParaRPr lang="en-US" sz="1600" b="0" u="none" strike="noStrike">
              <a:solidFill>
                <a:srgbClr val="000000"/>
              </a:solidFill>
              <a:effectLst/>
              <a:uFillTx/>
              <a:latin typeface="メイリオ"/>
            </a:endParaRPr>
          </a:p>
        </p:txBody>
      </p:sp>
      <p:sp>
        <p:nvSpPr>
          <p:cNvPr id="479" name="TextBox 2"/>
          <p:cNvSpPr/>
          <p:nvPr/>
        </p:nvSpPr>
        <p:spPr>
          <a:xfrm>
            <a:off x="429840" y="914400"/>
            <a:ext cx="9052200" cy="3371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zh-CN" sz="1600" b="0" u="none" strike="noStrike" dirty="0">
                <a:solidFill>
                  <a:srgbClr val="5A6378"/>
                </a:solidFill>
                <a:effectLst/>
                <a:uFillTx/>
                <a:latin typeface="メイリオ"/>
                <a:ea typeface="メイリオ"/>
              </a:rPr>
              <a:t>サイトの</a:t>
            </a:r>
            <a:r>
              <a:rPr lang="en-US" sz="1600" b="0" u="none" strike="noStrike" dirty="0">
                <a:solidFill>
                  <a:srgbClr val="5A6378"/>
                </a:solidFill>
                <a:effectLst/>
                <a:uFillTx/>
                <a:latin typeface="メイリオ"/>
                <a:ea typeface="メイリオ"/>
              </a:rPr>
              <a:t>2</a:t>
            </a:r>
            <a:r>
              <a:rPr lang="zh-CN" sz="1600" b="0" u="none" strike="noStrike" dirty="0">
                <a:solidFill>
                  <a:srgbClr val="5A6378"/>
                </a:solidFill>
                <a:effectLst/>
                <a:uFillTx/>
                <a:latin typeface="メイリオ"/>
                <a:ea typeface="メイリオ"/>
              </a:rPr>
              <a:t>つの接点から、</a:t>
            </a:r>
            <a:r>
              <a:rPr lang="en-US" sz="1600" b="0" u="none" strike="noStrike" dirty="0">
                <a:solidFill>
                  <a:srgbClr val="5A6378"/>
                </a:solidFill>
                <a:effectLst/>
                <a:uFillTx/>
                <a:latin typeface="メイリオ"/>
                <a:ea typeface="メイリオ"/>
              </a:rPr>
              <a:t>LINE</a:t>
            </a:r>
            <a:r>
              <a:rPr lang="zh-CN" sz="1600" b="0" u="none" strike="noStrike" dirty="0">
                <a:solidFill>
                  <a:srgbClr val="5A6378"/>
                </a:solidFill>
                <a:effectLst/>
                <a:uFillTx/>
                <a:latin typeface="メイリオ"/>
                <a:ea typeface="メイリオ"/>
              </a:rPr>
              <a:t>の友だち追加へ</a:t>
            </a:r>
            <a:endParaRPr lang="en-US" sz="1600" b="0" u="none" strike="noStrike" dirty="0">
              <a:solidFill>
                <a:srgbClr val="000000"/>
              </a:solidFill>
              <a:effectLst/>
              <a:uFillTx/>
              <a:latin typeface="Arial"/>
            </a:endParaRPr>
          </a:p>
        </p:txBody>
      </p:sp>
      <p:sp>
        <p:nvSpPr>
          <p:cNvPr id="480" name="Rounded Rectangle 3"/>
          <p:cNvSpPr/>
          <p:nvPr/>
        </p:nvSpPr>
        <p:spPr>
          <a:xfrm>
            <a:off x="429840" y="2724840"/>
            <a:ext cx="4388760" cy="8042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zh-CN" sz="1500" b="0" u="none" strike="noStrike">
                <a:solidFill>
                  <a:srgbClr val="333333"/>
                </a:solidFill>
                <a:effectLst/>
                <a:uFillTx/>
                <a:latin typeface="メイリオ"/>
                <a:ea typeface="メイリオ"/>
              </a:rPr>
              <a:t>サイトを離れようとした方</a:t>
            </a:r>
            <a:endParaRPr lang="en-US" sz="1500" b="0" u="none" strike="noStrike">
              <a:solidFill>
                <a:srgbClr val="000000"/>
              </a:solidFill>
              <a:effectLst/>
              <a:uFillTx/>
              <a:latin typeface="Arial"/>
            </a:endParaRPr>
          </a:p>
          <a:p>
            <a:pPr algn="ctr" defTabSz="914400">
              <a:lnSpc>
                <a:spcPct val="100000"/>
              </a:lnSpc>
            </a:pPr>
            <a:r>
              <a:rPr lang="zh-CN" sz="1500" b="0" u="none" strike="noStrike">
                <a:solidFill>
                  <a:srgbClr val="333333"/>
                </a:solidFill>
                <a:effectLst/>
                <a:uFillTx/>
                <a:latin typeface="メイリオ"/>
                <a:ea typeface="メイリオ"/>
              </a:rPr>
              <a:t>（離脱防止ポップアップ）</a:t>
            </a:r>
            <a:endParaRPr lang="en-US" sz="1500" b="0" u="none" strike="noStrike">
              <a:solidFill>
                <a:srgbClr val="000000"/>
              </a:solidFill>
              <a:effectLst/>
              <a:uFillTx/>
              <a:latin typeface="Arial"/>
            </a:endParaRPr>
          </a:p>
        </p:txBody>
      </p:sp>
      <p:sp>
        <p:nvSpPr>
          <p:cNvPr id="481" name="Right Arrow 4"/>
          <p:cNvSpPr/>
          <p:nvPr/>
        </p:nvSpPr>
        <p:spPr>
          <a:xfrm rot="5400000">
            <a:off x="2487240" y="3620880"/>
            <a:ext cx="27396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82" name="Rounded Rectangle 5"/>
          <p:cNvSpPr/>
          <p:nvPr/>
        </p:nvSpPr>
        <p:spPr>
          <a:xfrm>
            <a:off x="429840" y="3895200"/>
            <a:ext cx="4388760" cy="8042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zh-CN" sz="1500" b="0" u="none" strike="noStrike">
                <a:solidFill>
                  <a:srgbClr val="333333"/>
                </a:solidFill>
                <a:effectLst/>
                <a:uFillTx/>
                <a:latin typeface="メイリオ"/>
                <a:ea typeface="メイリオ"/>
              </a:rPr>
              <a:t>物件の</a:t>
            </a:r>
            <a:r>
              <a:rPr lang="en-US" sz="1500" b="0" u="none" strike="noStrike">
                <a:solidFill>
                  <a:srgbClr val="333333"/>
                </a:solidFill>
                <a:effectLst/>
                <a:uFillTx/>
                <a:latin typeface="メイリオ"/>
                <a:ea typeface="メイリオ"/>
              </a:rPr>
              <a:t>URL</a:t>
            </a:r>
            <a:r>
              <a:rPr lang="zh-CN" sz="1500" b="0" u="none" strike="noStrike">
                <a:solidFill>
                  <a:srgbClr val="333333"/>
                </a:solidFill>
                <a:effectLst/>
                <a:uFillTx/>
                <a:latin typeface="メイリオ"/>
                <a:ea typeface="メイリオ"/>
              </a:rPr>
              <a:t>を送るだけで仲介手数料</a:t>
            </a:r>
            <a:r>
              <a:rPr lang="en-US" sz="1500" b="0" u="none" strike="noStrike">
                <a:solidFill>
                  <a:srgbClr val="333333"/>
                </a:solidFill>
                <a:effectLst/>
                <a:uFillTx/>
                <a:latin typeface="メイリオ"/>
                <a:ea typeface="メイリオ"/>
              </a:rPr>
              <a:t>100</a:t>
            </a:r>
            <a:r>
              <a:rPr lang="zh-CN" sz="1500" b="0" u="none" strike="noStrike">
                <a:solidFill>
                  <a:srgbClr val="333333"/>
                </a:solidFill>
                <a:effectLst/>
                <a:uFillTx/>
                <a:latin typeface="メイリオ"/>
                <a:ea typeface="メイリオ"/>
              </a:rPr>
              <a:t>円</a:t>
            </a:r>
            <a:endParaRPr lang="en-US" sz="1500" b="0" u="none" strike="noStrike">
              <a:solidFill>
                <a:srgbClr val="000000"/>
              </a:solidFill>
              <a:effectLst/>
              <a:uFillTx/>
              <a:latin typeface="Arial"/>
            </a:endParaRPr>
          </a:p>
          <a:p>
            <a:pPr algn="ctr" defTabSz="914400">
              <a:lnSpc>
                <a:spcPct val="100000"/>
              </a:lnSpc>
            </a:pPr>
            <a:r>
              <a:rPr lang="zh-CN" sz="1500" b="0" u="none" strike="noStrike">
                <a:solidFill>
                  <a:srgbClr val="333333"/>
                </a:solidFill>
                <a:effectLst/>
                <a:uFillTx/>
                <a:latin typeface="メイリオ"/>
                <a:ea typeface="メイリオ"/>
              </a:rPr>
              <a:t>（</a:t>
            </a:r>
            <a:r>
              <a:rPr lang="en-US" sz="1500" b="0" u="none" strike="noStrike">
                <a:solidFill>
                  <a:srgbClr val="333333"/>
                </a:solidFill>
                <a:effectLst/>
                <a:uFillTx/>
                <a:latin typeface="メイリオ"/>
                <a:ea typeface="メイリオ"/>
              </a:rPr>
              <a:t>100</a:t>
            </a:r>
            <a:r>
              <a:rPr lang="zh-CN" sz="1500" b="0" u="none" strike="noStrike">
                <a:solidFill>
                  <a:srgbClr val="333333"/>
                </a:solidFill>
                <a:effectLst/>
                <a:uFillTx/>
                <a:latin typeface="メイリオ"/>
                <a:ea typeface="メイリオ"/>
              </a:rPr>
              <a:t>円賃貸が対応できる物件に限ります）</a:t>
            </a:r>
            <a:endParaRPr lang="en-US" sz="1500" b="0" u="none" strike="noStrike">
              <a:solidFill>
                <a:srgbClr val="000000"/>
              </a:solidFill>
              <a:effectLst/>
              <a:uFillTx/>
              <a:latin typeface="Arial"/>
            </a:endParaRPr>
          </a:p>
        </p:txBody>
      </p:sp>
      <p:sp>
        <p:nvSpPr>
          <p:cNvPr id="483" name="Right Arrow 6"/>
          <p:cNvSpPr/>
          <p:nvPr/>
        </p:nvSpPr>
        <p:spPr>
          <a:xfrm rot="5400000">
            <a:off x="2487240" y="4791240"/>
            <a:ext cx="27396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84" name="Rounded Rectangle 7"/>
          <p:cNvSpPr/>
          <p:nvPr/>
        </p:nvSpPr>
        <p:spPr>
          <a:xfrm>
            <a:off x="978480" y="5065920"/>
            <a:ext cx="3291480" cy="475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en-US" sz="1500" b="1" u="none" strike="noStrike">
                <a:solidFill>
                  <a:srgbClr val="FFFFFF"/>
                </a:solidFill>
                <a:effectLst/>
                <a:uFillTx/>
                <a:latin typeface="メイリオ"/>
                <a:ea typeface="メイリオ"/>
              </a:rPr>
              <a:t>LINE</a:t>
            </a:r>
            <a:r>
              <a:rPr lang="zh-CN" sz="1500" b="1" u="none" strike="noStrike">
                <a:solidFill>
                  <a:srgbClr val="FFFFFF"/>
                </a:solidFill>
                <a:effectLst/>
                <a:uFillTx/>
                <a:latin typeface="メイリオ"/>
                <a:ea typeface="メイリオ"/>
              </a:rPr>
              <a:t>の友だち追加</a:t>
            </a:r>
            <a:endParaRPr lang="en-US" sz="1500" b="0" u="none" strike="noStrike">
              <a:solidFill>
                <a:srgbClr val="FFFFFF"/>
              </a:solidFill>
              <a:effectLst/>
              <a:uFillTx/>
              <a:latin typeface="Arial"/>
            </a:endParaRPr>
          </a:p>
        </p:txBody>
      </p:sp>
      <p:sp>
        <p:nvSpPr>
          <p:cNvPr id="485" name="Rounded Rectangle 8"/>
          <p:cNvSpPr/>
          <p:nvPr/>
        </p:nvSpPr>
        <p:spPr>
          <a:xfrm>
            <a:off x="5093280" y="2724840"/>
            <a:ext cx="4388760" cy="8042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zh-CN" sz="1500" b="0" u="none" strike="noStrike" dirty="0">
                <a:solidFill>
                  <a:srgbClr val="333333"/>
                </a:solidFill>
                <a:effectLst/>
                <a:uFillTx/>
                <a:latin typeface="メイリオ"/>
                <a:ea typeface="メイリオ"/>
              </a:rPr>
              <a:t>サイト内の</a:t>
            </a:r>
            <a:endParaRPr lang="en-US" altLang="zh-CN" sz="1500" b="0" u="none" strike="noStrike" dirty="0">
              <a:solidFill>
                <a:srgbClr val="333333"/>
              </a:solidFill>
              <a:effectLst/>
              <a:uFillTx/>
              <a:latin typeface="メイリオ"/>
              <a:ea typeface="メイリオ"/>
            </a:endParaRPr>
          </a:p>
          <a:p>
            <a:pPr algn="ctr" defTabSz="914400">
              <a:lnSpc>
                <a:spcPct val="100000"/>
              </a:lnSpc>
            </a:pPr>
            <a:r>
              <a:rPr lang="zh-CN" sz="1500" b="0" u="none" strike="noStrike" dirty="0">
                <a:solidFill>
                  <a:srgbClr val="333333"/>
                </a:solidFill>
                <a:effectLst/>
                <a:uFillTx/>
                <a:latin typeface="メイリオ"/>
                <a:ea typeface="メイリオ"/>
              </a:rPr>
              <a:t>「</a:t>
            </a:r>
            <a:r>
              <a:rPr lang="en-US" sz="1500" b="0" u="none" strike="noStrike" dirty="0">
                <a:solidFill>
                  <a:srgbClr val="333333"/>
                </a:solidFill>
                <a:effectLst/>
                <a:uFillTx/>
                <a:latin typeface="メイリオ"/>
                <a:ea typeface="メイリオ"/>
              </a:rPr>
              <a:t>LINE</a:t>
            </a:r>
            <a:r>
              <a:rPr lang="zh-CN" sz="1500" b="0" u="none" strike="noStrike" dirty="0">
                <a:solidFill>
                  <a:srgbClr val="333333"/>
                </a:solidFill>
                <a:effectLst/>
                <a:uFillTx/>
                <a:latin typeface="メイリオ"/>
                <a:ea typeface="メイリオ"/>
              </a:rPr>
              <a:t>でお問い合わせ」ボタン</a:t>
            </a:r>
            <a:endParaRPr lang="en-US" sz="1500" b="0" u="none" strike="noStrike" dirty="0">
              <a:solidFill>
                <a:srgbClr val="000000"/>
              </a:solidFill>
              <a:effectLst/>
              <a:uFillTx/>
              <a:latin typeface="Arial"/>
            </a:endParaRPr>
          </a:p>
        </p:txBody>
      </p:sp>
      <p:sp>
        <p:nvSpPr>
          <p:cNvPr id="486" name="Right Arrow 9"/>
          <p:cNvSpPr/>
          <p:nvPr/>
        </p:nvSpPr>
        <p:spPr>
          <a:xfrm rot="5400000">
            <a:off x="7150680" y="3620880"/>
            <a:ext cx="27396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87" name="Rounded Rectangle 10"/>
          <p:cNvSpPr/>
          <p:nvPr/>
        </p:nvSpPr>
        <p:spPr>
          <a:xfrm>
            <a:off x="5093280" y="3895200"/>
            <a:ext cx="4388760" cy="8042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zh-CN" sz="1500" b="0" u="none" strike="noStrike">
                <a:solidFill>
                  <a:srgbClr val="333333"/>
                </a:solidFill>
                <a:effectLst/>
                <a:uFillTx/>
                <a:latin typeface="メイリオ"/>
                <a:ea typeface="メイリオ"/>
              </a:rPr>
              <a:t>物件の</a:t>
            </a:r>
            <a:r>
              <a:rPr lang="en-US" sz="1500" b="0" u="none" strike="noStrike">
                <a:solidFill>
                  <a:srgbClr val="333333"/>
                </a:solidFill>
                <a:effectLst/>
                <a:uFillTx/>
                <a:latin typeface="メイリオ"/>
                <a:ea typeface="メイリオ"/>
              </a:rPr>
              <a:t>URL</a:t>
            </a:r>
            <a:r>
              <a:rPr lang="zh-CN" sz="1500" b="0" u="none" strike="noStrike">
                <a:solidFill>
                  <a:srgbClr val="333333"/>
                </a:solidFill>
                <a:effectLst/>
                <a:uFillTx/>
                <a:latin typeface="メイリオ"/>
                <a:ea typeface="メイリオ"/>
              </a:rPr>
              <a:t>・物件名・画像を送るだけで、</a:t>
            </a:r>
            <a:endParaRPr lang="en-US" sz="1500" b="0" u="none" strike="noStrike">
              <a:solidFill>
                <a:srgbClr val="000000"/>
              </a:solidFill>
              <a:effectLst/>
              <a:uFillTx/>
              <a:latin typeface="Arial"/>
            </a:endParaRPr>
          </a:p>
          <a:p>
            <a:pPr algn="ctr" defTabSz="914400">
              <a:lnSpc>
                <a:spcPct val="100000"/>
              </a:lnSpc>
            </a:pPr>
            <a:r>
              <a:rPr lang="zh-CN" sz="1500" b="0" u="none" strike="noStrike">
                <a:solidFill>
                  <a:srgbClr val="333333"/>
                </a:solidFill>
                <a:effectLst/>
                <a:uFillTx/>
                <a:latin typeface="メイリオ"/>
                <a:ea typeface="メイリオ"/>
              </a:rPr>
              <a:t>空室確認から内見の手配まで</a:t>
            </a:r>
            <a:endParaRPr lang="en-US" sz="1500" b="0" u="none" strike="noStrike">
              <a:solidFill>
                <a:srgbClr val="000000"/>
              </a:solidFill>
              <a:effectLst/>
              <a:uFillTx/>
              <a:latin typeface="Arial"/>
            </a:endParaRPr>
          </a:p>
        </p:txBody>
      </p:sp>
      <p:sp>
        <p:nvSpPr>
          <p:cNvPr id="488" name="Right Arrow 11"/>
          <p:cNvSpPr/>
          <p:nvPr/>
        </p:nvSpPr>
        <p:spPr>
          <a:xfrm rot="5400000">
            <a:off x="7150680" y="4791240"/>
            <a:ext cx="27396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89" name="Rounded Rectangle 12"/>
          <p:cNvSpPr/>
          <p:nvPr/>
        </p:nvSpPr>
        <p:spPr>
          <a:xfrm>
            <a:off x="5641920" y="5065920"/>
            <a:ext cx="3291480" cy="475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en-US" sz="1500" b="1" u="none" strike="noStrike">
                <a:solidFill>
                  <a:srgbClr val="FFFFFF"/>
                </a:solidFill>
                <a:effectLst/>
                <a:uFillTx/>
                <a:latin typeface="メイリオ"/>
                <a:ea typeface="メイリオ"/>
              </a:rPr>
              <a:t>LINE</a:t>
            </a:r>
            <a:r>
              <a:rPr lang="zh-CN" sz="1500" b="1" u="none" strike="noStrike">
                <a:solidFill>
                  <a:srgbClr val="FFFFFF"/>
                </a:solidFill>
                <a:effectLst/>
                <a:uFillTx/>
                <a:latin typeface="メイリオ"/>
                <a:ea typeface="メイリオ"/>
              </a:rPr>
              <a:t>の友だち追加</a:t>
            </a:r>
            <a:endParaRPr lang="en-US" sz="1500" b="0" u="none" strike="noStrike">
              <a:solidFill>
                <a:srgbClr val="FFFFFF"/>
              </a:solidFill>
              <a:effectLst/>
              <a:uFillTx/>
              <a:latin typeface="Arial"/>
            </a:endParaRPr>
          </a:p>
        </p:txBody>
      </p:sp>
      <p:sp>
        <p:nvSpPr>
          <p:cNvPr id="491" name="Rounded Rectangle 7"/>
          <p:cNvSpPr/>
          <p:nvPr/>
        </p:nvSpPr>
        <p:spPr>
          <a:xfrm>
            <a:off x="429840" y="1444680"/>
            <a:ext cx="4388760" cy="475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en-US" sz="1500" b="1" u="none" strike="noStrike">
                <a:solidFill>
                  <a:srgbClr val="FFFFFF"/>
                </a:solidFill>
                <a:effectLst/>
                <a:uFillTx/>
                <a:latin typeface="メイリオ"/>
                <a:ea typeface="メイリオ"/>
              </a:rPr>
              <a:t>① 離脱防止ポップアップ</a:t>
            </a:r>
            <a:endParaRPr lang="en-US" sz="1500" b="0" u="none" strike="noStrike">
              <a:solidFill>
                <a:srgbClr val="FFFFFF"/>
              </a:solidFill>
              <a:effectLst/>
              <a:uFillTx/>
              <a:latin typeface="Arial"/>
            </a:endParaRPr>
          </a:p>
        </p:txBody>
      </p:sp>
      <p:sp>
        <p:nvSpPr>
          <p:cNvPr id="492" name="Rounded Rectangle 7"/>
          <p:cNvSpPr/>
          <p:nvPr/>
        </p:nvSpPr>
        <p:spPr>
          <a:xfrm>
            <a:off x="5093280" y="1444680"/>
            <a:ext cx="4388760" cy="475200"/>
          </a:xfrm>
          <a:prstGeom prst="roundRect">
            <a:avLst>
              <a:gd name="adj" fmla="val 10000"/>
            </a:avLst>
          </a:prstGeom>
          <a:solidFill>
            <a:srgbClr val="4A6FA5"/>
          </a:solidFill>
          <a:ln w="12700">
            <a:solidFill>
              <a:srgbClr val="4A6FA5"/>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en-US" sz="1500" b="1" u="none" strike="noStrike">
                <a:solidFill>
                  <a:srgbClr val="FFFFFF"/>
                </a:solidFill>
                <a:effectLst/>
                <a:uFillTx/>
                <a:latin typeface="メイリオ"/>
                <a:ea typeface="メイリオ"/>
              </a:rPr>
              <a:t>② サイト内の「LINE</a:t>
            </a:r>
            <a:r>
              <a:rPr lang="zh-CN" sz="1500" b="1" u="none" strike="noStrike">
                <a:solidFill>
                  <a:srgbClr val="FFFFFF"/>
                </a:solidFill>
                <a:effectLst/>
                <a:uFillTx/>
                <a:latin typeface="メイリオ"/>
                <a:ea typeface="メイリオ"/>
              </a:rPr>
              <a:t>でお問い合わせ」ボタン</a:t>
            </a:r>
            <a:endParaRPr lang="en-US" sz="1500" b="0" u="none" strike="noStrike">
              <a:solidFill>
                <a:srgbClr val="FFFFFF"/>
              </a:solidFill>
              <a:effectLst/>
              <a:uFillTx/>
              <a:latin typeface="Arial"/>
            </a:endParaRPr>
          </a:p>
        </p:txBody>
      </p:sp>
      <p:sp>
        <p:nvSpPr>
          <p:cNvPr id="493" name="TextBox 2"/>
          <p:cNvSpPr/>
          <p:nvPr/>
        </p:nvSpPr>
        <p:spPr>
          <a:xfrm>
            <a:off x="429840" y="1993320"/>
            <a:ext cx="4388760" cy="639720"/>
          </a:xfrm>
          <a:prstGeom prst="rect">
            <a:avLst/>
          </a:prstGeom>
          <a:noFill/>
          <a:ln w="0">
            <a:noFill/>
          </a:ln>
        </p:spPr>
        <p:style>
          <a:lnRef idx="0">
            <a:scrgbClr r="0" g="0" b="0"/>
          </a:lnRef>
          <a:fillRef idx="0">
            <a:scrgbClr r="0" g="0" b="0"/>
          </a:fillRef>
          <a:effectRef idx="0">
            <a:scrgbClr r="0" g="0" b="0"/>
          </a:effectRef>
          <a:fontRef idx="minor"/>
        </p:style>
        <p:txBody>
          <a:bodyPr lIns="45720" tIns="45000" rIns="45720" bIns="45000" anchor="ctr">
            <a:spAutoFit/>
          </a:bodyPr>
          <a:lstStyle/>
          <a:p>
            <a:pPr defTabSz="914400">
              <a:lnSpc>
                <a:spcPct val="100000"/>
              </a:lnSpc>
            </a:pPr>
            <a:r>
              <a:rPr lang="zh-CN" sz="1400" b="1" u="none" strike="noStrike">
                <a:solidFill>
                  <a:srgbClr val="5A6378"/>
                </a:solidFill>
                <a:effectLst/>
                <a:uFillTx/>
                <a:latin typeface="メイリオ"/>
                <a:ea typeface="メイリオ"/>
              </a:rPr>
              <a:t>役割：</a:t>
            </a:r>
            <a:r>
              <a:rPr lang="zh-CN" sz="1400" b="0" u="none" strike="noStrike">
                <a:solidFill>
                  <a:srgbClr val="5A6378"/>
                </a:solidFill>
                <a:effectLst/>
                <a:uFillTx/>
                <a:latin typeface="メイリオ"/>
                <a:ea typeface="メイリオ"/>
              </a:rPr>
              <a:t>サイトを離れようとした方を引き留め、</a:t>
            </a:r>
            <a:r>
              <a:rPr lang="en-US" sz="1400" b="0" u="none" strike="noStrike">
                <a:solidFill>
                  <a:srgbClr val="5A6378"/>
                </a:solidFill>
                <a:effectLst/>
                <a:uFillTx/>
                <a:latin typeface="メイリオ"/>
                <a:ea typeface="メイリオ"/>
              </a:rPr>
              <a:t>LINE</a:t>
            </a:r>
            <a:r>
              <a:rPr lang="zh-CN" sz="1400" b="0" u="none" strike="noStrike">
                <a:solidFill>
                  <a:srgbClr val="5A6378"/>
                </a:solidFill>
                <a:effectLst/>
                <a:uFillTx/>
                <a:latin typeface="メイリオ"/>
                <a:ea typeface="メイリオ"/>
              </a:rPr>
              <a:t>の友だち追加につなげる</a:t>
            </a:r>
            <a:endParaRPr lang="en-US" sz="1400" b="0" u="none" strike="noStrike">
              <a:solidFill>
                <a:srgbClr val="000000"/>
              </a:solidFill>
              <a:effectLst/>
              <a:uFillTx/>
              <a:latin typeface="Arial"/>
            </a:endParaRPr>
          </a:p>
        </p:txBody>
      </p:sp>
      <p:sp>
        <p:nvSpPr>
          <p:cNvPr id="494" name="TextBox 2"/>
          <p:cNvSpPr/>
          <p:nvPr/>
        </p:nvSpPr>
        <p:spPr>
          <a:xfrm>
            <a:off x="5093280" y="1993320"/>
            <a:ext cx="4388760" cy="639720"/>
          </a:xfrm>
          <a:prstGeom prst="rect">
            <a:avLst/>
          </a:prstGeom>
          <a:noFill/>
          <a:ln w="0">
            <a:noFill/>
          </a:ln>
        </p:spPr>
        <p:style>
          <a:lnRef idx="0">
            <a:scrgbClr r="0" g="0" b="0"/>
          </a:lnRef>
          <a:fillRef idx="0">
            <a:scrgbClr r="0" g="0" b="0"/>
          </a:fillRef>
          <a:effectRef idx="0">
            <a:scrgbClr r="0" g="0" b="0"/>
          </a:effectRef>
          <a:fontRef idx="minor"/>
        </p:style>
        <p:txBody>
          <a:bodyPr lIns="45720" tIns="45000" rIns="45720" bIns="45000" anchor="ctr">
            <a:spAutoFit/>
          </a:bodyPr>
          <a:lstStyle/>
          <a:p>
            <a:pPr defTabSz="914400">
              <a:lnSpc>
                <a:spcPct val="100000"/>
              </a:lnSpc>
            </a:pPr>
            <a:r>
              <a:rPr lang="zh-CN" sz="1400" b="1" u="none" strike="noStrike">
                <a:solidFill>
                  <a:srgbClr val="5A6378"/>
                </a:solidFill>
                <a:effectLst/>
                <a:uFillTx/>
                <a:latin typeface="メイリオ"/>
                <a:ea typeface="メイリオ"/>
              </a:rPr>
              <a:t>役割：</a:t>
            </a:r>
            <a:r>
              <a:rPr lang="zh-CN" sz="1400" b="0" u="none" strike="noStrike">
                <a:solidFill>
                  <a:srgbClr val="5A6378"/>
                </a:solidFill>
                <a:effectLst/>
                <a:uFillTx/>
                <a:latin typeface="メイリオ"/>
                <a:ea typeface="メイリオ"/>
              </a:rPr>
              <a:t>問い合わせを考えている方を、</a:t>
            </a:r>
            <a:r>
              <a:rPr lang="en-US" sz="1400" b="0" u="none" strike="noStrike">
                <a:solidFill>
                  <a:srgbClr val="5A6378"/>
                </a:solidFill>
                <a:effectLst/>
                <a:uFillTx/>
                <a:latin typeface="メイリオ"/>
                <a:ea typeface="メイリオ"/>
              </a:rPr>
              <a:t>LINE</a:t>
            </a:r>
            <a:r>
              <a:rPr lang="zh-CN" sz="1400" b="0" u="none" strike="noStrike">
                <a:solidFill>
                  <a:srgbClr val="5A6378"/>
                </a:solidFill>
                <a:effectLst/>
                <a:uFillTx/>
                <a:latin typeface="メイリオ"/>
                <a:ea typeface="メイリオ"/>
              </a:rPr>
              <a:t>の友だち追加につなげる</a:t>
            </a:r>
            <a:endParaRPr lang="en-US" sz="1400" b="0" u="none" strike="noStrike">
              <a:solidFill>
                <a:srgbClr val="000000"/>
              </a:solidFill>
              <a:effectLst/>
              <a:uFillTx/>
              <a:latin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8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85"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rPr>
              <a:t>配信：送らなかった方を、ステップ配信と企画配信で追い続ける</a:t>
            </a:r>
            <a:endParaRPr lang="en-US" sz="1600" b="0" u="none" strike="noStrike">
              <a:solidFill>
                <a:srgbClr val="000000"/>
              </a:solidFill>
              <a:effectLst/>
              <a:uFillTx/>
              <a:latin typeface="メイリオ"/>
            </a:endParaRPr>
          </a:p>
        </p:txBody>
      </p:sp>
      <p:sp>
        <p:nvSpPr>
          <p:cNvPr id="386" name="TextBox 2"/>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zh-CN" sz="1400" b="0" u="none" strike="noStrike" dirty="0">
                <a:solidFill>
                  <a:srgbClr val="5A6378"/>
                </a:solidFill>
                <a:effectLst/>
                <a:uFillTx/>
                <a:latin typeface="メイリオ"/>
                <a:ea typeface="メイリオ"/>
              </a:rPr>
              <a:t>友だち追加から14日間のステップ配信（全10通）と月4回程度の企画配信で、</a:t>
            </a:r>
            <a:br>
              <a:rPr lang="zh-CN" sz="1400" b="0" u="none" strike="noStrike" dirty="0">
                <a:solidFill>
                  <a:srgbClr val="5A6378"/>
                </a:solidFill>
                <a:effectLst/>
                <a:uFillTx/>
                <a:latin typeface="メイリオ"/>
                <a:ea typeface="メイリオ"/>
              </a:rPr>
            </a:br>
            <a:r>
              <a:rPr lang="zh-CN" sz="1400" b="0" u="none" strike="noStrike" dirty="0">
                <a:solidFill>
                  <a:srgbClr val="5A6378"/>
                </a:solidFill>
                <a:effectLst/>
                <a:uFillTx/>
                <a:latin typeface="メイリオ"/>
                <a:ea typeface="メイリオ"/>
              </a:rPr>
              <a:t>フォームでの物件URLの送信を後押し</a:t>
            </a:r>
            <a:endParaRPr lang="en-US" sz="1400" b="0" u="none" strike="noStrike" dirty="0">
              <a:solidFill>
                <a:srgbClr val="000000"/>
              </a:solidFill>
              <a:effectLst/>
              <a:uFillTx/>
              <a:latin typeface="Arial"/>
            </a:endParaRPr>
          </a:p>
        </p:txBody>
      </p:sp>
      <p:sp>
        <p:nvSpPr>
          <p:cNvPr id="387" name="TextBox 3"/>
          <p:cNvSpPr/>
          <p:nvPr/>
        </p:nvSpPr>
        <p:spPr>
          <a:xfrm>
            <a:off x="384120" y="1371600"/>
            <a:ext cx="9125712" cy="292320"/>
          </a:xfrm>
          <a:prstGeom prst="rect">
            <a:avLst/>
          </a:prstGeom>
          <a:noFill/>
          <a:ln w="0">
            <a:noFill/>
          </a:ln>
        </p:spPr>
        <p:style>
          <a:lnRef idx="0">
            <a:scrgbClr r="0" g="0" b="0"/>
          </a:lnRef>
          <a:fillRef idx="0">
            <a:scrgbClr r="0" g="0" b="0"/>
          </a:fillRef>
          <a:effectRef idx="0">
            <a:scrgbClr r="0" g="0" b="0"/>
          </a:effectRef>
          <a:fontRef idx="minor"/>
        </p:style>
        <p:txBody>
          <a:bodyPr lIns="45720" tIns="0" rIns="45720" bIns="0" anchor="ctr">
            <a:noAutofit/>
          </a:bodyPr>
          <a:lstStyle/>
          <a:p>
            <a:pPr defTabSz="914400">
              <a:lnSpc>
                <a:spcPct val="100000"/>
              </a:lnSpc>
              <a:tabLst>
                <a:tab pos="0" algn="l"/>
              </a:tabLst>
            </a:pPr>
            <a:r>
              <a:rPr lang="en-US" sz="1400" b="1" u="none" strike="noStrike">
                <a:solidFill>
                  <a:srgbClr val="1F2A5C"/>
                </a:solidFill>
                <a:effectLst/>
                <a:uFillTx/>
                <a:latin typeface="メイリオ"/>
                <a:ea typeface="メイリオ"/>
              </a:rPr>
              <a:t>[</a:t>
            </a:r>
            <a:r>
              <a:rPr lang="zh-CN" sz="1400" b="1" u="none" strike="noStrike">
                <a:solidFill>
                  <a:srgbClr val="1F2A5C"/>
                </a:solidFill>
                <a:effectLst/>
                <a:uFillTx/>
                <a:latin typeface="メイリオ"/>
                <a:ea typeface="メイリオ"/>
              </a:rPr>
              <a:t>ステップ配信・全10通｜新しい友だちへ追加後に自動配信</a:t>
            </a:r>
            <a:r>
              <a:rPr lang="en-US" sz="1400" b="1" u="none" strike="noStrike">
                <a:solidFill>
                  <a:srgbClr val="1F2A5C"/>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388" name="Rounded Rectangle 4"/>
          <p:cNvSpPr/>
          <p:nvPr/>
        </p:nvSpPr>
        <p:spPr>
          <a:xfrm>
            <a:off x="384048" y="1920240"/>
            <a:ext cx="1737360" cy="48420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0" tIns="18360" rIns="0" bIns="18360" anchor="ctr">
            <a:noAutofit/>
          </a:bodyPr>
          <a:lstStyle/>
          <a:p>
            <a:pPr algn="ctr" defTabSz="914400">
              <a:lnSpc>
                <a:spcPct val="90000"/>
              </a:lnSpc>
              <a:tabLst>
                <a:tab pos="0" algn="l"/>
              </a:tabLst>
            </a:pPr>
            <a:r>
              <a:rPr lang="en-US" sz="1200" b="1" u="none" strike="noStrike">
                <a:solidFill>
                  <a:srgbClr val="FFFFFF"/>
                </a:solidFill>
                <a:effectLst/>
                <a:uFillTx/>
                <a:latin typeface="メイリオ"/>
                <a:ea typeface="メイリオ"/>
              </a:rPr>
              <a:t>1</a:t>
            </a:r>
            <a:r>
              <a:rPr lang="zh-CN" sz="1200" b="1" u="none" strike="noStrike">
                <a:solidFill>
                  <a:srgbClr val="FFFFFF"/>
                </a:solidFill>
                <a:effectLst/>
                <a:uFillTx/>
                <a:latin typeface="メイリオ"/>
                <a:ea typeface="メイリオ"/>
              </a:rPr>
              <a:t>〜</a:t>
            </a:r>
            <a:r>
              <a:rPr lang="en-US" sz="1200" b="1" u="none" strike="noStrike">
                <a:solidFill>
                  <a:srgbClr val="FFFFFF"/>
                </a:solidFill>
                <a:effectLst/>
                <a:uFillTx/>
                <a:latin typeface="メイリオ"/>
                <a:ea typeface="メイリオ"/>
              </a:rPr>
              <a:t>3</a:t>
            </a:r>
            <a:r>
              <a:rPr lang="zh-CN" sz="1200" b="1" u="none" strike="noStrike">
                <a:solidFill>
                  <a:srgbClr val="FFFFFF"/>
                </a:solidFill>
                <a:effectLst/>
                <a:uFillTx/>
                <a:latin typeface="メイリオ"/>
                <a:ea typeface="メイリオ"/>
              </a:rPr>
              <a:t>日後</a:t>
            </a:r>
            <a:endParaRPr lang="en-US" sz="1200" b="0" u="none" strike="noStrike">
              <a:solidFill>
                <a:srgbClr val="FFFFFF"/>
              </a:solidFill>
              <a:effectLst/>
              <a:uFillTx/>
              <a:latin typeface="Arial"/>
            </a:endParaRPr>
          </a:p>
        </p:txBody>
      </p:sp>
      <p:sp>
        <p:nvSpPr>
          <p:cNvPr id="390" name="Right Arrow 6"/>
          <p:cNvSpPr/>
          <p:nvPr/>
        </p:nvSpPr>
        <p:spPr>
          <a:xfrm>
            <a:off x="2121408"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3" name="Rounded Rectangle 9"/>
          <p:cNvSpPr/>
          <p:nvPr/>
        </p:nvSpPr>
        <p:spPr>
          <a:xfrm>
            <a:off x="2359152" y="1920240"/>
            <a:ext cx="2724912"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仲介手数料のしくみ</a:t>
            </a:r>
            <a:endParaRPr lang="en-US" sz="1200" b="0" u="none" strike="noStrike">
              <a:solidFill>
                <a:srgbClr val="000000"/>
              </a:solidFill>
              <a:effectLst/>
              <a:uFillTx/>
              <a:latin typeface="Arial"/>
            </a:endParaRPr>
          </a:p>
          <a:p>
            <a:pPr algn="ctr" defTabSz="914400">
              <a:lnSpc>
                <a:spcPct val="90000"/>
              </a:lnSpc>
              <a:tabLst>
                <a:tab pos="0" algn="l"/>
              </a:tabLst>
            </a:pPr>
            <a:r>
              <a:rPr lang="en-US" sz="1200" b="0" u="none" strike="noStrike">
                <a:solidFill>
                  <a:srgbClr val="333333"/>
                </a:solidFill>
                <a:effectLst/>
                <a:uFillTx/>
                <a:latin typeface="メイリオ"/>
                <a:ea typeface="メイリオ"/>
              </a:rPr>
              <a:t>100</a:t>
            </a:r>
            <a:r>
              <a:rPr lang="zh-CN" sz="1200" b="0" u="none" strike="noStrike">
                <a:solidFill>
                  <a:srgbClr val="333333"/>
                </a:solidFill>
                <a:effectLst/>
                <a:uFillTx/>
                <a:latin typeface="メイリオ"/>
                <a:ea typeface="メイリオ"/>
              </a:rPr>
              <a:t>円チェッカー</a:t>
            </a:r>
            <a:endParaRPr lang="en-US" sz="1200" b="0" u="none" strike="noStrike">
              <a:solidFill>
                <a:srgbClr val="000000"/>
              </a:solidFill>
              <a:effectLst/>
              <a:uFillTx/>
              <a:latin typeface="Arial"/>
            </a:endParaRPr>
          </a:p>
        </p:txBody>
      </p:sp>
      <p:sp>
        <p:nvSpPr>
          <p:cNvPr id="394" name="Right Arrow 10"/>
          <p:cNvSpPr/>
          <p:nvPr/>
        </p:nvSpPr>
        <p:spPr>
          <a:xfrm>
            <a:off x="5084064"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5" name="Rounded Rectangle 11"/>
          <p:cNvSpPr/>
          <p:nvPr/>
        </p:nvSpPr>
        <p:spPr>
          <a:xfrm>
            <a:off x="5321808" y="1920240"/>
            <a:ext cx="2487168"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フォームで</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物件URLの送信</a:t>
            </a:r>
            <a:endParaRPr lang="en-US" sz="1200" b="0" u="none" strike="noStrike">
              <a:solidFill>
                <a:srgbClr val="000000"/>
              </a:solidFill>
              <a:effectLst/>
              <a:uFillTx/>
              <a:latin typeface="Arial"/>
            </a:endParaRPr>
          </a:p>
        </p:txBody>
      </p:sp>
      <p:sp>
        <p:nvSpPr>
          <p:cNvPr id="396" name="Right Arrow 12"/>
          <p:cNvSpPr/>
          <p:nvPr/>
        </p:nvSpPr>
        <p:spPr>
          <a:xfrm>
            <a:off x="7808975"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7" name="Rounded Rectangle 13"/>
          <p:cNvSpPr/>
          <p:nvPr/>
        </p:nvSpPr>
        <p:spPr>
          <a:xfrm>
            <a:off x="8046720" y="1920240"/>
            <a:ext cx="146304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398" name="Rounded Rectangle 14"/>
          <p:cNvSpPr/>
          <p:nvPr/>
        </p:nvSpPr>
        <p:spPr>
          <a:xfrm>
            <a:off x="384048" y="2468880"/>
            <a:ext cx="1737360" cy="48420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0" tIns="18360" rIns="0" bIns="18360" anchor="ctr">
            <a:noAutofit/>
          </a:bodyPr>
          <a:lstStyle/>
          <a:p>
            <a:pPr algn="ctr" defTabSz="914400">
              <a:lnSpc>
                <a:spcPct val="90000"/>
              </a:lnSpc>
              <a:tabLst>
                <a:tab pos="0" algn="l"/>
              </a:tabLst>
            </a:pPr>
            <a:r>
              <a:rPr lang="en-US" sz="1200" b="1" u="none" strike="noStrike">
                <a:solidFill>
                  <a:srgbClr val="FFFFFF"/>
                </a:solidFill>
                <a:effectLst/>
                <a:uFillTx/>
                <a:latin typeface="メイリオ"/>
                <a:ea typeface="メイリオ"/>
              </a:rPr>
              <a:t>4</a:t>
            </a:r>
            <a:r>
              <a:rPr lang="zh-CN" sz="1200" b="1" u="none" strike="noStrike">
                <a:solidFill>
                  <a:srgbClr val="FFFFFF"/>
                </a:solidFill>
                <a:effectLst/>
                <a:uFillTx/>
                <a:latin typeface="メイリオ"/>
                <a:ea typeface="メイリオ"/>
              </a:rPr>
              <a:t>〜</a:t>
            </a:r>
            <a:r>
              <a:rPr lang="en-US" sz="1200" b="1" u="none" strike="noStrike">
                <a:solidFill>
                  <a:srgbClr val="FFFFFF"/>
                </a:solidFill>
                <a:effectLst/>
                <a:uFillTx/>
                <a:latin typeface="メイリオ"/>
                <a:ea typeface="メイリオ"/>
              </a:rPr>
              <a:t>7</a:t>
            </a:r>
            <a:r>
              <a:rPr lang="zh-CN" sz="1200" b="1" u="none" strike="noStrike">
                <a:solidFill>
                  <a:srgbClr val="FFFFFF"/>
                </a:solidFill>
                <a:effectLst/>
                <a:uFillTx/>
                <a:latin typeface="メイリオ"/>
                <a:ea typeface="メイリオ"/>
              </a:rPr>
              <a:t>日後</a:t>
            </a:r>
            <a:endParaRPr lang="en-US" sz="1200" b="0" u="none" strike="noStrike">
              <a:solidFill>
                <a:srgbClr val="FFFFFF"/>
              </a:solidFill>
              <a:effectLst/>
              <a:uFillTx/>
              <a:latin typeface="Arial"/>
            </a:endParaRPr>
          </a:p>
        </p:txBody>
      </p:sp>
      <p:sp>
        <p:nvSpPr>
          <p:cNvPr id="400" name="Right Arrow 16"/>
          <p:cNvSpPr/>
          <p:nvPr/>
        </p:nvSpPr>
        <p:spPr>
          <a:xfrm>
            <a:off x="2121408"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3" name="Rounded Rectangle 19"/>
          <p:cNvSpPr/>
          <p:nvPr/>
        </p:nvSpPr>
        <p:spPr>
          <a:xfrm>
            <a:off x="2359152" y="2468880"/>
            <a:ext cx="2724912"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ポータルでの探し方</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内見済みでも相談可</a:t>
            </a:r>
            <a:endParaRPr lang="en-US" sz="1200" b="0" u="none" strike="noStrike">
              <a:solidFill>
                <a:srgbClr val="000000"/>
              </a:solidFill>
              <a:effectLst/>
              <a:uFillTx/>
              <a:latin typeface="Arial"/>
            </a:endParaRPr>
          </a:p>
        </p:txBody>
      </p:sp>
      <p:sp>
        <p:nvSpPr>
          <p:cNvPr id="404" name="Right Arrow 20"/>
          <p:cNvSpPr/>
          <p:nvPr/>
        </p:nvSpPr>
        <p:spPr>
          <a:xfrm>
            <a:off x="5084064"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5" name="Rounded Rectangle 21"/>
          <p:cNvSpPr/>
          <p:nvPr/>
        </p:nvSpPr>
        <p:spPr>
          <a:xfrm>
            <a:off x="5321808" y="2468880"/>
            <a:ext cx="2487168"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比較中の方の後押し</a:t>
            </a:r>
            <a:endParaRPr lang="en-US" sz="1200" b="0" u="none" strike="noStrike">
              <a:solidFill>
                <a:srgbClr val="000000"/>
              </a:solidFill>
              <a:effectLst/>
              <a:uFillTx/>
              <a:latin typeface="Arial"/>
            </a:endParaRPr>
          </a:p>
        </p:txBody>
      </p:sp>
      <p:sp>
        <p:nvSpPr>
          <p:cNvPr id="406" name="Right Arrow 22"/>
          <p:cNvSpPr/>
          <p:nvPr/>
        </p:nvSpPr>
        <p:spPr>
          <a:xfrm>
            <a:off x="7808975"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7" name="Rounded Rectangle 23"/>
          <p:cNvSpPr/>
          <p:nvPr/>
        </p:nvSpPr>
        <p:spPr>
          <a:xfrm>
            <a:off x="8046720" y="2468880"/>
            <a:ext cx="146304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08" name="Rounded Rectangle 24"/>
          <p:cNvSpPr/>
          <p:nvPr/>
        </p:nvSpPr>
        <p:spPr>
          <a:xfrm>
            <a:off x="384048" y="3017520"/>
            <a:ext cx="1737360" cy="48420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0" tIns="18360" rIns="0" bIns="18360" anchor="ctr">
            <a:noAutofit/>
          </a:bodyPr>
          <a:lstStyle/>
          <a:p>
            <a:pPr algn="ctr" defTabSz="914400">
              <a:lnSpc>
                <a:spcPct val="90000"/>
              </a:lnSpc>
              <a:tabLst>
                <a:tab pos="0" algn="l"/>
              </a:tabLst>
            </a:pPr>
            <a:r>
              <a:rPr lang="en-US" sz="1200" b="1" u="none" strike="noStrike">
                <a:solidFill>
                  <a:srgbClr val="FFFFFF"/>
                </a:solidFill>
                <a:effectLst/>
                <a:uFillTx/>
                <a:latin typeface="メイリオ"/>
                <a:ea typeface="メイリオ"/>
              </a:rPr>
              <a:t>9</a:t>
            </a:r>
            <a:r>
              <a:rPr lang="zh-CN" sz="1200" b="1" u="none" strike="noStrike">
                <a:solidFill>
                  <a:srgbClr val="FFFFFF"/>
                </a:solidFill>
                <a:effectLst/>
                <a:uFillTx/>
                <a:latin typeface="メイリオ"/>
                <a:ea typeface="メイリオ"/>
              </a:rPr>
              <a:t>〜</a:t>
            </a:r>
            <a:r>
              <a:rPr lang="en-US" sz="1200" b="1" u="none" strike="noStrike">
                <a:solidFill>
                  <a:srgbClr val="FFFFFF"/>
                </a:solidFill>
                <a:effectLst/>
                <a:uFillTx/>
                <a:latin typeface="メイリオ"/>
                <a:ea typeface="メイリオ"/>
              </a:rPr>
              <a:t>14</a:t>
            </a:r>
            <a:r>
              <a:rPr lang="zh-CN" sz="1200" b="1" u="none" strike="noStrike">
                <a:solidFill>
                  <a:srgbClr val="FFFFFF"/>
                </a:solidFill>
                <a:effectLst/>
                <a:uFillTx/>
                <a:latin typeface="メイリオ"/>
                <a:ea typeface="メイリオ"/>
              </a:rPr>
              <a:t>日後</a:t>
            </a:r>
            <a:endParaRPr lang="en-US" sz="1200" b="0" u="none" strike="noStrike">
              <a:solidFill>
                <a:srgbClr val="FFFFFF"/>
              </a:solidFill>
              <a:effectLst/>
              <a:uFillTx/>
              <a:latin typeface="Arial"/>
            </a:endParaRPr>
          </a:p>
        </p:txBody>
      </p:sp>
      <p:sp>
        <p:nvSpPr>
          <p:cNvPr id="410" name="Right Arrow 26"/>
          <p:cNvSpPr/>
          <p:nvPr/>
        </p:nvSpPr>
        <p:spPr>
          <a:xfrm>
            <a:off x="2121408"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3" name="Rounded Rectangle 29"/>
          <p:cNvSpPr/>
          <p:nvPr/>
        </p:nvSpPr>
        <p:spPr>
          <a:xfrm>
            <a:off x="2359152" y="3017520"/>
            <a:ext cx="2724912"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初期費用の交渉</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入居までの流れ</a:t>
            </a:r>
            <a:endParaRPr lang="en-US" sz="1200" b="0" u="none" strike="noStrike">
              <a:solidFill>
                <a:srgbClr val="000000"/>
              </a:solidFill>
              <a:effectLst/>
              <a:uFillTx/>
              <a:latin typeface="Arial"/>
            </a:endParaRPr>
          </a:p>
        </p:txBody>
      </p:sp>
      <p:sp>
        <p:nvSpPr>
          <p:cNvPr id="414" name="Right Arrow 30"/>
          <p:cNvSpPr/>
          <p:nvPr/>
        </p:nvSpPr>
        <p:spPr>
          <a:xfrm>
            <a:off x="5084064"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5" name="Rounded Rectangle 31"/>
          <p:cNvSpPr/>
          <p:nvPr/>
        </p:nvSpPr>
        <p:spPr>
          <a:xfrm>
            <a:off x="5321808" y="3017520"/>
            <a:ext cx="2487168"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物件の送信の後押し</a:t>
            </a:r>
            <a:endParaRPr lang="en-US" sz="1200" b="0" u="none" strike="noStrike">
              <a:solidFill>
                <a:srgbClr val="000000"/>
              </a:solidFill>
              <a:effectLst/>
              <a:uFillTx/>
              <a:latin typeface="Arial"/>
            </a:endParaRPr>
          </a:p>
        </p:txBody>
      </p:sp>
      <p:sp>
        <p:nvSpPr>
          <p:cNvPr id="416" name="Right Arrow 32"/>
          <p:cNvSpPr/>
          <p:nvPr/>
        </p:nvSpPr>
        <p:spPr>
          <a:xfrm>
            <a:off x="7808975"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7" name="Rounded Rectangle 33"/>
          <p:cNvSpPr/>
          <p:nvPr/>
        </p:nvSpPr>
        <p:spPr>
          <a:xfrm>
            <a:off x="8046720" y="3017520"/>
            <a:ext cx="146304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18" name="TextBox 34"/>
          <p:cNvSpPr/>
          <p:nvPr/>
        </p:nvSpPr>
        <p:spPr>
          <a:xfrm>
            <a:off x="384120" y="3712320"/>
            <a:ext cx="3657240" cy="292320"/>
          </a:xfrm>
          <a:prstGeom prst="rect">
            <a:avLst/>
          </a:prstGeom>
          <a:noFill/>
          <a:ln w="0">
            <a:noFill/>
          </a:ln>
        </p:spPr>
        <p:style>
          <a:lnRef idx="0">
            <a:scrgbClr r="0" g="0" b="0"/>
          </a:lnRef>
          <a:fillRef idx="0">
            <a:scrgbClr r="0" g="0" b="0"/>
          </a:fillRef>
          <a:effectRef idx="0">
            <a:scrgbClr r="0" g="0" b="0"/>
          </a:effectRef>
          <a:fontRef idx="minor"/>
        </p:style>
        <p:txBody>
          <a:bodyPr lIns="45720" tIns="0" rIns="45720" bIns="0" anchor="ctr">
            <a:noAutofit/>
          </a:bodyPr>
          <a:lstStyle/>
          <a:p>
            <a:pPr defTabSz="914400">
              <a:lnSpc>
                <a:spcPct val="100000"/>
              </a:lnSpc>
              <a:tabLst>
                <a:tab pos="0" algn="l"/>
              </a:tabLst>
            </a:pPr>
            <a:r>
              <a:rPr lang="en-US" sz="1400" b="1" u="none" strike="noStrike">
                <a:solidFill>
                  <a:srgbClr val="1F2A5C"/>
                </a:solidFill>
                <a:effectLst/>
                <a:uFillTx/>
                <a:latin typeface="メイリオ"/>
                <a:ea typeface="メイリオ"/>
              </a:rPr>
              <a:t>[</a:t>
            </a:r>
            <a:r>
              <a:rPr lang="zh-CN" sz="1400" b="1" u="none" strike="noStrike">
                <a:solidFill>
                  <a:srgbClr val="1F2A5C"/>
                </a:solidFill>
                <a:effectLst/>
                <a:uFillTx/>
                <a:latin typeface="メイリオ"/>
                <a:ea typeface="メイリオ"/>
              </a:rPr>
              <a:t>企画配信</a:t>
            </a:r>
            <a:r>
              <a:rPr lang="en-US" sz="1400" b="1" u="none" strike="noStrike">
                <a:solidFill>
                  <a:srgbClr val="1F2A5C"/>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419" name="Rounded Rectangle 35"/>
          <p:cNvSpPr/>
          <p:nvPr/>
        </p:nvSpPr>
        <p:spPr>
          <a:xfrm>
            <a:off x="384120" y="426096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友だち全員</a:t>
            </a:r>
            <a:endParaRPr lang="en-US" sz="1200" b="0" u="none" strike="noStrike">
              <a:solidFill>
                <a:srgbClr val="000000"/>
              </a:solidFill>
              <a:effectLst/>
              <a:uFillTx/>
              <a:latin typeface="Arial"/>
            </a:endParaRPr>
          </a:p>
        </p:txBody>
      </p:sp>
      <p:sp>
        <p:nvSpPr>
          <p:cNvPr id="420" name="Right Arrow 36"/>
          <p:cNvSpPr/>
          <p:nvPr/>
        </p:nvSpPr>
        <p:spPr>
          <a:xfrm>
            <a:off x="212148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1" name="Rounded Rectangle 37"/>
          <p:cNvSpPr/>
          <p:nvPr/>
        </p:nvSpPr>
        <p:spPr>
          <a:xfrm>
            <a:off x="2359080" y="426096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絞り込みなし</a:t>
            </a:r>
            <a:endParaRPr lang="en-US" sz="1200" b="0" u="none" strike="noStrike">
              <a:solidFill>
                <a:srgbClr val="000000"/>
              </a:solidFill>
              <a:effectLst/>
              <a:uFillTx/>
              <a:latin typeface="Arial"/>
            </a:endParaRPr>
          </a:p>
        </p:txBody>
      </p:sp>
      <p:sp>
        <p:nvSpPr>
          <p:cNvPr id="422" name="Right Arrow 38"/>
          <p:cNvSpPr/>
          <p:nvPr/>
        </p:nvSpPr>
        <p:spPr>
          <a:xfrm>
            <a:off x="409644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3" name="Rounded Rectangle 39"/>
          <p:cNvSpPr/>
          <p:nvPr/>
        </p:nvSpPr>
        <p:spPr>
          <a:xfrm>
            <a:off x="4334400" y="426096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フォームでの送り方</a:t>
            </a:r>
            <a:endParaRPr lang="en-US" sz="1200" b="0" u="none" strike="noStrike">
              <a:solidFill>
                <a:srgbClr val="000000"/>
              </a:solidFill>
              <a:effectLst/>
              <a:uFillTx/>
              <a:latin typeface="Arial"/>
            </a:endParaRPr>
          </a:p>
        </p:txBody>
      </p:sp>
      <p:sp>
        <p:nvSpPr>
          <p:cNvPr id="424" name="Right Arrow 40"/>
          <p:cNvSpPr/>
          <p:nvPr/>
        </p:nvSpPr>
        <p:spPr>
          <a:xfrm>
            <a:off x="598032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5" name="Rounded Rectangle 41"/>
          <p:cNvSpPr/>
          <p:nvPr/>
        </p:nvSpPr>
        <p:spPr>
          <a:xfrm>
            <a:off x="6217920" y="426096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フォームで</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物件の送信</a:t>
            </a:r>
            <a:endParaRPr lang="en-US" sz="1200" b="0" u="none" strike="noStrike">
              <a:solidFill>
                <a:srgbClr val="000000"/>
              </a:solidFill>
              <a:effectLst/>
              <a:uFillTx/>
              <a:latin typeface="Arial"/>
            </a:endParaRPr>
          </a:p>
        </p:txBody>
      </p:sp>
      <p:sp>
        <p:nvSpPr>
          <p:cNvPr id="426" name="Right Arrow 42"/>
          <p:cNvSpPr/>
          <p:nvPr/>
        </p:nvSpPr>
        <p:spPr>
          <a:xfrm>
            <a:off x="780912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7" name="Rounded Rectangle 43"/>
          <p:cNvSpPr/>
          <p:nvPr/>
        </p:nvSpPr>
        <p:spPr>
          <a:xfrm>
            <a:off x="8046720" y="426096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28" name="Rounded Rectangle 44"/>
          <p:cNvSpPr/>
          <p:nvPr/>
        </p:nvSpPr>
        <p:spPr>
          <a:xfrm>
            <a:off x="384120" y="480960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友だち全員</a:t>
            </a:r>
            <a:endParaRPr lang="en-US" sz="1200" b="0" u="none" strike="noStrike">
              <a:solidFill>
                <a:srgbClr val="000000"/>
              </a:solidFill>
              <a:effectLst/>
              <a:uFillTx/>
              <a:latin typeface="Arial"/>
            </a:endParaRPr>
          </a:p>
        </p:txBody>
      </p:sp>
      <p:sp>
        <p:nvSpPr>
          <p:cNvPr id="429" name="Right Arrow 45"/>
          <p:cNvSpPr/>
          <p:nvPr/>
        </p:nvSpPr>
        <p:spPr>
          <a:xfrm>
            <a:off x="212148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0" name="Rounded Rectangle 46"/>
          <p:cNvSpPr/>
          <p:nvPr/>
        </p:nvSpPr>
        <p:spPr>
          <a:xfrm>
            <a:off x="2359080" y="480960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絞り込みなし</a:t>
            </a:r>
            <a:endParaRPr lang="en-US" sz="1200" b="0" u="none" strike="noStrike">
              <a:solidFill>
                <a:srgbClr val="000000"/>
              </a:solidFill>
              <a:effectLst/>
              <a:uFillTx/>
              <a:latin typeface="Arial"/>
            </a:endParaRPr>
          </a:p>
        </p:txBody>
      </p:sp>
      <p:sp>
        <p:nvSpPr>
          <p:cNvPr id="431" name="Right Arrow 47"/>
          <p:cNvSpPr/>
          <p:nvPr/>
        </p:nvSpPr>
        <p:spPr>
          <a:xfrm>
            <a:off x="409644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2" name="Rounded Rectangle 48"/>
          <p:cNvSpPr/>
          <p:nvPr/>
        </p:nvSpPr>
        <p:spPr>
          <a:xfrm>
            <a:off x="4334400" y="480960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初期費用の内訳</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（家賃</a:t>
            </a:r>
            <a:r>
              <a:rPr lang="en-US" sz="1200" b="0" u="none" strike="noStrike">
                <a:solidFill>
                  <a:srgbClr val="333333"/>
                </a:solidFill>
                <a:effectLst/>
                <a:uFillTx/>
                <a:latin typeface="メイリオ"/>
                <a:ea typeface="メイリオ"/>
              </a:rPr>
              <a:t>10</a:t>
            </a:r>
            <a:r>
              <a:rPr lang="zh-CN" sz="1200" b="0" u="none" strike="noStrike">
                <a:solidFill>
                  <a:srgbClr val="333333"/>
                </a:solidFill>
                <a:effectLst/>
                <a:uFillTx/>
                <a:latin typeface="メイリオ"/>
                <a:ea typeface="メイリオ"/>
              </a:rPr>
              <a:t>万円の例）</a:t>
            </a:r>
            <a:endParaRPr lang="en-US" sz="1200" b="0" u="none" strike="noStrike">
              <a:solidFill>
                <a:srgbClr val="000000"/>
              </a:solidFill>
              <a:effectLst/>
              <a:uFillTx/>
              <a:latin typeface="Arial"/>
            </a:endParaRPr>
          </a:p>
        </p:txBody>
      </p:sp>
      <p:sp>
        <p:nvSpPr>
          <p:cNvPr id="433" name="Right Arrow 49"/>
          <p:cNvSpPr/>
          <p:nvPr/>
        </p:nvSpPr>
        <p:spPr>
          <a:xfrm>
            <a:off x="598032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4" name="Rounded Rectangle 50"/>
          <p:cNvSpPr/>
          <p:nvPr/>
        </p:nvSpPr>
        <p:spPr>
          <a:xfrm>
            <a:off x="6217920" y="480960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費用の不安を解消</a:t>
            </a:r>
            <a:endParaRPr lang="en-US" sz="1200" b="0" u="none" strike="noStrike">
              <a:solidFill>
                <a:srgbClr val="000000"/>
              </a:solidFill>
              <a:effectLst/>
              <a:uFillTx/>
              <a:latin typeface="Arial"/>
            </a:endParaRPr>
          </a:p>
        </p:txBody>
      </p:sp>
      <p:sp>
        <p:nvSpPr>
          <p:cNvPr id="435" name="Right Arrow 51"/>
          <p:cNvSpPr/>
          <p:nvPr/>
        </p:nvSpPr>
        <p:spPr>
          <a:xfrm>
            <a:off x="780912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6" name="Rounded Rectangle 52"/>
          <p:cNvSpPr/>
          <p:nvPr/>
        </p:nvSpPr>
        <p:spPr>
          <a:xfrm>
            <a:off x="8046720" y="480960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37" name="Rounded Rectangle 53"/>
          <p:cNvSpPr/>
          <p:nvPr/>
        </p:nvSpPr>
        <p:spPr>
          <a:xfrm>
            <a:off x="384120" y="535824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物件を送っていない方</a:t>
            </a:r>
            <a:endParaRPr lang="en-US" sz="1200" b="0" u="none" strike="noStrike">
              <a:solidFill>
                <a:srgbClr val="000000"/>
              </a:solidFill>
              <a:effectLst/>
              <a:uFillTx/>
              <a:latin typeface="Arial"/>
            </a:endParaRPr>
          </a:p>
        </p:txBody>
      </p:sp>
      <p:sp>
        <p:nvSpPr>
          <p:cNvPr id="438" name="Right Arrow 54"/>
          <p:cNvSpPr/>
          <p:nvPr/>
        </p:nvSpPr>
        <p:spPr>
          <a:xfrm>
            <a:off x="212148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9" name="Rounded Rectangle 55"/>
          <p:cNvSpPr/>
          <p:nvPr/>
        </p:nvSpPr>
        <p:spPr>
          <a:xfrm>
            <a:off x="2359080" y="535824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問い合わせ済みを除く</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（チャットタグ）</a:t>
            </a:r>
            <a:endParaRPr lang="en-US" sz="1200" b="0" u="none" strike="noStrike">
              <a:solidFill>
                <a:srgbClr val="000000"/>
              </a:solidFill>
              <a:effectLst/>
              <a:uFillTx/>
              <a:latin typeface="Arial"/>
            </a:endParaRPr>
          </a:p>
        </p:txBody>
      </p:sp>
      <p:sp>
        <p:nvSpPr>
          <p:cNvPr id="440" name="Right Arrow 56"/>
          <p:cNvSpPr/>
          <p:nvPr/>
        </p:nvSpPr>
        <p:spPr>
          <a:xfrm>
            <a:off x="409644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1" name="Rounded Rectangle 57"/>
          <p:cNvSpPr/>
          <p:nvPr/>
        </p:nvSpPr>
        <p:spPr>
          <a:xfrm>
            <a:off x="4334400" y="535824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内見済みでも相談可</a:t>
            </a:r>
            <a:endParaRPr lang="en-US" sz="1200" b="0" u="none" strike="noStrike">
              <a:solidFill>
                <a:srgbClr val="000000"/>
              </a:solidFill>
              <a:effectLst/>
              <a:uFillTx/>
              <a:latin typeface="Arial"/>
            </a:endParaRPr>
          </a:p>
          <a:p>
            <a:pPr algn="ctr" defTabSz="914400">
              <a:lnSpc>
                <a:spcPct val="90000"/>
              </a:lnSpc>
              <a:tabLst>
                <a:tab pos="0" algn="l"/>
              </a:tabLst>
            </a:pPr>
            <a:r>
              <a:rPr lang="en-US" sz="1200" b="0" u="none" strike="noStrike">
                <a:solidFill>
                  <a:srgbClr val="333333"/>
                </a:solidFill>
                <a:effectLst/>
                <a:uFillTx/>
                <a:latin typeface="メイリオ"/>
                <a:ea typeface="メイリオ"/>
              </a:rPr>
              <a:t>100</a:t>
            </a:r>
            <a:r>
              <a:rPr lang="zh-CN" sz="1200" b="0" u="none" strike="noStrike">
                <a:solidFill>
                  <a:srgbClr val="333333"/>
                </a:solidFill>
                <a:effectLst/>
                <a:uFillTx/>
                <a:latin typeface="メイリオ"/>
                <a:ea typeface="メイリオ"/>
              </a:rPr>
              <a:t>円チェッカー</a:t>
            </a:r>
            <a:endParaRPr lang="en-US" sz="1200" b="0" u="none" strike="noStrike">
              <a:solidFill>
                <a:srgbClr val="000000"/>
              </a:solidFill>
              <a:effectLst/>
              <a:uFillTx/>
              <a:latin typeface="Arial"/>
            </a:endParaRPr>
          </a:p>
        </p:txBody>
      </p:sp>
      <p:sp>
        <p:nvSpPr>
          <p:cNvPr id="442" name="Right Arrow 58"/>
          <p:cNvSpPr/>
          <p:nvPr/>
        </p:nvSpPr>
        <p:spPr>
          <a:xfrm>
            <a:off x="598032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3" name="Rounded Rectangle 59"/>
          <p:cNvSpPr/>
          <p:nvPr/>
        </p:nvSpPr>
        <p:spPr>
          <a:xfrm>
            <a:off x="6217920" y="535824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フォームで</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物件の送信</a:t>
            </a:r>
            <a:endParaRPr lang="en-US" sz="1200" b="0" u="none" strike="noStrike">
              <a:solidFill>
                <a:srgbClr val="000000"/>
              </a:solidFill>
              <a:effectLst/>
              <a:uFillTx/>
              <a:latin typeface="Arial"/>
            </a:endParaRPr>
          </a:p>
        </p:txBody>
      </p:sp>
      <p:sp>
        <p:nvSpPr>
          <p:cNvPr id="444" name="Right Arrow 60"/>
          <p:cNvSpPr/>
          <p:nvPr/>
        </p:nvSpPr>
        <p:spPr>
          <a:xfrm>
            <a:off x="780912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5" name="Rounded Rectangle 61"/>
          <p:cNvSpPr/>
          <p:nvPr/>
        </p:nvSpPr>
        <p:spPr>
          <a:xfrm>
            <a:off x="8046720" y="535824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46" name="Rounded Rectangle 62"/>
          <p:cNvSpPr/>
          <p:nvPr/>
        </p:nvSpPr>
        <p:spPr>
          <a:xfrm>
            <a:off x="384120" y="590688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友だち全員</a:t>
            </a:r>
            <a:endParaRPr lang="en-US" sz="1200" b="0" u="none" strike="noStrike">
              <a:solidFill>
                <a:srgbClr val="000000"/>
              </a:solidFill>
              <a:effectLst/>
              <a:uFillTx/>
              <a:latin typeface="Arial"/>
            </a:endParaRPr>
          </a:p>
        </p:txBody>
      </p:sp>
      <p:sp>
        <p:nvSpPr>
          <p:cNvPr id="447" name="Right Arrow 63"/>
          <p:cNvSpPr/>
          <p:nvPr/>
        </p:nvSpPr>
        <p:spPr>
          <a:xfrm>
            <a:off x="212148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8" name="Rounded Rectangle 64"/>
          <p:cNvSpPr/>
          <p:nvPr/>
        </p:nvSpPr>
        <p:spPr>
          <a:xfrm>
            <a:off x="2359080" y="590688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絞り込みなし</a:t>
            </a:r>
            <a:endParaRPr lang="en-US" sz="1200" b="0" u="none" strike="noStrike">
              <a:solidFill>
                <a:srgbClr val="000000"/>
              </a:solidFill>
              <a:effectLst/>
              <a:uFillTx/>
              <a:latin typeface="Arial"/>
            </a:endParaRPr>
          </a:p>
        </p:txBody>
      </p:sp>
      <p:sp>
        <p:nvSpPr>
          <p:cNvPr id="449" name="Right Arrow 65"/>
          <p:cNvSpPr/>
          <p:nvPr/>
        </p:nvSpPr>
        <p:spPr>
          <a:xfrm>
            <a:off x="409644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50" name="Rounded Rectangle 66"/>
          <p:cNvSpPr/>
          <p:nvPr/>
        </p:nvSpPr>
        <p:spPr>
          <a:xfrm>
            <a:off x="4334400" y="590688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お申込みの準備</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入居までの流れ</a:t>
            </a:r>
            <a:endParaRPr lang="en-US" sz="1200" b="0" u="none" strike="noStrike">
              <a:solidFill>
                <a:srgbClr val="000000"/>
              </a:solidFill>
              <a:effectLst/>
              <a:uFillTx/>
              <a:latin typeface="Arial"/>
            </a:endParaRPr>
          </a:p>
        </p:txBody>
      </p:sp>
      <p:sp>
        <p:nvSpPr>
          <p:cNvPr id="451" name="Right Arrow 67"/>
          <p:cNvSpPr/>
          <p:nvPr/>
        </p:nvSpPr>
        <p:spPr>
          <a:xfrm>
            <a:off x="598032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52" name="Rounded Rectangle 68"/>
          <p:cNvSpPr/>
          <p:nvPr/>
        </p:nvSpPr>
        <p:spPr>
          <a:xfrm>
            <a:off x="6217920" y="590688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物件の送信の後押し</a:t>
            </a:r>
            <a:endParaRPr lang="en-US" sz="1200" b="0" u="none" strike="noStrike">
              <a:solidFill>
                <a:srgbClr val="000000"/>
              </a:solidFill>
              <a:effectLst/>
              <a:uFillTx/>
              <a:latin typeface="Arial"/>
            </a:endParaRPr>
          </a:p>
        </p:txBody>
      </p:sp>
      <p:sp>
        <p:nvSpPr>
          <p:cNvPr id="453" name="Right Arrow 69"/>
          <p:cNvSpPr/>
          <p:nvPr/>
        </p:nvSpPr>
        <p:spPr>
          <a:xfrm>
            <a:off x="780912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54" name="Rounded Rectangle 70"/>
          <p:cNvSpPr/>
          <p:nvPr/>
        </p:nvSpPr>
        <p:spPr>
          <a:xfrm>
            <a:off x="8046720" y="590688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57" name="テキスト ボックス 9"/>
          <p:cNvSpPr/>
          <p:nvPr/>
        </p:nvSpPr>
        <p:spPr>
          <a:xfrm>
            <a:off x="2359152" y="1664280"/>
            <a:ext cx="2724912"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配信コンテンツ</a:t>
            </a:r>
            <a:endParaRPr lang="en-US" sz="1200" b="0" u="none" strike="noStrike">
              <a:solidFill>
                <a:srgbClr val="000000"/>
              </a:solidFill>
              <a:effectLst/>
              <a:uFillTx/>
              <a:latin typeface="Arial"/>
            </a:endParaRPr>
          </a:p>
        </p:txBody>
      </p:sp>
      <p:sp>
        <p:nvSpPr>
          <p:cNvPr id="458" name="テキスト ボックス 11"/>
          <p:cNvSpPr/>
          <p:nvPr/>
        </p:nvSpPr>
        <p:spPr>
          <a:xfrm>
            <a:off x="5321808" y="1664280"/>
            <a:ext cx="2487168"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FF0000"/>
                </a:solidFill>
                <a:effectLst/>
                <a:uFillTx/>
                <a:latin typeface="メイリオ"/>
                <a:ea typeface="メイリオ"/>
              </a:rPr>
              <a:t>ねらい</a:t>
            </a:r>
            <a:endParaRPr lang="en-US" sz="1200" b="0" u="none" strike="noStrike">
              <a:solidFill>
                <a:srgbClr val="000000"/>
              </a:solidFill>
              <a:effectLst/>
              <a:uFillTx/>
              <a:latin typeface="Arial"/>
            </a:endParaRPr>
          </a:p>
        </p:txBody>
      </p:sp>
      <p:sp>
        <p:nvSpPr>
          <p:cNvPr id="459" name="テキスト ボックス 14"/>
          <p:cNvSpPr/>
          <p:nvPr/>
        </p:nvSpPr>
        <p:spPr>
          <a:xfrm>
            <a:off x="384120" y="4005000"/>
            <a:ext cx="173700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ターゲット層</a:t>
            </a:r>
            <a:endParaRPr lang="en-US" sz="1200" b="0" u="none" strike="noStrike">
              <a:solidFill>
                <a:srgbClr val="000000"/>
              </a:solidFill>
              <a:effectLst/>
              <a:uFillTx/>
              <a:latin typeface="Arial"/>
            </a:endParaRPr>
          </a:p>
        </p:txBody>
      </p:sp>
      <p:sp>
        <p:nvSpPr>
          <p:cNvPr id="460" name="テキスト ボックス 16"/>
          <p:cNvSpPr/>
          <p:nvPr/>
        </p:nvSpPr>
        <p:spPr>
          <a:xfrm>
            <a:off x="2359080" y="4005000"/>
            <a:ext cx="173700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セグメント方法</a:t>
            </a:r>
            <a:endParaRPr lang="en-US" sz="1200" b="0" u="none" strike="noStrike">
              <a:solidFill>
                <a:srgbClr val="000000"/>
              </a:solidFill>
              <a:effectLst/>
              <a:uFillTx/>
              <a:latin typeface="Arial"/>
            </a:endParaRPr>
          </a:p>
        </p:txBody>
      </p:sp>
      <p:sp>
        <p:nvSpPr>
          <p:cNvPr id="461" name="テキスト ボックス 18"/>
          <p:cNvSpPr/>
          <p:nvPr/>
        </p:nvSpPr>
        <p:spPr>
          <a:xfrm>
            <a:off x="4334400" y="4005000"/>
            <a:ext cx="164556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配信コンテンツ</a:t>
            </a:r>
            <a:endParaRPr lang="en-US" sz="1200" b="0" u="none" strike="noStrike">
              <a:solidFill>
                <a:srgbClr val="000000"/>
              </a:solidFill>
              <a:effectLst/>
              <a:uFillTx/>
              <a:latin typeface="Arial"/>
            </a:endParaRPr>
          </a:p>
        </p:txBody>
      </p:sp>
      <p:sp>
        <p:nvSpPr>
          <p:cNvPr id="462" name="テキスト ボックス 21"/>
          <p:cNvSpPr/>
          <p:nvPr/>
        </p:nvSpPr>
        <p:spPr>
          <a:xfrm>
            <a:off x="6217920" y="4005000"/>
            <a:ext cx="159084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FF0000"/>
                </a:solidFill>
                <a:effectLst/>
                <a:uFillTx/>
                <a:latin typeface="メイリオ"/>
                <a:ea typeface="メイリオ"/>
              </a:rPr>
              <a:t>ねらい</a:t>
            </a:r>
            <a:endParaRPr lang="en-US" sz="1200" b="0" u="none" strike="noStrike">
              <a:solidFill>
                <a:srgbClr val="000000"/>
              </a:solidFill>
              <a:effectLst/>
              <a:uFillTx/>
              <a:latin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3"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メイリオ"/>
                <a:ea typeface="メイリオ"/>
              </a:rPr>
              <a:t>問い合わせ対応：一次対応は自動、物件の確認に集中</a:t>
            </a:r>
            <a:endParaRPr lang="en-US" sz="1600" b="0" u="none" strike="noStrike">
              <a:solidFill>
                <a:srgbClr val="000000"/>
              </a:solidFill>
              <a:effectLst/>
              <a:uFillTx/>
              <a:latin typeface="メイリオ"/>
            </a:endParaRPr>
          </a:p>
        </p:txBody>
      </p:sp>
      <p:sp>
        <p:nvSpPr>
          <p:cNvPr id="464" name="TextBox 2"/>
          <p:cNvSpPr/>
          <p:nvPr/>
        </p:nvSpPr>
        <p:spPr>
          <a:xfrm>
            <a:off x="429840" y="845397"/>
            <a:ext cx="9052200" cy="52176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defTabSz="914400">
              <a:lnSpc>
                <a:spcPct val="100000"/>
              </a:lnSpc>
              <a:tabLst>
                <a:tab pos="0" algn="l"/>
              </a:tabLst>
            </a:pPr>
            <a:r>
              <a:rPr lang="en-US" sz="1400" b="0" u="none" strike="noStrike" dirty="0">
                <a:solidFill>
                  <a:srgbClr val="5A6378"/>
                </a:solidFill>
                <a:effectLst/>
                <a:uFillTx/>
                <a:latin typeface="メイリオ"/>
                <a:ea typeface="メイリオ"/>
              </a:rPr>
              <a:t>LINE</a:t>
            </a:r>
            <a:r>
              <a:rPr lang="zh-CN" sz="1400" b="0" u="none" strike="noStrike" dirty="0">
                <a:solidFill>
                  <a:srgbClr val="5A6378"/>
                </a:solidFill>
                <a:effectLst/>
                <a:uFillTx/>
                <a:latin typeface="メイリオ"/>
                <a:ea typeface="メイリオ"/>
              </a:rPr>
              <a:t>の機能で、問い合わせへの一次対応と対応状況の管理を効率化</a:t>
            </a:r>
            <a:endParaRPr lang="en-US" sz="1400" b="0" u="none" strike="noStrike" dirty="0">
              <a:solidFill>
                <a:srgbClr val="000000"/>
              </a:solidFill>
              <a:effectLst/>
              <a:uFillTx/>
              <a:latin typeface="Arial"/>
            </a:endParaRPr>
          </a:p>
          <a:p>
            <a:pPr defTabSz="914400">
              <a:lnSpc>
                <a:spcPct val="100000"/>
              </a:lnSpc>
              <a:tabLst>
                <a:tab pos="0" algn="l"/>
              </a:tabLst>
            </a:pPr>
            <a:r>
              <a:rPr lang="zh-CN" sz="1400" b="1" u="none" strike="noStrike" dirty="0">
                <a:solidFill>
                  <a:srgbClr val="5A6378"/>
                </a:solidFill>
                <a:effectLst/>
                <a:uFillTx/>
                <a:latin typeface="メイリオ"/>
                <a:ea typeface="メイリオ"/>
              </a:rPr>
              <a:t>お客様への個別対応はあらうち様、仕組みづくりと改善支援は当社が担当</a:t>
            </a:r>
            <a:endParaRPr lang="en-US" sz="1400" b="0" u="none" strike="noStrike" dirty="0">
              <a:solidFill>
                <a:srgbClr val="000000"/>
              </a:solidFill>
              <a:effectLst/>
              <a:uFillTx/>
              <a:latin typeface="Arial"/>
            </a:endParaRPr>
          </a:p>
        </p:txBody>
      </p:sp>
      <p:sp>
        <p:nvSpPr>
          <p:cNvPr id="465" name="Rounded Rectangle 3"/>
          <p:cNvSpPr/>
          <p:nvPr/>
        </p:nvSpPr>
        <p:spPr>
          <a:xfrm>
            <a:off x="429840" y="1481400"/>
            <a:ext cx="2788560" cy="41112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50760" tIns="45000" rIns="50760" bIns="45000" anchor="ctr">
            <a:noAutofit/>
          </a:bodyPr>
          <a:lstStyle/>
          <a:p>
            <a:pPr algn="ctr" defTabSz="914400">
              <a:lnSpc>
                <a:spcPct val="100000"/>
              </a:lnSpc>
              <a:tabLst>
                <a:tab pos="0" algn="l"/>
              </a:tabLst>
            </a:pPr>
            <a:r>
              <a:rPr lang="en-US" sz="1600" b="1" u="none" strike="noStrike">
                <a:solidFill>
                  <a:srgbClr val="FFFFFF"/>
                </a:solidFill>
                <a:effectLst/>
                <a:uFillTx/>
                <a:latin typeface="メイリオ"/>
                <a:ea typeface="メイリオ"/>
              </a:rPr>
              <a:t>① 自動応答</a:t>
            </a:r>
            <a:endParaRPr lang="en-US" sz="1600" b="0" u="none" strike="noStrike">
              <a:solidFill>
                <a:srgbClr val="FFFFFF"/>
              </a:solidFill>
              <a:effectLst/>
              <a:uFillTx/>
              <a:latin typeface="Arial"/>
            </a:endParaRPr>
          </a:p>
        </p:txBody>
      </p:sp>
      <p:sp>
        <p:nvSpPr>
          <p:cNvPr id="466" name="Rounded Rectangle 4"/>
          <p:cNvSpPr/>
          <p:nvPr/>
        </p:nvSpPr>
        <p:spPr>
          <a:xfrm>
            <a:off x="429840" y="1938600"/>
            <a:ext cx="2788560" cy="40964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tIns="91440" rIns="73080" bIns="54720" anchor="t">
            <a:noAutofit/>
          </a:bodyPr>
          <a:lstStyle/>
          <a:p>
            <a:pPr defTabSz="914400">
              <a:lnSpc>
                <a:spcPct val="100000"/>
              </a:lnSpc>
              <a:spcBef>
                <a:spcPts val="300"/>
              </a:spcBef>
              <a:tabLst>
                <a:tab pos="0" algn="l"/>
              </a:tabLst>
            </a:pPr>
            <a:r>
              <a:rPr lang="ja-JP" sz="1500" b="1" u="none" strike="noStrike">
                <a:solidFill>
                  <a:srgbClr val="1F2A5C"/>
                </a:solidFill>
                <a:effectLst/>
                <a:uFillTx/>
                <a:latin typeface="メイリオ"/>
                <a:ea typeface="メイリオ"/>
              </a:rPr>
              <a:t>設定：当社　対応：自動</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・よくある質問（初期費用・お申込みの流れなど）にキーワード応答で自動回答</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・リッチメニューのボタンと同じ言葉で応答を用意</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・受付時間外は、時間を指定して受付の旨を自動で返信</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・リッチメニューから</a:t>
            </a:r>
            <a:r>
              <a:rPr lang="en-US" sz="1500" b="0" u="none" strike="noStrike">
                <a:solidFill>
                  <a:srgbClr val="333333"/>
                </a:solidFill>
                <a:effectLst/>
                <a:uFillTx/>
                <a:latin typeface="メイリオ"/>
                <a:ea typeface="メイリオ"/>
              </a:rPr>
              <a:t>100</a:t>
            </a:r>
            <a:r>
              <a:rPr lang="ja-JP" sz="1500" b="0" u="none" strike="noStrike">
                <a:solidFill>
                  <a:srgbClr val="333333"/>
                </a:solidFill>
                <a:effectLst/>
                <a:uFillTx/>
                <a:latin typeface="メイリオ"/>
                <a:ea typeface="メイリオ"/>
              </a:rPr>
              <a:t>円チェッカーへ案内</a:t>
            </a:r>
            <a:endParaRPr lang="en-US" sz="1500" b="0" u="none" strike="noStrike">
              <a:solidFill>
                <a:srgbClr val="000000"/>
              </a:solidFill>
              <a:effectLst/>
              <a:uFillTx/>
              <a:latin typeface="Arial"/>
            </a:endParaRPr>
          </a:p>
        </p:txBody>
      </p:sp>
      <p:sp>
        <p:nvSpPr>
          <p:cNvPr id="467" name="Rounded Rectangle 5"/>
          <p:cNvSpPr/>
          <p:nvPr/>
        </p:nvSpPr>
        <p:spPr>
          <a:xfrm>
            <a:off x="3493080" y="1481400"/>
            <a:ext cx="2788560" cy="411120"/>
          </a:xfrm>
          <a:prstGeom prst="roundRect">
            <a:avLst>
              <a:gd name="adj" fmla="val 10000"/>
            </a:avLst>
          </a:prstGeom>
          <a:solidFill>
            <a:srgbClr val="4A6FA5"/>
          </a:solidFill>
          <a:ln w="12700">
            <a:solidFill>
              <a:srgbClr val="4A6FA5"/>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50760" tIns="45000" rIns="50760" bIns="45000" anchor="ctr">
            <a:noAutofit/>
          </a:bodyPr>
          <a:lstStyle/>
          <a:p>
            <a:pPr algn="ctr" defTabSz="914400">
              <a:lnSpc>
                <a:spcPct val="100000"/>
              </a:lnSpc>
              <a:tabLst>
                <a:tab pos="0" algn="l"/>
              </a:tabLst>
            </a:pPr>
            <a:r>
              <a:rPr lang="en-US" sz="1600" b="1" u="none" strike="noStrike">
                <a:solidFill>
                  <a:srgbClr val="FFFFFF"/>
                </a:solidFill>
                <a:effectLst/>
                <a:uFillTx/>
                <a:latin typeface="メイリオ"/>
                <a:ea typeface="メイリオ"/>
              </a:rPr>
              <a:t>② 個別チャット</a:t>
            </a:r>
            <a:endParaRPr lang="en-US" sz="1600" b="0" u="none" strike="noStrike">
              <a:solidFill>
                <a:srgbClr val="FFFFFF"/>
              </a:solidFill>
              <a:effectLst/>
              <a:uFillTx/>
              <a:latin typeface="Arial"/>
            </a:endParaRPr>
          </a:p>
        </p:txBody>
      </p:sp>
      <p:sp>
        <p:nvSpPr>
          <p:cNvPr id="468" name="Rounded Rectangle 6"/>
          <p:cNvSpPr/>
          <p:nvPr/>
        </p:nvSpPr>
        <p:spPr>
          <a:xfrm>
            <a:off x="3493080" y="1938600"/>
            <a:ext cx="2788560" cy="40964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tIns="91440" rIns="73080" bIns="54720" anchor="t">
            <a:noAutofit/>
          </a:bodyPr>
          <a:lstStyle/>
          <a:p>
            <a:pPr defTabSz="914400">
              <a:lnSpc>
                <a:spcPct val="100000"/>
              </a:lnSpc>
              <a:spcBef>
                <a:spcPts val="300"/>
              </a:spcBef>
              <a:tabLst>
                <a:tab pos="0" algn="l"/>
              </a:tabLst>
            </a:pPr>
            <a:r>
              <a:rPr lang="ja-JP" sz="1500" b="1" u="none" strike="noStrike">
                <a:solidFill>
                  <a:srgbClr val="4A6FA5"/>
                </a:solidFill>
                <a:effectLst/>
                <a:uFillTx/>
                <a:latin typeface="メイリオ"/>
                <a:ea typeface="メイリオ"/>
              </a:rPr>
              <a:t>対応：あらうち様</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・ご担当者様が、物件に関する相談・問い合わせに対応</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・送られた物件（</a:t>
            </a:r>
            <a:r>
              <a:rPr lang="en-US" sz="1500" b="0" u="none" strike="noStrike">
                <a:solidFill>
                  <a:srgbClr val="333333"/>
                </a:solidFill>
                <a:effectLst/>
                <a:uFillTx/>
                <a:latin typeface="メイリオ"/>
                <a:ea typeface="メイリオ"/>
              </a:rPr>
              <a:t>URL</a:t>
            </a:r>
            <a:r>
              <a:rPr lang="ja-JP" sz="1500" b="0" u="none" strike="noStrike">
                <a:solidFill>
                  <a:srgbClr val="333333"/>
                </a:solidFill>
                <a:effectLst/>
                <a:uFillTx/>
                <a:latin typeface="メイリオ"/>
                <a:ea typeface="メイリオ"/>
              </a:rPr>
              <a:t>・物件名・画像）の空室確認・内見の手配</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・一次対応は自動応答に任せ、物件の確認に集中</a:t>
            </a:r>
            <a:endParaRPr lang="en-US" sz="1500" b="0" u="none" strike="noStrike">
              <a:solidFill>
                <a:srgbClr val="000000"/>
              </a:solidFill>
              <a:effectLst/>
              <a:uFillTx/>
              <a:latin typeface="Arial"/>
            </a:endParaRPr>
          </a:p>
        </p:txBody>
      </p:sp>
      <p:sp>
        <p:nvSpPr>
          <p:cNvPr id="469" name="Rounded Rectangle 7"/>
          <p:cNvSpPr/>
          <p:nvPr/>
        </p:nvSpPr>
        <p:spPr>
          <a:xfrm>
            <a:off x="6556320" y="1481400"/>
            <a:ext cx="2788560" cy="41112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50760" tIns="45000" rIns="50760" bIns="45000" anchor="ctr">
            <a:noAutofit/>
          </a:bodyPr>
          <a:lstStyle/>
          <a:p>
            <a:pPr algn="ctr" defTabSz="914400">
              <a:lnSpc>
                <a:spcPct val="100000"/>
              </a:lnSpc>
              <a:tabLst>
                <a:tab pos="0" algn="l"/>
              </a:tabLst>
            </a:pPr>
            <a:r>
              <a:rPr lang="en-US" sz="1600" b="1" u="none" strike="noStrike">
                <a:solidFill>
                  <a:srgbClr val="FFFFFF"/>
                </a:solidFill>
                <a:effectLst/>
                <a:uFillTx/>
                <a:latin typeface="メイリオ"/>
                <a:ea typeface="メイリオ"/>
              </a:rPr>
              <a:t>③ チャットタグ</a:t>
            </a:r>
            <a:endParaRPr lang="en-US" sz="1600" b="0" u="none" strike="noStrike">
              <a:solidFill>
                <a:srgbClr val="FFFFFF"/>
              </a:solidFill>
              <a:effectLst/>
              <a:uFillTx/>
              <a:latin typeface="Arial"/>
            </a:endParaRPr>
          </a:p>
        </p:txBody>
      </p:sp>
      <p:sp>
        <p:nvSpPr>
          <p:cNvPr id="470" name="Rounded Rectangle 8"/>
          <p:cNvSpPr/>
          <p:nvPr/>
        </p:nvSpPr>
        <p:spPr>
          <a:xfrm>
            <a:off x="6556320" y="1938600"/>
            <a:ext cx="2788560" cy="40964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tIns="91440" rIns="73080" bIns="54720" anchor="t">
            <a:noAutofit/>
          </a:bodyPr>
          <a:lstStyle/>
          <a:p>
            <a:pPr defTabSz="914400">
              <a:lnSpc>
                <a:spcPct val="100000"/>
              </a:lnSpc>
              <a:spcBef>
                <a:spcPts val="300"/>
              </a:spcBef>
              <a:tabLst>
                <a:tab pos="0" algn="l"/>
              </a:tabLst>
            </a:pPr>
            <a:r>
              <a:rPr lang="ja-JP" sz="1500" b="1" u="none" strike="noStrike">
                <a:solidFill>
                  <a:srgbClr val="5B6478"/>
                </a:solidFill>
                <a:effectLst/>
                <a:uFillTx/>
                <a:latin typeface="メイリオ"/>
                <a:ea typeface="メイリオ"/>
              </a:rPr>
              <a:t>設計・設定：当社</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・問い合わせ状況・対応ステータス（受付・確認中・返信済）を管理</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・タグの付け替えで、確認漏れ・返信漏れを防止</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・問い合わせ済みの方を除いた再案内で、重複配信を防止</a:t>
            </a:r>
            <a:endParaRPr lang="en-US" sz="1500" b="0" u="none" strike="noStrike">
              <a:solidFill>
                <a:srgbClr val="000000"/>
              </a:solidFill>
              <a:effectLst/>
              <a:uFillTx/>
              <a:latin typeface="Arial"/>
            </a:endParaRPr>
          </a:p>
        </p:txBody>
      </p:sp>
      <p:sp>
        <p:nvSpPr>
          <p:cNvPr id="476" name="Right Arrow 4"/>
          <p:cNvSpPr/>
          <p:nvPr/>
        </p:nvSpPr>
        <p:spPr>
          <a:xfrm>
            <a:off x="3250800" y="3886343"/>
            <a:ext cx="20988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77" name="Right Arrow 4"/>
          <p:cNvSpPr/>
          <p:nvPr/>
        </p:nvSpPr>
        <p:spPr>
          <a:xfrm>
            <a:off x="6314040" y="3886343"/>
            <a:ext cx="20988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38"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39" name="Google Shape;156;p7"/>
          <p:cNvSpPr/>
          <p:nvPr/>
        </p:nvSpPr>
        <p:spPr>
          <a:xfrm>
            <a:off x="549000" y="137983"/>
            <a:ext cx="7680960" cy="338554"/>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a:tabLst>
                <a:tab pos="0" algn="l"/>
              </a:tabLst>
            </a:pPr>
            <a:r>
              <a:rPr lang="ja-JP" sz="1600" b="1" u="none" strike="noStrike" dirty="0">
                <a:solidFill>
                  <a:srgbClr val="002060"/>
                </a:solidFill>
                <a:effectLst/>
                <a:uFillTx/>
                <a:latin typeface="メイリオ"/>
                <a:ea typeface="メイリオ"/>
              </a:rPr>
              <a:t>目標と費用対効果：月13.5万円で、6か月目に月17件</a:t>
            </a:r>
            <a:r>
              <a:rPr lang="ja-JP" altLang="en-US" sz="1600" b="1" dirty="0">
                <a:solidFill>
                  <a:srgbClr val="002060"/>
                </a:solidFill>
                <a:latin typeface="メイリオ" panose="020B0604030504040204" pitchFamily="50" charset="-128"/>
                <a:ea typeface="メイリオ" panose="020B0604030504040204" pitchFamily="50" charset="-128"/>
              </a:rPr>
              <a:t>（試算）</a:t>
            </a:r>
          </a:p>
        </p:txBody>
      </p:sp>
      <p:cxnSp>
        <p:nvCxnSpPr>
          <p:cNvPr id="340"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341" name="正方形/長方形 4"/>
          <p:cNvSpPr/>
          <p:nvPr/>
        </p:nvSpPr>
        <p:spPr>
          <a:xfrm>
            <a:off x="2613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初期</a:t>
            </a:r>
            <a:endParaRPr lang="en-US" sz="1400" b="0" u="none" strike="noStrike">
              <a:solidFill>
                <a:srgbClr val="FFFFFF"/>
              </a:solidFill>
              <a:effectLst/>
              <a:uFillTx/>
              <a:latin typeface="Arial"/>
            </a:endParaRPr>
          </a:p>
        </p:txBody>
      </p:sp>
      <p:sp>
        <p:nvSpPr>
          <p:cNvPr id="342" name="正方形/長方形 6"/>
          <p:cNvSpPr/>
          <p:nvPr/>
        </p:nvSpPr>
        <p:spPr>
          <a:xfrm>
            <a:off x="33375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月次</a:t>
            </a:r>
            <a:endParaRPr lang="en-US" sz="1400" b="0" u="none" strike="noStrike">
              <a:solidFill>
                <a:srgbClr val="FFFFFF"/>
              </a:solidFill>
              <a:effectLst/>
              <a:uFillTx/>
              <a:latin typeface="Arial"/>
            </a:endParaRPr>
          </a:p>
        </p:txBody>
      </p:sp>
      <p:sp>
        <p:nvSpPr>
          <p:cNvPr id="343" name="正方形/長方形 7"/>
          <p:cNvSpPr/>
          <p:nvPr/>
        </p:nvSpPr>
        <p:spPr>
          <a:xfrm>
            <a:off x="2613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rPr>
              <a:t>¥215,000</a:t>
            </a:r>
            <a:endParaRPr lang="en-US" sz="1600" b="0" u="none" strike="noStrike">
              <a:solidFill>
                <a:srgbClr val="000000"/>
              </a:solidFill>
              <a:effectLst/>
              <a:uFillTx/>
              <a:latin typeface="Arial"/>
            </a:endParaRPr>
          </a:p>
        </p:txBody>
      </p:sp>
      <p:sp>
        <p:nvSpPr>
          <p:cNvPr id="344" name="正方形/長方形 9"/>
          <p:cNvSpPr/>
          <p:nvPr/>
        </p:nvSpPr>
        <p:spPr>
          <a:xfrm>
            <a:off x="33375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rPr>
              <a:t>¥135,000</a:t>
            </a:r>
            <a:endParaRPr lang="en-US" sz="1600" b="0" u="none" strike="noStrike">
              <a:solidFill>
                <a:srgbClr val="000000"/>
              </a:solidFill>
              <a:effectLst/>
              <a:uFillTx/>
              <a:latin typeface="Arial"/>
            </a:endParaRPr>
          </a:p>
        </p:txBody>
      </p:sp>
      <p:sp>
        <p:nvSpPr>
          <p:cNvPr id="345" name="矢印: 右 14"/>
          <p:cNvSpPr/>
          <p:nvPr/>
        </p:nvSpPr>
        <p:spPr>
          <a:xfrm>
            <a:off x="6379200" y="1956960"/>
            <a:ext cx="365400" cy="2797560"/>
          </a:xfrm>
          <a:prstGeom prst="rightArrow">
            <a:avLst>
              <a:gd name="adj1" fmla="val 50000"/>
              <a:gd name="adj2" fmla="val 50000"/>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346" name="正方形/長方形 16"/>
          <p:cNvSpPr/>
          <p:nvPr/>
        </p:nvSpPr>
        <p:spPr>
          <a:xfrm>
            <a:off x="6744960" y="1517760"/>
            <a:ext cx="2899440" cy="38376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0" u="none" strike="noStrike">
                <a:solidFill>
                  <a:schemeClr val="lt1"/>
                </a:solidFill>
                <a:effectLst/>
                <a:uFillTx/>
                <a:latin typeface="メイリオ"/>
                <a:ea typeface="メイリオ"/>
              </a:rPr>
              <a:t>6</a:t>
            </a:r>
            <a:r>
              <a:rPr lang="ja-JP" sz="1400" b="0" u="none" strike="noStrike">
                <a:solidFill>
                  <a:schemeClr val="lt1"/>
                </a:solidFill>
                <a:effectLst/>
                <a:uFillTx/>
                <a:latin typeface="メイリオ"/>
                <a:ea typeface="メイリオ"/>
              </a:rPr>
              <a:t>か月後</a:t>
            </a:r>
            <a:endParaRPr lang="en-US" sz="1400" b="0" u="none" strike="noStrike">
              <a:solidFill>
                <a:srgbClr val="FFFFFF"/>
              </a:solidFill>
              <a:effectLst/>
              <a:uFillTx/>
              <a:latin typeface="Arial"/>
            </a:endParaRPr>
          </a:p>
        </p:txBody>
      </p:sp>
      <p:sp>
        <p:nvSpPr>
          <p:cNvPr id="347" name="テキスト ボックス 18"/>
          <p:cNvSpPr/>
          <p:nvPr/>
        </p:nvSpPr>
        <p:spPr>
          <a:xfrm>
            <a:off x="2613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&lt;</a:t>
            </a:r>
            <a:r>
              <a:rPr lang="ja-JP" sz="1400" b="0" u="none" strike="noStrike">
                <a:solidFill>
                  <a:schemeClr val="dk1"/>
                </a:solidFill>
                <a:effectLst/>
                <a:uFillTx/>
                <a:latin typeface="メイリオ"/>
                <a:ea typeface="メイリオ"/>
              </a:rPr>
              <a:t>実施内容</a:t>
            </a:r>
            <a:r>
              <a:rPr lang="en-US" sz="1400" b="0" u="none" strike="noStrike">
                <a:solidFill>
                  <a:schemeClr val="dk1"/>
                </a:solidFill>
                <a:effectLst/>
                <a:uFillTx/>
                <a:latin typeface="メイリオ"/>
                <a:ea typeface="メイリオ"/>
              </a:rPr>
              <a:t>&gt;</a:t>
            </a:r>
            <a:endParaRPr lang="en-US" sz="1400" b="0" u="none" strike="noStrike">
              <a:solidFill>
                <a:srgbClr val="000000"/>
              </a:solidFill>
              <a:effectLst/>
              <a:uFillTx/>
              <a:latin typeface="Arial"/>
            </a:endParaRPr>
          </a:p>
        </p:txBody>
      </p:sp>
      <p:sp>
        <p:nvSpPr>
          <p:cNvPr id="348" name="テキスト ボックス 20"/>
          <p:cNvSpPr/>
          <p:nvPr/>
        </p:nvSpPr>
        <p:spPr>
          <a:xfrm>
            <a:off x="33375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&lt;</a:t>
            </a:r>
            <a:r>
              <a:rPr lang="ja-JP" sz="1400" b="0" u="none" strike="noStrike">
                <a:solidFill>
                  <a:schemeClr val="dk1"/>
                </a:solidFill>
                <a:effectLst/>
                <a:uFillTx/>
                <a:latin typeface="メイリオ"/>
                <a:ea typeface="メイリオ"/>
              </a:rPr>
              <a:t>実施内容</a:t>
            </a:r>
            <a:r>
              <a:rPr lang="en-US" sz="1400" b="0" u="none" strike="noStrike">
                <a:solidFill>
                  <a:schemeClr val="dk1"/>
                </a:solidFill>
                <a:effectLst/>
                <a:uFillTx/>
                <a:latin typeface="メイリオ"/>
                <a:ea typeface="メイリオ"/>
              </a:rPr>
              <a:t>&gt;</a:t>
            </a:r>
            <a:endParaRPr lang="en-US" sz="1400" b="0" u="none" strike="noStrike">
              <a:solidFill>
                <a:srgbClr val="000000"/>
              </a:solidFill>
              <a:effectLst/>
              <a:uFillTx/>
              <a:latin typeface="Arial"/>
            </a:endParaRPr>
          </a:p>
        </p:txBody>
      </p:sp>
      <p:sp>
        <p:nvSpPr>
          <p:cNvPr id="349" name="正方形/長方形 24"/>
          <p:cNvSpPr/>
          <p:nvPr/>
        </p:nvSpPr>
        <p:spPr>
          <a:xfrm>
            <a:off x="33832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企画配信</a:t>
            </a:r>
            <a:endParaRPr lang="en-US" sz="1300" b="0" u="none" strike="noStrike">
              <a:solidFill>
                <a:srgbClr val="FFFFFF"/>
              </a:solidFill>
              <a:effectLst/>
              <a:uFillTx/>
              <a:latin typeface="Arial"/>
            </a:endParaRPr>
          </a:p>
        </p:txBody>
      </p:sp>
      <p:sp>
        <p:nvSpPr>
          <p:cNvPr id="350" name="正方形/長方形 28"/>
          <p:cNvSpPr/>
          <p:nvPr/>
        </p:nvSpPr>
        <p:spPr>
          <a:xfrm>
            <a:off x="48463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rPr>
              <a:t>月4回程度</a:t>
            </a:r>
            <a:endParaRPr lang="en-US" sz="1300" b="0" u="none" strike="noStrike">
              <a:solidFill>
                <a:srgbClr val="000000"/>
              </a:solidFill>
              <a:effectLst/>
              <a:uFillTx/>
              <a:latin typeface="Arial"/>
            </a:endParaRPr>
          </a:p>
        </p:txBody>
      </p:sp>
      <p:sp>
        <p:nvSpPr>
          <p:cNvPr id="351" name="正方形/長方形 32"/>
          <p:cNvSpPr/>
          <p:nvPr/>
        </p:nvSpPr>
        <p:spPr>
          <a:xfrm>
            <a:off x="3383280" y="3579840"/>
            <a:ext cx="1425960" cy="48420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90000"/>
              </a:lnSpc>
            </a:pPr>
            <a:r>
              <a:rPr lang="ja-JP" sz="1200" b="0" u="none" strike="noStrike">
                <a:solidFill>
                  <a:schemeClr val="lt1"/>
                </a:solidFill>
                <a:effectLst/>
                <a:uFillTx/>
                <a:latin typeface="メイリオ"/>
                <a:ea typeface="メイリオ"/>
              </a:rPr>
              <a:t>リッチメニュー</a:t>
            </a:r>
            <a:endParaRPr lang="en-US" sz="1200" b="0" u="none" strike="noStrike">
              <a:solidFill>
                <a:srgbClr val="FFFFFF"/>
              </a:solidFill>
              <a:effectLst/>
              <a:uFillTx/>
              <a:latin typeface="Arial"/>
            </a:endParaRPr>
          </a:p>
          <a:p>
            <a:pPr algn="ctr" defTabSz="914400">
              <a:lnSpc>
                <a:spcPct val="90000"/>
              </a:lnSpc>
            </a:pPr>
            <a:r>
              <a:rPr lang="ja-JP" sz="1200" b="0" u="none" strike="noStrike">
                <a:solidFill>
                  <a:schemeClr val="lt1"/>
                </a:solidFill>
                <a:effectLst/>
                <a:uFillTx/>
                <a:latin typeface="メイリオ"/>
                <a:ea typeface="メイリオ"/>
              </a:rPr>
              <a:t>修正変更</a:t>
            </a:r>
            <a:endParaRPr lang="en-US" sz="1200" b="0" u="none" strike="noStrike">
              <a:solidFill>
                <a:srgbClr val="FFFFFF"/>
              </a:solidFill>
              <a:effectLst/>
              <a:uFillTx/>
              <a:latin typeface="Arial"/>
            </a:endParaRPr>
          </a:p>
        </p:txBody>
      </p:sp>
      <p:sp>
        <p:nvSpPr>
          <p:cNvPr id="352" name="正方形/長方形 36"/>
          <p:cNvSpPr/>
          <p:nvPr/>
        </p:nvSpPr>
        <p:spPr>
          <a:xfrm>
            <a:off x="4846320" y="3579840"/>
            <a:ext cx="1343880" cy="4842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100000"/>
              </a:lnSpc>
            </a:pPr>
            <a:r>
              <a:rPr lang="ja-JP" sz="1200" b="0" u="none" strike="noStrike">
                <a:solidFill>
                  <a:schemeClr val="dk1"/>
                </a:solidFill>
                <a:effectLst/>
                <a:uFillTx/>
                <a:latin typeface="メイリオ"/>
                <a:ea typeface="メイリオ"/>
              </a:rPr>
              <a:t>月次運用範囲内で適宜調整</a:t>
            </a:r>
            <a:endParaRPr lang="en-US" sz="1200" b="0" u="none" strike="noStrike">
              <a:solidFill>
                <a:srgbClr val="000000"/>
              </a:solidFill>
              <a:effectLst/>
              <a:uFillTx/>
              <a:latin typeface="Arial"/>
            </a:endParaRPr>
          </a:p>
        </p:txBody>
      </p:sp>
      <p:sp>
        <p:nvSpPr>
          <p:cNvPr id="353" name="正方形/長方形 40"/>
          <p:cNvSpPr/>
          <p:nvPr/>
        </p:nvSpPr>
        <p:spPr>
          <a:xfrm>
            <a:off x="33832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月次レポート</a:t>
            </a:r>
            <a:endParaRPr lang="en-US" sz="1300" b="0" u="none" strike="noStrike">
              <a:solidFill>
                <a:srgbClr val="FFFFFF"/>
              </a:solidFill>
              <a:effectLst/>
              <a:uFillTx/>
              <a:latin typeface="Arial"/>
            </a:endParaRPr>
          </a:p>
        </p:txBody>
      </p:sp>
      <p:sp>
        <p:nvSpPr>
          <p:cNvPr id="354" name="正方形/長方形 45"/>
          <p:cNvSpPr/>
          <p:nvPr/>
        </p:nvSpPr>
        <p:spPr>
          <a:xfrm>
            <a:off x="48463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a:t>
            </a:r>
            <a:r>
              <a:rPr lang="ja-JP" sz="1300" b="0" u="none" strike="noStrike">
                <a:solidFill>
                  <a:schemeClr val="dk1"/>
                </a:solidFill>
                <a:effectLst/>
                <a:uFillTx/>
                <a:latin typeface="メイリオ"/>
                <a:ea typeface="メイリオ"/>
              </a:rPr>
              <a:t>回</a:t>
            </a:r>
            <a:endParaRPr lang="en-US" sz="1300" b="0" u="none" strike="noStrike">
              <a:solidFill>
                <a:srgbClr val="000000"/>
              </a:solidFill>
              <a:effectLst/>
              <a:uFillTx/>
              <a:latin typeface="Arial"/>
            </a:endParaRPr>
          </a:p>
        </p:txBody>
      </p:sp>
      <p:sp>
        <p:nvSpPr>
          <p:cNvPr id="355" name="正方形/長方形 49"/>
          <p:cNvSpPr/>
          <p:nvPr/>
        </p:nvSpPr>
        <p:spPr>
          <a:xfrm>
            <a:off x="33832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月次定例会</a:t>
            </a:r>
            <a:endParaRPr lang="en-US" sz="1300" b="0" u="none" strike="noStrike">
              <a:solidFill>
                <a:srgbClr val="FFFFFF"/>
              </a:solidFill>
              <a:effectLst/>
              <a:uFillTx/>
              <a:latin typeface="Arial"/>
            </a:endParaRPr>
          </a:p>
        </p:txBody>
      </p:sp>
      <p:sp>
        <p:nvSpPr>
          <p:cNvPr id="356" name="正方形/長方形 53"/>
          <p:cNvSpPr/>
          <p:nvPr/>
        </p:nvSpPr>
        <p:spPr>
          <a:xfrm>
            <a:off x="48463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a:t>
            </a:r>
            <a:r>
              <a:rPr lang="ja-JP" sz="1300" b="0" u="none" strike="noStrike">
                <a:solidFill>
                  <a:schemeClr val="dk1"/>
                </a:solidFill>
                <a:effectLst/>
                <a:uFillTx/>
                <a:latin typeface="メイリオ"/>
                <a:ea typeface="メイリオ"/>
              </a:rPr>
              <a:t>回</a:t>
            </a:r>
            <a:endParaRPr lang="en-US" sz="1300" b="0" u="none" strike="noStrike">
              <a:solidFill>
                <a:srgbClr val="000000"/>
              </a:solidFill>
              <a:effectLst/>
              <a:uFillTx/>
              <a:latin typeface="Arial"/>
            </a:endParaRPr>
          </a:p>
        </p:txBody>
      </p:sp>
      <p:sp>
        <p:nvSpPr>
          <p:cNvPr id="357" name="正方形/長方形 57"/>
          <p:cNvSpPr/>
          <p:nvPr/>
        </p:nvSpPr>
        <p:spPr>
          <a:xfrm>
            <a:off x="33832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離脱防止</a:t>
            </a:r>
            <a:endParaRPr lang="en-US" sz="1300" b="0" u="none" strike="noStrike">
              <a:solidFill>
                <a:srgbClr val="FFFFFF"/>
              </a:solidFill>
              <a:effectLst/>
              <a:uFillTx/>
              <a:latin typeface="Arial"/>
            </a:endParaRPr>
          </a:p>
        </p:txBody>
      </p:sp>
      <p:sp>
        <p:nvSpPr>
          <p:cNvPr id="358" name="正方形/長方形 61"/>
          <p:cNvSpPr/>
          <p:nvPr/>
        </p:nvSpPr>
        <p:spPr>
          <a:xfrm>
            <a:off x="48463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運用</a:t>
            </a:r>
            <a:endParaRPr lang="en-US" sz="1300" b="0" u="none" strike="noStrike">
              <a:solidFill>
                <a:srgbClr val="000000"/>
              </a:solidFill>
              <a:effectLst/>
              <a:uFillTx/>
              <a:latin typeface="Arial"/>
            </a:endParaRPr>
          </a:p>
        </p:txBody>
      </p:sp>
      <p:sp>
        <p:nvSpPr>
          <p:cNvPr id="359" name="正方形/長方形 65"/>
          <p:cNvSpPr/>
          <p:nvPr/>
        </p:nvSpPr>
        <p:spPr>
          <a:xfrm>
            <a:off x="3383280" y="55368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ステップ配信</a:t>
            </a:r>
            <a:endParaRPr lang="en-US" sz="1300" b="0" u="none" strike="noStrike">
              <a:solidFill>
                <a:srgbClr val="FFFFFF"/>
              </a:solidFill>
              <a:effectLst/>
              <a:uFillTx/>
              <a:latin typeface="Arial"/>
            </a:endParaRPr>
          </a:p>
        </p:txBody>
      </p:sp>
      <p:sp>
        <p:nvSpPr>
          <p:cNvPr id="360" name="正方形/長方形 69"/>
          <p:cNvSpPr/>
          <p:nvPr/>
        </p:nvSpPr>
        <p:spPr>
          <a:xfrm>
            <a:off x="4846320" y="55368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10</a:t>
            </a:r>
            <a:r>
              <a:rPr lang="zh-CN" sz="1300" b="0" u="none" strike="noStrike">
                <a:solidFill>
                  <a:schemeClr val="dk1"/>
                </a:solidFill>
                <a:effectLst/>
                <a:uFillTx/>
                <a:latin typeface="メイリオ"/>
                <a:ea typeface="メイリオ"/>
              </a:rPr>
              <a:t>通の改善</a:t>
            </a:r>
            <a:endParaRPr lang="en-US" sz="1300" b="0" u="none" strike="noStrike">
              <a:solidFill>
                <a:srgbClr val="000000"/>
              </a:solidFill>
              <a:effectLst/>
              <a:uFillTx/>
              <a:latin typeface="Arial"/>
            </a:endParaRPr>
          </a:p>
        </p:txBody>
      </p:sp>
      <p:sp>
        <p:nvSpPr>
          <p:cNvPr id="361" name="正方形/長方形 79"/>
          <p:cNvSpPr/>
          <p:nvPr/>
        </p:nvSpPr>
        <p:spPr>
          <a:xfrm>
            <a:off x="6812280" y="19569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rPr>
              <a:t>友だち数</a:t>
            </a:r>
            <a:endParaRPr lang="en-US" sz="1400" b="0" u="none" strike="noStrike">
              <a:solidFill>
                <a:srgbClr val="000000"/>
              </a:solidFill>
              <a:effectLst/>
              <a:uFillTx/>
              <a:latin typeface="Arial"/>
            </a:endParaRPr>
          </a:p>
        </p:txBody>
      </p:sp>
      <p:sp>
        <p:nvSpPr>
          <p:cNvPr id="362" name="正方形/長方形 81"/>
          <p:cNvSpPr/>
          <p:nvPr/>
        </p:nvSpPr>
        <p:spPr>
          <a:xfrm>
            <a:off x="6812280" y="24321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rPr>
              <a:t>問い合わせ</a:t>
            </a:r>
            <a:endParaRPr lang="en-US" sz="1400" b="0" u="none" strike="noStrike">
              <a:solidFill>
                <a:srgbClr val="000000"/>
              </a:solidFill>
              <a:effectLst/>
              <a:uFillTx/>
              <a:latin typeface="Arial"/>
            </a:endParaRPr>
          </a:p>
        </p:txBody>
      </p:sp>
      <p:sp>
        <p:nvSpPr>
          <p:cNvPr id="364" name="正方形/長方形 85"/>
          <p:cNvSpPr/>
          <p:nvPr/>
        </p:nvSpPr>
        <p:spPr>
          <a:xfrm>
            <a:off x="6812280" y="2907792"/>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rPr>
              <a:t>6か月累計</a:t>
            </a:r>
            <a:endParaRPr lang="en-US" sz="1400" b="0" u="none" strike="noStrike">
              <a:solidFill>
                <a:srgbClr val="000000"/>
              </a:solidFill>
              <a:effectLst/>
              <a:uFillTx/>
              <a:latin typeface="Arial"/>
            </a:endParaRPr>
          </a:p>
        </p:txBody>
      </p:sp>
      <p:sp>
        <p:nvSpPr>
          <p:cNvPr id="365" name="正方形/長方形 11"/>
          <p:cNvSpPr/>
          <p:nvPr/>
        </p:nvSpPr>
        <p:spPr>
          <a:xfrm>
            <a:off x="3070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あいさつ</a:t>
            </a:r>
            <a:endParaRPr lang="en-US" sz="1300" b="0" u="none" strike="noStrike">
              <a:solidFill>
                <a:srgbClr val="FFFFFF"/>
              </a:solidFill>
              <a:effectLst/>
              <a:uFillTx/>
              <a:latin typeface="Arial"/>
            </a:endParaRPr>
          </a:p>
        </p:txBody>
      </p:sp>
      <p:sp>
        <p:nvSpPr>
          <p:cNvPr id="366" name="正方形/長方形 13"/>
          <p:cNvSpPr/>
          <p:nvPr/>
        </p:nvSpPr>
        <p:spPr>
          <a:xfrm>
            <a:off x="17701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rPr>
              <a:t>改善</a:t>
            </a:r>
            <a:endParaRPr lang="en-US" sz="1300" b="0" u="none" strike="noStrike">
              <a:solidFill>
                <a:srgbClr val="000000"/>
              </a:solidFill>
              <a:effectLst/>
              <a:uFillTx/>
              <a:latin typeface="Arial"/>
            </a:endParaRPr>
          </a:p>
        </p:txBody>
      </p:sp>
      <p:sp>
        <p:nvSpPr>
          <p:cNvPr id="367" name="正方形/長方形 17"/>
          <p:cNvSpPr/>
          <p:nvPr/>
        </p:nvSpPr>
        <p:spPr>
          <a:xfrm>
            <a:off x="307080" y="357984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リッチメニュー</a:t>
            </a:r>
            <a:endParaRPr lang="en-US" sz="1300" b="0" u="none" strike="noStrike">
              <a:solidFill>
                <a:srgbClr val="FFFFFF"/>
              </a:solidFill>
              <a:effectLst/>
              <a:uFillTx/>
              <a:latin typeface="Arial"/>
            </a:endParaRPr>
          </a:p>
        </p:txBody>
      </p:sp>
      <p:sp>
        <p:nvSpPr>
          <p:cNvPr id="368" name="正方形/長方形 21"/>
          <p:cNvSpPr/>
          <p:nvPr/>
        </p:nvSpPr>
        <p:spPr>
          <a:xfrm>
            <a:off x="1770120" y="357984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新規作成</a:t>
            </a:r>
            <a:endParaRPr lang="en-US" sz="1300" b="0" u="none" strike="noStrike">
              <a:solidFill>
                <a:srgbClr val="000000"/>
              </a:solidFill>
              <a:effectLst/>
              <a:uFillTx/>
              <a:latin typeface="Arial"/>
            </a:endParaRPr>
          </a:p>
        </p:txBody>
      </p:sp>
      <p:sp>
        <p:nvSpPr>
          <p:cNvPr id="369" name="正方形/長方形 25"/>
          <p:cNvSpPr/>
          <p:nvPr/>
        </p:nvSpPr>
        <p:spPr>
          <a:xfrm>
            <a:off x="3070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ステップ配信</a:t>
            </a:r>
            <a:endParaRPr lang="en-US" sz="1300" b="0" u="none" strike="noStrike">
              <a:solidFill>
                <a:srgbClr val="FFFFFF"/>
              </a:solidFill>
              <a:effectLst/>
              <a:uFillTx/>
              <a:latin typeface="Arial"/>
            </a:endParaRPr>
          </a:p>
        </p:txBody>
      </p:sp>
      <p:sp>
        <p:nvSpPr>
          <p:cNvPr id="370" name="正方形/長方形 29"/>
          <p:cNvSpPr/>
          <p:nvPr/>
        </p:nvSpPr>
        <p:spPr>
          <a:xfrm>
            <a:off x="17701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10</a:t>
            </a:r>
            <a:r>
              <a:rPr lang="ja-JP" sz="1300" b="0" u="none" strike="noStrike">
                <a:solidFill>
                  <a:schemeClr val="dk1"/>
                </a:solidFill>
                <a:effectLst/>
                <a:uFillTx/>
                <a:latin typeface="メイリオ"/>
                <a:ea typeface="メイリオ"/>
              </a:rPr>
              <a:t>通を構築</a:t>
            </a:r>
            <a:endParaRPr lang="en-US" sz="1300" b="0" u="none" strike="noStrike">
              <a:solidFill>
                <a:srgbClr val="000000"/>
              </a:solidFill>
              <a:effectLst/>
              <a:uFillTx/>
              <a:latin typeface="Arial"/>
            </a:endParaRPr>
          </a:p>
        </p:txBody>
      </p:sp>
      <p:sp>
        <p:nvSpPr>
          <p:cNvPr id="371" name="正方形/長方形 33"/>
          <p:cNvSpPr/>
          <p:nvPr/>
        </p:nvSpPr>
        <p:spPr>
          <a:xfrm>
            <a:off x="3070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自動応答</a:t>
            </a:r>
            <a:endParaRPr lang="en-US" sz="1300" b="0" u="none" strike="noStrike">
              <a:solidFill>
                <a:srgbClr val="FFFFFF"/>
              </a:solidFill>
              <a:effectLst/>
              <a:uFillTx/>
              <a:latin typeface="Arial"/>
            </a:endParaRPr>
          </a:p>
        </p:txBody>
      </p:sp>
      <p:sp>
        <p:nvSpPr>
          <p:cNvPr id="372" name="正方形/長方形 37"/>
          <p:cNvSpPr/>
          <p:nvPr/>
        </p:nvSpPr>
        <p:spPr>
          <a:xfrm>
            <a:off x="17701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設定</a:t>
            </a:r>
            <a:endParaRPr lang="en-US" sz="1300" b="0" u="none" strike="noStrike">
              <a:solidFill>
                <a:srgbClr val="000000"/>
              </a:solidFill>
              <a:effectLst/>
              <a:uFillTx/>
              <a:latin typeface="Arial"/>
            </a:endParaRPr>
          </a:p>
        </p:txBody>
      </p:sp>
      <p:sp>
        <p:nvSpPr>
          <p:cNvPr id="373" name="正方形/長方形 41"/>
          <p:cNvSpPr/>
          <p:nvPr/>
        </p:nvSpPr>
        <p:spPr>
          <a:xfrm>
            <a:off x="3070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離脱防止</a:t>
            </a:r>
            <a:endParaRPr lang="en-US" sz="1300" b="0" u="none" strike="noStrike">
              <a:solidFill>
                <a:srgbClr val="FFFFFF"/>
              </a:solidFill>
              <a:effectLst/>
              <a:uFillTx/>
              <a:latin typeface="Arial"/>
            </a:endParaRPr>
          </a:p>
        </p:txBody>
      </p:sp>
      <p:sp>
        <p:nvSpPr>
          <p:cNvPr id="374" name="正方形/長方形 46"/>
          <p:cNvSpPr/>
          <p:nvPr/>
        </p:nvSpPr>
        <p:spPr>
          <a:xfrm>
            <a:off x="17701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導入</a:t>
            </a:r>
            <a:endParaRPr lang="en-US" sz="1300" b="0" u="none" strike="noStrike">
              <a:solidFill>
                <a:srgbClr val="000000"/>
              </a:solidFill>
              <a:effectLst/>
              <a:uFillTx/>
              <a:latin typeface="Arial"/>
            </a:endParaRPr>
          </a:p>
        </p:txBody>
      </p:sp>
      <p:sp>
        <p:nvSpPr>
          <p:cNvPr id="375" name="テキスト ボックス 10"/>
          <p:cNvSpPr/>
          <p:nvPr/>
        </p:nvSpPr>
        <p:spPr>
          <a:xfrm>
            <a:off x="8256960" y="19569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400" b="1" u="none" strike="noStrike">
                <a:solidFill>
                  <a:srgbClr val="FF0000"/>
                </a:solidFill>
                <a:effectLst/>
                <a:uFillTx/>
                <a:latin typeface="メイリオ"/>
                <a:ea typeface="メイリオ"/>
              </a:rPr>
              <a:t>約</a:t>
            </a:r>
            <a:r>
              <a:rPr lang="en-US" sz="1400" b="1" u="none" strike="noStrike">
                <a:solidFill>
                  <a:srgbClr val="FF0000"/>
                </a:solidFill>
                <a:effectLst/>
                <a:uFillTx/>
                <a:latin typeface="メイリオ"/>
                <a:ea typeface="メイリオ"/>
              </a:rPr>
              <a:t>1,450</a:t>
            </a:r>
            <a:r>
              <a:rPr lang="zh-CN" sz="1400" b="1" u="none" strike="noStrike">
                <a:solidFill>
                  <a:srgbClr val="FF0000"/>
                </a:solidFill>
                <a:effectLst/>
                <a:uFillTx/>
                <a:latin typeface="メイリオ"/>
                <a:ea typeface="メイリオ"/>
              </a:rPr>
              <a:t>人</a:t>
            </a:r>
            <a:endParaRPr lang="en-US" sz="1400" b="0" u="none" strike="noStrike">
              <a:solidFill>
                <a:srgbClr val="000000"/>
              </a:solidFill>
              <a:effectLst/>
              <a:uFillTx/>
              <a:latin typeface="Arial"/>
            </a:endParaRPr>
          </a:p>
        </p:txBody>
      </p:sp>
      <p:sp>
        <p:nvSpPr>
          <p:cNvPr id="376" name="テキスト ボックス 15"/>
          <p:cNvSpPr/>
          <p:nvPr/>
        </p:nvSpPr>
        <p:spPr>
          <a:xfrm>
            <a:off x="8256960" y="24321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FF0000"/>
                </a:solidFill>
                <a:effectLst/>
                <a:uFillTx/>
                <a:latin typeface="メイリオ"/>
                <a:ea typeface="メイリオ"/>
              </a:rPr>
              <a:t>17件/月</a:t>
            </a:r>
            <a:endParaRPr lang="en-US" sz="1400" b="0" u="none" strike="noStrike">
              <a:solidFill>
                <a:srgbClr val="000000"/>
              </a:solidFill>
              <a:effectLst/>
              <a:uFillTx/>
              <a:latin typeface="Arial"/>
            </a:endParaRPr>
          </a:p>
        </p:txBody>
      </p:sp>
      <p:sp>
        <p:nvSpPr>
          <p:cNvPr id="378" name="テキスト ボックス 26"/>
          <p:cNvSpPr/>
          <p:nvPr/>
        </p:nvSpPr>
        <p:spPr>
          <a:xfrm>
            <a:off x="8256960" y="2907792"/>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FF0000"/>
                </a:solidFill>
                <a:effectLst/>
                <a:uFillTx/>
                <a:latin typeface="メイリオ"/>
                <a:ea typeface="メイリオ"/>
              </a:rPr>
              <a:t>89件</a:t>
            </a:r>
            <a:endParaRPr lang="en-US" sz="1400" b="0" u="none" strike="noStrike">
              <a:solidFill>
                <a:srgbClr val="000000"/>
              </a:solidFill>
              <a:effectLst/>
              <a:uFillTx/>
              <a:latin typeface="Arial"/>
            </a:endParaRPr>
          </a:p>
        </p:txBody>
      </p:sp>
      <p:sp>
        <p:nvSpPr>
          <p:cNvPr id="381"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a:solidFill>
                  <a:schemeClr val="dk1">
                    <a:lumMod val="65000"/>
                    <a:lumOff val="35000"/>
                  </a:schemeClr>
                </a:solidFill>
                <a:effectLst/>
                <a:uFillTx/>
                <a:latin typeface="メイリオ"/>
                <a:ea typeface="メイリオ"/>
              </a:rPr>
              <a:t>プラン①｜総合運用で、友だち追加の増加と導線改善により、LINE経由の物件問い合わせを増やす</a:t>
            </a:r>
            <a:endParaRPr lang="en-US" sz="1400" b="0" u="none" strike="noStrike">
              <a:solidFill>
                <a:srgbClr val="000000"/>
              </a:solidFill>
              <a:effectLst/>
              <a:uFillTx/>
              <a:latin typeface="Arial"/>
            </a:endParaRPr>
          </a:p>
        </p:txBody>
      </p:sp>
      <p:sp>
        <p:nvSpPr>
          <p:cNvPr id="383" name="月ごとの問い合わせ 見出し"/>
          <p:cNvSpPr/>
          <p:nvPr/>
        </p:nvSpPr>
        <p:spPr>
          <a:xfrm>
            <a:off x="6812280" y="3419856"/>
            <a:ext cx="2834640" cy="274320"/>
          </a:xfrm>
          <a:prstGeom prst="rect">
            <a:avLst/>
          </a:prstGeom>
          <a:noFill/>
          <a:ln>
            <a:noFill/>
          </a:ln>
        </p:spPr>
        <p:txBody>
          <a:bodyPr wrap="square" lIns="18288" tIns="0" rIns="0" bIns="0" rtlCol="0" anchor="ctr">
            <a:noAutofit/>
          </a:bodyPr>
          <a:lstStyle/>
          <a:p>
            <a:pPr algn="l">
              <a:buNone/>
            </a:pPr>
            <a:r>
              <a:rPr lang="ja-JP" altLang="en-US" sz="1100" b="1" dirty="0">
                <a:solidFill>
                  <a:srgbClr val="1F285A"/>
                </a:solidFill>
                <a:latin typeface="メイリオ" panose="020B0604030504040204" pitchFamily="50" charset="-128"/>
                <a:ea typeface="メイリオ" panose="020B0604030504040204" pitchFamily="50" charset="-128"/>
              </a:rPr>
              <a:t>月ごとの問い合わせ</a:t>
            </a:r>
            <a:endParaRPr lang="ja-JP" altLang="en-US" sz="1200" dirty="0"/>
          </a:p>
        </p:txBody>
      </p:sp>
      <p:sp>
        <p:nvSpPr>
          <p:cNvPr id="384" name="1か月目"/>
          <p:cNvSpPr/>
          <p:nvPr/>
        </p:nvSpPr>
        <p:spPr>
          <a:xfrm>
            <a:off x="6812280" y="3712463"/>
            <a:ext cx="908304" cy="457200"/>
          </a:xfrm>
          <a:prstGeom prst="rect">
            <a:avLst/>
          </a:prstGeom>
          <a:solidFill>
            <a:srgbClr val="F4F7FF"/>
          </a:solidFill>
          <a:ln w="9525">
            <a:solidFill>
              <a:srgbClr val="D9D9D9"/>
            </a:solidFill>
          </a:ln>
        </p:spPr>
        <p:txBody>
          <a:bodyPr wrap="square" lIns="18288" tIns="18288" rIns="18288" bIns="18288" rtlCol="0" anchor="ctr">
            <a:noAutofit/>
          </a:bodyPr>
          <a:lstStyle/>
          <a:p>
            <a:pPr algn="ctr">
              <a:lnSpc>
                <a:spcPct val="100000"/>
              </a:lnSpc>
              <a:buNone/>
            </a:pPr>
            <a:r>
              <a:rPr lang="ja-JP" altLang="en-US" sz="950" b="0" dirty="0">
                <a:solidFill>
                  <a:srgbClr val="595959"/>
                </a:solidFill>
                <a:latin typeface="メイリオ" panose="020B0604030504040204" pitchFamily="50" charset="-128"/>
                <a:ea typeface="メイリオ" panose="020B0604030504040204" pitchFamily="50" charset="-128"/>
              </a:rPr>
              <a:t>1か月目</a:t>
            </a:r>
            <a:endParaRPr lang="ja-JP" altLang="en-US" sz="1200" dirty="0"/>
          </a:p>
          <a:p>
            <a:pPr algn="ctr">
              <a:lnSpc>
                <a:spcPct val="100000"/>
              </a:lnSpc>
              <a:buNone/>
            </a:pPr>
            <a:r>
              <a:rPr lang="ja-JP" altLang="en-US" sz="1300" b="1" dirty="0">
                <a:solidFill>
                  <a:srgbClr val="1F285A"/>
                </a:solidFill>
                <a:latin typeface="メイリオ" panose="020B0604030504040204" pitchFamily="50" charset="-128"/>
                <a:ea typeface="メイリオ" panose="020B0604030504040204" pitchFamily="50" charset="-128"/>
              </a:rPr>
              <a:t>13件</a:t>
            </a:r>
            <a:endParaRPr lang="ja-JP" altLang="en-US" sz="1200" dirty="0"/>
          </a:p>
        </p:txBody>
      </p:sp>
      <p:sp>
        <p:nvSpPr>
          <p:cNvPr id="385" name="2か月目"/>
          <p:cNvSpPr/>
          <p:nvPr/>
        </p:nvSpPr>
        <p:spPr>
          <a:xfrm>
            <a:off x="7775448" y="3712463"/>
            <a:ext cx="908304" cy="457200"/>
          </a:xfrm>
          <a:prstGeom prst="rect">
            <a:avLst/>
          </a:prstGeom>
          <a:solidFill>
            <a:srgbClr val="F4F7FF"/>
          </a:solidFill>
          <a:ln w="9525">
            <a:solidFill>
              <a:srgbClr val="D9D9D9"/>
            </a:solidFill>
          </a:ln>
        </p:spPr>
        <p:txBody>
          <a:bodyPr wrap="square" lIns="18288" tIns="18288" rIns="18288" bIns="18288" rtlCol="0" anchor="ctr">
            <a:noAutofit/>
          </a:bodyPr>
          <a:lstStyle/>
          <a:p>
            <a:pPr algn="ctr">
              <a:lnSpc>
                <a:spcPct val="100000"/>
              </a:lnSpc>
              <a:buNone/>
            </a:pPr>
            <a:r>
              <a:rPr lang="ja-JP" altLang="en-US" sz="950" b="0" dirty="0">
                <a:solidFill>
                  <a:srgbClr val="595959"/>
                </a:solidFill>
                <a:latin typeface="メイリオ" panose="020B0604030504040204" pitchFamily="50" charset="-128"/>
                <a:ea typeface="メイリオ" panose="020B0604030504040204" pitchFamily="50" charset="-128"/>
              </a:rPr>
              <a:t>2か月目</a:t>
            </a:r>
            <a:endParaRPr lang="ja-JP" altLang="en-US" sz="1200" dirty="0"/>
          </a:p>
          <a:p>
            <a:pPr algn="ctr">
              <a:lnSpc>
                <a:spcPct val="100000"/>
              </a:lnSpc>
              <a:buNone/>
            </a:pPr>
            <a:r>
              <a:rPr lang="ja-JP" altLang="en-US" sz="1300" b="1" dirty="0">
                <a:solidFill>
                  <a:srgbClr val="1F285A"/>
                </a:solidFill>
                <a:latin typeface="メイリオ" panose="020B0604030504040204" pitchFamily="50" charset="-128"/>
                <a:ea typeface="メイリオ" panose="020B0604030504040204" pitchFamily="50" charset="-128"/>
              </a:rPr>
              <a:t>14件</a:t>
            </a:r>
            <a:endParaRPr lang="ja-JP" altLang="en-US" sz="1200" dirty="0"/>
          </a:p>
        </p:txBody>
      </p:sp>
      <p:sp>
        <p:nvSpPr>
          <p:cNvPr id="386" name="3か月目"/>
          <p:cNvSpPr/>
          <p:nvPr/>
        </p:nvSpPr>
        <p:spPr>
          <a:xfrm>
            <a:off x="8738616" y="3712463"/>
            <a:ext cx="908304" cy="457200"/>
          </a:xfrm>
          <a:prstGeom prst="rect">
            <a:avLst/>
          </a:prstGeom>
          <a:solidFill>
            <a:srgbClr val="F4F7FF"/>
          </a:solidFill>
          <a:ln w="9525">
            <a:solidFill>
              <a:srgbClr val="D9D9D9"/>
            </a:solidFill>
          </a:ln>
        </p:spPr>
        <p:txBody>
          <a:bodyPr wrap="square" lIns="18288" tIns="18288" rIns="18288" bIns="18288" rtlCol="0" anchor="ctr">
            <a:noAutofit/>
          </a:bodyPr>
          <a:lstStyle/>
          <a:p>
            <a:pPr algn="ctr">
              <a:lnSpc>
                <a:spcPct val="100000"/>
              </a:lnSpc>
              <a:buNone/>
            </a:pPr>
            <a:r>
              <a:rPr lang="ja-JP" altLang="en-US" sz="950" b="0" dirty="0">
                <a:solidFill>
                  <a:srgbClr val="595959"/>
                </a:solidFill>
                <a:latin typeface="メイリオ" panose="020B0604030504040204" pitchFamily="50" charset="-128"/>
                <a:ea typeface="メイリオ" panose="020B0604030504040204" pitchFamily="50" charset="-128"/>
              </a:rPr>
              <a:t>3か月目</a:t>
            </a:r>
            <a:endParaRPr lang="ja-JP" altLang="en-US" sz="1200" dirty="0"/>
          </a:p>
          <a:p>
            <a:pPr algn="ctr">
              <a:lnSpc>
                <a:spcPct val="100000"/>
              </a:lnSpc>
              <a:buNone/>
            </a:pPr>
            <a:r>
              <a:rPr lang="ja-JP" altLang="en-US" sz="1300" b="1" dirty="0">
                <a:solidFill>
                  <a:srgbClr val="1F285A"/>
                </a:solidFill>
                <a:latin typeface="メイリオ" panose="020B0604030504040204" pitchFamily="50" charset="-128"/>
                <a:ea typeface="メイリオ" panose="020B0604030504040204" pitchFamily="50" charset="-128"/>
              </a:rPr>
              <a:t>14件</a:t>
            </a:r>
            <a:endParaRPr lang="ja-JP" altLang="en-US" sz="1200" dirty="0"/>
          </a:p>
        </p:txBody>
      </p:sp>
      <p:sp>
        <p:nvSpPr>
          <p:cNvPr id="387" name="4か月目"/>
          <p:cNvSpPr/>
          <p:nvPr/>
        </p:nvSpPr>
        <p:spPr>
          <a:xfrm>
            <a:off x="6812280" y="4224527"/>
            <a:ext cx="908304" cy="457200"/>
          </a:xfrm>
          <a:prstGeom prst="rect">
            <a:avLst/>
          </a:prstGeom>
          <a:solidFill>
            <a:srgbClr val="F4F7FF"/>
          </a:solidFill>
          <a:ln w="9525">
            <a:solidFill>
              <a:srgbClr val="D9D9D9"/>
            </a:solidFill>
          </a:ln>
        </p:spPr>
        <p:txBody>
          <a:bodyPr wrap="square" lIns="18288" tIns="18288" rIns="18288" bIns="18288" rtlCol="0" anchor="ctr">
            <a:noAutofit/>
          </a:bodyPr>
          <a:lstStyle/>
          <a:p>
            <a:pPr algn="ctr">
              <a:lnSpc>
                <a:spcPct val="100000"/>
              </a:lnSpc>
              <a:buNone/>
            </a:pPr>
            <a:r>
              <a:rPr lang="ja-JP" altLang="en-US" sz="950" b="0" dirty="0">
                <a:solidFill>
                  <a:srgbClr val="595959"/>
                </a:solidFill>
                <a:latin typeface="メイリオ" panose="020B0604030504040204" pitchFamily="50" charset="-128"/>
                <a:ea typeface="メイリオ" panose="020B0604030504040204" pitchFamily="50" charset="-128"/>
              </a:rPr>
              <a:t>4か月目</a:t>
            </a:r>
            <a:endParaRPr lang="ja-JP" altLang="en-US" sz="1200" dirty="0"/>
          </a:p>
          <a:p>
            <a:pPr algn="ctr">
              <a:lnSpc>
                <a:spcPct val="100000"/>
              </a:lnSpc>
              <a:buNone/>
            </a:pPr>
            <a:r>
              <a:rPr lang="ja-JP" altLang="en-US" sz="1300" b="1" dirty="0">
                <a:solidFill>
                  <a:srgbClr val="1F285A"/>
                </a:solidFill>
                <a:latin typeface="メイリオ" panose="020B0604030504040204" pitchFamily="50" charset="-128"/>
                <a:ea typeface="メイリオ" panose="020B0604030504040204" pitchFamily="50" charset="-128"/>
              </a:rPr>
              <a:t>15件</a:t>
            </a:r>
            <a:endParaRPr lang="ja-JP" altLang="en-US" sz="1200" dirty="0"/>
          </a:p>
        </p:txBody>
      </p:sp>
      <p:sp>
        <p:nvSpPr>
          <p:cNvPr id="388" name="5か月目"/>
          <p:cNvSpPr/>
          <p:nvPr/>
        </p:nvSpPr>
        <p:spPr>
          <a:xfrm>
            <a:off x="7775448" y="4224527"/>
            <a:ext cx="908304" cy="457200"/>
          </a:xfrm>
          <a:prstGeom prst="rect">
            <a:avLst/>
          </a:prstGeom>
          <a:solidFill>
            <a:srgbClr val="F4F7FF"/>
          </a:solidFill>
          <a:ln w="9525">
            <a:solidFill>
              <a:srgbClr val="D9D9D9"/>
            </a:solidFill>
          </a:ln>
        </p:spPr>
        <p:txBody>
          <a:bodyPr wrap="square" lIns="18288" tIns="18288" rIns="18288" bIns="18288" rtlCol="0" anchor="ctr">
            <a:noAutofit/>
          </a:bodyPr>
          <a:lstStyle/>
          <a:p>
            <a:pPr algn="ctr">
              <a:lnSpc>
                <a:spcPct val="100000"/>
              </a:lnSpc>
              <a:buNone/>
            </a:pPr>
            <a:r>
              <a:rPr lang="ja-JP" altLang="en-US" sz="950" b="0" dirty="0">
                <a:solidFill>
                  <a:srgbClr val="595959"/>
                </a:solidFill>
                <a:latin typeface="メイリオ" panose="020B0604030504040204" pitchFamily="50" charset="-128"/>
                <a:ea typeface="メイリオ" panose="020B0604030504040204" pitchFamily="50" charset="-128"/>
              </a:rPr>
              <a:t>5か月目</a:t>
            </a:r>
            <a:endParaRPr lang="ja-JP" altLang="en-US" sz="1200" dirty="0"/>
          </a:p>
          <a:p>
            <a:pPr algn="ctr">
              <a:lnSpc>
                <a:spcPct val="100000"/>
              </a:lnSpc>
              <a:buNone/>
            </a:pPr>
            <a:r>
              <a:rPr lang="ja-JP" altLang="en-US" sz="1300" b="1" dirty="0">
                <a:solidFill>
                  <a:srgbClr val="1F285A"/>
                </a:solidFill>
                <a:latin typeface="メイリオ" panose="020B0604030504040204" pitchFamily="50" charset="-128"/>
                <a:ea typeface="メイリオ" panose="020B0604030504040204" pitchFamily="50" charset="-128"/>
              </a:rPr>
              <a:t>16件</a:t>
            </a:r>
            <a:endParaRPr lang="ja-JP" altLang="en-US" sz="1200" dirty="0"/>
          </a:p>
        </p:txBody>
      </p:sp>
      <p:sp>
        <p:nvSpPr>
          <p:cNvPr id="389" name="6か月目"/>
          <p:cNvSpPr/>
          <p:nvPr/>
        </p:nvSpPr>
        <p:spPr>
          <a:xfrm>
            <a:off x="8738616" y="4224527"/>
            <a:ext cx="908304" cy="457200"/>
          </a:xfrm>
          <a:prstGeom prst="rect">
            <a:avLst/>
          </a:prstGeom>
          <a:solidFill>
            <a:srgbClr val="F4F7FF"/>
          </a:solidFill>
          <a:ln w="9525">
            <a:solidFill>
              <a:srgbClr val="D9D9D9"/>
            </a:solidFill>
          </a:ln>
        </p:spPr>
        <p:txBody>
          <a:bodyPr wrap="square" lIns="18288" tIns="18288" rIns="18288" bIns="18288" rtlCol="0" anchor="ctr">
            <a:noAutofit/>
          </a:bodyPr>
          <a:lstStyle/>
          <a:p>
            <a:pPr algn="ctr">
              <a:lnSpc>
                <a:spcPct val="100000"/>
              </a:lnSpc>
              <a:buNone/>
            </a:pPr>
            <a:r>
              <a:rPr lang="ja-JP" altLang="en-US" sz="950" b="0" dirty="0">
                <a:solidFill>
                  <a:srgbClr val="595959"/>
                </a:solidFill>
                <a:latin typeface="メイリオ" panose="020B0604030504040204" pitchFamily="50" charset="-128"/>
                <a:ea typeface="メイリオ" panose="020B0604030504040204" pitchFamily="50" charset="-128"/>
              </a:rPr>
              <a:t>6か月目</a:t>
            </a:r>
            <a:endParaRPr lang="ja-JP" altLang="en-US" sz="1200" dirty="0"/>
          </a:p>
          <a:p>
            <a:pPr algn="ctr">
              <a:lnSpc>
                <a:spcPct val="100000"/>
              </a:lnSpc>
              <a:buNone/>
            </a:pPr>
            <a:r>
              <a:rPr lang="ja-JP" altLang="en-US" sz="1300" b="1" dirty="0">
                <a:solidFill>
                  <a:srgbClr val="1F285A"/>
                </a:solidFill>
                <a:latin typeface="メイリオ" panose="020B0604030504040204" pitchFamily="50" charset="-128"/>
                <a:ea typeface="メイリオ" panose="020B0604030504040204" pitchFamily="50" charset="-128"/>
              </a:rPr>
              <a:t>17件</a:t>
            </a:r>
            <a:endParaRPr lang="ja-JP" alt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5"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料金プラン：3つのプランの費用</a:t>
            </a:r>
            <a:endParaRPr lang="en-US" sz="1600" b="0" u="none" strike="noStrike">
              <a:solidFill>
                <a:srgbClr val="000000"/>
              </a:solidFill>
              <a:effectLst/>
              <a:uFillTx/>
              <a:latin typeface="メイリオ"/>
            </a:endParaRPr>
          </a:p>
        </p:txBody>
      </p:sp>
      <p:sp>
        <p:nvSpPr>
          <p:cNvPr id="636"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lt1"/>
                </a:solidFill>
                <a:effectLst/>
                <a:uFillTx/>
                <a:latin typeface="メイリオ"/>
                <a:ea typeface="メイリオ"/>
              </a:rPr>
              <a:t>料金プランの比較</a:t>
            </a:r>
            <a:endParaRPr lang="en-US" sz="1400" b="0" u="none" strike="noStrike" dirty="0">
              <a:solidFill>
                <a:srgbClr val="FFFFFF"/>
              </a:solidFill>
              <a:effectLst/>
              <a:uFillTx/>
              <a:latin typeface="Arial"/>
            </a:endParaRPr>
          </a:p>
        </p:txBody>
      </p:sp>
      <p:sp>
        <p:nvSpPr>
          <p:cNvPr id="637"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rPr>
              <a:t>運用範囲に合わせて、3つのプランをご用意</a:t>
            </a:r>
            <a:endParaRPr lang="en-US" sz="1600" b="0" u="none" strike="noStrike" dirty="0">
              <a:solidFill>
                <a:srgbClr val="000000"/>
              </a:solidFill>
              <a:effectLst/>
              <a:uFillTx/>
              <a:latin typeface="Arial"/>
            </a:endParaRPr>
          </a:p>
        </p:txBody>
      </p:sp>
      <p:graphicFrame>
        <p:nvGraphicFramePr>
          <p:cNvPr id="639" name="料金プラン比較表 638"/>
          <p:cNvGraphicFramePr>
            <a:graphicFrameLocks noGrp="1"/>
          </p:cNvGraphicFramePr>
          <p:nvPr>
            <p:extLst>
              <p:ext uri="{D42A27DB-BD31-4B8C-83A1-F6EECF244321}">
                <p14:modId xmlns:p14="http://schemas.microsoft.com/office/powerpoint/2010/main" val="2012307853"/>
              </p:ext>
            </p:extLst>
          </p:nvPr>
        </p:nvGraphicFramePr>
        <p:xfrm>
          <a:off x="384048" y="1353312"/>
          <a:ext cx="9144000" cy="3749040"/>
        </p:xfrm>
        <a:graphic>
          <a:graphicData uri="http://schemas.openxmlformats.org/drawingml/2006/table">
            <a:tbl>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77724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項目</a:t>
                      </a:r>
                      <a:endParaRPr lang="ja-JP" altLang="en-US" sz="14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プラン①</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総合運用</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プラン②</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獲得重視</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プラン③</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初期導入</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64008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初期費用</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215,000円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215,000円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215,000円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月額コンサルティング費</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100,000円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50,000円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なし</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7724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月額ツール・LINE関連費</a:t>
                      </a:r>
                      <a:endParaRPr lang="ja-JP" altLang="en-US" sz="1400" dirty="0"/>
                    </a:p>
                  </a:txBody>
                  <a:tcPr marL="27432" marR="2743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35,000円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35,000円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利用ツールにより変動</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91440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月額費用</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85A"/>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135,000円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85,000円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1" dirty="0">
                          <a:solidFill>
                            <a:srgbClr val="1F285A"/>
                          </a:solidFill>
                          <a:latin typeface="メイリオ" panose="020B0604030504040204" pitchFamily="50" charset="-128"/>
                          <a:ea typeface="メイリオ" panose="020B0604030504040204" pitchFamily="50" charset="-128"/>
                        </a:rPr>
                        <a:t>月額費用が発生</a:t>
                      </a:r>
                      <a:endParaRPr lang="ja-JP" altLang="en-US" sz="1500" dirty="0"/>
                    </a:p>
                    <a:p>
                      <a:pPr algn="ctr">
                        <a:buNone/>
                      </a:pPr>
                      <a:r>
                        <a:rPr lang="ja-JP" altLang="en-US" sz="1500" b="1" dirty="0">
                          <a:solidFill>
                            <a:srgbClr val="1F285A"/>
                          </a:solidFill>
                          <a:latin typeface="メイリオ" panose="020B0604030504040204" pitchFamily="50" charset="-128"/>
                          <a:ea typeface="メイリオ" panose="020B0604030504040204" pitchFamily="50" charset="-128"/>
                        </a:rPr>
                        <a:t>（別途お見積り）</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extLst>
                  <a:ext uri="{0D108BD9-81ED-4DB2-BD59-A6C34878D82A}">
                    <a16:rowId xmlns:a16="http://schemas.microsoft.com/office/drawing/2014/main" val="10004"/>
                  </a:ext>
                </a:extLst>
              </a:tr>
            </a:tbl>
          </a:graphicData>
        </a:graphic>
      </p:graphicFrame>
      <p:sp>
        <p:nvSpPr>
          <p:cNvPr id="640" name="注記"/>
          <p:cNvSpPr/>
          <p:nvPr/>
        </p:nvSpPr>
        <p:spPr>
          <a:xfrm>
            <a:off x="384048" y="5285232"/>
            <a:ext cx="9144000" cy="1207007"/>
          </a:xfrm>
          <a:prstGeom prst="rect">
            <a:avLst/>
          </a:prstGeom>
          <a:noFill/>
          <a:ln>
            <a:noFill/>
          </a:ln>
        </p:spPr>
        <p:txBody>
          <a:bodyPr wrap="square" lIns="18288" tIns="18288" rIns="18288" bIns="18288" rtlCol="0" anchor="t">
            <a:noAutofit/>
          </a:bodyPr>
          <a:lstStyle/>
          <a:p>
            <a:pPr algn="l">
              <a:spcAft>
                <a:spcPts val="300"/>
              </a:spcAft>
              <a:buNone/>
            </a:pPr>
            <a:endParaRPr lang="ja-JP" alt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運用内容：プランごとの対応範囲</a:t>
            </a:r>
            <a:endParaRPr lang="en-US" sz="1600" b="0" u="none" strike="noStrike">
              <a:solidFill>
                <a:srgbClr val="000000"/>
              </a:solidFill>
              <a:effectLst/>
              <a:uFillTx/>
              <a:latin typeface="メイリオ"/>
            </a:endParaRPr>
          </a:p>
        </p:txBody>
      </p:sp>
      <p:sp>
        <p:nvSpPr>
          <p:cNvPr id="4"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運用内容の比較</a:t>
            </a:r>
            <a:endParaRPr lang="en-US" sz="1400" b="0" u="none" strike="noStrike">
              <a:solidFill>
                <a:srgbClr val="FFFFFF"/>
              </a:solidFill>
              <a:effectLst/>
              <a:uFillTx/>
              <a:latin typeface="Arial"/>
            </a:endParaRPr>
          </a:p>
        </p:txBody>
      </p:sp>
      <p:sp>
        <p:nvSpPr>
          <p:cNvPr id="5"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rPr>
              <a:t>3つのプランの運用内容</a:t>
            </a:r>
            <a:r>
              <a:rPr lang="ja-JP" altLang="en-US" sz="1600" b="1" u="none" strike="noStrike" dirty="0">
                <a:solidFill>
                  <a:schemeClr val="dk1"/>
                </a:solidFill>
                <a:effectLst/>
                <a:uFillTx/>
                <a:latin typeface="メイリオ"/>
                <a:ea typeface="メイリオ"/>
              </a:rPr>
              <a:t>の</a:t>
            </a:r>
            <a:r>
              <a:rPr lang="ja-JP" sz="1600" b="1" u="none" strike="noStrike" dirty="0">
                <a:solidFill>
                  <a:schemeClr val="dk1"/>
                </a:solidFill>
                <a:effectLst/>
                <a:uFillTx/>
                <a:latin typeface="メイリオ"/>
                <a:ea typeface="メイリオ"/>
              </a:rPr>
              <a:t>比較</a:t>
            </a:r>
            <a:endParaRPr lang="en-US" sz="1600" b="0" u="none" strike="noStrike" dirty="0">
              <a:solidFill>
                <a:srgbClr val="000000"/>
              </a:solidFill>
              <a:effectLst/>
              <a:uFillTx/>
              <a:latin typeface="Arial"/>
            </a:endParaRPr>
          </a:p>
        </p:txBody>
      </p:sp>
      <p:graphicFrame>
        <p:nvGraphicFramePr>
          <p:cNvPr id="6" name="運用内容比較表 5"/>
          <p:cNvGraphicFramePr>
            <a:graphicFrameLocks noGrp="1"/>
          </p:cNvGraphicFramePr>
          <p:nvPr>
            <p:extLst>
              <p:ext uri="{D42A27DB-BD31-4B8C-83A1-F6EECF244321}">
                <p14:modId xmlns:p14="http://schemas.microsoft.com/office/powerpoint/2010/main" val="3686588805"/>
              </p:ext>
            </p:extLst>
          </p:nvPr>
        </p:nvGraphicFramePr>
        <p:xfrm>
          <a:off x="384048" y="1353312"/>
          <a:ext cx="9144000" cy="4323282"/>
        </p:xfrm>
        <a:graphic>
          <a:graphicData uri="http://schemas.openxmlformats.org/drawingml/2006/table">
            <a:tbl>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680313">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項目</a:t>
                      </a:r>
                      <a:endParaRPr lang="ja-JP" altLang="en-US" sz="14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プラン①</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総合運用</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プラン②</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獲得重視</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プラン③</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初期導入</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離脱防止ポップアップ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初期導入支援</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あいさつメッセージ改善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リッチメニュー</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設置</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設置</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ステップ配信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14日間・10通</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企画配信（定期配信）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月4回程度</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月1〜2回程度</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運用改善支援</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限定的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680313">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API連携・開発</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必要に応じて</a:t>
                      </a:r>
                      <a:br>
                        <a:rPr lang="ja-JP" altLang="en-US" sz="1300" b="0" dirty="0">
                          <a:solidFill>
                            <a:srgbClr val="333333"/>
                          </a:solidFill>
                          <a:latin typeface="メイリオ" panose="020B0604030504040204" pitchFamily="50" charset="-128"/>
                          <a:ea typeface="メイリオ" panose="020B0604030504040204" pitchFamily="50" charset="-128"/>
                        </a:rPr>
                      </a:br>
                      <a:r>
                        <a:rPr lang="ja-JP" altLang="en-US" sz="1300" b="0" dirty="0">
                          <a:solidFill>
                            <a:srgbClr val="333333"/>
                          </a:solidFill>
                          <a:latin typeface="メイリオ" panose="020B0604030504040204" pitchFamily="50" charset="-128"/>
                          <a:ea typeface="メイリオ" panose="020B0604030504040204" pitchFamily="50" charset="-128"/>
                        </a:rPr>
                        <a:t>別途見積もり</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4" name="正方形/長方形 13"/>
          <p:cNvSpPr/>
          <p:nvPr/>
        </p:nvSpPr>
        <p:spPr>
          <a:xfrm>
            <a:off x="258840" y="1486080"/>
            <a:ext cx="9230040" cy="170532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pic>
        <p:nvPicPr>
          <p:cNvPr id="665" name="図 14"/>
          <p:cNvPicPr/>
          <p:nvPr/>
        </p:nvPicPr>
        <p:blipFill>
          <a:blip r:embed="rId3"/>
          <a:stretch/>
        </p:blipFill>
        <p:spPr>
          <a:xfrm>
            <a:off x="445680" y="4515480"/>
            <a:ext cx="4393080" cy="1885680"/>
          </a:xfrm>
          <a:prstGeom prst="rect">
            <a:avLst/>
          </a:prstGeom>
          <a:noFill/>
          <a:ln w="0">
            <a:noFill/>
          </a:ln>
        </p:spPr>
      </p:pic>
      <p:sp>
        <p:nvSpPr>
          <p:cNvPr id="666" name="正方形/長方形 15"/>
          <p:cNvSpPr/>
          <p:nvPr/>
        </p:nvSpPr>
        <p:spPr>
          <a:xfrm>
            <a:off x="1728720" y="1724040"/>
            <a:ext cx="1984320" cy="485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chemeClr val="lt1"/>
                </a:solidFill>
                <a:effectLst/>
                <a:uFillTx/>
                <a:latin typeface="メイリオ"/>
                <a:ea typeface="メイリオ"/>
              </a:rPr>
              <a:t>API</a:t>
            </a:r>
            <a:r>
              <a:rPr lang="ja-JP" sz="1200" b="1" u="none" strike="noStrike">
                <a:solidFill>
                  <a:schemeClr val="lt1"/>
                </a:solidFill>
                <a:effectLst/>
                <a:uFillTx/>
                <a:latin typeface="メイリオ"/>
                <a:ea typeface="メイリオ"/>
              </a:rPr>
              <a:t>ツールなし</a:t>
            </a:r>
            <a:endParaRPr lang="en-US" sz="1200" b="0" u="none" strike="noStrike">
              <a:solidFill>
                <a:srgbClr val="FFFFFF"/>
              </a:solidFill>
              <a:effectLst/>
              <a:uFillTx/>
              <a:latin typeface="Arial"/>
            </a:endParaRPr>
          </a:p>
        </p:txBody>
      </p:sp>
      <p:sp>
        <p:nvSpPr>
          <p:cNvPr id="667" name="正方形/長方形 16"/>
          <p:cNvSpPr/>
          <p:nvPr/>
        </p:nvSpPr>
        <p:spPr>
          <a:xfrm>
            <a:off x="1728720" y="2464920"/>
            <a:ext cx="1984320" cy="485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chemeClr val="lt1"/>
                </a:solidFill>
                <a:effectLst/>
                <a:uFillTx/>
                <a:latin typeface="メイリオ"/>
                <a:ea typeface="メイリオ"/>
              </a:rPr>
              <a:t>API</a:t>
            </a:r>
            <a:r>
              <a:rPr lang="ja-JP" sz="1200" b="1" u="none" strike="noStrike">
                <a:solidFill>
                  <a:schemeClr val="lt1"/>
                </a:solidFill>
                <a:effectLst/>
                <a:uFillTx/>
                <a:latin typeface="メイリオ"/>
                <a:ea typeface="メイリオ"/>
              </a:rPr>
              <a:t>ツールあり</a:t>
            </a:r>
            <a:endParaRPr lang="en-US" sz="1200" b="0" u="none" strike="noStrike">
              <a:solidFill>
                <a:srgbClr val="FFFFFF"/>
              </a:solidFill>
              <a:effectLst/>
              <a:uFillTx/>
              <a:latin typeface="Arial"/>
            </a:endParaRPr>
          </a:p>
        </p:txBody>
      </p:sp>
      <p:sp>
        <p:nvSpPr>
          <p:cNvPr id="668" name="正方形/長方形 17"/>
          <p:cNvSpPr/>
          <p:nvPr/>
        </p:nvSpPr>
        <p:spPr>
          <a:xfrm>
            <a:off x="3939840" y="2445840"/>
            <a:ext cx="331164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ctr">
            <a:spAutoFit/>
          </a:bodyPr>
          <a:lstStyle/>
          <a:p>
            <a:pPr defTabSz="914400">
              <a:lnSpc>
                <a:spcPct val="100000"/>
              </a:lnSpc>
            </a:pPr>
            <a:r>
              <a:rPr lang="en-US" sz="1400" b="0" u="none" strike="noStrike">
                <a:solidFill>
                  <a:schemeClr val="dk1">
                    <a:lumMod val="50000"/>
                    <a:lumOff val="50000"/>
                  </a:schemeClr>
                </a:solidFill>
                <a:effectLst/>
                <a:uFillTx/>
                <a:latin typeface="メイリオ"/>
                <a:ea typeface="メイリオ"/>
              </a:rPr>
              <a:t>API</a:t>
            </a:r>
            <a:r>
              <a:rPr lang="ja-JP" sz="1400" b="0" u="none" strike="noStrike">
                <a:solidFill>
                  <a:schemeClr val="dk1">
                    <a:lumMod val="50000"/>
                    <a:lumOff val="50000"/>
                  </a:schemeClr>
                </a:solidFill>
                <a:effectLst/>
                <a:uFillTx/>
                <a:latin typeface="メイリオ"/>
                <a:ea typeface="メイリオ"/>
              </a:rPr>
              <a:t>ツール管理画面上にて</a:t>
            </a:r>
            <a:endParaRPr lang="en-US" sz="1400" b="0" u="none" strike="noStrike">
              <a:solidFill>
                <a:srgbClr val="000000"/>
              </a:solidFill>
              <a:effectLst/>
              <a:uFillTx/>
              <a:latin typeface="Arial"/>
            </a:endParaRPr>
          </a:p>
          <a:p>
            <a:pPr defTabSz="914400">
              <a:lnSpc>
                <a:spcPct val="100000"/>
              </a:lnSpc>
            </a:pPr>
            <a:r>
              <a:rPr lang="ja-JP" sz="1400" b="0" u="none" strike="noStrike">
                <a:solidFill>
                  <a:schemeClr val="dk1">
                    <a:lumMod val="50000"/>
                    <a:lumOff val="50000"/>
                  </a:schemeClr>
                </a:solidFill>
                <a:effectLst/>
                <a:uFillTx/>
                <a:latin typeface="メイリオ"/>
                <a:ea typeface="メイリオ"/>
              </a:rPr>
              <a:t>「特定期間に対する</a:t>
            </a:r>
            <a:r>
              <a:rPr lang="en-US" sz="1400" b="0" u="none" strike="noStrike">
                <a:solidFill>
                  <a:schemeClr val="dk1">
                    <a:lumMod val="50000"/>
                    <a:lumOff val="50000"/>
                  </a:schemeClr>
                </a:solidFill>
                <a:effectLst/>
                <a:uFillTx/>
                <a:latin typeface="メイリオ"/>
                <a:ea typeface="メイリオ"/>
              </a:rPr>
              <a:t>CV</a:t>
            </a:r>
            <a:r>
              <a:rPr lang="ja-JP" sz="1400" b="0" u="none" strike="noStrike">
                <a:solidFill>
                  <a:schemeClr val="dk1">
                    <a:lumMod val="50000"/>
                    <a:lumOff val="50000"/>
                  </a:schemeClr>
                </a:solidFill>
                <a:effectLst/>
                <a:uFillTx/>
                <a:latin typeface="メイリオ"/>
                <a:ea typeface="メイリオ"/>
              </a:rPr>
              <a:t>数算出」が可能</a:t>
            </a:r>
            <a:endParaRPr lang="en-US" sz="1400" b="0" u="none" strike="noStrike">
              <a:solidFill>
                <a:srgbClr val="000000"/>
              </a:solidFill>
              <a:effectLst/>
              <a:uFillTx/>
              <a:latin typeface="Arial"/>
            </a:endParaRPr>
          </a:p>
        </p:txBody>
      </p:sp>
      <p:sp>
        <p:nvSpPr>
          <p:cNvPr id="669" name="正方形/長方形 18"/>
          <p:cNvSpPr/>
          <p:nvPr/>
        </p:nvSpPr>
        <p:spPr>
          <a:xfrm>
            <a:off x="3939840" y="1705320"/>
            <a:ext cx="427356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ctr">
            <a:spAutoFit/>
          </a:bodyPr>
          <a:lstStyle/>
          <a:p>
            <a:pPr defTabSz="914400">
              <a:lnSpc>
                <a:spcPct val="100000"/>
              </a:lnSpc>
            </a:pPr>
            <a:r>
              <a:rPr lang="en-US" sz="1400" b="0" u="none" strike="noStrike">
                <a:solidFill>
                  <a:schemeClr val="dk1">
                    <a:lumMod val="50000"/>
                    <a:lumOff val="50000"/>
                  </a:schemeClr>
                </a:solidFill>
                <a:effectLst/>
                <a:uFillTx/>
                <a:latin typeface="メイリオ"/>
                <a:ea typeface="メイリオ"/>
              </a:rPr>
              <a:t>CV</a:t>
            </a:r>
            <a:r>
              <a:rPr lang="ja-JP" sz="1400" b="0" u="none" strike="noStrike">
                <a:solidFill>
                  <a:schemeClr val="dk1">
                    <a:lumMod val="50000"/>
                    <a:lumOff val="50000"/>
                  </a:schemeClr>
                </a:solidFill>
                <a:effectLst/>
                <a:uFillTx/>
                <a:latin typeface="メイリオ"/>
                <a:ea typeface="メイリオ"/>
              </a:rPr>
              <a:t>タグの設定に伴い、計測自体は可能だが</a:t>
            </a:r>
            <a:endParaRPr lang="en-US" sz="1400" b="0" u="none" strike="noStrike">
              <a:solidFill>
                <a:srgbClr val="000000"/>
              </a:solidFill>
              <a:effectLst/>
              <a:uFillTx/>
              <a:latin typeface="Arial"/>
            </a:endParaRPr>
          </a:p>
          <a:p>
            <a:pPr defTabSz="914400">
              <a:lnSpc>
                <a:spcPct val="100000"/>
              </a:lnSpc>
            </a:pPr>
            <a:r>
              <a:rPr lang="en-US" sz="1400" b="0" u="none" strike="noStrike">
                <a:solidFill>
                  <a:schemeClr val="dk1">
                    <a:lumMod val="50000"/>
                    <a:lumOff val="50000"/>
                  </a:schemeClr>
                </a:solidFill>
                <a:effectLst/>
                <a:uFillTx/>
                <a:latin typeface="メイリオ"/>
                <a:ea typeface="メイリオ"/>
              </a:rPr>
              <a:t>CV</a:t>
            </a:r>
            <a:r>
              <a:rPr lang="ja-JP" sz="1400" b="0" u="none" strike="noStrike">
                <a:solidFill>
                  <a:schemeClr val="dk1">
                    <a:lumMod val="50000"/>
                    <a:lumOff val="50000"/>
                  </a:schemeClr>
                </a:solidFill>
                <a:effectLst/>
                <a:uFillTx/>
                <a:latin typeface="メイリオ"/>
                <a:ea typeface="メイリオ"/>
              </a:rPr>
              <a:t>数</a:t>
            </a:r>
            <a:r>
              <a:rPr lang="en-US" sz="1400" b="0" u="none" strike="noStrike">
                <a:solidFill>
                  <a:schemeClr val="dk1">
                    <a:lumMod val="50000"/>
                    <a:lumOff val="50000"/>
                  </a:schemeClr>
                </a:solidFill>
                <a:effectLst/>
                <a:uFillTx/>
                <a:latin typeface="メイリオ"/>
                <a:ea typeface="メイリオ"/>
              </a:rPr>
              <a:t>50</a:t>
            </a:r>
            <a:r>
              <a:rPr lang="ja-JP" sz="1400" b="0" u="none" strike="noStrike">
                <a:solidFill>
                  <a:schemeClr val="dk1">
                    <a:lumMod val="50000"/>
                    <a:lumOff val="50000"/>
                  </a:schemeClr>
                </a:solidFill>
                <a:effectLst/>
                <a:uFillTx/>
                <a:latin typeface="メイリオ"/>
                <a:ea typeface="メイリオ"/>
              </a:rPr>
              <a:t>件以上での数値計測となる（管理画面上）</a:t>
            </a:r>
            <a:endParaRPr lang="en-US" sz="1400" b="0" u="none" strike="noStrike">
              <a:solidFill>
                <a:srgbClr val="000000"/>
              </a:solidFill>
              <a:effectLst/>
              <a:uFillTx/>
              <a:latin typeface="Arial"/>
            </a:endParaRPr>
          </a:p>
        </p:txBody>
      </p:sp>
      <p:sp>
        <p:nvSpPr>
          <p:cNvPr id="670" name="正方形/長方形 19"/>
          <p:cNvSpPr/>
          <p:nvPr/>
        </p:nvSpPr>
        <p:spPr>
          <a:xfrm>
            <a:off x="625680" y="2120040"/>
            <a:ext cx="645840" cy="3690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1800" b="0" u="none" strike="noStrike">
                <a:solidFill>
                  <a:schemeClr val="dk1"/>
                </a:solidFill>
                <a:effectLst/>
                <a:uFillTx/>
                <a:latin typeface="メイリオ"/>
                <a:ea typeface="メイリオ"/>
              </a:rPr>
              <a:t>通常</a:t>
            </a:r>
            <a:endParaRPr lang="en-US" sz="1800" b="0" u="none" strike="noStrike">
              <a:solidFill>
                <a:srgbClr val="000000"/>
              </a:solidFill>
              <a:effectLst/>
              <a:uFillTx/>
              <a:latin typeface="Arial"/>
            </a:endParaRPr>
          </a:p>
        </p:txBody>
      </p:sp>
      <p:sp>
        <p:nvSpPr>
          <p:cNvPr id="671" name="正方形/長方形 20"/>
          <p:cNvSpPr/>
          <p:nvPr/>
        </p:nvSpPr>
        <p:spPr>
          <a:xfrm>
            <a:off x="258840" y="3337920"/>
            <a:ext cx="9230040" cy="1052640"/>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sp>
        <p:nvSpPr>
          <p:cNvPr id="672" name="正方形/長方形 21"/>
          <p:cNvSpPr/>
          <p:nvPr/>
        </p:nvSpPr>
        <p:spPr>
          <a:xfrm>
            <a:off x="1728720" y="3527640"/>
            <a:ext cx="1984320" cy="70452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chemeClr val="lt1"/>
                </a:solidFill>
                <a:effectLst/>
                <a:uFillTx/>
                <a:latin typeface="メイリオ"/>
                <a:ea typeface="メイリオ"/>
              </a:rPr>
              <a:t>API</a:t>
            </a:r>
            <a:r>
              <a:rPr lang="ja-JP" sz="1200" b="1" u="none" strike="noStrike">
                <a:solidFill>
                  <a:schemeClr val="lt1"/>
                </a:solidFill>
                <a:effectLst/>
                <a:uFillTx/>
                <a:latin typeface="メイリオ"/>
                <a:ea typeface="メイリオ"/>
              </a:rPr>
              <a:t>ツール有無</a:t>
            </a:r>
            <a:endParaRPr lang="en-US" sz="1200" b="0" u="none" strike="noStrike">
              <a:solidFill>
                <a:srgbClr val="FFFFFF"/>
              </a:solidFill>
              <a:effectLst/>
              <a:uFillTx/>
              <a:latin typeface="Arial"/>
            </a:endParaRPr>
          </a:p>
          <a:p>
            <a:pPr algn="ctr" defTabSz="914400">
              <a:lnSpc>
                <a:spcPct val="100000"/>
              </a:lnSpc>
            </a:pPr>
            <a:r>
              <a:rPr lang="ja-JP" sz="1200" b="1" u="none" strike="noStrike">
                <a:solidFill>
                  <a:schemeClr val="lt1"/>
                </a:solidFill>
                <a:effectLst/>
                <a:uFillTx/>
                <a:latin typeface="メイリオ"/>
                <a:ea typeface="メイリオ"/>
              </a:rPr>
              <a:t>に関わらず</a:t>
            </a:r>
            <a:endParaRPr lang="en-US" sz="1200" b="0" u="none" strike="noStrike">
              <a:solidFill>
                <a:srgbClr val="FFFFFF"/>
              </a:solidFill>
              <a:effectLst/>
              <a:uFillTx/>
              <a:latin typeface="Arial"/>
            </a:endParaRPr>
          </a:p>
        </p:txBody>
      </p:sp>
      <p:sp>
        <p:nvSpPr>
          <p:cNvPr id="673" name="正方形/長方形 22"/>
          <p:cNvSpPr/>
          <p:nvPr/>
        </p:nvSpPr>
        <p:spPr>
          <a:xfrm>
            <a:off x="3939840" y="3618720"/>
            <a:ext cx="416448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ctr">
            <a:spAutoFit/>
          </a:bodyPr>
          <a:lstStyle/>
          <a:p>
            <a:pPr defTabSz="914400">
              <a:lnSpc>
                <a:spcPct val="100000"/>
              </a:lnSpc>
            </a:pPr>
            <a:r>
              <a:rPr lang="ja-JP" sz="1400" b="0" u="none" strike="noStrike">
                <a:solidFill>
                  <a:schemeClr val="dk1"/>
                </a:solidFill>
                <a:effectLst/>
                <a:uFillTx/>
                <a:latin typeface="メイリオ"/>
                <a:ea typeface="メイリオ"/>
              </a:rPr>
              <a:t>定期投稿、シナリオ、リッチメニュー等に設定の</a:t>
            </a:r>
            <a:endParaRPr lang="en-US" sz="1400" b="0" u="none" strike="noStrike">
              <a:solidFill>
                <a:srgbClr val="000000"/>
              </a:solidFill>
              <a:effectLst/>
              <a:uFillTx/>
              <a:latin typeface="Arial"/>
            </a:endParaRPr>
          </a:p>
          <a:p>
            <a:pPr defTabSz="914400">
              <a:lnSpc>
                <a:spcPct val="100000"/>
              </a:lnSpc>
            </a:pPr>
            <a:r>
              <a:rPr lang="ja-JP" sz="1400" b="0" u="none" strike="noStrike">
                <a:solidFill>
                  <a:schemeClr val="dk1"/>
                </a:solidFill>
                <a:effectLst/>
                <a:uFillTx/>
                <a:latin typeface="メイリオ"/>
                <a:ea typeface="メイリオ"/>
              </a:rPr>
              <a:t>リンクについて、</a:t>
            </a:r>
            <a:r>
              <a:rPr lang="en-US" sz="1400" b="0" u="none" strike="noStrike">
                <a:solidFill>
                  <a:srgbClr val="FF0000"/>
                </a:solidFill>
                <a:effectLst/>
                <a:uFillTx/>
                <a:latin typeface="メイリオ"/>
                <a:ea typeface="メイリオ"/>
              </a:rPr>
              <a:t>GA</a:t>
            </a:r>
            <a:r>
              <a:rPr lang="ja-JP" sz="1400" b="0" u="none" strike="noStrike">
                <a:solidFill>
                  <a:srgbClr val="FF0000"/>
                </a:solidFill>
                <a:effectLst/>
                <a:uFillTx/>
                <a:latin typeface="メイリオ"/>
                <a:ea typeface="メイリオ"/>
              </a:rPr>
              <a:t>、</a:t>
            </a:r>
            <a:r>
              <a:rPr lang="en-US" sz="1400" b="0" u="none" strike="noStrike">
                <a:solidFill>
                  <a:srgbClr val="FF0000"/>
                </a:solidFill>
                <a:effectLst/>
                <a:uFillTx/>
                <a:latin typeface="メイリオ"/>
                <a:ea typeface="メイリオ"/>
              </a:rPr>
              <a:t>MA</a:t>
            </a:r>
            <a:r>
              <a:rPr lang="ja-JP" sz="1400" b="0" u="none" strike="noStrike">
                <a:solidFill>
                  <a:srgbClr val="FF0000"/>
                </a:solidFill>
                <a:effectLst/>
                <a:uFillTx/>
                <a:latin typeface="メイリオ"/>
                <a:ea typeface="メイリオ"/>
              </a:rPr>
              <a:t>ツールでの計測可能</a:t>
            </a:r>
            <a:r>
              <a:rPr lang="ja-JP" sz="1400" b="0" u="none" strike="noStrike">
                <a:solidFill>
                  <a:schemeClr val="dk1"/>
                </a:solidFill>
                <a:effectLst/>
                <a:uFillTx/>
                <a:latin typeface="メイリオ"/>
                <a:ea typeface="メイリオ"/>
              </a:rPr>
              <a:t>に</a:t>
            </a:r>
            <a:endParaRPr lang="en-US" sz="1400" b="0" u="none" strike="noStrike">
              <a:solidFill>
                <a:srgbClr val="000000"/>
              </a:solidFill>
              <a:effectLst/>
              <a:uFillTx/>
              <a:latin typeface="Arial"/>
            </a:endParaRPr>
          </a:p>
        </p:txBody>
      </p:sp>
      <p:sp>
        <p:nvSpPr>
          <p:cNvPr id="674" name="正方形/長方形 23"/>
          <p:cNvSpPr/>
          <p:nvPr/>
        </p:nvSpPr>
        <p:spPr>
          <a:xfrm>
            <a:off x="571320" y="3649320"/>
            <a:ext cx="693720" cy="3690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1800" b="0" u="none" strike="noStrike">
                <a:solidFill>
                  <a:schemeClr val="dk1"/>
                </a:solidFill>
                <a:effectLst/>
                <a:uFillTx/>
                <a:latin typeface="メイリオ"/>
                <a:ea typeface="メイリオ"/>
              </a:rPr>
              <a:t>DYM</a:t>
            </a:r>
            <a:endParaRPr lang="en-US" sz="1800" b="0" u="none" strike="noStrike">
              <a:solidFill>
                <a:srgbClr val="000000"/>
              </a:solidFill>
              <a:effectLst/>
              <a:uFillTx/>
              <a:latin typeface="Arial"/>
            </a:endParaRPr>
          </a:p>
        </p:txBody>
      </p:sp>
      <p:pic>
        <p:nvPicPr>
          <p:cNvPr id="675" name="図 26"/>
          <p:cNvPicPr/>
          <p:nvPr/>
        </p:nvPicPr>
        <p:blipFill>
          <a:blip r:embed="rId4"/>
          <a:stretch/>
        </p:blipFill>
        <p:spPr>
          <a:xfrm>
            <a:off x="5173560" y="4510800"/>
            <a:ext cx="4218840" cy="1912680"/>
          </a:xfrm>
          <a:prstGeom prst="rect">
            <a:avLst/>
          </a:prstGeom>
          <a:noFill/>
          <a:ln w="0">
            <a:noFill/>
          </a:ln>
        </p:spPr>
      </p:pic>
      <p:sp>
        <p:nvSpPr>
          <p:cNvPr id="676" name="正方形/長方形 28"/>
          <p:cNvSpPr/>
          <p:nvPr/>
        </p:nvSpPr>
        <p:spPr>
          <a:xfrm>
            <a:off x="372960" y="4445280"/>
            <a:ext cx="4546080" cy="2022480"/>
          </a:xfrm>
          <a:prstGeom prst="rect">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677" name="正方形/長方形 29"/>
          <p:cNvSpPr/>
          <p:nvPr/>
        </p:nvSpPr>
        <p:spPr>
          <a:xfrm>
            <a:off x="5141520" y="4445280"/>
            <a:ext cx="4282560" cy="2022480"/>
          </a:xfrm>
          <a:prstGeom prst="rect">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678" name="正方形/長方形 30"/>
          <p:cNvSpPr/>
          <p:nvPr/>
        </p:nvSpPr>
        <p:spPr>
          <a:xfrm>
            <a:off x="788040" y="6081840"/>
            <a:ext cx="3659400" cy="322200"/>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lt1"/>
                </a:solidFill>
                <a:effectLst/>
                <a:uFillTx/>
                <a:latin typeface="メイリオ"/>
                <a:ea typeface="メイリオ"/>
              </a:rPr>
              <a:t>GA</a:t>
            </a:r>
            <a:r>
              <a:rPr lang="ja-JP" sz="1400" b="1" u="none" strike="noStrike">
                <a:solidFill>
                  <a:schemeClr val="lt1"/>
                </a:solidFill>
                <a:effectLst/>
                <a:uFillTx/>
                <a:latin typeface="メイリオ"/>
                <a:ea typeface="メイリオ"/>
              </a:rPr>
              <a:t>レポート（日次）</a:t>
            </a:r>
            <a:r>
              <a:rPr lang="en-US" sz="1100" b="1" u="none" strike="noStrike">
                <a:solidFill>
                  <a:schemeClr val="lt1"/>
                </a:solidFill>
                <a:effectLst/>
                <a:uFillTx/>
                <a:latin typeface="メイリオ"/>
                <a:ea typeface="メイリオ"/>
              </a:rPr>
              <a:t> ※サンプル</a:t>
            </a:r>
            <a:endParaRPr lang="en-US" sz="1100" b="0" u="none" strike="noStrike">
              <a:solidFill>
                <a:srgbClr val="000000"/>
              </a:solidFill>
              <a:effectLst/>
              <a:uFillTx/>
              <a:latin typeface="Arial"/>
            </a:endParaRPr>
          </a:p>
        </p:txBody>
      </p:sp>
      <p:sp>
        <p:nvSpPr>
          <p:cNvPr id="679" name="正方形/長方形 31"/>
          <p:cNvSpPr/>
          <p:nvPr/>
        </p:nvSpPr>
        <p:spPr>
          <a:xfrm>
            <a:off x="5453280" y="6081840"/>
            <a:ext cx="3659400" cy="322200"/>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lt1"/>
                </a:solidFill>
                <a:effectLst/>
                <a:uFillTx/>
                <a:latin typeface="メイリオ"/>
                <a:ea typeface="メイリオ"/>
              </a:rPr>
              <a:t>GA</a:t>
            </a:r>
            <a:r>
              <a:rPr lang="ja-JP" sz="1400" b="1" u="none" strike="noStrike">
                <a:solidFill>
                  <a:schemeClr val="lt1"/>
                </a:solidFill>
                <a:effectLst/>
                <a:uFillTx/>
                <a:latin typeface="メイリオ"/>
                <a:ea typeface="メイリオ"/>
              </a:rPr>
              <a:t>レポート（月次）</a:t>
            </a:r>
            <a:r>
              <a:rPr lang="en-US" sz="1100" b="1" u="none" strike="noStrike">
                <a:solidFill>
                  <a:schemeClr val="lt1"/>
                </a:solidFill>
                <a:effectLst/>
                <a:uFillTx/>
                <a:latin typeface="メイリオ"/>
                <a:ea typeface="メイリオ"/>
              </a:rPr>
              <a:t> ※サンプル</a:t>
            </a:r>
            <a:endParaRPr lang="en-US" sz="1100" b="0" u="none" strike="noStrike">
              <a:solidFill>
                <a:srgbClr val="000000"/>
              </a:solidFill>
              <a:effectLst/>
              <a:uFillTx/>
              <a:latin typeface="Arial"/>
            </a:endParaRPr>
          </a:p>
        </p:txBody>
      </p:sp>
      <p:sp>
        <p:nvSpPr>
          <p:cNvPr id="680" name="正方形/長方形 32"/>
          <p:cNvSpPr/>
          <p:nvPr/>
        </p:nvSpPr>
        <p:spPr>
          <a:xfrm>
            <a:off x="258840" y="776160"/>
            <a:ext cx="923004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pPr>
            <a:r>
              <a:rPr lang="ja-JP" sz="1400" b="0" u="none" strike="noStrike">
                <a:solidFill>
                  <a:schemeClr val="dk1"/>
                </a:solidFill>
                <a:effectLst/>
                <a:uFillTx/>
                <a:latin typeface="メイリオ"/>
                <a:ea typeface="メイリオ"/>
              </a:rPr>
              <a:t>コンサル費用＋アカウント費用に対する効果を可視化し、課題点を都度確認できる体制に。</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メイリオ"/>
                <a:ea typeface="メイリオ"/>
              </a:rPr>
              <a:t>投稿別</a:t>
            </a:r>
            <a:r>
              <a:rPr lang="en-US" sz="1400" b="0" u="none" strike="noStrike">
                <a:solidFill>
                  <a:schemeClr val="dk1"/>
                </a:solidFill>
                <a:effectLst/>
                <a:uFillTx/>
                <a:latin typeface="メイリオ"/>
                <a:ea typeface="メイリオ"/>
              </a:rPr>
              <a:t>×</a:t>
            </a:r>
            <a:r>
              <a:rPr lang="ja-JP" sz="1400" b="0" u="none" strike="noStrike">
                <a:solidFill>
                  <a:schemeClr val="dk1"/>
                </a:solidFill>
                <a:effectLst/>
                <a:uFillTx/>
                <a:latin typeface="メイリオ"/>
                <a:ea typeface="メイリオ"/>
              </a:rPr>
              <a:t>セグメント別でデータ化でき、</a:t>
            </a:r>
            <a:r>
              <a:rPr lang="en-US" sz="1400" b="0" u="none" strike="noStrike">
                <a:solidFill>
                  <a:schemeClr val="dk1"/>
                </a:solidFill>
                <a:effectLst/>
                <a:uFillTx/>
                <a:latin typeface="メイリオ"/>
                <a:ea typeface="メイリオ"/>
              </a:rPr>
              <a:t>AB</a:t>
            </a:r>
            <a:r>
              <a:rPr lang="ja-JP" sz="1400" b="0" u="none" strike="noStrike">
                <a:solidFill>
                  <a:schemeClr val="dk1"/>
                </a:solidFill>
                <a:effectLst/>
                <a:uFillTx/>
                <a:latin typeface="メイリオ"/>
                <a:ea typeface="メイリオ"/>
              </a:rPr>
              <a:t>テストとクリエイティブ検証を細かく実施。</a:t>
            </a:r>
            <a:endParaRPr lang="en-US" sz="1400" b="0" u="none" strike="noStrike">
              <a:solidFill>
                <a:srgbClr val="000000"/>
              </a:solidFill>
              <a:effectLst/>
              <a:uFillTx/>
              <a:latin typeface="Arial"/>
            </a:endParaRPr>
          </a:p>
        </p:txBody>
      </p:sp>
      <p:sp>
        <p:nvSpPr>
          <p:cNvPr id="681" name="Google Shape;156;p7"/>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rPr>
              <a:t>効果計測：配信・リッチメニューのリンクごとに成果を数値化</a:t>
            </a:r>
            <a:endParaRPr lang="en-US" sz="1600" b="0" u="none" strike="noStrike">
              <a:solidFill>
                <a:srgbClr val="000000"/>
              </a:solidFill>
              <a:effectLst/>
              <a:uFillTx/>
              <a:latin typeface="メイリオ"/>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2" name="正方形/長方形 3"/>
          <p:cNvSpPr/>
          <p:nvPr/>
        </p:nvSpPr>
        <p:spPr>
          <a:xfrm>
            <a:off x="253800" y="835560"/>
            <a:ext cx="2540880" cy="485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600" b="1" u="none" strike="noStrike">
                <a:solidFill>
                  <a:schemeClr val="lt1"/>
                </a:solidFill>
                <a:effectLst/>
                <a:uFillTx/>
                <a:latin typeface="メイリオ"/>
                <a:ea typeface="メイリオ"/>
              </a:rPr>
              <a:t>弊社体制図</a:t>
            </a:r>
            <a:endParaRPr lang="en-US" sz="1600" b="0" u="none" strike="noStrike">
              <a:solidFill>
                <a:srgbClr val="FFFFFF"/>
              </a:solidFill>
              <a:effectLst/>
              <a:uFillTx/>
              <a:latin typeface="Arial"/>
            </a:endParaRPr>
          </a:p>
        </p:txBody>
      </p:sp>
      <p:sp>
        <p:nvSpPr>
          <p:cNvPr id="683" name="Google Shape;156;p7"/>
          <p:cNvSpPr/>
          <p:nvPr/>
        </p:nvSpPr>
        <p:spPr>
          <a:xfrm>
            <a:off x="2857680" y="786240"/>
            <a:ext cx="7217280" cy="58428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chemeClr val="dk1">
                    <a:lumMod val="65000"/>
                    <a:lumOff val="35000"/>
                  </a:schemeClr>
                </a:solidFill>
                <a:effectLst/>
                <a:uFillTx/>
                <a:latin typeface="Meiryo"/>
                <a:ea typeface="Meiryo"/>
              </a:rPr>
              <a:t>GA</a:t>
            </a:r>
            <a:r>
              <a:rPr lang="ja-JP" sz="1600" b="1" u="none" strike="noStrike">
                <a:solidFill>
                  <a:schemeClr val="dk1">
                    <a:lumMod val="65000"/>
                    <a:lumOff val="35000"/>
                  </a:schemeClr>
                </a:solidFill>
                <a:effectLst/>
                <a:uFillTx/>
                <a:latin typeface="Meiryo"/>
                <a:ea typeface="Meiryo"/>
              </a:rPr>
              <a:t>及び</a:t>
            </a:r>
            <a:r>
              <a:rPr lang="en-US" sz="1600" b="1" u="none" strike="noStrike">
                <a:solidFill>
                  <a:schemeClr val="dk1">
                    <a:lumMod val="65000"/>
                    <a:lumOff val="35000"/>
                  </a:schemeClr>
                </a:solidFill>
                <a:effectLst/>
                <a:uFillTx/>
                <a:latin typeface="Meiryo"/>
                <a:ea typeface="Meiryo"/>
              </a:rPr>
              <a:t>MA</a:t>
            </a:r>
            <a:r>
              <a:rPr lang="ja-JP" sz="1600" b="1" u="none" strike="noStrike">
                <a:solidFill>
                  <a:schemeClr val="dk1">
                    <a:lumMod val="65000"/>
                    <a:lumOff val="35000"/>
                  </a:schemeClr>
                </a:solidFill>
                <a:effectLst/>
                <a:uFillTx/>
                <a:latin typeface="Meiryo"/>
                <a:ea typeface="Meiryo"/>
              </a:rPr>
              <a:t>ツール両面での計測ができるようパラメータ管理。</a:t>
            </a:r>
            <a:endParaRPr lang="en-US" sz="1600" b="0" u="none" strike="noStrike">
              <a:solidFill>
                <a:srgbClr val="000000"/>
              </a:solidFill>
              <a:effectLst/>
              <a:uFillTx/>
              <a:latin typeface="Arial"/>
            </a:endParaRPr>
          </a:p>
          <a:p>
            <a:pPr defTabSz="914400">
              <a:lnSpc>
                <a:spcPct val="100000"/>
              </a:lnSpc>
              <a:tabLst>
                <a:tab pos="0" algn="l"/>
              </a:tabLst>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公式アカウントの管理画面には出ない、サイト上の結果を紐づけ。</a:t>
            </a:r>
            <a:endParaRPr lang="en-US" sz="1600" b="0" u="none" strike="noStrike">
              <a:solidFill>
                <a:srgbClr val="000000"/>
              </a:solidFill>
              <a:effectLst/>
              <a:uFillTx/>
              <a:latin typeface="Arial"/>
            </a:endParaRPr>
          </a:p>
        </p:txBody>
      </p:sp>
      <p:sp>
        <p:nvSpPr>
          <p:cNvPr id="684" name="Google Shape;156;p7"/>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rPr>
              <a:t>体制：戦略から運用・制作まで一貫して対応</a:t>
            </a:r>
            <a:endParaRPr lang="en-US" sz="1600" b="0" u="none" strike="noStrike">
              <a:solidFill>
                <a:srgbClr val="000000"/>
              </a:solidFill>
              <a:effectLst/>
              <a:uFillTx/>
              <a:latin typeface="メイリオ"/>
            </a:endParaRPr>
          </a:p>
        </p:txBody>
      </p:sp>
      <p:sp>
        <p:nvSpPr>
          <p:cNvPr id="685" name="Shape 6"/>
          <p:cNvSpPr/>
          <p:nvPr/>
        </p:nvSpPr>
        <p:spPr>
          <a:xfrm>
            <a:off x="621000" y="3084480"/>
            <a:ext cx="4673880" cy="73800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r>
              <a:rPr lang="ja-JP" sz="1200" b="0" u="none" strike="noStrike">
                <a:solidFill>
                  <a:srgbClr val="1A1A1A"/>
                </a:solidFill>
                <a:effectLst/>
                <a:uFillTx/>
                <a:latin typeface="メイリオ"/>
                <a:ea typeface="メイリオ"/>
              </a:rPr>
              <a:t>　・本プロモーションの戦略立案 </a:t>
            </a:r>
            <a:r>
              <a:rPr lang="en-US" sz="1200" b="0" u="none" strike="noStrike">
                <a:solidFill>
                  <a:srgbClr val="1A1A1A"/>
                </a:solidFill>
                <a:effectLst/>
                <a:uFillTx/>
                <a:latin typeface="メイリオ"/>
                <a:ea typeface="メイリオ"/>
              </a:rPr>
              <a:t>/ </a:t>
            </a:r>
            <a:r>
              <a:rPr lang="ja-JP" sz="1200" b="0" u="none" strike="noStrike">
                <a:solidFill>
                  <a:srgbClr val="1A1A1A"/>
                </a:solidFill>
                <a:effectLst/>
                <a:uFillTx/>
                <a:latin typeface="メイリオ"/>
                <a:ea typeface="メイリオ"/>
              </a:rPr>
              <a:t>方針決定</a:t>
            </a:r>
            <a:endParaRPr lang="en-US" sz="1200" b="0" u="none" strike="noStrike">
              <a:solidFill>
                <a:srgbClr val="000000"/>
              </a:solidFill>
              <a:effectLst/>
              <a:uFillTx/>
              <a:latin typeface="Arial"/>
            </a:endParaRPr>
          </a:p>
        </p:txBody>
      </p:sp>
      <p:sp>
        <p:nvSpPr>
          <p:cNvPr id="686" name="Shape 15"/>
          <p:cNvSpPr/>
          <p:nvPr/>
        </p:nvSpPr>
        <p:spPr>
          <a:xfrm>
            <a:off x="660600" y="4383000"/>
            <a:ext cx="2148480" cy="57852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300" b="0" u="none" strike="noStrike">
              <a:solidFill>
                <a:srgbClr val="000000"/>
              </a:solidFill>
              <a:effectLst/>
              <a:uFillTx/>
              <a:latin typeface="Arial"/>
            </a:endParaRPr>
          </a:p>
          <a:p>
            <a:pPr defTabSz="914400">
              <a:lnSpc>
                <a:spcPct val="100000"/>
              </a:lnSpc>
            </a:pPr>
            <a:r>
              <a:rPr lang="zh-CN" sz="1100" b="0" u="none" strike="noStrike">
                <a:solidFill>
                  <a:srgbClr val="1A1A1A"/>
                </a:solidFill>
                <a:effectLst/>
                <a:uFillTx/>
                <a:latin typeface="メイリオ"/>
                <a:ea typeface="メイリオ"/>
              </a:rPr>
              <a:t>・アカウント設計</a:t>
            </a:r>
            <a:endParaRPr lang="en-US" sz="1100" b="0" u="none" strike="noStrike">
              <a:solidFill>
                <a:srgbClr val="000000"/>
              </a:solidFill>
              <a:effectLst/>
              <a:uFillTx/>
              <a:latin typeface="Arial"/>
            </a:endParaRPr>
          </a:p>
          <a:p>
            <a:pPr defTabSz="914400">
              <a:lnSpc>
                <a:spcPct val="100000"/>
              </a:lnSpc>
            </a:pPr>
            <a:r>
              <a:rPr lang="zh-CN" sz="1100" b="0" u="none" strike="noStrike">
                <a:solidFill>
                  <a:srgbClr val="1A1A1A"/>
                </a:solidFill>
                <a:effectLst/>
                <a:uFillTx/>
                <a:latin typeface="メイリオ"/>
                <a:ea typeface="メイリオ"/>
              </a:rPr>
              <a:t>・運用調整</a:t>
            </a:r>
            <a:endParaRPr lang="en-US" sz="1100" b="0" u="none" strike="noStrike">
              <a:solidFill>
                <a:srgbClr val="000000"/>
              </a:solidFill>
              <a:effectLst/>
              <a:uFillTx/>
              <a:latin typeface="Arial"/>
            </a:endParaRPr>
          </a:p>
        </p:txBody>
      </p:sp>
      <p:sp>
        <p:nvSpPr>
          <p:cNvPr id="687" name="Shape 16"/>
          <p:cNvSpPr/>
          <p:nvPr/>
        </p:nvSpPr>
        <p:spPr>
          <a:xfrm>
            <a:off x="645120" y="4065840"/>
            <a:ext cx="2148480" cy="347040"/>
          </a:xfrm>
          <a:prstGeom prst="rect">
            <a:avLst/>
          </a:prstGeom>
          <a:solidFill>
            <a:srgbClr val="1F3864"/>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350" b="1" u="none" strike="noStrike">
                <a:solidFill>
                  <a:srgbClr val="FFFFFF"/>
                </a:solidFill>
                <a:effectLst/>
                <a:uFillTx/>
                <a:latin typeface="メイリオ"/>
                <a:ea typeface="メイリオ"/>
              </a:rPr>
              <a:t>リス・</a:t>
            </a:r>
            <a:r>
              <a:rPr lang="en-US" sz="1350" b="1" u="none" strike="noStrike">
                <a:solidFill>
                  <a:srgbClr val="FFFFFF"/>
                </a:solidFill>
                <a:effectLst/>
                <a:uFillTx/>
                <a:latin typeface="メイリオ"/>
                <a:ea typeface="メイリオ"/>
              </a:rPr>
              <a:t>SNS</a:t>
            </a:r>
            <a:r>
              <a:rPr lang="ja-JP" sz="1350" b="1" u="none" strike="noStrike">
                <a:solidFill>
                  <a:srgbClr val="FFFFFF"/>
                </a:solidFill>
                <a:effectLst/>
                <a:uFillTx/>
                <a:latin typeface="メイリオ"/>
                <a:ea typeface="メイリオ"/>
              </a:rPr>
              <a:t>運用</a:t>
            </a:r>
            <a:endParaRPr lang="en-US" sz="1350" b="0" u="none" strike="noStrike">
              <a:solidFill>
                <a:srgbClr val="FFFFFF"/>
              </a:solidFill>
              <a:effectLst/>
              <a:uFillTx/>
              <a:latin typeface="Arial"/>
            </a:endParaRPr>
          </a:p>
        </p:txBody>
      </p:sp>
      <p:sp>
        <p:nvSpPr>
          <p:cNvPr id="688" name="Shape 26"/>
          <p:cNvSpPr/>
          <p:nvPr/>
        </p:nvSpPr>
        <p:spPr>
          <a:xfrm>
            <a:off x="633240" y="5567040"/>
            <a:ext cx="2139840" cy="62640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r>
              <a:rPr lang="en-US" sz="1200" b="0" u="none" strike="noStrike">
                <a:solidFill>
                  <a:srgbClr val="1A1A1A"/>
                </a:solidFill>
                <a:effectLst/>
                <a:uFillTx/>
                <a:latin typeface="メイリオ"/>
                <a:ea typeface="メイリオ"/>
              </a:rPr>
              <a:t>  ・運用調整</a:t>
            </a:r>
            <a:endParaRPr lang="en-US" sz="1200" b="0" u="none" strike="noStrike">
              <a:solidFill>
                <a:srgbClr val="000000"/>
              </a:solidFill>
              <a:effectLst/>
              <a:uFillTx/>
              <a:latin typeface="Arial"/>
            </a:endParaRPr>
          </a:p>
          <a:p>
            <a:pPr defTabSz="914400">
              <a:lnSpc>
                <a:spcPct val="100000"/>
              </a:lnSpc>
            </a:pPr>
            <a:r>
              <a:rPr lang="en-US" sz="1200" b="0" u="none" strike="noStrike">
                <a:solidFill>
                  <a:srgbClr val="1A1A1A"/>
                </a:solidFill>
                <a:effectLst/>
                <a:uFillTx/>
                <a:latin typeface="メイリオ"/>
                <a:ea typeface="メイリオ"/>
              </a:rPr>
              <a:t> ・入稿作業</a:t>
            </a:r>
            <a:endParaRPr lang="en-US" sz="1200" b="0" u="none" strike="noStrike">
              <a:solidFill>
                <a:srgbClr val="000000"/>
              </a:solidFill>
              <a:effectLst/>
              <a:uFillTx/>
              <a:latin typeface="Arial"/>
            </a:endParaRPr>
          </a:p>
        </p:txBody>
      </p:sp>
      <p:sp>
        <p:nvSpPr>
          <p:cNvPr id="689" name="Shape 27"/>
          <p:cNvSpPr/>
          <p:nvPr/>
        </p:nvSpPr>
        <p:spPr>
          <a:xfrm>
            <a:off x="633240" y="5231160"/>
            <a:ext cx="2139840" cy="347040"/>
          </a:xfrm>
          <a:prstGeom prst="rect">
            <a:avLst/>
          </a:prstGeom>
          <a:solidFill>
            <a:srgbClr val="1F3864"/>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200" b="1" u="none" strike="noStrike">
                <a:solidFill>
                  <a:srgbClr val="FFFFFF"/>
                </a:solidFill>
                <a:effectLst/>
                <a:uFillTx/>
                <a:latin typeface="メイリオ"/>
                <a:ea typeface="メイリオ"/>
              </a:rPr>
              <a:t>運用サポート</a:t>
            </a:r>
            <a:endParaRPr lang="en-US" sz="1200" b="0" u="none" strike="noStrike">
              <a:solidFill>
                <a:srgbClr val="FFFFFF"/>
              </a:solidFill>
              <a:effectLst/>
              <a:uFillTx/>
              <a:latin typeface="Arial"/>
            </a:endParaRPr>
          </a:p>
        </p:txBody>
      </p:sp>
      <p:sp>
        <p:nvSpPr>
          <p:cNvPr id="690" name="Text 28"/>
          <p:cNvSpPr/>
          <p:nvPr/>
        </p:nvSpPr>
        <p:spPr>
          <a:xfrm>
            <a:off x="633240" y="5231160"/>
            <a:ext cx="213984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endParaRPr lang="en-US" sz="1050" b="0" u="none" strike="noStrike">
              <a:solidFill>
                <a:schemeClr val="dk1"/>
              </a:solidFill>
              <a:effectLst/>
              <a:uFillTx/>
              <a:latin typeface="メイリオ"/>
              <a:ea typeface="メイリオ"/>
            </a:endParaRPr>
          </a:p>
        </p:txBody>
      </p:sp>
      <p:sp>
        <p:nvSpPr>
          <p:cNvPr id="691" name="Shape 31"/>
          <p:cNvSpPr/>
          <p:nvPr/>
        </p:nvSpPr>
        <p:spPr>
          <a:xfrm>
            <a:off x="2921400" y="5532120"/>
            <a:ext cx="2385720" cy="64116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1A1A1A"/>
                </a:solidFill>
                <a:effectLst/>
                <a:uFillTx/>
                <a:latin typeface="メイリオ"/>
                <a:ea typeface="メイリオ"/>
              </a:rPr>
              <a:t>・バナー制作</a:t>
            </a: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1A1A1A"/>
                </a:solidFill>
                <a:effectLst/>
                <a:uFillTx/>
                <a:latin typeface="メイリオ"/>
                <a:ea typeface="メイリオ"/>
              </a:rPr>
              <a:t>・</a:t>
            </a:r>
            <a:r>
              <a:rPr lang="en-US" sz="1200" b="0" u="none" strike="noStrike">
                <a:solidFill>
                  <a:srgbClr val="1A1A1A"/>
                </a:solidFill>
                <a:effectLst/>
                <a:uFillTx/>
                <a:latin typeface="メイリオ"/>
                <a:ea typeface="メイリオ"/>
              </a:rPr>
              <a:t>LP</a:t>
            </a:r>
            <a:r>
              <a:rPr lang="zh-CN" sz="1200" b="0" u="none" strike="noStrike">
                <a:solidFill>
                  <a:srgbClr val="1A1A1A"/>
                </a:solidFill>
                <a:effectLst/>
                <a:uFillTx/>
                <a:latin typeface="メイリオ"/>
                <a:ea typeface="メイリオ"/>
              </a:rPr>
              <a:t>制作</a:t>
            </a: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1A1A1A"/>
                </a:solidFill>
                <a:effectLst/>
                <a:uFillTx/>
                <a:latin typeface="メイリオ"/>
                <a:ea typeface="メイリオ"/>
              </a:rPr>
              <a:t>・動画制作</a:t>
            </a:r>
            <a:endParaRPr lang="en-US" sz="1200" b="0" u="none" strike="noStrike">
              <a:solidFill>
                <a:srgbClr val="000000"/>
              </a:solidFill>
              <a:effectLst/>
              <a:uFillTx/>
              <a:latin typeface="Arial"/>
            </a:endParaRPr>
          </a:p>
        </p:txBody>
      </p:sp>
      <p:sp>
        <p:nvSpPr>
          <p:cNvPr id="692" name="Shape 32"/>
          <p:cNvSpPr/>
          <p:nvPr/>
        </p:nvSpPr>
        <p:spPr>
          <a:xfrm>
            <a:off x="2921400" y="5221440"/>
            <a:ext cx="2385720" cy="347040"/>
          </a:xfrm>
          <a:prstGeom prst="rect">
            <a:avLst/>
          </a:prstGeom>
          <a:solidFill>
            <a:schemeClr val="bg1">
              <a:lumMod val="65000"/>
            </a:schemeClr>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200" b="1" u="none" strike="noStrike">
                <a:solidFill>
                  <a:srgbClr val="FFFFFF"/>
                </a:solidFill>
                <a:effectLst/>
                <a:uFillTx/>
                <a:latin typeface="メイリオ"/>
                <a:ea typeface="メイリオ"/>
              </a:rPr>
              <a:t>制作</a:t>
            </a:r>
            <a:endParaRPr lang="en-US" sz="1200" b="0" u="none" strike="noStrike">
              <a:solidFill>
                <a:srgbClr val="000000"/>
              </a:solidFill>
              <a:effectLst/>
              <a:uFillTx/>
              <a:latin typeface="Arial"/>
            </a:endParaRPr>
          </a:p>
        </p:txBody>
      </p:sp>
      <p:sp>
        <p:nvSpPr>
          <p:cNvPr id="693" name="Shape 38"/>
          <p:cNvSpPr/>
          <p:nvPr/>
        </p:nvSpPr>
        <p:spPr>
          <a:xfrm>
            <a:off x="5740560" y="4097160"/>
            <a:ext cx="3292920" cy="347040"/>
          </a:xfrm>
          <a:prstGeom prst="rect">
            <a:avLst/>
          </a:prstGeom>
          <a:solidFill>
            <a:srgbClr val="8496B8"/>
          </a:solidFill>
          <a:ln w="12700">
            <a:solidFill>
              <a:srgbClr val="8496B8"/>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媒体担当</a:t>
            </a:r>
            <a:endParaRPr lang="en-US" sz="1200" b="0" u="none" strike="noStrike">
              <a:solidFill>
                <a:srgbClr val="FFFFFF"/>
              </a:solidFill>
              <a:effectLst/>
              <a:uFillTx/>
              <a:latin typeface="Arial"/>
            </a:endParaRPr>
          </a:p>
        </p:txBody>
      </p:sp>
      <p:sp>
        <p:nvSpPr>
          <p:cNvPr id="694" name="Shape 20"/>
          <p:cNvSpPr/>
          <p:nvPr/>
        </p:nvSpPr>
        <p:spPr>
          <a:xfrm>
            <a:off x="2930040" y="4391640"/>
            <a:ext cx="2377080" cy="57852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1100" b="0" u="none" strike="noStrike">
              <a:solidFill>
                <a:srgbClr val="000000"/>
              </a:solidFill>
              <a:effectLst/>
              <a:uFillTx/>
              <a:latin typeface="Arial"/>
            </a:endParaRPr>
          </a:p>
          <a:p>
            <a:pPr defTabSz="914400">
              <a:lnSpc>
                <a:spcPct val="100000"/>
              </a:lnSpc>
            </a:pPr>
            <a:endParaRPr lang="en-US" sz="1100" b="0" u="none" strike="noStrike">
              <a:solidFill>
                <a:srgbClr val="000000"/>
              </a:solidFill>
              <a:effectLst/>
              <a:uFillTx/>
              <a:latin typeface="Arial"/>
            </a:endParaRPr>
          </a:p>
          <a:p>
            <a:pPr defTabSz="914400">
              <a:lnSpc>
                <a:spcPct val="100000"/>
              </a:lnSpc>
            </a:pPr>
            <a:r>
              <a:rPr lang="zh-CN" sz="1100" b="0" u="none" strike="noStrike">
                <a:solidFill>
                  <a:srgbClr val="1A1A1A"/>
                </a:solidFill>
                <a:effectLst/>
                <a:uFillTx/>
                <a:latin typeface="メイリオ"/>
                <a:ea typeface="メイリオ"/>
              </a:rPr>
              <a:t>・アカウント設計</a:t>
            </a:r>
            <a:r>
              <a:rPr lang="ja-JP" sz="1100" b="0" u="none" strike="noStrike">
                <a:solidFill>
                  <a:srgbClr val="1A1A1A"/>
                </a:solidFill>
                <a:effectLst/>
                <a:uFillTx/>
                <a:latin typeface="メイリオ"/>
                <a:ea typeface="メイリオ"/>
              </a:rPr>
              <a:t>・運用調整</a:t>
            </a:r>
            <a:endParaRPr lang="en-US" sz="1100" b="0" u="none" strike="noStrike">
              <a:solidFill>
                <a:srgbClr val="000000"/>
              </a:solidFill>
              <a:effectLst/>
              <a:uFillTx/>
              <a:latin typeface="Arial"/>
            </a:endParaRPr>
          </a:p>
          <a:p>
            <a:pPr defTabSz="914400">
              <a:lnSpc>
                <a:spcPct val="100000"/>
              </a:lnSpc>
            </a:pPr>
            <a:r>
              <a:rPr lang="ja-JP" sz="1100" b="0" u="none" strike="noStrike">
                <a:solidFill>
                  <a:srgbClr val="1A1A1A"/>
                </a:solidFill>
                <a:effectLst/>
                <a:uFillTx/>
                <a:latin typeface="メイリオ"/>
                <a:ea typeface="メイリオ"/>
              </a:rPr>
              <a:t>・クリエイティブディレクション</a:t>
            </a:r>
            <a:endParaRPr lang="en-US" sz="1100" b="0" u="none" strike="noStrike">
              <a:solidFill>
                <a:srgbClr val="000000"/>
              </a:solidFill>
              <a:effectLst/>
              <a:uFillTx/>
              <a:latin typeface="Arial"/>
            </a:endParaRPr>
          </a:p>
          <a:p>
            <a:pPr defTabSz="914400">
              <a:lnSpc>
                <a:spcPct val="100000"/>
              </a:lnSpc>
            </a:pPr>
            <a:endParaRPr lang="en-US" sz="1100" b="0" u="none" strike="noStrike">
              <a:solidFill>
                <a:srgbClr val="000000"/>
              </a:solidFill>
              <a:effectLst/>
              <a:uFillTx/>
              <a:latin typeface="Arial"/>
            </a:endParaRPr>
          </a:p>
          <a:p>
            <a:pPr defTabSz="914400">
              <a:lnSpc>
                <a:spcPct val="100000"/>
              </a:lnSpc>
            </a:pPr>
            <a:endParaRPr lang="en-US" sz="1100" b="0" u="none" strike="noStrike">
              <a:solidFill>
                <a:srgbClr val="000000"/>
              </a:solidFill>
              <a:effectLst/>
              <a:uFillTx/>
              <a:latin typeface="Arial"/>
            </a:endParaRPr>
          </a:p>
        </p:txBody>
      </p:sp>
      <p:sp>
        <p:nvSpPr>
          <p:cNvPr id="695" name="Shape 21"/>
          <p:cNvSpPr/>
          <p:nvPr/>
        </p:nvSpPr>
        <p:spPr>
          <a:xfrm>
            <a:off x="2930040" y="4059720"/>
            <a:ext cx="2377080" cy="347040"/>
          </a:xfrm>
          <a:prstGeom prst="rect">
            <a:avLst/>
          </a:prstGeom>
          <a:solidFill>
            <a:srgbClr val="FFC000"/>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350" b="1" u="none" strike="noStrike">
                <a:solidFill>
                  <a:srgbClr val="FFFFFF"/>
                </a:solidFill>
                <a:effectLst/>
                <a:uFillTx/>
                <a:latin typeface="メイリオ"/>
                <a:ea typeface="メイリオ"/>
              </a:rPr>
              <a:t>LINEOA</a:t>
            </a:r>
            <a:r>
              <a:rPr lang="zh-CN" sz="1350" b="1" u="none" strike="noStrike">
                <a:solidFill>
                  <a:srgbClr val="FFFFFF"/>
                </a:solidFill>
                <a:effectLst/>
                <a:uFillTx/>
                <a:latin typeface="メイリオ"/>
                <a:ea typeface="メイリオ"/>
              </a:rPr>
              <a:t>運用</a:t>
            </a:r>
            <a:endParaRPr lang="en-US" sz="1350" b="0" u="none" strike="noStrike">
              <a:solidFill>
                <a:srgbClr val="000000"/>
              </a:solidFill>
              <a:effectLst/>
              <a:uFillTx/>
              <a:latin typeface="Arial"/>
            </a:endParaRPr>
          </a:p>
        </p:txBody>
      </p:sp>
      <p:sp>
        <p:nvSpPr>
          <p:cNvPr id="696" name="Shape 6"/>
          <p:cNvSpPr/>
          <p:nvPr/>
        </p:nvSpPr>
        <p:spPr>
          <a:xfrm>
            <a:off x="5425920" y="3084480"/>
            <a:ext cx="3557520" cy="73800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1A1A1A"/>
                </a:solidFill>
                <a:effectLst/>
                <a:uFillTx/>
                <a:latin typeface="メイリオ"/>
                <a:ea typeface="メイリオ"/>
              </a:rPr>
              <a:t>・貴社担当との連絡やり取り全般</a:t>
            </a: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1A1A1A"/>
                </a:solidFill>
                <a:effectLst/>
                <a:uFillTx/>
                <a:latin typeface="メイリオ"/>
                <a:ea typeface="メイリオ"/>
              </a:rPr>
              <a:t>・書</a:t>
            </a:r>
            <a:r>
              <a:rPr lang="ja-JP" sz="1200" b="0" u="none" strike="noStrike">
                <a:solidFill>
                  <a:srgbClr val="1A1A1A"/>
                </a:solidFill>
                <a:effectLst/>
                <a:uFillTx/>
                <a:latin typeface="メイリオ"/>
                <a:ea typeface="メイリオ"/>
              </a:rPr>
              <a:t>類の作成等、事務面までサポート</a:t>
            </a:r>
            <a:endParaRPr lang="en-US" sz="1200" b="0" u="none" strike="noStrike">
              <a:solidFill>
                <a:srgbClr val="000000"/>
              </a:solidFill>
              <a:effectLst/>
              <a:uFillTx/>
              <a:latin typeface="Arial"/>
            </a:endParaRPr>
          </a:p>
        </p:txBody>
      </p:sp>
      <p:sp>
        <p:nvSpPr>
          <p:cNvPr id="697" name="Shape 7"/>
          <p:cNvSpPr/>
          <p:nvPr/>
        </p:nvSpPr>
        <p:spPr>
          <a:xfrm>
            <a:off x="5425920" y="2849400"/>
            <a:ext cx="3557520" cy="347040"/>
          </a:xfrm>
          <a:prstGeom prst="rect">
            <a:avLst/>
          </a:prstGeom>
          <a:solidFill>
            <a:schemeClr val="accent1">
              <a:lumMod val="75000"/>
            </a:schemeClr>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350" b="1" u="none" strike="noStrike">
                <a:solidFill>
                  <a:srgbClr val="FFFFFF"/>
                </a:solidFill>
                <a:effectLst/>
                <a:uFillTx/>
                <a:latin typeface="メイリオ"/>
                <a:ea typeface="メイリオ"/>
              </a:rPr>
              <a:t>営業 </a:t>
            </a:r>
            <a:r>
              <a:rPr lang="en-US" sz="1350" b="1" u="none" strike="noStrike">
                <a:solidFill>
                  <a:srgbClr val="FFFFFF"/>
                </a:solidFill>
                <a:effectLst/>
                <a:uFillTx/>
                <a:latin typeface="メイリオ"/>
                <a:ea typeface="メイリオ"/>
              </a:rPr>
              <a:t>/ </a:t>
            </a:r>
            <a:r>
              <a:rPr lang="zh-CN" sz="1350" b="1" u="none" strike="noStrike">
                <a:solidFill>
                  <a:srgbClr val="FFFFFF"/>
                </a:solidFill>
                <a:effectLst/>
                <a:uFillTx/>
                <a:latin typeface="メイリオ"/>
                <a:ea typeface="メイリオ"/>
              </a:rPr>
              <a:t>フロント対応（サブ）</a:t>
            </a:r>
            <a:endParaRPr lang="en-US" sz="1350" b="0" u="none" strike="noStrike">
              <a:solidFill>
                <a:srgbClr val="FFFFFF"/>
              </a:solidFill>
              <a:effectLst/>
              <a:uFillTx/>
              <a:latin typeface="Arial"/>
            </a:endParaRPr>
          </a:p>
        </p:txBody>
      </p:sp>
      <p:sp>
        <p:nvSpPr>
          <p:cNvPr id="698" name="Shape 7"/>
          <p:cNvSpPr/>
          <p:nvPr/>
        </p:nvSpPr>
        <p:spPr>
          <a:xfrm>
            <a:off x="612360" y="2849400"/>
            <a:ext cx="4682520" cy="347040"/>
          </a:xfrm>
          <a:prstGeom prst="rect">
            <a:avLst/>
          </a:prstGeom>
          <a:solidFill>
            <a:schemeClr val="accent1">
              <a:lumMod val="75000"/>
            </a:schemeClr>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350" b="1" u="none" strike="noStrike">
                <a:solidFill>
                  <a:srgbClr val="FFFFFF"/>
                </a:solidFill>
                <a:effectLst/>
                <a:uFillTx/>
                <a:latin typeface="メイリオ"/>
                <a:ea typeface="メイリオ"/>
              </a:rPr>
              <a:t>広告運用統括・コンサル</a:t>
            </a:r>
            <a:endParaRPr lang="en-US" sz="1350" b="0" u="none" strike="noStrike">
              <a:solidFill>
                <a:srgbClr val="FFFFFF"/>
              </a:solidFill>
              <a:effectLst/>
              <a:uFillTx/>
              <a:latin typeface="Arial"/>
            </a:endParaRPr>
          </a:p>
        </p:txBody>
      </p:sp>
      <p:sp>
        <p:nvSpPr>
          <p:cNvPr id="699" name="Shape 6"/>
          <p:cNvSpPr/>
          <p:nvPr/>
        </p:nvSpPr>
        <p:spPr>
          <a:xfrm>
            <a:off x="549000" y="1995840"/>
            <a:ext cx="8545680" cy="61524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200" b="0" u="none" strike="noStrike">
              <a:solidFill>
                <a:srgbClr val="000000"/>
              </a:solidFill>
              <a:effectLst/>
              <a:uFillTx/>
              <a:latin typeface="Arial"/>
            </a:endParaRPr>
          </a:p>
          <a:p>
            <a:pPr defTabSz="914400">
              <a:lnSpc>
                <a:spcPct val="100000"/>
              </a:lnSpc>
            </a:pPr>
            <a:r>
              <a:rPr lang="ja-JP" sz="1200" b="0" u="none" strike="noStrike">
                <a:solidFill>
                  <a:srgbClr val="1A1A1A"/>
                </a:solidFill>
                <a:effectLst/>
                <a:uFillTx/>
                <a:latin typeface="メイリオ"/>
                <a:ea typeface="メイリオ"/>
              </a:rPr>
              <a:t>　・本プロモーションの戦略立案 </a:t>
            </a:r>
            <a:r>
              <a:rPr lang="en-US" sz="1200" b="0" u="none" strike="noStrike">
                <a:solidFill>
                  <a:srgbClr val="1A1A1A"/>
                </a:solidFill>
                <a:effectLst/>
                <a:uFillTx/>
                <a:latin typeface="メイリオ"/>
                <a:ea typeface="メイリオ"/>
              </a:rPr>
              <a:t>/ </a:t>
            </a:r>
            <a:r>
              <a:rPr lang="ja-JP" sz="1200" b="0" u="none" strike="noStrike">
                <a:solidFill>
                  <a:srgbClr val="1A1A1A"/>
                </a:solidFill>
                <a:effectLst/>
                <a:uFillTx/>
                <a:latin typeface="メイリオ"/>
                <a:ea typeface="メイリオ"/>
              </a:rPr>
              <a:t>方針決定　　　　・貴社ご担当者様との連絡やり取り全般</a:t>
            </a:r>
            <a:endParaRPr lang="en-US" sz="1200" b="0" u="none" strike="noStrike">
              <a:solidFill>
                <a:srgbClr val="000000"/>
              </a:solidFill>
              <a:effectLst/>
              <a:uFillTx/>
              <a:latin typeface="Arial"/>
            </a:endParaRPr>
          </a:p>
        </p:txBody>
      </p:sp>
      <p:sp>
        <p:nvSpPr>
          <p:cNvPr id="700" name="Shape 7"/>
          <p:cNvSpPr/>
          <p:nvPr/>
        </p:nvSpPr>
        <p:spPr>
          <a:xfrm>
            <a:off x="549000" y="1729800"/>
            <a:ext cx="4073400" cy="347040"/>
          </a:xfrm>
          <a:prstGeom prst="rect">
            <a:avLst/>
          </a:prstGeom>
          <a:solidFill>
            <a:schemeClr val="accent1">
              <a:lumMod val="75000"/>
            </a:schemeClr>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350" b="1" u="none" strike="noStrike">
                <a:solidFill>
                  <a:srgbClr val="FFFFFF"/>
                </a:solidFill>
                <a:effectLst/>
                <a:uFillTx/>
                <a:latin typeface="メイリオ"/>
                <a:ea typeface="メイリオ"/>
              </a:rPr>
              <a:t>営業 </a:t>
            </a:r>
            <a:r>
              <a:rPr lang="en-US" sz="1350" b="1" u="none" strike="noStrike">
                <a:solidFill>
                  <a:srgbClr val="FFFFFF"/>
                </a:solidFill>
                <a:effectLst/>
                <a:uFillTx/>
                <a:latin typeface="メイリオ"/>
                <a:ea typeface="メイリオ"/>
              </a:rPr>
              <a:t>/ </a:t>
            </a:r>
            <a:r>
              <a:rPr lang="zh-CN" sz="1350" b="1" u="none" strike="noStrike">
                <a:solidFill>
                  <a:srgbClr val="FFFFFF"/>
                </a:solidFill>
                <a:effectLst/>
                <a:uFillTx/>
                <a:latin typeface="メイリオ"/>
                <a:ea typeface="メイリオ"/>
              </a:rPr>
              <a:t>フロント対応（</a:t>
            </a:r>
            <a:r>
              <a:rPr lang="ja-JP" sz="1350" b="1" u="none" strike="noStrike">
                <a:solidFill>
                  <a:srgbClr val="FFFFFF"/>
                </a:solidFill>
                <a:effectLst/>
                <a:uFillTx/>
                <a:latin typeface="メイリオ"/>
                <a:ea typeface="メイリオ"/>
              </a:rPr>
              <a:t>全体統括）　</a:t>
            </a:r>
            <a:endParaRPr lang="en-US" sz="1350" b="0" u="none" strike="noStrike">
              <a:solidFill>
                <a:srgbClr val="FFFFFF"/>
              </a:solidFill>
              <a:effectLst/>
              <a:uFillTx/>
              <a:latin typeface="Arial"/>
            </a:endParaRPr>
          </a:p>
        </p:txBody>
      </p:sp>
      <p:sp>
        <p:nvSpPr>
          <p:cNvPr id="701" name="Shape 38"/>
          <p:cNvSpPr/>
          <p:nvPr/>
        </p:nvSpPr>
        <p:spPr>
          <a:xfrm>
            <a:off x="5740560" y="4509000"/>
            <a:ext cx="3292920" cy="1146600"/>
          </a:xfrm>
          <a:prstGeom prst="rect">
            <a:avLst/>
          </a:prstGeom>
          <a:solidFill>
            <a:schemeClr val="accent1">
              <a:lumMod val="20000"/>
              <a:lumOff val="80000"/>
            </a:schemeClr>
          </a:solidFill>
          <a:ln w="12700">
            <a:solidFill>
              <a:srgbClr val="8496B8"/>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endParaRPr lang="en-US" sz="1200" b="0" u="none" strike="noStrike">
              <a:solidFill>
                <a:schemeClr val="lt1"/>
              </a:solidFill>
              <a:effectLst/>
              <a:uFillTx/>
              <a:latin typeface="メイリオ"/>
              <a:ea typeface="メイリオ"/>
            </a:endParaRPr>
          </a:p>
        </p:txBody>
      </p:sp>
      <p:sp>
        <p:nvSpPr>
          <p:cNvPr id="702" name="矢印: 下 35"/>
          <p:cNvSpPr/>
          <p:nvPr/>
        </p:nvSpPr>
        <p:spPr>
          <a:xfrm>
            <a:off x="1528200" y="373500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03" name="矢印: 下 36"/>
          <p:cNvSpPr/>
          <p:nvPr/>
        </p:nvSpPr>
        <p:spPr>
          <a:xfrm>
            <a:off x="3987360" y="374040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pic>
        <p:nvPicPr>
          <p:cNvPr id="704" name="Picture 2"/>
          <p:cNvPicPr/>
          <p:nvPr/>
        </p:nvPicPr>
        <p:blipFill>
          <a:blip r:embed="rId3"/>
          <a:stretch/>
        </p:blipFill>
        <p:spPr>
          <a:xfrm>
            <a:off x="6549840" y="4692960"/>
            <a:ext cx="569520" cy="375840"/>
          </a:xfrm>
          <a:prstGeom prst="rect">
            <a:avLst/>
          </a:prstGeom>
          <a:noFill/>
          <a:ln w="0">
            <a:noFill/>
          </a:ln>
        </p:spPr>
      </p:pic>
      <p:pic>
        <p:nvPicPr>
          <p:cNvPr id="705" name="Picture 4" descr="ロゴガイドライン｜LINEヤフー for Business"/>
          <p:cNvPicPr/>
          <p:nvPr/>
        </p:nvPicPr>
        <p:blipFill>
          <a:blip r:embed="rId4"/>
          <a:stretch/>
        </p:blipFill>
        <p:spPr>
          <a:xfrm>
            <a:off x="4973040" y="4459680"/>
            <a:ext cx="2356920" cy="855360"/>
          </a:xfrm>
          <a:prstGeom prst="rect">
            <a:avLst/>
          </a:prstGeom>
          <a:noFill/>
          <a:ln w="0">
            <a:noFill/>
          </a:ln>
        </p:spPr>
      </p:pic>
      <p:pic>
        <p:nvPicPr>
          <p:cNvPr id="706" name="図 48"/>
          <p:cNvPicPr/>
          <p:nvPr/>
        </p:nvPicPr>
        <p:blipFill>
          <a:blip r:embed="rId5"/>
          <a:srcRect l="10000" t="9659" r="9718" b="9659"/>
          <a:stretch/>
        </p:blipFill>
        <p:spPr>
          <a:xfrm>
            <a:off x="7294320" y="4673520"/>
            <a:ext cx="411120" cy="412920"/>
          </a:xfrm>
          <a:prstGeom prst="rect">
            <a:avLst/>
          </a:prstGeom>
          <a:noFill/>
          <a:ln w="0">
            <a:noFill/>
          </a:ln>
        </p:spPr>
      </p:pic>
      <p:pic>
        <p:nvPicPr>
          <p:cNvPr id="707" name="Picture 10" descr="Google ロゴ（グーグル） – ICONLAB（アイコンラボ）"/>
          <p:cNvPicPr/>
          <p:nvPr/>
        </p:nvPicPr>
        <p:blipFill>
          <a:blip r:embed="rId6"/>
          <a:stretch/>
        </p:blipFill>
        <p:spPr>
          <a:xfrm>
            <a:off x="6916320" y="5170680"/>
            <a:ext cx="1167120" cy="382680"/>
          </a:xfrm>
          <a:prstGeom prst="rect">
            <a:avLst/>
          </a:prstGeom>
          <a:noFill/>
          <a:ln w="0">
            <a:noFill/>
          </a:ln>
        </p:spPr>
      </p:pic>
      <p:sp>
        <p:nvSpPr>
          <p:cNvPr id="708" name="AutoShape 16" descr="TikTok Vector Logo - Download Free SVG Icon | Worldvectorlogo"/>
          <p:cNvSpPr/>
          <p:nvPr/>
        </p:nvSpPr>
        <p:spPr>
          <a:xfrm>
            <a:off x="4800600" y="3276720"/>
            <a:ext cx="304560" cy="304560"/>
          </a:xfrm>
          <a:prstGeom prst="rect">
            <a:avLst/>
          </a:prstGeom>
          <a:noFill/>
          <a:ln w="0">
            <a:noFill/>
          </a:ln>
        </p:spPr>
        <p:style>
          <a:lnRef idx="0">
            <a:scrgbClr r="0" g="0" b="0"/>
          </a:lnRef>
          <a:fillRef idx="0">
            <a:scrgbClr r="0" g="0" b="0"/>
          </a:fillRef>
          <a:effectRef idx="0">
            <a:scrgbClr r="0" g="0" b="0"/>
          </a:effectRef>
          <a:fontRef idx="minor"/>
        </p:style>
        <p:txBody>
          <a:bodyPr numCol="1" spcCol="0" anchor="t">
            <a:noAutofit/>
          </a:bodyPr>
          <a:lstStyle/>
          <a:p>
            <a:pPr defTabSz="914400">
              <a:lnSpc>
                <a:spcPct val="100000"/>
              </a:lnSpc>
            </a:pPr>
            <a:endParaRPr lang="en-US" sz="1800" b="0" u="none" strike="noStrike">
              <a:solidFill>
                <a:schemeClr val="dk1"/>
              </a:solidFill>
              <a:effectLst/>
              <a:uFillTx/>
              <a:latin typeface="Calibri"/>
            </a:endParaRPr>
          </a:p>
        </p:txBody>
      </p:sp>
      <p:pic>
        <p:nvPicPr>
          <p:cNvPr id="709" name="グラフィックス 54"/>
          <p:cNvPicPr/>
          <p:nvPr/>
        </p:nvPicPr>
        <p:blipFill>
          <a:blip>
            <a:extLst>
              <a:ext uri="{96DAC541-7B7A-43D3-8B79-37D633B846F1}">
                <asvg:svgBlip xmlns:asvg="http://schemas.microsoft.com/office/drawing/2016/SVG/main" r:embed="rId7"/>
              </a:ext>
            </a:extLst>
          </a:blip>
          <a:stretch/>
        </p:blipFill>
        <p:spPr>
          <a:xfrm>
            <a:off x="7915320" y="4592520"/>
            <a:ext cx="430920" cy="494640"/>
          </a:xfrm>
          <a:prstGeom prst="rect">
            <a:avLst/>
          </a:prstGeom>
          <a:noFill/>
          <a:ln w="0">
            <a:noFill/>
          </a:ln>
        </p:spPr>
      </p:pic>
      <p:pic>
        <p:nvPicPr>
          <p:cNvPr id="710" name="Picture 18" descr="スマートニュースはSNSでも情報を発信しています"/>
          <p:cNvPicPr/>
          <p:nvPr/>
        </p:nvPicPr>
        <p:blipFill>
          <a:blip r:embed="rId8"/>
          <a:srcRect r="70057"/>
          <a:stretch/>
        </p:blipFill>
        <p:spPr>
          <a:xfrm>
            <a:off x="8334000" y="4584600"/>
            <a:ext cx="564120" cy="579960"/>
          </a:xfrm>
          <a:prstGeom prst="rect">
            <a:avLst/>
          </a:prstGeom>
          <a:noFill/>
          <a:ln w="0">
            <a:noFill/>
          </a:ln>
        </p:spPr>
      </p:pic>
      <p:sp>
        <p:nvSpPr>
          <p:cNvPr id="711" name="矢印: 下 55"/>
          <p:cNvSpPr/>
          <p:nvPr/>
        </p:nvSpPr>
        <p:spPr>
          <a:xfrm>
            <a:off x="2694240" y="252900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2" name="矢印: 下 56"/>
          <p:cNvSpPr/>
          <p:nvPr/>
        </p:nvSpPr>
        <p:spPr>
          <a:xfrm>
            <a:off x="7125480" y="250020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3" name="矢印: 下 57"/>
          <p:cNvSpPr/>
          <p:nvPr/>
        </p:nvSpPr>
        <p:spPr>
          <a:xfrm>
            <a:off x="7077960" y="369252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4" name="矢印: 下 58"/>
          <p:cNvSpPr/>
          <p:nvPr/>
        </p:nvSpPr>
        <p:spPr>
          <a:xfrm>
            <a:off x="1531440" y="494316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5" name="矢印: 下 59"/>
          <p:cNvSpPr/>
          <p:nvPr/>
        </p:nvSpPr>
        <p:spPr>
          <a:xfrm>
            <a:off x="3985200" y="494676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6" name="矢印: 下 60"/>
          <p:cNvSpPr/>
          <p:nvPr/>
        </p:nvSpPr>
        <p:spPr>
          <a:xfrm rot="17887800">
            <a:off x="5383800" y="462204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7" name="矢印: 下 61"/>
          <p:cNvSpPr/>
          <p:nvPr/>
        </p:nvSpPr>
        <p:spPr>
          <a:xfrm rot="7261800">
            <a:off x="5310360" y="435996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8" name="Google Shape;156;p7"/>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rPr>
              <a:t>スケジュール：お申込みから運用開始までの5ステップ</a:t>
            </a:r>
            <a:endParaRPr lang="en-US" sz="1600" b="0" u="none" strike="noStrike">
              <a:solidFill>
                <a:srgbClr val="000000"/>
              </a:solidFill>
              <a:effectLst/>
              <a:uFillTx/>
              <a:latin typeface="メイリオ"/>
            </a:endParaRPr>
          </a:p>
        </p:txBody>
      </p:sp>
      <p:sp>
        <p:nvSpPr>
          <p:cNvPr id="719" name="角丸四角形 27"/>
          <p:cNvSpPr/>
          <p:nvPr/>
        </p:nvSpPr>
        <p:spPr>
          <a:xfrm>
            <a:off x="910800" y="1994040"/>
            <a:ext cx="2144160" cy="520200"/>
          </a:xfrm>
          <a:prstGeom prst="roundRect">
            <a:avLst>
              <a:gd name="adj" fmla="val 4701"/>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0" u="none" strike="noStrike">
                <a:solidFill>
                  <a:schemeClr val="dk1">
                    <a:lumMod val="50000"/>
                    <a:lumOff val="50000"/>
                  </a:schemeClr>
                </a:solidFill>
                <a:effectLst/>
                <a:uFillTx/>
                <a:latin typeface="メイリオ"/>
                <a:ea typeface="メイリオ"/>
              </a:rPr>
              <a:t>STEP1</a:t>
            </a:r>
            <a:endParaRPr lang="en-US" sz="1800" b="0" u="none" strike="noStrike">
              <a:solidFill>
                <a:srgbClr val="000000"/>
              </a:solidFill>
              <a:effectLst/>
              <a:uFillTx/>
              <a:latin typeface="Arial"/>
            </a:endParaRPr>
          </a:p>
        </p:txBody>
      </p:sp>
      <p:sp>
        <p:nvSpPr>
          <p:cNvPr id="720" name="角丸四角形 28"/>
          <p:cNvSpPr/>
          <p:nvPr/>
        </p:nvSpPr>
        <p:spPr>
          <a:xfrm>
            <a:off x="910800" y="3537000"/>
            <a:ext cx="2144160" cy="520200"/>
          </a:xfrm>
          <a:prstGeom prst="roundRect">
            <a:avLst>
              <a:gd name="adj" fmla="val 4701"/>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0" u="none" strike="noStrike">
                <a:solidFill>
                  <a:schemeClr val="dk1">
                    <a:lumMod val="50000"/>
                    <a:lumOff val="50000"/>
                  </a:schemeClr>
                </a:solidFill>
                <a:effectLst/>
                <a:uFillTx/>
                <a:latin typeface="メイリオ"/>
                <a:ea typeface="メイリオ"/>
              </a:rPr>
              <a:t>STEP3</a:t>
            </a:r>
            <a:endParaRPr lang="en-US" sz="1800" b="0" u="none" strike="noStrike">
              <a:solidFill>
                <a:srgbClr val="000000"/>
              </a:solidFill>
              <a:effectLst/>
              <a:uFillTx/>
              <a:latin typeface="Arial"/>
            </a:endParaRPr>
          </a:p>
        </p:txBody>
      </p:sp>
      <p:sp>
        <p:nvSpPr>
          <p:cNvPr id="721" name="角丸四角形 30"/>
          <p:cNvSpPr/>
          <p:nvPr/>
        </p:nvSpPr>
        <p:spPr>
          <a:xfrm>
            <a:off x="910800" y="2765520"/>
            <a:ext cx="2144160" cy="520200"/>
          </a:xfrm>
          <a:prstGeom prst="roundRect">
            <a:avLst>
              <a:gd name="adj" fmla="val 4701"/>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0" u="none" strike="noStrike">
                <a:solidFill>
                  <a:schemeClr val="dk1">
                    <a:lumMod val="50000"/>
                    <a:lumOff val="50000"/>
                  </a:schemeClr>
                </a:solidFill>
                <a:effectLst/>
                <a:uFillTx/>
                <a:latin typeface="メイリオ"/>
                <a:ea typeface="メイリオ"/>
              </a:rPr>
              <a:t>STEP2</a:t>
            </a:r>
            <a:endParaRPr lang="en-US" sz="1800" b="0" u="none" strike="noStrike">
              <a:solidFill>
                <a:srgbClr val="000000"/>
              </a:solidFill>
              <a:effectLst/>
              <a:uFillTx/>
              <a:latin typeface="Arial"/>
            </a:endParaRPr>
          </a:p>
        </p:txBody>
      </p:sp>
      <p:sp>
        <p:nvSpPr>
          <p:cNvPr id="722" name="角丸四角形 31"/>
          <p:cNvSpPr/>
          <p:nvPr/>
        </p:nvSpPr>
        <p:spPr>
          <a:xfrm>
            <a:off x="910800" y="4308480"/>
            <a:ext cx="2144160" cy="520200"/>
          </a:xfrm>
          <a:prstGeom prst="roundRect">
            <a:avLst>
              <a:gd name="adj" fmla="val 4701"/>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0" u="none" strike="noStrike">
                <a:solidFill>
                  <a:schemeClr val="dk1">
                    <a:lumMod val="50000"/>
                    <a:lumOff val="50000"/>
                  </a:schemeClr>
                </a:solidFill>
                <a:effectLst/>
                <a:uFillTx/>
                <a:latin typeface="メイリオ"/>
                <a:ea typeface="メイリオ"/>
              </a:rPr>
              <a:t>STEP4</a:t>
            </a:r>
            <a:endParaRPr lang="en-US" sz="1800" b="0" u="none" strike="noStrike">
              <a:solidFill>
                <a:srgbClr val="000000"/>
              </a:solidFill>
              <a:effectLst/>
              <a:uFillTx/>
              <a:latin typeface="Arial"/>
            </a:endParaRPr>
          </a:p>
        </p:txBody>
      </p:sp>
      <p:sp>
        <p:nvSpPr>
          <p:cNvPr id="723" name="角丸四角形 32"/>
          <p:cNvSpPr/>
          <p:nvPr/>
        </p:nvSpPr>
        <p:spPr>
          <a:xfrm>
            <a:off x="910800" y="5080320"/>
            <a:ext cx="2144160" cy="520200"/>
          </a:xfrm>
          <a:prstGeom prst="roundRect">
            <a:avLst>
              <a:gd name="adj" fmla="val 4701"/>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0" u="none" strike="noStrike">
                <a:solidFill>
                  <a:schemeClr val="dk1">
                    <a:lumMod val="50000"/>
                    <a:lumOff val="50000"/>
                  </a:schemeClr>
                </a:solidFill>
                <a:effectLst/>
                <a:uFillTx/>
                <a:latin typeface="メイリオ"/>
                <a:ea typeface="メイリオ"/>
              </a:rPr>
              <a:t>STEP5</a:t>
            </a:r>
            <a:endParaRPr lang="en-US" sz="1800" b="0" u="none" strike="noStrike">
              <a:solidFill>
                <a:srgbClr val="000000"/>
              </a:solidFill>
              <a:effectLst/>
              <a:uFillTx/>
              <a:latin typeface="Arial"/>
            </a:endParaRPr>
          </a:p>
        </p:txBody>
      </p:sp>
      <p:sp>
        <p:nvSpPr>
          <p:cNvPr id="724" name="正方形/長方形 1"/>
          <p:cNvSpPr/>
          <p:nvPr/>
        </p:nvSpPr>
        <p:spPr>
          <a:xfrm>
            <a:off x="4600800" y="2266920"/>
            <a:ext cx="1638000" cy="391608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25" name="角丸四角形 39"/>
          <p:cNvSpPr/>
          <p:nvPr/>
        </p:nvSpPr>
        <p:spPr>
          <a:xfrm>
            <a:off x="3133800" y="1994040"/>
            <a:ext cx="4749480" cy="520200"/>
          </a:xfrm>
          <a:prstGeom prst="roundRect">
            <a:avLst>
              <a:gd name="adj" fmla="val 4701"/>
            </a:avLst>
          </a:prstGeom>
          <a:solidFill>
            <a:schemeClr val="bg1"/>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800" b="0" u="none" strike="noStrike">
                <a:solidFill>
                  <a:schemeClr val="lt1">
                    <a:lumMod val="50000"/>
                  </a:schemeClr>
                </a:solidFill>
                <a:effectLst/>
                <a:uFillTx/>
                <a:latin typeface="メイリオ"/>
                <a:ea typeface="メイリオ"/>
              </a:rPr>
              <a:t>お申込み（書類締結）</a:t>
            </a:r>
            <a:endParaRPr lang="en-US" sz="1800" b="0" u="none" strike="noStrike">
              <a:solidFill>
                <a:srgbClr val="000000"/>
              </a:solidFill>
              <a:effectLst/>
              <a:uFillTx/>
              <a:latin typeface="Arial"/>
            </a:endParaRPr>
          </a:p>
        </p:txBody>
      </p:sp>
      <p:sp>
        <p:nvSpPr>
          <p:cNvPr id="726" name="角丸四角形 40"/>
          <p:cNvSpPr/>
          <p:nvPr/>
        </p:nvSpPr>
        <p:spPr>
          <a:xfrm>
            <a:off x="3133800" y="3537000"/>
            <a:ext cx="4749480" cy="520200"/>
          </a:xfrm>
          <a:prstGeom prst="roundRect">
            <a:avLst>
              <a:gd name="adj" fmla="val 4701"/>
            </a:avLst>
          </a:prstGeom>
          <a:solidFill>
            <a:schemeClr val="bg1"/>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800" b="0" u="none" strike="noStrike">
                <a:solidFill>
                  <a:schemeClr val="lt1">
                    <a:lumMod val="50000"/>
                  </a:schemeClr>
                </a:solidFill>
                <a:effectLst/>
                <a:uFillTx/>
                <a:latin typeface="メイリオ"/>
                <a:ea typeface="メイリオ"/>
              </a:rPr>
              <a:t>連携の設定 </a:t>
            </a:r>
            <a:r>
              <a:rPr lang="en-US" sz="1800" b="0" u="none" strike="noStrike">
                <a:solidFill>
                  <a:schemeClr val="lt1">
                    <a:lumMod val="50000"/>
                  </a:schemeClr>
                </a:solidFill>
                <a:effectLst/>
                <a:uFillTx/>
                <a:latin typeface="メイリオ"/>
                <a:ea typeface="メイリオ"/>
              </a:rPr>
              <a:t>/ </a:t>
            </a:r>
            <a:r>
              <a:rPr lang="ja-JP" sz="1800" b="0" u="none" strike="noStrike">
                <a:solidFill>
                  <a:schemeClr val="lt1">
                    <a:lumMod val="50000"/>
                  </a:schemeClr>
                </a:solidFill>
                <a:effectLst/>
                <a:uFillTx/>
                <a:latin typeface="メイリオ"/>
                <a:ea typeface="メイリオ"/>
              </a:rPr>
              <a:t>タグ確認</a:t>
            </a:r>
            <a:endParaRPr lang="en-US" sz="1800" b="0" u="none" strike="noStrike">
              <a:solidFill>
                <a:srgbClr val="000000"/>
              </a:solidFill>
              <a:effectLst/>
              <a:uFillTx/>
              <a:latin typeface="Arial"/>
            </a:endParaRPr>
          </a:p>
        </p:txBody>
      </p:sp>
      <p:sp>
        <p:nvSpPr>
          <p:cNvPr id="727" name="角丸四角形 41"/>
          <p:cNvSpPr/>
          <p:nvPr/>
        </p:nvSpPr>
        <p:spPr>
          <a:xfrm>
            <a:off x="3133800" y="2765520"/>
            <a:ext cx="4749480" cy="520200"/>
          </a:xfrm>
          <a:prstGeom prst="roundRect">
            <a:avLst>
              <a:gd name="adj" fmla="val 4701"/>
            </a:avLst>
          </a:prstGeom>
          <a:solidFill>
            <a:schemeClr val="bg1"/>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800" b="0" u="none" strike="noStrike">
                <a:solidFill>
                  <a:schemeClr val="lt1">
                    <a:lumMod val="50000"/>
                  </a:schemeClr>
                </a:solidFill>
                <a:effectLst/>
                <a:uFillTx/>
                <a:latin typeface="メイリオ"/>
                <a:ea typeface="メイリオ"/>
              </a:rPr>
              <a:t>キックオフ</a:t>
            </a:r>
            <a:r>
              <a:rPr lang="en-US" sz="1800" b="0" u="none" strike="noStrike">
                <a:solidFill>
                  <a:schemeClr val="lt1">
                    <a:lumMod val="50000"/>
                  </a:schemeClr>
                </a:solidFill>
                <a:effectLst/>
                <a:uFillTx/>
                <a:latin typeface="メイリオ"/>
                <a:ea typeface="メイリオ"/>
              </a:rPr>
              <a:t>MTG</a:t>
            </a:r>
            <a:endParaRPr lang="en-US" sz="1800" b="0" u="none" strike="noStrike">
              <a:solidFill>
                <a:srgbClr val="000000"/>
              </a:solidFill>
              <a:effectLst/>
              <a:uFillTx/>
              <a:latin typeface="Arial"/>
            </a:endParaRPr>
          </a:p>
        </p:txBody>
      </p:sp>
      <p:sp>
        <p:nvSpPr>
          <p:cNvPr id="728" name="角丸四角形 43"/>
          <p:cNvSpPr/>
          <p:nvPr/>
        </p:nvSpPr>
        <p:spPr>
          <a:xfrm>
            <a:off x="3133800" y="4308480"/>
            <a:ext cx="4749480" cy="520200"/>
          </a:xfrm>
          <a:prstGeom prst="roundRect">
            <a:avLst>
              <a:gd name="adj" fmla="val 4701"/>
            </a:avLst>
          </a:prstGeom>
          <a:solidFill>
            <a:schemeClr val="bg1"/>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800" b="0" u="none" strike="noStrike">
                <a:solidFill>
                  <a:schemeClr val="lt1">
                    <a:lumMod val="50000"/>
                  </a:schemeClr>
                </a:solidFill>
                <a:effectLst/>
                <a:uFillTx/>
                <a:latin typeface="メイリオ"/>
                <a:ea typeface="メイリオ"/>
              </a:rPr>
              <a:t>初期設計の構築</a:t>
            </a:r>
            <a:endParaRPr lang="en-US" sz="1800" b="0" u="none" strike="noStrike">
              <a:solidFill>
                <a:srgbClr val="000000"/>
              </a:solidFill>
              <a:effectLst/>
              <a:uFillTx/>
              <a:latin typeface="Arial"/>
            </a:endParaRPr>
          </a:p>
        </p:txBody>
      </p:sp>
      <p:sp>
        <p:nvSpPr>
          <p:cNvPr id="729" name="角丸四角形 44"/>
          <p:cNvSpPr/>
          <p:nvPr/>
        </p:nvSpPr>
        <p:spPr>
          <a:xfrm>
            <a:off x="3133800" y="5080320"/>
            <a:ext cx="4749480" cy="520200"/>
          </a:xfrm>
          <a:prstGeom prst="roundRect">
            <a:avLst>
              <a:gd name="adj" fmla="val 4701"/>
            </a:avLst>
          </a:prstGeom>
          <a:solidFill>
            <a:schemeClr val="bg1"/>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800" b="0" u="none" strike="noStrike">
                <a:solidFill>
                  <a:schemeClr val="lt1">
                    <a:lumMod val="50000"/>
                  </a:schemeClr>
                </a:solidFill>
                <a:effectLst/>
                <a:uFillTx/>
                <a:latin typeface="メイリオ"/>
                <a:ea typeface="メイリオ"/>
              </a:rPr>
              <a:t>運用開始</a:t>
            </a:r>
            <a:endParaRPr lang="en-US" sz="1800" b="0" u="none" strike="noStrike">
              <a:solidFill>
                <a:srgbClr val="000000"/>
              </a:solidFill>
              <a:effectLst/>
              <a:uFillTx/>
              <a:latin typeface="Arial"/>
            </a:endParaRPr>
          </a:p>
        </p:txBody>
      </p:sp>
      <p:sp>
        <p:nvSpPr>
          <p:cNvPr id="730" name="正方形/長方形 18"/>
          <p:cNvSpPr/>
          <p:nvPr/>
        </p:nvSpPr>
        <p:spPr>
          <a:xfrm>
            <a:off x="549000" y="1033200"/>
            <a:ext cx="8920800" cy="4611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2400" b="0" u="none" strike="noStrike">
                <a:solidFill>
                  <a:schemeClr val="dk1"/>
                </a:solidFill>
                <a:effectLst/>
                <a:uFillTx/>
                <a:latin typeface="メイリオ"/>
                <a:ea typeface="メイリオ"/>
              </a:rPr>
              <a:t>サイト</a:t>
            </a:r>
            <a:r>
              <a:rPr lang="en-US" sz="2400" b="0" u="none" strike="noStrike">
                <a:solidFill>
                  <a:schemeClr val="dk1"/>
                </a:solidFill>
                <a:effectLst/>
                <a:uFillTx/>
                <a:latin typeface="メイリオ"/>
                <a:ea typeface="メイリオ"/>
              </a:rPr>
              <a:t>/LINE</a:t>
            </a:r>
            <a:r>
              <a:rPr lang="ja-JP" sz="2400" b="0" u="none" strike="noStrike">
                <a:solidFill>
                  <a:schemeClr val="dk1"/>
                </a:solidFill>
                <a:effectLst/>
                <a:uFillTx/>
                <a:latin typeface="メイリオ"/>
                <a:ea typeface="メイリオ"/>
              </a:rPr>
              <a:t>上への実装については、約</a:t>
            </a:r>
            <a:r>
              <a:rPr lang="en-US" sz="2400" b="0" u="none" strike="noStrike">
                <a:solidFill>
                  <a:schemeClr val="dk1"/>
                </a:solidFill>
                <a:effectLst/>
                <a:uFillTx/>
                <a:latin typeface="メイリオ"/>
                <a:ea typeface="メイリオ"/>
              </a:rPr>
              <a:t>1</a:t>
            </a:r>
            <a:r>
              <a:rPr lang="ja-JP" sz="2400" b="0" u="none" strike="noStrike">
                <a:solidFill>
                  <a:schemeClr val="dk1"/>
                </a:solidFill>
                <a:effectLst/>
                <a:uFillTx/>
                <a:latin typeface="メイリオ"/>
                <a:ea typeface="メイリオ"/>
              </a:rPr>
              <a:t>か月程度を頂き進行。</a:t>
            </a:r>
            <a:endParaRPr lang="en-US" sz="2400" b="0" u="none" strike="noStrike">
              <a:solidFill>
                <a:srgbClr val="000000"/>
              </a:solidFill>
              <a:effectLst/>
              <a:uFillTx/>
              <a:latin typeface="Arial"/>
            </a:endParaRPr>
          </a:p>
        </p:txBody>
      </p:sp>
      <p:sp>
        <p:nvSpPr>
          <p:cNvPr id="731" name="正方形/長方形 19"/>
          <p:cNvSpPr/>
          <p:nvPr/>
        </p:nvSpPr>
        <p:spPr>
          <a:xfrm>
            <a:off x="4709160" y="5841360"/>
            <a:ext cx="4954680" cy="276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en-US" sz="1200" b="0" u="none" strike="noStrike" dirty="0">
                <a:solidFill>
                  <a:schemeClr val="dk1">
                    <a:lumMod val="50000"/>
                    <a:lumOff val="50000"/>
                  </a:schemeClr>
                </a:solidFill>
                <a:effectLst/>
                <a:uFillTx/>
                <a:latin typeface="メイリオ"/>
                <a:ea typeface="メイリオ"/>
              </a:rPr>
              <a:t>※</a:t>
            </a:r>
            <a:r>
              <a:rPr lang="ja-JP" sz="1200" b="0" u="none" strike="noStrike" dirty="0">
                <a:solidFill>
                  <a:schemeClr val="dk1">
                    <a:lumMod val="50000"/>
                    <a:lumOff val="50000"/>
                  </a:schemeClr>
                </a:solidFill>
                <a:effectLst/>
                <a:uFillTx/>
                <a:latin typeface="メイリオ"/>
                <a:ea typeface="メイリオ"/>
              </a:rPr>
              <a:t>貴社作業・確認にかかる時間により前後する可能性がございます。</a:t>
            </a:r>
            <a:endParaRPr lang="en-US" sz="1200" b="0" u="none" strike="noStrike" dirty="0">
              <a:solidFill>
                <a:srgbClr val="000000"/>
              </a:solidFill>
              <a:effectLst/>
              <a:uFillTx/>
              <a:latin typeface="Arial"/>
            </a:endParaRPr>
          </a:p>
        </p:txBody>
      </p:sp>
      <p:cxnSp>
        <p:nvCxnSpPr>
          <p:cNvPr id="732" name="直線矢印コネクタ 20"/>
          <p:cNvCxnSpPr/>
          <p:nvPr/>
        </p:nvCxnSpPr>
        <p:spPr>
          <a:xfrm>
            <a:off x="6985080" y="2256480"/>
            <a:ext cx="360" cy="3086640"/>
          </a:xfrm>
          <a:prstGeom prst="straightConnector1">
            <a:avLst/>
          </a:prstGeom>
          <a:ln w="38100">
            <a:solidFill>
              <a:srgbClr val="000000">
                <a:lumMod val="75000"/>
                <a:lumOff val="25000"/>
              </a:srgbClr>
            </a:solidFill>
            <a:prstDash val="sysDash"/>
            <a:round/>
            <a:tailEnd type="triangle" w="med" len="med"/>
          </a:ln>
        </p:spPr>
      </p:cxnSp>
      <p:sp>
        <p:nvSpPr>
          <p:cNvPr id="733" name="正方形/長方形 21"/>
          <p:cNvSpPr/>
          <p:nvPr/>
        </p:nvSpPr>
        <p:spPr>
          <a:xfrm>
            <a:off x="7042320" y="2130840"/>
            <a:ext cx="742320" cy="276480"/>
          </a:xfrm>
          <a:prstGeom prst="rect">
            <a:avLst/>
          </a:prstGeom>
          <a:solidFill>
            <a:schemeClr val="accent1">
              <a:lumMod val="20000"/>
              <a:lumOff val="80000"/>
            </a:schemeClr>
          </a:solid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200" b="0" u="none" strike="noStrike">
                <a:solidFill>
                  <a:schemeClr val="dk1"/>
                </a:solidFill>
                <a:effectLst/>
                <a:uFillTx/>
                <a:latin typeface="メイリオ"/>
                <a:ea typeface="メイリオ"/>
              </a:rPr>
              <a:t>約</a:t>
            </a:r>
            <a:r>
              <a:rPr lang="en-US" sz="1200" b="0" u="none" strike="noStrike">
                <a:solidFill>
                  <a:schemeClr val="dk1"/>
                </a:solidFill>
                <a:effectLst/>
                <a:uFillTx/>
                <a:latin typeface="メイリオ"/>
                <a:ea typeface="メイリオ"/>
              </a:rPr>
              <a:t>1</a:t>
            </a:r>
            <a:r>
              <a:rPr lang="ja-JP" sz="1200" b="0" u="none" strike="noStrike">
                <a:solidFill>
                  <a:schemeClr val="dk1"/>
                </a:solidFill>
                <a:effectLst/>
                <a:uFillTx/>
                <a:latin typeface="メイリオ"/>
                <a:ea typeface="メイリオ"/>
              </a:rPr>
              <a:t>か月</a:t>
            </a:r>
            <a:endParaRPr lang="en-US" sz="1200" b="0" u="none" strike="noStrike">
              <a:solidFill>
                <a:srgbClr val="000000"/>
              </a:solidFill>
              <a:effectLst/>
              <a:uFillTx/>
              <a:latin typeface="Arial"/>
            </a:endParaRPr>
          </a:p>
        </p:txBody>
      </p:sp>
      <p:sp>
        <p:nvSpPr>
          <p:cNvPr id="734" name="正方形/長方形 2"/>
          <p:cNvSpPr/>
          <p:nvPr/>
        </p:nvSpPr>
        <p:spPr>
          <a:xfrm>
            <a:off x="7902360" y="3514320"/>
            <a:ext cx="141552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800" b="0" u="none" strike="noStrike">
                <a:solidFill>
                  <a:schemeClr val="lt1">
                    <a:lumMod val="50000"/>
                  </a:schemeClr>
                </a:solidFill>
                <a:effectLst/>
                <a:uFillTx/>
                <a:latin typeface="メイリオ"/>
                <a:ea typeface="メイリオ"/>
              </a:rPr>
              <a:t>オーディエンスリスト作成</a:t>
            </a:r>
            <a:endParaRPr lang="en-US" sz="800" b="0" u="none" strike="noStrike">
              <a:solidFill>
                <a:srgbClr val="000000"/>
              </a:solidFill>
              <a:effectLst/>
              <a:uFillTx/>
              <a:latin typeface="Arial"/>
            </a:endParaRPr>
          </a:p>
          <a:p>
            <a:pPr defTabSz="914400">
              <a:lnSpc>
                <a:spcPct val="100000"/>
              </a:lnSpc>
            </a:pPr>
            <a:r>
              <a:rPr lang="ja-JP" sz="800" b="0" u="none" strike="noStrike">
                <a:solidFill>
                  <a:schemeClr val="lt1">
                    <a:lumMod val="50000"/>
                  </a:schemeClr>
                </a:solidFill>
                <a:effectLst/>
                <a:uFillTx/>
                <a:latin typeface="メイリオ"/>
                <a:ea typeface="メイリオ"/>
              </a:rPr>
              <a:t>タグ設定</a:t>
            </a:r>
            <a:endParaRPr lang="en-US" sz="800" b="0" u="none" strike="noStrike">
              <a:solidFill>
                <a:srgbClr val="000000"/>
              </a:solidFill>
              <a:effectLst/>
              <a:uFillTx/>
              <a:latin typeface="Arial"/>
            </a:endParaRPr>
          </a:p>
          <a:p>
            <a:pPr defTabSz="914400">
              <a:lnSpc>
                <a:spcPct val="100000"/>
              </a:lnSpc>
            </a:pPr>
            <a:r>
              <a:rPr lang="en-US" sz="800" b="0" u="none" strike="noStrike">
                <a:solidFill>
                  <a:schemeClr val="lt1">
                    <a:lumMod val="50000"/>
                  </a:schemeClr>
                </a:solidFill>
                <a:effectLst/>
                <a:uFillTx/>
                <a:latin typeface="メイリオ"/>
                <a:ea typeface="メイリオ"/>
              </a:rPr>
              <a:t>GA</a:t>
            </a:r>
            <a:r>
              <a:rPr lang="ja-JP" sz="800" b="0" u="none" strike="noStrike">
                <a:solidFill>
                  <a:schemeClr val="lt1">
                    <a:lumMod val="50000"/>
                  </a:schemeClr>
                </a:solidFill>
                <a:effectLst/>
                <a:uFillTx/>
                <a:latin typeface="メイリオ"/>
                <a:ea typeface="メイリオ"/>
              </a:rPr>
              <a:t>設定</a:t>
            </a:r>
            <a:endParaRPr lang="en-US" sz="800" b="0" u="none" strike="noStrike">
              <a:solidFill>
                <a:srgbClr val="000000"/>
              </a:solidFill>
              <a:effectLst/>
              <a:uFillTx/>
              <a:latin typeface="Arial"/>
            </a:endParaRPr>
          </a:p>
          <a:p>
            <a:pPr defTabSz="914400">
              <a:lnSpc>
                <a:spcPct val="100000"/>
              </a:lnSpc>
            </a:pPr>
            <a:r>
              <a:rPr lang="en-US" sz="800" b="0" u="none" strike="noStrike">
                <a:solidFill>
                  <a:schemeClr val="lt1">
                    <a:lumMod val="50000"/>
                  </a:schemeClr>
                </a:solidFill>
                <a:effectLst/>
                <a:uFillTx/>
                <a:latin typeface="メイリオ"/>
                <a:ea typeface="メイリオ"/>
              </a:rPr>
              <a:t>etc...</a:t>
            </a:r>
            <a:endParaRPr lang="en-US" sz="800" b="0" u="none" strike="noStrike">
              <a:solidFill>
                <a:srgbClr val="000000"/>
              </a:solidFill>
              <a:effectLst/>
              <a:uFillTx/>
              <a:latin typeface="Arial"/>
            </a:endParaRPr>
          </a:p>
        </p:txBody>
      </p:sp>
      <p:sp>
        <p:nvSpPr>
          <p:cNvPr id="735" name="正方形/長方形 23"/>
          <p:cNvSpPr/>
          <p:nvPr/>
        </p:nvSpPr>
        <p:spPr>
          <a:xfrm>
            <a:off x="7897320" y="4276440"/>
            <a:ext cx="110772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800" b="0" u="none" strike="noStrike">
                <a:solidFill>
                  <a:schemeClr val="lt1">
                    <a:lumMod val="50000"/>
                  </a:schemeClr>
                </a:solidFill>
                <a:effectLst/>
                <a:uFillTx/>
                <a:latin typeface="メイリオ"/>
                <a:ea typeface="メイリオ"/>
              </a:rPr>
              <a:t>リッチメニュー作成</a:t>
            </a:r>
            <a:endParaRPr lang="en-US" sz="800" b="0" u="none" strike="noStrike">
              <a:solidFill>
                <a:srgbClr val="000000"/>
              </a:solidFill>
              <a:effectLst/>
              <a:uFillTx/>
              <a:latin typeface="Arial"/>
            </a:endParaRPr>
          </a:p>
          <a:p>
            <a:pPr defTabSz="914400">
              <a:lnSpc>
                <a:spcPct val="100000"/>
              </a:lnSpc>
            </a:pPr>
            <a:r>
              <a:rPr lang="ja-JP" sz="800" b="0" u="none" strike="noStrike">
                <a:solidFill>
                  <a:schemeClr val="lt1">
                    <a:lumMod val="50000"/>
                  </a:schemeClr>
                </a:solidFill>
                <a:effectLst/>
                <a:uFillTx/>
                <a:latin typeface="メイリオ"/>
                <a:ea typeface="メイリオ"/>
              </a:rPr>
              <a:t>アンケート設計</a:t>
            </a:r>
            <a:endParaRPr lang="en-US" sz="800" b="0" u="none" strike="noStrike">
              <a:solidFill>
                <a:srgbClr val="000000"/>
              </a:solidFill>
              <a:effectLst/>
              <a:uFillTx/>
              <a:latin typeface="Arial"/>
            </a:endParaRPr>
          </a:p>
          <a:p>
            <a:pPr defTabSz="914400">
              <a:lnSpc>
                <a:spcPct val="100000"/>
              </a:lnSpc>
            </a:pPr>
            <a:r>
              <a:rPr lang="ja-JP" sz="800" b="0" u="none" strike="noStrike">
                <a:solidFill>
                  <a:schemeClr val="lt1">
                    <a:lumMod val="50000"/>
                  </a:schemeClr>
                </a:solidFill>
                <a:effectLst/>
                <a:uFillTx/>
                <a:latin typeface="メイリオ"/>
                <a:ea typeface="メイリオ"/>
              </a:rPr>
              <a:t>シナリオ設計</a:t>
            </a:r>
            <a:endParaRPr lang="en-US" sz="800" b="0" u="none" strike="noStrike">
              <a:solidFill>
                <a:srgbClr val="000000"/>
              </a:solidFill>
              <a:effectLst/>
              <a:uFillTx/>
              <a:latin typeface="Arial"/>
            </a:endParaRPr>
          </a:p>
          <a:p>
            <a:pPr defTabSz="914400">
              <a:lnSpc>
                <a:spcPct val="100000"/>
              </a:lnSpc>
            </a:pPr>
            <a:r>
              <a:rPr lang="en-US" sz="800" b="0" u="none" strike="noStrike">
                <a:solidFill>
                  <a:schemeClr val="lt1">
                    <a:lumMod val="50000"/>
                  </a:schemeClr>
                </a:solidFill>
                <a:effectLst/>
                <a:uFillTx/>
                <a:latin typeface="メイリオ"/>
                <a:ea typeface="メイリオ"/>
              </a:rPr>
              <a:t>etc...</a:t>
            </a:r>
            <a:endParaRPr lang="en-US" sz="800" b="0" u="none" strike="noStrike">
              <a:solidFill>
                <a:srgbClr val="000000"/>
              </a:solidFill>
              <a:effectLst/>
              <a:uFillTx/>
              <a:latin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3" name="正方形/長方形 18"/>
          <p:cNvSpPr/>
          <p:nvPr/>
        </p:nvSpPr>
        <p:spPr>
          <a:xfrm>
            <a:off x="1649160" y="5820840"/>
            <a:ext cx="6192360" cy="373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defTabSz="914400">
              <a:lnSpc>
                <a:spcPct val="100000"/>
              </a:lnSpc>
              <a:spcBef>
                <a:spcPts val="167"/>
              </a:spcBef>
            </a:pPr>
            <a:r>
              <a:rPr lang="ja-JP" sz="830" b="1" u="none" strike="noStrike">
                <a:solidFill>
                  <a:srgbClr val="000000"/>
                </a:solidFill>
                <a:effectLst/>
                <a:uFillTx/>
                <a:latin typeface="メイリオ"/>
                <a:ea typeface="メイリオ"/>
              </a:rPr>
              <a:t>株式会社</a:t>
            </a:r>
            <a:r>
              <a:rPr lang="en-US" sz="830" b="1" u="none" strike="noStrike">
                <a:solidFill>
                  <a:srgbClr val="000000"/>
                </a:solidFill>
                <a:effectLst/>
                <a:uFillTx/>
                <a:latin typeface="メイリオ"/>
                <a:ea typeface="メイリオ"/>
              </a:rPr>
              <a:t>DYM</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141-0032</a:t>
            </a:r>
            <a:r>
              <a:rPr lang="ja-JP" sz="830" b="1" u="none" strike="noStrike">
                <a:solidFill>
                  <a:srgbClr val="000000"/>
                </a:solidFill>
                <a:effectLst/>
                <a:uFillTx/>
                <a:latin typeface="メイリオ"/>
                <a:ea typeface="メイリオ"/>
              </a:rPr>
              <a:t>　東京都品川区大崎</a:t>
            </a:r>
            <a:r>
              <a:rPr lang="en-US" sz="830" b="1" u="none" strike="noStrike">
                <a:solidFill>
                  <a:srgbClr val="000000"/>
                </a:solidFill>
                <a:effectLst/>
                <a:uFillTx/>
                <a:latin typeface="メイリオ"/>
                <a:ea typeface="メイリオ"/>
              </a:rPr>
              <a:t>1-11-2</a:t>
            </a:r>
            <a:r>
              <a:rPr lang="ja-JP" sz="830" b="1" u="none" strike="noStrike">
                <a:solidFill>
                  <a:srgbClr val="000000"/>
                </a:solidFill>
                <a:effectLst/>
                <a:uFillTx/>
                <a:latin typeface="メイリオ"/>
                <a:ea typeface="メイリオ"/>
              </a:rPr>
              <a:t>　ゲートシティ大崎イーストタワー</a:t>
            </a:r>
            <a:r>
              <a:rPr lang="en-US" sz="830" b="1" u="none" strike="noStrike">
                <a:solidFill>
                  <a:srgbClr val="000000"/>
                </a:solidFill>
                <a:effectLst/>
                <a:uFillTx/>
                <a:latin typeface="メイリオ"/>
                <a:ea typeface="メイリオ"/>
              </a:rPr>
              <a:t>10</a:t>
            </a:r>
            <a:r>
              <a:rPr lang="ja-JP" sz="830" b="1" u="none" strike="noStrike">
                <a:solidFill>
                  <a:srgbClr val="000000"/>
                </a:solidFill>
                <a:effectLst/>
                <a:uFillTx/>
                <a:latin typeface="メイリオ"/>
                <a:ea typeface="メイリオ"/>
              </a:rPr>
              <a:t>階</a:t>
            </a:r>
            <a:endParaRPr lang="en-US" sz="830" b="0" u="none" strike="noStrike">
              <a:solidFill>
                <a:srgbClr val="000000"/>
              </a:solidFill>
              <a:effectLst/>
              <a:uFillTx/>
              <a:latin typeface="Arial"/>
            </a:endParaRPr>
          </a:p>
          <a:p>
            <a:pPr defTabSz="914400">
              <a:lnSpc>
                <a:spcPct val="100000"/>
              </a:lnSpc>
              <a:spcBef>
                <a:spcPts val="167"/>
              </a:spcBef>
            </a:pPr>
            <a:r>
              <a:rPr lang="en-US" sz="830" b="1" u="none" strike="noStrike">
                <a:solidFill>
                  <a:srgbClr val="000000"/>
                </a:solidFill>
                <a:effectLst/>
                <a:uFillTx/>
                <a:latin typeface="メイリオ"/>
                <a:ea typeface="メイリオ"/>
              </a:rPr>
              <a:t>TEL: 03-5745-0200</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FAX: 03-3779-8720 </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http://dym.asia   </a:t>
            </a:r>
            <a:r>
              <a:rPr lang="ja-JP" sz="830" b="1" u="none" strike="noStrike">
                <a:solidFill>
                  <a:srgbClr val="000000"/>
                </a:solidFill>
                <a:effectLst/>
                <a:uFillTx/>
                <a:latin typeface="メイリオ"/>
                <a:ea typeface="メイリオ"/>
              </a:rPr>
              <a:t>代表取締役　水谷佑毅</a:t>
            </a:r>
            <a:endParaRPr lang="en-US" sz="830" b="0" u="none" strike="noStrike">
              <a:solidFill>
                <a:srgbClr val="000000"/>
              </a:solidFill>
              <a:effectLst/>
              <a:uFillTx/>
              <a:latin typeface="Arial"/>
            </a:endParaRPr>
          </a:p>
        </p:txBody>
      </p:sp>
      <p:pic>
        <p:nvPicPr>
          <p:cNvPr id="1074" name="図 1"/>
          <p:cNvPicPr/>
          <p:nvPr/>
        </p:nvPicPr>
        <p:blipFill>
          <a:blip r:embed="rId3"/>
          <a:srcRect l="-1652" r="-11179"/>
          <a:stretch/>
        </p:blipFill>
        <p:spPr>
          <a:xfrm>
            <a:off x="543960" y="5895360"/>
            <a:ext cx="1100520" cy="224640"/>
          </a:xfrm>
          <a:prstGeom prst="rect">
            <a:avLst/>
          </a:prstGeom>
          <a:noFill/>
          <a:ln w="0">
            <a:noFill/>
          </a:ln>
        </p:spPr>
      </p:pic>
      <p:sp>
        <p:nvSpPr>
          <p:cNvPr id="1075" name="テキスト ボックス 2"/>
          <p:cNvSpPr/>
          <p:nvPr/>
        </p:nvSpPr>
        <p:spPr>
          <a:xfrm>
            <a:off x="5070240" y="5597640"/>
            <a:ext cx="184320" cy="3690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endParaRPr lang="en-US" sz="1800" b="0" u="none" strike="noStrike">
              <a:solidFill>
                <a:srgbClr val="000000"/>
              </a:solidFill>
              <a:effectLst/>
              <a:uFillTx/>
              <a:latin typeface="Arial"/>
              <a:ea typeface="ＭＳ Ｐゴシック"/>
            </a:endParaRPr>
          </a:p>
        </p:txBody>
      </p:sp>
      <p:sp>
        <p:nvSpPr>
          <p:cNvPr id="1076" name="正方形/長方形 17"/>
          <p:cNvSpPr/>
          <p:nvPr/>
        </p:nvSpPr>
        <p:spPr>
          <a:xfrm>
            <a:off x="2170080" y="989640"/>
            <a:ext cx="556560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360"/>
              </a:spcBef>
            </a:pPr>
            <a:r>
              <a:rPr lang="ja-JP" sz="1800" b="1" u="none" strike="noStrike">
                <a:solidFill>
                  <a:srgbClr val="000000"/>
                </a:solidFill>
                <a:effectLst/>
                <a:uFillTx/>
                <a:latin typeface="メイリオ"/>
                <a:ea typeface="メイリオ"/>
              </a:rPr>
              <a:t>貴社の明るい未来に必ず貢献致します。</a:t>
            </a:r>
            <a:endParaRPr lang="en-US" sz="1800" b="0" u="none" strike="noStrike">
              <a:solidFill>
                <a:srgbClr val="000000"/>
              </a:solidFill>
              <a:effectLst/>
              <a:uFillTx/>
              <a:latin typeface="Arial"/>
            </a:endParaRPr>
          </a:p>
        </p:txBody>
      </p:sp>
      <p:sp>
        <p:nvSpPr>
          <p:cNvPr id="1077" name="正方形/長方形 13"/>
          <p:cNvSpPr/>
          <p:nvPr/>
        </p:nvSpPr>
        <p:spPr>
          <a:xfrm>
            <a:off x="382680" y="2698200"/>
            <a:ext cx="597960" cy="205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147"/>
              </a:spcBef>
            </a:pPr>
            <a:r>
              <a:rPr lang="ja-JP" sz="740" b="0" u="none" strike="noStrike">
                <a:solidFill>
                  <a:srgbClr val="FFFFFF"/>
                </a:solidFill>
                <a:effectLst/>
                <a:uFillTx/>
                <a:latin typeface="メイリオ"/>
                <a:ea typeface="メイリオ"/>
              </a:rPr>
              <a:t>本社</a:t>
            </a:r>
            <a:endParaRPr lang="en-US" sz="740" b="0" u="none" strike="noStrike">
              <a:solidFill>
                <a:srgbClr val="000000"/>
              </a:solidFill>
              <a:effectLst/>
              <a:uFillTx/>
              <a:latin typeface="Arial"/>
            </a:endParaRPr>
          </a:p>
        </p:txBody>
      </p:sp>
      <p:sp>
        <p:nvSpPr>
          <p:cNvPr id="1078" name="正方形/長方形 14"/>
          <p:cNvSpPr/>
          <p:nvPr/>
        </p:nvSpPr>
        <p:spPr>
          <a:xfrm>
            <a:off x="368280" y="2355120"/>
            <a:ext cx="75636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159"/>
              </a:spcBef>
            </a:pPr>
            <a:r>
              <a:rPr lang="ja-JP" sz="800" b="0" u="none" strike="noStrike">
                <a:solidFill>
                  <a:srgbClr val="FFFFFF"/>
                </a:solidFill>
                <a:effectLst/>
                <a:uFillTx/>
                <a:latin typeface="メイリオ"/>
                <a:ea typeface="メイリオ"/>
              </a:rPr>
              <a:t>本社</a:t>
            </a:r>
            <a:endParaRPr lang="en-US" sz="800" b="0" u="none" strike="noStrike">
              <a:solidFill>
                <a:srgbClr val="000000"/>
              </a:solidFill>
              <a:effectLst/>
              <a:uFillTx/>
              <a:latin typeface="Arial"/>
            </a:endParaRPr>
          </a:p>
        </p:txBody>
      </p:sp>
      <p:grpSp>
        <p:nvGrpSpPr>
          <p:cNvPr id="1079" name="グループ化 21"/>
          <p:cNvGrpSpPr/>
          <p:nvPr/>
        </p:nvGrpSpPr>
        <p:grpSpPr>
          <a:xfrm>
            <a:off x="380880" y="1772640"/>
            <a:ext cx="9143640" cy="3314520"/>
            <a:chOff x="380880" y="1772640"/>
            <a:chExt cx="9143640" cy="3314520"/>
          </a:xfrm>
        </p:grpSpPr>
        <p:pic>
          <p:nvPicPr>
            <p:cNvPr id="1080" name="図 20" descr="ポーズをとる男性グループ&#10;&#10;自動的に生成された説明"/>
            <p:cNvPicPr/>
            <p:nvPr/>
          </p:nvPicPr>
          <p:blipFill>
            <a:blip r:embed="rId4"/>
            <a:srcRect l="3642" r="4070"/>
            <a:stretch/>
          </p:blipFill>
          <p:spPr>
            <a:xfrm>
              <a:off x="7354800" y="3518640"/>
              <a:ext cx="2169720" cy="1567440"/>
            </a:xfrm>
            <a:prstGeom prst="rect">
              <a:avLst/>
            </a:prstGeom>
            <a:noFill/>
            <a:ln w="0">
              <a:noFill/>
            </a:ln>
          </p:spPr>
        </p:pic>
        <p:pic>
          <p:nvPicPr>
            <p:cNvPr id="1081" name="図 15" descr="白いシャツを着ている男性&#10;&#10;中程度の精度で自動的に生成された説明"/>
            <p:cNvPicPr/>
            <p:nvPr/>
          </p:nvPicPr>
          <p:blipFill>
            <a:blip r:embed="rId5"/>
            <a:stretch/>
          </p:blipFill>
          <p:spPr>
            <a:xfrm>
              <a:off x="5364720" y="3519720"/>
              <a:ext cx="1989720" cy="1567440"/>
            </a:xfrm>
            <a:prstGeom prst="rect">
              <a:avLst/>
            </a:prstGeom>
            <a:noFill/>
            <a:ln w="0">
              <a:noFill/>
            </a:ln>
          </p:spPr>
        </p:pic>
        <p:pic>
          <p:nvPicPr>
            <p:cNvPr id="1082" name="図 9" descr="スーツを着た男性たち&#10;&#10;自動的に生成された説明"/>
            <p:cNvPicPr/>
            <p:nvPr/>
          </p:nvPicPr>
          <p:blipFill>
            <a:blip r:embed="rId6"/>
            <a:srcRect l="10699" r="10360"/>
            <a:stretch/>
          </p:blipFill>
          <p:spPr>
            <a:xfrm>
              <a:off x="7680600" y="1774080"/>
              <a:ext cx="1842120" cy="1745640"/>
            </a:xfrm>
            <a:prstGeom prst="rect">
              <a:avLst/>
            </a:prstGeom>
            <a:noFill/>
            <a:ln w="0">
              <a:noFill/>
            </a:ln>
          </p:spPr>
        </p:pic>
        <p:pic>
          <p:nvPicPr>
            <p:cNvPr id="1083" name="図 6" descr="講堂にいる人たち&#10;&#10;中程度の精度で自動的に生成された説明"/>
            <p:cNvPicPr/>
            <p:nvPr/>
          </p:nvPicPr>
          <p:blipFill>
            <a:blip r:embed="rId7"/>
            <a:srcRect l="2513" t="12878" r="2480"/>
            <a:stretch/>
          </p:blipFill>
          <p:spPr>
            <a:xfrm>
              <a:off x="380880" y="1772640"/>
              <a:ext cx="5089320" cy="3314520"/>
            </a:xfrm>
            <a:prstGeom prst="rect">
              <a:avLst/>
            </a:prstGeom>
            <a:noFill/>
            <a:ln w="0">
              <a:noFill/>
            </a:ln>
          </p:spPr>
        </p:pic>
        <p:pic>
          <p:nvPicPr>
            <p:cNvPr id="1084" name="図 10" descr="スーツを着た男性グループの写真&#10;&#10;低い精度で自動的に生成された説明"/>
            <p:cNvPicPr/>
            <p:nvPr/>
          </p:nvPicPr>
          <p:blipFill>
            <a:blip r:embed="rId8"/>
            <a:srcRect l="8592" r="6764"/>
            <a:stretch/>
          </p:blipFill>
          <p:spPr>
            <a:xfrm>
              <a:off x="5470920" y="1773000"/>
              <a:ext cx="2215080" cy="1745640"/>
            </a:xfrm>
            <a:prstGeom prst="rect">
              <a:avLst/>
            </a:prstGeom>
            <a:noFill/>
            <a:ln w="0">
              <a:noFill/>
            </a:ln>
          </p:spPr>
        </p:pic>
      </p:grpSp>
      <p:sp>
        <p:nvSpPr>
          <p:cNvPr id="1085" name="正方形/長方形 5"/>
          <p:cNvSpPr/>
          <p:nvPr/>
        </p:nvSpPr>
        <p:spPr>
          <a:xfrm>
            <a:off x="128160" y="6620400"/>
            <a:ext cx="2852640" cy="237240"/>
          </a:xfrm>
          <a:prstGeom prst="rect">
            <a:avLst/>
          </a:prstGeom>
          <a:solidFill>
            <a:srgbClr val="191F54"/>
          </a:solidFill>
          <a:ln>
            <a:solidFill>
              <a:srgbClr val="10253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86" name="正方形/長方形 1"/>
          <p:cNvSpPr/>
          <p:nvPr/>
        </p:nvSpPr>
        <p:spPr>
          <a:xfrm>
            <a:off x="368280" y="0"/>
            <a:ext cx="9537480" cy="514440"/>
          </a:xfrm>
          <a:prstGeom prst="rect">
            <a:avLst/>
          </a:prstGeom>
          <a:solidFill>
            <a:schemeClr val="bg1"/>
          </a:solidFill>
          <a:ln>
            <a:solidFill>
              <a:srgbClr val="FFFF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0"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Appendix</a:t>
            </a:r>
            <a:endParaRPr lang="en-US" sz="1600" b="0" u="none" strike="noStrike">
              <a:solidFill>
                <a:srgbClr val="000000"/>
              </a:solidFill>
              <a:effectLst/>
              <a:uFillTx/>
              <a:latin typeface="メイリオ"/>
            </a:endParaRPr>
          </a:p>
        </p:txBody>
      </p:sp>
      <p:sp>
        <p:nvSpPr>
          <p:cNvPr id="981" name="正方形/長方形 1"/>
          <p:cNvSpPr/>
          <p:nvPr/>
        </p:nvSpPr>
        <p:spPr>
          <a:xfrm>
            <a:off x="2808720" y="3038040"/>
            <a:ext cx="42879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3200" b="1" u="none" strike="noStrike">
                <a:solidFill>
                  <a:schemeClr val="dk1">
                    <a:lumMod val="75000"/>
                    <a:lumOff val="25000"/>
                  </a:schemeClr>
                </a:solidFill>
                <a:effectLst/>
                <a:uFillTx/>
                <a:latin typeface="メイリオ"/>
                <a:ea typeface="メイリオ"/>
              </a:rPr>
              <a:t>参考資料</a:t>
            </a:r>
            <a:endParaRPr lang="en-US" sz="3200" b="0" u="none" strike="noStrike">
              <a:solidFill>
                <a:srgbClr val="000000"/>
              </a:solidFill>
              <a:effectLst/>
              <a:uFillTx/>
              <a:latin typeface="メイリオ"/>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6" name="角丸四角形 6"/>
          <p:cNvSpPr/>
          <p:nvPr/>
        </p:nvSpPr>
        <p:spPr>
          <a:xfrm>
            <a:off x="3459960" y="1776240"/>
            <a:ext cx="2985840" cy="44708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497" name="角丸四角形 7"/>
          <p:cNvSpPr/>
          <p:nvPr/>
        </p:nvSpPr>
        <p:spPr>
          <a:xfrm>
            <a:off x="256680" y="1776240"/>
            <a:ext cx="2985840" cy="4470840"/>
          </a:xfrm>
          <a:prstGeom prst="roundRect">
            <a:avLst>
              <a:gd name="adj" fmla="val 3567"/>
            </a:avLst>
          </a:prstGeom>
          <a:solidFill>
            <a:schemeClr val="accent1">
              <a:lumMod val="20000"/>
              <a:lumOff val="80000"/>
            </a:schemeClr>
          </a:solidFill>
          <a:ln w="254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498" name="角丸四角形 8"/>
          <p:cNvSpPr/>
          <p:nvPr/>
        </p:nvSpPr>
        <p:spPr>
          <a:xfrm>
            <a:off x="6662880" y="1776240"/>
            <a:ext cx="2985840" cy="4470840"/>
          </a:xfrm>
          <a:prstGeom prst="roundRect">
            <a:avLst>
              <a:gd name="adj" fmla="val 3567"/>
            </a:avLst>
          </a:prstGeom>
          <a:solidFill>
            <a:schemeClr val="bg1">
              <a:lumMod val="95000"/>
            </a:schemeClr>
          </a:solidFill>
          <a:ln w="254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499" name="Google Shape;178;p7"/>
          <p:cNvSpPr/>
          <p:nvPr/>
        </p:nvSpPr>
        <p:spPr>
          <a:xfrm>
            <a:off x="592560" y="194040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離脱防止バナー</a:t>
            </a:r>
            <a:endParaRPr lang="en-US" sz="2000" b="0" u="none" strike="noStrike">
              <a:solidFill>
                <a:srgbClr val="000000"/>
              </a:solidFill>
              <a:effectLst/>
              <a:uFillTx/>
              <a:latin typeface="Arial"/>
            </a:endParaRPr>
          </a:p>
        </p:txBody>
      </p:sp>
      <p:sp>
        <p:nvSpPr>
          <p:cNvPr id="500" name="Google Shape;178;p7"/>
          <p:cNvSpPr/>
          <p:nvPr/>
        </p:nvSpPr>
        <p:spPr>
          <a:xfrm>
            <a:off x="3795840" y="194040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CPF</a:t>
            </a:r>
            <a:r>
              <a:rPr lang="ja-JP" sz="2000" b="1" u="none" strike="noStrike">
                <a:solidFill>
                  <a:srgbClr val="002060"/>
                </a:solidFill>
                <a:effectLst/>
                <a:uFillTx/>
                <a:latin typeface="Meiryo"/>
                <a:ea typeface="Meiryo"/>
              </a:rPr>
              <a:t>広告</a:t>
            </a:r>
            <a:endParaRPr lang="en-US" sz="2000" b="0" u="none" strike="noStrike">
              <a:solidFill>
                <a:srgbClr val="000000"/>
              </a:solidFill>
              <a:effectLst/>
              <a:uFillTx/>
              <a:latin typeface="Arial"/>
            </a:endParaRPr>
          </a:p>
        </p:txBody>
      </p:sp>
      <p:sp>
        <p:nvSpPr>
          <p:cNvPr id="501" name="Google Shape;178;p7"/>
          <p:cNvSpPr/>
          <p:nvPr/>
        </p:nvSpPr>
        <p:spPr>
          <a:xfrm>
            <a:off x="6756120" y="1950120"/>
            <a:ext cx="2800080" cy="7675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サンクス</a:t>
            </a:r>
            <a:r>
              <a:rPr lang="en-US" sz="2000" b="1" u="none" strike="noStrike">
                <a:solidFill>
                  <a:srgbClr val="002060"/>
                </a:solidFill>
                <a:effectLst/>
                <a:uFillTx/>
                <a:latin typeface="Meiryo"/>
                <a:ea typeface="Meiryo"/>
              </a:rPr>
              <a:t>LINE</a:t>
            </a:r>
            <a:r>
              <a:rPr lang="ja-JP" sz="2000" b="1" u="none" strike="noStrike">
                <a:solidFill>
                  <a:srgbClr val="002060"/>
                </a:solidFill>
                <a:effectLst/>
                <a:uFillTx/>
                <a:latin typeface="Meiryo"/>
                <a:ea typeface="Meiryo"/>
              </a:rPr>
              <a:t>誘導</a:t>
            </a:r>
            <a:endParaRPr lang="en-US" sz="2000" b="0" u="none" strike="noStrike">
              <a:solidFill>
                <a:srgbClr val="000000"/>
              </a:solidFill>
              <a:effectLst/>
              <a:uFillTx/>
              <a:latin typeface="Arial"/>
            </a:endParaRPr>
          </a:p>
        </p:txBody>
      </p:sp>
      <p:sp>
        <p:nvSpPr>
          <p:cNvPr id="502" name="Google Shape;178;p7"/>
          <p:cNvSpPr/>
          <p:nvPr/>
        </p:nvSpPr>
        <p:spPr>
          <a:xfrm>
            <a:off x="92880" y="5014800"/>
            <a:ext cx="2066760" cy="3672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lumMod val="50000"/>
                    <a:lumOff val="50000"/>
                  </a:schemeClr>
                </a:solidFill>
                <a:effectLst/>
                <a:uFillTx/>
                <a:latin typeface="Meiryo"/>
                <a:ea typeface="Meiryo"/>
              </a:rPr>
              <a:t>事例：車買取</a:t>
            </a:r>
            <a:endParaRPr lang="en-US" sz="1400" b="0" u="none" strike="noStrike">
              <a:solidFill>
                <a:srgbClr val="000000"/>
              </a:solidFill>
              <a:effectLst/>
              <a:uFillTx/>
              <a:latin typeface="Arial"/>
            </a:endParaRPr>
          </a:p>
        </p:txBody>
      </p:sp>
      <p:pic>
        <p:nvPicPr>
          <p:cNvPr id="503" name="図 1"/>
          <p:cNvPicPr/>
          <p:nvPr/>
        </p:nvPicPr>
        <p:blipFill>
          <a:blip r:embed="rId2"/>
          <a:srcRect t="34582" b="34765"/>
          <a:stretch/>
        </p:blipFill>
        <p:spPr>
          <a:xfrm>
            <a:off x="313920" y="2324160"/>
            <a:ext cx="2871000" cy="1564200"/>
          </a:xfrm>
          <a:prstGeom prst="rect">
            <a:avLst/>
          </a:prstGeom>
          <a:noFill/>
          <a:ln w="0">
            <a:noFill/>
          </a:ln>
        </p:spPr>
      </p:pic>
      <p:sp>
        <p:nvSpPr>
          <p:cNvPr id="504" name="Google Shape;178;p7"/>
          <p:cNvSpPr/>
          <p:nvPr/>
        </p:nvSpPr>
        <p:spPr>
          <a:xfrm>
            <a:off x="-81000" y="4068720"/>
            <a:ext cx="3501360" cy="7981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solidFill>
                <a:effectLst/>
                <a:uFillTx/>
                <a:latin typeface="Meiryo"/>
                <a:ea typeface="Meiryo"/>
              </a:rPr>
              <a:t>興味はあるが利用まで</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至らなかったユーザーを</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友だちとして囲い込む。</a:t>
            </a:r>
            <a:endParaRPr lang="en-US" sz="1400" b="0" u="none" strike="noStrike">
              <a:solidFill>
                <a:srgbClr val="000000"/>
              </a:solidFill>
              <a:effectLst/>
              <a:uFillTx/>
              <a:latin typeface="Arial"/>
            </a:endParaRPr>
          </a:p>
        </p:txBody>
      </p:sp>
      <p:sp>
        <p:nvSpPr>
          <p:cNvPr id="505" name="Google Shape;178;p7"/>
          <p:cNvSpPr/>
          <p:nvPr/>
        </p:nvSpPr>
        <p:spPr>
          <a:xfrm>
            <a:off x="3161520" y="4052880"/>
            <a:ext cx="3501360" cy="7981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1400" b="0" u="none" strike="noStrike">
                <a:solidFill>
                  <a:schemeClr val="dk1"/>
                </a:solidFill>
                <a:effectLst/>
                <a:uFillTx/>
                <a:latin typeface="Meiryo"/>
                <a:ea typeface="Meiryo"/>
              </a:rPr>
              <a:t>CPF約100-200円台。</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かなり安価で、友だち1人あたりの</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課金で友だちを増やす広告。</a:t>
            </a:r>
            <a:endParaRPr lang="en-US" sz="1400" b="0" u="none" strike="noStrike">
              <a:solidFill>
                <a:srgbClr val="000000"/>
              </a:solidFill>
              <a:effectLst/>
              <a:uFillTx/>
              <a:latin typeface="Arial"/>
            </a:endParaRPr>
          </a:p>
        </p:txBody>
      </p:sp>
      <p:sp>
        <p:nvSpPr>
          <p:cNvPr id="506" name="Google Shape;178;p7"/>
          <p:cNvSpPr/>
          <p:nvPr/>
        </p:nvSpPr>
        <p:spPr>
          <a:xfrm>
            <a:off x="3242880" y="5014800"/>
            <a:ext cx="2337840" cy="3672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lumMod val="50000"/>
                    <a:lumOff val="50000"/>
                  </a:schemeClr>
                </a:solidFill>
                <a:effectLst/>
                <a:uFillTx/>
                <a:latin typeface="Meiryo"/>
                <a:ea typeface="Meiryo"/>
              </a:rPr>
              <a:t>事例：アパレル</a:t>
            </a:r>
            <a:endParaRPr lang="en-US" sz="1400" b="0" u="none" strike="noStrike">
              <a:solidFill>
                <a:srgbClr val="000000"/>
              </a:solidFill>
              <a:effectLst/>
              <a:uFillTx/>
              <a:latin typeface="Arial"/>
            </a:endParaRPr>
          </a:p>
        </p:txBody>
      </p:sp>
      <p:sp>
        <p:nvSpPr>
          <p:cNvPr id="507" name="Google Shape;178;p7"/>
          <p:cNvSpPr/>
          <p:nvPr/>
        </p:nvSpPr>
        <p:spPr>
          <a:xfrm>
            <a:off x="3639240" y="5328720"/>
            <a:ext cx="2795040" cy="52128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defTabSz="914400">
              <a:lnSpc>
                <a:spcPct val="100000"/>
              </a:lnSpc>
            </a:pPr>
            <a:r>
              <a:rPr lang="en-US" sz="1200" b="0" u="none" strike="noStrike">
                <a:solidFill>
                  <a:schemeClr val="dk1">
                    <a:lumMod val="50000"/>
                    <a:lumOff val="50000"/>
                  </a:schemeClr>
                </a:solidFill>
                <a:effectLst/>
                <a:uFillTx/>
                <a:latin typeface="Meiryo"/>
                <a:ea typeface="Meiryo"/>
              </a:rPr>
              <a:t>1</a:t>
            </a:r>
            <a:r>
              <a:rPr lang="ja-JP" sz="1200" b="0" u="none" strike="noStrike">
                <a:solidFill>
                  <a:schemeClr val="dk1">
                    <a:lumMod val="50000"/>
                    <a:lumOff val="50000"/>
                  </a:schemeClr>
                </a:solidFill>
                <a:effectLst/>
                <a:uFillTx/>
                <a:latin typeface="Meiryo"/>
                <a:ea typeface="Meiryo"/>
              </a:rPr>
              <a:t>人あたり</a:t>
            </a:r>
            <a:r>
              <a:rPr lang="en-US" sz="1200" b="0" u="none" strike="noStrike">
                <a:solidFill>
                  <a:schemeClr val="dk1">
                    <a:lumMod val="50000"/>
                    <a:lumOff val="50000"/>
                  </a:schemeClr>
                </a:solidFill>
                <a:effectLst/>
                <a:uFillTx/>
                <a:latin typeface="Meiryo"/>
                <a:ea typeface="Meiryo"/>
              </a:rPr>
              <a:t>50</a:t>
            </a:r>
            <a:r>
              <a:rPr lang="ja-JP" sz="1200" b="0" u="none" strike="noStrike">
                <a:solidFill>
                  <a:schemeClr val="dk1">
                    <a:lumMod val="50000"/>
                    <a:lumOff val="50000"/>
                  </a:schemeClr>
                </a:solidFill>
                <a:effectLst/>
                <a:uFillTx/>
                <a:latin typeface="Meiryo"/>
                <a:ea typeface="Meiryo"/>
              </a:rPr>
              <a:t>円で友だち獲得</a:t>
            </a:r>
            <a:endParaRPr lang="en-US" sz="1200" b="0" u="none" strike="noStrike">
              <a:solidFill>
                <a:srgbClr val="000000"/>
              </a:solidFill>
              <a:effectLst/>
              <a:uFillTx/>
              <a:latin typeface="Arial"/>
            </a:endParaRPr>
          </a:p>
          <a:p>
            <a:pPr defTabSz="914400">
              <a:lnSpc>
                <a:spcPct val="100000"/>
              </a:lnSpc>
            </a:pPr>
            <a:r>
              <a:rPr lang="en-US" sz="1200" b="0" u="none" strike="noStrike">
                <a:solidFill>
                  <a:schemeClr val="dk1">
                    <a:lumMod val="50000"/>
                    <a:lumOff val="50000"/>
                  </a:schemeClr>
                </a:solidFill>
                <a:effectLst/>
                <a:uFillTx/>
                <a:latin typeface="Meiryo"/>
                <a:ea typeface="Meiryo"/>
              </a:rPr>
              <a:t>LINE</a:t>
            </a:r>
            <a:r>
              <a:rPr lang="ja-JP" sz="1200" b="0" u="none" strike="noStrike">
                <a:solidFill>
                  <a:schemeClr val="dk1">
                    <a:lumMod val="50000"/>
                    <a:lumOff val="50000"/>
                  </a:schemeClr>
                </a:solidFill>
                <a:effectLst/>
                <a:uFillTx/>
                <a:latin typeface="Meiryo"/>
                <a:ea typeface="Meiryo"/>
              </a:rPr>
              <a:t>経由の購入</a:t>
            </a:r>
            <a:r>
              <a:rPr lang="en-US" sz="1200" b="0" u="none" strike="noStrike">
                <a:solidFill>
                  <a:schemeClr val="dk1">
                    <a:lumMod val="50000"/>
                    <a:lumOff val="50000"/>
                  </a:schemeClr>
                </a:solidFill>
                <a:effectLst/>
                <a:uFillTx/>
                <a:latin typeface="Meiryo"/>
                <a:ea typeface="Meiryo"/>
              </a:rPr>
              <a:t>1.5</a:t>
            </a:r>
            <a:r>
              <a:rPr lang="ja-JP" sz="1200" b="0" u="none" strike="noStrike">
                <a:solidFill>
                  <a:schemeClr val="dk1">
                    <a:lumMod val="50000"/>
                    <a:lumOff val="50000"/>
                  </a:schemeClr>
                </a:solidFill>
                <a:effectLst/>
                <a:uFillTx/>
                <a:latin typeface="Meiryo"/>
                <a:ea typeface="Meiryo"/>
              </a:rPr>
              <a:t>倍</a:t>
            </a:r>
            <a:endParaRPr lang="en-US" sz="1200" b="0" u="none" strike="noStrike">
              <a:solidFill>
                <a:srgbClr val="000000"/>
              </a:solidFill>
              <a:effectLst/>
              <a:uFillTx/>
              <a:latin typeface="Arial"/>
            </a:endParaRPr>
          </a:p>
        </p:txBody>
      </p:sp>
      <p:sp>
        <p:nvSpPr>
          <p:cNvPr id="508" name="Google Shape;178;p7"/>
          <p:cNvSpPr/>
          <p:nvPr/>
        </p:nvSpPr>
        <p:spPr>
          <a:xfrm>
            <a:off x="6434640" y="4068720"/>
            <a:ext cx="3501360" cy="7981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solidFill>
                <a:effectLst/>
                <a:uFillTx/>
                <a:latin typeface="Meiryo"/>
                <a:ea typeface="Meiryo"/>
              </a:rPr>
              <a:t>サンクスページに到達した</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ユーザーを自動で</a:t>
            </a:r>
            <a:r>
              <a:rPr lang="en-US" sz="1400" b="0" u="none" strike="noStrike">
                <a:solidFill>
                  <a:schemeClr val="dk1"/>
                </a:solidFill>
                <a:effectLst/>
                <a:uFillTx/>
                <a:latin typeface="Meiryo"/>
                <a:ea typeface="Meiryo"/>
              </a:rPr>
              <a:t>LINE</a:t>
            </a:r>
            <a:r>
              <a:rPr lang="ja-JP" sz="1400" b="0" u="none" strike="noStrike">
                <a:solidFill>
                  <a:schemeClr val="dk1"/>
                </a:solidFill>
                <a:effectLst/>
                <a:uFillTx/>
                <a:latin typeface="Meiryo"/>
                <a:ea typeface="Meiryo"/>
              </a:rPr>
              <a:t>に誘導。</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友だち追加、追客に活用可能。</a:t>
            </a:r>
            <a:endParaRPr lang="en-US" sz="1400" b="0" u="none" strike="noStrike">
              <a:solidFill>
                <a:srgbClr val="000000"/>
              </a:solidFill>
              <a:effectLst/>
              <a:uFillTx/>
              <a:latin typeface="Arial"/>
            </a:endParaRPr>
          </a:p>
        </p:txBody>
      </p:sp>
      <p:sp>
        <p:nvSpPr>
          <p:cNvPr id="509" name="Google Shape;178;p7"/>
          <p:cNvSpPr/>
          <p:nvPr/>
        </p:nvSpPr>
        <p:spPr>
          <a:xfrm>
            <a:off x="6434640" y="5014800"/>
            <a:ext cx="2337840" cy="3672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lumMod val="50000"/>
                    <a:lumOff val="50000"/>
                  </a:schemeClr>
                </a:solidFill>
                <a:effectLst/>
                <a:uFillTx/>
                <a:latin typeface="Meiryo"/>
                <a:ea typeface="Meiryo"/>
              </a:rPr>
              <a:t>事例：美容医療</a:t>
            </a:r>
            <a:endParaRPr lang="en-US" sz="1400" b="0" u="none" strike="noStrike">
              <a:solidFill>
                <a:srgbClr val="000000"/>
              </a:solidFill>
              <a:effectLst/>
              <a:uFillTx/>
              <a:latin typeface="Arial"/>
            </a:endParaRPr>
          </a:p>
        </p:txBody>
      </p:sp>
      <p:pic>
        <p:nvPicPr>
          <p:cNvPr id="510" name="図 3"/>
          <p:cNvPicPr/>
          <p:nvPr/>
        </p:nvPicPr>
        <p:blipFill>
          <a:blip r:embed="rId3"/>
          <a:stretch/>
        </p:blipFill>
        <p:spPr>
          <a:xfrm>
            <a:off x="3639240" y="2409840"/>
            <a:ext cx="2626920" cy="1492560"/>
          </a:xfrm>
          <a:prstGeom prst="rect">
            <a:avLst/>
          </a:prstGeom>
          <a:noFill/>
          <a:ln w="0">
            <a:noFill/>
          </a:ln>
        </p:spPr>
      </p:pic>
      <p:sp>
        <p:nvSpPr>
          <p:cNvPr id="511" name="Google Shape;178;p7"/>
          <p:cNvSpPr/>
          <p:nvPr/>
        </p:nvSpPr>
        <p:spPr>
          <a:xfrm>
            <a:off x="440280" y="5328720"/>
            <a:ext cx="2751840" cy="89064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defTabSz="914400">
              <a:lnSpc>
                <a:spcPct val="100000"/>
              </a:lnSpc>
            </a:pPr>
            <a:r>
              <a:rPr lang="en-US" sz="1200" b="0" u="none" strike="noStrike">
                <a:solidFill>
                  <a:schemeClr val="dk1">
                    <a:lumMod val="50000"/>
                    <a:lumOff val="50000"/>
                  </a:schemeClr>
                </a:solidFill>
                <a:effectLst/>
                <a:uFillTx/>
                <a:latin typeface="Meiryo"/>
                <a:ea typeface="Meiryo"/>
              </a:rPr>
              <a:t>LP</a:t>
            </a:r>
            <a:r>
              <a:rPr lang="ja-JP" sz="1200" b="0" u="none" strike="noStrike">
                <a:solidFill>
                  <a:schemeClr val="dk1">
                    <a:lumMod val="50000"/>
                    <a:lumOff val="50000"/>
                  </a:schemeClr>
                </a:solidFill>
                <a:effectLst/>
                <a:uFillTx/>
                <a:latin typeface="Meiryo"/>
                <a:ea typeface="Meiryo"/>
              </a:rPr>
              <a:t>離脱ユーザーに対して</a:t>
            </a:r>
            <a:endParaRPr lang="en-US" sz="1200" b="0" u="none" strike="noStrike">
              <a:solidFill>
                <a:srgbClr val="000000"/>
              </a:solidFill>
              <a:effectLst/>
              <a:uFillTx/>
              <a:latin typeface="Arial"/>
            </a:endParaRPr>
          </a:p>
          <a:p>
            <a:pPr defTabSz="914400">
              <a:lnSpc>
                <a:spcPct val="100000"/>
              </a:lnSpc>
            </a:pPr>
            <a:r>
              <a:rPr lang="en-US" sz="1200" b="0" u="none" strike="noStrike">
                <a:solidFill>
                  <a:schemeClr val="dk1">
                    <a:lumMod val="50000"/>
                    <a:lumOff val="50000"/>
                  </a:schemeClr>
                </a:solidFill>
                <a:effectLst/>
                <a:uFillTx/>
                <a:latin typeface="Meiryo"/>
                <a:ea typeface="Meiryo"/>
              </a:rPr>
              <a:t>LINE</a:t>
            </a:r>
            <a:r>
              <a:rPr lang="ja-JP" sz="1200" b="0" u="none" strike="noStrike">
                <a:solidFill>
                  <a:schemeClr val="dk1">
                    <a:lumMod val="50000"/>
                    <a:lumOff val="50000"/>
                  </a:schemeClr>
                </a:solidFill>
                <a:effectLst/>
                <a:uFillTx/>
                <a:latin typeface="Meiryo"/>
                <a:ea typeface="Meiryo"/>
              </a:rPr>
              <a:t>誘導を実施。</a:t>
            </a:r>
            <a:endParaRPr lang="en-US" sz="1200" b="0" u="none" strike="noStrike">
              <a:solidFill>
                <a:srgbClr val="000000"/>
              </a:solidFill>
              <a:effectLst/>
              <a:uFillTx/>
              <a:latin typeface="Arial"/>
            </a:endParaRPr>
          </a:p>
          <a:p>
            <a:pPr defTabSz="914400">
              <a:lnSpc>
                <a:spcPct val="100000"/>
              </a:lnSpc>
            </a:pPr>
            <a:r>
              <a:rPr lang="en-US" sz="1200" b="0" u="none" strike="noStrike">
                <a:solidFill>
                  <a:schemeClr val="dk1">
                    <a:lumMod val="50000"/>
                    <a:lumOff val="50000"/>
                  </a:schemeClr>
                </a:solidFill>
                <a:effectLst/>
                <a:uFillTx/>
                <a:latin typeface="Meiryo"/>
                <a:ea typeface="Meiryo"/>
              </a:rPr>
              <a:t>LINE</a:t>
            </a:r>
            <a:r>
              <a:rPr lang="ja-JP" sz="1200" b="0" u="none" strike="noStrike">
                <a:solidFill>
                  <a:schemeClr val="dk1">
                    <a:lumMod val="50000"/>
                    <a:lumOff val="50000"/>
                  </a:schemeClr>
                </a:solidFill>
                <a:effectLst/>
                <a:uFillTx/>
                <a:latin typeface="Meiryo"/>
                <a:ea typeface="Meiryo"/>
              </a:rPr>
              <a:t>追加から</a:t>
            </a:r>
            <a:r>
              <a:rPr lang="en-US" sz="1200" b="0" u="none" strike="noStrike">
                <a:solidFill>
                  <a:schemeClr val="dk1">
                    <a:lumMod val="50000"/>
                    <a:lumOff val="50000"/>
                  </a:schemeClr>
                </a:solidFill>
                <a:effectLst/>
                <a:uFillTx/>
                <a:latin typeface="Meiryo"/>
                <a:ea typeface="Meiryo"/>
              </a:rPr>
              <a:t>20</a:t>
            </a:r>
            <a:r>
              <a:rPr lang="ja-JP" sz="1200" b="0" u="none" strike="noStrike">
                <a:solidFill>
                  <a:schemeClr val="dk1">
                    <a:lumMod val="50000"/>
                    <a:lumOff val="50000"/>
                  </a:schemeClr>
                </a:solidFill>
                <a:effectLst/>
                <a:uFillTx/>
                <a:latin typeface="Meiryo"/>
                <a:ea typeface="Meiryo"/>
              </a:rPr>
              <a:t>％が</a:t>
            </a:r>
            <a:r>
              <a:rPr lang="en-US" sz="1200" b="0" u="none" strike="noStrike">
                <a:solidFill>
                  <a:schemeClr val="dk1">
                    <a:lumMod val="50000"/>
                    <a:lumOff val="50000"/>
                  </a:schemeClr>
                </a:solidFill>
                <a:effectLst/>
                <a:uFillTx/>
                <a:latin typeface="Meiryo"/>
                <a:ea typeface="Meiryo"/>
              </a:rPr>
              <a:t>CV</a:t>
            </a:r>
            <a:endParaRPr lang="en-US" sz="1200" b="0" u="none" strike="noStrike">
              <a:solidFill>
                <a:srgbClr val="000000"/>
              </a:solidFill>
              <a:effectLst/>
              <a:uFillTx/>
              <a:latin typeface="Arial"/>
            </a:endParaRPr>
          </a:p>
          <a:p>
            <a:pPr defTabSz="914400">
              <a:lnSpc>
                <a:spcPct val="100000"/>
              </a:lnSpc>
            </a:pPr>
            <a:endParaRPr lang="en-US" sz="1200" b="0" u="none" strike="noStrike">
              <a:solidFill>
                <a:srgbClr val="000000"/>
              </a:solidFill>
              <a:effectLst/>
              <a:uFillTx/>
              <a:latin typeface="Arial"/>
            </a:endParaRPr>
          </a:p>
        </p:txBody>
      </p:sp>
      <p:sp>
        <p:nvSpPr>
          <p:cNvPr id="512" name="Google Shape;178;p7"/>
          <p:cNvSpPr/>
          <p:nvPr/>
        </p:nvSpPr>
        <p:spPr>
          <a:xfrm>
            <a:off x="6825240" y="5328720"/>
            <a:ext cx="2851560" cy="52128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defTabSz="914400">
              <a:lnSpc>
                <a:spcPct val="100000"/>
              </a:lnSpc>
            </a:pPr>
            <a:r>
              <a:rPr lang="ja-JP" sz="1200" b="0" u="none" strike="noStrike">
                <a:solidFill>
                  <a:schemeClr val="dk1">
                    <a:lumMod val="50000"/>
                    <a:lumOff val="50000"/>
                  </a:schemeClr>
                </a:solidFill>
                <a:effectLst/>
                <a:uFillTx/>
                <a:latin typeface="Meiryo"/>
                <a:ea typeface="Meiryo"/>
              </a:rPr>
              <a:t>導入後友だち増加数が</a:t>
            </a:r>
            <a:r>
              <a:rPr lang="en-US" sz="1200" b="0" u="none" strike="noStrike">
                <a:solidFill>
                  <a:schemeClr val="dk1">
                    <a:lumMod val="50000"/>
                    <a:lumOff val="50000"/>
                  </a:schemeClr>
                </a:solidFill>
                <a:effectLst/>
                <a:uFillTx/>
                <a:latin typeface="Meiryo"/>
                <a:ea typeface="Meiryo"/>
              </a:rPr>
              <a:t>1.5</a:t>
            </a:r>
            <a:r>
              <a:rPr lang="ja-JP" sz="1200" b="0" u="none" strike="noStrike">
                <a:solidFill>
                  <a:schemeClr val="dk1">
                    <a:lumMod val="50000"/>
                    <a:lumOff val="50000"/>
                  </a:schemeClr>
                </a:solidFill>
                <a:effectLst/>
                <a:uFillTx/>
                <a:latin typeface="Meiryo"/>
                <a:ea typeface="Meiryo"/>
              </a:rPr>
              <a:t>倍に。</a:t>
            </a:r>
            <a:endParaRPr lang="en-US" sz="1200" b="0" u="none" strike="noStrike">
              <a:solidFill>
                <a:srgbClr val="000000"/>
              </a:solidFill>
              <a:effectLst/>
              <a:uFillTx/>
              <a:latin typeface="Arial"/>
            </a:endParaRPr>
          </a:p>
          <a:p>
            <a:pPr defTabSz="914400">
              <a:lnSpc>
                <a:spcPct val="100000"/>
              </a:lnSpc>
            </a:pPr>
            <a:r>
              <a:rPr lang="ja-JP" sz="1200" b="0" u="none" strike="noStrike">
                <a:solidFill>
                  <a:schemeClr val="dk1">
                    <a:lumMod val="50000"/>
                    <a:lumOff val="50000"/>
                  </a:schemeClr>
                </a:solidFill>
                <a:effectLst/>
                <a:uFillTx/>
                <a:latin typeface="Meiryo"/>
                <a:ea typeface="Meiryo"/>
              </a:rPr>
              <a:t>実反響率も</a:t>
            </a:r>
            <a:r>
              <a:rPr lang="en-US" sz="1200" b="0" u="none" strike="noStrike">
                <a:solidFill>
                  <a:schemeClr val="dk1">
                    <a:lumMod val="50000"/>
                    <a:lumOff val="50000"/>
                  </a:schemeClr>
                </a:solidFill>
                <a:effectLst/>
                <a:uFillTx/>
                <a:latin typeface="Meiryo"/>
                <a:ea typeface="Meiryo"/>
              </a:rPr>
              <a:t>40%</a:t>
            </a:r>
            <a:r>
              <a:rPr lang="ja-JP" sz="1200" b="0" u="none" strike="noStrike">
                <a:solidFill>
                  <a:schemeClr val="dk1">
                    <a:lumMod val="50000"/>
                    <a:lumOff val="50000"/>
                  </a:schemeClr>
                </a:solidFill>
                <a:effectLst/>
                <a:uFillTx/>
                <a:latin typeface="Meiryo"/>
                <a:ea typeface="Meiryo"/>
              </a:rPr>
              <a:t>程度改善。</a:t>
            </a:r>
            <a:endParaRPr lang="en-US" sz="1200" b="0" u="none" strike="noStrike">
              <a:solidFill>
                <a:srgbClr val="000000"/>
              </a:solidFill>
              <a:effectLst/>
              <a:uFillTx/>
              <a:latin typeface="Arial"/>
            </a:endParaRPr>
          </a:p>
        </p:txBody>
      </p:sp>
      <p:sp>
        <p:nvSpPr>
          <p:cNvPr id="513" name="角丸四角形 8"/>
          <p:cNvSpPr/>
          <p:nvPr/>
        </p:nvSpPr>
        <p:spPr>
          <a:xfrm>
            <a:off x="3460680" y="1776240"/>
            <a:ext cx="2985840" cy="4470840"/>
          </a:xfrm>
          <a:prstGeom prst="roundRect">
            <a:avLst>
              <a:gd name="adj" fmla="val 3567"/>
            </a:avLst>
          </a:prstGeom>
          <a:solidFill>
            <a:schemeClr val="bg1">
              <a:lumMod val="95000"/>
            </a:schemeClr>
          </a:solidFill>
          <a:ln w="25400">
            <a:solidFill>
              <a:srgbClr val="000000">
                <a:lumMod val="50000"/>
                <a:lumOff val="50000"/>
              </a:srgbClr>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514" name="Google Shape;178;p7"/>
          <p:cNvSpPr/>
          <p:nvPr/>
        </p:nvSpPr>
        <p:spPr>
          <a:xfrm>
            <a:off x="3796560" y="195012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通知メッセージ</a:t>
            </a:r>
            <a:endParaRPr lang="en-US" sz="2000" b="0" u="none" strike="noStrike">
              <a:solidFill>
                <a:srgbClr val="000000"/>
              </a:solidFill>
              <a:effectLst/>
              <a:uFillTx/>
              <a:latin typeface="Arial"/>
            </a:endParaRPr>
          </a:p>
        </p:txBody>
      </p:sp>
      <p:sp>
        <p:nvSpPr>
          <p:cNvPr id="515" name="Google Shape;178;p7"/>
          <p:cNvSpPr/>
          <p:nvPr/>
        </p:nvSpPr>
        <p:spPr>
          <a:xfrm>
            <a:off x="3232440" y="4068720"/>
            <a:ext cx="3501360" cy="7981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solidFill>
                <a:effectLst/>
                <a:uFillTx/>
                <a:latin typeface="Meiryo"/>
                <a:ea typeface="Meiryo"/>
              </a:rPr>
              <a:t>友だちではないユーザーに</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対して予約完了通知などを</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送り友だちを増やす。</a:t>
            </a:r>
            <a:endParaRPr lang="en-US" sz="1400" b="0" u="none" strike="noStrike">
              <a:solidFill>
                <a:srgbClr val="000000"/>
              </a:solidFill>
              <a:effectLst/>
              <a:uFillTx/>
              <a:latin typeface="Arial"/>
            </a:endParaRPr>
          </a:p>
        </p:txBody>
      </p:sp>
      <p:sp>
        <p:nvSpPr>
          <p:cNvPr id="516" name="Google Shape;178;p7"/>
          <p:cNvSpPr/>
          <p:nvPr/>
        </p:nvSpPr>
        <p:spPr>
          <a:xfrm>
            <a:off x="3232440" y="5014800"/>
            <a:ext cx="2337840" cy="3672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lumMod val="50000"/>
                    <a:lumOff val="50000"/>
                  </a:schemeClr>
                </a:solidFill>
                <a:effectLst/>
                <a:uFillTx/>
                <a:latin typeface="Meiryo"/>
                <a:ea typeface="Meiryo"/>
              </a:rPr>
              <a:t>事例：宅配ピザ</a:t>
            </a:r>
            <a:endParaRPr lang="en-US" sz="1400" b="0" u="none" strike="noStrike">
              <a:solidFill>
                <a:srgbClr val="000000"/>
              </a:solidFill>
              <a:effectLst/>
              <a:uFillTx/>
              <a:latin typeface="Arial"/>
            </a:endParaRPr>
          </a:p>
        </p:txBody>
      </p:sp>
      <p:pic>
        <p:nvPicPr>
          <p:cNvPr id="517" name="図 40"/>
          <p:cNvPicPr/>
          <p:nvPr/>
        </p:nvPicPr>
        <p:blipFill>
          <a:blip r:embed="rId4"/>
          <a:stretch/>
        </p:blipFill>
        <p:spPr>
          <a:xfrm>
            <a:off x="3968280" y="1481040"/>
            <a:ext cx="2029320" cy="3608280"/>
          </a:xfrm>
          <a:prstGeom prst="rect">
            <a:avLst/>
          </a:prstGeom>
          <a:noFill/>
          <a:ln w="0">
            <a:noFill/>
          </a:ln>
        </p:spPr>
      </p:pic>
      <p:sp>
        <p:nvSpPr>
          <p:cNvPr id="518" name="Google Shape;178;p7"/>
          <p:cNvSpPr/>
          <p:nvPr/>
        </p:nvSpPr>
        <p:spPr>
          <a:xfrm>
            <a:off x="3623040" y="5328720"/>
            <a:ext cx="2851560" cy="52128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defTabSz="914400">
              <a:lnSpc>
                <a:spcPct val="100000"/>
              </a:lnSpc>
            </a:pPr>
            <a:r>
              <a:rPr lang="ja-JP" sz="1200" b="0" u="none" strike="noStrike">
                <a:solidFill>
                  <a:schemeClr val="dk1">
                    <a:lumMod val="50000"/>
                    <a:lumOff val="50000"/>
                  </a:schemeClr>
                </a:solidFill>
                <a:effectLst/>
                <a:uFillTx/>
                <a:latin typeface="Meiryo"/>
                <a:ea typeface="Meiryo"/>
              </a:rPr>
              <a:t>通知メッセージ導入４ヶ月で</a:t>
            </a:r>
            <a:endParaRPr lang="en-US" sz="1200" b="0" u="none" strike="noStrike">
              <a:solidFill>
                <a:srgbClr val="000000"/>
              </a:solidFill>
              <a:effectLst/>
              <a:uFillTx/>
              <a:latin typeface="Arial"/>
            </a:endParaRPr>
          </a:p>
          <a:p>
            <a:pPr defTabSz="914400">
              <a:lnSpc>
                <a:spcPct val="100000"/>
              </a:lnSpc>
            </a:pPr>
            <a:r>
              <a:rPr lang="ja-JP" sz="1200" b="0" u="none" strike="noStrike">
                <a:solidFill>
                  <a:schemeClr val="dk1">
                    <a:lumMod val="50000"/>
                    <a:lumOff val="50000"/>
                  </a:schemeClr>
                </a:solidFill>
                <a:effectLst/>
                <a:uFillTx/>
                <a:latin typeface="Meiryo"/>
                <a:ea typeface="Meiryo"/>
              </a:rPr>
              <a:t>友だち数</a:t>
            </a:r>
            <a:r>
              <a:rPr lang="en-US" sz="1200" b="0" u="none" strike="noStrike">
                <a:solidFill>
                  <a:schemeClr val="dk1">
                    <a:lumMod val="50000"/>
                    <a:lumOff val="50000"/>
                  </a:schemeClr>
                </a:solidFill>
                <a:effectLst/>
                <a:uFillTx/>
                <a:latin typeface="Meiryo"/>
                <a:ea typeface="Meiryo"/>
              </a:rPr>
              <a:t>2</a:t>
            </a:r>
            <a:r>
              <a:rPr lang="ja-JP" sz="1200" b="0" u="none" strike="noStrike">
                <a:solidFill>
                  <a:schemeClr val="dk1">
                    <a:lumMod val="50000"/>
                    <a:lumOff val="50000"/>
                  </a:schemeClr>
                </a:solidFill>
                <a:effectLst/>
                <a:uFillTx/>
                <a:latin typeface="Meiryo"/>
                <a:ea typeface="Meiryo"/>
              </a:rPr>
              <a:t>倍</a:t>
            </a:r>
            <a:endParaRPr lang="en-US" sz="1200" b="0" u="none" strike="noStrike">
              <a:solidFill>
                <a:srgbClr val="000000"/>
              </a:solidFill>
              <a:effectLst/>
              <a:uFillTx/>
              <a:latin typeface="Arial"/>
            </a:endParaRPr>
          </a:p>
        </p:txBody>
      </p:sp>
      <p:pic>
        <p:nvPicPr>
          <p:cNvPr id="519" name="Picture 2" descr="サンクスページ インスタ無料テンプレートデザイン。イラストや ..."/>
          <p:cNvPicPr/>
          <p:nvPr/>
        </p:nvPicPr>
        <p:blipFill>
          <a:blip r:embed="rId5"/>
          <a:srcRect t="18238" b="39631"/>
          <a:stretch/>
        </p:blipFill>
        <p:spPr>
          <a:xfrm>
            <a:off x="7001280" y="2549160"/>
            <a:ext cx="2326320" cy="1225080"/>
          </a:xfrm>
          <a:prstGeom prst="rect">
            <a:avLst/>
          </a:prstGeom>
          <a:noFill/>
          <a:ln w="0">
            <a:noFill/>
          </a:ln>
        </p:spPr>
      </p:pic>
      <p:sp>
        <p:nvSpPr>
          <p:cNvPr id="520"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a:t>
            </a:r>
            <a:endParaRPr lang="en-US" sz="1600" b="0" u="none" strike="noStrike">
              <a:solidFill>
                <a:srgbClr val="000000"/>
              </a:solidFill>
              <a:effectLst/>
              <a:uFillTx/>
              <a:latin typeface="Arial"/>
            </a:endParaRPr>
          </a:p>
        </p:txBody>
      </p:sp>
      <p:sp>
        <p:nvSpPr>
          <p:cNvPr id="521" name="Google Shape;178;p7"/>
          <p:cNvSpPr/>
          <p:nvPr/>
        </p:nvSpPr>
        <p:spPr>
          <a:xfrm>
            <a:off x="77040" y="943920"/>
            <a:ext cx="9751680" cy="5364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solidFill>
                <a:effectLst/>
                <a:uFillTx/>
                <a:latin typeface="Meiryo"/>
                <a:ea typeface="Meiryo"/>
              </a:rPr>
              <a:t>準顕在（獲得見込みが高い）層を効率よく取れる動線を用意し運用します。</a:t>
            </a:r>
            <a:endParaRPr lang="en-US" sz="1400" b="0" u="none" strike="noStrike">
              <a:solidFill>
                <a:srgbClr val="000000"/>
              </a:solidFill>
              <a:effectLst/>
              <a:uFillTx/>
              <a:latin typeface="Arial"/>
            </a:endParaRPr>
          </a:p>
          <a:p>
            <a:pPr algn="ctr" defTabSz="914400">
              <a:lnSpc>
                <a:spcPct val="100000"/>
              </a:lnSpc>
            </a:pPr>
            <a:r>
              <a:rPr lang="en-US" sz="1100" b="0" u="none" strike="noStrike">
                <a:solidFill>
                  <a:srgbClr val="FF0000"/>
                </a:solidFill>
                <a:effectLst/>
                <a:uFillTx/>
                <a:latin typeface="Meiryo"/>
                <a:ea typeface="Meiryo"/>
              </a:rPr>
              <a:t>※実施想定の友だち追加動線について、★を記載しております。</a:t>
            </a:r>
            <a:endParaRPr lang="en-US" sz="1100" b="0" u="none" strike="noStrike">
              <a:solidFill>
                <a:srgbClr val="000000"/>
              </a:solidFill>
              <a:effectLst/>
              <a:uFillTx/>
              <a:latin typeface="Arial"/>
            </a:endParaRPr>
          </a:p>
        </p:txBody>
      </p:sp>
      <p:sp>
        <p:nvSpPr>
          <p:cNvPr id="522" name="星: 5 pt 5"/>
          <p:cNvSpPr/>
          <p:nvPr/>
        </p:nvSpPr>
        <p:spPr>
          <a:xfrm>
            <a:off x="2749320" y="1706760"/>
            <a:ext cx="539640" cy="539640"/>
          </a:xfrm>
          <a:prstGeom prst="star5">
            <a:avLst>
              <a:gd name="adj" fmla="val 32226"/>
              <a:gd name="hf" fmla="val 105146"/>
              <a:gd name="vf" fmla="val 110557"/>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4"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新規友だちの追加</a:t>
            </a:r>
            <a:r>
              <a:rPr lang="ja-JP" sz="1600" b="1" u="none" strike="noStrike">
                <a:solidFill>
                  <a:srgbClr val="323366"/>
                </a:solidFill>
                <a:effectLst/>
                <a:uFillTx/>
                <a:latin typeface="メイリオ"/>
                <a:ea typeface="メイリオ"/>
              </a:rPr>
              <a:t>（ポップアップ </a:t>
            </a:r>
            <a:r>
              <a:rPr lang="en-US" sz="1600" b="1" u="none" strike="noStrike">
                <a:solidFill>
                  <a:srgbClr val="323366"/>
                </a:solidFill>
                <a:effectLst/>
                <a:uFillTx/>
                <a:latin typeface="メイリオ"/>
                <a:ea typeface="メイリオ"/>
              </a:rPr>
              <a:t>/ </a:t>
            </a:r>
            <a:r>
              <a:rPr lang="ja-JP" sz="1600" b="1" u="none" strike="noStrike">
                <a:solidFill>
                  <a:srgbClr val="323366"/>
                </a:solidFill>
                <a:effectLst/>
                <a:uFillTx/>
                <a:latin typeface="メイリオ"/>
                <a:ea typeface="メイリオ"/>
              </a:rPr>
              <a:t>離脱防止）</a:t>
            </a:r>
            <a:endParaRPr lang="en-US" sz="1600" b="0" u="none" strike="noStrike">
              <a:solidFill>
                <a:srgbClr val="000000"/>
              </a:solidFill>
              <a:effectLst/>
              <a:uFillTx/>
              <a:latin typeface="Arial"/>
            </a:endParaRPr>
          </a:p>
        </p:txBody>
      </p:sp>
      <p:grpSp>
        <p:nvGrpSpPr>
          <p:cNvPr id="525" name="グループ化 2"/>
          <p:cNvGrpSpPr/>
          <p:nvPr/>
        </p:nvGrpSpPr>
        <p:grpSpPr>
          <a:xfrm>
            <a:off x="543240" y="777600"/>
            <a:ext cx="3105000" cy="484920"/>
            <a:chOff x="543240" y="777600"/>
            <a:chExt cx="3105000" cy="484920"/>
          </a:xfrm>
        </p:grpSpPr>
        <p:sp>
          <p:nvSpPr>
            <p:cNvPr id="526" name="Google Shape;51;p19"/>
            <p:cNvSpPr/>
            <p:nvPr/>
          </p:nvSpPr>
          <p:spPr>
            <a:xfrm>
              <a:off x="543240" y="777600"/>
              <a:ext cx="3105000" cy="484920"/>
            </a:xfrm>
            <a:prstGeom prst="roundRect">
              <a:avLst>
                <a:gd name="adj" fmla="val 16667"/>
              </a:avLst>
            </a:prstGeom>
            <a:solidFill>
              <a:schemeClr val="dk1"/>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endParaRPr lang="en-US" sz="1400" b="1" u="none" strike="noStrike">
                <a:solidFill>
                  <a:schemeClr val="lt1"/>
                </a:solidFill>
                <a:effectLst/>
                <a:uFillTx/>
                <a:latin typeface="Meiryo"/>
                <a:ea typeface="Meiryo"/>
              </a:endParaRPr>
            </a:p>
          </p:txBody>
        </p:sp>
        <p:sp>
          <p:nvSpPr>
            <p:cNvPr id="527" name="テキスト ボックス 4"/>
            <p:cNvSpPr/>
            <p:nvPr/>
          </p:nvSpPr>
          <p:spPr>
            <a:xfrm>
              <a:off x="722880" y="788040"/>
              <a:ext cx="2746080" cy="357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20000"/>
                </a:lnSpc>
              </a:pPr>
              <a:r>
                <a:rPr lang="ja-JP" sz="1500" b="1" u="none" strike="noStrike">
                  <a:solidFill>
                    <a:schemeClr val="lt1"/>
                  </a:solidFill>
                  <a:effectLst/>
                  <a:uFillTx/>
                  <a:latin typeface="Meiryo"/>
                  <a:ea typeface="Meiryo"/>
                </a:rPr>
                <a:t>ポップアップ</a:t>
              </a:r>
              <a:r>
                <a:rPr lang="en-US" sz="1500" b="1" u="none" strike="noStrike">
                  <a:solidFill>
                    <a:schemeClr val="lt1"/>
                  </a:solidFill>
                  <a:effectLst/>
                  <a:uFillTx/>
                  <a:latin typeface="Meiryo"/>
                  <a:ea typeface="Meiryo"/>
                </a:rPr>
                <a:t>(</a:t>
              </a:r>
              <a:r>
                <a:rPr lang="ja-JP" sz="1500" b="1" u="none" strike="noStrike">
                  <a:solidFill>
                    <a:schemeClr val="lt1"/>
                  </a:solidFill>
                  <a:effectLst/>
                  <a:uFillTx/>
                  <a:latin typeface="Meiryo"/>
                  <a:ea typeface="Meiryo"/>
                </a:rPr>
                <a:t>離脱防止 など</a:t>
              </a:r>
              <a:r>
                <a:rPr lang="en-US" sz="1500" b="1" u="none" strike="noStrike">
                  <a:solidFill>
                    <a:schemeClr val="lt1"/>
                  </a:solidFill>
                  <a:effectLst/>
                  <a:uFillTx/>
                  <a:latin typeface="Meiryo"/>
                  <a:ea typeface="Meiryo"/>
                </a:rPr>
                <a:t>)</a:t>
              </a:r>
              <a:endParaRPr lang="en-US" sz="1500" b="0" u="none" strike="noStrike">
                <a:solidFill>
                  <a:srgbClr val="000000"/>
                </a:solidFill>
                <a:effectLst/>
                <a:uFillTx/>
                <a:latin typeface="Arial"/>
              </a:endParaRPr>
            </a:p>
          </p:txBody>
        </p:sp>
      </p:grpSp>
      <p:sp>
        <p:nvSpPr>
          <p:cNvPr id="528" name="正方形/長方形 7"/>
          <p:cNvSpPr/>
          <p:nvPr/>
        </p:nvSpPr>
        <p:spPr>
          <a:xfrm>
            <a:off x="3806280" y="788040"/>
            <a:ext cx="587988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600" b="0" u="none" strike="noStrike">
                <a:solidFill>
                  <a:schemeClr val="dk1"/>
                </a:solidFill>
                <a:effectLst/>
                <a:uFillTx/>
                <a:latin typeface="Meiryo"/>
                <a:ea typeface="Meiryo"/>
              </a:rPr>
              <a:t>WEB</a:t>
            </a:r>
            <a:r>
              <a:rPr lang="ja-JP" sz="1600" b="0" u="none" strike="noStrike">
                <a:solidFill>
                  <a:schemeClr val="dk1"/>
                </a:solidFill>
                <a:effectLst/>
                <a:uFillTx/>
                <a:latin typeface="Meiryo"/>
                <a:ea typeface="Meiryo"/>
              </a:rPr>
              <a:t>サイト上の特定アクションを起こしたユーザーに対して</a:t>
            </a:r>
            <a:endParaRPr lang="en-US" sz="1600" b="0" u="none" strike="noStrike">
              <a:solidFill>
                <a:srgbClr val="000000"/>
              </a:solidFill>
              <a:effectLst/>
              <a:uFillTx/>
              <a:latin typeface="Arial"/>
            </a:endParaRPr>
          </a:p>
          <a:p>
            <a:pPr algn="ctr" defTabSz="914400">
              <a:lnSpc>
                <a:spcPct val="100000"/>
              </a:lnSpc>
            </a:pPr>
            <a:r>
              <a:rPr lang="ja-JP" sz="1600" b="0" u="none" strike="noStrike">
                <a:solidFill>
                  <a:schemeClr val="dk1"/>
                </a:solidFill>
                <a:effectLst/>
                <a:uFillTx/>
                <a:latin typeface="Meiryo"/>
                <a:ea typeface="Meiryo"/>
              </a:rPr>
              <a:t>ポップアップの形で</a:t>
            </a:r>
            <a:r>
              <a:rPr lang="en-US" sz="1600" b="0" u="none" strike="noStrike">
                <a:solidFill>
                  <a:schemeClr val="dk1"/>
                </a:solidFill>
                <a:effectLst/>
                <a:uFillTx/>
                <a:latin typeface="Meiryo"/>
                <a:ea typeface="Meiryo"/>
              </a:rPr>
              <a:t>LINE</a:t>
            </a:r>
            <a:r>
              <a:rPr lang="ja-JP" sz="1600" b="0" u="none" strike="noStrike">
                <a:solidFill>
                  <a:schemeClr val="dk1"/>
                </a:solidFill>
                <a:effectLst/>
                <a:uFillTx/>
                <a:latin typeface="Meiryo"/>
                <a:ea typeface="Meiryo"/>
              </a:rPr>
              <a:t>誘導の動線を提示。</a:t>
            </a:r>
            <a:endParaRPr lang="en-US" sz="1600" b="0" u="none" strike="noStrike">
              <a:solidFill>
                <a:srgbClr val="000000"/>
              </a:solidFill>
              <a:effectLst/>
              <a:uFillTx/>
              <a:latin typeface="Arial"/>
            </a:endParaRPr>
          </a:p>
        </p:txBody>
      </p:sp>
      <p:pic>
        <p:nvPicPr>
          <p:cNvPr id="529" name="図 5"/>
          <p:cNvPicPr/>
          <p:nvPr/>
        </p:nvPicPr>
        <p:blipFill>
          <a:blip r:embed="rId2"/>
          <a:stretch/>
        </p:blipFill>
        <p:spPr>
          <a:xfrm>
            <a:off x="5764320" y="2258640"/>
            <a:ext cx="1524240" cy="3096360"/>
          </a:xfrm>
          <a:prstGeom prst="rect">
            <a:avLst/>
          </a:prstGeom>
          <a:noFill/>
          <a:ln w="0">
            <a:noFill/>
          </a:ln>
        </p:spPr>
      </p:pic>
      <p:sp>
        <p:nvSpPr>
          <p:cNvPr id="530" name="テキスト ボックス 8"/>
          <p:cNvSpPr/>
          <p:nvPr/>
        </p:nvSpPr>
        <p:spPr>
          <a:xfrm>
            <a:off x="5214960" y="1373040"/>
            <a:ext cx="41479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050" b="0" u="none" strike="noStrike">
                <a:solidFill>
                  <a:srgbClr val="FF0000"/>
                </a:solidFill>
                <a:effectLst/>
                <a:uFillTx/>
                <a:latin typeface="Meiryo"/>
                <a:ea typeface="Meiryo"/>
              </a:rPr>
              <a:t>LINE</a:t>
            </a:r>
            <a:r>
              <a:rPr lang="ja-JP" sz="1050" b="0" u="none" strike="noStrike">
                <a:solidFill>
                  <a:srgbClr val="FF0000"/>
                </a:solidFill>
                <a:effectLst/>
                <a:uFillTx/>
                <a:latin typeface="Meiryo"/>
                <a:ea typeface="Meiryo"/>
              </a:rPr>
              <a:t>以外の注力動線への誘導も同バナーから実施が可能です。</a:t>
            </a:r>
            <a:endParaRPr lang="en-US" sz="1050" b="0" u="none" strike="noStrike">
              <a:solidFill>
                <a:srgbClr val="000000"/>
              </a:solidFill>
              <a:effectLst/>
              <a:uFillTx/>
              <a:latin typeface="Arial"/>
            </a:endParaRPr>
          </a:p>
        </p:txBody>
      </p:sp>
      <p:pic>
        <p:nvPicPr>
          <p:cNvPr id="531" name="図 10"/>
          <p:cNvPicPr/>
          <p:nvPr/>
        </p:nvPicPr>
        <p:blipFill>
          <a:blip r:embed="rId2"/>
          <a:stretch/>
        </p:blipFill>
        <p:spPr>
          <a:xfrm>
            <a:off x="8033040" y="2846160"/>
            <a:ext cx="1524240" cy="3096360"/>
          </a:xfrm>
          <a:prstGeom prst="rect">
            <a:avLst/>
          </a:prstGeom>
          <a:noFill/>
          <a:ln w="0">
            <a:noFill/>
          </a:ln>
        </p:spPr>
      </p:pic>
      <p:sp>
        <p:nvSpPr>
          <p:cNvPr id="532" name="矢印: 右 11"/>
          <p:cNvSpPr/>
          <p:nvPr/>
        </p:nvSpPr>
        <p:spPr>
          <a:xfrm>
            <a:off x="7373160" y="3359520"/>
            <a:ext cx="571320" cy="618840"/>
          </a:xfrm>
          <a:prstGeom prst="rightArrow">
            <a:avLst>
              <a:gd name="adj1" fmla="val 64359"/>
              <a:gd name="adj2" fmla="val 50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33" name="正方形/長方形 12"/>
          <p:cNvSpPr/>
          <p:nvPr/>
        </p:nvSpPr>
        <p:spPr>
          <a:xfrm>
            <a:off x="8116920" y="3057480"/>
            <a:ext cx="1370880" cy="2585160"/>
          </a:xfrm>
          <a:prstGeom prst="rect">
            <a:avLst/>
          </a:prstGeom>
          <a:solidFill>
            <a:schemeClr val="dk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34" name="Google Shape;51;p19"/>
          <p:cNvSpPr/>
          <p:nvPr/>
        </p:nvSpPr>
        <p:spPr>
          <a:xfrm>
            <a:off x="5432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初期：</a:t>
            </a:r>
            <a:r>
              <a:rPr lang="en-US" sz="1400" b="1" u="none" strike="noStrike">
                <a:solidFill>
                  <a:schemeClr val="lt1"/>
                </a:solidFill>
                <a:effectLst/>
                <a:uFillTx/>
                <a:latin typeface="Meiryo"/>
                <a:ea typeface="Meiryo"/>
              </a:rPr>
              <a:t>1.5</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sp>
        <p:nvSpPr>
          <p:cNvPr id="535" name="Google Shape;51;p19"/>
          <p:cNvSpPr/>
          <p:nvPr/>
        </p:nvSpPr>
        <p:spPr>
          <a:xfrm>
            <a:off x="21380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月額</a:t>
            </a:r>
            <a:r>
              <a:rPr lang="en-US" sz="1400" b="1" u="none" strike="noStrike">
                <a:solidFill>
                  <a:schemeClr val="lt1"/>
                </a:solidFill>
                <a:effectLst/>
                <a:uFillTx/>
                <a:latin typeface="Meiryo"/>
                <a:ea typeface="Meiryo"/>
              </a:rPr>
              <a:t>3</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pic>
        <p:nvPicPr>
          <p:cNvPr id="536" name="図 18"/>
          <p:cNvPicPr/>
          <p:nvPr/>
        </p:nvPicPr>
        <p:blipFill>
          <a:blip r:embed="rId3"/>
          <a:stretch/>
        </p:blipFill>
        <p:spPr>
          <a:xfrm>
            <a:off x="8263800" y="3753000"/>
            <a:ext cx="1062360" cy="1114560"/>
          </a:xfrm>
          <a:prstGeom prst="rect">
            <a:avLst/>
          </a:prstGeom>
          <a:noFill/>
          <a:ln w="0">
            <a:noFill/>
          </a:ln>
        </p:spPr>
      </p:pic>
      <p:sp>
        <p:nvSpPr>
          <p:cNvPr id="537" name="正方形/長方形 23"/>
          <p:cNvSpPr/>
          <p:nvPr/>
        </p:nvSpPr>
        <p:spPr>
          <a:xfrm>
            <a:off x="5769360" y="1937880"/>
            <a:ext cx="3787920" cy="2437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lt1"/>
                </a:solidFill>
                <a:effectLst/>
                <a:uFillTx/>
                <a:latin typeface="メイリオ"/>
                <a:ea typeface="メイリオ"/>
              </a:rPr>
              <a:t>動作イメージ</a:t>
            </a:r>
            <a:endParaRPr lang="en-US" sz="1100" b="0" u="none" strike="noStrike">
              <a:solidFill>
                <a:srgbClr val="FFFFFF"/>
              </a:solidFill>
              <a:effectLst/>
              <a:uFillTx/>
              <a:latin typeface="Arial"/>
            </a:endParaRPr>
          </a:p>
        </p:txBody>
      </p:sp>
      <p:pic>
        <p:nvPicPr>
          <p:cNvPr id="538" name="図 6"/>
          <p:cNvPicPr/>
          <p:nvPr/>
        </p:nvPicPr>
        <p:blipFill>
          <a:blip r:embed="rId4"/>
          <a:stretch/>
        </p:blipFill>
        <p:spPr>
          <a:xfrm>
            <a:off x="543240" y="4259880"/>
            <a:ext cx="5058720" cy="2191320"/>
          </a:xfrm>
          <a:prstGeom prst="rect">
            <a:avLst/>
          </a:prstGeom>
          <a:noFill/>
          <a:ln w="0">
            <a:noFill/>
          </a:ln>
        </p:spPr>
      </p:pic>
      <p:pic>
        <p:nvPicPr>
          <p:cNvPr id="539" name="図 13"/>
          <p:cNvPicPr/>
          <p:nvPr/>
        </p:nvPicPr>
        <p:blipFill>
          <a:blip r:embed="rId5"/>
          <a:stretch/>
        </p:blipFill>
        <p:spPr>
          <a:xfrm>
            <a:off x="579600" y="1977840"/>
            <a:ext cx="5022720" cy="2230920"/>
          </a:xfrm>
          <a:prstGeom prst="rect">
            <a:avLst/>
          </a:prstGeom>
          <a:noFill/>
          <a:ln w="0">
            <a:noFill/>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0"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新規友だちの追加</a:t>
            </a:r>
            <a:r>
              <a:rPr lang="ja-JP" sz="1600" b="1" u="none" strike="noStrike">
                <a:solidFill>
                  <a:srgbClr val="323366"/>
                </a:solidFill>
                <a:effectLst/>
                <a:uFillTx/>
                <a:latin typeface="メイリオ"/>
                <a:ea typeface="メイリオ"/>
              </a:rPr>
              <a:t>（ポップアップ </a:t>
            </a:r>
            <a:r>
              <a:rPr lang="en-US" sz="1600" b="1" u="none" strike="noStrike">
                <a:solidFill>
                  <a:srgbClr val="323366"/>
                </a:solidFill>
                <a:effectLst/>
                <a:uFillTx/>
                <a:latin typeface="メイリオ"/>
                <a:ea typeface="メイリオ"/>
              </a:rPr>
              <a:t>/ </a:t>
            </a:r>
            <a:r>
              <a:rPr lang="ja-JP" sz="1600" b="1" u="none" strike="noStrike">
                <a:solidFill>
                  <a:srgbClr val="323366"/>
                </a:solidFill>
                <a:effectLst/>
                <a:uFillTx/>
                <a:latin typeface="メイリオ"/>
                <a:ea typeface="メイリオ"/>
              </a:rPr>
              <a:t>離脱防止）</a:t>
            </a:r>
            <a:endParaRPr lang="en-US" sz="1600" b="0" u="none" strike="noStrike">
              <a:solidFill>
                <a:srgbClr val="000000"/>
              </a:solidFill>
              <a:effectLst/>
              <a:uFillTx/>
              <a:latin typeface="Arial"/>
            </a:endParaRPr>
          </a:p>
        </p:txBody>
      </p:sp>
      <p:grpSp>
        <p:nvGrpSpPr>
          <p:cNvPr id="541" name="グループ化 2"/>
          <p:cNvGrpSpPr/>
          <p:nvPr/>
        </p:nvGrpSpPr>
        <p:grpSpPr>
          <a:xfrm>
            <a:off x="543240" y="777600"/>
            <a:ext cx="3105000" cy="484920"/>
            <a:chOff x="543240" y="777600"/>
            <a:chExt cx="3105000" cy="484920"/>
          </a:xfrm>
        </p:grpSpPr>
        <p:sp>
          <p:nvSpPr>
            <p:cNvPr id="542" name="Google Shape;51;p19"/>
            <p:cNvSpPr/>
            <p:nvPr/>
          </p:nvSpPr>
          <p:spPr>
            <a:xfrm>
              <a:off x="543240" y="777600"/>
              <a:ext cx="3105000" cy="484920"/>
            </a:xfrm>
            <a:prstGeom prst="roundRect">
              <a:avLst>
                <a:gd name="adj" fmla="val 16667"/>
              </a:avLst>
            </a:prstGeom>
            <a:solidFill>
              <a:schemeClr val="dk1"/>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endParaRPr lang="en-US" sz="1400" b="1" u="none" strike="noStrike">
                <a:solidFill>
                  <a:schemeClr val="lt1"/>
                </a:solidFill>
                <a:effectLst/>
                <a:uFillTx/>
                <a:latin typeface="Meiryo"/>
                <a:ea typeface="Meiryo"/>
              </a:endParaRPr>
            </a:p>
          </p:txBody>
        </p:sp>
        <p:sp>
          <p:nvSpPr>
            <p:cNvPr id="543" name="テキスト ボックス 4"/>
            <p:cNvSpPr/>
            <p:nvPr/>
          </p:nvSpPr>
          <p:spPr>
            <a:xfrm>
              <a:off x="722880" y="788040"/>
              <a:ext cx="2746080" cy="357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20000"/>
                </a:lnSpc>
              </a:pPr>
              <a:r>
                <a:rPr lang="ja-JP" sz="1500" b="1" u="none" strike="noStrike">
                  <a:solidFill>
                    <a:schemeClr val="lt1"/>
                  </a:solidFill>
                  <a:effectLst/>
                  <a:uFillTx/>
                  <a:latin typeface="Meiryo"/>
                  <a:ea typeface="Meiryo"/>
                </a:rPr>
                <a:t>ポップアップ</a:t>
              </a:r>
              <a:r>
                <a:rPr lang="en-US" sz="1500" b="1" u="none" strike="noStrike">
                  <a:solidFill>
                    <a:schemeClr val="lt1"/>
                  </a:solidFill>
                  <a:effectLst/>
                  <a:uFillTx/>
                  <a:latin typeface="Meiryo"/>
                  <a:ea typeface="Meiryo"/>
                </a:rPr>
                <a:t>(</a:t>
              </a:r>
              <a:r>
                <a:rPr lang="ja-JP" sz="1500" b="1" u="none" strike="noStrike">
                  <a:solidFill>
                    <a:schemeClr val="lt1"/>
                  </a:solidFill>
                  <a:effectLst/>
                  <a:uFillTx/>
                  <a:latin typeface="Meiryo"/>
                  <a:ea typeface="Meiryo"/>
                </a:rPr>
                <a:t>離脱防止 など</a:t>
              </a:r>
              <a:r>
                <a:rPr lang="en-US" sz="1500" b="1" u="none" strike="noStrike">
                  <a:solidFill>
                    <a:schemeClr val="lt1"/>
                  </a:solidFill>
                  <a:effectLst/>
                  <a:uFillTx/>
                  <a:latin typeface="Meiryo"/>
                  <a:ea typeface="Meiryo"/>
                </a:rPr>
                <a:t>)</a:t>
              </a:r>
              <a:endParaRPr lang="en-US" sz="1500" b="0" u="none" strike="noStrike">
                <a:solidFill>
                  <a:srgbClr val="000000"/>
                </a:solidFill>
                <a:effectLst/>
                <a:uFillTx/>
                <a:latin typeface="Arial"/>
              </a:endParaRPr>
            </a:p>
          </p:txBody>
        </p:sp>
      </p:grpSp>
      <p:sp>
        <p:nvSpPr>
          <p:cNvPr id="544" name="正方形/長方形 7"/>
          <p:cNvSpPr/>
          <p:nvPr/>
        </p:nvSpPr>
        <p:spPr>
          <a:xfrm>
            <a:off x="3806280" y="788040"/>
            <a:ext cx="587988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600" b="0" u="none" strike="noStrike">
                <a:solidFill>
                  <a:schemeClr val="dk1"/>
                </a:solidFill>
                <a:effectLst/>
                <a:uFillTx/>
                <a:latin typeface="Meiryo"/>
                <a:ea typeface="Meiryo"/>
              </a:rPr>
              <a:t>WEB</a:t>
            </a:r>
            <a:r>
              <a:rPr lang="ja-JP" sz="1600" b="0" u="none" strike="noStrike">
                <a:solidFill>
                  <a:schemeClr val="dk1"/>
                </a:solidFill>
                <a:effectLst/>
                <a:uFillTx/>
                <a:latin typeface="Meiryo"/>
                <a:ea typeface="Meiryo"/>
              </a:rPr>
              <a:t>サイト上の特定アクションを起こしたユーザーに対して</a:t>
            </a:r>
            <a:endParaRPr lang="en-US" sz="1600" b="0" u="none" strike="noStrike">
              <a:solidFill>
                <a:srgbClr val="000000"/>
              </a:solidFill>
              <a:effectLst/>
              <a:uFillTx/>
              <a:latin typeface="Arial"/>
            </a:endParaRPr>
          </a:p>
          <a:p>
            <a:pPr algn="ctr" defTabSz="914400">
              <a:lnSpc>
                <a:spcPct val="100000"/>
              </a:lnSpc>
            </a:pPr>
            <a:r>
              <a:rPr lang="ja-JP" sz="1600" b="0" u="none" strike="noStrike">
                <a:solidFill>
                  <a:schemeClr val="dk1"/>
                </a:solidFill>
                <a:effectLst/>
                <a:uFillTx/>
                <a:latin typeface="Meiryo"/>
                <a:ea typeface="Meiryo"/>
              </a:rPr>
              <a:t>ポップアップの形で</a:t>
            </a:r>
            <a:r>
              <a:rPr lang="en-US" sz="1600" b="0" u="none" strike="noStrike">
                <a:solidFill>
                  <a:schemeClr val="dk1"/>
                </a:solidFill>
                <a:effectLst/>
                <a:uFillTx/>
                <a:latin typeface="Meiryo"/>
                <a:ea typeface="Meiryo"/>
              </a:rPr>
              <a:t>LINE</a:t>
            </a:r>
            <a:r>
              <a:rPr lang="ja-JP" sz="1600" b="0" u="none" strike="noStrike">
                <a:solidFill>
                  <a:schemeClr val="dk1"/>
                </a:solidFill>
                <a:effectLst/>
                <a:uFillTx/>
                <a:latin typeface="Meiryo"/>
                <a:ea typeface="Meiryo"/>
              </a:rPr>
              <a:t>誘導の動線を提示。</a:t>
            </a:r>
            <a:endParaRPr lang="en-US" sz="1600" b="0" u="none" strike="noStrike">
              <a:solidFill>
                <a:srgbClr val="000000"/>
              </a:solidFill>
              <a:effectLst/>
              <a:uFillTx/>
              <a:latin typeface="Arial"/>
            </a:endParaRPr>
          </a:p>
        </p:txBody>
      </p:sp>
      <p:sp>
        <p:nvSpPr>
          <p:cNvPr id="545" name="テキスト ボックス 8"/>
          <p:cNvSpPr/>
          <p:nvPr/>
        </p:nvSpPr>
        <p:spPr>
          <a:xfrm>
            <a:off x="5214960" y="1373040"/>
            <a:ext cx="41479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050" b="0" u="none" strike="noStrike">
                <a:solidFill>
                  <a:srgbClr val="FF0000"/>
                </a:solidFill>
                <a:effectLst/>
                <a:uFillTx/>
                <a:latin typeface="Meiryo"/>
                <a:ea typeface="Meiryo"/>
              </a:rPr>
              <a:t>LINE</a:t>
            </a:r>
            <a:r>
              <a:rPr lang="ja-JP" sz="1050" b="0" u="none" strike="noStrike">
                <a:solidFill>
                  <a:srgbClr val="FF0000"/>
                </a:solidFill>
                <a:effectLst/>
                <a:uFillTx/>
                <a:latin typeface="Meiryo"/>
                <a:ea typeface="Meiryo"/>
              </a:rPr>
              <a:t>以外の注力動線への誘導も同バナーから実施が可能です。</a:t>
            </a:r>
            <a:endParaRPr lang="en-US" sz="1050" b="0" u="none" strike="noStrike">
              <a:solidFill>
                <a:srgbClr val="000000"/>
              </a:solidFill>
              <a:effectLst/>
              <a:uFillTx/>
              <a:latin typeface="Arial"/>
            </a:endParaRPr>
          </a:p>
        </p:txBody>
      </p:sp>
      <p:sp>
        <p:nvSpPr>
          <p:cNvPr id="546" name="Google Shape;51;p19"/>
          <p:cNvSpPr/>
          <p:nvPr/>
        </p:nvSpPr>
        <p:spPr>
          <a:xfrm>
            <a:off x="5432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初期：</a:t>
            </a:r>
            <a:r>
              <a:rPr lang="en-US" sz="1400" b="1" u="none" strike="noStrike">
                <a:solidFill>
                  <a:schemeClr val="lt1"/>
                </a:solidFill>
                <a:effectLst/>
                <a:uFillTx/>
                <a:latin typeface="Meiryo"/>
                <a:ea typeface="Meiryo"/>
              </a:rPr>
              <a:t>1.5</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sp>
        <p:nvSpPr>
          <p:cNvPr id="547" name="Google Shape;51;p19"/>
          <p:cNvSpPr/>
          <p:nvPr/>
        </p:nvSpPr>
        <p:spPr>
          <a:xfrm>
            <a:off x="21380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月額</a:t>
            </a:r>
            <a:r>
              <a:rPr lang="en-US" sz="1400" b="1" u="none" strike="noStrike">
                <a:solidFill>
                  <a:schemeClr val="lt1"/>
                </a:solidFill>
                <a:effectLst/>
                <a:uFillTx/>
                <a:latin typeface="Meiryo"/>
                <a:ea typeface="Meiryo"/>
              </a:rPr>
              <a:t>3</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pic>
        <p:nvPicPr>
          <p:cNvPr id="548" name="図 9"/>
          <p:cNvPicPr/>
          <p:nvPr/>
        </p:nvPicPr>
        <p:blipFill>
          <a:blip r:embed="rId2"/>
          <a:stretch/>
        </p:blipFill>
        <p:spPr>
          <a:xfrm>
            <a:off x="1172160" y="1882080"/>
            <a:ext cx="7561440" cy="4661280"/>
          </a:xfrm>
          <a:prstGeom prst="rect">
            <a:avLst/>
          </a:prstGeom>
          <a:noFill/>
          <a:ln w="0">
            <a:noFill/>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9"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新規友だちの追加</a:t>
            </a:r>
            <a:r>
              <a:rPr lang="ja-JP" sz="1600" b="1" u="none" strike="noStrike">
                <a:solidFill>
                  <a:srgbClr val="323366"/>
                </a:solidFill>
                <a:effectLst/>
                <a:uFillTx/>
                <a:latin typeface="メイリオ"/>
                <a:ea typeface="メイリオ"/>
              </a:rPr>
              <a:t>（通知メッセージ）</a:t>
            </a:r>
            <a:endParaRPr lang="en-US" sz="1600" b="0" u="none" strike="noStrike">
              <a:solidFill>
                <a:srgbClr val="000000"/>
              </a:solidFill>
              <a:effectLst/>
              <a:uFillTx/>
              <a:latin typeface="Arial"/>
            </a:endParaRPr>
          </a:p>
        </p:txBody>
      </p:sp>
      <p:grpSp>
        <p:nvGrpSpPr>
          <p:cNvPr id="550" name="グループ化 2"/>
          <p:cNvGrpSpPr/>
          <p:nvPr/>
        </p:nvGrpSpPr>
        <p:grpSpPr>
          <a:xfrm>
            <a:off x="543240" y="777600"/>
            <a:ext cx="3105000" cy="484920"/>
            <a:chOff x="543240" y="777600"/>
            <a:chExt cx="3105000" cy="484920"/>
          </a:xfrm>
        </p:grpSpPr>
        <p:sp>
          <p:nvSpPr>
            <p:cNvPr id="551" name="Google Shape;51;p19"/>
            <p:cNvSpPr/>
            <p:nvPr/>
          </p:nvSpPr>
          <p:spPr>
            <a:xfrm>
              <a:off x="543240" y="777600"/>
              <a:ext cx="3105000" cy="484920"/>
            </a:xfrm>
            <a:prstGeom prst="roundRect">
              <a:avLst>
                <a:gd name="adj" fmla="val 16667"/>
              </a:avLst>
            </a:prstGeom>
            <a:solidFill>
              <a:schemeClr val="dk1"/>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endParaRPr lang="en-US" sz="1400" b="1" u="none" strike="noStrike">
                <a:solidFill>
                  <a:schemeClr val="lt1"/>
                </a:solidFill>
                <a:effectLst/>
                <a:uFillTx/>
                <a:latin typeface="Meiryo"/>
                <a:ea typeface="Meiryo"/>
              </a:endParaRPr>
            </a:p>
          </p:txBody>
        </p:sp>
        <p:sp>
          <p:nvSpPr>
            <p:cNvPr id="552" name="テキスト ボックス 4"/>
            <p:cNvSpPr/>
            <p:nvPr/>
          </p:nvSpPr>
          <p:spPr>
            <a:xfrm>
              <a:off x="1175400" y="837360"/>
              <a:ext cx="1530720" cy="357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20000"/>
                </a:lnSpc>
              </a:pPr>
              <a:r>
                <a:rPr lang="ja-JP" sz="1500" b="1" u="none" strike="noStrike">
                  <a:solidFill>
                    <a:schemeClr val="lt1"/>
                  </a:solidFill>
                  <a:effectLst/>
                  <a:uFillTx/>
                  <a:latin typeface="Meiryo"/>
                  <a:ea typeface="Meiryo"/>
                </a:rPr>
                <a:t>通知メッセージ</a:t>
              </a:r>
              <a:endParaRPr lang="en-US" sz="1500" b="0" u="none" strike="noStrike">
                <a:solidFill>
                  <a:srgbClr val="000000"/>
                </a:solidFill>
                <a:effectLst/>
                <a:uFillTx/>
                <a:latin typeface="Arial"/>
              </a:endParaRPr>
            </a:p>
          </p:txBody>
        </p:sp>
      </p:grpSp>
      <p:sp>
        <p:nvSpPr>
          <p:cNvPr id="553" name="正方形/長方形 8"/>
          <p:cNvSpPr/>
          <p:nvPr/>
        </p:nvSpPr>
        <p:spPr>
          <a:xfrm>
            <a:off x="3806280" y="788040"/>
            <a:ext cx="587988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600" b="0" u="none" strike="noStrike">
                <a:solidFill>
                  <a:schemeClr val="dk1"/>
                </a:solidFill>
                <a:effectLst/>
                <a:uFillTx/>
                <a:latin typeface="Meiryo"/>
                <a:ea typeface="Meiryo"/>
              </a:rPr>
              <a:t>WEB</a:t>
            </a:r>
            <a:r>
              <a:rPr lang="ja-JP" sz="1600" b="0" u="none" strike="noStrike">
                <a:solidFill>
                  <a:schemeClr val="dk1"/>
                </a:solidFill>
                <a:effectLst/>
                <a:uFillTx/>
                <a:latin typeface="Meiryo"/>
                <a:ea typeface="Meiryo"/>
              </a:rPr>
              <a:t>上のアクションユーザー、貴社保有リスト をターゲット</a:t>
            </a:r>
            <a:endParaRPr lang="en-US" sz="1600" b="0" u="none" strike="noStrike">
              <a:solidFill>
                <a:srgbClr val="000000"/>
              </a:solidFill>
              <a:effectLst/>
              <a:uFillTx/>
              <a:latin typeface="Arial"/>
            </a:endParaRPr>
          </a:p>
          <a:p>
            <a:pPr algn="ctr" defTabSz="914400">
              <a:lnSpc>
                <a:spcPct val="100000"/>
              </a:lnSpc>
            </a:pPr>
            <a:r>
              <a:rPr lang="ja-JP" sz="1600" b="0" u="none" strike="noStrike">
                <a:solidFill>
                  <a:schemeClr val="dk1"/>
                </a:solidFill>
                <a:effectLst/>
                <a:uFillTx/>
                <a:latin typeface="Meiryo"/>
                <a:ea typeface="Meiryo"/>
              </a:rPr>
              <a:t>に友だち登録、ステータス通知を行うことが出来る機能です。</a:t>
            </a:r>
            <a:endParaRPr lang="en-US" sz="1600" b="0" u="none" strike="noStrike">
              <a:solidFill>
                <a:srgbClr val="000000"/>
              </a:solidFill>
              <a:effectLst/>
              <a:uFillTx/>
              <a:latin typeface="Arial"/>
            </a:endParaRPr>
          </a:p>
        </p:txBody>
      </p:sp>
      <p:sp>
        <p:nvSpPr>
          <p:cNvPr id="554" name="Google Shape;51;p19"/>
          <p:cNvSpPr/>
          <p:nvPr/>
        </p:nvSpPr>
        <p:spPr>
          <a:xfrm>
            <a:off x="5432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初期：</a:t>
            </a:r>
            <a:r>
              <a:rPr lang="en-US" sz="1400" b="1" u="none" strike="noStrike">
                <a:solidFill>
                  <a:schemeClr val="lt1"/>
                </a:solidFill>
                <a:effectLst/>
                <a:uFillTx/>
                <a:latin typeface="Meiryo"/>
                <a:ea typeface="Meiryo"/>
              </a:rPr>
              <a:t>10</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sp>
        <p:nvSpPr>
          <p:cNvPr id="555" name="Google Shape;51;p19"/>
          <p:cNvSpPr/>
          <p:nvPr/>
        </p:nvSpPr>
        <p:spPr>
          <a:xfrm>
            <a:off x="21380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月額</a:t>
            </a:r>
            <a:r>
              <a:rPr lang="en-US" sz="1400" b="1" u="none" strike="noStrike">
                <a:solidFill>
                  <a:schemeClr val="lt1"/>
                </a:solidFill>
                <a:effectLst/>
                <a:uFillTx/>
                <a:latin typeface="Meiryo"/>
                <a:ea typeface="Meiryo"/>
              </a:rPr>
              <a:t>8</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a:p>
            <a:pPr algn="ctr" defTabSz="914400">
              <a:lnSpc>
                <a:spcPct val="100000"/>
              </a:lnSpc>
              <a:tabLst>
                <a:tab pos="0" algn="l"/>
              </a:tabLst>
            </a:pPr>
            <a:r>
              <a:rPr lang="en-US" sz="1050" b="1" u="none" strike="noStrike">
                <a:solidFill>
                  <a:srgbClr val="FFFF00"/>
                </a:solidFill>
                <a:effectLst/>
                <a:uFillTx/>
                <a:latin typeface="Meiryo"/>
                <a:ea typeface="Meiryo"/>
              </a:rPr>
              <a:t>+</a:t>
            </a:r>
            <a:r>
              <a:rPr lang="ja-JP" sz="1050" b="1" u="none" strike="noStrike">
                <a:solidFill>
                  <a:srgbClr val="FFFF00"/>
                </a:solidFill>
                <a:effectLst/>
                <a:uFillTx/>
                <a:latin typeface="Meiryo"/>
                <a:ea typeface="Meiryo"/>
              </a:rPr>
              <a:t>通数単価：</a:t>
            </a:r>
            <a:r>
              <a:rPr lang="en-US" sz="1050" b="1" u="none" strike="noStrike">
                <a:solidFill>
                  <a:srgbClr val="FFFF00"/>
                </a:solidFill>
                <a:effectLst/>
                <a:uFillTx/>
                <a:latin typeface="Meiryo"/>
                <a:ea typeface="Meiryo"/>
              </a:rPr>
              <a:t>7</a:t>
            </a:r>
            <a:r>
              <a:rPr lang="ja-JP" sz="1050" b="1" u="none" strike="noStrike">
                <a:solidFill>
                  <a:srgbClr val="FFFF00"/>
                </a:solidFill>
                <a:effectLst/>
                <a:uFillTx/>
                <a:latin typeface="Meiryo"/>
                <a:ea typeface="Meiryo"/>
              </a:rPr>
              <a:t>円</a:t>
            </a:r>
            <a:endParaRPr lang="en-US" sz="1050" b="0" u="none" strike="noStrike">
              <a:solidFill>
                <a:srgbClr val="FFFFFF"/>
              </a:solidFill>
              <a:effectLst/>
              <a:uFillTx/>
              <a:latin typeface="Arial"/>
            </a:endParaRPr>
          </a:p>
        </p:txBody>
      </p:sp>
      <p:sp>
        <p:nvSpPr>
          <p:cNvPr id="556" name="正方形/長方形 78"/>
          <p:cNvSpPr/>
          <p:nvPr/>
        </p:nvSpPr>
        <p:spPr>
          <a:xfrm>
            <a:off x="5769360" y="1937880"/>
            <a:ext cx="3787920" cy="2437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lt1"/>
                </a:solidFill>
                <a:effectLst/>
                <a:uFillTx/>
                <a:latin typeface="メイリオ"/>
                <a:ea typeface="メイリオ"/>
              </a:rPr>
              <a:t>動作イメージ</a:t>
            </a:r>
            <a:endParaRPr lang="en-US" sz="1100" b="0" u="none" strike="noStrike">
              <a:solidFill>
                <a:srgbClr val="FFFFFF"/>
              </a:solidFill>
              <a:effectLst/>
              <a:uFillTx/>
              <a:latin typeface="Arial"/>
            </a:endParaRPr>
          </a:p>
        </p:txBody>
      </p:sp>
      <p:pic>
        <p:nvPicPr>
          <p:cNvPr id="557" name="図 81"/>
          <p:cNvPicPr/>
          <p:nvPr/>
        </p:nvPicPr>
        <p:blipFill>
          <a:blip r:embed="rId2"/>
          <a:stretch/>
        </p:blipFill>
        <p:spPr>
          <a:xfrm>
            <a:off x="532440" y="4787640"/>
            <a:ext cx="3533040" cy="1714320"/>
          </a:xfrm>
          <a:prstGeom prst="rect">
            <a:avLst/>
          </a:prstGeom>
          <a:noFill/>
          <a:ln w="0">
            <a:noFill/>
          </a:ln>
        </p:spPr>
      </p:pic>
      <p:pic>
        <p:nvPicPr>
          <p:cNvPr id="558" name="図 83"/>
          <p:cNvPicPr/>
          <p:nvPr/>
        </p:nvPicPr>
        <p:blipFill>
          <a:blip r:embed="rId3"/>
          <a:stretch/>
        </p:blipFill>
        <p:spPr>
          <a:xfrm>
            <a:off x="4065840" y="4801320"/>
            <a:ext cx="1585800" cy="1700640"/>
          </a:xfrm>
          <a:prstGeom prst="rect">
            <a:avLst/>
          </a:prstGeom>
          <a:noFill/>
          <a:ln w="0">
            <a:noFill/>
          </a:ln>
        </p:spPr>
      </p:pic>
      <p:pic>
        <p:nvPicPr>
          <p:cNvPr id="559" name="図 85"/>
          <p:cNvPicPr/>
          <p:nvPr/>
        </p:nvPicPr>
        <p:blipFill>
          <a:blip r:embed="rId4"/>
          <a:stretch/>
        </p:blipFill>
        <p:spPr>
          <a:xfrm>
            <a:off x="5988600" y="2468160"/>
            <a:ext cx="3362040" cy="1976760"/>
          </a:xfrm>
          <a:prstGeom prst="rect">
            <a:avLst/>
          </a:prstGeom>
          <a:noFill/>
          <a:ln w="0">
            <a:noFill/>
          </a:ln>
        </p:spPr>
      </p:pic>
      <p:pic>
        <p:nvPicPr>
          <p:cNvPr id="560" name="図 87"/>
          <p:cNvPicPr/>
          <p:nvPr/>
        </p:nvPicPr>
        <p:blipFill>
          <a:blip r:embed="rId5"/>
          <a:stretch/>
        </p:blipFill>
        <p:spPr>
          <a:xfrm>
            <a:off x="5927400" y="4787640"/>
            <a:ext cx="3471480" cy="1625760"/>
          </a:xfrm>
          <a:prstGeom prst="rect">
            <a:avLst/>
          </a:prstGeom>
          <a:noFill/>
          <a:ln w="0">
            <a:noFill/>
          </a:ln>
        </p:spPr>
      </p:pic>
      <p:sp>
        <p:nvSpPr>
          <p:cNvPr id="561" name="正方形/長方形 89"/>
          <p:cNvSpPr/>
          <p:nvPr/>
        </p:nvSpPr>
        <p:spPr>
          <a:xfrm>
            <a:off x="5941440" y="2224080"/>
            <a:ext cx="3443400" cy="24372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0" u="none" strike="noStrike">
                <a:solidFill>
                  <a:schemeClr val="dk1"/>
                </a:solidFill>
                <a:effectLst/>
                <a:uFillTx/>
                <a:latin typeface="メイリオ"/>
                <a:ea typeface="メイリオ"/>
              </a:rPr>
              <a:t>佐川急便</a:t>
            </a:r>
            <a:endParaRPr lang="en-US" sz="1100" b="0" u="none" strike="noStrike">
              <a:solidFill>
                <a:srgbClr val="000000"/>
              </a:solidFill>
              <a:effectLst/>
              <a:uFillTx/>
              <a:latin typeface="Arial"/>
            </a:endParaRPr>
          </a:p>
        </p:txBody>
      </p:sp>
      <p:sp>
        <p:nvSpPr>
          <p:cNvPr id="562" name="正方形/長方形 91"/>
          <p:cNvSpPr/>
          <p:nvPr/>
        </p:nvSpPr>
        <p:spPr>
          <a:xfrm>
            <a:off x="5941440" y="4499280"/>
            <a:ext cx="3443400" cy="24372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0" u="none" strike="noStrike">
                <a:solidFill>
                  <a:schemeClr val="dk1"/>
                </a:solidFill>
                <a:effectLst/>
                <a:uFillTx/>
                <a:latin typeface="メイリオ"/>
                <a:ea typeface="メイリオ"/>
              </a:rPr>
              <a:t>やまや（</a:t>
            </a:r>
            <a:r>
              <a:rPr lang="en-US" sz="1100" b="0" u="none" strike="noStrike">
                <a:solidFill>
                  <a:schemeClr val="dk1"/>
                </a:solidFill>
                <a:effectLst/>
                <a:uFillTx/>
                <a:latin typeface="メイリオ"/>
                <a:ea typeface="メイリオ"/>
              </a:rPr>
              <a:t>EC</a:t>
            </a:r>
            <a:r>
              <a:rPr lang="ja-JP" sz="1100" b="0" u="none" strike="noStrike">
                <a:solidFill>
                  <a:schemeClr val="dk1"/>
                </a:solidFill>
                <a:effectLst/>
                <a:uFillTx/>
                <a:latin typeface="メイリオ"/>
                <a:ea typeface="メイリオ"/>
              </a:rPr>
              <a:t>）</a:t>
            </a:r>
            <a:endParaRPr lang="en-US" sz="1100" b="0" u="none" strike="noStrike">
              <a:solidFill>
                <a:srgbClr val="000000"/>
              </a:solidFill>
              <a:effectLst/>
              <a:uFillTx/>
              <a:latin typeface="Arial"/>
            </a:endParaRPr>
          </a:p>
        </p:txBody>
      </p:sp>
      <p:sp>
        <p:nvSpPr>
          <p:cNvPr id="563" name="テキスト ボックス 93"/>
          <p:cNvSpPr/>
          <p:nvPr/>
        </p:nvSpPr>
        <p:spPr>
          <a:xfrm>
            <a:off x="3904560" y="1368720"/>
            <a:ext cx="496224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900" b="0" u="none" strike="noStrike">
                <a:solidFill>
                  <a:srgbClr val="FF0000"/>
                </a:solidFill>
                <a:effectLst/>
                <a:uFillTx/>
                <a:latin typeface="メイリオ"/>
                <a:ea typeface="メイリオ"/>
              </a:rPr>
              <a:t>Sales Partner</a:t>
            </a:r>
            <a:r>
              <a:rPr lang="ja-JP" sz="900" b="0" u="none" strike="noStrike">
                <a:solidFill>
                  <a:srgbClr val="FF0000"/>
                </a:solidFill>
                <a:effectLst/>
                <a:uFillTx/>
                <a:latin typeface="メイリオ"/>
                <a:ea typeface="メイリオ"/>
              </a:rPr>
              <a:t>、</a:t>
            </a:r>
            <a:r>
              <a:rPr lang="en-US" sz="900" b="0" u="none" strike="noStrike">
                <a:solidFill>
                  <a:srgbClr val="FF0000"/>
                </a:solidFill>
                <a:effectLst/>
                <a:uFillTx/>
                <a:latin typeface="メイリオ"/>
                <a:ea typeface="メイリオ"/>
              </a:rPr>
              <a:t>Tech Partner</a:t>
            </a:r>
            <a:r>
              <a:rPr lang="ja-JP" sz="900" b="0" u="none" strike="noStrike">
                <a:solidFill>
                  <a:srgbClr val="FF0000"/>
                </a:solidFill>
                <a:effectLst/>
                <a:uFillTx/>
                <a:latin typeface="メイリオ"/>
                <a:ea typeface="メイリオ"/>
              </a:rPr>
              <a:t>限定公開の</a:t>
            </a:r>
            <a:r>
              <a:rPr lang="en-US" sz="900" b="0" u="none" strike="noStrike">
                <a:solidFill>
                  <a:srgbClr val="FF0000"/>
                </a:solidFill>
                <a:effectLst/>
                <a:uFillTx/>
                <a:latin typeface="メイリオ"/>
                <a:ea typeface="メイリオ"/>
              </a:rPr>
              <a:t>API</a:t>
            </a:r>
            <a:r>
              <a:rPr lang="ja-JP" sz="900" b="0" u="none" strike="noStrike">
                <a:solidFill>
                  <a:srgbClr val="FF0000"/>
                </a:solidFill>
                <a:effectLst/>
                <a:uFillTx/>
                <a:latin typeface="メイリオ"/>
                <a:ea typeface="メイリオ"/>
              </a:rPr>
              <a:t>を使用した機能です。</a:t>
            </a:r>
            <a:endParaRPr lang="en-US" sz="900" b="0" u="none" strike="noStrike">
              <a:solidFill>
                <a:srgbClr val="000000"/>
              </a:solidFill>
              <a:effectLst/>
              <a:uFillTx/>
              <a:latin typeface="Arial"/>
            </a:endParaRPr>
          </a:p>
        </p:txBody>
      </p:sp>
      <p:sp>
        <p:nvSpPr>
          <p:cNvPr id="564" name="正方形/長方形 95"/>
          <p:cNvSpPr/>
          <p:nvPr/>
        </p:nvSpPr>
        <p:spPr>
          <a:xfrm>
            <a:off x="543240" y="1937880"/>
            <a:ext cx="4980600" cy="2437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dk1">
                    <a:lumMod val="50000"/>
                    <a:lumOff val="50000"/>
                  </a:schemeClr>
                </a:solidFill>
                <a:effectLst/>
                <a:uFillTx/>
                <a:latin typeface="メイリオ"/>
                <a:ea typeface="メイリオ"/>
              </a:rPr>
              <a:t>利用可能シーン</a:t>
            </a:r>
            <a:endParaRPr lang="en-US" sz="1100" b="0" u="none" strike="noStrike">
              <a:solidFill>
                <a:srgbClr val="000000"/>
              </a:solidFill>
              <a:effectLst/>
              <a:uFillTx/>
              <a:latin typeface="Arial"/>
            </a:endParaRPr>
          </a:p>
        </p:txBody>
      </p:sp>
      <p:pic>
        <p:nvPicPr>
          <p:cNvPr id="565" name="図 6"/>
          <p:cNvPicPr/>
          <p:nvPr/>
        </p:nvPicPr>
        <p:blipFill>
          <a:blip r:embed="rId6"/>
          <a:stretch/>
        </p:blipFill>
        <p:spPr>
          <a:xfrm>
            <a:off x="381960" y="2197800"/>
            <a:ext cx="5286600" cy="2496600"/>
          </a:xfrm>
          <a:prstGeom prst="rect">
            <a:avLst/>
          </a:prstGeom>
          <a:noFill/>
          <a:ln w="0">
            <a:noFill/>
          </a:ln>
        </p:spPr>
      </p:pic>
      <p:sp>
        <p:nvSpPr>
          <p:cNvPr id="566" name="テキスト ボックス 9"/>
          <p:cNvSpPr/>
          <p:nvPr/>
        </p:nvSpPr>
        <p:spPr>
          <a:xfrm>
            <a:off x="3904560" y="1558440"/>
            <a:ext cx="496224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900" b="0" u="none" strike="noStrike">
                <a:solidFill>
                  <a:srgbClr val="FF0000"/>
                </a:solidFill>
                <a:effectLst/>
                <a:uFillTx/>
                <a:latin typeface="メイリオ"/>
                <a:ea typeface="メイリオ"/>
              </a:rPr>
              <a:t>料金プランにより通数単価、利用可能機能が異なります。</a:t>
            </a:r>
            <a:endParaRPr lang="en-US" sz="900" b="0" u="none" strike="noStrike">
              <a:solidFill>
                <a:srgbClr val="000000"/>
              </a:solidFill>
              <a:effectLst/>
              <a:uFillTx/>
              <a:latin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7"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新規友だちの追加</a:t>
            </a:r>
            <a:r>
              <a:rPr lang="ja-JP" sz="1600" b="1" u="none" strike="noStrike">
                <a:solidFill>
                  <a:srgbClr val="323366"/>
                </a:solidFill>
                <a:effectLst/>
                <a:uFillTx/>
                <a:latin typeface="メイリオ"/>
                <a:ea typeface="メイリオ"/>
              </a:rPr>
              <a:t>（通知メッセージ）</a:t>
            </a:r>
            <a:endParaRPr lang="en-US" sz="1600" b="0" u="none" strike="noStrike">
              <a:solidFill>
                <a:srgbClr val="000000"/>
              </a:solidFill>
              <a:effectLst/>
              <a:uFillTx/>
              <a:latin typeface="Arial"/>
            </a:endParaRPr>
          </a:p>
        </p:txBody>
      </p:sp>
      <p:grpSp>
        <p:nvGrpSpPr>
          <p:cNvPr id="568" name="グループ化 2"/>
          <p:cNvGrpSpPr/>
          <p:nvPr/>
        </p:nvGrpSpPr>
        <p:grpSpPr>
          <a:xfrm>
            <a:off x="543240" y="777600"/>
            <a:ext cx="3105000" cy="484920"/>
            <a:chOff x="543240" y="777600"/>
            <a:chExt cx="3105000" cy="484920"/>
          </a:xfrm>
        </p:grpSpPr>
        <p:sp>
          <p:nvSpPr>
            <p:cNvPr id="569" name="Google Shape;51;p19"/>
            <p:cNvSpPr/>
            <p:nvPr/>
          </p:nvSpPr>
          <p:spPr>
            <a:xfrm>
              <a:off x="543240" y="777600"/>
              <a:ext cx="3105000" cy="484920"/>
            </a:xfrm>
            <a:prstGeom prst="roundRect">
              <a:avLst>
                <a:gd name="adj" fmla="val 16667"/>
              </a:avLst>
            </a:prstGeom>
            <a:solidFill>
              <a:schemeClr val="dk1"/>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endParaRPr lang="en-US" sz="1400" b="1" u="none" strike="noStrike">
                <a:solidFill>
                  <a:schemeClr val="lt1"/>
                </a:solidFill>
                <a:effectLst/>
                <a:uFillTx/>
                <a:latin typeface="Meiryo"/>
                <a:ea typeface="Meiryo"/>
              </a:endParaRPr>
            </a:p>
          </p:txBody>
        </p:sp>
        <p:sp>
          <p:nvSpPr>
            <p:cNvPr id="570" name="テキスト ボックス 4"/>
            <p:cNvSpPr/>
            <p:nvPr/>
          </p:nvSpPr>
          <p:spPr>
            <a:xfrm>
              <a:off x="1175400" y="837360"/>
              <a:ext cx="1530720" cy="357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20000"/>
                </a:lnSpc>
              </a:pPr>
              <a:r>
                <a:rPr lang="ja-JP" sz="1500" b="1" u="none" strike="noStrike">
                  <a:solidFill>
                    <a:schemeClr val="lt1"/>
                  </a:solidFill>
                  <a:effectLst/>
                  <a:uFillTx/>
                  <a:latin typeface="Meiryo"/>
                  <a:ea typeface="Meiryo"/>
                </a:rPr>
                <a:t>通知メッセージ</a:t>
              </a:r>
              <a:endParaRPr lang="en-US" sz="1500" b="0" u="none" strike="noStrike">
                <a:solidFill>
                  <a:srgbClr val="000000"/>
                </a:solidFill>
                <a:effectLst/>
                <a:uFillTx/>
                <a:latin typeface="Arial"/>
              </a:endParaRPr>
            </a:p>
          </p:txBody>
        </p:sp>
      </p:grpSp>
      <p:sp>
        <p:nvSpPr>
          <p:cNvPr id="571" name="正方形/長方形 8"/>
          <p:cNvSpPr/>
          <p:nvPr/>
        </p:nvSpPr>
        <p:spPr>
          <a:xfrm>
            <a:off x="3806280" y="788040"/>
            <a:ext cx="587988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600" b="0" u="none" strike="noStrike">
                <a:solidFill>
                  <a:schemeClr val="dk1"/>
                </a:solidFill>
                <a:effectLst/>
                <a:uFillTx/>
                <a:latin typeface="Meiryo"/>
                <a:ea typeface="Meiryo"/>
              </a:rPr>
              <a:t>WEB</a:t>
            </a:r>
            <a:r>
              <a:rPr lang="ja-JP" sz="1600" b="0" u="none" strike="noStrike">
                <a:solidFill>
                  <a:schemeClr val="dk1"/>
                </a:solidFill>
                <a:effectLst/>
                <a:uFillTx/>
                <a:latin typeface="Meiryo"/>
                <a:ea typeface="Meiryo"/>
              </a:rPr>
              <a:t>上のアクションユーザー、貴社保有リスト をターゲット</a:t>
            </a:r>
            <a:endParaRPr lang="en-US" sz="1600" b="0" u="none" strike="noStrike">
              <a:solidFill>
                <a:srgbClr val="000000"/>
              </a:solidFill>
              <a:effectLst/>
              <a:uFillTx/>
              <a:latin typeface="Arial"/>
            </a:endParaRPr>
          </a:p>
          <a:p>
            <a:pPr algn="ctr" defTabSz="914400">
              <a:lnSpc>
                <a:spcPct val="100000"/>
              </a:lnSpc>
            </a:pPr>
            <a:r>
              <a:rPr lang="ja-JP" sz="1600" b="0" u="none" strike="noStrike">
                <a:solidFill>
                  <a:schemeClr val="dk1"/>
                </a:solidFill>
                <a:effectLst/>
                <a:uFillTx/>
                <a:latin typeface="Meiryo"/>
                <a:ea typeface="Meiryo"/>
              </a:rPr>
              <a:t>に友だち登録、ステータス通知を行うことが出来る機能です。</a:t>
            </a:r>
            <a:endParaRPr lang="en-US" sz="1600" b="0" u="none" strike="noStrike">
              <a:solidFill>
                <a:srgbClr val="000000"/>
              </a:solidFill>
              <a:effectLst/>
              <a:uFillTx/>
              <a:latin typeface="Arial"/>
            </a:endParaRPr>
          </a:p>
        </p:txBody>
      </p:sp>
      <p:sp>
        <p:nvSpPr>
          <p:cNvPr id="572" name="Google Shape;51;p19"/>
          <p:cNvSpPr/>
          <p:nvPr/>
        </p:nvSpPr>
        <p:spPr>
          <a:xfrm>
            <a:off x="5432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初期：</a:t>
            </a:r>
            <a:r>
              <a:rPr lang="en-US" sz="1400" b="1" u="none" strike="noStrike">
                <a:solidFill>
                  <a:schemeClr val="lt1"/>
                </a:solidFill>
                <a:effectLst/>
                <a:uFillTx/>
                <a:latin typeface="Meiryo"/>
                <a:ea typeface="Meiryo"/>
              </a:rPr>
              <a:t>10</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sp>
        <p:nvSpPr>
          <p:cNvPr id="573" name="Google Shape;51;p19"/>
          <p:cNvSpPr/>
          <p:nvPr/>
        </p:nvSpPr>
        <p:spPr>
          <a:xfrm>
            <a:off x="21380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月額</a:t>
            </a:r>
            <a:r>
              <a:rPr lang="en-US" sz="1400" b="1" u="none" strike="noStrike">
                <a:solidFill>
                  <a:schemeClr val="lt1"/>
                </a:solidFill>
                <a:effectLst/>
                <a:uFillTx/>
                <a:latin typeface="Meiryo"/>
                <a:ea typeface="Meiryo"/>
              </a:rPr>
              <a:t>8</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a:p>
            <a:pPr algn="ctr" defTabSz="914400">
              <a:lnSpc>
                <a:spcPct val="100000"/>
              </a:lnSpc>
              <a:tabLst>
                <a:tab pos="0" algn="l"/>
              </a:tabLst>
            </a:pPr>
            <a:r>
              <a:rPr lang="en-US" sz="1050" b="1" u="none" strike="noStrike">
                <a:solidFill>
                  <a:srgbClr val="FFFF00"/>
                </a:solidFill>
                <a:effectLst/>
                <a:uFillTx/>
                <a:latin typeface="Meiryo"/>
                <a:ea typeface="Meiryo"/>
              </a:rPr>
              <a:t>+</a:t>
            </a:r>
            <a:r>
              <a:rPr lang="ja-JP" sz="1050" b="1" u="none" strike="noStrike">
                <a:solidFill>
                  <a:srgbClr val="FFFF00"/>
                </a:solidFill>
                <a:effectLst/>
                <a:uFillTx/>
                <a:latin typeface="Meiryo"/>
                <a:ea typeface="Meiryo"/>
              </a:rPr>
              <a:t>通数単価：</a:t>
            </a:r>
            <a:r>
              <a:rPr lang="en-US" sz="1050" b="1" u="none" strike="noStrike">
                <a:solidFill>
                  <a:srgbClr val="FFFF00"/>
                </a:solidFill>
                <a:effectLst/>
                <a:uFillTx/>
                <a:latin typeface="Meiryo"/>
                <a:ea typeface="Meiryo"/>
              </a:rPr>
              <a:t>7</a:t>
            </a:r>
            <a:r>
              <a:rPr lang="ja-JP" sz="1050" b="1" u="none" strike="noStrike">
                <a:solidFill>
                  <a:srgbClr val="FFFF00"/>
                </a:solidFill>
                <a:effectLst/>
                <a:uFillTx/>
                <a:latin typeface="Meiryo"/>
                <a:ea typeface="Meiryo"/>
              </a:rPr>
              <a:t>円</a:t>
            </a:r>
            <a:endParaRPr lang="en-US" sz="1050" b="0" u="none" strike="noStrike">
              <a:solidFill>
                <a:srgbClr val="FFFFFF"/>
              </a:solidFill>
              <a:effectLst/>
              <a:uFillTx/>
              <a:latin typeface="Arial"/>
            </a:endParaRPr>
          </a:p>
        </p:txBody>
      </p:sp>
      <p:sp>
        <p:nvSpPr>
          <p:cNvPr id="574" name="テキスト ボックス 93"/>
          <p:cNvSpPr/>
          <p:nvPr/>
        </p:nvSpPr>
        <p:spPr>
          <a:xfrm>
            <a:off x="3904560" y="1368720"/>
            <a:ext cx="496224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900" b="0" u="none" strike="noStrike">
                <a:solidFill>
                  <a:srgbClr val="FF0000"/>
                </a:solidFill>
                <a:effectLst/>
                <a:uFillTx/>
                <a:latin typeface="メイリオ"/>
                <a:ea typeface="メイリオ"/>
              </a:rPr>
              <a:t>Sales Partner</a:t>
            </a:r>
            <a:r>
              <a:rPr lang="ja-JP" sz="900" b="0" u="none" strike="noStrike">
                <a:solidFill>
                  <a:srgbClr val="FF0000"/>
                </a:solidFill>
                <a:effectLst/>
                <a:uFillTx/>
                <a:latin typeface="メイリオ"/>
                <a:ea typeface="メイリオ"/>
              </a:rPr>
              <a:t>、</a:t>
            </a:r>
            <a:r>
              <a:rPr lang="en-US" sz="900" b="0" u="none" strike="noStrike">
                <a:solidFill>
                  <a:srgbClr val="FF0000"/>
                </a:solidFill>
                <a:effectLst/>
                <a:uFillTx/>
                <a:latin typeface="メイリオ"/>
                <a:ea typeface="メイリオ"/>
              </a:rPr>
              <a:t>Tech Partner</a:t>
            </a:r>
            <a:r>
              <a:rPr lang="ja-JP" sz="900" b="0" u="none" strike="noStrike">
                <a:solidFill>
                  <a:srgbClr val="FF0000"/>
                </a:solidFill>
                <a:effectLst/>
                <a:uFillTx/>
                <a:latin typeface="メイリオ"/>
                <a:ea typeface="メイリオ"/>
              </a:rPr>
              <a:t>限定公開の</a:t>
            </a:r>
            <a:r>
              <a:rPr lang="en-US" sz="900" b="0" u="none" strike="noStrike">
                <a:solidFill>
                  <a:srgbClr val="FF0000"/>
                </a:solidFill>
                <a:effectLst/>
                <a:uFillTx/>
                <a:latin typeface="メイリオ"/>
                <a:ea typeface="メイリオ"/>
              </a:rPr>
              <a:t>API</a:t>
            </a:r>
            <a:r>
              <a:rPr lang="ja-JP" sz="900" b="0" u="none" strike="noStrike">
                <a:solidFill>
                  <a:srgbClr val="FF0000"/>
                </a:solidFill>
                <a:effectLst/>
                <a:uFillTx/>
                <a:latin typeface="メイリオ"/>
                <a:ea typeface="メイリオ"/>
              </a:rPr>
              <a:t>を使用した機能です。</a:t>
            </a:r>
            <a:endParaRPr lang="en-US" sz="900" b="0" u="none" strike="noStrike">
              <a:solidFill>
                <a:srgbClr val="000000"/>
              </a:solidFill>
              <a:effectLst/>
              <a:uFillTx/>
              <a:latin typeface="Arial"/>
            </a:endParaRPr>
          </a:p>
        </p:txBody>
      </p:sp>
      <p:sp>
        <p:nvSpPr>
          <p:cNvPr id="575" name="テキスト ボックス 5"/>
          <p:cNvSpPr/>
          <p:nvPr/>
        </p:nvSpPr>
        <p:spPr>
          <a:xfrm>
            <a:off x="3904560" y="1558440"/>
            <a:ext cx="496224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900" b="0" u="none" strike="noStrike">
                <a:solidFill>
                  <a:srgbClr val="FF0000"/>
                </a:solidFill>
                <a:effectLst/>
                <a:uFillTx/>
                <a:latin typeface="メイリオ"/>
                <a:ea typeface="メイリオ"/>
              </a:rPr>
              <a:t>料金プランにより通数単価、利用可能機能が異なります。</a:t>
            </a:r>
            <a:endParaRPr lang="en-US" sz="900" b="0" u="none" strike="noStrike">
              <a:solidFill>
                <a:srgbClr val="000000"/>
              </a:solidFill>
              <a:effectLst/>
              <a:uFillTx/>
              <a:latin typeface="Arial"/>
            </a:endParaRPr>
          </a:p>
        </p:txBody>
      </p:sp>
      <p:pic>
        <p:nvPicPr>
          <p:cNvPr id="576" name="図 7"/>
          <p:cNvPicPr/>
          <p:nvPr/>
        </p:nvPicPr>
        <p:blipFill>
          <a:blip r:embed="rId2"/>
          <a:stretch/>
        </p:blipFill>
        <p:spPr>
          <a:xfrm>
            <a:off x="543240" y="1953360"/>
            <a:ext cx="8917920" cy="4388760"/>
          </a:xfrm>
          <a:prstGeom prst="rect">
            <a:avLst/>
          </a:prstGeom>
          <a:noFill/>
          <a:ln w="0">
            <a:noFill/>
          </a:ln>
        </p:spPr>
      </p:pic>
      <p:sp>
        <p:nvSpPr>
          <p:cNvPr id="577" name="Google Shape;51;p19"/>
          <p:cNvSpPr/>
          <p:nvPr/>
        </p:nvSpPr>
        <p:spPr>
          <a:xfrm>
            <a:off x="6635880" y="5673240"/>
            <a:ext cx="2647080" cy="330840"/>
          </a:xfrm>
          <a:prstGeom prst="roundRect">
            <a:avLst>
              <a:gd name="adj" fmla="val 16667"/>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100" b="0" u="none" strike="noStrike">
                <a:solidFill>
                  <a:schemeClr val="lt1"/>
                </a:solidFill>
                <a:effectLst/>
                <a:uFillTx/>
                <a:latin typeface="Meiryo"/>
                <a:ea typeface="Meiryo"/>
              </a:rPr>
              <a:t>利用可能なシーン一例</a:t>
            </a:r>
            <a:endParaRPr lang="en-US" sz="1100" b="0" u="none" strike="noStrike">
              <a:solidFill>
                <a:srgbClr val="FFFFFF"/>
              </a:solidFill>
              <a:effectLst/>
              <a:uFillTx/>
              <a:latin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8"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新規友だちの追加</a:t>
            </a:r>
            <a:r>
              <a:rPr lang="ja-JP" sz="1600" b="1" u="none" strike="noStrike">
                <a:solidFill>
                  <a:srgbClr val="323366"/>
                </a:solidFill>
                <a:effectLst/>
                <a:uFillTx/>
                <a:latin typeface="メイリオ"/>
                <a:ea typeface="メイリオ"/>
              </a:rPr>
              <a:t>（サンクス</a:t>
            </a:r>
            <a:r>
              <a:rPr lang="en-US" sz="1600" b="1" u="none" strike="noStrike">
                <a:solidFill>
                  <a:srgbClr val="323366"/>
                </a:solidFill>
                <a:effectLst/>
                <a:uFillTx/>
                <a:latin typeface="メイリオ"/>
                <a:ea typeface="メイリオ"/>
              </a:rPr>
              <a:t>LINE</a:t>
            </a:r>
            <a:r>
              <a:rPr lang="ja-JP" sz="1600" b="1" u="none" strike="noStrike">
                <a:solidFill>
                  <a:srgbClr val="323366"/>
                </a:solidFill>
                <a:effectLst/>
                <a:uFillTx/>
                <a:latin typeface="メイリオ"/>
                <a:ea typeface="メイリオ"/>
              </a:rPr>
              <a:t>誘導）</a:t>
            </a:r>
            <a:endParaRPr lang="en-US" sz="1600" b="0" u="none" strike="noStrike">
              <a:solidFill>
                <a:srgbClr val="000000"/>
              </a:solidFill>
              <a:effectLst/>
              <a:uFillTx/>
              <a:latin typeface="Arial"/>
            </a:endParaRPr>
          </a:p>
        </p:txBody>
      </p:sp>
      <p:sp>
        <p:nvSpPr>
          <p:cNvPr id="579" name="正方形/長方形 10"/>
          <p:cNvSpPr/>
          <p:nvPr/>
        </p:nvSpPr>
        <p:spPr>
          <a:xfrm>
            <a:off x="1404720" y="1937880"/>
            <a:ext cx="1858680" cy="2437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100" b="1" u="none" strike="noStrike">
                <a:solidFill>
                  <a:schemeClr val="dk1">
                    <a:lumMod val="50000"/>
                    <a:lumOff val="50000"/>
                  </a:schemeClr>
                </a:solidFill>
                <a:effectLst/>
                <a:uFillTx/>
                <a:latin typeface="メイリオ"/>
                <a:ea typeface="メイリオ"/>
              </a:rPr>
              <a:t>WEB</a:t>
            </a:r>
            <a:r>
              <a:rPr lang="ja-JP" sz="1100" b="1" u="none" strike="noStrike">
                <a:solidFill>
                  <a:schemeClr val="dk1">
                    <a:lumMod val="50000"/>
                    <a:lumOff val="50000"/>
                  </a:schemeClr>
                </a:solidFill>
                <a:effectLst/>
                <a:uFillTx/>
                <a:latin typeface="メイリオ"/>
                <a:ea typeface="メイリオ"/>
              </a:rPr>
              <a:t>サイト</a:t>
            </a:r>
            <a:endParaRPr lang="en-US" sz="1100" b="0" u="none" strike="noStrike">
              <a:solidFill>
                <a:srgbClr val="000000"/>
              </a:solidFill>
              <a:effectLst/>
              <a:uFillTx/>
              <a:latin typeface="Arial"/>
            </a:endParaRPr>
          </a:p>
        </p:txBody>
      </p:sp>
      <p:sp>
        <p:nvSpPr>
          <p:cNvPr id="580" name="正方形/長方形 15"/>
          <p:cNvSpPr/>
          <p:nvPr/>
        </p:nvSpPr>
        <p:spPr>
          <a:xfrm>
            <a:off x="5808600" y="2415600"/>
            <a:ext cx="3748680" cy="1820880"/>
          </a:xfrm>
          <a:prstGeom prst="rect">
            <a:avLst/>
          </a:prstGeom>
          <a:no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81" name="正方形/長方形 16"/>
          <p:cNvSpPr/>
          <p:nvPr/>
        </p:nvSpPr>
        <p:spPr>
          <a:xfrm>
            <a:off x="5808600" y="4588920"/>
            <a:ext cx="3748680" cy="1820880"/>
          </a:xfrm>
          <a:prstGeom prst="rect">
            <a:avLst/>
          </a:prstGeom>
          <a:no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82" name="正方形/長方形 19"/>
          <p:cNvSpPr/>
          <p:nvPr/>
        </p:nvSpPr>
        <p:spPr>
          <a:xfrm>
            <a:off x="5974560" y="2304720"/>
            <a:ext cx="1858680" cy="2437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dk1"/>
                </a:solidFill>
                <a:effectLst/>
                <a:uFillTx/>
                <a:latin typeface="メイリオ"/>
                <a:ea typeface="メイリオ"/>
              </a:rPr>
              <a:t>非</a:t>
            </a:r>
            <a:r>
              <a:rPr lang="en-US" sz="1100" b="1" u="none" strike="noStrike">
                <a:solidFill>
                  <a:schemeClr val="dk1"/>
                </a:solidFill>
                <a:effectLst/>
                <a:uFillTx/>
                <a:latin typeface="メイリオ"/>
                <a:ea typeface="メイリオ"/>
              </a:rPr>
              <a:t>LINE</a:t>
            </a:r>
            <a:r>
              <a:rPr lang="ja-JP" sz="1100" b="1" u="none" strike="noStrike">
                <a:solidFill>
                  <a:schemeClr val="dk1"/>
                </a:solidFill>
                <a:effectLst/>
                <a:uFillTx/>
                <a:latin typeface="メイリオ"/>
                <a:ea typeface="メイリオ"/>
              </a:rPr>
              <a:t>友だちの場合</a:t>
            </a:r>
            <a:endParaRPr lang="en-US" sz="1100" b="0" u="none" strike="noStrike">
              <a:solidFill>
                <a:srgbClr val="000000"/>
              </a:solidFill>
              <a:effectLst/>
              <a:uFillTx/>
              <a:latin typeface="Arial"/>
            </a:endParaRPr>
          </a:p>
        </p:txBody>
      </p:sp>
      <p:sp>
        <p:nvSpPr>
          <p:cNvPr id="583" name="正方形/長方形 20"/>
          <p:cNvSpPr/>
          <p:nvPr/>
        </p:nvSpPr>
        <p:spPr>
          <a:xfrm>
            <a:off x="5974560" y="4466880"/>
            <a:ext cx="1858680" cy="2437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dk1"/>
                </a:solidFill>
                <a:effectLst/>
                <a:uFillTx/>
                <a:latin typeface="メイリオ"/>
                <a:ea typeface="メイリオ"/>
              </a:rPr>
              <a:t>既存の</a:t>
            </a:r>
            <a:r>
              <a:rPr lang="en-US" sz="1100" b="1" u="none" strike="noStrike">
                <a:solidFill>
                  <a:schemeClr val="dk1"/>
                </a:solidFill>
                <a:effectLst/>
                <a:uFillTx/>
                <a:latin typeface="メイリオ"/>
                <a:ea typeface="メイリオ"/>
              </a:rPr>
              <a:t>LINE</a:t>
            </a:r>
            <a:r>
              <a:rPr lang="ja-JP" sz="1100" b="1" u="none" strike="noStrike">
                <a:solidFill>
                  <a:schemeClr val="dk1"/>
                </a:solidFill>
                <a:effectLst/>
                <a:uFillTx/>
                <a:latin typeface="メイリオ"/>
                <a:ea typeface="メイリオ"/>
              </a:rPr>
              <a:t>友だちの場合</a:t>
            </a:r>
            <a:endParaRPr lang="en-US" sz="1100" b="0" u="none" strike="noStrike">
              <a:solidFill>
                <a:srgbClr val="000000"/>
              </a:solidFill>
              <a:effectLst/>
              <a:uFillTx/>
              <a:latin typeface="Arial"/>
            </a:endParaRPr>
          </a:p>
        </p:txBody>
      </p:sp>
      <p:cxnSp>
        <p:nvCxnSpPr>
          <p:cNvPr id="584" name="直線矢印コネクタ 22"/>
          <p:cNvCxnSpPr/>
          <p:nvPr/>
        </p:nvCxnSpPr>
        <p:spPr>
          <a:xfrm>
            <a:off x="4361760" y="3239640"/>
            <a:ext cx="1407600" cy="360"/>
          </a:xfrm>
          <a:prstGeom prst="straightConnector1">
            <a:avLst/>
          </a:prstGeom>
          <a:ln w="19050">
            <a:solidFill>
              <a:srgbClr val="00B050">
                <a:alpha val="80000"/>
              </a:srgbClr>
            </a:solidFill>
            <a:prstDash val="sysDot"/>
            <a:round/>
            <a:tailEnd type="triangle" w="med" len="med"/>
          </a:ln>
        </p:spPr>
      </p:cxnSp>
      <p:cxnSp>
        <p:nvCxnSpPr>
          <p:cNvPr id="585" name="直線矢印コネクタ 23"/>
          <p:cNvCxnSpPr/>
          <p:nvPr/>
        </p:nvCxnSpPr>
        <p:spPr>
          <a:xfrm>
            <a:off x="4361760" y="3391920"/>
            <a:ext cx="1407600" cy="1358640"/>
          </a:xfrm>
          <a:prstGeom prst="straightConnector1">
            <a:avLst/>
          </a:prstGeom>
          <a:ln w="19050">
            <a:solidFill>
              <a:srgbClr val="00B050">
                <a:alpha val="80000"/>
              </a:srgbClr>
            </a:solidFill>
            <a:prstDash val="sysDot"/>
            <a:round/>
            <a:tailEnd type="triangle" w="med" len="med"/>
          </a:ln>
        </p:spPr>
      </p:cxnSp>
      <p:sp>
        <p:nvSpPr>
          <p:cNvPr id="586" name="正方形/長方形 28"/>
          <p:cNvSpPr/>
          <p:nvPr/>
        </p:nvSpPr>
        <p:spPr>
          <a:xfrm>
            <a:off x="4867200" y="2304720"/>
            <a:ext cx="374040" cy="3205440"/>
          </a:xfrm>
          <a:prstGeom prst="rect">
            <a:avLst/>
          </a:prstGeom>
          <a:solidFill>
            <a:srgbClr val="00FF00">
              <a:alpha val="40000"/>
            </a:srgb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dk1"/>
                </a:solidFill>
                <a:effectLst/>
                <a:uFillTx/>
                <a:latin typeface="メイリオ"/>
                <a:ea typeface="メイリオ"/>
              </a:rPr>
              <a:t>｜</a:t>
            </a:r>
            <a:r>
              <a:rPr lang="en-US" sz="1100" b="1" u="none" strike="noStrike">
                <a:solidFill>
                  <a:schemeClr val="dk1"/>
                </a:solidFill>
                <a:effectLst/>
                <a:uFillTx/>
                <a:latin typeface="メイリオ"/>
                <a:ea typeface="メイリオ"/>
              </a:rPr>
              <a:t>D</a:t>
            </a:r>
            <a:endParaRPr lang="en-US" sz="1100" b="0" u="none" strike="noStrike">
              <a:solidFill>
                <a:srgbClr val="000000"/>
              </a:solidFill>
              <a:effectLst/>
              <a:uFillTx/>
              <a:latin typeface="Arial"/>
            </a:endParaRPr>
          </a:p>
          <a:p>
            <a:pPr algn="ctr" defTabSz="914400">
              <a:lnSpc>
                <a:spcPct val="100000"/>
              </a:lnSpc>
            </a:pPr>
            <a:r>
              <a:rPr lang="en-US" sz="1100" b="1" u="none" strike="noStrike">
                <a:solidFill>
                  <a:schemeClr val="dk1"/>
                </a:solidFill>
                <a:effectLst/>
                <a:uFillTx/>
                <a:latin typeface="メイリオ"/>
                <a:ea typeface="メイリオ"/>
              </a:rPr>
              <a:t>Y</a:t>
            </a:r>
            <a:endParaRPr lang="en-US" sz="1100" b="0" u="none" strike="noStrike">
              <a:solidFill>
                <a:srgbClr val="000000"/>
              </a:solidFill>
              <a:effectLst/>
              <a:uFillTx/>
              <a:latin typeface="Arial"/>
            </a:endParaRPr>
          </a:p>
          <a:p>
            <a:pPr algn="ctr" defTabSz="914400">
              <a:lnSpc>
                <a:spcPct val="100000"/>
              </a:lnSpc>
            </a:pPr>
            <a:r>
              <a:rPr lang="en-US" sz="1100" b="1" u="none" strike="noStrike">
                <a:solidFill>
                  <a:schemeClr val="dk1"/>
                </a:solidFill>
                <a:effectLst/>
                <a:uFillTx/>
                <a:latin typeface="メイリオ"/>
                <a:ea typeface="メイリオ"/>
              </a:rPr>
              <a:t>M</a:t>
            </a:r>
            <a:r>
              <a:rPr lang="ja-JP" sz="1100" b="1" u="none" strike="noStrike">
                <a:solidFill>
                  <a:schemeClr val="dk1"/>
                </a:solidFill>
                <a:effectLst/>
                <a:uFillTx/>
                <a:latin typeface="メイリオ"/>
                <a:ea typeface="メイリオ"/>
              </a:rPr>
              <a:t>ツ</a:t>
            </a:r>
            <a:endParaRPr lang="en-US" sz="1100" b="0" u="none" strike="noStrike">
              <a:solidFill>
                <a:srgbClr val="000000"/>
              </a:solidFill>
              <a:effectLst/>
              <a:uFillTx/>
              <a:latin typeface="Arial"/>
            </a:endParaRPr>
          </a:p>
          <a:p>
            <a:pPr algn="ctr" defTabSz="914400">
              <a:lnSpc>
                <a:spcPct val="100000"/>
              </a:lnSpc>
            </a:pPr>
            <a:r>
              <a:rPr lang="ja-JP" sz="1100" b="1" u="none" strike="noStrike">
                <a:solidFill>
                  <a:schemeClr val="dk1"/>
                </a:solidFill>
                <a:effectLst/>
                <a:uFillTx/>
                <a:latin typeface="メイリオ"/>
                <a:ea typeface="メイリオ"/>
              </a:rPr>
              <a:t>｜ルで</a:t>
            </a:r>
            <a:endParaRPr lang="en-US" sz="1100" b="0" u="none" strike="noStrike">
              <a:solidFill>
                <a:srgbClr val="000000"/>
              </a:solidFill>
              <a:effectLst/>
              <a:uFillTx/>
              <a:latin typeface="Arial"/>
            </a:endParaRPr>
          </a:p>
          <a:p>
            <a:pPr algn="ctr" defTabSz="914400">
              <a:lnSpc>
                <a:spcPct val="100000"/>
              </a:lnSpc>
            </a:pPr>
            <a:r>
              <a:rPr lang="en-US" sz="1100" b="1" u="none" strike="noStrike">
                <a:solidFill>
                  <a:schemeClr val="dk1"/>
                </a:solidFill>
                <a:effectLst/>
                <a:uFillTx/>
                <a:latin typeface="メイリオ"/>
                <a:ea typeface="メイリオ"/>
              </a:rPr>
              <a:t>L</a:t>
            </a:r>
            <a:br>
              <a:rPr sz="1100"/>
            </a:br>
            <a:r>
              <a:rPr lang="en-US" sz="1100" b="1" u="none" strike="noStrike">
                <a:solidFill>
                  <a:schemeClr val="dk1"/>
                </a:solidFill>
                <a:effectLst/>
                <a:uFillTx/>
                <a:latin typeface="メイリオ"/>
                <a:ea typeface="メイリオ"/>
              </a:rPr>
              <a:t>I</a:t>
            </a:r>
            <a:endParaRPr lang="en-US" sz="1100" b="0" u="none" strike="noStrike">
              <a:solidFill>
                <a:srgbClr val="000000"/>
              </a:solidFill>
              <a:effectLst/>
              <a:uFillTx/>
              <a:latin typeface="Arial"/>
            </a:endParaRPr>
          </a:p>
          <a:p>
            <a:pPr algn="ctr" defTabSz="914400">
              <a:lnSpc>
                <a:spcPct val="100000"/>
              </a:lnSpc>
            </a:pPr>
            <a:r>
              <a:rPr lang="en-US" sz="1100" b="1" u="none" strike="noStrike">
                <a:solidFill>
                  <a:schemeClr val="dk1"/>
                </a:solidFill>
                <a:effectLst/>
                <a:uFillTx/>
                <a:latin typeface="メイリオ"/>
                <a:ea typeface="メイリオ"/>
              </a:rPr>
              <a:t>N</a:t>
            </a:r>
            <a:br>
              <a:rPr sz="1100"/>
            </a:br>
            <a:r>
              <a:rPr lang="en-US" sz="1100" b="1" u="none" strike="noStrike">
                <a:solidFill>
                  <a:schemeClr val="dk1"/>
                </a:solidFill>
                <a:effectLst/>
                <a:uFillTx/>
                <a:latin typeface="メイリオ"/>
                <a:ea typeface="メイリオ"/>
              </a:rPr>
              <a:t>E</a:t>
            </a:r>
            <a:endParaRPr lang="en-US" sz="1100" b="0" u="none" strike="noStrike">
              <a:solidFill>
                <a:srgbClr val="000000"/>
              </a:solidFill>
              <a:effectLst/>
              <a:uFillTx/>
              <a:latin typeface="Arial"/>
            </a:endParaRPr>
          </a:p>
          <a:p>
            <a:pPr algn="ctr" defTabSz="914400">
              <a:lnSpc>
                <a:spcPct val="100000"/>
              </a:lnSpc>
            </a:pPr>
            <a:r>
              <a:rPr lang="ja-JP" sz="1100" b="1" u="none" strike="noStrike">
                <a:solidFill>
                  <a:schemeClr val="dk1"/>
                </a:solidFill>
                <a:effectLst/>
                <a:uFillTx/>
                <a:latin typeface="メイリオ"/>
                <a:ea typeface="メイリオ"/>
              </a:rPr>
              <a:t>動線</a:t>
            </a:r>
            <a:endParaRPr lang="en-US" sz="1100" b="0" u="none" strike="noStrike">
              <a:solidFill>
                <a:srgbClr val="000000"/>
              </a:solidFill>
              <a:effectLst/>
              <a:uFillTx/>
              <a:latin typeface="Arial"/>
            </a:endParaRPr>
          </a:p>
          <a:p>
            <a:pPr algn="ctr" defTabSz="914400">
              <a:lnSpc>
                <a:spcPct val="100000"/>
              </a:lnSpc>
            </a:pPr>
            <a:r>
              <a:rPr lang="ja-JP" sz="1100" b="1" u="none" strike="noStrike">
                <a:solidFill>
                  <a:schemeClr val="dk1"/>
                </a:solidFill>
                <a:effectLst/>
                <a:uFillTx/>
                <a:latin typeface="メイリオ"/>
                <a:ea typeface="メイリオ"/>
              </a:rPr>
              <a:t>に</a:t>
            </a:r>
            <a:endParaRPr lang="en-US" sz="1100" b="0" u="none" strike="noStrike">
              <a:solidFill>
                <a:srgbClr val="000000"/>
              </a:solidFill>
              <a:effectLst/>
              <a:uFillTx/>
              <a:latin typeface="Arial"/>
            </a:endParaRPr>
          </a:p>
          <a:p>
            <a:pPr algn="ctr" defTabSz="914400">
              <a:lnSpc>
                <a:spcPct val="100000"/>
              </a:lnSpc>
            </a:pPr>
            <a:r>
              <a:rPr lang="ja-JP" sz="1100" b="1" u="none" strike="noStrike">
                <a:solidFill>
                  <a:schemeClr val="dk1"/>
                </a:solidFill>
                <a:effectLst/>
                <a:uFillTx/>
                <a:latin typeface="メイリオ"/>
                <a:ea typeface="メイリオ"/>
              </a:rPr>
              <a:t>｜</a:t>
            </a:r>
            <a:endParaRPr lang="en-US" sz="1100" b="0" u="none" strike="noStrike">
              <a:solidFill>
                <a:srgbClr val="000000"/>
              </a:solidFill>
              <a:effectLst/>
              <a:uFillTx/>
              <a:latin typeface="Arial"/>
            </a:endParaRPr>
          </a:p>
        </p:txBody>
      </p:sp>
      <p:pic>
        <p:nvPicPr>
          <p:cNvPr id="587" name="図 44" descr="グラフィカル ユーザー インターフェイス, アプリケーション, Teams&#10;&#10;AI 生成コンテンツは誤りを含む可能性があります。"/>
          <p:cNvPicPr/>
          <p:nvPr/>
        </p:nvPicPr>
        <p:blipFill>
          <a:blip r:embed="rId2"/>
          <a:srcRect t="4578"/>
          <a:stretch/>
        </p:blipFill>
        <p:spPr>
          <a:xfrm>
            <a:off x="7999560" y="2129040"/>
            <a:ext cx="1230840" cy="2084760"/>
          </a:xfrm>
          <a:prstGeom prst="rect">
            <a:avLst/>
          </a:prstGeom>
          <a:noFill/>
          <a:ln w="0">
            <a:noFill/>
          </a:ln>
        </p:spPr>
      </p:pic>
      <p:pic>
        <p:nvPicPr>
          <p:cNvPr id="588" name="図 45" descr="電卓の写真のスマートフォンのスクリーンショット&#10;&#10;AI 生成コンテンツは誤りを含む可能性があります。"/>
          <p:cNvPicPr/>
          <p:nvPr/>
        </p:nvPicPr>
        <p:blipFill>
          <a:blip r:embed="rId3"/>
          <a:srcRect t="4578"/>
          <a:stretch/>
        </p:blipFill>
        <p:spPr>
          <a:xfrm>
            <a:off x="7999560" y="4325040"/>
            <a:ext cx="1230840" cy="2084760"/>
          </a:xfrm>
          <a:prstGeom prst="rect">
            <a:avLst/>
          </a:prstGeom>
          <a:noFill/>
          <a:ln w="0">
            <a:noFill/>
          </a:ln>
        </p:spPr>
      </p:pic>
      <p:sp>
        <p:nvSpPr>
          <p:cNvPr id="589" name="テキスト ボックス 47"/>
          <p:cNvSpPr/>
          <p:nvPr/>
        </p:nvSpPr>
        <p:spPr>
          <a:xfrm>
            <a:off x="5974560" y="2701440"/>
            <a:ext cx="1858680" cy="430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1100" b="1" u="none" strike="noStrike">
                <a:solidFill>
                  <a:schemeClr val="dk1"/>
                </a:solidFill>
                <a:effectLst/>
                <a:uFillTx/>
                <a:latin typeface="メイリオ"/>
                <a:ea typeface="メイリオ"/>
              </a:rPr>
              <a:t>公式アカウントの友だち</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solidFill>
                <a:effectLst/>
                <a:uFillTx/>
                <a:latin typeface="メイリオ"/>
                <a:ea typeface="メイリオ"/>
              </a:rPr>
              <a:t>登録ページ</a:t>
            </a:r>
            <a:r>
              <a:rPr lang="ja-JP" sz="1100" b="0" u="none" strike="noStrike">
                <a:solidFill>
                  <a:schemeClr val="dk1"/>
                </a:solidFill>
                <a:effectLst/>
                <a:uFillTx/>
                <a:latin typeface="メイリオ"/>
                <a:ea typeface="メイリオ"/>
              </a:rPr>
              <a:t>へ遷移する。</a:t>
            </a:r>
            <a:endParaRPr lang="en-US" sz="1100" b="0" u="none" strike="noStrike">
              <a:solidFill>
                <a:srgbClr val="000000"/>
              </a:solidFill>
              <a:effectLst/>
              <a:uFillTx/>
              <a:latin typeface="Arial"/>
            </a:endParaRPr>
          </a:p>
        </p:txBody>
      </p:sp>
      <p:sp>
        <p:nvSpPr>
          <p:cNvPr id="590" name="テキスト ボックス 48"/>
          <p:cNvSpPr/>
          <p:nvPr/>
        </p:nvSpPr>
        <p:spPr>
          <a:xfrm>
            <a:off x="5972040" y="4914360"/>
            <a:ext cx="1858680" cy="138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1100" b="1" u="none" strike="noStrike">
                <a:solidFill>
                  <a:schemeClr val="dk1"/>
                </a:solidFill>
                <a:effectLst/>
                <a:uFillTx/>
                <a:latin typeface="メイリオ"/>
                <a:ea typeface="メイリオ"/>
              </a:rPr>
              <a:t>公式アカウントのトーク</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solidFill>
                <a:effectLst/>
                <a:uFillTx/>
                <a:latin typeface="メイリオ"/>
                <a:ea typeface="メイリオ"/>
              </a:rPr>
              <a:t>画面</a:t>
            </a:r>
            <a:r>
              <a:rPr lang="ja-JP" sz="1100" b="0" u="none" strike="noStrike">
                <a:solidFill>
                  <a:schemeClr val="dk1"/>
                </a:solidFill>
                <a:effectLst/>
                <a:uFillTx/>
                <a:latin typeface="メイリオ"/>
                <a:ea typeface="メイリオ"/>
              </a:rPr>
              <a:t>へ遷移する。</a:t>
            </a:r>
            <a:endParaRPr lang="en-US" sz="1100" b="0" u="none" strike="noStrike">
              <a:solidFill>
                <a:srgbClr val="000000"/>
              </a:solidFill>
              <a:effectLst/>
              <a:uFillTx/>
              <a:latin typeface="Arial"/>
            </a:endParaRPr>
          </a:p>
          <a:p>
            <a:pPr defTabSz="914400">
              <a:lnSpc>
                <a:spcPct val="100000"/>
              </a:lnSpc>
            </a:pPr>
            <a:r>
              <a:rPr lang="en-US" sz="1000" b="0" u="none" strike="noStrike">
                <a:solidFill>
                  <a:srgbClr val="FF0000"/>
                </a:solidFill>
                <a:effectLst/>
                <a:uFillTx/>
                <a:latin typeface="メイリオ"/>
                <a:ea typeface="メイリオ"/>
              </a:rPr>
              <a:t>※設定によりフォーム入力</a:t>
            </a:r>
            <a:endParaRPr lang="en-US" sz="1000" b="0" u="none" strike="noStrike">
              <a:solidFill>
                <a:srgbClr val="000000"/>
              </a:solidFill>
              <a:effectLst/>
              <a:uFillTx/>
              <a:latin typeface="Arial"/>
            </a:endParaRPr>
          </a:p>
          <a:p>
            <a:pPr defTabSz="914400">
              <a:lnSpc>
                <a:spcPct val="100000"/>
              </a:lnSpc>
            </a:pPr>
            <a:r>
              <a:rPr lang="ja-JP" sz="1000" b="0" u="none" strike="noStrike">
                <a:solidFill>
                  <a:srgbClr val="FF0000"/>
                </a:solidFill>
                <a:effectLst/>
                <a:uFillTx/>
                <a:latin typeface="メイリオ"/>
                <a:ea typeface="メイリオ"/>
              </a:rPr>
              <a:t>　内容を踏襲した入力画面</a:t>
            </a:r>
            <a:endParaRPr lang="en-US" sz="1000" b="0" u="none" strike="noStrike">
              <a:solidFill>
                <a:srgbClr val="000000"/>
              </a:solidFill>
              <a:effectLst/>
              <a:uFillTx/>
              <a:latin typeface="Arial"/>
            </a:endParaRPr>
          </a:p>
          <a:p>
            <a:pPr defTabSz="914400">
              <a:lnSpc>
                <a:spcPct val="100000"/>
              </a:lnSpc>
            </a:pPr>
            <a:r>
              <a:rPr lang="ja-JP" sz="1000" b="0" u="none" strike="noStrike">
                <a:solidFill>
                  <a:srgbClr val="FF0000"/>
                </a:solidFill>
                <a:effectLst/>
                <a:uFillTx/>
                <a:latin typeface="メイリオ"/>
                <a:ea typeface="メイリオ"/>
              </a:rPr>
              <a:t>　を表示させることが可能。</a:t>
            </a:r>
            <a:endParaRPr lang="en-US" sz="1000" b="0" u="none" strike="noStrike">
              <a:solidFill>
                <a:srgbClr val="000000"/>
              </a:solidFill>
              <a:effectLst/>
              <a:uFillTx/>
              <a:latin typeface="Arial"/>
            </a:endParaRPr>
          </a:p>
          <a:p>
            <a:pPr defTabSz="914400">
              <a:lnSpc>
                <a:spcPct val="100000"/>
              </a:lnSpc>
            </a:pPr>
            <a:endParaRPr lang="en-US" sz="1000" b="0" u="none" strike="noStrike">
              <a:solidFill>
                <a:srgbClr val="000000"/>
              </a:solidFill>
              <a:effectLst/>
              <a:uFillTx/>
              <a:latin typeface="Arial"/>
            </a:endParaRPr>
          </a:p>
          <a:p>
            <a:pPr defTabSz="914400">
              <a:lnSpc>
                <a:spcPct val="100000"/>
              </a:lnSpc>
            </a:pPr>
            <a:r>
              <a:rPr lang="en-US" sz="1100" b="1" u="none" strike="noStrike">
                <a:solidFill>
                  <a:schemeClr val="dk1"/>
                </a:solidFill>
                <a:effectLst/>
                <a:uFillTx/>
                <a:latin typeface="メイリオ"/>
                <a:ea typeface="メイリオ"/>
              </a:rPr>
              <a:t>↓</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solidFill>
                <a:effectLst/>
                <a:uFillTx/>
                <a:latin typeface="メイリオ"/>
                <a:ea typeface="メイリオ"/>
              </a:rPr>
              <a:t>配信セグメントに利用可</a:t>
            </a:r>
            <a:endParaRPr lang="en-US" sz="1100" b="0" u="none" strike="noStrike">
              <a:solidFill>
                <a:srgbClr val="000000"/>
              </a:solidFill>
              <a:effectLst/>
              <a:uFillTx/>
              <a:latin typeface="Arial"/>
            </a:endParaRPr>
          </a:p>
        </p:txBody>
      </p:sp>
      <p:pic>
        <p:nvPicPr>
          <p:cNvPr id="591" name="図 55"/>
          <p:cNvPicPr/>
          <p:nvPr/>
        </p:nvPicPr>
        <p:blipFill>
          <a:blip r:embed="rId4"/>
          <a:stretch/>
        </p:blipFill>
        <p:spPr>
          <a:xfrm>
            <a:off x="8048160" y="3085200"/>
            <a:ext cx="1133280" cy="109800"/>
          </a:xfrm>
          <a:prstGeom prst="rect">
            <a:avLst/>
          </a:prstGeom>
          <a:noFill/>
          <a:ln w="0">
            <a:noFill/>
          </a:ln>
        </p:spPr>
      </p:pic>
      <p:pic>
        <p:nvPicPr>
          <p:cNvPr id="592" name="図 56"/>
          <p:cNvPicPr/>
          <p:nvPr/>
        </p:nvPicPr>
        <p:blipFill>
          <a:blip r:embed="rId5"/>
          <a:stretch/>
        </p:blipFill>
        <p:spPr>
          <a:xfrm>
            <a:off x="8377920" y="3091680"/>
            <a:ext cx="479520" cy="106200"/>
          </a:xfrm>
          <a:prstGeom prst="rect">
            <a:avLst/>
          </a:prstGeom>
          <a:noFill/>
          <a:ln w="0">
            <a:noFill/>
          </a:ln>
        </p:spPr>
      </p:pic>
      <p:pic>
        <p:nvPicPr>
          <p:cNvPr id="593" name="図 57"/>
          <p:cNvPicPr/>
          <p:nvPr/>
        </p:nvPicPr>
        <p:blipFill>
          <a:blip r:embed="rId5"/>
          <a:stretch/>
        </p:blipFill>
        <p:spPr>
          <a:xfrm>
            <a:off x="8395920" y="4322160"/>
            <a:ext cx="334080" cy="73800"/>
          </a:xfrm>
          <a:prstGeom prst="rect">
            <a:avLst/>
          </a:prstGeom>
          <a:noFill/>
          <a:ln w="0">
            <a:noFill/>
          </a:ln>
        </p:spPr>
      </p:pic>
      <p:pic>
        <p:nvPicPr>
          <p:cNvPr id="594" name="図 58"/>
          <p:cNvPicPr/>
          <p:nvPr/>
        </p:nvPicPr>
        <p:blipFill>
          <a:blip r:embed="rId5"/>
          <a:stretch/>
        </p:blipFill>
        <p:spPr>
          <a:xfrm>
            <a:off x="8548200" y="4474440"/>
            <a:ext cx="334080" cy="73800"/>
          </a:xfrm>
          <a:prstGeom prst="rect">
            <a:avLst/>
          </a:prstGeom>
          <a:noFill/>
          <a:ln w="0">
            <a:noFill/>
          </a:ln>
        </p:spPr>
      </p:pic>
      <p:sp>
        <p:nvSpPr>
          <p:cNvPr id="595" name="楕円 1029"/>
          <p:cNvSpPr/>
          <p:nvPr/>
        </p:nvSpPr>
        <p:spPr>
          <a:xfrm>
            <a:off x="8414280" y="2644200"/>
            <a:ext cx="395640" cy="395640"/>
          </a:xfrm>
          <a:prstGeom prst="ellipse">
            <a:avLst/>
          </a:prstGeom>
          <a:solidFill>
            <a:schemeClr val="bg1">
              <a:lumMod val="95000"/>
            </a:schemeClr>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600" b="0" u="none" strike="noStrike">
                <a:solidFill>
                  <a:schemeClr val="dk1"/>
                </a:solidFill>
                <a:effectLst/>
                <a:uFillTx/>
                <a:latin typeface="メイリオ"/>
                <a:ea typeface="メイリオ"/>
              </a:rPr>
              <a:t>ロゴ</a:t>
            </a:r>
            <a:endParaRPr lang="en-US" sz="600" b="0" u="none" strike="noStrike">
              <a:solidFill>
                <a:srgbClr val="000000"/>
              </a:solidFill>
              <a:effectLst/>
              <a:uFillTx/>
              <a:latin typeface="Arial"/>
            </a:endParaRPr>
          </a:p>
        </p:txBody>
      </p:sp>
      <p:sp>
        <p:nvSpPr>
          <p:cNvPr id="596" name="正方形/長方形 33"/>
          <p:cNvSpPr/>
          <p:nvPr/>
        </p:nvSpPr>
        <p:spPr>
          <a:xfrm>
            <a:off x="315360" y="2196720"/>
            <a:ext cx="1778040" cy="3994200"/>
          </a:xfrm>
          <a:prstGeom prst="rect">
            <a:avLst/>
          </a:prstGeom>
          <a:no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97" name="二等辺三角形 34"/>
          <p:cNvSpPr/>
          <p:nvPr/>
        </p:nvSpPr>
        <p:spPr>
          <a:xfrm rot="5400000">
            <a:off x="2108880" y="2360880"/>
            <a:ext cx="252360" cy="198360"/>
          </a:xfrm>
          <a:prstGeom prst="triangle">
            <a:avLst>
              <a:gd name="adj" fmla="val 50000"/>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98" name="二等辺三角形 35"/>
          <p:cNvSpPr/>
          <p:nvPr/>
        </p:nvSpPr>
        <p:spPr>
          <a:xfrm rot="5400000">
            <a:off x="2225520" y="2360880"/>
            <a:ext cx="252360" cy="198360"/>
          </a:xfrm>
          <a:prstGeom prst="triangle">
            <a:avLst>
              <a:gd name="adj" fmla="val 50000"/>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99" name="二等辺三角形 36"/>
          <p:cNvSpPr/>
          <p:nvPr/>
        </p:nvSpPr>
        <p:spPr>
          <a:xfrm rot="5400000">
            <a:off x="2342160" y="2360880"/>
            <a:ext cx="252360" cy="198360"/>
          </a:xfrm>
          <a:prstGeom prst="triangle">
            <a:avLst>
              <a:gd name="adj" fmla="val 50000"/>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600" name="正方形/長方形 37"/>
          <p:cNvSpPr/>
          <p:nvPr/>
        </p:nvSpPr>
        <p:spPr>
          <a:xfrm>
            <a:off x="614520" y="4198320"/>
            <a:ext cx="1153800" cy="243720"/>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lt1"/>
                </a:solidFill>
                <a:effectLst/>
                <a:uFillTx/>
                <a:latin typeface="メイリオ"/>
                <a:ea typeface="メイリオ"/>
              </a:rPr>
              <a:t>フォーム</a:t>
            </a:r>
            <a:endParaRPr lang="en-US" sz="1100" b="0" u="none" strike="noStrike">
              <a:solidFill>
                <a:srgbClr val="000000"/>
              </a:solidFill>
              <a:effectLst/>
              <a:uFillTx/>
              <a:latin typeface="Arial"/>
            </a:endParaRPr>
          </a:p>
        </p:txBody>
      </p:sp>
      <p:pic>
        <p:nvPicPr>
          <p:cNvPr id="601" name="図 39" descr="テキスト, 手紙&#10;&#10;AI 生成コンテンツは誤りを含む可能性があります。"/>
          <p:cNvPicPr/>
          <p:nvPr/>
        </p:nvPicPr>
        <p:blipFill>
          <a:blip r:embed="rId6"/>
          <a:srcRect t="4582"/>
          <a:stretch/>
        </p:blipFill>
        <p:spPr>
          <a:xfrm>
            <a:off x="663480" y="2289240"/>
            <a:ext cx="1047960" cy="1775160"/>
          </a:xfrm>
          <a:prstGeom prst="rect">
            <a:avLst/>
          </a:prstGeom>
          <a:noFill/>
          <a:ln w="0">
            <a:noFill/>
          </a:ln>
        </p:spPr>
      </p:pic>
      <p:pic>
        <p:nvPicPr>
          <p:cNvPr id="602" name="図 40"/>
          <p:cNvPicPr/>
          <p:nvPr/>
        </p:nvPicPr>
        <p:blipFill>
          <a:blip r:embed="rId7"/>
          <a:stretch/>
        </p:blipFill>
        <p:spPr>
          <a:xfrm>
            <a:off x="641160" y="2325600"/>
            <a:ext cx="494280" cy="85680"/>
          </a:xfrm>
          <a:prstGeom prst="rect">
            <a:avLst/>
          </a:prstGeom>
          <a:noFill/>
          <a:ln w="0">
            <a:noFill/>
          </a:ln>
        </p:spPr>
      </p:pic>
      <p:pic>
        <p:nvPicPr>
          <p:cNvPr id="603" name="図 41"/>
          <p:cNvPicPr/>
          <p:nvPr/>
        </p:nvPicPr>
        <p:blipFill>
          <a:blip r:embed="rId7"/>
          <a:stretch/>
        </p:blipFill>
        <p:spPr>
          <a:xfrm>
            <a:off x="630360" y="2328120"/>
            <a:ext cx="494280" cy="85680"/>
          </a:xfrm>
          <a:prstGeom prst="rect">
            <a:avLst/>
          </a:prstGeom>
          <a:noFill/>
          <a:ln w="0">
            <a:noFill/>
          </a:ln>
        </p:spPr>
      </p:pic>
      <p:pic>
        <p:nvPicPr>
          <p:cNvPr id="604" name="図 46"/>
          <p:cNvPicPr/>
          <p:nvPr/>
        </p:nvPicPr>
        <p:blipFill>
          <a:blip r:embed="rId7"/>
          <a:stretch/>
        </p:blipFill>
        <p:spPr>
          <a:xfrm>
            <a:off x="810000" y="3773160"/>
            <a:ext cx="494280" cy="85680"/>
          </a:xfrm>
          <a:prstGeom prst="rect">
            <a:avLst/>
          </a:prstGeom>
          <a:noFill/>
          <a:ln w="0">
            <a:noFill/>
          </a:ln>
        </p:spPr>
      </p:pic>
      <p:pic>
        <p:nvPicPr>
          <p:cNvPr id="605" name="図 54"/>
          <p:cNvPicPr/>
          <p:nvPr/>
        </p:nvPicPr>
        <p:blipFill>
          <a:blip r:embed="rId8"/>
          <a:stretch/>
        </p:blipFill>
        <p:spPr>
          <a:xfrm>
            <a:off x="647280" y="2445120"/>
            <a:ext cx="1075680" cy="1468080"/>
          </a:xfrm>
          <a:prstGeom prst="rect">
            <a:avLst/>
          </a:prstGeom>
          <a:noFill/>
          <a:ln w="0">
            <a:noFill/>
          </a:ln>
        </p:spPr>
      </p:pic>
      <p:pic>
        <p:nvPicPr>
          <p:cNvPr id="606" name="図 1023"/>
          <p:cNvPicPr/>
          <p:nvPr/>
        </p:nvPicPr>
        <p:blipFill>
          <a:blip r:embed="rId9"/>
          <a:stretch/>
        </p:blipFill>
        <p:spPr>
          <a:xfrm>
            <a:off x="1125360" y="2303280"/>
            <a:ext cx="560520" cy="133200"/>
          </a:xfrm>
          <a:prstGeom prst="rect">
            <a:avLst/>
          </a:prstGeom>
          <a:noFill/>
          <a:ln w="0">
            <a:noFill/>
          </a:ln>
        </p:spPr>
      </p:pic>
      <p:sp>
        <p:nvSpPr>
          <p:cNvPr id="607" name="テキスト ボックス 1025"/>
          <p:cNvSpPr/>
          <p:nvPr/>
        </p:nvSpPr>
        <p:spPr>
          <a:xfrm>
            <a:off x="-490680" y="4710960"/>
            <a:ext cx="34052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000" b="1" u="none" strike="noStrike">
                <a:solidFill>
                  <a:srgbClr val="FF0000"/>
                </a:solidFill>
                <a:effectLst/>
                <a:uFillTx/>
                <a:latin typeface="メイリオ"/>
                <a:ea typeface="メイリオ"/>
              </a:rPr>
              <a:t>※</a:t>
            </a:r>
            <a:r>
              <a:rPr lang="ja-JP" sz="1000" b="1" u="none" strike="noStrike">
                <a:solidFill>
                  <a:srgbClr val="FF0000"/>
                </a:solidFill>
                <a:effectLst/>
                <a:uFillTx/>
                <a:latin typeface="メイリオ"/>
                <a:ea typeface="メイリオ"/>
              </a:rPr>
              <a:t>入力した内容を</a:t>
            </a:r>
            <a:endParaRPr lang="en-US" sz="1000" b="0" u="none" strike="noStrike">
              <a:solidFill>
                <a:srgbClr val="000000"/>
              </a:solidFill>
              <a:effectLst/>
              <a:uFillTx/>
              <a:latin typeface="Arial"/>
            </a:endParaRPr>
          </a:p>
          <a:p>
            <a:pPr algn="ctr" defTabSz="914400">
              <a:lnSpc>
                <a:spcPct val="100000"/>
              </a:lnSpc>
            </a:pPr>
            <a:r>
              <a:rPr lang="ja-JP" sz="1000" b="1" u="none" strike="noStrike">
                <a:solidFill>
                  <a:srgbClr val="FF0000"/>
                </a:solidFill>
                <a:effectLst/>
                <a:uFillTx/>
                <a:latin typeface="メイリオ"/>
                <a:ea typeface="メイリオ"/>
              </a:rPr>
              <a:t>トークに反映が可能。</a:t>
            </a:r>
            <a:endParaRPr lang="en-US" sz="1000" b="0" u="none" strike="noStrike">
              <a:solidFill>
                <a:srgbClr val="000000"/>
              </a:solidFill>
              <a:effectLst/>
              <a:uFillTx/>
              <a:latin typeface="Arial"/>
            </a:endParaRPr>
          </a:p>
        </p:txBody>
      </p:sp>
      <p:sp>
        <p:nvSpPr>
          <p:cNvPr id="608" name="正方形/長方形 1031"/>
          <p:cNvSpPr/>
          <p:nvPr/>
        </p:nvSpPr>
        <p:spPr>
          <a:xfrm>
            <a:off x="2584080" y="2196720"/>
            <a:ext cx="1778040" cy="3994200"/>
          </a:xfrm>
          <a:prstGeom prst="rect">
            <a:avLst/>
          </a:prstGeom>
          <a:solidFill>
            <a:schemeClr val="bg1"/>
          </a:solid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609" name="正方形/長方形 1033"/>
          <p:cNvSpPr/>
          <p:nvPr/>
        </p:nvSpPr>
        <p:spPr>
          <a:xfrm>
            <a:off x="2909160" y="4198320"/>
            <a:ext cx="1153800" cy="243720"/>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100" b="1" u="none" strike="noStrike">
                <a:solidFill>
                  <a:schemeClr val="lt1"/>
                </a:solidFill>
                <a:effectLst/>
                <a:uFillTx/>
                <a:latin typeface="メイリオ"/>
                <a:ea typeface="メイリオ"/>
              </a:rPr>
              <a:t>CV</a:t>
            </a:r>
            <a:endParaRPr lang="en-US" sz="1100" b="0" u="none" strike="noStrike">
              <a:solidFill>
                <a:srgbClr val="FFFFFF"/>
              </a:solidFill>
              <a:effectLst/>
              <a:uFillTx/>
              <a:latin typeface="Arial"/>
            </a:endParaRPr>
          </a:p>
        </p:txBody>
      </p:sp>
      <p:sp>
        <p:nvSpPr>
          <p:cNvPr id="610" name="正方形/長方形 1035"/>
          <p:cNvSpPr/>
          <p:nvPr/>
        </p:nvSpPr>
        <p:spPr>
          <a:xfrm>
            <a:off x="2692800" y="4436280"/>
            <a:ext cx="1396440" cy="1044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ja-JP" sz="1100" b="1" u="none" strike="noStrike">
                <a:solidFill>
                  <a:schemeClr val="dk1">
                    <a:lumMod val="50000"/>
                    <a:lumOff val="50000"/>
                  </a:schemeClr>
                </a:solidFill>
                <a:effectLst/>
                <a:uFillTx/>
                <a:latin typeface="メイリオ"/>
                <a:ea typeface="メイリオ"/>
              </a:rPr>
              <a:t>・購入完了</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lumMod val="50000"/>
                    <a:lumOff val="50000"/>
                  </a:schemeClr>
                </a:solidFill>
                <a:effectLst/>
                <a:uFillTx/>
                <a:latin typeface="メイリオ"/>
                <a:ea typeface="メイリオ"/>
              </a:rPr>
              <a:t>・セミナー予約</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lumMod val="50000"/>
                    <a:lumOff val="50000"/>
                  </a:schemeClr>
                </a:solidFill>
                <a:effectLst/>
                <a:uFillTx/>
                <a:latin typeface="メイリオ"/>
                <a:ea typeface="メイリオ"/>
              </a:rPr>
              <a:t>・登録完了</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lumMod val="50000"/>
                    <a:lumOff val="50000"/>
                  </a:schemeClr>
                </a:solidFill>
                <a:effectLst/>
                <a:uFillTx/>
                <a:latin typeface="メイリオ"/>
                <a:ea typeface="メイリオ"/>
              </a:rPr>
              <a:t>・メルマガ登録</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lumMod val="50000"/>
                    <a:lumOff val="50000"/>
                  </a:schemeClr>
                </a:solidFill>
                <a:effectLst/>
                <a:uFillTx/>
                <a:latin typeface="メイリオ"/>
                <a:ea typeface="メイリオ"/>
              </a:rPr>
              <a:t>・その他</a:t>
            </a:r>
            <a:endParaRPr lang="en-US" sz="1100" b="0" u="none" strike="noStrike">
              <a:solidFill>
                <a:srgbClr val="000000"/>
              </a:solidFill>
              <a:effectLst/>
              <a:uFillTx/>
              <a:latin typeface="Arial"/>
            </a:endParaRPr>
          </a:p>
        </p:txBody>
      </p:sp>
      <p:pic>
        <p:nvPicPr>
          <p:cNvPr id="611" name="図 1037" descr="テキスト, 手紙&#10;&#10;AI 生成コンテンツは誤りを含む可能性があります。"/>
          <p:cNvPicPr/>
          <p:nvPr/>
        </p:nvPicPr>
        <p:blipFill>
          <a:blip r:embed="rId6"/>
          <a:srcRect t="4582"/>
          <a:stretch/>
        </p:blipFill>
        <p:spPr>
          <a:xfrm>
            <a:off x="2977560" y="2296080"/>
            <a:ext cx="1047960" cy="1775160"/>
          </a:xfrm>
          <a:prstGeom prst="rect">
            <a:avLst/>
          </a:prstGeom>
          <a:noFill/>
          <a:ln w="0">
            <a:noFill/>
          </a:ln>
        </p:spPr>
      </p:pic>
      <p:pic>
        <p:nvPicPr>
          <p:cNvPr id="612" name="Picture 2" descr="買い物完了！イラスト｜無料イラスト・フリー素材なら「イラストAC」"/>
          <p:cNvPicPr/>
          <p:nvPr/>
        </p:nvPicPr>
        <p:blipFill>
          <a:blip r:embed="rId10"/>
          <a:srcRect l="20275" r="23688"/>
          <a:stretch/>
        </p:blipFill>
        <p:spPr>
          <a:xfrm>
            <a:off x="3866400" y="4627080"/>
            <a:ext cx="394920" cy="529200"/>
          </a:xfrm>
          <a:prstGeom prst="rect">
            <a:avLst/>
          </a:prstGeom>
          <a:noFill/>
          <a:ln w="0">
            <a:noFill/>
          </a:ln>
        </p:spPr>
      </p:pic>
      <p:pic>
        <p:nvPicPr>
          <p:cNvPr id="613" name="図 1039"/>
          <p:cNvPicPr/>
          <p:nvPr/>
        </p:nvPicPr>
        <p:blipFill>
          <a:blip r:embed="rId7"/>
          <a:stretch/>
        </p:blipFill>
        <p:spPr>
          <a:xfrm>
            <a:off x="2955240" y="2332440"/>
            <a:ext cx="494280" cy="85680"/>
          </a:xfrm>
          <a:prstGeom prst="rect">
            <a:avLst/>
          </a:prstGeom>
          <a:noFill/>
          <a:ln w="0">
            <a:noFill/>
          </a:ln>
        </p:spPr>
      </p:pic>
      <p:pic>
        <p:nvPicPr>
          <p:cNvPr id="614" name="図 1040"/>
          <p:cNvPicPr/>
          <p:nvPr/>
        </p:nvPicPr>
        <p:blipFill>
          <a:blip r:embed="rId7"/>
          <a:stretch/>
        </p:blipFill>
        <p:spPr>
          <a:xfrm>
            <a:off x="2944440" y="2334960"/>
            <a:ext cx="494280" cy="85680"/>
          </a:xfrm>
          <a:prstGeom prst="rect">
            <a:avLst/>
          </a:prstGeom>
          <a:noFill/>
          <a:ln w="0">
            <a:noFill/>
          </a:ln>
        </p:spPr>
      </p:pic>
      <p:pic>
        <p:nvPicPr>
          <p:cNvPr id="615" name="図 1041"/>
          <p:cNvPicPr/>
          <p:nvPr/>
        </p:nvPicPr>
        <p:blipFill>
          <a:blip r:embed="rId7"/>
          <a:stretch/>
        </p:blipFill>
        <p:spPr>
          <a:xfrm>
            <a:off x="3124080" y="3780360"/>
            <a:ext cx="494280" cy="85680"/>
          </a:xfrm>
          <a:prstGeom prst="rect">
            <a:avLst/>
          </a:prstGeom>
          <a:noFill/>
          <a:ln w="0">
            <a:noFill/>
          </a:ln>
        </p:spPr>
      </p:pic>
      <p:sp>
        <p:nvSpPr>
          <p:cNvPr id="616" name="テキスト ボックス 1042"/>
          <p:cNvSpPr/>
          <p:nvPr/>
        </p:nvSpPr>
        <p:spPr>
          <a:xfrm>
            <a:off x="1254960" y="5195880"/>
            <a:ext cx="1679040" cy="338040"/>
          </a:xfrm>
          <a:prstGeom prst="rect">
            <a:avLst/>
          </a:prstGeom>
          <a:solidFill>
            <a:schemeClr val="lt1">
              <a:alpha val="56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800" b="1" u="none" strike="noStrike">
                <a:solidFill>
                  <a:schemeClr val="lt1">
                    <a:lumMod val="85000"/>
                  </a:schemeClr>
                </a:solidFill>
                <a:effectLst/>
                <a:uFillTx/>
                <a:latin typeface="メイリオ"/>
                <a:ea typeface="メイリオ"/>
              </a:rPr>
              <a:t>※</a:t>
            </a:r>
            <a:r>
              <a:rPr lang="ja-JP" sz="800" b="1" u="none" strike="noStrike">
                <a:solidFill>
                  <a:schemeClr val="lt1">
                    <a:lumMod val="85000"/>
                  </a:schemeClr>
                </a:solidFill>
                <a:effectLst/>
                <a:uFillTx/>
                <a:latin typeface="メイリオ"/>
                <a:ea typeface="メイリオ"/>
              </a:rPr>
              <a:t>ユーザーの個人情報収集が</a:t>
            </a:r>
            <a:endParaRPr lang="en-US" sz="800" b="0" u="none" strike="noStrike">
              <a:solidFill>
                <a:srgbClr val="000000"/>
              </a:solidFill>
              <a:effectLst/>
              <a:uFillTx/>
              <a:latin typeface="Arial"/>
            </a:endParaRPr>
          </a:p>
          <a:p>
            <a:pPr algn="ctr" defTabSz="914400">
              <a:lnSpc>
                <a:spcPct val="100000"/>
              </a:lnSpc>
            </a:pPr>
            <a:r>
              <a:rPr lang="ja-JP" sz="800" b="1" u="none" strike="noStrike">
                <a:solidFill>
                  <a:schemeClr val="lt1">
                    <a:lumMod val="85000"/>
                  </a:schemeClr>
                </a:solidFill>
                <a:effectLst/>
                <a:uFillTx/>
                <a:latin typeface="メイリオ"/>
                <a:ea typeface="メイリオ"/>
              </a:rPr>
              <a:t>完了したタイミング</a:t>
            </a:r>
            <a:endParaRPr lang="en-US" sz="800" b="0" u="none" strike="noStrike">
              <a:solidFill>
                <a:srgbClr val="000000"/>
              </a:solidFill>
              <a:effectLst/>
              <a:uFillTx/>
              <a:latin typeface="Arial"/>
            </a:endParaRPr>
          </a:p>
        </p:txBody>
      </p:sp>
      <p:grpSp>
        <p:nvGrpSpPr>
          <p:cNvPr id="617" name="グループ化 2"/>
          <p:cNvGrpSpPr/>
          <p:nvPr/>
        </p:nvGrpSpPr>
        <p:grpSpPr>
          <a:xfrm>
            <a:off x="543240" y="777600"/>
            <a:ext cx="3105000" cy="484920"/>
            <a:chOff x="543240" y="777600"/>
            <a:chExt cx="3105000" cy="484920"/>
          </a:xfrm>
        </p:grpSpPr>
        <p:sp>
          <p:nvSpPr>
            <p:cNvPr id="618" name="Google Shape;51;p19"/>
            <p:cNvSpPr/>
            <p:nvPr/>
          </p:nvSpPr>
          <p:spPr>
            <a:xfrm>
              <a:off x="543240" y="777600"/>
              <a:ext cx="3105000" cy="484920"/>
            </a:xfrm>
            <a:prstGeom prst="roundRect">
              <a:avLst>
                <a:gd name="adj" fmla="val 16667"/>
              </a:avLst>
            </a:prstGeom>
            <a:solidFill>
              <a:schemeClr val="dk1"/>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endParaRPr lang="en-US" sz="1400" b="1" u="none" strike="noStrike">
                <a:solidFill>
                  <a:schemeClr val="lt1"/>
                </a:solidFill>
                <a:effectLst/>
                <a:uFillTx/>
                <a:latin typeface="Meiryo"/>
                <a:ea typeface="Meiryo"/>
              </a:endParaRPr>
            </a:p>
          </p:txBody>
        </p:sp>
        <p:sp>
          <p:nvSpPr>
            <p:cNvPr id="619" name="テキスト ボックス 4"/>
            <p:cNvSpPr/>
            <p:nvPr/>
          </p:nvSpPr>
          <p:spPr>
            <a:xfrm>
              <a:off x="1175400" y="837360"/>
              <a:ext cx="1832040" cy="357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20000"/>
                </a:lnSpc>
              </a:pPr>
              <a:r>
                <a:rPr lang="ja-JP" sz="1500" b="1" u="none" strike="noStrike">
                  <a:solidFill>
                    <a:schemeClr val="lt1"/>
                  </a:solidFill>
                  <a:effectLst/>
                  <a:uFillTx/>
                  <a:latin typeface="Meiryo"/>
                  <a:ea typeface="Meiryo"/>
                </a:rPr>
                <a:t>サンクス</a:t>
              </a:r>
              <a:r>
                <a:rPr lang="en-US" sz="1500" b="1" u="none" strike="noStrike">
                  <a:solidFill>
                    <a:schemeClr val="lt1"/>
                  </a:solidFill>
                  <a:effectLst/>
                  <a:uFillTx/>
                  <a:latin typeface="Meiryo"/>
                  <a:ea typeface="Meiryo"/>
                </a:rPr>
                <a:t>LINE</a:t>
              </a:r>
              <a:r>
                <a:rPr lang="ja-JP" sz="1500" b="1" u="none" strike="noStrike">
                  <a:solidFill>
                    <a:schemeClr val="lt1"/>
                  </a:solidFill>
                  <a:effectLst/>
                  <a:uFillTx/>
                  <a:latin typeface="Meiryo"/>
                  <a:ea typeface="Meiryo"/>
                </a:rPr>
                <a:t>誘導</a:t>
              </a:r>
              <a:endParaRPr lang="en-US" sz="1500" b="0" u="none" strike="noStrike">
                <a:solidFill>
                  <a:srgbClr val="000000"/>
                </a:solidFill>
                <a:effectLst/>
                <a:uFillTx/>
                <a:latin typeface="Arial"/>
              </a:endParaRPr>
            </a:p>
          </p:txBody>
        </p:sp>
      </p:grpSp>
      <p:sp>
        <p:nvSpPr>
          <p:cNvPr id="620" name="正方形/長方形 5"/>
          <p:cNvSpPr/>
          <p:nvPr/>
        </p:nvSpPr>
        <p:spPr>
          <a:xfrm>
            <a:off x="8247240" y="4702320"/>
            <a:ext cx="899280" cy="799200"/>
          </a:xfrm>
          <a:prstGeom prst="rect">
            <a:avLst/>
          </a:prstGeom>
          <a:noFill/>
          <a:ln>
            <a:solidFill>
              <a:srgbClr val="FF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cxnSp>
        <p:nvCxnSpPr>
          <p:cNvPr id="621" name="コネクタ: カギ線 6"/>
          <p:cNvCxnSpPr/>
          <p:nvPr/>
        </p:nvCxnSpPr>
        <p:spPr>
          <a:xfrm flipV="1">
            <a:off x="7672680" y="5102280"/>
            <a:ext cx="574920" cy="333000"/>
          </a:xfrm>
          <a:prstGeom prst="bentConnector3">
            <a:avLst>
              <a:gd name="adj1" fmla="val 50000"/>
            </a:avLst>
          </a:prstGeom>
          <a:ln w="15875">
            <a:solidFill>
              <a:srgbClr val="FF0000"/>
            </a:solidFill>
            <a:prstDash val="sysDot"/>
            <a:round/>
            <a:tailEnd type="triangle" w="med" len="med"/>
          </a:ln>
        </p:spPr>
      </p:cxnSp>
      <p:cxnSp>
        <p:nvCxnSpPr>
          <p:cNvPr id="622" name="直線矢印コネクタ 12"/>
          <p:cNvCxnSpPr>
            <a:stCxn id="589" idx="2"/>
            <a:endCxn id="583" idx="0"/>
          </p:cNvCxnSpPr>
          <p:nvPr/>
        </p:nvCxnSpPr>
        <p:spPr>
          <a:xfrm>
            <a:off x="6903720" y="3132000"/>
            <a:ext cx="360" cy="1335240"/>
          </a:xfrm>
          <a:prstGeom prst="straightConnector1">
            <a:avLst/>
          </a:prstGeom>
          <a:ln w="19050">
            <a:solidFill>
              <a:srgbClr val="00B050">
                <a:alpha val="80000"/>
              </a:srgbClr>
            </a:solidFill>
            <a:prstDash val="sysDot"/>
            <a:round/>
            <a:tailEnd type="triangle" w="med" len="med"/>
          </a:ln>
        </p:spPr>
      </p:cxnSp>
      <p:sp>
        <p:nvSpPr>
          <p:cNvPr id="623" name="テキスト ボックス 18"/>
          <p:cNvSpPr/>
          <p:nvPr/>
        </p:nvSpPr>
        <p:spPr>
          <a:xfrm>
            <a:off x="6323760" y="3523680"/>
            <a:ext cx="1161360" cy="261360"/>
          </a:xfrm>
          <a:prstGeom prst="rect">
            <a:avLst/>
          </a:prstGeom>
          <a:solidFill>
            <a:schemeClr val="lt1">
              <a:alpha val="7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1" u="none" strike="noStrike">
                <a:solidFill>
                  <a:srgbClr val="00C057"/>
                </a:solidFill>
                <a:effectLst/>
                <a:uFillTx/>
                <a:latin typeface="メイリオ"/>
                <a:ea typeface="メイリオ"/>
              </a:rPr>
              <a:t>友だち追加後</a:t>
            </a:r>
            <a:endParaRPr lang="en-US" sz="1100" b="0" u="none" strike="noStrike">
              <a:solidFill>
                <a:srgbClr val="000000"/>
              </a:solidFill>
              <a:effectLst/>
              <a:uFillTx/>
              <a:latin typeface="Arial"/>
            </a:endParaRPr>
          </a:p>
        </p:txBody>
      </p:sp>
      <p:sp>
        <p:nvSpPr>
          <p:cNvPr id="624" name="正方形/長方形 8"/>
          <p:cNvSpPr/>
          <p:nvPr/>
        </p:nvSpPr>
        <p:spPr>
          <a:xfrm>
            <a:off x="3806280" y="788040"/>
            <a:ext cx="587988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Meiryo"/>
                <a:ea typeface="Meiryo"/>
              </a:rPr>
              <a:t>サンクス到達時の</a:t>
            </a:r>
            <a:r>
              <a:rPr lang="en-US" sz="1600" b="0" u="none" strike="noStrike">
                <a:solidFill>
                  <a:schemeClr val="dk1"/>
                </a:solidFill>
                <a:effectLst/>
                <a:uFillTx/>
                <a:latin typeface="Meiryo"/>
                <a:ea typeface="Meiryo"/>
              </a:rPr>
              <a:t>LINE</a:t>
            </a:r>
            <a:r>
              <a:rPr lang="ja-JP" sz="1600" b="0" u="none" strike="noStrike">
                <a:solidFill>
                  <a:schemeClr val="dk1"/>
                </a:solidFill>
                <a:effectLst/>
                <a:uFillTx/>
                <a:latin typeface="Meiryo"/>
                <a:ea typeface="Meiryo"/>
              </a:rPr>
              <a:t>動線が弊社開発により可能に。</a:t>
            </a:r>
            <a:endParaRPr lang="en-US" sz="1600" b="0" u="none" strike="noStrike">
              <a:solidFill>
                <a:srgbClr val="000000"/>
              </a:solidFill>
              <a:effectLst/>
              <a:uFillTx/>
              <a:latin typeface="Arial"/>
            </a:endParaRPr>
          </a:p>
          <a:p>
            <a:pPr algn="ctr" defTabSz="914400">
              <a:lnSpc>
                <a:spcPct val="100000"/>
              </a:lnSpc>
            </a:pPr>
            <a:r>
              <a:rPr lang="ja-JP" sz="1600" b="0" u="none" strike="noStrike">
                <a:solidFill>
                  <a:schemeClr val="dk1"/>
                </a:solidFill>
                <a:effectLst/>
                <a:uFillTx/>
                <a:latin typeface="Meiryo"/>
                <a:ea typeface="Meiryo"/>
              </a:rPr>
              <a:t>費用を抑えての導入が可能で、新規反響の質改善に寄与。</a:t>
            </a:r>
            <a:endParaRPr lang="en-US" sz="1600" b="0" u="none" strike="noStrike">
              <a:solidFill>
                <a:srgbClr val="000000"/>
              </a:solidFill>
              <a:effectLst/>
              <a:uFillTx/>
              <a:latin typeface="Arial"/>
            </a:endParaRPr>
          </a:p>
        </p:txBody>
      </p:sp>
      <p:sp>
        <p:nvSpPr>
          <p:cNvPr id="625" name="テキスト ボックス 9"/>
          <p:cNvSpPr/>
          <p:nvPr/>
        </p:nvSpPr>
        <p:spPr>
          <a:xfrm>
            <a:off x="4091400" y="1391760"/>
            <a:ext cx="471816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900" b="0" u="none" strike="noStrike">
                <a:solidFill>
                  <a:srgbClr val="FF0000"/>
                </a:solidFill>
                <a:effectLst/>
                <a:uFillTx/>
                <a:latin typeface="メイリオ"/>
                <a:ea typeface="メイリオ"/>
              </a:rPr>
              <a:t>※</a:t>
            </a:r>
            <a:r>
              <a:rPr lang="ja-JP" sz="900" b="0" u="none" strike="noStrike">
                <a:solidFill>
                  <a:srgbClr val="FF0000"/>
                </a:solidFill>
                <a:effectLst/>
                <a:uFillTx/>
                <a:latin typeface="メイリオ"/>
                <a:ea typeface="メイリオ"/>
              </a:rPr>
              <a:t>暫定措置として導入済アカウントについては</a:t>
            </a:r>
            <a:r>
              <a:rPr lang="en-US" sz="900" b="0" u="none" strike="noStrike">
                <a:solidFill>
                  <a:srgbClr val="FF0000"/>
                </a:solidFill>
                <a:effectLst/>
                <a:uFillTx/>
                <a:latin typeface="メイリオ"/>
                <a:ea typeface="メイリオ"/>
              </a:rPr>
              <a:t>2026</a:t>
            </a:r>
            <a:r>
              <a:rPr lang="ja-JP" sz="900" b="0" u="none" strike="noStrike">
                <a:solidFill>
                  <a:srgbClr val="FF0000"/>
                </a:solidFill>
                <a:effectLst/>
                <a:uFillTx/>
                <a:latin typeface="メイリオ"/>
                <a:ea typeface="メイリオ"/>
              </a:rPr>
              <a:t>年</a:t>
            </a:r>
            <a:r>
              <a:rPr lang="en-US" sz="900" b="0" u="none" strike="noStrike">
                <a:solidFill>
                  <a:srgbClr val="FF0000"/>
                </a:solidFill>
                <a:effectLst/>
                <a:uFillTx/>
                <a:latin typeface="メイリオ"/>
                <a:ea typeface="メイリオ"/>
              </a:rPr>
              <a:t>7</a:t>
            </a:r>
            <a:r>
              <a:rPr lang="ja-JP" sz="900" b="0" u="none" strike="noStrike">
                <a:solidFill>
                  <a:srgbClr val="FF0000"/>
                </a:solidFill>
                <a:effectLst/>
                <a:uFillTx/>
                <a:latin typeface="メイリオ"/>
                <a:ea typeface="メイリオ"/>
              </a:rPr>
              <a:t>月～の価格改定の予定</a:t>
            </a:r>
            <a:endParaRPr lang="en-US" sz="900" b="0" u="none" strike="noStrike">
              <a:solidFill>
                <a:srgbClr val="000000"/>
              </a:solidFill>
              <a:effectLst/>
              <a:uFillTx/>
              <a:latin typeface="Arial"/>
            </a:endParaRPr>
          </a:p>
        </p:txBody>
      </p:sp>
      <p:sp>
        <p:nvSpPr>
          <p:cNvPr id="626" name="テキスト ボックス 13"/>
          <p:cNvSpPr/>
          <p:nvPr/>
        </p:nvSpPr>
        <p:spPr>
          <a:xfrm>
            <a:off x="4091400" y="1549800"/>
            <a:ext cx="471816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900" b="0" u="none" strike="noStrike">
                <a:solidFill>
                  <a:srgbClr val="FF0000"/>
                </a:solidFill>
                <a:effectLst/>
                <a:uFillTx/>
                <a:latin typeface="メイリオ"/>
                <a:ea typeface="メイリオ"/>
              </a:rPr>
              <a:t>※</a:t>
            </a:r>
            <a:r>
              <a:rPr lang="ja-JP" sz="900" b="0" u="none" strike="noStrike">
                <a:solidFill>
                  <a:srgbClr val="FF0000"/>
                </a:solidFill>
                <a:effectLst/>
                <a:uFillTx/>
                <a:latin typeface="メイリオ"/>
                <a:ea typeface="メイリオ"/>
              </a:rPr>
              <a:t>既存</a:t>
            </a:r>
            <a:r>
              <a:rPr lang="en-US" sz="900" b="0" u="none" strike="noStrike">
                <a:solidFill>
                  <a:srgbClr val="FF0000"/>
                </a:solidFill>
                <a:effectLst/>
                <a:uFillTx/>
                <a:latin typeface="メイリオ"/>
                <a:ea typeface="メイリオ"/>
              </a:rPr>
              <a:t>API</a:t>
            </a:r>
            <a:r>
              <a:rPr lang="ja-JP" sz="900" b="0" u="none" strike="noStrike">
                <a:solidFill>
                  <a:srgbClr val="FF0000"/>
                </a:solidFill>
                <a:effectLst/>
                <a:uFillTx/>
                <a:latin typeface="メイリオ"/>
                <a:ea typeface="メイリオ"/>
              </a:rPr>
              <a:t>ツールとの併用についても、問題なく稼働が可能。</a:t>
            </a:r>
            <a:endParaRPr lang="en-US" sz="900" b="0" u="none" strike="noStrike">
              <a:solidFill>
                <a:srgbClr val="000000"/>
              </a:solidFill>
              <a:effectLst/>
              <a:uFillTx/>
              <a:latin typeface="Arial"/>
            </a:endParaRPr>
          </a:p>
        </p:txBody>
      </p:sp>
      <p:sp>
        <p:nvSpPr>
          <p:cNvPr id="627" name="正方形/長方形 7"/>
          <p:cNvSpPr/>
          <p:nvPr/>
        </p:nvSpPr>
        <p:spPr>
          <a:xfrm>
            <a:off x="5769360" y="1937880"/>
            <a:ext cx="3787920" cy="2437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lt1"/>
                </a:solidFill>
                <a:effectLst/>
                <a:uFillTx/>
                <a:latin typeface="メイリオ"/>
                <a:ea typeface="メイリオ"/>
              </a:rPr>
              <a:t>動作イメージ</a:t>
            </a:r>
            <a:endParaRPr lang="en-US" sz="1100" b="0" u="none" strike="noStrike">
              <a:solidFill>
                <a:srgbClr val="FFFFFF"/>
              </a:solidFill>
              <a:effectLst/>
              <a:uFillTx/>
              <a:latin typeface="Arial"/>
            </a:endParaRPr>
          </a:p>
        </p:txBody>
      </p:sp>
      <p:sp>
        <p:nvSpPr>
          <p:cNvPr id="628" name="Google Shape;51;p19"/>
          <p:cNvSpPr/>
          <p:nvPr/>
        </p:nvSpPr>
        <p:spPr>
          <a:xfrm>
            <a:off x="5432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初期：</a:t>
            </a:r>
            <a:r>
              <a:rPr lang="en-US" sz="1400" b="1" u="none" strike="noStrike">
                <a:solidFill>
                  <a:schemeClr val="lt1"/>
                </a:solidFill>
                <a:effectLst/>
                <a:uFillTx/>
                <a:latin typeface="Meiryo"/>
                <a:ea typeface="Meiryo"/>
              </a:rPr>
              <a:t>10</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sp>
        <p:nvSpPr>
          <p:cNvPr id="629" name="Google Shape;51;p19"/>
          <p:cNvSpPr/>
          <p:nvPr/>
        </p:nvSpPr>
        <p:spPr>
          <a:xfrm>
            <a:off x="21380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月額</a:t>
            </a:r>
            <a:r>
              <a:rPr lang="en-US" sz="1400" b="1" u="none" strike="noStrike">
                <a:solidFill>
                  <a:schemeClr val="lt1"/>
                </a:solidFill>
                <a:effectLst/>
                <a:uFillTx/>
                <a:latin typeface="Meiryo"/>
                <a:ea typeface="Meiryo"/>
              </a:rPr>
              <a:t>3</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a:p>
            <a:pPr algn="ctr" defTabSz="914400">
              <a:lnSpc>
                <a:spcPct val="100000"/>
              </a:lnSpc>
              <a:tabLst>
                <a:tab pos="0" algn="l"/>
              </a:tabLst>
            </a:pPr>
            <a:r>
              <a:rPr lang="en-US" sz="1050" b="1" u="none" strike="noStrike">
                <a:solidFill>
                  <a:srgbClr val="FFFF00"/>
                </a:solidFill>
                <a:effectLst/>
                <a:uFillTx/>
                <a:latin typeface="Meiryo"/>
                <a:ea typeface="Meiryo"/>
              </a:rPr>
              <a:t>+</a:t>
            </a:r>
            <a:r>
              <a:rPr lang="ja-JP" sz="1050" b="1" u="none" strike="noStrike">
                <a:solidFill>
                  <a:srgbClr val="FFFF00"/>
                </a:solidFill>
                <a:effectLst/>
                <a:uFillTx/>
                <a:latin typeface="Meiryo"/>
                <a:ea typeface="Meiryo"/>
              </a:rPr>
              <a:t>設定地点追加</a:t>
            </a:r>
            <a:endParaRPr lang="en-US" sz="1050" b="0" u="none" strike="noStrike">
              <a:solidFill>
                <a:srgbClr val="FFFFFF"/>
              </a:solidFill>
              <a:effectLst/>
              <a:uFillTx/>
              <a:latin typeface="Arial"/>
            </a:endParaRPr>
          </a:p>
        </p:txBody>
      </p:sp>
      <p:cxnSp>
        <p:nvCxnSpPr>
          <p:cNvPr id="630" name="コネクタ: カギ線 29"/>
          <p:cNvCxnSpPr/>
          <p:nvPr/>
        </p:nvCxnSpPr>
        <p:spPr>
          <a:xfrm>
            <a:off x="1211760" y="5130000"/>
            <a:ext cx="4597200" cy="431280"/>
          </a:xfrm>
          <a:prstGeom prst="bentConnector3">
            <a:avLst>
              <a:gd name="adj1" fmla="val 50003"/>
            </a:avLst>
          </a:prstGeom>
          <a:ln w="15875">
            <a:solidFill>
              <a:srgbClr val="FF0000"/>
            </a:solidFill>
            <a:prstDash val="sysDot"/>
            <a:round/>
            <a:tailEnd type="triangle" w="med" len="med"/>
          </a:ln>
        </p:spPr>
      </p:cxnSp>
      <p:sp>
        <p:nvSpPr>
          <p:cNvPr id="631" name="テキスト ボックス 49"/>
          <p:cNvSpPr/>
          <p:nvPr/>
        </p:nvSpPr>
        <p:spPr>
          <a:xfrm>
            <a:off x="115200" y="5639400"/>
            <a:ext cx="5785560" cy="461160"/>
          </a:xfrm>
          <a:prstGeom prst="rect">
            <a:avLst/>
          </a:prstGeom>
          <a:solidFill>
            <a:schemeClr val="lt1">
              <a:alpha val="62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0" u="none" strike="noStrike">
                <a:solidFill>
                  <a:schemeClr val="dk1"/>
                </a:solidFill>
                <a:effectLst/>
                <a:uFillTx/>
                <a:latin typeface="メイリオ"/>
                <a:ea typeface="メイリオ"/>
              </a:rPr>
              <a:t>高開封率の</a:t>
            </a:r>
            <a:r>
              <a:rPr lang="en-US" sz="1200" b="0" u="none" strike="noStrike">
                <a:solidFill>
                  <a:schemeClr val="dk1"/>
                </a:solidFill>
                <a:effectLst/>
                <a:uFillTx/>
                <a:latin typeface="メイリオ"/>
                <a:ea typeface="メイリオ"/>
              </a:rPr>
              <a:t>LINE</a:t>
            </a:r>
            <a:r>
              <a:rPr lang="ja-JP" sz="1200" b="0" u="none" strike="noStrike">
                <a:solidFill>
                  <a:schemeClr val="dk1"/>
                </a:solidFill>
                <a:effectLst/>
                <a:uFillTx/>
                <a:latin typeface="メイリオ"/>
                <a:ea typeface="メイリオ"/>
              </a:rPr>
              <a:t>に誘導して反響→実売上への引上げ率、リピート率改善。</a:t>
            </a:r>
            <a:endParaRPr lang="en-US" sz="1200" b="0" u="none" strike="noStrike">
              <a:solidFill>
                <a:srgbClr val="000000"/>
              </a:solidFill>
              <a:effectLst/>
              <a:uFillTx/>
              <a:latin typeface="Arial"/>
            </a:endParaRPr>
          </a:p>
          <a:p>
            <a:pPr algn="ctr" defTabSz="914400">
              <a:lnSpc>
                <a:spcPct val="100000"/>
              </a:lnSpc>
            </a:pPr>
            <a:r>
              <a:rPr lang="en-US" sz="1200" b="0" u="none" strike="noStrike">
                <a:solidFill>
                  <a:schemeClr val="dk1"/>
                </a:solidFill>
                <a:effectLst/>
                <a:uFillTx/>
                <a:latin typeface="メイリオ"/>
                <a:ea typeface="メイリオ"/>
              </a:rPr>
              <a:t> </a:t>
            </a:r>
            <a:r>
              <a:rPr lang="ja-JP" sz="1200" b="1" u="none" strike="noStrike">
                <a:solidFill>
                  <a:srgbClr val="FF0000"/>
                </a:solidFill>
                <a:effectLst/>
                <a:uFillTx/>
                <a:latin typeface="メイリオ"/>
                <a:ea typeface="メイリオ"/>
              </a:rPr>
              <a:t>弊社運用の美容クリニック様では、予約後来院率にて</a:t>
            </a:r>
            <a:r>
              <a:rPr lang="en-US" sz="1200" b="1" u="none" strike="noStrike">
                <a:solidFill>
                  <a:srgbClr val="FF0000"/>
                </a:solidFill>
                <a:effectLst/>
                <a:uFillTx/>
                <a:latin typeface="メイリオ"/>
                <a:ea typeface="メイリオ"/>
              </a:rPr>
              <a:t>40-50%</a:t>
            </a:r>
            <a:r>
              <a:rPr lang="ja-JP" sz="1200" b="1" u="none" strike="noStrike">
                <a:solidFill>
                  <a:srgbClr val="FF0000"/>
                </a:solidFill>
                <a:effectLst/>
                <a:uFillTx/>
                <a:latin typeface="メイリオ"/>
                <a:ea typeface="メイリオ"/>
              </a:rPr>
              <a:t>程度の改善を実現</a:t>
            </a:r>
            <a:r>
              <a:rPr lang="ja-JP" sz="1200" b="0" u="none" strike="noStrike">
                <a:solidFill>
                  <a:schemeClr val="dk1"/>
                </a:solidFill>
                <a:effectLst/>
                <a:uFillTx/>
                <a:latin typeface="メイリオ"/>
                <a:ea typeface="メイリオ"/>
              </a:rPr>
              <a:t>。</a:t>
            </a:r>
            <a:endParaRPr lang="en-US" sz="1200" b="0" u="none" strike="noStrike">
              <a:solidFill>
                <a:srgbClr val="000000"/>
              </a:solidFill>
              <a:effectLst/>
              <a:uFillTx/>
              <a:latin typeface="Arial"/>
            </a:endParaRPr>
          </a:p>
        </p:txBody>
      </p:sp>
      <p:sp>
        <p:nvSpPr>
          <p:cNvPr id="632" name="正方形/長方形 17"/>
          <p:cNvSpPr/>
          <p:nvPr/>
        </p:nvSpPr>
        <p:spPr>
          <a:xfrm>
            <a:off x="396720" y="694440"/>
            <a:ext cx="3469320" cy="1188720"/>
          </a:xfrm>
          <a:prstGeom prst="rect">
            <a:avLst/>
          </a:prstGeom>
          <a:solidFill>
            <a:schemeClr val="lt1">
              <a:alpha val="80000"/>
            </a:schemeClr>
          </a:solid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1"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弊社からご提供できる運用プラン</a:t>
            </a:r>
            <a:endParaRPr lang="en-US" sz="1600" b="0" u="none" strike="noStrike">
              <a:solidFill>
                <a:srgbClr val="000000"/>
              </a:solidFill>
              <a:effectLst/>
              <a:uFillTx/>
              <a:latin typeface="Arial"/>
            </a:endParaRPr>
          </a:p>
        </p:txBody>
      </p:sp>
      <p:sp>
        <p:nvSpPr>
          <p:cNvPr id="642" name="正方形/長方形 8"/>
          <p:cNvSpPr/>
          <p:nvPr/>
        </p:nvSpPr>
        <p:spPr>
          <a:xfrm>
            <a:off x="0" y="77724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都度発注プラン</a:t>
            </a:r>
            <a:endParaRPr lang="en-US" sz="1400" b="0" u="none" strike="noStrike">
              <a:solidFill>
                <a:srgbClr val="FFFFFF"/>
              </a:solidFill>
              <a:effectLst/>
              <a:uFillTx/>
              <a:latin typeface="Arial"/>
            </a:endParaRPr>
          </a:p>
        </p:txBody>
      </p:sp>
      <p:sp>
        <p:nvSpPr>
          <p:cNvPr id="643" name="Google Shape;752;p28"/>
          <p:cNvSpPr/>
          <p:nvPr/>
        </p:nvSpPr>
        <p:spPr>
          <a:xfrm>
            <a:off x="3036600" y="85932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dirty="0">
                <a:solidFill>
                  <a:schemeClr val="dk1"/>
                </a:solidFill>
                <a:effectLst/>
                <a:uFillTx/>
                <a:latin typeface="メイリオ"/>
                <a:ea typeface="メイリオ"/>
              </a:rPr>
              <a:t>LINEOA</a:t>
            </a:r>
            <a:r>
              <a:rPr lang="ja-JP" sz="1600" b="1" u="none" strike="noStrike" dirty="0">
                <a:solidFill>
                  <a:schemeClr val="dk1"/>
                </a:solidFill>
                <a:effectLst/>
                <a:uFillTx/>
                <a:latin typeface="メイリオ"/>
                <a:ea typeface="メイリオ"/>
              </a:rPr>
              <a:t>の運用業務・</a:t>
            </a:r>
            <a:r>
              <a:rPr lang="en-US" sz="1600" b="1" u="none" strike="noStrike" dirty="0">
                <a:solidFill>
                  <a:schemeClr val="dk1"/>
                </a:solidFill>
                <a:effectLst/>
                <a:uFillTx/>
                <a:latin typeface="メイリオ"/>
                <a:ea typeface="メイリオ"/>
              </a:rPr>
              <a:t>CR</a:t>
            </a:r>
            <a:r>
              <a:rPr lang="ja-JP" sz="1600" b="1" u="none" strike="noStrike" dirty="0">
                <a:solidFill>
                  <a:schemeClr val="dk1"/>
                </a:solidFill>
                <a:effectLst/>
                <a:uFillTx/>
                <a:latin typeface="メイリオ"/>
                <a:ea typeface="メイリオ"/>
              </a:rPr>
              <a:t>制作業務を一部外出ししてご依頼も。</a:t>
            </a:r>
            <a:endParaRPr lang="en-US" sz="1600" b="0" u="none" strike="noStrike" dirty="0">
              <a:solidFill>
                <a:srgbClr val="000000"/>
              </a:solidFill>
              <a:effectLst/>
              <a:uFillTx/>
              <a:latin typeface="Arial"/>
            </a:endParaRPr>
          </a:p>
        </p:txBody>
      </p:sp>
      <p:sp>
        <p:nvSpPr>
          <p:cNvPr id="644" name="正方形/長方形 11"/>
          <p:cNvSpPr/>
          <p:nvPr/>
        </p:nvSpPr>
        <p:spPr>
          <a:xfrm>
            <a:off x="549000" y="1380240"/>
            <a:ext cx="8859240" cy="50810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50" b="0" u="none" strike="noStrike">
              <a:solidFill>
                <a:schemeClr val="dk1">
                  <a:lumMod val="65000"/>
                  <a:lumOff val="35000"/>
                </a:schemeClr>
              </a:solidFill>
              <a:effectLst/>
              <a:uFillTx/>
              <a:latin typeface="メイリオ"/>
              <a:ea typeface="メイリオ"/>
            </a:endParaRPr>
          </a:p>
        </p:txBody>
      </p:sp>
      <p:sp>
        <p:nvSpPr>
          <p:cNvPr id="645" name="テキスト ボックス 12"/>
          <p:cNvSpPr/>
          <p:nvPr/>
        </p:nvSpPr>
        <p:spPr>
          <a:xfrm>
            <a:off x="706680" y="1569600"/>
            <a:ext cx="4963680" cy="253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050" b="0" u="none" strike="noStrike">
                <a:solidFill>
                  <a:schemeClr val="dk1">
                    <a:lumMod val="65000"/>
                    <a:lumOff val="35000"/>
                  </a:schemeClr>
                </a:solidFill>
                <a:effectLst/>
                <a:uFillTx/>
                <a:latin typeface="メイリオ"/>
                <a:ea typeface="メイリオ"/>
              </a:rPr>
              <a:t>&lt;</a:t>
            </a:r>
            <a:r>
              <a:rPr lang="ja-JP" sz="1050" b="0" u="none" strike="noStrike">
                <a:solidFill>
                  <a:schemeClr val="dk1">
                    <a:lumMod val="65000"/>
                    <a:lumOff val="35000"/>
                  </a:schemeClr>
                </a:solidFill>
                <a:effectLst/>
                <a:uFillTx/>
                <a:latin typeface="メイリオ"/>
                <a:ea typeface="メイリオ"/>
              </a:rPr>
              <a:t>追加作業における費用感　</a:t>
            </a:r>
            <a:r>
              <a:rPr lang="en-US" sz="900" b="0" u="none" strike="noStrike">
                <a:solidFill>
                  <a:srgbClr val="FF0000"/>
                </a:solidFill>
                <a:effectLst/>
                <a:uFillTx/>
                <a:latin typeface="メイリオ"/>
                <a:ea typeface="メイリオ"/>
              </a:rPr>
              <a:t>※作業量により変動する可能性がございます</a:t>
            </a:r>
            <a:r>
              <a:rPr lang="en-US" sz="1050" b="0" u="none" strike="noStrike">
                <a:solidFill>
                  <a:schemeClr val="dk1">
                    <a:lumMod val="65000"/>
                    <a:lumOff val="35000"/>
                  </a:schemeClr>
                </a:solidFill>
                <a:effectLst/>
                <a:uFillTx/>
                <a:latin typeface="メイリオ"/>
                <a:ea typeface="メイリオ"/>
              </a:rPr>
              <a:t>&gt;</a:t>
            </a:r>
            <a:endParaRPr lang="en-US" sz="1050" b="0" u="none" strike="noStrike">
              <a:solidFill>
                <a:srgbClr val="000000"/>
              </a:solidFill>
              <a:effectLst/>
              <a:uFillTx/>
              <a:latin typeface="Arial"/>
            </a:endParaRPr>
          </a:p>
        </p:txBody>
      </p:sp>
      <p:graphicFrame>
        <p:nvGraphicFramePr>
          <p:cNvPr id="646" name="表 13"/>
          <p:cNvGraphicFramePr/>
          <p:nvPr/>
        </p:nvGraphicFramePr>
        <p:xfrm>
          <a:off x="706680" y="1862640"/>
          <a:ext cx="8542080" cy="4067280"/>
        </p:xfrm>
        <a:graphic>
          <a:graphicData uri="http://schemas.openxmlformats.org/drawingml/2006/table">
            <a:tbl>
              <a:tblPr/>
              <a:tblGrid>
                <a:gridCol w="1832400">
                  <a:extLst>
                    <a:ext uri="{9D8B030D-6E8A-4147-A177-3AD203B41FA5}">
                      <a16:colId xmlns:a16="http://schemas.microsoft.com/office/drawing/2014/main" val="20000"/>
                    </a:ext>
                  </a:extLst>
                </a:gridCol>
                <a:gridCol w="1140480">
                  <a:extLst>
                    <a:ext uri="{9D8B030D-6E8A-4147-A177-3AD203B41FA5}">
                      <a16:colId xmlns:a16="http://schemas.microsoft.com/office/drawing/2014/main" val="20001"/>
                    </a:ext>
                  </a:extLst>
                </a:gridCol>
                <a:gridCol w="1140480">
                  <a:extLst>
                    <a:ext uri="{9D8B030D-6E8A-4147-A177-3AD203B41FA5}">
                      <a16:colId xmlns:a16="http://schemas.microsoft.com/office/drawing/2014/main" val="20002"/>
                    </a:ext>
                  </a:extLst>
                </a:gridCol>
                <a:gridCol w="315360">
                  <a:extLst>
                    <a:ext uri="{9D8B030D-6E8A-4147-A177-3AD203B41FA5}">
                      <a16:colId xmlns:a16="http://schemas.microsoft.com/office/drawing/2014/main" val="20003"/>
                    </a:ext>
                  </a:extLst>
                </a:gridCol>
                <a:gridCol w="1832400">
                  <a:extLst>
                    <a:ext uri="{9D8B030D-6E8A-4147-A177-3AD203B41FA5}">
                      <a16:colId xmlns:a16="http://schemas.microsoft.com/office/drawing/2014/main" val="20004"/>
                    </a:ext>
                  </a:extLst>
                </a:gridCol>
                <a:gridCol w="1140480">
                  <a:extLst>
                    <a:ext uri="{9D8B030D-6E8A-4147-A177-3AD203B41FA5}">
                      <a16:colId xmlns:a16="http://schemas.microsoft.com/office/drawing/2014/main" val="20005"/>
                    </a:ext>
                  </a:extLst>
                </a:gridCol>
                <a:gridCol w="1140480">
                  <a:extLst>
                    <a:ext uri="{9D8B030D-6E8A-4147-A177-3AD203B41FA5}">
                      <a16:colId xmlns:a16="http://schemas.microsoft.com/office/drawing/2014/main" val="20006"/>
                    </a:ext>
                  </a:extLst>
                </a:gridCol>
              </a:tblGrid>
              <a:tr h="290520">
                <a:tc>
                  <a:txBody>
                    <a:bodyPr/>
                    <a:lstStyle/>
                    <a:p>
                      <a:pPr algn="ctr" defTabSz="914400">
                        <a:lnSpc>
                          <a:spcPct val="100000"/>
                        </a:lnSpc>
                      </a:pPr>
                      <a:r>
                        <a:rPr lang="ja-JP" sz="1100" b="1" u="none" strike="noStrike">
                          <a:solidFill>
                            <a:srgbClr val="FFFFFF"/>
                          </a:solidFill>
                          <a:effectLst/>
                          <a:uFillTx/>
                          <a:latin typeface="メイリオ"/>
                          <a:ea typeface="メイリオ"/>
                        </a:rPr>
                        <a:t>対応項目</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初期</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内容</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endParaRPr lang="en-US" sz="1100" b="1"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対応項目</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初期</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月額</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extLst>
                  <a:ext uri="{0D108BD9-81ED-4DB2-BD59-A6C34878D82A}">
                    <a16:rowId xmlns:a16="http://schemas.microsoft.com/office/drawing/2014/main" val="10000"/>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アカウント開設</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API</a:t>
                      </a:r>
                      <a:r>
                        <a:rPr lang="ja-JP" sz="1100" b="0" u="none" strike="noStrike">
                          <a:solidFill>
                            <a:srgbClr val="000000"/>
                          </a:solidFill>
                          <a:effectLst/>
                          <a:uFillTx/>
                          <a:latin typeface="メイリオ"/>
                          <a:ea typeface="メイリオ"/>
                        </a:rPr>
                        <a:t>ツール導入</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1"/>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プロフィール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ID</a:t>
                      </a:r>
                      <a:r>
                        <a:rPr lang="ja-JP" sz="1100" b="0" u="none" strike="noStrike">
                          <a:solidFill>
                            <a:srgbClr val="000000"/>
                          </a:solidFill>
                          <a:effectLst/>
                          <a:uFillTx/>
                          <a:latin typeface="メイリオ"/>
                          <a:ea typeface="メイリオ"/>
                        </a:rPr>
                        <a:t>連携</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50000"/>
                              <a:lumOff val="50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2"/>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リッチメニュー</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ログイン</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50000"/>
                              <a:lumOff val="50000"/>
                            </a:schemeClr>
                          </a:solidFill>
                          <a:effectLst/>
                          <a:uFillTx/>
                          <a:latin typeface="メイリオ"/>
                          <a:ea typeface="メイリオ"/>
                        </a:rPr>
                        <a:t>¥0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3"/>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あいさつメッセージ</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通知メッセージ</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4"/>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初期アンケート</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¥50,000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チャットボット機能</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5"/>
                  </a:ext>
                </a:extLst>
              </a:tr>
              <a:tr h="290520">
                <a:tc>
                  <a:txBody>
                    <a:bodyPr/>
                    <a:lstStyle/>
                    <a:p>
                      <a:pPr algn="ctr" defTabSz="914400">
                        <a:lnSpc>
                          <a:spcPct val="100000"/>
                        </a:lnSpc>
                      </a:pPr>
                      <a:r>
                        <a:rPr lang="en-US" sz="1100" b="0" u="none" strike="noStrike">
                          <a:solidFill>
                            <a:srgbClr val="000000"/>
                          </a:solidFill>
                          <a:effectLst/>
                          <a:uFillTx/>
                          <a:latin typeface="メイリオ"/>
                          <a:ea typeface="メイリオ"/>
                        </a:rPr>
                        <a:t>KW</a:t>
                      </a:r>
                      <a:r>
                        <a:rPr lang="ja-JP" sz="1100" b="0" u="none" strike="noStrike">
                          <a:solidFill>
                            <a:srgbClr val="000000"/>
                          </a:solidFill>
                          <a:effectLst/>
                          <a:uFillTx/>
                          <a:latin typeface="メイリオ"/>
                          <a:ea typeface="メイリオ"/>
                        </a:rPr>
                        <a:t>の自動応答</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Chat Plus</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¥30,000~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6"/>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ステップ配信</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¥50,000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Call Plus</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7"/>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セグメント配信</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決済</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8"/>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チャットタグ管理</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予約管理</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9"/>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チャット対応</a:t>
                      </a:r>
                      <a:r>
                        <a:rPr lang="en-US" sz="700" b="0" u="none" strike="noStrike">
                          <a:solidFill>
                            <a:srgbClr val="FF0000"/>
                          </a:solidFill>
                          <a:effectLst/>
                          <a:uFillTx/>
                          <a:latin typeface="メイリオ"/>
                          <a:ea typeface="メイリオ"/>
                        </a:rPr>
                        <a:t> ※サポートは可能</a:t>
                      </a:r>
                      <a:endParaRPr lang="en-US" sz="7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¥100,000</a:t>
                      </a:r>
                      <a:r>
                        <a:rPr lang="ja-JP" sz="1000" b="0" u="none" strike="noStrike">
                          <a:solidFill>
                            <a:srgbClr val="000000"/>
                          </a:solidFill>
                          <a:effectLst/>
                          <a:uFillTx/>
                          <a:latin typeface="メイリオ"/>
                          <a:ea typeface="メイリオ"/>
                        </a:rPr>
                        <a:t>～</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ja-JP" sz="600" b="0" u="none" strike="noStrike">
                          <a:solidFill>
                            <a:srgbClr val="000000"/>
                          </a:solidFill>
                          <a:effectLst/>
                          <a:uFillTx/>
                          <a:latin typeface="メイリオ"/>
                          <a:ea typeface="メイリオ"/>
                        </a:rPr>
                        <a:t>件数により変動</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0"/>
                  </a:ext>
                </a:extLst>
              </a:tr>
              <a:tr h="290520">
                <a:tc>
                  <a:txBody>
                    <a:bodyPr/>
                    <a:lstStyle/>
                    <a:p>
                      <a:pPr algn="ctr" defTabSz="914400">
                        <a:lnSpc>
                          <a:spcPct val="100000"/>
                        </a:lnSpc>
                      </a:pPr>
                      <a:r>
                        <a:rPr lang="en-US" sz="1100" b="0" u="none" strike="noStrike">
                          <a:solidFill>
                            <a:srgbClr val="000000"/>
                          </a:solidFill>
                          <a:effectLst/>
                          <a:uFillTx/>
                          <a:latin typeface="メイリオ"/>
                          <a:ea typeface="メイリオ"/>
                        </a:rPr>
                        <a:t>GA(CRM)</a:t>
                      </a:r>
                      <a:r>
                        <a:rPr lang="ja-JP" sz="1100" b="0" u="none" strike="noStrike">
                          <a:solidFill>
                            <a:srgbClr val="000000"/>
                          </a:solidFill>
                          <a:effectLst/>
                          <a:uFillTx/>
                          <a:latin typeface="メイリオ"/>
                          <a:ea typeface="メイリオ"/>
                        </a:rPr>
                        <a:t>レポート連携</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1"/>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クリエイティブ</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¥15,000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tabLst>
                          <a:tab pos="0" algn="l"/>
                        </a:tabLst>
                      </a:pPr>
                      <a:r>
                        <a:rPr lang="ja-JP" sz="600" b="0" u="none" strike="noStrike">
                          <a:solidFill>
                            <a:srgbClr val="000000"/>
                          </a:solidFill>
                          <a:effectLst/>
                          <a:uFillTx/>
                          <a:latin typeface="メイリオ"/>
                          <a:ea typeface="メイリオ"/>
                        </a:rPr>
                        <a:t>画像</a:t>
                      </a:r>
                      <a:r>
                        <a:rPr lang="en-US" sz="600" b="0" u="none" strike="noStrike">
                          <a:solidFill>
                            <a:srgbClr val="000000"/>
                          </a:solidFill>
                          <a:effectLst/>
                          <a:uFillTx/>
                          <a:latin typeface="メイリオ"/>
                          <a:ea typeface="メイリオ"/>
                        </a:rPr>
                        <a:t>1</a:t>
                      </a:r>
                      <a:r>
                        <a:rPr lang="ja-JP" sz="600" b="0" u="none" strike="noStrike">
                          <a:solidFill>
                            <a:srgbClr val="000000"/>
                          </a:solidFill>
                          <a:effectLst/>
                          <a:uFillTx/>
                          <a:latin typeface="メイリオ"/>
                          <a:ea typeface="メイリオ"/>
                        </a:rPr>
                        <a:t>枚での想定</a:t>
                      </a:r>
                      <a:endParaRPr lang="en-US" sz="600" b="0" u="none" strike="noStrike">
                        <a:solidFill>
                          <a:srgbClr val="000000"/>
                        </a:solidFill>
                        <a:effectLst/>
                        <a:uFillTx/>
                        <a:latin typeface="Arial"/>
                      </a:endParaRPr>
                    </a:p>
                    <a:p>
                      <a:pPr algn="ctr" defTabSz="914400">
                        <a:lnSpc>
                          <a:spcPct val="100000"/>
                        </a:lnSpc>
                        <a:tabLst>
                          <a:tab pos="0" algn="l"/>
                        </a:tabLst>
                      </a:pPr>
                      <a:r>
                        <a:rPr lang="en-US" sz="600" b="0" u="none" strike="noStrike">
                          <a:solidFill>
                            <a:srgbClr val="000000"/>
                          </a:solidFill>
                          <a:effectLst/>
                          <a:uFillTx/>
                          <a:latin typeface="メイリオ"/>
                          <a:ea typeface="メイリオ"/>
                        </a:rPr>
                        <a:t>※バナー、HTML</a:t>
                      </a:r>
                      <a:r>
                        <a:rPr lang="ja-JP" sz="600" b="0" u="none" strike="noStrike">
                          <a:solidFill>
                            <a:srgbClr val="000000"/>
                          </a:solidFill>
                          <a:effectLst/>
                          <a:uFillTx/>
                          <a:latin typeface="メイリオ"/>
                          <a:ea typeface="メイリオ"/>
                        </a:rPr>
                        <a:t>メール等</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離脱防止ツール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¥15,000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tabLst>
                          <a:tab pos="0" algn="l"/>
                        </a:tabLst>
                      </a:pPr>
                      <a:r>
                        <a:rPr lang="ja-JP" sz="600" b="0" u="none" strike="noStrike">
                          <a:solidFill>
                            <a:srgbClr val="000000"/>
                          </a:solidFill>
                          <a:effectLst/>
                          <a:uFillTx/>
                          <a:latin typeface="メイリオ"/>
                          <a:ea typeface="メイリオ"/>
                        </a:rPr>
                        <a:t>画像</a:t>
                      </a:r>
                      <a:r>
                        <a:rPr lang="en-US" sz="600" b="0" u="none" strike="noStrike">
                          <a:solidFill>
                            <a:srgbClr val="000000"/>
                          </a:solidFill>
                          <a:effectLst/>
                          <a:uFillTx/>
                          <a:latin typeface="メイリオ"/>
                          <a:ea typeface="メイリオ"/>
                        </a:rPr>
                        <a:t>1</a:t>
                      </a:r>
                      <a:r>
                        <a:rPr lang="ja-JP" sz="600" b="0" u="none" strike="noStrike">
                          <a:solidFill>
                            <a:srgbClr val="000000"/>
                          </a:solidFill>
                          <a:effectLst/>
                          <a:uFillTx/>
                          <a:latin typeface="メイリオ"/>
                          <a:ea typeface="メイリオ"/>
                        </a:rPr>
                        <a:t>枚での想定</a:t>
                      </a:r>
                      <a:endParaRPr lang="en-US" sz="600" b="0" u="none" strike="noStrike">
                        <a:solidFill>
                          <a:srgbClr val="000000"/>
                        </a:solidFill>
                        <a:effectLst/>
                        <a:uFillTx/>
                        <a:latin typeface="Arial"/>
                      </a:endParaRPr>
                    </a:p>
                    <a:p>
                      <a:pPr algn="ctr" defTabSz="914400">
                        <a:lnSpc>
                          <a:spcPct val="100000"/>
                        </a:lnSpc>
                        <a:tabLst>
                          <a:tab pos="0" algn="l"/>
                        </a:tabLst>
                      </a:pPr>
                      <a:r>
                        <a:rPr lang="en-US" sz="600" b="0" u="none" strike="noStrike">
                          <a:solidFill>
                            <a:srgbClr val="000000"/>
                          </a:solidFill>
                          <a:effectLst/>
                          <a:uFillTx/>
                          <a:latin typeface="メイリオ"/>
                          <a:ea typeface="メイリオ"/>
                        </a:rPr>
                        <a:t>※バナー、HTML</a:t>
                      </a:r>
                      <a:r>
                        <a:rPr lang="ja-JP" sz="600" b="0" u="none" strike="noStrike">
                          <a:solidFill>
                            <a:srgbClr val="000000"/>
                          </a:solidFill>
                          <a:effectLst/>
                          <a:uFillTx/>
                          <a:latin typeface="メイリオ"/>
                          <a:ea typeface="メイリオ"/>
                        </a:rPr>
                        <a:t>メール等</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2"/>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投稿作成</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サンクス</a:t>
                      </a: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誘導ツール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3"/>
                  </a:ext>
                </a:extLst>
              </a:tr>
            </a:tbl>
          </a:graphicData>
        </a:graphic>
      </p:graphicFrame>
      <p:sp>
        <p:nvSpPr>
          <p:cNvPr id="647" name="テキスト ボックス 4"/>
          <p:cNvSpPr/>
          <p:nvPr/>
        </p:nvSpPr>
        <p:spPr>
          <a:xfrm>
            <a:off x="1344960" y="6045120"/>
            <a:ext cx="726732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400" b="0" u="none" strike="noStrike">
                <a:solidFill>
                  <a:srgbClr val="FF0000"/>
                </a:solidFill>
                <a:effectLst/>
                <a:uFillTx/>
                <a:latin typeface="メイリオ"/>
                <a:ea typeface="メイリオ"/>
              </a:rPr>
              <a:t>貴社リソースの状況に応じて都度発注でのご依頼も各単価で受けさせていただきます。</a:t>
            </a:r>
            <a:endParaRPr lang="en-US" sz="1400" b="0" u="none" strike="noStrike">
              <a:solidFill>
                <a:srgbClr val="000000"/>
              </a:solidFill>
              <a:effectLst/>
              <a:uFillTx/>
              <a:latin typeface="Arial"/>
            </a:endParaRPr>
          </a:p>
        </p:txBody>
      </p:sp>
      <p:sp>
        <p:nvSpPr>
          <p:cNvPr id="648" name="正方形/長方形 1"/>
          <p:cNvSpPr/>
          <p:nvPr/>
        </p:nvSpPr>
        <p:spPr>
          <a:xfrm>
            <a:off x="378720" y="1329120"/>
            <a:ext cx="9182880" cy="5219280"/>
          </a:xfrm>
          <a:prstGeom prst="rect">
            <a:avLst/>
          </a:prstGeom>
          <a:solidFill>
            <a:schemeClr val="lt1">
              <a:alpha val="4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メイリオ"/>
              <a:ea typeface="メイリオ"/>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1" name="正方形/長方形 5"/>
          <p:cNvSpPr/>
          <p:nvPr/>
        </p:nvSpPr>
        <p:spPr>
          <a:xfrm>
            <a:off x="300240" y="832680"/>
            <a:ext cx="9355680" cy="866880"/>
          </a:xfrm>
          <a:prstGeom prst="rect">
            <a:avLst/>
          </a:prstGeom>
          <a:solidFill>
            <a:schemeClr val="tx2"/>
          </a:solidFill>
          <a:ln w="22225">
            <a:solidFill>
              <a:srgbClr val="1F497D"/>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2400" b="0" u="none" strike="noStrike">
                <a:solidFill>
                  <a:schemeClr val="lt1"/>
                </a:solidFill>
                <a:effectLst/>
                <a:uFillTx/>
                <a:latin typeface="メイリオ"/>
                <a:ea typeface="メイリオ"/>
              </a:rPr>
              <a:t>WEB</a:t>
            </a:r>
            <a:r>
              <a:rPr lang="ja-JP" sz="2400" b="0" u="none" strike="noStrike">
                <a:solidFill>
                  <a:schemeClr val="lt1"/>
                </a:solidFill>
                <a:effectLst/>
                <a:uFillTx/>
                <a:latin typeface="メイリオ"/>
                <a:ea typeface="メイリオ"/>
              </a:rPr>
              <a:t>サイト上情報と連携させ、配信効果を数値化する</a:t>
            </a:r>
            <a:endParaRPr lang="en-US" sz="2400" b="0" u="none" strike="noStrike">
              <a:solidFill>
                <a:srgbClr val="FFFFFF"/>
              </a:solidFill>
              <a:effectLst/>
              <a:uFillTx/>
              <a:latin typeface="Arial"/>
            </a:endParaRPr>
          </a:p>
        </p:txBody>
      </p:sp>
      <p:pic>
        <p:nvPicPr>
          <p:cNvPr id="652" name="図 6"/>
          <p:cNvPicPr/>
          <p:nvPr/>
        </p:nvPicPr>
        <p:blipFill>
          <a:blip r:embed="rId3"/>
          <a:stretch/>
        </p:blipFill>
        <p:spPr>
          <a:xfrm>
            <a:off x="1183680" y="2131200"/>
            <a:ext cx="2498040" cy="1743840"/>
          </a:xfrm>
          <a:prstGeom prst="rect">
            <a:avLst/>
          </a:prstGeom>
          <a:noFill/>
          <a:ln w="0">
            <a:noFill/>
          </a:ln>
        </p:spPr>
      </p:pic>
      <p:pic>
        <p:nvPicPr>
          <p:cNvPr id="653" name="図 7"/>
          <p:cNvPicPr/>
          <p:nvPr/>
        </p:nvPicPr>
        <p:blipFill>
          <a:blip r:embed="rId4"/>
          <a:stretch/>
        </p:blipFill>
        <p:spPr>
          <a:xfrm>
            <a:off x="3456000" y="2402640"/>
            <a:ext cx="2392560" cy="1668240"/>
          </a:xfrm>
          <a:prstGeom prst="rect">
            <a:avLst/>
          </a:prstGeom>
          <a:noFill/>
          <a:ln w="0">
            <a:noFill/>
          </a:ln>
        </p:spPr>
      </p:pic>
      <p:pic>
        <p:nvPicPr>
          <p:cNvPr id="654" name="図 9"/>
          <p:cNvPicPr/>
          <p:nvPr/>
        </p:nvPicPr>
        <p:blipFill>
          <a:blip r:embed="rId5"/>
          <a:stretch/>
        </p:blipFill>
        <p:spPr>
          <a:xfrm>
            <a:off x="5697720" y="2676600"/>
            <a:ext cx="2431800" cy="1697760"/>
          </a:xfrm>
          <a:prstGeom prst="rect">
            <a:avLst/>
          </a:prstGeom>
          <a:noFill/>
          <a:ln w="0">
            <a:noFill/>
          </a:ln>
        </p:spPr>
      </p:pic>
      <p:pic>
        <p:nvPicPr>
          <p:cNvPr id="655" name="図 13"/>
          <p:cNvPicPr/>
          <p:nvPr/>
        </p:nvPicPr>
        <p:blipFill>
          <a:blip r:embed="rId6"/>
          <a:stretch/>
        </p:blipFill>
        <p:spPr>
          <a:xfrm>
            <a:off x="1158120" y="4165560"/>
            <a:ext cx="2416680" cy="1682280"/>
          </a:xfrm>
          <a:prstGeom prst="rect">
            <a:avLst/>
          </a:prstGeom>
          <a:noFill/>
          <a:ln w="0">
            <a:noFill/>
          </a:ln>
        </p:spPr>
      </p:pic>
      <p:pic>
        <p:nvPicPr>
          <p:cNvPr id="656" name="図 14"/>
          <p:cNvPicPr/>
          <p:nvPr/>
        </p:nvPicPr>
        <p:blipFill>
          <a:blip r:embed="rId7"/>
          <a:stretch/>
        </p:blipFill>
        <p:spPr>
          <a:xfrm>
            <a:off x="3434760" y="4410720"/>
            <a:ext cx="2416680" cy="1683000"/>
          </a:xfrm>
          <a:prstGeom prst="rect">
            <a:avLst/>
          </a:prstGeom>
          <a:noFill/>
          <a:ln w="0">
            <a:noFill/>
          </a:ln>
        </p:spPr>
      </p:pic>
      <p:pic>
        <p:nvPicPr>
          <p:cNvPr id="657" name="図 23"/>
          <p:cNvPicPr/>
          <p:nvPr/>
        </p:nvPicPr>
        <p:blipFill>
          <a:blip r:embed="rId8"/>
          <a:stretch/>
        </p:blipFill>
        <p:spPr>
          <a:xfrm>
            <a:off x="5697720" y="4687200"/>
            <a:ext cx="2426760" cy="1690560"/>
          </a:xfrm>
          <a:prstGeom prst="rect">
            <a:avLst/>
          </a:prstGeom>
          <a:noFill/>
          <a:ln w="0">
            <a:noFill/>
          </a:ln>
        </p:spPr>
      </p:pic>
      <p:pic>
        <p:nvPicPr>
          <p:cNvPr id="658" name="図 25"/>
          <p:cNvPicPr/>
          <p:nvPr/>
        </p:nvPicPr>
        <p:blipFill>
          <a:blip r:embed="rId9"/>
          <a:stretch/>
        </p:blipFill>
        <p:spPr>
          <a:xfrm>
            <a:off x="8022240" y="1995120"/>
            <a:ext cx="1068120" cy="453960"/>
          </a:xfrm>
          <a:prstGeom prst="rect">
            <a:avLst/>
          </a:prstGeom>
          <a:noFill/>
          <a:ln w="0">
            <a:noFill/>
          </a:ln>
        </p:spPr>
      </p:pic>
      <p:sp>
        <p:nvSpPr>
          <p:cNvPr id="659" name="テキスト ボックス 1"/>
          <p:cNvSpPr/>
          <p:nvPr/>
        </p:nvSpPr>
        <p:spPr>
          <a:xfrm>
            <a:off x="482760" y="989280"/>
            <a:ext cx="933480" cy="645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3600" b="0" u="none" strike="noStrike">
                <a:solidFill>
                  <a:schemeClr val="lt1"/>
                </a:solidFill>
                <a:effectLst/>
                <a:uFillTx/>
                <a:latin typeface="メイリオ"/>
                <a:ea typeface="メイリオ"/>
              </a:rPr>
              <a:t>☑</a:t>
            </a:r>
            <a:endParaRPr lang="en-US" sz="3600" b="0" u="none" strike="noStrike">
              <a:solidFill>
                <a:srgbClr val="000000"/>
              </a:solidFill>
              <a:effectLst/>
              <a:uFillTx/>
              <a:latin typeface="Arial"/>
            </a:endParaRPr>
          </a:p>
        </p:txBody>
      </p:sp>
      <p:pic>
        <p:nvPicPr>
          <p:cNvPr id="660" name="Picture 2" descr="ロゴガイドライン｜LINEヤフー for Business"/>
          <p:cNvPicPr/>
          <p:nvPr/>
        </p:nvPicPr>
        <p:blipFill>
          <a:blip r:embed="rId10"/>
          <a:stretch/>
        </p:blipFill>
        <p:spPr>
          <a:xfrm>
            <a:off x="6485400" y="1788120"/>
            <a:ext cx="2447640" cy="888480"/>
          </a:xfrm>
          <a:prstGeom prst="rect">
            <a:avLst/>
          </a:prstGeom>
          <a:noFill/>
          <a:ln w="0">
            <a:noFill/>
          </a:ln>
        </p:spPr>
      </p:pic>
      <p:sp>
        <p:nvSpPr>
          <p:cNvPr id="661"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サポート体制（報告</a:t>
            </a:r>
            <a:r>
              <a:rPr lang="en-US" sz="1600" b="1" u="none" strike="noStrike">
                <a:solidFill>
                  <a:srgbClr val="002060"/>
                </a:solidFill>
                <a:effectLst/>
                <a:uFillTx/>
                <a:latin typeface="Meiryo"/>
                <a:ea typeface="Meiryo"/>
              </a:rPr>
              <a:t>FMT</a:t>
            </a:r>
            <a:r>
              <a:rPr lang="ja-JP" sz="1600" b="1" u="none" strike="noStrike">
                <a:solidFill>
                  <a:srgbClr val="002060"/>
                </a:solidFill>
                <a:effectLst/>
                <a:uFillTx/>
                <a:latin typeface="Meiryo"/>
                <a:ea typeface="Meiryo"/>
              </a:rPr>
              <a:t>）</a:t>
            </a:r>
            <a:endParaRPr lang="en-US" sz="1600" b="0" u="none" strike="noStrike">
              <a:solidFill>
                <a:srgbClr val="000000"/>
              </a:solidFill>
              <a:effectLst/>
              <a:uFillTx/>
              <a:latin typeface="Arial"/>
            </a:endParaRPr>
          </a:p>
        </p:txBody>
      </p:sp>
      <p:sp>
        <p:nvSpPr>
          <p:cNvPr id="662" name="正方形/長方形 4"/>
          <p:cNvSpPr/>
          <p:nvPr/>
        </p:nvSpPr>
        <p:spPr>
          <a:xfrm>
            <a:off x="167040" y="3583800"/>
            <a:ext cx="9594000" cy="866880"/>
          </a:xfrm>
          <a:prstGeom prst="rect">
            <a:avLst/>
          </a:prstGeom>
          <a:solidFill>
            <a:schemeClr val="dk1">
              <a:lumMod val="65000"/>
              <a:lumOff val="35000"/>
              <a:alpha val="50000"/>
            </a:schemeClr>
          </a:solidFill>
          <a:ln w="22225">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2400" b="1" u="none" strike="noStrike">
                <a:solidFill>
                  <a:schemeClr val="lt1"/>
                </a:solidFill>
                <a:effectLst/>
                <a:uFillTx/>
                <a:latin typeface="メイリオ"/>
                <a:ea typeface="メイリオ"/>
              </a:rPr>
              <a:t>レポートサンプル</a:t>
            </a:r>
            <a:endParaRPr lang="en-US" sz="2400" b="0" u="none" strike="noStrike">
              <a:solidFill>
                <a:srgbClr val="FFFFFF"/>
              </a:solidFill>
              <a:effectLst/>
              <a:uFillTx/>
              <a:latin typeface="Arial"/>
            </a:endParaRPr>
          </a:p>
          <a:p>
            <a:pPr algn="ctr" defTabSz="914400">
              <a:lnSpc>
                <a:spcPct val="100000"/>
              </a:lnSpc>
            </a:pPr>
            <a:r>
              <a:rPr lang="ja-JP" sz="1400" b="0" u="none" strike="noStrike">
                <a:solidFill>
                  <a:schemeClr val="lt1"/>
                </a:solidFill>
                <a:effectLst/>
                <a:uFillTx/>
                <a:latin typeface="メイリオ"/>
                <a:ea typeface="メイリオ"/>
              </a:rPr>
              <a:t>（貴社要望によりカスタマイズ予定）</a:t>
            </a:r>
            <a:endParaRPr lang="en-US" sz="1400" b="0" u="none" strike="noStrike">
              <a:solidFill>
                <a:srgbClr val="FFFFFF"/>
              </a:solidFill>
              <a:effectLst/>
              <a:uFillTx/>
              <a:latin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8"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739"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ファン化・自社アプリ登録に対して、</a:t>
            </a:r>
            <a:r>
              <a:rPr lang="en-US" sz="1400" b="0" u="none" strike="noStrike">
                <a:solidFill>
                  <a:srgbClr val="343434"/>
                </a:solidFill>
                <a:effectLst/>
                <a:uFillTx/>
                <a:latin typeface="メイリオ"/>
                <a:ea typeface="メイリオ"/>
              </a:rPr>
              <a:t>”ハードルが高く感じる”ユーザーが増えている状況。</a:t>
            </a:r>
            <a:endParaRPr lang="en-US" sz="1400" b="0" u="none" strike="noStrike">
              <a:solidFill>
                <a:srgbClr val="000000"/>
              </a:solidFill>
              <a:effectLst/>
              <a:uFillTx/>
              <a:latin typeface="Arial"/>
            </a:endParaRPr>
          </a:p>
          <a:p>
            <a:pPr algn="ctr" defTabSz="914400">
              <a:lnSpc>
                <a:spcPts val="2455"/>
              </a:lnSpc>
            </a:pPr>
            <a:r>
              <a:rPr lang="ja-JP" sz="1400" b="0" u="none" strike="noStrike">
                <a:solidFill>
                  <a:srgbClr val="343434"/>
                </a:solidFill>
                <a:effectLst/>
                <a:uFillTx/>
                <a:latin typeface="メイリオ"/>
                <a:ea typeface="メイリオ"/>
              </a:rPr>
              <a:t>離脱防止 </a:t>
            </a:r>
            <a:r>
              <a:rPr lang="en-US" sz="1400" b="0" u="none" strike="noStrike">
                <a:solidFill>
                  <a:srgbClr val="343434"/>
                </a:solidFill>
                <a:effectLst/>
                <a:uFillTx/>
                <a:latin typeface="メイリオ"/>
                <a:ea typeface="メイリオ"/>
              </a:rPr>
              <a:t>&gt;&gt; </a:t>
            </a:r>
            <a:r>
              <a:rPr lang="ja-JP" sz="1400" b="0" u="none" strike="noStrike">
                <a:solidFill>
                  <a:srgbClr val="343434"/>
                </a:solidFill>
                <a:effectLst/>
                <a:uFillTx/>
                <a:latin typeface="メイリオ"/>
                <a:ea typeface="メイリオ"/>
              </a:rPr>
              <a:t>友だち追加 </a:t>
            </a:r>
            <a:r>
              <a:rPr lang="en-US" sz="1400" b="0" u="none" strike="noStrike">
                <a:solidFill>
                  <a:srgbClr val="343434"/>
                </a:solidFill>
                <a:effectLst/>
                <a:uFillTx/>
                <a:latin typeface="メイリオ"/>
                <a:ea typeface="メイリオ"/>
              </a:rPr>
              <a:t>&gt;&gt; LINE</a:t>
            </a:r>
            <a:r>
              <a:rPr lang="ja-JP" sz="1400" b="0" u="none" strike="noStrike">
                <a:solidFill>
                  <a:srgbClr val="343434"/>
                </a:solidFill>
                <a:effectLst/>
                <a:uFillTx/>
                <a:latin typeface="メイリオ"/>
                <a:ea typeface="メイリオ"/>
              </a:rPr>
              <a:t>で学習 </a:t>
            </a:r>
            <a:r>
              <a:rPr lang="en-US" sz="1400" b="0" u="none" strike="noStrike">
                <a:solidFill>
                  <a:srgbClr val="343434"/>
                </a:solidFill>
                <a:effectLst/>
                <a:uFillTx/>
                <a:latin typeface="メイリオ"/>
                <a:ea typeface="メイリオ"/>
              </a:rPr>
              <a:t>&gt;&gt; </a:t>
            </a:r>
            <a:r>
              <a:rPr lang="ja-JP" sz="1400" b="0" u="none" strike="noStrike">
                <a:solidFill>
                  <a:srgbClr val="343434"/>
                </a:solidFill>
                <a:effectLst/>
                <a:uFillTx/>
                <a:latin typeface="メイリオ"/>
                <a:ea typeface="メイリオ"/>
              </a:rPr>
              <a:t>リード獲得・利用 の導線設計でハードル抑えつつ運営が可能。</a:t>
            </a:r>
            <a:endParaRPr lang="en-US" sz="1400" b="0" u="none" strike="noStrike">
              <a:solidFill>
                <a:srgbClr val="000000"/>
              </a:solidFill>
              <a:effectLst/>
              <a:uFillTx/>
              <a:latin typeface="Arial"/>
            </a:endParaRPr>
          </a:p>
        </p:txBody>
      </p:sp>
      <p:cxnSp>
        <p:nvCxnSpPr>
          <p:cNvPr id="740"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74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742" name="台形 1"/>
          <p:cNvSpPr/>
          <p:nvPr/>
        </p:nvSpPr>
        <p:spPr>
          <a:xfrm rot="10800000">
            <a:off x="549000" y="1844640"/>
            <a:ext cx="3274200" cy="603720"/>
          </a:xfrm>
          <a:prstGeom prst="trapezoid">
            <a:avLst>
              <a:gd name="adj" fmla="val 25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3" name="台形 5"/>
          <p:cNvSpPr/>
          <p:nvPr/>
        </p:nvSpPr>
        <p:spPr>
          <a:xfrm rot="10800000">
            <a:off x="752400" y="2518560"/>
            <a:ext cx="2877480" cy="603720"/>
          </a:xfrm>
          <a:prstGeom prst="trapezoid">
            <a:avLst>
              <a:gd name="adj" fmla="val 25000"/>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4" name="台形 6"/>
          <p:cNvSpPr/>
          <p:nvPr/>
        </p:nvSpPr>
        <p:spPr>
          <a:xfrm rot="10800000">
            <a:off x="963360" y="3192120"/>
            <a:ext cx="2430720" cy="603720"/>
          </a:xfrm>
          <a:prstGeom prst="trapezoid">
            <a:avLst>
              <a:gd name="adj" fmla="val 25000"/>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5" name="台形 7"/>
          <p:cNvSpPr/>
          <p:nvPr/>
        </p:nvSpPr>
        <p:spPr>
          <a:xfrm rot="10800000">
            <a:off x="1195560" y="3866040"/>
            <a:ext cx="1981440" cy="603720"/>
          </a:xfrm>
          <a:prstGeom prst="trapezoid">
            <a:avLst>
              <a:gd name="adj" fmla="val 25000"/>
            </a:avLst>
          </a:prstGeom>
          <a:solidFill>
            <a:schemeClr val="accent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6" name="台形 8"/>
          <p:cNvSpPr/>
          <p:nvPr/>
        </p:nvSpPr>
        <p:spPr>
          <a:xfrm rot="10800000">
            <a:off x="1422720" y="4539600"/>
            <a:ext cx="1536480" cy="603720"/>
          </a:xfrm>
          <a:prstGeom prst="trapezoid">
            <a:avLst>
              <a:gd name="adj" fmla="val 25000"/>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7" name="台形 9"/>
          <p:cNvSpPr/>
          <p:nvPr/>
        </p:nvSpPr>
        <p:spPr>
          <a:xfrm rot="10800000">
            <a:off x="1611720" y="5213520"/>
            <a:ext cx="1133640" cy="469800"/>
          </a:xfrm>
          <a:prstGeom prst="trapezoid">
            <a:avLst>
              <a:gd name="adj" fmla="val 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8" name="台形 10"/>
          <p:cNvSpPr/>
          <p:nvPr/>
        </p:nvSpPr>
        <p:spPr>
          <a:xfrm rot="10800000">
            <a:off x="1611720" y="5753160"/>
            <a:ext cx="1133640" cy="469800"/>
          </a:xfrm>
          <a:prstGeom prst="trapezoid">
            <a:avLst>
              <a:gd name="adj" fmla="val 0"/>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9" name="テキスト ボックス 12"/>
          <p:cNvSpPr/>
          <p:nvPr/>
        </p:nvSpPr>
        <p:spPr>
          <a:xfrm>
            <a:off x="1459440" y="531504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既存ユーザー</a:t>
            </a:r>
            <a:endParaRPr lang="en-US" sz="1200" b="0" u="none" strike="noStrike">
              <a:solidFill>
                <a:srgbClr val="000000"/>
              </a:solidFill>
              <a:effectLst/>
              <a:uFillTx/>
              <a:latin typeface="Arial"/>
            </a:endParaRPr>
          </a:p>
        </p:txBody>
      </p:sp>
      <p:sp>
        <p:nvSpPr>
          <p:cNvPr id="750" name="テキスト ボックス 13"/>
          <p:cNvSpPr/>
          <p:nvPr/>
        </p:nvSpPr>
        <p:spPr>
          <a:xfrm>
            <a:off x="1458360" y="5884200"/>
            <a:ext cx="143748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900" b="1" u="none" strike="noStrike">
                <a:solidFill>
                  <a:schemeClr val="lt1"/>
                </a:solidFill>
                <a:effectLst/>
                <a:uFillTx/>
                <a:latin typeface="メイリオ"/>
                <a:ea typeface="メイリオ"/>
              </a:rPr>
              <a:t>リピート・ファン化</a:t>
            </a:r>
            <a:endParaRPr lang="en-US" sz="900" b="0" u="none" strike="noStrike">
              <a:solidFill>
                <a:srgbClr val="000000"/>
              </a:solidFill>
              <a:effectLst/>
              <a:uFillTx/>
              <a:latin typeface="Arial"/>
            </a:endParaRPr>
          </a:p>
        </p:txBody>
      </p:sp>
      <p:sp>
        <p:nvSpPr>
          <p:cNvPr id="751" name="テキスト ボックス 14"/>
          <p:cNvSpPr/>
          <p:nvPr/>
        </p:nvSpPr>
        <p:spPr>
          <a:xfrm>
            <a:off x="1467360" y="468396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リード獲得層</a:t>
            </a:r>
            <a:endParaRPr lang="en-US" sz="1200" b="0" u="none" strike="noStrike">
              <a:solidFill>
                <a:srgbClr val="000000"/>
              </a:solidFill>
              <a:effectLst/>
              <a:uFillTx/>
              <a:latin typeface="Arial"/>
            </a:endParaRPr>
          </a:p>
        </p:txBody>
      </p:sp>
      <p:sp>
        <p:nvSpPr>
          <p:cNvPr id="752" name="テキスト ボックス 15"/>
          <p:cNvSpPr/>
          <p:nvPr/>
        </p:nvSpPr>
        <p:spPr>
          <a:xfrm>
            <a:off x="1467360" y="405432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顕在層</a:t>
            </a:r>
            <a:endParaRPr lang="en-US" sz="1200" b="0" u="none" strike="noStrike">
              <a:solidFill>
                <a:srgbClr val="000000"/>
              </a:solidFill>
              <a:effectLst/>
              <a:uFillTx/>
              <a:latin typeface="Arial"/>
            </a:endParaRPr>
          </a:p>
        </p:txBody>
      </p:sp>
      <p:sp>
        <p:nvSpPr>
          <p:cNvPr id="753" name="テキスト ボックス 16"/>
          <p:cNvSpPr/>
          <p:nvPr/>
        </p:nvSpPr>
        <p:spPr>
          <a:xfrm>
            <a:off x="1459440" y="337284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準顕在層</a:t>
            </a:r>
            <a:endParaRPr lang="en-US" sz="1200" b="0" u="none" strike="noStrike">
              <a:solidFill>
                <a:srgbClr val="000000"/>
              </a:solidFill>
              <a:effectLst/>
              <a:uFillTx/>
              <a:latin typeface="Arial"/>
            </a:endParaRPr>
          </a:p>
        </p:txBody>
      </p:sp>
      <p:sp>
        <p:nvSpPr>
          <p:cNvPr id="754" name="テキスト ボックス 17"/>
          <p:cNvSpPr/>
          <p:nvPr/>
        </p:nvSpPr>
        <p:spPr>
          <a:xfrm>
            <a:off x="1467360" y="270036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潜在層</a:t>
            </a:r>
            <a:endParaRPr lang="en-US" sz="1200" b="0" u="none" strike="noStrike">
              <a:solidFill>
                <a:srgbClr val="000000"/>
              </a:solidFill>
              <a:effectLst/>
              <a:uFillTx/>
              <a:latin typeface="Arial"/>
            </a:endParaRPr>
          </a:p>
        </p:txBody>
      </p:sp>
      <p:sp>
        <p:nvSpPr>
          <p:cNvPr id="755" name="テキスト ボックス 18"/>
          <p:cNvSpPr/>
          <p:nvPr/>
        </p:nvSpPr>
        <p:spPr>
          <a:xfrm>
            <a:off x="1478160" y="200772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興味関心なし 層</a:t>
            </a:r>
            <a:endParaRPr lang="en-US" sz="1200" b="0" u="none" strike="noStrike">
              <a:solidFill>
                <a:srgbClr val="000000"/>
              </a:solidFill>
              <a:effectLst/>
              <a:uFillTx/>
              <a:latin typeface="Arial"/>
            </a:endParaRPr>
          </a:p>
        </p:txBody>
      </p:sp>
      <p:sp>
        <p:nvSpPr>
          <p:cNvPr id="756" name="台形 21"/>
          <p:cNvSpPr/>
          <p:nvPr/>
        </p:nvSpPr>
        <p:spPr>
          <a:xfrm rot="10800000">
            <a:off x="7612560" y="4021560"/>
            <a:ext cx="1825920" cy="469800"/>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57" name="テキスト ボックス 22"/>
          <p:cNvSpPr/>
          <p:nvPr/>
        </p:nvSpPr>
        <p:spPr>
          <a:xfrm>
            <a:off x="7655040" y="4152600"/>
            <a:ext cx="173952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900" b="1" u="none" strike="noStrike">
                <a:solidFill>
                  <a:schemeClr val="lt1"/>
                </a:solidFill>
                <a:effectLst/>
                <a:uFillTx/>
                <a:latin typeface="メイリオ"/>
                <a:ea typeface="メイリオ"/>
              </a:rPr>
              <a:t>※</a:t>
            </a:r>
            <a:r>
              <a:rPr lang="ja-JP" sz="900" b="1" u="none" strike="noStrike">
                <a:solidFill>
                  <a:schemeClr val="lt1"/>
                </a:solidFill>
                <a:effectLst/>
                <a:uFillTx/>
                <a:latin typeface="メイリオ"/>
                <a:ea typeface="メイリオ"/>
              </a:rPr>
              <a:t>過去の顧客データを活用</a:t>
            </a:r>
            <a:endParaRPr lang="en-US" sz="900" b="0" u="none" strike="noStrike">
              <a:solidFill>
                <a:srgbClr val="000000"/>
              </a:solidFill>
              <a:effectLst/>
              <a:uFillTx/>
              <a:latin typeface="Arial"/>
            </a:endParaRPr>
          </a:p>
        </p:txBody>
      </p:sp>
      <p:sp>
        <p:nvSpPr>
          <p:cNvPr id="758" name="台形 23"/>
          <p:cNvSpPr/>
          <p:nvPr/>
        </p:nvSpPr>
        <p:spPr>
          <a:xfrm rot="10800000">
            <a:off x="7612560" y="3320640"/>
            <a:ext cx="1825920" cy="469800"/>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59" name="テキスト ボックス 24"/>
          <p:cNvSpPr/>
          <p:nvPr/>
        </p:nvSpPr>
        <p:spPr>
          <a:xfrm>
            <a:off x="7655040" y="3377160"/>
            <a:ext cx="17395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900" b="1" u="none" strike="noStrike">
                <a:solidFill>
                  <a:schemeClr val="lt1"/>
                </a:solidFill>
                <a:effectLst/>
                <a:uFillTx/>
                <a:latin typeface="メイリオ"/>
                <a:ea typeface="メイリオ"/>
              </a:rPr>
              <a:t>離脱防止バナーにて</a:t>
            </a:r>
            <a:endParaRPr lang="en-US" sz="900" b="0" u="none" strike="noStrike">
              <a:solidFill>
                <a:srgbClr val="000000"/>
              </a:solidFill>
              <a:effectLst/>
              <a:uFillTx/>
              <a:latin typeface="Arial"/>
            </a:endParaRPr>
          </a:p>
          <a:p>
            <a:pPr algn="ctr" defTabSz="914400">
              <a:lnSpc>
                <a:spcPct val="100000"/>
              </a:lnSpc>
            </a:pPr>
            <a:r>
              <a:rPr lang="ja-JP" sz="900" b="1" u="none" strike="noStrike">
                <a:solidFill>
                  <a:schemeClr val="lt1"/>
                </a:solidFill>
                <a:effectLst/>
                <a:uFillTx/>
                <a:latin typeface="メイリオ"/>
                <a:ea typeface="メイリオ"/>
              </a:rPr>
              <a:t>検討段階ユーザーを</a:t>
            </a:r>
            <a:r>
              <a:rPr lang="en-US" sz="900" b="1" u="none" strike="noStrike">
                <a:solidFill>
                  <a:schemeClr val="lt1"/>
                </a:solidFill>
                <a:effectLst/>
                <a:uFillTx/>
                <a:latin typeface="メイリオ"/>
                <a:ea typeface="メイリオ"/>
              </a:rPr>
              <a:t>LINE</a:t>
            </a:r>
            <a:r>
              <a:rPr lang="ja-JP" sz="900" b="1" u="none" strike="noStrike">
                <a:solidFill>
                  <a:schemeClr val="lt1"/>
                </a:solidFill>
                <a:effectLst/>
                <a:uFillTx/>
                <a:latin typeface="メイリオ"/>
                <a:ea typeface="メイリオ"/>
              </a:rPr>
              <a:t>誘導</a:t>
            </a:r>
            <a:endParaRPr lang="en-US" sz="900" b="0" u="none" strike="noStrike">
              <a:solidFill>
                <a:srgbClr val="000000"/>
              </a:solidFill>
              <a:effectLst/>
              <a:uFillTx/>
              <a:latin typeface="Arial"/>
            </a:endParaRPr>
          </a:p>
        </p:txBody>
      </p:sp>
      <p:sp>
        <p:nvSpPr>
          <p:cNvPr id="760" name="台形 26"/>
          <p:cNvSpPr/>
          <p:nvPr/>
        </p:nvSpPr>
        <p:spPr>
          <a:xfrm rot="10800000">
            <a:off x="7612560" y="2257560"/>
            <a:ext cx="1825920" cy="469800"/>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61" name="テキスト ボックス 31"/>
          <p:cNvSpPr/>
          <p:nvPr/>
        </p:nvSpPr>
        <p:spPr>
          <a:xfrm>
            <a:off x="7655040" y="2313720"/>
            <a:ext cx="17395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900" b="1" u="none" strike="noStrike">
                <a:solidFill>
                  <a:schemeClr val="lt1"/>
                </a:solidFill>
                <a:effectLst/>
                <a:uFillTx/>
                <a:latin typeface="メイリオ"/>
                <a:ea typeface="メイリオ"/>
              </a:rPr>
              <a:t>接触、詳細ページ閲覧</a:t>
            </a:r>
            <a:endParaRPr lang="en-US" sz="900" b="0" u="none" strike="noStrike">
              <a:solidFill>
                <a:srgbClr val="000000"/>
              </a:solidFill>
              <a:effectLst/>
              <a:uFillTx/>
              <a:latin typeface="Arial"/>
            </a:endParaRPr>
          </a:p>
          <a:p>
            <a:pPr algn="ctr" defTabSz="914400">
              <a:lnSpc>
                <a:spcPct val="100000"/>
              </a:lnSpc>
            </a:pPr>
            <a:r>
              <a:rPr lang="ja-JP" sz="900" b="1" u="none" strike="noStrike">
                <a:solidFill>
                  <a:schemeClr val="lt1"/>
                </a:solidFill>
                <a:effectLst/>
                <a:uFillTx/>
                <a:latin typeface="メイリオ"/>
                <a:ea typeface="メイリオ"/>
              </a:rPr>
              <a:t>の動線での</a:t>
            </a:r>
            <a:r>
              <a:rPr lang="en-US" sz="900" b="1" u="none" strike="noStrike">
                <a:solidFill>
                  <a:schemeClr val="lt1"/>
                </a:solidFill>
                <a:effectLst/>
                <a:uFillTx/>
                <a:latin typeface="メイリオ"/>
                <a:ea typeface="メイリオ"/>
              </a:rPr>
              <a:t>LINE</a:t>
            </a:r>
            <a:r>
              <a:rPr lang="ja-JP" sz="900" b="1" u="none" strike="noStrike">
                <a:solidFill>
                  <a:schemeClr val="lt1"/>
                </a:solidFill>
                <a:effectLst/>
                <a:uFillTx/>
                <a:latin typeface="メイリオ"/>
                <a:ea typeface="メイリオ"/>
              </a:rPr>
              <a:t>誘導を整備</a:t>
            </a:r>
            <a:endParaRPr lang="en-US" sz="900" b="0" u="none" strike="noStrike">
              <a:solidFill>
                <a:srgbClr val="000000"/>
              </a:solidFill>
              <a:effectLst/>
              <a:uFillTx/>
              <a:latin typeface="Arial"/>
            </a:endParaRPr>
          </a:p>
        </p:txBody>
      </p:sp>
      <p:sp>
        <p:nvSpPr>
          <p:cNvPr id="762" name="テキスト ボックス 40"/>
          <p:cNvSpPr/>
          <p:nvPr/>
        </p:nvSpPr>
        <p:spPr>
          <a:xfrm>
            <a:off x="7462440" y="1725840"/>
            <a:ext cx="2125440" cy="276480"/>
          </a:xfrm>
          <a:prstGeom prst="rect">
            <a:avLst/>
          </a:prstGeom>
          <a:solidFill>
            <a:schemeClr val="tx2"/>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0" u="none" strike="noStrike">
                <a:solidFill>
                  <a:schemeClr val="lt1"/>
                </a:solidFill>
                <a:effectLst/>
                <a:uFillTx/>
                <a:latin typeface="メイリオ"/>
                <a:ea typeface="メイリオ"/>
              </a:rPr>
              <a:t>DYM</a:t>
            </a:r>
            <a:r>
              <a:rPr lang="ja-JP" sz="1200" b="0" u="none" strike="noStrike">
                <a:solidFill>
                  <a:schemeClr val="lt1"/>
                </a:solidFill>
                <a:effectLst/>
                <a:uFillTx/>
                <a:latin typeface="メイリオ"/>
                <a:ea typeface="メイリオ"/>
              </a:rPr>
              <a:t>施策</a:t>
            </a:r>
            <a:endParaRPr lang="en-US" sz="1200" b="0" u="none" strike="noStrike">
              <a:solidFill>
                <a:srgbClr val="FFFFFF"/>
              </a:solidFill>
              <a:effectLst/>
              <a:uFillTx/>
              <a:latin typeface="Arial"/>
            </a:endParaRPr>
          </a:p>
        </p:txBody>
      </p:sp>
      <p:sp>
        <p:nvSpPr>
          <p:cNvPr id="763" name="テキスト ボックス 43"/>
          <p:cNvSpPr/>
          <p:nvPr/>
        </p:nvSpPr>
        <p:spPr>
          <a:xfrm>
            <a:off x="5273280" y="1735200"/>
            <a:ext cx="2125440" cy="276480"/>
          </a:xfrm>
          <a:prstGeom prst="rect">
            <a:avLst/>
          </a:prstGeom>
          <a:solidFill>
            <a:schemeClr val="tx1"/>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0" u="none" strike="noStrike">
                <a:solidFill>
                  <a:schemeClr val="lt1"/>
                </a:solidFill>
                <a:effectLst/>
                <a:uFillTx/>
                <a:latin typeface="メイリオ"/>
                <a:ea typeface="メイリオ"/>
              </a:rPr>
              <a:t>現状施策</a:t>
            </a:r>
            <a:endParaRPr lang="en-US" sz="1200" b="0" u="none" strike="noStrike">
              <a:solidFill>
                <a:srgbClr val="FFFFFF"/>
              </a:solidFill>
              <a:effectLst/>
              <a:uFillTx/>
              <a:latin typeface="Arial"/>
            </a:endParaRPr>
          </a:p>
        </p:txBody>
      </p:sp>
      <p:sp>
        <p:nvSpPr>
          <p:cNvPr id="764" name="台形 45"/>
          <p:cNvSpPr/>
          <p:nvPr/>
        </p:nvSpPr>
        <p:spPr>
          <a:xfrm rot="10800000">
            <a:off x="7612560" y="5725440"/>
            <a:ext cx="1825920" cy="469800"/>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65" name="テキスト ボックス 46"/>
          <p:cNvSpPr/>
          <p:nvPr/>
        </p:nvSpPr>
        <p:spPr>
          <a:xfrm>
            <a:off x="7655040" y="5785200"/>
            <a:ext cx="17395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900" b="1" u="none" strike="noStrike">
                <a:solidFill>
                  <a:schemeClr val="lt1"/>
                </a:solidFill>
                <a:effectLst/>
                <a:uFillTx/>
                <a:latin typeface="メイリオ"/>
                <a:ea typeface="メイリオ"/>
              </a:rPr>
              <a:t>定期購入・クロスセル</a:t>
            </a:r>
            <a:endParaRPr lang="en-US" sz="900" b="0" u="none" strike="noStrike">
              <a:solidFill>
                <a:srgbClr val="000000"/>
              </a:solidFill>
              <a:effectLst/>
              <a:uFillTx/>
              <a:latin typeface="Arial"/>
            </a:endParaRPr>
          </a:p>
          <a:p>
            <a:pPr algn="ctr" defTabSz="914400">
              <a:lnSpc>
                <a:spcPct val="100000"/>
              </a:lnSpc>
            </a:pPr>
            <a:r>
              <a:rPr lang="ja-JP" sz="900" b="1" u="none" strike="noStrike">
                <a:solidFill>
                  <a:schemeClr val="lt1"/>
                </a:solidFill>
                <a:effectLst/>
                <a:uFillTx/>
                <a:latin typeface="メイリオ"/>
                <a:ea typeface="メイリオ"/>
              </a:rPr>
              <a:t>商材への動線設計</a:t>
            </a:r>
            <a:endParaRPr lang="en-US" sz="900" b="0" u="none" strike="noStrike">
              <a:solidFill>
                <a:srgbClr val="000000"/>
              </a:solidFill>
              <a:effectLst/>
              <a:uFillTx/>
              <a:latin typeface="Arial"/>
            </a:endParaRPr>
          </a:p>
        </p:txBody>
      </p:sp>
      <p:sp>
        <p:nvSpPr>
          <p:cNvPr id="766" name="台形 47"/>
          <p:cNvSpPr/>
          <p:nvPr/>
        </p:nvSpPr>
        <p:spPr>
          <a:xfrm rot="10800000">
            <a:off x="7612560" y="5184000"/>
            <a:ext cx="1825920" cy="46980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67" name="テキスト ボックス 48"/>
          <p:cNvSpPr/>
          <p:nvPr/>
        </p:nvSpPr>
        <p:spPr>
          <a:xfrm>
            <a:off x="7655040" y="5315040"/>
            <a:ext cx="173952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900" b="1" u="none" strike="noStrike">
                <a:solidFill>
                  <a:schemeClr val="lt1"/>
                </a:solidFill>
                <a:effectLst/>
                <a:uFillTx/>
                <a:latin typeface="メイリオ"/>
                <a:ea typeface="メイリオ"/>
              </a:rPr>
              <a:t>※ID</a:t>
            </a:r>
            <a:r>
              <a:rPr lang="ja-JP" sz="900" b="1" u="none" strike="noStrike">
                <a:solidFill>
                  <a:schemeClr val="lt1"/>
                </a:solidFill>
                <a:effectLst/>
                <a:uFillTx/>
                <a:latin typeface="メイリオ"/>
                <a:ea typeface="メイリオ"/>
              </a:rPr>
              <a:t>連携特典等を表示</a:t>
            </a:r>
            <a:endParaRPr lang="en-US" sz="900" b="0" u="none" strike="noStrike">
              <a:solidFill>
                <a:srgbClr val="000000"/>
              </a:solidFill>
              <a:effectLst/>
              <a:uFillTx/>
              <a:latin typeface="Arial"/>
            </a:endParaRPr>
          </a:p>
        </p:txBody>
      </p:sp>
      <p:sp>
        <p:nvSpPr>
          <p:cNvPr id="768" name="台形 49"/>
          <p:cNvSpPr/>
          <p:nvPr/>
        </p:nvSpPr>
        <p:spPr>
          <a:xfrm rot="10800000">
            <a:off x="7612560" y="4683600"/>
            <a:ext cx="1825920" cy="46980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69" name="テキスト ボックス 50"/>
          <p:cNvSpPr/>
          <p:nvPr/>
        </p:nvSpPr>
        <p:spPr>
          <a:xfrm>
            <a:off x="7655040" y="4814640"/>
            <a:ext cx="173952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900" b="1" u="none" strike="noStrike">
                <a:solidFill>
                  <a:schemeClr val="lt1"/>
                </a:solidFill>
                <a:effectLst/>
                <a:uFillTx/>
                <a:latin typeface="メイリオ"/>
                <a:ea typeface="メイリオ"/>
              </a:rPr>
              <a:t>※</a:t>
            </a:r>
            <a:r>
              <a:rPr lang="ja-JP" sz="900" b="1" u="none" strike="noStrike">
                <a:solidFill>
                  <a:schemeClr val="lt1"/>
                </a:solidFill>
                <a:effectLst/>
                <a:uFillTx/>
                <a:latin typeface="メイリオ"/>
                <a:ea typeface="メイリオ"/>
              </a:rPr>
              <a:t>ミニアプリ・診断 → 特典</a:t>
            </a:r>
            <a:endParaRPr lang="en-US" sz="900" b="0" u="none" strike="noStrike">
              <a:solidFill>
                <a:srgbClr val="000000"/>
              </a:solidFill>
              <a:effectLst/>
              <a:uFillTx/>
              <a:latin typeface="Arial"/>
            </a:endParaRPr>
          </a:p>
        </p:txBody>
      </p:sp>
      <p:sp>
        <p:nvSpPr>
          <p:cNvPr id="770" name="台形 56"/>
          <p:cNvSpPr/>
          <p:nvPr/>
        </p:nvSpPr>
        <p:spPr>
          <a:xfrm rot="10800000">
            <a:off x="8076240" y="6244920"/>
            <a:ext cx="1825920" cy="26496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71" name="テキスト ボックス 57"/>
          <p:cNvSpPr/>
          <p:nvPr/>
        </p:nvSpPr>
        <p:spPr>
          <a:xfrm>
            <a:off x="8198280" y="6267240"/>
            <a:ext cx="1580760" cy="245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000" b="0" u="none" strike="noStrike">
                <a:solidFill>
                  <a:schemeClr val="lt1"/>
                </a:solidFill>
                <a:effectLst/>
                <a:uFillTx/>
                <a:latin typeface="メイリオ"/>
                <a:ea typeface="メイリオ"/>
              </a:rPr>
              <a:t>※</a:t>
            </a:r>
            <a:r>
              <a:rPr lang="ja-JP" sz="1000" b="0" u="none" strike="noStrike">
                <a:solidFill>
                  <a:schemeClr val="lt1"/>
                </a:solidFill>
                <a:effectLst/>
                <a:uFillTx/>
                <a:latin typeface="メイリオ"/>
                <a:ea typeface="メイリオ"/>
              </a:rPr>
              <a:t>長期施策として想定</a:t>
            </a:r>
            <a:endParaRPr lang="en-US" sz="1000" b="0" u="none" strike="noStrike">
              <a:solidFill>
                <a:srgbClr val="000000"/>
              </a:solidFill>
              <a:effectLst/>
              <a:uFillTx/>
              <a:latin typeface="Arial"/>
            </a:endParaRPr>
          </a:p>
        </p:txBody>
      </p:sp>
      <p:sp>
        <p:nvSpPr>
          <p:cNvPr id="772" name="台形 37"/>
          <p:cNvSpPr/>
          <p:nvPr/>
        </p:nvSpPr>
        <p:spPr>
          <a:xfrm rot="10800000" flipV="1">
            <a:off x="5413320" y="2265480"/>
            <a:ext cx="1825920" cy="3929760"/>
          </a:xfrm>
          <a:prstGeom prst="trapezoid">
            <a:avLst>
              <a:gd name="adj" fmla="val 0"/>
            </a:avLst>
          </a:prstGeom>
          <a:solidFill>
            <a:schemeClr val="lt1">
              <a:lumMod val="95000"/>
              <a:alpha val="67000"/>
            </a:schemeClr>
          </a:solidFill>
          <a:ln w="9525">
            <a:solidFill>
              <a:srgbClr val="FFFFFF">
                <a:lumMod val="6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dk1"/>
                </a:solidFill>
                <a:effectLst/>
                <a:uFillTx/>
                <a:latin typeface="メイリオ"/>
                <a:ea typeface="メイリオ"/>
              </a:rPr>
              <a:t>ヒアリングの上</a:t>
            </a:r>
            <a:endParaRPr lang="en-US" sz="1050" b="0" u="none" strike="noStrike">
              <a:solidFill>
                <a:srgbClr val="000000"/>
              </a:solidFill>
              <a:effectLst/>
              <a:uFillTx/>
              <a:latin typeface="Arial"/>
            </a:endParaRPr>
          </a:p>
          <a:p>
            <a:pPr algn="ctr" defTabSz="914400">
              <a:lnSpc>
                <a:spcPct val="100000"/>
              </a:lnSpc>
            </a:pPr>
            <a:r>
              <a:rPr lang="ja-JP" sz="1050" b="1" u="none" strike="noStrike">
                <a:solidFill>
                  <a:schemeClr val="dk1"/>
                </a:solidFill>
                <a:effectLst/>
                <a:uFillTx/>
                <a:latin typeface="メイリオ"/>
                <a:ea typeface="メイリオ"/>
              </a:rPr>
              <a:t>確定</a:t>
            </a:r>
            <a:endParaRPr lang="en-US" sz="1050" b="0" u="none" strike="noStrike">
              <a:solidFill>
                <a:srgbClr val="000000"/>
              </a:solidFill>
              <a:effectLst/>
              <a:uFillTx/>
              <a:latin typeface="Arial"/>
            </a:endParaRPr>
          </a:p>
        </p:txBody>
      </p:sp>
      <p:sp>
        <p:nvSpPr>
          <p:cNvPr id="773" name="矢印: 下 11"/>
          <p:cNvSpPr/>
          <p:nvPr/>
        </p:nvSpPr>
        <p:spPr>
          <a:xfrm>
            <a:off x="4075920" y="1862280"/>
            <a:ext cx="1133640" cy="4292280"/>
          </a:xfrm>
          <a:prstGeom prst="downArrow">
            <a:avLst>
              <a:gd name="adj1" fmla="val 50000"/>
              <a:gd name="adj2" fmla="val 50000"/>
            </a:avLst>
          </a:prstGeom>
          <a:gradFill rotWithShape="0">
            <a:gsLst>
              <a:gs pos="0">
                <a:srgbClr val="FDFDFD"/>
              </a:gs>
              <a:gs pos="100000">
                <a:srgbClr val="EBF1DE"/>
              </a:gs>
            </a:gsLst>
            <a:lin ang="5400000"/>
          </a:gra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74" name="テキスト ボックス 19"/>
          <p:cNvSpPr/>
          <p:nvPr/>
        </p:nvSpPr>
        <p:spPr>
          <a:xfrm>
            <a:off x="3578760" y="544824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chemeClr val="dk1"/>
                </a:solidFill>
                <a:effectLst/>
                <a:uFillTx/>
                <a:latin typeface="メイリオ"/>
                <a:ea typeface="メイリオ"/>
              </a:rPr>
              <a:t>LINE </a:t>
            </a:r>
            <a:r>
              <a:rPr lang="ja-JP" sz="1200" b="1" u="none" strike="noStrike">
                <a:solidFill>
                  <a:schemeClr val="dk1"/>
                </a:solidFill>
                <a:effectLst/>
                <a:uFillTx/>
                <a:latin typeface="メイリオ"/>
                <a:ea typeface="メイリオ"/>
              </a:rPr>
              <a:t>ミニアプリ</a:t>
            </a:r>
            <a:endParaRPr lang="en-US" sz="1200" b="0" u="none" strike="noStrike">
              <a:solidFill>
                <a:srgbClr val="000000"/>
              </a:solidFill>
              <a:effectLst/>
              <a:uFillTx/>
              <a:latin typeface="Arial"/>
            </a:endParaRPr>
          </a:p>
        </p:txBody>
      </p:sp>
      <p:sp>
        <p:nvSpPr>
          <p:cNvPr id="775" name="テキスト ボックス 20"/>
          <p:cNvSpPr/>
          <p:nvPr/>
        </p:nvSpPr>
        <p:spPr>
          <a:xfrm>
            <a:off x="3578760" y="380376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chemeClr val="dk1"/>
                </a:solidFill>
                <a:effectLst/>
                <a:uFillTx/>
                <a:latin typeface="メイリオ"/>
                <a:ea typeface="メイリオ"/>
              </a:rPr>
              <a:t>LINE</a:t>
            </a:r>
            <a:r>
              <a:rPr lang="ja-JP" sz="1200" b="1" u="none" strike="noStrike">
                <a:solidFill>
                  <a:schemeClr val="dk1"/>
                </a:solidFill>
                <a:effectLst/>
                <a:uFillTx/>
                <a:latin typeface="メイリオ"/>
                <a:ea typeface="メイリオ"/>
              </a:rPr>
              <a:t>友だち</a:t>
            </a:r>
            <a:endParaRPr lang="en-US" sz="1200" b="0" u="none" strike="noStrike">
              <a:solidFill>
                <a:srgbClr val="000000"/>
              </a:solidFill>
              <a:effectLst/>
              <a:uFillTx/>
              <a:latin typeface="Arial"/>
            </a:endParaRPr>
          </a:p>
        </p:txBody>
      </p:sp>
      <p:sp>
        <p:nvSpPr>
          <p:cNvPr id="776" name="テキスト ボックス 25"/>
          <p:cNvSpPr/>
          <p:nvPr/>
        </p:nvSpPr>
        <p:spPr>
          <a:xfrm>
            <a:off x="3578760" y="334764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dk1"/>
                </a:solidFill>
                <a:effectLst/>
                <a:uFillTx/>
                <a:latin typeface="メイリオ"/>
                <a:ea typeface="メイリオ"/>
              </a:rPr>
              <a:t>離脱防止バナー</a:t>
            </a:r>
            <a:endParaRPr lang="en-US" sz="1200" b="0" u="none" strike="noStrike">
              <a:solidFill>
                <a:srgbClr val="000000"/>
              </a:solidFill>
              <a:effectLst/>
              <a:uFillTx/>
              <a:latin typeface="Arial"/>
            </a:endParaRPr>
          </a:p>
        </p:txBody>
      </p:sp>
      <p:sp>
        <p:nvSpPr>
          <p:cNvPr id="777" name="テキスト ボックス 35"/>
          <p:cNvSpPr/>
          <p:nvPr/>
        </p:nvSpPr>
        <p:spPr>
          <a:xfrm>
            <a:off x="3578760" y="198252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lumMod val="65000"/>
                  </a:schemeClr>
                </a:solidFill>
                <a:effectLst/>
                <a:uFillTx/>
                <a:latin typeface="メイリオ"/>
                <a:ea typeface="メイリオ"/>
              </a:rPr>
              <a:t>接触</a:t>
            </a:r>
            <a:endParaRPr lang="en-US" sz="1200" b="0" u="none" strike="noStrike">
              <a:solidFill>
                <a:srgbClr val="000000"/>
              </a:solidFill>
              <a:effectLst/>
              <a:uFillTx/>
              <a:latin typeface="Arial"/>
            </a:endParaRPr>
          </a:p>
        </p:txBody>
      </p:sp>
      <p:sp>
        <p:nvSpPr>
          <p:cNvPr id="778" name="テキスト ボックス 38"/>
          <p:cNvSpPr/>
          <p:nvPr/>
        </p:nvSpPr>
        <p:spPr>
          <a:xfrm>
            <a:off x="3686040" y="5900760"/>
            <a:ext cx="1913400" cy="4611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dk1"/>
                </a:solidFill>
                <a:effectLst/>
                <a:uFillTx/>
                <a:latin typeface="メイリオ"/>
                <a:ea typeface="メイリオ"/>
              </a:rPr>
              <a:t>自社</a:t>
            </a:r>
            <a:r>
              <a:rPr lang="en-US" sz="1200" b="1" u="none" strike="noStrike">
                <a:solidFill>
                  <a:schemeClr val="dk1"/>
                </a:solidFill>
                <a:effectLst/>
                <a:uFillTx/>
                <a:latin typeface="メイリオ"/>
                <a:ea typeface="メイリオ"/>
              </a:rPr>
              <a:t>App/</a:t>
            </a:r>
            <a:r>
              <a:rPr lang="ja-JP" sz="1200" b="1" u="none" strike="noStrike">
                <a:solidFill>
                  <a:schemeClr val="dk1"/>
                </a:solidFill>
                <a:effectLst/>
                <a:uFillTx/>
                <a:latin typeface="メイリオ"/>
                <a:ea typeface="メイリオ"/>
              </a:rPr>
              <a:t>ネットワーク</a:t>
            </a:r>
            <a:endParaRPr lang="en-US" sz="1200" b="0" u="none" strike="noStrike">
              <a:solidFill>
                <a:srgbClr val="000000"/>
              </a:solidFill>
              <a:effectLst/>
              <a:uFillTx/>
              <a:latin typeface="Arial"/>
            </a:endParaRPr>
          </a:p>
          <a:p>
            <a:pPr algn="ctr" defTabSz="914400">
              <a:lnSpc>
                <a:spcPct val="100000"/>
              </a:lnSpc>
            </a:pPr>
            <a:r>
              <a:rPr lang="ja-JP" sz="1200" b="1" u="none" strike="noStrike">
                <a:solidFill>
                  <a:schemeClr val="dk1"/>
                </a:solidFill>
                <a:effectLst/>
                <a:uFillTx/>
                <a:latin typeface="メイリオ"/>
                <a:ea typeface="メイリオ"/>
              </a:rPr>
              <a:t>（</a:t>
            </a:r>
            <a:r>
              <a:rPr lang="en-US" sz="1200" b="1" u="none" strike="noStrike">
                <a:solidFill>
                  <a:schemeClr val="dk1"/>
                </a:solidFill>
                <a:effectLst/>
                <a:uFillTx/>
                <a:latin typeface="メイリオ"/>
                <a:ea typeface="メイリオ"/>
              </a:rPr>
              <a:t>ID</a:t>
            </a:r>
            <a:r>
              <a:rPr lang="ja-JP" sz="1200" b="1" u="none" strike="noStrike">
                <a:solidFill>
                  <a:schemeClr val="dk1"/>
                </a:solidFill>
                <a:effectLst/>
                <a:uFillTx/>
                <a:latin typeface="メイリオ"/>
                <a:ea typeface="メイリオ"/>
              </a:rPr>
              <a:t>連携等の開発）</a:t>
            </a:r>
            <a:endParaRPr lang="en-US" sz="1200" b="0" u="none" strike="noStrike">
              <a:solidFill>
                <a:srgbClr val="000000"/>
              </a:solidFill>
              <a:effectLst/>
              <a:uFillTx/>
              <a:latin typeface="Arial"/>
            </a:endParaRPr>
          </a:p>
        </p:txBody>
      </p:sp>
      <p:sp>
        <p:nvSpPr>
          <p:cNvPr id="779" name="テキスト ボックス 39"/>
          <p:cNvSpPr/>
          <p:nvPr/>
        </p:nvSpPr>
        <p:spPr>
          <a:xfrm>
            <a:off x="3578760" y="265104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lumMod val="65000"/>
                  </a:schemeClr>
                </a:solidFill>
                <a:effectLst/>
                <a:uFillTx/>
                <a:latin typeface="メイリオ"/>
                <a:ea typeface="メイリオ"/>
              </a:rPr>
              <a:t>離脱</a:t>
            </a:r>
            <a:endParaRPr lang="en-US" sz="1200" b="0" u="none" strike="noStrike">
              <a:solidFill>
                <a:srgbClr val="000000"/>
              </a:solidFill>
              <a:effectLst/>
              <a:uFillTx/>
              <a:latin typeface="Arial"/>
            </a:endParaRPr>
          </a:p>
        </p:txBody>
      </p:sp>
      <p:sp>
        <p:nvSpPr>
          <p:cNvPr id="780" name="テキスト ボックス 41"/>
          <p:cNvSpPr/>
          <p:nvPr/>
        </p:nvSpPr>
        <p:spPr>
          <a:xfrm>
            <a:off x="3578760" y="427104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chemeClr val="dk1"/>
                </a:solidFill>
                <a:effectLst/>
                <a:uFillTx/>
                <a:latin typeface="メイリオ"/>
                <a:ea typeface="メイリオ"/>
              </a:rPr>
              <a:t>LINE</a:t>
            </a:r>
            <a:r>
              <a:rPr lang="ja-JP" sz="1200" b="1" u="none" strike="noStrike">
                <a:solidFill>
                  <a:schemeClr val="dk1"/>
                </a:solidFill>
                <a:effectLst/>
                <a:uFillTx/>
                <a:latin typeface="メイリオ"/>
                <a:ea typeface="メイリオ"/>
              </a:rPr>
              <a:t>でログイン</a:t>
            </a:r>
            <a:endParaRPr lang="en-US" sz="1200" b="0" u="none" strike="noStrike">
              <a:solidFill>
                <a:srgbClr val="000000"/>
              </a:solidFill>
              <a:effectLst/>
              <a:uFillTx/>
              <a:latin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1" name="正方形/長方形 7"/>
          <p:cNvSpPr/>
          <p:nvPr/>
        </p:nvSpPr>
        <p:spPr>
          <a:xfrm>
            <a:off x="789120" y="82476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ユーザーコミュニケーションに、</a:t>
            </a:r>
            <a:r>
              <a:rPr lang="en-US" sz="1400" b="0" u="none" strike="noStrike">
                <a:solidFill>
                  <a:srgbClr val="343434"/>
                </a:solidFill>
                <a:effectLst/>
                <a:uFillTx/>
                <a:latin typeface="メイリオ"/>
                <a:ea typeface="メイリオ"/>
              </a:rPr>
              <a:t>LINE</a:t>
            </a:r>
            <a:r>
              <a:rPr lang="ja-JP" sz="1400" b="0" u="none" strike="noStrike">
                <a:solidFill>
                  <a:srgbClr val="343434"/>
                </a:solidFill>
                <a:effectLst/>
                <a:uFillTx/>
                <a:latin typeface="メイリオ"/>
                <a:ea typeface="メイリオ"/>
              </a:rPr>
              <a:t>公式アカウントを導入する法人が増加傾向。</a:t>
            </a:r>
            <a:endParaRPr lang="en-US" sz="1400" b="0" u="none" strike="noStrike">
              <a:solidFill>
                <a:srgbClr val="000000"/>
              </a:solidFill>
              <a:effectLst/>
              <a:uFillTx/>
              <a:latin typeface="Arial"/>
            </a:endParaRPr>
          </a:p>
          <a:p>
            <a:pPr algn="ctr" defTabSz="914400">
              <a:lnSpc>
                <a:spcPts val="2455"/>
              </a:lnSpc>
            </a:pPr>
            <a:r>
              <a:rPr lang="ja-JP" sz="1400" b="1" u="none" strike="noStrike">
                <a:solidFill>
                  <a:srgbClr val="343434"/>
                </a:solidFill>
                <a:effectLst/>
                <a:uFillTx/>
                <a:latin typeface="メイリオ"/>
                <a:ea typeface="メイリオ"/>
              </a:rPr>
              <a:t>開封率に関してはメールマガジンの</a:t>
            </a:r>
            <a:r>
              <a:rPr lang="en-US" sz="1400" b="1" u="none" strike="noStrike">
                <a:solidFill>
                  <a:srgbClr val="343434"/>
                </a:solidFill>
                <a:effectLst/>
                <a:uFillTx/>
                <a:latin typeface="メイリオ"/>
                <a:ea typeface="メイリオ"/>
              </a:rPr>
              <a:t>6</a:t>
            </a:r>
            <a:r>
              <a:rPr lang="ja-JP" sz="1400" b="1" u="none" strike="noStrike">
                <a:solidFill>
                  <a:srgbClr val="343434"/>
                </a:solidFill>
                <a:effectLst/>
                <a:uFillTx/>
                <a:latin typeface="メイリオ"/>
                <a:ea typeface="メイリオ"/>
              </a:rPr>
              <a:t>倍を誇る</a:t>
            </a:r>
            <a:r>
              <a:rPr lang="ja-JP" sz="1400" b="0" u="none" strike="noStrike">
                <a:solidFill>
                  <a:srgbClr val="343434"/>
                </a:solidFill>
                <a:effectLst/>
                <a:uFillTx/>
                <a:latin typeface="メイリオ"/>
                <a:ea typeface="メイリオ"/>
              </a:rPr>
              <a:t>と言われています。</a:t>
            </a:r>
            <a:endParaRPr lang="en-US" sz="1400" b="0" u="none" strike="noStrike">
              <a:solidFill>
                <a:srgbClr val="000000"/>
              </a:solidFill>
              <a:effectLst/>
              <a:uFillTx/>
              <a:latin typeface="Arial"/>
            </a:endParaRPr>
          </a:p>
        </p:txBody>
      </p:sp>
      <p:cxnSp>
        <p:nvCxnSpPr>
          <p:cNvPr id="782" name="直線コネクタ 8"/>
          <p:cNvCxnSpPr/>
          <p:nvPr/>
        </p:nvCxnSpPr>
        <p:spPr>
          <a:xfrm>
            <a:off x="0" y="1390320"/>
            <a:ext cx="9906120" cy="360"/>
          </a:xfrm>
          <a:prstGeom prst="straightConnector1">
            <a:avLst/>
          </a:prstGeom>
          <a:ln w="19050">
            <a:solidFill>
              <a:schemeClr val="lt1">
                <a:lumMod val="85000"/>
                <a:alpha val="60000"/>
              </a:schemeClr>
            </a:solidFill>
            <a:round/>
          </a:ln>
        </p:spPr>
      </p:cxnSp>
      <p:grpSp>
        <p:nvGrpSpPr>
          <p:cNvPr id="783" name="Group 2"/>
          <p:cNvGrpSpPr/>
          <p:nvPr/>
        </p:nvGrpSpPr>
        <p:grpSpPr>
          <a:xfrm>
            <a:off x="789120" y="1526040"/>
            <a:ext cx="8365680" cy="858960"/>
            <a:chOff x="789120" y="1526040"/>
            <a:chExt cx="8365680" cy="858960"/>
          </a:xfrm>
        </p:grpSpPr>
        <p:sp>
          <p:nvSpPr>
            <p:cNvPr id="784" name="Freeform 3"/>
            <p:cNvSpPr/>
            <p:nvPr/>
          </p:nvSpPr>
          <p:spPr>
            <a:xfrm>
              <a:off x="789120" y="1653480"/>
              <a:ext cx="8365680" cy="731520"/>
            </a:xfrm>
            <a:custGeom>
              <a:avLst/>
              <a:gdLst>
                <a:gd name="textAreaLeft" fmla="*/ 0 w 8365680"/>
                <a:gd name="textAreaRight" fmla="*/ 8366040 w 8365680"/>
                <a:gd name="textAreaTop" fmla="*/ 0 h 731520"/>
                <a:gd name="textAreaBottom" fmla="*/ 731880 h 731520"/>
              </a:gdLst>
              <a:ahLst/>
              <a:cxnLst/>
              <a:rect l="textAreaLeft" t="textAreaTop" r="textAreaRight" b="textAreaBottom"/>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85" name="TextBox 4"/>
            <p:cNvSpPr/>
            <p:nvPr/>
          </p:nvSpPr>
          <p:spPr>
            <a:xfrm>
              <a:off x="789120" y="1526040"/>
              <a:ext cx="8365680" cy="85860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455"/>
                </a:lnSpc>
              </a:pPr>
              <a:r>
                <a:rPr lang="ja-JP" sz="1400" b="0" u="none" strike="noStrike">
                  <a:solidFill>
                    <a:srgbClr val="040606"/>
                  </a:solidFill>
                  <a:effectLst/>
                  <a:uFillTx/>
                  <a:latin typeface="メイリオ"/>
                  <a:ea typeface="メイリオ"/>
                </a:rPr>
                <a:t>　　　　メールマガジン、テレマーケティング が主流</a:t>
              </a:r>
              <a:endParaRPr lang="en-US" sz="1400" b="0" u="none" strike="noStrike">
                <a:solidFill>
                  <a:srgbClr val="000000"/>
                </a:solidFill>
                <a:effectLst/>
                <a:uFillTx/>
                <a:latin typeface="Arial"/>
              </a:endParaRPr>
            </a:p>
          </p:txBody>
        </p:sp>
      </p:grpSp>
      <p:sp>
        <p:nvSpPr>
          <p:cNvPr id="786" name="Freeform 5"/>
          <p:cNvSpPr/>
          <p:nvPr/>
        </p:nvSpPr>
        <p:spPr>
          <a:xfrm>
            <a:off x="1045080" y="1864080"/>
            <a:ext cx="586080" cy="415440"/>
          </a:xfrm>
          <a:custGeom>
            <a:avLst/>
            <a:gdLst>
              <a:gd name="textAreaLeft" fmla="*/ 0 w 586080"/>
              <a:gd name="textAreaRight" fmla="*/ 586440 w 586080"/>
              <a:gd name="textAreaTop" fmla="*/ 0 h 415440"/>
              <a:gd name="textAreaBottom" fmla="*/ 415800 h 415440"/>
            </a:gdLst>
            <a:ahLst/>
            <a:cxnLst/>
            <a:rect l="textAreaLeft" t="textAreaTop" r="textAreaRight" b="textAreaBottom"/>
            <a:pathLst>
              <a:path w="586512" h="415690">
                <a:moveTo>
                  <a:pt x="0" y="0"/>
                </a:moveTo>
                <a:lnTo>
                  <a:pt x="586512" y="0"/>
                </a:lnTo>
                <a:lnTo>
                  <a:pt x="586512" y="415691"/>
                </a:lnTo>
                <a:lnTo>
                  <a:pt x="0" y="415691"/>
                </a:lnTo>
                <a:lnTo>
                  <a:pt x="0" y="0"/>
                </a:lnTo>
                <a:close/>
              </a:path>
            </a:pathLst>
          </a:custGeom>
          <a:blipFill rotWithShape="0">
            <a:blip>
              <a:extLst>
                <a:ext uri="{96DAC541-7B7A-43D3-8B79-37D633B846F1}">
                  <asvg:svgBlip xmlns:asvg="http://schemas.microsoft.com/office/drawing/2016/SVG/main" r:embed="rId3"/>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87" name="Freeform 6"/>
          <p:cNvSpPr/>
          <p:nvPr/>
        </p:nvSpPr>
        <p:spPr>
          <a:xfrm>
            <a:off x="1828440" y="1769040"/>
            <a:ext cx="384840" cy="302400"/>
          </a:xfrm>
          <a:custGeom>
            <a:avLst/>
            <a:gdLst>
              <a:gd name="textAreaLeft" fmla="*/ 0 w 384840"/>
              <a:gd name="textAreaRight" fmla="*/ 385200 w 384840"/>
              <a:gd name="textAreaTop" fmla="*/ 0 h 302400"/>
              <a:gd name="textAreaBottom" fmla="*/ 302760 h 302400"/>
            </a:gdLst>
            <a:ahLst/>
            <a:cxnLst/>
            <a:rect l="textAreaLeft" t="textAreaTop" r="textAreaRight" b="textAreaBottom"/>
            <a:pathLst>
              <a:path w="385149" h="302824">
                <a:moveTo>
                  <a:pt x="0" y="0"/>
                </a:moveTo>
                <a:lnTo>
                  <a:pt x="385150" y="0"/>
                </a:lnTo>
                <a:lnTo>
                  <a:pt x="385150" y="302824"/>
                </a:lnTo>
                <a:lnTo>
                  <a:pt x="0" y="302824"/>
                </a:lnTo>
                <a:lnTo>
                  <a:pt x="0" y="0"/>
                </a:lnTo>
                <a:close/>
              </a:path>
            </a:pathLst>
          </a:custGeom>
          <a:blipFill rotWithShape="0">
            <a:blip>
              <a:extLst>
                <a:ext uri="{96DAC541-7B7A-43D3-8B79-37D633B846F1}">
                  <asvg:svgBlip xmlns:asvg="http://schemas.microsoft.com/office/drawing/2016/SVG/main" r:embed="rId4"/>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grpSp>
        <p:nvGrpSpPr>
          <p:cNvPr id="788" name="Group 7"/>
          <p:cNvGrpSpPr/>
          <p:nvPr/>
        </p:nvGrpSpPr>
        <p:grpSpPr>
          <a:xfrm>
            <a:off x="4762440" y="2439720"/>
            <a:ext cx="418320" cy="207720"/>
            <a:chOff x="4762440" y="2439720"/>
            <a:chExt cx="418320" cy="207720"/>
          </a:xfrm>
        </p:grpSpPr>
        <p:sp>
          <p:nvSpPr>
            <p:cNvPr id="789" name="Freeform 8"/>
            <p:cNvSpPr/>
            <p:nvPr/>
          </p:nvSpPr>
          <p:spPr>
            <a:xfrm>
              <a:off x="4762440" y="2450160"/>
              <a:ext cx="418320" cy="197280"/>
            </a:xfrm>
            <a:custGeom>
              <a:avLst/>
              <a:gdLst>
                <a:gd name="textAreaLeft" fmla="*/ 0 w 418320"/>
                <a:gd name="textAreaRight" fmla="*/ 418680 w 418320"/>
                <a:gd name="textAreaTop" fmla="*/ 0 h 197280"/>
                <a:gd name="textAreaBottom" fmla="*/ 197640 h 19728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B44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0" name="TextBox 9"/>
            <p:cNvSpPr/>
            <p:nvPr/>
          </p:nvSpPr>
          <p:spPr>
            <a:xfrm>
              <a:off x="4827960" y="2439720"/>
              <a:ext cx="287640" cy="11592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800" b="0" u="none" strike="noStrike">
                <a:solidFill>
                  <a:schemeClr val="dk1"/>
                </a:solidFill>
                <a:effectLst/>
                <a:uFillTx/>
                <a:latin typeface="メイリオ"/>
                <a:ea typeface="メイリオ"/>
              </a:endParaRPr>
            </a:p>
          </p:txBody>
        </p:sp>
      </p:grpSp>
      <p:grpSp>
        <p:nvGrpSpPr>
          <p:cNvPr id="791" name="Group 10"/>
          <p:cNvGrpSpPr/>
          <p:nvPr/>
        </p:nvGrpSpPr>
        <p:grpSpPr>
          <a:xfrm>
            <a:off x="789120" y="2595240"/>
            <a:ext cx="8365680" cy="858600"/>
            <a:chOff x="789120" y="2595240"/>
            <a:chExt cx="8365680" cy="858600"/>
          </a:xfrm>
        </p:grpSpPr>
        <p:sp>
          <p:nvSpPr>
            <p:cNvPr id="792" name="Freeform 11"/>
            <p:cNvSpPr/>
            <p:nvPr/>
          </p:nvSpPr>
          <p:spPr>
            <a:xfrm>
              <a:off x="789120" y="2722320"/>
              <a:ext cx="8365680" cy="731520"/>
            </a:xfrm>
            <a:custGeom>
              <a:avLst/>
              <a:gdLst>
                <a:gd name="textAreaLeft" fmla="*/ 0 w 8365680"/>
                <a:gd name="textAreaRight" fmla="*/ 8366040 w 8365680"/>
                <a:gd name="textAreaTop" fmla="*/ 0 h 731520"/>
                <a:gd name="textAreaBottom" fmla="*/ 731880 h 731520"/>
              </a:gdLst>
              <a:ahLst/>
              <a:cxnLst/>
              <a:rect l="textAreaLeft" t="textAreaTop" r="textAreaRight" b="textAreaBottom"/>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93" name="TextBox 12"/>
            <p:cNvSpPr/>
            <p:nvPr/>
          </p:nvSpPr>
          <p:spPr>
            <a:xfrm>
              <a:off x="789120" y="2595240"/>
              <a:ext cx="8365680" cy="85860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455"/>
                </a:lnSpc>
              </a:pPr>
              <a:r>
                <a:rPr lang="ja-JP" sz="1400" b="1" u="none" strike="noStrike">
                  <a:solidFill>
                    <a:srgbClr val="00B900"/>
                  </a:solidFill>
                  <a:effectLst/>
                  <a:uFillTx/>
                  <a:latin typeface="メイリオ"/>
                  <a:ea typeface="メイリオ"/>
                </a:rPr>
                <a:t>　　　　＋</a:t>
              </a:r>
              <a:r>
                <a:rPr lang="en-US" sz="1400" b="1" u="none" strike="noStrike">
                  <a:solidFill>
                    <a:srgbClr val="00B900"/>
                  </a:solidFill>
                  <a:effectLst/>
                  <a:uFillTx/>
                  <a:latin typeface="メイリオ"/>
                  <a:ea typeface="メイリオ"/>
                </a:rPr>
                <a:t>LINE</a:t>
              </a:r>
              <a:r>
                <a:rPr lang="ja-JP" sz="1400" b="1" u="none" strike="noStrike">
                  <a:solidFill>
                    <a:srgbClr val="00B900"/>
                  </a:solidFill>
                  <a:effectLst/>
                  <a:uFillTx/>
                  <a:latin typeface="メイリオ"/>
                  <a:ea typeface="メイリオ"/>
                </a:rPr>
                <a:t>公式アカウント </a:t>
              </a:r>
              <a:r>
                <a:rPr lang="ja-JP" sz="1400" b="0" u="none" strike="noStrike">
                  <a:solidFill>
                    <a:srgbClr val="00B900"/>
                  </a:solidFill>
                  <a:effectLst/>
                  <a:uFillTx/>
                  <a:latin typeface="メイリオ"/>
                  <a:ea typeface="メイリオ"/>
                </a:rPr>
                <a:t>が主流</a:t>
              </a:r>
              <a:endParaRPr lang="en-US" sz="1400" b="0" u="none" strike="noStrike">
                <a:solidFill>
                  <a:srgbClr val="000000"/>
                </a:solidFill>
                <a:effectLst/>
                <a:uFillTx/>
                <a:latin typeface="Arial"/>
              </a:endParaRPr>
            </a:p>
          </p:txBody>
        </p:sp>
      </p:grpSp>
      <p:sp>
        <p:nvSpPr>
          <p:cNvPr id="794" name="Freeform 13"/>
          <p:cNvSpPr/>
          <p:nvPr/>
        </p:nvSpPr>
        <p:spPr>
          <a:xfrm>
            <a:off x="1184760" y="2810520"/>
            <a:ext cx="306720" cy="555480"/>
          </a:xfrm>
          <a:custGeom>
            <a:avLst/>
            <a:gdLst>
              <a:gd name="textAreaLeft" fmla="*/ 0 w 306720"/>
              <a:gd name="textAreaRight" fmla="*/ 307080 w 306720"/>
              <a:gd name="textAreaTop" fmla="*/ 0 h 555480"/>
              <a:gd name="textAreaBottom" fmla="*/ 555840 h 555480"/>
            </a:gdLst>
            <a:ahLst/>
            <a:cxnLst/>
            <a:rect l="textAreaLeft" t="textAreaTop" r="textAreaRight" b="textAreaBottom"/>
            <a:pathLst>
              <a:path w="307084" h="555808">
                <a:moveTo>
                  <a:pt x="0" y="0"/>
                </a:moveTo>
                <a:lnTo>
                  <a:pt x="307084" y="0"/>
                </a:lnTo>
                <a:lnTo>
                  <a:pt x="307084" y="555808"/>
                </a:lnTo>
                <a:lnTo>
                  <a:pt x="0" y="555808"/>
                </a:lnTo>
                <a:lnTo>
                  <a:pt x="0" y="0"/>
                </a:lnTo>
                <a:close/>
              </a:path>
            </a:pathLst>
          </a:custGeom>
          <a:blipFill rotWithShape="0">
            <a:blip>
              <a:extLst>
                <a:ext uri="{96DAC541-7B7A-43D3-8B79-37D633B846F1}">
                  <asvg:svgBlip xmlns:asvg="http://schemas.microsoft.com/office/drawing/2016/SVG/main" r:embed="rId5"/>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5" name="Freeform 14"/>
          <p:cNvSpPr/>
          <p:nvPr/>
        </p:nvSpPr>
        <p:spPr>
          <a:xfrm>
            <a:off x="1815840" y="2807280"/>
            <a:ext cx="397440" cy="397440"/>
          </a:xfrm>
          <a:custGeom>
            <a:avLst/>
            <a:gdLst>
              <a:gd name="textAreaLeft" fmla="*/ 0 w 397440"/>
              <a:gd name="textAreaRight" fmla="*/ 397800 w 397440"/>
              <a:gd name="textAreaTop" fmla="*/ 0 h 397440"/>
              <a:gd name="textAreaBottom" fmla="*/ 397800 h 397440"/>
            </a:gdLst>
            <a:ahLst/>
            <a:cxnLst/>
            <a:rect l="textAreaLeft" t="textAreaTop" r="textAreaRight" b="textAreaBottom"/>
            <a:pathLst>
              <a:path w="397893" h="397893">
                <a:moveTo>
                  <a:pt x="0" y="0"/>
                </a:moveTo>
                <a:lnTo>
                  <a:pt x="397893" y="0"/>
                </a:lnTo>
                <a:lnTo>
                  <a:pt x="397893" y="397892"/>
                </a:lnTo>
                <a:lnTo>
                  <a:pt x="0" y="397892"/>
                </a:lnTo>
                <a:lnTo>
                  <a:pt x="0" y="0"/>
                </a:lnTo>
                <a:close/>
              </a:path>
            </a:pathLst>
          </a:custGeom>
          <a:blipFill rotWithShape="0">
            <a:blip>
              <a:extLst>
                <a:ext uri="{96DAC541-7B7A-43D3-8B79-37D633B846F1}">
                  <asvg:svgBlip xmlns:asvg="http://schemas.microsoft.com/office/drawing/2016/SVG/main" r:embed="rId6"/>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6" name="TextBox 16"/>
          <p:cNvSpPr/>
          <p:nvPr/>
        </p:nvSpPr>
        <p:spPr>
          <a:xfrm>
            <a:off x="2903760" y="3579480"/>
            <a:ext cx="2520360" cy="30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455"/>
              </a:lnSpc>
            </a:pPr>
            <a:r>
              <a:rPr lang="zh-CN" sz="1400" b="0" u="none" strike="noStrike">
                <a:solidFill>
                  <a:srgbClr val="040606"/>
                </a:solidFill>
                <a:effectLst/>
                <a:uFillTx/>
                <a:latin typeface="メイリオ"/>
                <a:ea typeface="メイリオ"/>
              </a:rPr>
              <a:t>メールマガジン</a:t>
            </a:r>
            <a:endParaRPr lang="en-US" sz="1400" b="0" u="none" strike="noStrike">
              <a:solidFill>
                <a:srgbClr val="000000"/>
              </a:solidFill>
              <a:effectLst/>
              <a:uFillTx/>
              <a:latin typeface="Arial"/>
            </a:endParaRPr>
          </a:p>
        </p:txBody>
      </p:sp>
      <p:grpSp>
        <p:nvGrpSpPr>
          <p:cNvPr id="797" name="Group 18"/>
          <p:cNvGrpSpPr/>
          <p:nvPr/>
        </p:nvGrpSpPr>
        <p:grpSpPr>
          <a:xfrm>
            <a:off x="4026600" y="3965760"/>
            <a:ext cx="274680" cy="136440"/>
            <a:chOff x="4026600" y="3965760"/>
            <a:chExt cx="274680" cy="136440"/>
          </a:xfrm>
        </p:grpSpPr>
        <p:sp>
          <p:nvSpPr>
            <p:cNvPr id="798" name="Freeform 19"/>
            <p:cNvSpPr/>
            <p:nvPr/>
          </p:nvSpPr>
          <p:spPr>
            <a:xfrm>
              <a:off x="4026600" y="3972600"/>
              <a:ext cx="274680" cy="129600"/>
            </a:xfrm>
            <a:custGeom>
              <a:avLst/>
              <a:gdLst>
                <a:gd name="textAreaLeft" fmla="*/ 0 w 274680"/>
                <a:gd name="textAreaRight" fmla="*/ 275040 w 274680"/>
                <a:gd name="textAreaTop" fmla="*/ 0 h 129600"/>
                <a:gd name="textAreaBottom" fmla="*/ 129960 h 12960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99" name="TextBox 20"/>
            <p:cNvSpPr/>
            <p:nvPr/>
          </p:nvSpPr>
          <p:spPr>
            <a:xfrm>
              <a:off x="4069440" y="3965760"/>
              <a:ext cx="188640" cy="7596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400" b="0" u="none" strike="noStrike">
                <a:solidFill>
                  <a:schemeClr val="dk1"/>
                </a:solidFill>
                <a:effectLst/>
                <a:uFillTx/>
                <a:latin typeface="メイリオ"/>
                <a:ea typeface="メイリオ"/>
              </a:endParaRPr>
            </a:p>
          </p:txBody>
        </p:sp>
      </p:grpSp>
      <p:sp>
        <p:nvSpPr>
          <p:cNvPr id="800" name="AutoShape 24"/>
          <p:cNvSpPr/>
          <p:nvPr/>
        </p:nvSpPr>
        <p:spPr>
          <a:xfrm>
            <a:off x="1044720" y="4660200"/>
            <a:ext cx="7854120" cy="684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8160" rIns="90000" bIns="-38160" anchor="t">
            <a:noAutofit/>
          </a:bodyPr>
          <a:lstStyle/>
          <a:p>
            <a:endParaRPr lang="en-US" sz="1400" b="0" u="none" strike="noStrike">
              <a:solidFill>
                <a:schemeClr val="dk1"/>
              </a:solidFill>
              <a:effectLst/>
              <a:uFillTx/>
              <a:latin typeface="メイリオ"/>
              <a:ea typeface="メイリオ"/>
            </a:endParaRPr>
          </a:p>
        </p:txBody>
      </p:sp>
      <p:sp>
        <p:nvSpPr>
          <p:cNvPr id="801" name="TextBox 25"/>
          <p:cNvSpPr/>
          <p:nvPr/>
        </p:nvSpPr>
        <p:spPr>
          <a:xfrm>
            <a:off x="2752200" y="4197240"/>
            <a:ext cx="2936880" cy="30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入力が面倒・間違いが発生</a:t>
            </a:r>
            <a:endParaRPr lang="en-US" sz="1400" b="0" u="none" strike="noStrike">
              <a:solidFill>
                <a:srgbClr val="000000"/>
              </a:solidFill>
              <a:effectLst/>
              <a:uFillTx/>
              <a:latin typeface="Arial"/>
            </a:endParaRPr>
          </a:p>
        </p:txBody>
      </p:sp>
      <p:sp>
        <p:nvSpPr>
          <p:cNvPr id="802" name="AutoShape 26"/>
          <p:cNvSpPr/>
          <p:nvPr/>
        </p:nvSpPr>
        <p:spPr>
          <a:xfrm>
            <a:off x="2751840" y="3966840"/>
            <a:ext cx="2952720" cy="11160"/>
          </a:xfrm>
          <a:prstGeom prst="line">
            <a:avLst/>
          </a:prstGeom>
          <a:ln w="19050">
            <a:solidFill>
              <a:srgbClr val="000000"/>
            </a:solidFill>
            <a:round/>
          </a:ln>
        </p:spPr>
        <p:style>
          <a:lnRef idx="0">
            <a:scrgbClr r="0" g="0" b="0"/>
          </a:lnRef>
          <a:fillRef idx="0">
            <a:scrgbClr r="0" g="0" b="0"/>
          </a:fillRef>
          <a:effectRef idx="0">
            <a:scrgbClr r="0" g="0" b="0"/>
          </a:effectRef>
          <a:fontRef idx="minor"/>
        </p:style>
        <p:txBody>
          <a:bodyPr lIns="90000" tIns="-33840" rIns="90000" bIns="-33840" anchor="t">
            <a:noAutofit/>
          </a:bodyPr>
          <a:lstStyle/>
          <a:p>
            <a:endParaRPr lang="en-US" sz="1400" b="0" u="none" strike="noStrike">
              <a:solidFill>
                <a:schemeClr val="dk1"/>
              </a:solidFill>
              <a:effectLst/>
              <a:uFillTx/>
              <a:latin typeface="メイリオ"/>
              <a:ea typeface="メイリオ"/>
            </a:endParaRPr>
          </a:p>
        </p:txBody>
      </p:sp>
      <p:sp>
        <p:nvSpPr>
          <p:cNvPr id="803" name="TextBox 27"/>
          <p:cNvSpPr/>
          <p:nvPr/>
        </p:nvSpPr>
        <p:spPr>
          <a:xfrm>
            <a:off x="2752200" y="477576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迷惑メールなどに入る</a:t>
            </a:r>
            <a:endParaRPr lang="en-US" sz="1400" b="0" u="none" strike="noStrike">
              <a:solidFill>
                <a:srgbClr val="000000"/>
              </a:solidFill>
              <a:effectLst/>
              <a:uFillTx/>
              <a:latin typeface="Arial"/>
            </a:endParaRPr>
          </a:p>
        </p:txBody>
      </p:sp>
      <p:sp>
        <p:nvSpPr>
          <p:cNvPr id="804" name="TextBox 28"/>
          <p:cNvSpPr/>
          <p:nvPr/>
        </p:nvSpPr>
        <p:spPr>
          <a:xfrm>
            <a:off x="2752200" y="535464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0" u="none" strike="noStrike">
                <a:solidFill>
                  <a:srgbClr val="040606"/>
                </a:solidFill>
                <a:effectLst/>
                <a:uFillTx/>
                <a:latin typeface="メイリオ"/>
                <a:ea typeface="メイリオ"/>
              </a:rPr>
              <a:t>10</a:t>
            </a:r>
            <a:r>
              <a:rPr lang="zh-CN" sz="1400" b="0" u="none" strike="noStrike">
                <a:solidFill>
                  <a:srgbClr val="040606"/>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805" name="TextBox 29"/>
          <p:cNvSpPr/>
          <p:nvPr/>
        </p:nvSpPr>
        <p:spPr>
          <a:xfrm>
            <a:off x="2752200" y="5933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0" u="none" strike="noStrike">
                <a:solidFill>
                  <a:srgbClr val="040606"/>
                </a:solidFill>
                <a:effectLst/>
                <a:uFillTx/>
                <a:latin typeface="メイリオ"/>
                <a:ea typeface="メイリオ"/>
              </a:rPr>
              <a:t>1</a:t>
            </a:r>
            <a:r>
              <a:rPr lang="zh-CN" sz="1400" b="0" u="none" strike="noStrike">
                <a:solidFill>
                  <a:srgbClr val="040606"/>
                </a:solidFill>
                <a:effectLst/>
                <a:uFillTx/>
                <a:latin typeface="メイリオ"/>
                <a:ea typeface="メイリオ"/>
              </a:rPr>
              <a:t>時間</a:t>
            </a:r>
            <a:endParaRPr lang="en-US" sz="1400" b="0" u="none" strike="noStrike">
              <a:solidFill>
                <a:srgbClr val="000000"/>
              </a:solidFill>
              <a:effectLst/>
              <a:uFillTx/>
              <a:latin typeface="Arial"/>
            </a:endParaRPr>
          </a:p>
        </p:txBody>
      </p:sp>
      <p:sp>
        <p:nvSpPr>
          <p:cNvPr id="806" name="AutoShape 30"/>
          <p:cNvSpPr/>
          <p:nvPr/>
        </p:nvSpPr>
        <p:spPr>
          <a:xfrm>
            <a:off x="1044720" y="5247720"/>
            <a:ext cx="7854120" cy="720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7800" rIns="90000" bIns="-37800" anchor="t">
            <a:noAutofit/>
          </a:bodyPr>
          <a:lstStyle/>
          <a:p>
            <a:endParaRPr lang="en-US" sz="1400" b="0" u="none" strike="noStrike">
              <a:solidFill>
                <a:schemeClr val="dk1"/>
              </a:solidFill>
              <a:effectLst/>
              <a:uFillTx/>
              <a:latin typeface="メイリオ"/>
              <a:ea typeface="メイリオ"/>
            </a:endParaRPr>
          </a:p>
        </p:txBody>
      </p:sp>
      <p:sp>
        <p:nvSpPr>
          <p:cNvPr id="807" name="AutoShape 31"/>
          <p:cNvSpPr/>
          <p:nvPr/>
        </p:nvSpPr>
        <p:spPr>
          <a:xfrm>
            <a:off x="1044720" y="5806080"/>
            <a:ext cx="7854120" cy="684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8160" rIns="90000" bIns="-38160" anchor="t">
            <a:noAutofit/>
          </a:bodyPr>
          <a:lstStyle/>
          <a:p>
            <a:endParaRPr lang="en-US" sz="1400" b="0" u="none" strike="noStrike">
              <a:solidFill>
                <a:schemeClr val="dk1"/>
              </a:solidFill>
              <a:effectLst/>
              <a:uFillTx/>
              <a:latin typeface="メイリオ"/>
              <a:ea typeface="メイリオ"/>
            </a:endParaRPr>
          </a:p>
        </p:txBody>
      </p:sp>
      <p:sp>
        <p:nvSpPr>
          <p:cNvPr id="808" name="TextBox 32"/>
          <p:cNvSpPr/>
          <p:nvPr/>
        </p:nvSpPr>
        <p:spPr>
          <a:xfrm>
            <a:off x="1184760" y="477900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到達</a:t>
            </a:r>
            <a:endParaRPr lang="en-US" sz="1400" b="0" u="none" strike="noStrike">
              <a:solidFill>
                <a:srgbClr val="000000"/>
              </a:solidFill>
              <a:effectLst/>
              <a:uFillTx/>
              <a:latin typeface="Arial"/>
            </a:endParaRPr>
          </a:p>
        </p:txBody>
      </p:sp>
      <p:sp>
        <p:nvSpPr>
          <p:cNvPr id="809" name="TextBox 33"/>
          <p:cNvSpPr/>
          <p:nvPr/>
        </p:nvSpPr>
        <p:spPr>
          <a:xfrm>
            <a:off x="1184760" y="535212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開封率</a:t>
            </a:r>
            <a:endParaRPr lang="en-US" sz="1400" b="0" u="none" strike="noStrike">
              <a:solidFill>
                <a:srgbClr val="000000"/>
              </a:solidFill>
              <a:effectLst/>
              <a:uFillTx/>
              <a:latin typeface="Arial"/>
            </a:endParaRPr>
          </a:p>
        </p:txBody>
      </p:sp>
      <p:sp>
        <p:nvSpPr>
          <p:cNvPr id="810" name="TextBox 34"/>
          <p:cNvSpPr/>
          <p:nvPr/>
        </p:nvSpPr>
        <p:spPr>
          <a:xfrm>
            <a:off x="1184760" y="5933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開封まで</a:t>
            </a:r>
            <a:endParaRPr lang="en-US" sz="1400" b="0" u="none" strike="noStrike">
              <a:solidFill>
                <a:srgbClr val="000000"/>
              </a:solidFill>
              <a:effectLst/>
              <a:uFillTx/>
              <a:latin typeface="Arial"/>
            </a:endParaRPr>
          </a:p>
        </p:txBody>
      </p:sp>
      <p:sp>
        <p:nvSpPr>
          <p:cNvPr id="81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812" name="正方形/長方形 1"/>
          <p:cNvSpPr/>
          <p:nvPr/>
        </p:nvSpPr>
        <p:spPr>
          <a:xfrm>
            <a:off x="5784120" y="3545640"/>
            <a:ext cx="3332520" cy="2822040"/>
          </a:xfrm>
          <a:prstGeom prst="rect">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600" b="1" u="none" strike="noStrike">
              <a:solidFill>
                <a:schemeClr val="lt1"/>
              </a:solidFill>
              <a:effectLst/>
              <a:uFillTx/>
              <a:latin typeface="Calibri"/>
            </a:endParaRPr>
          </a:p>
        </p:txBody>
      </p:sp>
      <p:sp>
        <p:nvSpPr>
          <p:cNvPr id="813" name="AutoShape 15"/>
          <p:cNvSpPr/>
          <p:nvPr/>
        </p:nvSpPr>
        <p:spPr>
          <a:xfrm>
            <a:off x="5946480" y="3983760"/>
            <a:ext cx="2952360" cy="11160"/>
          </a:xfrm>
          <a:prstGeom prst="line">
            <a:avLst/>
          </a:prstGeom>
          <a:ln w="19050">
            <a:solidFill>
              <a:srgbClr val="00B900"/>
            </a:solidFill>
            <a:round/>
          </a:ln>
        </p:spPr>
        <p:style>
          <a:lnRef idx="0">
            <a:scrgbClr r="0" g="0" b="0"/>
          </a:lnRef>
          <a:fillRef idx="0">
            <a:scrgbClr r="0" g="0" b="0"/>
          </a:fillRef>
          <a:effectRef idx="0">
            <a:scrgbClr r="0" g="0" b="0"/>
          </a:effectRef>
          <a:fontRef idx="minor"/>
        </p:style>
        <p:txBody>
          <a:bodyPr lIns="90000" tIns="-33840" rIns="90000" bIns="-33840" anchor="t">
            <a:noAutofit/>
          </a:bodyPr>
          <a:lstStyle/>
          <a:p>
            <a:endParaRPr lang="en-US" sz="1400" b="1" u="none" strike="noStrike">
              <a:solidFill>
                <a:schemeClr val="dk1"/>
              </a:solidFill>
              <a:effectLst/>
              <a:uFillTx/>
              <a:latin typeface="メイリオ"/>
              <a:ea typeface="メイリオ"/>
            </a:endParaRPr>
          </a:p>
        </p:txBody>
      </p:sp>
      <p:sp>
        <p:nvSpPr>
          <p:cNvPr id="814" name="TextBox 17"/>
          <p:cNvSpPr/>
          <p:nvPr/>
        </p:nvSpPr>
        <p:spPr>
          <a:xfrm>
            <a:off x="6162480" y="3579480"/>
            <a:ext cx="252036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455"/>
              </a:lnSpc>
            </a:pPr>
            <a:r>
              <a:rPr lang="en-US" sz="1400" b="1" u="none" strike="noStrike">
                <a:solidFill>
                  <a:srgbClr val="00B449"/>
                </a:solidFill>
                <a:effectLst/>
                <a:uFillTx/>
                <a:latin typeface="メイリオ"/>
                <a:ea typeface="メイリオ"/>
              </a:rPr>
              <a:t>LINE</a:t>
            </a:r>
            <a:endParaRPr lang="en-US" sz="1400" b="0" u="none" strike="noStrike">
              <a:solidFill>
                <a:srgbClr val="000000"/>
              </a:solidFill>
              <a:effectLst/>
              <a:uFillTx/>
              <a:latin typeface="Arial"/>
            </a:endParaRPr>
          </a:p>
        </p:txBody>
      </p:sp>
      <p:grpSp>
        <p:nvGrpSpPr>
          <p:cNvPr id="815" name="Group 21"/>
          <p:cNvGrpSpPr/>
          <p:nvPr/>
        </p:nvGrpSpPr>
        <p:grpSpPr>
          <a:xfrm>
            <a:off x="7261560" y="3975840"/>
            <a:ext cx="321840" cy="159840"/>
            <a:chOff x="7261560" y="3975840"/>
            <a:chExt cx="321840" cy="159840"/>
          </a:xfrm>
        </p:grpSpPr>
        <p:sp>
          <p:nvSpPr>
            <p:cNvPr id="816" name="Freeform 22"/>
            <p:cNvSpPr/>
            <p:nvPr/>
          </p:nvSpPr>
          <p:spPr>
            <a:xfrm>
              <a:off x="7261560" y="3983760"/>
              <a:ext cx="321840" cy="151920"/>
            </a:xfrm>
            <a:custGeom>
              <a:avLst/>
              <a:gdLst>
                <a:gd name="textAreaLeft" fmla="*/ 0 w 321840"/>
                <a:gd name="textAreaRight" fmla="*/ 322200 w 321840"/>
                <a:gd name="textAreaTop" fmla="*/ 0 h 151920"/>
                <a:gd name="textAreaBottom" fmla="*/ 152280 h 15192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B44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1" u="none" strike="noStrike">
                <a:solidFill>
                  <a:schemeClr val="dk1"/>
                </a:solidFill>
                <a:effectLst/>
                <a:uFillTx/>
                <a:latin typeface="メイリオ"/>
                <a:ea typeface="メイリオ"/>
              </a:endParaRPr>
            </a:p>
          </p:txBody>
        </p:sp>
        <p:sp>
          <p:nvSpPr>
            <p:cNvPr id="817" name="TextBox 23"/>
            <p:cNvSpPr/>
            <p:nvPr/>
          </p:nvSpPr>
          <p:spPr>
            <a:xfrm>
              <a:off x="7311960" y="3975840"/>
              <a:ext cx="221040" cy="8928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400" b="1" u="none" strike="noStrike">
                <a:solidFill>
                  <a:schemeClr val="dk1"/>
                </a:solidFill>
                <a:effectLst/>
                <a:uFillTx/>
                <a:latin typeface="メイリオ"/>
                <a:ea typeface="メイリオ"/>
              </a:endParaRPr>
            </a:p>
          </p:txBody>
        </p:sp>
      </p:grpSp>
      <p:sp>
        <p:nvSpPr>
          <p:cNvPr id="818" name="TextBox 35"/>
          <p:cNvSpPr/>
          <p:nvPr/>
        </p:nvSpPr>
        <p:spPr>
          <a:xfrm>
            <a:off x="5961600" y="4772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1" u="none" strike="noStrike">
                <a:solidFill>
                  <a:srgbClr val="00B449"/>
                </a:solidFill>
                <a:effectLst/>
                <a:uFillTx/>
                <a:latin typeface="メイリオ"/>
                <a:ea typeface="メイリオ"/>
              </a:rPr>
              <a:t>確実に届く</a:t>
            </a:r>
            <a:endParaRPr lang="en-US" sz="1400" b="0" u="none" strike="noStrike">
              <a:solidFill>
                <a:srgbClr val="000000"/>
              </a:solidFill>
              <a:effectLst/>
              <a:uFillTx/>
              <a:latin typeface="Arial"/>
            </a:endParaRPr>
          </a:p>
        </p:txBody>
      </p:sp>
      <p:sp>
        <p:nvSpPr>
          <p:cNvPr id="819" name="TextBox 36"/>
          <p:cNvSpPr/>
          <p:nvPr/>
        </p:nvSpPr>
        <p:spPr>
          <a:xfrm>
            <a:off x="5961600" y="535212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1" u="none" strike="noStrike">
                <a:solidFill>
                  <a:srgbClr val="00B449"/>
                </a:solidFill>
                <a:effectLst/>
                <a:uFillTx/>
                <a:latin typeface="メイリオ"/>
                <a:ea typeface="メイリオ"/>
              </a:rPr>
              <a:t>60</a:t>
            </a:r>
            <a:r>
              <a:rPr lang="zh-CN" sz="1400" b="1" u="none" strike="noStrike">
                <a:solidFill>
                  <a:srgbClr val="00B449"/>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820" name="TextBox 37"/>
          <p:cNvSpPr/>
          <p:nvPr/>
        </p:nvSpPr>
        <p:spPr>
          <a:xfrm>
            <a:off x="5961600" y="593136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1" u="none" strike="noStrike">
                <a:solidFill>
                  <a:srgbClr val="00B449"/>
                </a:solidFill>
                <a:effectLst/>
                <a:uFillTx/>
                <a:latin typeface="メイリオ"/>
                <a:ea typeface="メイリオ"/>
              </a:rPr>
              <a:t>15</a:t>
            </a:r>
            <a:r>
              <a:rPr lang="zh-CN" sz="1400" b="1" u="none" strike="noStrike">
                <a:solidFill>
                  <a:srgbClr val="00B449"/>
                </a:solidFill>
                <a:effectLst/>
                <a:uFillTx/>
                <a:latin typeface="メイリオ"/>
                <a:ea typeface="メイリオ"/>
              </a:rPr>
              <a:t>分</a:t>
            </a:r>
            <a:endParaRPr lang="en-US" sz="1400" b="0" u="none" strike="noStrike">
              <a:solidFill>
                <a:srgbClr val="000000"/>
              </a:solidFill>
              <a:effectLst/>
              <a:uFillTx/>
              <a:latin typeface="Arial"/>
            </a:endParaRPr>
          </a:p>
        </p:txBody>
      </p:sp>
      <p:sp>
        <p:nvSpPr>
          <p:cNvPr id="821" name="TextBox 38"/>
          <p:cNvSpPr/>
          <p:nvPr/>
        </p:nvSpPr>
        <p:spPr>
          <a:xfrm>
            <a:off x="5961600" y="420624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1" u="none" strike="noStrike">
                <a:solidFill>
                  <a:srgbClr val="00B449"/>
                </a:solidFill>
                <a:effectLst/>
                <a:uFillTx/>
                <a:latin typeface="メイリオ"/>
                <a:ea typeface="メイリオ"/>
              </a:rPr>
              <a:t>ワンタップで追加</a:t>
            </a:r>
            <a:endParaRPr lang="en-US" sz="1400" b="0" u="none" strike="noStrike">
              <a:solidFill>
                <a:srgbClr val="000000"/>
              </a:solidFill>
              <a:effectLst/>
              <a:uFillTx/>
              <a:latin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2"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823" name="正方形/長方形 3"/>
          <p:cNvSpPr/>
          <p:nvPr/>
        </p:nvSpPr>
        <p:spPr>
          <a:xfrm>
            <a:off x="789120" y="79344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zh-CN" sz="1400" b="0" u="none" strike="noStrike">
                <a:solidFill>
                  <a:srgbClr val="343434"/>
                </a:solidFill>
                <a:effectLst/>
                <a:uFillTx/>
                <a:latin typeface="メイリオ"/>
                <a:ea typeface="メイリオ"/>
              </a:rPr>
              <a:t>「今すぐ客」以外の</a:t>
            </a:r>
            <a:r>
              <a:rPr lang="ja-JP" sz="1400" b="0" u="none" strike="noStrike">
                <a:solidFill>
                  <a:srgbClr val="343434"/>
                </a:solidFill>
                <a:effectLst/>
                <a:uFillTx/>
                <a:latin typeface="メイリオ"/>
                <a:ea typeface="メイリオ"/>
              </a:rPr>
              <a:t>約</a:t>
            </a:r>
            <a:r>
              <a:rPr lang="en-US" sz="1400" b="0" u="none" strike="noStrike">
                <a:solidFill>
                  <a:srgbClr val="343434"/>
                </a:solidFill>
                <a:effectLst/>
                <a:uFillTx/>
                <a:latin typeface="メイリオ"/>
                <a:ea typeface="メイリオ"/>
              </a:rPr>
              <a:t>99</a:t>
            </a:r>
            <a:r>
              <a:rPr lang="ja-JP" sz="1400" b="0" u="none" strike="noStrike">
                <a:solidFill>
                  <a:srgbClr val="343434"/>
                </a:solidFill>
                <a:effectLst/>
                <a:uFillTx/>
                <a:latin typeface="メイリオ"/>
                <a:ea typeface="メイリオ"/>
              </a:rPr>
              <a:t>％の層をリストマーケティングで顧客に引き上げることが重要。</a:t>
            </a:r>
            <a:endParaRPr lang="en-US" sz="1400" b="0" u="none" strike="noStrike">
              <a:solidFill>
                <a:srgbClr val="000000"/>
              </a:solidFill>
              <a:effectLst/>
              <a:uFillTx/>
              <a:latin typeface="Arial"/>
            </a:endParaRPr>
          </a:p>
          <a:p>
            <a:pPr algn="ctr" defTabSz="914400">
              <a:lnSpc>
                <a:spcPts val="2455"/>
              </a:lnSpc>
            </a:pPr>
            <a:r>
              <a:rPr lang="ja-JP" sz="1400" b="0" u="none" strike="noStrike">
                <a:solidFill>
                  <a:srgbClr val="343434"/>
                </a:solidFill>
                <a:effectLst/>
                <a:uFillTx/>
                <a:latin typeface="メイリオ"/>
                <a:ea typeface="メイリオ"/>
              </a:rPr>
              <a:t>結果として、リード獲得率向上、リピート率向上、売上向上に繋げる。</a:t>
            </a:r>
            <a:endParaRPr lang="en-US" sz="1400" b="0" u="none" strike="noStrike">
              <a:solidFill>
                <a:srgbClr val="000000"/>
              </a:solidFill>
              <a:effectLst/>
              <a:uFillTx/>
              <a:latin typeface="Arial"/>
            </a:endParaRPr>
          </a:p>
        </p:txBody>
      </p:sp>
      <p:cxnSp>
        <p:nvCxnSpPr>
          <p:cNvPr id="824"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grpSp>
        <p:nvGrpSpPr>
          <p:cNvPr id="825" name="Group 11"/>
          <p:cNvGrpSpPr/>
          <p:nvPr/>
        </p:nvGrpSpPr>
        <p:grpSpPr>
          <a:xfrm>
            <a:off x="3049560" y="2885400"/>
            <a:ext cx="1458720" cy="1003320"/>
            <a:chOff x="3049560" y="2885400"/>
            <a:chExt cx="1458720" cy="1003320"/>
          </a:xfrm>
        </p:grpSpPr>
        <p:sp>
          <p:nvSpPr>
            <p:cNvPr id="826" name="Freeform 12"/>
            <p:cNvSpPr/>
            <p:nvPr/>
          </p:nvSpPr>
          <p:spPr>
            <a:xfrm>
              <a:off x="3049560" y="2975040"/>
              <a:ext cx="1458720" cy="913320"/>
            </a:xfrm>
            <a:custGeom>
              <a:avLst/>
              <a:gdLst>
                <a:gd name="textAreaLeft" fmla="*/ 0 w 1458720"/>
                <a:gd name="textAreaRight" fmla="*/ 1459080 w 1458720"/>
                <a:gd name="textAreaTop" fmla="*/ 0 h 913320"/>
                <a:gd name="textAreaBottom" fmla="*/ 913680 h 91332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27" name="TextBox 13"/>
            <p:cNvSpPr/>
            <p:nvPr/>
          </p:nvSpPr>
          <p:spPr>
            <a:xfrm>
              <a:off x="3049560" y="2885400"/>
              <a:ext cx="1458720" cy="100332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28" name="AutoShape 14"/>
          <p:cNvSpPr/>
          <p:nvPr/>
        </p:nvSpPr>
        <p:spPr>
          <a:xfrm flipV="1">
            <a:off x="637560" y="2862000"/>
            <a:ext cx="360" cy="3496320"/>
          </a:xfrm>
          <a:prstGeom prst="line">
            <a:avLst/>
          </a:prstGeom>
          <a:ln w="19050">
            <a:solidFill>
              <a:srgbClr val="737373"/>
            </a:solidFill>
            <a:round/>
            <a:tailEnd type="arrow" w="med" len="sm"/>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29" name="AutoShape 15"/>
          <p:cNvSpPr/>
          <p:nvPr/>
        </p:nvSpPr>
        <p:spPr>
          <a:xfrm>
            <a:off x="272160" y="6045480"/>
            <a:ext cx="4516920" cy="360"/>
          </a:xfrm>
          <a:prstGeom prst="line">
            <a:avLst/>
          </a:prstGeom>
          <a:ln w="19050">
            <a:solidFill>
              <a:srgbClr val="737373"/>
            </a:solidFill>
            <a:round/>
            <a:tailEnd type="arrow" w="med" len="sm"/>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grpSp>
        <p:nvGrpSpPr>
          <p:cNvPr id="830" name="Group 16"/>
          <p:cNvGrpSpPr/>
          <p:nvPr/>
        </p:nvGrpSpPr>
        <p:grpSpPr>
          <a:xfrm>
            <a:off x="964080" y="2885400"/>
            <a:ext cx="1770480" cy="1003320"/>
            <a:chOff x="964080" y="2885400"/>
            <a:chExt cx="1770480" cy="1003320"/>
          </a:xfrm>
        </p:grpSpPr>
        <p:sp>
          <p:nvSpPr>
            <p:cNvPr id="831" name="Freeform 17"/>
            <p:cNvSpPr/>
            <p:nvPr/>
          </p:nvSpPr>
          <p:spPr>
            <a:xfrm>
              <a:off x="964080" y="2975040"/>
              <a:ext cx="1770480" cy="913320"/>
            </a:xfrm>
            <a:custGeom>
              <a:avLst/>
              <a:gdLst>
                <a:gd name="textAreaLeft" fmla="*/ 0 w 1770480"/>
                <a:gd name="textAreaRight" fmla="*/ 1770840 w 1770480"/>
                <a:gd name="textAreaTop" fmla="*/ 0 h 913320"/>
                <a:gd name="textAreaBottom" fmla="*/ 913680 h 913320"/>
              </a:gdLst>
              <a:ahLst/>
              <a:cxnLst/>
              <a:rect l="textAreaLeft" t="textAreaTop" r="textAreaRight" b="textAreaBottom"/>
              <a:pathLst>
                <a:path w="749990" h="387031">
                  <a:moveTo>
                    <a:pt x="0" y="0"/>
                  </a:moveTo>
                  <a:lnTo>
                    <a:pt x="749990" y="0"/>
                  </a:lnTo>
                  <a:lnTo>
                    <a:pt x="749990" y="387031"/>
                  </a:lnTo>
                  <a:lnTo>
                    <a:pt x="0" y="387031"/>
                  </a:lnTo>
                  <a:close/>
                </a:path>
              </a:pathLst>
            </a:custGeom>
            <a:solidFill>
              <a:srgbClr val="7BD47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2" name="TextBox 18"/>
            <p:cNvSpPr/>
            <p:nvPr/>
          </p:nvSpPr>
          <p:spPr>
            <a:xfrm>
              <a:off x="964080" y="2885400"/>
              <a:ext cx="1770480" cy="100332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3" name="Group 19"/>
          <p:cNvGrpSpPr/>
          <p:nvPr/>
        </p:nvGrpSpPr>
        <p:grpSpPr>
          <a:xfrm>
            <a:off x="964080" y="4113000"/>
            <a:ext cx="1770480" cy="1634040"/>
            <a:chOff x="964080" y="4113000"/>
            <a:chExt cx="1770480" cy="1634040"/>
          </a:xfrm>
        </p:grpSpPr>
        <p:sp>
          <p:nvSpPr>
            <p:cNvPr id="834" name="Freeform 20"/>
            <p:cNvSpPr/>
            <p:nvPr/>
          </p:nvSpPr>
          <p:spPr>
            <a:xfrm>
              <a:off x="964080" y="4203000"/>
              <a:ext cx="1770480" cy="1544040"/>
            </a:xfrm>
            <a:custGeom>
              <a:avLst/>
              <a:gdLst>
                <a:gd name="textAreaLeft" fmla="*/ 0 w 1770480"/>
                <a:gd name="textAreaRight" fmla="*/ 1770840 w 1770480"/>
                <a:gd name="textAreaTop" fmla="*/ 0 h 1544040"/>
                <a:gd name="textAreaBottom" fmla="*/ 1544400 h 1544040"/>
              </a:gdLst>
              <a:ahLst/>
              <a:cxnLst/>
              <a:rect l="textAreaLeft" t="textAreaTop" r="textAreaRight" b="textAreaBottom"/>
              <a:pathLst>
                <a:path w="749990" h="654108">
                  <a:moveTo>
                    <a:pt x="0" y="0"/>
                  </a:moveTo>
                  <a:lnTo>
                    <a:pt x="749990" y="0"/>
                  </a:lnTo>
                  <a:lnTo>
                    <a:pt x="749990" y="654108"/>
                  </a:lnTo>
                  <a:lnTo>
                    <a:pt x="0" y="654108"/>
                  </a:lnTo>
                  <a:close/>
                </a:path>
              </a:pathLst>
            </a:custGeom>
            <a:solidFill>
              <a:srgbClr val="025D27"/>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5" name="TextBox 21"/>
            <p:cNvSpPr/>
            <p:nvPr/>
          </p:nvSpPr>
          <p:spPr>
            <a:xfrm>
              <a:off x="964080" y="4113000"/>
              <a:ext cx="1770480" cy="163404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6" name="Group 22"/>
          <p:cNvGrpSpPr/>
          <p:nvPr/>
        </p:nvGrpSpPr>
        <p:grpSpPr>
          <a:xfrm>
            <a:off x="3049560" y="4113000"/>
            <a:ext cx="1458720" cy="1634040"/>
            <a:chOff x="3049560" y="4113000"/>
            <a:chExt cx="1458720" cy="1634040"/>
          </a:xfrm>
        </p:grpSpPr>
        <p:sp>
          <p:nvSpPr>
            <p:cNvPr id="837" name="Freeform 23"/>
            <p:cNvSpPr/>
            <p:nvPr/>
          </p:nvSpPr>
          <p:spPr>
            <a:xfrm>
              <a:off x="3049560" y="4203000"/>
              <a:ext cx="1458720" cy="1544040"/>
            </a:xfrm>
            <a:custGeom>
              <a:avLst/>
              <a:gdLst>
                <a:gd name="textAreaLeft" fmla="*/ 0 w 1458720"/>
                <a:gd name="textAreaRight" fmla="*/ 1459080 w 1458720"/>
                <a:gd name="textAreaTop" fmla="*/ 0 h 1544040"/>
                <a:gd name="textAreaBottom" fmla="*/ 1544400 h 1544040"/>
              </a:gdLst>
              <a:ahLst/>
              <a:cxnLst/>
              <a:rect l="textAreaLeft" t="textAreaTop" r="textAreaRight" b="textAreaBottom"/>
              <a:pathLst>
                <a:path w="617887" h="654108">
                  <a:moveTo>
                    <a:pt x="0" y="0"/>
                  </a:moveTo>
                  <a:lnTo>
                    <a:pt x="617887" y="0"/>
                  </a:lnTo>
                  <a:lnTo>
                    <a:pt x="617887" y="654108"/>
                  </a:lnTo>
                  <a:lnTo>
                    <a:pt x="0" y="654108"/>
                  </a:lnTo>
                  <a:close/>
                </a:path>
              </a:pathLst>
            </a:custGeom>
            <a:solidFill>
              <a:srgbClr val="7BD47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8" name="TextBox 24"/>
            <p:cNvSpPr/>
            <p:nvPr/>
          </p:nvSpPr>
          <p:spPr>
            <a:xfrm>
              <a:off x="3049560" y="4113000"/>
              <a:ext cx="1458720" cy="163404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9" name="Group 25"/>
          <p:cNvGrpSpPr/>
          <p:nvPr/>
        </p:nvGrpSpPr>
        <p:grpSpPr>
          <a:xfrm>
            <a:off x="4996440" y="3281400"/>
            <a:ext cx="600840" cy="300960"/>
            <a:chOff x="4996440" y="3281400"/>
            <a:chExt cx="600840" cy="300960"/>
          </a:xfrm>
        </p:grpSpPr>
        <p:sp>
          <p:nvSpPr>
            <p:cNvPr id="840" name="Freeform 26"/>
            <p:cNvSpPr/>
            <p:nvPr/>
          </p:nvSpPr>
          <p:spPr>
            <a:xfrm rot="5400000">
              <a:off x="5146200" y="313128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41" name="TextBox 27"/>
            <p:cNvSpPr/>
            <p:nvPr/>
          </p:nvSpPr>
          <p:spPr>
            <a:xfrm rot="5400000">
              <a:off x="5087880" y="327996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42" name="TextBox 28"/>
          <p:cNvSpPr/>
          <p:nvPr/>
        </p:nvSpPr>
        <p:spPr>
          <a:xfrm>
            <a:off x="239760" y="4103640"/>
            <a:ext cx="187200" cy="65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740"/>
              </a:lnSpc>
            </a:pPr>
            <a:r>
              <a:rPr lang="zh-CN" sz="1240" b="1" u="none" strike="noStrike">
                <a:solidFill>
                  <a:srgbClr val="494848"/>
                </a:solidFill>
                <a:effectLst/>
                <a:uFillTx/>
                <a:latin typeface="メイリオ"/>
                <a:ea typeface="メイリオ"/>
              </a:rPr>
              <a:t>必要性</a:t>
            </a:r>
            <a:endParaRPr lang="en-US" sz="1240" b="0" u="none" strike="noStrike">
              <a:solidFill>
                <a:srgbClr val="000000"/>
              </a:solidFill>
              <a:effectLst/>
              <a:uFillTx/>
              <a:latin typeface="Arial"/>
            </a:endParaRPr>
          </a:p>
        </p:txBody>
      </p:sp>
      <p:sp>
        <p:nvSpPr>
          <p:cNvPr id="843" name="TextBox 29"/>
          <p:cNvSpPr/>
          <p:nvPr/>
        </p:nvSpPr>
        <p:spPr>
          <a:xfrm>
            <a:off x="2530800" y="6132600"/>
            <a:ext cx="63324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740"/>
              </a:lnSpc>
            </a:pPr>
            <a:r>
              <a:rPr lang="zh-CN" sz="1240" b="1" u="none" strike="noStrike">
                <a:solidFill>
                  <a:srgbClr val="494848"/>
                </a:solidFill>
                <a:effectLst/>
                <a:uFillTx/>
                <a:latin typeface="メイリオ"/>
                <a:ea typeface="メイリオ"/>
              </a:rPr>
              <a:t>緊急性</a:t>
            </a:r>
            <a:endParaRPr lang="en-US" sz="1240" b="0" u="none" strike="noStrike">
              <a:solidFill>
                <a:srgbClr val="000000"/>
              </a:solidFill>
              <a:effectLst/>
              <a:uFillTx/>
              <a:latin typeface="Arial"/>
            </a:endParaRPr>
          </a:p>
        </p:txBody>
      </p:sp>
      <p:sp>
        <p:nvSpPr>
          <p:cNvPr id="844" name="TextBox 30"/>
          <p:cNvSpPr/>
          <p:nvPr/>
        </p:nvSpPr>
        <p:spPr>
          <a:xfrm>
            <a:off x="3462480" y="3120120"/>
            <a:ext cx="63324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今すぐ客</a:t>
            </a:r>
            <a:endParaRPr lang="en-US" sz="1240" b="0" u="none" strike="noStrike">
              <a:solidFill>
                <a:srgbClr val="000000"/>
              </a:solidFill>
              <a:effectLst/>
              <a:uFillTx/>
              <a:latin typeface="Arial"/>
            </a:endParaRPr>
          </a:p>
        </p:txBody>
      </p:sp>
      <p:sp>
        <p:nvSpPr>
          <p:cNvPr id="845" name="TextBox 31"/>
          <p:cNvSpPr/>
          <p:nvPr/>
        </p:nvSpPr>
        <p:spPr>
          <a:xfrm>
            <a:off x="1381680" y="311544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そのうち客</a:t>
            </a:r>
            <a:endParaRPr lang="en-US" sz="1240" b="0" u="none" strike="noStrike">
              <a:solidFill>
                <a:srgbClr val="000000"/>
              </a:solidFill>
              <a:effectLst/>
              <a:uFillTx/>
              <a:latin typeface="Arial"/>
            </a:endParaRPr>
          </a:p>
        </p:txBody>
      </p:sp>
      <p:sp>
        <p:nvSpPr>
          <p:cNvPr id="846" name="TextBox 32"/>
          <p:cNvSpPr/>
          <p:nvPr/>
        </p:nvSpPr>
        <p:spPr>
          <a:xfrm>
            <a:off x="1415160" y="438480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FFFFFF"/>
                </a:solidFill>
                <a:effectLst/>
                <a:uFillTx/>
                <a:latin typeface="メイリオ"/>
                <a:ea typeface="メイリオ"/>
              </a:rPr>
              <a:t>まだまだ客</a:t>
            </a:r>
            <a:endParaRPr lang="en-US" sz="1240" b="0" u="none" strike="noStrike">
              <a:solidFill>
                <a:srgbClr val="000000"/>
              </a:solidFill>
              <a:effectLst/>
              <a:uFillTx/>
              <a:latin typeface="Arial"/>
            </a:endParaRPr>
          </a:p>
        </p:txBody>
      </p:sp>
      <p:sp>
        <p:nvSpPr>
          <p:cNvPr id="847" name="TextBox 33"/>
          <p:cNvSpPr/>
          <p:nvPr/>
        </p:nvSpPr>
        <p:spPr>
          <a:xfrm>
            <a:off x="3344760" y="438480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お悩み客</a:t>
            </a:r>
            <a:endParaRPr lang="en-US" sz="1240" b="0" u="none" strike="noStrike">
              <a:solidFill>
                <a:srgbClr val="000000"/>
              </a:solidFill>
              <a:effectLst/>
              <a:uFillTx/>
              <a:latin typeface="Arial"/>
            </a:endParaRPr>
          </a:p>
        </p:txBody>
      </p:sp>
      <p:sp>
        <p:nvSpPr>
          <p:cNvPr id="848" name="TextBox 34"/>
          <p:cNvSpPr/>
          <p:nvPr/>
        </p:nvSpPr>
        <p:spPr>
          <a:xfrm>
            <a:off x="3462480" y="3384360"/>
            <a:ext cx="633240" cy="28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1-2</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49" name="TextBox 35"/>
          <p:cNvSpPr/>
          <p:nvPr/>
        </p:nvSpPr>
        <p:spPr>
          <a:xfrm>
            <a:off x="1385640" y="3384360"/>
            <a:ext cx="92736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9-9.5</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0" name="TextBox 36"/>
          <p:cNvSpPr/>
          <p:nvPr/>
        </p:nvSpPr>
        <p:spPr>
          <a:xfrm>
            <a:off x="3315240" y="4823280"/>
            <a:ext cx="92736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9-9.5</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1" name="TextBox 37"/>
          <p:cNvSpPr/>
          <p:nvPr/>
        </p:nvSpPr>
        <p:spPr>
          <a:xfrm>
            <a:off x="1532880" y="4823280"/>
            <a:ext cx="633240" cy="28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FFFFFF"/>
                </a:solidFill>
                <a:effectLst/>
                <a:uFillTx/>
                <a:latin typeface="メイリオ"/>
                <a:ea typeface="メイリオ"/>
              </a:rPr>
              <a:t>80</a:t>
            </a:r>
            <a:r>
              <a:rPr lang="zh-CN" sz="1560" b="0" u="none" strike="noStrike">
                <a:solidFill>
                  <a:srgbClr val="FFFFFF"/>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2" name="TextBox 38"/>
          <p:cNvSpPr/>
          <p:nvPr/>
        </p:nvSpPr>
        <p:spPr>
          <a:xfrm>
            <a:off x="5800680" y="3159720"/>
            <a:ext cx="378864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zh-CN" sz="1200" b="1" u="none" strike="noStrike">
                <a:solidFill>
                  <a:srgbClr val="494848"/>
                </a:solidFill>
                <a:effectLst/>
                <a:uFillTx/>
                <a:latin typeface="メイリオ"/>
                <a:ea typeface="メイリオ"/>
              </a:rPr>
              <a:t>「今すぐ</a:t>
            </a:r>
            <a:r>
              <a:rPr lang="ja-JP" sz="1200" b="1" u="none" strike="noStrike">
                <a:solidFill>
                  <a:srgbClr val="494848"/>
                </a:solidFill>
                <a:effectLst/>
                <a:uFillTx/>
                <a:latin typeface="メイリオ"/>
                <a:ea typeface="メイリオ"/>
              </a:rPr>
              <a:t>顧客」を高い広告費を投資して獲得するのはリスクが大きい。</a:t>
            </a:r>
            <a:endParaRPr lang="en-US" sz="1200" b="0" u="none" strike="noStrike">
              <a:solidFill>
                <a:srgbClr val="000000"/>
              </a:solidFill>
              <a:effectLst/>
              <a:uFillTx/>
              <a:latin typeface="Arial"/>
            </a:endParaRPr>
          </a:p>
        </p:txBody>
      </p:sp>
      <p:sp>
        <p:nvSpPr>
          <p:cNvPr id="853" name="Freeform 40"/>
          <p:cNvSpPr/>
          <p:nvPr/>
        </p:nvSpPr>
        <p:spPr>
          <a:xfrm rot="5400000">
            <a:off x="5146200" y="42066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00FF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54" name="TextBox 42"/>
          <p:cNvSpPr/>
          <p:nvPr/>
        </p:nvSpPr>
        <p:spPr>
          <a:xfrm>
            <a:off x="5800680" y="4237560"/>
            <a:ext cx="388908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zh-CN" sz="1200" b="1" u="none" strike="noStrike">
                <a:solidFill>
                  <a:srgbClr val="494848"/>
                </a:solidFill>
                <a:effectLst/>
                <a:uFillTx/>
                <a:latin typeface="メイリオ"/>
                <a:ea typeface="メイリオ"/>
              </a:rPr>
              <a:t>リストとして獲得するだけでなく</a:t>
            </a:r>
            <a:endParaRPr lang="en-US" sz="1200" b="0" u="none" strike="noStrike">
              <a:solidFill>
                <a:srgbClr val="000000"/>
              </a:solidFill>
              <a:effectLst/>
              <a:uFillTx/>
              <a:latin typeface="Arial"/>
            </a:endParaRPr>
          </a:p>
          <a:p>
            <a:pPr defTabSz="914400">
              <a:lnSpc>
                <a:spcPts val="2177"/>
              </a:lnSpc>
            </a:pPr>
            <a:r>
              <a:rPr lang="zh-CN" sz="1200" b="1" u="none" strike="noStrike">
                <a:solidFill>
                  <a:srgbClr val="494848"/>
                </a:solidFill>
                <a:effectLst/>
                <a:uFillTx/>
                <a:latin typeface="メイリオ"/>
                <a:ea typeface="メイリオ"/>
              </a:rPr>
              <a:t>「</a:t>
            </a:r>
            <a:r>
              <a:rPr lang="ja-JP" sz="1200" b="1" u="none" strike="noStrike">
                <a:solidFill>
                  <a:srgbClr val="494848"/>
                </a:solidFill>
                <a:effectLst/>
                <a:uFillTx/>
                <a:latin typeface="メイリオ"/>
                <a:ea typeface="メイリオ"/>
              </a:rPr>
              <a:t>将来的な顧客」教育を</a:t>
            </a:r>
            <a:r>
              <a:rPr lang="en-US" sz="1200" b="1" u="none" strike="noStrike">
                <a:solidFill>
                  <a:srgbClr val="494848"/>
                </a:solidFill>
                <a:effectLst/>
                <a:uFillTx/>
                <a:latin typeface="メイリオ"/>
                <a:ea typeface="メイリオ"/>
              </a:rPr>
              <a:t>LINE</a:t>
            </a:r>
            <a:r>
              <a:rPr lang="ja-JP" sz="1200" b="1" u="none" strike="noStrike">
                <a:solidFill>
                  <a:srgbClr val="494848"/>
                </a:solidFill>
                <a:effectLst/>
                <a:uFillTx/>
                <a:latin typeface="メイリオ"/>
                <a:ea typeface="メイリオ"/>
              </a:rPr>
              <a:t>上で構築し行う。</a:t>
            </a:r>
            <a:endParaRPr lang="en-US" sz="1200" b="0" u="none" strike="noStrike">
              <a:solidFill>
                <a:srgbClr val="000000"/>
              </a:solidFill>
              <a:effectLst/>
              <a:uFillTx/>
              <a:latin typeface="Arial"/>
            </a:endParaRPr>
          </a:p>
        </p:txBody>
      </p:sp>
      <p:sp>
        <p:nvSpPr>
          <p:cNvPr id="855" name="AutoShape 43"/>
          <p:cNvSpPr/>
          <p:nvPr/>
        </p:nvSpPr>
        <p:spPr>
          <a:xfrm>
            <a:off x="837360" y="2858760"/>
            <a:ext cx="206064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6" name="AutoShape 44"/>
          <p:cNvSpPr/>
          <p:nvPr/>
        </p:nvSpPr>
        <p:spPr>
          <a:xfrm>
            <a:off x="828720" y="5877000"/>
            <a:ext cx="381096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7" name="AutoShape 45"/>
          <p:cNvSpPr/>
          <p:nvPr/>
        </p:nvSpPr>
        <p:spPr>
          <a:xfrm>
            <a:off x="2889360" y="4056480"/>
            <a:ext cx="175032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8" name="AutoShape 46"/>
          <p:cNvSpPr/>
          <p:nvPr/>
        </p:nvSpPr>
        <p:spPr>
          <a:xfrm>
            <a:off x="4639680" y="4062600"/>
            <a:ext cx="360" cy="182592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59" name="AutoShape 47"/>
          <p:cNvSpPr/>
          <p:nvPr/>
        </p:nvSpPr>
        <p:spPr>
          <a:xfrm>
            <a:off x="2901240" y="2853000"/>
            <a:ext cx="360" cy="121788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60" name="AutoShape 48"/>
          <p:cNvSpPr/>
          <p:nvPr/>
        </p:nvSpPr>
        <p:spPr>
          <a:xfrm>
            <a:off x="840600" y="2862000"/>
            <a:ext cx="360" cy="301500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6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grpSp>
        <p:nvGrpSpPr>
          <p:cNvPr id="862" name="Group 25"/>
          <p:cNvGrpSpPr/>
          <p:nvPr/>
        </p:nvGrpSpPr>
        <p:grpSpPr>
          <a:xfrm>
            <a:off x="4996440" y="5467320"/>
            <a:ext cx="600840" cy="300960"/>
            <a:chOff x="4996440" y="5467320"/>
            <a:chExt cx="600840" cy="300960"/>
          </a:xfrm>
        </p:grpSpPr>
        <p:sp>
          <p:nvSpPr>
            <p:cNvPr id="863" name="Freeform 26"/>
            <p:cNvSpPr/>
            <p:nvPr/>
          </p:nvSpPr>
          <p:spPr>
            <a:xfrm rot="5400000">
              <a:off x="5146200" y="53172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64" name="TextBox 27"/>
            <p:cNvSpPr/>
            <p:nvPr/>
          </p:nvSpPr>
          <p:spPr>
            <a:xfrm rot="5400000">
              <a:off x="5087880" y="546588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65" name="TextBox 38"/>
          <p:cNvSpPr/>
          <p:nvPr/>
        </p:nvSpPr>
        <p:spPr>
          <a:xfrm>
            <a:off x="5800680" y="5349240"/>
            <a:ext cx="378864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200" b="1" u="none" strike="noStrike">
                <a:solidFill>
                  <a:srgbClr val="494848"/>
                </a:solidFill>
                <a:effectLst/>
                <a:uFillTx/>
                <a:latin typeface="メイリオ"/>
                <a:ea typeface="メイリオ"/>
              </a:rPr>
              <a:t>広告審査がないうえに、ユーザー接点を早めることで大量かつ高効率での獲得を見込むことが出来る。</a:t>
            </a:r>
            <a:endParaRPr lang="en-US" sz="1200" b="0" u="none" strike="noStrike">
              <a:solidFill>
                <a:srgbClr val="000000"/>
              </a:solidFill>
              <a:effectLst/>
              <a:uFillTx/>
              <a:latin typeface="Arial"/>
            </a:endParaRPr>
          </a:p>
        </p:txBody>
      </p:sp>
      <p:sp>
        <p:nvSpPr>
          <p:cNvPr id="866" name="正方形/長方形 66"/>
          <p:cNvSpPr/>
          <p:nvPr/>
        </p:nvSpPr>
        <p:spPr>
          <a:xfrm>
            <a:off x="0" y="1550160"/>
            <a:ext cx="9905760" cy="9979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67" name="正方形/長方形 68"/>
          <p:cNvSpPr/>
          <p:nvPr/>
        </p:nvSpPr>
        <p:spPr>
          <a:xfrm>
            <a:off x="1415160" y="1777680"/>
            <a:ext cx="313560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1400" b="0" u="none" strike="noStrike">
                <a:solidFill>
                  <a:schemeClr val="dk1"/>
                </a:solidFill>
                <a:effectLst/>
                <a:uFillTx/>
                <a:latin typeface="Meiryo"/>
                <a:ea typeface="Meiryo"/>
              </a:rPr>
              <a:t>WEB</a:t>
            </a:r>
            <a:r>
              <a:rPr lang="ja-JP" sz="1400" b="0" u="none" strike="noStrike">
                <a:solidFill>
                  <a:schemeClr val="dk1"/>
                </a:solidFill>
                <a:effectLst/>
                <a:uFillTx/>
                <a:latin typeface="Meiryo"/>
                <a:ea typeface="Meiryo"/>
              </a:rPr>
              <a:t>広告における</a:t>
            </a:r>
            <a:r>
              <a:rPr lang="ja-JP" sz="1400" b="1" u="none" strike="noStrike">
                <a:solidFill>
                  <a:schemeClr val="dk1"/>
                </a:solidFill>
                <a:effectLst/>
                <a:uFillTx/>
                <a:latin typeface="Meiryo"/>
                <a:ea typeface="Meiryo"/>
              </a:rPr>
              <a:t>競合性が高</a:t>
            </a:r>
            <a:r>
              <a:rPr lang="ja-JP" sz="1400" b="0" u="none" strike="noStrike">
                <a:solidFill>
                  <a:schemeClr val="dk1"/>
                </a:solidFill>
                <a:effectLst/>
                <a:uFillTx/>
                <a:latin typeface="Meiryo"/>
                <a:ea typeface="Meiryo"/>
              </a:rPr>
              <a:t>くなり</a:t>
            </a:r>
            <a:endParaRPr lang="en-US" sz="1400" b="0" u="none" strike="noStrike">
              <a:solidFill>
                <a:srgbClr val="000000"/>
              </a:solidFill>
              <a:effectLst/>
              <a:uFillTx/>
              <a:latin typeface="Arial"/>
            </a:endParaRPr>
          </a:p>
          <a:p>
            <a:pPr algn="ctr" defTabSz="914400">
              <a:lnSpc>
                <a:spcPct val="100000"/>
              </a:lnSpc>
            </a:pPr>
            <a:r>
              <a:rPr lang="ja-JP" sz="1400" b="1" u="none" strike="noStrike">
                <a:solidFill>
                  <a:srgbClr val="FF0000"/>
                </a:solidFill>
                <a:effectLst/>
                <a:uFillTx/>
                <a:latin typeface="Meiryo"/>
                <a:ea typeface="Meiryo"/>
              </a:rPr>
              <a:t>単価指標（</a:t>
            </a:r>
            <a:r>
              <a:rPr lang="en-US" sz="1400" b="1" u="none" strike="noStrike">
                <a:solidFill>
                  <a:srgbClr val="FF0000"/>
                </a:solidFill>
                <a:effectLst/>
                <a:uFillTx/>
                <a:latin typeface="Meiryo"/>
                <a:ea typeface="Meiryo"/>
              </a:rPr>
              <a:t>CPC</a:t>
            </a:r>
            <a:r>
              <a:rPr lang="ja-JP" sz="1400" b="1" u="none" strike="noStrike">
                <a:solidFill>
                  <a:srgbClr val="FF0000"/>
                </a:solidFill>
                <a:effectLst/>
                <a:uFillTx/>
                <a:latin typeface="Meiryo"/>
                <a:ea typeface="Meiryo"/>
              </a:rPr>
              <a:t>及び</a:t>
            </a:r>
            <a:r>
              <a:rPr lang="en-US" sz="1400" b="1" u="none" strike="noStrike">
                <a:solidFill>
                  <a:srgbClr val="FF0000"/>
                </a:solidFill>
                <a:effectLst/>
                <a:uFillTx/>
                <a:latin typeface="Meiryo"/>
                <a:ea typeface="Meiryo"/>
              </a:rPr>
              <a:t>CPA</a:t>
            </a:r>
            <a:r>
              <a:rPr lang="ja-JP" sz="1400" b="1" u="none" strike="noStrike">
                <a:solidFill>
                  <a:srgbClr val="FF0000"/>
                </a:solidFill>
                <a:effectLst/>
                <a:uFillTx/>
                <a:latin typeface="Meiryo"/>
                <a:ea typeface="Meiryo"/>
              </a:rPr>
              <a:t>）が高騰</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p:txBody>
      </p:sp>
      <p:sp>
        <p:nvSpPr>
          <p:cNvPr id="868" name="正方形/長方形 70"/>
          <p:cNvSpPr/>
          <p:nvPr/>
        </p:nvSpPr>
        <p:spPr>
          <a:xfrm>
            <a:off x="5717880" y="1781640"/>
            <a:ext cx="377352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1400" b="0" u="none" strike="noStrike">
                <a:solidFill>
                  <a:schemeClr val="dk1"/>
                </a:solidFill>
                <a:effectLst/>
                <a:uFillTx/>
                <a:latin typeface="Meiryo"/>
                <a:ea typeface="Meiryo"/>
              </a:rPr>
              <a:t>集客施策における</a:t>
            </a:r>
            <a:r>
              <a:rPr lang="en-US" sz="1400" b="1" u="none" strike="noStrike">
                <a:solidFill>
                  <a:schemeClr val="dk1"/>
                </a:solidFill>
                <a:effectLst/>
                <a:uFillTx/>
                <a:latin typeface="Meiryo"/>
                <a:ea typeface="Meiryo"/>
              </a:rPr>
              <a:t>CVR</a:t>
            </a:r>
            <a:r>
              <a:rPr lang="ja-JP" sz="1400" b="1" u="none" strike="noStrike">
                <a:solidFill>
                  <a:schemeClr val="dk1"/>
                </a:solidFill>
                <a:effectLst/>
                <a:uFillTx/>
                <a:latin typeface="Meiryo"/>
                <a:ea typeface="Meiryo"/>
              </a:rPr>
              <a:t>は高くても</a:t>
            </a:r>
            <a:r>
              <a:rPr lang="en-US" sz="1400" b="1" u="none" strike="noStrike">
                <a:solidFill>
                  <a:schemeClr val="dk1"/>
                </a:solidFill>
                <a:effectLst/>
                <a:uFillTx/>
                <a:latin typeface="Meiryo"/>
                <a:ea typeface="Meiryo"/>
              </a:rPr>
              <a:t>2%</a:t>
            </a:r>
            <a:r>
              <a:rPr lang="ja-JP" sz="1400" b="1" u="none" strike="noStrike">
                <a:solidFill>
                  <a:schemeClr val="dk1"/>
                </a:solidFill>
                <a:effectLst/>
                <a:uFillTx/>
                <a:latin typeface="Meiryo"/>
                <a:ea typeface="Meiryo"/>
              </a:rPr>
              <a:t>程度</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a:p>
            <a:pPr algn="ctr" defTabSz="914400">
              <a:lnSpc>
                <a:spcPct val="100000"/>
              </a:lnSpc>
            </a:pPr>
            <a:r>
              <a:rPr lang="en-US" sz="1400" b="0" u="none" strike="noStrike">
                <a:solidFill>
                  <a:srgbClr val="FF0000"/>
                </a:solidFill>
                <a:effectLst/>
                <a:uFillTx/>
                <a:latin typeface="Meiryo"/>
                <a:ea typeface="Meiryo"/>
              </a:rPr>
              <a:t>CV</a:t>
            </a:r>
            <a:r>
              <a:rPr lang="ja-JP" sz="1400" b="0" u="none" strike="noStrike">
                <a:solidFill>
                  <a:srgbClr val="FF0000"/>
                </a:solidFill>
                <a:effectLst/>
                <a:uFillTx/>
                <a:latin typeface="Meiryo"/>
                <a:ea typeface="Meiryo"/>
              </a:rPr>
              <a:t>に至らず離脱するユーザーが大部分</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p:txBody>
      </p:sp>
      <p:sp>
        <p:nvSpPr>
          <p:cNvPr id="869" name="Freeform 12"/>
          <p:cNvSpPr/>
          <p:nvPr/>
        </p:nvSpPr>
        <p:spPr>
          <a:xfrm>
            <a:off x="4853160" y="1823040"/>
            <a:ext cx="823320" cy="425880"/>
          </a:xfrm>
          <a:custGeom>
            <a:avLst/>
            <a:gdLst>
              <a:gd name="textAreaLeft" fmla="*/ 0 w 823320"/>
              <a:gd name="textAreaRight" fmla="*/ 823680 w 823320"/>
              <a:gd name="textAreaTop" fmla="*/ 0 h 425880"/>
              <a:gd name="textAreaBottom" fmla="*/ 426240 h 42588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800" b="1" u="none" strike="noStrike">
                <a:solidFill>
                  <a:schemeClr val="dk1"/>
                </a:solidFill>
                <a:effectLst/>
                <a:uFillTx/>
                <a:latin typeface="メイリオ"/>
                <a:ea typeface="メイリオ"/>
              </a:rPr>
              <a:t>CVR</a:t>
            </a:r>
            <a:endParaRPr lang="en-US" sz="1800" b="0" u="none" strike="noStrike">
              <a:solidFill>
                <a:srgbClr val="000000"/>
              </a:solidFill>
              <a:effectLst/>
              <a:uFillTx/>
              <a:latin typeface="Arial"/>
            </a:endParaRPr>
          </a:p>
        </p:txBody>
      </p:sp>
      <p:sp>
        <p:nvSpPr>
          <p:cNvPr id="870" name="Freeform 12"/>
          <p:cNvSpPr/>
          <p:nvPr/>
        </p:nvSpPr>
        <p:spPr>
          <a:xfrm>
            <a:off x="555120" y="1809000"/>
            <a:ext cx="823320" cy="425880"/>
          </a:xfrm>
          <a:custGeom>
            <a:avLst/>
            <a:gdLst>
              <a:gd name="textAreaLeft" fmla="*/ 0 w 823320"/>
              <a:gd name="textAreaRight" fmla="*/ 823680 w 823320"/>
              <a:gd name="textAreaTop" fmla="*/ 0 h 425880"/>
              <a:gd name="textAreaBottom" fmla="*/ 426240 h 42588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800" b="1" u="none" strike="noStrike">
                <a:solidFill>
                  <a:schemeClr val="dk1"/>
                </a:solidFill>
                <a:effectLst/>
                <a:uFillTx/>
                <a:latin typeface="メイリオ"/>
                <a:ea typeface="メイリオ"/>
              </a:rPr>
              <a:t>CPC</a:t>
            </a:r>
            <a:endParaRPr lang="en-US" sz="1800" b="0" u="none" strike="noStrike">
              <a:solidFill>
                <a:srgbClr val="000000"/>
              </a:solidFill>
              <a:effectLst/>
              <a:uFillTx/>
              <a:latin typeface="Arial"/>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1"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872" name="正方形/長方形 3"/>
          <p:cNvSpPr/>
          <p:nvPr/>
        </p:nvSpPr>
        <p:spPr>
          <a:xfrm>
            <a:off x="796320" y="635040"/>
            <a:ext cx="832788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利用年齢層により変動はするものの、</a:t>
            </a:r>
            <a:r>
              <a:rPr lang="en-US" sz="1400" b="0" u="none" strike="noStrike">
                <a:solidFill>
                  <a:srgbClr val="343434"/>
                </a:solidFill>
                <a:effectLst/>
                <a:uFillTx/>
                <a:latin typeface="メイリオ"/>
                <a:ea typeface="メイリオ"/>
              </a:rPr>
              <a:t>10-40</a:t>
            </a:r>
            <a:r>
              <a:rPr lang="ja-JP" sz="1400" b="0" u="none" strike="noStrike">
                <a:solidFill>
                  <a:srgbClr val="343434"/>
                </a:solidFill>
                <a:effectLst/>
                <a:uFillTx/>
                <a:latin typeface="メイリオ"/>
                <a:ea typeface="メイリオ"/>
              </a:rPr>
              <a:t>代を中心に電話、メールを忌避する動きが強まっている。</a:t>
            </a:r>
            <a:endParaRPr lang="en-US" sz="1400" b="0" u="none" strike="noStrike">
              <a:solidFill>
                <a:srgbClr val="000000"/>
              </a:solidFill>
              <a:effectLst/>
              <a:uFillTx/>
              <a:latin typeface="Arial"/>
            </a:endParaRPr>
          </a:p>
          <a:p>
            <a:pPr algn="ctr" defTabSz="914400">
              <a:lnSpc>
                <a:spcPts val="2455"/>
              </a:lnSpc>
            </a:pPr>
            <a:r>
              <a:rPr lang="ja-JP" sz="1400" b="1" u="none" strike="noStrike">
                <a:solidFill>
                  <a:srgbClr val="343434"/>
                </a:solidFill>
                <a:effectLst/>
                <a:uFillTx/>
                <a:latin typeface="メイリオ"/>
                <a:ea typeface="メイリオ"/>
              </a:rPr>
              <a:t>既存ユーザー以外の年齢層の獲得にあたって、利用率の高い</a:t>
            </a:r>
            <a:r>
              <a:rPr lang="en-US" sz="1400" b="1" u="none" strike="noStrike">
                <a:solidFill>
                  <a:srgbClr val="343434"/>
                </a:solidFill>
                <a:effectLst/>
                <a:uFillTx/>
                <a:latin typeface="メイリオ"/>
                <a:ea typeface="メイリオ"/>
              </a:rPr>
              <a:t>LINEOA</a:t>
            </a:r>
            <a:r>
              <a:rPr lang="ja-JP" sz="1400" b="1" u="none" strike="noStrike">
                <a:solidFill>
                  <a:srgbClr val="343434"/>
                </a:solidFill>
                <a:effectLst/>
                <a:uFillTx/>
                <a:latin typeface="メイリオ"/>
                <a:ea typeface="メイリオ"/>
              </a:rPr>
              <a:t>施策が非常に重要と想定</a:t>
            </a:r>
            <a:r>
              <a:rPr lang="ja-JP" sz="1400" b="0" u="none" strike="noStrike">
                <a:solidFill>
                  <a:srgbClr val="343434"/>
                </a:solidFill>
                <a:effectLst/>
                <a:uFillTx/>
                <a:latin typeface="メイリオ"/>
                <a:ea typeface="メイリオ"/>
              </a:rPr>
              <a:t>される。</a:t>
            </a:r>
            <a:endParaRPr lang="en-US" sz="1400" b="0" u="none" strike="noStrike">
              <a:solidFill>
                <a:srgbClr val="000000"/>
              </a:solidFill>
              <a:effectLst/>
              <a:uFillTx/>
              <a:latin typeface="Arial"/>
            </a:endParaRPr>
          </a:p>
        </p:txBody>
      </p:sp>
      <p:cxnSp>
        <p:nvCxnSpPr>
          <p:cNvPr id="873"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874"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graphicFrame>
        <p:nvGraphicFramePr>
          <p:cNvPr id="875" name="表 49"/>
          <p:cNvGraphicFramePr/>
          <p:nvPr/>
        </p:nvGraphicFramePr>
        <p:xfrm>
          <a:off x="367560" y="1662840"/>
          <a:ext cx="9168120" cy="4493880"/>
        </p:xfrm>
        <a:graphic>
          <a:graphicData uri="http://schemas.openxmlformats.org/drawingml/2006/table">
            <a:tbl>
              <a:tblPr/>
              <a:tblGrid>
                <a:gridCol w="1833480">
                  <a:extLst>
                    <a:ext uri="{9D8B030D-6E8A-4147-A177-3AD203B41FA5}">
                      <a16:colId xmlns:a16="http://schemas.microsoft.com/office/drawing/2014/main" val="20000"/>
                    </a:ext>
                  </a:extLst>
                </a:gridCol>
                <a:gridCol w="1833480">
                  <a:extLst>
                    <a:ext uri="{9D8B030D-6E8A-4147-A177-3AD203B41FA5}">
                      <a16:colId xmlns:a16="http://schemas.microsoft.com/office/drawing/2014/main" val="20001"/>
                    </a:ext>
                  </a:extLst>
                </a:gridCol>
                <a:gridCol w="1833480">
                  <a:extLst>
                    <a:ext uri="{9D8B030D-6E8A-4147-A177-3AD203B41FA5}">
                      <a16:colId xmlns:a16="http://schemas.microsoft.com/office/drawing/2014/main" val="20002"/>
                    </a:ext>
                  </a:extLst>
                </a:gridCol>
                <a:gridCol w="1833480">
                  <a:extLst>
                    <a:ext uri="{9D8B030D-6E8A-4147-A177-3AD203B41FA5}">
                      <a16:colId xmlns:a16="http://schemas.microsoft.com/office/drawing/2014/main" val="20003"/>
                    </a:ext>
                  </a:extLst>
                </a:gridCol>
                <a:gridCol w="1833480">
                  <a:extLst>
                    <a:ext uri="{9D8B030D-6E8A-4147-A177-3AD203B41FA5}">
                      <a16:colId xmlns:a16="http://schemas.microsoft.com/office/drawing/2014/main" val="20004"/>
                    </a:ext>
                  </a:extLst>
                </a:gridCol>
              </a:tblGrid>
              <a:tr h="499320">
                <a:tc>
                  <a:txBody>
                    <a:bodyPr/>
                    <a:lstStyle/>
                    <a:p>
                      <a:pPr algn="ctr" defTabSz="914400">
                        <a:lnSpc>
                          <a:spcPct val="100000"/>
                        </a:lnSpc>
                      </a:pPr>
                      <a:r>
                        <a:rPr lang="ja-JP" sz="1050" b="1" u="none" strike="noStrike">
                          <a:solidFill>
                            <a:srgbClr val="000000"/>
                          </a:solidFill>
                          <a:effectLst/>
                          <a:uFillTx/>
                          <a:latin typeface="メイリオ"/>
                          <a:ea typeface="メイリオ"/>
                        </a:rPr>
                        <a:t>年齢層</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LINE</a:t>
                      </a:r>
                      <a:r>
                        <a:rPr lang="ja-JP" sz="1000" b="0" u="none" strike="noStrike">
                          <a:solidFill>
                            <a:srgbClr val="000000"/>
                          </a:solidFill>
                          <a:effectLst/>
                          <a:uFillTx/>
                          <a:latin typeface="メイリオ"/>
                          <a:ea typeface="メイリオ"/>
                        </a:rPr>
                        <a:t>・チャット系</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メール・メルマガ</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電話</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主要な特徴・</a:t>
                      </a:r>
                      <a:r>
                        <a:rPr lang="en-US" sz="1000" b="0" u="none" strike="noStrike">
                          <a:solidFill>
                            <a:srgbClr val="000000"/>
                          </a:solidFill>
                          <a:effectLst/>
                          <a:uFillTx/>
                          <a:latin typeface="メイリオ"/>
                          <a:ea typeface="メイリオ"/>
                        </a:rPr>
                        <a:t>SNS</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extLst>
                  <a:ext uri="{0D108BD9-81ED-4DB2-BD59-A6C34878D82A}">
                    <a16:rowId xmlns:a16="http://schemas.microsoft.com/office/drawing/2014/main" val="10000"/>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10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20</a:t>
                      </a:r>
                      <a:r>
                        <a:rPr lang="ja-JP" sz="1050" b="1" u="none" strike="noStrike">
                          <a:solidFill>
                            <a:srgbClr val="000000"/>
                          </a:solidFill>
                          <a:effectLst/>
                          <a:uFillTx/>
                          <a:latin typeface="メイリオ"/>
                          <a:ea typeface="メイリオ"/>
                        </a:rPr>
                        <a:t>代　</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90%</a:t>
                      </a:r>
                      <a:r>
                        <a:rPr lang="ja-JP" sz="1000" b="1" u="none" strike="noStrike">
                          <a:solidFill>
                            <a:srgbClr val="000000"/>
                          </a:solidFill>
                          <a:effectLst/>
                          <a:uFillTx/>
                          <a:latin typeface="メイリオ"/>
                          <a:ea typeface="メイリオ"/>
                        </a:rPr>
                        <a:t>以上</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利用率：低</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利用率：極めて低</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Tiktok YouTube</a:t>
                      </a:r>
                      <a:r>
                        <a:rPr lang="ja-JP" sz="800" b="0" u="none" strike="noStrike">
                          <a:solidFill>
                            <a:srgbClr val="000000"/>
                          </a:solidFill>
                          <a:effectLst/>
                          <a:uFillTx/>
                          <a:latin typeface="メイリオ"/>
                          <a:ea typeface="メイリオ"/>
                        </a:rPr>
                        <a:t>が情報収集の起点。</a:t>
                      </a:r>
                      <a:br>
                        <a:rPr sz="800"/>
                      </a:br>
                      <a:r>
                        <a:rPr lang="en-US" sz="800" b="0" u="none" strike="noStrike">
                          <a:solidFill>
                            <a:srgbClr val="000000"/>
                          </a:solidFill>
                          <a:effectLst/>
                          <a:uFillTx/>
                          <a:latin typeface="メイリオ"/>
                          <a:ea typeface="メイリオ"/>
                        </a:rPr>
                        <a:t>Instagram</a:t>
                      </a:r>
                      <a:r>
                        <a:rPr lang="ja-JP" sz="800" b="0" u="none" strike="noStrike">
                          <a:solidFill>
                            <a:srgbClr val="000000"/>
                          </a:solidFill>
                          <a:effectLst/>
                          <a:uFillTx/>
                          <a:latin typeface="メイリオ"/>
                          <a:ea typeface="メイリオ"/>
                        </a:rPr>
                        <a:t>、</a:t>
                      </a:r>
                      <a:r>
                        <a:rPr lang="en-US" sz="800" b="0" u="none" strike="noStrike">
                          <a:solidFill>
                            <a:srgbClr val="000000"/>
                          </a:solidFill>
                          <a:effectLst/>
                          <a:uFillTx/>
                          <a:latin typeface="メイリオ"/>
                          <a:ea typeface="メイリオ"/>
                        </a:rPr>
                        <a:t>X</a:t>
                      </a:r>
                      <a:r>
                        <a:rPr lang="ja-JP" sz="800" b="0" u="none" strike="noStrike">
                          <a:solidFill>
                            <a:srgbClr val="000000"/>
                          </a:solidFill>
                          <a:effectLst/>
                          <a:uFillTx/>
                          <a:latin typeface="メイリオ"/>
                          <a:ea typeface="メイリオ"/>
                        </a:rPr>
                        <a:t>の</a:t>
                      </a:r>
                      <a:r>
                        <a:rPr lang="en-US" sz="800" b="0" u="none" strike="noStrike">
                          <a:solidFill>
                            <a:srgbClr val="000000"/>
                          </a:solidFill>
                          <a:effectLst/>
                          <a:uFillTx/>
                          <a:latin typeface="メイリオ"/>
                          <a:ea typeface="メイリオ"/>
                        </a:rPr>
                        <a:t>DM</a:t>
                      </a:r>
                      <a:r>
                        <a:rPr lang="ja-JP" sz="800" b="0" u="none" strike="noStrike">
                          <a:solidFill>
                            <a:srgbClr val="000000"/>
                          </a:solidFill>
                          <a:effectLst/>
                          <a:uFillTx/>
                          <a:latin typeface="メイリオ"/>
                          <a:ea typeface="メイリオ"/>
                        </a:rPr>
                        <a:t>も</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連絡網として活用。</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1"/>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日常連絡の絶対的インフラ。</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企業や公式からの連絡は</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読まれない傾向。</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「電話恐怖症」を持つ人も。</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2"/>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30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40</a:t>
                      </a:r>
                      <a:r>
                        <a:rPr lang="ja-JP" sz="1050" b="1" u="none" strike="noStrike">
                          <a:solidFill>
                            <a:srgbClr val="000000"/>
                          </a:solidFill>
                          <a:effectLst/>
                          <a:uFillTx/>
                          <a:latin typeface="メイリオ"/>
                          <a:ea typeface="メイリオ"/>
                        </a:rPr>
                        <a:t>代</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90%</a:t>
                      </a:r>
                      <a:r>
                        <a:rPr lang="ja-JP" sz="1000" b="1" u="none" strike="noStrike">
                          <a:solidFill>
                            <a:srgbClr val="000000"/>
                          </a:solidFill>
                          <a:effectLst/>
                          <a:uFillTx/>
                          <a:latin typeface="メイリオ"/>
                          <a:ea typeface="メイリオ"/>
                        </a:rPr>
                        <a:t>以上</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利用率：中〜高</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利用率：中</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Facebook</a:t>
                      </a:r>
                      <a:r>
                        <a:rPr lang="ja-JP" sz="800" b="0" u="none" strike="noStrike">
                          <a:solidFill>
                            <a:srgbClr val="000000"/>
                          </a:solidFill>
                          <a:effectLst/>
                          <a:uFillTx/>
                          <a:latin typeface="メイリオ"/>
                          <a:ea typeface="メイリオ"/>
                        </a:rPr>
                        <a:t>や</a:t>
                      </a:r>
                      <a:r>
                        <a:rPr lang="en-US" sz="800" b="0" u="none" strike="noStrike">
                          <a:solidFill>
                            <a:srgbClr val="000000"/>
                          </a:solidFill>
                          <a:effectLst/>
                          <a:uFillTx/>
                          <a:latin typeface="メイリオ"/>
                          <a:ea typeface="メイリオ"/>
                        </a:rPr>
                        <a:t>X</a:t>
                      </a:r>
                      <a:r>
                        <a:rPr lang="ja-JP" sz="800" b="0" u="none" strike="noStrike">
                          <a:solidFill>
                            <a:srgbClr val="000000"/>
                          </a:solidFill>
                          <a:effectLst/>
                          <a:uFillTx/>
                          <a:latin typeface="メイリオ"/>
                          <a:ea typeface="メイリオ"/>
                        </a:rPr>
                        <a:t>での情報収集が活発。</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3"/>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プライベートの連絡網。</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仕事や、メルマガでの</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セールス情報に抵抗なし。</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プライベートでは減少傾向も</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仕事では必須。</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4"/>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50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60</a:t>
                      </a:r>
                      <a:r>
                        <a:rPr lang="ja-JP" sz="1050" b="1" u="none" strike="noStrike">
                          <a:solidFill>
                            <a:srgbClr val="000000"/>
                          </a:solidFill>
                          <a:effectLst/>
                          <a:uFillTx/>
                          <a:latin typeface="メイリオ"/>
                          <a:ea typeface="メイリオ"/>
                        </a:rPr>
                        <a:t>代</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80%</a:t>
                      </a:r>
                      <a:r>
                        <a:rPr lang="ja-JP" sz="1000" b="1" u="none" strike="noStrike">
                          <a:solidFill>
                            <a:srgbClr val="000000"/>
                          </a:solidFill>
                          <a:effectLst/>
                          <a:uFillTx/>
                          <a:latin typeface="メイリオ"/>
                          <a:ea typeface="メイリオ"/>
                        </a:rPr>
                        <a:t>〜</a:t>
                      </a:r>
                      <a:r>
                        <a:rPr lang="en-US" sz="1000" b="1" u="none" strike="noStrike">
                          <a:solidFill>
                            <a:srgbClr val="000000"/>
                          </a:solidFill>
                          <a:effectLst/>
                          <a:uFillTx/>
                          <a:latin typeface="メイリオ"/>
                          <a:ea typeface="メイリオ"/>
                        </a:rPr>
                        <a:t>90%</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YouTube</a:t>
                      </a:r>
                      <a:r>
                        <a:rPr lang="ja-JP" sz="800" b="0" u="none" strike="noStrike">
                          <a:solidFill>
                            <a:srgbClr val="000000"/>
                          </a:solidFill>
                          <a:effectLst/>
                          <a:uFillTx/>
                          <a:latin typeface="メイリオ"/>
                          <a:ea typeface="メイリオ"/>
                        </a:rPr>
                        <a:t>での趣味動画視聴も普及。</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5"/>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家族や友人との連絡で定着。</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最も好まれる企業からの</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情報受取ツール。</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予約や急ぎの用件で信頼性が高い。</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6"/>
                  </a:ext>
                </a:extLst>
              </a:tr>
              <a:tr h="499320">
                <a:tc rowSpan="2">
                  <a:txBody>
                    <a:bodyPr/>
                    <a:lstStyle/>
                    <a:p>
                      <a:pPr algn="ctr" defTabSz="914400">
                        <a:lnSpc>
                          <a:spcPct val="100000"/>
                        </a:lnSpc>
                      </a:pPr>
                      <a:r>
                        <a:rPr lang="en-US" sz="1050" b="1" u="none" strike="noStrike">
                          <a:solidFill>
                            <a:srgbClr val="000000"/>
                          </a:solidFill>
                          <a:effectLst/>
                          <a:uFillTx/>
                          <a:latin typeface="メイリオ"/>
                          <a:ea typeface="メイリオ"/>
                        </a:rPr>
                        <a:t>70</a:t>
                      </a:r>
                      <a:r>
                        <a:rPr lang="ja-JP" sz="1050" b="1" u="none" strike="noStrike">
                          <a:solidFill>
                            <a:srgbClr val="000000"/>
                          </a:solidFill>
                          <a:effectLst/>
                          <a:uFillTx/>
                          <a:latin typeface="メイリオ"/>
                          <a:ea typeface="メイリオ"/>
                        </a:rPr>
                        <a:t>代以上</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70%</a:t>
                      </a:r>
                      <a:r>
                        <a:rPr lang="ja-JP" sz="1000" b="1" u="none" strike="noStrike">
                          <a:solidFill>
                            <a:srgbClr val="000000"/>
                          </a:solidFill>
                          <a:effectLst/>
                          <a:uFillTx/>
                          <a:latin typeface="メイリオ"/>
                          <a:ea typeface="メイリオ"/>
                        </a:rPr>
                        <a:t>前後</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利用率：低い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利用率：最も高い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ja-JP" sz="800" b="0" u="none" strike="noStrike">
                          <a:solidFill>
                            <a:srgbClr val="000000"/>
                          </a:solidFill>
                          <a:effectLst/>
                          <a:uFillTx/>
                          <a:latin typeface="メイリオ"/>
                          <a:ea typeface="メイリオ"/>
                        </a:rPr>
                        <a:t>連絡手段としての電話が</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最優先される層。</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7"/>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高齢者層にも普及が進む。</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操作に不慣れで到達率が下がる。</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重要な連絡や問い合わせは</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電話がメイン。</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6"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877" name="Google Shape;752;p28"/>
          <p:cNvSpPr/>
          <p:nvPr/>
        </p:nvSpPr>
        <p:spPr>
          <a:xfrm>
            <a:off x="711360" y="969480"/>
            <a:ext cx="8353440" cy="52272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algn="ctr" defTabSz="914400">
              <a:lnSpc>
                <a:spcPct val="100000"/>
              </a:lnSpc>
            </a:pPr>
            <a:r>
              <a:rPr lang="en-US" sz="1400" b="0" u="none" strike="noStrike">
                <a:solidFill>
                  <a:schemeClr val="dk1"/>
                </a:solidFill>
                <a:effectLst/>
                <a:uFillTx/>
                <a:latin typeface="メイリオ"/>
                <a:ea typeface="メイリオ"/>
              </a:rPr>
              <a:t>LINE</a:t>
            </a:r>
            <a:r>
              <a:rPr lang="ja-JP" sz="1400" b="0" u="none" strike="noStrike">
                <a:solidFill>
                  <a:schemeClr val="dk1"/>
                </a:solidFill>
                <a:effectLst/>
                <a:uFillTx/>
                <a:latin typeface="メイリオ"/>
                <a:ea typeface="メイリオ"/>
              </a:rPr>
              <a:t>公式アカウントの施策内（開封率、クリック率、</a:t>
            </a:r>
            <a:r>
              <a:rPr lang="en-US" sz="1400" b="0" u="none" strike="noStrike">
                <a:solidFill>
                  <a:schemeClr val="dk1"/>
                </a:solidFill>
                <a:effectLst/>
                <a:uFillTx/>
                <a:latin typeface="メイリオ"/>
                <a:ea typeface="メイリオ"/>
              </a:rPr>
              <a:t>CV</a:t>
            </a:r>
            <a:r>
              <a:rPr lang="ja-JP" sz="1400" b="0" u="none" strike="noStrike">
                <a:solidFill>
                  <a:schemeClr val="dk1"/>
                </a:solidFill>
                <a:effectLst/>
                <a:uFillTx/>
                <a:latin typeface="メイリオ"/>
                <a:ea typeface="メイリオ"/>
              </a:rPr>
              <a:t>率）で高い水準の施策をご提供。</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メイリオ"/>
                <a:ea typeface="メイリオ"/>
              </a:rPr>
              <a:t>初期設計のみのご依頼でも、大きく数値改善できるポイントの導入支援が可能です。</a:t>
            </a:r>
            <a:endParaRPr lang="en-US" sz="1400" b="0" u="none" strike="noStrike">
              <a:solidFill>
                <a:srgbClr val="000000"/>
              </a:solidFill>
              <a:effectLst/>
              <a:uFillTx/>
              <a:latin typeface="Arial"/>
            </a:endParaRPr>
          </a:p>
        </p:txBody>
      </p:sp>
      <p:sp>
        <p:nvSpPr>
          <p:cNvPr id="878" name="正方形/長方形 4"/>
          <p:cNvSpPr/>
          <p:nvPr/>
        </p:nvSpPr>
        <p:spPr>
          <a:xfrm>
            <a:off x="7833600" y="2844720"/>
            <a:ext cx="1438200" cy="267840"/>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endParaRPr lang="en-US" sz="1050" b="0" u="none" strike="noStrike">
              <a:solidFill>
                <a:srgbClr val="FFFFFF"/>
              </a:solidFill>
              <a:effectLst/>
              <a:uFillTx/>
              <a:latin typeface="Arial"/>
            </a:endParaRPr>
          </a:p>
        </p:txBody>
      </p:sp>
      <p:sp>
        <p:nvSpPr>
          <p:cNvPr id="879" name="正方形/長方形 5"/>
          <p:cNvSpPr/>
          <p:nvPr/>
        </p:nvSpPr>
        <p:spPr>
          <a:xfrm>
            <a:off x="7833600" y="2532960"/>
            <a:ext cx="1438200" cy="267840"/>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営業トスアップ</a:t>
            </a:r>
            <a:endParaRPr lang="en-US" sz="1050" b="0" u="none" strike="noStrike">
              <a:solidFill>
                <a:srgbClr val="000000"/>
              </a:solidFill>
              <a:effectLst/>
              <a:uFillTx/>
              <a:latin typeface="Arial"/>
            </a:endParaRPr>
          </a:p>
        </p:txBody>
      </p:sp>
      <p:cxnSp>
        <p:nvCxnSpPr>
          <p:cNvPr id="880" name="直線矢印コネクタ 15"/>
          <p:cNvCxnSpPr/>
          <p:nvPr/>
        </p:nvCxnSpPr>
        <p:spPr>
          <a:xfrm>
            <a:off x="387720" y="2801160"/>
            <a:ext cx="7251120" cy="360"/>
          </a:xfrm>
          <a:prstGeom prst="straightConnector1">
            <a:avLst/>
          </a:prstGeom>
          <a:ln w="28575">
            <a:solidFill>
              <a:srgbClr val="1F497D"/>
            </a:solidFill>
            <a:prstDash val="sysDash"/>
            <a:round/>
            <a:tailEnd type="triangle" w="med" len="med"/>
          </a:ln>
        </p:spPr>
      </p:cxnSp>
      <p:sp>
        <p:nvSpPr>
          <p:cNvPr id="881" name="正方形/長方形 20"/>
          <p:cNvSpPr/>
          <p:nvPr/>
        </p:nvSpPr>
        <p:spPr>
          <a:xfrm>
            <a:off x="7663320" y="2057760"/>
            <a:ext cx="1819800" cy="1127880"/>
          </a:xfrm>
          <a:prstGeom prst="rect">
            <a:avLst/>
          </a:prstGeom>
          <a:no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82" name="テキスト ボックス 22"/>
          <p:cNvSpPr/>
          <p:nvPr/>
        </p:nvSpPr>
        <p:spPr>
          <a:xfrm>
            <a:off x="8033040" y="2122560"/>
            <a:ext cx="108000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rgbClr val="FF0000"/>
                </a:solidFill>
                <a:effectLst/>
                <a:uFillTx/>
                <a:latin typeface="メイリオ"/>
                <a:ea typeface="メイリオ"/>
              </a:rPr>
              <a:t>（成果地点）</a:t>
            </a:r>
            <a:endParaRPr lang="en-US" sz="1100" b="0" u="none" strike="noStrike">
              <a:solidFill>
                <a:srgbClr val="000000"/>
              </a:solidFill>
              <a:effectLst/>
              <a:uFillTx/>
              <a:latin typeface="Arial"/>
            </a:endParaRPr>
          </a:p>
        </p:txBody>
      </p:sp>
      <p:sp>
        <p:nvSpPr>
          <p:cNvPr id="883" name="正方形/長方形 45"/>
          <p:cNvSpPr/>
          <p:nvPr/>
        </p:nvSpPr>
        <p:spPr>
          <a:xfrm>
            <a:off x="2496240" y="2062800"/>
            <a:ext cx="4887720" cy="2483280"/>
          </a:xfrm>
          <a:prstGeom prst="rect">
            <a:avLst/>
          </a:prstGeom>
          <a:solidFill>
            <a:schemeClr val="bg1"/>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84" name="正方形/長方形 46"/>
          <p:cNvSpPr/>
          <p:nvPr/>
        </p:nvSpPr>
        <p:spPr>
          <a:xfrm>
            <a:off x="27277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85" name="正方形/長方形 47"/>
          <p:cNvSpPr/>
          <p:nvPr/>
        </p:nvSpPr>
        <p:spPr>
          <a:xfrm>
            <a:off x="42361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86" name="正方形/長方形 48"/>
          <p:cNvSpPr/>
          <p:nvPr/>
        </p:nvSpPr>
        <p:spPr>
          <a:xfrm>
            <a:off x="57445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87" name="正方形/長方形 49"/>
          <p:cNvSpPr/>
          <p:nvPr/>
        </p:nvSpPr>
        <p:spPr>
          <a:xfrm>
            <a:off x="2635560" y="2541960"/>
            <a:ext cx="4617360" cy="267840"/>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通常メッセージ（企画投稿）</a:t>
            </a:r>
            <a:endParaRPr lang="en-US" sz="1050" b="0" u="none" strike="noStrike">
              <a:solidFill>
                <a:srgbClr val="FFFFFF"/>
              </a:solidFill>
              <a:effectLst/>
              <a:uFillTx/>
              <a:latin typeface="Arial"/>
            </a:endParaRPr>
          </a:p>
        </p:txBody>
      </p:sp>
      <p:sp>
        <p:nvSpPr>
          <p:cNvPr id="888" name="正方形/長方形 50"/>
          <p:cNvSpPr/>
          <p:nvPr/>
        </p:nvSpPr>
        <p:spPr>
          <a:xfrm>
            <a:off x="27277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89" name="正方形/長方形 51"/>
          <p:cNvSpPr/>
          <p:nvPr/>
        </p:nvSpPr>
        <p:spPr>
          <a:xfrm>
            <a:off x="42361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90" name="正方形/長方形 52"/>
          <p:cNvSpPr/>
          <p:nvPr/>
        </p:nvSpPr>
        <p:spPr>
          <a:xfrm>
            <a:off x="57445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91" name="正方形/長方形 53"/>
          <p:cNvSpPr/>
          <p:nvPr/>
        </p:nvSpPr>
        <p:spPr>
          <a:xfrm>
            <a:off x="2635560" y="3211200"/>
            <a:ext cx="4617360" cy="26784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通常メッセージ（ステップ配信投稿）</a:t>
            </a:r>
            <a:endParaRPr lang="en-US" sz="1050" b="0" u="none" strike="noStrike">
              <a:solidFill>
                <a:srgbClr val="FFFFFF"/>
              </a:solidFill>
              <a:effectLst/>
              <a:uFillTx/>
              <a:latin typeface="Arial"/>
            </a:endParaRPr>
          </a:p>
        </p:txBody>
      </p:sp>
      <p:sp>
        <p:nvSpPr>
          <p:cNvPr id="892" name="正方形/長方形 54"/>
          <p:cNvSpPr/>
          <p:nvPr/>
        </p:nvSpPr>
        <p:spPr>
          <a:xfrm>
            <a:off x="27277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93" name="正方形/長方形 55"/>
          <p:cNvSpPr/>
          <p:nvPr/>
        </p:nvSpPr>
        <p:spPr>
          <a:xfrm>
            <a:off x="42361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94" name="正方形/長方形 56"/>
          <p:cNvSpPr/>
          <p:nvPr/>
        </p:nvSpPr>
        <p:spPr>
          <a:xfrm>
            <a:off x="57445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95" name="正方形/長方形 57"/>
          <p:cNvSpPr/>
          <p:nvPr/>
        </p:nvSpPr>
        <p:spPr>
          <a:xfrm>
            <a:off x="2635560" y="3865320"/>
            <a:ext cx="4617360" cy="267840"/>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その他指標（リッチメニュー、プロフ、挨拶メッセ）</a:t>
            </a:r>
            <a:endParaRPr lang="en-US" sz="1050" b="0" u="none" strike="noStrike">
              <a:solidFill>
                <a:srgbClr val="FFFFFF"/>
              </a:solidFill>
              <a:effectLst/>
              <a:uFillTx/>
              <a:latin typeface="Arial"/>
            </a:endParaRPr>
          </a:p>
        </p:txBody>
      </p:sp>
      <p:sp>
        <p:nvSpPr>
          <p:cNvPr id="896" name="テキスト ボックス 58"/>
          <p:cNvSpPr/>
          <p:nvPr/>
        </p:nvSpPr>
        <p:spPr>
          <a:xfrm>
            <a:off x="4152600" y="2126520"/>
            <a:ext cx="15811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chemeClr val="dk2"/>
                </a:solidFill>
                <a:effectLst/>
                <a:uFillTx/>
                <a:latin typeface="メイリオ"/>
                <a:ea typeface="メイリオ"/>
              </a:rPr>
              <a:t>（</a:t>
            </a:r>
            <a:r>
              <a:rPr lang="en-US" sz="1100" b="0" u="none" strike="noStrike">
                <a:solidFill>
                  <a:schemeClr val="dk2"/>
                </a:solidFill>
                <a:effectLst/>
                <a:uFillTx/>
                <a:latin typeface="メイリオ"/>
                <a:ea typeface="メイリオ"/>
              </a:rPr>
              <a:t>LINE</a:t>
            </a:r>
            <a:r>
              <a:rPr lang="ja-JP" sz="1100" b="0" u="none" strike="noStrike">
                <a:solidFill>
                  <a:schemeClr val="dk2"/>
                </a:solidFill>
                <a:effectLst/>
                <a:uFillTx/>
                <a:latin typeface="メイリオ"/>
                <a:ea typeface="メイリオ"/>
              </a:rPr>
              <a:t>施策内）</a:t>
            </a:r>
            <a:endParaRPr lang="en-US" sz="1100" b="0" u="none" strike="noStrike">
              <a:solidFill>
                <a:srgbClr val="000000"/>
              </a:solidFill>
              <a:effectLst/>
              <a:uFillTx/>
              <a:latin typeface="Arial"/>
            </a:endParaRPr>
          </a:p>
        </p:txBody>
      </p:sp>
      <p:sp>
        <p:nvSpPr>
          <p:cNvPr id="897" name="正方形/長方形 64"/>
          <p:cNvSpPr/>
          <p:nvPr/>
        </p:nvSpPr>
        <p:spPr>
          <a:xfrm>
            <a:off x="632160" y="2062800"/>
            <a:ext cx="1581120" cy="2483280"/>
          </a:xfrm>
          <a:prstGeom prst="rect">
            <a:avLst/>
          </a:prstGeom>
          <a:solidFill>
            <a:schemeClr val="bg1"/>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98" name="正方形/長方形 65"/>
          <p:cNvSpPr/>
          <p:nvPr/>
        </p:nvSpPr>
        <p:spPr>
          <a:xfrm>
            <a:off x="703440" y="2666880"/>
            <a:ext cx="1438200" cy="26784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友だち追加</a:t>
            </a:r>
            <a:endParaRPr lang="en-US" sz="1050" b="0" u="none" strike="noStrike">
              <a:solidFill>
                <a:srgbClr val="FFFFFF"/>
              </a:solidFill>
              <a:effectLst/>
              <a:uFillTx/>
              <a:latin typeface="Arial"/>
            </a:endParaRPr>
          </a:p>
        </p:txBody>
      </p:sp>
      <p:sp>
        <p:nvSpPr>
          <p:cNvPr id="899" name="テキスト ボックス 66"/>
          <p:cNvSpPr/>
          <p:nvPr/>
        </p:nvSpPr>
        <p:spPr>
          <a:xfrm>
            <a:off x="632160" y="3030840"/>
            <a:ext cx="15811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000" b="1" u="none" strike="noStrike">
                <a:solidFill>
                  <a:schemeClr val="dk1"/>
                </a:solidFill>
                <a:effectLst/>
                <a:uFillTx/>
                <a:latin typeface="メイリオ"/>
                <a:ea typeface="メイリオ"/>
              </a:rPr>
              <a:t>アクティブ数</a:t>
            </a:r>
            <a:endParaRPr lang="en-US" sz="1000" b="0" u="none" strike="noStrike">
              <a:solidFill>
                <a:srgbClr val="000000"/>
              </a:solidFill>
              <a:effectLst/>
              <a:uFillTx/>
              <a:latin typeface="Arial"/>
            </a:endParaRPr>
          </a:p>
          <a:p>
            <a:pPr algn="ctr" defTabSz="914400">
              <a:lnSpc>
                <a:spcPct val="100000"/>
              </a:lnSpc>
            </a:pPr>
            <a:r>
              <a:rPr lang="ja-JP" sz="800" b="0" u="none" strike="noStrike">
                <a:solidFill>
                  <a:schemeClr val="dk1"/>
                </a:solidFill>
                <a:effectLst/>
                <a:uFillTx/>
                <a:latin typeface="メイリオ"/>
                <a:ea typeface="メイリオ"/>
              </a:rPr>
              <a:t>（非ブロック率）</a:t>
            </a:r>
            <a:endParaRPr lang="en-US" sz="800" b="0" u="none" strike="noStrike">
              <a:solidFill>
                <a:srgbClr val="000000"/>
              </a:solidFill>
              <a:effectLst/>
              <a:uFillTx/>
              <a:latin typeface="Arial"/>
            </a:endParaRPr>
          </a:p>
        </p:txBody>
      </p:sp>
      <p:sp>
        <p:nvSpPr>
          <p:cNvPr id="900" name="テキスト ボックス 67"/>
          <p:cNvSpPr/>
          <p:nvPr/>
        </p:nvSpPr>
        <p:spPr>
          <a:xfrm>
            <a:off x="632160" y="3492360"/>
            <a:ext cx="1581120" cy="553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000" b="1" u="none" strike="noStrike">
                <a:solidFill>
                  <a:schemeClr val="dk1"/>
                </a:solidFill>
                <a:effectLst/>
                <a:uFillTx/>
                <a:latin typeface="メイリオ"/>
                <a:ea typeface="メイリオ"/>
              </a:rPr>
              <a:t>セグメント率</a:t>
            </a:r>
            <a:endParaRPr lang="en-US" sz="1000" b="0" u="none" strike="noStrike">
              <a:solidFill>
                <a:srgbClr val="000000"/>
              </a:solidFill>
              <a:effectLst/>
              <a:uFillTx/>
              <a:latin typeface="Arial"/>
            </a:endParaRPr>
          </a:p>
          <a:p>
            <a:pPr algn="ctr" defTabSz="914400">
              <a:lnSpc>
                <a:spcPct val="100000"/>
              </a:lnSpc>
            </a:pPr>
            <a:r>
              <a:rPr lang="en-US" sz="1000" b="0" u="none" strike="noStrike">
                <a:solidFill>
                  <a:schemeClr val="dk1"/>
                </a:solidFill>
                <a:effectLst/>
                <a:uFillTx/>
                <a:latin typeface="メイリオ"/>
                <a:ea typeface="メイリオ"/>
              </a:rPr>
              <a:t>or</a:t>
            </a:r>
            <a:endParaRPr lang="en-US" sz="1000" b="0" u="none" strike="noStrike">
              <a:solidFill>
                <a:srgbClr val="000000"/>
              </a:solidFill>
              <a:effectLst/>
              <a:uFillTx/>
              <a:latin typeface="Arial"/>
            </a:endParaRPr>
          </a:p>
          <a:p>
            <a:pPr algn="ctr" defTabSz="914400">
              <a:lnSpc>
                <a:spcPct val="100000"/>
              </a:lnSpc>
            </a:pPr>
            <a:r>
              <a:rPr lang="ja-JP" sz="1000" b="1" u="none" strike="noStrike">
                <a:solidFill>
                  <a:schemeClr val="dk1"/>
                </a:solidFill>
                <a:effectLst/>
                <a:uFillTx/>
                <a:latin typeface="メイリオ"/>
                <a:ea typeface="メイリオ"/>
              </a:rPr>
              <a:t>ステップ配信設定数</a:t>
            </a:r>
            <a:endParaRPr lang="en-US" sz="1000" b="0" u="none" strike="noStrike">
              <a:solidFill>
                <a:srgbClr val="000000"/>
              </a:solidFill>
              <a:effectLst/>
              <a:uFillTx/>
              <a:latin typeface="Arial"/>
            </a:endParaRPr>
          </a:p>
        </p:txBody>
      </p:sp>
      <p:sp>
        <p:nvSpPr>
          <p:cNvPr id="901" name="テキスト ボックス 68"/>
          <p:cNvSpPr/>
          <p:nvPr/>
        </p:nvSpPr>
        <p:spPr>
          <a:xfrm>
            <a:off x="632160" y="2122560"/>
            <a:ext cx="15811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rgbClr val="00B050"/>
                </a:solidFill>
                <a:effectLst/>
                <a:uFillTx/>
                <a:latin typeface="メイリオ"/>
                <a:ea typeface="メイリオ"/>
              </a:rPr>
              <a:t>（ターゲット戦略）</a:t>
            </a:r>
            <a:endParaRPr lang="en-US" sz="1100" b="0" u="none" strike="noStrike">
              <a:solidFill>
                <a:srgbClr val="000000"/>
              </a:solidFill>
              <a:effectLst/>
              <a:uFillTx/>
              <a:latin typeface="Arial"/>
            </a:endParaRPr>
          </a:p>
        </p:txBody>
      </p:sp>
      <p:sp>
        <p:nvSpPr>
          <p:cNvPr id="902" name="正方形/長方形 69"/>
          <p:cNvSpPr/>
          <p:nvPr/>
        </p:nvSpPr>
        <p:spPr>
          <a:xfrm>
            <a:off x="828360" y="4167720"/>
            <a:ext cx="1188720" cy="267840"/>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月間通数</a:t>
            </a:r>
            <a:endParaRPr lang="en-US" sz="1050" b="0" u="none" strike="noStrike">
              <a:solidFill>
                <a:srgbClr val="FFFFFF"/>
              </a:solidFill>
              <a:effectLst/>
              <a:uFillTx/>
              <a:latin typeface="Arial"/>
            </a:endParaRPr>
          </a:p>
        </p:txBody>
      </p:sp>
      <p:sp>
        <p:nvSpPr>
          <p:cNvPr id="903" name="正方形/長方形 2"/>
          <p:cNvSpPr/>
          <p:nvPr/>
        </p:nvSpPr>
        <p:spPr>
          <a:xfrm>
            <a:off x="619560" y="2054880"/>
            <a:ext cx="1613160" cy="2508120"/>
          </a:xfrm>
          <a:prstGeom prst="rect">
            <a:avLst/>
          </a:prstGeom>
          <a:solidFill>
            <a:schemeClr val="lt1">
              <a:alpha val="65000"/>
            </a:schemeClr>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04" name="吹き出し: 角を丸めた四角形 21"/>
          <p:cNvSpPr/>
          <p:nvPr/>
        </p:nvSpPr>
        <p:spPr>
          <a:xfrm>
            <a:off x="1422720" y="4756680"/>
            <a:ext cx="6797520" cy="1723320"/>
          </a:xfrm>
          <a:prstGeom prst="wedgeRoundRectCallout">
            <a:avLst>
              <a:gd name="adj1" fmla="val -8535"/>
              <a:gd name="adj2" fmla="val -65828"/>
              <a:gd name="adj3" fmla="val 16667"/>
            </a:avLst>
          </a:prstGeom>
          <a:solidFill>
            <a:schemeClr val="bg1">
              <a:lumMod val="95000"/>
            </a:schemeClr>
          </a:solidFill>
          <a:ln w="6350">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05" name="正方形/長方形 23"/>
          <p:cNvSpPr/>
          <p:nvPr/>
        </p:nvSpPr>
        <p:spPr>
          <a:xfrm>
            <a:off x="314496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000000"/>
              </a:solidFill>
              <a:effectLst/>
              <a:uFillTx/>
              <a:latin typeface="Arial"/>
            </a:endParaRPr>
          </a:p>
        </p:txBody>
      </p:sp>
      <p:sp>
        <p:nvSpPr>
          <p:cNvPr id="906" name="正方形/長方形 24"/>
          <p:cNvSpPr/>
          <p:nvPr/>
        </p:nvSpPr>
        <p:spPr>
          <a:xfrm>
            <a:off x="488232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000000"/>
              </a:solidFill>
              <a:effectLst/>
              <a:uFillTx/>
              <a:latin typeface="Arial"/>
            </a:endParaRPr>
          </a:p>
        </p:txBody>
      </p:sp>
      <p:sp>
        <p:nvSpPr>
          <p:cNvPr id="907" name="正方形/長方形 25"/>
          <p:cNvSpPr/>
          <p:nvPr/>
        </p:nvSpPr>
        <p:spPr>
          <a:xfrm>
            <a:off x="659448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000000"/>
              </a:solidFill>
              <a:effectLst/>
              <a:uFillTx/>
              <a:latin typeface="Arial"/>
            </a:endParaRPr>
          </a:p>
        </p:txBody>
      </p:sp>
      <p:sp>
        <p:nvSpPr>
          <p:cNvPr id="908" name="正方形/長方形 26"/>
          <p:cNvSpPr/>
          <p:nvPr/>
        </p:nvSpPr>
        <p:spPr>
          <a:xfrm>
            <a:off x="314496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rgbClr val="FF0000"/>
                </a:solidFill>
                <a:effectLst/>
                <a:uFillTx/>
                <a:latin typeface="メイリオ"/>
                <a:ea typeface="メイリオ"/>
              </a:rPr>
              <a:t>85 </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09" name="正方形/長方形 27"/>
          <p:cNvSpPr/>
          <p:nvPr/>
        </p:nvSpPr>
        <p:spPr>
          <a:xfrm>
            <a:off x="488232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1" u="none" strike="noStrike">
                <a:solidFill>
                  <a:srgbClr val="FF0000"/>
                </a:solidFill>
                <a:effectLst/>
                <a:uFillTx/>
                <a:latin typeface="メイリオ"/>
                <a:ea typeface="メイリオ"/>
              </a:rPr>
              <a:t>12.5 </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10" name="正方形/長方形 28"/>
          <p:cNvSpPr/>
          <p:nvPr/>
        </p:nvSpPr>
        <p:spPr>
          <a:xfrm>
            <a:off x="659448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rgbClr val="FF0000"/>
                </a:solidFill>
                <a:effectLst/>
                <a:uFillTx/>
                <a:latin typeface="メイリオ"/>
                <a:ea typeface="メイリオ"/>
              </a:rPr>
              <a:t>0.5</a:t>
            </a:r>
            <a:r>
              <a:rPr lang="en-US" sz="1400" b="1" u="none" strike="noStrike">
                <a:solidFill>
                  <a:srgbClr val="FF0000"/>
                </a:solidFill>
                <a:effectLst/>
                <a:uFillTx/>
                <a:latin typeface="メイリオ"/>
                <a:ea typeface="メイリオ"/>
              </a:rPr>
              <a:t> %</a:t>
            </a:r>
            <a:endParaRPr lang="en-US" sz="1400" b="0" u="none" strike="noStrike">
              <a:solidFill>
                <a:srgbClr val="000000"/>
              </a:solidFill>
              <a:effectLst/>
              <a:uFillTx/>
              <a:latin typeface="Arial"/>
            </a:endParaRPr>
          </a:p>
        </p:txBody>
      </p:sp>
      <p:sp>
        <p:nvSpPr>
          <p:cNvPr id="911" name="正方形/長方形 29"/>
          <p:cNvSpPr/>
          <p:nvPr/>
        </p:nvSpPr>
        <p:spPr>
          <a:xfrm>
            <a:off x="314496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70 %</a:t>
            </a:r>
            <a:endParaRPr lang="en-US" sz="1400" b="0" u="none" strike="noStrike">
              <a:solidFill>
                <a:srgbClr val="000000"/>
              </a:solidFill>
              <a:effectLst/>
              <a:uFillTx/>
              <a:latin typeface="Arial"/>
            </a:endParaRPr>
          </a:p>
        </p:txBody>
      </p:sp>
      <p:sp>
        <p:nvSpPr>
          <p:cNvPr id="912" name="正方形/長方形 30"/>
          <p:cNvSpPr/>
          <p:nvPr/>
        </p:nvSpPr>
        <p:spPr>
          <a:xfrm>
            <a:off x="488232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8.25 %</a:t>
            </a:r>
            <a:endParaRPr lang="en-US" sz="1400" b="0" u="none" strike="noStrike">
              <a:solidFill>
                <a:srgbClr val="000000"/>
              </a:solidFill>
              <a:effectLst/>
              <a:uFillTx/>
              <a:latin typeface="Arial"/>
            </a:endParaRPr>
          </a:p>
        </p:txBody>
      </p:sp>
      <p:sp>
        <p:nvSpPr>
          <p:cNvPr id="913" name="正方形/長方形 31"/>
          <p:cNvSpPr/>
          <p:nvPr/>
        </p:nvSpPr>
        <p:spPr>
          <a:xfrm>
            <a:off x="659448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0.3 %</a:t>
            </a:r>
            <a:endParaRPr lang="en-US" sz="1400" b="0" u="none" strike="noStrike">
              <a:solidFill>
                <a:srgbClr val="000000"/>
              </a:solidFill>
              <a:effectLst/>
              <a:uFillTx/>
              <a:latin typeface="Arial"/>
            </a:endParaRPr>
          </a:p>
        </p:txBody>
      </p:sp>
      <p:sp>
        <p:nvSpPr>
          <p:cNvPr id="914" name="正方形/長方形 32"/>
          <p:cNvSpPr/>
          <p:nvPr/>
        </p:nvSpPr>
        <p:spPr>
          <a:xfrm>
            <a:off x="1569600" y="5226840"/>
            <a:ext cx="1438200" cy="522720"/>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rgbClr val="FFC000"/>
                </a:solidFill>
                <a:effectLst/>
                <a:uFillTx/>
                <a:latin typeface="メイリオ"/>
                <a:ea typeface="メイリオ"/>
              </a:rPr>
              <a:t>DYM</a:t>
            </a:r>
            <a:r>
              <a:rPr lang="ja-JP" sz="1200" b="1" u="none" strike="noStrike">
                <a:solidFill>
                  <a:srgbClr val="FFC000"/>
                </a:solidFill>
                <a:effectLst/>
                <a:uFillTx/>
                <a:latin typeface="メイリオ"/>
                <a:ea typeface="メイリオ"/>
              </a:rPr>
              <a:t>実績</a:t>
            </a:r>
            <a:endParaRPr lang="en-US" sz="1200" b="0" u="none" strike="noStrike">
              <a:solidFill>
                <a:srgbClr val="FFFFFF"/>
              </a:solidFill>
              <a:effectLst/>
              <a:uFillTx/>
              <a:latin typeface="Arial"/>
            </a:endParaRPr>
          </a:p>
        </p:txBody>
      </p:sp>
      <p:sp>
        <p:nvSpPr>
          <p:cNvPr id="915" name="正方形/長方形 33"/>
          <p:cNvSpPr/>
          <p:nvPr/>
        </p:nvSpPr>
        <p:spPr>
          <a:xfrm>
            <a:off x="1569600" y="5808960"/>
            <a:ext cx="1438200" cy="52272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200" b="1" u="none" strike="noStrike">
                <a:solidFill>
                  <a:schemeClr val="lt1"/>
                </a:solidFill>
                <a:effectLst/>
                <a:uFillTx/>
                <a:latin typeface="メイリオ"/>
                <a:ea typeface="メイリオ"/>
              </a:rPr>
              <a:t>業界平均</a:t>
            </a:r>
            <a:endParaRPr lang="en-US" sz="1200" b="0" u="none" strike="noStrike">
              <a:solidFill>
                <a:srgbClr val="FFFFFF"/>
              </a:solidFill>
              <a:effectLst/>
              <a:uFillTx/>
              <a:latin typeface="Arial"/>
            </a:endParaRPr>
          </a:p>
          <a:p>
            <a:pPr algn="ctr" defTabSz="914400">
              <a:lnSpc>
                <a:spcPct val="100000"/>
              </a:lnSpc>
            </a:pPr>
            <a:r>
              <a:rPr lang="en-US" sz="800" b="1" u="none" strike="noStrike">
                <a:solidFill>
                  <a:schemeClr val="lt1"/>
                </a:solidFill>
                <a:effectLst/>
                <a:uFillTx/>
                <a:latin typeface="メイリオ"/>
                <a:ea typeface="メイリオ"/>
              </a:rPr>
              <a:t>(LINE</a:t>
            </a:r>
            <a:r>
              <a:rPr lang="ja-JP" sz="800" b="1" u="none" strike="noStrike">
                <a:solidFill>
                  <a:schemeClr val="lt1"/>
                </a:solidFill>
                <a:effectLst/>
                <a:uFillTx/>
                <a:latin typeface="メイリオ"/>
                <a:ea typeface="メイリオ"/>
              </a:rPr>
              <a:t>ヤフー社より共有）</a:t>
            </a:r>
            <a:endParaRPr lang="en-US" sz="800" b="0" u="none" strike="noStrike">
              <a:solidFill>
                <a:srgbClr val="FFFFFF"/>
              </a:solidFill>
              <a:effectLst/>
              <a:uFillTx/>
              <a:latin typeface="Arial"/>
            </a:endParaRPr>
          </a:p>
        </p:txBody>
      </p:sp>
      <p:sp>
        <p:nvSpPr>
          <p:cNvPr id="916" name="正方形/長方形 34"/>
          <p:cNvSpPr/>
          <p:nvPr/>
        </p:nvSpPr>
        <p:spPr>
          <a:xfrm>
            <a:off x="564120" y="1666800"/>
            <a:ext cx="8988840" cy="32760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1" u="none" strike="noStrike">
                <a:solidFill>
                  <a:srgbClr val="FFC000"/>
                </a:solidFill>
                <a:effectLst/>
                <a:uFillTx/>
                <a:latin typeface="メイリオ"/>
                <a:ea typeface="メイリオ"/>
              </a:rPr>
              <a:t>施策の流れ</a:t>
            </a:r>
            <a:endParaRPr lang="en-US" sz="1400" b="0" u="none" strike="noStrike">
              <a:solidFill>
                <a:srgbClr val="FFFFFF"/>
              </a:solidFill>
              <a:effectLst/>
              <a:uFillTx/>
              <a:latin typeface="Arial"/>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918" name="正方形/長方形 3"/>
          <p:cNvSpPr/>
          <p:nvPr/>
        </p:nvSpPr>
        <p:spPr>
          <a:xfrm>
            <a:off x="789120" y="79344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業態平均で</a:t>
            </a:r>
            <a:r>
              <a:rPr lang="ja-JP" sz="1400" b="1" u="none" strike="noStrike">
                <a:solidFill>
                  <a:srgbClr val="FF0000"/>
                </a:solidFill>
                <a:effectLst/>
                <a:uFillTx/>
                <a:latin typeface="メイリオ"/>
                <a:ea typeface="メイリオ"/>
              </a:rPr>
              <a:t>最大３</a:t>
            </a:r>
            <a:r>
              <a:rPr lang="en-US" sz="1400" b="1" u="none" strike="noStrike">
                <a:solidFill>
                  <a:srgbClr val="FF0000"/>
                </a:solidFill>
                <a:effectLst/>
                <a:uFillTx/>
                <a:latin typeface="メイリオ"/>
                <a:ea typeface="メイリオ"/>
              </a:rPr>
              <a:t>%</a:t>
            </a:r>
            <a:r>
              <a:rPr lang="ja-JP" sz="1400" b="1" u="none" strike="noStrike">
                <a:solidFill>
                  <a:srgbClr val="FF0000"/>
                </a:solidFill>
                <a:effectLst/>
                <a:uFillTx/>
                <a:latin typeface="メイリオ"/>
                <a:ea typeface="メイリオ"/>
              </a:rPr>
              <a:t>のユーザーは有効化</a:t>
            </a:r>
            <a:r>
              <a:rPr lang="en-US" sz="1400" b="1" u="none" strike="noStrike">
                <a:solidFill>
                  <a:srgbClr val="FF0000"/>
                </a:solidFill>
                <a:effectLst/>
                <a:uFillTx/>
                <a:latin typeface="メイリオ"/>
                <a:ea typeface="メイリオ"/>
              </a:rPr>
              <a:t>/</a:t>
            </a:r>
            <a:r>
              <a:rPr lang="ja-JP" sz="1400" b="1" u="none" strike="noStrike">
                <a:solidFill>
                  <a:srgbClr val="FF0000"/>
                </a:solidFill>
                <a:effectLst/>
                <a:uFillTx/>
                <a:latin typeface="メイリオ"/>
                <a:ea typeface="メイリオ"/>
              </a:rPr>
              <a:t>マネタイズ可能</a:t>
            </a:r>
            <a:r>
              <a:rPr lang="en-US" sz="1400" b="0" u="none" strike="noStrike">
                <a:solidFill>
                  <a:srgbClr val="343434"/>
                </a:solidFill>
                <a:effectLst/>
                <a:uFillTx/>
                <a:latin typeface="メイリオ"/>
                <a:ea typeface="メイリオ"/>
              </a:rPr>
              <a:t> とされている。</a:t>
            </a:r>
            <a:endParaRPr lang="en-US" sz="1400" b="0" u="none" strike="noStrike">
              <a:solidFill>
                <a:srgbClr val="000000"/>
              </a:solidFill>
              <a:effectLst/>
              <a:uFillTx/>
              <a:latin typeface="Arial"/>
            </a:endParaRPr>
          </a:p>
          <a:p>
            <a:pPr algn="ctr" defTabSz="914400">
              <a:lnSpc>
                <a:spcPts val="2455"/>
              </a:lnSpc>
            </a:pPr>
            <a:r>
              <a:rPr lang="ja-JP" sz="1400" b="0" u="none" strike="noStrike">
                <a:solidFill>
                  <a:srgbClr val="343434"/>
                </a:solidFill>
                <a:effectLst/>
                <a:uFillTx/>
                <a:latin typeface="メイリオ"/>
                <a:ea typeface="メイリオ"/>
              </a:rPr>
              <a:t>貴社集客課題に合わせて、</a:t>
            </a:r>
            <a:r>
              <a:rPr lang="en-US" sz="1400" b="0" u="none" strike="noStrike">
                <a:solidFill>
                  <a:srgbClr val="343434"/>
                </a:solidFill>
                <a:effectLst/>
                <a:uFillTx/>
                <a:latin typeface="メイリオ"/>
                <a:ea typeface="メイリオ"/>
              </a:rPr>
              <a:t>LINE</a:t>
            </a:r>
            <a:r>
              <a:rPr lang="ja-JP" sz="1400" b="0" u="none" strike="noStrike">
                <a:solidFill>
                  <a:srgbClr val="343434"/>
                </a:solidFill>
                <a:effectLst/>
                <a:uFillTx/>
                <a:latin typeface="メイリオ"/>
                <a:ea typeface="メイリオ"/>
              </a:rPr>
              <a:t>公式アカウントの構築モデルを活用しながら集客効率を改善。</a:t>
            </a:r>
            <a:endParaRPr lang="en-US" sz="1400" b="0" u="none" strike="noStrike">
              <a:solidFill>
                <a:srgbClr val="000000"/>
              </a:solidFill>
              <a:effectLst/>
              <a:uFillTx/>
              <a:latin typeface="Arial"/>
            </a:endParaRPr>
          </a:p>
        </p:txBody>
      </p:sp>
      <p:cxnSp>
        <p:nvCxnSpPr>
          <p:cNvPr id="919"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920"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921" name="正方形/長方形 1"/>
          <p:cNvSpPr/>
          <p:nvPr/>
        </p:nvSpPr>
        <p:spPr>
          <a:xfrm>
            <a:off x="437760" y="1606320"/>
            <a:ext cx="1425600" cy="313560"/>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200" b="1" u="none" strike="noStrike">
                <a:solidFill>
                  <a:schemeClr val="lt1"/>
                </a:solidFill>
                <a:effectLst/>
                <a:uFillTx/>
                <a:latin typeface="メイリオ"/>
                <a:ea typeface="メイリオ"/>
              </a:rPr>
              <a:t>流入元</a:t>
            </a:r>
            <a:endParaRPr lang="en-US" sz="1200" b="0" u="none" strike="noStrike">
              <a:solidFill>
                <a:srgbClr val="FFFFFF"/>
              </a:solidFill>
              <a:effectLst/>
              <a:uFillTx/>
              <a:latin typeface="Arial"/>
            </a:endParaRPr>
          </a:p>
        </p:txBody>
      </p:sp>
      <p:sp>
        <p:nvSpPr>
          <p:cNvPr id="922" name="正方形/長方形 7"/>
          <p:cNvSpPr/>
          <p:nvPr/>
        </p:nvSpPr>
        <p:spPr>
          <a:xfrm>
            <a:off x="1940040" y="1606320"/>
            <a:ext cx="1425600" cy="31356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chemeClr val="lt1"/>
                </a:solidFill>
                <a:effectLst/>
                <a:uFillTx/>
                <a:latin typeface="メイリオ"/>
                <a:ea typeface="メイリオ"/>
              </a:rPr>
              <a:t>LINE</a:t>
            </a:r>
            <a:r>
              <a:rPr lang="ja-JP" sz="1200" b="1" u="none" strike="noStrike">
                <a:solidFill>
                  <a:schemeClr val="lt1"/>
                </a:solidFill>
                <a:effectLst/>
                <a:uFillTx/>
                <a:latin typeface="メイリオ"/>
                <a:ea typeface="メイリオ"/>
              </a:rPr>
              <a:t>誘導</a:t>
            </a:r>
            <a:endParaRPr lang="en-US" sz="1200" b="0" u="none" strike="noStrike">
              <a:solidFill>
                <a:srgbClr val="000000"/>
              </a:solidFill>
              <a:effectLst/>
              <a:uFillTx/>
              <a:latin typeface="Arial"/>
            </a:endParaRPr>
          </a:p>
        </p:txBody>
      </p:sp>
      <p:sp>
        <p:nvSpPr>
          <p:cNvPr id="923" name="正方形/長方形 9"/>
          <p:cNvSpPr/>
          <p:nvPr/>
        </p:nvSpPr>
        <p:spPr>
          <a:xfrm>
            <a:off x="3442320" y="1606320"/>
            <a:ext cx="4320000" cy="313560"/>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具体の施策方針</a:t>
            </a:r>
            <a:endParaRPr lang="en-US" sz="1200" b="0" u="none" strike="noStrike">
              <a:solidFill>
                <a:srgbClr val="FFFFFF"/>
              </a:solidFill>
              <a:effectLst/>
              <a:uFillTx/>
              <a:latin typeface="Arial"/>
            </a:endParaRPr>
          </a:p>
        </p:txBody>
      </p:sp>
      <p:sp>
        <p:nvSpPr>
          <p:cNvPr id="924" name="矢印: 右 33"/>
          <p:cNvSpPr/>
          <p:nvPr/>
        </p:nvSpPr>
        <p:spPr>
          <a:xfrm>
            <a:off x="1080720" y="228024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25" name="正方形/長方形 36"/>
          <p:cNvSpPr/>
          <p:nvPr/>
        </p:nvSpPr>
        <p:spPr>
          <a:xfrm>
            <a:off x="1940040" y="201456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75000"/>
                    <a:lumOff val="25000"/>
                  </a:schemeClr>
                </a:solidFill>
                <a:effectLst/>
                <a:uFillTx/>
                <a:latin typeface="メイリオ"/>
                <a:ea typeface="メイリオ"/>
              </a:rPr>
              <a:t>離脱防止</a:t>
            </a:r>
            <a:endParaRPr lang="en-US" sz="900" b="0" u="none" strike="noStrike">
              <a:solidFill>
                <a:srgbClr val="000000"/>
              </a:solidFill>
              <a:effectLst/>
              <a:uFillTx/>
              <a:latin typeface="Arial"/>
            </a:endParaRPr>
          </a:p>
          <a:p>
            <a:pPr algn="ctr" defTabSz="914400">
              <a:lnSpc>
                <a:spcPct val="100000"/>
              </a:lnSpc>
            </a:pPr>
            <a:r>
              <a:rPr lang="ja-JP" sz="900" b="0" u="none" strike="noStrike">
                <a:solidFill>
                  <a:schemeClr val="dk1">
                    <a:lumMod val="75000"/>
                    <a:lumOff val="25000"/>
                  </a:schemeClr>
                </a:solidFill>
                <a:effectLst/>
                <a:uFillTx/>
                <a:latin typeface="メイリオ"/>
                <a:ea typeface="メイリオ"/>
              </a:rPr>
              <a:t>サイト上ポップアップ</a:t>
            </a:r>
            <a:endParaRPr lang="en-US" sz="900" b="0" u="none" strike="noStrike">
              <a:solidFill>
                <a:srgbClr val="000000"/>
              </a:solidFill>
              <a:effectLst/>
              <a:uFillTx/>
              <a:latin typeface="Arial"/>
            </a:endParaRPr>
          </a:p>
        </p:txBody>
      </p:sp>
      <p:sp>
        <p:nvSpPr>
          <p:cNvPr id="926" name="正方形/長方形 38"/>
          <p:cNvSpPr/>
          <p:nvPr/>
        </p:nvSpPr>
        <p:spPr>
          <a:xfrm>
            <a:off x="1940040" y="262764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75000"/>
                    <a:lumOff val="25000"/>
                  </a:schemeClr>
                </a:solidFill>
                <a:effectLst/>
                <a:uFillTx/>
                <a:latin typeface="メイリオ"/>
                <a:ea typeface="メイリオ"/>
              </a:rPr>
              <a:t>離脱防止</a:t>
            </a:r>
            <a:endParaRPr lang="en-US" sz="900" b="0" u="none" strike="noStrike">
              <a:solidFill>
                <a:srgbClr val="000000"/>
              </a:solidFill>
              <a:effectLst/>
              <a:uFillTx/>
              <a:latin typeface="Arial"/>
            </a:endParaRPr>
          </a:p>
          <a:p>
            <a:pPr algn="ctr" defTabSz="914400">
              <a:lnSpc>
                <a:spcPct val="100000"/>
              </a:lnSpc>
            </a:pPr>
            <a:r>
              <a:rPr lang="ja-JP" sz="900" b="0" u="none" strike="noStrike">
                <a:solidFill>
                  <a:schemeClr val="dk1">
                    <a:lumMod val="75000"/>
                    <a:lumOff val="25000"/>
                  </a:schemeClr>
                </a:solidFill>
                <a:effectLst/>
                <a:uFillTx/>
                <a:latin typeface="メイリオ"/>
                <a:ea typeface="メイリオ"/>
              </a:rPr>
              <a:t>サイト上ポップアップ</a:t>
            </a:r>
            <a:endParaRPr lang="en-US" sz="900" b="0" u="none" strike="noStrike">
              <a:solidFill>
                <a:srgbClr val="000000"/>
              </a:solidFill>
              <a:effectLst/>
              <a:uFillTx/>
              <a:latin typeface="Arial"/>
            </a:endParaRPr>
          </a:p>
        </p:txBody>
      </p:sp>
      <p:sp>
        <p:nvSpPr>
          <p:cNvPr id="927" name="正方形/長方形 40"/>
          <p:cNvSpPr/>
          <p:nvPr/>
        </p:nvSpPr>
        <p:spPr>
          <a:xfrm>
            <a:off x="437760" y="201456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00" b="0" u="none" strike="noStrike">
                <a:solidFill>
                  <a:schemeClr val="dk1">
                    <a:lumMod val="75000"/>
                    <a:lumOff val="25000"/>
                  </a:schemeClr>
                </a:solidFill>
                <a:effectLst/>
                <a:uFillTx/>
                <a:latin typeface="メイリオ"/>
                <a:ea typeface="メイリオ"/>
              </a:rPr>
              <a:t>SEO</a:t>
            </a:r>
            <a:r>
              <a:rPr lang="ja-JP" sz="1000" b="0" u="none" strike="noStrike">
                <a:solidFill>
                  <a:schemeClr val="dk1">
                    <a:lumMod val="75000"/>
                    <a:lumOff val="25000"/>
                  </a:schemeClr>
                </a:solidFill>
                <a:effectLst/>
                <a:uFillTx/>
                <a:latin typeface="メイリオ"/>
                <a:ea typeface="メイリオ"/>
              </a:rPr>
              <a:t>・</a:t>
            </a:r>
            <a:r>
              <a:rPr lang="en-US" sz="1000" b="0" u="none" strike="noStrike">
                <a:solidFill>
                  <a:schemeClr val="dk1">
                    <a:lumMod val="75000"/>
                    <a:lumOff val="25000"/>
                  </a:schemeClr>
                </a:solidFill>
                <a:effectLst/>
                <a:uFillTx/>
                <a:latin typeface="メイリオ"/>
                <a:ea typeface="メイリオ"/>
              </a:rPr>
              <a:t>AIO</a:t>
            </a:r>
            <a:endParaRPr lang="en-US" sz="1000" b="0" u="none" strike="noStrike">
              <a:solidFill>
                <a:srgbClr val="000000"/>
              </a:solidFill>
              <a:effectLst/>
              <a:uFillTx/>
              <a:latin typeface="Arial"/>
            </a:endParaRPr>
          </a:p>
        </p:txBody>
      </p:sp>
      <p:sp>
        <p:nvSpPr>
          <p:cNvPr id="928" name="正方形/長方形 42"/>
          <p:cNvSpPr/>
          <p:nvPr/>
        </p:nvSpPr>
        <p:spPr>
          <a:xfrm>
            <a:off x="437760" y="262764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00" b="0" u="none" strike="noStrike">
                <a:solidFill>
                  <a:schemeClr val="dk1">
                    <a:lumMod val="75000"/>
                    <a:lumOff val="25000"/>
                  </a:schemeClr>
                </a:solidFill>
                <a:effectLst/>
                <a:uFillTx/>
                <a:latin typeface="メイリオ"/>
                <a:ea typeface="メイリオ"/>
              </a:rPr>
              <a:t>広告</a:t>
            </a:r>
            <a:endParaRPr lang="en-US" sz="1000" b="0" u="none" strike="noStrike">
              <a:solidFill>
                <a:srgbClr val="000000"/>
              </a:solidFill>
              <a:effectLst/>
              <a:uFillTx/>
              <a:latin typeface="Arial"/>
            </a:endParaRPr>
          </a:p>
        </p:txBody>
      </p:sp>
      <p:sp>
        <p:nvSpPr>
          <p:cNvPr id="929" name="正方形/長方形 45"/>
          <p:cNvSpPr/>
          <p:nvPr/>
        </p:nvSpPr>
        <p:spPr>
          <a:xfrm>
            <a:off x="3442320" y="2009160"/>
            <a:ext cx="4320000" cy="117684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75000"/>
                  <a:lumOff val="25000"/>
                </a:schemeClr>
              </a:solidFill>
              <a:effectLst/>
              <a:uFillTx/>
              <a:latin typeface="メイリオ"/>
              <a:ea typeface="メイリオ"/>
            </a:endParaRPr>
          </a:p>
        </p:txBody>
      </p:sp>
      <p:sp>
        <p:nvSpPr>
          <p:cNvPr id="930" name="矢印: 右 47"/>
          <p:cNvSpPr/>
          <p:nvPr/>
        </p:nvSpPr>
        <p:spPr>
          <a:xfrm>
            <a:off x="1080720" y="323208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31" name="矢印: 右 49"/>
          <p:cNvSpPr/>
          <p:nvPr/>
        </p:nvSpPr>
        <p:spPr>
          <a:xfrm>
            <a:off x="1080720" y="393336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cxnSp>
        <p:nvCxnSpPr>
          <p:cNvPr id="932" name="直線コネクタ 50"/>
          <p:cNvCxnSpPr/>
          <p:nvPr/>
        </p:nvCxnSpPr>
        <p:spPr>
          <a:xfrm flipV="1">
            <a:off x="437400" y="3888000"/>
            <a:ext cx="7325280" cy="720"/>
          </a:xfrm>
          <a:prstGeom prst="straightConnector1">
            <a:avLst/>
          </a:prstGeom>
          <a:ln>
            <a:solidFill>
              <a:srgbClr val="4A7EBB"/>
            </a:solidFill>
            <a:prstDash val="sysDash"/>
            <a:round/>
          </a:ln>
        </p:spPr>
      </p:cxnSp>
      <p:sp>
        <p:nvSpPr>
          <p:cNvPr id="933" name="正方形/長方形 51"/>
          <p:cNvSpPr/>
          <p:nvPr/>
        </p:nvSpPr>
        <p:spPr>
          <a:xfrm>
            <a:off x="437760" y="3241080"/>
            <a:ext cx="292788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00" b="0" u="none" strike="noStrike">
                <a:solidFill>
                  <a:schemeClr val="dk1">
                    <a:lumMod val="65000"/>
                    <a:lumOff val="35000"/>
                  </a:schemeClr>
                </a:solidFill>
                <a:effectLst/>
                <a:uFillTx/>
                <a:latin typeface="メイリオ"/>
                <a:ea typeface="メイリオ"/>
              </a:rPr>
              <a:t>LINE</a:t>
            </a:r>
            <a:r>
              <a:rPr lang="ja-JP" sz="1000" b="0" u="none" strike="noStrike">
                <a:solidFill>
                  <a:schemeClr val="dk1">
                    <a:lumMod val="65000"/>
                    <a:lumOff val="35000"/>
                  </a:schemeClr>
                </a:solidFill>
                <a:effectLst/>
                <a:uFillTx/>
                <a:latin typeface="メイリオ"/>
                <a:ea typeface="メイリオ"/>
              </a:rPr>
              <a:t>広告（</a:t>
            </a:r>
            <a:r>
              <a:rPr lang="en-US" sz="1000" b="0" u="none" strike="noStrike">
                <a:solidFill>
                  <a:schemeClr val="dk1">
                    <a:lumMod val="65000"/>
                    <a:lumOff val="35000"/>
                  </a:schemeClr>
                </a:solidFill>
                <a:effectLst/>
                <a:uFillTx/>
                <a:latin typeface="メイリオ"/>
                <a:ea typeface="メイリオ"/>
              </a:rPr>
              <a:t>CPF</a:t>
            </a:r>
            <a:r>
              <a:rPr lang="ja-JP" sz="1000" b="0" u="none" strike="noStrike">
                <a:solidFill>
                  <a:schemeClr val="dk1">
                    <a:lumMod val="65000"/>
                    <a:lumOff val="35000"/>
                  </a:schemeClr>
                </a:solidFill>
                <a:effectLst/>
                <a:uFillTx/>
                <a:latin typeface="メイリオ"/>
                <a:ea typeface="メイリオ"/>
              </a:rPr>
              <a:t>配信）</a:t>
            </a:r>
            <a:endParaRPr lang="en-US" sz="1000" b="0" u="none" strike="noStrike">
              <a:solidFill>
                <a:srgbClr val="000000"/>
              </a:solidFill>
              <a:effectLst/>
              <a:uFillTx/>
              <a:latin typeface="Arial"/>
            </a:endParaRPr>
          </a:p>
          <a:p>
            <a:pPr algn="ctr" defTabSz="914400">
              <a:lnSpc>
                <a:spcPct val="100000"/>
              </a:lnSpc>
            </a:pPr>
            <a:r>
              <a:rPr lang="ja-JP" sz="1000" b="0" u="none" strike="noStrike">
                <a:solidFill>
                  <a:schemeClr val="dk1">
                    <a:lumMod val="65000"/>
                    <a:lumOff val="35000"/>
                  </a:schemeClr>
                </a:solidFill>
                <a:effectLst/>
                <a:uFillTx/>
                <a:latin typeface="メイリオ"/>
                <a:ea typeface="メイリオ"/>
              </a:rPr>
              <a:t>サイト上ポップアップ</a:t>
            </a:r>
            <a:endParaRPr lang="en-US" sz="1000" b="0" u="none" strike="noStrike">
              <a:solidFill>
                <a:srgbClr val="000000"/>
              </a:solidFill>
              <a:effectLst/>
              <a:uFillTx/>
              <a:latin typeface="Arial"/>
            </a:endParaRPr>
          </a:p>
        </p:txBody>
      </p:sp>
      <p:sp>
        <p:nvSpPr>
          <p:cNvPr id="934" name="正方形/長方形 52"/>
          <p:cNvSpPr/>
          <p:nvPr/>
        </p:nvSpPr>
        <p:spPr>
          <a:xfrm>
            <a:off x="1940040" y="397728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65000"/>
                    <a:lumOff val="35000"/>
                  </a:schemeClr>
                </a:solidFill>
                <a:effectLst/>
                <a:uFillTx/>
                <a:latin typeface="メイリオ"/>
                <a:ea typeface="メイリオ"/>
              </a:rPr>
              <a:t>通知メッセ</a:t>
            </a:r>
            <a:endParaRPr lang="en-US" sz="900" b="0" u="none" strike="noStrike">
              <a:solidFill>
                <a:srgbClr val="000000"/>
              </a:solidFill>
              <a:effectLst/>
              <a:uFillTx/>
              <a:latin typeface="Arial"/>
            </a:endParaRPr>
          </a:p>
        </p:txBody>
      </p:sp>
      <p:sp>
        <p:nvSpPr>
          <p:cNvPr id="935" name="正方形/長方形 53"/>
          <p:cNvSpPr/>
          <p:nvPr/>
        </p:nvSpPr>
        <p:spPr>
          <a:xfrm>
            <a:off x="437760" y="397728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00" b="0" u="none" strike="noStrike">
                <a:solidFill>
                  <a:schemeClr val="dk1">
                    <a:lumMod val="65000"/>
                    <a:lumOff val="35000"/>
                  </a:schemeClr>
                </a:solidFill>
                <a:effectLst/>
                <a:uFillTx/>
                <a:latin typeface="メイリオ"/>
                <a:ea typeface="メイリオ"/>
              </a:rPr>
              <a:t>CV</a:t>
            </a:r>
            <a:r>
              <a:rPr lang="ja-JP" sz="1000" b="0" u="none" strike="noStrike">
                <a:solidFill>
                  <a:schemeClr val="dk1">
                    <a:lumMod val="65000"/>
                    <a:lumOff val="35000"/>
                  </a:schemeClr>
                </a:solidFill>
                <a:effectLst/>
                <a:uFillTx/>
                <a:latin typeface="メイリオ"/>
                <a:ea typeface="メイリオ"/>
              </a:rPr>
              <a:t>・</a:t>
            </a:r>
            <a:r>
              <a:rPr lang="en-US" sz="1000" b="0" u="none" strike="noStrike">
                <a:solidFill>
                  <a:schemeClr val="dk1">
                    <a:lumMod val="65000"/>
                    <a:lumOff val="35000"/>
                  </a:schemeClr>
                </a:solidFill>
                <a:effectLst/>
                <a:uFillTx/>
                <a:latin typeface="メイリオ"/>
                <a:ea typeface="メイリオ"/>
              </a:rPr>
              <a:t>mcv</a:t>
            </a:r>
            <a:r>
              <a:rPr lang="ja-JP" sz="1000" b="0" u="none" strike="noStrike">
                <a:solidFill>
                  <a:schemeClr val="dk1">
                    <a:lumMod val="65000"/>
                    <a:lumOff val="35000"/>
                  </a:schemeClr>
                </a:solidFill>
                <a:effectLst/>
                <a:uFillTx/>
                <a:latin typeface="メイリオ"/>
                <a:ea typeface="メイリオ"/>
              </a:rPr>
              <a:t>済</a:t>
            </a:r>
            <a:endParaRPr lang="en-US" sz="1000" b="0" u="none" strike="noStrike">
              <a:solidFill>
                <a:srgbClr val="000000"/>
              </a:solidFill>
              <a:effectLst/>
              <a:uFillTx/>
              <a:latin typeface="Arial"/>
            </a:endParaRPr>
          </a:p>
        </p:txBody>
      </p:sp>
      <p:sp>
        <p:nvSpPr>
          <p:cNvPr id="936" name="正方形/長方形 54"/>
          <p:cNvSpPr/>
          <p:nvPr/>
        </p:nvSpPr>
        <p:spPr>
          <a:xfrm>
            <a:off x="3442320" y="324108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937" name="正方形/長方形 55"/>
          <p:cNvSpPr/>
          <p:nvPr/>
        </p:nvSpPr>
        <p:spPr>
          <a:xfrm>
            <a:off x="3442320" y="397728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938" name="矢印: 右 57"/>
          <p:cNvSpPr/>
          <p:nvPr/>
        </p:nvSpPr>
        <p:spPr>
          <a:xfrm>
            <a:off x="1080720" y="458028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39" name="矢印: 右 59"/>
          <p:cNvSpPr/>
          <p:nvPr/>
        </p:nvSpPr>
        <p:spPr>
          <a:xfrm>
            <a:off x="1080720" y="581184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40" name="矢印: 右 61"/>
          <p:cNvSpPr/>
          <p:nvPr/>
        </p:nvSpPr>
        <p:spPr>
          <a:xfrm>
            <a:off x="1080720" y="520164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41" name="正方形/長方形 63"/>
          <p:cNvSpPr/>
          <p:nvPr/>
        </p:nvSpPr>
        <p:spPr>
          <a:xfrm>
            <a:off x="1940040" y="459576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65000"/>
                    <a:lumOff val="35000"/>
                  </a:schemeClr>
                </a:solidFill>
                <a:effectLst/>
                <a:uFillTx/>
                <a:latin typeface="メイリオ"/>
                <a:ea typeface="メイリオ"/>
              </a:rPr>
              <a:t>サンクス</a:t>
            </a:r>
            <a:r>
              <a:rPr lang="en-US" sz="900" b="0" u="none" strike="noStrike">
                <a:solidFill>
                  <a:schemeClr val="dk1">
                    <a:lumMod val="65000"/>
                    <a:lumOff val="35000"/>
                  </a:schemeClr>
                </a:solidFill>
                <a:effectLst/>
                <a:uFillTx/>
                <a:latin typeface="メイリオ"/>
                <a:ea typeface="メイリオ"/>
              </a:rPr>
              <a:t>LINE</a:t>
            </a:r>
            <a:r>
              <a:rPr lang="ja-JP" sz="900" b="0" u="none" strike="noStrike">
                <a:solidFill>
                  <a:schemeClr val="dk1">
                    <a:lumMod val="65000"/>
                    <a:lumOff val="35000"/>
                  </a:schemeClr>
                </a:solidFill>
                <a:effectLst/>
                <a:uFillTx/>
                <a:latin typeface="メイリオ"/>
                <a:ea typeface="メイリオ"/>
              </a:rPr>
              <a:t>誘導</a:t>
            </a:r>
            <a:endParaRPr lang="en-US" sz="900" b="0" u="none" strike="noStrike">
              <a:solidFill>
                <a:srgbClr val="000000"/>
              </a:solidFill>
              <a:effectLst/>
              <a:uFillTx/>
              <a:latin typeface="Arial"/>
            </a:endParaRPr>
          </a:p>
        </p:txBody>
      </p:sp>
      <p:sp>
        <p:nvSpPr>
          <p:cNvPr id="942" name="正方形/長方形 65"/>
          <p:cNvSpPr/>
          <p:nvPr/>
        </p:nvSpPr>
        <p:spPr>
          <a:xfrm>
            <a:off x="437760" y="459576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00" b="0" u="none" strike="noStrike">
                <a:solidFill>
                  <a:schemeClr val="dk1">
                    <a:lumMod val="65000"/>
                    <a:lumOff val="35000"/>
                  </a:schemeClr>
                </a:solidFill>
                <a:effectLst/>
                <a:uFillTx/>
                <a:latin typeface="メイリオ"/>
                <a:ea typeface="メイリオ"/>
              </a:rPr>
              <a:t>CV</a:t>
            </a:r>
            <a:r>
              <a:rPr lang="ja-JP" sz="1000" b="0" u="none" strike="noStrike">
                <a:solidFill>
                  <a:schemeClr val="dk1">
                    <a:lumMod val="65000"/>
                    <a:lumOff val="35000"/>
                  </a:schemeClr>
                </a:solidFill>
                <a:effectLst/>
                <a:uFillTx/>
                <a:latin typeface="メイリオ"/>
                <a:ea typeface="メイリオ"/>
              </a:rPr>
              <a:t>・</a:t>
            </a:r>
            <a:r>
              <a:rPr lang="en-US" sz="1000" b="0" u="none" strike="noStrike">
                <a:solidFill>
                  <a:schemeClr val="dk1">
                    <a:lumMod val="65000"/>
                    <a:lumOff val="35000"/>
                  </a:schemeClr>
                </a:solidFill>
                <a:effectLst/>
                <a:uFillTx/>
                <a:latin typeface="メイリオ"/>
                <a:ea typeface="メイリオ"/>
              </a:rPr>
              <a:t>mcv</a:t>
            </a:r>
            <a:r>
              <a:rPr lang="ja-JP" sz="1000" b="0" u="none" strike="noStrike">
                <a:solidFill>
                  <a:schemeClr val="dk1">
                    <a:lumMod val="65000"/>
                    <a:lumOff val="35000"/>
                  </a:schemeClr>
                </a:solidFill>
                <a:effectLst/>
                <a:uFillTx/>
                <a:latin typeface="メイリオ"/>
                <a:ea typeface="メイリオ"/>
              </a:rPr>
              <a:t>済</a:t>
            </a:r>
            <a:endParaRPr lang="en-US" sz="1000" b="0" u="none" strike="noStrike">
              <a:solidFill>
                <a:srgbClr val="000000"/>
              </a:solidFill>
              <a:effectLst/>
              <a:uFillTx/>
              <a:latin typeface="Arial"/>
            </a:endParaRPr>
          </a:p>
        </p:txBody>
      </p:sp>
      <p:sp>
        <p:nvSpPr>
          <p:cNvPr id="943" name="正方形/長方形 67"/>
          <p:cNvSpPr/>
          <p:nvPr/>
        </p:nvSpPr>
        <p:spPr>
          <a:xfrm>
            <a:off x="437760" y="521460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00" b="0" u="none" strike="noStrike">
                <a:solidFill>
                  <a:schemeClr val="dk1">
                    <a:lumMod val="65000"/>
                    <a:lumOff val="35000"/>
                  </a:schemeClr>
                </a:solidFill>
                <a:effectLst/>
                <a:uFillTx/>
                <a:latin typeface="メイリオ"/>
                <a:ea typeface="メイリオ"/>
              </a:rPr>
              <a:t>保有リスト</a:t>
            </a:r>
            <a:endParaRPr lang="en-US" sz="1000" b="0" u="none" strike="noStrike">
              <a:solidFill>
                <a:srgbClr val="000000"/>
              </a:solidFill>
              <a:effectLst/>
              <a:uFillTx/>
              <a:latin typeface="Arial"/>
            </a:endParaRPr>
          </a:p>
        </p:txBody>
      </p:sp>
      <p:sp>
        <p:nvSpPr>
          <p:cNvPr id="944" name="正方形/長方形 69"/>
          <p:cNvSpPr/>
          <p:nvPr/>
        </p:nvSpPr>
        <p:spPr>
          <a:xfrm>
            <a:off x="437760" y="583308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00" b="0" u="none" strike="noStrike">
                <a:solidFill>
                  <a:schemeClr val="dk1">
                    <a:lumMod val="65000"/>
                    <a:lumOff val="35000"/>
                  </a:schemeClr>
                </a:solidFill>
                <a:effectLst/>
                <a:uFillTx/>
                <a:latin typeface="メイリオ"/>
                <a:ea typeface="メイリオ"/>
              </a:rPr>
              <a:t>保有リスト</a:t>
            </a:r>
            <a:endParaRPr lang="en-US" sz="1000" b="0" u="none" strike="noStrike">
              <a:solidFill>
                <a:srgbClr val="000000"/>
              </a:solidFill>
              <a:effectLst/>
              <a:uFillTx/>
              <a:latin typeface="Arial"/>
            </a:endParaRPr>
          </a:p>
        </p:txBody>
      </p:sp>
      <p:sp>
        <p:nvSpPr>
          <p:cNvPr id="945" name="正方形/長方形 71"/>
          <p:cNvSpPr/>
          <p:nvPr/>
        </p:nvSpPr>
        <p:spPr>
          <a:xfrm>
            <a:off x="1940040" y="521460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65000"/>
                    <a:lumOff val="35000"/>
                  </a:schemeClr>
                </a:solidFill>
                <a:effectLst/>
                <a:uFillTx/>
                <a:latin typeface="メイリオ"/>
                <a:ea typeface="メイリオ"/>
              </a:rPr>
              <a:t>通知メッセ</a:t>
            </a:r>
            <a:endParaRPr lang="en-US" sz="900" b="0" u="none" strike="noStrike">
              <a:solidFill>
                <a:srgbClr val="000000"/>
              </a:solidFill>
              <a:effectLst/>
              <a:uFillTx/>
              <a:latin typeface="Arial"/>
            </a:endParaRPr>
          </a:p>
        </p:txBody>
      </p:sp>
      <p:sp>
        <p:nvSpPr>
          <p:cNvPr id="946" name="正方形/長方形 73"/>
          <p:cNvSpPr/>
          <p:nvPr/>
        </p:nvSpPr>
        <p:spPr>
          <a:xfrm>
            <a:off x="1940040" y="583308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65000"/>
                    <a:lumOff val="35000"/>
                  </a:schemeClr>
                </a:solidFill>
                <a:effectLst/>
                <a:uFillTx/>
                <a:latin typeface="メイリオ"/>
                <a:ea typeface="メイリオ"/>
              </a:rPr>
              <a:t>メルマガ・テレマ</a:t>
            </a:r>
            <a:endParaRPr lang="en-US" sz="900" b="0" u="none" strike="noStrike">
              <a:solidFill>
                <a:srgbClr val="000000"/>
              </a:solidFill>
              <a:effectLst/>
              <a:uFillTx/>
              <a:latin typeface="Arial"/>
            </a:endParaRPr>
          </a:p>
          <a:p>
            <a:pPr algn="ctr" defTabSz="914400">
              <a:lnSpc>
                <a:spcPct val="100000"/>
              </a:lnSpc>
            </a:pPr>
            <a:r>
              <a:rPr lang="en-US" sz="900" b="0" u="none" strike="noStrike">
                <a:solidFill>
                  <a:schemeClr val="dk1">
                    <a:lumMod val="65000"/>
                    <a:lumOff val="35000"/>
                  </a:schemeClr>
                </a:solidFill>
                <a:effectLst/>
                <a:uFillTx/>
                <a:latin typeface="メイリオ"/>
                <a:ea typeface="メイリオ"/>
              </a:rPr>
              <a:t>SNS</a:t>
            </a:r>
            <a:r>
              <a:rPr lang="ja-JP" sz="900" b="0" u="none" strike="noStrike">
                <a:solidFill>
                  <a:schemeClr val="dk1">
                    <a:lumMod val="65000"/>
                    <a:lumOff val="35000"/>
                  </a:schemeClr>
                </a:solidFill>
                <a:effectLst/>
                <a:uFillTx/>
                <a:latin typeface="メイリオ"/>
                <a:ea typeface="メイリオ"/>
              </a:rPr>
              <a:t>告知</a:t>
            </a:r>
            <a:endParaRPr lang="en-US" sz="900" b="0" u="none" strike="noStrike">
              <a:solidFill>
                <a:srgbClr val="000000"/>
              </a:solidFill>
              <a:effectLst/>
              <a:uFillTx/>
              <a:latin typeface="Arial"/>
            </a:endParaRPr>
          </a:p>
        </p:txBody>
      </p:sp>
      <p:sp>
        <p:nvSpPr>
          <p:cNvPr id="947" name="正方形/長方形 75"/>
          <p:cNvSpPr/>
          <p:nvPr/>
        </p:nvSpPr>
        <p:spPr>
          <a:xfrm>
            <a:off x="3442320" y="459576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948" name="正方形/長方形 77"/>
          <p:cNvSpPr/>
          <p:nvPr/>
        </p:nvSpPr>
        <p:spPr>
          <a:xfrm>
            <a:off x="3442320" y="521460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949" name="正方形/長方形 79"/>
          <p:cNvSpPr/>
          <p:nvPr/>
        </p:nvSpPr>
        <p:spPr>
          <a:xfrm>
            <a:off x="3442320" y="582228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950" name="Shape 17"/>
          <p:cNvSpPr/>
          <p:nvPr/>
        </p:nvSpPr>
        <p:spPr>
          <a:xfrm>
            <a:off x="3636360" y="208008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zh-CN" sz="800" b="0" u="none" strike="noStrike">
                <a:solidFill>
                  <a:schemeClr val="lt1">
                    <a:lumMod val="65000"/>
                  </a:schemeClr>
                </a:solidFill>
                <a:effectLst/>
                <a:uFillTx/>
                <a:latin typeface="メイリオ"/>
                <a:ea typeface="メイリオ"/>
              </a:rPr>
              <a:t>あいさつ</a:t>
            </a:r>
            <a:r>
              <a:rPr lang="en-US" sz="800" b="0" u="none" strike="noStrike">
                <a:solidFill>
                  <a:schemeClr val="lt1">
                    <a:lumMod val="65000"/>
                  </a:schemeClr>
                </a:solidFill>
                <a:effectLst/>
                <a:uFillTx/>
                <a:latin typeface="メイリオ"/>
                <a:ea typeface="メイリオ"/>
              </a:rPr>
              <a:t>MSG</a:t>
            </a:r>
            <a:r>
              <a:rPr lang="zh-CN" sz="800" b="0" u="none" strike="noStrike">
                <a:solidFill>
                  <a:schemeClr val="lt1">
                    <a:lumMod val="65000"/>
                  </a:schemeClr>
                </a:solidFill>
                <a:effectLst/>
                <a:uFillTx/>
                <a:latin typeface="メイリオ"/>
                <a:ea typeface="メイリオ"/>
              </a:rPr>
              <a:t>＋</a:t>
            </a:r>
            <a:endParaRPr lang="en-US" sz="800" b="0" u="none" strike="noStrike">
              <a:solidFill>
                <a:srgbClr val="000000"/>
              </a:solidFill>
              <a:effectLst/>
              <a:uFillTx/>
              <a:latin typeface="Arial"/>
            </a:endParaRPr>
          </a:p>
          <a:p>
            <a:pPr defTabSz="914400">
              <a:lnSpc>
                <a:spcPct val="135000"/>
              </a:lnSpc>
            </a:pPr>
            <a:r>
              <a:rPr lang="zh-CN" sz="800" b="0" u="none" strike="noStrike">
                <a:solidFill>
                  <a:schemeClr val="lt1">
                    <a:lumMod val="65000"/>
                  </a:schemeClr>
                </a:solidFill>
                <a:effectLst/>
                <a:uFillTx/>
                <a:latin typeface="メイリオ"/>
                <a:ea typeface="メイリオ"/>
              </a:rPr>
              <a:t>登録特典</a:t>
            </a:r>
            <a:r>
              <a:rPr lang="en-US" sz="800" b="0" u="none" strike="noStrike">
                <a:solidFill>
                  <a:schemeClr val="lt1">
                    <a:lumMod val="65000"/>
                  </a:schemeClr>
                </a:solidFill>
                <a:effectLst/>
                <a:uFillTx/>
                <a:latin typeface="メイリオ"/>
                <a:ea typeface="メイリオ"/>
              </a:rPr>
              <a:t>(</a:t>
            </a:r>
            <a:r>
              <a:rPr lang="zh-CN" sz="800" b="0" u="none" strike="noStrike">
                <a:solidFill>
                  <a:schemeClr val="lt1">
                    <a:lumMod val="65000"/>
                  </a:schemeClr>
                </a:solidFill>
                <a:effectLst/>
                <a:uFillTx/>
                <a:latin typeface="メイリオ"/>
                <a:ea typeface="メイリオ"/>
              </a:rPr>
              <a:t>資料</a:t>
            </a:r>
            <a:r>
              <a:rPr lang="en-US" sz="800" b="0" u="none" strike="noStrike">
                <a:solidFill>
                  <a:schemeClr val="lt1">
                    <a:lumMod val="65000"/>
                  </a:schemeClr>
                </a:solidFill>
                <a:effectLst/>
                <a:uFillTx/>
                <a:latin typeface="メイリオ"/>
                <a:ea typeface="メイリオ"/>
              </a:rPr>
              <a:t>/</a:t>
            </a:r>
            <a:r>
              <a:rPr lang="zh-CN" sz="800" b="0" u="none" strike="noStrike">
                <a:solidFill>
                  <a:schemeClr val="lt1">
                    <a:lumMod val="65000"/>
                  </a:schemeClr>
                </a:solidFill>
                <a:effectLst/>
                <a:uFillTx/>
                <a:latin typeface="メイリオ"/>
                <a:ea typeface="メイリオ"/>
              </a:rPr>
              <a:t>診断</a:t>
            </a:r>
            <a:r>
              <a:rPr lang="en-US" sz="800" b="0" u="none" strike="noStrike">
                <a:solidFill>
                  <a:schemeClr val="lt1">
                    <a:lumMod val="65000"/>
                  </a:schemeClr>
                </a:solidFill>
                <a:effectLst/>
                <a:uFillTx/>
                <a:latin typeface="メイリオ"/>
                <a:ea typeface="メイリオ"/>
              </a:rPr>
              <a:t>)</a:t>
            </a:r>
            <a:r>
              <a:rPr lang="zh-CN" sz="800" b="0" u="none" strike="noStrike">
                <a:solidFill>
                  <a:schemeClr val="lt1">
                    <a:lumMod val="65000"/>
                  </a:schemeClr>
                </a:solidFill>
                <a:effectLst/>
                <a:uFillTx/>
                <a:latin typeface="メイリオ"/>
                <a:ea typeface="メイリオ"/>
              </a:rPr>
              <a:t>自動送付</a:t>
            </a:r>
            <a:endParaRPr lang="en-US" sz="800" b="0" u="none" strike="noStrike">
              <a:solidFill>
                <a:srgbClr val="000000"/>
              </a:solidFill>
              <a:effectLst/>
              <a:uFillTx/>
              <a:latin typeface="Arial"/>
            </a:endParaRPr>
          </a:p>
        </p:txBody>
      </p:sp>
      <p:sp>
        <p:nvSpPr>
          <p:cNvPr id="951" name="Shape 18"/>
          <p:cNvSpPr/>
          <p:nvPr/>
        </p:nvSpPr>
        <p:spPr>
          <a:xfrm>
            <a:off x="5685480" y="208008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zh-CN" sz="800" b="0" u="none" strike="noStrike">
                <a:solidFill>
                  <a:schemeClr val="lt1">
                    <a:lumMod val="65000"/>
                  </a:schemeClr>
                </a:solidFill>
                <a:effectLst/>
                <a:uFillTx/>
                <a:latin typeface="メイリオ"/>
                <a:ea typeface="メイリオ"/>
              </a:rPr>
              <a:t>教育コンテンツ配信</a:t>
            </a:r>
            <a:endParaRPr lang="en-US" sz="800" b="0" u="none" strike="noStrike">
              <a:solidFill>
                <a:srgbClr val="000000"/>
              </a:solidFill>
              <a:effectLst/>
              <a:uFillTx/>
              <a:latin typeface="Arial"/>
            </a:endParaRPr>
          </a:p>
          <a:p>
            <a:pPr defTabSz="914400">
              <a:lnSpc>
                <a:spcPct val="135000"/>
              </a:lnSpc>
            </a:pPr>
            <a:r>
              <a:rPr lang="zh-CN" sz="800" b="0" u="none" strike="noStrike">
                <a:solidFill>
                  <a:schemeClr val="lt1">
                    <a:lumMod val="65000"/>
                  </a:schemeClr>
                </a:solidFill>
                <a:effectLst/>
                <a:uFillTx/>
                <a:latin typeface="メイリオ"/>
                <a:ea typeface="メイリオ"/>
              </a:rPr>
              <a:t>（週</a:t>
            </a:r>
            <a:r>
              <a:rPr lang="en-US" sz="800" b="0" u="none" strike="noStrike">
                <a:solidFill>
                  <a:schemeClr val="lt1">
                    <a:lumMod val="65000"/>
                  </a:schemeClr>
                </a:solidFill>
                <a:effectLst/>
                <a:uFillTx/>
                <a:latin typeface="メイリオ"/>
                <a:ea typeface="メイリオ"/>
              </a:rPr>
              <a:t>1</a:t>
            </a:r>
            <a:r>
              <a:rPr lang="zh-CN" sz="800" b="0" u="none" strike="noStrike">
                <a:solidFill>
                  <a:schemeClr val="lt1">
                    <a:lumMod val="65000"/>
                  </a:schemeClr>
                </a:solidFill>
                <a:effectLst/>
                <a:uFillTx/>
                <a:latin typeface="メイリオ"/>
                <a:ea typeface="メイリオ"/>
              </a:rPr>
              <a:t>）→ </a:t>
            </a:r>
            <a:r>
              <a:rPr lang="en-US" sz="800" b="0" u="none" strike="noStrike">
                <a:solidFill>
                  <a:schemeClr val="lt1">
                    <a:lumMod val="65000"/>
                  </a:schemeClr>
                </a:solidFill>
                <a:effectLst/>
                <a:uFillTx/>
                <a:latin typeface="メイリオ"/>
                <a:ea typeface="メイリオ"/>
              </a:rPr>
              <a:t>CV</a:t>
            </a:r>
            <a:r>
              <a:rPr lang="zh-CN" sz="800" b="0" u="none" strike="noStrike">
                <a:solidFill>
                  <a:schemeClr val="lt1">
                    <a:lumMod val="65000"/>
                  </a:schemeClr>
                </a:solidFill>
                <a:effectLst/>
                <a:uFillTx/>
                <a:latin typeface="メイリオ"/>
                <a:ea typeface="メイリオ"/>
              </a:rPr>
              <a:t>誘導オファー</a:t>
            </a:r>
            <a:endParaRPr lang="en-US" sz="800" b="0" u="none" strike="noStrike">
              <a:solidFill>
                <a:srgbClr val="000000"/>
              </a:solidFill>
              <a:effectLst/>
              <a:uFillTx/>
              <a:latin typeface="Arial"/>
            </a:endParaRPr>
          </a:p>
        </p:txBody>
      </p:sp>
      <p:sp>
        <p:nvSpPr>
          <p:cNvPr id="952" name="Text 22"/>
          <p:cNvSpPr/>
          <p:nvPr/>
        </p:nvSpPr>
        <p:spPr>
          <a:xfrm>
            <a:off x="-1097280" y="1156320"/>
            <a:ext cx="2358720" cy="585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35000"/>
              </a:lnSpc>
              <a:tabLst>
                <a:tab pos="0" algn="l"/>
              </a:tabLst>
            </a:pPr>
            <a:endParaRPr lang="en-US" sz="900" b="0" u="none" strike="noStrike">
              <a:solidFill>
                <a:schemeClr val="dk1"/>
              </a:solidFill>
              <a:effectLst/>
              <a:uFillTx/>
              <a:latin typeface="Calibri"/>
            </a:endParaRPr>
          </a:p>
        </p:txBody>
      </p:sp>
      <p:sp>
        <p:nvSpPr>
          <p:cNvPr id="953" name="Text 24"/>
          <p:cNvSpPr/>
          <p:nvPr/>
        </p:nvSpPr>
        <p:spPr>
          <a:xfrm>
            <a:off x="1591200" y="1156320"/>
            <a:ext cx="2944080" cy="585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35000"/>
              </a:lnSpc>
              <a:tabLst>
                <a:tab pos="0" algn="l"/>
              </a:tabLst>
            </a:pPr>
            <a:endParaRPr lang="en-US" sz="900" b="0" u="none" strike="noStrike">
              <a:solidFill>
                <a:schemeClr val="dk1"/>
              </a:solidFill>
              <a:effectLst/>
              <a:uFillTx/>
              <a:latin typeface="Calibri"/>
            </a:endParaRPr>
          </a:p>
        </p:txBody>
      </p:sp>
      <p:cxnSp>
        <p:nvCxnSpPr>
          <p:cNvPr id="954" name="直線矢印コネクタ 93"/>
          <p:cNvCxnSpPr>
            <a:endCxn id="951" idx="1"/>
          </p:cNvCxnSpPr>
          <p:nvPr/>
        </p:nvCxnSpPr>
        <p:spPr>
          <a:xfrm>
            <a:off x="5416560" y="2304000"/>
            <a:ext cx="269280" cy="9360"/>
          </a:xfrm>
          <a:prstGeom prst="straightConnector1">
            <a:avLst/>
          </a:prstGeom>
          <a:ln>
            <a:solidFill>
              <a:srgbClr val="000000"/>
            </a:solidFill>
            <a:prstDash val="sysDot"/>
            <a:round/>
            <a:tailEnd type="triangle" w="med" len="med"/>
          </a:ln>
        </p:spPr>
      </p:cxnSp>
      <p:sp>
        <p:nvSpPr>
          <p:cNvPr id="955" name="Shape 17"/>
          <p:cNvSpPr/>
          <p:nvPr/>
        </p:nvSpPr>
        <p:spPr>
          <a:xfrm>
            <a:off x="3636360" y="261432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en-US" sz="800" b="0" u="none" strike="noStrike">
                <a:solidFill>
                  <a:schemeClr val="lt1">
                    <a:lumMod val="65000"/>
                  </a:schemeClr>
                </a:solidFill>
                <a:effectLst/>
                <a:uFillTx/>
                <a:latin typeface="メイリオ"/>
                <a:ea typeface="メイリオ"/>
              </a:rPr>
              <a:t>KW</a:t>
            </a:r>
            <a:r>
              <a:rPr lang="ja-JP" sz="800" b="0" u="none" strike="noStrike">
                <a:solidFill>
                  <a:schemeClr val="lt1">
                    <a:lumMod val="65000"/>
                  </a:schemeClr>
                </a:solidFill>
                <a:effectLst/>
                <a:uFillTx/>
                <a:latin typeface="メイリオ"/>
                <a:ea typeface="メイリオ"/>
              </a:rPr>
              <a:t>自動応答設定</a:t>
            </a:r>
            <a:endParaRPr lang="en-US" sz="800" b="0" u="none" strike="noStrike">
              <a:solidFill>
                <a:srgbClr val="000000"/>
              </a:solidFill>
              <a:effectLst/>
              <a:uFillTx/>
              <a:latin typeface="Arial"/>
            </a:endParaRPr>
          </a:p>
          <a:p>
            <a:pPr defTabSz="914400">
              <a:lnSpc>
                <a:spcPct val="135000"/>
              </a:lnSpc>
            </a:pPr>
            <a:r>
              <a:rPr lang="en-US" sz="800" b="0" u="none" strike="noStrike">
                <a:solidFill>
                  <a:schemeClr val="lt1">
                    <a:lumMod val="65000"/>
                  </a:schemeClr>
                </a:solidFill>
                <a:effectLst/>
                <a:uFillTx/>
                <a:latin typeface="メイリオ"/>
                <a:ea typeface="メイリオ"/>
              </a:rPr>
              <a:t>→ ユーザー意図別に即返信</a:t>
            </a:r>
            <a:endParaRPr lang="en-US" sz="800" b="0" u="none" strike="noStrike">
              <a:solidFill>
                <a:srgbClr val="000000"/>
              </a:solidFill>
              <a:effectLst/>
              <a:uFillTx/>
              <a:latin typeface="Arial"/>
            </a:endParaRPr>
          </a:p>
        </p:txBody>
      </p:sp>
      <p:sp>
        <p:nvSpPr>
          <p:cNvPr id="956" name="Shape 18"/>
          <p:cNvSpPr/>
          <p:nvPr/>
        </p:nvSpPr>
        <p:spPr>
          <a:xfrm>
            <a:off x="5685480" y="261432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ステップ配信（</a:t>
            </a:r>
            <a:r>
              <a:rPr lang="en-US" sz="800" b="0" u="none" strike="noStrike">
                <a:solidFill>
                  <a:schemeClr val="lt1">
                    <a:lumMod val="65000"/>
                  </a:schemeClr>
                </a:solidFill>
                <a:effectLst/>
                <a:uFillTx/>
                <a:latin typeface="メイリオ"/>
                <a:ea typeface="メイリオ"/>
              </a:rPr>
              <a:t>7</a:t>
            </a:r>
            <a:r>
              <a:rPr lang="ja-JP" sz="800" b="0" u="none" strike="noStrike">
                <a:solidFill>
                  <a:schemeClr val="lt1">
                    <a:lumMod val="65000"/>
                  </a:schemeClr>
                </a:solidFill>
                <a:effectLst/>
                <a:uFillTx/>
                <a:latin typeface="メイリオ"/>
                <a:ea typeface="メイリオ"/>
              </a:rPr>
              <a:t>〜</a:t>
            </a:r>
            <a:r>
              <a:rPr lang="en-US" sz="800" b="0" u="none" strike="noStrike">
                <a:solidFill>
                  <a:schemeClr val="lt1">
                    <a:lumMod val="65000"/>
                  </a:schemeClr>
                </a:solidFill>
                <a:effectLst/>
                <a:uFillTx/>
                <a:latin typeface="メイリオ"/>
                <a:ea typeface="メイリオ"/>
              </a:rPr>
              <a:t>14</a:t>
            </a:r>
            <a:r>
              <a:rPr lang="ja-JP" sz="800" b="0" u="none" strike="noStrike">
                <a:solidFill>
                  <a:schemeClr val="lt1">
                    <a:lumMod val="65000"/>
                  </a:schemeClr>
                </a:solidFill>
                <a:effectLst/>
                <a:uFillTx/>
                <a:latin typeface="メイリオ"/>
                <a:ea typeface="メイリオ"/>
              </a:rPr>
              <a:t>通）</a:t>
            </a:r>
            <a:endParaRPr lang="en-US" sz="800" b="0" u="none" strike="noStrike">
              <a:solidFill>
                <a:srgbClr val="000000"/>
              </a:solidFill>
              <a:effectLst/>
              <a:uFillTx/>
              <a:latin typeface="Arial"/>
            </a:endParaRPr>
          </a:p>
          <a:p>
            <a:pPr defTabSz="914400">
              <a:lnSpc>
                <a:spcPct val="135000"/>
              </a:lnSpc>
            </a:pPr>
            <a:r>
              <a:rPr lang="en-US" sz="800" b="0" u="none" strike="noStrike">
                <a:solidFill>
                  <a:schemeClr val="lt1">
                    <a:lumMod val="65000"/>
                  </a:schemeClr>
                </a:solidFill>
                <a:effectLst/>
                <a:uFillTx/>
                <a:latin typeface="メイリオ"/>
                <a:ea typeface="メイリオ"/>
              </a:rPr>
              <a:t>→ 商談・申込への誘導</a:t>
            </a:r>
            <a:endParaRPr lang="en-US" sz="800" b="0" u="none" strike="noStrike">
              <a:solidFill>
                <a:srgbClr val="000000"/>
              </a:solidFill>
              <a:effectLst/>
              <a:uFillTx/>
              <a:latin typeface="Arial"/>
            </a:endParaRPr>
          </a:p>
        </p:txBody>
      </p:sp>
      <p:cxnSp>
        <p:nvCxnSpPr>
          <p:cNvPr id="957" name="直線矢印コネクタ 98"/>
          <p:cNvCxnSpPr>
            <a:stCxn id="955" idx="3"/>
            <a:endCxn id="956" idx="1"/>
          </p:cNvCxnSpPr>
          <p:nvPr/>
        </p:nvCxnSpPr>
        <p:spPr>
          <a:xfrm>
            <a:off x="5399640" y="2847240"/>
            <a:ext cx="286200" cy="360"/>
          </a:xfrm>
          <a:prstGeom prst="straightConnector1">
            <a:avLst/>
          </a:prstGeom>
          <a:ln>
            <a:solidFill>
              <a:srgbClr val="000000"/>
            </a:solidFill>
            <a:prstDash val="sysDot"/>
            <a:round/>
            <a:tailEnd type="triangle" w="med" len="med"/>
          </a:ln>
        </p:spPr>
      </p:cxnSp>
      <p:sp>
        <p:nvSpPr>
          <p:cNvPr id="958" name="テキスト ボックス 102"/>
          <p:cNvSpPr/>
          <p:nvPr/>
        </p:nvSpPr>
        <p:spPr>
          <a:xfrm>
            <a:off x="7693200" y="1562760"/>
            <a:ext cx="1873800" cy="430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100" b="1" u="none" strike="noStrike">
                <a:solidFill>
                  <a:srgbClr val="FF0000"/>
                </a:solidFill>
                <a:effectLst/>
                <a:uFillTx/>
                <a:latin typeface="メイリオ"/>
                <a:ea typeface="メイリオ"/>
              </a:rPr>
              <a:t>CV</a:t>
            </a:r>
            <a:r>
              <a:rPr lang="ja-JP" sz="1100" b="1" u="none" strike="noStrike">
                <a:solidFill>
                  <a:srgbClr val="FF0000"/>
                </a:solidFill>
                <a:effectLst/>
                <a:uFillTx/>
                <a:latin typeface="メイリオ"/>
                <a:ea typeface="メイリオ"/>
              </a:rPr>
              <a:t>するユーザー割合</a:t>
            </a:r>
            <a:endParaRPr lang="en-US" sz="1100" b="0" u="none" strike="noStrike">
              <a:solidFill>
                <a:srgbClr val="000000"/>
              </a:solidFill>
              <a:effectLst/>
              <a:uFillTx/>
              <a:latin typeface="Arial"/>
            </a:endParaRPr>
          </a:p>
          <a:p>
            <a:pPr algn="ctr" defTabSz="914400">
              <a:lnSpc>
                <a:spcPct val="100000"/>
              </a:lnSpc>
            </a:pPr>
            <a:r>
              <a:rPr lang="en-US" sz="1000" b="0" u="none" strike="noStrike">
                <a:solidFill>
                  <a:srgbClr val="FF0000"/>
                </a:solidFill>
                <a:effectLst/>
                <a:uFillTx/>
                <a:latin typeface="メイリオ"/>
                <a:ea typeface="メイリオ"/>
              </a:rPr>
              <a:t>※平均値</a:t>
            </a:r>
            <a:endParaRPr lang="en-US" sz="1000" b="0" u="none" strike="noStrike">
              <a:solidFill>
                <a:srgbClr val="000000"/>
              </a:solidFill>
              <a:effectLst/>
              <a:uFillTx/>
              <a:latin typeface="Arial"/>
            </a:endParaRPr>
          </a:p>
        </p:txBody>
      </p:sp>
      <p:sp>
        <p:nvSpPr>
          <p:cNvPr id="959" name="テキスト ボックス 104"/>
          <p:cNvSpPr/>
          <p:nvPr/>
        </p:nvSpPr>
        <p:spPr>
          <a:xfrm>
            <a:off x="7845120" y="231408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ja-JP" sz="2800" b="1" u="none" strike="noStrike">
                <a:solidFill>
                  <a:srgbClr val="FF0000"/>
                </a:solidFill>
                <a:effectLst/>
                <a:uFillTx/>
                <a:latin typeface="メイリオ"/>
                <a:ea typeface="メイリオ"/>
              </a:rPr>
              <a:t>３</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0" name="テキスト ボックス 106"/>
          <p:cNvSpPr/>
          <p:nvPr/>
        </p:nvSpPr>
        <p:spPr>
          <a:xfrm>
            <a:off x="7831080" y="325908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en-US" sz="2800" b="1" u="none" strike="noStrike">
                <a:solidFill>
                  <a:srgbClr val="FF0000"/>
                </a:solidFill>
                <a:effectLst/>
                <a:uFillTx/>
                <a:latin typeface="メイリオ"/>
                <a:ea typeface="メイリオ"/>
              </a:rPr>
              <a:t>1.5</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1" name="テキスト ボックス 108"/>
          <p:cNvSpPr/>
          <p:nvPr/>
        </p:nvSpPr>
        <p:spPr>
          <a:xfrm>
            <a:off x="7845120" y="396468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en-US" sz="2800" b="1" u="none" strike="noStrike">
                <a:solidFill>
                  <a:srgbClr val="FF0000"/>
                </a:solidFill>
                <a:effectLst/>
                <a:uFillTx/>
                <a:latin typeface="メイリオ"/>
                <a:ea typeface="メイリオ"/>
              </a:rPr>
              <a:t>2.5</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2" name="テキスト ボックス 110"/>
          <p:cNvSpPr/>
          <p:nvPr/>
        </p:nvSpPr>
        <p:spPr>
          <a:xfrm>
            <a:off x="7831080" y="460476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en-US" sz="2800" b="1" u="none" strike="noStrike">
                <a:solidFill>
                  <a:srgbClr val="FF0000"/>
                </a:solidFill>
                <a:effectLst/>
                <a:uFillTx/>
                <a:latin typeface="メイリオ"/>
                <a:ea typeface="メイリオ"/>
              </a:rPr>
              <a:t>2.5</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3" name="テキスト ボックス 112"/>
          <p:cNvSpPr/>
          <p:nvPr/>
        </p:nvSpPr>
        <p:spPr>
          <a:xfrm>
            <a:off x="7831080" y="522900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en-US" sz="2800" b="1" u="none" strike="noStrike">
                <a:solidFill>
                  <a:srgbClr val="FF0000"/>
                </a:solidFill>
                <a:effectLst/>
                <a:uFillTx/>
                <a:latin typeface="メイリオ"/>
                <a:ea typeface="メイリオ"/>
              </a:rPr>
              <a:t>2.5</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4" name="テキスト ボックス 114"/>
          <p:cNvSpPr/>
          <p:nvPr/>
        </p:nvSpPr>
        <p:spPr>
          <a:xfrm>
            <a:off x="7831080" y="583488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en-US" sz="2800" b="1" u="none" strike="noStrike">
                <a:solidFill>
                  <a:srgbClr val="FF0000"/>
                </a:solidFill>
                <a:effectLst/>
                <a:uFillTx/>
                <a:latin typeface="メイリオ"/>
                <a:ea typeface="メイリオ"/>
              </a:rPr>
              <a:t>2</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5" name="Shape 17"/>
          <p:cNvSpPr/>
          <p:nvPr/>
        </p:nvSpPr>
        <p:spPr>
          <a:xfrm>
            <a:off x="3636360" y="32918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スクリーニングアンケート</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a:t>
            </a:r>
            <a:r>
              <a:rPr lang="en-US" sz="800" b="0" u="none" strike="noStrike">
                <a:solidFill>
                  <a:schemeClr val="lt1">
                    <a:lumMod val="65000"/>
                  </a:schemeClr>
                </a:solidFill>
                <a:effectLst/>
                <a:uFillTx/>
                <a:latin typeface="メイリオ"/>
                <a:ea typeface="メイリオ"/>
              </a:rPr>
              <a:t>3</a:t>
            </a:r>
            <a:r>
              <a:rPr lang="ja-JP" sz="800" b="0" u="none" strike="noStrike">
                <a:solidFill>
                  <a:schemeClr val="lt1">
                    <a:lumMod val="65000"/>
                  </a:schemeClr>
                </a:solidFill>
                <a:effectLst/>
                <a:uFillTx/>
                <a:latin typeface="メイリオ"/>
                <a:ea typeface="メイリオ"/>
              </a:rPr>
              <a:t>問）→ セグメント分類</a:t>
            </a:r>
            <a:endParaRPr lang="en-US" sz="800" b="0" u="none" strike="noStrike">
              <a:solidFill>
                <a:srgbClr val="000000"/>
              </a:solidFill>
              <a:effectLst/>
              <a:uFillTx/>
              <a:latin typeface="Arial"/>
            </a:endParaRPr>
          </a:p>
        </p:txBody>
      </p:sp>
      <p:sp>
        <p:nvSpPr>
          <p:cNvPr id="966" name="Shape 18"/>
          <p:cNvSpPr/>
          <p:nvPr/>
        </p:nvSpPr>
        <p:spPr>
          <a:xfrm>
            <a:off x="5685480" y="32918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セグメント別シナリオ配信</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ホットリード</a:t>
            </a:r>
            <a:r>
              <a:rPr lang="en-US" sz="800" b="0" u="none" strike="noStrike">
                <a:solidFill>
                  <a:schemeClr val="lt1">
                    <a:lumMod val="65000"/>
                  </a:schemeClr>
                </a:solidFill>
                <a:effectLst/>
                <a:uFillTx/>
                <a:latin typeface="メイリオ"/>
                <a:ea typeface="メイリオ"/>
              </a:rPr>
              <a:t>:</a:t>
            </a:r>
            <a:r>
              <a:rPr lang="ja-JP" sz="800" b="0" u="none" strike="noStrike">
                <a:solidFill>
                  <a:schemeClr val="lt1">
                    <a:lumMod val="65000"/>
                  </a:schemeClr>
                </a:solidFill>
                <a:effectLst/>
                <a:uFillTx/>
                <a:latin typeface="メイリオ"/>
                <a:ea typeface="メイリオ"/>
              </a:rPr>
              <a:t>即スタッフ対応</a:t>
            </a:r>
            <a:endParaRPr lang="en-US" sz="800" b="0" u="none" strike="noStrike">
              <a:solidFill>
                <a:srgbClr val="000000"/>
              </a:solidFill>
              <a:effectLst/>
              <a:uFillTx/>
              <a:latin typeface="Arial"/>
            </a:endParaRPr>
          </a:p>
        </p:txBody>
      </p:sp>
      <p:cxnSp>
        <p:nvCxnSpPr>
          <p:cNvPr id="967" name="直線矢印コネクタ 117"/>
          <p:cNvCxnSpPr>
            <a:stCxn id="965" idx="3"/>
            <a:endCxn id="966" idx="1"/>
          </p:cNvCxnSpPr>
          <p:nvPr/>
        </p:nvCxnSpPr>
        <p:spPr>
          <a:xfrm>
            <a:off x="5399640" y="3524760"/>
            <a:ext cx="286200" cy="360"/>
          </a:xfrm>
          <a:prstGeom prst="straightConnector1">
            <a:avLst/>
          </a:prstGeom>
          <a:ln>
            <a:solidFill>
              <a:srgbClr val="000000"/>
            </a:solidFill>
            <a:prstDash val="sysDot"/>
            <a:round/>
            <a:tailEnd type="triangle" w="med" len="med"/>
          </a:ln>
        </p:spPr>
      </p:cxnSp>
      <p:sp>
        <p:nvSpPr>
          <p:cNvPr id="968" name="Shape 17"/>
          <p:cNvSpPr/>
          <p:nvPr/>
        </p:nvSpPr>
        <p:spPr>
          <a:xfrm>
            <a:off x="3636360" y="403272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サンクス自動</a:t>
            </a:r>
            <a:r>
              <a:rPr lang="en-US" sz="800" b="0" u="none" strike="noStrike">
                <a:solidFill>
                  <a:schemeClr val="lt1">
                    <a:lumMod val="65000"/>
                  </a:schemeClr>
                </a:solidFill>
                <a:effectLst/>
                <a:uFillTx/>
                <a:latin typeface="メイリオ"/>
                <a:ea typeface="メイリオ"/>
              </a:rPr>
              <a:t>MSG</a:t>
            </a:r>
            <a:r>
              <a:rPr lang="ja-JP" sz="800" b="0" u="none" strike="noStrike">
                <a:solidFill>
                  <a:schemeClr val="lt1">
                    <a:lumMod val="65000"/>
                  </a:schemeClr>
                </a:solidFill>
                <a:effectLst/>
                <a:uFillTx/>
                <a:latin typeface="メイリオ"/>
                <a:ea typeface="メイリオ"/>
              </a:rPr>
              <a:t>＋</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次のアクション案内</a:t>
            </a:r>
            <a:endParaRPr lang="en-US" sz="800" b="0" u="none" strike="noStrike">
              <a:solidFill>
                <a:srgbClr val="000000"/>
              </a:solidFill>
              <a:effectLst/>
              <a:uFillTx/>
              <a:latin typeface="Arial"/>
            </a:endParaRPr>
          </a:p>
        </p:txBody>
      </p:sp>
      <p:sp>
        <p:nvSpPr>
          <p:cNvPr id="969" name="Shape 18"/>
          <p:cNvSpPr/>
          <p:nvPr/>
        </p:nvSpPr>
        <p:spPr>
          <a:xfrm>
            <a:off x="5685480" y="403272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リマインド配信</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クロスセル・アップセル</a:t>
            </a:r>
            <a:endParaRPr lang="en-US" sz="800" b="0" u="none" strike="noStrike">
              <a:solidFill>
                <a:srgbClr val="000000"/>
              </a:solidFill>
              <a:effectLst/>
              <a:uFillTx/>
              <a:latin typeface="Arial"/>
            </a:endParaRPr>
          </a:p>
        </p:txBody>
      </p:sp>
      <p:cxnSp>
        <p:nvCxnSpPr>
          <p:cNvPr id="970" name="直線矢印コネクタ 120"/>
          <p:cNvCxnSpPr>
            <a:stCxn id="968" idx="3"/>
            <a:endCxn id="969" idx="1"/>
          </p:cNvCxnSpPr>
          <p:nvPr/>
        </p:nvCxnSpPr>
        <p:spPr>
          <a:xfrm>
            <a:off x="5399640" y="4265640"/>
            <a:ext cx="286200" cy="360"/>
          </a:xfrm>
          <a:prstGeom prst="straightConnector1">
            <a:avLst/>
          </a:prstGeom>
          <a:ln>
            <a:solidFill>
              <a:srgbClr val="000000"/>
            </a:solidFill>
            <a:prstDash val="sysDot"/>
            <a:round/>
            <a:tailEnd type="triangle" w="med" len="med"/>
          </a:ln>
        </p:spPr>
      </p:cxnSp>
      <p:sp>
        <p:nvSpPr>
          <p:cNvPr id="971" name="Shape 17"/>
          <p:cNvSpPr/>
          <p:nvPr/>
        </p:nvSpPr>
        <p:spPr>
          <a:xfrm>
            <a:off x="3636360" y="463896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スクリーニング（</a:t>
            </a:r>
            <a:r>
              <a:rPr lang="en-US" sz="800" b="0" u="none" strike="noStrike">
                <a:solidFill>
                  <a:schemeClr val="lt1">
                    <a:lumMod val="65000"/>
                  </a:schemeClr>
                </a:solidFill>
                <a:effectLst/>
                <a:uFillTx/>
                <a:latin typeface="メイリオ"/>
                <a:ea typeface="メイリオ"/>
              </a:rPr>
              <a:t>3</a:t>
            </a:r>
            <a:r>
              <a:rPr lang="ja-JP" sz="800" b="0" u="none" strike="noStrike">
                <a:solidFill>
                  <a:schemeClr val="lt1">
                    <a:lumMod val="65000"/>
                  </a:schemeClr>
                </a:solidFill>
                <a:effectLst/>
                <a:uFillTx/>
                <a:latin typeface="メイリオ"/>
                <a:ea typeface="メイリオ"/>
              </a:rPr>
              <a:t>問）</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温度感・ニーズ把握</a:t>
            </a:r>
            <a:endParaRPr lang="en-US" sz="800" b="0" u="none" strike="noStrike">
              <a:solidFill>
                <a:srgbClr val="000000"/>
              </a:solidFill>
              <a:effectLst/>
              <a:uFillTx/>
              <a:latin typeface="Arial"/>
            </a:endParaRPr>
          </a:p>
        </p:txBody>
      </p:sp>
      <p:sp>
        <p:nvSpPr>
          <p:cNvPr id="972" name="Shape 18"/>
          <p:cNvSpPr/>
          <p:nvPr/>
        </p:nvSpPr>
        <p:spPr>
          <a:xfrm>
            <a:off x="5685480" y="463896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有効リード育成シナリオ</a:t>
            </a:r>
            <a:endParaRPr lang="en-US" sz="800" b="0" u="none" strike="noStrike">
              <a:solidFill>
                <a:srgbClr val="000000"/>
              </a:solidFill>
              <a:effectLst/>
              <a:uFillTx/>
              <a:latin typeface="Arial"/>
            </a:endParaRPr>
          </a:p>
          <a:p>
            <a:pPr defTabSz="914400">
              <a:lnSpc>
                <a:spcPct val="135000"/>
              </a:lnSpc>
            </a:pPr>
            <a:r>
              <a:rPr lang="en-US" sz="800" b="0" u="none" strike="noStrike">
                <a:solidFill>
                  <a:schemeClr val="lt1">
                    <a:lumMod val="65000"/>
                  </a:schemeClr>
                </a:solidFill>
                <a:effectLst/>
                <a:uFillTx/>
                <a:latin typeface="メイリオ"/>
                <a:ea typeface="メイリオ"/>
              </a:rPr>
              <a:t>→ 商談・再購入誘導</a:t>
            </a:r>
            <a:endParaRPr lang="en-US" sz="800" b="0" u="none" strike="noStrike">
              <a:solidFill>
                <a:srgbClr val="000000"/>
              </a:solidFill>
              <a:effectLst/>
              <a:uFillTx/>
              <a:latin typeface="Arial"/>
            </a:endParaRPr>
          </a:p>
        </p:txBody>
      </p:sp>
      <p:cxnSp>
        <p:nvCxnSpPr>
          <p:cNvPr id="973" name="直線矢印コネクタ 123"/>
          <p:cNvCxnSpPr>
            <a:stCxn id="971" idx="3"/>
            <a:endCxn id="972" idx="1"/>
          </p:cNvCxnSpPr>
          <p:nvPr/>
        </p:nvCxnSpPr>
        <p:spPr>
          <a:xfrm>
            <a:off x="5399640" y="4871880"/>
            <a:ext cx="286200" cy="360"/>
          </a:xfrm>
          <a:prstGeom prst="straightConnector1">
            <a:avLst/>
          </a:prstGeom>
          <a:ln>
            <a:solidFill>
              <a:srgbClr val="000000"/>
            </a:solidFill>
            <a:prstDash val="sysDot"/>
            <a:round/>
            <a:tailEnd type="triangle" w="med" len="med"/>
          </a:ln>
        </p:spPr>
      </p:cxnSp>
      <p:sp>
        <p:nvSpPr>
          <p:cNvPr id="974" name="Shape 17"/>
          <p:cNvSpPr/>
          <p:nvPr/>
        </p:nvSpPr>
        <p:spPr>
          <a:xfrm>
            <a:off x="3636360" y="52628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一斉配信でリスト活性化</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アンケートで属性把握</a:t>
            </a:r>
            <a:endParaRPr lang="en-US" sz="800" b="0" u="none" strike="noStrike">
              <a:solidFill>
                <a:srgbClr val="000000"/>
              </a:solidFill>
              <a:effectLst/>
              <a:uFillTx/>
              <a:latin typeface="Arial"/>
            </a:endParaRPr>
          </a:p>
        </p:txBody>
      </p:sp>
      <p:sp>
        <p:nvSpPr>
          <p:cNvPr id="975" name="Shape 18"/>
          <p:cNvSpPr/>
          <p:nvPr/>
        </p:nvSpPr>
        <p:spPr>
          <a:xfrm>
            <a:off x="5685480" y="52628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セグメント別ナーチャリング</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季節・タイミング別企画配信</a:t>
            </a:r>
            <a:endParaRPr lang="en-US" sz="800" b="0" u="none" strike="noStrike">
              <a:solidFill>
                <a:srgbClr val="000000"/>
              </a:solidFill>
              <a:effectLst/>
              <a:uFillTx/>
              <a:latin typeface="Arial"/>
            </a:endParaRPr>
          </a:p>
        </p:txBody>
      </p:sp>
      <p:cxnSp>
        <p:nvCxnSpPr>
          <p:cNvPr id="976" name="直線矢印コネクタ 126"/>
          <p:cNvCxnSpPr>
            <a:stCxn id="974" idx="3"/>
            <a:endCxn id="975" idx="1"/>
          </p:cNvCxnSpPr>
          <p:nvPr/>
        </p:nvCxnSpPr>
        <p:spPr>
          <a:xfrm>
            <a:off x="5399640" y="5495760"/>
            <a:ext cx="286200" cy="360"/>
          </a:xfrm>
          <a:prstGeom prst="straightConnector1">
            <a:avLst/>
          </a:prstGeom>
          <a:ln>
            <a:solidFill>
              <a:srgbClr val="000000"/>
            </a:solidFill>
            <a:prstDash val="sysDot"/>
            <a:round/>
            <a:tailEnd type="triangle" w="med" len="med"/>
          </a:ln>
        </p:spPr>
      </p:cxnSp>
      <p:sp>
        <p:nvSpPr>
          <p:cNvPr id="977" name="Shape 17"/>
          <p:cNvSpPr/>
          <p:nvPr/>
        </p:nvSpPr>
        <p:spPr>
          <a:xfrm>
            <a:off x="3636360" y="58712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en-US" sz="800" b="0" u="none" strike="noStrike">
                <a:solidFill>
                  <a:schemeClr val="lt1">
                    <a:lumMod val="65000"/>
                  </a:schemeClr>
                </a:solidFill>
                <a:effectLst/>
                <a:uFillTx/>
                <a:latin typeface="メイリオ"/>
                <a:ea typeface="メイリオ"/>
              </a:rPr>
              <a:t>LINE</a:t>
            </a:r>
            <a:r>
              <a:rPr lang="ja-JP" sz="800" b="0" u="none" strike="noStrike">
                <a:solidFill>
                  <a:schemeClr val="lt1">
                    <a:lumMod val="65000"/>
                  </a:schemeClr>
                </a:solidFill>
                <a:effectLst/>
                <a:uFillTx/>
                <a:latin typeface="メイリオ"/>
                <a:ea typeface="メイリオ"/>
              </a:rPr>
              <a:t>移行キャンペーン</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（特典訴求で友だち追加促進）</a:t>
            </a:r>
            <a:endParaRPr lang="en-US" sz="800" b="0" u="none" strike="noStrike">
              <a:solidFill>
                <a:srgbClr val="000000"/>
              </a:solidFill>
              <a:effectLst/>
              <a:uFillTx/>
              <a:latin typeface="Arial"/>
            </a:endParaRPr>
          </a:p>
        </p:txBody>
      </p:sp>
      <p:sp>
        <p:nvSpPr>
          <p:cNvPr id="978" name="Shape 18"/>
          <p:cNvSpPr/>
          <p:nvPr/>
        </p:nvSpPr>
        <p:spPr>
          <a:xfrm>
            <a:off x="5685480" y="58712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en-US" sz="800" b="0" u="none" strike="noStrike">
                <a:solidFill>
                  <a:schemeClr val="lt1">
                    <a:lumMod val="65000"/>
                  </a:schemeClr>
                </a:solidFill>
                <a:effectLst/>
                <a:uFillTx/>
                <a:latin typeface="メイリオ"/>
                <a:ea typeface="メイリオ"/>
              </a:rPr>
              <a:t>LINE</a:t>
            </a:r>
            <a:r>
              <a:rPr lang="ja-JP" sz="800" b="0" u="none" strike="noStrike">
                <a:solidFill>
                  <a:schemeClr val="lt1">
                    <a:lumMod val="65000"/>
                  </a:schemeClr>
                </a:solidFill>
                <a:effectLst/>
                <a:uFillTx/>
                <a:latin typeface="メイリオ"/>
                <a:ea typeface="メイリオ"/>
              </a:rPr>
              <a:t>でリピート率向上</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紹介キャンペーン・</a:t>
            </a:r>
            <a:r>
              <a:rPr lang="en-US" sz="800" b="0" u="none" strike="noStrike">
                <a:solidFill>
                  <a:schemeClr val="lt1">
                    <a:lumMod val="65000"/>
                  </a:schemeClr>
                </a:solidFill>
                <a:effectLst/>
                <a:uFillTx/>
                <a:latin typeface="メイリオ"/>
                <a:ea typeface="メイリオ"/>
              </a:rPr>
              <a:t>LTV</a:t>
            </a:r>
            <a:r>
              <a:rPr lang="ja-JP" sz="800" b="0" u="none" strike="noStrike">
                <a:solidFill>
                  <a:schemeClr val="lt1">
                    <a:lumMod val="65000"/>
                  </a:schemeClr>
                </a:solidFill>
                <a:effectLst/>
                <a:uFillTx/>
                <a:latin typeface="メイリオ"/>
                <a:ea typeface="メイリオ"/>
              </a:rPr>
              <a:t>最大化</a:t>
            </a:r>
            <a:endParaRPr lang="en-US" sz="800" b="0" u="none" strike="noStrike">
              <a:solidFill>
                <a:srgbClr val="000000"/>
              </a:solidFill>
              <a:effectLst/>
              <a:uFillTx/>
              <a:latin typeface="Arial"/>
            </a:endParaRPr>
          </a:p>
        </p:txBody>
      </p:sp>
      <p:cxnSp>
        <p:nvCxnSpPr>
          <p:cNvPr id="979" name="直線矢印コネクタ 129"/>
          <p:cNvCxnSpPr>
            <a:stCxn id="977" idx="3"/>
            <a:endCxn id="978" idx="1"/>
          </p:cNvCxnSpPr>
          <p:nvPr/>
        </p:nvCxnSpPr>
        <p:spPr>
          <a:xfrm>
            <a:off x="5399640" y="6104160"/>
            <a:ext cx="286200" cy="360"/>
          </a:xfrm>
          <a:prstGeom prst="straightConnector1">
            <a:avLst/>
          </a:prstGeom>
          <a:ln>
            <a:solidFill>
              <a:srgbClr val="000000"/>
            </a:solidFill>
            <a:prstDash val="sysDot"/>
            <a:round/>
            <a:tailEnd type="triangle" w="med" len="med"/>
          </a:ln>
        </p:spPr>
      </p:cxn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　</a:t>
            </a:r>
            <a:r>
              <a:rPr lang="en-US" sz="1400" b="1" u="none" strike="noStrike">
                <a:solidFill>
                  <a:srgbClr val="FF0000"/>
                </a:solidFill>
                <a:effectLst/>
                <a:uFillTx/>
                <a:latin typeface="メイリオ"/>
                <a:ea typeface="メイリオ"/>
              </a:rPr>
              <a:t>[CRM</a:t>
            </a:r>
            <a:r>
              <a:rPr lang="ja-JP" sz="1400" b="1" u="none" strike="noStrike">
                <a:solidFill>
                  <a:srgbClr val="FF0000"/>
                </a:solidFill>
                <a:effectLst/>
                <a:uFillTx/>
                <a:latin typeface="メイリオ"/>
                <a:ea typeface="メイリオ"/>
              </a:rPr>
              <a:t>及び</a:t>
            </a:r>
            <a:r>
              <a:rPr lang="en-US" sz="1400" b="1" u="none" strike="noStrike">
                <a:solidFill>
                  <a:srgbClr val="FF0000"/>
                </a:solidFill>
                <a:effectLst/>
                <a:uFillTx/>
                <a:latin typeface="メイリオ"/>
                <a:ea typeface="メイリオ"/>
              </a:rPr>
              <a:t>API</a:t>
            </a:r>
            <a:r>
              <a:rPr lang="ja-JP" sz="1400" b="1" u="none" strike="noStrike">
                <a:solidFill>
                  <a:srgbClr val="FF0000"/>
                </a:solidFill>
                <a:effectLst/>
                <a:uFillTx/>
                <a:latin typeface="メイリオ"/>
                <a:ea typeface="メイリオ"/>
              </a:rPr>
              <a:t>ツールとの連携</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83" name="正方形/長方形 1"/>
          <p:cNvSpPr/>
          <p:nvPr/>
        </p:nvSpPr>
        <p:spPr>
          <a:xfrm>
            <a:off x="804960" y="5113440"/>
            <a:ext cx="3833640" cy="824760"/>
          </a:xfrm>
          <a:prstGeom prst="rect">
            <a:avLst/>
          </a:prstGeom>
          <a:solidFill>
            <a:schemeClr val="accent1">
              <a:lumMod val="20000"/>
              <a:lumOff val="80000"/>
            </a:schemeClr>
          </a:solid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rgbClr val="073763"/>
                </a:solidFill>
                <a:effectLst/>
                <a:uFillTx/>
                <a:latin typeface="メイリオ"/>
                <a:ea typeface="メイリオ"/>
              </a:rPr>
              <a:t>「</a:t>
            </a:r>
            <a:r>
              <a:rPr lang="en-US" sz="1400" b="0" u="none" strike="noStrike">
                <a:solidFill>
                  <a:srgbClr val="073763"/>
                </a:solidFill>
                <a:effectLst/>
                <a:uFillTx/>
                <a:latin typeface="メイリオ"/>
                <a:ea typeface="メイリオ"/>
              </a:rPr>
              <a:t>CRM</a:t>
            </a:r>
            <a:r>
              <a:rPr lang="ja-JP" sz="1400" b="0" u="none" strike="noStrike">
                <a:solidFill>
                  <a:srgbClr val="073763"/>
                </a:solidFill>
                <a:effectLst/>
                <a:uFillTx/>
                <a:latin typeface="メイリオ"/>
                <a:ea typeface="メイリオ"/>
              </a:rPr>
              <a:t>側でどんな情報を取りたいか」が重要</a:t>
            </a:r>
            <a:br>
              <a:rPr sz="1400"/>
            </a:br>
            <a:r>
              <a:rPr lang="ja-JP" sz="1400" b="1" u="none" strike="noStrike">
                <a:solidFill>
                  <a:srgbClr val="073763"/>
                </a:solidFill>
                <a:effectLst/>
                <a:uFillTx/>
                <a:latin typeface="メイリオ"/>
                <a:ea typeface="メイリオ"/>
              </a:rPr>
              <a:t>要件定義</a:t>
            </a:r>
            <a:r>
              <a:rPr lang="ja-JP" sz="1400" b="0" u="none" strike="noStrike">
                <a:solidFill>
                  <a:srgbClr val="073763"/>
                </a:solidFill>
                <a:effectLst/>
                <a:uFillTx/>
                <a:latin typeface="メイリオ"/>
                <a:ea typeface="メイリオ"/>
              </a:rPr>
              <a:t>を先にする必要がある</a:t>
            </a:r>
            <a:endParaRPr lang="en-US" sz="1400" b="0" u="none" strike="noStrike">
              <a:solidFill>
                <a:srgbClr val="000000"/>
              </a:solidFill>
              <a:effectLst/>
              <a:uFillTx/>
              <a:latin typeface="Arial"/>
            </a:endParaRPr>
          </a:p>
        </p:txBody>
      </p:sp>
      <p:sp>
        <p:nvSpPr>
          <p:cNvPr id="984" name="正方形/長方形 2"/>
          <p:cNvSpPr/>
          <p:nvPr/>
        </p:nvSpPr>
        <p:spPr>
          <a:xfrm>
            <a:off x="549000" y="1746720"/>
            <a:ext cx="28087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▼CRM</a:t>
            </a:r>
            <a:r>
              <a:rPr lang="ja-JP" sz="1200" b="0" u="none" strike="noStrike">
                <a:solidFill>
                  <a:schemeClr val="dk1">
                    <a:lumMod val="75000"/>
                    <a:lumOff val="25000"/>
                  </a:schemeClr>
                </a:solidFill>
                <a:effectLst/>
                <a:uFillTx/>
                <a:latin typeface="メイリオ"/>
                <a:ea typeface="メイリオ"/>
              </a:rPr>
              <a:t>によるセグメント配信の違い</a:t>
            </a:r>
            <a:endParaRPr lang="en-US" sz="1200" b="0" u="none" strike="noStrike">
              <a:solidFill>
                <a:srgbClr val="000000"/>
              </a:solidFill>
              <a:effectLst/>
              <a:uFillTx/>
              <a:latin typeface="Arial"/>
            </a:endParaRPr>
          </a:p>
        </p:txBody>
      </p:sp>
      <p:sp>
        <p:nvSpPr>
          <p:cNvPr id="985" name="正方形/長方形 4"/>
          <p:cNvSpPr/>
          <p:nvPr/>
        </p:nvSpPr>
        <p:spPr>
          <a:xfrm>
            <a:off x="4855320" y="1681920"/>
            <a:ext cx="16369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200" b="0" u="none" strike="noStrike">
              <a:solidFill>
                <a:schemeClr val="dk1">
                  <a:lumMod val="75000"/>
                  <a:lumOff val="25000"/>
                </a:schemeClr>
              </a:solidFill>
              <a:effectLst/>
              <a:uFillTx/>
              <a:latin typeface="メイリオ"/>
              <a:ea typeface="メイリオ"/>
            </a:endParaRPr>
          </a:p>
        </p:txBody>
      </p:sp>
      <p:pic>
        <p:nvPicPr>
          <p:cNvPr id="986" name="図 5"/>
          <p:cNvPicPr/>
          <p:nvPr/>
        </p:nvPicPr>
        <p:blipFill>
          <a:blip r:embed="rId2"/>
          <a:stretch/>
        </p:blipFill>
        <p:spPr>
          <a:xfrm>
            <a:off x="767880" y="2097720"/>
            <a:ext cx="1748520" cy="1226520"/>
          </a:xfrm>
          <a:prstGeom prst="rect">
            <a:avLst/>
          </a:prstGeom>
          <a:noFill/>
          <a:ln w="0">
            <a:noFill/>
          </a:ln>
        </p:spPr>
      </p:pic>
      <p:pic>
        <p:nvPicPr>
          <p:cNvPr id="987" name="図 6"/>
          <p:cNvPicPr/>
          <p:nvPr/>
        </p:nvPicPr>
        <p:blipFill>
          <a:blip r:embed="rId3"/>
          <a:stretch/>
        </p:blipFill>
        <p:spPr>
          <a:xfrm>
            <a:off x="2629440" y="2290320"/>
            <a:ext cx="2165760" cy="762120"/>
          </a:xfrm>
          <a:prstGeom prst="rect">
            <a:avLst/>
          </a:prstGeom>
          <a:noFill/>
          <a:ln w="0">
            <a:noFill/>
          </a:ln>
        </p:spPr>
      </p:pic>
      <p:pic>
        <p:nvPicPr>
          <p:cNvPr id="988" name="図 7"/>
          <p:cNvPicPr/>
          <p:nvPr/>
        </p:nvPicPr>
        <p:blipFill>
          <a:blip r:embed="rId4"/>
          <a:stretch/>
        </p:blipFill>
        <p:spPr>
          <a:xfrm>
            <a:off x="732600" y="3382560"/>
            <a:ext cx="1896480" cy="592560"/>
          </a:xfrm>
          <a:prstGeom prst="rect">
            <a:avLst/>
          </a:prstGeom>
          <a:noFill/>
          <a:ln w="0">
            <a:noFill/>
          </a:ln>
        </p:spPr>
      </p:pic>
      <p:pic>
        <p:nvPicPr>
          <p:cNvPr id="989" name="図 9"/>
          <p:cNvPicPr/>
          <p:nvPr/>
        </p:nvPicPr>
        <p:blipFill>
          <a:blip r:embed="rId5"/>
          <a:stretch/>
        </p:blipFill>
        <p:spPr>
          <a:xfrm>
            <a:off x="2774880" y="3271680"/>
            <a:ext cx="1980360" cy="824760"/>
          </a:xfrm>
          <a:prstGeom prst="rect">
            <a:avLst/>
          </a:prstGeom>
          <a:noFill/>
          <a:ln w="0">
            <a:noFill/>
          </a:ln>
        </p:spPr>
      </p:pic>
      <p:sp>
        <p:nvSpPr>
          <p:cNvPr id="990" name="二等辺三角形 10"/>
          <p:cNvSpPr/>
          <p:nvPr/>
        </p:nvSpPr>
        <p:spPr>
          <a:xfrm flipV="1">
            <a:off x="2404440" y="4662000"/>
            <a:ext cx="634680" cy="242640"/>
          </a:xfrm>
          <a:prstGeom prst="triangle">
            <a:avLst>
              <a:gd name="adj" fmla="val 50000"/>
            </a:avLst>
          </a:prstGeom>
          <a:solidFill>
            <a:srgbClr val="4F81BD"/>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91" name="正方形/長方形 11"/>
          <p:cNvSpPr/>
          <p:nvPr/>
        </p:nvSpPr>
        <p:spPr>
          <a:xfrm>
            <a:off x="5088240" y="1746720"/>
            <a:ext cx="28087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▼参考：L</a:t>
            </a:r>
            <a:r>
              <a:rPr lang="ja-JP" sz="1200" b="0" u="none" strike="noStrike">
                <a:solidFill>
                  <a:schemeClr val="dk1">
                    <a:lumMod val="75000"/>
                    <a:lumOff val="25000"/>
                  </a:schemeClr>
                </a:solidFill>
                <a:effectLst/>
                <a:uFillTx/>
                <a:latin typeface="メイリオ"/>
                <a:ea typeface="メイリオ"/>
              </a:rPr>
              <a:t>ステップ</a:t>
            </a:r>
            <a:r>
              <a:rPr lang="en-US" sz="1200" b="0" u="none" strike="noStrike">
                <a:solidFill>
                  <a:schemeClr val="dk1">
                    <a:lumMod val="75000"/>
                    <a:lumOff val="25000"/>
                  </a:schemeClr>
                </a:solidFill>
                <a:effectLst/>
                <a:uFillTx/>
                <a:latin typeface="メイリオ"/>
                <a:ea typeface="メイリオ"/>
              </a:rPr>
              <a:t>API</a:t>
            </a:r>
            <a:r>
              <a:rPr lang="ja-JP" sz="1200" b="0" u="none" strike="noStrike">
                <a:solidFill>
                  <a:schemeClr val="dk1">
                    <a:lumMod val="75000"/>
                    <a:lumOff val="25000"/>
                  </a:schemeClr>
                </a:solidFill>
                <a:effectLst/>
                <a:uFillTx/>
                <a:latin typeface="メイリオ"/>
                <a:ea typeface="メイリオ"/>
              </a:rPr>
              <a:t>連携機能</a:t>
            </a:r>
            <a:endParaRPr lang="en-US" sz="1200" b="0" u="none" strike="noStrike">
              <a:solidFill>
                <a:srgbClr val="000000"/>
              </a:solidFill>
              <a:effectLst/>
              <a:uFillTx/>
              <a:latin typeface="Arial"/>
            </a:endParaRPr>
          </a:p>
        </p:txBody>
      </p:sp>
      <p:pic>
        <p:nvPicPr>
          <p:cNvPr id="992" name="図 12"/>
          <p:cNvPicPr/>
          <p:nvPr/>
        </p:nvPicPr>
        <p:blipFill>
          <a:blip r:embed="rId6"/>
          <a:stretch/>
        </p:blipFill>
        <p:spPr>
          <a:xfrm>
            <a:off x="5088240" y="2053800"/>
            <a:ext cx="4493520" cy="4306320"/>
          </a:xfrm>
          <a:prstGeom prst="rect">
            <a:avLst/>
          </a:prstGeom>
          <a:noFill/>
          <a:ln w="0">
            <a:noFill/>
          </a:ln>
        </p:spPr>
      </p:pic>
      <p:sp>
        <p:nvSpPr>
          <p:cNvPr id="993" name="Google Shape;752;p28"/>
          <p:cNvSpPr/>
          <p:nvPr/>
        </p:nvSpPr>
        <p:spPr>
          <a:xfrm>
            <a:off x="776160" y="864360"/>
            <a:ext cx="8353440" cy="52272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algn="ctr" defTabSz="914400">
              <a:lnSpc>
                <a:spcPct val="100000"/>
              </a:lnSpc>
            </a:pPr>
            <a:r>
              <a:rPr lang="en-US" sz="1400" b="0" u="none" strike="noStrike">
                <a:solidFill>
                  <a:schemeClr val="dk1"/>
                </a:solidFill>
                <a:effectLst/>
                <a:uFillTx/>
                <a:latin typeface="メイリオ"/>
                <a:ea typeface="メイリオ"/>
              </a:rPr>
              <a:t>CRM</a:t>
            </a:r>
            <a:r>
              <a:rPr lang="ja-JP" sz="1400" b="0" u="none" strike="noStrike">
                <a:solidFill>
                  <a:schemeClr val="dk1"/>
                </a:solidFill>
                <a:effectLst/>
                <a:uFillTx/>
                <a:latin typeface="メイリオ"/>
                <a:ea typeface="メイリオ"/>
              </a:rPr>
              <a:t>、</a:t>
            </a:r>
            <a:r>
              <a:rPr lang="en-US" sz="1400" b="0" u="none" strike="noStrike">
                <a:solidFill>
                  <a:schemeClr val="dk1"/>
                </a:solidFill>
                <a:effectLst/>
                <a:uFillTx/>
                <a:latin typeface="メイリオ"/>
                <a:ea typeface="メイリオ"/>
              </a:rPr>
              <a:t>API</a:t>
            </a:r>
            <a:r>
              <a:rPr lang="ja-JP" sz="1400" b="0" u="none" strike="noStrike">
                <a:solidFill>
                  <a:schemeClr val="dk1"/>
                </a:solidFill>
                <a:effectLst/>
                <a:uFillTx/>
                <a:latin typeface="メイリオ"/>
                <a:ea typeface="メイリオ"/>
              </a:rPr>
              <a:t>ツールで要件定義を行いつつ、効率化及び詳細なセグメント設計を目的として、</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メイリオ"/>
                <a:ea typeface="メイリオ"/>
              </a:rPr>
              <a:t>貴社内の顧客管理（</a:t>
            </a:r>
            <a:r>
              <a:rPr lang="en-US" sz="1400" b="0" u="none" strike="noStrike">
                <a:solidFill>
                  <a:schemeClr val="dk1"/>
                </a:solidFill>
                <a:effectLst/>
                <a:uFillTx/>
                <a:latin typeface="メイリオ"/>
                <a:ea typeface="メイリオ"/>
              </a:rPr>
              <a:t>CRM</a:t>
            </a:r>
            <a:r>
              <a:rPr lang="ja-JP" sz="1400" b="0" u="none" strike="noStrike">
                <a:solidFill>
                  <a:schemeClr val="dk1"/>
                </a:solidFill>
                <a:effectLst/>
                <a:uFillTx/>
                <a:latin typeface="メイリオ"/>
                <a:ea typeface="メイリオ"/>
              </a:rPr>
              <a:t>）ツールとの連携の実施も可能です。</a:t>
            </a:r>
            <a:r>
              <a:rPr lang="en-US" sz="1100" b="0" u="none" strike="noStrike">
                <a:solidFill>
                  <a:srgbClr val="FF0000"/>
                </a:solidFill>
                <a:effectLst/>
                <a:uFillTx/>
                <a:latin typeface="メイリオ"/>
                <a:ea typeface="メイリオ"/>
              </a:rPr>
              <a:t> ※開発は別途費用</a:t>
            </a:r>
            <a:endParaRPr lang="en-US" sz="1100" b="0" u="none" strike="noStrike">
              <a:solidFill>
                <a:srgbClr val="000000"/>
              </a:solidFill>
              <a:effectLst/>
              <a:uFillTx/>
              <a:latin typeface="Arial"/>
            </a:endParaRPr>
          </a:p>
        </p:txBody>
      </p:sp>
      <p:pic>
        <p:nvPicPr>
          <p:cNvPr id="994" name="図 15"/>
          <p:cNvPicPr/>
          <p:nvPr/>
        </p:nvPicPr>
        <p:blipFill>
          <a:blip r:embed="rId7"/>
          <a:stretch/>
        </p:blipFill>
        <p:spPr>
          <a:xfrm>
            <a:off x="8357040" y="3138840"/>
            <a:ext cx="1224720" cy="371160"/>
          </a:xfrm>
          <a:prstGeom prst="rect">
            <a:avLst/>
          </a:prstGeom>
          <a:noFill/>
          <a:ln w="0">
            <a:noFill/>
          </a:ln>
        </p:spPr>
      </p:pic>
      <p:sp>
        <p:nvSpPr>
          <p:cNvPr id="995" name="正方形/長方形 17"/>
          <p:cNvSpPr/>
          <p:nvPr/>
        </p:nvSpPr>
        <p:spPr>
          <a:xfrm>
            <a:off x="7392960" y="2667960"/>
            <a:ext cx="1404000" cy="7041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LINE</a:t>
            </a:r>
            <a:r>
              <a:rPr lang="ja-JP" sz="1200" b="0" u="none" strike="noStrike">
                <a:solidFill>
                  <a:schemeClr val="dk1">
                    <a:lumMod val="75000"/>
                    <a:lumOff val="25000"/>
                  </a:schemeClr>
                </a:solidFill>
                <a:effectLst/>
                <a:uFillTx/>
                <a:latin typeface="メイリオ"/>
                <a:ea typeface="メイリオ"/>
              </a:rPr>
              <a:t>公式と</a:t>
            </a:r>
            <a:r>
              <a:rPr lang="en-US" sz="1200" b="0" u="none" strike="noStrike">
                <a:solidFill>
                  <a:schemeClr val="dk1">
                    <a:lumMod val="75000"/>
                    <a:lumOff val="25000"/>
                  </a:schemeClr>
                </a:solidFill>
                <a:effectLst/>
                <a:uFillTx/>
                <a:latin typeface="メイリオ"/>
                <a:ea typeface="メイリオ"/>
              </a:rPr>
              <a:t>API</a:t>
            </a:r>
            <a:r>
              <a:rPr lang="ja-JP" sz="1200" b="0" u="none" strike="noStrike">
                <a:solidFill>
                  <a:schemeClr val="dk1">
                    <a:lumMod val="75000"/>
                    <a:lumOff val="25000"/>
                  </a:schemeClr>
                </a:solidFill>
                <a:effectLst/>
                <a:uFillTx/>
                <a:latin typeface="メイリオ"/>
                <a:ea typeface="メイリオ"/>
              </a:rPr>
              <a:t>ツール間の</a:t>
            </a:r>
            <a:endParaRPr lang="en-US" sz="1200" b="0" u="none" strike="noStrike">
              <a:solidFill>
                <a:srgbClr val="000000"/>
              </a:solidFill>
              <a:effectLst/>
              <a:uFillTx/>
              <a:latin typeface="Arial"/>
            </a:endParaRPr>
          </a:p>
          <a:p>
            <a:pPr defTabSz="914400">
              <a:lnSpc>
                <a:spcPct val="100000"/>
              </a:lnSpc>
            </a:pPr>
            <a:r>
              <a:rPr lang="ja-JP" sz="1200" b="0" u="none" strike="noStrike">
                <a:solidFill>
                  <a:schemeClr val="dk1">
                    <a:lumMod val="75000"/>
                    <a:lumOff val="25000"/>
                  </a:schemeClr>
                </a:solidFill>
                <a:effectLst/>
                <a:uFillTx/>
                <a:latin typeface="メイリオ"/>
                <a:ea typeface="メイリオ"/>
              </a:rPr>
              <a:t>情報連携</a:t>
            </a:r>
            <a:endParaRPr lang="en-US" sz="1200" b="0" u="none" strike="noStrike">
              <a:solidFill>
                <a:srgbClr val="000000"/>
              </a:solidFill>
              <a:effectLst/>
              <a:uFillTx/>
              <a:latin typeface="Arial"/>
            </a:endParaRPr>
          </a:p>
        </p:txBody>
      </p:sp>
      <p:sp>
        <p:nvSpPr>
          <p:cNvPr id="996" name="正方形/長方形 18"/>
          <p:cNvSpPr/>
          <p:nvPr/>
        </p:nvSpPr>
        <p:spPr>
          <a:xfrm>
            <a:off x="5873760" y="2711520"/>
            <a:ext cx="988920" cy="4233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ja-JP" sz="1200" b="0" u="none" strike="noStrike">
                <a:solidFill>
                  <a:schemeClr val="dk1">
                    <a:lumMod val="75000"/>
                    <a:lumOff val="25000"/>
                  </a:schemeClr>
                </a:solidFill>
                <a:effectLst/>
                <a:uFillTx/>
                <a:latin typeface="メイリオ"/>
                <a:ea typeface="メイリオ"/>
              </a:rPr>
              <a:t>メッセ送信</a:t>
            </a:r>
            <a:endParaRPr lang="en-US" sz="1200" b="0" u="none" strike="noStrike">
              <a:solidFill>
                <a:srgbClr val="000000"/>
              </a:solidFill>
              <a:effectLst/>
              <a:uFillTx/>
              <a:latin typeface="Arial"/>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7"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998" name="正方形/長方形 7"/>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600" b="1" u="none" strike="noStrike">
                <a:solidFill>
                  <a:schemeClr val="lt1"/>
                </a:solidFill>
                <a:effectLst/>
                <a:uFillTx/>
                <a:latin typeface="メイリオ"/>
                <a:ea typeface="メイリオ"/>
              </a:rPr>
              <a:t>ミニアプリ</a:t>
            </a:r>
            <a:endParaRPr lang="en-US" sz="1600" b="0" u="none" strike="noStrike">
              <a:solidFill>
                <a:srgbClr val="FFFFFF"/>
              </a:solidFill>
              <a:effectLst/>
              <a:uFillTx/>
              <a:latin typeface="Arial"/>
            </a:endParaRPr>
          </a:p>
        </p:txBody>
      </p:sp>
      <p:pic>
        <p:nvPicPr>
          <p:cNvPr id="999" name="図 14"/>
          <p:cNvPicPr/>
          <p:nvPr/>
        </p:nvPicPr>
        <p:blipFill>
          <a:blip r:embed="rId2"/>
          <a:stretch/>
        </p:blipFill>
        <p:spPr>
          <a:xfrm>
            <a:off x="394920" y="4223520"/>
            <a:ext cx="4883400" cy="2255040"/>
          </a:xfrm>
          <a:prstGeom prst="rect">
            <a:avLst/>
          </a:prstGeom>
          <a:noFill/>
          <a:ln w="0">
            <a:noFill/>
          </a:ln>
        </p:spPr>
      </p:pic>
      <p:pic>
        <p:nvPicPr>
          <p:cNvPr id="1000" name="図 15"/>
          <p:cNvPicPr/>
          <p:nvPr/>
        </p:nvPicPr>
        <p:blipFill>
          <a:blip r:embed="rId3"/>
          <a:stretch/>
        </p:blipFill>
        <p:spPr>
          <a:xfrm>
            <a:off x="5447520" y="4291920"/>
            <a:ext cx="4377240" cy="1962000"/>
          </a:xfrm>
          <a:prstGeom prst="rect">
            <a:avLst/>
          </a:prstGeom>
          <a:noFill/>
          <a:ln w="0">
            <a:noFill/>
          </a:ln>
        </p:spPr>
      </p:pic>
      <p:pic>
        <p:nvPicPr>
          <p:cNvPr id="1001" name="図 16"/>
          <p:cNvPicPr/>
          <p:nvPr/>
        </p:nvPicPr>
        <p:blipFill>
          <a:blip r:embed="rId4"/>
          <a:stretch/>
        </p:blipFill>
        <p:spPr>
          <a:xfrm>
            <a:off x="295560" y="1824480"/>
            <a:ext cx="5880600" cy="2266560"/>
          </a:xfrm>
          <a:prstGeom prst="rect">
            <a:avLst/>
          </a:prstGeom>
          <a:noFill/>
          <a:ln w="0">
            <a:noFill/>
          </a:ln>
        </p:spPr>
      </p:pic>
      <p:sp>
        <p:nvSpPr>
          <p:cNvPr id="1002" name="正方形/長方形 1"/>
          <p:cNvSpPr/>
          <p:nvPr/>
        </p:nvSpPr>
        <p:spPr>
          <a:xfrm>
            <a:off x="2971080" y="822960"/>
            <a:ext cx="666900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内で活用できるミニアプリでは、ゲームや抽選といった機能を</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アプリ開発よりも大幅に格安な価格帯で利用できるサービス。</a:t>
            </a:r>
            <a:endParaRPr lang="en-US" sz="1600" b="0" u="none" strike="noStrike">
              <a:solidFill>
                <a:srgbClr val="000000"/>
              </a:solidFill>
              <a:effectLst/>
              <a:uFillTx/>
              <a:latin typeface="Arial"/>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3"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04" name="正方形/長方形 27"/>
          <p:cNvSpPr/>
          <p:nvPr/>
        </p:nvSpPr>
        <p:spPr>
          <a:xfrm>
            <a:off x="209520" y="1455480"/>
            <a:ext cx="716040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チャット</a:t>
            </a:r>
            <a:r>
              <a:rPr lang="en-US" sz="1600" b="1" u="none" strike="noStrike">
                <a:solidFill>
                  <a:schemeClr val="dk1">
                    <a:lumMod val="65000"/>
                    <a:lumOff val="35000"/>
                  </a:schemeClr>
                </a:solidFill>
                <a:effectLst/>
                <a:uFillTx/>
                <a:latin typeface="Meiryo"/>
                <a:ea typeface="Meiryo"/>
              </a:rPr>
              <a:t>Plus</a:t>
            </a:r>
            <a:r>
              <a:rPr lang="ja-JP" sz="1600" b="1" u="none" strike="noStrike">
                <a:solidFill>
                  <a:schemeClr val="dk1">
                    <a:lumMod val="65000"/>
                    <a:lumOff val="35000"/>
                  </a:schemeClr>
                </a:solidFill>
                <a:effectLst/>
                <a:uFillTx/>
                <a:latin typeface="Meiryo"/>
                <a:ea typeface="Meiryo"/>
              </a:rPr>
              <a:t>」は、</a:t>
            </a:r>
            <a:r>
              <a:rPr lang="en-US" sz="1600" b="1" u="none" strike="noStrike">
                <a:solidFill>
                  <a:schemeClr val="dk1">
                    <a:lumMod val="65000"/>
                    <a:lumOff val="35000"/>
                  </a:schemeClr>
                </a:solidFill>
                <a:effectLst/>
                <a:uFillTx/>
                <a:latin typeface="Meiryo"/>
                <a:ea typeface="Meiryo"/>
              </a:rPr>
              <a:t>FAQ</a:t>
            </a:r>
            <a:r>
              <a:rPr lang="ja-JP" sz="1600" b="1" u="none" strike="noStrike">
                <a:solidFill>
                  <a:schemeClr val="dk1">
                    <a:lumMod val="65000"/>
                    <a:lumOff val="35000"/>
                  </a:schemeClr>
                </a:solidFill>
                <a:effectLst/>
                <a:uFillTx/>
                <a:latin typeface="Meiryo"/>
                <a:ea typeface="Meiryo"/>
              </a:rPr>
              <a:t>をもとにした</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による自動応答や、</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有人でのチャット対応による細かなサポートを可能にするオプション機能。</a:t>
            </a:r>
            <a:endParaRPr lang="en-US" sz="1600" b="0" u="none" strike="noStrike">
              <a:solidFill>
                <a:srgbClr val="000000"/>
              </a:solidFill>
              <a:effectLst/>
              <a:uFillTx/>
              <a:latin typeface="Arial"/>
            </a:endParaRPr>
          </a:p>
        </p:txBody>
      </p:sp>
      <p:sp>
        <p:nvSpPr>
          <p:cNvPr id="1005" name="正方形/長方形 28"/>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LINE</a:t>
            </a: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Chat Plus</a:t>
            </a:r>
            <a:endParaRPr lang="en-US" sz="1600" b="0" u="none" strike="noStrike">
              <a:solidFill>
                <a:srgbClr val="FFFFFF"/>
              </a:solidFill>
              <a:effectLst/>
              <a:uFillTx/>
              <a:latin typeface="Arial"/>
            </a:endParaRPr>
          </a:p>
        </p:txBody>
      </p:sp>
      <p:sp>
        <p:nvSpPr>
          <p:cNvPr id="1006" name="角丸四角形 29"/>
          <p:cNvSpPr/>
          <p:nvPr/>
        </p:nvSpPr>
        <p:spPr>
          <a:xfrm>
            <a:off x="549000" y="2287440"/>
            <a:ext cx="4031280" cy="419868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pic>
        <p:nvPicPr>
          <p:cNvPr id="1007" name="図 2"/>
          <p:cNvPicPr/>
          <p:nvPr/>
        </p:nvPicPr>
        <p:blipFill>
          <a:blip r:embed="rId2"/>
          <a:srcRect t="34311" b="34333"/>
          <a:stretch/>
        </p:blipFill>
        <p:spPr>
          <a:xfrm>
            <a:off x="683640" y="2611440"/>
            <a:ext cx="3762000" cy="2097000"/>
          </a:xfrm>
          <a:prstGeom prst="rect">
            <a:avLst/>
          </a:prstGeom>
          <a:noFill/>
          <a:ln w="0">
            <a:noFill/>
          </a:ln>
        </p:spPr>
      </p:pic>
      <p:sp>
        <p:nvSpPr>
          <p:cNvPr id="1008" name="正方形/長方形 32"/>
          <p:cNvSpPr/>
          <p:nvPr/>
        </p:nvSpPr>
        <p:spPr>
          <a:xfrm>
            <a:off x="830880" y="5032800"/>
            <a:ext cx="3467160" cy="8305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ホームページから気軽にチャットで</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問い合わせができるようになり</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資料請求や商品の購入に繋がる。</a:t>
            </a:r>
            <a:endParaRPr lang="en-US" sz="1600" b="0" u="none" strike="noStrike">
              <a:solidFill>
                <a:srgbClr val="000000"/>
              </a:solidFill>
              <a:effectLst/>
              <a:uFillTx/>
              <a:latin typeface="Arial"/>
            </a:endParaRPr>
          </a:p>
        </p:txBody>
      </p:sp>
      <p:grpSp>
        <p:nvGrpSpPr>
          <p:cNvPr id="1009" name="Group 25"/>
          <p:cNvGrpSpPr/>
          <p:nvPr/>
        </p:nvGrpSpPr>
        <p:grpSpPr>
          <a:xfrm>
            <a:off x="4971240" y="3147120"/>
            <a:ext cx="600840" cy="300960"/>
            <a:chOff x="4971240" y="3147120"/>
            <a:chExt cx="600840" cy="300960"/>
          </a:xfrm>
        </p:grpSpPr>
        <p:sp>
          <p:nvSpPr>
            <p:cNvPr id="1010" name="Freeform 26"/>
            <p:cNvSpPr/>
            <p:nvPr/>
          </p:nvSpPr>
          <p:spPr>
            <a:xfrm rot="5400000">
              <a:off x="5121000" y="29970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1" name="TextBox 27"/>
            <p:cNvSpPr/>
            <p:nvPr/>
          </p:nvSpPr>
          <p:spPr>
            <a:xfrm rot="5400000">
              <a:off x="5062680" y="314568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12" name="TextBox 38"/>
          <p:cNvSpPr/>
          <p:nvPr/>
        </p:nvSpPr>
        <p:spPr>
          <a:xfrm>
            <a:off x="5836680" y="3018960"/>
            <a:ext cx="378864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自動応答と有人応答を使い分けることが</a:t>
            </a:r>
            <a:endParaRPr lang="en-US" sz="1560" b="0" u="none" strike="noStrike">
              <a:solidFill>
                <a:srgbClr val="000000"/>
              </a:solidFill>
              <a:effectLst/>
              <a:uFillTx/>
              <a:latin typeface="Arial"/>
            </a:endParaRPr>
          </a:p>
          <a:p>
            <a:pPr defTabSz="914400">
              <a:lnSpc>
                <a:spcPts val="2177"/>
              </a:lnSpc>
            </a:pPr>
            <a:r>
              <a:rPr lang="ja-JP" sz="1560" b="1" u="none" strike="noStrike">
                <a:solidFill>
                  <a:srgbClr val="494848"/>
                </a:solidFill>
                <a:effectLst/>
                <a:uFillTx/>
                <a:latin typeface="メイリオ"/>
                <a:ea typeface="メイリオ"/>
              </a:rPr>
              <a:t>できる</a:t>
            </a:r>
            <a:endParaRPr lang="en-US" sz="1560" b="0" u="none" strike="noStrike">
              <a:solidFill>
                <a:srgbClr val="000000"/>
              </a:solidFill>
              <a:effectLst/>
              <a:uFillTx/>
              <a:latin typeface="Arial"/>
            </a:endParaRPr>
          </a:p>
        </p:txBody>
      </p:sp>
      <p:grpSp>
        <p:nvGrpSpPr>
          <p:cNvPr id="1013" name="Group 25"/>
          <p:cNvGrpSpPr/>
          <p:nvPr/>
        </p:nvGrpSpPr>
        <p:grpSpPr>
          <a:xfrm>
            <a:off x="4971240" y="4145400"/>
            <a:ext cx="600840" cy="300960"/>
            <a:chOff x="4971240" y="4145400"/>
            <a:chExt cx="600840" cy="300960"/>
          </a:xfrm>
        </p:grpSpPr>
        <p:sp>
          <p:nvSpPr>
            <p:cNvPr id="1014" name="Freeform 26"/>
            <p:cNvSpPr/>
            <p:nvPr/>
          </p:nvSpPr>
          <p:spPr>
            <a:xfrm rot="5400000">
              <a:off x="5121000" y="399528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5" name="TextBox 27"/>
            <p:cNvSpPr/>
            <p:nvPr/>
          </p:nvSpPr>
          <p:spPr>
            <a:xfrm rot="5400000">
              <a:off x="5062680" y="414396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16" name="TextBox 38"/>
          <p:cNvSpPr/>
          <p:nvPr/>
        </p:nvSpPr>
        <p:spPr>
          <a:xfrm>
            <a:off x="5836680" y="4017240"/>
            <a:ext cx="378864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「訪問者管理機能」により、ホームページに訪れたユーザーを一覧で見ることが可能</a:t>
            </a:r>
            <a:endParaRPr lang="en-US" sz="1560" b="0" u="none" strike="noStrike">
              <a:solidFill>
                <a:srgbClr val="000000"/>
              </a:solidFill>
              <a:effectLst/>
              <a:uFillTx/>
              <a:latin typeface="Arial"/>
            </a:endParaRPr>
          </a:p>
        </p:txBody>
      </p:sp>
      <p:grpSp>
        <p:nvGrpSpPr>
          <p:cNvPr id="1017" name="Group 25"/>
          <p:cNvGrpSpPr/>
          <p:nvPr/>
        </p:nvGrpSpPr>
        <p:grpSpPr>
          <a:xfrm>
            <a:off x="4971240" y="5144040"/>
            <a:ext cx="600840" cy="300960"/>
            <a:chOff x="4971240" y="5144040"/>
            <a:chExt cx="600840" cy="300960"/>
          </a:xfrm>
        </p:grpSpPr>
        <p:sp>
          <p:nvSpPr>
            <p:cNvPr id="1018" name="Freeform 26"/>
            <p:cNvSpPr/>
            <p:nvPr/>
          </p:nvSpPr>
          <p:spPr>
            <a:xfrm rot="5400000">
              <a:off x="5121000" y="499392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9" name="TextBox 27"/>
            <p:cNvSpPr/>
            <p:nvPr/>
          </p:nvSpPr>
          <p:spPr>
            <a:xfrm rot="5400000">
              <a:off x="5062680" y="514260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20" name="TextBox 38"/>
          <p:cNvSpPr/>
          <p:nvPr/>
        </p:nvSpPr>
        <p:spPr>
          <a:xfrm>
            <a:off x="5836680" y="5015880"/>
            <a:ext cx="3788640" cy="846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公式</a:t>
            </a:r>
            <a:r>
              <a:rPr lang="en-US" sz="1560" b="1" u="none" strike="noStrike">
                <a:solidFill>
                  <a:srgbClr val="494848"/>
                </a:solidFill>
                <a:effectLst/>
                <a:uFillTx/>
                <a:latin typeface="メイリオ"/>
                <a:ea typeface="メイリオ"/>
              </a:rPr>
              <a:t>LINE</a:t>
            </a:r>
            <a:r>
              <a:rPr lang="ja-JP" sz="1560" b="1" u="none" strike="noStrike">
                <a:solidFill>
                  <a:srgbClr val="494848"/>
                </a:solidFill>
                <a:effectLst/>
                <a:uFillTx/>
                <a:latin typeface="メイリオ"/>
                <a:ea typeface="メイリオ"/>
              </a:rPr>
              <a:t>とチャットボットを連携し</a:t>
            </a:r>
            <a:endParaRPr lang="en-US" sz="1560" b="0" u="none" strike="noStrike">
              <a:solidFill>
                <a:srgbClr val="000000"/>
              </a:solidFill>
              <a:effectLst/>
              <a:uFillTx/>
              <a:latin typeface="Arial"/>
            </a:endParaRPr>
          </a:p>
          <a:p>
            <a:pPr defTabSz="914400">
              <a:lnSpc>
                <a:spcPts val="2177"/>
              </a:lnSpc>
            </a:pPr>
            <a:r>
              <a:rPr lang="en-US" sz="1560" b="1" u="none" strike="noStrike">
                <a:solidFill>
                  <a:srgbClr val="494848"/>
                </a:solidFill>
                <a:effectLst/>
                <a:uFillTx/>
                <a:latin typeface="メイリオ"/>
                <a:ea typeface="メイリオ"/>
              </a:rPr>
              <a:t>LINE</a:t>
            </a:r>
            <a:r>
              <a:rPr lang="ja-JP" sz="1560" b="1" u="none" strike="noStrike">
                <a:solidFill>
                  <a:srgbClr val="494848"/>
                </a:solidFill>
                <a:effectLst/>
                <a:uFillTx/>
                <a:latin typeface="メイリオ"/>
                <a:ea typeface="メイリオ"/>
              </a:rPr>
              <a:t>上でも同じチャットボットを活用</a:t>
            </a:r>
            <a:endParaRPr lang="en-US" sz="1560" b="0" u="none" strike="noStrike">
              <a:solidFill>
                <a:srgbClr val="000000"/>
              </a:solidFill>
              <a:effectLst/>
              <a:uFillTx/>
              <a:latin typeface="Arial"/>
            </a:endParaRPr>
          </a:p>
          <a:p>
            <a:pPr defTabSz="914400">
              <a:lnSpc>
                <a:spcPts val="2177"/>
              </a:lnSpc>
            </a:pPr>
            <a:r>
              <a:rPr lang="ja-JP" sz="1560" b="1" u="none" strike="noStrike">
                <a:solidFill>
                  <a:srgbClr val="494848"/>
                </a:solidFill>
                <a:effectLst/>
                <a:uFillTx/>
                <a:latin typeface="メイリオ"/>
                <a:ea typeface="メイリオ"/>
              </a:rPr>
              <a:t>できる</a:t>
            </a:r>
            <a:endParaRPr lang="en-US" sz="1560" b="0" u="none" strike="noStrike">
              <a:solidFill>
                <a:srgbClr val="000000"/>
              </a:solidFill>
              <a:effectLst/>
              <a:uFillTx/>
              <a:latin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1"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22" name="正方形/長方形 3"/>
          <p:cNvSpPr/>
          <p:nvPr/>
        </p:nvSpPr>
        <p:spPr>
          <a:xfrm>
            <a:off x="209520" y="1455480"/>
            <a:ext cx="768960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コール</a:t>
            </a:r>
            <a:r>
              <a:rPr lang="en-US" sz="1600" b="1" u="none" strike="noStrike">
                <a:solidFill>
                  <a:schemeClr val="dk1">
                    <a:lumMod val="65000"/>
                    <a:lumOff val="35000"/>
                  </a:schemeClr>
                </a:solidFill>
                <a:effectLst/>
                <a:uFillTx/>
                <a:latin typeface="Meiryo"/>
                <a:ea typeface="Meiryo"/>
              </a:rPr>
              <a:t>Plus</a:t>
            </a:r>
            <a:r>
              <a:rPr lang="ja-JP" sz="1600" b="1" u="none" strike="noStrike">
                <a:solidFill>
                  <a:schemeClr val="dk1">
                    <a:lumMod val="65000"/>
                    <a:lumOff val="35000"/>
                  </a:schemeClr>
                </a:solidFill>
                <a:effectLst/>
                <a:uFillTx/>
                <a:latin typeface="Meiryo"/>
                <a:ea typeface="Meiryo"/>
              </a:rPr>
              <a:t>」は、</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公式アカウントの有料オプション機能で、</a:t>
            </a:r>
            <a:endParaRPr lang="en-US" sz="1600" b="0" u="none" strike="noStrike">
              <a:solidFill>
                <a:srgbClr val="000000"/>
              </a:solidFill>
              <a:effectLst/>
              <a:uFillTx/>
              <a:latin typeface="Arial"/>
            </a:endParaRPr>
          </a:p>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公式アカウントからユーザーがカスタマーサポートに電話できるサービス。</a:t>
            </a:r>
            <a:endParaRPr lang="en-US" sz="1600" b="0" u="none" strike="noStrike">
              <a:solidFill>
                <a:srgbClr val="000000"/>
              </a:solidFill>
              <a:effectLst/>
              <a:uFillTx/>
              <a:latin typeface="Arial"/>
            </a:endParaRPr>
          </a:p>
        </p:txBody>
      </p:sp>
      <p:sp>
        <p:nvSpPr>
          <p:cNvPr id="1023" name="正方形/長方形 4"/>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LINE</a:t>
            </a: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Call Plus</a:t>
            </a:r>
            <a:endParaRPr lang="en-US" sz="1600" b="0" u="none" strike="noStrike">
              <a:solidFill>
                <a:srgbClr val="FFFFFF"/>
              </a:solidFill>
              <a:effectLst/>
              <a:uFillTx/>
              <a:latin typeface="Arial"/>
            </a:endParaRPr>
          </a:p>
        </p:txBody>
      </p:sp>
      <p:pic>
        <p:nvPicPr>
          <p:cNvPr id="1024" name="図 5"/>
          <p:cNvPicPr/>
          <p:nvPr/>
        </p:nvPicPr>
        <p:blipFill>
          <a:blip r:embed="rId2"/>
          <a:stretch/>
        </p:blipFill>
        <p:spPr>
          <a:xfrm>
            <a:off x="668520" y="2287440"/>
            <a:ext cx="8331480" cy="2953080"/>
          </a:xfrm>
          <a:prstGeom prst="rect">
            <a:avLst/>
          </a:prstGeom>
          <a:noFill/>
          <a:ln w="0">
            <a:noFill/>
          </a:ln>
        </p:spPr>
      </p:pic>
      <p:sp>
        <p:nvSpPr>
          <p:cNvPr id="1025" name="角丸四角形 7"/>
          <p:cNvSpPr/>
          <p:nvPr/>
        </p:nvSpPr>
        <p:spPr>
          <a:xfrm>
            <a:off x="549000" y="5240880"/>
            <a:ext cx="8720640" cy="1245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26" name="正方形/長方形 7"/>
          <p:cNvSpPr/>
          <p:nvPr/>
        </p:nvSpPr>
        <p:spPr>
          <a:xfrm>
            <a:off x="4642560" y="6545520"/>
            <a:ext cx="5046120" cy="2458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000" b="1" u="none" strike="noStrike">
                <a:solidFill>
                  <a:schemeClr val="dk1">
                    <a:lumMod val="65000"/>
                    <a:lumOff val="35000"/>
                  </a:schemeClr>
                </a:solidFill>
                <a:effectLst/>
                <a:uFillTx/>
                <a:latin typeface="Meiryo"/>
                <a:ea typeface="Meiryo"/>
              </a:rPr>
              <a:t>引用：</a:t>
            </a:r>
            <a:r>
              <a:rPr lang="en-US" sz="1000" b="1" u="none" strike="noStrike">
                <a:solidFill>
                  <a:schemeClr val="dk1">
                    <a:lumMod val="65000"/>
                    <a:lumOff val="35000"/>
                  </a:schemeClr>
                </a:solidFill>
                <a:effectLst/>
                <a:uFillTx/>
                <a:latin typeface="Meiryo"/>
                <a:ea typeface="Meiryo"/>
              </a:rPr>
              <a:t>https://prtimes.jp/main/html/rd/p/000003920.000001594.html</a:t>
            </a:r>
            <a:endParaRPr lang="en-US" sz="1000" b="0" u="none" strike="noStrike">
              <a:solidFill>
                <a:srgbClr val="000000"/>
              </a:solidFill>
              <a:effectLst/>
              <a:uFillTx/>
              <a:latin typeface="Arial"/>
            </a:endParaRPr>
          </a:p>
        </p:txBody>
      </p:sp>
      <p:sp>
        <p:nvSpPr>
          <p:cNvPr id="1027" name="正方形/長方形 8"/>
          <p:cNvSpPr/>
          <p:nvPr/>
        </p:nvSpPr>
        <p:spPr>
          <a:xfrm>
            <a:off x="859320" y="5571360"/>
            <a:ext cx="798912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さらに「</a:t>
            </a:r>
            <a:r>
              <a:rPr lang="en-US" sz="1600" b="1" u="none" strike="noStrike">
                <a:solidFill>
                  <a:schemeClr val="dk1">
                    <a:lumMod val="65000"/>
                    <a:lumOff val="35000"/>
                  </a:schemeClr>
                </a:solidFill>
                <a:effectLst/>
                <a:uFillTx/>
                <a:latin typeface="Meiryo"/>
                <a:ea typeface="Meiryo"/>
              </a:rPr>
              <a:t>LINE Ai Call</a:t>
            </a:r>
            <a:r>
              <a:rPr lang="ja-JP" sz="1600" b="1" u="none" strike="noStrike">
                <a:solidFill>
                  <a:schemeClr val="dk1">
                    <a:lumMod val="65000"/>
                    <a:lumOff val="35000"/>
                  </a:schemeClr>
                </a:solidFill>
                <a:effectLst/>
                <a:uFillTx/>
                <a:latin typeface="Meiryo"/>
                <a:ea typeface="Meiryo"/>
              </a:rPr>
              <a:t>」を活用するとユーザーの要望に対して</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による自然な</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対話応答が可能に。要件に応じて</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と有人オペレータの振り分け業務効率化を支援。</a:t>
            </a:r>
            <a:endParaRPr lang="en-US" sz="1600" b="0" u="none" strike="noStrike">
              <a:solidFill>
                <a:srgbClr val="000000"/>
              </a:solidFill>
              <a:effectLst/>
              <a:uFillTx/>
              <a:latin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8"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29" name="正方形/長方形 4"/>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lt1"/>
                </a:solidFill>
                <a:effectLst/>
                <a:uFillTx/>
                <a:latin typeface="メイリオ"/>
                <a:ea typeface="メイリオ"/>
              </a:rPr>
              <a:t>LINE</a:t>
            </a:r>
            <a:r>
              <a:rPr lang="ja-JP" sz="1600" b="1" u="none" strike="noStrike">
                <a:solidFill>
                  <a:schemeClr val="lt1"/>
                </a:solidFill>
                <a:effectLst/>
                <a:uFillTx/>
                <a:latin typeface="メイリオ"/>
                <a:ea typeface="メイリオ"/>
              </a:rPr>
              <a:t>でログイン</a:t>
            </a:r>
            <a:endParaRPr lang="en-US" sz="1600" b="0" u="none" strike="noStrike">
              <a:solidFill>
                <a:srgbClr val="FFFFFF"/>
              </a:solidFill>
              <a:effectLst/>
              <a:uFillTx/>
              <a:latin typeface="Arial"/>
            </a:endParaRPr>
          </a:p>
        </p:txBody>
      </p:sp>
      <p:sp>
        <p:nvSpPr>
          <p:cNvPr id="1030" name="正方形/長方形 7"/>
          <p:cNvSpPr/>
          <p:nvPr/>
        </p:nvSpPr>
        <p:spPr>
          <a:xfrm>
            <a:off x="4642560" y="6545520"/>
            <a:ext cx="5046120" cy="2458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000" b="1" u="none" strike="noStrike">
                <a:solidFill>
                  <a:schemeClr val="dk1">
                    <a:lumMod val="65000"/>
                    <a:lumOff val="35000"/>
                  </a:schemeClr>
                </a:solidFill>
                <a:effectLst/>
                <a:uFillTx/>
                <a:latin typeface="Meiryo"/>
                <a:ea typeface="Meiryo"/>
              </a:rPr>
              <a:t>引用：</a:t>
            </a:r>
            <a:r>
              <a:rPr lang="en-US" sz="1000" b="1" u="none" strike="noStrike">
                <a:solidFill>
                  <a:schemeClr val="dk1">
                    <a:lumMod val="65000"/>
                    <a:lumOff val="35000"/>
                  </a:schemeClr>
                </a:solidFill>
                <a:effectLst/>
                <a:uFillTx/>
                <a:latin typeface="Meiryo"/>
                <a:ea typeface="Meiryo"/>
              </a:rPr>
              <a:t>https://prtimes.jp/main/html/rd/p/000003920.000001594.html</a:t>
            </a:r>
            <a:endParaRPr lang="en-US" sz="1000" b="0" u="none" strike="noStrike">
              <a:solidFill>
                <a:srgbClr val="000000"/>
              </a:solidFill>
              <a:effectLst/>
              <a:uFillTx/>
              <a:latin typeface="Arial"/>
            </a:endParaRPr>
          </a:p>
        </p:txBody>
      </p:sp>
      <p:pic>
        <p:nvPicPr>
          <p:cNvPr id="1031" name="図 2"/>
          <p:cNvPicPr/>
          <p:nvPr/>
        </p:nvPicPr>
        <p:blipFill>
          <a:blip r:embed="rId2"/>
          <a:stretch/>
        </p:blipFill>
        <p:spPr>
          <a:xfrm>
            <a:off x="414000" y="1995120"/>
            <a:ext cx="9077760" cy="4550040"/>
          </a:xfrm>
          <a:prstGeom prst="rect">
            <a:avLst/>
          </a:prstGeom>
          <a:noFill/>
          <a:ln w="0">
            <a:noFill/>
          </a:ln>
        </p:spPr>
      </p:pic>
      <p:sp>
        <p:nvSpPr>
          <p:cNvPr id="1032" name="正方形/長方形 3"/>
          <p:cNvSpPr/>
          <p:nvPr/>
        </p:nvSpPr>
        <p:spPr>
          <a:xfrm>
            <a:off x="209520" y="1455480"/>
            <a:ext cx="892548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でログイン」は、</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上のユーザー情報を活用して</a:t>
            </a:r>
            <a:r>
              <a:rPr lang="en-US" sz="1600" b="1" u="none" strike="noStrike">
                <a:solidFill>
                  <a:schemeClr val="dk1">
                    <a:lumMod val="65000"/>
                    <a:lumOff val="35000"/>
                  </a:schemeClr>
                </a:solidFill>
                <a:effectLst/>
                <a:uFillTx/>
                <a:latin typeface="Meiryo"/>
                <a:ea typeface="Meiryo"/>
              </a:rPr>
              <a:t>WEB</a:t>
            </a:r>
            <a:r>
              <a:rPr lang="ja-JP" sz="1600" b="1" u="none" strike="noStrike">
                <a:solidFill>
                  <a:schemeClr val="dk1">
                    <a:lumMod val="65000"/>
                    <a:lumOff val="35000"/>
                  </a:schemeClr>
                </a:solidFill>
                <a:effectLst/>
                <a:uFillTx/>
                <a:latin typeface="Meiryo"/>
                <a:ea typeface="Meiryo"/>
              </a:rPr>
              <a:t>サイト登録が出来る仕組み。</a:t>
            </a:r>
            <a:endParaRPr lang="en-US" sz="1600" b="0" u="none" strike="noStrike">
              <a:solidFill>
                <a:srgbClr val="000000"/>
              </a:solidFill>
              <a:effectLst/>
              <a:uFillTx/>
              <a:latin typeface="Arial"/>
            </a:endParaRPr>
          </a:p>
          <a:p>
            <a:pPr defTabSz="914400">
              <a:lnSpc>
                <a:spcPct val="100000"/>
              </a:lnSpc>
            </a:pPr>
            <a:r>
              <a:rPr lang="en-US" sz="1600" b="1" u="none" strike="noStrike">
                <a:solidFill>
                  <a:schemeClr val="dk1">
                    <a:lumMod val="65000"/>
                    <a:lumOff val="35000"/>
                  </a:schemeClr>
                </a:solidFill>
                <a:effectLst/>
                <a:uFillTx/>
                <a:latin typeface="Meiryo"/>
                <a:ea typeface="Meiryo"/>
              </a:rPr>
              <a:t>ID</a:t>
            </a:r>
            <a:r>
              <a:rPr lang="ja-JP" sz="1600" b="1" u="none" strike="noStrike">
                <a:solidFill>
                  <a:schemeClr val="dk1">
                    <a:lumMod val="65000"/>
                    <a:lumOff val="35000"/>
                  </a:schemeClr>
                </a:solidFill>
                <a:effectLst/>
                <a:uFillTx/>
                <a:latin typeface="Meiryo"/>
                <a:ea typeface="Meiryo"/>
              </a:rPr>
              <a:t>連携を完了することにより、サービス</a:t>
            </a:r>
            <a:r>
              <a:rPr lang="en-US" sz="1600" b="1" u="none" strike="noStrike">
                <a:solidFill>
                  <a:schemeClr val="dk1">
                    <a:lumMod val="65000"/>
                    <a:lumOff val="35000"/>
                  </a:schemeClr>
                </a:solidFill>
                <a:effectLst/>
                <a:uFillTx/>
                <a:latin typeface="Meiryo"/>
                <a:ea typeface="Meiryo"/>
              </a:rPr>
              <a:t>(WEB) ⇔ LINE </a:t>
            </a:r>
            <a:r>
              <a:rPr lang="ja-JP" sz="1600" b="1" u="none" strike="noStrike">
                <a:solidFill>
                  <a:schemeClr val="dk1">
                    <a:lumMod val="65000"/>
                    <a:lumOff val="35000"/>
                  </a:schemeClr>
                </a:solidFill>
                <a:effectLst/>
                <a:uFillTx/>
                <a:latin typeface="Meiryo"/>
                <a:ea typeface="Meiryo"/>
              </a:rPr>
              <a:t>での効果的なメッセージが可能に。</a:t>
            </a:r>
            <a:endParaRPr lang="en-US" sz="1600" b="0" u="none" strike="noStrike">
              <a:solidFill>
                <a:srgbClr val="000000"/>
              </a:solidFill>
              <a:effectLst/>
              <a:uFillTx/>
              <a:latin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3"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a:t>
            </a:r>
            <a:endParaRPr lang="en-US" sz="1600" b="0" u="none" strike="noStrike">
              <a:solidFill>
                <a:srgbClr val="000000"/>
              </a:solidFill>
              <a:effectLst/>
              <a:uFillTx/>
              <a:latin typeface="Arial"/>
            </a:endParaRPr>
          </a:p>
        </p:txBody>
      </p:sp>
      <p:sp>
        <p:nvSpPr>
          <p:cNvPr id="1034" name="角丸四角形 8"/>
          <p:cNvSpPr/>
          <p:nvPr/>
        </p:nvSpPr>
        <p:spPr>
          <a:xfrm>
            <a:off x="6662880" y="40932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5" name="Google Shape;178;p7"/>
          <p:cNvSpPr/>
          <p:nvPr/>
        </p:nvSpPr>
        <p:spPr>
          <a:xfrm>
            <a:off x="6756120" y="4153320"/>
            <a:ext cx="2800080" cy="6750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オフライン動線</a:t>
            </a:r>
            <a:endParaRPr lang="en-US" sz="2000" b="0" u="none" strike="noStrike">
              <a:solidFill>
                <a:srgbClr val="000000"/>
              </a:solidFill>
              <a:effectLst/>
              <a:uFillTx/>
              <a:latin typeface="Arial"/>
            </a:endParaRPr>
          </a:p>
          <a:p>
            <a:pPr algn="ctr" defTabSz="914400">
              <a:lnSpc>
                <a:spcPct val="100000"/>
              </a:lnSpc>
            </a:pPr>
            <a:r>
              <a:rPr lang="ja-JP" sz="1400" b="1" u="none" strike="noStrike">
                <a:solidFill>
                  <a:srgbClr val="002060"/>
                </a:solidFill>
                <a:effectLst/>
                <a:uFillTx/>
                <a:latin typeface="Meiryo"/>
                <a:ea typeface="Meiryo"/>
              </a:rPr>
              <a:t>ニュースリリース等</a:t>
            </a:r>
            <a:endParaRPr lang="en-US" sz="1400" b="0" u="none" strike="noStrike">
              <a:solidFill>
                <a:srgbClr val="000000"/>
              </a:solidFill>
              <a:effectLst/>
              <a:uFillTx/>
              <a:latin typeface="Arial"/>
            </a:endParaRPr>
          </a:p>
        </p:txBody>
      </p:sp>
      <p:sp>
        <p:nvSpPr>
          <p:cNvPr id="1036" name="角丸四角形 7"/>
          <p:cNvSpPr/>
          <p:nvPr/>
        </p:nvSpPr>
        <p:spPr>
          <a:xfrm>
            <a:off x="3462840" y="409032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7" name="Google Shape;178;p7"/>
          <p:cNvSpPr/>
          <p:nvPr/>
        </p:nvSpPr>
        <p:spPr>
          <a:xfrm>
            <a:off x="3562920" y="424548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WEB</a:t>
            </a:r>
            <a:r>
              <a:rPr lang="ja-JP" sz="2000" b="1" u="none" strike="noStrike">
                <a:solidFill>
                  <a:srgbClr val="002060"/>
                </a:solidFill>
                <a:effectLst/>
                <a:uFillTx/>
                <a:latin typeface="Meiryo"/>
                <a:ea typeface="Meiryo"/>
              </a:rPr>
              <a:t>サイト動線整備</a:t>
            </a:r>
            <a:endParaRPr lang="en-US" sz="2000" b="0" u="none" strike="noStrike">
              <a:solidFill>
                <a:srgbClr val="000000"/>
              </a:solidFill>
              <a:effectLst/>
              <a:uFillTx/>
              <a:latin typeface="Arial"/>
            </a:endParaRPr>
          </a:p>
        </p:txBody>
      </p:sp>
      <p:sp>
        <p:nvSpPr>
          <p:cNvPr id="1038" name="角丸四角形 8"/>
          <p:cNvSpPr/>
          <p:nvPr/>
        </p:nvSpPr>
        <p:spPr>
          <a:xfrm>
            <a:off x="262080" y="40932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9" name="Google Shape;178;p7"/>
          <p:cNvSpPr/>
          <p:nvPr/>
        </p:nvSpPr>
        <p:spPr>
          <a:xfrm>
            <a:off x="598320" y="4153320"/>
            <a:ext cx="2314080" cy="6444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友だち紹介</a:t>
            </a:r>
            <a:endParaRPr lang="en-US" sz="2000" b="0" u="none" strike="noStrike">
              <a:solidFill>
                <a:srgbClr val="000000"/>
              </a:solidFill>
              <a:effectLst/>
              <a:uFillTx/>
              <a:latin typeface="Arial"/>
            </a:endParaRPr>
          </a:p>
          <a:p>
            <a:pPr algn="ctr" defTabSz="914400">
              <a:lnSpc>
                <a:spcPct val="100000"/>
              </a:lnSpc>
            </a:pPr>
            <a:r>
              <a:rPr lang="ja-JP" sz="1200" b="1" u="none" strike="noStrike">
                <a:solidFill>
                  <a:srgbClr val="002060"/>
                </a:solidFill>
                <a:effectLst/>
                <a:uFillTx/>
                <a:latin typeface="Meiryo"/>
                <a:ea typeface="Meiryo"/>
              </a:rPr>
              <a:t>（</a:t>
            </a:r>
            <a:r>
              <a:rPr lang="en-US" sz="1200" b="1" u="none" strike="noStrike">
                <a:solidFill>
                  <a:srgbClr val="002060"/>
                </a:solidFill>
                <a:effectLst/>
                <a:uFillTx/>
                <a:latin typeface="Meiryo"/>
                <a:ea typeface="Meiryo"/>
              </a:rPr>
              <a:t>LINE</a:t>
            </a:r>
            <a:r>
              <a:rPr lang="ja-JP" sz="1200" b="1" u="none" strike="noStrike">
                <a:solidFill>
                  <a:srgbClr val="002060"/>
                </a:solidFill>
                <a:effectLst/>
                <a:uFillTx/>
                <a:latin typeface="Meiryo"/>
                <a:ea typeface="Meiryo"/>
              </a:rPr>
              <a:t>ポイントコネクト）</a:t>
            </a:r>
            <a:endParaRPr lang="en-US" sz="1200" b="0" u="none" strike="noStrike">
              <a:solidFill>
                <a:srgbClr val="000000"/>
              </a:solidFill>
              <a:effectLst/>
              <a:uFillTx/>
              <a:latin typeface="Arial"/>
            </a:endParaRPr>
          </a:p>
        </p:txBody>
      </p:sp>
      <p:sp>
        <p:nvSpPr>
          <p:cNvPr id="1040" name="角丸四角形 8"/>
          <p:cNvSpPr/>
          <p:nvPr/>
        </p:nvSpPr>
        <p:spPr>
          <a:xfrm>
            <a:off x="6662880" y="18594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1" name="Google Shape;178;p7"/>
          <p:cNvSpPr/>
          <p:nvPr/>
        </p:nvSpPr>
        <p:spPr>
          <a:xfrm>
            <a:off x="6756120" y="201204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LINE</a:t>
            </a:r>
            <a:r>
              <a:rPr lang="ja-JP" sz="2000" b="1" u="none" strike="noStrike">
                <a:solidFill>
                  <a:srgbClr val="002060"/>
                </a:solidFill>
                <a:effectLst/>
                <a:uFillTx/>
                <a:latin typeface="Meiryo"/>
                <a:ea typeface="Meiryo"/>
              </a:rPr>
              <a:t>ポイント</a:t>
            </a:r>
            <a:r>
              <a:rPr lang="en-US" sz="2000" b="1" u="none" strike="noStrike">
                <a:solidFill>
                  <a:srgbClr val="002060"/>
                </a:solidFill>
                <a:effectLst/>
                <a:uFillTx/>
                <a:latin typeface="Meiryo"/>
                <a:ea typeface="Meiryo"/>
              </a:rPr>
              <a:t>Ads</a:t>
            </a:r>
            <a:endParaRPr lang="en-US" sz="2000" b="0" u="none" strike="noStrike">
              <a:solidFill>
                <a:srgbClr val="000000"/>
              </a:solidFill>
              <a:effectLst/>
              <a:uFillTx/>
              <a:latin typeface="Arial"/>
            </a:endParaRPr>
          </a:p>
        </p:txBody>
      </p:sp>
      <p:sp>
        <p:nvSpPr>
          <p:cNvPr id="1042" name="角丸四角形 7"/>
          <p:cNvSpPr/>
          <p:nvPr/>
        </p:nvSpPr>
        <p:spPr>
          <a:xfrm>
            <a:off x="3462840" y="185652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3" name="Google Shape;178;p7"/>
          <p:cNvSpPr/>
          <p:nvPr/>
        </p:nvSpPr>
        <p:spPr>
          <a:xfrm>
            <a:off x="3562920" y="201204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スタンプ施策</a:t>
            </a:r>
            <a:endParaRPr lang="en-US" sz="2000" b="0" u="none" strike="noStrike">
              <a:solidFill>
                <a:srgbClr val="000000"/>
              </a:solidFill>
              <a:effectLst/>
              <a:uFillTx/>
              <a:latin typeface="Arial"/>
            </a:endParaRPr>
          </a:p>
        </p:txBody>
      </p:sp>
      <p:sp>
        <p:nvSpPr>
          <p:cNvPr id="1044" name="角丸四角形 8"/>
          <p:cNvSpPr/>
          <p:nvPr/>
        </p:nvSpPr>
        <p:spPr>
          <a:xfrm>
            <a:off x="262080" y="18594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5" name="Google Shape;178;p7"/>
          <p:cNvSpPr/>
          <p:nvPr/>
        </p:nvSpPr>
        <p:spPr>
          <a:xfrm>
            <a:off x="598320" y="201204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CPF</a:t>
            </a:r>
            <a:r>
              <a:rPr lang="ja-JP" sz="2000" b="1" u="none" strike="noStrike">
                <a:solidFill>
                  <a:srgbClr val="002060"/>
                </a:solidFill>
                <a:effectLst/>
                <a:uFillTx/>
                <a:latin typeface="Meiryo"/>
                <a:ea typeface="Meiryo"/>
              </a:rPr>
              <a:t>広告</a:t>
            </a:r>
            <a:endParaRPr lang="en-US" sz="2000" b="0" u="none" strike="noStrike">
              <a:solidFill>
                <a:srgbClr val="000000"/>
              </a:solidFill>
              <a:effectLst/>
              <a:uFillTx/>
              <a:latin typeface="Arial"/>
            </a:endParaRPr>
          </a:p>
        </p:txBody>
      </p:sp>
      <p:sp>
        <p:nvSpPr>
          <p:cNvPr id="1046" name="テキスト ボックス 15"/>
          <p:cNvSpPr/>
          <p:nvPr/>
        </p:nvSpPr>
        <p:spPr>
          <a:xfrm>
            <a:off x="6662880" y="521208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Meiryo"/>
                <a:ea typeface="Meiryo"/>
              </a:rPr>
              <a:t>コンサル発注</a:t>
            </a:r>
            <a:r>
              <a:rPr lang="ja-JP" sz="1200" b="0" u="none" strike="noStrike">
                <a:solidFill>
                  <a:schemeClr val="dk1"/>
                </a:solidFill>
                <a:effectLst/>
                <a:uFillTx/>
                <a:latin typeface="Meiryo"/>
                <a:ea typeface="Meiryo"/>
              </a:rPr>
              <a:t>であれば </a:t>
            </a:r>
            <a:r>
              <a:rPr lang="ja-JP" sz="1800" b="1" u="none" strike="noStrike">
                <a:solidFill>
                  <a:srgbClr val="FF0000"/>
                </a:solidFill>
                <a:effectLst/>
                <a:uFillTx/>
                <a:latin typeface="Meiryo"/>
                <a:ea typeface="Meiryo"/>
              </a:rPr>
              <a:t>無償</a:t>
            </a:r>
            <a:endParaRPr lang="en-US" sz="1800" b="0" u="none" strike="noStrike">
              <a:solidFill>
                <a:srgbClr val="000000"/>
              </a:solidFill>
              <a:effectLst/>
              <a:uFillTx/>
              <a:latin typeface="Arial"/>
            </a:endParaRPr>
          </a:p>
        </p:txBody>
      </p:sp>
      <p:sp>
        <p:nvSpPr>
          <p:cNvPr id="1047" name="正方形/長方形 17"/>
          <p:cNvSpPr/>
          <p:nvPr/>
        </p:nvSpPr>
        <p:spPr>
          <a:xfrm>
            <a:off x="519840" y="4164120"/>
            <a:ext cx="245376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48" name="正方形/長方形 18"/>
          <p:cNvSpPr/>
          <p:nvPr/>
        </p:nvSpPr>
        <p:spPr>
          <a:xfrm>
            <a:off x="3613680" y="416232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49" name="正方形/長方形 19"/>
          <p:cNvSpPr/>
          <p:nvPr/>
        </p:nvSpPr>
        <p:spPr>
          <a:xfrm>
            <a:off x="6825240" y="415332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0" name="正方形/長方形 20"/>
          <p:cNvSpPr/>
          <p:nvPr/>
        </p:nvSpPr>
        <p:spPr>
          <a:xfrm>
            <a:off x="6825240" y="193644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1" name="正方形/長方形 21"/>
          <p:cNvSpPr/>
          <p:nvPr/>
        </p:nvSpPr>
        <p:spPr>
          <a:xfrm>
            <a:off x="405720" y="193896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2" name="正方形/長方形 22"/>
          <p:cNvSpPr/>
          <p:nvPr/>
        </p:nvSpPr>
        <p:spPr>
          <a:xfrm>
            <a:off x="3627720" y="193644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3" name="テキスト ボックス 24"/>
          <p:cNvSpPr/>
          <p:nvPr/>
        </p:nvSpPr>
        <p:spPr>
          <a:xfrm>
            <a:off x="3457080" y="520632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Meiryo"/>
                <a:ea typeface="Meiryo"/>
              </a:rPr>
              <a:t>コンサル発注</a:t>
            </a:r>
            <a:r>
              <a:rPr lang="ja-JP" sz="1200" b="0" u="none" strike="noStrike">
                <a:solidFill>
                  <a:schemeClr val="dk1"/>
                </a:solidFill>
                <a:effectLst/>
                <a:uFillTx/>
                <a:latin typeface="Meiryo"/>
                <a:ea typeface="Meiryo"/>
              </a:rPr>
              <a:t>であれば </a:t>
            </a:r>
            <a:r>
              <a:rPr lang="ja-JP" sz="1800" b="1" u="none" strike="noStrike">
                <a:solidFill>
                  <a:srgbClr val="FF0000"/>
                </a:solidFill>
                <a:effectLst/>
                <a:uFillTx/>
                <a:latin typeface="Meiryo"/>
                <a:ea typeface="Meiryo"/>
              </a:rPr>
              <a:t>無償</a:t>
            </a:r>
            <a:endParaRPr lang="en-US" sz="1800" b="0" u="none" strike="noStrike">
              <a:solidFill>
                <a:srgbClr val="000000"/>
              </a:solidFill>
              <a:effectLst/>
              <a:uFillTx/>
              <a:latin typeface="Arial"/>
            </a:endParaRPr>
          </a:p>
        </p:txBody>
      </p:sp>
      <p:sp>
        <p:nvSpPr>
          <p:cNvPr id="1054" name="テキスト ボックス 26"/>
          <p:cNvSpPr/>
          <p:nvPr/>
        </p:nvSpPr>
        <p:spPr>
          <a:xfrm>
            <a:off x="250920" y="520632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800" b="1" u="none" strike="noStrike">
                <a:solidFill>
                  <a:schemeClr val="dk1">
                    <a:lumMod val="50000"/>
                    <a:lumOff val="50000"/>
                  </a:schemeClr>
                </a:solidFill>
                <a:effectLst/>
                <a:uFillTx/>
                <a:latin typeface="Meiryo"/>
                <a:ea typeface="Meiryo"/>
              </a:rPr>
              <a:t>サービス停止中</a:t>
            </a:r>
            <a:endParaRPr lang="en-US" sz="1800" b="0" u="none" strike="noStrike">
              <a:solidFill>
                <a:srgbClr val="000000"/>
              </a:solidFill>
              <a:effectLst/>
              <a:uFillTx/>
              <a:latin typeface="Arial"/>
            </a:endParaRPr>
          </a:p>
        </p:txBody>
      </p:sp>
      <p:sp>
        <p:nvSpPr>
          <p:cNvPr id="1055" name="テキスト ボックス 27"/>
          <p:cNvSpPr/>
          <p:nvPr/>
        </p:nvSpPr>
        <p:spPr>
          <a:xfrm>
            <a:off x="6680520" y="297828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（期間合計）</a:t>
            </a:r>
            <a:endParaRPr lang="en-US" sz="1200" b="0" u="none" strike="noStrike">
              <a:solidFill>
                <a:srgbClr val="000000"/>
              </a:solidFill>
              <a:effectLst/>
              <a:uFillTx/>
              <a:latin typeface="Arial"/>
            </a:endParaRPr>
          </a:p>
        </p:txBody>
      </p:sp>
      <p:sp>
        <p:nvSpPr>
          <p:cNvPr id="1056" name="テキスト ボックス 28"/>
          <p:cNvSpPr/>
          <p:nvPr/>
        </p:nvSpPr>
        <p:spPr>
          <a:xfrm>
            <a:off x="3474720" y="297252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（期間合計）</a:t>
            </a:r>
            <a:endParaRPr lang="en-US" sz="1200" b="0" u="none" strike="noStrike">
              <a:solidFill>
                <a:srgbClr val="000000"/>
              </a:solidFill>
              <a:effectLst/>
              <a:uFillTx/>
              <a:latin typeface="Arial"/>
            </a:endParaRPr>
          </a:p>
        </p:txBody>
      </p:sp>
      <p:sp>
        <p:nvSpPr>
          <p:cNvPr id="1057" name="テキスト ボックス 29"/>
          <p:cNvSpPr/>
          <p:nvPr/>
        </p:nvSpPr>
        <p:spPr>
          <a:xfrm>
            <a:off x="268560" y="297252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a:t>
            </a:r>
            <a:r>
              <a:rPr lang="en-US" sz="1200" b="0" u="none" strike="noStrike">
                <a:solidFill>
                  <a:schemeClr val="dk1"/>
                </a:solidFill>
                <a:effectLst/>
                <a:uFillTx/>
                <a:latin typeface="Meiryo"/>
                <a:ea typeface="Meiryo"/>
              </a:rPr>
              <a:t>1</a:t>
            </a:r>
            <a:r>
              <a:rPr lang="ja-JP" sz="1200" b="0" u="none" strike="noStrike">
                <a:solidFill>
                  <a:schemeClr val="dk1"/>
                </a:solidFill>
                <a:effectLst/>
                <a:uFillTx/>
                <a:latin typeface="Meiryo"/>
                <a:ea typeface="Meiryo"/>
              </a:rPr>
              <a:t>ヶ月</a:t>
            </a:r>
            <a:r>
              <a:rPr lang="en-US" sz="1200" b="0" u="none" strike="noStrike">
                <a:solidFill>
                  <a:schemeClr val="dk1"/>
                </a:solidFill>
                <a:effectLst/>
                <a:uFillTx/>
                <a:latin typeface="Meiryo"/>
                <a:ea typeface="Meiryo"/>
              </a:rPr>
              <a:t>~</a:t>
            </a:r>
            <a:r>
              <a:rPr lang="ja-JP" sz="1200" b="0" u="none" strike="noStrike">
                <a:solidFill>
                  <a:schemeClr val="dk1"/>
                </a:solidFill>
                <a:effectLst/>
                <a:uFillTx/>
                <a:latin typeface="Meiryo"/>
                <a:ea typeface="Meiryo"/>
              </a:rPr>
              <a:t>）</a:t>
            </a:r>
            <a:endParaRPr lang="en-US" sz="1200" b="0" u="none" strike="noStrike">
              <a:solidFill>
                <a:srgbClr val="000000"/>
              </a:solidFill>
              <a:effectLst/>
              <a:uFillTx/>
              <a:latin typeface="Arial"/>
            </a:endParaRPr>
          </a:p>
        </p:txBody>
      </p:sp>
      <p:sp>
        <p:nvSpPr>
          <p:cNvPr id="1058" name="正方形/長方形 30"/>
          <p:cNvSpPr/>
          <p:nvPr/>
        </p:nvSpPr>
        <p:spPr>
          <a:xfrm>
            <a:off x="663480" y="899280"/>
            <a:ext cx="862776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1" u="none" strike="noStrike">
                <a:solidFill>
                  <a:schemeClr val="dk1">
                    <a:lumMod val="65000"/>
                    <a:lumOff val="35000"/>
                  </a:schemeClr>
                </a:solidFill>
                <a:effectLst/>
                <a:uFillTx/>
                <a:latin typeface="Meiryo"/>
                <a:ea typeface="Meiryo"/>
              </a:rPr>
              <a:t>各拡張施策についても</a:t>
            </a:r>
            <a:r>
              <a:rPr lang="en-US" sz="1600" b="1" u="none" strike="noStrike">
                <a:solidFill>
                  <a:schemeClr val="dk1">
                    <a:lumMod val="65000"/>
                    <a:lumOff val="35000"/>
                  </a:schemeClr>
                </a:solidFill>
                <a:effectLst/>
                <a:uFillTx/>
                <a:latin typeface="Meiryo"/>
                <a:ea typeface="Meiryo"/>
              </a:rPr>
              <a:t>MIN</a:t>
            </a:r>
            <a:r>
              <a:rPr lang="ja-JP" sz="1600" b="1" u="none" strike="noStrike">
                <a:solidFill>
                  <a:schemeClr val="dk1">
                    <a:lumMod val="65000"/>
                    <a:lumOff val="35000"/>
                  </a:schemeClr>
                </a:solidFill>
                <a:effectLst/>
                <a:uFillTx/>
                <a:latin typeface="Meiryo"/>
                <a:ea typeface="Meiryo"/>
              </a:rPr>
              <a:t>金額からの発注、動線設計が可能です。</a:t>
            </a:r>
            <a:endParaRPr lang="en-US" sz="1600" b="0" u="none" strike="noStrike">
              <a:solidFill>
                <a:srgbClr val="000000"/>
              </a:solidFill>
              <a:effectLst/>
              <a:uFillTx/>
              <a:latin typeface="Arial"/>
            </a:endParaRPr>
          </a:p>
          <a:p>
            <a:pPr algn="ct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友だち追加後の動線設計（特に友だち追加後すぐ）の検証後の拡大施策として用意。</a:t>
            </a:r>
            <a:endParaRPr lang="en-US" sz="1600" b="0" u="none" strike="noStrike">
              <a:solidFill>
                <a:srgbClr val="000000"/>
              </a:solidFill>
              <a:effectLst/>
              <a:uFillTx/>
              <a:latin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9"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a:t>
            </a:r>
            <a:endParaRPr lang="en-US" sz="1600" b="0" u="none" strike="noStrike">
              <a:solidFill>
                <a:srgbClr val="000000"/>
              </a:solidFill>
              <a:effectLst/>
              <a:uFillTx/>
              <a:latin typeface="Arial"/>
            </a:endParaRPr>
          </a:p>
        </p:txBody>
      </p:sp>
      <p:pic>
        <p:nvPicPr>
          <p:cNvPr id="1060" name="図 51"/>
          <p:cNvPicPr/>
          <p:nvPr/>
        </p:nvPicPr>
        <p:blipFill>
          <a:blip r:embed="rId2"/>
          <a:stretch/>
        </p:blipFill>
        <p:spPr>
          <a:xfrm>
            <a:off x="554400" y="1857960"/>
            <a:ext cx="4461120" cy="1873440"/>
          </a:xfrm>
          <a:prstGeom prst="rect">
            <a:avLst/>
          </a:prstGeom>
          <a:noFill/>
          <a:ln w="0">
            <a:noFill/>
          </a:ln>
        </p:spPr>
      </p:pic>
      <p:sp>
        <p:nvSpPr>
          <p:cNvPr id="1061" name="正方形/長方形 52"/>
          <p:cNvSpPr/>
          <p:nvPr/>
        </p:nvSpPr>
        <p:spPr>
          <a:xfrm>
            <a:off x="419760" y="732600"/>
            <a:ext cx="2365200" cy="67284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lt1"/>
                </a:solidFill>
                <a:effectLst/>
                <a:uFillTx/>
                <a:latin typeface="メイリオ"/>
                <a:ea typeface="メイリオ"/>
              </a:rPr>
              <a:t>LINE</a:t>
            </a:r>
            <a:r>
              <a:rPr lang="ja-JP" sz="1600" b="1" u="none" strike="noStrike">
                <a:solidFill>
                  <a:schemeClr val="lt1"/>
                </a:solidFill>
                <a:effectLst/>
                <a:uFillTx/>
                <a:latin typeface="メイリオ"/>
                <a:ea typeface="メイリオ"/>
              </a:rPr>
              <a:t>広告</a:t>
            </a:r>
            <a:r>
              <a:rPr lang="ja-JP" sz="1200" b="1" u="none" strike="noStrike">
                <a:solidFill>
                  <a:schemeClr val="lt1"/>
                </a:solidFill>
                <a:effectLst/>
                <a:uFillTx/>
                <a:latin typeface="メイリオ"/>
                <a:ea typeface="メイリオ"/>
              </a:rPr>
              <a:t>（友だち追加）</a:t>
            </a:r>
            <a:endParaRPr lang="en-US" sz="1200" b="0" u="none" strike="noStrike">
              <a:solidFill>
                <a:srgbClr val="FFFFFF"/>
              </a:solidFill>
              <a:effectLst/>
              <a:uFillTx/>
              <a:latin typeface="Arial"/>
            </a:endParaRPr>
          </a:p>
          <a:p>
            <a:pPr algn="ctr" defTabSz="914400">
              <a:lnSpc>
                <a:spcPct val="100000"/>
              </a:lnSpc>
            </a:pPr>
            <a:r>
              <a:rPr lang="en-US" sz="1200" b="1" u="none" strike="noStrike">
                <a:solidFill>
                  <a:srgbClr val="FFFF00"/>
                </a:solidFill>
                <a:effectLst/>
                <a:uFillTx/>
                <a:latin typeface="メイリオ"/>
                <a:ea typeface="メイリオ"/>
              </a:rPr>
              <a:t>※CPF</a:t>
            </a:r>
            <a:r>
              <a:rPr lang="ja-JP" sz="1200" b="1" u="none" strike="noStrike">
                <a:solidFill>
                  <a:srgbClr val="FFFF00"/>
                </a:solidFill>
                <a:effectLst/>
                <a:uFillTx/>
                <a:latin typeface="メイリオ"/>
                <a:ea typeface="メイリオ"/>
              </a:rPr>
              <a:t>広告※</a:t>
            </a:r>
            <a:endParaRPr lang="en-US" sz="1200" b="0" u="none" strike="noStrike">
              <a:solidFill>
                <a:srgbClr val="FFFFFF"/>
              </a:solidFill>
              <a:effectLst/>
              <a:uFillTx/>
              <a:latin typeface="Arial"/>
            </a:endParaRPr>
          </a:p>
        </p:txBody>
      </p:sp>
      <p:sp>
        <p:nvSpPr>
          <p:cNvPr id="1062" name="正方形/長方形 53"/>
          <p:cNvSpPr/>
          <p:nvPr/>
        </p:nvSpPr>
        <p:spPr>
          <a:xfrm>
            <a:off x="2938320" y="776880"/>
            <a:ext cx="648216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公式アカウントの友だちを増やすための広告を、</a:t>
            </a:r>
            <a:br>
              <a:rPr sz="1600"/>
            </a:b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広告の管理画面より</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アプリ内で掲載できる機能。</a:t>
            </a:r>
            <a:endParaRPr lang="en-US" sz="1600" b="0" u="none" strike="noStrike">
              <a:solidFill>
                <a:srgbClr val="000000"/>
              </a:solidFill>
              <a:effectLst/>
              <a:uFillTx/>
              <a:latin typeface="Arial"/>
            </a:endParaRPr>
          </a:p>
        </p:txBody>
      </p:sp>
      <p:grpSp>
        <p:nvGrpSpPr>
          <p:cNvPr id="1063" name="グループ化 54"/>
          <p:cNvGrpSpPr/>
          <p:nvPr/>
        </p:nvGrpSpPr>
        <p:grpSpPr>
          <a:xfrm>
            <a:off x="516240" y="1563480"/>
            <a:ext cx="2696040" cy="311760"/>
            <a:chOff x="516240" y="1563480"/>
            <a:chExt cx="2696040" cy="311760"/>
          </a:xfrm>
        </p:grpSpPr>
        <p:sp>
          <p:nvSpPr>
            <p:cNvPr id="1064" name="四角形: 角を丸くする 55"/>
            <p:cNvSpPr/>
            <p:nvPr/>
          </p:nvSpPr>
          <p:spPr>
            <a:xfrm>
              <a:off x="516240" y="1563480"/>
              <a:ext cx="2696040" cy="302400"/>
            </a:xfrm>
            <a:prstGeom prst="roundRect">
              <a:avLst>
                <a:gd name="adj"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sp>
          <p:nvSpPr>
            <p:cNvPr id="1065" name="正方形/長方形 56"/>
            <p:cNvSpPr/>
            <p:nvPr/>
          </p:nvSpPr>
          <p:spPr>
            <a:xfrm>
              <a:off x="516240" y="1598760"/>
              <a:ext cx="269604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rgbClr val="0070C0"/>
                  </a:solidFill>
                  <a:effectLst/>
                  <a:uFillTx/>
                  <a:latin typeface="Meiryo"/>
                  <a:ea typeface="Meiryo"/>
                </a:rPr>
                <a:t>LINE</a:t>
              </a:r>
              <a:r>
                <a:rPr lang="ja-JP" sz="1200" b="1" u="none" strike="noStrike">
                  <a:solidFill>
                    <a:srgbClr val="0070C0"/>
                  </a:solidFill>
                  <a:effectLst/>
                  <a:uFillTx/>
                  <a:latin typeface="Meiryo"/>
                  <a:ea typeface="Meiryo"/>
                </a:rPr>
                <a:t>公式アカウントまでの導線</a:t>
              </a:r>
              <a:endParaRPr lang="en-US" sz="1200" b="0" u="none" strike="noStrike">
                <a:solidFill>
                  <a:srgbClr val="000000"/>
                </a:solidFill>
                <a:effectLst/>
                <a:uFillTx/>
                <a:latin typeface="Arial"/>
              </a:endParaRPr>
            </a:p>
          </p:txBody>
        </p:sp>
      </p:grpSp>
      <p:grpSp>
        <p:nvGrpSpPr>
          <p:cNvPr id="1066" name="グループ化 57"/>
          <p:cNvGrpSpPr/>
          <p:nvPr/>
        </p:nvGrpSpPr>
        <p:grpSpPr>
          <a:xfrm>
            <a:off x="516240" y="3819600"/>
            <a:ext cx="2696040" cy="311760"/>
            <a:chOff x="516240" y="3819600"/>
            <a:chExt cx="2696040" cy="311760"/>
          </a:xfrm>
        </p:grpSpPr>
        <p:sp>
          <p:nvSpPr>
            <p:cNvPr id="1067" name="四角形: 角を丸くする 58"/>
            <p:cNvSpPr/>
            <p:nvPr/>
          </p:nvSpPr>
          <p:spPr>
            <a:xfrm>
              <a:off x="516240" y="3819600"/>
              <a:ext cx="2696040" cy="302400"/>
            </a:xfrm>
            <a:prstGeom prst="roundRect">
              <a:avLst>
                <a:gd name="adj"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sp>
          <p:nvSpPr>
            <p:cNvPr id="1068" name="正方形/長方形 59"/>
            <p:cNvSpPr/>
            <p:nvPr/>
          </p:nvSpPr>
          <p:spPr>
            <a:xfrm>
              <a:off x="516240" y="3854880"/>
              <a:ext cx="269604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rgbClr val="0070C0"/>
                  </a:solidFill>
                  <a:effectLst/>
                  <a:uFillTx/>
                  <a:latin typeface="Meiryo"/>
                  <a:ea typeface="Meiryo"/>
                </a:rPr>
                <a:t>「友だち追加広告」との違い</a:t>
              </a:r>
              <a:endParaRPr lang="en-US" sz="1200" b="0" u="none" strike="noStrike">
                <a:solidFill>
                  <a:srgbClr val="000000"/>
                </a:solidFill>
                <a:effectLst/>
                <a:uFillTx/>
                <a:latin typeface="Arial"/>
              </a:endParaRPr>
            </a:p>
          </p:txBody>
        </p:sp>
      </p:grpSp>
      <p:pic>
        <p:nvPicPr>
          <p:cNvPr id="1069" name="table"/>
          <p:cNvPicPr/>
          <p:nvPr/>
        </p:nvPicPr>
        <p:blipFill>
          <a:blip r:embed="rId3"/>
          <a:stretch/>
        </p:blipFill>
        <p:spPr>
          <a:xfrm>
            <a:off x="787680" y="4201920"/>
            <a:ext cx="8671680" cy="2201760"/>
          </a:xfrm>
          <a:prstGeom prst="rect">
            <a:avLst/>
          </a:prstGeom>
          <a:noFill/>
          <a:ln w="0">
            <a:noFill/>
          </a:ln>
        </p:spPr>
      </p:pic>
      <p:sp>
        <p:nvSpPr>
          <p:cNvPr id="1070" name="矢印: 右 61"/>
          <p:cNvSpPr/>
          <p:nvPr/>
        </p:nvSpPr>
        <p:spPr>
          <a:xfrm>
            <a:off x="5232600" y="2618640"/>
            <a:ext cx="429840" cy="352080"/>
          </a:xfrm>
          <a:prstGeom prst="rightArrow">
            <a:avLst>
              <a:gd name="adj1" fmla="val 50000"/>
              <a:gd name="adj2" fmla="val 50000"/>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pic>
        <p:nvPicPr>
          <p:cNvPr id="1071" name="図 62"/>
          <p:cNvPicPr/>
          <p:nvPr/>
        </p:nvPicPr>
        <p:blipFill>
          <a:blip r:embed="rId4"/>
          <a:srcRect l="35512" r="35510"/>
          <a:stretch/>
        </p:blipFill>
        <p:spPr>
          <a:xfrm>
            <a:off x="6038640" y="1875960"/>
            <a:ext cx="917280" cy="1779120"/>
          </a:xfrm>
          <a:prstGeom prst="rect">
            <a:avLst/>
          </a:prstGeom>
          <a:noFill/>
          <a:ln w="0">
            <a:noFill/>
          </a:ln>
        </p:spPr>
      </p:pic>
      <p:sp>
        <p:nvSpPr>
          <p:cNvPr id="1072" name="テキスト ボックス 34"/>
          <p:cNvSpPr/>
          <p:nvPr/>
        </p:nvSpPr>
        <p:spPr>
          <a:xfrm>
            <a:off x="6868440" y="2618640"/>
            <a:ext cx="270468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0" u="none" strike="noStrike">
                <a:solidFill>
                  <a:srgbClr val="000000"/>
                </a:solidFill>
                <a:effectLst/>
                <a:uFillTx/>
                <a:latin typeface="メイリオ"/>
                <a:ea typeface="メイリオ"/>
              </a:rPr>
              <a:t>LINE</a:t>
            </a:r>
            <a:r>
              <a:rPr lang="ja-JP" sz="1200" b="0" u="none" strike="noStrike">
                <a:solidFill>
                  <a:srgbClr val="000000"/>
                </a:solidFill>
                <a:effectLst/>
                <a:uFillTx/>
                <a:latin typeface="メイリオ"/>
                <a:ea typeface="メイリオ"/>
              </a:rPr>
              <a:t>アプリ内から</a:t>
            </a:r>
            <a:br>
              <a:rPr sz="1200"/>
            </a:br>
            <a:r>
              <a:rPr lang="ja-JP" sz="1200" b="0" u="none" strike="noStrike">
                <a:solidFill>
                  <a:srgbClr val="000000"/>
                </a:solidFill>
                <a:effectLst/>
                <a:uFillTx/>
                <a:latin typeface="メイリオ"/>
                <a:ea typeface="メイリオ"/>
              </a:rPr>
              <a:t>自社アカウントに</a:t>
            </a:r>
            <a:r>
              <a:rPr lang="en-US" sz="1600" b="1" u="none" strike="noStrike">
                <a:solidFill>
                  <a:srgbClr val="33CC33"/>
                </a:solidFill>
                <a:effectLst/>
                <a:uFillTx/>
                <a:latin typeface="メイリオ"/>
                <a:ea typeface="メイリオ"/>
              </a:rPr>
              <a:t>“直接”</a:t>
            </a:r>
            <a:r>
              <a:rPr lang="ja-JP" sz="1200" b="0" u="none" strike="noStrike">
                <a:solidFill>
                  <a:srgbClr val="000000"/>
                </a:solidFill>
                <a:effectLst/>
                <a:uFillTx/>
                <a:latin typeface="メイリオ"/>
                <a:ea typeface="メイリオ"/>
              </a:rPr>
              <a:t>誘導</a:t>
            </a:r>
            <a:endParaRPr lang="en-US" sz="1200" b="0" u="none" strike="noStrike">
              <a:solidFill>
                <a:srgbClr val="000000"/>
              </a:solidFill>
              <a:effectLst/>
              <a:uFillTx/>
              <a:latin typeface="Arial"/>
            </a:endParaRPr>
          </a:p>
        </p:txBody>
      </p:sp>
    </p:spTree>
  </p:cSld>
  <p:clrMapOvr>
    <a:masterClrMapping/>
  </p:clrMapOvr>
</p:sld>
</file>

<file path=ppt/theme/theme1.xml><?xml version="1.0" encoding="utf-8"?>
<a:theme xmlns:a="http://schemas.openxmlformats.org/drawingml/2006/main" name="テーマ1">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Default Theme</Template>
  <TotalTime>143189</TotalTime>
  <Words>5512</Words>
  <Application>Microsoft Office PowerPoint</Application>
  <PresentationFormat>A4 210 x 297 mm</PresentationFormat>
  <Paragraphs>1107</Paragraphs>
  <Slides>43</Slides>
  <Notes>20</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43</vt:i4>
      </vt:variant>
    </vt:vector>
  </HeadingPairs>
  <TitlesOfParts>
    <vt:vector size="51" baseType="lpstr">
      <vt:lpstr>メイリオ</vt:lpstr>
      <vt:lpstr>メイリオ</vt:lpstr>
      <vt:lpstr>Arial</vt:lpstr>
      <vt:lpstr>Calibri</vt:lpstr>
      <vt:lpstr>Symbol</vt:lpstr>
      <vt:lpstr>Times New Roman</vt:lpstr>
      <vt:lpstr>Wingdings</vt:lpstr>
      <vt:lpstr>テーマ1</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subject/>
  <dc:creator>中村 駿</dc:creator>
  <dc:description/>
  <cp:lastModifiedBy>殿村 亮太</cp:lastModifiedBy>
  <cp:revision>1968</cp:revision>
  <cp:lastPrinted>2022-11-01T11:38:14Z</cp:lastPrinted>
  <dcterms:created xsi:type="dcterms:W3CDTF">2015-09-04T09:21:15Z</dcterms:created>
  <dcterms:modified xsi:type="dcterms:W3CDTF">2026-10-15T04:14:32Z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r8>21</vt:r8>
  </property>
  <property fmtid="{D5CDD505-2E9C-101B-9397-08002B2CF9AE}" pid="3" name="PresentationFormat">
    <vt:lpwstr>A4 210 x 297 mm</vt:lpwstr>
  </property>
  <property fmtid="{D5CDD505-2E9C-101B-9397-08002B2CF9AE}" pid="4" name="Slides">
    <vt:r8>46</vt:r8>
  </property>
</Properties>
</file>