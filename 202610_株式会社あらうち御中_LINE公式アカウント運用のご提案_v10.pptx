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9"/>
  </p:notesMasterIdLst>
  <p:sldIdLst>
    <p:sldId id="256" r:id="rId2"/>
    <p:sldId id="278" r:id="rId15"/>
    <p:sldId id="257" r:id="rId3"/>
    <p:sldId id="259" r:id="rId5"/>
    <p:sldId id="260" r:id="rId6"/>
    <p:sldId id="266" r:id="rId12"/>
    <p:sldId id="281" r:id="rId28"/>
    <p:sldId id="258" r:id="rId4"/>
    <p:sldId id="263" r:id="rId9"/>
    <p:sldId id="264" r:id="rId10"/>
    <p:sldId id="262" r:id="rId8"/>
    <p:sldId id="271" r:id="rId20"/>
    <p:sldId id="269" r:id="rId18"/>
    <p:sldId id="270" r:id="rId19"/>
    <p:sldId id="268" r:id="rId14"/>
    <p:sldId id="279" r:id="rId16"/>
    <p:sldId id="302" r:id="rId17"/>
    <p:sldId id="283" r:id="rId30"/>
    <p:sldId id="284" r:id="rId31"/>
    <p:sldId id="285" r:id="rId32"/>
    <p:sldId id="286" r:id="rId33"/>
    <p:sldId id="301" r:id="rId48"/>
    <p:sldId id="293" r:id="rId40"/>
    <p:sldId id="272" r:id="rId21"/>
    <p:sldId id="273" r:id="rId22"/>
    <p:sldId id="274" r:id="rId23"/>
    <p:sldId id="275" r:id="rId24"/>
    <p:sldId id="276" r:id="rId25"/>
    <p:sldId id="277" r:id="rId26"/>
    <p:sldId id="280" r:id="rId27"/>
    <p:sldId id="282" r:id="rId29"/>
    <p:sldId id="287" r:id="rId34"/>
    <p:sldId id="288" r:id="rId35"/>
    <p:sldId id="289" r:id="rId36"/>
    <p:sldId id="290" r:id="rId37"/>
    <p:sldId id="291" r:id="rId38"/>
    <p:sldId id="292" r:id="rId39"/>
    <p:sldId id="294" r:id="rId41"/>
    <p:sldId id="295" r:id="rId42"/>
    <p:sldId id="296" r:id="rId43"/>
    <p:sldId id="297" r:id="rId44"/>
    <p:sldId id="298" r:id="rId45"/>
    <p:sldId id="299" r:id="rId46"/>
    <p:sldId id="300" r:id="rId4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00" y="1243080"/>
            <a:ext cx="4844520" cy="3354120"/>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00" y="1243080"/>
            <a:ext cx="4844520" cy="3354120"/>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00" y="1243080"/>
            <a:ext cx="4844520" cy="3354120"/>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00" y="1243080"/>
            <a:ext cx="4844520" cy="3354120"/>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00" y="1243080"/>
            <a:ext cx="4844520" cy="3354120"/>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17</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00" y="1243080"/>
            <a:ext cx="4844520" cy="3354120"/>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28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00" y="1243080"/>
            <a:ext cx="4844520" cy="3354120"/>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00" y="1243080"/>
            <a:ext cx="4844520" cy="3354120"/>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47</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jpe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jpeg"/><Relationship Id="rId7" Type="http://schemas.openxmlformats.org/officeDocument/2006/relationships/image" Target="../media/image29.png"/><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27.png"/><Relationship Id="rId10" Type="http://schemas.openxmlformats.org/officeDocument/2006/relationships/image" Target="../media/image32.jpeg"/><Relationship Id="rId4" Type="http://schemas.openxmlformats.org/officeDocument/2006/relationships/image" Target="../media/image26.png"/><Relationship Id="rId9"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30.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2.svg"/><Relationship Id="rId5" Type="http://schemas.openxmlformats.org/officeDocument/2006/relationships/image" Target="../media/image51.svg"/><Relationship Id="rId4" Type="http://schemas.openxmlformats.org/officeDocument/2006/relationships/image" Target="../media/image50.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4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8" Type="http://schemas.openxmlformats.org/officeDocument/2006/relationships/image" Target="../media/image73.jpeg"/><Relationship Id="rId3" Type="http://schemas.openxmlformats.org/officeDocument/2006/relationships/image" Target="../media/image68.emf"/><Relationship Id="rId7" Type="http://schemas.openxmlformats.org/officeDocument/2006/relationships/image" Target="../media/image72.jpe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71.jpeg"/><Relationship Id="rId5" Type="http://schemas.openxmlformats.org/officeDocument/2006/relationships/image" Target="../media/image70.jpeg"/><Relationship Id="rId4" Type="http://schemas.openxmlformats.org/officeDocument/2006/relationships/image" Target="../media/image6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現状：標準機能のまま、追加後の導線を厚くできる</a:t>
            </a:r>
            <a:endParaRPr lang="en-US" sz="1600" b="0" u="none" strike="noStrike">
              <a:solidFill>
                <a:srgbClr val="000000"/>
              </a:solidFill>
              <a:effectLst/>
              <a:uFillTx/>
              <a:latin typeface="メイリオ"/>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標準機能で厚くできる余地あり。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4901184"/>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a:solidFill>
                  <a:srgbClr val="595959"/>
                </a:solidFill>
                <a:effectLst/>
                <a:uFillTx/>
                <a:latin typeface="メイリオ"/>
                <a:ea typeface="メイリオ"/>
              </a:rPr>
              <a:t>※いずれも貴社ヒヤリング、外部計測</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595959"/>
                </a:solidFill>
                <a:effectLst/>
                <a:uFillTx/>
                <a:latin typeface="メイリオ"/>
                <a:ea typeface="メイリオ"/>
              </a:rPr>
              <a:t>　をもとにした想定。（仮）は仮置き。</a:t>
            </a:r>
            <a:endParaRPr lang="en-US" sz="1100" b="0" u="none" strike="noStrike">
              <a:solidFill>
                <a:srgbClr val="000000"/>
              </a:solidFill>
              <a:effectLst/>
              <a:uFillTx/>
              <a:latin typeface="Arial"/>
            </a:endParaRPr>
          </a:p>
        </p:txBody>
      </p:sp>
      <p:sp>
        <p:nvSpPr>
          <p:cNvPr id="44" name="テキスト ボックス 68"/>
          <p:cNvSpPr/>
          <p:nvPr/>
        </p:nvSpPr>
        <p:spPr>
          <a:xfrm>
            <a:off x="178308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47" name="テキスト ボックス 74"/>
          <p:cNvSpPr/>
          <p:nvPr/>
        </p:nvSpPr>
        <p:spPr>
          <a:xfrm>
            <a:off x="178308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62" name="テキスト ボックス 103"/>
          <p:cNvSpPr/>
          <p:nvPr/>
        </p:nvSpPr>
        <p:spPr>
          <a:xfrm>
            <a:off x="651060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3" name="テキスト ボックス 168"/>
          <p:cNvSpPr/>
          <p:nvPr/>
        </p:nvSpPr>
        <p:spPr>
          <a:xfrm>
            <a:off x="651060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約862（仮）</a:t>
            </a:r>
            <a:endParaRPr lang="en-US" sz="1200" b="0" u="none" strike="noStrike">
              <a:solidFill>
                <a:srgbClr val="000000"/>
              </a:solidFill>
              <a:effectLst/>
              <a:uFillTx/>
              <a:latin typeface="Arial"/>
            </a:endParaRPr>
          </a:p>
        </p:txBody>
      </p:sp>
      <p:sp>
        <p:nvSpPr>
          <p:cNvPr id="76" name="テキスト ボックス 174"/>
          <p:cNvSpPr/>
          <p:nvPr/>
        </p:nvSpPr>
        <p:spPr>
          <a:xfrm>
            <a:off x="780912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83" name="テキスト ボックス 188"/>
          <p:cNvSpPr/>
          <p:nvPr/>
        </p:nvSpPr>
        <p:spPr>
          <a:xfrm>
            <a:off x="780912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お客様の動線：LINE追加後の物件送信が最重要</a:t>
            </a:r>
            <a:endParaRPr lang="en-US" sz="1600" b="0" u="none" strike="noStrike">
              <a:solidFill>
                <a:srgbClr val="000000"/>
              </a:solidFill>
              <a:effectLst/>
              <a:uFillTx/>
              <a:latin typeface="メイリオ"/>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chemeClr val="dk1"/>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ポータルで物件検索 → サイト閲覧 → LINE追加 → フォームで物件を送信（CV）の流れで設計します。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最大の改善ポイントは、LINE友だち追加後に物件情報の送信（CV）へつなげる導線の整備です。</a:t>
            </a:r>
            <a:endParaRPr lang="en-US" sz="1400" b="0" u="none" strike="noStrike">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rPr>
              <a:t>LINEの現状：送る形は合っている。案内を足して厚くする</a:t>
            </a:r>
            <a:endParaRPr lang="en-US" sz="1600" b="0" u="none" strike="noStrike">
              <a:solidFill>
                <a:srgbClr val="000000"/>
              </a:solidFill>
              <a:effectLst/>
              <a:uFillTx/>
              <a:latin typeface="メイリオ"/>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あいさつで物件名・</a:t>
            </a:r>
            <a:r>
              <a:rPr lang="en-US" sz="1400" b="0" u="none" strike="noStrike">
                <a:solidFill>
                  <a:schemeClr val="dk1">
                    <a:lumMod val="65000"/>
                    <a:lumOff val="35000"/>
                  </a:schemeClr>
                </a:solidFill>
                <a:effectLst/>
                <a:uFillTx/>
                <a:latin typeface="メイリオ"/>
                <a:ea typeface="メイリオ"/>
              </a:rPr>
              <a:t>URL</a:t>
            </a:r>
            <a:r>
              <a:rPr lang="ja-JP" sz="1400" b="0" u="none" strike="noStrike">
                <a:solidFill>
                  <a:schemeClr val="dk1">
                    <a:lumMod val="65000"/>
                    <a:lumOff val="35000"/>
                  </a:schemeClr>
                </a:solidFill>
                <a:effectLst/>
                <a:uFillTx/>
                <a:latin typeface="メイリオ"/>
                <a:ea typeface="メイリオ"/>
              </a:rPr>
              <a:t>の送信をお願いする形は、</a:t>
            </a:r>
            <a:r>
              <a:rPr lang="en-US" sz="1400" b="0" u="none" strike="noStrike">
                <a:solidFill>
                  <a:schemeClr val="dk1">
                    <a:lumMod val="65000"/>
                    <a:lumOff val="35000"/>
                  </a:schemeClr>
                </a:solidFill>
                <a:effectLst/>
                <a:uFillTx/>
                <a:latin typeface="メイリオ"/>
                <a:ea typeface="メイリオ"/>
              </a:rPr>
              <a:t>100</a:t>
            </a:r>
            <a:r>
              <a:rPr lang="ja-JP" sz="1400" b="0" u="none" strike="noStrike">
                <a:solidFill>
                  <a:schemeClr val="dk1">
                    <a:lumMod val="65000"/>
                    <a:lumOff val="35000"/>
                  </a:schemeClr>
                </a:solidFill>
                <a:effectLst/>
                <a:uFillTx/>
                <a:latin typeface="メイリオ"/>
                <a:ea typeface="メイリオ"/>
              </a:rPr>
              <a:t>円賃貸の使い方に合っています。</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chemeClr val="dk1">
                    <a:lumMod val="65000"/>
                    <a:lumOff val="35000"/>
                  </a:schemeClr>
                </a:solidFill>
                <a:effectLst/>
                <a:uFillTx/>
                <a:latin typeface="メイリオ"/>
                <a:ea typeface="メイリオ"/>
              </a:rPr>
              <a:t>送るメリット・安心材料やボタン、リッチメニューを足して厚くし、フォームで計測をします。</a:t>
            </a:r>
            <a:endParaRPr lang="en-US" sz="14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市場：家賃が上がる今、初期費用の負担感に応える</a:t>
            </a:r>
            <a:endParaRPr lang="en-US" sz="1600" b="0" u="none" strike="noStrike">
              <a:solidFill>
                <a:srgbClr val="000000"/>
              </a:solidFill>
              <a:effectLst/>
              <a:uFillTx/>
              <a:latin typeface="メイリオ"/>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家賃が上がる今、仲介手数料・初期費用への負担感に応えることを、提案の軸にします。</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での受け口が欠かせません</a:t>
            </a:r>
            <a:r>
              <a:rPr lang="ja-JP"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143" name="Card1_Num"/>
          <p:cNvSpPr/>
          <p:nvPr/>
        </p:nvSpPr>
        <p:spPr>
          <a:xfrm>
            <a:off x="384048" y="1481328"/>
            <a:ext cx="2180844" cy="512064"/>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4048" y="1993392"/>
            <a:ext cx="2180844" cy="45720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4048"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2702051" y="1481328"/>
            <a:ext cx="2180844" cy="512064"/>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2702051" y="1993392"/>
            <a:ext cx="2180844" cy="45720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2702051"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1_Num"/>
          <p:cNvSpPr/>
          <p:nvPr/>
        </p:nvSpPr>
        <p:spPr>
          <a:xfrm>
            <a:off x="5020055" y="1481328"/>
            <a:ext cx="2180844" cy="512064"/>
          </a:xfrm>
          <a:prstGeom prst="rect">
            <a:avLst/>
          </a:prstGeom>
          <a:solidFill>
            <a:srgbClr val="5B7DB1"/>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0" name="Card1_Title"/>
          <p:cNvSpPr/>
          <p:nvPr/>
        </p:nvSpPr>
        <p:spPr>
          <a:xfrm>
            <a:off x="5020055" y="1993392"/>
            <a:ext cx="2180844" cy="457200"/>
          </a:xfrm>
          <a:prstGeom prst="rect">
            <a:avLst/>
          </a:prstGeom>
          <a:solidFill>
            <a:srgbClr val="FFFFFF"/>
          </a:solidFill>
          <a:ln w="6350">
            <a:solidFill>
              <a:srgbClr val="5B7DB1"/>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5B7DB1"/>
                </a:solidFill>
                <a:effectLst/>
                <a:uFillTx/>
                <a:latin typeface="メイリオ" panose="020B0604030504040204" pitchFamily="50" charset="-128"/>
                <a:ea typeface="メイリオ" panose="020B0604030504040204" pitchFamily="50" charset="-128"/>
              </a:rPr>
              <a:t>文字でのやり取りを希望</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1_Body"/>
          <p:cNvSpPr/>
          <p:nvPr/>
        </p:nvSpPr>
        <p:spPr>
          <a:xfrm>
            <a:off x="5020055"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2" name="Card3_Num"/>
          <p:cNvSpPr/>
          <p:nvPr/>
        </p:nvSpPr>
        <p:spPr>
          <a:xfrm>
            <a:off x="7338059" y="1481328"/>
            <a:ext cx="2180844" cy="512064"/>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04</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3" name="Card3_Title"/>
          <p:cNvSpPr/>
          <p:nvPr/>
        </p:nvSpPr>
        <p:spPr>
          <a:xfrm>
            <a:off x="7338059" y="1993392"/>
            <a:ext cx="2180844" cy="45720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URLを送るだけの競合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4" name="Card3_Body"/>
          <p:cNvSpPr/>
          <p:nvPr/>
        </p:nvSpPr>
        <p:spPr>
          <a:xfrm>
            <a:off x="7338059"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運用ツール：標準機能で運用する</a:t>
            </a:r>
            <a:endParaRPr lang="en-US" sz="1600" b="0" u="none" strike="noStrike">
              <a:solidFill>
                <a:srgbClr val="000000"/>
              </a:solidFill>
              <a:effectLst/>
              <a:uFillTx/>
              <a:latin typeface="メイリオ"/>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7772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公式アカウントの標準機能を中心に運用します。</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全体像：サイト → LINE追加 → フォーム送信を標準機能でつなぐ</a:t>
            </a:r>
            <a:endParaRPr lang="en-US" sz="1600" b="0" u="none" strike="noStrike">
              <a:solidFill>
                <a:srgbClr val="000000"/>
              </a:solidFill>
              <a:effectLst/>
              <a:uFillTx/>
              <a:latin typeface="メイリオ"/>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42"/>
            <a:ext cx="9190440" cy="3181452"/>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5340096"/>
            <a:ext cx="9190440" cy="1060704"/>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a:t>
            </a:r>
            <a:r>
              <a:rPr lang="ja-JP" sz="1400" b="1" u="none" strike="noStrike">
                <a:solidFill>
                  <a:schemeClr val="dk1">
                    <a:lumMod val="50000"/>
                    <a:lumOff val="50000"/>
                  </a:schemeClr>
                </a:solidFill>
                <a:effectLst/>
                <a:uFillTx/>
                <a:latin typeface="メイリオ"/>
                <a:ea typeface="メイリオ"/>
              </a:rPr>
              <a:t>対新規ユーザー領域</a:t>
            </a:r>
            <a:r>
              <a:rPr lang="en-US" sz="1400" b="1" u="none" strike="noStrike">
                <a:solidFill>
                  <a:schemeClr val="dk1">
                    <a:lumMod val="50000"/>
                    <a:lumOff val="50000"/>
                  </a:schemeClr>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183" name="テキスト ボックス 8"/>
          <p:cNvSpPr/>
          <p:nvPr/>
        </p:nvSpPr>
        <p:spPr>
          <a:xfrm>
            <a:off x="453240" y="5010912"/>
            <a:ext cx="6217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&lt;定期対応項目（一部抽出）&gt;</a:t>
            </a:r>
            <a:endParaRPr lang="en-US" sz="1400" b="0" u="none" strike="noStrike">
              <a:solidFill>
                <a:srgbClr val="000000"/>
              </a:solidFill>
              <a:effectLst/>
              <a:uFillTx/>
              <a:latin typeface="Arial"/>
            </a:endParaRPr>
          </a:p>
        </p:txBody>
      </p:sp>
      <p:sp>
        <p:nvSpPr>
          <p:cNvPr id="184" name="正方形/長方形 8"/>
          <p:cNvSpPr/>
          <p:nvPr/>
        </p:nvSpPr>
        <p:spPr>
          <a:xfrm>
            <a:off x="567000" y="1875370"/>
            <a:ext cx="164556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138458"/>
            <a:ext cx="1371240" cy="66991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フォームで送信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784356"/>
            <a:ext cx="2559960" cy="64571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294069"/>
            <a:ext cx="2559960" cy="382433"/>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430443"/>
            <a:ext cx="1371240" cy="1076654"/>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個別対応（参考）</a:t>
            </a:r>
            <a:endParaRPr lang="en-US" sz="1200" b="0" u="none" strike="noStrike" dirty="0">
              <a:solidFill>
                <a:srgbClr val="595959"/>
              </a:solidFill>
              <a:effectLst/>
              <a:uFillTx/>
              <a:latin typeface="Arial"/>
            </a:endParaRPr>
          </a:p>
        </p:txBody>
      </p:sp>
      <p:sp>
        <p:nvSpPr>
          <p:cNvPr id="189" name="正方形/長方形 19"/>
          <p:cNvSpPr/>
          <p:nvPr/>
        </p:nvSpPr>
        <p:spPr>
          <a:xfrm>
            <a:off x="955548"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3762756"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955548"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569964"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3762756"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5" name="正方形/長方形 25"/>
          <p:cNvSpPr/>
          <p:nvPr/>
        </p:nvSpPr>
        <p:spPr>
          <a:xfrm>
            <a:off x="3310200" y="1803310"/>
            <a:ext cx="4534920" cy="3038275"/>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75370"/>
            <a:ext cx="1517400" cy="358413"/>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2054341"/>
            <a:ext cx="275040" cy="1053105"/>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2054341"/>
            <a:ext cx="275040" cy="431415"/>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75370"/>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endParaRPr lang="en-US" sz="1200" b="0" u="none" strike="noStrike">
              <a:solidFill>
                <a:srgbClr val="FFFFFF"/>
              </a:solidFill>
              <a:effectLst/>
              <a:uFillTx/>
              <a:latin typeface="Arial"/>
            </a:endParaRPr>
          </a:p>
        </p:txBody>
      </p:sp>
      <p:sp>
        <p:nvSpPr>
          <p:cNvPr id="200" name="正方形/長方形 31"/>
          <p:cNvSpPr/>
          <p:nvPr/>
        </p:nvSpPr>
        <p:spPr>
          <a:xfrm>
            <a:off x="5193720" y="2300192"/>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318089"/>
            <a:ext cx="1517400" cy="310374"/>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652954"/>
            <a:ext cx="1572480" cy="2033209"/>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3149364"/>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998536"/>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574186"/>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4423358"/>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968771"/>
            <a:ext cx="439560" cy="628378"/>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473040"/>
            <a:ext cx="439560" cy="1699286"/>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473040"/>
            <a:ext cx="439560" cy="1274935"/>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473040"/>
            <a:ext cx="439560" cy="850114"/>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473040"/>
            <a:ext cx="439560" cy="425292"/>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473040"/>
            <a:ext cx="439560" cy="941"/>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2048690"/>
            <a:ext cx="439560" cy="424821"/>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39576"/>
            <a:ext cx="145800" cy="2966215"/>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離脱防止ポップアップとサイトのLINEボタンから友だち追加し、フォーム送信（CV）につなげます。</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844265"/>
            <a:ext cx="1554480" cy="526364"/>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施策：新しい友だちと今の友だちの両方に届ける</a:t>
            </a:r>
            <a:endParaRPr lang="en-US" sz="1600" b="0" u="none" strike="noStrike">
              <a:solidFill>
                <a:srgbClr val="000000"/>
              </a:solidFill>
              <a:effectLst/>
              <a:uFillTx/>
              <a:latin typeface="メイリオ"/>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LINE</a:t>
            </a:r>
            <a:r>
              <a:rPr lang="ja-JP" sz="1300" b="1" u="none" strike="noStrike">
                <a:solidFill>
                  <a:schemeClr val="lt1"/>
                </a:solidFill>
                <a:effectLst/>
                <a:uFillTx/>
                <a:latin typeface="メイリオ"/>
                <a:ea typeface="メイリオ"/>
              </a:rPr>
              <a:t>誘導</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625818"/>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14754"/>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3424838"/>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14423"/>
            <a:ext cx="1425600" cy="2691993"/>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200" b="1" u="none" strike="noStrike" dirty="0">
                <a:solidFill>
                  <a:schemeClr val="dk1">
                    <a:lumMod val="75000"/>
                    <a:lumOff val="25000"/>
                  </a:schemeClr>
                </a:solidFill>
                <a:effectLst/>
                <a:uFillTx/>
                <a:latin typeface="メイリオ"/>
                <a:ea typeface="メイリオ"/>
              </a:rPr>
              <a:t>新規友だち</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（100円賃貸の</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サイトから）</a:t>
            </a:r>
            <a:endParaRPr lang="en-US" sz="1200" b="0" u="none" strike="noStrike" dirty="0">
              <a:solidFill>
                <a:srgbClr val="000000"/>
              </a:solidFill>
              <a:effectLst/>
              <a:uFillTx/>
              <a:latin typeface="Arial"/>
            </a:endParaRPr>
          </a:p>
        </p:txBody>
      </p:sp>
      <p:sp>
        <p:nvSpPr>
          <p:cNvPr id="244" name="正方形/長方形 12"/>
          <p:cNvSpPr/>
          <p:nvPr/>
        </p:nvSpPr>
        <p:spPr>
          <a:xfrm>
            <a:off x="3392640" y="2002334"/>
            <a:ext cx="4320000" cy="2706731"/>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4815050"/>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8" name="正方形/長方形 16"/>
          <p:cNvSpPr/>
          <p:nvPr/>
        </p:nvSpPr>
        <p:spPr>
          <a:xfrm>
            <a:off x="388080" y="4835750"/>
            <a:ext cx="2927880" cy="12834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200" b="1" u="none" strike="noStrike">
                <a:solidFill>
                  <a:schemeClr val="dk1">
                    <a:lumMod val="65000"/>
                    <a:lumOff val="35000"/>
                  </a:schemeClr>
                </a:solidFill>
                <a:effectLst/>
                <a:uFillTx/>
                <a:latin typeface="メイリオ"/>
                <a:ea typeface="メイリオ"/>
              </a:rPr>
              <a:t>既存友だち（今の友だち 1,241人）</a:t>
            </a:r>
            <a:endParaRPr lang="en-US" sz="1200" b="0" u="none" strike="noStrike">
              <a:solidFill>
                <a:srgbClr val="000000"/>
              </a:solidFill>
              <a:effectLst/>
              <a:uFillTx/>
              <a:latin typeface="Arial"/>
            </a:endParaRPr>
          </a:p>
          <a:p>
            <a:pPr algn="ctr" defTabSz="914400">
              <a:lnSpc>
                <a:spcPct val="100000"/>
              </a:lnSpc>
            </a:pPr>
            <a:r>
              <a:rPr lang="ja-JP" sz="1200" b="0" u="none" strike="noStrike">
                <a:solidFill>
                  <a:schemeClr val="dk1">
                    <a:lumMod val="65000"/>
                    <a:lumOff val="35000"/>
                  </a:schemeClr>
                </a:solidFill>
                <a:effectLst/>
                <a:uFillTx/>
                <a:latin typeface="メイリオ"/>
                <a:ea typeface="メイリオ"/>
              </a:rPr>
              <a:t>＋追加後の新しい友だちにも配信</a:t>
            </a:r>
            <a:endParaRPr lang="en-US" sz="1200" b="0" u="none" strike="noStrike">
              <a:solidFill>
                <a:srgbClr val="000000"/>
              </a:solidFill>
              <a:effectLst/>
              <a:uFillTx/>
              <a:latin typeface="Arial"/>
            </a:endParaRPr>
          </a:p>
        </p:txBody>
      </p:sp>
      <p:sp>
        <p:nvSpPr>
          <p:cNvPr id="251" name="正方形/長方形 19"/>
          <p:cNvSpPr/>
          <p:nvPr/>
        </p:nvSpPr>
        <p:spPr>
          <a:xfrm>
            <a:off x="3392640" y="4835750"/>
            <a:ext cx="43200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474720" y="2328620"/>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あいさつ</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595959"/>
                </a:solidFill>
                <a:effectLst/>
                <a:uFillTx/>
                <a:latin typeface="メイリオ"/>
                <a:ea typeface="メイリオ"/>
              </a:rPr>
              <a:t>フォームの送り方を案内</a:t>
            </a:r>
            <a:endParaRPr lang="en-US" sz="1200" b="0" u="none" strike="noStrike">
              <a:solidFill>
                <a:srgbClr val="000000"/>
              </a:solidFill>
              <a:effectLst/>
              <a:uFillTx/>
              <a:latin typeface="Arial"/>
            </a:endParaRPr>
          </a:p>
        </p:txBody>
      </p:sp>
      <p:sp>
        <p:nvSpPr>
          <p:cNvPr id="266" name="Shape 18"/>
          <p:cNvSpPr/>
          <p:nvPr/>
        </p:nvSpPr>
        <p:spPr>
          <a:xfrm>
            <a:off x="5623560" y="2328620"/>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ステップ配信（全</a:t>
            </a:r>
            <a:r>
              <a:rPr lang="en-US" sz="1200" b="0" u="none" strike="noStrike">
                <a:solidFill>
                  <a:srgbClr val="595959"/>
                </a:solidFill>
                <a:effectLst/>
                <a:uFillTx/>
                <a:latin typeface="メイリオ"/>
                <a:ea typeface="メイリオ"/>
              </a:rPr>
              <a:t>10</a:t>
            </a:r>
            <a:r>
              <a:rPr lang="zh-CN" sz="1200" b="0" u="none" strike="noStrike">
                <a:solidFill>
                  <a:srgbClr val="595959"/>
                </a:solidFill>
                <a:effectLst/>
                <a:uFillTx/>
                <a:latin typeface="メイリオ"/>
                <a:ea typeface="メイリオ"/>
              </a:rPr>
              <a:t>通）</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フォームで物件を送信</a:t>
            </a:r>
            <a:endParaRPr lang="en-US" sz="1200" b="0" u="none" strike="noStrike">
              <a:solidFill>
                <a:srgbClr val="000000"/>
              </a:solidFill>
              <a:effectLst/>
              <a:uFillTx/>
              <a:latin typeface="Arial"/>
            </a:endParaRPr>
          </a:p>
        </p:txBody>
      </p:sp>
      <p:cxnSp>
        <p:nvCxnSpPr>
          <p:cNvPr id="267" name="直線矢印コネクタ 35"/>
          <p:cNvCxnSpPr>
            <a:endCxn id="266" idx="1"/>
          </p:cNvCxnSpPr>
          <p:nvPr/>
        </p:nvCxnSpPr>
        <p:spPr>
          <a:xfrm>
            <a:off x="5349240" y="2686550"/>
            <a:ext cx="274320" cy="9360"/>
          </a:xfrm>
          <a:prstGeom prst="straightConnector1">
            <a:avLst/>
          </a:prstGeom>
          <a:ln>
            <a:solidFill>
              <a:srgbClr val="000000"/>
            </a:solidFill>
            <a:prstDash val="sysDot"/>
            <a:round/>
            <a:tailEnd type="triangle" w="med" len="med"/>
          </a:ln>
        </p:spPr>
      </p:cxnSp>
      <p:sp>
        <p:nvSpPr>
          <p:cNvPr id="268" name="Shape 17"/>
          <p:cNvSpPr/>
          <p:nvPr/>
        </p:nvSpPr>
        <p:spPr>
          <a:xfrm>
            <a:off x="3474720" y="3557372"/>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キーワード応答</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よくある質問に返信</a:t>
            </a:r>
            <a:endParaRPr lang="en-US" sz="1200" b="0" u="none" strike="noStrike">
              <a:solidFill>
                <a:srgbClr val="000000"/>
              </a:solidFill>
              <a:effectLst/>
              <a:uFillTx/>
              <a:latin typeface="Arial"/>
            </a:endParaRPr>
          </a:p>
        </p:txBody>
      </p:sp>
      <p:sp>
        <p:nvSpPr>
          <p:cNvPr id="269" name="Shape 18"/>
          <p:cNvSpPr/>
          <p:nvPr/>
        </p:nvSpPr>
        <p:spPr>
          <a:xfrm>
            <a:off x="5623560" y="3557372"/>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個別チャット</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空室確認・内見の手配</a:t>
            </a:r>
            <a:endParaRPr lang="en-US" sz="12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240" y="3930152"/>
            <a:ext cx="27432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643520" y="155088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ゴール</a:t>
            </a:r>
            <a:endParaRPr lang="en-US" sz="1200" b="0" u="none" strike="noStrike">
              <a:solidFill>
                <a:srgbClr val="000000"/>
              </a:solidFill>
              <a:effectLst/>
              <a:uFillTx/>
              <a:latin typeface="Arial"/>
            </a:endParaRPr>
          </a:p>
        </p:txBody>
      </p:sp>
      <p:sp>
        <p:nvSpPr>
          <p:cNvPr id="272" name="テキスト ボックス 104"/>
          <p:cNvSpPr/>
          <p:nvPr/>
        </p:nvSpPr>
        <p:spPr>
          <a:xfrm>
            <a:off x="7498080" y="3805344"/>
            <a:ext cx="1782720" cy="5227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フォーム送信</a:t>
            </a:r>
            <a:endParaRPr lang="en-US" sz="1400" b="0" u="none" strike="noStrike" dirty="0">
              <a:solidFill>
                <a:srgbClr val="000000"/>
              </a:solidFill>
              <a:effectLst/>
              <a:uFillTx/>
              <a:latin typeface="Arial"/>
            </a:endParaRPr>
          </a:p>
          <a:p>
            <a:pPr algn="r" defTabSz="914400">
              <a:lnSpc>
                <a:spcPct val="100000"/>
              </a:lnSpc>
            </a:pPr>
            <a:r>
              <a:rPr lang="ja-JP" sz="1100" b="0" u="none" strike="noStrike" dirty="0">
                <a:solidFill>
                  <a:srgbClr val="FF0000"/>
                </a:solidFill>
                <a:effectLst/>
                <a:uFillTx/>
                <a:latin typeface="メイリオ"/>
                <a:ea typeface="メイリオ"/>
              </a:rPr>
              <a:t>（CV）</a:t>
            </a:r>
            <a:endParaRPr lang="en-US" sz="1100" b="0" u="none" strike="noStrike" dirty="0">
              <a:solidFill>
                <a:srgbClr val="000000"/>
              </a:solidFill>
              <a:effectLst/>
              <a:uFillTx/>
              <a:latin typeface="Arial"/>
            </a:endParaRPr>
          </a:p>
        </p:txBody>
      </p:sp>
      <p:sp>
        <p:nvSpPr>
          <p:cNvPr id="278" name="Shape 17"/>
          <p:cNvSpPr/>
          <p:nvPr/>
        </p:nvSpPr>
        <p:spPr>
          <a:xfrm>
            <a:off x="3474720" y="5115668"/>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企画配信（月4回程度）</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送り方・費用など</a:t>
            </a:r>
            <a:endParaRPr lang="en-US" sz="1200" b="0" u="none" strike="noStrike">
              <a:solidFill>
                <a:srgbClr val="000000"/>
              </a:solidFill>
              <a:effectLst/>
              <a:uFillTx/>
              <a:latin typeface="Arial"/>
            </a:endParaRPr>
          </a:p>
        </p:txBody>
      </p:sp>
      <p:sp>
        <p:nvSpPr>
          <p:cNvPr id="279" name="Shape 18"/>
          <p:cNvSpPr/>
          <p:nvPr/>
        </p:nvSpPr>
        <p:spPr>
          <a:xfrm>
            <a:off x="5623560" y="5115668"/>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リッチメニュー</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フォーム送信（CV）</a:t>
            </a:r>
            <a:endParaRPr lang="en-US" sz="12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240" y="5488448"/>
            <a:ext cx="27432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新しい友だちには物件の送り方を、今の友だちには配信とリッチメニューで問い合わせのきっかけを届けます。</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今の友だちは見込み顧客として活用し、将来的な紹介にもつなげます（紹介による成果は試算に含みません）。</a:t>
            </a:r>
            <a:endParaRPr lang="en-US" sz="1300" b="0" u="none" strike="noStrike" dirty="0">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課題：サイトの取りこぼし・送る前のためらい・追加後の導線不足</a:t>
            </a:r>
            <a:endParaRPr lang="en-US" sz="1600" b="0" u="none" strike="noStrike">
              <a:solidFill>
                <a:srgbClr val="000000"/>
              </a:solidFill>
              <a:effectLst/>
              <a:uFillTx/>
              <a:latin typeface="メイリオ"/>
            </a:endParaRPr>
          </a:p>
        </p:txBody>
      </p:sp>
      <p:sp>
        <p:nvSpPr>
          <p:cNvPr id="305" name="Conclusion"/>
          <p:cNvSpPr/>
          <p:nvPr/>
        </p:nvSpPr>
        <p:spPr>
          <a:xfrm>
            <a:off x="380880" y="5248800"/>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あいさつ・リッチメニュー・ステップ配信で「フォームで物件を送る」まで案内します。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ボタンで新しい友だちを増やす課題です。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115640"/>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645920"/>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・サイトの月間訪問者（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UU</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でお問い合わせ」ボタンだけ</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・友だちは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115640"/>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645920"/>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115640"/>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645920"/>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658440"/>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658440"/>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目標と費用対効果：月13.5万円で、6か月目に月17件（試算）</a:t>
            </a:r>
            <a:endParaRPr lang="en-US" sz="1600" b="0" u="none" strike="noStrike">
              <a:solidFill>
                <a:srgbClr val="000000"/>
              </a:solidFill>
              <a:effectLst/>
              <a:uFillTx/>
              <a:latin typeface="メイリオ"/>
            </a:endParaRP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a:t>
            </a:r>
            <a:endParaRPr lang="en-US" sz="1400" b="0" u="none" strike="noStrike">
              <a:solidFill>
                <a:srgbClr val="000000"/>
              </a:solidFill>
              <a:effectLst/>
              <a:uFillTx/>
              <a:latin typeface="Arial"/>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6か月累計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1,450</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17件/月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89件</a:t>
            </a:r>
            <a:endParaRPr lang="en-US" sz="1400" b="0" u="none" strike="noStrike">
              <a:solidFill>
                <a:srgbClr val="000000"/>
              </a:solidFill>
              <a:effectLst/>
              <a:uFillTx/>
              <a:latin typeface="Arial"/>
            </a:endParaRPr>
          </a:p>
        </p:txBody>
      </p:sp>
      <p:sp>
        <p:nvSpPr>
          <p:cNvPr id="380" name="テキスト ボックス 18"/>
          <p:cNvSpPr/>
          <p:nvPr/>
        </p:nvSpPr>
        <p:spPr>
          <a:xfrm>
            <a:off x="265320" y="6035040"/>
            <a:ext cx="9417960" cy="438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000" b="0" u="none" strike="noStrike">
                <a:solidFill>
                  <a:schemeClr val="dk1"/>
                </a:solidFill>
                <a:effectLst/>
                <a:uFillTx/>
                <a:latin typeface="メイリオ"/>
                <a:ea typeface="メイリオ"/>
              </a:rPr>
              <a:t>※初期＝コンサル20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1.5</a:t>
            </a:r>
            <a:r>
              <a:rPr lang="zh-CN" sz="1000" b="0" u="none" strike="noStrike">
                <a:solidFill>
                  <a:schemeClr val="dk1"/>
                </a:solidFill>
                <a:effectLst/>
                <a:uFillTx/>
                <a:latin typeface="メイリオ"/>
                <a:ea typeface="メイリオ"/>
              </a:rPr>
              <a:t>万円／月額＝コンサル</a:t>
            </a:r>
            <a:r>
              <a:rPr lang="en-US" sz="1000" b="0" u="none" strike="noStrike">
                <a:solidFill>
                  <a:schemeClr val="dk1"/>
                </a:solidFill>
                <a:effectLst/>
                <a:uFillTx/>
                <a:latin typeface="メイリオ"/>
                <a:ea typeface="メイリオ"/>
              </a:rPr>
              <a:t>10</a:t>
            </a:r>
            <a:r>
              <a:rPr lang="zh-CN" sz="1000" b="0" u="none" strike="noStrike">
                <a:solidFill>
                  <a:schemeClr val="dk1"/>
                </a:solidFill>
                <a:effectLst/>
                <a:uFillTx/>
                <a:latin typeface="メイリオ"/>
                <a:ea typeface="メイリオ"/>
              </a:rPr>
              <a:t>万円＋離脱防止</a:t>
            </a:r>
            <a:r>
              <a:rPr lang="en-US" sz="1000" b="0" u="none" strike="noStrike">
                <a:solidFill>
                  <a:schemeClr val="dk1"/>
                </a:solidFill>
                <a:effectLst/>
                <a:uFillTx/>
                <a:latin typeface="メイリオ"/>
                <a:ea typeface="メイリオ"/>
              </a:rPr>
              <a:t>3</a:t>
            </a:r>
            <a:r>
              <a:rPr lang="zh-CN" sz="1000" b="0" u="none" strike="noStrike">
                <a:solidFill>
                  <a:schemeClr val="dk1"/>
                </a:solidFill>
                <a:effectLst/>
                <a:uFillTx/>
                <a:latin typeface="メイリオ"/>
                <a:ea typeface="メイリオ"/>
              </a:rPr>
              <a:t>万円＋</a:t>
            </a:r>
            <a:r>
              <a:rPr lang="en-US" sz="1000" b="0" u="none" strike="noStrike">
                <a:solidFill>
                  <a:schemeClr val="dk1"/>
                </a:solidFill>
                <a:effectLst/>
                <a:uFillTx/>
                <a:latin typeface="メイリオ"/>
                <a:ea typeface="メイリオ"/>
              </a:rPr>
              <a:t>LINE</a:t>
            </a:r>
            <a:r>
              <a:rPr lang="zh-CN" sz="1000" b="0" u="none" strike="noStrike">
                <a:solidFill>
                  <a:schemeClr val="dk1"/>
                </a:solidFill>
                <a:effectLst/>
                <a:uFillTx/>
                <a:latin typeface="メイリオ"/>
                <a:ea typeface="メイリオ"/>
              </a:rPr>
              <a:t>公式アカウント</a:t>
            </a:r>
            <a:r>
              <a:rPr lang="en-US" sz="1000" b="0" u="none" strike="noStrike">
                <a:solidFill>
                  <a:schemeClr val="dk1"/>
                </a:solidFill>
                <a:effectLst/>
                <a:uFillTx/>
                <a:latin typeface="メイリオ"/>
                <a:ea typeface="メイリオ"/>
              </a:rPr>
              <a:t>0.5</a:t>
            </a:r>
            <a:r>
              <a:rPr lang="zh-CN" sz="1000" b="0" u="none" strike="noStrike">
                <a:solidFill>
                  <a:schemeClr val="dk1"/>
                </a:solidFill>
                <a:effectLst/>
                <a:uFillTx/>
                <a:latin typeface="メイリオ"/>
                <a:ea typeface="メイリオ"/>
              </a:rPr>
              <a:t>万円</a:t>
            </a:r>
            <a:endParaRPr lang="en-US" sz="1000" b="0" u="none" strike="noStrike">
              <a:solidFill>
                <a:srgbClr val="000000"/>
              </a:solidFill>
              <a:effectLst/>
              <a:uFillTx/>
              <a:latin typeface="Arial"/>
            </a:endParaRPr>
          </a:p>
          <a:p>
            <a:pPr defTabSz="914400">
              <a:lnSpc>
                <a:spcPct val="100000"/>
              </a:lnSpc>
            </a:pP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か月後は</a:t>
            </a:r>
            <a:r>
              <a:rPr lang="en-US" sz="1000" b="0" u="none" strike="noStrike">
                <a:solidFill>
                  <a:schemeClr val="dk1"/>
                </a:solidFill>
                <a:effectLst/>
                <a:uFillTx/>
                <a:latin typeface="メイリオ"/>
                <a:ea typeface="メイリオ"/>
              </a:rPr>
              <a:t>6</a:t>
            </a:r>
            <a:r>
              <a:rPr lang="zh-CN" sz="1000" b="0" u="none" strike="noStrike">
                <a:solidFill>
                  <a:schemeClr val="dk1"/>
                </a:solidFill>
                <a:effectLst/>
                <a:uFillTx/>
                <a:latin typeface="メイリオ"/>
                <a:ea typeface="メイリオ"/>
              </a:rPr>
              <a:t>か月目の月間の試算。問い合わせ＝フォームでの物件情報の送信（CV）の件数</a:t>
            </a:r>
            <a:endParaRPr lang="en-US" sz="10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プラン①｜総合運用で、友だち追加の増加と導線改善により、LINE経由の物件問い合わせを増やす</a:t>
            </a:r>
            <a:endParaRPr lang="en-US" sz="1400" b="0" u="none" strike="noStrike">
              <a:solidFill>
                <a:srgbClr val="000000"/>
              </a:solidFill>
              <a:effectLst/>
              <a:uFillTx/>
              <a:latin typeface="Arial"/>
            </a:endParaRPr>
          </a:p>
        </p:txBody>
      </p:sp>
      <p:sp>
        <p:nvSpPr>
          <p:cNvPr id="382" name="試算の前提"/>
          <p:cNvSpPr/>
          <p:nvPr/>
        </p:nvSpPr>
        <p:spPr>
          <a:xfrm>
            <a:off x="6812280" y="4846320"/>
            <a:ext cx="2834280" cy="1005840"/>
          </a:xfrm>
          <a:prstGeom prst="rect">
            <a:avLst/>
          </a:prstGeom>
          <a:solidFill>
            <a:srgbClr val="F4F7FF"/>
          </a:solidFill>
          <a:ln w="9525">
            <a:solidFill>
              <a:srgbClr val="D9D9D9"/>
            </a:solidFill>
            <a:round/>
          </a:ln>
        </p:spPr>
        <p:style>
          <a:lnRef idx="0">
            <a:scrgbClr r="0" g="0" b="0"/>
          </a:lnRef>
          <a:fillRef idx="0">
            <a:scrgbClr r="0" g="0" b="0"/>
          </a:fillRef>
          <a:effectRef idx="0">
            <a:scrgbClr r="0" g="0" b="0"/>
          </a:effectRef>
          <a:fontRef idx="minor"/>
        </p:style>
        <p:txBody>
          <a:bodyPr lIns="109800" tIns="73080" rIns="109800" bIns="54720" anchor="t">
            <a:noAutofit/>
          </a:bodyPr>
          <a:lstStyle/>
          <a:p>
            <a:pPr defTabSz="914400">
              <a:lnSpc>
                <a:spcPct val="100000"/>
              </a:lnSpc>
              <a:spcAft>
                <a:spcPts val="300"/>
              </a:spcAft>
            </a:pPr>
            <a:r>
              <a:rPr lang="ja-JP" sz="1200" b="1" u="none" strike="noStrike">
                <a:solidFill>
                  <a:srgbClr val="1F285A"/>
                </a:solidFill>
                <a:effectLst/>
                <a:uFillTx/>
                <a:latin typeface="メイリオ"/>
                <a:ea typeface="メイリオ"/>
              </a:rPr>
              <a:t>＜試算の前提＞</a:t>
            </a:r>
            <a:endParaRPr lang="en-US" sz="1200" b="0" u="none" strike="noStrike">
              <a:solidFill>
                <a:srgbClr val="000000"/>
              </a:solidFill>
              <a:effectLst/>
              <a:uFillTx/>
              <a:latin typeface="Arial"/>
            </a:endParaRPr>
          </a:p>
          <a:p>
            <a:pPr defTabSz="914400">
              <a:lnSpc>
                <a:spcPct val="100000"/>
              </a:lnSpc>
              <a:spcAft>
                <a:spcPts val="300"/>
              </a:spcAft>
            </a:pPr>
            <a:r>
              <a:rPr lang="ja-JP" sz="1100" b="0" u="none" strike="noStrike">
                <a:solidFill>
                  <a:srgbClr val="333333"/>
                </a:solidFill>
                <a:effectLst/>
                <a:uFillTx/>
                <a:latin typeface="メイリオ"/>
                <a:ea typeface="メイリオ"/>
              </a:rPr>
              <a:t>プラン①の基本施策での想定値です。</a:t>
            </a:r>
            <a:endParaRPr lang="en-US" sz="1100" b="0" u="none" strike="noStrike">
              <a:solidFill>
                <a:srgbClr val="000000"/>
              </a:solidFill>
              <a:effectLst/>
              <a:uFillTx/>
              <a:latin typeface="Arial"/>
            </a:endParaRPr>
          </a:p>
          <a:p>
            <a:pPr defTabSz="914400">
              <a:lnSpc>
                <a:spcPct val="100000"/>
              </a:lnSpc>
              <a:spcAft>
                <a:spcPts val="300"/>
              </a:spcAft>
            </a:pPr>
            <a:r>
              <a:rPr lang="en-US" sz="1100" b="0" u="none" strike="noStrike">
                <a:solidFill>
                  <a:srgbClr val="333333"/>
                </a:solidFill>
                <a:effectLst/>
                <a:uFillTx/>
                <a:latin typeface="メイリオ"/>
                <a:ea typeface="メイリオ"/>
              </a:rPr>
              <a:t>成果を保証するものではありません。</a:t>
            </a:r>
            <a:endParaRPr lang="en-US" sz="1100" b="0" u="none" strike="noStrike">
              <a:solidFill>
                <a:srgbClr val="000000"/>
              </a:solidFill>
              <a:effectLst/>
              <a:uFillTx/>
              <a:latin typeface="Arial"/>
            </a:endParaRPr>
          </a:p>
        </p:txBody>
      </p:sp>
      <p:sp>
        <p:nvSpPr>
          <p:cNvPr id="383" name="月ごとの問い合わせ 見出し"/>
          <p:cNvSpPr/>
          <p:nvPr/>
        </p:nvSpPr>
        <p:spPr>
          <a:xfrm>
            <a:off x="6812280" y="3419856"/>
            <a:ext cx="2834640" cy="274320"/>
          </a:xfrm>
          <a:prstGeom prst="rect">
            <a:avLst/>
          </a:prstGeom>
          <a:noFill/>
          <a:ln>
            <a:noFill/>
          </a:ln>
        </p:spPr>
        <p:txBody>
          <a:bodyPr wrap="square" lIns="18288" tIns="0" rIns="0" bIns="0"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月ごとの問い合わせ（試算）</a:t>
            </a:r>
            <a:endParaRPr lang="ja-JP" altLang="en-US" sz="1200" dirty="0"/>
          </a:p>
        </p:txBody>
      </p:sp>
      <p:sp>
        <p:nvSpPr>
          <p:cNvPr id="384" name="1か月目"/>
          <p:cNvSpPr/>
          <p:nvPr/>
        </p:nvSpPr>
        <p:spPr>
          <a:xfrm>
            <a:off x="6812280"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1か月目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13件</a:t>
            </a:r>
            <a:endParaRPr lang="ja-JP" altLang="en-US" sz="1200" dirty="0"/>
          </a:p>
        </p:txBody>
      </p:sp>
      <p:sp>
        <p:nvSpPr>
          <p:cNvPr id="385" name="2か月目"/>
          <p:cNvSpPr/>
          <p:nvPr/>
        </p:nvSpPr>
        <p:spPr>
          <a:xfrm>
            <a:off x="7775448"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2か月目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14件</a:t>
            </a:r>
            <a:endParaRPr lang="ja-JP" altLang="en-US" sz="1200" dirty="0"/>
          </a:p>
        </p:txBody>
      </p:sp>
      <p:sp>
        <p:nvSpPr>
          <p:cNvPr id="386" name="3か月目"/>
          <p:cNvSpPr/>
          <p:nvPr/>
        </p:nvSpPr>
        <p:spPr>
          <a:xfrm>
            <a:off x="8738616"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3か月目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14件</a:t>
            </a:r>
            <a:endParaRPr lang="ja-JP" altLang="en-US" sz="1200" dirty="0"/>
          </a:p>
        </p:txBody>
      </p:sp>
      <p:sp>
        <p:nvSpPr>
          <p:cNvPr id="387" name="4か月目"/>
          <p:cNvSpPr/>
          <p:nvPr/>
        </p:nvSpPr>
        <p:spPr>
          <a:xfrm>
            <a:off x="6812280"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4か月目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15件</a:t>
            </a:r>
            <a:endParaRPr lang="ja-JP" altLang="en-US" sz="1200" dirty="0"/>
          </a:p>
        </p:txBody>
      </p:sp>
      <p:sp>
        <p:nvSpPr>
          <p:cNvPr id="388" name="5か月目"/>
          <p:cNvSpPr/>
          <p:nvPr/>
        </p:nvSpPr>
        <p:spPr>
          <a:xfrm>
            <a:off x="7775448"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5か月目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16件</a:t>
            </a:r>
            <a:endParaRPr lang="ja-JP" altLang="en-US" sz="1200" dirty="0"/>
          </a:p>
        </p:txBody>
      </p:sp>
      <p:sp>
        <p:nvSpPr>
          <p:cNvPr id="389" name="6か月目"/>
          <p:cNvSpPr/>
          <p:nvPr/>
        </p:nvSpPr>
        <p:spPr>
          <a:xfrm>
            <a:off x="8738616"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6か月目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17件</a:t>
            </a:r>
            <a:endParaRPr lang="ja-JP" alt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サマリー</a:t>
            </a:r>
            <a:endParaRPr lang="en-US" sz="1600" b="0" u="none" strike="noStrike">
              <a:solidFill>
                <a:srgbClr val="000000"/>
              </a:solidFill>
              <a:effectLst/>
              <a:uFillTx/>
              <a:latin typeface="メイリオ"/>
            </a:endParaRPr>
          </a:p>
        </p:txBody>
      </p:sp>
      <p:sp>
        <p:nvSpPr>
          <p:cNvPr id="634"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635"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636"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37"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標準機能のまま、LINEからの物件問い合わせを、フォームで計測しながら増やす</a:t>
            </a:r>
            <a:endParaRPr lang="en-US" sz="1400" b="0" u="none" strike="noStrike">
              <a:solidFill>
                <a:srgbClr val="000000"/>
              </a:solidFill>
              <a:effectLst/>
              <a:uFillTx/>
              <a:latin typeface="Arial"/>
            </a:endParaRPr>
          </a:p>
        </p:txBody>
      </p:sp>
      <p:sp>
        <p:nvSpPr>
          <p:cNvPr id="638" name="KEY TAKEAWAY 見出し"/>
          <p:cNvSpPr/>
          <p:nvPr/>
        </p:nvSpPr>
        <p:spPr>
          <a:xfrm>
            <a:off x="502920" y="1691640"/>
            <a:ext cx="210312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KEY TAKEAWAY</a:t>
            </a:r>
            <a:endParaRPr lang="ja-JP" altLang="en-US" sz="1200" dirty="0"/>
          </a:p>
        </p:txBody>
      </p:sp>
      <p:sp>
        <p:nvSpPr>
          <p:cNvPr id="639" name="KEY TAKEAWAY"/>
          <p:cNvSpPr/>
          <p:nvPr/>
        </p:nvSpPr>
        <p:spPr>
          <a:xfrm>
            <a:off x="502920" y="2020824"/>
            <a:ext cx="8897112" cy="1325880"/>
          </a:xfrm>
          <a:prstGeom prst="rect">
            <a:avLst/>
          </a:prstGeom>
          <a:solidFill>
            <a:srgbClr val="EEF1F8"/>
          </a:solidFill>
          <a:ln w="9525">
            <a:solidFill>
              <a:srgbClr val="1F285A"/>
            </a:solidFill>
          </a:ln>
        </p:spPr>
        <p:txBody>
          <a:bodyPr wrap="square" lIns="182880" tIns="73152" rIns="182880" bIns="73152" rtlCol="0" anchor="ctr">
            <a:noAutofit/>
          </a:bodyPr>
          <a:lstStyle/>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「LINEで受けるだけ」から</a:t>
            </a:r>
            <a:endParaRPr lang="ja-JP" altLang="en-US" sz="1200" dirty="0"/>
          </a:p>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「フォーム送信まで案内する」LINEへ</a:t>
            </a:r>
            <a:endParaRPr lang="ja-JP" altLang="en-US" sz="1200" dirty="0"/>
          </a:p>
        </p:txBody>
      </p:sp>
      <p:sp>
        <p:nvSpPr>
          <p:cNvPr id="640" name="補足ポイント"/>
          <p:cNvSpPr/>
          <p:nvPr/>
        </p:nvSpPr>
        <p:spPr>
          <a:xfrm>
            <a:off x="502920" y="3703320"/>
            <a:ext cx="3657600" cy="292608"/>
          </a:xfrm>
          <a:prstGeom prst="rect">
            <a:avLst/>
          </a:prstGeom>
          <a:noFill/>
          <a:ln>
            <a:noFill/>
          </a:ln>
        </p:spPr>
        <p:txBody>
          <a:bodyPr wrap="square" lIns="0" tIns="0" rIns="0" bIns="0" rtlCol="0" anchor="ctr">
            <a:noAutofit/>
          </a:bodyPr>
          <a:lstStyle/>
          <a:p>
            <a:pPr algn="l">
              <a:buNone/>
            </a:pPr>
            <a:r>
              <a:rPr lang="ja-JP" altLang="en-US" sz="1300" b="1" dirty="0">
                <a:solidFill>
                  <a:srgbClr val="333333"/>
                </a:solidFill>
                <a:latin typeface="メイリオ" panose="020B0604030504040204" pitchFamily="50" charset="-128"/>
                <a:ea typeface="メイリオ" panose="020B0604030504040204" pitchFamily="50" charset="-128"/>
              </a:rPr>
              <a:t>補足ポイント</a:t>
            </a:r>
            <a:endParaRPr lang="ja-JP" altLang="en-US" sz="1200" dirty="0"/>
          </a:p>
        </p:txBody>
      </p:sp>
      <p:sp>
        <p:nvSpPr>
          <p:cNvPr id="641" name="線1"/>
          <p:cNvSpPr/>
          <p:nvPr/>
        </p:nvSpPr>
        <p:spPr>
          <a:xfrm>
            <a:off x="502920" y="4105656"/>
            <a:ext cx="777240" cy="50292"/>
          </a:xfrm>
          <a:prstGeom prst="rect">
            <a:avLst/>
          </a:prstGeom>
          <a:solidFill>
            <a:srgbClr val="1F285A"/>
          </a:solidFill>
          <a:ln>
            <a:noFill/>
          </a:ln>
        </p:spPr>
        <p:txBody>
          <a:bodyPr wrap="square" lIns="73152" tIns="36576" rIns="73152" bIns="36576" rtlCol="0" anchor="ctr">
            <a:noAutofit/>
          </a:bodyPr>
          <a:lstStyle/>
          <a:p>
            <a:pPr algn="l">
              <a:buNone/>
            </a:pPr>
            <a:endParaRPr lang="ja-JP" altLang="en-US" sz="1200" dirty="0"/>
          </a:p>
        </p:txBody>
      </p:sp>
      <p:sp>
        <p:nvSpPr>
          <p:cNvPr id="642" name="見出し1"/>
          <p:cNvSpPr/>
          <p:nvPr/>
        </p:nvSpPr>
        <p:spPr>
          <a:xfrm>
            <a:off x="502920"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01 現状・課題</a:t>
            </a:r>
            <a:endParaRPr lang="ja-JP" altLang="en-US" sz="1200" dirty="0"/>
          </a:p>
        </p:txBody>
      </p:sp>
      <p:sp>
        <p:nvSpPr>
          <p:cNvPr id="643" name="本文1"/>
          <p:cNvSpPr/>
          <p:nvPr/>
        </p:nvSpPr>
        <p:spPr>
          <a:xfrm>
            <a:off x="502920"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全ページにLINEのボタンがあり、問い合わせの入口は整っている。追加後に物件の送信へ進む案内（リッチメニュー・ボタン）を厚くできる。</a:t>
            </a:r>
            <a:endParaRPr lang="ja-JP" altLang="en-US" sz="1200" dirty="0"/>
          </a:p>
        </p:txBody>
      </p:sp>
      <p:sp>
        <p:nvSpPr>
          <p:cNvPr id="644" name="線2"/>
          <p:cNvSpPr/>
          <p:nvPr/>
        </p:nvSpPr>
        <p:spPr>
          <a:xfrm>
            <a:off x="3549396" y="4105656"/>
            <a:ext cx="777240" cy="50292"/>
          </a:xfrm>
          <a:prstGeom prst="rect">
            <a:avLst/>
          </a:prstGeom>
          <a:solidFill>
            <a:srgbClr val="3E5C99"/>
          </a:solidFill>
          <a:ln>
            <a:noFill/>
          </a:ln>
        </p:spPr>
        <p:txBody>
          <a:bodyPr wrap="square" lIns="73152" tIns="36576" rIns="73152" bIns="36576" rtlCol="0" anchor="ctr">
            <a:noAutofit/>
          </a:bodyPr>
          <a:lstStyle/>
          <a:p>
            <a:pPr algn="l">
              <a:buNone/>
            </a:pPr>
            <a:endParaRPr lang="ja-JP" altLang="en-US" sz="1200" dirty="0"/>
          </a:p>
        </p:txBody>
      </p:sp>
      <p:sp>
        <p:nvSpPr>
          <p:cNvPr id="645" name="見出し2"/>
          <p:cNvSpPr/>
          <p:nvPr/>
        </p:nvSpPr>
        <p:spPr>
          <a:xfrm>
            <a:off x="3549396"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3E5C99"/>
                </a:solidFill>
                <a:latin typeface="メイリオ" panose="020B0604030504040204" pitchFamily="50" charset="-128"/>
                <a:ea typeface="メイリオ" panose="020B0604030504040204" pitchFamily="50" charset="-128"/>
              </a:rPr>
              <a:t>02 提案</a:t>
            </a:r>
            <a:endParaRPr lang="ja-JP" altLang="en-US" sz="1200" dirty="0"/>
          </a:p>
        </p:txBody>
      </p:sp>
      <p:sp>
        <p:nvSpPr>
          <p:cNvPr id="646" name="本文2"/>
          <p:cNvSpPr/>
          <p:nvPr/>
        </p:nvSpPr>
        <p:spPr>
          <a:xfrm>
            <a:off x="3549396"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離脱防止ポップアップで入口を増やし、あいさつ・リッチメニュー・ステップ配信で、フォームでの物件送信まで案内する。</a:t>
            </a:r>
            <a:endParaRPr lang="ja-JP" altLang="en-US" sz="1200" dirty="0"/>
          </a:p>
        </p:txBody>
      </p:sp>
      <p:sp>
        <p:nvSpPr>
          <p:cNvPr id="647" name="線3"/>
          <p:cNvSpPr/>
          <p:nvPr/>
        </p:nvSpPr>
        <p:spPr>
          <a:xfrm>
            <a:off x="6595872" y="4105656"/>
            <a:ext cx="777240" cy="50292"/>
          </a:xfrm>
          <a:prstGeom prst="rect">
            <a:avLst/>
          </a:prstGeom>
          <a:solidFill>
            <a:srgbClr val="C00000"/>
          </a:solidFill>
          <a:ln>
            <a:noFill/>
          </a:ln>
        </p:spPr>
        <p:txBody>
          <a:bodyPr wrap="square" lIns="73152" tIns="36576" rIns="73152" bIns="36576" rtlCol="0" anchor="ctr">
            <a:noAutofit/>
          </a:bodyPr>
          <a:lstStyle/>
          <a:p>
            <a:pPr algn="l">
              <a:buNone/>
            </a:pPr>
            <a:endParaRPr lang="ja-JP" altLang="en-US" sz="1200" dirty="0"/>
          </a:p>
        </p:txBody>
      </p:sp>
      <p:sp>
        <p:nvSpPr>
          <p:cNvPr id="648" name="見出し3"/>
          <p:cNvSpPr/>
          <p:nvPr/>
        </p:nvSpPr>
        <p:spPr>
          <a:xfrm>
            <a:off x="6595872"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C00000"/>
                </a:solidFill>
                <a:latin typeface="メイリオ" panose="020B0604030504040204" pitchFamily="50" charset="-128"/>
                <a:ea typeface="メイリオ" panose="020B0604030504040204" pitchFamily="50" charset="-128"/>
              </a:rPr>
              <a:t>03 進め方</a:t>
            </a:r>
            <a:endParaRPr lang="ja-JP" altLang="en-US" sz="1200" dirty="0"/>
          </a:p>
        </p:txBody>
      </p:sp>
      <p:sp>
        <p:nvSpPr>
          <p:cNvPr id="649" name="本文3"/>
          <p:cNvSpPr/>
          <p:nvPr/>
        </p:nvSpPr>
        <p:spPr>
          <a:xfrm>
            <a:off x="6595872"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約1か月で初期設計を構築し、運用を開始する。月次レポートと定例会で数字を確認し、配信を見直す。</a:t>
            </a:r>
            <a:endParaRPr lang="ja-JP" alt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ご希望の運用範囲に合わせて、3つのプランをご用意しました。</a:t>
            </a:r>
            <a:endParaRPr lang="en-US" sz="1600" b="0" u="none" strike="noStrike">
              <a:solidFill>
                <a:srgbClr val="000000"/>
              </a:solidFill>
              <a:effectLst/>
              <a:uFillTx/>
              <a:latin typeface="Arial"/>
            </a:endParaRPr>
          </a:p>
        </p:txBody>
      </p:sp>
      <p:sp>
        <p:nvSpPr>
          <p:cNvPr id="638"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利用ツールにより変動</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月額費用が発生</a:t>
                      </a:r>
                      <a:endParaRPr lang="ja-JP" altLang="en-US" sz="1500" dirty="0"/>
                    </a:p>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（別途お見積り）</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endParaRPr lang="ja-JP" alt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3" name="正方形/長方形 16"/>
          <p:cNvSpPr/>
          <p:nvPr/>
        </p:nvSpPr>
        <p:spPr>
          <a:xfrm>
            <a:off x="3997080" y="122040"/>
            <a:ext cx="2083320" cy="3204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400" b="0" u="none" strike="noStrike">
                <a:solidFill>
                  <a:schemeClr val="lt1"/>
                </a:solidFill>
                <a:effectLst/>
                <a:uFillTx/>
                <a:latin typeface="メイリオ"/>
                <a:ea typeface="メイリオ"/>
              </a:rPr>
              <a:t>あらうち様向けプラン</a:t>
            </a:r>
            <a:endParaRPr lang="en-US" sz="1400" b="0" u="none" strike="noStrike">
              <a:solidFill>
                <a:srgbClr val="FFFFFF"/>
              </a:solidFill>
              <a:effectLst/>
              <a:uFillTx/>
              <a:latin typeface="Arial"/>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chemeClr val="dk1"/>
                </a:solidFill>
                <a:effectLst/>
                <a:uFillTx/>
                <a:latin typeface="メイリオ"/>
                <a:ea typeface="メイリオ"/>
              </a:rPr>
              <a:t>3つのプランの運用内容を比較します。</a:t>
            </a:r>
            <a:endParaRPr lang="en-US" sz="1600" b="0" u="none" strike="noStrike">
              <a:solidFill>
                <a:srgbClr val="000000"/>
              </a:solidFill>
              <a:effectLst/>
              <a:uFillTx/>
              <a:latin typeface="Arial"/>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323282"/>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注記"/>
          <p:cNvSpPr/>
          <p:nvPr/>
        </p:nvSpPr>
        <p:spPr>
          <a:xfrm>
            <a:off x="384048" y="5804610"/>
            <a:ext cx="9144000" cy="365760"/>
          </a:xfrm>
          <a:prstGeom prst="rect">
            <a:avLst/>
          </a:prstGeom>
          <a:noFill/>
          <a:ln>
            <a:noFill/>
          </a:ln>
        </p:spPr>
        <p:txBody>
          <a:bodyPr wrap="square" lIns="18288" tIns="18288" rIns="18288" bIns="18288" rtlCol="0" anchor="t">
            <a:noAutofit/>
          </a:bodyPr>
          <a:lstStyle/>
          <a:p>
            <a:pPr algn="l">
              <a:spcAft>
                <a:spcPts val="200"/>
              </a:spcAft>
              <a:buNone/>
            </a:pPr>
            <a:r>
              <a:rPr lang="ja-JP" altLang="en-US" sz="1100" b="0" dirty="0">
                <a:solidFill>
                  <a:srgbClr val="444444"/>
                </a:solidFill>
                <a:latin typeface="メイリオ" panose="020B0604030504040204" pitchFamily="50" charset="-128"/>
                <a:ea typeface="メイリオ" panose="020B0604030504040204" pitchFamily="50" charset="-128"/>
              </a:rPr>
              <a:t>※15ページの試算（6か月目に月17件）は、プラン①｜総合運用の基本施策を対象としたものです。プラン②・③の成果は含みません。</a:t>
            </a:r>
            <a:endParaRPr lang="ja-JP" alt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配信：送らなかった方を、ステップ配信と企画配信で追い続ける</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a:solidFill>
                  <a:srgbClr val="5A6378"/>
                </a:solidFill>
                <a:effectLst/>
                <a:uFillTx/>
                <a:latin typeface="メイリオ"/>
                <a:ea typeface="メイリオ"/>
              </a:rPr>
              <a:t>友だち追加から14日間のステップ配信（全10通）と月4回程度の企画配信で、</a:t>
            </a:r>
            <a:br>
              <a:rPr lang="zh-CN" sz="1400" b="0" u="none" strike="noStrike">
                <a:solidFill>
                  <a:srgbClr val="5A6378"/>
                </a:solidFill>
                <a:effectLst/>
                <a:uFillTx/>
                <a:latin typeface="メイリオ"/>
                <a:ea typeface="メイリオ"/>
              </a:rPr>
            </a:br>
            <a:r>
              <a:rPr lang="zh-CN" sz="1400" b="0" u="none" strike="noStrike">
                <a:solidFill>
                  <a:srgbClr val="5A6378"/>
                </a:solidFill>
                <a:effectLst/>
                <a:uFillTx/>
                <a:latin typeface="メイリオ"/>
                <a:ea typeface="メイリオ"/>
              </a:rPr>
              <a:t>フォームでの物件URLの送信を後押しします</a:t>
            </a:r>
            <a:endParaRPr lang="en-US" sz="1400" b="0" u="none" strike="noStrike">
              <a:solidFill>
                <a:srgbClr val="000000"/>
              </a:solidFill>
              <a:effectLst/>
              <a:uFillTx/>
              <a:latin typeface="Arial"/>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ステップ配信・全10通｜新しい友だちへ追加後に自動配信</a:t>
            </a:r>
            <a:r>
              <a:rPr lang="en-US" sz="1400" b="1" u="none" strike="noStrike">
                <a:solidFill>
                  <a:srgbClr val="1F2A5C"/>
                </a:solidFill>
                <a:effectLst/>
                <a:uFillTx/>
                <a:latin typeface="メイリオ"/>
                <a:ea typeface="メイリオ"/>
              </a:rPr>
              <a:t/>
            </a:r>
            <a:r>
              <a:rPr lang="zh-CN" sz="1400" b="1" u="none" strike="noStrike">
                <a:solidFill>
                  <a:srgbClr val="1F2A5C"/>
                </a:solidFill>
                <a:effectLst/>
                <a:uFillTx/>
                <a:latin typeface="メイリオ"/>
                <a:ea typeface="メイリオ"/>
              </a:rPr>
              <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物件URLの送信</a:t>
            </a:r>
            <a:endParaRPr lang="en-US" sz="1200" b="0" u="none" strike="noStrike">
              <a:solidFill>
                <a:srgbClr val="000000"/>
              </a:solidFill>
              <a:effectLst/>
              <a:uFillTx/>
              <a:latin typeface="Arial"/>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初期費用の交渉</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rPr>
              <a:t>問い合わせ対応：一次対応は自動、物件の確認に集中</a:t>
            </a:r>
            <a:endParaRPr lang="en-US" sz="1600" b="0" u="none" strike="noStrike">
              <a:solidFill>
                <a:srgbClr val="000000"/>
              </a:solidFill>
              <a:effectLst/>
              <a:uFillTx/>
              <a:latin typeface="メイリオ"/>
            </a:endParaRPr>
          </a:p>
        </p:txBody>
      </p:sp>
      <p:sp>
        <p:nvSpPr>
          <p:cNvPr id="464" name="TextBox 2"/>
          <p:cNvSpPr/>
          <p:nvPr/>
        </p:nvSpPr>
        <p:spPr>
          <a:xfrm>
            <a:off x="429840" y="896040"/>
            <a:ext cx="9052200" cy="566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の機能で、問い合わせへの一次対応と対応状況の管理を効率化します。</a:t>
            </a:r>
            <a:endParaRPr lang="en-US" sz="1400" b="0" u="none" strike="noStrike">
              <a:solidFill>
                <a:srgbClr val="000000"/>
              </a:solidFill>
              <a:effectLst/>
              <a:uFillTx/>
              <a:latin typeface="Arial"/>
            </a:endParaRPr>
          </a:p>
          <a:p>
            <a:pPr defTabSz="914400">
              <a:lnSpc>
                <a:spcPct val="100000"/>
              </a:lnSpc>
              <a:tabLst>
                <a:tab pos="0" algn="l"/>
              </a:tabLst>
            </a:pPr>
            <a:r>
              <a:rPr lang="zh-CN" sz="1400" b="1" u="none" strike="noStrike">
                <a:solidFill>
                  <a:srgbClr val="5A6378"/>
                </a:solidFill>
                <a:effectLst/>
                <a:uFillTx/>
                <a:latin typeface="メイリオ"/>
                <a:ea typeface="メイリオ"/>
              </a:rPr>
              <a:t>お客様への個別対応はあらうち様、仕組みづくりと改善支援は当社が担当します。</a:t>
            </a:r>
            <a:endParaRPr lang="en-US" sz="1400" b="0" u="none" strike="noStrike">
              <a:solidFill>
                <a:srgbClr val="000000"/>
              </a:solidFill>
              <a:effectLst/>
              <a:uFillTx/>
              <a:latin typeface="Arial"/>
            </a:endParaRPr>
          </a:p>
        </p:txBody>
      </p:sp>
      <p:sp>
        <p:nvSpPr>
          <p:cNvPr id="465" name="Rounded Rectangle 3"/>
          <p:cNvSpPr/>
          <p:nvPr/>
        </p:nvSpPr>
        <p:spPr>
          <a:xfrm>
            <a:off x="429840" y="1481400"/>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1F2A5C"/>
                </a:solidFill>
                <a:effectLst/>
                <a:uFillTx/>
                <a:latin typeface="メイリオ"/>
                <a:ea typeface="メイリオ"/>
              </a:rPr>
              <a:t>設定：当社　対応：自動</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・よくある質問（初期費用・お申込みの流れなど）にキーワード応答で自動回答</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・リッチメニューのボタンと同じ言葉で応答を用意</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・受付時間外は、時間を指定して受付の旨を自動で返信</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・リッチメニューから</a:t>
            </a:r>
            <a:r>
              <a:rPr lang="en-US" sz="1500" b="0" u="none" strike="noStrike">
                <a:solidFill>
                  <a:srgbClr val="333333"/>
                </a:solidFill>
                <a:effectLst/>
                <a:uFillTx/>
                <a:latin typeface="メイリオ"/>
                <a:ea typeface="メイリオ"/>
              </a:rPr>
              <a:t>100</a:t>
            </a:r>
            <a:r>
              <a:rPr lang="ja-JP" sz="1500" b="0" u="none" strike="noStrike">
                <a:solidFill>
                  <a:srgbClr val="333333"/>
                </a:solidFill>
                <a:effectLst/>
                <a:uFillTx/>
                <a:latin typeface="メイリオ"/>
                <a:ea typeface="メイリオ"/>
              </a:rPr>
              <a:t>円チェッカーへ案内</a:t>
            </a:r>
            <a:endParaRPr lang="en-US" sz="1500" b="0" u="none" strike="noStrike">
              <a:solidFill>
                <a:srgbClr val="000000"/>
              </a:solidFill>
              <a:effectLst/>
              <a:uFillTx/>
              <a:latin typeface="Arial"/>
            </a:endParaRPr>
          </a:p>
        </p:txBody>
      </p:sp>
      <p:sp>
        <p:nvSpPr>
          <p:cNvPr id="467" name="Rounded Rectangle 5"/>
          <p:cNvSpPr/>
          <p:nvPr/>
        </p:nvSpPr>
        <p:spPr>
          <a:xfrm>
            <a:off x="3493080" y="1481400"/>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4A6FA5"/>
                </a:solidFill>
                <a:effectLst/>
                <a:uFillTx/>
                <a:latin typeface="メイリオ"/>
                <a:ea typeface="メイリオ"/>
              </a:rPr>
              <a:t>対応：あらうち様</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・ご担当者様が、物件に関する相談・問い合わせに対応</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・送られた物件（</a:t>
            </a:r>
            <a:r>
              <a:rPr lang="en-US" sz="1500" b="0" u="none" strike="noStrike">
                <a:solidFill>
                  <a:srgbClr val="333333"/>
                </a:solidFill>
                <a:effectLst/>
                <a:uFillTx/>
                <a:latin typeface="メイリオ"/>
                <a:ea typeface="メイリオ"/>
              </a:rPr>
              <a:t>URL</a:t>
            </a:r>
            <a:r>
              <a:rPr lang="ja-JP" sz="1500" b="0" u="none" strike="noStrike">
                <a:solidFill>
                  <a:srgbClr val="333333"/>
                </a:solidFill>
                <a:effectLst/>
                <a:uFillTx/>
                <a:latin typeface="メイリオ"/>
                <a:ea typeface="メイリオ"/>
              </a:rPr>
              <a:t>・物件名・画像）の空室確認・内見の手配</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・一次対応は自動応答に任せ、物件の確認に集中</a:t>
            </a:r>
            <a:endParaRPr lang="en-US" sz="1500" b="0" u="none" strike="noStrike">
              <a:solidFill>
                <a:srgbClr val="000000"/>
              </a:solidFill>
              <a:effectLst/>
              <a:uFillTx/>
              <a:latin typeface="Arial"/>
            </a:endParaRPr>
          </a:p>
        </p:txBody>
      </p:sp>
      <p:sp>
        <p:nvSpPr>
          <p:cNvPr id="469" name="Rounded Rectangle 7"/>
          <p:cNvSpPr/>
          <p:nvPr/>
        </p:nvSpPr>
        <p:spPr>
          <a:xfrm>
            <a:off x="6556320" y="1481400"/>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5B6478"/>
                </a:solidFill>
                <a:effectLst/>
                <a:uFillTx/>
                <a:latin typeface="メイリオ"/>
                <a:ea typeface="メイリオ"/>
              </a:rPr>
              <a:t>設計・設定：当社</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・問い合わせ状況・対応ステータス（受付・確認中・返信済）を管理</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・タグの付け替えで、確認漏れ・返信漏れを防止</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・問い合わせ済みの方を除いた再案内で、重複配信を防止</a:t>
            </a:r>
            <a:endParaRPr lang="en-US" sz="1500" b="0" u="none" strike="noStrike">
              <a:solidFill>
                <a:srgbClr val="000000"/>
              </a:solidFill>
              <a:effectLst/>
              <a:uFillTx/>
              <a:latin typeface="Arial"/>
            </a:endParaRPr>
          </a:p>
        </p:txBody>
      </p:sp>
      <p:sp>
        <p:nvSpPr>
          <p:cNvPr id="476" name="Right Arrow 4"/>
          <p:cNvSpPr/>
          <p:nvPr/>
        </p:nvSpPr>
        <p:spPr>
          <a:xfrm>
            <a:off x="325080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新規友だち：離脱防止ポップアップとサイトのボタンで増やす</a:t>
            </a:r>
            <a:endParaRPr lang="en-US" sz="1600" b="0" u="none" strike="noStrike">
              <a:solidFill>
                <a:srgbClr val="000000"/>
              </a:solidFill>
              <a:effectLst/>
              <a:uFillTx/>
              <a:latin typeface="メイリオ"/>
            </a:endParaRPr>
          </a:p>
        </p:txBody>
      </p:sp>
      <p:sp>
        <p:nvSpPr>
          <p:cNvPr id="479" name="TextBox 2"/>
          <p:cNvSpPr/>
          <p:nvPr/>
        </p:nvSpPr>
        <p:spPr>
          <a:xfrm>
            <a:off x="429840" y="914400"/>
            <a:ext cx="9052200" cy="41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a:solidFill>
                  <a:srgbClr val="5A6378"/>
                </a:solidFill>
                <a:effectLst/>
                <a:uFillTx/>
                <a:latin typeface="メイリオ"/>
                <a:ea typeface="メイリオ"/>
              </a:rPr>
              <a:t>サイトの</a:t>
            </a:r>
            <a:r>
              <a:rPr lang="en-US" sz="1600" b="0" u="none" strike="noStrike">
                <a:solidFill>
                  <a:srgbClr val="5A6378"/>
                </a:solidFill>
                <a:effectLst/>
                <a:uFillTx/>
                <a:latin typeface="メイリオ"/>
                <a:ea typeface="メイリオ"/>
              </a:rPr>
              <a:t>2</a:t>
            </a:r>
            <a:r>
              <a:rPr lang="zh-CN" sz="1600" b="0" u="none" strike="noStrike">
                <a:solidFill>
                  <a:srgbClr val="5A6378"/>
                </a:solidFill>
                <a:effectLst/>
                <a:uFillTx/>
                <a:latin typeface="メイリオ"/>
                <a:ea typeface="メイリオ"/>
              </a:rPr>
              <a:t>つの接点から、</a:t>
            </a:r>
            <a:r>
              <a:rPr lang="en-US" sz="1600" b="0" u="none" strike="noStrike">
                <a:solidFill>
                  <a:srgbClr val="5A6378"/>
                </a:solidFill>
                <a:effectLst/>
                <a:uFillTx/>
                <a:latin typeface="メイリオ"/>
                <a:ea typeface="メイリオ"/>
              </a:rPr>
              <a:t>LINE</a:t>
            </a:r>
            <a:r>
              <a:rPr lang="zh-CN" sz="1600" b="0" u="none" strike="noStrike">
                <a:solidFill>
                  <a:srgbClr val="5A6378"/>
                </a:solidFill>
                <a:effectLst/>
                <a:uFillTx/>
                <a:latin typeface="メイリオ"/>
                <a:ea typeface="メイリオ"/>
              </a:rPr>
              <a:t>の友だち追加へつなげます</a:t>
            </a:r>
            <a:endParaRPr lang="en-US" sz="1600" b="0" u="none" strike="noStrike">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サイト内の「</a:t>
            </a:r>
            <a:r>
              <a:rPr lang="en-US" sz="1500" b="0" u="none" strike="noStrike">
                <a:solidFill>
                  <a:srgbClr val="333333"/>
                </a:solidFill>
                <a:effectLst/>
                <a:uFillTx/>
                <a:latin typeface="メイリオ"/>
                <a:ea typeface="メイリオ"/>
              </a:rPr>
              <a:t>LINE</a:t>
            </a:r>
            <a:r>
              <a:rPr lang="zh-CN" sz="1500" b="0" u="none" strike="noStrike">
                <a:solidFill>
                  <a:srgbClr val="333333"/>
                </a:solidFill>
                <a:effectLst/>
                <a:uFillTx/>
                <a:latin typeface="メイリオ"/>
                <a:ea typeface="メイリオ"/>
              </a:rPr>
              <a:t>でお問い合わせ」</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ボタン（全ページ）</a:t>
            </a:r>
            <a:endParaRPr lang="en-US" sz="1500" b="0" u="none" strike="noStrike">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0" name="TextBox 18"/>
          <p:cNvSpPr/>
          <p:nvPr/>
        </p:nvSpPr>
        <p:spPr>
          <a:xfrm>
            <a:off x="42984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※離脱防止ポップアップは、LINE</a:t>
            </a:r>
            <a:r>
              <a:rPr lang="zh-CN" sz="1300" b="0" u="none" strike="noStrike">
                <a:solidFill>
                  <a:srgbClr val="7F7F7F"/>
                </a:solidFill>
                <a:effectLst/>
                <a:uFillTx/>
                <a:latin typeface="メイリオ"/>
                <a:ea typeface="メイリオ"/>
              </a:rPr>
              <a:t>公式アカウントとは別に導入する施策です（初期</a:t>
            </a:r>
            <a:r>
              <a:rPr lang="en-US" sz="1300" b="0" u="none" strike="noStrike">
                <a:solidFill>
                  <a:srgbClr val="7F7F7F"/>
                </a:solidFill>
                <a:effectLst/>
                <a:uFillTx/>
                <a:latin typeface="メイリオ"/>
                <a:ea typeface="メイリオ"/>
              </a:rPr>
              <a:t>1.5</a:t>
            </a:r>
            <a:r>
              <a:rPr lang="zh-CN" sz="1300" b="0" u="none" strike="noStrike">
                <a:solidFill>
                  <a:srgbClr val="7F7F7F"/>
                </a:solidFill>
                <a:effectLst/>
                <a:uFillTx/>
                <a:latin typeface="メイリオ"/>
                <a:ea typeface="メイリオ"/>
              </a:rPr>
              <a:t>万円・月</a:t>
            </a:r>
            <a:r>
              <a:rPr lang="en-US" sz="1300" b="0" u="none" strike="noStrike">
                <a:solidFill>
                  <a:srgbClr val="7F7F7F"/>
                </a:solidFill>
                <a:effectLst/>
                <a:uFillTx/>
                <a:latin typeface="メイリオ"/>
                <a:ea typeface="メイリオ"/>
              </a:rPr>
              <a:t>3</a:t>
            </a:r>
            <a:r>
              <a:rPr lang="zh-CN" sz="1300" b="0" u="none" strike="noStrike">
                <a:solidFill>
                  <a:srgbClr val="7F7F7F"/>
                </a:solidFill>
                <a:effectLst/>
                <a:uFillTx/>
                <a:latin typeface="メイリオ"/>
                <a:ea typeface="メイリオ"/>
              </a:rPr>
              <a:t>万円）。</a:t>
            </a:r>
            <a:endParaRPr lang="en-US" sz="1300" b="0" u="none" strike="noStrike">
              <a:solidFill>
                <a:srgbClr val="000000"/>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5" name="TextBox 18"/>
          <p:cNvSpPr/>
          <p:nvPr/>
        </p:nvSpPr>
        <p:spPr>
          <a:xfrm>
            <a:off x="5093280" y="5687640"/>
            <a:ext cx="4388760" cy="6030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t">
            <a:spAutoFit/>
          </a:bodyPr>
          <a:lstStyle/>
          <a:p>
            <a:pPr defTabSz="914400">
              <a:lnSpc>
                <a:spcPct val="100000"/>
              </a:lnSpc>
            </a:pPr>
            <a:r>
              <a:rPr lang="en-US" sz="1300" b="0" u="none" strike="noStrike">
                <a:solidFill>
                  <a:srgbClr val="7F7F7F"/>
                </a:solidFill>
                <a:effectLst/>
                <a:uFillTx/>
                <a:latin typeface="メイリオ"/>
                <a:ea typeface="メイリオ"/>
              </a:rPr>
              <a:t>※サイトのボタンは、リンク先を友だち追加用のURL</a:t>
            </a:r>
            <a:r>
              <a:rPr lang="zh-CN" sz="1300" b="0" u="none" strike="noStrike">
                <a:solidFill>
                  <a:srgbClr val="7F7F7F"/>
                </a:solidFill>
                <a:effectLst/>
                <a:uFillTx/>
                <a:latin typeface="メイリオ"/>
                <a:ea typeface="メイリオ"/>
              </a:rPr>
              <a:t>に変更します。</a:t>
            </a:r>
            <a:endParaRPr lang="en-US" sz="13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bg1">
              <a:lumMod val="95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本質課題</a:t>
            </a:r>
            <a:endParaRPr lang="en-US" sz="1600" b="0" u="none" strike="noStrike">
              <a:solidFill>
                <a:srgbClr val="000000"/>
              </a:solidFill>
              <a:effectLst/>
              <a:uFillTx/>
              <a:latin typeface="メイリオ"/>
            </a:endParaRPr>
          </a:p>
        </p:txBody>
      </p:sp>
      <p:sp>
        <p:nvSpPr>
          <p:cNvPr id="650"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651"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65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53"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3つの課題は、ひとつの課題につながっている</a:t>
            </a:r>
            <a:endParaRPr lang="en-US" sz="1400" b="0" u="none" strike="noStrike">
              <a:solidFill>
                <a:srgbClr val="000000"/>
              </a:solidFill>
              <a:effectLst/>
              <a:uFillTx/>
              <a:latin typeface="Arial"/>
            </a:endParaRPr>
          </a:p>
        </p:txBody>
      </p:sp>
      <p:sp>
        <p:nvSpPr>
          <p:cNvPr id="654" name="KEY TAKEAWAY 見出し"/>
          <p:cNvSpPr/>
          <p:nvPr/>
        </p:nvSpPr>
        <p:spPr>
          <a:xfrm>
            <a:off x="502920" y="1691640"/>
            <a:ext cx="210312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KEY TAKEAWAY</a:t>
            </a:r>
            <a:endParaRPr lang="ja-JP" altLang="en-US" sz="1200" dirty="0"/>
          </a:p>
        </p:txBody>
      </p:sp>
      <p:sp>
        <p:nvSpPr>
          <p:cNvPr id="655" name="KEY TAKEAWAY"/>
          <p:cNvSpPr/>
          <p:nvPr/>
        </p:nvSpPr>
        <p:spPr>
          <a:xfrm>
            <a:off x="502920" y="2020824"/>
            <a:ext cx="8897112" cy="1325880"/>
          </a:xfrm>
          <a:prstGeom prst="rect">
            <a:avLst/>
          </a:prstGeom>
          <a:solidFill>
            <a:srgbClr val="EEF1F8"/>
          </a:solidFill>
          <a:ln w="9525">
            <a:solidFill>
              <a:srgbClr val="1F285A"/>
            </a:solidFill>
          </a:ln>
        </p:spPr>
        <p:txBody>
          <a:bodyPr wrap="square" lIns="182880" tIns="73152" rIns="182880" bIns="73152" rtlCol="0" anchor="ctr">
            <a:noAutofit/>
          </a:bodyPr>
          <a:lstStyle/>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受付はできるが、追える仕組みがない</a:t>
            </a:r>
            <a:endParaRPr lang="ja-JP" altLang="en-US" sz="1200" dirty="0"/>
          </a:p>
          <a:p>
            <a:pPr algn="ctr">
              <a:lnSpc>
                <a:spcPct val="125000"/>
              </a:lnSpc>
              <a:buNone/>
            </a:pPr>
            <a:r>
              <a:rPr lang="ja-JP" altLang="en-US" sz="1300" b="0" dirty="0">
                <a:solidFill>
                  <a:srgbClr val="1F285A"/>
                </a:solidFill>
                <a:latin typeface="メイリオ" panose="020B0604030504040204" pitchFamily="50" charset="-128"/>
                <a:ea typeface="メイリオ" panose="020B0604030504040204" pitchFamily="50" charset="-128"/>
              </a:rPr>
              <a:t>その受付も分かりづらく、何を送ればいいか・送った後どうなるか・対象の物件かが伝わっていない</a:t>
            </a:r>
            <a:endParaRPr lang="ja-JP" altLang="en-US" sz="1200" dirty="0"/>
          </a:p>
        </p:txBody>
      </p:sp>
      <p:sp>
        <p:nvSpPr>
          <p:cNvPr id="656" name="補足ポイント"/>
          <p:cNvSpPr/>
          <p:nvPr/>
        </p:nvSpPr>
        <p:spPr>
          <a:xfrm>
            <a:off x="502920" y="3703320"/>
            <a:ext cx="3657600" cy="292608"/>
          </a:xfrm>
          <a:prstGeom prst="rect">
            <a:avLst/>
          </a:prstGeom>
          <a:noFill/>
          <a:ln>
            <a:noFill/>
          </a:ln>
        </p:spPr>
        <p:txBody>
          <a:bodyPr wrap="square" lIns="0" tIns="0" rIns="0" bIns="0" rtlCol="0" anchor="ctr">
            <a:noAutofit/>
          </a:bodyPr>
          <a:lstStyle/>
          <a:p>
            <a:pPr algn="l">
              <a:buNone/>
            </a:pPr>
            <a:r>
              <a:rPr lang="ja-JP" altLang="en-US" sz="1300" b="1" dirty="0">
                <a:solidFill>
                  <a:srgbClr val="333333"/>
                </a:solidFill>
                <a:latin typeface="メイリオ" panose="020B0604030504040204" pitchFamily="50" charset="-128"/>
                <a:ea typeface="メイリオ" panose="020B0604030504040204" pitchFamily="50" charset="-128"/>
              </a:rPr>
              <a:t>3つの課題と打ち手</a:t>
            </a:r>
            <a:endParaRPr lang="ja-JP" altLang="en-US" sz="1200" dirty="0"/>
          </a:p>
        </p:txBody>
      </p:sp>
      <p:sp>
        <p:nvSpPr>
          <p:cNvPr id="657" name="線1"/>
          <p:cNvSpPr/>
          <p:nvPr/>
        </p:nvSpPr>
        <p:spPr>
          <a:xfrm>
            <a:off x="502920" y="4105656"/>
            <a:ext cx="777240" cy="50292"/>
          </a:xfrm>
          <a:prstGeom prst="rect">
            <a:avLst/>
          </a:prstGeom>
          <a:solidFill>
            <a:srgbClr val="1F285A"/>
          </a:solidFill>
          <a:ln>
            <a:noFill/>
          </a:ln>
        </p:spPr>
        <p:txBody>
          <a:bodyPr wrap="square" lIns="73152" tIns="36576" rIns="73152" bIns="36576" rtlCol="0" anchor="ctr">
            <a:noAutofit/>
          </a:bodyPr>
          <a:lstStyle/>
          <a:p>
            <a:pPr algn="l">
              <a:buNone/>
            </a:pPr>
            <a:endParaRPr lang="ja-JP" altLang="en-US" sz="1200" dirty="0"/>
          </a:p>
        </p:txBody>
      </p:sp>
      <p:sp>
        <p:nvSpPr>
          <p:cNvPr id="658" name="見出し1"/>
          <p:cNvSpPr/>
          <p:nvPr/>
        </p:nvSpPr>
        <p:spPr>
          <a:xfrm>
            <a:off x="502920"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01 集める</a:t>
            </a:r>
            <a:endParaRPr lang="ja-JP" altLang="en-US" sz="1200" dirty="0"/>
          </a:p>
        </p:txBody>
      </p:sp>
      <p:sp>
        <p:nvSpPr>
          <p:cNvPr id="659" name="本文1"/>
          <p:cNvSpPr/>
          <p:nvPr/>
        </p:nvSpPr>
        <p:spPr>
          <a:xfrm>
            <a:off x="502920"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サイトを離れる方に、もう一度LINEを案内する手段がない</a:t>
            </a:r>
            <a:endParaRPr lang="ja-JP" altLang="en-US" sz="1200" dirty="0"/>
          </a:p>
        </p:txBody>
      </p:sp>
      <p:sp>
        <p:nvSpPr>
          <p:cNvPr id="660" name="打ち手1"/>
          <p:cNvSpPr/>
          <p:nvPr/>
        </p:nvSpPr>
        <p:spPr>
          <a:xfrm>
            <a:off x="502920"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離脱防止ポップアップ</a:t>
            </a:r>
            <a:endParaRPr lang="ja-JP" altLang="en-US" sz="1200" dirty="0"/>
          </a:p>
        </p:txBody>
      </p:sp>
      <p:sp>
        <p:nvSpPr>
          <p:cNvPr id="661" name="線2"/>
          <p:cNvSpPr/>
          <p:nvPr/>
        </p:nvSpPr>
        <p:spPr>
          <a:xfrm>
            <a:off x="3549396" y="4105656"/>
            <a:ext cx="777240" cy="50292"/>
          </a:xfrm>
          <a:prstGeom prst="rect">
            <a:avLst/>
          </a:prstGeom>
          <a:solidFill>
            <a:srgbClr val="3E5C99"/>
          </a:solidFill>
          <a:ln>
            <a:noFill/>
          </a:ln>
        </p:spPr>
        <p:txBody>
          <a:bodyPr wrap="square" lIns="73152" tIns="36576" rIns="73152" bIns="36576" rtlCol="0" anchor="ctr">
            <a:noAutofit/>
          </a:bodyPr>
          <a:lstStyle/>
          <a:p>
            <a:pPr algn="l">
              <a:buNone/>
            </a:pPr>
            <a:endParaRPr lang="ja-JP" altLang="en-US" sz="1200" dirty="0"/>
          </a:p>
        </p:txBody>
      </p:sp>
      <p:sp>
        <p:nvSpPr>
          <p:cNvPr id="662" name="見出し2"/>
          <p:cNvSpPr/>
          <p:nvPr/>
        </p:nvSpPr>
        <p:spPr>
          <a:xfrm>
            <a:off x="3549396"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3E5C99"/>
                </a:solidFill>
                <a:latin typeface="メイリオ" panose="020B0604030504040204" pitchFamily="50" charset="-128"/>
                <a:ea typeface="メイリオ" panose="020B0604030504040204" pitchFamily="50" charset="-128"/>
              </a:rPr>
              <a:t>02 伝える</a:t>
            </a:r>
            <a:endParaRPr lang="ja-JP" altLang="en-US" sz="1200" dirty="0"/>
          </a:p>
        </p:txBody>
      </p:sp>
      <p:sp>
        <p:nvSpPr>
          <p:cNvPr id="663" name="本文2"/>
          <p:cNvSpPr/>
          <p:nvPr/>
        </p:nvSpPr>
        <p:spPr>
          <a:xfrm>
            <a:off x="3549396"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何を送るか・送った後の流れ・対象の物件かが、送る前に分からない</a:t>
            </a:r>
            <a:endParaRPr lang="ja-JP" altLang="en-US" sz="1200" dirty="0"/>
          </a:p>
        </p:txBody>
      </p:sp>
      <p:sp>
        <p:nvSpPr>
          <p:cNvPr id="664" name="打ち手2"/>
          <p:cNvSpPr/>
          <p:nvPr/>
        </p:nvSpPr>
        <p:spPr>
          <a:xfrm>
            <a:off x="3549396"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あいさつ・リッチメニュー・自動応答</a:t>
            </a:r>
            <a:endParaRPr lang="ja-JP" altLang="en-US" sz="1200" dirty="0"/>
          </a:p>
        </p:txBody>
      </p:sp>
      <p:sp>
        <p:nvSpPr>
          <p:cNvPr id="665" name="線3"/>
          <p:cNvSpPr/>
          <p:nvPr/>
        </p:nvSpPr>
        <p:spPr>
          <a:xfrm>
            <a:off x="6595872" y="4105656"/>
            <a:ext cx="777240" cy="50292"/>
          </a:xfrm>
          <a:prstGeom prst="rect">
            <a:avLst/>
          </a:prstGeom>
          <a:solidFill>
            <a:srgbClr val="C00000"/>
          </a:solidFill>
          <a:ln>
            <a:noFill/>
          </a:ln>
        </p:spPr>
        <p:txBody>
          <a:bodyPr wrap="square" lIns="73152" tIns="36576" rIns="73152" bIns="36576" rtlCol="0" anchor="ctr">
            <a:noAutofit/>
          </a:bodyPr>
          <a:lstStyle/>
          <a:p>
            <a:pPr algn="l">
              <a:buNone/>
            </a:pPr>
            <a:endParaRPr lang="ja-JP" altLang="en-US" sz="1200" dirty="0"/>
          </a:p>
        </p:txBody>
      </p:sp>
      <p:sp>
        <p:nvSpPr>
          <p:cNvPr id="666" name="見出し3"/>
          <p:cNvSpPr/>
          <p:nvPr/>
        </p:nvSpPr>
        <p:spPr>
          <a:xfrm>
            <a:off x="6595872"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C00000"/>
                </a:solidFill>
                <a:latin typeface="メイリオ" panose="020B0604030504040204" pitchFamily="50" charset="-128"/>
                <a:ea typeface="メイリオ" panose="020B0604030504040204" pitchFamily="50" charset="-128"/>
              </a:rPr>
              <a:t>03 追う</a:t>
            </a:r>
            <a:endParaRPr lang="ja-JP" altLang="en-US" sz="1200" dirty="0"/>
          </a:p>
        </p:txBody>
      </p:sp>
      <p:sp>
        <p:nvSpPr>
          <p:cNvPr id="667" name="本文3"/>
          <p:cNvSpPr/>
          <p:nvPr/>
        </p:nvSpPr>
        <p:spPr>
          <a:xfrm>
            <a:off x="6595872"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物件を送らなかった方へ、続けて案内する配信がない</a:t>
            </a:r>
            <a:endParaRPr lang="ja-JP" altLang="en-US" sz="1200" dirty="0"/>
          </a:p>
        </p:txBody>
      </p:sp>
      <p:sp>
        <p:nvSpPr>
          <p:cNvPr id="668" name="打ち手3"/>
          <p:cNvSpPr/>
          <p:nvPr/>
        </p:nvSpPr>
        <p:spPr>
          <a:xfrm>
            <a:off x="6595872"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ステップ配信・企画配信</a:t>
            </a:r>
            <a:endParaRPr lang="ja-JP" alt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効果計測：配信・リッチメニューのリンクごとに成果を数値化</a:t>
            </a:r>
            <a:endParaRPr lang="en-US" sz="1600" b="0" u="none" strike="noStrike">
              <a:solidFill>
                <a:srgbClr val="000000"/>
              </a:solidFill>
              <a:effectLst/>
              <a:uFillTx/>
              <a:latin typeface="メイリオ"/>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体制：戦略から運用・制作まで一貫して対応</a:t>
            </a:r>
            <a:endParaRPr lang="en-US" sz="1600" b="0" u="none" strike="noStrike">
              <a:solidFill>
                <a:srgbClr val="000000"/>
              </a:solidFill>
              <a:effectLst/>
              <a:uFillTx/>
              <a:latin typeface="メイリオ"/>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スケジュール：お申込みから運用開始までの5ステップ</a:t>
            </a:r>
            <a:endParaRPr lang="en-US" sz="1600" b="0" u="none" strike="noStrike">
              <a:solidFill>
                <a:srgbClr val="000000"/>
              </a:solidFill>
              <a:effectLst/>
              <a:uFillTx/>
              <a:latin typeface="メイリオ"/>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92080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0" u="none" strike="noStrike">
                <a:solidFill>
                  <a:schemeClr val="dk1"/>
                </a:solidFill>
                <a:effectLst/>
                <a:uFillTx/>
                <a:latin typeface="メイリオ"/>
                <a:ea typeface="メイリオ"/>
              </a:rPr>
              <a:t>サイト</a:t>
            </a:r>
            <a:r>
              <a:rPr lang="en-US" sz="2400" b="0" u="none" strike="noStrike">
                <a:solidFill>
                  <a:schemeClr val="dk1"/>
                </a:solidFill>
                <a:effectLst/>
                <a:uFillTx/>
                <a:latin typeface="メイリオ"/>
                <a:ea typeface="メイリオ"/>
              </a:rPr>
              <a:t>/LINE</a:t>
            </a:r>
            <a:r>
              <a:rPr lang="ja-JP" sz="2400" b="0" u="none" strike="noStrike">
                <a:solidFill>
                  <a:schemeClr val="dk1"/>
                </a:solidFill>
                <a:effectLst/>
                <a:uFillTx/>
                <a:latin typeface="メイリオ"/>
                <a:ea typeface="メイリオ"/>
              </a:rPr>
              <a:t>上への実装については、約</a:t>
            </a:r>
            <a:r>
              <a:rPr lang="en-US" sz="2400" b="0" u="none" strike="noStrike">
                <a:solidFill>
                  <a:schemeClr val="dk1"/>
                </a:solidFill>
                <a:effectLst/>
                <a:uFillTx/>
                <a:latin typeface="メイリオ"/>
                <a:ea typeface="メイリオ"/>
              </a:rPr>
              <a:t>1</a:t>
            </a:r>
            <a:r>
              <a:rPr lang="ja-JP" sz="2400" b="0" u="none" strike="noStrike">
                <a:solidFill>
                  <a:schemeClr val="dk1"/>
                </a:solidFill>
                <a:effectLst/>
                <a:uFillTx/>
                <a:latin typeface="メイリオ"/>
                <a:ea typeface="メイリオ"/>
              </a:rPr>
              <a:t>か月程度を頂き進行。</a:t>
            </a:r>
            <a:endParaRPr lang="en-US" sz="2400" b="0" u="none" strike="noStrike">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a:solidFill>
                  <a:schemeClr val="dk1">
                    <a:lumMod val="50000"/>
                    <a:lumOff val="50000"/>
                  </a:schemeClr>
                </a:solidFill>
                <a:effectLst/>
                <a:uFillTx/>
                <a:latin typeface="メイリオ"/>
                <a:ea typeface="メイリオ"/>
              </a:rPr>
              <a:t>※</a:t>
            </a:r>
            <a:r>
              <a:rPr lang="ja-JP" sz="1200" b="0" u="none" strike="noStrike">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a:solidFill>
                <a:srgbClr val="000000"/>
              </a:solidFill>
              <a:effectLst/>
              <a:uFillTx/>
              <a:latin typeface="Arial"/>
            </a:endParaRPr>
          </a:p>
        </p:txBody>
      </p:sp>
      <p:cxnSp>
        <p:nvCxnSpPr>
          <p:cNvPr id="732" name="直線矢印コネクタ 20"/>
          <p:cNvCxnSpPr/>
          <p:nvPr/>
        </p:nvCxnSpPr>
        <p:spPr>
          <a:xfrm>
            <a:off x="6985080" y="2256480"/>
            <a:ext cx="360" cy="3086640"/>
          </a:xfrm>
          <a:prstGeom prst="straightConnector1">
            <a:avLst/>
          </a:prstGeom>
          <a:ln w="38100">
            <a:solidFill>
              <a:srgbClr val="000000">
                <a:lumMod val="75000"/>
                <a:lumOff val="25000"/>
              </a:srgbClr>
            </a:solidFill>
            <a:prstDash val="sysDash"/>
            <a:round/>
            <a:tailEnd type="triangle" w="med" len="med"/>
          </a:ln>
        </p:spPr>
      </p:cxnSp>
      <p:sp>
        <p:nvSpPr>
          <p:cNvPr id="733" name="正方形/長方形 21"/>
          <p:cNvSpPr/>
          <p:nvPr/>
        </p:nvSpPr>
        <p:spPr>
          <a:xfrm>
            <a:off x="7042320" y="2130840"/>
            <a:ext cx="742320" cy="276480"/>
          </a:xfrm>
          <a:prstGeom prst="rect">
            <a:avLst/>
          </a:prstGeom>
          <a:solidFill>
            <a:schemeClr val="accent1">
              <a:lumMod val="20000"/>
              <a:lumOff val="80000"/>
            </a:schemeClr>
          </a:solid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200" b="0" u="none" strike="noStrike">
                <a:solidFill>
                  <a:schemeClr val="dk1"/>
                </a:solidFill>
                <a:effectLst/>
                <a:uFillTx/>
                <a:latin typeface="メイリオ"/>
                <a:ea typeface="メイリオ"/>
              </a:rPr>
              <a:t>約</a:t>
            </a:r>
            <a:r>
              <a:rPr lang="en-US" sz="1200" b="0" u="none" strike="noStrike">
                <a:solidFill>
                  <a:schemeClr val="dk1"/>
                </a:solidFill>
                <a:effectLst/>
                <a:uFillTx/>
                <a:latin typeface="メイリオ"/>
                <a:ea typeface="メイリオ"/>
              </a:rPr>
              <a:t>1</a:t>
            </a:r>
            <a:r>
              <a:rPr lang="ja-JP" sz="1200" b="0" u="none" strike="noStrike">
                <a:solidFill>
                  <a:schemeClr val="dk1"/>
                </a:solidFill>
                <a:effectLst/>
                <a:uFillTx/>
                <a:latin typeface="メイリオ"/>
                <a:ea typeface="メイリオ"/>
              </a:rPr>
              <a:t>か月</a:t>
            </a:r>
            <a:endParaRPr lang="en-US" sz="1200" b="0" u="none" strike="noStrike">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次のステップ：運用開始に向けて伺いたいこと</a:t>
            </a:r>
            <a:endParaRPr lang="en-US" sz="1600" b="0" u="none" strike="noStrike">
              <a:solidFill>
                <a:srgbClr val="000000"/>
              </a:solidFill>
              <a:effectLst/>
              <a:uFillTx/>
              <a:latin typeface="メイリオ"/>
            </a:endParaRPr>
          </a:p>
        </p:txBody>
      </p:sp>
      <p:sp>
        <p:nvSpPr>
          <p:cNvPr id="7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73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740"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以下を伺ったうえで、初期設計（約1か月）に入る</a:t>
            </a:r>
            <a:endParaRPr lang="en-US" sz="1400" b="0" u="none" strike="noStrike">
              <a:solidFill>
                <a:srgbClr val="000000"/>
              </a:solidFill>
              <a:effectLst/>
              <a:uFillTx/>
              <a:latin typeface="Arial"/>
            </a:endParaRPr>
          </a:p>
        </p:txBody>
      </p:sp>
      <p:graphicFrame>
        <p:nvGraphicFramePr>
          <p:cNvPr id="741" name="伺いたいこと 740"/>
          <p:cNvGraphicFramePr>
            <a:graphicFrameLocks noGrp="1"/>
          </p:cNvGraphicFramePr>
          <p:nvPr/>
        </p:nvGraphicFramePr>
        <p:xfrm>
          <a:off x="502920" y="1783080"/>
          <a:ext cx="8897112" cy="3611880"/>
        </p:xfrm>
        <a:graphic>
          <a:graphicData uri="http://schemas.openxmlformats.org/drawingml/2006/table">
            <a:tbl>
              <a:tblPr/>
              <a:tblGrid>
                <a:gridCol w="502920"/>
                <a:gridCol w="4983480"/>
                <a:gridCol w="3410712"/>
              </a:tblGrid>
              <a:tr h="411480">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伺いたいこと</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反映するところ</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6400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1</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サイトの「LINEでお問い合わせ」ボタンのリンク先を、友だち追加用のURLに変えてよいか</a:t>
                      </a:r>
                      <a:endParaRPr lang="ja-JP" altLang="en-US" sz="1200" dirty="0"/>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友だちの入口（サイトのボタン）</a:t>
                      </a:r>
                      <a:endParaRPr lang="ja-JP" altLang="en-US" sz="1200" dirty="0"/>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2</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対応できない物件の条件と、送られた物件を確認するご担当者・手順</a:t>
                      </a:r>
                      <a:endParaRPr lang="ja-JP" altLang="en-US" sz="1200" dirty="0"/>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あいさつ・自動応答の案内</a:t>
                      </a:r>
                      <a:endParaRPr lang="ja-JP" altLang="en-US" sz="1200" dirty="0"/>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3</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LINEでの返信の目安（受付時間・返信までの時間）</a:t>
                      </a:r>
                      <a:endParaRPr lang="ja-JP" altLang="en-US" sz="1200" dirty="0"/>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あいさつ・受付時間外の自動返信</a:t>
                      </a:r>
                      <a:endParaRPr lang="ja-JP" altLang="en-US" sz="1200" dirty="0"/>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4</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物件を送った方へのステップ配信を止めるか</a:t>
                      </a:r>
                      <a:endParaRPr lang="ja-JP" altLang="en-US" sz="1200" dirty="0"/>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ステップ配信の設計</a:t>
                      </a:r>
                      <a:endParaRPr lang="ja-JP" altLang="en-US" sz="1200" dirty="0"/>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5</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文面・画像・リッチメニューを最終確認するご担当者</a:t>
                      </a:r>
                      <a:endParaRPr lang="ja-JP" altLang="en-US" sz="1200" dirty="0"/>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公開までの進め方</a:t>
                      </a:r>
                      <a:endParaRPr lang="ja-JP" altLang="en-US" sz="1200" dirty="0"/>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812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143166</TotalTime>
  <Words>6247</Words>
  <Application>Microsoft Office PowerPoint</Application>
  <PresentationFormat>A4 210 x 297 mm</PresentationFormat>
  <Paragraphs>1219</Paragraphs>
  <Slides>44</Slides>
  <Notes>20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44</vt:i4>
      </vt:variant>
    </vt:vector>
  </HeadingPairs>
  <TitlesOfParts>
    <vt:vector size="52"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1966</cp:revision>
  <cp:lastPrinted>2022-11-01T11:38:14Z</cp:lastPrinted>
  <dcterms:created xsi:type="dcterms:W3CDTF">2015-09-04T09:21:15Z</dcterms:created>
  <dcterms:modified xsi:type="dcterms:W3CDTF">2026-10-14T08:12:20Z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