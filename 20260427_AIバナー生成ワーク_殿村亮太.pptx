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57"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668" y="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C5D6F4-68D9-4E7D-6780-BB87C842764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D307BBF-B503-DF07-4466-DF0878096E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DC68A17-93D7-5B75-0D48-9ADE0C0CF116}"/>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97B4DB52-19F8-ECDE-CC1F-867F4342E3B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C985EB5-A599-4BC2-96AD-91CF124F1910}"/>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894783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2ECE15-4CD3-43E1-8A64-4E54D6B4D0C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528560F-3FF7-8D60-8449-B918A661F47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92D9EAF-AB58-D750-E063-B1135EE19BD4}"/>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53A443B8-B6D9-1722-E0FE-7464DE12B70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4C6532A-0642-4563-FCFF-F433ACFDFA3E}"/>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2876314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0A7C93-B9BF-B531-968A-2D6F74B78D4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1150222-B74B-A0CC-54E0-FA5A71B4A0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A0136D9-67AB-E085-2D45-B47F0FAB8F77}"/>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4B19644B-5C4C-E853-50BC-B3B445D67C2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132EC3D-BCBD-FD50-2D30-58CDEC92891C}"/>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3153340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B23443-B47C-1D1E-280A-A59F2C5B008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D4E0BAD-392B-8DEE-9FD1-E4498FFAFEF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9261803-E939-56C0-BE8B-45B79C9DB66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9310A20-00EF-67EB-1D78-193F938ADF3C}"/>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12824107-5D80-34A7-7C36-9932FE62BD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82B5DF7-0B46-48E2-58E9-83830DE7D312}"/>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465924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906B9F-84EF-674E-A0A6-34EFF8C4741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7850D70-6BFA-D24D-9638-F3B41F6D0F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CADCDDF-40A9-8D6E-1971-866C073A428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49877BE-9595-1A26-FA5D-3E6C21EA48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395D1EF-8F27-9D6C-488E-BB63C588D0D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BFA0671-29B4-3D09-74C9-8191E5E8A98E}"/>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8" name="フッター プレースホルダー 7">
            <a:extLst>
              <a:ext uri="{FF2B5EF4-FFF2-40B4-BE49-F238E27FC236}">
                <a16:creationId xmlns:a16="http://schemas.microsoft.com/office/drawing/2014/main" id="{A17E86CE-F9DE-4F83-32B4-340A0E4BB43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5E27C74-7FF8-F02A-1872-589D077A605E}"/>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216508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D0AB28-1C85-D1A4-4F39-C1DE7E8C287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C5235CE-433D-EFA7-85C7-A5AEBA38A529}"/>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4" name="フッター プレースホルダー 3">
            <a:extLst>
              <a:ext uri="{FF2B5EF4-FFF2-40B4-BE49-F238E27FC236}">
                <a16:creationId xmlns:a16="http://schemas.microsoft.com/office/drawing/2014/main" id="{6304F220-9366-17C0-8161-A395FA45E62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85A804A-B081-4DAE-A0E8-E78AF6F47901}"/>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2502648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0C14B63-B6A4-3891-9CA9-64C04C07BB7C}"/>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3" name="フッター プレースホルダー 2">
            <a:extLst>
              <a:ext uri="{FF2B5EF4-FFF2-40B4-BE49-F238E27FC236}">
                <a16:creationId xmlns:a16="http://schemas.microsoft.com/office/drawing/2014/main" id="{DD823103-FC43-473F-75F1-5FE868BFDF4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EF496A4-99CD-2BB6-BBF9-0DAA86111888}"/>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3359051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192F9A-A2CA-277D-F30F-669E51F39FB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9A3D733-81D5-B018-1016-CD303EE8E1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04BC58B-DEAE-5E43-81DE-0E7E7B193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7648955-EB76-88DF-8179-D0D08839EAEE}"/>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0BDF8EC5-7264-47C2-DA6A-91B9F4190D6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DA3060F-517F-0295-46D9-B8A0F8C4F020}"/>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2925325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C5036A-B9CB-A69D-7962-93D5685B8E1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142B0A4-AA1F-2E2B-F3C4-0DDCE598E8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C8E23AC-D0F2-B48F-F834-1D634D1B2D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6963E22-CC46-1648-98B5-A85CD310AF49}"/>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9D7B7CBC-C5DB-9B41-1A28-9D8665A2AAA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82266B8-A552-7E7F-F57D-62288DB7C01C}"/>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882098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9D7C05-D206-1934-9AA6-D49E94B5AD0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04CE450-9527-A7AB-D55B-931C5262FBD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ECC058E-6681-4E4E-4B2B-68A317A5CF6E}"/>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ACCCA6AF-7A32-0FB4-9A67-03C9D17E97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96E512F-2F25-7785-BFA7-DC496615F1E9}"/>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2136165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252C185-2BAB-5A42-3AD0-0CAF4C0B29F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7FFFF54-AD65-CC27-2D4E-6FE130EEC37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1A2248-0E8C-ADD9-90C2-C7BC2F1402E8}"/>
              </a:ext>
            </a:extLst>
          </p:cNvPr>
          <p:cNvSpPr>
            <a:spLocks noGrp="1"/>
          </p:cNvSpPr>
          <p:nvPr>
            <p:ph type="dt" sz="half" idx="10"/>
          </p:nvPr>
        </p:nvSpPr>
        <p:spPr/>
        <p:txBody>
          <a:bodyPr/>
          <a:lstStyle/>
          <a:p>
            <a:fld id="{0AB15AB3-4D1D-4AAF-B6BF-27192364FE6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54F4E894-5294-5588-1429-33FFAB38A39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95D2A8-5696-86B0-B135-D775FBEF1FD1}"/>
              </a:ext>
            </a:extLst>
          </p:cNvPr>
          <p:cNvSpPr>
            <a:spLocks noGrp="1"/>
          </p:cNvSpPr>
          <p:nvPr>
            <p:ph type="sldNum" sz="quarter" idx="12"/>
          </p:nvPr>
        </p:nvSpPr>
        <p:spPr/>
        <p:txBody>
          <a:body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3275312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26679F6-7A6D-183A-C505-55C84BFA09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02D7941-24DF-14E5-1408-F9A7EC3C05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915A3CC-189C-DE99-E11F-7D0C781AD1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B15AB3-4D1D-4AAF-B6BF-27192364FE6D}"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A3D361AA-A0DE-5411-DFCD-6930D4F1AC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A0084F7-6118-8518-52F3-730B2A33D2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B636F1-A3AA-443C-B7DA-4CD128004DE1}" type="slidenum">
              <a:rPr kumimoji="1" lang="ja-JP" altLang="en-US" smtClean="0"/>
              <a:t>‹#›</a:t>
            </a:fld>
            <a:endParaRPr kumimoji="1" lang="ja-JP" altLang="en-US"/>
          </a:p>
        </p:txBody>
      </p:sp>
    </p:spTree>
    <p:extLst>
      <p:ext uri="{BB962C8B-B14F-4D97-AF65-F5344CB8AC3E}">
        <p14:creationId xmlns:p14="http://schemas.microsoft.com/office/powerpoint/2010/main" val="1427242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CCA4A6-B58D-508B-2D11-1C08D92ADAB6}"/>
              </a:ext>
            </a:extLst>
          </p:cNvPr>
          <p:cNvSpPr>
            <a:spLocks noGrp="1"/>
          </p:cNvSpPr>
          <p:nvPr>
            <p:ph type="ctrTitle"/>
          </p:nvPr>
        </p:nvSpPr>
        <p:spPr>
          <a:xfrm>
            <a:off x="262128" y="265176"/>
            <a:ext cx="11667744" cy="6592824"/>
          </a:xfrm>
        </p:spPr>
        <p:txBody>
          <a:bodyPr>
            <a:normAutofit fontScale="90000"/>
          </a:bodyPr>
          <a:lstStyle/>
          <a:p>
            <a:pPr algn="l"/>
            <a:r>
              <a:rPr lang="en-US" altLang="ja-JP" sz="1100" dirty="0"/>
              <a:t>https://kireilign.com/lp/a/lp319/</a:t>
            </a:r>
            <a:br>
              <a:rPr lang="en-US" altLang="ja-JP" sz="1100" dirty="0"/>
            </a:br>
            <a:br>
              <a:rPr lang="en-US" altLang="ja-JP" sz="1100" dirty="0"/>
            </a:br>
            <a:r>
              <a:rPr lang="ja-JP" altLang="en-US" sz="1100" dirty="0"/>
              <a:t>この</a:t>
            </a:r>
            <a:r>
              <a:rPr lang="en-US" altLang="ja-JP" sz="1100" dirty="0"/>
              <a:t>LP</a:t>
            </a:r>
            <a:r>
              <a:rPr lang="ja-JP" altLang="en-US" sz="1100" dirty="0"/>
              <a:t>を①ターゲット属性、②悩み・ペインイベント、③ベネフィット</a:t>
            </a:r>
            <a:r>
              <a:rPr lang="en-US" altLang="ja-JP" sz="1100" dirty="0"/>
              <a:t>(</a:t>
            </a:r>
            <a:r>
              <a:rPr lang="ja-JP" altLang="en-US" sz="1100" dirty="0"/>
              <a:t>解決</a:t>
            </a:r>
            <a:r>
              <a:rPr lang="en-US" altLang="ja-JP" sz="1100" dirty="0"/>
              <a:t>)</a:t>
            </a:r>
            <a:r>
              <a:rPr lang="ja-JP" altLang="en-US" sz="1100" dirty="0"/>
              <a:t>、④権威性・信頼、⑤心理的トリガー、⑥クリエイティブ、⑦オファー・</a:t>
            </a:r>
            <a:r>
              <a:rPr lang="en-US" altLang="ja-JP" sz="1100" dirty="0"/>
              <a:t>CTA</a:t>
            </a:r>
            <a:r>
              <a:rPr lang="ja-JP" altLang="en-US" sz="1100" dirty="0"/>
              <a:t>、⑧配信先・シチュエーション</a:t>
            </a:r>
            <a:br>
              <a:rPr lang="ja-JP" altLang="en-US" sz="1100" dirty="0"/>
            </a:br>
            <a:r>
              <a:rPr lang="ja-JP" altLang="en-US" sz="1100" dirty="0"/>
              <a:t>に区別して、分析してほしい</a:t>
            </a:r>
            <a:br>
              <a:rPr lang="ja-JP" altLang="en-US" sz="1100" dirty="0"/>
            </a:br>
            <a:br>
              <a:rPr lang="en-US" altLang="ja-JP" sz="1100" dirty="0"/>
            </a:br>
            <a:r>
              <a:rPr lang="ja-JP" altLang="en-US" sz="1100" dirty="0">
                <a:effectLst/>
              </a:rPr>
              <a:t>ご提示いただいた「キレイライン矯正」の</a:t>
            </a:r>
            <a:r>
              <a:rPr lang="en-US" altLang="ja-JP" sz="1100" dirty="0">
                <a:effectLst/>
              </a:rPr>
              <a:t>LP</a:t>
            </a:r>
            <a:r>
              <a:rPr lang="ja-JP" altLang="en-US" sz="1100" dirty="0">
                <a:effectLst/>
              </a:rPr>
              <a:t>（ランディングページ）の内容・構造から、指定された</a:t>
            </a:r>
            <a:r>
              <a:rPr lang="en-US" altLang="ja-JP" sz="1100" dirty="0">
                <a:effectLst/>
              </a:rPr>
              <a:t>8</a:t>
            </a:r>
            <a:r>
              <a:rPr lang="ja-JP" altLang="en-US" sz="1100" dirty="0">
                <a:effectLst/>
              </a:rPr>
              <a:t>つの項目に分けて分析しました。</a:t>
            </a:r>
            <a:br>
              <a:rPr lang="ja-JP" altLang="en-US" sz="1100" dirty="0">
                <a:effectLst/>
              </a:rPr>
            </a:br>
            <a:r>
              <a:rPr lang="ja-JP" altLang="en-US" sz="1100" dirty="0">
                <a:effectLst/>
              </a:rPr>
              <a:t>この</a:t>
            </a:r>
            <a:r>
              <a:rPr lang="en-US" altLang="ja-JP" sz="1100" dirty="0">
                <a:effectLst/>
              </a:rPr>
              <a:t>LP</a:t>
            </a:r>
            <a:r>
              <a:rPr lang="ja-JP" altLang="en-US" sz="1100" dirty="0">
                <a:effectLst/>
              </a:rPr>
              <a:t>は、従来のワイヤー矯正に対する**「高い」「痛い」「目立つ」「長い」という</a:t>
            </a:r>
            <a:r>
              <a:rPr lang="en-US" altLang="ja-JP" sz="1100" dirty="0">
                <a:effectLst/>
              </a:rPr>
              <a:t>4</a:t>
            </a:r>
            <a:r>
              <a:rPr lang="ja-JP" altLang="en-US" sz="1100" dirty="0">
                <a:effectLst/>
              </a:rPr>
              <a:t>大ペイン（悩み）**を、マウスピース矯正の特性を活かして的確に潰し、ハードルを極限まで下げる構成になっています。</a:t>
            </a:r>
            <a:br>
              <a:rPr lang="ja-JP" altLang="en-US" sz="1100" dirty="0">
                <a:effectLst/>
              </a:rPr>
            </a:br>
            <a:br>
              <a:rPr lang="ja-JP" altLang="en-US" sz="1100" dirty="0">
                <a:effectLst/>
              </a:rPr>
            </a:br>
            <a:r>
              <a:rPr lang="ja-JP" altLang="en-US" sz="1100" b="1" dirty="0">
                <a:effectLst/>
              </a:rPr>
              <a:t>① ターゲット属性</a:t>
            </a:r>
            <a:br>
              <a:rPr lang="ja-JP" altLang="en-US" sz="1100" b="1" dirty="0">
                <a:effectLst/>
              </a:rPr>
            </a:br>
            <a:r>
              <a:rPr lang="ja-JP" altLang="en-US" sz="1100" b="1" dirty="0">
                <a:effectLst/>
              </a:rPr>
              <a:t>年齢・性別：</a:t>
            </a:r>
            <a:r>
              <a:rPr lang="ja-JP" altLang="en-US" sz="1100" dirty="0">
                <a:effectLst/>
              </a:rPr>
              <a:t> 主に</a:t>
            </a:r>
            <a:r>
              <a:rPr lang="en-US" altLang="ja-JP" sz="1100" dirty="0">
                <a:effectLst/>
              </a:rPr>
              <a:t>10</a:t>
            </a:r>
            <a:r>
              <a:rPr lang="ja-JP" altLang="en-US" sz="1100" dirty="0">
                <a:effectLst/>
              </a:rPr>
              <a:t>代後半</a:t>
            </a:r>
            <a:r>
              <a:rPr lang="en-US" altLang="ja-JP" sz="1100" dirty="0">
                <a:effectLst/>
              </a:rPr>
              <a:t>〜30</a:t>
            </a:r>
            <a:r>
              <a:rPr lang="ja-JP" altLang="en-US" sz="1100" dirty="0">
                <a:effectLst/>
              </a:rPr>
              <a:t>代の男女（学生、新社会人、結婚などを控えた層）。</a:t>
            </a:r>
            <a:br>
              <a:rPr lang="ja-JP" altLang="en-US" sz="1100" dirty="0">
                <a:effectLst/>
              </a:rPr>
            </a:br>
            <a:r>
              <a:rPr lang="ja-JP" altLang="en-US" sz="1100" b="1" dirty="0">
                <a:effectLst/>
              </a:rPr>
              <a:t>予算感：</a:t>
            </a:r>
            <a:r>
              <a:rPr lang="ja-JP" altLang="en-US" sz="1100" dirty="0">
                <a:effectLst/>
              </a:rPr>
              <a:t> できるだけコストを抑えたい、または高額なローン審査に不安がある層。</a:t>
            </a:r>
            <a:br>
              <a:rPr lang="ja-JP" altLang="en-US" sz="1100" dirty="0">
                <a:effectLst/>
              </a:rPr>
            </a:br>
            <a:r>
              <a:rPr lang="ja-JP" altLang="en-US" sz="1100" b="1" dirty="0">
                <a:effectLst/>
              </a:rPr>
              <a:t>ライフスタイル：</a:t>
            </a:r>
            <a:r>
              <a:rPr lang="ja-JP" altLang="en-US" sz="1100" dirty="0">
                <a:effectLst/>
              </a:rPr>
              <a:t> 人と接する機会が多い（接客業、営業、学生など）ため、矯正していることを知られたくない人。</a:t>
            </a:r>
            <a:br>
              <a:rPr lang="ja-JP" altLang="en-US" sz="1100" dirty="0">
                <a:effectLst/>
              </a:rPr>
            </a:br>
            <a:r>
              <a:rPr lang="ja-JP" altLang="en-US" sz="1100" b="1" dirty="0">
                <a:effectLst/>
              </a:rPr>
              <a:t>目的：</a:t>
            </a:r>
            <a:r>
              <a:rPr lang="ja-JP" altLang="en-US" sz="1100" dirty="0">
                <a:effectLst/>
              </a:rPr>
              <a:t> 完璧な噛み合わせの治療というより、結婚式や就活、大事なイベントまでに「見た目（前歯などの歯並び）」をスピーディーに良くしたい人。</a:t>
            </a:r>
            <a:br>
              <a:rPr lang="ja-JP" altLang="en-US" sz="1100" dirty="0">
                <a:effectLst/>
              </a:rPr>
            </a:br>
            <a:r>
              <a:rPr lang="ja-JP" altLang="en-US" sz="1100" b="1" dirty="0">
                <a:effectLst/>
              </a:rPr>
              <a:t>② 悩み・ペインイベント</a:t>
            </a:r>
            <a:br>
              <a:rPr lang="ja-JP" altLang="en-US" sz="1100" b="1" dirty="0">
                <a:effectLst/>
              </a:rPr>
            </a:br>
            <a:r>
              <a:rPr lang="ja-JP" altLang="en-US" sz="1100" b="1" dirty="0">
                <a:effectLst/>
              </a:rPr>
              <a:t>外見の悩み：</a:t>
            </a:r>
            <a:r>
              <a:rPr lang="ja-JP" altLang="en-US" sz="1100" dirty="0">
                <a:effectLst/>
              </a:rPr>
              <a:t> 「歯並びは直したいが、ワイヤー矯正の金属が目立つのは絶対にイヤだ」</a:t>
            </a:r>
            <a:br>
              <a:rPr lang="ja-JP" altLang="en-US" sz="1100" dirty="0">
                <a:effectLst/>
              </a:rPr>
            </a:br>
            <a:r>
              <a:rPr lang="ja-JP" altLang="en-US" sz="1100" b="1" dirty="0">
                <a:effectLst/>
              </a:rPr>
              <a:t>痛みの恐怖：</a:t>
            </a:r>
            <a:r>
              <a:rPr lang="ja-JP" altLang="en-US" sz="1100" dirty="0">
                <a:effectLst/>
              </a:rPr>
              <a:t> 「矯正＝痛い、喋りづらいというイメージがあり、耐えられるか不安」</a:t>
            </a:r>
            <a:br>
              <a:rPr lang="ja-JP" altLang="en-US" sz="1100" dirty="0">
                <a:effectLst/>
              </a:rPr>
            </a:br>
            <a:r>
              <a:rPr lang="ja-JP" altLang="en-US" sz="1100" b="1" dirty="0">
                <a:effectLst/>
              </a:rPr>
              <a:t>金銭的な壁：</a:t>
            </a:r>
            <a:r>
              <a:rPr lang="ja-JP" altLang="en-US" sz="1100" dirty="0">
                <a:effectLst/>
              </a:rPr>
              <a:t> 「数十万</a:t>
            </a:r>
            <a:r>
              <a:rPr lang="en-US" altLang="ja-JP" sz="1100" dirty="0">
                <a:effectLst/>
              </a:rPr>
              <a:t>〜100</a:t>
            </a:r>
            <a:r>
              <a:rPr lang="ja-JP" altLang="en-US" sz="1100" dirty="0">
                <a:effectLst/>
              </a:rPr>
              <a:t>万円以上かかる費用は払えない。ローンの審査に通るかどうかも不安」</a:t>
            </a:r>
            <a:br>
              <a:rPr lang="ja-JP" altLang="en-US" sz="1100" dirty="0">
                <a:effectLst/>
              </a:rPr>
            </a:br>
            <a:r>
              <a:rPr lang="ja-JP" altLang="en-US" sz="1100" b="1" dirty="0">
                <a:effectLst/>
              </a:rPr>
              <a:t>期間・手間の壁：</a:t>
            </a:r>
            <a:r>
              <a:rPr lang="ja-JP" altLang="en-US" sz="1100" dirty="0">
                <a:effectLst/>
              </a:rPr>
              <a:t> 「何年もかかるのは待てない。食事中や歯磨き中のケアが面倒そう」</a:t>
            </a:r>
            <a:br>
              <a:rPr lang="ja-JP" altLang="en-US" sz="1100" dirty="0">
                <a:effectLst/>
              </a:rPr>
            </a:br>
            <a:r>
              <a:rPr lang="ja-JP" altLang="en-US" sz="1100" b="1" dirty="0">
                <a:effectLst/>
              </a:rPr>
              <a:t>③ ベネフィット </a:t>
            </a:r>
            <a:r>
              <a:rPr lang="en-US" altLang="ja-JP" sz="1100" b="1" dirty="0">
                <a:effectLst/>
              </a:rPr>
              <a:t>(</a:t>
            </a:r>
            <a:r>
              <a:rPr lang="ja-JP" altLang="en-US" sz="1100" b="1" dirty="0">
                <a:effectLst/>
              </a:rPr>
              <a:t>解決</a:t>
            </a:r>
            <a:r>
              <a:rPr lang="en-US" altLang="ja-JP" sz="1100" b="1" dirty="0">
                <a:effectLst/>
              </a:rPr>
              <a:t>)</a:t>
            </a:r>
            <a:br>
              <a:rPr lang="en-US" altLang="ja-JP" sz="1100" b="1" dirty="0">
                <a:effectLst/>
              </a:rPr>
            </a:br>
            <a:r>
              <a:rPr lang="ja-JP" altLang="en-US" sz="1100" b="1" dirty="0">
                <a:effectLst/>
              </a:rPr>
              <a:t>目立たない：</a:t>
            </a:r>
            <a:r>
              <a:rPr lang="ja-JP" altLang="en-US" sz="1100" dirty="0">
                <a:effectLst/>
              </a:rPr>
              <a:t> 透明なマウスピースのため、装着したまま人前で笑ってもバレにくい。</a:t>
            </a:r>
            <a:br>
              <a:rPr lang="ja-JP" altLang="en-US" sz="1100" dirty="0">
                <a:effectLst/>
              </a:rPr>
            </a:br>
            <a:r>
              <a:rPr lang="ja-JP" altLang="en-US" sz="1100" b="1" dirty="0">
                <a:effectLst/>
              </a:rPr>
              <a:t>痛みが少ない：</a:t>
            </a:r>
            <a:r>
              <a:rPr lang="ja-JP" altLang="en-US" sz="1100" dirty="0">
                <a:effectLst/>
              </a:rPr>
              <a:t> 優しい力で少しずつ歯を動かす設計のため、ワイヤーのような激しい痛みを回避できる。</a:t>
            </a:r>
            <a:br>
              <a:rPr lang="ja-JP" altLang="en-US" sz="1100" dirty="0">
                <a:effectLst/>
              </a:rPr>
            </a:br>
            <a:r>
              <a:rPr lang="ja-JP" altLang="en-US" sz="1100" b="1" dirty="0">
                <a:effectLst/>
              </a:rPr>
              <a:t>衛生的で快適：</a:t>
            </a:r>
            <a:r>
              <a:rPr lang="ja-JP" altLang="en-US" sz="1100" dirty="0">
                <a:effectLst/>
              </a:rPr>
              <a:t> 取り外し可能なため、普段通りに食事ができ、歯磨きもしやすい。</a:t>
            </a:r>
            <a:br>
              <a:rPr lang="ja-JP" altLang="en-US" sz="1100" dirty="0">
                <a:effectLst/>
              </a:rPr>
            </a:br>
            <a:r>
              <a:rPr lang="ja-JP" altLang="en-US" sz="1100" b="1" dirty="0">
                <a:effectLst/>
              </a:rPr>
              <a:t>短期間で実感：</a:t>
            </a:r>
            <a:r>
              <a:rPr lang="ja-JP" altLang="en-US" sz="1100" dirty="0">
                <a:effectLst/>
              </a:rPr>
              <a:t> 早い人で</a:t>
            </a:r>
            <a:r>
              <a:rPr lang="en-US" altLang="ja-JP" sz="1100" dirty="0">
                <a:effectLst/>
              </a:rPr>
              <a:t>3〜6</a:t>
            </a:r>
            <a:r>
              <a:rPr lang="ja-JP" altLang="en-US" sz="1100" dirty="0">
                <a:effectLst/>
              </a:rPr>
              <a:t>ヶ月、多くが</a:t>
            </a:r>
            <a:r>
              <a:rPr lang="en-US" altLang="ja-JP" sz="1100" dirty="0">
                <a:effectLst/>
              </a:rPr>
              <a:t>1</a:t>
            </a:r>
            <a:r>
              <a:rPr lang="ja-JP" altLang="en-US" sz="1100" dirty="0">
                <a:effectLst/>
              </a:rPr>
              <a:t>年以内に完了し、イベントに間に合わせることができる。</a:t>
            </a:r>
            <a:br>
              <a:rPr lang="ja-JP" altLang="en-US" sz="1100" dirty="0">
                <a:effectLst/>
              </a:rPr>
            </a:br>
            <a:r>
              <a:rPr lang="ja-JP" altLang="en-US" sz="1100" b="1" dirty="0">
                <a:effectLst/>
              </a:rPr>
              <a:t>圧倒的なコスパ：</a:t>
            </a:r>
            <a:r>
              <a:rPr lang="ja-JP" altLang="en-US" sz="1100" dirty="0">
                <a:effectLst/>
              </a:rPr>
              <a:t> 従来のワイヤー矯正よりもリーズナブルに治療を開始できる。</a:t>
            </a:r>
            <a:br>
              <a:rPr lang="ja-JP" altLang="en-US" sz="1100" dirty="0">
                <a:effectLst/>
              </a:rPr>
            </a:br>
            <a:r>
              <a:rPr lang="ja-JP" altLang="en-US" sz="1100" b="1" dirty="0">
                <a:effectLst/>
              </a:rPr>
              <a:t>④ 権威性・信頼</a:t>
            </a:r>
            <a:br>
              <a:rPr lang="ja-JP" altLang="en-US" sz="1100" b="1" dirty="0">
                <a:effectLst/>
              </a:rPr>
            </a:br>
            <a:r>
              <a:rPr lang="ja-JP" altLang="en-US" sz="1100" b="1" dirty="0">
                <a:effectLst/>
              </a:rPr>
              <a:t>他社・従来手法との比較：</a:t>
            </a:r>
            <a:r>
              <a:rPr lang="ja-JP" altLang="en-US" sz="1100" dirty="0">
                <a:effectLst/>
              </a:rPr>
              <a:t> 「他ブランドとの比較」コンテンツを設け、客観的なポジション（安さ・早さなど）をアピールして納得感を与えている。</a:t>
            </a:r>
            <a:br>
              <a:rPr lang="ja-JP" altLang="en-US" sz="1100" dirty="0">
                <a:effectLst/>
              </a:rPr>
            </a:br>
            <a:r>
              <a:rPr lang="ja-JP" altLang="en-US" sz="1100" b="1" dirty="0">
                <a:effectLst/>
              </a:rPr>
              <a:t>全国展開の実績：</a:t>
            </a:r>
            <a:r>
              <a:rPr lang="ja-JP" altLang="en-US" sz="1100" dirty="0">
                <a:effectLst/>
              </a:rPr>
              <a:t> 東京、大阪だけでなく、北海道から九州まで全国多数のクリニックと提携している事実が、「それだけ選ばれている、信頼されているサービスである」という規模感の証明になっている。</a:t>
            </a:r>
            <a:br>
              <a:rPr lang="ja-JP" altLang="en-US" sz="1100" dirty="0">
                <a:effectLst/>
              </a:rPr>
            </a:br>
            <a:r>
              <a:rPr lang="ja-JP" altLang="en-US" sz="1100" b="1" dirty="0">
                <a:effectLst/>
              </a:rPr>
              <a:t>患者の声（事実の提示）：</a:t>
            </a:r>
            <a:r>
              <a:rPr lang="ja-JP" altLang="en-US" sz="1100" dirty="0">
                <a:effectLst/>
              </a:rPr>
              <a:t> 「多くの方から想像より痛くなかったとお声を頂く」など、実績に基づいた事実を記載。</a:t>
            </a:r>
            <a:br>
              <a:rPr lang="ja-JP" altLang="en-US" sz="1100" dirty="0">
                <a:effectLst/>
              </a:rPr>
            </a:br>
            <a:r>
              <a:rPr lang="ja-JP" altLang="en-US" sz="1100" b="1" dirty="0">
                <a:effectLst/>
              </a:rPr>
              <a:t>⑤ 心理的トリガー</a:t>
            </a:r>
            <a:br>
              <a:rPr lang="ja-JP" altLang="en-US" sz="1100" b="1" dirty="0">
                <a:effectLst/>
              </a:rPr>
            </a:br>
            <a:r>
              <a:rPr lang="ja-JP" altLang="en-US" sz="1100" b="1" dirty="0">
                <a:effectLst/>
              </a:rPr>
              <a:t>機会損失の回避（イベント喚起）：</a:t>
            </a:r>
            <a:r>
              <a:rPr lang="ja-JP" altLang="en-US" sz="1100" dirty="0">
                <a:effectLst/>
              </a:rPr>
              <a:t> 「結婚式や大事なイベントまでにキレイな歯並びになりたい」とシチュエーションを提示し、「今始めないと間に合わない」という焦り（緊急性）を生み出している。</a:t>
            </a:r>
            <a:br>
              <a:rPr lang="ja-JP" altLang="en-US" sz="1100" dirty="0">
                <a:effectLst/>
              </a:rPr>
            </a:br>
            <a:r>
              <a:rPr lang="ja-JP" altLang="en-US" sz="1100" b="1" dirty="0">
                <a:effectLst/>
              </a:rPr>
              <a:t>不安の払拭（金銭面）：</a:t>
            </a:r>
            <a:r>
              <a:rPr lang="ja-JP" altLang="en-US" sz="1100" dirty="0">
                <a:effectLst/>
              </a:rPr>
              <a:t> **「ローンが通らなかった方でもご予算内プランをご用意」**という一文が非常に強力。お金がない・審査に落ちた経験があるユーザーの心理的障壁（諦め）を取り除いている。</a:t>
            </a:r>
            <a:br>
              <a:rPr lang="ja-JP" altLang="en-US" sz="1100" dirty="0">
                <a:effectLst/>
              </a:rPr>
            </a:br>
            <a:r>
              <a:rPr lang="ja-JP" altLang="en-US" sz="1100" b="1" dirty="0">
                <a:effectLst/>
              </a:rPr>
              <a:t>手軽さの強調：</a:t>
            </a:r>
            <a:r>
              <a:rPr lang="ja-JP" altLang="en-US" sz="1100" dirty="0">
                <a:effectLst/>
              </a:rPr>
              <a:t> 「取り外し</a:t>
            </a:r>
            <a:r>
              <a:rPr lang="en-US" altLang="ja-JP" sz="1100" dirty="0">
                <a:effectLst/>
              </a:rPr>
              <a:t>OK</a:t>
            </a:r>
            <a:r>
              <a:rPr lang="ja-JP" altLang="en-US" sz="1100" dirty="0">
                <a:effectLst/>
              </a:rPr>
              <a:t>」「短期間」を強調し、矯正に対する重い決断を、「これなら自分でもできそう」という軽い決断へと変容させている。</a:t>
            </a:r>
            <a:br>
              <a:rPr lang="ja-JP" altLang="en-US" sz="1100" dirty="0">
                <a:effectLst/>
              </a:rPr>
            </a:br>
            <a:r>
              <a:rPr lang="ja-JP" altLang="en-US" sz="1100" b="1" dirty="0">
                <a:effectLst/>
              </a:rPr>
              <a:t>⑥ クリエイティブ</a:t>
            </a:r>
            <a:br>
              <a:rPr lang="ja-JP" altLang="en-US" sz="1100" b="1" dirty="0">
                <a:effectLst/>
              </a:rPr>
            </a:br>
            <a:r>
              <a:rPr lang="ja-JP" altLang="en-US" sz="1100" b="1" dirty="0">
                <a:effectLst/>
              </a:rPr>
              <a:t>視覚優位の設計：</a:t>
            </a:r>
            <a:r>
              <a:rPr lang="ja-JP" altLang="en-US" sz="1100" dirty="0">
                <a:effectLst/>
              </a:rPr>
              <a:t> 文字で長々と説明するのではなく、「選ばれる理由」「他ブランドとの比較」「初回検診の流れ」をすべて画像（バナー・図解）で直感的に見せている（画像ファーストの構成）。</a:t>
            </a:r>
            <a:br>
              <a:rPr lang="ja-JP" altLang="en-US" sz="1100" dirty="0">
                <a:effectLst/>
              </a:rPr>
            </a:br>
            <a:r>
              <a:rPr lang="ja-JP" altLang="en-US" sz="1100" b="1" dirty="0">
                <a:effectLst/>
              </a:rPr>
              <a:t>不安を先回りする</a:t>
            </a:r>
            <a:r>
              <a:rPr lang="en-US" altLang="ja-JP" sz="1100" b="1" dirty="0">
                <a:effectLst/>
              </a:rPr>
              <a:t>FAQ</a:t>
            </a:r>
            <a:r>
              <a:rPr lang="ja-JP" altLang="en-US" sz="1100" b="1" dirty="0">
                <a:effectLst/>
              </a:rPr>
              <a:t>：</a:t>
            </a:r>
            <a:r>
              <a:rPr lang="ja-JP" altLang="en-US" sz="1100" dirty="0">
                <a:effectLst/>
              </a:rPr>
              <a:t> ページ下部にアコーディオン式（タップで開く）の</a:t>
            </a:r>
            <a:r>
              <a:rPr lang="en-US" altLang="ja-JP" sz="1100" dirty="0">
                <a:effectLst/>
              </a:rPr>
              <a:t>Q&amp;A</a:t>
            </a:r>
            <a:r>
              <a:rPr lang="ja-JP" altLang="en-US" sz="1100" dirty="0">
                <a:effectLst/>
              </a:rPr>
              <a:t>を設置し、ユーザーが抱く「痛い？」「いつ治る？」「支払い方法は？」といった疑問を漏れなく回収している。</a:t>
            </a:r>
            <a:br>
              <a:rPr lang="ja-JP" altLang="en-US" sz="1100" dirty="0">
                <a:effectLst/>
              </a:rPr>
            </a:br>
            <a:r>
              <a:rPr lang="ja-JP" altLang="en-US" sz="1100" b="1" dirty="0">
                <a:effectLst/>
              </a:rPr>
              <a:t>⑦ オファー・</a:t>
            </a:r>
            <a:r>
              <a:rPr lang="en-US" altLang="ja-JP" sz="1100" b="1" dirty="0">
                <a:effectLst/>
              </a:rPr>
              <a:t>CTA</a:t>
            </a:r>
            <a:br>
              <a:rPr lang="en-US" altLang="ja-JP" sz="1100" b="1" dirty="0">
                <a:effectLst/>
              </a:rPr>
            </a:br>
            <a:r>
              <a:rPr lang="ja-JP" altLang="en-US" sz="1100" b="1" dirty="0">
                <a:effectLst/>
              </a:rPr>
              <a:t>オファー内容：</a:t>
            </a:r>
            <a:r>
              <a:rPr lang="ja-JP" altLang="en-US" sz="1100" dirty="0">
                <a:effectLst/>
              </a:rPr>
              <a:t> 「初回検診への申し込み」。いきなり高額な契約をさせるのではなく、まずはクリニックへの来院を促すマイクロコンバージョン（小さなハードル）を設定。</a:t>
            </a:r>
            <a:br>
              <a:rPr lang="ja-JP" altLang="en-US" sz="1100" dirty="0">
                <a:effectLst/>
              </a:rPr>
            </a:br>
            <a:r>
              <a:rPr lang="en-US" altLang="ja-JP" sz="1100" b="1" dirty="0">
                <a:effectLst/>
              </a:rPr>
              <a:t>CTA</a:t>
            </a:r>
            <a:r>
              <a:rPr lang="ja-JP" altLang="en-US" sz="1100" b="1" dirty="0">
                <a:effectLst/>
              </a:rPr>
              <a:t>の配置：</a:t>
            </a:r>
            <a:r>
              <a:rPr lang="ja-JP" altLang="en-US" sz="1100" dirty="0">
                <a:effectLst/>
              </a:rPr>
              <a:t> 各エリアごと（渋谷、新宿、梅田など）にリンク先が分かれたボタンを配置。ユーザーが「自分の通える範囲に店舗があるか」を瞬時に確認でき、そのまま最短距離で予約ページへ飛べる導線設計。</a:t>
            </a:r>
            <a:br>
              <a:rPr lang="ja-JP" altLang="en-US" sz="1100" dirty="0">
                <a:effectLst/>
              </a:rPr>
            </a:br>
            <a:r>
              <a:rPr lang="ja-JP" altLang="en-US" sz="1100" b="1" dirty="0">
                <a:effectLst/>
              </a:rPr>
              <a:t>⑧ 配信先・シチュエーション</a:t>
            </a:r>
            <a:br>
              <a:rPr lang="ja-JP" altLang="en-US" sz="1100" b="1" dirty="0">
                <a:effectLst/>
              </a:rPr>
            </a:br>
            <a:r>
              <a:rPr lang="ja-JP" altLang="en-US" sz="1100" b="1" dirty="0">
                <a:effectLst/>
              </a:rPr>
              <a:t>想定される配信媒体：</a:t>
            </a:r>
            <a:r>
              <a:rPr lang="ja-JP" altLang="en-US" sz="1100" dirty="0">
                <a:effectLst/>
              </a:rPr>
              <a:t> </a:t>
            </a:r>
            <a:r>
              <a:rPr lang="en-US" altLang="ja-JP" sz="1100" dirty="0">
                <a:effectLst/>
              </a:rPr>
              <a:t>Meta</a:t>
            </a:r>
            <a:r>
              <a:rPr lang="ja-JP" altLang="en-US" sz="1100" dirty="0">
                <a:effectLst/>
              </a:rPr>
              <a:t>広告（</a:t>
            </a:r>
            <a:r>
              <a:rPr lang="en-US" altLang="ja-JP" sz="1100" dirty="0">
                <a:effectLst/>
              </a:rPr>
              <a:t>Instagram</a:t>
            </a:r>
            <a:r>
              <a:rPr lang="ja-JP" altLang="en-US" sz="1100" dirty="0">
                <a:effectLst/>
              </a:rPr>
              <a:t>・</a:t>
            </a:r>
            <a:r>
              <a:rPr lang="en-US" altLang="ja-JP" sz="1100" dirty="0">
                <a:effectLst/>
              </a:rPr>
              <a:t>Facebook</a:t>
            </a:r>
            <a:r>
              <a:rPr lang="ja-JP" altLang="en-US" sz="1100" dirty="0">
                <a:effectLst/>
              </a:rPr>
              <a:t>）、</a:t>
            </a:r>
            <a:r>
              <a:rPr lang="en-US" altLang="ja-JP" sz="1100" dirty="0">
                <a:effectLst/>
              </a:rPr>
              <a:t>TikTok</a:t>
            </a:r>
            <a:r>
              <a:rPr lang="ja-JP" altLang="en-US" sz="1100" dirty="0">
                <a:effectLst/>
              </a:rPr>
              <a:t>広告、</a:t>
            </a:r>
            <a:r>
              <a:rPr lang="en-US" altLang="ja-JP" sz="1100" dirty="0">
                <a:effectLst/>
              </a:rPr>
              <a:t>LINE</a:t>
            </a:r>
            <a:r>
              <a:rPr lang="ja-JP" altLang="en-US" sz="1100" dirty="0">
                <a:effectLst/>
              </a:rPr>
              <a:t>広告などの</a:t>
            </a:r>
            <a:r>
              <a:rPr lang="en-US" altLang="ja-JP" sz="1100" b="1" dirty="0">
                <a:effectLst/>
              </a:rPr>
              <a:t>SNS</a:t>
            </a:r>
            <a:r>
              <a:rPr lang="ja-JP" altLang="en-US" sz="1100" b="1" dirty="0">
                <a:effectLst/>
              </a:rPr>
              <a:t>運用型広告</a:t>
            </a:r>
            <a:r>
              <a:rPr lang="ja-JP" altLang="en-US" sz="1100" dirty="0">
                <a:effectLst/>
              </a:rPr>
              <a:t>。また、「マウスピース矯正」「前歯 矯正 安い」といったリスティング広告（検索連動型広告）。</a:t>
            </a:r>
            <a:br>
              <a:rPr lang="ja-JP" altLang="en-US" sz="1100" dirty="0">
                <a:effectLst/>
              </a:rPr>
            </a:br>
            <a:r>
              <a:rPr lang="ja-JP" altLang="en-US" sz="1100" b="1" dirty="0">
                <a:effectLst/>
              </a:rPr>
              <a:t>シチュエーション：</a:t>
            </a:r>
            <a:br>
              <a:rPr lang="ja-JP" altLang="en-US" sz="1100" dirty="0">
                <a:effectLst/>
              </a:rPr>
            </a:br>
            <a:r>
              <a:rPr lang="en-US" altLang="ja-JP" sz="1100" dirty="0">
                <a:effectLst/>
              </a:rPr>
              <a:t>Instagram</a:t>
            </a:r>
            <a:r>
              <a:rPr lang="ja-JP" altLang="en-US" sz="1100" dirty="0">
                <a:effectLst/>
              </a:rPr>
              <a:t>で友人の結婚式の写真などを見て「自分の笑顔（歯並び）」が気になった瞬間。</a:t>
            </a:r>
            <a:br>
              <a:rPr lang="ja-JP" altLang="en-US" sz="1100" dirty="0">
                <a:effectLst/>
              </a:rPr>
            </a:br>
            <a:r>
              <a:rPr lang="ja-JP" altLang="en-US" sz="1100" dirty="0">
                <a:effectLst/>
              </a:rPr>
              <a:t>新生活やイベントを前に、「安く早く治せる方法はないか」とスマホで検索している移動中や夜のリラックスタイム。</a:t>
            </a:r>
            <a:br>
              <a:rPr lang="ja-JP" altLang="en-US" sz="1100" dirty="0">
                <a:effectLst/>
              </a:rPr>
            </a:br>
            <a:r>
              <a:rPr lang="en-US" altLang="ja-JP" sz="1100" b="1" dirty="0">
                <a:effectLst/>
              </a:rPr>
              <a:t>【</a:t>
            </a:r>
            <a:r>
              <a:rPr lang="ja-JP" altLang="en-US" sz="1100" b="1" dirty="0">
                <a:effectLst/>
              </a:rPr>
              <a:t>総評</a:t>
            </a:r>
            <a:r>
              <a:rPr lang="en-US" altLang="ja-JP" sz="1100" b="1" dirty="0">
                <a:effectLst/>
              </a:rPr>
              <a:t>】</a:t>
            </a:r>
            <a:r>
              <a:rPr lang="ja-JP" altLang="en-US" sz="1100" dirty="0">
                <a:effectLst/>
              </a:rPr>
              <a:t> この</a:t>
            </a:r>
            <a:r>
              <a:rPr lang="en-US" altLang="ja-JP" sz="1100" dirty="0">
                <a:effectLst/>
              </a:rPr>
              <a:t>LP</a:t>
            </a:r>
            <a:r>
              <a:rPr lang="ja-JP" altLang="en-US" sz="1100" dirty="0">
                <a:effectLst/>
              </a:rPr>
              <a:t>は、歯列矯正という「高額・長期・苦痛」が伴う商材を、**「美容室やエステに通うような手軽さ」**にまでハードルを下げて見せることに特化しています。特に「ローンに通らない人向けのプラン」まで用意している点は、ターゲットの取りこぼしを防ぐ非常に強力なクロージング要素と言えます。</a:t>
            </a:r>
            <a:endParaRPr kumimoji="1" lang="ja-JP" altLang="en-US" sz="1100" dirty="0"/>
          </a:p>
        </p:txBody>
      </p:sp>
    </p:spTree>
    <p:extLst>
      <p:ext uri="{BB962C8B-B14F-4D97-AF65-F5344CB8AC3E}">
        <p14:creationId xmlns:p14="http://schemas.microsoft.com/office/powerpoint/2010/main" val="2515179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87B25532-A24E-7D77-DA88-7E259B963682}"/>
              </a:ext>
            </a:extLst>
          </p:cNvPr>
          <p:cNvSpPr txBox="1"/>
          <p:nvPr/>
        </p:nvSpPr>
        <p:spPr>
          <a:xfrm>
            <a:off x="0" y="86627"/>
            <a:ext cx="12192000" cy="6463308"/>
          </a:xfrm>
          <a:prstGeom prst="rect">
            <a:avLst/>
          </a:prstGeom>
          <a:noFill/>
        </p:spPr>
        <p:txBody>
          <a:bodyPr wrap="square" rtlCol="0">
            <a:spAutoFit/>
          </a:bodyPr>
          <a:lstStyle/>
          <a:p>
            <a:r>
              <a:rPr lang="ja-JP" altLang="en-US" sz="1200" dirty="0"/>
              <a:t>この情報を踏まえ、この</a:t>
            </a:r>
            <a:r>
              <a:rPr lang="en-US" altLang="ja-JP" sz="1200" dirty="0"/>
              <a:t>LP</a:t>
            </a:r>
            <a:r>
              <a:rPr lang="ja-JP" altLang="en-US" sz="1200" dirty="0"/>
              <a:t>のバナーを作成したいんやけど、どの情報を入れたらいいと思う？</a:t>
            </a:r>
          </a:p>
          <a:p>
            <a:r>
              <a:rPr lang="ja-JP" altLang="en-US" sz="1200" dirty="0"/>
              <a:t>イメージとしては、</a:t>
            </a:r>
            <a:r>
              <a:rPr lang="en-US" altLang="ja-JP" sz="1200" dirty="0"/>
              <a:t>20</a:t>
            </a:r>
            <a:r>
              <a:rPr lang="ja-JP" altLang="en-US" sz="1200" dirty="0"/>
              <a:t>代前半の女の人が歯を出しながら、なにか吹っ切れたように微笑んでいて、いくつか文字を入れれたらいいなという構想がある。</a:t>
            </a:r>
          </a:p>
          <a:p>
            <a:r>
              <a:rPr lang="ja-JP" altLang="en-US" sz="1200" dirty="0"/>
              <a:t>サイズは縦長かな、</a:t>
            </a:r>
            <a:r>
              <a:rPr lang="en-US" altLang="ja-JP" sz="1200" dirty="0"/>
              <a:t>1080✕1920</a:t>
            </a:r>
            <a:r>
              <a:rPr lang="ja-JP" altLang="en-US" sz="1200" dirty="0"/>
              <a:t>がいいかな</a:t>
            </a:r>
            <a:endParaRPr lang="en-US" altLang="ja-JP" sz="1200" dirty="0"/>
          </a:p>
          <a:p>
            <a:endParaRPr lang="en-US" altLang="ja-JP" sz="1200" dirty="0"/>
          </a:p>
          <a:p>
            <a:r>
              <a:rPr lang="ja-JP" altLang="en-US" sz="1200" dirty="0"/>
              <a:t>それは素晴らしい構想ですね！ 前回の</a:t>
            </a:r>
            <a:r>
              <a:rPr lang="en-US" altLang="ja-JP" sz="1200" dirty="0"/>
              <a:t>LP</a:t>
            </a:r>
            <a:r>
              <a:rPr lang="ja-JP" altLang="en-US" sz="1200" dirty="0"/>
              <a:t>分析（ターゲット：</a:t>
            </a:r>
            <a:r>
              <a:rPr lang="en-US" altLang="ja-JP" sz="1200" dirty="0"/>
              <a:t>20</a:t>
            </a:r>
            <a:r>
              <a:rPr lang="ja-JP" altLang="en-US" sz="1200" dirty="0"/>
              <a:t>代、悩み：高い・目立つ・痛い、ベネフィット：安さ・マウスピース・早さ）を踏まえた「吹っ切れた微笑みの女性」というイメージは、</a:t>
            </a:r>
            <a:r>
              <a:rPr lang="en-US" altLang="ja-JP" sz="1200" dirty="0"/>
              <a:t>Meta</a:t>
            </a:r>
            <a:r>
              <a:rPr lang="ja-JP" altLang="en-US" sz="1200" dirty="0"/>
              <a:t>広告（</a:t>
            </a:r>
            <a:r>
              <a:rPr lang="en-US" altLang="ja-JP" sz="1200" dirty="0"/>
              <a:t>Instagram</a:t>
            </a:r>
            <a:r>
              <a:rPr lang="ja-JP" altLang="en-US" sz="1200" dirty="0"/>
              <a:t>ストーリーズや</a:t>
            </a:r>
            <a:r>
              <a:rPr lang="en-US" altLang="ja-JP" sz="1200" dirty="0"/>
              <a:t>TikTok</a:t>
            </a:r>
            <a:r>
              <a:rPr lang="ja-JP" altLang="en-US" sz="1200" dirty="0"/>
              <a:t>）に非常に適しています。</a:t>
            </a:r>
          </a:p>
          <a:p>
            <a:r>
              <a:rPr lang="en-US" altLang="ja-JP" sz="1200" dirty="0"/>
              <a:t>SNS</a:t>
            </a:r>
            <a:r>
              <a:rPr lang="ja-JP" altLang="en-US" sz="1200" dirty="0"/>
              <a:t>では、</a:t>
            </a:r>
            <a:r>
              <a:rPr lang="en-US" altLang="ja-JP" sz="1200" b="1" dirty="0"/>
              <a:t>0.5</a:t>
            </a:r>
            <a:r>
              <a:rPr lang="ja-JP" altLang="en-US" sz="1200" b="1" dirty="0"/>
              <a:t>秒で注意を引き、</a:t>
            </a:r>
            <a:r>
              <a:rPr lang="en-US" altLang="ja-JP" sz="1200" b="1" dirty="0"/>
              <a:t>1〜2</a:t>
            </a:r>
            <a:r>
              <a:rPr lang="ja-JP" altLang="en-US" sz="1200" b="1" dirty="0"/>
              <a:t>秒でメッセージを伝え、</a:t>
            </a:r>
            <a:r>
              <a:rPr lang="en-US" altLang="ja-JP" sz="1200" b="1" dirty="0"/>
              <a:t>3</a:t>
            </a:r>
            <a:r>
              <a:rPr lang="ja-JP" altLang="en-US" sz="1200" b="1" dirty="0"/>
              <a:t>秒以内にアクションを促す</a:t>
            </a:r>
            <a:r>
              <a:rPr lang="ja-JP" altLang="en-US" sz="1200" dirty="0"/>
              <a:t>必要があります。縦長サイズ（</a:t>
            </a:r>
            <a:r>
              <a:rPr lang="en-US" altLang="ja-JP" sz="1200" dirty="0"/>
              <a:t>1080×1920</a:t>
            </a:r>
            <a:r>
              <a:rPr lang="ja-JP" altLang="en-US" sz="1200" dirty="0"/>
              <a:t>）を最大限に活かし、要素を厳選して配置することが成功の鍵です。</a:t>
            </a:r>
          </a:p>
          <a:p>
            <a:r>
              <a:rPr lang="ja-JP" altLang="en-US" sz="1200" dirty="0"/>
              <a:t>そのイメージを基に、バナー（または動画の静止画）に入れるべき情報とその配置案を提案します。</a:t>
            </a:r>
          </a:p>
          <a:p>
            <a:br>
              <a:rPr lang="ja-JP" altLang="en-US" sz="1200" dirty="0"/>
            </a:br>
            <a:r>
              <a:rPr lang="ja-JP" altLang="en-US" sz="1200" b="1" dirty="0"/>
              <a:t>バナーに入れるべき「</a:t>
            </a:r>
            <a:r>
              <a:rPr lang="en-US" altLang="ja-JP" sz="1200" b="1" dirty="0"/>
              <a:t>4</a:t>
            </a:r>
            <a:r>
              <a:rPr lang="ja-JP" altLang="en-US" sz="1200" b="1" dirty="0"/>
              <a:t>つの要素」と配置案（</a:t>
            </a:r>
            <a:r>
              <a:rPr lang="en-US" altLang="ja-JP" sz="1200" b="1" dirty="0"/>
              <a:t>1080x1920</a:t>
            </a:r>
            <a:r>
              <a:rPr lang="ja-JP" altLang="en-US" sz="1200" b="1" dirty="0"/>
              <a:t>）</a:t>
            </a:r>
          </a:p>
          <a:p>
            <a:r>
              <a:rPr lang="en-US" altLang="ja-JP" sz="1200" b="1" dirty="0"/>
              <a:t>1. </a:t>
            </a:r>
            <a:r>
              <a:rPr lang="ja-JP" altLang="en-US" sz="1200" b="1" dirty="0"/>
              <a:t>フック（一番上に配置する、ターゲットを刺す言葉）</a:t>
            </a:r>
          </a:p>
          <a:p>
            <a:r>
              <a:rPr lang="ja-JP" altLang="en-US" sz="1200" dirty="0"/>
              <a:t>女性の「吹っ切れた微笑み」の理由を、</a:t>
            </a:r>
            <a:r>
              <a:rPr lang="en-US" altLang="ja-JP" sz="1200" dirty="0"/>
              <a:t>1</a:t>
            </a:r>
            <a:r>
              <a:rPr lang="ja-JP" altLang="en-US" sz="1200" dirty="0"/>
              <a:t>秒で伝える言葉です。</a:t>
            </a:r>
            <a:r>
              <a:rPr lang="en-US" altLang="ja-JP" sz="1200" dirty="0"/>
              <a:t>LP</a:t>
            </a:r>
            <a:r>
              <a:rPr lang="ja-JP" altLang="en-US" sz="1200" dirty="0"/>
              <a:t>のベネフィットから、</a:t>
            </a:r>
            <a:r>
              <a:rPr lang="en-US" altLang="ja-JP" sz="1200" dirty="0"/>
              <a:t>20</a:t>
            </a:r>
            <a:r>
              <a:rPr lang="ja-JP" altLang="en-US" sz="1200" dirty="0"/>
              <a:t>代女性に最も刺さる「安さ」「目立たなさ」を強調します。</a:t>
            </a:r>
          </a:p>
          <a:p>
            <a:r>
              <a:rPr lang="ja-JP" altLang="en-US" sz="1200" b="1" dirty="0"/>
              <a:t>案</a:t>
            </a:r>
            <a:r>
              <a:rPr lang="en-US" altLang="ja-JP" sz="1200" b="1" dirty="0"/>
              <a:t>A</a:t>
            </a:r>
            <a:r>
              <a:rPr lang="ja-JP" altLang="en-US" sz="1200" b="1" dirty="0"/>
              <a:t>：コスパ重視（最も吹っ切れる要素）</a:t>
            </a:r>
            <a:endParaRPr lang="ja-JP" altLang="en-US" sz="1200" dirty="0"/>
          </a:p>
          <a:p>
            <a:r>
              <a:rPr lang="ja-JP" altLang="en-US" sz="1200" b="1" dirty="0"/>
              <a:t>「この安さで、目立たない？」</a:t>
            </a:r>
            <a:r>
              <a:rPr lang="ja-JP" altLang="en-US" sz="1200" dirty="0"/>
              <a:t> </a:t>
            </a:r>
            <a:r>
              <a:rPr lang="ja-JP" altLang="en-US" sz="1200" b="1" dirty="0"/>
              <a:t>「歯並びの悩み、これなら吹っ切れる。」</a:t>
            </a:r>
            <a:endParaRPr lang="ja-JP" altLang="en-US" sz="1200" dirty="0"/>
          </a:p>
          <a:p>
            <a:r>
              <a:rPr lang="ja-JP" altLang="en-US" sz="1200" b="1" dirty="0"/>
              <a:t>案</a:t>
            </a:r>
            <a:r>
              <a:rPr lang="en-US" altLang="ja-JP" sz="1200" b="1" dirty="0"/>
              <a:t>B</a:t>
            </a:r>
            <a:r>
              <a:rPr lang="ja-JP" altLang="en-US" sz="1200" b="1" dirty="0"/>
              <a:t>：他社否定・新常識（吹っ切れた感を強調）</a:t>
            </a:r>
            <a:endParaRPr lang="ja-JP" altLang="en-US" sz="1200" dirty="0"/>
          </a:p>
          <a:p>
            <a:r>
              <a:rPr lang="ja-JP" altLang="en-US" sz="1200" b="1" dirty="0"/>
              <a:t>「矯正の</a:t>
            </a:r>
            <a:r>
              <a:rPr lang="en-US" altLang="ja-JP" sz="1200" b="1" dirty="0"/>
              <a:t>『</a:t>
            </a:r>
            <a:r>
              <a:rPr lang="ja-JP" altLang="en-US" sz="1200" b="1" dirty="0"/>
              <a:t>高い・痛い・目立つ</a:t>
            </a:r>
            <a:r>
              <a:rPr lang="en-US" altLang="ja-JP" sz="1200" b="1" dirty="0"/>
              <a:t>』</a:t>
            </a:r>
            <a:r>
              <a:rPr lang="ja-JP" altLang="en-US" sz="1200" b="1" dirty="0"/>
              <a:t>、もうやめた。」</a:t>
            </a:r>
            <a:endParaRPr lang="ja-JP" altLang="en-US" sz="1200" dirty="0"/>
          </a:p>
          <a:p>
            <a:r>
              <a:rPr lang="ja-JP" altLang="en-US" sz="1200" b="1" dirty="0"/>
              <a:t>案</a:t>
            </a:r>
            <a:r>
              <a:rPr lang="en-US" altLang="ja-JP" sz="1200" b="1" dirty="0"/>
              <a:t>C</a:t>
            </a:r>
            <a:r>
              <a:rPr lang="ja-JP" altLang="en-US" sz="1200" b="1" dirty="0"/>
              <a:t>：ローン不安の解消（</a:t>
            </a:r>
            <a:r>
              <a:rPr lang="en-US" altLang="ja-JP" sz="1200" b="1" dirty="0"/>
              <a:t>LP</a:t>
            </a:r>
            <a:r>
              <a:rPr lang="ja-JP" altLang="en-US" sz="1200" b="1" dirty="0"/>
              <a:t>の強力な強み）</a:t>
            </a:r>
            <a:endParaRPr lang="ja-JP" altLang="en-US" sz="1200" dirty="0"/>
          </a:p>
          <a:p>
            <a:r>
              <a:rPr lang="ja-JP" altLang="en-US" sz="1200" b="1" dirty="0"/>
              <a:t>「ローンが通らなくても、矯正諦めなくていい。」</a:t>
            </a:r>
            <a:endParaRPr lang="ja-JP" altLang="en-US" sz="1200" dirty="0"/>
          </a:p>
          <a:p>
            <a:endParaRPr lang="ja-JP" altLang="en-US" sz="1200" dirty="0"/>
          </a:p>
          <a:p>
            <a:r>
              <a:rPr lang="en-US" altLang="ja-JP" sz="1200" b="1" dirty="0"/>
              <a:t>2. </a:t>
            </a:r>
            <a:r>
              <a:rPr lang="ja-JP" altLang="en-US" sz="1200" b="1" dirty="0"/>
              <a:t>ビジュアル（中央に配置、ユーザーの構想通り）</a:t>
            </a:r>
          </a:p>
          <a:p>
            <a:r>
              <a:rPr lang="ja-JP" altLang="en-US" sz="1200" b="1" dirty="0"/>
              <a:t>人物：</a:t>
            </a:r>
            <a:r>
              <a:rPr lang="ja-JP" altLang="en-US" sz="1200" dirty="0"/>
              <a:t> </a:t>
            </a:r>
            <a:r>
              <a:rPr lang="en-US" altLang="ja-JP" sz="1200" dirty="0"/>
              <a:t>20</a:t>
            </a:r>
            <a:r>
              <a:rPr lang="ja-JP" altLang="en-US" sz="1200" dirty="0"/>
              <a:t>代前半女性。</a:t>
            </a:r>
          </a:p>
          <a:p>
            <a:r>
              <a:rPr lang="ja-JP" altLang="en-US" sz="1200" b="1" dirty="0"/>
              <a:t>ポーズ・表情：</a:t>
            </a:r>
            <a:r>
              <a:rPr lang="ja-JP" altLang="en-US" sz="1200" dirty="0"/>
              <a:t> 歯を出しながら、何かから解放されたような、明るく、吹っ切れた吹っ切れた微笑み。</a:t>
            </a:r>
          </a:p>
          <a:p>
            <a:r>
              <a:rPr lang="ja-JP" altLang="en-US" sz="1200" b="1" dirty="0"/>
              <a:t>重要なポイント：</a:t>
            </a:r>
            <a:r>
              <a:rPr lang="ja-JP" altLang="en-US" sz="1200" dirty="0"/>
              <a:t> * **「マウスピースをつけている」**ことがギリギリわかる（または「つけているのにバレない」）くらいのリアリティ。</a:t>
            </a:r>
          </a:p>
          <a:p>
            <a:pPr lvl="1"/>
            <a:r>
              <a:rPr lang="ja-JP" altLang="en-US" sz="1200" dirty="0"/>
              <a:t>背景は明るく、清潔感のある場所（エステ、カフェ、白壁など）で。</a:t>
            </a:r>
          </a:p>
          <a:p>
            <a:r>
              <a:rPr lang="en-US" altLang="ja-JP" sz="1200" b="1" dirty="0"/>
              <a:t>3. </a:t>
            </a:r>
            <a:r>
              <a:rPr lang="ja-JP" altLang="en-US" sz="1200" b="1" dirty="0"/>
              <a:t>サブメッセージ（人物の近く、または下部に配置する「証拠」）</a:t>
            </a:r>
          </a:p>
          <a:p>
            <a:r>
              <a:rPr lang="ja-JP" altLang="en-US" sz="1200" dirty="0"/>
              <a:t>フックで引いた注意を、具体的な事実に変えます。</a:t>
            </a:r>
            <a:r>
              <a:rPr lang="en-US" altLang="ja-JP" sz="1200" dirty="0"/>
              <a:t>LP</a:t>
            </a:r>
            <a:r>
              <a:rPr lang="ja-JP" altLang="en-US" sz="1200" dirty="0"/>
              <a:t>の強みを短い単語で列挙します。</a:t>
            </a:r>
          </a:p>
          <a:p>
            <a:r>
              <a:rPr lang="ja-JP" altLang="en-US" sz="1200" b="1" dirty="0"/>
              <a:t>配置イメージ：</a:t>
            </a:r>
            <a:r>
              <a:rPr lang="ja-JP" altLang="en-US" sz="1200" dirty="0"/>
              <a:t> 人物の周りに浮かせるか、人物の下にアイコンで。</a:t>
            </a:r>
          </a:p>
          <a:p>
            <a:r>
              <a:rPr lang="ja-JP" altLang="en-US" sz="1200" b="1" dirty="0"/>
              <a:t>文字（アイコン化）：</a:t>
            </a:r>
            <a:endParaRPr lang="ja-JP" altLang="en-US" sz="1200" dirty="0"/>
          </a:p>
          <a:p>
            <a:pPr lvl="1"/>
            <a:r>
              <a:rPr lang="ja-JP" altLang="en-US" sz="1200" dirty="0"/>
              <a:t>「透明マウスピース」</a:t>
            </a:r>
          </a:p>
          <a:p>
            <a:pPr lvl="1"/>
            <a:r>
              <a:rPr lang="ja-JP" altLang="en-US" sz="1200" dirty="0"/>
              <a:t>「初回</a:t>
            </a:r>
            <a:r>
              <a:rPr lang="en-US" altLang="ja-JP" sz="1200" dirty="0"/>
              <a:t>2.2</a:t>
            </a:r>
            <a:r>
              <a:rPr lang="ja-JP" altLang="en-US" sz="1200" dirty="0"/>
              <a:t>万円</a:t>
            </a:r>
            <a:r>
              <a:rPr lang="en-US" altLang="ja-JP" sz="1200" dirty="0"/>
              <a:t>〜</a:t>
            </a:r>
            <a:r>
              <a:rPr lang="ja-JP" altLang="en-US" sz="1200" dirty="0"/>
              <a:t>」（</a:t>
            </a:r>
            <a:r>
              <a:rPr lang="en-US" altLang="ja-JP" sz="1200" dirty="0"/>
              <a:t>※</a:t>
            </a:r>
            <a:r>
              <a:rPr lang="ja-JP" altLang="en-US" sz="1200" dirty="0"/>
              <a:t>金額は最新情報に要確認）</a:t>
            </a:r>
          </a:p>
          <a:p>
            <a:pPr lvl="1"/>
            <a:r>
              <a:rPr lang="ja-JP" altLang="en-US" sz="1200" dirty="0"/>
              <a:t>「最短</a:t>
            </a:r>
            <a:r>
              <a:rPr lang="en-US" altLang="ja-JP" sz="1200" dirty="0"/>
              <a:t>3</a:t>
            </a:r>
            <a:r>
              <a:rPr lang="ja-JP" altLang="en-US" sz="1200" dirty="0"/>
              <a:t>ヶ月</a:t>
            </a:r>
            <a:r>
              <a:rPr lang="en-US" altLang="ja-JP" sz="1200" dirty="0"/>
              <a:t>〜</a:t>
            </a:r>
            <a:r>
              <a:rPr lang="ja-JP" altLang="en-US" sz="1200" dirty="0"/>
              <a:t>」</a:t>
            </a:r>
          </a:p>
          <a:p>
            <a:pPr lvl="1"/>
            <a:r>
              <a:rPr lang="ja-JP" altLang="en-US" sz="1200" dirty="0"/>
              <a:t>「取り外し</a:t>
            </a:r>
            <a:r>
              <a:rPr lang="en-US" altLang="ja-JP" sz="1200" dirty="0"/>
              <a:t>OK</a:t>
            </a:r>
            <a:r>
              <a:rPr lang="ja-JP" altLang="en-US" sz="1200" dirty="0"/>
              <a:t>」</a:t>
            </a:r>
          </a:p>
          <a:p>
            <a:endParaRPr kumimoji="1" lang="ja-JP" altLang="en-US" dirty="0"/>
          </a:p>
        </p:txBody>
      </p:sp>
    </p:spTree>
    <p:extLst>
      <p:ext uri="{BB962C8B-B14F-4D97-AF65-F5344CB8AC3E}">
        <p14:creationId xmlns:p14="http://schemas.microsoft.com/office/powerpoint/2010/main" val="2261549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6E1A2C-1361-6577-FA7C-6CB28F21FAD4}"/>
              </a:ext>
            </a:extLst>
          </p:cNvPr>
          <p:cNvSpPr>
            <a:spLocks noGrp="1"/>
          </p:cNvSpPr>
          <p:nvPr>
            <p:ph type="title"/>
          </p:nvPr>
        </p:nvSpPr>
        <p:spPr>
          <a:xfrm>
            <a:off x="838200" y="2636687"/>
            <a:ext cx="10515600" cy="1325563"/>
          </a:xfrm>
        </p:spPr>
        <p:txBody>
          <a:bodyPr>
            <a:noAutofit/>
          </a:bodyPr>
          <a:lstStyle/>
          <a:p>
            <a:r>
              <a:rPr lang="en-US" altLang="ja-JP" sz="1200" b="1" dirty="0"/>
              <a:t>4. CTA</a:t>
            </a:r>
            <a:r>
              <a:rPr lang="ja-JP" altLang="en-US" sz="1200" b="1" dirty="0"/>
              <a:t>・オファー（一番下に配置、アクションを促す）</a:t>
            </a:r>
            <a:br>
              <a:rPr lang="ja-JP" altLang="en-US" sz="1200" b="1" dirty="0"/>
            </a:br>
            <a:r>
              <a:rPr lang="ja-JP" altLang="en-US" sz="1200" dirty="0"/>
              <a:t>ユーザーが次に何をすべきかを、明確に伝えます。</a:t>
            </a:r>
            <a:br>
              <a:rPr lang="ja-JP" altLang="en-US" sz="1200" dirty="0"/>
            </a:br>
            <a:r>
              <a:rPr lang="ja-JP" altLang="en-US" sz="1200" b="1" dirty="0"/>
              <a:t>オファー：</a:t>
            </a:r>
            <a:r>
              <a:rPr lang="ja-JP" altLang="en-US" sz="1200" dirty="0"/>
              <a:t> 「初回検診」</a:t>
            </a:r>
            <a:br>
              <a:rPr lang="ja-JP" altLang="en-US" sz="1200" dirty="0"/>
            </a:br>
            <a:r>
              <a:rPr lang="ja-JP" altLang="en-US" sz="1200" b="1" dirty="0"/>
              <a:t>文字：</a:t>
            </a:r>
            <a:br>
              <a:rPr lang="ja-JP" altLang="en-US" sz="1200" dirty="0"/>
            </a:br>
            <a:r>
              <a:rPr lang="ja-JP" altLang="en-US" sz="1200" b="1" dirty="0"/>
              <a:t>「まずは初回検診を予約！」</a:t>
            </a:r>
            <a:br>
              <a:rPr lang="ja-JP" altLang="en-US" sz="1200" dirty="0"/>
            </a:br>
            <a:r>
              <a:rPr lang="ja-JP" altLang="en-US" sz="1200" dirty="0"/>
              <a:t>「全国提携クリニックで予約受付中」</a:t>
            </a:r>
            <a:br>
              <a:rPr lang="ja-JP" altLang="en-US" sz="1200" dirty="0"/>
            </a:br>
            <a:r>
              <a:rPr lang="ja-JP" altLang="en-US" sz="1200" dirty="0"/>
              <a:t>（ボタンのデザインで）「予約する（＞）」</a:t>
            </a:r>
            <a:br>
              <a:rPr lang="ja-JP" altLang="en-US" sz="1200" dirty="0"/>
            </a:br>
            <a:br>
              <a:rPr lang="ja-JP" altLang="en-US" sz="1200" dirty="0"/>
            </a:br>
            <a:br>
              <a:rPr lang="ja-JP" altLang="en-US" sz="1200" dirty="0"/>
            </a:br>
            <a:r>
              <a:rPr lang="ja-JP" altLang="en-US" sz="1200" b="1" dirty="0"/>
              <a:t>具体的な構成イメージ（</a:t>
            </a:r>
            <a:r>
              <a:rPr lang="en-US" altLang="ja-JP" sz="1200" b="1" dirty="0"/>
              <a:t>3</a:t>
            </a:r>
            <a:r>
              <a:rPr lang="ja-JP" altLang="en-US" sz="1200" b="1" dirty="0"/>
              <a:t>つのパターン）</a:t>
            </a:r>
            <a:br>
              <a:rPr lang="ja-JP" altLang="en-US" sz="1200" b="1" dirty="0"/>
            </a:br>
            <a:r>
              <a:rPr lang="ja-JP" altLang="en-US" sz="1200" dirty="0"/>
              <a:t>ユーザーの「吹っ切れた微笑み」を、異なる角度から解釈した</a:t>
            </a:r>
            <a:r>
              <a:rPr lang="en-US" altLang="ja-JP" sz="1200" dirty="0"/>
              <a:t>3</a:t>
            </a:r>
            <a:r>
              <a:rPr lang="ja-JP" altLang="en-US" sz="1200" dirty="0"/>
              <a:t>つの構成案です。</a:t>
            </a:r>
            <a:br>
              <a:rPr lang="ja-JP" altLang="en-US" sz="1200" dirty="0"/>
            </a:br>
            <a:r>
              <a:rPr lang="ja-JP" altLang="en-US" sz="1200" b="1" dirty="0"/>
              <a:t>パターン</a:t>
            </a:r>
            <a:r>
              <a:rPr lang="en-US" altLang="ja-JP" sz="1200" b="1" dirty="0"/>
              <a:t>A</a:t>
            </a:r>
            <a:r>
              <a:rPr lang="ja-JP" altLang="en-US" sz="1200" b="1" dirty="0"/>
              <a:t>：</a:t>
            </a:r>
            <a:r>
              <a:rPr lang="en-US" altLang="ja-JP" sz="1200" b="1" dirty="0"/>
              <a:t>【</a:t>
            </a:r>
            <a:r>
              <a:rPr lang="ja-JP" altLang="en-US" sz="1200" b="1" dirty="0"/>
              <a:t>コスパ・手軽さ</a:t>
            </a:r>
            <a:r>
              <a:rPr lang="en-US" altLang="ja-JP" sz="1200" b="1" dirty="0"/>
              <a:t>】</a:t>
            </a:r>
            <a:r>
              <a:rPr lang="ja-JP" altLang="en-US" sz="1200" b="1" dirty="0"/>
              <a:t>重視（王道）</a:t>
            </a:r>
            <a:br>
              <a:rPr lang="ja-JP" altLang="en-US" sz="1200" b="1" dirty="0"/>
            </a:br>
            <a:r>
              <a:rPr lang="ja-JP" altLang="en-US" sz="1200" dirty="0"/>
              <a:t>最も多くの</a:t>
            </a:r>
            <a:r>
              <a:rPr lang="en-US" altLang="ja-JP" sz="1200" dirty="0"/>
              <a:t>20</a:t>
            </a:r>
            <a:r>
              <a:rPr lang="ja-JP" altLang="en-US" sz="1200" dirty="0"/>
              <a:t>代女性に刺さる、「これなら私にもできそう」と思わせる構成。</a:t>
            </a:r>
            <a:br>
              <a:rPr lang="ja-JP" altLang="en-US" sz="1200" dirty="0"/>
            </a:br>
            <a:r>
              <a:rPr lang="ja-JP" altLang="en-US" sz="1200" b="1" dirty="0"/>
              <a:t>上部文字：</a:t>
            </a:r>
            <a:r>
              <a:rPr lang="ja-JP" altLang="en-US" sz="1200" dirty="0"/>
              <a:t> 「矯正の常識、吹っ切った！」</a:t>
            </a:r>
            <a:br>
              <a:rPr lang="ja-JP" altLang="en-US" sz="1200" dirty="0"/>
            </a:br>
            <a:r>
              <a:rPr lang="ja-JP" altLang="en-US" sz="1200" b="1" dirty="0"/>
              <a:t>中央文字（女性の横）：</a:t>
            </a:r>
            <a:r>
              <a:rPr lang="ja-JP" altLang="en-US" sz="1200" dirty="0"/>
              <a:t> 「透明」で「安い」マウスピース</a:t>
            </a:r>
            <a:br>
              <a:rPr lang="ja-JP" altLang="en-US" sz="1200" dirty="0"/>
            </a:br>
            <a:r>
              <a:rPr lang="ja-JP" altLang="en-US" sz="1200" b="1" dirty="0"/>
              <a:t>下部文字：</a:t>
            </a:r>
            <a:r>
              <a:rPr lang="ja-JP" altLang="en-US" sz="1200" dirty="0"/>
              <a:t> 初回</a:t>
            </a:r>
            <a:r>
              <a:rPr lang="en-US" altLang="ja-JP" sz="1200" dirty="0"/>
              <a:t>2.2</a:t>
            </a:r>
            <a:r>
              <a:rPr lang="ja-JP" altLang="en-US" sz="1200" dirty="0"/>
              <a:t>万円</a:t>
            </a:r>
            <a:r>
              <a:rPr lang="en-US" altLang="ja-JP" sz="1200" dirty="0"/>
              <a:t>〜</a:t>
            </a:r>
            <a:r>
              <a:rPr lang="ja-JP" altLang="en-US" sz="1200" dirty="0"/>
              <a:t>！最短</a:t>
            </a:r>
            <a:r>
              <a:rPr lang="en-US" altLang="ja-JP" sz="1200" dirty="0"/>
              <a:t>3</a:t>
            </a:r>
            <a:r>
              <a:rPr lang="ja-JP" altLang="en-US" sz="1200" dirty="0"/>
              <a:t>ヶ月！取り外し</a:t>
            </a:r>
            <a:r>
              <a:rPr lang="en-US" altLang="ja-JP" sz="1200" dirty="0"/>
              <a:t>OK</a:t>
            </a:r>
            <a:r>
              <a:rPr lang="ja-JP" altLang="en-US" sz="1200" dirty="0"/>
              <a:t>。</a:t>
            </a:r>
            <a:br>
              <a:rPr lang="ja-JP" altLang="en-US" sz="1200" dirty="0"/>
            </a:br>
            <a:r>
              <a:rPr lang="en-US" altLang="ja-JP" sz="1200" b="1" dirty="0"/>
              <a:t>CTA</a:t>
            </a:r>
            <a:r>
              <a:rPr lang="ja-JP" altLang="en-US" sz="1200" b="1" dirty="0"/>
              <a:t>ボタン：</a:t>
            </a:r>
            <a:r>
              <a:rPr lang="ja-JP" altLang="en-US" sz="1200" dirty="0"/>
              <a:t> 「初回検診に予約する」</a:t>
            </a:r>
            <a:br>
              <a:rPr lang="ja-JP" altLang="en-US" sz="1200" dirty="0"/>
            </a:br>
            <a:r>
              <a:rPr lang="ja-JP" altLang="en-US" sz="1200" b="1" dirty="0"/>
              <a:t>パターン</a:t>
            </a:r>
            <a:r>
              <a:rPr lang="en-US" altLang="ja-JP" sz="1200" b="1" dirty="0"/>
              <a:t>B</a:t>
            </a:r>
            <a:r>
              <a:rPr lang="ja-JP" altLang="en-US" sz="1200" b="1" dirty="0"/>
              <a:t>：</a:t>
            </a:r>
            <a:r>
              <a:rPr lang="en-US" altLang="ja-JP" sz="1200" b="1" dirty="0"/>
              <a:t>【</a:t>
            </a:r>
            <a:r>
              <a:rPr lang="ja-JP" altLang="en-US" sz="1200" b="1" dirty="0"/>
              <a:t>コンプレックス解消・エモーショナル</a:t>
            </a:r>
            <a:r>
              <a:rPr lang="en-US" altLang="ja-JP" sz="1200" b="1" dirty="0"/>
              <a:t>】</a:t>
            </a:r>
            <a:r>
              <a:rPr lang="ja-JP" altLang="en-US" sz="1200" b="1" dirty="0"/>
              <a:t>重視</a:t>
            </a:r>
            <a:br>
              <a:rPr lang="ja-JP" altLang="en-US" sz="1200" b="1" dirty="0"/>
            </a:br>
            <a:r>
              <a:rPr lang="ja-JP" altLang="en-US" sz="1200" dirty="0"/>
              <a:t>笑顔になれる喜びを強調し、共感を呼ぶ構成。</a:t>
            </a:r>
            <a:br>
              <a:rPr lang="ja-JP" altLang="en-US" sz="1200" dirty="0"/>
            </a:br>
            <a:r>
              <a:rPr lang="ja-JP" altLang="en-US" sz="1200" b="1" dirty="0"/>
              <a:t>上部文字：</a:t>
            </a:r>
            <a:r>
              <a:rPr lang="ja-JP" altLang="en-US" sz="1200" dirty="0"/>
              <a:t> 「思いっきり笑いたい！」</a:t>
            </a:r>
            <a:br>
              <a:rPr lang="ja-JP" altLang="en-US" sz="1200" dirty="0"/>
            </a:br>
            <a:r>
              <a:rPr lang="ja-JP" altLang="en-US" sz="1200" b="1" dirty="0"/>
              <a:t>中央文字：</a:t>
            </a:r>
            <a:r>
              <a:rPr lang="ja-JP" altLang="en-US" sz="1200" dirty="0"/>
              <a:t> 女性が透明なマウスピースを指差し、吹っ切れた笑顔。</a:t>
            </a:r>
            <a:br>
              <a:rPr lang="ja-JP" altLang="en-US" sz="1200" dirty="0"/>
            </a:br>
            <a:r>
              <a:rPr lang="ja-JP" altLang="en-US" sz="1200" b="1" dirty="0"/>
              <a:t>下部文字：</a:t>
            </a:r>
            <a:r>
              <a:rPr lang="ja-JP" altLang="en-US" sz="1200" dirty="0"/>
              <a:t> 目立たずに、キレイになれる。結婚式や就活にも。</a:t>
            </a:r>
            <a:br>
              <a:rPr lang="ja-JP" altLang="en-US" sz="1200" dirty="0"/>
            </a:br>
            <a:r>
              <a:rPr lang="en-US" altLang="ja-JP" sz="1200" b="1" dirty="0"/>
              <a:t>CTA</a:t>
            </a:r>
            <a:r>
              <a:rPr lang="ja-JP" altLang="en-US" sz="1200" b="1" dirty="0"/>
              <a:t>ボタン：</a:t>
            </a:r>
            <a:r>
              <a:rPr lang="ja-JP" altLang="en-US" sz="1200" dirty="0"/>
              <a:t> 「今すぐ自分に合う店舗を探す」</a:t>
            </a:r>
            <a:br>
              <a:rPr lang="ja-JP" altLang="en-US" sz="1200" dirty="0"/>
            </a:br>
            <a:r>
              <a:rPr lang="ja-JP" altLang="en-US" sz="1200" b="1" dirty="0"/>
              <a:t>パターン</a:t>
            </a:r>
            <a:r>
              <a:rPr lang="en-US" altLang="ja-JP" sz="1200" b="1" dirty="0"/>
              <a:t>C</a:t>
            </a:r>
            <a:r>
              <a:rPr lang="ja-JP" altLang="en-US" sz="1200" b="1" dirty="0"/>
              <a:t>：</a:t>
            </a:r>
            <a:r>
              <a:rPr lang="en-US" altLang="ja-JP" sz="1200" b="1" dirty="0"/>
              <a:t>【</a:t>
            </a:r>
            <a:r>
              <a:rPr lang="ja-JP" altLang="en-US" sz="1200" b="1" dirty="0"/>
              <a:t>ローン不安解消・実利</a:t>
            </a:r>
            <a:r>
              <a:rPr lang="en-US" altLang="ja-JP" sz="1200" b="1" dirty="0"/>
              <a:t>】</a:t>
            </a:r>
            <a:r>
              <a:rPr lang="ja-JP" altLang="en-US" sz="1200" b="1" dirty="0"/>
              <a:t>重視（</a:t>
            </a:r>
            <a:r>
              <a:rPr lang="en-US" altLang="ja-JP" sz="1200" b="1" dirty="0"/>
              <a:t>LP</a:t>
            </a:r>
            <a:r>
              <a:rPr lang="ja-JP" altLang="en-US" sz="1200" b="1" dirty="0"/>
              <a:t>の強みを最大化）</a:t>
            </a:r>
            <a:br>
              <a:rPr lang="ja-JP" altLang="en-US" sz="1200" b="1" dirty="0"/>
            </a:br>
            <a:r>
              <a:rPr lang="ja-JP" altLang="en-US" sz="1200" dirty="0"/>
              <a:t>「お金がない」という諦めを、強力に潰す構成。</a:t>
            </a:r>
            <a:br>
              <a:rPr lang="ja-JP" altLang="en-US" sz="1200" dirty="0"/>
            </a:br>
            <a:r>
              <a:rPr lang="ja-JP" altLang="en-US" sz="1200" b="1" dirty="0"/>
              <a:t>上部文字：</a:t>
            </a:r>
            <a:r>
              <a:rPr lang="ja-JP" altLang="en-US" sz="1200" dirty="0"/>
              <a:t> 「ローンに通らない</a:t>
            </a:r>
            <a:r>
              <a:rPr lang="en-US" altLang="ja-JP" sz="1200" dirty="0"/>
              <a:t>…</a:t>
            </a:r>
            <a:r>
              <a:rPr lang="ja-JP" altLang="en-US" sz="1200" dirty="0"/>
              <a:t>と諦めてた。」</a:t>
            </a:r>
            <a:br>
              <a:rPr lang="ja-JP" altLang="en-US" sz="1200" dirty="0"/>
            </a:br>
            <a:r>
              <a:rPr lang="ja-JP" altLang="en-US" sz="1200" b="1" dirty="0"/>
              <a:t>中央文字：</a:t>
            </a:r>
            <a:r>
              <a:rPr lang="ja-JP" altLang="en-US" sz="1200" dirty="0"/>
              <a:t> 諦めていた女性が、キレイラインに出会って吹っ切れた笑顔に変わる（ビフォーアフター的な構成も）。</a:t>
            </a:r>
            <a:br>
              <a:rPr lang="ja-JP" altLang="en-US" sz="1200" dirty="0"/>
            </a:br>
            <a:r>
              <a:rPr lang="ja-JP" altLang="en-US" sz="1200" b="1" dirty="0"/>
              <a:t>下部文字：</a:t>
            </a:r>
            <a:r>
              <a:rPr lang="ja-JP" altLang="en-US" sz="1200" dirty="0"/>
              <a:t> 「予算内プラン」ご用意。月々少額で始められる！</a:t>
            </a:r>
            <a:br>
              <a:rPr lang="ja-JP" altLang="en-US" sz="1200" dirty="0"/>
            </a:br>
            <a:r>
              <a:rPr lang="en-US" altLang="ja-JP" sz="1200" b="1" dirty="0"/>
              <a:t>CTA</a:t>
            </a:r>
            <a:r>
              <a:rPr lang="ja-JP" altLang="en-US" sz="1200" b="1" dirty="0"/>
              <a:t>ボタン：</a:t>
            </a:r>
            <a:r>
              <a:rPr lang="ja-JP" altLang="en-US" sz="1200" dirty="0"/>
              <a:t> 「まずは無料カウンセリング」</a:t>
            </a:r>
            <a:br>
              <a:rPr lang="ja-JP" altLang="en-US" sz="1200" dirty="0"/>
            </a:br>
            <a:r>
              <a:rPr lang="ja-JP" altLang="en-US" sz="1200" b="1" dirty="0"/>
              <a:t>デザインのアドバイス</a:t>
            </a:r>
            <a:br>
              <a:rPr lang="ja-JP" altLang="en-US" sz="1200" b="1" dirty="0"/>
            </a:br>
            <a:r>
              <a:rPr lang="en-US" altLang="ja-JP" sz="1200" b="1" dirty="0"/>
              <a:t>SNS</a:t>
            </a:r>
            <a:r>
              <a:rPr lang="ja-JP" altLang="en-US" sz="1200" b="1" dirty="0"/>
              <a:t>の仕様を意識：</a:t>
            </a:r>
            <a:r>
              <a:rPr lang="ja-JP" altLang="en-US" sz="1200" dirty="0"/>
              <a:t> ストーリーズなどの縦長広告では、画面の上部と下部（特に下部</a:t>
            </a:r>
            <a:r>
              <a:rPr lang="en-US" altLang="ja-JP" sz="1200" dirty="0"/>
              <a:t>1/4</a:t>
            </a:r>
            <a:r>
              <a:rPr lang="ja-JP" altLang="en-US" sz="1200" dirty="0"/>
              <a:t>）に、広告ラベル（</a:t>
            </a:r>
            <a:r>
              <a:rPr lang="en-US" altLang="ja-JP" sz="1200" dirty="0"/>
              <a:t>Sponsored</a:t>
            </a:r>
            <a:r>
              <a:rPr lang="ja-JP" altLang="en-US" sz="1200" dirty="0"/>
              <a:t>）や</a:t>
            </a:r>
            <a:r>
              <a:rPr lang="en-US" altLang="ja-JP" sz="1200" dirty="0"/>
              <a:t>CTA</a:t>
            </a:r>
            <a:r>
              <a:rPr lang="ja-JP" altLang="en-US" sz="1200" dirty="0"/>
              <a:t>ボタン、アカウント名が重なります。</a:t>
            </a:r>
            <a:r>
              <a:rPr lang="ja-JP" altLang="en-US" sz="1200" b="1" dirty="0"/>
              <a:t>重要な文字や女性の顔は、中央の安全な領域（</a:t>
            </a:r>
            <a:r>
              <a:rPr lang="en-US" altLang="ja-JP" sz="1200" b="1" dirty="0" err="1"/>
              <a:t>SafeArea</a:t>
            </a:r>
            <a:r>
              <a:rPr lang="ja-JP" altLang="en-US" sz="1200" b="1" dirty="0"/>
              <a:t>）に配置</a:t>
            </a:r>
            <a:r>
              <a:rPr lang="ja-JP" altLang="en-US" sz="1200" dirty="0"/>
              <a:t>してください。</a:t>
            </a:r>
            <a:br>
              <a:rPr lang="ja-JP" altLang="en-US" sz="1200" dirty="0"/>
            </a:br>
            <a:r>
              <a:rPr lang="ja-JP" altLang="en-US" sz="1200" b="1" dirty="0"/>
              <a:t>フォント：</a:t>
            </a:r>
            <a:r>
              <a:rPr lang="ja-JP" altLang="en-US" sz="1200" dirty="0"/>
              <a:t> </a:t>
            </a:r>
            <a:r>
              <a:rPr lang="en-US" altLang="ja-JP" sz="1200" dirty="0"/>
              <a:t>20</a:t>
            </a:r>
            <a:r>
              <a:rPr lang="ja-JP" altLang="en-US" sz="1200" dirty="0"/>
              <a:t>代女性向けなので、丸ゴシックや少し手書き風の親しみやすいフォント、または洗練されたゴシック体など。</a:t>
            </a:r>
            <a:br>
              <a:rPr lang="ja-JP" altLang="en-US" sz="1200" dirty="0"/>
            </a:br>
            <a:r>
              <a:rPr lang="ja-JP" altLang="en-US" sz="1200" b="1" dirty="0"/>
              <a:t>色：</a:t>
            </a:r>
            <a:r>
              <a:rPr lang="ja-JP" altLang="en-US" sz="1200" dirty="0"/>
              <a:t> 清潔感のある白、水色、パステル系のピンクや黄色など。</a:t>
            </a:r>
            <a:br>
              <a:rPr lang="ja-JP" altLang="en-US" sz="1200" dirty="0"/>
            </a:br>
            <a:r>
              <a:rPr lang="ja-JP" altLang="en-US" sz="1200" dirty="0"/>
              <a:t>素晴らしいバナーができることを応援しています！</a:t>
            </a:r>
            <a:br>
              <a:rPr lang="ja-JP" altLang="en-US" sz="1200" dirty="0"/>
            </a:br>
            <a:endParaRPr kumimoji="1" lang="ja-JP" altLang="en-US" sz="1200" dirty="0"/>
          </a:p>
        </p:txBody>
      </p:sp>
    </p:spTree>
    <p:extLst>
      <p:ext uri="{BB962C8B-B14F-4D97-AF65-F5344CB8AC3E}">
        <p14:creationId xmlns:p14="http://schemas.microsoft.com/office/powerpoint/2010/main" val="523069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E2DB12-B53C-BA62-8C1E-EAD9D4F85361}"/>
              </a:ext>
            </a:extLst>
          </p:cNvPr>
          <p:cNvSpPr>
            <a:spLocks noGrp="1"/>
          </p:cNvSpPr>
          <p:nvPr>
            <p:ph type="title"/>
          </p:nvPr>
        </p:nvSpPr>
        <p:spPr>
          <a:xfrm>
            <a:off x="0" y="2290813"/>
            <a:ext cx="12192000" cy="1690688"/>
          </a:xfrm>
        </p:spPr>
        <p:txBody>
          <a:bodyPr>
            <a:normAutofit fontScale="90000"/>
          </a:bodyPr>
          <a:lstStyle/>
          <a:p>
            <a:r>
              <a:rPr lang="ja-JP" altLang="en-US" sz="1200" dirty="0"/>
              <a:t>これら上げてくれたものを実際にバナーにするためのプロンプトに書き換えて</a:t>
            </a:r>
            <a:br>
              <a:rPr lang="en-US" altLang="ja-JP" sz="1200" dirty="0"/>
            </a:br>
            <a:br>
              <a:rPr lang="en-US" altLang="ja-JP" sz="1200" dirty="0"/>
            </a:br>
            <a:br>
              <a:rPr lang="en-US" altLang="ja-JP" sz="1200" dirty="0"/>
            </a:br>
            <a:r>
              <a:rPr lang="ja-JP" altLang="en-US" sz="1200" dirty="0"/>
              <a:t>構想を具現化するために、画像生成</a:t>
            </a:r>
            <a:r>
              <a:rPr lang="en-US" altLang="ja-JP" sz="1200" dirty="0"/>
              <a:t>AI</a:t>
            </a:r>
            <a:r>
              <a:rPr lang="ja-JP" altLang="en-US" sz="1200" dirty="0"/>
              <a:t>に入力できる詳細なプロンプトを作成しました。</a:t>
            </a:r>
            <a:br>
              <a:rPr lang="ja-JP" altLang="en-US" sz="1200" dirty="0"/>
            </a:br>
            <a:r>
              <a:rPr lang="ja-JP" altLang="en-US" sz="1200" dirty="0"/>
              <a:t>このプロンプトでは、ユーザー様が仰った**「</a:t>
            </a:r>
            <a:r>
              <a:rPr lang="en-US" altLang="ja-JP" sz="1200" dirty="0"/>
              <a:t>20</a:t>
            </a:r>
            <a:r>
              <a:rPr lang="ja-JP" altLang="en-US" sz="1200" dirty="0"/>
              <a:t>代前半の女性が歯を出しながら吹っ切れたように微笑む」</a:t>
            </a:r>
            <a:r>
              <a:rPr lang="ja-JP" altLang="en-US" sz="1200" b="1" dirty="0"/>
              <a:t>というエモーショナルなビジュアルを核にしつつ、</a:t>
            </a:r>
            <a:r>
              <a:rPr lang="en-US" altLang="ja-JP" sz="1200" b="1" dirty="0"/>
              <a:t>LP</a:t>
            </a:r>
            <a:r>
              <a:rPr lang="ja-JP" altLang="en-US" sz="1200" b="1" dirty="0"/>
              <a:t>分析で明らかになった</a:t>
            </a:r>
            <a:r>
              <a:rPr lang="ja-JP" altLang="en-US" sz="1200" dirty="0"/>
              <a:t>「安さ（初回</a:t>
            </a:r>
            <a:r>
              <a:rPr lang="en-US" altLang="ja-JP" sz="1200" dirty="0"/>
              <a:t>2.2</a:t>
            </a:r>
            <a:r>
              <a:rPr lang="ja-JP" altLang="en-US" sz="1200" dirty="0"/>
              <a:t>万円</a:t>
            </a:r>
            <a:r>
              <a:rPr lang="en-US" altLang="ja-JP" sz="1200" dirty="0"/>
              <a:t>〜</a:t>
            </a:r>
            <a:r>
              <a:rPr lang="ja-JP" altLang="en-US" sz="1200" dirty="0"/>
              <a:t>）」「目立たない（透明マウスピース）」「痛み・期間の短縮」**という強力な実利情報を、</a:t>
            </a:r>
            <a:r>
              <a:rPr lang="en-US" altLang="ja-JP" sz="1200" dirty="0"/>
              <a:t>SNS</a:t>
            </a:r>
            <a:r>
              <a:rPr lang="ja-JP" altLang="en-US" sz="1200" dirty="0"/>
              <a:t>広告に最適な縦長レイアウト（</a:t>
            </a:r>
            <a:r>
              <a:rPr lang="en-US" altLang="ja-JP" sz="1200" dirty="0"/>
              <a:t>1080x1920</a:t>
            </a:r>
            <a:r>
              <a:rPr lang="ja-JP" altLang="en-US" sz="1200" dirty="0"/>
              <a:t>）に配置するよう指示しています。</a:t>
            </a:r>
            <a:br>
              <a:rPr lang="ja-JP" altLang="en-US" sz="1200" dirty="0"/>
            </a:br>
            <a:br>
              <a:rPr lang="ja-JP" altLang="en-US" sz="1200" dirty="0"/>
            </a:br>
            <a:br>
              <a:rPr lang="ja-JP" altLang="en-US" sz="1200" dirty="0"/>
            </a:br>
            <a:r>
              <a:rPr lang="ja-JP" altLang="en-US" sz="1200" b="1" dirty="0"/>
              <a:t>画像生成プロンプト：キレイライン矯正用縦長バナー</a:t>
            </a:r>
            <a:br>
              <a:rPr lang="ja-JP" altLang="en-US" sz="1200" b="1" dirty="0"/>
            </a:br>
            <a:r>
              <a:rPr lang="en-US" altLang="ja-JP" sz="1200" b="1" dirty="0"/>
              <a:t>【</a:t>
            </a:r>
            <a:r>
              <a:rPr lang="ja-JP" altLang="en-US" sz="1200" b="1" dirty="0"/>
              <a:t>プロンプト</a:t>
            </a:r>
            <a:r>
              <a:rPr lang="en-US" altLang="ja-JP" sz="1200" b="1" dirty="0"/>
              <a:t>】</a:t>
            </a:r>
            <a:br>
              <a:rPr lang="ja-JP" altLang="en-US" sz="1200" dirty="0"/>
            </a:br>
            <a:br>
              <a:rPr lang="en-US" altLang="ja-JP" sz="1200" dirty="0"/>
            </a:br>
            <a:r>
              <a:rPr lang="en-US" altLang="ja-JP" sz="1200" dirty="0"/>
              <a:t>An advertisement banner, vertical, 1080x1920 pixels, for the Japanese dental alignment service '</a:t>
            </a:r>
            <a:r>
              <a:rPr lang="ja-JP" altLang="en-US" sz="1200" dirty="0"/>
              <a:t>キレイライン矯正</a:t>
            </a:r>
            <a:r>
              <a:rPr lang="en-US" altLang="ja-JP" sz="1200" dirty="0"/>
              <a:t>' (</a:t>
            </a:r>
            <a:r>
              <a:rPr lang="en-US" altLang="ja-JP" sz="1200" dirty="0" err="1"/>
              <a:t>Kireilign</a:t>
            </a:r>
            <a:r>
              <a:rPr lang="en-US" altLang="ja-JP" sz="1200" dirty="0"/>
              <a:t> Orthodontics). The central visual is a beautiful Japanese woman in her early 20s, with short-to-medium brown hair, laughing openly and broadly, showing a wide, confident, toothy smile, looking immensely relieved and liberated, as if blowing away her old worries. Her skin is clear and glowing, and a transparent dental alignment tray is visible but nearly undetectable on her teeth. She wears an elegant white blouse and simple jewelry. She is in a bright, airy, sunlit modern environment, perhaps a clean clinic reception area or an upscale city cafe, filled with natural light, modern design elements, and soft, warm colors. Background is softly blurred. Large Japanese text is overlaid at the top: '</a:t>
            </a:r>
            <a:r>
              <a:rPr lang="ja-JP" altLang="en-US" sz="1200" dirty="0"/>
              <a:t>もう、思いっきり笑える！</a:t>
            </a:r>
            <a:r>
              <a:rPr lang="en-US" altLang="ja-JP" sz="1200" dirty="0"/>
              <a:t>' (I can laugh with my heart's content now!). Below her smiling face, in the middle-bottom, a stylized, vertical column of icons and text reads: '</a:t>
            </a:r>
            <a:r>
              <a:rPr lang="ja-JP" altLang="en-US" sz="1200" dirty="0"/>
              <a:t>透明で目立たない</a:t>
            </a:r>
            <a:r>
              <a:rPr lang="en-US" altLang="ja-JP" sz="1200" dirty="0"/>
              <a:t>' (Transparent, undetectable), '</a:t>
            </a:r>
            <a:r>
              <a:rPr lang="ja-JP" altLang="en-US" sz="1200" dirty="0"/>
              <a:t>痛みが少ない</a:t>
            </a:r>
            <a:r>
              <a:rPr lang="en-US" altLang="ja-JP" sz="1200" dirty="0"/>
              <a:t>' (Less pain), '</a:t>
            </a:r>
            <a:r>
              <a:rPr lang="ja-JP" altLang="en-US" sz="1200" dirty="0"/>
              <a:t>初回</a:t>
            </a:r>
            <a:r>
              <a:rPr lang="en-US" altLang="ja-JP" sz="1200" dirty="0"/>
              <a:t>2.2</a:t>
            </a:r>
            <a:r>
              <a:rPr lang="ja-JP" altLang="en-US" sz="1200" dirty="0"/>
              <a:t>万円～</a:t>
            </a:r>
            <a:r>
              <a:rPr lang="en-US" altLang="ja-JP" sz="1200" dirty="0"/>
              <a:t>' (First ¥2.2k~). At the very bottom, a prominent, colorful call-to-action button reads: '</a:t>
            </a:r>
            <a:r>
              <a:rPr lang="ja-JP" altLang="en-US" sz="1200" dirty="0"/>
              <a:t>今すぐ初回検診予約</a:t>
            </a:r>
            <a:r>
              <a:rPr lang="en-US" altLang="ja-JP" sz="1200" dirty="0"/>
              <a:t>' (Book initial consultation now). Below the button, small text states: '*</a:t>
            </a:r>
            <a:r>
              <a:rPr lang="ja-JP" altLang="en-US" sz="1200" dirty="0"/>
              <a:t>詳細は公式</a:t>
            </a:r>
            <a:r>
              <a:rPr lang="en-US" altLang="ja-JP" sz="1200" dirty="0"/>
              <a:t>LP</a:t>
            </a:r>
            <a:r>
              <a:rPr lang="ja-JP" altLang="en-US" sz="1200" dirty="0"/>
              <a:t>へ</a:t>
            </a:r>
            <a:r>
              <a:rPr lang="en-US" altLang="ja-JP" sz="1200" dirty="0"/>
              <a:t>' (*For details, visit the official LP). The overall style is clean, professional, yet warm, like a premium social media advertisement. The colors are white, light blue, soft pink, and warm gold.</a:t>
            </a:r>
            <a:br>
              <a:rPr lang="en-US" altLang="ja-JP" sz="1200" dirty="0"/>
            </a:br>
            <a:br>
              <a:rPr lang="en-US" altLang="ja-JP" sz="1200" dirty="0"/>
            </a:br>
            <a:r>
              <a:rPr lang="ja-JP" altLang="en-US" sz="1200" b="1" dirty="0"/>
              <a:t>このプロンプトの構成と意図</a:t>
            </a:r>
            <a:br>
              <a:rPr lang="ja-JP" altLang="en-US" sz="1200" b="1" dirty="0"/>
            </a:br>
            <a:r>
              <a:rPr lang="ja-JP" altLang="en-US" sz="1200" b="1" dirty="0"/>
              <a:t>サイズと目的 </a:t>
            </a:r>
            <a:r>
              <a:rPr lang="en-US" altLang="ja-JP" sz="1200" b="1" dirty="0"/>
              <a:t>(Ad Banner, Vertical, 1080x1920):</a:t>
            </a:r>
            <a:r>
              <a:rPr lang="ja-JP" altLang="en-US" sz="1200" dirty="0"/>
              <a:t> </a:t>
            </a:r>
            <a:r>
              <a:rPr lang="en-US" altLang="ja-JP" sz="1200" dirty="0"/>
              <a:t>SNS</a:t>
            </a:r>
            <a:r>
              <a:rPr lang="ja-JP" altLang="en-US" sz="1200" dirty="0"/>
              <a:t>（</a:t>
            </a:r>
            <a:r>
              <a:rPr lang="en-US" altLang="ja-JP" sz="1200" dirty="0"/>
              <a:t>Instagram</a:t>
            </a:r>
            <a:r>
              <a:rPr lang="ja-JP" altLang="en-US" sz="1200" dirty="0"/>
              <a:t>ストーリーズ、</a:t>
            </a:r>
            <a:r>
              <a:rPr lang="en-US" altLang="ja-JP" sz="1200" dirty="0"/>
              <a:t>TikTok</a:t>
            </a:r>
            <a:r>
              <a:rPr lang="ja-JP" altLang="en-US" sz="1200" dirty="0"/>
              <a:t>）での配信を前提とした縦長フォーマットを指定。</a:t>
            </a:r>
            <a:br>
              <a:rPr lang="ja-JP" altLang="en-US" sz="1200" dirty="0"/>
            </a:br>
            <a:r>
              <a:rPr lang="ja-JP" altLang="en-US" sz="1200" b="1" dirty="0"/>
              <a:t>ビジュアルの核心 </a:t>
            </a:r>
            <a:r>
              <a:rPr lang="en-US" altLang="ja-JP" sz="1200" b="1" dirty="0"/>
              <a:t>(Relieved, Toothy Smile):</a:t>
            </a:r>
            <a:r>
              <a:rPr lang="ja-JP" altLang="en-US" sz="1200" dirty="0"/>
              <a:t> ユーザー様の構想通り、**「吹っ切れたような解放感のある笑顔」**を詳細に描写。コンプレックスが解消された喜びを視覚化しています。</a:t>
            </a:r>
            <a:br>
              <a:rPr lang="ja-JP" altLang="en-US" sz="1200" dirty="0"/>
            </a:br>
            <a:r>
              <a:rPr lang="ja-JP" altLang="en-US" sz="1200" b="1" dirty="0"/>
              <a:t>情報の配置 </a:t>
            </a:r>
            <a:r>
              <a:rPr lang="en-US" altLang="ja-JP" sz="1200" b="1" dirty="0"/>
              <a:t>(Text Overlays):</a:t>
            </a:r>
            <a:br>
              <a:rPr lang="ja-JP" altLang="en-US" sz="1200" dirty="0"/>
            </a:br>
            <a:r>
              <a:rPr lang="ja-JP" altLang="en-US" sz="1200" b="1" dirty="0"/>
              <a:t>上部フック</a:t>
            </a:r>
            <a:r>
              <a:rPr lang="en-US" altLang="ja-JP" sz="1200" b="1" dirty="0"/>
              <a:t>:</a:t>
            </a:r>
            <a:r>
              <a:rPr lang="ja-JP" altLang="en-US" sz="1200" dirty="0"/>
              <a:t> エモーショナルな共感を呼ぶコピー「もう、思いっきり笑える！」を大きく配置。</a:t>
            </a:r>
            <a:br>
              <a:rPr lang="ja-JP" altLang="en-US" sz="1200" dirty="0"/>
            </a:br>
            <a:r>
              <a:rPr lang="ja-JP" altLang="en-US" sz="1200" b="1" dirty="0"/>
              <a:t>中部事実</a:t>
            </a:r>
            <a:r>
              <a:rPr lang="en-US" altLang="ja-JP" sz="1200" b="1" dirty="0"/>
              <a:t>:</a:t>
            </a:r>
            <a:r>
              <a:rPr lang="ja-JP" altLang="en-US" sz="1200" dirty="0"/>
              <a:t> </a:t>
            </a:r>
            <a:r>
              <a:rPr lang="en-US" altLang="ja-JP" sz="1200" dirty="0"/>
              <a:t>LP</a:t>
            </a:r>
            <a:r>
              <a:rPr lang="ja-JP" altLang="en-US" sz="1200" dirty="0"/>
              <a:t>分析で得た強み（透明、低痛、初回</a:t>
            </a:r>
            <a:r>
              <a:rPr lang="en-US" altLang="ja-JP" sz="1200" dirty="0"/>
              <a:t>2.2</a:t>
            </a:r>
            <a:r>
              <a:rPr lang="ja-JP" altLang="en-US" sz="1200" dirty="0"/>
              <a:t>万円</a:t>
            </a:r>
            <a:r>
              <a:rPr lang="en-US" altLang="ja-JP" sz="1200" dirty="0"/>
              <a:t>〜</a:t>
            </a:r>
            <a:r>
              <a:rPr lang="ja-JP" altLang="en-US" sz="1200" dirty="0"/>
              <a:t>）を、アイコンと短い単語で列挙。</a:t>
            </a:r>
            <a:br>
              <a:rPr lang="ja-JP" altLang="en-US" sz="1200" dirty="0"/>
            </a:br>
            <a:r>
              <a:rPr lang="ja-JP" altLang="en-US" sz="1200" b="1" dirty="0"/>
              <a:t>下部</a:t>
            </a:r>
            <a:r>
              <a:rPr lang="en-US" altLang="ja-JP" sz="1200" b="1" dirty="0"/>
              <a:t>CTA:</a:t>
            </a:r>
            <a:r>
              <a:rPr lang="ja-JP" altLang="en-US" sz="1200" dirty="0"/>
              <a:t> 行動を促すボタン「今すぐ初回検診予約」を最下部に設置。</a:t>
            </a:r>
            <a:br>
              <a:rPr lang="ja-JP" altLang="en-US" sz="1200" dirty="0"/>
            </a:br>
            <a:r>
              <a:rPr lang="ja-JP" altLang="en-US" sz="1200" b="1" dirty="0"/>
              <a:t>雰囲気 </a:t>
            </a:r>
            <a:r>
              <a:rPr lang="en-US" altLang="ja-JP" sz="1200" b="1" dirty="0"/>
              <a:t>(Clean, Warm, Premium):</a:t>
            </a:r>
            <a:r>
              <a:rPr lang="ja-JP" altLang="en-US" sz="1200" dirty="0"/>
              <a:t> 高額商材を扱いながらも親しみやすく、かつ信頼感のある、美容クリニックのような洗練されたトーンを指示。</a:t>
            </a:r>
            <a:br>
              <a:rPr lang="ja-JP" altLang="en-US" sz="1200" dirty="0"/>
            </a:br>
            <a:r>
              <a:rPr lang="ja-JP" altLang="en-US" sz="1200" dirty="0"/>
              <a:t>このプロンプトを使用することで、視覚的なインパクトと、</a:t>
            </a:r>
            <a:r>
              <a:rPr lang="en-US" altLang="ja-JP" sz="1200" dirty="0"/>
              <a:t>LP</a:t>
            </a:r>
            <a:r>
              <a:rPr lang="ja-JP" altLang="en-US" sz="1200" dirty="0"/>
              <a:t>への誘導に必要な実利情報が両立したバナーを生成できます</a:t>
            </a:r>
            <a:br>
              <a:rPr lang="ja-JP" altLang="en-US" sz="1200" dirty="0"/>
            </a:br>
            <a:br>
              <a:rPr lang="en-US" altLang="ja-JP" sz="1200" dirty="0"/>
            </a:br>
            <a:br>
              <a:rPr lang="en-US" altLang="ja-JP" sz="1200" dirty="0"/>
            </a:br>
            <a:endParaRPr kumimoji="1" lang="ja-JP" altLang="en-US" sz="1200" dirty="0"/>
          </a:p>
        </p:txBody>
      </p:sp>
    </p:spTree>
    <p:extLst>
      <p:ext uri="{BB962C8B-B14F-4D97-AF65-F5344CB8AC3E}">
        <p14:creationId xmlns:p14="http://schemas.microsoft.com/office/powerpoint/2010/main" val="599563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5FF628BB-4339-3E5E-0C7E-34352E5FD45C}"/>
              </a:ext>
            </a:extLst>
          </p:cNvPr>
          <p:cNvSpPr>
            <a:spLocks noGrp="1"/>
          </p:cNvSpPr>
          <p:nvPr>
            <p:ph idx="1"/>
          </p:nvPr>
        </p:nvSpPr>
        <p:spPr>
          <a:xfrm>
            <a:off x="163629" y="131578"/>
            <a:ext cx="12028371" cy="6726421"/>
          </a:xfrm>
        </p:spPr>
        <p:txBody>
          <a:bodyPr>
            <a:normAutofit/>
          </a:bodyPr>
          <a:lstStyle/>
          <a:p>
            <a:pPr marL="0" indent="0">
              <a:buNone/>
            </a:pPr>
            <a:r>
              <a:rPr lang="ja-JP" altLang="en-US" sz="1100" dirty="0"/>
              <a:t>もう少し女性の笑顔を自然に、きれいなフェイスラインに変更</a:t>
            </a:r>
            <a:endParaRPr lang="en-US" altLang="ja-JP" sz="1100" dirty="0"/>
          </a:p>
          <a:p>
            <a:pPr marL="0" indent="0">
              <a:buNone/>
            </a:pPr>
            <a:r>
              <a:rPr lang="ja-JP" altLang="en-US" sz="1100" dirty="0"/>
              <a:t>今からいくつか変更点いう</a:t>
            </a:r>
          </a:p>
          <a:p>
            <a:pPr marL="0" indent="0">
              <a:buNone/>
            </a:pPr>
            <a:r>
              <a:rPr lang="ja-JP" altLang="en-US" sz="1100" dirty="0"/>
              <a:t>「歯並びの悩みを</a:t>
            </a:r>
            <a:r>
              <a:rPr lang="en-US" altLang="ja-JP" sz="1100" dirty="0"/>
              <a:t>AI</a:t>
            </a:r>
            <a:r>
              <a:rPr lang="ja-JP" altLang="en-US" sz="1100" dirty="0"/>
              <a:t>に無料相談」っていうところを消して、もう少し下に詰めて、</a:t>
            </a:r>
          </a:p>
          <a:p>
            <a:pPr marL="0" indent="0">
              <a:buNone/>
            </a:pPr>
            <a:r>
              <a:rPr lang="ja-JP" altLang="en-US" sz="1100" dirty="0"/>
              <a:t>「今すぐ初回検診予約＞」を「今すぐ無料検診予約＞」に</a:t>
            </a:r>
          </a:p>
          <a:p>
            <a:pPr marL="0" indent="0">
              <a:buNone/>
            </a:pPr>
            <a:r>
              <a:rPr lang="ja-JP" altLang="en-US" sz="1100" dirty="0"/>
              <a:t>「初回</a:t>
            </a:r>
            <a:r>
              <a:rPr lang="en-US" altLang="ja-JP" sz="1100" dirty="0"/>
              <a:t>2.2</a:t>
            </a:r>
            <a:r>
              <a:rPr lang="ja-JP" altLang="en-US" sz="1100" dirty="0"/>
              <a:t>万円～」も消して、「一生保証」っていう言葉に</a:t>
            </a:r>
          </a:p>
          <a:p>
            <a:pPr marL="0" indent="0">
              <a:buNone/>
            </a:pPr>
            <a:r>
              <a:rPr lang="ja-JP" altLang="en-US" sz="1100" dirty="0"/>
              <a:t>一旦この修正を加えてほしい</a:t>
            </a:r>
            <a:endParaRPr lang="en-US" altLang="ja-JP" sz="1100" dirty="0"/>
          </a:p>
          <a:p>
            <a:pPr marL="0" indent="0">
              <a:buNone/>
            </a:pPr>
            <a:r>
              <a:rPr lang="ja-JP" altLang="en-US" sz="1100" dirty="0"/>
              <a:t>ちょっと派手や言うてんねん</a:t>
            </a:r>
          </a:p>
          <a:p>
            <a:pPr marL="0" indent="0">
              <a:buNone/>
            </a:pPr>
            <a:r>
              <a:rPr lang="ja-JP" altLang="en-US" sz="1100" dirty="0"/>
              <a:t>「水色のおとなしめなキラキラ」や</a:t>
            </a:r>
          </a:p>
          <a:p>
            <a:pPr marL="0" indent="0">
              <a:buNone/>
            </a:pPr>
            <a:r>
              <a:rPr lang="ja-JP" altLang="en-US" sz="1100" dirty="0"/>
              <a:t>あと、「今すぐ無料検診予約」のボタンらへんに、少し波風立たせてくれるか</a:t>
            </a:r>
            <a:br>
              <a:rPr lang="en-US" altLang="ja-JP" sz="1100" dirty="0"/>
            </a:br>
            <a:endParaRPr lang="en-US" altLang="ja-JP" sz="1100" dirty="0"/>
          </a:p>
          <a:p>
            <a:pPr marL="0" indent="0">
              <a:buNone/>
            </a:pPr>
            <a:r>
              <a:rPr lang="ja-JP" altLang="en-US" sz="1100" dirty="0"/>
              <a:t>それじゃ「今すぐ無料検診予約」ボタンが押しにくいやん</a:t>
            </a:r>
          </a:p>
          <a:p>
            <a:pPr marL="0" indent="0">
              <a:buNone/>
            </a:pPr>
            <a:r>
              <a:rPr lang="ja-JP" altLang="en-US" sz="1100" dirty="0"/>
              <a:t>そのボタンよりも背面に行ってくれ、</a:t>
            </a:r>
          </a:p>
          <a:p>
            <a:pPr marL="0" indent="0">
              <a:buNone/>
            </a:pPr>
            <a:r>
              <a:rPr lang="ja-JP" altLang="en-US" sz="1100" dirty="0"/>
              <a:t>あと、そんな主張強くせんでええ</a:t>
            </a:r>
            <a:endParaRPr lang="en-US" altLang="ja-JP" sz="1100" dirty="0"/>
          </a:p>
          <a:p>
            <a:pPr marL="0" indent="0">
              <a:buNone/>
            </a:pPr>
            <a:endParaRPr kumimoji="1" lang="en-US" altLang="ja-JP" sz="1100" dirty="0"/>
          </a:p>
          <a:p>
            <a:pPr marL="0" indent="0">
              <a:buNone/>
            </a:pPr>
            <a:r>
              <a:rPr lang="ja-JP" altLang="en-US" sz="1100" dirty="0"/>
              <a:t>後最後にもっと女の人をきれいな女性にしてくれるか？</a:t>
            </a:r>
            <a:endParaRPr kumimoji="1" lang="ja-JP" altLang="en-US" sz="1100" dirty="0"/>
          </a:p>
        </p:txBody>
      </p:sp>
    </p:spTree>
    <p:extLst>
      <p:ext uri="{BB962C8B-B14F-4D97-AF65-F5344CB8AC3E}">
        <p14:creationId xmlns:p14="http://schemas.microsoft.com/office/powerpoint/2010/main" val="1294300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41C181-5B13-30BF-4D30-A4FE5ED9DC25}"/>
              </a:ext>
            </a:extLst>
          </p:cNvPr>
          <p:cNvSpPr>
            <a:spLocks noGrp="1"/>
          </p:cNvSpPr>
          <p:nvPr>
            <p:ph type="title"/>
          </p:nvPr>
        </p:nvSpPr>
        <p:spPr/>
        <p:txBody>
          <a:bodyPr/>
          <a:lstStyle/>
          <a:p>
            <a:endParaRPr kumimoji="1" lang="ja-JP" altLang="en-US"/>
          </a:p>
        </p:txBody>
      </p:sp>
      <p:pic>
        <p:nvPicPr>
          <p:cNvPr id="5" name="コンテンツ プレースホルダー 4">
            <a:extLst>
              <a:ext uri="{FF2B5EF4-FFF2-40B4-BE49-F238E27FC236}">
                <a16:creationId xmlns:a16="http://schemas.microsoft.com/office/drawing/2014/main" id="{73BCFA2A-7FD0-0456-6CAB-D02509A4EA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80790" y="1825625"/>
            <a:ext cx="2430420" cy="4351338"/>
          </a:xfrm>
          <a:prstGeom prst="rect">
            <a:avLst/>
          </a:prstGeom>
        </p:spPr>
      </p:pic>
    </p:spTree>
    <p:extLst>
      <p:ext uri="{BB962C8B-B14F-4D97-AF65-F5344CB8AC3E}">
        <p14:creationId xmlns:p14="http://schemas.microsoft.com/office/powerpoint/2010/main" val="92126164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3036</Words>
  <Application>Microsoft Office PowerPoint</Application>
  <PresentationFormat>ワイド画面</PresentationFormat>
  <Paragraphs>47</Paragraphs>
  <Slides>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游ゴシック Light</vt:lpstr>
      <vt:lpstr>Arial</vt:lpstr>
      <vt:lpstr>Office テーマ</vt:lpstr>
      <vt:lpstr>https://kireilign.com/lp/a/lp319/  このLPを①ターゲット属性、②悩み・ペインイベント、③ベネフィット(解決)、④権威性・信頼、⑤心理的トリガー、⑥クリエイティブ、⑦オファー・CTA、⑧配信先・シチュエーション に区別して、分析してほしい  ご提示いただいた「キレイライン矯正」のLP（ランディングページ）の内容・構造から、指定された8つの項目に分けて分析しました。 このLPは、従来のワイヤー矯正に対する**「高い」「痛い」「目立つ」「長い」という4大ペイン（悩み）**を、マウスピース矯正の特性を活かして的確に潰し、ハードルを極限まで下げる構成になっています。  ① ターゲット属性 年齢・性別： 主に10代後半〜30代の男女（学生、新社会人、結婚などを控えた層）。 予算感： できるだけコストを抑えたい、または高額なローン審査に不安がある層。 ライフスタイル： 人と接する機会が多い（接客業、営業、学生など）ため、矯正していることを知られたくない人。 目的： 完璧な噛み合わせの治療というより、結婚式や就活、大事なイベントまでに「見た目（前歯などの歯並び）」をスピーディーに良くしたい人。 ② 悩み・ペインイベント 外見の悩み： 「歯並びは直したいが、ワイヤー矯正の金属が目立つのは絶対にイヤだ」 痛みの恐怖： 「矯正＝痛い、喋りづらいというイメージがあり、耐えられるか不安」 金銭的な壁： 「数十万〜100万円以上かかる費用は払えない。ローンの審査に通るかどうかも不安」 期間・手間の壁： 「何年もかかるのは待てない。食事中や歯磨き中のケアが面倒そう」 ③ ベネフィット (解決) 目立たない： 透明なマウスピースのため、装着したまま人前で笑ってもバレにくい。 痛みが少ない： 優しい力で少しずつ歯を動かす設計のため、ワイヤーのような激しい痛みを回避できる。 衛生的で快適： 取り外し可能なため、普段通りに食事ができ、歯磨きもしやすい。 短期間で実感： 早い人で3〜6ヶ月、多くが1年以内に完了し、イベントに間に合わせることができる。 圧倒的なコスパ： 従来のワイヤー矯正よりもリーズナブルに治療を開始できる。 ④ 権威性・信頼 他社・従来手法との比較： 「他ブランドとの比較」コンテンツを設け、客観的なポジション（安さ・早さなど）をアピールして納得感を与えている。 全国展開の実績： 東京、大阪だけでなく、北海道から九州まで全国多数のクリニックと提携している事実が、「それだけ選ばれている、信頼されているサービスである」という規模感の証明になっている。 患者の声（事実の提示）： 「多くの方から想像より痛くなかったとお声を頂く」など、実績に基づいた事実を記載。 ⑤ 心理的トリガー 機会損失の回避（イベント喚起）： 「結婚式や大事なイベントまでにキレイな歯並びになりたい」とシチュエーションを提示し、「今始めないと間に合わない」という焦り（緊急性）を生み出している。 不安の払拭（金銭面）： **「ローンが通らなかった方でもご予算内プランをご用意」**という一文が非常に強力。お金がない・審査に落ちた経験があるユーザーの心理的障壁（諦め）を取り除いている。 手軽さの強調： 「取り外しOK」「短期間」を強調し、矯正に対する重い決断を、「これなら自分でもできそう」という軽い決断へと変容させている。 ⑥ クリエイティブ 視覚優位の設計： 文字で長々と説明するのではなく、「選ばれる理由」「他ブランドとの比較」「初回検診の流れ」をすべて画像（バナー・図解）で直感的に見せている（画像ファーストの構成）。 不安を先回りするFAQ： ページ下部にアコーディオン式（タップで開く）のQ&amp;Aを設置し、ユーザーが抱く「痛い？」「いつ治る？」「支払い方法は？」といった疑問を漏れなく回収している。 ⑦ オファー・CTA オファー内容： 「初回検診への申し込み」。いきなり高額な契約をさせるのではなく、まずはクリニックへの来院を促すマイクロコンバージョン（小さなハードル）を設定。 CTAの配置： 各エリアごと（渋谷、新宿、梅田など）にリンク先が分かれたボタンを配置。ユーザーが「自分の通える範囲に店舗があるか」を瞬時に確認でき、そのまま最短距離で予約ページへ飛べる導線設計。 ⑧ 配信先・シチュエーション 想定される配信媒体： Meta広告（Instagram・Facebook）、TikTok広告、LINE広告などのSNS運用型広告。また、「マウスピース矯正」「前歯 矯正 安い」といったリスティング広告（検索連動型広告）。 シチュエーション： Instagramで友人の結婚式の写真などを見て「自分の笑顔（歯並び）」が気になった瞬間。 新生活やイベントを前に、「安く早く治せる方法はないか」とスマホで検索している移動中や夜のリラックスタイム。 【総評】 このLPは、歯列矯正という「高額・長期・苦痛」が伴う商材を、**「美容室やエステに通うような手軽さ」**にまでハードルを下げて見せることに特化しています。特に「ローンに通らない人向けのプラン」まで用意している点は、ターゲットの取りこぼしを防ぐ非常に強力なクロージング要素と言えます。</vt:lpstr>
      <vt:lpstr>PowerPoint プレゼンテーション</vt:lpstr>
      <vt:lpstr>4. CTA・オファー（一番下に配置、アクションを促す） ユーザーが次に何をすべきかを、明確に伝えます。 オファー： 「初回検診」 文字： 「まずは初回検診を予約！」 「全国提携クリニックで予約受付中」 （ボタンのデザインで）「予約する（＞）」   具体的な構成イメージ（3つのパターン） ユーザーの「吹っ切れた微笑み」を、異なる角度から解釈した3つの構成案です。 パターンA：【コスパ・手軽さ】重視（王道） 最も多くの20代女性に刺さる、「これなら私にもできそう」と思わせる構成。 上部文字： 「矯正の常識、吹っ切った！」 中央文字（女性の横）： 「透明」で「安い」マウスピース 下部文字： 初回2.2万円〜！最短3ヶ月！取り外しOK。 CTAボタン： 「初回検診に予約する」 パターンB：【コンプレックス解消・エモーショナル】重視 笑顔になれる喜びを強調し、共感を呼ぶ構成。 上部文字： 「思いっきり笑いたい！」 中央文字： 女性が透明なマウスピースを指差し、吹っ切れた笑顔。 下部文字： 目立たずに、キレイになれる。結婚式や就活にも。 CTAボタン： 「今すぐ自分に合う店舗を探す」 パターンC：【ローン不安解消・実利】重視（LPの強みを最大化） 「お金がない」という諦めを、強力に潰す構成。 上部文字： 「ローンに通らない…と諦めてた。」 中央文字： 諦めていた女性が、キレイラインに出会って吹っ切れた笑顔に変わる（ビフォーアフター的な構成も）。 下部文字： 「予算内プラン」ご用意。月々少額で始められる！ CTAボタン： 「まずは無料カウンセリング」 デザインのアドバイス SNSの仕様を意識： ストーリーズなどの縦長広告では、画面の上部と下部（特に下部1/4）に、広告ラベル（Sponsored）やCTAボタン、アカウント名が重なります。重要な文字や女性の顔は、中央の安全な領域（SafeArea）に配置してください。 フォント： 20代女性向けなので、丸ゴシックや少し手書き風の親しみやすいフォント、または洗練されたゴシック体など。 色： 清潔感のある白、水色、パステル系のピンクや黄色など。 素晴らしいバナーができることを応援しています！ </vt:lpstr>
      <vt:lpstr>これら上げてくれたものを実際にバナーにするためのプロンプトに書き換えて   構想を具現化するために、画像生成AIに入力できる詳細なプロンプトを作成しました。 このプロンプトでは、ユーザー様が仰った**「20代前半の女性が歯を出しながら吹っ切れたように微笑む」というエモーショナルなビジュアルを核にしつつ、LP分析で明らかになった「安さ（初回2.2万円〜）」「目立たない（透明マウスピース）」「痛み・期間の短縮」**という強力な実利情報を、SNS広告に最適な縦長レイアウト（1080x1920）に配置するよう指示しています。   画像生成プロンプト：キレイライン矯正用縦長バナー 【プロンプト】  An advertisement banner, vertical, 1080x1920 pixels, for the Japanese dental alignment service 'キレイライン矯正' (Kireilign Orthodontics). The central visual is a beautiful Japanese woman in her early 20s, with short-to-medium brown hair, laughing openly and broadly, showing a wide, confident, toothy smile, looking immensely relieved and liberated, as if blowing away her old worries. Her skin is clear and glowing, and a transparent dental alignment tray is visible but nearly undetectable on her teeth. She wears an elegant white blouse and simple jewelry. She is in a bright, airy, sunlit modern environment, perhaps a clean clinic reception area or an upscale city cafe, filled with natural light, modern design elements, and soft, warm colors. Background is softly blurred. Large Japanese text is overlaid at the top: 'もう、思いっきり笑える！' (I can laugh with my heart's content now!). Below her smiling face, in the middle-bottom, a stylized, vertical column of icons and text reads: '透明で目立たない' (Transparent, undetectable), '痛みが少ない' (Less pain), '初回2.2万円～' (First ¥2.2k~). At the very bottom, a prominent, colorful call-to-action button reads: '今すぐ初回検診予約' (Book initial consultation now). Below the button, small text states: '*詳細は公式LPへ' (*For details, visit the official LP). The overall style is clean, professional, yet warm, like a premium social media advertisement. The colors are white, light blue, soft pink, and warm gold.  このプロンプトの構成と意図 サイズと目的 (Ad Banner, Vertical, 1080x1920): SNS（Instagramストーリーズ、TikTok）での配信を前提とした縦長フォーマットを指定。 ビジュアルの核心 (Relieved, Toothy Smile): ユーザー様の構想通り、**「吹っ切れたような解放感のある笑顔」**を詳細に描写。コンプレックスが解消された喜びを視覚化しています。 情報の配置 (Text Overlays): 上部フック: エモーショナルな共感を呼ぶコピー「もう、思いっきり笑える！」を大きく配置。 中部事実: LP分析で得た強み（透明、低痛、初回2.2万円〜）を、アイコンと短い単語で列挙。 下部CTA: 行動を促すボタン「今すぐ初回検診予約」を最下部に設置。 雰囲気 (Clean, Warm, Premium): 高額商材を扱いながらも親しみやすく、かつ信頼感のある、美容クリニックのような洗練されたトーンを指示。 このプロンプトを使用することで、視覚的なインパクトと、LPへの誘導に必要な実利情報が両立したバナーを生成できます   </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殿村 亮太</dc:creator>
  <cp:lastModifiedBy>殿村 亮太</cp:lastModifiedBy>
  <cp:revision>1</cp:revision>
  <dcterms:created xsi:type="dcterms:W3CDTF">2026-04-27T08:03:18Z</dcterms:created>
  <dcterms:modified xsi:type="dcterms:W3CDTF">2026-04-27T08:23:18Z</dcterms:modified>
</cp:coreProperties>
</file>