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53.svg" ContentType="image/svg+xml"/>
  <Override PartName="/ppt/media/image55.svg" ContentType="image/svg+xml"/>
  <Override PartName="/ppt/media/image56.svg" ContentType="image/svg+xml"/>
  <Override PartName="/ppt/media/image57.svg" ContentType="image/svg+xml"/>
  <Override PartName="/ppt/media/image5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1"/>
  </p:notesMasterIdLst>
  <p:handoutMasterIdLst>
    <p:handoutMasterId r:id="rId62"/>
  </p:handoutMasterIdLst>
  <p:sldIdLst>
    <p:sldId id="2363" r:id="rId3"/>
    <p:sldId id="2971" r:id="rId4"/>
    <p:sldId id="2993" r:id="rId5"/>
    <p:sldId id="2972" r:id="rId6"/>
    <p:sldId id="2994" r:id="rId7"/>
    <p:sldId id="2995" r:id="rId8"/>
    <p:sldId id="3003" r:id="rId9"/>
    <p:sldId id="3002" r:id="rId10"/>
    <p:sldId id="3001" r:id="rId11"/>
    <p:sldId id="2999" r:id="rId12"/>
    <p:sldId id="3004" r:id="rId13"/>
    <p:sldId id="2736" r:id="rId14"/>
    <p:sldId id="2987" r:id="rId15"/>
    <p:sldId id="2997" r:id="rId16"/>
    <p:sldId id="2996" r:id="rId17"/>
    <p:sldId id="2973" r:id="rId18"/>
    <p:sldId id="2977" r:id="rId19"/>
    <p:sldId id="2979" r:id="rId20"/>
    <p:sldId id="3000" r:id="rId21"/>
    <p:sldId id="2908" r:id="rId22"/>
    <p:sldId id="2998" r:id="rId23"/>
    <p:sldId id="2990" r:id="rId24"/>
    <p:sldId id="3005" r:id="rId25"/>
    <p:sldId id="2986" r:id="rId26"/>
    <p:sldId id="3006" r:id="rId27"/>
    <p:sldId id="2991" r:id="rId28"/>
    <p:sldId id="2737" r:id="rId29"/>
    <p:sldId id="2989" r:id="rId30"/>
    <p:sldId id="2563" r:id="rId31"/>
    <p:sldId id="2959" r:id="rId32"/>
    <p:sldId id="2970" r:id="rId33"/>
    <p:sldId id="2968" r:id="rId34"/>
    <p:sldId id="2969" r:id="rId35"/>
    <p:sldId id="2639" r:id="rId36"/>
    <p:sldId id="2957" r:id="rId37"/>
    <p:sldId id="2951" r:id="rId38"/>
    <p:sldId id="2841" r:id="rId39"/>
    <p:sldId id="2734" r:id="rId40"/>
    <p:sldId id="2595" r:id="rId41"/>
    <p:sldId id="2566" r:id="rId42"/>
    <p:sldId id="2915" r:id="rId43"/>
    <p:sldId id="2619" r:id="rId44"/>
    <p:sldId id="2761" r:id="rId45"/>
    <p:sldId id="2935" r:id="rId46"/>
    <p:sldId id="2919" r:id="rId47"/>
    <p:sldId id="2519" r:id="rId48"/>
    <p:sldId id="2931" r:id="rId49"/>
    <p:sldId id="2749" r:id="rId50"/>
    <p:sldId id="2950" r:id="rId51"/>
    <p:sldId id="2961" r:id="rId52"/>
    <p:sldId id="2849" r:id="rId53"/>
    <p:sldId id="2904" r:id="rId54"/>
    <p:sldId id="2905" r:id="rId55"/>
    <p:sldId id="2906" r:id="rId56"/>
    <p:sldId id="2907" r:id="rId57"/>
    <p:sldId id="2575" r:id="rId58"/>
    <p:sldId id="2910" r:id="rId59"/>
    <p:sldId id="1169" r:id="rId60"/>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slide" Target="slides/slide55.xml"/><Relationship Id="rId58" Type="http://schemas.openxmlformats.org/officeDocument/2006/relationships/slide" Target="slides/slide56.xml"/><Relationship Id="rId59" Type="http://schemas.openxmlformats.org/officeDocument/2006/relationships/slide" Target="slides/slide57.xml"/><Relationship Id="rId60" Type="http://schemas.openxmlformats.org/officeDocument/2006/relationships/slide" Target="slides/slide58.xml"/><Relationship Id="rId61" Type="http://schemas.openxmlformats.org/officeDocument/2006/relationships/notesMaster" Target="notesMasters/notesMaster1.xml"/><Relationship Id="rId62" Type="http://schemas.openxmlformats.org/officeDocument/2006/relationships/handoutMaster" Target="handoutMasters/handout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2026/9/18</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2</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EEE297-1C60-1B47-1371-71E9182BCB3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8E7FAC-7C31-2BF5-99A0-B567314FF81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9D9BB1D-280D-F986-C5BD-B8EA9C52BE9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845DE59-8CC7-2B95-A35B-4990F6D674F1}"/>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24875882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B00FA-BE78-95FE-0350-A4F0396FFF9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C15E1A-F54C-3203-065A-E98A027A099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9AE28B8-9549-F5B4-6969-5885B85CCC6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2C20ED0-F80D-F8F8-F1CB-2D28DC68BCAB}"/>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1918954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6E8F5-BBD3-0231-A307-D47C566A9FD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2BFD107-29C2-1C0C-2391-CF3D41D4AE5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E60E4A0-B5DF-7E8F-9287-E56FCAFE258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61D2291-B783-1AA7-A21C-3450133A3B7C}"/>
              </a:ext>
            </a:extLst>
          </p:cNvPr>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7729162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12A7A-9C17-F191-B8A5-07AB24256E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962CB65-47CA-40CE-B910-EFFA15F9EFB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758557-6179-7BE8-A51E-51B7EB03AE8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FF1C258-C7A8-70CB-60F9-410CC6748283}"/>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17588645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D3C2E-8631-0E38-6C31-C6DED150D2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848057B-4969-D8FF-F0AC-CA210AA37C6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F70A271-6E49-37E3-A907-5C2BD567216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C12D90D-F41A-5474-D369-5759C78B843B}"/>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31628179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880EF-6C8C-B780-9BB3-1B0757C006A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DAB9840-7942-E115-501A-18129D77179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2A1841C-729C-28E2-58FF-5212B200D2B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47DBBA-098F-116B-BB87-D1F9D32E060E}"/>
              </a:ext>
            </a:extLst>
          </p:cNvPr>
          <p:cNvSpPr>
            <a:spLocks noGrp="1"/>
          </p:cNvSpPr>
          <p:nvPr>
            <p:ph type="sldNum" sz="quarter" idx="10"/>
          </p:nvPr>
        </p:nvSpPr>
        <p:spPr/>
        <p:txBody>
          <a:bodyPr/>
          <a:lstStyle/>
          <a:p>
            <a:fld id="{022E43C0-6795-4B13-B37C-259C826D4B6A}" type="slidenum">
              <a:rPr kumimoji="1" lang="ja-JP" altLang="en-US" smtClean="0"/>
              <a:t>10</a:t>
            </a:fld>
            <a:endParaRPr kumimoji="1" lang="ja-JP" altLang="en-US"/>
          </a:p>
        </p:txBody>
      </p:sp>
    </p:spTree>
    <p:extLst>
      <p:ext uri="{BB962C8B-B14F-4D97-AF65-F5344CB8AC3E}">
        <p14:creationId xmlns:p14="http://schemas.microsoft.com/office/powerpoint/2010/main" val="7908184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7BDD3-88EE-99A9-AEE2-C1F41DDABDF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50017B6-5C78-4075-2708-AC5DB83D5C7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CFD86C-83D9-B8F9-9012-A14834B2031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02F5ACB-1F4C-FA7D-D366-8DCBB1214FD9}"/>
              </a:ext>
            </a:extLst>
          </p:cNvPr>
          <p:cNvSpPr>
            <a:spLocks noGrp="1"/>
          </p:cNvSpPr>
          <p:nvPr>
            <p:ph type="sldNum" sz="quarter" idx="10"/>
          </p:nvPr>
        </p:nvSpPr>
        <p:spPr/>
        <p:txBody>
          <a:bodyPr/>
          <a:lstStyle/>
          <a:p>
            <a:fld id="{022E43C0-6795-4B13-B37C-259C826D4B6A}" type="slidenum">
              <a:rPr kumimoji="1" lang="ja-JP" altLang="en-US" smtClean="0"/>
              <a:t>13</a:t>
            </a:fld>
            <a:endParaRPr kumimoji="1" lang="ja-JP" altLang="en-US"/>
          </a:p>
        </p:txBody>
      </p:sp>
    </p:spTree>
    <p:extLst>
      <p:ext uri="{BB962C8B-B14F-4D97-AF65-F5344CB8AC3E}">
        <p14:creationId xmlns:p14="http://schemas.microsoft.com/office/powerpoint/2010/main" val="32913352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8432E-C2C6-89CF-C006-DD360C6CBCD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B7CA1C0-54B2-C273-9EFA-4A233AA33F5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C6AE94C-3A31-DE43-5CF3-F8B06624D4B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92184BA-3FBD-5E23-D138-23E1190BD57E}"/>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7838417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09F94-460F-5A9A-D53E-BD9AF25C600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80BBC6-A0FB-42D9-3A8A-800D9E47CF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7DCB781-2099-65DC-EA96-CC827630AFB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72154FB-F3CF-6922-2040-70A35BD97D62}"/>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10235989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8DFB9-1A0E-AC56-86AB-C554ECA590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6E74640-8F62-6E74-5A21-E69A7415BF6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66DD76-369D-9DB0-5CDC-B936C94EBB6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B7A0C4-A336-4C2C-E97A-0E6D7798D43D}"/>
              </a:ext>
            </a:extLst>
          </p:cNvPr>
          <p:cNvSpPr>
            <a:spLocks noGrp="1"/>
          </p:cNvSpPr>
          <p:nvPr>
            <p:ph type="sldNum" sz="quarter" idx="10"/>
          </p:nvPr>
        </p:nvSpPr>
        <p:spPr/>
        <p:txBody>
          <a:bodyPr/>
          <a:lstStyle/>
          <a:p>
            <a:fld id="{022E43C0-6795-4B13-B37C-259C826D4B6A}" type="slidenum">
              <a:rPr kumimoji="1" lang="ja-JP" altLang="en-US" smtClean="0"/>
              <a:t>16</a:t>
            </a:fld>
            <a:endParaRPr kumimoji="1" lang="ja-JP" altLang="en-US"/>
          </a:p>
        </p:txBody>
      </p:sp>
    </p:spTree>
    <p:extLst>
      <p:ext uri="{BB962C8B-B14F-4D97-AF65-F5344CB8AC3E}">
        <p14:creationId xmlns:p14="http://schemas.microsoft.com/office/powerpoint/2010/main" val="29496486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C3D0E-521D-4421-8E6F-5B072E39273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4E99E-E573-FB69-824A-6A64B973F18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C7418EF-CD86-6501-70F8-B9DD0191527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B86D95-C452-2BDC-5841-170929F80D7E}"/>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39947864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18</a:t>
            </a:fld>
            <a:endParaRPr kumimoji="1" lang="ja-JP" altLang="en-US"/>
          </a:p>
        </p:txBody>
      </p:sp>
    </p:spTree>
    <p:extLst>
      <p:ext uri="{BB962C8B-B14F-4D97-AF65-F5344CB8AC3E}">
        <p14:creationId xmlns:p14="http://schemas.microsoft.com/office/powerpoint/2010/main" val="11585059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66D97-D2AE-47E8-CEF6-DF7B01DBF3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17462C0-C3A5-BB88-91F7-226AFC22447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D40E553-EB2C-9ACD-C50F-CC21DD6D00A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59E7342-2894-A379-2FAD-61B82347D6FE}"/>
              </a:ext>
            </a:extLst>
          </p:cNvPr>
          <p:cNvSpPr>
            <a:spLocks noGrp="1"/>
          </p:cNvSpPr>
          <p:nvPr>
            <p:ph type="sldNum" sz="quarter" idx="10"/>
          </p:nvPr>
        </p:nvSpPr>
        <p:spPr/>
        <p:txBody>
          <a:bodyPr/>
          <a:lstStyle/>
          <a:p>
            <a:fld id="{022E43C0-6795-4B13-B37C-259C826D4B6A}" type="slidenum">
              <a:rPr kumimoji="1" lang="ja-JP" altLang="en-US" smtClean="0"/>
              <a:t>19</a:t>
            </a:fld>
            <a:endParaRPr kumimoji="1" lang="ja-JP" altLang="en-US"/>
          </a:p>
        </p:txBody>
      </p:sp>
    </p:spTree>
    <p:extLst>
      <p:ext uri="{BB962C8B-B14F-4D97-AF65-F5344CB8AC3E}">
        <p14:creationId xmlns:p14="http://schemas.microsoft.com/office/powerpoint/2010/main" val="28297304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BE411-4324-1BAD-C78B-91DF91FD9CC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549732-A76E-5601-F486-7A42B1789D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3275E6F-98B5-9B49-8F3C-8CAF75C8D6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553E365-D354-3F82-CA83-108FC9376A62}"/>
              </a:ext>
            </a:extLst>
          </p:cNvPr>
          <p:cNvSpPr>
            <a:spLocks noGrp="1"/>
          </p:cNvSpPr>
          <p:nvPr>
            <p:ph type="sldNum" sz="quarter" idx="10"/>
          </p:nvPr>
        </p:nvSpPr>
        <p:spPr/>
        <p:txBody>
          <a:bodyPr/>
          <a:lstStyle/>
          <a:p>
            <a:fld id="{022E43C0-6795-4B13-B37C-259C826D4B6A}" type="slidenum">
              <a:rPr kumimoji="1" lang="ja-JP" altLang="en-US" smtClean="0"/>
              <a:t>22</a:t>
            </a:fld>
            <a:endParaRPr kumimoji="1" lang="ja-JP" altLang="en-US"/>
          </a:p>
        </p:txBody>
      </p:sp>
    </p:spTree>
    <p:extLst>
      <p:ext uri="{BB962C8B-B14F-4D97-AF65-F5344CB8AC3E}">
        <p14:creationId xmlns:p14="http://schemas.microsoft.com/office/powerpoint/2010/main" val="18155914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CAC78-50A4-F913-B3AF-274D32241D1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7EBEBB5-128F-0CAF-8FD7-D219209161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79E3D02-55AC-2638-9F09-898F0C8E633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51B9F10-F34C-A78C-BAAF-5494CD58A784}"/>
              </a:ext>
            </a:extLst>
          </p:cNvPr>
          <p:cNvSpPr>
            <a:spLocks noGrp="1"/>
          </p:cNvSpPr>
          <p:nvPr>
            <p:ph type="sldNum" sz="quarter" idx="10"/>
          </p:nvPr>
        </p:nvSpPr>
        <p:spPr/>
        <p:txBody>
          <a:bodyPr/>
          <a:lstStyle/>
          <a:p>
            <a:fld id="{022E43C0-6795-4B13-B37C-259C826D4B6A}" type="slidenum">
              <a:rPr kumimoji="1" lang="ja-JP" altLang="en-US" smtClean="0"/>
              <a:t>24</a:t>
            </a:fld>
            <a:endParaRPr kumimoji="1" lang="ja-JP" altLang="en-US"/>
          </a:p>
        </p:txBody>
      </p:sp>
    </p:spTree>
    <p:extLst>
      <p:ext uri="{BB962C8B-B14F-4D97-AF65-F5344CB8AC3E}">
        <p14:creationId xmlns:p14="http://schemas.microsoft.com/office/powerpoint/2010/main" val="39854538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DBF5B-1845-D193-7974-D86F6501AA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41EA19-E230-7BF9-50E1-64D71F07CF8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0FCC320-6462-2E53-372E-51E35D6A4C3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1D45867-3EDE-BF64-D973-FA5EA5D84F7E}"/>
              </a:ext>
            </a:extLst>
          </p:cNvPr>
          <p:cNvSpPr>
            <a:spLocks noGrp="1"/>
          </p:cNvSpPr>
          <p:nvPr>
            <p:ph type="sldNum" sz="quarter" idx="10"/>
          </p:nvPr>
        </p:nvSpPr>
        <p:spPr/>
        <p:txBody>
          <a:bodyPr/>
          <a:lstStyle/>
          <a:p>
            <a:fld id="{022E43C0-6795-4B13-B37C-259C826D4B6A}" type="slidenum">
              <a:rPr kumimoji="1" lang="ja-JP" altLang="en-US" smtClean="0"/>
              <a:t>26</a:t>
            </a:fld>
            <a:endParaRPr kumimoji="1" lang="ja-JP" altLang="en-US"/>
          </a:p>
        </p:txBody>
      </p:sp>
    </p:spTree>
    <p:extLst>
      <p:ext uri="{BB962C8B-B14F-4D97-AF65-F5344CB8AC3E}">
        <p14:creationId xmlns:p14="http://schemas.microsoft.com/office/powerpoint/2010/main" val="65149959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39</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40</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41</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42</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44</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45</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46</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47</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49</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58</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7.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jpe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jpeg"/><Relationship Id="rId3" Type="http://schemas.openxmlformats.org/officeDocument/2006/relationships/image" Target="../media/image31.jpe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jpe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jpe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7.png"/><Relationship Id="rId4" Type="http://schemas.openxmlformats.org/officeDocument/2006/relationships/image" Target="../media/image4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svg"/><Relationship Id="rId8" Type="http://schemas.openxmlformats.org/officeDocument/2006/relationships/image" Target="../media/image5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55.svg"/><Relationship Id="rId4" Type="http://schemas.openxmlformats.org/officeDocument/2006/relationships/image" Target="../media/image56.svg"/><Relationship Id="rId5" Type="http://schemas.openxmlformats.org/officeDocument/2006/relationships/image" Target="../media/image57.svg"/><Relationship Id="rId6" Type="http://schemas.openxmlformats.org/officeDocument/2006/relationships/image" Target="../media/image58.sv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image" Target="../media/image6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0.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3.emf"/><Relationship Id="rId4" Type="http://schemas.openxmlformats.org/officeDocument/2006/relationships/image" Target="../media/image74.jpeg"/><Relationship Id="rId5" Type="http://schemas.openxmlformats.org/officeDocument/2006/relationships/image" Target="../media/image75.jpeg"/><Relationship Id="rId6" Type="http://schemas.openxmlformats.org/officeDocument/2006/relationships/image" Target="../media/image76.jpeg"/><Relationship Id="rId7" Type="http://schemas.openxmlformats.org/officeDocument/2006/relationships/image" Target="../media/image77.jpeg"/><Relationship Id="rId8" Type="http://schemas.openxmlformats.org/officeDocument/2006/relationships/image" Target="../media/image78.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224725"/>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ja-JP" altLang="en-US" sz="1600" b="1" dirty="0">
                <a:solidFill>
                  <a:schemeClr val="tx1">
                    <a:lumMod val="50000"/>
                    <a:lumOff val="50000"/>
                  </a:schemeClr>
                </a:solidFill>
                <a:latin typeface="Meiryo" panose="020B0604030504040204" pitchFamily="34" charset="-128"/>
                <a:ea typeface="Meiryo" panose="020B0604030504040204" pitchFamily="34" charset="-128"/>
              </a:rPr>
              <a:t>株式会社やる気スイッチグループ 御中</a:t>
            </a:r>
          </a:p>
        </p:txBody>
      </p:sp>
      <p:pic>
        <p:nvPicPr>
          <p:cNvPr id="16" name="図 15">
            <a:extLst>
              <a:ext uri="{FF2B5EF4-FFF2-40B4-BE49-F238E27FC236}">
                <a16:creationId xmlns:a16="http://schemas.microsoft.com/office/drawing/2014/main" id="{F5FA6CC7-CA8F-92E6-C244-18831D0C0295}"/>
              </a:ext>
            </a:extLst>
          </p:cNvPr>
          <p:cNvPicPr>
            <a:picLocks noChangeAspect="1"/>
          </p:cNvPicPr>
          <p:nvPr/>
        </p:nvPicPr>
        <p:blipFill>
          <a:blip r:embed="rId3"/>
          <a:stretch>
            <a:fillRect/>
          </a:stretch>
        </p:blipFill>
        <p:spPr>
          <a:xfrm>
            <a:off x="5297860" y="3402512"/>
            <a:ext cx="1763918" cy="511042"/>
          </a:xfrm>
          <a:prstGeom prst="rect">
            <a:avLst/>
          </a:prstGeom>
        </p:spPr>
      </p:pic>
      <p:pic>
        <p:nvPicPr>
          <p:cNvPr id="18" name="図 17">
            <a:extLst>
              <a:ext uri="{FF2B5EF4-FFF2-40B4-BE49-F238E27FC236}">
                <a16:creationId xmlns:a16="http://schemas.microsoft.com/office/drawing/2014/main" id="{A18567FA-559F-28F3-12A5-872E80F869D3}"/>
              </a:ext>
            </a:extLst>
          </p:cNvPr>
          <p:cNvPicPr>
            <a:picLocks noChangeAspect="1"/>
          </p:cNvPicPr>
          <p:nvPr/>
        </p:nvPicPr>
        <p:blipFill>
          <a:blip r:embed="rId4"/>
          <a:stretch>
            <a:fillRect/>
          </a:stretch>
        </p:blipFill>
        <p:spPr>
          <a:xfrm>
            <a:off x="3099814" y="3370502"/>
            <a:ext cx="1694693" cy="575063"/>
          </a:xfrm>
          <a:prstGeom prst="rect">
            <a:avLst/>
          </a:prstGeom>
        </p:spPr>
      </p:pic>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750B4B-A121-360C-93EE-1C576646E6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9AF57BBF-9E24-A5DD-4EBD-626AA56926E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2F558483-DBE8-2E46-BAD9-E7186808666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954E864-E162-A524-FB6F-26FF53B7022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現状把握</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忍者ナイン</a:t>
            </a:r>
            <a:r>
              <a:rPr lang="en-US" altLang="ja-JP"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29" name="テキスト ボックス 28">
            <a:extLst>
              <a:ext uri="{FF2B5EF4-FFF2-40B4-BE49-F238E27FC236}">
                <a16:creationId xmlns:a16="http://schemas.microsoft.com/office/drawing/2014/main" id="{89944725-A636-ECEB-0A63-635C9AC8D442}"/>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rPr>
              <a:t>LINE</a:t>
            </a:r>
            <a:r>
              <a:rPr lang="ja-JP" altLang="en-US" sz="1200" b="1" dirty="0">
                <a:solidFill>
                  <a:schemeClr val="bg1"/>
                </a:solidFill>
                <a:latin typeface="メイリオ" panose="020B0604030504040204" pitchFamily="50" charset="-128"/>
                <a:ea typeface="メイリオ" panose="020B0604030504040204" pitchFamily="50" charset="-128"/>
              </a:rPr>
              <a:t>ステータス</a:t>
            </a:r>
            <a:endParaRPr lang="ja-JP" altLang="en-US" sz="1200" b="1" dirty="0">
              <a:solidFill>
                <a:schemeClr val="bg1"/>
              </a:solidFill>
            </a:endParaRPr>
          </a:p>
        </p:txBody>
      </p:sp>
      <p:sp>
        <p:nvSpPr>
          <p:cNvPr id="31" name="テキスト ボックス 30">
            <a:extLst>
              <a:ext uri="{FF2B5EF4-FFF2-40B4-BE49-F238E27FC236}">
                <a16:creationId xmlns:a16="http://schemas.microsoft.com/office/drawing/2014/main" id="{4084F56D-F327-A822-5987-1D40EC17F819}"/>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WEB</a:t>
            </a:r>
            <a:r>
              <a:rPr lang="ja-JP" altLang="en-US" sz="1200" dirty="0">
                <a:solidFill>
                  <a:schemeClr val="bg1"/>
                </a:solidFill>
                <a:latin typeface="メイリオ" panose="020B0604030504040204" pitchFamily="50" charset="-128"/>
                <a:ea typeface="メイリオ" panose="020B0604030504040204" pitchFamily="50" charset="-128"/>
              </a:rPr>
              <a:t>サイトステータス</a:t>
            </a:r>
            <a:endParaRPr lang="ja-JP" altLang="en-US" sz="1200" dirty="0">
              <a:solidFill>
                <a:schemeClr val="bg1"/>
              </a:solidFill>
            </a:endParaRPr>
          </a:p>
        </p:txBody>
      </p:sp>
      <p:sp>
        <p:nvSpPr>
          <p:cNvPr id="43" name="テキスト ボックス 42">
            <a:extLst>
              <a:ext uri="{FF2B5EF4-FFF2-40B4-BE49-F238E27FC236}">
                <a16:creationId xmlns:a16="http://schemas.microsoft.com/office/drawing/2014/main" id="{DF252064-AA26-BA2E-6A97-4DB09F013416}"/>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サイト</a:t>
            </a:r>
            <a:r>
              <a:rPr lang="en-US" altLang="ja-JP" sz="1050" dirty="0">
                <a:latin typeface="メイリオ" panose="020B0604030504040204" pitchFamily="50" charset="-128"/>
                <a:ea typeface="メイリオ" panose="020B0604030504040204" pitchFamily="50" charset="-128"/>
              </a:rPr>
              <a:t>CV</a:t>
            </a:r>
            <a:r>
              <a:rPr lang="ja-JP" altLang="en-US" sz="1050" dirty="0">
                <a:latin typeface="メイリオ" panose="020B0604030504040204" pitchFamily="50" charset="-128"/>
                <a:ea typeface="メイリオ" panose="020B0604030504040204" pitchFamily="50" charset="-128"/>
              </a:rPr>
              <a:t>としては</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電話</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と</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無料体験</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を設置。</a:t>
            </a:r>
            <a:endParaRPr lang="en-US" altLang="ja-JP" sz="1050" dirty="0">
              <a:latin typeface="メイリオ" panose="020B0604030504040204" pitchFamily="50" charset="-128"/>
              <a:ea typeface="メイリオ" panose="020B0604030504040204" pitchFamily="50" charset="-128"/>
            </a:endParaRPr>
          </a:p>
          <a:p>
            <a:pPr algn="ctr"/>
            <a:r>
              <a:rPr lang="ja-JP" altLang="en-US" sz="1050" dirty="0">
                <a:latin typeface="メイリオ" panose="020B0604030504040204" pitchFamily="50" charset="-128"/>
                <a:ea typeface="メイリオ" panose="020B0604030504040204" pitchFamily="50" charset="-128"/>
              </a:rPr>
              <a:t>検索面</a:t>
            </a:r>
            <a:r>
              <a:rPr lang="en-US" altLang="ja-JP" sz="1050" dirty="0">
                <a:latin typeface="メイリオ" panose="020B0604030504040204" pitchFamily="50" charset="-128"/>
                <a:ea typeface="メイリオ" panose="020B0604030504040204" pitchFamily="50" charset="-128"/>
              </a:rPr>
              <a:t>(SEO,AD)</a:t>
            </a:r>
            <a:r>
              <a:rPr lang="ja-JP" altLang="en-US" sz="1050" dirty="0">
                <a:latin typeface="メイリオ" panose="020B0604030504040204" pitchFamily="50" charset="-128"/>
                <a:ea typeface="メイリオ" panose="020B0604030504040204" pitchFamily="50" charset="-128"/>
              </a:rPr>
              <a:t>とディスプレイがメイン流入元。</a:t>
            </a:r>
            <a:endParaRPr lang="en-US" altLang="ja-JP" sz="1050" dirty="0">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A9D49B02-3153-70EA-C9DA-F1F7EE54CE44}"/>
              </a:ext>
            </a:extLst>
          </p:cNvPr>
          <p:cNvSpPr txBox="1"/>
          <p:nvPr/>
        </p:nvSpPr>
        <p:spPr>
          <a:xfrm>
            <a:off x="4801043" y="5699170"/>
            <a:ext cx="4492485" cy="253916"/>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現状</a:t>
            </a:r>
            <a:r>
              <a:rPr lang="en-US" altLang="ja-JP" sz="1050" dirty="0">
                <a:latin typeface="メイリオ" panose="020B0604030504040204" pitchFamily="50" charset="-128"/>
                <a:ea typeface="メイリオ" panose="020B0604030504040204" pitchFamily="50" charset="-128"/>
              </a:rPr>
              <a:t>LINE</a:t>
            </a:r>
            <a:r>
              <a:rPr lang="ja-JP" altLang="en-US" sz="1050" dirty="0">
                <a:latin typeface="メイリオ" panose="020B0604030504040204" pitchFamily="50" charset="-128"/>
                <a:ea typeface="メイリオ" panose="020B0604030504040204" pitchFamily="50" charset="-128"/>
              </a:rPr>
              <a:t>公式アカウントの保有・運用はなし。</a:t>
            </a:r>
            <a:endParaRPr lang="en-US" altLang="ja-JP" sz="1050" dirty="0">
              <a:latin typeface="メイリオ" panose="020B0604030504040204" pitchFamily="50" charset="-128"/>
              <a:ea typeface="メイリオ" panose="020B0604030504040204" pitchFamily="50" charset="-128"/>
            </a:endParaRPr>
          </a:p>
        </p:txBody>
      </p:sp>
      <p:pic>
        <p:nvPicPr>
          <p:cNvPr id="55" name="図 54">
            <a:extLst>
              <a:ext uri="{FF2B5EF4-FFF2-40B4-BE49-F238E27FC236}">
                <a16:creationId xmlns:a16="http://schemas.microsoft.com/office/drawing/2014/main" id="{A0055F99-5527-C0F0-D670-596AA96C9DB0}"/>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B2CAE599-CD63-C0C4-6166-4C1744AE2DDD}"/>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63" name="テキスト ボックス 62">
            <a:extLst>
              <a:ext uri="{FF2B5EF4-FFF2-40B4-BE49-F238E27FC236}">
                <a16:creationId xmlns:a16="http://schemas.microsoft.com/office/drawing/2014/main" id="{EB2DD2D7-F323-5565-89B7-F197B808D898}"/>
              </a:ext>
            </a:extLst>
          </p:cNvPr>
          <p:cNvSpPr txBox="1"/>
          <p:nvPr/>
        </p:nvSpPr>
        <p:spPr>
          <a:xfrm>
            <a:off x="5052929" y="3351808"/>
            <a:ext cx="1230966" cy="253916"/>
          </a:xfrm>
          <a:prstGeom prst="rect">
            <a:avLst/>
          </a:prstGeom>
          <a:solidFill>
            <a:schemeClr val="bg1">
              <a:lumMod val="95000"/>
            </a:schemeClr>
          </a:solid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未保有</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65" name="テキスト ボックス 64">
            <a:extLst>
              <a:ext uri="{FF2B5EF4-FFF2-40B4-BE49-F238E27FC236}">
                <a16:creationId xmlns:a16="http://schemas.microsoft.com/office/drawing/2014/main" id="{C742707A-0EFE-C959-2429-B7F41C6A6533}"/>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サイト</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67" name="テキスト ボックス 66">
            <a:extLst>
              <a:ext uri="{FF2B5EF4-FFF2-40B4-BE49-F238E27FC236}">
                <a16:creationId xmlns:a16="http://schemas.microsoft.com/office/drawing/2014/main" id="{F4B640EE-F406-8C64-40BB-99B4F8666757}"/>
              </a:ext>
            </a:extLst>
          </p:cNvPr>
          <p:cNvSpPr txBox="1"/>
          <p:nvPr/>
        </p:nvSpPr>
        <p:spPr>
          <a:xfrm>
            <a:off x="2137430" y="5174170"/>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rPr>
              <a:t>※</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いずれも貴社ヒヤリング、外部計測</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a:p>
            <a:r>
              <a:rPr lang="ja-JP" altLang="en-US" sz="900" dirty="0">
                <a:solidFill>
                  <a:schemeClr val="bg1">
                    <a:lumMod val="65000"/>
                  </a:schemeClr>
                </a:solidFill>
                <a:latin typeface="メイリオ" panose="020B0604030504040204" pitchFamily="50" charset="-128"/>
                <a:ea typeface="メイリオ" panose="020B0604030504040204" pitchFamily="50" charset="-128"/>
              </a:rPr>
              <a:t>　をもとにした想定数値となります。</a:t>
            </a:r>
            <a:endParaRPr lang="ja-JP" altLang="en-US" sz="1400" dirty="0">
              <a:solidFill>
                <a:schemeClr val="bg1">
                  <a:lumMod val="65000"/>
                </a:schemeClr>
              </a:solidFill>
            </a:endParaRPr>
          </a:p>
        </p:txBody>
      </p:sp>
      <p:sp>
        <p:nvSpPr>
          <p:cNvPr id="69" name="テキスト ボックス 68">
            <a:extLst>
              <a:ext uri="{FF2B5EF4-FFF2-40B4-BE49-F238E27FC236}">
                <a16:creationId xmlns:a16="http://schemas.microsoft.com/office/drawing/2014/main" id="{005CE4EC-9DAD-614D-EF21-189AC4A54B8B}"/>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71" name="テキスト ボックス 70">
            <a:extLst>
              <a:ext uri="{FF2B5EF4-FFF2-40B4-BE49-F238E27FC236}">
                <a16:creationId xmlns:a16="http://schemas.microsoft.com/office/drawing/2014/main" id="{E9F2E720-D964-9A60-45CD-5C6E8BAA980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広告費用</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C569673A-D559-A164-179E-003DC44124E7}"/>
              </a:ext>
            </a:extLst>
          </p:cNvPr>
          <p:cNvSpPr txBox="1"/>
          <p:nvPr/>
        </p:nvSpPr>
        <p:spPr>
          <a:xfrm>
            <a:off x="2134777" y="485814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メイン流入元</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5" name="テキスト ボックス 74">
            <a:extLst>
              <a:ext uri="{FF2B5EF4-FFF2-40B4-BE49-F238E27FC236}">
                <a16:creationId xmlns:a16="http://schemas.microsoft.com/office/drawing/2014/main" id="{5DF15628-8396-5390-0708-F6E808EFAAFF}"/>
              </a:ext>
            </a:extLst>
          </p:cNvPr>
          <p:cNvSpPr txBox="1"/>
          <p:nvPr/>
        </p:nvSpPr>
        <p:spPr>
          <a:xfrm>
            <a:off x="2134777" y="454211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他</a:t>
            </a:r>
            <a:r>
              <a:rPr lang="en-US" altLang="ja-JP" sz="1000" dirty="0">
                <a:solidFill>
                  <a:schemeClr val="bg1"/>
                </a:solidFill>
                <a:latin typeface="メイリオ" panose="020B0604030504040204" pitchFamily="50" charset="-128"/>
                <a:ea typeface="メイリオ" panose="020B0604030504040204" pitchFamily="50" charset="-128"/>
              </a:rPr>
              <a:t>SNS</a:t>
            </a:r>
          </a:p>
        </p:txBody>
      </p:sp>
      <p:sp>
        <p:nvSpPr>
          <p:cNvPr id="76" name="テキスト ボックス 75">
            <a:extLst>
              <a:ext uri="{FF2B5EF4-FFF2-40B4-BE49-F238E27FC236}">
                <a16:creationId xmlns:a16="http://schemas.microsoft.com/office/drawing/2014/main" id="{4C5B2CB3-9726-166D-3753-A503CCEF0A26}"/>
              </a:ext>
            </a:extLst>
          </p:cNvPr>
          <p:cNvSpPr txBox="1"/>
          <p:nvPr/>
        </p:nvSpPr>
        <p:spPr>
          <a:xfrm>
            <a:off x="2134777" y="422609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リード保有数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DC4812CB-3D04-2C5B-A271-41DFEDCAB4C8}"/>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a:t>
            </a: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0482930D-56AE-298D-A6EB-FFBDE40ECC00}"/>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地点</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2" name="テキスト ボックス 81">
            <a:extLst>
              <a:ext uri="{FF2B5EF4-FFF2-40B4-BE49-F238E27FC236}">
                <a16:creationId xmlns:a16="http://schemas.microsoft.com/office/drawing/2014/main" id="{3C4E2BA0-63A7-25D9-1A97-5C69DFD79C77}"/>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LINE</a:t>
            </a:r>
            <a:r>
              <a:rPr lang="ja-JP" altLang="en-US" sz="1000" dirty="0">
                <a:solidFill>
                  <a:schemeClr val="bg1"/>
                </a:solidFill>
                <a:latin typeface="メイリオ" panose="020B0604030504040204" pitchFamily="50" charset="-128"/>
                <a:ea typeface="メイリオ" panose="020B0604030504040204" pitchFamily="50" charset="-128"/>
              </a:rPr>
              <a:t>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4" name="テキスト ボックス 83">
            <a:extLst>
              <a:ext uri="{FF2B5EF4-FFF2-40B4-BE49-F238E27FC236}">
                <a16:creationId xmlns:a16="http://schemas.microsoft.com/office/drawing/2014/main" id="{7302A54D-423F-C71A-CF81-E2452E967C73}"/>
              </a:ext>
            </a:extLst>
          </p:cNvPr>
          <p:cNvSpPr txBox="1"/>
          <p:nvPr/>
        </p:nvSpPr>
        <p:spPr>
          <a:xfrm>
            <a:off x="2134777" y="3910066"/>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広告余地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6" name="テキスト ボックス 85">
            <a:extLst>
              <a:ext uri="{FF2B5EF4-FFF2-40B4-BE49-F238E27FC236}">
                <a16:creationId xmlns:a16="http://schemas.microsoft.com/office/drawing/2014/main" id="{EE72F3BF-6AE9-F7CC-CE6A-1536B8F8A660}"/>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友だち数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8" name="テキスト ボックス 87">
            <a:extLst>
              <a:ext uri="{FF2B5EF4-FFF2-40B4-BE49-F238E27FC236}">
                <a16:creationId xmlns:a16="http://schemas.microsoft.com/office/drawing/2014/main" id="{01CD0233-3F13-52A2-0BD2-A107006D060A}"/>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アクティブ数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0" name="テキスト ボックス 89">
            <a:extLst>
              <a:ext uri="{FF2B5EF4-FFF2-40B4-BE49-F238E27FC236}">
                <a16:creationId xmlns:a16="http://schemas.microsoft.com/office/drawing/2014/main" id="{E7B4DAA3-597E-9850-4FC5-7AEEE3895876}"/>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ブロック率</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2" name="テキスト ボックス 91">
            <a:extLst>
              <a:ext uri="{FF2B5EF4-FFF2-40B4-BE49-F238E27FC236}">
                <a16:creationId xmlns:a16="http://schemas.microsoft.com/office/drawing/2014/main" id="{88937895-903D-2714-B911-64B989A6665C}"/>
              </a:ext>
            </a:extLst>
          </p:cNvPr>
          <p:cNvSpPr txBox="1"/>
          <p:nvPr/>
        </p:nvSpPr>
        <p:spPr>
          <a:xfrm>
            <a:off x="6624506" y="4863565"/>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C4822FE9-074B-EE00-9A49-F386569EF4E6}"/>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ツール</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6" name="テキスト ボックス 95">
            <a:extLst>
              <a:ext uri="{FF2B5EF4-FFF2-40B4-BE49-F238E27FC236}">
                <a16:creationId xmlns:a16="http://schemas.microsoft.com/office/drawing/2014/main" id="{E79733FB-6A51-DF26-D629-AE6F7073025B}"/>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想定コスト</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8" name="テキスト ボックス 97">
            <a:extLst>
              <a:ext uri="{FF2B5EF4-FFF2-40B4-BE49-F238E27FC236}">
                <a16:creationId xmlns:a16="http://schemas.microsoft.com/office/drawing/2014/main" id="{0B4493A0-88F0-89E9-9CBF-885AEEBFF9AC}"/>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月間投稿数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0" name="テキスト ボックス 99">
            <a:extLst>
              <a:ext uri="{FF2B5EF4-FFF2-40B4-BE49-F238E27FC236}">
                <a16:creationId xmlns:a16="http://schemas.microsoft.com/office/drawing/2014/main" id="{EE73B576-3B41-B994-1FCA-9ED3BC1A3172}"/>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ステップ実施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2" name="テキスト ボックス 101">
            <a:extLst>
              <a:ext uri="{FF2B5EF4-FFF2-40B4-BE49-F238E27FC236}">
                <a16:creationId xmlns:a16="http://schemas.microsoft.com/office/drawing/2014/main" id="{F2C9EB15-683C-4B0A-1EE1-C4245240F17A}"/>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4" name="テキスト ボックス 103">
            <a:extLst>
              <a:ext uri="{FF2B5EF4-FFF2-40B4-BE49-F238E27FC236}">
                <a16:creationId xmlns:a16="http://schemas.microsoft.com/office/drawing/2014/main" id="{AABDA6DE-2BAF-ADF7-0424-50D388AC01E5}"/>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プロフ動線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6" name="テキスト ボックス 105">
            <a:extLst>
              <a:ext uri="{FF2B5EF4-FFF2-40B4-BE49-F238E27FC236}">
                <a16:creationId xmlns:a16="http://schemas.microsoft.com/office/drawing/2014/main" id="{6C91CF70-D90C-4141-8B26-5B1DD07D7D1D}"/>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17,607</a:t>
            </a:r>
          </a:p>
        </p:txBody>
      </p:sp>
      <p:sp>
        <p:nvSpPr>
          <p:cNvPr id="108" name="テキスト ボックス 107">
            <a:extLst>
              <a:ext uri="{FF2B5EF4-FFF2-40B4-BE49-F238E27FC236}">
                <a16:creationId xmlns:a16="http://schemas.microsoft.com/office/drawing/2014/main" id="{2786C9AD-9375-AA46-5333-046CCBB18FE2}"/>
              </a:ext>
            </a:extLst>
          </p:cNvPr>
          <p:cNvSpPr txBox="1"/>
          <p:nvPr/>
        </p:nvSpPr>
        <p:spPr>
          <a:xfrm>
            <a:off x="3229084" y="2339204"/>
            <a:ext cx="1360330" cy="246221"/>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7,000</a:t>
            </a:r>
            <a:endParaRPr lang="en-US" altLang="ja-JP" sz="700" b="1" dirty="0">
              <a:latin typeface="メイリオ" panose="020B0604030504040204" pitchFamily="50" charset="-128"/>
              <a:ea typeface="メイリオ" panose="020B0604030504040204" pitchFamily="50" charset="-128"/>
            </a:endParaRPr>
          </a:p>
        </p:txBody>
      </p:sp>
      <p:sp>
        <p:nvSpPr>
          <p:cNvPr id="110" name="テキスト ボックス 109">
            <a:extLst>
              <a:ext uri="{FF2B5EF4-FFF2-40B4-BE49-F238E27FC236}">
                <a16:creationId xmlns:a16="http://schemas.microsoft.com/office/drawing/2014/main" id="{813069E4-69E1-66A2-90C2-822AF2276F64}"/>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2" name="テキスト ボックス 111">
            <a:extLst>
              <a:ext uri="{FF2B5EF4-FFF2-40B4-BE49-F238E27FC236}">
                <a16:creationId xmlns:a16="http://schemas.microsoft.com/office/drawing/2014/main" id="{9864CA39-A311-2EB8-804E-4F1BBDF74575}"/>
              </a:ext>
            </a:extLst>
          </p:cNvPr>
          <p:cNvSpPr txBox="1"/>
          <p:nvPr/>
        </p:nvSpPr>
        <p:spPr>
          <a:xfrm>
            <a:off x="3229084" y="4863565"/>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オーガニック</a:t>
            </a:r>
            <a:endParaRPr lang="en-US" altLang="ja-JP" sz="1000" b="1" dirty="0">
              <a:latin typeface="メイリオ" panose="020B0604030504040204" pitchFamily="50" charset="-128"/>
              <a:ea typeface="メイリオ" panose="020B0604030504040204" pitchFamily="50" charset="-128"/>
            </a:endParaRPr>
          </a:p>
        </p:txBody>
      </p:sp>
      <p:sp>
        <p:nvSpPr>
          <p:cNvPr id="114" name="テキスト ボックス 113">
            <a:extLst>
              <a:ext uri="{FF2B5EF4-FFF2-40B4-BE49-F238E27FC236}">
                <a16:creationId xmlns:a16="http://schemas.microsoft.com/office/drawing/2014/main" id="{EDFB7A90-75B8-B37D-145F-272542CA021E}"/>
              </a:ext>
            </a:extLst>
          </p:cNvPr>
          <p:cNvSpPr txBox="1"/>
          <p:nvPr/>
        </p:nvSpPr>
        <p:spPr>
          <a:xfrm>
            <a:off x="3229084" y="4551386"/>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6" name="テキスト ボックス 115">
            <a:extLst>
              <a:ext uri="{FF2B5EF4-FFF2-40B4-BE49-F238E27FC236}">
                <a16:creationId xmlns:a16="http://schemas.microsoft.com/office/drawing/2014/main" id="{EFFD1CA4-9630-0E9F-4C5E-ED52F6370CB1}"/>
              </a:ext>
            </a:extLst>
          </p:cNvPr>
          <p:cNvSpPr txBox="1"/>
          <p:nvPr/>
        </p:nvSpPr>
        <p:spPr>
          <a:xfrm>
            <a:off x="3229084" y="423151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8" name="テキスト ボックス 117">
            <a:extLst>
              <a:ext uri="{FF2B5EF4-FFF2-40B4-BE49-F238E27FC236}">
                <a16:creationId xmlns:a16="http://schemas.microsoft.com/office/drawing/2014/main" id="{550EE59A-47D1-9367-09B0-1A6F7E0AE0E3}"/>
              </a:ext>
            </a:extLst>
          </p:cNvPr>
          <p:cNvSpPr txBox="1"/>
          <p:nvPr/>
        </p:nvSpPr>
        <p:spPr>
          <a:xfrm>
            <a:off x="3229084" y="2967409"/>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20" name="テキスト ボックス 119">
            <a:extLst>
              <a:ext uri="{FF2B5EF4-FFF2-40B4-BE49-F238E27FC236}">
                <a16:creationId xmlns:a16="http://schemas.microsoft.com/office/drawing/2014/main" id="{23698D91-4F04-ED85-ACCD-AD4A9AC48A1B}"/>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rgbClr val="FF0000"/>
                </a:solidFill>
                <a:latin typeface="メイリオ" panose="020B0604030504040204" pitchFamily="50" charset="-128"/>
                <a:ea typeface="メイリオ" panose="020B0604030504040204" pitchFamily="50" charset="-128"/>
              </a:rPr>
              <a:t>無料体験</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22" name="テキスト ボックス 121">
            <a:extLst>
              <a:ext uri="{FF2B5EF4-FFF2-40B4-BE49-F238E27FC236}">
                <a16:creationId xmlns:a16="http://schemas.microsoft.com/office/drawing/2014/main" id="{5E8D7F39-4F6F-4AF2-4196-C2EA1FC38898}"/>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未設定</a:t>
            </a:r>
            <a:endParaRPr lang="en-US" altLang="ja-JP" sz="1000" b="1" dirty="0">
              <a:latin typeface="メイリオ" panose="020B0604030504040204" pitchFamily="50" charset="-128"/>
              <a:ea typeface="メイリオ" panose="020B0604030504040204" pitchFamily="50" charset="-128"/>
            </a:endParaRPr>
          </a:p>
        </p:txBody>
      </p:sp>
      <p:sp>
        <p:nvSpPr>
          <p:cNvPr id="124" name="テキスト ボックス 123">
            <a:extLst>
              <a:ext uri="{FF2B5EF4-FFF2-40B4-BE49-F238E27FC236}">
                <a16:creationId xmlns:a16="http://schemas.microsoft.com/office/drawing/2014/main" id="{D32F8AF1-295B-DEF7-DF39-7ADF991996BA}"/>
              </a:ext>
            </a:extLst>
          </p:cNvPr>
          <p:cNvSpPr txBox="1"/>
          <p:nvPr/>
        </p:nvSpPr>
        <p:spPr>
          <a:xfrm>
            <a:off x="3229084" y="3915487"/>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有</a:t>
            </a:r>
            <a:endParaRPr lang="en-US" altLang="ja-JP" sz="1000" b="1" dirty="0">
              <a:latin typeface="メイリオ" panose="020B0604030504040204" pitchFamily="50" charset="-128"/>
              <a:ea typeface="メイリオ" panose="020B0604030504040204" pitchFamily="50" charset="-128"/>
            </a:endParaRPr>
          </a:p>
        </p:txBody>
      </p:sp>
      <p:sp>
        <p:nvSpPr>
          <p:cNvPr id="169" name="テキスト ボックス 168">
            <a:extLst>
              <a:ext uri="{FF2B5EF4-FFF2-40B4-BE49-F238E27FC236}">
                <a16:creationId xmlns:a16="http://schemas.microsoft.com/office/drawing/2014/main" id="{7D910DD2-60FF-DE1D-244F-84DABD92D62C}"/>
              </a:ext>
            </a:extLst>
          </p:cNvPr>
          <p:cNvSpPr txBox="1"/>
          <p:nvPr/>
        </p:nvSpPr>
        <p:spPr>
          <a:xfrm>
            <a:off x="6624505" y="5184313"/>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171" name="テキスト ボックス 170">
            <a:extLst>
              <a:ext uri="{FF2B5EF4-FFF2-40B4-BE49-F238E27FC236}">
                <a16:creationId xmlns:a16="http://schemas.microsoft.com/office/drawing/2014/main" id="{C08B973B-E807-9696-E35D-A7AFE85B05D4}"/>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3" name="テキスト ボックス 172">
            <a:extLst>
              <a:ext uri="{FF2B5EF4-FFF2-40B4-BE49-F238E27FC236}">
                <a16:creationId xmlns:a16="http://schemas.microsoft.com/office/drawing/2014/main" id="{20E8600C-74F6-D8CE-13DD-E436F6712689}"/>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5" name="テキスト ボックス 174">
            <a:extLst>
              <a:ext uri="{FF2B5EF4-FFF2-40B4-BE49-F238E27FC236}">
                <a16:creationId xmlns:a16="http://schemas.microsoft.com/office/drawing/2014/main" id="{A09F1BA2-66AE-1801-55BA-97DAABCF1F8A}"/>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7" name="テキスト ボックス 176">
            <a:extLst>
              <a:ext uri="{FF2B5EF4-FFF2-40B4-BE49-F238E27FC236}">
                <a16:creationId xmlns:a16="http://schemas.microsoft.com/office/drawing/2014/main" id="{14E58E5E-2D77-90E6-91E8-9955CA80F448}"/>
              </a:ext>
            </a:extLst>
          </p:cNvPr>
          <p:cNvSpPr txBox="1"/>
          <p:nvPr/>
        </p:nvSpPr>
        <p:spPr>
          <a:xfrm>
            <a:off x="7754601" y="4865724"/>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79" name="テキスト ボックス 178">
            <a:extLst>
              <a:ext uri="{FF2B5EF4-FFF2-40B4-BE49-F238E27FC236}">
                <a16:creationId xmlns:a16="http://schemas.microsoft.com/office/drawing/2014/main" id="{6C59D28E-FF8E-2297-95D2-CE45250AC0A3}"/>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1" name="テキスト ボックス 180">
            <a:extLst>
              <a:ext uri="{FF2B5EF4-FFF2-40B4-BE49-F238E27FC236}">
                <a16:creationId xmlns:a16="http://schemas.microsoft.com/office/drawing/2014/main" id="{47410AFA-018D-A9C2-B086-8AF69BAA4489}"/>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3" name="テキスト ボックス 182">
            <a:extLst>
              <a:ext uri="{FF2B5EF4-FFF2-40B4-BE49-F238E27FC236}">
                <a16:creationId xmlns:a16="http://schemas.microsoft.com/office/drawing/2014/main" id="{165EBB6B-ADB3-3E8C-14D2-AB834625C2FE}"/>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5" name="テキスト ボックス 184">
            <a:extLst>
              <a:ext uri="{FF2B5EF4-FFF2-40B4-BE49-F238E27FC236}">
                <a16:creationId xmlns:a16="http://schemas.microsoft.com/office/drawing/2014/main" id="{3A3BFABF-D395-60F7-F2BD-02619745DF45}"/>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7" name="テキスト ボックス 186">
            <a:extLst>
              <a:ext uri="{FF2B5EF4-FFF2-40B4-BE49-F238E27FC236}">
                <a16:creationId xmlns:a16="http://schemas.microsoft.com/office/drawing/2014/main" id="{231C25BF-5B10-E199-7FC9-7E0D6694588F}"/>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9" name="テキスト ボックス 188">
            <a:extLst>
              <a:ext uri="{FF2B5EF4-FFF2-40B4-BE49-F238E27FC236}">
                <a16:creationId xmlns:a16="http://schemas.microsoft.com/office/drawing/2014/main" id="{CDB65BA8-4992-8A6F-6949-F0D9E629721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91" name="テキスト ボックス 190">
            <a:extLst>
              <a:ext uri="{FF2B5EF4-FFF2-40B4-BE49-F238E27FC236}">
                <a16:creationId xmlns:a16="http://schemas.microsoft.com/office/drawing/2014/main" id="{18879675-133C-898A-AB5B-286927352D72}"/>
              </a:ext>
            </a:extLst>
          </p:cNvPr>
          <p:cNvSpPr txBox="1"/>
          <p:nvPr/>
        </p:nvSpPr>
        <p:spPr>
          <a:xfrm>
            <a:off x="7754600" y="5186472"/>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3" name="テキスト ボックス 12">
            <a:extLst>
              <a:ext uri="{FF2B5EF4-FFF2-40B4-BE49-F238E27FC236}">
                <a16:creationId xmlns:a16="http://schemas.microsoft.com/office/drawing/2014/main" id="{780FE50C-6BE9-89A2-9A39-FEB38C461055}"/>
              </a:ext>
            </a:extLst>
          </p:cNvPr>
          <p:cNvSpPr txBox="1"/>
          <p:nvPr/>
        </p:nvSpPr>
        <p:spPr>
          <a:xfrm>
            <a:off x="605520" y="806419"/>
            <a:ext cx="8797260" cy="461665"/>
          </a:xfrm>
          <a:prstGeom prst="rect">
            <a:avLst/>
          </a:prstGeom>
          <a:noFill/>
        </p:spPr>
        <p:txBody>
          <a:bodyPr wrap="square">
            <a:spAutoFit/>
          </a:bodyPr>
          <a:lstStyle/>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サイト流入数は安定していそうだが、</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AD</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3%</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、通常で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0.7%</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前後の体験申込</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CVR</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が参考数値、</a:t>
            </a:r>
            <a:endParaRPr lang="en-US" altLang="ja-JP" sz="12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更に</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施策を導入していくことで、</a:t>
            </a:r>
            <a:r>
              <a:rPr lang="ja-JP" altLang="en-US" sz="1200" b="1" dirty="0">
                <a:solidFill>
                  <a:srgbClr val="FF0000"/>
                </a:solidFill>
                <a:latin typeface="Meiryo" panose="020B0604030504040204" pitchFamily="34" charset="-128"/>
                <a:ea typeface="Meiryo" panose="020B0604030504040204" pitchFamily="34" charset="-128"/>
              </a:rPr>
              <a:t>離脱アクションの削減 </a:t>
            </a:r>
            <a:r>
              <a:rPr lang="en-US" altLang="ja-JP" sz="1200" b="1" dirty="0">
                <a:solidFill>
                  <a:srgbClr val="FF0000"/>
                </a:solidFill>
                <a:latin typeface="Meiryo" panose="020B0604030504040204" pitchFamily="34" charset="-128"/>
                <a:ea typeface="Meiryo" panose="020B0604030504040204" pitchFamily="34" charset="-128"/>
              </a:rPr>
              <a:t>/ </a:t>
            </a:r>
            <a:r>
              <a:rPr lang="ja-JP" altLang="en-US" sz="1200" b="1" dirty="0">
                <a:solidFill>
                  <a:srgbClr val="FF0000"/>
                </a:solidFill>
                <a:latin typeface="Meiryo" panose="020B0604030504040204" pitchFamily="34" charset="-128"/>
                <a:ea typeface="Meiryo" panose="020B0604030504040204" pitchFamily="34" charset="-128"/>
              </a:rPr>
              <a:t>引上げの増加 を図って</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いく。</a:t>
            </a:r>
            <a:endParaRPr lang="ja-JP" altLang="en-US" sz="1400" dirty="0"/>
          </a:p>
        </p:txBody>
      </p:sp>
      <p:pic>
        <p:nvPicPr>
          <p:cNvPr id="11" name="図 10">
            <a:extLst>
              <a:ext uri="{FF2B5EF4-FFF2-40B4-BE49-F238E27FC236}">
                <a16:creationId xmlns:a16="http://schemas.microsoft.com/office/drawing/2014/main" id="{CF50BD48-FC75-6DA2-1A57-02F2D17728F6}"/>
              </a:ext>
            </a:extLst>
          </p:cNvPr>
          <p:cNvPicPr>
            <a:picLocks noChangeAspect="1"/>
          </p:cNvPicPr>
          <p:nvPr/>
        </p:nvPicPr>
        <p:blipFill>
          <a:blip r:embed="rId4"/>
          <a:stretch>
            <a:fillRect/>
          </a:stretch>
        </p:blipFill>
        <p:spPr>
          <a:xfrm>
            <a:off x="495219" y="2017307"/>
            <a:ext cx="1575169" cy="3199306"/>
          </a:xfrm>
          <a:prstGeom prst="rect">
            <a:avLst/>
          </a:prstGeom>
        </p:spPr>
      </p:pic>
      <p:sp>
        <p:nvSpPr>
          <p:cNvPr id="15" name="テキスト ボックス 14">
            <a:extLst>
              <a:ext uri="{FF2B5EF4-FFF2-40B4-BE49-F238E27FC236}">
                <a16:creationId xmlns:a16="http://schemas.microsoft.com/office/drawing/2014/main" id="{721AAE50-63B8-A073-1228-D24794D0EE6B}"/>
              </a:ext>
            </a:extLst>
          </p:cNvPr>
          <p:cNvSpPr txBox="1"/>
          <p:nvPr/>
        </p:nvSpPr>
        <p:spPr>
          <a:xfrm>
            <a:off x="6578863"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FD3AAEC4-2DF3-24CA-07F4-78FF480D3C0B}"/>
              </a:ext>
            </a:extLst>
          </p:cNvPr>
          <p:cNvSpPr txBox="1"/>
          <p:nvPr/>
        </p:nvSpPr>
        <p:spPr>
          <a:xfrm>
            <a:off x="6578862"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1D9925E0-24D6-764D-FC59-198A43FE162D}"/>
              </a:ext>
            </a:extLst>
          </p:cNvPr>
          <p:cNvSpPr txBox="1"/>
          <p:nvPr/>
        </p:nvSpPr>
        <p:spPr>
          <a:xfrm>
            <a:off x="6596742" y="194900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784845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850E5-D5A1-CFDF-111D-4022C3ACFF30}"/>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E31A894-E8DC-C040-E38B-038A8EF528E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AD68C335-D806-837C-26CA-E0BD169C64B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9F2C0452-B9E6-F1EE-DD53-83755CCCC880}"/>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AD2E002-BC79-F49E-26BC-844143DB1CB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現状把握</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チャイルドアイズ</a:t>
            </a:r>
            <a:r>
              <a:rPr lang="en-US" altLang="ja-JP"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29" name="テキスト ボックス 28">
            <a:extLst>
              <a:ext uri="{FF2B5EF4-FFF2-40B4-BE49-F238E27FC236}">
                <a16:creationId xmlns:a16="http://schemas.microsoft.com/office/drawing/2014/main" id="{6DA3B365-02D9-8B5B-1299-3D8406BB3D5C}"/>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rPr>
              <a:t>LINE</a:t>
            </a:r>
            <a:r>
              <a:rPr lang="ja-JP" altLang="en-US" sz="1200" b="1" dirty="0">
                <a:solidFill>
                  <a:schemeClr val="bg1"/>
                </a:solidFill>
                <a:latin typeface="メイリオ" panose="020B0604030504040204" pitchFamily="50" charset="-128"/>
                <a:ea typeface="メイリオ" panose="020B0604030504040204" pitchFamily="50" charset="-128"/>
              </a:rPr>
              <a:t>ステータス</a:t>
            </a:r>
            <a:endParaRPr lang="ja-JP" altLang="en-US" sz="1200" b="1" dirty="0">
              <a:solidFill>
                <a:schemeClr val="bg1"/>
              </a:solidFill>
            </a:endParaRPr>
          </a:p>
        </p:txBody>
      </p:sp>
      <p:sp>
        <p:nvSpPr>
          <p:cNvPr id="31" name="テキスト ボックス 30">
            <a:extLst>
              <a:ext uri="{FF2B5EF4-FFF2-40B4-BE49-F238E27FC236}">
                <a16:creationId xmlns:a16="http://schemas.microsoft.com/office/drawing/2014/main" id="{F8313A60-EA49-F9B7-6C41-949A968F0600}"/>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WEB</a:t>
            </a:r>
            <a:r>
              <a:rPr lang="ja-JP" altLang="en-US" sz="1200" dirty="0">
                <a:solidFill>
                  <a:schemeClr val="bg1"/>
                </a:solidFill>
                <a:latin typeface="メイリオ" panose="020B0604030504040204" pitchFamily="50" charset="-128"/>
                <a:ea typeface="メイリオ" panose="020B0604030504040204" pitchFamily="50" charset="-128"/>
              </a:rPr>
              <a:t>サイトステータス</a:t>
            </a:r>
            <a:endParaRPr lang="ja-JP" altLang="en-US" sz="1200" dirty="0">
              <a:solidFill>
                <a:schemeClr val="bg1"/>
              </a:solidFill>
            </a:endParaRPr>
          </a:p>
        </p:txBody>
      </p:sp>
      <p:sp>
        <p:nvSpPr>
          <p:cNvPr id="43" name="テキスト ボックス 42">
            <a:extLst>
              <a:ext uri="{FF2B5EF4-FFF2-40B4-BE49-F238E27FC236}">
                <a16:creationId xmlns:a16="http://schemas.microsoft.com/office/drawing/2014/main" id="{6B7452FF-3064-3C53-0009-2FF21E2A20E3}"/>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サイト</a:t>
            </a:r>
            <a:r>
              <a:rPr lang="en-US" altLang="ja-JP" sz="1050" dirty="0">
                <a:latin typeface="メイリオ" panose="020B0604030504040204" pitchFamily="50" charset="-128"/>
                <a:ea typeface="メイリオ" panose="020B0604030504040204" pitchFamily="50" charset="-128"/>
              </a:rPr>
              <a:t>CV</a:t>
            </a:r>
            <a:r>
              <a:rPr lang="ja-JP" altLang="en-US" sz="1050" dirty="0">
                <a:latin typeface="メイリオ" panose="020B0604030504040204" pitchFamily="50" charset="-128"/>
                <a:ea typeface="メイリオ" panose="020B0604030504040204" pitchFamily="50" charset="-128"/>
              </a:rPr>
              <a:t>としては</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電話</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と</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無料体験</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を設置。</a:t>
            </a:r>
            <a:endParaRPr lang="en-US" altLang="ja-JP" sz="1050" dirty="0">
              <a:latin typeface="メイリオ" panose="020B0604030504040204" pitchFamily="50" charset="-128"/>
              <a:ea typeface="メイリオ" panose="020B0604030504040204" pitchFamily="50" charset="-128"/>
            </a:endParaRPr>
          </a:p>
          <a:p>
            <a:pPr algn="ctr"/>
            <a:r>
              <a:rPr lang="ja-JP" altLang="en-US" sz="1050" dirty="0">
                <a:latin typeface="メイリオ" panose="020B0604030504040204" pitchFamily="50" charset="-128"/>
                <a:ea typeface="メイリオ" panose="020B0604030504040204" pitchFamily="50" charset="-128"/>
              </a:rPr>
              <a:t>検索面</a:t>
            </a:r>
            <a:r>
              <a:rPr lang="en-US" altLang="ja-JP" sz="1050" dirty="0">
                <a:latin typeface="メイリオ" panose="020B0604030504040204" pitchFamily="50" charset="-128"/>
                <a:ea typeface="メイリオ" panose="020B0604030504040204" pitchFamily="50" charset="-128"/>
              </a:rPr>
              <a:t>(SEO,AD)</a:t>
            </a:r>
            <a:r>
              <a:rPr lang="ja-JP" altLang="en-US" sz="1050" dirty="0">
                <a:latin typeface="メイリオ" panose="020B0604030504040204" pitchFamily="50" charset="-128"/>
                <a:ea typeface="メイリオ" panose="020B0604030504040204" pitchFamily="50" charset="-128"/>
              </a:rPr>
              <a:t>とディスプレイがメイン流入元。</a:t>
            </a:r>
            <a:endParaRPr lang="en-US" altLang="ja-JP" sz="1050" dirty="0">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4DE653A3-6A01-144F-1BF8-1590962028E3}"/>
              </a:ext>
            </a:extLst>
          </p:cNvPr>
          <p:cNvSpPr txBox="1"/>
          <p:nvPr/>
        </p:nvSpPr>
        <p:spPr>
          <a:xfrm>
            <a:off x="4801043" y="5699170"/>
            <a:ext cx="4492485" cy="253916"/>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現状</a:t>
            </a:r>
            <a:r>
              <a:rPr lang="en-US" altLang="ja-JP" sz="1050" dirty="0">
                <a:latin typeface="メイリオ" panose="020B0604030504040204" pitchFamily="50" charset="-128"/>
                <a:ea typeface="メイリオ" panose="020B0604030504040204" pitchFamily="50" charset="-128"/>
              </a:rPr>
              <a:t>LINE</a:t>
            </a:r>
            <a:r>
              <a:rPr lang="ja-JP" altLang="en-US" sz="1050" dirty="0">
                <a:latin typeface="メイリオ" panose="020B0604030504040204" pitchFamily="50" charset="-128"/>
                <a:ea typeface="メイリオ" panose="020B0604030504040204" pitchFamily="50" charset="-128"/>
              </a:rPr>
              <a:t>公式アカウントの保有・運用はなし。</a:t>
            </a:r>
            <a:endParaRPr lang="en-US" altLang="ja-JP" sz="1050" dirty="0">
              <a:latin typeface="メイリオ" panose="020B0604030504040204" pitchFamily="50" charset="-128"/>
              <a:ea typeface="メイリオ" panose="020B0604030504040204" pitchFamily="50" charset="-128"/>
            </a:endParaRPr>
          </a:p>
        </p:txBody>
      </p:sp>
      <p:pic>
        <p:nvPicPr>
          <p:cNvPr id="55" name="図 54">
            <a:extLst>
              <a:ext uri="{FF2B5EF4-FFF2-40B4-BE49-F238E27FC236}">
                <a16:creationId xmlns:a16="http://schemas.microsoft.com/office/drawing/2014/main" id="{4BC7545E-7F3F-B8DD-FAA4-D802246C1236}"/>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4FD3FA7D-7FF2-4236-7135-48E5D06D806B}"/>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63" name="テキスト ボックス 62">
            <a:extLst>
              <a:ext uri="{FF2B5EF4-FFF2-40B4-BE49-F238E27FC236}">
                <a16:creationId xmlns:a16="http://schemas.microsoft.com/office/drawing/2014/main" id="{641B3AFA-24D2-E56E-9A38-AC3FAFF26FEF}"/>
              </a:ext>
            </a:extLst>
          </p:cNvPr>
          <p:cNvSpPr txBox="1"/>
          <p:nvPr/>
        </p:nvSpPr>
        <p:spPr>
          <a:xfrm>
            <a:off x="5052929" y="3351808"/>
            <a:ext cx="1230966" cy="253916"/>
          </a:xfrm>
          <a:prstGeom prst="rect">
            <a:avLst/>
          </a:prstGeom>
          <a:solidFill>
            <a:schemeClr val="bg1">
              <a:lumMod val="95000"/>
            </a:schemeClr>
          </a:solid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未保有</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65" name="テキスト ボックス 64">
            <a:extLst>
              <a:ext uri="{FF2B5EF4-FFF2-40B4-BE49-F238E27FC236}">
                <a16:creationId xmlns:a16="http://schemas.microsoft.com/office/drawing/2014/main" id="{CB47911B-0E60-1A54-28E3-4822D0F71546}"/>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サイト</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67" name="テキスト ボックス 66">
            <a:extLst>
              <a:ext uri="{FF2B5EF4-FFF2-40B4-BE49-F238E27FC236}">
                <a16:creationId xmlns:a16="http://schemas.microsoft.com/office/drawing/2014/main" id="{786D7DA7-503E-05B5-F9CB-0A21161B6913}"/>
              </a:ext>
            </a:extLst>
          </p:cNvPr>
          <p:cNvSpPr txBox="1"/>
          <p:nvPr/>
        </p:nvSpPr>
        <p:spPr>
          <a:xfrm>
            <a:off x="2137430" y="5174170"/>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rPr>
              <a:t>※</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いずれも貴社ヒヤリング、外部計測</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a:p>
            <a:r>
              <a:rPr lang="ja-JP" altLang="en-US" sz="900" dirty="0">
                <a:solidFill>
                  <a:schemeClr val="bg1">
                    <a:lumMod val="65000"/>
                  </a:schemeClr>
                </a:solidFill>
                <a:latin typeface="メイリオ" panose="020B0604030504040204" pitchFamily="50" charset="-128"/>
                <a:ea typeface="メイリオ" panose="020B0604030504040204" pitchFamily="50" charset="-128"/>
              </a:rPr>
              <a:t>　をもとにした想定数値となります。</a:t>
            </a:r>
            <a:endParaRPr lang="ja-JP" altLang="en-US" sz="1400" dirty="0">
              <a:solidFill>
                <a:schemeClr val="bg1">
                  <a:lumMod val="65000"/>
                </a:schemeClr>
              </a:solidFill>
            </a:endParaRPr>
          </a:p>
        </p:txBody>
      </p:sp>
      <p:sp>
        <p:nvSpPr>
          <p:cNvPr id="69" name="テキスト ボックス 68">
            <a:extLst>
              <a:ext uri="{FF2B5EF4-FFF2-40B4-BE49-F238E27FC236}">
                <a16:creationId xmlns:a16="http://schemas.microsoft.com/office/drawing/2014/main" id="{EA788168-7029-078F-5BD8-F04485F4755A}"/>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71" name="テキスト ボックス 70">
            <a:extLst>
              <a:ext uri="{FF2B5EF4-FFF2-40B4-BE49-F238E27FC236}">
                <a16:creationId xmlns:a16="http://schemas.microsoft.com/office/drawing/2014/main" id="{43A76DAB-1A67-A2FA-CB9F-4E749C2AE08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広告費用</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09C9ADFA-9068-E4AF-1EEA-6AA96D14B0E4}"/>
              </a:ext>
            </a:extLst>
          </p:cNvPr>
          <p:cNvSpPr txBox="1"/>
          <p:nvPr/>
        </p:nvSpPr>
        <p:spPr>
          <a:xfrm>
            <a:off x="2134777" y="485814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メイン流入元</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5" name="テキスト ボックス 74">
            <a:extLst>
              <a:ext uri="{FF2B5EF4-FFF2-40B4-BE49-F238E27FC236}">
                <a16:creationId xmlns:a16="http://schemas.microsoft.com/office/drawing/2014/main" id="{D9941BFF-1B46-CD45-ED5A-61E32CC889F8}"/>
              </a:ext>
            </a:extLst>
          </p:cNvPr>
          <p:cNvSpPr txBox="1"/>
          <p:nvPr/>
        </p:nvSpPr>
        <p:spPr>
          <a:xfrm>
            <a:off x="2134777" y="454211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他</a:t>
            </a:r>
            <a:r>
              <a:rPr lang="en-US" altLang="ja-JP" sz="1000" dirty="0">
                <a:solidFill>
                  <a:schemeClr val="bg1"/>
                </a:solidFill>
                <a:latin typeface="メイリオ" panose="020B0604030504040204" pitchFamily="50" charset="-128"/>
                <a:ea typeface="メイリオ" panose="020B0604030504040204" pitchFamily="50" charset="-128"/>
              </a:rPr>
              <a:t>SNS</a:t>
            </a:r>
          </a:p>
        </p:txBody>
      </p:sp>
      <p:sp>
        <p:nvSpPr>
          <p:cNvPr id="76" name="テキスト ボックス 75">
            <a:extLst>
              <a:ext uri="{FF2B5EF4-FFF2-40B4-BE49-F238E27FC236}">
                <a16:creationId xmlns:a16="http://schemas.microsoft.com/office/drawing/2014/main" id="{621AF139-DB4F-043A-C841-17CB34ABE979}"/>
              </a:ext>
            </a:extLst>
          </p:cNvPr>
          <p:cNvSpPr txBox="1"/>
          <p:nvPr/>
        </p:nvSpPr>
        <p:spPr>
          <a:xfrm>
            <a:off x="2134777" y="422609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リード保有数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7B5121E5-ADDA-2445-CD99-AF7C9748F0F2}"/>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a:t>
            </a: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9295423F-6886-C0F9-07E8-99E65DA2F185}"/>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地点</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2" name="テキスト ボックス 81">
            <a:extLst>
              <a:ext uri="{FF2B5EF4-FFF2-40B4-BE49-F238E27FC236}">
                <a16:creationId xmlns:a16="http://schemas.microsoft.com/office/drawing/2014/main" id="{BC9F693C-CE4E-77C8-8651-DCFDCF1173A3}"/>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LINE</a:t>
            </a:r>
            <a:r>
              <a:rPr lang="ja-JP" altLang="en-US" sz="1000" dirty="0">
                <a:solidFill>
                  <a:schemeClr val="bg1"/>
                </a:solidFill>
                <a:latin typeface="メイリオ" panose="020B0604030504040204" pitchFamily="50" charset="-128"/>
                <a:ea typeface="メイリオ" panose="020B0604030504040204" pitchFamily="50" charset="-128"/>
              </a:rPr>
              <a:t>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4" name="テキスト ボックス 83">
            <a:extLst>
              <a:ext uri="{FF2B5EF4-FFF2-40B4-BE49-F238E27FC236}">
                <a16:creationId xmlns:a16="http://schemas.microsoft.com/office/drawing/2014/main" id="{429EF141-B4B6-BD86-F207-AB9F39A6D6CC}"/>
              </a:ext>
            </a:extLst>
          </p:cNvPr>
          <p:cNvSpPr txBox="1"/>
          <p:nvPr/>
        </p:nvSpPr>
        <p:spPr>
          <a:xfrm>
            <a:off x="2134777" y="3910066"/>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広告余地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6" name="テキスト ボックス 85">
            <a:extLst>
              <a:ext uri="{FF2B5EF4-FFF2-40B4-BE49-F238E27FC236}">
                <a16:creationId xmlns:a16="http://schemas.microsoft.com/office/drawing/2014/main" id="{7C5532CE-88A1-7418-788B-354213D6977B}"/>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友だち数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8" name="テキスト ボックス 87">
            <a:extLst>
              <a:ext uri="{FF2B5EF4-FFF2-40B4-BE49-F238E27FC236}">
                <a16:creationId xmlns:a16="http://schemas.microsoft.com/office/drawing/2014/main" id="{4E2A999C-E78C-D828-F3B4-8B46E6CFAC5C}"/>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アクティブ数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0" name="テキスト ボックス 89">
            <a:extLst>
              <a:ext uri="{FF2B5EF4-FFF2-40B4-BE49-F238E27FC236}">
                <a16:creationId xmlns:a16="http://schemas.microsoft.com/office/drawing/2014/main" id="{50BA19F4-53F1-C97B-0713-EC49522B21E8}"/>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ブロック率</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2" name="テキスト ボックス 91">
            <a:extLst>
              <a:ext uri="{FF2B5EF4-FFF2-40B4-BE49-F238E27FC236}">
                <a16:creationId xmlns:a16="http://schemas.microsoft.com/office/drawing/2014/main" id="{0D3F17B7-BE54-FFAB-DA5A-705404A9C08A}"/>
              </a:ext>
            </a:extLst>
          </p:cNvPr>
          <p:cNvSpPr txBox="1"/>
          <p:nvPr/>
        </p:nvSpPr>
        <p:spPr>
          <a:xfrm>
            <a:off x="6624506" y="4863565"/>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B0DD1EFF-563A-1CD9-9989-968BFFEBCC2C}"/>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ツール</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6" name="テキスト ボックス 95">
            <a:extLst>
              <a:ext uri="{FF2B5EF4-FFF2-40B4-BE49-F238E27FC236}">
                <a16:creationId xmlns:a16="http://schemas.microsoft.com/office/drawing/2014/main" id="{CDF3ACE8-A29C-0869-5155-3A40D885312A}"/>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想定コスト</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8" name="テキスト ボックス 97">
            <a:extLst>
              <a:ext uri="{FF2B5EF4-FFF2-40B4-BE49-F238E27FC236}">
                <a16:creationId xmlns:a16="http://schemas.microsoft.com/office/drawing/2014/main" id="{052C94FD-2F48-FE18-F017-6E76C0BDD2F3}"/>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月間投稿数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0" name="テキスト ボックス 99">
            <a:extLst>
              <a:ext uri="{FF2B5EF4-FFF2-40B4-BE49-F238E27FC236}">
                <a16:creationId xmlns:a16="http://schemas.microsoft.com/office/drawing/2014/main" id="{FEDAB5C8-D777-7083-1B4C-F755ADE9FC2B}"/>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ステップ実施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2" name="テキスト ボックス 101">
            <a:extLst>
              <a:ext uri="{FF2B5EF4-FFF2-40B4-BE49-F238E27FC236}">
                <a16:creationId xmlns:a16="http://schemas.microsoft.com/office/drawing/2014/main" id="{F4164EE0-C2B2-E301-5AC9-2CA1B7015DD6}"/>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4" name="テキスト ボックス 103">
            <a:extLst>
              <a:ext uri="{FF2B5EF4-FFF2-40B4-BE49-F238E27FC236}">
                <a16:creationId xmlns:a16="http://schemas.microsoft.com/office/drawing/2014/main" id="{86F2BB75-D087-3536-A5EC-03D24451492A}"/>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プロフ動線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6" name="テキスト ボックス 105">
            <a:extLst>
              <a:ext uri="{FF2B5EF4-FFF2-40B4-BE49-F238E27FC236}">
                <a16:creationId xmlns:a16="http://schemas.microsoft.com/office/drawing/2014/main" id="{B6ADA316-97DB-19DE-5310-2D4AFF7C5555}"/>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18,784</a:t>
            </a:r>
          </a:p>
        </p:txBody>
      </p:sp>
      <p:sp>
        <p:nvSpPr>
          <p:cNvPr id="108" name="テキスト ボックス 107">
            <a:extLst>
              <a:ext uri="{FF2B5EF4-FFF2-40B4-BE49-F238E27FC236}">
                <a16:creationId xmlns:a16="http://schemas.microsoft.com/office/drawing/2014/main" id="{47F3F567-C41D-6459-A492-84B20AAA216D}"/>
              </a:ext>
            </a:extLst>
          </p:cNvPr>
          <p:cNvSpPr txBox="1"/>
          <p:nvPr/>
        </p:nvSpPr>
        <p:spPr>
          <a:xfrm>
            <a:off x="3229084" y="2339204"/>
            <a:ext cx="1360330" cy="246221"/>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4,500</a:t>
            </a:r>
            <a:endParaRPr lang="en-US" altLang="ja-JP" sz="700" b="1" dirty="0">
              <a:latin typeface="メイリオ" panose="020B0604030504040204" pitchFamily="50" charset="-128"/>
              <a:ea typeface="メイリオ" panose="020B0604030504040204" pitchFamily="50" charset="-128"/>
            </a:endParaRPr>
          </a:p>
        </p:txBody>
      </p:sp>
      <p:sp>
        <p:nvSpPr>
          <p:cNvPr id="110" name="テキスト ボックス 109">
            <a:extLst>
              <a:ext uri="{FF2B5EF4-FFF2-40B4-BE49-F238E27FC236}">
                <a16:creationId xmlns:a16="http://schemas.microsoft.com/office/drawing/2014/main" id="{EA12EB97-C2CF-9EF7-68AC-1F725E44C0C6}"/>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2" name="テキスト ボックス 111">
            <a:extLst>
              <a:ext uri="{FF2B5EF4-FFF2-40B4-BE49-F238E27FC236}">
                <a16:creationId xmlns:a16="http://schemas.microsoft.com/office/drawing/2014/main" id="{C7BA49E9-9AD1-C8F1-045C-F99303CC534D}"/>
              </a:ext>
            </a:extLst>
          </p:cNvPr>
          <p:cNvSpPr txBox="1"/>
          <p:nvPr/>
        </p:nvSpPr>
        <p:spPr>
          <a:xfrm>
            <a:off x="3229084" y="4863565"/>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オーガニック</a:t>
            </a:r>
            <a:endParaRPr lang="en-US" altLang="ja-JP" sz="1000" b="1" dirty="0">
              <a:latin typeface="メイリオ" panose="020B0604030504040204" pitchFamily="50" charset="-128"/>
              <a:ea typeface="メイリオ" panose="020B0604030504040204" pitchFamily="50" charset="-128"/>
            </a:endParaRPr>
          </a:p>
        </p:txBody>
      </p:sp>
      <p:sp>
        <p:nvSpPr>
          <p:cNvPr id="114" name="テキスト ボックス 113">
            <a:extLst>
              <a:ext uri="{FF2B5EF4-FFF2-40B4-BE49-F238E27FC236}">
                <a16:creationId xmlns:a16="http://schemas.microsoft.com/office/drawing/2014/main" id="{7BE2FF98-F2E6-8CBD-5248-49871F114542}"/>
              </a:ext>
            </a:extLst>
          </p:cNvPr>
          <p:cNvSpPr txBox="1"/>
          <p:nvPr/>
        </p:nvSpPr>
        <p:spPr>
          <a:xfrm>
            <a:off x="3229084" y="4551386"/>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6" name="テキスト ボックス 115">
            <a:extLst>
              <a:ext uri="{FF2B5EF4-FFF2-40B4-BE49-F238E27FC236}">
                <a16:creationId xmlns:a16="http://schemas.microsoft.com/office/drawing/2014/main" id="{914EF112-00D2-D47D-0B61-A93CBE8BB645}"/>
              </a:ext>
            </a:extLst>
          </p:cNvPr>
          <p:cNvSpPr txBox="1"/>
          <p:nvPr/>
        </p:nvSpPr>
        <p:spPr>
          <a:xfrm>
            <a:off x="3229084" y="423151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8" name="テキスト ボックス 117">
            <a:extLst>
              <a:ext uri="{FF2B5EF4-FFF2-40B4-BE49-F238E27FC236}">
                <a16:creationId xmlns:a16="http://schemas.microsoft.com/office/drawing/2014/main" id="{986694EA-BD3A-DAC6-4DEE-7D91F77FBE22}"/>
              </a:ext>
            </a:extLst>
          </p:cNvPr>
          <p:cNvSpPr txBox="1"/>
          <p:nvPr/>
        </p:nvSpPr>
        <p:spPr>
          <a:xfrm>
            <a:off x="3229084" y="2967409"/>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20" name="テキスト ボックス 119">
            <a:extLst>
              <a:ext uri="{FF2B5EF4-FFF2-40B4-BE49-F238E27FC236}">
                <a16:creationId xmlns:a16="http://schemas.microsoft.com/office/drawing/2014/main" id="{55C2042F-3220-C5D3-61DE-7D9D40613A6E}"/>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rgbClr val="FF0000"/>
                </a:solidFill>
                <a:latin typeface="メイリオ" panose="020B0604030504040204" pitchFamily="50" charset="-128"/>
                <a:ea typeface="メイリオ" panose="020B0604030504040204" pitchFamily="50" charset="-128"/>
              </a:rPr>
              <a:t>無料体験</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22" name="テキスト ボックス 121">
            <a:extLst>
              <a:ext uri="{FF2B5EF4-FFF2-40B4-BE49-F238E27FC236}">
                <a16:creationId xmlns:a16="http://schemas.microsoft.com/office/drawing/2014/main" id="{153D3F2B-14F9-70C0-50BC-B7CB286E2D8F}"/>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未設定</a:t>
            </a:r>
            <a:endParaRPr lang="en-US" altLang="ja-JP" sz="1000" b="1" dirty="0">
              <a:latin typeface="メイリオ" panose="020B0604030504040204" pitchFamily="50" charset="-128"/>
              <a:ea typeface="メイリオ" panose="020B0604030504040204" pitchFamily="50" charset="-128"/>
            </a:endParaRPr>
          </a:p>
        </p:txBody>
      </p:sp>
      <p:sp>
        <p:nvSpPr>
          <p:cNvPr id="124" name="テキスト ボックス 123">
            <a:extLst>
              <a:ext uri="{FF2B5EF4-FFF2-40B4-BE49-F238E27FC236}">
                <a16:creationId xmlns:a16="http://schemas.microsoft.com/office/drawing/2014/main" id="{2263D4CF-8260-F1E1-BCF7-ED72C65AF07F}"/>
              </a:ext>
            </a:extLst>
          </p:cNvPr>
          <p:cNvSpPr txBox="1"/>
          <p:nvPr/>
        </p:nvSpPr>
        <p:spPr>
          <a:xfrm>
            <a:off x="3229084" y="3915487"/>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有</a:t>
            </a:r>
            <a:endParaRPr lang="en-US" altLang="ja-JP" sz="1000" b="1" dirty="0">
              <a:latin typeface="メイリオ" panose="020B0604030504040204" pitchFamily="50" charset="-128"/>
              <a:ea typeface="メイリオ" panose="020B0604030504040204" pitchFamily="50" charset="-128"/>
            </a:endParaRPr>
          </a:p>
        </p:txBody>
      </p:sp>
      <p:sp>
        <p:nvSpPr>
          <p:cNvPr id="169" name="テキスト ボックス 168">
            <a:extLst>
              <a:ext uri="{FF2B5EF4-FFF2-40B4-BE49-F238E27FC236}">
                <a16:creationId xmlns:a16="http://schemas.microsoft.com/office/drawing/2014/main" id="{32CFABB8-ADE8-1D5B-7822-D8BF0BA34FC4}"/>
              </a:ext>
            </a:extLst>
          </p:cNvPr>
          <p:cNvSpPr txBox="1"/>
          <p:nvPr/>
        </p:nvSpPr>
        <p:spPr>
          <a:xfrm>
            <a:off x="6624505" y="5184313"/>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171" name="テキスト ボックス 170">
            <a:extLst>
              <a:ext uri="{FF2B5EF4-FFF2-40B4-BE49-F238E27FC236}">
                <a16:creationId xmlns:a16="http://schemas.microsoft.com/office/drawing/2014/main" id="{CEE5E6FB-FD31-4BA0-5DD6-0E11BBB49851}"/>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3" name="テキスト ボックス 172">
            <a:extLst>
              <a:ext uri="{FF2B5EF4-FFF2-40B4-BE49-F238E27FC236}">
                <a16:creationId xmlns:a16="http://schemas.microsoft.com/office/drawing/2014/main" id="{E91D57C9-6375-8F5E-0D71-3230B0BA0AC3}"/>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5" name="テキスト ボックス 174">
            <a:extLst>
              <a:ext uri="{FF2B5EF4-FFF2-40B4-BE49-F238E27FC236}">
                <a16:creationId xmlns:a16="http://schemas.microsoft.com/office/drawing/2014/main" id="{50103491-D71F-7EB5-8BE0-3BC70A0F52D1}"/>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7" name="テキスト ボックス 176">
            <a:extLst>
              <a:ext uri="{FF2B5EF4-FFF2-40B4-BE49-F238E27FC236}">
                <a16:creationId xmlns:a16="http://schemas.microsoft.com/office/drawing/2014/main" id="{03486B97-EFB2-9F95-C428-B571949EB1AE}"/>
              </a:ext>
            </a:extLst>
          </p:cNvPr>
          <p:cNvSpPr txBox="1"/>
          <p:nvPr/>
        </p:nvSpPr>
        <p:spPr>
          <a:xfrm>
            <a:off x="7754601" y="4865724"/>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79" name="テキスト ボックス 178">
            <a:extLst>
              <a:ext uri="{FF2B5EF4-FFF2-40B4-BE49-F238E27FC236}">
                <a16:creationId xmlns:a16="http://schemas.microsoft.com/office/drawing/2014/main" id="{83060EE7-F85C-FEB9-6E07-AD89C879B907}"/>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1" name="テキスト ボックス 180">
            <a:extLst>
              <a:ext uri="{FF2B5EF4-FFF2-40B4-BE49-F238E27FC236}">
                <a16:creationId xmlns:a16="http://schemas.microsoft.com/office/drawing/2014/main" id="{6E50A20F-2BFB-3695-700C-44F0937245E4}"/>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3" name="テキスト ボックス 182">
            <a:extLst>
              <a:ext uri="{FF2B5EF4-FFF2-40B4-BE49-F238E27FC236}">
                <a16:creationId xmlns:a16="http://schemas.microsoft.com/office/drawing/2014/main" id="{343ADE76-581F-E366-449C-C73F90D92979}"/>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5" name="テキスト ボックス 184">
            <a:extLst>
              <a:ext uri="{FF2B5EF4-FFF2-40B4-BE49-F238E27FC236}">
                <a16:creationId xmlns:a16="http://schemas.microsoft.com/office/drawing/2014/main" id="{15C10191-5CA8-D3BE-7847-7FA57C28C1F2}"/>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7" name="テキスト ボックス 186">
            <a:extLst>
              <a:ext uri="{FF2B5EF4-FFF2-40B4-BE49-F238E27FC236}">
                <a16:creationId xmlns:a16="http://schemas.microsoft.com/office/drawing/2014/main" id="{51BEBC5F-1121-B8DC-54E2-DC8DC1020DB7}"/>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9" name="テキスト ボックス 188">
            <a:extLst>
              <a:ext uri="{FF2B5EF4-FFF2-40B4-BE49-F238E27FC236}">
                <a16:creationId xmlns:a16="http://schemas.microsoft.com/office/drawing/2014/main" id="{73338154-D562-06D1-6113-0A579EACBBE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91" name="テキスト ボックス 190">
            <a:extLst>
              <a:ext uri="{FF2B5EF4-FFF2-40B4-BE49-F238E27FC236}">
                <a16:creationId xmlns:a16="http://schemas.microsoft.com/office/drawing/2014/main" id="{429FE883-F81A-EC4E-0F0F-55845FDE0805}"/>
              </a:ext>
            </a:extLst>
          </p:cNvPr>
          <p:cNvSpPr txBox="1"/>
          <p:nvPr/>
        </p:nvSpPr>
        <p:spPr>
          <a:xfrm>
            <a:off x="7754600" y="5186472"/>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5" name="テキスト ボックス 14">
            <a:extLst>
              <a:ext uri="{FF2B5EF4-FFF2-40B4-BE49-F238E27FC236}">
                <a16:creationId xmlns:a16="http://schemas.microsoft.com/office/drawing/2014/main" id="{D8447831-C297-CBA7-F3CA-5D43B36CC58C}"/>
              </a:ext>
            </a:extLst>
          </p:cNvPr>
          <p:cNvSpPr txBox="1"/>
          <p:nvPr/>
        </p:nvSpPr>
        <p:spPr>
          <a:xfrm>
            <a:off x="6578863"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37017496-6CD7-3CFD-646C-633B200B3E59}"/>
              </a:ext>
            </a:extLst>
          </p:cNvPr>
          <p:cNvSpPr txBox="1"/>
          <p:nvPr/>
        </p:nvSpPr>
        <p:spPr>
          <a:xfrm>
            <a:off x="6578862"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1D0E746B-15F9-EC55-3FD1-F7330033C14B}"/>
              </a:ext>
            </a:extLst>
          </p:cNvPr>
          <p:cNvSpPr txBox="1"/>
          <p:nvPr/>
        </p:nvSpPr>
        <p:spPr>
          <a:xfrm>
            <a:off x="6596742" y="194900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446BF02-9F13-C513-57CD-571CF79F7E70}"/>
              </a:ext>
            </a:extLst>
          </p:cNvPr>
          <p:cNvPicPr>
            <a:picLocks noChangeAspect="1"/>
          </p:cNvPicPr>
          <p:nvPr/>
        </p:nvPicPr>
        <p:blipFill>
          <a:blip r:embed="rId4"/>
          <a:stretch>
            <a:fillRect/>
          </a:stretch>
        </p:blipFill>
        <p:spPr>
          <a:xfrm>
            <a:off x="495313" y="2013910"/>
            <a:ext cx="1589341" cy="3228091"/>
          </a:xfrm>
          <a:prstGeom prst="rect">
            <a:avLst/>
          </a:prstGeom>
        </p:spPr>
      </p:pic>
      <p:sp>
        <p:nvSpPr>
          <p:cNvPr id="8" name="テキスト ボックス 7">
            <a:extLst>
              <a:ext uri="{FF2B5EF4-FFF2-40B4-BE49-F238E27FC236}">
                <a16:creationId xmlns:a16="http://schemas.microsoft.com/office/drawing/2014/main" id="{BBD7CF6B-43AB-A34E-F20C-7D5A5292AEF4}"/>
              </a:ext>
            </a:extLst>
          </p:cNvPr>
          <p:cNvSpPr txBox="1"/>
          <p:nvPr/>
        </p:nvSpPr>
        <p:spPr>
          <a:xfrm>
            <a:off x="605520" y="806419"/>
            <a:ext cx="8797260" cy="461665"/>
          </a:xfrm>
          <a:prstGeom prst="rect">
            <a:avLst/>
          </a:prstGeom>
          <a:noFill/>
        </p:spPr>
        <p:txBody>
          <a:bodyPr wrap="square">
            <a:spAutoFit/>
          </a:bodyPr>
          <a:lstStyle/>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サイト流入数は安定していそうだが、</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AD</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3%</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、通常で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0.7%</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前後の体験申込</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CVR</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が参考数値、</a:t>
            </a:r>
            <a:endParaRPr lang="en-US" altLang="ja-JP" sz="12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更に</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施策を導入していくことで、</a:t>
            </a:r>
            <a:r>
              <a:rPr lang="ja-JP" altLang="en-US" sz="1200" b="1" dirty="0">
                <a:solidFill>
                  <a:srgbClr val="FF0000"/>
                </a:solidFill>
                <a:latin typeface="Meiryo" panose="020B0604030504040204" pitchFamily="34" charset="-128"/>
                <a:ea typeface="Meiryo" panose="020B0604030504040204" pitchFamily="34" charset="-128"/>
              </a:rPr>
              <a:t>離脱アクションの削減 </a:t>
            </a:r>
            <a:r>
              <a:rPr lang="en-US" altLang="ja-JP" sz="1200" b="1" dirty="0">
                <a:solidFill>
                  <a:srgbClr val="FF0000"/>
                </a:solidFill>
                <a:latin typeface="Meiryo" panose="020B0604030504040204" pitchFamily="34" charset="-128"/>
                <a:ea typeface="Meiryo" panose="020B0604030504040204" pitchFamily="34" charset="-128"/>
              </a:rPr>
              <a:t>/ </a:t>
            </a:r>
            <a:r>
              <a:rPr lang="ja-JP" altLang="en-US" sz="1200" b="1" dirty="0">
                <a:solidFill>
                  <a:srgbClr val="FF0000"/>
                </a:solidFill>
                <a:latin typeface="Meiryo" panose="020B0604030504040204" pitchFamily="34" charset="-128"/>
                <a:ea typeface="Meiryo" panose="020B0604030504040204" pitchFamily="34" charset="-128"/>
              </a:rPr>
              <a:t>引上げの増加 を図って</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いく。</a:t>
            </a:r>
            <a:endParaRPr lang="ja-JP" altLang="en-US" sz="1400" dirty="0"/>
          </a:p>
        </p:txBody>
      </p:sp>
    </p:spTree>
    <p:extLst>
      <p:ext uri="{BB962C8B-B14F-4D97-AF65-F5344CB8AC3E}">
        <p14:creationId xmlns:p14="http://schemas.microsoft.com/office/powerpoint/2010/main" val="33500546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9FC28CD-401F-CB33-EA18-1071AD4C7D12}"/>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r>
              <a:rPr lang="en-US" altLang="ja-JP" sz="1200" b="1" dirty="0">
                <a:solidFill>
                  <a:srgbClr val="002060"/>
                </a:solidFill>
                <a:latin typeface="Meiryo"/>
                <a:ea typeface="Meiryo"/>
                <a:cs typeface="Meiryo"/>
                <a:sym typeface="Meiryo"/>
              </a:rPr>
              <a:t>【</a:t>
            </a:r>
            <a:r>
              <a:rPr lang="ja-JP" altLang="en-US" sz="1200" b="1" dirty="0">
                <a:solidFill>
                  <a:srgbClr val="002060"/>
                </a:solidFill>
                <a:latin typeface="Meiryo"/>
                <a:ea typeface="Meiryo"/>
                <a:cs typeface="Meiryo"/>
                <a:sym typeface="Meiryo"/>
              </a:rPr>
              <a:t>共通 </a:t>
            </a:r>
            <a:r>
              <a:rPr lang="en-US" altLang="ja-JP" sz="1200" b="1" dirty="0">
                <a:solidFill>
                  <a:srgbClr val="002060"/>
                </a:solidFill>
                <a:latin typeface="Meiryo"/>
                <a:ea typeface="Meiryo"/>
                <a:cs typeface="Meiryo"/>
                <a:sym typeface="Meiryo"/>
              </a:rPr>
              <a:t>-</a:t>
            </a:r>
            <a:r>
              <a:rPr lang="ja-JP" altLang="en-US" sz="1200" b="1" dirty="0">
                <a:solidFill>
                  <a:srgbClr val="002060"/>
                </a:solidFill>
                <a:latin typeface="Meiryo"/>
                <a:ea typeface="Meiryo"/>
                <a:cs typeface="Meiryo"/>
                <a:sym typeface="Meiryo"/>
              </a:rPr>
              <a:t> 忍者ナイン チャイルドアイズ</a:t>
            </a:r>
            <a:r>
              <a:rPr lang="en-US" altLang="ja-JP" sz="1200" b="1" dirty="0">
                <a:solidFill>
                  <a:srgbClr val="002060"/>
                </a:solidFill>
                <a:latin typeface="Meiryo"/>
                <a:ea typeface="Meiryo"/>
                <a:cs typeface="Meiryo"/>
                <a:sym typeface="Meiryo"/>
              </a:rPr>
              <a:t> - 】</a:t>
            </a:r>
            <a:endParaRPr lang="en-US" altLang="ja-JP"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C0D1AEC-5D54-2359-450D-84430B2857C0}"/>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BE746261-2A92-C9B9-6034-451CF233AB9D}"/>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8948BAF3-ECB9-2FF9-8B0D-50EE1A62E7C4}"/>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9" name="テキスト ボックス 8">
            <a:extLst>
              <a:ext uri="{FF2B5EF4-FFF2-40B4-BE49-F238E27FC236}">
                <a16:creationId xmlns:a16="http://schemas.microsoft.com/office/drawing/2014/main" id="{03689A4E-877A-1305-D91C-502200DDD5CA}"/>
              </a:ext>
            </a:extLst>
          </p:cNvPr>
          <p:cNvSpPr txBox="1"/>
          <p:nvPr/>
        </p:nvSpPr>
        <p:spPr>
          <a:xfrm>
            <a:off x="7408050" y="2633400"/>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6B79D75E-D645-6E3E-B433-8F68BE5185B7}"/>
              </a:ext>
            </a:extLst>
          </p:cNvPr>
          <p:cNvSpPr txBox="1"/>
          <p:nvPr/>
        </p:nvSpPr>
        <p:spPr>
          <a:xfrm>
            <a:off x="334303" y="2025747"/>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1" name="テキスト ボックス 10">
            <a:extLst>
              <a:ext uri="{FF2B5EF4-FFF2-40B4-BE49-F238E27FC236}">
                <a16:creationId xmlns:a16="http://schemas.microsoft.com/office/drawing/2014/main" id="{D26B3D93-E4B8-A140-7F64-AEE99515674C}"/>
              </a:ext>
            </a:extLst>
          </p:cNvPr>
          <p:cNvSpPr txBox="1"/>
          <p:nvPr/>
        </p:nvSpPr>
        <p:spPr>
          <a:xfrm>
            <a:off x="1268358" y="2236409"/>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12" name="テキスト ボックス 11">
            <a:extLst>
              <a:ext uri="{FF2B5EF4-FFF2-40B4-BE49-F238E27FC236}">
                <a16:creationId xmlns:a16="http://schemas.microsoft.com/office/drawing/2014/main" id="{12C4F8BA-6552-4B16-FBC5-C62D2917BFE8}"/>
              </a:ext>
            </a:extLst>
          </p:cNvPr>
          <p:cNvSpPr txBox="1"/>
          <p:nvPr/>
        </p:nvSpPr>
        <p:spPr>
          <a:xfrm>
            <a:off x="2202413" y="2430519"/>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13" name="テキスト ボックス 12">
            <a:extLst>
              <a:ext uri="{FF2B5EF4-FFF2-40B4-BE49-F238E27FC236}">
                <a16:creationId xmlns:a16="http://schemas.microsoft.com/office/drawing/2014/main" id="{BD16F021-165B-ADE2-A377-D74CBC854B23}"/>
              </a:ext>
            </a:extLst>
          </p:cNvPr>
          <p:cNvSpPr txBox="1"/>
          <p:nvPr/>
        </p:nvSpPr>
        <p:spPr>
          <a:xfrm>
            <a:off x="3136468" y="2626872"/>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14" name="コネクタ: カギ線 13">
            <a:extLst>
              <a:ext uri="{FF2B5EF4-FFF2-40B4-BE49-F238E27FC236}">
                <a16:creationId xmlns:a16="http://schemas.microsoft.com/office/drawing/2014/main" id="{B116237D-8580-3F61-2B2F-766C3CCF8BF6}"/>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55D1671E-E029-A7B0-F0FE-5B3AEA581FA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矢印コネクタ 15">
            <a:extLst>
              <a:ext uri="{FF2B5EF4-FFF2-40B4-BE49-F238E27FC236}">
                <a16:creationId xmlns:a16="http://schemas.microsoft.com/office/drawing/2014/main" id="{9C9A66C9-6F0C-720F-D33F-5A677E31CE5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E0FFD56C-A8BF-1D7F-B9F0-7A4C2CF517A7}"/>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28" name="正方形/長方形 27">
            <a:extLst>
              <a:ext uri="{FF2B5EF4-FFF2-40B4-BE49-F238E27FC236}">
                <a16:creationId xmlns:a16="http://schemas.microsoft.com/office/drawing/2014/main" id="{985D0F3D-E958-2764-0030-33A43FBBB844}"/>
              </a:ext>
            </a:extLst>
          </p:cNvPr>
          <p:cNvSpPr/>
          <p:nvPr/>
        </p:nvSpPr>
        <p:spPr>
          <a:xfrm>
            <a:off x="334303" y="3184429"/>
            <a:ext cx="9425943" cy="266492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62DFAD71-5EA4-2410-A3B7-8926C38B8C15}"/>
              </a:ext>
            </a:extLst>
          </p:cNvPr>
          <p:cNvSpPr txBox="1"/>
          <p:nvPr/>
        </p:nvSpPr>
        <p:spPr>
          <a:xfrm>
            <a:off x="3136470" y="3832206"/>
            <a:ext cx="2757865" cy="276999"/>
          </a:xfrm>
          <a:prstGeom prst="rect">
            <a:avLst/>
          </a:prstGeom>
          <a:solidFill>
            <a:srgbClr val="173559"/>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無料体験予約</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4" name="テキスト ボックス 33">
            <a:extLst>
              <a:ext uri="{FF2B5EF4-FFF2-40B4-BE49-F238E27FC236}">
                <a16:creationId xmlns:a16="http://schemas.microsoft.com/office/drawing/2014/main" id="{6EF69A8A-6EFE-81B5-27C6-31715CCA0A13}"/>
              </a:ext>
            </a:extLst>
          </p:cNvPr>
          <p:cNvSpPr txBox="1"/>
          <p:nvPr/>
        </p:nvSpPr>
        <p:spPr>
          <a:xfrm>
            <a:off x="4830777" y="4178949"/>
            <a:ext cx="2352196" cy="276999"/>
          </a:xfrm>
          <a:prstGeom prst="rect">
            <a:avLst/>
          </a:prstGeom>
          <a:solidFill>
            <a:srgbClr val="173559"/>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来場</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6" name="テキスト ボックス 35">
            <a:extLst>
              <a:ext uri="{FF2B5EF4-FFF2-40B4-BE49-F238E27FC236}">
                <a16:creationId xmlns:a16="http://schemas.microsoft.com/office/drawing/2014/main" id="{38132008-D8F9-19F3-2653-AEF9F6C09DC2}"/>
              </a:ext>
            </a:extLst>
          </p:cNvPr>
          <p:cNvSpPr txBox="1"/>
          <p:nvPr/>
        </p:nvSpPr>
        <p:spPr>
          <a:xfrm>
            <a:off x="6119417" y="4526876"/>
            <a:ext cx="2352195" cy="276999"/>
          </a:xfrm>
          <a:prstGeom prst="rect">
            <a:avLst/>
          </a:prstGeom>
          <a:solidFill>
            <a:srgbClr val="FF0000"/>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入会（有料会員化）</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8" name="テキスト ボックス 37">
            <a:extLst>
              <a:ext uri="{FF2B5EF4-FFF2-40B4-BE49-F238E27FC236}">
                <a16:creationId xmlns:a16="http://schemas.microsoft.com/office/drawing/2014/main" id="{8423A7FD-A6C6-EFD2-582C-90B8E121BC79}"/>
              </a:ext>
            </a:extLst>
          </p:cNvPr>
          <p:cNvSpPr txBox="1"/>
          <p:nvPr/>
        </p:nvSpPr>
        <p:spPr>
          <a:xfrm>
            <a:off x="330436" y="3441166"/>
            <a:ext cx="2157994" cy="253916"/>
          </a:xfrm>
          <a:prstGeom prst="rect">
            <a:avLst/>
          </a:prstGeom>
          <a:noFill/>
        </p:spPr>
        <p:txBody>
          <a:bodyPr wrap="square">
            <a:spAutoFit/>
          </a:bodyPr>
          <a:lstStyle/>
          <a:p>
            <a:pPr algn="ctr"/>
            <a:r>
              <a:rPr lang="en-US" altLang="ja-JP" sz="1050" dirty="0">
                <a:latin typeface="メイリオ" panose="020B0604030504040204" pitchFamily="50" charset="-128"/>
                <a:ea typeface="メイリオ" panose="020B0604030504040204" pitchFamily="50" charset="-128"/>
              </a:rPr>
              <a:t>&lt;</a:t>
            </a:r>
            <a:r>
              <a:rPr lang="ja-JP" altLang="en-US" sz="1050" dirty="0">
                <a:latin typeface="メイリオ" panose="020B0604030504040204" pitchFamily="50" charset="-128"/>
                <a:ea typeface="メイリオ" panose="020B0604030504040204" pitchFamily="50" charset="-128"/>
              </a:rPr>
              <a:t>貴社のユーザー動線イメージ</a:t>
            </a:r>
            <a:r>
              <a:rPr lang="en-US" altLang="ja-JP" sz="1050" dirty="0">
                <a:latin typeface="メイリオ" panose="020B0604030504040204" pitchFamily="50" charset="-128"/>
                <a:ea typeface="メイリオ" panose="020B0604030504040204" pitchFamily="50" charset="-128"/>
              </a:rPr>
              <a:t>&gt;</a:t>
            </a:r>
            <a:endParaRPr lang="ja-JP" altLang="en-US" sz="1050" dirty="0">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5D74B0A9-936D-80CB-D756-D20982A19D5A}"/>
              </a:ext>
            </a:extLst>
          </p:cNvPr>
          <p:cNvSpPr txBox="1"/>
          <p:nvPr/>
        </p:nvSpPr>
        <p:spPr>
          <a:xfrm>
            <a:off x="605949" y="768699"/>
            <a:ext cx="8797260" cy="523220"/>
          </a:xfrm>
          <a:prstGeom prst="rect">
            <a:avLst/>
          </a:prstGeom>
          <a:noFill/>
        </p:spPr>
        <p:txBody>
          <a:bodyPr wrap="square">
            <a:spAutoFit/>
          </a:bodyPr>
          <a:lstStyle/>
          <a:p>
            <a:pPr algn="ct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入会数の拡大にあたっては</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①無料体験予約の最大化</a:t>
            </a: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を行う必要があり、</a:t>
            </a:r>
            <a:endParaRPr lang="en-US" altLang="ja-JP" sz="14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また</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②来場及び入会への誘導強化（有効率の改善）</a:t>
            </a: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を行う必要が同時に出てくる。</a:t>
            </a:r>
            <a:endParaRPr lang="en-US" altLang="ja-JP" sz="1400" dirty="0">
              <a:solidFill>
                <a:schemeClr val="tx1">
                  <a:lumMod val="50000"/>
                  <a:lumOff val="50000"/>
                </a:schemeClr>
              </a:solidFill>
              <a:latin typeface="Meiryo" panose="020B0604030504040204" pitchFamily="34" charset="-128"/>
              <a:ea typeface="Meiryo" panose="020B0604030504040204" pitchFamily="34" charset="-128"/>
            </a:endParaRPr>
          </a:p>
        </p:txBody>
      </p:sp>
      <p:sp>
        <p:nvSpPr>
          <p:cNvPr id="23" name="テキスト ボックス 22">
            <a:extLst>
              <a:ext uri="{FF2B5EF4-FFF2-40B4-BE49-F238E27FC236}">
                <a16:creationId xmlns:a16="http://schemas.microsoft.com/office/drawing/2014/main" id="{5F1C16D1-2056-4E4E-4E76-CCFC2471EFC6}"/>
              </a:ext>
            </a:extLst>
          </p:cNvPr>
          <p:cNvSpPr txBox="1"/>
          <p:nvPr/>
        </p:nvSpPr>
        <p:spPr>
          <a:xfrm>
            <a:off x="7408051" y="4873981"/>
            <a:ext cx="2352195" cy="276999"/>
          </a:xfrm>
          <a:prstGeom prst="rect">
            <a:avLst/>
          </a:prstGeom>
          <a:solidFill>
            <a:schemeClr val="tx1">
              <a:lumMod val="50000"/>
              <a:lumOff val="50000"/>
            </a:schemeClr>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継続</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E0409053-B1D2-9FAA-482E-614CCD2E8297}"/>
              </a:ext>
            </a:extLst>
          </p:cNvPr>
          <p:cNvSpPr txBox="1"/>
          <p:nvPr/>
        </p:nvSpPr>
        <p:spPr>
          <a:xfrm>
            <a:off x="7408050" y="5216548"/>
            <a:ext cx="2352195" cy="276999"/>
          </a:xfrm>
          <a:prstGeom prst="rect">
            <a:avLst/>
          </a:prstGeom>
          <a:solidFill>
            <a:schemeClr val="tx1">
              <a:lumMod val="50000"/>
              <a:lumOff val="50000"/>
            </a:schemeClr>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a:t>
            </a:r>
            <a:r>
              <a:rPr lang="ja-JP" altLang="en-US" sz="1200" dirty="0">
                <a:solidFill>
                  <a:schemeClr val="bg1"/>
                </a:solidFill>
                <a:latin typeface="メイリオ" panose="020B0604030504040204" pitchFamily="50" charset="-128"/>
                <a:ea typeface="メイリオ" panose="020B0604030504040204" pitchFamily="50" charset="-128"/>
              </a:rPr>
              <a:t>他サービスの紹介</a:t>
            </a:r>
            <a:r>
              <a:rPr lang="en-US" altLang="ja-JP" sz="1200" dirty="0">
                <a:solidFill>
                  <a:schemeClr val="bg1"/>
                </a:solidFill>
                <a:latin typeface="メイリオ" panose="020B0604030504040204" pitchFamily="50" charset="-128"/>
                <a:ea typeface="メイリオ" panose="020B0604030504040204" pitchFamily="50" charset="-128"/>
              </a:rPr>
              <a:t>)</a:t>
            </a:r>
          </a:p>
        </p:txBody>
      </p:sp>
      <p:cxnSp>
        <p:nvCxnSpPr>
          <p:cNvPr id="22" name="コネクタ: カギ線 21">
            <a:extLst>
              <a:ext uri="{FF2B5EF4-FFF2-40B4-BE49-F238E27FC236}">
                <a16:creationId xmlns:a16="http://schemas.microsoft.com/office/drawing/2014/main" id="{4CF79249-8FFF-EDBE-79D1-696A739C3207}"/>
              </a:ext>
            </a:extLst>
          </p:cNvPr>
          <p:cNvCxnSpPr>
            <a:cxnSpLocks/>
            <a:stCxn id="32" idx="2"/>
            <a:endCxn id="34" idx="1"/>
          </p:cNvCxnSpPr>
          <p:nvPr/>
        </p:nvCxnSpPr>
        <p:spPr>
          <a:xfrm rot="16200000" flipH="1">
            <a:off x="4568968" y="4055640"/>
            <a:ext cx="208244" cy="315374"/>
          </a:xfrm>
          <a:prstGeom prst="bentConnector2">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CBA42435-77B9-8F10-5F69-E8B6EB26472C}"/>
              </a:ext>
            </a:extLst>
          </p:cNvPr>
          <p:cNvCxnSpPr>
            <a:cxnSpLocks/>
            <a:stCxn id="34" idx="2"/>
            <a:endCxn id="36" idx="1"/>
          </p:cNvCxnSpPr>
          <p:nvPr/>
        </p:nvCxnSpPr>
        <p:spPr>
          <a:xfrm rot="16200000" flipH="1">
            <a:off x="5958432" y="4504391"/>
            <a:ext cx="209428" cy="112542"/>
          </a:xfrm>
          <a:prstGeom prst="bentConnector2">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9" name="テキスト ボックス 38">
            <a:extLst>
              <a:ext uri="{FF2B5EF4-FFF2-40B4-BE49-F238E27FC236}">
                <a16:creationId xmlns:a16="http://schemas.microsoft.com/office/drawing/2014/main" id="{3C1D6754-7C46-5825-A516-18CBAE22FDE9}"/>
              </a:ext>
            </a:extLst>
          </p:cNvPr>
          <p:cNvSpPr txBox="1"/>
          <p:nvPr/>
        </p:nvSpPr>
        <p:spPr>
          <a:xfrm>
            <a:off x="328349" y="3827373"/>
            <a:ext cx="1868111" cy="261610"/>
          </a:xfrm>
          <a:prstGeom prst="rect">
            <a:avLst/>
          </a:prstGeom>
          <a:solidFill>
            <a:schemeClr val="bg1">
              <a:lumMod val="75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（広告・</a:t>
            </a:r>
            <a:r>
              <a:rPr lang="en-US" altLang="ja-JP" sz="1100" b="1" dirty="0">
                <a:latin typeface="メイリオ" panose="020B0604030504040204" pitchFamily="50" charset="-128"/>
                <a:ea typeface="メイリオ" panose="020B0604030504040204" pitchFamily="50" charset="-128"/>
              </a:rPr>
              <a:t>SEO</a:t>
            </a:r>
            <a:r>
              <a:rPr lang="ja-JP" altLang="en-US" sz="11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567FE63D-B0BB-1B5F-664B-09DD6B6984F7}"/>
              </a:ext>
            </a:extLst>
          </p:cNvPr>
          <p:cNvSpPr txBox="1"/>
          <p:nvPr/>
        </p:nvSpPr>
        <p:spPr>
          <a:xfrm>
            <a:off x="328348" y="4126943"/>
            <a:ext cx="1868111" cy="261610"/>
          </a:xfrm>
          <a:prstGeom prst="rect">
            <a:avLst/>
          </a:prstGeom>
          <a:solidFill>
            <a:schemeClr val="bg1">
              <a:lumMod val="75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貴社他サービスからの紹介</a:t>
            </a:r>
            <a:endParaRPr lang="ja-JP" altLang="ja-JP" sz="1100" b="1" dirty="0">
              <a:latin typeface="メイリオ" panose="020B0604030504040204" pitchFamily="50" charset="-128"/>
              <a:ea typeface="メイリオ" panose="020B0604030504040204" pitchFamily="50" charset="-128"/>
            </a:endParaRPr>
          </a:p>
        </p:txBody>
      </p:sp>
      <p:cxnSp>
        <p:nvCxnSpPr>
          <p:cNvPr id="44" name="コネクタ: カギ線 43">
            <a:extLst>
              <a:ext uri="{FF2B5EF4-FFF2-40B4-BE49-F238E27FC236}">
                <a16:creationId xmlns:a16="http://schemas.microsoft.com/office/drawing/2014/main" id="{49EFBAB0-BCDF-630C-31F0-B7E739627F12}"/>
              </a:ext>
            </a:extLst>
          </p:cNvPr>
          <p:cNvCxnSpPr>
            <a:cxnSpLocks/>
            <a:stCxn id="39" idx="3"/>
            <a:endCxn id="32" idx="1"/>
          </p:cNvCxnSpPr>
          <p:nvPr/>
        </p:nvCxnSpPr>
        <p:spPr>
          <a:xfrm>
            <a:off x="2196460" y="3958178"/>
            <a:ext cx="940010" cy="12528"/>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D1AA445-8212-7660-79B6-1F56575E958B}"/>
              </a:ext>
            </a:extLst>
          </p:cNvPr>
          <p:cNvCxnSpPr>
            <a:cxnSpLocks/>
            <a:stCxn id="43" idx="3"/>
            <a:endCxn id="32" idx="1"/>
          </p:cNvCxnSpPr>
          <p:nvPr/>
        </p:nvCxnSpPr>
        <p:spPr>
          <a:xfrm flipV="1">
            <a:off x="2196459" y="3970706"/>
            <a:ext cx="940011" cy="287042"/>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3D5EBB5F-0314-5C1C-6914-43812C697BBA}"/>
              </a:ext>
            </a:extLst>
          </p:cNvPr>
          <p:cNvSpPr txBox="1"/>
          <p:nvPr/>
        </p:nvSpPr>
        <p:spPr>
          <a:xfrm>
            <a:off x="2397925" y="3832206"/>
            <a:ext cx="538152" cy="338554"/>
          </a:xfrm>
          <a:prstGeom prst="rect">
            <a:avLst/>
          </a:prstGeom>
          <a:solidFill>
            <a:schemeClr val="accent1">
              <a:lumMod val="40000"/>
              <a:lumOff val="60000"/>
            </a:schemeClr>
          </a:solidFill>
        </p:spPr>
        <p:txBody>
          <a:bodyPr wrap="square">
            <a:spAutoFit/>
          </a:bodyPr>
          <a:lstStyle/>
          <a:p>
            <a:pPr algn="ctr"/>
            <a:r>
              <a:rPr lang="ja-JP" altLang="en-US" sz="800" dirty="0">
                <a:solidFill>
                  <a:schemeClr val="bg1"/>
                </a:solidFill>
                <a:latin typeface="メイリオ" panose="020B0604030504040204" pitchFamily="50" charset="-128"/>
                <a:ea typeface="メイリオ" panose="020B0604030504040204" pitchFamily="50" charset="-128"/>
              </a:rPr>
              <a:t>電話</a:t>
            </a:r>
            <a:endParaRPr lang="en-US" altLang="ja-JP" sz="800" dirty="0">
              <a:solidFill>
                <a:schemeClr val="bg1"/>
              </a:solidFill>
              <a:latin typeface="メイリオ" panose="020B0604030504040204" pitchFamily="50" charset="-128"/>
              <a:ea typeface="メイリオ" panose="020B0604030504040204" pitchFamily="50" charset="-128"/>
            </a:endParaRPr>
          </a:p>
          <a:p>
            <a:pPr algn="ctr"/>
            <a:r>
              <a:rPr lang="en-US" altLang="ja-JP" sz="800" dirty="0">
                <a:solidFill>
                  <a:schemeClr val="bg1"/>
                </a:solidFill>
                <a:latin typeface="メイリオ" panose="020B0604030504040204" pitchFamily="50" charset="-128"/>
                <a:ea typeface="メイリオ" panose="020B0604030504040204" pitchFamily="50" charset="-128"/>
              </a:rPr>
              <a:t>WEB</a:t>
            </a:r>
          </a:p>
        </p:txBody>
      </p:sp>
    </p:spTree>
    <p:extLst>
      <p:ext uri="{BB962C8B-B14F-4D97-AF65-F5344CB8AC3E}">
        <p14:creationId xmlns:p14="http://schemas.microsoft.com/office/powerpoint/2010/main" val="17159093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6375E-1E7D-4890-1258-5DB3117640D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DFBA01A-1ABD-808E-C272-C7AE180BC12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BEBFCB2D-6FAD-96C0-BD6C-51465F2A4A6E}"/>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市場分析</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8414866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1AEA3-5B74-7C38-9336-4D6A18C7CFB5}"/>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28982883-62D2-1FB6-448E-4DBFD3487BB8}"/>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B2A895AE-F6EA-11C0-FE80-47B95B614699}"/>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US" altLang="ja-JP" sz="1700" dirty="0">
                <a:solidFill>
                  <a:schemeClr val="tx1"/>
                </a:solidFill>
              </a:rPr>
              <a:t>LINE</a:t>
            </a:r>
            <a:r>
              <a:rPr lang="ja-JP" altLang="en-US" sz="1700" dirty="0">
                <a:solidFill>
                  <a:schemeClr val="tx1"/>
                </a:solidFill>
              </a:rPr>
              <a:t>ヤフー社提供の前後検索クエリより（クエリ：子ども 習い事）</a:t>
            </a:r>
            <a:endParaRPr lang="en-US" altLang="ja-JP" sz="1700" dirty="0">
              <a:solidFill>
                <a:schemeClr val="tx1"/>
              </a:solidFill>
            </a:endParaRPr>
          </a:p>
        </p:txBody>
      </p:sp>
      <p:sp>
        <p:nvSpPr>
          <p:cNvPr id="24" name="Rounded Rectangle 2">
            <a:extLst>
              <a:ext uri="{FF2B5EF4-FFF2-40B4-BE49-F238E27FC236}">
                <a16:creationId xmlns:a16="http://schemas.microsoft.com/office/drawing/2014/main" id="{17E8DBF9-A9D2-B706-F31D-87C825EC47BB}"/>
              </a:ext>
            </a:extLst>
          </p:cNvPr>
          <p:cNvSpPr/>
          <p:nvPr/>
        </p:nvSpPr>
        <p:spPr>
          <a:xfrm>
            <a:off x="385572" y="1638300"/>
            <a:ext cx="2148840" cy="1188720"/>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a:solidFill>
                  <a:srgbClr val="FFFFFF"/>
                </a:solidFill>
                <a:latin typeface="メイリオ" panose="020B0604030504040204" pitchFamily="50" charset="-128"/>
                <a:ea typeface="メイリオ" panose="020B0604030504040204" pitchFamily="50" charset="-128"/>
              </a:rPr>
              <a:t>46%</a:t>
            </a:r>
          </a:p>
          <a:p>
            <a:pPr algn="ctr"/>
            <a:r>
              <a:rPr sz="1100">
                <a:solidFill>
                  <a:srgbClr val="FFFFFF"/>
                </a:solidFill>
                <a:latin typeface="メイリオ" panose="020B0604030504040204" pitchFamily="50" charset="-128"/>
                <a:ea typeface="メイリオ" panose="020B0604030504040204" pitchFamily="50" charset="-128"/>
              </a:rPr>
              <a:t>習い事の開始年齢
「3〜5歳」が最多</a:t>
            </a:r>
          </a:p>
        </p:txBody>
      </p:sp>
      <p:sp>
        <p:nvSpPr>
          <p:cNvPr id="25" name="Rounded Rectangle 3">
            <a:extLst>
              <a:ext uri="{FF2B5EF4-FFF2-40B4-BE49-F238E27FC236}">
                <a16:creationId xmlns:a16="http://schemas.microsoft.com/office/drawing/2014/main" id="{26FA1AA9-A712-DE17-BB8B-F8F64E490409}"/>
              </a:ext>
            </a:extLst>
          </p:cNvPr>
          <p:cNvSpPr/>
          <p:nvPr/>
        </p:nvSpPr>
        <p:spPr>
          <a:xfrm>
            <a:off x="2671572" y="1638300"/>
            <a:ext cx="2148840" cy="1188720"/>
          </a:xfrm>
          <a:prstGeom prst="round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400" b="1" dirty="0">
                <a:solidFill>
                  <a:srgbClr val="FFFFFF"/>
                </a:solidFill>
                <a:latin typeface="メイリオ" panose="020B0604030504040204" pitchFamily="50" charset="-128"/>
                <a:ea typeface="メイリオ" panose="020B0604030504040204" pitchFamily="50" charset="-128"/>
              </a:rPr>
              <a:t>10,146円</a:t>
            </a:r>
          </a:p>
          <a:p>
            <a:pPr algn="ctr"/>
            <a:r>
              <a:rPr sz="1100" dirty="0">
                <a:solidFill>
                  <a:srgbClr val="FFFFFF"/>
                </a:solidFill>
                <a:latin typeface="メイリオ" panose="020B0604030504040204" pitchFamily="50" charset="-128"/>
                <a:ea typeface="メイリオ" panose="020B0604030504040204" pitchFamily="50" charset="-128"/>
              </a:rPr>
              <a:t>4〜6歳の
</a:t>
            </a:r>
            <a:r>
              <a:rPr sz="1100" dirty="0" err="1">
                <a:solidFill>
                  <a:srgbClr val="FFFFFF"/>
                </a:solidFill>
                <a:latin typeface="メイリオ" panose="020B0604030504040204" pitchFamily="50" charset="-128"/>
                <a:ea typeface="メイリオ" panose="020B0604030504040204" pitchFamily="50" charset="-128"/>
              </a:rPr>
              <a:t>月謝合計平均</a:t>
            </a:r>
            <a:endParaRPr sz="1100" dirty="0">
              <a:solidFill>
                <a:srgbClr val="FFFFFF"/>
              </a:solidFill>
              <a:latin typeface="メイリオ" panose="020B0604030504040204" pitchFamily="50" charset="-128"/>
              <a:ea typeface="メイリオ" panose="020B0604030504040204" pitchFamily="50" charset="-128"/>
            </a:endParaRPr>
          </a:p>
        </p:txBody>
      </p:sp>
      <p:sp>
        <p:nvSpPr>
          <p:cNvPr id="26" name="Rounded Rectangle 4">
            <a:extLst>
              <a:ext uri="{FF2B5EF4-FFF2-40B4-BE49-F238E27FC236}">
                <a16:creationId xmlns:a16="http://schemas.microsoft.com/office/drawing/2014/main" id="{1902E2F6-AC7A-D576-8415-3C855D5947A9}"/>
              </a:ext>
            </a:extLst>
          </p:cNvPr>
          <p:cNvSpPr/>
          <p:nvPr/>
        </p:nvSpPr>
        <p:spPr>
          <a:xfrm>
            <a:off x="4957572" y="1638300"/>
            <a:ext cx="2148840" cy="1188720"/>
          </a:xfrm>
          <a:prstGeom prst="roundRect">
            <a:avLst/>
          </a:prstGeom>
          <a:solidFill>
            <a:schemeClr val="accent1">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a:solidFill>
                  <a:srgbClr val="FFFFFF"/>
                </a:solidFill>
                <a:latin typeface="メイリオ" panose="020B0604030504040204" pitchFamily="50" charset="-128"/>
                <a:ea typeface="メイリオ" panose="020B0604030504040204" pitchFamily="50" charset="-128"/>
              </a:rPr>
              <a:t>58%</a:t>
            </a:r>
          </a:p>
          <a:p>
            <a:pPr algn="ctr"/>
            <a:r>
              <a:rPr sz="1100">
                <a:solidFill>
                  <a:srgbClr val="FFFFFF"/>
                </a:solidFill>
                <a:latin typeface="メイリオ" panose="020B0604030504040204" pitchFamily="50" charset="-128"/>
                <a:ea typeface="メイリオ" panose="020B0604030504040204" pitchFamily="50" charset="-128"/>
              </a:rPr>
              <a:t>習い事「1つ」
のみの家庭</a:t>
            </a:r>
          </a:p>
        </p:txBody>
      </p:sp>
      <p:sp>
        <p:nvSpPr>
          <p:cNvPr id="27" name="Rounded Rectangle 5">
            <a:extLst>
              <a:ext uri="{FF2B5EF4-FFF2-40B4-BE49-F238E27FC236}">
                <a16:creationId xmlns:a16="http://schemas.microsoft.com/office/drawing/2014/main" id="{8A74C4D5-CD3A-115D-11F4-4692E83BC2E3}"/>
              </a:ext>
            </a:extLst>
          </p:cNvPr>
          <p:cNvSpPr/>
          <p:nvPr/>
        </p:nvSpPr>
        <p:spPr>
          <a:xfrm>
            <a:off x="7243572" y="1638300"/>
            <a:ext cx="2148840" cy="1188720"/>
          </a:xfrm>
          <a:prstGeom prst="round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dirty="0">
                <a:solidFill>
                  <a:srgbClr val="FFFFFF"/>
                </a:solidFill>
                <a:latin typeface="メイリオ" panose="020B0604030504040204" pitchFamily="50" charset="-128"/>
                <a:ea typeface="メイリオ" panose="020B0604030504040204" pitchFamily="50" charset="-128"/>
              </a:rPr>
              <a:t>87.5%</a:t>
            </a:r>
          </a:p>
          <a:p>
            <a:pPr algn="ctr"/>
            <a:r>
              <a:rPr sz="1100" dirty="0" err="1">
                <a:solidFill>
                  <a:srgbClr val="FFFFFF"/>
                </a:solidFill>
                <a:latin typeface="メイリオ" panose="020B0604030504040204" pitchFamily="50" charset="-128"/>
                <a:ea typeface="メイリオ" panose="020B0604030504040204" pitchFamily="50" charset="-128"/>
              </a:rPr>
              <a:t>未就学児の保護者で</a:t>
            </a:r>
            <a:r>
              <a:rPr sz="1100" dirty="0">
                <a:solidFill>
                  <a:srgbClr val="FFFFFF"/>
                </a:solidFill>
                <a:latin typeface="メイリオ" panose="020B0604030504040204" pitchFamily="50" charset="-128"/>
                <a:ea typeface="メイリオ" panose="020B0604030504040204" pitchFamily="50" charset="-128"/>
              </a:rPr>
              <a:t>
「</a:t>
            </a:r>
            <a:r>
              <a:rPr sz="1100" dirty="0" err="1">
                <a:solidFill>
                  <a:srgbClr val="FFFFFF"/>
                </a:solidFill>
                <a:latin typeface="メイリオ" panose="020B0604030504040204" pitchFamily="50" charset="-128"/>
                <a:ea typeface="メイリオ" panose="020B0604030504040204" pitchFamily="50" charset="-128"/>
              </a:rPr>
              <a:t>させたい」意向</a:t>
            </a:r>
            <a:endParaRPr sz="1100" dirty="0">
              <a:solidFill>
                <a:srgbClr val="FFFFFF"/>
              </a:solidFill>
              <a:latin typeface="メイリオ" panose="020B0604030504040204" pitchFamily="50" charset="-128"/>
              <a:ea typeface="メイリオ" panose="020B0604030504040204" pitchFamily="50" charset="-128"/>
            </a:endParaRPr>
          </a:p>
        </p:txBody>
      </p:sp>
      <p:sp>
        <p:nvSpPr>
          <p:cNvPr id="28" name="TextBox 6">
            <a:extLst>
              <a:ext uri="{FF2B5EF4-FFF2-40B4-BE49-F238E27FC236}">
                <a16:creationId xmlns:a16="http://schemas.microsoft.com/office/drawing/2014/main" id="{F32BB577-D373-15FE-EDE1-B4346239EA20}"/>
              </a:ext>
            </a:extLst>
          </p:cNvPr>
          <p:cNvSpPr txBox="1"/>
          <p:nvPr/>
        </p:nvSpPr>
        <p:spPr>
          <a:xfrm>
            <a:off x="385572" y="3004820"/>
            <a:ext cx="4389120" cy="292388"/>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r>
              <a:rPr sz="1300" b="1">
                <a:solidFill>
                  <a:srgbClr val="1F2A5C"/>
                </a:solidFill>
                <a:latin typeface="メイリオ" panose="020B0604030504040204" pitchFamily="50" charset="-128"/>
                <a:ea typeface="メイリオ" panose="020B0604030504040204" pitchFamily="50" charset="-128"/>
              </a:rPr>
              <a:t>習い事に感じる不安・負担（複数回答）</a:t>
            </a:r>
          </a:p>
        </p:txBody>
      </p:sp>
      <p:pic>
        <p:nvPicPr>
          <p:cNvPr id="29" name="table">
            <a:extLst>
              <a:ext uri="{FF2B5EF4-FFF2-40B4-BE49-F238E27FC236}">
                <a16:creationId xmlns:a16="http://schemas.microsoft.com/office/drawing/2014/main" id="{BD797D6C-2540-BB18-804E-B927E9995453}"/>
              </a:ext>
            </a:extLst>
          </p:cNvPr>
          <p:cNvPicPr>
            <a:picLocks noChangeAspect="1"/>
          </p:cNvPicPr>
          <p:nvPr/>
        </p:nvPicPr>
        <p:blipFill>
          <a:blip r:embed="rId3"/>
          <a:stretch>
            <a:fillRect/>
          </a:stretch>
        </p:blipFill>
        <p:spPr>
          <a:xfrm>
            <a:off x="385572" y="3294380"/>
            <a:ext cx="4389120" cy="1645920"/>
          </a:xfrm>
          <a:prstGeom prst="rect">
            <a:avLst/>
          </a:prstGeom>
        </p:spPr>
      </p:pic>
      <p:sp>
        <p:nvSpPr>
          <p:cNvPr id="30" name="TextBox 8">
            <a:extLst>
              <a:ext uri="{FF2B5EF4-FFF2-40B4-BE49-F238E27FC236}">
                <a16:creationId xmlns:a16="http://schemas.microsoft.com/office/drawing/2014/main" id="{58C905AF-32AC-8815-5B3D-86FCD1554DDB}"/>
              </a:ext>
            </a:extLst>
          </p:cNvPr>
          <p:cNvSpPr txBox="1"/>
          <p:nvPr/>
        </p:nvSpPr>
        <p:spPr>
          <a:xfrm>
            <a:off x="5049012" y="3004820"/>
            <a:ext cx="4389120" cy="292388"/>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r>
              <a:rPr sz="1300" b="1">
                <a:solidFill>
                  <a:srgbClr val="1F2A5C"/>
                </a:solidFill>
                <a:latin typeface="メイリオ" panose="020B0604030504040204" pitchFamily="50" charset="-128"/>
                <a:ea typeface="メイリオ" panose="020B0604030504040204" pitchFamily="50" charset="-128"/>
              </a:rPr>
              <a:t>人気の習い事ジャンル</a:t>
            </a:r>
          </a:p>
        </p:txBody>
      </p:sp>
      <p:pic>
        <p:nvPicPr>
          <p:cNvPr id="31" name="table">
            <a:extLst>
              <a:ext uri="{FF2B5EF4-FFF2-40B4-BE49-F238E27FC236}">
                <a16:creationId xmlns:a16="http://schemas.microsoft.com/office/drawing/2014/main" id="{C0285BDD-3E26-1AD3-3CCE-07800130DEB4}"/>
              </a:ext>
            </a:extLst>
          </p:cNvPr>
          <p:cNvPicPr>
            <a:picLocks noChangeAspect="1"/>
          </p:cNvPicPr>
          <p:nvPr/>
        </p:nvPicPr>
        <p:blipFill>
          <a:blip r:embed="rId4"/>
          <a:stretch>
            <a:fillRect/>
          </a:stretch>
        </p:blipFill>
        <p:spPr>
          <a:xfrm>
            <a:off x="5049012" y="3294380"/>
            <a:ext cx="4389120" cy="1645920"/>
          </a:xfrm>
          <a:prstGeom prst="rect">
            <a:avLst/>
          </a:prstGeom>
        </p:spPr>
      </p:pic>
      <p:sp>
        <p:nvSpPr>
          <p:cNvPr id="32" name="TextBox 10">
            <a:extLst>
              <a:ext uri="{FF2B5EF4-FFF2-40B4-BE49-F238E27FC236}">
                <a16:creationId xmlns:a16="http://schemas.microsoft.com/office/drawing/2014/main" id="{4883E9C1-EC1E-8047-ABFB-F3D3B5F83C40}"/>
              </a:ext>
            </a:extLst>
          </p:cNvPr>
          <p:cNvSpPr txBox="1"/>
          <p:nvPr/>
        </p:nvSpPr>
        <p:spPr>
          <a:xfrm>
            <a:off x="385572" y="5214620"/>
            <a:ext cx="9052560" cy="519758"/>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lnSpc>
                <a:spcPct val="130000"/>
              </a:lnSpc>
            </a:pPr>
            <a:r>
              <a:rPr sz="1100" b="0" dirty="0">
                <a:solidFill>
                  <a:srgbClr val="5A6378"/>
                </a:solidFill>
                <a:latin typeface="メイリオ" panose="020B0604030504040204" pitchFamily="50" charset="-128"/>
                <a:ea typeface="メイリオ" panose="020B0604030504040204" pitchFamily="50" charset="-128"/>
              </a:rPr>
              <a:t>※学年が上がるほど通塾頻度も増加する傾向。未就園児は「0（実施なし）」</a:t>
            </a:r>
            <a:r>
              <a:rPr sz="1100" b="0" dirty="0" err="1">
                <a:solidFill>
                  <a:srgbClr val="5A6378"/>
                </a:solidFill>
                <a:latin typeface="メイリオ" panose="020B0604030504040204" pitchFamily="50" charset="-128"/>
                <a:ea typeface="メイリオ" panose="020B0604030504040204" pitchFamily="50" charset="-128"/>
              </a:rPr>
              <a:t>が中心だが</a:t>
            </a:r>
            <a:r>
              <a:rPr sz="1100" b="0" dirty="0">
                <a:solidFill>
                  <a:srgbClr val="5A6378"/>
                </a:solidFill>
                <a:latin typeface="メイリオ" panose="020B0604030504040204" pitchFamily="50" charset="-128"/>
                <a:ea typeface="メイリオ" panose="020B0604030504040204" pitchFamily="50" charset="-128"/>
              </a:rPr>
              <a:t>、</a:t>
            </a:r>
            <a:endParaRPr lang="en-US" sz="1100" b="0" dirty="0">
              <a:solidFill>
                <a:srgbClr val="5A6378"/>
              </a:solidFill>
              <a:latin typeface="メイリオ" panose="020B0604030504040204" pitchFamily="50" charset="-128"/>
              <a:ea typeface="メイリオ" panose="020B0604030504040204" pitchFamily="50" charset="-128"/>
            </a:endParaRPr>
          </a:p>
          <a:p>
            <a:pPr algn="l">
              <a:lnSpc>
                <a:spcPct val="130000"/>
              </a:lnSpc>
            </a:pPr>
            <a:r>
              <a:rPr lang="ja-JP" altLang="en-US" sz="1100" dirty="0">
                <a:solidFill>
                  <a:srgbClr val="5A6378"/>
                </a:solidFill>
                <a:latin typeface="メイリオ" panose="020B0604030504040204" pitchFamily="50" charset="-128"/>
                <a:ea typeface="メイリオ" panose="020B0604030504040204" pitchFamily="50" charset="-128"/>
              </a:rPr>
              <a:t>　</a:t>
            </a:r>
            <a:r>
              <a:rPr sz="1100" b="0" dirty="0">
                <a:solidFill>
                  <a:srgbClr val="5A6378"/>
                </a:solidFill>
                <a:latin typeface="メイリオ" panose="020B0604030504040204" pitchFamily="50" charset="-128"/>
                <a:ea typeface="メイリオ" panose="020B0604030504040204" pitchFamily="50" charset="-128"/>
              </a:rPr>
              <a:t>小5・小6では「週6日以上」が主流となり、学年進行とともに習い事への時間投資が拡大する</a:t>
            </a:r>
          </a:p>
        </p:txBody>
      </p:sp>
      <p:sp>
        <p:nvSpPr>
          <p:cNvPr id="33" name="TextBox 11">
            <a:extLst>
              <a:ext uri="{FF2B5EF4-FFF2-40B4-BE49-F238E27FC236}">
                <a16:creationId xmlns:a16="http://schemas.microsoft.com/office/drawing/2014/main" id="{657E3036-6E38-E46C-8530-E7FFD3221E4C}"/>
              </a:ext>
            </a:extLst>
          </p:cNvPr>
          <p:cNvSpPr txBox="1"/>
          <p:nvPr/>
        </p:nvSpPr>
        <p:spPr>
          <a:xfrm>
            <a:off x="385572" y="5900420"/>
            <a:ext cx="9052560" cy="399725"/>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lnSpc>
                <a:spcPct val="120000"/>
              </a:lnSpc>
            </a:pPr>
            <a:r>
              <a:rPr sz="850" b="0">
                <a:solidFill>
                  <a:srgbClr val="9AA1AE"/>
                </a:solidFill>
                <a:latin typeface="メイリオ" panose="020B0604030504040204" pitchFamily="50" charset="-128"/>
                <a:ea typeface="メイリオ" panose="020B0604030504040204" pitchFamily="50" charset="-128"/>
              </a:rPr>
              <a:t>出典：①np-labo.com（2023年10月, N=300）　②統計データ（4〜6歳 回答者数103）　③マイナビウーマン（2022年8月, N=300）</a:t>
            </a:r>
          </a:p>
          <a:p>
            <a:pPr algn="l">
              <a:lnSpc>
                <a:spcPct val="120000"/>
              </a:lnSpc>
            </a:pPr>
            <a:r>
              <a:rPr sz="850" b="0">
                <a:solidFill>
                  <a:srgbClr val="9AA1AE"/>
                </a:solidFill>
                <a:latin typeface="メイリオ" panose="020B0604030504040204" pitchFamily="50" charset="-128"/>
                <a:ea typeface="メイリオ" panose="020B0604030504040204" pitchFamily="50" charset="-128"/>
              </a:rPr>
              <a:t>④babytech.jp「未就学児の習い事事情2025」（N=1,436）　⑤PR TIMES（学年別 週あたり実施日数）</a:t>
            </a:r>
          </a:p>
        </p:txBody>
      </p:sp>
    </p:spTree>
    <p:extLst>
      <p:ext uri="{BB962C8B-B14F-4D97-AF65-F5344CB8AC3E}">
        <p14:creationId xmlns:p14="http://schemas.microsoft.com/office/powerpoint/2010/main" val="20531706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AFCDA-60C5-9365-6004-8403C246AD9F}"/>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B2DB17C1-927F-1EC4-4371-E831F96525CB}"/>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2CA316B7-4505-4337-6433-44B8AC8C958C}"/>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US" altLang="ja-JP" sz="1700" dirty="0">
                <a:solidFill>
                  <a:schemeClr val="tx1"/>
                </a:solidFill>
              </a:rPr>
              <a:t>LINE</a:t>
            </a:r>
            <a:r>
              <a:rPr lang="ja-JP" altLang="en-US" sz="1700" dirty="0">
                <a:solidFill>
                  <a:schemeClr val="tx1"/>
                </a:solidFill>
              </a:rPr>
              <a:t>ヤフー社提供の前後検索クエリより（クエリ：子ども 習い事）</a:t>
            </a:r>
            <a:endParaRPr lang="en-US" altLang="ja-JP" sz="1700" dirty="0">
              <a:solidFill>
                <a:schemeClr val="tx1"/>
              </a:solidFill>
            </a:endParaRPr>
          </a:p>
        </p:txBody>
      </p:sp>
      <p:pic>
        <p:nvPicPr>
          <p:cNvPr id="4" name="図 3">
            <a:extLst>
              <a:ext uri="{FF2B5EF4-FFF2-40B4-BE49-F238E27FC236}">
                <a16:creationId xmlns:a16="http://schemas.microsoft.com/office/drawing/2014/main" id="{4511DE82-BBD2-B022-1764-353E066B0E7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338" y="1677364"/>
            <a:ext cx="7442525" cy="4341473"/>
          </a:xfrm>
          <a:prstGeom prst="rect">
            <a:avLst/>
          </a:prstGeom>
        </p:spPr>
      </p:pic>
      <p:cxnSp>
        <p:nvCxnSpPr>
          <p:cNvPr id="8" name="直線矢印コネクタ 7">
            <a:extLst>
              <a:ext uri="{FF2B5EF4-FFF2-40B4-BE49-F238E27FC236}">
                <a16:creationId xmlns:a16="http://schemas.microsoft.com/office/drawing/2014/main" id="{FACBC0F7-0441-2179-B969-6950551697D2}"/>
              </a:ext>
            </a:extLst>
          </p:cNvPr>
          <p:cNvCxnSpPr>
            <a:cxnSpLocks/>
          </p:cNvCxnSpPr>
          <p:nvPr/>
        </p:nvCxnSpPr>
        <p:spPr>
          <a:xfrm>
            <a:off x="726833" y="5184903"/>
            <a:ext cx="5484091" cy="0"/>
          </a:xfrm>
          <a:prstGeom prst="straightConnector1">
            <a:avLst/>
          </a:prstGeom>
          <a:ln w="57150">
            <a:solidFill>
              <a:schemeClr val="tx1">
                <a:lumMod val="75000"/>
                <a:lumOff val="25000"/>
              </a:schemeClr>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BA0EB23A-0A83-01D0-64EB-40B1ED3DCA8F}"/>
              </a:ext>
            </a:extLst>
          </p:cNvPr>
          <p:cNvCxnSpPr/>
          <p:nvPr/>
        </p:nvCxnSpPr>
        <p:spPr>
          <a:xfrm>
            <a:off x="5518005" y="5692903"/>
            <a:ext cx="2114354" cy="0"/>
          </a:xfrm>
          <a:prstGeom prst="straightConnector1">
            <a:avLst/>
          </a:prstGeom>
          <a:ln w="57150">
            <a:solidFill>
              <a:srgbClr val="04FA0A"/>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6238FDAF-4FF9-608B-5C45-81FE7C1A6423}"/>
              </a:ext>
            </a:extLst>
          </p:cNvPr>
          <p:cNvCxnSpPr/>
          <p:nvPr/>
        </p:nvCxnSpPr>
        <p:spPr>
          <a:xfrm>
            <a:off x="6985063" y="6251703"/>
            <a:ext cx="2533039" cy="0"/>
          </a:xfrm>
          <a:prstGeom prst="straightConnector1">
            <a:avLst/>
          </a:prstGeom>
          <a:ln w="57150">
            <a:solidFill>
              <a:srgbClr val="00B050"/>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DA7B2989-9F56-5DD7-1256-E2B61CE5E5FC}"/>
              </a:ext>
            </a:extLst>
          </p:cNvPr>
          <p:cNvSpPr txBox="1"/>
          <p:nvPr/>
        </p:nvSpPr>
        <p:spPr>
          <a:xfrm>
            <a:off x="968756" y="4805560"/>
            <a:ext cx="4965700" cy="353943"/>
          </a:xfrm>
          <a:prstGeom prst="rect">
            <a:avLst/>
          </a:prstGeom>
          <a:noFill/>
        </p:spPr>
        <p:txBody>
          <a:bodyPr wrap="square">
            <a:spAutoFit/>
          </a:bodyPr>
          <a:lstStyle/>
          <a:p>
            <a:pPr marL="0" indent="0" algn="ctr">
              <a:buNone/>
            </a:pPr>
            <a:r>
              <a:rPr lang="ja-JP" altLang="en-US" sz="1700" b="1" dirty="0">
                <a:solidFill>
                  <a:schemeClr val="bg1">
                    <a:lumMod val="75000"/>
                  </a:schemeClr>
                </a:solidFill>
                <a:latin typeface="Meiryo" pitchFamily="34" charset="0"/>
                <a:ea typeface="Meiryo" pitchFamily="34" charset="-122"/>
                <a:cs typeface="Meiryo" pitchFamily="34" charset="-120"/>
              </a:rPr>
              <a:t>離脱防止バナーの掲載</a:t>
            </a:r>
            <a:endParaRPr lang="en-US" altLang="ja-JP" sz="1700" dirty="0">
              <a:solidFill>
                <a:schemeClr val="bg1">
                  <a:lumMod val="75000"/>
                </a:schemeClr>
              </a:solidFill>
            </a:endParaRPr>
          </a:p>
        </p:txBody>
      </p:sp>
      <p:sp>
        <p:nvSpPr>
          <p:cNvPr id="12" name="テキスト ボックス 11">
            <a:extLst>
              <a:ext uri="{FF2B5EF4-FFF2-40B4-BE49-F238E27FC236}">
                <a16:creationId xmlns:a16="http://schemas.microsoft.com/office/drawing/2014/main" id="{558A8417-6060-6DF0-8F12-53B3635C9DC0}"/>
              </a:ext>
            </a:extLst>
          </p:cNvPr>
          <p:cNvSpPr txBox="1"/>
          <p:nvPr/>
        </p:nvSpPr>
        <p:spPr>
          <a:xfrm>
            <a:off x="5172524" y="5312731"/>
            <a:ext cx="2803009" cy="353943"/>
          </a:xfrm>
          <a:prstGeom prst="rect">
            <a:avLst/>
          </a:prstGeom>
          <a:noFill/>
          <a:ln w="57150">
            <a:noFill/>
          </a:ln>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友だち追加</a:t>
            </a:r>
            <a:endParaRPr lang="en-US" altLang="ja-JP" sz="1700" dirty="0">
              <a:solidFill>
                <a:schemeClr val="bg1">
                  <a:lumMod val="75000"/>
                </a:schemeClr>
              </a:solidFill>
            </a:endParaRPr>
          </a:p>
        </p:txBody>
      </p:sp>
      <p:sp>
        <p:nvSpPr>
          <p:cNvPr id="13" name="テキスト ボックス 12">
            <a:extLst>
              <a:ext uri="{FF2B5EF4-FFF2-40B4-BE49-F238E27FC236}">
                <a16:creationId xmlns:a16="http://schemas.microsoft.com/office/drawing/2014/main" id="{141D629D-A515-AE4F-E000-57CAEA1B1B70}"/>
              </a:ext>
            </a:extLst>
          </p:cNvPr>
          <p:cNvSpPr txBox="1"/>
          <p:nvPr/>
        </p:nvSpPr>
        <p:spPr>
          <a:xfrm>
            <a:off x="6850077" y="5871117"/>
            <a:ext cx="2803009" cy="353943"/>
          </a:xfrm>
          <a:prstGeom prst="rect">
            <a:avLst/>
          </a:prstGeom>
          <a:noFill/>
          <a:ln w="57150">
            <a:noFill/>
          </a:ln>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施策</a:t>
            </a:r>
            <a:r>
              <a:rPr lang="en-US" altLang="ja-JP" sz="1700" b="1" dirty="0">
                <a:solidFill>
                  <a:schemeClr val="bg1">
                    <a:lumMod val="75000"/>
                  </a:schemeClr>
                </a:solidFill>
                <a:latin typeface="Meiryo" pitchFamily="34" charset="0"/>
                <a:ea typeface="Meiryo" pitchFamily="34" charset="-122"/>
                <a:cs typeface="Meiryo" pitchFamily="34" charset="-120"/>
              </a:rPr>
              <a:t>(</a:t>
            </a:r>
            <a:r>
              <a:rPr lang="ja-JP" altLang="en-US" sz="1700" b="1" dirty="0">
                <a:solidFill>
                  <a:schemeClr val="bg1">
                    <a:lumMod val="75000"/>
                  </a:schemeClr>
                </a:solidFill>
                <a:latin typeface="Meiryo" pitchFamily="34" charset="0"/>
                <a:ea typeface="Meiryo" pitchFamily="34" charset="-122"/>
                <a:cs typeface="Meiryo" pitchFamily="34" charset="-120"/>
              </a:rPr>
              <a:t>投稿</a:t>
            </a:r>
            <a:r>
              <a:rPr lang="en-US" altLang="ja-JP" sz="1700" b="1" dirty="0">
                <a:solidFill>
                  <a:schemeClr val="bg1">
                    <a:lumMod val="75000"/>
                  </a:schemeClr>
                </a:solidFill>
                <a:latin typeface="Meiryo" pitchFamily="34" charset="0"/>
                <a:ea typeface="Meiryo" pitchFamily="34" charset="-122"/>
                <a:cs typeface="Meiryo" pitchFamily="34" charset="-120"/>
              </a:rPr>
              <a:t>)</a:t>
            </a:r>
            <a:endParaRPr lang="en-US" altLang="ja-JP" sz="1700" dirty="0">
              <a:solidFill>
                <a:schemeClr val="bg1">
                  <a:lumMod val="75000"/>
                </a:schemeClr>
              </a:solidFill>
            </a:endParaRPr>
          </a:p>
        </p:txBody>
      </p:sp>
    </p:spTree>
    <p:extLst>
      <p:ext uri="{BB962C8B-B14F-4D97-AF65-F5344CB8AC3E}">
        <p14:creationId xmlns:p14="http://schemas.microsoft.com/office/powerpoint/2010/main" val="14393306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A4403-1A8A-B352-52D7-3C459B4E9FF3}"/>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3FF53609-3AE6-15F7-F91A-8F9748838B2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BD6FF840-BD2A-C9D2-6742-4C0E533AE4B4}"/>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en-US" altLang="ja-JP" sz="1700" dirty="0">
                <a:solidFill>
                  <a:schemeClr val="tx1"/>
                </a:solidFill>
              </a:rPr>
              <a:t>LINE</a:t>
            </a:r>
            <a:r>
              <a:rPr lang="ja-JP" altLang="en-US" sz="1700" dirty="0">
                <a:solidFill>
                  <a:schemeClr val="tx1"/>
                </a:solidFill>
              </a:rPr>
              <a:t>ヤフー社提供の前後検索クエリより（クエリ：習い事）</a:t>
            </a:r>
            <a:endParaRPr lang="en-US" altLang="ja-JP" sz="1700" dirty="0">
              <a:solidFill>
                <a:schemeClr val="tx1"/>
              </a:solidFill>
            </a:endParaRPr>
          </a:p>
        </p:txBody>
      </p:sp>
      <p:pic>
        <p:nvPicPr>
          <p:cNvPr id="7" name="図 6">
            <a:extLst>
              <a:ext uri="{FF2B5EF4-FFF2-40B4-BE49-F238E27FC236}">
                <a16:creationId xmlns:a16="http://schemas.microsoft.com/office/drawing/2014/main" id="{A59C6DB9-8735-BD98-C3AA-EB4C5D2F087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338" y="1677364"/>
            <a:ext cx="7442525" cy="4341473"/>
          </a:xfrm>
          <a:prstGeom prst="rect">
            <a:avLst/>
          </a:prstGeom>
        </p:spPr>
      </p:pic>
      <p:cxnSp>
        <p:nvCxnSpPr>
          <p:cNvPr id="8" name="直線矢印コネクタ 7">
            <a:extLst>
              <a:ext uri="{FF2B5EF4-FFF2-40B4-BE49-F238E27FC236}">
                <a16:creationId xmlns:a16="http://schemas.microsoft.com/office/drawing/2014/main" id="{49872CA8-26BB-EE48-3AD2-11D59C4D0C02}"/>
              </a:ext>
            </a:extLst>
          </p:cNvPr>
          <p:cNvCxnSpPr>
            <a:cxnSpLocks/>
          </p:cNvCxnSpPr>
          <p:nvPr/>
        </p:nvCxnSpPr>
        <p:spPr>
          <a:xfrm>
            <a:off x="726833" y="5184903"/>
            <a:ext cx="5484091" cy="0"/>
          </a:xfrm>
          <a:prstGeom prst="straightConnector1">
            <a:avLst/>
          </a:prstGeom>
          <a:ln w="57150">
            <a:solidFill>
              <a:schemeClr val="tx1">
                <a:lumMod val="75000"/>
                <a:lumOff val="25000"/>
              </a:schemeClr>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CA0DB759-B7B4-7F5D-1A6C-EA4B3D364ECD}"/>
              </a:ext>
            </a:extLst>
          </p:cNvPr>
          <p:cNvCxnSpPr/>
          <p:nvPr/>
        </p:nvCxnSpPr>
        <p:spPr>
          <a:xfrm>
            <a:off x="5518005" y="5692903"/>
            <a:ext cx="2114354" cy="0"/>
          </a:xfrm>
          <a:prstGeom prst="straightConnector1">
            <a:avLst/>
          </a:prstGeom>
          <a:ln w="57150">
            <a:solidFill>
              <a:srgbClr val="04FA0A"/>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7AF1380E-3FB7-14CD-2323-DE614D5319B0}"/>
              </a:ext>
            </a:extLst>
          </p:cNvPr>
          <p:cNvCxnSpPr/>
          <p:nvPr/>
        </p:nvCxnSpPr>
        <p:spPr>
          <a:xfrm>
            <a:off x="6985063" y="6251703"/>
            <a:ext cx="2533039" cy="0"/>
          </a:xfrm>
          <a:prstGeom prst="straightConnector1">
            <a:avLst/>
          </a:prstGeom>
          <a:ln w="57150">
            <a:solidFill>
              <a:srgbClr val="00B050"/>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16AF5040-A8C5-8998-7D9E-E6C6B73FFFDB}"/>
              </a:ext>
            </a:extLst>
          </p:cNvPr>
          <p:cNvSpPr txBox="1"/>
          <p:nvPr/>
        </p:nvSpPr>
        <p:spPr>
          <a:xfrm>
            <a:off x="968756" y="4805560"/>
            <a:ext cx="4965700" cy="353943"/>
          </a:xfrm>
          <a:prstGeom prst="rect">
            <a:avLst/>
          </a:prstGeom>
          <a:noFill/>
        </p:spPr>
        <p:txBody>
          <a:bodyPr wrap="square">
            <a:spAutoFit/>
          </a:bodyPr>
          <a:lstStyle/>
          <a:p>
            <a:pPr marL="0" indent="0" algn="ctr">
              <a:buNone/>
            </a:pPr>
            <a:r>
              <a:rPr lang="ja-JP" altLang="en-US" sz="1700" b="1" dirty="0">
                <a:solidFill>
                  <a:schemeClr val="bg1">
                    <a:lumMod val="75000"/>
                  </a:schemeClr>
                </a:solidFill>
                <a:latin typeface="Meiryo" pitchFamily="34" charset="0"/>
                <a:ea typeface="Meiryo" pitchFamily="34" charset="-122"/>
                <a:cs typeface="Meiryo" pitchFamily="34" charset="-120"/>
              </a:rPr>
              <a:t>離脱防止バナーの掲載</a:t>
            </a:r>
            <a:endParaRPr lang="en-US" altLang="ja-JP" sz="1700" dirty="0">
              <a:solidFill>
                <a:schemeClr val="bg1">
                  <a:lumMod val="75000"/>
                </a:schemeClr>
              </a:solidFill>
            </a:endParaRPr>
          </a:p>
        </p:txBody>
      </p:sp>
      <p:sp>
        <p:nvSpPr>
          <p:cNvPr id="12" name="テキスト ボックス 11">
            <a:extLst>
              <a:ext uri="{FF2B5EF4-FFF2-40B4-BE49-F238E27FC236}">
                <a16:creationId xmlns:a16="http://schemas.microsoft.com/office/drawing/2014/main" id="{F412C162-0E63-74C5-29D8-B8BA9075D080}"/>
              </a:ext>
            </a:extLst>
          </p:cNvPr>
          <p:cNvSpPr txBox="1"/>
          <p:nvPr/>
        </p:nvSpPr>
        <p:spPr>
          <a:xfrm>
            <a:off x="5172524" y="5312731"/>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友だち追加</a:t>
            </a:r>
            <a:endParaRPr lang="en-US" altLang="ja-JP" sz="1700" dirty="0">
              <a:solidFill>
                <a:schemeClr val="bg1">
                  <a:lumMod val="75000"/>
                </a:schemeClr>
              </a:solidFill>
            </a:endParaRPr>
          </a:p>
        </p:txBody>
      </p:sp>
      <p:sp>
        <p:nvSpPr>
          <p:cNvPr id="13" name="テキスト ボックス 12">
            <a:extLst>
              <a:ext uri="{FF2B5EF4-FFF2-40B4-BE49-F238E27FC236}">
                <a16:creationId xmlns:a16="http://schemas.microsoft.com/office/drawing/2014/main" id="{D32726F4-505A-F02B-9214-D435615CB4EF}"/>
              </a:ext>
            </a:extLst>
          </p:cNvPr>
          <p:cNvSpPr txBox="1"/>
          <p:nvPr/>
        </p:nvSpPr>
        <p:spPr>
          <a:xfrm>
            <a:off x="6850077" y="5871117"/>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施策</a:t>
            </a:r>
            <a:r>
              <a:rPr lang="en-US" altLang="ja-JP" sz="1700" b="1" dirty="0">
                <a:solidFill>
                  <a:schemeClr val="bg1">
                    <a:lumMod val="75000"/>
                  </a:schemeClr>
                </a:solidFill>
                <a:latin typeface="Meiryo" pitchFamily="34" charset="0"/>
                <a:ea typeface="Meiryo" pitchFamily="34" charset="-122"/>
                <a:cs typeface="Meiryo" pitchFamily="34" charset="-120"/>
              </a:rPr>
              <a:t>(</a:t>
            </a:r>
            <a:r>
              <a:rPr lang="ja-JP" altLang="en-US" sz="1700" b="1" dirty="0">
                <a:solidFill>
                  <a:schemeClr val="bg1">
                    <a:lumMod val="75000"/>
                  </a:schemeClr>
                </a:solidFill>
                <a:latin typeface="Meiryo" pitchFamily="34" charset="0"/>
                <a:ea typeface="Meiryo" pitchFamily="34" charset="-122"/>
                <a:cs typeface="Meiryo" pitchFamily="34" charset="-120"/>
              </a:rPr>
              <a:t>投稿</a:t>
            </a:r>
            <a:r>
              <a:rPr lang="en-US" altLang="ja-JP" sz="1700" b="1" dirty="0">
                <a:solidFill>
                  <a:schemeClr val="bg1">
                    <a:lumMod val="75000"/>
                  </a:schemeClr>
                </a:solidFill>
                <a:latin typeface="Meiryo" pitchFamily="34" charset="0"/>
                <a:ea typeface="Meiryo" pitchFamily="34" charset="-122"/>
                <a:cs typeface="Meiryo" pitchFamily="34" charset="-120"/>
              </a:rPr>
              <a:t>)</a:t>
            </a:r>
            <a:endParaRPr lang="en-US" altLang="ja-JP" sz="1700" dirty="0">
              <a:solidFill>
                <a:schemeClr val="bg1">
                  <a:lumMod val="75000"/>
                </a:schemeClr>
              </a:solidFill>
            </a:endParaRPr>
          </a:p>
        </p:txBody>
      </p:sp>
    </p:spTree>
    <p:extLst>
      <p:ext uri="{BB962C8B-B14F-4D97-AF65-F5344CB8AC3E}">
        <p14:creationId xmlns:p14="http://schemas.microsoft.com/office/powerpoint/2010/main" val="31541364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9E4EC-2612-49EF-3949-DD4AEE06BA6E}"/>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6C179E5F-42D4-89F9-9472-648B520C621A}"/>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3A699E6E-FDC6-D14D-24A9-A9C2E09A8B68}"/>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sz="1700" b="1" dirty="0">
                <a:solidFill>
                  <a:schemeClr val="tx1"/>
                </a:solidFill>
                <a:latin typeface="Meiryo" pitchFamily="34" charset="0"/>
                <a:ea typeface="Meiryo" pitchFamily="34" charset="-122"/>
                <a:cs typeface="Meiryo" pitchFamily="34" charset="-120"/>
              </a:rPr>
              <a:t>自社リストとの親和性が高いため、</a:t>
            </a:r>
            <a:endParaRPr lang="en-US" altLang="ja-JP" sz="1700" b="1" dirty="0">
              <a:solidFill>
                <a:schemeClr val="tx1"/>
              </a:solidFill>
              <a:latin typeface="Meiryo" pitchFamily="34" charset="0"/>
              <a:ea typeface="Meiryo" pitchFamily="34" charset="-122"/>
              <a:cs typeface="Meiryo" pitchFamily="34" charset="-120"/>
            </a:endParaRPr>
          </a:p>
          <a:p>
            <a:pPr marL="0" indent="0" algn="ctr">
              <a:buNone/>
            </a:pPr>
            <a:r>
              <a:rPr lang="ja-JP" altLang="en-US" sz="1700" b="1" dirty="0">
                <a:solidFill>
                  <a:schemeClr val="tx1"/>
                </a:solidFill>
                <a:latin typeface="Meiryo" pitchFamily="34" charset="0"/>
                <a:ea typeface="Meiryo" pitchFamily="34" charset="-122"/>
                <a:cs typeface="Meiryo" pitchFamily="34" charset="-120"/>
              </a:rPr>
              <a:t>検索・リターゲティングを中心に、来場意向の高い層から獲得します。</a:t>
            </a:r>
            <a:endParaRPr lang="en-US" sz="1700" dirty="0">
              <a:solidFill>
                <a:schemeClr val="tx1"/>
              </a:solidFill>
            </a:endParaRPr>
          </a:p>
        </p:txBody>
      </p:sp>
      <p:sp>
        <p:nvSpPr>
          <p:cNvPr id="2" name="Card1_Num">
            <a:extLst>
              <a:ext uri="{FF2B5EF4-FFF2-40B4-BE49-F238E27FC236}">
                <a16:creationId xmlns:a16="http://schemas.microsoft.com/office/drawing/2014/main" id="{458FBD00-4511-C2DA-7A2C-8BED4B530910}"/>
              </a:ext>
            </a:extLst>
          </p:cNvPr>
          <p:cNvSpPr txBox="1"/>
          <p:nvPr/>
        </p:nvSpPr>
        <p:spPr>
          <a:xfrm>
            <a:off x="376428" y="1612900"/>
            <a:ext cx="2921000" cy="635000"/>
          </a:xfrm>
          <a:prstGeom prst="rect">
            <a:avLst/>
          </a:prstGeom>
          <a:solidFill>
            <a:srgbClr val="1F2A5C"/>
          </a:solidFill>
          <a:ln>
            <a:noFill/>
          </a:ln>
        </p:spPr>
        <p:txBody>
          <a:bodyPr wrap="square" lIns="203200" tIns="101600" rIns="2032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buNone/>
            </a:pPr>
            <a:r>
              <a:rPr lang="ja-JP" sz="2400" b="1" dirty="0">
                <a:solidFill>
                  <a:srgbClr val="FFFFFF"/>
                </a:solidFill>
                <a:latin typeface="メイリオ" panose="020B0604030504040204" pitchFamily="50" charset="-128"/>
                <a:ea typeface="メイリオ" panose="020B0604030504040204" pitchFamily="50" charset="-128"/>
              </a:rPr>
              <a:t>01</a:t>
            </a:r>
          </a:p>
        </p:txBody>
      </p:sp>
      <p:sp>
        <p:nvSpPr>
          <p:cNvPr id="3" name="Card1_Title">
            <a:extLst>
              <a:ext uri="{FF2B5EF4-FFF2-40B4-BE49-F238E27FC236}">
                <a16:creationId xmlns:a16="http://schemas.microsoft.com/office/drawing/2014/main" id="{577BC0BB-DDFC-C752-2C5E-6C6A56BFB727}"/>
              </a:ext>
            </a:extLst>
          </p:cNvPr>
          <p:cNvSpPr txBox="1"/>
          <p:nvPr/>
        </p:nvSpPr>
        <p:spPr>
          <a:xfrm>
            <a:off x="376428" y="2247900"/>
            <a:ext cx="2921000" cy="457200"/>
          </a:xfrm>
          <a:prstGeom prst="rect">
            <a:avLst/>
          </a:prstGeom>
          <a:solidFill>
            <a:srgbClr val="FFFFFF"/>
          </a:solidFill>
          <a:ln w="6350">
            <a:solidFill>
              <a:srgbClr val="1F2A5C"/>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None/>
            </a:pPr>
            <a:r>
              <a:rPr lang="ja-JP" sz="1400" b="1" dirty="0">
                <a:solidFill>
                  <a:srgbClr val="1F2A5C"/>
                </a:solidFill>
                <a:latin typeface="メイリオ" panose="020B0604030504040204" pitchFamily="50" charset="-128"/>
                <a:ea typeface="メイリオ" panose="020B0604030504040204" pitchFamily="50" charset="-128"/>
              </a:rPr>
              <a:t>検索前（-15〜-1日）</a:t>
            </a:r>
          </a:p>
        </p:txBody>
      </p:sp>
      <p:sp>
        <p:nvSpPr>
          <p:cNvPr id="4" name="Card1_Body">
            <a:extLst>
              <a:ext uri="{FF2B5EF4-FFF2-40B4-BE49-F238E27FC236}">
                <a16:creationId xmlns:a16="http://schemas.microsoft.com/office/drawing/2014/main" id="{F66C2B6C-8A62-F1D5-3789-4CFE0E0B226E}"/>
              </a:ext>
            </a:extLst>
          </p:cNvPr>
          <p:cNvSpPr txBox="1"/>
          <p:nvPr/>
        </p:nvSpPr>
        <p:spPr>
          <a:xfrm>
            <a:off x="376428" y="2705100"/>
            <a:ext cx="2921000" cy="3556000"/>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「こどもちゃれんじ」「スマイルゼミ」「西松屋」「ランドセル」「スタジオアリス」</a:t>
            </a:r>
          </a:p>
          <a:p>
            <a:pPr marL="171450" indent="-171450">
              <a:spcBef>
                <a:spcPts val="200"/>
              </a:spcBef>
              <a:buClr>
                <a:srgbClr val="1F2A5C"/>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→通信教育・育児用品・記念撮影など、育児全般への関心が先行。習い事はまだ選択肢の一つ</a:t>
            </a: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1F2A5C"/>
              </a:buClr>
              <a:buFont typeface="Arial"/>
              <a:buChar char="•"/>
            </a:pP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1F2A5C"/>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「趣味」「ヤマハ音楽教室」「パソコン教室」「学研教室」「公文」</a:t>
            </a: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1F2A5C"/>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→大人・子ども問わず、幅広い習い事ジャンルへの関心が入り口となる</a:t>
            </a:r>
          </a:p>
          <a:p>
            <a:pPr>
              <a:spcBef>
                <a:spcPts val="200"/>
              </a:spcBef>
              <a:buClr>
                <a:srgbClr val="1F2A5C"/>
              </a:buClr>
            </a:pPr>
            <a:endParaRPr lang="ja-JP" altLang="en-US"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endParaRPr 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1F2A5C"/>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6" name="Card2_Num">
            <a:extLst>
              <a:ext uri="{FF2B5EF4-FFF2-40B4-BE49-F238E27FC236}">
                <a16:creationId xmlns:a16="http://schemas.microsoft.com/office/drawing/2014/main" id="{9B15FF73-FFAB-10D6-FD84-3F7EECB12537}"/>
              </a:ext>
            </a:extLst>
          </p:cNvPr>
          <p:cNvSpPr txBox="1"/>
          <p:nvPr/>
        </p:nvSpPr>
        <p:spPr>
          <a:xfrm>
            <a:off x="3487928" y="1612900"/>
            <a:ext cx="2921000" cy="635000"/>
          </a:xfrm>
          <a:prstGeom prst="rect">
            <a:avLst/>
          </a:prstGeom>
          <a:solidFill>
            <a:srgbClr val="4A6FA5"/>
          </a:solidFill>
          <a:ln>
            <a:noFill/>
          </a:ln>
        </p:spPr>
        <p:txBody>
          <a:bodyPr wrap="square" lIns="203200" tIns="101600" rIns="2032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buNone/>
            </a:pPr>
            <a:r>
              <a:rPr lang="ja-JP" sz="2400" b="1" dirty="0">
                <a:solidFill>
                  <a:srgbClr val="FFFFFF"/>
                </a:solidFill>
                <a:latin typeface="メイリオ" panose="020B0604030504040204" pitchFamily="50" charset="-128"/>
                <a:ea typeface="メイリオ" panose="020B0604030504040204" pitchFamily="50" charset="-128"/>
              </a:rPr>
              <a:t>02</a:t>
            </a:r>
          </a:p>
        </p:txBody>
      </p:sp>
      <p:sp>
        <p:nvSpPr>
          <p:cNvPr id="7" name="Card2_Title">
            <a:extLst>
              <a:ext uri="{FF2B5EF4-FFF2-40B4-BE49-F238E27FC236}">
                <a16:creationId xmlns:a16="http://schemas.microsoft.com/office/drawing/2014/main" id="{E5B870C4-7A3E-285A-5B84-0E50317E3240}"/>
              </a:ext>
            </a:extLst>
          </p:cNvPr>
          <p:cNvSpPr txBox="1"/>
          <p:nvPr/>
        </p:nvSpPr>
        <p:spPr>
          <a:xfrm>
            <a:off x="3487928" y="2247900"/>
            <a:ext cx="2921000" cy="457200"/>
          </a:xfrm>
          <a:prstGeom prst="rect">
            <a:avLst/>
          </a:prstGeom>
          <a:solidFill>
            <a:srgbClr val="FFFFFF"/>
          </a:solidFill>
          <a:ln w="6350">
            <a:solidFill>
              <a:srgbClr val="4A6FA5"/>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None/>
            </a:pPr>
            <a:r>
              <a:rPr lang="ja-JP" sz="1400" b="1" dirty="0">
                <a:solidFill>
                  <a:srgbClr val="4A6FA5"/>
                </a:solidFill>
                <a:latin typeface="メイリオ" panose="020B0604030504040204" pitchFamily="50" charset="-128"/>
                <a:ea typeface="メイリオ" panose="020B0604030504040204" pitchFamily="50" charset="-128"/>
              </a:rPr>
              <a:t>検索起点（0日）</a:t>
            </a:r>
          </a:p>
        </p:txBody>
      </p:sp>
      <p:sp>
        <p:nvSpPr>
          <p:cNvPr id="8" name="Card2_Body">
            <a:extLst>
              <a:ext uri="{FF2B5EF4-FFF2-40B4-BE49-F238E27FC236}">
                <a16:creationId xmlns:a16="http://schemas.microsoft.com/office/drawing/2014/main" id="{FEA95593-2E6F-A99B-1221-F11A9C632380}"/>
              </a:ext>
            </a:extLst>
          </p:cNvPr>
          <p:cNvSpPr txBox="1"/>
          <p:nvPr/>
        </p:nvSpPr>
        <p:spPr>
          <a:xfrm>
            <a:off x="3487928" y="2705100"/>
            <a:ext cx="2921000" cy="3556000"/>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1450" indent="-171450">
              <a:spcBef>
                <a:spcPts val="200"/>
              </a:spcBef>
              <a:buClr>
                <a:srgbClr val="4A6FA5"/>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「rsウイルス」「ヤマハ音楽教室」「習い事」「ピアノ」「イトマンスイミングスクール」</a:t>
            </a:r>
          </a:p>
          <a:p>
            <a:pPr marL="171450" indent="-171450">
              <a:spcBef>
                <a:spcPts val="200"/>
              </a:spcBef>
              <a:buClr>
                <a:srgbClr val="4A6FA5"/>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→体調・成長面の気づきと同時に、具体的な習い事ブランド名の検索が急増</a:t>
            </a: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4A6FA5"/>
              </a:buClr>
              <a:buFont typeface="Arial"/>
              <a:buChar char="•"/>
            </a:pP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4A6FA5"/>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「習い事ランキング」「くもん」「ピアノ教室」「体操教室」「そろばん」「スイミング」</a:t>
            </a:r>
          </a:p>
          <a:p>
            <a:pPr marL="171450" indent="-171450">
              <a:spcBef>
                <a:spcPts val="200"/>
              </a:spcBef>
              <a:buClr>
                <a:srgbClr val="4A6FA5"/>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→具体的な習い事ジャンル・ブランドの比較が本格化するタイミング</a:t>
            </a:r>
          </a:p>
          <a:p>
            <a:pPr marL="171450" indent="-171450">
              <a:spcBef>
                <a:spcPts val="200"/>
              </a:spcBef>
              <a:buClr>
                <a:srgbClr val="4A6FA5"/>
              </a:buClr>
              <a:buFont typeface="Arial"/>
              <a:buChar char="•"/>
            </a:pPr>
            <a:endParaRPr lang="ja-JP" altLang="en-US"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4A6FA5"/>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4A6FA5"/>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9" name="Card3_Num">
            <a:extLst>
              <a:ext uri="{FF2B5EF4-FFF2-40B4-BE49-F238E27FC236}">
                <a16:creationId xmlns:a16="http://schemas.microsoft.com/office/drawing/2014/main" id="{0C40B463-4F3B-44D4-1B1F-77ECB562B4D3}"/>
              </a:ext>
            </a:extLst>
          </p:cNvPr>
          <p:cNvSpPr txBox="1"/>
          <p:nvPr/>
        </p:nvSpPr>
        <p:spPr>
          <a:xfrm>
            <a:off x="6599428" y="1612900"/>
            <a:ext cx="2921000" cy="635000"/>
          </a:xfrm>
          <a:prstGeom prst="rect">
            <a:avLst/>
          </a:prstGeom>
          <a:solidFill>
            <a:schemeClr val="accent1"/>
          </a:solidFill>
          <a:ln>
            <a:noFill/>
          </a:ln>
        </p:spPr>
        <p:txBody>
          <a:bodyPr wrap="square" lIns="203200" tIns="101600" rIns="2032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buNone/>
            </a:pPr>
            <a:r>
              <a:rPr lang="ja-JP" sz="2400" b="1" dirty="0">
                <a:solidFill>
                  <a:srgbClr val="FFFFFF"/>
                </a:solidFill>
                <a:latin typeface="メイリオ" panose="020B0604030504040204" pitchFamily="50" charset="-128"/>
                <a:ea typeface="メイリオ" panose="020B0604030504040204" pitchFamily="50" charset="-128"/>
              </a:rPr>
              <a:t>03</a:t>
            </a:r>
          </a:p>
        </p:txBody>
      </p:sp>
      <p:sp>
        <p:nvSpPr>
          <p:cNvPr id="10" name="Card3_Title">
            <a:extLst>
              <a:ext uri="{FF2B5EF4-FFF2-40B4-BE49-F238E27FC236}">
                <a16:creationId xmlns:a16="http://schemas.microsoft.com/office/drawing/2014/main" id="{2C1CA6A1-A949-A3B7-C542-DD0F8779E908}"/>
              </a:ext>
            </a:extLst>
          </p:cNvPr>
          <p:cNvSpPr txBox="1"/>
          <p:nvPr/>
        </p:nvSpPr>
        <p:spPr>
          <a:xfrm>
            <a:off x="6599428" y="2247900"/>
            <a:ext cx="2921000" cy="457200"/>
          </a:xfrm>
          <a:prstGeom prst="rect">
            <a:avLst/>
          </a:prstGeom>
          <a:noFill/>
          <a:ln w="6350">
            <a:solidFill>
              <a:schemeClr val="accent1"/>
            </a:solidFill>
          </a:ln>
        </p:spPr>
        <p:txBody>
          <a:bodyPr wrap="square" lIns="177800" tIns="101600" rIns="177800" bIns="10160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None/>
            </a:pPr>
            <a:r>
              <a:rPr lang="ja-JP" sz="1400" b="1" dirty="0">
                <a:solidFill>
                  <a:schemeClr val="accent1"/>
                </a:solidFill>
                <a:latin typeface="メイリオ" panose="020B0604030504040204" pitchFamily="50" charset="-128"/>
                <a:ea typeface="メイリオ" panose="020B0604030504040204" pitchFamily="50" charset="-128"/>
              </a:rPr>
              <a:t>検索後（+1〜+15日）</a:t>
            </a:r>
          </a:p>
        </p:txBody>
      </p:sp>
      <p:sp>
        <p:nvSpPr>
          <p:cNvPr id="11" name="Card3_Body">
            <a:extLst>
              <a:ext uri="{FF2B5EF4-FFF2-40B4-BE49-F238E27FC236}">
                <a16:creationId xmlns:a16="http://schemas.microsoft.com/office/drawing/2014/main" id="{FFDFD9AC-AC03-4CF4-2FB8-A97D8E41B3D4}"/>
              </a:ext>
            </a:extLst>
          </p:cNvPr>
          <p:cNvSpPr txBox="1"/>
          <p:nvPr/>
        </p:nvSpPr>
        <p:spPr>
          <a:xfrm>
            <a:off x="6599428" y="2705100"/>
            <a:ext cx="2921000" cy="3556000"/>
          </a:xfrm>
          <a:prstGeom prst="rect">
            <a:avLst/>
          </a:prstGeom>
          <a:solidFill>
            <a:srgbClr val="F5F7FA"/>
          </a:solidFill>
          <a:ln w="6350">
            <a:solidFill>
              <a:srgbClr val="D1D8E0"/>
            </a:solidFill>
          </a:ln>
        </p:spPr>
        <p:txBody>
          <a:bodyPr wrap="square" lIns="177800" tIns="152400" rIns="177800" bIns="15240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71450" indent="-171450">
              <a:spcBef>
                <a:spcPts val="200"/>
              </a:spcBef>
              <a:buClr>
                <a:srgbClr val="C8102E"/>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「くもん」「児童手当」「七五三」「ポケモンセンター」「ハーモニーランド」</a:t>
            </a:r>
            <a:endParaRPr lang="en-US" altLang="ja-JP" sz="1200" dirty="0">
              <a:solidFill>
                <a:srgbClr val="333333"/>
              </a:solidFill>
              <a:latin typeface="メイリオ" panose="020B0604030504040204" pitchFamily="50" charset="-128"/>
              <a:ea typeface="メイリオ" panose="020B0604030504040204" pitchFamily="50" charset="-128"/>
            </a:endParaRPr>
          </a:p>
          <a:p>
            <a:pPr marL="171450" indent="-171450">
              <a:spcBef>
                <a:spcPts val="200"/>
              </a:spcBef>
              <a:buClr>
                <a:srgbClr val="C8102E"/>
              </a:buClr>
              <a:buFont typeface="Arial"/>
              <a:buChar char="•"/>
            </a:pPr>
            <a:r>
              <a:rPr lang="ja-JP" sz="1200" dirty="0">
                <a:solidFill>
                  <a:srgbClr val="333333"/>
                </a:solidFill>
                <a:latin typeface="メイリオ" panose="020B0604030504040204" pitchFamily="50" charset="-128"/>
                <a:ea typeface="メイリオ" panose="020B0604030504040204" pitchFamily="50" charset="-128"/>
              </a:rPr>
              <a:t>→特定ブランドの比較検討、給付金等の家計情報収集、家族レジャーへと関心が拡散</a:t>
            </a:r>
          </a:p>
          <a:p>
            <a:pPr marL="171450" indent="-171450">
              <a:spcBef>
                <a:spcPts val="200"/>
              </a:spcBef>
              <a:buClr>
                <a:srgbClr val="C8102E"/>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「忍者ナイン 評判」「</a:t>
            </a:r>
            <a:r>
              <a:rPr lang="en-US" altLang="ja-JP" sz="1200" dirty="0" err="1">
                <a:solidFill>
                  <a:srgbClr val="333333"/>
                </a:solidFill>
                <a:latin typeface="メイリオ" panose="020B0604030504040204" pitchFamily="50" charset="-128"/>
                <a:ea typeface="メイリオ" panose="020B0604030504040204" pitchFamily="50" charset="-128"/>
              </a:rPr>
              <a:t>qq</a:t>
            </a:r>
            <a:r>
              <a:rPr lang="ja-JP" altLang="en-US" sz="1200" dirty="0">
                <a:solidFill>
                  <a:srgbClr val="333333"/>
                </a:solidFill>
                <a:latin typeface="メイリオ" panose="020B0604030504040204" pitchFamily="50" charset="-128"/>
                <a:ea typeface="メイリオ" panose="020B0604030504040204" pitchFamily="50" charset="-128"/>
              </a:rPr>
              <a:t>キッズ」「ロボット教室」「小学生 習い事 いくつ」</a:t>
            </a:r>
          </a:p>
          <a:p>
            <a:pPr marL="171450" indent="-171450">
              <a:spcBef>
                <a:spcPts val="200"/>
              </a:spcBef>
              <a:buClr>
                <a:srgbClr val="C8102E"/>
              </a:buClr>
              <a:buFont typeface="Arial"/>
              <a:buChar char="•"/>
            </a:pPr>
            <a:r>
              <a:rPr lang="ja-JP" altLang="en-US" sz="1200" dirty="0">
                <a:solidFill>
                  <a:srgbClr val="333333"/>
                </a:solidFill>
                <a:latin typeface="メイリオ" panose="020B0604030504040204" pitchFamily="50" charset="-128"/>
                <a:ea typeface="メイリオ" panose="020B0604030504040204" pitchFamily="50" charset="-128"/>
              </a:rPr>
              <a:t>→ブランド名指名＋評判確認の段階。競合と並んで自社ブランドが検索されている</a:t>
            </a:r>
          </a:p>
          <a:p>
            <a:pPr marL="171450" indent="-171450">
              <a:spcBef>
                <a:spcPts val="200"/>
              </a:spcBef>
              <a:buClr>
                <a:srgbClr val="C8102E"/>
              </a:buClr>
              <a:buFont typeface="Arial"/>
              <a:buChar char="•"/>
            </a:pPr>
            <a:endParaRPr lang="ja-JP" sz="1200" dirty="0">
              <a:solidFill>
                <a:srgbClr val="333333"/>
              </a:solidFill>
              <a:latin typeface="メイリオ" panose="020B0604030504040204" pitchFamily="50" charset="-128"/>
              <a:ea typeface="メイリオ" panose="020B0604030504040204" pitchFamily="50" charset="-128"/>
            </a:endParaRPr>
          </a:p>
        </p:txBody>
      </p:sp>
      <p:cxnSp>
        <p:nvCxnSpPr>
          <p:cNvPr id="13" name="直線矢印コネクタ 12">
            <a:extLst>
              <a:ext uri="{FF2B5EF4-FFF2-40B4-BE49-F238E27FC236}">
                <a16:creationId xmlns:a16="http://schemas.microsoft.com/office/drawing/2014/main" id="{0C3A4AA5-7859-52AB-440C-E7AD4F70CCD0}"/>
              </a:ext>
            </a:extLst>
          </p:cNvPr>
          <p:cNvCxnSpPr>
            <a:cxnSpLocks/>
          </p:cNvCxnSpPr>
          <p:nvPr/>
        </p:nvCxnSpPr>
        <p:spPr>
          <a:xfrm>
            <a:off x="650633" y="5511800"/>
            <a:ext cx="5484091" cy="0"/>
          </a:xfrm>
          <a:prstGeom prst="straightConnector1">
            <a:avLst/>
          </a:prstGeom>
          <a:ln w="28575">
            <a:solidFill>
              <a:schemeClr val="tx1">
                <a:lumMod val="75000"/>
                <a:lumOff val="25000"/>
              </a:schemeClr>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 name="直線矢印コネクタ 13">
            <a:extLst>
              <a:ext uri="{FF2B5EF4-FFF2-40B4-BE49-F238E27FC236}">
                <a16:creationId xmlns:a16="http://schemas.microsoft.com/office/drawing/2014/main" id="{F2483494-D7A4-6D48-9329-B4102E1A5D75}"/>
              </a:ext>
            </a:extLst>
          </p:cNvPr>
          <p:cNvCxnSpPr/>
          <p:nvPr/>
        </p:nvCxnSpPr>
        <p:spPr>
          <a:xfrm>
            <a:off x="5441805" y="5905500"/>
            <a:ext cx="2114354" cy="0"/>
          </a:xfrm>
          <a:prstGeom prst="straightConnector1">
            <a:avLst/>
          </a:prstGeom>
          <a:ln w="28575">
            <a:solidFill>
              <a:srgbClr val="04FA0A"/>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5" name="直線矢印コネクタ 14">
            <a:extLst>
              <a:ext uri="{FF2B5EF4-FFF2-40B4-BE49-F238E27FC236}">
                <a16:creationId xmlns:a16="http://schemas.microsoft.com/office/drawing/2014/main" id="{2FF51894-3F3A-9A5A-439B-95852B99E283}"/>
              </a:ext>
            </a:extLst>
          </p:cNvPr>
          <p:cNvCxnSpPr/>
          <p:nvPr/>
        </p:nvCxnSpPr>
        <p:spPr>
          <a:xfrm>
            <a:off x="6908863" y="6311900"/>
            <a:ext cx="2533039" cy="0"/>
          </a:xfrm>
          <a:prstGeom prst="straightConnector1">
            <a:avLst/>
          </a:prstGeom>
          <a:ln w="28575">
            <a:solidFill>
              <a:srgbClr val="00B050"/>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8153B628-1E22-2A01-D787-9CB98A0EA6BC}"/>
              </a:ext>
            </a:extLst>
          </p:cNvPr>
          <p:cNvSpPr txBox="1"/>
          <p:nvPr/>
        </p:nvSpPr>
        <p:spPr>
          <a:xfrm>
            <a:off x="892556" y="5132457"/>
            <a:ext cx="4965700" cy="353943"/>
          </a:xfrm>
          <a:prstGeom prst="rect">
            <a:avLst/>
          </a:prstGeom>
          <a:noFill/>
        </p:spPr>
        <p:txBody>
          <a:bodyPr wrap="square">
            <a:spAutoFit/>
          </a:bodyPr>
          <a:lstStyle/>
          <a:p>
            <a:pPr marL="0" indent="0" algn="ctr">
              <a:buNone/>
            </a:pPr>
            <a:r>
              <a:rPr lang="ja-JP" altLang="en-US" sz="1700" b="1" dirty="0">
                <a:solidFill>
                  <a:schemeClr val="bg1">
                    <a:lumMod val="75000"/>
                  </a:schemeClr>
                </a:solidFill>
                <a:latin typeface="Meiryo" pitchFamily="34" charset="0"/>
                <a:ea typeface="Meiryo" pitchFamily="34" charset="-122"/>
                <a:cs typeface="Meiryo" pitchFamily="34" charset="-120"/>
              </a:rPr>
              <a:t>離脱防止バナーの掲載</a:t>
            </a:r>
            <a:endParaRPr lang="en-US" altLang="ja-JP" sz="1700" dirty="0">
              <a:solidFill>
                <a:schemeClr val="bg1">
                  <a:lumMod val="75000"/>
                </a:schemeClr>
              </a:solidFill>
            </a:endParaRPr>
          </a:p>
        </p:txBody>
      </p:sp>
      <p:sp>
        <p:nvSpPr>
          <p:cNvPr id="19" name="テキスト ボックス 18">
            <a:extLst>
              <a:ext uri="{FF2B5EF4-FFF2-40B4-BE49-F238E27FC236}">
                <a16:creationId xmlns:a16="http://schemas.microsoft.com/office/drawing/2014/main" id="{67A098E9-C1F6-8AE5-ACAA-5CED5AB70567}"/>
              </a:ext>
            </a:extLst>
          </p:cNvPr>
          <p:cNvSpPr txBox="1"/>
          <p:nvPr/>
        </p:nvSpPr>
        <p:spPr>
          <a:xfrm>
            <a:off x="5096324" y="5525328"/>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友だち追加</a:t>
            </a:r>
            <a:endParaRPr lang="en-US" altLang="ja-JP" sz="1700" dirty="0">
              <a:solidFill>
                <a:schemeClr val="bg1">
                  <a:lumMod val="75000"/>
                </a:schemeClr>
              </a:solidFill>
            </a:endParaRPr>
          </a:p>
        </p:txBody>
      </p:sp>
      <p:sp>
        <p:nvSpPr>
          <p:cNvPr id="21" name="テキスト ボックス 20">
            <a:extLst>
              <a:ext uri="{FF2B5EF4-FFF2-40B4-BE49-F238E27FC236}">
                <a16:creationId xmlns:a16="http://schemas.microsoft.com/office/drawing/2014/main" id="{B07A593F-9910-E2FC-321D-E0114EDC5BCC}"/>
              </a:ext>
            </a:extLst>
          </p:cNvPr>
          <p:cNvSpPr txBox="1"/>
          <p:nvPr/>
        </p:nvSpPr>
        <p:spPr>
          <a:xfrm>
            <a:off x="6773877" y="5931314"/>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施策</a:t>
            </a:r>
            <a:r>
              <a:rPr lang="en-US" altLang="ja-JP" sz="1700" b="1" dirty="0">
                <a:solidFill>
                  <a:schemeClr val="bg1">
                    <a:lumMod val="75000"/>
                  </a:schemeClr>
                </a:solidFill>
                <a:latin typeface="Meiryo" pitchFamily="34" charset="0"/>
                <a:ea typeface="Meiryo" pitchFamily="34" charset="-122"/>
                <a:cs typeface="Meiryo" pitchFamily="34" charset="-120"/>
              </a:rPr>
              <a:t>(</a:t>
            </a:r>
            <a:r>
              <a:rPr lang="ja-JP" altLang="en-US" sz="1700" b="1" dirty="0">
                <a:solidFill>
                  <a:schemeClr val="bg1">
                    <a:lumMod val="75000"/>
                  </a:schemeClr>
                </a:solidFill>
                <a:latin typeface="Meiryo" pitchFamily="34" charset="0"/>
                <a:ea typeface="Meiryo" pitchFamily="34" charset="-122"/>
                <a:cs typeface="Meiryo" pitchFamily="34" charset="-120"/>
              </a:rPr>
              <a:t>投稿</a:t>
            </a:r>
            <a:r>
              <a:rPr lang="en-US" altLang="ja-JP" sz="1700" b="1" dirty="0">
                <a:solidFill>
                  <a:schemeClr val="bg1">
                    <a:lumMod val="75000"/>
                  </a:schemeClr>
                </a:solidFill>
                <a:latin typeface="Meiryo" pitchFamily="34" charset="0"/>
                <a:ea typeface="Meiryo" pitchFamily="34" charset="-122"/>
                <a:cs typeface="Meiryo" pitchFamily="34" charset="-120"/>
              </a:rPr>
              <a:t>)</a:t>
            </a:r>
            <a:endParaRPr lang="en-US" altLang="ja-JP" sz="1700" dirty="0">
              <a:solidFill>
                <a:schemeClr val="bg1">
                  <a:lumMod val="75000"/>
                </a:schemeClr>
              </a:solidFill>
            </a:endParaRPr>
          </a:p>
        </p:txBody>
      </p:sp>
    </p:spTree>
    <p:extLst>
      <p:ext uri="{BB962C8B-B14F-4D97-AF65-F5344CB8AC3E}">
        <p14:creationId xmlns:p14="http://schemas.microsoft.com/office/powerpoint/2010/main" val="9951958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F79BAA-8C2D-2DC3-A995-CBA086D445D9}"/>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69FF374E-3AB2-D1D8-197A-0493DB99E5FE}"/>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競合分析【忍者ナイン】</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E1996F9D-8C27-3068-3FE0-5558CEE9A14B}"/>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b="0" dirty="0">
                <a:solidFill>
                  <a:srgbClr val="333333"/>
                </a:solidFill>
                <a:latin typeface="Meiryo" pitchFamily="34" charset="0"/>
                <a:ea typeface="メイリオ" pitchFamily="34" charset="-122"/>
                <a:cs typeface="Meiryo" pitchFamily="34" charset="-120"/>
              </a:rPr>
              <a:t>主要競合5社中、LINE公式アカウントを運用しているのは1社のみ（セントラルスポーツ）</a:t>
            </a:r>
            <a:endParaRPr lang="en-US" altLang="ja-JP" b="0" dirty="0">
              <a:solidFill>
                <a:srgbClr val="333333"/>
              </a:solidFill>
              <a:latin typeface="Meiryo" pitchFamily="34" charset="0"/>
              <a:ea typeface="メイリオ" pitchFamily="34" charset="-122"/>
              <a:cs typeface="Meiryo" pitchFamily="34" charset="-120"/>
            </a:endParaRPr>
          </a:p>
          <a:p>
            <a:pPr marL="0" indent="0" algn="ctr">
              <a:buNone/>
            </a:pPr>
            <a:r>
              <a:rPr lang="ja-JP" altLang="en-US" b="0" dirty="0">
                <a:solidFill>
                  <a:srgbClr val="333333"/>
                </a:solidFill>
                <a:latin typeface="Meiryo" pitchFamily="34" charset="0"/>
                <a:ea typeface="メイリオ" pitchFamily="34" charset="-122"/>
                <a:cs typeface="Meiryo" pitchFamily="34" charset="-120"/>
              </a:rPr>
              <a:t>多くの競合がLINEに未着手のため、先行者優位を取りやすい状況。</a:t>
            </a:r>
            <a:endParaRPr lang="en-US" altLang="ja-JP" sz="1800" b="1" dirty="0">
              <a:solidFill>
                <a:schemeClr val="tx1"/>
              </a:solidFill>
              <a:latin typeface="Meiryo" pitchFamily="34" charset="0"/>
              <a:ea typeface="Meiryo" pitchFamily="34" charset="-122"/>
              <a:cs typeface="Meiryo" pitchFamily="34" charset="-120"/>
            </a:endParaRPr>
          </a:p>
        </p:txBody>
      </p:sp>
      <p:graphicFrame>
        <p:nvGraphicFramePr>
          <p:cNvPr id="46" name="Table 45"/>
          <p:cNvGraphicFramePr>
            <a:graphicFrameLocks noGrp="1"/>
          </p:cNvGraphicFramePr>
          <p:nvPr>
            <p:extLst>
              <p:ext uri="{D42A27DB-BD31-4B8C-83A1-F6EECF244321}">
                <p14:modId xmlns:p14="http://schemas.microsoft.com/office/powerpoint/2010/main" val="3286508428"/>
              </p:ext>
            </p:extLst>
          </p:nvPr>
        </p:nvGraphicFramePr>
        <p:xfrm>
          <a:off x="384048" y="1600200"/>
          <a:ext cx="9134854" cy="2743200"/>
        </p:xfrm>
        <a:graphic>
          <a:graphicData uri="http://schemas.openxmlformats.org/drawingml/2006/table">
            <a:tbl>
              <a:tblPr firstRow="1" bandRow="1">
                <a:tableStyleId>{5C22544A-7EE6-4342-B048-85BDC9FD1C3A}</a:tableStyleId>
              </a:tblPr>
              <a:tblGrid>
                <a:gridCol w="2192365">
                  <a:extLst>
                    <a:ext uri="{9D8B030D-6E8A-4147-A177-3AD203B41FA5}">
                      <a16:colId xmlns:a16="http://schemas.microsoft.com/office/drawing/2014/main" val="20000"/>
                    </a:ext>
                  </a:extLst>
                </a:gridCol>
                <a:gridCol w="2009668">
                  <a:extLst>
                    <a:ext uri="{9D8B030D-6E8A-4147-A177-3AD203B41FA5}">
                      <a16:colId xmlns:a16="http://schemas.microsoft.com/office/drawing/2014/main" val="20001"/>
                    </a:ext>
                  </a:extLst>
                </a:gridCol>
                <a:gridCol w="2192365">
                  <a:extLst>
                    <a:ext uri="{9D8B030D-6E8A-4147-A177-3AD203B41FA5}">
                      <a16:colId xmlns:a16="http://schemas.microsoft.com/office/drawing/2014/main" val="20002"/>
                    </a:ext>
                  </a:extLst>
                </a:gridCol>
                <a:gridCol w="2740456">
                  <a:extLst>
                    <a:ext uri="{9D8B030D-6E8A-4147-A177-3AD203B41FA5}">
                      <a16:colId xmlns:a16="http://schemas.microsoft.com/office/drawing/2014/main" val="20003"/>
                    </a:ext>
                  </a:extLst>
                </a:gridCol>
              </a:tblGrid>
              <a:tr h="457200">
                <a:tc>
                  <a:txBody>
                    <a:bodyPr/>
                    <a:lstStyle/>
                    <a:p>
                      <a:r>
                        <a:rPr sz="1100" b="1">
                          <a:solidFill>
                            <a:srgbClr val="FFFFFF"/>
                          </a:solidFill>
                          <a:latin typeface="Meiryo"/>
                          <a:ea typeface="メイリオ"/>
                          <a:cs typeface="Meiryo"/>
                        </a:rPr>
                        <a:t>競合</a:t>
                      </a:r>
                    </a:p>
                  </a:txBody>
                  <a:tcPr>
                    <a:solidFill>
                      <a:srgbClr val="1F2A5C"/>
                    </a:solidFill>
                  </a:tcPr>
                </a:tc>
                <a:tc>
                  <a:txBody>
                    <a:bodyPr/>
                    <a:lstStyle/>
                    <a:p>
                      <a:r>
                        <a:rPr sz="1100" b="1">
                          <a:solidFill>
                            <a:srgbClr val="FFFFFF"/>
                          </a:solidFill>
                          <a:latin typeface="Meiryo"/>
                          <a:ea typeface="メイリオ"/>
                          <a:cs typeface="Meiryo"/>
                        </a:rPr>
                        <a:t>LINE公式アカウント</a:t>
                      </a:r>
                    </a:p>
                  </a:txBody>
                  <a:tcPr>
                    <a:solidFill>
                      <a:srgbClr val="1F2A5C"/>
                    </a:solidFill>
                  </a:tcPr>
                </a:tc>
                <a:tc>
                  <a:txBody>
                    <a:bodyPr/>
                    <a:lstStyle/>
                    <a:p>
                      <a:r>
                        <a:rPr sz="1100" b="1">
                          <a:solidFill>
                            <a:srgbClr val="FFFFFF"/>
                          </a:solidFill>
                          <a:latin typeface="Meiryo"/>
                          <a:ea typeface="メイリオ"/>
                          <a:cs typeface="Meiryo"/>
                        </a:rPr>
                        <a:t>訴求</a:t>
                      </a:r>
                    </a:p>
                  </a:txBody>
                  <a:tcPr>
                    <a:solidFill>
                      <a:srgbClr val="1F2A5C"/>
                    </a:solidFill>
                  </a:tcPr>
                </a:tc>
                <a:tc>
                  <a:txBody>
                    <a:bodyPr/>
                    <a:lstStyle/>
                    <a:p>
                      <a:r>
                        <a:rPr sz="1100" b="1">
                          <a:solidFill>
                            <a:srgbClr val="FFFFFF"/>
                          </a:solidFill>
                          <a:latin typeface="Meiryo"/>
                          <a:ea typeface="メイリオ"/>
                          <a:cs typeface="Meiryo"/>
                        </a:rPr>
                        <a:t>忍者ナインとの比較</a:t>
                      </a:r>
                    </a:p>
                  </a:txBody>
                  <a:tcPr>
                    <a:solidFill>
                      <a:srgbClr val="1F2A5C"/>
                    </a:solidFill>
                  </a:tcPr>
                </a:tc>
                <a:extLst>
                  <a:ext uri="{0D108BD9-81ED-4DB2-BD59-A6C34878D82A}">
                    <a16:rowId xmlns:a16="http://schemas.microsoft.com/office/drawing/2014/main" val="10000"/>
                  </a:ext>
                </a:extLst>
              </a:tr>
              <a:tr h="457200">
                <a:tc>
                  <a:txBody>
                    <a:bodyPr/>
                    <a:lstStyle/>
                    <a:p>
                      <a:r>
                        <a:rPr sz="1100" b="0" dirty="0" err="1">
                          <a:solidFill>
                            <a:srgbClr val="333333"/>
                          </a:solidFill>
                          <a:latin typeface="Meiryo"/>
                          <a:ea typeface="メイリオ"/>
                          <a:cs typeface="Meiryo"/>
                        </a:rPr>
                        <a:t>biima</a:t>
                      </a:r>
                      <a:r>
                        <a:rPr sz="1100" b="0" dirty="0">
                          <a:solidFill>
                            <a:srgbClr val="333333"/>
                          </a:solidFill>
                          <a:latin typeface="Meiryo"/>
                          <a:ea typeface="メイリオ"/>
                          <a:cs typeface="Meiryo"/>
                        </a:rPr>
                        <a:t> sports</a:t>
                      </a:r>
                    </a:p>
                  </a:txBody>
                  <a:tcPr>
                    <a:solidFill>
                      <a:srgbClr val="FFFFFF"/>
                    </a:solidFill>
                  </a:tcPr>
                </a:tc>
                <a:tc>
                  <a:txBody>
                    <a:bodyPr/>
                    <a:lstStyle/>
                    <a:p>
                      <a:r>
                        <a:rPr sz="1100" b="0">
                          <a:solidFill>
                            <a:srgbClr val="333333"/>
                          </a:solidFill>
                          <a:latin typeface="Meiryo"/>
                          <a:ea typeface="メイリオ"/>
                          <a:cs typeface="Meiryo"/>
                        </a:rPr>
                        <a:t>なし</a:t>
                      </a:r>
                    </a:p>
                  </a:txBody>
                  <a:tcPr>
                    <a:solidFill>
                      <a:srgbClr val="FFFFFF"/>
                    </a:solidFill>
                  </a:tcPr>
                </a:tc>
                <a:tc>
                  <a:txBody>
                    <a:bodyPr/>
                    <a:lstStyle/>
                    <a:p>
                      <a:r>
                        <a:rPr sz="1100" b="0">
                          <a:solidFill>
                            <a:srgbClr val="333333"/>
                          </a:solidFill>
                          <a:latin typeface="Meiryo"/>
                          <a:ea typeface="メイリオ"/>
                          <a:cs typeface="Meiryo"/>
                        </a:rPr>
                        <a:t>非認知能力×複合種目</a:t>
                      </a:r>
                    </a:p>
                  </a:txBody>
                  <a:tcPr>
                    <a:solidFill>
                      <a:srgbClr val="FFFFFF"/>
                    </a:solidFill>
                  </a:tcPr>
                </a:tc>
                <a:tc>
                  <a:txBody>
                    <a:bodyPr/>
                    <a:lstStyle/>
                    <a:p>
                      <a:r>
                        <a:rPr sz="1100" b="0" dirty="0" err="1">
                          <a:solidFill>
                            <a:srgbClr val="333333"/>
                          </a:solidFill>
                          <a:latin typeface="Meiryo"/>
                          <a:ea typeface="メイリオ"/>
                          <a:cs typeface="Meiryo"/>
                        </a:rPr>
                        <a:t>最も近いポジションだがLINE未活用</a:t>
                      </a:r>
                      <a:r>
                        <a:rPr sz="1100" b="0" dirty="0">
                          <a:solidFill>
                            <a:srgbClr val="333333"/>
                          </a:solidFill>
                          <a:latin typeface="Meiryo"/>
                          <a:ea typeface="メイリオ"/>
                          <a:cs typeface="Meiryo"/>
                        </a:rPr>
                        <a:t>。</a:t>
                      </a:r>
                      <a:endParaRPr lang="en-US" sz="1100" b="0" dirty="0">
                        <a:solidFill>
                          <a:srgbClr val="333333"/>
                        </a:solidFill>
                        <a:latin typeface="Meiryo"/>
                        <a:ea typeface="メイリオ"/>
                        <a:cs typeface="Meiryo"/>
                      </a:endParaRPr>
                    </a:p>
                    <a:p>
                      <a:r>
                        <a:rPr sz="1100" b="0" dirty="0" err="1">
                          <a:solidFill>
                            <a:srgbClr val="333333"/>
                          </a:solidFill>
                          <a:latin typeface="Meiryo"/>
                          <a:ea typeface="メイリオ"/>
                          <a:cs typeface="Meiryo"/>
                        </a:rPr>
                        <a:t>先行できる</a:t>
                      </a:r>
                      <a:endParaRPr sz="11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1"/>
                  </a:ext>
                </a:extLst>
              </a:tr>
              <a:tr h="457200">
                <a:tc>
                  <a:txBody>
                    <a:bodyPr/>
                    <a:lstStyle/>
                    <a:p>
                      <a:r>
                        <a:rPr sz="1100" b="0">
                          <a:solidFill>
                            <a:srgbClr val="333333"/>
                          </a:solidFill>
                          <a:latin typeface="Meiryo"/>
                          <a:ea typeface="メイリオ"/>
                          <a:cs typeface="Meiryo"/>
                        </a:rPr>
                        <a:t>ジャクパ</a:t>
                      </a:r>
                    </a:p>
                  </a:txBody>
                  <a:tcPr>
                    <a:solidFill>
                      <a:srgbClr val="FFFFFF"/>
                    </a:solidFill>
                  </a:tcPr>
                </a:tc>
                <a:tc>
                  <a:txBody>
                    <a:bodyPr/>
                    <a:lstStyle/>
                    <a:p>
                      <a:r>
                        <a:rPr sz="1100" b="0">
                          <a:solidFill>
                            <a:srgbClr val="333333"/>
                          </a:solidFill>
                          <a:latin typeface="Meiryo"/>
                          <a:ea typeface="メイリオ"/>
                          <a:cs typeface="Meiryo"/>
                        </a:rPr>
                        <a:t>なし</a:t>
                      </a:r>
                    </a:p>
                  </a:txBody>
                  <a:tcPr>
                    <a:solidFill>
                      <a:srgbClr val="FFFFFF"/>
                    </a:solidFill>
                  </a:tcPr>
                </a:tc>
                <a:tc>
                  <a:txBody>
                    <a:bodyPr/>
                    <a:lstStyle/>
                    <a:p>
                      <a:r>
                        <a:rPr sz="1100" b="0">
                          <a:solidFill>
                            <a:srgbClr val="333333"/>
                          </a:solidFill>
                          <a:latin typeface="Meiryo"/>
                          <a:ea typeface="メイリオ"/>
                          <a:cs typeface="Meiryo"/>
                        </a:rPr>
                        <a:t>園内開催・体操/サッカー中心</a:t>
                      </a:r>
                    </a:p>
                  </a:txBody>
                  <a:tcPr>
                    <a:solidFill>
                      <a:srgbClr val="FFFFFF"/>
                    </a:solidFill>
                  </a:tcPr>
                </a:tc>
                <a:tc>
                  <a:txBody>
                    <a:bodyPr/>
                    <a:lstStyle/>
                    <a:p>
                      <a:r>
                        <a:rPr sz="1100" b="0">
                          <a:solidFill>
                            <a:srgbClr val="333333"/>
                          </a:solidFill>
                          <a:latin typeface="Meiryo"/>
                          <a:ea typeface="メイリオ"/>
                          <a:cs typeface="Meiryo"/>
                        </a:rPr>
                        <a:t>低コストが強みだがデジタル接点は薄い</a:t>
                      </a:r>
                    </a:p>
                  </a:txBody>
                  <a:tcPr>
                    <a:solidFill>
                      <a:srgbClr val="FFFFFF"/>
                    </a:solidFill>
                  </a:tcPr>
                </a:tc>
                <a:extLst>
                  <a:ext uri="{0D108BD9-81ED-4DB2-BD59-A6C34878D82A}">
                    <a16:rowId xmlns:a16="http://schemas.microsoft.com/office/drawing/2014/main" val="10002"/>
                  </a:ext>
                </a:extLst>
              </a:tr>
              <a:tr h="457200">
                <a:tc>
                  <a:txBody>
                    <a:bodyPr/>
                    <a:lstStyle/>
                    <a:p>
                      <a:r>
                        <a:rPr sz="1100" b="0">
                          <a:solidFill>
                            <a:srgbClr val="333333"/>
                          </a:solidFill>
                          <a:latin typeface="Meiryo"/>
                          <a:ea typeface="メイリオ"/>
                          <a:cs typeface="Meiryo"/>
                        </a:rPr>
                        <a:t>コナミスポーツクラブ 運動塾</a:t>
                      </a:r>
                    </a:p>
                  </a:txBody>
                  <a:tcPr>
                    <a:solidFill>
                      <a:srgbClr val="FFFFFF"/>
                    </a:solidFill>
                  </a:tcPr>
                </a:tc>
                <a:tc>
                  <a:txBody>
                    <a:bodyPr/>
                    <a:lstStyle/>
                    <a:p>
                      <a:r>
                        <a:rPr sz="1100" b="0" dirty="0" err="1">
                          <a:solidFill>
                            <a:srgbClr val="333333"/>
                          </a:solidFill>
                          <a:latin typeface="Meiryo"/>
                          <a:ea typeface="メイリオ"/>
                          <a:cs typeface="Meiryo"/>
                        </a:rPr>
                        <a:t>なし</a:t>
                      </a:r>
                      <a:endParaRPr sz="1100" b="0" dirty="0">
                        <a:solidFill>
                          <a:srgbClr val="333333"/>
                        </a:solidFill>
                        <a:latin typeface="Meiryo"/>
                        <a:ea typeface="メイリオ"/>
                        <a:cs typeface="Meiryo"/>
                      </a:endParaRPr>
                    </a:p>
                  </a:txBody>
                  <a:tcPr>
                    <a:solidFill>
                      <a:srgbClr val="FFFFFF"/>
                    </a:solidFill>
                  </a:tcPr>
                </a:tc>
                <a:tc>
                  <a:txBody>
                    <a:bodyPr/>
                    <a:lstStyle/>
                    <a:p>
                      <a:r>
                        <a:rPr sz="1100" b="0" dirty="0" err="1">
                          <a:solidFill>
                            <a:srgbClr val="333333"/>
                          </a:solidFill>
                          <a:latin typeface="Meiryo"/>
                          <a:ea typeface="メイリオ"/>
                          <a:cs typeface="Meiryo"/>
                        </a:rPr>
                        <a:t>大手施設・進級テスト制度</a:t>
                      </a:r>
                      <a:endParaRPr sz="1100" b="0" dirty="0">
                        <a:solidFill>
                          <a:srgbClr val="333333"/>
                        </a:solidFill>
                        <a:latin typeface="Meiryo"/>
                        <a:ea typeface="メイリオ"/>
                        <a:cs typeface="Meiryo"/>
                      </a:endParaRPr>
                    </a:p>
                  </a:txBody>
                  <a:tcPr>
                    <a:solidFill>
                      <a:srgbClr val="FFFFFF"/>
                    </a:solidFill>
                  </a:tcPr>
                </a:tc>
                <a:tc>
                  <a:txBody>
                    <a:bodyPr/>
                    <a:lstStyle/>
                    <a:p>
                      <a:r>
                        <a:rPr sz="1100" b="0">
                          <a:solidFill>
                            <a:srgbClr val="333333"/>
                          </a:solidFill>
                          <a:latin typeface="Meiryo"/>
                          <a:ea typeface="メイリオ"/>
                          <a:cs typeface="Meiryo"/>
                        </a:rPr>
                        <a:t>施設力はあるがLINE未運用</a:t>
                      </a:r>
                    </a:p>
                  </a:txBody>
                  <a:tcPr>
                    <a:solidFill>
                      <a:srgbClr val="FFFFFF"/>
                    </a:solidFill>
                  </a:tcPr>
                </a:tc>
                <a:extLst>
                  <a:ext uri="{0D108BD9-81ED-4DB2-BD59-A6C34878D82A}">
                    <a16:rowId xmlns:a16="http://schemas.microsoft.com/office/drawing/2014/main" val="10003"/>
                  </a:ext>
                </a:extLst>
              </a:tr>
              <a:tr h="457200">
                <a:tc>
                  <a:txBody>
                    <a:bodyPr/>
                    <a:lstStyle/>
                    <a:p>
                      <a:r>
                        <a:rPr sz="1100" b="0">
                          <a:solidFill>
                            <a:srgbClr val="333333"/>
                          </a:solidFill>
                          <a:latin typeface="Meiryo"/>
                          <a:ea typeface="メイリオ"/>
                          <a:cs typeface="Meiryo"/>
                        </a:rPr>
                        <a:t>スポーツクラブ ルネサンス</a:t>
                      </a:r>
                    </a:p>
                  </a:txBody>
                  <a:tcPr>
                    <a:solidFill>
                      <a:srgbClr val="FFFFFF"/>
                    </a:solidFill>
                  </a:tcPr>
                </a:tc>
                <a:tc>
                  <a:txBody>
                    <a:bodyPr/>
                    <a:lstStyle/>
                    <a:p>
                      <a:r>
                        <a:rPr sz="1100" b="0">
                          <a:solidFill>
                            <a:srgbClr val="333333"/>
                          </a:solidFill>
                          <a:latin typeface="Meiryo"/>
                          <a:ea typeface="メイリオ"/>
                          <a:cs typeface="Meiryo"/>
                        </a:rPr>
                        <a:t>なし</a:t>
                      </a:r>
                    </a:p>
                  </a:txBody>
                  <a:tcPr>
                    <a:solidFill>
                      <a:srgbClr val="FFFFFF"/>
                    </a:solidFill>
                  </a:tcPr>
                </a:tc>
                <a:tc>
                  <a:txBody>
                    <a:bodyPr/>
                    <a:lstStyle/>
                    <a:p>
                      <a:r>
                        <a:rPr sz="1100" b="0" dirty="0" err="1">
                          <a:solidFill>
                            <a:srgbClr val="333333"/>
                          </a:solidFill>
                          <a:latin typeface="Meiryo"/>
                          <a:ea typeface="メイリオ"/>
                          <a:cs typeface="Meiryo"/>
                        </a:rPr>
                        <a:t>エンジョイ重視・生きる力</a:t>
                      </a:r>
                      <a:endParaRPr sz="1100" b="0" dirty="0">
                        <a:solidFill>
                          <a:srgbClr val="333333"/>
                        </a:solidFill>
                        <a:latin typeface="Meiryo"/>
                        <a:ea typeface="メイリオ"/>
                        <a:cs typeface="Meiryo"/>
                      </a:endParaRPr>
                    </a:p>
                  </a:txBody>
                  <a:tcPr>
                    <a:solidFill>
                      <a:srgbClr val="FFFFFF"/>
                    </a:solidFill>
                  </a:tcPr>
                </a:tc>
                <a:tc>
                  <a:txBody>
                    <a:bodyPr/>
                    <a:lstStyle/>
                    <a:p>
                      <a:r>
                        <a:rPr sz="1100" b="0" dirty="0" err="1">
                          <a:solidFill>
                            <a:srgbClr val="333333"/>
                          </a:solidFill>
                          <a:latin typeface="Meiryo"/>
                          <a:ea typeface="メイリオ"/>
                          <a:cs typeface="Meiryo"/>
                        </a:rPr>
                        <a:t>LINE未活用</a:t>
                      </a:r>
                      <a:endParaRPr sz="11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4"/>
                  </a:ext>
                </a:extLst>
              </a:tr>
              <a:tr h="457200">
                <a:tc>
                  <a:txBody>
                    <a:bodyPr/>
                    <a:lstStyle/>
                    <a:p>
                      <a:r>
                        <a:rPr sz="1100" b="0" dirty="0" err="1">
                          <a:solidFill>
                            <a:srgbClr val="1F2A5C"/>
                          </a:solidFill>
                          <a:latin typeface="Meiryo"/>
                          <a:ea typeface="メイリオ"/>
                          <a:cs typeface="Meiryo"/>
                        </a:rPr>
                        <a:t>セントラルスポーツ</a:t>
                      </a:r>
                      <a:r>
                        <a:rPr sz="1100" b="0" dirty="0">
                          <a:solidFill>
                            <a:srgbClr val="1F2A5C"/>
                          </a:solidFill>
                          <a:latin typeface="Meiryo"/>
                          <a:ea typeface="メイリオ"/>
                          <a:cs typeface="Meiryo"/>
                        </a:rPr>
                        <a:t> </a:t>
                      </a:r>
                      <a:endParaRPr lang="en-US" sz="1100" b="0" dirty="0">
                        <a:solidFill>
                          <a:srgbClr val="1F2A5C"/>
                        </a:solidFill>
                        <a:latin typeface="Meiryo"/>
                        <a:ea typeface="メイリオ"/>
                        <a:cs typeface="Meiryo"/>
                      </a:endParaRPr>
                    </a:p>
                    <a:p>
                      <a:r>
                        <a:rPr sz="1100" b="0" dirty="0" err="1">
                          <a:solidFill>
                            <a:srgbClr val="1F2A5C"/>
                          </a:solidFill>
                          <a:latin typeface="Meiryo"/>
                          <a:ea typeface="メイリオ"/>
                          <a:cs typeface="Meiryo"/>
                        </a:rPr>
                        <a:t>キッズスクール</a:t>
                      </a:r>
                      <a:endParaRPr sz="1100" b="0" dirty="0">
                        <a:solidFill>
                          <a:srgbClr val="1F2A5C"/>
                        </a:solidFill>
                        <a:latin typeface="Meiryo"/>
                        <a:ea typeface="メイリオ"/>
                        <a:cs typeface="Meiryo"/>
                      </a:endParaRPr>
                    </a:p>
                  </a:txBody>
                  <a:tcPr>
                    <a:solidFill>
                      <a:srgbClr val="FFF3E0"/>
                    </a:solidFill>
                  </a:tcPr>
                </a:tc>
                <a:tc>
                  <a:txBody>
                    <a:bodyPr/>
                    <a:lstStyle/>
                    <a:p>
                      <a:r>
                        <a:rPr sz="1100" b="1">
                          <a:solidFill>
                            <a:srgbClr val="1F2A5C"/>
                          </a:solidFill>
                          <a:latin typeface="Meiryo"/>
                          <a:ea typeface="メイリオ"/>
                          <a:cs typeface="Meiryo"/>
                        </a:rPr>
                        <a:t>あり（友だち82,953人）</a:t>
                      </a:r>
                    </a:p>
                  </a:txBody>
                  <a:tcPr>
                    <a:solidFill>
                      <a:srgbClr val="FFF3E0"/>
                    </a:solidFill>
                  </a:tcPr>
                </a:tc>
                <a:tc>
                  <a:txBody>
                    <a:bodyPr/>
                    <a:lstStyle/>
                    <a:p>
                      <a:r>
                        <a:rPr sz="1100" b="0">
                          <a:solidFill>
                            <a:srgbClr val="1F2A5C"/>
                          </a:solidFill>
                          <a:latin typeface="Meiryo"/>
                          <a:ea typeface="メイリオ"/>
                          <a:cs typeface="Meiryo"/>
                        </a:rPr>
                        <a:t>体育補完・進級チェック制度</a:t>
                      </a:r>
                    </a:p>
                  </a:txBody>
                  <a:tcPr>
                    <a:solidFill>
                      <a:srgbClr val="FFF3E0"/>
                    </a:solidFill>
                  </a:tcPr>
                </a:tc>
                <a:tc>
                  <a:txBody>
                    <a:bodyPr/>
                    <a:lstStyle/>
                    <a:p>
                      <a:r>
                        <a:rPr sz="1100" b="0" dirty="0" err="1">
                          <a:solidFill>
                            <a:srgbClr val="1F2A5C"/>
                          </a:solidFill>
                          <a:latin typeface="Meiryo"/>
                          <a:ea typeface="メイリオ"/>
                          <a:cs typeface="Meiryo"/>
                        </a:rPr>
                        <a:t>業界内で唯一LINEを大規模運用</a:t>
                      </a:r>
                      <a:r>
                        <a:rPr sz="1100" b="0" dirty="0">
                          <a:solidFill>
                            <a:srgbClr val="1F2A5C"/>
                          </a:solidFill>
                          <a:latin typeface="Meiryo"/>
                          <a:ea typeface="メイリオ"/>
                          <a:cs typeface="Meiryo"/>
                        </a:rPr>
                        <a:t>。</a:t>
                      </a:r>
                      <a:endParaRPr lang="en-US" sz="1100" b="0" dirty="0">
                        <a:solidFill>
                          <a:srgbClr val="1F2A5C"/>
                        </a:solidFill>
                        <a:latin typeface="Meiryo"/>
                        <a:ea typeface="メイリオ"/>
                        <a:cs typeface="Meiryo"/>
                      </a:endParaRPr>
                    </a:p>
                    <a:p>
                      <a:r>
                        <a:rPr sz="1100" b="0" dirty="0" err="1">
                          <a:solidFill>
                            <a:srgbClr val="1F2A5C"/>
                          </a:solidFill>
                          <a:latin typeface="Meiryo"/>
                          <a:ea typeface="メイリオ"/>
                          <a:cs typeface="Meiryo"/>
                        </a:rPr>
                        <a:t>水準のベンチマーク</a:t>
                      </a:r>
                      <a:endParaRPr sz="1100" b="0" dirty="0">
                        <a:solidFill>
                          <a:srgbClr val="1F2A5C"/>
                        </a:solidFill>
                        <a:latin typeface="Meiryo"/>
                        <a:ea typeface="メイリオ"/>
                        <a:cs typeface="Meiryo"/>
                      </a:endParaRPr>
                    </a:p>
                  </a:txBody>
                  <a:tcPr>
                    <a:solidFill>
                      <a:srgbClr val="FFF3E0"/>
                    </a:solidFill>
                  </a:tcPr>
                </a:tc>
                <a:extLst>
                  <a:ext uri="{0D108BD9-81ED-4DB2-BD59-A6C34878D82A}">
                    <a16:rowId xmlns:a16="http://schemas.microsoft.com/office/drawing/2014/main" val="10005"/>
                  </a:ext>
                </a:extLst>
              </a:tr>
            </a:tbl>
          </a:graphicData>
        </a:graphic>
      </p:graphicFrame>
      <p:sp>
        <p:nvSpPr>
          <p:cNvPr id="47" name="TextBox 46"/>
          <p:cNvSpPr txBox="1"/>
          <p:nvPr/>
        </p:nvSpPr>
        <p:spPr>
          <a:xfrm>
            <a:off x="384048" y="4663440"/>
            <a:ext cx="9134856" cy="338554"/>
          </a:xfrm>
          <a:prstGeom prst="rect">
            <a:avLst/>
          </a:prstGeom>
          <a:noFill/>
        </p:spPr>
        <p:txBody>
          <a:bodyPr wrap="square">
            <a:spAutoFit/>
          </a:bodyPr>
          <a:lstStyle/>
          <a:p>
            <a:r>
              <a:rPr sz="1600" b="1" dirty="0" err="1">
                <a:solidFill>
                  <a:srgbClr val="BF4E0E"/>
                </a:solidFill>
                <a:latin typeface="Meiryo"/>
                <a:ea typeface="メイリオ"/>
                <a:cs typeface="Meiryo"/>
              </a:rPr>
              <a:t>競合の大半が未着手の今なら、LINE運用を始めるだけで業界内の先行者になれる</a:t>
            </a:r>
            <a:r>
              <a:rPr sz="1600" b="1" dirty="0">
                <a:solidFill>
                  <a:srgbClr val="BF4E0E"/>
                </a:solidFill>
                <a:latin typeface="Meiryo"/>
                <a:ea typeface="メイリオ"/>
                <a:cs typeface="Meiryo"/>
              </a:rPr>
              <a:t>。</a:t>
            </a:r>
          </a:p>
        </p:txBody>
      </p:sp>
      <p:sp>
        <p:nvSpPr>
          <p:cNvPr id="48" name="TextBox 47"/>
          <p:cNvSpPr txBox="1"/>
          <p:nvPr/>
        </p:nvSpPr>
        <p:spPr>
          <a:xfrm>
            <a:off x="384048" y="5897880"/>
            <a:ext cx="9052560" cy="402336"/>
          </a:xfrm>
          <a:prstGeom prst="rect">
            <a:avLst/>
          </a:prstGeom>
          <a:noFill/>
        </p:spPr>
        <p:txBody>
          <a:bodyPr wrap="square">
            <a:spAutoFit/>
          </a:bodyPr>
          <a:lstStyle/>
          <a:p>
            <a:r>
              <a:rPr sz="850">
                <a:solidFill>
                  <a:srgbClr val="9AA1AE"/>
                </a:solidFill>
                <a:latin typeface="Meiryo"/>
                <a:ea typeface="メイリオ"/>
                <a:cs typeface="Meiryo"/>
              </a:rPr>
              <a:t>出典：殿村亮太によるpage.line.me実地確認（2026年9月）／各社公式サイト確認。LINE友だち数は確認時点の実数</a:t>
            </a:r>
          </a:p>
        </p:txBody>
      </p:sp>
    </p:spTree>
    <p:extLst>
      <p:ext uri="{BB962C8B-B14F-4D97-AF65-F5344CB8AC3E}">
        <p14:creationId xmlns:p14="http://schemas.microsoft.com/office/powerpoint/2010/main" val="14057960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69FF374E-3AB2-D1D8-197A-0493DB99E5FE}"/>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競合分析【チャイルドアイズ】</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E1996F9D-8C27-3068-3FE0-5558CEE9A14B}"/>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b="0" dirty="0">
                <a:solidFill>
                  <a:srgbClr val="333333"/>
                </a:solidFill>
                <a:latin typeface="Meiryo" pitchFamily="34" charset="0"/>
                <a:ea typeface="メイリオ" pitchFamily="34" charset="-122"/>
                <a:cs typeface="Meiryo" pitchFamily="34" charset="-120"/>
              </a:rPr>
              <a:t>直接競合4社中、LINE公式アカウントを運用しているのは理英会・どんちゃかの2社。</a:t>
            </a:r>
            <a:endParaRPr lang="en-US" altLang="ja-JP" b="0" dirty="0">
              <a:solidFill>
                <a:srgbClr val="333333"/>
              </a:solidFill>
              <a:latin typeface="Meiryo" pitchFamily="34" charset="0"/>
              <a:ea typeface="メイリオ" pitchFamily="34" charset="-122"/>
              <a:cs typeface="Meiryo" pitchFamily="34" charset="-120"/>
            </a:endParaRPr>
          </a:p>
          <a:p>
            <a:pPr marL="0" indent="0" algn="ctr">
              <a:buNone/>
            </a:pPr>
            <a:r>
              <a:rPr lang="ja-JP" altLang="en-US" b="0" dirty="0">
                <a:solidFill>
                  <a:srgbClr val="333333"/>
                </a:solidFill>
                <a:latin typeface="Meiryo" pitchFamily="34" charset="0"/>
                <a:ea typeface="メイリオ" pitchFamily="34" charset="-122"/>
                <a:cs typeface="Meiryo" pitchFamily="34" charset="-120"/>
              </a:rPr>
              <a:t>知育→受験の2段構成という同じ設計で、すでに先行されている。</a:t>
            </a:r>
            <a:endParaRPr lang="en-US" altLang="ja-JP" sz="1800" b="1" dirty="0">
              <a:solidFill>
                <a:schemeClr val="tx1"/>
              </a:solidFill>
              <a:latin typeface="Meiryo" pitchFamily="34" charset="0"/>
              <a:ea typeface="Meiryo" pitchFamily="34" charset="-122"/>
              <a:cs typeface="Meiryo" pitchFamily="34" charset="-120"/>
            </a:endParaRPr>
          </a:p>
        </p:txBody>
      </p:sp>
      <p:graphicFrame>
        <p:nvGraphicFramePr>
          <p:cNvPr id="46" name="Table 45"/>
          <p:cNvGraphicFramePr>
            <a:graphicFrameLocks noGrp="1"/>
          </p:cNvGraphicFramePr>
          <p:nvPr>
            <p:extLst>
              <p:ext uri="{D42A27DB-BD31-4B8C-83A1-F6EECF244321}">
                <p14:modId xmlns:p14="http://schemas.microsoft.com/office/powerpoint/2010/main" val="3738473488"/>
              </p:ext>
            </p:extLst>
          </p:nvPr>
        </p:nvGraphicFramePr>
        <p:xfrm>
          <a:off x="384048" y="1600200"/>
          <a:ext cx="9134854" cy="2286000"/>
        </p:xfrm>
        <a:graphic>
          <a:graphicData uri="http://schemas.openxmlformats.org/drawingml/2006/table">
            <a:tbl>
              <a:tblPr firstRow="1" bandRow="1">
                <a:tableStyleId>{5C22544A-7EE6-4342-B048-85BDC9FD1C3A}</a:tableStyleId>
              </a:tblPr>
              <a:tblGrid>
                <a:gridCol w="2192365">
                  <a:extLst>
                    <a:ext uri="{9D8B030D-6E8A-4147-A177-3AD203B41FA5}">
                      <a16:colId xmlns:a16="http://schemas.microsoft.com/office/drawing/2014/main" val="20000"/>
                    </a:ext>
                  </a:extLst>
                </a:gridCol>
                <a:gridCol w="2009668">
                  <a:extLst>
                    <a:ext uri="{9D8B030D-6E8A-4147-A177-3AD203B41FA5}">
                      <a16:colId xmlns:a16="http://schemas.microsoft.com/office/drawing/2014/main" val="20001"/>
                    </a:ext>
                  </a:extLst>
                </a:gridCol>
                <a:gridCol w="2192365">
                  <a:extLst>
                    <a:ext uri="{9D8B030D-6E8A-4147-A177-3AD203B41FA5}">
                      <a16:colId xmlns:a16="http://schemas.microsoft.com/office/drawing/2014/main" val="20002"/>
                    </a:ext>
                  </a:extLst>
                </a:gridCol>
                <a:gridCol w="2740456">
                  <a:extLst>
                    <a:ext uri="{9D8B030D-6E8A-4147-A177-3AD203B41FA5}">
                      <a16:colId xmlns:a16="http://schemas.microsoft.com/office/drawing/2014/main" val="20003"/>
                    </a:ext>
                  </a:extLst>
                </a:gridCol>
              </a:tblGrid>
              <a:tr h="457200">
                <a:tc>
                  <a:txBody>
                    <a:bodyPr/>
                    <a:lstStyle/>
                    <a:p>
                      <a:r>
                        <a:rPr sz="1100" b="1">
                          <a:solidFill>
                            <a:srgbClr val="FFFFFF"/>
                          </a:solidFill>
                          <a:latin typeface="Meiryo"/>
                          <a:ea typeface="メイリオ"/>
                          <a:cs typeface="Meiryo"/>
                        </a:rPr>
                        <a:t>競合</a:t>
                      </a:r>
                    </a:p>
                  </a:txBody>
                  <a:tcPr>
                    <a:solidFill>
                      <a:srgbClr val="1F2A5C"/>
                    </a:solidFill>
                  </a:tcPr>
                </a:tc>
                <a:tc>
                  <a:txBody>
                    <a:bodyPr/>
                    <a:lstStyle/>
                    <a:p>
                      <a:r>
                        <a:rPr sz="1100" b="1">
                          <a:solidFill>
                            <a:srgbClr val="FFFFFF"/>
                          </a:solidFill>
                          <a:latin typeface="Meiryo"/>
                          <a:ea typeface="メイリオ"/>
                          <a:cs typeface="Meiryo"/>
                        </a:rPr>
                        <a:t>LINE公式アカウント</a:t>
                      </a:r>
                    </a:p>
                  </a:txBody>
                  <a:tcPr>
                    <a:solidFill>
                      <a:srgbClr val="1F2A5C"/>
                    </a:solidFill>
                  </a:tcPr>
                </a:tc>
                <a:tc>
                  <a:txBody>
                    <a:bodyPr/>
                    <a:lstStyle/>
                    <a:p>
                      <a:r>
                        <a:rPr sz="1100" b="1">
                          <a:solidFill>
                            <a:srgbClr val="FFFFFF"/>
                          </a:solidFill>
                          <a:latin typeface="Meiryo"/>
                          <a:ea typeface="メイリオ"/>
                          <a:cs typeface="Meiryo"/>
                        </a:rPr>
                        <a:t>訴求</a:t>
                      </a:r>
                    </a:p>
                  </a:txBody>
                  <a:tcPr>
                    <a:solidFill>
                      <a:srgbClr val="1F2A5C"/>
                    </a:solidFill>
                  </a:tcPr>
                </a:tc>
                <a:tc>
                  <a:txBody>
                    <a:bodyPr/>
                    <a:lstStyle/>
                    <a:p>
                      <a:r>
                        <a:rPr sz="1100" b="1">
                          <a:solidFill>
                            <a:srgbClr val="FFFFFF"/>
                          </a:solidFill>
                          <a:latin typeface="Meiryo"/>
                          <a:ea typeface="メイリオ"/>
                          <a:cs typeface="Meiryo"/>
                        </a:rPr>
                        <a:t>チャイルドアイズとの比較</a:t>
                      </a:r>
                    </a:p>
                  </a:txBody>
                  <a:tcPr>
                    <a:solidFill>
                      <a:srgbClr val="1F2A5C"/>
                    </a:solidFill>
                  </a:tcPr>
                </a:tc>
                <a:extLst>
                  <a:ext uri="{0D108BD9-81ED-4DB2-BD59-A6C34878D82A}">
                    <a16:rowId xmlns:a16="http://schemas.microsoft.com/office/drawing/2014/main" val="10000"/>
                  </a:ext>
                </a:extLst>
              </a:tr>
              <a:tr h="457200">
                <a:tc>
                  <a:txBody>
                    <a:bodyPr/>
                    <a:lstStyle/>
                    <a:p>
                      <a:r>
                        <a:rPr sz="1100" b="0" dirty="0" err="1">
                          <a:solidFill>
                            <a:srgbClr val="333333"/>
                          </a:solidFill>
                          <a:latin typeface="Meiryo"/>
                          <a:ea typeface="メイリオ"/>
                          <a:cs typeface="Meiryo"/>
                        </a:rPr>
                        <a:t>ベビーパーク</a:t>
                      </a:r>
                      <a:endParaRPr lang="en-US" sz="1100" b="0" dirty="0">
                        <a:solidFill>
                          <a:srgbClr val="333333"/>
                        </a:solidFill>
                        <a:latin typeface="Meiryo"/>
                        <a:ea typeface="メイリオ"/>
                        <a:cs typeface="Meiryo"/>
                      </a:endParaRPr>
                    </a:p>
                    <a:p>
                      <a:r>
                        <a:rPr lang="ja-JP" altLang="en-US" sz="1100" b="0" dirty="0">
                          <a:solidFill>
                            <a:srgbClr val="333333"/>
                          </a:solidFill>
                          <a:latin typeface="Meiryo"/>
                          <a:ea typeface="メイリオ"/>
                          <a:cs typeface="Meiryo"/>
                        </a:rPr>
                        <a:t>キ</a:t>
                      </a:r>
                      <a:r>
                        <a:rPr sz="1100" b="0" dirty="0" err="1">
                          <a:solidFill>
                            <a:srgbClr val="333333"/>
                          </a:solidFill>
                          <a:latin typeface="Meiryo"/>
                          <a:ea typeface="メイリオ"/>
                          <a:cs typeface="Meiryo"/>
                        </a:rPr>
                        <a:t>ッズアカデミ</a:t>
                      </a:r>
                      <a:r>
                        <a:rPr sz="1100" b="0" dirty="0">
                          <a:solidFill>
                            <a:srgbClr val="333333"/>
                          </a:solidFill>
                          <a:latin typeface="Meiryo"/>
                          <a:ea typeface="メイリオ"/>
                          <a:cs typeface="Meiryo"/>
                        </a:rPr>
                        <a:t>ー</a:t>
                      </a:r>
                    </a:p>
                  </a:txBody>
                  <a:tcPr>
                    <a:solidFill>
                      <a:srgbClr val="FFFFFF"/>
                    </a:solidFill>
                  </a:tcPr>
                </a:tc>
                <a:tc>
                  <a:txBody>
                    <a:bodyPr/>
                    <a:lstStyle/>
                    <a:p>
                      <a:r>
                        <a:rPr sz="1100" b="0" dirty="0" err="1">
                          <a:solidFill>
                            <a:srgbClr val="333333"/>
                          </a:solidFill>
                          <a:latin typeface="Meiryo"/>
                          <a:ea typeface="メイリオ"/>
                          <a:cs typeface="Meiryo"/>
                        </a:rPr>
                        <a:t>なし</a:t>
                      </a:r>
                      <a:endParaRPr sz="1100" b="0" dirty="0">
                        <a:solidFill>
                          <a:srgbClr val="333333"/>
                        </a:solidFill>
                        <a:latin typeface="Meiryo"/>
                        <a:ea typeface="メイリオ"/>
                        <a:cs typeface="Meiryo"/>
                      </a:endParaRPr>
                    </a:p>
                  </a:txBody>
                  <a:tcPr>
                    <a:solidFill>
                      <a:srgbClr val="FFFFFF"/>
                    </a:solidFill>
                  </a:tcPr>
                </a:tc>
                <a:tc>
                  <a:txBody>
                    <a:bodyPr/>
                    <a:lstStyle/>
                    <a:p>
                      <a:r>
                        <a:rPr sz="1100" b="0" dirty="0">
                          <a:solidFill>
                            <a:srgbClr val="333333"/>
                          </a:solidFill>
                          <a:latin typeface="Meiryo"/>
                          <a:ea typeface="メイリオ"/>
                          <a:cs typeface="Meiryo"/>
                        </a:rPr>
                        <a:t>知育特化・超早期（0歳〜）</a:t>
                      </a:r>
                    </a:p>
                  </a:txBody>
                  <a:tcPr>
                    <a:solidFill>
                      <a:srgbClr val="FFFFFF"/>
                    </a:solidFill>
                  </a:tcPr>
                </a:tc>
                <a:tc>
                  <a:txBody>
                    <a:bodyPr/>
                    <a:lstStyle/>
                    <a:p>
                      <a:r>
                        <a:rPr sz="1100" b="0">
                          <a:solidFill>
                            <a:srgbClr val="333333"/>
                          </a:solidFill>
                          <a:latin typeface="Meiryo"/>
                          <a:ea typeface="メイリオ"/>
                          <a:cs typeface="Meiryo"/>
                        </a:rPr>
                        <a:t>LINE未活用。早期囲い込みは強い</a:t>
                      </a:r>
                    </a:p>
                  </a:txBody>
                  <a:tcPr>
                    <a:solidFill>
                      <a:srgbClr val="FFFFFF"/>
                    </a:solidFill>
                  </a:tcPr>
                </a:tc>
                <a:extLst>
                  <a:ext uri="{0D108BD9-81ED-4DB2-BD59-A6C34878D82A}">
                    <a16:rowId xmlns:a16="http://schemas.microsoft.com/office/drawing/2014/main" val="10001"/>
                  </a:ext>
                </a:extLst>
              </a:tr>
              <a:tr h="457200">
                <a:tc>
                  <a:txBody>
                    <a:bodyPr/>
                    <a:lstStyle/>
                    <a:p>
                      <a:r>
                        <a:rPr sz="1100" b="0">
                          <a:solidFill>
                            <a:srgbClr val="333333"/>
                          </a:solidFill>
                          <a:latin typeface="Meiryo"/>
                          <a:ea typeface="メイリオ"/>
                          <a:cs typeface="Meiryo"/>
                        </a:rPr>
                        <a:t>伸芽会</a:t>
                      </a:r>
                    </a:p>
                  </a:txBody>
                  <a:tcPr>
                    <a:solidFill>
                      <a:srgbClr val="FFFFFF"/>
                    </a:solidFill>
                  </a:tcPr>
                </a:tc>
                <a:tc>
                  <a:txBody>
                    <a:bodyPr/>
                    <a:lstStyle/>
                    <a:p>
                      <a:r>
                        <a:rPr sz="1100" b="0">
                          <a:solidFill>
                            <a:srgbClr val="333333"/>
                          </a:solidFill>
                          <a:latin typeface="Meiryo"/>
                          <a:ea typeface="メイリオ"/>
                          <a:cs typeface="Meiryo"/>
                        </a:rPr>
                        <a:t>なし</a:t>
                      </a:r>
                    </a:p>
                  </a:txBody>
                  <a:tcPr>
                    <a:solidFill>
                      <a:srgbClr val="FFFFFF"/>
                    </a:solidFill>
                  </a:tcPr>
                </a:tc>
                <a:tc>
                  <a:txBody>
                    <a:bodyPr/>
                    <a:lstStyle/>
                    <a:p>
                      <a:r>
                        <a:rPr sz="1100" b="0" dirty="0" err="1">
                          <a:solidFill>
                            <a:srgbClr val="333333"/>
                          </a:solidFill>
                          <a:latin typeface="Meiryo"/>
                          <a:ea typeface="メイリオ"/>
                          <a:cs typeface="Meiryo"/>
                        </a:rPr>
                        <a:t>受験対策特化・名門校実績</a:t>
                      </a:r>
                      <a:endParaRPr sz="1100" b="0" dirty="0">
                        <a:solidFill>
                          <a:srgbClr val="333333"/>
                        </a:solidFill>
                        <a:latin typeface="Meiryo"/>
                        <a:ea typeface="メイリオ"/>
                        <a:cs typeface="Meiryo"/>
                      </a:endParaRPr>
                    </a:p>
                  </a:txBody>
                  <a:tcPr>
                    <a:solidFill>
                      <a:srgbClr val="FFFFFF"/>
                    </a:solidFill>
                  </a:tcPr>
                </a:tc>
                <a:tc>
                  <a:txBody>
                    <a:bodyPr/>
                    <a:lstStyle/>
                    <a:p>
                      <a:r>
                        <a:rPr sz="1100" b="0" dirty="0" err="1">
                          <a:solidFill>
                            <a:srgbClr val="333333"/>
                          </a:solidFill>
                          <a:latin typeface="Meiryo"/>
                          <a:ea typeface="メイリオ"/>
                          <a:cs typeface="Meiryo"/>
                        </a:rPr>
                        <a:t>LINE未活用。ブランド力で先行</a:t>
                      </a:r>
                      <a:endParaRPr sz="11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2"/>
                  </a:ext>
                </a:extLst>
              </a:tr>
              <a:tr h="457200">
                <a:tc>
                  <a:txBody>
                    <a:bodyPr/>
                    <a:lstStyle/>
                    <a:p>
                      <a:r>
                        <a:rPr sz="1100" b="0">
                          <a:solidFill>
                            <a:srgbClr val="1F2A5C"/>
                          </a:solidFill>
                          <a:latin typeface="Meiryo"/>
                          <a:ea typeface="メイリオ"/>
                          <a:cs typeface="Meiryo"/>
                        </a:rPr>
                        <a:t>理英会</a:t>
                      </a:r>
                    </a:p>
                  </a:txBody>
                  <a:tcPr>
                    <a:solidFill>
                      <a:srgbClr val="FFF3E0"/>
                    </a:solidFill>
                  </a:tcPr>
                </a:tc>
                <a:tc>
                  <a:txBody>
                    <a:bodyPr/>
                    <a:lstStyle/>
                    <a:p>
                      <a:r>
                        <a:rPr sz="1100" b="1">
                          <a:solidFill>
                            <a:srgbClr val="1F2A5C"/>
                          </a:solidFill>
                          <a:latin typeface="Meiryo"/>
                          <a:ea typeface="メイリオ"/>
                          <a:cs typeface="Meiryo"/>
                        </a:rPr>
                        <a:t>あり（友だち4,475人）</a:t>
                      </a:r>
                    </a:p>
                  </a:txBody>
                  <a:tcPr>
                    <a:solidFill>
                      <a:srgbClr val="FFF3E0"/>
                    </a:solidFill>
                  </a:tcPr>
                </a:tc>
                <a:tc>
                  <a:txBody>
                    <a:bodyPr/>
                    <a:lstStyle/>
                    <a:p>
                      <a:r>
                        <a:rPr sz="1100" b="0">
                          <a:solidFill>
                            <a:srgbClr val="1F2A5C"/>
                          </a:solidFill>
                          <a:latin typeface="Meiryo"/>
                          <a:ea typeface="メイリオ"/>
                          <a:cs typeface="Meiryo"/>
                        </a:rPr>
                        <a:t>受験ノウハウ配信・体験会案内</a:t>
                      </a:r>
                    </a:p>
                  </a:txBody>
                  <a:tcPr>
                    <a:solidFill>
                      <a:srgbClr val="FFF3E0"/>
                    </a:solidFill>
                  </a:tcPr>
                </a:tc>
                <a:tc>
                  <a:txBody>
                    <a:bodyPr/>
                    <a:lstStyle/>
                    <a:p>
                      <a:r>
                        <a:rPr sz="1100" b="0" dirty="0">
                          <a:solidFill>
                            <a:srgbClr val="1F2A5C"/>
                          </a:solidFill>
                          <a:latin typeface="Meiryo"/>
                          <a:ea typeface="メイリオ"/>
                          <a:cs typeface="Meiryo"/>
                        </a:rPr>
                        <a:t>知育→受験の2段構成が最も近い競合。すでに先行</a:t>
                      </a:r>
                    </a:p>
                  </a:txBody>
                  <a:tcPr>
                    <a:solidFill>
                      <a:srgbClr val="FFF3E0"/>
                    </a:solidFill>
                  </a:tcPr>
                </a:tc>
                <a:extLst>
                  <a:ext uri="{0D108BD9-81ED-4DB2-BD59-A6C34878D82A}">
                    <a16:rowId xmlns:a16="http://schemas.microsoft.com/office/drawing/2014/main" val="10003"/>
                  </a:ext>
                </a:extLst>
              </a:tr>
              <a:tr h="457200">
                <a:tc>
                  <a:txBody>
                    <a:bodyPr/>
                    <a:lstStyle/>
                    <a:p>
                      <a:r>
                        <a:rPr sz="1100" b="0">
                          <a:solidFill>
                            <a:srgbClr val="1F2A5C"/>
                          </a:solidFill>
                          <a:latin typeface="Meiryo"/>
                          <a:ea typeface="メイリオ"/>
                          <a:cs typeface="Meiryo"/>
                        </a:rPr>
                        <a:t>どんちゃか幼児教室</a:t>
                      </a:r>
                    </a:p>
                  </a:txBody>
                  <a:tcPr>
                    <a:solidFill>
                      <a:srgbClr val="FFF3E0"/>
                    </a:solidFill>
                  </a:tcPr>
                </a:tc>
                <a:tc>
                  <a:txBody>
                    <a:bodyPr/>
                    <a:lstStyle/>
                    <a:p>
                      <a:r>
                        <a:rPr sz="1100" b="1">
                          <a:solidFill>
                            <a:srgbClr val="1F2A5C"/>
                          </a:solidFill>
                          <a:latin typeface="Meiryo"/>
                          <a:ea typeface="メイリオ"/>
                          <a:cs typeface="Meiryo"/>
                        </a:rPr>
                        <a:t>あり（友だち2,550人）</a:t>
                      </a:r>
                    </a:p>
                  </a:txBody>
                  <a:tcPr>
                    <a:solidFill>
                      <a:srgbClr val="FFF3E0"/>
                    </a:solidFill>
                  </a:tcPr>
                </a:tc>
                <a:tc>
                  <a:txBody>
                    <a:bodyPr/>
                    <a:lstStyle/>
                    <a:p>
                      <a:r>
                        <a:rPr sz="1100" b="0">
                          <a:solidFill>
                            <a:srgbClr val="1F2A5C"/>
                          </a:solidFill>
                          <a:latin typeface="Meiryo"/>
                          <a:ea typeface="メイリオ"/>
                          <a:cs typeface="Meiryo"/>
                        </a:rPr>
                        <a:t>育児コラム・季節講習案内</a:t>
                      </a:r>
                    </a:p>
                  </a:txBody>
                  <a:tcPr>
                    <a:solidFill>
                      <a:srgbClr val="FFF3E0"/>
                    </a:solidFill>
                  </a:tcPr>
                </a:tc>
                <a:tc>
                  <a:txBody>
                    <a:bodyPr/>
                    <a:lstStyle/>
                    <a:p>
                      <a:r>
                        <a:rPr sz="1100" b="0" dirty="0" err="1">
                          <a:solidFill>
                            <a:srgbClr val="1F2A5C"/>
                          </a:solidFill>
                          <a:latin typeface="Meiryo"/>
                          <a:ea typeface="メイリオ"/>
                          <a:cs typeface="Meiryo"/>
                        </a:rPr>
                        <a:t>理英会と同一グループ</a:t>
                      </a:r>
                      <a:endParaRPr lang="en-US" sz="1100" b="0" dirty="0">
                        <a:solidFill>
                          <a:srgbClr val="1F2A5C"/>
                        </a:solidFill>
                        <a:latin typeface="Meiryo"/>
                        <a:ea typeface="メイリオ"/>
                        <a:cs typeface="Meiryo"/>
                      </a:endParaRPr>
                    </a:p>
                    <a:p>
                      <a:r>
                        <a:rPr sz="1100" b="0" dirty="0" err="1">
                          <a:solidFill>
                            <a:srgbClr val="1F2A5C"/>
                          </a:solidFill>
                          <a:latin typeface="Meiryo"/>
                          <a:ea typeface="メイリオ"/>
                          <a:cs typeface="Meiryo"/>
                        </a:rPr>
                        <a:t>乳幼児期の入口として運用</a:t>
                      </a:r>
                      <a:endParaRPr lang="en-US" sz="1100" b="0" dirty="0">
                        <a:solidFill>
                          <a:srgbClr val="1F2A5C"/>
                        </a:solidFill>
                        <a:latin typeface="Meiryo"/>
                        <a:ea typeface="メイリオ"/>
                        <a:cs typeface="Meiryo"/>
                      </a:endParaRPr>
                    </a:p>
                  </a:txBody>
                  <a:tcPr>
                    <a:solidFill>
                      <a:srgbClr val="FFF3E0"/>
                    </a:solidFill>
                  </a:tcPr>
                </a:tc>
                <a:extLst>
                  <a:ext uri="{0D108BD9-81ED-4DB2-BD59-A6C34878D82A}">
                    <a16:rowId xmlns:a16="http://schemas.microsoft.com/office/drawing/2014/main" val="10004"/>
                  </a:ext>
                </a:extLst>
              </a:tr>
            </a:tbl>
          </a:graphicData>
        </a:graphic>
      </p:graphicFrame>
      <p:sp>
        <p:nvSpPr>
          <p:cNvPr id="47" name="TextBox 46"/>
          <p:cNvSpPr txBox="1"/>
          <p:nvPr/>
        </p:nvSpPr>
        <p:spPr>
          <a:xfrm>
            <a:off x="384048" y="4206240"/>
            <a:ext cx="9134856" cy="584775"/>
          </a:xfrm>
          <a:prstGeom prst="rect">
            <a:avLst/>
          </a:prstGeom>
          <a:noFill/>
        </p:spPr>
        <p:txBody>
          <a:bodyPr wrap="square">
            <a:spAutoFit/>
          </a:bodyPr>
          <a:lstStyle/>
          <a:p>
            <a:r>
              <a:rPr sz="1600" b="1" dirty="0" err="1">
                <a:solidFill>
                  <a:srgbClr val="BF4E0E"/>
                </a:solidFill>
                <a:latin typeface="Meiryo"/>
                <a:ea typeface="メイリオ"/>
                <a:cs typeface="Meiryo"/>
              </a:rPr>
              <a:t>理英会・どんちゃかに対しては、同じ「知育→受験」という設計を武器に</a:t>
            </a:r>
            <a:endParaRPr lang="en-US" sz="1600" b="1" dirty="0">
              <a:solidFill>
                <a:srgbClr val="BF4E0E"/>
              </a:solidFill>
              <a:latin typeface="Meiryo"/>
              <a:ea typeface="メイリオ"/>
              <a:cs typeface="Meiryo"/>
            </a:endParaRPr>
          </a:p>
          <a:p>
            <a:r>
              <a:rPr sz="1600" b="1" dirty="0" err="1">
                <a:solidFill>
                  <a:srgbClr val="BF4E0E"/>
                </a:solidFill>
                <a:latin typeface="Meiryo"/>
                <a:ea typeface="メイリオ"/>
                <a:cs typeface="Meiryo"/>
              </a:rPr>
              <a:t>チャイルドアイズならではの強みをLINEの訴求・動線でより磨き込むことが差別化の鍵になる</a:t>
            </a:r>
            <a:r>
              <a:rPr sz="1600" b="1" dirty="0">
                <a:solidFill>
                  <a:srgbClr val="BF4E0E"/>
                </a:solidFill>
                <a:latin typeface="Meiryo"/>
                <a:ea typeface="メイリオ"/>
                <a:cs typeface="Meiryo"/>
              </a:rPr>
              <a:t>。</a:t>
            </a:r>
          </a:p>
        </p:txBody>
      </p:sp>
      <p:sp>
        <p:nvSpPr>
          <p:cNvPr id="48" name="TextBox 47"/>
          <p:cNvSpPr txBox="1"/>
          <p:nvPr/>
        </p:nvSpPr>
        <p:spPr>
          <a:xfrm>
            <a:off x="384048" y="5897880"/>
            <a:ext cx="9052560" cy="402336"/>
          </a:xfrm>
          <a:prstGeom prst="rect">
            <a:avLst/>
          </a:prstGeom>
          <a:noFill/>
        </p:spPr>
        <p:txBody>
          <a:bodyPr wrap="square">
            <a:spAutoFit/>
          </a:bodyPr>
          <a:lstStyle/>
          <a:p>
            <a:r>
              <a:rPr sz="850">
                <a:solidFill>
                  <a:srgbClr val="9AA1AE"/>
                </a:solidFill>
                <a:latin typeface="Meiryo"/>
                <a:ea typeface="メイリオ"/>
                <a:cs typeface="Meiryo"/>
              </a:rPr>
              <a:t>出典：殿村亮太によるpage.line.me実地確認（2026年9月）／各社公式サイト確認。LINE友だち数は確認時点の実数</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施策概要</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5663590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95DA1-C4AC-9E84-EE81-C643FC320A19}"/>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0A4C04F-D2D9-01C2-E8A6-1461C3D732EF}"/>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E18DA7C5-B4CE-72EF-0BE5-E52C6EDDE85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0D487FC4-7DBC-58FC-7A30-5F63295AAB2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前提整理</a:t>
            </a:r>
            <a:endParaRPr sz="1600" b="1" dirty="0">
              <a:solidFill>
                <a:srgbClr val="002060"/>
              </a:solidFill>
              <a:latin typeface="Meiryo"/>
              <a:ea typeface="Meiryo"/>
              <a:cs typeface="Meiryo"/>
              <a:sym typeface="Meiryo"/>
            </a:endParaRPr>
          </a:p>
        </p:txBody>
      </p:sp>
      <p:sp>
        <p:nvSpPr>
          <p:cNvPr id="39" name="Shape 3">
            <a:extLst>
              <a:ext uri="{FF2B5EF4-FFF2-40B4-BE49-F238E27FC236}">
                <a16:creationId xmlns:a16="http://schemas.microsoft.com/office/drawing/2014/main" id="{2C0CE6CF-CF29-4F13-E14D-6FE57E16D201}"/>
              </a:ext>
            </a:extLst>
          </p:cNvPr>
          <p:cNvSpPr/>
          <p:nvPr/>
        </p:nvSpPr>
        <p:spPr>
          <a:xfrm>
            <a:off x="972158" y="178003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Text 4">
            <a:extLst>
              <a:ext uri="{FF2B5EF4-FFF2-40B4-BE49-F238E27FC236}">
                <a16:creationId xmlns:a16="http://schemas.microsoft.com/office/drawing/2014/main" id="{4B15C96A-F0B8-F18C-6254-B162AFC457A6}"/>
              </a:ext>
            </a:extLst>
          </p:cNvPr>
          <p:cNvSpPr txBox="1"/>
          <p:nvPr/>
        </p:nvSpPr>
        <p:spPr>
          <a:xfrm>
            <a:off x="972158" y="178003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100" dirty="0">
              <a:latin typeface="メイリオ" panose="020B0604030504040204" pitchFamily="50" charset="-128"/>
              <a:ea typeface="メイリオ" panose="020B0604030504040204" pitchFamily="50" charset="-128"/>
            </a:endParaRPr>
          </a:p>
        </p:txBody>
      </p:sp>
      <p:sp>
        <p:nvSpPr>
          <p:cNvPr id="43" name="Text 5">
            <a:extLst>
              <a:ext uri="{FF2B5EF4-FFF2-40B4-BE49-F238E27FC236}">
                <a16:creationId xmlns:a16="http://schemas.microsoft.com/office/drawing/2014/main" id="{1AB7025E-6AD2-DE33-BC65-0B02037301DF}"/>
              </a:ext>
            </a:extLst>
          </p:cNvPr>
          <p:cNvSpPr txBox="1"/>
          <p:nvPr/>
        </p:nvSpPr>
        <p:spPr>
          <a:xfrm>
            <a:off x="1539086" y="190718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対象範囲</a:t>
            </a:r>
            <a:endParaRPr lang="en-US" sz="1400" dirty="0">
              <a:latin typeface="メイリオ" panose="020B0604030504040204" pitchFamily="50" charset="-128"/>
              <a:ea typeface="メイリオ" panose="020B0604030504040204" pitchFamily="50" charset="-128"/>
            </a:endParaRPr>
          </a:p>
        </p:txBody>
      </p:sp>
      <p:sp>
        <p:nvSpPr>
          <p:cNvPr id="46" name="Text 6">
            <a:extLst>
              <a:ext uri="{FF2B5EF4-FFF2-40B4-BE49-F238E27FC236}">
                <a16:creationId xmlns:a16="http://schemas.microsoft.com/office/drawing/2014/main" id="{EE17545A-2363-AE72-B300-AAA28328E975}"/>
              </a:ext>
            </a:extLst>
          </p:cNvPr>
          <p:cNvSpPr txBox="1"/>
          <p:nvPr/>
        </p:nvSpPr>
        <p:spPr>
          <a:xfrm>
            <a:off x="3120996" y="1907182"/>
            <a:ext cx="6841609" cy="548643"/>
          </a:xfrm>
          <a:prstGeom prst="rect">
            <a:avLst/>
          </a:prstGeom>
          <a:noFill/>
          <a:ln/>
        </p:spPr>
        <p:txBody>
          <a:bodyPr wrap="square" lIns="0" tIns="0" rIns="0" bIns="0" rtlCol="0" anchor="t"/>
          <a:lstStyle/>
          <a:p>
            <a:pPr marL="0" indent="0">
              <a:lnSpc>
                <a:spcPts val="1700"/>
              </a:lnSpc>
              <a:buNone/>
            </a:pP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LINE公式アカウントにおける</a:t>
            </a:r>
            <a:r>
              <a:rPr lang="en-US" sz="1200" b="1" dirty="0">
                <a:solidFill>
                  <a:srgbClr val="1F2937"/>
                </a:solidFill>
                <a:latin typeface="メイリオ" panose="020B0604030504040204" pitchFamily="50" charset="-128"/>
                <a:ea typeface="メイリオ" panose="020B0604030504040204" pitchFamily="50" charset="-128"/>
                <a:cs typeface="Calibri" pitchFamily="34" charset="-120"/>
              </a:rPr>
              <a:t>「① 友だち追加」「② </a:t>
            </a:r>
            <a:r>
              <a:rPr lang="en-US" sz="1200" b="1" dirty="0" err="1">
                <a:solidFill>
                  <a:srgbClr val="1F2937"/>
                </a:solidFill>
                <a:latin typeface="メイリオ" panose="020B0604030504040204" pitchFamily="50" charset="-128"/>
                <a:ea typeface="メイリオ" panose="020B0604030504040204" pitchFamily="50" charset="-128"/>
                <a:cs typeface="Calibri" pitchFamily="34" charset="-120"/>
              </a:rPr>
              <a:t>配信の効率改善</a:t>
            </a:r>
            <a:r>
              <a:rPr lang="en-US" sz="1200" b="1"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200" b="1" dirty="0">
                <a:solidFill>
                  <a:srgbClr val="1F2937"/>
                </a:solidFill>
                <a:latin typeface="メイリオ" panose="020B0604030504040204" pitchFamily="50" charset="-128"/>
                <a:ea typeface="メイリオ" panose="020B0604030504040204" pitchFamily="50" charset="-128"/>
                <a:cs typeface="Calibri" pitchFamily="34" charset="-120"/>
              </a:rPr>
              <a:t>「③ ユーザー満足度改善」「④ 管理側の業務効率化」の4領域</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を対象に施策を設計。</a:t>
            </a: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p:txBody>
      </p:sp>
      <p:sp>
        <p:nvSpPr>
          <p:cNvPr id="48" name="Shape 7">
            <a:extLst>
              <a:ext uri="{FF2B5EF4-FFF2-40B4-BE49-F238E27FC236}">
                <a16:creationId xmlns:a16="http://schemas.microsoft.com/office/drawing/2014/main" id="{821FB137-60FE-5372-085D-B747D9EC59DC}"/>
              </a:ext>
            </a:extLst>
          </p:cNvPr>
          <p:cNvSpPr/>
          <p:nvPr/>
        </p:nvSpPr>
        <p:spPr>
          <a:xfrm>
            <a:off x="641683" y="271272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50" name="Shape 8">
            <a:extLst>
              <a:ext uri="{FF2B5EF4-FFF2-40B4-BE49-F238E27FC236}">
                <a16:creationId xmlns:a16="http://schemas.microsoft.com/office/drawing/2014/main" id="{DC9A3D51-C45E-51F8-860D-57ECD88D6555}"/>
              </a:ext>
            </a:extLst>
          </p:cNvPr>
          <p:cNvSpPr/>
          <p:nvPr/>
        </p:nvSpPr>
        <p:spPr>
          <a:xfrm>
            <a:off x="972158" y="283159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52" name="Text 9">
            <a:extLst>
              <a:ext uri="{FF2B5EF4-FFF2-40B4-BE49-F238E27FC236}">
                <a16:creationId xmlns:a16="http://schemas.microsoft.com/office/drawing/2014/main" id="{669B4352-D816-9A0C-A8DD-7BC84307D168}"/>
              </a:ext>
            </a:extLst>
          </p:cNvPr>
          <p:cNvSpPr txBox="1"/>
          <p:nvPr/>
        </p:nvSpPr>
        <p:spPr>
          <a:xfrm>
            <a:off x="972158" y="283159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100" dirty="0">
              <a:latin typeface="メイリオ" panose="020B0604030504040204" pitchFamily="50" charset="-128"/>
              <a:ea typeface="メイリオ" panose="020B0604030504040204" pitchFamily="50" charset="-128"/>
            </a:endParaRPr>
          </a:p>
        </p:txBody>
      </p:sp>
      <p:sp>
        <p:nvSpPr>
          <p:cNvPr id="54" name="Text 10">
            <a:extLst>
              <a:ext uri="{FF2B5EF4-FFF2-40B4-BE49-F238E27FC236}">
                <a16:creationId xmlns:a16="http://schemas.microsoft.com/office/drawing/2014/main" id="{75F48AE9-A6FD-422C-ACDF-7B652462C746}"/>
              </a:ext>
            </a:extLst>
          </p:cNvPr>
          <p:cNvSpPr txBox="1"/>
          <p:nvPr/>
        </p:nvSpPr>
        <p:spPr>
          <a:xfrm>
            <a:off x="1539086" y="295874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想定UU規模</a:t>
            </a:r>
            <a:endParaRPr lang="en-US" sz="1400" dirty="0">
              <a:latin typeface="メイリオ" panose="020B0604030504040204" pitchFamily="50" charset="-128"/>
              <a:ea typeface="メイリオ" panose="020B0604030504040204" pitchFamily="50" charset="-128"/>
            </a:endParaRPr>
          </a:p>
        </p:txBody>
      </p:sp>
      <p:sp>
        <p:nvSpPr>
          <p:cNvPr id="56" name="Text 11">
            <a:extLst>
              <a:ext uri="{FF2B5EF4-FFF2-40B4-BE49-F238E27FC236}">
                <a16:creationId xmlns:a16="http://schemas.microsoft.com/office/drawing/2014/main" id="{61156CBF-D9B3-DD3C-8ACD-8372D9D326A2}"/>
              </a:ext>
            </a:extLst>
          </p:cNvPr>
          <p:cNvSpPr txBox="1"/>
          <p:nvPr/>
        </p:nvSpPr>
        <p:spPr>
          <a:xfrm>
            <a:off x="3120996" y="2958742"/>
            <a:ext cx="6841609" cy="548643"/>
          </a:xfrm>
          <a:prstGeom prst="rect">
            <a:avLst/>
          </a:prstGeom>
          <a:noFill/>
          <a:ln/>
        </p:spPr>
        <p:txBody>
          <a:bodyPr wrap="square" lIns="0" tIns="0" rIns="0" bIns="0" rtlCol="0" anchor="t"/>
          <a:lstStyle/>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友だち数（登録ユーザー数）は</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 </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導入できる 動線の本数、整備の進捗により変動</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数値はこのレンジの中間帯を基準とした試算例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58" name="Shape 12">
            <a:extLst>
              <a:ext uri="{FF2B5EF4-FFF2-40B4-BE49-F238E27FC236}">
                <a16:creationId xmlns:a16="http://schemas.microsoft.com/office/drawing/2014/main" id="{B7E37F63-4443-61AC-C507-6249BCEA8B03}"/>
              </a:ext>
            </a:extLst>
          </p:cNvPr>
          <p:cNvSpPr/>
          <p:nvPr/>
        </p:nvSpPr>
        <p:spPr>
          <a:xfrm>
            <a:off x="641683" y="376428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BC3F4295-B343-9929-79BF-0E90AC24E637}"/>
              </a:ext>
            </a:extLst>
          </p:cNvPr>
          <p:cNvSpPr/>
          <p:nvPr/>
        </p:nvSpPr>
        <p:spPr>
          <a:xfrm>
            <a:off x="972158" y="388315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62" name="Text 14">
            <a:extLst>
              <a:ext uri="{FF2B5EF4-FFF2-40B4-BE49-F238E27FC236}">
                <a16:creationId xmlns:a16="http://schemas.microsoft.com/office/drawing/2014/main" id="{4F7035AD-D7AD-4365-9CE5-C9A141A3387A}"/>
              </a:ext>
            </a:extLst>
          </p:cNvPr>
          <p:cNvSpPr txBox="1"/>
          <p:nvPr/>
        </p:nvSpPr>
        <p:spPr>
          <a:xfrm>
            <a:off x="972158" y="388315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4" name="Text 15">
            <a:extLst>
              <a:ext uri="{FF2B5EF4-FFF2-40B4-BE49-F238E27FC236}">
                <a16:creationId xmlns:a16="http://schemas.microsoft.com/office/drawing/2014/main" id="{86468759-90EC-B496-2A22-F5CEEF26BB6D}"/>
              </a:ext>
            </a:extLst>
          </p:cNvPr>
          <p:cNvSpPr txBox="1"/>
          <p:nvPr/>
        </p:nvSpPr>
        <p:spPr>
          <a:xfrm>
            <a:off x="1539086" y="401030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数値の位置づけ</a:t>
            </a:r>
            <a:endParaRPr lang="en-US" sz="1400" dirty="0">
              <a:latin typeface="メイリオ" panose="020B0604030504040204" pitchFamily="50" charset="-128"/>
              <a:ea typeface="メイリオ" panose="020B0604030504040204" pitchFamily="50" charset="-128"/>
            </a:endParaRPr>
          </a:p>
        </p:txBody>
      </p:sp>
      <p:sp>
        <p:nvSpPr>
          <p:cNvPr id="66" name="Text 16">
            <a:extLst>
              <a:ext uri="{FF2B5EF4-FFF2-40B4-BE49-F238E27FC236}">
                <a16:creationId xmlns:a16="http://schemas.microsoft.com/office/drawing/2014/main" id="{904F2FF7-14A1-F39C-A8CB-E14A07B717DD}"/>
              </a:ext>
            </a:extLst>
          </p:cNvPr>
          <p:cNvSpPr txBox="1"/>
          <p:nvPr/>
        </p:nvSpPr>
        <p:spPr>
          <a:xfrm>
            <a:off x="3120996" y="4010302"/>
            <a:ext cx="6841609" cy="548643"/>
          </a:xfrm>
          <a:prstGeom prst="rect">
            <a:avLst/>
          </a:prstGeom>
          <a:noFill/>
          <a:ln/>
        </p:spPr>
        <p:txBody>
          <a:bodyPr wrap="square" lIns="0" tIns="0" rIns="0" bIns="0" rtlCol="0" anchor="t"/>
          <a:lstStyle/>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開封率・クリック率・CVR・獲得件数は、業界一般値</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・弊社実績に基づく数値</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実際の実装可能領域</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で</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によって変動する為、すり合わせの上で</a:t>
            </a: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精緻化する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68" name="Shape 17">
            <a:extLst>
              <a:ext uri="{FF2B5EF4-FFF2-40B4-BE49-F238E27FC236}">
                <a16:creationId xmlns:a16="http://schemas.microsoft.com/office/drawing/2014/main" id="{D7D046F7-16D5-8951-536B-10884484DE02}"/>
              </a:ext>
            </a:extLst>
          </p:cNvPr>
          <p:cNvSpPr/>
          <p:nvPr/>
        </p:nvSpPr>
        <p:spPr>
          <a:xfrm>
            <a:off x="641683" y="481584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70" name="Shape 18">
            <a:extLst>
              <a:ext uri="{FF2B5EF4-FFF2-40B4-BE49-F238E27FC236}">
                <a16:creationId xmlns:a16="http://schemas.microsoft.com/office/drawing/2014/main" id="{0D1FC647-1BC2-58C5-04C4-BE8B359A6F8D}"/>
              </a:ext>
            </a:extLst>
          </p:cNvPr>
          <p:cNvSpPr/>
          <p:nvPr/>
        </p:nvSpPr>
        <p:spPr>
          <a:xfrm>
            <a:off x="972158" y="493471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72" name="Text 19">
            <a:extLst>
              <a:ext uri="{FF2B5EF4-FFF2-40B4-BE49-F238E27FC236}">
                <a16:creationId xmlns:a16="http://schemas.microsoft.com/office/drawing/2014/main" id="{C7DA095C-5CED-C617-CCA7-2F5D20F16832}"/>
              </a:ext>
            </a:extLst>
          </p:cNvPr>
          <p:cNvSpPr txBox="1"/>
          <p:nvPr/>
        </p:nvSpPr>
        <p:spPr>
          <a:xfrm>
            <a:off x="972158" y="4934715"/>
            <a:ext cx="384048"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4</a:t>
            </a:r>
            <a:endParaRPr lang="en-US" sz="1100" dirty="0">
              <a:latin typeface="メイリオ" panose="020B0604030504040204" pitchFamily="50" charset="-128"/>
              <a:ea typeface="メイリオ" panose="020B0604030504040204" pitchFamily="50" charset="-128"/>
            </a:endParaRPr>
          </a:p>
        </p:txBody>
      </p:sp>
      <p:sp>
        <p:nvSpPr>
          <p:cNvPr id="74" name="Text 20">
            <a:extLst>
              <a:ext uri="{FF2B5EF4-FFF2-40B4-BE49-F238E27FC236}">
                <a16:creationId xmlns:a16="http://schemas.microsoft.com/office/drawing/2014/main" id="{4C2E6E88-6123-B50A-ED01-1E64CDAD3404}"/>
              </a:ext>
            </a:extLst>
          </p:cNvPr>
          <p:cNvSpPr txBox="1"/>
          <p:nvPr/>
        </p:nvSpPr>
        <p:spPr>
          <a:xfrm>
            <a:off x="1539086" y="5061865"/>
            <a:ext cx="1745198" cy="1051560"/>
          </a:xfrm>
          <a:prstGeom prst="rect">
            <a:avLst/>
          </a:prstGeom>
          <a:noFill/>
          <a:ln/>
        </p:spPr>
        <p:txBody>
          <a:bodyPr wrap="square" lIns="0" tIns="0" rIns="0" bIns="0" rtlCol="0" anchor="t"/>
          <a:lstStyle/>
          <a:p>
            <a:pPr marL="0" indent="0">
              <a:buNone/>
            </a:pPr>
            <a:r>
              <a:rPr lang="en-US" sz="1400" b="1" dirty="0">
                <a:solidFill>
                  <a:srgbClr val="1B3A4B"/>
                </a:solidFill>
                <a:latin typeface="メイリオ" panose="020B0604030504040204" pitchFamily="50" charset="-128"/>
                <a:ea typeface="メイリオ" panose="020B0604030504040204" pitchFamily="50" charset="-128"/>
                <a:cs typeface="Calibri" pitchFamily="34" charset="-120"/>
              </a:rPr>
              <a:t>費用について</a:t>
            </a:r>
            <a:endParaRPr lang="en-US" sz="1400" dirty="0">
              <a:latin typeface="メイリオ" panose="020B0604030504040204" pitchFamily="50" charset="-128"/>
              <a:ea typeface="メイリオ" panose="020B0604030504040204" pitchFamily="50" charset="-128"/>
            </a:endParaRPr>
          </a:p>
        </p:txBody>
      </p:sp>
      <p:sp>
        <p:nvSpPr>
          <p:cNvPr id="76" name="Text 21">
            <a:extLst>
              <a:ext uri="{FF2B5EF4-FFF2-40B4-BE49-F238E27FC236}">
                <a16:creationId xmlns:a16="http://schemas.microsoft.com/office/drawing/2014/main" id="{F5F82988-82B4-B2FE-6595-2DA583169883}"/>
              </a:ext>
            </a:extLst>
          </p:cNvPr>
          <p:cNvSpPr txBox="1"/>
          <p:nvPr/>
        </p:nvSpPr>
        <p:spPr>
          <a:xfrm>
            <a:off x="3120996" y="5061862"/>
            <a:ext cx="6841609" cy="548643"/>
          </a:xfrm>
          <a:prstGeom prst="rect">
            <a:avLst/>
          </a:prstGeom>
          <a:noFill/>
          <a:ln/>
        </p:spPr>
        <p:txBody>
          <a:bodyPr wrap="square" lIns="0" tIns="0" rIns="0" bIns="0" rtlCol="0" anchor="t"/>
          <a:lstStyle/>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本資料</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内</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で</a:t>
            </a:r>
            <a:r>
              <a:rPr lang="ja-JP" altLang="en-US" sz="1200" dirty="0">
                <a:solidFill>
                  <a:srgbClr val="1F2937"/>
                </a:solidFill>
                <a:latin typeface="メイリオ" panose="020B0604030504040204" pitchFamily="50" charset="-128"/>
                <a:ea typeface="メイリオ" panose="020B0604030504040204" pitchFamily="50" charset="-128"/>
                <a:cs typeface="Calibri" pitchFamily="34" charset="-120"/>
              </a:rPr>
              <a:t>記載の</a:t>
            </a:r>
            <a:r>
              <a:rPr lang="en-US" sz="1200" b="1" dirty="0" err="1">
                <a:solidFill>
                  <a:srgbClr val="1F2937"/>
                </a:solidFill>
                <a:latin typeface="メイリオ" panose="020B0604030504040204" pitchFamily="50" charset="-128"/>
                <a:ea typeface="メイリオ" panose="020B0604030504040204" pitchFamily="50" charset="-128"/>
                <a:cs typeface="Calibri" pitchFamily="34" charset="-120"/>
              </a:rPr>
              <a:t>費用（初期費用・月額費用）は</a:t>
            </a:r>
            <a:r>
              <a:rPr lang="ja-JP" altLang="en-US" sz="1200" b="1" dirty="0">
                <a:solidFill>
                  <a:srgbClr val="1F2937"/>
                </a:solidFill>
                <a:latin typeface="メイリオ" panose="020B0604030504040204" pitchFamily="50" charset="-128"/>
                <a:ea typeface="メイリオ" panose="020B0604030504040204" pitchFamily="50" charset="-128"/>
                <a:cs typeface="Calibri" pitchFamily="34" charset="-120"/>
              </a:rPr>
              <a:t>前提参考値</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施策範囲の合意後、別途お見積りをご案内</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EED395D3-960C-4F52-4CB0-7C6BFD98B4E4}"/>
              </a:ext>
            </a:extLst>
          </p:cNvPr>
          <p:cNvSpPr txBox="1"/>
          <p:nvPr/>
        </p:nvSpPr>
        <p:spPr>
          <a:xfrm>
            <a:off x="561786" y="882657"/>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ご提案にお持ちしているのは費用感の算出ではなく施策方針です。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施策切り出しでのご依頼、複数機能の導入によるディスカウント等の調整もご相談ください。</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19855447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EC9E0-2ED9-448E-0518-C4BB6687193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BBA5CE5E-41EC-1762-2B4B-1C21C78DBE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7B94669E-0A81-5BCB-3602-33AE08C2923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6F74B94C-3E60-E212-F97E-79756D17F00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7" name="Shape 3">
            <a:extLst>
              <a:ext uri="{FF2B5EF4-FFF2-40B4-BE49-F238E27FC236}">
                <a16:creationId xmlns:a16="http://schemas.microsoft.com/office/drawing/2014/main" id="{05B92B5B-D67F-58CF-8CC2-331F749D479C}"/>
              </a:ext>
            </a:extLst>
          </p:cNvPr>
          <p:cNvSpPr/>
          <p:nvPr/>
        </p:nvSpPr>
        <p:spPr>
          <a:xfrm>
            <a:off x="847998"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Shape 4">
            <a:extLst>
              <a:ext uri="{FF2B5EF4-FFF2-40B4-BE49-F238E27FC236}">
                <a16:creationId xmlns:a16="http://schemas.microsoft.com/office/drawing/2014/main" id="{84E1D0B6-1448-5A19-5CEB-FF4D5F46D6FC}"/>
              </a:ext>
            </a:extLst>
          </p:cNvPr>
          <p:cNvSpPr/>
          <p:nvPr/>
        </p:nvSpPr>
        <p:spPr>
          <a:xfrm>
            <a:off x="1076598" y="2105293"/>
            <a:ext cx="365268" cy="377851"/>
          </a:xfrm>
          <a:prstGeom prst="ellipse">
            <a:avLst/>
          </a:prstGeom>
          <a:solidFill>
            <a:srgbClr val="06C755"/>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1</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13" name="Text 6">
            <a:extLst>
              <a:ext uri="{FF2B5EF4-FFF2-40B4-BE49-F238E27FC236}">
                <a16:creationId xmlns:a16="http://schemas.microsoft.com/office/drawing/2014/main" id="{7E87A6C6-A98D-9DBF-6D4A-E28F254E152A}"/>
              </a:ext>
            </a:extLst>
          </p:cNvPr>
          <p:cNvSpPr txBox="1"/>
          <p:nvPr/>
        </p:nvSpPr>
        <p:spPr>
          <a:xfrm>
            <a:off x="1716678" y="1997038"/>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友だち追加</a:t>
            </a:r>
            <a:endParaRPr lang="en-US" sz="1700" dirty="0">
              <a:latin typeface="メイリオ" panose="020B0604030504040204" pitchFamily="50" charset="-128"/>
              <a:ea typeface="メイリオ" panose="020B0604030504040204" pitchFamily="50" charset="-128"/>
            </a:endParaRPr>
          </a:p>
        </p:txBody>
      </p:sp>
      <p:sp>
        <p:nvSpPr>
          <p:cNvPr id="15" name="Text 7">
            <a:extLst>
              <a:ext uri="{FF2B5EF4-FFF2-40B4-BE49-F238E27FC236}">
                <a16:creationId xmlns:a16="http://schemas.microsoft.com/office/drawing/2014/main" id="{3D4AF8DD-9D51-A269-6557-0363B326A0A0}"/>
              </a:ext>
            </a:extLst>
          </p:cNvPr>
          <p:cNvSpPr txBox="1"/>
          <p:nvPr/>
        </p:nvSpPr>
        <p:spPr>
          <a:xfrm>
            <a:off x="1716678" y="2344510"/>
            <a:ext cx="3021761" cy="274320"/>
          </a:xfrm>
          <a:prstGeom prst="rect">
            <a:avLst/>
          </a:prstGeom>
          <a:noFill/>
          <a:ln/>
        </p:spPr>
        <p:txBody>
          <a:bodyPr wrap="square" lIns="0" tIns="0" rIns="0" bIns="0" rtlCol="0" anchor="ctr"/>
          <a:lstStyle/>
          <a:p>
            <a:pPr marL="0" indent="0">
              <a:buNone/>
            </a:pPr>
            <a:r>
              <a:rPr lang="en-US" sz="1100" b="1" dirty="0">
                <a:solidFill>
                  <a:srgbClr val="06C755"/>
                </a:solidFill>
                <a:latin typeface="メイリオ" panose="020B0604030504040204" pitchFamily="50" charset="-128"/>
                <a:ea typeface="メイリオ" panose="020B0604030504040204" pitchFamily="50" charset="-128"/>
                <a:cs typeface="Calibri" pitchFamily="34" charset="-120"/>
              </a:rPr>
              <a:t>接点を増やし母数を拡大</a:t>
            </a:r>
            <a:endParaRPr lang="en-US" sz="1100" dirty="0">
              <a:latin typeface="メイリオ" panose="020B0604030504040204" pitchFamily="50" charset="-128"/>
              <a:ea typeface="メイリオ" panose="020B0604030504040204" pitchFamily="50" charset="-128"/>
            </a:endParaRPr>
          </a:p>
        </p:txBody>
      </p:sp>
      <p:sp>
        <p:nvSpPr>
          <p:cNvPr id="17" name="Text 8">
            <a:extLst>
              <a:ext uri="{FF2B5EF4-FFF2-40B4-BE49-F238E27FC236}">
                <a16:creationId xmlns:a16="http://schemas.microsoft.com/office/drawing/2014/main" id="{006EDC0A-D1B3-1FB0-B41A-15583F5C13E9}"/>
              </a:ext>
            </a:extLst>
          </p:cNvPr>
          <p:cNvSpPr txBox="1"/>
          <p:nvPr/>
        </p:nvSpPr>
        <p:spPr>
          <a:xfrm>
            <a:off x="1122318" y="2774278"/>
            <a:ext cx="3420235" cy="1051560"/>
          </a:xfrm>
          <a:prstGeom prst="rect">
            <a:avLst/>
          </a:prstGeom>
          <a:noFill/>
          <a:ln/>
        </p:spPr>
        <p:txBody>
          <a:bodyPr wrap="square" lIns="0" tIns="0" rIns="0" bIns="0" rtlCol="0" anchor="t"/>
          <a:lstStyle/>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店頭・Web・同梱物など複数の接点から</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訴求とセットでLINE友だち登録へ誘導する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19" name="Shape 9">
            <a:extLst>
              <a:ext uri="{FF2B5EF4-FFF2-40B4-BE49-F238E27FC236}">
                <a16:creationId xmlns:a16="http://schemas.microsoft.com/office/drawing/2014/main" id="{D46829D5-C4A7-00A2-EB59-4F0181ABF3E8}"/>
              </a:ext>
            </a:extLst>
          </p:cNvPr>
          <p:cNvSpPr/>
          <p:nvPr/>
        </p:nvSpPr>
        <p:spPr>
          <a:xfrm>
            <a:off x="5154385"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1" name="Shape 10">
            <a:extLst>
              <a:ext uri="{FF2B5EF4-FFF2-40B4-BE49-F238E27FC236}">
                <a16:creationId xmlns:a16="http://schemas.microsoft.com/office/drawing/2014/main" id="{5F94C612-6888-B502-7823-012E190DAC5E}"/>
              </a:ext>
            </a:extLst>
          </p:cNvPr>
          <p:cNvSpPr/>
          <p:nvPr/>
        </p:nvSpPr>
        <p:spPr>
          <a:xfrm>
            <a:off x="5382985" y="2105293"/>
            <a:ext cx="365268" cy="377851"/>
          </a:xfrm>
          <a:prstGeom prst="ellipse">
            <a:avLst/>
          </a:prstGeom>
          <a:solidFill>
            <a:schemeClr val="accent5"/>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2</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25" name="Text 12">
            <a:extLst>
              <a:ext uri="{FF2B5EF4-FFF2-40B4-BE49-F238E27FC236}">
                <a16:creationId xmlns:a16="http://schemas.microsoft.com/office/drawing/2014/main" id="{63279BBA-A879-BA09-E7B2-0716F8DB89DB}"/>
              </a:ext>
            </a:extLst>
          </p:cNvPr>
          <p:cNvSpPr txBox="1"/>
          <p:nvPr/>
        </p:nvSpPr>
        <p:spPr>
          <a:xfrm>
            <a:off x="6023065" y="1997038"/>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効率改善（配信）</a:t>
            </a:r>
            <a:endParaRPr lang="en-US" sz="1700" dirty="0">
              <a:latin typeface="メイリオ" panose="020B0604030504040204" pitchFamily="50" charset="-128"/>
              <a:ea typeface="メイリオ" panose="020B0604030504040204" pitchFamily="50" charset="-128"/>
            </a:endParaRPr>
          </a:p>
        </p:txBody>
      </p:sp>
      <p:sp>
        <p:nvSpPr>
          <p:cNvPr id="27" name="Text 13">
            <a:extLst>
              <a:ext uri="{FF2B5EF4-FFF2-40B4-BE49-F238E27FC236}">
                <a16:creationId xmlns:a16="http://schemas.microsoft.com/office/drawing/2014/main" id="{B2834EBB-F184-C52C-D6A4-B76283F84E90}"/>
              </a:ext>
            </a:extLst>
          </p:cNvPr>
          <p:cNvSpPr txBox="1"/>
          <p:nvPr/>
        </p:nvSpPr>
        <p:spPr>
          <a:xfrm>
            <a:off x="6023065" y="2344510"/>
            <a:ext cx="3021761" cy="274320"/>
          </a:xfrm>
          <a:prstGeom prst="rect">
            <a:avLst/>
          </a:prstGeom>
          <a:noFill/>
          <a:ln/>
        </p:spPr>
        <p:txBody>
          <a:bodyPr wrap="square" lIns="0" tIns="0" rIns="0" bIns="0" rtlCol="0" anchor="ctr"/>
          <a:lstStyle/>
          <a:p>
            <a:pPr marL="0" indent="0">
              <a:buNone/>
            </a:pPr>
            <a:r>
              <a:rPr lang="en-US" sz="1100" b="1" dirty="0">
                <a:solidFill>
                  <a:schemeClr val="accent5"/>
                </a:solidFill>
                <a:latin typeface="メイリオ" panose="020B0604030504040204" pitchFamily="50" charset="-128"/>
                <a:ea typeface="メイリオ" panose="020B0604030504040204" pitchFamily="50" charset="-128"/>
                <a:cs typeface="Calibri" pitchFamily="34" charset="-120"/>
              </a:rPr>
              <a:t>ステップ配信・企画配信の設計</a:t>
            </a:r>
            <a:endParaRPr lang="en-US" sz="1100" dirty="0">
              <a:solidFill>
                <a:schemeClr val="accent5"/>
              </a:solidFill>
              <a:latin typeface="メイリオ" panose="020B0604030504040204" pitchFamily="50" charset="-128"/>
              <a:ea typeface="メイリオ" panose="020B0604030504040204" pitchFamily="50" charset="-128"/>
            </a:endParaRPr>
          </a:p>
        </p:txBody>
      </p:sp>
      <p:sp>
        <p:nvSpPr>
          <p:cNvPr id="29" name="Text 14">
            <a:extLst>
              <a:ext uri="{FF2B5EF4-FFF2-40B4-BE49-F238E27FC236}">
                <a16:creationId xmlns:a16="http://schemas.microsoft.com/office/drawing/2014/main" id="{57B1EDEB-4BA3-D781-8DE2-68F5F4A20A81}"/>
              </a:ext>
            </a:extLst>
          </p:cNvPr>
          <p:cNvSpPr txBox="1"/>
          <p:nvPr/>
        </p:nvSpPr>
        <p:spPr>
          <a:xfrm>
            <a:off x="5428705" y="2774278"/>
            <a:ext cx="3420235" cy="1051560"/>
          </a:xfrm>
          <a:prstGeom prst="rect">
            <a:avLst/>
          </a:prstGeom>
          <a:noFill/>
          <a:ln/>
        </p:spPr>
        <p:txBody>
          <a:bodyPr wrap="square" lIns="0" tIns="0" rIns="0" bIns="0" rtlCol="0" anchor="t"/>
          <a:lstStyle/>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登録後の自動ステップ配信と、セグメント別の</a:t>
            </a: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企画配信で、開封〜CVまでの導線を最適化する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31" name="Shape 15">
            <a:extLst>
              <a:ext uri="{FF2B5EF4-FFF2-40B4-BE49-F238E27FC236}">
                <a16:creationId xmlns:a16="http://schemas.microsoft.com/office/drawing/2014/main" id="{756ECCA6-F7D5-C161-4122-409E50DB0B3A}"/>
              </a:ext>
            </a:extLst>
          </p:cNvPr>
          <p:cNvSpPr/>
          <p:nvPr/>
        </p:nvSpPr>
        <p:spPr>
          <a:xfrm>
            <a:off x="847998"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16">
            <a:extLst>
              <a:ext uri="{FF2B5EF4-FFF2-40B4-BE49-F238E27FC236}">
                <a16:creationId xmlns:a16="http://schemas.microsoft.com/office/drawing/2014/main" id="{752C3BA3-61AC-9915-5565-38F14554F3BD}"/>
              </a:ext>
            </a:extLst>
          </p:cNvPr>
          <p:cNvSpPr/>
          <p:nvPr/>
        </p:nvSpPr>
        <p:spPr>
          <a:xfrm>
            <a:off x="1076598" y="4206238"/>
            <a:ext cx="365268" cy="377851"/>
          </a:xfrm>
          <a:prstGeom prst="ellipse">
            <a:avLst/>
          </a:prstGeom>
          <a:solidFill>
            <a:schemeClr val="accent1"/>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3</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7" name="Text 18">
            <a:extLst>
              <a:ext uri="{FF2B5EF4-FFF2-40B4-BE49-F238E27FC236}">
                <a16:creationId xmlns:a16="http://schemas.microsoft.com/office/drawing/2014/main" id="{23D1E819-C691-D0D7-BE43-A76BB729138D}"/>
              </a:ext>
            </a:extLst>
          </p:cNvPr>
          <p:cNvSpPr txBox="1"/>
          <p:nvPr/>
        </p:nvSpPr>
        <p:spPr>
          <a:xfrm>
            <a:off x="1716678" y="4097983"/>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満足度改善（ユーザー）</a:t>
            </a:r>
            <a:endParaRPr lang="en-US" sz="1700" dirty="0">
              <a:latin typeface="メイリオ" panose="020B0604030504040204" pitchFamily="50" charset="-128"/>
              <a:ea typeface="メイリオ" panose="020B0604030504040204" pitchFamily="50" charset="-128"/>
            </a:endParaRPr>
          </a:p>
        </p:txBody>
      </p:sp>
      <p:sp>
        <p:nvSpPr>
          <p:cNvPr id="40" name="Text 19">
            <a:extLst>
              <a:ext uri="{FF2B5EF4-FFF2-40B4-BE49-F238E27FC236}">
                <a16:creationId xmlns:a16="http://schemas.microsoft.com/office/drawing/2014/main" id="{82D0FC0F-1D31-300C-7AB1-D0912A7E029E}"/>
              </a:ext>
            </a:extLst>
          </p:cNvPr>
          <p:cNvSpPr txBox="1"/>
          <p:nvPr/>
        </p:nvSpPr>
        <p:spPr>
          <a:xfrm>
            <a:off x="1716678" y="4445455"/>
            <a:ext cx="3021761" cy="274320"/>
          </a:xfrm>
          <a:prstGeom prst="rect">
            <a:avLst/>
          </a:prstGeom>
          <a:noFill/>
          <a:ln/>
        </p:spPr>
        <p:txBody>
          <a:bodyPr wrap="square" lIns="0" tIns="0" rIns="0" bIns="0" rtlCol="0" anchor="ctr"/>
          <a:lstStyle/>
          <a:p>
            <a:pPr marL="0" indent="0">
              <a:buNone/>
            </a:pPr>
            <a:r>
              <a:rPr lang="en-US" sz="1100" b="1" dirty="0">
                <a:solidFill>
                  <a:schemeClr val="accent1"/>
                </a:solidFill>
                <a:latin typeface="メイリオ" panose="020B0604030504040204" pitchFamily="50" charset="-128"/>
                <a:ea typeface="メイリオ" panose="020B0604030504040204" pitchFamily="50" charset="-128"/>
                <a:cs typeface="Calibri" pitchFamily="34" charset="-120"/>
              </a:rPr>
              <a:t>QA自動化・個別対応の強化</a:t>
            </a:r>
            <a:endParaRPr lang="en-US" sz="1100" dirty="0">
              <a:solidFill>
                <a:schemeClr val="accent1"/>
              </a:solidFill>
              <a:latin typeface="メイリオ" panose="020B0604030504040204" pitchFamily="50" charset="-128"/>
              <a:ea typeface="メイリオ" panose="020B0604030504040204" pitchFamily="50" charset="-128"/>
            </a:endParaRPr>
          </a:p>
        </p:txBody>
      </p:sp>
      <p:sp>
        <p:nvSpPr>
          <p:cNvPr id="44" name="Text 20">
            <a:extLst>
              <a:ext uri="{FF2B5EF4-FFF2-40B4-BE49-F238E27FC236}">
                <a16:creationId xmlns:a16="http://schemas.microsoft.com/office/drawing/2014/main" id="{DDC03FE7-3F21-E248-3ACE-D83BF971AA2D}"/>
              </a:ext>
            </a:extLst>
          </p:cNvPr>
          <p:cNvSpPr txBox="1"/>
          <p:nvPr/>
        </p:nvSpPr>
        <p:spPr>
          <a:xfrm>
            <a:off x="1122318" y="4875223"/>
            <a:ext cx="3420235" cy="1051560"/>
          </a:xfrm>
          <a:prstGeom prst="rect">
            <a:avLst/>
          </a:prstGeom>
          <a:noFill/>
          <a:ln/>
        </p:spPr>
        <p:txBody>
          <a:bodyPr wrap="square" lIns="0" tIns="0" rIns="0" bIns="0" rtlCol="0" anchor="t"/>
          <a:lstStyle/>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よくある質問への自動応答と、必要な場面での</a:t>
            </a: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600"/>
              </a:lnSpc>
              <a:buNone/>
            </a:pPr>
            <a:r>
              <a:rPr lang="en-US" sz="1200" dirty="0" err="1">
                <a:solidFill>
                  <a:srgbClr val="1F2937"/>
                </a:solidFill>
                <a:latin typeface="メイリオ" panose="020B0604030504040204" pitchFamily="50" charset="-128"/>
                <a:ea typeface="メイリオ" panose="020B0604030504040204" pitchFamily="50" charset="-128"/>
                <a:cs typeface="Calibri" pitchFamily="34" charset="-120"/>
              </a:rPr>
              <a:t>個別チャット対応でユーザー体験を向上させる</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49" name="Shape 21">
            <a:extLst>
              <a:ext uri="{FF2B5EF4-FFF2-40B4-BE49-F238E27FC236}">
                <a16:creationId xmlns:a16="http://schemas.microsoft.com/office/drawing/2014/main" id="{82BACBFF-FBAA-0B5D-6800-119BCE06D8E4}"/>
              </a:ext>
            </a:extLst>
          </p:cNvPr>
          <p:cNvSpPr/>
          <p:nvPr/>
        </p:nvSpPr>
        <p:spPr>
          <a:xfrm>
            <a:off x="5154385"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22">
            <a:extLst>
              <a:ext uri="{FF2B5EF4-FFF2-40B4-BE49-F238E27FC236}">
                <a16:creationId xmlns:a16="http://schemas.microsoft.com/office/drawing/2014/main" id="{06D0A506-C06B-2472-7C9A-C6A3F8F4DE0C}"/>
              </a:ext>
            </a:extLst>
          </p:cNvPr>
          <p:cNvSpPr/>
          <p:nvPr/>
        </p:nvSpPr>
        <p:spPr>
          <a:xfrm>
            <a:off x="5382985" y="4206238"/>
            <a:ext cx="365268" cy="377851"/>
          </a:xfrm>
          <a:prstGeom prst="ellipse">
            <a:avLst/>
          </a:prstGeom>
          <a:solidFill>
            <a:srgbClr val="2C5364"/>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4</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61" name="Text 24">
            <a:extLst>
              <a:ext uri="{FF2B5EF4-FFF2-40B4-BE49-F238E27FC236}">
                <a16:creationId xmlns:a16="http://schemas.microsoft.com/office/drawing/2014/main" id="{7E387CA0-ACAD-6B69-2324-44C6B8151A62}"/>
              </a:ext>
            </a:extLst>
          </p:cNvPr>
          <p:cNvSpPr txBox="1"/>
          <p:nvPr/>
        </p:nvSpPr>
        <p:spPr>
          <a:xfrm>
            <a:off x="6023065" y="4097983"/>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効率改善（管理側）</a:t>
            </a:r>
            <a:endParaRPr lang="en-US" sz="1700" dirty="0">
              <a:latin typeface="メイリオ" panose="020B0604030504040204" pitchFamily="50" charset="-128"/>
              <a:ea typeface="メイリオ" panose="020B0604030504040204" pitchFamily="50" charset="-128"/>
            </a:endParaRPr>
          </a:p>
        </p:txBody>
      </p:sp>
      <p:sp>
        <p:nvSpPr>
          <p:cNvPr id="65" name="Text 25">
            <a:extLst>
              <a:ext uri="{FF2B5EF4-FFF2-40B4-BE49-F238E27FC236}">
                <a16:creationId xmlns:a16="http://schemas.microsoft.com/office/drawing/2014/main" id="{DD4F65C4-8B59-E246-52A4-392800008403}"/>
              </a:ext>
            </a:extLst>
          </p:cNvPr>
          <p:cNvSpPr txBox="1"/>
          <p:nvPr/>
        </p:nvSpPr>
        <p:spPr>
          <a:xfrm>
            <a:off x="6023065" y="4445455"/>
            <a:ext cx="3021761" cy="274320"/>
          </a:xfrm>
          <a:prstGeom prst="rect">
            <a:avLst/>
          </a:prstGeom>
          <a:noFill/>
          <a:ln/>
        </p:spPr>
        <p:txBody>
          <a:bodyPr wrap="square" lIns="0" tIns="0" rIns="0" bIns="0" rtlCol="0" anchor="ctr"/>
          <a:lstStyle/>
          <a:p>
            <a:pPr marL="0" indent="0">
              <a:buNone/>
            </a:pPr>
            <a:r>
              <a:rPr lang="en-US" sz="1100" b="1" dirty="0">
                <a:solidFill>
                  <a:srgbClr val="2C5364"/>
                </a:solidFill>
                <a:latin typeface="メイリオ" panose="020B0604030504040204" pitchFamily="50" charset="-128"/>
                <a:ea typeface="メイリオ" panose="020B0604030504040204" pitchFamily="50" charset="-128"/>
                <a:cs typeface="Calibri" pitchFamily="34" charset="-120"/>
              </a:rPr>
              <a:t>自動応答・運用負荷の軽減</a:t>
            </a:r>
            <a:endParaRPr lang="en-US" sz="1100" dirty="0">
              <a:latin typeface="メイリオ" panose="020B0604030504040204" pitchFamily="50" charset="-128"/>
              <a:ea typeface="メイリオ" panose="020B0604030504040204" pitchFamily="50" charset="-128"/>
            </a:endParaRPr>
          </a:p>
        </p:txBody>
      </p:sp>
      <p:sp>
        <p:nvSpPr>
          <p:cNvPr id="69" name="Text 26">
            <a:extLst>
              <a:ext uri="{FF2B5EF4-FFF2-40B4-BE49-F238E27FC236}">
                <a16:creationId xmlns:a16="http://schemas.microsoft.com/office/drawing/2014/main" id="{BF1F9D45-7BE1-B51C-A85A-C438E8EC236C}"/>
              </a:ext>
            </a:extLst>
          </p:cNvPr>
          <p:cNvSpPr txBox="1"/>
          <p:nvPr/>
        </p:nvSpPr>
        <p:spPr>
          <a:xfrm>
            <a:off x="5428705" y="4875223"/>
            <a:ext cx="3420235" cy="1051560"/>
          </a:xfrm>
          <a:prstGeom prst="rect">
            <a:avLst/>
          </a:prstGeom>
          <a:noFill/>
          <a:ln/>
        </p:spPr>
        <p:txBody>
          <a:bodyPr wrap="square" lIns="0" tIns="0" rIns="0" bIns="0" rtlCol="0" anchor="t"/>
          <a:lstStyle/>
          <a:p>
            <a:pPr marL="0" indent="0">
              <a:lnSpc>
                <a:spcPts val="1600"/>
              </a:lnSpc>
              <a:buNone/>
            </a:pP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自動応答の仕組み化や運用フローの整備により、管理側の対応工数を削減する。</a:t>
            </a:r>
            <a:endParaRPr lang="en-US" sz="1200" dirty="0">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C1E39E92-BE3C-9C91-B84F-53B25B9196F1}"/>
              </a:ext>
            </a:extLst>
          </p:cNvPr>
          <p:cNvSpPr txBox="1"/>
          <p:nvPr/>
        </p:nvSpPr>
        <p:spPr>
          <a:xfrm>
            <a:off x="561786" y="882657"/>
            <a:ext cx="8797260" cy="523220"/>
          </a:xfrm>
          <a:prstGeom prst="rect">
            <a:avLst/>
          </a:prstGeom>
          <a:noFill/>
        </p:spPr>
        <p:txBody>
          <a:bodyPr wrap="square">
            <a:spAutoFit/>
          </a:bodyPr>
          <a:lstStyle/>
          <a:p>
            <a:pPr algn="ct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DYM</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では基本的に①②の施策を中心に展開をさせていただきながら、</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事業会社ならではの③④におけるノウハウ共有等が可能です。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7975529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47C615-BEE8-3B16-A209-225180EB573F}"/>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93A1A5A-4695-1785-1F7A-2FFF7723D881}"/>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F088CF0-DAD8-024E-9D5D-9E8A5A7610A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CFC8F68-E536-2BAD-437B-4F354ADD7BA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5" name="Heading">
            <a:extLst>
              <a:ext uri="{FF2B5EF4-FFF2-40B4-BE49-F238E27FC236}">
                <a16:creationId xmlns:a16="http://schemas.microsoft.com/office/drawing/2014/main" id="{412505BE-7AC7-15E1-7427-2273456C3176}"/>
              </a:ext>
            </a:extLst>
          </p:cNvPr>
          <p:cNvSpPr txBox="1"/>
          <p:nvPr/>
        </p:nvSpPr>
        <p:spPr>
          <a:xfrm>
            <a:off x="365143" y="835933"/>
            <a:ext cx="9144000" cy="279400"/>
          </a:xfrm>
          <a:prstGeom prst="rect">
            <a:avLst/>
          </a:prstGeom>
          <a:noFill/>
          <a:ln>
            <a:noFill/>
          </a:ln>
        </p:spPr>
        <p:txBody>
          <a:bodyPr wrap="square" lIns="101600" tIns="76200" rIns="101600" bIns="76200" anchor="t"/>
          <a:lstStyle/>
          <a:p>
            <a:pPr>
              <a:buNone/>
            </a:pPr>
            <a:r>
              <a:rPr lang="ja-JP" sz="1400" b="1" dirty="0">
                <a:solidFill>
                  <a:srgbClr val="1F2A5C"/>
                </a:solidFill>
                <a:latin typeface="メイリオ" panose="020B0604030504040204" pitchFamily="50" charset="-128"/>
                <a:ea typeface="メイリオ" panose="020B0604030504040204" pitchFamily="50" charset="-128"/>
              </a:rPr>
              <a:t>LINE運用ツール</a:t>
            </a:r>
            <a:r>
              <a:rPr lang="ja-JP" altLang="en-US" sz="1400" b="1" dirty="0">
                <a:solidFill>
                  <a:srgbClr val="1F2A5C"/>
                </a:solidFill>
                <a:latin typeface="メイリオ" panose="020B0604030504040204" pitchFamily="50" charset="-128"/>
                <a:ea typeface="メイリオ" panose="020B0604030504040204" pitchFamily="50" charset="-128"/>
              </a:rPr>
              <a:t>の選定</a:t>
            </a:r>
            <a:endParaRPr lang="ja-JP" sz="1400" b="1" dirty="0">
              <a:solidFill>
                <a:srgbClr val="1F2A5C"/>
              </a:solidFill>
              <a:latin typeface="メイリオ" panose="020B0604030504040204" pitchFamily="50" charset="-128"/>
              <a:ea typeface="メイリオ" panose="020B0604030504040204" pitchFamily="50" charset="-128"/>
            </a:endParaRPr>
          </a:p>
        </p:txBody>
      </p:sp>
      <p:sp>
        <p:nvSpPr>
          <p:cNvPr id="7" name="LeftHeader">
            <a:extLst>
              <a:ext uri="{FF2B5EF4-FFF2-40B4-BE49-F238E27FC236}">
                <a16:creationId xmlns:a16="http://schemas.microsoft.com/office/drawing/2014/main" id="{7E8BB5F2-25D8-6C40-B6B8-51E193FDD0D5}"/>
              </a:ext>
            </a:extLst>
          </p:cNvPr>
          <p:cNvSpPr txBox="1"/>
          <p:nvPr/>
        </p:nvSpPr>
        <p:spPr>
          <a:xfrm>
            <a:off x="381000" y="1320738"/>
            <a:ext cx="4445000" cy="381000"/>
          </a:xfrm>
          <a:prstGeom prst="rect">
            <a:avLst/>
          </a:prstGeom>
          <a:solidFill>
            <a:srgbClr val="1F2A5C"/>
          </a:solidFill>
          <a:ln>
            <a:noFill/>
          </a:ln>
        </p:spPr>
        <p:txBody>
          <a:bodyPr wrap="square" lIns="152400" tIns="76200" rIns="152400" bIns="76200" anchor="ct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なし </a:t>
            </a:r>
            <a:r>
              <a:rPr lang="en-US" altLang="ja-JP" sz="1000" dirty="0">
                <a:solidFill>
                  <a:srgbClr val="FFFFFF"/>
                </a:solidFill>
                <a:latin typeface="メイリオ" panose="020B0604030504040204" pitchFamily="50" charset="-128"/>
                <a:ea typeface="メイリオ" panose="020B0604030504040204" pitchFamily="50" charset="-128"/>
              </a:rPr>
              <a:t>※OAM</a:t>
            </a:r>
            <a:r>
              <a:rPr lang="ja-JP" altLang="en-US" sz="1000" dirty="0">
                <a:solidFill>
                  <a:srgbClr val="FFFFFF"/>
                </a:solidFill>
                <a:latin typeface="メイリオ" panose="020B0604030504040204" pitchFamily="50" charset="-128"/>
                <a:ea typeface="メイリオ" panose="020B0604030504040204" pitchFamily="50" charset="-128"/>
              </a:rPr>
              <a:t>にて運用する</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11" name="RightHeader">
            <a:extLst>
              <a:ext uri="{FF2B5EF4-FFF2-40B4-BE49-F238E27FC236}">
                <a16:creationId xmlns:a16="http://schemas.microsoft.com/office/drawing/2014/main" id="{51D83F88-8CDC-20C8-A161-92ACE9AE14FE}"/>
              </a:ext>
            </a:extLst>
          </p:cNvPr>
          <p:cNvSpPr txBox="1"/>
          <p:nvPr/>
        </p:nvSpPr>
        <p:spPr>
          <a:xfrm>
            <a:off x="5080000" y="1320738"/>
            <a:ext cx="4445000" cy="381000"/>
          </a:xfrm>
          <a:prstGeom prst="rect">
            <a:avLst/>
          </a:prstGeom>
          <a:solidFill>
            <a:srgbClr val="00B050"/>
          </a:solidFill>
          <a:ln>
            <a:noFill/>
          </a:ln>
        </p:spPr>
        <p:txBody>
          <a:bodyPr wrap="square" lIns="152400" tIns="76200" rIns="152400" bIns="76200" anchor="ct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あり</a:t>
            </a:r>
            <a:r>
              <a:rPr lang="ja-JP" altLang="en-US" sz="1400" dirty="0">
                <a:solidFill>
                  <a:srgbClr val="FFFFFF"/>
                </a:solidFill>
                <a:latin typeface="メイリオ" panose="020B0604030504040204" pitchFamily="50" charset="-128"/>
                <a:ea typeface="メイリオ" panose="020B0604030504040204" pitchFamily="50" charset="-128"/>
              </a:rPr>
              <a:t> </a:t>
            </a:r>
            <a:r>
              <a:rPr lang="en-US" altLang="ja-JP" sz="1100" dirty="0">
                <a:solidFill>
                  <a:srgbClr val="FFFFFF"/>
                </a:solidFill>
                <a:latin typeface="メイリオ" panose="020B0604030504040204" pitchFamily="50" charset="-128"/>
                <a:ea typeface="メイリオ" panose="020B0604030504040204" pitchFamily="50" charset="-128"/>
              </a:rPr>
              <a:t>※</a:t>
            </a:r>
            <a:r>
              <a:rPr lang="en-US" altLang="ja-JP" sz="1100" dirty="0" err="1">
                <a:solidFill>
                  <a:srgbClr val="FFFFFF"/>
                </a:solidFill>
                <a:latin typeface="メイリオ" panose="020B0604030504040204" pitchFamily="50" charset="-128"/>
                <a:ea typeface="メイリオ" panose="020B0604030504040204" pitchFamily="50" charset="-128"/>
              </a:rPr>
              <a:t>Lstep</a:t>
            </a:r>
            <a:r>
              <a:rPr lang="ja-JP" altLang="en-US" sz="1100" dirty="0">
                <a:solidFill>
                  <a:srgbClr val="FFFFFF"/>
                </a:solidFill>
                <a:latin typeface="メイリオ" panose="020B0604030504040204" pitchFamily="50" charset="-128"/>
                <a:ea typeface="メイリオ" panose="020B0604030504040204" pitchFamily="50" charset="-128"/>
              </a:rPr>
              <a:t>など汎用的なもの</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15" name="Conclusion">
            <a:extLst>
              <a:ext uri="{FF2B5EF4-FFF2-40B4-BE49-F238E27FC236}">
                <a16:creationId xmlns:a16="http://schemas.microsoft.com/office/drawing/2014/main" id="{C4320929-5504-DE1B-B0F4-5AA55B09745C}"/>
              </a:ext>
            </a:extLst>
          </p:cNvPr>
          <p:cNvSpPr txBox="1"/>
          <p:nvPr/>
        </p:nvSpPr>
        <p:spPr>
          <a:xfrm>
            <a:off x="396857" y="4978338"/>
            <a:ext cx="9144000" cy="812800"/>
          </a:xfrm>
          <a:prstGeom prst="rect">
            <a:avLst/>
          </a:prstGeom>
          <a:solidFill>
            <a:srgbClr val="F0F2F7"/>
          </a:solidFill>
          <a:ln>
            <a:noFill/>
          </a:ln>
        </p:spPr>
        <p:txBody>
          <a:bodyPr wrap="square" lIns="177800" tIns="127000" rIns="177800" bIns="127000" anchor="t"/>
          <a:lstStyle/>
          <a:p>
            <a:pPr>
              <a:buNone/>
            </a:pPr>
            <a:r>
              <a:rPr lang="ja-JP" sz="1200" b="1" dirty="0">
                <a:solidFill>
                  <a:srgbClr val="1F2A5C"/>
                </a:solidFill>
                <a:latin typeface="メイリオ" panose="020B0604030504040204" pitchFamily="50" charset="-128"/>
                <a:ea typeface="メイリオ" panose="020B0604030504040204" pitchFamily="50" charset="-128"/>
              </a:rPr>
              <a:t>結論・推奨</a:t>
            </a:r>
          </a:p>
          <a:p>
            <a:pPr>
              <a:spcBef>
                <a:spcPts val="200"/>
              </a:spcBef>
              <a:buNone/>
            </a:pPr>
            <a:r>
              <a:rPr lang="ja-JP" sz="1200" dirty="0">
                <a:solidFill>
                  <a:srgbClr val="333333"/>
                </a:solidFill>
                <a:latin typeface="メイリオ" panose="020B0604030504040204" pitchFamily="50" charset="-128"/>
                <a:ea typeface="メイリオ" panose="020B0604030504040204" pitchFamily="50" charset="-128"/>
              </a:rPr>
              <a:t>API連携の有無が今後のデータ活用</a:t>
            </a:r>
            <a:r>
              <a:rPr lang="ja-JP" altLang="en-US" sz="1200" dirty="0">
                <a:solidFill>
                  <a:srgbClr val="333333"/>
                </a:solidFill>
                <a:latin typeface="メイリオ" panose="020B0604030504040204" pitchFamily="50" charset="-128"/>
                <a:ea typeface="メイリオ" panose="020B0604030504040204" pitchFamily="50" charset="-128"/>
              </a:rPr>
              <a:t>。詳細なセグメント設定</a:t>
            </a:r>
            <a:r>
              <a:rPr lang="ja-JP" sz="1200" dirty="0">
                <a:solidFill>
                  <a:srgbClr val="333333"/>
                </a:solidFill>
                <a:latin typeface="メイリオ" panose="020B0604030504040204" pitchFamily="50" charset="-128"/>
                <a:ea typeface="メイリオ" panose="020B0604030504040204" pitchFamily="50" charset="-128"/>
              </a:rPr>
              <a:t>を左右する</a:t>
            </a:r>
            <a:r>
              <a:rPr lang="ja-JP" altLang="en-US" sz="1200" dirty="0">
                <a:solidFill>
                  <a:srgbClr val="333333"/>
                </a:solidFill>
                <a:latin typeface="メイリオ" panose="020B0604030504040204" pitchFamily="50" charset="-128"/>
                <a:ea typeface="メイリオ" panose="020B0604030504040204" pitchFamily="50" charset="-128"/>
              </a:rPr>
              <a:t>。</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None/>
            </a:pPr>
            <a:r>
              <a:rPr lang="ja-JP" altLang="en-US" sz="1200" dirty="0">
                <a:solidFill>
                  <a:srgbClr val="333333"/>
                </a:solidFill>
                <a:latin typeface="メイリオ" panose="020B0604030504040204" pitchFamily="50" charset="-128"/>
                <a:ea typeface="メイリオ" panose="020B0604030504040204" pitchFamily="50" charset="-128"/>
              </a:rPr>
              <a:t>ユーザーアンケートを活用して、利用ステータスやユーザー情報の回収→配信に活用といったフローを踏みたいところ。</a:t>
            </a: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23" name="LeftBody">
            <a:extLst>
              <a:ext uri="{FF2B5EF4-FFF2-40B4-BE49-F238E27FC236}">
                <a16:creationId xmlns:a16="http://schemas.microsoft.com/office/drawing/2014/main" id="{359AC927-F2C5-652F-EEA1-6D298DADB703}"/>
              </a:ext>
            </a:extLst>
          </p:cNvPr>
          <p:cNvSpPr txBox="1"/>
          <p:nvPr/>
        </p:nvSpPr>
        <p:spPr>
          <a:xfrm>
            <a:off x="381000" y="1701738"/>
            <a:ext cx="4445000" cy="980502"/>
          </a:xfrm>
          <a:prstGeom prst="rect">
            <a:avLst/>
          </a:prstGeom>
          <a:solidFill>
            <a:srgbClr val="F5F7FA"/>
          </a:solidFill>
          <a:ln w="6350">
            <a:solidFill>
              <a:srgbClr val="D1D8E0"/>
            </a:solidFill>
          </a:ln>
        </p:spPr>
        <p:txBody>
          <a:bodyPr wrap="square" lIns="177800" tIns="152400" rIns="177800" bIns="152400" anchor="t"/>
          <a:lstStyle/>
          <a:p>
            <a:pPr>
              <a:buNone/>
            </a:pPr>
            <a:r>
              <a:rPr lang="ja-JP" sz="1200" b="1" dirty="0">
                <a:solidFill>
                  <a:srgbClr val="1F2A5C"/>
                </a:solidFill>
                <a:latin typeface="メイリオ" panose="020B0604030504040204" pitchFamily="50" charset="-128"/>
                <a:ea typeface="メイリオ" panose="020B0604030504040204" pitchFamily="50" charset="-128"/>
              </a:rPr>
              <a:t>特徴</a:t>
            </a:r>
          </a:p>
          <a:p>
            <a:pPr>
              <a:spcBef>
                <a:spcPts val="200"/>
              </a:spcBef>
              <a:buClr>
                <a:srgbClr val="1F2A5C"/>
              </a:buClr>
            </a:pPr>
            <a:r>
              <a:rPr lang="ja-JP" altLang="en-US" sz="1200" dirty="0">
                <a:solidFill>
                  <a:srgbClr val="333333"/>
                </a:solidFill>
                <a:latin typeface="メイリオ" panose="020B0604030504040204" pitchFamily="50" charset="-128"/>
                <a:ea typeface="メイリオ" panose="020B0604030504040204" pitchFamily="50" charset="-128"/>
              </a:rPr>
              <a:t>コストが最小限に抑えられる</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endParaRPr lang="en-US" altLang="ja-JP" sz="1200" b="1" dirty="0">
              <a:solidFill>
                <a:srgbClr val="333333"/>
              </a:solidFill>
              <a:latin typeface="メイリオ" panose="020B0604030504040204" pitchFamily="50" charset="-128"/>
              <a:ea typeface="メイリオ" panose="020B0604030504040204" pitchFamily="50" charset="-128"/>
            </a:endParaRPr>
          </a:p>
        </p:txBody>
      </p:sp>
      <p:sp>
        <p:nvSpPr>
          <p:cNvPr id="25" name="RightBody">
            <a:extLst>
              <a:ext uri="{FF2B5EF4-FFF2-40B4-BE49-F238E27FC236}">
                <a16:creationId xmlns:a16="http://schemas.microsoft.com/office/drawing/2014/main" id="{5C2B33B3-486B-54AD-7340-8E91653B11C6}"/>
              </a:ext>
            </a:extLst>
          </p:cNvPr>
          <p:cNvSpPr txBox="1"/>
          <p:nvPr/>
        </p:nvSpPr>
        <p:spPr>
          <a:xfrm>
            <a:off x="5080000" y="1701738"/>
            <a:ext cx="4445000" cy="980502"/>
          </a:xfrm>
          <a:prstGeom prst="rect">
            <a:avLst/>
          </a:prstGeom>
          <a:solidFill>
            <a:srgbClr val="FFFFFF"/>
          </a:solidFill>
          <a:ln w="12700">
            <a:solidFill>
              <a:srgbClr val="00B050"/>
            </a:solidFill>
          </a:ln>
        </p:spPr>
        <p:txBody>
          <a:bodyPr wrap="square" lIns="177800" tIns="152400" rIns="177800" bIns="152400" anchor="t"/>
          <a:lstStyle/>
          <a:p>
            <a:pPr>
              <a:buNone/>
            </a:pPr>
            <a:r>
              <a:rPr lang="ja-JP" sz="1200" b="1" dirty="0">
                <a:solidFill>
                  <a:srgbClr val="00B050"/>
                </a:solidFill>
                <a:latin typeface="メイリオ" panose="020B0604030504040204" pitchFamily="50" charset="-128"/>
                <a:ea typeface="メイリオ" panose="020B0604030504040204" pitchFamily="50" charset="-128"/>
              </a:rPr>
              <a:t>特徴</a:t>
            </a: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API連携を前提としたステップ配信に強み</a:t>
            </a: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セグメント配信・タグ管理も柔軟に設計可能</a:t>
            </a:r>
          </a:p>
          <a:p>
            <a:pPr>
              <a:spcBef>
                <a:spcPts val="600"/>
              </a:spcBef>
              <a:buNone/>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1" name="LeftBody">
            <a:extLst>
              <a:ext uri="{FF2B5EF4-FFF2-40B4-BE49-F238E27FC236}">
                <a16:creationId xmlns:a16="http://schemas.microsoft.com/office/drawing/2014/main" id="{C22CD48D-CDD7-8246-0A2F-0204B2112294}"/>
              </a:ext>
            </a:extLst>
          </p:cNvPr>
          <p:cNvSpPr txBox="1"/>
          <p:nvPr/>
        </p:nvSpPr>
        <p:spPr>
          <a:xfrm>
            <a:off x="396857" y="2743201"/>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200" b="1" dirty="0">
                <a:solidFill>
                  <a:srgbClr val="1F2A5C"/>
                </a:solidFill>
                <a:latin typeface="メイリオ" panose="020B0604030504040204" pitchFamily="50" charset="-128"/>
                <a:ea typeface="メイリオ" panose="020B0604030504040204" pitchFamily="50" charset="-128"/>
              </a:rPr>
              <a:t>メリット</a:t>
            </a:r>
          </a:p>
          <a:p>
            <a:pPr>
              <a:spcBef>
                <a:spcPts val="200"/>
              </a:spcBef>
              <a:buClr>
                <a:srgbClr val="1F2A5C"/>
              </a:buClr>
            </a:pPr>
            <a:r>
              <a:rPr lang="ja-JP" sz="1200" dirty="0">
                <a:solidFill>
                  <a:srgbClr val="333333"/>
                </a:solidFill>
                <a:latin typeface="メイリオ" panose="020B0604030504040204" pitchFamily="50" charset="-128"/>
                <a:ea typeface="メイリオ" panose="020B0604030504040204" pitchFamily="50" charset="-128"/>
              </a:rPr>
              <a:t>顧客情報を活かしたセグメント配信が可能</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r>
              <a:rPr lang="ja-JP" altLang="en-US" sz="1200" dirty="0">
                <a:solidFill>
                  <a:srgbClr val="333333"/>
                </a:solidFill>
                <a:latin typeface="メイリオ" panose="020B0604030504040204" pitchFamily="50" charset="-128"/>
                <a:ea typeface="メイリオ" panose="020B0604030504040204" pitchFamily="50" charset="-128"/>
              </a:rPr>
              <a:t>画一的な管理であれば導入が可能</a:t>
            </a: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3" name="RightBody">
            <a:extLst>
              <a:ext uri="{FF2B5EF4-FFF2-40B4-BE49-F238E27FC236}">
                <a16:creationId xmlns:a16="http://schemas.microsoft.com/office/drawing/2014/main" id="{33E816DC-7F71-9436-3A2A-835086253EF7}"/>
              </a:ext>
            </a:extLst>
          </p:cNvPr>
          <p:cNvSpPr txBox="1"/>
          <p:nvPr/>
        </p:nvSpPr>
        <p:spPr>
          <a:xfrm>
            <a:off x="5095857" y="2743201"/>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200" b="1" dirty="0">
                <a:solidFill>
                  <a:srgbClr val="00B050"/>
                </a:solidFill>
                <a:latin typeface="メイリオ" panose="020B0604030504040204" pitchFamily="50" charset="-128"/>
                <a:ea typeface="メイリオ" panose="020B0604030504040204" pitchFamily="50" charset="-128"/>
              </a:rPr>
              <a:t>メリット</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経過日数・タグ条件を組み合わせた配信設計が可能</a:t>
            </a: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API連携により外部データとの連携もしやすい</a:t>
            </a:r>
          </a:p>
          <a:p>
            <a:pPr>
              <a:spcBef>
                <a:spcPts val="600"/>
              </a:spcBef>
              <a:buNone/>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5" name="LeftBody">
            <a:extLst>
              <a:ext uri="{FF2B5EF4-FFF2-40B4-BE49-F238E27FC236}">
                <a16:creationId xmlns:a16="http://schemas.microsoft.com/office/drawing/2014/main" id="{C28C8264-FFE5-64B4-9624-4781A568525A}"/>
              </a:ext>
            </a:extLst>
          </p:cNvPr>
          <p:cNvSpPr txBox="1"/>
          <p:nvPr/>
        </p:nvSpPr>
        <p:spPr>
          <a:xfrm>
            <a:off x="396857" y="3784664"/>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200" b="1" dirty="0">
                <a:solidFill>
                  <a:srgbClr val="1F2A5C"/>
                </a:solidFill>
                <a:latin typeface="メイリオ" panose="020B0604030504040204" pitchFamily="50" charset="-128"/>
                <a:ea typeface="メイリオ" panose="020B0604030504040204" pitchFamily="50" charset="-128"/>
              </a:rPr>
              <a:t>デメリット</a:t>
            </a:r>
          </a:p>
          <a:p>
            <a:pPr>
              <a:spcBef>
                <a:spcPts val="200"/>
              </a:spcBef>
              <a:buClr>
                <a:srgbClr val="1F2A5C"/>
              </a:buClr>
            </a:pPr>
            <a:r>
              <a:rPr lang="ja-JP" sz="1200" dirty="0">
                <a:solidFill>
                  <a:srgbClr val="333333"/>
                </a:solidFill>
                <a:latin typeface="メイリオ" panose="020B0604030504040204" pitchFamily="50" charset="-128"/>
                <a:ea typeface="メイリオ" panose="020B0604030504040204" pitchFamily="50" charset="-128"/>
              </a:rPr>
              <a:t>現状LINEとAPI連携ができておらず、データ活用が限定的</a:t>
            </a:r>
          </a:p>
        </p:txBody>
      </p:sp>
      <p:sp>
        <p:nvSpPr>
          <p:cNvPr id="37" name="RightBody">
            <a:extLst>
              <a:ext uri="{FF2B5EF4-FFF2-40B4-BE49-F238E27FC236}">
                <a16:creationId xmlns:a16="http://schemas.microsoft.com/office/drawing/2014/main" id="{CD03D279-8570-6C99-6FEA-8EDFE942CC76}"/>
              </a:ext>
            </a:extLst>
          </p:cNvPr>
          <p:cNvSpPr txBox="1"/>
          <p:nvPr/>
        </p:nvSpPr>
        <p:spPr>
          <a:xfrm>
            <a:off x="5095857" y="3784664"/>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200" b="1" dirty="0">
                <a:solidFill>
                  <a:srgbClr val="00B050"/>
                </a:solidFill>
                <a:latin typeface="メイリオ" panose="020B0604030504040204" pitchFamily="50" charset="-128"/>
                <a:ea typeface="メイリオ" panose="020B0604030504040204" pitchFamily="50" charset="-128"/>
              </a:rPr>
              <a:t>デメリット</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200" dirty="0">
                <a:solidFill>
                  <a:srgbClr val="333333"/>
                </a:solidFill>
                <a:latin typeface="メイリオ" panose="020B0604030504040204" pitchFamily="50" charset="-128"/>
                <a:ea typeface="メイリオ" panose="020B0604030504040204" pitchFamily="50" charset="-128"/>
              </a:rPr>
              <a:t>移行には初期設定・データ移行の工数が発生</a:t>
            </a:r>
          </a:p>
        </p:txBody>
      </p:sp>
    </p:spTree>
    <p:extLst>
      <p:ext uri="{BB962C8B-B14F-4D97-AF65-F5344CB8AC3E}">
        <p14:creationId xmlns:p14="http://schemas.microsoft.com/office/powerpoint/2010/main" val="41613873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4C018-2F1E-8306-707D-71C186D40816}"/>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HP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891C2D7-8AEF-98E4-337B-283DC4374AFC}"/>
              </a:ext>
            </a:extLst>
          </p:cNvPr>
          <p:cNvSpPr/>
          <p:nvPr/>
        </p:nvSpPr>
        <p:spPr>
          <a:xfrm>
            <a:off x="622365" y="2350718"/>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3670DE23-5EB2-C1E6-9ED3-6176C87DDEA9}"/>
              </a:ext>
            </a:extLst>
          </p:cNvPr>
          <p:cNvSpPr/>
          <p:nvPr/>
        </p:nvSpPr>
        <p:spPr>
          <a:xfrm>
            <a:off x="622365" y="2688156"/>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a:t>
            </a:r>
            <a:r>
              <a:rPr kumimoji="1" lang="en-US" altLang="ja-JP" sz="1000" b="1" dirty="0">
                <a:solidFill>
                  <a:schemeClr val="bg1"/>
                </a:solidFill>
                <a:latin typeface="メイリオ" panose="020B0604030504040204" pitchFamily="50" charset="-128"/>
                <a:ea typeface="メイリオ" panose="020B0604030504040204" pitchFamily="50" charset="-128"/>
              </a:rPr>
              <a:t>SNS</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8C708B2-F546-DE85-AA3B-2C7B33013111}"/>
              </a:ext>
            </a:extLst>
          </p:cNvPr>
          <p:cNvSpPr/>
          <p:nvPr/>
        </p:nvSpPr>
        <p:spPr>
          <a:xfrm>
            <a:off x="622365" y="3025594"/>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既存ユーザーリスト</a:t>
            </a:r>
          </a:p>
        </p:txBody>
      </p:sp>
      <p:sp>
        <p:nvSpPr>
          <p:cNvPr id="13" name="正方形/長方形 12">
            <a:extLst>
              <a:ext uri="{FF2B5EF4-FFF2-40B4-BE49-F238E27FC236}">
                <a16:creationId xmlns:a16="http://schemas.microsoft.com/office/drawing/2014/main" id="{812C768D-D601-2E13-45FD-BFE5BA587BC6}"/>
              </a:ext>
            </a:extLst>
          </p:cNvPr>
          <p:cNvSpPr/>
          <p:nvPr/>
        </p:nvSpPr>
        <p:spPr>
          <a:xfrm>
            <a:off x="622365" y="3700470"/>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LINE_CPF</a:t>
            </a:r>
            <a:r>
              <a:rPr kumimoji="1" lang="ja-JP" altLang="en-US" sz="1000" b="1" dirty="0">
                <a:solidFill>
                  <a:schemeClr val="bg1"/>
                </a:solidFill>
                <a:latin typeface="メイリオ" panose="020B0604030504040204" pitchFamily="50" charset="-128"/>
                <a:ea typeface="メイリオ" panose="020B0604030504040204" pitchFamily="50" charset="-128"/>
              </a:rPr>
              <a:t>やその他</a:t>
            </a: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3363032"/>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346217DB-3E59-DD17-6353-BB21863AB6A4}"/>
              </a:ext>
            </a:extLst>
          </p:cNvPr>
          <p:cNvSpPr/>
          <p:nvPr/>
        </p:nvSpPr>
        <p:spPr>
          <a:xfrm>
            <a:off x="2023716" y="3027253"/>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離脱防止バナー</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18" name="コネクタ: カギ線 17">
            <a:extLst>
              <a:ext uri="{FF2B5EF4-FFF2-40B4-BE49-F238E27FC236}">
                <a16:creationId xmlns:a16="http://schemas.microsoft.com/office/drawing/2014/main" id="{10A164B9-404C-F131-0FB7-4A7EC00628C8}"/>
              </a:ext>
            </a:extLst>
          </p:cNvPr>
          <p:cNvCxnSpPr>
            <a:cxnSpLocks/>
            <a:stCxn id="11" idx="3"/>
          </p:cNvCxnSpPr>
          <p:nvPr/>
        </p:nvCxnSpPr>
        <p:spPr>
          <a:xfrm flipV="1">
            <a:off x="1977645" y="2569014"/>
            <a:ext cx="1898060" cy="241114"/>
          </a:xfrm>
          <a:prstGeom prst="bentConnector3">
            <a:avLst>
              <a:gd name="adj1" fmla="val 88139"/>
            </a:avLst>
          </a:prstGeom>
          <a:ln>
            <a:solidFill>
              <a:schemeClr val="bg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営業トスアップ</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GA</a:t>
            </a:r>
            <a:r>
              <a:rPr kumimoji="1" lang="ja-JP" altLang="en-US" sz="1000" dirty="0">
                <a:solidFill>
                  <a:schemeClr val="bg1"/>
                </a:solidFill>
                <a:latin typeface="メイリオ" panose="020B0604030504040204" pitchFamily="50" charset="-128"/>
                <a:ea typeface="メイリオ" panose="020B0604030504040204" pitchFamily="50" charset="-128"/>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Call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Chat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en-US" altLang="ja-JP" sz="1000" dirty="0" err="1">
                <a:solidFill>
                  <a:schemeClr val="bg1"/>
                </a:solidFill>
                <a:latin typeface="メイリオ" panose="020B0604030504040204" pitchFamily="50" charset="-128"/>
                <a:ea typeface="メイリオ" panose="020B0604030504040204" pitchFamily="50" charset="-128"/>
              </a:rPr>
              <a:t>OptionAPI</a:t>
            </a:r>
            <a:r>
              <a:rPr kumimoji="1" lang="en-US" altLang="ja-JP" sz="1000" dirty="0">
                <a:solidFill>
                  <a:schemeClr val="bg1"/>
                </a:solidFill>
                <a:latin typeface="メイリオ" panose="020B0604030504040204" pitchFamily="50" charset="-128"/>
                <a:ea typeface="メイリオ" panose="020B0604030504040204" pitchFamily="50" charset="-128"/>
              </a:rPr>
              <a:t>)</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014"/>
            <a:ext cx="310086" cy="915990"/>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6898DA80-B20A-0E45-B382-62A8490927C1}"/>
              </a:ext>
            </a:extLst>
          </p:cNvPr>
          <p:cNvCxnSpPr>
            <a:cxnSpLocks/>
          </p:cNvCxnSpPr>
          <p:nvPr/>
        </p:nvCxnSpPr>
        <p:spPr>
          <a:xfrm flipV="1">
            <a:off x="3556910" y="2569014"/>
            <a:ext cx="310086" cy="1253428"/>
          </a:xfrm>
          <a:prstGeom prst="bentConnector3">
            <a:avLst>
              <a:gd name="adj1" fmla="val 3034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企画配信（セグメント配信）</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アンケート</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ログイン </a:t>
            </a:r>
            <a:r>
              <a:rPr lang="en-US" altLang="ja-JP" sz="600" dirty="0">
                <a:solidFill>
                  <a:srgbClr val="FF0000"/>
                </a:solidFill>
                <a:latin typeface="メイリオ" panose="020B0604030504040204" pitchFamily="50" charset="-128"/>
                <a:ea typeface="メイリオ" panose="020B0604030504040204" pitchFamily="50" charset="-128"/>
              </a:rPr>
              <a:t>※</a:t>
            </a:r>
            <a:r>
              <a:rPr lang="ja-JP" altLang="en-US" sz="6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連携 </a:t>
            </a:r>
            <a:r>
              <a:rPr lang="en-US" altLang="ja-JP" sz="700" dirty="0">
                <a:solidFill>
                  <a:srgbClr val="FF0000"/>
                </a:solidFill>
                <a:latin typeface="メイリオ" panose="020B0604030504040204" pitchFamily="50" charset="-128"/>
                <a:ea typeface="メイリオ" panose="020B0604030504040204" pitchFamily="50" charset="-128"/>
              </a:rPr>
              <a:t>※</a:t>
            </a:r>
            <a:r>
              <a:rPr lang="ja-JP" altLang="en-US" sz="7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タグ・セグメントの管理</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各種初期設計の調整</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rPr>
              <a:t>QA</a:t>
            </a:r>
            <a:r>
              <a:rPr lang="ja-JP" altLang="en-US" sz="1000" b="1">
                <a:solidFill>
                  <a:schemeClr val="bg1"/>
                </a:solidFill>
                <a:latin typeface="メイリオ" panose="020B0604030504040204" pitchFamily="50" charset="-128"/>
                <a:ea typeface="メイリオ" panose="020B0604030504040204" pitchFamily="50" charset="-128"/>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タグ配信</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チャットルーム</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endParaRPr kumimoji="1" lang="ja-JP" altLang="en-US"/>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1" name="正方形/長方形 50">
            <a:extLst>
              <a:ext uri="{FF2B5EF4-FFF2-40B4-BE49-F238E27FC236}">
                <a16:creationId xmlns:a16="http://schemas.microsoft.com/office/drawing/2014/main" id="{EBF6537D-D75B-DA5C-78EC-88D8F874BA82}"/>
              </a:ext>
            </a:extLst>
          </p:cNvPr>
          <p:cNvSpPr/>
          <p:nvPr/>
        </p:nvSpPr>
        <p:spPr>
          <a:xfrm>
            <a:off x="2280539" y="6030746"/>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友だち化</a:t>
            </a: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CA244CA5-B309-FA6E-284D-7CBC7CC2508F}"/>
              </a:ext>
            </a:extLst>
          </p:cNvPr>
          <p:cNvCxnSpPr>
            <a:cxnSpLocks/>
            <a:stCxn id="52" idx="2"/>
            <a:endCxn id="51" idx="1"/>
          </p:cNvCxnSpPr>
          <p:nvPr/>
        </p:nvCxnSpPr>
        <p:spPr>
          <a:xfrm rot="16200000" flipH="1">
            <a:off x="1046468" y="4918647"/>
            <a:ext cx="1175606" cy="1292535"/>
          </a:xfrm>
          <a:prstGeom prst="bentConnector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6490177-CFF0-A875-7C56-F0FC8CA2C530}"/>
              </a:ext>
            </a:extLst>
          </p:cNvPr>
          <p:cNvSpPr/>
          <p:nvPr/>
        </p:nvSpPr>
        <p:spPr>
          <a:xfrm>
            <a:off x="635503" y="5847788"/>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6D76C720-225A-6A92-8A49-A13770789615}"/>
              </a:ext>
            </a:extLst>
          </p:cNvPr>
          <p:cNvSpPr/>
          <p:nvPr/>
        </p:nvSpPr>
        <p:spPr>
          <a:xfrm>
            <a:off x="635503" y="61124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rPr>
              <a:t>LINE</a:t>
            </a:r>
            <a:r>
              <a:rPr kumimoji="1" lang="ja-JP" altLang="en-US" sz="1000" b="1" dirty="0">
                <a:solidFill>
                  <a:schemeClr val="bg1"/>
                </a:solidFill>
                <a:latin typeface="メイリオ" panose="020B0604030504040204" pitchFamily="50" charset="-128"/>
                <a:ea typeface="メイリオ" panose="020B0604030504040204" pitchFamily="50" charset="-128"/>
              </a:rPr>
              <a:t>誘導</a:t>
            </a:r>
          </a:p>
        </p:txBody>
      </p: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リマインド配信</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クロスセル配信</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実反響</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利用状況タグの設定</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リピート配信</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クー</a:t>
            </a:r>
            <a:r>
              <a:rPr lang="ja-JP" altLang="en-US" sz="1000" b="1" dirty="0">
                <a:solidFill>
                  <a:schemeClr val="bg1"/>
                </a:solidFill>
                <a:latin typeface="メイリオ" panose="020B0604030504040204" pitchFamily="50" charset="-128"/>
                <a:ea typeface="メイリオ" panose="020B0604030504040204" pitchFamily="50" charset="-128"/>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チャット機能</a:t>
            </a:r>
          </a:p>
        </p:txBody>
      </p:sp>
      <p:cxnSp>
        <p:nvCxnSpPr>
          <p:cNvPr id="68" name="コネクタ: カギ線 67">
            <a:extLst>
              <a:ext uri="{FF2B5EF4-FFF2-40B4-BE49-F238E27FC236}">
                <a16:creationId xmlns:a16="http://schemas.microsoft.com/office/drawing/2014/main" id="{30FE3CED-649C-7946-1117-B1E2FD2D7F26}"/>
              </a:ext>
            </a:extLst>
          </p:cNvPr>
          <p:cNvCxnSpPr>
            <a:cxnSpLocks/>
          </p:cNvCxnSpPr>
          <p:nvPr/>
        </p:nvCxnSpPr>
        <p:spPr>
          <a:xfrm rot="5400000" flipH="1" flipV="1">
            <a:off x="1678688" y="3709654"/>
            <a:ext cx="3347219" cy="1294966"/>
          </a:xfrm>
          <a:prstGeom prst="bentConnector3">
            <a:avLst>
              <a:gd name="adj1" fmla="val 46358"/>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rPr>
              <a:t>自動化</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
        <p:nvSpPr>
          <p:cNvPr id="70" name="テキスト ボックス 69">
            <a:extLst>
              <a:ext uri="{FF2B5EF4-FFF2-40B4-BE49-F238E27FC236}">
                <a16:creationId xmlns:a16="http://schemas.microsoft.com/office/drawing/2014/main" id="{F13EA781-8267-BC44-F585-50DB7DF86AA2}"/>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導入期間の長期化に伴い、カバー範囲を広げながら</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新規獲得</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質改善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リピート率改善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など新規・既存の両面から最適な施策をご提供することが可能です。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5073350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05794-10C5-A163-5F03-DB8F5144F62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6924D46-4ED5-0BE1-9474-C475C9B8B3FD}"/>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50AF59C-8025-B190-6ED3-B311D27BA69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52FA9B6-1E96-AE6B-376B-08DEB38C8F2E}"/>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業界平均値</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9466EA77-01E0-CA5D-3176-998FC02FE7DB}"/>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EEF4BB1D-1E6E-955A-85D2-2DAF3FCF967B}"/>
              </a:ext>
            </a:extLst>
          </p:cNvPr>
          <p:cNvSpPr/>
          <p:nvPr/>
        </p:nvSpPr>
        <p:spPr>
          <a:xfrm>
            <a:off x="388225" y="159430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6" name="正方形/長方形 5">
            <a:extLst>
              <a:ext uri="{FF2B5EF4-FFF2-40B4-BE49-F238E27FC236}">
                <a16:creationId xmlns:a16="http://schemas.microsoft.com/office/drawing/2014/main" id="{531C33D5-FD17-057E-9ABE-377B289F9790}"/>
              </a:ext>
            </a:extLst>
          </p:cNvPr>
          <p:cNvSpPr/>
          <p:nvPr/>
        </p:nvSpPr>
        <p:spPr>
          <a:xfrm>
            <a:off x="1890454" y="159430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7" name="正方形/長方形 6">
            <a:extLst>
              <a:ext uri="{FF2B5EF4-FFF2-40B4-BE49-F238E27FC236}">
                <a16:creationId xmlns:a16="http://schemas.microsoft.com/office/drawing/2014/main" id="{AFB52975-24F0-82CC-8A36-A65D2F539FA3}"/>
              </a:ext>
            </a:extLst>
          </p:cNvPr>
          <p:cNvSpPr/>
          <p:nvPr/>
        </p:nvSpPr>
        <p:spPr>
          <a:xfrm>
            <a:off x="3392683" y="159430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8" name="矢印: 右 7">
            <a:extLst>
              <a:ext uri="{FF2B5EF4-FFF2-40B4-BE49-F238E27FC236}">
                <a16:creationId xmlns:a16="http://schemas.microsoft.com/office/drawing/2014/main" id="{173A008B-7B40-3834-688E-168FABDF16B8}"/>
              </a:ext>
            </a:extLst>
          </p:cNvPr>
          <p:cNvSpPr/>
          <p:nvPr/>
        </p:nvSpPr>
        <p:spPr>
          <a:xfrm>
            <a:off x="1031359" y="226850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9" name="正方形/長方形 8">
            <a:extLst>
              <a:ext uri="{FF2B5EF4-FFF2-40B4-BE49-F238E27FC236}">
                <a16:creationId xmlns:a16="http://schemas.microsoft.com/office/drawing/2014/main" id="{FD70E0F9-3A37-9791-A2F1-DB53DFA521CA}"/>
              </a:ext>
            </a:extLst>
          </p:cNvPr>
          <p:cNvSpPr/>
          <p:nvPr/>
        </p:nvSpPr>
        <p:spPr>
          <a:xfrm>
            <a:off x="1890454" y="20027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0" name="正方形/長方形 9">
            <a:extLst>
              <a:ext uri="{FF2B5EF4-FFF2-40B4-BE49-F238E27FC236}">
                <a16:creationId xmlns:a16="http://schemas.microsoft.com/office/drawing/2014/main" id="{BC93A6AA-67BF-84C0-0945-45084140FCCE}"/>
              </a:ext>
            </a:extLst>
          </p:cNvPr>
          <p:cNvSpPr/>
          <p:nvPr/>
        </p:nvSpPr>
        <p:spPr>
          <a:xfrm>
            <a:off x="1890454" y="261588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1" name="正方形/長方形 10">
            <a:extLst>
              <a:ext uri="{FF2B5EF4-FFF2-40B4-BE49-F238E27FC236}">
                <a16:creationId xmlns:a16="http://schemas.microsoft.com/office/drawing/2014/main" id="{1B7DB214-408D-A44C-E3F0-2C35AF01311F}"/>
              </a:ext>
            </a:extLst>
          </p:cNvPr>
          <p:cNvSpPr/>
          <p:nvPr/>
        </p:nvSpPr>
        <p:spPr>
          <a:xfrm>
            <a:off x="388225" y="20027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b="1">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b="1"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4FF021F0-AD46-9EC1-0810-C474BA8335D8}"/>
              </a:ext>
            </a:extLst>
          </p:cNvPr>
          <p:cNvSpPr/>
          <p:nvPr/>
        </p:nvSpPr>
        <p:spPr>
          <a:xfrm>
            <a:off x="388225" y="261588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13" name="正方形/長方形 12">
            <a:extLst>
              <a:ext uri="{FF2B5EF4-FFF2-40B4-BE49-F238E27FC236}">
                <a16:creationId xmlns:a16="http://schemas.microsoft.com/office/drawing/2014/main" id="{8A474FF7-4108-C39F-A5EC-7D5691573134}"/>
              </a:ext>
            </a:extLst>
          </p:cNvPr>
          <p:cNvSpPr/>
          <p:nvPr/>
        </p:nvSpPr>
        <p:spPr>
          <a:xfrm>
            <a:off x="3392683" y="199724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矢印: 右 13">
            <a:extLst>
              <a:ext uri="{FF2B5EF4-FFF2-40B4-BE49-F238E27FC236}">
                <a16:creationId xmlns:a16="http://schemas.microsoft.com/office/drawing/2014/main" id="{7386A58D-9B89-4DB0-7216-4E1CB6B454A9}"/>
              </a:ext>
            </a:extLst>
          </p:cNvPr>
          <p:cNvSpPr/>
          <p:nvPr/>
        </p:nvSpPr>
        <p:spPr>
          <a:xfrm>
            <a:off x="1031361" y="322034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5" name="矢印: 右 14">
            <a:extLst>
              <a:ext uri="{FF2B5EF4-FFF2-40B4-BE49-F238E27FC236}">
                <a16:creationId xmlns:a16="http://schemas.microsoft.com/office/drawing/2014/main" id="{D3CE675D-8A5C-D632-6FDA-1C8A7E291893}"/>
              </a:ext>
            </a:extLst>
          </p:cNvPr>
          <p:cNvSpPr/>
          <p:nvPr/>
        </p:nvSpPr>
        <p:spPr>
          <a:xfrm>
            <a:off x="1031360" y="3921407"/>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cxnSp>
        <p:nvCxnSpPr>
          <p:cNvPr id="16" name="直線コネクタ 15">
            <a:extLst>
              <a:ext uri="{FF2B5EF4-FFF2-40B4-BE49-F238E27FC236}">
                <a16:creationId xmlns:a16="http://schemas.microsoft.com/office/drawing/2014/main" id="{8397AEEA-4837-54CF-13BA-F31B80D1393F}"/>
              </a:ext>
            </a:extLst>
          </p:cNvPr>
          <p:cNvCxnSpPr>
            <a:cxnSpLocks/>
          </p:cNvCxnSpPr>
          <p:nvPr/>
        </p:nvCxnSpPr>
        <p:spPr>
          <a:xfrm flipV="1">
            <a:off x="388225" y="387648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24D1C472-525A-CFB1-3C6E-3053F2619881}"/>
              </a:ext>
            </a:extLst>
          </p:cNvPr>
          <p:cNvSpPr/>
          <p:nvPr/>
        </p:nvSpPr>
        <p:spPr>
          <a:xfrm>
            <a:off x="388225" y="322907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CBD188BB-0EA8-4510-DCA0-2AEE1B7CD5EB}"/>
              </a:ext>
            </a:extLst>
          </p:cNvPr>
          <p:cNvSpPr/>
          <p:nvPr/>
        </p:nvSpPr>
        <p:spPr>
          <a:xfrm>
            <a:off x="1890454" y="396535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19" name="正方形/長方形 18">
            <a:extLst>
              <a:ext uri="{FF2B5EF4-FFF2-40B4-BE49-F238E27FC236}">
                <a16:creationId xmlns:a16="http://schemas.microsoft.com/office/drawing/2014/main" id="{29E6B5C9-2FD2-FC57-1789-05FA5F38E1F7}"/>
              </a:ext>
            </a:extLst>
          </p:cNvPr>
          <p:cNvSpPr/>
          <p:nvPr/>
        </p:nvSpPr>
        <p:spPr>
          <a:xfrm>
            <a:off x="388225" y="396535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0" name="正方形/長方形 19">
            <a:extLst>
              <a:ext uri="{FF2B5EF4-FFF2-40B4-BE49-F238E27FC236}">
                <a16:creationId xmlns:a16="http://schemas.microsoft.com/office/drawing/2014/main" id="{533AD0C0-7276-FA17-9FD7-734635201CB2}"/>
              </a:ext>
            </a:extLst>
          </p:cNvPr>
          <p:cNvSpPr/>
          <p:nvPr/>
        </p:nvSpPr>
        <p:spPr>
          <a:xfrm>
            <a:off x="3392682" y="322907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1" name="正方形/長方形 20">
            <a:extLst>
              <a:ext uri="{FF2B5EF4-FFF2-40B4-BE49-F238E27FC236}">
                <a16:creationId xmlns:a16="http://schemas.microsoft.com/office/drawing/2014/main" id="{415D5861-B108-7E0A-3377-5601EF82149A}"/>
              </a:ext>
            </a:extLst>
          </p:cNvPr>
          <p:cNvSpPr/>
          <p:nvPr/>
        </p:nvSpPr>
        <p:spPr>
          <a:xfrm>
            <a:off x="3392682" y="396535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矢印: 右 21">
            <a:extLst>
              <a:ext uri="{FF2B5EF4-FFF2-40B4-BE49-F238E27FC236}">
                <a16:creationId xmlns:a16="http://schemas.microsoft.com/office/drawing/2014/main" id="{94AAFD78-CFCD-8AAC-C5DE-8F785D90C401}"/>
              </a:ext>
            </a:extLst>
          </p:cNvPr>
          <p:cNvSpPr/>
          <p:nvPr/>
        </p:nvSpPr>
        <p:spPr>
          <a:xfrm>
            <a:off x="1031359" y="456844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3" name="矢印: 右 22">
            <a:extLst>
              <a:ext uri="{FF2B5EF4-FFF2-40B4-BE49-F238E27FC236}">
                <a16:creationId xmlns:a16="http://schemas.microsoft.com/office/drawing/2014/main" id="{4D8298BD-6809-4C50-E889-0C5F779DE209}"/>
              </a:ext>
            </a:extLst>
          </p:cNvPr>
          <p:cNvSpPr/>
          <p:nvPr/>
        </p:nvSpPr>
        <p:spPr>
          <a:xfrm>
            <a:off x="1031359" y="580008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4" name="矢印: 右 23">
            <a:extLst>
              <a:ext uri="{FF2B5EF4-FFF2-40B4-BE49-F238E27FC236}">
                <a16:creationId xmlns:a16="http://schemas.microsoft.com/office/drawing/2014/main" id="{01F0D3B8-3119-304D-228E-ED46B6CAB67D}"/>
              </a:ext>
            </a:extLst>
          </p:cNvPr>
          <p:cNvSpPr/>
          <p:nvPr/>
        </p:nvSpPr>
        <p:spPr>
          <a:xfrm>
            <a:off x="1031359" y="5189826"/>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5" name="正方形/長方形 24">
            <a:extLst>
              <a:ext uri="{FF2B5EF4-FFF2-40B4-BE49-F238E27FC236}">
                <a16:creationId xmlns:a16="http://schemas.microsoft.com/office/drawing/2014/main" id="{9751A61D-8342-2E71-49E2-6F2A585210CF}"/>
              </a:ext>
            </a:extLst>
          </p:cNvPr>
          <p:cNvSpPr/>
          <p:nvPr/>
        </p:nvSpPr>
        <p:spPr>
          <a:xfrm>
            <a:off x="1890454" y="45840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26" name="正方形/長方形 25">
            <a:extLst>
              <a:ext uri="{FF2B5EF4-FFF2-40B4-BE49-F238E27FC236}">
                <a16:creationId xmlns:a16="http://schemas.microsoft.com/office/drawing/2014/main" id="{069B86FC-7AC9-2579-6747-94409852E6A9}"/>
              </a:ext>
            </a:extLst>
          </p:cNvPr>
          <p:cNvSpPr/>
          <p:nvPr/>
        </p:nvSpPr>
        <p:spPr>
          <a:xfrm>
            <a:off x="388225" y="45840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7" name="正方形/長方形 26">
            <a:extLst>
              <a:ext uri="{FF2B5EF4-FFF2-40B4-BE49-F238E27FC236}">
                <a16:creationId xmlns:a16="http://schemas.microsoft.com/office/drawing/2014/main" id="{259BCB38-DAF2-BC8F-7410-9383C33A3F86}"/>
              </a:ext>
            </a:extLst>
          </p:cNvPr>
          <p:cNvSpPr/>
          <p:nvPr/>
        </p:nvSpPr>
        <p:spPr>
          <a:xfrm>
            <a:off x="388225" y="520264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8" name="正方形/長方形 27">
            <a:extLst>
              <a:ext uri="{FF2B5EF4-FFF2-40B4-BE49-F238E27FC236}">
                <a16:creationId xmlns:a16="http://schemas.microsoft.com/office/drawing/2014/main" id="{1F924E3D-9CB9-CA80-4FF6-D62C50842AEB}"/>
              </a:ext>
            </a:extLst>
          </p:cNvPr>
          <p:cNvSpPr/>
          <p:nvPr/>
        </p:nvSpPr>
        <p:spPr>
          <a:xfrm>
            <a:off x="388225" y="582129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9" name="正方形/長方形 28">
            <a:extLst>
              <a:ext uri="{FF2B5EF4-FFF2-40B4-BE49-F238E27FC236}">
                <a16:creationId xmlns:a16="http://schemas.microsoft.com/office/drawing/2014/main" id="{048444BF-0B54-4CE2-78C3-B78C7FCD001B}"/>
              </a:ext>
            </a:extLst>
          </p:cNvPr>
          <p:cNvSpPr/>
          <p:nvPr/>
        </p:nvSpPr>
        <p:spPr>
          <a:xfrm>
            <a:off x="1890453" y="520264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30" name="正方形/長方形 29">
            <a:extLst>
              <a:ext uri="{FF2B5EF4-FFF2-40B4-BE49-F238E27FC236}">
                <a16:creationId xmlns:a16="http://schemas.microsoft.com/office/drawing/2014/main" id="{AD971EAE-829E-07E1-B15C-D7B9C5538B0F}"/>
              </a:ext>
            </a:extLst>
          </p:cNvPr>
          <p:cNvSpPr/>
          <p:nvPr/>
        </p:nvSpPr>
        <p:spPr>
          <a:xfrm>
            <a:off x="1890453" y="582129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1D0E3A14-A5E0-6277-4C0A-37271CE6D04A}"/>
              </a:ext>
            </a:extLst>
          </p:cNvPr>
          <p:cNvSpPr/>
          <p:nvPr/>
        </p:nvSpPr>
        <p:spPr>
          <a:xfrm>
            <a:off x="3392682" y="458400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0F8EFC74-4358-EB59-16A6-D864C62AC931}"/>
              </a:ext>
            </a:extLst>
          </p:cNvPr>
          <p:cNvSpPr/>
          <p:nvPr/>
        </p:nvSpPr>
        <p:spPr>
          <a:xfrm>
            <a:off x="3392682" y="520265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36006927-A8A5-7A4B-A04C-F5D0808A5304}"/>
              </a:ext>
            </a:extLst>
          </p:cNvPr>
          <p:cNvSpPr/>
          <p:nvPr/>
        </p:nvSpPr>
        <p:spPr>
          <a:xfrm>
            <a:off x="3392682" y="581036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4" name="Shape 17">
            <a:extLst>
              <a:ext uri="{FF2B5EF4-FFF2-40B4-BE49-F238E27FC236}">
                <a16:creationId xmlns:a16="http://schemas.microsoft.com/office/drawing/2014/main" id="{B77E1FF1-F589-36AA-D779-FABB807F9501}"/>
              </a:ext>
            </a:extLst>
          </p:cNvPr>
          <p:cNvSpPr/>
          <p:nvPr/>
        </p:nvSpPr>
        <p:spPr>
          <a:xfrm>
            <a:off x="3586732" y="2068120"/>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35" name="Shape 18">
            <a:extLst>
              <a:ext uri="{FF2B5EF4-FFF2-40B4-BE49-F238E27FC236}">
                <a16:creationId xmlns:a16="http://schemas.microsoft.com/office/drawing/2014/main" id="{CA0F439F-8568-5F59-980B-81BDBE16E656}"/>
              </a:ext>
            </a:extLst>
          </p:cNvPr>
          <p:cNvSpPr/>
          <p:nvPr/>
        </p:nvSpPr>
        <p:spPr>
          <a:xfrm>
            <a:off x="5635860" y="2068120"/>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cxnSp>
        <p:nvCxnSpPr>
          <p:cNvPr id="36" name="直線矢印コネクタ 35">
            <a:extLst>
              <a:ext uri="{FF2B5EF4-FFF2-40B4-BE49-F238E27FC236}">
                <a16:creationId xmlns:a16="http://schemas.microsoft.com/office/drawing/2014/main" id="{F1667E92-F492-3E12-307D-7E98E48B45D9}"/>
              </a:ext>
            </a:extLst>
          </p:cNvPr>
          <p:cNvCxnSpPr>
            <a:endCxn id="35" idx="1"/>
          </p:cNvCxnSpPr>
          <p:nvPr/>
        </p:nvCxnSpPr>
        <p:spPr>
          <a:xfrm>
            <a:off x="5367201" y="229237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7" name="Shape 17">
            <a:extLst>
              <a:ext uri="{FF2B5EF4-FFF2-40B4-BE49-F238E27FC236}">
                <a16:creationId xmlns:a16="http://schemas.microsoft.com/office/drawing/2014/main" id="{9BCE046A-F0B6-BBFD-BFCA-03015B84F033}"/>
              </a:ext>
            </a:extLst>
          </p:cNvPr>
          <p:cNvSpPr/>
          <p:nvPr/>
        </p:nvSpPr>
        <p:spPr>
          <a:xfrm>
            <a:off x="3586732" y="2602307"/>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38" name="Shape 18">
            <a:extLst>
              <a:ext uri="{FF2B5EF4-FFF2-40B4-BE49-F238E27FC236}">
                <a16:creationId xmlns:a16="http://schemas.microsoft.com/office/drawing/2014/main" id="{14F2BF34-2AB8-9060-75EF-F5ADF9F01344}"/>
              </a:ext>
            </a:extLst>
          </p:cNvPr>
          <p:cNvSpPr/>
          <p:nvPr/>
        </p:nvSpPr>
        <p:spPr>
          <a:xfrm>
            <a:off x="5635860" y="2602307"/>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39" name="直線矢印コネクタ 38">
            <a:extLst>
              <a:ext uri="{FF2B5EF4-FFF2-40B4-BE49-F238E27FC236}">
                <a16:creationId xmlns:a16="http://schemas.microsoft.com/office/drawing/2014/main" id="{B31F7370-9528-F602-262C-2CE6C0CA7D95}"/>
              </a:ext>
            </a:extLst>
          </p:cNvPr>
          <p:cNvCxnSpPr>
            <a:cxnSpLocks/>
            <a:stCxn id="37" idx="3"/>
            <a:endCxn id="38" idx="1"/>
          </p:cNvCxnSpPr>
          <p:nvPr/>
        </p:nvCxnSpPr>
        <p:spPr>
          <a:xfrm>
            <a:off x="5350219" y="283555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102">
            <a:extLst>
              <a:ext uri="{FF2B5EF4-FFF2-40B4-BE49-F238E27FC236}">
                <a16:creationId xmlns:a16="http://schemas.microsoft.com/office/drawing/2014/main" id="{CB5BD751-9EE2-F77E-B237-6EBEA67F4576}"/>
              </a:ext>
            </a:extLst>
          </p:cNvPr>
          <p:cNvSpPr txBox="1"/>
          <p:nvPr/>
        </p:nvSpPr>
        <p:spPr>
          <a:xfrm>
            <a:off x="7643602" y="1550861"/>
            <a:ext cx="1874173" cy="43088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 </a:t>
            </a:r>
            <a:r>
              <a:rPr lang="en-US" altLang="ja-JP" sz="1000" dirty="0">
                <a:solidFill>
                  <a:srgbClr val="FF0000"/>
                </a:solidFill>
                <a:highlight>
                  <a:srgbClr val="FFFF00"/>
                </a:highlight>
                <a:latin typeface="メイリオ" panose="020B0604030504040204" pitchFamily="50" charset="-128"/>
                <a:ea typeface="メイリオ" panose="020B0604030504040204" pitchFamily="50" charset="-128"/>
              </a:rPr>
              <a:t>※CVR</a:t>
            </a:r>
            <a:r>
              <a:rPr lang="ja-JP" altLang="en-US" sz="1000" dirty="0">
                <a:solidFill>
                  <a:srgbClr val="FF0000"/>
                </a:solidFill>
                <a:highlight>
                  <a:srgbClr val="FFFF00"/>
                </a:highlight>
                <a:latin typeface="メイリオ" panose="020B0604030504040204" pitchFamily="50" charset="-128"/>
                <a:ea typeface="メイリオ" panose="020B0604030504040204" pitchFamily="50" charset="-128"/>
              </a:rPr>
              <a:t>ではない</a:t>
            </a:r>
            <a:endParaRPr kumimoji="1" lang="ja-JP" altLang="en-US" sz="1000" dirty="0">
              <a:solidFill>
                <a:srgbClr val="FF0000"/>
              </a:solidFill>
              <a:highlight>
                <a:srgbClr val="FFFF00"/>
              </a:highlight>
              <a:latin typeface="メイリオ" panose="020B0604030504040204" pitchFamily="50" charset="-128"/>
              <a:ea typeface="メイリオ" panose="020B0604030504040204" pitchFamily="50" charset="-128"/>
            </a:endParaRPr>
          </a:p>
        </p:txBody>
      </p:sp>
      <p:sp>
        <p:nvSpPr>
          <p:cNvPr id="41" name="テキスト ボックス 104">
            <a:extLst>
              <a:ext uri="{FF2B5EF4-FFF2-40B4-BE49-F238E27FC236}">
                <a16:creationId xmlns:a16="http://schemas.microsoft.com/office/drawing/2014/main" id="{55562E1F-54CF-8256-1530-F264D924D0C4}"/>
              </a:ext>
            </a:extLst>
          </p:cNvPr>
          <p:cNvSpPr txBox="1"/>
          <p:nvPr/>
        </p:nvSpPr>
        <p:spPr>
          <a:xfrm>
            <a:off x="7795459" y="230210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2" name="テキスト ボックス 106">
            <a:extLst>
              <a:ext uri="{FF2B5EF4-FFF2-40B4-BE49-F238E27FC236}">
                <a16:creationId xmlns:a16="http://schemas.microsoft.com/office/drawing/2014/main" id="{0D6F6472-C1C9-8DD7-5969-2F70988996B7}"/>
              </a:ext>
            </a:extLst>
          </p:cNvPr>
          <p:cNvSpPr txBox="1"/>
          <p:nvPr/>
        </p:nvSpPr>
        <p:spPr>
          <a:xfrm>
            <a:off x="7781456" y="3247026"/>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3" name="テキスト ボックス 108">
            <a:extLst>
              <a:ext uri="{FF2B5EF4-FFF2-40B4-BE49-F238E27FC236}">
                <a16:creationId xmlns:a16="http://schemas.microsoft.com/office/drawing/2014/main" id="{3EBEB224-105E-FCC6-752F-0DC0ACDDFEFC}"/>
              </a:ext>
            </a:extLst>
          </p:cNvPr>
          <p:cNvSpPr txBox="1"/>
          <p:nvPr/>
        </p:nvSpPr>
        <p:spPr>
          <a:xfrm>
            <a:off x="7795459" y="3952829"/>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4" name="テキスト ボックス 110">
            <a:extLst>
              <a:ext uri="{FF2B5EF4-FFF2-40B4-BE49-F238E27FC236}">
                <a16:creationId xmlns:a16="http://schemas.microsoft.com/office/drawing/2014/main" id="{F26B0A2E-9DBA-FEE5-637F-02A225C02C23}"/>
              </a:ext>
            </a:extLst>
          </p:cNvPr>
          <p:cNvSpPr txBox="1"/>
          <p:nvPr/>
        </p:nvSpPr>
        <p:spPr>
          <a:xfrm>
            <a:off x="7781455" y="459296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6" name="テキスト ボックス 112">
            <a:extLst>
              <a:ext uri="{FF2B5EF4-FFF2-40B4-BE49-F238E27FC236}">
                <a16:creationId xmlns:a16="http://schemas.microsoft.com/office/drawing/2014/main" id="{0C0FA132-24D2-97C7-D00F-5A970556EB00}"/>
              </a:ext>
            </a:extLst>
          </p:cNvPr>
          <p:cNvSpPr txBox="1"/>
          <p:nvPr/>
        </p:nvSpPr>
        <p:spPr>
          <a:xfrm>
            <a:off x="7781455" y="5217138"/>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7" name="テキスト ボックス 114">
            <a:extLst>
              <a:ext uri="{FF2B5EF4-FFF2-40B4-BE49-F238E27FC236}">
                <a16:creationId xmlns:a16="http://schemas.microsoft.com/office/drawing/2014/main" id="{FD400E85-93A8-6ADB-337D-4AC8973CAF45}"/>
              </a:ext>
            </a:extLst>
          </p:cNvPr>
          <p:cNvSpPr txBox="1"/>
          <p:nvPr/>
        </p:nvSpPr>
        <p:spPr>
          <a:xfrm>
            <a:off x="7781455" y="5822973"/>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8" name="Shape 17">
            <a:extLst>
              <a:ext uri="{FF2B5EF4-FFF2-40B4-BE49-F238E27FC236}">
                <a16:creationId xmlns:a16="http://schemas.microsoft.com/office/drawing/2014/main" id="{1CA555AB-71AF-EB14-1D64-C35A07A084CC}"/>
              </a:ext>
            </a:extLst>
          </p:cNvPr>
          <p:cNvSpPr/>
          <p:nvPr/>
        </p:nvSpPr>
        <p:spPr>
          <a:xfrm>
            <a:off x="3586732" y="3279991"/>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49" name="Shape 18">
            <a:extLst>
              <a:ext uri="{FF2B5EF4-FFF2-40B4-BE49-F238E27FC236}">
                <a16:creationId xmlns:a16="http://schemas.microsoft.com/office/drawing/2014/main" id="{019053B5-0AD3-160E-B42A-8528F025A84E}"/>
              </a:ext>
            </a:extLst>
          </p:cNvPr>
          <p:cNvSpPr/>
          <p:nvPr/>
        </p:nvSpPr>
        <p:spPr>
          <a:xfrm>
            <a:off x="5635860" y="3279991"/>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50" name="直線矢印コネクタ 49">
            <a:extLst>
              <a:ext uri="{FF2B5EF4-FFF2-40B4-BE49-F238E27FC236}">
                <a16:creationId xmlns:a16="http://schemas.microsoft.com/office/drawing/2014/main" id="{48AC5144-1E7E-4082-003A-97A6D96D2994}"/>
              </a:ext>
            </a:extLst>
          </p:cNvPr>
          <p:cNvCxnSpPr>
            <a:cxnSpLocks/>
            <a:stCxn id="48" idx="3"/>
            <a:endCxn id="49" idx="1"/>
          </p:cNvCxnSpPr>
          <p:nvPr/>
        </p:nvCxnSpPr>
        <p:spPr>
          <a:xfrm>
            <a:off x="5350219" y="351323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1" name="Shape 17">
            <a:extLst>
              <a:ext uri="{FF2B5EF4-FFF2-40B4-BE49-F238E27FC236}">
                <a16:creationId xmlns:a16="http://schemas.microsoft.com/office/drawing/2014/main" id="{03AA9053-24E8-182C-23AA-4BEA28F1863B}"/>
              </a:ext>
            </a:extLst>
          </p:cNvPr>
          <p:cNvSpPr/>
          <p:nvPr/>
        </p:nvSpPr>
        <p:spPr>
          <a:xfrm>
            <a:off x="3586732" y="4020849"/>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52" name="Shape 18">
            <a:extLst>
              <a:ext uri="{FF2B5EF4-FFF2-40B4-BE49-F238E27FC236}">
                <a16:creationId xmlns:a16="http://schemas.microsoft.com/office/drawing/2014/main" id="{760C890D-1868-9325-4069-2354337B0399}"/>
              </a:ext>
            </a:extLst>
          </p:cNvPr>
          <p:cNvSpPr/>
          <p:nvPr/>
        </p:nvSpPr>
        <p:spPr>
          <a:xfrm>
            <a:off x="5635860" y="4020849"/>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53" name="直線矢印コネクタ 52">
            <a:extLst>
              <a:ext uri="{FF2B5EF4-FFF2-40B4-BE49-F238E27FC236}">
                <a16:creationId xmlns:a16="http://schemas.microsoft.com/office/drawing/2014/main" id="{CE344BB3-FFA2-50D7-ADEA-7AA9C56BA1E2}"/>
              </a:ext>
            </a:extLst>
          </p:cNvPr>
          <p:cNvCxnSpPr>
            <a:cxnSpLocks/>
            <a:stCxn id="51" idx="3"/>
            <a:endCxn id="52" idx="1"/>
          </p:cNvCxnSpPr>
          <p:nvPr/>
        </p:nvCxnSpPr>
        <p:spPr>
          <a:xfrm>
            <a:off x="5350219" y="425409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4" name="Shape 17">
            <a:extLst>
              <a:ext uri="{FF2B5EF4-FFF2-40B4-BE49-F238E27FC236}">
                <a16:creationId xmlns:a16="http://schemas.microsoft.com/office/drawing/2014/main" id="{9439D4FC-6ABA-77F9-BCBC-39518FFF0A4B}"/>
              </a:ext>
            </a:extLst>
          </p:cNvPr>
          <p:cNvSpPr/>
          <p:nvPr/>
        </p:nvSpPr>
        <p:spPr>
          <a:xfrm>
            <a:off x="3586732" y="462723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55" name="Shape 18">
            <a:extLst>
              <a:ext uri="{FF2B5EF4-FFF2-40B4-BE49-F238E27FC236}">
                <a16:creationId xmlns:a16="http://schemas.microsoft.com/office/drawing/2014/main" id="{E23B94EA-C025-B46E-3CFE-6F951848C924}"/>
              </a:ext>
            </a:extLst>
          </p:cNvPr>
          <p:cNvSpPr/>
          <p:nvPr/>
        </p:nvSpPr>
        <p:spPr>
          <a:xfrm>
            <a:off x="5635860" y="462723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56" name="直線矢印コネクタ 55">
            <a:extLst>
              <a:ext uri="{FF2B5EF4-FFF2-40B4-BE49-F238E27FC236}">
                <a16:creationId xmlns:a16="http://schemas.microsoft.com/office/drawing/2014/main" id="{83F28A8E-5BD4-6CFE-A1AB-95F3F23ADFC2}"/>
              </a:ext>
            </a:extLst>
          </p:cNvPr>
          <p:cNvCxnSpPr>
            <a:cxnSpLocks/>
            <a:stCxn id="54" idx="3"/>
            <a:endCxn id="55" idx="1"/>
          </p:cNvCxnSpPr>
          <p:nvPr/>
        </p:nvCxnSpPr>
        <p:spPr>
          <a:xfrm>
            <a:off x="5350219" y="486048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7" name="Shape 17">
            <a:extLst>
              <a:ext uri="{FF2B5EF4-FFF2-40B4-BE49-F238E27FC236}">
                <a16:creationId xmlns:a16="http://schemas.microsoft.com/office/drawing/2014/main" id="{6D4CD712-1339-1DEA-1A5F-9F51874CCCB1}"/>
              </a:ext>
            </a:extLst>
          </p:cNvPr>
          <p:cNvSpPr/>
          <p:nvPr/>
        </p:nvSpPr>
        <p:spPr>
          <a:xfrm>
            <a:off x="3586732" y="5251006"/>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58" name="Shape 18">
            <a:extLst>
              <a:ext uri="{FF2B5EF4-FFF2-40B4-BE49-F238E27FC236}">
                <a16:creationId xmlns:a16="http://schemas.microsoft.com/office/drawing/2014/main" id="{5F976E27-1C09-25DE-2664-7D927081F231}"/>
              </a:ext>
            </a:extLst>
          </p:cNvPr>
          <p:cNvSpPr/>
          <p:nvPr/>
        </p:nvSpPr>
        <p:spPr>
          <a:xfrm>
            <a:off x="5635860" y="5251006"/>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59" name="直線矢印コネクタ 58">
            <a:extLst>
              <a:ext uri="{FF2B5EF4-FFF2-40B4-BE49-F238E27FC236}">
                <a16:creationId xmlns:a16="http://schemas.microsoft.com/office/drawing/2014/main" id="{82C1A774-7713-D5A5-03F8-DCE7AD58DB1B}"/>
              </a:ext>
            </a:extLst>
          </p:cNvPr>
          <p:cNvCxnSpPr>
            <a:cxnSpLocks/>
            <a:stCxn id="57" idx="3"/>
            <a:endCxn id="58" idx="1"/>
          </p:cNvCxnSpPr>
          <p:nvPr/>
        </p:nvCxnSpPr>
        <p:spPr>
          <a:xfrm>
            <a:off x="5350219" y="548425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0" name="Shape 17">
            <a:extLst>
              <a:ext uri="{FF2B5EF4-FFF2-40B4-BE49-F238E27FC236}">
                <a16:creationId xmlns:a16="http://schemas.microsoft.com/office/drawing/2014/main" id="{CC857E24-C3F9-53FF-5D44-B2CE0DE30602}"/>
              </a:ext>
            </a:extLst>
          </p:cNvPr>
          <p:cNvSpPr/>
          <p:nvPr/>
        </p:nvSpPr>
        <p:spPr>
          <a:xfrm>
            <a:off x="3586732" y="585939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61" name="Shape 18">
            <a:extLst>
              <a:ext uri="{FF2B5EF4-FFF2-40B4-BE49-F238E27FC236}">
                <a16:creationId xmlns:a16="http://schemas.microsoft.com/office/drawing/2014/main" id="{496CBE75-90FF-44E1-05AA-F85C409960A4}"/>
              </a:ext>
            </a:extLst>
          </p:cNvPr>
          <p:cNvSpPr/>
          <p:nvPr/>
        </p:nvSpPr>
        <p:spPr>
          <a:xfrm>
            <a:off x="5635860" y="585939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62" name="直線矢印コネクタ 61">
            <a:extLst>
              <a:ext uri="{FF2B5EF4-FFF2-40B4-BE49-F238E27FC236}">
                <a16:creationId xmlns:a16="http://schemas.microsoft.com/office/drawing/2014/main" id="{D05BCA3B-7E23-AB71-18F0-5A49C04E309D}"/>
              </a:ext>
            </a:extLst>
          </p:cNvPr>
          <p:cNvCxnSpPr>
            <a:cxnSpLocks/>
            <a:stCxn id="60" idx="3"/>
            <a:endCxn id="61" idx="1"/>
          </p:cNvCxnSpPr>
          <p:nvPr/>
        </p:nvCxnSpPr>
        <p:spPr>
          <a:xfrm>
            <a:off x="5350219" y="609264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4" name="テキスト ボックス 63">
            <a:extLst>
              <a:ext uri="{FF2B5EF4-FFF2-40B4-BE49-F238E27FC236}">
                <a16:creationId xmlns:a16="http://schemas.microsoft.com/office/drawing/2014/main" id="{82CD4DCC-2C80-6383-8368-FB0A87EC66CA}"/>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公式</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の友だち追加ユーザーが成果地点（</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 </a:t>
            </a:r>
            <a:r>
              <a:rPr lang="en-US" altLang="ja-JP" sz="800" b="1" dirty="0">
                <a:solidFill>
                  <a:srgbClr val="FF0000"/>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業界業態・地点により変動   </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に到達する割合は</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通算で３</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前後と言われており、</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動線を最適化することはマーケティングにおける重要度が高い。</a:t>
            </a:r>
            <a:endParaRPr lang="en-US" altLang="ja-JP" sz="1400" b="1" dirty="0">
              <a:solidFill>
                <a:srgbClr val="FF0000"/>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6518251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11A65C8-17C8-D684-CB75-56D55121F8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2E0E886-3FF7-1177-80B0-EC2CDD9EFAA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要件定義</a:t>
            </a:r>
            <a:endParaRPr sz="1600" b="1" dirty="0">
              <a:solidFill>
                <a:srgbClr val="002060"/>
              </a:solidFill>
              <a:latin typeface="Meiryo"/>
              <a:ea typeface="Meiryo"/>
              <a:cs typeface="Meiryo"/>
              <a:sym typeface="Meiryo"/>
            </a:endParaRPr>
          </a:p>
        </p:txBody>
      </p:sp>
      <p:sp>
        <p:nvSpPr>
          <p:cNvPr id="25" name="二等辺三角形 24">
            <a:extLst>
              <a:ext uri="{FF2B5EF4-FFF2-40B4-BE49-F238E27FC236}">
                <a16:creationId xmlns:a16="http://schemas.microsoft.com/office/drawing/2014/main" id="{3FDFECE2-9923-BB50-13D2-3D4A9E65C558}"/>
              </a:ext>
            </a:extLst>
          </p:cNvPr>
          <p:cNvSpPr/>
          <p:nvPr/>
        </p:nvSpPr>
        <p:spPr>
          <a:xfrm rot="10800000">
            <a:off x="1013700" y="3167381"/>
            <a:ext cx="7965031" cy="486852"/>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a:extLst>
              <a:ext uri="{FF2B5EF4-FFF2-40B4-BE49-F238E27FC236}">
                <a16:creationId xmlns:a16="http://schemas.microsoft.com/office/drawing/2014/main" id="{C4E20CB5-EE4A-545E-031C-B0FF76AEE517}"/>
              </a:ext>
            </a:extLst>
          </p:cNvPr>
          <p:cNvSpPr/>
          <p:nvPr/>
        </p:nvSpPr>
        <p:spPr>
          <a:xfrm>
            <a:off x="503966" y="775227"/>
            <a:ext cx="8898070" cy="297590"/>
          </a:xfrm>
          <a:prstGeom prst="rect">
            <a:avLst/>
          </a:prstGeom>
          <a:solidFill>
            <a:schemeClr val="tx2">
              <a:lumMod val="75000"/>
            </a:schemeClr>
          </a:solid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プロモーション目的</a:t>
            </a:r>
          </a:p>
        </p:txBody>
      </p:sp>
      <p:sp>
        <p:nvSpPr>
          <p:cNvPr id="27" name="正方形/長方形 26">
            <a:extLst>
              <a:ext uri="{FF2B5EF4-FFF2-40B4-BE49-F238E27FC236}">
                <a16:creationId xmlns:a16="http://schemas.microsoft.com/office/drawing/2014/main" id="{A773DE68-F51A-B2B7-A85F-DDEF158DE1E8}"/>
              </a:ext>
            </a:extLst>
          </p:cNvPr>
          <p:cNvSpPr/>
          <p:nvPr/>
        </p:nvSpPr>
        <p:spPr>
          <a:xfrm>
            <a:off x="503967" y="1090870"/>
            <a:ext cx="8898070" cy="525365"/>
          </a:xfrm>
          <a:prstGeom prst="rect">
            <a:avLst/>
          </a:prstGeom>
          <a:no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の初期構築と効果の最大化</a:t>
            </a:r>
            <a:endPar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28" name="テキスト ボックス 4">
            <a:extLst>
              <a:ext uri="{FF2B5EF4-FFF2-40B4-BE49-F238E27FC236}">
                <a16:creationId xmlns:a16="http://schemas.microsoft.com/office/drawing/2014/main" id="{D82D8E99-CD5B-56FF-33CE-071E3712BDD6}"/>
              </a:ext>
            </a:extLst>
          </p:cNvPr>
          <p:cNvSpPr txBox="1"/>
          <p:nvPr/>
        </p:nvSpPr>
        <p:spPr>
          <a:xfrm>
            <a:off x="3893204" y="3204084"/>
            <a:ext cx="2236946"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弊社からのご提案</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0" name="正方形/長方形 29">
            <a:extLst>
              <a:ext uri="{FF2B5EF4-FFF2-40B4-BE49-F238E27FC236}">
                <a16:creationId xmlns:a16="http://schemas.microsoft.com/office/drawing/2014/main" id="{FAB8E792-C2AE-2097-2C3E-326F4730D6FF}"/>
              </a:ext>
            </a:extLst>
          </p:cNvPr>
          <p:cNvSpPr/>
          <p:nvPr/>
        </p:nvSpPr>
        <p:spPr>
          <a:xfrm>
            <a:off x="503965" y="3759311"/>
            <a:ext cx="8898070" cy="366112"/>
          </a:xfrm>
          <a:prstGeom prst="rect">
            <a:avLst/>
          </a:prstGeom>
          <a:solidFill>
            <a:schemeClr val="accent1">
              <a:lumMod val="20000"/>
              <a:lumOff val="80000"/>
            </a:schemeClr>
          </a:solidFill>
          <a:ln>
            <a:solidFill>
              <a:schemeClr val="accent1">
                <a:lumMod val="60000"/>
                <a:lumOff val="4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solidFill>
                  <a:schemeClr val="accent1">
                    <a:lumMod val="75000"/>
                  </a:schemeClr>
                </a:solidFill>
                <a:effectLst/>
                <a:latin typeface="メイリオ" panose="020B0604030504040204" pitchFamily="50" charset="-128"/>
                <a:ea typeface="メイリオ" panose="020B0604030504040204" pitchFamily="50" charset="-128"/>
                <a:cs typeface="メイリオ" panose="020B0604030504040204" pitchFamily="50" charset="-128"/>
              </a:rPr>
              <a:t>手法</a:t>
            </a:r>
          </a:p>
        </p:txBody>
      </p:sp>
      <p:sp>
        <p:nvSpPr>
          <p:cNvPr id="32" name="正方形/長方形 31">
            <a:extLst>
              <a:ext uri="{FF2B5EF4-FFF2-40B4-BE49-F238E27FC236}">
                <a16:creationId xmlns:a16="http://schemas.microsoft.com/office/drawing/2014/main" id="{6CB99AAC-0BEA-E7FB-6909-1C7C68EDF323}"/>
              </a:ext>
            </a:extLst>
          </p:cNvPr>
          <p:cNvSpPr/>
          <p:nvPr/>
        </p:nvSpPr>
        <p:spPr>
          <a:xfrm>
            <a:off x="503965" y="4180114"/>
            <a:ext cx="8898070" cy="2285834"/>
          </a:xfrm>
          <a:prstGeom prst="rect">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・豊富な弊社実績を活用した配信設計の構築</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企画投稿</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ステップ配信</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6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弊社の豊富な実績や市場調査を活かし、最適なタイミングで最適なメッセージを送付し</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へ</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また、学習コンテンツの展開でサービス理解度を引き上げ、来店意欲</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UP</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を狙う。</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・フェーズ毎に戦略を変えることで来店意欲の醸成</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動線・セグメント設定</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設定セグメント・ターゲティングを変化させ複数回違う訴求にて接触。</a:t>
            </a:r>
            <a:endParaRPr lang="en-US" altLang="ja-JP" sz="1400" dirty="0">
              <a:solidFill>
                <a:schemeClr val="tx2">
                  <a:lumMod val="75000"/>
                </a:schemeClr>
              </a:solidFill>
              <a:latin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・売上計測環境の整備及び</a:t>
            </a:r>
            <a:r>
              <a:rPr lang="en-US" altLang="ja-JP" sz="1600" b="1" dirty="0" err="1">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GoogleAnalytics</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の整備</a:t>
            </a:r>
            <a:endPar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タグを整備することで</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経由の成果可視化を実行。</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企画・動線ごとに成果を可視化し、訴求テストなどを実施しながら効率化を図る。</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3" name="正方形/長方形 32">
            <a:extLst>
              <a:ext uri="{FF2B5EF4-FFF2-40B4-BE49-F238E27FC236}">
                <a16:creationId xmlns:a16="http://schemas.microsoft.com/office/drawing/2014/main" id="{ADCEEB55-8D79-5D37-18D6-691241A3FC15}"/>
              </a:ext>
            </a:extLst>
          </p:cNvPr>
          <p:cNvSpPr/>
          <p:nvPr/>
        </p:nvSpPr>
        <p:spPr>
          <a:xfrm>
            <a:off x="503965" y="1675570"/>
            <a:ext cx="8898070" cy="386003"/>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配信目標</a:t>
            </a:r>
          </a:p>
        </p:txBody>
      </p:sp>
      <p:sp>
        <p:nvSpPr>
          <p:cNvPr id="34" name="正方形/長方形 33">
            <a:extLst>
              <a:ext uri="{FF2B5EF4-FFF2-40B4-BE49-F238E27FC236}">
                <a16:creationId xmlns:a16="http://schemas.microsoft.com/office/drawing/2014/main" id="{36696439-35BA-93A5-530C-51E6DC29272E}"/>
              </a:ext>
            </a:extLst>
          </p:cNvPr>
          <p:cNvSpPr/>
          <p:nvPr/>
        </p:nvSpPr>
        <p:spPr>
          <a:xfrm>
            <a:off x="503965" y="2077535"/>
            <a:ext cx="8898070" cy="1021153"/>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①離脱ユーザーの再学習による</a:t>
            </a:r>
            <a:r>
              <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数増加 </a:t>
            </a:r>
            <a:endPar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②体験予約のみユーザーの削減 → 来店・契約サポート</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中長期施策として展開予定</a:t>
            </a:r>
            <a:endParaRPr lang="en-US" altLang="ja-JP"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1513433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DCB94-34C8-7DB0-D6CB-991D39D9B9D2}"/>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2D028149-DEFF-22C6-CAE7-C46667CD5B1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B163438-09F4-A453-CFBB-24C6CF88C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7AF73B81-5AB2-69AD-0B6B-5E512523153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想定の費用対効果（</a:t>
            </a:r>
            <a:r>
              <a:rPr lang="en-US" altLang="ja-JP" sz="1600" b="1" dirty="0">
                <a:solidFill>
                  <a:srgbClr val="002060"/>
                </a:solidFill>
                <a:latin typeface="Meiryo"/>
                <a:ea typeface="Meiryo"/>
                <a:cs typeface="Meiryo"/>
                <a:sym typeface="Meiryo"/>
              </a:rPr>
              <a:t>1</a:t>
            </a:r>
            <a:r>
              <a:rPr lang="ja-JP" altLang="en-US" sz="1600" b="1" dirty="0">
                <a:solidFill>
                  <a:srgbClr val="002060"/>
                </a:solidFill>
                <a:latin typeface="Meiryo"/>
                <a:ea typeface="Meiryo"/>
                <a:cs typeface="Meiryo"/>
                <a:sym typeface="Meiryo"/>
              </a:rPr>
              <a:t>アカウントあたり）</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6D3B98F3-4025-AFCB-8240-F44980ECB13F}"/>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869BC935-5DB9-4560-B356-B396B9360386}"/>
              </a:ext>
            </a:extLst>
          </p:cNvPr>
          <p:cNvSpPr/>
          <p:nvPr/>
        </p:nvSpPr>
        <p:spPr>
          <a:xfrm>
            <a:off x="261257"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初期</a:t>
            </a:r>
          </a:p>
        </p:txBody>
      </p:sp>
      <p:sp>
        <p:nvSpPr>
          <p:cNvPr id="7" name="正方形/長方形 6">
            <a:extLst>
              <a:ext uri="{FF2B5EF4-FFF2-40B4-BE49-F238E27FC236}">
                <a16:creationId xmlns:a16="http://schemas.microsoft.com/office/drawing/2014/main" id="{7880C836-A2BC-2FC7-3468-9B9075E279C9}"/>
              </a:ext>
            </a:extLst>
          </p:cNvPr>
          <p:cNvSpPr/>
          <p:nvPr/>
        </p:nvSpPr>
        <p:spPr>
          <a:xfrm>
            <a:off x="3337560"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月次</a:t>
            </a:r>
          </a:p>
        </p:txBody>
      </p:sp>
      <p:sp>
        <p:nvSpPr>
          <p:cNvPr id="8" name="正方形/長方形 7">
            <a:extLst>
              <a:ext uri="{FF2B5EF4-FFF2-40B4-BE49-F238E27FC236}">
                <a16:creationId xmlns:a16="http://schemas.microsoft.com/office/drawing/2014/main" id="{01B38E14-DD7E-D8D3-B41B-B992885905CB}"/>
              </a:ext>
            </a:extLst>
          </p:cNvPr>
          <p:cNvSpPr/>
          <p:nvPr/>
        </p:nvSpPr>
        <p:spPr>
          <a:xfrm>
            <a:off x="261257"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solidFill>
                <a:latin typeface="メイリオ" panose="020B0604030504040204" pitchFamily="50" charset="-128"/>
                <a:ea typeface="メイリオ" panose="020B0604030504040204" pitchFamily="50" charset="-128"/>
              </a:rPr>
              <a:t>¥120,000</a:t>
            </a:r>
            <a:endParaRPr kumimoji="1"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D37009A-88DD-861E-09A2-546B9A58E210}"/>
              </a:ext>
            </a:extLst>
          </p:cNvPr>
          <p:cNvSpPr/>
          <p:nvPr/>
        </p:nvSpPr>
        <p:spPr>
          <a:xfrm>
            <a:off x="3337560"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solidFill>
                  <a:schemeClr val="tx1"/>
                </a:solidFill>
                <a:latin typeface="メイリオ" panose="020B0604030504040204" pitchFamily="50" charset="-128"/>
                <a:ea typeface="メイリオ" panose="020B0604030504040204" pitchFamily="50" charset="-128"/>
              </a:rPr>
              <a:t>固定： </a:t>
            </a:r>
            <a:r>
              <a:rPr lang="en-US" altLang="ja-JP" sz="1400" dirty="0">
                <a:solidFill>
                  <a:schemeClr val="tx1"/>
                </a:solidFill>
                <a:latin typeface="メイリオ" panose="020B0604030504040204" pitchFamily="50" charset="-128"/>
                <a:ea typeface="メイリオ" panose="020B0604030504040204" pitchFamily="50" charset="-128"/>
              </a:rPr>
              <a:t>¥40,000</a:t>
            </a:r>
            <a:r>
              <a:rPr lang="en-US" altLang="ja-JP" sz="1000" dirty="0">
                <a:solidFill>
                  <a:schemeClr val="tx1"/>
                </a:solidFill>
                <a:latin typeface="メイリオ" panose="020B0604030504040204" pitchFamily="50" charset="-128"/>
                <a:ea typeface="メイリオ" panose="020B0604030504040204" pitchFamily="50" charset="-128"/>
              </a:rPr>
              <a:t>(</a:t>
            </a:r>
            <a:r>
              <a:rPr lang="ja-JP" altLang="en-US" sz="1000" dirty="0">
                <a:solidFill>
                  <a:schemeClr val="tx1"/>
                </a:solidFill>
                <a:latin typeface="メイリオ" panose="020B0604030504040204" pitchFamily="50" charset="-128"/>
                <a:ea typeface="メイリオ" panose="020B0604030504040204" pitchFamily="50" charset="-128"/>
              </a:rPr>
              <a:t>初動</a:t>
            </a:r>
            <a:r>
              <a:rPr lang="en-US" altLang="ja-JP" sz="1000" dirty="0">
                <a:solidFill>
                  <a:schemeClr val="tx1"/>
                </a:solidFill>
                <a:latin typeface="メイリオ" panose="020B0604030504040204" pitchFamily="50" charset="-128"/>
                <a:ea typeface="メイリオ" panose="020B0604030504040204" pitchFamily="50" charset="-128"/>
              </a:rPr>
              <a:t>3</a:t>
            </a:r>
            <a:r>
              <a:rPr lang="ja-JP" altLang="en-US" sz="1000" dirty="0">
                <a:solidFill>
                  <a:schemeClr val="tx1"/>
                </a:solidFill>
                <a:latin typeface="メイリオ" panose="020B0604030504040204" pitchFamily="50" charset="-128"/>
                <a:ea typeface="メイリオ" panose="020B0604030504040204" pitchFamily="50" charset="-128"/>
              </a:rPr>
              <a:t>か月は</a:t>
            </a:r>
            <a:r>
              <a:rPr lang="en-US" altLang="ja-JP" sz="1000" dirty="0">
                <a:solidFill>
                  <a:schemeClr val="tx1"/>
                </a:solidFill>
                <a:latin typeface="メイリオ" panose="020B0604030504040204" pitchFamily="50" charset="-128"/>
                <a:ea typeface="メイリオ" panose="020B0604030504040204" pitchFamily="50" charset="-128"/>
              </a:rPr>
              <a:t>\20,000)</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成果：単価 </a:t>
            </a:r>
            <a:r>
              <a:rPr lang="en-US" altLang="ja-JP" sz="1400" dirty="0">
                <a:solidFill>
                  <a:schemeClr val="tx1"/>
                </a:solidFill>
                <a:latin typeface="メイリオ" panose="020B0604030504040204" pitchFamily="50" charset="-128"/>
                <a:ea typeface="メイリオ" panose="020B0604030504040204" pitchFamily="50" charset="-128"/>
              </a:rPr>
              <a:t>¥2,000</a:t>
            </a:r>
            <a:endParaRPr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15" name="矢印: 右 14">
            <a:extLst>
              <a:ext uri="{FF2B5EF4-FFF2-40B4-BE49-F238E27FC236}">
                <a16:creationId xmlns:a16="http://schemas.microsoft.com/office/drawing/2014/main" id="{FC496752-169B-38CE-883D-84ADB306D799}"/>
              </a:ext>
            </a:extLst>
          </p:cNvPr>
          <p:cNvSpPr/>
          <p:nvPr/>
        </p:nvSpPr>
        <p:spPr>
          <a:xfrm>
            <a:off x="6379031" y="2281645"/>
            <a:ext cx="365760" cy="2795449"/>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DA148636-1253-1384-2015-E2EB8852C9FE}"/>
              </a:ext>
            </a:extLst>
          </p:cNvPr>
          <p:cNvSpPr/>
          <p:nvPr/>
        </p:nvSpPr>
        <p:spPr>
          <a:xfrm>
            <a:off x="6744791" y="1672044"/>
            <a:ext cx="2899952" cy="409303"/>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bg1"/>
                </a:solidFill>
                <a:latin typeface="メイリオ" panose="020B0604030504040204" pitchFamily="50" charset="-128"/>
                <a:ea typeface="メイリオ" panose="020B0604030504040204" pitchFamily="50" charset="-128"/>
              </a:rPr>
              <a:t>6</a:t>
            </a:r>
            <a:r>
              <a:rPr kumimoji="1" lang="ja-JP" altLang="en-US" sz="1200" dirty="0">
                <a:solidFill>
                  <a:schemeClr val="bg1"/>
                </a:solidFill>
                <a:latin typeface="メイリオ" panose="020B0604030504040204" pitchFamily="50" charset="-128"/>
                <a:ea typeface="メイリオ" panose="020B0604030504040204" pitchFamily="50" charset="-128"/>
              </a:rPr>
              <a:t>か月後</a:t>
            </a:r>
          </a:p>
        </p:txBody>
      </p:sp>
      <p:sp>
        <p:nvSpPr>
          <p:cNvPr id="19" name="テキスト ボックス 18">
            <a:extLst>
              <a:ext uri="{FF2B5EF4-FFF2-40B4-BE49-F238E27FC236}">
                <a16:creationId xmlns:a16="http://schemas.microsoft.com/office/drawing/2014/main" id="{51BCDCE3-E0DC-64C9-5AE4-D62A1BB2F0B2}"/>
              </a:ext>
            </a:extLst>
          </p:cNvPr>
          <p:cNvSpPr txBox="1"/>
          <p:nvPr/>
        </p:nvSpPr>
        <p:spPr>
          <a:xfrm>
            <a:off x="444137"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93377C5E-E0F0-CDD7-88D4-BB2DFD34BDB7}"/>
              </a:ext>
            </a:extLst>
          </p:cNvPr>
          <p:cNvSpPr txBox="1"/>
          <p:nvPr/>
        </p:nvSpPr>
        <p:spPr>
          <a:xfrm>
            <a:off x="3503024"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423E80D8-0677-EA4F-9E76-E96BE86C80F4}"/>
              </a:ext>
            </a:extLst>
          </p:cNvPr>
          <p:cNvSpPr/>
          <p:nvPr/>
        </p:nvSpPr>
        <p:spPr>
          <a:xfrm>
            <a:off x="3408319"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月次投稿</a:t>
            </a:r>
          </a:p>
        </p:txBody>
      </p:sp>
      <p:sp>
        <p:nvSpPr>
          <p:cNvPr id="29" name="正方形/長方形 28">
            <a:extLst>
              <a:ext uri="{FF2B5EF4-FFF2-40B4-BE49-F238E27FC236}">
                <a16:creationId xmlns:a16="http://schemas.microsoft.com/office/drawing/2014/main" id="{0D7C10C7-D0BA-2429-4E3C-3C9B1A0BD42B}"/>
              </a:ext>
            </a:extLst>
          </p:cNvPr>
          <p:cNvSpPr/>
          <p:nvPr/>
        </p:nvSpPr>
        <p:spPr>
          <a:xfrm>
            <a:off x="4657463"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2</a:t>
            </a:r>
            <a:r>
              <a:rPr lang="en-US" altLang="ja-JP" sz="1000" dirty="0">
                <a:solidFill>
                  <a:schemeClr val="tx1"/>
                </a:solidFill>
                <a:latin typeface="メイリオ" panose="020B0604030504040204" pitchFamily="50" charset="-128"/>
                <a:ea typeface="メイリオ" panose="020B0604030504040204" pitchFamily="50" charset="-128"/>
              </a:rPr>
              <a:t>-3</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33" name="正方形/長方形 32">
            <a:extLst>
              <a:ext uri="{FF2B5EF4-FFF2-40B4-BE49-F238E27FC236}">
                <a16:creationId xmlns:a16="http://schemas.microsoft.com/office/drawing/2014/main" id="{7C01E0B6-089E-D0CB-E2F1-931D297B273B}"/>
              </a:ext>
            </a:extLst>
          </p:cNvPr>
          <p:cNvSpPr/>
          <p:nvPr/>
        </p:nvSpPr>
        <p:spPr>
          <a:xfrm>
            <a:off x="3408319"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a:p>
            <a:pPr algn="ctr"/>
            <a:r>
              <a:rPr lang="ja-JP" altLang="en-US" sz="1100" dirty="0">
                <a:solidFill>
                  <a:schemeClr val="bg1"/>
                </a:solidFill>
                <a:latin typeface="メイリオ" panose="020B0604030504040204" pitchFamily="50" charset="-128"/>
                <a:ea typeface="メイリオ" panose="020B0604030504040204" pitchFamily="50" charset="-128"/>
              </a:rPr>
              <a:t>修正変更</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37" name="正方形/長方形 36">
            <a:extLst>
              <a:ext uri="{FF2B5EF4-FFF2-40B4-BE49-F238E27FC236}">
                <a16:creationId xmlns:a16="http://schemas.microsoft.com/office/drawing/2014/main" id="{8E28FD05-4146-E3E7-076F-F0405244D430}"/>
              </a:ext>
            </a:extLst>
          </p:cNvPr>
          <p:cNvSpPr/>
          <p:nvPr/>
        </p:nvSpPr>
        <p:spPr>
          <a:xfrm>
            <a:off x="4657463"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a:t>
            </a:r>
          </a:p>
        </p:txBody>
      </p:sp>
      <p:sp>
        <p:nvSpPr>
          <p:cNvPr id="41" name="正方形/長方形 40">
            <a:extLst>
              <a:ext uri="{FF2B5EF4-FFF2-40B4-BE49-F238E27FC236}">
                <a16:creationId xmlns:a16="http://schemas.microsoft.com/office/drawing/2014/main" id="{0BCA0670-1E25-A137-DE69-4285D1972C41}"/>
              </a:ext>
            </a:extLst>
          </p:cNvPr>
          <p:cNvSpPr/>
          <p:nvPr/>
        </p:nvSpPr>
        <p:spPr>
          <a:xfrm>
            <a:off x="3408319"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月次レポート</a:t>
            </a:r>
          </a:p>
        </p:txBody>
      </p:sp>
      <p:sp>
        <p:nvSpPr>
          <p:cNvPr id="46" name="正方形/長方形 45">
            <a:extLst>
              <a:ext uri="{FF2B5EF4-FFF2-40B4-BE49-F238E27FC236}">
                <a16:creationId xmlns:a16="http://schemas.microsoft.com/office/drawing/2014/main" id="{BABF4F76-4A93-A922-BEA6-2B8E93EAFA64}"/>
              </a:ext>
            </a:extLst>
          </p:cNvPr>
          <p:cNvSpPr/>
          <p:nvPr/>
        </p:nvSpPr>
        <p:spPr>
          <a:xfrm>
            <a:off x="4657463"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1</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50" name="正方形/長方形 49">
            <a:extLst>
              <a:ext uri="{FF2B5EF4-FFF2-40B4-BE49-F238E27FC236}">
                <a16:creationId xmlns:a16="http://schemas.microsoft.com/office/drawing/2014/main" id="{B9BBAE1C-A24C-C8BA-EC21-E3C3004B99D5}"/>
              </a:ext>
            </a:extLst>
          </p:cNvPr>
          <p:cNvSpPr/>
          <p:nvPr/>
        </p:nvSpPr>
        <p:spPr>
          <a:xfrm>
            <a:off x="3408319"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月次定例会</a:t>
            </a:r>
          </a:p>
        </p:txBody>
      </p:sp>
      <p:sp>
        <p:nvSpPr>
          <p:cNvPr id="54" name="正方形/長方形 53">
            <a:extLst>
              <a:ext uri="{FF2B5EF4-FFF2-40B4-BE49-F238E27FC236}">
                <a16:creationId xmlns:a16="http://schemas.microsoft.com/office/drawing/2014/main" id="{5356490D-00B0-A4A4-46A8-C05373647872}"/>
              </a:ext>
            </a:extLst>
          </p:cNvPr>
          <p:cNvSpPr/>
          <p:nvPr/>
        </p:nvSpPr>
        <p:spPr>
          <a:xfrm>
            <a:off x="4657463"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dirty="0">
                <a:solidFill>
                  <a:schemeClr val="tx1"/>
                </a:solidFill>
                <a:latin typeface="メイリオ" panose="020B0604030504040204" pitchFamily="50" charset="-128"/>
                <a:ea typeface="メイリオ" panose="020B0604030504040204" pitchFamily="50" charset="-128"/>
              </a:rPr>
              <a:t>※</a:t>
            </a:r>
            <a:r>
              <a:rPr lang="ja-JP" altLang="en-US" sz="1000" dirty="0">
                <a:solidFill>
                  <a:schemeClr val="tx1"/>
                </a:solidFill>
                <a:latin typeface="メイリオ" panose="020B0604030504040204" pitchFamily="50" charset="-128"/>
                <a:ea typeface="メイリオ" panose="020B0604030504040204" pitchFamily="50" charset="-128"/>
              </a:rPr>
              <a:t>固定プランのみ実施</a:t>
            </a:r>
          </a:p>
        </p:txBody>
      </p:sp>
      <p:sp>
        <p:nvSpPr>
          <p:cNvPr id="66" name="正方形/長方形 65">
            <a:extLst>
              <a:ext uri="{FF2B5EF4-FFF2-40B4-BE49-F238E27FC236}">
                <a16:creationId xmlns:a16="http://schemas.microsoft.com/office/drawing/2014/main" id="{1B7BC116-FC44-14F8-A570-7E8F4A6BB425}"/>
              </a:ext>
            </a:extLst>
          </p:cNvPr>
          <p:cNvSpPr/>
          <p:nvPr/>
        </p:nvSpPr>
        <p:spPr>
          <a:xfrm>
            <a:off x="3408319" y="5185247"/>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ステップ配信</a:t>
            </a:r>
          </a:p>
        </p:txBody>
      </p:sp>
      <p:sp>
        <p:nvSpPr>
          <p:cNvPr id="70" name="正方形/長方形 69">
            <a:extLst>
              <a:ext uri="{FF2B5EF4-FFF2-40B4-BE49-F238E27FC236}">
                <a16:creationId xmlns:a16="http://schemas.microsoft.com/office/drawing/2014/main" id="{4F35ECFF-76E2-1684-79A2-B91FDAC2A015}"/>
              </a:ext>
            </a:extLst>
          </p:cNvPr>
          <p:cNvSpPr/>
          <p:nvPr/>
        </p:nvSpPr>
        <p:spPr>
          <a:xfrm>
            <a:off x="4657463"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5-10</a:t>
            </a:r>
            <a:r>
              <a:rPr kumimoji="1" lang="ja-JP" altLang="en-US" sz="1000" dirty="0">
                <a:solidFill>
                  <a:schemeClr val="tx1"/>
                </a:solidFill>
                <a:latin typeface="メイリオ" panose="020B0604030504040204" pitchFamily="50" charset="-128"/>
                <a:ea typeface="メイリオ" panose="020B0604030504040204" pitchFamily="50" charset="-128"/>
              </a:rPr>
              <a:t>本程度</a:t>
            </a:r>
          </a:p>
        </p:txBody>
      </p:sp>
      <p:sp>
        <p:nvSpPr>
          <p:cNvPr id="80" name="正方形/長方形 79">
            <a:extLst>
              <a:ext uri="{FF2B5EF4-FFF2-40B4-BE49-F238E27FC236}">
                <a16:creationId xmlns:a16="http://schemas.microsoft.com/office/drawing/2014/main" id="{4D93C7A0-5D0C-D57D-DA97-71D42D2D5517}"/>
              </a:ext>
            </a:extLst>
          </p:cNvPr>
          <p:cNvSpPr/>
          <p:nvPr/>
        </p:nvSpPr>
        <p:spPr>
          <a:xfrm>
            <a:off x="6886308" y="2281645"/>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友だち数</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sp>
        <p:nvSpPr>
          <p:cNvPr id="82" name="正方形/長方形 81">
            <a:extLst>
              <a:ext uri="{FF2B5EF4-FFF2-40B4-BE49-F238E27FC236}">
                <a16:creationId xmlns:a16="http://schemas.microsoft.com/office/drawing/2014/main" id="{6F215F53-D8D8-2192-C7D6-49E3B32E635B}"/>
              </a:ext>
            </a:extLst>
          </p:cNvPr>
          <p:cNvSpPr/>
          <p:nvPr/>
        </p:nvSpPr>
        <p:spPr>
          <a:xfrm>
            <a:off x="6886308" y="2708282"/>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開封率</a:t>
            </a:r>
          </a:p>
        </p:txBody>
      </p:sp>
      <p:sp>
        <p:nvSpPr>
          <p:cNvPr id="84" name="正方形/長方形 83">
            <a:extLst>
              <a:ext uri="{FF2B5EF4-FFF2-40B4-BE49-F238E27FC236}">
                <a16:creationId xmlns:a16="http://schemas.microsoft.com/office/drawing/2014/main" id="{F86385E5-9ACB-BD7D-FFF1-9DCAFEF8B9DE}"/>
              </a:ext>
            </a:extLst>
          </p:cNvPr>
          <p:cNvSpPr/>
          <p:nvPr/>
        </p:nvSpPr>
        <p:spPr>
          <a:xfrm>
            <a:off x="6886308" y="3134919"/>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流入</a:t>
            </a:r>
          </a:p>
        </p:txBody>
      </p:sp>
      <p:sp>
        <p:nvSpPr>
          <p:cNvPr id="86" name="正方形/長方形 85">
            <a:extLst>
              <a:ext uri="{FF2B5EF4-FFF2-40B4-BE49-F238E27FC236}">
                <a16:creationId xmlns:a16="http://schemas.microsoft.com/office/drawing/2014/main" id="{38F3E569-103C-B3AD-15E9-E0BB6026E36F}"/>
              </a:ext>
            </a:extLst>
          </p:cNvPr>
          <p:cNvSpPr/>
          <p:nvPr/>
        </p:nvSpPr>
        <p:spPr>
          <a:xfrm>
            <a:off x="6886308" y="3561556"/>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CV</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pic>
        <p:nvPicPr>
          <p:cNvPr id="9" name="図 8">
            <a:extLst>
              <a:ext uri="{FF2B5EF4-FFF2-40B4-BE49-F238E27FC236}">
                <a16:creationId xmlns:a16="http://schemas.microsoft.com/office/drawing/2014/main" id="{302B5E53-DD1F-7344-CD05-98B03E0E16A4}"/>
              </a:ext>
            </a:extLst>
          </p:cNvPr>
          <p:cNvPicPr>
            <a:picLocks noChangeAspect="1"/>
          </p:cNvPicPr>
          <p:nvPr/>
        </p:nvPicPr>
        <p:blipFill>
          <a:blip r:embed="rId3"/>
          <a:stretch>
            <a:fillRect/>
          </a:stretch>
        </p:blipFill>
        <p:spPr>
          <a:xfrm>
            <a:off x="4313434" y="6065356"/>
            <a:ext cx="913375" cy="353208"/>
          </a:xfrm>
          <a:prstGeom prst="rect">
            <a:avLst/>
          </a:prstGeom>
        </p:spPr>
      </p:pic>
      <p:sp>
        <p:nvSpPr>
          <p:cNvPr id="12" name="正方形/長方形 11">
            <a:extLst>
              <a:ext uri="{FF2B5EF4-FFF2-40B4-BE49-F238E27FC236}">
                <a16:creationId xmlns:a16="http://schemas.microsoft.com/office/drawing/2014/main" id="{70CAF89E-948C-8174-50B7-652B3FB76359}"/>
              </a:ext>
            </a:extLst>
          </p:cNvPr>
          <p:cNvSpPr/>
          <p:nvPr/>
        </p:nvSpPr>
        <p:spPr>
          <a:xfrm>
            <a:off x="379976"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挨拶メッセ</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45597D5C-32BC-9BDB-E27E-1B11A18AC67F}"/>
              </a:ext>
            </a:extLst>
          </p:cNvPr>
          <p:cNvSpPr/>
          <p:nvPr/>
        </p:nvSpPr>
        <p:spPr>
          <a:xfrm>
            <a:off x="1629120"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2</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18" name="正方形/長方形 17">
            <a:extLst>
              <a:ext uri="{FF2B5EF4-FFF2-40B4-BE49-F238E27FC236}">
                <a16:creationId xmlns:a16="http://schemas.microsoft.com/office/drawing/2014/main" id="{090DF4E7-D151-CBC4-8EE6-8BDDE6D781F4}"/>
              </a:ext>
            </a:extLst>
          </p:cNvPr>
          <p:cNvSpPr/>
          <p:nvPr/>
        </p:nvSpPr>
        <p:spPr>
          <a:xfrm>
            <a:off x="379976"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BF367B4C-D17E-5506-831E-4FEBA9B6D301}"/>
              </a:ext>
            </a:extLst>
          </p:cNvPr>
          <p:cNvSpPr/>
          <p:nvPr/>
        </p:nvSpPr>
        <p:spPr>
          <a:xfrm>
            <a:off x="1629120"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E7327D35-78D9-E895-4E23-A03DB4CE4A0C}"/>
              </a:ext>
            </a:extLst>
          </p:cNvPr>
          <p:cNvSpPr/>
          <p:nvPr/>
        </p:nvSpPr>
        <p:spPr>
          <a:xfrm>
            <a:off x="379976"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a:t>
            </a:r>
          </a:p>
        </p:txBody>
      </p:sp>
      <p:sp>
        <p:nvSpPr>
          <p:cNvPr id="30" name="正方形/長方形 29">
            <a:extLst>
              <a:ext uri="{FF2B5EF4-FFF2-40B4-BE49-F238E27FC236}">
                <a16:creationId xmlns:a16="http://schemas.microsoft.com/office/drawing/2014/main" id="{A410D671-A6B2-5AE8-F4DD-54B5BBF27257}"/>
              </a:ext>
            </a:extLst>
          </p:cNvPr>
          <p:cNvSpPr/>
          <p:nvPr/>
        </p:nvSpPr>
        <p:spPr>
          <a:xfrm>
            <a:off x="1629120"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構築</a:t>
            </a:r>
            <a:r>
              <a:rPr kumimoji="1" lang="en-US" altLang="ja-JP" sz="1000" dirty="0">
                <a:solidFill>
                  <a:schemeClr val="tx1"/>
                </a:solidFill>
                <a:latin typeface="メイリオ" panose="020B0604030504040204" pitchFamily="50" charset="-128"/>
                <a:ea typeface="メイリオ" panose="020B0604030504040204" pitchFamily="50" charset="-128"/>
              </a:rPr>
              <a:t>×10</a:t>
            </a: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4" name="正方形/長方形 33">
            <a:extLst>
              <a:ext uri="{FF2B5EF4-FFF2-40B4-BE49-F238E27FC236}">
                <a16:creationId xmlns:a16="http://schemas.microsoft.com/office/drawing/2014/main" id="{9B0CC343-76BC-C31F-6705-9435FB623B52}"/>
              </a:ext>
            </a:extLst>
          </p:cNvPr>
          <p:cNvSpPr/>
          <p:nvPr/>
        </p:nvSpPr>
        <p:spPr>
          <a:xfrm>
            <a:off x="379976"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ツール契約</a:t>
            </a:r>
          </a:p>
        </p:txBody>
      </p:sp>
      <p:sp>
        <p:nvSpPr>
          <p:cNvPr id="38" name="正方形/長方形 37">
            <a:extLst>
              <a:ext uri="{FF2B5EF4-FFF2-40B4-BE49-F238E27FC236}">
                <a16:creationId xmlns:a16="http://schemas.microsoft.com/office/drawing/2014/main" id="{49ED896C-A686-A829-DAA8-B1457276C2D4}"/>
              </a:ext>
            </a:extLst>
          </p:cNvPr>
          <p:cNvSpPr/>
          <p:nvPr/>
        </p:nvSpPr>
        <p:spPr>
          <a:xfrm>
            <a:off x="1629120"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solidFill>
                <a:latin typeface="メイリオ" panose="020B0604030504040204" pitchFamily="50" charset="-128"/>
                <a:ea typeface="メイリオ" panose="020B0604030504040204" pitchFamily="50" charset="-128"/>
              </a:rPr>
              <a:t>代行</a:t>
            </a:r>
          </a:p>
        </p:txBody>
      </p:sp>
      <p:sp>
        <p:nvSpPr>
          <p:cNvPr id="42" name="正方形/長方形 41">
            <a:extLst>
              <a:ext uri="{FF2B5EF4-FFF2-40B4-BE49-F238E27FC236}">
                <a16:creationId xmlns:a16="http://schemas.microsoft.com/office/drawing/2014/main" id="{C65954D2-6D54-912C-BFAD-8EED93525578}"/>
              </a:ext>
            </a:extLst>
          </p:cNvPr>
          <p:cNvSpPr/>
          <p:nvPr/>
        </p:nvSpPr>
        <p:spPr>
          <a:xfrm>
            <a:off x="379976" y="5185247"/>
            <a:ext cx="1218110" cy="36115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連携</a:t>
            </a:r>
          </a:p>
        </p:txBody>
      </p:sp>
      <p:sp>
        <p:nvSpPr>
          <p:cNvPr id="47" name="正方形/長方形 46">
            <a:extLst>
              <a:ext uri="{FF2B5EF4-FFF2-40B4-BE49-F238E27FC236}">
                <a16:creationId xmlns:a16="http://schemas.microsoft.com/office/drawing/2014/main" id="{2038AF25-F542-6F19-F289-5B1A91D9EA78}"/>
              </a:ext>
            </a:extLst>
          </p:cNvPr>
          <p:cNvSpPr/>
          <p:nvPr/>
        </p:nvSpPr>
        <p:spPr>
          <a:xfrm>
            <a:off x="1629120"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別途開発</a:t>
            </a:r>
          </a:p>
        </p:txBody>
      </p:sp>
      <p:sp>
        <p:nvSpPr>
          <p:cNvPr id="11" name="テキスト ボックス 10">
            <a:extLst>
              <a:ext uri="{FF2B5EF4-FFF2-40B4-BE49-F238E27FC236}">
                <a16:creationId xmlns:a16="http://schemas.microsoft.com/office/drawing/2014/main" id="{2241A890-8CD9-48E8-BAC6-6130718F79E3}"/>
              </a:ext>
            </a:extLst>
          </p:cNvPr>
          <p:cNvSpPr txBox="1"/>
          <p:nvPr/>
        </p:nvSpPr>
        <p:spPr>
          <a:xfrm>
            <a:off x="8194767" y="2323720"/>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15,000</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CA402BB-70E0-1712-5155-FB13E1EFE697}"/>
              </a:ext>
            </a:extLst>
          </p:cNvPr>
          <p:cNvSpPr txBox="1"/>
          <p:nvPr/>
        </p:nvSpPr>
        <p:spPr>
          <a:xfrm>
            <a:off x="8194767" y="2750357"/>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81%</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3" name="テキスト ボックス 22">
            <a:extLst>
              <a:ext uri="{FF2B5EF4-FFF2-40B4-BE49-F238E27FC236}">
                <a16:creationId xmlns:a16="http://schemas.microsoft.com/office/drawing/2014/main" id="{F1C71F01-1D77-2899-A43D-B86BFA13E86D}"/>
              </a:ext>
            </a:extLst>
          </p:cNvPr>
          <p:cNvSpPr txBox="1"/>
          <p:nvPr/>
        </p:nvSpPr>
        <p:spPr>
          <a:xfrm>
            <a:off x="8175536" y="3152001"/>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3,700</a:t>
            </a:r>
            <a:r>
              <a:rPr lang="ja-JP" altLang="en-US" sz="1200" b="1" dirty="0">
                <a:solidFill>
                  <a:srgbClr val="FF0000"/>
                </a:solidFill>
                <a:latin typeface="メイリオ" panose="020B0604030504040204" pitchFamily="50" charset="-128"/>
                <a:ea typeface="メイリオ" panose="020B0604030504040204" pitchFamily="50" charset="-128"/>
              </a:rPr>
              <a:t>件</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8AD9CF0C-6AE4-2654-E1CB-1BB84E7C6E83}"/>
              </a:ext>
            </a:extLst>
          </p:cNvPr>
          <p:cNvSpPr txBox="1"/>
          <p:nvPr/>
        </p:nvSpPr>
        <p:spPr>
          <a:xfrm>
            <a:off x="8194767" y="3561556"/>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12 </a:t>
            </a:r>
            <a:r>
              <a:rPr lang="ja-JP" altLang="en-US" sz="1200" b="1" dirty="0">
                <a:solidFill>
                  <a:srgbClr val="FF0000"/>
                </a:solidFill>
                <a:latin typeface="メイリオ" panose="020B0604030504040204" pitchFamily="50" charset="-128"/>
                <a:ea typeface="メイリオ" panose="020B0604030504040204" pitchFamily="50" charset="-128"/>
              </a:rPr>
              <a:t>件</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62E19C90-7458-8C36-243E-9FE1F44520EC}"/>
              </a:ext>
            </a:extLst>
          </p:cNvPr>
          <p:cNvSpPr txBox="1"/>
          <p:nvPr/>
        </p:nvSpPr>
        <p:spPr>
          <a:xfrm>
            <a:off x="8130449" y="3866031"/>
            <a:ext cx="1414960" cy="276999"/>
          </a:xfrm>
          <a:prstGeom prst="rect">
            <a:avLst/>
          </a:prstGeom>
          <a:noFill/>
        </p:spPr>
        <p:txBody>
          <a:bodyPr wrap="square">
            <a:spAutoFit/>
          </a:bodyPr>
          <a:lstStyle/>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CVR</a:t>
            </a: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0.3%</a:t>
            </a:r>
            <a:r>
              <a:rPr lang="ja-JP" altLang="en-US" sz="1200" b="1" dirty="0">
                <a:latin typeface="メイリオ" panose="020B0604030504040204" pitchFamily="50" charset="-128"/>
                <a:ea typeface="メイリオ" panose="020B0604030504040204" pitchFamily="50" charset="-128"/>
              </a:rPr>
              <a:t>）</a:t>
            </a:r>
            <a:endParaRPr kumimoji="1" lang="ja-JP" altLang="en-US" sz="1200" b="1" dirty="0">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49DD51C1-FCAA-0EB3-1ED3-B50C2E0837D1}"/>
              </a:ext>
            </a:extLst>
          </p:cNvPr>
          <p:cNvSpPr/>
          <p:nvPr/>
        </p:nvSpPr>
        <p:spPr>
          <a:xfrm>
            <a:off x="3408319" y="5611884"/>
            <a:ext cx="1218110" cy="36115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連携</a:t>
            </a:r>
          </a:p>
        </p:txBody>
      </p:sp>
      <p:sp>
        <p:nvSpPr>
          <p:cNvPr id="36" name="正方形/長方形 35">
            <a:extLst>
              <a:ext uri="{FF2B5EF4-FFF2-40B4-BE49-F238E27FC236}">
                <a16:creationId xmlns:a16="http://schemas.microsoft.com/office/drawing/2014/main" id="{4742D744-393C-4F54-8842-2CCE1D93DD52}"/>
              </a:ext>
            </a:extLst>
          </p:cNvPr>
          <p:cNvSpPr/>
          <p:nvPr/>
        </p:nvSpPr>
        <p:spPr>
          <a:xfrm>
            <a:off x="4657463" y="5611884"/>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別途開発</a:t>
            </a:r>
          </a:p>
        </p:txBody>
      </p:sp>
      <p:sp>
        <p:nvSpPr>
          <p:cNvPr id="40" name="テキスト ボックス 39">
            <a:extLst>
              <a:ext uri="{FF2B5EF4-FFF2-40B4-BE49-F238E27FC236}">
                <a16:creationId xmlns:a16="http://schemas.microsoft.com/office/drawing/2014/main" id="{2DBFEFD9-CD0A-A87E-2081-34DABD09C9F5}"/>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導入期間の長期化に伴い、カバー範囲を広げながら</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新規獲得</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質改善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リピート率改善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など新規・既存の両面から最適な施策をご提供することが可能です。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26585262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Meiryo"/>
                <a:ea typeface="Meiryo"/>
                <a:cs typeface="Meiryo"/>
                <a:sym typeface="Meiryo"/>
              </a:rPr>
              <a:t>LINE</a:t>
            </a:r>
            <a:r>
              <a:rPr lang="ja-JP" altLang="en-US" sz="1600" b="1" dirty="0">
                <a:solidFill>
                  <a:schemeClr val="tx1">
                    <a:lumMod val="50000"/>
                    <a:lumOff val="50000"/>
                  </a:schemeClr>
                </a:solidFill>
                <a:latin typeface="Meiryo"/>
                <a:ea typeface="Meiryo"/>
                <a:cs typeface="Meiryo"/>
                <a:sym typeface="Meiryo"/>
              </a:rPr>
              <a:t>施策における重要な考え方</a:t>
            </a:r>
            <a:endParaRPr lang="en-US" altLang="ja-JP" sz="1600" b="1" dirty="0">
              <a:solidFill>
                <a:schemeClr val="tx1">
                  <a:lumMod val="50000"/>
                  <a:lumOff val="50000"/>
                </a:schemeClr>
              </a:solidFill>
              <a:latin typeface="Meiryo"/>
              <a:ea typeface="Meiryo"/>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32122905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9A82F-6F2C-17B3-F79B-7B5B5CE96861}"/>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CFE6082-7D98-8143-1FF3-237252E680EE}"/>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954AB23-5BD2-D3D6-314F-6A94411406D6}"/>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724011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82CB4-E2E4-29F5-FA9B-848F31DADC7C}"/>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実施施策【忍者ナイン】</a:t>
            </a:r>
            <a:endParaRPr sz="1600" b="1" dirty="0">
              <a:solidFill>
                <a:srgbClr val="002060"/>
              </a:solidFill>
              <a:latin typeface="Meiryo"/>
              <a:ea typeface="Meiryo"/>
              <a:cs typeface="Meiryo"/>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6900" y="695160"/>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100" b="0" i="0" u="none" strike="noStrike" kern="1200" cap="none" spc="-1" normalizeH="0" baseline="0" noProof="0">
                <a:ln>
                  <a:noFill/>
                </a:ln>
                <a:solidFill>
                  <a:srgbClr val="333333"/>
                </a:solidFill>
                <a:effectLst/>
                <a:uLnTx/>
                <a:uFillTx/>
                <a:latin typeface="Meiryo" panose="020B0604030504040204" pitchFamily="50" charset="-128"/>
                <a:ea typeface="メイリオ" panose="020B0604030504040204" pitchFamily="50" charset="-128"/>
                <a:cs typeface="Meiryo"/>
              </a:rPr>
              <a:t>友だち追加後14日間で、診断結果をもとに内容を出し分けながら体験予約への案内を行う（未予約者には再アプローチ、体験予約完了者は別シナリオへ分岐）</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graphicFrame>
        <p:nvGraphicFramePr>
          <p:cNvPr id="46" name="Table 45"/>
          <p:cNvGraphicFramePr>
            <a:graphicFrameLocks noGrp="1"/>
          </p:cNvGraphicFramePr>
          <p:nvPr/>
        </p:nvGraphicFramePr>
        <p:xfrm>
          <a:off x="429768" y="1234440"/>
          <a:ext cx="9052559" cy="3703320"/>
        </p:xfrm>
        <a:graphic>
          <a:graphicData uri="http://schemas.openxmlformats.org/drawingml/2006/table">
            <a:tbl>
              <a:tblPr firstRow="1" bandRow="1">
                <a:tableStyleId>{5C22544A-7EE6-4342-B048-85BDC9FD1C3A}</a:tableStyleId>
              </a:tblPr>
              <a:tblGrid>
                <a:gridCol w="1086307">
                  <a:extLst>
                    <a:ext uri="{9D8B030D-6E8A-4147-A177-3AD203B41FA5}">
                      <a16:colId xmlns:a16="http://schemas.microsoft.com/office/drawing/2014/main" val="20000"/>
                    </a:ext>
                  </a:extLst>
                </a:gridCol>
                <a:gridCol w="1810512">
                  <a:extLst>
                    <a:ext uri="{9D8B030D-6E8A-4147-A177-3AD203B41FA5}">
                      <a16:colId xmlns:a16="http://schemas.microsoft.com/office/drawing/2014/main" val="20001"/>
                    </a:ext>
                  </a:extLst>
                </a:gridCol>
                <a:gridCol w="6155740">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Day</a:t>
                      </a:r>
                    </a:p>
                  </a:txBody>
                  <a:tcPr>
                    <a:solidFill>
                      <a:srgbClr val="1F2A5C"/>
                    </a:solidFill>
                  </a:tcPr>
                </a:tc>
                <a:tc>
                  <a:txBody>
                    <a:bodyPr/>
                    <a:lstStyle/>
                    <a:p>
                      <a:r>
                        <a:rPr sz="1100" b="1">
                          <a:solidFill>
                            <a:srgbClr val="FFFFFF"/>
                          </a:solidFill>
                          <a:latin typeface="Meiryo"/>
                          <a:ea typeface="メイリオ"/>
                          <a:cs typeface="Meiryo"/>
                        </a:rPr>
                        <a:t>対象</a:t>
                      </a:r>
                    </a:p>
                  </a:txBody>
                  <a:tcPr>
                    <a:solidFill>
                      <a:srgbClr val="1F2A5C"/>
                    </a:solidFill>
                  </a:tcPr>
                </a:tc>
                <a:tc>
                  <a:txBody>
                    <a:bodyPr/>
                    <a:lstStyle/>
                    <a:p>
                      <a:r>
                        <a:rPr sz="1100" b="1">
                          <a:solidFill>
                            <a:srgbClr val="FFFFFF"/>
                          </a:solidFill>
                          <a:latin typeface="Meiryo"/>
                          <a:ea typeface="メイリオ"/>
                          <a:cs typeface="Meiryo"/>
                        </a:rPr>
                        <a:t>配信内容</a:t>
                      </a:r>
                    </a:p>
                  </a:txBody>
                  <a:tcPr>
                    <a:solidFill>
                      <a:srgbClr val="1F2A5C"/>
                    </a:solidFill>
                  </a:tcPr>
                </a:tc>
                <a:extLst>
                  <a:ext uri="{0D108BD9-81ED-4DB2-BD59-A6C34878D82A}">
                    <a16:rowId xmlns:a16="http://schemas.microsoft.com/office/drawing/2014/main" val="10000"/>
                  </a:ext>
                </a:extLst>
              </a:tr>
              <a:tr h="411480">
                <a:tc>
                  <a:txBody>
                    <a:bodyPr/>
                    <a:lstStyle/>
                    <a:p>
                      <a:r>
                        <a:rPr sz="1050" b="0">
                          <a:solidFill>
                            <a:srgbClr val="333333"/>
                          </a:solidFill>
                          <a:latin typeface="Meiryo"/>
                          <a:ea typeface="メイリオ"/>
                          <a:cs typeface="Meiryo"/>
                        </a:rPr>
                        <a:t>0日後</a:t>
                      </a:r>
                    </a:p>
                  </a:txBody>
                  <a:tcPr>
                    <a:solidFill>
                      <a:srgbClr val="FFFFFF"/>
                    </a:solidFill>
                  </a:tcPr>
                </a:tc>
                <a:tc>
                  <a:txBody>
                    <a:bodyPr/>
                    <a:lstStyle/>
                    <a:p>
                      <a:r>
                        <a:rPr sz="1050" b="0">
                          <a:solidFill>
                            <a:srgbClr val="333333"/>
                          </a:solidFill>
                          <a:latin typeface="Meiryo"/>
                          <a:ea typeface="メイリオ"/>
                          <a:cs typeface="Meiryo"/>
                        </a:rPr>
                        <a:t>全員</a:t>
                      </a:r>
                    </a:p>
                  </a:txBody>
                  <a:tcPr>
                    <a:solidFill>
                      <a:srgbClr val="FFFFFF"/>
                    </a:solidFill>
                  </a:tcPr>
                </a:tc>
                <a:tc>
                  <a:txBody>
                    <a:bodyPr/>
                    <a:lstStyle/>
                    <a:p>
                      <a:r>
                        <a:rPr sz="1050" b="0">
                          <a:solidFill>
                            <a:srgbClr val="333333"/>
                          </a:solidFill>
                          <a:latin typeface="Meiryo"/>
                          <a:ea typeface="メイリオ"/>
                          <a:cs typeface="Meiryo"/>
                        </a:rPr>
                        <a:t>あいさつ＋30秒スポーツ適性診断への案内</a:t>
                      </a:r>
                    </a:p>
                  </a:txBody>
                  <a:tcPr>
                    <a:solidFill>
                      <a:srgbClr val="FFFFFF"/>
                    </a:solidFill>
                  </a:tcPr>
                </a:tc>
                <a:extLst>
                  <a:ext uri="{0D108BD9-81ED-4DB2-BD59-A6C34878D82A}">
                    <a16:rowId xmlns:a16="http://schemas.microsoft.com/office/drawing/2014/main" val="10001"/>
                  </a:ext>
                </a:extLst>
              </a:tr>
              <a:tr h="411480">
                <a:tc>
                  <a:txBody>
                    <a:bodyPr/>
                    <a:lstStyle/>
                    <a:p>
                      <a:r>
                        <a:rPr sz="1050" b="0">
                          <a:solidFill>
                            <a:srgbClr val="333333"/>
                          </a:solidFill>
                          <a:latin typeface="Meiryo"/>
                          <a:ea typeface="メイリオ"/>
                          <a:cs typeface="Meiryo"/>
                        </a:rPr>
                        <a:t>1日後</a:t>
                      </a:r>
                    </a:p>
                  </a:txBody>
                  <a:tcPr>
                    <a:solidFill>
                      <a:srgbClr val="FFFFFF"/>
                    </a:solidFill>
                  </a:tcPr>
                </a:tc>
                <a:tc>
                  <a:txBody>
                    <a:bodyPr/>
                    <a:lstStyle/>
                    <a:p>
                      <a:r>
                        <a:rPr sz="1050" b="0">
                          <a:solidFill>
                            <a:srgbClr val="333333"/>
                          </a:solidFill>
                          <a:latin typeface="Meiryo"/>
                          <a:ea typeface="メイリオ"/>
                          <a:cs typeface="Meiryo"/>
                        </a:rPr>
                        <a:t>診断未回答者</a:t>
                      </a:r>
                    </a:p>
                  </a:txBody>
                  <a:tcPr>
                    <a:solidFill>
                      <a:srgbClr val="FFFFFF"/>
                    </a:solidFill>
                  </a:tcPr>
                </a:tc>
                <a:tc>
                  <a:txBody>
                    <a:bodyPr/>
                    <a:lstStyle/>
                    <a:p>
                      <a:r>
                        <a:rPr sz="1050" b="0">
                          <a:solidFill>
                            <a:srgbClr val="333333"/>
                          </a:solidFill>
                          <a:latin typeface="Meiryo"/>
                          <a:ea typeface="メイリオ"/>
                          <a:cs typeface="Meiryo"/>
                        </a:rPr>
                        <a:t>診断リマインド</a:t>
                      </a:r>
                    </a:p>
                  </a:txBody>
                  <a:tcPr>
                    <a:solidFill>
                      <a:srgbClr val="FFFFFF"/>
                    </a:solidFill>
                  </a:tcPr>
                </a:tc>
                <a:extLst>
                  <a:ext uri="{0D108BD9-81ED-4DB2-BD59-A6C34878D82A}">
                    <a16:rowId xmlns:a16="http://schemas.microsoft.com/office/drawing/2014/main" val="10002"/>
                  </a:ext>
                </a:extLst>
              </a:tr>
              <a:tr h="411480">
                <a:tc>
                  <a:txBody>
                    <a:bodyPr/>
                    <a:lstStyle/>
                    <a:p>
                      <a:r>
                        <a:rPr sz="1050" b="0">
                          <a:solidFill>
                            <a:srgbClr val="333333"/>
                          </a:solidFill>
                          <a:latin typeface="Meiryo"/>
                          <a:ea typeface="メイリオ"/>
                          <a:cs typeface="Meiryo"/>
                        </a:rPr>
                        <a:t>2日後</a:t>
                      </a:r>
                    </a:p>
                  </a:txBody>
                  <a:tcPr>
                    <a:solidFill>
                      <a:srgbClr val="FFFFFF"/>
                    </a:solidFill>
                  </a:tcPr>
                </a:tc>
                <a:tc>
                  <a:txBody>
                    <a:bodyPr/>
                    <a:lstStyle/>
                    <a:p>
                      <a:r>
                        <a:rPr sz="1050" b="0">
                          <a:solidFill>
                            <a:srgbClr val="333333"/>
                          </a:solidFill>
                          <a:latin typeface="Meiryo"/>
                          <a:ea typeface="メイリオ"/>
                          <a:cs typeface="Meiryo"/>
                        </a:rPr>
                        <a:t>診断回答者</a:t>
                      </a:r>
                    </a:p>
                  </a:txBody>
                  <a:tcPr>
                    <a:solidFill>
                      <a:srgbClr val="FFFFFF"/>
                    </a:solidFill>
                  </a:tcPr>
                </a:tc>
                <a:tc>
                  <a:txBody>
                    <a:bodyPr/>
                    <a:lstStyle/>
                    <a:p>
                      <a:r>
                        <a:rPr sz="1050" b="0">
                          <a:solidFill>
                            <a:srgbClr val="333333"/>
                          </a:solidFill>
                          <a:latin typeface="Meiryo"/>
                          <a:ea typeface="メイリオ"/>
                          <a:cs typeface="Meiryo"/>
                        </a:rPr>
                        <a:t>診断結果配信＋タイプ別おすすめ種目紹介</a:t>
                      </a:r>
                    </a:p>
                  </a:txBody>
                  <a:tcPr>
                    <a:solidFill>
                      <a:srgbClr val="FFFFFF"/>
                    </a:solidFill>
                  </a:tcPr>
                </a:tc>
                <a:extLst>
                  <a:ext uri="{0D108BD9-81ED-4DB2-BD59-A6C34878D82A}">
                    <a16:rowId xmlns:a16="http://schemas.microsoft.com/office/drawing/2014/main" val="10003"/>
                  </a:ext>
                </a:extLst>
              </a:tr>
              <a:tr h="411480">
                <a:tc>
                  <a:txBody>
                    <a:bodyPr/>
                    <a:lstStyle/>
                    <a:p>
                      <a:r>
                        <a:rPr sz="1050" b="0">
                          <a:solidFill>
                            <a:srgbClr val="333333"/>
                          </a:solidFill>
                          <a:latin typeface="Meiryo"/>
                          <a:ea typeface="メイリオ"/>
                          <a:cs typeface="Meiryo"/>
                        </a:rPr>
                        <a:t>4日後</a:t>
                      </a:r>
                    </a:p>
                  </a:txBody>
                  <a:tcPr>
                    <a:solidFill>
                      <a:srgbClr val="FFFFFF"/>
                    </a:solidFill>
                  </a:tcPr>
                </a:tc>
                <a:tc>
                  <a:txBody>
                    <a:bodyPr/>
                    <a:lstStyle/>
                    <a:p>
                      <a:r>
                        <a:rPr sz="1050" b="0">
                          <a:solidFill>
                            <a:srgbClr val="333333"/>
                          </a:solidFill>
                          <a:latin typeface="Meiryo"/>
                          <a:ea typeface="メイリオ"/>
                          <a:cs typeface="Meiryo"/>
                        </a:rPr>
                        <a:t>同上</a:t>
                      </a:r>
                    </a:p>
                  </a:txBody>
                  <a:tcPr>
                    <a:solidFill>
                      <a:srgbClr val="FFFFFF"/>
                    </a:solidFill>
                  </a:tcPr>
                </a:tc>
                <a:tc>
                  <a:txBody>
                    <a:bodyPr/>
                    <a:lstStyle/>
                    <a:p>
                      <a:r>
                        <a:rPr sz="1050" b="0">
                          <a:solidFill>
                            <a:srgbClr val="333333"/>
                          </a:solidFill>
                          <a:latin typeface="Meiryo"/>
                          <a:ea typeface="メイリオ"/>
                          <a:cs typeface="Meiryo"/>
                        </a:rPr>
                        <a:t>同タイプの在籍生の声・成長エピソード</a:t>
                      </a:r>
                    </a:p>
                  </a:txBody>
                  <a:tcPr>
                    <a:solidFill>
                      <a:srgbClr val="FFFFFF"/>
                    </a:solidFill>
                  </a:tcPr>
                </a:tc>
                <a:extLst>
                  <a:ext uri="{0D108BD9-81ED-4DB2-BD59-A6C34878D82A}">
                    <a16:rowId xmlns:a16="http://schemas.microsoft.com/office/drawing/2014/main" val="10004"/>
                  </a:ext>
                </a:extLst>
              </a:tr>
              <a:tr h="411480">
                <a:tc>
                  <a:txBody>
                    <a:bodyPr/>
                    <a:lstStyle/>
                    <a:p>
                      <a:r>
                        <a:rPr sz="1050" b="0">
                          <a:solidFill>
                            <a:srgbClr val="333333"/>
                          </a:solidFill>
                          <a:latin typeface="Meiryo"/>
                          <a:ea typeface="メイリオ"/>
                          <a:cs typeface="Meiryo"/>
                        </a:rPr>
                        <a:t>6日後</a:t>
                      </a:r>
                    </a:p>
                  </a:txBody>
                  <a:tcPr>
                    <a:solidFill>
                      <a:srgbClr val="FFFFFF"/>
                    </a:solidFill>
                  </a:tcPr>
                </a:tc>
                <a:tc>
                  <a:txBody>
                    <a:bodyPr/>
                    <a:lstStyle/>
                    <a:p>
                      <a:r>
                        <a:rPr sz="1050" b="0">
                          <a:solidFill>
                            <a:srgbClr val="333333"/>
                          </a:solidFill>
                          <a:latin typeface="Meiryo"/>
                          <a:ea typeface="メイリオ"/>
                          <a:cs typeface="Meiryo"/>
                        </a:rPr>
                        <a:t>同上</a:t>
                      </a:r>
                    </a:p>
                  </a:txBody>
                  <a:tcPr>
                    <a:solidFill>
                      <a:srgbClr val="FFFFFF"/>
                    </a:solidFill>
                  </a:tcPr>
                </a:tc>
                <a:tc>
                  <a:txBody>
                    <a:bodyPr/>
                    <a:lstStyle/>
                    <a:p>
                      <a:r>
                        <a:rPr sz="1050" b="0">
                          <a:solidFill>
                            <a:srgbClr val="333333"/>
                          </a:solidFill>
                          <a:latin typeface="Meiryo"/>
                          <a:ea typeface="メイリオ"/>
                          <a:cs typeface="Meiryo"/>
                        </a:rPr>
                        <a:t>体験予約への案内</a:t>
                      </a:r>
                    </a:p>
                  </a:txBody>
                  <a:tcPr>
                    <a:solidFill>
                      <a:srgbClr val="FFFFFF"/>
                    </a:solidFill>
                  </a:tcPr>
                </a:tc>
                <a:extLst>
                  <a:ext uri="{0D108BD9-81ED-4DB2-BD59-A6C34878D82A}">
                    <a16:rowId xmlns:a16="http://schemas.microsoft.com/office/drawing/2014/main" val="10005"/>
                  </a:ext>
                </a:extLst>
              </a:tr>
              <a:tr h="411480">
                <a:tc>
                  <a:txBody>
                    <a:bodyPr/>
                    <a:lstStyle/>
                    <a:p>
                      <a:r>
                        <a:rPr sz="1050" b="0">
                          <a:solidFill>
                            <a:srgbClr val="333333"/>
                          </a:solidFill>
                          <a:latin typeface="Meiryo"/>
                          <a:ea typeface="メイリオ"/>
                          <a:cs typeface="Meiryo"/>
                        </a:rPr>
                        <a:t>9日後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「非認知能力」訴求コンテンツ</a:t>
                      </a:r>
                    </a:p>
                  </a:txBody>
                  <a:tcPr>
                    <a:solidFill>
                      <a:srgbClr val="FFFFFF"/>
                    </a:solidFill>
                  </a:tcPr>
                </a:tc>
                <a:extLst>
                  <a:ext uri="{0D108BD9-81ED-4DB2-BD59-A6C34878D82A}">
                    <a16:rowId xmlns:a16="http://schemas.microsoft.com/office/drawing/2014/main" val="10006"/>
                  </a:ext>
                </a:extLst>
              </a:tr>
              <a:tr h="411480">
                <a:tc>
                  <a:txBody>
                    <a:bodyPr/>
                    <a:lstStyle/>
                    <a:p>
                      <a:r>
                        <a:rPr sz="1050" b="0">
                          <a:solidFill>
                            <a:srgbClr val="333333"/>
                          </a:solidFill>
                          <a:latin typeface="Meiryo"/>
                          <a:ea typeface="メイリオ"/>
                          <a:cs typeface="Meiryo"/>
                        </a:rPr>
                        <a:t>12日後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保護者の疑問Q&amp;A（月謝・送迎・振替等）</a:t>
                      </a:r>
                    </a:p>
                  </a:txBody>
                  <a:tcPr>
                    <a:solidFill>
                      <a:srgbClr val="FFFFFF"/>
                    </a:solidFill>
                  </a:tcPr>
                </a:tc>
                <a:extLst>
                  <a:ext uri="{0D108BD9-81ED-4DB2-BD59-A6C34878D82A}">
                    <a16:rowId xmlns:a16="http://schemas.microsoft.com/office/drawing/2014/main" val="10007"/>
                  </a:ext>
                </a:extLst>
              </a:tr>
              <a:tr h="411480">
                <a:tc>
                  <a:txBody>
                    <a:bodyPr/>
                    <a:lstStyle/>
                    <a:p>
                      <a:r>
                        <a:rPr sz="1050" b="0">
                          <a:solidFill>
                            <a:srgbClr val="333333"/>
                          </a:solidFill>
                          <a:latin typeface="Meiryo"/>
                          <a:ea typeface="メイリオ"/>
                          <a:cs typeface="Meiryo"/>
                        </a:rPr>
                        <a:t>14日後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体験予約の最終案内</a:t>
                      </a:r>
                    </a:p>
                  </a:txBody>
                  <a:tcPr>
                    <a:solidFill>
                      <a:srgbClr val="FFFFFF"/>
                    </a:solidFill>
                  </a:tcPr>
                </a:tc>
                <a:extLst>
                  <a:ext uri="{0D108BD9-81ED-4DB2-BD59-A6C34878D82A}">
                    <a16:rowId xmlns:a16="http://schemas.microsoft.com/office/drawing/2014/main" val="10008"/>
                  </a:ext>
                </a:extLst>
              </a:tr>
            </a:tbl>
          </a:graphicData>
        </a:graphic>
      </p:graphicFrame>
      <p:sp>
        <p:nvSpPr>
          <p:cNvPr id="47" name="TextBox 46"/>
          <p:cNvSpPr txBox="1"/>
          <p:nvPr/>
        </p:nvSpPr>
        <p:spPr>
          <a:xfrm>
            <a:off x="429768" y="5166360"/>
            <a:ext cx="9052560" cy="548640"/>
          </a:xfrm>
          <a:prstGeom prst="rect">
            <a:avLst/>
          </a:prstGeom>
          <a:noFill/>
        </p:spPr>
        <p:txBody>
          <a:bodyPr wrap="square">
            <a:spAutoFit/>
          </a:bodyPr>
          <a:lstStyle/>
          <a:p>
            <a:r>
              <a:rPr sz="1300" b="1">
                <a:solidFill>
                  <a:srgbClr val="BF4E0E"/>
                </a:solidFill>
                <a:latin typeface="Meiryo"/>
                <a:ea typeface="メイリオ"/>
                <a:cs typeface="Meiryo"/>
              </a:rPr>
              <a:t>体験予約44件（6ヶ月累計）× 入会引き上げ率40% ＝ 入会17件として算出</a:t>
            </a:r>
          </a:p>
        </p:txBody>
      </p:sp>
      <p:sp>
        <p:nvSpPr>
          <p:cNvPr id="48" name="TextBox 47"/>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出典：Googleトレンド「習い事」／前後検索KW「習い事」／競合調査(biima sports)／入会引き上げ率40%＝キッズスポーツ系の実務相場40〜60%を保守採用</a:t>
            </a:r>
          </a:p>
        </p:txBody>
      </p:sp>
    </p:spTree>
    <p:extLst>
      <p:ext uri="{BB962C8B-B14F-4D97-AF65-F5344CB8AC3E}">
        <p14:creationId xmlns:p14="http://schemas.microsoft.com/office/powerpoint/2010/main" val="14519451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実施施策【チャイルドアイズ】</a:t>
            </a:r>
            <a:endParaRPr sz="1600" b="1" dirty="0">
              <a:solidFill>
                <a:srgbClr val="002060"/>
              </a:solidFill>
              <a:latin typeface="Meiryo"/>
              <a:ea typeface="Meiryo"/>
              <a:cs typeface="Meiryo"/>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6900" y="695160"/>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100" b="0" i="0" u="none" strike="noStrike" kern="1200" cap="none" spc="-1" normalizeH="0" baseline="0" noProof="0">
                <a:ln>
                  <a:noFill/>
                </a:ln>
                <a:solidFill>
                  <a:srgbClr val="333333"/>
                </a:solidFill>
                <a:effectLst/>
                <a:uLnTx/>
                <a:uFillTx/>
                <a:latin typeface="Meiryo" panose="020B0604030504040204" pitchFamily="50" charset="-128"/>
                <a:ea typeface="メイリオ" panose="020B0604030504040204" pitchFamily="50" charset="-128"/>
                <a:cs typeface="Meiryo"/>
              </a:rPr>
              <a:t>友だち追加後14日間で、診断結果をもとに内容を出し分けながら体験予約への案内を行う（未予約者には再アプローチ、体験予約完了者は別シナリオへ分岐）</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graphicFrame>
        <p:nvGraphicFramePr>
          <p:cNvPr id="46" name="Table 45"/>
          <p:cNvGraphicFramePr>
            <a:graphicFrameLocks noGrp="1"/>
          </p:cNvGraphicFramePr>
          <p:nvPr/>
        </p:nvGraphicFramePr>
        <p:xfrm>
          <a:off x="429768" y="1234440"/>
          <a:ext cx="9052559" cy="3703320"/>
        </p:xfrm>
        <a:graphic>
          <a:graphicData uri="http://schemas.openxmlformats.org/drawingml/2006/table">
            <a:tbl>
              <a:tblPr firstRow="1" bandRow="1">
                <a:tableStyleId>{5C22544A-7EE6-4342-B048-85BDC9FD1C3A}</a:tableStyleId>
              </a:tblPr>
              <a:tblGrid>
                <a:gridCol w="1086307">
                  <a:extLst>
                    <a:ext uri="{9D8B030D-6E8A-4147-A177-3AD203B41FA5}">
                      <a16:colId xmlns:a16="http://schemas.microsoft.com/office/drawing/2014/main" val="20000"/>
                    </a:ext>
                  </a:extLst>
                </a:gridCol>
                <a:gridCol w="1810512">
                  <a:extLst>
                    <a:ext uri="{9D8B030D-6E8A-4147-A177-3AD203B41FA5}">
                      <a16:colId xmlns:a16="http://schemas.microsoft.com/office/drawing/2014/main" val="20001"/>
                    </a:ext>
                  </a:extLst>
                </a:gridCol>
                <a:gridCol w="6155740">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Day</a:t>
                      </a:r>
                    </a:p>
                  </a:txBody>
                  <a:tcPr>
                    <a:solidFill>
                      <a:srgbClr val="1F2A5C"/>
                    </a:solidFill>
                  </a:tcPr>
                </a:tc>
                <a:tc>
                  <a:txBody>
                    <a:bodyPr/>
                    <a:lstStyle/>
                    <a:p>
                      <a:r>
                        <a:rPr sz="1100" b="1">
                          <a:solidFill>
                            <a:srgbClr val="FFFFFF"/>
                          </a:solidFill>
                          <a:latin typeface="Meiryo"/>
                          <a:ea typeface="メイリオ"/>
                          <a:cs typeface="Meiryo"/>
                        </a:rPr>
                        <a:t>対象</a:t>
                      </a:r>
                    </a:p>
                  </a:txBody>
                  <a:tcPr>
                    <a:solidFill>
                      <a:srgbClr val="1F2A5C"/>
                    </a:solidFill>
                  </a:tcPr>
                </a:tc>
                <a:tc>
                  <a:txBody>
                    <a:bodyPr/>
                    <a:lstStyle/>
                    <a:p>
                      <a:r>
                        <a:rPr sz="1100" b="1">
                          <a:solidFill>
                            <a:srgbClr val="FFFFFF"/>
                          </a:solidFill>
                          <a:latin typeface="Meiryo"/>
                          <a:ea typeface="メイリオ"/>
                          <a:cs typeface="Meiryo"/>
                        </a:rPr>
                        <a:t>配信内容</a:t>
                      </a:r>
                    </a:p>
                  </a:txBody>
                  <a:tcPr>
                    <a:solidFill>
                      <a:srgbClr val="1F2A5C"/>
                    </a:solidFill>
                  </a:tcPr>
                </a:tc>
                <a:extLst>
                  <a:ext uri="{0D108BD9-81ED-4DB2-BD59-A6C34878D82A}">
                    <a16:rowId xmlns:a16="http://schemas.microsoft.com/office/drawing/2014/main" val="10000"/>
                  </a:ext>
                </a:extLst>
              </a:tr>
              <a:tr h="411480">
                <a:tc>
                  <a:txBody>
                    <a:bodyPr/>
                    <a:lstStyle/>
                    <a:p>
                      <a:r>
                        <a:rPr sz="1050" b="0">
                          <a:solidFill>
                            <a:srgbClr val="333333"/>
                          </a:solidFill>
                          <a:latin typeface="Meiryo"/>
                          <a:ea typeface="メイリオ"/>
                          <a:cs typeface="Meiryo"/>
                        </a:rPr>
                        <a:t>0日後</a:t>
                      </a:r>
                    </a:p>
                  </a:txBody>
                  <a:tcPr>
                    <a:solidFill>
                      <a:srgbClr val="FFFFFF"/>
                    </a:solidFill>
                  </a:tcPr>
                </a:tc>
                <a:tc>
                  <a:txBody>
                    <a:bodyPr/>
                    <a:lstStyle/>
                    <a:p>
                      <a:r>
                        <a:rPr sz="1050" b="0">
                          <a:solidFill>
                            <a:srgbClr val="333333"/>
                          </a:solidFill>
                          <a:latin typeface="Meiryo"/>
                          <a:ea typeface="メイリオ"/>
                          <a:cs typeface="Meiryo"/>
                        </a:rPr>
                        <a:t>全員</a:t>
                      </a:r>
                    </a:p>
                  </a:txBody>
                  <a:tcPr>
                    <a:solidFill>
                      <a:srgbClr val="FFFFFF"/>
                    </a:solidFill>
                  </a:tcPr>
                </a:tc>
                <a:tc>
                  <a:txBody>
                    <a:bodyPr/>
                    <a:lstStyle/>
                    <a:p>
                      <a:r>
                        <a:rPr sz="1050" b="0">
                          <a:solidFill>
                            <a:srgbClr val="333333"/>
                          </a:solidFill>
                          <a:latin typeface="Meiryo"/>
                          <a:ea typeface="メイリオ"/>
                          <a:cs typeface="Meiryo"/>
                        </a:rPr>
                        <a:t>あいさつ＋知育タイプ診断（3問）への案内</a:t>
                      </a:r>
                    </a:p>
                  </a:txBody>
                  <a:tcPr>
                    <a:solidFill>
                      <a:srgbClr val="FFFFFF"/>
                    </a:solidFill>
                  </a:tcPr>
                </a:tc>
                <a:extLst>
                  <a:ext uri="{0D108BD9-81ED-4DB2-BD59-A6C34878D82A}">
                    <a16:rowId xmlns:a16="http://schemas.microsoft.com/office/drawing/2014/main" val="10001"/>
                  </a:ext>
                </a:extLst>
              </a:tr>
              <a:tr h="411480">
                <a:tc>
                  <a:txBody>
                    <a:bodyPr/>
                    <a:lstStyle/>
                    <a:p>
                      <a:r>
                        <a:rPr sz="1050" b="0">
                          <a:solidFill>
                            <a:srgbClr val="333333"/>
                          </a:solidFill>
                          <a:latin typeface="Meiryo"/>
                          <a:ea typeface="メイリオ"/>
                          <a:cs typeface="Meiryo"/>
                        </a:rPr>
                        <a:t>1日後</a:t>
                      </a:r>
                    </a:p>
                  </a:txBody>
                  <a:tcPr>
                    <a:solidFill>
                      <a:srgbClr val="FFFFFF"/>
                    </a:solidFill>
                  </a:tcPr>
                </a:tc>
                <a:tc>
                  <a:txBody>
                    <a:bodyPr/>
                    <a:lstStyle/>
                    <a:p>
                      <a:r>
                        <a:rPr sz="1050" b="0">
                          <a:solidFill>
                            <a:srgbClr val="333333"/>
                          </a:solidFill>
                          <a:latin typeface="Meiryo"/>
                          <a:ea typeface="メイリオ"/>
                          <a:cs typeface="Meiryo"/>
                        </a:rPr>
                        <a:t>診断未回答者</a:t>
                      </a:r>
                    </a:p>
                  </a:txBody>
                  <a:tcPr>
                    <a:solidFill>
                      <a:srgbClr val="FFFFFF"/>
                    </a:solidFill>
                  </a:tcPr>
                </a:tc>
                <a:tc>
                  <a:txBody>
                    <a:bodyPr/>
                    <a:lstStyle/>
                    <a:p>
                      <a:r>
                        <a:rPr sz="1050" b="0">
                          <a:solidFill>
                            <a:srgbClr val="333333"/>
                          </a:solidFill>
                          <a:latin typeface="Meiryo"/>
                          <a:ea typeface="メイリオ"/>
                          <a:cs typeface="Meiryo"/>
                        </a:rPr>
                        <a:t>診断リマインド</a:t>
                      </a:r>
                    </a:p>
                  </a:txBody>
                  <a:tcPr>
                    <a:solidFill>
                      <a:srgbClr val="FFFFFF"/>
                    </a:solidFill>
                  </a:tcPr>
                </a:tc>
                <a:extLst>
                  <a:ext uri="{0D108BD9-81ED-4DB2-BD59-A6C34878D82A}">
                    <a16:rowId xmlns:a16="http://schemas.microsoft.com/office/drawing/2014/main" val="10002"/>
                  </a:ext>
                </a:extLst>
              </a:tr>
              <a:tr h="411480">
                <a:tc>
                  <a:txBody>
                    <a:bodyPr/>
                    <a:lstStyle/>
                    <a:p>
                      <a:r>
                        <a:rPr sz="1050" b="0">
                          <a:solidFill>
                            <a:srgbClr val="333333"/>
                          </a:solidFill>
                          <a:latin typeface="Meiryo"/>
                          <a:ea typeface="メイリオ"/>
                          <a:cs typeface="Meiryo"/>
                        </a:rPr>
                        <a:t>2日後</a:t>
                      </a:r>
                    </a:p>
                  </a:txBody>
                  <a:tcPr>
                    <a:solidFill>
                      <a:srgbClr val="FFFFFF"/>
                    </a:solidFill>
                  </a:tcPr>
                </a:tc>
                <a:tc>
                  <a:txBody>
                    <a:bodyPr/>
                    <a:lstStyle/>
                    <a:p>
                      <a:r>
                        <a:rPr sz="1050" b="0">
                          <a:solidFill>
                            <a:srgbClr val="333333"/>
                          </a:solidFill>
                          <a:latin typeface="Meiryo"/>
                          <a:ea typeface="メイリオ"/>
                          <a:cs typeface="Meiryo"/>
                        </a:rPr>
                        <a:t>診断回答者</a:t>
                      </a:r>
                    </a:p>
                  </a:txBody>
                  <a:tcPr>
                    <a:solidFill>
                      <a:srgbClr val="FFFFFF"/>
                    </a:solidFill>
                  </a:tcPr>
                </a:tc>
                <a:tc>
                  <a:txBody>
                    <a:bodyPr/>
                    <a:lstStyle/>
                    <a:p>
                      <a:r>
                        <a:rPr sz="1050" b="0">
                          <a:solidFill>
                            <a:srgbClr val="333333"/>
                          </a:solidFill>
                          <a:latin typeface="Meiryo"/>
                          <a:ea typeface="メイリオ"/>
                          <a:cs typeface="Meiryo"/>
                        </a:rPr>
                        <a:t>診断結果配信＋タイプ別学習アプローチ紹介</a:t>
                      </a:r>
                    </a:p>
                  </a:txBody>
                  <a:tcPr>
                    <a:solidFill>
                      <a:srgbClr val="FFFFFF"/>
                    </a:solidFill>
                  </a:tcPr>
                </a:tc>
                <a:extLst>
                  <a:ext uri="{0D108BD9-81ED-4DB2-BD59-A6C34878D82A}">
                    <a16:rowId xmlns:a16="http://schemas.microsoft.com/office/drawing/2014/main" val="10003"/>
                  </a:ext>
                </a:extLst>
              </a:tr>
              <a:tr h="411480">
                <a:tc>
                  <a:txBody>
                    <a:bodyPr/>
                    <a:lstStyle/>
                    <a:p>
                      <a:r>
                        <a:rPr sz="1050" b="0">
                          <a:solidFill>
                            <a:srgbClr val="333333"/>
                          </a:solidFill>
                          <a:latin typeface="Meiryo"/>
                          <a:ea typeface="メイリオ"/>
                          <a:cs typeface="Meiryo"/>
                        </a:rPr>
                        <a:t>4日後</a:t>
                      </a:r>
                    </a:p>
                  </a:txBody>
                  <a:tcPr>
                    <a:solidFill>
                      <a:srgbClr val="FFFFFF"/>
                    </a:solidFill>
                  </a:tcPr>
                </a:tc>
                <a:tc>
                  <a:txBody>
                    <a:bodyPr/>
                    <a:lstStyle/>
                    <a:p>
                      <a:r>
                        <a:rPr sz="1050" b="0">
                          <a:solidFill>
                            <a:srgbClr val="333333"/>
                          </a:solidFill>
                          <a:latin typeface="Meiryo"/>
                          <a:ea typeface="メイリオ"/>
                          <a:cs typeface="Meiryo"/>
                        </a:rPr>
                        <a:t>同上</a:t>
                      </a:r>
                    </a:p>
                  </a:txBody>
                  <a:tcPr>
                    <a:solidFill>
                      <a:srgbClr val="FFFFFF"/>
                    </a:solidFill>
                  </a:tcPr>
                </a:tc>
                <a:tc>
                  <a:txBody>
                    <a:bodyPr/>
                    <a:lstStyle/>
                    <a:p>
                      <a:r>
                        <a:rPr sz="1050" b="0">
                          <a:solidFill>
                            <a:srgbClr val="333333"/>
                          </a:solidFill>
                          <a:latin typeface="Meiryo"/>
                          <a:ea typeface="メイリオ"/>
                          <a:cs typeface="Meiryo"/>
                        </a:rPr>
                        <a:t>同タイプの卒業生・在籍生の声</a:t>
                      </a:r>
                    </a:p>
                  </a:txBody>
                  <a:tcPr>
                    <a:solidFill>
                      <a:srgbClr val="FFFFFF"/>
                    </a:solidFill>
                  </a:tcPr>
                </a:tc>
                <a:extLst>
                  <a:ext uri="{0D108BD9-81ED-4DB2-BD59-A6C34878D82A}">
                    <a16:rowId xmlns:a16="http://schemas.microsoft.com/office/drawing/2014/main" val="10004"/>
                  </a:ext>
                </a:extLst>
              </a:tr>
              <a:tr h="411480">
                <a:tc>
                  <a:txBody>
                    <a:bodyPr/>
                    <a:lstStyle/>
                    <a:p>
                      <a:r>
                        <a:rPr sz="1050" b="0">
                          <a:solidFill>
                            <a:srgbClr val="333333"/>
                          </a:solidFill>
                          <a:latin typeface="Meiryo"/>
                          <a:ea typeface="メイリオ"/>
                          <a:cs typeface="Meiryo"/>
                        </a:rPr>
                        <a:t>6日後</a:t>
                      </a:r>
                    </a:p>
                  </a:txBody>
                  <a:tcPr>
                    <a:solidFill>
                      <a:srgbClr val="FFFFFF"/>
                    </a:solidFill>
                  </a:tcPr>
                </a:tc>
                <a:tc>
                  <a:txBody>
                    <a:bodyPr/>
                    <a:lstStyle/>
                    <a:p>
                      <a:r>
                        <a:rPr sz="1050" b="0">
                          <a:solidFill>
                            <a:srgbClr val="333333"/>
                          </a:solidFill>
                          <a:latin typeface="Meiryo"/>
                          <a:ea typeface="メイリオ"/>
                          <a:cs typeface="Meiryo"/>
                        </a:rPr>
                        <a:t>同上</a:t>
                      </a:r>
                    </a:p>
                  </a:txBody>
                  <a:tcPr>
                    <a:solidFill>
                      <a:srgbClr val="FFFFFF"/>
                    </a:solidFill>
                  </a:tcPr>
                </a:tc>
                <a:tc>
                  <a:txBody>
                    <a:bodyPr/>
                    <a:lstStyle/>
                    <a:p>
                      <a:r>
                        <a:rPr sz="1050" b="0">
                          <a:solidFill>
                            <a:srgbClr val="333333"/>
                          </a:solidFill>
                          <a:latin typeface="Meiryo"/>
                          <a:ea typeface="メイリオ"/>
                          <a:cs typeface="Meiryo"/>
                        </a:rPr>
                        <a:t>体験予約への案内</a:t>
                      </a:r>
                    </a:p>
                  </a:txBody>
                  <a:tcPr>
                    <a:solidFill>
                      <a:srgbClr val="FFFFFF"/>
                    </a:solidFill>
                  </a:tcPr>
                </a:tc>
                <a:extLst>
                  <a:ext uri="{0D108BD9-81ED-4DB2-BD59-A6C34878D82A}">
                    <a16:rowId xmlns:a16="http://schemas.microsoft.com/office/drawing/2014/main" val="10005"/>
                  </a:ext>
                </a:extLst>
              </a:tr>
              <a:tr h="411480">
                <a:tc>
                  <a:txBody>
                    <a:bodyPr/>
                    <a:lstStyle/>
                    <a:p>
                      <a:r>
                        <a:rPr sz="1050" b="0">
                          <a:solidFill>
                            <a:srgbClr val="333333"/>
                          </a:solidFill>
                          <a:latin typeface="Meiryo"/>
                          <a:ea typeface="メイリオ"/>
                          <a:cs typeface="Meiryo"/>
                        </a:rPr>
                        <a:t>9日後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「知育→受験」の2段階設計を訴求</a:t>
                      </a:r>
                    </a:p>
                  </a:txBody>
                  <a:tcPr>
                    <a:solidFill>
                      <a:srgbClr val="FFFFFF"/>
                    </a:solidFill>
                  </a:tcPr>
                </a:tc>
                <a:extLst>
                  <a:ext uri="{0D108BD9-81ED-4DB2-BD59-A6C34878D82A}">
                    <a16:rowId xmlns:a16="http://schemas.microsoft.com/office/drawing/2014/main" val="10006"/>
                  </a:ext>
                </a:extLst>
              </a:tr>
              <a:tr h="411480">
                <a:tc>
                  <a:txBody>
                    <a:bodyPr/>
                    <a:lstStyle/>
                    <a:p>
                      <a:r>
                        <a:rPr sz="1050" b="0">
                          <a:solidFill>
                            <a:srgbClr val="333333"/>
                          </a:solidFill>
                          <a:latin typeface="Meiryo"/>
                          <a:ea typeface="メイリオ"/>
                          <a:cs typeface="Meiryo"/>
                        </a:rPr>
                        <a:t>12日後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保護者の疑問Q&amp;A（費用・年齢・通塾頻度等）</a:t>
                      </a:r>
                    </a:p>
                  </a:txBody>
                  <a:tcPr>
                    <a:solidFill>
                      <a:srgbClr val="FFFFFF"/>
                    </a:solidFill>
                  </a:tcPr>
                </a:tc>
                <a:extLst>
                  <a:ext uri="{0D108BD9-81ED-4DB2-BD59-A6C34878D82A}">
                    <a16:rowId xmlns:a16="http://schemas.microsoft.com/office/drawing/2014/main" val="10007"/>
                  </a:ext>
                </a:extLst>
              </a:tr>
              <a:tr h="411480">
                <a:tc>
                  <a:txBody>
                    <a:bodyPr/>
                    <a:lstStyle/>
                    <a:p>
                      <a:r>
                        <a:rPr sz="1050" b="0">
                          <a:solidFill>
                            <a:srgbClr val="333333"/>
                          </a:solidFill>
                          <a:latin typeface="Meiryo"/>
                          <a:ea typeface="メイリオ"/>
                          <a:cs typeface="Meiryo"/>
                        </a:rPr>
                        <a:t>14日後</a:t>
                      </a:r>
                    </a:p>
                  </a:txBody>
                  <a:tcPr>
                    <a:solidFill>
                      <a:srgbClr val="FFFFFF"/>
                    </a:solidFill>
                  </a:tcPr>
                </a:tc>
                <a:tc>
                  <a:txBody>
                    <a:bodyPr/>
                    <a:lstStyle/>
                    <a:p>
                      <a:r>
                        <a:rPr sz="1050" b="0">
                          <a:solidFill>
                            <a:srgbClr val="333333"/>
                          </a:solidFill>
                          <a:latin typeface="Meiryo"/>
                          <a:ea typeface="メイリオ"/>
                          <a:cs typeface="Meiryo"/>
                        </a:rPr>
                        <a:t>未予約者</a:t>
                      </a:r>
                    </a:p>
                  </a:txBody>
                  <a:tcPr>
                    <a:solidFill>
                      <a:srgbClr val="FFFFFF"/>
                    </a:solidFill>
                  </a:tcPr>
                </a:tc>
                <a:tc>
                  <a:txBody>
                    <a:bodyPr/>
                    <a:lstStyle/>
                    <a:p>
                      <a:r>
                        <a:rPr sz="1050" b="0">
                          <a:solidFill>
                            <a:srgbClr val="333333"/>
                          </a:solidFill>
                          <a:latin typeface="Meiryo"/>
                          <a:ea typeface="メイリオ"/>
                          <a:cs typeface="Meiryo"/>
                        </a:rPr>
                        <a:t>体験予約の最終案内</a:t>
                      </a:r>
                    </a:p>
                  </a:txBody>
                  <a:tcPr>
                    <a:solidFill>
                      <a:srgbClr val="FFFFFF"/>
                    </a:solidFill>
                  </a:tcPr>
                </a:tc>
                <a:extLst>
                  <a:ext uri="{0D108BD9-81ED-4DB2-BD59-A6C34878D82A}">
                    <a16:rowId xmlns:a16="http://schemas.microsoft.com/office/drawing/2014/main" val="10008"/>
                  </a:ext>
                </a:extLst>
              </a:tr>
            </a:tbl>
          </a:graphicData>
        </a:graphic>
      </p:graphicFrame>
      <p:sp>
        <p:nvSpPr>
          <p:cNvPr id="47" name="TextBox 46"/>
          <p:cNvSpPr txBox="1"/>
          <p:nvPr/>
        </p:nvSpPr>
        <p:spPr>
          <a:xfrm>
            <a:off x="429768" y="5166360"/>
            <a:ext cx="9052560" cy="548640"/>
          </a:xfrm>
          <a:prstGeom prst="rect">
            <a:avLst/>
          </a:prstGeom>
          <a:noFill/>
        </p:spPr>
        <p:txBody>
          <a:bodyPr wrap="square">
            <a:spAutoFit/>
          </a:bodyPr>
          <a:lstStyle/>
          <a:p>
            <a:r>
              <a:rPr sz="1300" b="1">
                <a:solidFill>
                  <a:srgbClr val="BF4E0E"/>
                </a:solidFill>
                <a:latin typeface="Meiryo"/>
                <a:ea typeface="メイリオ"/>
                <a:cs typeface="Meiryo"/>
              </a:rPr>
              <a:t>体験予約44件（6ヶ月累計）× 入会引き上げ率25% ＝ 入会12件として算出</a:t>
            </a:r>
          </a:p>
        </p:txBody>
      </p:sp>
      <p:sp>
        <p:nvSpPr>
          <p:cNvPr id="48" name="TextBox 47"/>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出典：Googleトレンド「受験」／前後検索KW「幼児教室」／競合調査(理英会／どんちゃか)／入会引き上げ率25%＝幼児・知育系は業界平均データなしのため保守的に設定</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2631F-440C-AF04-0C69-2C8669EB8048}"/>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E2EA7B-C600-B2D1-CD65-C1E3A0BAC1C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EAAEBF-17CB-F7AA-64C4-77326BCE5A5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8DE529D-6E0B-3592-BFB0-3C2405533B7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想定企画【忍者ナイン】</a:t>
            </a:r>
            <a:endParaRPr sz="1600" b="1" dirty="0">
              <a:solidFill>
                <a:srgbClr val="002060"/>
              </a:solidFill>
              <a:latin typeface="Meiryo"/>
              <a:ea typeface="Meiryo"/>
              <a:cs typeface="Meiryo"/>
              <a:sym typeface="Meiryo"/>
            </a:endParaRPr>
          </a:p>
        </p:txBody>
      </p:sp>
      <p:sp>
        <p:nvSpPr>
          <p:cNvPr id="8" name="TextBox 2">
            <a:extLst>
              <a:ext uri="{FF2B5EF4-FFF2-40B4-BE49-F238E27FC236}">
                <a16:creationId xmlns:a16="http://schemas.microsoft.com/office/drawing/2014/main" id="{551FC70B-4309-2843-C73C-E5466FCF9976}"/>
              </a:ext>
            </a:extLst>
          </p:cNvPr>
          <p:cNvSpPr txBox="1"/>
          <p:nvPr/>
        </p:nvSpPr>
        <p:spPr>
          <a:xfrm>
            <a:off x="457200" y="914400"/>
            <a:ext cx="8988552" cy="365760"/>
          </a:xfrm>
          <a:prstGeom prst="rect">
            <a:avLst/>
          </a:prstGeom>
          <a:noFill/>
        </p:spPr>
        <p:txBody>
          <a:bodyPr wrap="square">
            <a:spAutoFit/>
          </a:bodyPr>
          <a:lstStyle/>
          <a:p>
            <a:pPr algn="l"/>
            <a:r>
              <a:rPr sz="1100" b="0" i="0">
                <a:solidFill>
                  <a:srgbClr val="333333"/>
                </a:solidFill>
                <a:latin typeface="Meiryo"/>
                <a:ea typeface="メイリオ"/>
                <a:cs typeface="Meiryo"/>
              </a:rPr>
              <a:t>年間を通じて、新規獲得・友だち増加・満足度向上を狙う企画投稿を月別に配置する</a:t>
            </a:r>
          </a:p>
        </p:txBody>
      </p:sp>
      <p:graphicFrame>
        <p:nvGraphicFramePr>
          <p:cNvPr id="46" name="Table 45"/>
          <p:cNvGraphicFramePr>
            <a:graphicFrameLocks noGrp="1"/>
          </p:cNvGraphicFramePr>
          <p:nvPr/>
        </p:nvGraphicFramePr>
        <p:xfrm>
          <a:off x="457200" y="1371600"/>
          <a:ext cx="8988551" cy="4114800"/>
        </p:xfrm>
        <a:graphic>
          <a:graphicData uri="http://schemas.openxmlformats.org/drawingml/2006/table">
            <a:tbl>
              <a:tblPr firstRow="1" bandRow="1">
                <a:tableStyleId>{5C22544A-7EE6-4342-B048-85BDC9FD1C3A}</a:tableStyleId>
              </a:tblPr>
              <a:tblGrid>
                <a:gridCol w="1438168">
                  <a:extLst>
                    <a:ext uri="{9D8B030D-6E8A-4147-A177-3AD203B41FA5}">
                      <a16:colId xmlns:a16="http://schemas.microsoft.com/office/drawing/2014/main" val="20000"/>
                    </a:ext>
                  </a:extLst>
                </a:gridCol>
                <a:gridCol w="2696565">
                  <a:extLst>
                    <a:ext uri="{9D8B030D-6E8A-4147-A177-3AD203B41FA5}">
                      <a16:colId xmlns:a16="http://schemas.microsoft.com/office/drawing/2014/main" val="20001"/>
                    </a:ext>
                  </a:extLst>
                </a:gridCol>
                <a:gridCol w="4853818">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時期</a:t>
                      </a:r>
                    </a:p>
                  </a:txBody>
                  <a:tcPr>
                    <a:solidFill>
                      <a:srgbClr val="1F2A5C"/>
                    </a:solidFill>
                  </a:tcPr>
                </a:tc>
                <a:tc>
                  <a:txBody>
                    <a:bodyPr/>
                    <a:lstStyle/>
                    <a:p>
                      <a:r>
                        <a:rPr sz="1100" b="1">
                          <a:solidFill>
                            <a:srgbClr val="FFFFFF"/>
                          </a:solidFill>
                          <a:latin typeface="Meiryo"/>
                          <a:ea typeface="メイリオ"/>
                          <a:cs typeface="Meiryo"/>
                        </a:rPr>
                        <a:t>企画</a:t>
                      </a:r>
                    </a:p>
                  </a:txBody>
                  <a:tcPr>
                    <a:solidFill>
                      <a:srgbClr val="1F2A5C"/>
                    </a:solidFill>
                  </a:tcPr>
                </a:tc>
                <a:tc>
                  <a:txBody>
                    <a:bodyPr/>
                    <a:lstStyle/>
                    <a:p>
                      <a:r>
                        <a:rPr sz="1100" b="1">
                          <a:solidFill>
                            <a:srgbClr val="FFFFFF"/>
                          </a:solidFill>
                          <a:latin typeface="Meiryo"/>
                          <a:ea typeface="メイリオ"/>
                          <a:cs typeface="Meiryo"/>
                        </a:rPr>
                        <a:t>内容</a:t>
                      </a:r>
                    </a:p>
                  </a:txBody>
                  <a:tcPr>
                    <a:solidFill>
                      <a:srgbClr val="1F2A5C"/>
                    </a:solidFill>
                  </a:tcPr>
                </a:tc>
                <a:extLst>
                  <a:ext uri="{0D108BD9-81ED-4DB2-BD59-A6C34878D82A}">
                    <a16:rowId xmlns:a16="http://schemas.microsoft.com/office/drawing/2014/main" val="10000"/>
                  </a:ext>
                </a:extLst>
              </a:tr>
              <a:tr h="411480">
                <a:tc>
                  <a:txBody>
                    <a:bodyPr/>
                    <a:lstStyle/>
                    <a:p>
                      <a:r>
                        <a:rPr sz="1050" b="0">
                          <a:solidFill>
                            <a:srgbClr val="333333"/>
                          </a:solidFill>
                          <a:latin typeface="Meiryo"/>
                          <a:ea typeface="メイリオ"/>
                          <a:cs typeface="Meiryo"/>
                        </a:rPr>
                        <a:t>1-3月</a:t>
                      </a:r>
                    </a:p>
                  </a:txBody>
                  <a:tcPr>
                    <a:solidFill>
                      <a:srgbClr val="FFFFFF"/>
                    </a:solidFill>
                  </a:tcPr>
                </a:tc>
                <a:tc>
                  <a:txBody>
                    <a:bodyPr/>
                    <a:lstStyle/>
                    <a:p>
                      <a:r>
                        <a:rPr sz="1050" b="0">
                          <a:solidFill>
                            <a:srgbClr val="333333"/>
                          </a:solidFill>
                          <a:latin typeface="Meiryo"/>
                          <a:ea typeface="メイリオ"/>
                          <a:cs typeface="Meiryo"/>
                        </a:rPr>
                        <a:t>新学年スタート訴求</a:t>
                      </a:r>
                    </a:p>
                  </a:txBody>
                  <a:tcPr>
                    <a:solidFill>
                      <a:srgbClr val="FFFFFF"/>
                    </a:solidFill>
                  </a:tcPr>
                </a:tc>
                <a:tc>
                  <a:txBody>
                    <a:bodyPr/>
                    <a:lstStyle/>
                    <a:p>
                      <a:r>
                        <a:rPr sz="1050" b="0">
                          <a:solidFill>
                            <a:srgbClr val="333333"/>
                          </a:solidFill>
                          <a:latin typeface="Meiryo"/>
                          <a:ea typeface="メイリオ"/>
                          <a:cs typeface="Meiryo"/>
                        </a:rPr>
                        <a:t>新学年に合わせた習い事検討層への訴求</a:t>
                      </a:r>
                    </a:p>
                  </a:txBody>
                  <a:tcPr>
                    <a:solidFill>
                      <a:srgbClr val="FFFFFF"/>
                    </a:solidFill>
                  </a:tcPr>
                </a:tc>
                <a:extLst>
                  <a:ext uri="{0D108BD9-81ED-4DB2-BD59-A6C34878D82A}">
                    <a16:rowId xmlns:a16="http://schemas.microsoft.com/office/drawing/2014/main" val="10001"/>
                  </a:ext>
                </a:extLst>
              </a:tr>
              <a:tr h="411480">
                <a:tc>
                  <a:txBody>
                    <a:bodyPr/>
                    <a:lstStyle/>
                    <a:p>
                      <a:r>
                        <a:rPr sz="1050" b="0">
                          <a:solidFill>
                            <a:srgbClr val="333333"/>
                          </a:solidFill>
                          <a:latin typeface="Meiryo"/>
                          <a:ea typeface="メイリオ"/>
                          <a:cs typeface="Meiryo"/>
                        </a:rPr>
                        <a:t>1-3月</a:t>
                      </a:r>
                    </a:p>
                  </a:txBody>
                  <a:tcPr>
                    <a:solidFill>
                      <a:srgbClr val="FFFFFF"/>
                    </a:solidFill>
                  </a:tcPr>
                </a:tc>
                <a:tc>
                  <a:txBody>
                    <a:bodyPr/>
                    <a:lstStyle/>
                    <a:p>
                      <a:r>
                        <a:rPr sz="1050" b="0">
                          <a:solidFill>
                            <a:srgbClr val="333333"/>
                          </a:solidFill>
                          <a:latin typeface="Meiryo"/>
                          <a:ea typeface="メイリオ"/>
                          <a:cs typeface="Meiryo"/>
                        </a:rPr>
                        <a:t>入会金半額キャンペーン</a:t>
                      </a:r>
                    </a:p>
                  </a:txBody>
                  <a:tcPr>
                    <a:solidFill>
                      <a:srgbClr val="FFFFFF"/>
                    </a:solidFill>
                  </a:tcPr>
                </a:tc>
                <a:tc>
                  <a:txBody>
                    <a:bodyPr/>
                    <a:lstStyle/>
                    <a:p>
                      <a:r>
                        <a:rPr sz="1050" b="0">
                          <a:solidFill>
                            <a:srgbClr val="333333"/>
                          </a:solidFill>
                          <a:latin typeface="Meiryo"/>
                          <a:ea typeface="メイリオ"/>
                          <a:cs typeface="Meiryo"/>
                        </a:rPr>
                        <a:t>新学年前の検討層を刈り取る</a:t>
                      </a:r>
                    </a:p>
                  </a:txBody>
                  <a:tcPr>
                    <a:solidFill>
                      <a:srgbClr val="FFFFFF"/>
                    </a:solidFill>
                  </a:tcPr>
                </a:tc>
                <a:extLst>
                  <a:ext uri="{0D108BD9-81ED-4DB2-BD59-A6C34878D82A}">
                    <a16:rowId xmlns:a16="http://schemas.microsoft.com/office/drawing/2014/main" val="10002"/>
                  </a:ext>
                </a:extLst>
              </a:tr>
              <a:tr h="411480">
                <a:tc>
                  <a:txBody>
                    <a:bodyPr/>
                    <a:lstStyle/>
                    <a:p>
                      <a:r>
                        <a:rPr sz="1050" b="0">
                          <a:solidFill>
                            <a:srgbClr val="333333"/>
                          </a:solidFill>
                          <a:latin typeface="Meiryo"/>
                          <a:ea typeface="メイリオ"/>
                          <a:cs typeface="Meiryo"/>
                        </a:rPr>
                        <a:t>4-5月</a:t>
                      </a:r>
                    </a:p>
                  </a:txBody>
                  <a:tcPr>
                    <a:solidFill>
                      <a:srgbClr val="FFFFFF"/>
                    </a:solidFill>
                  </a:tcPr>
                </a:tc>
                <a:tc>
                  <a:txBody>
                    <a:bodyPr/>
                    <a:lstStyle/>
                    <a:p>
                      <a:r>
                        <a:rPr sz="1050" b="0">
                          <a:solidFill>
                            <a:srgbClr val="333333"/>
                          </a:solidFill>
                          <a:latin typeface="Meiryo"/>
                          <a:ea typeface="メイリオ"/>
                          <a:cs typeface="Meiryo"/>
                        </a:rPr>
                        <a:t>お友だち紹介キャンペーン強化</a:t>
                      </a:r>
                    </a:p>
                  </a:txBody>
                  <a:tcPr>
                    <a:solidFill>
                      <a:srgbClr val="FFFFFF"/>
                    </a:solidFill>
                  </a:tcPr>
                </a:tc>
                <a:tc>
                  <a:txBody>
                    <a:bodyPr/>
                    <a:lstStyle/>
                    <a:p>
                      <a:r>
                        <a:rPr sz="1050" b="0">
                          <a:solidFill>
                            <a:srgbClr val="333333"/>
                          </a:solidFill>
                          <a:latin typeface="Meiryo"/>
                          <a:ea typeface="メイリオ"/>
                          <a:cs typeface="Meiryo"/>
                        </a:rPr>
                        <a:t>在籍生からの紹介を促進</a:t>
                      </a:r>
                    </a:p>
                  </a:txBody>
                  <a:tcPr>
                    <a:solidFill>
                      <a:srgbClr val="FFFFFF"/>
                    </a:solidFill>
                  </a:tcPr>
                </a:tc>
                <a:extLst>
                  <a:ext uri="{0D108BD9-81ED-4DB2-BD59-A6C34878D82A}">
                    <a16:rowId xmlns:a16="http://schemas.microsoft.com/office/drawing/2014/main" val="10003"/>
                  </a:ext>
                </a:extLst>
              </a:tr>
              <a:tr h="411480">
                <a:tc>
                  <a:txBody>
                    <a:bodyPr/>
                    <a:lstStyle/>
                    <a:p>
                      <a:r>
                        <a:rPr sz="1050" b="0">
                          <a:solidFill>
                            <a:srgbClr val="333333"/>
                          </a:solidFill>
                          <a:latin typeface="Meiryo"/>
                          <a:ea typeface="メイリオ"/>
                          <a:cs typeface="Meiryo"/>
                        </a:rPr>
                        <a:t>6月</a:t>
                      </a:r>
                    </a:p>
                  </a:txBody>
                  <a:tcPr>
                    <a:solidFill>
                      <a:srgbClr val="FFFFFF"/>
                    </a:solidFill>
                  </a:tcPr>
                </a:tc>
                <a:tc>
                  <a:txBody>
                    <a:bodyPr/>
                    <a:lstStyle/>
                    <a:p>
                      <a:r>
                        <a:rPr sz="1050" b="0">
                          <a:solidFill>
                            <a:srgbClr val="333333"/>
                          </a:solidFill>
                          <a:latin typeface="Meiryo"/>
                          <a:ea typeface="メイリオ"/>
                          <a:cs typeface="Meiryo"/>
                        </a:rPr>
                        <a:t>LINEリサーチでニーズ収集</a:t>
                      </a:r>
                    </a:p>
                  </a:txBody>
                  <a:tcPr>
                    <a:solidFill>
                      <a:srgbClr val="FFFFFF"/>
                    </a:solidFill>
                  </a:tcPr>
                </a:tc>
                <a:tc>
                  <a:txBody>
                    <a:bodyPr/>
                    <a:lstStyle/>
                    <a:p>
                      <a:r>
                        <a:rPr sz="1050" b="0">
                          <a:solidFill>
                            <a:srgbClr val="333333"/>
                          </a:solidFill>
                          <a:latin typeface="Meiryo"/>
                          <a:ea typeface="メイリオ"/>
                          <a:cs typeface="Meiryo"/>
                        </a:rPr>
                        <a:t>簡易アンケートで次の企画のネタを収集</a:t>
                      </a:r>
                    </a:p>
                  </a:txBody>
                  <a:tcPr>
                    <a:solidFill>
                      <a:srgbClr val="FFFFFF"/>
                    </a:solidFill>
                  </a:tcPr>
                </a:tc>
                <a:extLst>
                  <a:ext uri="{0D108BD9-81ED-4DB2-BD59-A6C34878D82A}">
                    <a16:rowId xmlns:a16="http://schemas.microsoft.com/office/drawing/2014/main" val="10004"/>
                  </a:ext>
                </a:extLst>
              </a:tr>
              <a:tr h="411480">
                <a:tc>
                  <a:txBody>
                    <a:bodyPr/>
                    <a:lstStyle/>
                    <a:p>
                      <a:r>
                        <a:rPr sz="1050" b="0">
                          <a:solidFill>
                            <a:srgbClr val="333333"/>
                          </a:solidFill>
                          <a:latin typeface="Meiryo"/>
                          <a:ea typeface="メイリオ"/>
                          <a:cs typeface="Meiryo"/>
                        </a:rPr>
                        <a:t>7-8月</a:t>
                      </a:r>
                    </a:p>
                  </a:txBody>
                  <a:tcPr>
                    <a:solidFill>
                      <a:srgbClr val="FFFFFF"/>
                    </a:solidFill>
                  </a:tcPr>
                </a:tc>
                <a:tc>
                  <a:txBody>
                    <a:bodyPr/>
                    <a:lstStyle/>
                    <a:p>
                      <a:r>
                        <a:rPr sz="1050" b="0">
                          <a:solidFill>
                            <a:srgbClr val="333333"/>
                          </a:solidFill>
                          <a:latin typeface="Meiryo"/>
                          <a:ea typeface="メイリオ"/>
                          <a:cs typeface="Meiryo"/>
                        </a:rPr>
                        <a:t>複合種目デー投稿</a:t>
                      </a:r>
                    </a:p>
                  </a:txBody>
                  <a:tcPr>
                    <a:solidFill>
                      <a:srgbClr val="FFFFFF"/>
                    </a:solidFill>
                  </a:tcPr>
                </a:tc>
                <a:tc>
                  <a:txBody>
                    <a:bodyPr/>
                    <a:lstStyle/>
                    <a:p>
                      <a:r>
                        <a:rPr sz="1050" b="0">
                          <a:solidFill>
                            <a:srgbClr val="333333"/>
                          </a:solidFill>
                          <a:latin typeface="Meiryo"/>
                          <a:ea typeface="メイリオ"/>
                          <a:cs typeface="Meiryo"/>
                        </a:rPr>
                        <a:t>月替わりで種目を変える強みを可視化</a:t>
                      </a:r>
                    </a:p>
                  </a:txBody>
                  <a:tcPr>
                    <a:solidFill>
                      <a:srgbClr val="FFFFFF"/>
                    </a:solidFill>
                  </a:tcPr>
                </a:tc>
                <a:extLst>
                  <a:ext uri="{0D108BD9-81ED-4DB2-BD59-A6C34878D82A}">
                    <a16:rowId xmlns:a16="http://schemas.microsoft.com/office/drawing/2014/main" val="10005"/>
                  </a:ext>
                </a:extLst>
              </a:tr>
              <a:tr h="411480">
                <a:tc>
                  <a:txBody>
                    <a:bodyPr/>
                    <a:lstStyle/>
                    <a:p>
                      <a:r>
                        <a:rPr sz="1050" b="0">
                          <a:solidFill>
                            <a:srgbClr val="333333"/>
                          </a:solidFill>
                          <a:latin typeface="Meiryo"/>
                          <a:ea typeface="メイリオ"/>
                          <a:cs typeface="Meiryo"/>
                        </a:rPr>
                        <a:t>8月</a:t>
                      </a:r>
                    </a:p>
                  </a:txBody>
                  <a:tcPr>
                    <a:solidFill>
                      <a:srgbClr val="FFFFFF"/>
                    </a:solidFill>
                  </a:tcPr>
                </a:tc>
                <a:tc>
                  <a:txBody>
                    <a:bodyPr/>
                    <a:lstStyle/>
                    <a:p>
                      <a:r>
                        <a:rPr sz="1050" b="0">
                          <a:solidFill>
                            <a:srgbClr val="333333"/>
                          </a:solidFill>
                          <a:latin typeface="Meiryo"/>
                          <a:ea typeface="メイリオ"/>
                          <a:cs typeface="Meiryo"/>
                        </a:rPr>
                        <a:t>短期集中イベント＋先着特典</a:t>
                      </a:r>
                    </a:p>
                  </a:txBody>
                  <a:tcPr>
                    <a:solidFill>
                      <a:srgbClr val="FFFFFF"/>
                    </a:solidFill>
                  </a:tcPr>
                </a:tc>
                <a:tc>
                  <a:txBody>
                    <a:bodyPr/>
                    <a:lstStyle/>
                    <a:p>
                      <a:r>
                        <a:rPr sz="1050" b="0">
                          <a:solidFill>
                            <a:srgbClr val="333333"/>
                          </a:solidFill>
                          <a:latin typeface="Meiryo"/>
                          <a:ea typeface="メイリオ"/>
                          <a:cs typeface="Meiryo"/>
                        </a:rPr>
                        <a:t>夏休み短期教室の告知</a:t>
                      </a:r>
                    </a:p>
                  </a:txBody>
                  <a:tcPr>
                    <a:solidFill>
                      <a:srgbClr val="FFFFFF"/>
                    </a:solidFill>
                  </a:tcPr>
                </a:tc>
                <a:extLst>
                  <a:ext uri="{0D108BD9-81ED-4DB2-BD59-A6C34878D82A}">
                    <a16:rowId xmlns:a16="http://schemas.microsoft.com/office/drawing/2014/main" val="10006"/>
                  </a:ext>
                </a:extLst>
              </a:tr>
              <a:tr h="411480">
                <a:tc>
                  <a:txBody>
                    <a:bodyPr/>
                    <a:lstStyle/>
                    <a:p>
                      <a:r>
                        <a:rPr sz="1050" b="0">
                          <a:solidFill>
                            <a:srgbClr val="333333"/>
                          </a:solidFill>
                          <a:latin typeface="Meiryo"/>
                          <a:ea typeface="メイリオ"/>
                          <a:cs typeface="Meiryo"/>
                        </a:rPr>
                        <a:t>9-10月</a:t>
                      </a:r>
                    </a:p>
                  </a:txBody>
                  <a:tcPr>
                    <a:solidFill>
                      <a:srgbClr val="FFFFFF"/>
                    </a:solidFill>
                  </a:tcPr>
                </a:tc>
                <a:tc>
                  <a:txBody>
                    <a:bodyPr/>
                    <a:lstStyle/>
                    <a:p>
                      <a:r>
                        <a:rPr sz="1050" b="0">
                          <a:solidFill>
                            <a:srgbClr val="333333"/>
                          </a:solidFill>
                          <a:latin typeface="Meiryo"/>
                          <a:ea typeface="メイリオ"/>
                          <a:cs typeface="Meiryo"/>
                        </a:rPr>
                        <a:t>運動会シーズン訴求</a:t>
                      </a:r>
                    </a:p>
                  </a:txBody>
                  <a:tcPr>
                    <a:solidFill>
                      <a:srgbClr val="FFFFFF"/>
                    </a:solidFill>
                  </a:tcPr>
                </a:tc>
                <a:tc>
                  <a:txBody>
                    <a:bodyPr/>
                    <a:lstStyle/>
                    <a:p>
                      <a:r>
                        <a:rPr sz="1050" b="0">
                          <a:solidFill>
                            <a:srgbClr val="333333"/>
                          </a:solidFill>
                          <a:latin typeface="Meiryo"/>
                          <a:ea typeface="メイリオ"/>
                          <a:cs typeface="Meiryo"/>
                        </a:rPr>
                        <a:t>運動会に向けた訴求コンテンツ</a:t>
                      </a:r>
                    </a:p>
                  </a:txBody>
                  <a:tcPr>
                    <a:solidFill>
                      <a:srgbClr val="FFFFFF"/>
                    </a:solidFill>
                  </a:tcPr>
                </a:tc>
                <a:extLst>
                  <a:ext uri="{0D108BD9-81ED-4DB2-BD59-A6C34878D82A}">
                    <a16:rowId xmlns:a16="http://schemas.microsoft.com/office/drawing/2014/main" val="10007"/>
                  </a:ext>
                </a:extLst>
              </a:tr>
              <a:tr h="411480">
                <a:tc>
                  <a:txBody>
                    <a:bodyPr/>
                    <a:lstStyle/>
                    <a:p>
                      <a:r>
                        <a:rPr sz="1050" b="0">
                          <a:solidFill>
                            <a:srgbClr val="333333"/>
                          </a:solidFill>
                          <a:latin typeface="Meiryo"/>
                          <a:ea typeface="メイリオ"/>
                          <a:cs typeface="Meiryo"/>
                        </a:rPr>
                        <a:t>9-10月</a:t>
                      </a:r>
                    </a:p>
                  </a:txBody>
                  <a:tcPr>
                    <a:solidFill>
                      <a:srgbClr val="FFFFFF"/>
                    </a:solidFill>
                  </a:tcPr>
                </a:tc>
                <a:tc>
                  <a:txBody>
                    <a:bodyPr/>
                    <a:lstStyle/>
                    <a:p>
                      <a:r>
                        <a:rPr sz="1050" b="0">
                          <a:solidFill>
                            <a:srgbClr val="333333"/>
                          </a:solidFill>
                          <a:latin typeface="Meiryo"/>
                          <a:ea typeface="メイリオ"/>
                          <a:cs typeface="Meiryo"/>
                        </a:rPr>
                        <a:t>運動能力の見える化企画</a:t>
                      </a:r>
                    </a:p>
                  </a:txBody>
                  <a:tcPr>
                    <a:solidFill>
                      <a:srgbClr val="FFFFFF"/>
                    </a:solidFill>
                  </a:tcPr>
                </a:tc>
                <a:tc>
                  <a:txBody>
                    <a:bodyPr/>
                    <a:lstStyle/>
                    <a:p>
                      <a:r>
                        <a:rPr sz="1050" b="0">
                          <a:solidFill>
                            <a:srgbClr val="333333"/>
                          </a:solidFill>
                          <a:latin typeface="Meiryo"/>
                          <a:ea typeface="メイリオ"/>
                          <a:cs typeface="Meiryo"/>
                        </a:rPr>
                        <a:t>入会時と現在の適性診断結果を比較</a:t>
                      </a:r>
                    </a:p>
                  </a:txBody>
                  <a:tcPr>
                    <a:solidFill>
                      <a:srgbClr val="FFFFFF"/>
                    </a:solidFill>
                  </a:tcPr>
                </a:tc>
                <a:extLst>
                  <a:ext uri="{0D108BD9-81ED-4DB2-BD59-A6C34878D82A}">
                    <a16:rowId xmlns:a16="http://schemas.microsoft.com/office/drawing/2014/main" val="10008"/>
                  </a:ext>
                </a:extLst>
              </a:tr>
              <a:tr h="411480">
                <a:tc>
                  <a:txBody>
                    <a:bodyPr/>
                    <a:lstStyle/>
                    <a:p>
                      <a:r>
                        <a:rPr sz="1050" b="0">
                          <a:solidFill>
                            <a:srgbClr val="333333"/>
                          </a:solidFill>
                          <a:latin typeface="Meiryo"/>
                          <a:ea typeface="メイリオ"/>
                          <a:cs typeface="Meiryo"/>
                        </a:rPr>
                        <a:t>11-12月</a:t>
                      </a:r>
                    </a:p>
                  </a:txBody>
                  <a:tcPr>
                    <a:solidFill>
                      <a:srgbClr val="FFFFFF"/>
                    </a:solidFill>
                  </a:tcPr>
                </a:tc>
                <a:tc>
                  <a:txBody>
                    <a:bodyPr/>
                    <a:lstStyle/>
                    <a:p>
                      <a:r>
                        <a:rPr sz="1050" b="0">
                          <a:solidFill>
                            <a:srgbClr val="333333"/>
                          </a:solidFill>
                          <a:latin typeface="Meiryo"/>
                          <a:ea typeface="メイリオ"/>
                          <a:cs typeface="Meiryo"/>
                        </a:rPr>
                        <a:t>短期集中イベント＋先着特典</a:t>
                      </a:r>
                    </a:p>
                  </a:txBody>
                  <a:tcPr>
                    <a:solidFill>
                      <a:srgbClr val="FFFFFF"/>
                    </a:solidFill>
                  </a:tcPr>
                </a:tc>
                <a:tc>
                  <a:txBody>
                    <a:bodyPr/>
                    <a:lstStyle/>
                    <a:p>
                      <a:r>
                        <a:rPr sz="1050" b="0">
                          <a:solidFill>
                            <a:srgbClr val="333333"/>
                          </a:solidFill>
                          <a:latin typeface="Meiryo"/>
                          <a:ea typeface="メイリオ"/>
                          <a:cs typeface="Meiryo"/>
                        </a:rPr>
                        <a:t>冬休み短期教室の告知</a:t>
                      </a:r>
                    </a:p>
                  </a:txBody>
                  <a:tcPr>
                    <a:solidFill>
                      <a:srgbClr val="FFFFFF"/>
                    </a:solidFill>
                  </a:tcPr>
                </a:tc>
                <a:extLst>
                  <a:ext uri="{0D108BD9-81ED-4DB2-BD59-A6C34878D82A}">
                    <a16:rowId xmlns:a16="http://schemas.microsoft.com/office/drawing/2014/main" val="10009"/>
                  </a:ext>
                </a:extLst>
              </a:tr>
            </a:tbl>
          </a:graphicData>
        </a:graphic>
      </p:graphicFrame>
      <p:sp>
        <p:nvSpPr>
          <p:cNvPr id="47" name="TextBox 46"/>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出典：GoogleトレンドKW「習い事」「運動会」／競合調査（biima sports）</a:t>
            </a:r>
          </a:p>
        </p:txBody>
      </p:sp>
    </p:spTree>
    <p:extLst>
      <p:ext uri="{BB962C8B-B14F-4D97-AF65-F5344CB8AC3E}">
        <p14:creationId xmlns:p14="http://schemas.microsoft.com/office/powerpoint/2010/main" val="12698227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E2EA7B-C600-B2D1-CD65-C1E3A0BAC1C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EAAEBF-17CB-F7AA-64C4-77326BCE5A5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8DE529D-6E0B-3592-BFB0-3C2405533B7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想定企画【チャイルドアイズ】</a:t>
            </a:r>
            <a:endParaRPr sz="1600" b="1" dirty="0">
              <a:solidFill>
                <a:srgbClr val="002060"/>
              </a:solidFill>
              <a:latin typeface="Meiryo"/>
              <a:ea typeface="Meiryo"/>
              <a:cs typeface="Meiryo"/>
              <a:sym typeface="Meiryo"/>
            </a:endParaRPr>
          </a:p>
        </p:txBody>
      </p:sp>
      <p:sp>
        <p:nvSpPr>
          <p:cNvPr id="8" name="TextBox 2">
            <a:extLst>
              <a:ext uri="{FF2B5EF4-FFF2-40B4-BE49-F238E27FC236}">
                <a16:creationId xmlns:a16="http://schemas.microsoft.com/office/drawing/2014/main" id="{551FC70B-4309-2843-C73C-E5466FCF9976}"/>
              </a:ext>
            </a:extLst>
          </p:cNvPr>
          <p:cNvSpPr txBox="1"/>
          <p:nvPr/>
        </p:nvSpPr>
        <p:spPr>
          <a:xfrm>
            <a:off x="457200" y="914400"/>
            <a:ext cx="8988552" cy="365760"/>
          </a:xfrm>
          <a:prstGeom prst="rect">
            <a:avLst/>
          </a:prstGeom>
          <a:noFill/>
        </p:spPr>
        <p:txBody>
          <a:bodyPr wrap="square">
            <a:spAutoFit/>
          </a:bodyPr>
          <a:lstStyle/>
          <a:p>
            <a:pPr algn="l"/>
            <a:r>
              <a:rPr sz="1100" b="0" i="0">
                <a:solidFill>
                  <a:srgbClr val="333333"/>
                </a:solidFill>
                <a:latin typeface="Meiryo"/>
                <a:ea typeface="メイリオ"/>
                <a:cs typeface="Meiryo"/>
              </a:rPr>
              <a:t>年間を通じて、新規獲得・友だち増加・満足度向上を狙う企画投稿を月別に配置する</a:t>
            </a:r>
          </a:p>
        </p:txBody>
      </p:sp>
      <p:graphicFrame>
        <p:nvGraphicFramePr>
          <p:cNvPr id="46" name="Table 45"/>
          <p:cNvGraphicFramePr>
            <a:graphicFrameLocks noGrp="1"/>
          </p:cNvGraphicFramePr>
          <p:nvPr/>
        </p:nvGraphicFramePr>
        <p:xfrm>
          <a:off x="457200" y="1371600"/>
          <a:ext cx="8988551" cy="2880360"/>
        </p:xfrm>
        <a:graphic>
          <a:graphicData uri="http://schemas.openxmlformats.org/drawingml/2006/table">
            <a:tbl>
              <a:tblPr firstRow="1" bandRow="1">
                <a:tableStyleId>{5C22544A-7EE6-4342-B048-85BDC9FD1C3A}</a:tableStyleId>
              </a:tblPr>
              <a:tblGrid>
                <a:gridCol w="1438168">
                  <a:extLst>
                    <a:ext uri="{9D8B030D-6E8A-4147-A177-3AD203B41FA5}">
                      <a16:colId xmlns:a16="http://schemas.microsoft.com/office/drawing/2014/main" val="20000"/>
                    </a:ext>
                  </a:extLst>
                </a:gridCol>
                <a:gridCol w="2696565">
                  <a:extLst>
                    <a:ext uri="{9D8B030D-6E8A-4147-A177-3AD203B41FA5}">
                      <a16:colId xmlns:a16="http://schemas.microsoft.com/office/drawing/2014/main" val="20001"/>
                    </a:ext>
                  </a:extLst>
                </a:gridCol>
                <a:gridCol w="4853818">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時期</a:t>
                      </a:r>
                    </a:p>
                  </a:txBody>
                  <a:tcPr>
                    <a:solidFill>
                      <a:srgbClr val="1F2A5C"/>
                    </a:solidFill>
                  </a:tcPr>
                </a:tc>
                <a:tc>
                  <a:txBody>
                    <a:bodyPr/>
                    <a:lstStyle/>
                    <a:p>
                      <a:r>
                        <a:rPr sz="1100" b="1">
                          <a:solidFill>
                            <a:srgbClr val="FFFFFF"/>
                          </a:solidFill>
                          <a:latin typeface="Meiryo"/>
                          <a:ea typeface="メイリオ"/>
                          <a:cs typeface="Meiryo"/>
                        </a:rPr>
                        <a:t>企画</a:t>
                      </a:r>
                    </a:p>
                  </a:txBody>
                  <a:tcPr>
                    <a:solidFill>
                      <a:srgbClr val="1F2A5C"/>
                    </a:solidFill>
                  </a:tcPr>
                </a:tc>
                <a:tc>
                  <a:txBody>
                    <a:bodyPr/>
                    <a:lstStyle/>
                    <a:p>
                      <a:r>
                        <a:rPr sz="1100" b="1">
                          <a:solidFill>
                            <a:srgbClr val="FFFFFF"/>
                          </a:solidFill>
                          <a:latin typeface="Meiryo"/>
                          <a:ea typeface="メイリオ"/>
                          <a:cs typeface="Meiryo"/>
                        </a:rPr>
                        <a:t>内容</a:t>
                      </a:r>
                    </a:p>
                  </a:txBody>
                  <a:tcPr>
                    <a:solidFill>
                      <a:srgbClr val="1F2A5C"/>
                    </a:solidFill>
                  </a:tcPr>
                </a:tc>
                <a:extLst>
                  <a:ext uri="{0D108BD9-81ED-4DB2-BD59-A6C34878D82A}">
                    <a16:rowId xmlns:a16="http://schemas.microsoft.com/office/drawing/2014/main" val="10000"/>
                  </a:ext>
                </a:extLst>
              </a:tr>
              <a:tr h="411480">
                <a:tc>
                  <a:txBody>
                    <a:bodyPr/>
                    <a:lstStyle/>
                    <a:p>
                      <a:r>
                        <a:rPr sz="1050" b="0">
                          <a:solidFill>
                            <a:srgbClr val="333333"/>
                          </a:solidFill>
                          <a:latin typeface="Meiryo"/>
                          <a:ea typeface="メイリオ"/>
                          <a:cs typeface="Meiryo"/>
                        </a:rPr>
                        <a:t>1-2月</a:t>
                      </a:r>
                    </a:p>
                  </a:txBody>
                  <a:tcPr>
                    <a:solidFill>
                      <a:srgbClr val="FFFFFF"/>
                    </a:solidFill>
                  </a:tcPr>
                </a:tc>
                <a:tc>
                  <a:txBody>
                    <a:bodyPr/>
                    <a:lstStyle/>
                    <a:p>
                      <a:r>
                        <a:rPr sz="1050" b="0">
                          <a:solidFill>
                            <a:srgbClr val="333333"/>
                          </a:solidFill>
                          <a:latin typeface="Meiryo"/>
                          <a:ea typeface="メイリオ"/>
                          <a:cs typeface="Meiryo"/>
                        </a:rPr>
                        <a:t>合格実績・成長エピソード配信</a:t>
                      </a:r>
                    </a:p>
                  </a:txBody>
                  <a:tcPr>
                    <a:solidFill>
                      <a:srgbClr val="FFFFFF"/>
                    </a:solidFill>
                  </a:tcPr>
                </a:tc>
                <a:tc>
                  <a:txBody>
                    <a:bodyPr/>
                    <a:lstStyle/>
                    <a:p>
                      <a:r>
                        <a:rPr sz="1050" b="0">
                          <a:solidFill>
                            <a:srgbClr val="333333"/>
                          </a:solidFill>
                          <a:latin typeface="Meiryo"/>
                          <a:ea typeface="メイリオ"/>
                          <a:cs typeface="Meiryo"/>
                        </a:rPr>
                        <a:t>受験シーズン直後に卒業生実績を配信</a:t>
                      </a:r>
                    </a:p>
                  </a:txBody>
                  <a:tcPr>
                    <a:solidFill>
                      <a:srgbClr val="FFFFFF"/>
                    </a:solidFill>
                  </a:tcPr>
                </a:tc>
                <a:extLst>
                  <a:ext uri="{0D108BD9-81ED-4DB2-BD59-A6C34878D82A}">
                    <a16:rowId xmlns:a16="http://schemas.microsoft.com/office/drawing/2014/main" val="10001"/>
                  </a:ext>
                </a:extLst>
              </a:tr>
              <a:tr h="411480">
                <a:tc>
                  <a:txBody>
                    <a:bodyPr/>
                    <a:lstStyle/>
                    <a:p>
                      <a:r>
                        <a:rPr sz="1050" b="0">
                          <a:solidFill>
                            <a:srgbClr val="333333"/>
                          </a:solidFill>
                          <a:latin typeface="Meiryo"/>
                          <a:ea typeface="メイリオ"/>
                          <a:cs typeface="Meiryo"/>
                        </a:rPr>
                        <a:t>2-3月</a:t>
                      </a:r>
                    </a:p>
                  </a:txBody>
                  <a:tcPr>
                    <a:solidFill>
                      <a:srgbClr val="FFFFFF"/>
                    </a:solidFill>
                  </a:tcPr>
                </a:tc>
                <a:tc>
                  <a:txBody>
                    <a:bodyPr/>
                    <a:lstStyle/>
                    <a:p>
                      <a:r>
                        <a:rPr sz="1050" b="0">
                          <a:solidFill>
                            <a:srgbClr val="333333"/>
                          </a:solidFill>
                          <a:latin typeface="Meiryo"/>
                          <a:ea typeface="メイリオ"/>
                          <a:cs typeface="Meiryo"/>
                        </a:rPr>
                        <a:t>入会金半額キャンペーン</a:t>
                      </a:r>
                    </a:p>
                  </a:txBody>
                  <a:tcPr>
                    <a:solidFill>
                      <a:srgbClr val="FFFFFF"/>
                    </a:solidFill>
                  </a:tcPr>
                </a:tc>
                <a:tc>
                  <a:txBody>
                    <a:bodyPr/>
                    <a:lstStyle/>
                    <a:p>
                      <a:r>
                        <a:rPr sz="1050" b="0">
                          <a:solidFill>
                            <a:srgbClr val="333333"/>
                          </a:solidFill>
                          <a:latin typeface="Meiryo"/>
                          <a:ea typeface="メイリオ"/>
                          <a:cs typeface="Meiryo"/>
                        </a:rPr>
                        <a:t>新学年前の検討層を刈り取る</a:t>
                      </a:r>
                    </a:p>
                  </a:txBody>
                  <a:tcPr>
                    <a:solidFill>
                      <a:srgbClr val="FFFFFF"/>
                    </a:solidFill>
                  </a:tcPr>
                </a:tc>
                <a:extLst>
                  <a:ext uri="{0D108BD9-81ED-4DB2-BD59-A6C34878D82A}">
                    <a16:rowId xmlns:a16="http://schemas.microsoft.com/office/drawing/2014/main" val="10002"/>
                  </a:ext>
                </a:extLst>
              </a:tr>
              <a:tr h="411480">
                <a:tc>
                  <a:txBody>
                    <a:bodyPr/>
                    <a:lstStyle/>
                    <a:p>
                      <a:r>
                        <a:rPr sz="1050" b="0">
                          <a:solidFill>
                            <a:srgbClr val="333333"/>
                          </a:solidFill>
                          <a:latin typeface="Meiryo"/>
                          <a:ea typeface="メイリオ"/>
                          <a:cs typeface="Meiryo"/>
                        </a:rPr>
                        <a:t>4月</a:t>
                      </a:r>
                    </a:p>
                  </a:txBody>
                  <a:tcPr>
                    <a:solidFill>
                      <a:srgbClr val="FFFFFF"/>
                    </a:solidFill>
                  </a:tcPr>
                </a:tc>
                <a:tc>
                  <a:txBody>
                    <a:bodyPr/>
                    <a:lstStyle/>
                    <a:p>
                      <a:r>
                        <a:rPr sz="1050" b="0">
                          <a:solidFill>
                            <a:srgbClr val="333333"/>
                          </a:solidFill>
                          <a:latin typeface="Meiryo"/>
                          <a:ea typeface="メイリオ"/>
                          <a:cs typeface="Meiryo"/>
                        </a:rPr>
                        <a:t>ショップカード機能の継続特典スタート告知</a:t>
                      </a:r>
                    </a:p>
                  </a:txBody>
                  <a:tcPr>
                    <a:solidFill>
                      <a:srgbClr val="FFFFFF"/>
                    </a:solidFill>
                  </a:tcPr>
                </a:tc>
                <a:tc>
                  <a:txBody>
                    <a:bodyPr/>
                    <a:lstStyle/>
                    <a:p>
                      <a:r>
                        <a:rPr sz="1050" b="0">
                          <a:solidFill>
                            <a:srgbClr val="333333"/>
                          </a:solidFill>
                          <a:latin typeface="Meiryo"/>
                          <a:ea typeface="メイリオ"/>
                          <a:cs typeface="Meiryo"/>
                        </a:rPr>
                        <a:t>継続来塾のインセンティブ設計</a:t>
                      </a:r>
                    </a:p>
                  </a:txBody>
                  <a:tcPr>
                    <a:solidFill>
                      <a:srgbClr val="FFFFFF"/>
                    </a:solidFill>
                  </a:tcPr>
                </a:tc>
                <a:extLst>
                  <a:ext uri="{0D108BD9-81ED-4DB2-BD59-A6C34878D82A}">
                    <a16:rowId xmlns:a16="http://schemas.microsoft.com/office/drawing/2014/main" val="10003"/>
                  </a:ext>
                </a:extLst>
              </a:tr>
              <a:tr h="411480">
                <a:tc>
                  <a:txBody>
                    <a:bodyPr/>
                    <a:lstStyle/>
                    <a:p>
                      <a:r>
                        <a:rPr sz="1050" b="0">
                          <a:solidFill>
                            <a:srgbClr val="333333"/>
                          </a:solidFill>
                          <a:latin typeface="Meiryo"/>
                          <a:ea typeface="メイリオ"/>
                          <a:cs typeface="Meiryo"/>
                        </a:rPr>
                        <a:t>5-6月</a:t>
                      </a:r>
                    </a:p>
                  </a:txBody>
                  <a:tcPr>
                    <a:solidFill>
                      <a:srgbClr val="FFFFFF"/>
                    </a:solidFill>
                  </a:tcPr>
                </a:tc>
                <a:tc>
                  <a:txBody>
                    <a:bodyPr/>
                    <a:lstStyle/>
                    <a:p>
                      <a:r>
                        <a:rPr sz="1050" b="0">
                          <a:solidFill>
                            <a:srgbClr val="333333"/>
                          </a:solidFill>
                          <a:latin typeface="Meiryo"/>
                          <a:ea typeface="メイリオ"/>
                          <a:cs typeface="Meiryo"/>
                        </a:rPr>
                        <a:t>無料ペーパー教材プレゼント企画</a:t>
                      </a:r>
                    </a:p>
                  </a:txBody>
                  <a:tcPr>
                    <a:solidFill>
                      <a:srgbClr val="FFFFFF"/>
                    </a:solidFill>
                  </a:tcPr>
                </a:tc>
                <a:tc>
                  <a:txBody>
                    <a:bodyPr/>
                    <a:lstStyle/>
                    <a:p>
                      <a:r>
                        <a:rPr sz="1050" b="0">
                          <a:solidFill>
                            <a:srgbClr val="333333"/>
                          </a:solidFill>
                          <a:latin typeface="Meiryo"/>
                          <a:ea typeface="メイリオ"/>
                          <a:cs typeface="Meiryo"/>
                        </a:rPr>
                        <a:t>友だち限定の知育プリント配布</a:t>
                      </a:r>
                    </a:p>
                  </a:txBody>
                  <a:tcPr>
                    <a:solidFill>
                      <a:srgbClr val="FFFFFF"/>
                    </a:solidFill>
                  </a:tcPr>
                </a:tc>
                <a:extLst>
                  <a:ext uri="{0D108BD9-81ED-4DB2-BD59-A6C34878D82A}">
                    <a16:rowId xmlns:a16="http://schemas.microsoft.com/office/drawing/2014/main" val="10004"/>
                  </a:ext>
                </a:extLst>
              </a:tr>
              <a:tr h="411480">
                <a:tc>
                  <a:txBody>
                    <a:bodyPr/>
                    <a:lstStyle/>
                    <a:p>
                      <a:r>
                        <a:rPr sz="1050" b="0">
                          <a:solidFill>
                            <a:srgbClr val="333333"/>
                          </a:solidFill>
                          <a:latin typeface="Meiryo"/>
                          <a:ea typeface="メイリオ"/>
                          <a:cs typeface="Meiryo"/>
                        </a:rPr>
                        <a:t>7-8月</a:t>
                      </a:r>
                    </a:p>
                  </a:txBody>
                  <a:tcPr>
                    <a:solidFill>
                      <a:srgbClr val="FFFFFF"/>
                    </a:solidFill>
                  </a:tcPr>
                </a:tc>
                <a:tc>
                  <a:txBody>
                    <a:bodyPr/>
                    <a:lstStyle/>
                    <a:p>
                      <a:r>
                        <a:rPr sz="1050" b="0">
                          <a:solidFill>
                            <a:srgbClr val="333333"/>
                          </a:solidFill>
                          <a:latin typeface="Meiryo"/>
                          <a:ea typeface="メイリオ"/>
                          <a:cs typeface="Meiryo"/>
                        </a:rPr>
                        <a:t>保護者向け合格戦略セミナー案内</a:t>
                      </a:r>
                    </a:p>
                  </a:txBody>
                  <a:tcPr>
                    <a:solidFill>
                      <a:srgbClr val="FFFFFF"/>
                    </a:solidFill>
                  </a:tcPr>
                </a:tc>
                <a:tc>
                  <a:txBody>
                    <a:bodyPr/>
                    <a:lstStyle/>
                    <a:p>
                      <a:r>
                        <a:rPr sz="1050" b="0">
                          <a:solidFill>
                            <a:srgbClr val="333333"/>
                          </a:solidFill>
                          <a:latin typeface="Meiryo"/>
                          <a:ea typeface="メイリオ"/>
                          <a:cs typeface="Meiryo"/>
                        </a:rPr>
                        <a:t>受験直前期の相談会導線</a:t>
                      </a:r>
                    </a:p>
                  </a:txBody>
                  <a:tcPr>
                    <a:solidFill>
                      <a:srgbClr val="FFFFFF"/>
                    </a:solidFill>
                  </a:tcPr>
                </a:tc>
                <a:extLst>
                  <a:ext uri="{0D108BD9-81ED-4DB2-BD59-A6C34878D82A}">
                    <a16:rowId xmlns:a16="http://schemas.microsoft.com/office/drawing/2014/main" val="10005"/>
                  </a:ext>
                </a:extLst>
              </a:tr>
              <a:tr h="411480">
                <a:tc>
                  <a:txBody>
                    <a:bodyPr/>
                    <a:lstStyle/>
                    <a:p>
                      <a:r>
                        <a:rPr sz="1050" b="0">
                          <a:solidFill>
                            <a:srgbClr val="333333"/>
                          </a:solidFill>
                          <a:latin typeface="Meiryo"/>
                          <a:ea typeface="メイリオ"/>
                          <a:cs typeface="Meiryo"/>
                        </a:rPr>
                        <a:t>9-11月</a:t>
                      </a:r>
                    </a:p>
                  </a:txBody>
                  <a:tcPr>
                    <a:solidFill>
                      <a:srgbClr val="FFFFFF"/>
                    </a:solidFill>
                  </a:tcPr>
                </a:tc>
                <a:tc>
                  <a:txBody>
                    <a:bodyPr/>
                    <a:lstStyle/>
                    <a:p>
                      <a:r>
                        <a:rPr sz="1050" b="0">
                          <a:solidFill>
                            <a:srgbClr val="333333"/>
                          </a:solidFill>
                          <a:latin typeface="Meiryo"/>
                          <a:ea typeface="メイリオ"/>
                          <a:cs typeface="Meiryo"/>
                        </a:rPr>
                        <a:t>お友だち紹介キャンペーン強化</a:t>
                      </a:r>
                    </a:p>
                  </a:txBody>
                  <a:tcPr>
                    <a:solidFill>
                      <a:srgbClr val="FFFFFF"/>
                    </a:solidFill>
                  </a:tcPr>
                </a:tc>
                <a:tc>
                  <a:txBody>
                    <a:bodyPr/>
                    <a:lstStyle/>
                    <a:p>
                      <a:r>
                        <a:rPr sz="1050" b="0">
                          <a:solidFill>
                            <a:srgbClr val="333333"/>
                          </a:solidFill>
                          <a:latin typeface="Meiryo"/>
                          <a:ea typeface="メイリオ"/>
                          <a:cs typeface="Meiryo"/>
                        </a:rPr>
                        <a:t>受験本番に向け母数を増やす</a:t>
                      </a:r>
                    </a:p>
                  </a:txBody>
                  <a:tcPr>
                    <a:solidFill>
                      <a:srgbClr val="FFFFFF"/>
                    </a:solidFill>
                  </a:tcPr>
                </a:tc>
                <a:extLst>
                  <a:ext uri="{0D108BD9-81ED-4DB2-BD59-A6C34878D82A}">
                    <a16:rowId xmlns:a16="http://schemas.microsoft.com/office/drawing/2014/main" val="10006"/>
                  </a:ext>
                </a:extLst>
              </a:tr>
            </a:tbl>
          </a:graphicData>
        </a:graphic>
      </p:graphicFrame>
      <p:sp>
        <p:nvSpPr>
          <p:cNvPr id="47" name="TextBox 46"/>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出典：GoogleトレンドKW「受験」／競合調査（理英会／どんちゃか）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7C1D4-87AF-B047-12E0-A214281205E2}"/>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23771C4-6264-E0B7-0A8B-36CFE432F84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a:t>
            </a:r>
            <a:endParaRPr sz="1600" b="1" dirty="0">
              <a:solidFill>
                <a:srgbClr val="002060"/>
              </a:solidFill>
              <a:latin typeface="Meiryo"/>
              <a:ea typeface="Meiryo"/>
              <a:cs typeface="Meiryo"/>
              <a:sym typeface="Meiryo"/>
            </a:endParaRPr>
          </a:p>
        </p:txBody>
      </p:sp>
      <p:sp>
        <p:nvSpPr>
          <p:cNvPr id="2" name="TextBox 2">
            <a:extLst>
              <a:ext uri="{FF2B5EF4-FFF2-40B4-BE49-F238E27FC236}">
                <a16:creationId xmlns:a16="http://schemas.microsoft.com/office/drawing/2014/main" id="{A48C561C-B672-4D7C-E0CB-20192CDA08E0}"/>
              </a:ext>
            </a:extLst>
          </p:cNvPr>
          <p:cNvSpPr/>
          <p:nvPr/>
        </p:nvSpPr>
        <p:spPr>
          <a:xfrm>
            <a:off x="426900" y="1051740"/>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ユーザー対応の質を高める</a:t>
            </a:r>
            <a:r>
              <a:rPr kumimoji="1" lang="en-US" altLang="zh-CN"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3</a:t>
            </a: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つの施策カテゴリ（診断コンテンツ・複数サービスを前提に整理）</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 name="Rounded Rectangle 3">
            <a:extLst>
              <a:ext uri="{FF2B5EF4-FFF2-40B4-BE49-F238E27FC236}">
                <a16:creationId xmlns:a16="http://schemas.microsoft.com/office/drawing/2014/main" id="{48C161C3-997D-031F-FF20-5370159140C1}"/>
              </a:ext>
            </a:extLst>
          </p:cNvPr>
          <p:cNvSpPr/>
          <p:nvPr/>
        </p:nvSpPr>
        <p:spPr>
          <a:xfrm>
            <a:off x="426900" y="1691820"/>
            <a:ext cx="2834280" cy="54828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QA</a:t>
            </a: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自動化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 name="Rounded Rectangle 4">
            <a:extLst>
              <a:ext uri="{FF2B5EF4-FFF2-40B4-BE49-F238E27FC236}">
                <a16:creationId xmlns:a16="http://schemas.microsoft.com/office/drawing/2014/main" id="{6140F136-C536-8CE1-4ABC-27C53A6C98F3}"/>
              </a:ext>
            </a:extLst>
          </p:cNvPr>
          <p:cNvSpPr/>
          <p:nvPr/>
        </p:nvSpPr>
        <p:spPr>
          <a:xfrm>
            <a:off x="42690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・料金・使用量等のよくある質問にLINEチャットボットで自動回答</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・診断結果に応じたQ&amp;Aパターンも自動化候補</a:t>
            </a:r>
          </a:p>
        </p:txBody>
      </p:sp>
      <p:sp>
        <p:nvSpPr>
          <p:cNvPr id="7" name="Rounded Rectangle 5">
            <a:extLst>
              <a:ext uri="{FF2B5EF4-FFF2-40B4-BE49-F238E27FC236}">
                <a16:creationId xmlns:a16="http://schemas.microsoft.com/office/drawing/2014/main" id="{49ED863B-16D0-2D6F-E267-38B524C3E460}"/>
              </a:ext>
            </a:extLst>
          </p:cNvPr>
          <p:cNvSpPr/>
          <p:nvPr/>
        </p:nvSpPr>
        <p:spPr>
          <a:xfrm>
            <a:off x="3444420" y="1691820"/>
            <a:ext cx="2834280" cy="548280"/>
          </a:xfrm>
          <a:prstGeom prst="roundRect">
            <a:avLst>
              <a:gd name="adj" fmla="val 10000"/>
            </a:avLst>
          </a:prstGeom>
          <a:solidFill>
            <a:srgbClr val="4A6FA5"/>
          </a:solidFill>
          <a:ln w="12700" cap="flat" cmpd="sng" algn="ctr">
            <a:solidFill>
              <a:srgbClr val="4A6FA5"/>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個別チャット</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 name="Rounded Rectangle 6">
            <a:extLst>
              <a:ext uri="{FF2B5EF4-FFF2-40B4-BE49-F238E27FC236}">
                <a16:creationId xmlns:a16="http://schemas.microsoft.com/office/drawing/2014/main" id="{2120D6CC-F8E8-A676-5288-0D7CA7AE5EBB}"/>
              </a:ext>
            </a:extLst>
          </p:cNvPr>
          <p:cNvSpPr/>
          <p:nvPr/>
        </p:nvSpPr>
        <p:spPr>
          <a:xfrm>
            <a:off x="344442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・契約内容等の複雑な問い合わせは有人チャットで個別対応</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・タグ管理で乗り換え検討等、優先度の高い問い合わせを可視化</a:t>
            </a:r>
          </a:p>
        </p:txBody>
      </p:sp>
      <p:sp>
        <p:nvSpPr>
          <p:cNvPr id="11" name="Rounded Rectangle 7">
            <a:extLst>
              <a:ext uri="{FF2B5EF4-FFF2-40B4-BE49-F238E27FC236}">
                <a16:creationId xmlns:a16="http://schemas.microsoft.com/office/drawing/2014/main" id="{A110E104-86B5-BECB-43FF-305B6025C5CA}"/>
              </a:ext>
            </a:extLst>
          </p:cNvPr>
          <p:cNvSpPr/>
          <p:nvPr/>
        </p:nvSpPr>
        <p:spPr>
          <a:xfrm>
            <a:off x="6461940" y="1691820"/>
            <a:ext cx="2834280" cy="548280"/>
          </a:xfrm>
          <a:prstGeom prst="roundRect">
            <a:avLst>
              <a:gd name="adj" fmla="val 10000"/>
            </a:avLst>
          </a:prstGeom>
          <a:solidFill>
            <a:srgbClr val="5A6378"/>
          </a:solidFill>
          <a:ln w="12700" cap="flat" cmpd="sng" algn="ctr">
            <a:solidFill>
              <a:srgbClr val="5A6378"/>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その他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3" name="Rounded Rectangle 8">
            <a:extLst>
              <a:ext uri="{FF2B5EF4-FFF2-40B4-BE49-F238E27FC236}">
                <a16:creationId xmlns:a16="http://schemas.microsoft.com/office/drawing/2014/main" id="{FA298501-38B3-F233-CA41-A026320BA8C3}"/>
              </a:ext>
            </a:extLst>
          </p:cNvPr>
          <p:cNvSpPr/>
          <p:nvPr/>
        </p:nvSpPr>
        <p:spPr>
          <a:xfrm>
            <a:off x="646194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・暮らしスマイルアンケートをLINEリサーチ機能で実施</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・回答特典を付けて回収率を高める</a:t>
            </a:r>
          </a:p>
        </p:txBody>
      </p:sp>
      <p:sp>
        <p:nvSpPr>
          <p:cNvPr id="15" name="Google Shape;156;p7">
            <a:extLst>
              <a:ext uri="{FF2B5EF4-FFF2-40B4-BE49-F238E27FC236}">
                <a16:creationId xmlns:a16="http://schemas.microsoft.com/office/drawing/2014/main" id="{DCA83424-AED2-9D0C-15FF-C3A1D7D9F90E}"/>
              </a:ext>
            </a:extLst>
          </p:cNvPr>
          <p:cNvSpPr txBox="1"/>
          <p:nvPr/>
        </p:nvSpPr>
        <p:spPr>
          <a:xfrm>
            <a:off x="426900" y="4279347"/>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　　</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工数削減施策</a:t>
            </a:r>
            <a:endParaRPr sz="1600" b="1" dirty="0">
              <a:solidFill>
                <a:srgbClr val="002060"/>
              </a:solidFill>
              <a:latin typeface="Meiryo"/>
              <a:ea typeface="Meiryo"/>
              <a:cs typeface="Meiryo"/>
              <a:sym typeface="Meiryo"/>
            </a:endParaRPr>
          </a:p>
        </p:txBody>
      </p:sp>
      <p:sp>
        <p:nvSpPr>
          <p:cNvPr id="17" name="Rounded Rectangle 3">
            <a:extLst>
              <a:ext uri="{FF2B5EF4-FFF2-40B4-BE49-F238E27FC236}">
                <a16:creationId xmlns:a16="http://schemas.microsoft.com/office/drawing/2014/main" id="{13A2205C-193F-C8D0-D9D5-28D75F02D3A1}"/>
              </a:ext>
            </a:extLst>
          </p:cNvPr>
          <p:cNvSpPr/>
          <p:nvPr/>
        </p:nvSpPr>
        <p:spPr>
          <a:xfrm>
            <a:off x="426900" y="4753795"/>
            <a:ext cx="443448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自動応答</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19" name="Rounded Rectangle 4">
            <a:extLst>
              <a:ext uri="{FF2B5EF4-FFF2-40B4-BE49-F238E27FC236}">
                <a16:creationId xmlns:a16="http://schemas.microsoft.com/office/drawing/2014/main" id="{71004DFF-0445-5182-FDBF-99D37EEA5C3B}"/>
              </a:ext>
            </a:extLst>
          </p:cNvPr>
          <p:cNvSpPr/>
          <p:nvPr/>
        </p:nvSpPr>
        <p:spPr>
          <a:xfrm>
            <a:off x="42690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・キーワード応答＋タグ付けで一次対応を自動化</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・複数エリア（17アカウント）共通のFAQ対応を効率化</a:t>
            </a:r>
          </a:p>
        </p:txBody>
      </p:sp>
      <p:sp>
        <p:nvSpPr>
          <p:cNvPr id="21" name="Rounded Rectangle 5">
            <a:extLst>
              <a:ext uri="{FF2B5EF4-FFF2-40B4-BE49-F238E27FC236}">
                <a16:creationId xmlns:a16="http://schemas.microsoft.com/office/drawing/2014/main" id="{99616B08-D6A8-4286-A691-E62AF335E000}"/>
              </a:ext>
            </a:extLst>
          </p:cNvPr>
          <p:cNvSpPr/>
          <p:nvPr/>
        </p:nvSpPr>
        <p:spPr>
          <a:xfrm>
            <a:off x="5044620" y="4753795"/>
            <a:ext cx="4434480" cy="54828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その他</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23" name="Rounded Rectangle 6">
            <a:extLst>
              <a:ext uri="{FF2B5EF4-FFF2-40B4-BE49-F238E27FC236}">
                <a16:creationId xmlns:a16="http://schemas.microsoft.com/office/drawing/2014/main" id="{C9FC3A12-ACD9-D0EB-C223-270B18E3C1AE}"/>
              </a:ext>
            </a:extLst>
          </p:cNvPr>
          <p:cNvSpPr/>
          <p:nvPr/>
        </p:nvSpPr>
        <p:spPr>
          <a:xfrm>
            <a:off x="504462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・配信ログの自動集計（API連携）でレポーティング工数を削減</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・診断結果送付〜ステップ配信までをGAS等で自動化</a:t>
            </a:r>
          </a:p>
        </p:txBody>
      </p:sp>
      <p:sp>
        <p:nvSpPr>
          <p:cNvPr id="25" name="Rounded Rectangle 3">
            <a:extLst>
              <a:ext uri="{FF2B5EF4-FFF2-40B4-BE49-F238E27FC236}">
                <a16:creationId xmlns:a16="http://schemas.microsoft.com/office/drawing/2014/main" id="{C7F21D87-4A15-CE7E-773C-B513888D6575}"/>
              </a:ext>
            </a:extLst>
          </p:cNvPr>
          <p:cNvSpPr/>
          <p:nvPr/>
        </p:nvSpPr>
        <p:spPr>
          <a:xfrm>
            <a:off x="243659" y="4020903"/>
            <a:ext cx="9425441" cy="2497059"/>
          </a:xfrm>
          <a:prstGeom prst="roundRect">
            <a:avLst>
              <a:gd name="adj" fmla="val 10000"/>
            </a:avLst>
          </a:prstGeom>
          <a:solidFill>
            <a:schemeClr val="bg1">
              <a:alpha val="63000"/>
            </a:schemeClr>
          </a:solidFill>
          <a:ln w="12700">
            <a:noFill/>
            <a:round/>
          </a:ln>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400" b="0" strike="noStrike" spc="-1" dirty="0">
              <a:solidFill>
                <a:srgbClr val="FFFFFF"/>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937795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A8C22-A859-569A-8EEC-58728B6BD665}"/>
            </a:ext>
          </a:extLst>
        </p:cNvPr>
        <p:cNvGrpSpPr/>
        <p:nvPr/>
      </p:nvGrpSpPr>
      <p:grpSpPr>
        <a:xfrm>
          <a:off x="0" y="0"/>
          <a:ext cx="0" cy="0"/>
          <a:chOff x="0" y="0"/>
          <a:chExt cx="0" cy="0"/>
        </a:xfrm>
      </p:grpSpPr>
      <p:sp>
        <p:nvSpPr>
          <p:cNvPr id="3" name="Google Shape;752;p28">
            <a:extLst>
              <a:ext uri="{FF2B5EF4-FFF2-40B4-BE49-F238E27FC236}">
                <a16:creationId xmlns:a16="http://schemas.microsoft.com/office/drawing/2014/main" id="{6C96E678-C87E-58F4-6415-8E923AFE9CA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10" name="TextBox 2">
            <a:extLst>
              <a:ext uri="{FF2B5EF4-FFF2-40B4-BE49-F238E27FC236}">
                <a16:creationId xmlns:a16="http://schemas.microsoft.com/office/drawing/2014/main" id="{88F34F17-1222-19B2-703D-3A639F6FB75B}"/>
              </a:ext>
            </a:extLst>
          </p:cNvPr>
          <p:cNvSpPr/>
          <p:nvPr/>
        </p:nvSpPr>
        <p:spPr>
          <a:xfrm>
            <a:off x="426900" y="1777180"/>
            <a:ext cx="9052200" cy="30632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zh-CN" sz="1400" b="0" strike="noStrike" spc="-1">
                <a:solidFill>
                  <a:srgbClr val="5A6378"/>
                </a:solidFill>
                <a:latin typeface="メイリオ" panose="020B0604030504040204" pitchFamily="50" charset="-128"/>
                <a:ea typeface="メイリオ" panose="020B0604030504040204" pitchFamily="50" charset="-128"/>
              </a:rPr>
              <a:t>各接点（箇所）ごとに訴求を出し分け、LINE友だち追加へつなげる（診断コンテンツを起点に設計）</a:t>
            </a:r>
            <a:endParaRPr lang="en-US" sz="1400" b="0" strike="noStrike" spc="-1">
              <a:solidFill>
                <a:srgbClr val="000000"/>
              </a:solidFill>
              <a:latin typeface="メイリオ" panose="020B0604030504040204" pitchFamily="50" charset="-128"/>
              <a:ea typeface="メイリオ" panose="020B0604030504040204" pitchFamily="50" charset="-128"/>
            </a:endParaRPr>
          </a:p>
        </p:txBody>
      </p:sp>
      <p:sp>
        <p:nvSpPr>
          <p:cNvPr id="15" name="Rounded Rectangle 3">
            <a:extLst>
              <a:ext uri="{FF2B5EF4-FFF2-40B4-BE49-F238E27FC236}">
                <a16:creationId xmlns:a16="http://schemas.microsoft.com/office/drawing/2014/main" id="{C4925BB9-D79E-FFBF-0C62-AA4DA1B53D1C}"/>
              </a:ext>
            </a:extLst>
          </p:cNvPr>
          <p:cNvSpPr/>
          <p:nvPr/>
        </p:nvSpPr>
        <p:spPr>
          <a:xfrm>
            <a:off x="42690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料金プラン診断コンテンツ</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18" name="Right Arrow 4">
            <a:extLst>
              <a:ext uri="{FF2B5EF4-FFF2-40B4-BE49-F238E27FC236}">
                <a16:creationId xmlns:a16="http://schemas.microsoft.com/office/drawing/2014/main" id="{88BC1F8F-F7F1-CC07-4381-CFB49926A52D}"/>
              </a:ext>
            </a:extLst>
          </p:cNvPr>
          <p:cNvSpPr/>
          <p:nvPr/>
        </p:nvSpPr>
        <p:spPr>
          <a:xfrm>
            <a:off x="324930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6" name="Rounded Rectangle 5">
            <a:extLst>
              <a:ext uri="{FF2B5EF4-FFF2-40B4-BE49-F238E27FC236}">
                <a16:creationId xmlns:a16="http://schemas.microsoft.com/office/drawing/2014/main" id="{43F406FA-C08A-D91A-4E14-2D8412F195E6}"/>
              </a:ext>
            </a:extLst>
          </p:cNvPr>
          <p:cNvSpPr/>
          <p:nvPr/>
        </p:nvSpPr>
        <p:spPr>
          <a:xfrm>
            <a:off x="354198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診断結果をLINEで送付</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27" name="Right Arrow 6">
            <a:extLst>
              <a:ext uri="{FF2B5EF4-FFF2-40B4-BE49-F238E27FC236}">
                <a16:creationId xmlns:a16="http://schemas.microsoft.com/office/drawing/2014/main" id="{7D9F3C04-6BFD-7CFA-B759-ACDA786DAC87}"/>
              </a:ext>
            </a:extLst>
          </p:cNvPr>
          <p:cNvSpPr/>
          <p:nvPr/>
        </p:nvSpPr>
        <p:spPr>
          <a:xfrm>
            <a:off x="636438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8" name="Rounded Rectangle 7">
            <a:extLst>
              <a:ext uri="{FF2B5EF4-FFF2-40B4-BE49-F238E27FC236}">
                <a16:creationId xmlns:a16="http://schemas.microsoft.com/office/drawing/2014/main" id="{56BFF9D2-5CEA-F780-1665-E25342AA7BC9}"/>
              </a:ext>
            </a:extLst>
          </p:cNvPr>
          <p:cNvSpPr/>
          <p:nvPr/>
        </p:nvSpPr>
        <p:spPr>
          <a:xfrm>
            <a:off x="6657060" y="246298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1" strike="noStrike" spc="-1">
                <a:solidFill>
                  <a:srgbClr val="FFFFFF"/>
                </a:solidFill>
                <a:latin typeface="メイリオ" panose="020B0604030504040204" pitchFamily="50" charset="-128"/>
                <a:ea typeface="メイリオ" panose="020B0604030504040204" pitchFamily="50" charset="-128"/>
              </a:rPr>
              <a:t>LINE</a:t>
            </a:r>
            <a:r>
              <a:rPr lang="zh-CN" sz="10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29" name="Rounded Rectangle 8">
            <a:extLst>
              <a:ext uri="{FF2B5EF4-FFF2-40B4-BE49-F238E27FC236}">
                <a16:creationId xmlns:a16="http://schemas.microsoft.com/office/drawing/2014/main" id="{F2D5D985-2571-C6B2-6BD5-E19E0FEA1435}"/>
              </a:ext>
            </a:extLst>
          </p:cNvPr>
          <p:cNvSpPr/>
          <p:nvPr/>
        </p:nvSpPr>
        <p:spPr>
          <a:xfrm>
            <a:off x="42690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マイサーラ会員登録案内</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0" name="Right Arrow 9">
            <a:extLst>
              <a:ext uri="{FF2B5EF4-FFF2-40B4-BE49-F238E27FC236}">
                <a16:creationId xmlns:a16="http://schemas.microsoft.com/office/drawing/2014/main" id="{E511E491-CBEA-6A51-3351-3AB67CE6168D}"/>
              </a:ext>
            </a:extLst>
          </p:cNvPr>
          <p:cNvSpPr/>
          <p:nvPr/>
        </p:nvSpPr>
        <p:spPr>
          <a:xfrm>
            <a:off x="324930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1" name="Rounded Rectangle 10">
            <a:extLst>
              <a:ext uri="{FF2B5EF4-FFF2-40B4-BE49-F238E27FC236}">
                <a16:creationId xmlns:a16="http://schemas.microsoft.com/office/drawing/2014/main" id="{BF05E24B-C8E2-ED81-489E-0A7E354F89B3}"/>
              </a:ext>
            </a:extLst>
          </p:cNvPr>
          <p:cNvSpPr/>
          <p:nvPr/>
        </p:nvSpPr>
        <p:spPr>
          <a:xfrm>
            <a:off x="354198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料金確定通知もLINEで受け取れる</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2" name="Right Arrow 11">
            <a:extLst>
              <a:ext uri="{FF2B5EF4-FFF2-40B4-BE49-F238E27FC236}">
                <a16:creationId xmlns:a16="http://schemas.microsoft.com/office/drawing/2014/main" id="{48B569E4-489C-51C8-663D-44B3897EEAAF}"/>
              </a:ext>
            </a:extLst>
          </p:cNvPr>
          <p:cNvSpPr/>
          <p:nvPr/>
        </p:nvSpPr>
        <p:spPr>
          <a:xfrm>
            <a:off x="636438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3" name="Rounded Rectangle 12">
            <a:extLst>
              <a:ext uri="{FF2B5EF4-FFF2-40B4-BE49-F238E27FC236}">
                <a16:creationId xmlns:a16="http://schemas.microsoft.com/office/drawing/2014/main" id="{5FC51B9B-AA21-8F66-E3AB-3462FCD63368}"/>
              </a:ext>
            </a:extLst>
          </p:cNvPr>
          <p:cNvSpPr/>
          <p:nvPr/>
        </p:nvSpPr>
        <p:spPr>
          <a:xfrm>
            <a:off x="6657060" y="333166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1" strike="noStrike" spc="-1">
                <a:solidFill>
                  <a:srgbClr val="FFFFFF"/>
                </a:solidFill>
                <a:latin typeface="メイリオ" panose="020B0604030504040204" pitchFamily="50" charset="-128"/>
                <a:ea typeface="メイリオ" panose="020B0604030504040204" pitchFamily="50" charset="-128"/>
              </a:rPr>
              <a:t>LINE</a:t>
            </a:r>
            <a:r>
              <a:rPr lang="zh-CN" sz="10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34" name="Rounded Rectangle 13">
            <a:extLst>
              <a:ext uri="{FF2B5EF4-FFF2-40B4-BE49-F238E27FC236}">
                <a16:creationId xmlns:a16="http://schemas.microsoft.com/office/drawing/2014/main" id="{22D948EF-E8AB-9977-D385-ECE4F24EA2A6}"/>
              </a:ext>
            </a:extLst>
          </p:cNvPr>
          <p:cNvSpPr/>
          <p:nvPr/>
        </p:nvSpPr>
        <p:spPr>
          <a:xfrm>
            <a:off x="42690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地域別WEB申込キャンペーン</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5" name="Right Arrow 14">
            <a:extLst>
              <a:ext uri="{FF2B5EF4-FFF2-40B4-BE49-F238E27FC236}">
                <a16:creationId xmlns:a16="http://schemas.microsoft.com/office/drawing/2014/main" id="{ED599AD2-9433-037D-4055-3CD5D868773E}"/>
              </a:ext>
            </a:extLst>
          </p:cNvPr>
          <p:cNvSpPr/>
          <p:nvPr/>
        </p:nvSpPr>
        <p:spPr>
          <a:xfrm>
            <a:off x="324930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6" name="Rounded Rectangle 15">
            <a:extLst>
              <a:ext uri="{FF2B5EF4-FFF2-40B4-BE49-F238E27FC236}">
                <a16:creationId xmlns:a16="http://schemas.microsoft.com/office/drawing/2014/main" id="{AB67C977-69C9-A50F-851E-986C7CB7A3D5}"/>
              </a:ext>
            </a:extLst>
          </p:cNvPr>
          <p:cNvSpPr/>
          <p:nvPr/>
        </p:nvSpPr>
        <p:spPr>
          <a:xfrm>
            <a:off x="354198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申込完了特典をLINEでお届け</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43" name="Right Arrow 16">
            <a:extLst>
              <a:ext uri="{FF2B5EF4-FFF2-40B4-BE49-F238E27FC236}">
                <a16:creationId xmlns:a16="http://schemas.microsoft.com/office/drawing/2014/main" id="{526CE94B-E706-E4C3-FD31-99BF0647BBEF}"/>
              </a:ext>
            </a:extLst>
          </p:cNvPr>
          <p:cNvSpPr/>
          <p:nvPr/>
        </p:nvSpPr>
        <p:spPr>
          <a:xfrm>
            <a:off x="636438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44" name="Rounded Rectangle 17">
            <a:extLst>
              <a:ext uri="{FF2B5EF4-FFF2-40B4-BE49-F238E27FC236}">
                <a16:creationId xmlns:a16="http://schemas.microsoft.com/office/drawing/2014/main" id="{3B4A80AC-373C-53F9-4A7E-460E1983856E}"/>
              </a:ext>
            </a:extLst>
          </p:cNvPr>
          <p:cNvSpPr/>
          <p:nvPr/>
        </p:nvSpPr>
        <p:spPr>
          <a:xfrm>
            <a:off x="6657060" y="420034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1" strike="noStrike" spc="-1">
                <a:solidFill>
                  <a:srgbClr val="FFFFFF"/>
                </a:solidFill>
                <a:latin typeface="メイリオ" panose="020B0604030504040204" pitchFamily="50" charset="-128"/>
                <a:ea typeface="メイリオ" panose="020B0604030504040204" pitchFamily="50" charset="-128"/>
              </a:rPr>
              <a:t>LINE</a:t>
            </a:r>
            <a:r>
              <a:rPr lang="zh-CN" sz="10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45" name="TextBox 18">
            <a:extLst>
              <a:ext uri="{FF2B5EF4-FFF2-40B4-BE49-F238E27FC236}">
                <a16:creationId xmlns:a16="http://schemas.microsoft.com/office/drawing/2014/main" id="{0E624A20-F489-CA81-0820-C9C371152A6C}"/>
              </a:ext>
            </a:extLst>
          </p:cNvPr>
          <p:cNvSpPr/>
          <p:nvPr/>
        </p:nvSpPr>
        <p:spPr>
          <a:xfrm>
            <a:off x="548883" y="5211344"/>
            <a:ext cx="9052200" cy="26015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en-US" sz="1100" b="0" strike="noStrike" spc="-1">
                <a:solidFill>
                  <a:srgbClr val="9AA1AE"/>
                </a:solidFill>
                <a:latin typeface="メイリオ" panose="020B0604030504040204" pitchFamily="50" charset="-128"/>
                <a:ea typeface="メイリオ" panose="020B0604030504040204" pitchFamily="50" charset="-128"/>
              </a:rPr>
              <a:t>※「料金プラン診断」はサイト上に簡易診断フォームを設置し、結果をLINEで送付する動線を想定（要開発）</a:t>
            </a:r>
            <a:endParaRPr lang="en-US" sz="1100" b="0" strike="noStrike" spc="-1">
              <a:solidFill>
                <a:srgbClr val="00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7346628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離脱防止バナー</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bg1">
              <a:lumMod val="95000"/>
            </a:schemeClr>
          </a:solidFill>
          <a:ln w="25400" cap="flat" cmpd="sng" algn="ctr">
            <a:solidFill>
              <a:schemeClr val="tx1">
                <a:lumMod val="50000"/>
                <a:lumOff val="50000"/>
              </a:scheme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利用までナーチャリング</a:t>
            </a:r>
            <a:endParaRPr lang="en-US" altLang="ja-JP" sz="1600" b="1" dirty="0">
              <a:latin typeface="Meiryo"/>
              <a:ea typeface="Meiryo"/>
              <a:cs typeface="Meiryo"/>
              <a:sym typeface="Meiryo"/>
            </a:endParaRPr>
          </a:p>
          <a:p>
            <a:pPr lvl="0" algn="ctr">
              <a:buClr>
                <a:schemeClr val="dk1"/>
              </a:buClr>
              <a:buSzPts val="1500"/>
            </a:pPr>
            <a:r>
              <a:rPr lang="en-US" altLang="ja-JP" sz="1100" dirty="0">
                <a:solidFill>
                  <a:srgbClr val="FF0000"/>
                </a:solidFill>
                <a:latin typeface="Meiryo"/>
                <a:ea typeface="Meiryo"/>
                <a:cs typeface="Meiryo"/>
                <a:sym typeface="Meiryo"/>
              </a:rPr>
              <a:t>※</a:t>
            </a:r>
            <a:r>
              <a:rPr lang="ja-JP" altLang="en-US" sz="1100" dirty="0">
                <a:solidFill>
                  <a:srgbClr val="FF0000"/>
                </a:solidFill>
                <a:latin typeface="Meiryo"/>
                <a:ea typeface="Meiryo"/>
                <a:cs typeface="Meiryo"/>
                <a:sym typeface="Meiryo"/>
              </a:rPr>
              <a:t>実施想定の友だち追加動線について、★を記載しております。</a:t>
            </a:r>
            <a:endParaRPr lang="en-US" altLang="ja-JP" sz="1600" dirty="0">
              <a:solidFill>
                <a:srgbClr val="FF0000"/>
              </a:solidFill>
              <a:latin typeface="Meiryo"/>
              <a:ea typeface="Meiryo"/>
              <a:cs typeface="Meiryo"/>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星: 5 pt 14">
            <a:extLst>
              <a:ext uri="{FF2B5EF4-FFF2-40B4-BE49-F238E27FC236}">
                <a16:creationId xmlns:a16="http://schemas.microsoft.com/office/drawing/2014/main" id="{E7B29608-5299-2165-6DD5-597E992E7B04}"/>
              </a:ext>
            </a:extLst>
          </p:cNvPr>
          <p:cNvSpPr/>
          <p:nvPr/>
        </p:nvSpPr>
        <p:spPr>
          <a:xfrm>
            <a:off x="9252865" y="167210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300013459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00"/>
              </a:solidFill>
              <a:latin typeface="Meiryo"/>
              <a:ea typeface="Meiryo"/>
              <a:cs typeface="Meiryo"/>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506C2-B2E5-BEA0-384E-7336F080BD96}"/>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非</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既存の</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a:t>
            </a:r>
            <a:r>
              <a:rPr lang="en-US" altLang="ja-JP" sz="1100" b="1" dirty="0">
                <a:solidFill>
                  <a:schemeClr val="tx1"/>
                </a:solidFill>
                <a:latin typeface="メイリオ" panose="020B0604030504040204" pitchFamily="50" charset="-128"/>
                <a:ea typeface="メイリオ" panose="020B0604030504040204" pitchFamily="50" charset="-128"/>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Y</a:t>
            </a:r>
          </a:p>
          <a:p>
            <a:pPr algn="ctr"/>
            <a:r>
              <a:rPr lang="en-US" altLang="ja-JP" sz="1100" b="1" dirty="0">
                <a:solidFill>
                  <a:schemeClr val="tx1"/>
                </a:solidFill>
                <a:latin typeface="メイリオ" panose="020B0604030504040204" pitchFamily="50" charset="-128"/>
                <a:ea typeface="メイリオ" panose="020B0604030504040204" pitchFamily="50" charset="-128"/>
              </a:rPr>
              <a:t>M</a:t>
            </a:r>
            <a:r>
              <a:rPr lang="ja-JP" altLang="en-US" sz="1100" b="1" dirty="0">
                <a:solidFill>
                  <a:schemeClr val="tx1"/>
                </a:solidFill>
                <a:latin typeface="メイリオ" panose="020B0604030504040204" pitchFamily="50" charset="-128"/>
                <a:ea typeface="メイリオ" panose="020B0604030504040204" pitchFamily="50" charset="-128"/>
              </a:rPr>
              <a:t>ツ</a:t>
            </a:r>
            <a:endParaRPr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｜ルで</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L</a:t>
            </a:r>
            <a:br>
              <a:rPr kumimoji="1" lang="en-US" altLang="ja-JP" sz="1100" b="1" dirty="0">
                <a:solidFill>
                  <a:schemeClr val="tx1"/>
                </a:solidFill>
                <a:latin typeface="メイリオ" panose="020B0604030504040204" pitchFamily="50" charset="-128"/>
                <a:ea typeface="メイリオ" panose="020B0604030504040204" pitchFamily="50" charset="-128"/>
              </a:rPr>
            </a:br>
            <a:r>
              <a:rPr kumimoji="1" lang="en-US" altLang="ja-JP" sz="1100" b="1" dirty="0">
                <a:solidFill>
                  <a:schemeClr val="tx1"/>
                </a:solidFill>
                <a:latin typeface="メイリオ" panose="020B0604030504040204" pitchFamily="50" charset="-128"/>
                <a:ea typeface="メイリオ" panose="020B0604030504040204" pitchFamily="50" charset="-128"/>
              </a:rPr>
              <a:t>I</a:t>
            </a:r>
          </a:p>
          <a:p>
            <a:pPr algn="ctr"/>
            <a:r>
              <a:rPr lang="en-US" altLang="ja-JP" sz="1100" b="1" dirty="0">
                <a:solidFill>
                  <a:schemeClr val="tx1"/>
                </a:solidFill>
                <a:latin typeface="メイリオ" panose="020B0604030504040204" pitchFamily="50" charset="-128"/>
                <a:ea typeface="メイリオ" panose="020B0604030504040204" pitchFamily="50" charset="-128"/>
              </a:rPr>
              <a:t>N</a:t>
            </a:r>
            <a:br>
              <a:rPr lang="en-US" altLang="ja-JP" sz="1100" b="1" dirty="0">
                <a:solidFill>
                  <a:schemeClr val="tx1"/>
                </a:solidFill>
                <a:latin typeface="メイリオ" panose="020B0604030504040204" pitchFamily="50" charset="-128"/>
                <a:ea typeface="メイリオ" panose="020B0604030504040204" pitchFamily="50" charset="-128"/>
              </a:rPr>
            </a:br>
            <a:r>
              <a:rPr lang="en-US" altLang="ja-JP" sz="1100" b="1" dirty="0">
                <a:solidFill>
                  <a:schemeClr val="tx1"/>
                </a:solidFill>
                <a:latin typeface="メイリオ" panose="020B0604030504040204" pitchFamily="50" charset="-128"/>
                <a:ea typeface="メイリオ" panose="020B0604030504040204" pitchFamily="50" charset="-128"/>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動線</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lang="ja-JP" altLang="en-US" sz="1100" b="1" dirty="0">
                <a:solidFill>
                  <a:schemeClr val="tx1"/>
                </a:solidFill>
                <a:latin typeface="メイリオ" panose="020B0604030504040204" pitchFamily="50" charset="-128"/>
                <a:ea typeface="メイリオ" panose="020B0604030504040204" pitchFamily="50" charset="-128"/>
              </a:rPr>
              <a:t>に</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友だち</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登録ページ</a:t>
            </a:r>
            <a:r>
              <a:rPr lang="ja-JP" altLang="en-US" sz="1100" dirty="0">
                <a:latin typeface="メイリオ" panose="020B0604030504040204" pitchFamily="50" charset="-128"/>
                <a:ea typeface="メイリオ" panose="020B0604030504040204" pitchFamily="50" charset="-128"/>
              </a:rPr>
              <a:t>へ遷移する。</a:t>
            </a:r>
            <a:endParaRPr kumimoji="1" lang="ja-JP" altLang="en-US" sz="1100" dirty="0">
              <a:latin typeface="メイリオ" panose="020B0604030504040204" pitchFamily="50" charset="-128"/>
              <a:ea typeface="メイリオ" panose="020B0604030504040204" pitchFamily="50" charset="-128"/>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トーク</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画面</a:t>
            </a:r>
            <a:r>
              <a:rPr lang="ja-JP" altLang="en-US" sz="1100" dirty="0">
                <a:latin typeface="メイリオ" panose="020B0604030504040204" pitchFamily="50" charset="-128"/>
                <a:ea typeface="メイリオ" panose="020B0604030504040204" pitchFamily="50" charset="-128"/>
              </a:rPr>
              <a:t>へ遷移する。</a:t>
            </a:r>
            <a:endParaRPr lang="en-US" altLang="ja-JP" sz="1100" dirty="0">
              <a:latin typeface="メイリオ" panose="020B0604030504040204" pitchFamily="50" charset="-128"/>
              <a:ea typeface="メイリオ" panose="020B0604030504040204" pitchFamily="50" charset="-128"/>
            </a:endParaRPr>
          </a:p>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000" dirty="0">
                <a:solidFill>
                  <a:srgbClr val="FF0000"/>
                </a:solidFill>
                <a:latin typeface="メイリオ" panose="020B0604030504040204" pitchFamily="50" charset="-128"/>
                <a:ea typeface="メイリオ" panose="020B0604030504040204" pitchFamily="50" charset="-128"/>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endParaRPr>
          </a:p>
          <a:p>
            <a:r>
              <a:rPr kumimoji="1" lang="ja-JP" altLang="en-US" sz="1000" dirty="0">
                <a:solidFill>
                  <a:srgbClr val="FF0000"/>
                </a:solidFill>
                <a:latin typeface="メイリオ" panose="020B0604030504040204" pitchFamily="50" charset="-128"/>
                <a:ea typeface="メイリオ" panose="020B0604030504040204" pitchFamily="50" charset="-128"/>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endParaRPr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a:p>
            <a:r>
              <a:rPr kumimoji="1" lang="ja-JP" altLang="en-US" sz="1100" b="1" dirty="0">
                <a:latin typeface="メイリオ" panose="020B0604030504040204" pitchFamily="50" charset="-128"/>
                <a:ea typeface="メイリオ" panose="020B0604030504040204" pitchFamily="50" charset="-128"/>
              </a:rPr>
              <a:t>配信セグメントに利用可</a:t>
            </a:r>
            <a:endParaRPr kumimoji="1" lang="ja-JP" altLang="en-US" sz="1100" dirty="0">
              <a:latin typeface="メイリオ" panose="020B0604030504040204" pitchFamily="50" charset="-128"/>
              <a:ea typeface="メイリオ" panose="020B0604030504040204" pitchFamily="50" charset="-128"/>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7"/>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7"/>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7"/>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8"/>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9"/>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rPr>
              <a:t>※</a:t>
            </a:r>
            <a:r>
              <a:rPr lang="ja-JP" altLang="en-US" sz="1000" b="1" dirty="0">
                <a:solidFill>
                  <a:srgbClr val="FF0000"/>
                </a:solidFill>
                <a:latin typeface="メイリオ" panose="020B0604030504040204" pitchFamily="50" charset="-128"/>
                <a:ea typeface="メイリオ" panose="020B0604030504040204" pitchFamily="50" charset="-128"/>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endParaRPr>
          </a:p>
          <a:p>
            <a:pPr algn="ctr"/>
            <a:r>
              <a:rPr lang="ja-JP" altLang="en-US" sz="1000" b="1" dirty="0">
                <a:solidFill>
                  <a:srgbClr val="FF0000"/>
                </a:solidFill>
                <a:latin typeface="メイリオ" panose="020B0604030504040204" pitchFamily="50" charset="-128"/>
                <a:ea typeface="メイリオ" panose="020B0604030504040204" pitchFamily="50" charset="-128"/>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rPr>
              <a:t>CV</a:t>
            </a:r>
            <a:endParaRPr kumimoji="1" lang="ja-JP" altLang="en-US" sz="1100" b="1" dirty="0">
              <a:latin typeface="メイリオ" panose="020B0604030504040204" pitchFamily="50" charset="-128"/>
              <a:ea typeface="メイリオ" panose="020B0604030504040204" pitchFamily="50" charset="-128"/>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7"/>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7"/>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7"/>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サンクス</a:t>
              </a:r>
              <a:r>
                <a:rPr kumimoji="1" lang="en-US" altLang="ja-JP" sz="1500" b="1" dirty="0">
                  <a:solidFill>
                    <a:schemeClr val="bg1"/>
                  </a:solidFill>
                  <a:latin typeface="Meiryo" panose="020B0604030504040204" pitchFamily="34" charset="-128"/>
                  <a:ea typeface="Meiryo" panose="020B0604030504040204" pitchFamily="34" charset="-128"/>
                </a:rPr>
                <a:t>LINE</a:t>
              </a:r>
              <a:r>
                <a:rPr kumimoji="1" lang="ja-JP" altLang="en-US" sz="1500" b="1" dirty="0">
                  <a:solidFill>
                    <a:schemeClr val="bg1"/>
                  </a:solidFill>
                  <a:latin typeface="Meiryo" panose="020B0604030504040204" pitchFamily="34" charset="-128"/>
                  <a:ea typeface="Meiryo"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rPr>
              <a:t>友だち追加後</a:t>
            </a:r>
            <a:endParaRPr lang="ja-JP" altLang="en-US" sz="1100" dirty="0">
              <a:solidFill>
                <a:srgbClr val="00C057"/>
              </a:solidFill>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Meiryo"/>
                <a:ea typeface="Meiryo"/>
                <a:cs typeface="Meiryo"/>
                <a:sym typeface="Meiryo"/>
              </a:rPr>
              <a:t>サンクス到達時の</a:t>
            </a:r>
            <a:r>
              <a:rPr lang="en-US" altLang="ja-JP" sz="1600" dirty="0">
                <a:latin typeface="Meiryo"/>
                <a:ea typeface="Meiryo"/>
                <a:cs typeface="Meiryo"/>
                <a:sym typeface="Meiryo"/>
              </a:rPr>
              <a:t>LINE</a:t>
            </a:r>
            <a:r>
              <a:rPr lang="ja-JP" altLang="en-US" sz="1600" dirty="0">
                <a:latin typeface="Meiryo"/>
                <a:ea typeface="Meiryo"/>
                <a:cs typeface="Meiryo"/>
                <a:sym typeface="Meiryo"/>
              </a:rPr>
              <a:t>動線が弊社開発により可能に。</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費用を抑えての導入が可能で、新規反響の質改善に寄与。</a:t>
            </a:r>
          </a:p>
        </p:txBody>
      </p:sp>
      <p:sp>
        <p:nvSpPr>
          <p:cNvPr id="10" name="テキスト ボックス 9">
            <a:extLst>
              <a:ext uri="{FF2B5EF4-FFF2-40B4-BE49-F238E27FC236}">
                <a16:creationId xmlns:a16="http://schemas.microsoft.com/office/drawing/2014/main" id="{3EACBB40-B311-2012-88DC-7E4CD6FCFF28}"/>
              </a:ext>
            </a:extLst>
          </p:cNvPr>
          <p:cNvSpPr txBox="1"/>
          <p:nvPr/>
        </p:nvSpPr>
        <p:spPr>
          <a:xfrm>
            <a:off x="4091506" y="1391612"/>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暫定措置として導入済アカウントについては</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2026</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年</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7</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月～の価格改定の予定</a:t>
            </a:r>
            <a:endParaRPr lang="ja-JP" altLang="en-US" sz="900" dirty="0">
              <a:solidFill>
                <a:srgbClr val="FF0000"/>
              </a:solidFill>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ツールとの併用についても、問題なく稼働が可能。</a:t>
            </a:r>
            <a:endParaRPr lang="ja-JP" altLang="en-US" sz="900" dirty="0">
              <a:solidFill>
                <a:srgbClr val="FF0000"/>
              </a:solidFill>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設定地点追加</a:t>
            </a:r>
            <a:endParaRPr sz="1050" b="1" i="0" u="none" strike="noStrike" cap="none" dirty="0">
              <a:solidFill>
                <a:srgbClr val="FFFF00"/>
              </a:solidFill>
              <a:latin typeface="Meiryo"/>
              <a:ea typeface="Meiryo"/>
              <a:cs typeface="Meiryo"/>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rPr>
              <a:t>高開封率のLINEに誘導</a:t>
            </a:r>
            <a:r>
              <a:rPr lang="ja-JP" altLang="en-US" sz="1200" dirty="0">
                <a:latin typeface="メイリオ" panose="020B0604030504040204" pitchFamily="50" charset="-128"/>
                <a:ea typeface="メイリオ" panose="020B0604030504040204" pitchFamily="50" charset="-128"/>
              </a:rPr>
              <a:t>して</a:t>
            </a:r>
            <a:r>
              <a:rPr lang="ja-JP" altLang="ja-JP" sz="1200" dirty="0">
                <a:latin typeface="メイリオ" panose="020B0604030504040204" pitchFamily="50" charset="-128"/>
                <a:ea typeface="メイリオ" panose="020B0604030504040204" pitchFamily="50" charset="-128"/>
              </a:rPr>
              <a:t>反響→実売上への引上げ率、リピート率改善。</a:t>
            </a:r>
            <a:endParaRPr lang="en-US" altLang="ja-JP" sz="1200" dirty="0">
              <a:latin typeface="メイリオ" panose="020B0604030504040204" pitchFamily="50" charset="-128"/>
              <a:ea typeface="メイリオ" panose="020B0604030504040204" pitchFamily="50" charset="-128"/>
            </a:endParaRPr>
          </a:p>
          <a:p>
            <a:pPr algn="ctr"/>
            <a:r>
              <a:rPr lang="ja-JP" altLang="ja-JP" sz="1200" dirty="0">
                <a:latin typeface="メイリオ" panose="020B0604030504040204" pitchFamily="50" charset="-128"/>
                <a:ea typeface="メイリオ" panose="020B0604030504040204" pitchFamily="50" charset="-128"/>
              </a:rPr>
              <a:t> </a:t>
            </a:r>
            <a:r>
              <a:rPr lang="ja-JP" altLang="ja-JP" sz="1200" b="1" dirty="0">
                <a:solidFill>
                  <a:srgbClr val="FF0000"/>
                </a:solidFill>
                <a:latin typeface="メイリオ" panose="020B0604030504040204" pitchFamily="50" charset="-128"/>
                <a:ea typeface="メイリオ" panose="020B0604030504040204" pitchFamily="50" charset="-128"/>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rPr>
              <a:t>。</a:t>
            </a:r>
            <a:endParaRPr lang="ja-JP" altLang="en-US"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94909011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4245125" y="3038203"/>
            <a:ext cx="1415772"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費用感</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サービス内容</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施策成果件数に伴う費用発生でリスクを抑えた運用スタートを実現。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保護者ユーザーのカスタマージャーニー（8フェーズ）</a:t>
            </a:r>
            <a:endParaRPr lang="en-US" sz="1300" dirty="0">
              <a:latin typeface="メイリオ" panose="020B0604030504040204" pitchFamily="50" charset="-128"/>
              <a:ea typeface="メイリオ" panose="020B0604030504040204" pitchFamily="50" charset="-128"/>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接触〜入会・継続までの動線設計</a:t>
            </a:r>
            <a:endParaRPr lang="en-US" sz="10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02</a:t>
            </a:r>
            <a:endParaRPr lang="en-US" sz="1300" dirty="0">
              <a:latin typeface="メイリオ" panose="020B0604030504040204" pitchFamily="50" charset="-128"/>
              <a:ea typeface="メイリオ" panose="020B0604030504040204" pitchFamily="50" charset="-128"/>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4</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-8</a:t>
            </a:r>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sz="1300" dirty="0">
              <a:latin typeface="メイリオ" panose="020B0604030504040204" pitchFamily="50" charset="-128"/>
              <a:ea typeface="メイリオ" panose="020B0604030504040204" pitchFamily="50" charset="-128"/>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友だち追加直後〜成約誘導まで</a:t>
            </a:r>
            <a:endParaRPr lang="en-US" sz="1000" dirty="0">
              <a:latin typeface="メイリオ" panose="020B0604030504040204" pitchFamily="50" charset="-128"/>
              <a:ea typeface="メイリオ" panose="020B0604030504040204" pitchFamily="50" charset="-128"/>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03</a:t>
            </a:r>
            <a:endParaRPr lang="en-US" sz="1300" dirty="0">
              <a:latin typeface="メイリオ" panose="020B0604030504040204" pitchFamily="50" charset="-128"/>
              <a:ea typeface="メイリオ" panose="020B0604030504040204" pitchFamily="50" charset="-128"/>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04</a:t>
            </a:r>
            <a:endParaRPr lang="en-US" sz="1300" dirty="0">
              <a:latin typeface="メイリオ" panose="020B0604030504040204" pitchFamily="50" charset="-128"/>
              <a:ea typeface="メイリオ" panose="020B0604030504040204" pitchFamily="50" charset="-128"/>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セグメント設定</a:t>
            </a:r>
            <a:endParaRPr lang="en-US" sz="1300" dirty="0">
              <a:latin typeface="メイリオ" panose="020B0604030504040204" pitchFamily="50" charset="-128"/>
              <a:ea typeface="メイリオ" panose="020B0604030504040204" pitchFamily="50" charset="-128"/>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00" dirty="0">
              <a:latin typeface="メイリオ" panose="020B0604030504040204" pitchFamily="50" charset="-128"/>
              <a:ea typeface="メイリオ" panose="020B0604030504040204" pitchFamily="50" charset="-128"/>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a:latin typeface="メイリオ" panose="020B0604030504040204" pitchFamily="50" charset="-128"/>
                <a:ea typeface="メイリオ" panose="020B0604030504040204" pitchFamily="50" charset="-128"/>
              </a:rPr>
              <a:t>WEB</a:t>
            </a:r>
            <a:r>
              <a:rPr lang="ja-JP" altLang="en-US" sz="1000" dirty="0">
                <a:latin typeface="メイリオ" panose="020B0604030504040204" pitchFamily="50" charset="-128"/>
                <a:ea typeface="メイリオ" panose="020B0604030504040204" pitchFamily="50" charset="-128"/>
              </a:rPr>
              <a:t>サイトアクション、</a:t>
            </a: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上アクションのスコアリング 等を活用</a:t>
            </a:r>
            <a:endParaRPr lang="en-US" altLang="ja-JP" sz="1000" dirty="0">
              <a:latin typeface="メイリオ" panose="020B0604030504040204" pitchFamily="50" charset="-128"/>
              <a:ea typeface="メイリオ" panose="020B0604030504040204" pitchFamily="50" charset="-128"/>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sz="1300" dirty="0">
              <a:latin typeface="メイリオ" panose="020B0604030504040204" pitchFamily="50" charset="-128"/>
              <a:ea typeface="メイリオ" panose="020B0604030504040204" pitchFamily="50" charset="-128"/>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06</a:t>
            </a:r>
            <a:endParaRPr lang="en-US" sz="1300" dirty="0">
              <a:latin typeface="メイリオ" panose="020B0604030504040204" pitchFamily="50" charset="-128"/>
              <a:ea typeface="メイリオ" panose="020B0604030504040204" pitchFamily="50" charset="-128"/>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季節・時期ごとの企画配信</a:t>
            </a:r>
            <a:endParaRPr lang="en-US" altLang="ja-JP" sz="1300" dirty="0">
              <a:latin typeface="メイリオ" panose="020B0604030504040204" pitchFamily="50" charset="-128"/>
              <a:ea typeface="メイリオ" panose="020B0604030504040204" pitchFamily="50" charset="-128"/>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Calibri"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したキャンペーン案</a:t>
            </a:r>
            <a:endParaRPr lang="en-US" altLang="ja-JP" sz="1000" dirty="0">
              <a:latin typeface="メイリオ" panose="020B0604030504040204" pitchFamily="50" charset="-128"/>
              <a:ea typeface="メイリオ" panose="020B0604030504040204" pitchFamily="50" charset="-128"/>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07</a:t>
            </a:r>
            <a:endParaRPr lang="en-US" sz="1300" dirty="0">
              <a:latin typeface="メイリオ" panose="020B0604030504040204" pitchFamily="50" charset="-128"/>
              <a:ea typeface="メイリオ" panose="020B0604030504040204" pitchFamily="50" charset="-128"/>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各種設定の更新・改善</a:t>
            </a:r>
            <a:endParaRPr lang="en-US" altLang="ja-JP" sz="1300" dirty="0">
              <a:latin typeface="メイリオ" panose="020B0604030504040204" pitchFamily="50" charset="-128"/>
              <a:ea typeface="メイリオ" panose="020B0604030504040204" pitchFamily="50" charset="-128"/>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000" dirty="0">
                <a:latin typeface="メイリオ" panose="020B0604030504040204" pitchFamily="50" charset="-128"/>
                <a:ea typeface="メイリオ" panose="020B0604030504040204" pitchFamily="50" charset="-128"/>
              </a:rPr>
              <a:t>あいさつメッセージ、リッチメニュー、</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の改修（</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は別途費用）</a:t>
            </a:r>
            <a:endParaRPr lang="en-US" altLang="ja-JP" sz="1000"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初期費用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月額費用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FFF00">
              <a:alpha val="70000"/>
            </a:srgb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altLang="ja-JP" sz="1400"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rPr>
              <a:t>～　　　 の修正・調整も</a:t>
            </a:r>
            <a:endParaRPr lang="en-US" altLang="ja-JP" sz="1400" b="1" dirty="0">
              <a:latin typeface="メイリオ" panose="020B0604030504040204" pitchFamily="50" charset="-128"/>
              <a:ea typeface="メイリオ" panose="020B0604030504040204" pitchFamily="50" charset="-128"/>
            </a:endParaRPr>
          </a:p>
          <a:p>
            <a:endParaRPr kumimoji="1" lang="en-US" altLang="ja-JP" sz="1400" b="1" dirty="0">
              <a:latin typeface="メイリオ" panose="020B0604030504040204" pitchFamily="50" charset="-128"/>
              <a:ea typeface="メイリオ" panose="020B0604030504040204" pitchFamily="50" charset="-128"/>
            </a:endParaRPr>
          </a:p>
          <a:p>
            <a:r>
              <a:rPr lang="ja-JP" altLang="en-US" sz="1400" b="1" dirty="0">
                <a:latin typeface="メイリオ" panose="020B0604030504040204" pitchFamily="50" charset="-128"/>
                <a:ea typeface="メイリオ" panose="020B0604030504040204" pitchFamily="50" charset="-128"/>
              </a:rPr>
              <a:t>月次対応内に含んでおります。</a:t>
            </a:r>
            <a:endParaRPr kumimoji="1" lang="en-US" altLang="ja-JP"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6935309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の運用業務・</a:t>
            </a:r>
            <a:r>
              <a:rPr lang="en-US" altLang="ja-JP" sz="1600" b="1" dirty="0">
                <a:latin typeface="メイリオ" panose="020B0604030504040204" pitchFamily="50" charset="-128"/>
                <a:ea typeface="メイリオ" panose="020B0604030504040204" pitchFamily="50" charset="-128"/>
                <a:cs typeface="Meiryo"/>
                <a:sym typeface="Meiryo"/>
              </a:rPr>
              <a:t>CR</a:t>
            </a:r>
            <a:r>
              <a:rPr lang="ja-JP" altLang="en-US" sz="1600" b="1" dirty="0">
                <a:latin typeface="メイリオ" panose="020B0604030504040204" pitchFamily="50" charset="-128"/>
                <a:ea typeface="メイリオ" panose="020B0604030504040204" pitchFamily="50" charset="-128"/>
                <a:cs typeface="Meiryo"/>
                <a:sym typeface="Meiryo"/>
              </a:rPr>
              <a:t>制作業務を一部外出ししてご依頼依頼も。</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　</a:t>
            </a:r>
            <a:r>
              <a:rPr lang="en-US" altLang="ja-JP" sz="900" dirty="0">
                <a:solidFill>
                  <a:srgbClr val="FF0000"/>
                </a:solidFill>
                <a:latin typeface="メイリオ" panose="020B0604030504040204" pitchFamily="50" charset="-128"/>
                <a:ea typeface="メイリオ" panose="020B0604030504040204" pitchFamily="50" charset="-128"/>
                <a:sym typeface="Meiryo"/>
              </a:rPr>
              <a:t>※</a:t>
            </a:r>
            <a:r>
              <a:rPr lang="ja-JP" altLang="en-US" sz="900" dirty="0">
                <a:solidFill>
                  <a:srgbClr val="FF0000"/>
                </a:solidFill>
                <a:latin typeface="メイリオ" panose="020B0604030504040204" pitchFamily="50" charset="-128"/>
                <a:ea typeface="メイリオ" panose="020B0604030504040204" pitchFamily="50" charset="-128"/>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¥200,000~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チャット対応</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 </a:t>
                      </a:r>
                      <a:r>
                        <a:rPr lang="en-US" altLang="ja-JP" sz="700" b="0" i="0" u="none" strike="noStrike" dirty="0">
                          <a:solidFill>
                            <a:srgbClr val="FF0000"/>
                          </a:solidFill>
                          <a:effectLst/>
                          <a:latin typeface="メイリオ" panose="020B0604030504040204" pitchFamily="50" charset="-128"/>
                          <a:ea typeface="メイリオ" panose="020B0604030504040204" pitchFamily="50" charset="-128"/>
                        </a:rPr>
                        <a:t>※</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サポートは可能</a:t>
                      </a:r>
                      <a:endParaRPr lang="ja-JP" altLang="en-US" sz="1100" b="0" i="0" u="none" strike="noStrike" dirty="0">
                        <a:solidFill>
                          <a:srgbClr val="FF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sym typeface="Meiryo"/>
              </a:rPr>
              <a:t>貴社リソースの状況に応じて都度発注でのご依頼も各単価で受けさせていただきます。</a:t>
            </a:r>
            <a:endParaRPr lang="ja-JP" altLang="en-US" sz="1400" dirty="0"/>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8808819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3629572"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サポート体制</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rPr>
              <a:t>WEB</a:t>
            </a:r>
            <a:r>
              <a:rPr lang="ja-JP" altLang="en-US" sz="2400" dirty="0">
                <a:solidFill>
                  <a:schemeClr val="bg1"/>
                </a:solidFill>
                <a:latin typeface="メイリオ" panose="020B0604030504040204" pitchFamily="50" charset="-128"/>
                <a:ea typeface="メイリオ" panose="020B0604030504040204" pitchFamily="50" charset="-128"/>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rPr>
              <a:t>☑</a:t>
            </a:r>
            <a:endParaRPr lang="ja-JP" altLang="en-US" sz="3600" dirty="0"/>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endParaRPr>
          </a:p>
          <a:p>
            <a:pPr algn="ctr"/>
            <a:r>
              <a:rPr lang="ja-JP" altLang="en-US" sz="1400" dirty="0">
                <a:solidFill>
                  <a:schemeClr val="bg1"/>
                </a:solidFill>
                <a:latin typeface="メイリオ" panose="020B0604030504040204" pitchFamily="50" charset="-128"/>
                <a:ea typeface="メイリオ" panose="020B0604030504040204" pitchFamily="50" charset="-128"/>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ツールなし</a:t>
            </a:r>
            <a:endParaRPr kumimoji="1" lang="ja-JP" altLang="en-US" sz="1200" b="1" dirty="0">
              <a:latin typeface="メイリオ" panose="020B0604030504040204" pitchFamily="50" charset="-128"/>
              <a:ea typeface="メイリオ" panose="020B0604030504040204" pitchFamily="50" charset="-128"/>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kumimoji="1" lang="ja-JP" altLang="en-US" sz="1200" b="1" dirty="0">
                <a:latin typeface="メイリオ" panose="020B0604030504040204" pitchFamily="50" charset="-128"/>
                <a:ea typeface="メイリオ" panose="020B0604030504040204" pitchFamily="50" charset="-128"/>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ツール有無</a:t>
            </a:r>
            <a:endParaRPr lang="en-US" altLang="ja-JP" sz="1200" b="1" dirty="0">
              <a:latin typeface="メイリオ" panose="020B0604030504040204" pitchFamily="50" charset="-128"/>
              <a:ea typeface="メイリオ" panose="020B0604030504040204" pitchFamily="50" charset="-128"/>
            </a:endParaRPr>
          </a:p>
          <a:p>
            <a:pPr algn="ctr"/>
            <a:r>
              <a:rPr kumimoji="1" lang="ja-JP" altLang="en-US" sz="1200" b="1" dirty="0">
                <a:latin typeface="メイリオ" panose="020B0604030504040204" pitchFamily="50" charset="-128"/>
                <a:ea typeface="メイリオ" panose="020B0604030504040204" pitchFamily="50" charset="-128"/>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rPr>
              <a:t>定期投稿、シナリオ、リッチメニュー等に設定の</a:t>
            </a:r>
            <a:endParaRPr lang="en-US" altLang="ja-JP" sz="1400" dirty="0">
              <a:latin typeface="メイリオ" panose="020B0604030504040204" pitchFamily="50" charset="-128"/>
              <a:ea typeface="メイリオ" panose="020B0604030504040204" pitchFamily="50" charset="-128"/>
            </a:endParaRPr>
          </a:p>
          <a:p>
            <a:r>
              <a:rPr lang="ja-JP" altLang="en-US" sz="1400" dirty="0">
                <a:latin typeface="メイリオ" panose="020B0604030504040204" pitchFamily="50" charset="-128"/>
                <a:ea typeface="メイリオ" panose="020B0604030504040204" pitchFamily="50" charset="-128"/>
              </a:rPr>
              <a:t>リンクについて、</a:t>
            </a:r>
            <a:r>
              <a:rPr lang="en-US" altLang="ja-JP" sz="1400" dirty="0">
                <a:solidFill>
                  <a:srgbClr val="FF0000"/>
                </a:solidFill>
                <a:latin typeface="メイリオ" panose="020B0604030504040204" pitchFamily="50" charset="-128"/>
                <a:ea typeface="メイリオ" panose="020B0604030504040204" pitchFamily="50" charset="-128"/>
              </a:rPr>
              <a:t>GA</a:t>
            </a:r>
            <a:r>
              <a:rPr lang="ja-JP" altLang="en-US" sz="1400" dirty="0" err="1">
                <a:solidFill>
                  <a:srgbClr val="FF0000"/>
                </a:solidFill>
                <a:latin typeface="メイリオ" panose="020B0604030504040204" pitchFamily="50" charset="-128"/>
                <a:ea typeface="メイリオ" panose="020B0604030504040204" pitchFamily="50" charset="-128"/>
              </a:rPr>
              <a:t>、</a:t>
            </a:r>
            <a:r>
              <a:rPr lang="en-US" altLang="ja-JP" sz="1400" dirty="0">
                <a:solidFill>
                  <a:srgbClr val="FF0000"/>
                </a:solidFill>
                <a:latin typeface="メイリオ" panose="020B0604030504040204" pitchFamily="50" charset="-128"/>
                <a:ea typeface="メイリオ" panose="020B0604030504040204" pitchFamily="50" charset="-128"/>
              </a:rPr>
              <a:t>MA</a:t>
            </a:r>
            <a:r>
              <a:rPr lang="ja-JP" altLang="en-US" sz="1400" dirty="0">
                <a:solidFill>
                  <a:srgbClr val="FF0000"/>
                </a:solidFill>
                <a:latin typeface="メイリオ" panose="020B0604030504040204" pitchFamily="50" charset="-128"/>
                <a:ea typeface="メイリオ" panose="020B0604030504040204" pitchFamily="50" charset="-128"/>
              </a:rPr>
              <a:t>ツールでの計測可能</a:t>
            </a:r>
            <a:r>
              <a:rPr lang="ja-JP" altLang="en-US" sz="1400" dirty="0">
                <a:latin typeface="メイリオ" panose="020B0604030504040204" pitchFamily="50" charset="-128"/>
                <a:ea typeface="メイリオ" panose="020B0604030504040204" pitchFamily="50" charset="-128"/>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rPr>
              <a:t>DYM</a:t>
            </a:r>
            <a:endParaRPr lang="ja-JP" altLang="en-US" dirty="0">
              <a:latin typeface="メイリオ" panose="020B0604030504040204" pitchFamily="50" charset="-128"/>
              <a:ea typeface="メイリオ" panose="020B0604030504040204" pitchFamily="50" charset="-128"/>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レポート（日次）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kumimoji="1"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レポート（月次）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投稿別</a:t>
            </a:r>
            <a:r>
              <a:rPr lang="en-US" altLang="ja-JP" sz="1400" dirty="0">
                <a:latin typeface="メイリオ" panose="020B0604030504040204" pitchFamily="50" charset="-128"/>
                <a:ea typeface="メイリオ" panose="020B0604030504040204" pitchFamily="50" charset="-128"/>
              </a:rPr>
              <a:t>×</a:t>
            </a:r>
            <a:r>
              <a:rPr lang="ja-JP" altLang="en-US" sz="1400" dirty="0">
                <a:latin typeface="メイリオ" panose="020B0604030504040204" pitchFamily="50" charset="-128"/>
                <a:ea typeface="メイリオ" panose="020B0604030504040204" pitchFamily="50" charset="-128"/>
              </a:rPr>
              <a:t>セグメント別でデータ化でき、</a:t>
            </a:r>
            <a:r>
              <a:rPr lang="en-US" altLang="ja-JP" sz="1400" dirty="0">
                <a:latin typeface="メイリオ" panose="020B0604030504040204" pitchFamily="50" charset="-128"/>
                <a:ea typeface="メイリオ" panose="020B0604030504040204" pitchFamily="50" charset="-128"/>
              </a:rPr>
              <a:t>AB</a:t>
            </a:r>
            <a:r>
              <a:rPr lang="ja-JP" altLang="en-US" sz="1400" dirty="0">
                <a:latin typeface="メイリオ" panose="020B0604030504040204" pitchFamily="50" charset="-128"/>
                <a:ea typeface="メイリオ" panose="020B0604030504040204" pitchFamily="50" charset="-128"/>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弊社体制図</a:t>
            </a:r>
            <a:endParaRPr kumimoji="1" lang="ja-JP" altLang="en-US" sz="1600" b="1" dirty="0">
              <a:latin typeface="メイリオ" panose="020B0604030504040204" pitchFamily="50" charset="-128"/>
              <a:ea typeface="メイリオ" panose="020B0604030504040204" pitchFamily="50" charset="-128"/>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体制図（イメージ）</a:t>
            </a:r>
            <a:endParaRPr sz="1600" b="1" dirty="0">
              <a:solidFill>
                <a:srgbClr val="002060"/>
              </a:solidFill>
              <a:latin typeface="Meiryo"/>
              <a:ea typeface="Meiryo"/>
              <a:cs typeface="Meiryo"/>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endParaRPr lang="en-US" altLang="ja-JP" sz="1200" dirty="0">
              <a:latin typeface="メイリオ" panose="020B0604030504040204" pitchFamily="50" charset="-128"/>
              <a:ea typeface="メイリオ" panose="020B0604030504040204" pitchFamily="50" charset="-128"/>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latin typeface="メイリオ" panose="020B0604030504040204" pitchFamily="50" charset="-128"/>
              <a:ea typeface="メイリオ" panose="020B0604030504040204" pitchFamily="50" charset="-128"/>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SNS運用</a:t>
            </a:r>
            <a:endParaRPr lang="en-US" altLang="ja-JP" sz="1350" dirty="0">
              <a:latin typeface="メイリオ" panose="020B0604030504040204" pitchFamily="50" charset="-128"/>
              <a:ea typeface="メイリオ" panose="020B0604030504040204" pitchFamily="50" charset="-128"/>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入稿作業</a:t>
            </a:r>
            <a:endParaRPr lang="en-US" altLang="ja-JP" sz="1200" dirty="0">
              <a:latin typeface="メイリオ" panose="020B0604030504040204" pitchFamily="50" charset="-128"/>
              <a:ea typeface="メイリオ" panose="020B0604030504040204" pitchFamily="50" charset="-128"/>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運用サポート</a:t>
            </a:r>
            <a:endParaRPr lang="en-US" altLang="ja-JP" sz="1200" dirty="0">
              <a:latin typeface="メイリオ" panose="020B0604030504040204" pitchFamily="50" charset="-128"/>
              <a:ea typeface="メイリオ" panose="020B0604030504040204" pitchFamily="50" charset="-128"/>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制作</a:t>
            </a:r>
            <a:endParaRPr lang="en-US" altLang="ja-JP" sz="1200" dirty="0">
              <a:latin typeface="メイリオ" panose="020B0604030504040204" pitchFamily="50" charset="-128"/>
              <a:ea typeface="メイリオ" panose="020B0604030504040204" pitchFamily="50" charset="-128"/>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FFC000"/>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LINEOA運用</a:t>
            </a:r>
            <a:endParaRPr lang="en-US" altLang="ja-JP" sz="1350" dirty="0">
              <a:latin typeface="メイリオ" panose="020B0604030504040204" pitchFamily="50" charset="-128"/>
              <a:ea typeface="メイリオ" panose="020B0604030504040204" pitchFamily="50" charset="-128"/>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endParaRPr lang="en-US" altLang="ja-JP" sz="1350" dirty="0">
              <a:latin typeface="メイリオ" panose="020B0604030504040204" pitchFamily="50" charset="-128"/>
              <a:ea typeface="メイリオ" panose="020B0604030504040204" pitchFamily="50" charset="-128"/>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広告運用統括・コンサル</a:t>
            </a:r>
            <a:endParaRPr lang="en-US" altLang="ja-JP" sz="1350" dirty="0">
              <a:latin typeface="メイリオ" panose="020B0604030504040204" pitchFamily="50" charset="-128"/>
              <a:ea typeface="メイリオ" panose="020B0604030504040204" pitchFamily="50" charset="-128"/>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　</a:t>
            </a:r>
            <a:endParaRPr lang="en-US" altLang="ja-JP" sz="1350" dirty="0">
              <a:latin typeface="メイリオ" panose="020B0604030504040204" pitchFamily="50" charset="-128"/>
              <a:ea typeface="メイリオ" panose="020B0604030504040204" pitchFamily="50" charset="-128"/>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5440024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運用スケジュール</a:t>
            </a:r>
            <a:endParaRPr sz="1600" b="1" dirty="0">
              <a:solidFill>
                <a:srgbClr val="002060"/>
              </a:solidFill>
              <a:latin typeface="Meiryo"/>
              <a:ea typeface="Meiryo"/>
              <a:cs typeface="Meiryo"/>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rPr>
              <a:t>サイト</a:t>
            </a:r>
            <a:r>
              <a:rPr lang="en-US" altLang="ja-JP" sz="2400" dirty="0">
                <a:latin typeface="メイリオ" panose="020B0604030504040204" pitchFamily="50" charset="-128"/>
                <a:ea typeface="メイリオ" panose="020B0604030504040204" pitchFamily="50" charset="-128"/>
              </a:rPr>
              <a:t>/LINE</a:t>
            </a:r>
            <a:r>
              <a:rPr lang="ja-JP" altLang="en-US" sz="2400" dirty="0">
                <a:latin typeface="メイリオ" panose="020B0604030504040204" pitchFamily="50" charset="-128"/>
                <a:ea typeface="メイリオ" panose="020B0604030504040204" pitchFamily="50" charset="-128"/>
              </a:rPr>
              <a:t>上への実装については、約</a:t>
            </a:r>
            <a:r>
              <a:rPr lang="en-US" altLang="ja-JP" sz="2400" dirty="0">
                <a:latin typeface="メイリオ" panose="020B0604030504040204" pitchFamily="50" charset="-128"/>
                <a:ea typeface="メイリオ" panose="020B0604030504040204" pitchFamily="50" charset="-128"/>
              </a:rPr>
              <a:t>1</a:t>
            </a:r>
            <a:r>
              <a:rPr lang="ja-JP" altLang="en-US" sz="2400" dirty="0">
                <a:latin typeface="メイリオ" panose="020B0604030504040204" pitchFamily="50" charset="-128"/>
                <a:ea typeface="メイリオ" panose="020B0604030504040204" pitchFamily="50" charset="-128"/>
              </a:rPr>
              <a:t>か月程度を頂き進行。</a:t>
            </a:r>
            <a:endParaRPr lang="ja-JP" altLang="en-US" sz="2400" dirty="0"/>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貴社作業・確認にかかる時間により前後する可能性がございます。</a:t>
            </a:r>
          </a:p>
        </p:txBody>
      </p:sp>
      <p:cxnSp>
        <p:nvCxnSpPr>
          <p:cNvPr id="21" name="直線矢印コネクタ 20"/>
          <p:cNvCxnSpPr/>
          <p:nvPr/>
        </p:nvCxnSpPr>
        <p:spPr>
          <a:xfrm>
            <a:off x="6985106" y="2256762"/>
            <a:ext cx="0" cy="3086100"/>
          </a:xfrm>
          <a:prstGeom prst="straightConnector1">
            <a:avLst/>
          </a:prstGeom>
          <a:ln w="38100">
            <a:solidFill>
              <a:schemeClr val="tx1">
                <a:lumMod val="75000"/>
                <a:lumOff val="2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p:cNvSpPr/>
          <p:nvPr/>
        </p:nvSpPr>
        <p:spPr>
          <a:xfrm>
            <a:off x="7042256" y="2130871"/>
            <a:ext cx="742511" cy="276999"/>
          </a:xfrm>
          <a:prstGeom prst="rect">
            <a:avLst/>
          </a:prstGeom>
          <a:solidFill>
            <a:schemeClr val="accent1">
              <a:lumMod val="20000"/>
              <a:lumOff val="80000"/>
            </a:schemeClr>
          </a:solidFill>
        </p:spPr>
        <p:txBody>
          <a:bodyPr wrap="none">
            <a:spAutoFit/>
          </a:bodyPr>
          <a:lstStyle/>
          <a:p>
            <a:r>
              <a:rPr lang="ja-JP" altLang="en-US" sz="1200" dirty="0">
                <a:latin typeface="メイリオ" panose="020B0604030504040204" pitchFamily="50" charset="-128"/>
                <a:ea typeface="メイリオ" panose="020B0604030504040204" pitchFamily="50" charset="-128"/>
              </a:rPr>
              <a:t>約</a:t>
            </a:r>
            <a:r>
              <a:rPr lang="en-US" altLang="ja-JP" sz="1200" dirty="0">
                <a:latin typeface="メイリオ" panose="020B0604030504040204" pitchFamily="50" charset="-128"/>
                <a:ea typeface="メイリオ" panose="020B0604030504040204" pitchFamily="50" charset="-128"/>
              </a:rPr>
              <a:t>1</a:t>
            </a:r>
            <a:r>
              <a:rPr lang="ja-JP" altLang="en-US" sz="1200" dirty="0">
                <a:latin typeface="メイリオ" panose="020B0604030504040204" pitchFamily="50" charset="-128"/>
                <a:ea typeface="メイリオ" panose="020B0604030504040204" pitchFamily="50" charset="-128"/>
              </a:rPr>
              <a:t>か月</a:t>
            </a:r>
            <a:endParaRPr lang="ja-JP" altLang="en-US" sz="1200" dirty="0"/>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Tree>
    <p:extLst>
      <p:ext uri="{BB962C8B-B14F-4D97-AF65-F5344CB8AC3E}">
        <p14:creationId xmlns:p14="http://schemas.microsoft.com/office/powerpoint/2010/main" val="21214348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460711" y="3038203"/>
            <a:ext cx="6984604"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公式アカウント運用のメリット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友だち追加 </a:t>
            </a:r>
            <a:r>
              <a:rPr lang="en-US" altLang="ja-JP" sz="1400" dirty="0">
                <a:solidFill>
                  <a:srgbClr val="343434"/>
                </a:solidFill>
                <a:latin typeface="メイリオ" panose="020B0604030504040204" pitchFamily="50" charset="-128"/>
                <a:ea typeface="メイリオ" panose="020B0604030504040204" pitchFamily="50" charset="-128"/>
              </a:rPr>
              <a:t>&gt;&gt; LINE</a:t>
            </a:r>
            <a:r>
              <a:rPr lang="ja-JP" altLang="en-US" sz="1400" dirty="0">
                <a:solidFill>
                  <a:srgbClr val="343434"/>
                </a:solidFill>
                <a:latin typeface="メイリオ" panose="020B0604030504040204" pitchFamily="50" charset="-128"/>
                <a:ea typeface="メイリオ" panose="020B0604030504040204" pitchFamily="50" charset="-128"/>
              </a:rPr>
              <a:t>で学習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リード獲得・利用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の動線での</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※ID</a:t>
            </a:r>
            <a:r>
              <a:rPr kumimoji="1" lang="ja-JP" altLang="en-US" sz="9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ミニアプリ・診断 →</a:t>
            </a:r>
            <a:r>
              <a:rPr lang="en-US" altLang="ja-JP" sz="900" b="1" dirty="0">
                <a:solidFill>
                  <a:schemeClr val="bg1"/>
                </a:solidFill>
                <a:latin typeface="メイリオ" panose="020B0604030504040204" pitchFamily="50" charset="-128"/>
                <a:ea typeface="メイリオ" panose="020B0604030504040204" pitchFamily="50" charset="-128"/>
              </a:rPr>
              <a:t> </a:t>
            </a:r>
            <a:r>
              <a:rPr lang="ja-JP" altLang="en-US" sz="900" b="1" dirty="0">
                <a:solidFill>
                  <a:schemeClr val="bg1"/>
                </a:solidFill>
                <a:latin typeface="メイリオ" panose="020B0604030504040204" pitchFamily="50" charset="-128"/>
                <a:ea typeface="メイリオ" panose="020B0604030504040204" pitchFamily="50" charset="-128"/>
              </a:rPr>
              <a:t>特典</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ja-JP" altLang="en-US" sz="100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Tree>
    <p:extLst>
      <p:ext uri="{BB962C8B-B14F-4D97-AF65-F5344CB8AC3E}">
        <p14:creationId xmlns:p14="http://schemas.microsoft.com/office/powerpoint/2010/main" val="426513679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rPr>
              <a:t>法人</a:t>
            </a:r>
            <a:r>
              <a:rPr lang="en-US" altLang="ja-JP" sz="1400" dirty="0">
                <a:solidFill>
                  <a:srgbClr val="343434"/>
                </a:solidFill>
                <a:latin typeface="メイリオ" panose="020B0604030504040204" pitchFamily="50" charset="-128"/>
                <a:ea typeface="メイリオ" panose="020B0604030504040204" pitchFamily="50" charset="-128"/>
              </a:rPr>
              <a:t>が</a:t>
            </a:r>
            <a:r>
              <a:rPr lang="ja-JP" altLang="en-US" sz="1400" dirty="0">
                <a:solidFill>
                  <a:srgbClr val="343434"/>
                </a:solidFill>
                <a:latin typeface="メイリオ" panose="020B0604030504040204" pitchFamily="50" charset="-128"/>
                <a:ea typeface="メイリオ" panose="020B0604030504040204" pitchFamily="50" charset="-128"/>
              </a:rPr>
              <a:t>増加傾向</a:t>
            </a:r>
            <a:r>
              <a:rPr lang="en-US" altLang="ja-JP" sz="1400" dirty="0">
                <a:solidFill>
                  <a:srgbClr val="343434"/>
                </a:solidFill>
                <a:latin typeface="メイリオ" panose="020B0604030504040204" pitchFamily="50" charset="-128"/>
                <a:ea typeface="メイリオ" panose="020B0604030504040204" pitchFamily="50" charset="-128"/>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rPr>
                <a:t>　　　　</a:t>
              </a:r>
              <a:r>
                <a:rPr lang="en-US" sz="1400" dirty="0" err="1">
                  <a:solidFill>
                    <a:srgbClr val="040606"/>
                  </a:solidFill>
                  <a:latin typeface="メイリオ" panose="020B0604030504040204" pitchFamily="50" charset="-128"/>
                  <a:ea typeface="メイリオ" panose="020B0604030504040204" pitchFamily="50" charset="-128"/>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rPr>
                <a:t>、</a:t>
              </a:r>
              <a:r>
                <a:rPr lang="ja-JP" altLang="en-US" sz="1400" dirty="0">
                  <a:solidFill>
                    <a:srgbClr val="040606"/>
                  </a:solidFill>
                  <a:latin typeface="メイリオ" panose="020B0604030504040204" pitchFamily="50" charset="-128"/>
                  <a:ea typeface="メイリオ" panose="020B0604030504040204" pitchFamily="50" charset="-128"/>
                </a:rPr>
                <a:t>テレマーケティング </a:t>
              </a:r>
              <a:r>
                <a:rPr lang="en-US" sz="1400" dirty="0" err="1">
                  <a:solidFill>
                    <a:srgbClr val="040606"/>
                  </a:solidFill>
                  <a:latin typeface="メイリオ" panose="020B0604030504040204" pitchFamily="50" charset="-128"/>
                  <a:ea typeface="メイリオ" panose="020B0604030504040204" pitchFamily="50" charset="-128"/>
                </a:rPr>
                <a:t>が主流</a:t>
              </a:r>
              <a:endParaRPr lang="en-US" sz="1400" dirty="0">
                <a:solidFill>
                  <a:srgbClr val="040606"/>
                </a:solidFill>
                <a:latin typeface="メイリオ" panose="020B0604030504040204" pitchFamily="50" charset="-128"/>
                <a:ea typeface="メイリオ" panose="020B0604030504040204" pitchFamily="50" charset="-128"/>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rPr>
                <a:t>　　　　＋</a:t>
              </a:r>
              <a:r>
                <a:rPr lang="en-US" sz="1400" b="1" dirty="0">
                  <a:solidFill>
                    <a:srgbClr val="00B900"/>
                  </a:solidFill>
                  <a:latin typeface="メイリオ" panose="020B0604030504040204" pitchFamily="50" charset="-128"/>
                  <a:ea typeface="メイリオ" panose="020B0604030504040204" pitchFamily="50" charset="-128"/>
                </a:rPr>
                <a:t>LINE</a:t>
              </a:r>
              <a:r>
                <a:rPr lang="ja-JP" altLang="en-US" sz="1400" b="1" dirty="0">
                  <a:solidFill>
                    <a:srgbClr val="00B900"/>
                  </a:solidFill>
                  <a:latin typeface="メイリオ" panose="020B0604030504040204" pitchFamily="50" charset="-128"/>
                  <a:ea typeface="メイリオ" panose="020B0604030504040204" pitchFamily="50" charset="-128"/>
                </a:rPr>
                <a:t>公式アカウント</a:t>
              </a:r>
              <a:r>
                <a:rPr lang="en-US" sz="1400" b="1" dirty="0">
                  <a:solidFill>
                    <a:srgbClr val="00B900"/>
                  </a:solidFill>
                  <a:latin typeface="メイリオ" panose="020B0604030504040204" pitchFamily="50" charset="-128"/>
                  <a:ea typeface="メイリオ" panose="020B0604030504040204" pitchFamily="50" charset="-128"/>
                </a:rPr>
                <a:t> </a:t>
              </a:r>
              <a:r>
                <a:rPr lang="en-US" sz="1400" dirty="0" err="1">
                  <a:solidFill>
                    <a:srgbClr val="00B900"/>
                  </a:solidFill>
                  <a:latin typeface="メイリオ" panose="020B0604030504040204" pitchFamily="50" charset="-128"/>
                  <a:ea typeface="メイリオ" panose="020B0604030504040204" pitchFamily="50" charset="-128"/>
                </a:rPr>
                <a:t>が主流</a:t>
              </a:r>
              <a:endParaRPr lang="en-US" sz="1400" dirty="0">
                <a:solidFill>
                  <a:srgbClr val="00B900"/>
                </a:solidFill>
                <a:latin typeface="メイリオ" panose="020B0604030504040204" pitchFamily="50" charset="-128"/>
                <a:ea typeface="メイリオ" panose="020B0604030504040204" pitchFamily="50" charset="-128"/>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rPr>
              <a:t>「</a:t>
            </a:r>
            <a:r>
              <a:rPr lang="en-US" altLang="ja-JP" sz="1400" dirty="0" err="1">
                <a:solidFill>
                  <a:srgbClr val="343434"/>
                </a:solidFill>
                <a:latin typeface="メイリオ" panose="020B0604030504040204" pitchFamily="50" charset="-128"/>
                <a:ea typeface="メイリオ" panose="020B0604030504040204" pitchFamily="50" charset="-128"/>
              </a:rPr>
              <a:t>今すぐ客」以外の</a:t>
            </a:r>
            <a:r>
              <a:rPr lang="ja-JP" altLang="en-US" sz="1400" dirty="0">
                <a:solidFill>
                  <a:srgbClr val="343434"/>
                </a:solidFill>
                <a:latin typeface="メイリオ" panose="020B0604030504040204" pitchFamily="50" charset="-128"/>
                <a:ea typeface="メイリオ" panose="020B0604030504040204" pitchFamily="50" charset="-128"/>
              </a:rPr>
              <a:t>約</a:t>
            </a:r>
            <a:r>
              <a:rPr lang="en-US" altLang="ja-JP" sz="1400" dirty="0">
                <a:solidFill>
                  <a:srgbClr val="343434"/>
                </a:solidFill>
                <a:latin typeface="メイリオ" panose="020B0604030504040204" pitchFamily="50" charset="-128"/>
                <a:ea typeface="メイリオ" panose="020B0604030504040204" pitchFamily="50" charset="-128"/>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rPr>
              <a:t>結果として</a:t>
            </a:r>
            <a:r>
              <a:rPr lang="ja-JP" altLang="en-US" sz="1400" dirty="0" err="1">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rPr>
              <a:t>げ</a:t>
            </a:r>
            <a:r>
              <a:rPr lang="en-US" altLang="ja-JP" sz="1400" dirty="0">
                <a:solidFill>
                  <a:srgbClr val="343434"/>
                </a:solidFill>
                <a:latin typeface="メイリオ" panose="020B0604030504040204" pitchFamily="50" charset="-128"/>
                <a:ea typeface="メイリオ" panose="020B0604030504040204" pitchFamily="50" charset="-128"/>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rPr>
              <a:t>9-</a:t>
            </a:r>
            <a:r>
              <a:rPr lang="en-US" sz="1554" dirty="0">
                <a:solidFill>
                  <a:srgbClr val="494848"/>
                </a:solidFill>
                <a:latin typeface="メイリオ" panose="020B0604030504040204" pitchFamily="50" charset="-128"/>
                <a:ea typeface="メイリオ" panose="020B0604030504040204" pitchFamily="50" charset="-128"/>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en-US" sz="1200" b="1" dirty="0" err="1">
                <a:solidFill>
                  <a:srgbClr val="494848"/>
                </a:solidFill>
                <a:latin typeface="メイリオ" panose="020B0604030504040204" pitchFamily="50" charset="-128"/>
                <a:ea typeface="メイリオ" panose="020B0604030504040204" pitchFamily="50" charset="-128"/>
              </a:rPr>
              <a:t>今すぐ</a:t>
            </a:r>
            <a:r>
              <a:rPr lang="ja-JP" altLang="en-US" sz="1200" b="1" dirty="0">
                <a:solidFill>
                  <a:srgbClr val="494848"/>
                </a:solidFill>
                <a:latin typeface="メイリオ" panose="020B0604030504040204" pitchFamily="50" charset="-128"/>
                <a:ea typeface="メイリオ" panose="020B0604030504040204" pitchFamily="50" charset="-128"/>
              </a:rPr>
              <a:t>顧</a:t>
            </a:r>
            <a:r>
              <a:rPr lang="en-US" sz="1200" b="1" dirty="0" err="1">
                <a:solidFill>
                  <a:srgbClr val="494848"/>
                </a:solidFill>
                <a:latin typeface="メイリオ" panose="020B0604030504040204" pitchFamily="50" charset="-128"/>
                <a:ea typeface="メイリオ" panose="020B0604030504040204" pitchFamily="50" charset="-128"/>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rPr>
              <a:t>のは</a:t>
            </a:r>
            <a:r>
              <a:rPr lang="ja-JP" altLang="en-US" sz="1200" b="1" dirty="0">
                <a:solidFill>
                  <a:srgbClr val="494848"/>
                </a:solidFill>
                <a:latin typeface="メイリオ" panose="020B0604030504040204" pitchFamily="50" charset="-128"/>
                <a:ea typeface="メイリオ" panose="020B0604030504040204" pitchFamily="50" charset="-128"/>
              </a:rPr>
              <a:t>リスクが大きい。</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ja-JP" altLang="en-US" sz="1200" b="1" dirty="0">
                <a:solidFill>
                  <a:srgbClr val="494848"/>
                </a:solidFill>
                <a:latin typeface="メイリオ" panose="020B0604030504040204" pitchFamily="50" charset="-128"/>
                <a:ea typeface="メイリオ" panose="020B0604030504040204" pitchFamily="50" charset="-128"/>
              </a:rPr>
              <a:t>将来的な顧</a:t>
            </a:r>
            <a:r>
              <a:rPr lang="en-US" sz="1200" b="1" dirty="0" err="1">
                <a:solidFill>
                  <a:srgbClr val="494848"/>
                </a:solidFill>
                <a:latin typeface="メイリオ" panose="020B0604030504040204" pitchFamily="50" charset="-128"/>
                <a:ea typeface="メイリオ" panose="020B0604030504040204" pitchFamily="50" charset="-128"/>
              </a:rPr>
              <a:t>客」教育をLINE</a:t>
            </a:r>
            <a:r>
              <a:rPr lang="ja-JP" altLang="en-US" sz="1200" b="1" dirty="0">
                <a:solidFill>
                  <a:srgbClr val="494848"/>
                </a:solidFill>
                <a:latin typeface="メイリオ" panose="020B0604030504040204" pitchFamily="50" charset="-128"/>
                <a:ea typeface="メイリオ" panose="020B0604030504040204" pitchFamily="50" charset="-128"/>
              </a:rPr>
              <a:t>上で構築し</a:t>
            </a:r>
            <a:r>
              <a:rPr lang="en-US" sz="1200" b="1" dirty="0">
                <a:solidFill>
                  <a:srgbClr val="494848"/>
                </a:solidFill>
                <a:latin typeface="メイリオ" panose="020B0604030504040204" pitchFamily="50" charset="-128"/>
                <a:ea typeface="メイリオ" panose="020B0604030504040204" pitchFamily="50" charset="-128"/>
              </a:rPr>
              <a:t>行</a:t>
            </a:r>
            <a:r>
              <a:rPr lang="ja-JP" altLang="en-US" sz="1200" b="1" dirty="0">
                <a:solidFill>
                  <a:srgbClr val="494848"/>
                </a:solidFill>
                <a:latin typeface="メイリオ" panose="020B0604030504040204" pitchFamily="50" charset="-128"/>
                <a:ea typeface="メイリオ" panose="020B0604030504040204" pitchFamily="50" charset="-128"/>
              </a:rPr>
              <a:t>う。</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Meiryo"/>
                <a:ea typeface="Meiryo"/>
                <a:cs typeface="Meiryo"/>
                <a:sym typeface="Meiryo"/>
              </a:rPr>
              <a:t>WEB</a:t>
            </a:r>
            <a:r>
              <a:rPr lang="ja-JP" altLang="en-US" sz="1400" dirty="0">
                <a:latin typeface="Meiryo"/>
                <a:ea typeface="Meiryo"/>
                <a:cs typeface="Meiryo"/>
                <a:sym typeface="Meiryo"/>
              </a:rPr>
              <a:t>広告における</a:t>
            </a:r>
            <a:r>
              <a:rPr lang="ja-JP" altLang="en-US" sz="1400" b="1" dirty="0">
                <a:latin typeface="Meiryo"/>
                <a:ea typeface="Meiryo"/>
                <a:cs typeface="Meiryo"/>
                <a:sym typeface="Meiryo"/>
              </a:rPr>
              <a:t>競合性が高</a:t>
            </a:r>
            <a:r>
              <a:rPr lang="ja-JP" altLang="en-US" sz="1400" dirty="0">
                <a:latin typeface="Meiryo"/>
                <a:ea typeface="Meiryo"/>
                <a:cs typeface="Meiryo"/>
                <a:sym typeface="Meiryo"/>
              </a:rPr>
              <a:t>くなり</a:t>
            </a:r>
            <a:endParaRPr lang="en-US" altLang="ja-JP" sz="1400" dirty="0">
              <a:latin typeface="Meiryo"/>
              <a:ea typeface="Meiryo"/>
              <a:cs typeface="Meiryo"/>
              <a:sym typeface="Meiryo"/>
            </a:endParaRPr>
          </a:p>
          <a:p>
            <a:pPr algn="ctr"/>
            <a:r>
              <a:rPr lang="ja-JP" altLang="en-US" sz="1400" b="1" dirty="0">
                <a:solidFill>
                  <a:srgbClr val="FF0000"/>
                </a:solidFill>
                <a:latin typeface="Meiryo"/>
                <a:ea typeface="Meiryo"/>
                <a:cs typeface="Meiryo"/>
                <a:sym typeface="Meiryo"/>
              </a:rPr>
              <a:t>単価指標（</a:t>
            </a:r>
            <a:r>
              <a:rPr lang="en-US" altLang="ja-JP" sz="1400" b="1" dirty="0">
                <a:solidFill>
                  <a:srgbClr val="FF0000"/>
                </a:solidFill>
                <a:latin typeface="Meiryo"/>
                <a:ea typeface="Meiryo"/>
                <a:cs typeface="Meiryo"/>
                <a:sym typeface="Meiryo"/>
              </a:rPr>
              <a:t>CPC</a:t>
            </a:r>
            <a:r>
              <a:rPr lang="ja-JP" altLang="en-US" sz="1400" b="1" dirty="0">
                <a:solidFill>
                  <a:srgbClr val="FF0000"/>
                </a:solidFill>
                <a:latin typeface="Meiryo"/>
                <a:ea typeface="Meiryo"/>
                <a:cs typeface="Meiryo"/>
                <a:sym typeface="Meiryo"/>
              </a:rPr>
              <a:t>及び</a:t>
            </a:r>
            <a:r>
              <a:rPr lang="en-US" altLang="ja-JP" sz="1400" b="1" dirty="0">
                <a:solidFill>
                  <a:srgbClr val="FF0000"/>
                </a:solidFill>
                <a:latin typeface="Meiryo"/>
                <a:ea typeface="Meiryo"/>
                <a:cs typeface="Meiryo"/>
                <a:sym typeface="Meiryo"/>
              </a:rPr>
              <a:t>CPA</a:t>
            </a:r>
            <a:r>
              <a:rPr lang="ja-JP" altLang="en-US" sz="1400" b="1" dirty="0">
                <a:solidFill>
                  <a:srgbClr val="FF0000"/>
                </a:solidFill>
                <a:latin typeface="Meiryo"/>
                <a:ea typeface="Meiryo"/>
                <a:cs typeface="Meiryo"/>
                <a:sym typeface="Meiryo"/>
              </a:rPr>
              <a:t>）が高騰</a:t>
            </a:r>
            <a:r>
              <a:rPr lang="ja-JP" altLang="en-US" sz="1400" dirty="0">
                <a:latin typeface="Meiryo"/>
                <a:ea typeface="Meiryo"/>
                <a:cs typeface="Meiryo"/>
                <a:sym typeface="Meiryo"/>
              </a:rPr>
              <a:t>。</a:t>
            </a:r>
            <a:endParaRPr lang="en-US" altLang="ja-JP" sz="1400" dirty="0">
              <a:latin typeface="Meiryo"/>
              <a:ea typeface="Meiryo"/>
              <a:cs typeface="Meiryo"/>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Meiryo"/>
                <a:ea typeface="Meiryo"/>
                <a:sym typeface="Meiryo"/>
              </a:rPr>
              <a:t>集客施策における</a:t>
            </a:r>
            <a:r>
              <a:rPr lang="en-US" altLang="ja-JP" sz="1400" b="1" dirty="0">
                <a:latin typeface="Meiryo"/>
                <a:ea typeface="Meiryo"/>
                <a:sym typeface="Meiryo"/>
              </a:rPr>
              <a:t>CVR</a:t>
            </a:r>
            <a:r>
              <a:rPr lang="ja-JP" altLang="en-US" sz="1400" b="1" dirty="0">
                <a:latin typeface="Meiryo"/>
                <a:ea typeface="Meiryo"/>
                <a:sym typeface="Meiryo"/>
              </a:rPr>
              <a:t>は高くても</a:t>
            </a:r>
            <a:r>
              <a:rPr lang="en-US" altLang="ja-JP" sz="1400" b="1" dirty="0">
                <a:latin typeface="Meiryo"/>
                <a:ea typeface="Meiryo"/>
                <a:sym typeface="Meiryo"/>
              </a:rPr>
              <a:t>2%</a:t>
            </a:r>
            <a:r>
              <a:rPr lang="ja-JP" altLang="en-US" sz="1400" b="1" dirty="0">
                <a:latin typeface="Meiryo"/>
                <a:ea typeface="Meiryo"/>
                <a:sym typeface="Meiryo"/>
              </a:rPr>
              <a:t>程度</a:t>
            </a:r>
            <a:r>
              <a:rPr lang="ja-JP" altLang="en-US" sz="1400" dirty="0">
                <a:latin typeface="Meiryo"/>
                <a:ea typeface="Meiryo"/>
                <a:sym typeface="Meiryo"/>
              </a:rPr>
              <a:t>。</a:t>
            </a:r>
            <a:endParaRPr lang="en-US" altLang="ja-JP" sz="1400" dirty="0">
              <a:latin typeface="Meiryo"/>
              <a:ea typeface="Meiryo"/>
              <a:sym typeface="Meiryo"/>
            </a:endParaRPr>
          </a:p>
          <a:p>
            <a:pPr algn="ctr"/>
            <a:r>
              <a:rPr lang="en-US" altLang="ja-JP" sz="1400" dirty="0">
                <a:solidFill>
                  <a:srgbClr val="FF0000"/>
                </a:solidFill>
                <a:latin typeface="Meiryo"/>
                <a:ea typeface="Meiryo"/>
                <a:sym typeface="Meiryo"/>
              </a:rPr>
              <a:t>CV</a:t>
            </a:r>
            <a:r>
              <a:rPr lang="ja-JP" altLang="en-US" sz="1400" dirty="0">
                <a:solidFill>
                  <a:srgbClr val="FF0000"/>
                </a:solidFill>
                <a:latin typeface="Meiryo"/>
                <a:ea typeface="Meiryo"/>
                <a:sym typeface="Meiryo"/>
              </a:rPr>
              <a:t>に至らず離脱するユーザーが大部分</a:t>
            </a:r>
            <a:r>
              <a:rPr lang="ja-JP" altLang="en-US" sz="1400" dirty="0">
                <a:latin typeface="Meiryo"/>
                <a:ea typeface="Meiryo"/>
                <a:sym typeface="Meiryo"/>
              </a:rPr>
              <a:t>。</a:t>
            </a:r>
            <a:endParaRPr lang="ja-JP" altLang="en-US" sz="1400" dirty="0"/>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CVR</a:t>
            </a:r>
            <a:endParaRPr lang="ja-JP" altLang="en-US" b="1" dirty="0">
              <a:latin typeface="メイリオ" panose="020B0604030504040204" pitchFamily="50" charset="-128"/>
              <a:ea typeface="メイリオ" panose="020B0604030504040204" pitchFamily="50" charset="-128"/>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CPC</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621484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rPr>
              <a:t>10-40</a:t>
            </a:r>
            <a:r>
              <a:rPr lang="ja-JP" altLang="en-US" sz="1400" dirty="0">
                <a:solidFill>
                  <a:srgbClr val="343434"/>
                </a:solidFill>
                <a:latin typeface="メイリオ" panose="020B0604030504040204" pitchFamily="50" charset="-128"/>
                <a:ea typeface="メイリオ" panose="020B0604030504040204" pitchFamily="50" charset="-128"/>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rPr>
              <a:t>LINEOA</a:t>
            </a:r>
            <a:r>
              <a:rPr lang="ja-JP" altLang="en-US" sz="1400" b="1" dirty="0">
                <a:solidFill>
                  <a:srgbClr val="343434"/>
                </a:solidFill>
                <a:latin typeface="メイリオ" panose="020B0604030504040204" pitchFamily="50" charset="-128"/>
                <a:ea typeface="メイリオ" panose="020B0604030504040204" pitchFamily="50" charset="-128"/>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rPr>
              <a:t>される。</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LINE</a:t>
            </a:r>
            <a:r>
              <a:rPr lang="ja-JP" altLang="en-US" sz="1400" dirty="0">
                <a:latin typeface="メイリオ" panose="020B0604030504040204" pitchFamily="50" charset="-128"/>
                <a:ea typeface="メイリオ" panose="020B0604030504040204" pitchFamily="50" charset="-128"/>
                <a:cs typeface="Meiryo"/>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Meiryo"/>
                <a:sym typeface="Meiryo"/>
              </a:rPr>
              <a:t>CV</a:t>
            </a:r>
            <a:r>
              <a:rPr lang="ja-JP" altLang="en-US" sz="1400" dirty="0">
                <a:latin typeface="メイリオ" panose="020B0604030504040204" pitchFamily="50" charset="-128"/>
                <a:ea typeface="メイリオ" panose="020B0604030504040204" pitchFamily="50" charset="-128"/>
                <a:cs typeface="Meiryo"/>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Meiryo"/>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endParaRPr kumimoji="1" lang="ja-JP" altLang="en-US" sz="1050" b="1" dirty="0">
              <a:solidFill>
                <a:schemeClr val="bg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FF0000"/>
                </a:solidFill>
                <a:latin typeface="メイリオ" panose="020B0604030504040204" pitchFamily="50" charset="-128"/>
                <a:ea typeface="メイリオ" panose="020B0604030504040204" pitchFamily="50" charset="-128"/>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rPr>
              <a:t>（</a:t>
            </a:r>
            <a:r>
              <a:rPr kumimoji="1" lang="en-US" altLang="ja-JP" sz="1100" dirty="0">
                <a:solidFill>
                  <a:schemeClr val="tx2"/>
                </a:solidFill>
                <a:latin typeface="メイリオ" panose="020B0604030504040204" pitchFamily="50" charset="-128"/>
                <a:ea typeface="メイリオ" panose="020B0604030504040204" pitchFamily="50" charset="-128"/>
              </a:rPr>
              <a:t>LINE</a:t>
            </a:r>
            <a:r>
              <a:rPr kumimoji="1" lang="ja-JP" altLang="en-US" sz="1100" dirty="0">
                <a:solidFill>
                  <a:schemeClr val="tx2"/>
                </a:solidFill>
                <a:latin typeface="メイリオ" panose="020B0604030504040204" pitchFamily="50" charset="-128"/>
                <a:ea typeface="メイリオ" panose="020B0604030504040204" pitchFamily="50" charset="-128"/>
              </a:rPr>
              <a:t>施策内</a:t>
            </a:r>
            <a:r>
              <a:rPr lang="ja-JP" altLang="en-US" sz="1100" dirty="0">
                <a:solidFill>
                  <a:schemeClr val="tx2"/>
                </a:solidFill>
                <a:latin typeface="メイリオ" panose="020B0604030504040204" pitchFamily="50" charset="-128"/>
                <a:ea typeface="メイリオ" panose="020B0604030504040204" pitchFamily="50" charset="-128"/>
              </a:rPr>
              <a:t>）</a:t>
            </a:r>
            <a:endParaRPr kumimoji="1" lang="ja-JP" altLang="en-US" sz="1100" dirty="0">
              <a:solidFill>
                <a:schemeClr val="tx2"/>
              </a:solidFill>
              <a:latin typeface="メイリオ" panose="020B0604030504040204" pitchFamily="50" charset="-128"/>
              <a:ea typeface="メイリオ" panose="020B0604030504040204" pitchFamily="50" charset="-128"/>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アクティブ数</a:t>
            </a:r>
            <a:endParaRPr kumimoji="1" lang="en-US" altLang="ja-JP" sz="1000" b="1" dirty="0">
              <a:latin typeface="メイリオ" panose="020B0604030504040204" pitchFamily="50" charset="-128"/>
              <a:ea typeface="メイリオ" panose="020B0604030504040204" pitchFamily="50" charset="-128"/>
            </a:endParaRPr>
          </a:p>
          <a:p>
            <a:pPr algn="ctr"/>
            <a:r>
              <a:rPr kumimoji="1" lang="ja-JP" altLang="en-US" sz="800" dirty="0">
                <a:latin typeface="メイリオ" panose="020B0604030504040204" pitchFamily="50" charset="-128"/>
                <a:ea typeface="メイリオ" panose="020B0604030504040204" pitchFamily="50" charset="-128"/>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セグメント率</a:t>
            </a:r>
            <a:endParaRPr kumimoji="1" lang="en-US" altLang="ja-JP" sz="1000" b="1" dirty="0">
              <a:latin typeface="メイリオ" panose="020B0604030504040204" pitchFamily="50" charset="-128"/>
              <a:ea typeface="メイリオ" panose="020B0604030504040204" pitchFamily="50" charset="-128"/>
            </a:endParaRPr>
          </a:p>
          <a:p>
            <a:pPr algn="ctr"/>
            <a:r>
              <a:rPr lang="en-US" altLang="ja-JP" sz="1000" dirty="0">
                <a:latin typeface="メイリオ" panose="020B0604030504040204" pitchFamily="50" charset="-128"/>
                <a:ea typeface="メイリオ" panose="020B0604030504040204" pitchFamily="50" charset="-128"/>
              </a:rPr>
              <a:t>or</a:t>
            </a:r>
          </a:p>
          <a:p>
            <a:pPr algn="ctr"/>
            <a:r>
              <a:rPr kumimoji="1" lang="ja-JP" altLang="en-US" sz="1000" b="1" dirty="0">
                <a:latin typeface="メイリオ" panose="020B0604030504040204" pitchFamily="50" charset="-128"/>
                <a:ea typeface="メイリオ" panose="020B0604030504040204" pitchFamily="50" charset="-128"/>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FF0000"/>
                </a:solidFill>
                <a:latin typeface="メイリオ" panose="020B0604030504040204" pitchFamily="50" charset="-128"/>
                <a:ea typeface="メイリオ" panose="020B0604030504040204" pitchFamily="50" charset="-128"/>
              </a:rPr>
              <a:t>85 </a:t>
            </a:r>
            <a:r>
              <a:rPr lang="en-US" altLang="ja-JP" sz="1400" b="1" dirty="0">
                <a:solidFill>
                  <a:srgbClr val="FF0000"/>
                </a:solidFill>
                <a:latin typeface="メイリオ" panose="020B0604030504040204" pitchFamily="50" charset="-128"/>
                <a:ea typeface="メイリオ" panose="020B0604030504040204" pitchFamily="50" charset="-128"/>
              </a:rPr>
              <a:t>%</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FF0000"/>
                </a:solidFill>
                <a:latin typeface="メイリオ" panose="020B0604030504040204" pitchFamily="50" charset="-128"/>
                <a:ea typeface="メイリオ" panose="020B0604030504040204" pitchFamily="50" charset="-128"/>
              </a:rPr>
              <a:t>12.5 </a:t>
            </a:r>
            <a:r>
              <a:rPr lang="en-US" altLang="ja-JP" sz="1400" b="1" dirty="0">
                <a:solidFill>
                  <a:srgbClr val="FF0000"/>
                </a:solidFill>
                <a:latin typeface="メイリオ" panose="020B0604030504040204" pitchFamily="50" charset="-128"/>
                <a:ea typeface="メイリオ" panose="020B0604030504040204" pitchFamily="50" charset="-128"/>
              </a:rPr>
              <a:t>%</a:t>
            </a:r>
            <a:endParaRPr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FF0000"/>
                </a:solidFill>
                <a:latin typeface="メイリオ" panose="020B0604030504040204" pitchFamily="50" charset="-128"/>
                <a:ea typeface="メイリオ" panose="020B0604030504040204" pitchFamily="50" charset="-128"/>
              </a:rPr>
              <a:t>0.5</a:t>
            </a:r>
            <a:r>
              <a:rPr kumimoji="1" lang="en-US" altLang="ja-JP" sz="1400" b="1" dirty="0">
                <a:solidFill>
                  <a:srgbClr val="FF0000"/>
                </a:solidFill>
                <a:latin typeface="メイリオ" panose="020B0604030504040204" pitchFamily="50" charset="-128"/>
                <a:ea typeface="メイリオ" panose="020B0604030504040204" pitchFamily="50" charset="-128"/>
              </a:rPr>
              <a:t> %</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70 %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8.25 %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rPr>
              <a:t>0.3 %</a:t>
            </a:r>
            <a:endParaRPr kumimoji="1"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C000"/>
                </a:solidFill>
                <a:latin typeface="メイリオ" panose="020B0604030504040204" pitchFamily="50" charset="-128"/>
                <a:ea typeface="メイリオ" panose="020B0604030504040204" pitchFamily="50" charset="-128"/>
              </a:rPr>
              <a:t>DYM</a:t>
            </a:r>
            <a:r>
              <a:rPr kumimoji="1" lang="ja-JP" altLang="en-US" sz="1200" b="1" dirty="0">
                <a:solidFill>
                  <a:srgbClr val="FFC000"/>
                </a:solidFill>
                <a:latin typeface="メイリオ" panose="020B0604030504040204" pitchFamily="50" charset="-128"/>
                <a:ea typeface="メイリオ" panose="020B0604030504040204" pitchFamily="50" charset="-128"/>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業界平均</a:t>
            </a:r>
            <a:endParaRPr lang="en-US" altLang="ja-JP" sz="1200" b="1" dirty="0">
              <a:solidFill>
                <a:schemeClr val="bg1"/>
              </a:solidFill>
              <a:latin typeface="メイリオ" panose="020B0604030504040204" pitchFamily="50" charset="-128"/>
              <a:ea typeface="メイリオ" panose="020B0604030504040204" pitchFamily="50" charset="-128"/>
            </a:endParaRPr>
          </a:p>
          <a:p>
            <a:pPr algn="ctr"/>
            <a:r>
              <a:rPr lang="en-US" altLang="ja-JP" sz="800" b="1" dirty="0">
                <a:solidFill>
                  <a:schemeClr val="bg1"/>
                </a:solidFill>
                <a:latin typeface="メイリオ" panose="020B0604030504040204" pitchFamily="50" charset="-128"/>
                <a:ea typeface="メイリオ" panose="020B0604030504040204" pitchFamily="50" charset="-128"/>
              </a:rPr>
              <a:t>(LINE</a:t>
            </a:r>
            <a:r>
              <a:rPr lang="ja-JP" altLang="en-US" sz="800" b="1" dirty="0">
                <a:solidFill>
                  <a:schemeClr val="bg1"/>
                </a:solidFill>
                <a:latin typeface="メイリオ" panose="020B0604030504040204" pitchFamily="50" charset="-128"/>
                <a:ea typeface="メイリオ" panose="020B0604030504040204" pitchFamily="50" charset="-128"/>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C000"/>
                </a:solidFill>
                <a:latin typeface="メイリオ" panose="020B0604030504040204" pitchFamily="50" charset="-128"/>
                <a:ea typeface="メイリオ" panose="020B0604030504040204" pitchFamily="50" charset="-128"/>
              </a:rPr>
              <a:t>施策の流れ</a:t>
            </a:r>
          </a:p>
        </p:txBody>
      </p:sp>
    </p:spTree>
    <p:extLst>
      <p:ext uri="{BB962C8B-B14F-4D97-AF65-F5344CB8AC3E}">
        <p14:creationId xmlns:p14="http://schemas.microsoft.com/office/powerpoint/2010/main" val="242184237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業態平均で</a:t>
            </a:r>
            <a:r>
              <a:rPr lang="ja-JP" altLang="en-US" sz="1400" b="1" dirty="0">
                <a:solidFill>
                  <a:srgbClr val="FF0000"/>
                </a:solidFill>
                <a:latin typeface="メイリオ" panose="020B0604030504040204" pitchFamily="50" charset="-128"/>
                <a:ea typeface="メイリオ" panose="020B0604030504040204" pitchFamily="50" charset="-128"/>
              </a:rPr>
              <a:t>最大３</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のユーザーは有効化</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マネタイズ可能</a:t>
            </a:r>
            <a:r>
              <a:rPr lang="ja-JP" altLang="en-US" sz="1400" dirty="0">
                <a:solidFill>
                  <a:srgbClr val="343434"/>
                </a:solidFill>
                <a:latin typeface="メイリオ" panose="020B0604030504040204" pitchFamily="50" charset="-128"/>
                <a:ea typeface="メイリオ" panose="020B0604030504040204" pitchFamily="50" charset="-128"/>
              </a:rPr>
              <a:t> とされている。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rPr>
              <a:t>LINE</a:t>
            </a:r>
            <a:r>
              <a:rPr lang="ja-JP" altLang="en-US" sz="1400" dirty="0">
                <a:solidFill>
                  <a:srgbClr val="343434"/>
                </a:solidFill>
                <a:latin typeface="メイリオ" panose="020B0604030504040204" pitchFamily="50" charset="-128"/>
                <a:ea typeface="メイリオ" panose="020B0604030504040204" pitchFamily="50" charset="-128"/>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2808838" y="3038203"/>
            <a:ext cx="4288353"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a:t>
            </a: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　</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[CRM</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及び</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ツールとの連携</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rPr>
              <a:t>「</a:t>
            </a:r>
            <a:r>
              <a:rPr kumimoji="1" lang="en-US" altLang="ja-JP" sz="1400" dirty="0">
                <a:solidFill>
                  <a:srgbClr val="073763"/>
                </a:solidFill>
                <a:latin typeface="メイリオ" panose="020B0604030504040204" pitchFamily="50" charset="-128"/>
                <a:ea typeface="メイリオ" panose="020B0604030504040204" pitchFamily="50" charset="-128"/>
              </a:rPr>
              <a:t>CRM</a:t>
            </a:r>
            <a:r>
              <a:rPr kumimoji="1" lang="ja-JP" altLang="en-US" sz="1400" dirty="0">
                <a:solidFill>
                  <a:srgbClr val="073763"/>
                </a:solidFill>
                <a:latin typeface="メイリオ" panose="020B0604030504040204" pitchFamily="50" charset="-128"/>
                <a:ea typeface="メイリオ" panose="020B0604030504040204" pitchFamily="50" charset="-128"/>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rPr>
              <a:t>が重要</a:t>
            </a:r>
            <a:br>
              <a:rPr lang="en-US" altLang="ja-JP" sz="1400" dirty="0">
                <a:solidFill>
                  <a:srgbClr val="073763"/>
                </a:solidFill>
                <a:latin typeface="メイリオ" panose="020B0604030504040204" pitchFamily="50" charset="-128"/>
                <a:ea typeface="メイリオ" panose="020B0604030504040204" pitchFamily="50" charset="-128"/>
              </a:rPr>
            </a:br>
            <a:r>
              <a:rPr lang="ja-JP" altLang="en-US" sz="1400" b="1" dirty="0">
                <a:solidFill>
                  <a:srgbClr val="073763"/>
                </a:solidFill>
                <a:latin typeface="メイリオ" panose="020B0604030504040204" pitchFamily="50" charset="-128"/>
                <a:ea typeface="メイリオ" panose="020B0604030504040204" pitchFamily="50" charset="-128"/>
              </a:rPr>
              <a:t>要件定義</a:t>
            </a:r>
            <a:r>
              <a:rPr lang="ja-JP" altLang="en-US" sz="1400" dirty="0">
                <a:solidFill>
                  <a:srgbClr val="073763"/>
                </a:solidFill>
                <a:latin typeface="メイリオ" panose="020B0604030504040204" pitchFamily="50" charset="-128"/>
                <a:ea typeface="メイリオ" panose="020B0604030504040204" pitchFamily="50" charset="-128"/>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a:t>
            </a:r>
            <a:r>
              <a:rPr lang="en-US" altLang="ja-JP" sz="1400" dirty="0">
                <a:latin typeface="メイリオ" panose="020B0604030504040204" pitchFamily="50" charset="-128"/>
                <a:ea typeface="メイリオ" panose="020B0604030504040204" pitchFamily="50" charset="-128"/>
                <a:cs typeface="Meiryo"/>
                <a:sym typeface="Meiryo"/>
              </a:rPr>
              <a:t>API</a:t>
            </a:r>
            <a:r>
              <a:rPr lang="ja-JP" altLang="en-US" sz="1400" dirty="0">
                <a:latin typeface="メイリオ" panose="020B0604030504040204" pitchFamily="50" charset="-128"/>
                <a:ea typeface="メイリオ" panose="020B0604030504040204" pitchFamily="50" charset="-128"/>
                <a:cs typeface="Meiryo"/>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貴社内の顧客管理（</a:t>
            </a: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）ツールとの連携の実施も可能です。</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 </a:t>
            </a:r>
            <a:r>
              <a:rPr lang="en-US" altLang="ja-JP" sz="11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開発は別途費用</a:t>
            </a:r>
            <a:endParaRPr lang="en-US" altLang="ja-JP" sz="1400" dirty="0">
              <a:solidFill>
                <a:srgbClr val="FF0000"/>
              </a:solidFill>
              <a:latin typeface="メイリオ" panose="020B0604030504040204" pitchFamily="50" charset="-128"/>
              <a:ea typeface="メイリオ" panose="020B0604030504040204" pitchFamily="50" charset="-128"/>
              <a:cs typeface="Meiryo"/>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メッセ送信</a:t>
            </a:r>
          </a:p>
        </p:txBody>
      </p:sp>
    </p:spTree>
    <p:extLst>
      <p:ext uri="{BB962C8B-B14F-4D97-AF65-F5344CB8AC3E}">
        <p14:creationId xmlns:p14="http://schemas.microsoft.com/office/powerpoint/2010/main" val="98264973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 代表的な活用機能</a:t>
            </a:r>
            <a:endParaRPr sz="1600" b="1" dirty="0">
              <a:solidFill>
                <a:srgbClr val="002060"/>
              </a:solidFill>
              <a:latin typeface="Meiryo"/>
              <a:ea typeface="Meiryo"/>
              <a:cs typeface="Meiryo"/>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ミニアプリ</a:t>
            </a:r>
            <a:endParaRPr lang="en-US" altLang="ja-JP" sz="1600" b="1" dirty="0">
              <a:latin typeface="メイリオ" panose="020B0604030504040204" pitchFamily="50" charset="-128"/>
              <a:ea typeface="メイリオ" panose="020B0604030504040204" pitchFamily="50" charset="-128"/>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内で活用できるミニアプリでは、ゲームや抽選といった機能を</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アプリ開発よりも大幅に格安な価格帯で利用できるサービス。</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チャット</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FAQ</a:t>
            </a:r>
            <a:r>
              <a:rPr lang="ja-JP" altLang="en-US" sz="1600" b="1" dirty="0">
                <a:solidFill>
                  <a:schemeClr val="tx1">
                    <a:lumMod val="65000"/>
                    <a:lumOff val="35000"/>
                  </a:schemeClr>
                </a:solidFill>
                <a:latin typeface="Meiryo"/>
                <a:ea typeface="Meiryo"/>
                <a:cs typeface="Meiryo"/>
                <a:sym typeface="Meiryo"/>
              </a:rPr>
              <a:t>をもとにした</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による自動応答や、</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Meiryo"/>
              <a:ea typeface="Meiryo"/>
              <a:cs typeface="Meiryo"/>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LINE】Chat</a:t>
            </a:r>
            <a:r>
              <a:rPr lang="en-US" altLang="ja-JP" sz="1600" b="1" dirty="0">
                <a:latin typeface="メイリオ" panose="020B0604030504040204" pitchFamily="50" charset="-128"/>
                <a:ea typeface="メイリオ" panose="020B0604030504040204" pitchFamily="50" charset="-128"/>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ホームページから気軽にチャットで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問い合わせができるようになり</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資料請求や商品の購入に繋がる。</a:t>
            </a:r>
            <a:endParaRPr lang="en-US" altLang="ja-JP" sz="1600" b="1" dirty="0">
              <a:solidFill>
                <a:schemeClr val="tx1">
                  <a:lumMod val="65000"/>
                  <a:lumOff val="35000"/>
                </a:schemeClr>
              </a:solidFill>
              <a:latin typeface="Meiryo"/>
              <a:ea typeface="Meiryo"/>
              <a:cs typeface="Meiryo"/>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公式</a:t>
            </a: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69276659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コール</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公式アカウントの有料オプション機能で、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LINE】Call</a:t>
            </a:r>
            <a:r>
              <a:rPr lang="en-US" altLang="ja-JP" sz="1600" b="1" dirty="0">
                <a:latin typeface="メイリオ" panose="020B0604030504040204" pitchFamily="50" charset="-128"/>
                <a:ea typeface="メイリオ" panose="020B0604030504040204" pitchFamily="50" charset="-128"/>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さらに「</a:t>
            </a:r>
            <a:r>
              <a:rPr lang="en-US" altLang="ja-JP" sz="1600" b="1" dirty="0">
                <a:solidFill>
                  <a:schemeClr val="tx1">
                    <a:lumMod val="65000"/>
                    <a:lumOff val="35000"/>
                  </a:schemeClr>
                </a:solidFill>
                <a:latin typeface="Meiryo"/>
                <a:ea typeface="Meiryo"/>
                <a:cs typeface="Meiryo"/>
                <a:sym typeface="Meiryo"/>
              </a:rPr>
              <a:t>LINE Ai Call</a:t>
            </a:r>
            <a:r>
              <a:rPr lang="ja-JP" altLang="en-US" sz="1600" b="1" dirty="0">
                <a:solidFill>
                  <a:schemeClr val="tx1">
                    <a:lumMod val="65000"/>
                    <a:lumOff val="35000"/>
                  </a:schemeClr>
                </a:solidFill>
                <a:latin typeface="Meiryo"/>
                <a:ea typeface="Meiryo"/>
                <a:cs typeface="Meiryo"/>
                <a:sym typeface="Meiryo"/>
              </a:rPr>
              <a:t>」を活用するとユーザーの要望に対して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による自然な</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対話応答が可能に。要件に応じて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と有人オペレータの振り分け業務効率化を支援。</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でログイン</a:t>
            </a:r>
            <a:endParaRPr lang="en-US" altLang="ja-JP" sz="16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でログイン」は、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上のユーザー情報を活用して</a:t>
            </a:r>
            <a:r>
              <a:rPr lang="en-US" altLang="ja-JP" sz="1600" b="1" dirty="0">
                <a:solidFill>
                  <a:schemeClr val="tx1">
                    <a:lumMod val="65000"/>
                    <a:lumOff val="35000"/>
                  </a:schemeClr>
                </a:solidFill>
                <a:latin typeface="Meiryo"/>
                <a:ea typeface="Meiryo"/>
                <a:cs typeface="Meiryo"/>
                <a:sym typeface="Meiryo"/>
              </a:rPr>
              <a:t>WEB</a:t>
            </a:r>
            <a:r>
              <a:rPr lang="ja-JP" altLang="en-US" sz="1600" b="1" dirty="0">
                <a:solidFill>
                  <a:schemeClr val="tx1">
                    <a:lumMod val="65000"/>
                    <a:lumOff val="35000"/>
                  </a:schemeClr>
                </a:solidFill>
                <a:latin typeface="Meiryo"/>
                <a:ea typeface="Meiryo"/>
                <a:cs typeface="Meiryo"/>
                <a:sym typeface="Meiryo"/>
              </a:rPr>
              <a:t>サイト登録が出来る仕組み。</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ID</a:t>
            </a:r>
            <a:r>
              <a:rPr lang="ja-JP" altLang="en-US" sz="1600" b="1" dirty="0">
                <a:solidFill>
                  <a:schemeClr val="tx1">
                    <a:lumMod val="65000"/>
                    <a:lumOff val="35000"/>
                  </a:schemeClr>
                </a:solidFill>
                <a:latin typeface="Meiryo"/>
                <a:ea typeface="Meiryo"/>
                <a:cs typeface="Meiryo"/>
                <a:sym typeface="Meiryo"/>
              </a:rPr>
              <a:t>連携を完了することにより、サービス</a:t>
            </a:r>
            <a:r>
              <a:rPr lang="en-US" altLang="ja-JP" sz="1600" b="1" dirty="0">
                <a:solidFill>
                  <a:schemeClr val="tx1">
                    <a:lumMod val="65000"/>
                    <a:lumOff val="35000"/>
                  </a:schemeClr>
                </a:solidFill>
                <a:latin typeface="Meiryo"/>
                <a:ea typeface="Meiryo"/>
                <a:cs typeface="Meiryo"/>
                <a:sym typeface="Meiryo"/>
              </a:rPr>
              <a:t>(WEB) </a:t>
            </a:r>
            <a:r>
              <a:rPr lang="ja-JP" altLang="en-US" sz="1600" b="1" dirty="0">
                <a:solidFill>
                  <a:schemeClr val="tx1">
                    <a:lumMod val="65000"/>
                    <a:lumOff val="35000"/>
                  </a:schemeClr>
                </a:solidFill>
                <a:latin typeface="Meiryo"/>
                <a:ea typeface="Meiryo"/>
                <a:cs typeface="Meiryo"/>
                <a:sym typeface="Meiryo"/>
              </a:rPr>
              <a:t>⇔ </a:t>
            </a:r>
            <a:r>
              <a:rPr lang="en-US" altLang="ja-JP" sz="1600" b="1" dirty="0">
                <a:solidFill>
                  <a:schemeClr val="tx1">
                    <a:lumMod val="65000"/>
                    <a:lumOff val="35000"/>
                  </a:schemeClr>
                </a:solidFill>
                <a:latin typeface="Meiryo"/>
                <a:ea typeface="Meiryo"/>
                <a:cs typeface="Meiryo"/>
                <a:sym typeface="Meiryo"/>
              </a:rPr>
              <a:t>LINE </a:t>
            </a:r>
            <a:r>
              <a:rPr lang="ja-JP" altLang="en-US" sz="1600" b="1" dirty="0">
                <a:solidFill>
                  <a:schemeClr val="tx1">
                    <a:lumMod val="65000"/>
                    <a:lumOff val="35000"/>
                  </a:schemeClr>
                </a:solidFill>
                <a:latin typeface="Meiryo"/>
                <a:ea typeface="Meiryo"/>
                <a:cs typeface="Meiryo"/>
                <a:sym typeface="Meiryo"/>
              </a:rPr>
              <a:t>での効果的なメッセージが可能に。</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00"/>
                </a:solidFill>
                <a:latin typeface="メイリオ" panose="020B0604030504040204" pitchFamily="50" charset="-128"/>
                <a:ea typeface="メイリオ" panose="020B0604030504040204" pitchFamily="50" charset="-128"/>
              </a:rPr>
              <a:t>※CPF</a:t>
            </a:r>
            <a:r>
              <a:rPr lang="ja-JP" altLang="en-US" sz="1200" b="1" dirty="0">
                <a:solidFill>
                  <a:srgbClr val="FFFF00"/>
                </a:solidFill>
                <a:latin typeface="メイリオ" panose="020B0604030504040204" pitchFamily="50" charset="-128"/>
                <a:ea typeface="メイリオ" panose="020B0604030504040204" pitchFamily="50" charset="-128"/>
              </a:rPr>
              <a:t>広告</a:t>
            </a:r>
            <a:r>
              <a:rPr lang="en-US" altLang="ja-JP" sz="1200" b="1" dirty="0">
                <a:solidFill>
                  <a:srgbClr val="FFFF00"/>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060081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143119</TotalTime>
  <Words>6261</Words>
  <Application>Microsoft Office PowerPoint</Application>
  <PresentationFormat>A4 210 x 297 mm</PresentationFormat>
  <Paragraphs>1587</Paragraphs>
  <Slides>58</Slides>
  <Notes>28</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58</vt:i4>
      </vt:variant>
    </vt:vector>
  </HeadingPairs>
  <TitlesOfParts>
    <vt:vector size="65"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1953</cp:revision>
  <cp:lastPrinted>2022-11-01T11:38:14Z</cp:lastPrinted>
  <dcterms:created xsi:type="dcterms:W3CDTF">2015-09-04T09:21:15Z</dcterms:created>
  <dcterms:modified xsi:type="dcterms:W3CDTF">2026-09-18T09:24:08Z</dcterms:modified>
</cp:coreProperties>
</file>