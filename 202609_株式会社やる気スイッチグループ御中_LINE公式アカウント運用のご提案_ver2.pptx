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53.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1"/>
  </p:notesMasterIdLst>
  <p:handoutMasterIdLst>
    <p:handoutMasterId r:id="rId62"/>
  </p:handoutMasterIdLst>
  <p:sldIdLst>
    <p:sldId id="2363" r:id="rId3"/>
    <p:sldId id="2971" r:id="rId4"/>
    <p:sldId id="2993" r:id="rId5"/>
    <p:sldId id="2972" r:id="rId6"/>
    <p:sldId id="2994" r:id="rId7"/>
    <p:sldId id="2995" r:id="rId8"/>
    <p:sldId id="3003" r:id="rId9"/>
    <p:sldId id="3002" r:id="rId10"/>
    <p:sldId id="3001" r:id="rId11"/>
    <p:sldId id="2999" r:id="rId12"/>
    <p:sldId id="3004" r:id="rId13"/>
    <p:sldId id="2736" r:id="rId14"/>
    <p:sldId id="2987" r:id="rId15"/>
    <p:sldId id="2997" r:id="rId16"/>
    <p:sldId id="2996" r:id="rId17"/>
    <p:sldId id="2973" r:id="rId18"/>
    <p:sldId id="2977" r:id="rId19"/>
    <p:sldId id="2979" r:id="rId20"/>
    <p:sldId id="3000" r:id="rId21"/>
    <p:sldId id="2908" r:id="rId22"/>
    <p:sldId id="2998" r:id="rId23"/>
    <p:sldId id="2990" r:id="rId24"/>
    <p:sldId id="3005" r:id="rId25"/>
    <p:sldId id="2986" r:id="rId26"/>
    <p:sldId id="3006" r:id="rId27"/>
    <p:sldId id="2991" r:id="rId28"/>
    <p:sldId id="2737" r:id="rId29"/>
    <p:sldId id="2989" r:id="rId30"/>
    <p:sldId id="2563" r:id="rId31"/>
    <p:sldId id="2959" r:id="rId32"/>
    <p:sldId id="2970" r:id="rId33"/>
    <p:sldId id="2968" r:id="rId34"/>
    <p:sldId id="2969" r:id="rId35"/>
    <p:sldId id="2639" r:id="rId36"/>
    <p:sldId id="2957" r:id="rId37"/>
    <p:sldId id="2951" r:id="rId38"/>
    <p:sldId id="2841" r:id="rId39"/>
    <p:sldId id="2734" r:id="rId40"/>
    <p:sldId id="2595" r:id="rId41"/>
    <p:sldId id="2566" r:id="rId42"/>
    <p:sldId id="2915" r:id="rId43"/>
    <p:sldId id="2619" r:id="rId44"/>
    <p:sldId id="2761" r:id="rId45"/>
    <p:sldId id="2935" r:id="rId46"/>
    <p:sldId id="2919" r:id="rId47"/>
    <p:sldId id="2519" r:id="rId48"/>
    <p:sldId id="2931" r:id="rId49"/>
    <p:sldId id="2749" r:id="rId50"/>
    <p:sldId id="2950" r:id="rId51"/>
    <p:sldId id="2961" r:id="rId52"/>
    <p:sldId id="2849" r:id="rId53"/>
    <p:sldId id="2904" r:id="rId54"/>
    <p:sldId id="2905" r:id="rId55"/>
    <p:sldId id="2906" r:id="rId56"/>
    <p:sldId id="2907" r:id="rId57"/>
    <p:sldId id="2575" r:id="rId58"/>
    <p:sldId id="2910" r:id="rId59"/>
    <p:sldId id="1169" r:id="rId60"/>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notesMaster" Target="notesMasters/notesMaster1.xml"/><Relationship Id="rId62" Type="http://schemas.openxmlformats.org/officeDocument/2006/relationships/handoutMaster" Target="handoutMasters/handout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2026/9/18</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EE297-1C60-1B47-1371-71E9182BCB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8E7FAC-7C31-2BF5-99A0-B567314FF8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9D9BB1D-280D-F986-C5BD-B8EA9C52B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845DE59-8CC7-2B95-A35B-4990F6D674F1}"/>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4875882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6E8F5-BBD3-0231-A307-D47C566A9F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2BFD107-29C2-1C0C-2391-CF3D41D4AE5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E60E4A0-B5DF-7E8F-9287-E56FCAFE258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61D2291-B783-1AA7-A21C-3450133A3B7C}"/>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7729162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12A7A-9C17-F191-B8A5-07AB24256E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62CB65-47CA-40CE-B910-EFFA15F9EFB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758557-6179-7BE8-A51E-51B7EB03AE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FF1C258-C7A8-70CB-60F9-410CC6748283}"/>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17588645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18</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24</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26</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40</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42</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49</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58</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jpe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jpe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7.png"/><Relationship Id="rId4" Type="http://schemas.openxmlformats.org/officeDocument/2006/relationships/image" Target="../media/image4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svg"/><Relationship Id="rId8" Type="http://schemas.openxmlformats.org/officeDocument/2006/relationships/image" Target="../media/image5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5.svg"/><Relationship Id="rId4" Type="http://schemas.openxmlformats.org/officeDocument/2006/relationships/image" Target="../media/image56.svg"/><Relationship Id="rId5" Type="http://schemas.openxmlformats.org/officeDocument/2006/relationships/image" Target="../media/image57.svg"/><Relationship Id="rId6" Type="http://schemas.openxmlformats.org/officeDocument/2006/relationships/image" Target="../media/image58.sv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emf"/><Relationship Id="rId4" Type="http://schemas.openxmlformats.org/officeDocument/2006/relationships/image" Target="../media/image74.jpeg"/><Relationship Id="rId5" Type="http://schemas.openxmlformats.org/officeDocument/2006/relationships/image" Target="../media/image75.jpeg"/><Relationship Id="rId6" Type="http://schemas.openxmlformats.org/officeDocument/2006/relationships/image" Target="../media/image76.jpeg"/><Relationship Id="rId7" Type="http://schemas.openxmlformats.org/officeDocument/2006/relationships/image" Target="../media/image77.jpeg"/><Relationship Id="rId8" Type="http://schemas.openxmlformats.org/officeDocument/2006/relationships/image" Target="../media/image7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株式会社やる気スイッチグループ 御中</a:t>
            </a:r>
          </a:p>
        </p:txBody>
      </p:sp>
      <p:pic>
        <p:nvPicPr>
          <p:cNvPr id="16" name="図 15">
            <a:extLst>
              <a:ext uri="{FF2B5EF4-FFF2-40B4-BE49-F238E27FC236}">
                <a16:creationId xmlns:a16="http://schemas.microsoft.com/office/drawing/2014/main" id="{F5FA6CC7-CA8F-92E6-C244-18831D0C0295}"/>
              </a:ext>
            </a:extLst>
          </p:cNvPr>
          <p:cNvPicPr>
            <a:picLocks noChangeAspect="1"/>
          </p:cNvPicPr>
          <p:nvPr/>
        </p:nvPicPr>
        <p:blipFill>
          <a:blip r:embed="rId3"/>
          <a:stretch>
            <a:fillRect/>
          </a:stretch>
        </p:blipFill>
        <p:spPr>
          <a:xfrm>
            <a:off x="5297860" y="3402512"/>
            <a:ext cx="1763918" cy="511042"/>
          </a:xfrm>
          <a:prstGeom prst="rect">
            <a:avLst/>
          </a:prstGeom>
        </p:spPr>
      </p:pic>
      <p:pic>
        <p:nvPicPr>
          <p:cNvPr id="18" name="図 17">
            <a:extLst>
              <a:ext uri="{FF2B5EF4-FFF2-40B4-BE49-F238E27FC236}">
                <a16:creationId xmlns:a16="http://schemas.microsoft.com/office/drawing/2014/main" id="{A18567FA-559F-28F3-12A5-872E80F869D3}"/>
              </a:ext>
            </a:extLst>
          </p:cNvPr>
          <p:cNvPicPr>
            <a:picLocks noChangeAspect="1"/>
          </p:cNvPicPr>
          <p:nvPr/>
        </p:nvPicPr>
        <p:blipFill>
          <a:blip r:embed="rId4"/>
          <a:stretch>
            <a:fillRect/>
          </a:stretch>
        </p:blipFill>
        <p:spPr>
          <a:xfrm>
            <a:off x="3099814" y="3370502"/>
            <a:ext cx="1694693" cy="575063"/>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忍者ナイン</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EB2DD2D7-F323-5565-89B7-F197B808D898}"/>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7302A54D-423F-C71A-CF81-E2452E967C73}"/>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88937895-903D-2714-B911-64B989A6665C}"/>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17,607</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7,000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D32F8AF1-295B-DEF7-DF39-7ADF991996BA}"/>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7D910DD2-60FF-DE1D-244F-84DABD92D62C}"/>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14E58E5E-2D77-90E6-91E8-9955CA80F448}"/>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18879675-133C-898A-AB5B-286927352D72}"/>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780FE50C-6BE9-89A2-9A39-FEB38C461055}"/>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pic>
        <p:nvPicPr>
          <p:cNvPr id="11" name="図 10">
            <a:extLst>
              <a:ext uri="{FF2B5EF4-FFF2-40B4-BE49-F238E27FC236}">
                <a16:creationId xmlns:a16="http://schemas.microsoft.com/office/drawing/2014/main" id="{CF50BD48-FC75-6DA2-1A57-02F2D17728F6}"/>
              </a:ext>
            </a:extLst>
          </p:cNvPr>
          <p:cNvPicPr>
            <a:picLocks noChangeAspect="1"/>
          </p:cNvPicPr>
          <p:nvPr/>
        </p:nvPicPr>
        <p:blipFill>
          <a:blip r:embed="rId4"/>
          <a:stretch>
            <a:fillRect/>
          </a:stretch>
        </p:blipFill>
        <p:spPr>
          <a:xfrm>
            <a:off x="495219" y="2017307"/>
            <a:ext cx="1575169" cy="3199306"/>
          </a:xfrm>
          <a:prstGeom prst="rect">
            <a:avLst/>
          </a:prstGeom>
        </p:spPr>
      </p:pic>
      <p:sp>
        <p:nvSpPr>
          <p:cNvPr id="15" name="テキスト ボックス 14">
            <a:extLst>
              <a:ext uri="{FF2B5EF4-FFF2-40B4-BE49-F238E27FC236}">
                <a16:creationId xmlns:a16="http://schemas.microsoft.com/office/drawing/2014/main" id="{721AAE50-63B8-A073-1228-D24794D0EE6B}"/>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FD3AAEC4-2DF3-24CA-07F4-78FF480D3C0B}"/>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9925E0-24D6-764D-FC59-198A43FE162D}"/>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850E5-D5A1-CFDF-111D-4022C3ACFF30}"/>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E31A894-E8DC-C040-E38B-038A8EF528E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D68C335-D806-837C-26CA-E0BD169C64B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F2C0452-B9E6-F1EE-DD53-83755CCCC88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AD2E002-BC79-F49E-26BC-844143DB1CB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チャイルドアイズ</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6DA3B365-02D9-8B5B-1299-3D8406BB3D5C}"/>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F8313A60-EA49-F9B7-6C41-949A968F0600}"/>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6B7452FF-3064-3C53-0009-2FF21E2A20E3}"/>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4DE653A3-6A01-144F-1BF8-1590962028E3}"/>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4BC7545E-7F3F-B8DD-FAA4-D802246C1236}"/>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4FD3FA7D-7FF2-4236-7135-48E5D06D806B}"/>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641B3AFA-24D2-E56E-9A38-AC3FAFF26FEF}"/>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B47911B-0E60-1A54-28E3-4822D0F71546}"/>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786D7DA7-503E-05B5-F9CB-0A21161B6913}"/>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EA788168-7029-078F-5BD8-F04485F4755A}"/>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43A76DAB-1A67-A2FA-CB9F-4E749C2AE08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09C9ADFA-9068-E4AF-1EEA-6AA96D14B0E4}"/>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D9941BFF-1B46-CD45-ED5A-61E32CC889F8}"/>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621AF139-DB4F-043A-C841-17CB34ABE979}"/>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B5121E5-ADDA-2445-CD99-AF7C9748F0F2}"/>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9295423F-6886-C0F9-07E8-99E65DA2F185}"/>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BC9F693C-CE4E-77C8-8651-DCFDCF1173A3}"/>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429EF141-B4B6-BD86-F207-AB9F39A6D6CC}"/>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7C5532CE-88A1-7418-788B-354213D6977B}"/>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4E2A999C-E78C-D828-F3B4-8B46E6CFAC5C}"/>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50BA19F4-53F1-C97B-0713-EC49522B21E8}"/>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0D3F17B7-BE54-FFAB-DA5A-705404A9C08A}"/>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B0DD1EFF-563A-1CD9-9989-968BFFEBCC2C}"/>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CDF3ACE8-A29C-0869-5155-3A40D885312A}"/>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52C94FD-2F48-FE18-F017-6E76C0BDD2F3}"/>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FEDAB5C8-D777-7083-1B4C-F755ADE9FC2B}"/>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4164EE0-C2B2-E301-5AC9-2CA1B7015DD6}"/>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86F2BB75-D087-3536-A5EC-03D24451492A}"/>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B6ADA316-97DB-19DE-5310-2D4AFF7C5555}"/>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18,784</a:t>
            </a:r>
          </a:p>
        </p:txBody>
      </p:sp>
      <p:sp>
        <p:nvSpPr>
          <p:cNvPr id="108" name="テキスト ボックス 107">
            <a:extLst>
              <a:ext uri="{FF2B5EF4-FFF2-40B4-BE49-F238E27FC236}">
                <a16:creationId xmlns:a16="http://schemas.microsoft.com/office/drawing/2014/main" id="{47F3F567-C41D-6459-A492-84B20AAA216D}"/>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4,500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EA12EB97-C2CF-9EF7-68AC-1F725E44C0C6}"/>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C7BA49E9-9AD1-C8F1-045C-F99303CC534D}"/>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7BE2FF98-F2E6-8CBD-5248-49871F114542}"/>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914EF112-00D2-D47D-0B61-A93CBE8BB645}"/>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986694EA-BD3A-DAC6-4DEE-7D91F77FBE22}"/>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55C2042F-3220-C5D3-61DE-7D9D40613A6E}"/>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153D3F2B-14F9-70C0-50BC-B7CB286E2D8F}"/>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2263D4CF-8260-F1E1-BCF7-ED72C65AF07F}"/>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32CFABB8-ADE8-1D5B-7822-D8BF0BA34FC4}"/>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EE5E6FB-FD31-4BA0-5DD6-0E11BBB49851}"/>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E91D57C9-6375-8F5E-0D71-3230B0BA0AC3}"/>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50103491-D71F-7EB5-8BE0-3BC70A0F52D1}"/>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03486B97-EFB2-9F95-C428-B571949EB1AE}"/>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83060EE7-F85C-FEB9-6E07-AD89C879B907}"/>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6E50A20F-2BFB-3695-700C-44F0937245E4}"/>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343ADE76-581F-E366-449C-C73F90D92979}"/>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15C10191-5CA8-D3BE-7847-7FA57C28C1F2}"/>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51BEBC5F-1121-B8DC-54E2-DC8DC1020DB7}"/>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73338154-D562-06D1-6113-0A579EACBBE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429FE883-F81A-EC4E-0F0F-55845FDE0805}"/>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5" name="テキスト ボックス 14">
            <a:extLst>
              <a:ext uri="{FF2B5EF4-FFF2-40B4-BE49-F238E27FC236}">
                <a16:creationId xmlns:a16="http://schemas.microsoft.com/office/drawing/2014/main" id="{D8447831-C297-CBA7-F3CA-5D43B36CC58C}"/>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37017496-6CD7-3CFD-646C-633B200B3E59}"/>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0E746B-15F9-EC55-3FD1-F7330033C14B}"/>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446BF02-9F13-C513-57CD-571CF79F7E70}"/>
              </a:ext>
            </a:extLst>
          </p:cNvPr>
          <p:cNvPicPr>
            <a:picLocks noChangeAspect="1"/>
          </p:cNvPicPr>
          <p:nvPr/>
        </p:nvPicPr>
        <p:blipFill>
          <a:blip r:embed="rId4"/>
          <a:stretch>
            <a:fillRect/>
          </a:stretch>
        </p:blipFill>
        <p:spPr>
          <a:xfrm>
            <a:off x="495313" y="2013910"/>
            <a:ext cx="1589341" cy="3228091"/>
          </a:xfrm>
          <a:prstGeom prst="rect">
            <a:avLst/>
          </a:prstGeom>
        </p:spPr>
      </p:pic>
      <p:sp>
        <p:nvSpPr>
          <p:cNvPr id="8" name="テキスト ボックス 7">
            <a:extLst>
              <a:ext uri="{FF2B5EF4-FFF2-40B4-BE49-F238E27FC236}">
                <a16:creationId xmlns:a16="http://schemas.microsoft.com/office/drawing/2014/main" id="{BBD7CF6B-43AB-A34E-F20C-7D5A5292AEF4}"/>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spTree>
    <p:extLst>
      <p:ext uri="{BB962C8B-B14F-4D97-AF65-F5344CB8AC3E}">
        <p14:creationId xmlns:p14="http://schemas.microsoft.com/office/powerpoint/2010/main" val="3350054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共通 </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 忍者ナイン チャイルドアイズ</a:t>
            </a:r>
            <a:r>
              <a:rPr lang="en-US" altLang="ja-JP" sz="1200" b="1" dirty="0">
                <a:solidFill>
                  <a:srgbClr val="002060"/>
                </a:solidFill>
                <a:latin typeface="Meiryo"/>
                <a:ea typeface="Meiryo"/>
                <a:cs typeface="Meiryo"/>
                <a:sym typeface="Meiryo"/>
              </a:rPr>
              <a:t> - 】</a:t>
            </a:r>
            <a:endParaRPr lang="en-US" altLang="ja-JP"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03689A4E-877A-1305-D91C-502200DDD5CA}"/>
              </a:ext>
            </a:extLst>
          </p:cNvPr>
          <p:cNvSpPr txBox="1"/>
          <p:nvPr/>
        </p:nvSpPr>
        <p:spPr>
          <a:xfrm>
            <a:off x="7408050" y="2633400"/>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6B79D75E-D645-6E3E-B433-8F68BE5185B7}"/>
              </a:ext>
            </a:extLst>
          </p:cNvPr>
          <p:cNvSpPr txBox="1"/>
          <p:nvPr/>
        </p:nvSpPr>
        <p:spPr>
          <a:xfrm>
            <a:off x="334303" y="2025747"/>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1" name="テキスト ボックス 10">
            <a:extLst>
              <a:ext uri="{FF2B5EF4-FFF2-40B4-BE49-F238E27FC236}">
                <a16:creationId xmlns:a16="http://schemas.microsoft.com/office/drawing/2014/main" id="{D26B3D93-E4B8-A140-7F64-AEE99515674C}"/>
              </a:ext>
            </a:extLst>
          </p:cNvPr>
          <p:cNvSpPr txBox="1"/>
          <p:nvPr/>
        </p:nvSpPr>
        <p:spPr>
          <a:xfrm>
            <a:off x="1268358" y="223640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3" y="243051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626872"/>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28" name="正方形/長方形 27">
            <a:extLst>
              <a:ext uri="{FF2B5EF4-FFF2-40B4-BE49-F238E27FC236}">
                <a16:creationId xmlns:a16="http://schemas.microsoft.com/office/drawing/2014/main" id="{985D0F3D-E958-2764-0030-33A43FBBB844}"/>
              </a:ext>
            </a:extLst>
          </p:cNvPr>
          <p:cNvSpPr/>
          <p:nvPr/>
        </p:nvSpPr>
        <p:spPr>
          <a:xfrm>
            <a:off x="334303" y="3184429"/>
            <a:ext cx="9425943" cy="266492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832206"/>
            <a:ext cx="2757865"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無料体験予約</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4" name="テキスト ボックス 33">
            <a:extLst>
              <a:ext uri="{FF2B5EF4-FFF2-40B4-BE49-F238E27FC236}">
                <a16:creationId xmlns:a16="http://schemas.microsoft.com/office/drawing/2014/main" id="{6EF69A8A-6EFE-81B5-27C6-31715CCA0A13}"/>
              </a:ext>
            </a:extLst>
          </p:cNvPr>
          <p:cNvSpPr txBox="1"/>
          <p:nvPr/>
        </p:nvSpPr>
        <p:spPr>
          <a:xfrm>
            <a:off x="4830777" y="4178949"/>
            <a:ext cx="2352196"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来場</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7" y="4526876"/>
            <a:ext cx="2352195" cy="276999"/>
          </a:xfrm>
          <a:prstGeom prst="rect">
            <a:avLst/>
          </a:prstGeom>
          <a:solidFill>
            <a:srgbClr val="FF0000"/>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入会（有料会員化）</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6" y="3441166"/>
            <a:ext cx="2157994" cy="253916"/>
          </a:xfrm>
          <a:prstGeom prst="rect">
            <a:avLst/>
          </a:prstGeom>
          <a:noFill/>
        </p:spPr>
        <p:txBody>
          <a:bodyPr wrap="square">
            <a:spAutoFit/>
          </a:bodyPr>
          <a:lstStyle/>
          <a:p>
            <a:pPr algn="ctr"/>
            <a:r>
              <a:rPr lang="en-US" altLang="ja-JP" sz="1050" dirty="0">
                <a:latin typeface="メイリオ" panose="020B0604030504040204" pitchFamily="50" charset="-128"/>
                <a:ea typeface="メイリオ" panose="020B0604030504040204" pitchFamily="50" charset="-128"/>
              </a:rPr>
              <a:t>&lt;</a:t>
            </a:r>
            <a:r>
              <a:rPr lang="ja-JP" altLang="en-US" sz="1050" dirty="0">
                <a:latin typeface="メイリオ" panose="020B0604030504040204" pitchFamily="50" charset="-128"/>
                <a:ea typeface="メイリオ" panose="020B0604030504040204" pitchFamily="50" charset="-128"/>
              </a:rPr>
              <a:t>貴社のユーザー動線イメージ</a:t>
            </a:r>
            <a:r>
              <a:rPr lang="en-US" altLang="ja-JP" sz="1050" dirty="0">
                <a:latin typeface="メイリオ" panose="020B0604030504040204" pitchFamily="50" charset="-128"/>
                <a:ea typeface="メイリオ" panose="020B0604030504040204" pitchFamily="50" charset="-128"/>
              </a:rPr>
              <a:t>&gt;</a:t>
            </a:r>
            <a:endParaRPr lang="ja-JP" altLang="en-US" sz="1050" dirty="0">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5D74B0A9-936D-80CB-D756-D20982A19D5A}"/>
              </a:ext>
            </a:extLst>
          </p:cNvPr>
          <p:cNvSpPr txBox="1"/>
          <p:nvPr/>
        </p:nvSpPr>
        <p:spPr>
          <a:xfrm>
            <a:off x="605949" y="768699"/>
            <a:ext cx="8797260" cy="523220"/>
          </a:xfrm>
          <a:prstGeom prst="rect">
            <a:avLst/>
          </a:prstGeom>
          <a:noFill/>
        </p:spPr>
        <p:txBody>
          <a:bodyPr wrap="square">
            <a:spAutoFit/>
          </a:bodyPr>
          <a:lstStyle/>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入会数の拡大にあたっては</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①無料体験予約の最大化</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を行う必要があり、</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また</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②来場及び入会への誘導強化（有効率の改善）</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を行う必要が同時に出てくる。</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23" name="テキスト ボックス 22">
            <a:extLst>
              <a:ext uri="{FF2B5EF4-FFF2-40B4-BE49-F238E27FC236}">
                <a16:creationId xmlns:a16="http://schemas.microsoft.com/office/drawing/2014/main" id="{5F1C16D1-2056-4E4E-4E76-CCFC2471EFC6}"/>
              </a:ext>
            </a:extLst>
          </p:cNvPr>
          <p:cNvSpPr txBox="1"/>
          <p:nvPr/>
        </p:nvSpPr>
        <p:spPr>
          <a:xfrm>
            <a:off x="7408051" y="4873981"/>
            <a:ext cx="2352195" cy="276999"/>
          </a:xfrm>
          <a:prstGeom prst="rect">
            <a:avLst/>
          </a:prstGeom>
          <a:solidFill>
            <a:schemeClr val="tx1">
              <a:lumMod val="50000"/>
              <a:lumOff val="50000"/>
            </a:schemeClr>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継続</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E0409053-B1D2-9FAA-482E-614CCD2E8297}"/>
              </a:ext>
            </a:extLst>
          </p:cNvPr>
          <p:cNvSpPr txBox="1"/>
          <p:nvPr/>
        </p:nvSpPr>
        <p:spPr>
          <a:xfrm>
            <a:off x="7408050" y="5216548"/>
            <a:ext cx="2352195" cy="276999"/>
          </a:xfrm>
          <a:prstGeom prst="rect">
            <a:avLst/>
          </a:prstGeom>
          <a:solidFill>
            <a:schemeClr val="tx1">
              <a:lumMod val="50000"/>
              <a:lumOff val="50000"/>
            </a:schemeClr>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a:t>
            </a:r>
            <a:r>
              <a:rPr lang="ja-JP" altLang="en-US" sz="1200" dirty="0">
                <a:solidFill>
                  <a:schemeClr val="bg1"/>
                </a:solidFill>
                <a:latin typeface="メイリオ" panose="020B0604030504040204" pitchFamily="50" charset="-128"/>
                <a:ea typeface="メイリオ" panose="020B0604030504040204" pitchFamily="50" charset="-128"/>
              </a:rPr>
              <a:t>他サービスの紹介</a:t>
            </a:r>
            <a:r>
              <a:rPr lang="en-US" altLang="ja-JP" sz="1200" dirty="0">
                <a:solidFill>
                  <a:schemeClr val="bg1"/>
                </a:solidFill>
                <a:latin typeface="メイリオ" panose="020B0604030504040204" pitchFamily="50" charset="-128"/>
                <a:ea typeface="メイリオ" panose="020B0604030504040204" pitchFamily="50" charset="-128"/>
              </a:rPr>
              <a:t>)</a:t>
            </a:r>
          </a:p>
        </p:txBody>
      </p:sp>
      <p:cxnSp>
        <p:nvCxnSpPr>
          <p:cNvPr id="22" name="コネクタ: カギ線 21">
            <a:extLst>
              <a:ext uri="{FF2B5EF4-FFF2-40B4-BE49-F238E27FC236}">
                <a16:creationId xmlns:a16="http://schemas.microsoft.com/office/drawing/2014/main" id="{4CF79249-8FFF-EDBE-79D1-696A739C3207}"/>
              </a:ext>
            </a:extLst>
          </p:cNvPr>
          <p:cNvCxnSpPr>
            <a:cxnSpLocks/>
            <a:stCxn id="32" idx="2"/>
            <a:endCxn id="34" idx="1"/>
          </p:cNvCxnSpPr>
          <p:nvPr/>
        </p:nvCxnSpPr>
        <p:spPr>
          <a:xfrm rot="16200000" flipH="1">
            <a:off x="4568968" y="4055640"/>
            <a:ext cx="208244" cy="315374"/>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CBA42435-77B9-8F10-5F69-E8B6EB26472C}"/>
              </a:ext>
            </a:extLst>
          </p:cNvPr>
          <p:cNvCxnSpPr>
            <a:cxnSpLocks/>
            <a:stCxn id="34" idx="2"/>
            <a:endCxn id="36" idx="1"/>
          </p:cNvCxnSpPr>
          <p:nvPr/>
        </p:nvCxnSpPr>
        <p:spPr>
          <a:xfrm rot="16200000" flipH="1">
            <a:off x="5958432" y="4504391"/>
            <a:ext cx="209428" cy="112542"/>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9" name="テキスト ボックス 38">
            <a:extLst>
              <a:ext uri="{FF2B5EF4-FFF2-40B4-BE49-F238E27FC236}">
                <a16:creationId xmlns:a16="http://schemas.microsoft.com/office/drawing/2014/main" id="{3C1D6754-7C46-5825-A516-18CBAE22FDE9}"/>
              </a:ext>
            </a:extLst>
          </p:cNvPr>
          <p:cNvSpPr txBox="1"/>
          <p:nvPr/>
        </p:nvSpPr>
        <p:spPr>
          <a:xfrm>
            <a:off x="328349" y="382737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（広告・</a:t>
            </a:r>
            <a:r>
              <a:rPr lang="en-US" altLang="ja-JP" sz="1100" b="1" dirty="0">
                <a:latin typeface="メイリオ" panose="020B0604030504040204" pitchFamily="50" charset="-128"/>
                <a:ea typeface="メイリオ" panose="020B0604030504040204" pitchFamily="50" charset="-128"/>
              </a:rPr>
              <a:t>SEO</a:t>
            </a:r>
            <a:r>
              <a:rPr lang="ja-JP" altLang="en-US" sz="11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567FE63D-B0BB-1B5F-664B-09DD6B6984F7}"/>
              </a:ext>
            </a:extLst>
          </p:cNvPr>
          <p:cNvSpPr txBox="1"/>
          <p:nvPr/>
        </p:nvSpPr>
        <p:spPr>
          <a:xfrm>
            <a:off x="328348" y="412694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貴社他サービスからの紹介</a:t>
            </a:r>
            <a:endParaRPr lang="ja-JP" altLang="ja-JP" sz="1100" b="1" dirty="0">
              <a:latin typeface="メイリオ" panose="020B0604030504040204" pitchFamily="50" charset="-128"/>
              <a:ea typeface="メイリオ" panose="020B0604030504040204" pitchFamily="50" charset="-128"/>
            </a:endParaRPr>
          </a:p>
        </p:txBody>
      </p:sp>
      <p:cxnSp>
        <p:nvCxnSpPr>
          <p:cNvPr id="44" name="コネクタ: カギ線 43">
            <a:extLst>
              <a:ext uri="{FF2B5EF4-FFF2-40B4-BE49-F238E27FC236}">
                <a16:creationId xmlns:a16="http://schemas.microsoft.com/office/drawing/2014/main" id="{49EFBAB0-BCDF-630C-31F0-B7E739627F12}"/>
              </a:ext>
            </a:extLst>
          </p:cNvPr>
          <p:cNvCxnSpPr>
            <a:cxnSpLocks/>
            <a:stCxn id="39" idx="3"/>
            <a:endCxn id="32" idx="1"/>
          </p:cNvCxnSpPr>
          <p:nvPr/>
        </p:nvCxnSpPr>
        <p:spPr>
          <a:xfrm>
            <a:off x="2196460" y="3958178"/>
            <a:ext cx="940010" cy="12528"/>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D1AA445-8212-7660-79B6-1F56575E958B}"/>
              </a:ext>
            </a:extLst>
          </p:cNvPr>
          <p:cNvCxnSpPr>
            <a:cxnSpLocks/>
            <a:stCxn id="43" idx="3"/>
            <a:endCxn id="32" idx="1"/>
          </p:cNvCxnSpPr>
          <p:nvPr/>
        </p:nvCxnSpPr>
        <p:spPr>
          <a:xfrm flipV="1">
            <a:off x="2196459" y="3970706"/>
            <a:ext cx="940011" cy="287042"/>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3D5EBB5F-0314-5C1C-6914-43812C697BBA}"/>
              </a:ext>
            </a:extLst>
          </p:cNvPr>
          <p:cNvSpPr txBox="1"/>
          <p:nvPr/>
        </p:nvSpPr>
        <p:spPr>
          <a:xfrm>
            <a:off x="2397925" y="3832206"/>
            <a:ext cx="538152" cy="338554"/>
          </a:xfrm>
          <a:prstGeom prst="rect">
            <a:avLst/>
          </a:prstGeom>
          <a:solidFill>
            <a:schemeClr val="accent1">
              <a:lumMod val="40000"/>
              <a:lumOff val="60000"/>
            </a:schemeClr>
          </a:solidFill>
        </p:spPr>
        <p:txBody>
          <a:bodyPr wrap="square">
            <a:spAutoFit/>
          </a:bodyPr>
          <a:lstStyle/>
          <a:p>
            <a:pPr algn="ctr"/>
            <a:r>
              <a:rPr lang="ja-JP" altLang="en-US" sz="800" dirty="0">
                <a:solidFill>
                  <a:schemeClr val="bg1"/>
                </a:solidFill>
                <a:latin typeface="メイリオ" panose="020B0604030504040204" pitchFamily="50" charset="-128"/>
                <a:ea typeface="メイリオ" panose="020B0604030504040204" pitchFamily="50" charset="-128"/>
              </a:rPr>
              <a:t>電話</a:t>
            </a:r>
            <a:endParaRPr lang="en-US" altLang="ja-JP" sz="800" dirty="0">
              <a:solidFill>
                <a:schemeClr val="bg1"/>
              </a:solidFill>
              <a:latin typeface="メイリオ" panose="020B0604030504040204" pitchFamily="50" charset="-128"/>
              <a:ea typeface="メイリオ" panose="020B0604030504040204" pitchFamily="50" charset="-128"/>
            </a:endParaRPr>
          </a:p>
          <a:p>
            <a:pPr algn="ctr"/>
            <a:r>
              <a:rPr lang="en-US" altLang="ja-JP" sz="800" dirty="0">
                <a:solidFill>
                  <a:schemeClr val="bg1"/>
                </a:solidFill>
                <a:latin typeface="メイリオ" panose="020B0604030504040204" pitchFamily="50" charset="-128"/>
                <a:ea typeface="メイリオ" panose="020B0604030504040204" pitchFamily="50" charset="-128"/>
              </a:rPr>
              <a:t>WEB</a:t>
            </a: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28982883-62D2-1FB6-448E-4DBFD3487BB8}"/>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2A895AE-F6EA-11C0-FE80-47B95B614699}"/>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LINE</a:t>
            </a:r>
            <a:r>
              <a:rPr lang="ja-JP" altLang="en-US" sz="1700" dirty="0">
                <a:solidFill>
                  <a:schemeClr val="tx1"/>
                </a:solidFill>
              </a:rPr>
              <a:t>ヤフー社提供の前後検索クエリより（クエリ：子ども 習い事）</a:t>
            </a:r>
            <a:endParaRPr lang="en-US" altLang="ja-JP" sz="1700" dirty="0">
              <a:solidFill>
                <a:schemeClr val="tx1"/>
              </a:solidFill>
            </a:endParaRPr>
          </a:p>
        </p:txBody>
      </p:sp>
      <p:sp>
        <p:nvSpPr>
          <p:cNvPr id="24" name="Rounded Rectangle 2">
            <a:extLst>
              <a:ext uri="{FF2B5EF4-FFF2-40B4-BE49-F238E27FC236}">
                <a16:creationId xmlns:a16="http://schemas.microsoft.com/office/drawing/2014/main" id="{17E8DBF9-A9D2-B706-F31D-87C825EC47BB}"/>
              </a:ext>
            </a:extLst>
          </p:cNvPr>
          <p:cNvSpPr/>
          <p:nvPr/>
        </p:nvSpPr>
        <p:spPr>
          <a:xfrm>
            <a:off x="385572" y="1638300"/>
            <a:ext cx="2148840" cy="1188720"/>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46%</a:t>
            </a:r>
          </a:p>
          <a:p>
            <a:pPr algn="ctr"/>
            <a:r>
              <a:rPr sz="1100">
                <a:solidFill>
                  <a:srgbClr val="FFFFFF"/>
                </a:solidFill>
                <a:latin typeface="メイリオ" panose="020B0604030504040204" pitchFamily="50" charset="-128"/>
                <a:ea typeface="メイリオ" panose="020B0604030504040204" pitchFamily="50" charset="-128"/>
              </a:rPr>
              <a:t>習い事の開始年齢
「3〜5歳」が最多</a:t>
            </a:r>
          </a:p>
        </p:txBody>
      </p:sp>
      <p:sp>
        <p:nvSpPr>
          <p:cNvPr id="25" name="Rounded Rectangle 3">
            <a:extLst>
              <a:ext uri="{FF2B5EF4-FFF2-40B4-BE49-F238E27FC236}">
                <a16:creationId xmlns:a16="http://schemas.microsoft.com/office/drawing/2014/main" id="{26FA1AA9-A712-DE17-BB8B-F8F64E490409}"/>
              </a:ext>
            </a:extLst>
          </p:cNvPr>
          <p:cNvSpPr/>
          <p:nvPr/>
        </p:nvSpPr>
        <p:spPr>
          <a:xfrm>
            <a:off x="2671572" y="1638300"/>
            <a:ext cx="2148840" cy="1188720"/>
          </a:xfrm>
          <a:prstGeom prst="round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400" b="1" dirty="0">
                <a:solidFill>
                  <a:srgbClr val="FFFFFF"/>
                </a:solidFill>
                <a:latin typeface="メイリオ" panose="020B0604030504040204" pitchFamily="50" charset="-128"/>
                <a:ea typeface="メイリオ" panose="020B0604030504040204" pitchFamily="50" charset="-128"/>
              </a:rPr>
              <a:t>10,146円</a:t>
            </a:r>
          </a:p>
          <a:p>
            <a:pPr algn="ctr"/>
            <a:r>
              <a:rPr sz="1100" dirty="0">
                <a:solidFill>
                  <a:srgbClr val="FFFFFF"/>
                </a:solidFill>
                <a:latin typeface="メイリオ" panose="020B0604030504040204" pitchFamily="50" charset="-128"/>
                <a:ea typeface="メイリオ" panose="020B0604030504040204" pitchFamily="50" charset="-128"/>
              </a:rPr>
              <a:t>4〜6歳の
</a:t>
            </a:r>
            <a:r>
              <a:rPr sz="1100" dirty="0" err="1">
                <a:solidFill>
                  <a:srgbClr val="FFFFFF"/>
                </a:solidFill>
                <a:latin typeface="メイリオ" panose="020B0604030504040204" pitchFamily="50" charset="-128"/>
                <a:ea typeface="メイリオ" panose="020B0604030504040204" pitchFamily="50" charset="-128"/>
              </a:rPr>
              <a:t>月謝合計平均</a:t>
            </a:r>
            <a:endParaRPr sz="1100" dirty="0">
              <a:solidFill>
                <a:srgbClr val="FFFFFF"/>
              </a:solidFill>
              <a:latin typeface="メイリオ" panose="020B0604030504040204" pitchFamily="50" charset="-128"/>
              <a:ea typeface="メイリオ" panose="020B0604030504040204" pitchFamily="50" charset="-128"/>
            </a:endParaRPr>
          </a:p>
        </p:txBody>
      </p:sp>
      <p:sp>
        <p:nvSpPr>
          <p:cNvPr id="26" name="Rounded Rectangle 4">
            <a:extLst>
              <a:ext uri="{FF2B5EF4-FFF2-40B4-BE49-F238E27FC236}">
                <a16:creationId xmlns:a16="http://schemas.microsoft.com/office/drawing/2014/main" id="{1902E2F6-AC7A-D576-8415-3C855D5947A9}"/>
              </a:ext>
            </a:extLst>
          </p:cNvPr>
          <p:cNvSpPr/>
          <p:nvPr/>
        </p:nvSpPr>
        <p:spPr>
          <a:xfrm>
            <a:off x="4957572" y="1638300"/>
            <a:ext cx="2148840" cy="1188720"/>
          </a:xfrm>
          <a:prstGeom prst="roundRect">
            <a:avLst/>
          </a:prstGeom>
          <a:solidFill>
            <a:schemeClr val="accent1">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58%</a:t>
            </a:r>
          </a:p>
          <a:p>
            <a:pPr algn="ctr"/>
            <a:r>
              <a:rPr sz="1100">
                <a:solidFill>
                  <a:srgbClr val="FFFFFF"/>
                </a:solidFill>
                <a:latin typeface="メイリオ" panose="020B0604030504040204" pitchFamily="50" charset="-128"/>
                <a:ea typeface="メイリオ" panose="020B0604030504040204" pitchFamily="50" charset="-128"/>
              </a:rPr>
              <a:t>習い事「1つ」
のみの家庭</a:t>
            </a:r>
          </a:p>
        </p:txBody>
      </p:sp>
      <p:sp>
        <p:nvSpPr>
          <p:cNvPr id="27" name="Rounded Rectangle 5">
            <a:extLst>
              <a:ext uri="{FF2B5EF4-FFF2-40B4-BE49-F238E27FC236}">
                <a16:creationId xmlns:a16="http://schemas.microsoft.com/office/drawing/2014/main" id="{8A74C4D5-CD3A-115D-11F4-4692E83BC2E3}"/>
              </a:ext>
            </a:extLst>
          </p:cNvPr>
          <p:cNvSpPr/>
          <p:nvPr/>
        </p:nvSpPr>
        <p:spPr>
          <a:xfrm>
            <a:off x="7243572" y="1638300"/>
            <a:ext cx="2148840" cy="1188720"/>
          </a:xfrm>
          <a:prstGeom prst="round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dirty="0">
                <a:solidFill>
                  <a:srgbClr val="FFFFFF"/>
                </a:solidFill>
                <a:latin typeface="メイリオ" panose="020B0604030504040204" pitchFamily="50" charset="-128"/>
                <a:ea typeface="メイリオ" panose="020B0604030504040204" pitchFamily="50" charset="-128"/>
              </a:rPr>
              <a:t>87.5%</a:t>
            </a:r>
          </a:p>
          <a:p>
            <a:pPr algn="ctr"/>
            <a:r>
              <a:rPr sz="1100" dirty="0" err="1">
                <a:solidFill>
                  <a:srgbClr val="FFFFFF"/>
                </a:solidFill>
                <a:latin typeface="メイリオ" panose="020B0604030504040204" pitchFamily="50" charset="-128"/>
                <a:ea typeface="メイリオ" panose="020B0604030504040204" pitchFamily="50" charset="-128"/>
              </a:rPr>
              <a:t>未就学児の保護者で</a:t>
            </a:r>
            <a:r>
              <a:rPr sz="1100" dirty="0">
                <a:solidFill>
                  <a:srgbClr val="FFFFFF"/>
                </a:solidFill>
                <a:latin typeface="メイリオ" panose="020B0604030504040204" pitchFamily="50" charset="-128"/>
                <a:ea typeface="メイリオ" panose="020B0604030504040204" pitchFamily="50" charset="-128"/>
              </a:rPr>
              <a:t>
「</a:t>
            </a:r>
            <a:r>
              <a:rPr sz="1100" dirty="0" err="1">
                <a:solidFill>
                  <a:srgbClr val="FFFFFF"/>
                </a:solidFill>
                <a:latin typeface="メイリオ" panose="020B0604030504040204" pitchFamily="50" charset="-128"/>
                <a:ea typeface="メイリオ" panose="020B0604030504040204" pitchFamily="50" charset="-128"/>
              </a:rPr>
              <a:t>させたい」意向</a:t>
            </a:r>
            <a:endParaRPr sz="1100" dirty="0">
              <a:solidFill>
                <a:srgbClr val="FFFFFF"/>
              </a:solidFill>
              <a:latin typeface="メイリオ" panose="020B0604030504040204" pitchFamily="50" charset="-128"/>
              <a:ea typeface="メイリオ" panose="020B0604030504040204" pitchFamily="50" charset="-128"/>
            </a:endParaRPr>
          </a:p>
        </p:txBody>
      </p:sp>
      <p:sp>
        <p:nvSpPr>
          <p:cNvPr id="28" name="TextBox 6">
            <a:extLst>
              <a:ext uri="{FF2B5EF4-FFF2-40B4-BE49-F238E27FC236}">
                <a16:creationId xmlns:a16="http://schemas.microsoft.com/office/drawing/2014/main" id="{F32BB577-D373-15FE-EDE1-B4346239EA20}"/>
              </a:ext>
            </a:extLst>
          </p:cNvPr>
          <p:cNvSpPr txBox="1"/>
          <p:nvPr/>
        </p:nvSpPr>
        <p:spPr>
          <a:xfrm>
            <a:off x="38557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習い事に感じる不安・負担（複数回答）</a:t>
            </a:r>
          </a:p>
        </p:txBody>
      </p:sp>
      <p:pic>
        <p:nvPicPr>
          <p:cNvPr id="29" name="table">
            <a:extLst>
              <a:ext uri="{FF2B5EF4-FFF2-40B4-BE49-F238E27FC236}">
                <a16:creationId xmlns:a16="http://schemas.microsoft.com/office/drawing/2014/main" id="{BD797D6C-2540-BB18-804E-B927E9995453}"/>
              </a:ext>
            </a:extLst>
          </p:cNvPr>
          <p:cNvPicPr>
            <a:picLocks noChangeAspect="1"/>
          </p:cNvPicPr>
          <p:nvPr/>
        </p:nvPicPr>
        <p:blipFill>
          <a:blip r:embed="rId3"/>
          <a:stretch>
            <a:fillRect/>
          </a:stretch>
        </p:blipFill>
        <p:spPr>
          <a:xfrm>
            <a:off x="385572" y="3294380"/>
            <a:ext cx="4389120" cy="1645920"/>
          </a:xfrm>
          <a:prstGeom prst="rect">
            <a:avLst/>
          </a:prstGeom>
        </p:spPr>
      </p:pic>
      <p:sp>
        <p:nvSpPr>
          <p:cNvPr id="30" name="TextBox 8">
            <a:extLst>
              <a:ext uri="{FF2B5EF4-FFF2-40B4-BE49-F238E27FC236}">
                <a16:creationId xmlns:a16="http://schemas.microsoft.com/office/drawing/2014/main" id="{58C905AF-32AC-8815-5B3D-86FCD1554DDB}"/>
              </a:ext>
            </a:extLst>
          </p:cNvPr>
          <p:cNvSpPr txBox="1"/>
          <p:nvPr/>
        </p:nvSpPr>
        <p:spPr>
          <a:xfrm>
            <a:off x="504901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人気の習い事ジャンル</a:t>
            </a:r>
          </a:p>
        </p:txBody>
      </p:sp>
      <p:pic>
        <p:nvPicPr>
          <p:cNvPr id="31" name="table">
            <a:extLst>
              <a:ext uri="{FF2B5EF4-FFF2-40B4-BE49-F238E27FC236}">
                <a16:creationId xmlns:a16="http://schemas.microsoft.com/office/drawing/2014/main" id="{C0285BDD-3E26-1AD3-3CCE-07800130DEB4}"/>
              </a:ext>
            </a:extLst>
          </p:cNvPr>
          <p:cNvPicPr>
            <a:picLocks noChangeAspect="1"/>
          </p:cNvPicPr>
          <p:nvPr/>
        </p:nvPicPr>
        <p:blipFill>
          <a:blip r:embed="rId4"/>
          <a:stretch>
            <a:fillRect/>
          </a:stretch>
        </p:blipFill>
        <p:spPr>
          <a:xfrm>
            <a:off x="5049012" y="3294380"/>
            <a:ext cx="4389120" cy="1645920"/>
          </a:xfrm>
          <a:prstGeom prst="rect">
            <a:avLst/>
          </a:prstGeom>
        </p:spPr>
      </p:pic>
      <p:sp>
        <p:nvSpPr>
          <p:cNvPr id="32" name="TextBox 10">
            <a:extLst>
              <a:ext uri="{FF2B5EF4-FFF2-40B4-BE49-F238E27FC236}">
                <a16:creationId xmlns:a16="http://schemas.microsoft.com/office/drawing/2014/main" id="{4883E9C1-EC1E-8047-ABFB-F3D3B5F83C40}"/>
              </a:ext>
            </a:extLst>
          </p:cNvPr>
          <p:cNvSpPr txBox="1"/>
          <p:nvPr/>
        </p:nvSpPr>
        <p:spPr>
          <a:xfrm>
            <a:off x="385572" y="5214620"/>
            <a:ext cx="9052560" cy="51975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30000"/>
              </a:lnSpc>
            </a:pPr>
            <a:r>
              <a:rPr sz="1100" b="0" dirty="0">
                <a:solidFill>
                  <a:srgbClr val="5A6378"/>
                </a:solidFill>
                <a:latin typeface="メイリオ" panose="020B0604030504040204" pitchFamily="50" charset="-128"/>
                <a:ea typeface="メイリオ" panose="020B0604030504040204" pitchFamily="50" charset="-128"/>
              </a:rPr>
              <a:t>※学年が上がるほど通塾頻度も増加する傾向。未就園児は「0（実施なし）」</a:t>
            </a:r>
            <a:r>
              <a:rPr sz="1100" b="0" dirty="0" err="1">
                <a:solidFill>
                  <a:srgbClr val="5A6378"/>
                </a:solidFill>
                <a:latin typeface="メイリオ" panose="020B0604030504040204" pitchFamily="50" charset="-128"/>
                <a:ea typeface="メイリオ" panose="020B0604030504040204" pitchFamily="50" charset="-128"/>
              </a:rPr>
              <a:t>が中心だが</a:t>
            </a:r>
            <a:r>
              <a:rPr sz="1100" b="0" dirty="0">
                <a:solidFill>
                  <a:srgbClr val="5A6378"/>
                </a:solidFill>
                <a:latin typeface="メイリオ" panose="020B0604030504040204" pitchFamily="50" charset="-128"/>
                <a:ea typeface="メイリオ" panose="020B0604030504040204" pitchFamily="50" charset="-128"/>
              </a:rPr>
              <a:t>、</a:t>
            </a:r>
            <a:endParaRPr lang="en-US" sz="1100" b="0" dirty="0">
              <a:solidFill>
                <a:srgbClr val="5A6378"/>
              </a:solidFill>
              <a:latin typeface="メイリオ" panose="020B0604030504040204" pitchFamily="50" charset="-128"/>
              <a:ea typeface="メイリオ" panose="020B0604030504040204" pitchFamily="50" charset="-128"/>
            </a:endParaRPr>
          </a:p>
          <a:p>
            <a:pPr algn="l">
              <a:lnSpc>
                <a:spcPct val="130000"/>
              </a:lnSpc>
            </a:pPr>
            <a:r>
              <a:rPr lang="ja-JP" altLang="en-US" sz="1100" dirty="0">
                <a:solidFill>
                  <a:srgbClr val="5A6378"/>
                </a:solidFill>
                <a:latin typeface="メイリオ" panose="020B0604030504040204" pitchFamily="50" charset="-128"/>
                <a:ea typeface="メイリオ" panose="020B0604030504040204" pitchFamily="50" charset="-128"/>
              </a:rPr>
              <a:t>　</a:t>
            </a:r>
            <a:r>
              <a:rPr sz="1100" b="0" dirty="0">
                <a:solidFill>
                  <a:srgbClr val="5A6378"/>
                </a:solidFill>
                <a:latin typeface="メイリオ" panose="020B0604030504040204" pitchFamily="50" charset="-128"/>
                <a:ea typeface="メイリオ" panose="020B0604030504040204" pitchFamily="50" charset="-128"/>
              </a:rPr>
              <a:t>小5・小6では「週6日以上」が主流となり、学年進行とともに習い事への時間投資が拡大する</a:t>
            </a:r>
          </a:p>
        </p:txBody>
      </p:sp>
      <p:sp>
        <p:nvSpPr>
          <p:cNvPr id="33" name="TextBox 11">
            <a:extLst>
              <a:ext uri="{FF2B5EF4-FFF2-40B4-BE49-F238E27FC236}">
                <a16:creationId xmlns:a16="http://schemas.microsoft.com/office/drawing/2014/main" id="{657E3036-6E38-E46C-8530-E7FFD3221E4C}"/>
              </a:ext>
            </a:extLst>
          </p:cNvPr>
          <p:cNvSpPr txBox="1"/>
          <p:nvPr/>
        </p:nvSpPr>
        <p:spPr>
          <a:xfrm>
            <a:off x="385572" y="5900420"/>
            <a:ext cx="9052560" cy="399725"/>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20000"/>
              </a:lnSpc>
            </a:pPr>
            <a:r>
              <a:rPr sz="850" b="0">
                <a:solidFill>
                  <a:srgbClr val="9AA1AE"/>
                </a:solidFill>
                <a:latin typeface="メイリオ" panose="020B0604030504040204" pitchFamily="50" charset="-128"/>
                <a:ea typeface="メイリオ" panose="020B0604030504040204" pitchFamily="50" charset="-128"/>
              </a:rPr>
              <a:t>出典：①np-labo.com（2023年10月, N=300）　②統計データ（4〜6歳 回答者数103）　③マイナビウーマン（2022年8月, N=300）</a:t>
            </a:r>
          </a:p>
          <a:p>
            <a:pPr algn="l">
              <a:lnSpc>
                <a:spcPct val="120000"/>
              </a:lnSpc>
            </a:pPr>
            <a:r>
              <a:rPr sz="850" b="0">
                <a:solidFill>
                  <a:srgbClr val="9AA1AE"/>
                </a:solidFill>
                <a:latin typeface="メイリオ" panose="020B0604030504040204" pitchFamily="50" charset="-128"/>
                <a:ea typeface="メイリオ" panose="020B0604030504040204" pitchFamily="50" charset="-128"/>
              </a:rPr>
              <a:t>④babytech.jp「未就学児の習い事事情2025」（N=1,436）　⑤PR TIMES（学年別 週あたり実施日数）</a:t>
            </a:r>
          </a:p>
        </p:txBody>
      </p:sp>
    </p:spTree>
    <p:extLst>
      <p:ext uri="{BB962C8B-B14F-4D97-AF65-F5344CB8AC3E}">
        <p14:creationId xmlns:p14="http://schemas.microsoft.com/office/powerpoint/2010/main" val="2053170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AFCDA-60C5-9365-6004-8403C246AD9F}"/>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B2DB17C1-927F-1EC4-4371-E831F96525CB}"/>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2CA316B7-4505-4337-6433-44B8AC8C958C}"/>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LINE</a:t>
            </a:r>
            <a:r>
              <a:rPr lang="ja-JP" altLang="en-US" sz="1700" dirty="0">
                <a:solidFill>
                  <a:schemeClr val="tx1"/>
                </a:solidFill>
              </a:rPr>
              <a:t>ヤフー社提供の前後検索クエリより（クエリ：子ども 習い事）</a:t>
            </a:r>
            <a:endParaRPr lang="en-US" altLang="ja-JP" sz="1700" dirty="0">
              <a:solidFill>
                <a:schemeClr val="tx1"/>
              </a:solidFill>
            </a:endParaRPr>
          </a:p>
        </p:txBody>
      </p:sp>
      <p:pic>
        <p:nvPicPr>
          <p:cNvPr id="4" name="図 3">
            <a:extLst>
              <a:ext uri="{FF2B5EF4-FFF2-40B4-BE49-F238E27FC236}">
                <a16:creationId xmlns:a16="http://schemas.microsoft.com/office/drawing/2014/main" id="{4511DE82-BBD2-B022-1764-353E066B0E7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FACBC0F7-0441-2179-B969-6950551697D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BA0EB23A-0A83-01D0-64EB-40B1ED3DCA8F}"/>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6238FDAF-4FF9-608B-5C45-81FE7C1A6423}"/>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DA7B2989-9F56-5DD7-1256-E2B61CE5E5FC}"/>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558A8417-6060-6DF0-8F12-53B3635C9DC0}"/>
              </a:ext>
            </a:extLst>
          </p:cNvPr>
          <p:cNvSpPr txBox="1"/>
          <p:nvPr/>
        </p:nvSpPr>
        <p:spPr>
          <a:xfrm>
            <a:off x="5172524" y="5312731"/>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141D629D-A515-AE4F-E000-57CAEA1B1B70}"/>
              </a:ext>
            </a:extLst>
          </p:cNvPr>
          <p:cNvSpPr txBox="1"/>
          <p:nvPr/>
        </p:nvSpPr>
        <p:spPr>
          <a:xfrm>
            <a:off x="6850077" y="5871117"/>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14393306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A4403-1A8A-B352-52D7-3C459B4E9FF3}"/>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3FF53609-3AE6-15F7-F91A-8F9748838B2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D6FF840-BD2A-C9D2-6742-4C0E533AE4B4}"/>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en-US" altLang="ja-JP" sz="1700" dirty="0">
                <a:solidFill>
                  <a:schemeClr val="tx1"/>
                </a:solidFill>
              </a:rPr>
              <a:t>LINE</a:t>
            </a:r>
            <a:r>
              <a:rPr lang="ja-JP" altLang="en-US" sz="1700" dirty="0">
                <a:solidFill>
                  <a:schemeClr val="tx1"/>
                </a:solidFill>
              </a:rPr>
              <a:t>ヤフー社提供の前後検索クエリより（クエリ：習い事）</a:t>
            </a:r>
            <a:endParaRPr lang="en-US" altLang="ja-JP" sz="1700" dirty="0">
              <a:solidFill>
                <a:schemeClr val="tx1"/>
              </a:solidFill>
            </a:endParaRPr>
          </a:p>
        </p:txBody>
      </p:sp>
      <p:pic>
        <p:nvPicPr>
          <p:cNvPr id="7" name="図 6">
            <a:extLst>
              <a:ext uri="{FF2B5EF4-FFF2-40B4-BE49-F238E27FC236}">
                <a16:creationId xmlns:a16="http://schemas.microsoft.com/office/drawing/2014/main" id="{A59C6DB9-8735-BD98-C3AA-EB4C5D2F087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49872CA8-26BB-EE48-3AD2-11D59C4D0C0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CA0DB759-B7B4-7F5D-1A6C-EA4B3D364ECD}"/>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7AF1380E-3FB7-14CD-2323-DE614D5319B0}"/>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16AF5040-A8C5-8998-7D9E-E6C6B73FFFDB}"/>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F412C162-0E63-74C5-29D8-B8BA9075D080}"/>
              </a:ext>
            </a:extLst>
          </p:cNvPr>
          <p:cNvSpPr txBox="1"/>
          <p:nvPr/>
        </p:nvSpPr>
        <p:spPr>
          <a:xfrm>
            <a:off x="5172524" y="5312731"/>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D32726F4-505A-F02B-9214-D435615CB4EF}"/>
              </a:ext>
            </a:extLst>
          </p:cNvPr>
          <p:cNvSpPr txBox="1"/>
          <p:nvPr/>
        </p:nvSpPr>
        <p:spPr>
          <a:xfrm>
            <a:off x="6850077" y="5871117"/>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3154136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C179E5F-42D4-89F9-9472-648B520C621A}"/>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3A699E6E-FDC6-D14D-24A9-A9C2E09A8B68}"/>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sz="1700" b="1" dirty="0">
                <a:solidFill>
                  <a:schemeClr val="tx1"/>
                </a:solidFill>
                <a:latin typeface="Meiryo" pitchFamily="34" charset="0"/>
                <a:ea typeface="Meiryo" pitchFamily="34" charset="-122"/>
                <a:cs typeface="Meiryo" pitchFamily="34" charset="-120"/>
              </a:rPr>
              <a:t>自社リストとの親和性が高いため、</a:t>
            </a:r>
            <a:endParaRPr lang="en-US" altLang="ja-JP" sz="1700" b="1" dirty="0">
              <a:solidFill>
                <a:schemeClr val="tx1"/>
              </a:solidFill>
              <a:latin typeface="Meiryo" pitchFamily="34" charset="0"/>
              <a:ea typeface="Meiryo" pitchFamily="34" charset="-122"/>
              <a:cs typeface="Meiryo" pitchFamily="34" charset="-120"/>
            </a:endParaRPr>
          </a:p>
          <a:p>
            <a:pPr marL="0" indent="0" algn="ctr">
              <a:buNone/>
            </a:pPr>
            <a:r>
              <a:rPr lang="ja-JP" altLang="en-US" sz="1700" b="1" dirty="0">
                <a:solidFill>
                  <a:schemeClr val="tx1"/>
                </a:solidFill>
                <a:latin typeface="Meiryo" pitchFamily="34" charset="0"/>
                <a:ea typeface="Meiryo" pitchFamily="34" charset="-122"/>
                <a:cs typeface="Meiryo" pitchFamily="34" charset="-120"/>
              </a:rPr>
              <a:t>検索・リターゲティングを中心に、来場意向の高い層から獲得します。</a:t>
            </a:r>
            <a:endParaRPr lang="en-US" sz="1700" dirty="0">
              <a:solidFill>
                <a:schemeClr val="tx1"/>
              </a:solidFill>
            </a:endParaRPr>
          </a:p>
        </p:txBody>
      </p:sp>
      <p:sp>
        <p:nvSpPr>
          <p:cNvPr id="2" name="Card1_Num">
            <a:extLst>
              <a:ext uri="{FF2B5EF4-FFF2-40B4-BE49-F238E27FC236}">
                <a16:creationId xmlns:a16="http://schemas.microsoft.com/office/drawing/2014/main" id="{458FBD00-4511-C2DA-7A2C-8BED4B530910}"/>
              </a:ext>
            </a:extLst>
          </p:cNvPr>
          <p:cNvSpPr txBox="1"/>
          <p:nvPr/>
        </p:nvSpPr>
        <p:spPr>
          <a:xfrm>
            <a:off x="376428" y="1612900"/>
            <a:ext cx="2921000" cy="635000"/>
          </a:xfrm>
          <a:prstGeom prst="rect">
            <a:avLst/>
          </a:prstGeom>
          <a:solidFill>
            <a:srgbClr val="1F2A5C"/>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01</a:t>
            </a:r>
          </a:p>
        </p:txBody>
      </p:sp>
      <p:sp>
        <p:nvSpPr>
          <p:cNvPr id="3" name="Card1_Title">
            <a:extLst>
              <a:ext uri="{FF2B5EF4-FFF2-40B4-BE49-F238E27FC236}">
                <a16:creationId xmlns:a16="http://schemas.microsoft.com/office/drawing/2014/main" id="{577BC0BB-DDFC-C752-2C5E-6C6A56BFB727}"/>
              </a:ext>
            </a:extLst>
          </p:cNvPr>
          <p:cNvSpPr txBox="1"/>
          <p:nvPr/>
        </p:nvSpPr>
        <p:spPr>
          <a:xfrm>
            <a:off x="376428" y="2247900"/>
            <a:ext cx="2921000" cy="457200"/>
          </a:xfrm>
          <a:prstGeom prst="rect">
            <a:avLst/>
          </a:prstGeom>
          <a:solidFill>
            <a:srgbClr val="FFFFFF"/>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rgbClr val="1F2A5C"/>
                </a:solidFill>
                <a:latin typeface="メイリオ" panose="020B0604030504040204" pitchFamily="50" charset="-128"/>
                <a:ea typeface="メイリオ" panose="020B0604030504040204" pitchFamily="50" charset="-128"/>
              </a:rPr>
              <a:t>検索前（-15〜-1日）</a:t>
            </a:r>
          </a:p>
        </p:txBody>
      </p:sp>
      <p:sp>
        <p:nvSpPr>
          <p:cNvPr id="4" name="Card1_Body">
            <a:extLst>
              <a:ext uri="{FF2B5EF4-FFF2-40B4-BE49-F238E27FC236}">
                <a16:creationId xmlns:a16="http://schemas.microsoft.com/office/drawing/2014/main" id="{F66C2B6C-8A62-F1D5-3789-4CFE0E0B226E}"/>
              </a:ext>
            </a:extLst>
          </p:cNvPr>
          <p:cNvSpPr txBox="1"/>
          <p:nvPr/>
        </p:nvSpPr>
        <p:spPr>
          <a:xfrm>
            <a:off x="3764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「こどもちゃれんじ」「スマイルゼミ」「西松屋」「ランドセル」「スタジオアリス」</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→通信教育・育児用品・記念撮影など、育児全般への関心が先行。習い事はまだ選択肢の一つ</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「趣味」「ヤマハ音楽教室」「パソコン教室」「学研教室」「公文」</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→大人・子ども問わず、幅広い習い事ジャンルへの関心が入り口となる</a:t>
            </a:r>
          </a:p>
          <a:p>
            <a:pPr>
              <a:spcBef>
                <a:spcPts val="200"/>
              </a:spcBef>
              <a:buClr>
                <a:srgbClr val="1F2A5C"/>
              </a:buClr>
            </a:pPr>
            <a:endParaRPr lang="ja-JP" altLang="en-US"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6" name="Card2_Num">
            <a:extLst>
              <a:ext uri="{FF2B5EF4-FFF2-40B4-BE49-F238E27FC236}">
                <a16:creationId xmlns:a16="http://schemas.microsoft.com/office/drawing/2014/main" id="{9B15FF73-FFAB-10D6-FD84-3F7EECB12537}"/>
              </a:ext>
            </a:extLst>
          </p:cNvPr>
          <p:cNvSpPr txBox="1"/>
          <p:nvPr/>
        </p:nvSpPr>
        <p:spPr>
          <a:xfrm>
            <a:off x="3487928" y="1612900"/>
            <a:ext cx="2921000" cy="635000"/>
          </a:xfrm>
          <a:prstGeom prst="rect">
            <a:avLst/>
          </a:prstGeom>
          <a:solidFill>
            <a:srgbClr val="4A6FA5"/>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02</a:t>
            </a:r>
          </a:p>
        </p:txBody>
      </p:sp>
      <p:sp>
        <p:nvSpPr>
          <p:cNvPr id="7" name="Card2_Title">
            <a:extLst>
              <a:ext uri="{FF2B5EF4-FFF2-40B4-BE49-F238E27FC236}">
                <a16:creationId xmlns:a16="http://schemas.microsoft.com/office/drawing/2014/main" id="{E5B870C4-7A3E-285A-5B84-0E50317E3240}"/>
              </a:ext>
            </a:extLst>
          </p:cNvPr>
          <p:cNvSpPr txBox="1"/>
          <p:nvPr/>
        </p:nvSpPr>
        <p:spPr>
          <a:xfrm>
            <a:off x="3487928" y="2247900"/>
            <a:ext cx="2921000" cy="457200"/>
          </a:xfrm>
          <a:prstGeom prst="rect">
            <a:avLst/>
          </a:prstGeom>
          <a:solidFill>
            <a:srgbClr val="FFFFFF"/>
          </a:solidFill>
          <a:ln w="6350">
            <a:solidFill>
              <a:srgbClr val="4A6FA5"/>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rgbClr val="4A6FA5"/>
                </a:solidFill>
                <a:latin typeface="メイリオ" panose="020B0604030504040204" pitchFamily="50" charset="-128"/>
                <a:ea typeface="メイリオ" panose="020B0604030504040204" pitchFamily="50" charset="-128"/>
              </a:rPr>
              <a:t>検索起点（0日）</a:t>
            </a:r>
          </a:p>
        </p:txBody>
      </p:sp>
      <p:sp>
        <p:nvSpPr>
          <p:cNvPr id="8" name="Card2_Body">
            <a:extLst>
              <a:ext uri="{FF2B5EF4-FFF2-40B4-BE49-F238E27FC236}">
                <a16:creationId xmlns:a16="http://schemas.microsoft.com/office/drawing/2014/main" id="{FEA95593-2E6F-A99B-1221-F11A9C632380}"/>
              </a:ext>
            </a:extLst>
          </p:cNvPr>
          <p:cNvSpPr txBox="1"/>
          <p:nvPr/>
        </p:nvSpPr>
        <p:spPr>
          <a:xfrm>
            <a:off x="34879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「rsウイルス」「ヤマハ音楽教室」「習い事」「ピアノ」「イトマンスイミングスクール」</a:t>
            </a:r>
          </a:p>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→体調・成長面の気づきと同時に、具体的な習い事ブランド名の検索が急増</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「習い事ランキング」「くもん」「ピアノ教室」「体操教室」「そろばん」「スイミング」</a:t>
            </a:r>
          </a:p>
          <a:p>
            <a:pPr marL="171450" indent="-171450">
              <a:spcBef>
                <a:spcPts val="200"/>
              </a:spcBef>
              <a:buClr>
                <a:srgbClr val="4A6FA5"/>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→具体的な習い事ジャンル・ブランドの比較が本格化するタイミング</a:t>
            </a:r>
          </a:p>
          <a:p>
            <a:pPr marL="171450" indent="-171450">
              <a:spcBef>
                <a:spcPts val="200"/>
              </a:spcBef>
              <a:buClr>
                <a:srgbClr val="4A6FA5"/>
              </a:buClr>
              <a:buFont typeface="Arial"/>
              <a:buChar char="•"/>
            </a:pPr>
            <a:endParaRPr lang="ja-JP" altLang="en-US"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9" name="Card3_Num">
            <a:extLst>
              <a:ext uri="{FF2B5EF4-FFF2-40B4-BE49-F238E27FC236}">
                <a16:creationId xmlns:a16="http://schemas.microsoft.com/office/drawing/2014/main" id="{0C40B463-4F3B-44D4-1B1F-77ECB562B4D3}"/>
              </a:ext>
            </a:extLst>
          </p:cNvPr>
          <p:cNvSpPr txBox="1"/>
          <p:nvPr/>
        </p:nvSpPr>
        <p:spPr>
          <a:xfrm>
            <a:off x="6599428" y="1612900"/>
            <a:ext cx="2921000" cy="635000"/>
          </a:xfrm>
          <a:prstGeom prst="rect">
            <a:avLst/>
          </a:prstGeom>
          <a:solidFill>
            <a:schemeClr val="accent1"/>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03</a:t>
            </a:r>
          </a:p>
        </p:txBody>
      </p:sp>
      <p:sp>
        <p:nvSpPr>
          <p:cNvPr id="10" name="Card3_Title">
            <a:extLst>
              <a:ext uri="{FF2B5EF4-FFF2-40B4-BE49-F238E27FC236}">
                <a16:creationId xmlns:a16="http://schemas.microsoft.com/office/drawing/2014/main" id="{2C1CA6A1-A949-A3B7-C542-DD0F8779E908}"/>
              </a:ext>
            </a:extLst>
          </p:cNvPr>
          <p:cNvSpPr txBox="1"/>
          <p:nvPr/>
        </p:nvSpPr>
        <p:spPr>
          <a:xfrm>
            <a:off x="6599428" y="2247900"/>
            <a:ext cx="2921000" cy="457200"/>
          </a:xfrm>
          <a:prstGeom prst="rect">
            <a:avLst/>
          </a:prstGeom>
          <a:noFill/>
          <a:ln w="6350">
            <a:solidFill>
              <a:schemeClr val="accent1"/>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chemeClr val="accent1"/>
                </a:solidFill>
                <a:latin typeface="メイリオ" panose="020B0604030504040204" pitchFamily="50" charset="-128"/>
                <a:ea typeface="メイリオ" panose="020B0604030504040204" pitchFamily="50" charset="-128"/>
              </a:rPr>
              <a:t>検索後（+1〜+15日）</a:t>
            </a:r>
          </a:p>
        </p:txBody>
      </p:sp>
      <p:sp>
        <p:nvSpPr>
          <p:cNvPr id="11" name="Card3_Body">
            <a:extLst>
              <a:ext uri="{FF2B5EF4-FFF2-40B4-BE49-F238E27FC236}">
                <a16:creationId xmlns:a16="http://schemas.microsoft.com/office/drawing/2014/main" id="{FFDFD9AC-AC03-4CF4-2FB8-A97D8E41B3D4}"/>
              </a:ext>
            </a:extLst>
          </p:cNvPr>
          <p:cNvSpPr txBox="1"/>
          <p:nvPr/>
        </p:nvSpPr>
        <p:spPr>
          <a:xfrm>
            <a:off x="65994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C8102E"/>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「くもん」「児童手当」「七五三」「ポケモンセンター」「ハーモニーランド」</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C8102E"/>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→特定ブランドの比較検討、給付金等の家計情報収集、家族レジャーへと関心が拡散</a:t>
            </a:r>
          </a:p>
          <a:p>
            <a:pPr marL="171450" indent="-171450">
              <a:spcBef>
                <a:spcPts val="200"/>
              </a:spcBef>
              <a:buClr>
                <a:srgbClr val="C8102E"/>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「忍者ナイン 評判」「</a:t>
            </a:r>
            <a:r>
              <a:rPr lang="en-US" altLang="ja-JP" sz="1200" dirty="0" err="1">
                <a:solidFill>
                  <a:srgbClr val="333333"/>
                </a:solidFill>
                <a:latin typeface="メイリオ" panose="020B0604030504040204" pitchFamily="50" charset="-128"/>
                <a:ea typeface="メイリオ" panose="020B0604030504040204" pitchFamily="50" charset="-128"/>
              </a:rPr>
              <a:t>qq</a:t>
            </a:r>
            <a:r>
              <a:rPr lang="ja-JP" altLang="en-US" sz="1200" dirty="0">
                <a:solidFill>
                  <a:srgbClr val="333333"/>
                </a:solidFill>
                <a:latin typeface="メイリオ" panose="020B0604030504040204" pitchFamily="50" charset="-128"/>
                <a:ea typeface="メイリオ" panose="020B0604030504040204" pitchFamily="50" charset="-128"/>
              </a:rPr>
              <a:t>キッズ」「ロボット教室」「小学生 習い事 いくつ」</a:t>
            </a:r>
          </a:p>
          <a:p>
            <a:pPr marL="171450" indent="-171450">
              <a:spcBef>
                <a:spcPts val="200"/>
              </a:spcBef>
              <a:buClr>
                <a:srgbClr val="C8102E"/>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→ブランド名指名＋評判確認の段階。競合と並んで自社ブランドが検索されている</a:t>
            </a:r>
          </a:p>
          <a:p>
            <a:pPr marL="171450" indent="-171450">
              <a:spcBef>
                <a:spcPts val="200"/>
              </a:spcBef>
              <a:buClr>
                <a:srgbClr val="C8102E"/>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cxnSp>
        <p:nvCxnSpPr>
          <p:cNvPr id="13" name="直線矢印コネクタ 12">
            <a:extLst>
              <a:ext uri="{FF2B5EF4-FFF2-40B4-BE49-F238E27FC236}">
                <a16:creationId xmlns:a16="http://schemas.microsoft.com/office/drawing/2014/main" id="{0C3A4AA5-7859-52AB-440C-E7AD4F70CCD0}"/>
              </a:ext>
            </a:extLst>
          </p:cNvPr>
          <p:cNvCxnSpPr>
            <a:cxnSpLocks/>
          </p:cNvCxnSpPr>
          <p:nvPr/>
        </p:nvCxnSpPr>
        <p:spPr>
          <a:xfrm>
            <a:off x="650633" y="5511800"/>
            <a:ext cx="5484091" cy="0"/>
          </a:xfrm>
          <a:prstGeom prst="straightConnector1">
            <a:avLst/>
          </a:prstGeom>
          <a:ln w="28575">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F2483494-D7A4-6D48-9329-B4102E1A5D75}"/>
              </a:ext>
            </a:extLst>
          </p:cNvPr>
          <p:cNvCxnSpPr/>
          <p:nvPr/>
        </p:nvCxnSpPr>
        <p:spPr>
          <a:xfrm>
            <a:off x="5441805" y="5905500"/>
            <a:ext cx="2114354" cy="0"/>
          </a:xfrm>
          <a:prstGeom prst="straightConnector1">
            <a:avLst/>
          </a:prstGeom>
          <a:ln w="28575">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2FF51894-3F3A-9A5A-439B-95852B99E283}"/>
              </a:ext>
            </a:extLst>
          </p:cNvPr>
          <p:cNvCxnSpPr/>
          <p:nvPr/>
        </p:nvCxnSpPr>
        <p:spPr>
          <a:xfrm>
            <a:off x="6908863" y="6311900"/>
            <a:ext cx="2533039" cy="0"/>
          </a:xfrm>
          <a:prstGeom prst="straightConnector1">
            <a:avLst/>
          </a:prstGeom>
          <a:ln w="28575">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8153B628-1E22-2A01-D787-9CB98A0EA6BC}"/>
              </a:ext>
            </a:extLst>
          </p:cNvPr>
          <p:cNvSpPr txBox="1"/>
          <p:nvPr/>
        </p:nvSpPr>
        <p:spPr>
          <a:xfrm>
            <a:off x="892556" y="5132457"/>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9" name="テキスト ボックス 18">
            <a:extLst>
              <a:ext uri="{FF2B5EF4-FFF2-40B4-BE49-F238E27FC236}">
                <a16:creationId xmlns:a16="http://schemas.microsoft.com/office/drawing/2014/main" id="{67A098E9-C1F6-8AE5-ACAA-5CED5AB70567}"/>
              </a:ext>
            </a:extLst>
          </p:cNvPr>
          <p:cNvSpPr txBox="1"/>
          <p:nvPr/>
        </p:nvSpPr>
        <p:spPr>
          <a:xfrm>
            <a:off x="5096324" y="5525328"/>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21" name="テキスト ボックス 20">
            <a:extLst>
              <a:ext uri="{FF2B5EF4-FFF2-40B4-BE49-F238E27FC236}">
                <a16:creationId xmlns:a16="http://schemas.microsoft.com/office/drawing/2014/main" id="{B07A593F-9910-E2FC-321D-E0114EDC5BCC}"/>
              </a:ext>
            </a:extLst>
          </p:cNvPr>
          <p:cNvSpPr txBox="1"/>
          <p:nvPr/>
        </p:nvSpPr>
        <p:spPr>
          <a:xfrm>
            <a:off x="6773877" y="5931314"/>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995195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競合分析【忍者ナイン】</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主要競合5社中、LINE公式アカウントを運用しているのは1社のみ（セントラルスポーツ）</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多くの競合がLINEに未着手のため、先行者優位を取りやすい状況。</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3286508428"/>
              </p:ext>
            </p:extLst>
          </p:nvPr>
        </p:nvGraphicFramePr>
        <p:xfrm>
          <a:off x="384048" y="1600200"/>
          <a:ext cx="9134854" cy="2743200"/>
        </p:xfrm>
        <a:graphic>
          <a:graphicData uri="http://schemas.openxmlformats.org/drawingml/2006/table">
            <a:tbl>
              <a:tblPr firstRow="1" bandRow="1">
                <a:tableStyleId>{5C22544A-7EE6-4342-B048-85BDC9FD1C3A}</a:tableStyleId>
              </a:tblPr>
              <a:tblGrid>
                <a:gridCol w="2192365">
                  <a:extLst>
                    <a:ext uri="{9D8B030D-6E8A-4147-A177-3AD203B41FA5}">
                      <a16:colId xmlns:a16="http://schemas.microsoft.com/office/drawing/2014/main" val="20000"/>
                    </a:ext>
                  </a:extLst>
                </a:gridCol>
                <a:gridCol w="2009668">
                  <a:extLst>
                    <a:ext uri="{9D8B030D-6E8A-4147-A177-3AD203B41FA5}">
                      <a16:colId xmlns:a16="http://schemas.microsoft.com/office/drawing/2014/main" val="20001"/>
                    </a:ext>
                  </a:extLst>
                </a:gridCol>
                <a:gridCol w="2192365">
                  <a:extLst>
                    <a:ext uri="{9D8B030D-6E8A-4147-A177-3AD203B41FA5}">
                      <a16:colId xmlns:a16="http://schemas.microsoft.com/office/drawing/2014/main" val="20002"/>
                    </a:ext>
                  </a:extLst>
                </a:gridCol>
                <a:gridCol w="2740456">
                  <a:extLst>
                    <a:ext uri="{9D8B030D-6E8A-4147-A177-3AD203B41FA5}">
                      <a16:colId xmlns:a16="http://schemas.microsoft.com/office/drawing/2014/main" val="20003"/>
                    </a:ext>
                  </a:extLst>
                </a:gridCol>
              </a:tblGrid>
              <a:tr h="457200">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a:solidFill>
                            <a:srgbClr val="FFFFFF"/>
                          </a:solidFill>
                          <a:latin typeface="Meiryo"/>
                          <a:ea typeface="メイリオ"/>
                          <a:cs typeface="Meiryo"/>
                        </a:rPr>
                        <a:t>LINE公式アカウント</a:t>
                      </a:r>
                    </a:p>
                  </a:txBody>
                  <a:tcPr>
                    <a:solidFill>
                      <a:srgbClr val="1F2A5C"/>
                    </a:solidFill>
                  </a:tcPr>
                </a:tc>
                <a:tc>
                  <a:txBody>
                    <a:bodyPr/>
                    <a:lstStyle/>
                    <a:p>
                      <a:r>
                        <a:rPr sz="1100" b="1">
                          <a:solidFill>
                            <a:srgbClr val="FFFFFF"/>
                          </a:solidFill>
                          <a:latin typeface="Meiryo"/>
                          <a:ea typeface="メイリオ"/>
                          <a:cs typeface="Meiryo"/>
                        </a:rPr>
                        <a:t>訴求</a:t>
                      </a:r>
                    </a:p>
                  </a:txBody>
                  <a:tcPr>
                    <a:solidFill>
                      <a:srgbClr val="1F2A5C"/>
                    </a:solidFill>
                  </a:tcPr>
                </a:tc>
                <a:tc>
                  <a:txBody>
                    <a:bodyPr/>
                    <a:lstStyle/>
                    <a:p>
                      <a:r>
                        <a:rPr sz="1100" b="1">
                          <a:solidFill>
                            <a:srgbClr val="FFFFFF"/>
                          </a:solidFill>
                          <a:latin typeface="Meiryo"/>
                          <a:ea typeface="メイリオ"/>
                          <a:cs typeface="Meiryo"/>
                        </a:rPr>
                        <a:t>忍者ナインとの比較</a:t>
                      </a:r>
                    </a:p>
                  </a:txBody>
                  <a:tcPr>
                    <a:solidFill>
                      <a:srgbClr val="1F2A5C"/>
                    </a:solidFill>
                  </a:tcPr>
                </a:tc>
                <a:extLst>
                  <a:ext uri="{0D108BD9-81ED-4DB2-BD59-A6C34878D82A}">
                    <a16:rowId xmlns:a16="http://schemas.microsoft.com/office/drawing/2014/main" val="10000"/>
                  </a:ext>
                </a:extLst>
              </a:tr>
              <a:tr h="457200">
                <a:tc>
                  <a:txBody>
                    <a:bodyPr/>
                    <a:lstStyle/>
                    <a:p>
                      <a:r>
                        <a:rPr sz="1100" b="0" dirty="0" err="1">
                          <a:solidFill>
                            <a:srgbClr val="333333"/>
                          </a:solidFill>
                          <a:latin typeface="Meiryo"/>
                          <a:ea typeface="メイリオ"/>
                          <a:cs typeface="Meiryo"/>
                        </a:rPr>
                        <a:t>biima</a:t>
                      </a:r>
                      <a:r>
                        <a:rPr sz="1100" b="0" dirty="0">
                          <a:solidFill>
                            <a:srgbClr val="333333"/>
                          </a:solidFill>
                          <a:latin typeface="Meiryo"/>
                          <a:ea typeface="メイリオ"/>
                          <a:cs typeface="Meiryo"/>
                        </a:rPr>
                        <a:t> sports</a:t>
                      </a:r>
                    </a:p>
                  </a:txBody>
                  <a:tcPr>
                    <a:solidFill>
                      <a:srgbClr val="FFFFFF"/>
                    </a:solidFill>
                  </a:tcPr>
                </a:tc>
                <a:tc>
                  <a:txBody>
                    <a:bodyPr/>
                    <a:lstStyle/>
                    <a:p>
                      <a:r>
                        <a:rPr sz="1100" b="0">
                          <a:solidFill>
                            <a:srgbClr val="333333"/>
                          </a:solidFill>
                          <a:latin typeface="Meiryo"/>
                          <a:ea typeface="メイリオ"/>
                          <a:cs typeface="Meiryo"/>
                        </a:rPr>
                        <a:t>なし</a:t>
                      </a:r>
                    </a:p>
                  </a:txBody>
                  <a:tcPr>
                    <a:solidFill>
                      <a:srgbClr val="FFFFFF"/>
                    </a:solidFill>
                  </a:tcPr>
                </a:tc>
                <a:tc>
                  <a:txBody>
                    <a:bodyPr/>
                    <a:lstStyle/>
                    <a:p>
                      <a:r>
                        <a:rPr sz="1100" b="0">
                          <a:solidFill>
                            <a:srgbClr val="333333"/>
                          </a:solidFill>
                          <a:latin typeface="Meiryo"/>
                          <a:ea typeface="メイリオ"/>
                          <a:cs typeface="Meiryo"/>
                        </a:rPr>
                        <a:t>非認知能力×複合種目</a:t>
                      </a:r>
                    </a:p>
                  </a:txBody>
                  <a:tcPr>
                    <a:solidFill>
                      <a:srgbClr val="FFFFFF"/>
                    </a:solidFill>
                  </a:tcPr>
                </a:tc>
                <a:tc>
                  <a:txBody>
                    <a:bodyPr/>
                    <a:lstStyle/>
                    <a:p>
                      <a:r>
                        <a:rPr sz="1100" b="0" dirty="0" err="1">
                          <a:solidFill>
                            <a:srgbClr val="333333"/>
                          </a:solidFill>
                          <a:latin typeface="Meiryo"/>
                          <a:ea typeface="メイリオ"/>
                          <a:cs typeface="Meiryo"/>
                        </a:rPr>
                        <a:t>最も近いポジションだがLINE未活用</a:t>
                      </a:r>
                      <a:r>
                        <a:rPr sz="1100" b="0" dirty="0">
                          <a:solidFill>
                            <a:srgbClr val="333333"/>
                          </a:solidFill>
                          <a:latin typeface="Meiryo"/>
                          <a:ea typeface="メイリオ"/>
                          <a:cs typeface="Meiryo"/>
                        </a:rPr>
                        <a:t>。</a:t>
                      </a:r>
                      <a:endParaRPr lang="en-US" sz="1100" b="0" dirty="0">
                        <a:solidFill>
                          <a:srgbClr val="333333"/>
                        </a:solidFill>
                        <a:latin typeface="Meiryo"/>
                        <a:ea typeface="メイリオ"/>
                        <a:cs typeface="Meiryo"/>
                      </a:endParaRPr>
                    </a:p>
                    <a:p>
                      <a:r>
                        <a:rPr sz="1100" b="0" dirty="0" err="1">
                          <a:solidFill>
                            <a:srgbClr val="333333"/>
                          </a:solidFill>
                          <a:latin typeface="Meiryo"/>
                          <a:ea typeface="メイリオ"/>
                          <a:cs typeface="Meiryo"/>
                        </a:rPr>
                        <a:t>先行できる</a:t>
                      </a:r>
                      <a:endParaRPr sz="11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1"/>
                  </a:ext>
                </a:extLst>
              </a:tr>
              <a:tr h="457200">
                <a:tc>
                  <a:txBody>
                    <a:bodyPr/>
                    <a:lstStyle/>
                    <a:p>
                      <a:r>
                        <a:rPr sz="1100" b="0">
                          <a:solidFill>
                            <a:srgbClr val="333333"/>
                          </a:solidFill>
                          <a:latin typeface="Meiryo"/>
                          <a:ea typeface="メイリオ"/>
                          <a:cs typeface="Meiryo"/>
                        </a:rPr>
                        <a:t>ジャクパ</a:t>
                      </a:r>
                    </a:p>
                  </a:txBody>
                  <a:tcPr>
                    <a:solidFill>
                      <a:srgbClr val="FFFFFF"/>
                    </a:solidFill>
                  </a:tcPr>
                </a:tc>
                <a:tc>
                  <a:txBody>
                    <a:bodyPr/>
                    <a:lstStyle/>
                    <a:p>
                      <a:r>
                        <a:rPr sz="1100" b="0">
                          <a:solidFill>
                            <a:srgbClr val="333333"/>
                          </a:solidFill>
                          <a:latin typeface="Meiryo"/>
                          <a:ea typeface="メイリオ"/>
                          <a:cs typeface="Meiryo"/>
                        </a:rPr>
                        <a:t>なし</a:t>
                      </a:r>
                    </a:p>
                  </a:txBody>
                  <a:tcPr>
                    <a:solidFill>
                      <a:srgbClr val="FFFFFF"/>
                    </a:solidFill>
                  </a:tcPr>
                </a:tc>
                <a:tc>
                  <a:txBody>
                    <a:bodyPr/>
                    <a:lstStyle/>
                    <a:p>
                      <a:r>
                        <a:rPr sz="1100" b="0">
                          <a:solidFill>
                            <a:srgbClr val="333333"/>
                          </a:solidFill>
                          <a:latin typeface="Meiryo"/>
                          <a:ea typeface="メイリオ"/>
                          <a:cs typeface="Meiryo"/>
                        </a:rPr>
                        <a:t>園内開催・体操/サッカー中心</a:t>
                      </a:r>
                    </a:p>
                  </a:txBody>
                  <a:tcPr>
                    <a:solidFill>
                      <a:srgbClr val="FFFFFF"/>
                    </a:solidFill>
                  </a:tcPr>
                </a:tc>
                <a:tc>
                  <a:txBody>
                    <a:bodyPr/>
                    <a:lstStyle/>
                    <a:p>
                      <a:r>
                        <a:rPr sz="1100" b="0">
                          <a:solidFill>
                            <a:srgbClr val="333333"/>
                          </a:solidFill>
                          <a:latin typeface="Meiryo"/>
                          <a:ea typeface="メイリオ"/>
                          <a:cs typeface="Meiryo"/>
                        </a:rPr>
                        <a:t>低コストが強みだがデジタル接点は薄い</a:t>
                      </a:r>
                    </a:p>
                  </a:txBody>
                  <a:tcPr>
                    <a:solidFill>
                      <a:srgbClr val="FFFFFF"/>
                    </a:solidFill>
                  </a:tcPr>
                </a:tc>
                <a:extLst>
                  <a:ext uri="{0D108BD9-81ED-4DB2-BD59-A6C34878D82A}">
                    <a16:rowId xmlns:a16="http://schemas.microsoft.com/office/drawing/2014/main" val="10002"/>
                  </a:ext>
                </a:extLst>
              </a:tr>
              <a:tr h="457200">
                <a:tc>
                  <a:txBody>
                    <a:bodyPr/>
                    <a:lstStyle/>
                    <a:p>
                      <a:r>
                        <a:rPr sz="1100" b="0">
                          <a:solidFill>
                            <a:srgbClr val="333333"/>
                          </a:solidFill>
                          <a:latin typeface="Meiryo"/>
                          <a:ea typeface="メイリオ"/>
                          <a:cs typeface="Meiryo"/>
                        </a:rPr>
                        <a:t>コナミスポーツクラブ 運動塾</a:t>
                      </a:r>
                    </a:p>
                  </a:txBody>
                  <a:tcPr>
                    <a:solidFill>
                      <a:srgbClr val="FFFFFF"/>
                    </a:solidFill>
                  </a:tcPr>
                </a:tc>
                <a:tc>
                  <a:txBody>
                    <a:bodyPr/>
                    <a:lstStyle/>
                    <a:p>
                      <a:r>
                        <a:rPr sz="1100" b="0" dirty="0" err="1">
                          <a:solidFill>
                            <a:srgbClr val="333333"/>
                          </a:solidFill>
                          <a:latin typeface="Meiryo"/>
                          <a:ea typeface="メイリオ"/>
                          <a:cs typeface="Meiryo"/>
                        </a:rPr>
                        <a:t>なし</a:t>
                      </a:r>
                      <a:endParaRPr sz="1100" b="0" dirty="0">
                        <a:solidFill>
                          <a:srgbClr val="333333"/>
                        </a:solidFill>
                        <a:latin typeface="Meiryo"/>
                        <a:ea typeface="メイリオ"/>
                        <a:cs typeface="Meiryo"/>
                      </a:endParaRPr>
                    </a:p>
                  </a:txBody>
                  <a:tcPr>
                    <a:solidFill>
                      <a:srgbClr val="FFFFFF"/>
                    </a:solidFill>
                  </a:tcPr>
                </a:tc>
                <a:tc>
                  <a:txBody>
                    <a:bodyPr/>
                    <a:lstStyle/>
                    <a:p>
                      <a:r>
                        <a:rPr sz="1100" b="0" dirty="0" err="1">
                          <a:solidFill>
                            <a:srgbClr val="333333"/>
                          </a:solidFill>
                          <a:latin typeface="Meiryo"/>
                          <a:ea typeface="メイリオ"/>
                          <a:cs typeface="Meiryo"/>
                        </a:rPr>
                        <a:t>大手施設・進級テスト制度</a:t>
                      </a:r>
                      <a:endParaRPr sz="1100" b="0" dirty="0">
                        <a:solidFill>
                          <a:srgbClr val="333333"/>
                        </a:solidFill>
                        <a:latin typeface="Meiryo"/>
                        <a:ea typeface="メイリオ"/>
                        <a:cs typeface="Meiryo"/>
                      </a:endParaRPr>
                    </a:p>
                  </a:txBody>
                  <a:tcPr>
                    <a:solidFill>
                      <a:srgbClr val="FFFFFF"/>
                    </a:solidFill>
                  </a:tcPr>
                </a:tc>
                <a:tc>
                  <a:txBody>
                    <a:bodyPr/>
                    <a:lstStyle/>
                    <a:p>
                      <a:r>
                        <a:rPr sz="1100" b="0">
                          <a:solidFill>
                            <a:srgbClr val="333333"/>
                          </a:solidFill>
                          <a:latin typeface="Meiryo"/>
                          <a:ea typeface="メイリオ"/>
                          <a:cs typeface="Meiryo"/>
                        </a:rPr>
                        <a:t>施設力はあるがLINE未運用</a:t>
                      </a:r>
                    </a:p>
                  </a:txBody>
                  <a:tcPr>
                    <a:solidFill>
                      <a:srgbClr val="FFFFFF"/>
                    </a:solidFill>
                  </a:tcPr>
                </a:tc>
                <a:extLst>
                  <a:ext uri="{0D108BD9-81ED-4DB2-BD59-A6C34878D82A}">
                    <a16:rowId xmlns:a16="http://schemas.microsoft.com/office/drawing/2014/main" val="10003"/>
                  </a:ext>
                </a:extLst>
              </a:tr>
              <a:tr h="457200">
                <a:tc>
                  <a:txBody>
                    <a:bodyPr/>
                    <a:lstStyle/>
                    <a:p>
                      <a:r>
                        <a:rPr sz="1100" b="0">
                          <a:solidFill>
                            <a:srgbClr val="333333"/>
                          </a:solidFill>
                          <a:latin typeface="Meiryo"/>
                          <a:ea typeface="メイリオ"/>
                          <a:cs typeface="Meiryo"/>
                        </a:rPr>
                        <a:t>スポーツクラブ ルネサンス</a:t>
                      </a:r>
                    </a:p>
                  </a:txBody>
                  <a:tcPr>
                    <a:solidFill>
                      <a:srgbClr val="FFFFFF"/>
                    </a:solidFill>
                  </a:tcPr>
                </a:tc>
                <a:tc>
                  <a:txBody>
                    <a:bodyPr/>
                    <a:lstStyle/>
                    <a:p>
                      <a:r>
                        <a:rPr sz="1100" b="0">
                          <a:solidFill>
                            <a:srgbClr val="333333"/>
                          </a:solidFill>
                          <a:latin typeface="Meiryo"/>
                          <a:ea typeface="メイリオ"/>
                          <a:cs typeface="Meiryo"/>
                        </a:rPr>
                        <a:t>なし</a:t>
                      </a:r>
                    </a:p>
                  </a:txBody>
                  <a:tcPr>
                    <a:solidFill>
                      <a:srgbClr val="FFFFFF"/>
                    </a:solidFill>
                  </a:tcPr>
                </a:tc>
                <a:tc>
                  <a:txBody>
                    <a:bodyPr/>
                    <a:lstStyle/>
                    <a:p>
                      <a:r>
                        <a:rPr sz="1100" b="0" dirty="0" err="1">
                          <a:solidFill>
                            <a:srgbClr val="333333"/>
                          </a:solidFill>
                          <a:latin typeface="Meiryo"/>
                          <a:ea typeface="メイリオ"/>
                          <a:cs typeface="Meiryo"/>
                        </a:rPr>
                        <a:t>エンジョイ重視・生きる力</a:t>
                      </a:r>
                      <a:endParaRPr sz="1100" b="0" dirty="0">
                        <a:solidFill>
                          <a:srgbClr val="333333"/>
                        </a:solidFill>
                        <a:latin typeface="Meiryo"/>
                        <a:ea typeface="メイリオ"/>
                        <a:cs typeface="Meiryo"/>
                      </a:endParaRPr>
                    </a:p>
                  </a:txBody>
                  <a:tcPr>
                    <a:solidFill>
                      <a:srgbClr val="FFFFFF"/>
                    </a:solidFill>
                  </a:tcPr>
                </a:tc>
                <a:tc>
                  <a:txBody>
                    <a:bodyPr/>
                    <a:lstStyle/>
                    <a:p>
                      <a:r>
                        <a:rPr sz="1100" b="0" dirty="0" err="1">
                          <a:solidFill>
                            <a:srgbClr val="333333"/>
                          </a:solidFill>
                          <a:latin typeface="Meiryo"/>
                          <a:ea typeface="メイリオ"/>
                          <a:cs typeface="Meiryo"/>
                        </a:rPr>
                        <a:t>LINE未活用</a:t>
                      </a:r>
                      <a:endParaRPr sz="11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57200">
                <a:tc>
                  <a:txBody>
                    <a:bodyPr/>
                    <a:lstStyle/>
                    <a:p>
                      <a:r>
                        <a:rPr sz="1100" b="0" dirty="0" err="1">
                          <a:solidFill>
                            <a:srgbClr val="1F2A5C"/>
                          </a:solidFill>
                          <a:latin typeface="Meiryo"/>
                          <a:ea typeface="メイリオ"/>
                          <a:cs typeface="Meiryo"/>
                        </a:rPr>
                        <a:t>セントラルスポーツ</a:t>
                      </a:r>
                      <a:r>
                        <a:rPr sz="1100" b="0" dirty="0">
                          <a:solidFill>
                            <a:srgbClr val="1F2A5C"/>
                          </a:solidFill>
                          <a:latin typeface="Meiryo"/>
                          <a:ea typeface="メイリオ"/>
                          <a:cs typeface="Meiryo"/>
                        </a:rPr>
                        <a:t> </a:t>
                      </a:r>
                      <a:endParaRPr lang="en-US" sz="1100" b="0" dirty="0">
                        <a:solidFill>
                          <a:srgbClr val="1F2A5C"/>
                        </a:solidFill>
                        <a:latin typeface="Meiryo"/>
                        <a:ea typeface="メイリオ"/>
                        <a:cs typeface="Meiryo"/>
                      </a:endParaRPr>
                    </a:p>
                    <a:p>
                      <a:r>
                        <a:rPr sz="1100" b="0" dirty="0" err="1">
                          <a:solidFill>
                            <a:srgbClr val="1F2A5C"/>
                          </a:solidFill>
                          <a:latin typeface="Meiryo"/>
                          <a:ea typeface="メイリオ"/>
                          <a:cs typeface="Meiryo"/>
                        </a:rPr>
                        <a:t>キッズスクール</a:t>
                      </a:r>
                      <a:endParaRPr sz="1100" b="0" dirty="0">
                        <a:solidFill>
                          <a:srgbClr val="1F2A5C"/>
                        </a:solidFill>
                        <a:latin typeface="Meiryo"/>
                        <a:ea typeface="メイリオ"/>
                        <a:cs typeface="Meiryo"/>
                      </a:endParaRPr>
                    </a:p>
                  </a:txBody>
                  <a:tcPr>
                    <a:solidFill>
                      <a:srgbClr val="FFF3E0"/>
                    </a:solidFill>
                  </a:tcPr>
                </a:tc>
                <a:tc>
                  <a:txBody>
                    <a:bodyPr/>
                    <a:lstStyle/>
                    <a:p>
                      <a:r>
                        <a:rPr sz="1100" b="1">
                          <a:solidFill>
                            <a:srgbClr val="1F2A5C"/>
                          </a:solidFill>
                          <a:latin typeface="Meiryo"/>
                          <a:ea typeface="メイリオ"/>
                          <a:cs typeface="Meiryo"/>
                        </a:rPr>
                        <a:t>あり（友だち82,953人）</a:t>
                      </a:r>
                    </a:p>
                  </a:txBody>
                  <a:tcPr>
                    <a:solidFill>
                      <a:srgbClr val="FFF3E0"/>
                    </a:solidFill>
                  </a:tcPr>
                </a:tc>
                <a:tc>
                  <a:txBody>
                    <a:bodyPr/>
                    <a:lstStyle/>
                    <a:p>
                      <a:r>
                        <a:rPr sz="1100" b="0">
                          <a:solidFill>
                            <a:srgbClr val="1F2A5C"/>
                          </a:solidFill>
                          <a:latin typeface="Meiryo"/>
                          <a:ea typeface="メイリオ"/>
                          <a:cs typeface="Meiryo"/>
                        </a:rPr>
                        <a:t>体育補完・進級チェック制度</a:t>
                      </a:r>
                    </a:p>
                  </a:txBody>
                  <a:tcPr>
                    <a:solidFill>
                      <a:srgbClr val="FFF3E0"/>
                    </a:solidFill>
                  </a:tcPr>
                </a:tc>
                <a:tc>
                  <a:txBody>
                    <a:bodyPr/>
                    <a:lstStyle/>
                    <a:p>
                      <a:r>
                        <a:rPr sz="1100" b="0" dirty="0" err="1">
                          <a:solidFill>
                            <a:srgbClr val="1F2A5C"/>
                          </a:solidFill>
                          <a:latin typeface="Meiryo"/>
                          <a:ea typeface="メイリオ"/>
                          <a:cs typeface="Meiryo"/>
                        </a:rPr>
                        <a:t>業界内で唯一LINEを大規模運用</a:t>
                      </a:r>
                      <a:r>
                        <a:rPr sz="1100" b="0" dirty="0">
                          <a:solidFill>
                            <a:srgbClr val="1F2A5C"/>
                          </a:solidFill>
                          <a:latin typeface="Meiryo"/>
                          <a:ea typeface="メイリオ"/>
                          <a:cs typeface="Meiryo"/>
                        </a:rPr>
                        <a:t>。</a:t>
                      </a:r>
                      <a:endParaRPr lang="en-US" sz="1100" b="0" dirty="0">
                        <a:solidFill>
                          <a:srgbClr val="1F2A5C"/>
                        </a:solidFill>
                        <a:latin typeface="Meiryo"/>
                        <a:ea typeface="メイリオ"/>
                        <a:cs typeface="Meiryo"/>
                      </a:endParaRPr>
                    </a:p>
                    <a:p>
                      <a:r>
                        <a:rPr sz="1100" b="0" dirty="0" err="1">
                          <a:solidFill>
                            <a:srgbClr val="1F2A5C"/>
                          </a:solidFill>
                          <a:latin typeface="Meiryo"/>
                          <a:ea typeface="メイリオ"/>
                          <a:cs typeface="Meiryo"/>
                        </a:rPr>
                        <a:t>水準のベンチマーク</a:t>
                      </a:r>
                      <a:endParaRPr sz="11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5"/>
                  </a:ext>
                </a:extLst>
              </a:tr>
            </a:tbl>
          </a:graphicData>
        </a:graphic>
      </p:graphicFrame>
      <p:sp>
        <p:nvSpPr>
          <p:cNvPr id="47" name="TextBox 46"/>
          <p:cNvSpPr txBox="1"/>
          <p:nvPr/>
        </p:nvSpPr>
        <p:spPr>
          <a:xfrm>
            <a:off x="384048" y="4663440"/>
            <a:ext cx="9134856" cy="338554"/>
          </a:xfrm>
          <a:prstGeom prst="rect">
            <a:avLst/>
          </a:prstGeom>
          <a:noFill/>
        </p:spPr>
        <p:txBody>
          <a:bodyPr wrap="square">
            <a:spAutoFit/>
          </a:bodyPr>
          <a:lstStyle/>
          <a:p>
            <a:r>
              <a:rPr sz="1600" b="1" dirty="0" err="1">
                <a:solidFill>
                  <a:srgbClr val="BF4E0E"/>
                </a:solidFill>
                <a:latin typeface="Meiryo"/>
                <a:ea typeface="メイリオ"/>
                <a:cs typeface="Meiryo"/>
              </a:rPr>
              <a:t>競合の大半が未着手の今なら、LINE運用を始めるだけで業界内の先行者になれる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出典：弊社調べ（page.line.me実地確認・2026年9月）／各社公式サイト確認。LINE友だち数は確認時点の実数</a:t>
            </a:r>
          </a:p>
        </p:txBody>
      </p:sp>
    </p:spTree>
    <p:extLst>
      <p:ext uri="{BB962C8B-B14F-4D97-AF65-F5344CB8AC3E}">
        <p14:creationId xmlns:p14="http://schemas.microsoft.com/office/powerpoint/2010/main" val="14057960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競合分析【チャイルドアイズ】</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直接競合4社中、LINE公式アカウントを運用しているのは理英会・どんちゃかの2社。</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知育→受験の2段構成という同じ設計で、すでに先行されている。</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3738473488"/>
              </p:ext>
            </p:extLst>
          </p:nvPr>
        </p:nvGraphicFramePr>
        <p:xfrm>
          <a:off x="384048" y="1600200"/>
          <a:ext cx="9134854" cy="2286000"/>
        </p:xfrm>
        <a:graphic>
          <a:graphicData uri="http://schemas.openxmlformats.org/drawingml/2006/table">
            <a:tbl>
              <a:tblPr firstRow="1" bandRow="1">
                <a:tableStyleId>{5C22544A-7EE6-4342-B048-85BDC9FD1C3A}</a:tableStyleId>
              </a:tblPr>
              <a:tblGrid>
                <a:gridCol w="2192365">
                  <a:extLst>
                    <a:ext uri="{9D8B030D-6E8A-4147-A177-3AD203B41FA5}">
                      <a16:colId xmlns:a16="http://schemas.microsoft.com/office/drawing/2014/main" val="20000"/>
                    </a:ext>
                  </a:extLst>
                </a:gridCol>
                <a:gridCol w="2009668">
                  <a:extLst>
                    <a:ext uri="{9D8B030D-6E8A-4147-A177-3AD203B41FA5}">
                      <a16:colId xmlns:a16="http://schemas.microsoft.com/office/drawing/2014/main" val="20001"/>
                    </a:ext>
                  </a:extLst>
                </a:gridCol>
                <a:gridCol w="2192365">
                  <a:extLst>
                    <a:ext uri="{9D8B030D-6E8A-4147-A177-3AD203B41FA5}">
                      <a16:colId xmlns:a16="http://schemas.microsoft.com/office/drawing/2014/main" val="20002"/>
                    </a:ext>
                  </a:extLst>
                </a:gridCol>
                <a:gridCol w="2740456">
                  <a:extLst>
                    <a:ext uri="{9D8B030D-6E8A-4147-A177-3AD203B41FA5}">
                      <a16:colId xmlns:a16="http://schemas.microsoft.com/office/drawing/2014/main" val="20003"/>
                    </a:ext>
                  </a:extLst>
                </a:gridCol>
              </a:tblGrid>
              <a:tr h="457200">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a:solidFill>
                            <a:srgbClr val="FFFFFF"/>
                          </a:solidFill>
                          <a:latin typeface="Meiryo"/>
                          <a:ea typeface="メイリオ"/>
                          <a:cs typeface="Meiryo"/>
                        </a:rPr>
                        <a:t>LINE公式アカウント</a:t>
                      </a:r>
                    </a:p>
                  </a:txBody>
                  <a:tcPr>
                    <a:solidFill>
                      <a:srgbClr val="1F2A5C"/>
                    </a:solidFill>
                  </a:tcPr>
                </a:tc>
                <a:tc>
                  <a:txBody>
                    <a:bodyPr/>
                    <a:lstStyle/>
                    <a:p>
                      <a:r>
                        <a:rPr sz="1100" b="1">
                          <a:solidFill>
                            <a:srgbClr val="FFFFFF"/>
                          </a:solidFill>
                          <a:latin typeface="Meiryo"/>
                          <a:ea typeface="メイリオ"/>
                          <a:cs typeface="Meiryo"/>
                        </a:rPr>
                        <a:t>訴求</a:t>
                      </a:r>
                    </a:p>
                  </a:txBody>
                  <a:tcPr>
                    <a:solidFill>
                      <a:srgbClr val="1F2A5C"/>
                    </a:solidFill>
                  </a:tcPr>
                </a:tc>
                <a:tc>
                  <a:txBody>
                    <a:bodyPr/>
                    <a:lstStyle/>
                    <a:p>
                      <a:r>
                        <a:rPr sz="1100" b="1">
                          <a:solidFill>
                            <a:srgbClr val="FFFFFF"/>
                          </a:solidFill>
                          <a:latin typeface="Meiryo"/>
                          <a:ea typeface="メイリオ"/>
                          <a:cs typeface="Meiryo"/>
                        </a:rPr>
                        <a:t>チャイルドアイズとの比較</a:t>
                      </a:r>
                    </a:p>
                  </a:txBody>
                  <a:tcPr>
                    <a:solidFill>
                      <a:srgbClr val="1F2A5C"/>
                    </a:solidFill>
                  </a:tcPr>
                </a:tc>
                <a:extLst>
                  <a:ext uri="{0D108BD9-81ED-4DB2-BD59-A6C34878D82A}">
                    <a16:rowId xmlns:a16="http://schemas.microsoft.com/office/drawing/2014/main" val="10000"/>
                  </a:ext>
                </a:extLst>
              </a:tr>
              <a:tr h="457200">
                <a:tc>
                  <a:txBody>
                    <a:bodyPr/>
                    <a:lstStyle/>
                    <a:p>
                      <a:r>
                        <a:rPr sz="1100" b="0" dirty="0" err="1">
                          <a:solidFill>
                            <a:srgbClr val="333333"/>
                          </a:solidFill>
                          <a:latin typeface="Meiryo"/>
                          <a:ea typeface="メイリオ"/>
                          <a:cs typeface="Meiryo"/>
                        </a:rPr>
                        <a:t>ベビーパーク</a:t>
                      </a:r>
                      <a:endParaRPr lang="en-US" sz="1100" b="0" dirty="0">
                        <a:solidFill>
                          <a:srgbClr val="333333"/>
                        </a:solidFill>
                        <a:latin typeface="Meiryo"/>
                        <a:ea typeface="メイリオ"/>
                        <a:cs typeface="Meiryo"/>
                      </a:endParaRPr>
                    </a:p>
                    <a:p>
                      <a:r>
                        <a:rPr lang="ja-JP" altLang="en-US" sz="1100" b="0" dirty="0">
                          <a:solidFill>
                            <a:srgbClr val="333333"/>
                          </a:solidFill>
                          <a:latin typeface="Meiryo"/>
                          <a:ea typeface="メイリオ"/>
                          <a:cs typeface="Meiryo"/>
                        </a:rPr>
                        <a:t>キ</a:t>
                      </a:r>
                      <a:r>
                        <a:rPr sz="1100" b="0" dirty="0" err="1">
                          <a:solidFill>
                            <a:srgbClr val="333333"/>
                          </a:solidFill>
                          <a:latin typeface="Meiryo"/>
                          <a:ea typeface="メイリオ"/>
                          <a:cs typeface="Meiryo"/>
                        </a:rPr>
                        <a:t>ッズアカデミ</a:t>
                      </a:r>
                      <a:r>
                        <a:rPr sz="1100" b="0" dirty="0">
                          <a:solidFill>
                            <a:srgbClr val="333333"/>
                          </a:solidFill>
                          <a:latin typeface="Meiryo"/>
                          <a:ea typeface="メイリオ"/>
                          <a:cs typeface="Meiryo"/>
                        </a:rPr>
                        <a:t>ー</a:t>
                      </a:r>
                    </a:p>
                  </a:txBody>
                  <a:tcPr>
                    <a:solidFill>
                      <a:srgbClr val="FFFFFF"/>
                    </a:solidFill>
                  </a:tcPr>
                </a:tc>
                <a:tc>
                  <a:txBody>
                    <a:bodyPr/>
                    <a:lstStyle/>
                    <a:p>
                      <a:r>
                        <a:rPr sz="1100" b="0" dirty="0" err="1">
                          <a:solidFill>
                            <a:srgbClr val="333333"/>
                          </a:solidFill>
                          <a:latin typeface="Meiryo"/>
                          <a:ea typeface="メイリオ"/>
                          <a:cs typeface="Meiryo"/>
                        </a:rPr>
                        <a:t>なし</a:t>
                      </a:r>
                      <a:endParaRPr sz="1100" b="0" dirty="0">
                        <a:solidFill>
                          <a:srgbClr val="333333"/>
                        </a:solidFill>
                        <a:latin typeface="Meiryo"/>
                        <a:ea typeface="メイリオ"/>
                        <a:cs typeface="Meiryo"/>
                      </a:endParaRPr>
                    </a:p>
                  </a:txBody>
                  <a:tcPr>
                    <a:solidFill>
                      <a:srgbClr val="FFFFFF"/>
                    </a:solidFill>
                  </a:tcPr>
                </a:tc>
                <a:tc>
                  <a:txBody>
                    <a:bodyPr/>
                    <a:lstStyle/>
                    <a:p>
                      <a:r>
                        <a:rPr sz="1100" b="0" dirty="0">
                          <a:solidFill>
                            <a:srgbClr val="333333"/>
                          </a:solidFill>
                          <a:latin typeface="Meiryo"/>
                          <a:ea typeface="メイリオ"/>
                          <a:cs typeface="Meiryo"/>
                        </a:rPr>
                        <a:t>知育特化・超早期（0歳〜）</a:t>
                      </a:r>
                    </a:p>
                  </a:txBody>
                  <a:tcPr>
                    <a:solidFill>
                      <a:srgbClr val="FFFFFF"/>
                    </a:solidFill>
                  </a:tcPr>
                </a:tc>
                <a:tc>
                  <a:txBody>
                    <a:bodyPr/>
                    <a:lstStyle/>
                    <a:p>
                      <a:r>
                        <a:rPr sz="1100" b="0">
                          <a:solidFill>
                            <a:srgbClr val="333333"/>
                          </a:solidFill>
                          <a:latin typeface="Meiryo"/>
                          <a:ea typeface="メイリオ"/>
                          <a:cs typeface="Meiryo"/>
                        </a:rPr>
                        <a:t>LINE未活用。早期囲い込みは強い</a:t>
                      </a:r>
                    </a:p>
                  </a:txBody>
                  <a:tcPr>
                    <a:solidFill>
                      <a:srgbClr val="FFFFFF"/>
                    </a:solidFill>
                  </a:tcPr>
                </a:tc>
                <a:extLst>
                  <a:ext uri="{0D108BD9-81ED-4DB2-BD59-A6C34878D82A}">
                    <a16:rowId xmlns:a16="http://schemas.microsoft.com/office/drawing/2014/main" val="10001"/>
                  </a:ext>
                </a:extLst>
              </a:tr>
              <a:tr h="457200">
                <a:tc>
                  <a:txBody>
                    <a:bodyPr/>
                    <a:lstStyle/>
                    <a:p>
                      <a:r>
                        <a:rPr sz="1100" b="0">
                          <a:solidFill>
                            <a:srgbClr val="333333"/>
                          </a:solidFill>
                          <a:latin typeface="Meiryo"/>
                          <a:ea typeface="メイリオ"/>
                          <a:cs typeface="Meiryo"/>
                        </a:rPr>
                        <a:t>伸芽会</a:t>
                      </a:r>
                    </a:p>
                  </a:txBody>
                  <a:tcPr>
                    <a:solidFill>
                      <a:srgbClr val="FFFFFF"/>
                    </a:solidFill>
                  </a:tcPr>
                </a:tc>
                <a:tc>
                  <a:txBody>
                    <a:bodyPr/>
                    <a:lstStyle/>
                    <a:p>
                      <a:r>
                        <a:rPr sz="1100" b="0">
                          <a:solidFill>
                            <a:srgbClr val="333333"/>
                          </a:solidFill>
                          <a:latin typeface="Meiryo"/>
                          <a:ea typeface="メイリオ"/>
                          <a:cs typeface="Meiryo"/>
                        </a:rPr>
                        <a:t>なし</a:t>
                      </a:r>
                    </a:p>
                  </a:txBody>
                  <a:tcPr>
                    <a:solidFill>
                      <a:srgbClr val="FFFFFF"/>
                    </a:solidFill>
                  </a:tcPr>
                </a:tc>
                <a:tc>
                  <a:txBody>
                    <a:bodyPr/>
                    <a:lstStyle/>
                    <a:p>
                      <a:r>
                        <a:rPr sz="1100" b="0" dirty="0" err="1">
                          <a:solidFill>
                            <a:srgbClr val="333333"/>
                          </a:solidFill>
                          <a:latin typeface="Meiryo"/>
                          <a:ea typeface="メイリオ"/>
                          <a:cs typeface="Meiryo"/>
                        </a:rPr>
                        <a:t>受験対策特化・名門校実績</a:t>
                      </a:r>
                      <a:endParaRPr sz="1100" b="0" dirty="0">
                        <a:solidFill>
                          <a:srgbClr val="333333"/>
                        </a:solidFill>
                        <a:latin typeface="Meiryo"/>
                        <a:ea typeface="メイリオ"/>
                        <a:cs typeface="Meiryo"/>
                      </a:endParaRPr>
                    </a:p>
                  </a:txBody>
                  <a:tcPr>
                    <a:solidFill>
                      <a:srgbClr val="FFFFFF"/>
                    </a:solidFill>
                  </a:tcPr>
                </a:tc>
                <a:tc>
                  <a:txBody>
                    <a:bodyPr/>
                    <a:lstStyle/>
                    <a:p>
                      <a:r>
                        <a:rPr sz="1100" b="0" dirty="0" err="1">
                          <a:solidFill>
                            <a:srgbClr val="333333"/>
                          </a:solidFill>
                          <a:latin typeface="Meiryo"/>
                          <a:ea typeface="メイリオ"/>
                          <a:cs typeface="Meiryo"/>
                        </a:rPr>
                        <a:t>LINE未活用。ブランド力で先行</a:t>
                      </a:r>
                      <a:endParaRPr sz="11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57200">
                <a:tc>
                  <a:txBody>
                    <a:bodyPr/>
                    <a:lstStyle/>
                    <a:p>
                      <a:r>
                        <a:rPr sz="1100" b="0">
                          <a:solidFill>
                            <a:srgbClr val="1F2A5C"/>
                          </a:solidFill>
                          <a:latin typeface="Meiryo"/>
                          <a:ea typeface="メイリオ"/>
                          <a:cs typeface="Meiryo"/>
                        </a:rPr>
                        <a:t>理英会</a:t>
                      </a:r>
                    </a:p>
                  </a:txBody>
                  <a:tcPr>
                    <a:solidFill>
                      <a:srgbClr val="FFF3E0"/>
                    </a:solidFill>
                  </a:tcPr>
                </a:tc>
                <a:tc>
                  <a:txBody>
                    <a:bodyPr/>
                    <a:lstStyle/>
                    <a:p>
                      <a:r>
                        <a:rPr sz="1100" b="1">
                          <a:solidFill>
                            <a:srgbClr val="1F2A5C"/>
                          </a:solidFill>
                          <a:latin typeface="Meiryo"/>
                          <a:ea typeface="メイリオ"/>
                          <a:cs typeface="Meiryo"/>
                        </a:rPr>
                        <a:t>あり（友だち4,475人）</a:t>
                      </a:r>
                    </a:p>
                  </a:txBody>
                  <a:tcPr>
                    <a:solidFill>
                      <a:srgbClr val="FFF3E0"/>
                    </a:solidFill>
                  </a:tcPr>
                </a:tc>
                <a:tc>
                  <a:txBody>
                    <a:bodyPr/>
                    <a:lstStyle/>
                    <a:p>
                      <a:r>
                        <a:rPr sz="1100" b="0">
                          <a:solidFill>
                            <a:srgbClr val="1F2A5C"/>
                          </a:solidFill>
                          <a:latin typeface="Meiryo"/>
                          <a:ea typeface="メイリオ"/>
                          <a:cs typeface="Meiryo"/>
                        </a:rPr>
                        <a:t>受験ノウハウ配信・体験会案内</a:t>
                      </a:r>
                    </a:p>
                  </a:txBody>
                  <a:tcPr>
                    <a:solidFill>
                      <a:srgbClr val="FFF3E0"/>
                    </a:solidFill>
                  </a:tcPr>
                </a:tc>
                <a:tc>
                  <a:txBody>
                    <a:bodyPr/>
                    <a:lstStyle/>
                    <a:p>
                      <a:r>
                        <a:rPr sz="1100" b="0" dirty="0">
                          <a:solidFill>
                            <a:srgbClr val="1F2A5C"/>
                          </a:solidFill>
                          <a:latin typeface="Meiryo"/>
                          <a:ea typeface="メイリオ"/>
                          <a:cs typeface="Meiryo"/>
                        </a:rPr>
                        <a:t>知育→受験の2段構成が最も近い競合。すでに先行</a:t>
                      </a:r>
                    </a:p>
                  </a:txBody>
                  <a:tcPr>
                    <a:solidFill>
                      <a:srgbClr val="FFF3E0"/>
                    </a:solidFill>
                  </a:tcPr>
                </a:tc>
                <a:extLst>
                  <a:ext uri="{0D108BD9-81ED-4DB2-BD59-A6C34878D82A}">
                    <a16:rowId xmlns:a16="http://schemas.microsoft.com/office/drawing/2014/main" val="10003"/>
                  </a:ext>
                </a:extLst>
              </a:tr>
              <a:tr h="457200">
                <a:tc>
                  <a:txBody>
                    <a:bodyPr/>
                    <a:lstStyle/>
                    <a:p>
                      <a:r>
                        <a:rPr sz="1100" b="0">
                          <a:solidFill>
                            <a:srgbClr val="1F2A5C"/>
                          </a:solidFill>
                          <a:latin typeface="Meiryo"/>
                          <a:ea typeface="メイリオ"/>
                          <a:cs typeface="Meiryo"/>
                        </a:rPr>
                        <a:t>どんちゃか幼児教室</a:t>
                      </a:r>
                    </a:p>
                  </a:txBody>
                  <a:tcPr>
                    <a:solidFill>
                      <a:srgbClr val="FFF3E0"/>
                    </a:solidFill>
                  </a:tcPr>
                </a:tc>
                <a:tc>
                  <a:txBody>
                    <a:bodyPr/>
                    <a:lstStyle/>
                    <a:p>
                      <a:r>
                        <a:rPr sz="1100" b="1">
                          <a:solidFill>
                            <a:srgbClr val="1F2A5C"/>
                          </a:solidFill>
                          <a:latin typeface="Meiryo"/>
                          <a:ea typeface="メイリオ"/>
                          <a:cs typeface="Meiryo"/>
                        </a:rPr>
                        <a:t>あり（友だち2,550人）</a:t>
                      </a:r>
                    </a:p>
                  </a:txBody>
                  <a:tcPr>
                    <a:solidFill>
                      <a:srgbClr val="FFF3E0"/>
                    </a:solidFill>
                  </a:tcPr>
                </a:tc>
                <a:tc>
                  <a:txBody>
                    <a:bodyPr/>
                    <a:lstStyle/>
                    <a:p>
                      <a:r>
                        <a:rPr sz="1100" b="0">
                          <a:solidFill>
                            <a:srgbClr val="1F2A5C"/>
                          </a:solidFill>
                          <a:latin typeface="Meiryo"/>
                          <a:ea typeface="メイリオ"/>
                          <a:cs typeface="Meiryo"/>
                        </a:rPr>
                        <a:t>育児コラム・季節講習案内</a:t>
                      </a:r>
                    </a:p>
                  </a:txBody>
                  <a:tcPr>
                    <a:solidFill>
                      <a:srgbClr val="FFF3E0"/>
                    </a:solidFill>
                  </a:tcPr>
                </a:tc>
                <a:tc>
                  <a:txBody>
                    <a:bodyPr/>
                    <a:lstStyle/>
                    <a:p>
                      <a:r>
                        <a:rPr sz="1100" b="0" dirty="0" err="1">
                          <a:solidFill>
                            <a:srgbClr val="1F2A5C"/>
                          </a:solidFill>
                          <a:latin typeface="Meiryo"/>
                          <a:ea typeface="メイリオ"/>
                          <a:cs typeface="Meiryo"/>
                        </a:rPr>
                        <a:t>理英会と同一グループ</a:t>
                      </a:r>
                      <a:endParaRPr lang="en-US" sz="1100" b="0" dirty="0">
                        <a:solidFill>
                          <a:srgbClr val="1F2A5C"/>
                        </a:solidFill>
                        <a:latin typeface="Meiryo"/>
                        <a:ea typeface="メイリオ"/>
                        <a:cs typeface="Meiryo"/>
                      </a:endParaRPr>
                    </a:p>
                    <a:p>
                      <a:r>
                        <a:rPr sz="1100" b="0" dirty="0" err="1">
                          <a:solidFill>
                            <a:srgbClr val="1F2A5C"/>
                          </a:solidFill>
                          <a:latin typeface="Meiryo"/>
                          <a:ea typeface="メイリオ"/>
                          <a:cs typeface="Meiryo"/>
                        </a:rPr>
                        <a:t>乳幼児期の入口として運用</a:t>
                      </a:r>
                      <a:endParaRPr lang="en-US" sz="11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4"/>
                  </a:ext>
                </a:extLst>
              </a:tr>
            </a:tbl>
          </a:graphicData>
        </a:graphic>
      </p:graphicFrame>
      <p:sp>
        <p:nvSpPr>
          <p:cNvPr id="47" name="TextBox 46"/>
          <p:cNvSpPr txBox="1"/>
          <p:nvPr/>
        </p:nvSpPr>
        <p:spPr>
          <a:xfrm>
            <a:off x="384048" y="4206240"/>
            <a:ext cx="9134856" cy="584775"/>
          </a:xfrm>
          <a:prstGeom prst="rect">
            <a:avLst/>
          </a:prstGeom>
          <a:noFill/>
        </p:spPr>
        <p:txBody>
          <a:bodyPr wrap="square">
            <a:spAutoFit/>
          </a:bodyPr>
          <a:lstStyle/>
          <a:p>
            <a:r>
              <a:rPr sz="1600" b="1" dirty="0" err="1">
                <a:solidFill>
                  <a:srgbClr val="BF4E0E"/>
                </a:solidFill>
                <a:latin typeface="Meiryo"/>
                <a:ea typeface="メイリオ"/>
                <a:cs typeface="Meiryo"/>
              </a:rPr>
              <a:t>理英会・どんちゃかに対しては、同じ「知育→受験」という設計を武器に</a:t>
            </a:r>
            <a:endParaRPr lang="en-US" sz="1600" b="1" dirty="0">
              <a:solidFill>
                <a:srgbClr val="BF4E0E"/>
              </a:solidFill>
              <a:latin typeface="Meiryo"/>
              <a:ea typeface="メイリオ"/>
              <a:cs typeface="Meiryo"/>
            </a:endParaRPr>
          </a:p>
          <a:p>
            <a:r>
              <a:rPr sz="1600" b="1" dirty="0" err="1">
                <a:solidFill>
                  <a:srgbClr val="BF4E0E"/>
                </a:solidFill>
                <a:latin typeface="Meiryo"/>
                <a:ea typeface="メイリオ"/>
                <a:cs typeface="Meiryo"/>
              </a:rPr>
              <a:t>チャイルドアイズならではの強みをLINEの訴求・動線でより磨き込むことが差別化の鍵になる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出典：弊社調べ（page.line.me実地確認・2026年9月）／各社公式サイト確認。LINE友だち数は確認時点の実数</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39" name="Shape 3">
            <a:extLst>
              <a:ext uri="{FF2B5EF4-FFF2-40B4-BE49-F238E27FC236}">
                <a16:creationId xmlns:a16="http://schemas.microsoft.com/office/drawing/2014/main" id="{2C0CE6CF-CF29-4F13-E14D-6FE57E16D201}"/>
              </a:ext>
            </a:extLst>
          </p:cNvPr>
          <p:cNvSpPr/>
          <p:nvPr/>
        </p:nvSpPr>
        <p:spPr>
          <a:xfrm>
            <a:off x="972158" y="178003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Text 4">
            <a:extLst>
              <a:ext uri="{FF2B5EF4-FFF2-40B4-BE49-F238E27FC236}">
                <a16:creationId xmlns:a16="http://schemas.microsoft.com/office/drawing/2014/main" id="{4B15C96A-F0B8-F18C-6254-B162AFC457A6}"/>
              </a:ext>
            </a:extLst>
          </p:cNvPr>
          <p:cNvSpPr txBox="1"/>
          <p:nvPr/>
        </p:nvSpPr>
        <p:spPr>
          <a:xfrm>
            <a:off x="972158" y="178003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100" dirty="0">
              <a:latin typeface="メイリオ" panose="020B0604030504040204" pitchFamily="50" charset="-128"/>
              <a:ea typeface="メイリオ" panose="020B0604030504040204" pitchFamily="50" charset="-128"/>
            </a:endParaRPr>
          </a:p>
        </p:txBody>
      </p:sp>
      <p:sp>
        <p:nvSpPr>
          <p:cNvPr id="43" name="Text 5">
            <a:extLst>
              <a:ext uri="{FF2B5EF4-FFF2-40B4-BE49-F238E27FC236}">
                <a16:creationId xmlns:a16="http://schemas.microsoft.com/office/drawing/2014/main" id="{1AB7025E-6AD2-DE33-BC65-0B02037301DF}"/>
              </a:ext>
            </a:extLst>
          </p:cNvPr>
          <p:cNvSpPr txBox="1"/>
          <p:nvPr/>
        </p:nvSpPr>
        <p:spPr>
          <a:xfrm>
            <a:off x="1539086" y="190718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対象範囲</a:t>
            </a:r>
            <a:endParaRPr lang="en-US" sz="1400" dirty="0">
              <a:latin typeface="メイリオ" panose="020B0604030504040204" pitchFamily="50" charset="-128"/>
              <a:ea typeface="メイリオ" panose="020B0604030504040204" pitchFamily="50" charset="-128"/>
            </a:endParaRPr>
          </a:p>
        </p:txBody>
      </p:sp>
      <p:sp>
        <p:nvSpPr>
          <p:cNvPr id="46" name="Text 6">
            <a:extLst>
              <a:ext uri="{FF2B5EF4-FFF2-40B4-BE49-F238E27FC236}">
                <a16:creationId xmlns:a16="http://schemas.microsoft.com/office/drawing/2014/main" id="{EE17545A-2363-AE72-B300-AAA28328E975}"/>
              </a:ext>
            </a:extLst>
          </p:cNvPr>
          <p:cNvSpPr txBox="1"/>
          <p:nvPr/>
        </p:nvSpPr>
        <p:spPr>
          <a:xfrm>
            <a:off x="3120996" y="1907182"/>
            <a:ext cx="6841609" cy="548643"/>
          </a:xfrm>
          <a:prstGeom prst="rect">
            <a:avLst/>
          </a:prstGeom>
          <a:noFill/>
          <a:ln/>
        </p:spPr>
        <p:txBody>
          <a:bodyPr wrap="square" lIns="0" tIns="0" rIns="0" bIns="0" rtlCol="0" anchor="t"/>
          <a:lstStyle/>
          <a:p>
            <a:pPr marL="0" indent="0">
              <a:lnSpc>
                <a:spcPts val="1700"/>
              </a:lnSpc>
              <a:buNone/>
            </a:pP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LINE公式アカウントにおける</a:t>
            </a: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「① 友だち追加」「② </a:t>
            </a:r>
            <a:r>
              <a:rPr lang="en-US" sz="1200" b="1" dirty="0" err="1">
                <a:solidFill>
                  <a:srgbClr val="1F2937"/>
                </a:solidFill>
                <a:latin typeface="メイリオ" panose="020B0604030504040204" pitchFamily="50" charset="-128"/>
                <a:ea typeface="メイリオ" panose="020B0604030504040204" pitchFamily="50" charset="-128"/>
                <a:cs typeface="Calibri" pitchFamily="34" charset="-120"/>
              </a:rPr>
              <a:t>配信の効率改善</a:t>
            </a: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「③ ユーザー満足度改善」「④ 管理側の業務効率化」の4領域</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を対象に施策を設計。</a:t>
            </a: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8" name="Shape 7">
            <a:extLst>
              <a:ext uri="{FF2B5EF4-FFF2-40B4-BE49-F238E27FC236}">
                <a16:creationId xmlns:a16="http://schemas.microsoft.com/office/drawing/2014/main" id="{821FB137-60FE-5372-085D-B747D9EC59DC}"/>
              </a:ext>
            </a:extLst>
          </p:cNvPr>
          <p:cNvSpPr/>
          <p:nvPr/>
        </p:nvSpPr>
        <p:spPr>
          <a:xfrm>
            <a:off x="641683" y="271272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0" name="Shape 8">
            <a:extLst>
              <a:ext uri="{FF2B5EF4-FFF2-40B4-BE49-F238E27FC236}">
                <a16:creationId xmlns:a16="http://schemas.microsoft.com/office/drawing/2014/main" id="{DC9A3D51-C45E-51F8-860D-57ECD88D6555}"/>
              </a:ext>
            </a:extLst>
          </p:cNvPr>
          <p:cNvSpPr/>
          <p:nvPr/>
        </p:nvSpPr>
        <p:spPr>
          <a:xfrm>
            <a:off x="972158" y="283159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2" name="Text 9">
            <a:extLst>
              <a:ext uri="{FF2B5EF4-FFF2-40B4-BE49-F238E27FC236}">
                <a16:creationId xmlns:a16="http://schemas.microsoft.com/office/drawing/2014/main" id="{669B4352-D816-9A0C-A8DD-7BC84307D168}"/>
              </a:ext>
            </a:extLst>
          </p:cNvPr>
          <p:cNvSpPr txBox="1"/>
          <p:nvPr/>
        </p:nvSpPr>
        <p:spPr>
          <a:xfrm>
            <a:off x="972158" y="283159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100" dirty="0">
              <a:latin typeface="メイリオ" panose="020B0604030504040204" pitchFamily="50" charset="-128"/>
              <a:ea typeface="メイリオ" panose="020B0604030504040204" pitchFamily="50" charset="-128"/>
            </a:endParaRPr>
          </a:p>
        </p:txBody>
      </p:sp>
      <p:sp>
        <p:nvSpPr>
          <p:cNvPr id="54" name="Text 10">
            <a:extLst>
              <a:ext uri="{FF2B5EF4-FFF2-40B4-BE49-F238E27FC236}">
                <a16:creationId xmlns:a16="http://schemas.microsoft.com/office/drawing/2014/main" id="{75F48AE9-A6FD-422C-ACDF-7B652462C746}"/>
              </a:ext>
            </a:extLst>
          </p:cNvPr>
          <p:cNvSpPr txBox="1"/>
          <p:nvPr/>
        </p:nvSpPr>
        <p:spPr>
          <a:xfrm>
            <a:off x="1539086" y="295874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想定UU規模</a:t>
            </a:r>
            <a:endParaRPr lang="en-US" sz="1400" dirty="0">
              <a:latin typeface="メイリオ" panose="020B0604030504040204" pitchFamily="50" charset="-128"/>
              <a:ea typeface="メイリオ" panose="020B0604030504040204" pitchFamily="50" charset="-128"/>
            </a:endParaRPr>
          </a:p>
        </p:txBody>
      </p:sp>
      <p:sp>
        <p:nvSpPr>
          <p:cNvPr id="56" name="Text 11">
            <a:extLst>
              <a:ext uri="{FF2B5EF4-FFF2-40B4-BE49-F238E27FC236}">
                <a16:creationId xmlns:a16="http://schemas.microsoft.com/office/drawing/2014/main" id="{61156CBF-D9B3-DD3C-8ACD-8372D9D326A2}"/>
              </a:ext>
            </a:extLst>
          </p:cNvPr>
          <p:cNvSpPr txBox="1"/>
          <p:nvPr/>
        </p:nvSpPr>
        <p:spPr>
          <a:xfrm>
            <a:off x="3120996" y="295874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友だち数（登録ユーザー数）は</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 </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導入できる 動線の本数、整備の進捗により変動</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数値はこのレンジの中間帯を基準とした試算例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58" name="Shape 12">
            <a:extLst>
              <a:ext uri="{FF2B5EF4-FFF2-40B4-BE49-F238E27FC236}">
                <a16:creationId xmlns:a16="http://schemas.microsoft.com/office/drawing/2014/main" id="{B7E37F63-4443-61AC-C507-6249BCEA8B03}"/>
              </a:ext>
            </a:extLst>
          </p:cNvPr>
          <p:cNvSpPr/>
          <p:nvPr/>
        </p:nvSpPr>
        <p:spPr>
          <a:xfrm>
            <a:off x="641683" y="376428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BC3F4295-B343-9929-79BF-0E90AC24E637}"/>
              </a:ext>
            </a:extLst>
          </p:cNvPr>
          <p:cNvSpPr/>
          <p:nvPr/>
        </p:nvSpPr>
        <p:spPr>
          <a:xfrm>
            <a:off x="972158" y="388315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2" name="Text 14">
            <a:extLst>
              <a:ext uri="{FF2B5EF4-FFF2-40B4-BE49-F238E27FC236}">
                <a16:creationId xmlns:a16="http://schemas.microsoft.com/office/drawing/2014/main" id="{4F7035AD-D7AD-4365-9CE5-C9A141A3387A}"/>
              </a:ext>
            </a:extLst>
          </p:cNvPr>
          <p:cNvSpPr txBox="1"/>
          <p:nvPr/>
        </p:nvSpPr>
        <p:spPr>
          <a:xfrm>
            <a:off x="972158" y="388315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4" name="Text 15">
            <a:extLst>
              <a:ext uri="{FF2B5EF4-FFF2-40B4-BE49-F238E27FC236}">
                <a16:creationId xmlns:a16="http://schemas.microsoft.com/office/drawing/2014/main" id="{86468759-90EC-B496-2A22-F5CEEF26BB6D}"/>
              </a:ext>
            </a:extLst>
          </p:cNvPr>
          <p:cNvSpPr txBox="1"/>
          <p:nvPr/>
        </p:nvSpPr>
        <p:spPr>
          <a:xfrm>
            <a:off x="1539086" y="401030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数値の位置づけ</a:t>
            </a:r>
            <a:endParaRPr lang="en-US" sz="1400" dirty="0">
              <a:latin typeface="メイリオ" panose="020B0604030504040204" pitchFamily="50" charset="-128"/>
              <a:ea typeface="メイリオ" panose="020B0604030504040204" pitchFamily="50" charset="-128"/>
            </a:endParaRPr>
          </a:p>
        </p:txBody>
      </p:sp>
      <p:sp>
        <p:nvSpPr>
          <p:cNvPr id="66" name="Text 16">
            <a:extLst>
              <a:ext uri="{FF2B5EF4-FFF2-40B4-BE49-F238E27FC236}">
                <a16:creationId xmlns:a16="http://schemas.microsoft.com/office/drawing/2014/main" id="{904F2FF7-14A1-F39C-A8CB-E14A07B717DD}"/>
              </a:ext>
            </a:extLst>
          </p:cNvPr>
          <p:cNvSpPr txBox="1"/>
          <p:nvPr/>
        </p:nvSpPr>
        <p:spPr>
          <a:xfrm>
            <a:off x="3120996" y="401030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開封率・クリック率・CVR・獲得件数は、業界一般値</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・弊社実績に基づく数値</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実際の実装可能領域</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によって変動する為、すり合わせの上で</a:t>
            </a: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精緻化する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68" name="Shape 17">
            <a:extLst>
              <a:ext uri="{FF2B5EF4-FFF2-40B4-BE49-F238E27FC236}">
                <a16:creationId xmlns:a16="http://schemas.microsoft.com/office/drawing/2014/main" id="{D7D046F7-16D5-8951-536B-10884484DE02}"/>
              </a:ext>
            </a:extLst>
          </p:cNvPr>
          <p:cNvSpPr/>
          <p:nvPr/>
        </p:nvSpPr>
        <p:spPr>
          <a:xfrm>
            <a:off x="641683" y="481584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0" name="Shape 18">
            <a:extLst>
              <a:ext uri="{FF2B5EF4-FFF2-40B4-BE49-F238E27FC236}">
                <a16:creationId xmlns:a16="http://schemas.microsoft.com/office/drawing/2014/main" id="{0D1FC647-1BC2-58C5-04C4-BE8B359A6F8D}"/>
              </a:ext>
            </a:extLst>
          </p:cNvPr>
          <p:cNvSpPr/>
          <p:nvPr/>
        </p:nvSpPr>
        <p:spPr>
          <a:xfrm>
            <a:off x="972158" y="493471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2" name="Text 19">
            <a:extLst>
              <a:ext uri="{FF2B5EF4-FFF2-40B4-BE49-F238E27FC236}">
                <a16:creationId xmlns:a16="http://schemas.microsoft.com/office/drawing/2014/main" id="{C7DA095C-5CED-C617-CCA7-2F5D20F16832}"/>
              </a:ext>
            </a:extLst>
          </p:cNvPr>
          <p:cNvSpPr txBox="1"/>
          <p:nvPr/>
        </p:nvSpPr>
        <p:spPr>
          <a:xfrm>
            <a:off x="972158" y="493471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4</a:t>
            </a:r>
            <a:endParaRPr lang="en-US" sz="1100" dirty="0">
              <a:latin typeface="メイリオ" panose="020B0604030504040204" pitchFamily="50" charset="-128"/>
              <a:ea typeface="メイリオ" panose="020B0604030504040204" pitchFamily="50" charset="-128"/>
            </a:endParaRPr>
          </a:p>
        </p:txBody>
      </p:sp>
      <p:sp>
        <p:nvSpPr>
          <p:cNvPr id="74" name="Text 20">
            <a:extLst>
              <a:ext uri="{FF2B5EF4-FFF2-40B4-BE49-F238E27FC236}">
                <a16:creationId xmlns:a16="http://schemas.microsoft.com/office/drawing/2014/main" id="{4C2E6E88-6123-B50A-ED01-1E64CDAD3404}"/>
              </a:ext>
            </a:extLst>
          </p:cNvPr>
          <p:cNvSpPr txBox="1"/>
          <p:nvPr/>
        </p:nvSpPr>
        <p:spPr>
          <a:xfrm>
            <a:off x="1539086" y="506186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費用について</a:t>
            </a:r>
            <a:endParaRPr lang="en-US" sz="1400" dirty="0">
              <a:latin typeface="メイリオ" panose="020B0604030504040204" pitchFamily="50" charset="-128"/>
              <a:ea typeface="メイリオ" panose="020B0604030504040204" pitchFamily="50" charset="-128"/>
            </a:endParaRPr>
          </a:p>
        </p:txBody>
      </p:sp>
      <p:sp>
        <p:nvSpPr>
          <p:cNvPr id="76" name="Text 21">
            <a:extLst>
              <a:ext uri="{FF2B5EF4-FFF2-40B4-BE49-F238E27FC236}">
                <a16:creationId xmlns:a16="http://schemas.microsoft.com/office/drawing/2014/main" id="{F5F82988-82B4-B2FE-6595-2DA583169883}"/>
              </a:ext>
            </a:extLst>
          </p:cNvPr>
          <p:cNvSpPr txBox="1"/>
          <p:nvPr/>
        </p:nvSpPr>
        <p:spPr>
          <a:xfrm>
            <a:off x="3120996" y="506186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本資料</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内</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記載の</a:t>
            </a:r>
            <a:r>
              <a:rPr lang="en-US" sz="1200" b="1" dirty="0" err="1">
                <a:solidFill>
                  <a:srgbClr val="1F2937"/>
                </a:solidFill>
                <a:latin typeface="メイリオ" panose="020B0604030504040204" pitchFamily="50" charset="-128"/>
                <a:ea typeface="メイリオ" panose="020B0604030504040204" pitchFamily="50" charset="-128"/>
                <a:cs typeface="Calibri" pitchFamily="34" charset="-120"/>
              </a:rPr>
              <a:t>費用（初期費用・月額費用）は</a:t>
            </a:r>
            <a:r>
              <a:rPr lang="ja-JP" altLang="en-US" sz="1200" b="1" dirty="0">
                <a:solidFill>
                  <a:srgbClr val="1F2937"/>
                </a:solidFill>
                <a:latin typeface="メイリオ" panose="020B0604030504040204" pitchFamily="50" charset="-128"/>
                <a:ea typeface="メイリオ" panose="020B0604030504040204" pitchFamily="50" charset="-128"/>
                <a:cs typeface="Calibri" pitchFamily="34" charset="-120"/>
              </a:rPr>
              <a:t>前提参考値</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施策範囲の合意後、別途お見積りをご案内</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19855447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1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1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1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1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登録後の自動ステップ配信と、セグメント別の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企画配信で、開封〜CVまでの導線を最適化する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1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1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個別チャット対応でユーザー体験を向上させる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1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1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2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では基本的に①②の施策を中心に展開をさせていただきながら、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LINE運用ツール</a:t>
            </a:r>
            <a:r>
              <a:rPr lang="ja-JP" altLang="en-US" sz="14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なし </a:t>
            </a:r>
            <a:r>
              <a:rPr lang="en-US" altLang="ja-JP" sz="1000" dirty="0">
                <a:solidFill>
                  <a:srgbClr val="FFFFFF"/>
                </a:solidFill>
                <a:latin typeface="メイリオ" panose="020B0604030504040204" pitchFamily="50" charset="-128"/>
                <a:ea typeface="メイリオ" panose="020B0604030504040204" pitchFamily="50" charset="-128"/>
              </a:rPr>
              <a:t>※OAM</a:t>
            </a:r>
            <a:r>
              <a:rPr lang="ja-JP" altLang="en-US" sz="1000" dirty="0">
                <a:solidFill>
                  <a:srgbClr val="FFFFFF"/>
                </a:solidFill>
                <a:latin typeface="メイリオ" panose="020B0604030504040204" pitchFamily="50" charset="-128"/>
                <a:ea typeface="メイリオ" panose="020B0604030504040204" pitchFamily="50" charset="-128"/>
              </a:rPr>
              <a:t>にて運用する</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あり</a:t>
            </a:r>
            <a:r>
              <a:rPr lang="ja-JP" altLang="en-US" sz="1400" dirty="0">
                <a:solidFill>
                  <a:srgbClr val="FFFFFF"/>
                </a:solidFill>
                <a:latin typeface="メイリオ" panose="020B0604030504040204" pitchFamily="50" charset="-128"/>
                <a:ea typeface="メイリオ" panose="020B0604030504040204" pitchFamily="50" charset="-128"/>
              </a:rPr>
              <a:t> </a:t>
            </a:r>
            <a:r>
              <a:rPr lang="en-US" altLang="ja-JP" sz="1100" dirty="0">
                <a:solidFill>
                  <a:srgbClr val="FFFFFF"/>
                </a:solidFill>
                <a:latin typeface="メイリオ" panose="020B0604030504040204" pitchFamily="50" charset="-128"/>
                <a:ea typeface="メイリオ" panose="020B0604030504040204" pitchFamily="50" charset="-128"/>
              </a:rPr>
              <a:t>※</a:t>
            </a:r>
            <a:r>
              <a:rPr lang="en-US" altLang="ja-JP" sz="1100" dirty="0" err="1">
                <a:solidFill>
                  <a:srgbClr val="FFFFFF"/>
                </a:solidFill>
                <a:latin typeface="メイリオ" panose="020B0604030504040204" pitchFamily="50" charset="-128"/>
                <a:ea typeface="メイリオ" panose="020B0604030504040204" pitchFamily="50" charset="-128"/>
              </a:rPr>
              <a:t>Lstep</a:t>
            </a:r>
            <a:r>
              <a:rPr lang="ja-JP" altLang="en-US" sz="1100" dirty="0">
                <a:solidFill>
                  <a:srgbClr val="FFFFFF"/>
                </a:solidFill>
                <a:latin typeface="メイリオ" panose="020B0604030504040204" pitchFamily="50" charset="-128"/>
                <a:ea typeface="メイリオ" panose="020B0604030504040204" pitchFamily="50" charset="-128"/>
              </a:rPr>
              <a:t>など汎用的なもの</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812800"/>
          </a:xfrm>
          <a:prstGeom prst="rect">
            <a:avLst/>
          </a:prstGeom>
          <a:solidFill>
            <a:srgbClr val="F0F2F7"/>
          </a:solidFill>
          <a:ln>
            <a:noFill/>
          </a:ln>
        </p:spPr>
        <p:txBody>
          <a:bodyPr wrap="square" lIns="177800" tIns="127000" rIns="177800" bIns="1270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2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200" dirty="0">
                <a:solidFill>
                  <a:srgbClr val="333333"/>
                </a:solidFill>
                <a:latin typeface="メイリオ" panose="020B0604030504040204" pitchFamily="50" charset="-128"/>
                <a:ea typeface="メイリオ" panose="020B0604030504040204" pitchFamily="50" charset="-128"/>
              </a:rPr>
              <a:t>。詳細なセグメント設定</a:t>
            </a:r>
            <a:r>
              <a:rPr lang="ja-JP" sz="1200" dirty="0">
                <a:solidFill>
                  <a:srgbClr val="333333"/>
                </a:solidFill>
                <a:latin typeface="メイリオ" panose="020B0604030504040204" pitchFamily="50" charset="-128"/>
                <a:ea typeface="メイリオ" panose="020B0604030504040204" pitchFamily="50" charset="-128"/>
              </a:rPr>
              <a:t>を左右する</a:t>
            </a:r>
            <a:r>
              <a:rPr lang="ja-JP" altLang="en-US" sz="1200" dirty="0">
                <a:solidFill>
                  <a:srgbClr val="333333"/>
                </a:solidFill>
                <a:latin typeface="メイリオ" panose="020B0604030504040204" pitchFamily="50" charset="-128"/>
                <a:ea typeface="メイリオ" panose="020B0604030504040204" pitchFamily="50" charset="-128"/>
              </a:rPr>
              <a:t>。</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2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ユーザーアンケートを活用して、利用ステータスやユーザー情報の回収→配信に活用といったフローを踏みたいところ。</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2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2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2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2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2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2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デメリット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また、学習コンテンツの展開でサービス理解度を引き上げ、来店意欲</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6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①離脱ユーザーの再学習による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②体験予約のみユーザーの削減 → 来店・契約サポート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r>
              <a:rPr lang="en-US" altLang="ja-JP" sz="1600" b="1" dirty="0">
                <a:solidFill>
                  <a:srgbClr val="002060"/>
                </a:solidFill>
                <a:latin typeface="Meiryo"/>
                <a:ea typeface="Meiryo"/>
                <a:cs typeface="Meiryo"/>
                <a:sym typeface="Meiryo"/>
              </a:rPr>
              <a:t>1</a:t>
            </a:r>
            <a:r>
              <a:rPr lang="ja-JP" altLang="en-US" sz="1600" b="1" dirty="0">
                <a:solidFill>
                  <a:srgbClr val="002060"/>
                </a:solidFill>
                <a:latin typeface="Meiryo"/>
                <a:ea typeface="Meiryo"/>
                <a:cs typeface="Meiryo"/>
                <a:sym typeface="Meiryo"/>
              </a:rPr>
              <a:t>アカウントあたり）</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869BC935-5DB9-4560-B356-B396B93603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7880C836-A2BC-2FC7-3468-9B9075E279C9}"/>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01B38E14-DD7E-D8D3-B41B-B992885905C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rPr>
              <a:t>¥120,000</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D37009A-88DD-861E-09A2-546B9A58E210}"/>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solidFill>
                <a:latin typeface="メイリオ" panose="020B0604030504040204" pitchFamily="50" charset="-128"/>
                <a:ea typeface="メイリオ" panose="020B0604030504040204" pitchFamily="50" charset="-128"/>
              </a:rPr>
              <a:t>固定： </a:t>
            </a:r>
            <a:r>
              <a:rPr lang="en-US" altLang="ja-JP" sz="1400" dirty="0">
                <a:solidFill>
                  <a:schemeClr val="tx1"/>
                </a:solidFill>
                <a:latin typeface="メイリオ" panose="020B0604030504040204" pitchFamily="50" charset="-128"/>
                <a:ea typeface="メイリオ" panose="020B0604030504040204" pitchFamily="50" charset="-128"/>
              </a:rPr>
              <a:t>¥40,000</a:t>
            </a: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初動</a:t>
            </a:r>
            <a:r>
              <a:rPr lang="en-US" altLang="ja-JP" sz="1000" dirty="0">
                <a:solidFill>
                  <a:schemeClr val="tx1"/>
                </a:solidFill>
                <a:latin typeface="メイリオ" panose="020B0604030504040204" pitchFamily="50" charset="-128"/>
                <a:ea typeface="メイリオ" panose="020B0604030504040204" pitchFamily="50" charset="-128"/>
              </a:rPr>
              <a:t>3</a:t>
            </a:r>
            <a:r>
              <a:rPr lang="ja-JP" altLang="en-US" sz="1000" dirty="0">
                <a:solidFill>
                  <a:schemeClr val="tx1"/>
                </a:solidFill>
                <a:latin typeface="メイリオ" panose="020B0604030504040204" pitchFamily="50" charset="-128"/>
                <a:ea typeface="メイリオ" panose="020B0604030504040204" pitchFamily="50" charset="-128"/>
              </a:rPr>
              <a:t>か月は</a:t>
            </a:r>
            <a:r>
              <a:rPr lang="en-US" altLang="ja-JP" sz="1000" dirty="0">
                <a:solidFill>
                  <a:schemeClr val="tx1"/>
                </a:solidFill>
                <a:latin typeface="メイリオ" panose="020B0604030504040204" pitchFamily="50" charset="-128"/>
                <a:ea typeface="メイリオ" panose="020B0604030504040204" pitchFamily="50" charset="-128"/>
              </a:rPr>
              <a:t>\20,000)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 成果：単価 ¥2,000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コンサル費（入会案内）： ¥50,000</a:t>
            </a:r>
            <a:r>
              <a:rPr lang="en-US" altLang="ja-JP" sz="1200" dirty="0">
                <a:solidFill>
                  <a:schemeClr val="tx1"/>
                </a:solidFill>
                <a:latin typeface="メイリオ" panose="020B0604030504040204" pitchFamily="50" charset="-128"/>
                <a:ea typeface="メイリオ" panose="020B0604030504040204" pitchFamily="50" charset="-128"/>
              </a:rPr>
              <a:t/>
            </a:r>
            <a:endParaRPr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FC496752-169B-38CE-883D-84ADB306D799}"/>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DA148636-1253-1384-2015-E2EB8852C9F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51BCDCE3-E0DC-64C9-5AE4-D62A1BB2F0B2}"/>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93377C5E-E0F0-CDD7-88D4-BB2DFD34BDB7}"/>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423E80D8-0677-EA4F-9E76-E96BE86C80F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月次投稿</a:t>
            </a:r>
          </a:p>
        </p:txBody>
      </p:sp>
      <p:sp>
        <p:nvSpPr>
          <p:cNvPr id="29" name="正方形/長方形 28">
            <a:extLst>
              <a:ext uri="{FF2B5EF4-FFF2-40B4-BE49-F238E27FC236}">
                <a16:creationId xmlns:a16="http://schemas.microsoft.com/office/drawing/2014/main" id="{0D7C10C7-D0BA-2429-4E3C-3C9B1A0BD42B}"/>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lang="en-US" altLang="ja-JP" sz="1000" dirty="0">
                <a:solidFill>
                  <a:schemeClr val="tx1"/>
                </a:solidFill>
                <a:latin typeface="メイリオ" panose="020B0604030504040204" pitchFamily="50" charset="-128"/>
                <a:ea typeface="メイリオ" panose="020B0604030504040204" pitchFamily="50" charset="-128"/>
              </a:rPr>
              <a:t>-3</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33" name="正方形/長方形 32">
            <a:extLst>
              <a:ext uri="{FF2B5EF4-FFF2-40B4-BE49-F238E27FC236}">
                <a16:creationId xmlns:a16="http://schemas.microsoft.com/office/drawing/2014/main" id="{7C01E0B6-089E-D0CB-E2F1-931D297B273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8E28FD05-4146-E3E7-076F-F0405244D430}"/>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0BCA0670-1E25-A137-DE69-4285D1972C41}"/>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BABF4F76-4A93-A922-BEA6-2B8E93EAFA64}"/>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B9BBAE1C-A24C-C8BA-EC21-E3C3004B99D5}"/>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5356490D-00B0-A4A4-46A8-C05373647872}"/>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固定プランのみ実施</a:t>
            </a:r>
          </a:p>
        </p:txBody>
      </p:sp>
      <p:sp>
        <p:nvSpPr>
          <p:cNvPr id="66" name="正方形/長方形 65">
            <a:extLst>
              <a:ext uri="{FF2B5EF4-FFF2-40B4-BE49-F238E27FC236}">
                <a16:creationId xmlns:a16="http://schemas.microsoft.com/office/drawing/2014/main" id="{1B7BC116-FC44-14F8-A570-7E8F4A6BB425}"/>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ステップ配信</a:t>
            </a:r>
          </a:p>
        </p:txBody>
      </p:sp>
      <p:sp>
        <p:nvSpPr>
          <p:cNvPr id="70" name="正方形/長方形 69">
            <a:extLst>
              <a:ext uri="{FF2B5EF4-FFF2-40B4-BE49-F238E27FC236}">
                <a16:creationId xmlns:a16="http://schemas.microsoft.com/office/drawing/2014/main" id="{4F35ECFF-76E2-1684-79A2-B91FDAC2A015}"/>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5-10</a:t>
            </a:r>
            <a:r>
              <a:rPr kumimoji="1" lang="ja-JP" altLang="en-US" sz="1000" dirty="0">
                <a:solidFill>
                  <a:schemeClr val="tx1"/>
                </a:solidFill>
                <a:latin typeface="メイリオ" panose="020B0604030504040204" pitchFamily="50" charset="-128"/>
                <a:ea typeface="メイリオ" panose="020B0604030504040204" pitchFamily="50" charset="-128"/>
              </a:rPr>
              <a:t>本程度</a:t>
            </a:r>
          </a:p>
        </p:txBody>
      </p:sp>
      <p:sp>
        <p:nvSpPr>
          <p:cNvPr id="80" name="正方形/長方形 79">
            <a:extLst>
              <a:ext uri="{FF2B5EF4-FFF2-40B4-BE49-F238E27FC236}">
                <a16:creationId xmlns:a16="http://schemas.microsoft.com/office/drawing/2014/main" id="{4D93C7A0-5D0C-D57D-DA97-71D42D2D5517}"/>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6F215F53-D8D8-2192-C7D6-49E3B32E635B}"/>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開封率</a:t>
            </a:r>
          </a:p>
        </p:txBody>
      </p:sp>
      <p:sp>
        <p:nvSpPr>
          <p:cNvPr id="84" name="正方形/長方形 83">
            <a:extLst>
              <a:ext uri="{FF2B5EF4-FFF2-40B4-BE49-F238E27FC236}">
                <a16:creationId xmlns:a16="http://schemas.microsoft.com/office/drawing/2014/main" id="{F86385E5-9ACB-BD7D-FFF1-9DCAFEF8B9DE}"/>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流入</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CV</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pic>
        <p:nvPicPr>
          <p:cNvPr id="9" name="図 8">
            <a:extLst>
              <a:ext uri="{FF2B5EF4-FFF2-40B4-BE49-F238E27FC236}">
                <a16:creationId xmlns:a16="http://schemas.microsoft.com/office/drawing/2014/main" id="{302B5E53-DD1F-7344-CD05-98B03E0E16A4}"/>
              </a:ext>
            </a:extLst>
          </p:cNvPr>
          <p:cNvPicPr>
            <a:picLocks noChangeAspect="1"/>
          </p:cNvPicPr>
          <p:nvPr/>
        </p:nvPicPr>
        <p:blipFill>
          <a:blip r:embed="rId3"/>
          <a:stretch>
            <a:fillRect/>
          </a:stretch>
        </p:blipFill>
        <p:spPr>
          <a:xfrm>
            <a:off x="4313434" y="6065356"/>
            <a:ext cx="913375" cy="353208"/>
          </a:xfrm>
          <a:prstGeom prst="rect">
            <a:avLst/>
          </a:prstGeom>
        </p:spPr>
      </p:pic>
      <p:sp>
        <p:nvSpPr>
          <p:cNvPr id="12" name="正方形/長方形 11">
            <a:extLst>
              <a:ext uri="{FF2B5EF4-FFF2-40B4-BE49-F238E27FC236}">
                <a16:creationId xmlns:a16="http://schemas.microsoft.com/office/drawing/2014/main" id="{70CAF89E-948C-8174-50B7-652B3FB76359}"/>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挨拶メッセ</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45597D5C-32BC-9BDB-E27E-1B11A18AC67F}"/>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18" name="正方形/長方形 17">
            <a:extLst>
              <a:ext uri="{FF2B5EF4-FFF2-40B4-BE49-F238E27FC236}">
                <a16:creationId xmlns:a16="http://schemas.microsoft.com/office/drawing/2014/main" id="{090DF4E7-D151-CBC4-8EE6-8BDDE6D781F4}"/>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BF367B4C-D17E-5506-831E-4FEBA9B6D301}"/>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E7327D35-78D9-E895-4E23-A03DB4CE4A0C}"/>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a:t>
            </a:r>
          </a:p>
        </p:txBody>
      </p:sp>
      <p:sp>
        <p:nvSpPr>
          <p:cNvPr id="30" name="正方形/長方形 29">
            <a:extLst>
              <a:ext uri="{FF2B5EF4-FFF2-40B4-BE49-F238E27FC236}">
                <a16:creationId xmlns:a16="http://schemas.microsoft.com/office/drawing/2014/main" id="{A410D671-A6B2-5AE8-F4DD-54B5BBF27257}"/>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構築</a:t>
            </a:r>
            <a:r>
              <a:rPr kumimoji="1" lang="en-US" altLang="ja-JP" sz="1000" dirty="0">
                <a:solidFill>
                  <a:schemeClr val="tx1"/>
                </a:solidFill>
                <a:latin typeface="メイリオ" panose="020B0604030504040204" pitchFamily="50" charset="-128"/>
                <a:ea typeface="メイリオ" panose="020B0604030504040204" pitchFamily="50" charset="-128"/>
              </a:rPr>
              <a:t>×10</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4" name="正方形/長方形 33">
            <a:extLst>
              <a:ext uri="{FF2B5EF4-FFF2-40B4-BE49-F238E27FC236}">
                <a16:creationId xmlns:a16="http://schemas.microsoft.com/office/drawing/2014/main" id="{9B0CC343-76BC-C31F-6705-9435FB623B52}"/>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ツール契約</a:t>
            </a:r>
          </a:p>
        </p:txBody>
      </p:sp>
      <p:sp>
        <p:nvSpPr>
          <p:cNvPr id="38" name="正方形/長方形 37">
            <a:extLst>
              <a:ext uri="{FF2B5EF4-FFF2-40B4-BE49-F238E27FC236}">
                <a16:creationId xmlns:a16="http://schemas.microsoft.com/office/drawing/2014/main" id="{49ED896C-A686-A829-DAA8-B1457276C2D4}"/>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rPr>
              <a:t>代行</a:t>
            </a:r>
          </a:p>
        </p:txBody>
      </p:sp>
      <p:sp>
        <p:nvSpPr>
          <p:cNvPr id="42" name="正方形/長方形 41">
            <a:extLst>
              <a:ext uri="{FF2B5EF4-FFF2-40B4-BE49-F238E27FC236}">
                <a16:creationId xmlns:a16="http://schemas.microsoft.com/office/drawing/2014/main" id="{C65954D2-6D54-912C-BFAD-8EED93525578}"/>
              </a:ext>
            </a:extLst>
          </p:cNvPr>
          <p:cNvSpPr/>
          <p:nvPr/>
        </p:nvSpPr>
        <p:spPr>
          <a:xfrm>
            <a:off x="379976" y="5185247"/>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47" name="正方形/長方形 46">
            <a:extLst>
              <a:ext uri="{FF2B5EF4-FFF2-40B4-BE49-F238E27FC236}">
                <a16:creationId xmlns:a16="http://schemas.microsoft.com/office/drawing/2014/main" id="{2038AF25-F542-6F19-F289-5B1A91D9EA78}"/>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11" name="テキスト ボックス 10">
            <a:extLst>
              <a:ext uri="{FF2B5EF4-FFF2-40B4-BE49-F238E27FC236}">
                <a16:creationId xmlns:a16="http://schemas.microsoft.com/office/drawing/2014/main" id="{2241A890-8CD9-48E8-BAC6-6130718F79E3}"/>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約1,100人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CA402BB-70E0-1712-5155-FB13E1EFE697}"/>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78%</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F1C71F01-1D77-2899-A43D-B86BFA13E86D}"/>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約620件/月</a:t>
            </a:r>
            <a:r>
              <a:rPr lang="ja-JP" altLang="en-US" sz="1200" b="1" dirty="0">
                <a:solidFill>
                  <a:srgbClr val="FF0000"/>
                </a:solidFill>
                <a:latin typeface="メイリオ" panose="020B0604030504040204" pitchFamily="50" charset="-128"/>
                <a:ea typeface="メイリオ" panose="020B0604030504040204" pitchFamily="50" charset="-128"/>
              </a:rPr>
              <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12〜13件/月</a:t>
            </a:r>
            <a:r>
              <a:rPr lang="ja-JP" altLang="en-US" sz="1200" b="1" dirty="0">
                <a:solidFill>
                  <a:srgbClr val="FF0000"/>
                </a:solidFill>
                <a:latin typeface="メイリオ" panose="020B0604030504040204" pitchFamily="50" charset="-128"/>
                <a:ea typeface="メイリオ" panose="020B0604030504040204" pitchFamily="50" charset="-128"/>
              </a:rPr>
              <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62E19C90-7458-8C36-243E-9FE1F44520EC}"/>
              </a:ext>
            </a:extLst>
          </p:cNvPr>
          <p:cNvSpPr txBox="1"/>
          <p:nvPr/>
        </p:nvSpPr>
        <p:spPr>
          <a:xfrm>
            <a:off x="8130449" y="3866031"/>
            <a:ext cx="1414960" cy="276999"/>
          </a:xfrm>
          <a:prstGeom prst="rect">
            <a:avLst/>
          </a:prstGeom>
          <a:noFill/>
        </p:spPr>
        <p:txBody>
          <a:bodyPr wrap="square">
            <a:spAutoFit/>
          </a:bodyPr>
          <a:lstStyle/>
          <a:p>
            <a:pPr algn="ctr"/>
            <a:r>
              <a:rPr lang="ja-JP" altLang="en-US" sz="1200" b="1" dirty="0">
                <a:latin typeface="メイリオ" panose="020B0604030504040204" pitchFamily="50" charset="-128"/>
                <a:ea typeface="メイリオ" panose="020B0604030504040204" pitchFamily="50" charset="-128"/>
              </a:rPr>
              <a:t>（CVR：約2%／半年累計44件）</a:t>
            </a:r>
            <a:r>
              <a:rPr lang="en-US" altLang="ja-JP" sz="1200" b="1" dirty="0">
                <a:latin typeface="メイリオ" panose="020B0604030504040204" pitchFamily="50" charset="-128"/>
                <a:ea typeface="メイリオ" panose="020B0604030504040204" pitchFamily="50" charset="-128"/>
              </a:rPr>
              <a:t/>
            </a:r>
            <a:r>
              <a:rPr lang="ja-JP" altLang="en-US" sz="1200" b="1" dirty="0">
                <a:latin typeface="メイリオ" panose="020B0604030504040204" pitchFamily="50" charset="-128"/>
                <a:ea typeface="メイリオ" panose="020B0604030504040204" pitchFamily="50" charset="-128"/>
              </a:rPr>
              <a:t/>
            </a:r>
            <a:r>
              <a:rPr lang="en-US" altLang="ja-JP" sz="1200" b="1" dirty="0">
                <a:latin typeface="メイリオ" panose="020B0604030504040204" pitchFamily="50" charset="-128"/>
                <a:ea typeface="メイリオ" panose="020B0604030504040204" pitchFamily="50" charset="-128"/>
              </a:rPr>
              <a:t/>
            </a:r>
            <a:r>
              <a:rPr lang="ja-JP" altLang="en-US" sz="1200" b="1" dirty="0">
                <a:latin typeface="メイリオ" panose="020B0604030504040204" pitchFamily="50" charset="-128"/>
                <a:ea typeface="メイリオ" panose="020B0604030504040204" pitchFamily="50" charset="-128"/>
              </a:rPr>
              <a:t/>
            </a:r>
            <a:endParaRPr kumimoji="1" lang="ja-JP" altLang="en-US" sz="1200" b="1" dirty="0">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49DD51C1-FCAA-0EB3-1ED3-B50C2E0837D1}"/>
              </a:ext>
            </a:extLst>
          </p:cNvPr>
          <p:cNvSpPr/>
          <p:nvPr/>
        </p:nvSpPr>
        <p:spPr>
          <a:xfrm>
            <a:off x="3408319" y="5611884"/>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36" name="正方形/長方形 35">
            <a:extLst>
              <a:ext uri="{FF2B5EF4-FFF2-40B4-BE49-F238E27FC236}">
                <a16:creationId xmlns:a16="http://schemas.microsoft.com/office/drawing/2014/main" id="{4742D744-393C-4F54-8842-2CCE1D93DD52}"/>
              </a:ext>
            </a:extLst>
          </p:cNvPr>
          <p:cNvSpPr/>
          <p:nvPr/>
        </p:nvSpPr>
        <p:spPr>
          <a:xfrm>
            <a:off x="4657463" y="5611884"/>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26585262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
        <p:nvSpPr>
          <p:cNvPr id="20" name="TextBox 19"/>
          <p:cNvSpPr txBox="1"/>
          <p:nvPr/>
        </p:nvSpPr>
        <p:spPr>
          <a:xfrm>
            <a:off x="274320" y="6126480"/>
            <a:ext cx="9354312" cy="640080"/>
          </a:xfrm>
          <a:prstGeom prst="rect">
            <a:avLst/>
          </a:prstGeom>
          <a:noFill/>
        </p:spPr>
        <p:txBody>
          <a:bodyPr wrap="square">
            <a:spAutoFit/>
          </a:bodyPr>
          <a:lstStyle/>
          <a:p>
            <a:pPr algn="ctr"/>
            <a:r>
              <a:rPr sz="1300" b="1">
                <a:solidFill>
                  <a:srgbClr val="BF4E0E"/>
                </a:solidFill>
                <a:latin typeface="Meiryo"/>
                <a:ea typeface="Meiryo"/>
                <a:cs typeface="Meiryo"/>
              </a:rPr>
              <a:t>広告は、CVの瞬間で接点が終わる。LINEは、CVの先まで追いきれる。</a:t>
            </a:r>
          </a:p>
          <a:p>
            <a:pPr algn="ctr"/>
            <a:r>
              <a:rPr sz="1100">
                <a:solidFill>
                  <a:srgbClr val="333333"/>
                </a:solidFill>
                <a:latin typeface="Meiryo"/>
                <a:ea typeface="Meiryo"/>
                <a:cs typeface="Meiryo"/>
              </a:rPr>
              <a:t>一度つながれば、接点を持ち続け、情報を渡し続けられる——体験予約で終わらず、来場→入会→継続まで並走できるのがLINE最大の魅力です。</a:t>
            </a:r>
          </a:p>
        </p:txBody>
      </p:sp>
    </p:spTree>
    <p:extLst>
      <p:ext uri="{BB962C8B-B14F-4D97-AF65-F5344CB8AC3E}">
        <p14:creationId xmlns:p14="http://schemas.microsoft.com/office/powerpoint/2010/main" val="32122905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724011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実施施策【忍者ナイン】</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100" b="0" i="0" u="none" strike="noStrike" kern="1200" cap="none" spc="-1" normalizeH="0" baseline="0" noProof="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友だち追加後14日間で、診断結果をもとに内容を出し分けながら体験予約への案内を行う（未予約者には再アプローチ、体験予約完了者は別シナリオへ分岐）</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0日後</a:t>
                      </a:r>
                    </a:p>
                  </a:txBody>
                  <a:tcPr>
                    <a:solidFill>
                      <a:srgbClr val="FFFFFF"/>
                    </a:solidFill>
                  </a:tcPr>
                </a:tc>
                <a:tc>
                  <a:txBody>
                    <a:bodyPr/>
                    <a:lstStyle/>
                    <a:p>
                      <a:r>
                        <a:rPr sz="1050" b="0">
                          <a:solidFill>
                            <a:srgbClr val="333333"/>
                          </a:solidFill>
                          <a:latin typeface="Meiryo"/>
                          <a:ea typeface="メイリオ"/>
                          <a:cs typeface="Meiryo"/>
                        </a:rPr>
                        <a:t>全員</a:t>
                      </a:r>
                    </a:p>
                  </a:txBody>
                  <a:tcPr>
                    <a:solidFill>
                      <a:srgbClr val="FFFFFF"/>
                    </a:solidFill>
                  </a:tcPr>
                </a:tc>
                <a:tc>
                  <a:txBody>
                    <a:bodyPr/>
                    <a:lstStyle/>
                    <a:p>
                      <a:r>
                        <a:rPr sz="1050" b="0">
                          <a:solidFill>
                            <a:srgbClr val="333333"/>
                          </a:solidFill>
                          <a:latin typeface="Meiryo"/>
                          <a:ea typeface="メイリオ"/>
                          <a:cs typeface="Meiryo"/>
                        </a:rPr>
                        <a:t>あいさつ＋30秒スポーツ適性診断への案内</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1日後</a:t>
                      </a:r>
                    </a:p>
                  </a:txBody>
                  <a:tcPr>
                    <a:solidFill>
                      <a:srgbClr val="FFFFFF"/>
                    </a:solidFill>
                  </a:tcPr>
                </a:tc>
                <a:tc>
                  <a:txBody>
                    <a:bodyPr/>
                    <a:lstStyle/>
                    <a:p>
                      <a:r>
                        <a:rPr sz="1050" b="0">
                          <a:solidFill>
                            <a:srgbClr val="333333"/>
                          </a:solidFill>
                          <a:latin typeface="Meiryo"/>
                          <a:ea typeface="メイリオ"/>
                          <a:cs typeface="Meiryo"/>
                        </a:rPr>
                        <a:t>診断未回答者</a:t>
                      </a:r>
                    </a:p>
                  </a:txBody>
                  <a:tcPr>
                    <a:solidFill>
                      <a:srgbClr val="FFFFFF"/>
                    </a:solidFill>
                  </a:tcPr>
                </a:tc>
                <a:tc>
                  <a:txBody>
                    <a:bodyPr/>
                    <a:lstStyle/>
                    <a:p>
                      <a:r>
                        <a:rPr sz="1050" b="0">
                          <a:solidFill>
                            <a:srgbClr val="333333"/>
                          </a:solidFill>
                          <a:latin typeface="Meiryo"/>
                          <a:ea typeface="メイリオ"/>
                          <a:cs typeface="Meiryo"/>
                        </a:rPr>
                        <a:t>診断リマインド</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2日後</a:t>
                      </a:r>
                    </a:p>
                  </a:txBody>
                  <a:tcPr>
                    <a:solidFill>
                      <a:srgbClr val="FFFFFF"/>
                    </a:solidFill>
                  </a:tcPr>
                </a:tc>
                <a:tc>
                  <a:txBody>
                    <a:bodyPr/>
                    <a:lstStyle/>
                    <a:p>
                      <a:r>
                        <a:rPr sz="1050" b="0">
                          <a:solidFill>
                            <a:srgbClr val="333333"/>
                          </a:solidFill>
                          <a:latin typeface="Meiryo"/>
                          <a:ea typeface="メイリオ"/>
                          <a:cs typeface="Meiryo"/>
                        </a:rPr>
                        <a:t>診断回答者</a:t>
                      </a:r>
                    </a:p>
                  </a:txBody>
                  <a:tcPr>
                    <a:solidFill>
                      <a:srgbClr val="FFFFFF"/>
                    </a:solidFill>
                  </a:tcPr>
                </a:tc>
                <a:tc>
                  <a:txBody>
                    <a:bodyPr/>
                    <a:lstStyle/>
                    <a:p>
                      <a:r>
                        <a:rPr sz="1050" b="0">
                          <a:solidFill>
                            <a:srgbClr val="333333"/>
                          </a:solidFill>
                          <a:latin typeface="Meiryo"/>
                          <a:ea typeface="メイリオ"/>
                          <a:cs typeface="Meiryo"/>
                        </a:rPr>
                        <a:t>診断結果配信＋タイプ別おすすめ種目紹介</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4日後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同タイプの在籍生の声・成長エピソード</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6日後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体験予約への案内</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9日後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「非認知能力」訴求コンテンツ</a:t>
                      </a:r>
                    </a:p>
                  </a:txBody>
                  <a:tcPr>
                    <a:solidFill>
                      <a:srgbClr val="FFFFFF"/>
                    </a:solidFill>
                  </a:tcPr>
                </a:tc>
                <a:extLst>
                  <a:ext uri="{0D108BD9-81ED-4DB2-BD59-A6C34878D82A}">
                    <a16:rowId xmlns:a16="http://schemas.microsoft.com/office/drawing/2014/main" val="10006"/>
                  </a:ext>
                </a:extLst>
              </a:tr>
              <a:tr h="411480">
                <a:tc>
                  <a:txBody>
                    <a:bodyPr/>
                    <a:lstStyle/>
                    <a:p>
                      <a:r>
                        <a:rPr sz="1050" b="0">
                          <a:solidFill>
                            <a:srgbClr val="333333"/>
                          </a:solidFill>
                          <a:latin typeface="Meiryo"/>
                          <a:ea typeface="メイリオ"/>
                          <a:cs typeface="Meiryo"/>
                        </a:rPr>
                        <a:t>12日後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保護者の疑問Q&amp;A（月謝・送迎・振替等）</a:t>
                      </a:r>
                    </a:p>
                  </a:txBody>
                  <a:tcPr>
                    <a:solidFill>
                      <a:srgbClr val="FFFFFF"/>
                    </a:solidFill>
                  </a:tcPr>
                </a:tc>
                <a:extLst>
                  <a:ext uri="{0D108BD9-81ED-4DB2-BD59-A6C34878D82A}">
                    <a16:rowId xmlns:a16="http://schemas.microsoft.com/office/drawing/2014/main" val="10007"/>
                  </a:ext>
                </a:extLst>
              </a:tr>
              <a:tr h="411480">
                <a:tc>
                  <a:txBody>
                    <a:bodyPr/>
                    <a:lstStyle/>
                    <a:p>
                      <a:r>
                        <a:rPr sz="1050" b="0">
                          <a:solidFill>
                            <a:srgbClr val="333333"/>
                          </a:solidFill>
                          <a:latin typeface="Meiryo"/>
                          <a:ea typeface="メイリオ"/>
                          <a:cs typeface="Meiryo"/>
                        </a:rPr>
                        <a:t>14日後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体験予約の最終案内</a:t>
                      </a: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548640"/>
          </a:xfrm>
          <a:prstGeom prst="rect">
            <a:avLst/>
          </a:prstGeom>
          <a:noFill/>
        </p:spPr>
        <p:txBody>
          <a:bodyPr wrap="square">
            <a:spAutoFit/>
          </a:bodyPr>
          <a:lstStyle/>
          <a:p>
            <a:r>
              <a:rPr sz="1300" b="1">
                <a:solidFill>
                  <a:srgbClr val="BF4E0E"/>
                </a:solidFill>
                <a:latin typeface="Meiryo"/>
                <a:ea typeface="メイリオ"/>
                <a:cs typeface="Meiryo"/>
              </a:rPr>
              <a:t>体験予約44件（6ヶ月累計）× 入会引き上げ率40% ＝ 入会17件として算出</a:t>
            </a:r>
          </a:p>
          <a:p>
            <a:r>
              <a:rPr sz="1150" b="1">
                <a:solidFill>
                  <a:srgbClr val="BF4E0E"/>
                </a:solidFill>
                <a:latin typeface="Meiryo"/>
                <a:ea typeface="メイリオ"/>
                <a:cs typeface="Meiryo"/>
              </a:rPr>
              <a:t>予約で止めず、入会までLINEで追いきります（体験前リマインド→当日案内→体験後フォロー→入会のご案内を別シナリオで配信）</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出典：Googleトレンド「習い事」／前後検索KW「習い事」／競合調査(biima sports)</a:t>
            </a:r>
          </a:p>
        </p:txBody>
      </p:sp>
    </p:spTree>
    <p:extLst>
      <p:ext uri="{BB962C8B-B14F-4D97-AF65-F5344CB8AC3E}">
        <p14:creationId xmlns:p14="http://schemas.microsoft.com/office/powerpoint/2010/main" val="14519451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実施施策【チャイルドアイズ】</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100" b="0" i="0" u="none" strike="noStrike" kern="1200" cap="none" spc="-1" normalizeH="0" baseline="0" noProof="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友だち追加後14日間で、診断結果をもとに内容を出し分けながら体験予約への案内を行う（未予約者には再アプローチ、体験予約完了者は別シナリオへ分岐）</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0日後</a:t>
                      </a:r>
                    </a:p>
                  </a:txBody>
                  <a:tcPr>
                    <a:solidFill>
                      <a:srgbClr val="FFFFFF"/>
                    </a:solidFill>
                  </a:tcPr>
                </a:tc>
                <a:tc>
                  <a:txBody>
                    <a:bodyPr/>
                    <a:lstStyle/>
                    <a:p>
                      <a:r>
                        <a:rPr sz="1050" b="0">
                          <a:solidFill>
                            <a:srgbClr val="333333"/>
                          </a:solidFill>
                          <a:latin typeface="Meiryo"/>
                          <a:ea typeface="メイリオ"/>
                          <a:cs typeface="Meiryo"/>
                        </a:rPr>
                        <a:t>全員</a:t>
                      </a:r>
                    </a:p>
                  </a:txBody>
                  <a:tcPr>
                    <a:solidFill>
                      <a:srgbClr val="FFFFFF"/>
                    </a:solidFill>
                  </a:tcPr>
                </a:tc>
                <a:tc>
                  <a:txBody>
                    <a:bodyPr/>
                    <a:lstStyle/>
                    <a:p>
                      <a:r>
                        <a:rPr sz="1050" b="0">
                          <a:solidFill>
                            <a:srgbClr val="333333"/>
                          </a:solidFill>
                          <a:latin typeface="Meiryo"/>
                          <a:ea typeface="メイリオ"/>
                          <a:cs typeface="Meiryo"/>
                        </a:rPr>
                        <a:t>あいさつ＋知育タイプ診断（3問）への案内</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1日後</a:t>
                      </a:r>
                    </a:p>
                  </a:txBody>
                  <a:tcPr>
                    <a:solidFill>
                      <a:srgbClr val="FFFFFF"/>
                    </a:solidFill>
                  </a:tcPr>
                </a:tc>
                <a:tc>
                  <a:txBody>
                    <a:bodyPr/>
                    <a:lstStyle/>
                    <a:p>
                      <a:r>
                        <a:rPr sz="1050" b="0">
                          <a:solidFill>
                            <a:srgbClr val="333333"/>
                          </a:solidFill>
                          <a:latin typeface="Meiryo"/>
                          <a:ea typeface="メイリオ"/>
                          <a:cs typeface="Meiryo"/>
                        </a:rPr>
                        <a:t>診断未回答者</a:t>
                      </a:r>
                    </a:p>
                  </a:txBody>
                  <a:tcPr>
                    <a:solidFill>
                      <a:srgbClr val="FFFFFF"/>
                    </a:solidFill>
                  </a:tcPr>
                </a:tc>
                <a:tc>
                  <a:txBody>
                    <a:bodyPr/>
                    <a:lstStyle/>
                    <a:p>
                      <a:r>
                        <a:rPr sz="1050" b="0">
                          <a:solidFill>
                            <a:srgbClr val="333333"/>
                          </a:solidFill>
                          <a:latin typeface="Meiryo"/>
                          <a:ea typeface="メイリオ"/>
                          <a:cs typeface="Meiryo"/>
                        </a:rPr>
                        <a:t>診断リマインド</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2日後</a:t>
                      </a:r>
                    </a:p>
                  </a:txBody>
                  <a:tcPr>
                    <a:solidFill>
                      <a:srgbClr val="FFFFFF"/>
                    </a:solidFill>
                  </a:tcPr>
                </a:tc>
                <a:tc>
                  <a:txBody>
                    <a:bodyPr/>
                    <a:lstStyle/>
                    <a:p>
                      <a:r>
                        <a:rPr sz="1050" b="0">
                          <a:solidFill>
                            <a:srgbClr val="333333"/>
                          </a:solidFill>
                          <a:latin typeface="Meiryo"/>
                          <a:ea typeface="メイリオ"/>
                          <a:cs typeface="Meiryo"/>
                        </a:rPr>
                        <a:t>診断回答者</a:t>
                      </a:r>
                    </a:p>
                  </a:txBody>
                  <a:tcPr>
                    <a:solidFill>
                      <a:srgbClr val="FFFFFF"/>
                    </a:solidFill>
                  </a:tcPr>
                </a:tc>
                <a:tc>
                  <a:txBody>
                    <a:bodyPr/>
                    <a:lstStyle/>
                    <a:p>
                      <a:r>
                        <a:rPr sz="1050" b="0">
                          <a:solidFill>
                            <a:srgbClr val="333333"/>
                          </a:solidFill>
                          <a:latin typeface="Meiryo"/>
                          <a:ea typeface="メイリオ"/>
                          <a:cs typeface="Meiryo"/>
                        </a:rPr>
                        <a:t>診断結果配信＋タイプ別学習アプローチ紹介</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4日後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同タイプの卒業生・在籍生の声</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6日後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体験予約への案内</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9日後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「知育→受験」の2段階設計を訴求</a:t>
                      </a:r>
                    </a:p>
                  </a:txBody>
                  <a:tcPr>
                    <a:solidFill>
                      <a:srgbClr val="FFFFFF"/>
                    </a:solidFill>
                  </a:tcPr>
                </a:tc>
                <a:extLst>
                  <a:ext uri="{0D108BD9-81ED-4DB2-BD59-A6C34878D82A}">
                    <a16:rowId xmlns:a16="http://schemas.microsoft.com/office/drawing/2014/main" val="10006"/>
                  </a:ext>
                </a:extLst>
              </a:tr>
              <a:tr h="411480">
                <a:tc>
                  <a:txBody>
                    <a:bodyPr/>
                    <a:lstStyle/>
                    <a:p>
                      <a:r>
                        <a:rPr sz="1050" b="0">
                          <a:solidFill>
                            <a:srgbClr val="333333"/>
                          </a:solidFill>
                          <a:latin typeface="Meiryo"/>
                          <a:ea typeface="メイリオ"/>
                          <a:cs typeface="Meiryo"/>
                        </a:rPr>
                        <a:t>12日後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保護者の疑問Q&amp;A（費用・年齢・通塾頻度等）</a:t>
                      </a:r>
                    </a:p>
                  </a:txBody>
                  <a:tcPr>
                    <a:solidFill>
                      <a:srgbClr val="FFFFFF"/>
                    </a:solidFill>
                  </a:tcPr>
                </a:tc>
                <a:extLst>
                  <a:ext uri="{0D108BD9-81ED-4DB2-BD59-A6C34878D82A}">
                    <a16:rowId xmlns:a16="http://schemas.microsoft.com/office/drawing/2014/main" val="10007"/>
                  </a:ext>
                </a:extLst>
              </a:tr>
              <a:tr h="411480">
                <a:tc>
                  <a:txBody>
                    <a:bodyPr/>
                    <a:lstStyle/>
                    <a:p>
                      <a:r>
                        <a:rPr sz="1050" b="0">
                          <a:solidFill>
                            <a:srgbClr val="333333"/>
                          </a:solidFill>
                          <a:latin typeface="Meiryo"/>
                          <a:ea typeface="メイリオ"/>
                          <a:cs typeface="Meiryo"/>
                        </a:rPr>
                        <a:t>14日後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体験予約の最終案内</a:t>
                      </a: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548640"/>
          </a:xfrm>
          <a:prstGeom prst="rect">
            <a:avLst/>
          </a:prstGeom>
          <a:noFill/>
        </p:spPr>
        <p:txBody>
          <a:bodyPr wrap="square">
            <a:spAutoFit/>
          </a:bodyPr>
          <a:lstStyle/>
          <a:p>
            <a:r>
              <a:rPr sz="1300" b="1">
                <a:solidFill>
                  <a:srgbClr val="BF4E0E"/>
                </a:solidFill>
                <a:latin typeface="Meiryo"/>
                <a:ea typeface="メイリオ"/>
                <a:cs typeface="Meiryo"/>
              </a:rPr>
              <a:t>体験予約44件（6ヶ月累計）× 入会引き上げ率25% ＝ 入会12件として算出</a:t>
            </a:r>
          </a:p>
          <a:p>
            <a:r>
              <a:rPr sz="1150" b="1">
                <a:solidFill>
                  <a:srgbClr val="BF4E0E"/>
                </a:solidFill>
                <a:latin typeface="Meiryo"/>
                <a:ea typeface="メイリオ"/>
                <a:cs typeface="Meiryo"/>
              </a:rPr>
              <a:t>予約で止めず、入会までLINEで追いきります（体験前リマインド→当日案内→体験後フォロー→入会のご案内を別シナリオで配信）</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出典：Googleトレンド「受験」／前後検索KW「幼児教室」／競合調査(理英会／どんちゃか)</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想定企画【忍者ナイン】</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65760"/>
          </a:xfrm>
          <a:prstGeom prst="rect">
            <a:avLst/>
          </a:prstGeom>
          <a:noFill/>
        </p:spPr>
        <p:txBody>
          <a:bodyPr wrap="square">
            <a:spAutoFit/>
          </a:bodyPr>
          <a:lstStyle/>
          <a:p>
            <a:pPr algn="l"/>
            <a:r>
              <a:rPr sz="1100" b="0" i="0">
                <a:solidFill>
                  <a:srgbClr val="333333"/>
                </a:solidFill>
                <a:latin typeface="Meiryo"/>
                <a:ea typeface="メイリオ"/>
                <a:cs typeface="Meiryo"/>
              </a:rPr>
              <a:t>年間を通じて、新規獲得・友だち増加・満足度向上を狙う企画投稿を月別に配置する</a:t>
            </a:r>
          </a:p>
        </p:txBody>
      </p:sp>
      <p:graphicFrame>
        <p:nvGraphicFramePr>
          <p:cNvPr id="46" name="Table 45"/>
          <p:cNvGraphicFramePr>
            <a:graphicFrameLocks noGrp="1"/>
          </p:cNvGraphicFramePr>
          <p:nvPr/>
        </p:nvGraphicFramePr>
        <p:xfrm>
          <a:off x="457200" y="1371600"/>
          <a:ext cx="8988551" cy="411480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1-3月</a:t>
                      </a:r>
                    </a:p>
                  </a:txBody>
                  <a:tcPr>
                    <a:solidFill>
                      <a:srgbClr val="FFFFFF"/>
                    </a:solidFill>
                  </a:tcPr>
                </a:tc>
                <a:tc>
                  <a:txBody>
                    <a:bodyPr/>
                    <a:lstStyle/>
                    <a:p>
                      <a:r>
                        <a:rPr sz="1050" b="0">
                          <a:solidFill>
                            <a:srgbClr val="333333"/>
                          </a:solidFill>
                          <a:latin typeface="Meiryo"/>
                          <a:ea typeface="メイリオ"/>
                          <a:cs typeface="Meiryo"/>
                        </a:rPr>
                        <a:t>新学年スタート訴求</a:t>
                      </a:r>
                    </a:p>
                  </a:txBody>
                  <a:tcPr>
                    <a:solidFill>
                      <a:srgbClr val="FFFFFF"/>
                    </a:solidFill>
                  </a:tcPr>
                </a:tc>
                <a:tc>
                  <a:txBody>
                    <a:bodyPr/>
                    <a:lstStyle/>
                    <a:p>
                      <a:r>
                        <a:rPr sz="1050" b="0">
                          <a:solidFill>
                            <a:srgbClr val="333333"/>
                          </a:solidFill>
                          <a:latin typeface="Meiryo"/>
                          <a:ea typeface="メイリオ"/>
                          <a:cs typeface="Meiryo"/>
                        </a:rPr>
                        <a:t>新学年に合わせた習い事検討層への訴求</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1-3月</a:t>
                      </a:r>
                    </a:p>
                  </a:txBody>
                  <a:tcPr>
                    <a:solidFill>
                      <a:srgbClr val="FFFFFF"/>
                    </a:solidFill>
                  </a:tcPr>
                </a:tc>
                <a:tc>
                  <a:txBody>
                    <a:bodyPr/>
                    <a:lstStyle/>
                    <a:p>
                      <a:r>
                        <a:rPr sz="1050" b="0">
                          <a:solidFill>
                            <a:srgbClr val="333333"/>
                          </a:solidFill>
                          <a:latin typeface="Meiryo"/>
                          <a:ea typeface="メイリオ"/>
                          <a:cs typeface="Meiryo"/>
                        </a:rPr>
                        <a:t>入会金半額キャンペーン</a:t>
                      </a:r>
                    </a:p>
                  </a:txBody>
                  <a:tcPr>
                    <a:solidFill>
                      <a:srgbClr val="FFFFFF"/>
                    </a:solidFill>
                  </a:tcPr>
                </a:tc>
                <a:tc>
                  <a:txBody>
                    <a:bodyPr/>
                    <a:lstStyle/>
                    <a:p>
                      <a:r>
                        <a:rPr sz="105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4-5月</a:t>
                      </a:r>
                    </a:p>
                  </a:txBody>
                  <a:tcPr>
                    <a:solidFill>
                      <a:srgbClr val="FFFFFF"/>
                    </a:solidFill>
                  </a:tcPr>
                </a:tc>
                <a:tc>
                  <a:txBody>
                    <a:bodyPr/>
                    <a:lstStyle/>
                    <a:p>
                      <a:r>
                        <a:rPr sz="1050" b="0">
                          <a:solidFill>
                            <a:srgbClr val="333333"/>
                          </a:solidFill>
                          <a:latin typeface="Meiryo"/>
                          <a:ea typeface="メイリオ"/>
                          <a:cs typeface="Meiryo"/>
                        </a:rPr>
                        <a:t>お友だち紹介キャンペーン強化</a:t>
                      </a:r>
                    </a:p>
                  </a:txBody>
                  <a:tcPr>
                    <a:solidFill>
                      <a:srgbClr val="FFFFFF"/>
                    </a:solidFill>
                  </a:tcPr>
                </a:tc>
                <a:tc>
                  <a:txBody>
                    <a:bodyPr/>
                    <a:lstStyle/>
                    <a:p>
                      <a:r>
                        <a:rPr sz="1050" b="0">
                          <a:solidFill>
                            <a:srgbClr val="333333"/>
                          </a:solidFill>
                          <a:latin typeface="Meiryo"/>
                          <a:ea typeface="メイリオ"/>
                          <a:cs typeface="Meiryo"/>
                        </a:rPr>
                        <a:t>在籍生からの紹介を促進</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6月</a:t>
                      </a:r>
                    </a:p>
                  </a:txBody>
                  <a:tcPr>
                    <a:solidFill>
                      <a:srgbClr val="FFFFFF"/>
                    </a:solidFill>
                  </a:tcPr>
                </a:tc>
                <a:tc>
                  <a:txBody>
                    <a:bodyPr/>
                    <a:lstStyle/>
                    <a:p>
                      <a:r>
                        <a:rPr sz="1050" b="0">
                          <a:solidFill>
                            <a:srgbClr val="333333"/>
                          </a:solidFill>
                          <a:latin typeface="Meiryo"/>
                          <a:ea typeface="メイリオ"/>
                          <a:cs typeface="Meiryo"/>
                        </a:rPr>
                        <a:t>LINEリサーチでニーズ収集</a:t>
                      </a:r>
                    </a:p>
                  </a:txBody>
                  <a:tcPr>
                    <a:solidFill>
                      <a:srgbClr val="FFFFFF"/>
                    </a:solidFill>
                  </a:tcPr>
                </a:tc>
                <a:tc>
                  <a:txBody>
                    <a:bodyPr/>
                    <a:lstStyle/>
                    <a:p>
                      <a:r>
                        <a:rPr sz="1050" b="0">
                          <a:solidFill>
                            <a:srgbClr val="333333"/>
                          </a:solidFill>
                          <a:latin typeface="Meiryo"/>
                          <a:ea typeface="メイリオ"/>
                          <a:cs typeface="Meiryo"/>
                        </a:rPr>
                        <a:t>簡易アンケートで次の企画のネタを収集</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7-8月</a:t>
                      </a:r>
                    </a:p>
                  </a:txBody>
                  <a:tcPr>
                    <a:solidFill>
                      <a:srgbClr val="FFFFFF"/>
                    </a:solidFill>
                  </a:tcPr>
                </a:tc>
                <a:tc>
                  <a:txBody>
                    <a:bodyPr/>
                    <a:lstStyle/>
                    <a:p>
                      <a:r>
                        <a:rPr sz="1050" b="0">
                          <a:solidFill>
                            <a:srgbClr val="333333"/>
                          </a:solidFill>
                          <a:latin typeface="Meiryo"/>
                          <a:ea typeface="メイリオ"/>
                          <a:cs typeface="Meiryo"/>
                        </a:rPr>
                        <a:t>複合種目デー投稿</a:t>
                      </a:r>
                    </a:p>
                  </a:txBody>
                  <a:tcPr>
                    <a:solidFill>
                      <a:srgbClr val="FFFFFF"/>
                    </a:solidFill>
                  </a:tcPr>
                </a:tc>
                <a:tc>
                  <a:txBody>
                    <a:bodyPr/>
                    <a:lstStyle/>
                    <a:p>
                      <a:r>
                        <a:rPr sz="1050" b="0">
                          <a:solidFill>
                            <a:srgbClr val="333333"/>
                          </a:solidFill>
                          <a:latin typeface="Meiryo"/>
                          <a:ea typeface="メイリオ"/>
                          <a:cs typeface="Meiryo"/>
                        </a:rPr>
                        <a:t>月替わりで種目を変える強みを可視化</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8月</a:t>
                      </a:r>
                    </a:p>
                  </a:txBody>
                  <a:tcPr>
                    <a:solidFill>
                      <a:srgbClr val="FFFFFF"/>
                    </a:solidFill>
                  </a:tcPr>
                </a:tc>
                <a:tc>
                  <a:txBody>
                    <a:bodyPr/>
                    <a:lstStyle/>
                    <a:p>
                      <a:r>
                        <a:rPr sz="1050" b="0">
                          <a:solidFill>
                            <a:srgbClr val="333333"/>
                          </a:solidFill>
                          <a:latin typeface="Meiryo"/>
                          <a:ea typeface="メイリオ"/>
                          <a:cs typeface="Meiryo"/>
                        </a:rPr>
                        <a:t>短期集中イベント＋先着特典</a:t>
                      </a:r>
                    </a:p>
                  </a:txBody>
                  <a:tcPr>
                    <a:solidFill>
                      <a:srgbClr val="FFFFFF"/>
                    </a:solidFill>
                  </a:tcPr>
                </a:tc>
                <a:tc>
                  <a:txBody>
                    <a:bodyPr/>
                    <a:lstStyle/>
                    <a:p>
                      <a:r>
                        <a:rPr sz="1050" b="0">
                          <a:solidFill>
                            <a:srgbClr val="333333"/>
                          </a:solidFill>
                          <a:latin typeface="Meiryo"/>
                          <a:ea typeface="メイリオ"/>
                          <a:cs typeface="Meiryo"/>
                        </a:rPr>
                        <a:t>夏休み短期教室の告知</a:t>
                      </a:r>
                    </a:p>
                  </a:txBody>
                  <a:tcPr>
                    <a:solidFill>
                      <a:srgbClr val="FFFFFF"/>
                    </a:solidFill>
                  </a:tcPr>
                </a:tc>
                <a:extLst>
                  <a:ext uri="{0D108BD9-81ED-4DB2-BD59-A6C34878D82A}">
                    <a16:rowId xmlns:a16="http://schemas.microsoft.com/office/drawing/2014/main" val="10006"/>
                  </a:ext>
                </a:extLst>
              </a:tr>
              <a:tr h="411480">
                <a:tc>
                  <a:txBody>
                    <a:bodyPr/>
                    <a:lstStyle/>
                    <a:p>
                      <a:r>
                        <a:rPr sz="1050" b="0">
                          <a:solidFill>
                            <a:srgbClr val="333333"/>
                          </a:solidFill>
                          <a:latin typeface="Meiryo"/>
                          <a:ea typeface="メイリオ"/>
                          <a:cs typeface="Meiryo"/>
                        </a:rPr>
                        <a:t>9-10月</a:t>
                      </a:r>
                    </a:p>
                  </a:txBody>
                  <a:tcPr>
                    <a:solidFill>
                      <a:srgbClr val="FFFFFF"/>
                    </a:solidFill>
                  </a:tcPr>
                </a:tc>
                <a:tc>
                  <a:txBody>
                    <a:bodyPr/>
                    <a:lstStyle/>
                    <a:p>
                      <a:r>
                        <a:rPr sz="1050" b="0">
                          <a:solidFill>
                            <a:srgbClr val="333333"/>
                          </a:solidFill>
                          <a:latin typeface="Meiryo"/>
                          <a:ea typeface="メイリオ"/>
                          <a:cs typeface="Meiryo"/>
                        </a:rPr>
                        <a:t>運動会シーズン訴求</a:t>
                      </a:r>
                    </a:p>
                  </a:txBody>
                  <a:tcPr>
                    <a:solidFill>
                      <a:srgbClr val="FFFFFF"/>
                    </a:solidFill>
                  </a:tcPr>
                </a:tc>
                <a:tc>
                  <a:txBody>
                    <a:bodyPr/>
                    <a:lstStyle/>
                    <a:p>
                      <a:r>
                        <a:rPr sz="1050" b="0">
                          <a:solidFill>
                            <a:srgbClr val="333333"/>
                          </a:solidFill>
                          <a:latin typeface="Meiryo"/>
                          <a:ea typeface="メイリオ"/>
                          <a:cs typeface="Meiryo"/>
                        </a:rPr>
                        <a:t>運動会に向けた訴求コンテンツ</a:t>
                      </a:r>
                    </a:p>
                  </a:txBody>
                  <a:tcPr>
                    <a:solidFill>
                      <a:srgbClr val="FFFFFF"/>
                    </a:solidFill>
                  </a:tcPr>
                </a:tc>
                <a:extLst>
                  <a:ext uri="{0D108BD9-81ED-4DB2-BD59-A6C34878D82A}">
                    <a16:rowId xmlns:a16="http://schemas.microsoft.com/office/drawing/2014/main" val="10007"/>
                  </a:ext>
                </a:extLst>
              </a:tr>
              <a:tr h="411480">
                <a:tc>
                  <a:txBody>
                    <a:bodyPr/>
                    <a:lstStyle/>
                    <a:p>
                      <a:r>
                        <a:rPr sz="1050" b="0">
                          <a:solidFill>
                            <a:srgbClr val="333333"/>
                          </a:solidFill>
                          <a:latin typeface="Meiryo"/>
                          <a:ea typeface="メイリオ"/>
                          <a:cs typeface="Meiryo"/>
                        </a:rPr>
                        <a:t>9-10月</a:t>
                      </a:r>
                    </a:p>
                  </a:txBody>
                  <a:tcPr>
                    <a:solidFill>
                      <a:srgbClr val="FFFFFF"/>
                    </a:solidFill>
                  </a:tcPr>
                </a:tc>
                <a:tc>
                  <a:txBody>
                    <a:bodyPr/>
                    <a:lstStyle/>
                    <a:p>
                      <a:r>
                        <a:rPr sz="1050" b="0">
                          <a:solidFill>
                            <a:srgbClr val="333333"/>
                          </a:solidFill>
                          <a:latin typeface="Meiryo"/>
                          <a:ea typeface="メイリオ"/>
                          <a:cs typeface="Meiryo"/>
                        </a:rPr>
                        <a:t>運動能力の見える化企画</a:t>
                      </a:r>
                    </a:p>
                  </a:txBody>
                  <a:tcPr>
                    <a:solidFill>
                      <a:srgbClr val="FFFFFF"/>
                    </a:solidFill>
                  </a:tcPr>
                </a:tc>
                <a:tc>
                  <a:txBody>
                    <a:bodyPr/>
                    <a:lstStyle/>
                    <a:p>
                      <a:r>
                        <a:rPr sz="1050" b="0">
                          <a:solidFill>
                            <a:srgbClr val="333333"/>
                          </a:solidFill>
                          <a:latin typeface="Meiryo"/>
                          <a:ea typeface="メイリオ"/>
                          <a:cs typeface="Meiryo"/>
                        </a:rPr>
                        <a:t>入会時と現在の適性診断結果を比較</a:t>
                      </a:r>
                    </a:p>
                  </a:txBody>
                  <a:tcPr>
                    <a:solidFill>
                      <a:srgbClr val="FFFFFF"/>
                    </a:solidFill>
                  </a:tcPr>
                </a:tc>
                <a:extLst>
                  <a:ext uri="{0D108BD9-81ED-4DB2-BD59-A6C34878D82A}">
                    <a16:rowId xmlns:a16="http://schemas.microsoft.com/office/drawing/2014/main" val="10008"/>
                  </a:ext>
                </a:extLst>
              </a:tr>
              <a:tr h="411480">
                <a:tc>
                  <a:txBody>
                    <a:bodyPr/>
                    <a:lstStyle/>
                    <a:p>
                      <a:r>
                        <a:rPr sz="1050" b="0">
                          <a:solidFill>
                            <a:srgbClr val="333333"/>
                          </a:solidFill>
                          <a:latin typeface="Meiryo"/>
                          <a:ea typeface="メイリオ"/>
                          <a:cs typeface="Meiryo"/>
                        </a:rPr>
                        <a:t>11-12月</a:t>
                      </a:r>
                    </a:p>
                  </a:txBody>
                  <a:tcPr>
                    <a:solidFill>
                      <a:srgbClr val="FFFFFF"/>
                    </a:solidFill>
                  </a:tcPr>
                </a:tc>
                <a:tc>
                  <a:txBody>
                    <a:bodyPr/>
                    <a:lstStyle/>
                    <a:p>
                      <a:r>
                        <a:rPr sz="1050" b="0">
                          <a:solidFill>
                            <a:srgbClr val="333333"/>
                          </a:solidFill>
                          <a:latin typeface="Meiryo"/>
                          <a:ea typeface="メイリオ"/>
                          <a:cs typeface="Meiryo"/>
                        </a:rPr>
                        <a:t>短期集中イベント＋先着特典</a:t>
                      </a:r>
                    </a:p>
                  </a:txBody>
                  <a:tcPr>
                    <a:solidFill>
                      <a:srgbClr val="FFFFFF"/>
                    </a:solidFill>
                  </a:tcPr>
                </a:tc>
                <a:tc>
                  <a:txBody>
                    <a:bodyPr/>
                    <a:lstStyle/>
                    <a:p>
                      <a:r>
                        <a:rPr sz="1050" b="0">
                          <a:solidFill>
                            <a:srgbClr val="333333"/>
                          </a:solidFill>
                          <a:latin typeface="Meiryo"/>
                          <a:ea typeface="メイリオ"/>
                          <a:cs typeface="Meiryo"/>
                        </a:rPr>
                        <a:t>冬休み短期教室の告知</a:t>
                      </a:r>
                    </a:p>
                  </a:txBody>
                  <a:tcPr>
                    <a:solidFill>
                      <a:srgbClr val="FFFFFF"/>
                    </a:solidFill>
                  </a:tcPr>
                </a:tc>
                <a:extLst>
                  <a:ext uri="{0D108BD9-81ED-4DB2-BD59-A6C34878D82A}">
                    <a16:rowId xmlns:a16="http://schemas.microsoft.com/office/drawing/2014/main" val="10009"/>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出典：GoogleトレンドKW「習い事」「運動会」／競合調査（biima sports）</a:t>
            </a:r>
          </a:p>
        </p:txBody>
      </p:sp>
    </p:spTree>
    <p:extLst>
      <p:ext uri="{BB962C8B-B14F-4D97-AF65-F5344CB8AC3E}">
        <p14:creationId xmlns:p14="http://schemas.microsoft.com/office/powerpoint/2010/main" val="12698227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想定企画【チャイルドアイズ】</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65760"/>
          </a:xfrm>
          <a:prstGeom prst="rect">
            <a:avLst/>
          </a:prstGeom>
          <a:noFill/>
        </p:spPr>
        <p:txBody>
          <a:bodyPr wrap="square">
            <a:spAutoFit/>
          </a:bodyPr>
          <a:lstStyle/>
          <a:p>
            <a:pPr algn="l"/>
            <a:r>
              <a:rPr sz="1100" b="0" i="0">
                <a:solidFill>
                  <a:srgbClr val="333333"/>
                </a:solidFill>
                <a:latin typeface="Meiryo"/>
                <a:ea typeface="メイリオ"/>
                <a:cs typeface="Meiryo"/>
              </a:rPr>
              <a:t>年間を通じて、新規獲得・友だち増加・満足度向上を狙う企画投稿を月別に配置する</a:t>
            </a:r>
          </a:p>
        </p:txBody>
      </p:sp>
      <p:graphicFrame>
        <p:nvGraphicFramePr>
          <p:cNvPr id="46" name="Table 45"/>
          <p:cNvGraphicFramePr>
            <a:graphicFrameLocks noGrp="1"/>
          </p:cNvGraphicFramePr>
          <p:nvPr/>
        </p:nvGraphicFramePr>
        <p:xfrm>
          <a:off x="457200" y="1371600"/>
          <a:ext cx="8988551" cy="288036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1-2月</a:t>
                      </a:r>
                    </a:p>
                  </a:txBody>
                  <a:tcPr>
                    <a:solidFill>
                      <a:srgbClr val="FFFFFF"/>
                    </a:solidFill>
                  </a:tcPr>
                </a:tc>
                <a:tc>
                  <a:txBody>
                    <a:bodyPr/>
                    <a:lstStyle/>
                    <a:p>
                      <a:r>
                        <a:rPr sz="1050" b="0">
                          <a:solidFill>
                            <a:srgbClr val="333333"/>
                          </a:solidFill>
                          <a:latin typeface="Meiryo"/>
                          <a:ea typeface="メイリオ"/>
                          <a:cs typeface="Meiryo"/>
                        </a:rPr>
                        <a:t>合格実績・成長エピソード配信</a:t>
                      </a:r>
                    </a:p>
                  </a:txBody>
                  <a:tcPr>
                    <a:solidFill>
                      <a:srgbClr val="FFFFFF"/>
                    </a:solidFill>
                  </a:tcPr>
                </a:tc>
                <a:tc>
                  <a:txBody>
                    <a:bodyPr/>
                    <a:lstStyle/>
                    <a:p>
                      <a:r>
                        <a:rPr sz="1050" b="0">
                          <a:solidFill>
                            <a:srgbClr val="333333"/>
                          </a:solidFill>
                          <a:latin typeface="Meiryo"/>
                          <a:ea typeface="メイリオ"/>
                          <a:cs typeface="Meiryo"/>
                        </a:rPr>
                        <a:t>受験シーズン直後に卒業生実績を配信</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2-3月</a:t>
                      </a:r>
                    </a:p>
                  </a:txBody>
                  <a:tcPr>
                    <a:solidFill>
                      <a:srgbClr val="FFFFFF"/>
                    </a:solidFill>
                  </a:tcPr>
                </a:tc>
                <a:tc>
                  <a:txBody>
                    <a:bodyPr/>
                    <a:lstStyle/>
                    <a:p>
                      <a:r>
                        <a:rPr sz="1050" b="0">
                          <a:solidFill>
                            <a:srgbClr val="333333"/>
                          </a:solidFill>
                          <a:latin typeface="Meiryo"/>
                          <a:ea typeface="メイリオ"/>
                          <a:cs typeface="Meiryo"/>
                        </a:rPr>
                        <a:t>入会金半額キャンペーン</a:t>
                      </a:r>
                    </a:p>
                  </a:txBody>
                  <a:tcPr>
                    <a:solidFill>
                      <a:srgbClr val="FFFFFF"/>
                    </a:solidFill>
                  </a:tcPr>
                </a:tc>
                <a:tc>
                  <a:txBody>
                    <a:bodyPr/>
                    <a:lstStyle/>
                    <a:p>
                      <a:r>
                        <a:rPr sz="105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4月</a:t>
                      </a:r>
                    </a:p>
                  </a:txBody>
                  <a:tcPr>
                    <a:solidFill>
                      <a:srgbClr val="FFFFFF"/>
                    </a:solidFill>
                  </a:tcPr>
                </a:tc>
                <a:tc>
                  <a:txBody>
                    <a:bodyPr/>
                    <a:lstStyle/>
                    <a:p>
                      <a:r>
                        <a:rPr sz="1050" b="0">
                          <a:solidFill>
                            <a:srgbClr val="333333"/>
                          </a:solidFill>
                          <a:latin typeface="Meiryo"/>
                          <a:ea typeface="メイリオ"/>
                          <a:cs typeface="Meiryo"/>
                        </a:rPr>
                        <a:t>ショップカード機能の継続特典スタート告知</a:t>
                      </a:r>
                    </a:p>
                  </a:txBody>
                  <a:tcPr>
                    <a:solidFill>
                      <a:srgbClr val="FFFFFF"/>
                    </a:solidFill>
                  </a:tcPr>
                </a:tc>
                <a:tc>
                  <a:txBody>
                    <a:bodyPr/>
                    <a:lstStyle/>
                    <a:p>
                      <a:r>
                        <a:rPr sz="1050" b="0">
                          <a:solidFill>
                            <a:srgbClr val="333333"/>
                          </a:solidFill>
                          <a:latin typeface="Meiryo"/>
                          <a:ea typeface="メイリオ"/>
                          <a:cs typeface="Meiryo"/>
                        </a:rPr>
                        <a:t>継続来塾のインセンティブ設計</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5-6月</a:t>
                      </a:r>
                    </a:p>
                  </a:txBody>
                  <a:tcPr>
                    <a:solidFill>
                      <a:srgbClr val="FFFFFF"/>
                    </a:solidFill>
                  </a:tcPr>
                </a:tc>
                <a:tc>
                  <a:txBody>
                    <a:bodyPr/>
                    <a:lstStyle/>
                    <a:p>
                      <a:r>
                        <a:rPr sz="1050" b="0">
                          <a:solidFill>
                            <a:srgbClr val="333333"/>
                          </a:solidFill>
                          <a:latin typeface="Meiryo"/>
                          <a:ea typeface="メイリオ"/>
                          <a:cs typeface="Meiryo"/>
                        </a:rPr>
                        <a:t>無料ペーパー教材プレゼント企画</a:t>
                      </a:r>
                    </a:p>
                  </a:txBody>
                  <a:tcPr>
                    <a:solidFill>
                      <a:srgbClr val="FFFFFF"/>
                    </a:solidFill>
                  </a:tcPr>
                </a:tc>
                <a:tc>
                  <a:txBody>
                    <a:bodyPr/>
                    <a:lstStyle/>
                    <a:p>
                      <a:r>
                        <a:rPr sz="1050" b="0">
                          <a:solidFill>
                            <a:srgbClr val="333333"/>
                          </a:solidFill>
                          <a:latin typeface="Meiryo"/>
                          <a:ea typeface="メイリオ"/>
                          <a:cs typeface="Meiryo"/>
                        </a:rPr>
                        <a:t>友だち限定の知育プリント配布</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7-8月</a:t>
                      </a:r>
                    </a:p>
                  </a:txBody>
                  <a:tcPr>
                    <a:solidFill>
                      <a:srgbClr val="FFFFFF"/>
                    </a:solidFill>
                  </a:tcPr>
                </a:tc>
                <a:tc>
                  <a:txBody>
                    <a:bodyPr/>
                    <a:lstStyle/>
                    <a:p>
                      <a:r>
                        <a:rPr sz="1050" b="0">
                          <a:solidFill>
                            <a:srgbClr val="333333"/>
                          </a:solidFill>
                          <a:latin typeface="Meiryo"/>
                          <a:ea typeface="メイリオ"/>
                          <a:cs typeface="Meiryo"/>
                        </a:rPr>
                        <a:t>保護者向け合格戦略セミナー案内</a:t>
                      </a:r>
                    </a:p>
                  </a:txBody>
                  <a:tcPr>
                    <a:solidFill>
                      <a:srgbClr val="FFFFFF"/>
                    </a:solidFill>
                  </a:tcPr>
                </a:tc>
                <a:tc>
                  <a:txBody>
                    <a:bodyPr/>
                    <a:lstStyle/>
                    <a:p>
                      <a:r>
                        <a:rPr sz="1050" b="0">
                          <a:solidFill>
                            <a:srgbClr val="333333"/>
                          </a:solidFill>
                          <a:latin typeface="Meiryo"/>
                          <a:ea typeface="メイリオ"/>
                          <a:cs typeface="Meiryo"/>
                        </a:rPr>
                        <a:t>受験直前期の相談会導線</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9-11月</a:t>
                      </a:r>
                    </a:p>
                  </a:txBody>
                  <a:tcPr>
                    <a:solidFill>
                      <a:srgbClr val="FFFFFF"/>
                    </a:solidFill>
                  </a:tcPr>
                </a:tc>
                <a:tc>
                  <a:txBody>
                    <a:bodyPr/>
                    <a:lstStyle/>
                    <a:p>
                      <a:r>
                        <a:rPr sz="1050" b="0">
                          <a:solidFill>
                            <a:srgbClr val="333333"/>
                          </a:solidFill>
                          <a:latin typeface="Meiryo"/>
                          <a:ea typeface="メイリオ"/>
                          <a:cs typeface="Meiryo"/>
                        </a:rPr>
                        <a:t>お友だち紹介キャンペーン強化</a:t>
                      </a:r>
                    </a:p>
                  </a:txBody>
                  <a:tcPr>
                    <a:solidFill>
                      <a:srgbClr val="FFFFFF"/>
                    </a:solidFill>
                  </a:tcPr>
                </a:tc>
                <a:tc>
                  <a:txBody>
                    <a:bodyPr/>
                    <a:lstStyle/>
                    <a:p>
                      <a:r>
                        <a:rPr sz="1050" b="0">
                          <a:solidFill>
                            <a:srgbClr val="333333"/>
                          </a:solidFill>
                          <a:latin typeface="Meiryo"/>
                          <a:ea typeface="メイリオ"/>
                          <a:cs typeface="Meiryo"/>
                        </a:rPr>
                        <a:t>受験本番に向け母数を増やす</a:t>
                      </a:r>
                    </a:p>
                  </a:txBody>
                  <a:tcPr>
                    <a:solidFill>
                      <a:srgbClr val="FFFFFF"/>
                    </a:solidFill>
                  </a:tcPr>
                </a:tc>
                <a:extLst>
                  <a:ext uri="{0D108BD9-81ED-4DB2-BD59-A6C34878D82A}">
                    <a16:rowId xmlns:a16="http://schemas.microsoft.com/office/drawing/2014/main" val="10006"/>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出典：GoogleトレンドKW「受験」／競合調査（理英会／どんちゃか）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つの施策カテゴリ（診断コンテンツ・複数サービスを前提に整理）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・料金・使用量等のよくある質問にLINEチャットボットで自動回答</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・診断結果に応じたQ&amp;Aパターンも自動化候補</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・契約内容等の複雑な問い合わせは有人チャットで個別対応</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・タグ管理で乗り換え検討等、優先度の高い問い合わせを可視化</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・暮らしスマイルアンケートをLINEリサーチ機能で実施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　　</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・複数エリア（17アカウント）共通のFAQ対応を効率化</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・診断結果送付〜ステップ配信までをGAS等で自動化</a:t>
            </a:r>
          </a:p>
        </p:txBody>
      </p:sp>
      <p:sp>
        <p:nvSpPr>
          <p:cNvPr id="25" name="Rounded Rectangle 3">
            <a:extLst>
              <a:ext uri="{FF2B5EF4-FFF2-40B4-BE49-F238E27FC236}">
                <a16:creationId xmlns:a16="http://schemas.microsoft.com/office/drawing/2014/main" id="{C7F21D87-4A15-CE7E-773C-B513888D6575}"/>
              </a:ext>
            </a:extLst>
          </p:cNvPr>
          <p:cNvSpPr/>
          <p:nvPr/>
        </p:nvSpPr>
        <p:spPr>
          <a:xfrm>
            <a:off x="243659" y="4020903"/>
            <a:ext cx="9425441" cy="2497059"/>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4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料金プラン診断コンテンツ</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マイサーラ会員登録案内</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料金確定通知もLINEで受け取れる</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地域別WEB申込キャンペーン</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100" b="0" strike="noStrike" spc="-1">
                <a:solidFill>
                  <a:srgbClr val="9AA1AE"/>
                </a:solidFill>
                <a:latin typeface="メイリオ" panose="020B0604030504040204" pitchFamily="50" charset="-128"/>
                <a:ea typeface="メイリオ" panose="020B0604030504040204" pitchFamily="50" charset="-128"/>
              </a:rPr>
              <a:t>※「料金プラン診断」はサイト上に簡易診断フォームを設置し、結果をLINEで送付する動線を想定（要開発）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保護者ユーザーのカスタマージャーニー（8フェーズ）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接触〜入会・継続までの動線設計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143119</TotalTime>
  <Words>6261</Words>
  <Application>Microsoft Office PowerPoint</Application>
  <PresentationFormat>A4 210 x 297 mm</PresentationFormat>
  <Paragraphs>1587</Paragraphs>
  <Slides>58</Slides>
  <Notes>28</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58</vt:i4>
      </vt:variant>
    </vt:vector>
  </HeadingPairs>
  <TitlesOfParts>
    <vt:vector size="65"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1953</cp:revision>
  <cp:lastPrinted>2022-11-01T11:38:14Z</cp:lastPrinted>
  <dcterms:created xsi:type="dcterms:W3CDTF">2015-09-04T09:21:15Z</dcterms:created>
  <dcterms:modified xsi:type="dcterms:W3CDTF">2026-09-18T09:24:08Z</dcterms:modified>
</cp:coreProperties>
</file>