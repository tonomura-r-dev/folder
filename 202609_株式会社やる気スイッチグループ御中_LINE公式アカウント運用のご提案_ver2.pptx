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93" r:id="rId5"/>
    <p:sldId id="2972" r:id="rId6"/>
    <p:sldId id="2994" r:id="rId7"/>
    <p:sldId id="2995" r:id="rId8"/>
    <p:sldId id="3003" r:id="rId9"/>
    <p:sldId id="3002" r:id="rId10"/>
    <p:sldId id="3001" r:id="rId11"/>
    <p:sldId id="2999" r:id="rId12"/>
    <p:sldId id="3004" r:id="rId13"/>
    <p:sldId id="2736" r:id="rId14"/>
    <p:sldId id="2987" r:id="rId15"/>
    <p:sldId id="2997" r:id="rId16"/>
    <p:sldId id="2996" r:id="rId17"/>
    <p:sldId id="2973" r:id="rId18"/>
    <p:sldId id="2977" r:id="rId19"/>
    <p:sldId id="2979" r:id="rId20"/>
    <p:sldId id="3000" r:id="rId21"/>
    <p:sldId id="2908" r:id="rId22"/>
    <p:sldId id="2998" r:id="rId23"/>
    <p:sldId id="2990" r:id="rId24"/>
    <p:sldId id="3005" r:id="rId25"/>
    <p:sldId id="2986" r:id="rId26"/>
    <p:sldId id="3006" r:id="rId27"/>
    <p:sldId id="2991" r:id="rId28"/>
    <p:sldId id="2737" r:id="rId29"/>
    <p:sldId id="2989" r:id="rId30"/>
    <p:sldId id="2563" r:id="rId31"/>
    <p:sldId id="2959" r:id="rId32"/>
    <p:sldId id="2970" r:id="rId33"/>
    <p:sldId id="2968" r:id="rId34"/>
    <p:sldId id="2969" r:id="rId35"/>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1975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1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100" b="0" dirty="0" err="1">
                <a:solidFill>
                  <a:srgbClr val="5A6378"/>
                </a:solidFill>
                <a:latin typeface="メイリオ" panose="020B0604030504040204" pitchFamily="50" charset="-128"/>
                <a:ea typeface="メイリオ" panose="020B0604030504040204" pitchFamily="50" charset="-128"/>
              </a:rPr>
              <a:t>が中心だが</a:t>
            </a:r>
            <a:r>
              <a:rPr sz="1100" b="0" dirty="0">
                <a:solidFill>
                  <a:srgbClr val="5A6378"/>
                </a:solidFill>
                <a:latin typeface="メイリオ" panose="020B0604030504040204" pitchFamily="50" charset="-128"/>
                <a:ea typeface="メイリオ" panose="020B0604030504040204" pitchFamily="50" charset="-128"/>
              </a:rPr>
              <a:t>、</a:t>
            </a:r>
            <a:endParaRPr lang="en-US" sz="11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100" dirty="0">
                <a:solidFill>
                  <a:srgbClr val="5A6378"/>
                </a:solidFill>
                <a:latin typeface="メイリオ" panose="020B0604030504040204" pitchFamily="50" charset="-128"/>
                <a:ea typeface="メイリオ" panose="020B0604030504040204" pitchFamily="50" charset="-128"/>
              </a:rPr>
              <a:t>　</a:t>
            </a:r>
            <a:r>
              <a:rPr sz="11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a:solidFill>
                  <a:srgbClr val="9AA1AE"/>
                </a:solidFill>
                <a:latin typeface="メイリオ" panose="020B0604030504040204" pitchFamily="50" charset="-128"/>
                <a:ea typeface="メイリオ" panose="020B0604030504040204" pitchFamily="50" charset="-128"/>
              </a:rPr>
              <a:t>出典：①np-labo.com（2023年10月, N=300）　②統計データ（4〜6歳 回答者数103）　③マイナビウーマン（2022年8月, N=300）</a:t>
            </a:r>
          </a:p>
          <a:p>
            <a:pPr algn="l">
              <a:lnSpc>
                <a:spcPct val="120000"/>
              </a:lnSpc>
            </a:pPr>
            <a:r>
              <a:rPr sz="850" b="0">
                <a:solidFill>
                  <a:srgbClr val="9AA1AE"/>
                </a:solidFill>
                <a:latin typeface="メイリオ" panose="020B0604030504040204" pitchFamily="50" charset="-128"/>
                <a:ea typeface="メイリオ" panose="020B0604030504040204" pitchFamily="50" charset="-128"/>
              </a:rPr>
              <a:t>④babytech.jp「未就学児の習い事事情2025」（N=1,436）　⑤PR TIMES（学年別 週あたり実施日数）</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286508428"/>
              </p:ext>
            </p:extLst>
          </p:nvPr>
        </p:nvGraphicFramePr>
        <p:xfrm>
          <a:off x="384048" y="1600200"/>
          <a:ext cx="9134854" cy="27432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biima</a:t>
                      </a:r>
                      <a:r>
                        <a:rPr sz="1100" b="0" dirty="0">
                          <a:solidFill>
                            <a:srgbClr val="333333"/>
                          </a:solidFill>
                          <a:latin typeface="Meiryo"/>
                          <a:ea typeface="メイリオ"/>
                          <a:cs typeface="Meiryo"/>
                        </a:rPr>
                        <a:t> sports</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非認知能力×複合種目</a:t>
                      </a:r>
                    </a:p>
                  </a:txBody>
                  <a:tcPr>
                    <a:solidFill>
                      <a:srgbClr val="FFFFFF"/>
                    </a:solidFill>
                  </a:tcPr>
                </a:tc>
                <a:tc>
                  <a:txBody>
                    <a:bodyPr/>
                    <a:lstStyle/>
                    <a:p>
                      <a:r>
                        <a:rPr sz="1100" b="0" dirty="0" err="1">
                          <a:solidFill>
                            <a:srgbClr val="333333"/>
                          </a:solidFill>
                          <a:latin typeface="Meiryo"/>
                          <a:ea typeface="メイリオ"/>
                          <a:cs typeface="Meiryo"/>
                        </a:rPr>
                        <a:t>最も近いポジションだがLINE未活用</a:t>
                      </a:r>
                      <a:r>
                        <a:rPr sz="1100" b="0" dirty="0">
                          <a:solidFill>
                            <a:srgbClr val="333333"/>
                          </a:solidFill>
                          <a:latin typeface="Meiryo"/>
                          <a:ea typeface="メイリオ"/>
                          <a:cs typeface="Meiryo"/>
                        </a:rPr>
                        <a:t>。</a:t>
                      </a:r>
                      <a:endParaRPr lang="en-US" sz="1100" b="0" dirty="0">
                        <a:solidFill>
                          <a:srgbClr val="333333"/>
                        </a:solidFill>
                        <a:latin typeface="Meiryo"/>
                        <a:ea typeface="メイリオ"/>
                        <a:cs typeface="Meiryo"/>
                      </a:endParaRPr>
                    </a:p>
                    <a:p>
                      <a:r>
                        <a:rPr sz="1100" b="0" dirty="0" err="1">
                          <a:solidFill>
                            <a:srgbClr val="333333"/>
                          </a:solidFill>
                          <a:latin typeface="Meiryo"/>
                          <a:ea typeface="メイリオ"/>
                          <a:cs typeface="Meiryo"/>
                        </a:rPr>
                        <a:t>先行できる</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ジャクパ</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園内開催・体操/サッカー中心</a:t>
                      </a:r>
                    </a:p>
                  </a:txBody>
                  <a:tcPr>
                    <a:solidFill>
                      <a:srgbClr val="FFFFFF"/>
                    </a:solidFill>
                  </a:tcPr>
                </a:tc>
                <a:tc>
                  <a:txBody>
                    <a:bodyPr/>
                    <a:lstStyle/>
                    <a:p>
                      <a:r>
                        <a:rPr sz="1100" b="0">
                          <a:solidFill>
                            <a:srgbClr val="333333"/>
                          </a:solidFill>
                          <a:latin typeface="Meiryo"/>
                          <a:ea typeface="メイリオ"/>
                          <a:cs typeface="Meiryo"/>
                        </a:rPr>
                        <a:t>低コストが強みだがデジタル接点は薄い</a:t>
                      </a: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333333"/>
                          </a:solidFill>
                          <a:latin typeface="Meiryo"/>
                          <a:ea typeface="メイリオ"/>
                          <a:cs typeface="Meiryo"/>
                        </a:rPr>
                        <a:t>コナミスポーツクラブ 運動塾</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大手施設・進級テスト制度</a:t>
                      </a:r>
                      <a:endParaRPr sz="1100" b="0" dirty="0">
                        <a:solidFill>
                          <a:srgbClr val="333333"/>
                        </a:solidFill>
                        <a:latin typeface="Meiryo"/>
                        <a:ea typeface="メイリオ"/>
                        <a:cs typeface="Meiryo"/>
                      </a:endParaRPr>
                    </a:p>
                  </a:txBody>
                  <a:tcPr>
                    <a:solidFill>
                      <a:srgbClr val="FFFFFF"/>
                    </a:solidFill>
                  </a:tcPr>
                </a:tc>
                <a:tc>
                  <a:txBody>
                    <a:bodyPr/>
                    <a:lstStyle/>
                    <a:p>
                      <a:r>
                        <a:rPr sz="1100" b="0">
                          <a:solidFill>
                            <a:srgbClr val="333333"/>
                          </a:solidFill>
                          <a:latin typeface="Meiryo"/>
                          <a:ea typeface="メイリオ"/>
                          <a:cs typeface="Meiryo"/>
                        </a:rPr>
                        <a:t>施設力はあるがLINE未運用</a:t>
                      </a:r>
                    </a:p>
                  </a:txBody>
                  <a:tcPr>
                    <a:solidFill>
                      <a:srgbClr val="FFFFFF"/>
                    </a:solidFill>
                  </a:tcPr>
                </a:tc>
                <a:extLst>
                  <a:ext uri="{0D108BD9-81ED-4DB2-BD59-A6C34878D82A}">
                    <a16:rowId xmlns:a16="http://schemas.microsoft.com/office/drawing/2014/main" val="10003"/>
                  </a:ext>
                </a:extLst>
              </a:tr>
              <a:tr h="457200">
                <a:tc>
                  <a:txBody>
                    <a:bodyPr/>
                    <a:lstStyle/>
                    <a:p>
                      <a:r>
                        <a:rPr sz="1100" b="0">
                          <a:solidFill>
                            <a:srgbClr val="333333"/>
                          </a:solidFill>
                          <a:latin typeface="Meiryo"/>
                          <a:ea typeface="メイリオ"/>
                          <a:cs typeface="Meiryo"/>
                        </a:rPr>
                        <a:t>スポーツクラブ ルネサンス</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エンジョイ重視・生きる力</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57200">
                <a:tc>
                  <a:txBody>
                    <a:bodyPr/>
                    <a:lstStyle/>
                    <a:p>
                      <a:r>
                        <a:rPr sz="1100" b="0" dirty="0" err="1">
                          <a:solidFill>
                            <a:srgbClr val="1F2A5C"/>
                          </a:solidFill>
                          <a:latin typeface="Meiryo"/>
                          <a:ea typeface="メイリオ"/>
                          <a:cs typeface="Meiryo"/>
                        </a:rPr>
                        <a:t>セントラルスポーツ</a:t>
                      </a:r>
                      <a:r>
                        <a:rPr sz="1100" b="0" dirty="0">
                          <a:solidFill>
                            <a:srgbClr val="1F2A5C"/>
                          </a:solidFill>
                          <a:latin typeface="Meiryo"/>
                          <a:ea typeface="メイリオ"/>
                          <a:cs typeface="Meiryo"/>
                        </a:rPr>
                        <a:t> </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キッズスクール</a:t>
                      </a:r>
                      <a:endParaRPr sz="1100" b="0" dirty="0">
                        <a:solidFill>
                          <a:srgbClr val="1F2A5C"/>
                        </a:solidFill>
                        <a:latin typeface="Meiryo"/>
                        <a:ea typeface="メイリオ"/>
                        <a:cs typeface="Meiryo"/>
                      </a:endParaRPr>
                    </a:p>
                  </a:txBody>
                  <a:tcPr>
                    <a:solidFill>
                      <a:srgbClr val="FFF3E0"/>
                    </a:solidFill>
                  </a:tcPr>
                </a:tc>
                <a:tc>
                  <a:txBody>
                    <a:bodyPr/>
                    <a:lstStyle/>
                    <a:p>
                      <a:r>
                        <a:rPr sz="1100" b="1">
                          <a:solidFill>
                            <a:srgbClr val="1F2A5C"/>
                          </a:solidFill>
                          <a:latin typeface="Meiryo"/>
                          <a:ea typeface="メイリオ"/>
                          <a:cs typeface="Meiryo"/>
                        </a:rPr>
                        <a:t>あり（友だち82,953人）</a:t>
                      </a:r>
                    </a:p>
                  </a:txBody>
                  <a:tcPr>
                    <a:solidFill>
                      <a:srgbClr val="FFF3E0"/>
                    </a:solidFill>
                  </a:tcPr>
                </a:tc>
                <a:tc>
                  <a:txBody>
                    <a:bodyPr/>
                    <a:lstStyle/>
                    <a:p>
                      <a:r>
                        <a:rPr sz="1100" b="0">
                          <a:solidFill>
                            <a:srgbClr val="1F2A5C"/>
                          </a:solidFill>
                          <a:latin typeface="Meiryo"/>
                          <a:ea typeface="メイリオ"/>
                          <a:cs typeface="Meiryo"/>
                        </a:rPr>
                        <a:t>体育補完・進級チェック制度</a:t>
                      </a:r>
                    </a:p>
                  </a:txBody>
                  <a:tcPr>
                    <a:solidFill>
                      <a:srgbClr val="FFF3E0"/>
                    </a:solidFill>
                  </a:tcPr>
                </a:tc>
                <a:tc>
                  <a:txBody>
                    <a:bodyPr/>
                    <a:lstStyle/>
                    <a:p>
                      <a:r>
                        <a:rPr sz="1100" b="0" dirty="0" err="1">
                          <a:solidFill>
                            <a:srgbClr val="1F2A5C"/>
                          </a:solidFill>
                          <a:latin typeface="Meiryo"/>
                          <a:ea typeface="メイリオ"/>
                          <a:cs typeface="Meiryo"/>
                        </a:rPr>
                        <a:t>業界内で唯一LINEを大規模運用</a:t>
                      </a:r>
                      <a:r>
                        <a:rPr sz="1100" b="0" dirty="0">
                          <a:solidFill>
                            <a:srgbClr val="1F2A5C"/>
                          </a:solidFill>
                          <a:latin typeface="Meiryo"/>
                          <a:ea typeface="メイリオ"/>
                          <a:cs typeface="Meiryo"/>
                        </a:rPr>
                        <a:t>。</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水準のベンチマーク</a:t>
                      </a:r>
                      <a:endParaRPr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663440"/>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738473488"/>
              </p:ext>
            </p:extLst>
          </p:nvPr>
        </p:nvGraphicFramePr>
        <p:xfrm>
          <a:off x="384048" y="1600200"/>
          <a:ext cx="9134854" cy="22860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チャイルドアイズとの比較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ベビーパーク</a:t>
                      </a:r>
                      <a:endParaRPr lang="en-US" sz="1100" b="0" dirty="0">
                        <a:solidFill>
                          <a:srgbClr val="333333"/>
                        </a:solidFill>
                        <a:latin typeface="Meiryo"/>
                        <a:ea typeface="メイリオ"/>
                        <a:cs typeface="Meiryo"/>
                      </a:endParaRPr>
                    </a:p>
                    <a:p>
                      <a:r>
                        <a:rPr lang="ja-JP" altLang="en-US" sz="1100" b="0" dirty="0">
                          <a:solidFill>
                            <a:srgbClr val="333333"/>
                          </a:solidFill>
                          <a:latin typeface="Meiryo"/>
                          <a:ea typeface="メイリオ"/>
                          <a:cs typeface="Meiryo"/>
                        </a:rPr>
                        <a:t>キ</a:t>
                      </a:r>
                      <a:r>
                        <a:rPr sz="1100" b="0" dirty="0" err="1">
                          <a:solidFill>
                            <a:srgbClr val="333333"/>
                          </a:solidFill>
                          <a:latin typeface="Meiryo"/>
                          <a:ea typeface="メイリオ"/>
                          <a:cs typeface="Meiryo"/>
                        </a:rPr>
                        <a:t>ッズアカデミ</a:t>
                      </a:r>
                      <a:r>
                        <a:rPr sz="1100" b="0" dirty="0">
                          <a:solidFill>
                            <a:srgbClr val="333333"/>
                          </a:solidFill>
                          <a:latin typeface="Meiryo"/>
                          <a:ea typeface="メイリオ"/>
                          <a:cs typeface="Meiryo"/>
                        </a:rPr>
                        <a:t>ー</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a:solidFill>
                            <a:srgbClr val="333333"/>
                          </a:solidFill>
                          <a:latin typeface="Meiryo"/>
                          <a:ea typeface="メイリオ"/>
                          <a:cs typeface="Meiryo"/>
                        </a:rPr>
                        <a:t>知育特化・超早期（0歳〜）</a:t>
                      </a:r>
                    </a:p>
                  </a:txBody>
                  <a:tcPr>
                    <a:solidFill>
                      <a:srgbClr val="FFFFFF"/>
                    </a:solidFill>
                  </a:tcPr>
                </a:tc>
                <a:tc>
                  <a:txBody>
                    <a:bodyPr/>
                    <a:lstStyle/>
                    <a:p>
                      <a:r>
                        <a:rPr sz="11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伸芽会</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受験対策特化・名門校実績</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LINE未活用。ブランド力で先行</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1F2A5C"/>
                          </a:solidFill>
                          <a:latin typeface="Meiryo"/>
                          <a:ea typeface="メイリオ"/>
                          <a:cs typeface="Meiryo"/>
                        </a:rPr>
                        <a:t>理英会</a:t>
                      </a:r>
                    </a:p>
                  </a:txBody>
                  <a:tcPr>
                    <a:solidFill>
                      <a:srgbClr val="FFF3E0"/>
                    </a:solidFill>
                  </a:tcPr>
                </a:tc>
                <a:tc>
                  <a:txBody>
                    <a:bodyPr/>
                    <a:lstStyle/>
                    <a:p>
                      <a:r>
                        <a:rPr sz="1100" b="1">
                          <a:solidFill>
                            <a:srgbClr val="1F2A5C"/>
                          </a:solidFill>
                          <a:latin typeface="Meiryo"/>
                          <a:ea typeface="メイリオ"/>
                          <a:cs typeface="Meiryo"/>
                        </a:rPr>
                        <a:t>あり（友だち4,475人）</a:t>
                      </a:r>
                    </a:p>
                  </a:txBody>
                  <a:tcPr>
                    <a:solidFill>
                      <a:srgbClr val="FFF3E0"/>
                    </a:solidFill>
                  </a:tcPr>
                </a:tc>
                <a:tc>
                  <a:txBody>
                    <a:bodyPr/>
                    <a:lstStyle/>
                    <a:p>
                      <a:r>
                        <a:rPr sz="1100" b="0">
                          <a:solidFill>
                            <a:srgbClr val="1F2A5C"/>
                          </a:solidFill>
                          <a:latin typeface="Meiryo"/>
                          <a:ea typeface="メイリオ"/>
                          <a:cs typeface="Meiryo"/>
                        </a:rPr>
                        <a:t>受験ノウハウ配信・体験会案内</a:t>
                      </a:r>
                    </a:p>
                  </a:txBody>
                  <a:tcPr>
                    <a:solidFill>
                      <a:srgbClr val="FFF3E0"/>
                    </a:solidFill>
                  </a:tcPr>
                </a:tc>
                <a:tc>
                  <a:txBody>
                    <a:bodyPr/>
                    <a:lstStyle/>
                    <a:p>
                      <a:r>
                        <a:rPr sz="11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57200">
                <a:tc>
                  <a:txBody>
                    <a:bodyPr/>
                    <a:lstStyle/>
                    <a:p>
                      <a:r>
                        <a:rPr sz="1100" b="0">
                          <a:solidFill>
                            <a:srgbClr val="1F2A5C"/>
                          </a:solidFill>
                          <a:latin typeface="Meiryo"/>
                          <a:ea typeface="メイリオ"/>
                          <a:cs typeface="Meiryo"/>
                        </a:rPr>
                        <a:t>どんちゃか幼児教室</a:t>
                      </a:r>
                    </a:p>
                  </a:txBody>
                  <a:tcPr>
                    <a:solidFill>
                      <a:srgbClr val="FFF3E0"/>
                    </a:solidFill>
                  </a:tcPr>
                </a:tc>
                <a:tc>
                  <a:txBody>
                    <a:bodyPr/>
                    <a:lstStyle/>
                    <a:p>
                      <a:r>
                        <a:rPr sz="1100" b="1">
                          <a:solidFill>
                            <a:srgbClr val="1F2A5C"/>
                          </a:solidFill>
                          <a:latin typeface="Meiryo"/>
                          <a:ea typeface="メイリオ"/>
                          <a:cs typeface="Meiryo"/>
                        </a:rPr>
                        <a:t>あり（友だち2,550人）</a:t>
                      </a:r>
                    </a:p>
                  </a:txBody>
                  <a:tcPr>
                    <a:solidFill>
                      <a:srgbClr val="FFF3E0"/>
                    </a:solidFill>
                  </a:tcPr>
                </a:tc>
                <a:tc>
                  <a:txBody>
                    <a:bodyPr/>
                    <a:lstStyle/>
                    <a:p>
                      <a:r>
                        <a:rPr sz="1100" b="0">
                          <a:solidFill>
                            <a:srgbClr val="1F2A5C"/>
                          </a:solidFill>
                          <a:latin typeface="Meiryo"/>
                          <a:ea typeface="メイリオ"/>
                          <a:cs typeface="Meiryo"/>
                        </a:rPr>
                        <a:t>育児コラム・季節講習案内</a:t>
                      </a:r>
                    </a:p>
                  </a:txBody>
                  <a:tcPr>
                    <a:solidFill>
                      <a:srgbClr val="FFF3E0"/>
                    </a:solidFill>
                  </a:tcPr>
                </a:tc>
                <a:tc>
                  <a:txBody>
                    <a:bodyPr/>
                    <a:lstStyle/>
                    <a:p>
                      <a:r>
                        <a:rPr sz="1100" b="0" dirty="0" err="1">
                          <a:solidFill>
                            <a:srgbClr val="1F2A5C"/>
                          </a:solidFill>
                          <a:latin typeface="Meiryo"/>
                          <a:ea typeface="メイリオ"/>
                          <a:cs typeface="Meiryo"/>
                        </a:rPr>
                        <a:t>理英会と同一グループ</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乳幼児期の入口として運用</a:t>
                      </a:r>
                      <a:endParaRPr lang="en-US"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206240"/>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r>
              <a:rPr lang="en-US" altLang="ja-JP" sz="1200" dirty="0">
                <a:solidFill>
                  <a:schemeClr val="tx1"/>
                </a:solidFill>
                <a:latin typeface="メイリオ" panose="020B0604030504040204" pitchFamily="50" charset="-128"/>
                <a:ea typeface="メイリオ" panose="020B0604030504040204" pitchFamily="50" charset="-128"/>
              </a:rPr>
              <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15,000</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81%</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3,700</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 </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CVR</a:t>
            </a: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0.3%</a:t>
            </a:r>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
        <p:nvSpPr>
          <p:cNvPr id="20" name="TextBox 19"/>
          <p:cNvSpPr txBox="1"/>
          <p:nvPr/>
        </p:nvSpPr>
        <p:spPr>
          <a:xfrm>
            <a:off x="274320" y="6126480"/>
            <a:ext cx="9354312" cy="640080"/>
          </a:xfrm>
          <a:prstGeom prst="rect">
            <a:avLst/>
          </a:prstGeom>
          <a:noFill/>
        </p:spPr>
        <p:txBody>
          <a:bodyPr wrap="square">
            <a:spAutoFit/>
          </a:bodyPr>
          <a:lstStyle/>
          <a:p>
            <a:pPr algn="ctr"/>
            <a:r>
              <a:rPr sz="1300" b="1">
                <a:solidFill>
                  <a:srgbClr val="BF4E0E"/>
                </a:solidFill>
                <a:latin typeface="Meiryo"/>
                <a:ea typeface="Meiryo"/>
                <a:cs typeface="Meiryo"/>
              </a:rPr>
              <a:t>広告は、CVの瞬間で接点が終わる。LINEは、CVの先まで追いきれる。</a:t>
            </a:r>
          </a:p>
          <a:p>
            <a:pPr algn="ctr"/>
            <a:r>
              <a:rPr sz="1100">
                <a:solidFill>
                  <a:srgbClr val="333333"/>
                </a:solidFill>
                <a:latin typeface="Meiryo"/>
                <a:ea typeface="Meiryo"/>
                <a:cs typeface="Meiryo"/>
              </a:rPr>
              <a:t>一度つながれば、接点を持ち続け、情報を渡し続けられる——体験予約で終わらず、来場→入会→継続まで並走できるのがLINE最大の魅力です。</a:t>
            </a:r>
          </a:p>
        </p:txBody>
      </p:sp>
    </p:spTree>
    <p:extLst>
      <p:ext uri="{BB962C8B-B14F-4D97-AF65-F5344CB8AC3E}">
        <p14:creationId xmlns:p14="http://schemas.microsoft.com/office/powerpoint/2010/main" val="32122905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sports)／入会引き上げ率40%＝キッズスポーツ系の実務相場40〜60%を保守採用</a:t>
            </a:r>
          </a:p>
        </p:txBody>
      </p:sp>
    </p:spTree>
    <p:extLst>
      <p:ext uri="{BB962C8B-B14F-4D97-AF65-F5344CB8AC3E}">
        <p14:creationId xmlns:p14="http://schemas.microsoft.com/office/powerpoint/2010/main" val="1451945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出典：Googleトレンド「受験」／前後検索KW「幼児教室」／競合調査(理英会／どんちゃか)／入会引き上げ率25%＝幼児・知育系は業界平均データなしのため保守的に設定</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受験本番に向け母数を増やす</a:t>
                      </a: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・暮らしスマイルアンケートをLINEリサーチ機能で実施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143119</TotalTime>
  <Words>6261</Words>
  <Application>Microsoft Office PowerPoint</Application>
  <PresentationFormat>A4 210 x 297 mm</PresentationFormat>
  <Paragraphs>1587</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2026-09-18T09:24:08Z</dcterms:modified>
</cp:coreProperties>
</file>