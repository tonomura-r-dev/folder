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7"/>
  </p:notesMasterIdLst>
  <p:handoutMasterIdLst>
    <p:handoutMasterId r:id="rId68"/>
  </p:handoutMasterIdLst>
  <p:sldIdLst>
    <p:sldId id="2363" r:id="rId3"/>
    <p:sldId id="2988" r:id="rId4"/>
    <p:sldId id="2972" r:id="rId5"/>
    <p:sldId id="2989" r:id="rId6"/>
    <p:sldId id="2971" r:id="rId7"/>
    <p:sldId id="2974" r:id="rId8"/>
    <p:sldId id="2975" r:id="rId9"/>
    <p:sldId id="2985" r:id="rId10"/>
    <p:sldId id="3004" r:id="rId11"/>
    <p:sldId id="2976" r:id="rId12"/>
    <p:sldId id="2986" r:id="rId13"/>
    <p:sldId id="2736" r:id="rId14"/>
    <p:sldId id="2979" r:id="rId15"/>
    <p:sldId id="3006" r:id="rId16"/>
    <p:sldId id="3022" r:id="rId17"/>
    <p:sldId id="2908" r:id="rId18"/>
    <p:sldId id="2966" r:id="rId19"/>
    <p:sldId id="3015" r:id="rId20"/>
    <p:sldId id="3013" r:id="rId21"/>
    <p:sldId id="3009" r:id="rId22"/>
    <p:sldId id="3018" r:id="rId23"/>
    <p:sldId id="3010" r:id="rId24"/>
    <p:sldId id="3014" r:id="rId25"/>
    <p:sldId id="3012" r:id="rId26"/>
    <p:sldId id="3017" r:id="rId27"/>
    <p:sldId id="3011" r:id="rId28"/>
    <p:sldId id="2737" r:id="rId29"/>
    <p:sldId id="2563" r:id="rId30"/>
    <p:sldId id="2970" r:id="rId31"/>
    <p:sldId id="2959" r:id="rId32"/>
    <p:sldId id="3025" r:id="rId73"/>
    <p:sldId id="2968" r:id="rId35"/>
    <p:sldId id="2969" r:id="rId36"/>
    <p:sldId id="2957" r:id="rId37"/>
    <p:sldId id="3019" r:id="rId38"/>
    <p:sldId id="2951" r:id="rId39"/>
    <p:sldId id="3023" r:id="rId40"/>
    <p:sldId id="3024" r:id="rId41"/>
    <p:sldId id="2841" r:id="rId42"/>
    <p:sldId id="2734" r:id="rId43"/>
    <p:sldId id="2595" r:id="rId44"/>
    <p:sldId id="2566" r:id="rId45"/>
    <p:sldId id="2915" r:id="rId46"/>
    <p:sldId id="2619" r:id="rId47"/>
    <p:sldId id="2761" r:id="rId48"/>
    <p:sldId id="3021" r:id="rId49"/>
    <p:sldId id="2935" r:id="rId50"/>
    <p:sldId id="2919" r:id="rId51"/>
    <p:sldId id="2519" r:id="rId52"/>
    <p:sldId id="2931" r:id="rId53"/>
    <p:sldId id="2749" r:id="rId54"/>
    <p:sldId id="2950" r:id="rId55"/>
    <p:sldId id="2961" r:id="rId56"/>
    <p:sldId id="2849" r:id="rId57"/>
    <p:sldId id="2904" r:id="rId58"/>
    <p:sldId id="2905" r:id="rId59"/>
    <p:sldId id="2906" r:id="rId60"/>
    <p:sldId id="2907" r:id="rId61"/>
    <p:sldId id="2575" r:id="rId62"/>
    <p:sldId id="2910" r:id="rId63"/>
    <p:sldId id="3007" r:id="rId64"/>
    <p:sldId id="3008" r:id="rId65"/>
    <p:sldId id="1169" r:id="rId6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3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93DA-F068-C7F5-5FEB-7A94DD8867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B680EF-CF86-D787-518D-CA5960A5648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DA54E59-6FD5-42C5-308A-B0701935BFB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4931D7D-5F42-F5B5-3683-5A2F0031C5B6}"/>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180266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966-D000-6EA3-BAC7-8246A8124FB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3751AD-7833-5352-F3CD-93BF48718DA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713479-1F1B-7F88-B85D-7A35CA4265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D17977F-8BEB-2B1C-1C7A-1D7AA1F0503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4278962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0D83-D1C7-371D-612C-5E2B8A2DC5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4F9AF6-8FF2-E4BE-9495-E434005E97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3C1C0-5C88-C938-5991-AFEF7FA0B5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6B98213-D486-73D4-8B33-4E68F0DB5A42}"/>
              </a:ext>
            </a:extLst>
          </p:cNvPr>
          <p:cNvSpPr>
            <a:spLocks noGrp="1"/>
          </p:cNvSpPr>
          <p:nvPr>
            <p:ph type="sldNum" sz="quarter" idx="10"/>
          </p:nvPr>
        </p:nvSpPr>
        <p:spPr/>
        <p:txBody>
          <a:bodyPr/>
          <a:lstStyle/>
          <a:p>
            <a:fld id="{022E43C0-6795-4B13-B37C-259C826D4B6A}" type="slidenum">
              <a:rPr kumimoji="1" lang="ja-JP" altLang="en-US" smtClean="0"/>
              <a:t>20</a:t>
            </a:fld>
            <a:endParaRPr kumimoji="1" lang="ja-JP" altLang="en-US"/>
          </a:p>
        </p:txBody>
      </p:sp>
    </p:spTree>
    <p:extLst>
      <p:ext uri="{BB962C8B-B14F-4D97-AF65-F5344CB8AC3E}">
        <p14:creationId xmlns:p14="http://schemas.microsoft.com/office/powerpoint/2010/main" val="809273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D4971-08F2-4B39-6251-91FF17C71A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A3A369-82C3-3BA3-1453-124787BB83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260C15-0FB7-94D9-5A66-FACADA45FA2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F967B2E-769F-AAB3-0187-A5DBA3C1F9EE}"/>
              </a:ext>
            </a:extLst>
          </p:cNvPr>
          <p:cNvSpPr>
            <a:spLocks noGrp="1"/>
          </p:cNvSpPr>
          <p:nvPr>
            <p:ph type="sldNum" sz="quarter" idx="10"/>
          </p:nvPr>
        </p:nvSpPr>
        <p:spPr/>
        <p:txBody>
          <a:bodyPr/>
          <a:lstStyle/>
          <a:p>
            <a:fld id="{022E43C0-6795-4B13-B37C-259C826D4B6A}" type="slidenum">
              <a:rPr kumimoji="1" lang="ja-JP" altLang="en-US" smtClean="0"/>
              <a:t>21</a:t>
            </a:fld>
            <a:endParaRPr kumimoji="1" lang="ja-JP" altLang="en-US"/>
          </a:p>
        </p:txBody>
      </p:sp>
    </p:spTree>
    <p:extLst>
      <p:ext uri="{BB962C8B-B14F-4D97-AF65-F5344CB8AC3E}">
        <p14:creationId xmlns:p14="http://schemas.microsoft.com/office/powerpoint/2010/main" val="655733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EC97-39D9-E5D0-9E35-FF17E8EF288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F0D4AD-6A7D-C0A6-AF78-D64A5A03BC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89205B9-3B2F-6D1D-76E7-8AEC50707A8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A59932D-C299-8379-9E3A-2A2E77C4AB13}"/>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2642284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0DA80-4FFC-BE6A-0F8C-9D3C51A14A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3592DA-D539-E02E-8A31-2B4B05FAC6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A2163B-5447-527F-4607-2F8C469E7B2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AEB180-59BA-CD0E-B3CD-681F6E4331A8}"/>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262654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34F8-D5DE-5179-FB63-ACF6B24F94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ED13EE-96CF-E04C-89AF-5315DD6E5C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A78F30-2C87-75E8-2A08-D40FBB1058E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0E083C2-6F16-0966-8829-EE2A75C429A5}"/>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722534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6C9A2-E4AC-C61B-66CE-46E597D470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1A5492-F3BD-D4EC-3E43-F8324C031E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25DF75-FC25-81EF-5110-9702A79930C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426DDF-F568-D18F-F35E-DAF91882FDC6}"/>
              </a:ext>
            </a:extLst>
          </p:cNvPr>
          <p:cNvSpPr>
            <a:spLocks noGrp="1"/>
          </p:cNvSpPr>
          <p:nvPr>
            <p:ph type="sldNum" sz="quarter" idx="10"/>
          </p:nvPr>
        </p:nvSpPr>
        <p:spPr/>
        <p:txBody>
          <a:bodyPr/>
          <a:lstStyle/>
          <a:p>
            <a:fld id="{022E43C0-6795-4B13-B37C-259C826D4B6A}" type="slidenum">
              <a:rPr kumimoji="1" lang="ja-JP" altLang="en-US" smtClean="0"/>
              <a:t>25</a:t>
            </a:fld>
            <a:endParaRPr kumimoji="1" lang="ja-JP" altLang="en-US"/>
          </a:p>
        </p:txBody>
      </p:sp>
    </p:spTree>
    <p:extLst>
      <p:ext uri="{BB962C8B-B14F-4D97-AF65-F5344CB8AC3E}">
        <p14:creationId xmlns:p14="http://schemas.microsoft.com/office/powerpoint/2010/main" val="1652335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50</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51</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53</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64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7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jpg"/><Relationship Id="rId3" Type="http://schemas.openxmlformats.org/officeDocument/2006/relationships/image" Target="../media/image77.jp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23.jpeg"/><Relationship Id="rId8" Type="http://schemas.openxmlformats.org/officeDocument/2006/relationships/image" Target="../media/image78.jpg"/><Relationship Id="rId9" Type="http://schemas.openxmlformats.org/officeDocument/2006/relationships/image" Target="../media/image24.png"/><Relationship Id="rId10" Type="http://schemas.openxmlformats.org/officeDocument/2006/relationships/image" Target="../media/image79.png"/><Relationship Id="rId11" Type="http://schemas.openxmlformats.org/officeDocument/2006/relationships/hyperlink" Target="https://youtube.com/shorts/0qI4QgrOppQ"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2.png"/><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svg"/><Relationship Id="rId8"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0.svg"/><Relationship Id="rId4" Type="http://schemas.openxmlformats.org/officeDocument/2006/relationships/image" Target="../media/image51.svg"/><Relationship Id="rId5" Type="http://schemas.openxmlformats.org/officeDocument/2006/relationships/image" Target="../media/image52.svg"/><Relationship Id="rId6" Type="http://schemas.openxmlformats.org/officeDocument/2006/relationships/image" Target="../media/image53.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image" Target="../media/image6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emf"/><Relationship Id="rId4" Type="http://schemas.openxmlformats.org/officeDocument/2006/relationships/image" Target="../media/image69.jpeg"/><Relationship Id="rId5" Type="http://schemas.openxmlformats.org/officeDocument/2006/relationships/image" Target="../media/image70.jpeg"/><Relationship Id="rId6" Type="http://schemas.openxmlformats.org/officeDocument/2006/relationships/image" Target="../media/image71.jpeg"/><Relationship Id="rId7" Type="http://schemas.openxmlformats.org/officeDocument/2006/relationships/image" Target="../media/image72.jpeg"/><Relationship Id="rId8" Type="http://schemas.openxmlformats.org/officeDocument/2006/relationships/image" Target="../media/image7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広告で集めた方をLINEでナーチャリングをし、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セミナー参加・入会へ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現状ステータスの整理</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広告からサロン入会まで8フェーズの動線を可視化し、各フェーズで発生する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離脱要因とLINE施策の打ち手を整理する。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06549"/>
            <a:ext cx="9425943" cy="1842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・またサービス特性として、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【対象は保険営業の方】</a:t>
            </a:r>
            <a:r>
              <a:rPr lang="ja-JP" altLang="en-US" sz="1200" dirty="0">
                <a:solidFill>
                  <a:schemeClr val="tx1"/>
                </a:solidFill>
                <a:latin typeface="メイリオ" panose="020B0604030504040204" pitchFamily="50" charset="-128"/>
                <a:ea typeface="メイリオ" panose="020B0604030504040204" pitchFamily="50" charset="-128"/>
                <a:cs typeface="メイリオ"/>
              </a:rPr>
              <a:t>： 一般の方向けではなく、保険営業の方の営業力向上を目的としたセミナー・サロン</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【セミナーは無料・オンライン】</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イベントとイベントの間の時期は、集めた方との接点が切れやすい</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・貴社サービスとして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【広告で、1回のイベントで81件のセミナー予約を集めている】</a:t>
            </a: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【セミナーの参加後に、サロンの入会を案内できる】</a:t>
            </a: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という強みを持っており、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集めた方と、次のイベント・入会まで接点を持ち続けること</a:t>
            </a:r>
            <a:r>
              <a:rPr lang="ja-JP" altLang="en-US" sz="1200" dirty="0">
                <a:solidFill>
                  <a:schemeClr val="tx1"/>
                </a:solidFill>
                <a:latin typeface="メイリオ" panose="020B0604030504040204" pitchFamily="50" charset="-128"/>
                <a:ea typeface="メイリオ" panose="020B0604030504040204" pitchFamily="50" charset="-128"/>
                <a:cs typeface="メイリオ"/>
              </a:rPr>
              <a:t>はメリットにつながる想定。</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84048" y="3200400"/>
          <a:ext cx="9381744" cy="2962656"/>
        </p:xfrm>
        <a:graphic>
          <a:graphicData uri="http://schemas.openxmlformats.org/drawingml/2006/table">
            <a:tbl>
              <a:tblPr firstRow="1" bandRow="1">
                <a:tableStyleId>{5C22544A-7EE6-4342-B048-85BDC9FD1C3A}</a:tableStyleId>
              </a:tblPr>
              <a:tblGrid>
                <a:gridCol w="1783080">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29184">
                <a:tc>
                  <a:txBody>
                    <a:bodyPr/>
                    <a:lstStyle/>
                    <a:p>
                      <a:pPr algn="ctr"/>
                      <a:r>
                        <a:rPr lang="ja-JP" sz="1200" b="1">
                          <a:solidFill>
                            <a:srgbClr val="FFFFFF"/>
                          </a:solidFill>
                          <a:latin typeface="メイリオ"/>
                          <a:ea typeface="メイリオ"/>
                          <a:cs typeface="メイリオ"/>
                        </a:rPr>
                        <a:t>フェーズ</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ユーザー状態・心理</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離脱・停滞の課題</a:t>
                      </a:r>
                    </a:p>
                  </a:txBody>
                  <a:tcPr marR="73152" anchor="ctr">
                    <a:solidFill>
                      <a:srgbClr val="1F2A5C"/>
                    </a:solidFill>
                  </a:tcPr>
                </a:tc>
                <a:tc>
                  <a:txBody>
                    <a:bodyPr/>
                    <a:lstStyle/>
                    <a:p>
                      <a:pPr algn="ctr"/>
                      <a:r>
                        <a:rPr lang="ja-JP" sz="1200" b="1">
                          <a:solidFill>
                            <a:srgbClr val="FFFFFF"/>
                          </a:solidFill>
                          <a:latin typeface="メイリオ"/>
                          <a:ea typeface="メイリオ"/>
                          <a:cs typeface="メイリオ"/>
                        </a:rPr>
                        <a:t>LINE OAの役割・施策</a:t>
                      </a:r>
                    </a:p>
                  </a:txBody>
                  <a:tcPr marR="73152" anchor="ctr">
                    <a:solidFill>
                      <a:srgbClr val="1F2A5C"/>
                    </a:solidFill>
                  </a:tcPr>
                </a:tc>
                <a:extLst>
                  <a:ext uri="{0D108BD9-81ED-4DB2-BD59-A6C34878D82A}">
                    <a16:rowId xmlns:a16="http://schemas.microsoft.com/office/drawing/2014/main" val="10000"/>
                  </a:ext>
                </a:extLst>
              </a:tr>
              <a:tr h="329184">
                <a:tc>
                  <a:txBody>
                    <a:bodyPr/>
                    <a:lstStyle/>
                    <a:p>
                      <a:pPr algn="l"/>
                      <a:r>
                        <a:rPr lang="ja-JP" sz="1200" b="1">
                          <a:solidFill>
                            <a:srgbClr val="1F2A5C"/>
                          </a:solidFill>
                          <a:latin typeface="メイリオ"/>
                          <a:ea typeface="メイリオ"/>
                          <a:cs typeface="メイリオ"/>
                        </a:rPr>
                        <a:t>① 接触</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営業力を上げたい・情報収集中</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日程が合わず、申し込まない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離脱防止ポップアップを表示</a:t>
                      </a:r>
                    </a:p>
                  </a:txBody>
                  <a:tcPr marR="73152" anchor="ctr">
                    <a:solidFill>
                      <a:srgbClr val="FFFFFF"/>
                    </a:solidFill>
                  </a:tcPr>
                </a:tc>
                <a:extLst>
                  <a:ext uri="{0D108BD9-81ED-4DB2-BD59-A6C34878D82A}">
                    <a16:rowId xmlns:a16="http://schemas.microsoft.com/office/drawing/2014/main" val="10001"/>
                  </a:ext>
                </a:extLst>
              </a:tr>
              <a:tr h="329184">
                <a:tc>
                  <a:txBody>
                    <a:bodyPr/>
                    <a:lstStyle/>
                    <a:p>
                      <a:pPr algn="l"/>
                      <a:r>
                        <a:rPr lang="ja-JP" sz="1200" b="1">
                          <a:solidFill>
                            <a:srgbClr val="1F2A5C"/>
                          </a:solidFill>
                          <a:latin typeface="メイリオ"/>
                          <a:ea typeface="メイリオ"/>
                          <a:cs typeface="メイリオ"/>
                        </a:rPr>
                        <a:t>② サイト離脱</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今回は申し込まない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次の案内を届ける手段が無い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ポップアップからLINE友だち化</a:t>
                      </a:r>
                    </a:p>
                  </a:txBody>
                  <a:tcPr marR="73152" anchor="ctr">
                    <a:solidFill>
                      <a:srgbClr val="F5F7FA"/>
                    </a:solidFill>
                  </a:tcPr>
                </a:tc>
                <a:extLst>
                  <a:ext uri="{0D108BD9-81ED-4DB2-BD59-A6C34878D82A}">
                    <a16:rowId xmlns:a16="http://schemas.microsoft.com/office/drawing/2014/main" val="10002"/>
                  </a:ext>
                </a:extLst>
              </a:tr>
              <a:tr h="329184">
                <a:tc>
                  <a:txBody>
                    <a:bodyPr/>
                    <a:lstStyle/>
                    <a:p>
                      <a:pPr algn="l"/>
                      <a:r>
                        <a:rPr lang="ja-JP" sz="1200" b="1">
                          <a:solidFill>
                            <a:srgbClr val="1F2A5C"/>
                          </a:solidFill>
                          <a:latin typeface="メイリオ"/>
                          <a:ea typeface="メイリオ"/>
                          <a:cs typeface="メイリオ"/>
                        </a:rPr>
                        <a:t>③ 育成（追加直後）</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どんなセミナーか分からない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中身が見えず、予約に進まない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見どころ・特典をステップ配信</a:t>
                      </a:r>
                    </a:p>
                  </a:txBody>
                  <a:tcPr marR="73152" anchor="ctr">
                    <a:solidFill>
                      <a:srgbClr val="FFFFFF"/>
                    </a:solidFill>
                  </a:tcPr>
                </a:tc>
                <a:extLst>
                  <a:ext uri="{0D108BD9-81ED-4DB2-BD59-A6C34878D82A}">
                    <a16:rowId xmlns:a16="http://schemas.microsoft.com/office/drawing/2014/main" val="10003"/>
                  </a:ext>
                </a:extLst>
              </a:tr>
              <a:tr h="329184">
                <a:tc>
                  <a:txBody>
                    <a:bodyPr/>
                    <a:lstStyle/>
                    <a:p>
                      <a:pPr algn="l"/>
                      <a:r>
                        <a:rPr lang="ja-JP" sz="1200" b="1">
                          <a:solidFill>
                            <a:srgbClr val="1F2A5C"/>
                          </a:solidFill>
                          <a:latin typeface="メイリオ"/>
                          <a:ea typeface="メイリオ"/>
                          <a:cs typeface="メイリオ"/>
                        </a:rPr>
                        <a:t>④ リード獲得</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セミナーを予約した</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日が空き、参加を忘れる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サンクスLINE誘導・前日の案内</a:t>
                      </a:r>
                    </a:p>
                  </a:txBody>
                  <a:tcPr marR="73152" anchor="ctr">
                    <a:solidFill>
                      <a:srgbClr val="F5F7FA"/>
                    </a:solidFill>
                  </a:tcPr>
                </a:tc>
                <a:extLst>
                  <a:ext uri="{0D108BD9-81ED-4DB2-BD59-A6C34878D82A}">
                    <a16:rowId xmlns:a16="http://schemas.microsoft.com/office/drawing/2014/main" val="10004"/>
                  </a:ext>
                </a:extLst>
              </a:tr>
              <a:tr h="329184">
                <a:tc>
                  <a:txBody>
                    <a:bodyPr/>
                    <a:lstStyle/>
                    <a:p>
                      <a:pPr algn="l"/>
                      <a:r>
                        <a:rPr lang="ja-JP" sz="1200" b="1">
                          <a:solidFill>
                            <a:srgbClr val="1F2A5C"/>
                          </a:solidFill>
                          <a:latin typeface="メイリオ"/>
                          <a:ea typeface="メイリオ"/>
                          <a:cs typeface="メイリオ"/>
                        </a:rPr>
                        <a:t>⑤ リード有効化</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参加して関心が高まっている</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入会を迷ったまま時間が経つ</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参加直後にサロンを案内</a:t>
                      </a:r>
                    </a:p>
                  </a:txBody>
                  <a:tcPr marR="73152" anchor="ctr">
                    <a:solidFill>
                      <a:srgbClr val="FFFFFF"/>
                    </a:solidFill>
                  </a:tcPr>
                </a:tc>
                <a:extLst>
                  <a:ext uri="{0D108BD9-81ED-4DB2-BD59-A6C34878D82A}">
                    <a16:rowId xmlns:a16="http://schemas.microsoft.com/office/drawing/2014/main" val="10005"/>
                  </a:ext>
                </a:extLst>
              </a:tr>
              <a:tr h="329184">
                <a:tc>
                  <a:txBody>
                    <a:bodyPr/>
                    <a:lstStyle/>
                    <a:p>
                      <a:pPr algn="l"/>
                      <a:r>
                        <a:rPr lang="ja-JP" sz="1200" b="1">
                          <a:solidFill>
                            <a:srgbClr val="1F2A5C"/>
                          </a:solidFill>
                          <a:latin typeface="メイリオ"/>
                          <a:ea typeface="メイリオ"/>
                          <a:cs typeface="メイリオ"/>
                        </a:rPr>
                        <a:t>⑥ 再育成</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未入会／予約したが不参加</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次のイベントまで接点が無い</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月2回の配信で次のイベントへ</a:t>
                      </a:r>
                    </a:p>
                  </a:txBody>
                  <a:tcPr marR="73152" anchor="ctr">
                    <a:solidFill>
                      <a:srgbClr val="F5F7FA"/>
                    </a:solidFill>
                  </a:tcPr>
                </a:tc>
                <a:extLst>
                  <a:ext uri="{0D108BD9-81ED-4DB2-BD59-A6C34878D82A}">
                    <a16:rowId xmlns:a16="http://schemas.microsoft.com/office/drawing/2014/main" val="10006"/>
                  </a:ext>
                </a:extLst>
              </a:tr>
              <a:tr h="329184">
                <a:tc>
                  <a:txBody>
                    <a:bodyPr/>
                    <a:lstStyle/>
                    <a:p>
                      <a:pPr algn="l"/>
                      <a:r>
                        <a:rPr lang="ja-JP" sz="1200" b="1">
                          <a:solidFill>
                            <a:srgbClr val="1F2A5C"/>
                          </a:solidFill>
                          <a:latin typeface="メイリオ"/>
                          <a:ea typeface="メイリオ"/>
                          <a:cs typeface="メイリオ"/>
                        </a:rPr>
                        <a:t>⑦ マネタイズ</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サロンの入会を検討</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入会後の中身・成果が見えない</a:t>
                      </a:r>
                    </a:p>
                  </a:txBody>
                  <a:tcPr marR="73152" anchor="ctr">
                    <a:solidFill>
                      <a:srgbClr val="FFFFFF"/>
                    </a:solidFill>
                  </a:tcPr>
                </a:tc>
                <a:tc>
                  <a:txBody>
                    <a:bodyPr/>
                    <a:lstStyle/>
                    <a:p>
                      <a:pPr algn="l"/>
                      <a:r>
                        <a:rPr lang="ja-JP" sz="1200" b="0">
                          <a:solidFill>
                            <a:srgbClr val="333333"/>
                          </a:solidFill>
                          <a:latin typeface="メイリオ"/>
                          <a:ea typeface="メイリオ"/>
                          <a:cs typeface="メイリオ"/>
                        </a:rPr>
                        <a:t>入会した方の声を配信</a:t>
                      </a:r>
                    </a:p>
                  </a:txBody>
                  <a:tcPr marR="73152" anchor="ctr">
                    <a:solidFill>
                      <a:srgbClr val="FFFFFF"/>
                    </a:solidFill>
                  </a:tcPr>
                </a:tc>
                <a:extLst>
                  <a:ext uri="{0D108BD9-81ED-4DB2-BD59-A6C34878D82A}">
                    <a16:rowId xmlns:a16="http://schemas.microsoft.com/office/drawing/2014/main" val="10007"/>
                  </a:ext>
                </a:extLst>
              </a:tr>
              <a:tr h="329184">
                <a:tc>
                  <a:txBody>
                    <a:bodyPr/>
                    <a:lstStyle/>
                    <a:p>
                      <a:pPr algn="l"/>
                      <a:r>
                        <a:rPr lang="ja-JP" sz="1200" b="1">
                          <a:solidFill>
                            <a:srgbClr val="1F2A5C"/>
                          </a:solidFill>
                          <a:latin typeface="メイリオ"/>
                          <a:ea typeface="メイリオ"/>
                          <a:cs typeface="メイリオ"/>
                        </a:rPr>
                        <a:t>⑧ ファン化・紹介</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サロンに入会</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a:t>
                      </a:r>
                    </a:p>
                  </a:txBody>
                  <a:tcPr marR="73152" anchor="ctr">
                    <a:solidFill>
                      <a:srgbClr val="F5F7FA"/>
                    </a:solidFill>
                  </a:tcPr>
                </a:tc>
                <a:tc>
                  <a:txBody>
                    <a:bodyPr/>
                    <a:lstStyle/>
                    <a:p>
                      <a:pPr algn="l"/>
                      <a:r>
                        <a:rPr lang="ja-JP" sz="1200" b="0">
                          <a:solidFill>
                            <a:srgbClr val="333333"/>
                          </a:solidFill>
                          <a:latin typeface="メイリオ"/>
                          <a:ea typeface="メイリオ"/>
                          <a:cs typeface="メイリオ"/>
                        </a:rPr>
                        <a:t>次のイベントの案内・紹介</a:t>
                      </a:r>
                    </a:p>
                  </a:txBody>
                  <a:tcPr marR="73152" anchor="ctr">
                    <a:solidFill>
                      <a:srgbClr val="F5F7FA"/>
                    </a:solidFill>
                  </a:tcPr>
                </a:tc>
                <a:extLst>
                  <a:ext uri="{0D108BD9-81ED-4DB2-BD59-A6C34878D82A}">
                    <a16:rowId xmlns:a16="http://schemas.microsoft.com/office/drawing/2014/main" val="10008"/>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81件・CPA 26,043円）。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申し込まずに離れた方を、次のイベントまで案内する手段が無い。</a:t>
            </a:r>
            <a:endParaRPr lang="en-US" altLang="ja-JP" sz="105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参加して入会していない方へ、</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入会まで案内を続ける手段が無い状況。</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リード保有数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約2,760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約211万円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81件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cs typeface="メイリオ"/>
              </a:rPr>
              <a:t>※</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Tree>
    <p:extLst>
      <p:ext uri="{BB962C8B-B14F-4D97-AF65-F5344CB8AC3E}">
        <p14:creationId xmlns:p14="http://schemas.microsoft.com/office/powerpoint/2010/main" val="2378484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ニーズ調査（シーズナリティ）</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トレンドより</a:t>
            </a:r>
            <a:endParaRPr lang="ja-JP" altLang="en-US" sz="1400" dirty="0">
              <a:solidFill>
                <a:schemeClr val="bg1">
                  <a:lumMod val="65000"/>
                </a:schemeClr>
              </a:solidFill>
              <a:latin typeface="メイリオ"/>
              <a:ea typeface="メイリオ"/>
              <a:cs typeface="メイリオ"/>
            </a:endParaRPr>
          </a:p>
        </p:txBody>
      </p:sp>
      <p:sp>
        <p:nvSpPr>
          <p:cNvPr id="5" name="テキスト ボックス 4">
            <a:extLst>
              <a:ext uri="{FF2B5EF4-FFF2-40B4-BE49-F238E27FC236}">
                <a16:creationId xmlns:a16="http://schemas.microsoft.com/office/drawing/2014/main" id="{922D6823-FF2A-C1F7-974B-0F8BF7DDC41B}"/>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「保険営業」の検索は1年中ほぼ同じ水準。イベントの無い月も、平常期の配信でつながりを保つ。</a:t>
            </a:r>
            <a:endParaRPr lang="ja-JP" altLang="ja-JP" sz="1100" dirty="0">
              <a:effectLst/>
              <a:latin typeface="メイリオ" panose="02020603050405020304" pitchFamily="18" charset="0"/>
              <a:ea typeface="メイリオ" panose="02020400000000000000" pitchFamily="18" charset="-128"/>
              <a:cs typeface="メイリオ"/>
            </a:endParaRPr>
          </a:p>
        </p:txBody>
      </p:sp>
      <p:pic>
        <p:nvPicPr>
          <p:cNvPr id="46" name="Picture 45" descr="sunao_trend_hoken_eigyo_5y.png"/>
          <p:cNvPicPr>
            <a:picLocks noChangeAspect="1"/>
          </p:cNvPicPr>
          <p:nvPr/>
        </p:nvPicPr>
        <p:blipFill>
          <a:blip r:embed="rId3"/>
          <a:stretch>
            <a:fillRect/>
          </a:stretch>
        </p:blipFill>
        <p:spPr>
          <a:xfrm>
            <a:off x="894637" y="1688676"/>
            <a:ext cx="8116724" cy="3461599"/>
          </a:xfrm>
          <a:prstGeom prst="rect">
            <a:avLst/>
          </a:prstGeom>
        </p:spPr>
      </p:pic>
    </p:spTree>
    <p:extLst>
      <p:ext uri="{BB962C8B-B14F-4D97-AF65-F5344CB8AC3E}">
        <p14:creationId xmlns:p14="http://schemas.microsoft.com/office/powerpoint/2010/main" val="142908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1" name="正方形/長方形 10">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3" name="正方形/長方形 12">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cxnSp>
        <p:nvCxnSpPr>
          <p:cNvPr id="15" name="直線矢印コネクタ 14">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7F3169DD-B4D2-C3B3-E898-796DA8E0ABBE}"/>
              </a:ext>
            </a:extLst>
          </p:cNvPr>
          <p:cNvSpPr/>
          <p:nvPr/>
        </p:nvSpPr>
        <p:spPr>
          <a:xfrm>
            <a:off x="5182016"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9" name="図 8" descr="LINE公式アカウントのロゴを活用しよう！注意点やNG例も合わせて解説 - LINEマーケティングツールFANVO">
            <a:extLst>
              <a:ext uri="{FF2B5EF4-FFF2-40B4-BE49-F238E27FC236}">
                <a16:creationId xmlns:a16="http://schemas.microsoft.com/office/drawing/2014/main" id="{7499D9A1-145E-E266-83BC-3570D5C46C13}"/>
              </a:ext>
            </a:extLst>
          </p:cNvPr>
          <p:cNvPicPr>
            <a:picLocks noChangeAspect="1"/>
          </p:cNvPicPr>
          <p:nvPr/>
        </p:nvPicPr>
        <p:blipFill>
          <a:blip r:embed="rId3"/>
          <a:stretch>
            <a:fillRect/>
          </a:stretch>
        </p:blipFill>
        <p:spPr>
          <a:xfrm>
            <a:off x="4972346" y="1415224"/>
            <a:ext cx="419340" cy="418460"/>
          </a:xfrm>
          <a:prstGeom prst="rect">
            <a:avLst/>
          </a:prstGeom>
        </p:spPr>
      </p:pic>
      <p:sp>
        <p:nvSpPr>
          <p:cNvPr id="12" name="テキスト ボックス 11">
            <a:extLst>
              <a:ext uri="{FF2B5EF4-FFF2-40B4-BE49-F238E27FC236}">
                <a16:creationId xmlns:a16="http://schemas.microsoft.com/office/drawing/2014/main" id="{D510765C-D91E-3EF4-4A1A-9BF832DC8A4C}"/>
              </a:ext>
            </a:extLst>
          </p:cNvPr>
          <p:cNvSpPr txBox="1"/>
          <p:nvPr/>
        </p:nvSpPr>
        <p:spPr>
          <a:xfrm>
            <a:off x="5301604"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2D224931-6ECA-9763-63E9-7DD9B080E440}"/>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0" name="四角形: 角を丸くする 9">
            <a:extLst>
              <a:ext uri="{FF2B5EF4-FFF2-40B4-BE49-F238E27FC236}">
                <a16:creationId xmlns:a16="http://schemas.microsoft.com/office/drawing/2014/main" id="{F6D71787-DACF-D927-0AC0-7D5E99A64F29}"/>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9" name="四角形: 角を丸くする 18">
            <a:extLst>
              <a:ext uri="{FF2B5EF4-FFF2-40B4-BE49-F238E27FC236}">
                <a16:creationId xmlns:a16="http://schemas.microsoft.com/office/drawing/2014/main" id="{FCA279C4-C296-61EC-C9D3-DAE41B033D78}"/>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cs typeface="メイリオ"/>
              </a:rPr>
              <a:t>お金周り</a:t>
            </a:r>
          </a:p>
        </p:txBody>
      </p:sp>
      <p:sp>
        <p:nvSpPr>
          <p:cNvPr id="25" name="四角形: 角を丸くする 24">
            <a:extLst>
              <a:ext uri="{FF2B5EF4-FFF2-40B4-BE49-F238E27FC236}">
                <a16:creationId xmlns:a16="http://schemas.microsoft.com/office/drawing/2014/main" id="{F1163350-C485-703A-6504-08D7D75EE71A}"/>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7" name="四角形: 角を丸くする 26">
            <a:extLst>
              <a:ext uri="{FF2B5EF4-FFF2-40B4-BE49-F238E27FC236}">
                <a16:creationId xmlns:a16="http://schemas.microsoft.com/office/drawing/2014/main" id="{575B5195-33B9-6FF0-63AF-D3B0017CCCC2}"/>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6" name="差し込み 前後検索の画像"/>
          <p:cNvSpPr/>
          <p:nvPr/>
        </p:nvSpPr>
        <p:spPr>
          <a:xfrm>
            <a:off x="1312605" y="1893604"/>
            <a:ext cx="7223640" cy="4213792"/>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3812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3BA2-CF45-0DF9-CBDD-A5830E2CF0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F42532B-D77B-6AC3-A328-689E2FC45F9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5D33EAB5-3104-05B5-E501-BBD7DE6AC9F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6F2AE0B-CB02-A8CD-4FB4-B3F45A0A747C}"/>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BA92233F-6BFD-0359-EEDA-BE51C1C483C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8F8E1B34-1AC7-E92D-4681-D5F6A71CFBF4}"/>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79E5C2B4-5B91-6669-DA9D-9C6100822D80}"/>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22" name="正方形/長方形 21">
            <a:extLst>
              <a:ext uri="{FF2B5EF4-FFF2-40B4-BE49-F238E27FC236}">
                <a16:creationId xmlns:a16="http://schemas.microsoft.com/office/drawing/2014/main" id="{F784DCA2-0206-476A-CC2D-15EA1A5F9515}"/>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キーワード</a:t>
            </a:r>
          </a:p>
        </p:txBody>
      </p:sp>
      <p:sp>
        <p:nvSpPr>
          <p:cNvPr id="13" name="正方形/長方形 12">
            <a:extLst>
              <a:ext uri="{FF2B5EF4-FFF2-40B4-BE49-F238E27FC236}">
                <a16:creationId xmlns:a16="http://schemas.microsoft.com/office/drawing/2014/main" id="{61C146B2-09C1-EAF2-AA90-D6921017547B}"/>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前</a:t>
            </a:r>
            <a:r>
              <a:rPr kumimoji="1"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6" name="正方形/長方形 15">
            <a:extLst>
              <a:ext uri="{FF2B5EF4-FFF2-40B4-BE49-F238E27FC236}">
                <a16:creationId xmlns:a16="http://schemas.microsoft.com/office/drawing/2014/main" id="{59D3B460-577D-4DA5-3627-A3FE3F8ED9DC}"/>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後</a:t>
            </a:r>
            <a:r>
              <a:rPr lang="en-US" altLang="ja-JP" sz="1050" b="1" dirty="0">
                <a:solidFill>
                  <a:schemeClr val="tx1"/>
                </a:solidFill>
                <a:latin typeface="メイリオ" panose="020B0604030504040204" pitchFamily="50" charset="-128"/>
                <a:ea typeface="メイリオ" panose="020B0604030504040204" pitchFamily="50" charset="-128"/>
                <a:cs typeface="メイリオ"/>
              </a:rPr>
              <a:t>”15</a:t>
            </a:r>
            <a:r>
              <a:rPr lang="ja-JP" altLang="en-US" sz="1050" b="1" dirty="0">
                <a:solidFill>
                  <a:schemeClr val="tx1"/>
                </a:solidFill>
                <a:latin typeface="メイリオ" panose="020B0604030504040204" pitchFamily="50" charset="-128"/>
                <a:ea typeface="メイリオ" panose="020B0604030504040204" pitchFamily="50" charset="-128"/>
                <a:cs typeface="メイリオ"/>
              </a:rPr>
              <a:t>日</a:t>
            </a:r>
          </a:p>
        </p:txBody>
      </p:sp>
      <p:sp>
        <p:nvSpPr>
          <p:cNvPr id="18" name="テキスト ボックス 17">
            <a:extLst>
              <a:ext uri="{FF2B5EF4-FFF2-40B4-BE49-F238E27FC236}">
                <a16:creationId xmlns:a16="http://schemas.microsoft.com/office/drawing/2014/main" id="{D8D61203-B4E8-EA26-11E7-042F4CC7854D}"/>
              </a:ext>
            </a:extLst>
          </p:cNvPr>
          <p:cNvSpPr txBox="1"/>
          <p:nvPr/>
        </p:nvSpPr>
        <p:spPr>
          <a:xfrm>
            <a:off x="736682" y="1847126"/>
            <a:ext cx="1079863" cy="253916"/>
          </a:xfrm>
          <a:prstGeom prst="rect">
            <a:avLst/>
          </a:prstGeom>
          <a:noFill/>
        </p:spPr>
        <p:txBody>
          <a:bodyPr wrap="square">
            <a:spAutoFit/>
          </a:bodyPr>
          <a:lstStyle/>
          <a:p>
            <a:r>
              <a:rPr lang="ja-JP" altLang="en-US" sz="1050" b="1" dirty="0">
                <a:solidFill>
                  <a:srgbClr val="1F2A5C"/>
                </a:solidFill>
                <a:latin typeface="メイリオ" panose="020B0604030504040204" pitchFamily="50" charset="-128"/>
                <a:ea typeface="メイリオ" panose="020B0604030504040204" pitchFamily="50" charset="-128"/>
                <a:cs typeface="メイリオ"/>
              </a:rPr>
              <a:t>検索</a:t>
            </a:r>
            <a:r>
              <a:rPr lang="en-US" altLang="ja-JP" sz="1050" b="1" dirty="0">
                <a:solidFill>
                  <a:srgbClr val="1F2A5C"/>
                </a:solidFill>
                <a:latin typeface="メイリオ" panose="020B0604030504040204" pitchFamily="50" charset="-128"/>
                <a:ea typeface="メイリオ" panose="020B0604030504040204" pitchFamily="50" charset="-128"/>
                <a:cs typeface="メイリオ"/>
              </a:rPr>
              <a:t>Vol:</a:t>
            </a:r>
            <a:r>
              <a:rPr lang="ja-JP" altLang="en-US" sz="1050" b="1" dirty="0">
                <a:solidFill>
                  <a:srgbClr val="1F2A5C"/>
                </a:solidFill>
                <a:latin typeface="メイリオ" panose="020B0604030504040204" pitchFamily="50" charset="-128"/>
                <a:ea typeface="メイリオ" panose="020B0604030504040204" pitchFamily="50" charset="-128"/>
                <a:cs typeface="メイリオ"/>
              </a:rPr>
              <a:t>多</a:t>
            </a:r>
            <a:endParaRPr kumimoji="1" lang="ja-JP" altLang="en-US"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63FD9650-CF2E-C04B-71DA-C5C32192D256}"/>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短期のステップ配信の配信コンテンツ作成に利用。</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11" name="四角形: 角を丸くする 10">
            <a:extLst>
              <a:ext uri="{FF2B5EF4-FFF2-40B4-BE49-F238E27FC236}">
                <a16:creationId xmlns:a16="http://schemas.microsoft.com/office/drawing/2014/main" id="{9698CAAA-C7D0-DE8C-1937-135259153DF5}"/>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ブランド名</a:t>
            </a:r>
          </a:p>
        </p:txBody>
      </p:sp>
      <p:sp>
        <p:nvSpPr>
          <p:cNvPr id="15" name="四角形: 角を丸くする 14">
            <a:extLst>
              <a:ext uri="{FF2B5EF4-FFF2-40B4-BE49-F238E27FC236}">
                <a16:creationId xmlns:a16="http://schemas.microsoft.com/office/drawing/2014/main" id="{D484CC40-8F93-841D-9C65-D77C9FDB28E9}"/>
              </a:ext>
            </a:extLst>
          </p:cNvPr>
          <p:cNvSpPr/>
          <p:nvPr/>
        </p:nvSpPr>
        <p:spPr>
          <a:xfrm>
            <a:off x="8482149" y="1980746"/>
            <a:ext cx="1185818"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お金周り</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四角形: 角を丸くする 18">
            <a:extLst>
              <a:ext uri="{FF2B5EF4-FFF2-40B4-BE49-F238E27FC236}">
                <a16:creationId xmlns:a16="http://schemas.microsoft.com/office/drawing/2014/main" id="{14477AFE-E2AB-A03A-8102-B7565C7E8967}"/>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solidFill>
                <a:latin typeface="メイリオ" panose="020B0604030504040204" pitchFamily="50" charset="-128"/>
                <a:ea typeface="メイリオ" panose="020B0604030504040204" pitchFamily="50" charset="-128"/>
                <a:cs typeface="メイリオ"/>
              </a:rPr>
              <a:t>ライフイベント</a:t>
            </a:r>
            <a:endParaRPr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3" name="四角形: 角を丸くする 22">
            <a:extLst>
              <a:ext uri="{FF2B5EF4-FFF2-40B4-BE49-F238E27FC236}">
                <a16:creationId xmlns:a16="http://schemas.microsoft.com/office/drawing/2014/main" id="{9E775032-FD1B-EA57-EF1F-2E939977DBF0}"/>
              </a:ext>
            </a:extLst>
          </p:cNvPr>
          <p:cNvSpPr/>
          <p:nvPr/>
        </p:nvSpPr>
        <p:spPr>
          <a:xfrm>
            <a:off x="8482149" y="2564904"/>
            <a:ext cx="1185818" cy="253916"/>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34" name="正方形/長方形 133">
            <a:extLst>
              <a:ext uri="{FF2B5EF4-FFF2-40B4-BE49-F238E27FC236}">
                <a16:creationId xmlns:a16="http://schemas.microsoft.com/office/drawing/2014/main" id="{E1DBE2B9-1B8A-7D74-6827-B277538B2E74}"/>
              </a:ext>
            </a:extLst>
          </p:cNvPr>
          <p:cNvSpPr/>
          <p:nvPr/>
        </p:nvSpPr>
        <p:spPr>
          <a:xfrm>
            <a:off x="5173309" y="1536888"/>
            <a:ext cx="1079863"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36" name="図 135" descr="LINE公式アカウントのロゴを活用しよう！注意点やNG例も合わせて解説 - LINEマーケティングツールFANVO">
            <a:extLst>
              <a:ext uri="{FF2B5EF4-FFF2-40B4-BE49-F238E27FC236}">
                <a16:creationId xmlns:a16="http://schemas.microsoft.com/office/drawing/2014/main" id="{7292D2B2-006C-20F1-069A-EA07DB9040FF}"/>
              </a:ext>
            </a:extLst>
          </p:cNvPr>
          <p:cNvPicPr>
            <a:picLocks noChangeAspect="1"/>
          </p:cNvPicPr>
          <p:nvPr/>
        </p:nvPicPr>
        <p:blipFill>
          <a:blip r:embed="rId3"/>
          <a:stretch>
            <a:fillRect/>
          </a:stretch>
        </p:blipFill>
        <p:spPr>
          <a:xfrm>
            <a:off x="4963639" y="1415224"/>
            <a:ext cx="419340" cy="418460"/>
          </a:xfrm>
          <a:prstGeom prst="rect">
            <a:avLst/>
          </a:prstGeom>
        </p:spPr>
      </p:pic>
      <p:sp>
        <p:nvSpPr>
          <p:cNvPr id="138" name="テキスト ボックス 137">
            <a:extLst>
              <a:ext uri="{FF2B5EF4-FFF2-40B4-BE49-F238E27FC236}">
                <a16:creationId xmlns:a16="http://schemas.microsoft.com/office/drawing/2014/main" id="{3825EFF3-DD91-80CA-5C34-6956639E0AF6}"/>
              </a:ext>
            </a:extLst>
          </p:cNvPr>
          <p:cNvSpPr txBox="1"/>
          <p:nvPr/>
        </p:nvSpPr>
        <p:spPr>
          <a:xfrm>
            <a:off x="5319022" y="1579097"/>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9" name="差し込み 前後検索の画像"/>
          <p:cNvSpPr/>
          <p:nvPr/>
        </p:nvSpPr>
        <p:spPr>
          <a:xfrm>
            <a:off x="1386465" y="1895415"/>
            <a:ext cx="7152121" cy="4172069"/>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前後検索の画像</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26734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5661-D170-7F4D-B8A8-8C3B4D5EF47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F2A605-8BE9-543D-C379-8ADC172A2B5B}"/>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7FB6EC3-4D6F-6C45-86B8-DAD6CBB0E53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ニーズ調査（前後検索）</a:t>
            </a:r>
            <a:endParaRPr sz="1600" b="1" dirty="0">
              <a:solidFill>
                <a:srgbClr val="002060"/>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72B83C2C-8DD1-B131-625E-DC1B80BAE95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1F2A5C"/>
                </a:solidFill>
                <a:latin typeface="メイリオ"/>
                <a:ea typeface="メイリオ"/>
                <a:cs typeface="メイリオ"/>
                <a:sym typeface="Meiryo"/>
              </a:rPr>
              <a:t>※LINE</a:t>
            </a:r>
            <a:r>
              <a:rPr lang="ja-JP" altLang="en-US" sz="1000" dirty="0">
                <a:solidFill>
                  <a:srgbClr val="1F2A5C"/>
                </a:solidFill>
                <a:latin typeface="メイリオ"/>
                <a:ea typeface="メイリオ"/>
                <a:cs typeface="メイリオ"/>
                <a:sym typeface="Meiryo"/>
              </a:rPr>
              <a:t>ヤフーの媒体情報を参考に</a:t>
            </a:r>
            <a:endParaRPr lang="ja-JP" altLang="en-US" sz="1050" dirty="0">
              <a:solidFill>
                <a:srgbClr val="1F2A5C"/>
              </a:solidFill>
              <a:latin typeface="メイリオ"/>
              <a:ea typeface="メイリオ"/>
              <a:cs typeface="メイリオ"/>
            </a:endParaRPr>
          </a:p>
        </p:txBody>
      </p:sp>
      <p:cxnSp>
        <p:nvCxnSpPr>
          <p:cNvPr id="6" name="直線コネクタ 5">
            <a:extLst>
              <a:ext uri="{FF2B5EF4-FFF2-40B4-BE49-F238E27FC236}">
                <a16:creationId xmlns:a16="http://schemas.microsoft.com/office/drawing/2014/main" id="{F9E4E4A3-0061-C7DF-4A07-669885EC904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 name="Card1_Title">
            <a:extLst>
              <a:ext uri="{FF2B5EF4-FFF2-40B4-BE49-F238E27FC236}">
                <a16:creationId xmlns:a16="http://schemas.microsoft.com/office/drawing/2014/main" id="{8E31DAD6-1621-DBDA-E670-9EC6437B61A2}"/>
              </a:ext>
            </a:extLst>
          </p:cNvPr>
          <p:cNvSpPr txBox="1"/>
          <p:nvPr/>
        </p:nvSpPr>
        <p:spPr>
          <a:xfrm>
            <a:off x="441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検索「前」クエリ（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7" name="Card1_Body">
            <a:extLst>
              <a:ext uri="{FF2B5EF4-FFF2-40B4-BE49-F238E27FC236}">
                <a16:creationId xmlns:a16="http://schemas.microsoft.com/office/drawing/2014/main" id="{D3A10FAB-A215-96CD-4586-4D95A31E157D}"/>
              </a:ext>
            </a:extLst>
          </p:cNvPr>
          <p:cNvSpPr txBox="1"/>
          <p:nvPr/>
        </p:nvSpPr>
        <p:spPr>
          <a:xfrm>
            <a:off x="441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Card2_Title">
            <a:extLst>
              <a:ext uri="{FF2B5EF4-FFF2-40B4-BE49-F238E27FC236}">
                <a16:creationId xmlns:a16="http://schemas.microsoft.com/office/drawing/2014/main" id="{AF3F627C-CA5A-EA6E-EB31-14D66576A08E}"/>
              </a:ext>
            </a:extLst>
          </p:cNvPr>
          <p:cNvSpPr txBox="1"/>
          <p:nvPr/>
        </p:nvSpPr>
        <p:spPr>
          <a:xfrm>
            <a:off x="3553460" y="1709511"/>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検索「起点」（</a:t>
            </a:r>
            <a:r>
              <a:rPr kumimoji="0" lang="en-US" altLang="ja-JP"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0</a:t>
            </a:r>
            <a:r>
              <a:rPr kumimoji="0" lang="ja-JP" altLang="en-US" sz="1200" b="1" i="0" u="none" strike="noStrike" kern="0" cap="none" spc="0" normalizeH="0" baseline="0" noProof="0" dirty="0">
                <a:ln>
                  <a:noFill/>
                </a:ln>
                <a:solidFill>
                  <a:srgbClr val="4A6FA5"/>
                </a:solidFill>
                <a:effectLst/>
                <a:uLnTx/>
                <a:uFillTx/>
                <a:latin typeface="メイリオ" panose="020B0604030504040204" pitchFamily="50" charset="-128"/>
                <a:ea typeface="メイリオ" panose="020B0604030504040204" pitchFamily="50" charset="-128"/>
                <a:cs typeface="メイリオ"/>
                <a:sym typeface="Arial"/>
              </a:rPr>
              <a:t>日）</a:t>
            </a:r>
          </a:p>
        </p:txBody>
      </p:sp>
      <p:sp>
        <p:nvSpPr>
          <p:cNvPr id="11" name="Card2_Body">
            <a:extLst>
              <a:ext uri="{FF2B5EF4-FFF2-40B4-BE49-F238E27FC236}">
                <a16:creationId xmlns:a16="http://schemas.microsoft.com/office/drawing/2014/main" id="{071EA822-5DE7-F7FC-CE53-C2441B6BA07A}"/>
              </a:ext>
            </a:extLst>
          </p:cNvPr>
          <p:cNvSpPr txBox="1"/>
          <p:nvPr/>
        </p:nvSpPr>
        <p:spPr>
          <a:xfrm>
            <a:off x="35534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4A6FA5"/>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5" name="Card3_Title">
            <a:extLst>
              <a:ext uri="{FF2B5EF4-FFF2-40B4-BE49-F238E27FC236}">
                <a16:creationId xmlns:a16="http://schemas.microsoft.com/office/drawing/2014/main" id="{8D47B4FA-63E9-2461-A89D-BE48099D1CEF}"/>
              </a:ext>
            </a:extLst>
          </p:cNvPr>
          <p:cNvSpPr txBox="1"/>
          <p:nvPr/>
        </p:nvSpPr>
        <p:spPr>
          <a:xfrm>
            <a:off x="6664960" y="1709511"/>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検索「後」クエリ（</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1〜15</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日</a:t>
            </a:r>
            <a:r>
              <a:rPr kumimoji="0" lang="en-US" altLang="ja-JP"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7" name="Card3_Body">
            <a:extLst>
              <a:ext uri="{FF2B5EF4-FFF2-40B4-BE49-F238E27FC236}">
                <a16:creationId xmlns:a16="http://schemas.microsoft.com/office/drawing/2014/main" id="{0F35057D-2CE3-9DDA-8E94-282A37275B5F}"/>
              </a:ext>
            </a:extLst>
          </p:cNvPr>
          <p:cNvSpPr txBox="1"/>
          <p:nvPr/>
        </p:nvSpPr>
        <p:spPr>
          <a:xfrm>
            <a:off x="6664960" y="2203410"/>
            <a:ext cx="2921000" cy="1445481"/>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171450" marR="0" lvl="0" indent="-171450" algn="l" defTabSz="914400" rtl="0" eaLnBrk="1" fontAlgn="auto" latinLnBrk="0" hangingPunct="1">
              <a:lnSpc>
                <a:spcPct val="100000"/>
              </a:lnSpc>
              <a:spcBef>
                <a:spcPts val="200"/>
              </a:spcBef>
              <a:spcAft>
                <a:spcPts val="0"/>
              </a:spcAft>
              <a:buClr>
                <a:srgbClr val="1F2A5C"/>
              </a:buClr>
              <a:buSzTx/>
              <a:buFont typeface="Arial"/>
              <a:buChar char="•"/>
              <a:tabLst/>
              <a:defRPr>
                <a:latin typeface="メイリオ"/>
                <a:ea typeface="メイリオ"/>
                <a:cs typeface="メイリオ"/>
              </a:defRPr>
            </a:pPr>
            <a:r>
              <a:rPr kumimoji="0" lang="ja-JP" altLang="en-US" sz="1200" b="0" i="0" u="none" strike="noStrike" kern="0" cap="none" spc="0" normalizeH="0" baseline="0" noProof="0" dirty="0">
                <a:ln>
                  <a:noFill/>
                </a:ln>
                <a:solidFill>
                  <a:srgbClr val="333333"/>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2" name="テキスト ボックス 11">
            <a:extLst>
              <a:ext uri="{FF2B5EF4-FFF2-40B4-BE49-F238E27FC236}">
                <a16:creationId xmlns:a16="http://schemas.microsoft.com/office/drawing/2014/main" id="{DCF84225-84DA-E8B0-FCCE-46A1376BC209}"/>
              </a:ext>
            </a:extLst>
          </p:cNvPr>
          <p:cNvSpPr txBox="1"/>
          <p:nvPr/>
        </p:nvSpPr>
        <p:spPr>
          <a:xfrm>
            <a:off x="5286079" y="4595204"/>
            <a:ext cx="1079863" cy="261610"/>
          </a:xfrm>
          <a:prstGeom prst="rect">
            <a:avLst/>
          </a:prstGeom>
          <a:noFill/>
        </p:spPr>
        <p:txBody>
          <a:bodyPr wrap="square">
            <a:spAutoFit/>
          </a:bodyPr>
          <a:lstStyle/>
          <a:p>
            <a:r>
              <a:rPr lang="en-US" altLang="ja-JP" sz="1100" b="1" dirty="0">
                <a:latin typeface="メイリオ"/>
                <a:ea typeface="メイリオ"/>
                <a:cs typeface="メイリオ"/>
                <a:sym typeface="Meiryo"/>
              </a:rPr>
              <a:t>OA</a:t>
            </a:r>
            <a:r>
              <a:rPr lang="ja-JP" altLang="en-US" sz="1100" b="1" dirty="0">
                <a:latin typeface="メイリオ"/>
                <a:ea typeface="メイリオ"/>
                <a:cs typeface="メイリオ"/>
                <a:sym typeface="Meiryo"/>
              </a:rPr>
              <a:t>追加想定</a:t>
            </a:r>
            <a:endParaRPr lang="ja-JP" altLang="en-US" sz="1200" dirty="0">
              <a:latin typeface="メイリオ"/>
              <a:ea typeface="メイリオ"/>
              <a:cs typeface="メイリオ"/>
            </a:endParaRPr>
          </a:p>
        </p:txBody>
      </p:sp>
      <p:sp>
        <p:nvSpPr>
          <p:cNvPr id="13" name="矢印: 下 12">
            <a:extLst>
              <a:ext uri="{FF2B5EF4-FFF2-40B4-BE49-F238E27FC236}">
                <a16:creationId xmlns:a16="http://schemas.microsoft.com/office/drawing/2014/main" id="{D61D535A-38C6-7BB0-0D6E-34AB306808A8}"/>
              </a:ext>
            </a:extLst>
          </p:cNvPr>
          <p:cNvSpPr/>
          <p:nvPr/>
        </p:nvSpPr>
        <p:spPr>
          <a:xfrm>
            <a:off x="5036442" y="3737247"/>
            <a:ext cx="1097280" cy="2090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6" name="Card1_Title">
            <a:extLst>
              <a:ext uri="{FF2B5EF4-FFF2-40B4-BE49-F238E27FC236}">
                <a16:creationId xmlns:a16="http://schemas.microsoft.com/office/drawing/2014/main" id="{EA1CCC1E-91FF-5127-259C-24170B827EFB}"/>
              </a:ext>
            </a:extLst>
          </p:cNvPr>
          <p:cNvSpPr txBox="1"/>
          <p:nvPr/>
        </p:nvSpPr>
        <p:spPr>
          <a:xfrm>
            <a:off x="4470369" y="3994007"/>
            <a:ext cx="2194591"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lang="ja-JP" altLang="en-US" sz="1200" b="1" i="0" u="none" strike="noStrike" kern="0" cap="none" spc="0" normalizeH="0" baseline="0" noProof="0" dirty="0">
                <a:ln>
                  <a:noFill/>
                </a:ln>
                <a:solidFill>
                  <a:srgbClr val="1F2A5C"/>
                </a:solidFill>
                <a:effectLst/>
                <a:uLnTx/>
                <a:uFillTx/>
                <a:latin typeface="メイリオ" panose="020B0604030504040204" pitchFamily="50" charset="-128"/>
                <a:ea typeface="メイリオ" panose="020B0604030504040204" pitchFamily="50" charset="-128"/>
                <a:cs typeface="メイリオ"/>
                <a:sym typeface="Arial"/>
              </a:rPr>
              <a:t>離脱防止</a:t>
            </a:r>
          </a:p>
        </p:txBody>
      </p:sp>
      <p:cxnSp>
        <p:nvCxnSpPr>
          <p:cNvPr id="20" name="直線コネクタ 19">
            <a:extLst>
              <a:ext uri="{FF2B5EF4-FFF2-40B4-BE49-F238E27FC236}">
                <a16:creationId xmlns:a16="http://schemas.microsoft.com/office/drawing/2014/main" id="{5BE55DA4-D366-93E9-818A-C5CB316D61F6}"/>
              </a:ext>
            </a:extLst>
          </p:cNvPr>
          <p:cNvCxnSpPr/>
          <p:nvPr/>
        </p:nvCxnSpPr>
        <p:spPr>
          <a:xfrm>
            <a:off x="5094517" y="4709762"/>
            <a:ext cx="0" cy="1292023"/>
          </a:xfrm>
          <a:prstGeom prst="line">
            <a:avLst/>
          </a:prstGeom>
          <a:ln>
            <a:solidFill>
              <a:srgbClr val="04FA0A"/>
            </a:solidFill>
          </a:ln>
        </p:spPr>
        <p:style>
          <a:lnRef idx="1">
            <a:schemeClr val="accent1"/>
          </a:lnRef>
          <a:fillRef idx="0">
            <a:schemeClr val="accent1"/>
          </a:fillRef>
          <a:effectRef idx="0">
            <a:schemeClr val="accent1"/>
          </a:effectRef>
          <a:fontRef idx="minor">
            <a:schemeClr val="tx1"/>
          </a:fontRef>
        </p:style>
      </p:cxnSp>
      <p:pic>
        <p:nvPicPr>
          <p:cNvPr id="22" name="図 21" descr="LINE公式アカウントのロゴを活用しよう！注意点やNG例も合わせて解説 - LINEマーケティングツールFANVO">
            <a:extLst>
              <a:ext uri="{FF2B5EF4-FFF2-40B4-BE49-F238E27FC236}">
                <a16:creationId xmlns:a16="http://schemas.microsoft.com/office/drawing/2014/main" id="{4DC60E86-0524-E40F-7236-4D8A38BD333B}"/>
              </a:ext>
            </a:extLst>
          </p:cNvPr>
          <p:cNvPicPr>
            <a:picLocks noChangeAspect="1"/>
          </p:cNvPicPr>
          <p:nvPr/>
        </p:nvPicPr>
        <p:blipFill>
          <a:blip r:embed="rId3"/>
          <a:stretch>
            <a:fillRect/>
          </a:stretch>
        </p:blipFill>
        <p:spPr>
          <a:xfrm>
            <a:off x="4866739" y="4519050"/>
            <a:ext cx="419340" cy="418460"/>
          </a:xfrm>
          <a:prstGeom prst="rect">
            <a:avLst/>
          </a:prstGeom>
        </p:spPr>
      </p:pic>
      <p:sp>
        <p:nvSpPr>
          <p:cNvPr id="24" name="テキスト ボックス 23">
            <a:extLst>
              <a:ext uri="{FF2B5EF4-FFF2-40B4-BE49-F238E27FC236}">
                <a16:creationId xmlns:a16="http://schemas.microsoft.com/office/drawing/2014/main" id="{8F0B071A-7C5B-F060-B690-5A7A3AFEC0DD}"/>
              </a:ext>
            </a:extLst>
          </p:cNvPr>
          <p:cNvSpPr txBox="1"/>
          <p:nvPr/>
        </p:nvSpPr>
        <p:spPr>
          <a:xfrm>
            <a:off x="5268638" y="5094163"/>
            <a:ext cx="3857945" cy="261610"/>
          </a:xfrm>
          <a:prstGeom prst="rect">
            <a:avLst/>
          </a:prstGeom>
          <a:noFill/>
        </p:spPr>
        <p:txBody>
          <a:bodyPr wrap="square">
            <a:spAutoFit/>
          </a:bodyPr>
          <a:lstStyle/>
          <a:p>
            <a:r>
              <a:rPr lang="ja-JP" altLang="en-US" sz="1100" b="1" dirty="0">
                <a:latin typeface="メイリオ"/>
                <a:ea typeface="メイリオ"/>
                <a:cs typeface="メイリオ"/>
                <a:sym typeface="Meiryo"/>
              </a:rPr>
              <a:t>⇨ステップ配信がスタート。</a:t>
            </a:r>
            <a:endParaRPr lang="ja-JP" altLang="en-US" sz="1200" dirty="0">
              <a:latin typeface="メイリオ"/>
              <a:ea typeface="メイリオ"/>
              <a:cs typeface="メイリオ"/>
            </a:endParaRPr>
          </a:p>
        </p:txBody>
      </p:sp>
      <p:sp>
        <p:nvSpPr>
          <p:cNvPr id="26" name="テキスト ボックス 25">
            <a:extLst>
              <a:ext uri="{FF2B5EF4-FFF2-40B4-BE49-F238E27FC236}">
                <a16:creationId xmlns:a16="http://schemas.microsoft.com/office/drawing/2014/main" id="{70592E01-ABF8-E8A1-7E8A-7A1556DFA756}"/>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前後検索を各カテゴリ別</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ニーズ大小別で棲み分け、最適なタイミングで</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ステップ配信のコンテンツ出し分けに活用。</a:t>
            </a:r>
            <a:endParaRPr lang="ja-JP" altLang="ja-JP" sz="1100" dirty="0">
              <a:effectLst/>
              <a:latin typeface="メイリオ" panose="02020603050405020304" pitchFamily="18" charset="0"/>
              <a:ea typeface="メイリオ" panose="02020400000000000000" pitchFamily="18" charset="-128"/>
              <a:cs typeface="メイリオ"/>
            </a:endParaRPr>
          </a:p>
        </p:txBody>
      </p:sp>
    </p:spTree>
    <p:extLst>
      <p:ext uri="{BB962C8B-B14F-4D97-AF65-F5344CB8AC3E}">
        <p14:creationId xmlns:p14="http://schemas.microsoft.com/office/powerpoint/2010/main" val="53564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88D946F-DA36-B087-C6F8-FF4EC57BC7C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8" name="テキスト ボックス 7">
            <a:extLst>
              <a:ext uri="{FF2B5EF4-FFF2-40B4-BE49-F238E27FC236}">
                <a16:creationId xmlns:a16="http://schemas.microsoft.com/office/drawing/2014/main" id="{8AC0F8FD-EDCC-5FCF-2FF3-71604C94B29B}"/>
              </a:ext>
            </a:extLst>
          </p:cNvPr>
          <p:cNvSpPr txBox="1"/>
          <p:nvPr/>
        </p:nvSpPr>
        <p:spPr>
          <a:xfrm>
            <a:off x="384048" y="5943600"/>
            <a:ext cx="9098280" cy="384048"/>
          </a:xfrm>
          <a:prstGeom prst="rect">
            <a:avLst/>
          </a:prstGeom>
          <a:noFill/>
        </p:spPr>
        <p:txBody>
          <a:bodyPr wrap="square">
            <a:spAutoFit/>
          </a:bodyPr>
          <a:lstStyle/>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※営業職員数：生命保険協会「2025年版 生命保険の動向」／加入経路：生命保険文化センター「2024（令和6）年度 生命保険に関する全国実態調査」</a:t>
            </a:r>
            <a:endParaRPr lang="ja-JP" altLang="en-US" sz="1400" dirty="0">
              <a:solidFill>
                <a:schemeClr val="bg1">
                  <a:lumMod val="65000"/>
                </a:schemeClr>
              </a:solidFill>
              <a:latin typeface="メイリオ"/>
              <a:ea typeface="メイリオ"/>
              <a:cs typeface="メイリオ"/>
            </a:endParaRPr>
          </a:p>
          <a:p>
            <a:pPr algn="r"/>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※接触回数：矢野経済研究所「生命保険の営業職員アンケート調査」（2023年4〜6月、生命保険の営業職員400名）</a:t>
            </a:r>
            <a:endParaRPr lang="ja-JP" altLang="en-US" sz="1400" dirty="0">
              <a:solidFill>
                <a:schemeClr val="bg1">
                  <a:lumMod val="65000"/>
                </a:schemeClr>
              </a:solidFill>
              <a:latin typeface="メイリオ"/>
              <a:ea typeface="メイリオ"/>
              <a:cs typeface="メイリオ"/>
            </a:endParaRPr>
          </a:p>
        </p:txBody>
      </p:sp>
      <p:sp>
        <p:nvSpPr>
          <p:cNvPr id="22" name="Card1_Title">
            <a:extLst>
              <a:ext uri="{FF2B5EF4-FFF2-40B4-BE49-F238E27FC236}">
                <a16:creationId xmlns:a16="http://schemas.microsoft.com/office/drawing/2014/main" id="{F09D273B-3EB8-1C59-CFC4-7013E4A1F363}"/>
              </a:ext>
            </a:extLst>
          </p:cNvPr>
          <p:cNvSpPr txBox="1"/>
          <p:nvPr/>
        </p:nvSpPr>
        <p:spPr>
          <a:xfrm>
            <a:off x="381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営業職員数</a:t>
            </a:r>
          </a:p>
        </p:txBody>
      </p:sp>
      <p:sp>
        <p:nvSpPr>
          <p:cNvPr id="24" name="Card1_Body">
            <a:extLst>
              <a:ext uri="{FF2B5EF4-FFF2-40B4-BE49-F238E27FC236}">
                <a16:creationId xmlns:a16="http://schemas.microsoft.com/office/drawing/2014/main" id="{C4D4BD62-2E83-C234-FD58-451256FC8C12}"/>
              </a:ext>
            </a:extLst>
          </p:cNvPr>
          <p:cNvSpPr txBox="1"/>
          <p:nvPr/>
        </p:nvSpPr>
        <p:spPr>
          <a:xfrm>
            <a:off x="381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約24万人で横ばい（2020〜2024年度）</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生命保険の営業職員（各年度末）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6" name="Card2_Title">
            <a:extLst>
              <a:ext uri="{FF2B5EF4-FFF2-40B4-BE49-F238E27FC236}">
                <a16:creationId xmlns:a16="http://schemas.microsoft.com/office/drawing/2014/main" id="{A353F2E6-73D0-7C02-26E1-1B6C2DBCE0B3}"/>
              </a:ext>
            </a:extLst>
          </p:cNvPr>
          <p:cNvSpPr txBox="1"/>
          <p:nvPr/>
        </p:nvSpPr>
        <p:spPr>
          <a:xfrm>
            <a:off x="3492500" y="755465"/>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保険の加入経路</a:t>
            </a:r>
          </a:p>
        </p:txBody>
      </p:sp>
      <p:sp>
        <p:nvSpPr>
          <p:cNvPr id="28" name="Card2_Body">
            <a:extLst>
              <a:ext uri="{FF2B5EF4-FFF2-40B4-BE49-F238E27FC236}">
                <a16:creationId xmlns:a16="http://schemas.microsoft.com/office/drawing/2014/main" id="{E6278C61-2C8E-CFD2-1633-C4571ED6A510}"/>
              </a:ext>
            </a:extLst>
          </p:cNvPr>
          <p:cNvSpPr txBox="1"/>
          <p:nvPr/>
        </p:nvSpPr>
        <p:spPr>
          <a:xfrm>
            <a:off x="34925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加入経路のうち「生命保険会社の営業職員」が56.7%（2024年調査）</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0" name="Card3_Title">
            <a:extLst>
              <a:ext uri="{FF2B5EF4-FFF2-40B4-BE49-F238E27FC236}">
                <a16:creationId xmlns:a16="http://schemas.microsoft.com/office/drawing/2014/main" id="{0B941908-3223-5564-217F-FA5805E7C3CC}"/>
              </a:ext>
            </a:extLst>
          </p:cNvPr>
          <p:cNvSpPr txBox="1"/>
          <p:nvPr/>
        </p:nvSpPr>
        <p:spPr>
          <a:xfrm>
            <a:off x="6604000" y="755465"/>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お客様との接触回数</a:t>
            </a:r>
          </a:p>
        </p:txBody>
      </p:sp>
      <p:sp>
        <p:nvSpPr>
          <p:cNvPr id="32" name="Card3_Body">
            <a:extLst>
              <a:ext uri="{FF2B5EF4-FFF2-40B4-BE49-F238E27FC236}">
                <a16:creationId xmlns:a16="http://schemas.microsoft.com/office/drawing/2014/main" id="{3A759964-4FD9-35ED-7557-01B7E8C5068B}"/>
              </a:ext>
            </a:extLst>
          </p:cNvPr>
          <p:cNvSpPr txBox="1"/>
          <p:nvPr/>
        </p:nvSpPr>
        <p:spPr>
          <a:xfrm>
            <a:off x="6604000" y="1247501"/>
            <a:ext cx="2921000" cy="973185"/>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コロナ前と比べ、接触回数が「減少した」営業職員が55.5%（2023年調査）</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4" name="Card1_Body">
            <a:extLst>
              <a:ext uri="{FF2B5EF4-FFF2-40B4-BE49-F238E27FC236}">
                <a16:creationId xmlns:a16="http://schemas.microsoft.com/office/drawing/2014/main" id="{4D793872-6303-5CAB-0032-0CF8F2E827B9}"/>
              </a:ext>
            </a:extLst>
          </p:cNvPr>
          <p:cNvSpPr txBox="1"/>
          <p:nvPr/>
        </p:nvSpPr>
        <p:spPr>
          <a:xfrm>
            <a:off x="381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毎年ほぼ同じ規模の方が、営業を続けている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一度つながった方に、次のイベントも届けられる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6" name="Card2_Body">
            <a:extLst>
              <a:ext uri="{FF2B5EF4-FFF2-40B4-BE49-F238E27FC236}">
                <a16:creationId xmlns:a16="http://schemas.microsoft.com/office/drawing/2014/main" id="{FBD69C87-50C1-1FB7-B8EB-D2F245D2012C}"/>
              </a:ext>
            </a:extLst>
          </p:cNvPr>
          <p:cNvSpPr txBox="1"/>
          <p:nvPr/>
        </p:nvSpPr>
        <p:spPr>
          <a:xfrm>
            <a:off x="34925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保険の加入は、今も営業職員が中心</a:t>
            </a:r>
          </a:p>
          <a:p>
            <a:pPr marL="171450" indent="-171450">
              <a:spcBef>
                <a:spcPts val="200"/>
              </a:spcBef>
              <a:buClr>
                <a:srgbClr val="4A6FA5"/>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営業力を上げたいニーズは続く</a:t>
            </a:r>
          </a:p>
          <a:p>
            <a:pPr marL="171450" indent="-171450">
              <a:spcBef>
                <a:spcPts val="200"/>
              </a:spcBef>
              <a:buClr>
                <a:srgbClr val="4A6FA5"/>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8" name="Card3_Body">
            <a:extLst>
              <a:ext uri="{FF2B5EF4-FFF2-40B4-BE49-F238E27FC236}">
                <a16:creationId xmlns:a16="http://schemas.microsoft.com/office/drawing/2014/main" id="{A5C634F4-8754-3DE6-64E2-704CF74E07EF}"/>
              </a:ext>
            </a:extLst>
          </p:cNvPr>
          <p:cNvSpPr txBox="1"/>
          <p:nvPr/>
        </p:nvSpPr>
        <p:spPr>
          <a:xfrm>
            <a:off x="6604000" y="2309947"/>
            <a:ext cx="2921000" cy="1066800"/>
          </a:xfrm>
          <a:prstGeom prst="rect">
            <a:avLst/>
          </a:prstGeom>
          <a:solidFill>
            <a:schemeClr val="accent1">
              <a:lumMod val="20000"/>
              <a:lumOff val="80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お客様と会える回数が減っている</a:t>
            </a:r>
          </a:p>
          <a:p>
            <a:pPr marL="171450" indent="-171450">
              <a:spcBef>
                <a:spcPts val="200"/>
              </a:spcBef>
              <a:buClr>
                <a:srgbClr val="1F2A5C"/>
              </a:buClr>
              <a:buFont typeface="Arial"/>
              <a:buChar char="•"/>
            </a:pPr>
            <a:r>
              <a:rPr lang="ja-JP" sz="1200" b="1" dirty="0">
                <a:solidFill>
                  <a:srgbClr val="333333"/>
                </a:solidFill>
                <a:latin typeface="メイリオ" panose="020B0604030504040204" pitchFamily="50" charset="-128"/>
                <a:ea typeface="メイリオ" panose="020B0604030504040204" pitchFamily="50" charset="-128"/>
                <a:cs typeface="メイリオ"/>
              </a:rPr>
              <a:t>成果を出す営業のやり方が求められている</a:t>
            </a:r>
          </a:p>
          <a:p>
            <a:pPr marL="171450" indent="-171450">
              <a:spcBef>
                <a:spcPts val="200"/>
              </a:spcBef>
              <a:buClr>
                <a:srgbClr val="1F2A5C"/>
              </a:buClr>
              <a:buFont typeface="Arial"/>
              <a:buChar char="•"/>
            </a:pPr>
            <a:endParaRPr lang="ja-JP" sz="1200" b="1"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9" name="矢印: 下 38">
            <a:extLst>
              <a:ext uri="{FF2B5EF4-FFF2-40B4-BE49-F238E27FC236}">
                <a16:creationId xmlns:a16="http://schemas.microsoft.com/office/drawing/2014/main" id="{BA24D6FA-F12D-EEEA-58E0-4E8D7E5B054F}"/>
              </a:ext>
            </a:extLst>
          </p:cNvPr>
          <p:cNvSpPr/>
          <p:nvPr/>
        </p:nvSpPr>
        <p:spPr>
          <a:xfrm>
            <a:off x="1297577"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1" name="矢印: 下 40">
            <a:extLst>
              <a:ext uri="{FF2B5EF4-FFF2-40B4-BE49-F238E27FC236}">
                <a16:creationId xmlns:a16="http://schemas.microsoft.com/office/drawing/2014/main" id="{142BC3DE-B10E-3A60-51E8-71FB62C8E8FE}"/>
              </a:ext>
            </a:extLst>
          </p:cNvPr>
          <p:cNvSpPr/>
          <p:nvPr/>
        </p:nvSpPr>
        <p:spPr>
          <a:xfrm>
            <a:off x="44043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3" name="矢印: 下 42">
            <a:extLst>
              <a:ext uri="{FF2B5EF4-FFF2-40B4-BE49-F238E27FC236}">
                <a16:creationId xmlns:a16="http://schemas.microsoft.com/office/drawing/2014/main" id="{E8BF74FD-3839-8A1C-870B-B0506D93B9EE}"/>
              </a:ext>
            </a:extLst>
          </p:cNvPr>
          <p:cNvSpPr/>
          <p:nvPr/>
        </p:nvSpPr>
        <p:spPr>
          <a:xfrm>
            <a:off x="7515860" y="2159726"/>
            <a:ext cx="1097280" cy="182880"/>
          </a:xfrm>
          <a:prstGeom prst="downArrow">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6" name="グラフの見出し"/>
          <p:cNvSpPr/>
          <p:nvPr/>
        </p:nvSpPr>
        <p:spPr>
          <a:xfrm>
            <a:off x="640080" y="3566160"/>
            <a:ext cx="8595360"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生命保険の営業職員数（各年度末・名）</a:t>
            </a:r>
            <a:endParaRPr lang="ja-JP" altLang="en-US" sz="1200" dirty="0">
              <a:latin typeface="メイリオ"/>
              <a:ea typeface="メイリオ"/>
              <a:cs typeface="メイリオ"/>
            </a:endParaRPr>
          </a:p>
        </p:txBody>
      </p:sp>
      <p:sp>
        <p:nvSpPr>
          <p:cNvPr id="47" name="棒 2020年度"/>
          <p:cNvSpPr/>
          <p:nvPr/>
        </p:nvSpPr>
        <p:spPr>
          <a:xfrm>
            <a:off x="1051560" y="4168707"/>
            <a:ext cx="1005840" cy="145485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48" name="値 2020年度"/>
          <p:cNvSpPr/>
          <p:nvPr/>
        </p:nvSpPr>
        <p:spPr>
          <a:xfrm>
            <a:off x="868680" y="389438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248,601</a:t>
            </a:r>
            <a:endParaRPr lang="ja-JP" altLang="en-US" sz="1200" dirty="0">
              <a:latin typeface="メイリオ"/>
              <a:ea typeface="メイリオ"/>
              <a:cs typeface="メイリオ"/>
            </a:endParaRPr>
          </a:p>
        </p:txBody>
      </p:sp>
      <p:sp>
        <p:nvSpPr>
          <p:cNvPr id="49" name="年度 2020年度"/>
          <p:cNvSpPr/>
          <p:nvPr/>
        </p:nvSpPr>
        <p:spPr>
          <a:xfrm>
            <a:off x="86868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2020年度</a:t>
            </a:r>
            <a:endParaRPr lang="ja-JP" altLang="en-US" sz="1200" dirty="0">
              <a:latin typeface="メイリオ"/>
              <a:ea typeface="メイリオ"/>
              <a:cs typeface="メイリオ"/>
            </a:endParaRPr>
          </a:p>
        </p:txBody>
      </p:sp>
      <p:sp>
        <p:nvSpPr>
          <p:cNvPr id="50" name="棒 2021年度"/>
          <p:cNvSpPr/>
          <p:nvPr/>
        </p:nvSpPr>
        <p:spPr>
          <a:xfrm>
            <a:off x="2743200" y="4201795"/>
            <a:ext cx="1005840" cy="1421764"/>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1" name="値 2021年度"/>
          <p:cNvSpPr/>
          <p:nvPr/>
        </p:nvSpPr>
        <p:spPr>
          <a:xfrm>
            <a:off x="2560320" y="3927475"/>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242,947</a:t>
            </a:r>
            <a:endParaRPr lang="ja-JP" altLang="en-US" sz="1200" dirty="0">
              <a:latin typeface="メイリオ"/>
              <a:ea typeface="メイリオ"/>
              <a:cs typeface="メイリオ"/>
            </a:endParaRPr>
          </a:p>
        </p:txBody>
      </p:sp>
      <p:sp>
        <p:nvSpPr>
          <p:cNvPr id="52" name="年度 2021年度"/>
          <p:cNvSpPr/>
          <p:nvPr/>
        </p:nvSpPr>
        <p:spPr>
          <a:xfrm>
            <a:off x="256032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2021年度</a:t>
            </a:r>
            <a:endParaRPr lang="ja-JP" altLang="en-US" sz="1200" dirty="0">
              <a:latin typeface="メイリオ"/>
              <a:ea typeface="メイリオ"/>
              <a:cs typeface="メイリオ"/>
            </a:endParaRPr>
          </a:p>
        </p:txBody>
      </p:sp>
      <p:sp>
        <p:nvSpPr>
          <p:cNvPr id="53" name="棒 2022年度"/>
          <p:cNvSpPr/>
          <p:nvPr/>
        </p:nvSpPr>
        <p:spPr>
          <a:xfrm>
            <a:off x="4434840" y="4177602"/>
            <a:ext cx="1005840" cy="144595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4" name="値 2022年度"/>
          <p:cNvSpPr/>
          <p:nvPr/>
        </p:nvSpPr>
        <p:spPr>
          <a:xfrm>
            <a:off x="4251960" y="390328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247,081</a:t>
            </a:r>
            <a:endParaRPr lang="ja-JP" altLang="en-US" sz="1200" dirty="0">
              <a:latin typeface="メイリオ"/>
              <a:ea typeface="メイリオ"/>
              <a:cs typeface="メイリオ"/>
            </a:endParaRPr>
          </a:p>
        </p:txBody>
      </p:sp>
      <p:sp>
        <p:nvSpPr>
          <p:cNvPr id="55" name="年度 2022年度"/>
          <p:cNvSpPr/>
          <p:nvPr/>
        </p:nvSpPr>
        <p:spPr>
          <a:xfrm>
            <a:off x="425196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2022年度</a:t>
            </a:r>
            <a:endParaRPr lang="ja-JP" altLang="en-US" sz="1200" dirty="0">
              <a:latin typeface="メイリオ"/>
              <a:ea typeface="メイリオ"/>
              <a:cs typeface="メイリオ"/>
            </a:endParaRPr>
          </a:p>
        </p:txBody>
      </p:sp>
      <p:sp>
        <p:nvSpPr>
          <p:cNvPr id="56" name="棒 2023年度"/>
          <p:cNvSpPr/>
          <p:nvPr/>
        </p:nvSpPr>
        <p:spPr>
          <a:xfrm>
            <a:off x="6126480" y="4213757"/>
            <a:ext cx="1005840" cy="1409802"/>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57" name="値 2023年度"/>
          <p:cNvSpPr/>
          <p:nvPr/>
        </p:nvSpPr>
        <p:spPr>
          <a:xfrm>
            <a:off x="5943600" y="3939437"/>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240,903</a:t>
            </a:r>
            <a:endParaRPr lang="ja-JP" altLang="en-US" sz="1200" dirty="0">
              <a:latin typeface="メイリオ"/>
              <a:ea typeface="メイリオ"/>
              <a:cs typeface="メイリオ"/>
            </a:endParaRPr>
          </a:p>
        </p:txBody>
      </p:sp>
      <p:sp>
        <p:nvSpPr>
          <p:cNvPr id="58" name="年度 2023年度"/>
          <p:cNvSpPr/>
          <p:nvPr/>
        </p:nvSpPr>
        <p:spPr>
          <a:xfrm>
            <a:off x="594360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2023年度</a:t>
            </a:r>
            <a:endParaRPr lang="ja-JP" altLang="en-US" sz="1200" dirty="0">
              <a:latin typeface="メイリオ"/>
              <a:ea typeface="メイリオ"/>
              <a:cs typeface="メイリオ"/>
            </a:endParaRPr>
          </a:p>
        </p:txBody>
      </p:sp>
      <p:sp>
        <p:nvSpPr>
          <p:cNvPr id="59" name="棒 2024年度"/>
          <p:cNvSpPr/>
          <p:nvPr/>
        </p:nvSpPr>
        <p:spPr>
          <a:xfrm>
            <a:off x="7818120" y="4210222"/>
            <a:ext cx="1005840" cy="1413337"/>
          </a:xfrm>
          <a:prstGeom prst="rect">
            <a:avLst/>
          </a:prstGeom>
          <a:solidFill>
            <a:srgbClr val="1F2A5C"/>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60" name="値 2024年度"/>
          <p:cNvSpPr/>
          <p:nvPr/>
        </p:nvSpPr>
        <p:spPr>
          <a:xfrm>
            <a:off x="7635240" y="3935902"/>
            <a:ext cx="1371600" cy="256032"/>
          </a:xfrm>
          <a:prstGeom prst="rect">
            <a:avLst/>
          </a:prstGeom>
          <a:noFill/>
          <a:ln>
            <a:noFill/>
          </a:ln>
        </p:spPr>
        <p:txBody>
          <a:bodyPr wrap="square" lIns="0" tIns="0" rIns="0" bIns="0" rtlCol="0" anchor="b">
            <a:noAutofit/>
          </a:bodyPr>
          <a:lstStyle/>
          <a:p>
            <a:pPr algn="ctr">
              <a:buNone/>
            </a:pPr>
            <a:r>
              <a:rPr lang="ja-JP" altLang="en-US" sz="1200" b="1" dirty="0">
                <a:solidFill>
                  <a:srgbClr val="1F2A5C"/>
                </a:solidFill>
                <a:latin typeface="メイリオ" panose="020B0604030504040204" pitchFamily="50" charset="-128"/>
                <a:ea typeface="メイリオ" panose="020B0604030504040204" pitchFamily="50" charset="-128"/>
                <a:cs typeface="メイリオ"/>
              </a:rPr>
              <a:t>241,507</a:t>
            </a:r>
            <a:endParaRPr lang="ja-JP" altLang="en-US" sz="1200" dirty="0">
              <a:latin typeface="メイリオ"/>
              <a:ea typeface="メイリオ"/>
              <a:cs typeface="メイリオ"/>
            </a:endParaRPr>
          </a:p>
        </p:txBody>
      </p:sp>
      <p:sp>
        <p:nvSpPr>
          <p:cNvPr id="61" name="年度 2024年度"/>
          <p:cNvSpPr/>
          <p:nvPr/>
        </p:nvSpPr>
        <p:spPr>
          <a:xfrm>
            <a:off x="7635240" y="5650992"/>
            <a:ext cx="1371600" cy="228600"/>
          </a:xfrm>
          <a:prstGeom prst="rect">
            <a:avLst/>
          </a:prstGeom>
          <a:noFill/>
          <a:ln>
            <a:noFill/>
          </a:ln>
        </p:spPr>
        <p:txBody>
          <a:bodyPr wrap="square" lIns="0" tIns="0" rIns="0" bIns="0" rtlCol="0" anchor="t">
            <a:noAutofit/>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2024年度</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544728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ニーズ調査（業界</a:t>
            </a:r>
            <a:r>
              <a:rPr lang="en-US" altLang="ja-JP" sz="1600" b="1" dirty="0">
                <a:solidFill>
                  <a:srgbClr val="002060"/>
                </a:solidFill>
                <a:latin typeface="メイリオ"/>
                <a:ea typeface="メイリオ"/>
                <a:cs typeface="メイリオ"/>
                <a:sym typeface="Meiryo"/>
              </a:rPr>
              <a:t>STUDY</a:t>
            </a:r>
            <a:r>
              <a:rPr lang="ja-JP" altLang="en-US" sz="1600" b="1" dirty="0">
                <a:solidFill>
                  <a:srgbClr val="002060"/>
                </a:solidFill>
                <a:latin typeface="メイリオ"/>
                <a:ea typeface="メイリオ"/>
                <a:cs typeface="メイリオ"/>
                <a:sym typeface="Meiryo"/>
              </a:rPr>
              <a:t>）　＞　貴社施策内で検討の訴求軸</a:t>
            </a:r>
            <a:endParaRPr sz="1600" b="1" dirty="0">
              <a:solidFill>
                <a:srgbClr val="002060"/>
              </a:solidFill>
              <a:latin typeface="メイリオ"/>
              <a:ea typeface="メイリオ"/>
              <a:cs typeface="メイリオ"/>
              <a:sym typeface="Meiryo"/>
            </a:endParaRPr>
          </a:p>
        </p:txBody>
      </p:sp>
      <p:sp>
        <p:nvSpPr>
          <p:cNvPr id="7" name="Card1_Title">
            <a:extLst>
              <a:ext uri="{FF2B5EF4-FFF2-40B4-BE49-F238E27FC236}">
                <a16:creationId xmlns:a16="http://schemas.microsoft.com/office/drawing/2014/main" id="{1BFDD1F8-BBF3-4DF7-5884-297BE569EC3E}"/>
              </a:ext>
            </a:extLst>
          </p:cNvPr>
          <p:cNvSpPr txBox="1"/>
          <p:nvPr/>
        </p:nvSpPr>
        <p:spPr>
          <a:xfrm>
            <a:off x="381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野沢塾</a:t>
            </a:r>
          </a:p>
        </p:txBody>
      </p:sp>
      <p:sp>
        <p:nvSpPr>
          <p:cNvPr id="12" name="Card1_Body">
            <a:extLst>
              <a:ext uri="{FF2B5EF4-FFF2-40B4-BE49-F238E27FC236}">
                <a16:creationId xmlns:a16="http://schemas.microsoft.com/office/drawing/2014/main" id="{5B59792A-DE46-0634-56D9-2B8FBF96C379}"/>
              </a:ext>
            </a:extLst>
          </p:cNvPr>
          <p:cNvSpPr txBox="1"/>
          <p:nvPr/>
        </p:nvSpPr>
        <p:spPr>
          <a:xfrm>
            <a:off x="381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保険営業の方向けの講座（月2回）</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サイトのボタンから友だち追加</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あいさつで特典の動画を届ける</a:t>
            </a:r>
          </a:p>
        </p:txBody>
      </p:sp>
      <p:sp>
        <p:nvSpPr>
          <p:cNvPr id="14" name="Card2_Title">
            <a:extLst>
              <a:ext uri="{FF2B5EF4-FFF2-40B4-BE49-F238E27FC236}">
                <a16:creationId xmlns:a16="http://schemas.microsoft.com/office/drawing/2014/main" id="{B77B5039-F6BC-E3F9-574B-5813CDB633F9}"/>
              </a:ext>
            </a:extLst>
          </p:cNvPr>
          <p:cNvSpPr txBox="1"/>
          <p:nvPr/>
        </p:nvSpPr>
        <p:spPr>
          <a:xfrm>
            <a:off x="3492500" y="677092"/>
            <a:ext cx="2921000" cy="457200"/>
          </a:xfrm>
          <a:prstGeom prst="rect">
            <a:avLst/>
          </a:prstGeom>
          <a:solidFill>
            <a:schemeClr val="accent1">
              <a:lumMod val="20000"/>
              <a:lumOff val="80000"/>
            </a:schemeClr>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R&amp;C保険営業ラボ</a:t>
            </a:r>
          </a:p>
        </p:txBody>
      </p:sp>
      <p:sp>
        <p:nvSpPr>
          <p:cNvPr id="16" name="Card2_Body">
            <a:extLst>
              <a:ext uri="{FF2B5EF4-FFF2-40B4-BE49-F238E27FC236}">
                <a16:creationId xmlns:a16="http://schemas.microsoft.com/office/drawing/2014/main" id="{31AB5D72-3A3C-E445-05CF-4BE9AAB4B3C3}"/>
              </a:ext>
            </a:extLst>
          </p:cNvPr>
          <p:cNvSpPr txBox="1"/>
          <p:nvPr/>
        </p:nvSpPr>
        <p:spPr>
          <a:xfrm>
            <a:off x="34925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保険営業の方向けの無料の学習サービス（2026年9月開始）</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登録時の5問のアンケートに合わせて、資料・動画を段階的に配信</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18" name="Card3_Title">
            <a:extLst>
              <a:ext uri="{FF2B5EF4-FFF2-40B4-BE49-F238E27FC236}">
                <a16:creationId xmlns:a16="http://schemas.microsoft.com/office/drawing/2014/main" id="{8EC5AF78-5D13-EC67-F0AD-F54E096AA397}"/>
              </a:ext>
            </a:extLst>
          </p:cNvPr>
          <p:cNvSpPr txBox="1"/>
          <p:nvPr/>
        </p:nvSpPr>
        <p:spPr>
          <a:xfrm>
            <a:off x="6604000" y="677092"/>
            <a:ext cx="2921000" cy="457200"/>
          </a:xfrm>
          <a:prstGeom prst="rect">
            <a:avLst/>
          </a:prstGeom>
          <a:solidFill>
            <a:schemeClr val="accent1">
              <a:lumMod val="20000"/>
              <a:lumOff val="80000"/>
            </a:schemeClr>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貴社の訴求軸</a:t>
            </a:r>
          </a:p>
        </p:txBody>
      </p:sp>
      <p:sp>
        <p:nvSpPr>
          <p:cNvPr id="20" name="Card3_Body">
            <a:extLst>
              <a:ext uri="{FF2B5EF4-FFF2-40B4-BE49-F238E27FC236}">
                <a16:creationId xmlns:a16="http://schemas.microsoft.com/office/drawing/2014/main" id="{72AF2293-D8B8-25E7-3F3D-40F12C1E03B3}"/>
              </a:ext>
            </a:extLst>
          </p:cNvPr>
          <p:cNvSpPr txBox="1"/>
          <p:nvPr/>
        </p:nvSpPr>
        <p:spPr>
          <a:xfrm>
            <a:off x="6604000" y="1186543"/>
            <a:ext cx="2921000" cy="1066800"/>
          </a:xfrm>
          <a:prstGeom prst="rect">
            <a:avLst/>
          </a:prstGeom>
          <a:solidFill>
            <a:schemeClr val="bg1">
              <a:lumMod val="95000"/>
            </a:schemeClr>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イベントの予約・参加に合わせた案内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参加後、サロンの入会へつなげる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2" name="テキスト ボックス 21">
            <a:extLst>
              <a:ext uri="{FF2B5EF4-FFF2-40B4-BE49-F238E27FC236}">
                <a16:creationId xmlns:a16="http://schemas.microsoft.com/office/drawing/2014/main" id="{4CCBCA82-D6DB-24F4-C957-F66DF547D94E}"/>
              </a:ext>
            </a:extLst>
          </p:cNvPr>
          <p:cNvSpPr txBox="1"/>
          <p:nvPr/>
        </p:nvSpPr>
        <p:spPr>
          <a:xfrm>
            <a:off x="384048" y="5943600"/>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※野沢塾：LINE公式アカウント（2026年10月19日確認）・公式サイト（2026年10月18日確認）より。画面の名前とパスワードは伏せている</a:t>
            </a:r>
            <a:endParaRPr lang="ja-JP" altLang="en-US" sz="1400" b="1" dirty="0">
              <a:solidFill>
                <a:schemeClr val="bg1">
                  <a:lumMod val="6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CC601D0D-5305-FCEB-BD05-F88C9C00ADE3}"/>
              </a:ext>
            </a:extLst>
          </p:cNvPr>
          <p:cNvSpPr txBox="1"/>
          <p:nvPr/>
        </p:nvSpPr>
        <p:spPr>
          <a:xfrm>
            <a:off x="384048" y="6163056"/>
            <a:ext cx="9098280" cy="219456"/>
          </a:xfrm>
          <a:prstGeom prst="rect">
            <a:avLst/>
          </a:prstGeom>
          <a:noFill/>
        </p:spPr>
        <p:txBody>
          <a:bodyPr wrap="square">
            <a:spAutoFit/>
          </a:bodyPr>
          <a:lstStyle/>
          <a:p>
            <a:pPr algn="r"/>
            <a:r>
              <a:rPr lang="en-US" altLang="ja-JP" sz="900" b="1" dirty="0">
                <a:solidFill>
                  <a:schemeClr val="bg1">
                    <a:lumMod val="65000"/>
                  </a:schemeClr>
                </a:solidFill>
                <a:latin typeface="メイリオ" panose="020B0604030504040204" pitchFamily="50" charset="-128"/>
                <a:ea typeface="メイリオ" panose="020B0604030504040204" pitchFamily="50" charset="-128"/>
                <a:cs typeface="メイリオ"/>
              </a:rPr>
              <a:t>※R&amp;C保険営業ラボ：R&amp;C株式会社のプレスリリースより。招待制のため、画面は未掲載</a:t>
            </a:r>
            <a:endParaRPr lang="ja-JP" altLang="en-US" sz="1400" b="1" dirty="0">
              <a:solidFill>
                <a:schemeClr val="bg1">
                  <a:lumMod val="65000"/>
                </a:schemeClr>
              </a:solidFill>
              <a:latin typeface="メイリオ"/>
              <a:ea typeface="メイリオ"/>
              <a:cs typeface="メイリオ"/>
            </a:endParaRPr>
          </a:p>
        </p:txBody>
      </p:sp>
      <p:pic>
        <p:nvPicPr>
          <p:cNvPr id="46" name="Picture 45" descr="image.png"/>
          <p:cNvPicPr>
            <a:picLocks noChangeAspect="1"/>
          </p:cNvPicPr>
          <p:nvPr/>
        </p:nvPicPr>
        <p:blipFill>
          <a:blip r:embed="rId3"/>
          <a:stretch>
            <a:fillRect/>
          </a:stretch>
        </p:blipFill>
        <p:spPr>
          <a:xfrm>
            <a:off x="1920845" y="2265155"/>
            <a:ext cx="1449467" cy="3139641"/>
          </a:xfrm>
          <a:prstGeom prst="rect">
            <a:avLst/>
          </a:prstGeom>
        </p:spPr>
      </p:pic>
      <p:sp>
        <p:nvSpPr>
          <p:cNvPr id="47" name="画像の説明"/>
          <p:cNvSpPr/>
          <p:nvPr/>
        </p:nvSpPr>
        <p:spPr>
          <a:xfrm>
            <a:off x="780858" y="5450516"/>
            <a:ext cx="3729441" cy="256032"/>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野沢塾のあいさつ（LINE公式アカウント）</a:t>
            </a:r>
            <a:endParaRPr lang="ja-JP" altLang="en-US" sz="1200" dirty="0">
              <a:latin typeface="メイリオ"/>
              <a:ea typeface="メイリオ"/>
              <a:cs typeface="メイリオ"/>
            </a:endParaRPr>
          </a:p>
        </p:txBody>
      </p:sp>
      <p:sp>
        <p:nvSpPr>
          <p:cNvPr id="48" name="他社のまとめ"/>
          <p:cNvSpPr/>
          <p:nvPr/>
        </p:nvSpPr>
        <p:spPr>
          <a:xfrm>
            <a:off x="4800600" y="2377440"/>
            <a:ext cx="4480560" cy="1188720"/>
          </a:xfrm>
          <a:prstGeom prst="rect">
            <a:avLst/>
          </a:prstGeom>
          <a:solidFill>
            <a:srgbClr val="E5E8EE"/>
          </a:solidFill>
          <a:ln>
            <a:noFill/>
          </a:ln>
        </p:spPr>
        <p:txBody>
          <a:bodyPr wrap="square" lIns="73152" tIns="36576" rIns="73152" bIns="36576" rtlCol="0" anchor="ctr">
            <a:noAutofit/>
          </a:bodyPr>
          <a:lstStyle/>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保険営業の方向けの他社も、LINEで特典を渡し、</a:t>
            </a:r>
            <a:endParaRPr lang="ja-JP" altLang="en-US" sz="1200" dirty="0">
              <a:latin typeface="メイリオ"/>
              <a:ea typeface="メイリオ"/>
              <a:cs typeface="メイリオ"/>
            </a:endParaRPr>
          </a:p>
          <a:p>
            <a:pPr algn="ctr">
              <a:lnSpc>
                <a:spcPct val="12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友だちに学びを届けている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861406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600" b="1" dirty="0">
                <a:solidFill>
                  <a:srgbClr val="333333"/>
                </a:solidFill>
                <a:latin typeface="メイリオ"/>
                <a:ea typeface="メイリオ"/>
                <a:cs typeface="メイリオ"/>
              </a:rPr>
              <a:t>広告で集めた方をLINEにため、次のイベント参加数・入会数を伸ばし、LTVを最大化する</a:t>
            </a:r>
            <a:endParaRPr lang="en-US" altLang="ja-JP"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・ポップアップツールとサンクスLINE誘導で、友だちを集める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LPを離れる方と、セミナーを予約した方を、次のイベントまで追える友だちに。</a:t>
            </a:r>
            <a:endParaRPr lang="en-US" altLang="ja-JP"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・興味あり・予約・参加の段階ごとに、案内を変える</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見どころ動画・参加特典 → 前日・当日のお知らせ → サロンの申込みフォーム。</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・平常期の配信で、次のイベントまでつながりを保つ</a:t>
            </a:r>
            <a:endPar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イベントの無い時期は月2回に絞り、ブロックを抑えながら追える人数を積み上げる。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＋α施策として…。</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・過去のセミナー予約者・参加者へのご案内</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※通知メッセージ</a:t>
            </a:r>
            <a:endParaRPr lang="ja-JP" altLang="en-US" sz="12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過去の予約者の情報（電話番号）を保有している場合、リストを活用した配信が可能。</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・サロンの申込み完了ページからのLINE誘導</a:t>
            </a:r>
            <a:r>
              <a:rPr lang="ja-JP" altLang="en-US" sz="1200" b="1" dirty="0">
                <a:solidFill>
                  <a:srgbClr val="1F2A5C"/>
                </a:solidFill>
                <a:latin typeface="メイリオ" panose="020B0604030504040204" pitchFamily="50" charset="-128"/>
                <a:ea typeface="メイリオ" panose="020B0604030504040204" pitchFamily="50" charset="-128"/>
                <a:cs typeface="メイリオ" panose="020B0604030504040204" pitchFamily="50" charset="-128"/>
              </a:rPr>
              <a:t>　※サンクスLINE誘導</a:t>
            </a: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sz="1400" b="1" dirty="0">
                <a:solidFill>
                  <a:srgbClr val="1F2A5C"/>
                </a:solidFill>
                <a:latin typeface="メイリオ" panose="020B0604030504040204" pitchFamily="50" charset="-128"/>
                <a:ea typeface="メイリオ" panose="020B0604030504040204" pitchFamily="50" charset="-128"/>
                <a:cs typeface="メイリオ"/>
              </a:rPr>
              <a:t>6か月目に追える人数90人（ブロックされずに届く友だち）を目指す。</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ctr">
              <a:lnSpc>
                <a:spcPct val="140000"/>
              </a:lnSpc>
            </a:pPr>
            <a:r>
              <a:rPr lang="ja-JP" sz="1400" b="1">
                <a:solidFill>
                  <a:srgbClr val="1F2A5C"/>
                </a:solidFill>
                <a:latin typeface="メイリオ" panose="020B0604030504040204" pitchFamily="50" charset="-128"/>
                <a:ea typeface="メイリオ" panose="020B0604030504040204" pitchFamily="50" charset="-128"/>
                <a:cs typeface="メイリオ"/>
              </a:rPr>
              <a:t>イベント期はセミナー予約・参加、イベントの後はサロン入会へつなげる。</a:t>
            </a: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panose="020B0604030504040204" pitchFamily="50" charset="-128"/>
              <a:ea typeface="メイリオ" panose="020B0604030504040204" pitchFamily="50" charset="-128"/>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36620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1E1262C-B08E-666E-F81E-61EAC1407B87}"/>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8" name="PointsHeader">
            <a:extLst>
              <a:ext uri="{FF2B5EF4-FFF2-40B4-BE49-F238E27FC236}">
                <a16:creationId xmlns:a16="http://schemas.microsoft.com/office/drawing/2014/main" id="{615C4560-11D3-77B5-6718-3703C15CA5D8}"/>
              </a:ext>
            </a:extLst>
          </p:cNvPr>
          <p:cNvSpPr txBox="1"/>
          <p:nvPr/>
        </p:nvSpPr>
        <p:spPr>
          <a:xfrm>
            <a:off x="522756" y="1009344"/>
            <a:ext cx="9144000" cy="279400"/>
          </a:xfrm>
          <a:prstGeom prst="rect">
            <a:avLst/>
          </a:prstGeom>
          <a:noFill/>
          <a:ln>
            <a:noFill/>
          </a:ln>
        </p:spPr>
        <p:txBody>
          <a:bodyPr wrap="square" lIns="91440" tIns="45720" rIns="91440" bIns="45720" anchor="t"/>
          <a:lstStyle/>
          <a:p>
            <a:r>
              <a:rPr lang="ja-JP" sz="1400" b="1" dirty="0">
                <a:solidFill>
                  <a:srgbClr val="1F2A5C"/>
                </a:solidFill>
                <a:latin typeface="メイリオ" panose="020B0604030504040204" pitchFamily="50" charset="-128"/>
                <a:ea typeface="メイリオ" panose="020B0604030504040204" pitchFamily="50" charset="-128"/>
                <a:cs typeface="メイリオ"/>
              </a:rPr>
              <a:t>本質課題：イベントが終わると、集めた方との接点が切れる</a:t>
            </a:r>
          </a:p>
        </p:txBody>
      </p:sp>
      <p:sp>
        <p:nvSpPr>
          <p:cNvPr id="10" name="PointBar1">
            <a:extLst>
              <a:ext uri="{FF2B5EF4-FFF2-40B4-BE49-F238E27FC236}">
                <a16:creationId xmlns:a16="http://schemas.microsoft.com/office/drawing/2014/main" id="{C7DEC4BE-D769-656F-80D1-A073D7D39B14}"/>
              </a:ext>
            </a:extLst>
          </p:cNvPr>
          <p:cNvSpPr txBox="1"/>
          <p:nvPr/>
        </p:nvSpPr>
        <p:spPr>
          <a:xfrm>
            <a:off x="522756" y="1364944"/>
            <a:ext cx="457200" cy="50800"/>
          </a:xfrm>
          <a:prstGeom prst="rect">
            <a:avLst/>
          </a:prstGeom>
          <a:solidFill>
            <a:srgbClr val="1F2A5C"/>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2" name="PointText1">
            <a:extLst>
              <a:ext uri="{FF2B5EF4-FFF2-40B4-BE49-F238E27FC236}">
                <a16:creationId xmlns:a16="http://schemas.microsoft.com/office/drawing/2014/main" id="{2033FE09-931A-0BF7-9C77-FCBD753258FB}"/>
              </a:ext>
            </a:extLst>
          </p:cNvPr>
          <p:cNvSpPr txBox="1"/>
          <p:nvPr/>
        </p:nvSpPr>
        <p:spPr>
          <a:xfrm>
            <a:off x="522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01 集める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離れる方・予約した方を、友だちにする手段が無い。</a:t>
            </a:r>
          </a:p>
        </p:txBody>
      </p:sp>
      <p:sp>
        <p:nvSpPr>
          <p:cNvPr id="14" name="PointBar2">
            <a:extLst>
              <a:ext uri="{FF2B5EF4-FFF2-40B4-BE49-F238E27FC236}">
                <a16:creationId xmlns:a16="http://schemas.microsoft.com/office/drawing/2014/main" id="{DB62AD08-1E7E-F83F-C786-B77729A3E5C3}"/>
              </a:ext>
            </a:extLst>
          </p:cNvPr>
          <p:cNvSpPr txBox="1"/>
          <p:nvPr/>
        </p:nvSpPr>
        <p:spPr>
          <a:xfrm>
            <a:off x="3634256" y="1364944"/>
            <a:ext cx="457200" cy="50800"/>
          </a:xfrm>
          <a:prstGeom prst="rect">
            <a:avLst/>
          </a:prstGeom>
          <a:solidFill>
            <a:srgbClr val="4A6FA5"/>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16" name="PointText2">
            <a:extLst>
              <a:ext uri="{FF2B5EF4-FFF2-40B4-BE49-F238E27FC236}">
                <a16:creationId xmlns:a16="http://schemas.microsoft.com/office/drawing/2014/main" id="{42A785C2-DABF-0508-2085-C2DDBECB7EFE}"/>
              </a:ext>
            </a:extLst>
          </p:cNvPr>
          <p:cNvSpPr txBox="1"/>
          <p:nvPr/>
        </p:nvSpPr>
        <p:spPr>
          <a:xfrm>
            <a:off x="36342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4A6FA5"/>
                </a:solidFill>
                <a:latin typeface="メイリオ" panose="020B0604030504040204" pitchFamily="50" charset="-128"/>
                <a:ea typeface="メイリオ" panose="020B0604030504040204" pitchFamily="50" charset="-128"/>
                <a:cs typeface="メイリオ"/>
              </a:rPr>
              <a:t>02 追う</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次のイベントまで、情報を届ける手段が無い。</a:t>
            </a:r>
          </a:p>
        </p:txBody>
      </p:sp>
      <p:sp>
        <p:nvSpPr>
          <p:cNvPr id="18" name="PointBar3">
            <a:extLst>
              <a:ext uri="{FF2B5EF4-FFF2-40B4-BE49-F238E27FC236}">
                <a16:creationId xmlns:a16="http://schemas.microsoft.com/office/drawing/2014/main" id="{1118F87F-BACD-735A-EBEC-11186FDE8BB4}"/>
              </a:ext>
            </a:extLst>
          </p:cNvPr>
          <p:cNvSpPr txBox="1"/>
          <p:nvPr/>
        </p:nvSpPr>
        <p:spPr>
          <a:xfrm>
            <a:off x="6745756" y="1364944"/>
            <a:ext cx="457200" cy="50800"/>
          </a:xfrm>
          <a:prstGeom prst="rect">
            <a:avLst/>
          </a:prstGeom>
          <a:solidFill>
            <a:srgbClr val="F2F2F2"/>
          </a:solidFill>
          <a:ln>
            <a:noFill/>
          </a:ln>
        </p:spPr>
        <p:txBody>
          <a:bodyPr wrap="square" lIns="91440" tIns="45720" rIns="91440" bIns="45720" anchor="t"/>
          <a:lstStyle/>
          <a:p>
            <a:endParaRPr lang="ja-JP">
              <a:latin typeface="メイリオ" panose="020B0604030504040204" pitchFamily="50" charset="-128"/>
              <a:ea typeface="メイリオ" panose="020B0604030504040204" pitchFamily="50" charset="-128"/>
              <a:cs typeface="メイリオ"/>
            </a:endParaRPr>
          </a:p>
        </p:txBody>
      </p:sp>
      <p:sp>
        <p:nvSpPr>
          <p:cNvPr id="20" name="PointText3">
            <a:extLst>
              <a:ext uri="{FF2B5EF4-FFF2-40B4-BE49-F238E27FC236}">
                <a16:creationId xmlns:a16="http://schemas.microsoft.com/office/drawing/2014/main" id="{BCC9596F-D039-3698-8BF4-96F93A100013}"/>
              </a:ext>
            </a:extLst>
          </p:cNvPr>
          <p:cNvSpPr txBox="1"/>
          <p:nvPr/>
        </p:nvSpPr>
        <p:spPr>
          <a:xfrm>
            <a:off x="6745756" y="1491944"/>
            <a:ext cx="2921000" cy="1778000"/>
          </a:xfrm>
          <a:prstGeom prst="rect">
            <a:avLst/>
          </a:prstGeom>
          <a:noFill/>
          <a:ln>
            <a:noFill/>
          </a:ln>
        </p:spPr>
        <p:txBody>
          <a:bodyPr wrap="square" lIns="91440" tIns="45720" rIns="91440" bIns="45720" anchor="t"/>
          <a:lstStyle/>
          <a:p>
            <a:pPr>
              <a:lnSpc>
                <a:spcPct val="130000"/>
              </a:lnSpc>
              <a:spcAft>
                <a:spcPts val="600"/>
              </a:spcAft>
            </a:pPr>
            <a:r>
              <a:rPr lang="ja-JP" sz="1400" b="1" dirty="0">
                <a:solidFill>
                  <a:srgbClr val="1F2A5C"/>
                </a:solidFill>
                <a:latin typeface="メイリオ" panose="020B0604030504040204" pitchFamily="50" charset="-128"/>
                <a:ea typeface="メイリオ" panose="020B0604030504040204" pitchFamily="50" charset="-128"/>
                <a:cs typeface="メイリオ"/>
              </a:rPr>
              <a:t>03 つなげる</a:t>
            </a:r>
          </a:p>
          <a:p>
            <a:pPr>
              <a:lnSpc>
                <a:spcPct val="140000"/>
              </a:lnSpc>
            </a:pPr>
            <a:r>
              <a:rPr lang="ja-JP" sz="1400" dirty="0">
                <a:solidFill>
                  <a:srgbClr val="333333"/>
                </a:solidFill>
                <a:latin typeface="メイリオ" panose="020B0604030504040204" pitchFamily="50" charset="-128"/>
                <a:ea typeface="メイリオ" panose="020B0604030504040204" pitchFamily="50" charset="-128"/>
                <a:cs typeface="メイリオ"/>
              </a:rPr>
              <a:t>参加した方に、入会を案内する手段が無い。</a:t>
            </a:r>
          </a:p>
        </p:txBody>
      </p:sp>
      <p:sp>
        <p:nvSpPr>
          <p:cNvPr id="22" name="Card1_Title">
            <a:extLst>
              <a:ext uri="{FF2B5EF4-FFF2-40B4-BE49-F238E27FC236}">
                <a16:creationId xmlns:a16="http://schemas.microsoft.com/office/drawing/2014/main" id="{158619A4-8A31-BE94-703F-4958B5725C84}"/>
              </a:ext>
            </a:extLst>
          </p:cNvPr>
          <p:cNvSpPr txBox="1"/>
          <p:nvPr/>
        </p:nvSpPr>
        <p:spPr>
          <a:xfrm>
            <a:off x="522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レバー①友だち獲得</a:t>
            </a:r>
          </a:p>
        </p:txBody>
      </p:sp>
      <p:sp>
        <p:nvSpPr>
          <p:cNvPr id="24" name="Card1_Body">
            <a:extLst>
              <a:ext uri="{FF2B5EF4-FFF2-40B4-BE49-F238E27FC236}">
                <a16:creationId xmlns:a16="http://schemas.microsoft.com/office/drawing/2014/main" id="{0591B75C-4032-FF85-1619-85480346C68B}"/>
              </a:ext>
            </a:extLst>
          </p:cNvPr>
          <p:cNvSpPr txBox="1"/>
          <p:nvPr/>
        </p:nvSpPr>
        <p:spPr>
          <a:xfrm>
            <a:off x="522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ポップアップツールで、LPを離れる方を友だちに</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サンクスLINE誘導で、予約した方を友だちに</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28" name="Card2_Title">
            <a:extLst>
              <a:ext uri="{FF2B5EF4-FFF2-40B4-BE49-F238E27FC236}">
                <a16:creationId xmlns:a16="http://schemas.microsoft.com/office/drawing/2014/main" id="{FBA18ADF-68C9-3C6A-AF9F-C0983A9FA610}"/>
              </a:ext>
            </a:extLst>
          </p:cNvPr>
          <p:cNvSpPr txBox="1"/>
          <p:nvPr/>
        </p:nvSpPr>
        <p:spPr>
          <a:xfrm>
            <a:off x="3634256" y="3130857"/>
            <a:ext cx="2921000" cy="457200"/>
          </a:xfrm>
          <a:prstGeom prst="rect">
            <a:avLst/>
          </a:prstGeom>
          <a:solidFill>
            <a:srgbClr val="FFFFFF"/>
          </a:solidFill>
          <a:ln w="6350">
            <a:solidFill>
              <a:srgbClr val="4A6FA5"/>
            </a:solidFill>
          </a:ln>
        </p:spPr>
        <p:txBody>
          <a:bodyPr wrap="square" lIns="177800" tIns="101600" rIns="177800" bIns="101600" anchor="ctr"/>
          <a:lstStyle/>
          <a:p>
            <a:pPr>
              <a:buNone/>
            </a:pPr>
            <a:r>
              <a:rPr lang="ja-JP" sz="1400" b="1" dirty="0">
                <a:solidFill>
                  <a:srgbClr val="4A6FA5"/>
                </a:solidFill>
                <a:latin typeface="メイリオ" panose="020B0604030504040204" pitchFamily="50" charset="-128"/>
                <a:ea typeface="メイリオ" panose="020B0604030504040204" pitchFamily="50" charset="-128"/>
                <a:cs typeface="メイリオ"/>
              </a:rPr>
              <a:t>レバー②予約・参加の向上</a:t>
            </a:r>
          </a:p>
        </p:txBody>
      </p:sp>
      <p:sp>
        <p:nvSpPr>
          <p:cNvPr id="31" name="Card2_Body">
            <a:extLst>
              <a:ext uri="{FF2B5EF4-FFF2-40B4-BE49-F238E27FC236}">
                <a16:creationId xmlns:a16="http://schemas.microsoft.com/office/drawing/2014/main" id="{C6C8B9B3-D69C-0AD1-CB41-2692B3F564E3}"/>
              </a:ext>
            </a:extLst>
          </p:cNvPr>
          <p:cNvSpPr txBox="1"/>
          <p:nvPr/>
        </p:nvSpPr>
        <p:spPr>
          <a:xfrm>
            <a:off x="36342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見どころ動画・参加特典で、予約へ</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前日・当日のお知らせで、当日の参加へ</a:t>
            </a: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35" name="Card3_Title">
            <a:extLst>
              <a:ext uri="{FF2B5EF4-FFF2-40B4-BE49-F238E27FC236}">
                <a16:creationId xmlns:a16="http://schemas.microsoft.com/office/drawing/2014/main" id="{08BFDF2D-75D7-62F5-F661-0B055C86365E}"/>
              </a:ext>
            </a:extLst>
          </p:cNvPr>
          <p:cNvSpPr txBox="1"/>
          <p:nvPr/>
        </p:nvSpPr>
        <p:spPr>
          <a:xfrm>
            <a:off x="6745756" y="3130857"/>
            <a:ext cx="2921000" cy="457200"/>
          </a:xfrm>
          <a:prstGeom prst="rect">
            <a:avLst/>
          </a:prstGeom>
          <a:solidFill>
            <a:srgbClr val="FFFFFF"/>
          </a:solidFill>
          <a:ln w="6350">
            <a:solidFill>
              <a:srgbClr val="1F2A5C"/>
            </a:solidFill>
          </a:ln>
        </p:spPr>
        <p:txBody>
          <a:bodyPr wrap="square" lIns="177800" tIns="101600" rIns="177800" bIns="101600" anchor="ctr"/>
          <a:lstStyle/>
          <a:p>
            <a:pPr>
              <a:buNone/>
            </a:pPr>
            <a:r>
              <a:rPr lang="ja-JP" sz="1400" b="1" dirty="0">
                <a:solidFill>
                  <a:srgbClr val="1F2A5C"/>
                </a:solidFill>
                <a:latin typeface="メイリオ" panose="020B0604030504040204" pitchFamily="50" charset="-128"/>
                <a:ea typeface="メイリオ" panose="020B0604030504040204" pitchFamily="50" charset="-128"/>
                <a:cs typeface="メイリオ"/>
              </a:rPr>
              <a:t>レバー③入会の向上</a:t>
            </a:r>
          </a:p>
        </p:txBody>
      </p:sp>
      <p:sp>
        <p:nvSpPr>
          <p:cNvPr id="37" name="Card3_Body">
            <a:extLst>
              <a:ext uri="{FF2B5EF4-FFF2-40B4-BE49-F238E27FC236}">
                <a16:creationId xmlns:a16="http://schemas.microsoft.com/office/drawing/2014/main" id="{6FB492E1-4B54-CC21-DF0B-BC7C63ED2C23}"/>
              </a:ext>
            </a:extLst>
          </p:cNvPr>
          <p:cNvSpPr txBox="1"/>
          <p:nvPr/>
        </p:nvSpPr>
        <p:spPr>
          <a:xfrm>
            <a:off x="6745756" y="3654732"/>
            <a:ext cx="2921000" cy="1183968"/>
          </a:xfrm>
          <a:prstGeom prst="rect">
            <a:avLst/>
          </a:prstGeom>
          <a:solidFill>
            <a:srgbClr val="F5F7FA"/>
          </a:solidFill>
          <a:ln w="6350">
            <a:solidFill>
              <a:srgbClr val="D1D8E0"/>
            </a:solidFill>
          </a:ln>
        </p:spPr>
        <p:txBody>
          <a:bodyPr wrap="square" lIns="177800" tIns="152400" rIns="177800" bIns="152400" anchor="t"/>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イベント直後に、サロンの申込みフォームを案内</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cs typeface="メイリオ"/>
              </a:rPr>
              <a:t>平常期の配信で、次のイベントまでつながる</a:t>
            </a: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57295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概算お見積り：6か月で、追える人数90人・セミナー予約11件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¥295,000〜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¥365,000</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平常期 ¥165,000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cs typeface="メイリオ"/>
              </a:rPr>
              <a:t>6</a:t>
            </a:r>
            <a:r>
              <a:rPr lang="ja-JP" sz="1400" b="0" u="none" strike="noStrike">
                <a:solidFill>
                  <a:schemeClr val="lt1"/>
                </a:solidFill>
                <a:effectLst/>
                <a:uFillTx/>
                <a:latin typeface="メイリオ"/>
                <a:ea typeface="メイリオ"/>
                <a:cs typeface="メイリオ"/>
              </a:rPr>
              <a:t>か月後</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平常期 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セミナー前日の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お知らせ</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追える人数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導入</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LINE友だち追加～15日を境に大きくアクティブ率が下がる（ブロック率が上がる）</a:t>
            </a:r>
          </a:p>
          <a:p>
            <a:r>
              <a:rPr lang="ja-JP" altLang="en-US" sz="1600" b="1" dirty="0">
                <a:latin typeface="メイリオ" panose="020B0604030504040204" pitchFamily="50" charset="-128"/>
                <a:ea typeface="メイリオ" panose="020B0604030504040204" pitchFamily="50" charset="-128"/>
                <a:cs typeface="メイリオ"/>
                <a:sym typeface="Meiryo"/>
              </a:rPr>
              <a:t>為、段階に合わせて配信を変え、イベントの無い時期は回数を絞る。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サンクス</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1000" b="1" dirty="0">
                <a:solidFill>
                  <a:schemeClr val="tx1"/>
                </a:solidFill>
                <a:latin typeface="メイリオ" panose="020B0604030504040204" pitchFamily="50" charset="-128"/>
                <a:ea typeface="メイリオ" panose="020B0604030504040204" pitchFamily="50" charset="-128"/>
                <a:cs typeface="メイリオ"/>
              </a:rPr>
              <a:t>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・見どころ動画</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307291" cy="246221"/>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・前日のお知らせ</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平常期の配信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※個別チャット対応は効率化のみで基本貴社対応</a:t>
            </a: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Tree>
    <p:extLst>
      <p:ext uri="{BB962C8B-B14F-4D97-AF65-F5344CB8AC3E}">
        <p14:creationId xmlns:p14="http://schemas.microsoft.com/office/powerpoint/2010/main" val="320364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14F9B-288C-F1D2-7B0B-67E191377D0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F87629C-3642-C49D-F0B1-C713D8B98B2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F1FF577-F7FC-8D65-AD79-624C8A98E39D}"/>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E6E21DDA-5638-FE3D-5AC9-43FF46984EB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C2D2B1E-CBEB-3614-77A0-5702C0FFED68}"/>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8B06F5F7-D7C2-4206-459C-6FDD885B9F2C}"/>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F773B430-56E4-0521-D716-A07C918C24A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A47125D1-5D5B-577F-CCF0-A99B2F298330}"/>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ECF77B04-EFBD-D6B8-E01D-1461AF2766FF}"/>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A7CDFABA-1683-4E04-F3EC-BFB5175BB3D7}"/>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2" name="正方形/長方形 1">
            <a:extLst>
              <a:ext uri="{FF2B5EF4-FFF2-40B4-BE49-F238E27FC236}">
                <a16:creationId xmlns:a16="http://schemas.microsoft.com/office/drawing/2014/main" id="{2BCDAE55-2DB6-D959-BB7A-FFA05547CCF8}"/>
              </a:ext>
            </a:extLst>
          </p:cNvPr>
          <p:cNvSpPr/>
          <p:nvPr/>
        </p:nvSpPr>
        <p:spPr>
          <a:xfrm>
            <a:off x="4953000" y="1397561"/>
            <a:ext cx="4757057" cy="3149513"/>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正方形/長方形 9">
            <a:extLst>
              <a:ext uri="{FF2B5EF4-FFF2-40B4-BE49-F238E27FC236}">
                <a16:creationId xmlns:a16="http://schemas.microsoft.com/office/drawing/2014/main" id="{62794B8A-D6DE-D702-A17A-E1DE9074FE08}"/>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2515613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05D1-944D-0389-D7CD-C5AB8DD983F5}"/>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83BB2C20-D0AA-36FF-470A-E7F0DAEAB26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95FE0356-B15A-D93F-BA83-FD0B43311C26}"/>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D5DB1A-2D31-4285-1013-68B5CBC6F7AA}"/>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4905A8F7-DA37-EDDB-D4A0-A8C338EA048F}"/>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AF54DDF1-0A58-67B0-D606-FE72C8B6BAD4}"/>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942DBFF1-8E8E-E0F6-C4D8-936FB7D63294}"/>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FF56F22-467D-9E6B-D894-69A2DC8FAD69}"/>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8D18F66D-12A2-B97F-13EE-FA13362C28BE}"/>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FA0D0844-6CF2-A00A-7B79-F4A826D90EEE}"/>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9361AE1C-AC5D-8B9C-86D1-EC657FC3A8B7}"/>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2C26C064-3099-1C6E-BD1F-7E4B6508C6C0}"/>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4B3A754B-1435-5A8E-96AE-4037A27AF116}"/>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4" name="Rounded Rectangle 12">
            <a:extLst>
              <a:ext uri="{FF2B5EF4-FFF2-40B4-BE49-F238E27FC236}">
                <a16:creationId xmlns:a16="http://schemas.microsoft.com/office/drawing/2014/main" id="{36C2CEAA-8727-1541-A261-38D2B8EE8479}"/>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93204242-A97B-3F81-AC83-1DDA22FFC0D0}"/>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6AD6AF8B-2C4A-933F-0193-F19C291F13B1}"/>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1A7EE41-522A-6587-5E29-2C573127F3C3}"/>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C7E8BDA3-8CEC-774B-B965-F3AF39B914E4}"/>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E541336C-EC2C-FA47-DF86-0449EEE6EC01}"/>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BC2869C0-256F-8186-2F32-62ABEBFDB974}"/>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A3128BAC-3AA2-D6CD-E5B1-139EF73DE7E5}"/>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69E0D836-774F-8844-0B7E-FEC8CAEAA930}"/>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3CD9E7C8-AEDB-1B24-169E-B4E2FCC3BF0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9794684-1FF1-3263-6A5B-55F2FABDADE2}"/>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270596D-D709-5039-F2B0-A37C3BC91FB1}"/>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オファー</a:t>
            </a:r>
          </a:p>
        </p:txBody>
      </p:sp>
      <p:sp>
        <p:nvSpPr>
          <p:cNvPr id="38" name="TextBox 24">
            <a:extLst>
              <a:ext uri="{FF2B5EF4-FFF2-40B4-BE49-F238E27FC236}">
                <a16:creationId xmlns:a16="http://schemas.microsoft.com/office/drawing/2014/main" id="{BDC9515A-B6AE-4419-9471-C1CACD5E3EC1}"/>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77631336-7324-364D-DAFA-3CED8F639C61}"/>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84EB3BAF-CB06-3354-471B-18BB2B84211F}"/>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4801341B-D8FB-80D0-9999-2FE19D3EE1E8}"/>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EA39FE5A-F88E-6BA9-436B-1C7ACA9EFDF7}"/>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0FC8A71-901A-1650-523A-DB40DB5BE8B2}"/>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760B245B-F336-095B-944B-703D8196FB7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DE95B638-E657-FEBB-0117-64BD0F935CE8}"/>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9EEAEFD9-8EF2-001C-D44A-2B0332CF7F41}"/>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15" name="正方形/長方形 14">
            <a:extLst>
              <a:ext uri="{FF2B5EF4-FFF2-40B4-BE49-F238E27FC236}">
                <a16:creationId xmlns:a16="http://schemas.microsoft.com/office/drawing/2014/main" id="{555B77A1-60D1-23C1-F985-F9E05AB9B915}"/>
              </a:ext>
            </a:extLst>
          </p:cNvPr>
          <p:cNvSpPr/>
          <p:nvPr/>
        </p:nvSpPr>
        <p:spPr>
          <a:xfrm>
            <a:off x="2134573" y="1466661"/>
            <a:ext cx="7585863" cy="4327557"/>
          </a:xfrm>
          <a:prstGeom prst="rect">
            <a:avLst/>
          </a:prstGeom>
          <a:solidFill>
            <a:schemeClr val="bg1">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lvl="1">
              <a:lnSpc>
                <a:spcPts val="2000"/>
              </a:lnSpc>
              <a:spcAft>
                <a:spcPts val="200"/>
              </a:spcAft>
              <a:buClr>
                <a:srgbClr val="1F2A5C"/>
              </a:buClr>
            </a:pPr>
            <a:endParaRPr lang="ja-JP" altLang="en-US" sz="1400" dirty="0">
              <a:solidFill>
                <a:srgbClr val="333333"/>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B2C5803B-DB2E-0AE1-BE31-89D5755B4FE1}"/>
              </a:ext>
            </a:extLst>
          </p:cNvPr>
          <p:cNvSpPr txBox="1"/>
          <p:nvPr/>
        </p:nvSpPr>
        <p:spPr>
          <a:xfrm>
            <a:off x="2234941" y="1921426"/>
            <a:ext cx="4965824" cy="954107"/>
          </a:xfrm>
          <a:prstGeom prst="rect">
            <a:avLst/>
          </a:prstGeom>
          <a:noFill/>
        </p:spPr>
        <p:txBody>
          <a:bodyPr wrap="square">
            <a:spAutoFit/>
          </a:bodyPr>
          <a:lstStyle/>
          <a:p>
            <a:r>
              <a:rPr lang="ja-JP" altLang="en-US" sz="1400" b="1" u="sng" dirty="0">
                <a:solidFill>
                  <a:schemeClr val="tx2"/>
                </a:solidFill>
                <a:latin typeface="メイリオ"/>
                <a:ea typeface="メイリオ"/>
                <a:cs typeface="メイリオ"/>
              </a:rPr>
              <a:t>アンケート回答から「すぐすぐニーズがあるか」を判断</a:t>
            </a:r>
            <a:endParaRPr lang="en-US" altLang="ja-JP" sz="1400" b="1" u="sng" dirty="0">
              <a:solidFill>
                <a:schemeClr val="tx2"/>
              </a:solidFill>
              <a:latin typeface="メイリオ"/>
              <a:ea typeface="メイリオ"/>
              <a:cs typeface="メイリオ"/>
            </a:endParaRPr>
          </a:p>
          <a:p>
            <a:r>
              <a:rPr lang="ja-JP" altLang="en-US" sz="1400" dirty="0">
                <a:solidFill>
                  <a:schemeClr val="tx2"/>
                </a:solidFill>
                <a:latin typeface="メイリオ"/>
                <a:ea typeface="メイリオ"/>
                <a:cs typeface="メイリオ"/>
              </a:rPr>
              <a:t>↓</a:t>
            </a:r>
            <a:endParaRPr lang="en-US" altLang="ja-JP" sz="1400"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①</a:t>
            </a:r>
            <a:r>
              <a:rPr lang="ja-JP" altLang="en-US" sz="1400" dirty="0">
                <a:solidFill>
                  <a:schemeClr val="tx2"/>
                </a:solidFill>
                <a:latin typeface="メイリオ"/>
                <a:ea typeface="メイリオ"/>
                <a:cs typeface="メイリオ"/>
              </a:rPr>
              <a:t>ニーズあり</a:t>
            </a:r>
            <a:r>
              <a:rPr lang="ja-JP" altLang="en-US" sz="1400" b="1" dirty="0">
                <a:solidFill>
                  <a:schemeClr val="tx2"/>
                </a:solidFill>
                <a:latin typeface="メイリオ"/>
                <a:ea typeface="メイリオ"/>
                <a:cs typeface="メイリオ"/>
              </a:rPr>
              <a:t>（次ページに以降）</a:t>
            </a:r>
            <a:endParaRPr lang="en-US" altLang="ja-JP" sz="1400" b="1" dirty="0">
              <a:solidFill>
                <a:schemeClr val="tx2"/>
              </a:solidFill>
              <a:latin typeface="メイリオ"/>
              <a:ea typeface="メイリオ"/>
              <a:cs typeface="メイリオ"/>
            </a:endParaRPr>
          </a:p>
          <a:p>
            <a:r>
              <a:rPr lang="ja-JP" altLang="en-US" sz="1400" b="1" dirty="0">
                <a:solidFill>
                  <a:schemeClr val="tx2"/>
                </a:solidFill>
                <a:latin typeface="メイリオ"/>
                <a:ea typeface="メイリオ"/>
                <a:cs typeface="メイリオ"/>
              </a:rPr>
              <a:t>②</a:t>
            </a:r>
            <a:r>
              <a:rPr lang="ja-JP" altLang="en-US" sz="1400" dirty="0">
                <a:solidFill>
                  <a:schemeClr val="tx2"/>
                </a:solidFill>
                <a:latin typeface="メイリオ"/>
                <a:ea typeface="メイリオ"/>
                <a:cs typeface="メイリオ"/>
              </a:rPr>
              <a:t>ニーズなし</a:t>
            </a:r>
            <a:r>
              <a:rPr lang="ja-JP" altLang="en-US" sz="1400" b="1" dirty="0">
                <a:solidFill>
                  <a:schemeClr val="tx2"/>
                </a:solidFill>
                <a:latin typeface="メイリオ"/>
                <a:ea typeface="メイリオ"/>
                <a:cs typeface="メイリオ"/>
              </a:rPr>
              <a:t>（長期追客施策に移行）</a:t>
            </a:r>
            <a:endParaRPr lang="ja-JP" altLang="en-US" b="1" dirty="0">
              <a:solidFill>
                <a:schemeClr val="tx2"/>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0FFF471B-76C5-A9EE-BF1F-9F210906F1DA}"/>
              </a:ext>
            </a:extLst>
          </p:cNvPr>
          <p:cNvSpPr txBox="1"/>
          <p:nvPr/>
        </p:nvSpPr>
        <p:spPr>
          <a:xfrm>
            <a:off x="1951329" y="2985261"/>
            <a:ext cx="7570623" cy="891270"/>
          </a:xfrm>
          <a:prstGeom prst="rect">
            <a:avLst/>
          </a:prstGeom>
          <a:noFill/>
        </p:spPr>
        <p:txBody>
          <a:bodyPr wrap="square">
            <a:spAutoFit/>
          </a:bodyPr>
          <a:lstStyle/>
          <a:p>
            <a:pPr marL="228600" lvl="1">
              <a:lnSpc>
                <a:spcPts val="2000"/>
              </a:lnSpc>
              <a:spcAft>
                <a:spcPts val="200"/>
              </a:spcAft>
              <a:buClr>
                <a:srgbClr val="1F2A5C"/>
              </a:buClr>
            </a:pPr>
            <a:r>
              <a:rPr lang="en-US" altLang="ja-JP" sz="1100" b="1" dirty="0">
                <a:solidFill>
                  <a:srgbClr val="333333"/>
                </a:solidFill>
                <a:latin typeface="メイリオ"/>
                <a:ea typeface="メイリオ"/>
                <a:cs typeface="メイリオ"/>
              </a:rPr>
              <a:t>【その他セグメント配信の活用に関して】</a:t>
            </a:r>
          </a:p>
          <a:p>
            <a:pPr marL="228600" lvl="1">
              <a:lnSpc>
                <a:spcPts val="2000"/>
              </a:lnSpc>
              <a:spcAft>
                <a:spcPts val="200"/>
              </a:spcAft>
              <a:buClr>
                <a:srgbClr val="1F2A5C"/>
              </a:buClr>
            </a:pPr>
            <a:r>
              <a:rPr lang="ja-JP" altLang="en-US" sz="1100" dirty="0">
                <a:solidFill>
                  <a:srgbClr val="333333"/>
                </a:solidFill>
                <a:latin typeface="メイリオ"/>
                <a:ea typeface="メイリオ"/>
                <a:cs typeface="メイリオ"/>
              </a:rPr>
              <a:t>Day0のアンケートの回答に合わせて、配信の中身を出し分ける。</a:t>
            </a:r>
          </a:p>
        </p:txBody>
      </p:sp>
    </p:spTree>
    <p:extLst>
      <p:ext uri="{BB962C8B-B14F-4D97-AF65-F5344CB8AC3E}">
        <p14:creationId xmlns:p14="http://schemas.microsoft.com/office/powerpoint/2010/main" val="4294568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93614-B1C8-8488-6AA6-9C0120B0F016}"/>
            </a:ext>
          </a:extLst>
        </p:cNvPr>
        <p:cNvGrpSpPr/>
        <p:nvPr/>
      </p:nvGrpSpPr>
      <p:grpSpPr>
        <a:xfrm>
          <a:off x="0" y="0"/>
          <a:ext cx="0" cy="0"/>
          <a:chOff x="0" y="0"/>
          <a:chExt cx="0" cy="0"/>
        </a:xfrm>
      </p:grpSpPr>
      <p:sp>
        <p:nvSpPr>
          <p:cNvPr id="8" name="テキスト ボックス 47">
            <a:extLst>
              <a:ext uri="{FF2B5EF4-FFF2-40B4-BE49-F238E27FC236}">
                <a16:creationId xmlns:a16="http://schemas.microsoft.com/office/drawing/2014/main" id="{C1A46CA4-B62C-129C-2265-6EC1BE8C6EF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短期ニーズトラック：Day0〜</a:t>
            </a:r>
            <a:r>
              <a:rPr lang="en-US" altLang="ja-JP" sz="1600" b="1" dirty="0">
                <a:solidFill>
                  <a:srgbClr val="1F2A5C"/>
                </a:solidFill>
                <a:latin typeface="メイリオ" panose="020B0604030504040204" pitchFamily="50" charset="-128"/>
                <a:ea typeface="メイリオ" panose="020B0604030504040204" pitchFamily="50" charset="-128"/>
                <a:cs typeface="メイリオ"/>
              </a:rPr>
              <a:t>15</a:t>
            </a:r>
            <a:r>
              <a:rPr lang="ja-JP" altLang="en-US" sz="1600" b="1" dirty="0">
                <a:solidFill>
                  <a:srgbClr val="1F2A5C"/>
                </a:solidFill>
                <a:latin typeface="メイリオ" panose="020B0604030504040204" pitchFamily="50" charset="-128"/>
                <a:ea typeface="メイリオ" panose="020B0604030504040204" pitchFamily="50" charset="-128"/>
                <a:cs typeface="メイリオ"/>
              </a:rPr>
              <a:t>の圧縮設計</a:t>
            </a:r>
          </a:p>
        </p:txBody>
      </p:sp>
      <p:sp>
        <p:nvSpPr>
          <p:cNvPr id="12" name="Lead">
            <a:extLst>
              <a:ext uri="{FF2B5EF4-FFF2-40B4-BE49-F238E27FC236}">
                <a16:creationId xmlns:a16="http://schemas.microsoft.com/office/drawing/2014/main" id="{E15018B3-87F2-6365-2D71-C92B5436710C}"/>
              </a:ext>
            </a:extLst>
          </p:cNvPr>
          <p:cNvSpPr txBox="1"/>
          <p:nvPr/>
        </p:nvSpPr>
        <p:spPr>
          <a:xfrm>
            <a:off x="274320" y="847623"/>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検索直後の疑問に即応し、15日以内でセミナー予約へ誘導する</a:t>
            </a:r>
          </a:p>
        </p:txBody>
      </p:sp>
      <p:sp>
        <p:nvSpPr>
          <p:cNvPr id="2" name="Rounded Rectangle 2">
            <a:extLst>
              <a:ext uri="{FF2B5EF4-FFF2-40B4-BE49-F238E27FC236}">
                <a16:creationId xmlns:a16="http://schemas.microsoft.com/office/drawing/2014/main" id="{325EC11C-A4CA-5313-D5BA-D47635B1A838}"/>
              </a:ext>
            </a:extLst>
          </p:cNvPr>
          <p:cNvSpPr/>
          <p:nvPr/>
        </p:nvSpPr>
        <p:spPr>
          <a:xfrm>
            <a:off x="27432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 name="Rounded Rectangle 3">
            <a:extLst>
              <a:ext uri="{FF2B5EF4-FFF2-40B4-BE49-F238E27FC236}">
                <a16:creationId xmlns:a16="http://schemas.microsoft.com/office/drawing/2014/main" id="{9A057208-E511-9F3B-B133-9BDFEC60A969}"/>
              </a:ext>
            </a:extLst>
          </p:cNvPr>
          <p:cNvSpPr/>
          <p:nvPr/>
        </p:nvSpPr>
        <p:spPr>
          <a:xfrm>
            <a:off x="27432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Day0</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追加直後：診断</a:t>
            </a:r>
          </a:p>
        </p:txBody>
      </p:sp>
      <p:sp>
        <p:nvSpPr>
          <p:cNvPr id="4" name="TextBox 4">
            <a:extLst>
              <a:ext uri="{FF2B5EF4-FFF2-40B4-BE49-F238E27FC236}">
                <a16:creationId xmlns:a16="http://schemas.microsoft.com/office/drawing/2014/main" id="{88CC95EE-B0F1-3644-6F82-76DE8FCEACEC}"/>
              </a:ext>
            </a:extLst>
          </p:cNvPr>
          <p:cNvSpPr txBox="1"/>
          <p:nvPr/>
        </p:nvSpPr>
        <p:spPr>
          <a:xfrm>
            <a:off x="38404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ご追加ありがとう</a:t>
            </a:r>
          </a:p>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ございます！</a:t>
            </a:r>
          </a:p>
        </p:txBody>
      </p:sp>
      <p:sp>
        <p:nvSpPr>
          <p:cNvPr id="5" name="TextBox 5">
            <a:extLst>
              <a:ext uri="{FF2B5EF4-FFF2-40B4-BE49-F238E27FC236}">
                <a16:creationId xmlns:a16="http://schemas.microsoft.com/office/drawing/2014/main" id="{73C4E07D-0DF4-42A9-7298-CE1B2CB8E02C}"/>
              </a:ext>
            </a:extLst>
          </p:cNvPr>
          <p:cNvSpPr txBox="1"/>
          <p:nvPr/>
        </p:nvSpPr>
        <p:spPr>
          <a:xfrm>
            <a:off x="38404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3問タップで検討段階を分岐・タグ付け</a:t>
            </a:r>
          </a:p>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6" name="Rounded Rectangle 6">
            <a:extLst>
              <a:ext uri="{FF2B5EF4-FFF2-40B4-BE49-F238E27FC236}">
                <a16:creationId xmlns:a16="http://schemas.microsoft.com/office/drawing/2014/main" id="{7A93EFB6-EBEF-0F4B-3781-F0E86D241E63}"/>
              </a:ext>
            </a:extLst>
          </p:cNvPr>
          <p:cNvSpPr/>
          <p:nvPr/>
        </p:nvSpPr>
        <p:spPr>
          <a:xfrm>
            <a:off x="38404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 3択タップで診断</a:t>
            </a:r>
          </a:p>
        </p:txBody>
      </p:sp>
      <p:sp>
        <p:nvSpPr>
          <p:cNvPr id="7" name="Rounded Rectangle 7">
            <a:extLst>
              <a:ext uri="{FF2B5EF4-FFF2-40B4-BE49-F238E27FC236}">
                <a16:creationId xmlns:a16="http://schemas.microsoft.com/office/drawing/2014/main" id="{32B3653D-6D1F-20F4-8671-385FAFF851FD}"/>
              </a:ext>
            </a:extLst>
          </p:cNvPr>
          <p:cNvSpPr/>
          <p:nvPr/>
        </p:nvSpPr>
        <p:spPr>
          <a:xfrm>
            <a:off x="217078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9" name="Rounded Rectangle 8">
            <a:extLst>
              <a:ext uri="{FF2B5EF4-FFF2-40B4-BE49-F238E27FC236}">
                <a16:creationId xmlns:a16="http://schemas.microsoft.com/office/drawing/2014/main" id="{8D16CA1B-AEBC-A5FA-8024-3F23496134C9}"/>
              </a:ext>
            </a:extLst>
          </p:cNvPr>
          <p:cNvSpPr/>
          <p:nvPr/>
        </p:nvSpPr>
        <p:spPr>
          <a:xfrm>
            <a:off x="2170785"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Day1〜2</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0" name="TextBox 9">
            <a:extLst>
              <a:ext uri="{FF2B5EF4-FFF2-40B4-BE49-F238E27FC236}">
                <a16:creationId xmlns:a16="http://schemas.microsoft.com/office/drawing/2014/main" id="{ED3C0554-9244-5E70-C3F2-82AD432D9891}"/>
              </a:ext>
            </a:extLst>
          </p:cNvPr>
          <p:cNvSpPr txBox="1"/>
          <p:nvPr/>
        </p:nvSpPr>
        <p:spPr>
          <a:xfrm>
            <a:off x="228051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11" name="TextBox 10">
            <a:extLst>
              <a:ext uri="{FF2B5EF4-FFF2-40B4-BE49-F238E27FC236}">
                <a16:creationId xmlns:a16="http://schemas.microsoft.com/office/drawing/2014/main" id="{731AE54A-29F4-E5A3-1183-48ED689B8ACC}"/>
              </a:ext>
            </a:extLst>
          </p:cNvPr>
          <p:cNvSpPr txBox="1"/>
          <p:nvPr/>
        </p:nvSpPr>
        <p:spPr>
          <a:xfrm>
            <a:off x="2280513"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13" name="Rounded Rectangle 11">
            <a:extLst>
              <a:ext uri="{FF2B5EF4-FFF2-40B4-BE49-F238E27FC236}">
                <a16:creationId xmlns:a16="http://schemas.microsoft.com/office/drawing/2014/main" id="{C26D2D8C-ABF2-0F03-0567-F772D753D0E8}"/>
              </a:ext>
            </a:extLst>
          </p:cNvPr>
          <p:cNvSpPr/>
          <p:nvPr/>
        </p:nvSpPr>
        <p:spPr>
          <a:xfrm>
            <a:off x="2280513"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endParaRPr kumimoji="0" lang="en-US" sz="9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4" name="Rounded Rectangle 12">
            <a:extLst>
              <a:ext uri="{FF2B5EF4-FFF2-40B4-BE49-F238E27FC236}">
                <a16:creationId xmlns:a16="http://schemas.microsoft.com/office/drawing/2014/main" id="{4A1B016C-3BCC-82D6-634C-F49AAE31CA00}"/>
              </a:ext>
            </a:extLst>
          </p:cNvPr>
          <p:cNvSpPr/>
          <p:nvPr/>
        </p:nvSpPr>
        <p:spPr>
          <a:xfrm>
            <a:off x="406725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16" name="Rounded Rectangle 13">
            <a:extLst>
              <a:ext uri="{FF2B5EF4-FFF2-40B4-BE49-F238E27FC236}">
                <a16:creationId xmlns:a16="http://schemas.microsoft.com/office/drawing/2014/main" id="{FEA91215-4671-8F7B-948E-885B87ADC67B}"/>
              </a:ext>
            </a:extLst>
          </p:cNvPr>
          <p:cNvSpPr/>
          <p:nvPr/>
        </p:nvSpPr>
        <p:spPr>
          <a:xfrm>
            <a:off x="4067250" y="1560362"/>
            <a:ext cx="1786737" cy="566928"/>
          </a:xfrm>
          <a:prstGeom prst="roundRect">
            <a:avLst>
              <a:gd name="adj" fmla="val 12000"/>
            </a:avLst>
          </a:prstGeom>
          <a:solidFill>
            <a:srgbClr val="4A6FA5"/>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Day4〜5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18" name="TextBox 14">
            <a:extLst>
              <a:ext uri="{FF2B5EF4-FFF2-40B4-BE49-F238E27FC236}">
                <a16:creationId xmlns:a16="http://schemas.microsoft.com/office/drawing/2014/main" id="{8D211078-EBAD-209F-4F3F-0C349BF4FD82}"/>
              </a:ext>
            </a:extLst>
          </p:cNvPr>
          <p:cNvSpPr txBox="1"/>
          <p:nvPr/>
        </p:nvSpPr>
        <p:spPr>
          <a:xfrm>
            <a:off x="417697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20" name="TextBox 15">
            <a:extLst>
              <a:ext uri="{FF2B5EF4-FFF2-40B4-BE49-F238E27FC236}">
                <a16:creationId xmlns:a16="http://schemas.microsoft.com/office/drawing/2014/main" id="{365832DB-68FC-D672-D52E-8442D3CB553A}"/>
              </a:ext>
            </a:extLst>
          </p:cNvPr>
          <p:cNvSpPr txBox="1"/>
          <p:nvPr/>
        </p:nvSpPr>
        <p:spPr>
          <a:xfrm>
            <a:off x="4176978"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22" name="Rounded Rectangle 16">
            <a:extLst>
              <a:ext uri="{FF2B5EF4-FFF2-40B4-BE49-F238E27FC236}">
                <a16:creationId xmlns:a16="http://schemas.microsoft.com/office/drawing/2014/main" id="{06C50741-6FE4-CFDC-C843-4251AC11BC48}"/>
              </a:ext>
            </a:extLst>
          </p:cNvPr>
          <p:cNvSpPr/>
          <p:nvPr/>
        </p:nvSpPr>
        <p:spPr>
          <a:xfrm>
            <a:off x="4176978" y="5217962"/>
            <a:ext cx="1567281" cy="384048"/>
          </a:xfrm>
          <a:prstGeom prst="roundRect">
            <a:avLst>
              <a:gd name="adj" fmla="val 50000"/>
            </a:avLst>
          </a:prstGeom>
          <a:solidFill>
            <a:srgbClr val="4A6FA5"/>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4" name="Rounded Rectangle 17">
            <a:extLst>
              <a:ext uri="{FF2B5EF4-FFF2-40B4-BE49-F238E27FC236}">
                <a16:creationId xmlns:a16="http://schemas.microsoft.com/office/drawing/2014/main" id="{5E61CC1A-5313-8BA8-A36D-461E68D47515}"/>
              </a:ext>
            </a:extLst>
          </p:cNvPr>
          <p:cNvSpPr/>
          <p:nvPr/>
        </p:nvSpPr>
        <p:spPr>
          <a:xfrm>
            <a:off x="5963715"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26" name="Rounded Rectangle 18">
            <a:extLst>
              <a:ext uri="{FF2B5EF4-FFF2-40B4-BE49-F238E27FC236}">
                <a16:creationId xmlns:a16="http://schemas.microsoft.com/office/drawing/2014/main" id="{CF0F0823-8E61-35DF-0019-982187079423}"/>
              </a:ext>
            </a:extLst>
          </p:cNvPr>
          <p:cNvSpPr/>
          <p:nvPr/>
        </p:nvSpPr>
        <p:spPr>
          <a:xfrm>
            <a:off x="5963715" y="1560362"/>
            <a:ext cx="1786737" cy="566928"/>
          </a:xfrm>
          <a:prstGeom prst="roundRect">
            <a:avLst>
              <a:gd name="adj" fmla="val 12000"/>
            </a:avLst>
          </a:prstGeom>
          <a:solidFill>
            <a:srgbClr val="5A6378"/>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Day8〜9</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28" name="TextBox 19">
            <a:extLst>
              <a:ext uri="{FF2B5EF4-FFF2-40B4-BE49-F238E27FC236}">
                <a16:creationId xmlns:a16="http://schemas.microsoft.com/office/drawing/2014/main" id="{1E77E8ED-9C7B-F76F-EC10-4B949FB21FD1}"/>
              </a:ext>
            </a:extLst>
          </p:cNvPr>
          <p:cNvSpPr txBox="1"/>
          <p:nvPr/>
        </p:nvSpPr>
        <p:spPr>
          <a:xfrm>
            <a:off x="6073443"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0" name="TextBox 20">
            <a:extLst>
              <a:ext uri="{FF2B5EF4-FFF2-40B4-BE49-F238E27FC236}">
                <a16:creationId xmlns:a16="http://schemas.microsoft.com/office/drawing/2014/main" id="{1BD34B43-6F7A-FF6A-770E-72D31542F706}"/>
              </a:ext>
            </a:extLst>
          </p:cNvPr>
          <p:cNvSpPr txBox="1"/>
          <p:nvPr/>
        </p:nvSpPr>
        <p:spPr>
          <a:xfrm>
            <a:off x="6073443" y="2968538"/>
            <a:ext cx="1567281" cy="764825"/>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32" name="Rounded Rectangle 21">
            <a:extLst>
              <a:ext uri="{FF2B5EF4-FFF2-40B4-BE49-F238E27FC236}">
                <a16:creationId xmlns:a16="http://schemas.microsoft.com/office/drawing/2014/main" id="{AF1930A0-66AA-5FA0-A37F-0CABADFA0C3B}"/>
              </a:ext>
            </a:extLst>
          </p:cNvPr>
          <p:cNvSpPr/>
          <p:nvPr/>
        </p:nvSpPr>
        <p:spPr>
          <a:xfrm>
            <a:off x="6073443" y="5217962"/>
            <a:ext cx="1567281" cy="384048"/>
          </a:xfrm>
          <a:prstGeom prst="roundRect">
            <a:avLst>
              <a:gd name="adj" fmla="val 50000"/>
            </a:avLst>
          </a:prstGeom>
          <a:solidFill>
            <a:srgbClr val="5A6378"/>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34" name="Rounded Rectangle 22">
            <a:extLst>
              <a:ext uri="{FF2B5EF4-FFF2-40B4-BE49-F238E27FC236}">
                <a16:creationId xmlns:a16="http://schemas.microsoft.com/office/drawing/2014/main" id="{F2C88914-14C1-0891-4CF0-9944C3A3D969}"/>
              </a:ext>
            </a:extLst>
          </p:cNvPr>
          <p:cNvSpPr/>
          <p:nvPr/>
        </p:nvSpPr>
        <p:spPr>
          <a:xfrm>
            <a:off x="7860180" y="1560362"/>
            <a:ext cx="1786737" cy="4160520"/>
          </a:xfrm>
          <a:prstGeom prst="roundRect">
            <a:avLst>
              <a:gd name="adj" fmla="val 5000"/>
            </a:avLst>
          </a:prstGeom>
          <a:solidFill>
            <a:srgbClr val="F5F7FA"/>
          </a:solidFill>
          <a:ln w="12700" cap="flat" cmpd="sng" algn="ctr">
            <a:solidFill>
              <a:srgbClr val="D1D8E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sz="1400" b="0"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endParaRPr>
          </a:p>
        </p:txBody>
      </p:sp>
      <p:sp>
        <p:nvSpPr>
          <p:cNvPr id="36" name="Rounded Rectangle 23">
            <a:extLst>
              <a:ext uri="{FF2B5EF4-FFF2-40B4-BE49-F238E27FC236}">
                <a16:creationId xmlns:a16="http://schemas.microsoft.com/office/drawing/2014/main" id="{550A2935-2D5F-71AA-03EA-89DCD709158A}"/>
              </a:ext>
            </a:extLst>
          </p:cNvPr>
          <p:cNvSpPr/>
          <p:nvPr/>
        </p:nvSpPr>
        <p:spPr>
          <a:xfrm>
            <a:off x="7860180" y="1560362"/>
            <a:ext cx="1786737" cy="566928"/>
          </a:xfrm>
          <a:prstGeom prst="roundRect">
            <a:avLst>
              <a:gd name="adj" fmla="val 12000"/>
            </a:avLst>
          </a:prstGeom>
          <a:solidFill>
            <a:srgbClr val="1F2A5C"/>
          </a:solidFill>
          <a:ln w="9525" cap="flat" cmpd="sng" algn="ctr">
            <a:noFill/>
            <a:prstDash val="solid"/>
          </a:ln>
          <a:effectLst/>
        </p:spPr>
        <p:txBody>
          <a:bodyPr tIns="25400" bIns="254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Day1</a:t>
            </a:r>
            <a:r>
              <a:rPr kumimoji="0" lang="en-US" altLang="ja-JP"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0</a:t>
            </a:r>
            <a:r>
              <a:rPr kumimoji="0" sz="15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〜15</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00" b="0" i="0" u="none" strike="noStrike" kern="0" cap="none" spc="0" normalizeH="0" baseline="0" noProof="0" dirty="0" err="1">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オファ</a:t>
            </a:r>
            <a:r>
              <a:rPr kumimoji="0" sz="900" b="0"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ー</a:t>
            </a:r>
          </a:p>
        </p:txBody>
      </p:sp>
      <p:sp>
        <p:nvSpPr>
          <p:cNvPr id="38" name="TextBox 24">
            <a:extLst>
              <a:ext uri="{FF2B5EF4-FFF2-40B4-BE49-F238E27FC236}">
                <a16:creationId xmlns:a16="http://schemas.microsoft.com/office/drawing/2014/main" id="{C6884821-BFCB-BFA3-A7F3-7B83095EE162}"/>
              </a:ext>
            </a:extLst>
          </p:cNvPr>
          <p:cNvSpPr txBox="1"/>
          <p:nvPr/>
        </p:nvSpPr>
        <p:spPr>
          <a:xfrm>
            <a:off x="7969908" y="2237018"/>
            <a:ext cx="1567281" cy="447815"/>
          </a:xfrm>
          <a:prstGeom prst="rect">
            <a:avLst/>
          </a:prstGeom>
          <a:noFill/>
        </p:spPr>
        <p:txBody>
          <a:bodyPr wrap="square">
            <a:spAutoFit/>
          </a:bodyPr>
          <a:lstStyle/>
          <a:p>
            <a:pPr>
              <a:lnSpc>
                <a:spcPct val="105000"/>
              </a:lnSpc>
              <a:buClr>
                <a:srgbClr val="000000"/>
              </a:buClr>
              <a:buFont typeface="Arial"/>
              <a:buNone/>
            </a:pPr>
            <a:r>
              <a:rPr kumimoji="0" sz="1100" b="1" kern="0">
                <a:solidFill>
                  <a:srgbClr val="1F2A5C"/>
                </a:solidFill>
                <a:latin typeface="メイリオ" panose="020B0604030504040204" pitchFamily="50" charset="-128"/>
                <a:ea typeface="メイリオ" panose="020B0604030504040204" pitchFamily="50" charset="-128"/>
                <a:cs typeface="メイリオ"/>
                <a:sym typeface="Arial"/>
              </a:rPr>
              <a:t>--</a:t>
            </a:r>
          </a:p>
        </p:txBody>
      </p:sp>
      <p:sp>
        <p:nvSpPr>
          <p:cNvPr id="39" name="TextBox 25">
            <a:extLst>
              <a:ext uri="{FF2B5EF4-FFF2-40B4-BE49-F238E27FC236}">
                <a16:creationId xmlns:a16="http://schemas.microsoft.com/office/drawing/2014/main" id="{C5D41C5B-DA02-D594-6EF3-1CB8B850F14A}"/>
              </a:ext>
            </a:extLst>
          </p:cNvPr>
          <p:cNvSpPr txBox="1"/>
          <p:nvPr/>
        </p:nvSpPr>
        <p:spPr>
          <a:xfrm>
            <a:off x="7969908" y="2968538"/>
            <a:ext cx="1567281" cy="596702"/>
          </a:xfrm>
          <a:prstGeom prst="rect">
            <a:avLst/>
          </a:prstGeom>
          <a:noFill/>
        </p:spPr>
        <p:txBody>
          <a:bodyPr wrap="square">
            <a:spAutoFit/>
          </a:bodyPr>
          <a:lstStyle/>
          <a:p>
            <a:pPr>
              <a:lnSpc>
                <a:spcPct val="115000"/>
              </a:lnSpc>
              <a:buClr>
                <a:srgbClr val="000000"/>
              </a:buClr>
              <a:buFont typeface="Arial"/>
              <a:buNone/>
            </a:pPr>
            <a:r>
              <a:rPr kumimoji="0" sz="950" kern="0">
                <a:solidFill>
                  <a:srgbClr val="333333"/>
                </a:solidFill>
                <a:latin typeface="メイリオ" panose="020B0604030504040204" pitchFamily="50" charset="-128"/>
                <a:ea typeface="メイリオ" panose="020B0604030504040204" pitchFamily="50" charset="-128"/>
                <a:cs typeface="メイリオ"/>
                <a:sym typeface="Arial"/>
              </a:rPr>
              <a:t>--</a:t>
            </a:r>
          </a:p>
        </p:txBody>
      </p:sp>
      <p:sp>
        <p:nvSpPr>
          <p:cNvPr id="40" name="Rounded Rectangle 26">
            <a:extLst>
              <a:ext uri="{FF2B5EF4-FFF2-40B4-BE49-F238E27FC236}">
                <a16:creationId xmlns:a16="http://schemas.microsoft.com/office/drawing/2014/main" id="{A067CDE1-ED9A-E718-EE0A-DA2AEB873FF1}"/>
              </a:ext>
            </a:extLst>
          </p:cNvPr>
          <p:cNvSpPr/>
          <p:nvPr/>
        </p:nvSpPr>
        <p:spPr>
          <a:xfrm>
            <a:off x="7969908" y="5217962"/>
            <a:ext cx="1567281" cy="384048"/>
          </a:xfrm>
          <a:prstGeom prst="roundRect">
            <a:avLst>
              <a:gd name="adj" fmla="val 50000"/>
            </a:avLst>
          </a:prstGeom>
          <a:solidFill>
            <a:srgbClr val="1F2A5C"/>
          </a:solidFill>
          <a:ln w="9525" cap="flat" cmpd="sng" algn="ctr">
            <a:noFill/>
            <a:prstDash val="solid"/>
          </a:ln>
          <a:effectLst/>
        </p:spPr>
        <p:txBody>
          <a:bodyPr wrap="square" lIns="50800" rIns="5080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r>
              <a:rPr kumimoji="0" sz="950" b="1" i="0" u="none" strike="noStrike" kern="0" cap="none" spc="0" normalizeH="0" baseline="0" noProof="0">
                <a:ln>
                  <a:noFill/>
                </a:ln>
                <a:solidFill>
                  <a:srgbClr val="FFFFFF"/>
                </a:solidFill>
                <a:effectLst/>
                <a:uLnTx/>
                <a:uFillTx/>
                <a:latin typeface="メイリオ" panose="020B0604030504040204" pitchFamily="50" charset="-128"/>
                <a:ea typeface="メイリオ" panose="020B0604030504040204" pitchFamily="50" charset="-128"/>
                <a:cs typeface="メイリオ"/>
                <a:sym typeface="Arial"/>
              </a:rPr>
              <a:t>--</a:t>
            </a:r>
          </a:p>
        </p:txBody>
      </p:sp>
      <p:sp>
        <p:nvSpPr>
          <p:cNvPr id="41" name="TextBox 27">
            <a:extLst>
              <a:ext uri="{FF2B5EF4-FFF2-40B4-BE49-F238E27FC236}">
                <a16:creationId xmlns:a16="http://schemas.microsoft.com/office/drawing/2014/main" id="{BFE4A287-10A0-75D3-A1CE-D799E1EFC13D}"/>
              </a:ext>
            </a:extLst>
          </p:cNvPr>
          <p:cNvSpPr txBox="1"/>
          <p:nvPr/>
        </p:nvSpPr>
        <p:spPr>
          <a:xfrm>
            <a:off x="274320" y="5858042"/>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メイリオ"/>
                <a:sym typeface="Arial"/>
              </a:rPr>
              <a:t>--</a:t>
            </a:r>
            <a:endParaRPr kumimoji="0" lang="en-US" sz="1150" kern="0" dirty="0">
              <a:solidFill>
                <a:srgbClr val="5A6378"/>
              </a:solidFill>
              <a:latin typeface="メイリオ" panose="020B0604030504040204" pitchFamily="50" charset="-128"/>
              <a:ea typeface="メイリオ" panose="020B0604030504040204" pitchFamily="50" charset="-128"/>
              <a:cs typeface="メイリオ"/>
              <a:sym typeface="Arial"/>
            </a:endParaRPr>
          </a:p>
        </p:txBody>
      </p:sp>
      <p:sp>
        <p:nvSpPr>
          <p:cNvPr id="43" name="TextBox 5">
            <a:extLst>
              <a:ext uri="{FF2B5EF4-FFF2-40B4-BE49-F238E27FC236}">
                <a16:creationId xmlns:a16="http://schemas.microsoft.com/office/drawing/2014/main" id="{5186B2E3-B6EE-E2B1-37D8-54314195DE6A}"/>
              </a:ext>
            </a:extLst>
          </p:cNvPr>
          <p:cNvSpPr txBox="1"/>
          <p:nvPr/>
        </p:nvSpPr>
        <p:spPr>
          <a:xfrm>
            <a:off x="384048" y="3898197"/>
            <a:ext cx="1567281" cy="428579"/>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endParaRPr kumimoji="0"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p:txBody>
      </p:sp>
      <p:sp>
        <p:nvSpPr>
          <p:cNvPr id="45" name="TextBox 10">
            <a:extLst>
              <a:ext uri="{FF2B5EF4-FFF2-40B4-BE49-F238E27FC236}">
                <a16:creationId xmlns:a16="http://schemas.microsoft.com/office/drawing/2014/main" id="{21407363-BE74-F527-3AD4-32DCABC777CE}"/>
              </a:ext>
            </a:extLst>
          </p:cNvPr>
          <p:cNvSpPr txBox="1"/>
          <p:nvPr/>
        </p:nvSpPr>
        <p:spPr>
          <a:xfrm>
            <a:off x="2280513"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altLang="ja-JP"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endPar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endParaRP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7" name="TextBox 15">
            <a:extLst>
              <a:ext uri="{FF2B5EF4-FFF2-40B4-BE49-F238E27FC236}">
                <a16:creationId xmlns:a16="http://schemas.microsoft.com/office/drawing/2014/main" id="{C78B27A0-4402-41C9-F91E-C34A734A9324}"/>
              </a:ext>
            </a:extLst>
          </p:cNvPr>
          <p:cNvSpPr txBox="1"/>
          <p:nvPr/>
        </p:nvSpPr>
        <p:spPr>
          <a:xfrm>
            <a:off x="417697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49" name="TextBox 20">
            <a:extLst>
              <a:ext uri="{FF2B5EF4-FFF2-40B4-BE49-F238E27FC236}">
                <a16:creationId xmlns:a16="http://schemas.microsoft.com/office/drawing/2014/main" id="{ED838C3F-CC60-6AF7-B602-BDF9E60442DC}"/>
              </a:ext>
            </a:extLst>
          </p:cNvPr>
          <p:cNvSpPr txBox="1"/>
          <p:nvPr/>
        </p:nvSpPr>
        <p:spPr>
          <a:xfrm>
            <a:off x="6073443" y="3898197"/>
            <a:ext cx="1567281" cy="1101071"/>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
        <p:nvSpPr>
          <p:cNvPr id="51" name="TextBox 25">
            <a:extLst>
              <a:ext uri="{FF2B5EF4-FFF2-40B4-BE49-F238E27FC236}">
                <a16:creationId xmlns:a16="http://schemas.microsoft.com/office/drawing/2014/main" id="{0457EFFA-CEE7-8B18-D5C7-92FBBA486972}"/>
              </a:ext>
            </a:extLst>
          </p:cNvPr>
          <p:cNvSpPr txBox="1"/>
          <p:nvPr/>
        </p:nvSpPr>
        <p:spPr>
          <a:xfrm>
            <a:off x="7969908" y="3898197"/>
            <a:ext cx="1567281" cy="932948"/>
          </a:xfrm>
          <a:prstGeom prst="rect">
            <a:avLst/>
          </a:prstGeom>
          <a:solidFill>
            <a:schemeClr val="bg1">
              <a:lumMod val="85000"/>
              <a:alpha val="60000"/>
            </a:schemeClr>
          </a:solidFill>
        </p:spPr>
        <p:txBody>
          <a:bodyPr wrap="square">
            <a:spAutoFit/>
          </a:bodyPr>
          <a:lstStyle/>
          <a:p>
            <a:pPr>
              <a:lnSpc>
                <a:spcPct val="115000"/>
              </a:lnSpc>
              <a:buClr>
                <a:srgbClr val="000000"/>
              </a:buClr>
              <a:buFont typeface="Arial"/>
              <a:buNone/>
            </a:pPr>
            <a:r>
              <a:rPr kumimoji="0" 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[検索データ]</a:t>
            </a:r>
          </a:p>
          <a:p>
            <a:pPr>
              <a:lnSpc>
                <a:spcPct val="115000"/>
              </a:lnSpc>
              <a:buClr>
                <a:srgbClr val="000000"/>
              </a:buClr>
              <a:buFont typeface="Arial"/>
              <a:buNone/>
            </a:pPr>
            <a:r>
              <a:rPr kumimoji="0" lang="ja-JP" altLang="en-US" sz="950" kern="0" dirty="0">
                <a:solidFill>
                  <a:schemeClr val="tx1">
                    <a:lumMod val="50000"/>
                    <a:lumOff val="50000"/>
                  </a:schemeClr>
                </a:solidFill>
                <a:latin typeface="メイリオ" panose="020B0604030504040204" pitchFamily="50" charset="-128"/>
                <a:ea typeface="メイリオ" panose="020B0604030504040204" pitchFamily="50" charset="-128"/>
                <a:cs typeface="メイリオ"/>
                <a:sym typeface="Arial"/>
              </a:rPr>
              <a:t>--</a:t>
            </a:r>
          </a:p>
        </p:txBody>
      </p:sp>
    </p:spTree>
    <p:extLst>
      <p:ext uri="{BB962C8B-B14F-4D97-AF65-F5344CB8AC3E}">
        <p14:creationId xmlns:p14="http://schemas.microsoft.com/office/powerpoint/2010/main" val="105077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A247A-425B-CA18-88F5-CBC38492F70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905C2E3-B47A-8C1A-D463-CDA5864BF5B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12B93E0B-3589-44A0-B6C1-7C389DC3B2F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B867582A-814C-8A7B-A5C3-39ECB2F247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6E3DABA0-77D6-C7E1-6372-98872981A825}"/>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トラック分岐の設計思想</a:t>
            </a:r>
          </a:p>
        </p:txBody>
      </p:sp>
      <p:sp>
        <p:nvSpPr>
          <p:cNvPr id="6" name="LeftHeader">
            <a:extLst>
              <a:ext uri="{FF2B5EF4-FFF2-40B4-BE49-F238E27FC236}">
                <a16:creationId xmlns:a16="http://schemas.microsoft.com/office/drawing/2014/main" id="{A6C62775-6562-D5CC-92F7-DD62EEBC744F}"/>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DD6A368E-576C-29EC-7AEC-6F417FD64F2E}"/>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285534EC-0A05-D7BE-EBC2-EA588B18E931}"/>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平常期の層（予約していない方）</a:t>
            </a:r>
          </a:p>
        </p:txBody>
      </p:sp>
      <p:sp>
        <p:nvSpPr>
          <p:cNvPr id="11" name="RightBody">
            <a:extLst>
              <a:ext uri="{FF2B5EF4-FFF2-40B4-BE49-F238E27FC236}">
                <a16:creationId xmlns:a16="http://schemas.microsoft.com/office/drawing/2014/main" id="{27AAF778-ED13-4BF7-35CB-BDA3D2A9FF91}"/>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平常期の配信で、次のイベントまでつながりを保てる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次のイベントの案内を、広告より先に届けられる</a:t>
            </a:r>
          </a:p>
          <a:p>
            <a:pPr>
              <a:buClr>
                <a:srgbClr val="000000"/>
              </a:buClr>
              <a:buFont typeface="Arial"/>
              <a:buNone/>
            </a:pPr>
            <a:endPar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6D432096-7298-F609-05CC-7A87E38C98F4}"/>
              </a:ext>
            </a:extLst>
          </p:cNvPr>
          <p:cNvSpPr txBox="1"/>
          <p:nvPr/>
        </p:nvSpPr>
        <p:spPr>
          <a:xfrm>
            <a:off x="381000" y="4554727"/>
            <a:ext cx="9144000" cy="81280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友だちの入口（ポップアップツール／サンクスLINE誘導）で自動で分け、予約した方は当日の参加へ、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予約していない方は平常期の配信で次のイベントへつなげる。</a:t>
            </a:r>
          </a:p>
        </p:txBody>
      </p:sp>
      <p:sp>
        <p:nvSpPr>
          <p:cNvPr id="8" name="正方形/長方形 7">
            <a:extLst>
              <a:ext uri="{FF2B5EF4-FFF2-40B4-BE49-F238E27FC236}">
                <a16:creationId xmlns:a16="http://schemas.microsoft.com/office/drawing/2014/main" id="{2B282CB3-BF1E-586C-2C28-1C71F5FCA804}"/>
              </a:ext>
            </a:extLst>
          </p:cNvPr>
          <p:cNvSpPr/>
          <p:nvPr/>
        </p:nvSpPr>
        <p:spPr>
          <a:xfrm>
            <a:off x="224971" y="1549970"/>
            <a:ext cx="4757057" cy="2851149"/>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1FECCBA2-AC74-A2AF-3521-2B2FF4D4D290}"/>
              </a:ext>
            </a:extLst>
          </p:cNvPr>
          <p:cNvSpPr/>
          <p:nvPr/>
        </p:nvSpPr>
        <p:spPr>
          <a:xfrm>
            <a:off x="379975" y="4547075"/>
            <a:ext cx="9143999" cy="841795"/>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516917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4F9F-F8CE-54D5-B025-489FE860A6A8}"/>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EE4D7325-B8B2-BB52-63C7-88C454517059}"/>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D9FCD3C6-ACF7-5D09-5F1C-DE149D83848E}"/>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14" name="TextBox 2001">
            <a:extLst>
              <a:ext uri="{FF2B5EF4-FFF2-40B4-BE49-F238E27FC236}">
                <a16:creationId xmlns:a16="http://schemas.microsoft.com/office/drawing/2014/main" id="{1456DACD-3900-B1CF-8DDF-966688299A92}"/>
              </a:ext>
            </a:extLst>
          </p:cNvPr>
          <p:cNvSpPr txBox="1"/>
          <p:nvPr/>
        </p:nvSpPr>
        <p:spPr>
          <a:xfrm>
            <a:off x="456501" y="3879413"/>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C. 休眠リード開拓施策</a:t>
            </a:r>
          </a:p>
        </p:txBody>
      </p:sp>
      <p:sp>
        <p:nvSpPr>
          <p:cNvPr id="17" name="Chevron 2002">
            <a:extLst>
              <a:ext uri="{FF2B5EF4-FFF2-40B4-BE49-F238E27FC236}">
                <a16:creationId xmlns:a16="http://schemas.microsoft.com/office/drawing/2014/main" id="{D8C58E61-1ED0-F016-1DBE-2E247D5EC8B6}"/>
              </a:ext>
            </a:extLst>
          </p:cNvPr>
          <p:cNvSpPr/>
          <p:nvPr/>
        </p:nvSpPr>
        <p:spPr>
          <a:xfrm>
            <a:off x="456501" y="4245173"/>
            <a:ext cx="2180844"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--件</a:t>
            </a:r>
          </a:p>
          <a:p>
            <a:pPr algn="ctr"/>
            <a:r>
              <a:rPr sz="950">
                <a:solidFill>
                  <a:srgbClr val="FFFFFF"/>
                </a:solidFill>
                <a:latin typeface="メイリオ"/>
                <a:ea typeface="メイリオ"/>
                <a:cs typeface="メイリオ"/>
              </a:rPr>
              <a:t>保有リスト</a:t>
            </a:r>
          </a:p>
        </p:txBody>
      </p:sp>
      <p:sp>
        <p:nvSpPr>
          <p:cNvPr id="19" name="Chevron 2003">
            <a:extLst>
              <a:ext uri="{FF2B5EF4-FFF2-40B4-BE49-F238E27FC236}">
                <a16:creationId xmlns:a16="http://schemas.microsoft.com/office/drawing/2014/main" id="{C25E4C3B-7F41-E2E9-8338-BEA9E51E3B73}"/>
              </a:ext>
            </a:extLst>
          </p:cNvPr>
          <p:cNvSpPr/>
          <p:nvPr/>
        </p:nvSpPr>
        <p:spPr>
          <a:xfrm>
            <a:off x="2747073"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ハッシュ化</a:t>
            </a:r>
          </a:p>
          <a:p>
            <a:pPr algn="ctr"/>
            <a:r>
              <a:rPr sz="950">
                <a:solidFill>
                  <a:srgbClr val="FFFFFF"/>
                </a:solidFill>
                <a:latin typeface="メイリオ"/>
                <a:ea typeface="メイリオ"/>
                <a:cs typeface="メイリオ"/>
              </a:rPr>
              <a:t>LINEヤフーAPI照合</a:t>
            </a:r>
          </a:p>
        </p:txBody>
      </p:sp>
      <p:sp>
        <p:nvSpPr>
          <p:cNvPr id="22" name="Chevron 2004">
            <a:extLst>
              <a:ext uri="{FF2B5EF4-FFF2-40B4-BE49-F238E27FC236}">
                <a16:creationId xmlns:a16="http://schemas.microsoft.com/office/drawing/2014/main" id="{9840FDFC-40F8-2732-4B52-3774EEECF41F}"/>
              </a:ext>
            </a:extLst>
          </p:cNvPr>
          <p:cNvSpPr/>
          <p:nvPr/>
        </p:nvSpPr>
        <p:spPr>
          <a:xfrm>
            <a:off x="5037645" y="4245173"/>
            <a:ext cx="2180844" cy="68580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友だち化</a:t>
            </a:r>
          </a:p>
          <a:p>
            <a:pPr algn="ctr"/>
            <a:r>
              <a:rPr sz="950">
                <a:solidFill>
                  <a:srgbClr val="FFFFFF"/>
                </a:solidFill>
                <a:latin typeface="メイリオ"/>
                <a:ea typeface="メイリオ"/>
                <a:cs typeface="メイリオ"/>
              </a:rPr>
              <a:t>休眠リードをLINE化</a:t>
            </a:r>
          </a:p>
        </p:txBody>
      </p:sp>
      <p:sp>
        <p:nvSpPr>
          <p:cNvPr id="25" name="Chevron 2005">
            <a:extLst>
              <a:ext uri="{FF2B5EF4-FFF2-40B4-BE49-F238E27FC236}">
                <a16:creationId xmlns:a16="http://schemas.microsoft.com/office/drawing/2014/main" id="{E4A2AA24-7F5A-B469-896A-08719D7E75D1}"/>
              </a:ext>
            </a:extLst>
          </p:cNvPr>
          <p:cNvSpPr/>
          <p:nvPr/>
        </p:nvSpPr>
        <p:spPr>
          <a:xfrm>
            <a:off x="7328217" y="4245173"/>
            <a:ext cx="2180844" cy="68580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Day0合流</a:t>
            </a:r>
          </a:p>
          <a:p>
            <a:pPr algn="ctr"/>
            <a:r>
              <a:rPr sz="950">
                <a:solidFill>
                  <a:srgbClr val="FFFFFF"/>
                </a:solidFill>
                <a:latin typeface="メイリオ"/>
                <a:ea typeface="メイリオ"/>
                <a:cs typeface="メイリオ"/>
              </a:rPr>
              <a:t>短期／長期へ通常分岐</a:t>
            </a:r>
          </a:p>
        </p:txBody>
      </p:sp>
      <p:sp>
        <p:nvSpPr>
          <p:cNvPr id="24" name="Chevron 2001">
            <a:extLst>
              <a:ext uri="{FF2B5EF4-FFF2-40B4-BE49-F238E27FC236}">
                <a16:creationId xmlns:a16="http://schemas.microsoft.com/office/drawing/2014/main" id="{91FF439D-D4E2-C04E-9A1B-1318FF9A16D9}"/>
              </a:ext>
            </a:extLst>
          </p:cNvPr>
          <p:cNvSpPr/>
          <p:nvPr/>
        </p:nvSpPr>
        <p:spPr>
          <a:xfrm>
            <a:off x="456501" y="1839817"/>
            <a:ext cx="2926080" cy="54864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Day0</a:t>
            </a:r>
          </a:p>
        </p:txBody>
      </p:sp>
      <p:sp>
        <p:nvSpPr>
          <p:cNvPr id="28" name="TextBox 2002">
            <a:extLst>
              <a:ext uri="{FF2B5EF4-FFF2-40B4-BE49-F238E27FC236}">
                <a16:creationId xmlns:a16="http://schemas.microsoft.com/office/drawing/2014/main" id="{855ED89F-D224-EAF6-03A3-EC8F0E9111F8}"/>
              </a:ext>
            </a:extLst>
          </p:cNvPr>
          <p:cNvSpPr txBox="1"/>
          <p:nvPr/>
        </p:nvSpPr>
        <p:spPr>
          <a:xfrm>
            <a:off x="45650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アンケートで長期
ニーズ層と判定</a:t>
            </a:r>
          </a:p>
        </p:txBody>
      </p:sp>
      <p:sp>
        <p:nvSpPr>
          <p:cNvPr id="31" name="Chevron 2003">
            <a:extLst>
              <a:ext uri="{FF2B5EF4-FFF2-40B4-BE49-F238E27FC236}">
                <a16:creationId xmlns:a16="http://schemas.microsoft.com/office/drawing/2014/main" id="{EF9C8636-6B09-9263-5A67-DB781AB0B8A7}"/>
              </a:ext>
            </a:extLst>
          </p:cNvPr>
          <p:cNvSpPr/>
          <p:nvPr/>
        </p:nvSpPr>
        <p:spPr>
          <a:xfrm>
            <a:off x="3519741" y="1839817"/>
            <a:ext cx="2926080" cy="548640"/>
          </a:xfrm>
          <a:prstGeom prst="chevron">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Day1〜15</a:t>
            </a:r>
          </a:p>
        </p:txBody>
      </p:sp>
      <p:sp>
        <p:nvSpPr>
          <p:cNvPr id="34" name="TextBox 2004">
            <a:extLst>
              <a:ext uri="{FF2B5EF4-FFF2-40B4-BE49-F238E27FC236}">
                <a16:creationId xmlns:a16="http://schemas.microsoft.com/office/drawing/2014/main" id="{7B195B2D-D5DD-A6AF-1787-BE50FD77FA3F}"/>
              </a:ext>
            </a:extLst>
          </p:cNvPr>
          <p:cNvSpPr txBox="1"/>
          <p:nvPr/>
        </p:nvSpPr>
        <p:spPr>
          <a:xfrm>
            <a:off x="351974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隔週ペースで
基礎知識を教育配信</a:t>
            </a:r>
          </a:p>
        </p:txBody>
      </p:sp>
      <p:sp>
        <p:nvSpPr>
          <p:cNvPr id="36" name="Chevron 2005">
            <a:extLst>
              <a:ext uri="{FF2B5EF4-FFF2-40B4-BE49-F238E27FC236}">
                <a16:creationId xmlns:a16="http://schemas.microsoft.com/office/drawing/2014/main" id="{72262D61-75E5-1BAE-CB4A-36BFCB69D825}"/>
              </a:ext>
            </a:extLst>
          </p:cNvPr>
          <p:cNvSpPr/>
          <p:nvPr/>
        </p:nvSpPr>
        <p:spPr>
          <a:xfrm>
            <a:off x="6582981" y="1839817"/>
            <a:ext cx="2926080" cy="548640"/>
          </a:xfrm>
          <a:prstGeom prst="chevron">
            <a:avLst/>
          </a:prstGeom>
          <a:solidFill>
            <a:srgbClr val="5A6378"/>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400" b="1">
                <a:solidFill>
                  <a:srgbClr val="FFFFFF"/>
                </a:solidFill>
                <a:latin typeface="メイリオ"/>
                <a:ea typeface="メイリオ"/>
                <a:cs typeface="メイリオ"/>
              </a:rPr>
              <a:t>反応時</a:t>
            </a:r>
          </a:p>
        </p:txBody>
      </p:sp>
      <p:sp>
        <p:nvSpPr>
          <p:cNvPr id="38" name="TextBox 2006">
            <a:extLst>
              <a:ext uri="{FF2B5EF4-FFF2-40B4-BE49-F238E27FC236}">
                <a16:creationId xmlns:a16="http://schemas.microsoft.com/office/drawing/2014/main" id="{C1A521F2-6CE9-E966-9A4F-48DD8B913AF9}"/>
              </a:ext>
            </a:extLst>
          </p:cNvPr>
          <p:cNvSpPr txBox="1"/>
          <p:nvPr/>
        </p:nvSpPr>
        <p:spPr>
          <a:xfrm>
            <a:off x="6582981" y="2479897"/>
            <a:ext cx="2926080" cy="640080"/>
          </a:xfrm>
          <a:prstGeom prst="rect">
            <a:avLst/>
          </a:prstGeom>
          <a:noFill/>
        </p:spPr>
        <p:txBody>
          <a:bodyPr wrap="square">
            <a:spAutoFit/>
          </a:bodyPr>
          <a:lstStyle/>
          <a:p>
            <a:pPr algn="ctr"/>
            <a:r>
              <a:rPr sz="1100" b="0">
                <a:solidFill>
                  <a:srgbClr val="333333"/>
                </a:solidFill>
                <a:latin typeface="メイリオ"/>
                <a:ea typeface="メイリオ"/>
                <a:cs typeface="メイリオ"/>
              </a:rPr>
              <a:t>短期トラックへ
自動フォールバック</a:t>
            </a:r>
          </a:p>
        </p:txBody>
      </p:sp>
      <p:sp>
        <p:nvSpPr>
          <p:cNvPr id="40" name="TextBox 2001">
            <a:extLst>
              <a:ext uri="{FF2B5EF4-FFF2-40B4-BE49-F238E27FC236}">
                <a16:creationId xmlns:a16="http://schemas.microsoft.com/office/drawing/2014/main" id="{04DDCAB8-88EA-D3FB-5D2A-9C531B903959}"/>
              </a:ext>
            </a:extLst>
          </p:cNvPr>
          <p:cNvSpPr txBox="1"/>
          <p:nvPr/>
        </p:nvSpPr>
        <p:spPr>
          <a:xfrm>
            <a:off x="456501" y="1474057"/>
            <a:ext cx="9052560" cy="320040"/>
          </a:xfrm>
          <a:prstGeom prst="rect">
            <a:avLst/>
          </a:prstGeom>
          <a:noFill/>
        </p:spPr>
        <p:txBody>
          <a:bodyPr wrap="square">
            <a:spAutoFit/>
          </a:bodyPr>
          <a:lstStyle/>
          <a:p>
            <a:pPr algn="l"/>
            <a:r>
              <a:rPr lang="en-US" sz="1400" b="1" dirty="0">
                <a:solidFill>
                  <a:srgbClr val="1F2A5C"/>
                </a:solidFill>
                <a:latin typeface="メイリオ" panose="020B0604030504040204" pitchFamily="50" charset="-128"/>
                <a:ea typeface="メイリオ" panose="020B0604030504040204" pitchFamily="50" charset="-128"/>
                <a:cs typeface="メイリオ"/>
              </a:rPr>
              <a:t>B</a:t>
            </a:r>
            <a:r>
              <a:rPr sz="1400" b="1" dirty="0">
                <a:solidFill>
                  <a:srgbClr val="1F2A5C"/>
                </a:solidFill>
                <a:latin typeface="メイリオ" panose="020B0604030504040204" pitchFamily="50" charset="-128"/>
                <a:ea typeface="メイリオ" panose="020B0604030504040204" pitchFamily="50" charset="-128"/>
                <a:cs typeface="メイリオ"/>
              </a:rPr>
              <a:t>. </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アンケート回答結果に基づく</a:t>
            </a:r>
            <a:endParaRPr sz="1400" b="1" dirty="0">
              <a:solidFill>
                <a:srgbClr val="1F2A5C"/>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479613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DB548-D486-3EA8-8B0A-6AB1F4024AFD}"/>
            </a:ext>
          </a:extLst>
        </p:cNvPr>
        <p:cNvGrpSpPr/>
        <p:nvPr/>
      </p:nvGrpSpPr>
      <p:grpSpPr>
        <a:xfrm>
          <a:off x="0" y="0"/>
          <a:ext cx="0" cy="0"/>
          <a:chOff x="0" y="0"/>
          <a:chExt cx="0" cy="0"/>
        </a:xfrm>
      </p:grpSpPr>
      <p:sp>
        <p:nvSpPr>
          <p:cNvPr id="4" name="テキスト ボックス 47">
            <a:extLst>
              <a:ext uri="{FF2B5EF4-FFF2-40B4-BE49-F238E27FC236}">
                <a16:creationId xmlns:a16="http://schemas.microsoft.com/office/drawing/2014/main" id="{B5E1738D-F77B-5CA6-8CD0-9A9EC26F9BDC}"/>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休眠リード開拓と参加後フォローアップ</a:t>
            </a:r>
          </a:p>
        </p:txBody>
      </p:sp>
      <p:sp>
        <p:nvSpPr>
          <p:cNvPr id="8" name="Lead">
            <a:extLst>
              <a:ext uri="{FF2B5EF4-FFF2-40B4-BE49-F238E27FC236}">
                <a16:creationId xmlns:a16="http://schemas.microsoft.com/office/drawing/2014/main" id="{AE20F162-D6DD-162B-1177-CA089E539DF1}"/>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検索起点シナリオに乗らない既存リストへの並走施策</a:t>
            </a:r>
          </a:p>
        </p:txBody>
      </p:sp>
      <p:sp>
        <p:nvSpPr>
          <p:cNvPr id="3" name="TextBox 2007">
            <a:extLst>
              <a:ext uri="{FF2B5EF4-FFF2-40B4-BE49-F238E27FC236}">
                <a16:creationId xmlns:a16="http://schemas.microsoft.com/office/drawing/2014/main" id="{E78531AA-9C5C-93A7-DEAB-957B5A74E584}"/>
              </a:ext>
            </a:extLst>
          </p:cNvPr>
          <p:cNvSpPr txBox="1"/>
          <p:nvPr/>
        </p:nvSpPr>
        <p:spPr>
          <a:xfrm>
            <a:off x="365760" y="1226239"/>
            <a:ext cx="9052560" cy="320040"/>
          </a:xfrm>
          <a:prstGeom prst="rect">
            <a:avLst/>
          </a:prstGeom>
          <a:noFill/>
        </p:spPr>
        <p:txBody>
          <a:bodyPr wrap="square">
            <a:spAutoFit/>
          </a:bodyPr>
          <a:lstStyle/>
          <a:p>
            <a:pPr algn="l"/>
            <a:r>
              <a:rPr sz="1300" b="1">
                <a:solidFill>
                  <a:srgbClr val="1F2A5C"/>
                </a:solidFill>
                <a:latin typeface="メイリオ"/>
                <a:ea typeface="メイリオ"/>
                <a:cs typeface="メイリオ"/>
              </a:rPr>
              <a:t>シーズナリティ連動トリガー（検索Volの季節性に合わせて再アプローチ）</a:t>
            </a:r>
          </a:p>
        </p:txBody>
      </p:sp>
      <p:sp>
        <p:nvSpPr>
          <p:cNvPr id="6" name="Rectangle 2008">
            <a:extLst>
              <a:ext uri="{FF2B5EF4-FFF2-40B4-BE49-F238E27FC236}">
                <a16:creationId xmlns:a16="http://schemas.microsoft.com/office/drawing/2014/main" id="{945E129C-F21B-0AE2-657B-28AE81F17F18}"/>
              </a:ext>
            </a:extLst>
          </p:cNvPr>
          <p:cNvSpPr/>
          <p:nvPr/>
        </p:nvSpPr>
        <p:spPr>
          <a:xfrm>
            <a:off x="36576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1月</a:t>
            </a:r>
          </a:p>
        </p:txBody>
      </p:sp>
      <p:sp>
        <p:nvSpPr>
          <p:cNvPr id="9" name="Rectangle 2009">
            <a:extLst>
              <a:ext uri="{FF2B5EF4-FFF2-40B4-BE49-F238E27FC236}">
                <a16:creationId xmlns:a16="http://schemas.microsoft.com/office/drawing/2014/main" id="{C7632AEE-6947-EFAB-5C48-764A058D5F0C}"/>
              </a:ext>
            </a:extLst>
          </p:cNvPr>
          <p:cNvSpPr/>
          <p:nvPr/>
        </p:nvSpPr>
        <p:spPr>
          <a:xfrm>
            <a:off x="112225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2月</a:t>
            </a:r>
          </a:p>
        </p:txBody>
      </p:sp>
      <p:sp>
        <p:nvSpPr>
          <p:cNvPr id="11" name="Rectangle 2010">
            <a:extLst>
              <a:ext uri="{FF2B5EF4-FFF2-40B4-BE49-F238E27FC236}">
                <a16:creationId xmlns:a16="http://schemas.microsoft.com/office/drawing/2014/main" id="{F1F7980F-B34E-8E0A-A779-DEC816D8E76C}"/>
              </a:ext>
            </a:extLst>
          </p:cNvPr>
          <p:cNvSpPr/>
          <p:nvPr/>
        </p:nvSpPr>
        <p:spPr>
          <a:xfrm>
            <a:off x="187875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3月</a:t>
            </a:r>
          </a:p>
        </p:txBody>
      </p:sp>
      <p:sp>
        <p:nvSpPr>
          <p:cNvPr id="13" name="Rectangle 2011">
            <a:extLst>
              <a:ext uri="{FF2B5EF4-FFF2-40B4-BE49-F238E27FC236}">
                <a16:creationId xmlns:a16="http://schemas.microsoft.com/office/drawing/2014/main" id="{E063EBB9-78F7-A4D4-F999-4C5AC7691AEC}"/>
              </a:ext>
            </a:extLst>
          </p:cNvPr>
          <p:cNvSpPr/>
          <p:nvPr/>
        </p:nvSpPr>
        <p:spPr>
          <a:xfrm>
            <a:off x="263524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4月</a:t>
            </a:r>
          </a:p>
        </p:txBody>
      </p:sp>
      <p:sp>
        <p:nvSpPr>
          <p:cNvPr id="16" name="Rectangle 2012">
            <a:extLst>
              <a:ext uri="{FF2B5EF4-FFF2-40B4-BE49-F238E27FC236}">
                <a16:creationId xmlns:a16="http://schemas.microsoft.com/office/drawing/2014/main" id="{9D5C35C5-AFBD-1E16-34BD-FEA820687F12}"/>
              </a:ext>
            </a:extLst>
          </p:cNvPr>
          <p:cNvSpPr/>
          <p:nvPr/>
        </p:nvSpPr>
        <p:spPr>
          <a:xfrm>
            <a:off x="339174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5月</a:t>
            </a:r>
          </a:p>
        </p:txBody>
      </p:sp>
      <p:sp>
        <p:nvSpPr>
          <p:cNvPr id="20" name="Rectangle 2013">
            <a:extLst>
              <a:ext uri="{FF2B5EF4-FFF2-40B4-BE49-F238E27FC236}">
                <a16:creationId xmlns:a16="http://schemas.microsoft.com/office/drawing/2014/main" id="{AF46E364-2991-EF4B-B9B4-F07ED66BFC8E}"/>
              </a:ext>
            </a:extLst>
          </p:cNvPr>
          <p:cNvSpPr/>
          <p:nvPr/>
        </p:nvSpPr>
        <p:spPr>
          <a:xfrm>
            <a:off x="414824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6月</a:t>
            </a:r>
          </a:p>
        </p:txBody>
      </p:sp>
      <p:sp>
        <p:nvSpPr>
          <p:cNvPr id="23" name="Rectangle 2014">
            <a:extLst>
              <a:ext uri="{FF2B5EF4-FFF2-40B4-BE49-F238E27FC236}">
                <a16:creationId xmlns:a16="http://schemas.microsoft.com/office/drawing/2014/main" id="{3505044C-9CC2-BDB7-A9BA-96EE69E34EAB}"/>
              </a:ext>
            </a:extLst>
          </p:cNvPr>
          <p:cNvSpPr/>
          <p:nvPr/>
        </p:nvSpPr>
        <p:spPr>
          <a:xfrm>
            <a:off x="490473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7月</a:t>
            </a:r>
          </a:p>
        </p:txBody>
      </p:sp>
      <p:sp>
        <p:nvSpPr>
          <p:cNvPr id="27" name="Rectangle 2015">
            <a:extLst>
              <a:ext uri="{FF2B5EF4-FFF2-40B4-BE49-F238E27FC236}">
                <a16:creationId xmlns:a16="http://schemas.microsoft.com/office/drawing/2014/main" id="{8AF5E7F4-5D53-86FD-2BD6-C7542F8A83FD}"/>
              </a:ext>
            </a:extLst>
          </p:cNvPr>
          <p:cNvSpPr/>
          <p:nvPr/>
        </p:nvSpPr>
        <p:spPr>
          <a:xfrm>
            <a:off x="5661232"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8月</a:t>
            </a:r>
          </a:p>
        </p:txBody>
      </p:sp>
      <p:sp>
        <p:nvSpPr>
          <p:cNvPr id="30" name="Rectangle 2016">
            <a:extLst>
              <a:ext uri="{FF2B5EF4-FFF2-40B4-BE49-F238E27FC236}">
                <a16:creationId xmlns:a16="http://schemas.microsoft.com/office/drawing/2014/main" id="{FD72C16D-C4A9-9A7A-6196-9E875CF443CD}"/>
              </a:ext>
            </a:extLst>
          </p:cNvPr>
          <p:cNvSpPr/>
          <p:nvPr/>
        </p:nvSpPr>
        <p:spPr>
          <a:xfrm>
            <a:off x="6417728"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9月</a:t>
            </a:r>
          </a:p>
        </p:txBody>
      </p:sp>
      <p:sp>
        <p:nvSpPr>
          <p:cNvPr id="33" name="Rectangle 2017">
            <a:extLst>
              <a:ext uri="{FF2B5EF4-FFF2-40B4-BE49-F238E27FC236}">
                <a16:creationId xmlns:a16="http://schemas.microsoft.com/office/drawing/2014/main" id="{00C86569-3F53-5888-AFF4-E0BFECCAE588}"/>
              </a:ext>
            </a:extLst>
          </p:cNvPr>
          <p:cNvSpPr/>
          <p:nvPr/>
        </p:nvSpPr>
        <p:spPr>
          <a:xfrm>
            <a:off x="7174224"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10月</a:t>
            </a:r>
          </a:p>
        </p:txBody>
      </p:sp>
      <p:sp>
        <p:nvSpPr>
          <p:cNvPr id="37" name="Rectangle 2018">
            <a:extLst>
              <a:ext uri="{FF2B5EF4-FFF2-40B4-BE49-F238E27FC236}">
                <a16:creationId xmlns:a16="http://schemas.microsoft.com/office/drawing/2014/main" id="{B4B7698F-F5C5-2766-1198-1F1B10650721}"/>
              </a:ext>
            </a:extLst>
          </p:cNvPr>
          <p:cNvSpPr/>
          <p:nvPr/>
        </p:nvSpPr>
        <p:spPr>
          <a:xfrm>
            <a:off x="7930720"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ea typeface="メイリオ"/>
                <a:cs typeface="メイリオ"/>
              </a:rPr>
              <a:t>11月</a:t>
            </a:r>
          </a:p>
        </p:txBody>
      </p:sp>
      <p:sp>
        <p:nvSpPr>
          <p:cNvPr id="41" name="Rectangle 2019">
            <a:extLst>
              <a:ext uri="{FF2B5EF4-FFF2-40B4-BE49-F238E27FC236}">
                <a16:creationId xmlns:a16="http://schemas.microsoft.com/office/drawing/2014/main" id="{B9122433-2609-1807-931B-6CFB1FC1612C}"/>
              </a:ext>
            </a:extLst>
          </p:cNvPr>
          <p:cNvSpPr/>
          <p:nvPr/>
        </p:nvSpPr>
        <p:spPr>
          <a:xfrm>
            <a:off x="8687216" y="1637719"/>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5A6378"/>
                </a:solidFill>
                <a:latin typeface="メイリオ"/>
                <a:ea typeface="メイリオ"/>
                <a:cs typeface="メイリオ"/>
              </a:rPr>
              <a:t>12月</a:t>
            </a:r>
          </a:p>
        </p:txBody>
      </p:sp>
      <p:sp>
        <p:nvSpPr>
          <p:cNvPr id="43" name="TextBox 2020">
            <a:extLst>
              <a:ext uri="{FF2B5EF4-FFF2-40B4-BE49-F238E27FC236}">
                <a16:creationId xmlns:a16="http://schemas.microsoft.com/office/drawing/2014/main" id="{BB0A7A81-025F-493D-383E-8F7CCCFDA607}"/>
              </a:ext>
            </a:extLst>
          </p:cNvPr>
          <p:cNvSpPr txBox="1"/>
          <p:nvPr/>
        </p:nvSpPr>
        <p:spPr>
          <a:xfrm>
            <a:off x="365760" y="2186359"/>
            <a:ext cx="9052560" cy="446276"/>
          </a:xfrm>
          <a:prstGeom prst="rect">
            <a:avLst/>
          </a:prstGeom>
          <a:noFill/>
        </p:spPr>
        <p:txBody>
          <a:bodyPr wrap="square">
            <a:spAutoFit/>
          </a:bodyPr>
          <a:lstStyle/>
          <a:p>
            <a:pPr algn="l"/>
            <a:r>
              <a:rPr lang="ja-JP" altLang="en-US" sz="1150" b="0" dirty="0">
                <a:solidFill>
                  <a:srgbClr val="5A6378"/>
                </a:solidFill>
                <a:latin typeface="メイリオ" panose="020B0604030504040204" pitchFamily="50" charset="-128"/>
                <a:ea typeface="メイリオ" panose="020B0604030504040204" pitchFamily="50" charset="-128"/>
                <a:cs typeface="メイリオ"/>
              </a:rPr>
              <a:t>--</a:t>
            </a:r>
            <a:endParaRPr lang="en-US" altLang="ja-JP" sz="1150" b="0" dirty="0">
              <a:solidFill>
                <a:srgbClr val="5A637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291321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長期ニーズトラック：シーズナリティ連動の中長期設計</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検索Volの季節性に合わせて再アプローチのタイミングを最適化する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403736"/>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D. 参加後フォローアップ</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000">
                <a:solidFill>
                  <a:srgbClr val="FFFFFF"/>
                </a:solidFill>
                <a:latin typeface="メイリオ"/>
                <a:ea typeface="メイリオ"/>
                <a:cs typeface="メイリオ"/>
              </a:rPr>
              <a:t>--</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769496"/>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000">
                <a:solidFill>
                  <a:srgbClr val="FFFFFF"/>
                </a:solidFill>
                <a:latin typeface="メイリオ"/>
                <a:ea typeface="メイリオ"/>
                <a:cs typeface="メイリオ"/>
              </a:rPr>
              <a:t>--</a:t>
            </a:r>
          </a:p>
        </p:txBody>
      </p:sp>
    </p:spTree>
    <p:extLst>
      <p:ext uri="{BB962C8B-B14F-4D97-AF65-F5344CB8AC3E}">
        <p14:creationId xmlns:p14="http://schemas.microsoft.com/office/powerpoint/2010/main" val="439680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a:t>
            </a:r>
            <a:r>
              <a:rPr lang="ja-JP" altLang="en-US" sz="1050" dirty="0">
                <a:solidFill>
                  <a:srgbClr val="1F2A5C"/>
                </a:solidFill>
                <a:latin typeface="メイリオ"/>
                <a:ea typeface="メイリオ"/>
                <a:cs typeface="メイリオ"/>
                <a:sym typeface="Meiryo"/>
              </a:rPr>
              <a:t>以外の注力動線への誘導も同バナーから実施が可能です。</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簡易</a:t>
            </a:r>
            <a:r>
              <a:rPr lang="en-US" altLang="ja-JP" sz="1000" b="1" dirty="0">
                <a:solidFill>
                  <a:schemeClr val="bg1"/>
                </a:solidFill>
                <a:latin typeface="メイリオ"/>
                <a:ea typeface="メイリオ"/>
                <a:cs typeface="メイリオ"/>
                <a:sym typeface="Meiryo"/>
              </a:rPr>
              <a:t>SIM</a:t>
            </a:r>
            <a:r>
              <a:rPr lang="ja-JP" altLang="en-US" sz="1000" b="1" dirty="0">
                <a:solidFill>
                  <a:schemeClr val="bg1"/>
                </a:solidFill>
                <a:latin typeface="メイリオ"/>
                <a:ea typeface="メイリオ"/>
                <a:cs typeface="メイリオ"/>
                <a:sym typeface="Meiryo"/>
              </a:rPr>
              <a:t>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複数の</a:t>
            </a: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流入経路からステップ配信を構築し、</a:t>
            </a:r>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数を増加。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に基づいて、契約における条件の調整が可能です。</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友だち追加直後〜成約誘導まで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メイリオ" pitchFamily="34" charset="-120"/>
              </a:rPr>
              <a:t>）</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季節・時期ごとの企画配信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メイリオ"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したキャンペーン案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4048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295,000円〜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50,000〜100,000円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65,000円〜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（平常期）</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115,000〜165,000円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365,000円〜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100,000円〜＋ポップアップツール 15,000円＋サンクスLINE誘導 150,000円＋LINE公式アカウント開設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※月額ツール・LINE関連費＝ポップアップツール 30,000円＋サンクスLINE誘導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295,000円〜／月額 65,000円＋成果報酬（セミナー予約 12,000円／件）</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※契約期間は6か月〜。広告費は含まない。概算お見積りのページはプラン②の場合（平常期の月額コンサルティング費は100,000円で計算）</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通年の運用・改善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ポップアップツール・</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導入・運用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平常期 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セミナー前日のお知らせ</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貴社作業・確認にかかる時間により前後する可能性がございます。</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LINEは積み上がる</a:t>
            </a:r>
            <a:r>
              <a:rPr lang="ja-JP" altLang="en-US" sz="1600" b="1" dirty="0">
                <a:latin typeface="メイリオ" panose="020B0604030504040204" pitchFamily="50" charset="-128"/>
                <a:ea typeface="メイリオ" panose="020B0604030504040204" pitchFamily="50" charset="-128"/>
                <a:cs typeface="メイリオ"/>
                <a:sym typeface="Meiryo"/>
              </a:rPr>
              <a:t>・追い続けられる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graphicFrame>
        <p:nvGraphicFramePr>
          <p:cNvPr id="5" name="広告とLINE 4"/>
          <p:cNvGraphicFramePr>
            <a:graphicFrameLocks noGrp="1"/>
          </p:cNvGraphicFramePr>
          <p:nvPr/>
        </p:nvGraphicFramePr>
        <p:xfrm>
          <a:off x="502920" y="2110892"/>
          <a:ext cx="8897112" cy="2057400"/>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11480">
                <a:tc>
                  <a:txBody>
                    <a:bodyPr/>
                    <a:lstStyle/>
                    <a:p>
                      <a:pPr algn="ctr">
                        <a:buNone/>
                      </a:pP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LINE公式アカウント</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届く相手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毎回、新しく集める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一度友だちになった方に、何度でも届く</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届き方</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広告を見たときだけ</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通知で届き、見てもらいやすい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イベントの後</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つながりが切れる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友だちとして、毎月積み上がる</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示唆"/>
          <p:cNvSpPr/>
          <p:nvPr/>
        </p:nvSpPr>
        <p:spPr>
          <a:xfrm>
            <a:off x="502920" y="4396892"/>
            <a:ext cx="8897112" cy="548640"/>
          </a:xfrm>
          <a:prstGeom prst="rect">
            <a:avLst/>
          </a:prstGeom>
          <a:solidFill>
            <a:srgbClr val="F2F2F2"/>
          </a:solidFill>
          <a:ln>
            <a:noFill/>
          </a:ln>
        </p:spPr>
        <p:txBody>
          <a:bodyPr wrap="square" lIns="73152" tIns="36576" rIns="73152" bIns="36576" rtlCol="0" anchor="ctr">
            <a:noAutofit/>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この仕組みが回れば、今後の広告費を抑えられる可能性もある</a:t>
            </a:r>
            <a:endParaRPr lang="ja-JP" altLang="en-US" sz="1200" dirty="0">
              <a:latin typeface="メイリオ"/>
              <a:ea typeface="メイリオ"/>
              <a:cs typeface="メイリオ"/>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9320-CC43-CC0E-CB2A-2A81BA8880F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D032B5A-3DAD-BB45-FCD6-9BD41BA62A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Tree>
    <p:extLst>
      <p:ext uri="{BB962C8B-B14F-4D97-AF65-F5344CB8AC3E}">
        <p14:creationId xmlns:p14="http://schemas.microsoft.com/office/powerpoint/2010/main" val="1166228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a:t>
            </a:r>
          </a:p>
        </p:txBody>
      </p:sp>
      <p:sp>
        <p:nvSpPr>
          <p:cNvPr id="3" name="Lead">
            <a:extLst>
              <a:ext uri="{FF2B5EF4-FFF2-40B4-BE49-F238E27FC236}">
                <a16:creationId xmlns:a16="http://schemas.microsoft.com/office/drawing/2014/main" id="{F08FF241-FA02-3DB4-F5A0-2846B825B044}"/>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panose="020B0604030504040204" pitchFamily="50" charset="-128"/>
                <a:ea typeface="メイリオ" panose="020B0604030504040204" pitchFamily="50" charset="-128"/>
                <a:cs typeface="メイリオ"/>
              </a:rPr>
              <a:t>--</a:t>
            </a:r>
          </a:p>
        </p:txBody>
      </p:sp>
      <p:sp>
        <p:nvSpPr>
          <p:cNvPr id="6" name="Body">
            <a:extLst>
              <a:ext uri="{FF2B5EF4-FFF2-40B4-BE49-F238E27FC236}">
                <a16:creationId xmlns:a16="http://schemas.microsoft.com/office/drawing/2014/main" id="{82F47B3D-36AC-458C-435D-AA635278C458}"/>
              </a:ext>
            </a:extLst>
          </p:cNvPr>
          <p:cNvSpPr txBox="1"/>
          <p:nvPr/>
        </p:nvSpPr>
        <p:spPr>
          <a:xfrm>
            <a:off x="342900" y="1270000"/>
            <a:ext cx="6743700" cy="3810000"/>
          </a:xfrm>
          <a:prstGeom prst="rect">
            <a:avLst/>
          </a:prstGeom>
          <a:noFill/>
        </p:spPr>
        <p:txBody>
          <a:bodyPr wrap="square" lIns="0" tIns="0" rIns="0" bIns="0" anchor="t"/>
          <a:lstStyle/>
          <a:p>
            <a:endParaRPr>
              <a:latin typeface="メイリオ" panose="020B0604030504040204" pitchFamily="50" charset="-128"/>
              <a:ea typeface="メイリオ" panose="020B0604030504040204" pitchFamily="50" charset="-128"/>
              <a:cs typeface="メイリオ"/>
            </a:endParaRPr>
          </a:p>
        </p:txBody>
      </p:sp>
      <p:sp>
        <p:nvSpPr>
          <p:cNvPr id="8" name="TextBox 2001">
            <a:extLst>
              <a:ext uri="{FF2B5EF4-FFF2-40B4-BE49-F238E27FC236}">
                <a16:creationId xmlns:a16="http://schemas.microsoft.com/office/drawing/2014/main" id="{1266011E-8375-ED18-07F7-0E1E547F7E33}"/>
              </a:ext>
            </a:extLst>
          </p:cNvPr>
          <p:cNvSpPr txBox="1"/>
          <p:nvPr/>
        </p:nvSpPr>
        <p:spPr>
          <a:xfrm>
            <a:off x="365760" y="1371600"/>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0" name="Oval 2002">
            <a:extLst>
              <a:ext uri="{FF2B5EF4-FFF2-40B4-BE49-F238E27FC236}">
                <a16:creationId xmlns:a16="http://schemas.microsoft.com/office/drawing/2014/main" id="{77E596DF-1EAC-1237-A0BF-A8592C3A90C8}"/>
              </a:ext>
            </a:extLst>
          </p:cNvPr>
          <p:cNvSpPr/>
          <p:nvPr/>
        </p:nvSpPr>
        <p:spPr>
          <a:xfrm>
            <a:off x="914400" y="1783080"/>
            <a:ext cx="146685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2" name="Oval 2003">
            <a:extLst>
              <a:ext uri="{FF2B5EF4-FFF2-40B4-BE49-F238E27FC236}">
                <a16:creationId xmlns:a16="http://schemas.microsoft.com/office/drawing/2014/main" id="{7F917EDB-4DA5-2D51-DEF9-F1D7DC62A3D0}"/>
              </a:ext>
            </a:extLst>
          </p:cNvPr>
          <p:cNvSpPr/>
          <p:nvPr/>
        </p:nvSpPr>
        <p:spPr>
          <a:xfrm>
            <a:off x="2743200" y="1783080"/>
            <a:ext cx="146685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14" name="TextBox 2004">
            <a:extLst>
              <a:ext uri="{FF2B5EF4-FFF2-40B4-BE49-F238E27FC236}">
                <a16:creationId xmlns:a16="http://schemas.microsoft.com/office/drawing/2014/main" id="{2705E967-51E9-64AC-1273-825ACF9CF11D}"/>
              </a:ext>
            </a:extLst>
          </p:cNvPr>
          <p:cNvSpPr txBox="1"/>
          <p:nvPr/>
        </p:nvSpPr>
        <p:spPr>
          <a:xfrm>
            <a:off x="365760" y="3427095"/>
            <a:ext cx="9052560" cy="320040"/>
          </a:xfrm>
          <a:prstGeom prst="rect">
            <a:avLst/>
          </a:prstGeom>
          <a:noFill/>
        </p:spPr>
        <p:txBody>
          <a:bodyPr wrap="square">
            <a:spAutoFit/>
          </a:bodyPr>
          <a:lstStyle/>
          <a:p>
            <a:pPr algn="l"/>
            <a:r>
              <a:rPr sz="1400" b="1">
                <a:solidFill>
                  <a:srgbClr val="1F2A5C"/>
                </a:solidFill>
                <a:latin typeface="メイリオ" panose="020B0604030504040204" pitchFamily="50" charset="-128"/>
                <a:ea typeface="メイリオ" panose="020B0604030504040204" pitchFamily="50" charset="-128"/>
                <a:cs typeface="メイリオ"/>
              </a:rPr>
              <a:t>--</a:t>
            </a:r>
          </a:p>
        </p:txBody>
      </p:sp>
      <p:sp>
        <p:nvSpPr>
          <p:cNvPr id="16" name="Rounded Rectangle 2005">
            <a:extLst>
              <a:ext uri="{FF2B5EF4-FFF2-40B4-BE49-F238E27FC236}">
                <a16:creationId xmlns:a16="http://schemas.microsoft.com/office/drawing/2014/main" id="{ABF72EB3-0E58-C4B4-86D5-6D34D9F75C0B}"/>
              </a:ext>
            </a:extLst>
          </p:cNvPr>
          <p:cNvSpPr/>
          <p:nvPr/>
        </p:nvSpPr>
        <p:spPr>
          <a:xfrm>
            <a:off x="822960" y="3838575"/>
            <a:ext cx="219456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4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18" name="Oval 2006">
            <a:extLst>
              <a:ext uri="{FF2B5EF4-FFF2-40B4-BE49-F238E27FC236}">
                <a16:creationId xmlns:a16="http://schemas.microsoft.com/office/drawing/2014/main" id="{B480E83F-D844-D99F-CC4C-FF3DC5EC475C}"/>
              </a:ext>
            </a:extLst>
          </p:cNvPr>
          <p:cNvSpPr/>
          <p:nvPr/>
        </p:nvSpPr>
        <p:spPr>
          <a:xfrm>
            <a:off x="3383280" y="3838575"/>
            <a:ext cx="1436370" cy="1188720"/>
          </a:xfrm>
          <a:prstGeom prst="ellipse">
            <a:avLst/>
          </a:prstGeom>
          <a:solidFill>
            <a:srgbClr val="4A6FA5"/>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a:solidFill>
                  <a:srgbClr val="FFFFFF"/>
                </a:solidFill>
                <a:latin typeface="メイリオ" panose="020B0604030504040204" pitchFamily="50" charset="-128"/>
                <a:ea typeface="メイリオ" panose="020B0604030504040204" pitchFamily="50" charset="-128"/>
                <a:cs typeface="メイリオ"/>
              </a:rPr>
              <a:t>--</a:t>
            </a:r>
          </a:p>
        </p:txBody>
      </p:sp>
      <p:sp>
        <p:nvSpPr>
          <p:cNvPr id="20" name="Oval 2007">
            <a:extLst>
              <a:ext uri="{FF2B5EF4-FFF2-40B4-BE49-F238E27FC236}">
                <a16:creationId xmlns:a16="http://schemas.microsoft.com/office/drawing/2014/main" id="{97D834F7-04F0-3D93-E254-183AAEE62BD8}"/>
              </a:ext>
            </a:extLst>
          </p:cNvPr>
          <p:cNvSpPr/>
          <p:nvPr/>
        </p:nvSpPr>
        <p:spPr>
          <a:xfrm>
            <a:off x="5577840" y="3838575"/>
            <a:ext cx="1436370" cy="1188720"/>
          </a:xfrm>
          <a:prstGeom prst="ellipse">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p>
            <a:pPr algn="ctr"/>
            <a:r>
              <a:rPr sz="1600" b="1" dirty="0">
                <a:solidFill>
                  <a:srgbClr val="FFFFFF"/>
                </a:solidFill>
                <a:latin typeface="メイリオ" panose="020B0604030504040204" pitchFamily="50" charset="-128"/>
                <a:ea typeface="メイリオ" panose="020B0604030504040204" pitchFamily="50" charset="-128"/>
                <a:cs typeface="メイリオ"/>
              </a:rPr>
              <a:t>--</a:t>
            </a:r>
          </a:p>
        </p:txBody>
      </p:sp>
    </p:spTree>
    <p:extLst>
      <p:ext uri="{BB962C8B-B14F-4D97-AF65-F5344CB8AC3E}">
        <p14:creationId xmlns:p14="http://schemas.microsoft.com/office/powerpoint/2010/main" val="21557982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142217</TotalTime>
  <Words>6659</Words>
  <Application>Microsoft Office PowerPoint</Application>
  <PresentationFormat>A4 210 x 297 mm</PresentationFormat>
  <Paragraphs>1393</Paragraphs>
  <Slides>64</Slides>
  <Notes>29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64</vt:i4>
      </vt:variant>
    </vt:vector>
  </HeadingPairs>
  <TitlesOfParts>
    <vt:vector size="70"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1950</cp:revision>
  <cp:lastPrinted>2022-11-01T11:38:14Z</cp:lastPrinted>
  <dcterms:created xsi:type="dcterms:W3CDTF">2015-09-04T09:21:15Z</dcterms:created>
  <dcterms:modified xsi:type="dcterms:W3CDTF">2026-10-20T06:21:57Z</dcterms:modified>
</cp:coreProperties>
</file>