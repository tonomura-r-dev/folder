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14"/>
    <p:sldId id="260" r:id="rId15"/>
    <p:sldId id="261" r:id="rId16"/>
    <p:sldId id="262" r:id="rId13"/>
    <p:sldId id="263" r:id="rId12"/>
    <p:sldId id="264" r:id="rId11"/>
    <p:sldId id="265" r:id="rId10"/>
    <p:sldId id="266" r:id="rId9"/>
  </p:sldIdLst>
  <p:sldSz cy="6858000" cx="9906000"/>
  <p:notesSz cx="6799250" cy="9929800"/>
  <p:embeddedFontLs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QCoaVnfxROPv51WSWo8GFar7+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32AC2F-9110-45D6-A1EA-E37EBF87FD90}">
  <a:tblStyle styleId="{5232AC2F-9110-45D6-A1EA-E37EBF87FD9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font" Target="fonts/CenturyGothic-regular.fntdata"/><Relationship Id="rId18" Type="http://schemas.openxmlformats.org/officeDocument/2006/relationships/font" Target="fonts/CenturyGothic-bold.fntdata"/><Relationship Id="rId19" Type="http://schemas.openxmlformats.org/officeDocument/2006/relationships/font" Target="fonts/CenturyGothic-italic.fntdata"/><Relationship Id="rId20" Type="http://schemas.openxmlformats.org/officeDocument/2006/relationships/font" Target="fonts/CenturyGothic-boldItalic.fntdata"/><Relationship Id="rId2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6094" cy="495952"/>
          </a:xfrm>
          <a:prstGeom prst="rect">
            <a:avLst/>
          </a:prstGeom>
          <a:noFill/>
          <a:ln>
            <a:noFill/>
          </a:ln>
        </p:spPr>
        <p:txBody>
          <a:bodyPr anchorCtr="0" anchor="t" bIns="44100" lIns="88200" spcFirstLastPara="1" rIns="88200" wrap="square" tIns="44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1650" y="0"/>
            <a:ext cx="2946093" cy="495952"/>
          </a:xfrm>
          <a:prstGeom prst="rect">
            <a:avLst/>
          </a:prstGeom>
          <a:noFill/>
          <a:ln>
            <a:noFill/>
          </a:ln>
        </p:spPr>
        <p:txBody>
          <a:bodyPr anchorCtr="0" anchor="t" bIns="44100" lIns="88200" spcFirstLastPara="1" rIns="88200" wrap="square" tIns="441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686" y="4716161"/>
            <a:ext cx="5439410" cy="4468185"/>
          </a:xfrm>
          <a:prstGeom prst="rect">
            <a:avLst/>
          </a:prstGeom>
          <a:noFill/>
          <a:ln>
            <a:noFill/>
          </a:ln>
        </p:spPr>
        <p:txBody>
          <a:bodyPr anchorCtr="0" anchor="t" bIns="44100" lIns="88200" spcFirstLastPara="1" rIns="88200" wrap="square" tIns="441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9432321"/>
            <a:ext cx="2946094" cy="495952"/>
          </a:xfrm>
          <a:prstGeom prst="rect">
            <a:avLst/>
          </a:prstGeom>
          <a:noFill/>
          <a:ln>
            <a:noFill/>
          </a:ln>
        </p:spPr>
        <p:txBody>
          <a:bodyPr anchorCtr="0" anchor="b" bIns="44100" lIns="88200" spcFirstLastPara="1" rIns="88200" wrap="square" tIns="44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1650" y="9432321"/>
            <a:ext cx="2946093" cy="495952"/>
          </a:xfrm>
          <a:prstGeom prst="rect">
            <a:avLst/>
          </a:prstGeom>
          <a:noFill/>
          <a:ln>
            <a:noFill/>
          </a:ln>
        </p:spPr>
        <p:txBody>
          <a:bodyPr anchorCtr="0" anchor="b" bIns="44100" lIns="88200" spcFirstLastPara="1" rIns="88200" wrap="square" tIns="44100">
            <a:noAutofit/>
          </a:bodyPr>
          <a:lstStyle/>
          <a:p>
            <a:pPr indent="0" lvl="0" marL="0" marR="0" rtl="0" algn="r">
              <a:spcBef>
                <a:spcPts val="0"/>
              </a:spcBef>
              <a:spcAft>
                <a:spcPts val="0"/>
              </a:spcAft>
              <a:buNone/>
            </a:pPr>
            <a:fld id="{00000000-1234-1234-1234-123412341234}" type="slidenum">
              <a:rPr b="0" i="0" lang="ja-JP"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3124200" y="509588"/>
            <a:ext cx="3681413" cy="2549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2" name="Google Shape;22;p1:notes"/>
          <p:cNvSpPr txBox="1"/>
          <p:nvPr>
            <p:ph idx="1" type="body"/>
          </p:nvPr>
        </p:nvSpPr>
        <p:spPr>
          <a:xfrm>
            <a:off x="680686" y="4716161"/>
            <a:ext cx="5439410" cy="4468185"/>
          </a:xfrm>
          <a:prstGeom prst="rect">
            <a:avLst/>
          </a:prstGeom>
          <a:noFill/>
          <a:ln>
            <a:noFill/>
          </a:ln>
        </p:spPr>
        <p:txBody>
          <a:bodyPr anchorCtr="0" anchor="t" bIns="44100" lIns="88200" spcFirstLastPara="1" rIns="88200" wrap="square" tIns="441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3" name="Google Shape;23;p1:notes"/>
          <p:cNvSpPr txBox="1"/>
          <p:nvPr>
            <p:ph idx="11" type="ftr"/>
          </p:nvPr>
        </p:nvSpPr>
        <p:spPr>
          <a:xfrm>
            <a:off x="1" y="9432321"/>
            <a:ext cx="2946094" cy="495952"/>
          </a:xfrm>
          <a:prstGeom prst="rect">
            <a:avLst/>
          </a:prstGeom>
          <a:noFill/>
          <a:ln>
            <a:noFill/>
          </a:ln>
        </p:spPr>
        <p:txBody>
          <a:bodyPr anchorCtr="0" anchor="b" bIns="44100" lIns="88200" spcFirstLastPara="1" rIns="88200" wrap="square" tIns="44100">
            <a:noAutofit/>
          </a:bodyPr>
          <a:lstStyle/>
          <a:p>
            <a:pPr indent="0" lvl="0" marL="0" rtl="0" algn="l">
              <a:spcBef>
                <a:spcPts val="0"/>
              </a:spcBef>
              <a:spcAft>
                <a:spcPts val="0"/>
              </a:spcAft>
              <a:buNone/>
            </a:pPr>
            <a:r>
              <a:t/>
            </a:r>
            <a:endParaRPr/>
          </a:p>
        </p:txBody>
      </p:sp>
      <p:sp>
        <p:nvSpPr>
          <p:cNvPr id="24" name="Google Shape;24;p1:notes"/>
          <p:cNvSpPr txBox="1"/>
          <p:nvPr>
            <p:ph idx="12" type="sldNum"/>
          </p:nvPr>
        </p:nvSpPr>
        <p:spPr>
          <a:xfrm>
            <a:off x="3851650" y="9432321"/>
            <a:ext cx="2946093" cy="495952"/>
          </a:xfrm>
          <a:prstGeom prst="rect">
            <a:avLst/>
          </a:prstGeom>
          <a:noFill/>
          <a:ln>
            <a:noFill/>
          </a:ln>
        </p:spPr>
        <p:txBody>
          <a:bodyPr anchorCtr="0" anchor="b" bIns="44100" lIns="88200" spcFirstLastPara="1" rIns="88200" wrap="square" tIns="44100">
            <a:noAutofit/>
          </a:bodyPr>
          <a:lstStyle/>
          <a:p>
            <a:pPr indent="0" lvl="0" marL="0" rtl="0" algn="r">
              <a:spcBef>
                <a:spcPts val="0"/>
              </a:spcBef>
              <a:spcAft>
                <a:spcPts val="0"/>
              </a:spcAft>
              <a:buNone/>
            </a:pPr>
            <a:fld id="{00000000-1234-1234-1234-123412341234}" type="slidenum">
              <a:rPr b="0" i="0" lang="ja-JP"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2" name="Google Shape;32;p2:notes"/>
          <p:cNvSpPr/>
          <p:nvPr>
            <p:ph idx="2" type="sldImg"/>
          </p:nvPr>
        </p:nvSpPr>
        <p:spPr>
          <a:xfrm>
            <a:off x="981075" y="1243013"/>
            <a:ext cx="4845050"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txBox="1"/>
          <p:nvPr>
            <p:ph idx="1" type="body"/>
          </p:nvPr>
        </p:nvSpPr>
        <p:spPr>
          <a:xfrm>
            <a:off x="680686" y="4716161"/>
            <a:ext cx="5439410" cy="4468185"/>
          </a:xfrm>
          <a:prstGeom prst="rect">
            <a:avLst/>
          </a:prstGeom>
        </p:spPr>
        <p:txBody>
          <a:bodyPr anchorCtr="0" anchor="t" bIns="44100" lIns="88200" spcFirstLastPara="1" rIns="88200" wrap="square" tIns="44100">
            <a:noAutofit/>
          </a:bodyPr>
          <a:lstStyle/>
          <a:p>
            <a:pPr indent="0" lvl="0" marL="0" rtl="0" algn="l">
              <a:spcBef>
                <a:spcPts val="0"/>
              </a:spcBef>
              <a:spcAft>
                <a:spcPts val="0"/>
              </a:spcAft>
              <a:buNone/>
            </a:pPr>
            <a:r>
              <a:t/>
            </a:r>
            <a:endParaRPr/>
          </a:p>
        </p:txBody>
      </p:sp>
      <p:sp>
        <p:nvSpPr>
          <p:cNvPr id="38" name="Google Shape;38;p3:notes"/>
          <p:cNvSpPr/>
          <p:nvPr>
            <p:ph idx="2" type="sldImg"/>
          </p:nvPr>
        </p:nvSpPr>
        <p:spPr>
          <a:xfrm>
            <a:off x="711200" y="744538"/>
            <a:ext cx="5376863" cy="37242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タイトル スライド">
  <p:cSld name="1_タイトル スライド">
    <p:spTree>
      <p:nvGrpSpPr>
        <p:cNvPr id="16"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タイトルとコンテンツ">
  <p:cSld name="4_タイトルとコンテンツ">
    <p:spTree>
      <p:nvGrpSpPr>
        <p:cNvPr id="17" name="Shape 17"/>
        <p:cNvGrpSpPr/>
        <p:nvPr/>
      </p:nvGrpSpPr>
      <p:grpSpPr>
        <a:xfrm>
          <a:off x="0" y="0"/>
          <a:ext cx="0" cy="0"/>
          <a:chOff x="0" y="0"/>
          <a:chExt cx="0" cy="0"/>
        </a:xfrm>
      </p:grpSpPr>
      <p:sp>
        <p:nvSpPr>
          <p:cNvPr id="18" name="Google Shape;18;p14"/>
          <p:cNvSpPr/>
          <p:nvPr/>
        </p:nvSpPr>
        <p:spPr>
          <a:xfrm>
            <a:off x="0" y="0"/>
            <a:ext cx="451204" cy="548680"/>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cxnSp>
        <p:nvCxnSpPr>
          <p:cNvPr id="19" name="Google Shape;19;p14"/>
          <p:cNvCxnSpPr/>
          <p:nvPr/>
        </p:nvCxnSpPr>
        <p:spPr>
          <a:xfrm>
            <a:off x="0" y="548680"/>
            <a:ext cx="9906000" cy="0"/>
          </a:xfrm>
          <a:prstGeom prst="straightConnector1">
            <a:avLst/>
          </a:prstGeom>
          <a:noFill/>
          <a:ln cap="flat" cmpd="sng" w="25400">
            <a:solidFill>
              <a:srgbClr val="191F54"/>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p:nvPr/>
        </p:nvSpPr>
        <p:spPr>
          <a:xfrm>
            <a:off x="0" y="6552728"/>
            <a:ext cx="9906000" cy="332656"/>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2"/>
          <p:cNvSpPr txBox="1"/>
          <p:nvPr/>
        </p:nvSpPr>
        <p:spPr>
          <a:xfrm>
            <a:off x="116569" y="6597932"/>
            <a:ext cx="366630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ja-JP" sz="800" u="none" cap="none" strike="noStrike">
                <a:solidFill>
                  <a:schemeClr val="lt1"/>
                </a:solidFill>
                <a:latin typeface="Arial"/>
                <a:ea typeface="Arial"/>
                <a:cs typeface="Arial"/>
                <a:sym typeface="Arial"/>
              </a:rPr>
              <a:t>Copyright(c) 2025 DYM inc. All Rights Reserved.</a:t>
            </a:r>
            <a:endParaRPr/>
          </a:p>
        </p:txBody>
      </p:sp>
      <p:sp>
        <p:nvSpPr>
          <p:cNvPr id="12" name="Google Shape;12;p12"/>
          <p:cNvSpPr/>
          <p:nvPr/>
        </p:nvSpPr>
        <p:spPr>
          <a:xfrm>
            <a:off x="0" y="0"/>
            <a:ext cx="416496" cy="548680"/>
          </a:xfrm>
          <a:prstGeom prst="rect">
            <a:avLst/>
          </a:prstGeom>
          <a:solidFill>
            <a:srgbClr val="191F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3" name="Google Shape;13;p12"/>
          <p:cNvCxnSpPr/>
          <p:nvPr/>
        </p:nvCxnSpPr>
        <p:spPr>
          <a:xfrm>
            <a:off x="0" y="548680"/>
            <a:ext cx="9906000" cy="0"/>
          </a:xfrm>
          <a:prstGeom prst="straightConnector1">
            <a:avLst/>
          </a:prstGeom>
          <a:noFill/>
          <a:ln cap="flat" cmpd="sng" w="25400">
            <a:solidFill>
              <a:srgbClr val="00324B"/>
            </a:solidFill>
            <a:prstDash val="solid"/>
            <a:round/>
            <a:headEnd len="sm" w="sm" type="none"/>
            <a:tailEnd len="sm" w="sm" type="none"/>
          </a:ln>
        </p:spPr>
      </p:cxnSp>
      <p:pic>
        <p:nvPicPr>
          <p:cNvPr id="14" name="Google Shape;14;p12"/>
          <p:cNvPicPr preferRelativeResize="0"/>
          <p:nvPr/>
        </p:nvPicPr>
        <p:blipFill rotWithShape="1">
          <a:blip r:embed="rId1">
            <a:alphaModFix/>
          </a:blip>
          <a:srcRect b="0" l="-1647" r="-11171" t="0"/>
          <a:stretch/>
        </p:blipFill>
        <p:spPr>
          <a:xfrm>
            <a:off x="8619408" y="161057"/>
            <a:ext cx="1192729" cy="263314"/>
          </a:xfrm>
          <a:prstGeom prst="rect">
            <a:avLst/>
          </a:prstGeom>
          <a:noFill/>
          <a:ln>
            <a:noFill/>
          </a:ln>
        </p:spPr>
      </p:pic>
      <p:sp>
        <p:nvSpPr>
          <p:cNvPr id="15" name="Google Shape;15;p12"/>
          <p:cNvSpPr txBox="1"/>
          <p:nvPr/>
        </p:nvSpPr>
        <p:spPr>
          <a:xfrm>
            <a:off x="7545288" y="6571255"/>
            <a:ext cx="2133600" cy="216000"/>
          </a:xfrm>
          <a:prstGeom prst="rect">
            <a:avLst/>
          </a:prstGeom>
          <a:noFill/>
          <a:ln>
            <a:noFill/>
          </a:ln>
        </p:spPr>
        <p:txBody>
          <a:bodyPr anchorCtr="0" anchor="t" bIns="45700" lIns="91425" spcFirstLastPara="1" rIns="91425" wrap="square" tIns="25200">
            <a:noAutofit/>
          </a:bodyPr>
          <a:lstStyle/>
          <a:p>
            <a:pPr indent="0" lvl="0" marL="0" marR="0" rtl="0" algn="r">
              <a:spcBef>
                <a:spcPts val="0"/>
              </a:spcBef>
              <a:spcAft>
                <a:spcPts val="0"/>
              </a:spcAft>
              <a:buNone/>
            </a:pPr>
            <a:fld id="{00000000-1234-1234-1234-123412341234}" type="slidenum">
              <a:rPr b="0" i="1" lang="ja-JP" sz="1400" u="none" cap="none" strike="noStrike">
                <a:solidFill>
                  <a:schemeClr val="lt1"/>
                </a:solidFill>
                <a:latin typeface="Century Gothic"/>
                <a:ea typeface="Century Gothic"/>
                <a:cs typeface="Century Gothic"/>
                <a:sym typeface="Century Gothic"/>
              </a:rPr>
              <a:t>‹#›</a:t>
            </a:fld>
            <a:endParaRPr b="0" i="1" sz="1400" u="none" cap="none" strike="noStrike">
              <a:solidFill>
                <a:schemeClr val="lt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1"/>
          <p:cNvSpPr/>
          <p:nvPr/>
        </p:nvSpPr>
        <p:spPr>
          <a:xfrm>
            <a:off x="0" y="0"/>
            <a:ext cx="9906000" cy="8367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b="0" i="0" sz="1800" u="none" cap="none" strike="noStrike">
              <a:solidFill>
                <a:schemeClr val="lt1"/>
              </a:solidFill>
              <a:latin typeface="Calibri"/>
              <a:ea typeface="Calibri"/>
              <a:cs typeface="Calibri"/>
              <a:sym typeface="Calibri"/>
            </a:endParaRPr>
          </a:p>
        </p:txBody>
      </p:sp>
      <p:pic>
        <p:nvPicPr>
          <p:cNvPr id="27" name="Google Shape;27;p1"/>
          <p:cNvPicPr preferRelativeResize="0"/>
          <p:nvPr/>
        </p:nvPicPr>
        <p:blipFill rotWithShape="1">
          <a:blip r:embed="rId3">
            <a:alphaModFix/>
          </a:blip>
          <a:srcRect b="0" l="-1647" r="-11171" t="0"/>
          <a:stretch/>
        </p:blipFill>
        <p:spPr>
          <a:xfrm>
            <a:off x="8619408" y="188641"/>
            <a:ext cx="1192729" cy="243605"/>
          </a:xfrm>
          <a:prstGeom prst="rect">
            <a:avLst/>
          </a:prstGeom>
          <a:noFill/>
          <a:ln>
            <a:noFill/>
          </a:ln>
        </p:spPr>
      </p:pic>
      <p:sp>
        <p:nvSpPr>
          <p:cNvPr id="28" name="Google Shape;28;p1"/>
          <p:cNvSpPr/>
          <p:nvPr/>
        </p:nvSpPr>
        <p:spPr>
          <a:xfrm>
            <a:off x="1026684" y="3645024"/>
            <a:ext cx="7873109" cy="45719"/>
          </a:xfrm>
          <a:prstGeom prst="rect">
            <a:avLst/>
          </a:prstGeom>
          <a:solidFill>
            <a:srgbClr val="1513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b="1" i="0" sz="1800" u="none" cap="none" strike="noStrike">
              <a:solidFill>
                <a:schemeClr val="lt1"/>
              </a:solidFill>
              <a:latin typeface="Arial"/>
              <a:ea typeface="Arial"/>
              <a:cs typeface="Arial"/>
              <a:sym typeface="Arial"/>
            </a:endParaRPr>
          </a:p>
        </p:txBody>
      </p:sp>
      <p:sp>
        <p:nvSpPr>
          <p:cNvPr id="29" name="Google Shape;29;p1"/>
          <p:cNvSpPr/>
          <p:nvPr/>
        </p:nvSpPr>
        <p:spPr>
          <a:xfrm>
            <a:off x="781200" y="3044550"/>
            <a:ext cx="8343600" cy="64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ja-JP" sz="3600" u="none" cap="none" strike="noStrike">
                <a:solidFill>
                  <a:srgbClr val="0F243E"/>
                </a:solidFill>
                <a:latin typeface="メイリオ"/>
                <a:ea typeface="Arial"/>
                <a:cs typeface="Arial"/>
                <a:sym typeface="Arial"/>
              </a:rPr>
              <a:t>2026年10月　LINEOAトレンドレポート　</a:t>
            </a:r>
            <a:endParaRPr b="1" i="0" sz="2000" u="none" cap="none" strike="noStrike">
              <a:solidFill>
                <a:srgbClr val="0F243E"/>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1034" name="Google Shape;34;p2_page"/>
          <p:cNvSpPr txBox="1"/>
          <p:nvPr/>
        </p:nvSpPr>
        <p:spPr>
          <a:xfrm>
            <a:off x="318183" y="1483585"/>
            <a:ext cx="1005840" cy="4279033"/>
          </a:xfrm>
          <a:prstGeom prst="rect">
            <a:avLst/>
          </a:prstGeom>
          <a:noFill/>
          <a:ln>
            <a:noFill/>
          </a:ln>
        </p:spPr>
        <p:txBody>
          <a:bodyPr anchorCtr="0" anchor="t" bIns="90000" lIns="91425" spcFirstLastPara="1" rIns="91425" wrap="square" tIns="90000">
            <a:spAutoFit/>
          </a:bodyPr>
          <a:lstStyle/>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P.3</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P.4</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P.5</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P.6</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P.7</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P.8</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P.9</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P.10</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P.11</a:t>
            </a:r>
            <a:endParaRPr b="1" i="0" sz="1500" u="none" cap="none" strike="noStrike">
              <a:solidFill>
                <a:schemeClr val="dk1"/>
              </a:solidFill>
              <a:latin typeface="Meiryo"/>
              <a:ea typeface="Meiryo"/>
              <a:cs typeface="Meiryo"/>
              <a:sym typeface="Meiryo"/>
            </a:endParaRPr>
          </a:p>
        </p:txBody>
      </p:sp>
      <p:sp>
        <p:nvSpPr>
          <p:cNvPr id="34" name="Google Shape;34;p2"/>
          <p:cNvSpPr txBox="1"/>
          <p:nvPr/>
        </p:nvSpPr>
        <p:spPr>
          <a:xfrm>
            <a:off x="1461183" y="1483585"/>
            <a:ext cx="8155331" cy="4279033"/>
          </a:xfrm>
          <a:prstGeom prst="rect">
            <a:avLst/>
          </a:prstGeom>
          <a:noFill/>
          <a:ln>
            <a:noFill/>
          </a:ln>
        </p:spPr>
        <p:txBody>
          <a:bodyPr anchorCtr="0" anchor="t" bIns="90000" lIns="91425" spcFirstLastPara="1" rIns="91425" wrap="square" tIns="90000">
            <a:spAutoFit/>
          </a:bodyPr>
          <a:lstStyle/>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【LINE通知メッセージ】ネイティブアプリ遷移の条件付き解禁</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【LINE通知メッセージ】UX追加申請の請求書発行をLBPMへ移行</a:t>
            </a:r>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【LINE公式アカウント】「分析」データ参照期間 リリース日の変更</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【LINEシリアルコードスタンプ】媒体資料の更新・進行ガイドのご案内</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【LINE公式アカウント】「利用と請求」のメンテナンス</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【LINE通知メッセージ】ユニット単位の統計情報取得に対応</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【LINEポイント Friends AD】FY26 冬季キャンペーン</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【レストランオプション】一部機材の価格改定</a:t>
            </a:r>
            <a:endParaRPr b="1" i="0" sz="1500" u="none" cap="none" strike="noStrike">
              <a:solidFill>
                <a:schemeClr val="dk1"/>
              </a:solidFill>
              <a:latin typeface="Meiryo"/>
              <a:ea typeface="Meiryo"/>
              <a:cs typeface="Meiryo"/>
              <a:sym typeface="Meiryo"/>
            </a:endParaRPr>
          </a:p>
          <a:p>
            <a:pPr indent="0" lvl="0" marL="0" marR="0" rtl="0" algn="l">
              <a:lnSpc>
                <a:spcPct val="200000"/>
              </a:lnSpc>
              <a:spcBef>
                <a:spcPts val="0"/>
              </a:spcBef>
              <a:spcAft>
                <a:spcPts val="0"/>
              </a:spcAft>
              <a:buNone/>
            </a:pPr>
            <a:r>
              <a:rPr b="1" i="0" lang="ja-JP" sz="1500" u="none" cap="none" strike="noStrike">
                <a:solidFill>
                  <a:schemeClr val="dk1"/>
                </a:solidFill>
                <a:latin typeface="メイリオ"/>
                <a:ea typeface="Meiryo"/>
                <a:cs typeface="Meiryo"/>
                <a:sym typeface="Meiryo"/>
              </a:rPr>
              <a:t>【CRMオプション】導入事例の追加</a:t>
            </a:r>
            <a:endParaRPr b="1" i="0" sz="1500" u="none" cap="none" strike="noStrike">
              <a:solidFill>
                <a:schemeClr val="dk1"/>
              </a:solidFill>
              <a:latin typeface="Meiryo"/>
              <a:ea typeface="Meiryo"/>
              <a:cs typeface="Meiryo"/>
              <a:sym typeface="Meiryo"/>
            </a:endParaRPr>
          </a:p>
        </p:txBody>
      </p:sp>
      <p:sp>
        <p:nvSpPr>
          <p:cNvPr id="35" name="Google Shape;35;p2"/>
          <p:cNvSpPr txBox="1"/>
          <p:nvPr/>
        </p:nvSpPr>
        <p:spPr>
          <a:xfrm>
            <a:off x="292801" y="62027"/>
            <a:ext cx="7512385" cy="365091"/>
          </a:xfrm>
          <a:prstGeom prst="rect">
            <a:avLst/>
          </a:prstGeom>
          <a:noFill/>
          <a:ln>
            <a:noFill/>
          </a:ln>
        </p:spPr>
        <p:txBody>
          <a:bodyPr anchorCtr="0" anchor="t" bIns="45700" lIns="91425" spcFirstLastPara="1" rIns="91425" wrap="square" tIns="72000">
            <a:spAutoFit/>
          </a:bodyPr>
          <a:lstStyle/>
          <a:p>
            <a:pPr indent="0" lvl="0" marL="0" marR="0" rtl="0" algn="l">
              <a:lnSpc>
                <a:spcPct val="100000"/>
              </a:lnSpc>
              <a:spcBef>
                <a:spcPts val="0"/>
              </a:spcBef>
              <a:spcAft>
                <a:spcPts val="0"/>
              </a:spcAft>
              <a:buClr>
                <a:srgbClr val="000000"/>
              </a:buClr>
              <a:buSzPts val="1600"/>
              <a:buFont typeface="Arial"/>
              <a:buNone/>
            </a:pPr>
            <a:r>
              <a:rPr b="0" i="0" lang="ja-JP" sz="1600" u="none" cap="none" strike="noStrike">
                <a:solidFill>
                  <a:srgbClr val="000000"/>
                </a:solidFill>
                <a:latin typeface="メイリオ"/>
                <a:ea typeface="Meiryo"/>
                <a:cs typeface="Meiryo"/>
                <a:sym typeface="Meiryo"/>
              </a:rPr>
              <a:t>    目次</a:t>
            </a:r>
            <a:endParaRPr b="0" i="0" sz="1600" u="none" cap="none" strike="noStrike">
              <a:solidFill>
                <a:srgbClr val="000000"/>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アプリを運営している全業種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【LINE通知メッセージ】ネイティブアプリ遷移の条件付き解禁</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ベースプラン限定で、一定の条件を満たした場合に限り、</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通知メッセージのリンクからネイティブアプリへ遷移できるようガイドラインが緩和された。</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2026年9月9日（水）からLBPMでネイティブアプリ遷移の審査受付を開始。</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3">
            <a:alphaModFix/>
          </a:blip>
          <a:srcRect b="0" l="0" r="0" t="0"/>
          <a:stretch/>
        </p:blipFill>
        <p:spPr>
          <a:xfrm>
            <a:off x="351381" y="1234746"/>
            <a:ext cx="656177" cy="655521"/>
          </a:xfrm>
          <a:prstGeom prst="rect">
            <a:avLst/>
          </a:prstGeom>
          <a:noFill/>
          <a:ln>
            <a:noFill/>
          </a:ln>
        </p:spPr>
      </p:pic>
      <p:sp>
        <p:nvSpPr>
          <p:cNvPr id="63" name="Rectangle 62"/>
          <p:cNvSpPr/>
          <p:nvPr/>
        </p:nvSpPr>
        <p:spPr>
          <a:xfrm>
            <a:off x="544108" y="3068960"/>
            <a:ext cx="354787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333333"/>
                </a:solidFill>
                <a:latin typeface="メイリオ"/>
              </a:rPr>
              <a:t>AS-IS</a:t>
            </a:r>
          </a:p>
        </p:txBody>
      </p:sp>
      <p:sp>
        <p:nvSpPr>
          <p:cNvPr id="64" name="Rectangle 63"/>
          <p:cNvSpPr/>
          <p:nvPr/>
        </p:nvSpPr>
        <p:spPr>
          <a:xfrm>
            <a:off x="544108" y="3343280"/>
            <a:ext cx="354787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300" b="1">
                <a:solidFill>
                  <a:srgbClr val="15133D"/>
                </a:solidFill>
                <a:latin typeface="メイリオ"/>
              </a:rPr>
              <a:t>通知メッセージのリンクからネイティブアプリへは遷移できない</a:t>
            </a:r>
          </a:p>
        </p:txBody>
      </p:sp>
      <p:sp>
        <p:nvSpPr>
          <p:cNvPr id="65" name="TextBox 64"/>
          <p:cNvSpPr txBox="1"/>
          <p:nvPr/>
        </p:nvSpPr>
        <p:spPr>
          <a:xfrm>
            <a:off x="4091980" y="3068960"/>
            <a:ext cx="457200" cy="914400"/>
          </a:xfrm>
          <a:prstGeom prst="rect">
            <a:avLst/>
          </a:prstGeom>
          <a:noFill/>
        </p:spPr>
        <p:txBody>
          <a:bodyPr wrap="none" anchor="ctr">
            <a:spAutoFit/>
          </a:bodyPr>
          <a:lstStyle/>
          <a:p>
            <a:pPr algn="ctr"/>
            <a:r>
              <a:rPr sz="1800" b="1">
                <a:solidFill>
                  <a:srgbClr val="3467B2"/>
                </a:solidFill>
                <a:latin typeface="メイリオ"/>
              </a:rPr>
              <a:t>▶</a:t>
            </a:r>
          </a:p>
        </p:txBody>
      </p:sp>
      <p:sp>
        <p:nvSpPr>
          <p:cNvPr id="66" name="Rectangle 65"/>
          <p:cNvSpPr/>
          <p:nvPr/>
        </p:nvSpPr>
        <p:spPr>
          <a:xfrm>
            <a:off x="4549180" y="3068960"/>
            <a:ext cx="5321808"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FFFFFF"/>
                </a:solidFill>
                <a:latin typeface="メイリオ"/>
              </a:rPr>
              <a:t>TO-BE</a:t>
            </a:r>
          </a:p>
        </p:txBody>
      </p:sp>
      <p:sp>
        <p:nvSpPr>
          <p:cNvPr id="67" name="Rectangle 66"/>
          <p:cNvSpPr/>
          <p:nvPr/>
        </p:nvSpPr>
        <p:spPr>
          <a:xfrm>
            <a:off x="4549180" y="3343280"/>
            <a:ext cx="5321808"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800" b="1">
                <a:solidFill>
                  <a:srgbClr val="15133D"/>
                </a:solidFill>
                <a:latin typeface="メイリオ"/>
              </a:rPr>
              <a:t>ベースプラン限定・条件付きで遷移可能に</a:t>
            </a:r>
          </a:p>
          <a:p>
            <a:pPr>
              <a:lnSpc>
                <a:spcPct val="110000"/>
              </a:lnSpc>
              <a:spcBef>
                <a:spcPts val="500"/>
              </a:spcBef>
            </a:pPr>
            <a:r>
              <a:rPr sz="1050">
                <a:solidFill>
                  <a:srgbClr val="333333"/>
                </a:solidFill>
                <a:latin typeface="メイリオ"/>
              </a:rPr>
              <a:t>テンプレート／フレキシブルの両方が対象。審査は10万円／1UX</a:t>
            </a:r>
          </a:p>
        </p:txBody>
      </p:sp>
      <p:sp>
        <p:nvSpPr>
          <p:cNvPr id="68" name="Rounded Rectangle 67"/>
          <p:cNvSpPr/>
          <p:nvPr/>
        </p:nvSpPr>
        <p:spPr>
          <a:xfrm>
            <a:off x="54410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通知からアプリへ直接誘導できる</a:t>
            </a:r>
          </a:p>
          <a:p>
            <a:pPr algn="l">
              <a:lnSpc>
                <a:spcPct val="115000"/>
              </a:lnSpc>
              <a:spcBef>
                <a:spcPts val="600"/>
              </a:spcBef>
            </a:pPr>
            <a:r>
              <a:rPr sz="1100">
                <a:solidFill>
                  <a:srgbClr val="333333"/>
                </a:solidFill>
                <a:latin typeface="メイリオ"/>
              </a:rPr>
              <a:t>通知メッセージのリンクからアプリを直接開けるため、Webを経由しない導線を設計できる。</a:t>
            </a:r>
          </a:p>
        </p:txBody>
      </p:sp>
      <p:sp>
        <p:nvSpPr>
          <p:cNvPr id="69" name="Rounded Rectangle 68"/>
          <p:cNvSpPr/>
          <p:nvPr/>
        </p:nvSpPr>
        <p:spPr>
          <a:xfrm>
            <a:off x="529898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遷移には事前審査が必要</a:t>
            </a:r>
          </a:p>
          <a:p>
            <a:pPr algn="l">
              <a:lnSpc>
                <a:spcPct val="115000"/>
              </a:lnSpc>
              <a:spcBef>
                <a:spcPts val="600"/>
              </a:spcBef>
            </a:pPr>
            <a:r>
              <a:rPr sz="1100">
                <a:solidFill>
                  <a:srgbClr val="333333"/>
                </a:solidFill>
                <a:latin typeface="メイリオ"/>
              </a:rPr>
              <a:t>LBPMでの審査（10万円／1UX）が前提。社外告知は2026年9月8日（火）、審査受付は9月9日（水）から。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通知メッセージをご利用中の全業種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【LINE通知メッセージ】UX追加申請の請求書発行をLBPMへ移行</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「UX追加申請（LINE通知メッセージ）」の請求書の発行元が、</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これまでのAGPからLBPMに変更される。発注画面・申請方法も合わせて変更。</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2026年9月受領分（2026年10月月初の請求書発行分）から適用。</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ectangle 62"/>
          <p:cNvSpPr/>
          <p:nvPr/>
        </p:nvSpPr>
        <p:spPr>
          <a:xfrm>
            <a:off x="544108" y="3068960"/>
            <a:ext cx="354787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333333"/>
                </a:solidFill>
                <a:latin typeface="メイリオ"/>
              </a:rPr>
              <a:t>AS-IS</a:t>
            </a:r>
          </a:p>
        </p:txBody>
      </p:sp>
      <p:sp>
        <p:nvSpPr>
          <p:cNvPr id="64" name="Rectangle 63"/>
          <p:cNvSpPr/>
          <p:nvPr/>
        </p:nvSpPr>
        <p:spPr>
          <a:xfrm>
            <a:off x="544108" y="3343280"/>
            <a:ext cx="354787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400" b="1">
                <a:solidFill>
                  <a:srgbClr val="15133D"/>
                </a:solidFill>
                <a:latin typeface="メイリオ"/>
              </a:rPr>
              <a:t>請求書はAGPから発行</a:t>
            </a:r>
          </a:p>
        </p:txBody>
      </p:sp>
      <p:sp>
        <p:nvSpPr>
          <p:cNvPr id="65" name="TextBox 64"/>
          <p:cNvSpPr txBox="1"/>
          <p:nvPr/>
        </p:nvSpPr>
        <p:spPr>
          <a:xfrm>
            <a:off x="4091980" y="3068960"/>
            <a:ext cx="457200" cy="914400"/>
          </a:xfrm>
          <a:prstGeom prst="rect">
            <a:avLst/>
          </a:prstGeom>
          <a:noFill/>
        </p:spPr>
        <p:txBody>
          <a:bodyPr wrap="none" anchor="ctr">
            <a:spAutoFit/>
          </a:bodyPr>
          <a:lstStyle/>
          <a:p>
            <a:pPr algn="ctr"/>
            <a:r>
              <a:rPr sz="1800" b="1">
                <a:solidFill>
                  <a:srgbClr val="3467B2"/>
                </a:solidFill>
                <a:latin typeface="メイリオ"/>
              </a:rPr>
              <a:t>▶</a:t>
            </a:r>
          </a:p>
        </p:txBody>
      </p:sp>
      <p:sp>
        <p:nvSpPr>
          <p:cNvPr id="66" name="Rectangle 65"/>
          <p:cNvSpPr/>
          <p:nvPr/>
        </p:nvSpPr>
        <p:spPr>
          <a:xfrm>
            <a:off x="4549180" y="3068960"/>
            <a:ext cx="5321808"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FFFFFF"/>
                </a:solidFill>
                <a:latin typeface="メイリオ"/>
              </a:rPr>
              <a:t>TO-BE</a:t>
            </a:r>
          </a:p>
        </p:txBody>
      </p:sp>
      <p:sp>
        <p:nvSpPr>
          <p:cNvPr id="67" name="Rectangle 66"/>
          <p:cNvSpPr/>
          <p:nvPr/>
        </p:nvSpPr>
        <p:spPr>
          <a:xfrm>
            <a:off x="4549180" y="3343280"/>
            <a:ext cx="5321808"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2000" b="1">
                <a:solidFill>
                  <a:srgbClr val="15133D"/>
                </a:solidFill>
                <a:latin typeface="メイリオ"/>
              </a:rPr>
              <a:t>請求書はLBPMから発行</a:t>
            </a:r>
          </a:p>
          <a:p>
            <a:pPr>
              <a:lnSpc>
                <a:spcPct val="110000"/>
              </a:lnSpc>
              <a:spcBef>
                <a:spcPts val="500"/>
              </a:spcBef>
            </a:pPr>
            <a:r>
              <a:rPr sz="1050">
                <a:solidFill>
                  <a:srgbClr val="333333"/>
                </a:solidFill>
                <a:latin typeface="メイリオ"/>
              </a:rPr>
              <a:t>2026年9月受領分（10月月初発行分）から</a:t>
            </a:r>
          </a:p>
        </p:txBody>
      </p:sp>
      <p:sp>
        <p:nvSpPr>
          <p:cNvPr id="68" name="Rounded Rectangle 67"/>
          <p:cNvSpPr/>
          <p:nvPr/>
        </p:nvSpPr>
        <p:spPr>
          <a:xfrm>
            <a:off x="54410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発注画面・申請方法も変更</a:t>
            </a:r>
          </a:p>
          <a:p>
            <a:pPr algn="l">
              <a:lnSpc>
                <a:spcPct val="115000"/>
              </a:lnSpc>
              <a:spcBef>
                <a:spcPts val="600"/>
              </a:spcBef>
            </a:pPr>
            <a:r>
              <a:rPr sz="1100">
                <a:solidFill>
                  <a:srgbClr val="333333"/>
                </a:solidFill>
                <a:latin typeface="メイリオ"/>
              </a:rPr>
              <a:t>LBPM上の「UX追加申請（LINE通知メッセージ）」の発注画面と申請方法が新しくなる。</a:t>
            </a:r>
          </a:p>
        </p:txBody>
      </p:sp>
      <p:sp>
        <p:nvSpPr>
          <p:cNvPr id="69" name="Rounded Rectangle 68"/>
          <p:cNvSpPr/>
          <p:nvPr/>
        </p:nvSpPr>
        <p:spPr>
          <a:xfrm>
            <a:off x="529898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請求書の発行先が変わる</a:t>
            </a:r>
          </a:p>
          <a:p>
            <a:pPr algn="l">
              <a:lnSpc>
                <a:spcPct val="115000"/>
              </a:lnSpc>
              <a:spcBef>
                <a:spcPts val="600"/>
              </a:spcBef>
            </a:pPr>
            <a:r>
              <a:rPr sz="1100">
                <a:solidFill>
                  <a:srgbClr val="333333"/>
                </a:solidFill>
                <a:latin typeface="メイリオ"/>
              </a:rPr>
              <a:t>2026年10月月初発行分からは、LBPMから請求書を発行する。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【LINE公式アカウント】「分析」データ参照期間 リリース日の変更</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9月号でご案内した「分析」タブの参照期間を過去36カ月に変更する件について、</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リリース日が2026年11月頃から2027年2月頃に変更された。</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36カ月より前の実績値が必要な場合は、仕様変更前に確認しておく。</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ectangle 62"/>
          <p:cNvSpPr/>
          <p:nvPr/>
        </p:nvSpPr>
        <p:spPr>
          <a:xfrm>
            <a:off x="544108" y="3068960"/>
            <a:ext cx="354787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333333"/>
                </a:solidFill>
                <a:latin typeface="メイリオ"/>
              </a:rPr>
              <a:t>AS-IS</a:t>
            </a:r>
          </a:p>
        </p:txBody>
      </p:sp>
      <p:sp>
        <p:nvSpPr>
          <p:cNvPr id="64" name="Rectangle 63"/>
          <p:cNvSpPr/>
          <p:nvPr/>
        </p:nvSpPr>
        <p:spPr>
          <a:xfrm>
            <a:off x="544108" y="3343280"/>
            <a:ext cx="354787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300" b="1">
                <a:solidFill>
                  <a:srgbClr val="15133D"/>
                </a:solidFill>
                <a:latin typeface="メイリオ"/>
              </a:rPr>
              <a:t>リリース日：2026年11月頃</a:t>
            </a:r>
          </a:p>
        </p:txBody>
      </p:sp>
      <p:sp>
        <p:nvSpPr>
          <p:cNvPr id="65" name="TextBox 64"/>
          <p:cNvSpPr txBox="1"/>
          <p:nvPr/>
        </p:nvSpPr>
        <p:spPr>
          <a:xfrm>
            <a:off x="4091980" y="3068960"/>
            <a:ext cx="457200" cy="914400"/>
          </a:xfrm>
          <a:prstGeom prst="rect">
            <a:avLst/>
          </a:prstGeom>
          <a:noFill/>
        </p:spPr>
        <p:txBody>
          <a:bodyPr wrap="none" anchor="ctr">
            <a:spAutoFit/>
          </a:bodyPr>
          <a:lstStyle/>
          <a:p>
            <a:pPr algn="ctr"/>
            <a:r>
              <a:rPr sz="1800" b="1">
                <a:solidFill>
                  <a:srgbClr val="3467B2"/>
                </a:solidFill>
                <a:latin typeface="メイリオ"/>
              </a:rPr>
              <a:t>▶</a:t>
            </a:r>
          </a:p>
        </p:txBody>
      </p:sp>
      <p:sp>
        <p:nvSpPr>
          <p:cNvPr id="66" name="Rectangle 65"/>
          <p:cNvSpPr/>
          <p:nvPr/>
        </p:nvSpPr>
        <p:spPr>
          <a:xfrm>
            <a:off x="4549180" y="3068960"/>
            <a:ext cx="5321808"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FFFFFF"/>
                </a:solidFill>
                <a:latin typeface="メイリオ"/>
              </a:rPr>
              <a:t>TO-BE</a:t>
            </a:r>
          </a:p>
        </p:txBody>
      </p:sp>
      <p:sp>
        <p:nvSpPr>
          <p:cNvPr id="67" name="Rectangle 66"/>
          <p:cNvSpPr/>
          <p:nvPr/>
        </p:nvSpPr>
        <p:spPr>
          <a:xfrm>
            <a:off x="4549180" y="3343280"/>
            <a:ext cx="5321808"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800" b="1">
                <a:solidFill>
                  <a:srgbClr val="15133D"/>
                </a:solidFill>
                <a:latin typeface="メイリオ"/>
              </a:rPr>
              <a:t>リリース日：2027年2月頃に変更</a:t>
            </a:r>
          </a:p>
          <a:p>
            <a:pPr>
              <a:lnSpc>
                <a:spcPct val="110000"/>
              </a:lnSpc>
              <a:spcBef>
                <a:spcPts val="500"/>
              </a:spcBef>
            </a:pPr>
            <a:r>
              <a:rPr sz="1050">
                <a:solidFill>
                  <a:srgbClr val="333333"/>
                </a:solidFill>
                <a:latin typeface="メイリオ"/>
              </a:rPr>
              <a:t>変更内容（参照期間を過去36カ月まで）は同じ</a:t>
            </a:r>
          </a:p>
        </p:txBody>
      </p:sp>
      <p:sp>
        <p:nvSpPr>
          <p:cNvPr id="68" name="Rounded Rectangle 67"/>
          <p:cNvSpPr/>
          <p:nvPr/>
        </p:nvSpPr>
        <p:spPr>
          <a:xfrm>
            <a:off x="54410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対象はWeb版・管理アプリの両方</a:t>
            </a:r>
          </a:p>
          <a:p>
            <a:pPr algn="l">
              <a:lnSpc>
                <a:spcPct val="115000"/>
              </a:lnSpc>
              <a:spcBef>
                <a:spcPts val="600"/>
              </a:spcBef>
            </a:pPr>
            <a:r>
              <a:rPr sz="1100">
                <a:solidFill>
                  <a:srgbClr val="333333"/>
                </a:solidFill>
                <a:latin typeface="メイリオ"/>
              </a:rPr>
              <a:t>Web版管理画面と管理アプリの「分析」タブで確認できる実績値が、過去36カ月までになる。</a:t>
            </a:r>
          </a:p>
        </p:txBody>
      </p:sp>
      <p:sp>
        <p:nvSpPr>
          <p:cNvPr id="69" name="Rounded Rectangle 68"/>
          <p:cNvSpPr/>
          <p:nvPr/>
        </p:nvSpPr>
        <p:spPr>
          <a:xfrm>
            <a:off x="529898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過去データの確認は変更前に</a:t>
            </a:r>
          </a:p>
          <a:p>
            <a:pPr algn="l">
              <a:lnSpc>
                <a:spcPct val="115000"/>
              </a:lnSpc>
              <a:spcBef>
                <a:spcPts val="600"/>
              </a:spcBef>
            </a:pPr>
            <a:r>
              <a:rPr sz="1100">
                <a:solidFill>
                  <a:srgbClr val="333333"/>
                </a:solidFill>
                <a:latin typeface="メイリオ"/>
              </a:rPr>
              <a:t>36カ月より前の実績値が必要なクライアントには、リリース前の確認・保存を案内する。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友だち獲得を強化したい全業種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【LINEシリアルコードスタンプ】媒体資料の更新・進行ガイドのご案内</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2026年10月1日（木）リリースの新商品「LINEシリアルコードスタンプ」について、</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媒体資料（更新版）と進行ガイドの2点が公開された。</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既存のプロモーションスタンプと体裁を揃え、スペックの一部も更新されている。</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ounded Rectangle 62"/>
          <p:cNvSpPr/>
          <p:nvPr/>
        </p:nvSpPr>
        <p:spPr>
          <a:xfrm>
            <a:off x="54410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媒体資料：体裁を統一</a:t>
            </a:r>
          </a:p>
          <a:p>
            <a:pPr algn="l">
              <a:lnSpc>
                <a:spcPct val="115000"/>
              </a:lnSpc>
              <a:spcBef>
                <a:spcPts val="600"/>
              </a:spcBef>
            </a:pPr>
            <a:r>
              <a:rPr sz="1100">
                <a:solidFill>
                  <a:srgbClr val="333333"/>
                </a:solidFill>
                <a:latin typeface="メイリオ"/>
              </a:rPr>
              <a:t>既存のプロモーションスタンプの媒体資料と体裁を統一。</a:t>
            </a:r>
          </a:p>
        </p:txBody>
      </p:sp>
      <p:sp>
        <p:nvSpPr>
          <p:cNvPr id="64" name="Rounded Rectangle 63"/>
          <p:cNvSpPr/>
          <p:nvPr/>
        </p:nvSpPr>
        <p:spPr>
          <a:xfrm>
            <a:off x="529898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媒体資料：スペックの一部更新</a:t>
            </a:r>
          </a:p>
          <a:p>
            <a:pPr algn="l">
              <a:lnSpc>
                <a:spcPct val="115000"/>
              </a:lnSpc>
              <a:spcBef>
                <a:spcPts val="600"/>
              </a:spcBef>
            </a:pPr>
            <a:r>
              <a:rPr sz="1100">
                <a:solidFill>
                  <a:srgbClr val="333333"/>
                </a:solidFill>
                <a:latin typeface="メイリオ"/>
              </a:rPr>
              <a:t>期間の延長・短縮化など、スペックの一部を更新。</a:t>
            </a:r>
          </a:p>
        </p:txBody>
      </p:sp>
      <p:sp>
        <p:nvSpPr>
          <p:cNvPr id="65" name="Rounded Rectangle 64"/>
          <p:cNvSpPr/>
          <p:nvPr/>
        </p:nvSpPr>
        <p:spPr>
          <a:xfrm>
            <a:off x="54410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進行ガイド：独自フロー</a:t>
            </a:r>
          </a:p>
          <a:p>
            <a:pPr algn="l">
              <a:lnSpc>
                <a:spcPct val="115000"/>
              </a:lnSpc>
              <a:spcBef>
                <a:spcPts val="600"/>
              </a:spcBef>
            </a:pPr>
            <a:r>
              <a:rPr sz="1100">
                <a:solidFill>
                  <a:srgbClr val="333333"/>
                </a:solidFill>
                <a:latin typeface="メイリオ"/>
              </a:rPr>
              <a:t>シリアルコードスタンプ独自の進行フローを詳しく記載。</a:t>
            </a:r>
          </a:p>
        </p:txBody>
      </p:sp>
      <p:sp>
        <p:nvSpPr>
          <p:cNvPr id="66" name="Rounded Rectangle 65"/>
          <p:cNvSpPr/>
          <p:nvPr/>
        </p:nvSpPr>
        <p:spPr>
          <a:xfrm>
            <a:off x="529898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進行ガイド：設計・制作ルール</a:t>
            </a:r>
          </a:p>
          <a:p>
            <a:pPr algn="l">
              <a:lnSpc>
                <a:spcPct val="115000"/>
              </a:lnSpc>
              <a:spcBef>
                <a:spcPts val="600"/>
              </a:spcBef>
            </a:pPr>
            <a:r>
              <a:rPr sz="1100">
                <a:solidFill>
                  <a:srgbClr val="333333"/>
                </a:solidFill>
                <a:latin typeface="メイリオ"/>
              </a:rPr>
              <a:t>キャンペーン設計ルールと制作ガイドを詳しく記載。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各種オプションをご利用中の全業種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【LINE公式アカウント】「利用と請求」のメンテナンス</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「利用と請求」の一部申し込み・契約画面のメンテナンスが実施される。</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日程は2026年9月14日（月）14:00〜14:30頃の予定。</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期間中は、CRM・レストラン・Beautyオプションの新規申込・契約変更ができない。</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ounded Rectangle 62"/>
          <p:cNvSpPr/>
          <p:nvPr/>
        </p:nvSpPr>
        <p:spPr>
          <a:xfrm>
            <a:off x="54410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日程</a:t>
            </a:r>
          </a:p>
          <a:p>
            <a:pPr algn="l">
              <a:lnSpc>
                <a:spcPct val="115000"/>
              </a:lnSpc>
              <a:spcBef>
                <a:spcPts val="600"/>
              </a:spcBef>
            </a:pPr>
            <a:r>
              <a:rPr sz="1100">
                <a:solidFill>
                  <a:srgbClr val="333333"/>
                </a:solidFill>
                <a:latin typeface="メイリオ"/>
              </a:rPr>
              <a:t>2026年9月14日（月）14:00〜14:30頃。日程・時間は前後する場合あり。</a:t>
            </a:r>
          </a:p>
        </p:txBody>
      </p:sp>
      <p:sp>
        <p:nvSpPr>
          <p:cNvPr id="64" name="Rounded Rectangle 63"/>
          <p:cNvSpPr/>
          <p:nvPr/>
        </p:nvSpPr>
        <p:spPr>
          <a:xfrm>
            <a:off x="529898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利用できない操作</a:t>
            </a:r>
          </a:p>
          <a:p>
            <a:pPr algn="l">
              <a:lnSpc>
                <a:spcPct val="115000"/>
              </a:lnSpc>
              <a:spcBef>
                <a:spcPts val="600"/>
              </a:spcBef>
            </a:pPr>
            <a:r>
              <a:rPr sz="1100">
                <a:solidFill>
                  <a:srgbClr val="333333"/>
                </a:solidFill>
                <a:latin typeface="メイリオ"/>
              </a:rPr>
              <a:t>新規申込・契約変更（解約予約・解約予約キャンセル）。</a:t>
            </a:r>
          </a:p>
        </p:txBody>
      </p:sp>
      <p:sp>
        <p:nvSpPr>
          <p:cNvPr id="65" name="Rounded Rectangle 64"/>
          <p:cNvSpPr/>
          <p:nvPr/>
        </p:nvSpPr>
        <p:spPr>
          <a:xfrm>
            <a:off x="54410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対象オプション</a:t>
            </a:r>
          </a:p>
          <a:p>
            <a:pPr algn="l">
              <a:lnSpc>
                <a:spcPct val="115000"/>
              </a:lnSpc>
              <a:spcBef>
                <a:spcPts val="600"/>
              </a:spcBef>
            </a:pPr>
            <a:r>
              <a:rPr sz="1100">
                <a:solidFill>
                  <a:srgbClr val="333333"/>
                </a:solidFill>
                <a:latin typeface="メイリオ"/>
              </a:rPr>
              <a:t>CRMオプション／レストランオプション／Beautyオプション。</a:t>
            </a:r>
          </a:p>
        </p:txBody>
      </p:sp>
      <p:sp>
        <p:nvSpPr>
          <p:cNvPr id="66" name="Rounded Rectangle 65"/>
          <p:cNvSpPr/>
          <p:nvPr/>
        </p:nvSpPr>
        <p:spPr>
          <a:xfrm>
            <a:off x="529898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対応</a:t>
            </a:r>
          </a:p>
          <a:p>
            <a:pPr algn="l">
              <a:lnSpc>
                <a:spcPct val="115000"/>
              </a:lnSpc>
              <a:spcBef>
                <a:spcPts val="600"/>
              </a:spcBef>
            </a:pPr>
            <a:r>
              <a:rPr sz="1100">
                <a:solidFill>
                  <a:srgbClr val="333333"/>
                </a:solidFill>
                <a:latin typeface="メイリオ"/>
              </a:rPr>
              <a:t>メンテナンス終了後に、あらためて手続きを行う。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通知メッセージをご利用中の全業種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出典：https://developers.line.biz/ja/docs/messaging-api/unit-based-statistics-aggregation/</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【LINE通知メッセージ】ユニット単位の統計情報取得に対応</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2026年9月15日（火）から、ユニットごとの統計情報を取得するAPIが</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LINE通知メッセージでも利用できるようになった。</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ユニットごとに、開封数・URLタップ数などの統計情報を確認できる。</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ectangle 62"/>
          <p:cNvSpPr/>
          <p:nvPr/>
        </p:nvSpPr>
        <p:spPr>
          <a:xfrm>
            <a:off x="544108" y="3068960"/>
            <a:ext cx="354787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333333"/>
                </a:solidFill>
                <a:latin typeface="メイリオ"/>
              </a:rPr>
              <a:t>AS-IS</a:t>
            </a:r>
          </a:p>
        </p:txBody>
      </p:sp>
      <p:sp>
        <p:nvSpPr>
          <p:cNvPr id="64" name="Rectangle 63"/>
          <p:cNvSpPr/>
          <p:nvPr/>
        </p:nvSpPr>
        <p:spPr>
          <a:xfrm>
            <a:off x="544108" y="3343280"/>
            <a:ext cx="3547872" cy="640080"/>
          </a:xfrm>
          <a:prstGeom prst="rect">
            <a:avLst/>
          </a:prstGeom>
          <a:solidFill>
            <a:srgbClr val="F2F2F2"/>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300" b="1">
                <a:solidFill>
                  <a:srgbClr val="15133D"/>
                </a:solidFill>
                <a:latin typeface="メイリオ"/>
              </a:rPr>
              <a:t>LINE通知メッセージではユニット単位の統計を取得できない</a:t>
            </a:r>
          </a:p>
        </p:txBody>
      </p:sp>
      <p:sp>
        <p:nvSpPr>
          <p:cNvPr id="65" name="TextBox 64"/>
          <p:cNvSpPr txBox="1"/>
          <p:nvPr/>
        </p:nvSpPr>
        <p:spPr>
          <a:xfrm>
            <a:off x="4091980" y="3068960"/>
            <a:ext cx="457200" cy="914400"/>
          </a:xfrm>
          <a:prstGeom prst="rect">
            <a:avLst/>
          </a:prstGeom>
          <a:noFill/>
        </p:spPr>
        <p:txBody>
          <a:bodyPr wrap="none" anchor="ctr">
            <a:spAutoFit/>
          </a:bodyPr>
          <a:lstStyle/>
          <a:p>
            <a:pPr algn="ctr"/>
            <a:r>
              <a:rPr sz="1800" b="1">
                <a:solidFill>
                  <a:srgbClr val="3467B2"/>
                </a:solidFill>
                <a:latin typeface="メイリオ"/>
              </a:rPr>
              <a:t>▶</a:t>
            </a:r>
          </a:p>
        </p:txBody>
      </p:sp>
      <p:sp>
        <p:nvSpPr>
          <p:cNvPr id="66" name="Rectangle 65"/>
          <p:cNvSpPr/>
          <p:nvPr/>
        </p:nvSpPr>
        <p:spPr>
          <a:xfrm>
            <a:off x="4549180" y="3068960"/>
            <a:ext cx="5321808" cy="27432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45720"/>
          <a:lstStyle/>
          <a:p>
            <a:pPr algn="ctr"/>
            <a:r>
              <a:rPr sz="1300" b="1">
                <a:solidFill>
                  <a:srgbClr val="FFFFFF"/>
                </a:solidFill>
                <a:latin typeface="メイリオ"/>
              </a:rPr>
              <a:t>TO-BE</a:t>
            </a:r>
          </a:p>
        </p:txBody>
      </p:sp>
      <p:sp>
        <p:nvSpPr>
          <p:cNvPr id="67" name="Rectangle 66"/>
          <p:cNvSpPr/>
          <p:nvPr/>
        </p:nvSpPr>
        <p:spPr>
          <a:xfrm>
            <a:off x="4549180" y="3343280"/>
            <a:ext cx="5321808" cy="640080"/>
          </a:xfrm>
          <a:prstGeom prst="rect">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37160" tIns="54864" bIns="54864"/>
          <a:lstStyle/>
          <a:p>
            <a:pPr algn="ctr">
              <a:lnSpc>
                <a:spcPct val="110000"/>
              </a:lnSpc>
            </a:pPr>
            <a:r>
              <a:rPr sz="1800" b="1">
                <a:solidFill>
                  <a:srgbClr val="15133D"/>
                </a:solidFill>
                <a:latin typeface="メイリオ"/>
              </a:rPr>
              <a:t>ユニット単位の統計情報をAPIで取得可能に</a:t>
            </a:r>
          </a:p>
          <a:p>
            <a:pPr>
              <a:lnSpc>
                <a:spcPct val="110000"/>
              </a:lnSpc>
              <a:spcBef>
                <a:spcPts val="500"/>
              </a:spcBef>
            </a:pPr>
            <a:r>
              <a:rPr sz="1050">
                <a:solidFill>
                  <a:srgbClr val="333333"/>
                </a:solidFill>
                <a:latin typeface="メイリオ"/>
              </a:rPr>
              <a:t>開封数・URLタップ数などをユニットごとに確認できる</a:t>
            </a:r>
          </a:p>
        </p:txBody>
      </p:sp>
      <p:sp>
        <p:nvSpPr>
          <p:cNvPr id="68" name="Rounded Rectangle 67"/>
          <p:cNvSpPr/>
          <p:nvPr/>
        </p:nvSpPr>
        <p:spPr>
          <a:xfrm>
            <a:off x="54410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要望の多かった機能</a:t>
            </a:r>
          </a:p>
          <a:p>
            <a:pPr algn="l">
              <a:lnSpc>
                <a:spcPct val="115000"/>
              </a:lnSpc>
              <a:spcBef>
                <a:spcPts val="600"/>
              </a:spcBef>
            </a:pPr>
            <a:r>
              <a:rPr sz="1100">
                <a:solidFill>
                  <a:srgbClr val="333333"/>
                </a:solidFill>
                <a:latin typeface="メイリオ"/>
              </a:rPr>
              <a:t>2025年10月・2026年6月の「LINE通知メッセージ」アンケートで、特に要望が多かった機能。</a:t>
            </a:r>
          </a:p>
        </p:txBody>
      </p:sp>
      <p:sp>
        <p:nvSpPr>
          <p:cNvPr id="69" name="Rounded Rectangle 68"/>
          <p:cNvSpPr/>
          <p:nvPr/>
        </p:nvSpPr>
        <p:spPr>
          <a:xfrm>
            <a:off x="5298988" y="4211960"/>
            <a:ext cx="457200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通知ごとの反応を比較できる</a:t>
            </a:r>
          </a:p>
          <a:p>
            <a:pPr algn="l">
              <a:lnSpc>
                <a:spcPct val="115000"/>
              </a:lnSpc>
              <a:spcBef>
                <a:spcPts val="600"/>
              </a:spcBef>
            </a:pPr>
            <a:r>
              <a:rPr sz="1100">
                <a:solidFill>
                  <a:srgbClr val="333333"/>
                </a:solidFill>
                <a:latin typeface="メイリオ"/>
              </a:rPr>
              <a:t>ユニットごとの開封数・URLタップ数を見て、通知の内容を見直せる。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友だち獲得を強化したい全業種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【LINEポイント Friends AD】FY26 冬季キャンペーン</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Friends Swipe AD／Friends Video ADのALL配信を対象に、</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通常配信6円・リーチ最適化配信9円、付与ポイント2Pの特別単価で提供される。</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2026年12月1日〜2027年3月31日までに掲載終了する案件が対象。</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ounded Rectangle 62"/>
          <p:cNvSpPr/>
          <p:nvPr/>
        </p:nvSpPr>
        <p:spPr>
          <a:xfrm>
            <a:off x="544108" y="3068960"/>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15133D"/>
                </a:solidFill>
                <a:latin typeface="メイリオ"/>
              </a:rPr>
              <a:t>6円</a:t>
            </a:r>
          </a:p>
          <a:p>
            <a:pPr algn="ctr">
              <a:spcBef>
                <a:spcPts val="200"/>
              </a:spcBef>
            </a:pPr>
            <a:r>
              <a:rPr sz="1100" b="1">
                <a:solidFill>
                  <a:srgbClr val="3467B2"/>
                </a:solidFill>
                <a:latin typeface="メイリオ"/>
              </a:rPr>
              <a:t>通常配信</a:t>
            </a:r>
          </a:p>
          <a:p>
            <a:pPr algn="ctr">
              <a:spcBef>
                <a:spcPts val="200"/>
              </a:spcBef>
            </a:pPr>
            <a:r>
              <a:rPr sz="800">
                <a:solidFill>
                  <a:srgbClr val="333333"/>
                </a:solidFill>
                <a:latin typeface="メイリオ"/>
              </a:rPr>
              <a:t>キャンペーン特別単価</a:t>
            </a:r>
          </a:p>
        </p:txBody>
      </p:sp>
      <p:sp>
        <p:nvSpPr>
          <p:cNvPr id="64" name="Rounded Rectangle 63"/>
          <p:cNvSpPr/>
          <p:nvPr/>
        </p:nvSpPr>
        <p:spPr>
          <a:xfrm>
            <a:off x="2910118" y="3068960"/>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15133D"/>
                </a:solidFill>
                <a:latin typeface="メイリオ"/>
              </a:rPr>
              <a:t>9円</a:t>
            </a:r>
          </a:p>
          <a:p>
            <a:pPr algn="ctr">
              <a:spcBef>
                <a:spcPts val="200"/>
              </a:spcBef>
            </a:pPr>
            <a:r>
              <a:rPr sz="1100" b="1">
                <a:solidFill>
                  <a:srgbClr val="3467B2"/>
                </a:solidFill>
                <a:latin typeface="メイリオ"/>
              </a:rPr>
              <a:t>リーチ最適化配信</a:t>
            </a:r>
          </a:p>
          <a:p>
            <a:pPr algn="ctr">
              <a:spcBef>
                <a:spcPts val="200"/>
              </a:spcBef>
            </a:pPr>
            <a:r>
              <a:rPr sz="800">
                <a:solidFill>
                  <a:srgbClr val="333333"/>
                </a:solidFill>
                <a:latin typeface="メイリオ"/>
              </a:rPr>
              <a:t>キャンペーン特別単価</a:t>
            </a:r>
          </a:p>
        </p:txBody>
      </p:sp>
      <p:sp>
        <p:nvSpPr>
          <p:cNvPr id="65" name="Rounded Rectangle 64"/>
          <p:cNvSpPr/>
          <p:nvPr/>
        </p:nvSpPr>
        <p:spPr>
          <a:xfrm>
            <a:off x="5276128" y="3068960"/>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15133D"/>
                </a:solidFill>
                <a:latin typeface="メイリオ"/>
              </a:rPr>
              <a:t>2P</a:t>
            </a:r>
          </a:p>
          <a:p>
            <a:pPr algn="ctr">
              <a:spcBef>
                <a:spcPts val="200"/>
              </a:spcBef>
            </a:pPr>
            <a:r>
              <a:rPr sz="1100" b="1">
                <a:solidFill>
                  <a:srgbClr val="3467B2"/>
                </a:solidFill>
                <a:latin typeface="メイリオ"/>
              </a:rPr>
              <a:t>付与ポイント</a:t>
            </a:r>
          </a:p>
          <a:p>
            <a:pPr algn="ctr">
              <a:spcBef>
                <a:spcPts val="200"/>
              </a:spcBef>
            </a:pPr>
            <a:r>
              <a:rPr sz="800">
                <a:solidFill>
                  <a:srgbClr val="333333"/>
                </a:solidFill>
                <a:latin typeface="メイリオ"/>
              </a:rPr>
              <a:t>ALL配信限定</a:t>
            </a:r>
          </a:p>
        </p:txBody>
      </p:sp>
      <p:sp>
        <p:nvSpPr>
          <p:cNvPr id="66" name="Rounded Rectangle 65"/>
          <p:cNvSpPr/>
          <p:nvPr/>
        </p:nvSpPr>
        <p:spPr>
          <a:xfrm>
            <a:off x="7642138" y="3068960"/>
            <a:ext cx="2228850" cy="137160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15133D"/>
                </a:solidFill>
                <a:latin typeface="メイリオ"/>
              </a:rPr>
              <a:t>200万円〜</a:t>
            </a:r>
          </a:p>
          <a:p>
            <a:pPr algn="ctr">
              <a:spcBef>
                <a:spcPts val="200"/>
              </a:spcBef>
            </a:pPr>
            <a:r>
              <a:rPr sz="1100" b="1">
                <a:solidFill>
                  <a:srgbClr val="3467B2"/>
                </a:solidFill>
                <a:latin typeface="メイリオ"/>
              </a:rPr>
              <a:t>最低発注金額</a:t>
            </a:r>
          </a:p>
          <a:p>
            <a:pPr algn="ctr">
              <a:spcBef>
                <a:spcPts val="200"/>
              </a:spcBef>
            </a:pPr>
            <a:r>
              <a:rPr sz="800">
                <a:solidFill>
                  <a:srgbClr val="333333"/>
                </a:solidFill>
                <a:latin typeface="メイリオ"/>
              </a:rPr>
              <a:t>最新の媒体資料に準拠</a:t>
            </a:r>
          </a:p>
        </p:txBody>
      </p:sp>
      <p:graphicFrame>
        <p:nvGraphicFramePr>
          <p:cNvPr id="67" name="Table 66"/>
          <p:cNvGraphicFramePr>
            <a:graphicFrameLocks noGrp="1"/>
          </p:cNvGraphicFramePr>
          <p:nvPr/>
        </p:nvGraphicFramePr>
        <p:xfrm>
          <a:off x="544108" y="4623440"/>
          <a:ext cx="9326880" cy="822960"/>
        </p:xfrm>
        <a:graphic>
          <a:graphicData uri="http://schemas.openxmlformats.org/drawingml/2006/table">
            <a:tbl>
              <a:tblPr firstRow="1" bandRow="1">
                <a:tableStyleId>{5C22544A-7EE6-4342-B048-85BDC9FD1C3A}</a:tableStyleId>
              </a:tblPr>
              <a:tblGrid>
                <a:gridCol w="2331720"/>
                <a:gridCol w="2331720"/>
                <a:gridCol w="2331720"/>
                <a:gridCol w="2331720"/>
              </a:tblGrid>
              <a:tr h="411480">
                <a:tc>
                  <a:txBody>
                    <a:bodyPr/>
                    <a:lstStyle/>
                    <a:p>
                      <a:pPr algn="ctr"/>
                      <a:r>
                        <a:rPr sz="900" b="1">
                          <a:solidFill>
                            <a:srgbClr val="FFFFFF"/>
                          </a:solidFill>
                          <a:latin typeface="メイリオ"/>
                        </a:rPr>
                        <a:t>対象期間</a:t>
                      </a:r>
                    </a:p>
                  </a:txBody>
                  <a:tcPr anchor="ctr">
                    <a:solidFill>
                      <a:srgbClr val="15133D"/>
                    </a:solidFill>
                  </a:tcPr>
                </a:tc>
                <a:tc>
                  <a:txBody>
                    <a:bodyPr/>
                    <a:lstStyle/>
                    <a:p>
                      <a:pPr algn="ctr"/>
                      <a:r>
                        <a:rPr sz="900" b="1">
                          <a:solidFill>
                            <a:srgbClr val="FFFFFF"/>
                          </a:solidFill>
                          <a:latin typeface="メイリオ"/>
                        </a:rPr>
                        <a:t>対象メニュー</a:t>
                      </a:r>
                    </a:p>
                  </a:txBody>
                  <a:tcPr anchor="ctr">
                    <a:solidFill>
                      <a:srgbClr val="15133D"/>
                    </a:solidFill>
                  </a:tcPr>
                </a:tc>
                <a:tc>
                  <a:txBody>
                    <a:bodyPr/>
                    <a:lstStyle/>
                    <a:p>
                      <a:pPr algn="ctr"/>
                      <a:r>
                        <a:rPr sz="900" b="1">
                          <a:solidFill>
                            <a:srgbClr val="FFFFFF"/>
                          </a:solidFill>
                          <a:latin typeface="メイリオ"/>
                        </a:rPr>
                        <a:t>対象セグメント</a:t>
                      </a:r>
                    </a:p>
                  </a:txBody>
                  <a:tcPr anchor="ctr">
                    <a:solidFill>
                      <a:srgbClr val="15133D"/>
                    </a:solidFill>
                  </a:tcPr>
                </a:tc>
                <a:tc>
                  <a:txBody>
                    <a:bodyPr/>
                    <a:lstStyle/>
                    <a:p>
                      <a:pPr algn="ctr"/>
                      <a:r>
                        <a:rPr sz="900" b="1">
                          <a:solidFill>
                            <a:srgbClr val="FFFFFF"/>
                          </a:solidFill>
                          <a:latin typeface="メイリオ"/>
                        </a:rPr>
                        <a:t>対象クライアント</a:t>
                      </a:r>
                    </a:p>
                  </a:txBody>
                  <a:tcPr anchor="ctr">
                    <a:solidFill>
                      <a:srgbClr val="15133D"/>
                    </a:solidFill>
                  </a:tcPr>
                </a:tc>
              </a:tr>
              <a:tr h="411480">
                <a:tc>
                  <a:txBody>
                    <a:bodyPr/>
                    <a:lstStyle/>
                    <a:p>
                      <a:pPr algn="ctr"/>
                      <a:r>
                        <a:rPr sz="1400" b="1">
                          <a:solidFill>
                            <a:srgbClr val="15133D"/>
                          </a:solidFill>
                          <a:latin typeface="メイリオ"/>
                        </a:rPr>
                        <a:t>26/12/1〜27/3/31</a:t>
                      </a:r>
                    </a:p>
                  </a:txBody>
                  <a:tcPr anchor="ctr">
                    <a:solidFill>
                      <a:srgbClr val="EAF0FA"/>
                    </a:solidFill>
                  </a:tcPr>
                </a:tc>
                <a:tc>
                  <a:txBody>
                    <a:bodyPr/>
                    <a:lstStyle/>
                    <a:p>
                      <a:pPr algn="ctr"/>
                      <a:r>
                        <a:rPr sz="1400" b="1">
                          <a:solidFill>
                            <a:srgbClr val="15133D"/>
                          </a:solidFill>
                          <a:latin typeface="メイリオ"/>
                        </a:rPr>
                        <a:t>Swipe AD／Video AD</a:t>
                      </a:r>
                    </a:p>
                  </a:txBody>
                  <a:tcPr anchor="ctr">
                    <a:solidFill>
                      <a:srgbClr val="EAF0FA"/>
                    </a:solidFill>
                  </a:tcPr>
                </a:tc>
                <a:tc>
                  <a:txBody>
                    <a:bodyPr/>
                    <a:lstStyle/>
                    <a:p>
                      <a:pPr algn="ctr"/>
                      <a:r>
                        <a:rPr sz="1400" b="1">
                          <a:solidFill>
                            <a:srgbClr val="15133D"/>
                          </a:solidFill>
                          <a:latin typeface="メイリオ"/>
                        </a:rPr>
                        <a:t>ALL配信のみ</a:t>
                      </a:r>
                    </a:p>
                  </a:txBody>
                  <a:tcPr anchor="ctr">
                    <a:solidFill>
                      <a:srgbClr val="EAF0FA"/>
                    </a:solidFill>
                  </a:tcPr>
                </a:tc>
                <a:tc>
                  <a:txBody>
                    <a:bodyPr/>
                    <a:lstStyle/>
                    <a:p>
                      <a:pPr algn="ctr"/>
                      <a:r>
                        <a:rPr sz="1400" b="1">
                          <a:solidFill>
                            <a:srgbClr val="15133D"/>
                          </a:solidFill>
                          <a:latin typeface="メイリオ"/>
                        </a:rPr>
                        <a:t>全クライアント</a:t>
                      </a:r>
                    </a:p>
                  </a:txBody>
                  <a:tcPr anchor="ctr">
                    <a:solidFill>
                      <a:srgbClr val="EAF0FA"/>
                    </a:solidFill>
                  </a:tcPr>
                </a:tc>
              </a:tr>
            </a:tbl>
          </a:graphicData>
        </a:graphic>
      </p:graphicFrame>
      <p:sp>
        <p:nvSpPr>
          <p:cNvPr id="68" name="Rounded Rectangle 67"/>
          <p:cNvSpPr/>
          <p:nvPr/>
        </p:nvSpPr>
        <p:spPr>
          <a:xfrm>
            <a:off x="544108" y="5629280"/>
            <a:ext cx="9326880" cy="7772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発注時の注意</a:t>
            </a:r>
          </a:p>
          <a:p>
            <a:pPr algn="l">
              <a:lnSpc>
                <a:spcPct val="115000"/>
              </a:lnSpc>
              <a:spcBef>
                <a:spcPts val="600"/>
              </a:spcBef>
            </a:pPr>
            <a:r>
              <a:rPr sz="1100">
                <a:solidFill>
                  <a:srgbClr val="333333"/>
                </a:solidFill>
                <a:latin typeface="メイリオ"/>
              </a:rPr>
              <a:t>備考欄に「FY26 Winter Campaign適用」と記載。配信中・発注受領済みの案件、他割引との併用、デリタゲ配信は対象外。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飲食業</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【レストランオプション】一部機材の価格改定</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仕入れ先であるエプソン販売株式会社の価格改定に伴い、</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レストランオプションで提供している一部機材の販売価格が改定（値上げ）される。</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2027年2月上旬以降のお申し込み分から新価格を適用。</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ounded Rectangle 62"/>
          <p:cNvSpPr/>
          <p:nvPr/>
        </p:nvSpPr>
        <p:spPr>
          <a:xfrm>
            <a:off x="54410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改定時期</a:t>
            </a:r>
          </a:p>
          <a:p>
            <a:pPr algn="l">
              <a:lnSpc>
                <a:spcPct val="115000"/>
              </a:lnSpc>
              <a:spcBef>
                <a:spcPts val="600"/>
              </a:spcBef>
            </a:pPr>
            <a:r>
              <a:rPr sz="1100">
                <a:solidFill>
                  <a:srgbClr val="333333"/>
                </a:solidFill>
                <a:latin typeface="メイリオ"/>
              </a:rPr>
              <a:t>2027年2月上旬予定。同日以降のお申し込みページアクセス分から新価格。</a:t>
            </a:r>
          </a:p>
        </p:txBody>
      </p:sp>
      <p:sp>
        <p:nvSpPr>
          <p:cNvPr id="64" name="Rounded Rectangle 63"/>
          <p:cNvSpPr/>
          <p:nvPr/>
        </p:nvSpPr>
        <p:spPr>
          <a:xfrm>
            <a:off x="529898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対象機材</a:t>
            </a:r>
          </a:p>
          <a:p>
            <a:pPr algn="l">
              <a:lnSpc>
                <a:spcPct val="115000"/>
              </a:lnSpc>
              <a:spcBef>
                <a:spcPts val="600"/>
              </a:spcBef>
            </a:pPr>
            <a:r>
              <a:rPr sz="1100">
                <a:solidFill>
                  <a:srgbClr val="333333"/>
                </a:solidFill>
                <a:latin typeface="メイリオ"/>
              </a:rPr>
              <a:t>EPSON製のプリンター・キャッシュドロアー。</a:t>
            </a:r>
          </a:p>
        </p:txBody>
      </p:sp>
      <p:sp>
        <p:nvSpPr>
          <p:cNvPr id="65" name="Rounded Rectangle 64"/>
          <p:cNvSpPr/>
          <p:nvPr/>
        </p:nvSpPr>
        <p:spPr>
          <a:xfrm>
            <a:off x="54410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価格</a:t>
            </a:r>
          </a:p>
          <a:p>
            <a:pPr algn="l">
              <a:lnSpc>
                <a:spcPct val="115000"/>
              </a:lnSpc>
              <a:spcBef>
                <a:spcPts val="600"/>
              </a:spcBef>
            </a:pPr>
            <a:r>
              <a:rPr sz="1100">
                <a:solidFill>
                  <a:srgbClr val="333333"/>
                </a:solidFill>
                <a:latin typeface="メイリオ"/>
              </a:rPr>
              <a:t>新価格は代理店資料に掲載。</a:t>
            </a:r>
          </a:p>
        </p:txBody>
      </p:sp>
      <p:sp>
        <p:nvSpPr>
          <p:cNvPr id="66" name="Rounded Rectangle 65"/>
          <p:cNvSpPr/>
          <p:nvPr/>
        </p:nvSpPr>
        <p:spPr>
          <a:xfrm>
            <a:off x="5298988" y="471488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告知</a:t>
            </a:r>
          </a:p>
          <a:p>
            <a:pPr algn="l">
              <a:lnSpc>
                <a:spcPct val="115000"/>
              </a:lnSpc>
              <a:spcBef>
                <a:spcPts val="600"/>
              </a:spcBef>
            </a:pPr>
            <a:r>
              <a:rPr sz="1100">
                <a:solidFill>
                  <a:srgbClr val="333333"/>
                </a:solidFill>
                <a:latin typeface="メイリオ"/>
              </a:rPr>
              <a:t>OAMの申し込み導線・AGPお知らせ・飲食CMSお知らせにも掲載予定。</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 name="Google Shape;40;p3"/>
          <p:cNvSpPr/>
          <p:nvPr/>
        </p:nvSpPr>
        <p:spPr>
          <a:xfrm>
            <a:off x="292801" y="730955"/>
            <a:ext cx="1296144" cy="435690"/>
          </a:xfrm>
          <a:prstGeom prst="rect">
            <a:avLst/>
          </a:prstGeom>
          <a:solidFill>
            <a:schemeClr val="dk2"/>
          </a:solid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800" u="none" cap="none" strike="noStrike">
                <a:solidFill>
                  <a:schemeClr val="lt1"/>
                </a:solidFill>
                <a:latin typeface="メイリオ"/>
                <a:ea typeface="Meiryo"/>
                <a:cs typeface="Meiryo"/>
                <a:sym typeface="Meiryo"/>
              </a:rPr>
              <a:t>対象業界</a:t>
            </a:r>
            <a:endParaRPr/>
          </a:p>
        </p:txBody>
      </p:sp>
      <p:sp>
        <p:nvSpPr>
          <p:cNvPr id="41" name="Google Shape;41;p3"/>
          <p:cNvSpPr/>
          <p:nvPr/>
        </p:nvSpPr>
        <p:spPr>
          <a:xfrm>
            <a:off x="756084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200" u="none" cap="none" strike="noStrike">
                <a:solidFill>
                  <a:schemeClr val="dk1"/>
                </a:solidFill>
                <a:latin typeface="メイリオ"/>
                <a:ea typeface="Meiryo"/>
                <a:cs typeface="Meiryo"/>
                <a:sym typeface="Meiryo"/>
              </a:rPr>
              <a:t>その他</a:t>
            </a:r>
            <a:endParaRPr b="0" i="0" sz="1200" u="none" cap="none" strike="noStrike">
              <a:solidFill>
                <a:schemeClr val="dk1"/>
              </a:solidFill>
              <a:latin typeface="Meiryo"/>
              <a:ea typeface="Meiryo"/>
              <a:cs typeface="Meiryo"/>
              <a:sym typeface="Meiryo"/>
            </a:endParaRPr>
          </a:p>
        </p:txBody>
      </p:sp>
      <p:sp>
        <p:nvSpPr>
          <p:cNvPr id="42" name="Google Shape;42;p3"/>
          <p:cNvSpPr/>
          <p:nvPr/>
        </p:nvSpPr>
        <p:spPr>
          <a:xfrm>
            <a:off x="6679050" y="730955"/>
            <a:ext cx="829618" cy="435690"/>
          </a:xfrm>
          <a:prstGeom prst="rect">
            <a:avLst/>
          </a:prstGeom>
          <a:solidFill>
            <a:schemeClr val="tx2"/>
          </a:solidFill>
          <a:ln cap="flat" cmpd="sng" w="9525">
            <a:solidFill>
              <a:srgbClr val="4F81B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オプション</a:t>
            </a:r>
            <a:endParaRPr b="0" i="0" sz="1000" u="none" cap="none" strike="noStrike">
              <a:solidFill>
                <a:schemeClr val="dk1"/>
              </a:solidFill>
              <a:latin typeface="Meiryo"/>
              <a:ea typeface="Meiryo"/>
              <a:cs typeface="Meiryo"/>
              <a:sym typeface="Meiryo"/>
            </a:endParaRPr>
          </a:p>
          <a:p>
            <a:pPr indent="0" lvl="0" marL="0" marR="0" rtl="0" algn="ctr">
              <a:spcBef>
                <a:spcPts val="0"/>
              </a:spcBef>
              <a:spcAft>
                <a:spcPts val="0"/>
              </a:spcAft>
              <a:buNone/>
            </a:pPr>
            <a:r>
              <a:rPr b="0" i="0" lang="ja-JP" sz="1000" u="none" cap="none" strike="noStrike">
                <a:solidFill>
                  <a:schemeClr val="dk1"/>
                </a:solidFill>
                <a:latin typeface="メイリオ"/>
                <a:ea typeface="Meiryo"/>
                <a:cs typeface="Meiryo"/>
                <a:sym typeface="Meiryo"/>
              </a:rPr>
              <a:t>商材</a:t>
            </a:r>
            <a:endParaRPr/>
          </a:p>
        </p:txBody>
      </p:sp>
      <p:sp>
        <p:nvSpPr>
          <p:cNvPr id="43" name="Google Shape;43;p3"/>
          <p:cNvSpPr/>
          <p:nvPr/>
        </p:nvSpPr>
        <p:spPr>
          <a:xfrm>
            <a:off x="1594068" y="730955"/>
            <a:ext cx="2926883" cy="435690"/>
          </a:xfrm>
          <a:prstGeom prst="rect">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ja-JP" sz="1300" u="none" cap="none" strike="noStrike">
                <a:solidFill>
                  <a:schemeClr val="dk1"/>
                </a:solidFill>
                <a:latin typeface="メイリオ"/>
                <a:ea typeface="Meiryo"/>
                <a:cs typeface="Meiryo"/>
                <a:sym typeface="Meiryo"/>
              </a:rPr>
              <a:t>全業種</a:t>
            </a:r>
            <a:endParaRPr/>
          </a:p>
        </p:txBody>
      </p:sp>
      <p:sp>
        <p:nvSpPr>
          <p:cNvPr id="44" name="Google Shape;44;p3"/>
          <p:cNvSpPr txBox="1"/>
          <p:nvPr/>
        </p:nvSpPr>
        <p:spPr>
          <a:xfrm>
            <a:off x="3296816" y="6597352"/>
            <a:ext cx="620909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ja-JP" sz="800" u="none" cap="none" strike="noStrike">
                <a:solidFill>
                  <a:schemeClr val="lt1"/>
                </a:solidFill>
                <a:latin typeface="メイリオ"/>
                <a:ea typeface="Meiryo"/>
                <a:cs typeface="Meiryo"/>
                <a:sym typeface="Meiryo"/>
              </a:rPr>
              <a:t>出典：代理店情報</a:t>
            </a:r>
            <a:endParaRPr sz="800">
              <a:solidFill>
                <a:schemeClr val="lt1"/>
              </a:solidFill>
              <a:latin typeface="Meiryo"/>
              <a:ea typeface="Meiryo"/>
              <a:cs typeface="Meiryo"/>
              <a:sym typeface="Meiryo"/>
            </a:endParaRPr>
          </a:p>
        </p:txBody>
      </p:sp>
      <p:sp>
        <p:nvSpPr>
          <p:cNvPr id="45" name="Google Shape;45;p3"/>
          <p:cNvSpPr/>
          <p:nvPr/>
        </p:nvSpPr>
        <p:spPr>
          <a:xfrm>
            <a:off x="0" y="1234746"/>
            <a:ext cx="9906000" cy="672259"/>
          </a:xfrm>
          <a:prstGeom prst="rect">
            <a:avLst/>
          </a:prstGeom>
          <a:solidFill>
            <a:srgbClr val="C5D8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ja-JP" sz="1600">
                <a:solidFill>
                  <a:srgbClr val="004DE6"/>
                </a:solidFill>
                <a:latin typeface="メイリオ"/>
                <a:ea typeface="Meiryo"/>
                <a:cs typeface="Meiryo"/>
                <a:sym typeface="Meiryo"/>
              </a:rPr>
              <a:t>　　　　　　</a:t>
            </a:r>
            <a:endParaRPr b="1" sz="1800">
              <a:solidFill>
                <a:srgbClr val="004DE6"/>
              </a:solidFill>
              <a:latin typeface="Meiryo"/>
              <a:ea typeface="Meiryo"/>
              <a:cs typeface="Meiryo"/>
              <a:sym typeface="Meiryo"/>
            </a:endParaRPr>
          </a:p>
        </p:txBody>
      </p:sp>
      <p:sp>
        <p:nvSpPr>
          <p:cNvPr id="46" name="Google Shape;46;p3"/>
          <p:cNvSpPr/>
          <p:nvPr/>
        </p:nvSpPr>
        <p:spPr>
          <a:xfrm>
            <a:off x="1089832" y="1437370"/>
            <a:ext cx="70315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ja-JP" sz="1600">
                <a:solidFill>
                  <a:srgbClr val="004DE6"/>
                </a:solidFill>
                <a:latin typeface="メイリオ"/>
                <a:ea typeface="Meiryo"/>
                <a:cs typeface="Meiryo"/>
                <a:sym typeface="Meiryo"/>
              </a:rPr>
              <a:t>【CRMオプション】導入事例の追加</a:t>
            </a:r>
            <a:endParaRPr b="1" sz="1600">
              <a:solidFill>
                <a:srgbClr val="004DE6"/>
              </a:solidFill>
              <a:latin typeface="Meiryo"/>
              <a:ea typeface="Meiryo"/>
              <a:cs typeface="Meiryo"/>
              <a:sym typeface="Meiryo"/>
            </a:endParaRPr>
          </a:p>
        </p:txBody>
      </p:sp>
      <p:sp>
        <p:nvSpPr>
          <p:cNvPr id="47" name="Google Shape;47;p3"/>
          <p:cNvSpPr txBox="1"/>
          <p:nvPr/>
        </p:nvSpPr>
        <p:spPr>
          <a:xfrm>
            <a:off x="182880" y="88175"/>
            <a:ext cx="7512385" cy="365091"/>
          </a:xfrm>
          <a:prstGeom prst="rect">
            <a:avLst/>
          </a:prstGeom>
          <a:noFill/>
          <a:ln>
            <a:noFill/>
          </a:ln>
        </p:spPr>
        <p:txBody>
          <a:bodyPr anchorCtr="0" anchor="t" bIns="45700" lIns="91425" spcFirstLastPara="1" rIns="91425" wrap="square" tIns="72000">
            <a:spAutoFit/>
          </a:bodyPr>
          <a:lstStyle/>
          <a:p>
            <a:pPr indent="0" lvl="0" marL="0" marR="0" rtl="0" algn="l">
              <a:spcBef>
                <a:spcPts val="0"/>
              </a:spcBef>
              <a:spcAft>
                <a:spcPts val="0"/>
              </a:spcAft>
              <a:buClr>
                <a:schemeClr val="dk1"/>
              </a:buClr>
              <a:buSzPts val="1600"/>
              <a:buFont typeface="Arial"/>
              <a:buNone/>
            </a:pPr>
            <a:r>
              <a:rPr b="0" lang="ja-JP" sz="1600" u="none">
                <a:solidFill>
                  <a:schemeClr val="dk1"/>
                </a:solidFill>
                <a:latin typeface="メイリオ"/>
                <a:ea typeface="Meiryo"/>
                <a:cs typeface="Meiryo"/>
                <a:sym typeface="Meiryo"/>
              </a:rPr>
              <a:t>    今後のアップデート情報</a:t>
            </a:r>
            <a:endParaRPr b="0" sz="1600" u="none">
              <a:solidFill>
                <a:schemeClr val="dk1"/>
              </a:solidFill>
              <a:latin typeface="Meiryo"/>
              <a:ea typeface="Meiryo"/>
              <a:cs typeface="Meiryo"/>
              <a:sym typeface="Meiryo"/>
            </a:endParaRPr>
          </a:p>
        </p:txBody>
      </p:sp>
      <p:sp>
        <p:nvSpPr>
          <p:cNvPr id="48" name="Google Shape;48;p3"/>
          <p:cNvSpPr/>
          <p:nvPr/>
        </p:nvSpPr>
        <p:spPr>
          <a:xfrm>
            <a:off x="579726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開発</a:t>
            </a:r>
            <a:endParaRPr sz="1000">
              <a:solidFill>
                <a:schemeClr val="dk1"/>
              </a:solidFill>
              <a:latin typeface="Meiryo"/>
              <a:ea typeface="Meiryo"/>
              <a:cs typeface="Meiryo"/>
              <a:sym typeface="Meiryo"/>
            </a:endParaRPr>
          </a:p>
          <a:p>
            <a:pPr indent="0" lvl="0" marL="0" marR="0" rtl="0" algn="ctr">
              <a:spcBef>
                <a:spcPts val="0"/>
              </a:spcBef>
              <a:spcAft>
                <a:spcPts val="0"/>
              </a:spcAft>
              <a:buClr>
                <a:schemeClr val="dk1"/>
              </a:buClr>
              <a:buSzPts val="1000"/>
              <a:buFont typeface="Meiryo"/>
              <a:buNone/>
            </a:pPr>
            <a:r>
              <a:rPr lang="ja-JP" sz="1000">
                <a:solidFill>
                  <a:schemeClr val="dk1"/>
                </a:solidFill>
                <a:latin typeface="メイリオ"/>
                <a:ea typeface="Meiryo"/>
                <a:cs typeface="Meiryo"/>
                <a:sym typeface="Meiryo"/>
              </a:rPr>
              <a:t>LINE API</a:t>
            </a:r>
            <a:endParaRPr sz="1000">
              <a:solidFill>
                <a:schemeClr val="dk1"/>
              </a:solidFill>
              <a:latin typeface="Meiryo"/>
              <a:ea typeface="Meiryo"/>
              <a:cs typeface="Meiryo"/>
              <a:sym typeface="Meiryo"/>
            </a:endParaRPr>
          </a:p>
        </p:txBody>
      </p:sp>
      <p:sp>
        <p:nvSpPr>
          <p:cNvPr id="49" name="Google Shape;49;p3"/>
          <p:cNvSpPr/>
          <p:nvPr/>
        </p:nvSpPr>
        <p:spPr>
          <a:xfrm>
            <a:off x="4915470" y="730955"/>
            <a:ext cx="829618" cy="435690"/>
          </a:xfrm>
          <a:prstGeom prst="rect">
            <a:avLst/>
          </a:prstGeom>
          <a:solidFill>
            <a:schemeClr val="bg1"/>
          </a:solidFill>
          <a:ln cap="flat" cmpd="sng" w="9525">
            <a:solidFill>
              <a:srgbClr val="4F81BD"/>
            </a:solidFill>
            <a:prstDash val="sys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ja-JP" sz="1000">
                <a:solidFill>
                  <a:schemeClr val="dk1"/>
                </a:solidFill>
                <a:latin typeface="メイリオ"/>
                <a:ea typeface="Meiryo"/>
                <a:cs typeface="Meiryo"/>
                <a:sym typeface="Meiryo"/>
              </a:rPr>
              <a:t>LINE公式アカウント</a:t>
            </a:r>
            <a:endParaRPr sz="1000">
              <a:solidFill>
                <a:schemeClr val="dk1"/>
              </a:solidFill>
              <a:latin typeface="Meiryo"/>
              <a:ea typeface="Meiryo"/>
              <a:cs typeface="Meiryo"/>
              <a:sym typeface="Meiryo"/>
            </a:endParaRPr>
          </a:p>
        </p:txBody>
      </p:sp>
      <p:sp>
        <p:nvSpPr>
          <p:cNvPr id="50" name="Google Shape;50;p3"/>
          <p:cNvSpPr/>
          <p:nvPr/>
        </p:nvSpPr>
        <p:spPr>
          <a:xfrm>
            <a:off x="0" y="1890267"/>
            <a:ext cx="9906000" cy="73357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a:latin typeface="メイリオ"/>
              </a:rPr>
              <a:t/>
            </a:r>
            <a:endParaRPr sz="1200">
              <a:solidFill>
                <a:schemeClr val="dk1"/>
              </a:solidFill>
              <a:latin typeface="Meiryo"/>
              <a:ea typeface="Meiryo"/>
              <a:cs typeface="Meiryo"/>
              <a:sym typeface="Meiryo"/>
            </a:endParaRPr>
          </a:p>
        </p:txBody>
      </p:sp>
      <p:sp>
        <p:nvSpPr>
          <p:cNvPr id="51" name="Google Shape;51;p3"/>
          <p:cNvSpPr/>
          <p:nvPr/>
        </p:nvSpPr>
        <p:spPr>
          <a:xfrm>
            <a:off x="544108" y="1961282"/>
            <a:ext cx="88177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ja-JP" sz="1200">
                <a:solidFill>
                  <a:schemeClr val="dk1"/>
                </a:solidFill>
                <a:latin typeface="メイリオ"/>
                <a:ea typeface="Meiryo"/>
                <a:cs typeface="Meiryo"/>
                <a:sym typeface="Meiryo"/>
              </a:rPr>
              <a:t>CRMオプションの利用企業で、新たな導入事例が共有された。</a:t>
            </a:r>
            <a:endParaRPr b="1" sz="1200">
              <a:solidFill>
                <a:schemeClr val="dk1"/>
              </a:solidFill>
              <a:latin typeface="Meiryo"/>
              <a:ea typeface="Meiryo"/>
              <a:cs typeface="Meiryo"/>
              <a:sym typeface="Meiryo"/>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フォームを使ったアンケートで回答率が上がり、</a:t>
            </a:r>
            <a:endParaRPr/>
          </a:p>
          <a:p>
            <a:pPr indent="0" lvl="0" marL="0" marR="0" rtl="0" algn="ctr">
              <a:spcBef>
                <a:spcPts val="0"/>
              </a:spcBef>
              <a:spcAft>
                <a:spcPts val="0"/>
              </a:spcAft>
              <a:buNone/>
            </a:pPr>
            <a:r>
              <a:rPr b="1" lang="ja-JP" sz="1200">
                <a:solidFill>
                  <a:schemeClr val="dk1"/>
                </a:solidFill>
                <a:latin typeface="メイリオ"/>
                <a:ea typeface="Meiryo"/>
                <a:cs typeface="Meiryo"/>
                <a:sym typeface="Meiryo"/>
              </a:rPr>
              <a:t>回答内容に沿った配信でメッセージのCTRが改善した。</a:t>
            </a:r>
            <a:endParaRPr b="1" sz="1400">
              <a:solidFill>
                <a:schemeClr val="dk1"/>
              </a:solidFill>
              <a:latin typeface="Meiryo"/>
              <a:ea typeface="Meiryo"/>
              <a:cs typeface="Meiryo"/>
              <a:sym typeface="Meiryo"/>
            </a:endParaRPr>
          </a:p>
        </p:txBody>
      </p:sp>
      <p:sp>
        <p:nvSpPr>
          <p:cNvPr id="52" name="Google Shape;52;p3"/>
          <p:cNvSpPr/>
          <p:nvPr/>
        </p:nvSpPr>
        <p:spPr>
          <a:xfrm>
            <a:off x="351381" y="2714173"/>
            <a:ext cx="520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ja-JP" sz="1400">
                <a:solidFill>
                  <a:srgbClr val="15133D"/>
                </a:solidFill>
                <a:latin typeface="メイリオ"/>
                <a:ea typeface="Meiryo"/>
                <a:cs typeface="Meiryo"/>
                <a:sym typeface="Meiryo"/>
              </a:rPr>
              <a:t>■ 詳細</a:t>
            </a:r>
            <a:endParaRPr/>
          </a:p>
        </p:txBody>
      </p:sp>
      <p:grpSp>
        <p:nvGrpSpPr>
          <p:cNvPr id="53" name="Google Shape;53;p3"/>
          <p:cNvGrpSpPr/>
          <p:nvPr/>
        </p:nvGrpSpPr>
        <p:grpSpPr>
          <a:xfrm>
            <a:off x="8473303" y="730955"/>
            <a:ext cx="1376241" cy="1131930"/>
            <a:chOff x="0" y="0"/>
            <a:chExt cx="1376241" cy="1131930"/>
          </a:xfrm>
        </p:grpSpPr>
        <p:sp>
          <p:nvSpPr>
            <p:cNvPr id="54" name="Google Shape;54;p3"/>
            <p:cNvSpPr/>
            <p:nvPr/>
          </p:nvSpPr>
          <p:spPr>
            <a:xfrm rot="10800000">
              <a:off x="0" y="0"/>
              <a:ext cx="1376241" cy="282982"/>
            </a:xfrm>
            <a:prstGeom prst="trapezoid">
              <a:avLst>
                <a:gd fmla="val 60792" name="adj"/>
              </a:avLst>
            </a:prstGeom>
            <a:solidFill>
              <a:srgbClr val="EAEDF5"/>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nvSpPr>
          <p:spPr>
            <a:xfrm>
              <a:off x="240842" y="0"/>
              <a:ext cx="894556"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認知</a:t>
              </a:r>
              <a:endParaRPr/>
            </a:p>
          </p:txBody>
        </p:sp>
        <p:sp>
          <p:nvSpPr>
            <p:cNvPr id="56" name="Google Shape;56;p3"/>
            <p:cNvSpPr/>
            <p:nvPr/>
          </p:nvSpPr>
          <p:spPr>
            <a:xfrm rot="10800000">
              <a:off x="172030" y="282982"/>
              <a:ext cx="103218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352661" y="282982"/>
              <a:ext cx="670917"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検討</a:t>
              </a:r>
              <a:endParaRPr/>
            </a:p>
          </p:txBody>
        </p:sp>
        <p:sp>
          <p:nvSpPr>
            <p:cNvPr id="58" name="Google Shape;58;p3"/>
            <p:cNvSpPr/>
            <p:nvPr/>
          </p:nvSpPr>
          <p:spPr>
            <a:xfrm rot="10800000">
              <a:off x="344060" y="565965"/>
              <a:ext cx="688120" cy="282982"/>
            </a:xfrm>
            <a:prstGeom prst="trapezoid">
              <a:avLst>
                <a:gd fmla="val 60792" name="adj"/>
              </a:avLst>
            </a:prstGeom>
            <a:solidFill>
              <a:schemeClr val="lt1"/>
            </a:solid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64481" y="565965"/>
              <a:ext cx="447278"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獲得</a:t>
              </a:r>
              <a:endParaRPr/>
            </a:p>
          </p:txBody>
        </p:sp>
        <p:sp>
          <p:nvSpPr>
            <p:cNvPr id="60" name="Google Shape;60;p3"/>
            <p:cNvSpPr/>
            <p:nvPr/>
          </p:nvSpPr>
          <p:spPr>
            <a:xfrm rot="10800000">
              <a:off x="516090" y="848948"/>
              <a:ext cx="344060" cy="282982"/>
            </a:xfrm>
            <a:prstGeom prst="trapezoid">
              <a:avLst>
                <a:gd fmla="val 60792" name="adj"/>
              </a:avLst>
            </a:prstGeom>
            <a:noFill/>
            <a:ln cap="flat" cmpd="sng" w="25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516090" y="848948"/>
              <a:ext cx="344060" cy="28298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rgbClr val="262626"/>
                </a:buClr>
                <a:buSzPts val="800"/>
                <a:buFont typeface="Arial"/>
                <a:buNone/>
              </a:pPr>
              <a:r>
                <a:rPr b="1" lang="ja-JP" sz="800">
                  <a:solidFill>
                    <a:srgbClr val="262626"/>
                  </a:solidFill>
                  <a:latin typeface="Arial"/>
                  <a:ea typeface="Arial"/>
                  <a:cs typeface="Arial"/>
                  <a:sym typeface="Arial"/>
                </a:rPr>
                <a:t>伸長</a:t>
              </a:r>
              <a:endParaRPr/>
            </a:p>
          </p:txBody>
        </p:sp>
      </p:grpSp>
      <p:pic>
        <p:nvPicPr>
          <p:cNvPr descr="LINE公式アカウントのロゴの使用方法とは？種類やダウンロード方法、利用時の注意点を紹介 | Mico（ミコ）" id="62" name="Google Shape;62;p3"/>
          <p:cNvPicPr preferRelativeResize="0"/>
          <p:nvPr/>
        </p:nvPicPr>
        <p:blipFill rotWithShape="1">
          <a:blip r:embed="rId2">
            <a:alphaModFix/>
          </a:blip>
          <a:srcRect b="0" l="0" r="0" t="0"/>
          <a:stretch/>
        </p:blipFill>
        <p:spPr>
          <a:xfrm>
            <a:off x="351381" y="1234746"/>
            <a:ext cx="656177" cy="655521"/>
          </a:xfrm>
          <a:prstGeom prst="rect">
            <a:avLst/>
          </a:prstGeom>
          <a:noFill/>
          <a:ln>
            <a:noFill/>
          </a:ln>
        </p:spPr>
      </p:pic>
      <p:sp>
        <p:nvSpPr>
          <p:cNvPr id="63" name="Rounded Rectangle 62"/>
          <p:cNvSpPr/>
          <p:nvPr/>
        </p:nvSpPr>
        <p:spPr>
          <a:xfrm>
            <a:off x="54410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① アンケート回答率UP</a:t>
            </a:r>
          </a:p>
          <a:p>
            <a:pPr algn="l">
              <a:lnSpc>
                <a:spcPct val="115000"/>
              </a:lnSpc>
              <a:spcBef>
                <a:spcPts val="600"/>
              </a:spcBef>
            </a:pPr>
            <a:r>
              <a:rPr sz="1100">
                <a:solidFill>
                  <a:srgbClr val="333333"/>
                </a:solidFill>
                <a:latin typeface="メイリオ"/>
              </a:rPr>
              <a:t>リサーチ機能ではなくフォームを使うことで、アンケートの回答率が上がった。</a:t>
            </a:r>
          </a:p>
        </p:txBody>
      </p:sp>
      <p:sp>
        <p:nvSpPr>
          <p:cNvPr id="64" name="Rounded Rectangle 63"/>
          <p:cNvSpPr/>
          <p:nvPr/>
        </p:nvSpPr>
        <p:spPr>
          <a:xfrm>
            <a:off x="5298988" y="3068960"/>
            <a:ext cx="4572000" cy="1463040"/>
          </a:xfrm>
          <a:prstGeom prst="roundRect">
            <a:avLst>
              <a:gd name="adj" fmla="val 6000"/>
            </a:avLst>
          </a:prstGeom>
          <a:solidFill>
            <a:srgbClr val="EAF0FA"/>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82880"/>
          <a:lstStyle/>
          <a:p>
            <a:pPr algn="l"/>
            <a:r>
              <a:rPr sz="1700" b="1">
                <a:solidFill>
                  <a:srgbClr val="15133D"/>
                </a:solidFill>
                <a:latin typeface="メイリオ"/>
              </a:rPr>
              <a:t>② 配信メッセージのCTR改善</a:t>
            </a:r>
          </a:p>
          <a:p>
            <a:pPr algn="l">
              <a:lnSpc>
                <a:spcPct val="115000"/>
              </a:lnSpc>
              <a:spcBef>
                <a:spcPts val="600"/>
              </a:spcBef>
            </a:pPr>
            <a:r>
              <a:rPr sz="1100">
                <a:solidFill>
                  <a:srgbClr val="333333"/>
                </a:solidFill>
                <a:latin typeface="メイリオ"/>
              </a:rPr>
              <a:t>ユーザーの回答内容に沿った配信を行い、メッセージのCTRが改善した。</a:t>
            </a: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YMJAPA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2021-08-26T12:24:15Z</dcterms:created>
  <dc:creator>横田 澪央</dc:creator>
</cp:coreProperties>
</file>