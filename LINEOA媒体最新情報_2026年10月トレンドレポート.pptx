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61" r:id="rId7"/>
    <p:sldId id="269" r:id="rId8"/>
    <p:sldId id="263" r:id="rId9"/>
    <p:sldId id="264" r:id="rId10"/>
    <p:sldId id="265" r:id="rId11"/>
    <p:sldId id="266" r:id="rId12"/>
    <p:sldId id="270" r:id="rId13"/>
    <p:sldId id="271" r:id="rId14"/>
    <p:sldId id="272" r:id="rId15"/>
  </p:sldIdLst>
  <p:sldSz cx="9906000" cy="6858000" type="A4"/>
  <p:notesSz cx="6799263" cy="9929813"/>
  <p:embeddedFontLs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Meiryo" panose="020B0604030504040204" pitchFamily="50" charset="-128"/>
      <p:regular r:id="rId17"/>
      <p:bold r:id="rId18"/>
      <p:italic r:id="rId19"/>
      <p:boldItalic r:id="rId20"/>
    </p:embeddedFont>
    <p:embeddedFont>
      <p:font typeface="Century Gothic" panose="020B050202020202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74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Relationship Id="rId23" Type="http://schemas.openxmlformats.org/officeDocument/2006/relationships/font" Target="fonts/font7.fntdata"/><Relationship Id="rId24" Type="http://schemas.openxmlformats.org/officeDocument/2006/relationships/font" Target="fonts/font8.fntdata"/><Relationship Id="rId25" Type="http://customschemas.google.com/relationships/presentationmetadata" Target="meta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P.6-7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P.11-14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154863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アプリが入っていない場合は、通知内容に関連するWebページへ遷移する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シームレスな導線で、ユーザー体験が向上する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6590" y="5064026"/>
            <a:ext cx="8592820" cy="12146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費用と必要な手続き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</a:t>
            </a:r>
            <a:br>
              <a:rPr lang="en-US" sz="1400" dirty="0">
                <a:solidFill>
                  <a:srgbClr val="333333"/>
                </a:solidFill>
                <a:latin typeface="メイリオ"/>
              </a:rPr>
            </a:br>
            <a:r>
              <a:rPr sz="1400" dirty="0" err="1">
                <a:solidFill>
                  <a:srgbClr val="333333"/>
                </a:solidFill>
                <a:latin typeface="メイリオ"/>
              </a:rPr>
              <a:t>申し込みはLBPMのUX追加申請から</a:t>
            </a:r>
            <a:r>
              <a:rPr lang="ja-JP" altLang="en-US" sz="14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行う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317296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 dirty="0">
                <a:solidFill>
                  <a:srgbClr val="15133D"/>
                </a:solidFill>
                <a:latin typeface="メイリオ"/>
              </a:rPr>
              <a:t>審査で確認される4つの条件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遷移の方式：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iPhone／Androidの標準の仕組み（Universal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links／App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Links）でアプリを開くこと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ドメインの一致：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</a:t>
            </a:r>
            <a:endParaRPr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アプリ未インストール時：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通知内容に関連するWebページを表示すること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（App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Store／Google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 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Playへの自動遷移は不可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1" dirty="0">
                <a:solidFill>
                  <a:srgbClr val="15133D"/>
                </a:solidFill>
                <a:latin typeface="メイリオ"/>
              </a:rPr>
              <a:t>■ 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表示内容の一致：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アプリとWebで同じ内容を表示すること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（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アプリはマイページ・Webはトップページ、のような構成は不可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LINE通知メッセージの「UX追加申請」は、新しい通知の型を使うときに出す申請。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2026年9月9日（水）から、LBPM上の発注画面と、請求書の発行元が変わった。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過去に作った申請は編集しても受領されないため、既存の案件をコピーして作り直す必要がある。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lang="ja-JP" altLang="en-US" sz="2000" b="1" dirty="0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請求書の発行元が、AGPからLBPM</a:t>
            </a:r>
            <a:r>
              <a:rPr lang="ja-JP" altLang="en-US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</a:t>
            </a:r>
            <a:r>
              <a:rPr sz="1400" dirty="0">
                <a:solidFill>
                  <a:srgbClr val="333333"/>
                </a:solidFill>
                <a:latin typeface="メイリオ"/>
              </a:rPr>
              <a:t>（2026年9月受領分＝10月初めに発行される請求書から）。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>
                <a:solidFill>
                  <a:srgbClr val="333333"/>
                </a:solidFill>
                <a:latin typeface="メイリオ"/>
              </a:rPr>
              <a:t>・</a:t>
            </a:r>
            <a:r>
              <a:rPr sz="1400" dirty="0" err="1">
                <a:solidFill>
                  <a:srgbClr val="333333"/>
                </a:solidFill>
                <a:latin typeface="メイリオ"/>
              </a:rPr>
              <a:t>LBPM上の発注画面と申請方法</a:t>
            </a:r>
            <a:endParaRPr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新しい発注画面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・申請フォームを入力すると、そのあとに金額の計算画面が出る。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・請求書は、LBPMのメニューの「請求書DL」からダウンロードする。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【LINEシリアルコードスタンプ】新商品のご案内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2026年10月1日リリースの新商材。シリアルコードを入力した人だけが無料スタンプをもらえる。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コードの発行は発注を受けた後。印刷・配布がある場合は、その日数も見込んでスケジュールを組む。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告知やコード配布のルールに違反すると、Apple・Googleの指摘でキャンペーン停止になる場合も。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749131"/>
              </p:ext>
            </p:extLst>
          </p:nvPr>
        </p:nvGraphicFramePr>
        <p:xfrm>
          <a:off x="656590" y="3332508"/>
          <a:ext cx="859129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83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OK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NG</a:t>
                      </a:r>
                    </a:p>
                  </a:txBody>
                  <a:tcPr marL="109728" marR="109728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告知してよい場所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広告主のLINE公式アカウント・アプリ・SNS、Web全般（LINEヤフー広告も可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店頭POP・屋外広告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LINEヤフーが持つアプリ（スタンプショップ、LINEミニアプリ、LINEヤフーの公式アカウントなど）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コードを渡す条件</a:t>
                      </a:r>
                    </a:p>
                  </a:txBody>
                  <a:tcPr marL="109728" marR="10972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333333"/>
                          </a:solidFill>
                          <a:latin typeface="メイリオ"/>
                        </a:rPr>
                        <a:t>Webでの行動（商品購入など）、店頭での行動（来店・購入）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LINEアプリ内の行動（友だち追加・アンケート回答、ミニアプリ内の行動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広告主アプリ内の行動（会員登録など</a:t>
                      </a:r>
                      <a:r>
                        <a:rPr sz="1300" dirty="0">
                          <a:solidFill>
                            <a:srgbClr val="333333"/>
                          </a:solidFill>
                          <a:latin typeface="メイリオ"/>
                        </a:rPr>
                        <a:t>）、</a:t>
                      </a:r>
                      <a:r>
                        <a:rPr sz="130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アプリのダウンロードが必須のもの</a:t>
                      </a:r>
                      <a:endParaRPr sz="130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58114" y="5868040"/>
            <a:ext cx="8591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333333"/>
                </a:solidFill>
                <a:latin typeface="メイリオ"/>
              </a:rPr>
              <a:t>※ スタンプをもらうまでの流れに、アプリへの遷移が少しでも入るとNG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【LINEシリアルコードスタンプ】クリエイティブ基準の緩和と進め方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LINEシリアルコードスタンプに限り、クリエイティブの基準が3点緩和されている。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審査から開始までの流れと、コード発行・入稿の締切を押さえておく。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詳細は「LINEシリアルコードスタンプ 進行ガイド（2026年10月版）」に記載。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656590" y="3332508"/>
            <a:ext cx="859282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クリエイティブの基準緩和（この商品だけ）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・飲酒表現：可（「お酒は20歳になってから」の注記が必須）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・実写素材：タレントの写真や、CM・ポスター素材の転用が可（品質基準あり。肖像権の処理は広告主側）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・PR要素（ロゴ・商品パッケージ）：通常は全体の1/4までのところ、個数の制限なし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6590" y="4992271"/>
            <a:ext cx="8592820" cy="1476883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進め方の要点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・流れ：審査（広告主・キャンペーン内容）→ 発注 → シリアルコード発行 → 入稿 → 開始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・コードは申請から3営業日を目安にCSVで納品（テスト用1,000件付き）。追加発注は不可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・入稿の締切は、静止画で開始の6営業日前から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変更点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・ユニットごとの統計情報を、LINE通知メッセージでもAPIで取得できるようになった。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・ユニットごとに、開封数・URLタップ数などを確認できる。</a:t>
            </a:r>
          </a:p>
        </p:txBody>
      </p:sp>
      <p:sp>
        <p:nvSpPr>
          <p:cNvPr id="70" name="Rounded Rectangle 67_note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注意点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・ユニット名は送るときに付ける（1通に1つ・後から変更不可・月1,000種類まで）。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・20人未満の数字は表示されない。送信数は取れないため、開封率の分母は自社で持っておく。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656590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580288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03986" y="3332508"/>
            <a:ext cx="2745423" cy="80467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2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699988"/>
              </p:ext>
            </p:extLst>
          </p:nvPr>
        </p:nvGraphicFramePr>
        <p:xfrm>
          <a:off x="656590" y="4210332"/>
          <a:ext cx="859282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2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2026/12/1（火）〜2027/3/31（水）　※2027/3/31までに掲載が終わる案件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Friends Swipe AD／Friends Video AD　※リーチ最適化配信を含む。デリタゲ配信は対象外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対象の配信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最低発注金額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200万円〜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注意点</a:t>
                      </a:r>
                    </a:p>
                  </a:txBody>
                  <a:tcPr marL="109728" marR="109728" marT="18288" marB="18288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・発注時、備考欄に「FY26 Winter Campaign適用」と記載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・配信中・発注受領済みの案件には適用できない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・他の割引・キャンペーンとは併用できない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・記載のない条件は、最新の媒体資料に準拠</a:t>
                      </a:r>
                    </a:p>
                  </a:txBody>
                  <a:tcPr marL="109728" marR="10972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_p10_0"/>
          <p:cNvSpPr/>
          <p:nvPr/>
        </p:nvSpPr>
        <p:spPr>
          <a:xfrm>
            <a:off x="656590" y="3332508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価格（改定前 → 改定後）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・プリンター：37,000円 → 41,700円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・キャッシュドロアー：16,000円 → 17,700円</a:t>
            </a:r>
          </a:p>
        </p:txBody>
      </p:sp>
      <p:sp>
        <p:nvSpPr>
          <p:cNvPr id="70" name="Rounded Rectangle 67_p10_1"/>
          <p:cNvSpPr/>
          <p:nvPr/>
        </p:nvSpPr>
        <p:spPr>
          <a:xfrm>
            <a:off x="656590" y="4806216"/>
            <a:ext cx="8592820" cy="1290828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 dirty="0" err="1">
                <a:solidFill>
                  <a:srgbClr val="15133D"/>
                </a:solidFill>
                <a:latin typeface="メイリオ"/>
              </a:rPr>
              <a:t>適用時期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・2027年2月上旬の予定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dirty="0" err="1">
                <a:solidFill>
                  <a:srgbClr val="333333"/>
                </a:solidFill>
                <a:latin typeface="メイリオ"/>
              </a:rPr>
              <a:t>・改定日以降に購入した機材から、改定後の価格になる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CRMオプションの媒体資料（Ver2.0・2026年9月更新）に、タオル美術館様の導入事例が2件追加された。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フォームで取った情報をもとに、クーポンの配信と商品の出し分けを行った事例。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フォームの回答数は約2.0倍、配信のクリック率は約2.8倍になった。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6590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① 誕生月クーポンでフォームの回答を促進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回答数 約2.0倍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・課題：リサーチ機能でアンケートを取っていたが、回答数が伸びない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・解決策：誕生月を聞くフォームを置き、回答した月ごとにクーポンを配信。店頭チラシ・リッチメニュー・あいさつメッセージで回答を促した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・結果：リサーチ機能のときと比べて、ひと月あたりの回答数が約2.0倍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137" y="3332508"/>
            <a:ext cx="4207272" cy="2606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② キャラクターコラボ商品の出し分け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spcBef>
                <a:spcPts val="0"/>
              </a:spcBef>
            </a:pPr>
            <a:r>
              <a:rPr sz="1900" b="1" dirty="0" err="1">
                <a:solidFill>
                  <a:srgbClr val="3467B2"/>
                </a:solidFill>
                <a:latin typeface="メイリオ"/>
              </a:rPr>
              <a:t>クリック率 約2.8倍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・課題：コラボ商品を一斉配信しても、開封・クリックにつながらない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・解決策：フォームの回答で好きなキャラクターのタグを付け、コラボ商品の配信を出し分け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・結果：一斉配信と比べて、クリック率が約2.8倍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【CRMオプション】おすすめの対象とよくある悩み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CRMオプションは、LINE公式アカウントの中で手軽に完結する顧客管理（CRM）の機能。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フォームで顧客のニーズを集め、顧客ごとにデータを整理して、顧客ごとの配信に使える。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月額5,000円（税別）から始められる。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Rounded Rectangle 67"/>
          <p:cNvSpPr/>
          <p:nvPr/>
        </p:nvSpPr>
        <p:spPr>
          <a:xfrm>
            <a:off x="658115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おすすめの対象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・配信しているが、成果が伸び悩んでいる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・顧客管理ができていない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・チャット対応が中心で、配信をうまく使えていない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0" name="Rounded Rectangle 67"/>
          <p:cNvSpPr/>
          <p:nvPr/>
        </p:nvSpPr>
        <p:spPr>
          <a:xfrm>
            <a:off x="5042883" y="3332508"/>
            <a:ext cx="4206526" cy="1561492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料金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・月額5,000円（税別）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・チャットProオプションを含む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・LINE公式アカウントのプラン代は別途かかる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・初期サポート：20,000円（税別）・1回のみ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  <p:sp>
        <p:nvSpPr>
          <p:cNvPr id="71" name="Rounded Rectangle 67"/>
          <p:cNvSpPr/>
          <p:nvPr/>
        </p:nvSpPr>
        <p:spPr>
          <a:xfrm>
            <a:off x="656590" y="5049097"/>
            <a:ext cx="8591294" cy="13258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よくある悩み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・誰に送るかが曖昧：興味のある人・ない人が混ざった配信になっている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・顧客情報が整理されていない：チャット・タグなどに情報が散らばっている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00" dirty="0" err="1">
                <a:solidFill>
                  <a:srgbClr val="333333"/>
                </a:solidFill>
                <a:latin typeface="メイリオ"/>
              </a:rPr>
              <a:t>・運用が担当者まかせ：経験や感覚に頼っていて、情報が配信に使える形で貯まっていない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【CRMオプション】導入で変わることと4つの機能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CRMオプションを入れると、一斉配信が中心の運用から、顧客ごとに最適な配信に変えられる。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フォーム・ユーザーリスト・ユーザーリスト配信・オートメーションの4つの機能を、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LINE公式アカウントの管理画面ひとつで使える。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91505"/>
              </p:ext>
            </p:extLst>
          </p:nvPr>
        </p:nvGraphicFramePr>
        <p:xfrm>
          <a:off x="656590" y="3332508"/>
          <a:ext cx="85928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96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9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導入で変わること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Before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</a:rPr>
                        <a:t>After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配信の方法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一斉配信が中心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顧客ごとに最適な配信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顧客の理解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あいまいな分類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実データで分類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33D"/>
                          </a:solidFill>
                          <a:latin typeface="メイリオ"/>
                        </a:rPr>
                        <a:t>データ管理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手作業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3333"/>
                          </a:solidFill>
                          <a:latin typeface="メイリオ"/>
                        </a:rPr>
                        <a:t>自動で整理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9" name="Rounded Rectangle 67"/>
          <p:cNvSpPr/>
          <p:nvPr/>
        </p:nvSpPr>
        <p:spPr>
          <a:xfrm>
            <a:off x="656590" y="4704108"/>
            <a:ext cx="8592820" cy="16002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t"/>
          <a:lstStyle/>
          <a:p>
            <a:pPr algn="l"/>
            <a:r>
              <a:rPr sz="1600" b="1" dirty="0" err="1">
                <a:solidFill>
                  <a:srgbClr val="15133D"/>
                </a:solidFill>
                <a:latin typeface="メイリオ"/>
              </a:rPr>
              <a:t>4つの機能</a:t>
            </a:r>
            <a:endParaRPr sz="20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・フォーム：質問への回答に応じて、自動でタグを付ける・外す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・ユーザーリスト：顧客ごとのニーズ・属性・最後の行動がひと目で分かる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・ユーザーリスト配信：タグ・属性で配信先を絞り込める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dirty="0" err="1">
                <a:solidFill>
                  <a:srgbClr val="333333"/>
                </a:solidFill>
                <a:latin typeface="メイリオ"/>
              </a:rPr>
              <a:t>・オートメーション：フォームの回答・タグの付与・誕生日をきっかけに自動配信</a:t>
            </a:r>
            <a:endParaRPr lang="en-US" sz="1400" dirty="0">
              <a:solidFill>
                <a:srgbClr val="333333"/>
              </a:solidFill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【CRMオプション】業種別の活用例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フォームで聞いた内容をタグにして、その後の配信に使う例が、業種別に紹介されている。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教育・習い事、ガソリンスタンド、アパレル・雑貨、スーパー・小売の4業種。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フォームの出し方（QRコード・メッセージ配信・あいさつメッセージ）も業種ごとに違う。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solidFill>
              <a:schemeClr val="dk2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576235"/>
              </p:ext>
            </p:extLst>
          </p:nvPr>
        </p:nvGraphicFramePr>
        <p:xfrm>
          <a:off x="547075" y="3152534"/>
          <a:ext cx="9061626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64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9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  <a:latin typeface="メイリオ"/>
                        </a:rPr>
                        <a:t>業種</a:t>
                      </a:r>
                      <a:endParaRPr sz="1300" b="1" dirty="0">
                        <a:solidFill>
                          <a:srgbClr val="FFFFFF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フォームで聞くこと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メイリオ"/>
                        </a:rPr>
                        <a:t>その後の配信</a:t>
                      </a:r>
                    </a:p>
                  </a:txBody>
                  <a:tcPr marL="109728" marR="109728" marT="27432" marB="27432"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教育・習い事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体験授業の後に、悩み・伸ばしたい分野を聞く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同じ悩みの生徒の成功事例を自動配信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ガソリンスタンド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給油時にQRコードで、1か月の給油の頻度を聞く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回答の翌日に、お礼のクーポンを自動配信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133D"/>
                          </a:solidFill>
                          <a:latin typeface="メイリオ"/>
                        </a:rPr>
                        <a:t>アパレル・雑貨</a:t>
                      </a: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来店客に、気になったアイテムを聞く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回答の翌日に、商品の紹介とクーポンを自動配信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スーパ</a:t>
                      </a:r>
                      <a:r>
                        <a:rPr sz="1200" b="1" dirty="0">
                          <a:solidFill>
                            <a:srgbClr val="15133D"/>
                          </a:solidFill>
                          <a:latin typeface="メイリオ"/>
                        </a:rPr>
                        <a:t>ー・</a:t>
                      </a:r>
                      <a:r>
                        <a:rPr sz="1200" b="1" dirty="0" err="1">
                          <a:solidFill>
                            <a:srgbClr val="15133D"/>
                          </a:solidFill>
                          <a:latin typeface="メイリオ"/>
                        </a:rPr>
                        <a:t>小売</a:t>
                      </a:r>
                      <a:endParaRPr sz="1200" b="1" dirty="0">
                        <a:solidFill>
                          <a:srgbClr val="15133D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メイリオ"/>
                        </a:rPr>
                        <a:t>あいさつメッセージで、好みのカテゴリーを聞く</a:t>
                      </a: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3333"/>
                          </a:solidFill>
                          <a:latin typeface="メイリオ"/>
                        </a:rPr>
                        <a:t>後日、好みに合ったお得情報を配信</a:t>
                      </a:r>
                      <a:endParaRPr sz="1200" b="0" dirty="0">
                        <a:solidFill>
                          <a:srgbClr val="333333"/>
                        </a:solidFill>
                        <a:latin typeface="メイリオ"/>
                      </a:endParaRPr>
                    </a:p>
                  </a:txBody>
                  <a:tcPr marL="109728" marR="109728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1923</Words>
  <Application>Microsoft Office PowerPoint</Application>
  <PresentationFormat>A4 210 x 297 mm</PresentationFormat>
  <Paragraphs>383</Paragraphs>
  <Slides>14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Meiryo</vt:lpstr>
      <vt:lpstr>Meiryo</vt:lpstr>
      <vt:lpstr>Century Gothic</vt:lpstr>
      <vt:lpstr>Calibri</vt:lpstr>
      <vt:lpstr>Arial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6</cp:revision>
  <dcterms:created xsi:type="dcterms:W3CDTF">2021-08-26T12:24:15Z</dcterms:created>
  <dcterms:modified xsi:type="dcterms:W3CDTF">2026-10-26T07:58:34Z</dcterms:modified>
</cp:coreProperties>
</file>