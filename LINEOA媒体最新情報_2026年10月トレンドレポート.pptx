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1" r:id="rId6"/>
    <p:sldId id="263" r:id="rId7"/>
    <p:sldId id="264" r:id="rId8"/>
    <p:sldId id="265" r:id="rId9"/>
    <p:sldId id="266" r:id="rId10"/>
  </p:sldIdLst>
  <p:sldSz cx="9906000" cy="6858000" type="A4"/>
  <p:notesSz cx="6799263" cy="9929813"/>
  <p:embeddedFontLst>
    <p:embeddedFont>
      <p:font typeface="Meiryo" panose="020B0604030504040204" pitchFamily="50" charset="-128"/>
      <p:regular r:id="rId12"/>
      <p:bold r:id="rId13"/>
      <p:italic r:id="rId14"/>
      <p:boldItalic r:id="rId15"/>
    </p:embeddedFont>
    <p:embeddedFont>
      <p:font typeface="Meiryo" panose="020B0604030504040204" pitchFamily="50" charset="-128"/>
      <p:regular r:id="rId12"/>
      <p:bold r:id="rId13"/>
      <p:italic r:id="rId14"/>
      <p:boldItalic r:id="rId15"/>
    </p:embeddedFont>
    <p:embeddedFont>
      <p:font typeface="Century Gothic" panose="020B0502020202020204" pitchFamily="34" charset="0"/>
      <p:regular r:id="rId16"/>
      <p:bold r:id="rId17"/>
      <p:italic r:id="rId18"/>
      <p:boldItalic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2" roundtripDataSignature="AMtx7mgQCoaVnfxROPv51WSWo8GFar7+G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232AC2F-9110-45D6-A1EA-E37EBF87FD90}">
  <a:tblStyle styleId="{5232AC2F-9110-45D6-A1EA-E37EBF87FD9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3" d="100"/>
          <a:sy n="73" d="100"/>
        </p:scale>
        <p:origin x="84" y="7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font" Target="fonts/font1.fntdata"/><Relationship Id="rId13" Type="http://schemas.openxmlformats.org/officeDocument/2006/relationships/font" Target="fonts/font2.fntdata"/><Relationship Id="rId14" Type="http://schemas.openxmlformats.org/officeDocument/2006/relationships/font" Target="fonts/font3.fntdata"/><Relationship Id="rId15" Type="http://schemas.openxmlformats.org/officeDocument/2006/relationships/font" Target="fonts/font4.fntdata"/><Relationship Id="rId16" Type="http://schemas.openxmlformats.org/officeDocument/2006/relationships/font" Target="fonts/font5.fntdata"/><Relationship Id="rId17" Type="http://schemas.openxmlformats.org/officeDocument/2006/relationships/font" Target="fonts/font6.fntdata"/><Relationship Id="rId18" Type="http://schemas.openxmlformats.org/officeDocument/2006/relationships/font" Target="fonts/font7.fntdata"/><Relationship Id="rId19" Type="http://schemas.openxmlformats.org/officeDocument/2006/relationships/font" Target="fonts/font8.fntdata"/><Relationship Id="rId22" Type="http://customschemas.google.com/relationships/presentationmetadata" Target="metadata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1" y="0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51650" y="0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711200" y="744538"/>
            <a:ext cx="5376863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1" y="9432321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51650" y="9432321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124200" y="509588"/>
            <a:ext cx="3681413" cy="25495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22" name="Google Shape;22;p1:notes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:notes"/>
          <p:cNvSpPr txBox="1">
            <a:spLocks noGrp="1"/>
          </p:cNvSpPr>
          <p:nvPr>
            <p:ph type="ftr" idx="11"/>
          </p:nvPr>
        </p:nvSpPr>
        <p:spPr>
          <a:xfrm>
            <a:off x="1" y="9432321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1:notes"/>
          <p:cNvSpPr txBox="1">
            <a:spLocks noGrp="1"/>
          </p:cNvSpPr>
          <p:nvPr>
            <p:ph type="sldNum" idx="12"/>
          </p:nvPr>
        </p:nvSpPr>
        <p:spPr>
          <a:xfrm>
            <a:off x="3851650" y="9432321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-JP" sz="1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:notes"/>
          <p:cNvSpPr txBox="1">
            <a:spLocks noGrp="1"/>
          </p:cNvSpPr>
          <p:nvPr>
            <p:ph type="body" idx="1"/>
          </p:nvPr>
        </p:nvSpPr>
        <p:spPr>
          <a:xfrm>
            <a:off x="680720" y="4783307"/>
            <a:ext cx="5445760" cy="39136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32" name="Google Shape;3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3:notes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</p:spPr>
        <p:txBody>
          <a:bodyPr spcFirstLastPara="1" wrap="square" lIns="88200" tIns="44100" rIns="88200" bIns="441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8" name="Google Shape;3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711200" y="744538"/>
            <a:ext cx="5376863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タイトル スライド">
  <p:cSld name="1_タイトル スライド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タイトルとコンテンツ">
  <p:cSld name="4_タイトルとコンテンツ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4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9" name="Google Shape;19;p14"/>
          <p:cNvCxnSpPr/>
          <p:nvPr/>
        </p:nvCxnSpPr>
        <p:spPr>
          <a:xfrm>
            <a:off x="0" y="548680"/>
            <a:ext cx="9906000" cy="0"/>
          </a:xfrm>
          <a:prstGeom prst="straightConnector1">
            <a:avLst/>
          </a:prstGeom>
          <a:noFill/>
          <a:ln w="25400" cap="flat" cmpd="sng">
            <a:solidFill>
              <a:srgbClr val="191F54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2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11;p12"/>
          <p:cNvSpPr txBox="1"/>
          <p:nvPr/>
        </p:nvSpPr>
        <p:spPr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Copyright(c) 2025 DYM inc. All Rights Reserved.</a:t>
            </a:r>
            <a:endParaRPr/>
          </a:p>
        </p:txBody>
      </p:sp>
      <p:sp>
        <p:nvSpPr>
          <p:cNvPr id="12" name="Google Shape;12;p12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" name="Google Shape;13;p12"/>
          <p:cNvCxnSpPr/>
          <p:nvPr/>
        </p:nvCxnSpPr>
        <p:spPr>
          <a:xfrm>
            <a:off x="0" y="548680"/>
            <a:ext cx="9906000" cy="0"/>
          </a:xfrm>
          <a:prstGeom prst="straightConnector1">
            <a:avLst/>
          </a:prstGeom>
          <a:noFill/>
          <a:ln w="25400" cap="flat" cmpd="sng">
            <a:solidFill>
              <a:srgbClr val="00324B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4" name="Google Shape;14;p12"/>
          <p:cNvPicPr preferRelativeResize="0"/>
          <p:nvPr/>
        </p:nvPicPr>
        <p:blipFill rotWithShape="1">
          <a:blip r:embed="rId4">
            <a:alphaModFix/>
          </a:blip>
          <a:srcRect l="-1647" r="-11171"/>
          <a:stretch/>
        </p:blipFill>
        <p:spPr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12"/>
          <p:cNvSpPr txBox="1"/>
          <p:nvPr/>
        </p:nvSpPr>
        <p:spPr>
          <a:xfrm>
            <a:off x="7545288" y="6571255"/>
            <a:ext cx="2133600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5200" rIns="91425" bIns="4570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 sz="1400" b="0" i="1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‹#›</a:t>
            </a:fld>
            <a:endParaRPr sz="1400" b="0" i="1" u="none" strike="noStrike" cap="non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"/>
          <p:cNvSpPr/>
          <p:nvPr/>
        </p:nvSpPr>
        <p:spPr>
          <a:xfrm>
            <a:off x="0" y="0"/>
            <a:ext cx="9906000" cy="83671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" name="Google Shape;27;p1"/>
          <p:cNvPicPr preferRelativeResize="0"/>
          <p:nvPr/>
        </p:nvPicPr>
        <p:blipFill rotWithShape="1">
          <a:blip r:embed="rId3">
            <a:alphaModFix/>
          </a:blip>
          <a:srcRect l="-1647" r="-11171"/>
          <a:stretch/>
        </p:blipFill>
        <p:spPr>
          <a:xfrm>
            <a:off x="8619408" y="188641"/>
            <a:ext cx="1192729" cy="243605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1"/>
          <p:cNvSpPr/>
          <p:nvPr/>
        </p:nvSpPr>
        <p:spPr>
          <a:xfrm>
            <a:off x="1026684" y="3645024"/>
            <a:ext cx="7873109" cy="45719"/>
          </a:xfrm>
          <a:prstGeom prst="rect">
            <a:avLst/>
          </a:prstGeom>
          <a:solidFill>
            <a:srgbClr val="1513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1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781200" y="3044550"/>
            <a:ext cx="8343600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3200" b="1" i="0" u="none" strike="noStrike" cap="none">
                <a:solidFill>
                  <a:srgbClr val="0F243E"/>
                </a:solidFill>
                <a:latin typeface="メイリオ"/>
                <a:ea typeface="Arial"/>
                <a:cs typeface="Arial"/>
                <a:sym typeface="Arial"/>
              </a:rPr>
              <a:t>2026年10月　LINEOAトレンドレポート　</a:t>
            </a:r>
            <a:endParaRPr sz="1800" b="1" i="0" u="none" strike="noStrike" cap="none">
              <a:solidFill>
                <a:srgbClr val="0F243E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34;p2_page"/>
          <p:cNvSpPr txBox="1"/>
          <p:nvPr/>
        </p:nvSpPr>
        <p:spPr>
          <a:xfrm>
            <a:off x="318183" y="1483585"/>
            <a:ext cx="1005840" cy="4279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0000" rIns="91425" bIns="9000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P.3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P.4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P.5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P.6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P.7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P.8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P.9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4" name="Google Shape;34;p2"/>
          <p:cNvSpPr txBox="1"/>
          <p:nvPr/>
        </p:nvSpPr>
        <p:spPr>
          <a:xfrm>
            <a:off x="1461183" y="1483585"/>
            <a:ext cx="8155331" cy="4279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0000" rIns="91425" bIns="9000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【LINE通知メッセージ】ネイティブアプリ遷移の条件付き解禁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【LINE通知メッセージ】UX追加申請の請求書発行をLBPMへ移行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【LINEシリアルコードスタンプ】媒体資料の更新・進行ガイドのご案内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【LINE通知メッセージ】ユニット単位の統計情報取得に対応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【LINEポイント Friends AD】FY26 冬季キャンペーン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【レストランオプション】一部機材の価格改定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【CRMオプション】導入事例の追加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5" name="Google Shape;35;p2"/>
          <p:cNvSpPr txBox="1"/>
          <p:nvPr/>
        </p:nvSpPr>
        <p:spPr>
          <a:xfrm>
            <a:off x="292801" y="62027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ja-JP" sz="1600" b="0" i="0" u="none" strike="noStrike" cap="none">
                <a:solidFill>
                  <a:srgbClr val="000000"/>
                </a:solidFill>
                <a:latin typeface="メイリオ"/>
                <a:ea typeface="Meiryo"/>
                <a:cs typeface="Meiryo"/>
                <a:sym typeface="Meiryo"/>
              </a:rPr>
              <a:t>    目次</a:t>
            </a:r>
            <a:endParaRPr sz="1600" b="0" i="0" u="none" strike="noStrike" cap="none">
              <a:solidFill>
                <a:srgbClr val="000000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EC・通販・予約サービス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（自社アプリあり）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【LINE通知メッセージ】ネイティブアプリ遷移の条件付き解禁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LINE通知メッセージのボタンから、自社のネイティブアプリを直接開けるようになった。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LINEヤフーの審査に通ることが条件で、アプリが入っていない場合はWebページへ遷移する。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2026年9月9日（水）からLBPMで審査受付を開始。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Rounded Rectangle 67"/>
          <p:cNvSpPr/>
          <p:nvPr/>
        </p:nvSpPr>
        <p:spPr>
          <a:xfrm>
            <a:off x="548640" y="3108960"/>
            <a:ext cx="4315968" cy="128016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800" b="1">
                <a:solidFill>
                  <a:srgbClr val="15133D"/>
                </a:solidFill>
                <a:latin typeface="メイリオ"/>
              </a:rPr>
              <a:t>できるようになったこと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>
                <a:solidFill>
                  <a:srgbClr val="333333"/>
                </a:solidFill>
                <a:latin typeface="メイリオ"/>
              </a:rPr>
              <a:t>通知のボタンからアプリを直接開ける。アプリが入っていない場合は、通知内容に関連するWebページへ遷移。シームレスな導線でユーザー体験が向上する。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047488" y="3108960"/>
            <a:ext cx="4315968" cy="128016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800" b="1">
                <a:solidFill>
                  <a:srgbClr val="15133D"/>
                </a:solidFill>
                <a:latin typeface="メイリオ"/>
              </a:rPr>
              <a:t>お金と手続き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>
                <a:solidFill>
                  <a:srgbClr val="333333"/>
                </a:solidFill>
                <a:latin typeface="メイリオ"/>
              </a:rPr>
              <a:t>審査費は10万円（税抜）／1UX。承認時のみ発生し、否認の場合はかからない。申し込みはLBPMで、2026年9月9日から受付中。</a:t>
            </a:r>
          </a:p>
        </p:txBody>
      </p:sp>
      <p:sp>
        <p:nvSpPr>
          <p:cNvPr id="70" name="Rounded Rectangle 67_c"/>
          <p:cNvSpPr/>
          <p:nvPr/>
        </p:nvSpPr>
        <p:spPr>
          <a:xfrm>
            <a:off x="548640" y="4572000"/>
            <a:ext cx="8814816" cy="16002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800" b="1">
                <a:solidFill>
                  <a:srgbClr val="15133D"/>
                </a:solidFill>
                <a:latin typeface="メイリオ"/>
              </a:rPr>
              <a:t>条件（審査で確認される主な項目）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>
                <a:solidFill>
                  <a:srgbClr val="333333"/>
                </a:solidFill>
                <a:latin typeface="メイリオ"/>
              </a:rPr>
              <a:t>・iPhone／Androidの標準の仕組み（Universal links／App Links）でアプリを開く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>
                <a:solidFill>
                  <a:srgbClr val="333333"/>
                </a:solidFill>
                <a:latin typeface="メイリオ"/>
              </a:rPr>
              <a:t>・送信元の公式ドメインと、遷移先URLのドメインが同じ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>
                <a:solidFill>
                  <a:srgbClr val="333333"/>
                </a:solidFill>
                <a:latin typeface="メイリオ"/>
              </a:rPr>
              <a:t>・アプリ未インストール時は、通知内容に関連するWebページを表示（ストアへの自動遷移は不可）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>
                <a:solidFill>
                  <a:srgbClr val="333333"/>
                </a:solidFill>
                <a:latin typeface="メイリオ"/>
              </a:rPr>
              <a:t>・アプリとWebで表示する内容が同じ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000">
                <a:solidFill>
                  <a:srgbClr val="333333"/>
                </a:solidFill>
                <a:latin typeface="メイリオ"/>
              </a:rPr>
              <a:t>対象プラン：エッセンシャル／パフォーマンス／アンリミテッド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通知メッセージをご利用中の全業種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【LINE通知メッセージ】UX追加申請の請求書発行をLBPMへ移行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「UX追加申請（LINE通知メッセージ）」の請求書の発行元が、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これまでのAGPからLBPMに変更される。発注画面・申請方法も合わせて変更。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2026年9月受領分（2026年10月月初の請求書発行分）から適用。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ectangle 62"/>
          <p:cNvSpPr/>
          <p:nvPr/>
        </p:nvSpPr>
        <p:spPr>
          <a:xfrm>
            <a:off x="544108" y="3068960"/>
            <a:ext cx="3354215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333333"/>
                </a:solidFill>
                <a:latin typeface="メイリオ"/>
              </a:rPr>
              <a:t>AS-IS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4108" y="3343280"/>
            <a:ext cx="3354215" cy="64008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5133D"/>
                </a:solidFill>
                <a:latin typeface="メイリオ"/>
              </a:rPr>
              <a:t>請求書はAGPから発行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898323" y="3068960"/>
            <a:ext cx="432244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3467B2"/>
                </a:solidFill>
                <a:latin typeface="メイリオ"/>
              </a:rPr>
              <a:t>▶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330568" y="3068960"/>
            <a:ext cx="5031323" cy="274320"/>
          </a:xfrm>
          <a:prstGeom prst="rect">
            <a:avLst/>
          </a:prstGeom>
          <a:solidFill>
            <a:srgbClr val="151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TO-BE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330568" y="3343280"/>
            <a:ext cx="5031323" cy="640080"/>
          </a:xfrm>
          <a:prstGeom prst="rect">
            <a:avLst/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2000" b="1">
                <a:solidFill>
                  <a:srgbClr val="15133D"/>
                </a:solidFill>
                <a:latin typeface="メイリオ"/>
              </a:rPr>
              <a:t>請求書はLBPMから発行</a:t>
            </a:r>
          </a:p>
          <a:p>
            <a:pPr>
              <a:lnSpc>
                <a:spcPct val="110000"/>
              </a:lnSpc>
              <a:spcBef>
                <a:spcPts val="500"/>
              </a:spcBef>
            </a:pPr>
            <a:r>
              <a:rPr sz="1050">
                <a:solidFill>
                  <a:srgbClr val="333333"/>
                </a:solidFill>
                <a:latin typeface="メイリオ"/>
              </a:rPr>
              <a:t>2026年9月受領分（10月月初発行分）から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44108" y="4211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既存案件は再作成が必要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過去に作成した申請を編集しても受領されない。既存案件をコピーして再作成し、LBPMから改めて発注・申請する。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039448" y="4211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アプリ遷移は有償オプション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9月9日からの新しい発注画面で、ネイティブアプリ遷移の審査を有償オプションとして選ぶ。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食品・飲料メーカー、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小売・コンビニ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【LINEシリアルコードスタンプ】媒体資料の更新・進行ガイドのご案内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2026年10月1日（木）リリースの新商品「LINEシリアルコードスタンプ」について、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媒体資料（更新版）と進行ガイド（2026年10月版）が公開された。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クリエイティブ基準の緩和と、独自のキャンペーン設計ルールがポイント。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クリエイティブ基準を3点緩和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この商品に限り、飲酒表現（注記必須）・実写素材（CM・ポスターの転用可）・PR要素の個数（全体の1/4以内→制限なし）を緩和。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39448" y="3068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告知できる面・できない面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広告主のLINE公式アカウント・アプリ・SNS・Web・店頭はOK。スタンプショップなどLINEヤフー保有アプリからの告知はNG。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44108" y="4609755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シリアルコードの付与条件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Web・オフライン（購入・来店など）での条件達成はOK。アプリ内での条件達成や、獲得までにアプリ遷移を含む導線はNG。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039448" y="4609755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コード発行は発注受領後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発注受領後にLBPMで申請し、3営業日を目途に納品。追加発注は不可。印刷・配荷がある場合はその日数も見込む。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EC・物流・金融など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通知メッセージ導入企業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出典：https://developers.line.biz/ja/docs/messaging-api/unit-based-statistics-aggregation/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【LINE通知メッセージ】ユニット単位の統計情報取得に対応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2026年9月15日（火）から、ユニットごとの統計情報を取得するAPIが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LINE通知メッセージでも利用できるようになった。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アンケートで要望の多かった機能。開封数・URLタップ数などをユニットごとに確認できる。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ectangle 62"/>
          <p:cNvSpPr/>
          <p:nvPr/>
        </p:nvSpPr>
        <p:spPr>
          <a:xfrm>
            <a:off x="544108" y="3068960"/>
            <a:ext cx="3354215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333333"/>
                </a:solidFill>
                <a:latin typeface="メイリオ"/>
              </a:rPr>
              <a:t>AS-IS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4108" y="3343280"/>
            <a:ext cx="3354215" cy="64008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15133D"/>
                </a:solidFill>
                <a:latin typeface="メイリオ"/>
              </a:rPr>
              <a:t>プライバシー保護のため、開封・タップの統計は取得できない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898323" y="3068960"/>
            <a:ext cx="432244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3467B2"/>
                </a:solidFill>
                <a:latin typeface="メイリオ"/>
              </a:rPr>
              <a:t>▶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330568" y="3068960"/>
            <a:ext cx="5031323" cy="274320"/>
          </a:xfrm>
          <a:prstGeom prst="rect">
            <a:avLst/>
          </a:prstGeom>
          <a:solidFill>
            <a:srgbClr val="151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TO-BE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330568" y="3343280"/>
            <a:ext cx="5031323" cy="640080"/>
          </a:xfrm>
          <a:prstGeom prst="rect">
            <a:avLst/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15133D"/>
                </a:solidFill>
                <a:latin typeface="メイリオ"/>
              </a:rPr>
              <a:t>ユニット単位の統計情報をAPIで取得可能に</a:t>
            </a:r>
          </a:p>
          <a:p>
            <a:pPr>
              <a:lnSpc>
                <a:spcPct val="110000"/>
              </a:lnSpc>
              <a:spcBef>
                <a:spcPts val="500"/>
              </a:spcBef>
            </a:pPr>
            <a:r>
              <a:rPr sz="1050">
                <a:solidFill>
                  <a:srgbClr val="333333"/>
                </a:solidFill>
                <a:latin typeface="メイリオ"/>
              </a:rPr>
              <a:t>開封・URLタップ・動画再生の人数をユニットごとに確認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44108" y="4211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送信時にユニット名を付ける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送信時にユニット名（1通に1つ）を指定して集計する。後から付けたり変えたりはできない。月1,000種類まで。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039448" y="4211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少ない数は表示されない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値が20未満（実人数20人未満）の項目は表示されない。送信数は含まれないため、開封率の分母は別で持っておく。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小売・食品・通信など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大規模に友だちを集めたい企業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【LINEポイント Friends AD】FY26 冬季キャンペーン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Friends Swipe AD／Friends Video ADのALL配信を対象に、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通常配信6円・リーチ最適化配信9円、付与ポイント2Pの特別単価で提供される。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2026年12月1日〜2027年3月31日までに掲載終了する案件が対象。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2107191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15133D"/>
                </a:solidFill>
                <a:latin typeface="メイリオ"/>
              </a:rPr>
              <a:t>6円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通常配信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キャンペーン特別単価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780972" y="3068960"/>
            <a:ext cx="2107191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15133D"/>
                </a:solidFill>
                <a:latin typeface="メイリオ"/>
              </a:rPr>
              <a:t>9円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リーチ最適化配信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キャンペーン特別単価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17836" y="3068960"/>
            <a:ext cx="2107191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15133D"/>
                </a:solidFill>
                <a:latin typeface="メイリオ"/>
              </a:rPr>
              <a:t>2P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付与ポイント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ALL配信限定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254700" y="3068960"/>
            <a:ext cx="2107191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15133D"/>
                </a:solidFill>
                <a:latin typeface="メイリオ"/>
              </a:rPr>
              <a:t>200万円〜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最低発注金額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最新の媒体資料に準拠</a:t>
            </a:r>
          </a:p>
        </p:txBody>
      </p:sp>
      <p:graphicFrame>
        <p:nvGraphicFramePr>
          <p:cNvPr id="67" name="Table 66"/>
          <p:cNvGraphicFramePr>
            <a:graphicFrameLocks noGrp="1"/>
          </p:cNvGraphicFramePr>
          <p:nvPr/>
        </p:nvGraphicFramePr>
        <p:xfrm>
          <a:off x="544108" y="4623440"/>
          <a:ext cx="9078296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44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999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919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200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</a:rPr>
                        <a:t>対象期間</a:t>
                      </a:r>
                    </a:p>
                  </a:txBody>
                  <a:tcPr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</a:rPr>
                        <a:t>対象メニュー</a:t>
                      </a:r>
                    </a:p>
                  </a:txBody>
                  <a:tcPr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</a:rPr>
                        <a:t>対象セグメント</a:t>
                      </a:r>
                    </a:p>
                  </a:txBody>
                  <a:tcPr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</a:rPr>
                        <a:t>対象クライアント</a:t>
                      </a:r>
                    </a:p>
                  </a:txBody>
                  <a:tcPr anchor="ctr">
                    <a:solidFill>
                      <a:srgbClr val="1513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26/12/1〜27/3/31</a:t>
                      </a:r>
                    </a:p>
                  </a:txBody>
                  <a:tcPr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Swipe AD／Video AD</a:t>
                      </a:r>
                    </a:p>
                  </a:txBody>
                  <a:tcPr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ALL配信のみ</a:t>
                      </a:r>
                    </a:p>
                  </a:txBody>
                  <a:tcPr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全クライアント</a:t>
                      </a:r>
                    </a:p>
                  </a:txBody>
                  <a:tcPr anchor="ctr">
                    <a:solidFill>
                      <a:srgbClr val="EA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8" name="Rounded Rectangle 67"/>
          <p:cNvSpPr/>
          <p:nvPr/>
        </p:nvSpPr>
        <p:spPr>
          <a:xfrm>
            <a:off x="544108" y="5629280"/>
            <a:ext cx="8817784" cy="7772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800" b="1">
                <a:solidFill>
                  <a:srgbClr val="15133D"/>
                </a:solidFill>
                <a:latin typeface="メイリオ"/>
              </a:rPr>
              <a:t>発注時の注意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備考欄に「FY26 Winter Campaign適用」と記載。配信中・発注受領済みの案件、他割引との併用、デリタゲ配信は対象外。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飲食店（レストランオプションで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店内注文を導入予定）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【レストランオプション】一部機材の価格改定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仕入れ先であるエプソン販売株式会社の価格改定に伴い、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レストランオプションで提供している一部機材の販売価格が改定（値上げ）される。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2027年2月上旬以降のお申し込み分から新価格を適用。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4322443" cy="1120584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改定時期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2027年2月上旬予定。改定日以降に購入した機材から新価格が適用される。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39448" y="3068960"/>
            <a:ext cx="4322443" cy="1120584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対象機材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EPSON製のプリンター・キャッシュドロアー。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44108" y="4372424"/>
            <a:ext cx="4322443" cy="1120584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価格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プリンター：37,000円→41,700円／キャッシュドロアー：16,000円→17,700円。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039448" y="4372424"/>
            <a:ext cx="4322443" cy="1120584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告知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OAMの申し込み導線・AGPお知らせ・飲食CMSお知らせにも掲載予定。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小売・アパレル・教育・サービス業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【CRMオプション】導入事例の追加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CRMオプションの導入事例（タオル美術館様）が、媒体資料Ver2.0に追加された。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誕生月を聞くフォームで回答数が約2.0倍、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好きなキャラクターに合わせた出し分け配信でクリック率が約2.8倍に。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① フォーム回答数 約2.0倍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リサーチ機能から、誕生月を聞くフォーム（誕生月クーポン付き）に変更。店頭チラシ・リッチメニュー・あいさつメッセージで回答を促した。</a:t>
            </a:r>
          </a:p>
        </p:txBody>
      </p:sp>
      <p:sp>
        <p:nvSpPr>
          <p:cNvPr id="65" name="Rounded Rectangle 62_add0"/>
          <p:cNvSpPr/>
          <p:nvPr/>
        </p:nvSpPr>
        <p:spPr>
          <a:xfrm>
            <a:off x="544108" y="4609755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月額5,000円（税別）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チャットProオプションを含む。別途LINE公式アカウントのプラン料金がかかる。初期サポート（2万円・1回）も用意。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39448" y="3068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② 配信のクリック率 約2.8倍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好きなキャラクターをフォームで聞いてタグを付け、コラボ商品の配信を出し分け。従来の一斉配信と比べてクリック率が約2.8倍。</a:t>
            </a:r>
          </a:p>
        </p:txBody>
      </p:sp>
      <p:sp>
        <p:nvSpPr>
          <p:cNvPr id="66" name="Rounded Rectangle 63_add1"/>
          <p:cNvSpPr/>
          <p:nvPr/>
        </p:nvSpPr>
        <p:spPr>
          <a:xfrm>
            <a:off x="5039448" y="4609755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利用条件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認証済みアカウントとビジネスマネージャーの接続、友だち数10万人未満が条件。レストラン・Beauty・チャットProとは同時に契約できない。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YMJAPAN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​​テーマ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1154</Words>
  <Application>Microsoft Office PowerPoint</Application>
  <PresentationFormat>A4 210 x 297 mm</PresentationFormat>
  <Paragraphs>234</Paragraphs>
  <Slides>9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5" baseType="lpstr">
      <vt:lpstr>Meiryo</vt:lpstr>
      <vt:lpstr>Century Gothic</vt:lpstr>
      <vt:lpstr>Arial</vt:lpstr>
      <vt:lpstr>Calibri</vt:lpstr>
      <vt:lpstr>Meiryo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横田 澪央</dc:creator>
  <cp:lastModifiedBy>殿村 亮太</cp:lastModifiedBy>
  <cp:revision>3</cp:revision>
  <dcterms:created xsi:type="dcterms:W3CDTF">2021-08-26T12:24:15Z</dcterms:created>
  <dcterms:modified xsi:type="dcterms:W3CDTF">2026-10-21T06:38:00Z</dcterms:modified>
</cp:coreProperties>
</file>