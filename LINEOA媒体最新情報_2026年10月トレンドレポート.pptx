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8"/>
    <p:sldId id="263" r:id="rId9"/>
    <p:sldId id="264" r:id="rId10"/>
    <p:sldId id="265" r:id="rId11"/>
    <p:sldId id="266" r:id="rId12"/>
    <p:sldId id="270" r:id="rId13"/>
    <p:sldId id="271" r:id="rId14"/>
    <p:sldId id="272" r:id="rId15"/>
  </p:sldIdLst>
  <p:sldSz cx="9906000" cy="6858000" type="A4"/>
  <p:notesSz cx="6799263" cy="9929813"/>
  <p:embeddedFontLst>
    <p:embeddedFont>
      <p:font typeface="Meiryo" panose="020B0604030504040204" pitchFamily="50" charset="-128"/>
      <p:regular r:id="rId17"/>
      <p:bold r:id="rId18"/>
      <p:italic r:id="rId19"/>
      <p:boldItalic r:id="rId20"/>
    </p:embeddedFont>
    <p:embeddedFont>
      <p:font typeface="Meiryo" panose="020B0604030504040204" pitchFamily="50" charset="-128"/>
      <p:regular r:id="rId17"/>
      <p:bold r:id="rId18"/>
      <p:italic r:id="rId19"/>
      <p:boldItalic r:id="rId20"/>
    </p:embeddedFont>
    <p:embeddedFont>
      <p:font typeface="Century Gothic" panose="020B0502020202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748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P.11-14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749131"/>
              </p:ext>
            </p:extLst>
          </p:nvPr>
        </p:nvGraphicFramePr>
        <p:xfrm>
          <a:off x="547076" y="3279367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5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店頭POP・屋外広告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広告主アプリ内の行動（会員登録など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アプリのダウンロードが必須のもの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709930" y="3158975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709930" y="4632683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7075" y="3069035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46307" y="3069035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45539" y="3069035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699988"/>
              </p:ext>
            </p:extLst>
          </p:nvPr>
        </p:nvGraphicFramePr>
        <p:xfrm>
          <a:off x="547075" y="4029155"/>
          <a:ext cx="8814816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4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注意点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・発注時、備考欄に「FY26 Winter Campaign適用」と記載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・配信中・発注受領済みの案件には適用できない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・他の割引・キャンペーンとは併用できない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・記載のない条件は、最新の媒体資料に準拠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_p10_0"/>
          <p:cNvSpPr/>
          <p:nvPr/>
        </p:nvSpPr>
        <p:spPr>
          <a:xfrm>
            <a:off x="2319020" y="3143054"/>
            <a:ext cx="526796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価格（改定前 → 改定後）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・プリンター：37,000円 → 41,700円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・キャッシュドロアー：16,000円 → 17,700円</a:t>
            </a:r>
          </a:p>
        </p:txBody>
      </p:sp>
      <p:sp>
        <p:nvSpPr>
          <p:cNvPr id="70" name="Rounded Rectangle 67_p10_1"/>
          <p:cNvSpPr/>
          <p:nvPr/>
        </p:nvSpPr>
        <p:spPr>
          <a:xfrm>
            <a:off x="2319020" y="4616762"/>
            <a:ext cx="526796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適用時期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・2027年2月上旬の予定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・改定日以降に購入した機材から、改定後の価格になる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CRMオプションの媒体資料（Ver2.0・2026年9月更新）に、タオル美術館様の導入事例が2件追加された。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フォームで取った情報をもとに、クーポンの配信と商品の出し分けを行った事例。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フォームの回答数は約2.0倍、配信のクリック率は約2.8倍になった。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544108" y="3307579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500" b="1" dirty="0" err="1">
                <a:solidFill>
                  <a:srgbClr val="15133D"/>
                </a:solidFill>
                <a:latin typeface="メイリオ"/>
              </a:rPr>
              <a:t>① 誕生月クーポンでフォームの回答を促進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回答数 約2.0倍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・課題：リサーチ機能でアンケートを取っていたが、回答数が伸びない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・解決策：誕生月を聞くフォームを置き、回答した月ごとにクーポンを配信。店頭チラシ・リッチメニュー・あいさつメッセージで回答を促した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・結果：リサーチ機能のときと比べて、ひと月あたりの回答数が約2.0倍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956" y="3307579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500" b="1" dirty="0" err="1">
                <a:solidFill>
                  <a:srgbClr val="15133D"/>
                </a:solidFill>
                <a:latin typeface="メイリオ"/>
              </a:rPr>
              <a:t>② キャラクターコラボ商品の出し分け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クリック率 約2.8倍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・課題：コラボ商品を一斉配信しても、開封・クリックにつながらない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・解決策：フォームの回答で好きなキャラクターのタグを付け、コラボ商品の配信を出し分け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・結果：一斉配信と比べて、クリック率が約2.8倍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【CRMオプション】おすすめの対象とよくある悩み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CRMオプションは、LINE公式アカウントの中で手軽に完結する顧客管理（CRM）の機能。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フォームで顧客のニーズを集め、顧客ごとにデータを整理して、顧客ごとの配信に使える。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月額5,000円（税別）から始められる。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548640" y="3185999"/>
            <a:ext cx="4315968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おすすめの対象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・配信しているが、成果が伸び悩んでいる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・顧客管理ができていない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・チャット対応が中心で、配信をうまく使えていない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7488" y="3185999"/>
            <a:ext cx="4315968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料金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・月額5,000円（税別）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・チャットProオプションを含む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・LINE公式アカウントのプラン代は別途かかる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・初期サポート：20,000円（税別）・1回のみ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1" name="Rounded Rectangle 67"/>
          <p:cNvSpPr/>
          <p:nvPr/>
        </p:nvSpPr>
        <p:spPr>
          <a:xfrm>
            <a:off x="547075" y="4902588"/>
            <a:ext cx="8814816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よくある悩み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・誰に送るかが曖昧：興味のある人・ない人が混ざった配信になっている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・顧客情報が整理されていない：チャット・タグなどに情報が散らばっている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・運用が担当者まかせ：経験や感覚に頼っていて、情報が配信に使える形で貯まっていない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【CRMオプション】導入で変わることと4つの機能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CRMオプションを入れると、一斉配信が中心の運用から、顧客ごとに最適な配信に変えられる。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フォーム・ユーザーリスト・ユーザーリスト配信・オートメーションの4つの機能を、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LINE公式アカウントの管理画面ひとつで使える。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91505"/>
              </p:ext>
            </p:extLst>
          </p:nvPr>
        </p:nvGraphicFramePr>
        <p:xfrm>
          <a:off x="547075" y="3155245"/>
          <a:ext cx="8814816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8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387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導入で変わること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Before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After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配信の方法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一斉配信が中心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顧客ごとに最適な配信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顧客の理解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あいまいな分類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実データで分類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データ管理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手作業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自動で整理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9" name="Rounded Rectangle 67"/>
          <p:cNvSpPr/>
          <p:nvPr/>
        </p:nvSpPr>
        <p:spPr>
          <a:xfrm>
            <a:off x="547075" y="4526845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4つの機能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・フォーム：質問への回答に応じて、自動でタグを付ける・外す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・ユーザーリスト：顧客ごとのニーズ・属性・最後の行動がひと目で分かる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・ユーザーリスト配信：タグ・属性で配信先を絞り込める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・オートメーション：フォームの回答・タグの付与・誕生日をきっかけに自動配信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【CRMオプション】業種別の活用例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フォームで聞いた内容をタグにして、その後の配信に使う例が、業種別に紹介されている。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教育・習い事、ガソリンスタンド、アパレル・雑貨、スーパー・小売の4業種。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フォームの出し方（QRコード・メッセージ配信・あいさつメッセージ）も業種ごとに違う。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576235"/>
              </p:ext>
            </p:extLst>
          </p:nvPr>
        </p:nvGraphicFramePr>
        <p:xfrm>
          <a:off x="547075" y="3152534"/>
          <a:ext cx="9061626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6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  <a:latin typeface="メイリオ"/>
                        </a:rPr>
                        <a:t>業種</a:t>
                      </a:r>
                      <a:endParaRPr sz="1300" b="1" dirty="0">
                        <a:solidFill>
                          <a:srgbClr val="FFFFFF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フォームで聞くこと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その後の配信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教育・習い事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体験授業の後に、悩み・伸ばしたい分野を聞く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同じ悩みの生徒の成功事例を自動配信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ガソリンスタンド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給油時にQRコードで、1か月の給油の頻度を聞く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回答の翌日に、お礼のクーポンを自動配信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アパレル・雑貨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来店客に、気になったアイテムを聞く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回答の翌日に、商品の紹介とクーポンを自動配信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スーパ</a:t>
                      </a:r>
                      <a:r>
                        <a:rPr sz="1200" b="1" dirty="0">
                          <a:solidFill>
                            <a:srgbClr val="15133D"/>
                          </a:solidFill>
                          <a:latin typeface="メイリオ"/>
                        </a:rPr>
                        <a:t>ー・</a:t>
                      </a:r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小売</a:t>
                      </a:r>
                      <a:endParaRPr sz="1200" b="1" dirty="0">
                        <a:solidFill>
                          <a:srgbClr val="15133D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あいさつメッセージで、好みのカテゴリーを聞く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後日、好みに合ったお得情報を配信</a:t>
                      </a:r>
                      <a:endParaRPr sz="1200" b="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1923</Words>
  <Application>Microsoft Office PowerPoint</Application>
  <PresentationFormat>A4 210 x 297 mm</PresentationFormat>
  <Paragraphs>383</Paragraphs>
  <Slides>14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0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6</cp:revision>
  <dcterms:created xsi:type="dcterms:W3CDTF">2021-08-26T12:24:15Z</dcterms:created>
  <dcterms:modified xsi:type="dcterms:W3CDTF">2026-10-26T07:58:34Z</dcterms:modified>
</cp:coreProperties>
</file>