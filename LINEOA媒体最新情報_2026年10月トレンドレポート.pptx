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67" r:id="rId5"/>
    <p:sldId id="268" r:id="rId6"/>
    <p:sldId id="261" r:id="rId7"/>
    <p:sldId id="269" r:id="rId21"/>
    <p:sldId id="263" r:id="rId8"/>
    <p:sldId id="264" r:id="rId9"/>
    <p:sldId id="265" r:id="rId10"/>
    <p:sldId id="266" r:id="rId11"/>
  </p:sldIdLst>
  <p:sldSz cx="9906000" cy="6858000" type="A4"/>
  <p:notesSz cx="6799263" cy="9929813"/>
  <p:embeddedFontLst>
    <p:embeddedFont>
      <p:font typeface="Meiryo" panose="020B0604030504040204" pitchFamily="50" charset="-128"/>
      <p:regular r:id="rId13"/>
      <p:bold r:id="rId14"/>
      <p:italic r:id="rId15"/>
      <p:boldItalic r:id="rId16"/>
    </p:embeddedFont>
    <p:embeddedFont>
      <p:font typeface="Meiryo" panose="020B0604030504040204" pitchFamily="50" charset="-128"/>
      <p:regular r:id="rId13"/>
      <p:bold r:id="rId14"/>
      <p:italic r:id="rId15"/>
      <p:boldItalic r:id="rId16"/>
    </p:embeddedFont>
    <p:embeddedFont>
      <p:font typeface="Century Gothic" panose="020B0502020202020204" pitchFamily="34" charset="0"/>
      <p:regular r:id="rId17"/>
      <p:bold r:id="rId18"/>
      <p:italic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2" roundtripDataSignature="AMtx7mgQCoaVnfxROPv51WSWo8GFar7+G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232AC2F-9110-45D6-A1EA-E37EBF87FD90}">
  <a:tblStyle styleId="{5232AC2F-9110-45D6-A1EA-E37EBF87FD9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157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notesMaster" Target="notesMasters/notesMaster1.xml"/><Relationship Id="rId13" Type="http://schemas.openxmlformats.org/officeDocument/2006/relationships/font" Target="fonts/font1.fntdata"/><Relationship Id="rId14" Type="http://schemas.openxmlformats.org/officeDocument/2006/relationships/font" Target="fonts/font2.fntdata"/><Relationship Id="rId15" Type="http://schemas.openxmlformats.org/officeDocument/2006/relationships/font" Target="fonts/font3.fntdata"/><Relationship Id="rId16" Type="http://schemas.openxmlformats.org/officeDocument/2006/relationships/font" Target="fonts/font4.fntdata"/><Relationship Id="rId17" Type="http://schemas.openxmlformats.org/officeDocument/2006/relationships/font" Target="fonts/font5.fntdata"/><Relationship Id="rId18" Type="http://schemas.openxmlformats.org/officeDocument/2006/relationships/font" Target="fonts/font6.fntdata"/><Relationship Id="rId19" Type="http://schemas.openxmlformats.org/officeDocument/2006/relationships/font" Target="fonts/font7.fntdata"/><Relationship Id="rId20" Type="http://schemas.openxmlformats.org/officeDocument/2006/relationships/font" Target="fonts/font8.fntdata"/><Relationship Id="rId21" Type="http://schemas.openxmlformats.org/officeDocument/2006/relationships/slide" Target="slides/slide7.xml"/><Relationship Id="rId22" Type="http://customschemas.google.com/relationships/presentationmetadata" Target="metadata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1" y="0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51650" y="0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711200" y="744538"/>
            <a:ext cx="5376863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1" y="9432321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51650" y="9432321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124200" y="509588"/>
            <a:ext cx="3681413" cy="25495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22" name="Google Shape;22;p1:notes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:notes"/>
          <p:cNvSpPr txBox="1">
            <a:spLocks noGrp="1"/>
          </p:cNvSpPr>
          <p:nvPr>
            <p:ph type="ftr" idx="11"/>
          </p:nvPr>
        </p:nvSpPr>
        <p:spPr>
          <a:xfrm>
            <a:off x="1" y="9432321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1:notes"/>
          <p:cNvSpPr txBox="1">
            <a:spLocks noGrp="1"/>
          </p:cNvSpPr>
          <p:nvPr>
            <p:ph type="sldNum" idx="12"/>
          </p:nvPr>
        </p:nvSpPr>
        <p:spPr>
          <a:xfrm>
            <a:off x="3851650" y="9432321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-JP" sz="1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:notes"/>
          <p:cNvSpPr txBox="1">
            <a:spLocks noGrp="1"/>
          </p:cNvSpPr>
          <p:nvPr>
            <p:ph type="body" idx="1"/>
          </p:nvPr>
        </p:nvSpPr>
        <p:spPr>
          <a:xfrm>
            <a:off x="680720" y="4783307"/>
            <a:ext cx="5445760" cy="39136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32" name="Google Shape;3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3:notes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</p:spPr>
        <p:txBody>
          <a:bodyPr spcFirstLastPara="1" wrap="square" lIns="88200" tIns="44100" rIns="88200" bIns="441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8" name="Google Shape;3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711200" y="744538"/>
            <a:ext cx="5376863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タイトル スライド">
  <p:cSld name="1_タイトル スライド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タイトルとコンテンツ">
  <p:cSld name="4_タイトルとコンテンツ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4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9" name="Google Shape;19;p14"/>
          <p:cNvCxnSpPr/>
          <p:nvPr/>
        </p:nvCxnSpPr>
        <p:spPr>
          <a:xfrm>
            <a:off x="0" y="548680"/>
            <a:ext cx="9906000" cy="0"/>
          </a:xfrm>
          <a:prstGeom prst="straightConnector1">
            <a:avLst/>
          </a:prstGeom>
          <a:noFill/>
          <a:ln w="25400" cap="flat" cmpd="sng">
            <a:solidFill>
              <a:srgbClr val="191F54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2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11;p12"/>
          <p:cNvSpPr txBox="1"/>
          <p:nvPr/>
        </p:nvSpPr>
        <p:spPr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Copyright(c) 2025 DYM inc. All Rights Reserved.</a:t>
            </a:r>
            <a:endParaRPr/>
          </a:p>
        </p:txBody>
      </p:sp>
      <p:sp>
        <p:nvSpPr>
          <p:cNvPr id="12" name="Google Shape;12;p12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" name="Google Shape;13;p12"/>
          <p:cNvCxnSpPr/>
          <p:nvPr/>
        </p:nvCxnSpPr>
        <p:spPr>
          <a:xfrm>
            <a:off x="0" y="548680"/>
            <a:ext cx="9906000" cy="0"/>
          </a:xfrm>
          <a:prstGeom prst="straightConnector1">
            <a:avLst/>
          </a:prstGeom>
          <a:noFill/>
          <a:ln w="25400" cap="flat" cmpd="sng">
            <a:solidFill>
              <a:srgbClr val="00324B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4" name="Google Shape;14;p12"/>
          <p:cNvPicPr preferRelativeResize="0"/>
          <p:nvPr/>
        </p:nvPicPr>
        <p:blipFill rotWithShape="1">
          <a:blip r:embed="rId4">
            <a:alphaModFix/>
          </a:blip>
          <a:srcRect l="-1647" r="-11171"/>
          <a:stretch/>
        </p:blipFill>
        <p:spPr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12"/>
          <p:cNvSpPr txBox="1"/>
          <p:nvPr/>
        </p:nvSpPr>
        <p:spPr>
          <a:xfrm>
            <a:off x="7545288" y="6571255"/>
            <a:ext cx="2133600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5200" rIns="91425" bIns="4570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 sz="1400" b="0" i="1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‹#›</a:t>
            </a:fld>
            <a:endParaRPr sz="1400" b="0" i="1" u="none" strike="noStrike" cap="non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"/>
          <p:cNvSpPr/>
          <p:nvPr/>
        </p:nvSpPr>
        <p:spPr>
          <a:xfrm>
            <a:off x="0" y="0"/>
            <a:ext cx="9906000" cy="836712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" name="Google Shape;27;p1"/>
          <p:cNvPicPr preferRelativeResize="0"/>
          <p:nvPr/>
        </p:nvPicPr>
        <p:blipFill rotWithShape="1">
          <a:blip r:embed="rId3">
            <a:alphaModFix/>
          </a:blip>
          <a:srcRect l="-1647" r="-11171"/>
          <a:stretch/>
        </p:blipFill>
        <p:spPr>
          <a:xfrm>
            <a:off x="8619408" y="188641"/>
            <a:ext cx="1192729" cy="243605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1"/>
          <p:cNvSpPr/>
          <p:nvPr/>
        </p:nvSpPr>
        <p:spPr>
          <a:xfrm>
            <a:off x="1026684" y="3645024"/>
            <a:ext cx="7873109" cy="45719"/>
          </a:xfrm>
          <a:prstGeom prst="rect">
            <a:avLst/>
          </a:prstGeom>
          <a:solidFill>
            <a:srgbClr val="15133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1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781200" y="3044550"/>
            <a:ext cx="8343600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3200" b="1" i="0" u="none" strike="noStrike" cap="none">
                <a:solidFill>
                  <a:srgbClr val="0F243E"/>
                </a:solidFill>
                <a:latin typeface="メイリオ"/>
                <a:ea typeface="Arial"/>
                <a:cs typeface="Arial"/>
                <a:sym typeface="Arial"/>
              </a:rPr>
              <a:t>2026年10月　LINEOAトレンドレポート　</a:t>
            </a:r>
            <a:endParaRPr sz="1800" b="1" i="0" u="none" strike="noStrike" cap="none">
              <a:solidFill>
                <a:srgbClr val="0F243E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34;p2_page"/>
          <p:cNvSpPr txBox="1"/>
          <p:nvPr/>
        </p:nvSpPr>
        <p:spPr>
          <a:xfrm>
            <a:off x="318183" y="1483585"/>
            <a:ext cx="1005840" cy="4279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0000" rIns="91425" bIns="9000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P.3-4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P.5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P.6-7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P.8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P.9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P.10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P.11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34" name="Google Shape;34;p2"/>
          <p:cNvSpPr txBox="1"/>
          <p:nvPr/>
        </p:nvSpPr>
        <p:spPr>
          <a:xfrm>
            <a:off x="1461183" y="1483585"/>
            <a:ext cx="8155331" cy="4279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0000" rIns="91425" bIns="9000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【LINE通知メッセージ】ネイティブアプリ遷移の条件付き解禁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【LINE通知メッセージ】UX追加申請の請求書発行をLBPMへ移行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【LINEシリアルコードスタンプ】新商品のご案内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【LINE通知メッセージ】ユニット単位の統計情報取得に対応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【LINEポイント Friends AD】FY26 冬季キャンペーン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【レストランオプション】一部機材の価格改定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【CRMオプション】導入事例の追加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35" name="Google Shape;35;p2"/>
          <p:cNvSpPr txBox="1"/>
          <p:nvPr/>
        </p:nvSpPr>
        <p:spPr>
          <a:xfrm>
            <a:off x="292801" y="62027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ja-JP" sz="1600" b="0" i="0" u="none" strike="noStrike" cap="none">
                <a:solidFill>
                  <a:srgbClr val="000000"/>
                </a:solidFill>
                <a:latin typeface="メイリオ"/>
                <a:ea typeface="Meiryo"/>
                <a:cs typeface="Meiryo"/>
                <a:sym typeface="Meiryo"/>
              </a:rPr>
              <a:t>    目次</a:t>
            </a:r>
            <a:endParaRPr sz="1600" b="0" i="0" u="none" strike="noStrike" cap="none">
              <a:solidFill>
                <a:srgbClr val="000000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EC・通販・予約サービス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（自社アプリあり）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【LINE通知メッセージ】ネイティブアプリ遷移の条件付き解禁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LINE通知メッセージのボタンから、自社のネイティブアプリを直接開けるようになった。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LINEヤフーの審査に通ることが条件で、アプリが入っていない場合はWebページへ遷移する。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2026年9月9日（水）からLBPMで審査受付を開始。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Rounded Rectangle 67"/>
          <p:cNvSpPr/>
          <p:nvPr/>
        </p:nvSpPr>
        <p:spPr>
          <a:xfrm>
            <a:off x="548640" y="3154680"/>
            <a:ext cx="8814816" cy="141732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2000" b="1" dirty="0" err="1">
                <a:solidFill>
                  <a:srgbClr val="15133D"/>
                </a:solidFill>
                <a:latin typeface="メイリオ"/>
              </a:rPr>
              <a:t>変更点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 err="1">
                <a:solidFill>
                  <a:srgbClr val="333333"/>
                </a:solidFill>
                <a:latin typeface="メイリオ"/>
              </a:rPr>
              <a:t>LINE通知メッセージのボタンから、自社のネイティブアプリを直接開けるようになった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。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 err="1">
                <a:solidFill>
                  <a:srgbClr val="333333"/>
                </a:solidFill>
                <a:latin typeface="メイリオ"/>
              </a:rPr>
              <a:t>アプリが入っていない場合は、通知内容に関連するWebページへ遷移する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。</a:t>
            </a:r>
            <a:br>
              <a:rPr lang="en-US" sz="1400" dirty="0">
                <a:solidFill>
                  <a:srgbClr val="333333"/>
                </a:solidFill>
                <a:latin typeface="メイリオ"/>
              </a:rPr>
            </a:br>
            <a:r>
              <a:rPr sz="1400" dirty="0" err="1">
                <a:solidFill>
                  <a:srgbClr val="333333"/>
                </a:solidFill>
                <a:latin typeface="メイリオ"/>
              </a:rPr>
              <a:t>シームレスな導線で、ユーザー体験が向上する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。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48640" y="4754880"/>
            <a:ext cx="8814816" cy="141732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2000" b="1" dirty="0" err="1">
                <a:solidFill>
                  <a:srgbClr val="15133D"/>
                </a:solidFill>
                <a:latin typeface="メイリオ"/>
              </a:rPr>
              <a:t>費用と必要な手続き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>
                <a:solidFill>
                  <a:srgbClr val="333333"/>
                </a:solidFill>
                <a:latin typeface="メイリオ"/>
              </a:rPr>
              <a:t>審査費は10万円（税抜）／1UX。承認時のみ発生し、否認の場合はかからない。</a:t>
            </a:r>
            <a:br>
              <a:rPr lang="en-US" sz="1400" dirty="0">
                <a:solidFill>
                  <a:srgbClr val="333333"/>
                </a:solidFill>
                <a:latin typeface="メイリオ"/>
              </a:rPr>
            </a:br>
            <a:r>
              <a:rPr sz="1400" dirty="0" err="1">
                <a:solidFill>
                  <a:srgbClr val="333333"/>
                </a:solidFill>
                <a:latin typeface="メイリオ"/>
              </a:rPr>
              <a:t>申し込みはLBPMのUX追加申請から</a:t>
            </a:r>
            <a:r>
              <a:rPr lang="ja-JP" altLang="en-US" sz="140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行う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EC・通販・予約サービス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（自社アプリあり）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【LINE通知メッセージ】ネイティブアプリ遷移の条件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ネイティブアプリへ遷移させるには、LINEヤフーの審査で次の4つを満たす必要がある。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条件はLINE通知メッセージ（フレキシブル／テンプレート）のUXガイドラインに記載。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対象プラン：エッセンシャル／パフォーマンス／アンリミテッド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Rounded Rectangle 67"/>
          <p:cNvSpPr/>
          <p:nvPr/>
        </p:nvSpPr>
        <p:spPr>
          <a:xfrm>
            <a:off x="548640" y="3154680"/>
            <a:ext cx="8814816" cy="310896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 dirty="0">
                <a:solidFill>
                  <a:srgbClr val="15133D"/>
                </a:solidFill>
                <a:latin typeface="メイリオ"/>
              </a:rPr>
              <a:t>審査で確認される4つの条件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b="1" dirty="0">
                <a:solidFill>
                  <a:srgbClr val="15133D"/>
                </a:solidFill>
                <a:latin typeface="メイリオ"/>
              </a:rPr>
              <a:t>■ </a:t>
            </a:r>
            <a:r>
              <a:rPr sz="1400" b="1" dirty="0" err="1">
                <a:solidFill>
                  <a:srgbClr val="15133D"/>
                </a:solidFill>
                <a:latin typeface="メイリオ"/>
              </a:rPr>
              <a:t>遷移の方式：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iPhone／Androidの標準の仕組み（Universal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links／App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Links）でアプリを開くこと</a:t>
            </a:r>
            <a:endParaRPr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b="1" dirty="0">
                <a:solidFill>
                  <a:srgbClr val="15133D"/>
                </a:solidFill>
                <a:latin typeface="メイリオ"/>
              </a:rPr>
              <a:t>■ </a:t>
            </a:r>
            <a:r>
              <a:rPr sz="1400" b="1" dirty="0" err="1">
                <a:solidFill>
                  <a:srgbClr val="15133D"/>
                </a:solidFill>
                <a:latin typeface="メイリオ"/>
              </a:rPr>
              <a:t>ドメインの一致：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送信元の公式ドメインと、遷移先URLのドメインが同じであること</a:t>
            </a:r>
            <a:endParaRPr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b="1" dirty="0">
                <a:solidFill>
                  <a:srgbClr val="15133D"/>
                </a:solidFill>
                <a:latin typeface="メイリオ"/>
              </a:rPr>
              <a:t>■ </a:t>
            </a:r>
            <a:r>
              <a:rPr sz="1400" b="1" dirty="0" err="1">
                <a:solidFill>
                  <a:srgbClr val="15133D"/>
                </a:solidFill>
                <a:latin typeface="メイリオ"/>
              </a:rPr>
              <a:t>アプリ未インストール時：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通知内容に関連するWebページを表示すること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dirty="0">
                <a:solidFill>
                  <a:srgbClr val="333333"/>
                </a:solidFill>
                <a:latin typeface="メイリオ"/>
              </a:rPr>
              <a:t>（App 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Store／Google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Playへの自動遷移は不可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）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b="1" dirty="0">
                <a:solidFill>
                  <a:srgbClr val="15133D"/>
                </a:solidFill>
                <a:latin typeface="メイリオ"/>
              </a:rPr>
              <a:t>■ </a:t>
            </a:r>
            <a:r>
              <a:rPr sz="1400" b="1" dirty="0" err="1">
                <a:solidFill>
                  <a:srgbClr val="15133D"/>
                </a:solidFill>
                <a:latin typeface="メイリオ"/>
              </a:rPr>
              <a:t>表示内容の一致：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アプリとWebで同じ内容を表示すること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dirty="0">
                <a:solidFill>
                  <a:srgbClr val="333333"/>
                </a:solidFill>
                <a:latin typeface="メイリオ"/>
              </a:rPr>
              <a:t>（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アプリはマイページ・Webはトップページ、のような構成は不可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通知メッセージをご利用中の全業種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【LINE通知メッセージ】UX追加申請の請求書発行をLBPMへ移行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LINE通知メッセージの「UX追加申請」は、新しい通知の型を使うときに出す申請。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2026年9月9日（水）から、LBPM上の発注画面と、請求書の発行元が変わった。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過去に作った申請は編集しても受領されないため、既存の案件をコピーして作り直す必要がある。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Rounded Rectangle 67"/>
          <p:cNvSpPr/>
          <p:nvPr/>
        </p:nvSpPr>
        <p:spPr>
          <a:xfrm>
            <a:off x="548640" y="3154680"/>
            <a:ext cx="8814816" cy="16002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lang="ja-JP" altLang="en-US" sz="2000" b="1" dirty="0">
                <a:solidFill>
                  <a:srgbClr val="15133D"/>
                </a:solidFill>
                <a:latin typeface="メイリオ"/>
              </a:rPr>
              <a:t>変更点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>
                <a:solidFill>
                  <a:srgbClr val="333333"/>
                </a:solidFill>
                <a:latin typeface="メイリオ"/>
              </a:rPr>
              <a:t>・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請求書の発行元が、AGPからLBPM</a:t>
            </a:r>
            <a:r>
              <a:rPr lang="ja-JP" altLang="en-US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へ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（2026年9月受領分＝10月初めに発行される請求書から）。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>
                <a:solidFill>
                  <a:srgbClr val="333333"/>
                </a:solidFill>
                <a:latin typeface="メイリオ"/>
              </a:rPr>
              <a:t>・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LBPM上の発注画面と申請方法</a:t>
            </a:r>
            <a:endParaRPr sz="1400" dirty="0">
              <a:solidFill>
                <a:srgbClr val="333333"/>
              </a:solidFill>
              <a:latin typeface="メイリオ"/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548640" y="4919472"/>
            <a:ext cx="8814816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2000" b="1">
                <a:solidFill>
                  <a:srgbClr val="15133D"/>
                </a:solidFill>
                <a:latin typeface="メイリオ"/>
              </a:rPr>
              <a:t>新しい発注画面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>
                <a:solidFill>
                  <a:srgbClr val="333333"/>
                </a:solidFill>
                <a:latin typeface="メイリオ"/>
              </a:rPr>
              <a:t>・申請フォームを入力すると、そのあとに金額の計算画面が出る。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>
                <a:solidFill>
                  <a:srgbClr val="333333"/>
                </a:solidFill>
                <a:latin typeface="メイリオ"/>
              </a:rPr>
              <a:t>・請求書は、LBPMのメニューの「請求書DL」からダウンロードする。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食品・飲料メーカー、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小売・コンビニ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【LINEシリアルコードスタンプ】新商品のご案内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2026年10月1日リリースの新商材。シリアルコードを入力した人だけが無料スタンプをもらえる。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コードの発行は発注を受けた後。印刷・配布がある場合は、その日数も見込んでスケジュールを組む。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告知やコード配布のルールに違反すると、Apple・Googleの指摘でキャンペーン停止になる場合も。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8640" y="3127248"/>
            <a:ext cx="8814816" cy="148132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告知してよい場所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○ OK：広告主のLINE公式アカウント、広告主のアプリ、SNS、Web全般（LINEヤフー広告も可）、店頭POP・屋外広告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× NG：LINEヤフーが持つアプリでの告知（スタンプショップ、LINEミニアプリ、LINEヤフーの公式アカウントなど）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48640" y="4754880"/>
            <a:ext cx="8814816" cy="161848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コードを渡す条件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○ OK：Webでの行動（商品購入など）、店頭での行動（来店・購入）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× NG：LINEアプリ内での行動（LINE公式アカウントの友だち追加・アンケート回答、LINEミニアプリ内の行動）、広告主アプリ内の行動（会員登録など）、アプリのダウンロードが必須になるもの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※ スタンプをもらうまでの流れに、アプリへの遷移が少しでも入るとNG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食品・飲料メーカー、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小売・コンビニ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【LINEシリアルコードスタンプ】クリエイティブ基準の緩和と進め方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LINEシリアルコードスタンプに限り、クリエイティブの基準が3点緩和されている。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審査から開始までの流れと、コード発行・入稿の締切を押さえておく。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詳細は「LINEシリアルコードスタンプ 進行ガイド（2026年10月版）」に記載。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8640" y="3127248"/>
            <a:ext cx="8814816" cy="152704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クリエイティブの基準緩和（この商品だけ）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・飲酒表現：可（「お酒は20歳になってから」の注記が必須）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・実写素材：タレントの写真や、CM・ポスター素材の転用が可（品質基準あり。肖像権の処理は広告主側）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・PR要素（ロゴ・商品パッケージ）：通常は全体の1/4までのところ、個数の制限なし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48640" y="4818888"/>
            <a:ext cx="8814816" cy="152704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進め方の要点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・流れ：審査（広告主・キャンペーン内容）→ 発注 → シリアルコード発行 → 入稿 → 開始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・コードは申請から3営業日を目安にCSVで納品（テスト用1,000件付き）。追加発注は不可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・入稿の締切は、静止画で開始の6営業日前から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EC・物流・金融など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通知メッセージ導入企業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出典：https://developers.line.biz/ja/docs/messaging-api/unit-based-statistics-aggregation/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【LINE通知メッセージ】ユニット単位の統計情報取得に対応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2026年9月15日（火）から、ユニットごとの統計情報を取得するAPIが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LINE通知メッセージでも利用できるようになった。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アンケートで要望の多かった機能。開封数・URLタップ数などをユニットごとに確認できる。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ectangle 62"/>
          <p:cNvSpPr/>
          <p:nvPr/>
        </p:nvSpPr>
        <p:spPr>
          <a:xfrm>
            <a:off x="544108" y="3068960"/>
            <a:ext cx="3354215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333333"/>
                </a:solidFill>
                <a:latin typeface="メイリオ"/>
              </a:rPr>
              <a:t>AS-IS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44108" y="3343280"/>
            <a:ext cx="3354215" cy="64008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15133D"/>
                </a:solidFill>
                <a:latin typeface="メイリオ"/>
              </a:rPr>
              <a:t>プライバシー保護のため、開封・タップの統計は取得できない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898323" y="3068960"/>
            <a:ext cx="432244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3467B2"/>
                </a:solidFill>
                <a:latin typeface="メイリオ"/>
              </a:rPr>
              <a:t>▶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330568" y="3068960"/>
            <a:ext cx="5031323" cy="274320"/>
          </a:xfrm>
          <a:prstGeom prst="rect">
            <a:avLst/>
          </a:prstGeom>
          <a:solidFill>
            <a:srgbClr val="151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TO-BE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330568" y="3343280"/>
            <a:ext cx="5031323" cy="640080"/>
          </a:xfrm>
          <a:prstGeom prst="rect">
            <a:avLst/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15133D"/>
                </a:solidFill>
                <a:latin typeface="メイリオ"/>
              </a:rPr>
              <a:t>ユニット単位の統計情報をAPIで取得可能に</a:t>
            </a:r>
          </a:p>
          <a:p>
            <a:pPr>
              <a:lnSpc>
                <a:spcPct val="110000"/>
              </a:lnSpc>
              <a:spcBef>
                <a:spcPts val="500"/>
              </a:spcBef>
            </a:pPr>
            <a:r>
              <a:rPr sz="1050">
                <a:solidFill>
                  <a:srgbClr val="333333"/>
                </a:solidFill>
                <a:latin typeface="メイリオ"/>
              </a:rPr>
              <a:t>開封・URLタップ・動画再生の人数をユニットごとに確認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44108" y="4211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送信時にユニット名を付ける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送信時にユニット名（1通に1つ）を指定して集計する。後から付けたり変えたりはできない。月1,000種類まで。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039448" y="4211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少ない数は表示されない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値が20未満（実人数20人未満）の項目は表示されない。送信数は含まれないため、開封率の分母は別で持っておく。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小売・食品・通信など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大規模に友だちを集めたい企業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【LINEポイント Friends AD】FY26 冬季キャンペーン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Friends Swipe AD／Friends Video ADのALL配信を対象に、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通常配信6円・リーチ最適化配信9円、付与ポイント2Pの特別単価で提供される。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2026年12月1日〜2027年3月31日までに掲載終了する案件が対象。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2107191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15133D"/>
                </a:solidFill>
                <a:latin typeface="メイリオ"/>
              </a:rPr>
              <a:t>6円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3467B2"/>
                </a:solidFill>
                <a:latin typeface="メイリオ"/>
              </a:rPr>
              <a:t>通常配信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333333"/>
                </a:solidFill>
                <a:latin typeface="メイリオ"/>
              </a:rPr>
              <a:t>キャンペーン特別単価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780972" y="3068960"/>
            <a:ext cx="2107191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15133D"/>
                </a:solidFill>
                <a:latin typeface="メイリオ"/>
              </a:rPr>
              <a:t>9円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3467B2"/>
                </a:solidFill>
                <a:latin typeface="メイリオ"/>
              </a:rPr>
              <a:t>リーチ最適化配信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333333"/>
                </a:solidFill>
                <a:latin typeface="メイリオ"/>
              </a:rPr>
              <a:t>キャンペーン特別単価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017836" y="3068960"/>
            <a:ext cx="2107191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15133D"/>
                </a:solidFill>
                <a:latin typeface="メイリオ"/>
              </a:rPr>
              <a:t>2P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3467B2"/>
                </a:solidFill>
                <a:latin typeface="メイリオ"/>
              </a:rPr>
              <a:t>付与ポイント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333333"/>
                </a:solidFill>
                <a:latin typeface="メイリオ"/>
              </a:rPr>
              <a:t>ALL配信限定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254700" y="3068960"/>
            <a:ext cx="2107191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15133D"/>
                </a:solidFill>
                <a:latin typeface="メイリオ"/>
              </a:rPr>
              <a:t>200万円〜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3467B2"/>
                </a:solidFill>
                <a:latin typeface="メイリオ"/>
              </a:rPr>
              <a:t>最低発注金額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333333"/>
                </a:solidFill>
                <a:latin typeface="メイリオ"/>
              </a:rPr>
              <a:t>最新の媒体資料に準拠</a:t>
            </a:r>
          </a:p>
        </p:txBody>
      </p:sp>
      <p:graphicFrame>
        <p:nvGraphicFramePr>
          <p:cNvPr id="67" name="Table 66"/>
          <p:cNvGraphicFramePr>
            <a:graphicFrameLocks noGrp="1"/>
          </p:cNvGraphicFramePr>
          <p:nvPr/>
        </p:nvGraphicFramePr>
        <p:xfrm>
          <a:off x="544108" y="4623440"/>
          <a:ext cx="9078296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44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9990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919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200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</a:rPr>
                        <a:t>対象期間</a:t>
                      </a:r>
                    </a:p>
                  </a:txBody>
                  <a:tcPr anchor="ctr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</a:rPr>
                        <a:t>対象メニュー</a:t>
                      </a:r>
                    </a:p>
                  </a:txBody>
                  <a:tcPr anchor="ctr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</a:rPr>
                        <a:t>対象セグメント</a:t>
                      </a:r>
                    </a:p>
                  </a:txBody>
                  <a:tcPr anchor="ctr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</a:rPr>
                        <a:t>対象クライアント</a:t>
                      </a:r>
                    </a:p>
                  </a:txBody>
                  <a:tcPr anchor="ctr">
                    <a:solidFill>
                      <a:srgbClr val="1513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26/12/1〜27/3/31</a:t>
                      </a:r>
                    </a:p>
                  </a:txBody>
                  <a:tcPr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Swipe AD／Video AD</a:t>
                      </a:r>
                    </a:p>
                  </a:txBody>
                  <a:tcPr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ALL配信のみ</a:t>
                      </a:r>
                    </a:p>
                  </a:txBody>
                  <a:tcPr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全クライアント</a:t>
                      </a:r>
                    </a:p>
                  </a:txBody>
                  <a:tcPr anchor="ctr">
                    <a:solidFill>
                      <a:srgbClr val="EA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8" name="Rounded Rectangle 67"/>
          <p:cNvSpPr/>
          <p:nvPr/>
        </p:nvSpPr>
        <p:spPr>
          <a:xfrm>
            <a:off x="544108" y="5629280"/>
            <a:ext cx="8817784" cy="7772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800" b="1">
                <a:solidFill>
                  <a:srgbClr val="15133D"/>
                </a:solidFill>
                <a:latin typeface="メイリオ"/>
              </a:rPr>
              <a:t>発注時の注意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備考欄に「FY26 Winter Campaign適用」と記載。配信中・発注受領済みの案件、他割引との併用、デリタゲ配信は対象外。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飲食店（レストランオプションで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店内注文を導入予定）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【レストランオプション】一部機材の価格改定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仕入れ先であるエプソン販売株式会社の価格改定に伴い、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レストランオプションで提供している一部機材の販売価格が改定（値上げ）される。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2027年2月上旬以降のお申し込み分から新価格を適用。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4322443" cy="1120584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改定時期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2027年2月上旬予定。改定日以降に購入した機材から新価格が適用される。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39448" y="3068960"/>
            <a:ext cx="4322443" cy="1120584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対象機材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EPSON製のプリンター・キャッシュドロアー。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44108" y="4372424"/>
            <a:ext cx="4322443" cy="1120584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価格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プリンター：37,000円→41,700円／キャッシュドロアー：16,000円→17,700円。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039448" y="4372424"/>
            <a:ext cx="4322443" cy="1120584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告知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OAMの申し込み導線・AGPお知らせ・飲食CMSお知らせにも掲載予定。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小売・アパレル・教育・サービス業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【CRMオプション】導入事例の追加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CRMオプションの導入事例（タオル美術館様）が、媒体資料Ver2.0に追加された。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誕生月を聞くフォームで回答数が約2.0倍、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好きなキャラクターに合わせた出し分け配信でクリック率が約2.8倍に。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① フォーム回答数 約2.0倍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リサーチ機能から、誕生月を聞くフォーム（誕生月クーポン付き）に変更。店頭チラシ・リッチメニュー・あいさつメッセージで回答を促した。</a:t>
            </a:r>
          </a:p>
        </p:txBody>
      </p:sp>
      <p:sp>
        <p:nvSpPr>
          <p:cNvPr id="65" name="Rounded Rectangle 62_add0"/>
          <p:cNvSpPr/>
          <p:nvPr/>
        </p:nvSpPr>
        <p:spPr>
          <a:xfrm>
            <a:off x="544108" y="4609755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月額5,000円（税別）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チャットProオプションを含む。別途LINE公式アカウントのプラン料金がかかる。初期サポート（2万円・1回）も用意。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39448" y="3068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② 配信のクリック率 約2.8倍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好きなキャラクターをフォームで聞いてタグを付け、コラボ商品の配信を出し分け。従来の一斉配信と比べてクリック率が約2.8倍。</a:t>
            </a:r>
          </a:p>
        </p:txBody>
      </p:sp>
      <p:sp>
        <p:nvSpPr>
          <p:cNvPr id="66" name="Rounded Rectangle 63_add1"/>
          <p:cNvSpPr/>
          <p:nvPr/>
        </p:nvSpPr>
        <p:spPr>
          <a:xfrm>
            <a:off x="5039448" y="4609755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利用条件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認証済みアカウントとビジネスマネージャーの接続、友だち数10万人未満が条件。レストラン・Beauty・チャットProとは同時に契約できない。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YMJAPAN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​​テーマ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1319</Words>
  <Application>Microsoft Office PowerPoint</Application>
  <PresentationFormat>A4 210 x 297 mm</PresentationFormat>
  <Paragraphs>251</Paragraphs>
  <Slides>10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6" baseType="lpstr">
      <vt:lpstr>Meiryo</vt:lpstr>
      <vt:lpstr>Meiryo</vt:lpstr>
      <vt:lpstr>Century Gothic</vt:lpstr>
      <vt:lpstr>Calibri</vt:lpstr>
      <vt:lpstr>Arial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横田 澪央</dc:creator>
  <cp:lastModifiedBy>殿村 亮太</cp:lastModifiedBy>
  <cp:revision>5</cp:revision>
  <dcterms:created xsi:type="dcterms:W3CDTF">2021-08-26T12:24:15Z</dcterms:created>
  <dcterms:modified xsi:type="dcterms:W3CDTF">2026-10-26T06:01:50Z</dcterms:modified>
</cp:coreProperties>
</file>